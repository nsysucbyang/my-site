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307" r:id="rId3"/>
    <p:sldId id="309" r:id="rId4"/>
    <p:sldId id="310" r:id="rId5"/>
    <p:sldId id="311" r:id="rId6"/>
    <p:sldId id="315" r:id="rId7"/>
    <p:sldId id="312" r:id="rId8"/>
    <p:sldId id="317" r:id="rId9"/>
    <p:sldId id="318" r:id="rId10"/>
    <p:sldId id="265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FFFF"/>
    <a:srgbClr val="0000FF"/>
    <a:srgbClr val="7B93DF"/>
    <a:srgbClr val="6F84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42" autoAdjust="0"/>
    <p:restoredTop sz="96793" autoAdjust="0"/>
  </p:normalViewPr>
  <p:slideViewPr>
    <p:cSldViewPr>
      <p:cViewPr varScale="1">
        <p:scale>
          <a:sx n="112" d="100"/>
          <a:sy n="112" d="100"/>
        </p:scale>
        <p:origin x="179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66"/>
    </p:cViewPr>
    <p:sldLst>
      <p:sld r:id="rId1" collapse="1"/>
      <p:sld r:id="rId2" collapse="1"/>
    </p:sldLst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5.xml"/><Relationship Id="rId1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1E9FC-490C-4865-A082-2CA8BB7D5A91}" type="datetimeFigureOut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A81C7-1ECC-4CF7-ABF1-426C762021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1050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458AF-C11A-4B8D-B5DF-F124E30CB17B}" type="datetimeFigureOut">
              <a:rPr lang="zh-TW" altLang="en-US" smtClean="0"/>
              <a:t>2013/11/26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79042-3193-49F2-8086-409E581C9D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3517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7998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5003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D66B7D-5F5A-44C5-9E0E-13AE8EE426AB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469735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C4DC8-07CB-4D75-8A87-A2C3094D1282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929008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10D4E5-A3AF-4EAF-90C5-0D517F1D1E31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761256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373E2C-34BF-4763-9E7F-A02925E16308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937937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253B3E-0FBF-425A-AAE0-ABFF46D2AD52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95517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253B3E-0FBF-425A-AAE0-ABFF46D2AD52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803029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1242392" y="1556792"/>
            <a:ext cx="6858000" cy="1440160"/>
          </a:xfrm>
        </p:spPr>
        <p:txBody>
          <a:bodyPr anchor="t" anchorCtr="0"/>
          <a:lstStyle>
            <a:lvl1pPr algn="r">
              <a:defRPr sz="3200" b="1">
                <a:solidFill>
                  <a:schemeClr val="tx1"/>
                </a:solidFill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19200" y="3228979"/>
            <a:ext cx="6858000" cy="2200243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altLang="zh-TW" smtClean="0"/>
              <a:t>2013/11/26</a:t>
            </a:r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904875" y="980728"/>
            <a:ext cx="7315200" cy="2088232"/>
          </a:xfrm>
          <a:prstGeom prst="rect">
            <a:avLst/>
          </a:prstGeom>
          <a:noFill/>
          <a:ln w="6350" cap="rnd" cmpd="sng" algn="ctr">
            <a:solidFill>
              <a:schemeClr val="accent1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矩形 32"/>
          <p:cNvSpPr/>
          <p:nvPr/>
        </p:nvSpPr>
        <p:spPr>
          <a:xfrm>
            <a:off x="914400" y="3140968"/>
            <a:ext cx="7305675" cy="2376264"/>
          </a:xfrm>
          <a:prstGeom prst="rect">
            <a:avLst/>
          </a:prstGeom>
          <a:noFill/>
          <a:ln w="6350" cap="rnd" cmpd="sng" algn="ctr">
            <a:solidFill>
              <a:schemeClr val="accent3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矩形 21"/>
          <p:cNvSpPr/>
          <p:nvPr/>
        </p:nvSpPr>
        <p:spPr>
          <a:xfrm>
            <a:off x="904875" y="980728"/>
            <a:ext cx="228600" cy="20882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>
            <a:off x="904875" y="3140968"/>
            <a:ext cx="238125" cy="2376264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mtClean="0"/>
              <a:t>2013/11/26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 eaLnBrk="1" latinLnBrk="0" hangingPunct="1"/>
            <a:r>
              <a:rPr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lang="zh-TW" altLang="en-US" dirty="0" smtClean="0"/>
              <a:t>第二層</a:t>
            </a:r>
          </a:p>
          <a:p>
            <a:pPr lvl="2" eaLnBrk="1" latinLnBrk="0" hangingPunct="1"/>
            <a:r>
              <a:rPr lang="zh-TW" altLang="en-US" dirty="0" smtClean="0"/>
              <a:t>第三層</a:t>
            </a:r>
          </a:p>
          <a:p>
            <a:pPr lvl="3" eaLnBrk="1" latinLnBrk="0" hangingPunct="1"/>
            <a:r>
              <a:rPr lang="zh-TW" altLang="en-US" dirty="0" smtClean="0"/>
              <a:t>第四層</a:t>
            </a:r>
          </a:p>
          <a:p>
            <a:pPr lvl="4" eaLnBrk="1" latinLnBrk="0" hangingPunct="1"/>
            <a:r>
              <a:rPr lang="zh-TW" altLang="en-US" dirty="0" smtClean="0"/>
              <a:t>第五層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r>
              <a:rPr lang="en-US" altLang="zh-TW" smtClean="0"/>
              <a:t>2013/11/26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2013/11/26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2013/11/26</a:t>
            </a:r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2013/11/26</a:t>
            </a:r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2013/11/26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直線接點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2013/11/26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2013/11/26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2013/11/26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2013/11/26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7620000" cy="76993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762000" y="1524000"/>
            <a:ext cx="7772400" cy="41148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2013/11/26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362200" y="6324600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endParaRPr lang="zh-TW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4 -</a:t>
            </a:r>
            <a:fld id="{D006B8F7-737D-4A54-86E7-4A80C1E61F9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17361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2013/11/26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8" name="直線接點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線接點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42392" y="1052736"/>
            <a:ext cx="6858000" cy="1944216"/>
          </a:xfrm>
        </p:spPr>
        <p:txBody>
          <a:bodyPr>
            <a:noAutofit/>
          </a:bodyPr>
          <a:lstStyle/>
          <a:p>
            <a:pPr algn="l"/>
            <a:r>
              <a:rPr lang="en-US" altLang="zh-TW" dirty="0">
                <a:ea typeface="微軟正黑體" pitchFamily="34" charset="-120"/>
              </a:rPr>
              <a:t>A Fast Algorithm for Computing Longest Common Subsequences</a:t>
            </a:r>
            <a:r>
              <a:rPr lang="en-US" altLang="zh-TW" dirty="0" smtClean="0">
                <a:ea typeface="微軟正黑體" pitchFamily="34" charset="-120"/>
              </a:rPr>
              <a:t/>
            </a:r>
            <a:br>
              <a:rPr lang="en-US" altLang="zh-TW" dirty="0" smtClean="0">
                <a:ea typeface="微軟正黑體" pitchFamily="34" charset="-120"/>
              </a:rPr>
            </a:br>
            <a:r>
              <a:rPr lang="en-US" altLang="zh-TW" sz="2400" b="0" dirty="0"/>
              <a:t>Communications of the ACM</a:t>
            </a:r>
            <a:r>
              <a:rPr lang="en-US" altLang="zh-TW" sz="2400" b="0" dirty="0" smtClean="0">
                <a:ea typeface="微軟正黑體" pitchFamily="34" charset="-120"/>
              </a:rPr>
              <a:t/>
            </a:r>
            <a:br>
              <a:rPr lang="en-US" altLang="zh-TW" sz="2400" b="0" dirty="0" smtClean="0">
                <a:ea typeface="微軟正黑體" pitchFamily="34" charset="-120"/>
              </a:rPr>
            </a:br>
            <a:r>
              <a:rPr lang="en-US" altLang="zh-TW" sz="2400" b="0" dirty="0" smtClean="0">
                <a:ea typeface="微軟正黑體" pitchFamily="34" charset="-120"/>
              </a:rPr>
              <a:t>	vol.</a:t>
            </a:r>
            <a:r>
              <a:rPr lang="zh-TW" altLang="en-US" sz="2400" b="0" dirty="0" smtClean="0">
                <a:ea typeface="微軟正黑體" pitchFamily="34" charset="-120"/>
              </a:rPr>
              <a:t> </a:t>
            </a:r>
            <a:r>
              <a:rPr lang="en-US" altLang="zh-TW" sz="2400" b="0" dirty="0" smtClean="0">
                <a:ea typeface="微軟正黑體" pitchFamily="34" charset="-120"/>
              </a:rPr>
              <a:t>20</a:t>
            </a:r>
            <a:r>
              <a:rPr lang="zh-TW" altLang="en-US" sz="2400" b="0" dirty="0" smtClean="0">
                <a:ea typeface="微軟正黑體" pitchFamily="34" charset="-120"/>
              </a:rPr>
              <a:t> </a:t>
            </a:r>
            <a:r>
              <a:rPr lang="en-US" altLang="zh-TW" sz="2400" b="0" dirty="0" smtClean="0">
                <a:ea typeface="微軟正黑體" pitchFamily="34" charset="-120"/>
              </a:rPr>
              <a:t>pp.350–353</a:t>
            </a:r>
            <a:r>
              <a:rPr lang="zh-TW" altLang="en-US" sz="2400" b="0" dirty="0" smtClean="0">
                <a:ea typeface="微軟正黑體" pitchFamily="34" charset="-120"/>
              </a:rPr>
              <a:t> </a:t>
            </a:r>
            <a:r>
              <a:rPr lang="en-US" altLang="zh-TW" sz="2400" b="0" dirty="0" smtClean="0">
                <a:ea typeface="微軟正黑體" pitchFamily="34" charset="-120"/>
              </a:rPr>
              <a:t>(1977) </a:t>
            </a:r>
            <a:endParaRPr lang="zh-TW" altLang="en-US" sz="2000" dirty="0">
              <a:ea typeface="微軟正黑體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19200" y="3228979"/>
            <a:ext cx="6858000" cy="2144237"/>
          </a:xfrm>
        </p:spPr>
        <p:txBody>
          <a:bodyPr>
            <a:noAutofit/>
          </a:bodyPr>
          <a:lstStyle/>
          <a:p>
            <a:pPr algn="l"/>
            <a:r>
              <a:rPr lang="en-US" altLang="zh-TW" sz="2400" dirty="0"/>
              <a:t>James W. </a:t>
            </a:r>
            <a:r>
              <a:rPr lang="en-US" altLang="zh-TW" sz="2400" dirty="0" smtClean="0"/>
              <a:t>Hunt		</a:t>
            </a:r>
            <a:endParaRPr lang="en-US" altLang="zh-TW" sz="2400" dirty="0" smtClean="0"/>
          </a:p>
          <a:p>
            <a:pPr algn="l"/>
            <a:r>
              <a:rPr lang="en-US" altLang="zh-TW" sz="2400" dirty="0"/>
              <a:t>	</a:t>
            </a:r>
            <a:r>
              <a:rPr lang="en-US" altLang="zh-TW" sz="2400" dirty="0" smtClean="0"/>
              <a:t>Stanford </a:t>
            </a:r>
            <a:r>
              <a:rPr lang="en-US" altLang="zh-TW" sz="2400" dirty="0"/>
              <a:t>Univ., Stanford, CA</a:t>
            </a:r>
          </a:p>
          <a:p>
            <a:pPr algn="l"/>
            <a:r>
              <a:rPr lang="en-US" altLang="zh-TW" sz="2400" dirty="0"/>
              <a:t>Thomas G. </a:t>
            </a:r>
            <a:r>
              <a:rPr lang="en-US" altLang="zh-TW" sz="2400" dirty="0" smtClean="0"/>
              <a:t>Szymanski	</a:t>
            </a:r>
            <a:endParaRPr lang="en-US" altLang="zh-TW" sz="2400" dirty="0" smtClean="0"/>
          </a:p>
          <a:p>
            <a:pPr algn="l"/>
            <a:r>
              <a:rPr lang="en-US" altLang="zh-TW" sz="2400"/>
              <a:t>	</a:t>
            </a:r>
            <a:r>
              <a:rPr lang="en-US" altLang="zh-TW" sz="2400" smtClean="0"/>
              <a:t>Princeton </a:t>
            </a:r>
            <a:r>
              <a:rPr lang="en-US" altLang="zh-TW" sz="2400" dirty="0"/>
              <a:t>Univ., Princeton, NJ</a:t>
            </a:r>
          </a:p>
          <a:p>
            <a:pPr algn="l"/>
            <a:endParaRPr lang="en-US" altLang="zh-TW" sz="18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dirty="0" smtClean="0">
                <a:latin typeface="+mj-ea"/>
                <a:ea typeface="+mj-ea"/>
              </a:rPr>
              <a:t>2013/11/26</a:t>
            </a:r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1259632" y="5649613"/>
            <a:ext cx="6817568" cy="41319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400" dirty="0" smtClean="0">
                <a:solidFill>
                  <a:schemeClr val="tx1"/>
                </a:solidFill>
              </a:rPr>
              <a:t>Presentor</a:t>
            </a:r>
            <a:r>
              <a:rPr lang="zh-TW" altLang="en-US" sz="2400" dirty="0" smtClean="0">
                <a:solidFill>
                  <a:schemeClr val="tx1"/>
                </a:solidFill>
              </a:rPr>
              <a:t>：</a:t>
            </a:r>
            <a:r>
              <a:rPr lang="en-US" altLang="zh-TW" sz="2400" dirty="0" smtClean="0">
                <a:solidFill>
                  <a:schemeClr val="tx1"/>
                </a:solidFill>
              </a:rPr>
              <a:t>Hsin-Chuan Yuan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313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  <a:ea typeface="微軟正黑體" pitchFamily="34" charset="-120"/>
              </a:rPr>
              <a:t>Abstract</a:t>
            </a:r>
            <a:endParaRPr lang="zh-TW" altLang="en-US" dirty="0">
              <a:latin typeface="+mj-lt"/>
              <a:ea typeface="微軟正黑體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dirty="0" smtClean="0"/>
              <a:t>2013/11/26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altLang="zh-TW" sz="2500" dirty="0">
                <a:latin typeface="+mj-lt"/>
              </a:rPr>
              <a:t>Previously published algorithms for finding the longest common subsequence of two sequences of length n have had a best-case running time of O(n</a:t>
            </a:r>
            <a:r>
              <a:rPr lang="en-US" altLang="zh-TW" sz="2500" baseline="30000" dirty="0">
                <a:latin typeface="+mj-lt"/>
              </a:rPr>
              <a:t>2</a:t>
            </a:r>
            <a:r>
              <a:rPr lang="en-US" altLang="zh-TW" sz="2500" dirty="0">
                <a:latin typeface="+mj-lt"/>
              </a:rPr>
              <a:t>). An algorithm for this problem is presented which has a running time of O((r + n) log n), where r is the total number of ordered pairs of positions at which the two sequences match. Thus in the worst case the algorithm has a running time of O(n</a:t>
            </a:r>
            <a:r>
              <a:rPr lang="en-US" altLang="zh-TW" sz="2500" baseline="30000" dirty="0">
                <a:latin typeface="+mj-lt"/>
              </a:rPr>
              <a:t>2</a:t>
            </a:r>
            <a:r>
              <a:rPr lang="en-US" altLang="zh-TW" sz="2500" dirty="0">
                <a:latin typeface="+mj-lt"/>
              </a:rPr>
              <a:t> log n). However, for those applications where most positions of one sequence match relatively few positions in the other sequence, a running time of O(n log n) can be expected.</a:t>
            </a:r>
            <a:endParaRPr lang="zh-TW" altLang="en-US" sz="2500" dirty="0">
              <a:latin typeface="+mj-lt"/>
              <a:cs typeface="Arial" pitchFamily="34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2082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latin typeface="+mn-lt"/>
              </a:rPr>
              <a:t>The Longest Increasing Subsequence (LIS) Problem</a:t>
            </a:r>
            <a:endParaRPr lang="en-US" altLang="zh-TW" dirty="0">
              <a:latin typeface="+mn-lt"/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sz="2800" dirty="0" smtClean="0">
                <a:latin typeface="+mn-lt"/>
              </a:rPr>
              <a:t>Definition:</a:t>
            </a:r>
          </a:p>
          <a:p>
            <a:pPr lvl="1">
              <a:lnSpc>
                <a:spcPct val="80000"/>
              </a:lnSpc>
            </a:pPr>
            <a:r>
              <a:rPr lang="en-US" altLang="zh-TW" sz="2400" dirty="0" smtClean="0">
                <a:latin typeface="+mn-lt"/>
              </a:rPr>
              <a:t>Input: One numeric sequence </a:t>
            </a:r>
            <a:r>
              <a:rPr lang="en-US" altLang="zh-TW" sz="2400" i="1" dirty="0" smtClean="0">
                <a:latin typeface="+mn-lt"/>
              </a:rPr>
              <a:t>S</a:t>
            </a:r>
          </a:p>
          <a:p>
            <a:pPr lvl="1">
              <a:lnSpc>
                <a:spcPct val="80000"/>
              </a:lnSpc>
            </a:pPr>
            <a:r>
              <a:rPr lang="en-US" altLang="zh-TW" sz="2400" dirty="0" smtClean="0">
                <a:latin typeface="+mn-lt"/>
              </a:rPr>
              <a:t>Output: The longest increasing subsequence in </a:t>
            </a:r>
            <a:r>
              <a:rPr lang="en-US" altLang="zh-TW" sz="2400" i="1" dirty="0" smtClean="0">
                <a:latin typeface="+mn-lt"/>
              </a:rPr>
              <a:t>S</a:t>
            </a:r>
          </a:p>
          <a:p>
            <a:pPr>
              <a:lnSpc>
                <a:spcPct val="80000"/>
              </a:lnSpc>
            </a:pPr>
            <a:r>
              <a:rPr lang="en-US" altLang="zh-TW" sz="2800" dirty="0" smtClean="0">
                <a:latin typeface="+mn-lt"/>
              </a:rPr>
              <a:t>Example: Given </a:t>
            </a:r>
            <a:r>
              <a:rPr lang="en-US" altLang="zh-TW" sz="2800" i="1" dirty="0" smtClean="0">
                <a:latin typeface="+mn-lt"/>
              </a:rPr>
              <a:t>S</a:t>
            </a:r>
            <a:r>
              <a:rPr lang="en-US" altLang="zh-TW" sz="2800" dirty="0" smtClean="0">
                <a:latin typeface="+mn-lt"/>
              </a:rPr>
              <a:t> = </a:t>
            </a:r>
            <a:r>
              <a:rPr lang="en-US" altLang="zh-TW" sz="2800" u="sng" dirty="0" smtClean="0">
                <a:solidFill>
                  <a:schemeClr val="hlink"/>
                </a:solidFill>
                <a:latin typeface="+mn-lt"/>
              </a:rPr>
              <a:t>35</a:t>
            </a:r>
            <a:r>
              <a:rPr lang="en-US" altLang="zh-TW" sz="2800" dirty="0" smtClean="0">
                <a:latin typeface="+mn-lt"/>
              </a:rPr>
              <a:t>2</a:t>
            </a:r>
            <a:r>
              <a:rPr lang="en-US" altLang="zh-TW" sz="2800" u="sng" dirty="0" smtClean="0">
                <a:solidFill>
                  <a:schemeClr val="hlink"/>
                </a:solidFill>
                <a:latin typeface="+mn-lt"/>
              </a:rPr>
              <a:t>7</a:t>
            </a:r>
            <a:r>
              <a:rPr lang="en-US" altLang="zh-TW" sz="2800" dirty="0" smtClean="0">
                <a:latin typeface="+mn-lt"/>
              </a:rPr>
              <a:t>4</a:t>
            </a:r>
            <a:r>
              <a:rPr lang="en-US" altLang="zh-TW" sz="2800" u="sng" dirty="0" smtClean="0">
                <a:solidFill>
                  <a:schemeClr val="hlink"/>
                </a:solidFill>
                <a:latin typeface="+mn-lt"/>
              </a:rPr>
              <a:t>8</a:t>
            </a:r>
            <a:r>
              <a:rPr lang="en-US" altLang="zh-TW" sz="2800" dirty="0" smtClean="0">
                <a:latin typeface="+mn-lt"/>
              </a:rPr>
              <a:t>16, the LIS in </a:t>
            </a:r>
            <a:r>
              <a:rPr lang="en-US" altLang="zh-TW" sz="2800" i="1" dirty="0" smtClean="0">
                <a:latin typeface="+mn-lt"/>
              </a:rPr>
              <a:t>S </a:t>
            </a:r>
            <a:r>
              <a:rPr lang="en-US" altLang="zh-TW" sz="2800" dirty="0" smtClean="0">
                <a:latin typeface="+mn-lt"/>
              </a:rPr>
              <a:t>is </a:t>
            </a:r>
            <a:r>
              <a:rPr lang="en-US" altLang="zh-TW" sz="2800" dirty="0" smtClean="0">
                <a:solidFill>
                  <a:schemeClr val="hlink"/>
                </a:solidFill>
                <a:latin typeface="+mn-lt"/>
              </a:rPr>
              <a:t>3578</a:t>
            </a:r>
            <a:r>
              <a:rPr lang="en-US" altLang="zh-TW" sz="2800" dirty="0" smtClean="0">
                <a:latin typeface="+mn-lt"/>
              </a:rPr>
              <a:t>.</a:t>
            </a:r>
          </a:p>
          <a:p>
            <a:pPr>
              <a:lnSpc>
                <a:spcPct val="80000"/>
              </a:lnSpc>
            </a:pPr>
            <a:r>
              <a:rPr lang="en-US" altLang="zh-TW" sz="2800" dirty="0" smtClean="0">
                <a:latin typeface="+mn-lt"/>
              </a:rPr>
              <a:t>By applying the LCS algorithm, this problem can be solved in O(</a:t>
            </a:r>
            <a:r>
              <a:rPr lang="en-US" altLang="zh-TW" sz="2800" i="1" dirty="0" smtClean="0">
                <a:latin typeface="+mn-lt"/>
              </a:rPr>
              <a:t>n</a:t>
            </a:r>
            <a:r>
              <a:rPr lang="en-US" altLang="zh-TW" sz="2800" baseline="30000" dirty="0" smtClean="0">
                <a:latin typeface="+mn-lt"/>
              </a:rPr>
              <a:t>2</a:t>
            </a:r>
            <a:r>
              <a:rPr lang="en-US" altLang="zh-TW" sz="2800" dirty="0" smtClean="0">
                <a:latin typeface="+mn-lt"/>
              </a:rPr>
              <a:t>) time.</a:t>
            </a:r>
          </a:p>
          <a:p>
            <a:pPr>
              <a:lnSpc>
                <a:spcPct val="80000"/>
              </a:lnSpc>
            </a:pPr>
            <a:r>
              <a:rPr lang="en-US" altLang="zh-TW" sz="2800" dirty="0" smtClean="0">
                <a:latin typeface="+mn-lt"/>
              </a:rPr>
              <a:t>Robinson-</a:t>
            </a:r>
            <a:r>
              <a:rPr lang="en-US" altLang="zh-TW" sz="2800" dirty="0" err="1" smtClean="0">
                <a:latin typeface="+mn-lt"/>
              </a:rPr>
              <a:t>Schensted</a:t>
            </a:r>
            <a:r>
              <a:rPr lang="en-US" altLang="zh-TW" sz="2800" dirty="0" smtClean="0">
                <a:latin typeface="+mn-lt"/>
              </a:rPr>
              <a:t>-Knuth Algorithm can solve the LIS problem in </a:t>
            </a:r>
            <a:r>
              <a:rPr lang="en-US" altLang="zh-TW" sz="2800" u="sng" dirty="0" smtClean="0">
                <a:solidFill>
                  <a:schemeClr val="hlink"/>
                </a:solidFill>
                <a:latin typeface="+mn-lt"/>
              </a:rPr>
              <a:t>O(</a:t>
            </a:r>
            <a:r>
              <a:rPr lang="en-US" altLang="zh-TW" sz="2800" i="1" u="sng" dirty="0" err="1" smtClean="0">
                <a:solidFill>
                  <a:schemeClr val="hlink"/>
                </a:solidFill>
                <a:latin typeface="+mn-lt"/>
              </a:rPr>
              <a:t>nlogn</a:t>
            </a:r>
            <a:r>
              <a:rPr lang="en-US" altLang="zh-TW" sz="2800" u="sng" dirty="0" smtClean="0">
                <a:solidFill>
                  <a:schemeClr val="hlink"/>
                </a:solidFill>
                <a:latin typeface="+mn-lt"/>
              </a:rPr>
              <a:t>)</a:t>
            </a:r>
            <a:r>
              <a:rPr lang="en-US" altLang="zh-TW" sz="2800" dirty="0" smtClean="0">
                <a:latin typeface="+mn-lt"/>
              </a:rPr>
              <a:t> time.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800" dirty="0" smtClean="0">
              <a:latin typeface="+mn-lt"/>
            </a:endParaRPr>
          </a:p>
          <a:p>
            <a:pPr lvl="1">
              <a:lnSpc>
                <a:spcPct val="80000"/>
              </a:lnSpc>
            </a:pPr>
            <a:endParaRPr lang="en-US" altLang="zh-TW" sz="2400" dirty="0">
              <a:latin typeface="+mn-lt"/>
            </a:endParaRPr>
          </a:p>
        </p:txBody>
      </p:sp>
      <p:sp>
        <p:nvSpPr>
          <p:cNvPr id="9" name="日期版面配置區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2013/11/26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2577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3600" dirty="0" smtClean="0">
                <a:latin typeface="+mj-lt"/>
              </a:rPr>
              <a:t>Robinson-</a:t>
            </a:r>
            <a:r>
              <a:rPr lang="en-US" altLang="zh-TW" sz="3600" dirty="0" err="1" smtClean="0">
                <a:latin typeface="+mj-lt"/>
              </a:rPr>
              <a:t>Schensted</a:t>
            </a:r>
            <a:r>
              <a:rPr lang="en-US" altLang="zh-TW" sz="3600" dirty="0" smtClean="0">
                <a:latin typeface="+mj-lt"/>
              </a:rPr>
              <a:t>-Knuth Algorithm for LIS</a:t>
            </a:r>
            <a:endParaRPr lang="en-US" altLang="zh-TW" sz="3600" dirty="0">
              <a:latin typeface="+mj-lt"/>
            </a:endParaRPr>
          </a:p>
        </p:txBody>
      </p:sp>
      <p:grpSp>
        <p:nvGrpSpPr>
          <p:cNvPr id="88203" name="Group 139"/>
          <p:cNvGrpSpPr>
            <a:grpSpLocks/>
          </p:cNvGrpSpPr>
          <p:nvPr/>
        </p:nvGrpSpPr>
        <p:grpSpPr bwMode="auto">
          <a:xfrm>
            <a:off x="179512" y="1271637"/>
            <a:ext cx="8374063" cy="3165475"/>
            <a:chOff x="192" y="960"/>
            <a:chExt cx="5275" cy="1994"/>
          </a:xfrm>
        </p:grpSpPr>
        <p:sp>
          <p:nvSpPr>
            <p:cNvPr id="88199" name="Line 135"/>
            <p:cNvSpPr>
              <a:spLocks noChangeShapeType="1"/>
            </p:cNvSpPr>
            <p:nvPr/>
          </p:nvSpPr>
          <p:spPr bwMode="auto">
            <a:xfrm>
              <a:off x="336" y="1163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22" name="Rectangle 58"/>
            <p:cNvSpPr>
              <a:spLocks noChangeArrowheads="1"/>
            </p:cNvSpPr>
            <p:nvPr/>
          </p:nvSpPr>
          <p:spPr bwMode="auto">
            <a:xfrm>
              <a:off x="4921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2400"/>
            </a:p>
          </p:txBody>
        </p:sp>
        <p:sp>
          <p:nvSpPr>
            <p:cNvPr id="88121" name="Rectangle 57"/>
            <p:cNvSpPr>
              <a:spLocks noChangeArrowheads="1"/>
            </p:cNvSpPr>
            <p:nvPr/>
          </p:nvSpPr>
          <p:spPr bwMode="auto">
            <a:xfrm>
              <a:off x="4377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2400"/>
            </a:p>
          </p:txBody>
        </p:sp>
        <p:sp>
          <p:nvSpPr>
            <p:cNvPr id="88120" name="Rectangle 56"/>
            <p:cNvSpPr>
              <a:spLocks noChangeArrowheads="1"/>
            </p:cNvSpPr>
            <p:nvPr/>
          </p:nvSpPr>
          <p:spPr bwMode="auto">
            <a:xfrm>
              <a:off x="3833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2400"/>
            </a:p>
          </p:txBody>
        </p:sp>
        <p:sp>
          <p:nvSpPr>
            <p:cNvPr id="88119" name="Rectangle 55"/>
            <p:cNvSpPr>
              <a:spLocks noChangeArrowheads="1"/>
            </p:cNvSpPr>
            <p:nvPr/>
          </p:nvSpPr>
          <p:spPr bwMode="auto">
            <a:xfrm>
              <a:off x="3289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2400"/>
            </a:p>
          </p:txBody>
        </p:sp>
        <p:sp>
          <p:nvSpPr>
            <p:cNvPr id="88118" name="Rectangle 54"/>
            <p:cNvSpPr>
              <a:spLocks noChangeArrowheads="1"/>
            </p:cNvSpPr>
            <p:nvPr/>
          </p:nvSpPr>
          <p:spPr bwMode="auto">
            <a:xfrm>
              <a:off x="2745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2400"/>
            </a:p>
          </p:txBody>
        </p:sp>
        <p:sp>
          <p:nvSpPr>
            <p:cNvPr id="88117" name="Rectangle 53"/>
            <p:cNvSpPr>
              <a:spLocks noChangeArrowheads="1"/>
            </p:cNvSpPr>
            <p:nvPr/>
          </p:nvSpPr>
          <p:spPr bwMode="auto">
            <a:xfrm>
              <a:off x="2201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2400"/>
            </a:p>
          </p:txBody>
        </p:sp>
        <p:sp>
          <p:nvSpPr>
            <p:cNvPr id="88116" name="Rectangle 52"/>
            <p:cNvSpPr>
              <a:spLocks noChangeArrowheads="1"/>
            </p:cNvSpPr>
            <p:nvPr/>
          </p:nvSpPr>
          <p:spPr bwMode="auto">
            <a:xfrm>
              <a:off x="1657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2400"/>
            </a:p>
          </p:txBody>
        </p:sp>
        <p:sp>
          <p:nvSpPr>
            <p:cNvPr id="88115" name="Rectangle 51"/>
            <p:cNvSpPr>
              <a:spLocks noChangeArrowheads="1"/>
            </p:cNvSpPr>
            <p:nvPr/>
          </p:nvSpPr>
          <p:spPr bwMode="auto">
            <a:xfrm>
              <a:off x="1113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2400"/>
            </a:p>
          </p:txBody>
        </p:sp>
        <p:sp>
          <p:nvSpPr>
            <p:cNvPr id="88114" name="Rectangle 50"/>
            <p:cNvSpPr>
              <a:spLocks noChangeArrowheads="1"/>
            </p:cNvSpPr>
            <p:nvPr/>
          </p:nvSpPr>
          <p:spPr bwMode="auto">
            <a:xfrm>
              <a:off x="569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2400"/>
            </a:p>
          </p:txBody>
        </p:sp>
        <p:sp>
          <p:nvSpPr>
            <p:cNvPr id="88113" name="Rectangle 49"/>
            <p:cNvSpPr>
              <a:spLocks noChangeArrowheads="1"/>
            </p:cNvSpPr>
            <p:nvPr/>
          </p:nvSpPr>
          <p:spPr bwMode="auto">
            <a:xfrm>
              <a:off x="4921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>
                  <a:solidFill>
                    <a:schemeClr val="hlink"/>
                  </a:solidFill>
                </a:rPr>
                <a:t>8</a:t>
              </a:r>
            </a:p>
          </p:txBody>
        </p:sp>
        <p:sp>
          <p:nvSpPr>
            <p:cNvPr id="88112" name="Rectangle 48"/>
            <p:cNvSpPr>
              <a:spLocks noChangeArrowheads="1"/>
            </p:cNvSpPr>
            <p:nvPr/>
          </p:nvSpPr>
          <p:spPr bwMode="auto">
            <a:xfrm>
              <a:off x="4377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8</a:t>
              </a:r>
            </a:p>
          </p:txBody>
        </p:sp>
        <p:sp>
          <p:nvSpPr>
            <p:cNvPr id="88111" name="Rectangle 47"/>
            <p:cNvSpPr>
              <a:spLocks noChangeArrowheads="1"/>
            </p:cNvSpPr>
            <p:nvPr/>
          </p:nvSpPr>
          <p:spPr bwMode="auto">
            <a:xfrm>
              <a:off x="3833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 b="1" u="sng">
                  <a:solidFill>
                    <a:schemeClr val="folHlink"/>
                  </a:solidFill>
                </a:rPr>
                <a:t>8</a:t>
              </a:r>
            </a:p>
          </p:txBody>
        </p:sp>
        <p:sp>
          <p:nvSpPr>
            <p:cNvPr id="88110" name="Rectangle 46"/>
            <p:cNvSpPr>
              <a:spLocks noChangeArrowheads="1"/>
            </p:cNvSpPr>
            <p:nvPr/>
          </p:nvSpPr>
          <p:spPr bwMode="auto">
            <a:xfrm>
              <a:off x="3289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2400"/>
            </a:p>
          </p:txBody>
        </p:sp>
        <p:sp>
          <p:nvSpPr>
            <p:cNvPr id="88109" name="Rectangle 45"/>
            <p:cNvSpPr>
              <a:spLocks noChangeArrowheads="1"/>
            </p:cNvSpPr>
            <p:nvPr/>
          </p:nvSpPr>
          <p:spPr bwMode="auto">
            <a:xfrm>
              <a:off x="2745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2400"/>
            </a:p>
          </p:txBody>
        </p:sp>
        <p:sp>
          <p:nvSpPr>
            <p:cNvPr id="88108" name="Rectangle 44"/>
            <p:cNvSpPr>
              <a:spLocks noChangeArrowheads="1"/>
            </p:cNvSpPr>
            <p:nvPr/>
          </p:nvSpPr>
          <p:spPr bwMode="auto">
            <a:xfrm>
              <a:off x="2201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2400"/>
            </a:p>
          </p:txBody>
        </p:sp>
        <p:sp>
          <p:nvSpPr>
            <p:cNvPr id="88107" name="Rectangle 43"/>
            <p:cNvSpPr>
              <a:spLocks noChangeArrowheads="1"/>
            </p:cNvSpPr>
            <p:nvPr/>
          </p:nvSpPr>
          <p:spPr bwMode="auto">
            <a:xfrm>
              <a:off x="1657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2400"/>
            </a:p>
          </p:txBody>
        </p:sp>
        <p:sp>
          <p:nvSpPr>
            <p:cNvPr id="88106" name="Rectangle 42"/>
            <p:cNvSpPr>
              <a:spLocks noChangeArrowheads="1"/>
            </p:cNvSpPr>
            <p:nvPr/>
          </p:nvSpPr>
          <p:spPr bwMode="auto">
            <a:xfrm>
              <a:off x="1113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2400"/>
            </a:p>
          </p:txBody>
        </p:sp>
        <p:sp>
          <p:nvSpPr>
            <p:cNvPr id="88105" name="Rectangle 41"/>
            <p:cNvSpPr>
              <a:spLocks noChangeArrowheads="1"/>
            </p:cNvSpPr>
            <p:nvPr/>
          </p:nvSpPr>
          <p:spPr bwMode="auto">
            <a:xfrm>
              <a:off x="569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4</a:t>
              </a:r>
            </a:p>
          </p:txBody>
        </p:sp>
        <p:sp>
          <p:nvSpPr>
            <p:cNvPr id="88104" name="Rectangle 40"/>
            <p:cNvSpPr>
              <a:spLocks noChangeArrowheads="1"/>
            </p:cNvSpPr>
            <p:nvPr/>
          </p:nvSpPr>
          <p:spPr bwMode="auto">
            <a:xfrm>
              <a:off x="4921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 b="1" u="sng">
                  <a:solidFill>
                    <a:schemeClr val="folHlink"/>
                  </a:solidFill>
                </a:rPr>
                <a:t>6</a:t>
              </a:r>
            </a:p>
          </p:txBody>
        </p:sp>
        <p:sp>
          <p:nvSpPr>
            <p:cNvPr id="88103" name="Rectangle 39"/>
            <p:cNvSpPr>
              <a:spLocks noChangeArrowheads="1"/>
            </p:cNvSpPr>
            <p:nvPr/>
          </p:nvSpPr>
          <p:spPr bwMode="auto">
            <a:xfrm>
              <a:off x="4377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7</a:t>
              </a:r>
            </a:p>
          </p:txBody>
        </p:sp>
        <p:sp>
          <p:nvSpPr>
            <p:cNvPr id="88102" name="Rectangle 38"/>
            <p:cNvSpPr>
              <a:spLocks noChangeArrowheads="1"/>
            </p:cNvSpPr>
            <p:nvPr/>
          </p:nvSpPr>
          <p:spPr bwMode="auto">
            <a:xfrm>
              <a:off x="3833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7</a:t>
              </a:r>
            </a:p>
          </p:txBody>
        </p:sp>
        <p:sp>
          <p:nvSpPr>
            <p:cNvPr id="88101" name="Rectangle 37"/>
            <p:cNvSpPr>
              <a:spLocks noChangeArrowheads="1"/>
            </p:cNvSpPr>
            <p:nvPr/>
          </p:nvSpPr>
          <p:spPr bwMode="auto">
            <a:xfrm>
              <a:off x="3289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7</a:t>
              </a:r>
            </a:p>
          </p:txBody>
        </p:sp>
        <p:sp>
          <p:nvSpPr>
            <p:cNvPr id="88100" name="Rectangle 36"/>
            <p:cNvSpPr>
              <a:spLocks noChangeArrowheads="1"/>
            </p:cNvSpPr>
            <p:nvPr/>
          </p:nvSpPr>
          <p:spPr bwMode="auto">
            <a:xfrm>
              <a:off x="2745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 b="1" u="sng">
                  <a:solidFill>
                    <a:schemeClr val="folHlink"/>
                  </a:solidFill>
                </a:rPr>
                <a:t>7</a:t>
              </a:r>
            </a:p>
          </p:txBody>
        </p:sp>
        <p:sp>
          <p:nvSpPr>
            <p:cNvPr id="88099" name="Rectangle 35"/>
            <p:cNvSpPr>
              <a:spLocks noChangeArrowheads="1"/>
            </p:cNvSpPr>
            <p:nvPr/>
          </p:nvSpPr>
          <p:spPr bwMode="auto">
            <a:xfrm>
              <a:off x="2201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2400"/>
            </a:p>
          </p:txBody>
        </p:sp>
        <p:sp>
          <p:nvSpPr>
            <p:cNvPr id="88098" name="Rectangle 34"/>
            <p:cNvSpPr>
              <a:spLocks noChangeArrowheads="1"/>
            </p:cNvSpPr>
            <p:nvPr/>
          </p:nvSpPr>
          <p:spPr bwMode="auto">
            <a:xfrm>
              <a:off x="1657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2400"/>
            </a:p>
          </p:txBody>
        </p:sp>
        <p:sp>
          <p:nvSpPr>
            <p:cNvPr id="88097" name="Rectangle 33"/>
            <p:cNvSpPr>
              <a:spLocks noChangeArrowheads="1"/>
            </p:cNvSpPr>
            <p:nvPr/>
          </p:nvSpPr>
          <p:spPr bwMode="auto">
            <a:xfrm>
              <a:off x="1113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2400"/>
            </a:p>
          </p:txBody>
        </p:sp>
        <p:sp>
          <p:nvSpPr>
            <p:cNvPr id="88096" name="Rectangle 32"/>
            <p:cNvSpPr>
              <a:spLocks noChangeArrowheads="1"/>
            </p:cNvSpPr>
            <p:nvPr/>
          </p:nvSpPr>
          <p:spPr bwMode="auto">
            <a:xfrm>
              <a:off x="569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3</a:t>
              </a:r>
            </a:p>
          </p:txBody>
        </p:sp>
        <p:sp>
          <p:nvSpPr>
            <p:cNvPr id="88095" name="Rectangle 31"/>
            <p:cNvSpPr>
              <a:spLocks noChangeArrowheads="1"/>
            </p:cNvSpPr>
            <p:nvPr/>
          </p:nvSpPr>
          <p:spPr bwMode="auto">
            <a:xfrm>
              <a:off x="4921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4</a:t>
              </a:r>
            </a:p>
          </p:txBody>
        </p:sp>
        <p:sp>
          <p:nvSpPr>
            <p:cNvPr id="88094" name="Rectangle 30"/>
            <p:cNvSpPr>
              <a:spLocks noChangeArrowheads="1"/>
            </p:cNvSpPr>
            <p:nvPr/>
          </p:nvSpPr>
          <p:spPr bwMode="auto">
            <a:xfrm>
              <a:off x="4377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4</a:t>
              </a:r>
            </a:p>
          </p:txBody>
        </p:sp>
        <p:sp>
          <p:nvSpPr>
            <p:cNvPr id="88093" name="Rectangle 29"/>
            <p:cNvSpPr>
              <a:spLocks noChangeArrowheads="1"/>
            </p:cNvSpPr>
            <p:nvPr/>
          </p:nvSpPr>
          <p:spPr bwMode="auto">
            <a:xfrm>
              <a:off x="3833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4</a:t>
              </a:r>
            </a:p>
          </p:txBody>
        </p:sp>
        <p:sp>
          <p:nvSpPr>
            <p:cNvPr id="88092" name="Rectangle 28"/>
            <p:cNvSpPr>
              <a:spLocks noChangeArrowheads="1"/>
            </p:cNvSpPr>
            <p:nvPr/>
          </p:nvSpPr>
          <p:spPr bwMode="auto">
            <a:xfrm>
              <a:off x="3289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 b="1" u="sng">
                  <a:solidFill>
                    <a:schemeClr val="folHlink"/>
                  </a:solidFill>
                </a:rPr>
                <a:t>4</a:t>
              </a:r>
            </a:p>
          </p:txBody>
        </p:sp>
        <p:sp>
          <p:nvSpPr>
            <p:cNvPr id="88091" name="Rectangle 27"/>
            <p:cNvSpPr>
              <a:spLocks noChangeArrowheads="1"/>
            </p:cNvSpPr>
            <p:nvPr/>
          </p:nvSpPr>
          <p:spPr bwMode="auto">
            <a:xfrm>
              <a:off x="2745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5</a:t>
              </a:r>
            </a:p>
          </p:txBody>
        </p:sp>
        <p:sp>
          <p:nvSpPr>
            <p:cNvPr id="88090" name="Rectangle 26"/>
            <p:cNvSpPr>
              <a:spLocks noChangeArrowheads="1"/>
            </p:cNvSpPr>
            <p:nvPr/>
          </p:nvSpPr>
          <p:spPr bwMode="auto">
            <a:xfrm>
              <a:off x="2201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5</a:t>
              </a:r>
            </a:p>
          </p:txBody>
        </p:sp>
        <p:sp>
          <p:nvSpPr>
            <p:cNvPr id="88089" name="Rectangle 25"/>
            <p:cNvSpPr>
              <a:spLocks noChangeArrowheads="1"/>
            </p:cNvSpPr>
            <p:nvPr/>
          </p:nvSpPr>
          <p:spPr bwMode="auto">
            <a:xfrm>
              <a:off x="1657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 b="1" u="sng">
                  <a:solidFill>
                    <a:schemeClr val="folHlink"/>
                  </a:solidFill>
                </a:rPr>
                <a:t>5</a:t>
              </a:r>
            </a:p>
          </p:txBody>
        </p:sp>
        <p:sp>
          <p:nvSpPr>
            <p:cNvPr id="88088" name="Rectangle 24"/>
            <p:cNvSpPr>
              <a:spLocks noChangeArrowheads="1"/>
            </p:cNvSpPr>
            <p:nvPr/>
          </p:nvSpPr>
          <p:spPr bwMode="auto">
            <a:xfrm>
              <a:off x="1113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2400"/>
            </a:p>
          </p:txBody>
        </p:sp>
        <p:sp>
          <p:nvSpPr>
            <p:cNvPr id="88087" name="Rectangle 23"/>
            <p:cNvSpPr>
              <a:spLocks noChangeArrowheads="1"/>
            </p:cNvSpPr>
            <p:nvPr/>
          </p:nvSpPr>
          <p:spPr bwMode="auto">
            <a:xfrm>
              <a:off x="569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2</a:t>
              </a:r>
            </a:p>
          </p:txBody>
        </p:sp>
        <p:sp>
          <p:nvSpPr>
            <p:cNvPr id="88086" name="Rectangle 22"/>
            <p:cNvSpPr>
              <a:spLocks noChangeArrowheads="1"/>
            </p:cNvSpPr>
            <p:nvPr/>
          </p:nvSpPr>
          <p:spPr bwMode="auto">
            <a:xfrm>
              <a:off x="4921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1</a:t>
              </a:r>
            </a:p>
          </p:txBody>
        </p:sp>
        <p:sp>
          <p:nvSpPr>
            <p:cNvPr id="88085" name="Rectangle 21"/>
            <p:cNvSpPr>
              <a:spLocks noChangeArrowheads="1"/>
            </p:cNvSpPr>
            <p:nvPr/>
          </p:nvSpPr>
          <p:spPr bwMode="auto">
            <a:xfrm>
              <a:off x="4377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 b="1" u="sng">
                  <a:solidFill>
                    <a:schemeClr val="folHlink"/>
                  </a:solidFill>
                </a:rPr>
                <a:t>1</a:t>
              </a:r>
            </a:p>
          </p:txBody>
        </p:sp>
        <p:sp>
          <p:nvSpPr>
            <p:cNvPr id="88084" name="Rectangle 20"/>
            <p:cNvSpPr>
              <a:spLocks noChangeArrowheads="1"/>
            </p:cNvSpPr>
            <p:nvPr/>
          </p:nvSpPr>
          <p:spPr bwMode="auto">
            <a:xfrm>
              <a:off x="3833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2</a:t>
              </a:r>
            </a:p>
          </p:txBody>
        </p:sp>
        <p:sp>
          <p:nvSpPr>
            <p:cNvPr id="88083" name="Rectangle 19"/>
            <p:cNvSpPr>
              <a:spLocks noChangeArrowheads="1"/>
            </p:cNvSpPr>
            <p:nvPr/>
          </p:nvSpPr>
          <p:spPr bwMode="auto">
            <a:xfrm>
              <a:off x="3289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2</a:t>
              </a:r>
            </a:p>
          </p:txBody>
        </p:sp>
        <p:sp>
          <p:nvSpPr>
            <p:cNvPr id="88082" name="Rectangle 18"/>
            <p:cNvSpPr>
              <a:spLocks noChangeArrowheads="1"/>
            </p:cNvSpPr>
            <p:nvPr/>
          </p:nvSpPr>
          <p:spPr bwMode="auto">
            <a:xfrm>
              <a:off x="2745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2</a:t>
              </a:r>
            </a:p>
          </p:txBody>
        </p:sp>
        <p:sp>
          <p:nvSpPr>
            <p:cNvPr id="88081" name="Rectangle 17"/>
            <p:cNvSpPr>
              <a:spLocks noChangeArrowheads="1"/>
            </p:cNvSpPr>
            <p:nvPr/>
          </p:nvSpPr>
          <p:spPr bwMode="auto">
            <a:xfrm>
              <a:off x="2201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 b="1" u="sng">
                  <a:solidFill>
                    <a:schemeClr val="folHlink"/>
                  </a:solidFill>
                </a:rPr>
                <a:t>2</a:t>
              </a:r>
            </a:p>
          </p:txBody>
        </p:sp>
        <p:sp>
          <p:nvSpPr>
            <p:cNvPr id="88080" name="Rectangle 16"/>
            <p:cNvSpPr>
              <a:spLocks noChangeArrowheads="1"/>
            </p:cNvSpPr>
            <p:nvPr/>
          </p:nvSpPr>
          <p:spPr bwMode="auto">
            <a:xfrm>
              <a:off x="1657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3</a:t>
              </a:r>
            </a:p>
          </p:txBody>
        </p:sp>
        <p:sp>
          <p:nvSpPr>
            <p:cNvPr id="88079" name="Rectangle 15"/>
            <p:cNvSpPr>
              <a:spLocks noChangeArrowheads="1"/>
            </p:cNvSpPr>
            <p:nvPr/>
          </p:nvSpPr>
          <p:spPr bwMode="auto">
            <a:xfrm>
              <a:off x="1113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 b="1" u="sng">
                  <a:solidFill>
                    <a:schemeClr val="folHlink"/>
                  </a:solidFill>
                </a:rPr>
                <a:t>3</a:t>
              </a:r>
            </a:p>
          </p:txBody>
        </p:sp>
        <p:sp>
          <p:nvSpPr>
            <p:cNvPr id="88078" name="Rectangle 14"/>
            <p:cNvSpPr>
              <a:spLocks noChangeArrowheads="1"/>
            </p:cNvSpPr>
            <p:nvPr/>
          </p:nvSpPr>
          <p:spPr bwMode="auto">
            <a:xfrm>
              <a:off x="569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1</a:t>
              </a:r>
            </a:p>
          </p:txBody>
        </p:sp>
        <p:sp>
          <p:nvSpPr>
            <p:cNvPr id="88077" name="Rectangle 13"/>
            <p:cNvSpPr>
              <a:spLocks noChangeArrowheads="1"/>
            </p:cNvSpPr>
            <p:nvPr/>
          </p:nvSpPr>
          <p:spPr bwMode="auto">
            <a:xfrm>
              <a:off x="4921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6</a:t>
              </a:r>
            </a:p>
          </p:txBody>
        </p:sp>
        <p:sp>
          <p:nvSpPr>
            <p:cNvPr id="88076" name="Rectangle 12"/>
            <p:cNvSpPr>
              <a:spLocks noChangeArrowheads="1"/>
            </p:cNvSpPr>
            <p:nvPr/>
          </p:nvSpPr>
          <p:spPr bwMode="auto">
            <a:xfrm>
              <a:off x="4377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1</a:t>
              </a:r>
            </a:p>
          </p:txBody>
        </p:sp>
        <p:sp>
          <p:nvSpPr>
            <p:cNvPr id="88075" name="Rectangle 11"/>
            <p:cNvSpPr>
              <a:spLocks noChangeArrowheads="1"/>
            </p:cNvSpPr>
            <p:nvPr/>
          </p:nvSpPr>
          <p:spPr bwMode="auto">
            <a:xfrm>
              <a:off x="3833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8</a:t>
              </a:r>
            </a:p>
          </p:txBody>
        </p:sp>
        <p:sp>
          <p:nvSpPr>
            <p:cNvPr id="88074" name="Rectangle 10"/>
            <p:cNvSpPr>
              <a:spLocks noChangeArrowheads="1"/>
            </p:cNvSpPr>
            <p:nvPr/>
          </p:nvSpPr>
          <p:spPr bwMode="auto">
            <a:xfrm>
              <a:off x="3289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4</a:t>
              </a:r>
            </a:p>
          </p:txBody>
        </p:sp>
        <p:sp>
          <p:nvSpPr>
            <p:cNvPr id="88073" name="Rectangle 9"/>
            <p:cNvSpPr>
              <a:spLocks noChangeArrowheads="1"/>
            </p:cNvSpPr>
            <p:nvPr/>
          </p:nvSpPr>
          <p:spPr bwMode="auto">
            <a:xfrm>
              <a:off x="2745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7</a:t>
              </a:r>
            </a:p>
          </p:txBody>
        </p:sp>
        <p:sp>
          <p:nvSpPr>
            <p:cNvPr id="88072" name="Rectangle 8"/>
            <p:cNvSpPr>
              <a:spLocks noChangeArrowheads="1"/>
            </p:cNvSpPr>
            <p:nvPr/>
          </p:nvSpPr>
          <p:spPr bwMode="auto">
            <a:xfrm>
              <a:off x="2201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2</a:t>
              </a:r>
            </a:p>
          </p:txBody>
        </p:sp>
        <p:sp>
          <p:nvSpPr>
            <p:cNvPr id="88071" name="Rectangle 7"/>
            <p:cNvSpPr>
              <a:spLocks noChangeArrowheads="1"/>
            </p:cNvSpPr>
            <p:nvPr/>
          </p:nvSpPr>
          <p:spPr bwMode="auto">
            <a:xfrm>
              <a:off x="1657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5</a:t>
              </a:r>
            </a:p>
          </p:txBody>
        </p:sp>
        <p:sp>
          <p:nvSpPr>
            <p:cNvPr id="88070" name="Rectangle 6"/>
            <p:cNvSpPr>
              <a:spLocks noChangeArrowheads="1"/>
            </p:cNvSpPr>
            <p:nvPr/>
          </p:nvSpPr>
          <p:spPr bwMode="auto">
            <a:xfrm>
              <a:off x="1113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r>
                <a:rPr lang="en-US" altLang="zh-TW" sz="2400"/>
                <a:t>3</a:t>
              </a:r>
            </a:p>
          </p:txBody>
        </p:sp>
        <p:sp>
          <p:nvSpPr>
            <p:cNvPr id="88069" name="Rectangle 5"/>
            <p:cNvSpPr>
              <a:spLocks noChangeArrowheads="1"/>
            </p:cNvSpPr>
            <p:nvPr/>
          </p:nvSpPr>
          <p:spPr bwMode="auto">
            <a:xfrm>
              <a:off x="569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TW" altLang="zh-TW" sz="2400"/>
            </a:p>
          </p:txBody>
        </p:sp>
        <p:sp>
          <p:nvSpPr>
            <p:cNvPr id="88150" name="Line 86"/>
            <p:cNvSpPr>
              <a:spLocks noChangeShapeType="1"/>
            </p:cNvSpPr>
            <p:nvPr/>
          </p:nvSpPr>
          <p:spPr bwMode="auto">
            <a:xfrm>
              <a:off x="569" y="1232"/>
              <a:ext cx="489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51" name="Line 87"/>
            <p:cNvSpPr>
              <a:spLocks noChangeShapeType="1"/>
            </p:cNvSpPr>
            <p:nvPr/>
          </p:nvSpPr>
          <p:spPr bwMode="auto">
            <a:xfrm>
              <a:off x="569" y="1519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52" name="Line 88"/>
            <p:cNvSpPr>
              <a:spLocks noChangeShapeType="1"/>
            </p:cNvSpPr>
            <p:nvPr/>
          </p:nvSpPr>
          <p:spPr bwMode="auto">
            <a:xfrm>
              <a:off x="569" y="1806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53" name="Line 89"/>
            <p:cNvSpPr>
              <a:spLocks noChangeShapeType="1"/>
            </p:cNvSpPr>
            <p:nvPr/>
          </p:nvSpPr>
          <p:spPr bwMode="auto">
            <a:xfrm>
              <a:off x="569" y="2093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54" name="Line 90"/>
            <p:cNvSpPr>
              <a:spLocks noChangeShapeType="1"/>
            </p:cNvSpPr>
            <p:nvPr/>
          </p:nvSpPr>
          <p:spPr bwMode="auto">
            <a:xfrm>
              <a:off x="569" y="2380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55" name="Line 91"/>
            <p:cNvSpPr>
              <a:spLocks noChangeShapeType="1"/>
            </p:cNvSpPr>
            <p:nvPr/>
          </p:nvSpPr>
          <p:spPr bwMode="auto">
            <a:xfrm>
              <a:off x="569" y="2667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59" name="Line 95"/>
            <p:cNvSpPr>
              <a:spLocks noChangeShapeType="1"/>
            </p:cNvSpPr>
            <p:nvPr/>
          </p:nvSpPr>
          <p:spPr bwMode="auto">
            <a:xfrm>
              <a:off x="569" y="2954"/>
              <a:ext cx="489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60" name="Line 96"/>
            <p:cNvSpPr>
              <a:spLocks noChangeShapeType="1"/>
            </p:cNvSpPr>
            <p:nvPr/>
          </p:nvSpPr>
          <p:spPr bwMode="auto">
            <a:xfrm>
              <a:off x="569" y="1232"/>
              <a:ext cx="0" cy="172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61" name="Line 97"/>
            <p:cNvSpPr>
              <a:spLocks noChangeShapeType="1"/>
            </p:cNvSpPr>
            <p:nvPr/>
          </p:nvSpPr>
          <p:spPr bwMode="auto">
            <a:xfrm>
              <a:off x="1113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62" name="Line 98"/>
            <p:cNvSpPr>
              <a:spLocks noChangeShapeType="1"/>
            </p:cNvSpPr>
            <p:nvPr/>
          </p:nvSpPr>
          <p:spPr bwMode="auto">
            <a:xfrm>
              <a:off x="1657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63" name="Line 99"/>
            <p:cNvSpPr>
              <a:spLocks noChangeShapeType="1"/>
            </p:cNvSpPr>
            <p:nvPr/>
          </p:nvSpPr>
          <p:spPr bwMode="auto">
            <a:xfrm>
              <a:off x="2201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64" name="Line 100"/>
            <p:cNvSpPr>
              <a:spLocks noChangeShapeType="1"/>
            </p:cNvSpPr>
            <p:nvPr/>
          </p:nvSpPr>
          <p:spPr bwMode="auto">
            <a:xfrm>
              <a:off x="2745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65" name="Line 101"/>
            <p:cNvSpPr>
              <a:spLocks noChangeShapeType="1"/>
            </p:cNvSpPr>
            <p:nvPr/>
          </p:nvSpPr>
          <p:spPr bwMode="auto">
            <a:xfrm>
              <a:off x="3289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66" name="Line 102"/>
            <p:cNvSpPr>
              <a:spLocks noChangeShapeType="1"/>
            </p:cNvSpPr>
            <p:nvPr/>
          </p:nvSpPr>
          <p:spPr bwMode="auto">
            <a:xfrm>
              <a:off x="3833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67" name="Line 103"/>
            <p:cNvSpPr>
              <a:spLocks noChangeShapeType="1"/>
            </p:cNvSpPr>
            <p:nvPr/>
          </p:nvSpPr>
          <p:spPr bwMode="auto">
            <a:xfrm>
              <a:off x="4377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68" name="Line 104"/>
            <p:cNvSpPr>
              <a:spLocks noChangeShapeType="1"/>
            </p:cNvSpPr>
            <p:nvPr/>
          </p:nvSpPr>
          <p:spPr bwMode="auto">
            <a:xfrm>
              <a:off x="4921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69" name="Line 105"/>
            <p:cNvSpPr>
              <a:spLocks noChangeShapeType="1"/>
            </p:cNvSpPr>
            <p:nvPr/>
          </p:nvSpPr>
          <p:spPr bwMode="auto">
            <a:xfrm>
              <a:off x="5465" y="1232"/>
              <a:ext cx="0" cy="172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80" name="Rectangle 116"/>
            <p:cNvSpPr>
              <a:spLocks noChangeArrowheads="1"/>
            </p:cNvSpPr>
            <p:nvPr/>
          </p:nvSpPr>
          <p:spPr bwMode="auto">
            <a:xfrm>
              <a:off x="192" y="1883"/>
              <a:ext cx="259" cy="3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88182" name="Line 118"/>
            <p:cNvSpPr>
              <a:spLocks noChangeShapeType="1"/>
            </p:cNvSpPr>
            <p:nvPr/>
          </p:nvSpPr>
          <p:spPr bwMode="auto">
            <a:xfrm>
              <a:off x="614" y="1096"/>
              <a:ext cx="48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88" name="Rectangle 124"/>
            <p:cNvSpPr>
              <a:spLocks noChangeArrowheads="1"/>
            </p:cNvSpPr>
            <p:nvPr/>
          </p:nvSpPr>
          <p:spPr bwMode="auto">
            <a:xfrm>
              <a:off x="2474" y="960"/>
              <a:ext cx="726" cy="2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>
                  <a:latin typeface="Times New Roman" panose="02020603050405020304" pitchFamily="18" charset="0"/>
                </a:rPr>
                <a:t>Input</a:t>
              </a:r>
            </a:p>
          </p:txBody>
        </p:sp>
        <p:sp>
          <p:nvSpPr>
            <p:cNvPr id="88189" name="Oval 125"/>
            <p:cNvSpPr>
              <a:spLocks noChangeArrowheads="1"/>
            </p:cNvSpPr>
            <p:nvPr/>
          </p:nvSpPr>
          <p:spPr bwMode="auto">
            <a:xfrm>
              <a:off x="1204" y="1549"/>
              <a:ext cx="363" cy="272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88190" name="Oval 126"/>
            <p:cNvSpPr>
              <a:spLocks noChangeArrowheads="1"/>
            </p:cNvSpPr>
            <p:nvPr/>
          </p:nvSpPr>
          <p:spPr bwMode="auto">
            <a:xfrm>
              <a:off x="1749" y="1595"/>
              <a:ext cx="363" cy="499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88191" name="Oval 127"/>
            <p:cNvSpPr>
              <a:spLocks noChangeArrowheads="1"/>
            </p:cNvSpPr>
            <p:nvPr/>
          </p:nvSpPr>
          <p:spPr bwMode="auto">
            <a:xfrm>
              <a:off x="2837" y="1821"/>
              <a:ext cx="363" cy="500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88192" name="Oval 128"/>
            <p:cNvSpPr>
              <a:spLocks noChangeArrowheads="1"/>
            </p:cNvSpPr>
            <p:nvPr/>
          </p:nvSpPr>
          <p:spPr bwMode="auto">
            <a:xfrm>
              <a:off x="3926" y="2048"/>
              <a:ext cx="363" cy="545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88193" name="Oval 129"/>
            <p:cNvSpPr>
              <a:spLocks noChangeArrowheads="1"/>
            </p:cNvSpPr>
            <p:nvPr/>
          </p:nvSpPr>
          <p:spPr bwMode="auto">
            <a:xfrm>
              <a:off x="5015" y="2275"/>
              <a:ext cx="363" cy="318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88194" name="Line 130"/>
            <p:cNvSpPr>
              <a:spLocks noChangeShapeType="1"/>
            </p:cNvSpPr>
            <p:nvPr/>
          </p:nvSpPr>
          <p:spPr bwMode="auto">
            <a:xfrm flipH="1" flipV="1">
              <a:off x="4198" y="2592"/>
              <a:ext cx="862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95" name="Line 131"/>
            <p:cNvSpPr>
              <a:spLocks noChangeShapeType="1"/>
            </p:cNvSpPr>
            <p:nvPr/>
          </p:nvSpPr>
          <p:spPr bwMode="auto">
            <a:xfrm flipH="1">
              <a:off x="3246" y="2093"/>
              <a:ext cx="77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96" name="Line 132"/>
            <p:cNvSpPr>
              <a:spLocks noChangeShapeType="1"/>
            </p:cNvSpPr>
            <p:nvPr/>
          </p:nvSpPr>
          <p:spPr bwMode="auto">
            <a:xfrm flipH="1">
              <a:off x="2105" y="1836"/>
              <a:ext cx="77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88197" name="Line 133"/>
            <p:cNvSpPr>
              <a:spLocks noChangeShapeType="1"/>
            </p:cNvSpPr>
            <p:nvPr/>
          </p:nvSpPr>
          <p:spPr bwMode="auto">
            <a:xfrm flipH="1" flipV="1">
              <a:off x="1567" y="1640"/>
              <a:ext cx="227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88200" name="Rectangle 136"/>
          <p:cNvSpPr>
            <a:spLocks noChangeArrowheads="1"/>
          </p:cNvSpPr>
          <p:nvPr/>
        </p:nvSpPr>
        <p:spPr bwMode="auto">
          <a:xfrm>
            <a:off x="685800" y="4612400"/>
            <a:ext cx="77724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TW" sz="2800" dirty="0">
                <a:latin typeface="+mn-lt"/>
              </a:rPr>
              <a:t>LIS: </a:t>
            </a:r>
            <a:r>
              <a:rPr lang="en-US" altLang="zh-TW" sz="2800" u="sng" dirty="0">
                <a:solidFill>
                  <a:schemeClr val="hlink"/>
                </a:solidFill>
                <a:latin typeface="+mn-lt"/>
              </a:rPr>
              <a:t>3578</a:t>
            </a:r>
            <a:r>
              <a:rPr lang="en-US" altLang="zh-TW" sz="2800" dirty="0">
                <a:latin typeface="+mn-lt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TW" sz="2800" dirty="0">
                <a:latin typeface="+mn-lt"/>
                <a:sym typeface="Wingdings" panose="05000000000000000000" pitchFamily="2" charset="2"/>
              </a:rPr>
              <a:t>time complexity: O(</a:t>
            </a:r>
            <a:r>
              <a:rPr lang="en-US" altLang="zh-TW" sz="2800" i="1" dirty="0" err="1">
                <a:latin typeface="+mn-lt"/>
                <a:sym typeface="Wingdings" panose="05000000000000000000" pitchFamily="2" charset="2"/>
              </a:rPr>
              <a:t>nlogn</a:t>
            </a:r>
            <a:r>
              <a:rPr lang="en-US" altLang="zh-TW" sz="2800" dirty="0">
                <a:latin typeface="+mn-lt"/>
                <a:sym typeface="Wingdings" panose="05000000000000000000" pitchFamily="2" charset="2"/>
              </a:rPr>
              <a:t>)</a:t>
            </a:r>
            <a:endParaRPr lang="en-US" altLang="zh-TW" sz="2800" dirty="0">
              <a:latin typeface="+mn-lt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TW" sz="2800" dirty="0">
                <a:latin typeface="+mn-lt"/>
              </a:rPr>
              <a:t> </a:t>
            </a:r>
            <a:r>
              <a:rPr lang="en-US" altLang="zh-TW" sz="2800" i="1" dirty="0">
                <a:latin typeface="+mn-lt"/>
              </a:rPr>
              <a:t>n</a:t>
            </a:r>
            <a:r>
              <a:rPr lang="en-US" altLang="zh-TW" sz="2800" dirty="0">
                <a:latin typeface="+mn-lt"/>
              </a:rPr>
              <a:t> numbers are  inserted and each insertion takes O(</a:t>
            </a:r>
            <a:r>
              <a:rPr lang="en-US" altLang="zh-TW" sz="2800" i="1" dirty="0" err="1">
                <a:latin typeface="+mn-lt"/>
              </a:rPr>
              <a:t>logn</a:t>
            </a:r>
            <a:r>
              <a:rPr lang="en-US" altLang="zh-TW" sz="2800" dirty="0">
                <a:latin typeface="+mn-lt"/>
              </a:rPr>
              <a:t>) time for binary search.</a:t>
            </a:r>
          </a:p>
        </p:txBody>
      </p:sp>
      <p:sp>
        <p:nvSpPr>
          <p:cNvPr id="11" name="日期版面配置區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2013/11/26</a:t>
            </a:r>
            <a:endParaRPr lang="zh-TW" altLang="en-US"/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979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Hunt-Szymanski </a:t>
            </a:r>
            <a:r>
              <a:rPr lang="en-US" altLang="zh-TW" dirty="0">
                <a:latin typeface="+mj-lt"/>
              </a:rPr>
              <a:t>LCS Algorithm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>
                <a:latin typeface="+mj-lt"/>
              </a:rPr>
              <a:t>By extending the idea in </a:t>
            </a:r>
            <a:r>
              <a:rPr lang="en-US" altLang="zh-TW" u="sng" dirty="0">
                <a:solidFill>
                  <a:schemeClr val="hlink"/>
                </a:solidFill>
                <a:latin typeface="+mj-lt"/>
              </a:rPr>
              <a:t>RSK algorithm</a:t>
            </a:r>
            <a:r>
              <a:rPr lang="en-US" altLang="zh-TW" dirty="0">
                <a:latin typeface="+mj-lt"/>
              </a:rPr>
              <a:t>, the LCS problem can be solved in </a:t>
            </a:r>
            <a:r>
              <a:rPr lang="en-US" altLang="zh-TW" dirty="0" smtClean="0">
                <a:latin typeface="+mj-lt"/>
              </a:rPr>
              <a:t>O((</a:t>
            </a:r>
            <a:r>
              <a:rPr lang="en-US" altLang="zh-TW" i="1" dirty="0" smtClean="0">
                <a:latin typeface="+mj-lt"/>
              </a:rPr>
              <a:t>r + n) log n</a:t>
            </a:r>
            <a:r>
              <a:rPr lang="en-US" altLang="zh-TW" dirty="0">
                <a:latin typeface="+mj-lt"/>
              </a:rPr>
              <a:t>) time, where </a:t>
            </a:r>
            <a:r>
              <a:rPr lang="en-US" altLang="zh-TW" i="1" dirty="0">
                <a:latin typeface="+mj-lt"/>
              </a:rPr>
              <a:t>r</a:t>
            </a:r>
            <a:r>
              <a:rPr lang="en-US" altLang="zh-TW" dirty="0">
                <a:latin typeface="+mj-lt"/>
              </a:rPr>
              <a:t> denotes the number of matches.</a:t>
            </a:r>
          </a:p>
          <a:p>
            <a:r>
              <a:rPr lang="en-US" altLang="zh-TW" dirty="0">
                <a:latin typeface="+mj-lt"/>
              </a:rPr>
              <a:t>This algorithm is </a:t>
            </a:r>
            <a:r>
              <a:rPr lang="en-US" altLang="zh-TW" u="sng" dirty="0">
                <a:solidFill>
                  <a:schemeClr val="hlink"/>
                </a:solidFill>
                <a:latin typeface="+mj-lt"/>
              </a:rPr>
              <a:t>faster</a:t>
            </a:r>
            <a:r>
              <a:rPr lang="en-US" altLang="zh-TW" dirty="0">
                <a:latin typeface="+mj-lt"/>
              </a:rPr>
              <a:t> than traditional dynamic programming </a:t>
            </a:r>
            <a:r>
              <a:rPr lang="en-US" altLang="zh-TW" u="sng" dirty="0">
                <a:solidFill>
                  <a:schemeClr val="hlink"/>
                </a:solidFill>
                <a:latin typeface="+mj-lt"/>
              </a:rPr>
              <a:t>if </a:t>
            </a:r>
            <a:r>
              <a:rPr lang="en-US" altLang="zh-TW" i="1" u="sng" dirty="0">
                <a:solidFill>
                  <a:schemeClr val="hlink"/>
                </a:solidFill>
                <a:latin typeface="+mj-lt"/>
              </a:rPr>
              <a:t>r</a:t>
            </a:r>
            <a:r>
              <a:rPr lang="en-US" altLang="zh-TW" u="sng" dirty="0">
                <a:solidFill>
                  <a:schemeClr val="hlink"/>
                </a:solidFill>
                <a:latin typeface="+mj-lt"/>
              </a:rPr>
              <a:t> is </a:t>
            </a:r>
            <a:r>
              <a:rPr lang="en-US" altLang="zh-TW" u="sng" dirty="0" smtClean="0">
                <a:solidFill>
                  <a:schemeClr val="hlink"/>
                </a:solidFill>
                <a:latin typeface="+mj-lt"/>
              </a:rPr>
              <a:t>small</a:t>
            </a:r>
            <a:r>
              <a:rPr lang="en-US" altLang="zh-TW" dirty="0" smtClean="0">
                <a:latin typeface="+mj-lt"/>
              </a:rPr>
              <a:t> (in </a:t>
            </a:r>
            <a:r>
              <a:rPr lang="en-US" altLang="zh-TW" dirty="0">
                <a:latin typeface="+mj-lt"/>
              </a:rPr>
              <a:t>the </a:t>
            </a:r>
            <a:r>
              <a:rPr lang="en-US" altLang="zh-TW" dirty="0">
                <a:latin typeface="+mj-lt"/>
              </a:rPr>
              <a:t>worst case </a:t>
            </a:r>
            <a:r>
              <a:rPr lang="en-US" altLang="zh-TW" i="1" dirty="0" smtClean="0">
                <a:latin typeface="+mj-lt"/>
              </a:rPr>
              <a:t>r = n</a:t>
            </a:r>
            <a:r>
              <a:rPr lang="en-US" altLang="zh-TW" i="1" baseline="30000" dirty="0" smtClean="0">
                <a:latin typeface="+mj-lt"/>
              </a:rPr>
              <a:t>2</a:t>
            </a:r>
            <a:r>
              <a:rPr lang="en-US" altLang="zh-TW" dirty="0" smtClean="0">
                <a:latin typeface="+mj-lt"/>
              </a:rPr>
              <a:t>).</a:t>
            </a:r>
            <a:endParaRPr lang="en-US" altLang="zh-TW" dirty="0">
              <a:latin typeface="+mj-lt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2013/11/26</a:t>
            </a:r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7562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2013/11/26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6</a:t>
            </a:fld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-21820"/>
            <a:ext cx="4861909" cy="690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00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en-US" altLang="zh-TW" sz="2800" dirty="0">
                <a:latin typeface="+mn-lt"/>
              </a:rPr>
              <a:t>Input sequences: </a:t>
            </a:r>
            <a:r>
              <a:rPr kumimoji="1" lang="en-US" altLang="zh-TW" sz="2800" dirty="0" smtClean="0"/>
              <a:t>ABCBDDA</a:t>
            </a:r>
            <a:r>
              <a:rPr lang="en-US" altLang="zh-TW" sz="2800" dirty="0" smtClean="0">
                <a:latin typeface="+mn-lt"/>
              </a:rPr>
              <a:t> </a:t>
            </a:r>
            <a:r>
              <a:rPr lang="en-US" altLang="zh-TW" sz="2800" dirty="0">
                <a:latin typeface="+mn-lt"/>
              </a:rPr>
              <a:t>and </a:t>
            </a:r>
            <a:r>
              <a:rPr kumimoji="1" lang="en-US" altLang="zh-TW" sz="2800" dirty="0" smtClean="0"/>
              <a:t>BADBABD </a:t>
            </a:r>
            <a:r>
              <a:rPr lang="en-US" altLang="zh-TW" sz="2800" dirty="0" smtClean="0">
                <a:latin typeface="+mn-lt"/>
              </a:rPr>
              <a:t>Pairs </a:t>
            </a:r>
            <a:r>
              <a:rPr lang="en-US" altLang="zh-TW" sz="2800" dirty="0">
                <a:latin typeface="+mn-lt"/>
              </a:rPr>
              <a:t>of matching:</a:t>
            </a:r>
          </a:p>
          <a:p>
            <a:endParaRPr lang="zh-TW" altLang="en-US" dirty="0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The Pairs of Matching</a:t>
            </a:r>
          </a:p>
        </p:txBody>
      </p:sp>
      <p:sp>
        <p:nvSpPr>
          <p:cNvPr id="97611" name="Line 331"/>
          <p:cNvSpPr>
            <a:spLocks noChangeShapeType="1"/>
          </p:cNvSpPr>
          <p:nvPr/>
        </p:nvSpPr>
        <p:spPr bwMode="auto">
          <a:xfrm>
            <a:off x="3347864" y="3933056"/>
            <a:ext cx="936625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graphicFrame>
        <p:nvGraphicFramePr>
          <p:cNvPr id="8" name="Group 25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0957317"/>
              </p:ext>
            </p:extLst>
          </p:nvPr>
        </p:nvGraphicFramePr>
        <p:xfrm>
          <a:off x="827584" y="2636912"/>
          <a:ext cx="2366962" cy="2684400"/>
        </p:xfrm>
        <a:graphic>
          <a:graphicData uri="http://schemas.openxmlformats.org/drawingml/2006/table">
            <a:tbl>
              <a:tblPr/>
              <a:tblGrid>
                <a:gridCol w="296862"/>
                <a:gridCol w="293688"/>
                <a:gridCol w="296862"/>
                <a:gridCol w="296863"/>
                <a:gridCol w="279400"/>
                <a:gridCol w="312737"/>
                <a:gridCol w="296863"/>
                <a:gridCol w="293687"/>
              </a:tblGrid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B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A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D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B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A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B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D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A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X</a:t>
                      </a: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B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X</a:t>
                      </a: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C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B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X</a:t>
                      </a: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D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X</a:t>
                      </a: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250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D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252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A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2013/11/26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4355976" y="2594228"/>
            <a:ext cx="44644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+mj-lt"/>
              </a:rPr>
              <a:t>MATCHLIST[1] </a:t>
            </a:r>
            <a:r>
              <a:rPr lang="en-US" altLang="zh-TW" sz="2400" dirty="0">
                <a:latin typeface="+mj-lt"/>
              </a:rPr>
              <a:t>= (5, 2)</a:t>
            </a:r>
          </a:p>
          <a:p>
            <a:r>
              <a:rPr lang="en-US" altLang="zh-TW" sz="2400" dirty="0">
                <a:latin typeface="+mj-lt"/>
              </a:rPr>
              <a:t>MATCHLIST[2] = (6, 4, 1)</a:t>
            </a:r>
          </a:p>
          <a:p>
            <a:r>
              <a:rPr lang="en-US" altLang="zh-TW" sz="2400" dirty="0">
                <a:latin typeface="+mj-lt"/>
              </a:rPr>
              <a:t>MATCHLIST[3] = ( )</a:t>
            </a:r>
          </a:p>
          <a:p>
            <a:r>
              <a:rPr lang="en-US" altLang="zh-TW" sz="2400" dirty="0">
                <a:latin typeface="+mj-lt"/>
              </a:rPr>
              <a:t>MATCHLIST[4] = MATCHLIST[2]</a:t>
            </a:r>
          </a:p>
          <a:p>
            <a:r>
              <a:rPr lang="en-US" altLang="zh-TW" sz="2400" dirty="0">
                <a:latin typeface="+mj-lt"/>
              </a:rPr>
              <a:t>MATCHLIST[5] = (7, 3)</a:t>
            </a:r>
          </a:p>
          <a:p>
            <a:r>
              <a:rPr lang="en-US" altLang="zh-TW" sz="2400" dirty="0">
                <a:latin typeface="+mj-lt"/>
              </a:rPr>
              <a:t>MATCHLIST[6] = MATCHLIST[5]</a:t>
            </a:r>
          </a:p>
          <a:p>
            <a:r>
              <a:rPr lang="en-US" altLang="zh-TW" sz="2400" dirty="0">
                <a:latin typeface="+mj-lt"/>
              </a:rPr>
              <a:t>MATCHLIST[7] = MATCHLIST[I</a:t>
            </a:r>
            <a:r>
              <a:rPr lang="en-US" altLang="zh-TW" sz="2400" dirty="0" smtClean="0">
                <a:latin typeface="+mj-lt"/>
              </a:rPr>
              <a:t>]</a:t>
            </a:r>
            <a:endParaRPr lang="en-US" altLang="zh-TW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43702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Example for Hunt-Szymanski Algorithm</a:t>
            </a:r>
            <a:endParaRPr lang="en-US" altLang="zh-TW" dirty="0">
              <a:latin typeface="+mj-lt"/>
            </a:endParaRPr>
          </a:p>
        </p:txBody>
      </p:sp>
      <p:graphicFrame>
        <p:nvGraphicFramePr>
          <p:cNvPr id="90408" name="Group 296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372120550"/>
              </p:ext>
            </p:extLst>
          </p:nvPr>
        </p:nvGraphicFramePr>
        <p:xfrm>
          <a:off x="526395" y="2350623"/>
          <a:ext cx="8510100" cy="1828800"/>
        </p:xfrm>
        <a:graphic>
          <a:graphicData uri="http://schemas.openxmlformats.org/drawingml/2006/table">
            <a:tbl>
              <a:tblPr/>
              <a:tblGrid>
                <a:gridCol w="567340"/>
                <a:gridCol w="567340"/>
                <a:gridCol w="567340"/>
                <a:gridCol w="567340"/>
                <a:gridCol w="567340"/>
                <a:gridCol w="567340"/>
                <a:gridCol w="567340"/>
                <a:gridCol w="567340"/>
                <a:gridCol w="567340"/>
                <a:gridCol w="567340"/>
                <a:gridCol w="567340"/>
                <a:gridCol w="567340"/>
                <a:gridCol w="567340"/>
                <a:gridCol w="567340"/>
                <a:gridCol w="567340"/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1,5)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1,2)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2,6)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2,4)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(2,1)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(4,6)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(4,4)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(4,1)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5,7)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5,3)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(6,7)</a:t>
                      </a: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(6,3)</a:t>
                      </a: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(7,5)</a:t>
                      </a: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(7,2)</a:t>
                      </a: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100685" marR="1006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1,5)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1,2)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(1,2)</a:t>
                      </a: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(1,2)</a:t>
                      </a:r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(2,1)</a:t>
                      </a: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(2,1)</a:t>
                      </a:r>
                      <a:endParaRPr kumimoji="1" lang="en-US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(2,1)</a:t>
                      </a:r>
                      <a:endParaRPr kumimoji="1" lang="en-US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(2,1)</a:t>
                      </a:r>
                      <a:endParaRPr kumimoji="1" lang="en-US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(2,1)</a:t>
                      </a:r>
                      <a:endParaRPr kumimoji="1" lang="en-US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(2,1)</a:t>
                      </a:r>
                      <a:endParaRPr kumimoji="1" lang="en-US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(2,1)</a:t>
                      </a:r>
                      <a:endParaRPr kumimoji="1" lang="en-US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(2,1)</a:t>
                      </a:r>
                      <a:endParaRPr kumimoji="1" lang="en-US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(2,1)</a:t>
                      </a:r>
                      <a:endParaRPr kumimoji="1" lang="en-US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(2,1)</a:t>
                      </a:r>
                      <a:endParaRPr kumimoji="1" lang="en-US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100685" marR="1006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(2,6)</a:t>
                      </a: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(2,4)</a:t>
                      </a:r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(2,4)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(2,4)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(2,4)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(2,4)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(2,4)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(5,3)</a:t>
                      </a:r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(5,3)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(5,3)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(5,3)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(7,2)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2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100685" marR="1006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(4,6)</a:t>
                      </a:r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(4,6)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(4,6)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(4,6)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(4,6)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(4,6)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(4,6)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(7,6)</a:t>
                      </a:r>
                      <a:endParaRPr kumimoji="1" lang="en-US" altLang="zh-TW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(7,6)</a:t>
                      </a:r>
                      <a:endParaRPr kumimoji="1" lang="en-US" altLang="zh-TW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450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marL="100685" marR="1006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(5,7)</a:t>
                      </a:r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(5,7)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(5,7)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(5,7)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(5,7)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(5,7)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0323" name="Rectangle 211"/>
          <p:cNvSpPr>
            <a:spLocks noChangeArrowheads="1"/>
          </p:cNvSpPr>
          <p:nvPr/>
        </p:nvSpPr>
        <p:spPr bwMode="auto">
          <a:xfrm>
            <a:off x="519112" y="1299592"/>
            <a:ext cx="8624888" cy="473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TW" sz="2800" dirty="0">
                <a:latin typeface="+mj-lt"/>
              </a:rPr>
              <a:t>The insertion order is </a:t>
            </a:r>
            <a:r>
              <a:rPr lang="en-US" altLang="zh-TW" sz="2800" u="sng" dirty="0">
                <a:solidFill>
                  <a:schemeClr val="hlink"/>
                </a:solidFill>
                <a:latin typeface="+mj-lt"/>
              </a:rPr>
              <a:t>row major</a:t>
            </a:r>
            <a:r>
              <a:rPr lang="en-US" altLang="zh-TW" sz="2800" dirty="0">
                <a:latin typeface="+mj-lt"/>
              </a:rPr>
              <a:t> and </a:t>
            </a:r>
            <a:r>
              <a:rPr lang="en-US" altLang="zh-TW" sz="2800" u="sng" dirty="0">
                <a:solidFill>
                  <a:schemeClr val="hlink"/>
                </a:solidFill>
                <a:latin typeface="+mj-lt"/>
              </a:rPr>
              <a:t>column backward</a:t>
            </a:r>
            <a:r>
              <a:rPr lang="en-US" altLang="zh-TW" sz="2800" dirty="0">
                <a:solidFill>
                  <a:schemeClr val="hlink"/>
                </a:solidFill>
                <a:latin typeface="+mj-lt"/>
              </a:rPr>
              <a:t>.</a:t>
            </a:r>
            <a:endParaRPr lang="en-US" altLang="zh-TW" sz="2800" dirty="0">
              <a:latin typeface="+mj-lt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TW" sz="2800" dirty="0">
              <a:latin typeface="+mj-lt"/>
            </a:endParaRPr>
          </a:p>
        </p:txBody>
      </p:sp>
      <p:sp>
        <p:nvSpPr>
          <p:cNvPr id="90327" name="Rectangle 215"/>
          <p:cNvSpPr>
            <a:spLocks noChangeArrowheads="1"/>
          </p:cNvSpPr>
          <p:nvPr/>
        </p:nvSpPr>
        <p:spPr bwMode="auto">
          <a:xfrm>
            <a:off x="443800" y="4264127"/>
            <a:ext cx="777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TW" sz="2800" dirty="0" smtClean="0">
                <a:latin typeface="+mj-lt"/>
              </a:rPr>
              <a:t>Time </a:t>
            </a:r>
            <a:r>
              <a:rPr lang="en-US" altLang="zh-TW" sz="2800" dirty="0">
                <a:latin typeface="+mj-lt"/>
              </a:rPr>
              <a:t>Complexity: </a:t>
            </a:r>
            <a:r>
              <a:rPr lang="en-US" altLang="zh-TW" sz="2800" i="1" dirty="0" smtClean="0">
                <a:latin typeface="+mj-lt"/>
              </a:rPr>
              <a:t>O</a:t>
            </a:r>
            <a:r>
              <a:rPr lang="en-US" altLang="zh-TW" sz="2800" dirty="0" smtClean="0">
                <a:latin typeface="+mj-lt"/>
              </a:rPr>
              <a:t>(</a:t>
            </a:r>
            <a:r>
              <a:rPr lang="en-US" altLang="zh-TW" sz="2800" i="1" dirty="0" smtClean="0">
                <a:latin typeface="+mj-lt"/>
              </a:rPr>
              <a:t>r log n</a:t>
            </a:r>
            <a:r>
              <a:rPr lang="en-US" altLang="zh-TW" sz="2800" dirty="0">
                <a:latin typeface="+mj-lt"/>
              </a:rPr>
              <a:t>), </a:t>
            </a:r>
            <a:r>
              <a:rPr lang="en-US" altLang="zh-TW" sz="2800" i="1" dirty="0">
                <a:latin typeface="+mj-lt"/>
              </a:rPr>
              <a:t>r</a:t>
            </a:r>
            <a:r>
              <a:rPr lang="en-US" altLang="zh-TW" sz="2800" dirty="0">
                <a:latin typeface="+mj-lt"/>
              </a:rPr>
              <a:t>: # of matches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TW" sz="2800" dirty="0">
                <a:latin typeface="+mj-lt"/>
              </a:rPr>
              <a:t>    Each match needs </a:t>
            </a:r>
            <a:r>
              <a:rPr lang="en-US" altLang="zh-TW" sz="2800" i="1" dirty="0" smtClean="0">
                <a:latin typeface="+mj-lt"/>
              </a:rPr>
              <a:t>O</a:t>
            </a:r>
            <a:r>
              <a:rPr lang="en-US" altLang="zh-TW" sz="2800" dirty="0" smtClean="0">
                <a:latin typeface="+mj-lt"/>
              </a:rPr>
              <a:t>(</a:t>
            </a:r>
            <a:r>
              <a:rPr lang="en-US" altLang="zh-TW" sz="2800" i="1" dirty="0" smtClean="0">
                <a:latin typeface="+mj-lt"/>
              </a:rPr>
              <a:t>log n</a:t>
            </a:r>
            <a:r>
              <a:rPr lang="en-US" altLang="zh-TW" sz="2800" dirty="0">
                <a:latin typeface="+mj-lt"/>
              </a:rPr>
              <a:t>) time for binary search.</a:t>
            </a:r>
          </a:p>
        </p:txBody>
      </p:sp>
      <p:sp>
        <p:nvSpPr>
          <p:cNvPr id="90330" name="Line 218"/>
          <p:cNvSpPr>
            <a:spLocks noChangeShapeType="1"/>
          </p:cNvSpPr>
          <p:nvPr/>
        </p:nvSpPr>
        <p:spPr bwMode="auto">
          <a:xfrm flipV="1">
            <a:off x="1115616" y="2060847"/>
            <a:ext cx="7920880" cy="1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>
              <a:latin typeface="+mj-lt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>
                <a:latin typeface="+mj-lt"/>
              </a:rPr>
              <a:t>2013/11/26</a:t>
            </a:r>
            <a:endParaRPr lang="zh-TW" altLang="en-US">
              <a:latin typeface="+mj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>
                <a:latin typeface="+mj-lt"/>
              </a:rPr>
              <a:pPr/>
              <a:t>8</a:t>
            </a:fld>
            <a:endParaRPr lang="zh-TW" altLang="en-US">
              <a:latin typeface="+mj-lt"/>
            </a:endParaRPr>
          </a:p>
        </p:txBody>
      </p:sp>
      <p:sp>
        <p:nvSpPr>
          <p:cNvPr id="22" name="Line 218"/>
          <p:cNvSpPr>
            <a:spLocks noChangeShapeType="1"/>
          </p:cNvSpPr>
          <p:nvPr/>
        </p:nvSpPr>
        <p:spPr bwMode="auto">
          <a:xfrm flipH="1">
            <a:off x="240066" y="2619820"/>
            <a:ext cx="11454" cy="1681916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>
              <a:latin typeface="+mj-lt"/>
            </a:endParaRPr>
          </a:p>
        </p:txBody>
      </p:sp>
      <p:sp>
        <p:nvSpPr>
          <p:cNvPr id="23" name="Rectangle 220"/>
          <p:cNvSpPr>
            <a:spLocks noChangeArrowheads="1"/>
          </p:cNvSpPr>
          <p:nvPr/>
        </p:nvSpPr>
        <p:spPr bwMode="auto">
          <a:xfrm>
            <a:off x="4677372" y="1760094"/>
            <a:ext cx="411163" cy="5762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dirty="0">
                <a:latin typeface="+mj-lt"/>
              </a:rPr>
              <a:t>r</a:t>
            </a:r>
            <a:endParaRPr lang="en-US" altLang="zh-TW" dirty="0">
              <a:latin typeface="+mj-lt"/>
            </a:endParaRPr>
          </a:p>
        </p:txBody>
      </p:sp>
      <p:sp>
        <p:nvSpPr>
          <p:cNvPr id="90332" name="Rectangle 220"/>
          <p:cNvSpPr>
            <a:spLocks noChangeArrowheads="1"/>
          </p:cNvSpPr>
          <p:nvPr/>
        </p:nvSpPr>
        <p:spPr bwMode="auto">
          <a:xfrm>
            <a:off x="45938" y="3116693"/>
            <a:ext cx="411163" cy="5762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zh-TW" dirty="0">
                <a:latin typeface="+mj-lt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80525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Example for Hunt-Szymanski Algorithm</a:t>
            </a:r>
            <a:endParaRPr lang="en-US" altLang="zh-TW" dirty="0">
              <a:latin typeface="+mj-lt"/>
            </a:endParaRPr>
          </a:p>
        </p:txBody>
      </p:sp>
      <p:graphicFrame>
        <p:nvGraphicFramePr>
          <p:cNvPr id="90408" name="Group 296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9245147"/>
              </p:ext>
            </p:extLst>
          </p:nvPr>
        </p:nvGraphicFramePr>
        <p:xfrm>
          <a:off x="526395" y="2350623"/>
          <a:ext cx="8510100" cy="1828800"/>
        </p:xfrm>
        <a:graphic>
          <a:graphicData uri="http://schemas.openxmlformats.org/drawingml/2006/table">
            <a:tbl>
              <a:tblPr/>
              <a:tblGrid>
                <a:gridCol w="567340"/>
                <a:gridCol w="567340"/>
                <a:gridCol w="567340"/>
                <a:gridCol w="567340"/>
                <a:gridCol w="567340"/>
                <a:gridCol w="567340"/>
                <a:gridCol w="567340"/>
                <a:gridCol w="567340"/>
                <a:gridCol w="567340"/>
                <a:gridCol w="567340"/>
                <a:gridCol w="567340"/>
                <a:gridCol w="567340"/>
                <a:gridCol w="567340"/>
                <a:gridCol w="567340"/>
                <a:gridCol w="567340"/>
              </a:tblGrid>
              <a:tr h="2893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1,5)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1,2)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2,6)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2,4)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(2,1)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(4,6)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(4,4)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(4,1)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5,7)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5,3)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(6,7)</a:t>
                      </a: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(6,3)</a:t>
                      </a: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(7,5)</a:t>
                      </a: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(7,2)</a:t>
                      </a: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856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100685" marR="1006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1,5)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1,2)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(1,2)</a:t>
                      </a: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(1,2)</a:t>
                      </a:r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(2,1)</a:t>
                      </a: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(2,1)</a:t>
                      </a:r>
                      <a:endParaRPr kumimoji="1" lang="en-US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(2,1)</a:t>
                      </a:r>
                      <a:endParaRPr kumimoji="1" lang="en-US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(2,1)</a:t>
                      </a:r>
                      <a:endParaRPr kumimoji="1" lang="en-US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(2,1)</a:t>
                      </a:r>
                      <a:endParaRPr kumimoji="1" lang="en-US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(2,1)</a:t>
                      </a:r>
                      <a:endParaRPr kumimoji="1" lang="en-US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(2,1)</a:t>
                      </a:r>
                      <a:endParaRPr kumimoji="1" lang="en-US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(2,1)</a:t>
                      </a:r>
                      <a:endParaRPr kumimoji="1" lang="en-US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(2,1)</a:t>
                      </a:r>
                      <a:endParaRPr kumimoji="1" lang="en-US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(2,1)</a:t>
                      </a:r>
                      <a:endParaRPr kumimoji="1" lang="en-US" altLang="zh-TW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083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100685" marR="1006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(2,6)</a:t>
                      </a: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(2,4)</a:t>
                      </a:r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(2,4)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(2,4)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(2,4)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(2,4)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(2,4)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(5,3)</a:t>
                      </a:r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(5,3)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(5,3)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(5,3)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(7,2)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93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100685" marR="1006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(4,6)</a:t>
                      </a:r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(4,6)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(4,6)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(4,6)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(4,6)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(4,6)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(4,6)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(7,6)</a:t>
                      </a:r>
                      <a:endParaRPr kumimoji="1" lang="en-US" altLang="zh-TW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(7,6)</a:t>
                      </a:r>
                      <a:endParaRPr kumimoji="1" lang="en-US" altLang="zh-TW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93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marL="100685" marR="1006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(5,7)</a:t>
                      </a:r>
                      <a:endParaRPr lang="zh-TW" altLang="en-US" b="1" dirty="0"/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(5,7)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(5,7)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(5,7)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(5,7)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(5,7)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100685" marR="100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0323" name="Rectangle 211"/>
          <p:cNvSpPr>
            <a:spLocks noChangeArrowheads="1"/>
          </p:cNvSpPr>
          <p:nvPr/>
        </p:nvSpPr>
        <p:spPr bwMode="auto">
          <a:xfrm>
            <a:off x="519112" y="1299592"/>
            <a:ext cx="8624888" cy="473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TW" sz="2800" dirty="0">
                <a:latin typeface="+mj-lt"/>
              </a:rPr>
              <a:t>The insertion order is </a:t>
            </a:r>
            <a:r>
              <a:rPr lang="en-US" altLang="zh-TW" sz="2800" u="sng" dirty="0">
                <a:solidFill>
                  <a:schemeClr val="hlink"/>
                </a:solidFill>
                <a:latin typeface="+mj-lt"/>
              </a:rPr>
              <a:t>row major</a:t>
            </a:r>
            <a:r>
              <a:rPr lang="en-US" altLang="zh-TW" sz="2800" dirty="0">
                <a:latin typeface="+mj-lt"/>
              </a:rPr>
              <a:t> and </a:t>
            </a:r>
            <a:r>
              <a:rPr lang="en-US" altLang="zh-TW" sz="2800" u="sng" dirty="0">
                <a:solidFill>
                  <a:schemeClr val="hlink"/>
                </a:solidFill>
                <a:latin typeface="+mj-lt"/>
              </a:rPr>
              <a:t>column backward</a:t>
            </a:r>
            <a:r>
              <a:rPr lang="en-US" altLang="zh-TW" sz="2800" dirty="0">
                <a:solidFill>
                  <a:schemeClr val="hlink"/>
                </a:solidFill>
                <a:latin typeface="+mj-lt"/>
              </a:rPr>
              <a:t>.</a:t>
            </a:r>
            <a:endParaRPr lang="en-US" altLang="zh-TW" sz="2800" dirty="0">
              <a:latin typeface="+mj-lt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TW" sz="2800" dirty="0">
              <a:latin typeface="+mj-lt"/>
            </a:endParaRPr>
          </a:p>
        </p:txBody>
      </p:sp>
      <p:sp>
        <p:nvSpPr>
          <p:cNvPr id="90327" name="Rectangle 215"/>
          <p:cNvSpPr>
            <a:spLocks noChangeArrowheads="1"/>
          </p:cNvSpPr>
          <p:nvPr/>
        </p:nvSpPr>
        <p:spPr bwMode="auto">
          <a:xfrm>
            <a:off x="443800" y="4264127"/>
            <a:ext cx="777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TW" sz="2800" dirty="0" smtClean="0">
                <a:latin typeface="+mj-lt"/>
              </a:rPr>
              <a:t>Time </a:t>
            </a:r>
            <a:r>
              <a:rPr lang="en-US" altLang="zh-TW" sz="2800" dirty="0">
                <a:latin typeface="+mj-lt"/>
              </a:rPr>
              <a:t>Complexity: </a:t>
            </a:r>
            <a:r>
              <a:rPr lang="en-US" altLang="zh-TW" sz="2800" i="1" dirty="0" smtClean="0">
                <a:latin typeface="+mj-lt"/>
              </a:rPr>
              <a:t>O</a:t>
            </a:r>
            <a:r>
              <a:rPr lang="en-US" altLang="zh-TW" sz="2800" dirty="0" smtClean="0">
                <a:latin typeface="+mj-lt"/>
              </a:rPr>
              <a:t>(</a:t>
            </a:r>
            <a:r>
              <a:rPr lang="en-US" altLang="zh-TW" sz="2800" i="1" dirty="0" smtClean="0">
                <a:latin typeface="+mj-lt"/>
              </a:rPr>
              <a:t>r log n</a:t>
            </a:r>
            <a:r>
              <a:rPr lang="en-US" altLang="zh-TW" sz="2800" dirty="0">
                <a:latin typeface="+mj-lt"/>
              </a:rPr>
              <a:t>), </a:t>
            </a:r>
            <a:r>
              <a:rPr lang="en-US" altLang="zh-TW" sz="2800" i="1" dirty="0">
                <a:latin typeface="+mj-lt"/>
              </a:rPr>
              <a:t>r</a:t>
            </a:r>
            <a:r>
              <a:rPr lang="en-US" altLang="zh-TW" sz="2800" dirty="0">
                <a:latin typeface="+mj-lt"/>
              </a:rPr>
              <a:t>: # of matches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TW" sz="2800" dirty="0">
                <a:latin typeface="+mj-lt"/>
              </a:rPr>
              <a:t>    Each match needs </a:t>
            </a:r>
            <a:r>
              <a:rPr lang="en-US" altLang="zh-TW" sz="2800" i="1" dirty="0" smtClean="0">
                <a:latin typeface="+mj-lt"/>
              </a:rPr>
              <a:t>O</a:t>
            </a:r>
            <a:r>
              <a:rPr lang="en-US" altLang="zh-TW" sz="2800" dirty="0" smtClean="0">
                <a:latin typeface="+mj-lt"/>
              </a:rPr>
              <a:t>(</a:t>
            </a:r>
            <a:r>
              <a:rPr lang="en-US" altLang="zh-TW" sz="2800" i="1" dirty="0" smtClean="0">
                <a:latin typeface="+mj-lt"/>
              </a:rPr>
              <a:t>log n</a:t>
            </a:r>
            <a:r>
              <a:rPr lang="en-US" altLang="zh-TW" sz="2800" dirty="0">
                <a:latin typeface="+mj-lt"/>
              </a:rPr>
              <a:t>) time for binary search.</a:t>
            </a:r>
          </a:p>
        </p:txBody>
      </p:sp>
      <p:sp>
        <p:nvSpPr>
          <p:cNvPr id="90330" name="Line 218"/>
          <p:cNvSpPr>
            <a:spLocks noChangeShapeType="1"/>
          </p:cNvSpPr>
          <p:nvPr/>
        </p:nvSpPr>
        <p:spPr bwMode="auto">
          <a:xfrm flipV="1">
            <a:off x="1115616" y="2060847"/>
            <a:ext cx="7920880" cy="1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>
              <a:latin typeface="+mj-lt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>
                <a:latin typeface="+mj-lt"/>
              </a:rPr>
              <a:t>2013/11/26</a:t>
            </a:r>
            <a:endParaRPr lang="zh-TW" altLang="en-US">
              <a:latin typeface="+mj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>
                <a:latin typeface="+mj-lt"/>
              </a:rPr>
              <a:pPr/>
              <a:t>9</a:t>
            </a:fld>
            <a:endParaRPr lang="zh-TW" altLang="en-US">
              <a:latin typeface="+mj-lt"/>
            </a:endParaRPr>
          </a:p>
        </p:txBody>
      </p:sp>
      <p:cxnSp>
        <p:nvCxnSpPr>
          <p:cNvPr id="5" name="直線單箭頭接點 4"/>
          <p:cNvCxnSpPr/>
          <p:nvPr/>
        </p:nvCxnSpPr>
        <p:spPr>
          <a:xfrm flipH="1">
            <a:off x="5863238" y="4157626"/>
            <a:ext cx="2880320" cy="0"/>
          </a:xfrm>
          <a:prstGeom prst="straightConnector1">
            <a:avLst/>
          </a:prstGeom>
          <a:ln w="38100">
            <a:solidFill>
              <a:srgbClr val="FF33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H="1">
            <a:off x="4207054" y="3797586"/>
            <a:ext cx="1711100" cy="0"/>
          </a:xfrm>
          <a:prstGeom prst="straightConnector1">
            <a:avLst/>
          </a:prstGeom>
          <a:ln w="38100">
            <a:solidFill>
              <a:srgbClr val="FF33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>
            <a:off x="3054926" y="3429000"/>
            <a:ext cx="1152128" cy="0"/>
          </a:xfrm>
          <a:prstGeom prst="straightConnector1">
            <a:avLst/>
          </a:prstGeom>
          <a:ln w="38100">
            <a:solidFill>
              <a:srgbClr val="FF33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H="1">
            <a:off x="1902798" y="3060414"/>
            <a:ext cx="1207044" cy="0"/>
          </a:xfrm>
          <a:prstGeom prst="straightConnector1">
            <a:avLst/>
          </a:prstGeom>
          <a:ln w="38100">
            <a:solidFill>
              <a:srgbClr val="FF33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Line 218"/>
          <p:cNvSpPr>
            <a:spLocks noChangeShapeType="1"/>
          </p:cNvSpPr>
          <p:nvPr/>
        </p:nvSpPr>
        <p:spPr bwMode="auto">
          <a:xfrm flipH="1">
            <a:off x="240066" y="2619820"/>
            <a:ext cx="11454" cy="1681916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>
              <a:latin typeface="+mj-lt"/>
            </a:endParaRPr>
          </a:p>
        </p:txBody>
      </p:sp>
      <p:sp>
        <p:nvSpPr>
          <p:cNvPr id="23" name="Rectangle 220"/>
          <p:cNvSpPr>
            <a:spLocks noChangeArrowheads="1"/>
          </p:cNvSpPr>
          <p:nvPr/>
        </p:nvSpPr>
        <p:spPr bwMode="auto">
          <a:xfrm>
            <a:off x="4677372" y="1760094"/>
            <a:ext cx="411163" cy="5762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dirty="0">
                <a:latin typeface="+mj-lt"/>
              </a:rPr>
              <a:t>r</a:t>
            </a:r>
            <a:endParaRPr lang="en-US" altLang="zh-TW" dirty="0">
              <a:latin typeface="+mj-lt"/>
            </a:endParaRPr>
          </a:p>
        </p:txBody>
      </p:sp>
      <p:sp>
        <p:nvSpPr>
          <p:cNvPr id="90332" name="Rectangle 220"/>
          <p:cNvSpPr>
            <a:spLocks noChangeArrowheads="1"/>
          </p:cNvSpPr>
          <p:nvPr/>
        </p:nvSpPr>
        <p:spPr bwMode="auto">
          <a:xfrm>
            <a:off x="45938" y="3116693"/>
            <a:ext cx="411163" cy="5762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zh-TW" dirty="0">
                <a:latin typeface="+mj-lt"/>
              </a:rPr>
              <a:t>L</a:t>
            </a:r>
          </a:p>
        </p:txBody>
      </p:sp>
      <p:sp>
        <p:nvSpPr>
          <p:cNvPr id="4" name="橢圓 3"/>
          <p:cNvSpPr/>
          <p:nvPr/>
        </p:nvSpPr>
        <p:spPr>
          <a:xfrm>
            <a:off x="5635028" y="3437546"/>
            <a:ext cx="576064" cy="728626"/>
          </a:xfrm>
          <a:prstGeom prst="ellipse">
            <a:avLst/>
          </a:prstGeom>
          <a:noFill/>
          <a:ln>
            <a:solidFill>
              <a:srgbClr val="FF3300"/>
            </a:solidFill>
            <a:prstDash val="dash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3914116" y="3086304"/>
            <a:ext cx="576064" cy="728626"/>
          </a:xfrm>
          <a:prstGeom prst="ellipse">
            <a:avLst/>
          </a:prstGeom>
          <a:noFill/>
          <a:ln>
            <a:solidFill>
              <a:srgbClr val="FF3300"/>
            </a:solidFill>
            <a:prstDash val="dash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2803451" y="2732152"/>
            <a:ext cx="576064" cy="728626"/>
          </a:xfrm>
          <a:prstGeom prst="ellipse">
            <a:avLst/>
          </a:prstGeom>
          <a:noFill/>
          <a:ln>
            <a:solidFill>
              <a:srgbClr val="FF3300"/>
            </a:solidFill>
            <a:prstDash val="dash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1672055" y="2732153"/>
            <a:ext cx="576064" cy="354152"/>
          </a:xfrm>
          <a:prstGeom prst="ellipse">
            <a:avLst/>
          </a:prstGeom>
          <a:noFill/>
          <a:ln>
            <a:solidFill>
              <a:srgbClr val="FF3300"/>
            </a:solidFill>
            <a:prstDash val="dash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937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Conclusions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2013/11/26</a:t>
            </a:r>
            <a:endParaRPr lang="zh-TW" altLang="en-US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631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原創">
  <a:themeElements>
    <a:clrScheme name="自訂 3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0000FF"/>
      </a:folHlink>
    </a:clrScheme>
    <a:fontScheme name="自訂 1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原創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8593</TotalTime>
  <Words>808</Words>
  <Application>Microsoft Office PowerPoint</Application>
  <PresentationFormat>如螢幕大小 (4:3)</PresentationFormat>
  <Paragraphs>245</Paragraphs>
  <Slides>10</Slides>
  <Notes>8</Notes>
  <HiddenSlides>1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9" baseType="lpstr">
      <vt:lpstr>微軟正黑體</vt:lpstr>
      <vt:lpstr>新細明體</vt:lpstr>
      <vt:lpstr>Arial</vt:lpstr>
      <vt:lpstr>Calibri</vt:lpstr>
      <vt:lpstr>Tahoma</vt:lpstr>
      <vt:lpstr>Times New Roman</vt:lpstr>
      <vt:lpstr>Wingdings</vt:lpstr>
      <vt:lpstr>Wingdings 3</vt:lpstr>
      <vt:lpstr>原創</vt:lpstr>
      <vt:lpstr>A Fast Algorithm for Computing Longest Common Subsequences Communications of the ACM  vol. 20 pp.350–353 (1977) </vt:lpstr>
      <vt:lpstr>Abstract</vt:lpstr>
      <vt:lpstr>The Longest Increasing Subsequence (LIS) Problem</vt:lpstr>
      <vt:lpstr>Robinson-Schensted-Knuth Algorithm for LIS</vt:lpstr>
      <vt:lpstr>Hunt-Szymanski LCS Algorithm</vt:lpstr>
      <vt:lpstr>PowerPoint 簡報</vt:lpstr>
      <vt:lpstr>The Pairs of Matching</vt:lpstr>
      <vt:lpstr>Example for Hunt-Szymanski Algorithm</vt:lpstr>
      <vt:lpstr>Example for Hunt-Szymanski Algorithm</vt:lpstr>
      <vt:lpstr>Conclusions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Quadratic-time algorithm for a string constrained LCS problem</dc:title>
  <dc:creator>Robert</dc:creator>
  <cp:lastModifiedBy>Chuan Yuan</cp:lastModifiedBy>
  <cp:revision>431</cp:revision>
  <cp:lastPrinted>2012-09-10T21:31:19Z</cp:lastPrinted>
  <dcterms:created xsi:type="dcterms:W3CDTF">2012-09-10T08:29:10Z</dcterms:created>
  <dcterms:modified xsi:type="dcterms:W3CDTF">2013-11-26T09:33:11Z</dcterms:modified>
</cp:coreProperties>
</file>