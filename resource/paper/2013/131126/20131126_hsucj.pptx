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BA2CCC6-1621-43AA-80E1-9C918F862ACB}">
          <p14:sldIdLst>
            <p14:sldId id="256"/>
            <p14:sldId id="257"/>
            <p14:sldId id="258"/>
            <p14:sldId id="259"/>
            <p14:sldId id="260"/>
            <p14:sldId id="264"/>
            <p14:sldId id="261"/>
            <p14:sldId id="262"/>
            <p14:sldId id="263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1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9" autoAdjust="0"/>
    <p:restoredTop sz="94718" autoAdjust="0"/>
  </p:normalViewPr>
  <p:slideViewPr>
    <p:cSldViewPr>
      <p:cViewPr varScale="1">
        <p:scale>
          <a:sx n="110" d="100"/>
          <a:sy n="110" d="100"/>
        </p:scale>
        <p:origin x="164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dl.acm.org/citation.cfm?id=360861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http://dl.acm.org/citation.cfm?id=360861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latinLnBrk="0" hangingPunct="1">
        <a:spcBef>
          <a:spcPct val="0"/>
        </a:spcBef>
        <a:buNone/>
        <a:defRPr kumimoji="0"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/>
              <a:t>A Linear Space Algorithm for Computing Maximal Common Subsequences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802042"/>
          </a:xfrm>
        </p:spPr>
        <p:txBody>
          <a:bodyPr>
            <a:normAutofit/>
          </a:bodyPr>
          <a:lstStyle/>
          <a:p>
            <a:r>
              <a:rPr lang="en-US" altLang="zh-TW" b="1" dirty="0"/>
              <a:t>D.S. </a:t>
            </a:r>
            <a:r>
              <a:rPr lang="en-US" altLang="zh-TW" b="1" dirty="0" smtClean="0"/>
              <a:t>Hirschberg</a:t>
            </a:r>
          </a:p>
          <a:p>
            <a:r>
              <a:rPr lang="en-US" altLang="zh-TW" b="1" dirty="0"/>
              <a:t>Communications of the ACM, Vol. 18, No. </a:t>
            </a:r>
            <a:r>
              <a:rPr lang="en-US" altLang="zh-TW" b="1" dirty="0" smtClean="0"/>
              <a:t>6, pp</a:t>
            </a:r>
            <a:r>
              <a:rPr lang="en-US" altLang="zh-TW" b="1" dirty="0"/>
              <a:t>. 341–343, 1975</a:t>
            </a:r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687600" y="5641322"/>
            <a:ext cx="6400800" cy="110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Presenter: </a:t>
            </a:r>
            <a:r>
              <a:rPr lang="en-US" altLang="zh-TW" sz="2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Che-Jui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Hsu (</a:t>
            </a:r>
            <a:r>
              <a:rPr lang="zh-TW" altLang="en-US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許哲睿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Date: </a:t>
            </a:r>
            <a:fld id="{3DC95CE2-72FD-4627-B4FE-7CBC89963158}" type="datetime1">
              <a:rPr lang="zh-TW" altLang="en-US" sz="28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2013/11/26</a:t>
            </a:fld>
            <a:endParaRPr lang="en-US" altLang="zh-TW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en-US" altLang="zh-TW" dirty="0"/>
              <a:t>The problem of finding a longest common </a:t>
            </a:r>
            <a:r>
              <a:rPr lang="en-US" altLang="zh-TW" dirty="0" smtClean="0"/>
              <a:t>subsequence of </a:t>
            </a:r>
            <a:r>
              <a:rPr lang="en-US" altLang="zh-TW" dirty="0"/>
              <a:t>two strings has been solved in quadratic </a:t>
            </a:r>
            <a:r>
              <a:rPr lang="en-US" altLang="zh-TW" dirty="0" smtClean="0"/>
              <a:t>time and </a:t>
            </a:r>
            <a:r>
              <a:rPr lang="en-US" altLang="zh-TW" dirty="0"/>
              <a:t>space. An algorithm is presented which will </a:t>
            </a:r>
            <a:r>
              <a:rPr lang="en-US" altLang="zh-TW" dirty="0" smtClean="0"/>
              <a:t>solve this </a:t>
            </a:r>
            <a:r>
              <a:rPr lang="en-US" altLang="zh-TW" dirty="0"/>
              <a:t>problem in quadratic time and in linear space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2415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Subsequence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𝑎𝑏𝑐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𝑎𝑑𝑎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𝑎𝑏𝑑𝑎</m:t>
                    </m:r>
                  </m:oMath>
                </a14:m>
                <a:r>
                  <a:rPr lang="en-US" altLang="zh-TW" dirty="0" smtClean="0"/>
                  <a:t>, ……</a:t>
                </a:r>
              </a:p>
              <a:p>
                <a:r>
                  <a:rPr lang="en-US" altLang="zh-TW" dirty="0" smtClean="0"/>
                  <a:t>Common subsequence: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𝑎𝑏𝑐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𝑎𝑏𝑎𝑑</m:t>
                    </m:r>
                  </m:oMath>
                </a14:m>
                <a:r>
                  <a:rPr lang="en-US" altLang="zh-TW" dirty="0" smtClean="0"/>
                  <a:t>, ……</a:t>
                </a:r>
              </a:p>
              <a:p>
                <a:r>
                  <a:rPr lang="en-US" altLang="zh-TW" dirty="0" smtClean="0"/>
                  <a:t>Longest common subsequence: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𝑎𝑏𝑎𝑑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5406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99" y="3127374"/>
            <a:ext cx="8530202" cy="359410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</a:t>
            </a:r>
            <a:r>
              <a:rPr lang="en-US" altLang="zh-TW" dirty="0" smtClean="0"/>
              <a:t>A (1/4)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TW" sz="2800" dirty="0" smtClean="0"/>
              </a:p>
              <a:p>
                <a:r>
                  <a:rPr lang="en-US" altLang="zh-TW" sz="2800" dirty="0" smtClean="0"/>
                  <a:t>Output: matrix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TW" sz="2800" dirty="0" smtClean="0"/>
                  <a:t> (</a:t>
                </a:r>
                <a14:m>
                  <m:oMath xmlns:m="http://schemas.openxmlformats.org/officeDocument/2006/math">
                    <m:r>
                      <a:rPr lang="en-US" altLang="zh-TW" sz="2800" b="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800" b="0" i="0" dirty="0" smtClean="0">
                        <a:latin typeface="Cambria Math" panose="02040503050406030204" pitchFamily="18" charset="0"/>
                      </a:rPr>
                      <m:t>length</m:t>
                    </m:r>
                    <m:r>
                      <m:rPr>
                        <m:nor/>
                      </m:rPr>
                      <a:rPr lang="en-US" altLang="zh-TW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800" b="0" i="0" dirty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</a:rPr>
                      <m:t>𝐿𝐶𝑆</m:t>
                    </m:r>
                    <m:d>
                      <m:dPr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800" dirty="0" smtClean="0"/>
                  <a:t>)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1482" r="-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55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</a:t>
            </a:r>
            <a:r>
              <a:rPr lang="en-US" altLang="zh-TW" dirty="0" smtClean="0"/>
              <a:t>A (2/4)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817989394"/>
              </p:ext>
            </p:extLst>
          </p:nvPr>
        </p:nvGraphicFramePr>
        <p:xfrm>
          <a:off x="107504" y="2223879"/>
          <a:ext cx="8856981" cy="4151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13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</a:t>
            </a:r>
            <a:r>
              <a:rPr lang="en-US" altLang="zh-TW" dirty="0" smtClean="0"/>
              <a:t>A (3/4)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287060678"/>
              </p:ext>
            </p:extLst>
          </p:nvPr>
        </p:nvGraphicFramePr>
        <p:xfrm>
          <a:off x="107504" y="2223879"/>
          <a:ext cx="8856981" cy="4151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82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306899" y="2708920"/>
            <a:ext cx="8530202" cy="4012555"/>
            <a:chOff x="306899" y="2708920"/>
            <a:chExt cx="8530202" cy="4012555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899" y="3127374"/>
              <a:ext cx="8530202" cy="3594101"/>
            </a:xfrm>
            <a:prstGeom prst="rect">
              <a:avLst/>
            </a:prstGeom>
          </p:spPr>
        </p:pic>
        <p:cxnSp>
          <p:nvCxnSpPr>
            <p:cNvPr id="7" name="直線單箭頭接點 6"/>
            <p:cNvCxnSpPr/>
            <p:nvPr/>
          </p:nvCxnSpPr>
          <p:spPr>
            <a:xfrm>
              <a:off x="2267744" y="2708920"/>
              <a:ext cx="216024" cy="64807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 flipH="1">
              <a:off x="3030583" y="2708920"/>
              <a:ext cx="29249" cy="53937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/>
            <p:nvPr/>
          </p:nvCxnSpPr>
          <p:spPr>
            <a:xfrm flipH="1">
              <a:off x="3419872" y="2708920"/>
              <a:ext cx="1613426" cy="53937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A </a:t>
            </a:r>
            <a:r>
              <a:rPr lang="en-US" altLang="zh-TW" dirty="0" smtClean="0"/>
              <a:t>(4/4)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Time: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altLang="zh-TW" b="0" dirty="0" smtClean="0"/>
              </a:p>
              <a:p>
                <a:r>
                  <a:rPr lang="en-US" altLang="zh-TW" dirty="0" smtClean="0"/>
                  <a:t>Space: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222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79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8" y="2841624"/>
            <a:ext cx="8606364" cy="387985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B</a:t>
            </a:r>
            <a:r>
              <a:rPr lang="en-US" altLang="zh-TW" dirty="0" smtClean="0"/>
              <a:t> (1/9)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r>
                  <a:rPr lang="en-US" altLang="zh-TW" dirty="0"/>
                  <a:t>Output: </a:t>
                </a:r>
                <a:r>
                  <a:rPr lang="en-US" altLang="zh-TW" dirty="0" smtClean="0"/>
                  <a:t>array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𝐿𝐿</m:t>
                    </m:r>
                  </m:oMath>
                </a14:m>
                <a:r>
                  <a:rPr lang="en-US" altLang="zh-TW" dirty="0" smtClean="0"/>
                  <a:t> (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𝐿𝐿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TW" dirty="0" smtClean="0"/>
                  <a:t>)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222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318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B </a:t>
            </a:r>
            <a:r>
              <a:rPr lang="en-US" altLang="zh-TW" dirty="0" smtClean="0"/>
              <a:t>(2/9)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648136956"/>
              </p:ext>
            </p:extLst>
          </p:nvPr>
        </p:nvGraphicFramePr>
        <p:xfrm>
          <a:off x="107504" y="2223879"/>
          <a:ext cx="8856981" cy="4151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65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B </a:t>
            </a:r>
            <a:r>
              <a:rPr lang="en-US" altLang="zh-TW" dirty="0" smtClean="0"/>
              <a:t>(3/9)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03514691"/>
              </p:ext>
            </p:extLst>
          </p:nvPr>
        </p:nvGraphicFramePr>
        <p:xfrm>
          <a:off x="107504" y="2223879"/>
          <a:ext cx="8856981" cy="4151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55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B </a:t>
            </a:r>
            <a:r>
              <a:rPr lang="en-US" altLang="zh-TW" dirty="0" smtClean="0"/>
              <a:t>(4/9)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262826743"/>
              </p:ext>
            </p:extLst>
          </p:nvPr>
        </p:nvGraphicFramePr>
        <p:xfrm>
          <a:off x="107504" y="2223879"/>
          <a:ext cx="8856981" cy="4151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43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B </a:t>
            </a:r>
            <a:r>
              <a:rPr lang="en-US" altLang="zh-TW" dirty="0" smtClean="0"/>
              <a:t>(5/9)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056594908"/>
              </p:ext>
            </p:extLst>
          </p:nvPr>
        </p:nvGraphicFramePr>
        <p:xfrm>
          <a:off x="107504" y="2223879"/>
          <a:ext cx="8856981" cy="4151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73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B </a:t>
            </a:r>
            <a:r>
              <a:rPr lang="en-US" altLang="zh-TW" dirty="0" smtClean="0"/>
              <a:t>(6/9)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79021848"/>
              </p:ext>
            </p:extLst>
          </p:nvPr>
        </p:nvGraphicFramePr>
        <p:xfrm>
          <a:off x="107504" y="2223879"/>
          <a:ext cx="8856981" cy="4151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38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B </a:t>
            </a:r>
            <a:r>
              <a:rPr lang="en-US" altLang="zh-TW" dirty="0" smtClean="0"/>
              <a:t>(7/9)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14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05359154"/>
              </p:ext>
            </p:extLst>
          </p:nvPr>
        </p:nvGraphicFramePr>
        <p:xfrm>
          <a:off x="107504" y="2223879"/>
          <a:ext cx="8856981" cy="4151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69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B </a:t>
            </a:r>
            <a:r>
              <a:rPr lang="en-US" altLang="zh-TW" dirty="0" smtClean="0"/>
              <a:t>(8/9)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77670405"/>
              </p:ext>
            </p:extLst>
          </p:nvPr>
        </p:nvGraphicFramePr>
        <p:xfrm>
          <a:off x="107504" y="2223879"/>
          <a:ext cx="8856981" cy="4151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54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B </a:t>
            </a:r>
            <a:r>
              <a:rPr lang="en-US" altLang="zh-TW" dirty="0" smtClean="0"/>
              <a:t>(9/9)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Time: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altLang="zh-TW" sz="2800" dirty="0" smtClean="0"/>
              </a:p>
              <a:p>
                <a:r>
                  <a:rPr lang="en-US" altLang="zh-TW" sz="2800" dirty="0" smtClean="0"/>
                  <a:t>Space: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16</a:t>
            </a:fld>
            <a:endParaRPr lang="zh-TW" altLang="en-US"/>
          </a:p>
        </p:txBody>
      </p:sp>
      <p:grpSp>
        <p:nvGrpSpPr>
          <p:cNvPr id="19" name="群組 18"/>
          <p:cNvGrpSpPr/>
          <p:nvPr/>
        </p:nvGrpSpPr>
        <p:grpSpPr>
          <a:xfrm>
            <a:off x="268818" y="2564904"/>
            <a:ext cx="8606364" cy="4156571"/>
            <a:chOff x="268818" y="2564904"/>
            <a:chExt cx="8606364" cy="4156571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818" y="2841624"/>
              <a:ext cx="8606364" cy="3879851"/>
            </a:xfrm>
            <a:prstGeom prst="rect">
              <a:avLst/>
            </a:prstGeom>
          </p:spPr>
        </p:pic>
        <p:cxnSp>
          <p:nvCxnSpPr>
            <p:cNvPr id="7" name="直線單箭頭接點 6"/>
            <p:cNvCxnSpPr/>
            <p:nvPr/>
          </p:nvCxnSpPr>
          <p:spPr>
            <a:xfrm>
              <a:off x="2051720" y="2564904"/>
              <a:ext cx="432048" cy="3600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2771800" y="2564904"/>
              <a:ext cx="72008" cy="3600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/>
            <p:cNvCxnSpPr/>
            <p:nvPr/>
          </p:nvCxnSpPr>
          <p:spPr>
            <a:xfrm flipH="1">
              <a:off x="3419872" y="2569417"/>
              <a:ext cx="432048" cy="35552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/>
            <p:cNvCxnSpPr/>
            <p:nvPr/>
          </p:nvCxnSpPr>
          <p:spPr>
            <a:xfrm flipH="1">
              <a:off x="1691680" y="2569417"/>
              <a:ext cx="3929608" cy="186769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/>
            <p:nvPr/>
          </p:nvCxnSpPr>
          <p:spPr>
            <a:xfrm flipH="1">
              <a:off x="3109657" y="2575280"/>
              <a:ext cx="2511631" cy="186183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776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</a:t>
            </a:r>
            <a:r>
              <a:rPr lang="en-US" altLang="zh-TW" dirty="0" smtClean="0"/>
              <a:t>C (1/10)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zh-TW" dirty="0" smtClean="0"/>
                  <a:t>, for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length</m:t>
                    </m:r>
                    <m:r>
                      <m:rPr>
                        <m:nor/>
                      </m:rP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𝐿𝐶𝑆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+1, 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+1, 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/>
                  <a:t>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r>
                  <a:rPr lang="en-US" altLang="zh-TW" dirty="0"/>
                  <a:t>Output: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TW" dirty="0" smtClean="0"/>
                  <a:t> (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𝐿𝐶𝑆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dirty="0"/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)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86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C </a:t>
            </a:r>
            <a:r>
              <a:rPr lang="en-US" altLang="zh-TW" dirty="0" smtClean="0"/>
              <a:t>(2/10)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1" y="1417638"/>
            <a:ext cx="6260558" cy="538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C </a:t>
            </a:r>
            <a:r>
              <a:rPr lang="en-US" altLang="zh-TW" dirty="0" smtClean="0"/>
              <a:t>(3/10)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𝑎𝑏𝑐𝑎𝑑𝑎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Divide to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1, 3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6, 4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𝑏𝑐𝑑𝑎𝑏𝑎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037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C </a:t>
            </a:r>
            <a:r>
              <a:rPr lang="en-US" altLang="zh-TW" dirty="0" smtClean="0"/>
              <a:t>(4/10)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1, 3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𝑎𝑏𝑎𝑑𝑐𝑏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20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00883786"/>
              </p:ext>
            </p:extLst>
          </p:nvPr>
        </p:nvGraphicFramePr>
        <p:xfrm>
          <a:off x="107504" y="2223879"/>
          <a:ext cx="8856981" cy="2767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436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C </a:t>
            </a:r>
            <a:r>
              <a:rPr lang="en-US" altLang="zh-TW" dirty="0" smtClean="0"/>
              <a:t>(5/10)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6, 4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𝑏𝑐𝑑𝑎𝑏𝑎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56892276"/>
              </p:ext>
            </p:extLst>
          </p:nvPr>
        </p:nvGraphicFramePr>
        <p:xfrm>
          <a:off x="107504" y="2223879"/>
          <a:ext cx="8856981" cy="2767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kumimoji="0" 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2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en-US" sz="2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US" altLang="zh-TW" sz="2800" b="0" i="0" u="none" strike="noStrike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924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C </a:t>
            </a:r>
            <a:r>
              <a:rPr lang="en-US" altLang="zh-TW" dirty="0" smtClean="0"/>
              <a:t>(6/10)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22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10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996952"/>
                <a:ext cx="8229600" cy="372452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Find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Find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func>
                  </m:oMath>
                </a14:m>
                <a:r>
                  <a:rPr lang="en-US" altLang="zh-TW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/>
                  <a:t>Divide to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1, 3</m:t>
                        </m:r>
                      </m:sub>
                    </m:sSub>
                    <m:r>
                      <a:rPr lang="en-US" altLang="zh-TW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𝑎𝑏𝑐</m:t>
                    </m:r>
                  </m:oMath>
                </a14:m>
                <a:r>
                  <a:rPr lang="en-US" altLang="zh-TW" dirty="0">
                    <a:solidFill>
                      <a:srgbClr val="7030A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1, 2</m:t>
                        </m:r>
                      </m:sub>
                    </m:sSub>
                    <m:r>
                      <a:rPr lang="en-US" altLang="zh-TW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endParaRPr lang="en-US" altLang="zh-TW" dirty="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4, 6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3, 6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𝑎𝑑𝑐𝑏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11" name="內容版面配置區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996952"/>
                <a:ext cx="8229600" cy="3724523"/>
              </a:xfrm>
              <a:blipFill rotWithShape="0">
                <a:blip r:embed="rId2"/>
                <a:stretch>
                  <a:fillRect l="-222" t="-2291" b="-29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內容版面配置區 9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81602238"/>
                  </p:ext>
                </p:extLst>
              </p:nvPr>
            </p:nvGraphicFramePr>
            <p:xfrm>
              <a:off x="457200" y="1602000"/>
              <a:ext cx="7872872" cy="138382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84109"/>
                    <a:gridCol w="984109"/>
                    <a:gridCol w="984109"/>
                    <a:gridCol w="984109"/>
                    <a:gridCol w="984109"/>
                    <a:gridCol w="984109"/>
                    <a:gridCol w="984109"/>
                    <a:gridCol w="984109"/>
                  </a:tblGrid>
                  <a:tr h="461276">
                    <a:tc>
                      <a:txBody>
                        <a:bodyPr/>
                        <a:lstStyle/>
                        <a:p>
                          <a:pPr algn="ctr" fontAlgn="ctr"/>
                          <a:endParaRPr lang="zh-TW" altLang="en-US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0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1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2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>
                              <a:solidFill>
                                <a:srgbClr val="0070C0"/>
                              </a:solidFill>
                              <a:effectLst/>
                            </a:rPr>
                            <a:t>3</a:t>
                          </a:r>
                          <a:endParaRPr lang="en-US" altLang="zh-TW" sz="2800" b="0" i="0" u="none" strike="noStrike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>
                              <a:solidFill>
                                <a:srgbClr val="0070C0"/>
                              </a:solidFill>
                              <a:effectLst/>
                            </a:rPr>
                            <a:t>4</a:t>
                          </a:r>
                          <a:endParaRPr lang="en-US" altLang="zh-TW" sz="2800" b="0" i="0" u="none" strike="noStrike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5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6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61276"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800" i="1" u="none" strike="noStrike" kern="120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</m:t>
                                </m:r>
                                <m:r>
                                  <a:rPr kumimoji="0" lang="en-US" altLang="zh-TW" sz="2800" i="1" u="none" strike="noStrike" kern="120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US" altLang="zh-TW" sz="2800" u="none" strike="noStrike" kern="1200" dirty="0">
                            <a:solidFill>
                              <a:srgbClr val="0070C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6127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u="none" strike="noStrike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</a:rPr>
                                  <m:t>𝐿</m:t>
                                </m:r>
                                <m:r>
                                  <a:rPr lang="en-US" altLang="zh-TW" sz="2800" b="0" i="1" u="none" strike="noStrike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內容版面配置區 9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81602238"/>
                  </p:ext>
                </p:extLst>
              </p:nvPr>
            </p:nvGraphicFramePr>
            <p:xfrm>
              <a:off x="457200" y="1602000"/>
              <a:ext cx="7872872" cy="138382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84109"/>
                    <a:gridCol w="984109"/>
                    <a:gridCol w="984109"/>
                    <a:gridCol w="984109"/>
                    <a:gridCol w="984109"/>
                    <a:gridCol w="984109"/>
                    <a:gridCol w="984109"/>
                    <a:gridCol w="984109"/>
                  </a:tblGrid>
                  <a:tr h="461276">
                    <a:tc>
                      <a:txBody>
                        <a:bodyPr/>
                        <a:lstStyle/>
                        <a:p>
                          <a:pPr algn="ctr" fontAlgn="ctr"/>
                          <a:endParaRPr lang="zh-TW" altLang="en-US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0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1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2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>
                              <a:solidFill>
                                <a:srgbClr val="0070C0"/>
                              </a:solidFill>
                              <a:effectLst/>
                            </a:rPr>
                            <a:t>3</a:t>
                          </a:r>
                          <a:endParaRPr lang="en-US" altLang="zh-TW" sz="2800" b="0" i="0" u="none" strike="noStrike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>
                              <a:solidFill>
                                <a:srgbClr val="0070C0"/>
                              </a:solidFill>
                              <a:effectLst/>
                            </a:rPr>
                            <a:t>4</a:t>
                          </a:r>
                          <a:endParaRPr lang="en-US" altLang="zh-TW" sz="2800" b="0" i="0" u="none" strike="noStrike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5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6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6127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118421" r="-698765" b="-14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6127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218421" r="-698765" b="-4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78992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C </a:t>
            </a:r>
            <a:r>
              <a:rPr lang="en-US" altLang="zh-TW" dirty="0" smtClean="0"/>
              <a:t>(7/10)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1, 3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𝑎𝑏𝑐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1, 2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/>
                  <a:t>Divide to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1, 2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𝑐𝑏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2, 1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𝑏𝑎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6874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C </a:t>
            </a:r>
            <a:r>
              <a:rPr lang="en-US" altLang="zh-TW" dirty="0" smtClean="0"/>
              <a:t>(8/10)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1, 2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3, 2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𝑐𝑏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2, 1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𝑏𝑎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24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94657944"/>
              </p:ext>
            </p:extLst>
          </p:nvPr>
        </p:nvGraphicFramePr>
        <p:xfrm>
          <a:off x="3851920" y="1602000"/>
          <a:ext cx="4920545" cy="1845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249537"/>
              </p:ext>
            </p:extLst>
          </p:nvPr>
        </p:nvGraphicFramePr>
        <p:xfrm>
          <a:off x="3851920" y="4002940"/>
          <a:ext cx="4920545" cy="2306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4109"/>
                <a:gridCol w="984109"/>
                <a:gridCol w="984109"/>
                <a:gridCol w="984109"/>
                <a:gridCol w="984109"/>
              </a:tblGrid>
              <a:tr h="461276"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zh-TW" altLang="en-US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endParaRPr kumimoji="0" lang="en-US" altLang="zh-TW" sz="280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c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b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US" altLang="zh-TW" sz="2800" b="0" i="0" u="none" strike="noStrike" dirty="0">
                        <a:solidFill>
                          <a:srgbClr val="0070C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altLang="zh-TW" sz="28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8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805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C </a:t>
            </a:r>
            <a:r>
              <a:rPr lang="en-US" altLang="zh-TW" dirty="0" smtClean="0"/>
              <a:t>(9/10)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10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996952"/>
                <a:ext cx="8229600" cy="372452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Find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Find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func>
                  </m:oMath>
                </a14:m>
                <a:r>
                  <a:rPr lang="en-US" altLang="zh-TW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/>
                  <a:t>Divide to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TW" altLang="en-US" i="1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TW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2, 3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11" name="內容版面配置區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996952"/>
                <a:ext cx="8229600" cy="3724523"/>
              </a:xfrm>
              <a:blipFill rotWithShape="0">
                <a:blip r:embed="rId2"/>
                <a:stretch>
                  <a:fillRect l="-222" t="-2291" b="-22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內容版面配置區 9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55390146"/>
                  </p:ext>
                </p:extLst>
              </p:nvPr>
            </p:nvGraphicFramePr>
            <p:xfrm>
              <a:off x="457200" y="1602000"/>
              <a:ext cx="3936436" cy="138382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84109"/>
                    <a:gridCol w="984109"/>
                    <a:gridCol w="984109"/>
                    <a:gridCol w="984109"/>
                  </a:tblGrid>
                  <a:tr h="461276">
                    <a:tc>
                      <a:txBody>
                        <a:bodyPr/>
                        <a:lstStyle/>
                        <a:p>
                          <a:pPr algn="ctr" fontAlgn="ctr"/>
                          <a:endParaRPr lang="zh-TW" altLang="en-US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0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1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2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61276"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800" i="1" u="none" strike="noStrike" kern="120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</m:t>
                                </m:r>
                                <m:r>
                                  <a:rPr kumimoji="0" lang="en-US" altLang="zh-TW" sz="2800" i="1" u="none" strike="noStrike" kern="120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US" altLang="zh-TW" sz="2800" u="none" strike="noStrike" kern="1200" dirty="0">
                            <a:solidFill>
                              <a:srgbClr val="0070C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6127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u="none" strike="noStrike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</a:rPr>
                                  <m:t>𝐿</m:t>
                                </m:r>
                                <m:r>
                                  <a:rPr lang="en-US" altLang="zh-TW" sz="2800" b="0" i="1" u="none" strike="noStrike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內容版面配置區 9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55390146"/>
                  </p:ext>
                </p:extLst>
              </p:nvPr>
            </p:nvGraphicFramePr>
            <p:xfrm>
              <a:off x="457200" y="1602000"/>
              <a:ext cx="3936436" cy="138382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84109"/>
                    <a:gridCol w="984109"/>
                    <a:gridCol w="984109"/>
                    <a:gridCol w="984109"/>
                  </a:tblGrid>
                  <a:tr h="461276">
                    <a:tc>
                      <a:txBody>
                        <a:bodyPr/>
                        <a:lstStyle/>
                        <a:p>
                          <a:pPr algn="ctr" fontAlgn="ctr"/>
                          <a:endParaRPr lang="zh-TW" altLang="en-US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0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1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TW" sz="2800" u="none" strike="noStrike" dirty="0">
                              <a:solidFill>
                                <a:srgbClr val="0070C0"/>
                              </a:solidFill>
                              <a:effectLst/>
                            </a:rPr>
                            <a:t>2</a:t>
                          </a:r>
                          <a:endParaRPr lang="en-US" altLang="zh-TW" sz="2800" b="0" i="0" u="none" strike="noStrike" dirty="0">
                            <a:solidFill>
                              <a:srgbClr val="0070C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6127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118421" r="-300000" b="-14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6127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t="-218421" r="-300000" b="-4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/>
                          <a:r>
                            <a:rPr kumimoji="0" lang="en-US" altLang="zh-TW" sz="2800" u="none" strike="noStrike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zh-TW" altLang="en-US" sz="2800" u="none" strike="noStrike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008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C </a:t>
            </a:r>
            <a:r>
              <a:rPr lang="en-US" altLang="zh-TW" dirty="0" smtClean="0"/>
              <a:t>(10/10)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>
                    <a:latin typeface="Cambria Math" panose="02040503050406030204" pitchFamily="18" charset="0"/>
                  </a:rPr>
                  <a:t>以下請自己接著做下去</a:t>
                </a:r>
                <a:endParaRPr lang="en-US" altLang="zh-TW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2, 3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2, 3</m:t>
                        </m:r>
                      </m:sub>
                    </m:sSub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TW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4, 6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𝑎𝑑𝑎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3, 6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𝑎𝑑𝑐𝑏</m:t>
                    </m:r>
                  </m:oMath>
                </a14:m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4, </m:t>
                        </m:r>
                        <m: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𝑎𝑑</m:t>
                    </m:r>
                  </m:oMath>
                </a14:m>
                <a:endParaRPr lang="en-US" altLang="zh-TW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𝑎𝑏𝑎𝑑</m:t>
                    </m:r>
                  </m:oMath>
                </a14:m>
                <a:endParaRPr lang="en-US" altLang="zh-TW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endParaRPr lang="en-US" altLang="zh-TW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TW" dirty="0"/>
                  <a:t>Time: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Space: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8192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龍騰四海">
  <a:themeElements>
    <a:clrScheme name="龍騰四海">
      <a:dk1>
        <a:sysClr val="windowText" lastClr="000000"/>
      </a:dk1>
      <a:lt1>
        <a:sysClr val="window" lastClr="C7EDCC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龍騰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龍騰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TC104033925[[fn=小水滴]]</Template>
  <TotalTime>3804</TotalTime>
  <Words>862</Words>
  <Application>Microsoft Office PowerPoint</Application>
  <PresentationFormat>如螢幕大小 (4:3)</PresentationFormat>
  <Paragraphs>630</Paragraphs>
  <Slides>26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5" baseType="lpstr">
      <vt:lpstr>微軟正黑體</vt:lpstr>
      <vt:lpstr>新細明體</vt:lpstr>
      <vt:lpstr>Arial</vt:lpstr>
      <vt:lpstr>Calibri</vt:lpstr>
      <vt:lpstr>Cambria</vt:lpstr>
      <vt:lpstr>Cambria Math</vt:lpstr>
      <vt:lpstr>Maiandra GD</vt:lpstr>
      <vt:lpstr>Wingdings 2</vt:lpstr>
      <vt:lpstr>龍騰四海</vt:lpstr>
      <vt:lpstr>A Linear Space Algorithm for Computing Maximal Common Subsequences</vt:lpstr>
      <vt:lpstr>Abstract</vt:lpstr>
      <vt:lpstr>LCS</vt:lpstr>
      <vt:lpstr>Algorithm A (1/4)</vt:lpstr>
      <vt:lpstr>Algorithm A (2/4)</vt:lpstr>
      <vt:lpstr>Algorithm A (3/4)</vt:lpstr>
      <vt:lpstr>Algorithm A (4/4)</vt:lpstr>
      <vt:lpstr>Algorithm B (1/9)</vt:lpstr>
      <vt:lpstr>Algorithm B (2/9)</vt:lpstr>
      <vt:lpstr>Algorithm B (3/9)</vt:lpstr>
      <vt:lpstr>Algorithm B (4/9)</vt:lpstr>
      <vt:lpstr>Algorithm B (5/9)</vt:lpstr>
      <vt:lpstr>Algorithm B (6/9)</vt:lpstr>
      <vt:lpstr>Algorithm B (7/9)</vt:lpstr>
      <vt:lpstr>Algorithm B (8/9)</vt:lpstr>
      <vt:lpstr>Algorithm B (9/9)</vt:lpstr>
      <vt:lpstr>Algorithm C (1/10)</vt:lpstr>
      <vt:lpstr>Algorithm C (2/10)</vt:lpstr>
      <vt:lpstr>Algorithm C (3/10)</vt:lpstr>
      <vt:lpstr>Algorithm C (4/10)</vt:lpstr>
      <vt:lpstr>Algorithm C (5/10)</vt:lpstr>
      <vt:lpstr>Algorithm C (6/10)</vt:lpstr>
      <vt:lpstr>Algorithm C (7/10)</vt:lpstr>
      <vt:lpstr>Algorithm C (8/10)</vt:lpstr>
      <vt:lpstr>Algorithm C (9/10)</vt:lpstr>
      <vt:lpstr>Algorithm C (10/10)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824</cp:revision>
  <dcterms:created xsi:type="dcterms:W3CDTF">2012-09-09T09:37:21Z</dcterms:created>
  <dcterms:modified xsi:type="dcterms:W3CDTF">2013-11-26T09:35:42Z</dcterms:modified>
</cp:coreProperties>
</file>