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76" r:id="rId4"/>
    <p:sldId id="277" r:id="rId5"/>
    <p:sldId id="275" r:id="rId6"/>
    <p:sldId id="278" r:id="rId7"/>
    <p:sldId id="279" r:id="rId8"/>
    <p:sldId id="280" r:id="rId9"/>
    <p:sldId id="281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74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3" autoAdjust="0"/>
    <p:restoredTop sz="94660"/>
  </p:normalViewPr>
  <p:slideViewPr>
    <p:cSldViewPr>
      <p:cViewPr>
        <p:scale>
          <a:sx n="83" d="100"/>
          <a:sy n="83" d="100"/>
        </p:scale>
        <p:origin x="12" y="-5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B5FB0-B2ED-4E2F-A013-0D3834BF9D53}" type="datetimeFigureOut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BEB50-B6E3-41E8-9C6B-A4F8CEE232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20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2BEB50-B6E3-41E8-9C6B-A4F8CEE232D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17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B1FC-FDBC-4A60-9939-D6110C3C3CB7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5AA8-C17B-49C4-9F55-79A4DAFC847E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A96A-FC63-4C61-823C-3BD62C2E28B8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E92E-2B9A-487F-B01B-5FE56D55C6C1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AAC1-9B63-4666-BB23-344CDF124E62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E3BB-9CDE-4D13-BBDA-DD98F9CE892D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2AD6-3F5F-4500-A699-DD6F81763D72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736-A346-4BC7-ADE5-4A3C96BA101E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9B9C-E24F-4392-968F-01188351DEFA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5204-8C53-4A42-8B7A-D264FC744199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2D6C-28E0-4D29-AD77-CD7D08B3F689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5500-5665-4D2C-81B6-CB06C0A843FE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Algorithms for the 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zh-TW" sz="180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DANIEL S. HEIRSCHBERG</a:t>
            </a:r>
            <a:endParaRPr lang="en-US" altLang="zh-TW" sz="1800" baseline="30000" dirty="0" smtClean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sz="1800" dirty="0">
                <a:solidFill>
                  <a:schemeClr val="tx1"/>
                </a:solidFill>
              </a:rPr>
              <a:t>Journal of the </a:t>
            </a:r>
            <a:r>
              <a:rPr lang="en-US" altLang="zh-TW" sz="1800" dirty="0" smtClean="0">
                <a:solidFill>
                  <a:schemeClr val="tx1"/>
                </a:solidFill>
              </a:rPr>
              <a:t>Association </a:t>
            </a:r>
            <a:r>
              <a:rPr lang="en-US" altLang="zh-TW" sz="1800" dirty="0">
                <a:solidFill>
                  <a:schemeClr val="tx1"/>
                </a:solidFill>
              </a:rPr>
              <a:t>for Computing </a:t>
            </a:r>
            <a:r>
              <a:rPr lang="en-US" altLang="zh-TW" sz="1800" dirty="0" smtClean="0">
                <a:solidFill>
                  <a:schemeClr val="tx1"/>
                </a:solidFill>
              </a:rPr>
              <a:t>Machinery,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Vol</a:t>
            </a:r>
            <a:r>
              <a:rPr lang="en-US" altLang="zh-TW" sz="1800" dirty="0" smtClean="0">
                <a:solidFill>
                  <a:schemeClr val="tx1"/>
                </a:solidFill>
              </a:rPr>
              <a:t> 24,  </a:t>
            </a:r>
            <a:r>
              <a:rPr lang="en-US" altLang="zh-TW" sz="1800" dirty="0">
                <a:solidFill>
                  <a:schemeClr val="tx1"/>
                </a:solidFill>
              </a:rPr>
              <a:t>No </a:t>
            </a:r>
            <a:r>
              <a:rPr lang="en-US" altLang="zh-TW" sz="1800" dirty="0" smtClean="0">
                <a:solidFill>
                  <a:schemeClr val="tx1"/>
                </a:solidFill>
              </a:rPr>
              <a:t>4, </a:t>
            </a:r>
            <a:r>
              <a:rPr lang="en-US" altLang="zh-TW" sz="1800" dirty="0">
                <a:solidFill>
                  <a:schemeClr val="tx1"/>
                </a:solidFill>
              </a:rPr>
              <a:t>October </a:t>
            </a:r>
            <a:r>
              <a:rPr lang="en-US" altLang="zh-TW" sz="1800" dirty="0" smtClean="0">
                <a:solidFill>
                  <a:schemeClr val="tx1"/>
                </a:solidFill>
              </a:rPr>
              <a:t>1977, pp 664-675</a:t>
            </a:r>
          </a:p>
          <a:p>
            <a:r>
              <a:rPr lang="fr-FR" altLang="zh-TW" sz="180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Presenter</a:t>
            </a:r>
            <a:r>
              <a:rPr lang="fr-FR" altLang="zh-TW" sz="18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lang="zh-TW" altLang="en-US" sz="18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許竣傑</a:t>
            </a:r>
            <a:endParaRPr lang="en-US" altLang="zh-TW" sz="1800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  <a:p>
            <a:r>
              <a:rPr lang="fr-FR" altLang="zh-TW" sz="180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2013/11/26</a:t>
            </a:r>
            <a:endParaRPr lang="it-IT" altLang="zh-TW" sz="1800" dirty="0" smtClean="0">
              <a:latin typeface="標楷體" pitchFamily="65" charset="-120"/>
              <a:ea typeface="標楷體" pitchFamily="65" charset="-120"/>
            </a:endParaRPr>
          </a:p>
          <a:p>
            <a:endParaRPr lang="it-IT" altLang="zh-TW" sz="1800" dirty="0">
              <a:latin typeface="標楷體" pitchFamily="65" charset="-120"/>
              <a:ea typeface="標楷體" pitchFamily="65" charset="-120"/>
            </a:endParaRPr>
          </a:p>
          <a:p>
            <a:endParaRPr lang="zh-TW" altLang="en-US" sz="18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02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Two algorithms are presented that solve the longest common subsequence problem.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first algorithm </a:t>
                </a:r>
                <a:r>
                  <a:rPr lang="en-US" altLang="zh-TW" dirty="0"/>
                  <a:t>is applicable in the general case and requires </a:t>
                </a:r>
                <a:r>
                  <a:rPr lang="en-US" altLang="zh-TW" i="1" dirty="0"/>
                  <a:t>O(</a:t>
                </a:r>
                <a:r>
                  <a:rPr lang="en-US" altLang="zh-TW" i="1" dirty="0" err="1"/>
                  <a:t>pn</a:t>
                </a:r>
                <a:r>
                  <a:rPr lang="en-US" altLang="zh-TW" i="1" dirty="0"/>
                  <a:t> + n </a:t>
                </a:r>
                <a:r>
                  <a:rPr lang="en-US" altLang="zh-TW" dirty="0"/>
                  <a:t>log n) time where p is the length of </a:t>
                </a:r>
                <a:r>
                  <a:rPr lang="en-US" altLang="zh-TW" dirty="0" smtClean="0"/>
                  <a:t>the longest common subsequence. </a:t>
                </a:r>
                <a:r>
                  <a:rPr lang="en-US" altLang="zh-TW" dirty="0"/>
                  <a:t>The second algorithm requires time bounded by </a:t>
                </a:r>
                <a:r>
                  <a:rPr lang="en-US" altLang="zh-TW" i="1" dirty="0"/>
                  <a:t>O(p(m </a:t>
                </a:r>
                <a:r>
                  <a:rPr lang="en-US" altLang="zh-TW" dirty="0"/>
                  <a:t>+ 1 - p)log n</a:t>
                </a:r>
                <a:r>
                  <a:rPr lang="en-US" altLang="zh-TW" dirty="0" smtClean="0"/>
                  <a:t>). </a:t>
                </a:r>
                <a:r>
                  <a:rPr lang="en-US" altLang="zh-TW" dirty="0"/>
                  <a:t>In </a:t>
                </a:r>
                <a:r>
                  <a:rPr lang="en-US" altLang="zh-TW" dirty="0" smtClean="0"/>
                  <a:t>the common special </a:t>
                </a:r>
                <a:r>
                  <a:rPr lang="en-US" altLang="zh-TW" dirty="0"/>
                  <a:t>case where p is close to m, this algorithm takes much less time </a:t>
                </a:r>
                <a:r>
                  <a:rPr lang="en-US" altLang="zh-TW" dirty="0" smtClean="0"/>
                  <a:t>than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148" b="-3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26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A: a g c t g a c g</a:t>
            </a:r>
          </a:p>
          <a:p>
            <a:r>
              <a:rPr lang="en-US" altLang="zh-TW" dirty="0" smtClean="0"/>
              <a:t>B: c a c a g t a g</a:t>
            </a:r>
          </a:p>
          <a:p>
            <a:r>
              <a:rPr lang="en-US" altLang="zh-TW" dirty="0" smtClean="0"/>
              <a:t>LCS: a c g a 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41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K-candidate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996348"/>
              </p:ext>
            </p:extLst>
          </p:nvPr>
        </p:nvGraphicFramePr>
        <p:xfrm>
          <a:off x="1187624" y="1700808"/>
          <a:ext cx="5229198" cy="4205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533"/>
                <a:gridCol w="871533"/>
                <a:gridCol w="871533"/>
                <a:gridCol w="871533"/>
                <a:gridCol w="871533"/>
                <a:gridCol w="871533"/>
              </a:tblGrid>
              <a:tr h="841013">
                <a:tc>
                  <a:txBody>
                    <a:bodyPr/>
                    <a:lstStyle/>
                    <a:p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013">
                <a:tc>
                  <a:txBody>
                    <a:bodyPr/>
                    <a:lstStyle/>
                    <a:p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013"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013"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013"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779912" y="3429000"/>
            <a:ext cx="626368" cy="626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80112" y="4293096"/>
            <a:ext cx="626368" cy="626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716016" y="5157192"/>
            <a:ext cx="626368" cy="626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8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Minimal K-candidate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8"/>
                <a:r>
                  <a:rPr lang="en-US" altLang="zh-TW" dirty="0" smtClean="0"/>
                  <a:t>                            &lt;   &lt;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j&gt;   &lt;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&gt;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6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33" y="1628800"/>
            <a:ext cx="5794821" cy="3919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254942"/>
            <a:ext cx="29908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橢圓 6"/>
          <p:cNvSpPr/>
          <p:nvPr/>
        </p:nvSpPr>
        <p:spPr>
          <a:xfrm>
            <a:off x="3923928" y="2986804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389512" y="2982612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220072" y="2982612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4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ALGD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419229"/>
              </p:ext>
            </p:extLst>
          </p:nvPr>
        </p:nvGraphicFramePr>
        <p:xfrm>
          <a:off x="1187624" y="1916832"/>
          <a:ext cx="5760640" cy="424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424847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88224" y="6381328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 flipV="1">
            <a:off x="2339752" y="3573016"/>
            <a:ext cx="0" cy="2592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339752" y="3600450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2915816" y="2780928"/>
            <a:ext cx="0" cy="8195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915816" y="2780928"/>
            <a:ext cx="40324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2915816" y="4869160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2915816" y="4869160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3491880" y="3600450"/>
            <a:ext cx="0" cy="1268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3491880" y="3600450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flipV="1">
            <a:off x="4644008" y="3190690"/>
            <a:ext cx="0" cy="4097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4644008" y="3190689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6" idx="3"/>
          </p:cNvCxnSpPr>
          <p:nvPr/>
        </p:nvCxnSpPr>
        <p:spPr>
          <a:xfrm flipH="1">
            <a:off x="5220072" y="4041067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5220072" y="4077072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4644008" y="4448532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4644008" y="4448532"/>
            <a:ext cx="0" cy="420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H="1">
            <a:off x="4067944" y="4869160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4067944" y="4869160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flipH="1">
            <a:off x="3491880" y="530120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3491880" y="5301208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 flipV="1">
            <a:off x="5220072" y="5733256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5220072" y="573325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 flipV="1">
            <a:off x="5796136" y="4869160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5796136" y="4869160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372200" y="5733256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6372200" y="573325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>
          <a:xfrm>
            <a:off x="2915816" y="278092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2339752" y="3600450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1763688" y="2399174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/>
        </p:nvSpPr>
        <p:spPr>
          <a:xfrm>
            <a:off x="7236296" y="2186434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K=1</a:t>
            </a:r>
            <a:endParaRPr lang="zh-TW" altLang="en-US" b="1" dirty="0"/>
          </a:p>
        </p:txBody>
      </p:sp>
      <p:sp>
        <p:nvSpPr>
          <p:cNvPr id="86" name="矩形 85"/>
          <p:cNvSpPr/>
          <p:nvPr/>
        </p:nvSpPr>
        <p:spPr>
          <a:xfrm>
            <a:off x="7236296" y="2712358"/>
            <a:ext cx="1490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Low &lt; j &lt; high</a:t>
            </a:r>
            <a:endParaRPr lang="zh-TW" altLang="en-US" b="1" dirty="0"/>
          </a:p>
        </p:txBody>
      </p:sp>
      <p:sp>
        <p:nvSpPr>
          <p:cNvPr id="87" name="矩形 86"/>
          <p:cNvSpPr/>
          <p:nvPr/>
        </p:nvSpPr>
        <p:spPr>
          <a:xfrm>
            <a:off x="7303546" y="3190689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 &lt; j &lt; 9</a:t>
            </a:r>
            <a:endParaRPr lang="zh-TW" altLang="en-US" b="1" dirty="0"/>
          </a:p>
        </p:txBody>
      </p:sp>
      <p:sp>
        <p:nvSpPr>
          <p:cNvPr id="88" name="矩形 87"/>
          <p:cNvSpPr/>
          <p:nvPr/>
        </p:nvSpPr>
        <p:spPr>
          <a:xfrm>
            <a:off x="7319812" y="3692882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 &lt; j &lt; 2</a:t>
            </a:r>
            <a:endParaRPr lang="zh-TW" altLang="en-US" b="1" dirty="0"/>
          </a:p>
        </p:txBody>
      </p:sp>
      <p:sp>
        <p:nvSpPr>
          <p:cNvPr id="89" name="矩形 88"/>
          <p:cNvSpPr/>
          <p:nvPr/>
        </p:nvSpPr>
        <p:spPr>
          <a:xfrm>
            <a:off x="1165411" y="1413636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    1          2         3        4         5         6         7          8</a:t>
            </a:r>
            <a:endParaRPr lang="zh-TW" altLang="en-US" b="1" dirty="0"/>
          </a:p>
        </p:txBody>
      </p:sp>
      <p:sp>
        <p:nvSpPr>
          <p:cNvPr id="91" name="矩形 90"/>
          <p:cNvSpPr/>
          <p:nvPr/>
        </p:nvSpPr>
        <p:spPr>
          <a:xfrm>
            <a:off x="701616" y="192417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92" name="矩形 91"/>
          <p:cNvSpPr/>
          <p:nvPr/>
        </p:nvSpPr>
        <p:spPr>
          <a:xfrm>
            <a:off x="701616" y="239917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93" name="矩形 92"/>
          <p:cNvSpPr/>
          <p:nvPr/>
        </p:nvSpPr>
        <p:spPr>
          <a:xfrm>
            <a:off x="701616" y="279566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94" name="矩形 93"/>
          <p:cNvSpPr/>
          <p:nvPr/>
        </p:nvSpPr>
        <p:spPr>
          <a:xfrm>
            <a:off x="701616" y="323111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95" name="矩形 94"/>
          <p:cNvSpPr/>
          <p:nvPr/>
        </p:nvSpPr>
        <p:spPr>
          <a:xfrm>
            <a:off x="701616" y="370774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96" name="矩形 95"/>
          <p:cNvSpPr/>
          <p:nvPr/>
        </p:nvSpPr>
        <p:spPr>
          <a:xfrm>
            <a:off x="701616" y="406778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7" name="矩形 96"/>
          <p:cNvSpPr/>
          <p:nvPr/>
        </p:nvSpPr>
        <p:spPr>
          <a:xfrm>
            <a:off x="702470" y="449982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98" name="矩形 97"/>
          <p:cNvSpPr/>
          <p:nvPr/>
        </p:nvSpPr>
        <p:spPr>
          <a:xfrm>
            <a:off x="702470" y="493187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99" name="矩形 98"/>
          <p:cNvSpPr/>
          <p:nvPr/>
        </p:nvSpPr>
        <p:spPr>
          <a:xfrm>
            <a:off x="702470" y="536392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100" name="矩形 99"/>
          <p:cNvSpPr/>
          <p:nvPr/>
        </p:nvSpPr>
        <p:spPr>
          <a:xfrm>
            <a:off x="702470" y="57959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graphicFrame>
        <p:nvGraphicFramePr>
          <p:cNvPr id="102" name="表格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479000"/>
              </p:ext>
            </p:extLst>
          </p:nvPr>
        </p:nvGraphicFramePr>
        <p:xfrm>
          <a:off x="6948264" y="4493530"/>
          <a:ext cx="217352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</a:tblGrid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矩形 102"/>
          <p:cNvSpPr/>
          <p:nvPr/>
        </p:nvSpPr>
        <p:spPr>
          <a:xfrm>
            <a:off x="7319812" y="5654714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 &lt; j &lt; 1</a:t>
            </a:r>
            <a:endParaRPr lang="zh-TW" altLang="en-US" b="1" dirty="0"/>
          </a:p>
        </p:txBody>
      </p:sp>
      <p:pic>
        <p:nvPicPr>
          <p:cNvPr id="1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406" y="14888"/>
            <a:ext cx="1792441" cy="215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1" name="矩形 50"/>
              <p:cNvSpPr/>
              <p:nvPr/>
            </p:nvSpPr>
            <p:spPr>
              <a:xfrm>
                <a:off x="5701128" y="445314"/>
                <a:ext cx="1433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/>
                        </a:rPr>
                        <m:t>𝑷𝑩</m:t>
                      </m:r>
                      <m:r>
                        <a:rPr lang="en-US" altLang="zh-TW" b="1" i="1" smtClean="0">
                          <a:latin typeface="Cambria Math"/>
                        </a:rPr>
                        <m:t>[</m:t>
                      </m:r>
                      <m:r>
                        <a:rPr lang="zh-TW" altLang="en-US" b="1" i="1" smtClean="0">
                          <a:latin typeface="Cambria Math"/>
                        </a:rPr>
                        <m:t>𝜽</m:t>
                      </m:r>
                      <m:r>
                        <a:rPr lang="en-US" altLang="zh-TW" b="1" i="1" smtClean="0">
                          <a:latin typeface="Cambria Math"/>
                        </a:rPr>
                        <m:t>,</m:t>
                      </m:r>
                      <m:r>
                        <a:rPr lang="en-US" altLang="zh-TW" b="1" i="1" smtClean="0">
                          <a:latin typeface="Cambria Math"/>
                        </a:rPr>
                        <m:t>𝑵</m:t>
                      </m:r>
                      <m:r>
                        <a:rPr lang="en-US" altLang="zh-TW" b="1" i="1" smtClean="0">
                          <a:latin typeface="Cambria Math"/>
                        </a:rPr>
                        <m:t>[</m:t>
                      </m:r>
                      <m:r>
                        <a:rPr lang="zh-TW" altLang="en-US" b="1" i="1" smtClean="0">
                          <a:latin typeface="Cambria Math"/>
                        </a:rPr>
                        <m:t>𝜽</m:t>
                      </m:r>
                      <m:r>
                        <a:rPr lang="en-US" altLang="zh-TW" b="1" i="1" smtClean="0">
                          <a:latin typeface="Cambria Math"/>
                        </a:rPr>
                        <m:t>]]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128" y="445314"/>
                <a:ext cx="1433406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/>
          <p:cNvSpPr/>
          <p:nvPr/>
        </p:nvSpPr>
        <p:spPr>
          <a:xfrm>
            <a:off x="6948264" y="4127058"/>
            <a:ext cx="21957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-  A  G  C</a:t>
            </a:r>
            <a:r>
              <a:rPr lang="zh-TW" altLang="en-US" b="1" dirty="0" smtClean="0"/>
              <a:t>  </a:t>
            </a:r>
            <a:r>
              <a:rPr lang="en-US" altLang="zh-TW" b="1" dirty="0" smtClean="0"/>
              <a:t>T</a:t>
            </a:r>
            <a:r>
              <a:rPr lang="zh-TW" altLang="en-US" b="1" dirty="0" smtClean="0"/>
              <a:t>  </a:t>
            </a:r>
            <a:r>
              <a:rPr lang="en-US" altLang="zh-TW" b="1" dirty="0" smtClean="0"/>
              <a:t>G</a:t>
            </a:r>
            <a:r>
              <a:rPr lang="zh-TW" altLang="en-US" b="1" dirty="0" smtClean="0"/>
              <a:t>  </a:t>
            </a:r>
            <a:r>
              <a:rPr lang="en-US" altLang="zh-TW" b="1" dirty="0" smtClean="0"/>
              <a:t>A</a:t>
            </a:r>
            <a:r>
              <a:rPr lang="zh-TW" altLang="en-US" b="1" dirty="0" smtClean="0"/>
              <a:t>  </a:t>
            </a:r>
            <a:r>
              <a:rPr lang="en-US" altLang="zh-TW" b="1" dirty="0" smtClean="0"/>
              <a:t>C</a:t>
            </a:r>
            <a:r>
              <a:rPr lang="zh-TW" altLang="en-US" b="1" dirty="0" smtClean="0"/>
              <a:t>  </a:t>
            </a:r>
            <a:r>
              <a:rPr lang="en-US" altLang="zh-TW" b="1" dirty="0" smtClean="0"/>
              <a:t>G</a:t>
            </a:r>
            <a:r>
              <a:rPr lang="zh-TW" altLang="en-US" b="1" dirty="0" smtClean="0"/>
              <a:t>  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74866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062990"/>
              </p:ext>
            </p:extLst>
          </p:nvPr>
        </p:nvGraphicFramePr>
        <p:xfrm>
          <a:off x="899592" y="2058038"/>
          <a:ext cx="5760640" cy="424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424847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直線接點 5"/>
          <p:cNvCxnSpPr/>
          <p:nvPr/>
        </p:nvCxnSpPr>
        <p:spPr>
          <a:xfrm flipV="1">
            <a:off x="2051720" y="3714222"/>
            <a:ext cx="0" cy="2592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51720" y="374165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627784" y="2922134"/>
            <a:ext cx="0" cy="8195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627784" y="2922134"/>
            <a:ext cx="40324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2627784" y="5010366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627784" y="501036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3203848" y="3741656"/>
            <a:ext cx="0" cy="1268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203848" y="3741656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4355976" y="3331896"/>
            <a:ext cx="0" cy="4097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4355976" y="3331895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5" idx="3"/>
          </p:cNvCxnSpPr>
          <p:nvPr/>
        </p:nvCxnSpPr>
        <p:spPr>
          <a:xfrm flipH="1">
            <a:off x="4932040" y="4182273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932040" y="4218278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>
            <a:off x="4355976" y="458973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4355976" y="4589738"/>
            <a:ext cx="0" cy="420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H="1">
            <a:off x="3779912" y="501036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779912" y="5010366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>
            <a:off x="3203848" y="5442414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3203848" y="5442414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4932040" y="5874462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4932040" y="5874462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V="1">
            <a:off x="5508104" y="5010366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508104" y="5010366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6084168" y="5874462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084168" y="5874462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2627784" y="2922134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2051720" y="374165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475656" y="2540380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877379" y="1554842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    1          2         3        4         5         6         7          8</a:t>
            </a:r>
            <a:endParaRPr lang="zh-TW" altLang="en-US" b="1" dirty="0"/>
          </a:p>
        </p:txBody>
      </p:sp>
      <p:sp>
        <p:nvSpPr>
          <p:cNvPr id="34" name="矩形 33"/>
          <p:cNvSpPr/>
          <p:nvPr/>
        </p:nvSpPr>
        <p:spPr>
          <a:xfrm>
            <a:off x="413584" y="206538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413584" y="254038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413584" y="2936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413584" y="337232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38" name="矩形 37"/>
          <p:cNvSpPr/>
          <p:nvPr/>
        </p:nvSpPr>
        <p:spPr>
          <a:xfrm>
            <a:off x="413584" y="380338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413584" y="42089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414438" y="464103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41" name="矩形 40"/>
          <p:cNvSpPr/>
          <p:nvPr/>
        </p:nvSpPr>
        <p:spPr>
          <a:xfrm>
            <a:off x="414438" y="50730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414438" y="55051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43" name="矩形 42"/>
          <p:cNvSpPr/>
          <p:nvPr/>
        </p:nvSpPr>
        <p:spPr>
          <a:xfrm>
            <a:off x="414438" y="593717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98198"/>
              </p:ext>
            </p:extLst>
          </p:nvPr>
        </p:nvGraphicFramePr>
        <p:xfrm>
          <a:off x="6851304" y="5164624"/>
          <a:ext cx="217352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</a:tblGrid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矩形 44"/>
          <p:cNvSpPr/>
          <p:nvPr/>
        </p:nvSpPr>
        <p:spPr>
          <a:xfrm>
            <a:off x="7020272" y="2065380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K=2</a:t>
            </a:r>
            <a:endParaRPr lang="zh-TW" altLang="en-US" b="1" dirty="0"/>
          </a:p>
        </p:txBody>
      </p:sp>
      <p:sp>
        <p:nvSpPr>
          <p:cNvPr id="46" name="矩形 45"/>
          <p:cNvSpPr/>
          <p:nvPr/>
        </p:nvSpPr>
        <p:spPr>
          <a:xfrm>
            <a:off x="6960473" y="2512306"/>
            <a:ext cx="1490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Low &lt; j &lt; high</a:t>
            </a:r>
            <a:endParaRPr lang="zh-TW" altLang="en-US" b="1" dirty="0"/>
          </a:p>
        </p:txBody>
      </p:sp>
      <p:sp>
        <p:nvSpPr>
          <p:cNvPr id="47" name="矩形 46"/>
          <p:cNvSpPr/>
          <p:nvPr/>
        </p:nvSpPr>
        <p:spPr>
          <a:xfrm>
            <a:off x="7017623" y="2912423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 &lt; j &lt; 9</a:t>
            </a:r>
            <a:endParaRPr lang="zh-TW" altLang="en-US" b="1" dirty="0"/>
          </a:p>
        </p:txBody>
      </p:sp>
      <p:sp>
        <p:nvSpPr>
          <p:cNvPr id="48" name="橢圓 47"/>
          <p:cNvSpPr/>
          <p:nvPr/>
        </p:nvSpPr>
        <p:spPr>
          <a:xfrm>
            <a:off x="4355976" y="3380184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3203848" y="3814199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/>
          <p:cNvSpPr/>
          <p:nvPr/>
        </p:nvSpPr>
        <p:spPr>
          <a:xfrm>
            <a:off x="2602632" y="510115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7046439" y="3281755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 &lt; j &lt; 5</a:t>
            </a:r>
            <a:endParaRPr lang="zh-TW" altLang="en-US" b="1" dirty="0"/>
          </a:p>
        </p:txBody>
      </p:sp>
      <p:sp>
        <p:nvSpPr>
          <p:cNvPr id="52" name="矩形 51"/>
          <p:cNvSpPr/>
          <p:nvPr/>
        </p:nvSpPr>
        <p:spPr>
          <a:xfrm>
            <a:off x="7046438" y="3741656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 &lt; </a:t>
            </a:r>
            <a:r>
              <a:rPr lang="en-US" altLang="zh-TW" b="1" dirty="0" smtClean="0"/>
              <a:t>j &lt; 3</a:t>
            </a:r>
            <a:endParaRPr lang="zh-TW" altLang="en-US" b="1" dirty="0"/>
          </a:p>
        </p:txBody>
      </p:sp>
      <p:sp>
        <p:nvSpPr>
          <p:cNvPr id="53" name="矩形 52"/>
          <p:cNvSpPr/>
          <p:nvPr/>
        </p:nvSpPr>
        <p:spPr>
          <a:xfrm>
            <a:off x="7046439" y="4226590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 &lt; j &lt; 2</a:t>
            </a:r>
            <a:endParaRPr lang="zh-TW" altLang="en-US" b="1" dirty="0"/>
          </a:p>
        </p:txBody>
      </p:sp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406" y="14888"/>
            <a:ext cx="1792441" cy="205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矩形 54"/>
          <p:cNvSpPr/>
          <p:nvPr/>
        </p:nvSpPr>
        <p:spPr>
          <a:xfrm>
            <a:off x="8223555" y="3737060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 &lt; </a:t>
            </a:r>
            <a:r>
              <a:rPr lang="en-US" altLang="zh-TW" b="1" dirty="0" smtClean="0"/>
              <a:t>j &lt; 3</a:t>
            </a:r>
            <a:endParaRPr lang="zh-TW" altLang="en-US" b="1" dirty="0"/>
          </a:p>
        </p:txBody>
      </p:sp>
      <p:cxnSp>
        <p:nvCxnSpPr>
          <p:cNvPr id="56" name="直線單箭頭接點 55"/>
          <p:cNvCxnSpPr>
            <a:stCxn id="52" idx="3"/>
            <a:endCxn id="55" idx="1"/>
          </p:cNvCxnSpPr>
          <p:nvPr/>
        </p:nvCxnSpPr>
        <p:spPr>
          <a:xfrm flipV="1">
            <a:off x="7966883" y="3921726"/>
            <a:ext cx="256672" cy="45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5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524" y="260648"/>
            <a:ext cx="8229600" cy="1143000"/>
          </a:xfrm>
        </p:spPr>
        <p:txBody>
          <a:bodyPr/>
          <a:lstStyle/>
          <a:p>
            <a:r>
              <a:rPr lang="en-US" altLang="zh-TW" dirty="0"/>
              <a:t>ALGD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265149"/>
              </p:ext>
            </p:extLst>
          </p:nvPr>
        </p:nvGraphicFramePr>
        <p:xfrm>
          <a:off x="759925" y="2035540"/>
          <a:ext cx="5760640" cy="424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424847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直線接點 5"/>
          <p:cNvCxnSpPr/>
          <p:nvPr/>
        </p:nvCxnSpPr>
        <p:spPr>
          <a:xfrm flipV="1">
            <a:off x="1912053" y="3691724"/>
            <a:ext cx="0" cy="2592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912053" y="371915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488117" y="2899636"/>
            <a:ext cx="0" cy="8195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488117" y="2899636"/>
            <a:ext cx="40324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2488117" y="4987868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488117" y="498786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3064181" y="3719158"/>
            <a:ext cx="0" cy="1268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064181" y="3719158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4216309" y="3309398"/>
            <a:ext cx="0" cy="4097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4216309" y="3309397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5" idx="3"/>
          </p:cNvCxnSpPr>
          <p:nvPr/>
        </p:nvCxnSpPr>
        <p:spPr>
          <a:xfrm flipH="1">
            <a:off x="4792373" y="4159775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792373" y="4195780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>
            <a:off x="4216309" y="4567240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4216309" y="4567240"/>
            <a:ext cx="0" cy="420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H="1">
            <a:off x="3640245" y="498786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640245" y="4987868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>
            <a:off x="3064181" y="541991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3064181" y="5419916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4792373" y="5851964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4792373" y="5851964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V="1">
            <a:off x="5368437" y="4987868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368437" y="4987868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5944501" y="5851964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5944501" y="5851964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2488117" y="289963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1912053" y="371915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335989" y="2517882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737712" y="1532344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    1          2         3        4         5         6         7          8</a:t>
            </a:r>
            <a:endParaRPr lang="zh-TW" altLang="en-US" b="1" dirty="0"/>
          </a:p>
        </p:txBody>
      </p:sp>
      <p:sp>
        <p:nvSpPr>
          <p:cNvPr id="34" name="矩形 33"/>
          <p:cNvSpPr/>
          <p:nvPr/>
        </p:nvSpPr>
        <p:spPr>
          <a:xfrm>
            <a:off x="273917" y="204288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273917" y="25178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273917" y="291437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273917" y="33498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38" name="矩形 37"/>
          <p:cNvSpPr/>
          <p:nvPr/>
        </p:nvSpPr>
        <p:spPr>
          <a:xfrm>
            <a:off x="273917" y="38264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273917" y="418648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274771" y="461853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41" name="矩形 40"/>
          <p:cNvSpPr/>
          <p:nvPr/>
        </p:nvSpPr>
        <p:spPr>
          <a:xfrm>
            <a:off x="274771" y="50505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274771" y="548263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43" name="矩形 42"/>
          <p:cNvSpPr/>
          <p:nvPr/>
        </p:nvSpPr>
        <p:spPr>
          <a:xfrm>
            <a:off x="274771" y="591468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44" name="橢圓 43"/>
          <p:cNvSpPr/>
          <p:nvPr/>
        </p:nvSpPr>
        <p:spPr>
          <a:xfrm>
            <a:off x="4216309" y="335768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3064181" y="3791701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2462965" y="507865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2843"/>
              </p:ext>
            </p:extLst>
          </p:nvPr>
        </p:nvGraphicFramePr>
        <p:xfrm>
          <a:off x="6660232" y="4843202"/>
          <a:ext cx="217352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  <a:gridCol w="241503"/>
              </a:tblGrid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6951295" y="2042882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K=3</a:t>
            </a:r>
            <a:endParaRPr lang="zh-TW" altLang="en-US" b="1" dirty="0"/>
          </a:p>
        </p:txBody>
      </p:sp>
      <p:sp>
        <p:nvSpPr>
          <p:cNvPr id="49" name="矩形 48"/>
          <p:cNvSpPr/>
          <p:nvPr/>
        </p:nvSpPr>
        <p:spPr>
          <a:xfrm>
            <a:off x="6977460" y="2874921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 &lt; j &lt; 9</a:t>
            </a:r>
            <a:endParaRPr lang="zh-TW" altLang="en-US" b="1" dirty="0"/>
          </a:p>
        </p:txBody>
      </p:sp>
      <p:sp>
        <p:nvSpPr>
          <p:cNvPr id="50" name="矩形 49"/>
          <p:cNvSpPr/>
          <p:nvPr/>
        </p:nvSpPr>
        <p:spPr>
          <a:xfrm>
            <a:off x="8212074" y="2914370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 &lt; j &lt; 9</a:t>
            </a:r>
            <a:endParaRPr lang="zh-TW" altLang="en-US" b="1" dirty="0"/>
          </a:p>
        </p:txBody>
      </p:sp>
      <p:sp>
        <p:nvSpPr>
          <p:cNvPr id="51" name="矩形 50"/>
          <p:cNvSpPr/>
          <p:nvPr/>
        </p:nvSpPr>
        <p:spPr>
          <a:xfrm>
            <a:off x="6977461" y="3719158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 &lt; j &lt; 6</a:t>
            </a:r>
            <a:endParaRPr lang="zh-TW" altLang="en-US" b="1" dirty="0"/>
          </a:p>
        </p:txBody>
      </p:sp>
      <p:sp>
        <p:nvSpPr>
          <p:cNvPr id="52" name="矩形 51"/>
          <p:cNvSpPr/>
          <p:nvPr/>
        </p:nvSpPr>
        <p:spPr>
          <a:xfrm>
            <a:off x="6970565" y="4139632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 &lt; j &lt; 5</a:t>
            </a:r>
            <a:endParaRPr lang="zh-TW" altLang="en-US" b="1" dirty="0"/>
          </a:p>
        </p:txBody>
      </p:sp>
      <p:sp>
        <p:nvSpPr>
          <p:cNvPr id="53" name="矩形 52"/>
          <p:cNvSpPr/>
          <p:nvPr/>
        </p:nvSpPr>
        <p:spPr>
          <a:xfrm>
            <a:off x="6948646" y="2404066"/>
            <a:ext cx="1490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Low &lt; j &lt; high</a:t>
            </a:r>
            <a:endParaRPr lang="zh-TW" altLang="en-US" b="1" dirty="0"/>
          </a:p>
        </p:txBody>
      </p:sp>
      <p:sp>
        <p:nvSpPr>
          <p:cNvPr id="54" name="橢圓 53"/>
          <p:cNvSpPr/>
          <p:nvPr/>
        </p:nvSpPr>
        <p:spPr>
          <a:xfrm>
            <a:off x="4776536" y="4195780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4232470" y="4658105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>
            <a:off x="3640245" y="5027437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3064181" y="547934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6977462" y="4445365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 &lt; j &lt; 4</a:t>
            </a:r>
            <a:endParaRPr lang="zh-TW" altLang="en-US" b="1" dirty="0"/>
          </a:p>
        </p:txBody>
      </p:sp>
      <p:sp>
        <p:nvSpPr>
          <p:cNvPr id="59" name="矩形 58"/>
          <p:cNvSpPr/>
          <p:nvPr/>
        </p:nvSpPr>
        <p:spPr>
          <a:xfrm>
            <a:off x="8212074" y="4445365"/>
            <a:ext cx="920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 &lt; j &lt; 4</a:t>
            </a:r>
            <a:endParaRPr lang="zh-TW" altLang="en-US" b="1" dirty="0"/>
          </a:p>
        </p:txBody>
      </p:sp>
      <p:cxnSp>
        <p:nvCxnSpPr>
          <p:cNvPr id="61" name="直線單箭頭接點 60"/>
          <p:cNvCxnSpPr>
            <a:stCxn id="58" idx="3"/>
            <a:endCxn id="59" idx="1"/>
          </p:cNvCxnSpPr>
          <p:nvPr/>
        </p:nvCxnSpPr>
        <p:spPr>
          <a:xfrm>
            <a:off x="7897907" y="4630031"/>
            <a:ext cx="31416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7897907" y="3092297"/>
            <a:ext cx="31416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406" y="14888"/>
            <a:ext cx="1792441" cy="205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078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60666"/>
              </p:ext>
            </p:extLst>
          </p:nvPr>
        </p:nvGraphicFramePr>
        <p:xfrm>
          <a:off x="6803000" y="3186216"/>
          <a:ext cx="226774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972"/>
                <a:gridCol w="251972"/>
                <a:gridCol w="251972"/>
                <a:gridCol w="251972"/>
                <a:gridCol w="251972"/>
                <a:gridCol w="251972"/>
                <a:gridCol w="251972"/>
                <a:gridCol w="251972"/>
                <a:gridCol w="251972"/>
              </a:tblGrid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317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152628"/>
              </p:ext>
            </p:extLst>
          </p:nvPr>
        </p:nvGraphicFramePr>
        <p:xfrm>
          <a:off x="497045" y="2035540"/>
          <a:ext cx="5760640" cy="424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424847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847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 flipV="1">
            <a:off x="1649173" y="3691724"/>
            <a:ext cx="0" cy="2592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649173" y="371915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225237" y="2899636"/>
            <a:ext cx="0" cy="8195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225237" y="2899636"/>
            <a:ext cx="40324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2225237" y="4987868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225237" y="498786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2801301" y="3719158"/>
            <a:ext cx="0" cy="1268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801301" y="3719158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953429" y="3309398"/>
            <a:ext cx="0" cy="4097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953429" y="3309397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6" idx="3"/>
          </p:cNvCxnSpPr>
          <p:nvPr/>
        </p:nvCxnSpPr>
        <p:spPr>
          <a:xfrm flipH="1">
            <a:off x="4529493" y="4159775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29493" y="4195780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H="1">
            <a:off x="3953429" y="4567240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953429" y="4567240"/>
            <a:ext cx="0" cy="420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H="1">
            <a:off x="3377365" y="498786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3377365" y="4987868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2801301" y="5419916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801301" y="5419916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V="1">
            <a:off x="4529493" y="5851964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4529493" y="5851964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5105557" y="4987868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5105557" y="498786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V="1">
            <a:off x="5681621" y="5851964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5681621" y="5851964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2225237" y="289963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649173" y="371915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1073109" y="2517882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474832" y="1532344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    1          2         3        4         5         6         7          8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11037" y="204288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11037" y="25178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11037" y="291437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38" name="矩形 37"/>
          <p:cNvSpPr/>
          <p:nvPr/>
        </p:nvSpPr>
        <p:spPr>
          <a:xfrm>
            <a:off x="11037" y="33498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11037" y="38264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11037" y="418648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41" name="矩形 40"/>
          <p:cNvSpPr/>
          <p:nvPr/>
        </p:nvSpPr>
        <p:spPr>
          <a:xfrm>
            <a:off x="11891" y="461853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11891" y="50505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43" name="矩形 42"/>
          <p:cNvSpPr/>
          <p:nvPr/>
        </p:nvSpPr>
        <p:spPr>
          <a:xfrm>
            <a:off x="11891" y="548263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44" name="矩形 43"/>
          <p:cNvSpPr/>
          <p:nvPr/>
        </p:nvSpPr>
        <p:spPr>
          <a:xfrm>
            <a:off x="11891" y="591468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45" name="橢圓 44"/>
          <p:cNvSpPr/>
          <p:nvPr/>
        </p:nvSpPr>
        <p:spPr>
          <a:xfrm>
            <a:off x="3953429" y="335768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2801301" y="3791701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2200085" y="507865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513656" y="4195780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3969590" y="4658105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/>
          <p:cNvSpPr/>
          <p:nvPr/>
        </p:nvSpPr>
        <p:spPr>
          <a:xfrm>
            <a:off x="3377365" y="5027437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橢圓 50"/>
          <p:cNvSpPr/>
          <p:nvPr/>
        </p:nvSpPr>
        <p:spPr>
          <a:xfrm>
            <a:off x="2801301" y="5479348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6257685" y="3571028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K=1</a:t>
            </a:r>
            <a:endParaRPr lang="zh-TW" altLang="en-US" b="1" dirty="0"/>
          </a:p>
        </p:txBody>
      </p:sp>
      <p:sp>
        <p:nvSpPr>
          <p:cNvPr id="53" name="矩形 52"/>
          <p:cNvSpPr/>
          <p:nvPr/>
        </p:nvSpPr>
        <p:spPr>
          <a:xfrm>
            <a:off x="6257685" y="3928764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K=2</a:t>
            </a:r>
            <a:endParaRPr lang="zh-TW" altLang="en-US" b="1" dirty="0"/>
          </a:p>
        </p:txBody>
      </p:sp>
      <p:sp>
        <p:nvSpPr>
          <p:cNvPr id="54" name="矩形 53"/>
          <p:cNvSpPr/>
          <p:nvPr/>
        </p:nvSpPr>
        <p:spPr>
          <a:xfrm>
            <a:off x="6280472" y="4298096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K=3</a:t>
            </a:r>
            <a:endParaRPr lang="zh-TW" altLang="en-US" b="1" dirty="0"/>
          </a:p>
        </p:txBody>
      </p:sp>
      <p:sp>
        <p:nvSpPr>
          <p:cNvPr id="55" name="矩形 54"/>
          <p:cNvSpPr/>
          <p:nvPr/>
        </p:nvSpPr>
        <p:spPr>
          <a:xfrm>
            <a:off x="6257684" y="4648556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K=4</a:t>
            </a:r>
            <a:endParaRPr lang="zh-TW" altLang="en-US" b="1" dirty="0"/>
          </a:p>
        </p:txBody>
      </p:sp>
      <p:sp>
        <p:nvSpPr>
          <p:cNvPr id="56" name="矩形 55"/>
          <p:cNvSpPr/>
          <p:nvPr/>
        </p:nvSpPr>
        <p:spPr>
          <a:xfrm>
            <a:off x="6281046" y="5050584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K=5</a:t>
            </a:r>
            <a:endParaRPr lang="zh-TW" altLang="en-US" b="1" dirty="0"/>
          </a:p>
        </p:txBody>
      </p:sp>
      <p:sp>
        <p:nvSpPr>
          <p:cNvPr id="57" name="矩形 56"/>
          <p:cNvSpPr/>
          <p:nvPr/>
        </p:nvSpPr>
        <p:spPr>
          <a:xfrm>
            <a:off x="6660233" y="2816884"/>
            <a:ext cx="248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/>
              <a:t> </a:t>
            </a:r>
            <a:r>
              <a:rPr lang="en-US" altLang="zh-TW" b="1" dirty="0" smtClean="0"/>
              <a:t>A:   A  G  C  T  G  A   C  G  </a:t>
            </a:r>
            <a:endParaRPr lang="zh-TW" altLang="en-US" b="1" dirty="0"/>
          </a:p>
        </p:txBody>
      </p:sp>
      <p:sp>
        <p:nvSpPr>
          <p:cNvPr id="58" name="橢圓 57"/>
          <p:cNvSpPr/>
          <p:nvPr/>
        </p:nvSpPr>
        <p:spPr>
          <a:xfrm>
            <a:off x="5105557" y="5059122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4513823" y="5914680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5681621" y="5888456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/>
          <p:cNvCxnSpPr/>
          <p:nvPr/>
        </p:nvCxnSpPr>
        <p:spPr>
          <a:xfrm flipV="1">
            <a:off x="5681621" y="4567240"/>
            <a:ext cx="0" cy="404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>
            <a:off x="5681621" y="4555820"/>
            <a:ext cx="576063" cy="11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5681621" y="4636205"/>
            <a:ext cx="313184" cy="3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99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ALGE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205122"/>
              </p:ext>
            </p:extLst>
          </p:nvPr>
        </p:nvGraphicFramePr>
        <p:xfrm>
          <a:off x="1403648" y="1556792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</a:rPr>
                        <a:t>B: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</a:rPr>
                        <a:t>A: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9608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2483768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996208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563888" y="2204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067944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44008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724128" y="25397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067944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611266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148064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6228184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149612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740102" y="522920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6804248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804248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endCxn id="11" idx="1"/>
          </p:cNvCxnSpPr>
          <p:nvPr/>
        </p:nvCxnSpPr>
        <p:spPr>
          <a:xfrm>
            <a:off x="3743908" y="2539752"/>
            <a:ext cx="952827" cy="7222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endCxn id="16" idx="1"/>
          </p:cNvCxnSpPr>
          <p:nvPr/>
        </p:nvCxnSpPr>
        <p:spPr>
          <a:xfrm>
            <a:off x="6031441" y="2769435"/>
            <a:ext cx="249470" cy="4925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8" idx="0"/>
          </p:cNvCxnSpPr>
          <p:nvPr/>
        </p:nvCxnSpPr>
        <p:spPr>
          <a:xfrm>
            <a:off x="2791081" y="3547864"/>
            <a:ext cx="385147" cy="6732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endCxn id="7" idx="1"/>
          </p:cNvCxnSpPr>
          <p:nvPr/>
        </p:nvCxnSpPr>
        <p:spPr>
          <a:xfrm>
            <a:off x="2123728" y="2132856"/>
            <a:ext cx="412767" cy="11291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0" idx="5"/>
            <a:endCxn id="14" idx="1"/>
          </p:cNvCxnSpPr>
          <p:nvPr/>
        </p:nvCxnSpPr>
        <p:spPr>
          <a:xfrm>
            <a:off x="4375257" y="3833709"/>
            <a:ext cx="288736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7" idx="5"/>
            <a:endCxn id="18" idx="1"/>
          </p:cNvCxnSpPr>
          <p:nvPr/>
        </p:nvCxnSpPr>
        <p:spPr>
          <a:xfrm>
            <a:off x="5456925" y="4841821"/>
            <a:ext cx="335904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6269813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15" idx="5"/>
          </p:cNvCxnSpPr>
          <p:nvPr/>
        </p:nvCxnSpPr>
        <p:spPr>
          <a:xfrm>
            <a:off x="5455377" y="3833709"/>
            <a:ext cx="814436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87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9737954"/>
              </p:ext>
            </p:extLst>
          </p:nvPr>
        </p:nvGraphicFramePr>
        <p:xfrm>
          <a:off x="651423" y="2709061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96144" y="1859906"/>
            <a:ext cx="1213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/>
              <a:t>假設 </a:t>
            </a:r>
            <a:r>
              <a:rPr lang="en-US" altLang="zh-TW" b="1" dirty="0" smtClean="0"/>
              <a:t>h =  6</a:t>
            </a:r>
            <a:endParaRPr lang="zh-TW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6608099" y="2883283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0  0  0  0  0  0  0</a:t>
            </a:r>
            <a:endParaRPr lang="zh-TW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6566420" y="3240049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0  0  0  0  0  0  0</a:t>
            </a:r>
            <a:endParaRPr lang="zh-TW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6588627" y="2513951"/>
            <a:ext cx="206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 </a:t>
            </a:r>
            <a:r>
              <a:rPr lang="en-US" altLang="zh-TW" b="1" dirty="0" smtClean="0"/>
              <a:t>       0  </a:t>
            </a:r>
            <a:r>
              <a:rPr lang="en-US" altLang="zh-TW" b="1" dirty="0"/>
              <a:t>1</a:t>
            </a:r>
            <a:r>
              <a:rPr lang="en-US" altLang="zh-TW" b="1" dirty="0" smtClean="0"/>
              <a:t>  </a:t>
            </a:r>
            <a:r>
              <a:rPr lang="en-US" altLang="zh-TW" b="1" dirty="0"/>
              <a:t>2</a:t>
            </a:r>
            <a:r>
              <a:rPr lang="en-US" altLang="zh-TW" b="1" dirty="0" smtClean="0"/>
              <a:t>  </a:t>
            </a:r>
            <a:r>
              <a:rPr lang="en-US" altLang="zh-TW" b="1" dirty="0"/>
              <a:t>3</a:t>
            </a:r>
            <a:r>
              <a:rPr lang="en-US" altLang="zh-TW" b="1" dirty="0" smtClean="0"/>
              <a:t>  </a:t>
            </a:r>
            <a:r>
              <a:rPr lang="en-US" altLang="zh-TW" b="1" dirty="0"/>
              <a:t>4</a:t>
            </a:r>
            <a:r>
              <a:rPr lang="en-US" altLang="zh-TW" b="1" dirty="0" smtClean="0"/>
              <a:t>  </a:t>
            </a:r>
            <a:r>
              <a:rPr lang="en-US" altLang="zh-TW" b="1" dirty="0"/>
              <a:t>5</a:t>
            </a:r>
            <a:r>
              <a:rPr lang="en-US" altLang="zh-TW" b="1" dirty="0" smtClean="0"/>
              <a:t>  </a:t>
            </a:r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1149898" y="30464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6677255" y="3622493"/>
            <a:ext cx="9605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=0</a:t>
            </a:r>
          </a:p>
          <a:p>
            <a:r>
              <a:rPr lang="en-US" altLang="zh-TW" b="1" dirty="0" err="1" smtClean="0"/>
              <a:t>jmin</a:t>
            </a:r>
            <a:r>
              <a:rPr lang="en-US" altLang="zh-TW" b="1" dirty="0" smtClean="0"/>
              <a:t>=10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677255" y="4259076"/>
                <a:ext cx="208217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1" dirty="0" smtClean="0"/>
                  <a:t>h = 0</a:t>
                </a:r>
              </a:p>
              <a:p>
                <a:r>
                  <a:rPr lang="en-US" altLang="zh-TW" b="1" dirty="0" err="1" smtClean="0"/>
                  <a:t>i</a:t>
                </a:r>
                <a:r>
                  <a:rPr lang="en-US" altLang="zh-TW" b="1" dirty="0" smtClean="0"/>
                  <a:t>=</a:t>
                </a:r>
                <a:r>
                  <a:rPr lang="en-US" altLang="zh-TW" b="1" dirty="0" err="1" smtClean="0"/>
                  <a:t>h+k</a:t>
                </a:r>
                <a:r>
                  <a:rPr lang="en-US" altLang="zh-TW" b="1" dirty="0" smtClean="0"/>
                  <a:t>=1</a:t>
                </a:r>
              </a:p>
              <a:p>
                <a:r>
                  <a:rPr lang="en-US" altLang="zh-TW" b="1" dirty="0" smtClean="0"/>
                  <a:t>j=</a:t>
                </a:r>
                <a:r>
                  <a:rPr lang="en-US" altLang="zh-TW" b="1" dirty="0" err="1" smtClean="0"/>
                  <a:t>nextB</a:t>
                </a:r>
                <a:r>
                  <a:rPr lang="en-US" altLang="zh-TW" b="1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TW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TW" b="1" i="1" smtClean="0">
                        <a:latin typeface="Cambria Math"/>
                      </a:rPr>
                      <m:t>,</m:t>
                    </m:r>
                    <m:r>
                      <a:rPr lang="en-US" altLang="zh-TW" b="1" i="1" smtClean="0">
                        <a:latin typeface="Cambria Math"/>
                      </a:rPr>
                      <m:t>𝑮</m:t>
                    </m:r>
                    <m:r>
                      <a:rPr lang="en-US" altLang="zh-TW" b="1" i="1" smtClean="0">
                        <a:latin typeface="Cambria Math"/>
                      </a:rPr>
                      <m:t>(</m:t>
                    </m:r>
                    <m:r>
                      <a:rPr lang="en-US" altLang="zh-TW" b="1" i="1" smtClean="0">
                        <a:latin typeface="Cambria Math"/>
                      </a:rPr>
                      <m:t>𝒉</m:t>
                    </m:r>
                    <m:r>
                      <a:rPr lang="en-US" altLang="zh-TW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b="1" dirty="0" smtClean="0"/>
                  <a:t>)=3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255" y="4259076"/>
                <a:ext cx="2082173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2339" t="-3311" r="-1754" b="-99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225396"/>
              </p:ext>
            </p:extLst>
          </p:nvPr>
        </p:nvGraphicFramePr>
        <p:xfrm>
          <a:off x="1907704" y="68968"/>
          <a:ext cx="6033889" cy="221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/>
                <a:gridCol w="360040"/>
                <a:gridCol w="360040"/>
                <a:gridCol w="427120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</a:tblGrid>
              <a:tr h="384374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nextb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707196" y="2329285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</a:t>
            </a:r>
            <a:r>
              <a:rPr lang="en-US" altLang="zh-TW" b="1" dirty="0" smtClean="0"/>
              <a:t>1         </a:t>
            </a:r>
            <a:r>
              <a:rPr lang="en-US" altLang="zh-TW" b="1" dirty="0" smtClean="0"/>
              <a:t>2         3        4      </a:t>
            </a:r>
            <a:r>
              <a:rPr lang="en-US" altLang="zh-TW" b="1" dirty="0" smtClean="0"/>
              <a:t> </a:t>
            </a:r>
            <a:r>
              <a:rPr lang="en-US" altLang="zh-TW" b="1" dirty="0" smtClean="0"/>
              <a:t>5        </a:t>
            </a:r>
            <a:r>
              <a:rPr lang="en-US" altLang="zh-TW" b="1" dirty="0" smtClean="0"/>
              <a:t>6        </a:t>
            </a:r>
            <a:r>
              <a:rPr lang="en-US" altLang="zh-TW" b="1" dirty="0" smtClean="0"/>
              <a:t>7        </a:t>
            </a:r>
            <a:r>
              <a:rPr lang="en-US" altLang="zh-TW" b="1" dirty="0" smtClean="0"/>
              <a:t>8        9</a:t>
            </a:r>
            <a:endParaRPr lang="zh-TW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296144" y="257145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296144" y="30464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296144" y="34157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296144" y="3693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296144" y="39856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318586" y="43457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296144" y="469106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296998" y="506039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318586" y="540797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318586" y="576469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296998" y="606179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9</a:t>
            </a:r>
            <a:endParaRPr lang="zh-TW" altLang="en-US" b="1" dirty="0"/>
          </a:p>
        </p:txBody>
      </p:sp>
      <p:sp>
        <p:nvSpPr>
          <p:cNvPr id="27" name="矩形 26"/>
          <p:cNvSpPr/>
          <p:nvPr/>
        </p:nvSpPr>
        <p:spPr>
          <a:xfrm>
            <a:off x="291576" y="639116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10</a:t>
            </a:r>
            <a:endParaRPr lang="zh-TW" altLang="en-US" b="1" dirty="0"/>
          </a:p>
        </p:txBody>
      </p:sp>
      <p:sp>
        <p:nvSpPr>
          <p:cNvPr id="28" name="橢圓 27"/>
          <p:cNvSpPr/>
          <p:nvPr/>
        </p:nvSpPr>
        <p:spPr>
          <a:xfrm>
            <a:off x="2771800" y="3410849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6673214" y="5153306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1  0  0  0  0  0  0</a:t>
            </a:r>
            <a:endParaRPr lang="zh-TW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6677255" y="5523943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3  0  0  0  0  0  0</a:t>
            </a:r>
            <a:endParaRPr lang="zh-TW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6743692" y="5862611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=1</a:t>
            </a:r>
          </a:p>
          <a:p>
            <a:r>
              <a:rPr lang="en-US" altLang="zh-TW" b="1" dirty="0" err="1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=3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33683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12</a:t>
            </a:fld>
            <a:endParaRPr lang="zh-TW" altLang="en-US" dirty="0"/>
          </a:p>
        </p:txBody>
      </p:sp>
      <p:graphicFrame>
        <p:nvGraphicFramePr>
          <p:cNvPr id="21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3447185"/>
              </p:ext>
            </p:extLst>
          </p:nvPr>
        </p:nvGraphicFramePr>
        <p:xfrm>
          <a:off x="651423" y="2709061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橢圓 21"/>
          <p:cNvSpPr/>
          <p:nvPr/>
        </p:nvSpPr>
        <p:spPr>
          <a:xfrm>
            <a:off x="1149898" y="30464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707196" y="2329285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</a:t>
            </a:r>
            <a:r>
              <a:rPr lang="en-US" altLang="zh-TW" b="1" dirty="0" smtClean="0"/>
              <a:t>1         </a:t>
            </a:r>
            <a:r>
              <a:rPr lang="en-US" altLang="zh-TW" b="1" dirty="0" smtClean="0"/>
              <a:t>2         3        4      </a:t>
            </a:r>
            <a:r>
              <a:rPr lang="en-US" altLang="zh-TW" b="1" dirty="0" smtClean="0"/>
              <a:t> </a:t>
            </a:r>
            <a:r>
              <a:rPr lang="en-US" altLang="zh-TW" b="1" dirty="0" smtClean="0"/>
              <a:t>5        </a:t>
            </a:r>
            <a:r>
              <a:rPr lang="en-US" altLang="zh-TW" b="1" dirty="0" smtClean="0"/>
              <a:t>6        </a:t>
            </a:r>
            <a:r>
              <a:rPr lang="en-US" altLang="zh-TW" b="1" dirty="0" smtClean="0"/>
              <a:t>7        </a:t>
            </a:r>
            <a:r>
              <a:rPr lang="en-US" altLang="zh-TW" b="1" dirty="0" smtClean="0"/>
              <a:t>8        9</a:t>
            </a:r>
            <a:endParaRPr lang="zh-TW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296144" y="257145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296144" y="30464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296144" y="34157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27" name="矩形 26"/>
          <p:cNvSpPr/>
          <p:nvPr/>
        </p:nvSpPr>
        <p:spPr>
          <a:xfrm>
            <a:off x="296144" y="3693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28" name="矩形 27"/>
          <p:cNvSpPr/>
          <p:nvPr/>
        </p:nvSpPr>
        <p:spPr>
          <a:xfrm>
            <a:off x="296144" y="39856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29" name="矩形 28"/>
          <p:cNvSpPr/>
          <p:nvPr/>
        </p:nvSpPr>
        <p:spPr>
          <a:xfrm>
            <a:off x="318586" y="43457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296144" y="469106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296998" y="506039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318586" y="540797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33" name="矩形 32"/>
          <p:cNvSpPr/>
          <p:nvPr/>
        </p:nvSpPr>
        <p:spPr>
          <a:xfrm>
            <a:off x="318586" y="576469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34" name="矩形 33"/>
          <p:cNvSpPr/>
          <p:nvPr/>
        </p:nvSpPr>
        <p:spPr>
          <a:xfrm>
            <a:off x="296998" y="606179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9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291576" y="639116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10</a:t>
            </a:r>
            <a:endParaRPr lang="zh-TW" altLang="en-US" b="1" dirty="0"/>
          </a:p>
        </p:txBody>
      </p:sp>
      <p:sp>
        <p:nvSpPr>
          <p:cNvPr id="36" name="橢圓 35"/>
          <p:cNvSpPr/>
          <p:nvPr/>
        </p:nvSpPr>
        <p:spPr>
          <a:xfrm>
            <a:off x="2771800" y="3410849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7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7069680"/>
              </p:ext>
            </p:extLst>
          </p:nvPr>
        </p:nvGraphicFramePr>
        <p:xfrm>
          <a:off x="1149898" y="116111"/>
          <a:ext cx="6033889" cy="221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/>
                <a:gridCol w="360040"/>
                <a:gridCol w="360040"/>
                <a:gridCol w="427120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</a:tblGrid>
              <a:tr h="384374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nextb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矩形 37"/>
          <p:cNvSpPr/>
          <p:nvPr/>
        </p:nvSpPr>
        <p:spPr>
          <a:xfrm>
            <a:off x="6743692" y="2571452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1  0  0  0  0  0  0</a:t>
            </a:r>
            <a:endParaRPr lang="zh-TW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6747733" y="2942089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3  0  0  0  0  0  0</a:t>
            </a:r>
            <a:endParaRPr lang="zh-TW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6814170" y="3280757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=1</a:t>
            </a:r>
          </a:p>
          <a:p>
            <a:r>
              <a:rPr lang="en-US" altLang="zh-TW" b="1" dirty="0" err="1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=3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/>
              <p:cNvSpPr/>
              <p:nvPr/>
            </p:nvSpPr>
            <p:spPr>
              <a:xfrm>
                <a:off x="6825126" y="3970949"/>
                <a:ext cx="208217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1" dirty="0" smtClean="0"/>
                  <a:t>h = 1</a:t>
                </a:r>
              </a:p>
              <a:p>
                <a:r>
                  <a:rPr lang="en-US" altLang="zh-TW" b="1" dirty="0" err="1" smtClean="0"/>
                  <a:t>i</a:t>
                </a:r>
                <a:r>
                  <a:rPr lang="en-US" altLang="zh-TW" b="1" dirty="0" smtClean="0"/>
                  <a:t>=1+1=2</a:t>
                </a:r>
              </a:p>
              <a:p>
                <a:r>
                  <a:rPr lang="en-US" altLang="zh-TW" b="1" dirty="0" smtClean="0"/>
                  <a:t>j=</a:t>
                </a:r>
                <a:r>
                  <a:rPr lang="en-US" altLang="zh-TW" b="1" dirty="0" err="1" smtClean="0"/>
                  <a:t>nextB</a:t>
                </a:r>
                <a:r>
                  <a:rPr lang="en-US" altLang="zh-TW" b="1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TW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TW" b="1" i="1" smtClean="0">
                        <a:latin typeface="Cambria Math"/>
                      </a:rPr>
                      <m:t>,</m:t>
                    </m:r>
                    <m:r>
                      <a:rPr lang="en-US" altLang="zh-TW" b="1" i="1" smtClean="0">
                        <a:latin typeface="Cambria Math"/>
                      </a:rPr>
                      <m:t>𝑮</m:t>
                    </m:r>
                    <m:r>
                      <a:rPr lang="en-US" altLang="zh-TW" b="1" i="1" smtClean="0">
                        <a:latin typeface="Cambria Math"/>
                      </a:rPr>
                      <m:t>(</m:t>
                    </m:r>
                    <m:r>
                      <a:rPr lang="en-US" altLang="zh-TW" b="1" i="1" smtClean="0">
                        <a:latin typeface="Cambria Math"/>
                      </a:rPr>
                      <m:t>𝒉</m:t>
                    </m:r>
                    <m:r>
                      <a:rPr lang="en-US" altLang="zh-TW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b="1" dirty="0" smtClean="0"/>
                  <a:t>)=7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126" y="3970949"/>
                <a:ext cx="2082173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2639" t="-3289" r="-1760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/>
          <p:cNvSpPr/>
          <p:nvPr/>
        </p:nvSpPr>
        <p:spPr>
          <a:xfrm>
            <a:off x="6850372" y="4852674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1  1  0  0  0  0  0</a:t>
            </a:r>
            <a:endParaRPr lang="zh-TW" altLang="en-US" b="1" dirty="0"/>
          </a:p>
        </p:txBody>
      </p:sp>
      <p:sp>
        <p:nvSpPr>
          <p:cNvPr id="45" name="矩形 44"/>
          <p:cNvSpPr/>
          <p:nvPr/>
        </p:nvSpPr>
        <p:spPr>
          <a:xfrm>
            <a:off x="6808693" y="5223311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3  3  0  0  0  0  0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30125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13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6825126" y="3970949"/>
                <a:ext cx="180972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1" dirty="0" smtClean="0"/>
                  <a:t>h = 3</a:t>
                </a:r>
              </a:p>
              <a:p>
                <a:r>
                  <a:rPr lang="en-US" altLang="zh-TW" b="1" dirty="0" err="1" smtClean="0"/>
                  <a:t>i</a:t>
                </a:r>
                <a:r>
                  <a:rPr lang="en-US" altLang="zh-TW" b="1" dirty="0" smtClean="0"/>
                  <a:t>=4</a:t>
                </a:r>
              </a:p>
              <a:p>
                <a:r>
                  <a:rPr lang="en-US" altLang="zh-TW" b="1" dirty="0" smtClean="0"/>
                  <a:t>j=</a:t>
                </a:r>
                <a:r>
                  <a:rPr lang="en-US" altLang="zh-TW" b="1" dirty="0" err="1" smtClean="0"/>
                  <a:t>nextB</a:t>
                </a:r>
                <a:r>
                  <a:rPr lang="en-US" altLang="zh-TW" b="1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/>
                      </a:rPr>
                      <m:t>𝑨</m:t>
                    </m:r>
                    <m:r>
                      <a:rPr lang="en-US" altLang="zh-TW" b="1" i="1" smtClean="0">
                        <a:latin typeface="Cambria Math"/>
                      </a:rPr>
                      <m:t>,</m:t>
                    </m:r>
                    <m:r>
                      <a:rPr lang="en-US" altLang="zh-TW" b="1" i="1" smtClean="0">
                        <a:latin typeface="Cambria Math"/>
                      </a:rPr>
                      <m:t>𝟎</m:t>
                    </m:r>
                    <m:r>
                      <a:rPr lang="en-US" altLang="zh-TW" b="1" i="1" smtClean="0">
                        <a:latin typeface="Cambria Math"/>
                      </a:rPr>
                      <m:t>)=</m:t>
                    </m:r>
                  </m:oMath>
                </a14:m>
                <a:r>
                  <a:rPr lang="en-US" altLang="zh-TW" b="1" dirty="0" smtClean="0"/>
                  <a:t>1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126" y="3970949"/>
                <a:ext cx="1809726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3041" t="-3289" r="-2027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6850372" y="4852674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1  1  1  </a:t>
            </a:r>
            <a:r>
              <a:rPr lang="en-US" altLang="zh-TW" b="1" dirty="0"/>
              <a:t>4</a:t>
            </a:r>
            <a:r>
              <a:rPr lang="en-US" altLang="zh-TW" b="1" dirty="0" smtClean="0"/>
              <a:t>  0  0  0</a:t>
            </a:r>
            <a:endParaRPr lang="zh-TW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6808693" y="5223311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3  3  3  1  0  0  0</a:t>
            </a:r>
            <a:endParaRPr lang="zh-TW" altLang="en-US" b="1" dirty="0"/>
          </a:p>
        </p:txBody>
      </p:sp>
      <p:graphicFrame>
        <p:nvGraphicFramePr>
          <p:cNvPr id="8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658477"/>
              </p:ext>
            </p:extLst>
          </p:nvPr>
        </p:nvGraphicFramePr>
        <p:xfrm>
          <a:off x="651423" y="2709061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橢圓 8"/>
          <p:cNvSpPr/>
          <p:nvPr/>
        </p:nvSpPr>
        <p:spPr>
          <a:xfrm>
            <a:off x="1149898" y="30464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07196" y="2329285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</a:t>
            </a:r>
            <a:r>
              <a:rPr lang="en-US" altLang="zh-TW" b="1" dirty="0" smtClean="0"/>
              <a:t>1         </a:t>
            </a:r>
            <a:r>
              <a:rPr lang="en-US" altLang="zh-TW" b="1" dirty="0" smtClean="0"/>
              <a:t>2         3        4      </a:t>
            </a:r>
            <a:r>
              <a:rPr lang="en-US" altLang="zh-TW" b="1" dirty="0" smtClean="0"/>
              <a:t> </a:t>
            </a:r>
            <a:r>
              <a:rPr lang="en-US" altLang="zh-TW" b="1" dirty="0" smtClean="0"/>
              <a:t>5        </a:t>
            </a:r>
            <a:r>
              <a:rPr lang="en-US" altLang="zh-TW" b="1" dirty="0" smtClean="0"/>
              <a:t>6        </a:t>
            </a:r>
            <a:r>
              <a:rPr lang="en-US" altLang="zh-TW" b="1" dirty="0" smtClean="0"/>
              <a:t>7        </a:t>
            </a:r>
            <a:r>
              <a:rPr lang="en-US" altLang="zh-TW" b="1" dirty="0" smtClean="0"/>
              <a:t>8        9</a:t>
            </a:r>
            <a:endParaRPr lang="zh-TW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296144" y="257145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296144" y="30464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296144" y="34157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296144" y="3693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296144" y="39856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318586" y="43457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296144" y="469106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296998" y="506039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318586" y="540797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318586" y="576469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296998" y="606179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9</a:t>
            </a:r>
            <a:endParaRPr lang="zh-TW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291576" y="639116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10</a:t>
            </a:r>
            <a:endParaRPr lang="zh-TW" altLang="en-US" b="1" dirty="0"/>
          </a:p>
        </p:txBody>
      </p:sp>
      <p:sp>
        <p:nvSpPr>
          <p:cNvPr id="23" name="橢圓 22"/>
          <p:cNvSpPr/>
          <p:nvPr/>
        </p:nvSpPr>
        <p:spPr>
          <a:xfrm>
            <a:off x="2771800" y="3410849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708283"/>
              </p:ext>
            </p:extLst>
          </p:nvPr>
        </p:nvGraphicFramePr>
        <p:xfrm>
          <a:off x="1149898" y="116111"/>
          <a:ext cx="6033889" cy="221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/>
                <a:gridCol w="360040"/>
                <a:gridCol w="360040"/>
                <a:gridCol w="427120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</a:tblGrid>
              <a:tr h="384374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nextb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6814170" y="3280757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=1</a:t>
            </a:r>
          </a:p>
          <a:p>
            <a:r>
              <a:rPr lang="en-US" altLang="zh-TW" b="1" dirty="0" err="1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=3</a:t>
            </a:r>
            <a:endParaRPr lang="zh-TW" altLang="en-US" b="1" dirty="0"/>
          </a:p>
        </p:txBody>
      </p:sp>
      <p:sp>
        <p:nvSpPr>
          <p:cNvPr id="26" name="橢圓 25"/>
          <p:cNvSpPr/>
          <p:nvPr/>
        </p:nvSpPr>
        <p:spPr>
          <a:xfrm>
            <a:off x="1691680" y="438017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6855579" y="5626193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=4</a:t>
            </a:r>
          </a:p>
          <a:p>
            <a:r>
              <a:rPr lang="en-US" altLang="zh-TW" b="1" dirty="0" err="1" smtClean="0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=1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53812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14</a:t>
            </a:fld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4874280"/>
              </p:ext>
            </p:extLst>
          </p:nvPr>
        </p:nvGraphicFramePr>
        <p:xfrm>
          <a:off x="651423" y="2709061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橢圓 5"/>
          <p:cNvSpPr/>
          <p:nvPr/>
        </p:nvSpPr>
        <p:spPr>
          <a:xfrm>
            <a:off x="1149898" y="30464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07196" y="2329285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</a:t>
            </a:r>
            <a:r>
              <a:rPr lang="en-US" altLang="zh-TW" b="1" dirty="0" smtClean="0"/>
              <a:t>1         </a:t>
            </a:r>
            <a:r>
              <a:rPr lang="en-US" altLang="zh-TW" b="1" dirty="0" smtClean="0"/>
              <a:t>2         3        4      </a:t>
            </a:r>
            <a:r>
              <a:rPr lang="en-US" altLang="zh-TW" b="1" dirty="0" smtClean="0"/>
              <a:t> </a:t>
            </a:r>
            <a:r>
              <a:rPr lang="en-US" altLang="zh-TW" b="1" dirty="0" smtClean="0"/>
              <a:t>5        </a:t>
            </a:r>
            <a:r>
              <a:rPr lang="en-US" altLang="zh-TW" b="1" dirty="0" smtClean="0"/>
              <a:t>6        </a:t>
            </a:r>
            <a:r>
              <a:rPr lang="en-US" altLang="zh-TW" b="1" dirty="0" smtClean="0"/>
              <a:t>7        </a:t>
            </a:r>
            <a:r>
              <a:rPr lang="en-US" altLang="zh-TW" b="1" dirty="0" smtClean="0"/>
              <a:t>8        9</a:t>
            </a:r>
            <a:endParaRPr lang="zh-TW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296144" y="257145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296144" y="30464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296144" y="34157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296144" y="3693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296144" y="39856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318586" y="43457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296144" y="469106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296998" y="506039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318586" y="540797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18586" y="576469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296998" y="606179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9</a:t>
            </a:r>
            <a:endParaRPr lang="zh-TW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291576" y="639116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10</a:t>
            </a:r>
            <a:endParaRPr lang="zh-TW" altLang="en-US" b="1" dirty="0"/>
          </a:p>
        </p:txBody>
      </p:sp>
      <p:sp>
        <p:nvSpPr>
          <p:cNvPr id="20" name="橢圓 19"/>
          <p:cNvSpPr/>
          <p:nvPr/>
        </p:nvSpPr>
        <p:spPr>
          <a:xfrm>
            <a:off x="2771800" y="3410849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691680" y="438017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6825126" y="3970949"/>
                <a:ext cx="1812932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1" dirty="0" smtClean="0"/>
                  <a:t>h = 0</a:t>
                </a:r>
              </a:p>
              <a:p>
                <a:r>
                  <a:rPr lang="en-US" altLang="zh-TW" b="1" dirty="0" err="1" smtClean="0"/>
                  <a:t>i</a:t>
                </a:r>
                <a:r>
                  <a:rPr lang="en-US" altLang="zh-TW" b="1" dirty="0" smtClean="0"/>
                  <a:t>=2</a:t>
                </a:r>
              </a:p>
              <a:p>
                <a:r>
                  <a:rPr lang="en-US" altLang="zh-TW" b="1" dirty="0" smtClean="0"/>
                  <a:t>j=</a:t>
                </a:r>
                <a:r>
                  <a:rPr lang="en-US" altLang="zh-TW" b="1" dirty="0" err="1" smtClean="0"/>
                  <a:t>nextB</a:t>
                </a:r>
                <a:r>
                  <a:rPr lang="en-US" altLang="zh-TW" b="1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/>
                      </a:rPr>
                      <m:t>𝑮</m:t>
                    </m:r>
                    <m:r>
                      <a:rPr lang="en-US" altLang="zh-TW" b="1" i="1" smtClean="0">
                        <a:latin typeface="Cambria Math"/>
                      </a:rPr>
                      <m:t>,</m:t>
                    </m:r>
                    <m:r>
                      <a:rPr lang="en-US" altLang="zh-TW" b="1" i="1" smtClean="0">
                        <a:latin typeface="Cambria Math"/>
                      </a:rPr>
                      <m:t>𝟑</m:t>
                    </m:r>
                    <m:r>
                      <a:rPr lang="en-US" altLang="zh-TW" b="1" i="1" smtClean="0">
                        <a:latin typeface="Cambria Math"/>
                      </a:rPr>
                      <m:t>)=</m:t>
                    </m:r>
                  </m:oMath>
                </a14:m>
                <a:r>
                  <a:rPr lang="en-US" altLang="zh-TW" b="1" dirty="0" smtClean="0"/>
                  <a:t>7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126" y="3970949"/>
                <a:ext cx="181293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3030" t="-3289" r="-2020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850372" y="4852674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</a:t>
            </a:r>
            <a:r>
              <a:rPr lang="en-US" altLang="zh-TW" b="1" dirty="0" smtClean="0">
                <a:solidFill>
                  <a:srgbClr val="FF0000"/>
                </a:solidFill>
              </a:rPr>
              <a:t>2</a:t>
            </a:r>
            <a:r>
              <a:rPr lang="en-US" altLang="zh-TW" b="1" dirty="0" smtClean="0"/>
              <a:t>  1  1  </a:t>
            </a:r>
            <a:r>
              <a:rPr lang="en-US" altLang="zh-TW" b="1" dirty="0"/>
              <a:t>4</a:t>
            </a:r>
            <a:r>
              <a:rPr lang="en-US" altLang="zh-TW" b="1" dirty="0" smtClean="0"/>
              <a:t>  4  4  4</a:t>
            </a:r>
            <a:endParaRPr lang="zh-TW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6808693" y="5223311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</a:t>
            </a:r>
            <a:r>
              <a:rPr lang="en-US" altLang="zh-TW" b="1" dirty="0" smtClean="0">
                <a:solidFill>
                  <a:srgbClr val="FF0000"/>
                </a:solidFill>
              </a:rPr>
              <a:t>7</a:t>
            </a:r>
            <a:r>
              <a:rPr lang="en-US" altLang="zh-TW" b="1" dirty="0" smtClean="0"/>
              <a:t>  3  3  1  1  1  1</a:t>
            </a:r>
            <a:endParaRPr lang="zh-TW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814170" y="3280757"/>
            <a:ext cx="9605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=0</a:t>
            </a:r>
          </a:p>
          <a:p>
            <a:r>
              <a:rPr lang="en-US" altLang="zh-TW" b="1" dirty="0" err="1" smtClean="0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=10</a:t>
            </a:r>
            <a:endParaRPr lang="zh-TW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6855579" y="5626193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=2</a:t>
            </a:r>
          </a:p>
          <a:p>
            <a:r>
              <a:rPr lang="en-US" altLang="zh-TW" b="1" dirty="0" err="1" smtClean="0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=7</a:t>
            </a:r>
            <a:endParaRPr lang="zh-TW" altLang="en-US" b="1" dirty="0"/>
          </a:p>
        </p:txBody>
      </p:sp>
      <p:graphicFrame>
        <p:nvGraphicFramePr>
          <p:cNvPr id="27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540446"/>
              </p:ext>
            </p:extLst>
          </p:nvPr>
        </p:nvGraphicFramePr>
        <p:xfrm>
          <a:off x="1149898" y="116111"/>
          <a:ext cx="6033889" cy="221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/>
                <a:gridCol w="360040"/>
                <a:gridCol w="360040"/>
                <a:gridCol w="427120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</a:tblGrid>
              <a:tr h="384374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nextb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7502819" y="2336468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K=2</a:t>
            </a:r>
            <a:endParaRPr lang="zh-TW" altLang="en-US" b="1" dirty="0"/>
          </a:p>
        </p:txBody>
      </p:sp>
      <p:sp>
        <p:nvSpPr>
          <p:cNvPr id="29" name="橢圓 28"/>
          <p:cNvSpPr/>
          <p:nvPr/>
        </p:nvSpPr>
        <p:spPr>
          <a:xfrm>
            <a:off x="4932040" y="3730693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/>
          <p:nvPr/>
        </p:nvCxnSpPr>
        <p:spPr>
          <a:xfrm>
            <a:off x="1435529" y="3347353"/>
            <a:ext cx="414489" cy="10134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6923496" y="2674853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1  1  1  </a:t>
            </a:r>
            <a:r>
              <a:rPr lang="en-US" altLang="zh-TW" b="1" dirty="0"/>
              <a:t>4</a:t>
            </a:r>
            <a:r>
              <a:rPr lang="en-US" altLang="zh-TW" b="1" dirty="0" smtClean="0"/>
              <a:t>  4  4  4</a:t>
            </a:r>
            <a:endParaRPr lang="zh-TW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6881817" y="3045490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3  3  3  1  1  1  1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92225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15</a:t>
            </a:fld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2377660"/>
              </p:ext>
            </p:extLst>
          </p:nvPr>
        </p:nvGraphicFramePr>
        <p:xfrm>
          <a:off x="651423" y="2709061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橢圓 5"/>
          <p:cNvSpPr/>
          <p:nvPr/>
        </p:nvSpPr>
        <p:spPr>
          <a:xfrm>
            <a:off x="1149898" y="30464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07196" y="2329285"/>
            <a:ext cx="5805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B         0    </a:t>
            </a:r>
            <a:r>
              <a:rPr lang="en-US" altLang="zh-TW" b="1" dirty="0" smtClean="0"/>
              <a:t>1         </a:t>
            </a:r>
            <a:r>
              <a:rPr lang="en-US" altLang="zh-TW" b="1" dirty="0" smtClean="0"/>
              <a:t>2         3        4      </a:t>
            </a:r>
            <a:r>
              <a:rPr lang="en-US" altLang="zh-TW" b="1" dirty="0" smtClean="0"/>
              <a:t> </a:t>
            </a:r>
            <a:r>
              <a:rPr lang="en-US" altLang="zh-TW" b="1" dirty="0" smtClean="0"/>
              <a:t>5        </a:t>
            </a:r>
            <a:r>
              <a:rPr lang="en-US" altLang="zh-TW" b="1" dirty="0" smtClean="0"/>
              <a:t>6        </a:t>
            </a:r>
            <a:r>
              <a:rPr lang="en-US" altLang="zh-TW" b="1" dirty="0" smtClean="0"/>
              <a:t>7        </a:t>
            </a:r>
            <a:r>
              <a:rPr lang="en-US" altLang="zh-TW" b="1" dirty="0" smtClean="0"/>
              <a:t>8        9</a:t>
            </a:r>
            <a:endParaRPr lang="zh-TW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296144" y="2571452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endParaRPr lang="zh-TW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296144" y="30464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0</a:t>
            </a:r>
            <a:endParaRPr lang="zh-TW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296144" y="34157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296144" y="36937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2</a:t>
            </a:r>
            <a:endParaRPr lang="zh-TW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296144" y="39856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3</a:t>
            </a:r>
            <a:endParaRPr lang="zh-TW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318586" y="43457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296144" y="469106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5</a:t>
            </a:r>
            <a:endParaRPr lang="zh-TW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296998" y="506039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6</a:t>
            </a:r>
            <a:endParaRPr lang="zh-TW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318586" y="540797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7</a:t>
            </a:r>
            <a:endParaRPr lang="zh-TW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18586" y="576469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8</a:t>
            </a:r>
            <a:endParaRPr lang="zh-TW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296998" y="606179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9</a:t>
            </a:r>
            <a:endParaRPr lang="zh-TW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291576" y="639116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10</a:t>
            </a:r>
            <a:endParaRPr lang="zh-TW" altLang="en-US" b="1" dirty="0"/>
          </a:p>
        </p:txBody>
      </p:sp>
      <p:sp>
        <p:nvSpPr>
          <p:cNvPr id="20" name="橢圓 19"/>
          <p:cNvSpPr/>
          <p:nvPr/>
        </p:nvSpPr>
        <p:spPr>
          <a:xfrm>
            <a:off x="2771800" y="3410849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691680" y="438017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6825126" y="3970949"/>
                <a:ext cx="1812932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1" dirty="0" smtClean="0"/>
                  <a:t>h = 2</a:t>
                </a:r>
              </a:p>
              <a:p>
                <a:r>
                  <a:rPr lang="en-US" altLang="zh-TW" b="1" dirty="0" err="1" smtClean="0"/>
                  <a:t>i</a:t>
                </a:r>
                <a:r>
                  <a:rPr lang="en-US" altLang="zh-TW" b="1" dirty="0" smtClean="0"/>
                  <a:t>=4</a:t>
                </a:r>
              </a:p>
              <a:p>
                <a:r>
                  <a:rPr lang="en-US" altLang="zh-TW" b="1" dirty="0" smtClean="0"/>
                  <a:t>j=</a:t>
                </a:r>
                <a:r>
                  <a:rPr lang="en-US" altLang="zh-TW" b="1" dirty="0" err="1" smtClean="0"/>
                  <a:t>nextB</a:t>
                </a:r>
                <a:r>
                  <a:rPr lang="en-US" altLang="zh-TW" b="1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/>
                      </a:rPr>
                      <m:t>𝑨</m:t>
                    </m:r>
                    <m:r>
                      <a:rPr lang="en-US" altLang="zh-TW" b="1" i="1" smtClean="0">
                        <a:latin typeface="Cambria Math"/>
                      </a:rPr>
                      <m:t>,</m:t>
                    </m:r>
                    <m:r>
                      <a:rPr lang="en-US" altLang="zh-TW" b="1" i="1" smtClean="0">
                        <a:latin typeface="Cambria Math"/>
                      </a:rPr>
                      <m:t>𝟑</m:t>
                    </m:r>
                    <m:r>
                      <a:rPr lang="en-US" altLang="zh-TW" b="1" i="1" smtClean="0">
                        <a:latin typeface="Cambria Math"/>
                      </a:rPr>
                      <m:t>)=</m:t>
                    </m:r>
                  </m:oMath>
                </a14:m>
                <a:r>
                  <a:rPr lang="en-US" altLang="zh-TW" b="1" dirty="0" smtClean="0"/>
                  <a:t>5</a:t>
                </a:r>
                <a:endParaRPr lang="zh-TW" altLang="en-US" b="1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126" y="3970949"/>
                <a:ext cx="1812932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3030" t="-3289" r="-1684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834278" y="4852674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F(h)  2  2  </a:t>
            </a:r>
            <a:r>
              <a:rPr lang="en-US" altLang="zh-TW" b="1" dirty="0" smtClean="0">
                <a:solidFill>
                  <a:srgbClr val="FF0000"/>
                </a:solidFill>
              </a:rPr>
              <a:t>4</a:t>
            </a:r>
            <a:r>
              <a:rPr lang="en-US" altLang="zh-TW" b="1" dirty="0" smtClean="0"/>
              <a:t>  </a:t>
            </a:r>
            <a:r>
              <a:rPr lang="en-US" altLang="zh-TW" b="1" dirty="0"/>
              <a:t>4</a:t>
            </a:r>
            <a:r>
              <a:rPr lang="en-US" altLang="zh-TW" b="1" dirty="0" smtClean="0"/>
              <a:t>  4  4  4</a:t>
            </a:r>
            <a:endParaRPr lang="zh-TW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6792599" y="5223311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G</a:t>
            </a:r>
            <a:r>
              <a:rPr lang="en-US" altLang="zh-TW" b="1" dirty="0" smtClean="0"/>
              <a:t>(h)  7  7  </a:t>
            </a:r>
            <a:r>
              <a:rPr lang="en-US" altLang="zh-TW" b="1" dirty="0" smtClean="0">
                <a:solidFill>
                  <a:srgbClr val="FF0000"/>
                </a:solidFill>
              </a:rPr>
              <a:t>5</a:t>
            </a:r>
            <a:r>
              <a:rPr lang="en-US" altLang="zh-TW" b="1" dirty="0" smtClean="0"/>
              <a:t>  1  1  1  1</a:t>
            </a:r>
            <a:endParaRPr lang="zh-TW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814170" y="3280757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=2</a:t>
            </a:r>
          </a:p>
          <a:p>
            <a:r>
              <a:rPr lang="en-US" altLang="zh-TW" b="1" dirty="0" err="1" smtClean="0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=7</a:t>
            </a:r>
            <a:endParaRPr lang="zh-TW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6855579" y="5626193"/>
            <a:ext cx="878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imax</a:t>
            </a:r>
            <a:r>
              <a:rPr lang="en-US" altLang="zh-TW" b="1" dirty="0" smtClean="0"/>
              <a:t>=4</a:t>
            </a:r>
          </a:p>
          <a:p>
            <a:r>
              <a:rPr lang="en-US" altLang="zh-TW" b="1" dirty="0" err="1" smtClean="0"/>
              <a:t>j</a:t>
            </a:r>
            <a:r>
              <a:rPr lang="en-US" altLang="zh-TW" b="1" dirty="0" err="1" smtClean="0"/>
              <a:t>min</a:t>
            </a:r>
            <a:r>
              <a:rPr lang="en-US" altLang="zh-TW" b="1" dirty="0" smtClean="0"/>
              <a:t>=5</a:t>
            </a:r>
            <a:endParaRPr lang="zh-TW" altLang="en-US" b="1" dirty="0"/>
          </a:p>
        </p:txBody>
      </p:sp>
      <p:graphicFrame>
        <p:nvGraphicFramePr>
          <p:cNvPr id="27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1561564"/>
              </p:ext>
            </p:extLst>
          </p:nvPr>
        </p:nvGraphicFramePr>
        <p:xfrm>
          <a:off x="1149898" y="116111"/>
          <a:ext cx="6033889" cy="221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/>
                <a:gridCol w="360040"/>
                <a:gridCol w="360040"/>
                <a:gridCol w="427120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  <a:gridCol w="502824"/>
              </a:tblGrid>
              <a:tr h="384374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nextb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7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6800641" y="2521134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K=2</a:t>
            </a:r>
            <a:endParaRPr lang="zh-TW" altLang="en-US" b="1" dirty="0"/>
          </a:p>
        </p:txBody>
      </p:sp>
      <p:sp>
        <p:nvSpPr>
          <p:cNvPr id="29" name="橢圓 28"/>
          <p:cNvSpPr/>
          <p:nvPr/>
        </p:nvSpPr>
        <p:spPr>
          <a:xfrm>
            <a:off x="4932040" y="3730693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/>
          <p:nvPr/>
        </p:nvCxnSpPr>
        <p:spPr>
          <a:xfrm>
            <a:off x="1435529" y="3347353"/>
            <a:ext cx="414489" cy="10134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3921646" y="438017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/>
          <p:cNvCxnSpPr>
            <a:stCxn id="20" idx="5"/>
          </p:cNvCxnSpPr>
          <p:nvPr/>
        </p:nvCxnSpPr>
        <p:spPr>
          <a:xfrm>
            <a:off x="3079113" y="3696694"/>
            <a:ext cx="842533" cy="7359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267745" y="4715058"/>
            <a:ext cx="1653901" cy="2045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296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6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329619"/>
              </p:ext>
            </p:extLst>
          </p:nvPr>
        </p:nvGraphicFramePr>
        <p:xfrm>
          <a:off x="1403648" y="1556792"/>
          <a:ext cx="5914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  <a:gridCol w="537727"/>
              </a:tblGrid>
              <a:tr h="326419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</a:rPr>
                        <a:t>B: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</a:rPr>
                        <a:t>A: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9608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419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2483768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996208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563888" y="2204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067944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44008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724128" y="2539752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067944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611266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148064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6228184" y="3212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149612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740102" y="5229200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6804248" y="3547864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804248" y="4555976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endCxn id="11" idx="1"/>
          </p:cNvCxnSpPr>
          <p:nvPr/>
        </p:nvCxnSpPr>
        <p:spPr>
          <a:xfrm>
            <a:off x="3743908" y="2539752"/>
            <a:ext cx="952827" cy="7222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endCxn id="16" idx="1"/>
          </p:cNvCxnSpPr>
          <p:nvPr/>
        </p:nvCxnSpPr>
        <p:spPr>
          <a:xfrm>
            <a:off x="6031441" y="2769435"/>
            <a:ext cx="249470" cy="4925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endCxn id="8" idx="0"/>
          </p:cNvCxnSpPr>
          <p:nvPr/>
        </p:nvCxnSpPr>
        <p:spPr>
          <a:xfrm>
            <a:off x="2791081" y="3547864"/>
            <a:ext cx="385147" cy="6732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endCxn id="7" idx="1"/>
          </p:cNvCxnSpPr>
          <p:nvPr/>
        </p:nvCxnSpPr>
        <p:spPr>
          <a:xfrm>
            <a:off x="2123728" y="2132856"/>
            <a:ext cx="412767" cy="11291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5"/>
            <a:endCxn id="14" idx="1"/>
          </p:cNvCxnSpPr>
          <p:nvPr/>
        </p:nvCxnSpPr>
        <p:spPr>
          <a:xfrm>
            <a:off x="4375257" y="3833709"/>
            <a:ext cx="288736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5"/>
            <a:endCxn id="18" idx="1"/>
          </p:cNvCxnSpPr>
          <p:nvPr/>
        </p:nvCxnSpPr>
        <p:spPr>
          <a:xfrm>
            <a:off x="5456925" y="4841821"/>
            <a:ext cx="335904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6269813" y="4221088"/>
            <a:ext cx="360040" cy="334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/>
          <p:cNvCxnSpPr>
            <a:stCxn id="15" idx="5"/>
          </p:cNvCxnSpPr>
          <p:nvPr/>
        </p:nvCxnSpPr>
        <p:spPr>
          <a:xfrm>
            <a:off x="5455377" y="3833709"/>
            <a:ext cx="814436" cy="436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9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6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2561</Words>
  <Application>Microsoft Office PowerPoint</Application>
  <PresentationFormat>如螢幕大小 (4:3)</PresentationFormat>
  <Paragraphs>2036</Paragraphs>
  <Slides>17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Office 佈景主題</vt:lpstr>
      <vt:lpstr>Algorithms for the Longest Common Subsequence Problem</vt:lpstr>
      <vt:lpstr>Abstract</vt:lpstr>
      <vt:lpstr>LCS</vt:lpstr>
      <vt:lpstr>K-candidate</vt:lpstr>
      <vt:lpstr>Minimal K-candidate</vt:lpstr>
      <vt:lpstr>ALGD</vt:lpstr>
      <vt:lpstr>ALGD</vt:lpstr>
      <vt:lpstr>ALGD</vt:lpstr>
      <vt:lpstr>ALGD</vt:lpstr>
      <vt:lpstr>ALGE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Complexity of Multiway Cuts</dc:title>
  <dc:creator>sjiujj</dc:creator>
  <cp:lastModifiedBy>shiujj</cp:lastModifiedBy>
  <cp:revision>110</cp:revision>
  <dcterms:created xsi:type="dcterms:W3CDTF">2013-02-19T02:19:26Z</dcterms:created>
  <dcterms:modified xsi:type="dcterms:W3CDTF">2013-11-26T10:02:45Z</dcterms:modified>
</cp:coreProperties>
</file>