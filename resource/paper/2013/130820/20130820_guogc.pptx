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7" r:id="rId3"/>
    <p:sldId id="258" r:id="rId4"/>
    <p:sldId id="260" r:id="rId5"/>
    <p:sldId id="261" r:id="rId6"/>
    <p:sldId id="262" r:id="rId7"/>
    <p:sldId id="263" r:id="rId8"/>
    <p:sldId id="264" r:id="rId9"/>
    <p:sldId id="266" r:id="rId10"/>
    <p:sldId id="267" r:id="rId11"/>
    <p:sldId id="268" r:id="rId12"/>
    <p:sldId id="269" r:id="rId13"/>
    <p:sldId id="270"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1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503E762-B1B1-4BDE-9DBB-EAB8B6C3420F}" type="datetimeFigureOut">
              <a:rPr lang="zh-TW" altLang="en-US" smtClean="0"/>
              <a:pPr/>
              <a:t>2013/8/20</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2B0D417-3C6E-4239-88E2-E66724EA68A9}" type="slidenum">
              <a:rPr lang="zh-TW" altLang="en-US" smtClean="0"/>
              <a:pPr/>
              <a:t>‹#›</a:t>
            </a:fld>
            <a:endParaRPr lang="zh-TW" altLang="en-US"/>
          </a:p>
        </p:txBody>
      </p:sp>
    </p:spTree>
    <p:extLst>
      <p:ext uri="{BB962C8B-B14F-4D97-AF65-F5344CB8AC3E}">
        <p14:creationId xmlns:p14="http://schemas.microsoft.com/office/powerpoint/2010/main" xmlns="" val="12636668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08EB010-D978-4CF3-B502-F22C1EB1367E}" type="datetimeFigureOut">
              <a:rPr lang="zh-TW" altLang="en-US" smtClean="0"/>
              <a:pPr/>
              <a:t>2013/8/20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ABD24F-641D-486B-B30E-004CFF572ED4}" type="slidenum">
              <a:rPr lang="zh-TW" altLang="en-US" smtClean="0"/>
              <a:pPr/>
              <a:t>‹#›</a:t>
            </a:fld>
            <a:endParaRPr lang="zh-TW" altLang="en-US"/>
          </a:p>
        </p:txBody>
      </p:sp>
    </p:spTree>
    <p:extLst>
      <p:ext uri="{BB962C8B-B14F-4D97-AF65-F5344CB8AC3E}">
        <p14:creationId xmlns:p14="http://schemas.microsoft.com/office/powerpoint/2010/main" xmlns="" val="6004982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47ABD24F-641D-486B-B30E-004CFF572ED4}" type="slidenum">
              <a:rPr lang="zh-TW" altLang="en-US" smtClean="0"/>
              <a:pPr/>
              <a:t>2</a:t>
            </a:fld>
            <a:endParaRPr lang="zh-TW" altLang="en-US"/>
          </a:p>
        </p:txBody>
      </p:sp>
    </p:spTree>
    <p:extLst>
      <p:ext uri="{BB962C8B-B14F-4D97-AF65-F5344CB8AC3E}">
        <p14:creationId xmlns:p14="http://schemas.microsoft.com/office/powerpoint/2010/main" xmlns="" val="481399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8077C45-1FCB-40D0-903F-4633F58DFFA5}" type="datetime1">
              <a:rPr lang="zh-TW" altLang="en-US" smtClean="0"/>
              <a:pPr/>
              <a:t>2013/8/20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4149158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4CB2237-3DF4-4993-868E-B1C6A6F0D3A4}" type="datetime1">
              <a:rPr lang="zh-TW" altLang="en-US" smtClean="0"/>
              <a:pPr/>
              <a:t>2013/8/20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3991277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7C711B5-54E7-4E88-808C-98BE9A9043BB}" type="datetime1">
              <a:rPr lang="zh-TW" altLang="en-US" smtClean="0"/>
              <a:pPr/>
              <a:t>2013/8/20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313238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F84AD77-CC95-493E-B2D9-8148119A3694}" type="datetime1">
              <a:rPr lang="zh-TW" altLang="en-US" smtClean="0"/>
              <a:pPr/>
              <a:t>2013/8/20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106189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BE66AC98-39BA-494B-8AD3-EB62770831D4}" type="datetime1">
              <a:rPr lang="zh-TW" altLang="en-US" smtClean="0"/>
              <a:pPr/>
              <a:t>2013/8/20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332199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E4E5A73-2DF6-484B-B63D-932194994AE1}" type="datetime1">
              <a:rPr lang="zh-TW" altLang="en-US" smtClean="0"/>
              <a:pPr/>
              <a:t>2013/8/20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18205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6D4A147-31FA-4C1B-B344-AA82DD1F539D}" type="datetime1">
              <a:rPr lang="zh-TW" altLang="en-US" smtClean="0"/>
              <a:pPr/>
              <a:t>2013/8/20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3287530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147FD5E-D4CC-4654-A9D1-CC6E62950597}" type="datetime1">
              <a:rPr lang="zh-TW" altLang="en-US" smtClean="0"/>
              <a:pPr/>
              <a:t>2013/8/20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887851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14C9DE0-B809-4092-AF08-6C9EA7EA2580}" type="datetime1">
              <a:rPr lang="zh-TW" altLang="en-US" smtClean="0"/>
              <a:pPr/>
              <a:t>2013/8/20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1500171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98AF158-DFDB-46EE-A5B9-C48FA2E65249}" type="datetime1">
              <a:rPr lang="zh-TW" altLang="en-US" smtClean="0"/>
              <a:pPr/>
              <a:t>2013/8/20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1363037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9B2AD8D-14C3-420C-9F81-9E69A2881F14}" type="datetime1">
              <a:rPr lang="zh-TW" altLang="en-US" smtClean="0"/>
              <a:pPr/>
              <a:t>2013/8/20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2813591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5ACC10-1E6D-4635-B355-180BBF9BA868}" type="datetime1">
              <a:rPr lang="zh-TW" altLang="en-US" smtClean="0"/>
              <a:pPr/>
              <a:t>2013/8/20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6F7BFD-7552-4D7A-A553-3C2ED811A493}" type="slidenum">
              <a:rPr lang="zh-TW" altLang="en-US" smtClean="0"/>
              <a:pPr/>
              <a:t>‹#›</a:t>
            </a:fld>
            <a:endParaRPr lang="zh-TW" altLang="en-US"/>
          </a:p>
        </p:txBody>
      </p:sp>
    </p:spTree>
    <p:extLst>
      <p:ext uri="{BB962C8B-B14F-4D97-AF65-F5344CB8AC3E}">
        <p14:creationId xmlns:p14="http://schemas.microsoft.com/office/powerpoint/2010/main" xmlns="" val="618642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980728"/>
            <a:ext cx="9144000" cy="1800200"/>
          </a:xfrm>
        </p:spPr>
        <p:txBody>
          <a:bodyPr>
            <a:normAutofit/>
          </a:bodyPr>
          <a:lstStyle/>
          <a:p>
            <a:r>
              <a:rPr lang="en-US" altLang="zh-TW" sz="4200" dirty="0" smtClean="0"/>
              <a:t>Using a Minimal Action Grammar for Activity Understanding in the</a:t>
            </a:r>
            <a:r>
              <a:rPr lang="zh-TW" altLang="en-US" sz="4200" dirty="0" smtClean="0"/>
              <a:t> </a:t>
            </a:r>
            <a:r>
              <a:rPr lang="en-US" altLang="zh-TW" sz="4200" dirty="0" smtClean="0"/>
              <a:t>Real World</a:t>
            </a:r>
            <a:endParaRPr lang="zh-TW" altLang="en-US" sz="4200" dirty="0"/>
          </a:p>
        </p:txBody>
      </p:sp>
      <p:sp>
        <p:nvSpPr>
          <p:cNvPr id="3" name="副標題 2"/>
          <p:cNvSpPr>
            <a:spLocks noGrp="1"/>
          </p:cNvSpPr>
          <p:nvPr>
            <p:ph type="subTitle" idx="1"/>
          </p:nvPr>
        </p:nvSpPr>
        <p:spPr>
          <a:xfrm>
            <a:off x="107504" y="2924944"/>
            <a:ext cx="8928992" cy="3528392"/>
          </a:xfrm>
        </p:spPr>
        <p:txBody>
          <a:bodyPr>
            <a:normAutofit/>
          </a:bodyPr>
          <a:lstStyle/>
          <a:p>
            <a:pPr algn="l"/>
            <a:r>
              <a:rPr lang="en-US" altLang="zh-TW" sz="2400" dirty="0" smtClean="0">
                <a:solidFill>
                  <a:schemeClr val="tx1"/>
                </a:solidFill>
                <a:ea typeface="微軟正黑體" pitchFamily="34" charset="-120"/>
              </a:rPr>
              <a:t>Author</a:t>
            </a:r>
            <a:r>
              <a:rPr lang="zh-TW" altLang="en-US" sz="2400" dirty="0" err="1" smtClean="0">
                <a:solidFill>
                  <a:schemeClr val="tx1"/>
                </a:solidFill>
                <a:ea typeface="微軟正黑體" pitchFamily="34" charset="-120"/>
              </a:rPr>
              <a:t>：</a:t>
            </a:r>
            <a:r>
              <a:rPr lang="en-US" altLang="zh-TW" sz="2400" dirty="0" smtClean="0">
                <a:solidFill>
                  <a:schemeClr val="tx1"/>
                </a:solidFill>
                <a:ea typeface="微軟正黑體" pitchFamily="34" charset="-120"/>
              </a:rPr>
              <a:t>Douglas </a:t>
            </a:r>
            <a:r>
              <a:rPr lang="en-US" altLang="zh-TW" sz="2400" dirty="0">
                <a:solidFill>
                  <a:schemeClr val="tx1"/>
                </a:solidFill>
                <a:ea typeface="微軟正黑體" pitchFamily="34" charset="-120"/>
              </a:rPr>
              <a:t>Summers-Stay, </a:t>
            </a:r>
            <a:r>
              <a:rPr lang="en-US" altLang="zh-TW" sz="2400" dirty="0" err="1">
                <a:solidFill>
                  <a:schemeClr val="tx1"/>
                </a:solidFill>
                <a:ea typeface="微軟正黑體" pitchFamily="34" charset="-120"/>
              </a:rPr>
              <a:t>Ching</a:t>
            </a:r>
            <a:r>
              <a:rPr lang="en-US" altLang="zh-TW" sz="2400" dirty="0">
                <a:solidFill>
                  <a:schemeClr val="tx1"/>
                </a:solidFill>
                <a:ea typeface="微軟正黑體" pitchFamily="34" charset="-120"/>
              </a:rPr>
              <a:t> </a:t>
            </a:r>
            <a:r>
              <a:rPr lang="en-US" altLang="zh-TW" sz="2400" dirty="0" err="1" smtClean="0">
                <a:solidFill>
                  <a:schemeClr val="tx1"/>
                </a:solidFill>
                <a:ea typeface="微軟正黑體" pitchFamily="34" charset="-120"/>
              </a:rPr>
              <a:t>Lik</a:t>
            </a:r>
            <a:r>
              <a:rPr lang="en-US" altLang="zh-TW" sz="2400" dirty="0" smtClean="0">
                <a:solidFill>
                  <a:schemeClr val="tx1"/>
                </a:solidFill>
                <a:ea typeface="微軟正黑體" pitchFamily="34" charset="-120"/>
              </a:rPr>
              <a:t> </a:t>
            </a:r>
            <a:r>
              <a:rPr lang="en-US" altLang="zh-TW" sz="2400" dirty="0" err="1">
                <a:solidFill>
                  <a:schemeClr val="tx1"/>
                </a:solidFill>
                <a:ea typeface="微軟正黑體" pitchFamily="34" charset="-120"/>
              </a:rPr>
              <a:t>Teo</a:t>
            </a:r>
            <a:r>
              <a:rPr lang="en-US" altLang="zh-TW" sz="2400" dirty="0">
                <a:solidFill>
                  <a:schemeClr val="tx1"/>
                </a:solidFill>
                <a:ea typeface="微軟正黑體" pitchFamily="34" charset="-120"/>
              </a:rPr>
              <a:t>, </a:t>
            </a:r>
            <a:r>
              <a:rPr lang="en-US" altLang="zh-TW" sz="2400" dirty="0" err="1" smtClean="0">
                <a:solidFill>
                  <a:schemeClr val="tx1"/>
                </a:solidFill>
                <a:ea typeface="微軟正黑體" pitchFamily="34" charset="-120"/>
              </a:rPr>
              <a:t>Yezhou</a:t>
            </a:r>
            <a:r>
              <a:rPr lang="en-US" altLang="zh-TW" sz="2400" dirty="0" smtClean="0">
                <a:solidFill>
                  <a:schemeClr val="tx1"/>
                </a:solidFill>
                <a:ea typeface="微軟正黑體" pitchFamily="34" charset="-120"/>
              </a:rPr>
              <a:t> Yang(</a:t>
            </a:r>
            <a:r>
              <a:rPr lang="zh-TW" altLang="en-US" sz="2400" dirty="0" smtClean="0">
                <a:solidFill>
                  <a:schemeClr val="tx1"/>
                </a:solidFill>
                <a:ea typeface="微軟正黑體" pitchFamily="34" charset="-120"/>
              </a:rPr>
              <a:t>楊葉舟</a:t>
            </a:r>
            <a:r>
              <a:rPr lang="en-US" altLang="zh-TW" sz="2400" dirty="0" smtClean="0">
                <a:solidFill>
                  <a:schemeClr val="tx1"/>
                </a:solidFill>
                <a:ea typeface="微軟正黑體" pitchFamily="34" charset="-120"/>
              </a:rPr>
              <a:t>),</a:t>
            </a:r>
          </a:p>
          <a:p>
            <a:pPr algn="l"/>
            <a:r>
              <a:rPr lang="zh-TW" altLang="en-US" sz="2400" dirty="0">
                <a:solidFill>
                  <a:schemeClr val="tx1"/>
                </a:solidFill>
                <a:ea typeface="微軟正黑體" pitchFamily="34" charset="-120"/>
              </a:rPr>
              <a:t> </a:t>
            </a:r>
            <a:r>
              <a:rPr lang="zh-TW" altLang="en-US" sz="2400" dirty="0" smtClean="0">
                <a:solidFill>
                  <a:schemeClr val="tx1"/>
                </a:solidFill>
                <a:ea typeface="微軟正黑體" pitchFamily="34" charset="-120"/>
              </a:rPr>
              <a:t>             </a:t>
            </a:r>
            <a:r>
              <a:rPr lang="en-US" altLang="zh-TW" sz="2400" dirty="0" smtClean="0">
                <a:solidFill>
                  <a:schemeClr val="tx1"/>
                </a:solidFill>
                <a:ea typeface="微軟正黑體" pitchFamily="34" charset="-120"/>
              </a:rPr>
              <a:t> </a:t>
            </a:r>
            <a:r>
              <a:rPr lang="zh-TW" altLang="en-US" sz="2400" dirty="0" smtClean="0">
                <a:solidFill>
                  <a:schemeClr val="tx1"/>
                </a:solidFill>
                <a:ea typeface="微軟正黑體" pitchFamily="34" charset="-120"/>
              </a:rPr>
              <a:t>  </a:t>
            </a:r>
            <a:r>
              <a:rPr lang="en-US" altLang="zh-TW" sz="2400" dirty="0" smtClean="0">
                <a:solidFill>
                  <a:schemeClr val="tx1"/>
                </a:solidFill>
                <a:ea typeface="微軟正黑體" pitchFamily="34" charset="-120"/>
              </a:rPr>
              <a:t>Cornelia </a:t>
            </a:r>
            <a:r>
              <a:rPr lang="en-US" altLang="zh-TW" sz="2400" dirty="0" err="1" smtClean="0">
                <a:solidFill>
                  <a:schemeClr val="tx1"/>
                </a:solidFill>
                <a:ea typeface="微軟正黑體" pitchFamily="34" charset="-120"/>
              </a:rPr>
              <a:t>Fermüller</a:t>
            </a:r>
            <a:r>
              <a:rPr lang="en-US" altLang="zh-TW" sz="2400" dirty="0" smtClean="0">
                <a:solidFill>
                  <a:schemeClr val="tx1"/>
                </a:solidFill>
                <a:ea typeface="微軟正黑體" pitchFamily="34" charset="-120"/>
              </a:rPr>
              <a:t> </a:t>
            </a:r>
            <a:r>
              <a:rPr lang="en-US" altLang="zh-TW" sz="2400" dirty="0">
                <a:solidFill>
                  <a:schemeClr val="tx1"/>
                </a:solidFill>
                <a:ea typeface="微軟正黑體" pitchFamily="34" charset="-120"/>
              </a:rPr>
              <a:t>and </a:t>
            </a:r>
            <a:r>
              <a:rPr lang="en-US" altLang="zh-TW" sz="2400" dirty="0" err="1">
                <a:solidFill>
                  <a:schemeClr val="tx1"/>
                </a:solidFill>
                <a:ea typeface="微軟正黑體" pitchFamily="34" charset="-120"/>
              </a:rPr>
              <a:t>Yiannis</a:t>
            </a:r>
            <a:r>
              <a:rPr lang="en-US" altLang="zh-TW" sz="2400" dirty="0">
                <a:solidFill>
                  <a:schemeClr val="tx1"/>
                </a:solidFill>
                <a:ea typeface="微軟正黑體" pitchFamily="34" charset="-120"/>
              </a:rPr>
              <a:t> </a:t>
            </a:r>
            <a:r>
              <a:rPr lang="en-US" altLang="zh-TW" sz="2400" dirty="0" smtClean="0">
                <a:solidFill>
                  <a:schemeClr val="tx1"/>
                </a:solidFill>
                <a:ea typeface="微軟正黑體" pitchFamily="34" charset="-120"/>
              </a:rPr>
              <a:t>  </a:t>
            </a:r>
            <a:r>
              <a:rPr lang="en-US" altLang="zh-TW" sz="2400" dirty="0" err="1" smtClean="0">
                <a:solidFill>
                  <a:schemeClr val="tx1"/>
                </a:solidFill>
                <a:ea typeface="微軟正黑體" pitchFamily="34" charset="-120"/>
              </a:rPr>
              <a:t>Aloimonos</a:t>
            </a:r>
            <a:endParaRPr lang="en-US" altLang="zh-TW" sz="2400" dirty="0" smtClean="0">
              <a:solidFill>
                <a:schemeClr val="tx1"/>
              </a:solidFill>
              <a:ea typeface="微軟正黑體" pitchFamily="34" charset="-120"/>
            </a:endParaRPr>
          </a:p>
          <a:p>
            <a:pPr algn="l"/>
            <a:endParaRPr lang="en-US" altLang="zh-TW" sz="2400" dirty="0" smtClean="0">
              <a:solidFill>
                <a:schemeClr val="tx1"/>
              </a:solidFill>
              <a:ea typeface="微軟正黑體" pitchFamily="34" charset="-120"/>
            </a:endParaRPr>
          </a:p>
          <a:p>
            <a:r>
              <a:rPr lang="en-US" altLang="zh-TW" sz="2400" dirty="0">
                <a:solidFill>
                  <a:schemeClr val="tx1"/>
                </a:solidFill>
                <a:ea typeface="微軟正黑體" pitchFamily="34" charset="-120"/>
              </a:rPr>
              <a:t>Intelligent Robots and Systems (IROS), 2012 IEEE/RSJ International </a:t>
            </a:r>
            <a:r>
              <a:rPr lang="en-US" altLang="zh-TW" sz="2400" dirty="0" smtClean="0">
                <a:solidFill>
                  <a:schemeClr val="tx1"/>
                </a:solidFill>
                <a:ea typeface="微軟正黑體" pitchFamily="34" charset="-120"/>
              </a:rPr>
              <a:t>Conference on</a:t>
            </a:r>
          </a:p>
          <a:p>
            <a:pPr algn="l"/>
            <a:endParaRPr lang="en-US" altLang="zh-TW" sz="2400" dirty="0" smtClean="0">
              <a:solidFill>
                <a:schemeClr val="tx1"/>
              </a:solidFill>
            </a:endParaRPr>
          </a:p>
          <a:p>
            <a:pPr algn="r"/>
            <a:r>
              <a:rPr lang="en-US" altLang="zh-TW" sz="2000" dirty="0" smtClean="0">
                <a:solidFill>
                  <a:schemeClr val="tx1"/>
                </a:solidFill>
                <a:ea typeface="微軟正黑體" pitchFamily="34" charset="-120"/>
              </a:rPr>
              <a:t>Presenter</a:t>
            </a:r>
            <a:r>
              <a:rPr lang="zh-TW" altLang="en-US" sz="2000" dirty="0" smtClean="0">
                <a:solidFill>
                  <a:schemeClr val="tx1"/>
                </a:solidFill>
                <a:ea typeface="微軟正黑體" pitchFamily="34" charset="-120"/>
              </a:rPr>
              <a:t>：郭冠呈</a:t>
            </a:r>
            <a:endParaRPr lang="en-US" altLang="zh-TW" sz="2000" dirty="0" smtClean="0">
              <a:solidFill>
                <a:schemeClr val="tx1"/>
              </a:solidFill>
              <a:ea typeface="微軟正黑體" pitchFamily="34" charset="-120"/>
            </a:endParaRPr>
          </a:p>
          <a:p>
            <a:pPr algn="r"/>
            <a:r>
              <a:rPr lang="en-US" altLang="zh-TW" sz="2000" dirty="0" smtClean="0">
                <a:solidFill>
                  <a:schemeClr val="tx1"/>
                </a:solidFill>
                <a:ea typeface="微軟正黑體" pitchFamily="34" charset="-120"/>
              </a:rPr>
              <a:t>Date</a:t>
            </a:r>
            <a:r>
              <a:rPr lang="zh-TW" altLang="en-US" sz="2000" dirty="0" smtClean="0">
                <a:solidFill>
                  <a:schemeClr val="tx1"/>
                </a:solidFill>
                <a:ea typeface="微軟正黑體" pitchFamily="34" charset="-120"/>
              </a:rPr>
              <a:t>：</a:t>
            </a:r>
            <a:r>
              <a:rPr lang="en-US" altLang="zh-TW" sz="2000" dirty="0" smtClean="0">
                <a:solidFill>
                  <a:schemeClr val="tx1"/>
                </a:solidFill>
                <a:ea typeface="微軟正黑體" pitchFamily="34" charset="-120"/>
              </a:rPr>
              <a:t>2013/8/20</a:t>
            </a:r>
            <a:endParaRPr lang="zh-TW" altLang="en-US" sz="2000" dirty="0">
              <a:solidFill>
                <a:schemeClr val="tx1"/>
              </a:solidFill>
              <a:ea typeface="微軟正黑體" pitchFamily="34" charset="-120"/>
            </a:endParaRPr>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1</a:t>
            </a:fld>
            <a:endParaRPr lang="zh-TW" altLang="en-US"/>
          </a:p>
        </p:txBody>
      </p:sp>
    </p:spTree>
    <p:extLst>
      <p:ext uri="{BB962C8B-B14F-4D97-AF65-F5344CB8AC3E}">
        <p14:creationId xmlns:p14="http://schemas.microsoft.com/office/powerpoint/2010/main" xmlns="" val="26758426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400" dirty="0" smtClean="0"/>
              <a:t>Abstract</a:t>
            </a:r>
            <a:endParaRPr lang="zh-TW" altLang="en-US" sz="5400" dirty="0"/>
          </a:p>
        </p:txBody>
      </p:sp>
      <p:sp>
        <p:nvSpPr>
          <p:cNvPr id="3" name="內容版面配置區 2"/>
          <p:cNvSpPr>
            <a:spLocks noGrp="1"/>
          </p:cNvSpPr>
          <p:nvPr>
            <p:ph idx="1"/>
          </p:nvPr>
        </p:nvSpPr>
        <p:spPr>
          <a:xfrm>
            <a:off x="457200" y="1484784"/>
            <a:ext cx="8229600" cy="4641379"/>
          </a:xfrm>
        </p:spPr>
        <p:txBody>
          <a:bodyPr>
            <a:noAutofit/>
          </a:bodyPr>
          <a:lstStyle/>
          <a:p>
            <a:pPr marL="0" indent="0">
              <a:buNone/>
            </a:pPr>
            <a:r>
              <a:rPr lang="en-US" altLang="zh-TW" sz="2800" dirty="0" smtClean="0"/>
              <a:t>	There is good reason to believe that humans use some kind of recursive grammatical structure when they recognize and perform complex manipulation activities. We have built a system to automatically build a tree structure from observations of an actor performing such activities. The activity trees that result form a framework for search and understanding, tying action to language. </a:t>
            </a:r>
            <a:endParaRPr lang="zh-TW" altLang="en-US" sz="2800" dirty="0"/>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2</a:t>
            </a:fld>
            <a:endParaRPr lang="zh-TW" altLang="en-US"/>
          </a:p>
        </p:txBody>
      </p:sp>
    </p:spTree>
    <p:extLst>
      <p:ext uri="{BB962C8B-B14F-4D97-AF65-F5344CB8AC3E}">
        <p14:creationId xmlns:p14="http://schemas.microsoft.com/office/powerpoint/2010/main" xmlns="" val="29652244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5400" dirty="0" smtClean="0"/>
              <a:t>Abstract</a:t>
            </a:r>
            <a:endParaRPr lang="zh-TW" altLang="en-US" sz="5400" dirty="0"/>
          </a:p>
        </p:txBody>
      </p:sp>
      <p:sp>
        <p:nvSpPr>
          <p:cNvPr id="3" name="內容版面配置區 2"/>
          <p:cNvSpPr>
            <a:spLocks noGrp="1"/>
          </p:cNvSpPr>
          <p:nvPr>
            <p:ph idx="1"/>
          </p:nvPr>
        </p:nvSpPr>
        <p:spPr>
          <a:xfrm>
            <a:off x="457200" y="1412776"/>
            <a:ext cx="8229600" cy="4968552"/>
          </a:xfrm>
        </p:spPr>
        <p:txBody>
          <a:bodyPr>
            <a:normAutofit fontScale="92500"/>
          </a:bodyPr>
          <a:lstStyle/>
          <a:p>
            <a:pPr marL="0" indent="0">
              <a:buNone/>
            </a:pPr>
            <a:r>
              <a:rPr lang="en-US" altLang="zh-TW" dirty="0" smtClean="0"/>
              <a:t>	</a:t>
            </a:r>
            <a:r>
              <a:rPr lang="en-US" altLang="zh-TW" sz="3000" dirty="0" smtClean="0"/>
              <a:t>We explore and evaluate the system by performing experiments over a novel complex activity dataset taken using synchronized Kinect and SR4000 Time of Flight cameras. Processing of the combined 3D and 2D image data provides the necessary terminals and events to build the tree from the bottom-up. Experimental results highlight the contribution of the action grammar in: 1) providing a robust structure for complex activity recognition over real data and 2) disambiguating interleaved activities from within the same sequence.</a:t>
            </a:r>
            <a:endParaRPr lang="zh-TW" altLang="en-US" sz="3000" dirty="0" smtClean="0"/>
          </a:p>
          <a:p>
            <a:endParaRPr lang="zh-TW" altLang="en-US" dirty="0"/>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3</a:t>
            </a:fld>
            <a:endParaRPr lang="zh-TW" altLang="en-US"/>
          </a:p>
        </p:txBody>
      </p:sp>
    </p:spTree>
    <p:extLst>
      <p:ext uri="{BB962C8B-B14F-4D97-AF65-F5344CB8AC3E}">
        <p14:creationId xmlns:p14="http://schemas.microsoft.com/office/powerpoint/2010/main" xmlns="" val="1270976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ea typeface="微軟正黑體" pitchFamily="34" charset="-120"/>
              </a:rPr>
              <a:t>Approach</a:t>
            </a:r>
            <a:endParaRPr lang="zh-TW" altLang="en-US" dirty="0">
              <a:ea typeface="微軟正黑體" pitchFamily="34" charset="-120"/>
            </a:endParaRPr>
          </a:p>
        </p:txBody>
      </p:sp>
      <p:sp>
        <p:nvSpPr>
          <p:cNvPr id="3" name="內容版面配置區 2"/>
          <p:cNvSpPr>
            <a:spLocks noGrp="1"/>
          </p:cNvSpPr>
          <p:nvPr>
            <p:ph idx="1"/>
          </p:nvPr>
        </p:nvSpPr>
        <p:spPr/>
        <p:txBody>
          <a:bodyPr>
            <a:normAutofit lnSpcReduction="10000"/>
          </a:bodyPr>
          <a:lstStyle/>
          <a:p>
            <a:r>
              <a:rPr lang="en-US" altLang="zh-TW" sz="2800" dirty="0" smtClean="0">
                <a:ea typeface="微軟正黑體" pitchFamily="34" charset="-120"/>
              </a:rPr>
              <a:t>Introducing</a:t>
            </a:r>
            <a:r>
              <a:rPr lang="zh-TW" altLang="en-US" sz="2800" dirty="0" smtClean="0">
                <a:ea typeface="微軟正黑體" pitchFamily="34" charset="-120"/>
              </a:rPr>
              <a:t> </a:t>
            </a:r>
            <a:r>
              <a:rPr lang="en-US" altLang="zh-TW" sz="2800" dirty="0" smtClean="0">
                <a:ea typeface="微軟正黑體" pitchFamily="34" charset="-120"/>
              </a:rPr>
              <a:t>Data</a:t>
            </a:r>
          </a:p>
          <a:p>
            <a:endParaRPr lang="en-US" altLang="zh-TW" sz="2800" dirty="0" smtClean="0">
              <a:ea typeface="微軟正黑體" pitchFamily="34" charset="-120"/>
            </a:endParaRPr>
          </a:p>
          <a:p>
            <a:r>
              <a:rPr lang="en-US" altLang="zh-TW" sz="2800" dirty="0" smtClean="0">
                <a:ea typeface="微軟正黑體" pitchFamily="34" charset="-120"/>
              </a:rPr>
              <a:t>Define Action Grammar</a:t>
            </a:r>
          </a:p>
          <a:p>
            <a:endParaRPr lang="en-US" altLang="zh-TW" sz="2800" dirty="0" smtClean="0">
              <a:ea typeface="微軟正黑體" pitchFamily="34" charset="-120"/>
            </a:endParaRPr>
          </a:p>
          <a:p>
            <a:r>
              <a:rPr lang="en-US" altLang="zh-TW" sz="2800" dirty="0" smtClean="0">
                <a:ea typeface="微軟正黑體" pitchFamily="34" charset="-120"/>
              </a:rPr>
              <a:t>Hand State Determination and Object Recognition</a:t>
            </a:r>
          </a:p>
          <a:p>
            <a:endParaRPr lang="en-US" altLang="zh-TW" sz="2800" dirty="0" smtClean="0">
              <a:ea typeface="微軟正黑體" pitchFamily="34" charset="-120"/>
            </a:endParaRPr>
          </a:p>
          <a:p>
            <a:r>
              <a:rPr lang="en-US" altLang="zh-TW" sz="2800" dirty="0" smtClean="0">
                <a:ea typeface="微軟正黑體" pitchFamily="34" charset="-120"/>
              </a:rPr>
              <a:t>Activity Tree</a:t>
            </a:r>
          </a:p>
          <a:p>
            <a:endParaRPr lang="en-US" altLang="zh-TW" dirty="0" smtClean="0"/>
          </a:p>
          <a:p>
            <a:r>
              <a:rPr lang="en-US" altLang="zh-TW" sz="2800" dirty="0"/>
              <a:t>Separating Interleaved Activities</a:t>
            </a:r>
            <a:endParaRPr lang="zh-TW" altLang="en-US" sz="2800" dirty="0"/>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4</a:t>
            </a:fld>
            <a:endParaRPr lang="zh-TW" altLang="en-US"/>
          </a:p>
        </p:txBody>
      </p:sp>
    </p:spTree>
    <p:extLst>
      <p:ext uri="{BB962C8B-B14F-4D97-AF65-F5344CB8AC3E}">
        <p14:creationId xmlns:p14="http://schemas.microsoft.com/office/powerpoint/2010/main" xmlns="" val="4480901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ea typeface="微軟正黑體" pitchFamily="34" charset="-120"/>
              </a:rPr>
              <a:t>Introducing</a:t>
            </a:r>
            <a:r>
              <a:rPr lang="zh-TW" altLang="en-US" dirty="0" smtClean="0">
                <a:ea typeface="微軟正黑體" pitchFamily="34" charset="-120"/>
              </a:rPr>
              <a:t> </a:t>
            </a:r>
            <a:r>
              <a:rPr lang="en-US" altLang="zh-TW" dirty="0" smtClean="0">
                <a:ea typeface="微軟正黑體" pitchFamily="34" charset="-120"/>
              </a:rPr>
              <a:t>Data</a:t>
            </a:r>
          </a:p>
        </p:txBody>
      </p:sp>
      <p:sp>
        <p:nvSpPr>
          <p:cNvPr id="3" name="內容版面配置區 2"/>
          <p:cNvSpPr>
            <a:spLocks noGrp="1"/>
          </p:cNvSpPr>
          <p:nvPr>
            <p:ph idx="1"/>
          </p:nvPr>
        </p:nvSpPr>
        <p:spPr>
          <a:xfrm>
            <a:off x="457200" y="1412776"/>
            <a:ext cx="8229600" cy="4713387"/>
          </a:xfrm>
        </p:spPr>
        <p:txBody>
          <a:bodyPr>
            <a:normAutofit/>
          </a:bodyPr>
          <a:lstStyle/>
          <a:p>
            <a:r>
              <a:rPr lang="zh-TW" altLang="en-US" sz="2800" dirty="0" smtClean="0">
                <a:latin typeface="+mj-lt"/>
                <a:ea typeface="微軟正黑體" pitchFamily="34" charset="-120"/>
              </a:rPr>
              <a:t>引入數據</a:t>
            </a:r>
            <a:r>
              <a:rPr lang="zh-TW" altLang="en-US" sz="2800" dirty="0">
                <a:latin typeface="+mj-lt"/>
                <a:ea typeface="微軟正黑體" pitchFamily="34" charset="-120"/>
              </a:rPr>
              <a:t>包含</a:t>
            </a:r>
            <a:r>
              <a:rPr lang="zh-TW" altLang="en-US" sz="2800" dirty="0" smtClean="0">
                <a:latin typeface="+mj-lt"/>
                <a:ea typeface="微軟正黑體" pitchFamily="34" charset="-120"/>
              </a:rPr>
              <a:t>五個複雜的手部操作活動，</a:t>
            </a:r>
            <a:r>
              <a:rPr lang="zh-TW" altLang="en-US" sz="2800" dirty="0">
                <a:ea typeface="微軟正黑體" pitchFamily="34" charset="-120"/>
              </a:rPr>
              <a:t>每個操作活動包含若干個簡單的操作及使用的物件</a:t>
            </a:r>
            <a:r>
              <a:rPr lang="zh-TW" altLang="en-US" sz="2800" dirty="0" smtClean="0">
                <a:latin typeface="+mj-lt"/>
                <a:ea typeface="微軟正黑體" pitchFamily="34" charset="-120"/>
              </a:rPr>
              <a:t>。</a:t>
            </a:r>
            <a:endParaRPr lang="en-US" altLang="zh-TW" sz="2800" dirty="0" smtClean="0">
              <a:latin typeface="+mj-lt"/>
              <a:ea typeface="微軟正黑體" pitchFamily="34" charset="-120"/>
            </a:endParaRPr>
          </a:p>
          <a:p>
            <a:pPr marL="0" indent="0">
              <a:buNone/>
            </a:pPr>
            <a:endParaRPr lang="en-US" altLang="zh-TW" sz="2800" dirty="0" smtClean="0">
              <a:latin typeface="+mj-lt"/>
              <a:ea typeface="微軟正黑體" pitchFamily="34" charset="-120"/>
            </a:endParaRPr>
          </a:p>
          <a:p>
            <a:r>
              <a:rPr lang="zh-TW" altLang="en-US" sz="2800" dirty="0" smtClean="0">
                <a:latin typeface="+mj-lt"/>
                <a:ea typeface="微軟正黑體" pitchFamily="34" charset="-120"/>
              </a:rPr>
              <a:t>超出數據集的活動由</a:t>
            </a:r>
            <a:r>
              <a:rPr lang="en-US" altLang="zh-TW" sz="2800" dirty="0" smtClean="0">
                <a:latin typeface="+mj-lt"/>
                <a:ea typeface="微軟正黑體" pitchFamily="34" charset="-120"/>
              </a:rPr>
              <a:t>Kinect</a:t>
            </a:r>
            <a:r>
              <a:rPr lang="zh-TW" altLang="en-US" sz="2800" dirty="0" smtClean="0">
                <a:latin typeface="+mj-lt"/>
                <a:ea typeface="微軟正黑體" pitchFamily="34" charset="-120"/>
              </a:rPr>
              <a:t>及</a:t>
            </a:r>
            <a:r>
              <a:rPr lang="en-US" altLang="zh-TW" sz="2800" dirty="0" smtClean="0">
                <a:latin typeface="+mj-lt"/>
                <a:ea typeface="微軟正黑體" pitchFamily="34" charset="-120"/>
              </a:rPr>
              <a:t>SR4000</a:t>
            </a:r>
            <a:r>
              <a:rPr lang="zh-TW" altLang="en-US" sz="2800" dirty="0" smtClean="0">
                <a:latin typeface="+mj-lt"/>
                <a:ea typeface="微軟正黑體" pitchFamily="34" charset="-120"/>
              </a:rPr>
              <a:t>捕捉行為，</a:t>
            </a:r>
            <a:r>
              <a:rPr lang="en-US" altLang="zh-TW" sz="2800" dirty="0" smtClean="0">
                <a:latin typeface="+mj-lt"/>
                <a:ea typeface="微軟正黑體" pitchFamily="34" charset="-120"/>
              </a:rPr>
              <a:t> Kinect</a:t>
            </a:r>
            <a:r>
              <a:rPr lang="zh-TW" altLang="en-US" sz="2800" dirty="0" smtClean="0">
                <a:latin typeface="+mj-lt"/>
                <a:ea typeface="微軟正黑體" pitchFamily="34" charset="-120"/>
              </a:rPr>
              <a:t>負責追蹤身體的活動，</a:t>
            </a:r>
            <a:r>
              <a:rPr lang="en-US" altLang="zh-TW" sz="2800" dirty="0" smtClean="0">
                <a:latin typeface="+mj-lt"/>
                <a:ea typeface="微軟正黑體" pitchFamily="34" charset="-120"/>
              </a:rPr>
              <a:t>SR4000</a:t>
            </a:r>
            <a:r>
              <a:rPr lang="zh-TW" altLang="en-US" sz="2800" dirty="0" smtClean="0">
                <a:latin typeface="+mj-lt"/>
                <a:ea typeface="微軟正黑體" pitchFamily="34" charset="-120"/>
              </a:rPr>
              <a:t>則是針對手部的操縱行為。</a:t>
            </a:r>
            <a:endParaRPr lang="zh-TW" altLang="en-US" sz="2800" dirty="0">
              <a:latin typeface="+mj-lt"/>
              <a:ea typeface="微軟正黑體" pitchFamily="34" charset="-120"/>
            </a:endParaRPr>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5</a:t>
            </a:fld>
            <a:endParaRPr lang="zh-TW" altLang="en-US"/>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5576" y="4465266"/>
            <a:ext cx="7602537" cy="19573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02379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ea typeface="微軟正黑體" pitchFamily="34" charset="-120"/>
              </a:rPr>
              <a:t>Define Action Grammar</a:t>
            </a:r>
          </a:p>
        </p:txBody>
      </p:sp>
      <p:sp>
        <p:nvSpPr>
          <p:cNvPr id="3" name="內容版面配置區 2"/>
          <p:cNvSpPr>
            <a:spLocks noGrp="1"/>
          </p:cNvSpPr>
          <p:nvPr>
            <p:ph idx="1"/>
          </p:nvPr>
        </p:nvSpPr>
        <p:spPr/>
        <p:txBody>
          <a:bodyPr>
            <a:normAutofit/>
          </a:bodyPr>
          <a:lstStyle/>
          <a:p>
            <a:r>
              <a:rPr lang="en-US" altLang="zh-TW" sz="2800" dirty="0" smtClean="0">
                <a:ea typeface="微軟正黑體" pitchFamily="34" charset="-120"/>
              </a:rPr>
              <a:t>Action Grammar</a:t>
            </a:r>
            <a:r>
              <a:rPr lang="zh-TW" altLang="en-US" sz="2800" dirty="0" smtClean="0">
                <a:ea typeface="微軟正黑體" pitchFamily="34" charset="-120"/>
              </a:rPr>
              <a:t>包含兩個簡單的規則：</a:t>
            </a:r>
            <a:endParaRPr lang="en-US" altLang="zh-TW" sz="2800" dirty="0" smtClean="0">
              <a:ea typeface="微軟正黑體" pitchFamily="34" charset="-120"/>
            </a:endParaRPr>
          </a:p>
          <a:p>
            <a:pPr marL="0" indent="0">
              <a:buNone/>
            </a:pPr>
            <a:r>
              <a:rPr lang="zh-TW" altLang="en-US" sz="2800" dirty="0" smtClean="0">
                <a:latin typeface="微軟正黑體" pitchFamily="34" charset="-120"/>
                <a:ea typeface="微軟正黑體" pitchFamily="34" charset="-120"/>
              </a:rPr>
              <a:t>    </a:t>
            </a:r>
            <a:r>
              <a:rPr lang="en-US" altLang="zh-TW" sz="2800" dirty="0" smtClean="0">
                <a:latin typeface="微軟正黑體" pitchFamily="34" charset="-120"/>
                <a:ea typeface="微軟正黑體" pitchFamily="34" charset="-120"/>
              </a:rPr>
              <a:t>1.</a:t>
            </a:r>
            <a:r>
              <a:rPr lang="zh-TW" altLang="en-US" sz="2800" dirty="0" smtClean="0">
                <a:latin typeface="微軟正黑體" pitchFamily="34" charset="-120"/>
                <a:ea typeface="微軟正黑體" pitchFamily="34" charset="-120"/>
              </a:rPr>
              <a:t>使用一個工具將兩個物件合併，創造出新的物 </a:t>
            </a:r>
            <a:endParaRPr lang="en-US" altLang="zh-TW" sz="2800" dirty="0" smtClean="0">
              <a:latin typeface="微軟正黑體" pitchFamily="34" charset="-120"/>
              <a:ea typeface="微軟正黑體" pitchFamily="34" charset="-120"/>
            </a:endParaRPr>
          </a:p>
          <a:p>
            <a:pPr marL="0" indent="0">
              <a:buNone/>
            </a:pPr>
            <a:r>
              <a:rPr lang="zh-TW" altLang="en-US" sz="2800" dirty="0" smtClean="0">
                <a:latin typeface="微軟正黑體" pitchFamily="34" charset="-120"/>
                <a:ea typeface="微軟正黑體" pitchFamily="34" charset="-120"/>
              </a:rPr>
              <a:t>        件或工具。</a:t>
            </a:r>
            <a:endParaRPr lang="en-US" altLang="zh-TW" sz="2800" dirty="0" smtClean="0">
              <a:latin typeface="微軟正黑體" pitchFamily="34" charset="-120"/>
              <a:ea typeface="微軟正黑體" pitchFamily="34" charset="-120"/>
            </a:endParaRPr>
          </a:p>
          <a:p>
            <a:pPr marL="0" indent="0">
              <a:buNone/>
            </a:pPr>
            <a:r>
              <a:rPr lang="zh-TW" altLang="en-US" sz="2800" dirty="0" smtClean="0">
                <a:latin typeface="微軟正黑體" pitchFamily="34" charset="-120"/>
                <a:ea typeface="微軟正黑體" pitchFamily="34" charset="-120"/>
              </a:rPr>
              <a:t>    </a:t>
            </a:r>
            <a:r>
              <a:rPr lang="en-US" altLang="zh-TW" sz="2800" dirty="0" smtClean="0">
                <a:latin typeface="微軟正黑體" pitchFamily="34" charset="-120"/>
                <a:ea typeface="微軟正黑體" pitchFamily="34" charset="-120"/>
              </a:rPr>
              <a:t>2.</a:t>
            </a:r>
            <a:r>
              <a:rPr lang="zh-TW" altLang="en-US" sz="2800" dirty="0" smtClean="0">
                <a:latin typeface="微軟正黑體" pitchFamily="34" charset="-120"/>
                <a:ea typeface="微軟正黑體" pitchFamily="34" charset="-120"/>
              </a:rPr>
              <a:t>使用工具與一個物件結合，改造出新的物件或</a:t>
            </a:r>
            <a:endParaRPr lang="en-US" altLang="zh-TW" sz="2800" dirty="0" smtClean="0">
              <a:latin typeface="微軟正黑體" pitchFamily="34" charset="-120"/>
              <a:ea typeface="微軟正黑體" pitchFamily="34" charset="-120"/>
            </a:endParaRPr>
          </a:p>
          <a:p>
            <a:pPr marL="0" indent="0">
              <a:buNone/>
            </a:pPr>
            <a:r>
              <a:rPr lang="zh-TW" altLang="en-US" sz="2800" dirty="0" smtClean="0">
                <a:latin typeface="微軟正黑體" pitchFamily="34" charset="-120"/>
                <a:ea typeface="微軟正黑體" pitchFamily="34" charset="-120"/>
              </a:rPr>
              <a:t>       工具。</a:t>
            </a:r>
            <a:endParaRPr lang="en-US" altLang="zh-TW" sz="2800" dirty="0" smtClean="0">
              <a:latin typeface="微軟正黑體" pitchFamily="34" charset="-120"/>
              <a:ea typeface="微軟正黑體" pitchFamily="34" charset="-120"/>
            </a:endParaRPr>
          </a:p>
          <a:p>
            <a:pPr marL="0" indent="0">
              <a:buNone/>
            </a:pPr>
            <a:endParaRPr lang="en-US" altLang="zh-TW" sz="2800" dirty="0" smtClean="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6</a:t>
            </a:fld>
            <a:endParaRPr lang="zh-TW" altLang="en-US"/>
          </a:p>
        </p:txBody>
      </p:sp>
    </p:spTree>
    <p:extLst>
      <p:ext uri="{BB962C8B-B14F-4D97-AF65-F5344CB8AC3E}">
        <p14:creationId xmlns:p14="http://schemas.microsoft.com/office/powerpoint/2010/main" xmlns="" val="40130593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ea typeface="微軟正黑體" pitchFamily="34" charset="-120"/>
              </a:rPr>
              <a:t>Define Action Grammar</a:t>
            </a:r>
            <a:endParaRPr lang="zh-TW" altLang="en-US" dirty="0"/>
          </a:p>
        </p:txBody>
      </p:sp>
      <p:sp>
        <p:nvSpPr>
          <p:cNvPr id="3" name="內容版面配置區 2"/>
          <p:cNvSpPr>
            <a:spLocks noGrp="1"/>
          </p:cNvSpPr>
          <p:nvPr>
            <p:ph idx="1"/>
          </p:nvPr>
        </p:nvSpPr>
        <p:spPr>
          <a:xfrm>
            <a:off x="467544" y="1268760"/>
            <a:ext cx="8280920" cy="5256584"/>
          </a:xfrm>
        </p:spPr>
        <p:txBody>
          <a:bodyPr/>
          <a:lstStyle/>
          <a:p>
            <a:r>
              <a:rPr lang="zh-TW" altLang="en-US" sz="2800" dirty="0" smtClean="0">
                <a:latin typeface="微軟正黑體" pitchFamily="34" charset="-120"/>
                <a:ea typeface="微軟正黑體" pitchFamily="34" charset="-120"/>
              </a:rPr>
              <a:t>解析行為的發生，建立</a:t>
            </a:r>
            <a:r>
              <a:rPr lang="en-US" altLang="zh-TW" sz="2800" dirty="0" smtClean="0">
                <a:ea typeface="微軟正黑體" pitchFamily="34" charset="-120"/>
              </a:rPr>
              <a:t>Activity Tree</a:t>
            </a:r>
            <a:r>
              <a:rPr lang="zh-TW" altLang="en-US" sz="2800" dirty="0" smtClean="0">
                <a:ea typeface="微軟正黑體" pitchFamily="34" charset="-120"/>
              </a:rPr>
              <a:t>，</a:t>
            </a:r>
            <a:r>
              <a:rPr lang="en-US" altLang="zh-TW" sz="2800" dirty="0" smtClean="0">
                <a:ea typeface="微軟正黑體" pitchFamily="34" charset="-120"/>
              </a:rPr>
              <a:t> terminal node</a:t>
            </a:r>
            <a:r>
              <a:rPr lang="zh-TW" altLang="en-US" sz="2800" dirty="0" smtClean="0">
                <a:ea typeface="微軟正黑體" pitchFamily="34" charset="-120"/>
              </a:rPr>
              <a:t>表示工具或物件，</a:t>
            </a:r>
            <a:r>
              <a:rPr lang="en-US" altLang="zh-TW" sz="2800" dirty="0" smtClean="0">
                <a:ea typeface="微軟正黑體" pitchFamily="34" charset="-120"/>
              </a:rPr>
              <a:t>non-terminal node </a:t>
            </a:r>
            <a:r>
              <a:rPr lang="zh-TW" altLang="en-US" sz="2800" dirty="0" smtClean="0">
                <a:ea typeface="微軟正黑體" pitchFamily="34" charset="-120"/>
              </a:rPr>
              <a:t>為一個動作，最後達成一個活動目的。</a:t>
            </a:r>
            <a:endParaRPr lang="zh-TW" altLang="en-US" dirty="0"/>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7</a:t>
            </a:fld>
            <a:endParaRPr lang="zh-TW" altLang="en-US"/>
          </a:p>
        </p:txBody>
      </p:sp>
      <p:pic>
        <p:nvPicPr>
          <p:cNvPr id="1027" name="Picture 3" descr="C:\Users\yotsuki\Desktop\1.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03443" y="3319442"/>
            <a:ext cx="960773" cy="792088"/>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C:\Users\yotsuki\Desktop\2.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87824" y="2913795"/>
            <a:ext cx="1584176" cy="1268917"/>
          </a:xfrm>
          <a:prstGeom prst="rect">
            <a:avLst/>
          </a:prstGeom>
          <a:noFill/>
          <a:extLst>
            <a:ext uri="{909E8E84-426E-40DD-AFC4-6F175D3DCCD1}">
              <a14:hiddenFill xmlns:a14="http://schemas.microsoft.com/office/drawing/2010/main" xmlns="">
                <a:solidFill>
                  <a:srgbClr val="FFFFFF"/>
                </a:solidFill>
              </a14:hiddenFill>
            </a:ext>
          </a:extLst>
        </p:spPr>
      </p:pic>
      <p:pic>
        <p:nvPicPr>
          <p:cNvPr id="1029" name="Picture 5" descr="C:\Users\yotsuki\Desktop\3.PN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796135" y="3044290"/>
            <a:ext cx="2724033" cy="1342391"/>
          </a:xfrm>
          <a:prstGeom prst="rect">
            <a:avLst/>
          </a:prstGeom>
          <a:noFill/>
          <a:extLst>
            <a:ext uri="{909E8E84-426E-40DD-AFC4-6F175D3DCCD1}">
              <a14:hiddenFill xmlns:a14="http://schemas.microsoft.com/office/drawing/2010/main" xmlns="">
                <a:solidFill>
                  <a:srgbClr val="FFFFFF"/>
                </a:solidFill>
              </a14:hiddenFill>
            </a:ext>
          </a:extLst>
        </p:spPr>
      </p:pic>
      <p:pic>
        <p:nvPicPr>
          <p:cNvPr id="1030" name="Picture 6" descr="C:\Users\yotsuki\Desktop\4.PN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076056" y="5082911"/>
            <a:ext cx="3533437" cy="1296144"/>
          </a:xfrm>
          <a:prstGeom prst="rect">
            <a:avLst/>
          </a:prstGeom>
          <a:noFill/>
          <a:extLst>
            <a:ext uri="{909E8E84-426E-40DD-AFC4-6F175D3DCCD1}">
              <a14:hiddenFill xmlns:a14="http://schemas.microsoft.com/office/drawing/2010/main" xmlns="">
                <a:solidFill>
                  <a:srgbClr val="FFFFFF"/>
                </a:solidFill>
              </a14:hiddenFill>
            </a:ext>
          </a:extLst>
        </p:spPr>
      </p:pic>
      <p:pic>
        <p:nvPicPr>
          <p:cNvPr id="1031" name="Picture 7" descr="C:\Users\yotsuki\Desktop\5.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884257" y="4701550"/>
            <a:ext cx="3300098" cy="1670025"/>
          </a:xfrm>
          <a:prstGeom prst="rect">
            <a:avLst/>
          </a:prstGeom>
          <a:noFill/>
          <a:extLst>
            <a:ext uri="{909E8E84-426E-40DD-AFC4-6F175D3DCCD1}">
              <a14:hiddenFill xmlns:a14="http://schemas.microsoft.com/office/drawing/2010/main" xmlns="">
                <a:solidFill>
                  <a:srgbClr val="FFFFFF"/>
                </a:solidFill>
              </a14:hiddenFill>
            </a:ext>
          </a:extLst>
        </p:spPr>
      </p:pic>
      <p:sp>
        <p:nvSpPr>
          <p:cNvPr id="5" name="向右箭號 4"/>
          <p:cNvSpPr/>
          <p:nvPr/>
        </p:nvSpPr>
        <p:spPr>
          <a:xfrm>
            <a:off x="2198258" y="3559089"/>
            <a:ext cx="360040" cy="3127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向右箭號 5"/>
          <p:cNvSpPr/>
          <p:nvPr/>
        </p:nvSpPr>
        <p:spPr>
          <a:xfrm>
            <a:off x="4788024" y="3559089"/>
            <a:ext cx="360040" cy="3127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向下箭號 6"/>
          <p:cNvSpPr/>
          <p:nvPr/>
        </p:nvSpPr>
        <p:spPr>
          <a:xfrm>
            <a:off x="6585319" y="4386681"/>
            <a:ext cx="362945" cy="4104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向左箭號 7"/>
          <p:cNvSpPr/>
          <p:nvPr/>
        </p:nvSpPr>
        <p:spPr>
          <a:xfrm>
            <a:off x="4415714" y="5488148"/>
            <a:ext cx="402887" cy="3891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5821398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5496" y="332656"/>
            <a:ext cx="9217024" cy="1368152"/>
          </a:xfrm>
        </p:spPr>
        <p:txBody>
          <a:bodyPr>
            <a:normAutofit fontScale="90000"/>
          </a:bodyPr>
          <a:lstStyle/>
          <a:p>
            <a:r>
              <a:rPr lang="en-US" altLang="zh-TW" sz="4900" dirty="0" smtClean="0">
                <a:ea typeface="微軟正黑體" pitchFamily="34" charset="-120"/>
              </a:rPr>
              <a:t>Hand State Determination and Object Recognition</a:t>
            </a:r>
            <a:r>
              <a:rPr lang="en-US" altLang="zh-TW" dirty="0" smtClean="0">
                <a:ea typeface="微軟正黑體" pitchFamily="34" charset="-120"/>
              </a:rPr>
              <a:t/>
            </a:r>
            <a:br>
              <a:rPr lang="en-US" altLang="zh-TW" dirty="0" smtClean="0">
                <a:ea typeface="微軟正黑體" pitchFamily="34" charset="-120"/>
              </a:rPr>
            </a:br>
            <a:endParaRPr lang="zh-TW" altLang="en-US" dirty="0"/>
          </a:p>
        </p:txBody>
      </p:sp>
      <p:sp>
        <p:nvSpPr>
          <p:cNvPr id="3" name="內容版面配置區 2"/>
          <p:cNvSpPr>
            <a:spLocks noGrp="1"/>
          </p:cNvSpPr>
          <p:nvPr>
            <p:ph idx="1"/>
          </p:nvPr>
        </p:nvSpPr>
        <p:spPr/>
        <p:txBody>
          <a:bodyPr>
            <a:normAutofit/>
          </a:bodyPr>
          <a:lstStyle/>
          <a:p>
            <a:r>
              <a:rPr lang="zh-TW" altLang="en-US" sz="2800" dirty="0" smtClean="0">
                <a:latin typeface="微軟正黑體" pitchFamily="34" charset="-120"/>
                <a:ea typeface="微軟正黑體" pitchFamily="34" charset="-120"/>
              </a:rPr>
              <a:t>透過</a:t>
            </a:r>
            <a:r>
              <a:rPr lang="en-US" altLang="zh-TW" sz="2800" dirty="0" smtClean="0">
                <a:latin typeface="微軟正黑體" pitchFamily="34" charset="-120"/>
                <a:ea typeface="微軟正黑體" pitchFamily="34" charset="-120"/>
              </a:rPr>
              <a:t>SR4000</a:t>
            </a:r>
            <a:r>
              <a:rPr lang="zh-TW" altLang="en-US" sz="2800" dirty="0" smtClean="0">
                <a:latin typeface="微軟正黑體" pitchFamily="34" charset="-120"/>
                <a:ea typeface="微軟正黑體" pitchFamily="34" charset="-120"/>
              </a:rPr>
              <a:t>偵測手掌位置，確定手掌是否接觸物件，</a:t>
            </a:r>
            <a:r>
              <a:rPr lang="en-US" altLang="zh-TW" sz="2800" dirty="0" err="1" smtClean="0">
                <a:latin typeface="微軟正黑體" pitchFamily="34" charset="-120"/>
                <a:ea typeface="微軟正黑體" pitchFamily="34" charset="-120"/>
              </a:rPr>
              <a:t>Hs</a:t>
            </a:r>
            <a:r>
              <a:rPr lang="zh-TW" altLang="en-US" sz="2800" dirty="0" smtClean="0">
                <a:latin typeface="微軟正黑體" pitchFamily="34" charset="-120"/>
                <a:ea typeface="微軟正黑體" pitchFamily="34" charset="-120"/>
              </a:rPr>
              <a:t> </a:t>
            </a:r>
            <a:r>
              <a:rPr lang="en-US" altLang="zh-TW" sz="2800" dirty="0" smtClean="0">
                <a:latin typeface="微軟正黑體" pitchFamily="34" charset="-120"/>
                <a:ea typeface="微軟正黑體" pitchFamily="34" charset="-120"/>
              </a:rPr>
              <a:t>=</a:t>
            </a:r>
            <a:r>
              <a:rPr lang="zh-TW" altLang="en-US" sz="2800" dirty="0" smtClean="0">
                <a:latin typeface="微軟正黑體" pitchFamily="34" charset="-120"/>
                <a:ea typeface="微軟正黑體" pitchFamily="34" charset="-120"/>
              </a:rPr>
              <a:t> </a:t>
            </a:r>
            <a:r>
              <a:rPr lang="en-US" altLang="zh-TW" sz="2800" dirty="0" smtClean="0">
                <a:latin typeface="微軟正黑體" pitchFamily="34" charset="-120"/>
                <a:ea typeface="微軟正黑體" pitchFamily="34" charset="-120"/>
              </a:rPr>
              <a:t>{</a:t>
            </a:r>
            <a:r>
              <a:rPr lang="en-US" altLang="zh-TW" sz="2800" dirty="0" err="1" smtClean="0">
                <a:latin typeface="微軟正黑體" pitchFamily="34" charset="-120"/>
                <a:ea typeface="微軟正黑體" pitchFamily="34" charset="-120"/>
              </a:rPr>
              <a:t>occ</a:t>
            </a:r>
            <a:r>
              <a:rPr lang="en-US" altLang="zh-TW" sz="2800" dirty="0" smtClean="0">
                <a:latin typeface="微軟正黑體" pitchFamily="34" charset="-120"/>
                <a:ea typeface="微軟正黑體" pitchFamily="34" charset="-120"/>
              </a:rPr>
              <a:t>, free} </a:t>
            </a:r>
            <a:r>
              <a:rPr lang="zh-TW" altLang="en-US" sz="2800" dirty="0" smtClean="0">
                <a:latin typeface="微軟正黑體" pitchFamily="34" charset="-120"/>
                <a:ea typeface="微軟正黑體" pitchFamily="34" charset="-120"/>
              </a:rPr>
              <a:t>表示目前手掌狀態。</a:t>
            </a:r>
            <a:endParaRPr lang="en-US" altLang="zh-TW" sz="2800" dirty="0" smtClean="0">
              <a:latin typeface="微軟正黑體" pitchFamily="34" charset="-120"/>
              <a:ea typeface="微軟正黑體" pitchFamily="34" charset="-120"/>
            </a:endParaRPr>
          </a:p>
          <a:p>
            <a:endParaRPr lang="en-US" altLang="zh-TW" sz="2800" dirty="0" smtClean="0">
              <a:latin typeface="微軟正黑體" pitchFamily="34" charset="-120"/>
              <a:ea typeface="微軟正黑體" pitchFamily="34" charset="-120"/>
            </a:endParaRPr>
          </a:p>
          <a:p>
            <a:r>
              <a:rPr lang="en-US" altLang="zh-TW" sz="2800" dirty="0" smtClean="0">
                <a:latin typeface="微軟正黑體" pitchFamily="34" charset="-120"/>
                <a:ea typeface="微軟正黑體" pitchFamily="34" charset="-120"/>
              </a:rPr>
              <a:t>Kinect</a:t>
            </a:r>
            <a:r>
              <a:rPr lang="zh-TW" altLang="en-US" sz="2800" dirty="0" smtClean="0">
                <a:latin typeface="微軟正黑體" pitchFamily="34" charset="-120"/>
                <a:ea typeface="微軟正黑體" pitchFamily="34" charset="-120"/>
              </a:rPr>
              <a:t>的手掌位置預測輔助</a:t>
            </a:r>
            <a:r>
              <a:rPr lang="en-US" altLang="zh-TW" sz="2800" dirty="0" smtClean="0">
                <a:latin typeface="微軟正黑體" pitchFamily="34" charset="-120"/>
                <a:ea typeface="微軟正黑體" pitchFamily="34" charset="-120"/>
              </a:rPr>
              <a:t>SR4000</a:t>
            </a:r>
            <a:r>
              <a:rPr lang="zh-TW" altLang="en-US" sz="2800" dirty="0" smtClean="0">
                <a:latin typeface="微軟正黑體" pitchFamily="34" charset="-120"/>
                <a:ea typeface="微軟正黑體" pitchFamily="34" charset="-120"/>
              </a:rPr>
              <a:t>確定手掌位置。</a:t>
            </a:r>
            <a:endParaRPr lang="en-US" altLang="zh-TW" sz="2800" dirty="0" smtClean="0">
              <a:latin typeface="微軟正黑體" pitchFamily="34" charset="-120"/>
              <a:ea typeface="微軟正黑體" pitchFamily="34" charset="-120"/>
            </a:endParaRPr>
          </a:p>
          <a:p>
            <a:endParaRPr lang="en-US" altLang="zh-TW" sz="2800" dirty="0" smtClean="0">
              <a:latin typeface="微軟正黑體" pitchFamily="34" charset="-120"/>
              <a:ea typeface="微軟正黑體" pitchFamily="34" charset="-120"/>
            </a:endParaRPr>
          </a:p>
          <a:p>
            <a:r>
              <a:rPr lang="zh-TW" altLang="en-US" sz="2800" dirty="0" smtClean="0">
                <a:latin typeface="微軟正黑體" pitchFamily="34" charset="-120"/>
                <a:ea typeface="微軟正黑體" pitchFamily="34" charset="-120"/>
              </a:rPr>
              <a:t>過濾</a:t>
            </a:r>
            <a:r>
              <a:rPr lang="en-US" altLang="zh-TW" sz="2800" dirty="0" err="1" smtClean="0">
                <a:latin typeface="微軟正黑體" pitchFamily="34" charset="-120"/>
                <a:ea typeface="微軟正黑體" pitchFamily="34" charset="-120"/>
              </a:rPr>
              <a:t>Pointcloud</a:t>
            </a:r>
            <a:r>
              <a:rPr lang="zh-TW" altLang="en-US" sz="2800" dirty="0" smtClean="0">
                <a:latin typeface="微軟正黑體" pitchFamily="34" charset="-120"/>
                <a:ea typeface="微軟正黑體" pitchFamily="34" charset="-120"/>
              </a:rPr>
              <a:t>的資料，將多餘的點去除，提高物件的識別，物件識別的準確性將影響</a:t>
            </a:r>
            <a:r>
              <a:rPr lang="en-US" altLang="zh-TW" sz="2800" dirty="0" smtClean="0">
                <a:latin typeface="微軟正黑體" pitchFamily="34" charset="-120"/>
                <a:ea typeface="微軟正黑體" pitchFamily="34" charset="-120"/>
              </a:rPr>
              <a:t>Activity Tree</a:t>
            </a:r>
            <a:r>
              <a:rPr lang="zh-TW" altLang="en-US" sz="2800" dirty="0" smtClean="0">
                <a:latin typeface="微軟正黑體" pitchFamily="34" charset="-120"/>
                <a:ea typeface="微軟正黑體" pitchFamily="34" charset="-120"/>
              </a:rPr>
              <a:t>的建立。</a:t>
            </a:r>
            <a:endParaRPr lang="en-US" altLang="zh-TW" sz="2800" dirty="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8</a:t>
            </a:fld>
            <a:endParaRPr lang="zh-TW" altLang="en-US"/>
          </a:p>
        </p:txBody>
      </p:sp>
    </p:spTree>
    <p:extLst>
      <p:ext uri="{BB962C8B-B14F-4D97-AF65-F5344CB8AC3E}">
        <p14:creationId xmlns:p14="http://schemas.microsoft.com/office/powerpoint/2010/main" xmlns="" val="24177467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ea typeface="微軟正黑體" pitchFamily="34" charset="-120"/>
              </a:rPr>
              <a:t>Activity Tree</a:t>
            </a:r>
            <a:endParaRPr lang="zh-TW" altLang="en-US" dirty="0"/>
          </a:p>
        </p:txBody>
      </p:sp>
      <p:sp>
        <p:nvSpPr>
          <p:cNvPr id="3" name="內容版面配置區 2"/>
          <p:cNvSpPr>
            <a:spLocks noGrp="1"/>
          </p:cNvSpPr>
          <p:nvPr>
            <p:ph idx="1"/>
          </p:nvPr>
        </p:nvSpPr>
        <p:spPr>
          <a:xfrm>
            <a:off x="457200" y="1340768"/>
            <a:ext cx="7859216" cy="4785395"/>
          </a:xfrm>
        </p:spPr>
        <p:txBody>
          <a:bodyPr>
            <a:normAutofit/>
          </a:bodyPr>
          <a:lstStyle/>
          <a:p>
            <a:r>
              <a:rPr lang="zh-TW" altLang="en-US" sz="2800" dirty="0" smtClean="0">
                <a:ea typeface="微軟正黑體" pitchFamily="34" charset="-120"/>
              </a:rPr>
              <a:t>當手或是手握住的工具接觸到一個新的物件，就會新增一個</a:t>
            </a:r>
            <a:r>
              <a:rPr lang="en-US" altLang="zh-TW" sz="2800" dirty="0" smtClean="0">
                <a:ea typeface="微軟正黑體" pitchFamily="34" charset="-120"/>
              </a:rPr>
              <a:t>Tree node</a:t>
            </a:r>
            <a:r>
              <a:rPr lang="zh-TW" altLang="en-US" sz="2800" dirty="0" smtClean="0">
                <a:ea typeface="微軟正黑體" pitchFamily="34" charset="-120"/>
              </a:rPr>
              <a:t>，</a:t>
            </a:r>
            <a:r>
              <a:rPr lang="en-US" altLang="zh-TW" sz="2800" dirty="0" smtClean="0">
                <a:ea typeface="微軟正黑體" pitchFamily="34" charset="-120"/>
              </a:rPr>
              <a:t>node</a:t>
            </a:r>
            <a:r>
              <a:rPr lang="zh-TW" altLang="en-US" sz="2800" dirty="0" smtClean="0">
                <a:ea typeface="微軟正黑體" pitchFamily="34" charset="-120"/>
              </a:rPr>
              <a:t>會持續追蹤物件最初及最後被看到的時間，還有物件的識別狀態。</a:t>
            </a:r>
            <a:endParaRPr lang="en-US" altLang="zh-TW" sz="2800" dirty="0" smtClean="0">
              <a:ea typeface="微軟正黑體" pitchFamily="34" charset="-120"/>
            </a:endParaRPr>
          </a:p>
          <a:p>
            <a:endParaRPr lang="en-US" altLang="zh-TW" sz="2800" dirty="0" smtClean="0">
              <a:ea typeface="微軟正黑體" pitchFamily="34" charset="-120"/>
            </a:endParaRPr>
          </a:p>
          <a:p>
            <a:r>
              <a:rPr lang="zh-TW" altLang="en-US" sz="2800" dirty="0" smtClean="0">
                <a:ea typeface="微軟正黑體" pitchFamily="34" charset="-120"/>
              </a:rPr>
              <a:t>物件經由手掌接觸行為，逐漸建立</a:t>
            </a:r>
            <a:r>
              <a:rPr lang="en-US" altLang="zh-TW" sz="2800" dirty="0" smtClean="0">
                <a:ea typeface="微軟正黑體" pitchFamily="34" charset="-120"/>
              </a:rPr>
              <a:t>Tree structures</a:t>
            </a:r>
            <a:r>
              <a:rPr lang="zh-TW" altLang="en-US" sz="2800" dirty="0" smtClean="0">
                <a:latin typeface="微軟正黑體" pitchFamily="34" charset="-120"/>
                <a:ea typeface="微軟正黑體" pitchFamily="34" charset="-120"/>
              </a:rPr>
              <a:t>。</a:t>
            </a:r>
            <a:endParaRPr lang="en-US" altLang="zh-TW" sz="2800" dirty="0">
              <a:latin typeface="微軟正黑體" pitchFamily="34" charset="-120"/>
              <a:ea typeface="微軟正黑體" pitchFamily="34" charset="-120"/>
            </a:endParaRPr>
          </a:p>
          <a:p>
            <a:endParaRPr lang="en-US" altLang="zh-TW" sz="2800" dirty="0"/>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9</a:t>
            </a:fld>
            <a:endParaRPr lang="zh-TW" altLang="en-US"/>
          </a:p>
        </p:txBody>
      </p:sp>
    </p:spTree>
    <p:extLst>
      <p:ext uri="{BB962C8B-B14F-4D97-AF65-F5344CB8AC3E}">
        <p14:creationId xmlns:p14="http://schemas.microsoft.com/office/powerpoint/2010/main" xmlns="" val="2824751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ea typeface="微軟正黑體" pitchFamily="34" charset="-120"/>
              </a:rPr>
              <a:t>Activity Tree</a:t>
            </a:r>
            <a:endParaRPr lang="zh-TW" altLang="en-US" dirty="0"/>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10</a:t>
            </a:fld>
            <a:endParaRPr lang="zh-TW" altLang="en-US"/>
          </a:p>
        </p:txBody>
      </p:sp>
      <p:pic>
        <p:nvPicPr>
          <p:cNvPr id="4098" name="Picture 2" descr="C:\Users\yotsuki\Desktop\擷取.PNG"/>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35696" y="1099377"/>
            <a:ext cx="5256584" cy="55699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515504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ea typeface="微軟正黑體" pitchFamily="34" charset="-120"/>
                <a:cs typeface="Times New Roman" pitchFamily="18" charset="0"/>
              </a:rPr>
              <a:t>Activity Tree</a:t>
            </a:r>
            <a:endParaRPr lang="zh-TW" altLang="en-US" dirty="0">
              <a:cs typeface="Times New Roman" pitchFamily="18" charset="0"/>
            </a:endParaRPr>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457200" y="1484784"/>
                <a:ext cx="8229600" cy="4896544"/>
              </a:xfrm>
            </p:spPr>
            <p:txBody>
              <a:bodyPr/>
              <a:lstStyle/>
              <a:p>
                <a:r>
                  <a:rPr lang="zh-TW" altLang="en-US" sz="2800" dirty="0" smtClean="0">
                    <a:ea typeface="微軟正黑體" pitchFamily="34" charset="-120"/>
                  </a:rPr>
                  <a:t>行為偵測需考慮與當前操作活動的相關性，例如：活動中桌面的清理，工具換手使用</a:t>
                </a:r>
                <a:r>
                  <a:rPr lang="en-US" altLang="zh-TW" sz="2800" dirty="0" smtClean="0">
                    <a:ea typeface="微軟正黑體" pitchFamily="34" charset="-120"/>
                  </a:rPr>
                  <a:t>…</a:t>
                </a:r>
                <a:r>
                  <a:rPr lang="zh-TW" altLang="en-US" sz="2800" dirty="0" smtClean="0">
                    <a:ea typeface="微軟正黑體" pitchFamily="34" charset="-120"/>
                  </a:rPr>
                  <a:t>等較無規律的行為，都是需要排除的行為。</a:t>
                </a:r>
                <a:endParaRPr lang="en-US" altLang="zh-TW" sz="2800" dirty="0" smtClean="0">
                  <a:ea typeface="微軟正黑體" pitchFamily="34" charset="-120"/>
                </a:endParaRPr>
              </a:p>
              <a:p>
                <a:r>
                  <a:rPr lang="zh-TW" altLang="en-US" sz="2800" dirty="0">
                    <a:ea typeface="微軟正黑體" pitchFamily="34" charset="-120"/>
                  </a:rPr>
                  <a:t>單向行為的</a:t>
                </a:r>
                <a:r>
                  <a:rPr lang="zh-TW" altLang="en-US" sz="2800" dirty="0" smtClean="0">
                    <a:ea typeface="微軟正黑體" pitchFamily="34" charset="-120"/>
                  </a:rPr>
                  <a:t>判斷，關鍵合併事件的處理，有助於操作活動的分析，例如：縫製玩具時，布料的縫合，合併為單一物件。</a:t>
                </a:r>
                <a:endParaRPr lang="en-US" altLang="zh-TW" sz="2800" dirty="0" smtClean="0">
                  <a:ea typeface="微軟正黑體" pitchFamily="34" charset="-120"/>
                </a:endParaRPr>
              </a:p>
              <a:p>
                <a:r>
                  <a:rPr lang="zh-TW" altLang="en-US" sz="2800" dirty="0" smtClean="0">
                    <a:ea typeface="微軟正黑體" pitchFamily="34" charset="-120"/>
                    <a:cs typeface="Times New Roman" pitchFamily="18" charset="0"/>
                  </a:rPr>
                  <a:t>紀錄</a:t>
                </a:r>
                <a:r>
                  <a:rPr lang="en-US" altLang="zh-TW" sz="2800" dirty="0" smtClean="0">
                    <a:ea typeface="微軟正黑體" pitchFamily="34" charset="-120"/>
                    <a:cs typeface="Times New Roman" pitchFamily="18" charset="0"/>
                  </a:rPr>
                  <a:t>Tree</a:t>
                </a:r>
                <a:r>
                  <a:rPr lang="zh-TW" altLang="en-US" sz="2800" dirty="0" smtClean="0">
                    <a:ea typeface="微軟正黑體" pitchFamily="34" charset="-120"/>
                    <a:cs typeface="Times New Roman" pitchFamily="18" charset="0"/>
                  </a:rPr>
                  <a:t>間的</a:t>
                </a:r>
                <a:r>
                  <a:rPr lang="en-US" altLang="zh-TW" sz="2800" dirty="0" smtClean="0">
                    <a:ea typeface="微軟正黑體" pitchFamily="34" charset="-120"/>
                    <a:cs typeface="Times New Roman" pitchFamily="18" charset="0"/>
                  </a:rPr>
                  <a:t>minimal edit distance</a:t>
                </a:r>
                <a:r>
                  <a:rPr lang="zh-TW" altLang="en-US" sz="2800" dirty="0" smtClean="0">
                    <a:ea typeface="微軟正黑體" pitchFamily="34" charset="-120"/>
                    <a:cs typeface="Times New Roman" pitchFamily="18" charset="0"/>
                  </a:rPr>
                  <a:t>來比較兩個</a:t>
                </a:r>
                <a:r>
                  <a:rPr lang="en-US" altLang="zh-TW" sz="2800" dirty="0" smtClean="0">
                    <a:ea typeface="微軟正黑體" pitchFamily="34" charset="-120"/>
                    <a:cs typeface="Times New Roman" pitchFamily="18" charset="0"/>
                  </a:rPr>
                  <a:t>Tree</a:t>
                </a:r>
                <a:r>
                  <a:rPr lang="zh-TW" altLang="en-US" sz="2800" dirty="0" smtClean="0">
                    <a:ea typeface="微軟正黑體" pitchFamily="34" charset="-120"/>
                    <a:cs typeface="Times New Roman" pitchFamily="18" charset="0"/>
                  </a:rPr>
                  <a:t>間的相似性，目前找尋</a:t>
                </a:r>
                <a:r>
                  <a:rPr lang="en-US" altLang="zh-TW" sz="2800" dirty="0">
                    <a:ea typeface="微軟正黑體" pitchFamily="34" charset="-120"/>
                    <a:cs typeface="Times New Roman" pitchFamily="18" charset="0"/>
                  </a:rPr>
                  <a:t>minimal edit </a:t>
                </a:r>
                <a:r>
                  <a:rPr lang="en-US" altLang="zh-TW" sz="2800" dirty="0" smtClean="0">
                    <a:ea typeface="微軟正黑體" pitchFamily="34" charset="-120"/>
                    <a:cs typeface="Times New Roman" pitchFamily="18" charset="0"/>
                  </a:rPr>
                  <a:t>distance</a:t>
                </a:r>
                <a:r>
                  <a:rPr lang="zh-TW" altLang="en-US" sz="2800" dirty="0" smtClean="0">
                    <a:ea typeface="微軟正黑體" pitchFamily="34" charset="-120"/>
                    <a:cs typeface="Times New Roman" pitchFamily="18" charset="0"/>
                  </a:rPr>
                  <a:t>較有效的演算法時間複雜度為</a:t>
                </a:r>
                <a:r>
                  <a:rPr lang="en-US" altLang="zh-TW" sz="2800" dirty="0" smtClean="0">
                    <a:ea typeface="微軟正黑體" pitchFamily="34" charset="-120"/>
                    <a:cs typeface="Times New Roman" pitchFamily="18" charset="0"/>
                  </a:rPr>
                  <a:t>O(</a:t>
                </a:r>
                <a14:m>
                  <m:oMath xmlns:m="http://schemas.openxmlformats.org/officeDocument/2006/math">
                    <m:sSup>
                      <m:sSupPr>
                        <m:ctrlPr>
                          <a:rPr lang="en-US" altLang="zh-TW" sz="2800" i="1" smtClean="0">
                            <a:ea typeface="微軟正黑體" pitchFamily="34" charset="-120"/>
                          </a:rPr>
                        </m:ctrlPr>
                      </m:sSupPr>
                      <m:e>
                        <m:r>
                          <a:rPr lang="en-US" altLang="zh-TW" sz="2800" b="0" i="1" smtClean="0">
                            <a:ea typeface="微軟正黑體" pitchFamily="34" charset="-120"/>
                          </a:rPr>
                          <m:t>𝑛</m:t>
                        </m:r>
                      </m:e>
                      <m:sup>
                        <m:r>
                          <a:rPr lang="en-US" altLang="zh-TW" sz="2800" b="0" i="1" smtClean="0">
                            <a:ea typeface="微軟正黑體" pitchFamily="34" charset="-120"/>
                          </a:rPr>
                          <m:t>3</m:t>
                        </m:r>
                      </m:sup>
                    </m:sSup>
                  </m:oMath>
                </a14:m>
                <a:r>
                  <a:rPr lang="en-US" altLang="zh-TW" sz="2800" dirty="0" smtClean="0">
                    <a:ea typeface="微軟正黑體" pitchFamily="34" charset="-120"/>
                    <a:cs typeface="Times New Roman" pitchFamily="18" charset="0"/>
                  </a:rPr>
                  <a:t>)(n&gt;m)</a:t>
                </a:r>
                <a:r>
                  <a:rPr lang="zh-TW" altLang="en-US" sz="2800" dirty="0" smtClean="0">
                    <a:ea typeface="微軟正黑體" pitchFamily="34" charset="-120"/>
                    <a:cs typeface="Times New Roman" pitchFamily="18" charset="0"/>
                  </a:rPr>
                  <a:t>，空間複雜度</a:t>
                </a:r>
                <a:r>
                  <a:rPr lang="en-US" altLang="zh-TW" sz="2800" dirty="0" smtClean="0">
                    <a:ea typeface="微軟正黑體" pitchFamily="34" charset="-120"/>
                    <a:cs typeface="Times New Roman" pitchFamily="18" charset="0"/>
                  </a:rPr>
                  <a:t>O(</a:t>
                </a:r>
                <a:r>
                  <a:rPr lang="en-US" altLang="zh-TW" sz="2800" dirty="0" err="1" smtClean="0">
                    <a:ea typeface="微軟正黑體" pitchFamily="34" charset="-120"/>
                    <a:cs typeface="Times New Roman" pitchFamily="18" charset="0"/>
                  </a:rPr>
                  <a:t>mn</a:t>
                </a:r>
                <a:r>
                  <a:rPr lang="en-US" altLang="zh-TW" sz="2800" dirty="0" smtClean="0">
                    <a:ea typeface="微軟正黑體" pitchFamily="34" charset="-120"/>
                    <a:cs typeface="Times New Roman" pitchFamily="18" charset="0"/>
                  </a:rPr>
                  <a:t>)</a:t>
                </a:r>
                <a:r>
                  <a:rPr lang="zh-TW" altLang="en-US" sz="2800" dirty="0">
                    <a:ea typeface="微軟正黑體" pitchFamily="34" charset="-120"/>
                    <a:cs typeface="Times New Roman" pitchFamily="18" charset="0"/>
                  </a:rPr>
                  <a:t>。</a:t>
                </a:r>
                <a:endParaRPr lang="zh-TW" altLang="en-US" dirty="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457200" y="1484784"/>
                <a:ext cx="8229600" cy="4896544"/>
              </a:xfrm>
              <a:blipFill rotWithShape="1">
                <a:blip r:embed="rId2" cstate="print"/>
                <a:stretch>
                  <a:fillRect l="-1259" t="-1121" r="-296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126F7BFD-7552-4D7A-A553-3C2ED811A493}" type="slidenum">
              <a:rPr lang="zh-TW" altLang="en-US" smtClean="0"/>
              <a:pPr/>
              <a:t>11</a:t>
            </a:fld>
            <a:endParaRPr lang="zh-TW" altLang="en-US"/>
          </a:p>
        </p:txBody>
      </p:sp>
    </p:spTree>
    <p:extLst>
      <p:ext uri="{BB962C8B-B14F-4D97-AF65-F5344CB8AC3E}">
        <p14:creationId xmlns:p14="http://schemas.microsoft.com/office/powerpoint/2010/main" xmlns="" val="34024517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Separating Interleaved Activities</a:t>
            </a:r>
            <a:endParaRPr lang="zh-TW" altLang="en-US" dirty="0"/>
          </a:p>
        </p:txBody>
      </p:sp>
      <p:sp>
        <p:nvSpPr>
          <p:cNvPr id="3" name="內容版面配置區 2"/>
          <p:cNvSpPr>
            <a:spLocks noGrp="1"/>
          </p:cNvSpPr>
          <p:nvPr>
            <p:ph idx="1"/>
          </p:nvPr>
        </p:nvSpPr>
        <p:spPr/>
        <p:txBody>
          <a:bodyPr>
            <a:normAutofit/>
          </a:bodyPr>
          <a:lstStyle/>
          <a:p>
            <a:r>
              <a:rPr lang="zh-TW" altLang="en-US" sz="2800" dirty="0" smtClean="0">
                <a:latin typeface="微軟正黑體" pitchFamily="34" charset="-120"/>
                <a:ea typeface="微軟正黑體" pitchFamily="34" charset="-120"/>
              </a:rPr>
              <a:t>許多情況中，操作活動是一個不間斷的序列，但人類也可能同時進行許多的操作活動，透過分段活動時間的紀錄，可以簡單的識別混合的操作活動。</a:t>
            </a:r>
            <a:endParaRPr lang="zh-TW" altLang="en-US" sz="2800" dirty="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12</a:t>
            </a:fld>
            <a:endParaRPr lang="zh-TW" altLang="en-US"/>
          </a:p>
        </p:txBody>
      </p:sp>
      <p:pic>
        <p:nvPicPr>
          <p:cNvPr id="1026" name="Picture 2" descr="C:\Users\yotsuki\Desktop\擷取.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9907" y="3726235"/>
            <a:ext cx="8000276" cy="258126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82717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a:t>
            </a:r>
            <a:endParaRPr lang="zh-TW" altLang="en-US" dirty="0"/>
          </a:p>
        </p:txBody>
      </p:sp>
      <p:sp>
        <p:nvSpPr>
          <p:cNvPr id="3" name="內容版面配置區 2"/>
          <p:cNvSpPr>
            <a:spLocks noGrp="1"/>
          </p:cNvSpPr>
          <p:nvPr>
            <p:ph idx="1"/>
          </p:nvPr>
        </p:nvSpPr>
        <p:spPr>
          <a:xfrm>
            <a:off x="457200" y="1484784"/>
            <a:ext cx="8229600" cy="4641379"/>
          </a:xfrm>
        </p:spPr>
        <p:txBody>
          <a:bodyPr>
            <a:normAutofit/>
          </a:bodyPr>
          <a:lstStyle/>
          <a:p>
            <a:r>
              <a:rPr lang="zh-TW" altLang="en-US" sz="2800" dirty="0" smtClean="0">
                <a:ea typeface="微軟正黑體" pitchFamily="34" charset="-120"/>
              </a:rPr>
              <a:t>透過行為語法建立</a:t>
            </a:r>
            <a:r>
              <a:rPr lang="en-US" altLang="zh-TW" sz="2800" dirty="0" smtClean="0">
                <a:ea typeface="微軟正黑體" pitchFamily="34" charset="-120"/>
              </a:rPr>
              <a:t>Activity </a:t>
            </a:r>
            <a:r>
              <a:rPr lang="en-US" altLang="zh-TW" sz="2800" dirty="0">
                <a:ea typeface="微軟正黑體" pitchFamily="34" charset="-120"/>
              </a:rPr>
              <a:t>T</a:t>
            </a:r>
            <a:r>
              <a:rPr lang="en-US" altLang="zh-TW" sz="2800" dirty="0" smtClean="0">
                <a:ea typeface="微軟正黑體" pitchFamily="34" charset="-120"/>
              </a:rPr>
              <a:t>ree</a:t>
            </a:r>
            <a:r>
              <a:rPr lang="zh-TW" altLang="en-US" sz="2800" dirty="0" smtClean="0">
                <a:ea typeface="微軟正黑體" pitchFamily="34" charset="-120"/>
              </a:rPr>
              <a:t>來解析複雜活動是可行的，此方法可以很容易地擴展更多的操作活動，提供機器人即時的行動及輔助資訊。</a:t>
            </a:r>
            <a:endParaRPr lang="en-US" altLang="zh-TW" sz="2800" dirty="0" smtClean="0">
              <a:ea typeface="微軟正黑體" pitchFamily="34" charset="-120"/>
            </a:endParaRPr>
          </a:p>
          <a:p>
            <a:endParaRPr lang="en-US" altLang="zh-TW" sz="2800" dirty="0" smtClean="0">
              <a:ea typeface="微軟正黑體" pitchFamily="34" charset="-120"/>
            </a:endParaRPr>
          </a:p>
          <a:p>
            <a:r>
              <a:rPr lang="en-US" altLang="zh-TW" sz="2800" dirty="0" smtClean="0">
                <a:ea typeface="微軟正黑體" pitchFamily="34" charset="-120"/>
              </a:rPr>
              <a:t>Activity Tree</a:t>
            </a:r>
            <a:r>
              <a:rPr lang="zh-TW" altLang="en-US" sz="2800" dirty="0" smtClean="0">
                <a:ea typeface="微軟正黑體" pitchFamily="34" charset="-120"/>
              </a:rPr>
              <a:t>可以透過納入更多的動作識別技術，來提升準確性</a:t>
            </a:r>
            <a:r>
              <a:rPr lang="zh-TW" altLang="en-US" sz="2800" dirty="0" smtClean="0">
                <a:latin typeface="微軟正黑體" pitchFamily="34" charset="-120"/>
                <a:ea typeface="微軟正黑體" pitchFamily="34" charset="-120"/>
              </a:rPr>
              <a:t>。</a:t>
            </a:r>
            <a:endParaRPr lang="en-US" altLang="zh-TW" sz="2800" dirty="0" smtClean="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126F7BFD-7552-4D7A-A553-3C2ED811A493}" type="slidenum">
              <a:rPr lang="zh-TW" altLang="en-US" smtClean="0"/>
              <a:pPr/>
              <a:t>13</a:t>
            </a:fld>
            <a:endParaRPr lang="zh-TW" altLang="en-US"/>
          </a:p>
        </p:txBody>
      </p:sp>
    </p:spTree>
    <p:extLst>
      <p:ext uri="{BB962C8B-B14F-4D97-AF65-F5344CB8AC3E}">
        <p14:creationId xmlns:p14="http://schemas.microsoft.com/office/powerpoint/2010/main" xmlns="" val="395716855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1133</TotalTime>
  <Words>450</Words>
  <Application>Microsoft Office PowerPoint</Application>
  <PresentationFormat>如螢幕大小 (4:3)</PresentationFormat>
  <Paragraphs>67</Paragraphs>
  <Slides>13</Slides>
  <Notes>1</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Using a Minimal Action Grammar for Activity Understanding in the Real World</vt:lpstr>
      <vt:lpstr>Abstract</vt:lpstr>
      <vt:lpstr>Abstract</vt:lpstr>
      <vt:lpstr>Approach</vt:lpstr>
      <vt:lpstr>Introducing Data</vt:lpstr>
      <vt:lpstr>Define Action Grammar</vt:lpstr>
      <vt:lpstr>Define Action Grammar</vt:lpstr>
      <vt:lpstr>Hand State Determination and Object Recognition </vt:lpstr>
      <vt:lpstr>Activity Tree</vt:lpstr>
      <vt:lpstr>Activity Tree</vt:lpstr>
      <vt:lpstr>Activity Tree</vt:lpstr>
      <vt:lpstr>Separating Interleaved Activities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yotsuki</dc:creator>
  <cp:lastModifiedBy>user</cp:lastModifiedBy>
  <cp:revision>75</cp:revision>
  <dcterms:created xsi:type="dcterms:W3CDTF">2013-08-19T04:08:46Z</dcterms:created>
  <dcterms:modified xsi:type="dcterms:W3CDTF">2013-08-20T09:06:44Z</dcterms:modified>
</cp:coreProperties>
</file>