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0" r:id="rId8"/>
    <p:sldId id="265" r:id="rId9"/>
    <p:sldId id="264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68" d="100"/>
          <a:sy n="68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CB13-A206-42F3-9E6A-15D1A4A0E4AE}" type="datetimeFigureOut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DF504-D929-46BE-A453-AD7A031C3E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098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CB13-A206-42F3-9E6A-15D1A4A0E4AE}" type="datetimeFigureOut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DF504-D929-46BE-A453-AD7A031C3E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760999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CB13-A206-42F3-9E6A-15D1A4A0E4AE}" type="datetimeFigureOut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DF504-D929-46BE-A453-AD7A031C3E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76070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CB13-A206-42F3-9E6A-15D1A4A0E4AE}" type="datetimeFigureOut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DF504-D929-46BE-A453-AD7A031C3E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5038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CB13-A206-42F3-9E6A-15D1A4A0E4AE}" type="datetimeFigureOut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DF504-D929-46BE-A453-AD7A031C3E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641256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CB13-A206-42F3-9E6A-15D1A4A0E4AE}" type="datetimeFigureOut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DF504-D929-46BE-A453-AD7A031C3E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749275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CB13-A206-42F3-9E6A-15D1A4A0E4AE}" type="datetimeFigureOut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DF504-D929-46BE-A453-AD7A031C3E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81040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CB13-A206-42F3-9E6A-15D1A4A0E4AE}" type="datetimeFigureOut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DF504-D929-46BE-A453-AD7A031C3E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13920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CB13-A206-42F3-9E6A-15D1A4A0E4AE}" type="datetimeFigureOut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DF504-D929-46BE-A453-AD7A031C3E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24453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CB13-A206-42F3-9E6A-15D1A4A0E4AE}" type="datetimeFigureOut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DF504-D929-46BE-A453-AD7A031C3E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55258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CB13-A206-42F3-9E6A-15D1A4A0E4AE}" type="datetimeFigureOut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DF504-D929-46BE-A453-AD7A031C3E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36352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ACB13-A206-42F3-9E6A-15D1A4A0E4AE}" type="datetimeFigureOut">
              <a:rPr lang="zh-TW" altLang="en-US" smtClean="0"/>
              <a:pPr/>
              <a:t>2013/8/20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DF504-D929-46BE-A453-AD7A031C3E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198985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COPE: An accurate k-</a:t>
            </a:r>
            <a:r>
              <a:rPr lang="en-US" altLang="zh-TW" dirty="0" err="1" smtClean="0"/>
              <a:t>mer</a:t>
            </a:r>
            <a:r>
              <a:rPr lang="en-US" altLang="zh-TW" dirty="0" smtClean="0"/>
              <a:t> based pair-end reads connection tool</a:t>
            </a:r>
            <a:br>
              <a:rPr lang="en-US" altLang="zh-TW" dirty="0" smtClean="0"/>
            </a:br>
            <a:r>
              <a:rPr lang="en-US" altLang="zh-TW" dirty="0" smtClean="0"/>
              <a:t>to facilitate genome assembly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altLang="zh-TW" dirty="0" err="1"/>
              <a:t>Binghang</a:t>
            </a:r>
            <a:r>
              <a:rPr lang="en-US" altLang="zh-TW" dirty="0"/>
              <a:t> </a:t>
            </a:r>
            <a:r>
              <a:rPr lang="en-US" altLang="zh-TW" dirty="0" smtClean="0"/>
              <a:t>Liu, </a:t>
            </a:r>
            <a:r>
              <a:rPr lang="en-US" altLang="zh-TW" dirty="0" err="1"/>
              <a:t>Jianying</a:t>
            </a:r>
            <a:r>
              <a:rPr lang="en-US" altLang="zh-TW" dirty="0"/>
              <a:t> </a:t>
            </a:r>
            <a:r>
              <a:rPr lang="en-US" altLang="zh-TW" dirty="0" smtClean="0"/>
              <a:t>Yuan, </a:t>
            </a:r>
            <a:r>
              <a:rPr lang="en-US" altLang="zh-TW" dirty="0" err="1"/>
              <a:t>Siu</a:t>
            </a:r>
            <a:r>
              <a:rPr lang="en-US" altLang="zh-TW" dirty="0"/>
              <a:t>-Ming </a:t>
            </a:r>
            <a:r>
              <a:rPr lang="en-US" altLang="zh-TW" dirty="0" err="1" smtClean="0"/>
              <a:t>Yiu</a:t>
            </a:r>
            <a:r>
              <a:rPr lang="en-US" altLang="zh-TW" dirty="0" smtClean="0"/>
              <a:t>, </a:t>
            </a:r>
            <a:r>
              <a:rPr lang="en-US" altLang="zh-TW" dirty="0" err="1"/>
              <a:t>Zhenyu</a:t>
            </a:r>
            <a:r>
              <a:rPr lang="en-US" altLang="zh-TW" dirty="0"/>
              <a:t> </a:t>
            </a:r>
            <a:r>
              <a:rPr lang="en-US" altLang="zh-TW" dirty="0" smtClean="0"/>
              <a:t>Li, </a:t>
            </a:r>
            <a:r>
              <a:rPr lang="en-US" altLang="zh-TW" dirty="0" err="1"/>
              <a:t>Yinlong</a:t>
            </a:r>
            <a:r>
              <a:rPr lang="en-US" altLang="zh-TW" dirty="0"/>
              <a:t> </a:t>
            </a:r>
            <a:r>
              <a:rPr lang="en-US" altLang="zh-TW" dirty="0" err="1" smtClean="0"/>
              <a:t>Xie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Yanxiang</a:t>
            </a:r>
            <a:r>
              <a:rPr lang="en-US" altLang="zh-TW" dirty="0" smtClean="0"/>
              <a:t>, Chen</a:t>
            </a:r>
            <a:r>
              <a:rPr lang="en-US" altLang="zh-TW" dirty="0" smtClean="0"/>
              <a:t>, </a:t>
            </a:r>
            <a:r>
              <a:rPr lang="en-US" altLang="zh-TW" dirty="0" err="1"/>
              <a:t>Yujian</a:t>
            </a:r>
            <a:r>
              <a:rPr lang="en-US" altLang="zh-TW" dirty="0"/>
              <a:t> </a:t>
            </a:r>
            <a:r>
              <a:rPr lang="en-US" altLang="zh-TW" dirty="0" smtClean="0"/>
              <a:t>Shi, </a:t>
            </a:r>
            <a:r>
              <a:rPr lang="en-US" altLang="zh-TW" dirty="0" err="1"/>
              <a:t>Hao</a:t>
            </a:r>
            <a:r>
              <a:rPr lang="en-US" altLang="zh-TW" dirty="0"/>
              <a:t> </a:t>
            </a:r>
            <a:r>
              <a:rPr lang="en-US" altLang="zh-TW" dirty="0" smtClean="0"/>
              <a:t>Zhang, </a:t>
            </a:r>
            <a:r>
              <a:rPr lang="en-US" altLang="zh-TW" dirty="0" err="1"/>
              <a:t>Yingrui</a:t>
            </a:r>
            <a:r>
              <a:rPr lang="en-US" altLang="zh-TW" dirty="0"/>
              <a:t> </a:t>
            </a:r>
            <a:r>
              <a:rPr lang="en-US" altLang="zh-TW" dirty="0" smtClean="0"/>
              <a:t>Li, </a:t>
            </a:r>
            <a:r>
              <a:rPr lang="en-US" altLang="zh-TW" dirty="0" err="1"/>
              <a:t>Tak-Wah</a:t>
            </a:r>
            <a:r>
              <a:rPr lang="en-US" altLang="zh-TW" dirty="0"/>
              <a:t> </a:t>
            </a:r>
            <a:r>
              <a:rPr lang="en-US" altLang="zh-TW" dirty="0" smtClean="0"/>
              <a:t>Lam, </a:t>
            </a:r>
            <a:r>
              <a:rPr lang="en-US" altLang="zh-TW" dirty="0" smtClean="0"/>
              <a:t>and </a:t>
            </a:r>
            <a:r>
              <a:rPr lang="en-US" altLang="zh-TW" dirty="0" err="1" smtClean="0"/>
              <a:t>Ruibang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Luo</a:t>
            </a:r>
            <a:endParaRPr lang="en-US" altLang="zh-TW" dirty="0"/>
          </a:p>
          <a:p>
            <a:pPr algn="l"/>
            <a:r>
              <a:rPr lang="en-US" altLang="zh-TW" dirty="0" smtClean="0"/>
              <a:t>Bioinformatics , Vol. 28, No. 22, 2012, pp. </a:t>
            </a:r>
            <a:r>
              <a:rPr lang="en-US" altLang="zh-TW" dirty="0" smtClean="0"/>
              <a:t>2870-2874</a:t>
            </a:r>
            <a:r>
              <a:rPr lang="en-US" altLang="zh-TW" dirty="0" smtClean="0"/>
              <a:t> </a:t>
            </a:r>
          </a:p>
          <a:p>
            <a:pPr algn="l"/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6929454" y="5715016"/>
            <a:ext cx="1857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周展億</a:t>
            </a:r>
            <a:endParaRPr lang="en-US" altLang="zh-TW" dirty="0" smtClean="0"/>
          </a:p>
          <a:p>
            <a:r>
              <a:rPr lang="en-US" altLang="zh-TW" dirty="0" smtClean="0"/>
              <a:t>2013-08-20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071423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922773" y="1447031"/>
            <a:ext cx="7297832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Motivation</a:t>
            </a:r>
            <a:r>
              <a:rPr lang="en-US" altLang="zh-TW" dirty="0" smtClean="0"/>
              <a:t>: The boost of next-generation sequencing technologies provides</a:t>
            </a:r>
          </a:p>
          <a:p>
            <a:r>
              <a:rPr lang="en-US" altLang="zh-TW" dirty="0" smtClean="0"/>
              <a:t>us with an unprecedented opportunity for elucidating genetic mysteries,</a:t>
            </a:r>
          </a:p>
          <a:p>
            <a:r>
              <a:rPr lang="en-US" altLang="zh-TW" dirty="0" smtClean="0"/>
              <a:t>yet the short read length hinders us from better assembling the genome</a:t>
            </a:r>
          </a:p>
          <a:p>
            <a:r>
              <a:rPr lang="en-US" altLang="zh-TW" dirty="0" smtClean="0"/>
              <a:t>from scratch. New protocols now exist that can generate overlapping pair-end</a:t>
            </a:r>
          </a:p>
          <a:p>
            <a:r>
              <a:rPr lang="en-US" altLang="zh-TW" dirty="0" smtClean="0"/>
              <a:t>reads. By joining the 3’-ends of each read pair, one is able to construct</a:t>
            </a:r>
          </a:p>
          <a:p>
            <a:r>
              <a:rPr lang="en-US" altLang="zh-TW" dirty="0" smtClean="0"/>
              <a:t>longer reads for assembling. However, effectively joining two overlapped</a:t>
            </a:r>
          </a:p>
          <a:p>
            <a:r>
              <a:rPr lang="en-US" altLang="zh-TW" dirty="0" smtClean="0"/>
              <a:t>pair-end reads remains a challenging task.</a:t>
            </a:r>
            <a:r>
              <a:rPr lang="en-US" altLang="zh-TW" b="1" dirty="0"/>
              <a:t> </a:t>
            </a:r>
            <a:endParaRPr lang="en-US" altLang="zh-TW" b="1" dirty="0" smtClean="0"/>
          </a:p>
          <a:p>
            <a:r>
              <a:rPr lang="en-US" altLang="zh-TW" b="1" dirty="0" smtClean="0"/>
              <a:t>Result</a:t>
            </a:r>
            <a:r>
              <a:rPr lang="en-US" altLang="zh-TW" b="1" dirty="0"/>
              <a:t>: </a:t>
            </a:r>
            <a:r>
              <a:rPr lang="en-US" altLang="zh-TW" dirty="0"/>
              <a:t>In this paper, we present an efficient tool called COPE (Connecting</a:t>
            </a:r>
          </a:p>
          <a:p>
            <a:r>
              <a:rPr lang="en-US" altLang="zh-TW" dirty="0"/>
              <a:t>Overlapped Pair-End reads), to connect overlapping pair-end reads</a:t>
            </a:r>
          </a:p>
          <a:p>
            <a:r>
              <a:rPr lang="en-US" altLang="zh-TW" dirty="0"/>
              <a:t>using </a:t>
            </a:r>
            <a:r>
              <a:rPr lang="en-US" altLang="zh-TW" i="1" dirty="0"/>
              <a:t>k</a:t>
            </a:r>
            <a:r>
              <a:rPr lang="en-US" altLang="zh-TW" dirty="0"/>
              <a:t>-</a:t>
            </a:r>
            <a:r>
              <a:rPr lang="en-US" altLang="zh-TW" dirty="0" err="1"/>
              <a:t>mer</a:t>
            </a:r>
            <a:r>
              <a:rPr lang="en-US" altLang="zh-TW" dirty="0"/>
              <a:t> frequencies. We evaluated our tool on 30x simulated pair-end</a:t>
            </a:r>
          </a:p>
          <a:p>
            <a:r>
              <a:rPr lang="en-US" altLang="zh-TW" dirty="0"/>
              <a:t>reads from </a:t>
            </a:r>
            <a:r>
              <a:rPr lang="en-US" altLang="zh-TW" i="1" dirty="0"/>
              <a:t>Arabidopsis thaliana </a:t>
            </a:r>
            <a:r>
              <a:rPr lang="en-US" altLang="zh-TW" dirty="0"/>
              <a:t>with 1% base error. COPE connected over</a:t>
            </a:r>
          </a:p>
          <a:p>
            <a:r>
              <a:rPr lang="en-US" altLang="zh-TW" dirty="0"/>
              <a:t>99% of reads with 98.8% accuracy, which is respectively 10% and 2%</a:t>
            </a:r>
          </a:p>
          <a:p>
            <a:r>
              <a:rPr lang="en-US" altLang="zh-TW" dirty="0"/>
              <a:t>higher than the most recently published tool FLASH. When COPE is applied</a:t>
            </a:r>
          </a:p>
          <a:p>
            <a:r>
              <a:rPr lang="en-US" altLang="zh-TW" dirty="0"/>
              <a:t>to real reads for genome assembly, the resulting </a:t>
            </a:r>
            <a:r>
              <a:rPr lang="en-US" altLang="zh-TW" dirty="0" err="1"/>
              <a:t>contigs</a:t>
            </a:r>
            <a:r>
              <a:rPr lang="en-US" altLang="zh-TW" dirty="0"/>
              <a:t> are found to</a:t>
            </a:r>
          </a:p>
          <a:p>
            <a:r>
              <a:rPr lang="en-US" altLang="zh-TW" dirty="0"/>
              <a:t>have fewer errors and give a 14 fold improvement in the N50 measurement</a:t>
            </a:r>
          </a:p>
          <a:p>
            <a:r>
              <a:rPr lang="en-US" altLang="zh-TW" dirty="0"/>
              <a:t>when compared to the </a:t>
            </a:r>
            <a:r>
              <a:rPr lang="en-US" altLang="zh-TW" dirty="0" err="1"/>
              <a:t>contigs</a:t>
            </a:r>
            <a:r>
              <a:rPr lang="en-US" altLang="zh-TW" dirty="0"/>
              <a:t> produced using unconnected reads.</a:t>
            </a:r>
          </a:p>
          <a:p>
            <a:r>
              <a:rPr lang="en-US" altLang="zh-TW" b="1" dirty="0"/>
              <a:t>Availability and Implementation: </a:t>
            </a:r>
            <a:r>
              <a:rPr lang="en-US" altLang="zh-TW" dirty="0"/>
              <a:t>COPE is implemented in C++ and is</a:t>
            </a:r>
          </a:p>
          <a:p>
            <a:r>
              <a:rPr lang="en-US" altLang="zh-TW" dirty="0"/>
              <a:t>freely available as open-source code at ftp://ftp.genomics.org.cn/pub/cope.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266616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舊有工具的缺點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1052609" y="1720840"/>
            <a:ext cx="703878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1.</a:t>
            </a:r>
            <a:r>
              <a:rPr lang="zh-TW" altLang="en-US" sz="2400" dirty="0" smtClean="0"/>
              <a:t> 比對需要一個最小的重疊範圍限制</a:t>
            </a:r>
            <a:endParaRPr lang="en-US" altLang="zh-TW" sz="2400" dirty="0" smtClean="0"/>
          </a:p>
          <a:p>
            <a:pPr marL="342900" indent="-342900">
              <a:buAutoNum type="arabicPeriod"/>
            </a:pPr>
            <a:endParaRPr lang="en-US" altLang="zh-TW" sz="2400" dirty="0" smtClean="0"/>
          </a:p>
          <a:p>
            <a:pPr marL="342900" indent="-342900">
              <a:buAutoNum type="arabicPeriod"/>
            </a:pPr>
            <a:endParaRPr lang="en-US" altLang="zh-TW" sz="2400" dirty="0" smtClean="0"/>
          </a:p>
          <a:p>
            <a:r>
              <a:rPr lang="en-US" altLang="zh-TW" sz="2400" dirty="0" smtClean="0"/>
              <a:t>2.</a:t>
            </a:r>
            <a:r>
              <a:rPr lang="zh-TW" altLang="en-US" sz="2400" dirty="0" smtClean="0"/>
              <a:t> 重複出現的模式，或較簡單的序列會導致重疊的範圍不一</a:t>
            </a:r>
            <a:endParaRPr lang="en-US" altLang="zh-TW" sz="2400" dirty="0" smtClean="0"/>
          </a:p>
          <a:p>
            <a:endParaRPr lang="en-US" altLang="zh-TW" sz="2400" dirty="0" smtClean="0"/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3.</a:t>
            </a:r>
            <a:r>
              <a:rPr lang="zh-TW" altLang="en-US" sz="2400" dirty="0" smtClean="0"/>
              <a:t> </a:t>
            </a:r>
            <a:r>
              <a:rPr lang="zh-TW" altLang="en-US" sz="2400" dirty="0"/>
              <a:t>舊有的</a:t>
            </a:r>
            <a:r>
              <a:rPr lang="zh-TW" altLang="en-US" sz="2400" dirty="0" smtClean="0"/>
              <a:t>工具只比較兩個</a:t>
            </a:r>
            <a:r>
              <a:rPr lang="en-US" altLang="zh-TW" sz="2400" dirty="0" smtClean="0"/>
              <a:t>base</a:t>
            </a:r>
            <a:r>
              <a:rPr lang="zh-TW" altLang="en-US" sz="2400" dirty="0" smtClean="0"/>
              <a:t>的質，若一樣就直接比對並輸出結果，容易造成錯誤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131654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COPE</a:t>
            </a:r>
            <a:r>
              <a:rPr lang="zh-TW" altLang="en-US" dirty="0" smtClean="0"/>
              <a:t>流程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19717" y="1484784"/>
            <a:ext cx="6904565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49043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Alignment-based connection algorithm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539550" y="1406055"/>
            <a:ext cx="81099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 smtClean="0"/>
              <a:t>對齊兩條</a:t>
            </a:r>
            <a:r>
              <a:rPr lang="en-US" altLang="zh-TW" sz="1600" dirty="0" smtClean="0"/>
              <a:t>read</a:t>
            </a:r>
            <a:r>
              <a:rPr lang="zh-TW" altLang="en-US" sz="1600" dirty="0" smtClean="0"/>
              <a:t>，其重疊長度必須大於</a:t>
            </a:r>
            <a:r>
              <a:rPr lang="en-US" altLang="zh-TW" sz="1600" dirty="0" smtClean="0"/>
              <a:t>k</a:t>
            </a:r>
            <a:r>
              <a:rPr lang="zh-TW" altLang="en-US" sz="1600" dirty="0" smtClean="0"/>
              <a:t>，若小於</a:t>
            </a:r>
            <a:r>
              <a:rPr lang="en-US" altLang="zh-TW" sz="1600" dirty="0" smtClean="0"/>
              <a:t>k</a:t>
            </a:r>
            <a:r>
              <a:rPr lang="zh-TW" altLang="en-US" sz="1600" dirty="0" smtClean="0"/>
              <a:t>則在下個階段進行檢驗（</a:t>
            </a:r>
            <a:r>
              <a:rPr lang="en-US" altLang="zh-TW" sz="1600" dirty="0" smtClean="0"/>
              <a:t>k</a:t>
            </a:r>
            <a:r>
              <a:rPr lang="zh-TW" altLang="en-US" sz="1600" dirty="0" smtClean="0"/>
              <a:t>為</a:t>
            </a:r>
            <a:r>
              <a:rPr lang="en-US" altLang="zh-TW" sz="1600" dirty="0" smtClean="0"/>
              <a:t>k-</a:t>
            </a:r>
            <a:r>
              <a:rPr lang="en-US" altLang="zh-TW" sz="1600" dirty="0" err="1" smtClean="0"/>
              <a:t>mer</a:t>
            </a:r>
            <a:r>
              <a:rPr lang="zh-TW" altLang="en-US" sz="1600" dirty="0" smtClean="0"/>
              <a:t>長度）</a:t>
            </a:r>
            <a:endParaRPr lang="zh-TW" altLang="en-US" sz="1600" dirty="0"/>
          </a:p>
        </p:txBody>
      </p:sp>
      <p:sp>
        <p:nvSpPr>
          <p:cNvPr id="27" name="矩形 26"/>
          <p:cNvSpPr/>
          <p:nvPr/>
        </p:nvSpPr>
        <p:spPr>
          <a:xfrm>
            <a:off x="539551" y="2380818"/>
            <a:ext cx="339067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sz="2000" i="1" dirty="0"/>
              <a:t>Rate</a:t>
            </a:r>
            <a:r>
              <a:rPr lang="en-US" altLang="zh-TW" sz="2000" dirty="0">
                <a:latin typeface="TimesNewRomanPSMT"/>
              </a:rPr>
              <a:t>(</a:t>
            </a:r>
            <a:r>
              <a:rPr lang="en-US" altLang="zh-TW" sz="2000" i="1" dirty="0" err="1"/>
              <a:t>l</a:t>
            </a:r>
            <a:r>
              <a:rPr lang="en-US" altLang="zh-TW" sz="800" i="1" dirty="0" err="1"/>
              <a:t>overlap</a:t>
            </a:r>
            <a:r>
              <a:rPr lang="en-US" altLang="zh-TW" sz="800" i="1" dirty="0"/>
              <a:t> </a:t>
            </a:r>
            <a:r>
              <a:rPr lang="en-US" altLang="zh-TW" sz="2000" dirty="0">
                <a:latin typeface="TimesNewRomanPSMT"/>
              </a:rPr>
              <a:t>) </a:t>
            </a:r>
            <a:r>
              <a:rPr lang="en-US" altLang="zh-TW" sz="2000" dirty="0">
                <a:latin typeface="SymbolMT"/>
              </a:rPr>
              <a:t>= </a:t>
            </a:r>
            <a:r>
              <a:rPr lang="en-US" altLang="zh-TW" sz="2000" dirty="0">
                <a:latin typeface="TimesNewRomanPSMT"/>
              </a:rPr>
              <a:t>(</a:t>
            </a:r>
            <a:r>
              <a:rPr lang="en-US" altLang="zh-TW" sz="2000" i="1" dirty="0" err="1"/>
              <a:t>l</a:t>
            </a:r>
            <a:r>
              <a:rPr lang="en-US" altLang="zh-TW" sz="800" i="1" dirty="0" err="1"/>
              <a:t>overlap</a:t>
            </a:r>
            <a:r>
              <a:rPr lang="en-US" altLang="zh-TW" sz="800" i="1" dirty="0"/>
              <a:t> </a:t>
            </a:r>
            <a:r>
              <a:rPr lang="en-US" altLang="zh-TW" sz="2000" dirty="0">
                <a:latin typeface="SymbolMT"/>
              </a:rPr>
              <a:t>− </a:t>
            </a:r>
            <a:r>
              <a:rPr lang="en-US" altLang="zh-TW" sz="2000" i="1" dirty="0" err="1"/>
              <a:t>n</a:t>
            </a:r>
            <a:r>
              <a:rPr lang="en-US" altLang="zh-TW" sz="800" i="1" dirty="0" err="1"/>
              <a:t>mismatch</a:t>
            </a:r>
            <a:r>
              <a:rPr lang="en-US" altLang="zh-TW" sz="800" i="1" dirty="0"/>
              <a:t> </a:t>
            </a:r>
            <a:r>
              <a:rPr lang="en-US" altLang="zh-TW" sz="2000" dirty="0">
                <a:latin typeface="TimesNewRomanPSMT"/>
              </a:rPr>
              <a:t>) / </a:t>
            </a:r>
            <a:r>
              <a:rPr lang="en-US" altLang="zh-TW" sz="2000" i="1" dirty="0" err="1"/>
              <a:t>l</a:t>
            </a:r>
            <a:r>
              <a:rPr lang="en-US" altLang="zh-TW" sz="800" i="1" dirty="0" err="1"/>
              <a:t>overlap</a:t>
            </a:r>
            <a:endParaRPr lang="zh-TW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539551" y="3028890"/>
            <a:ext cx="17748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i="1" dirty="0" err="1" smtClean="0"/>
              <a:t>l</a:t>
            </a:r>
            <a:r>
              <a:rPr lang="en-US" altLang="zh-TW" sz="800" i="1" dirty="0" err="1" smtClean="0"/>
              <a:t>overlap</a:t>
            </a:r>
            <a:r>
              <a:rPr lang="en-US" altLang="zh-TW" sz="1200" i="1" dirty="0" smtClean="0"/>
              <a:t> = </a:t>
            </a:r>
            <a:r>
              <a:rPr lang="zh-TW" altLang="en-US" sz="2000" dirty="0" smtClean="0"/>
              <a:t>重疊長度</a:t>
            </a:r>
            <a:endParaRPr lang="zh-TW" altLang="en-US" sz="2000" dirty="0"/>
          </a:p>
        </p:txBody>
      </p:sp>
      <p:sp>
        <p:nvSpPr>
          <p:cNvPr id="29" name="矩形 28"/>
          <p:cNvSpPr/>
          <p:nvPr/>
        </p:nvSpPr>
        <p:spPr>
          <a:xfrm>
            <a:off x="539551" y="3676962"/>
            <a:ext cx="34515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i="1" dirty="0" err="1" smtClean="0"/>
              <a:t>n</a:t>
            </a:r>
            <a:r>
              <a:rPr lang="en-US" altLang="zh-TW" sz="800" i="1" dirty="0" err="1" smtClean="0"/>
              <a:t>mismatch</a:t>
            </a:r>
            <a:r>
              <a:rPr lang="zh-TW" altLang="en-US" sz="1200" i="1" dirty="0" smtClean="0"/>
              <a:t> </a:t>
            </a:r>
            <a:r>
              <a:rPr lang="en-US" altLang="zh-TW" sz="1200" i="1" dirty="0" smtClean="0"/>
              <a:t>=</a:t>
            </a:r>
            <a:r>
              <a:rPr lang="zh-TW" altLang="en-US" sz="1200" i="1" dirty="0" smtClean="0"/>
              <a:t> </a:t>
            </a:r>
            <a:r>
              <a:rPr lang="zh-TW" altLang="en-US" sz="2000" dirty="0"/>
              <a:t>沒有對應到</a:t>
            </a:r>
            <a:r>
              <a:rPr lang="zh-TW" altLang="en-US" sz="2000" dirty="0" smtClean="0"/>
              <a:t>的核酸個數</a:t>
            </a:r>
            <a:endParaRPr lang="zh-TW" alt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550" y="4144428"/>
            <a:ext cx="5707841" cy="1804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文字方塊 29"/>
          <p:cNvSpPr txBox="1"/>
          <p:nvPr/>
        </p:nvSpPr>
        <p:spPr>
          <a:xfrm>
            <a:off x="539551" y="1807460"/>
            <a:ext cx="1614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Matching Rate:</a:t>
            </a:r>
            <a:endParaRPr lang="zh-TW" altLang="en-US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6247391" y="4365104"/>
            <a:ext cx="2553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R(l) = (12 - 2) / 12 = 0.83</a:t>
            </a:r>
            <a:endParaRPr lang="zh-TW" altLang="en-US" dirty="0"/>
          </a:p>
        </p:txBody>
      </p:sp>
      <p:sp>
        <p:nvSpPr>
          <p:cNvPr id="2048" name="矩形 2047"/>
          <p:cNvSpPr/>
          <p:nvPr/>
        </p:nvSpPr>
        <p:spPr>
          <a:xfrm>
            <a:off x="6247391" y="5301208"/>
            <a:ext cx="2438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R(l) = (</a:t>
            </a:r>
            <a:r>
              <a:rPr lang="en-US" altLang="zh-TW" dirty="0" smtClean="0"/>
              <a:t>10 </a:t>
            </a:r>
            <a:r>
              <a:rPr lang="en-US" altLang="zh-TW" dirty="0"/>
              <a:t>- 2) / </a:t>
            </a:r>
            <a:r>
              <a:rPr lang="en-US" altLang="zh-TW" dirty="0" smtClean="0"/>
              <a:t>10 </a:t>
            </a:r>
            <a:r>
              <a:rPr lang="en-US" altLang="zh-TW" dirty="0"/>
              <a:t>= </a:t>
            </a:r>
            <a:r>
              <a:rPr lang="en-US" altLang="zh-TW" dirty="0" smtClean="0"/>
              <a:t>0.8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2483768" y="4365104"/>
            <a:ext cx="1728192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2483768" y="4734436"/>
            <a:ext cx="1728192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3165763" y="405732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 smtClean="0">
                <a:solidFill>
                  <a:srgbClr val="0070C0"/>
                </a:solidFill>
              </a:rPr>
              <a:t>12</a:t>
            </a:r>
            <a:endParaRPr lang="zh-TW" altLang="en-US" sz="1400" b="1" dirty="0">
              <a:solidFill>
                <a:srgbClr val="0070C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788568" y="5085184"/>
            <a:ext cx="1423392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2788568" y="5485874"/>
            <a:ext cx="1423392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3211369" y="570189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 smtClean="0">
                <a:solidFill>
                  <a:srgbClr val="0070C0"/>
                </a:solidFill>
              </a:rPr>
              <a:t>10</a:t>
            </a:r>
            <a:endParaRPr lang="zh-TW" altLang="en-US" sz="1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55566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Alignment-based connection algorithm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428596" y="3645024"/>
            <a:ext cx="5376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TW" sz="2800" dirty="0" smtClean="0"/>
              <a:t>Combination score: R(l) * (1 - e0)</a:t>
            </a:r>
            <a:endParaRPr lang="zh-TW" altLang="en-US" sz="28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428596" y="2060848"/>
            <a:ext cx="27735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TW" sz="2800" dirty="0" smtClean="0"/>
              <a:t>Base: b0 and b1</a:t>
            </a:r>
            <a:endParaRPr lang="zh-TW" altLang="en-US" sz="28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428596" y="2843644"/>
            <a:ext cx="44598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TW" sz="2800" dirty="0" smtClean="0"/>
              <a:t>Error probability: e0 and e1</a:t>
            </a:r>
            <a:endParaRPr lang="zh-TW" altLang="en-US" sz="28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428596" y="4293096"/>
            <a:ext cx="85379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zh-TW" altLang="en-US" sz="2800" dirty="0" smtClean="0"/>
              <a:t>若有任何一組配對分數相同，則定義為</a:t>
            </a:r>
            <a:r>
              <a:rPr lang="en-US" altLang="zh-TW" sz="2800" dirty="0" smtClean="0"/>
              <a:t>dilemma read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318206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K-</a:t>
            </a:r>
            <a:r>
              <a:rPr lang="en-US" altLang="zh-TW" dirty="0" err="1" smtClean="0"/>
              <a:t>mer</a:t>
            </a:r>
            <a:r>
              <a:rPr lang="en-US" altLang="zh-TW" dirty="0" smtClean="0"/>
              <a:t> frequency assisted connection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683568" y="1556792"/>
            <a:ext cx="7606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TW" sz="2000" dirty="0" smtClean="0"/>
              <a:t>K-</a:t>
            </a:r>
            <a:r>
              <a:rPr lang="en-US" altLang="zh-TW" sz="2000" dirty="0" err="1" smtClean="0"/>
              <a:t>mer</a:t>
            </a:r>
            <a:r>
              <a:rPr lang="en-US" altLang="zh-TW" sz="2000" dirty="0" smtClean="0"/>
              <a:t> frequency table</a:t>
            </a:r>
            <a:r>
              <a:rPr lang="zh-TW" altLang="en-US" sz="2000" dirty="0" smtClean="0"/>
              <a:t>：假設上一個步驟一開始就選了不好的</a:t>
            </a:r>
            <a:r>
              <a:rPr lang="en-US" altLang="zh-TW" sz="2000" dirty="0" smtClean="0"/>
              <a:t>base</a:t>
            </a:r>
          </a:p>
        </p:txBody>
      </p:sp>
      <p:sp>
        <p:nvSpPr>
          <p:cNvPr id="4" name="矩形 3"/>
          <p:cNvSpPr/>
          <p:nvPr/>
        </p:nvSpPr>
        <p:spPr>
          <a:xfrm>
            <a:off x="683568" y="2112360"/>
            <a:ext cx="56166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TW" sz="2000" dirty="0"/>
              <a:t>Combination score: R(l) * </a:t>
            </a:r>
            <a:r>
              <a:rPr lang="en-US" altLang="zh-TW" sz="2000" dirty="0" smtClean="0"/>
              <a:t>(1 </a:t>
            </a:r>
            <a:r>
              <a:rPr lang="en-US" altLang="zh-TW" sz="2000" dirty="0"/>
              <a:t>– </a:t>
            </a:r>
            <a:r>
              <a:rPr lang="en-US" altLang="zh-TW" sz="2000" i="1" dirty="0"/>
              <a:t>e</a:t>
            </a:r>
            <a:r>
              <a:rPr lang="en-US" altLang="zh-TW" sz="2000" dirty="0"/>
              <a:t>)</a:t>
            </a:r>
            <a:r>
              <a:rPr lang="zh-TW" altLang="en-US" sz="2000" dirty="0"/>
              <a:t> → </a:t>
            </a:r>
            <a:r>
              <a:rPr lang="en-US" altLang="zh-TW" sz="2000" dirty="0" smtClean="0"/>
              <a:t>R(l) * </a:t>
            </a:r>
            <a:r>
              <a:rPr lang="el-GR" altLang="zh-TW" sz="2000" dirty="0" smtClean="0"/>
              <a:t>η(1 </a:t>
            </a:r>
            <a:r>
              <a:rPr lang="el-GR" altLang="zh-TW" sz="2000" dirty="0"/>
              <a:t>– </a:t>
            </a:r>
            <a:r>
              <a:rPr lang="en-US" altLang="zh-TW" sz="2000" i="1" dirty="0"/>
              <a:t>e</a:t>
            </a:r>
            <a:r>
              <a:rPr lang="en-US" altLang="zh-TW" sz="2000" dirty="0"/>
              <a:t>)</a:t>
            </a:r>
            <a:endParaRPr lang="zh-TW" altLang="en-US" sz="2000" dirty="0"/>
          </a:p>
          <a:p>
            <a:endParaRPr lang="zh-TW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683568" y="2708920"/>
            <a:ext cx="49760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l-GR" altLang="zh-TW" sz="2000" dirty="0" smtClean="0"/>
              <a:t>η</a:t>
            </a:r>
            <a:r>
              <a:rPr lang="zh-TW" altLang="en-US" sz="2000" dirty="0" smtClean="0"/>
              <a:t>：</a:t>
            </a:r>
            <a:r>
              <a:rPr lang="en-US" altLang="zh-TW" sz="2000" dirty="0" smtClean="0"/>
              <a:t>k-</a:t>
            </a:r>
            <a:r>
              <a:rPr lang="en-US" altLang="zh-TW" sz="2000" dirty="0" err="1" smtClean="0"/>
              <a:t>mer</a:t>
            </a:r>
            <a:r>
              <a:rPr lang="zh-TW" altLang="en-US" sz="2000" dirty="0" smtClean="0"/>
              <a:t>展開</a:t>
            </a:r>
            <a:r>
              <a:rPr lang="en-US" altLang="zh-TW" sz="2000" dirty="0" smtClean="0"/>
              <a:t>base</a:t>
            </a:r>
            <a:r>
              <a:rPr lang="zh-TW" altLang="en-US" sz="2000" dirty="0" smtClean="0"/>
              <a:t>後產生</a:t>
            </a:r>
            <a:r>
              <a:rPr lang="en-US" altLang="zh-TW" sz="2000" dirty="0" smtClean="0"/>
              <a:t>mismatch</a:t>
            </a:r>
            <a:r>
              <a:rPr lang="zh-TW" altLang="en-US" sz="2000" dirty="0" smtClean="0"/>
              <a:t>的頻率</a:t>
            </a:r>
            <a:endParaRPr lang="zh-TW" altLang="en-US" sz="20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683569" y="3244334"/>
            <a:ext cx="72728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zh-TW" altLang="en-US" sz="2000" dirty="0" smtClean="0"/>
              <a:t>藉由帶有</a:t>
            </a:r>
            <a:r>
              <a:rPr lang="en-US" altLang="zh-TW" sz="2000" dirty="0" smtClean="0"/>
              <a:t>k-</a:t>
            </a:r>
            <a:r>
              <a:rPr lang="en-US" altLang="zh-TW" sz="2000" dirty="0" err="1" smtClean="0"/>
              <a:t>mer</a:t>
            </a:r>
            <a:r>
              <a:rPr lang="en-US" altLang="zh-TW" sz="2000" dirty="0" smtClean="0"/>
              <a:t> frequency</a:t>
            </a:r>
            <a:r>
              <a:rPr lang="zh-TW" altLang="en-US" sz="2000" dirty="0" smtClean="0"/>
              <a:t>的</a:t>
            </a:r>
            <a:r>
              <a:rPr lang="en-US" altLang="zh-TW" sz="2000" dirty="0" smtClean="0"/>
              <a:t>combination score</a:t>
            </a:r>
            <a:r>
              <a:rPr lang="zh-TW" altLang="en-US" sz="2000" dirty="0" smtClean="0"/>
              <a:t>可處理大部分的</a:t>
            </a:r>
            <a:r>
              <a:rPr lang="en-US" altLang="zh-TW" sz="2000" dirty="0" smtClean="0"/>
              <a:t>dilemma read</a:t>
            </a:r>
            <a:r>
              <a:rPr lang="zh-TW" altLang="en-US" sz="2000" dirty="0" smtClean="0"/>
              <a:t>，</a:t>
            </a:r>
            <a:r>
              <a:rPr lang="zh-TW" altLang="en-US" sz="2000" dirty="0"/>
              <a:t>同時也使得較短長度的重疊得以被發現</a:t>
            </a:r>
          </a:p>
          <a:p>
            <a:pPr marL="285750" indent="-285750">
              <a:buFont typeface="Arial" pitchFamily="34" charset="0"/>
              <a:buChar char="•"/>
            </a:pPr>
            <a:endParaRPr lang="en-US" altLang="zh-TW" sz="2000" dirty="0" smtClean="0"/>
          </a:p>
        </p:txBody>
      </p:sp>
      <p:sp>
        <p:nvSpPr>
          <p:cNvPr id="8" name="文字方塊 7"/>
          <p:cNvSpPr txBox="1"/>
          <p:nvPr/>
        </p:nvSpPr>
        <p:spPr>
          <a:xfrm>
            <a:off x="683568" y="4149080"/>
            <a:ext cx="727280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zh-TW" altLang="en-US" sz="2000" dirty="0" smtClean="0"/>
              <a:t>展開所有</a:t>
            </a:r>
            <a:r>
              <a:rPr lang="en-US" altLang="zh-TW" sz="2000" dirty="0" smtClean="0"/>
              <a:t>k-</a:t>
            </a:r>
            <a:r>
              <a:rPr lang="en-US" altLang="zh-TW" sz="2000" dirty="0" err="1" smtClean="0"/>
              <a:t>mer</a:t>
            </a:r>
            <a:r>
              <a:rPr lang="zh-TW" altLang="en-US" sz="2000" dirty="0" smtClean="0"/>
              <a:t>會耗費大量的時間，</a:t>
            </a:r>
            <a:r>
              <a:rPr lang="en-US" altLang="zh-TW" sz="2000" dirty="0" smtClean="0"/>
              <a:t>COPE</a:t>
            </a:r>
            <a:r>
              <a:rPr lang="zh-TW" altLang="en-US" sz="2000" dirty="0" smtClean="0"/>
              <a:t>用了一點技巧來減少展開時間：若</a:t>
            </a:r>
            <a:r>
              <a:rPr lang="en-US" altLang="zh-TW" sz="2000" dirty="0" smtClean="0"/>
              <a:t>k-</a:t>
            </a:r>
            <a:r>
              <a:rPr lang="en-US" altLang="zh-TW" sz="2000" dirty="0" err="1" smtClean="0"/>
              <a:t>mer</a:t>
            </a:r>
            <a:r>
              <a:rPr lang="zh-TW" altLang="en-US" sz="2000" dirty="0" smtClean="0"/>
              <a:t>出現的頻率很低</a:t>
            </a:r>
            <a:r>
              <a:rPr lang="en-US" altLang="zh-TW" sz="2000" dirty="0" smtClean="0"/>
              <a:t>(</a:t>
            </a:r>
            <a:r>
              <a:rPr lang="zh-TW" altLang="en-US" sz="2000" dirty="0" smtClean="0"/>
              <a:t>通常是</a:t>
            </a:r>
            <a:r>
              <a:rPr lang="en-US" altLang="zh-TW" sz="2000" dirty="0" smtClean="0"/>
              <a:t>1)</a:t>
            </a:r>
            <a:r>
              <a:rPr lang="zh-TW" altLang="en-US" sz="2000" dirty="0" smtClean="0"/>
              <a:t>，就不繼續展開其他</a:t>
            </a:r>
            <a:r>
              <a:rPr lang="en-US" altLang="zh-TW" sz="2000" dirty="0" smtClean="0"/>
              <a:t>k-</a:t>
            </a:r>
            <a:r>
              <a:rPr lang="en-US" altLang="zh-TW" sz="2000" dirty="0" err="1" smtClean="0"/>
              <a:t>mer</a:t>
            </a:r>
            <a:r>
              <a:rPr lang="zh-TW" altLang="en-US" sz="2000" dirty="0" smtClean="0"/>
              <a:t>，並判定此</a:t>
            </a:r>
            <a:r>
              <a:rPr lang="en-US" altLang="zh-TW" sz="2000" dirty="0" smtClean="0"/>
              <a:t>read</a:t>
            </a:r>
            <a:r>
              <a:rPr lang="zh-TW" altLang="en-US" sz="2000" dirty="0" smtClean="0"/>
              <a:t>是假的</a:t>
            </a:r>
            <a:r>
              <a:rPr lang="en-US" altLang="zh-TW" sz="2000" dirty="0" smtClean="0"/>
              <a:t>overlap</a:t>
            </a:r>
            <a:r>
              <a:rPr lang="zh-TW" altLang="en-US" sz="2000" dirty="0" smtClean="0"/>
              <a:t>。</a:t>
            </a:r>
            <a:endParaRPr lang="en-US" altLang="zh-TW" sz="2000" dirty="0"/>
          </a:p>
          <a:p>
            <a:endParaRPr lang="en-US" altLang="zh-TW" sz="20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sz="2000" dirty="0" smtClean="0"/>
              <a:t>一般會繼續展開的情形是</a:t>
            </a:r>
            <a:r>
              <a:rPr lang="en-US" altLang="zh-TW" sz="2000" dirty="0" smtClean="0"/>
              <a:t>2~3</a:t>
            </a:r>
            <a:r>
              <a:rPr lang="zh-TW" altLang="en-US" sz="2000" dirty="0" smtClean="0"/>
              <a:t>。</a:t>
            </a:r>
            <a:endParaRPr lang="en-US" altLang="zh-TW" sz="2000" dirty="0" smtClean="0"/>
          </a:p>
          <a:p>
            <a:endParaRPr lang="en-US" altLang="zh-TW" sz="2000" dirty="0"/>
          </a:p>
          <a:p>
            <a:pPr marL="285750" indent="-285750">
              <a:buFont typeface="Arial" pitchFamily="34" charset="0"/>
              <a:buChar char="•"/>
            </a:pPr>
            <a:r>
              <a:rPr lang="zh-TW" altLang="en-US" sz="2000" dirty="0" smtClean="0"/>
              <a:t>超過</a:t>
            </a:r>
            <a:r>
              <a:rPr lang="en-US" altLang="zh-TW" sz="2000" dirty="0" smtClean="0"/>
              <a:t>3</a:t>
            </a:r>
            <a:r>
              <a:rPr lang="zh-TW" altLang="en-US" sz="2000" dirty="0" smtClean="0"/>
              <a:t>則直接將此</a:t>
            </a:r>
            <a:r>
              <a:rPr lang="en-US" altLang="zh-TW" sz="2000" dirty="0" smtClean="0"/>
              <a:t>read pair</a:t>
            </a:r>
            <a:r>
              <a:rPr lang="zh-TW" altLang="en-US" sz="2000" dirty="0" smtClean="0"/>
              <a:t>丟到下個階段。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xmlns="" val="3704904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COPE</a:t>
            </a:r>
            <a:r>
              <a:rPr lang="zh-TW" altLang="en-US" dirty="0" smtClean="0"/>
              <a:t>流程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19717" y="1416184"/>
            <a:ext cx="6904565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圓角矩形 2"/>
          <p:cNvSpPr/>
          <p:nvPr/>
        </p:nvSpPr>
        <p:spPr>
          <a:xfrm>
            <a:off x="5796136" y="1556792"/>
            <a:ext cx="2228146" cy="417987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5824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Auxiliary reads and cross connection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剩下的</a:t>
            </a:r>
            <a:r>
              <a:rPr lang="en-US" altLang="zh-TW" dirty="0" smtClean="0"/>
              <a:t>read</a:t>
            </a:r>
            <a:r>
              <a:rPr lang="zh-TW" altLang="en-US" dirty="0" smtClean="0"/>
              <a:t>中，有著正常出現頻率的</a:t>
            </a:r>
            <a:r>
              <a:rPr lang="en-US" altLang="zh-TW" dirty="0" smtClean="0"/>
              <a:t>k-</a:t>
            </a:r>
            <a:r>
              <a:rPr lang="en-US" altLang="zh-TW" dirty="0" err="1" smtClean="0"/>
              <a:t>mer</a:t>
            </a:r>
            <a:r>
              <a:rPr lang="zh-TW" altLang="en-US" dirty="0" smtClean="0"/>
              <a:t>，會被抓出來，</a:t>
            </a:r>
            <a:r>
              <a:rPr lang="zh-TW" altLang="en-US" dirty="0"/>
              <a:t>包含</a:t>
            </a:r>
            <a:r>
              <a:rPr lang="zh-TW" altLang="en-US" dirty="0" smtClean="0"/>
              <a:t>著這些</a:t>
            </a:r>
            <a:r>
              <a:rPr lang="en-US" altLang="zh-TW" dirty="0" smtClean="0"/>
              <a:t>k-</a:t>
            </a:r>
            <a:r>
              <a:rPr lang="en-US" altLang="zh-TW" dirty="0" err="1" smtClean="0"/>
              <a:t>mer</a:t>
            </a:r>
            <a:r>
              <a:rPr lang="zh-TW" altLang="en-US" dirty="0" smtClean="0"/>
              <a:t>的</a:t>
            </a:r>
            <a:r>
              <a:rPr lang="en-US" altLang="zh-TW" dirty="0" smtClean="0"/>
              <a:t>read</a:t>
            </a:r>
            <a:r>
              <a:rPr lang="zh-TW" altLang="en-US" dirty="0" smtClean="0"/>
              <a:t>會被叫回來，這些</a:t>
            </a:r>
            <a:r>
              <a:rPr lang="en-US" altLang="zh-TW" dirty="0" smtClean="0"/>
              <a:t>read</a:t>
            </a:r>
            <a:r>
              <a:rPr lang="zh-TW" altLang="en-US" dirty="0" smtClean="0"/>
              <a:t>就稱作</a:t>
            </a:r>
            <a:r>
              <a:rPr lang="en-US" altLang="zh-TW" dirty="0" smtClean="0"/>
              <a:t>Auxiliary</a:t>
            </a:r>
            <a:r>
              <a:rPr lang="zh-TW" altLang="en-US" dirty="0" smtClean="0"/>
              <a:t> </a:t>
            </a:r>
            <a:r>
              <a:rPr lang="en-US" altLang="zh-TW" dirty="0" smtClean="0"/>
              <a:t>read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這些</a:t>
            </a:r>
            <a:r>
              <a:rPr lang="en-US" altLang="zh-TW" dirty="0" smtClean="0"/>
              <a:t>read</a:t>
            </a:r>
            <a:r>
              <a:rPr lang="zh-TW" altLang="en-US" dirty="0" smtClean="0"/>
              <a:t>會再次確認是否有任何的</a:t>
            </a:r>
            <a:r>
              <a:rPr lang="en-US" altLang="zh-TW" dirty="0" smtClean="0"/>
              <a:t>overlap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960143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:\Sena\Desktop\table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3015" y="942308"/>
            <a:ext cx="8784976" cy="4973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684273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:\Sena\Desktop\table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544" y="1991056"/>
            <a:ext cx="8496944" cy="287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609189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 descr="F:\Sena\Desktop\table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06151" y="2746818"/>
            <a:ext cx="7731698" cy="3858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F:\Sena\Desktop\table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06151" y="332656"/>
            <a:ext cx="7731698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288278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F:\Sena\Desktop\table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0945" y="864963"/>
            <a:ext cx="8602109" cy="51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829679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968</TotalTime>
  <Words>658</Words>
  <Application>Microsoft Office PowerPoint</Application>
  <PresentationFormat>如螢幕大小 (4:3)</PresentationFormat>
  <Paragraphs>63</Paragraphs>
  <Slides>13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Office 佈景主題</vt:lpstr>
      <vt:lpstr>COPE: An accurate k-mer based pair-end reads connection tool to facilitate genome assembly</vt:lpstr>
      <vt:lpstr>ABSTRACT</vt:lpstr>
      <vt:lpstr>舊有工具的缺點</vt:lpstr>
      <vt:lpstr>COPE流程</vt:lpstr>
      <vt:lpstr>Alignment-based connection algorithm</vt:lpstr>
      <vt:lpstr>Alignment-based connection algorithm</vt:lpstr>
      <vt:lpstr>K-mer frequency assisted connection</vt:lpstr>
      <vt:lpstr>COPE流程</vt:lpstr>
      <vt:lpstr>Auxiliary reads and cross connection</vt:lpstr>
      <vt:lpstr>投影片 10</vt:lpstr>
      <vt:lpstr>投影片 11</vt:lpstr>
      <vt:lpstr>投影片 12</vt:lpstr>
      <vt:lpstr>投影片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COPE: An accurate k-mer based pair-end reads connection tool to facilitate genome assembly</dc:title>
  <dc:creator>Sena</dc:creator>
  <cp:lastModifiedBy>admin</cp:lastModifiedBy>
  <cp:revision>28</cp:revision>
  <dcterms:created xsi:type="dcterms:W3CDTF">2013-08-19T12:16:41Z</dcterms:created>
  <dcterms:modified xsi:type="dcterms:W3CDTF">2013-08-20T12:09:29Z</dcterms:modified>
</cp:coreProperties>
</file>