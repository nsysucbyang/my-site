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80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6" r:id="rId23"/>
    <p:sldId id="282" r:id="rId24"/>
    <p:sldId id="285" r:id="rId25"/>
    <p:sldId id="280" r:id="rId26"/>
    <p:sldId id="281" r:id="rId2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 xmlns="">
        <p14:section name="預設章節" id="{0BA2CCC6-1621-43AA-80E1-9C918F862AC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7"/>
            <p14:sldId id="276"/>
            <p14:sldId id="282"/>
            <p14:sldId id="285"/>
            <p14:sldId id="280"/>
            <p14:sldId id="281"/>
          </p14:sldIdLst>
        </p14:section>
      </p14:sectionLst>
    </p:ex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clrMru>
    <a:srgbClr val="B5E5B5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49" autoAdjust="0"/>
    <p:restoredTop sz="94718" autoAdjust="0"/>
  </p:normalViewPr>
  <p:slideViewPr>
    <p:cSldViewPr>
      <p:cViewPr varScale="1">
        <p:scale>
          <a:sx n="69" d="100"/>
          <a:sy n="69" d="100"/>
        </p:scale>
        <p:origin x="-54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30" y="0"/>
    </p:cViewPr>
  </p:outlin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2CCAE0-0C81-4B78-82D1-11BE0D61DB07}" type="datetime1">
              <a:rPr lang="zh-TW" altLang="en-US" smtClean="0"/>
              <a:pPr/>
              <a:t>2013/8/20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A19FDD-675A-4A39-B0F1-906E5BA6EFB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97259195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1736F9-A0BE-4D52-9097-BF965413D210}" type="datetime1">
              <a:rPr lang="zh-TW" altLang="en-US" smtClean="0"/>
              <a:pPr/>
              <a:t>2013/8/20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B2AB0-7B78-40EC-A30E-F42C75B51AA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9263848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arxiv.org/abs/1209.5038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alumni.cs.ucr.edu/~lexiangy/shapelet.html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>
                <a:hlinkClick r:id="rId3"/>
              </a:rPr>
              <a:t>http://arxiv.org/abs/1209.5038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B2AB0-7B78-40EC-A30E-F42C75B51AAE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5901884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>
                <a:hlinkClick r:id="rId3"/>
              </a:rPr>
              <a:t>http://alumni.cs.ucr.edu/~lexiangy/shapelet.html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B2AB0-7B78-40EC-A30E-F42C75B51AAE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614631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TW" altLang="en-US" dirty="0" smtClean="0"/>
              <a:t>按一下以編輯母片副標題樣式</a:t>
            </a:r>
            <a:endParaRPr kumimoji="0"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AEB65-1833-43F1-BD28-90CA58C223F1}" type="datetime1">
              <a:rPr lang="zh-TW" altLang="en-US" smtClean="0"/>
              <a:pPr/>
              <a:t>2013/8/20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4D10255-A13B-40DE-A818-E35E0185DB7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26542-6EFB-4063-A5B0-41FD0D95C3CD}" type="datetime1">
              <a:rPr lang="zh-TW" altLang="en-US" smtClean="0"/>
              <a:pPr/>
              <a:t>2013/8/20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74AF9-5678-44F8-A5F3-25F4EE962BEB}" type="datetime1">
              <a:rPr lang="zh-TW" altLang="en-US" smtClean="0"/>
              <a:pPr/>
              <a:t>2013/8/20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ABEE-C7E4-40C4-92CB-86E1D58CE5C6}" type="datetime1">
              <a:rPr lang="zh-TW" altLang="en-US" smtClean="0"/>
              <a:pPr/>
              <a:t>2013/8/20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A883-52C2-486B-8EA1-085A9CDA4FB8}" type="datetime1">
              <a:rPr lang="zh-TW" altLang="en-US" smtClean="0"/>
              <a:pPr/>
              <a:t>2013/8/20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D4510-C05F-405E-BF57-EDA10426F4FA}" type="datetime1">
              <a:rPr lang="zh-TW" altLang="en-US" smtClean="0"/>
              <a:pPr/>
              <a:t>2013/8/20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B8CA7-07F3-4DAF-849D-048C755ED96A}" type="datetime1">
              <a:rPr lang="zh-TW" altLang="en-US" smtClean="0"/>
              <a:pPr/>
              <a:t>2013/8/20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BBA66-D99D-4975-B43D-26D9BBCD9CA3}" type="datetime1">
              <a:rPr lang="zh-TW" altLang="en-US" smtClean="0"/>
              <a:pPr/>
              <a:t>2013/8/20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TW" altLang="en-US" smtClean="0"/>
              <a:t>按一下圖示以新增圖片</a:t>
            </a:r>
            <a:endParaRPr kumimoji="0"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A5DC-8ED7-4BFB-AF27-C684B4AEE8F0}" type="datetime1">
              <a:rPr lang="zh-TW" altLang="en-US" smtClean="0"/>
              <a:pPr/>
              <a:t>2013/8/20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8128C-3907-40E0-8A52-3CB0064A414F}" type="datetime1">
              <a:rPr lang="zh-TW" altLang="en-US" smtClean="0"/>
              <a:pPr/>
              <a:t>2013/8/20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2582-DD10-43EA-B141-5A8AB99B0301}" type="datetime1">
              <a:rPr lang="zh-TW" altLang="en-US" smtClean="0"/>
              <a:pPr/>
              <a:t>2013/8/20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5E5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TW" altLang="en-US" dirty="0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dirty="0" smtClean="0"/>
              <a:t>第二層</a:t>
            </a:r>
          </a:p>
          <a:p>
            <a:pPr lvl="2" eaLnBrk="1" latinLnBrk="0" hangingPunct="1"/>
            <a:r>
              <a:rPr kumimoji="0" lang="zh-TW" altLang="en-US" dirty="0" smtClean="0"/>
              <a:t>第三層</a:t>
            </a:r>
          </a:p>
          <a:p>
            <a:pPr lvl="3" eaLnBrk="1" latinLnBrk="0" hangingPunct="1"/>
            <a:r>
              <a:rPr kumimoji="0" lang="zh-TW" altLang="en-US" dirty="0" smtClean="0"/>
              <a:t>第四層</a:t>
            </a:r>
          </a:p>
          <a:p>
            <a:pPr lvl="4" eaLnBrk="1" latinLnBrk="0" hangingPunct="1"/>
            <a:r>
              <a:rPr kumimoji="0" lang="zh-TW" altLang="en-US" dirty="0" smtClean="0"/>
              <a:t>第五層</a:t>
            </a:r>
            <a:endParaRPr kumimoji="0"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7C3D2-FFA1-4493-B768-C3A89A67BE4C}" type="datetime1">
              <a:rPr lang="zh-TW" altLang="en-US" smtClean="0"/>
              <a:pPr/>
              <a:t>2013/8/20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4D10255-A13B-40DE-A818-E35E0185DB7F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1" latinLnBrk="0" hangingPunct="1">
        <a:spcBef>
          <a:spcPct val="0"/>
        </a:spcBef>
        <a:buNone/>
        <a:defRPr kumimoji="0" sz="4400" b="1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zh-TW" sz="4000" b="1" dirty="0"/>
              <a:t>Fast </a:t>
            </a:r>
            <a:r>
              <a:rPr lang="en-US" altLang="zh-TW" sz="4000" b="1" dirty="0" smtClean="0"/>
              <a:t>Randomized Model Generation for </a:t>
            </a:r>
            <a:r>
              <a:rPr lang="en-US" altLang="zh-TW" sz="4000" b="1" dirty="0" err="1"/>
              <a:t>Shapelet</a:t>
            </a:r>
            <a:r>
              <a:rPr lang="en-US" altLang="zh-TW" sz="4000" b="1" dirty="0"/>
              <a:t>-Based Time </a:t>
            </a:r>
            <a:r>
              <a:rPr lang="en-US" altLang="zh-TW" sz="4000" b="1" dirty="0" smtClean="0"/>
              <a:t>Series Classification</a:t>
            </a:r>
            <a:endParaRPr lang="zh-TW" altLang="en-US" sz="4000" b="1" dirty="0"/>
          </a:p>
        </p:txBody>
      </p:sp>
      <p:sp>
        <p:nvSpPr>
          <p:cNvPr id="5" name="副標題 3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sz="2800" dirty="0"/>
              <a:t>Daniel </a:t>
            </a:r>
            <a:r>
              <a:rPr lang="en-US" altLang="zh-TW" sz="2800" dirty="0" smtClean="0"/>
              <a:t>Gordon, Danny </a:t>
            </a:r>
            <a:r>
              <a:rPr lang="en-US" altLang="zh-TW" sz="2800" dirty="0" err="1" smtClean="0"/>
              <a:t>Hendler</a:t>
            </a:r>
            <a:r>
              <a:rPr lang="en-US" altLang="zh-TW" sz="2800" dirty="0" smtClean="0"/>
              <a:t>, </a:t>
            </a:r>
            <a:r>
              <a:rPr lang="en-US" altLang="zh-TW" sz="2800" dirty="0" err="1" smtClean="0"/>
              <a:t>Lior</a:t>
            </a:r>
            <a:r>
              <a:rPr lang="en-US" altLang="zh-TW" sz="2800" dirty="0" smtClean="0"/>
              <a:t> </a:t>
            </a:r>
            <a:r>
              <a:rPr lang="en-US" altLang="zh-TW" sz="2800" dirty="0" err="1" smtClean="0"/>
              <a:t>Rokach</a:t>
            </a:r>
            <a:endParaRPr lang="en-US" altLang="zh-TW" sz="2800" dirty="0" smtClean="0"/>
          </a:p>
          <a:p>
            <a:r>
              <a:rPr lang="en-US" altLang="zh-TW" dirty="0"/>
              <a:t>arXiv:1209.5038v1 [</a:t>
            </a:r>
            <a:r>
              <a:rPr lang="en-US" altLang="zh-TW" dirty="0" err="1"/>
              <a:t>cs.LG</a:t>
            </a:r>
            <a:r>
              <a:rPr lang="en-US" altLang="zh-TW" dirty="0"/>
              <a:t>] 23 Sep </a:t>
            </a:r>
            <a:r>
              <a:rPr lang="en-US" altLang="zh-TW" dirty="0" smtClean="0"/>
              <a:t>2012</a:t>
            </a:r>
            <a:r>
              <a:rPr lang="en-US" altLang="zh-TW" smtClean="0"/>
              <a:t>, </a:t>
            </a:r>
            <a:r>
              <a:rPr lang="en-US" altLang="zh-TW" smtClean="0"/>
              <a:t>CoRR</a:t>
            </a:r>
            <a:r>
              <a:rPr lang="en-US" altLang="zh-TW" dirty="0" err="1" smtClean="0"/>
              <a:t>.</a:t>
            </a:r>
            <a:r>
              <a:rPr lang="en-US" altLang="zh-TW" dirty="0" smtClean="0"/>
              <a:t> 2012. </a:t>
            </a:r>
            <a:endParaRPr lang="en-US" altLang="zh-TW" dirty="0" smtClean="0"/>
          </a:p>
        </p:txBody>
      </p:sp>
      <p:sp>
        <p:nvSpPr>
          <p:cNvPr id="8" name="副標題 3"/>
          <p:cNvSpPr txBox="1">
            <a:spLocks/>
          </p:cNvSpPr>
          <p:nvPr/>
        </p:nvSpPr>
        <p:spPr>
          <a:xfrm>
            <a:off x="687600" y="5641322"/>
            <a:ext cx="6400800" cy="11000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Presenter: </a:t>
            </a:r>
            <a:r>
              <a:rPr lang="en-US" altLang="zh-TW" sz="28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Che-Jui</a:t>
            </a:r>
            <a:r>
              <a:rPr lang="en-US" altLang="zh-TW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altLang="zh-TW" sz="28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Hsu (</a:t>
            </a:r>
            <a:r>
              <a:rPr lang="zh-TW" altLang="en-US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許哲睿</a:t>
            </a:r>
            <a:r>
              <a:rPr lang="en-US" altLang="zh-TW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)</a:t>
            </a:r>
          </a:p>
          <a:p>
            <a:pPr algn="l"/>
            <a:r>
              <a:rPr lang="en-US" altLang="zh-TW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Date: </a:t>
            </a:r>
            <a:fld id="{3DC95CE2-72FD-4627-B4FE-7CBC89963158}" type="datetime1">
              <a:rPr lang="zh-TW" altLang="en-US" sz="2800">
                <a:solidFill>
                  <a:schemeClr val="tx1"/>
                </a:solidFill>
                <a:latin typeface="+mj-lt"/>
                <a:ea typeface="+mj-ea"/>
                <a:cs typeface="+mj-cs"/>
              </a:rPr>
              <a:pPr algn="l"/>
              <a:t>2013/8/20</a:t>
            </a:fld>
            <a:endParaRPr lang="en-US" altLang="zh-TW" sz="28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2284172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Abstract (1/3)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>
            <a:normAutofit fontScale="92500"/>
          </a:bodyPr>
          <a:lstStyle/>
          <a:p>
            <a:pPr marL="0" indent="457200" algn="just">
              <a:buNone/>
            </a:pPr>
            <a:r>
              <a:rPr lang="en-US" altLang="zh-TW" dirty="0"/>
              <a:t>Time series classification is a field which </a:t>
            </a:r>
            <a:r>
              <a:rPr lang="en-US" altLang="zh-TW" dirty="0" smtClean="0"/>
              <a:t>has drawn </a:t>
            </a:r>
            <a:r>
              <a:rPr lang="en-US" altLang="zh-TW" dirty="0"/>
              <a:t>much attention over the past decade. A new </a:t>
            </a:r>
            <a:r>
              <a:rPr lang="en-US" altLang="zh-TW" dirty="0" smtClean="0"/>
              <a:t>approach for </a:t>
            </a:r>
            <a:r>
              <a:rPr lang="en-US" altLang="zh-TW" dirty="0"/>
              <a:t>classification of time series uses classification trees based </a:t>
            </a:r>
            <a:r>
              <a:rPr lang="en-US" altLang="zh-TW" dirty="0" smtClean="0"/>
              <a:t>on </a:t>
            </a:r>
            <a:r>
              <a:rPr lang="en-US" altLang="zh-TW" dirty="0" err="1" smtClean="0"/>
              <a:t>shapelets</a:t>
            </a:r>
            <a:r>
              <a:rPr lang="en-US" altLang="zh-TW" dirty="0"/>
              <a:t>. A </a:t>
            </a:r>
            <a:r>
              <a:rPr lang="en-US" altLang="zh-TW" dirty="0" err="1"/>
              <a:t>shapelet</a:t>
            </a:r>
            <a:r>
              <a:rPr lang="en-US" altLang="zh-TW" dirty="0"/>
              <a:t> is a subsequence extracted from one of </a:t>
            </a:r>
            <a:r>
              <a:rPr lang="en-US" altLang="zh-TW" dirty="0" smtClean="0"/>
              <a:t>the time </a:t>
            </a:r>
            <a:r>
              <a:rPr lang="en-US" altLang="zh-TW" dirty="0"/>
              <a:t>series in the dataset. A disadvantage of this approach </a:t>
            </a:r>
            <a:r>
              <a:rPr lang="en-US" altLang="zh-TW" dirty="0" smtClean="0"/>
              <a:t>is the </a:t>
            </a:r>
            <a:r>
              <a:rPr lang="en-US" altLang="zh-TW" dirty="0"/>
              <a:t>time required for building the </a:t>
            </a:r>
            <a:r>
              <a:rPr lang="en-US" altLang="zh-TW" dirty="0" err="1"/>
              <a:t>shapelet</a:t>
            </a:r>
            <a:r>
              <a:rPr lang="en-US" altLang="zh-TW" dirty="0"/>
              <a:t>-based </a:t>
            </a:r>
            <a:r>
              <a:rPr lang="en-US" altLang="zh-TW" dirty="0" smtClean="0"/>
              <a:t>classification tree</a:t>
            </a:r>
            <a:r>
              <a:rPr lang="en-US" altLang="zh-TW" dirty="0"/>
              <a:t>. The search for the best </a:t>
            </a:r>
            <a:r>
              <a:rPr lang="en-US" altLang="zh-TW" dirty="0" err="1"/>
              <a:t>shapelet</a:t>
            </a:r>
            <a:r>
              <a:rPr lang="en-US" altLang="zh-TW" dirty="0"/>
              <a:t> requires examining </a:t>
            </a:r>
            <a:r>
              <a:rPr lang="en-US" altLang="zh-TW" dirty="0" smtClean="0"/>
              <a:t>all subsequences </a:t>
            </a:r>
            <a:r>
              <a:rPr lang="en-US" altLang="zh-TW" dirty="0"/>
              <a:t>of all lengths from all time series in the </a:t>
            </a:r>
            <a:r>
              <a:rPr lang="en-US" altLang="zh-TW" dirty="0" smtClean="0"/>
              <a:t>training set.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94296277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 </a:t>
            </a:r>
            <a:r>
              <a:rPr lang="en-US" altLang="zh-TW" dirty="0" smtClean="0"/>
              <a:t>(2/3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92500"/>
          </a:bodyPr>
          <a:lstStyle/>
          <a:p>
            <a:pPr marL="0" indent="457200" algn="just">
              <a:buNone/>
            </a:pPr>
            <a:r>
              <a:rPr lang="en-US" altLang="zh-TW" dirty="0"/>
              <a:t>A key goal of this work was to find an evaluation </a:t>
            </a:r>
            <a:r>
              <a:rPr lang="en-US" altLang="zh-TW" dirty="0" smtClean="0"/>
              <a:t>order of </a:t>
            </a:r>
            <a:r>
              <a:rPr lang="en-US" altLang="zh-TW" dirty="0"/>
              <a:t>the </a:t>
            </a:r>
            <a:r>
              <a:rPr lang="en-US" altLang="zh-TW" dirty="0" err="1"/>
              <a:t>shapelets</a:t>
            </a:r>
            <a:r>
              <a:rPr lang="en-US" altLang="zh-TW" dirty="0"/>
              <a:t> space which enables fast convergence to </a:t>
            </a:r>
            <a:r>
              <a:rPr lang="en-US" altLang="zh-TW" dirty="0" smtClean="0"/>
              <a:t>an accurate </a:t>
            </a:r>
            <a:r>
              <a:rPr lang="en-US" altLang="zh-TW" dirty="0"/>
              <a:t>model. The comparative analysis we conducted </a:t>
            </a:r>
            <a:r>
              <a:rPr lang="en-US" altLang="zh-TW" dirty="0" smtClean="0"/>
              <a:t>clearly indicates </a:t>
            </a:r>
            <a:r>
              <a:rPr lang="en-US" altLang="zh-TW" dirty="0"/>
              <a:t>that a random evaluation order yields the best </a:t>
            </a:r>
            <a:r>
              <a:rPr lang="en-US" altLang="zh-TW" dirty="0" smtClean="0"/>
              <a:t>results. Our </a:t>
            </a:r>
            <a:r>
              <a:rPr lang="en-US" altLang="zh-TW" dirty="0"/>
              <a:t>empirical analysis of the distribution of </a:t>
            </a:r>
            <a:r>
              <a:rPr lang="en-US" altLang="zh-TW" dirty="0" smtClean="0"/>
              <a:t>high-quality </a:t>
            </a:r>
            <a:r>
              <a:rPr lang="en-US" altLang="zh-TW" dirty="0" err="1" smtClean="0"/>
              <a:t>shapelets</a:t>
            </a:r>
            <a:r>
              <a:rPr lang="en-US" altLang="zh-TW" dirty="0" smtClean="0"/>
              <a:t> </a:t>
            </a:r>
            <a:r>
              <a:rPr lang="en-US" altLang="zh-TW" dirty="0"/>
              <a:t>within the </a:t>
            </a:r>
            <a:r>
              <a:rPr lang="en-US" altLang="zh-TW" dirty="0" err="1"/>
              <a:t>shapelets</a:t>
            </a:r>
            <a:r>
              <a:rPr lang="en-US" altLang="zh-TW" dirty="0"/>
              <a:t> space provides insights </a:t>
            </a:r>
            <a:r>
              <a:rPr lang="en-US" altLang="zh-TW" dirty="0" smtClean="0"/>
              <a:t>into why </a:t>
            </a:r>
            <a:r>
              <a:rPr lang="en-US" altLang="zh-TW" dirty="0"/>
              <a:t>randomized </a:t>
            </a:r>
            <a:r>
              <a:rPr lang="en-US" altLang="zh-TW" dirty="0" err="1"/>
              <a:t>shapelets</a:t>
            </a:r>
            <a:r>
              <a:rPr lang="en-US" altLang="zh-TW" dirty="0"/>
              <a:t> sampling is superior to </a:t>
            </a:r>
            <a:r>
              <a:rPr lang="en-US" altLang="zh-TW" dirty="0" smtClean="0"/>
              <a:t>alternative evaluation </a:t>
            </a:r>
            <a:r>
              <a:rPr lang="en-US" altLang="zh-TW" dirty="0"/>
              <a:t>orders.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53424622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 </a:t>
            </a:r>
            <a:r>
              <a:rPr lang="en-US" altLang="zh-TW" dirty="0" smtClean="0"/>
              <a:t>(3/3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836911"/>
          </a:xfrm>
        </p:spPr>
        <p:txBody>
          <a:bodyPr>
            <a:normAutofit fontScale="92500" lnSpcReduction="10000"/>
          </a:bodyPr>
          <a:lstStyle/>
          <a:p>
            <a:pPr marL="0" indent="457200" algn="just">
              <a:lnSpc>
                <a:spcPct val="110000"/>
              </a:lnSpc>
              <a:buNone/>
            </a:pPr>
            <a:r>
              <a:rPr lang="en-US" altLang="zh-TW" dirty="0"/>
              <a:t>We present an algorithm for randomized model </a:t>
            </a:r>
            <a:r>
              <a:rPr lang="en-US" altLang="zh-TW" dirty="0" smtClean="0"/>
              <a:t>generation for </a:t>
            </a:r>
            <a:r>
              <a:rPr lang="en-US" altLang="zh-TW" dirty="0" err="1"/>
              <a:t>shapelet</a:t>
            </a:r>
            <a:r>
              <a:rPr lang="en-US" altLang="zh-TW" dirty="0"/>
              <a:t>-based classification that converges </a:t>
            </a:r>
            <a:r>
              <a:rPr lang="en-US" altLang="zh-TW" dirty="0" smtClean="0"/>
              <a:t>extremely quickly </a:t>
            </a:r>
            <a:r>
              <a:rPr lang="en-US" altLang="zh-TW" dirty="0"/>
              <a:t>to a model with surprisingly high accuracy </a:t>
            </a:r>
            <a:r>
              <a:rPr lang="en-US" altLang="zh-TW" dirty="0" smtClean="0"/>
              <a:t>after evaluating </a:t>
            </a:r>
            <a:r>
              <a:rPr lang="en-US" altLang="zh-TW" dirty="0"/>
              <a:t>only an exceedingly small fraction of the </a:t>
            </a:r>
            <a:r>
              <a:rPr lang="en-US" altLang="zh-TW" dirty="0" err="1" smtClean="0"/>
              <a:t>shapelets</a:t>
            </a:r>
            <a:r>
              <a:rPr lang="en-US" altLang="zh-TW" dirty="0" smtClean="0"/>
              <a:t> space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15231849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Shapelet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 </a:t>
            </a:r>
            <a:r>
              <a:rPr lang="en-US" altLang="zh-TW" dirty="0" err="1"/>
              <a:t>shapelet</a:t>
            </a:r>
            <a:r>
              <a:rPr lang="en-US" altLang="zh-TW" dirty="0"/>
              <a:t> is a </a:t>
            </a:r>
            <a:r>
              <a:rPr lang="en-US" altLang="zh-TW" dirty="0" smtClean="0"/>
              <a:t>subsequence extracted </a:t>
            </a:r>
            <a:r>
              <a:rPr lang="en-US" altLang="zh-TW" dirty="0"/>
              <a:t>from one of the time series in the dataset.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18062529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Distance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altLang="zh-TW" dirty="0" smtClean="0"/>
                  <a:t>The </a:t>
                </a:r>
                <a:r>
                  <a:rPr lang="en-US" altLang="zh-TW" dirty="0"/>
                  <a:t>Euclidean distance </a:t>
                </a:r>
                <a:r>
                  <a:rPr lang="en-US" altLang="zh-TW" dirty="0" smtClean="0"/>
                  <a:t>between </a:t>
                </a:r>
                <a:r>
                  <a:rPr lang="en-US" altLang="zh-TW" dirty="0"/>
                  <a:t>two </a:t>
                </a:r>
                <a:r>
                  <a:rPr lang="en-US" altLang="zh-TW" dirty="0" smtClean="0"/>
                  <a:t>time series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</a:rPr>
                      <m:t>𝑇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</a:rPr>
                      <m:t>𝑉</m:t>
                    </m:r>
                  </m:oMath>
                </a14:m>
                <a:r>
                  <a:rPr lang="en-US" altLang="zh-TW" dirty="0"/>
                  <a:t> of length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</a:rPr>
                      <m:t>𝑚</m:t>
                    </m:r>
                  </m:oMath>
                </a14:m>
                <a:r>
                  <a:rPr lang="en-US" altLang="zh-TW" dirty="0"/>
                  <a:t/>
                </a:r>
                <a:r>
                  <a:rPr lang="en-US" altLang="zh-TW" dirty="0" smtClean="0"/>
                  <a:t>is</a:t>
                </a:r>
                <a:br>
                  <a:rPr lang="en-US" altLang="zh-TW" dirty="0" smtClean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𝑑𝑖𝑠𝑡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𝐸</m:t>
                        </m:r>
                      </m:sub>
                    </m:sSub>
                    <m:d>
                      <m:d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𝑇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𝑉</m:t>
                        </m:r>
                      </m:e>
                    </m:d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TW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en-US" altLang="zh-TW" b="0" i="1" smtClean="0">
                                <a:latin typeface="Cambria Math"/>
                              </a:rPr>
                              <m:t>=0</m:t>
                            </m:r>
                          </m:sub>
                          <m:sup>
                            <m:r>
                              <a:rPr lang="en-US" altLang="zh-TW" b="0" i="1" smtClean="0">
                                <a:latin typeface="Cambria Math"/>
                              </a:rPr>
                              <m:t>𝑚</m:t>
                            </m:r>
                            <m:r>
                              <a:rPr lang="en-US" altLang="zh-TW" b="0" i="1" smtClean="0">
                                <a:latin typeface="Cambria Math"/>
                              </a:rPr>
                              <m:t>−1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TW" b="0" i="1" smtClean="0">
                                    <a:latin typeface="Cambria Math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TW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endParaRPr lang="en-US" altLang="zh-TW" dirty="0" smtClean="0"/>
              </a:p>
              <a:p>
                <a:r>
                  <a:rPr lang="en-US" altLang="zh-TW" dirty="0"/>
                  <a:t>The distance between two time series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</a:rPr>
                      <m:t>𝑇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</a:rPr>
                      <m:t>𝑉</m:t>
                    </m:r>
                  </m:oMath>
                </a14:m>
                <a:r>
                  <a:rPr lang="en-US" altLang="zh-TW" dirty="0"/>
                  <a:t/>
                </a:r>
                <a:r>
                  <a:rPr lang="en-US" altLang="zh-TW" dirty="0" smtClean="0"/>
                  <a:t>of different lengths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𝑇</m:t>
                        </m:r>
                      </m:e>
                    </m:d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r>
                      <a:rPr lang="en-US" altLang="zh-TW" b="0" i="1" smtClean="0">
                        <a:latin typeface="Cambria Math"/>
                      </a:rPr>
                      <m:t>𝑚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𝑉</m:t>
                        </m:r>
                      </m:e>
                    </m:d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r>
                      <a:rPr lang="en-US" altLang="zh-TW" b="0" i="1" smtClean="0">
                        <a:latin typeface="Cambria Math"/>
                      </a:rPr>
                      <m:t>𝑚</m:t>
                    </m:r>
                    <m:r>
                      <a:rPr lang="en-US" altLang="zh-TW" b="0" i="1" smtClean="0">
                        <a:latin typeface="Cambria Math"/>
                      </a:rPr>
                      <m:t>+</m:t>
                    </m:r>
                    <m:r>
                      <a:rPr lang="en-US" altLang="zh-TW" b="0" i="1" smtClean="0">
                        <a:latin typeface="Cambria Math"/>
                      </a:rPr>
                      <m:t>𝑗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𝑗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&gt;0</m:t>
                    </m:r>
                  </m:oMath>
                </a14:m>
                <a:r>
                  <a:rPr lang="en-US" altLang="zh-TW" dirty="0" smtClean="0"/>
                  <a:t> is </a:t>
                </a:r>
                <a:r>
                  <a:rPr lang="en-US" altLang="zh-TW" dirty="0"/>
                  <a:t>the </a:t>
                </a:r>
                <a:r>
                  <a:rPr lang="en-US" altLang="zh-TW" dirty="0" smtClean="0"/>
                  <a:t>minimal </a:t>
                </a:r>
                <a:r>
                  <a:rPr lang="en-US" altLang="zh-TW" dirty="0"/>
                  <a:t>distance between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</a:rPr>
                      <m:t>𝑇</m:t>
                    </m:r>
                  </m:oMath>
                </a14:m>
                <a:r>
                  <a:rPr lang="en-US" altLang="zh-TW" dirty="0"/>
                  <a:t> and all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</a:rPr>
                      <m:t>𝑗</m:t>
                    </m:r>
                  </m:oMath>
                </a14:m>
                <a:r>
                  <a:rPr lang="en-US" altLang="zh-TW" dirty="0"/>
                  <a:t> subsequences of length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</a:rPr>
                      <m:t>𝑚</m:t>
                    </m:r>
                  </m:oMath>
                </a14:m>
                <a:r>
                  <a:rPr lang="en-US" altLang="zh-TW" dirty="0"/>
                  <a:t/>
                </a:r>
                <a:r>
                  <a:rPr lang="en-US" altLang="zh-TW" dirty="0" smtClean="0"/>
                  <a:t>in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</a:rPr>
                      <m:t>𝑉</m:t>
                    </m:r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" t="-2830" r="-2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640076392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The YK </a:t>
            </a:r>
            <a:r>
              <a:rPr lang="en-US" altLang="zh-TW" dirty="0" err="1"/>
              <a:t>Shapelet</a:t>
            </a:r>
            <a:r>
              <a:rPr lang="en-US" altLang="zh-TW" dirty="0"/>
              <a:t> Extraction </a:t>
            </a:r>
            <a:r>
              <a:rPr lang="en-US" altLang="zh-TW" dirty="0" smtClean="0"/>
              <a:t>Algorithm (1/3)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altLang="zh-TW" dirty="0" smtClean="0"/>
                  <a:t>Extracts </a:t>
                </a:r>
                <a:r>
                  <a:rPr lang="en-US" altLang="zh-TW" dirty="0"/>
                  <a:t>all possible subsequences </a:t>
                </a:r>
                <a:r>
                  <a:rPr lang="en-US" altLang="zh-TW" dirty="0" smtClean="0"/>
                  <a:t>of every </a:t>
                </a:r>
                <a:r>
                  <a:rPr lang="en-US" altLang="zh-TW" dirty="0"/>
                  <a:t>length </a:t>
                </a:r>
                <a:r>
                  <a:rPr lang="en-US" altLang="zh-TW" dirty="0" smtClean="0"/>
                  <a:t>from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𝐷</m:t>
                    </m:r>
                  </m:oMath>
                </a14:m>
                <a:r>
                  <a:rPr lang="en-US" altLang="zh-TW" dirty="0" smtClean="0"/>
                  <a:t>.</a:t>
                </a:r>
              </a:p>
              <a:p>
                <a:r>
                  <a:rPr lang="en-US" altLang="zh-TW" dirty="0" smtClean="0"/>
                  <a:t>Calculate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𝑑𝑖𝑠𝑡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𝐸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i="1" smtClean="0">
                            <a:latin typeface="Cambria Math"/>
                          </a:rPr>
                          <m:t>𝑆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en-US" dirty="0" smtClean="0"/>
                  <a:t/>
                </a:r>
                <a:r>
                  <a:rPr lang="en-US" altLang="zh-TW" dirty="0" smtClean="0"/>
                  <a:t>and </a:t>
                </a:r>
                <a:r>
                  <a:rPr lang="en-US" altLang="zh-TW" dirty="0"/>
                  <a:t>the time series</a:t>
                </a:r>
                <a:r>
                  <a:rPr lang="en-US" altLang="zh-TW" dirty="0" smtClean="0"/>
                  <a:t> are </a:t>
                </a:r>
                <a:r>
                  <a:rPr lang="en-US" altLang="zh-TW" dirty="0"/>
                  <a:t>ordered by their distance from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𝑆</m:t>
                    </m:r>
                  </m:oMath>
                </a14:m>
                <a:r>
                  <a:rPr lang="en-US" altLang="zh-TW" dirty="0"/>
                  <a:t>.</a:t>
                </a:r>
                <a:endParaRPr lang="en-US" altLang="zh-TW" dirty="0" smtClean="0"/>
              </a:p>
              <a:p>
                <a:r>
                  <a:rPr lang="en-US" altLang="zh-TW" dirty="0" smtClean="0"/>
                  <a:t>Using this </a:t>
                </a:r>
                <a:r>
                  <a:rPr lang="en-US" altLang="zh-TW" dirty="0"/>
                  <a:t>induced order, for every two adjacent time series, </a:t>
                </a:r>
                <a:r>
                  <a:rPr lang="en-US" altLang="zh-TW" dirty="0" smtClean="0"/>
                  <a:t>their average </a:t>
                </a:r>
                <a:r>
                  <a:rPr lang="en-US" altLang="zh-TW" dirty="0"/>
                  <a:t>distance to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</a:rPr>
                      <m:t>𝑆</m:t>
                    </m:r>
                  </m:oMath>
                </a14:m>
                <a:r>
                  <a:rPr lang="en-US" altLang="zh-TW" dirty="0"/>
                  <a:t> is calculated</a:t>
                </a:r>
                <a:r>
                  <a:rPr lang="en-US" altLang="zh-TW" dirty="0" smtClean="0"/>
                  <a:t>.</a:t>
                </a:r>
              </a:p>
              <a:p>
                <a:r>
                  <a:rPr lang="en-US" altLang="zh-TW" dirty="0" smtClean="0"/>
                  <a:t>Split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𝐷</m:t>
                    </m:r>
                  </m:oMath>
                </a14:m>
                <a:r>
                  <a:rPr lang="zh-TW" altLang="en-US" dirty="0" smtClean="0"/>
                  <a:t/>
                </a:r>
                <a:r>
                  <a:rPr lang="en-US" altLang="zh-TW" dirty="0" smtClean="0"/>
                  <a:t>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TW" altLang="en-US" dirty="0" smtClean="0"/>
                  <a:t/>
                </a:r>
                <a:r>
                  <a:rPr lang="en-US" altLang="zh-TW" dirty="0" smtClean="0"/>
                  <a:t>according to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en-US" altLang="zh-TW" dirty="0"/>
                  <a:t> or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  <a:ea typeface="Cambria Math"/>
                      </a:rPr>
                      <m:t>&gt;</m:t>
                    </m:r>
                  </m:oMath>
                </a14:m>
                <a:r>
                  <a:rPr lang="en-US" altLang="zh-TW" dirty="0" smtClean="0"/>
                  <a:t> splitting distance.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8" t="-2830" b="-1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16562782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The YK </a:t>
            </a:r>
            <a:r>
              <a:rPr lang="en-US" altLang="zh-TW" dirty="0" err="1"/>
              <a:t>Shapelet</a:t>
            </a:r>
            <a:r>
              <a:rPr lang="en-US" altLang="zh-TW" dirty="0"/>
              <a:t> Extraction Algorithm </a:t>
            </a:r>
            <a:r>
              <a:rPr lang="en-US" altLang="zh-TW" dirty="0" smtClean="0"/>
              <a:t>(2/3)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US" altLang="zh-TW" dirty="0" smtClean="0"/>
                  <a:t>Get the best information gain for every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altLang="zh-TW" i="1" dirty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/>
                  <a:t>. </a:t>
                </a:r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𝐼𝐺</m:t>
                    </m:r>
                    <m:d>
                      <m:d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𝐷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r>
                      <a:rPr lang="en-US" altLang="zh-TW" b="0" i="1" smtClean="0">
                        <a:latin typeface="Cambria Math"/>
                      </a:rPr>
                      <m:t>𝐸𝑛𝑡</m:t>
                    </m:r>
                    <m:d>
                      <m:d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𝐷</m:t>
                        </m:r>
                      </m:e>
                    </m:d>
                    <m:r>
                      <a:rPr lang="en-US" altLang="zh-TW" b="0" i="1" smtClean="0">
                        <a:latin typeface="Cambria Math"/>
                      </a:rPr>
                      <m:t>−</m:t>
                    </m:r>
                    <m:d>
                      <m:d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𝑝</m:t>
                        </m:r>
                        <m:d>
                          <m:d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zh-TW" i="1">
                            <a:latin typeface="Cambria Math"/>
                          </a:rPr>
                          <m:t>𝐸𝑛𝑡</m:t>
                        </m:r>
                        <m:d>
                          <m:d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zh-TW" b="0" i="1" smtClean="0">
                            <a:latin typeface="Cambria Math"/>
                          </a:rPr>
                          <m:t>+</m:t>
                        </m:r>
                        <m:r>
                          <a:rPr lang="en-US" altLang="zh-TW" i="1">
                            <a:latin typeface="Cambria Math"/>
                          </a:rPr>
                          <m:t>𝑝</m:t>
                        </m:r>
                        <m:d>
                          <m:d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altLang="zh-TW" i="1">
                            <a:latin typeface="Cambria Math"/>
                          </a:rPr>
                          <m:t>𝐸𝑛𝑡</m:t>
                        </m:r>
                        <m:d>
                          <m:d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𝐸𝑛𝑡</m:t>
                    </m:r>
                    <m:d>
                      <m:dPr>
                        <m:ctrlPr>
                          <a:rPr lang="en-US" altLang="zh-TW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/>
                          </a:rPr>
                          <m:t>𝐷</m:t>
                        </m:r>
                      </m:e>
                    </m:d>
                    <m:r>
                      <a:rPr lang="en-US" altLang="zh-TW" b="0" i="1" smtClean="0">
                        <a:latin typeface="Cambria Math"/>
                      </a:rPr>
                      <m:t>=−</m:t>
                    </m:r>
                    <m:nary>
                      <m:naryPr>
                        <m:chr m:val="∑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=0</m:t>
                        </m:r>
                      </m:sub>
                      <m:sup>
                        <m:r>
                          <a:rPr lang="en-US" altLang="zh-TW" b="0" i="1" smtClean="0">
                            <a:latin typeface="Cambria Math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−1</m:t>
                        </m:r>
                      </m:sup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𝑝</m:t>
                        </m:r>
                        <m:d>
                          <m:d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func>
                          <m:func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altLang="zh-TW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e>
                    </m:nary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𝑝</m:t>
                    </m:r>
                    <m:d>
                      <m:dPr>
                        <m:ctrlPr>
                          <a:rPr lang="en-US" altLang="zh-TW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r>
                      <m:rPr>
                        <m:nor/>
                      </m:rPr>
                      <a:rPr lang="en-US" altLang="zh-TW" dirty="0"/>
                      <m:t>The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fraction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of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time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series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from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each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class</m:t>
                    </m:r>
                    <m:r>
                      <m:rPr>
                        <m:nor/>
                      </m:rPr>
                      <a:rPr lang="en-US" altLang="zh-TW" b="0" i="0" dirty="0" smtClean="0"/>
                      <m:t>.</m:t>
                    </m:r>
                  </m:oMath>
                </a14:m>
                <a:endParaRPr lang="en-US" altLang="zh-TW" dirty="0" smtClean="0"/>
              </a:p>
              <a:p>
                <a:r>
                  <a:rPr lang="en-US" altLang="zh-TW" dirty="0" smtClean="0"/>
                  <a:t>Tie </a:t>
                </a:r>
                <a:r>
                  <a:rPr lang="en-US" altLang="zh-TW" dirty="0"/>
                  <a:t>breaking is done by keeping the </a:t>
                </a:r>
                <a:r>
                  <a:rPr lang="en-US" altLang="zh-TW" dirty="0" err="1"/>
                  <a:t>shapelet</a:t>
                </a:r>
                <a:r>
                  <a:rPr lang="en-US" altLang="zh-TW" dirty="0"/>
                  <a:t> which gives a larger average distance between the two subsets which is referred to as the margin.</a:t>
                </a:r>
                <a:endParaRPr lang="zh-TW" altLang="en-US" dirty="0"/>
              </a:p>
              <a:p>
                <a:endParaRPr lang="en-US" altLang="zh-TW" dirty="0" smtClean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" t="-3774" r="-148" b="-28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270886555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The YK </a:t>
            </a:r>
            <a:r>
              <a:rPr lang="en-US" altLang="zh-TW" dirty="0" err="1"/>
              <a:t>Shapelet</a:t>
            </a:r>
            <a:r>
              <a:rPr lang="en-US" altLang="zh-TW" dirty="0"/>
              <a:t> Extraction Algorithm </a:t>
            </a:r>
            <a:r>
              <a:rPr lang="en-US" altLang="zh-TW" dirty="0" smtClean="0"/>
              <a:t>(3/3)</a:t>
            </a:r>
            <a:endParaRPr lang="zh-TW" altLang="en-US" dirty="0"/>
          </a:p>
        </p:txBody>
      </p:sp>
      <p:sp>
        <p:nvSpPr>
          <p:cNvPr id="55" name="內容版面配置區 54"/>
          <p:cNvSpPr>
            <a:spLocks noGrp="1"/>
          </p:cNvSpPr>
          <p:nvPr>
            <p:ph idx="1"/>
          </p:nvPr>
        </p:nvSpPr>
        <p:spPr>
          <a:xfrm>
            <a:off x="457200" y="4509120"/>
            <a:ext cx="8229600" cy="1617043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Until all </a:t>
            </a:r>
            <a:r>
              <a:rPr lang="en-US" altLang="zh-TW" dirty="0"/>
              <a:t>the time series in the subset are </a:t>
            </a:r>
            <a:r>
              <a:rPr lang="en-US" altLang="zh-TW" dirty="0" smtClean="0"/>
              <a:t>from one </a:t>
            </a:r>
            <a:r>
              <a:rPr lang="en-US" altLang="zh-TW" dirty="0"/>
              <a:t>class.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9</a:t>
            </a:fld>
            <a:endParaRPr lang="zh-TW" altLang="en-US"/>
          </a:p>
        </p:txBody>
      </p:sp>
      <p:grpSp>
        <p:nvGrpSpPr>
          <p:cNvPr id="64" name="群組 63"/>
          <p:cNvGrpSpPr/>
          <p:nvPr/>
        </p:nvGrpSpPr>
        <p:grpSpPr>
          <a:xfrm>
            <a:off x="457652" y="1602000"/>
            <a:ext cx="8228695" cy="2824370"/>
            <a:chOff x="457652" y="1602000"/>
            <a:chExt cx="8228695" cy="2824370"/>
          </a:xfrm>
        </p:grpSpPr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26" name="手繪多邊形 25"/>
                <p:cNvSpPr/>
                <p:nvPr/>
              </p:nvSpPr>
              <p:spPr>
                <a:xfrm>
                  <a:off x="4164638" y="1602000"/>
                  <a:ext cx="814722" cy="543148"/>
                </a:xfrm>
                <a:custGeom>
                  <a:avLst/>
                  <a:gdLst>
                    <a:gd name="connsiteX0" fmla="*/ 0 w 814722"/>
                    <a:gd name="connsiteY0" fmla="*/ 271574 h 543148"/>
                    <a:gd name="connsiteX1" fmla="*/ 407361 w 814722"/>
                    <a:gd name="connsiteY1" fmla="*/ 0 h 543148"/>
                    <a:gd name="connsiteX2" fmla="*/ 814722 w 814722"/>
                    <a:gd name="connsiteY2" fmla="*/ 271574 h 543148"/>
                    <a:gd name="connsiteX3" fmla="*/ 407361 w 814722"/>
                    <a:gd name="connsiteY3" fmla="*/ 543148 h 543148"/>
                    <a:gd name="connsiteX4" fmla="*/ 0 w 814722"/>
                    <a:gd name="connsiteY4" fmla="*/ 271574 h 543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14722" h="543148">
                      <a:moveTo>
                        <a:pt x="0" y="271574"/>
                      </a:moveTo>
                      <a:cubicBezTo>
                        <a:pt x="0" y="121588"/>
                        <a:pt x="182382" y="0"/>
                        <a:pt x="407361" y="0"/>
                      </a:cubicBezTo>
                      <a:cubicBezTo>
                        <a:pt x="632340" y="0"/>
                        <a:pt x="814722" y="121588"/>
                        <a:pt x="814722" y="271574"/>
                      </a:cubicBezTo>
                      <a:cubicBezTo>
                        <a:pt x="814722" y="421560"/>
                        <a:pt x="632340" y="543148"/>
                        <a:pt x="407361" y="543148"/>
                      </a:cubicBezTo>
                      <a:cubicBezTo>
                        <a:pt x="182382" y="543148"/>
                        <a:pt x="0" y="421560"/>
                        <a:pt x="0" y="271574"/>
                      </a:cubicBezTo>
                      <a:close/>
                    </a:path>
                  </a:pathLst>
                </a:custGeom>
                <a:noFill/>
              </p:spPr>
              <p:style>
                <a:lnRef idx="2">
                  <a:schemeClr val="dk1">
                    <a:shade val="8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l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72653" tIns="132882" rIns="172653" bIns="132882" numCol="1" spcCol="1270" anchor="ctr" anchorCtr="0">
                  <a:noAutofit/>
                </a:bodyPr>
                <a:lstStyle/>
                <a:p>
                  <a:pPr lvl="0" algn="ctr" defTabSz="6223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400" b="0" i="1" kern="1200" smtClean="0">
                            <a:latin typeface="Cambria Math"/>
                          </a:rPr>
                          <m:t>𝐷</m:t>
                        </m:r>
                      </m:oMath>
                    </m:oMathPara>
                  </a14:m>
                  <a:endParaRPr lang="zh-TW" altLang="en-US" sz="1400" kern="1200" dirty="0"/>
                </a:p>
              </p:txBody>
            </p:sp>
          </mc:Choice>
          <mc:Fallback>
            <p:sp>
              <p:nvSpPr>
                <p:cNvPr id="26" name="手繪多邊形 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4638" y="1602000"/>
                  <a:ext cx="814722" cy="543148"/>
                </a:xfrm>
                <a:custGeom>
                  <a:avLst/>
                  <a:gdLst>
                    <a:gd name="connsiteX0" fmla="*/ 0 w 814722"/>
                    <a:gd name="connsiteY0" fmla="*/ 271574 h 543148"/>
                    <a:gd name="connsiteX1" fmla="*/ 407361 w 814722"/>
                    <a:gd name="connsiteY1" fmla="*/ 0 h 543148"/>
                    <a:gd name="connsiteX2" fmla="*/ 814722 w 814722"/>
                    <a:gd name="connsiteY2" fmla="*/ 271574 h 543148"/>
                    <a:gd name="connsiteX3" fmla="*/ 407361 w 814722"/>
                    <a:gd name="connsiteY3" fmla="*/ 543148 h 543148"/>
                    <a:gd name="connsiteX4" fmla="*/ 0 w 814722"/>
                    <a:gd name="connsiteY4" fmla="*/ 271574 h 543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14722" h="543148">
                      <a:moveTo>
                        <a:pt x="0" y="271574"/>
                      </a:moveTo>
                      <a:cubicBezTo>
                        <a:pt x="0" y="121588"/>
                        <a:pt x="182382" y="0"/>
                        <a:pt x="407361" y="0"/>
                      </a:cubicBezTo>
                      <a:cubicBezTo>
                        <a:pt x="632340" y="0"/>
                        <a:pt x="814722" y="121588"/>
                        <a:pt x="814722" y="271574"/>
                      </a:cubicBezTo>
                      <a:cubicBezTo>
                        <a:pt x="814722" y="421560"/>
                        <a:pt x="632340" y="543148"/>
                        <a:pt x="407361" y="543148"/>
                      </a:cubicBezTo>
                      <a:cubicBezTo>
                        <a:pt x="182382" y="543148"/>
                        <a:pt x="0" y="421560"/>
                        <a:pt x="0" y="271574"/>
                      </a:cubicBezTo>
                      <a:close/>
                    </a:path>
                  </a:pathLst>
                </a:custGeom>
                <a:blipFill rotWithShape="1"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28" name="手繪多邊形 27"/>
                <p:cNvSpPr/>
                <p:nvPr/>
              </p:nvSpPr>
              <p:spPr>
                <a:xfrm>
                  <a:off x="2046360" y="2362407"/>
                  <a:ext cx="814722" cy="543148"/>
                </a:xfrm>
                <a:custGeom>
                  <a:avLst/>
                  <a:gdLst>
                    <a:gd name="connsiteX0" fmla="*/ 0 w 814722"/>
                    <a:gd name="connsiteY0" fmla="*/ 271574 h 543148"/>
                    <a:gd name="connsiteX1" fmla="*/ 407361 w 814722"/>
                    <a:gd name="connsiteY1" fmla="*/ 0 h 543148"/>
                    <a:gd name="connsiteX2" fmla="*/ 814722 w 814722"/>
                    <a:gd name="connsiteY2" fmla="*/ 271574 h 543148"/>
                    <a:gd name="connsiteX3" fmla="*/ 407361 w 814722"/>
                    <a:gd name="connsiteY3" fmla="*/ 543148 h 543148"/>
                    <a:gd name="connsiteX4" fmla="*/ 0 w 814722"/>
                    <a:gd name="connsiteY4" fmla="*/ 271574 h 543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14722" h="543148">
                      <a:moveTo>
                        <a:pt x="0" y="271574"/>
                      </a:moveTo>
                      <a:cubicBezTo>
                        <a:pt x="0" y="121588"/>
                        <a:pt x="182382" y="0"/>
                        <a:pt x="407361" y="0"/>
                      </a:cubicBezTo>
                      <a:cubicBezTo>
                        <a:pt x="632340" y="0"/>
                        <a:pt x="814722" y="121588"/>
                        <a:pt x="814722" y="271574"/>
                      </a:cubicBezTo>
                      <a:cubicBezTo>
                        <a:pt x="814722" y="421560"/>
                        <a:pt x="632340" y="543148"/>
                        <a:pt x="407361" y="543148"/>
                      </a:cubicBezTo>
                      <a:cubicBezTo>
                        <a:pt x="182382" y="543148"/>
                        <a:pt x="0" y="421560"/>
                        <a:pt x="0" y="271574"/>
                      </a:cubicBezTo>
                      <a:close/>
                    </a:path>
                  </a:pathLst>
                </a:custGeom>
                <a:noFill/>
              </p:spPr>
              <p:style>
                <a:lnRef idx="2">
                  <a:schemeClr val="dk1">
                    <a:shade val="8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l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72653" tIns="132882" rIns="172653" bIns="132882" numCol="1" spcCol="1270" anchor="ctr" anchorCtr="0">
                  <a:noAutofit/>
                </a:bodyPr>
                <a:lstStyle/>
                <a:p>
                  <a:pPr lvl="0" algn="ctr" defTabSz="6223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i="1" kern="120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1400" b="0" i="1" kern="1200" smtClean="0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TW" sz="1400" b="0" i="1" kern="1200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1400" kern="1200" dirty="0"/>
                </a:p>
              </p:txBody>
            </p:sp>
          </mc:Choice>
          <mc:Fallback>
            <p:sp>
              <p:nvSpPr>
                <p:cNvPr id="28" name="手繪多邊形 2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46360" y="2362407"/>
                  <a:ext cx="814722" cy="543148"/>
                </a:xfrm>
                <a:custGeom>
                  <a:avLst/>
                  <a:gdLst>
                    <a:gd name="connsiteX0" fmla="*/ 0 w 814722"/>
                    <a:gd name="connsiteY0" fmla="*/ 271574 h 543148"/>
                    <a:gd name="connsiteX1" fmla="*/ 407361 w 814722"/>
                    <a:gd name="connsiteY1" fmla="*/ 0 h 543148"/>
                    <a:gd name="connsiteX2" fmla="*/ 814722 w 814722"/>
                    <a:gd name="connsiteY2" fmla="*/ 271574 h 543148"/>
                    <a:gd name="connsiteX3" fmla="*/ 407361 w 814722"/>
                    <a:gd name="connsiteY3" fmla="*/ 543148 h 543148"/>
                    <a:gd name="connsiteX4" fmla="*/ 0 w 814722"/>
                    <a:gd name="connsiteY4" fmla="*/ 271574 h 543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14722" h="543148">
                      <a:moveTo>
                        <a:pt x="0" y="271574"/>
                      </a:moveTo>
                      <a:cubicBezTo>
                        <a:pt x="0" y="121588"/>
                        <a:pt x="182382" y="0"/>
                        <a:pt x="407361" y="0"/>
                      </a:cubicBezTo>
                      <a:cubicBezTo>
                        <a:pt x="632340" y="0"/>
                        <a:pt x="814722" y="121588"/>
                        <a:pt x="814722" y="271574"/>
                      </a:cubicBezTo>
                      <a:cubicBezTo>
                        <a:pt x="814722" y="421560"/>
                        <a:pt x="632340" y="543148"/>
                        <a:pt x="407361" y="543148"/>
                      </a:cubicBezTo>
                      <a:cubicBezTo>
                        <a:pt x="182382" y="543148"/>
                        <a:pt x="0" y="421560"/>
                        <a:pt x="0" y="271574"/>
                      </a:cubicBezTo>
                      <a:close/>
                    </a:path>
                  </a:pathLst>
                </a:custGeom>
                <a:blipFill rotWithShape="1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30" name="手繪多邊形 29"/>
                <p:cNvSpPr/>
                <p:nvPr/>
              </p:nvSpPr>
              <p:spPr>
                <a:xfrm>
                  <a:off x="987221" y="3122815"/>
                  <a:ext cx="814722" cy="543148"/>
                </a:xfrm>
                <a:custGeom>
                  <a:avLst/>
                  <a:gdLst>
                    <a:gd name="connsiteX0" fmla="*/ 0 w 814722"/>
                    <a:gd name="connsiteY0" fmla="*/ 271574 h 543148"/>
                    <a:gd name="connsiteX1" fmla="*/ 407361 w 814722"/>
                    <a:gd name="connsiteY1" fmla="*/ 0 h 543148"/>
                    <a:gd name="connsiteX2" fmla="*/ 814722 w 814722"/>
                    <a:gd name="connsiteY2" fmla="*/ 271574 h 543148"/>
                    <a:gd name="connsiteX3" fmla="*/ 407361 w 814722"/>
                    <a:gd name="connsiteY3" fmla="*/ 543148 h 543148"/>
                    <a:gd name="connsiteX4" fmla="*/ 0 w 814722"/>
                    <a:gd name="connsiteY4" fmla="*/ 271574 h 543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14722" h="543148">
                      <a:moveTo>
                        <a:pt x="0" y="271574"/>
                      </a:moveTo>
                      <a:cubicBezTo>
                        <a:pt x="0" y="121588"/>
                        <a:pt x="182382" y="0"/>
                        <a:pt x="407361" y="0"/>
                      </a:cubicBezTo>
                      <a:cubicBezTo>
                        <a:pt x="632340" y="0"/>
                        <a:pt x="814722" y="121588"/>
                        <a:pt x="814722" y="271574"/>
                      </a:cubicBezTo>
                      <a:cubicBezTo>
                        <a:pt x="814722" y="421560"/>
                        <a:pt x="632340" y="543148"/>
                        <a:pt x="407361" y="543148"/>
                      </a:cubicBezTo>
                      <a:cubicBezTo>
                        <a:pt x="182382" y="543148"/>
                        <a:pt x="0" y="421560"/>
                        <a:pt x="0" y="271574"/>
                      </a:cubicBezTo>
                      <a:close/>
                    </a:path>
                  </a:pathLst>
                </a:custGeom>
                <a:noFill/>
              </p:spPr>
              <p:style>
                <a:lnRef idx="2">
                  <a:schemeClr val="dk1">
                    <a:shade val="8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l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72653" tIns="132882" rIns="172653" bIns="132882" numCol="1" spcCol="1270" anchor="ctr" anchorCtr="0">
                  <a:noAutofit/>
                </a:bodyPr>
                <a:lstStyle/>
                <a:p>
                  <a:pPr lvl="0" algn="ctr" defTabSz="6223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i="1" kern="120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1400" b="0" i="1" kern="1200" smtClean="0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TW" sz="1400" b="0" i="1" kern="1200" smtClean="0">
                                <a:latin typeface="Cambria Math"/>
                              </a:rPr>
                              <m:t>1_1</m:t>
                            </m:r>
                          </m:sub>
                        </m:sSub>
                      </m:oMath>
                    </m:oMathPara>
                  </a14:m>
                  <a:endParaRPr lang="zh-TW" altLang="en-US" sz="1400" kern="1200" dirty="0"/>
                </a:p>
              </p:txBody>
            </p:sp>
          </mc:Choice>
          <mc:Fallback>
            <p:sp>
              <p:nvSpPr>
                <p:cNvPr id="30" name="手繪多邊形 2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7221" y="3122815"/>
                  <a:ext cx="814722" cy="543148"/>
                </a:xfrm>
                <a:custGeom>
                  <a:avLst/>
                  <a:gdLst>
                    <a:gd name="connsiteX0" fmla="*/ 0 w 814722"/>
                    <a:gd name="connsiteY0" fmla="*/ 271574 h 543148"/>
                    <a:gd name="connsiteX1" fmla="*/ 407361 w 814722"/>
                    <a:gd name="connsiteY1" fmla="*/ 0 h 543148"/>
                    <a:gd name="connsiteX2" fmla="*/ 814722 w 814722"/>
                    <a:gd name="connsiteY2" fmla="*/ 271574 h 543148"/>
                    <a:gd name="connsiteX3" fmla="*/ 407361 w 814722"/>
                    <a:gd name="connsiteY3" fmla="*/ 543148 h 543148"/>
                    <a:gd name="connsiteX4" fmla="*/ 0 w 814722"/>
                    <a:gd name="connsiteY4" fmla="*/ 271574 h 543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14722" h="543148">
                      <a:moveTo>
                        <a:pt x="0" y="271574"/>
                      </a:moveTo>
                      <a:cubicBezTo>
                        <a:pt x="0" y="121588"/>
                        <a:pt x="182382" y="0"/>
                        <a:pt x="407361" y="0"/>
                      </a:cubicBezTo>
                      <a:cubicBezTo>
                        <a:pt x="632340" y="0"/>
                        <a:pt x="814722" y="121588"/>
                        <a:pt x="814722" y="271574"/>
                      </a:cubicBezTo>
                      <a:cubicBezTo>
                        <a:pt x="814722" y="421560"/>
                        <a:pt x="632340" y="543148"/>
                        <a:pt x="407361" y="543148"/>
                      </a:cubicBezTo>
                      <a:cubicBezTo>
                        <a:pt x="182382" y="543148"/>
                        <a:pt x="0" y="421560"/>
                        <a:pt x="0" y="271574"/>
                      </a:cubicBezTo>
                      <a:close/>
                    </a:path>
                  </a:pathLst>
                </a:custGeom>
                <a:blipFill rotWithShape="1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32" name="手繪多邊形 31"/>
                <p:cNvSpPr/>
                <p:nvPr/>
              </p:nvSpPr>
              <p:spPr>
                <a:xfrm>
                  <a:off x="457652" y="3883222"/>
                  <a:ext cx="814722" cy="543148"/>
                </a:xfrm>
                <a:custGeom>
                  <a:avLst/>
                  <a:gdLst>
                    <a:gd name="connsiteX0" fmla="*/ 0 w 814722"/>
                    <a:gd name="connsiteY0" fmla="*/ 271574 h 543148"/>
                    <a:gd name="connsiteX1" fmla="*/ 407361 w 814722"/>
                    <a:gd name="connsiteY1" fmla="*/ 0 h 543148"/>
                    <a:gd name="connsiteX2" fmla="*/ 814722 w 814722"/>
                    <a:gd name="connsiteY2" fmla="*/ 271574 h 543148"/>
                    <a:gd name="connsiteX3" fmla="*/ 407361 w 814722"/>
                    <a:gd name="connsiteY3" fmla="*/ 543148 h 543148"/>
                    <a:gd name="connsiteX4" fmla="*/ 0 w 814722"/>
                    <a:gd name="connsiteY4" fmla="*/ 271574 h 543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14722" h="543148">
                      <a:moveTo>
                        <a:pt x="0" y="271574"/>
                      </a:moveTo>
                      <a:cubicBezTo>
                        <a:pt x="0" y="121588"/>
                        <a:pt x="182382" y="0"/>
                        <a:pt x="407361" y="0"/>
                      </a:cubicBezTo>
                      <a:cubicBezTo>
                        <a:pt x="632340" y="0"/>
                        <a:pt x="814722" y="121588"/>
                        <a:pt x="814722" y="271574"/>
                      </a:cubicBezTo>
                      <a:cubicBezTo>
                        <a:pt x="814722" y="421560"/>
                        <a:pt x="632340" y="543148"/>
                        <a:pt x="407361" y="543148"/>
                      </a:cubicBezTo>
                      <a:cubicBezTo>
                        <a:pt x="182382" y="543148"/>
                        <a:pt x="0" y="421560"/>
                        <a:pt x="0" y="271574"/>
                      </a:cubicBezTo>
                      <a:close/>
                    </a:path>
                  </a:pathLst>
                </a:custGeom>
                <a:noFill/>
              </p:spPr>
              <p:style>
                <a:lnRef idx="2">
                  <a:schemeClr val="dk1">
                    <a:shade val="8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l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72653" tIns="132882" rIns="172653" bIns="132882" numCol="1" spcCol="1270" anchor="ctr" anchorCtr="0">
                  <a:noAutofit/>
                </a:bodyPr>
                <a:lstStyle/>
                <a:p>
                  <a:pPr lvl="0" algn="ctr" defTabSz="6223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i="1" kern="120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1400" b="0" i="1" kern="1200" smtClean="0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TW" sz="1400" b="0" i="1" kern="1200" smtClean="0">
                                <a:latin typeface="Cambria Math"/>
                              </a:rPr>
                              <m:t>1_1_1</m:t>
                            </m:r>
                          </m:sub>
                        </m:sSub>
                      </m:oMath>
                    </m:oMathPara>
                  </a14:m>
                  <a:endParaRPr lang="zh-TW" altLang="en-US" sz="1400" kern="1200" dirty="0"/>
                </a:p>
              </p:txBody>
            </p:sp>
          </mc:Choice>
          <mc:Fallback>
            <p:sp>
              <p:nvSpPr>
                <p:cNvPr id="32" name="手繪多邊形 3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652" y="3883222"/>
                  <a:ext cx="814722" cy="543148"/>
                </a:xfrm>
                <a:custGeom>
                  <a:avLst/>
                  <a:gdLst>
                    <a:gd name="connsiteX0" fmla="*/ 0 w 814722"/>
                    <a:gd name="connsiteY0" fmla="*/ 271574 h 543148"/>
                    <a:gd name="connsiteX1" fmla="*/ 407361 w 814722"/>
                    <a:gd name="connsiteY1" fmla="*/ 0 h 543148"/>
                    <a:gd name="connsiteX2" fmla="*/ 814722 w 814722"/>
                    <a:gd name="connsiteY2" fmla="*/ 271574 h 543148"/>
                    <a:gd name="connsiteX3" fmla="*/ 407361 w 814722"/>
                    <a:gd name="connsiteY3" fmla="*/ 543148 h 543148"/>
                    <a:gd name="connsiteX4" fmla="*/ 0 w 814722"/>
                    <a:gd name="connsiteY4" fmla="*/ 271574 h 543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14722" h="543148">
                      <a:moveTo>
                        <a:pt x="0" y="271574"/>
                      </a:moveTo>
                      <a:cubicBezTo>
                        <a:pt x="0" y="121588"/>
                        <a:pt x="182382" y="0"/>
                        <a:pt x="407361" y="0"/>
                      </a:cubicBezTo>
                      <a:cubicBezTo>
                        <a:pt x="632340" y="0"/>
                        <a:pt x="814722" y="121588"/>
                        <a:pt x="814722" y="271574"/>
                      </a:cubicBezTo>
                      <a:cubicBezTo>
                        <a:pt x="814722" y="421560"/>
                        <a:pt x="632340" y="543148"/>
                        <a:pt x="407361" y="543148"/>
                      </a:cubicBezTo>
                      <a:cubicBezTo>
                        <a:pt x="182382" y="543148"/>
                        <a:pt x="0" y="421560"/>
                        <a:pt x="0" y="271574"/>
                      </a:cubicBezTo>
                      <a:close/>
                    </a:path>
                  </a:pathLst>
                </a:custGeom>
                <a:blipFill rotWithShape="1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34" name="手繪多邊形 33"/>
                <p:cNvSpPr/>
                <p:nvPr/>
              </p:nvSpPr>
              <p:spPr>
                <a:xfrm>
                  <a:off x="1516791" y="3883222"/>
                  <a:ext cx="814722" cy="543148"/>
                </a:xfrm>
                <a:custGeom>
                  <a:avLst/>
                  <a:gdLst>
                    <a:gd name="connsiteX0" fmla="*/ 0 w 814722"/>
                    <a:gd name="connsiteY0" fmla="*/ 271574 h 543148"/>
                    <a:gd name="connsiteX1" fmla="*/ 407361 w 814722"/>
                    <a:gd name="connsiteY1" fmla="*/ 0 h 543148"/>
                    <a:gd name="connsiteX2" fmla="*/ 814722 w 814722"/>
                    <a:gd name="connsiteY2" fmla="*/ 271574 h 543148"/>
                    <a:gd name="connsiteX3" fmla="*/ 407361 w 814722"/>
                    <a:gd name="connsiteY3" fmla="*/ 543148 h 543148"/>
                    <a:gd name="connsiteX4" fmla="*/ 0 w 814722"/>
                    <a:gd name="connsiteY4" fmla="*/ 271574 h 543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14722" h="543148">
                      <a:moveTo>
                        <a:pt x="0" y="271574"/>
                      </a:moveTo>
                      <a:cubicBezTo>
                        <a:pt x="0" y="121588"/>
                        <a:pt x="182382" y="0"/>
                        <a:pt x="407361" y="0"/>
                      </a:cubicBezTo>
                      <a:cubicBezTo>
                        <a:pt x="632340" y="0"/>
                        <a:pt x="814722" y="121588"/>
                        <a:pt x="814722" y="271574"/>
                      </a:cubicBezTo>
                      <a:cubicBezTo>
                        <a:pt x="814722" y="421560"/>
                        <a:pt x="632340" y="543148"/>
                        <a:pt x="407361" y="543148"/>
                      </a:cubicBezTo>
                      <a:cubicBezTo>
                        <a:pt x="182382" y="543148"/>
                        <a:pt x="0" y="421560"/>
                        <a:pt x="0" y="271574"/>
                      </a:cubicBezTo>
                      <a:close/>
                    </a:path>
                  </a:pathLst>
                </a:custGeom>
                <a:noFill/>
              </p:spPr>
              <p:style>
                <a:lnRef idx="2">
                  <a:schemeClr val="dk1">
                    <a:shade val="8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l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72653" tIns="132882" rIns="172653" bIns="132882" numCol="1" spcCol="1270" anchor="ctr" anchorCtr="0">
                  <a:noAutofit/>
                </a:bodyPr>
                <a:lstStyle/>
                <a:p>
                  <a:pPr lvl="0" algn="ctr" defTabSz="6223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i="1" kern="120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1400" b="0" i="1" kern="1200" smtClean="0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TW" sz="1400" b="0" i="1" kern="1200" smtClean="0">
                                <a:latin typeface="Cambria Math"/>
                              </a:rPr>
                              <m:t>1_1_2</m:t>
                            </m:r>
                          </m:sub>
                        </m:sSub>
                      </m:oMath>
                    </m:oMathPara>
                  </a14:m>
                  <a:endParaRPr lang="zh-TW" altLang="en-US" sz="1400" kern="1200" dirty="0"/>
                </a:p>
              </p:txBody>
            </p:sp>
          </mc:Choice>
          <mc:Fallback>
            <p:sp>
              <p:nvSpPr>
                <p:cNvPr id="34" name="手繪多邊形 3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6791" y="3883222"/>
                  <a:ext cx="814722" cy="543148"/>
                </a:xfrm>
                <a:custGeom>
                  <a:avLst/>
                  <a:gdLst>
                    <a:gd name="connsiteX0" fmla="*/ 0 w 814722"/>
                    <a:gd name="connsiteY0" fmla="*/ 271574 h 543148"/>
                    <a:gd name="connsiteX1" fmla="*/ 407361 w 814722"/>
                    <a:gd name="connsiteY1" fmla="*/ 0 h 543148"/>
                    <a:gd name="connsiteX2" fmla="*/ 814722 w 814722"/>
                    <a:gd name="connsiteY2" fmla="*/ 271574 h 543148"/>
                    <a:gd name="connsiteX3" fmla="*/ 407361 w 814722"/>
                    <a:gd name="connsiteY3" fmla="*/ 543148 h 543148"/>
                    <a:gd name="connsiteX4" fmla="*/ 0 w 814722"/>
                    <a:gd name="connsiteY4" fmla="*/ 271574 h 543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14722" h="543148">
                      <a:moveTo>
                        <a:pt x="0" y="271574"/>
                      </a:moveTo>
                      <a:cubicBezTo>
                        <a:pt x="0" y="121588"/>
                        <a:pt x="182382" y="0"/>
                        <a:pt x="407361" y="0"/>
                      </a:cubicBezTo>
                      <a:cubicBezTo>
                        <a:pt x="632340" y="0"/>
                        <a:pt x="814722" y="121588"/>
                        <a:pt x="814722" y="271574"/>
                      </a:cubicBezTo>
                      <a:cubicBezTo>
                        <a:pt x="814722" y="421560"/>
                        <a:pt x="632340" y="543148"/>
                        <a:pt x="407361" y="543148"/>
                      </a:cubicBezTo>
                      <a:cubicBezTo>
                        <a:pt x="182382" y="543148"/>
                        <a:pt x="0" y="421560"/>
                        <a:pt x="0" y="271574"/>
                      </a:cubicBezTo>
                      <a:close/>
                    </a:path>
                  </a:pathLst>
                </a:custGeom>
                <a:blipFill rotWithShape="1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36" name="手繪多邊形 35"/>
                <p:cNvSpPr/>
                <p:nvPr/>
              </p:nvSpPr>
              <p:spPr>
                <a:xfrm>
                  <a:off x="3105499" y="3122815"/>
                  <a:ext cx="814722" cy="543148"/>
                </a:xfrm>
                <a:custGeom>
                  <a:avLst/>
                  <a:gdLst>
                    <a:gd name="connsiteX0" fmla="*/ 0 w 814722"/>
                    <a:gd name="connsiteY0" fmla="*/ 271574 h 543148"/>
                    <a:gd name="connsiteX1" fmla="*/ 407361 w 814722"/>
                    <a:gd name="connsiteY1" fmla="*/ 0 h 543148"/>
                    <a:gd name="connsiteX2" fmla="*/ 814722 w 814722"/>
                    <a:gd name="connsiteY2" fmla="*/ 271574 h 543148"/>
                    <a:gd name="connsiteX3" fmla="*/ 407361 w 814722"/>
                    <a:gd name="connsiteY3" fmla="*/ 543148 h 543148"/>
                    <a:gd name="connsiteX4" fmla="*/ 0 w 814722"/>
                    <a:gd name="connsiteY4" fmla="*/ 271574 h 543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14722" h="543148">
                      <a:moveTo>
                        <a:pt x="0" y="271574"/>
                      </a:moveTo>
                      <a:cubicBezTo>
                        <a:pt x="0" y="121588"/>
                        <a:pt x="182382" y="0"/>
                        <a:pt x="407361" y="0"/>
                      </a:cubicBezTo>
                      <a:cubicBezTo>
                        <a:pt x="632340" y="0"/>
                        <a:pt x="814722" y="121588"/>
                        <a:pt x="814722" y="271574"/>
                      </a:cubicBezTo>
                      <a:cubicBezTo>
                        <a:pt x="814722" y="421560"/>
                        <a:pt x="632340" y="543148"/>
                        <a:pt x="407361" y="543148"/>
                      </a:cubicBezTo>
                      <a:cubicBezTo>
                        <a:pt x="182382" y="543148"/>
                        <a:pt x="0" y="421560"/>
                        <a:pt x="0" y="271574"/>
                      </a:cubicBezTo>
                      <a:close/>
                    </a:path>
                  </a:pathLst>
                </a:custGeom>
                <a:noFill/>
              </p:spPr>
              <p:style>
                <a:lnRef idx="2">
                  <a:schemeClr val="dk1">
                    <a:shade val="8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l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72653" tIns="132882" rIns="172653" bIns="132882" numCol="1" spcCol="1270" anchor="ctr" anchorCtr="0">
                  <a:noAutofit/>
                </a:bodyPr>
                <a:lstStyle/>
                <a:p>
                  <a:pPr lvl="0" algn="ctr" defTabSz="6223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i="1" kern="120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1400" b="0" i="1" kern="1200" smtClean="0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TW" sz="1400" b="0" i="1" kern="1200" smtClean="0">
                                <a:latin typeface="Cambria Math"/>
                              </a:rPr>
                              <m:t>1_2</m:t>
                            </m:r>
                          </m:sub>
                        </m:sSub>
                      </m:oMath>
                    </m:oMathPara>
                  </a14:m>
                  <a:endParaRPr lang="zh-TW" altLang="en-US" sz="1400" kern="1200" dirty="0"/>
                </a:p>
              </p:txBody>
            </p:sp>
          </mc:Choice>
          <mc:Fallback>
            <p:sp>
              <p:nvSpPr>
                <p:cNvPr id="36" name="手繪多邊形 3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5499" y="3122815"/>
                  <a:ext cx="814722" cy="543148"/>
                </a:xfrm>
                <a:custGeom>
                  <a:avLst/>
                  <a:gdLst>
                    <a:gd name="connsiteX0" fmla="*/ 0 w 814722"/>
                    <a:gd name="connsiteY0" fmla="*/ 271574 h 543148"/>
                    <a:gd name="connsiteX1" fmla="*/ 407361 w 814722"/>
                    <a:gd name="connsiteY1" fmla="*/ 0 h 543148"/>
                    <a:gd name="connsiteX2" fmla="*/ 814722 w 814722"/>
                    <a:gd name="connsiteY2" fmla="*/ 271574 h 543148"/>
                    <a:gd name="connsiteX3" fmla="*/ 407361 w 814722"/>
                    <a:gd name="connsiteY3" fmla="*/ 543148 h 543148"/>
                    <a:gd name="connsiteX4" fmla="*/ 0 w 814722"/>
                    <a:gd name="connsiteY4" fmla="*/ 271574 h 543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14722" h="543148">
                      <a:moveTo>
                        <a:pt x="0" y="271574"/>
                      </a:moveTo>
                      <a:cubicBezTo>
                        <a:pt x="0" y="121588"/>
                        <a:pt x="182382" y="0"/>
                        <a:pt x="407361" y="0"/>
                      </a:cubicBezTo>
                      <a:cubicBezTo>
                        <a:pt x="632340" y="0"/>
                        <a:pt x="814722" y="121588"/>
                        <a:pt x="814722" y="271574"/>
                      </a:cubicBezTo>
                      <a:cubicBezTo>
                        <a:pt x="814722" y="421560"/>
                        <a:pt x="632340" y="543148"/>
                        <a:pt x="407361" y="543148"/>
                      </a:cubicBezTo>
                      <a:cubicBezTo>
                        <a:pt x="182382" y="543148"/>
                        <a:pt x="0" y="421560"/>
                        <a:pt x="0" y="271574"/>
                      </a:cubicBezTo>
                      <a:close/>
                    </a:path>
                  </a:pathLst>
                </a:custGeom>
                <a:blipFill rotWithShape="1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38" name="手繪多邊形 37"/>
                <p:cNvSpPr/>
                <p:nvPr/>
              </p:nvSpPr>
              <p:spPr>
                <a:xfrm>
                  <a:off x="2575930" y="3883222"/>
                  <a:ext cx="814722" cy="543148"/>
                </a:xfrm>
                <a:custGeom>
                  <a:avLst/>
                  <a:gdLst>
                    <a:gd name="connsiteX0" fmla="*/ 0 w 814722"/>
                    <a:gd name="connsiteY0" fmla="*/ 271574 h 543148"/>
                    <a:gd name="connsiteX1" fmla="*/ 407361 w 814722"/>
                    <a:gd name="connsiteY1" fmla="*/ 0 h 543148"/>
                    <a:gd name="connsiteX2" fmla="*/ 814722 w 814722"/>
                    <a:gd name="connsiteY2" fmla="*/ 271574 h 543148"/>
                    <a:gd name="connsiteX3" fmla="*/ 407361 w 814722"/>
                    <a:gd name="connsiteY3" fmla="*/ 543148 h 543148"/>
                    <a:gd name="connsiteX4" fmla="*/ 0 w 814722"/>
                    <a:gd name="connsiteY4" fmla="*/ 271574 h 543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14722" h="543148">
                      <a:moveTo>
                        <a:pt x="0" y="271574"/>
                      </a:moveTo>
                      <a:cubicBezTo>
                        <a:pt x="0" y="121588"/>
                        <a:pt x="182382" y="0"/>
                        <a:pt x="407361" y="0"/>
                      </a:cubicBezTo>
                      <a:cubicBezTo>
                        <a:pt x="632340" y="0"/>
                        <a:pt x="814722" y="121588"/>
                        <a:pt x="814722" y="271574"/>
                      </a:cubicBezTo>
                      <a:cubicBezTo>
                        <a:pt x="814722" y="421560"/>
                        <a:pt x="632340" y="543148"/>
                        <a:pt x="407361" y="543148"/>
                      </a:cubicBezTo>
                      <a:cubicBezTo>
                        <a:pt x="182382" y="543148"/>
                        <a:pt x="0" y="421560"/>
                        <a:pt x="0" y="271574"/>
                      </a:cubicBezTo>
                      <a:close/>
                    </a:path>
                  </a:pathLst>
                </a:custGeom>
                <a:noFill/>
              </p:spPr>
              <p:style>
                <a:lnRef idx="2">
                  <a:schemeClr val="dk1">
                    <a:shade val="8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l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72653" tIns="132882" rIns="172653" bIns="132882" numCol="1" spcCol="1270" anchor="ctr" anchorCtr="0">
                  <a:noAutofit/>
                </a:bodyPr>
                <a:lstStyle/>
                <a:p>
                  <a:pPr lvl="0" algn="ctr" defTabSz="6223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i="1" kern="120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1400" b="0" i="1" kern="1200" smtClean="0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TW" sz="1400" b="0" i="1" kern="1200" smtClean="0">
                                <a:latin typeface="Cambria Math"/>
                              </a:rPr>
                              <m:t>1_2_1</m:t>
                            </m:r>
                          </m:sub>
                        </m:sSub>
                      </m:oMath>
                    </m:oMathPara>
                  </a14:m>
                  <a:endParaRPr lang="zh-TW" altLang="en-US" sz="1400" kern="1200" dirty="0"/>
                </a:p>
              </p:txBody>
            </p:sp>
          </mc:Choice>
          <mc:Fallback>
            <p:sp>
              <p:nvSpPr>
                <p:cNvPr id="38" name="手繪多邊形 3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75930" y="3883222"/>
                  <a:ext cx="814722" cy="543148"/>
                </a:xfrm>
                <a:custGeom>
                  <a:avLst/>
                  <a:gdLst>
                    <a:gd name="connsiteX0" fmla="*/ 0 w 814722"/>
                    <a:gd name="connsiteY0" fmla="*/ 271574 h 543148"/>
                    <a:gd name="connsiteX1" fmla="*/ 407361 w 814722"/>
                    <a:gd name="connsiteY1" fmla="*/ 0 h 543148"/>
                    <a:gd name="connsiteX2" fmla="*/ 814722 w 814722"/>
                    <a:gd name="connsiteY2" fmla="*/ 271574 h 543148"/>
                    <a:gd name="connsiteX3" fmla="*/ 407361 w 814722"/>
                    <a:gd name="connsiteY3" fmla="*/ 543148 h 543148"/>
                    <a:gd name="connsiteX4" fmla="*/ 0 w 814722"/>
                    <a:gd name="connsiteY4" fmla="*/ 271574 h 543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14722" h="543148">
                      <a:moveTo>
                        <a:pt x="0" y="271574"/>
                      </a:moveTo>
                      <a:cubicBezTo>
                        <a:pt x="0" y="121588"/>
                        <a:pt x="182382" y="0"/>
                        <a:pt x="407361" y="0"/>
                      </a:cubicBezTo>
                      <a:cubicBezTo>
                        <a:pt x="632340" y="0"/>
                        <a:pt x="814722" y="121588"/>
                        <a:pt x="814722" y="271574"/>
                      </a:cubicBezTo>
                      <a:cubicBezTo>
                        <a:pt x="814722" y="421560"/>
                        <a:pt x="632340" y="543148"/>
                        <a:pt x="407361" y="543148"/>
                      </a:cubicBezTo>
                      <a:cubicBezTo>
                        <a:pt x="182382" y="543148"/>
                        <a:pt x="0" y="421560"/>
                        <a:pt x="0" y="271574"/>
                      </a:cubicBezTo>
                      <a:close/>
                    </a:path>
                  </a:pathLst>
                </a:custGeom>
                <a:blipFill rotWithShape="1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40" name="手繪多邊形 39"/>
                <p:cNvSpPr/>
                <p:nvPr/>
              </p:nvSpPr>
              <p:spPr>
                <a:xfrm>
                  <a:off x="3635069" y="3883222"/>
                  <a:ext cx="814722" cy="543148"/>
                </a:xfrm>
                <a:custGeom>
                  <a:avLst/>
                  <a:gdLst>
                    <a:gd name="connsiteX0" fmla="*/ 0 w 814722"/>
                    <a:gd name="connsiteY0" fmla="*/ 271574 h 543148"/>
                    <a:gd name="connsiteX1" fmla="*/ 407361 w 814722"/>
                    <a:gd name="connsiteY1" fmla="*/ 0 h 543148"/>
                    <a:gd name="connsiteX2" fmla="*/ 814722 w 814722"/>
                    <a:gd name="connsiteY2" fmla="*/ 271574 h 543148"/>
                    <a:gd name="connsiteX3" fmla="*/ 407361 w 814722"/>
                    <a:gd name="connsiteY3" fmla="*/ 543148 h 543148"/>
                    <a:gd name="connsiteX4" fmla="*/ 0 w 814722"/>
                    <a:gd name="connsiteY4" fmla="*/ 271574 h 543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14722" h="543148">
                      <a:moveTo>
                        <a:pt x="0" y="271574"/>
                      </a:moveTo>
                      <a:cubicBezTo>
                        <a:pt x="0" y="121588"/>
                        <a:pt x="182382" y="0"/>
                        <a:pt x="407361" y="0"/>
                      </a:cubicBezTo>
                      <a:cubicBezTo>
                        <a:pt x="632340" y="0"/>
                        <a:pt x="814722" y="121588"/>
                        <a:pt x="814722" y="271574"/>
                      </a:cubicBezTo>
                      <a:cubicBezTo>
                        <a:pt x="814722" y="421560"/>
                        <a:pt x="632340" y="543148"/>
                        <a:pt x="407361" y="543148"/>
                      </a:cubicBezTo>
                      <a:cubicBezTo>
                        <a:pt x="182382" y="543148"/>
                        <a:pt x="0" y="421560"/>
                        <a:pt x="0" y="271574"/>
                      </a:cubicBezTo>
                      <a:close/>
                    </a:path>
                  </a:pathLst>
                </a:custGeom>
                <a:noFill/>
              </p:spPr>
              <p:style>
                <a:lnRef idx="2">
                  <a:schemeClr val="dk1">
                    <a:shade val="8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l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72653" tIns="132882" rIns="172653" bIns="132882" numCol="1" spcCol="1270" anchor="ctr" anchorCtr="0">
                  <a:noAutofit/>
                </a:bodyPr>
                <a:lstStyle/>
                <a:p>
                  <a:pPr lvl="0" algn="ctr" defTabSz="6223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i="1" kern="120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1400" b="0" i="1" kern="1200" smtClean="0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TW" sz="1400" b="0" i="1" kern="1200" smtClean="0">
                                <a:latin typeface="Cambria Math"/>
                              </a:rPr>
                              <m:t>1_2_2</m:t>
                            </m:r>
                          </m:sub>
                        </m:sSub>
                      </m:oMath>
                    </m:oMathPara>
                  </a14:m>
                  <a:endParaRPr lang="zh-TW" altLang="en-US" sz="1400" kern="1200" dirty="0"/>
                </a:p>
              </p:txBody>
            </p:sp>
          </mc:Choice>
          <mc:Fallback>
            <p:sp>
              <p:nvSpPr>
                <p:cNvPr id="40" name="手繪多邊形 3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5069" y="3883222"/>
                  <a:ext cx="814722" cy="543148"/>
                </a:xfrm>
                <a:custGeom>
                  <a:avLst/>
                  <a:gdLst>
                    <a:gd name="connsiteX0" fmla="*/ 0 w 814722"/>
                    <a:gd name="connsiteY0" fmla="*/ 271574 h 543148"/>
                    <a:gd name="connsiteX1" fmla="*/ 407361 w 814722"/>
                    <a:gd name="connsiteY1" fmla="*/ 0 h 543148"/>
                    <a:gd name="connsiteX2" fmla="*/ 814722 w 814722"/>
                    <a:gd name="connsiteY2" fmla="*/ 271574 h 543148"/>
                    <a:gd name="connsiteX3" fmla="*/ 407361 w 814722"/>
                    <a:gd name="connsiteY3" fmla="*/ 543148 h 543148"/>
                    <a:gd name="connsiteX4" fmla="*/ 0 w 814722"/>
                    <a:gd name="connsiteY4" fmla="*/ 271574 h 543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14722" h="543148">
                      <a:moveTo>
                        <a:pt x="0" y="271574"/>
                      </a:moveTo>
                      <a:cubicBezTo>
                        <a:pt x="0" y="121588"/>
                        <a:pt x="182382" y="0"/>
                        <a:pt x="407361" y="0"/>
                      </a:cubicBezTo>
                      <a:cubicBezTo>
                        <a:pt x="632340" y="0"/>
                        <a:pt x="814722" y="121588"/>
                        <a:pt x="814722" y="271574"/>
                      </a:cubicBezTo>
                      <a:cubicBezTo>
                        <a:pt x="814722" y="421560"/>
                        <a:pt x="632340" y="543148"/>
                        <a:pt x="407361" y="543148"/>
                      </a:cubicBezTo>
                      <a:cubicBezTo>
                        <a:pt x="182382" y="543148"/>
                        <a:pt x="0" y="421560"/>
                        <a:pt x="0" y="271574"/>
                      </a:cubicBezTo>
                      <a:close/>
                    </a:path>
                  </a:pathLst>
                </a:custGeom>
                <a:blipFill rotWithShape="1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42" name="手繪多邊形 41"/>
                <p:cNvSpPr/>
                <p:nvPr/>
              </p:nvSpPr>
              <p:spPr>
                <a:xfrm>
                  <a:off x="6282916" y="2362407"/>
                  <a:ext cx="814722" cy="543148"/>
                </a:xfrm>
                <a:custGeom>
                  <a:avLst/>
                  <a:gdLst>
                    <a:gd name="connsiteX0" fmla="*/ 0 w 814722"/>
                    <a:gd name="connsiteY0" fmla="*/ 271574 h 543148"/>
                    <a:gd name="connsiteX1" fmla="*/ 407361 w 814722"/>
                    <a:gd name="connsiteY1" fmla="*/ 0 h 543148"/>
                    <a:gd name="connsiteX2" fmla="*/ 814722 w 814722"/>
                    <a:gd name="connsiteY2" fmla="*/ 271574 h 543148"/>
                    <a:gd name="connsiteX3" fmla="*/ 407361 w 814722"/>
                    <a:gd name="connsiteY3" fmla="*/ 543148 h 543148"/>
                    <a:gd name="connsiteX4" fmla="*/ 0 w 814722"/>
                    <a:gd name="connsiteY4" fmla="*/ 271574 h 543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14722" h="543148">
                      <a:moveTo>
                        <a:pt x="0" y="271574"/>
                      </a:moveTo>
                      <a:cubicBezTo>
                        <a:pt x="0" y="121588"/>
                        <a:pt x="182382" y="0"/>
                        <a:pt x="407361" y="0"/>
                      </a:cubicBezTo>
                      <a:cubicBezTo>
                        <a:pt x="632340" y="0"/>
                        <a:pt x="814722" y="121588"/>
                        <a:pt x="814722" y="271574"/>
                      </a:cubicBezTo>
                      <a:cubicBezTo>
                        <a:pt x="814722" y="421560"/>
                        <a:pt x="632340" y="543148"/>
                        <a:pt x="407361" y="543148"/>
                      </a:cubicBezTo>
                      <a:cubicBezTo>
                        <a:pt x="182382" y="543148"/>
                        <a:pt x="0" y="421560"/>
                        <a:pt x="0" y="271574"/>
                      </a:cubicBezTo>
                      <a:close/>
                    </a:path>
                  </a:pathLst>
                </a:custGeom>
                <a:noFill/>
              </p:spPr>
              <p:style>
                <a:lnRef idx="2">
                  <a:schemeClr val="dk1">
                    <a:shade val="8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l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72653" tIns="132882" rIns="172653" bIns="132882" numCol="1" spcCol="1270" anchor="ctr" anchorCtr="0">
                  <a:noAutofit/>
                </a:bodyPr>
                <a:lstStyle/>
                <a:p>
                  <a:pPr lvl="0" algn="ctr" defTabSz="6223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i="1" kern="120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1400" b="0" i="1" kern="1200" smtClean="0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TW" sz="1400" b="0" i="1" kern="1200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1400" kern="1200" dirty="0"/>
                </a:p>
              </p:txBody>
            </p:sp>
          </mc:Choice>
          <mc:Fallback>
            <p:sp>
              <p:nvSpPr>
                <p:cNvPr id="42" name="手繪多邊形 4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2916" y="2362407"/>
                  <a:ext cx="814722" cy="543148"/>
                </a:xfrm>
                <a:custGeom>
                  <a:avLst/>
                  <a:gdLst>
                    <a:gd name="connsiteX0" fmla="*/ 0 w 814722"/>
                    <a:gd name="connsiteY0" fmla="*/ 271574 h 543148"/>
                    <a:gd name="connsiteX1" fmla="*/ 407361 w 814722"/>
                    <a:gd name="connsiteY1" fmla="*/ 0 h 543148"/>
                    <a:gd name="connsiteX2" fmla="*/ 814722 w 814722"/>
                    <a:gd name="connsiteY2" fmla="*/ 271574 h 543148"/>
                    <a:gd name="connsiteX3" fmla="*/ 407361 w 814722"/>
                    <a:gd name="connsiteY3" fmla="*/ 543148 h 543148"/>
                    <a:gd name="connsiteX4" fmla="*/ 0 w 814722"/>
                    <a:gd name="connsiteY4" fmla="*/ 271574 h 543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14722" h="543148">
                      <a:moveTo>
                        <a:pt x="0" y="271574"/>
                      </a:moveTo>
                      <a:cubicBezTo>
                        <a:pt x="0" y="121588"/>
                        <a:pt x="182382" y="0"/>
                        <a:pt x="407361" y="0"/>
                      </a:cubicBezTo>
                      <a:cubicBezTo>
                        <a:pt x="632340" y="0"/>
                        <a:pt x="814722" y="121588"/>
                        <a:pt x="814722" y="271574"/>
                      </a:cubicBezTo>
                      <a:cubicBezTo>
                        <a:pt x="814722" y="421560"/>
                        <a:pt x="632340" y="543148"/>
                        <a:pt x="407361" y="543148"/>
                      </a:cubicBezTo>
                      <a:cubicBezTo>
                        <a:pt x="182382" y="543148"/>
                        <a:pt x="0" y="421560"/>
                        <a:pt x="0" y="271574"/>
                      </a:cubicBezTo>
                      <a:close/>
                    </a:path>
                  </a:pathLst>
                </a:custGeom>
                <a:blipFill rotWithShape="1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44" name="手繪多邊形 43"/>
                <p:cNvSpPr/>
                <p:nvPr/>
              </p:nvSpPr>
              <p:spPr>
                <a:xfrm>
                  <a:off x="5223777" y="3122815"/>
                  <a:ext cx="814722" cy="543148"/>
                </a:xfrm>
                <a:custGeom>
                  <a:avLst/>
                  <a:gdLst>
                    <a:gd name="connsiteX0" fmla="*/ 0 w 814722"/>
                    <a:gd name="connsiteY0" fmla="*/ 271574 h 543148"/>
                    <a:gd name="connsiteX1" fmla="*/ 407361 w 814722"/>
                    <a:gd name="connsiteY1" fmla="*/ 0 h 543148"/>
                    <a:gd name="connsiteX2" fmla="*/ 814722 w 814722"/>
                    <a:gd name="connsiteY2" fmla="*/ 271574 h 543148"/>
                    <a:gd name="connsiteX3" fmla="*/ 407361 w 814722"/>
                    <a:gd name="connsiteY3" fmla="*/ 543148 h 543148"/>
                    <a:gd name="connsiteX4" fmla="*/ 0 w 814722"/>
                    <a:gd name="connsiteY4" fmla="*/ 271574 h 543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14722" h="543148">
                      <a:moveTo>
                        <a:pt x="0" y="271574"/>
                      </a:moveTo>
                      <a:cubicBezTo>
                        <a:pt x="0" y="121588"/>
                        <a:pt x="182382" y="0"/>
                        <a:pt x="407361" y="0"/>
                      </a:cubicBezTo>
                      <a:cubicBezTo>
                        <a:pt x="632340" y="0"/>
                        <a:pt x="814722" y="121588"/>
                        <a:pt x="814722" y="271574"/>
                      </a:cubicBezTo>
                      <a:cubicBezTo>
                        <a:pt x="814722" y="421560"/>
                        <a:pt x="632340" y="543148"/>
                        <a:pt x="407361" y="543148"/>
                      </a:cubicBezTo>
                      <a:cubicBezTo>
                        <a:pt x="182382" y="543148"/>
                        <a:pt x="0" y="421560"/>
                        <a:pt x="0" y="271574"/>
                      </a:cubicBezTo>
                      <a:close/>
                    </a:path>
                  </a:pathLst>
                </a:custGeom>
                <a:noFill/>
              </p:spPr>
              <p:style>
                <a:lnRef idx="2">
                  <a:schemeClr val="dk1">
                    <a:shade val="8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l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72653" tIns="132882" rIns="172653" bIns="132882" numCol="1" spcCol="1270" anchor="ctr" anchorCtr="0">
                  <a:noAutofit/>
                </a:bodyPr>
                <a:lstStyle/>
                <a:p>
                  <a:pPr lvl="0" algn="ctr" defTabSz="6223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i="1" kern="120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1400" b="0" i="1" kern="1200" smtClean="0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TW" sz="1400" b="0" i="1" kern="1200" smtClean="0">
                                <a:latin typeface="Cambria Math"/>
                              </a:rPr>
                              <m:t>2_1</m:t>
                            </m:r>
                          </m:sub>
                        </m:sSub>
                      </m:oMath>
                    </m:oMathPara>
                  </a14:m>
                  <a:endParaRPr lang="zh-TW" altLang="en-US" sz="1400" kern="1200" dirty="0"/>
                </a:p>
              </p:txBody>
            </p:sp>
          </mc:Choice>
          <mc:Fallback>
            <p:sp>
              <p:nvSpPr>
                <p:cNvPr id="44" name="手繪多邊形 4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3777" y="3122815"/>
                  <a:ext cx="814722" cy="543148"/>
                </a:xfrm>
                <a:custGeom>
                  <a:avLst/>
                  <a:gdLst>
                    <a:gd name="connsiteX0" fmla="*/ 0 w 814722"/>
                    <a:gd name="connsiteY0" fmla="*/ 271574 h 543148"/>
                    <a:gd name="connsiteX1" fmla="*/ 407361 w 814722"/>
                    <a:gd name="connsiteY1" fmla="*/ 0 h 543148"/>
                    <a:gd name="connsiteX2" fmla="*/ 814722 w 814722"/>
                    <a:gd name="connsiteY2" fmla="*/ 271574 h 543148"/>
                    <a:gd name="connsiteX3" fmla="*/ 407361 w 814722"/>
                    <a:gd name="connsiteY3" fmla="*/ 543148 h 543148"/>
                    <a:gd name="connsiteX4" fmla="*/ 0 w 814722"/>
                    <a:gd name="connsiteY4" fmla="*/ 271574 h 543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14722" h="543148">
                      <a:moveTo>
                        <a:pt x="0" y="271574"/>
                      </a:moveTo>
                      <a:cubicBezTo>
                        <a:pt x="0" y="121588"/>
                        <a:pt x="182382" y="0"/>
                        <a:pt x="407361" y="0"/>
                      </a:cubicBezTo>
                      <a:cubicBezTo>
                        <a:pt x="632340" y="0"/>
                        <a:pt x="814722" y="121588"/>
                        <a:pt x="814722" y="271574"/>
                      </a:cubicBezTo>
                      <a:cubicBezTo>
                        <a:pt x="814722" y="421560"/>
                        <a:pt x="632340" y="543148"/>
                        <a:pt x="407361" y="543148"/>
                      </a:cubicBezTo>
                      <a:cubicBezTo>
                        <a:pt x="182382" y="543148"/>
                        <a:pt x="0" y="421560"/>
                        <a:pt x="0" y="271574"/>
                      </a:cubicBezTo>
                      <a:close/>
                    </a:path>
                  </a:pathLst>
                </a:custGeom>
                <a:blipFill rotWithShape="1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46" name="手繪多邊形 45"/>
                <p:cNvSpPr/>
                <p:nvPr/>
              </p:nvSpPr>
              <p:spPr>
                <a:xfrm>
                  <a:off x="4694208" y="3883222"/>
                  <a:ext cx="814722" cy="543148"/>
                </a:xfrm>
                <a:custGeom>
                  <a:avLst/>
                  <a:gdLst>
                    <a:gd name="connsiteX0" fmla="*/ 0 w 814722"/>
                    <a:gd name="connsiteY0" fmla="*/ 271574 h 543148"/>
                    <a:gd name="connsiteX1" fmla="*/ 407361 w 814722"/>
                    <a:gd name="connsiteY1" fmla="*/ 0 h 543148"/>
                    <a:gd name="connsiteX2" fmla="*/ 814722 w 814722"/>
                    <a:gd name="connsiteY2" fmla="*/ 271574 h 543148"/>
                    <a:gd name="connsiteX3" fmla="*/ 407361 w 814722"/>
                    <a:gd name="connsiteY3" fmla="*/ 543148 h 543148"/>
                    <a:gd name="connsiteX4" fmla="*/ 0 w 814722"/>
                    <a:gd name="connsiteY4" fmla="*/ 271574 h 543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14722" h="543148">
                      <a:moveTo>
                        <a:pt x="0" y="271574"/>
                      </a:moveTo>
                      <a:cubicBezTo>
                        <a:pt x="0" y="121588"/>
                        <a:pt x="182382" y="0"/>
                        <a:pt x="407361" y="0"/>
                      </a:cubicBezTo>
                      <a:cubicBezTo>
                        <a:pt x="632340" y="0"/>
                        <a:pt x="814722" y="121588"/>
                        <a:pt x="814722" y="271574"/>
                      </a:cubicBezTo>
                      <a:cubicBezTo>
                        <a:pt x="814722" y="421560"/>
                        <a:pt x="632340" y="543148"/>
                        <a:pt x="407361" y="543148"/>
                      </a:cubicBezTo>
                      <a:cubicBezTo>
                        <a:pt x="182382" y="543148"/>
                        <a:pt x="0" y="421560"/>
                        <a:pt x="0" y="271574"/>
                      </a:cubicBezTo>
                      <a:close/>
                    </a:path>
                  </a:pathLst>
                </a:custGeom>
                <a:noFill/>
              </p:spPr>
              <p:style>
                <a:lnRef idx="2">
                  <a:schemeClr val="dk1">
                    <a:shade val="8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l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72653" tIns="132882" rIns="172653" bIns="132882" numCol="1" spcCol="1270" anchor="ctr" anchorCtr="0">
                  <a:noAutofit/>
                </a:bodyPr>
                <a:lstStyle/>
                <a:p>
                  <a:pPr lvl="0" algn="ctr" defTabSz="6223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i="1" kern="120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1400" b="0" i="1" kern="1200" smtClean="0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TW" sz="1400" b="0" i="1" kern="1200" smtClean="0">
                                <a:latin typeface="Cambria Math"/>
                              </a:rPr>
                              <m:t>2_1_1</m:t>
                            </m:r>
                          </m:sub>
                        </m:sSub>
                      </m:oMath>
                    </m:oMathPara>
                  </a14:m>
                  <a:endParaRPr lang="zh-TW" altLang="en-US" sz="1400" kern="1200" dirty="0"/>
                </a:p>
              </p:txBody>
            </p:sp>
          </mc:Choice>
          <mc:Fallback>
            <p:sp>
              <p:nvSpPr>
                <p:cNvPr id="46" name="手繪多邊形 4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4208" y="3883222"/>
                  <a:ext cx="814722" cy="543148"/>
                </a:xfrm>
                <a:custGeom>
                  <a:avLst/>
                  <a:gdLst>
                    <a:gd name="connsiteX0" fmla="*/ 0 w 814722"/>
                    <a:gd name="connsiteY0" fmla="*/ 271574 h 543148"/>
                    <a:gd name="connsiteX1" fmla="*/ 407361 w 814722"/>
                    <a:gd name="connsiteY1" fmla="*/ 0 h 543148"/>
                    <a:gd name="connsiteX2" fmla="*/ 814722 w 814722"/>
                    <a:gd name="connsiteY2" fmla="*/ 271574 h 543148"/>
                    <a:gd name="connsiteX3" fmla="*/ 407361 w 814722"/>
                    <a:gd name="connsiteY3" fmla="*/ 543148 h 543148"/>
                    <a:gd name="connsiteX4" fmla="*/ 0 w 814722"/>
                    <a:gd name="connsiteY4" fmla="*/ 271574 h 543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14722" h="543148">
                      <a:moveTo>
                        <a:pt x="0" y="271574"/>
                      </a:moveTo>
                      <a:cubicBezTo>
                        <a:pt x="0" y="121588"/>
                        <a:pt x="182382" y="0"/>
                        <a:pt x="407361" y="0"/>
                      </a:cubicBezTo>
                      <a:cubicBezTo>
                        <a:pt x="632340" y="0"/>
                        <a:pt x="814722" y="121588"/>
                        <a:pt x="814722" y="271574"/>
                      </a:cubicBezTo>
                      <a:cubicBezTo>
                        <a:pt x="814722" y="421560"/>
                        <a:pt x="632340" y="543148"/>
                        <a:pt x="407361" y="543148"/>
                      </a:cubicBezTo>
                      <a:cubicBezTo>
                        <a:pt x="182382" y="543148"/>
                        <a:pt x="0" y="421560"/>
                        <a:pt x="0" y="271574"/>
                      </a:cubicBezTo>
                      <a:close/>
                    </a:path>
                  </a:pathLst>
                </a:custGeom>
                <a:blipFill rotWithShape="1"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48" name="手繪多邊形 47"/>
                <p:cNvSpPr/>
                <p:nvPr/>
              </p:nvSpPr>
              <p:spPr>
                <a:xfrm>
                  <a:off x="5753347" y="3883222"/>
                  <a:ext cx="814722" cy="543148"/>
                </a:xfrm>
                <a:custGeom>
                  <a:avLst/>
                  <a:gdLst>
                    <a:gd name="connsiteX0" fmla="*/ 0 w 814722"/>
                    <a:gd name="connsiteY0" fmla="*/ 271574 h 543148"/>
                    <a:gd name="connsiteX1" fmla="*/ 407361 w 814722"/>
                    <a:gd name="connsiteY1" fmla="*/ 0 h 543148"/>
                    <a:gd name="connsiteX2" fmla="*/ 814722 w 814722"/>
                    <a:gd name="connsiteY2" fmla="*/ 271574 h 543148"/>
                    <a:gd name="connsiteX3" fmla="*/ 407361 w 814722"/>
                    <a:gd name="connsiteY3" fmla="*/ 543148 h 543148"/>
                    <a:gd name="connsiteX4" fmla="*/ 0 w 814722"/>
                    <a:gd name="connsiteY4" fmla="*/ 271574 h 543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14722" h="543148">
                      <a:moveTo>
                        <a:pt x="0" y="271574"/>
                      </a:moveTo>
                      <a:cubicBezTo>
                        <a:pt x="0" y="121588"/>
                        <a:pt x="182382" y="0"/>
                        <a:pt x="407361" y="0"/>
                      </a:cubicBezTo>
                      <a:cubicBezTo>
                        <a:pt x="632340" y="0"/>
                        <a:pt x="814722" y="121588"/>
                        <a:pt x="814722" y="271574"/>
                      </a:cubicBezTo>
                      <a:cubicBezTo>
                        <a:pt x="814722" y="421560"/>
                        <a:pt x="632340" y="543148"/>
                        <a:pt x="407361" y="543148"/>
                      </a:cubicBezTo>
                      <a:cubicBezTo>
                        <a:pt x="182382" y="543148"/>
                        <a:pt x="0" y="421560"/>
                        <a:pt x="0" y="271574"/>
                      </a:cubicBezTo>
                      <a:close/>
                    </a:path>
                  </a:pathLst>
                </a:custGeom>
                <a:noFill/>
              </p:spPr>
              <p:style>
                <a:lnRef idx="2">
                  <a:schemeClr val="dk1">
                    <a:shade val="8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l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72653" tIns="132882" rIns="172653" bIns="132882" numCol="1" spcCol="1270" anchor="ctr" anchorCtr="0">
                  <a:noAutofit/>
                </a:bodyPr>
                <a:lstStyle/>
                <a:p>
                  <a:pPr lvl="0" algn="ctr" defTabSz="6223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i="1" kern="120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1400" b="0" i="1" kern="1200" smtClean="0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TW" sz="1400" b="0" i="1" kern="1200" smtClean="0">
                                <a:latin typeface="Cambria Math"/>
                              </a:rPr>
                              <m:t>2_1_2</m:t>
                            </m:r>
                          </m:sub>
                        </m:sSub>
                      </m:oMath>
                    </m:oMathPara>
                  </a14:m>
                  <a:endParaRPr lang="zh-TW" altLang="en-US" sz="1400" kern="1200" dirty="0"/>
                </a:p>
              </p:txBody>
            </p:sp>
          </mc:Choice>
          <mc:Fallback>
            <p:sp>
              <p:nvSpPr>
                <p:cNvPr id="48" name="手繪多邊形 4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53347" y="3883222"/>
                  <a:ext cx="814722" cy="543148"/>
                </a:xfrm>
                <a:custGeom>
                  <a:avLst/>
                  <a:gdLst>
                    <a:gd name="connsiteX0" fmla="*/ 0 w 814722"/>
                    <a:gd name="connsiteY0" fmla="*/ 271574 h 543148"/>
                    <a:gd name="connsiteX1" fmla="*/ 407361 w 814722"/>
                    <a:gd name="connsiteY1" fmla="*/ 0 h 543148"/>
                    <a:gd name="connsiteX2" fmla="*/ 814722 w 814722"/>
                    <a:gd name="connsiteY2" fmla="*/ 271574 h 543148"/>
                    <a:gd name="connsiteX3" fmla="*/ 407361 w 814722"/>
                    <a:gd name="connsiteY3" fmla="*/ 543148 h 543148"/>
                    <a:gd name="connsiteX4" fmla="*/ 0 w 814722"/>
                    <a:gd name="connsiteY4" fmla="*/ 271574 h 543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14722" h="543148">
                      <a:moveTo>
                        <a:pt x="0" y="271574"/>
                      </a:moveTo>
                      <a:cubicBezTo>
                        <a:pt x="0" y="121588"/>
                        <a:pt x="182382" y="0"/>
                        <a:pt x="407361" y="0"/>
                      </a:cubicBezTo>
                      <a:cubicBezTo>
                        <a:pt x="632340" y="0"/>
                        <a:pt x="814722" y="121588"/>
                        <a:pt x="814722" y="271574"/>
                      </a:cubicBezTo>
                      <a:cubicBezTo>
                        <a:pt x="814722" y="421560"/>
                        <a:pt x="632340" y="543148"/>
                        <a:pt x="407361" y="543148"/>
                      </a:cubicBezTo>
                      <a:cubicBezTo>
                        <a:pt x="182382" y="543148"/>
                        <a:pt x="0" y="421560"/>
                        <a:pt x="0" y="271574"/>
                      </a:cubicBezTo>
                      <a:close/>
                    </a:path>
                  </a:pathLst>
                </a:custGeom>
                <a:blipFill rotWithShape="1"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50" name="手繪多邊形 49"/>
                <p:cNvSpPr/>
                <p:nvPr/>
              </p:nvSpPr>
              <p:spPr>
                <a:xfrm>
                  <a:off x="7342056" y="3122815"/>
                  <a:ext cx="814722" cy="543148"/>
                </a:xfrm>
                <a:custGeom>
                  <a:avLst/>
                  <a:gdLst>
                    <a:gd name="connsiteX0" fmla="*/ 0 w 814722"/>
                    <a:gd name="connsiteY0" fmla="*/ 271574 h 543148"/>
                    <a:gd name="connsiteX1" fmla="*/ 407361 w 814722"/>
                    <a:gd name="connsiteY1" fmla="*/ 0 h 543148"/>
                    <a:gd name="connsiteX2" fmla="*/ 814722 w 814722"/>
                    <a:gd name="connsiteY2" fmla="*/ 271574 h 543148"/>
                    <a:gd name="connsiteX3" fmla="*/ 407361 w 814722"/>
                    <a:gd name="connsiteY3" fmla="*/ 543148 h 543148"/>
                    <a:gd name="connsiteX4" fmla="*/ 0 w 814722"/>
                    <a:gd name="connsiteY4" fmla="*/ 271574 h 543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14722" h="543148">
                      <a:moveTo>
                        <a:pt x="0" y="271574"/>
                      </a:moveTo>
                      <a:cubicBezTo>
                        <a:pt x="0" y="121588"/>
                        <a:pt x="182382" y="0"/>
                        <a:pt x="407361" y="0"/>
                      </a:cubicBezTo>
                      <a:cubicBezTo>
                        <a:pt x="632340" y="0"/>
                        <a:pt x="814722" y="121588"/>
                        <a:pt x="814722" y="271574"/>
                      </a:cubicBezTo>
                      <a:cubicBezTo>
                        <a:pt x="814722" y="421560"/>
                        <a:pt x="632340" y="543148"/>
                        <a:pt x="407361" y="543148"/>
                      </a:cubicBezTo>
                      <a:cubicBezTo>
                        <a:pt x="182382" y="543148"/>
                        <a:pt x="0" y="421560"/>
                        <a:pt x="0" y="271574"/>
                      </a:cubicBezTo>
                      <a:close/>
                    </a:path>
                  </a:pathLst>
                </a:custGeom>
                <a:noFill/>
              </p:spPr>
              <p:style>
                <a:lnRef idx="2">
                  <a:schemeClr val="dk1">
                    <a:shade val="8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l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72653" tIns="132882" rIns="172653" bIns="132882" numCol="1" spcCol="1270" anchor="ctr" anchorCtr="0">
                  <a:noAutofit/>
                </a:bodyPr>
                <a:lstStyle/>
                <a:p>
                  <a:pPr lvl="0" algn="ctr" defTabSz="6223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i="1" kern="120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1400" b="0" i="1" kern="1200" smtClean="0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TW" sz="1400" b="0" i="1" kern="1200" smtClean="0">
                                <a:latin typeface="Cambria Math"/>
                              </a:rPr>
                              <m:t>2_2</m:t>
                            </m:r>
                          </m:sub>
                        </m:sSub>
                      </m:oMath>
                    </m:oMathPara>
                  </a14:m>
                  <a:endParaRPr lang="zh-TW" altLang="en-US" sz="1400" kern="1200" dirty="0"/>
                </a:p>
              </p:txBody>
            </p:sp>
          </mc:Choice>
          <mc:Fallback>
            <p:sp>
              <p:nvSpPr>
                <p:cNvPr id="50" name="手繪多邊形 4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2056" y="3122815"/>
                  <a:ext cx="814722" cy="543148"/>
                </a:xfrm>
                <a:custGeom>
                  <a:avLst/>
                  <a:gdLst>
                    <a:gd name="connsiteX0" fmla="*/ 0 w 814722"/>
                    <a:gd name="connsiteY0" fmla="*/ 271574 h 543148"/>
                    <a:gd name="connsiteX1" fmla="*/ 407361 w 814722"/>
                    <a:gd name="connsiteY1" fmla="*/ 0 h 543148"/>
                    <a:gd name="connsiteX2" fmla="*/ 814722 w 814722"/>
                    <a:gd name="connsiteY2" fmla="*/ 271574 h 543148"/>
                    <a:gd name="connsiteX3" fmla="*/ 407361 w 814722"/>
                    <a:gd name="connsiteY3" fmla="*/ 543148 h 543148"/>
                    <a:gd name="connsiteX4" fmla="*/ 0 w 814722"/>
                    <a:gd name="connsiteY4" fmla="*/ 271574 h 543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14722" h="543148">
                      <a:moveTo>
                        <a:pt x="0" y="271574"/>
                      </a:moveTo>
                      <a:cubicBezTo>
                        <a:pt x="0" y="121588"/>
                        <a:pt x="182382" y="0"/>
                        <a:pt x="407361" y="0"/>
                      </a:cubicBezTo>
                      <a:cubicBezTo>
                        <a:pt x="632340" y="0"/>
                        <a:pt x="814722" y="121588"/>
                        <a:pt x="814722" y="271574"/>
                      </a:cubicBezTo>
                      <a:cubicBezTo>
                        <a:pt x="814722" y="421560"/>
                        <a:pt x="632340" y="543148"/>
                        <a:pt x="407361" y="543148"/>
                      </a:cubicBezTo>
                      <a:cubicBezTo>
                        <a:pt x="182382" y="543148"/>
                        <a:pt x="0" y="421560"/>
                        <a:pt x="0" y="271574"/>
                      </a:cubicBezTo>
                      <a:close/>
                    </a:path>
                  </a:pathLst>
                </a:custGeom>
                <a:blipFill rotWithShape="1"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52" name="手繪多邊形 51"/>
                <p:cNvSpPr/>
                <p:nvPr/>
              </p:nvSpPr>
              <p:spPr>
                <a:xfrm>
                  <a:off x="6812486" y="3883222"/>
                  <a:ext cx="814722" cy="543148"/>
                </a:xfrm>
                <a:custGeom>
                  <a:avLst/>
                  <a:gdLst>
                    <a:gd name="connsiteX0" fmla="*/ 0 w 814722"/>
                    <a:gd name="connsiteY0" fmla="*/ 271574 h 543148"/>
                    <a:gd name="connsiteX1" fmla="*/ 407361 w 814722"/>
                    <a:gd name="connsiteY1" fmla="*/ 0 h 543148"/>
                    <a:gd name="connsiteX2" fmla="*/ 814722 w 814722"/>
                    <a:gd name="connsiteY2" fmla="*/ 271574 h 543148"/>
                    <a:gd name="connsiteX3" fmla="*/ 407361 w 814722"/>
                    <a:gd name="connsiteY3" fmla="*/ 543148 h 543148"/>
                    <a:gd name="connsiteX4" fmla="*/ 0 w 814722"/>
                    <a:gd name="connsiteY4" fmla="*/ 271574 h 543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14722" h="543148">
                      <a:moveTo>
                        <a:pt x="0" y="271574"/>
                      </a:moveTo>
                      <a:cubicBezTo>
                        <a:pt x="0" y="121588"/>
                        <a:pt x="182382" y="0"/>
                        <a:pt x="407361" y="0"/>
                      </a:cubicBezTo>
                      <a:cubicBezTo>
                        <a:pt x="632340" y="0"/>
                        <a:pt x="814722" y="121588"/>
                        <a:pt x="814722" y="271574"/>
                      </a:cubicBezTo>
                      <a:cubicBezTo>
                        <a:pt x="814722" y="421560"/>
                        <a:pt x="632340" y="543148"/>
                        <a:pt x="407361" y="543148"/>
                      </a:cubicBezTo>
                      <a:cubicBezTo>
                        <a:pt x="182382" y="543148"/>
                        <a:pt x="0" y="421560"/>
                        <a:pt x="0" y="271574"/>
                      </a:cubicBezTo>
                      <a:close/>
                    </a:path>
                  </a:pathLst>
                </a:custGeom>
                <a:noFill/>
              </p:spPr>
              <p:style>
                <a:lnRef idx="2">
                  <a:schemeClr val="dk1">
                    <a:shade val="8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l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72653" tIns="132882" rIns="172653" bIns="132882" numCol="1" spcCol="1270" anchor="ctr" anchorCtr="0">
                  <a:noAutofit/>
                </a:bodyPr>
                <a:lstStyle/>
                <a:p>
                  <a:pPr lvl="0" algn="ctr" defTabSz="6223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i="1" kern="120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1400" b="0" i="1" kern="1200" smtClean="0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TW" sz="1400" b="0" i="1" kern="1200" smtClean="0">
                                <a:latin typeface="Cambria Math"/>
                              </a:rPr>
                              <m:t>2_2_1</m:t>
                            </m:r>
                          </m:sub>
                        </m:sSub>
                      </m:oMath>
                    </m:oMathPara>
                  </a14:m>
                  <a:endParaRPr lang="zh-TW" altLang="en-US" sz="1400" kern="1200" dirty="0"/>
                </a:p>
              </p:txBody>
            </p:sp>
          </mc:Choice>
          <mc:Fallback>
            <p:sp>
              <p:nvSpPr>
                <p:cNvPr id="52" name="手繪多邊形 5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2486" y="3883222"/>
                  <a:ext cx="814722" cy="543148"/>
                </a:xfrm>
                <a:custGeom>
                  <a:avLst/>
                  <a:gdLst>
                    <a:gd name="connsiteX0" fmla="*/ 0 w 814722"/>
                    <a:gd name="connsiteY0" fmla="*/ 271574 h 543148"/>
                    <a:gd name="connsiteX1" fmla="*/ 407361 w 814722"/>
                    <a:gd name="connsiteY1" fmla="*/ 0 h 543148"/>
                    <a:gd name="connsiteX2" fmla="*/ 814722 w 814722"/>
                    <a:gd name="connsiteY2" fmla="*/ 271574 h 543148"/>
                    <a:gd name="connsiteX3" fmla="*/ 407361 w 814722"/>
                    <a:gd name="connsiteY3" fmla="*/ 543148 h 543148"/>
                    <a:gd name="connsiteX4" fmla="*/ 0 w 814722"/>
                    <a:gd name="connsiteY4" fmla="*/ 271574 h 543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14722" h="543148">
                      <a:moveTo>
                        <a:pt x="0" y="271574"/>
                      </a:moveTo>
                      <a:cubicBezTo>
                        <a:pt x="0" y="121588"/>
                        <a:pt x="182382" y="0"/>
                        <a:pt x="407361" y="0"/>
                      </a:cubicBezTo>
                      <a:cubicBezTo>
                        <a:pt x="632340" y="0"/>
                        <a:pt x="814722" y="121588"/>
                        <a:pt x="814722" y="271574"/>
                      </a:cubicBezTo>
                      <a:cubicBezTo>
                        <a:pt x="814722" y="421560"/>
                        <a:pt x="632340" y="543148"/>
                        <a:pt x="407361" y="543148"/>
                      </a:cubicBezTo>
                      <a:cubicBezTo>
                        <a:pt x="182382" y="543148"/>
                        <a:pt x="0" y="421560"/>
                        <a:pt x="0" y="271574"/>
                      </a:cubicBezTo>
                      <a:close/>
                    </a:path>
                  </a:pathLst>
                </a:custGeom>
                <a:blipFill rotWithShape="1"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54" name="手繪多邊形 53"/>
                <p:cNvSpPr/>
                <p:nvPr/>
              </p:nvSpPr>
              <p:spPr>
                <a:xfrm>
                  <a:off x="7871625" y="3883222"/>
                  <a:ext cx="814722" cy="543148"/>
                </a:xfrm>
                <a:custGeom>
                  <a:avLst/>
                  <a:gdLst>
                    <a:gd name="connsiteX0" fmla="*/ 0 w 814722"/>
                    <a:gd name="connsiteY0" fmla="*/ 271574 h 543148"/>
                    <a:gd name="connsiteX1" fmla="*/ 407361 w 814722"/>
                    <a:gd name="connsiteY1" fmla="*/ 0 h 543148"/>
                    <a:gd name="connsiteX2" fmla="*/ 814722 w 814722"/>
                    <a:gd name="connsiteY2" fmla="*/ 271574 h 543148"/>
                    <a:gd name="connsiteX3" fmla="*/ 407361 w 814722"/>
                    <a:gd name="connsiteY3" fmla="*/ 543148 h 543148"/>
                    <a:gd name="connsiteX4" fmla="*/ 0 w 814722"/>
                    <a:gd name="connsiteY4" fmla="*/ 271574 h 543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14722" h="543148">
                      <a:moveTo>
                        <a:pt x="0" y="271574"/>
                      </a:moveTo>
                      <a:cubicBezTo>
                        <a:pt x="0" y="121588"/>
                        <a:pt x="182382" y="0"/>
                        <a:pt x="407361" y="0"/>
                      </a:cubicBezTo>
                      <a:cubicBezTo>
                        <a:pt x="632340" y="0"/>
                        <a:pt x="814722" y="121588"/>
                        <a:pt x="814722" y="271574"/>
                      </a:cubicBezTo>
                      <a:cubicBezTo>
                        <a:pt x="814722" y="421560"/>
                        <a:pt x="632340" y="543148"/>
                        <a:pt x="407361" y="543148"/>
                      </a:cubicBezTo>
                      <a:cubicBezTo>
                        <a:pt x="182382" y="543148"/>
                        <a:pt x="0" y="421560"/>
                        <a:pt x="0" y="271574"/>
                      </a:cubicBezTo>
                      <a:close/>
                    </a:path>
                  </a:pathLst>
                </a:custGeom>
                <a:noFill/>
              </p:spPr>
              <p:style>
                <a:lnRef idx="2">
                  <a:schemeClr val="dk1">
                    <a:shade val="8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l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72653" tIns="132882" rIns="172653" bIns="132882" numCol="1" spcCol="1270" anchor="ctr" anchorCtr="0">
                  <a:noAutofit/>
                </a:bodyPr>
                <a:lstStyle/>
                <a:p>
                  <a:pPr lvl="0" algn="ctr" defTabSz="6223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i="1" kern="120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1400" b="0" i="1" kern="1200" smtClean="0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TW" sz="1400" b="0" i="1" kern="1200" smtClean="0">
                                <a:latin typeface="Cambria Math"/>
                              </a:rPr>
                              <m:t>2_2_2</m:t>
                            </m:r>
                          </m:sub>
                        </m:sSub>
                      </m:oMath>
                    </m:oMathPara>
                  </a14:m>
                  <a:endParaRPr lang="zh-TW" altLang="en-US" sz="1400" kern="1200" dirty="0"/>
                </a:p>
              </p:txBody>
            </p:sp>
          </mc:Choice>
          <mc:Fallback>
            <p:sp>
              <p:nvSpPr>
                <p:cNvPr id="54" name="手繪多邊形 5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71625" y="3883222"/>
                  <a:ext cx="814722" cy="543148"/>
                </a:xfrm>
                <a:custGeom>
                  <a:avLst/>
                  <a:gdLst>
                    <a:gd name="connsiteX0" fmla="*/ 0 w 814722"/>
                    <a:gd name="connsiteY0" fmla="*/ 271574 h 543148"/>
                    <a:gd name="connsiteX1" fmla="*/ 407361 w 814722"/>
                    <a:gd name="connsiteY1" fmla="*/ 0 h 543148"/>
                    <a:gd name="connsiteX2" fmla="*/ 814722 w 814722"/>
                    <a:gd name="connsiteY2" fmla="*/ 271574 h 543148"/>
                    <a:gd name="connsiteX3" fmla="*/ 407361 w 814722"/>
                    <a:gd name="connsiteY3" fmla="*/ 543148 h 543148"/>
                    <a:gd name="connsiteX4" fmla="*/ 0 w 814722"/>
                    <a:gd name="connsiteY4" fmla="*/ 271574 h 543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14722" h="543148">
                      <a:moveTo>
                        <a:pt x="0" y="271574"/>
                      </a:moveTo>
                      <a:cubicBezTo>
                        <a:pt x="0" y="121588"/>
                        <a:pt x="182382" y="0"/>
                        <a:pt x="407361" y="0"/>
                      </a:cubicBezTo>
                      <a:cubicBezTo>
                        <a:pt x="632340" y="0"/>
                        <a:pt x="814722" y="121588"/>
                        <a:pt x="814722" y="271574"/>
                      </a:cubicBezTo>
                      <a:cubicBezTo>
                        <a:pt x="814722" y="421560"/>
                        <a:pt x="632340" y="543148"/>
                        <a:pt x="407361" y="543148"/>
                      </a:cubicBezTo>
                      <a:cubicBezTo>
                        <a:pt x="182382" y="543148"/>
                        <a:pt x="0" y="421560"/>
                        <a:pt x="0" y="271574"/>
                      </a:cubicBezTo>
                      <a:close/>
                    </a:path>
                  </a:pathLst>
                </a:custGeom>
                <a:blipFill rotWithShape="1"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" name="直線接點 4"/>
          <p:cNvCxnSpPr>
            <a:stCxn id="26" idx="3"/>
            <a:endCxn id="28" idx="1"/>
          </p:cNvCxnSpPr>
          <p:nvPr/>
        </p:nvCxnSpPr>
        <p:spPr>
          <a:xfrm flipH="1">
            <a:off x="2453721" y="2145148"/>
            <a:ext cx="2118278" cy="2172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>
            <a:stCxn id="26" idx="3"/>
            <a:endCxn id="42" idx="1"/>
          </p:cNvCxnSpPr>
          <p:nvPr/>
        </p:nvCxnSpPr>
        <p:spPr>
          <a:xfrm>
            <a:off x="4571999" y="2145148"/>
            <a:ext cx="2118278" cy="2172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>
            <a:stCxn id="28" idx="3"/>
            <a:endCxn id="30" idx="1"/>
          </p:cNvCxnSpPr>
          <p:nvPr/>
        </p:nvCxnSpPr>
        <p:spPr>
          <a:xfrm flipH="1">
            <a:off x="1394582" y="2905555"/>
            <a:ext cx="1059139" cy="21726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>
            <a:stCxn id="28" idx="3"/>
            <a:endCxn id="36" idx="1"/>
          </p:cNvCxnSpPr>
          <p:nvPr/>
        </p:nvCxnSpPr>
        <p:spPr>
          <a:xfrm>
            <a:off x="2453721" y="2905555"/>
            <a:ext cx="1059139" cy="21726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>
            <a:stCxn id="42" idx="3"/>
            <a:endCxn id="44" idx="1"/>
          </p:cNvCxnSpPr>
          <p:nvPr/>
        </p:nvCxnSpPr>
        <p:spPr>
          <a:xfrm flipH="1">
            <a:off x="5631138" y="2905555"/>
            <a:ext cx="1059139" cy="21726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>
            <a:stCxn id="42" idx="3"/>
            <a:endCxn id="50" idx="1"/>
          </p:cNvCxnSpPr>
          <p:nvPr/>
        </p:nvCxnSpPr>
        <p:spPr>
          <a:xfrm>
            <a:off x="6690277" y="2905555"/>
            <a:ext cx="1059140" cy="21726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30" idx="3"/>
            <a:endCxn id="32" idx="1"/>
          </p:cNvCxnSpPr>
          <p:nvPr/>
        </p:nvCxnSpPr>
        <p:spPr>
          <a:xfrm flipH="1">
            <a:off x="865013" y="3665963"/>
            <a:ext cx="529569" cy="2172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30" idx="3"/>
            <a:endCxn id="34" idx="1"/>
          </p:cNvCxnSpPr>
          <p:nvPr/>
        </p:nvCxnSpPr>
        <p:spPr>
          <a:xfrm>
            <a:off x="1394582" y="3665963"/>
            <a:ext cx="529570" cy="2172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36" idx="3"/>
            <a:endCxn id="38" idx="1"/>
          </p:cNvCxnSpPr>
          <p:nvPr/>
        </p:nvCxnSpPr>
        <p:spPr>
          <a:xfrm flipH="1">
            <a:off x="2983291" y="3665963"/>
            <a:ext cx="529569" cy="2172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36" idx="3"/>
            <a:endCxn id="40" idx="1"/>
          </p:cNvCxnSpPr>
          <p:nvPr/>
        </p:nvCxnSpPr>
        <p:spPr>
          <a:xfrm>
            <a:off x="3512860" y="3665963"/>
            <a:ext cx="529570" cy="2172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>
            <a:stCxn id="44" idx="3"/>
            <a:endCxn id="46" idx="1"/>
          </p:cNvCxnSpPr>
          <p:nvPr/>
        </p:nvCxnSpPr>
        <p:spPr>
          <a:xfrm flipH="1">
            <a:off x="5101569" y="3665963"/>
            <a:ext cx="529569" cy="2172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>
            <a:stCxn id="44" idx="3"/>
            <a:endCxn id="48" idx="1"/>
          </p:cNvCxnSpPr>
          <p:nvPr/>
        </p:nvCxnSpPr>
        <p:spPr>
          <a:xfrm>
            <a:off x="5631138" y="3665963"/>
            <a:ext cx="529570" cy="2172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>
            <a:stCxn id="50" idx="3"/>
            <a:endCxn id="52" idx="1"/>
          </p:cNvCxnSpPr>
          <p:nvPr/>
        </p:nvCxnSpPr>
        <p:spPr>
          <a:xfrm flipH="1">
            <a:off x="7219847" y="3665963"/>
            <a:ext cx="529570" cy="2172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/>
          <p:cNvCxnSpPr>
            <a:stCxn id="50" idx="3"/>
            <a:endCxn id="54" idx="1"/>
          </p:cNvCxnSpPr>
          <p:nvPr/>
        </p:nvCxnSpPr>
        <p:spPr>
          <a:xfrm>
            <a:off x="7749417" y="3665963"/>
            <a:ext cx="529569" cy="2172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790689688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The </a:t>
            </a:r>
            <a:r>
              <a:rPr lang="en-US" altLang="zh-TW" u="sng" dirty="0" err="1" smtClean="0"/>
              <a:t>S</a:t>
            </a:r>
            <a:r>
              <a:rPr lang="en-US" altLang="zh-TW" dirty="0" err="1" smtClean="0"/>
              <a:t>h</a:t>
            </a:r>
            <a:r>
              <a:rPr lang="en-US" altLang="zh-TW" u="sng" dirty="0" err="1" smtClean="0"/>
              <a:t>a</a:t>
            </a:r>
            <a:r>
              <a:rPr lang="en-US" altLang="zh-TW" dirty="0" err="1" smtClean="0"/>
              <a:t>p</a:t>
            </a:r>
            <a:r>
              <a:rPr lang="en-US" altLang="zh-TW" u="sng" dirty="0" err="1" smtClean="0"/>
              <a:t>l</a:t>
            </a:r>
            <a:r>
              <a:rPr lang="en-US" altLang="zh-TW" dirty="0" err="1" smtClean="0"/>
              <a:t>et</a:t>
            </a:r>
            <a:r>
              <a:rPr lang="en-US" altLang="zh-TW" dirty="0" smtClean="0"/>
              <a:t> </a:t>
            </a:r>
            <a:r>
              <a:rPr lang="en-US" altLang="zh-TW" u="sng" dirty="0" smtClean="0"/>
              <a:t>Sa</a:t>
            </a:r>
            <a:r>
              <a:rPr lang="en-US" altLang="zh-TW" dirty="0" smtClean="0"/>
              <a:t>mpling (SALSA) Algorithm 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Four different from YK algorithm</a:t>
            </a:r>
          </a:p>
          <a:p>
            <a:pPr lvl="1"/>
            <a:r>
              <a:rPr lang="en-US" altLang="zh-TW" dirty="0" smtClean="0"/>
              <a:t>Change </a:t>
            </a:r>
            <a:r>
              <a:rPr lang="en-US" altLang="zh-TW" dirty="0"/>
              <a:t>the order in which </a:t>
            </a:r>
            <a:r>
              <a:rPr lang="en-US" altLang="zh-TW" dirty="0" err="1"/>
              <a:t>shapelets</a:t>
            </a:r>
            <a:r>
              <a:rPr lang="en-US" altLang="zh-TW" dirty="0"/>
              <a:t> are examined, </a:t>
            </a:r>
            <a:r>
              <a:rPr lang="en-US" altLang="zh-TW" dirty="0" smtClean="0"/>
              <a:t>to allow </a:t>
            </a:r>
            <a:r>
              <a:rPr lang="en-US" altLang="zh-TW" dirty="0"/>
              <a:t>fast sampling of the entire </a:t>
            </a:r>
            <a:r>
              <a:rPr lang="en-US" altLang="zh-TW" dirty="0" err="1"/>
              <a:t>shapelet</a:t>
            </a:r>
            <a:r>
              <a:rPr lang="en-US" altLang="zh-TW" dirty="0"/>
              <a:t> domain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Samples </a:t>
            </a:r>
            <a:r>
              <a:rPr lang="en-US" altLang="zh-TW" dirty="0"/>
              <a:t>and examines only a small </a:t>
            </a:r>
            <a:r>
              <a:rPr lang="en-US" altLang="zh-TW" dirty="0" smtClean="0"/>
              <a:t>subset of </a:t>
            </a:r>
            <a:r>
              <a:rPr lang="en-US" altLang="zh-TW" dirty="0"/>
              <a:t>all possible </a:t>
            </a:r>
            <a:r>
              <a:rPr lang="en-US" altLang="zh-TW" dirty="0" err="1"/>
              <a:t>shapelets</a:t>
            </a:r>
            <a:r>
              <a:rPr lang="en-US" altLang="zh-TW" dirty="0"/>
              <a:t>, ceasing analysis of new </a:t>
            </a:r>
            <a:r>
              <a:rPr lang="en-US" altLang="zh-TW" dirty="0" err="1" smtClean="0"/>
              <a:t>shapelets</a:t>
            </a:r>
            <a:r>
              <a:rPr lang="en-US" altLang="zh-TW" dirty="0" smtClean="0"/>
              <a:t> once </a:t>
            </a:r>
            <a:r>
              <a:rPr lang="en-US" altLang="zh-TW" dirty="0"/>
              <a:t>the quality of </a:t>
            </a:r>
            <a:r>
              <a:rPr lang="en-US" altLang="zh-TW" dirty="0" err="1"/>
              <a:t>shapelets</a:t>
            </a:r>
            <a:r>
              <a:rPr lang="en-US" altLang="zh-TW" dirty="0"/>
              <a:t> stabilizes</a:t>
            </a:r>
            <a:r>
              <a:rPr lang="en-US" altLang="zh-TW" dirty="0" smtClean="0"/>
              <a:t>.</a:t>
            </a:r>
          </a:p>
          <a:p>
            <a:pPr lvl="2"/>
            <a:r>
              <a:rPr lang="en-US" altLang="zh-TW" dirty="0"/>
              <a:t>Stable: new </a:t>
            </a:r>
            <a:r>
              <a:rPr lang="en-US" altLang="zh-TW" dirty="0" err="1"/>
              <a:t>shapelets</a:t>
            </a:r>
            <a:r>
              <a:rPr lang="en-US" altLang="zh-TW" dirty="0"/>
              <a:t> improve the IG and margin </a:t>
            </a:r>
            <a:r>
              <a:rPr lang="en-US" altLang="zh-TW" dirty="0" smtClean="0"/>
              <a:t>of </a:t>
            </a:r>
            <a:r>
              <a:rPr lang="en-US" altLang="zh-TW" dirty="0"/>
              <a:t>the current best </a:t>
            </a:r>
            <a:r>
              <a:rPr lang="en-US" altLang="zh-TW" dirty="0" err="1"/>
              <a:t>shapelet</a:t>
            </a:r>
            <a:r>
              <a:rPr lang="en-US" altLang="zh-TW" dirty="0"/>
              <a:t> by a significant </a:t>
            </a:r>
            <a:r>
              <a:rPr lang="en-US" altLang="zh-TW" dirty="0" smtClean="0"/>
              <a:t>amount or not.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10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3004923703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The </a:t>
            </a:r>
            <a:r>
              <a:rPr lang="en-US" altLang="zh-TW" u="sng" dirty="0" err="1"/>
              <a:t>S</a:t>
            </a:r>
            <a:r>
              <a:rPr lang="en-US" altLang="zh-TW" dirty="0" err="1"/>
              <a:t>h</a:t>
            </a:r>
            <a:r>
              <a:rPr lang="en-US" altLang="zh-TW" u="sng" dirty="0" err="1"/>
              <a:t>a</a:t>
            </a:r>
            <a:r>
              <a:rPr lang="en-US" altLang="zh-TW" dirty="0" err="1"/>
              <a:t>p</a:t>
            </a:r>
            <a:r>
              <a:rPr lang="en-US" altLang="zh-TW" u="sng" dirty="0" err="1"/>
              <a:t>l</a:t>
            </a:r>
            <a:r>
              <a:rPr lang="en-US" altLang="zh-TW" dirty="0" err="1"/>
              <a:t>et</a:t>
            </a:r>
            <a:r>
              <a:rPr lang="en-US" altLang="zh-TW" dirty="0"/>
              <a:t> </a:t>
            </a:r>
            <a:r>
              <a:rPr lang="en-US" altLang="zh-TW" u="sng" dirty="0"/>
              <a:t>Sa</a:t>
            </a:r>
            <a:r>
              <a:rPr lang="en-US" altLang="zh-TW" dirty="0"/>
              <a:t>mpling (SALSA) Algorithm </a:t>
            </a:r>
            <a:r>
              <a:rPr lang="en-US" altLang="zh-TW" dirty="0" smtClean="0"/>
              <a:t>(2/2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Four different from YK algorithm</a:t>
            </a:r>
          </a:p>
          <a:p>
            <a:pPr lvl="1"/>
            <a:r>
              <a:rPr lang="en-US" altLang="zh-TW" dirty="0" smtClean="0"/>
              <a:t>While examining </a:t>
            </a:r>
            <a:r>
              <a:rPr lang="en-US" altLang="zh-TW" dirty="0" err="1" smtClean="0"/>
              <a:t>shapelets</a:t>
            </a:r>
            <a:r>
              <a:rPr lang="en-US" altLang="zh-TW" dirty="0" smtClean="0"/>
              <a:t> </a:t>
            </a:r>
            <a:r>
              <a:rPr lang="en-US" altLang="zh-TW" dirty="0"/>
              <a:t>in the root node, the distances of each </a:t>
            </a:r>
            <a:r>
              <a:rPr lang="en-US" altLang="zh-TW" dirty="0" err="1"/>
              <a:t>shapelet</a:t>
            </a:r>
            <a:r>
              <a:rPr lang="en-US" altLang="zh-TW" dirty="0"/>
              <a:t> </a:t>
            </a:r>
            <a:r>
              <a:rPr lang="en-US" altLang="zh-TW" dirty="0" smtClean="0"/>
              <a:t>to all </a:t>
            </a:r>
            <a:r>
              <a:rPr lang="en-US" altLang="zh-TW" dirty="0"/>
              <a:t>time series are </a:t>
            </a:r>
            <a:r>
              <a:rPr lang="en-US" altLang="zh-TW" dirty="0" smtClean="0"/>
              <a:t>saved.</a:t>
            </a:r>
          </a:p>
          <a:p>
            <a:pPr lvl="1"/>
            <a:r>
              <a:rPr lang="en-US" altLang="zh-TW" dirty="0" smtClean="0"/>
              <a:t>While </a:t>
            </a:r>
            <a:r>
              <a:rPr lang="en-US" altLang="zh-TW" dirty="0"/>
              <a:t>building </a:t>
            </a:r>
            <a:r>
              <a:rPr lang="en-US" altLang="zh-TW" dirty="0" smtClean="0"/>
              <a:t>the rest </a:t>
            </a:r>
            <a:r>
              <a:rPr lang="en-US" altLang="zh-TW" dirty="0"/>
              <a:t>of the classification tree, only those </a:t>
            </a:r>
            <a:r>
              <a:rPr lang="en-US" altLang="zh-TW" dirty="0" err="1"/>
              <a:t>shapelets</a:t>
            </a:r>
            <a:r>
              <a:rPr lang="en-US" altLang="zh-TW" dirty="0"/>
              <a:t> </a:t>
            </a:r>
            <a:r>
              <a:rPr lang="en-US" altLang="zh-TW" dirty="0" smtClean="0"/>
              <a:t>already examined </a:t>
            </a:r>
            <a:r>
              <a:rPr lang="en-US" altLang="zh-TW" dirty="0"/>
              <a:t>by the root, with distances to time series </a:t>
            </a:r>
            <a:r>
              <a:rPr lang="en-US" altLang="zh-TW" dirty="0" smtClean="0"/>
              <a:t>already </a:t>
            </a:r>
            <a:r>
              <a:rPr lang="en-US" altLang="zh-TW" dirty="0" err="1" smtClean="0"/>
              <a:t>precalculated</a:t>
            </a:r>
            <a:r>
              <a:rPr lang="en-US" altLang="zh-TW" dirty="0"/>
              <a:t>, are considered as candidates.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34549039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14642" y="1508713"/>
            <a:ext cx="3717798" cy="530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Search for </a:t>
            </a:r>
            <a:r>
              <a:rPr lang="en-US" altLang="zh-TW" dirty="0" err="1"/>
              <a:t>S</a:t>
            </a:r>
            <a:r>
              <a:rPr lang="en-US" altLang="zh-TW" dirty="0" err="1" smtClean="0"/>
              <a:t>hapelet</a:t>
            </a:r>
            <a:r>
              <a:rPr lang="en-US" altLang="zh-TW" dirty="0" smtClean="0"/>
              <a:t> </a:t>
            </a:r>
            <a:r>
              <a:rPr lang="en-US" altLang="zh-TW" dirty="0"/>
              <a:t>in Root N</a:t>
            </a:r>
            <a:r>
              <a:rPr lang="en-US" altLang="zh-TW" dirty="0" smtClean="0"/>
              <a:t>ode (1/2)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內容版面配置區 4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Input: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𝐷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/>
                      </a:rPr>
                      <m:t>𝜖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𝑁𝐼</m:t>
                    </m:r>
                  </m:oMath>
                </a14:m>
                <a:endParaRPr lang="en-US" altLang="zh-TW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𝐷</m:t>
                    </m:r>
                  </m:oMath>
                </a14:m>
                <a:r>
                  <a:rPr lang="en-US" altLang="zh-TW" dirty="0" smtClean="0"/>
                  <a:t>: datasets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zh-TW" altLang="en-US" i="1">
                        <a:latin typeface="Cambria Math"/>
                      </a:rPr>
                      <m:t>𝜖</m:t>
                    </m:r>
                  </m:oMath>
                </a14:m>
                <a:r>
                  <a:rPr lang="en-US" altLang="zh-TW" dirty="0" smtClean="0"/>
                  <a:t>: quality </a:t>
                </a:r>
                <a:r>
                  <a:rPr lang="zh-TW" altLang="en-US" dirty="0" smtClean="0"/>
                  <a:t>大於多少算 </a:t>
                </a:r>
                <a:r>
                  <a:rPr lang="en-US" altLang="zh-TW" dirty="0" smtClean="0"/>
                  <a:t>significant</a:t>
                </a:r>
                <a:r>
                  <a:rPr lang="zh-TW" altLang="en-US" dirty="0" smtClean="0"/>
                  <a:t/>
                </a:r>
                <a:r>
                  <a:rPr lang="en-US" altLang="zh-TW" dirty="0" smtClean="0"/>
                  <a:t>improve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𝑁𝐼</m:t>
                    </m:r>
                  </m:oMath>
                </a14:m>
                <a:r>
                  <a:rPr lang="en-US" altLang="zh-TW" dirty="0" smtClean="0"/>
                  <a:t>:</a:t>
                </a:r>
                <a:r>
                  <a:rPr lang="zh-TW" altLang="en-US" dirty="0" smtClean="0"/>
                  <a:t> 連續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𝑁𝐼</m:t>
                    </m:r>
                  </m:oMath>
                </a14:m>
                <a:r>
                  <a:rPr lang="zh-TW" altLang="en-US" dirty="0" smtClean="0"/>
                  <a:t> 個 </a:t>
                </a:r>
                <a:r>
                  <a:rPr lang="en-US" altLang="zh-TW" dirty="0" smtClean="0"/>
                  <a:t>quality </a:t>
                </a:r>
                <a:r>
                  <a:rPr lang="zh-TW" altLang="en-US" dirty="0" smtClean="0"/>
                  <a:t>沒大於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/>
                      </a:rPr>
                      <m:t>𝜖</m:t>
                    </m:r>
                  </m:oMath>
                </a14:m>
                <a:r>
                  <a:rPr lang="zh-TW" altLang="en-US" dirty="0" smtClean="0"/>
                  <a:t> 的 </a:t>
                </a:r>
                <a:r>
                  <a:rPr lang="en-US" altLang="zh-TW" dirty="0" err="1" smtClean="0"/>
                  <a:t>shapelet</a:t>
                </a:r>
                <a:r>
                  <a:rPr lang="zh-TW" altLang="en-US" dirty="0" smtClean="0"/>
                  <a:t>  之後要終止</a:t>
                </a:r>
                <a:endParaRPr lang="en-US" altLang="zh-TW" dirty="0"/>
              </a:p>
            </p:txBody>
          </p:sp>
        </mc:Choice>
        <mc:Fallback>
          <p:sp>
            <p:nvSpPr>
              <p:cNvPr id="5" name="內容版面配置區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3"/>
                <a:stretch>
                  <a:fillRect t="-1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888037577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Search for </a:t>
            </a:r>
            <a:r>
              <a:rPr lang="en-US" altLang="zh-TW" dirty="0" err="1"/>
              <a:t>S</a:t>
            </a:r>
            <a:r>
              <a:rPr lang="en-US" altLang="zh-TW" dirty="0" err="1" smtClean="0"/>
              <a:t>hapelet</a:t>
            </a:r>
            <a:r>
              <a:rPr lang="en-US" altLang="zh-TW" dirty="0" smtClean="0"/>
              <a:t> </a:t>
            </a:r>
            <a:r>
              <a:rPr lang="en-US" altLang="zh-TW" dirty="0"/>
              <a:t>in Root N</a:t>
            </a:r>
            <a:r>
              <a:rPr lang="en-US" altLang="zh-TW" dirty="0" smtClean="0"/>
              <a:t>ode (2/2)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altLang="zh-TW" dirty="0" smtClean="0"/>
                  <a:t>Calculate a </a:t>
                </a:r>
                <a:r>
                  <a:rPr lang="en-US" altLang="zh-TW" dirty="0" err="1" smtClean="0"/>
                  <a:t>shapelet</a:t>
                </a:r>
                <a:r>
                  <a:rPr lang="en-US" altLang="zh-TW" dirty="0" smtClean="0"/>
                  <a:t/>
                </a:r>
                <a:r>
                  <a:rPr lang="en-US" altLang="zh-TW" dirty="0"/>
                  <a:t>distance from </a:t>
                </a:r>
                <a:r>
                  <a:rPr lang="en-US" altLang="zh-TW" dirty="0" smtClean="0"/>
                  <a:t>all time series and save these information. (6~9)</a:t>
                </a:r>
              </a:p>
              <a:p>
                <a:r>
                  <a:rPr lang="en-US" altLang="zh-TW" dirty="0" smtClean="0"/>
                  <a:t>Determine </a:t>
                </a:r>
                <a:r>
                  <a:rPr lang="en-US" altLang="zh-TW" dirty="0"/>
                  <a:t>its ability to split the dataset </a:t>
                </a:r>
                <a:r>
                  <a:rPr lang="en-US" altLang="zh-TW" dirty="0" smtClean="0"/>
                  <a:t>meaningfully (IG </a:t>
                </a:r>
                <a:r>
                  <a:rPr lang="en-US" altLang="zh-TW" dirty="0"/>
                  <a:t>and margin</a:t>
                </a:r>
                <a:r>
                  <a:rPr lang="en-US" altLang="zh-TW" dirty="0" smtClean="0"/>
                  <a:t>). (10)</a:t>
                </a:r>
              </a:p>
              <a:p>
                <a:r>
                  <a:rPr lang="en-US" altLang="zh-TW" dirty="0" smtClean="0"/>
                  <a:t>Evaluate </a:t>
                </a:r>
                <a:r>
                  <a:rPr lang="en-US" altLang="zh-TW" dirty="0"/>
                  <a:t>whether it </a:t>
                </a:r>
                <a:r>
                  <a:rPr lang="en-US" altLang="zh-TW" dirty="0" smtClean="0"/>
                  <a:t>should substitute </a:t>
                </a:r>
                <a:r>
                  <a:rPr lang="en-US" altLang="zh-TW" dirty="0"/>
                  <a:t>the current </a:t>
                </a:r>
                <a:r>
                  <a:rPr lang="en-US" altLang="zh-TW" dirty="0" err="1"/>
                  <a:t>shapelet</a:t>
                </a:r>
                <a:r>
                  <a:rPr lang="en-US" altLang="zh-TW" dirty="0" smtClean="0"/>
                  <a:t>. (11~12)</a:t>
                </a:r>
              </a:p>
              <a:p>
                <a:r>
                  <a:rPr lang="en-US" altLang="zh-TW" dirty="0"/>
                  <a:t>If </a:t>
                </a:r>
                <a:r>
                  <a:rPr lang="en-US" altLang="zh-TW" dirty="0" smtClean="0"/>
                  <a:t>the </a:t>
                </a:r>
                <a:r>
                  <a:rPr lang="en-US" altLang="zh-TW" dirty="0" err="1" smtClean="0"/>
                  <a:t>shapelet</a:t>
                </a:r>
                <a:r>
                  <a:rPr lang="en-US" altLang="zh-TW" dirty="0" smtClean="0"/>
                  <a:t> substantially better (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/>
                      </a:rPr>
                      <m:t>𝜖</m:t>
                    </m:r>
                  </m:oMath>
                </a14:m>
                <a:r>
                  <a:rPr lang="en-US" altLang="zh-TW" dirty="0" smtClean="0"/>
                  <a:t>) </a:t>
                </a:r>
                <a:r>
                  <a:rPr lang="en-US" altLang="zh-TW" dirty="0"/>
                  <a:t>than the previous best is found, the count is </a:t>
                </a:r>
                <a:r>
                  <a:rPr lang="en-US" altLang="zh-TW" dirty="0" smtClean="0"/>
                  <a:t>reset to </a:t>
                </a:r>
                <a:r>
                  <a:rPr lang="en-US" altLang="zh-TW" dirty="0"/>
                  <a:t>0</a:t>
                </a:r>
                <a:r>
                  <a:rPr lang="en-US" altLang="zh-TW" dirty="0" smtClean="0"/>
                  <a:t>. (13~16)</a:t>
                </a:r>
              </a:p>
              <a:p>
                <a:r>
                  <a:rPr lang="en-US" altLang="zh-TW" dirty="0" smtClean="0"/>
                  <a:t>Repeat </a:t>
                </a:r>
                <a:r>
                  <a:rPr lang="en-US" altLang="zh-TW" dirty="0"/>
                  <a:t>until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</a:rPr>
                      <m:t>𝑁𝐼</m:t>
                    </m:r>
                  </m:oMath>
                </a14:m>
                <a:r>
                  <a:rPr lang="en-US" altLang="zh-TW" dirty="0"/>
                  <a:t> iterations </a:t>
                </a:r>
                <a:r>
                  <a:rPr lang="en-US" altLang="zh-TW" dirty="0" smtClean="0"/>
                  <a:t>or all </a:t>
                </a:r>
                <a:r>
                  <a:rPr lang="en-US" altLang="zh-TW" dirty="0" err="1"/>
                  <a:t>shapelets</a:t>
                </a:r>
                <a:r>
                  <a:rPr lang="en-US" altLang="zh-TW" dirty="0"/>
                  <a:t> have been </a:t>
                </a:r>
                <a:r>
                  <a:rPr lang="en-US" altLang="zh-TW" dirty="0" smtClean="0"/>
                  <a:t>checked. (5 &amp; 17)</a:t>
                </a:r>
              </a:p>
              <a:p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" t="-3774" r="-741" b="-31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213892324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16016" y="1230964"/>
            <a:ext cx="3922776" cy="558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Building a </a:t>
            </a:r>
            <a:r>
              <a:rPr lang="en-US" altLang="zh-TW" dirty="0" smtClean="0"/>
              <a:t>Sub-tree (1/3)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內容版面配置區 4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Input: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/>
                          </a:rPr>
                          <m:t>𝐷</m:t>
                        </m:r>
                      </m:e>
                      <m:sup>
                        <m:r>
                          <a:rPr lang="en-US" altLang="zh-TW" b="0" i="1" smtClean="0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𝑠𝐷𝑠𝑡</m:t>
                    </m:r>
                  </m:oMath>
                </a14:m>
                <a:endParaRPr lang="en-US" altLang="zh-TW" dirty="0" smtClean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/>
                          </a:rPr>
                          <m:t>𝐷</m:t>
                        </m:r>
                      </m:e>
                      <m:sup>
                        <m:r>
                          <a:rPr lang="en-US" altLang="zh-TW" i="1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dirty="0" smtClean="0"/>
                  <a:t>: </a:t>
                </a:r>
                <a:r>
                  <a:rPr lang="zh-TW" altLang="en-US" dirty="0" smtClean="0"/>
                  <a:t>父節點給的其中一個 </a:t>
                </a:r>
                <a:r>
                  <a:rPr lang="en-US" altLang="zh-TW" dirty="0" smtClean="0"/>
                  <a:t>subset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𝑠𝐷𝑠𝑡</m:t>
                    </m:r>
                  </m:oMath>
                </a14:m>
                <a:r>
                  <a:rPr lang="en-US" altLang="zh-TW" dirty="0" smtClean="0"/>
                  <a:t>: root </a:t>
                </a:r>
                <a:r>
                  <a:rPr lang="zh-TW" altLang="en-US" dirty="0" smtClean="0"/>
                  <a:t>運算時所記錄的 </a:t>
                </a:r>
                <a:r>
                  <a:rPr lang="en-US" altLang="zh-TW" dirty="0" err="1" smtClean="0"/>
                  <a:t>shapelets</a:t>
                </a:r>
                <a:r>
                  <a:rPr lang="en-US" altLang="zh-TW" dirty="0" smtClean="0"/>
                  <a:t/>
                </a:r>
                <a:r>
                  <a:rPr lang="zh-TW" altLang="en-US" dirty="0" smtClean="0"/>
                  <a:t>與 </a:t>
                </a:r>
                <a:r>
                  <a:rPr lang="en-US" altLang="zh-TW" dirty="0" smtClean="0"/>
                  <a:t>time series </a:t>
                </a:r>
                <a:r>
                  <a:rPr lang="zh-TW" altLang="en-US" dirty="0" smtClean="0"/>
                  <a:t>的 </a:t>
                </a:r>
                <a:r>
                  <a:rPr lang="en-US" altLang="zh-TW" dirty="0" smtClean="0"/>
                  <a:t>distance</a:t>
                </a:r>
                <a:endParaRPr lang="zh-TW" altLang="en-US" dirty="0"/>
              </a:p>
            </p:txBody>
          </p:sp>
        </mc:Choice>
        <mc:Fallback>
          <p:sp>
            <p:nvSpPr>
              <p:cNvPr id="5" name="內容版面配置區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3"/>
                <a:stretch>
                  <a:fillRect t="-1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947207195"/>
      </p:ext>
    </p:extLst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Building a </a:t>
            </a:r>
            <a:r>
              <a:rPr lang="en-US" altLang="zh-TW" dirty="0" smtClean="0"/>
              <a:t>Sub-tree (2/3)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7" name="內容版面配置區 6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Check if the </a:t>
                </a:r>
                <a:r>
                  <a:rPr lang="en-US" altLang="zh-TW" dirty="0" err="1" smtClean="0"/>
                  <a:t>shapelet</a:t>
                </a:r>
                <a:r>
                  <a:rPr lang="en-US" altLang="zh-TW" dirty="0" smtClean="0"/>
                  <a:t/>
                </a:r>
                <a:r>
                  <a:rPr lang="en-US" altLang="zh-TW" dirty="0"/>
                  <a:t>was extracted from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/>
                          </a:rPr>
                          <m:t>𝐷</m:t>
                        </m:r>
                      </m:e>
                      <m:sup>
                        <m:r>
                          <a:rPr lang="en-US" altLang="zh-TW" i="1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dirty="0" smtClean="0"/>
                  <a:t>. (6)</a:t>
                </a:r>
              </a:p>
              <a:p>
                <a:r>
                  <a:rPr lang="en-US" altLang="zh-TW" dirty="0" smtClean="0"/>
                  <a:t>Determine </a:t>
                </a:r>
                <a:r>
                  <a:rPr lang="en-US" altLang="zh-TW" dirty="0"/>
                  <a:t>its ability to split the dataset meaningfully (IG and margin</a:t>
                </a:r>
                <a:r>
                  <a:rPr lang="en-US" altLang="zh-TW" dirty="0" smtClean="0"/>
                  <a:t>) by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𝑠𝐷𝑠𝑡</m:t>
                    </m:r>
                  </m:oMath>
                </a14:m>
                <a:r>
                  <a:rPr lang="en-US" altLang="zh-TW" dirty="0" smtClean="0"/>
                  <a:t>. (7)</a:t>
                </a:r>
                <a:endParaRPr lang="en-US" altLang="zh-TW" dirty="0"/>
              </a:p>
              <a:p>
                <a:r>
                  <a:rPr lang="en-US" altLang="zh-TW" dirty="0"/>
                  <a:t>Evaluate whether it should substitute the current </a:t>
                </a:r>
                <a:r>
                  <a:rPr lang="en-US" altLang="zh-TW" dirty="0" err="1"/>
                  <a:t>shapelet</a:t>
                </a:r>
                <a:r>
                  <a:rPr lang="en-US" altLang="zh-TW" dirty="0"/>
                  <a:t>. </a:t>
                </a:r>
                <a:r>
                  <a:rPr lang="en-US" altLang="zh-TW" dirty="0" smtClean="0"/>
                  <a:t>(8~9)</a:t>
                </a:r>
              </a:p>
              <a:p>
                <a:r>
                  <a:rPr lang="en-US" altLang="zh-TW" dirty="0"/>
                  <a:t>Repeat until </a:t>
                </a:r>
                <a:r>
                  <a:rPr lang="en-US" altLang="zh-TW" dirty="0" smtClean="0"/>
                  <a:t>all </a:t>
                </a:r>
                <a:r>
                  <a:rPr lang="en-US" altLang="zh-TW" dirty="0" err="1" smtClean="0"/>
                  <a:t>shapelets</a:t>
                </a:r>
                <a:r>
                  <a:rPr lang="en-US" altLang="zh-TW" dirty="0" smtClean="0"/>
                  <a:t> in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𝑠𝐷𝑠𝑡</m:t>
                    </m:r>
                  </m:oMath>
                </a14:m>
                <a:r>
                  <a:rPr lang="en-US" altLang="zh-TW" dirty="0" smtClean="0"/>
                  <a:t/>
                </a:r>
                <a:r>
                  <a:rPr lang="en-US" altLang="zh-TW" dirty="0"/>
                  <a:t>have been checked. </a:t>
                </a:r>
                <a:r>
                  <a:rPr lang="en-US" altLang="zh-TW" dirty="0" smtClean="0"/>
                  <a:t>(4 </a:t>
                </a:r>
                <a:r>
                  <a:rPr lang="en-US" altLang="zh-TW" dirty="0"/>
                  <a:t>&amp;</a:t>
                </a:r>
                <a:r>
                  <a:rPr lang="en-US" altLang="zh-TW" dirty="0" smtClean="0"/>
                  <a:t>12)</a:t>
                </a:r>
                <a:endParaRPr lang="en-US" altLang="zh-TW" dirty="0"/>
              </a:p>
            </p:txBody>
          </p:sp>
        </mc:Choice>
        <mc:Fallback>
          <p:sp>
            <p:nvSpPr>
              <p:cNvPr id="7" name="內容版面配置區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8" t="-1752" r="-1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839586959"/>
      </p:ext>
    </p:extLst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Building a </a:t>
            </a:r>
            <a:r>
              <a:rPr lang="en-US" altLang="zh-TW" dirty="0" smtClean="0"/>
              <a:t>Sub-tree (3/3</a:t>
            </a:r>
            <a:r>
              <a:rPr lang="en-US" altLang="zh-TW" dirty="0"/>
              <a:t>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Special case:</a:t>
                </a:r>
              </a:p>
              <a:p>
                <a:pPr lvl="1"/>
                <a:r>
                  <a:rPr lang="en-US" altLang="zh-TW" dirty="0" smtClean="0"/>
                  <a:t>If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𝑠𝐷𝑠𝑡</m:t>
                    </m:r>
                  </m:oMath>
                </a14:m>
                <a:r>
                  <a:rPr lang="en-US" altLang="zh-TW" dirty="0"/>
                  <a:t> contains no </a:t>
                </a:r>
                <a:r>
                  <a:rPr lang="en-US" altLang="zh-TW" dirty="0" err="1"/>
                  <a:t>shapelets</a:t>
                </a:r>
                <a:r>
                  <a:rPr lang="en-US" altLang="zh-TW" dirty="0"/>
                  <a:t> extracted from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/>
                          </a:rPr>
                          <m:t>𝐷</m:t>
                        </m:r>
                      </m:e>
                      <m:sup>
                        <m:r>
                          <a:rPr lang="en-US" altLang="zh-TW" i="1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dirty="0" smtClean="0"/>
                  <a:t>. (13~15)</a:t>
                </a:r>
              </a:p>
              <a:p>
                <a:pPr lvl="2"/>
                <a:r>
                  <a:rPr lang="en-US" altLang="zh-TW" dirty="0"/>
                  <a:t>Decide class by majority </a:t>
                </a:r>
                <a:r>
                  <a:rPr lang="en-US" altLang="zh-TW" dirty="0" smtClean="0"/>
                  <a:t>vote.</a:t>
                </a:r>
              </a:p>
              <a:p>
                <a:pPr lvl="1"/>
                <a:r>
                  <a:rPr lang="en-US" altLang="zh-TW" dirty="0" smtClean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/>
                          </a:rPr>
                          <m:t>𝐷</m:t>
                        </m:r>
                      </m:e>
                      <m:sup>
                        <m:r>
                          <a:rPr lang="en-US" altLang="zh-TW" i="1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dirty="0"/>
                  <a:t> couldn’t be split by best </a:t>
                </a:r>
                <a:r>
                  <a:rPr lang="en-US" altLang="zh-TW" dirty="0" err="1" smtClean="0"/>
                  <a:t>shapelet</a:t>
                </a:r>
                <a:r>
                  <a:rPr lang="en-US" altLang="zh-TW" dirty="0" smtClean="0"/>
                  <a:t>. (16~18)</a:t>
                </a:r>
              </a:p>
              <a:p>
                <a:pPr lvl="2"/>
                <a:r>
                  <a:rPr lang="en-US" altLang="zh-TW" dirty="0"/>
                  <a:t>Decide class by majority </a:t>
                </a:r>
                <a:r>
                  <a:rPr lang="en-US" altLang="zh-TW" dirty="0" smtClean="0"/>
                  <a:t>vote.</a:t>
                </a:r>
              </a:p>
              <a:p>
                <a:r>
                  <a:rPr lang="en-US" altLang="zh-TW" dirty="0"/>
                  <a:t>S</a:t>
                </a:r>
                <a:r>
                  <a:rPr lang="en-US" altLang="zh-TW" dirty="0" smtClean="0"/>
                  <a:t>top criteria:</a:t>
                </a:r>
              </a:p>
              <a:p>
                <a:pPr lvl="1"/>
                <a:r>
                  <a:rPr lang="en-US" altLang="zh-TW" dirty="0" smtClean="0"/>
                  <a:t>If </a:t>
                </a:r>
                <a:r>
                  <a:rPr lang="en-US" altLang="zh-TW" dirty="0"/>
                  <a:t>all time series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/>
                          </a:rPr>
                          <m:t>𝐷</m:t>
                        </m:r>
                      </m:e>
                      <m:sup>
                        <m:r>
                          <a:rPr lang="en-US" altLang="zh-TW" i="1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dirty="0"/>
                  <a:t> are from one </a:t>
                </a:r>
                <a:r>
                  <a:rPr lang="en-US" altLang="zh-TW" dirty="0" smtClean="0"/>
                  <a:t>class. (2~3)</a:t>
                </a:r>
                <a:endParaRPr lang="en-US" altLang="zh-TW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8" t="-1752" r="-11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067584979"/>
      </p:ext>
    </p:extLst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Shapelets</a:t>
            </a:r>
            <a:r>
              <a:rPr lang="en-US" altLang="zh-TW" dirty="0"/>
              <a:t> Sampling Order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Simple enumeration of </a:t>
            </a:r>
            <a:r>
              <a:rPr lang="en-US" altLang="zh-TW" dirty="0" err="1"/>
              <a:t>shapelets</a:t>
            </a:r>
            <a:r>
              <a:rPr lang="en-US" altLang="zh-TW" dirty="0"/>
              <a:t> </a:t>
            </a:r>
            <a:r>
              <a:rPr lang="en-US" altLang="zh-TW" dirty="0" smtClean="0"/>
              <a:t>domain</a:t>
            </a:r>
          </a:p>
          <a:p>
            <a:r>
              <a:rPr lang="en-US" altLang="zh-TW" dirty="0"/>
              <a:t>Fast-coverage enumeration of </a:t>
            </a:r>
            <a:r>
              <a:rPr lang="en-US" altLang="zh-TW" dirty="0" err="1"/>
              <a:t>shapelets</a:t>
            </a:r>
            <a:r>
              <a:rPr lang="en-US" altLang="zh-TW" dirty="0"/>
              <a:t> </a:t>
            </a:r>
            <a:r>
              <a:rPr lang="en-US" altLang="zh-TW" dirty="0" smtClean="0"/>
              <a:t>domain</a:t>
            </a:r>
          </a:p>
          <a:p>
            <a:r>
              <a:rPr lang="en-US" altLang="zh-TW" dirty="0"/>
              <a:t>Random enumeration of </a:t>
            </a:r>
            <a:r>
              <a:rPr lang="en-US" altLang="zh-TW" dirty="0" err="1"/>
              <a:t>shapelets</a:t>
            </a:r>
            <a:r>
              <a:rPr lang="en-US" altLang="zh-TW" dirty="0"/>
              <a:t> domain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025765073"/>
      </p:ext>
    </p:extLst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11560" y="1602001"/>
            <a:ext cx="7871079" cy="5235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Simple </a:t>
            </a:r>
            <a:r>
              <a:rPr lang="en-US" altLang="zh-TW" dirty="0" smtClean="0"/>
              <a:t>Enumeration </a:t>
            </a:r>
            <a:r>
              <a:rPr lang="en-US" altLang="zh-TW" dirty="0"/>
              <a:t>of </a:t>
            </a:r>
            <a:r>
              <a:rPr lang="en-US" altLang="zh-TW" dirty="0" err="1" smtClean="0"/>
              <a:t>Shapelets</a:t>
            </a:r>
            <a:r>
              <a:rPr lang="en-US" altLang="zh-TW" dirty="0" smtClean="0"/>
              <a:t> Domain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804697366"/>
      </p:ext>
    </p:extLst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907704" y="1484784"/>
            <a:ext cx="5360670" cy="5349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Fast-coverage </a:t>
            </a:r>
            <a:r>
              <a:rPr lang="en-US" altLang="zh-TW" dirty="0" smtClean="0"/>
              <a:t>Enumeration </a:t>
            </a:r>
            <a:r>
              <a:rPr lang="en-US" altLang="zh-TW" dirty="0"/>
              <a:t>of </a:t>
            </a:r>
            <a:r>
              <a:rPr lang="en-US" altLang="zh-TW" dirty="0" err="1" smtClean="0"/>
              <a:t>Shapelets</a:t>
            </a:r>
            <a:r>
              <a:rPr lang="en-US" altLang="zh-TW" dirty="0" smtClean="0"/>
              <a:t> Domain (1/3)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424182432"/>
      </p:ext>
    </p:extLst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Fast-coverage Enumeration of </a:t>
            </a:r>
            <a:r>
              <a:rPr lang="en-US" altLang="zh-TW" dirty="0" err="1"/>
              <a:t>Shapelets</a:t>
            </a:r>
            <a:r>
              <a:rPr lang="en-US" altLang="zh-TW" dirty="0"/>
              <a:t> Domain </a:t>
            </a:r>
            <a:r>
              <a:rPr lang="en-US" altLang="zh-TW" dirty="0" smtClean="0"/>
              <a:t>(2/3)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 smtClean="0"/>
                  <a:t>Two different from simple enumeration:</a:t>
                </a:r>
              </a:p>
              <a:p>
                <a:pPr lvl="1"/>
                <a:r>
                  <a:rPr lang="en-US" altLang="zh-TW" dirty="0"/>
                  <a:t>E</a:t>
                </a:r>
                <a:r>
                  <a:rPr lang="en-US" altLang="zh-TW" dirty="0" smtClean="0"/>
                  <a:t>xtract </a:t>
                </a:r>
                <a:r>
                  <a:rPr lang="en-US" altLang="zh-TW" dirty="0"/>
                  <a:t>only </a:t>
                </a:r>
                <a:r>
                  <a:rPr lang="en-US" altLang="zh-TW" dirty="0" smtClean="0"/>
                  <a:t>non-overlapping </a:t>
                </a:r>
                <a:r>
                  <a:rPr lang="en-US" altLang="zh-TW" dirty="0" err="1" smtClean="0"/>
                  <a:t>shapelets</a:t>
                </a:r>
                <a:r>
                  <a:rPr lang="en-US" altLang="zh-TW" dirty="0" smtClean="0"/>
                  <a:t/>
                </a:r>
                <a:r>
                  <a:rPr lang="en-US" altLang="zh-TW" dirty="0"/>
                  <a:t>of each </a:t>
                </a:r>
                <a:r>
                  <a:rPr lang="en-US" altLang="zh-TW" dirty="0" smtClean="0"/>
                  <a:t>length.</a:t>
                </a:r>
              </a:p>
              <a:p>
                <a:pPr lvl="2"/>
                <a:r>
                  <a:rPr lang="en-US" altLang="zh-TW" dirty="0" smtClean="0"/>
                  <a:t>Example: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𝑡</m:t>
                    </m:r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r>
                      <m:rPr>
                        <m:nor/>
                      </m:rPr>
                      <a:rPr lang="en-US" altLang="zh-TW" dirty="0"/>
                      <m:t>abcbaba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𝑙𝑒𝑛</m:t>
                    </m:r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r>
                      <m:rPr>
                        <m:nor/>
                      </m:rPr>
                      <a:rPr lang="en-US" altLang="zh-TW" dirty="0"/>
                      <m:t>3</m:t>
                    </m:r>
                  </m:oMath>
                </a14:m>
                <a:r>
                  <a:rPr lang="en-US" altLang="zh-TW" dirty="0" smtClean="0"/>
                  <a:t/>
                </a:r>
                <a:br>
                  <a:rPr lang="en-US" altLang="zh-TW" dirty="0" smtClean="0"/>
                </a:br>
                <a:r>
                  <a:rPr lang="en-US" altLang="zh-TW" dirty="0" smtClean="0"/>
                  <a:t>Simple: </a:t>
                </a:r>
                <a:r>
                  <a:rPr lang="en-US" altLang="zh-TW" dirty="0" err="1" smtClean="0"/>
                  <a:t>abc</a:t>
                </a:r>
                <a:r>
                  <a:rPr lang="en-US" altLang="zh-TW" dirty="0" smtClean="0"/>
                  <a:t>, </a:t>
                </a:r>
                <a:r>
                  <a:rPr lang="en-US" altLang="zh-TW" dirty="0" err="1" smtClean="0"/>
                  <a:t>bcb</a:t>
                </a:r>
                <a:r>
                  <a:rPr lang="en-US" altLang="zh-TW" dirty="0" smtClean="0"/>
                  <a:t>, </a:t>
                </a:r>
                <a:r>
                  <a:rPr lang="en-US" altLang="zh-TW" dirty="0" err="1" smtClean="0"/>
                  <a:t>cba</a:t>
                </a:r>
                <a:r>
                  <a:rPr lang="en-US" altLang="zh-TW" dirty="0" smtClean="0"/>
                  <a:t>, </a:t>
                </a:r>
                <a:r>
                  <a:rPr lang="en-US" altLang="zh-TW" dirty="0" err="1" smtClean="0"/>
                  <a:t>bab</a:t>
                </a:r>
                <a:r>
                  <a:rPr lang="en-US" altLang="zh-TW" dirty="0" smtClean="0"/>
                  <a:t>, aba</a:t>
                </a:r>
                <a:br>
                  <a:rPr lang="en-US" altLang="zh-TW" dirty="0" smtClean="0"/>
                </a:br>
                <a:r>
                  <a:rPr lang="en-US" altLang="zh-TW" dirty="0" smtClean="0"/>
                  <a:t>Fast-coverage: </a:t>
                </a:r>
                <a:r>
                  <a:rPr lang="en-US" altLang="zh-TW" dirty="0" err="1" smtClean="0"/>
                  <a:t>abc</a:t>
                </a:r>
                <a:r>
                  <a:rPr lang="en-US" altLang="zh-TW" dirty="0" smtClean="0"/>
                  <a:t>, </a:t>
                </a:r>
                <a:r>
                  <a:rPr lang="en-US" altLang="zh-TW" dirty="0" err="1" smtClean="0"/>
                  <a:t>bab</a:t>
                </a:r>
                <a:endParaRPr lang="en-US" altLang="zh-TW" dirty="0" smtClean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8"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592634096"/>
      </p:ext>
    </p:extLst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Fast-coverage Enumeration of </a:t>
            </a:r>
            <a:r>
              <a:rPr lang="en-US" altLang="zh-TW" dirty="0" err="1"/>
              <a:t>Shapelets</a:t>
            </a:r>
            <a:r>
              <a:rPr lang="en-US" altLang="zh-TW" dirty="0"/>
              <a:t> Domain </a:t>
            </a:r>
            <a:r>
              <a:rPr lang="en-US" altLang="zh-TW" dirty="0" smtClean="0"/>
              <a:t>(3/3</a:t>
            </a:r>
            <a:r>
              <a:rPr lang="en-US" altLang="zh-TW" dirty="0"/>
              <a:t>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/>
                  <a:t>Two different from simple enumeration:</a:t>
                </a:r>
              </a:p>
              <a:p>
                <a:pPr lvl="1"/>
                <a:r>
                  <a:rPr lang="en-US" altLang="zh-TW" dirty="0"/>
                  <a:t>Use the parameter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/>
                      </a:rPr>
                      <m:t>𝑠𝑡𝑎𝑟𝑡𝐼𝑛𝑑𝑒𝑥</m:t>
                    </m:r>
                  </m:oMath>
                </a14:m>
                <a:r>
                  <a:rPr lang="en-US" altLang="zh-TW" dirty="0"/>
                  <a:t>, which defines the index in the time series from which we start extracting the non-overlapping subsequences</a:t>
                </a:r>
                <a:r>
                  <a:rPr lang="en-US" altLang="zh-TW" dirty="0" smtClean="0"/>
                  <a:t>.</a:t>
                </a:r>
              </a:p>
              <a:p>
                <a:pPr lvl="1"/>
                <a:r>
                  <a:rPr lang="en-US" altLang="zh-TW" dirty="0" smtClean="0"/>
                  <a:t>Define </a:t>
                </a:r>
                <a:r>
                  <a:rPr lang="en-US" altLang="zh-TW" dirty="0"/>
                  <a:t>the next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/>
                      </a:rPr>
                      <m:t>𝑠𝑡𝑎𝑟𝑡𝐼𝑛𝑑𝑒𝑥</m:t>
                    </m:r>
                    <m:r>
                      <a:rPr lang="en-US" altLang="zh-TW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dirty="0" smtClean="0"/>
                  <a:t>as the </a:t>
                </a:r>
                <a:r>
                  <a:rPr lang="en-US" altLang="zh-TW" dirty="0"/>
                  <a:t>middle between two previously examined start indices</a:t>
                </a:r>
                <a:r>
                  <a:rPr lang="en-US" altLang="zh-TW" dirty="0" smtClean="0"/>
                  <a:t>.</a:t>
                </a:r>
              </a:p>
              <a:p>
                <a:pPr lvl="2"/>
                <a:r>
                  <a:rPr lang="en-US" altLang="zh-TW" dirty="0" smtClean="0"/>
                  <a:t>For example, if </a:t>
                </a:r>
                <a:r>
                  <a:rPr lang="en-US" altLang="zh-TW" dirty="0"/>
                  <a:t>extracting subsequences 8 </a:t>
                </a:r>
                <a:r>
                  <a:rPr lang="en-US" altLang="zh-TW" dirty="0" smtClean="0"/>
                  <a:t>measurements long</a:t>
                </a:r>
                <a:r>
                  <a:rPr lang="en-US" altLang="zh-TW" dirty="0"/>
                  <a:t>, the order of the start indices would be as follows</a:t>
                </a:r>
                <a:r>
                  <a:rPr lang="en-US" altLang="zh-TW" dirty="0" smtClean="0"/>
                  <a:t>: [</a:t>
                </a:r>
                <a:r>
                  <a:rPr lang="en-US" altLang="zh-TW" dirty="0"/>
                  <a:t>0, 4, 2, 6, 1, 3, 5, </a:t>
                </a:r>
                <a:r>
                  <a:rPr lang="en-US" altLang="zh-TW"/>
                  <a:t>7</a:t>
                </a:r>
                <a:r>
                  <a:rPr lang="en-US" altLang="zh-TW" smtClean="0"/>
                  <a:t>].</a:t>
                </a:r>
                <a:endParaRPr lang="en-US" altLang="zh-TW" dirty="0" smtClean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8" t="-1752" r="-12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79677463"/>
      </p:ext>
    </p:extLst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79512" y="1602000"/>
            <a:ext cx="8747760" cy="2486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Random </a:t>
            </a:r>
            <a:r>
              <a:rPr lang="en-US" altLang="zh-TW" dirty="0" smtClean="0"/>
              <a:t>Enumeration </a:t>
            </a:r>
            <a:r>
              <a:rPr lang="en-US" altLang="zh-TW" dirty="0"/>
              <a:t>of </a:t>
            </a:r>
            <a:r>
              <a:rPr lang="en-US" altLang="zh-TW" dirty="0" err="1" smtClean="0"/>
              <a:t>Shapelets</a:t>
            </a:r>
            <a:r>
              <a:rPr lang="en-US" altLang="zh-TW" dirty="0" smtClean="0"/>
              <a:t> Domain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297639205"/>
      </p:ext>
    </p:extLst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1200" y="1602000"/>
            <a:ext cx="9005507" cy="4709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Experiment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76843609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647" t="807" r="728" b="837"/>
          <a:stretch/>
        </p:blipFill>
        <p:spPr bwMode="auto">
          <a:xfrm>
            <a:off x="611560" y="10800"/>
            <a:ext cx="7928562" cy="6835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24</a:t>
            </a:fld>
            <a:endParaRPr lang="zh-TW" altLang="en-US"/>
          </a:p>
        </p:txBody>
      </p:sp>
      <p:sp>
        <p:nvSpPr>
          <p:cNvPr id="17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57200" y="5517232"/>
            <a:ext cx="3106688" cy="1204243"/>
          </a:xfrm>
        </p:spPr>
        <p:txBody>
          <a:bodyPr/>
          <a:lstStyle/>
          <a:p>
            <a:r>
              <a:rPr lang="en-US" altLang="zh-TW" sz="2800" b="1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Comparison of </a:t>
            </a:r>
            <a:r>
              <a:rPr lang="en-US" altLang="zh-TW" sz="2800" b="1" dirty="0" err="1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Shaplets</a:t>
            </a:r>
            <a:r>
              <a:rPr lang="en-US" altLang="zh-TW" sz="2800" b="1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Evaluation Orders</a:t>
            </a:r>
            <a:endParaRPr lang="zh-TW" altLang="en-US" sz="2800" b="1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1350976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807" t="1195" r="1272" b="862"/>
          <a:stretch/>
        </p:blipFill>
        <p:spPr bwMode="auto">
          <a:xfrm>
            <a:off x="899592" y="38138"/>
            <a:ext cx="7446776" cy="6775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25</a:t>
            </a:fld>
            <a:endParaRPr lang="zh-TW" altLang="en-US" dirty="0"/>
          </a:p>
        </p:txBody>
      </p:sp>
      <p:sp>
        <p:nvSpPr>
          <p:cNvPr id="12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57200" y="5517232"/>
            <a:ext cx="3178696" cy="1204243"/>
          </a:xfrm>
        </p:spPr>
        <p:txBody>
          <a:bodyPr/>
          <a:lstStyle/>
          <a:p>
            <a:r>
              <a:rPr lang="en-US" altLang="zh-TW" sz="2800" b="1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Analysis of High-Quality </a:t>
            </a:r>
            <a:r>
              <a:rPr lang="en-US" altLang="zh-TW" sz="2800" b="1" dirty="0" err="1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Shapelets</a:t>
            </a:r>
            <a:r>
              <a:rPr lang="en-US" altLang="zh-TW" sz="2800" b="1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Distribution</a:t>
            </a:r>
            <a:endParaRPr lang="zh-TW" altLang="en-US" sz="2800" b="1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投影片編號版面配置區 3"/>
          <p:cNvSpPr txBox="1">
            <a:spLocks/>
          </p:cNvSpPr>
          <p:nvPr/>
        </p:nvSpPr>
        <p:spPr>
          <a:xfrm>
            <a:off x="6300192" y="5518800"/>
            <a:ext cx="2385408" cy="862528"/>
          </a:xfrm>
          <a:prstGeom prst="rect">
            <a:avLst/>
          </a:prstGeom>
        </p:spPr>
        <p:txBody>
          <a:bodyPr vert="horz" rtlCol="0" anchor="ctr"/>
          <a:lstStyle>
            <a:defPPr>
              <a:defRPr lang="zh-TW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IG: 10%</a:t>
            </a:r>
          </a:p>
          <a:p>
            <a:r>
              <a:rPr lang="en-US" altLang="zh-TW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Margin: 40%</a:t>
            </a:r>
            <a:endParaRPr lang="zh-TW" altLang="en-US" sz="28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7461704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200" y="1602000"/>
            <a:ext cx="9088565" cy="220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Performance of the SALSA-R Algorithm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3808562"/>
                <a:ext cx="8229600" cy="2317601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/>
                      </a:rPr>
                      <m:t>𝜖</m:t>
                    </m:r>
                    <m:r>
                      <a:rPr lang="en-US" altLang="zh-TW" b="0" i="1" smtClean="0">
                        <a:latin typeface="Cambria Math"/>
                      </a:rPr>
                      <m:t>=0.01</m:t>
                    </m:r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808562"/>
                <a:ext cx="8229600" cy="2317601"/>
              </a:xfr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72122791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龍騰四海">
  <a:themeElements>
    <a:clrScheme name="龍騰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龍騰四海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龍騰四海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3035</TotalTime>
  <Words>588</Words>
  <Application>Microsoft Office PowerPoint</Application>
  <PresentationFormat>如螢幕大小 (4:3)</PresentationFormat>
  <Paragraphs>102</Paragraphs>
  <Slides>26</Slides>
  <Notes>2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27" baseType="lpstr">
      <vt:lpstr>龍騰四海</vt:lpstr>
      <vt:lpstr>Fast Randomized Model Generation for Shapelet-Based Time Series Classification</vt:lpstr>
      <vt:lpstr>Abstract (1/3)</vt:lpstr>
      <vt:lpstr>Abstract (2/3)</vt:lpstr>
      <vt:lpstr>Abstract (3/3)</vt:lpstr>
      <vt:lpstr>Shapelet</vt:lpstr>
      <vt:lpstr>Distance</vt:lpstr>
      <vt:lpstr>The YK Shapelet Extraction Algorithm (1/3)</vt:lpstr>
      <vt:lpstr>The YK Shapelet Extraction Algorithm (2/3)</vt:lpstr>
      <vt:lpstr>The YK Shapelet Extraction Algorithm (3/3)</vt:lpstr>
      <vt:lpstr>The Shaplet Sampling (SALSA) Algorithm (1/2)</vt:lpstr>
      <vt:lpstr>The Shaplet Sampling (SALSA) Algorithm (2/2)</vt:lpstr>
      <vt:lpstr>Search for Shapelet in Root Node (1/2)</vt:lpstr>
      <vt:lpstr>Search for Shapelet in Root Node (2/2)</vt:lpstr>
      <vt:lpstr>Building a Sub-tree (1/3)</vt:lpstr>
      <vt:lpstr>Building a Sub-tree (2/3)</vt:lpstr>
      <vt:lpstr>Building a Sub-tree (3/3)</vt:lpstr>
      <vt:lpstr>Shapelets Sampling Order</vt:lpstr>
      <vt:lpstr>Simple Enumeration of Shapelets Domain</vt:lpstr>
      <vt:lpstr>Fast-coverage Enumeration of Shapelets Domain (1/3)</vt:lpstr>
      <vt:lpstr>Fast-coverage Enumeration of Shapelets Domain (2/3)</vt:lpstr>
      <vt:lpstr>Fast-coverage Enumeration of Shapelets Domain (3/3)</vt:lpstr>
      <vt:lpstr>Random Enumeration of Shapelets Domain</vt:lpstr>
      <vt:lpstr>Experiment</vt:lpstr>
      <vt:lpstr>投影片 24</vt:lpstr>
      <vt:lpstr>投影片 25</vt:lpstr>
      <vt:lpstr>Performance of the SALSA-R Algorithm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on Longest Common Subsequence Fast Algorithm</dc:title>
  <dc:creator>Ray</dc:creator>
  <cp:lastModifiedBy>admin</cp:lastModifiedBy>
  <cp:revision>679</cp:revision>
  <dcterms:created xsi:type="dcterms:W3CDTF">2012-09-09T09:37:21Z</dcterms:created>
  <dcterms:modified xsi:type="dcterms:W3CDTF">2013-08-20T10:46:09Z</dcterms:modified>
</cp:coreProperties>
</file>