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1" r:id="rId8"/>
    <p:sldId id="264" r:id="rId9"/>
    <p:sldId id="262" r:id="rId10"/>
    <p:sldId id="267" r:id="rId11"/>
    <p:sldId id="268" r:id="rId12"/>
    <p:sldId id="265" r:id="rId13"/>
    <p:sldId id="266" r:id="rId14"/>
    <p:sldId id="269"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2807015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229406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372951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674738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4183981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130383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1296089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1085631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4274430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2556863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410496E-46CA-47C8-83ED-4441EB88B00A}" type="datetimeFigureOut">
              <a:rPr lang="zh-TW" altLang="en-US" smtClean="0"/>
              <a:pPr/>
              <a:t>2013/6/25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790517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10496E-46CA-47C8-83ED-4441EB88B00A}" type="datetimeFigureOut">
              <a:rPr lang="zh-TW" altLang="en-US" smtClean="0"/>
              <a:pPr/>
              <a:t>2013/6/25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44EC2-C4AF-4238-A788-8E75C16C3521}" type="slidenum">
              <a:rPr lang="zh-TW" altLang="en-US" smtClean="0"/>
              <a:pPr/>
              <a:t>‹#›</a:t>
            </a:fld>
            <a:endParaRPr lang="zh-TW" altLang="en-US"/>
          </a:p>
        </p:txBody>
      </p:sp>
    </p:spTree>
    <p:extLst>
      <p:ext uri="{BB962C8B-B14F-4D97-AF65-F5344CB8AC3E}">
        <p14:creationId xmlns:p14="http://schemas.microsoft.com/office/powerpoint/2010/main" xmlns="" val="380436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A hybrid stock selection model using genetic algorithms and support vector regression</a:t>
            </a:r>
            <a:endParaRPr lang="zh-TW" altLang="en-US" dirty="0"/>
          </a:p>
        </p:txBody>
      </p:sp>
      <p:sp>
        <p:nvSpPr>
          <p:cNvPr id="3" name="副標題 2"/>
          <p:cNvSpPr>
            <a:spLocks noGrp="1"/>
          </p:cNvSpPr>
          <p:nvPr>
            <p:ph type="subTitle" idx="1"/>
          </p:nvPr>
        </p:nvSpPr>
        <p:spPr>
          <a:xfrm>
            <a:off x="1371600" y="3886200"/>
            <a:ext cx="6400800" cy="1126976"/>
          </a:xfrm>
        </p:spPr>
        <p:txBody>
          <a:bodyPr>
            <a:normAutofit/>
          </a:bodyPr>
          <a:lstStyle/>
          <a:p>
            <a:r>
              <a:rPr lang="en-US" altLang="zh-TW" sz="2000" dirty="0" smtClean="0"/>
              <a:t>Applied Soft Computing 12 (2012) 807–818</a:t>
            </a:r>
          </a:p>
          <a:p>
            <a:r>
              <a:rPr lang="en-US" altLang="zh-TW" sz="2000" dirty="0" err="1" smtClean="0"/>
              <a:t>Chien-Feng</a:t>
            </a:r>
            <a:r>
              <a:rPr lang="en-US" altLang="zh-TW" sz="2000" dirty="0" smtClean="0"/>
              <a:t> </a:t>
            </a:r>
            <a:r>
              <a:rPr lang="en-US" altLang="zh-TW" sz="2000" dirty="0" smtClean="0"/>
              <a:t>Huang (</a:t>
            </a:r>
            <a:r>
              <a:rPr lang="zh-TW" altLang="en-US" sz="2000" dirty="0" smtClean="0"/>
              <a:t>黃健峯</a:t>
            </a:r>
            <a:r>
              <a:rPr lang="en-US" altLang="zh-TW" sz="2000" dirty="0" smtClean="0"/>
              <a:t>)</a:t>
            </a:r>
            <a:endParaRPr lang="zh-TW" altLang="en-US" sz="2000" dirty="0"/>
          </a:p>
        </p:txBody>
      </p:sp>
      <p:sp>
        <p:nvSpPr>
          <p:cNvPr id="4" name="文字方塊 3"/>
          <p:cNvSpPr txBox="1"/>
          <p:nvPr/>
        </p:nvSpPr>
        <p:spPr>
          <a:xfrm>
            <a:off x="5638463" y="5445224"/>
            <a:ext cx="2808312" cy="646331"/>
          </a:xfrm>
          <a:prstGeom prst="rect">
            <a:avLst/>
          </a:prstGeom>
          <a:noFill/>
        </p:spPr>
        <p:txBody>
          <a:bodyPr wrap="square" rtlCol="0">
            <a:spAutoFit/>
          </a:bodyPr>
          <a:lstStyle/>
          <a:p>
            <a:r>
              <a:rPr lang="en-US" altLang="zh-TW" dirty="0" smtClean="0"/>
              <a:t>Presenter: Cheng-Han Lee</a:t>
            </a:r>
          </a:p>
          <a:p>
            <a:r>
              <a:rPr lang="en-US" altLang="zh-TW" dirty="0" smtClean="0"/>
              <a:t>Date:2013/6/25</a:t>
            </a:r>
            <a:endParaRPr lang="zh-TW" altLang="en-US" dirty="0"/>
          </a:p>
        </p:txBody>
      </p:sp>
    </p:spTree>
    <p:extLst>
      <p:ext uri="{BB962C8B-B14F-4D97-AF65-F5344CB8AC3E}">
        <p14:creationId xmlns:p14="http://schemas.microsoft.com/office/powerpoint/2010/main" xmlns="" val="4292840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smtClean="0"/>
              <a:t>In the areas of investment research and applications, feasible quantitative models include methodologies stemming from soft computing for prediction of financial time series, multi-objective optimization of investment return and risk reduction, as well as selection of investment instruments for portfolio management based on asset ranking using a variety of input variables and historical data, etc. Among all these, stock selection has long been identified as a challenging and important task. This line of research is highly contingent upon reliable stock ranking for successful portfolio construction. Recent advances in machine learning and data mining are leading to significant opportunities to solve these problems more effectively. </a:t>
            </a:r>
            <a:endParaRPr lang="zh-TW" altLang="en-US" dirty="0"/>
          </a:p>
        </p:txBody>
      </p:sp>
    </p:spTree>
    <p:extLst>
      <p:ext uri="{BB962C8B-B14F-4D97-AF65-F5344CB8AC3E}">
        <p14:creationId xmlns:p14="http://schemas.microsoft.com/office/powerpoint/2010/main" xmlns="" val="2452466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55000" lnSpcReduction="20000"/>
          </a:bodyPr>
          <a:lstStyle/>
          <a:p>
            <a:r>
              <a:rPr lang="en-US" altLang="zh-TW" sz="4400" dirty="0" smtClean="0"/>
              <a:t>In this study, we aim at developing a methodology for effective stock selection using support vector regression (SVR) as well as genetic algorithms (GAs). We first employ the SVR method to generate surrogates for actual stock returns that in turn serve to provide reliable rankings of stocks. Top-ranked stocks can thus be selected to form a portfolio. On top of this model, the GA is employed for the optimization of model parameters, and feature selection to acquire optimal subsets of input variables to the SVR model. We will show that the investment returns provided by our proposed methodology significantly outperform the benchmark. Based upon these promising results, we expect this hybrid GA–SVR methodology to advance the research in soft computing for finance and provide an effective solution to stock selection in practice.</a:t>
            </a:r>
            <a:endParaRPr lang="zh-TW" altLang="en-US" sz="4400" dirty="0" smtClean="0"/>
          </a:p>
          <a:p>
            <a:endParaRPr lang="zh-TW" altLang="en-US" dirty="0"/>
          </a:p>
        </p:txBody>
      </p:sp>
    </p:spTree>
    <p:extLst>
      <p:ext uri="{BB962C8B-B14F-4D97-AF65-F5344CB8AC3E}">
        <p14:creationId xmlns:p14="http://schemas.microsoft.com/office/powerpoint/2010/main" xmlns="" val="3796915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簡單來說就是</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r>
                  <a:rPr lang="zh-TW" altLang="en-US" dirty="0" smtClean="0"/>
                  <a:t>用</a:t>
                </a:r>
                <a:r>
                  <a:rPr lang="en-US" altLang="zh-TW" dirty="0" smtClean="0"/>
                  <a:t>SVR</a:t>
                </a:r>
                <a:r>
                  <a:rPr lang="zh-TW" altLang="en-US" dirty="0" smtClean="0"/>
                  <a:t>預測各股未來一年報酬</a:t>
                </a:r>
                <a:endParaRPr lang="en-US" altLang="zh-TW" dirty="0" smtClean="0"/>
              </a:p>
              <a:p>
                <a:pPr lvl="1"/>
                <a:r>
                  <a:rPr lang="zh-TW" altLang="en-US" dirty="0" smtClean="0"/>
                  <a:t>選擇預期最好的</a:t>
                </a:r>
                <a:r>
                  <a:rPr lang="en-US" altLang="zh-TW" dirty="0" smtClean="0"/>
                  <a:t>m</a:t>
                </a:r>
                <a:r>
                  <a:rPr lang="zh-TW" altLang="en-US" dirty="0" smtClean="0"/>
                  <a:t>隻股票</a:t>
                </a:r>
                <a:endParaRPr lang="en-US" altLang="zh-TW" dirty="0" smtClean="0"/>
              </a:p>
              <a:p>
                <a:r>
                  <a:rPr lang="zh-TW" altLang="en-US" dirty="0"/>
                  <a:t>用</a:t>
                </a:r>
                <a:r>
                  <a:rPr lang="en-US" altLang="zh-TW" dirty="0"/>
                  <a:t>GA</a:t>
                </a:r>
                <a:r>
                  <a:rPr lang="zh-TW" altLang="en-US" dirty="0" smtClean="0"/>
                  <a:t>來選取的特徵與調整</a:t>
                </a:r>
                <a:r>
                  <a:rPr lang="en-US" altLang="zh-TW" smtClean="0"/>
                  <a:t>SVR</a:t>
                </a:r>
                <a:r>
                  <a:rPr lang="zh-TW" altLang="en-US" smtClean="0"/>
                  <a:t>的</a:t>
                </a:r>
                <a:r>
                  <a:rPr lang="zh-TW" altLang="en-US" dirty="0" smtClean="0"/>
                  <a:t>參數</a:t>
                </a:r>
                <a:endParaRPr lang="en-US" altLang="zh-TW" dirty="0" smtClean="0"/>
              </a:p>
              <a:p>
                <a:pPr lvl="1"/>
                <a:r>
                  <a:rPr lang="en-US" altLang="zh-TW" dirty="0" smtClean="0"/>
                  <a:t>14</a:t>
                </a:r>
                <a:r>
                  <a:rPr lang="zh-TW" altLang="en-US" dirty="0" smtClean="0"/>
                  <a:t>種屬性</a:t>
                </a:r>
                <a:r>
                  <a:rPr lang="en-US" altLang="zh-TW" dirty="0" smtClean="0"/>
                  <a:t>(</a:t>
                </a:r>
                <a:r>
                  <a:rPr lang="zh-TW" altLang="en-US" dirty="0" smtClean="0"/>
                  <a:t>選或不選</a:t>
                </a:r>
                <a:r>
                  <a:rPr lang="en-US" altLang="zh-TW" dirty="0" smtClean="0"/>
                  <a:t>)</a:t>
                </a:r>
              </a:p>
              <a:p>
                <a:pPr lvl="1"/>
                <a:r>
                  <a:rPr lang="en-US" altLang="zh-TW" dirty="0"/>
                  <a:t>3</a:t>
                </a:r>
                <a:r>
                  <a:rPr lang="zh-TW" altLang="en-US" dirty="0" smtClean="0"/>
                  <a:t>種</a:t>
                </a:r>
                <a:r>
                  <a:rPr lang="en-US" altLang="zh-TW" dirty="0" smtClean="0"/>
                  <a:t>SVR</a:t>
                </a:r>
                <a:r>
                  <a:rPr lang="zh-TW" altLang="en-US" dirty="0" smtClean="0"/>
                  <a:t>參數</a:t>
                </a:r>
                <a:r>
                  <a:rPr lang="en-US" altLang="zh-TW" dirty="0" smtClean="0"/>
                  <a:t>(2</a:t>
                </a:r>
                <a:r>
                  <a:rPr lang="zh-TW" altLang="en-US" dirty="0" smtClean="0"/>
                  <a:t>進位編碼</a:t>
                </a:r>
                <a:r>
                  <a:rPr lang="en-US" altLang="zh-TW" dirty="0" smtClean="0"/>
                  <a:t>)</a:t>
                </a:r>
              </a:p>
              <a:p>
                <a:pPr lvl="1"/>
                <a:r>
                  <a:rPr lang="en-US" altLang="zh-TW" dirty="0" smtClean="0"/>
                  <a:t>Fitness: </a:t>
                </a:r>
                <a:r>
                  <a:rPr lang="zh-TW" altLang="en-US" dirty="0" smtClean="0"/>
                  <a:t>年均報酬 </a:t>
                </a:r>
                <a14:m>
                  <m:oMath xmlns:m="http://schemas.openxmlformats.org/officeDocument/2006/math">
                    <m:rad>
                      <m:radPr>
                        <m:ctrlPr>
                          <a:rPr lang="zh-TW" altLang="en-US" i="1" smtClean="0">
                            <a:latin typeface="Cambria Math"/>
                          </a:rPr>
                        </m:ctrlPr>
                      </m:radPr>
                      <m:deg>
                        <m:r>
                          <m:rPr>
                            <m:brk m:alnAt="7"/>
                          </m:rPr>
                          <a:rPr lang="en-US" altLang="zh-TW" b="0" i="1" smtClean="0">
                            <a:latin typeface="Cambria Math"/>
                          </a:rPr>
                          <m:t>𝑛</m:t>
                        </m:r>
                      </m:deg>
                      <m:e>
                        <m:sSub>
                          <m:sSubPr>
                            <m:ctrlPr>
                              <a:rPr lang="en-US" altLang="zh-TW" i="1" smtClean="0">
                                <a:latin typeface="Cambria Math"/>
                              </a:rPr>
                            </m:ctrlPr>
                          </m:sSubPr>
                          <m:e>
                            <m:r>
                              <a:rPr lang="en-US" altLang="zh-TW" b="0" i="1" smtClean="0">
                                <a:latin typeface="Cambria Math"/>
                              </a:rPr>
                              <m:t>𝑅</m:t>
                            </m:r>
                          </m:e>
                          <m:sub>
                            <m:r>
                              <a:rPr lang="en-US" altLang="zh-TW" b="0" i="1" smtClean="0">
                                <a:latin typeface="Cambria Math"/>
                              </a:rPr>
                              <m:t>𝑐</m:t>
                            </m:r>
                          </m:sub>
                        </m:sSub>
                      </m:e>
                    </m:rad>
                  </m:oMath>
                </a14:m>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887"/>
                </a:stretch>
              </a:blipFill>
            </p:spPr>
            <p:txBody>
              <a:bodyPr/>
              <a:lstStyle/>
              <a:p>
                <a:r>
                  <a:rPr lang="zh-TW" altLang="en-US">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55576" y="4941168"/>
            <a:ext cx="7153275" cy="130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58796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14:m>
                  <m:oMath xmlns:m="http://schemas.openxmlformats.org/officeDocument/2006/math">
                    <m:acc>
                      <m:accPr>
                        <m:chr m:val="̅"/>
                        <m:ctrlPr>
                          <a:rPr lang="en-US" altLang="zh-TW" i="1" smtClean="0">
                            <a:latin typeface="Cambria Math"/>
                          </a:rPr>
                        </m:ctrlPr>
                      </m:accPr>
                      <m:e>
                        <m:sSub>
                          <m:sSubPr>
                            <m:ctrlPr>
                              <a:rPr lang="en-US" altLang="zh-TW" i="1" smtClean="0">
                                <a:latin typeface="Cambria Math"/>
                              </a:rPr>
                            </m:ctrlPr>
                          </m:sSubPr>
                          <m:e>
                            <m:r>
                              <a:rPr lang="en-US" altLang="zh-TW" b="0" i="1" smtClean="0">
                                <a:latin typeface="Cambria Math"/>
                              </a:rPr>
                              <m:t>𝑅</m:t>
                            </m:r>
                          </m:e>
                          <m:sub>
                            <m:r>
                              <a:rPr lang="en-US" altLang="zh-TW" b="0" i="1" smtClean="0">
                                <a:latin typeface="Cambria Math"/>
                              </a:rPr>
                              <m:t>𝑡</m:t>
                            </m:r>
                          </m:sub>
                        </m:sSub>
                      </m:e>
                    </m:acc>
                    <m:r>
                      <a:rPr lang="en-US" altLang="zh-TW" b="0" i="1" smtClean="0">
                        <a:latin typeface="Cambria Math"/>
                      </a:rPr>
                      <m:t>=</m:t>
                    </m:r>
                    <m:f>
                      <m:fPr>
                        <m:ctrlPr>
                          <a:rPr lang="en-US" altLang="zh-TW" b="0" i="1" smtClean="0">
                            <a:latin typeface="Cambria Math"/>
                          </a:rPr>
                        </m:ctrlPr>
                      </m:fPr>
                      <m:num>
                        <m:r>
                          <a:rPr lang="en-US" altLang="zh-TW" b="0" i="1" smtClean="0">
                            <a:latin typeface="Cambria Math"/>
                          </a:rPr>
                          <m:t>1</m:t>
                        </m:r>
                      </m:num>
                      <m:den>
                        <m:r>
                          <a:rPr lang="en-US" altLang="zh-TW" b="0" i="1" smtClean="0">
                            <a:latin typeface="Cambria Math"/>
                          </a:rPr>
                          <m:t>𝑚</m:t>
                        </m:r>
                      </m:den>
                    </m:f>
                    <m:nary>
                      <m:naryPr>
                        <m:chr m:val="∑"/>
                        <m:ctrlPr>
                          <a:rPr lang="en-US" altLang="zh-TW" b="0" i="1" smtClean="0">
                            <a:latin typeface="Cambria Math"/>
                          </a:rPr>
                        </m:ctrlPr>
                      </m:naryPr>
                      <m:sub>
                        <m:r>
                          <m:rPr>
                            <m:brk m:alnAt="23"/>
                          </m:rPr>
                          <a:rPr lang="en-US" altLang="zh-TW" b="0" i="1" smtClean="0">
                            <a:latin typeface="Cambria Math"/>
                          </a:rPr>
                          <m:t>𝑖</m:t>
                        </m:r>
                        <m:r>
                          <a:rPr lang="en-US" altLang="zh-TW" b="0" i="1" smtClean="0">
                            <a:latin typeface="Cambria Math"/>
                          </a:rPr>
                          <m:t>=1</m:t>
                        </m:r>
                      </m:sub>
                      <m:sup>
                        <m:r>
                          <a:rPr lang="en-US" altLang="zh-TW" b="0" i="1" smtClean="0">
                            <a:latin typeface="Cambria Math"/>
                          </a:rPr>
                          <m:t>𝑚</m:t>
                        </m:r>
                      </m:sup>
                      <m:e>
                        <m:sSub>
                          <m:sSubPr>
                            <m:ctrlPr>
                              <a:rPr lang="en-US" altLang="zh-TW" b="0" i="1" smtClean="0">
                                <a:latin typeface="Cambria Math"/>
                              </a:rPr>
                            </m:ctrlPr>
                          </m:sSubPr>
                          <m:e>
                            <m:r>
                              <a:rPr lang="en-US" altLang="zh-TW" b="0" i="1" smtClean="0">
                                <a:latin typeface="Cambria Math"/>
                              </a:rPr>
                              <m:t>𝑅</m:t>
                            </m:r>
                          </m:e>
                          <m:sub>
                            <m:r>
                              <a:rPr lang="en-US" altLang="zh-TW" b="0" i="1" smtClean="0">
                                <a:latin typeface="Cambria Math"/>
                              </a:rPr>
                              <m:t>𝑡</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𝑠</m:t>
                            </m:r>
                          </m:e>
                          <m:sub>
                            <m:r>
                              <a:rPr lang="en-US" altLang="zh-TW" b="0" i="1" smtClean="0">
                                <a:latin typeface="Cambria Math"/>
                              </a:rPr>
                              <m:t>𝑖</m:t>
                            </m:r>
                            <m:r>
                              <a:rPr lang="en-US" altLang="zh-TW" b="0" i="1" smtClean="0">
                                <a:latin typeface="Cambria Math"/>
                              </a:rPr>
                              <m:t>,</m:t>
                            </m:r>
                            <m:r>
                              <a:rPr lang="en-US" altLang="zh-TW" b="0" i="1" smtClean="0">
                                <a:latin typeface="Cambria Math"/>
                              </a:rPr>
                              <m:t>𝑡</m:t>
                            </m:r>
                          </m:sub>
                        </m:sSub>
                        <m:r>
                          <a:rPr lang="en-US" altLang="zh-TW" b="0" i="1" smtClean="0">
                            <a:latin typeface="Cambria Math"/>
                          </a:rPr>
                          <m:t>)</m:t>
                        </m:r>
                      </m:e>
                    </m:nary>
                  </m:oMath>
                </a14:m>
                <a:endParaRPr lang="en-US" altLang="zh-TW" b="0" dirty="0" smtClean="0"/>
              </a:p>
              <a:p>
                <a:pPr lvl="1"/>
                <a14:m>
                  <m:oMath xmlns:m="http://schemas.openxmlformats.org/officeDocument/2006/math">
                    <m:sSub>
                      <m:sSubPr>
                        <m:ctrlPr>
                          <a:rPr lang="en-US" altLang="zh-TW" b="0" i="1" smtClean="0">
                            <a:latin typeface="Cambria Math"/>
                          </a:rPr>
                        </m:ctrlPr>
                      </m:sSubPr>
                      <m:e>
                        <m:r>
                          <a:rPr lang="en-US" altLang="zh-TW" b="0" i="1" smtClean="0">
                            <a:latin typeface="Cambria Math"/>
                          </a:rPr>
                          <m:t>𝑠</m:t>
                        </m:r>
                      </m:e>
                      <m:sub>
                        <m:r>
                          <a:rPr lang="en-US" altLang="zh-TW" b="0" i="1" smtClean="0">
                            <a:latin typeface="Cambria Math"/>
                          </a:rPr>
                          <m:t>𝑖</m:t>
                        </m:r>
                        <m:r>
                          <a:rPr lang="en-US" altLang="zh-TW" b="0" i="1" smtClean="0">
                            <a:latin typeface="Cambria Math"/>
                          </a:rPr>
                          <m:t>,</m:t>
                        </m:r>
                        <m:r>
                          <a:rPr lang="en-US" altLang="zh-TW" b="0" i="1" smtClean="0">
                            <a:latin typeface="Cambria Math"/>
                          </a:rPr>
                          <m:t>𝑡</m:t>
                        </m:r>
                      </m:sub>
                    </m:sSub>
                  </m:oMath>
                </a14:m>
                <a:r>
                  <a:rPr lang="en-US" altLang="zh-TW" dirty="0" smtClean="0"/>
                  <a:t> is the </a:t>
                </a:r>
                <a:r>
                  <a:rPr lang="en-US" altLang="zh-TW" i="1" dirty="0" err="1" smtClean="0"/>
                  <a:t>i-th</a:t>
                </a:r>
                <a:r>
                  <a:rPr lang="en-US" altLang="zh-TW" dirty="0" smtClean="0"/>
                  <a:t> ranked stock at time t;</a:t>
                </a:r>
              </a:p>
              <a:p>
                <a:pPr lvl="1"/>
                <a14:m>
                  <m:oMath xmlns:m="http://schemas.openxmlformats.org/officeDocument/2006/math">
                    <m:sSub>
                      <m:sSubPr>
                        <m:ctrlPr>
                          <a:rPr lang="en-US" altLang="zh-TW" b="0" i="1" smtClean="0">
                            <a:latin typeface="Cambria Math"/>
                          </a:rPr>
                        </m:ctrlPr>
                      </m:sSubPr>
                      <m:e>
                        <m:r>
                          <a:rPr lang="en-US" altLang="zh-TW" b="0" i="1" smtClean="0">
                            <a:latin typeface="Cambria Math"/>
                          </a:rPr>
                          <m:t>𝑅</m:t>
                        </m:r>
                      </m:e>
                      <m:sub>
                        <m:r>
                          <a:rPr lang="en-US" altLang="zh-TW" b="0" i="1" smtClean="0">
                            <a:latin typeface="Cambria Math"/>
                          </a:rPr>
                          <m:t>𝑡</m:t>
                        </m:r>
                      </m:sub>
                    </m:sSub>
                  </m:oMath>
                </a14:m>
                <a:r>
                  <a:rPr lang="en-US" altLang="zh-TW" dirty="0" smtClean="0"/>
                  <a:t> is the actual return for a stock at time t </a:t>
                </a:r>
              </a:p>
              <a:p>
                <a:pPr lvl="1"/>
                <a14:m>
                  <m:oMath xmlns:m="http://schemas.openxmlformats.org/officeDocument/2006/math">
                    <m:acc>
                      <m:accPr>
                        <m:chr m:val="̅"/>
                        <m:ctrlPr>
                          <a:rPr lang="en-US" altLang="zh-TW" i="1" smtClean="0">
                            <a:latin typeface="Cambria Math"/>
                          </a:rPr>
                        </m:ctrlPr>
                      </m:accPr>
                      <m:e>
                        <m:sSub>
                          <m:sSubPr>
                            <m:ctrlPr>
                              <a:rPr lang="en-US" altLang="zh-TW" i="1" smtClean="0">
                                <a:latin typeface="Cambria Math"/>
                              </a:rPr>
                            </m:ctrlPr>
                          </m:sSubPr>
                          <m:e>
                            <m:r>
                              <a:rPr lang="en-US" altLang="zh-TW" b="0" i="1" smtClean="0">
                                <a:latin typeface="Cambria Math"/>
                              </a:rPr>
                              <m:t>𝑅</m:t>
                            </m:r>
                          </m:e>
                          <m:sub>
                            <m:r>
                              <a:rPr lang="en-US" altLang="zh-TW" b="0" i="1" smtClean="0">
                                <a:latin typeface="Cambria Math"/>
                              </a:rPr>
                              <m:t>𝑡</m:t>
                            </m:r>
                          </m:sub>
                        </m:sSub>
                      </m:e>
                    </m:acc>
                  </m:oMath>
                </a14:m>
                <a:r>
                  <a:rPr lang="en-US" altLang="zh-TW" dirty="0" smtClean="0"/>
                  <a:t> is the average return over all the m stocks in the portfolio at time t.</a:t>
                </a:r>
              </a:p>
              <a:p>
                <a14:m>
                  <m:oMath xmlns:m="http://schemas.openxmlformats.org/officeDocument/2006/math">
                    <m:sSub>
                      <m:sSubPr>
                        <m:ctrlPr>
                          <a:rPr lang="en-US" altLang="zh-TW" i="1" smtClean="0">
                            <a:latin typeface="Cambria Math"/>
                          </a:rPr>
                        </m:ctrlPr>
                      </m:sSubPr>
                      <m:e>
                        <m:r>
                          <a:rPr lang="en-US" altLang="zh-TW" b="0" i="1" smtClean="0">
                            <a:latin typeface="Cambria Math"/>
                          </a:rPr>
                          <m:t>𝑅</m:t>
                        </m:r>
                      </m:e>
                      <m:sub>
                        <m:r>
                          <a:rPr lang="en-US" altLang="zh-TW" b="0" i="1" smtClean="0">
                            <a:latin typeface="Cambria Math"/>
                          </a:rPr>
                          <m:t>𝑐</m:t>
                        </m:r>
                      </m:sub>
                    </m:sSub>
                    <m:r>
                      <a:rPr lang="en-US" altLang="zh-TW" b="0" i="1" smtClean="0">
                        <a:latin typeface="Cambria Math"/>
                      </a:rPr>
                      <m:t>=</m:t>
                    </m:r>
                    <m:nary>
                      <m:naryPr>
                        <m:chr m:val="∏"/>
                        <m:ctrlPr>
                          <a:rPr lang="en-US" altLang="zh-TW" b="0" i="1" smtClean="0">
                            <a:latin typeface="Cambria Math"/>
                          </a:rPr>
                        </m:ctrlPr>
                      </m:naryPr>
                      <m:sub>
                        <m:r>
                          <m:rPr>
                            <m:brk m:alnAt="23"/>
                          </m:rPr>
                          <a:rPr lang="en-US" altLang="zh-TW" b="0" i="1" smtClean="0">
                            <a:latin typeface="Cambria Math"/>
                          </a:rPr>
                          <m:t>𝑡</m:t>
                        </m:r>
                        <m:r>
                          <a:rPr lang="en-US" altLang="zh-TW" b="0" i="1" smtClean="0">
                            <a:latin typeface="Cambria Math"/>
                          </a:rPr>
                          <m:t>=1</m:t>
                        </m:r>
                      </m:sub>
                      <m:sup>
                        <m:r>
                          <a:rPr lang="en-US" altLang="zh-TW" b="0" i="1" smtClean="0">
                            <a:latin typeface="Cambria Math"/>
                          </a:rPr>
                          <m:t>𝑛</m:t>
                        </m:r>
                      </m:sup>
                      <m:e>
                        <m:acc>
                          <m:accPr>
                            <m:chr m:val="̅"/>
                            <m:ctrlPr>
                              <a:rPr lang="en-US" altLang="zh-TW" i="1" smtClean="0">
                                <a:latin typeface="Cambria Math"/>
                              </a:rPr>
                            </m:ctrlPr>
                          </m:accPr>
                          <m:e>
                            <m:sSub>
                              <m:sSubPr>
                                <m:ctrlPr>
                                  <a:rPr lang="en-US" altLang="zh-TW" i="1" smtClean="0">
                                    <a:latin typeface="Cambria Math"/>
                                  </a:rPr>
                                </m:ctrlPr>
                              </m:sSubPr>
                              <m:e>
                                <m:r>
                                  <a:rPr lang="en-US" altLang="zh-TW" b="0" i="1" smtClean="0">
                                    <a:latin typeface="Cambria Math"/>
                                  </a:rPr>
                                  <m:t>𝑅</m:t>
                                </m:r>
                              </m:e>
                              <m:sub>
                                <m:r>
                                  <a:rPr lang="en-US" altLang="zh-TW" b="0" i="1" smtClean="0">
                                    <a:latin typeface="Cambria Math"/>
                                  </a:rPr>
                                  <m:t>𝑡</m:t>
                                </m:r>
                              </m:sub>
                            </m:sSub>
                          </m:e>
                        </m:acc>
                      </m:e>
                    </m:nary>
                  </m:oMath>
                </a14:m>
                <a:endParaRPr lang="en-US" altLang="zh-TW" dirty="0" smtClean="0"/>
              </a:p>
              <a:p>
                <a:pPr lvl="1"/>
                <a:r>
                  <a:rPr lang="en-US" altLang="zh-TW" dirty="0" smtClean="0"/>
                  <a:t> n is the </a:t>
                </a:r>
                <a:r>
                  <a:rPr lang="en-US" altLang="zh-TW" i="1" dirty="0" smtClean="0"/>
                  <a:t>n-</a:t>
                </a:r>
                <a:r>
                  <a:rPr lang="en-US" altLang="zh-TW" i="1" dirty="0" err="1" smtClean="0"/>
                  <a:t>th</a:t>
                </a:r>
                <a:r>
                  <a:rPr lang="en-US" altLang="zh-TW" i="1" dirty="0" smtClean="0"/>
                  <a:t/>
                </a:r>
                <a:r>
                  <a:rPr lang="en-US" altLang="zh-TW" dirty="0" smtClean="0"/>
                  <a:t>of </a:t>
                </a:r>
                <a:r>
                  <a:rPr lang="en-US" altLang="zh-TW" dirty="0"/>
                  <a:t>consecutive</a:t>
                </a:r>
                <a:r>
                  <a:rPr lang="en-US" altLang="zh-TW" dirty="0" smtClean="0"/>
                  <a:t> year</a:t>
                </a: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421400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Flow chart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627784" y="1340768"/>
            <a:ext cx="3609975" cy="51339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613836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Attributes</a:t>
            </a:r>
            <a:endParaRPr lang="zh-TW" alt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1233047"/>
            <a:ext cx="7711558" cy="51785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88562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Empirical results</a:t>
            </a:r>
            <a:endParaRPr lang="zh-TW" altLang="en-US" dirty="0"/>
          </a:p>
        </p:txBody>
      </p:sp>
      <p:sp>
        <p:nvSpPr>
          <p:cNvPr id="3" name="內容版面配置區 2"/>
          <p:cNvSpPr>
            <a:spLocks noGrp="1"/>
          </p:cNvSpPr>
          <p:nvPr>
            <p:ph idx="1"/>
          </p:nvPr>
        </p:nvSpPr>
        <p:spPr/>
        <p:txBody>
          <a:bodyPr/>
          <a:lstStyle/>
          <a:p>
            <a:r>
              <a:rPr lang="en-US" altLang="zh-TW" dirty="0"/>
              <a:t>200 largest market </a:t>
            </a:r>
            <a:r>
              <a:rPr lang="en-US" altLang="zh-TW" dirty="0" smtClean="0"/>
              <a:t>capitalizations listed </a:t>
            </a:r>
            <a:r>
              <a:rPr lang="en-US" altLang="zh-TW" dirty="0"/>
              <a:t>in the Taiwan Stock </a:t>
            </a:r>
            <a:r>
              <a:rPr lang="en-US" altLang="zh-TW" dirty="0" smtClean="0"/>
              <a:t>Exchange. (TEJ)</a:t>
            </a:r>
          </a:p>
          <a:p>
            <a:r>
              <a:rPr lang="en-US" altLang="zh-TW" smtClean="0"/>
              <a:t>Every </a:t>
            </a:r>
            <a:r>
              <a:rPr lang="en-US" altLang="zh-TW" dirty="0"/>
              <a:t>original attribute is scaled into the range of [−1, 1] by subtracting the mean, and dividing the result by the standard deviation</a:t>
            </a:r>
            <a:endParaRPr lang="zh-TW" altLang="en-US" dirty="0"/>
          </a:p>
        </p:txBody>
      </p:sp>
    </p:spTree>
    <p:extLst>
      <p:ext uri="{BB962C8B-B14F-4D97-AF65-F5344CB8AC3E}">
        <p14:creationId xmlns:p14="http://schemas.microsoft.com/office/powerpoint/2010/main" xmlns="" val="2925481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771650" y="1628800"/>
            <a:ext cx="5600700" cy="47625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017684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3482332"/>
            <a:ext cx="8229600" cy="1143000"/>
          </a:xfrm>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79512" y="3468342"/>
            <a:ext cx="8627385" cy="305700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2" name="文字方塊 11"/>
          <p:cNvSpPr txBox="1"/>
          <p:nvPr/>
        </p:nvSpPr>
        <p:spPr>
          <a:xfrm>
            <a:off x="6876256" y="436168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6" name="文字方塊 15"/>
          <p:cNvSpPr txBox="1"/>
          <p:nvPr/>
        </p:nvSpPr>
        <p:spPr>
          <a:xfrm>
            <a:off x="6876256" y="451408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7" name="文字方塊 16"/>
          <p:cNvSpPr txBox="1"/>
          <p:nvPr/>
        </p:nvSpPr>
        <p:spPr>
          <a:xfrm>
            <a:off x="6876256" y="4620470"/>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8" name="文字方塊 17"/>
          <p:cNvSpPr txBox="1"/>
          <p:nvPr/>
        </p:nvSpPr>
        <p:spPr>
          <a:xfrm>
            <a:off x="6876256" y="4764486"/>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9" name="文字方塊 18"/>
          <p:cNvSpPr txBox="1"/>
          <p:nvPr/>
        </p:nvSpPr>
        <p:spPr>
          <a:xfrm>
            <a:off x="6876256" y="4899210"/>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0" name="文字方塊 19"/>
          <p:cNvSpPr txBox="1"/>
          <p:nvPr/>
        </p:nvSpPr>
        <p:spPr>
          <a:xfrm>
            <a:off x="6830692" y="505251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1" name="文字方塊 20"/>
          <p:cNvSpPr txBox="1"/>
          <p:nvPr/>
        </p:nvSpPr>
        <p:spPr>
          <a:xfrm>
            <a:off x="6812748" y="5196534"/>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2" name="文字方塊 21"/>
          <p:cNvSpPr txBox="1"/>
          <p:nvPr/>
        </p:nvSpPr>
        <p:spPr>
          <a:xfrm>
            <a:off x="6804248" y="5340550"/>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3" name="文字方塊 22"/>
          <p:cNvSpPr txBox="1"/>
          <p:nvPr/>
        </p:nvSpPr>
        <p:spPr>
          <a:xfrm>
            <a:off x="6804248" y="5475274"/>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4" name="文字方塊 23"/>
          <p:cNvSpPr txBox="1"/>
          <p:nvPr/>
        </p:nvSpPr>
        <p:spPr>
          <a:xfrm>
            <a:off x="6804248" y="605133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5" name="文字方塊 34"/>
          <p:cNvSpPr txBox="1"/>
          <p:nvPr/>
        </p:nvSpPr>
        <p:spPr>
          <a:xfrm>
            <a:off x="5796136" y="5619290"/>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40" name="文字方塊 39"/>
          <p:cNvSpPr txBox="1"/>
          <p:nvPr/>
        </p:nvSpPr>
        <p:spPr>
          <a:xfrm>
            <a:off x="5796136" y="5763306"/>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41" name="文字方塊 40"/>
          <p:cNvSpPr txBox="1"/>
          <p:nvPr/>
        </p:nvSpPr>
        <p:spPr>
          <a:xfrm>
            <a:off x="5757786" y="5907322"/>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pic>
        <p:nvPicPr>
          <p:cNvPr id="42"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79512" y="548680"/>
            <a:ext cx="5112568" cy="262587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398112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38439" y="3581527"/>
            <a:ext cx="8266009" cy="297549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7" name="文字方塊 6"/>
          <p:cNvSpPr txBox="1"/>
          <p:nvPr/>
        </p:nvSpPr>
        <p:spPr>
          <a:xfrm>
            <a:off x="6699673" y="4643844"/>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9" name="文字方塊 8"/>
          <p:cNvSpPr txBox="1"/>
          <p:nvPr/>
        </p:nvSpPr>
        <p:spPr>
          <a:xfrm>
            <a:off x="6699673" y="4509120"/>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0" name="文字方塊 9"/>
          <p:cNvSpPr txBox="1"/>
          <p:nvPr/>
        </p:nvSpPr>
        <p:spPr>
          <a:xfrm>
            <a:off x="6699673" y="4725144"/>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1" name="文字方塊 10"/>
          <p:cNvSpPr txBox="1"/>
          <p:nvPr/>
        </p:nvSpPr>
        <p:spPr>
          <a:xfrm>
            <a:off x="6699673" y="4869160"/>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2" name="文字方塊 11"/>
          <p:cNvSpPr txBox="1"/>
          <p:nvPr/>
        </p:nvSpPr>
        <p:spPr>
          <a:xfrm>
            <a:off x="6699673" y="5013176"/>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3" name="文字方塊 12"/>
          <p:cNvSpPr txBox="1"/>
          <p:nvPr/>
        </p:nvSpPr>
        <p:spPr>
          <a:xfrm>
            <a:off x="6699673" y="5147900"/>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4" name="文字方塊 13"/>
          <p:cNvSpPr txBox="1"/>
          <p:nvPr/>
        </p:nvSpPr>
        <p:spPr>
          <a:xfrm>
            <a:off x="6699673" y="5291916"/>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5" name="文字方塊 14"/>
          <p:cNvSpPr txBox="1"/>
          <p:nvPr/>
        </p:nvSpPr>
        <p:spPr>
          <a:xfrm>
            <a:off x="6699673" y="5435932"/>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6" name="文字方塊 15"/>
          <p:cNvSpPr txBox="1"/>
          <p:nvPr/>
        </p:nvSpPr>
        <p:spPr>
          <a:xfrm>
            <a:off x="6699673" y="5517232"/>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7" name="文字方塊 16"/>
          <p:cNvSpPr txBox="1"/>
          <p:nvPr/>
        </p:nvSpPr>
        <p:spPr>
          <a:xfrm>
            <a:off x="6699673" y="5651956"/>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8" name="文字方塊 17"/>
          <p:cNvSpPr txBox="1"/>
          <p:nvPr/>
        </p:nvSpPr>
        <p:spPr>
          <a:xfrm>
            <a:off x="5763569" y="5795972"/>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19" name="文字方塊 18"/>
          <p:cNvSpPr txBox="1"/>
          <p:nvPr/>
        </p:nvSpPr>
        <p:spPr>
          <a:xfrm>
            <a:off x="6699673" y="5939988"/>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0" name="文字方塊 19"/>
          <p:cNvSpPr txBox="1"/>
          <p:nvPr/>
        </p:nvSpPr>
        <p:spPr>
          <a:xfrm>
            <a:off x="6699673" y="6021288"/>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1" name="文字方塊 20"/>
          <p:cNvSpPr txBox="1"/>
          <p:nvPr/>
        </p:nvSpPr>
        <p:spPr>
          <a:xfrm>
            <a:off x="6699673" y="6165304"/>
            <a:ext cx="367891"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pic>
        <p:nvPicPr>
          <p:cNvPr id="22"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48307" y="338649"/>
            <a:ext cx="8711146" cy="309634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3" name="文字方塊 22"/>
          <p:cNvSpPr txBox="1"/>
          <p:nvPr/>
        </p:nvSpPr>
        <p:spPr>
          <a:xfrm>
            <a:off x="6876256" y="2501792"/>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4" name="文字方塊 23"/>
          <p:cNvSpPr txBox="1"/>
          <p:nvPr/>
        </p:nvSpPr>
        <p:spPr>
          <a:xfrm>
            <a:off x="6876256" y="1277656"/>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5" name="文字方塊 24"/>
          <p:cNvSpPr txBox="1"/>
          <p:nvPr/>
        </p:nvSpPr>
        <p:spPr>
          <a:xfrm>
            <a:off x="6876256" y="1430964"/>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6" name="文字方塊 25"/>
          <p:cNvSpPr txBox="1"/>
          <p:nvPr/>
        </p:nvSpPr>
        <p:spPr>
          <a:xfrm>
            <a:off x="6876256" y="156568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7" name="文字方塊 26"/>
          <p:cNvSpPr txBox="1"/>
          <p:nvPr/>
        </p:nvSpPr>
        <p:spPr>
          <a:xfrm>
            <a:off x="6876256" y="1709704"/>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8" name="文字方塊 27"/>
          <p:cNvSpPr txBox="1"/>
          <p:nvPr/>
        </p:nvSpPr>
        <p:spPr>
          <a:xfrm>
            <a:off x="6876256" y="1853720"/>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29" name="文字方塊 28"/>
          <p:cNvSpPr txBox="1"/>
          <p:nvPr/>
        </p:nvSpPr>
        <p:spPr>
          <a:xfrm>
            <a:off x="6876256" y="1935020"/>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0" name="文字方塊 29"/>
          <p:cNvSpPr txBox="1"/>
          <p:nvPr/>
        </p:nvSpPr>
        <p:spPr>
          <a:xfrm>
            <a:off x="6876256" y="2119686"/>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1" name="文字方塊 30"/>
          <p:cNvSpPr txBox="1"/>
          <p:nvPr/>
        </p:nvSpPr>
        <p:spPr>
          <a:xfrm>
            <a:off x="6876256" y="228576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2" name="文字方塊 31"/>
          <p:cNvSpPr txBox="1"/>
          <p:nvPr/>
        </p:nvSpPr>
        <p:spPr>
          <a:xfrm>
            <a:off x="6876256" y="236706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3" name="文字方塊 32"/>
          <p:cNvSpPr txBox="1"/>
          <p:nvPr/>
        </p:nvSpPr>
        <p:spPr>
          <a:xfrm>
            <a:off x="6876256" y="2799116"/>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4" name="文字方塊 33"/>
          <p:cNvSpPr txBox="1"/>
          <p:nvPr/>
        </p:nvSpPr>
        <p:spPr>
          <a:xfrm>
            <a:off x="6876256" y="2943132"/>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5" name="文字方塊 34"/>
          <p:cNvSpPr txBox="1"/>
          <p:nvPr/>
        </p:nvSpPr>
        <p:spPr>
          <a:xfrm>
            <a:off x="6876256" y="3087148"/>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
        <p:nvSpPr>
          <p:cNvPr id="36" name="文字方塊 35"/>
          <p:cNvSpPr txBox="1"/>
          <p:nvPr/>
        </p:nvSpPr>
        <p:spPr>
          <a:xfrm>
            <a:off x="5868144" y="2655100"/>
            <a:ext cx="360040" cy="369332"/>
          </a:xfrm>
          <a:prstGeom prst="rect">
            <a:avLst/>
          </a:prstGeom>
          <a:noFill/>
        </p:spPr>
        <p:txBody>
          <a:bodyPr wrap="square" rtlCol="0">
            <a:spAutoFit/>
          </a:bodyPr>
          <a:lstStyle/>
          <a:p>
            <a:r>
              <a:rPr lang="en-US" altLang="zh-TW" dirty="0" smtClean="0">
                <a:solidFill>
                  <a:srgbClr val="FF0000"/>
                </a:solidFill>
              </a:rPr>
              <a:t>*</a:t>
            </a:r>
            <a:endParaRPr lang="zh-TW" altLang="en-US" dirty="0">
              <a:solidFill>
                <a:srgbClr val="FF0000"/>
              </a:solidFill>
            </a:endParaRPr>
          </a:p>
        </p:txBody>
      </p:sp>
    </p:spTree>
    <p:extLst>
      <p:ext uri="{BB962C8B-B14F-4D97-AF65-F5344CB8AC3E}">
        <p14:creationId xmlns:p14="http://schemas.microsoft.com/office/powerpoint/2010/main" xmlns="" val="95462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28110" y="361950"/>
            <a:ext cx="7477125" cy="61341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697664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99592" y="188640"/>
            <a:ext cx="7134225" cy="63436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710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endParaRPr lang="en-US" altLang="zh-TW" dirty="0" smtClean="0"/>
          </a:p>
          <a:p>
            <a:pPr marL="0" indent="0">
              <a:buNone/>
            </a:pPr>
            <a:endParaRPr lang="en-US" altLang="zh-TW" dirty="0" smtClean="0"/>
          </a:p>
          <a:p>
            <a:pPr marL="0" indent="0" algn="ctr">
              <a:buNone/>
            </a:pPr>
            <a:r>
              <a:rPr lang="en-US" altLang="zh-TW" sz="8000" dirty="0" smtClean="0"/>
              <a:t>THE END</a:t>
            </a:r>
            <a:endParaRPr lang="zh-TW" altLang="en-US" sz="8000" dirty="0"/>
          </a:p>
        </p:txBody>
      </p:sp>
    </p:spTree>
    <p:extLst>
      <p:ext uri="{BB962C8B-B14F-4D97-AF65-F5344CB8AC3E}">
        <p14:creationId xmlns:p14="http://schemas.microsoft.com/office/powerpoint/2010/main" xmlns="" val="799786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386</Words>
  <Application>Microsoft Office PowerPoint</Application>
  <PresentationFormat>如螢幕大小 (4:3)</PresentationFormat>
  <Paragraphs>61</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A hybrid stock selection model using genetic algorithms and support vector regression</vt:lpstr>
      <vt:lpstr>Abstract</vt:lpstr>
      <vt:lpstr>Abstract</vt:lpstr>
      <vt:lpstr>簡單來說就是</vt:lpstr>
      <vt:lpstr>投影片 5</vt:lpstr>
      <vt:lpstr>Flow chart</vt:lpstr>
      <vt:lpstr>Attributes</vt:lpstr>
      <vt:lpstr>Empirical results</vt:lpstr>
      <vt:lpstr>投影片 9</vt:lpstr>
      <vt:lpstr>投影片 10</vt:lpstr>
      <vt:lpstr>投影片 11</vt:lpstr>
      <vt:lpstr>投影片 12</vt:lpstr>
      <vt:lpstr>投影片 13</vt:lpstr>
      <vt:lpstr>投影片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LCH</dc:creator>
  <cp:lastModifiedBy>admin</cp:lastModifiedBy>
  <cp:revision>42</cp:revision>
  <dcterms:created xsi:type="dcterms:W3CDTF">2013-06-25T08:20:06Z</dcterms:created>
  <dcterms:modified xsi:type="dcterms:W3CDTF">2013-06-25T12:47:28Z</dcterms:modified>
</cp:coreProperties>
</file>