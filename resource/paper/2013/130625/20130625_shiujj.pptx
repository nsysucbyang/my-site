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85" r:id="rId4"/>
    <p:sldId id="286" r:id="rId5"/>
    <p:sldId id="288" r:id="rId6"/>
    <p:sldId id="287" r:id="rId7"/>
    <p:sldId id="289" r:id="rId8"/>
    <p:sldId id="290" r:id="rId9"/>
    <p:sldId id="291" r:id="rId10"/>
    <p:sldId id="292" r:id="rId11"/>
    <p:sldId id="293" r:id="rId12"/>
    <p:sldId id="294" r:id="rId13"/>
    <p:sldId id="274" r:id="rId1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83" d="100"/>
          <a:sy n="83" d="100"/>
        </p:scale>
        <p:origin x="-126" y="-7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AAB5FB0-B2ED-4E2F-A013-0D3834BF9D53}" type="datetimeFigureOut">
              <a:rPr lang="zh-TW" altLang="en-US" smtClean="0"/>
              <a:pPr/>
              <a:t>2013/6/25</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92BEB50-B6E3-41E8-9C6B-A4F8CEE232D3}" type="slidenum">
              <a:rPr lang="zh-TW" altLang="en-US" smtClean="0"/>
              <a:pPr/>
              <a:t>‹#›</a:t>
            </a:fld>
            <a:endParaRPr lang="zh-TW" altLang="en-US"/>
          </a:p>
        </p:txBody>
      </p:sp>
    </p:spTree>
    <p:extLst>
      <p:ext uri="{BB962C8B-B14F-4D97-AF65-F5344CB8AC3E}">
        <p14:creationId xmlns:p14="http://schemas.microsoft.com/office/powerpoint/2010/main" xmlns="" val="3390206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D598B1FC-FDBC-4A60-9939-D6110C3C3CB7}" type="datetime1">
              <a:rPr lang="zh-TW" altLang="en-US" smtClean="0"/>
              <a:pPr/>
              <a:t>2013/6/25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CF35AA8-C17B-49C4-9F55-79A4DAFC847E}" type="datetime1">
              <a:rPr lang="zh-TW" altLang="en-US" smtClean="0"/>
              <a:pPr/>
              <a:t>2013/6/25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3A96A96A-FC63-4C61-823C-3BD62C2E28B8}" type="datetime1">
              <a:rPr lang="zh-TW" altLang="en-US" smtClean="0"/>
              <a:pPr/>
              <a:t>2013/6/25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F8B2E92E-2B9A-487F-B01B-5FE56D55C6C1}" type="datetime1">
              <a:rPr lang="zh-TW" altLang="en-US" smtClean="0"/>
              <a:pPr/>
              <a:t>2013/6/25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8156AAC1-9B63-4666-BB23-344CDF124E62}" type="datetime1">
              <a:rPr lang="zh-TW" altLang="en-US" smtClean="0"/>
              <a:pPr/>
              <a:t>2013/6/25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05E4E3BB-9CDE-4D13-BBDA-DD98F9CE892D}" type="datetime1">
              <a:rPr lang="zh-TW" altLang="en-US" smtClean="0"/>
              <a:pPr/>
              <a:t>2013/6/25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3F152AD6-3F5F-4500-A699-DD6F81763D72}" type="datetime1">
              <a:rPr lang="zh-TW" altLang="en-US" smtClean="0"/>
              <a:pPr/>
              <a:t>2013/6/25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9B846736-A346-4BC7-ADE5-4A3C96BA101E}" type="datetime1">
              <a:rPr lang="zh-TW" altLang="en-US" smtClean="0"/>
              <a:pPr/>
              <a:t>2013/6/25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2DA39B9C-E24F-4392-968F-01188351DEFA}" type="datetime1">
              <a:rPr lang="zh-TW" altLang="en-US" smtClean="0"/>
              <a:pPr/>
              <a:t>2013/6/25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9F35204-8C53-4A42-8B7A-D264FC744199}" type="datetime1">
              <a:rPr lang="zh-TW" altLang="en-US" smtClean="0"/>
              <a:pPr/>
              <a:t>2013/6/25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2242D6C-28E0-4D29-AD77-CD7D08B3F689}" type="datetime1">
              <a:rPr lang="zh-TW" altLang="en-US" smtClean="0"/>
              <a:pPr/>
              <a:t>2013/6/25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5B5500-5665-4D2C-81B6-CB06C0A843FE}" type="datetime1">
              <a:rPr lang="zh-TW" altLang="en-US" smtClean="0"/>
              <a:pPr/>
              <a:t>2013/6/25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3568" y="1700808"/>
            <a:ext cx="7772400" cy="1470025"/>
          </a:xfrm>
        </p:spPr>
        <p:txBody>
          <a:bodyPr>
            <a:normAutofit/>
          </a:bodyPr>
          <a:lstStyle/>
          <a:p>
            <a:r>
              <a:rPr lang="en-US" altLang="zh-TW" dirty="0" smtClean="0"/>
              <a:t>Center Particle Swarm Optimization</a:t>
            </a:r>
            <a:endParaRPr lang="zh-TW" altLang="en-US" dirty="0"/>
          </a:p>
        </p:txBody>
      </p:sp>
      <p:sp>
        <p:nvSpPr>
          <p:cNvPr id="3" name="副標題 2"/>
          <p:cNvSpPr>
            <a:spLocks noGrp="1"/>
          </p:cNvSpPr>
          <p:nvPr>
            <p:ph type="subTitle" idx="1"/>
          </p:nvPr>
        </p:nvSpPr>
        <p:spPr>
          <a:xfrm>
            <a:off x="1403648" y="3501008"/>
            <a:ext cx="6400800" cy="1752600"/>
          </a:xfrm>
        </p:spPr>
        <p:txBody>
          <a:bodyPr>
            <a:normAutofit/>
          </a:bodyPr>
          <a:lstStyle/>
          <a:p>
            <a:r>
              <a:rPr lang="en-US" altLang="zh-TW" sz="1800" dirty="0" smtClean="0">
                <a:solidFill>
                  <a:schemeClr val="tx1"/>
                </a:solidFill>
                <a:latin typeface="標楷體" pitchFamily="65" charset="-120"/>
                <a:ea typeface="標楷體" pitchFamily="65" charset="-120"/>
              </a:rPr>
              <a:t>Yu </a:t>
            </a:r>
            <a:r>
              <a:rPr lang="en-US" altLang="zh-TW" sz="1800" dirty="0" smtClean="0">
                <a:solidFill>
                  <a:schemeClr val="tx1"/>
                </a:solidFill>
                <a:latin typeface="標楷體" pitchFamily="65" charset="-120"/>
                <a:ea typeface="標楷體" pitchFamily="65" charset="-120"/>
              </a:rPr>
              <a:t>Liu(</a:t>
            </a:r>
            <a:r>
              <a:rPr lang="zh-TW" altLang="en-US" sz="1800" dirty="0" smtClean="0">
                <a:solidFill>
                  <a:schemeClr val="tx1"/>
                </a:solidFill>
                <a:latin typeface="標楷體" pitchFamily="65" charset="-120"/>
                <a:ea typeface="標楷體" pitchFamily="65" charset="-120"/>
              </a:rPr>
              <a:t>劉宇</a:t>
            </a:r>
            <a:r>
              <a:rPr lang="en-US" altLang="zh-TW" sz="1800" dirty="0" smtClean="0">
                <a:solidFill>
                  <a:schemeClr val="tx1"/>
                </a:solidFill>
                <a:latin typeface="標楷體" pitchFamily="65" charset="-120"/>
                <a:ea typeface="標楷體" pitchFamily="65" charset="-120"/>
              </a:rPr>
              <a:t>), </a:t>
            </a:r>
            <a:r>
              <a:rPr lang="en-US" altLang="zh-TW" sz="1800" dirty="0" err="1" smtClean="0">
                <a:solidFill>
                  <a:schemeClr val="tx1"/>
                </a:solidFill>
                <a:latin typeface="標楷體" pitchFamily="65" charset="-120"/>
                <a:ea typeface="標楷體" pitchFamily="65" charset="-120"/>
              </a:rPr>
              <a:t>Zheng</a:t>
            </a:r>
            <a:r>
              <a:rPr lang="en-US" altLang="zh-TW" sz="1800" dirty="0" smtClean="0">
                <a:solidFill>
                  <a:schemeClr val="tx1"/>
                </a:solidFill>
                <a:latin typeface="標楷體" pitchFamily="65" charset="-120"/>
                <a:ea typeface="標楷體" pitchFamily="65" charset="-120"/>
              </a:rPr>
              <a:t> Qin(</a:t>
            </a:r>
            <a:r>
              <a:rPr lang="zh-TW" altLang="en-US" sz="1800" dirty="0">
                <a:solidFill>
                  <a:schemeClr val="tx1"/>
                </a:solidFill>
                <a:latin typeface="標楷體" pitchFamily="65" charset="-120"/>
                <a:ea typeface="標楷體" pitchFamily="65" charset="-120"/>
              </a:rPr>
              <a:t>覃征</a:t>
            </a:r>
            <a:r>
              <a:rPr lang="en-US" altLang="zh-TW" sz="1800" dirty="0" smtClean="0">
                <a:solidFill>
                  <a:schemeClr val="tx1"/>
                </a:solidFill>
                <a:latin typeface="標楷體" pitchFamily="65" charset="-120"/>
                <a:ea typeface="標楷體" pitchFamily="65" charset="-120"/>
              </a:rPr>
              <a:t>), </a:t>
            </a:r>
            <a:r>
              <a:rPr lang="en-US" altLang="zh-TW" sz="1800" dirty="0" err="1" smtClean="0">
                <a:solidFill>
                  <a:schemeClr val="tx1"/>
                </a:solidFill>
                <a:latin typeface="標楷體" pitchFamily="65" charset="-120"/>
                <a:ea typeface="標楷體" pitchFamily="65" charset="-120"/>
              </a:rPr>
              <a:t>Zhewen</a:t>
            </a:r>
            <a:r>
              <a:rPr lang="en-US" altLang="zh-TW" sz="1800" dirty="0" smtClean="0">
                <a:solidFill>
                  <a:schemeClr val="tx1"/>
                </a:solidFill>
                <a:latin typeface="標楷體" pitchFamily="65" charset="-120"/>
                <a:ea typeface="標楷體" pitchFamily="65" charset="-120"/>
              </a:rPr>
              <a:t> </a:t>
            </a:r>
            <a:r>
              <a:rPr lang="en-US" altLang="zh-TW" sz="1800" dirty="0" smtClean="0">
                <a:solidFill>
                  <a:schemeClr val="tx1"/>
                </a:solidFill>
                <a:latin typeface="標楷體" pitchFamily="65" charset="-120"/>
                <a:ea typeface="標楷體" pitchFamily="65" charset="-120"/>
              </a:rPr>
              <a:t>Shi(</a:t>
            </a:r>
            <a:r>
              <a:rPr lang="zh-TW" altLang="en-US" sz="1800" dirty="0" smtClean="0">
                <a:solidFill>
                  <a:schemeClr val="tx1"/>
                </a:solidFill>
                <a:latin typeface="標楷體" pitchFamily="65" charset="-120"/>
                <a:ea typeface="標楷體" pitchFamily="65" charset="-120"/>
              </a:rPr>
              <a:t>史哲文</a:t>
            </a:r>
            <a:r>
              <a:rPr lang="en-US" altLang="zh-TW" sz="1800" dirty="0" smtClean="0">
                <a:solidFill>
                  <a:schemeClr val="tx1"/>
                </a:solidFill>
                <a:latin typeface="標楷體" pitchFamily="65" charset="-120"/>
                <a:ea typeface="標楷體" pitchFamily="65" charset="-120"/>
              </a:rPr>
              <a:t>), Jiang Lu</a:t>
            </a:r>
            <a:endParaRPr lang="en-US" altLang="zh-TW" sz="1800" baseline="30000" dirty="0" smtClean="0">
              <a:solidFill>
                <a:schemeClr val="tx1"/>
              </a:solidFill>
              <a:latin typeface="標楷體" pitchFamily="65" charset="-120"/>
              <a:ea typeface="標楷體" pitchFamily="65" charset="-120"/>
            </a:endParaRPr>
          </a:p>
          <a:p>
            <a:r>
              <a:rPr lang="fr-FR" altLang="zh-TW" sz="1800" dirty="0" smtClean="0">
                <a:solidFill>
                  <a:schemeClr val="tx1"/>
                </a:solidFill>
                <a:latin typeface="標楷體" pitchFamily="65" charset="-120"/>
                <a:ea typeface="標楷體" pitchFamily="65" charset="-120"/>
              </a:rPr>
              <a:t>Neurocomputing 70 (2007) </a:t>
            </a:r>
            <a:r>
              <a:rPr lang="en-US" altLang="zh-TW" sz="1800" dirty="0" smtClean="0">
                <a:solidFill>
                  <a:schemeClr val="tx1"/>
                </a:solidFill>
                <a:latin typeface="標楷體" pitchFamily="65" charset="-120"/>
                <a:ea typeface="標楷體" pitchFamily="65" charset="-120"/>
              </a:rPr>
              <a:t>672-679</a:t>
            </a:r>
            <a:endParaRPr lang="fr-FR" altLang="zh-TW" sz="1800" dirty="0" smtClean="0">
              <a:solidFill>
                <a:schemeClr val="tx1"/>
              </a:solidFill>
              <a:latin typeface="標楷體" pitchFamily="65" charset="-120"/>
              <a:ea typeface="標楷體" pitchFamily="65" charset="-120"/>
            </a:endParaRPr>
          </a:p>
          <a:p>
            <a:r>
              <a:rPr lang="fr-FR" altLang="zh-TW" sz="1800" dirty="0" smtClean="0">
                <a:solidFill>
                  <a:schemeClr val="tx1"/>
                </a:solidFill>
                <a:latin typeface="標楷體" pitchFamily="65" charset="-120"/>
                <a:ea typeface="標楷體" pitchFamily="65" charset="-120"/>
              </a:rPr>
              <a:t>Presenter</a:t>
            </a:r>
            <a:r>
              <a:rPr lang="fr-FR" altLang="zh-TW" sz="1800" dirty="0">
                <a:solidFill>
                  <a:schemeClr val="tx1"/>
                </a:solidFill>
                <a:latin typeface="標楷體" pitchFamily="65" charset="-120"/>
                <a:ea typeface="標楷體" pitchFamily="65" charset="-120"/>
              </a:rPr>
              <a:t>: </a:t>
            </a:r>
            <a:r>
              <a:rPr lang="zh-TW" altLang="en-US" sz="1800" dirty="0">
                <a:solidFill>
                  <a:schemeClr val="tx1"/>
                </a:solidFill>
                <a:latin typeface="標楷體" pitchFamily="65" charset="-120"/>
                <a:ea typeface="標楷體" pitchFamily="65" charset="-120"/>
              </a:rPr>
              <a:t>許竣傑</a:t>
            </a:r>
            <a:endParaRPr lang="en-US" altLang="zh-TW" sz="1800" dirty="0">
              <a:solidFill>
                <a:schemeClr val="tx1"/>
              </a:solidFill>
              <a:latin typeface="標楷體" pitchFamily="65" charset="-120"/>
              <a:ea typeface="標楷體" pitchFamily="65" charset="-120"/>
            </a:endParaRPr>
          </a:p>
          <a:p>
            <a:r>
              <a:rPr lang="fr-FR" altLang="zh-TW" sz="1800" dirty="0" smtClean="0">
                <a:solidFill>
                  <a:schemeClr val="tx1"/>
                </a:solidFill>
                <a:latin typeface="標楷體" pitchFamily="65" charset="-120"/>
                <a:ea typeface="標楷體" pitchFamily="65" charset="-120"/>
              </a:rPr>
              <a:t>2013/6/25</a:t>
            </a:r>
            <a:endParaRPr lang="it-IT" altLang="zh-TW" sz="1800" dirty="0" smtClean="0">
              <a:latin typeface="標楷體" pitchFamily="65" charset="-120"/>
              <a:ea typeface="標楷體" pitchFamily="65" charset="-120"/>
            </a:endParaRPr>
          </a:p>
          <a:p>
            <a:endParaRPr lang="it-IT" altLang="zh-TW" sz="1800" dirty="0">
              <a:latin typeface="標楷體" pitchFamily="65" charset="-120"/>
              <a:ea typeface="標楷體" pitchFamily="65" charset="-120"/>
            </a:endParaRPr>
          </a:p>
          <a:p>
            <a:endParaRPr lang="zh-TW" altLang="en-US" sz="1800" dirty="0">
              <a:latin typeface="標楷體" pitchFamily="65" charset="-120"/>
              <a:ea typeface="標楷體" pitchFamily="65" charset="-120"/>
            </a:endParaRPr>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1</a:t>
            </a:fld>
            <a:endParaRPr lang="zh-TW" altLang="en-US"/>
          </a:p>
        </p:txBody>
      </p:sp>
    </p:spTree>
    <p:extLst>
      <p:ext uri="{BB962C8B-B14F-4D97-AF65-F5344CB8AC3E}">
        <p14:creationId xmlns:p14="http://schemas.microsoft.com/office/powerpoint/2010/main" xmlns="" val="1456027952"/>
      </p:ext>
    </p:extLst>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Abstract</a:t>
            </a:r>
            <a:endParaRPr lang="zh-TW" altLang="en-US" b="1" dirty="0"/>
          </a:p>
        </p:txBody>
      </p:sp>
      <p:sp>
        <p:nvSpPr>
          <p:cNvPr id="3" name="內容版面配置區 2"/>
          <p:cNvSpPr>
            <a:spLocks noGrp="1"/>
          </p:cNvSpPr>
          <p:nvPr>
            <p:ph idx="1"/>
          </p:nvPr>
        </p:nvSpPr>
        <p:spPr/>
        <p:txBody>
          <a:bodyPr>
            <a:normAutofit fontScale="85000" lnSpcReduction="20000"/>
          </a:bodyPr>
          <a:lstStyle/>
          <a:p>
            <a:r>
              <a:rPr lang="en-US" altLang="zh-TW" dirty="0"/>
              <a:t> </a:t>
            </a:r>
            <a:r>
              <a:rPr lang="en-US" altLang="zh-TW" dirty="0" smtClean="0"/>
              <a:t>Center </a:t>
            </a:r>
            <a:r>
              <a:rPr lang="en-US" altLang="zh-TW" dirty="0"/>
              <a:t>particle swarm optimization algorithm (</a:t>
            </a:r>
            <a:r>
              <a:rPr lang="en-US" altLang="zh-TW" dirty="0" err="1"/>
              <a:t>CenterPSO</a:t>
            </a:r>
            <a:r>
              <a:rPr lang="en-US" altLang="zh-TW" dirty="0"/>
              <a:t>) is proposed where a center particle is incorporated into linearly decreasing weight particle swarm optimization (LDWPSO). Unlike other ordinary particles in LDWPSO, the center particle has no explicit velocity, and is set to the center of the swarm at every iteration. Other aspects of the center particle are the same as that of the ordinary particle, such as fitness evaluation and competition for the best particle of the swarm. Because the center of the swarm is a promising position, the center particle generally gets good fitness value.</a:t>
            </a:r>
            <a:endParaRPr lang="zh-TW" altLang="en-US" dirty="0"/>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2</a:t>
            </a:fld>
            <a:endParaRPr lang="zh-TW" altLang="en-US"/>
          </a:p>
        </p:txBody>
      </p:sp>
    </p:spTree>
    <p:extLst>
      <p:ext uri="{BB962C8B-B14F-4D97-AF65-F5344CB8AC3E}">
        <p14:creationId xmlns:p14="http://schemas.microsoft.com/office/powerpoint/2010/main" xmlns="" val="2389260941"/>
      </p:ext>
    </p:extLst>
  </p:cSld>
  <p:clrMapOvr>
    <a:masterClrMapping/>
  </p:clrMapOvr>
  <p:transition>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Abstract</a:t>
            </a:r>
            <a:endParaRPr lang="zh-TW" altLang="en-US" dirty="0"/>
          </a:p>
        </p:txBody>
      </p:sp>
      <p:sp>
        <p:nvSpPr>
          <p:cNvPr id="3" name="內容版面配置區 2"/>
          <p:cNvSpPr>
            <a:spLocks noGrp="1"/>
          </p:cNvSpPr>
          <p:nvPr>
            <p:ph idx="1"/>
          </p:nvPr>
        </p:nvSpPr>
        <p:spPr/>
        <p:txBody>
          <a:bodyPr>
            <a:normAutofit fontScale="85000" lnSpcReduction="10000"/>
          </a:bodyPr>
          <a:lstStyle/>
          <a:p>
            <a:r>
              <a:rPr lang="en-US" altLang="zh-TW" dirty="0"/>
              <a:t>More importantly, due to frequent appearance as the best particle of swarm, it often attracts other particles and guides the search direction of the whole swarm. </a:t>
            </a:r>
            <a:r>
              <a:rPr lang="en-US" altLang="zh-TW" dirty="0" err="1"/>
              <a:t>CenterPSO</a:t>
            </a:r>
            <a:r>
              <a:rPr lang="en-US" altLang="zh-TW" dirty="0"/>
              <a:t> and LDWPSO are extensively compared on three well-known benchmark functions with 10, 20, 30 dimensions. Experimental results show that </a:t>
            </a:r>
            <a:r>
              <a:rPr lang="en-US" altLang="zh-TW" dirty="0" err="1"/>
              <a:t>CenterPSO</a:t>
            </a:r>
            <a:r>
              <a:rPr lang="en-US" altLang="zh-TW" dirty="0"/>
              <a:t> achieves not only better solutions but also faster convergence. Furthermore, </a:t>
            </a:r>
            <a:r>
              <a:rPr lang="en-US" altLang="zh-TW" dirty="0" err="1"/>
              <a:t>CenterPSO</a:t>
            </a:r>
            <a:r>
              <a:rPr lang="en-US" altLang="zh-TW" dirty="0"/>
              <a:t> and LDWPSO are compared as neural network training algorithms. The results show that </a:t>
            </a:r>
            <a:r>
              <a:rPr lang="en-US" altLang="zh-TW" dirty="0" err="1"/>
              <a:t>CenterPSO</a:t>
            </a:r>
            <a:r>
              <a:rPr lang="en-US" altLang="zh-TW" dirty="0"/>
              <a:t> achieves better performance than LDWPSO.</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3</a:t>
            </a:fld>
            <a:endParaRPr lang="zh-TW" altLang="en-US"/>
          </a:p>
        </p:txBody>
      </p:sp>
    </p:spTree>
    <p:extLst>
      <p:ext uri="{BB962C8B-B14F-4D97-AF65-F5344CB8AC3E}">
        <p14:creationId xmlns:p14="http://schemas.microsoft.com/office/powerpoint/2010/main" xmlns="" val="3679991348"/>
      </p:ext>
    </p:extLst>
  </p:cSld>
  <p:clrMapOvr>
    <a:masterClrMapping/>
  </p:clrMapOvr>
  <p:transition>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Linearly Decreasing Weight Particle Swarm Optimization(LDWPSO)</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p:txBody>
              <a:bodyPr/>
              <a:lstStyle/>
              <a:p>
                <a:r>
                  <a:rPr lang="en-US" altLang="zh-TW" dirty="0" smtClean="0"/>
                  <a:t>N particles moving around in a D-dimensional</a:t>
                </a:r>
              </a:p>
              <a:p>
                <a:r>
                  <a:rPr lang="en-US" altLang="zh-TW" dirty="0" smtClean="0"/>
                  <a:t>Position</a:t>
                </a:r>
                <a14:m>
                  <m:oMath xmlns:m="http://schemas.openxmlformats.org/officeDocument/2006/math">
                    <m:r>
                      <a:rPr lang="en-US" altLang="zh-TW" b="0" i="0" smtClean="0">
                        <a:latin typeface="Cambria Math"/>
                      </a:rPr>
                      <m:t>   </m:t>
                    </m:r>
                    <m:sSup>
                      <m:sSupPr>
                        <m:ctrlPr>
                          <a:rPr lang="en-US" altLang="zh-TW" i="1">
                            <a:latin typeface="Cambria Math"/>
                          </a:rPr>
                        </m:ctrlPr>
                      </m:sSupPr>
                      <m:e>
                        <m:r>
                          <a:rPr lang="en-US" altLang="zh-TW" i="1">
                            <a:latin typeface="Cambria Math"/>
                          </a:rPr>
                          <m:t>𝑋</m:t>
                        </m:r>
                        <m:r>
                          <a:rPr lang="en-US" altLang="zh-TW" i="1" baseline="-25000">
                            <a:latin typeface="Cambria Math"/>
                          </a:rPr>
                          <m:t>𝑖</m:t>
                        </m:r>
                      </m:e>
                      <m:sup>
                        <m:r>
                          <a:rPr lang="en-US" altLang="zh-TW" i="1">
                            <a:latin typeface="Cambria Math"/>
                          </a:rPr>
                          <m:t>𝑡</m:t>
                        </m:r>
                      </m:sup>
                    </m:sSup>
                    <m:r>
                      <a:rPr lang="en-US" altLang="zh-TW" i="1">
                        <a:latin typeface="Cambria Math"/>
                      </a:rPr>
                      <m:t>=</m:t>
                    </m:r>
                    <m:d>
                      <m:dPr>
                        <m:ctrlPr>
                          <a:rPr lang="en-US" altLang="zh-TW" i="1">
                            <a:latin typeface="Cambria Math"/>
                          </a:rPr>
                        </m:ctrlPr>
                      </m:dPr>
                      <m:e>
                        <m:sSub>
                          <m:sSubPr>
                            <m:ctrlPr>
                              <a:rPr lang="en-US" altLang="zh-TW" i="1">
                                <a:latin typeface="Cambria Math"/>
                              </a:rPr>
                            </m:ctrlPr>
                          </m:sSubPr>
                          <m:e>
                            <m:r>
                              <a:rPr lang="en-US" altLang="zh-TW" i="1">
                                <a:latin typeface="Cambria Math"/>
                              </a:rPr>
                              <m:t>𝑥</m:t>
                            </m:r>
                          </m:e>
                          <m:sub>
                            <m:r>
                              <a:rPr lang="en-US" altLang="zh-TW" i="1">
                                <a:latin typeface="Cambria Math"/>
                              </a:rPr>
                              <m:t>𝑖</m:t>
                            </m:r>
                            <m:r>
                              <a:rPr lang="en-US" altLang="zh-TW" i="1">
                                <a:latin typeface="Cambria Math"/>
                              </a:rPr>
                              <m:t>1</m:t>
                            </m:r>
                          </m:sub>
                        </m:sSub>
                        <m:r>
                          <a:rPr lang="en-US" altLang="zh-TW" i="1">
                            <a:latin typeface="Cambria Math"/>
                          </a:rPr>
                          <m:t>,</m:t>
                        </m:r>
                        <m:sSub>
                          <m:sSubPr>
                            <m:ctrlPr>
                              <a:rPr lang="en-US" altLang="zh-TW" i="1">
                                <a:latin typeface="Cambria Math"/>
                              </a:rPr>
                            </m:ctrlPr>
                          </m:sSubPr>
                          <m:e>
                            <m:r>
                              <a:rPr lang="en-US" altLang="zh-TW" i="1">
                                <a:latin typeface="Cambria Math"/>
                              </a:rPr>
                              <m:t>𝑥</m:t>
                            </m:r>
                          </m:e>
                          <m:sub>
                            <m:r>
                              <a:rPr lang="en-US" altLang="zh-TW" i="1">
                                <a:latin typeface="Cambria Math"/>
                              </a:rPr>
                              <m:t>𝑖</m:t>
                            </m:r>
                            <m:r>
                              <a:rPr lang="en-US" altLang="zh-TW" i="1">
                                <a:latin typeface="Cambria Math"/>
                              </a:rPr>
                              <m:t>2</m:t>
                            </m:r>
                          </m:sub>
                        </m:sSub>
                        <m:r>
                          <a:rPr lang="en-US" altLang="zh-TW" i="1">
                            <a:latin typeface="Cambria Math"/>
                          </a:rPr>
                          <m:t>,</m:t>
                        </m:r>
                        <m:sSub>
                          <m:sSubPr>
                            <m:ctrlPr>
                              <a:rPr lang="en-US" altLang="zh-TW" i="1">
                                <a:latin typeface="Cambria Math"/>
                              </a:rPr>
                            </m:ctrlPr>
                          </m:sSubPr>
                          <m:e>
                            <m:r>
                              <a:rPr lang="en-US" altLang="zh-TW" i="1">
                                <a:latin typeface="Cambria Math"/>
                              </a:rPr>
                              <m:t>𝑥</m:t>
                            </m:r>
                          </m:e>
                          <m:sub>
                            <m:r>
                              <a:rPr lang="en-US" altLang="zh-TW" i="1">
                                <a:latin typeface="Cambria Math"/>
                              </a:rPr>
                              <m:t>𝑖</m:t>
                            </m:r>
                            <m:r>
                              <a:rPr lang="en-US" altLang="zh-TW" i="1">
                                <a:latin typeface="Cambria Math"/>
                              </a:rPr>
                              <m:t>3</m:t>
                            </m:r>
                          </m:sub>
                        </m:sSub>
                        <m:r>
                          <a:rPr lang="en-US" altLang="zh-TW" i="1">
                            <a:latin typeface="Cambria Math"/>
                          </a:rPr>
                          <m:t>,…,</m:t>
                        </m:r>
                        <m:sSub>
                          <m:sSubPr>
                            <m:ctrlPr>
                              <a:rPr lang="en-US" altLang="zh-TW" i="1">
                                <a:latin typeface="Cambria Math"/>
                              </a:rPr>
                            </m:ctrlPr>
                          </m:sSubPr>
                          <m:e>
                            <m:r>
                              <a:rPr lang="en-US" altLang="zh-TW" i="1">
                                <a:latin typeface="Cambria Math"/>
                              </a:rPr>
                              <m:t>𝑥</m:t>
                            </m:r>
                          </m:e>
                          <m:sub>
                            <m:r>
                              <a:rPr lang="en-US" altLang="zh-TW" i="1">
                                <a:latin typeface="Cambria Math"/>
                              </a:rPr>
                              <m:t>𝑖𝐷</m:t>
                            </m:r>
                          </m:sub>
                        </m:sSub>
                      </m:e>
                    </m:d>
                  </m:oMath>
                </a14:m>
                <a:endParaRPr lang="en-US" altLang="zh-TW" b="0" dirty="0" smtClean="0"/>
              </a:p>
              <a:p>
                <a:r>
                  <a:rPr lang="en-US" altLang="zh-TW" dirty="0" smtClean="0"/>
                  <a:t>Velocity </a:t>
                </a:r>
                <a14:m>
                  <m:oMath xmlns:m="http://schemas.openxmlformats.org/officeDocument/2006/math">
                    <m:sSup>
                      <m:sSupPr>
                        <m:ctrlPr>
                          <a:rPr lang="en-US" altLang="zh-TW" i="1">
                            <a:latin typeface="Cambria Math"/>
                          </a:rPr>
                        </m:ctrlPr>
                      </m:sSupPr>
                      <m:e>
                        <m:r>
                          <a:rPr lang="en-US" altLang="zh-TW" b="0" i="1" smtClean="0">
                            <a:latin typeface="Cambria Math"/>
                          </a:rPr>
                          <m:t>𝑉</m:t>
                        </m:r>
                        <m:r>
                          <a:rPr lang="en-US" altLang="zh-TW" i="1" baseline="-25000">
                            <a:latin typeface="Cambria Math"/>
                          </a:rPr>
                          <m:t>𝑖</m:t>
                        </m:r>
                      </m:e>
                      <m:sup>
                        <m:r>
                          <a:rPr lang="en-US" altLang="zh-TW" i="1">
                            <a:latin typeface="Cambria Math"/>
                          </a:rPr>
                          <m:t>𝑡</m:t>
                        </m:r>
                      </m:sup>
                    </m:sSup>
                    <m:r>
                      <a:rPr lang="en-US" altLang="zh-TW" i="1">
                        <a:latin typeface="Cambria Math"/>
                      </a:rPr>
                      <m:t>=</m:t>
                    </m:r>
                    <m:d>
                      <m:dPr>
                        <m:ctrlPr>
                          <a:rPr lang="en-US" altLang="zh-TW" i="1">
                            <a:latin typeface="Cambria Math"/>
                          </a:rPr>
                        </m:ctrlPr>
                      </m:dPr>
                      <m:e>
                        <m:sSub>
                          <m:sSubPr>
                            <m:ctrlPr>
                              <a:rPr lang="en-US" altLang="zh-TW" i="1">
                                <a:latin typeface="Cambria Math"/>
                              </a:rPr>
                            </m:ctrlPr>
                          </m:sSubPr>
                          <m:e>
                            <m:r>
                              <a:rPr lang="en-US" altLang="zh-TW" b="0" i="1" smtClean="0">
                                <a:latin typeface="Cambria Math"/>
                              </a:rPr>
                              <m:t>𝑣</m:t>
                            </m:r>
                          </m:e>
                          <m:sub>
                            <m:r>
                              <a:rPr lang="en-US" altLang="zh-TW" i="1">
                                <a:latin typeface="Cambria Math"/>
                              </a:rPr>
                              <m:t>𝑖</m:t>
                            </m:r>
                            <m:r>
                              <a:rPr lang="en-US" altLang="zh-TW" i="1">
                                <a:latin typeface="Cambria Math"/>
                              </a:rPr>
                              <m:t>1</m:t>
                            </m:r>
                          </m:sub>
                        </m:sSub>
                        <m:r>
                          <a:rPr lang="en-US" altLang="zh-TW" i="1">
                            <a:latin typeface="Cambria Math"/>
                          </a:rPr>
                          <m:t>,</m:t>
                        </m:r>
                        <m:sSub>
                          <m:sSubPr>
                            <m:ctrlPr>
                              <a:rPr lang="en-US" altLang="zh-TW" i="1">
                                <a:latin typeface="Cambria Math"/>
                              </a:rPr>
                            </m:ctrlPr>
                          </m:sSubPr>
                          <m:e>
                            <m:r>
                              <a:rPr lang="en-US" altLang="zh-TW" b="0" i="1" smtClean="0">
                                <a:latin typeface="Cambria Math"/>
                              </a:rPr>
                              <m:t>𝑣</m:t>
                            </m:r>
                          </m:e>
                          <m:sub>
                            <m:r>
                              <a:rPr lang="en-US" altLang="zh-TW" i="1">
                                <a:latin typeface="Cambria Math"/>
                              </a:rPr>
                              <m:t>𝑖</m:t>
                            </m:r>
                            <m:r>
                              <a:rPr lang="en-US" altLang="zh-TW" i="1">
                                <a:latin typeface="Cambria Math"/>
                              </a:rPr>
                              <m:t>2</m:t>
                            </m:r>
                          </m:sub>
                        </m:sSub>
                        <m:r>
                          <a:rPr lang="en-US" altLang="zh-TW" i="1">
                            <a:latin typeface="Cambria Math"/>
                          </a:rPr>
                          <m:t>,</m:t>
                        </m:r>
                        <m:sSub>
                          <m:sSubPr>
                            <m:ctrlPr>
                              <a:rPr lang="en-US" altLang="zh-TW" i="1">
                                <a:latin typeface="Cambria Math"/>
                              </a:rPr>
                            </m:ctrlPr>
                          </m:sSubPr>
                          <m:e>
                            <m:r>
                              <a:rPr lang="en-US" altLang="zh-TW" b="0" i="1" smtClean="0">
                                <a:latin typeface="Cambria Math"/>
                              </a:rPr>
                              <m:t>𝑣</m:t>
                            </m:r>
                          </m:e>
                          <m:sub>
                            <m:r>
                              <a:rPr lang="en-US" altLang="zh-TW" i="1">
                                <a:latin typeface="Cambria Math"/>
                              </a:rPr>
                              <m:t>𝑖</m:t>
                            </m:r>
                            <m:r>
                              <a:rPr lang="en-US" altLang="zh-TW" i="1">
                                <a:latin typeface="Cambria Math"/>
                              </a:rPr>
                              <m:t>3</m:t>
                            </m:r>
                          </m:sub>
                        </m:sSub>
                        <m:r>
                          <a:rPr lang="en-US" altLang="zh-TW" i="1">
                            <a:latin typeface="Cambria Math"/>
                          </a:rPr>
                          <m:t>,…,</m:t>
                        </m:r>
                        <m:sSub>
                          <m:sSubPr>
                            <m:ctrlPr>
                              <a:rPr lang="en-US" altLang="zh-TW" i="1">
                                <a:latin typeface="Cambria Math"/>
                              </a:rPr>
                            </m:ctrlPr>
                          </m:sSubPr>
                          <m:e>
                            <m:r>
                              <a:rPr lang="en-US" altLang="zh-TW" b="0" i="1" smtClean="0">
                                <a:latin typeface="Cambria Math"/>
                              </a:rPr>
                              <m:t>𝑣</m:t>
                            </m:r>
                          </m:e>
                          <m:sub>
                            <m:r>
                              <a:rPr lang="en-US" altLang="zh-TW" i="1">
                                <a:latin typeface="Cambria Math"/>
                              </a:rPr>
                              <m:t>𝑖𝐷</m:t>
                            </m:r>
                          </m:sub>
                        </m:sSub>
                      </m:e>
                    </m:d>
                  </m:oMath>
                </a14:m>
                <a:endParaRPr lang="en-US" altLang="zh-TW" dirty="0" smtClean="0"/>
              </a:p>
              <a:p>
                <a:r>
                  <a:rPr lang="en-US" altLang="zh-TW" dirty="0" smtClean="0"/>
                  <a:t>Personal best  </a:t>
                </a:r>
                <a14:m>
                  <m:oMath xmlns:m="http://schemas.openxmlformats.org/officeDocument/2006/math">
                    <m:sSub>
                      <m:sSubPr>
                        <m:ctrlPr>
                          <a:rPr lang="en-US" altLang="zh-TW" i="1" smtClean="0">
                            <a:latin typeface="Cambria Math"/>
                          </a:rPr>
                        </m:ctrlPr>
                      </m:sSubPr>
                      <m:e>
                        <m:r>
                          <a:rPr lang="en-US" altLang="zh-TW" b="0" i="1" smtClean="0">
                            <a:latin typeface="Cambria Math"/>
                          </a:rPr>
                          <m:t>𝑃</m:t>
                        </m:r>
                      </m:e>
                      <m:sub>
                        <m:r>
                          <a:rPr lang="en-US" altLang="zh-TW" b="0" i="1" smtClean="0">
                            <a:latin typeface="Cambria Math"/>
                          </a:rPr>
                          <m:t>𝑖</m:t>
                        </m:r>
                      </m:sub>
                    </m:sSub>
                    <m:r>
                      <a:rPr lang="en-US" altLang="zh-TW" i="1">
                        <a:latin typeface="Cambria Math"/>
                      </a:rPr>
                      <m:t>=(</m:t>
                    </m:r>
                    <m:sSub>
                      <m:sSubPr>
                        <m:ctrlPr>
                          <a:rPr lang="en-US" altLang="zh-TW" i="1">
                            <a:latin typeface="Cambria Math"/>
                          </a:rPr>
                        </m:ctrlPr>
                      </m:sSubPr>
                      <m:e>
                        <m:r>
                          <a:rPr lang="en-US" altLang="zh-TW" b="0" i="1" smtClean="0">
                            <a:latin typeface="Cambria Math"/>
                          </a:rPr>
                          <m:t>𝑝</m:t>
                        </m:r>
                      </m:e>
                      <m:sub>
                        <m:r>
                          <a:rPr lang="en-US" altLang="zh-TW" i="1">
                            <a:latin typeface="Cambria Math"/>
                          </a:rPr>
                          <m:t>𝑖</m:t>
                        </m:r>
                        <m:r>
                          <a:rPr lang="en-US" altLang="zh-TW" i="1">
                            <a:latin typeface="Cambria Math"/>
                          </a:rPr>
                          <m:t>1</m:t>
                        </m:r>
                      </m:sub>
                    </m:sSub>
                    <m:r>
                      <a:rPr lang="en-US" altLang="zh-TW" i="1">
                        <a:latin typeface="Cambria Math"/>
                      </a:rPr>
                      <m:t>,</m:t>
                    </m:r>
                    <m:sSub>
                      <m:sSubPr>
                        <m:ctrlPr>
                          <a:rPr lang="en-US" altLang="zh-TW" i="1">
                            <a:latin typeface="Cambria Math"/>
                          </a:rPr>
                        </m:ctrlPr>
                      </m:sSubPr>
                      <m:e>
                        <m:r>
                          <a:rPr lang="en-US" altLang="zh-TW" b="0" i="1" smtClean="0">
                            <a:latin typeface="Cambria Math"/>
                          </a:rPr>
                          <m:t>𝑝</m:t>
                        </m:r>
                      </m:e>
                      <m:sub>
                        <m:r>
                          <a:rPr lang="en-US" altLang="zh-TW" i="1">
                            <a:latin typeface="Cambria Math"/>
                          </a:rPr>
                          <m:t>𝑖</m:t>
                        </m:r>
                        <m:r>
                          <a:rPr lang="en-US" altLang="zh-TW" i="1">
                            <a:latin typeface="Cambria Math"/>
                          </a:rPr>
                          <m:t>2</m:t>
                        </m:r>
                      </m:sub>
                    </m:sSub>
                    <m:r>
                      <a:rPr lang="en-US" altLang="zh-TW" i="1">
                        <a:latin typeface="Cambria Math"/>
                      </a:rPr>
                      <m:t>,</m:t>
                    </m:r>
                    <m:sSub>
                      <m:sSubPr>
                        <m:ctrlPr>
                          <a:rPr lang="en-US" altLang="zh-TW" i="1">
                            <a:latin typeface="Cambria Math"/>
                          </a:rPr>
                        </m:ctrlPr>
                      </m:sSubPr>
                      <m:e>
                        <m:r>
                          <a:rPr lang="en-US" altLang="zh-TW" b="0" i="1" smtClean="0">
                            <a:latin typeface="Cambria Math"/>
                          </a:rPr>
                          <m:t>𝑝</m:t>
                        </m:r>
                      </m:e>
                      <m:sub>
                        <m:r>
                          <a:rPr lang="en-US" altLang="zh-TW" i="1">
                            <a:latin typeface="Cambria Math"/>
                          </a:rPr>
                          <m:t>𝑖</m:t>
                        </m:r>
                        <m:r>
                          <a:rPr lang="en-US" altLang="zh-TW" i="1">
                            <a:latin typeface="Cambria Math"/>
                          </a:rPr>
                          <m:t>3</m:t>
                        </m:r>
                      </m:sub>
                    </m:sSub>
                    <m:r>
                      <a:rPr lang="en-US" altLang="zh-TW" i="1">
                        <a:latin typeface="Cambria Math"/>
                      </a:rPr>
                      <m:t>,…,</m:t>
                    </m:r>
                    <m:sSub>
                      <m:sSubPr>
                        <m:ctrlPr>
                          <a:rPr lang="en-US" altLang="zh-TW" i="1">
                            <a:latin typeface="Cambria Math"/>
                          </a:rPr>
                        </m:ctrlPr>
                      </m:sSubPr>
                      <m:e>
                        <m:r>
                          <a:rPr lang="en-US" altLang="zh-TW" b="0" i="1" smtClean="0">
                            <a:latin typeface="Cambria Math"/>
                          </a:rPr>
                          <m:t>𝑝</m:t>
                        </m:r>
                      </m:e>
                      <m:sub>
                        <m:r>
                          <a:rPr lang="en-US" altLang="zh-TW" i="1">
                            <a:latin typeface="Cambria Math"/>
                          </a:rPr>
                          <m:t>𝑖𝐷</m:t>
                        </m:r>
                      </m:sub>
                    </m:sSub>
                    <m:r>
                      <a:rPr lang="en-US" altLang="zh-TW">
                        <a:latin typeface="Cambria Math"/>
                      </a:rPr>
                      <m:t>)</m:t>
                    </m:r>
                  </m:oMath>
                </a14:m>
                <a:endParaRPr lang="zh-TW" altLang="en-US" baseline="-25000" dirty="0"/>
              </a:p>
              <a:p>
                <a:r>
                  <a:rPr lang="en-US" altLang="zh-TW" dirty="0" smtClean="0"/>
                  <a:t>Global best    </a:t>
                </a:r>
                <a14:m>
                  <m:oMath xmlns:m="http://schemas.openxmlformats.org/officeDocument/2006/math">
                    <m:sSub>
                      <m:sSubPr>
                        <m:ctrlPr>
                          <a:rPr lang="en-US" altLang="zh-TW" i="1" smtClean="0">
                            <a:latin typeface="Cambria Math"/>
                          </a:rPr>
                        </m:ctrlPr>
                      </m:sSubPr>
                      <m:e>
                        <m:r>
                          <a:rPr lang="en-US" altLang="zh-TW" b="0" i="1" smtClean="0">
                            <a:latin typeface="Cambria Math"/>
                          </a:rPr>
                          <m:t>𝑃</m:t>
                        </m:r>
                      </m:e>
                      <m:sub>
                        <m:r>
                          <a:rPr lang="en-US" altLang="zh-TW" b="0" i="1" smtClean="0">
                            <a:latin typeface="Cambria Math"/>
                          </a:rPr>
                          <m:t>𝑔</m:t>
                        </m:r>
                      </m:sub>
                    </m:sSub>
                    <m:r>
                      <a:rPr lang="en-US" altLang="zh-TW" i="1">
                        <a:latin typeface="Cambria Math"/>
                      </a:rPr>
                      <m:t>=(</m:t>
                    </m:r>
                    <m:sSub>
                      <m:sSubPr>
                        <m:ctrlPr>
                          <a:rPr lang="en-US" altLang="zh-TW" i="1">
                            <a:latin typeface="Cambria Math"/>
                          </a:rPr>
                        </m:ctrlPr>
                      </m:sSubPr>
                      <m:e>
                        <m:r>
                          <a:rPr lang="en-US" altLang="zh-TW" b="0" i="1" smtClean="0">
                            <a:latin typeface="Cambria Math"/>
                          </a:rPr>
                          <m:t>𝑝</m:t>
                        </m:r>
                      </m:e>
                      <m:sub>
                        <m:r>
                          <a:rPr lang="en-US" altLang="zh-TW" b="0" i="1" smtClean="0">
                            <a:latin typeface="Cambria Math"/>
                          </a:rPr>
                          <m:t>𝑔</m:t>
                        </m:r>
                        <m:r>
                          <a:rPr lang="en-US" altLang="zh-TW" i="1">
                            <a:latin typeface="Cambria Math"/>
                          </a:rPr>
                          <m:t>1</m:t>
                        </m:r>
                      </m:sub>
                    </m:sSub>
                    <m:r>
                      <a:rPr lang="en-US" altLang="zh-TW" i="1">
                        <a:latin typeface="Cambria Math"/>
                      </a:rPr>
                      <m:t>,</m:t>
                    </m:r>
                    <m:sSub>
                      <m:sSubPr>
                        <m:ctrlPr>
                          <a:rPr lang="en-US" altLang="zh-TW" i="1">
                            <a:latin typeface="Cambria Math"/>
                          </a:rPr>
                        </m:ctrlPr>
                      </m:sSubPr>
                      <m:e>
                        <m:r>
                          <a:rPr lang="en-US" altLang="zh-TW" b="0" i="1" smtClean="0">
                            <a:latin typeface="Cambria Math"/>
                          </a:rPr>
                          <m:t>𝑝</m:t>
                        </m:r>
                      </m:e>
                      <m:sub>
                        <m:r>
                          <a:rPr lang="en-US" altLang="zh-TW" b="0" i="1" smtClean="0">
                            <a:latin typeface="Cambria Math"/>
                          </a:rPr>
                          <m:t>𝑔</m:t>
                        </m:r>
                        <m:r>
                          <a:rPr lang="en-US" altLang="zh-TW" i="1">
                            <a:latin typeface="Cambria Math"/>
                          </a:rPr>
                          <m:t>2</m:t>
                        </m:r>
                      </m:sub>
                    </m:sSub>
                    <m:r>
                      <a:rPr lang="en-US" altLang="zh-TW" i="1">
                        <a:latin typeface="Cambria Math"/>
                      </a:rPr>
                      <m:t>,</m:t>
                    </m:r>
                    <m:sSub>
                      <m:sSubPr>
                        <m:ctrlPr>
                          <a:rPr lang="en-US" altLang="zh-TW" i="1">
                            <a:latin typeface="Cambria Math"/>
                          </a:rPr>
                        </m:ctrlPr>
                      </m:sSubPr>
                      <m:e>
                        <m:r>
                          <a:rPr lang="en-US" altLang="zh-TW" b="0" i="1" smtClean="0">
                            <a:latin typeface="Cambria Math"/>
                          </a:rPr>
                          <m:t>𝑝</m:t>
                        </m:r>
                      </m:e>
                      <m:sub>
                        <m:r>
                          <a:rPr lang="en-US" altLang="zh-TW" b="0" i="1" smtClean="0">
                            <a:latin typeface="Cambria Math"/>
                          </a:rPr>
                          <m:t>𝑔</m:t>
                        </m:r>
                        <m:r>
                          <a:rPr lang="en-US" altLang="zh-TW" b="0" i="1" smtClean="0">
                            <a:latin typeface="Cambria Math"/>
                          </a:rPr>
                          <m:t>3</m:t>
                        </m:r>
                      </m:sub>
                    </m:sSub>
                    <m:r>
                      <a:rPr lang="en-US" altLang="zh-TW" i="1">
                        <a:latin typeface="Cambria Math"/>
                      </a:rPr>
                      <m:t>,…,</m:t>
                    </m:r>
                    <m:sSub>
                      <m:sSubPr>
                        <m:ctrlPr>
                          <a:rPr lang="en-US" altLang="zh-TW" i="1">
                            <a:latin typeface="Cambria Math"/>
                          </a:rPr>
                        </m:ctrlPr>
                      </m:sSubPr>
                      <m:e>
                        <m:r>
                          <a:rPr lang="en-US" altLang="zh-TW" b="0" i="1" smtClean="0">
                            <a:latin typeface="Cambria Math"/>
                          </a:rPr>
                          <m:t>𝑝</m:t>
                        </m:r>
                      </m:e>
                      <m:sub>
                        <m:r>
                          <a:rPr lang="en-US" altLang="zh-TW" b="0" i="1" smtClean="0">
                            <a:latin typeface="Cambria Math"/>
                          </a:rPr>
                          <m:t>𝑔</m:t>
                        </m:r>
                        <m:r>
                          <a:rPr lang="en-US" altLang="zh-TW" i="1">
                            <a:latin typeface="Cambria Math"/>
                          </a:rPr>
                          <m:t>𝐷</m:t>
                        </m:r>
                      </m:sub>
                    </m:sSub>
                    <m:r>
                      <a:rPr lang="en-US" altLang="zh-TW">
                        <a:latin typeface="Cambria Math"/>
                      </a:rPr>
                      <m:t>)</m:t>
                    </m:r>
                  </m:oMath>
                </a14:m>
                <a:endParaRPr lang="zh-TW" altLang="en-US" baseline="-25000" dirty="0"/>
              </a:p>
              <a:p>
                <a:endParaRPr lang="zh-TW" altLang="en-US" dirty="0"/>
              </a:p>
              <a:p>
                <a:endParaRPr lang="en-US" altLang="zh-TW" dirty="0" smtClean="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3DA0BB7-265A-403C-9275-D587AB510EDC}" type="slidenum">
              <a:rPr lang="zh-TW" altLang="en-US" smtClean="0"/>
              <a:pPr/>
              <a:t>4</a:t>
            </a:fld>
            <a:endParaRPr lang="zh-TW" altLang="en-US"/>
          </a:p>
        </p:txBody>
      </p:sp>
    </p:spTree>
    <p:extLst>
      <p:ext uri="{BB962C8B-B14F-4D97-AF65-F5344CB8AC3E}">
        <p14:creationId xmlns:p14="http://schemas.microsoft.com/office/powerpoint/2010/main" xmlns="" val="1547106575"/>
      </p:ext>
    </p:extLst>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Linearly Decreasing Weight Particle Swarm Optimization(LDWPSO)</a:t>
            </a:r>
            <a:endParaRPr lang="zh-TW" altLang="en-US" dirty="0"/>
          </a:p>
        </p:txBody>
      </p:sp>
      <p:sp>
        <p:nvSpPr>
          <p:cNvPr id="3" name="內容版面配置區 2"/>
          <p:cNvSpPr>
            <a:spLocks noGrp="1"/>
          </p:cNvSpPr>
          <p:nvPr>
            <p:ph idx="1"/>
          </p:nvPr>
        </p:nvSpPr>
        <p:spPr/>
        <p:txBody>
          <a:bodyPr/>
          <a:lstStyle/>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5</a:t>
            </a:fld>
            <a:endParaRPr lang="zh-TW" alt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187623" y="1844824"/>
            <a:ext cx="6975398" cy="182689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mc:AlternateContent xmlns:mc="http://schemas.openxmlformats.org/markup-compatibility/2006">
        <mc:Choice xmlns:a14="http://schemas.microsoft.com/office/drawing/2010/main" xmlns="" Requires="a14">
          <p:sp>
            <p:nvSpPr>
              <p:cNvPr id="7" name="矩形 6"/>
              <p:cNvSpPr/>
              <p:nvPr/>
            </p:nvSpPr>
            <p:spPr>
              <a:xfrm>
                <a:off x="1187624" y="3944600"/>
                <a:ext cx="2232248" cy="369332"/>
              </a:xfrm>
              <a:prstGeom prst="rect">
                <a:avLst/>
              </a:prstGeom>
            </p:spPr>
            <p:txBody>
              <a:bodyPr wrap="square">
                <a:spAutoFit/>
              </a:bodyPr>
              <a:lstStyle/>
              <a:p>
                <a:r>
                  <a:rPr lang="en-US" altLang="zh-TW" dirty="0" smtClean="0"/>
                  <a:t>Xmin </a:t>
                </a:r>
                <a14:m>
                  <m:oMath xmlns:m="http://schemas.openxmlformats.org/officeDocument/2006/math">
                    <m:r>
                      <a:rPr lang="en-US" altLang="zh-TW" i="1" smtClean="0">
                        <a:latin typeface="Cambria Math"/>
                        <a:ea typeface="Cambria Math"/>
                      </a:rPr>
                      <m:t>≤</m:t>
                    </m:r>
                    <m:r>
                      <a:rPr lang="en-US" altLang="zh-TW" b="0" i="1" smtClean="0">
                        <a:latin typeface="Cambria Math"/>
                        <a:ea typeface="Cambria Math"/>
                      </a:rPr>
                      <m:t>𝑋</m:t>
                    </m:r>
                    <m:r>
                      <a:rPr lang="en-US" altLang="zh-TW" i="1" smtClean="0">
                        <a:latin typeface="Cambria Math"/>
                        <a:ea typeface="Cambria Math"/>
                      </a:rPr>
                      <m:t>≤</m:t>
                    </m:r>
                    <m:r>
                      <a:rPr lang="en-US" altLang="zh-TW" b="0" i="1" smtClean="0">
                        <a:latin typeface="Cambria Math"/>
                        <a:ea typeface="Cambria Math"/>
                      </a:rPr>
                      <m:t> </m:t>
                    </m:r>
                  </m:oMath>
                </a14:m>
                <a:r>
                  <a:rPr lang="en-US" altLang="zh-TW" dirty="0" err="1" smtClean="0"/>
                  <a:t>Xmax</a:t>
                </a:r>
                <a:r>
                  <a:rPr lang="en-US" altLang="zh-TW" dirty="0" smtClean="0"/>
                  <a:t/>
                </a:r>
                <a:endParaRPr lang="zh-TW" altLang="en-US" dirty="0"/>
              </a:p>
            </p:txBody>
          </p:sp>
        </mc:Choice>
        <mc:Fallback>
          <p:sp>
            <p:nvSpPr>
              <p:cNvPr id="7" name="矩形 6"/>
              <p:cNvSpPr>
                <a:spLocks noRot="1" noChangeAspect="1" noMove="1" noResize="1" noEditPoints="1" noAdjustHandles="1" noChangeArrowheads="1" noChangeShapeType="1" noTextEdit="1"/>
              </p:cNvSpPr>
              <p:nvPr/>
            </p:nvSpPr>
            <p:spPr>
              <a:xfrm>
                <a:off x="1187624" y="3944600"/>
                <a:ext cx="2232248" cy="369332"/>
              </a:xfrm>
              <a:prstGeom prst="rect">
                <a:avLst/>
              </a:prstGeom>
              <a:blipFill rotWithShape="1">
                <a:blip r:embed="rId3"/>
                <a:stretch>
                  <a:fillRect l="-2459" t="-8197" b="-24590"/>
                </a:stretch>
              </a:blipFill>
            </p:spPr>
            <p:txBody>
              <a:bodyPr/>
              <a:lstStyle/>
              <a:p>
                <a:r>
                  <a:rPr lang="zh-TW" altLang="en-US">
                    <a:noFill/>
                  </a:rPr>
                  <a:t> </a:t>
                </a:r>
              </a:p>
            </p:txBody>
          </p:sp>
        </mc:Fallback>
      </mc:AlternateContent>
      <p:sp>
        <p:nvSpPr>
          <p:cNvPr id="8" name="矩形 7"/>
          <p:cNvSpPr/>
          <p:nvPr/>
        </p:nvSpPr>
        <p:spPr>
          <a:xfrm>
            <a:off x="1177341" y="4402688"/>
            <a:ext cx="1351011" cy="369332"/>
          </a:xfrm>
          <a:prstGeom prst="rect">
            <a:avLst/>
          </a:prstGeom>
        </p:spPr>
        <p:txBody>
          <a:bodyPr wrap="none">
            <a:spAutoFit/>
          </a:bodyPr>
          <a:lstStyle/>
          <a:p>
            <a:r>
              <a:rPr lang="en-US" altLang="zh-TW" dirty="0" smtClean="0"/>
              <a:t>w: 0.9 to 0.4</a:t>
            </a:r>
            <a:endParaRPr lang="zh-TW" altLang="en-US" dirty="0"/>
          </a:p>
        </p:txBody>
      </p:sp>
      <p:sp>
        <p:nvSpPr>
          <p:cNvPr id="9" name="矩形 8"/>
          <p:cNvSpPr/>
          <p:nvPr/>
        </p:nvSpPr>
        <p:spPr>
          <a:xfrm>
            <a:off x="1187624" y="4859868"/>
            <a:ext cx="1353256" cy="369332"/>
          </a:xfrm>
          <a:prstGeom prst="rect">
            <a:avLst/>
          </a:prstGeom>
        </p:spPr>
        <p:txBody>
          <a:bodyPr wrap="none">
            <a:spAutoFit/>
          </a:bodyPr>
          <a:lstStyle/>
          <a:p>
            <a:r>
              <a:rPr lang="en-US" altLang="zh-TW" dirty="0" smtClean="0"/>
              <a:t>Rand(): (0,1)</a:t>
            </a:r>
            <a:endParaRPr lang="zh-TW" altLang="en-US" dirty="0"/>
          </a:p>
        </p:txBody>
      </p:sp>
    </p:spTree>
    <p:extLst>
      <p:ext uri="{BB962C8B-B14F-4D97-AF65-F5344CB8AC3E}">
        <p14:creationId xmlns:p14="http://schemas.microsoft.com/office/powerpoint/2010/main" xmlns="" val="1238900670"/>
      </p:ext>
    </p:extLst>
  </p:cSld>
  <p:clrMapOvr>
    <a:masterClrMapping/>
  </p:clrMapOvr>
  <p:transition>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Linearly Decreasing Weight Particle Swarm Optimization(LDWPSO)</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6</a:t>
            </a:fld>
            <a:endParaRPr lang="zh-TW" altLang="en-US"/>
          </a:p>
        </p:txBody>
      </p:sp>
      <p:sp>
        <p:nvSpPr>
          <p:cNvPr id="6" name="矩形 5"/>
          <p:cNvSpPr/>
          <p:nvPr/>
        </p:nvSpPr>
        <p:spPr>
          <a:xfrm>
            <a:off x="1259632" y="5607496"/>
            <a:ext cx="489236" cy="369332"/>
          </a:xfrm>
          <a:prstGeom prst="rect">
            <a:avLst/>
          </a:prstGeom>
        </p:spPr>
        <p:txBody>
          <a:bodyPr wrap="none">
            <a:spAutoFit/>
          </a:bodyPr>
          <a:lstStyle/>
          <a:p>
            <a:r>
              <a:rPr lang="en-US" altLang="zh-TW" dirty="0" smtClean="0"/>
              <a:t>-10</a:t>
            </a:r>
            <a:endParaRPr lang="zh-TW" altLang="en-US" dirty="0"/>
          </a:p>
        </p:txBody>
      </p:sp>
      <p:graphicFrame>
        <p:nvGraphicFramePr>
          <p:cNvPr id="10" name="內容版面配置區 9"/>
          <p:cNvGraphicFramePr>
            <a:graphicFrameLocks noGrp="1"/>
          </p:cNvGraphicFramePr>
          <p:nvPr>
            <p:ph idx="1"/>
            <p:extLst>
              <p:ext uri="{D42A27DB-BD31-4B8C-83A1-F6EECF244321}">
                <p14:modId xmlns:p14="http://schemas.microsoft.com/office/powerpoint/2010/main" xmlns="" val="500222430"/>
              </p:ext>
            </p:extLst>
          </p:nvPr>
        </p:nvGraphicFramePr>
        <p:xfrm>
          <a:off x="1475656" y="1844824"/>
          <a:ext cx="6059016" cy="3701008"/>
        </p:xfrm>
        <a:graphic>
          <a:graphicData uri="http://schemas.openxmlformats.org/drawingml/2006/table">
            <a:tbl>
              <a:tblPr firstRow="1" bandRow="1">
                <a:tableStyleId>{5C22544A-7EE6-4342-B048-85BDC9FD1C3A}</a:tableStyleId>
              </a:tblPr>
              <a:tblGrid>
                <a:gridCol w="1514754"/>
                <a:gridCol w="1514754"/>
                <a:gridCol w="1514754"/>
                <a:gridCol w="1514754"/>
              </a:tblGrid>
              <a:tr h="925252">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25252">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25252">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25252">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1" name="矩形 10"/>
          <p:cNvSpPr/>
          <p:nvPr/>
        </p:nvSpPr>
        <p:spPr>
          <a:xfrm>
            <a:off x="894710" y="5238164"/>
            <a:ext cx="489236" cy="369332"/>
          </a:xfrm>
          <a:prstGeom prst="rect">
            <a:avLst/>
          </a:prstGeom>
        </p:spPr>
        <p:txBody>
          <a:bodyPr wrap="none">
            <a:spAutoFit/>
          </a:bodyPr>
          <a:lstStyle/>
          <a:p>
            <a:r>
              <a:rPr lang="en-US" altLang="zh-TW" dirty="0" smtClean="0"/>
              <a:t>-10</a:t>
            </a:r>
            <a:endParaRPr lang="zh-TW" altLang="en-US" dirty="0"/>
          </a:p>
        </p:txBody>
      </p:sp>
      <p:sp>
        <p:nvSpPr>
          <p:cNvPr id="12" name="矩形 11"/>
          <p:cNvSpPr/>
          <p:nvPr/>
        </p:nvSpPr>
        <p:spPr>
          <a:xfrm>
            <a:off x="2771800" y="5607496"/>
            <a:ext cx="372218" cy="369332"/>
          </a:xfrm>
          <a:prstGeom prst="rect">
            <a:avLst/>
          </a:prstGeom>
        </p:spPr>
        <p:txBody>
          <a:bodyPr wrap="none">
            <a:spAutoFit/>
          </a:bodyPr>
          <a:lstStyle/>
          <a:p>
            <a:r>
              <a:rPr lang="en-US" altLang="zh-TW" dirty="0" smtClean="0"/>
              <a:t>-5</a:t>
            </a:r>
            <a:endParaRPr lang="zh-TW" altLang="en-US" dirty="0"/>
          </a:p>
        </p:txBody>
      </p:sp>
      <p:sp>
        <p:nvSpPr>
          <p:cNvPr id="13" name="矩形 12"/>
          <p:cNvSpPr/>
          <p:nvPr/>
        </p:nvSpPr>
        <p:spPr>
          <a:xfrm>
            <a:off x="4283968" y="5607496"/>
            <a:ext cx="301686" cy="369332"/>
          </a:xfrm>
          <a:prstGeom prst="rect">
            <a:avLst/>
          </a:prstGeom>
        </p:spPr>
        <p:txBody>
          <a:bodyPr wrap="none">
            <a:spAutoFit/>
          </a:bodyPr>
          <a:lstStyle/>
          <a:p>
            <a:r>
              <a:rPr lang="en-US" altLang="zh-TW" dirty="0" smtClean="0"/>
              <a:t>0</a:t>
            </a:r>
            <a:endParaRPr lang="zh-TW" altLang="en-US" dirty="0"/>
          </a:p>
        </p:txBody>
      </p:sp>
      <p:sp>
        <p:nvSpPr>
          <p:cNvPr id="14" name="矩形 13"/>
          <p:cNvSpPr/>
          <p:nvPr/>
        </p:nvSpPr>
        <p:spPr>
          <a:xfrm>
            <a:off x="5796136" y="5607496"/>
            <a:ext cx="301686" cy="369332"/>
          </a:xfrm>
          <a:prstGeom prst="rect">
            <a:avLst/>
          </a:prstGeom>
        </p:spPr>
        <p:txBody>
          <a:bodyPr wrap="none">
            <a:spAutoFit/>
          </a:bodyPr>
          <a:lstStyle/>
          <a:p>
            <a:r>
              <a:rPr lang="en-US" altLang="zh-TW" dirty="0" smtClean="0"/>
              <a:t>5</a:t>
            </a:r>
            <a:endParaRPr lang="zh-TW" altLang="en-US" dirty="0"/>
          </a:p>
        </p:txBody>
      </p:sp>
      <p:sp>
        <p:nvSpPr>
          <p:cNvPr id="15" name="矩形 14"/>
          <p:cNvSpPr/>
          <p:nvPr/>
        </p:nvSpPr>
        <p:spPr>
          <a:xfrm>
            <a:off x="7308304" y="5607496"/>
            <a:ext cx="418704" cy="369332"/>
          </a:xfrm>
          <a:prstGeom prst="rect">
            <a:avLst/>
          </a:prstGeom>
        </p:spPr>
        <p:txBody>
          <a:bodyPr wrap="none">
            <a:spAutoFit/>
          </a:bodyPr>
          <a:lstStyle/>
          <a:p>
            <a:r>
              <a:rPr lang="en-US" altLang="zh-TW" dirty="0" smtClean="0"/>
              <a:t>10</a:t>
            </a:r>
            <a:endParaRPr lang="zh-TW" altLang="en-US" dirty="0"/>
          </a:p>
        </p:txBody>
      </p:sp>
      <p:sp>
        <p:nvSpPr>
          <p:cNvPr id="16" name="矩形 15"/>
          <p:cNvSpPr/>
          <p:nvPr/>
        </p:nvSpPr>
        <p:spPr>
          <a:xfrm>
            <a:off x="894710" y="4437112"/>
            <a:ext cx="372218" cy="369332"/>
          </a:xfrm>
          <a:prstGeom prst="rect">
            <a:avLst/>
          </a:prstGeom>
        </p:spPr>
        <p:txBody>
          <a:bodyPr wrap="none">
            <a:spAutoFit/>
          </a:bodyPr>
          <a:lstStyle/>
          <a:p>
            <a:r>
              <a:rPr lang="en-US" altLang="zh-TW" dirty="0" smtClean="0"/>
              <a:t>-5</a:t>
            </a:r>
            <a:endParaRPr lang="zh-TW" altLang="en-US" dirty="0"/>
          </a:p>
        </p:txBody>
      </p:sp>
      <p:sp>
        <p:nvSpPr>
          <p:cNvPr id="17" name="矩形 16"/>
          <p:cNvSpPr/>
          <p:nvPr/>
        </p:nvSpPr>
        <p:spPr>
          <a:xfrm>
            <a:off x="894710" y="3501008"/>
            <a:ext cx="301686" cy="369332"/>
          </a:xfrm>
          <a:prstGeom prst="rect">
            <a:avLst/>
          </a:prstGeom>
        </p:spPr>
        <p:txBody>
          <a:bodyPr wrap="none">
            <a:spAutoFit/>
          </a:bodyPr>
          <a:lstStyle/>
          <a:p>
            <a:r>
              <a:rPr lang="en-US" altLang="zh-TW" dirty="0" smtClean="0"/>
              <a:t>0</a:t>
            </a:r>
            <a:endParaRPr lang="zh-TW" altLang="en-US" dirty="0"/>
          </a:p>
        </p:txBody>
      </p:sp>
      <p:sp>
        <p:nvSpPr>
          <p:cNvPr id="18" name="矩形 17"/>
          <p:cNvSpPr/>
          <p:nvPr/>
        </p:nvSpPr>
        <p:spPr>
          <a:xfrm>
            <a:off x="895626" y="2564904"/>
            <a:ext cx="301686" cy="369332"/>
          </a:xfrm>
          <a:prstGeom prst="rect">
            <a:avLst/>
          </a:prstGeom>
        </p:spPr>
        <p:txBody>
          <a:bodyPr wrap="none">
            <a:spAutoFit/>
          </a:bodyPr>
          <a:lstStyle/>
          <a:p>
            <a:r>
              <a:rPr lang="en-US" altLang="zh-TW" dirty="0" smtClean="0"/>
              <a:t>5</a:t>
            </a:r>
            <a:endParaRPr lang="zh-TW" altLang="en-US" dirty="0"/>
          </a:p>
        </p:txBody>
      </p:sp>
      <p:sp>
        <p:nvSpPr>
          <p:cNvPr id="19" name="矩形 18"/>
          <p:cNvSpPr/>
          <p:nvPr/>
        </p:nvSpPr>
        <p:spPr>
          <a:xfrm>
            <a:off x="894710" y="1700808"/>
            <a:ext cx="418704" cy="369332"/>
          </a:xfrm>
          <a:prstGeom prst="rect">
            <a:avLst/>
          </a:prstGeom>
        </p:spPr>
        <p:txBody>
          <a:bodyPr wrap="none">
            <a:spAutoFit/>
          </a:bodyPr>
          <a:lstStyle/>
          <a:p>
            <a:r>
              <a:rPr lang="en-US" altLang="zh-TW" dirty="0" smtClean="0"/>
              <a:t>10</a:t>
            </a:r>
            <a:endParaRPr lang="zh-TW" altLang="en-US" dirty="0"/>
          </a:p>
        </p:txBody>
      </p:sp>
      <p:sp>
        <p:nvSpPr>
          <p:cNvPr id="21" name="橢圓 20"/>
          <p:cNvSpPr/>
          <p:nvPr/>
        </p:nvSpPr>
        <p:spPr>
          <a:xfrm>
            <a:off x="2436912" y="3243064"/>
            <a:ext cx="169168" cy="1285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橢圓 21"/>
          <p:cNvSpPr/>
          <p:nvPr/>
        </p:nvSpPr>
        <p:spPr>
          <a:xfrm>
            <a:off x="3491880" y="2934236"/>
            <a:ext cx="169168" cy="128518"/>
          </a:xfrm>
          <a:prstGeom prst="ellipse">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p:cNvSpPr/>
          <p:nvPr/>
        </p:nvSpPr>
        <p:spPr>
          <a:xfrm>
            <a:off x="3995936" y="3870340"/>
            <a:ext cx="169168" cy="128518"/>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p:cNvSpPr/>
          <p:nvPr/>
        </p:nvSpPr>
        <p:spPr>
          <a:xfrm>
            <a:off x="3681376" y="2783575"/>
            <a:ext cx="341760" cy="369332"/>
          </a:xfrm>
          <a:prstGeom prst="rect">
            <a:avLst/>
          </a:prstGeom>
        </p:spPr>
        <p:txBody>
          <a:bodyPr wrap="none">
            <a:spAutoFit/>
          </a:bodyPr>
          <a:lstStyle/>
          <a:p>
            <a:r>
              <a:rPr lang="en-US" altLang="zh-TW" dirty="0" smtClean="0"/>
              <a:t>p</a:t>
            </a:r>
            <a:r>
              <a:rPr lang="en-US" altLang="zh-TW" baseline="-25000" dirty="0" smtClean="0"/>
              <a:t>i</a:t>
            </a:r>
            <a:endParaRPr lang="zh-TW" altLang="en-US" baseline="-25000" dirty="0"/>
          </a:p>
        </p:txBody>
      </p:sp>
      <p:sp>
        <p:nvSpPr>
          <p:cNvPr id="25" name="矩形 24"/>
          <p:cNvSpPr/>
          <p:nvPr/>
        </p:nvSpPr>
        <p:spPr>
          <a:xfrm>
            <a:off x="2116256" y="3242092"/>
            <a:ext cx="319318" cy="369332"/>
          </a:xfrm>
          <a:prstGeom prst="rect">
            <a:avLst/>
          </a:prstGeom>
        </p:spPr>
        <p:txBody>
          <a:bodyPr wrap="none">
            <a:spAutoFit/>
          </a:bodyPr>
          <a:lstStyle/>
          <a:p>
            <a:r>
              <a:rPr lang="en-US" altLang="zh-TW" dirty="0" smtClean="0"/>
              <a:t>x</a:t>
            </a:r>
            <a:r>
              <a:rPr lang="en-US" altLang="zh-TW" baseline="-25000" dirty="0" smtClean="0"/>
              <a:t>i</a:t>
            </a:r>
            <a:endParaRPr lang="zh-TW" altLang="en-US" baseline="-25000" dirty="0"/>
          </a:p>
        </p:txBody>
      </p:sp>
      <p:sp>
        <p:nvSpPr>
          <p:cNvPr id="26" name="矩形 25"/>
          <p:cNvSpPr/>
          <p:nvPr/>
        </p:nvSpPr>
        <p:spPr>
          <a:xfrm>
            <a:off x="4096256" y="3870340"/>
            <a:ext cx="375424" cy="369332"/>
          </a:xfrm>
          <a:prstGeom prst="rect">
            <a:avLst/>
          </a:prstGeom>
        </p:spPr>
        <p:txBody>
          <a:bodyPr wrap="none">
            <a:spAutoFit/>
          </a:bodyPr>
          <a:lstStyle/>
          <a:p>
            <a:r>
              <a:rPr lang="en-US" altLang="zh-TW" dirty="0" err="1" smtClean="0"/>
              <a:t>P</a:t>
            </a:r>
            <a:r>
              <a:rPr lang="en-US" altLang="zh-TW" baseline="-25000" dirty="0" err="1" smtClean="0"/>
              <a:t>g</a:t>
            </a:r>
            <a:endParaRPr lang="zh-TW" altLang="en-US" baseline="-25000" dirty="0"/>
          </a:p>
        </p:txBody>
      </p:sp>
      <p:cxnSp>
        <p:nvCxnSpPr>
          <p:cNvPr id="32" name="直線單箭頭接點 31"/>
          <p:cNvCxnSpPr/>
          <p:nvPr/>
        </p:nvCxnSpPr>
        <p:spPr>
          <a:xfrm flipV="1">
            <a:off x="2606080" y="3049018"/>
            <a:ext cx="885800" cy="20777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p:nvPr/>
        </p:nvCxnSpPr>
        <p:spPr>
          <a:xfrm>
            <a:off x="2604512" y="3288502"/>
            <a:ext cx="1320094" cy="5818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a:endCxn id="21" idx="0"/>
          </p:cNvCxnSpPr>
          <p:nvPr/>
        </p:nvCxnSpPr>
        <p:spPr>
          <a:xfrm>
            <a:off x="2051720" y="2348880"/>
            <a:ext cx="469776" cy="8941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3081694" y="3673758"/>
            <a:ext cx="399468" cy="369332"/>
          </a:xfrm>
          <a:prstGeom prst="rect">
            <a:avLst/>
          </a:prstGeom>
        </p:spPr>
        <p:txBody>
          <a:bodyPr wrap="none">
            <a:spAutoFit/>
          </a:bodyPr>
          <a:lstStyle/>
          <a:p>
            <a:r>
              <a:rPr lang="en-US" altLang="zh-TW" dirty="0" smtClean="0"/>
              <a:t>c2</a:t>
            </a:r>
            <a:endParaRPr lang="zh-TW" altLang="en-US" baseline="-25000" dirty="0"/>
          </a:p>
        </p:txBody>
      </p:sp>
      <p:sp>
        <p:nvSpPr>
          <p:cNvPr id="48" name="矩形 47"/>
          <p:cNvSpPr/>
          <p:nvPr/>
        </p:nvSpPr>
        <p:spPr>
          <a:xfrm>
            <a:off x="2887700" y="2864351"/>
            <a:ext cx="399468" cy="369332"/>
          </a:xfrm>
          <a:prstGeom prst="rect">
            <a:avLst/>
          </a:prstGeom>
        </p:spPr>
        <p:txBody>
          <a:bodyPr wrap="none">
            <a:spAutoFit/>
          </a:bodyPr>
          <a:lstStyle/>
          <a:p>
            <a:r>
              <a:rPr lang="en-US" altLang="zh-TW" dirty="0" smtClean="0"/>
              <a:t>c1</a:t>
            </a:r>
            <a:endParaRPr lang="zh-TW" altLang="en-US" baseline="-25000" dirty="0"/>
          </a:p>
        </p:txBody>
      </p:sp>
      <p:sp>
        <p:nvSpPr>
          <p:cNvPr id="49" name="矩形 48"/>
          <p:cNvSpPr/>
          <p:nvPr/>
        </p:nvSpPr>
        <p:spPr>
          <a:xfrm>
            <a:off x="1766480" y="2398038"/>
            <a:ext cx="349776" cy="369332"/>
          </a:xfrm>
          <a:prstGeom prst="rect">
            <a:avLst/>
          </a:prstGeom>
        </p:spPr>
        <p:txBody>
          <a:bodyPr wrap="none">
            <a:spAutoFit/>
          </a:bodyPr>
          <a:lstStyle/>
          <a:p>
            <a:r>
              <a:rPr lang="en-US" altLang="zh-TW" dirty="0" smtClean="0"/>
              <a:t>w</a:t>
            </a:r>
            <a:endParaRPr lang="zh-TW" altLang="en-US" baseline="-25000" dirty="0"/>
          </a:p>
        </p:txBody>
      </p:sp>
      <p:sp>
        <p:nvSpPr>
          <p:cNvPr id="50" name="橢圓 49"/>
          <p:cNvSpPr/>
          <p:nvPr/>
        </p:nvSpPr>
        <p:spPr>
          <a:xfrm>
            <a:off x="4068366" y="2284621"/>
            <a:ext cx="169168" cy="1285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橢圓 50"/>
          <p:cNvSpPr/>
          <p:nvPr/>
        </p:nvSpPr>
        <p:spPr>
          <a:xfrm>
            <a:off x="4932040" y="3124711"/>
            <a:ext cx="169168" cy="1285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橢圓 51"/>
          <p:cNvSpPr/>
          <p:nvPr/>
        </p:nvSpPr>
        <p:spPr>
          <a:xfrm>
            <a:off x="5364088" y="2564904"/>
            <a:ext cx="169168" cy="1285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橢圓 52"/>
          <p:cNvSpPr/>
          <p:nvPr/>
        </p:nvSpPr>
        <p:spPr>
          <a:xfrm>
            <a:off x="5279504" y="2964674"/>
            <a:ext cx="169168" cy="1285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橢圓 53"/>
          <p:cNvSpPr/>
          <p:nvPr/>
        </p:nvSpPr>
        <p:spPr>
          <a:xfrm>
            <a:off x="4932040" y="2156103"/>
            <a:ext cx="169168" cy="1285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橢圓 54"/>
          <p:cNvSpPr/>
          <p:nvPr/>
        </p:nvSpPr>
        <p:spPr>
          <a:xfrm>
            <a:off x="5448672" y="3806081"/>
            <a:ext cx="169168" cy="1285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xmlns="" val="146906408"/>
      </p:ext>
    </p:extLst>
  </p:cSld>
  <p:clrMapOvr>
    <a:masterClrMapping/>
  </p:clrMapOvr>
  <p:transition>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7</a:t>
            </a:fld>
            <a:endParaRPr lang="zh-TW" alt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897410" y="205810"/>
            <a:ext cx="5110733" cy="209622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955230" y="2302034"/>
            <a:ext cx="5072335" cy="206294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1907704" y="4437113"/>
            <a:ext cx="5119861" cy="203638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矩形 4"/>
          <p:cNvSpPr/>
          <p:nvPr/>
        </p:nvSpPr>
        <p:spPr>
          <a:xfrm>
            <a:off x="7164288" y="1019908"/>
            <a:ext cx="418704" cy="369332"/>
          </a:xfrm>
          <a:prstGeom prst="rect">
            <a:avLst/>
          </a:prstGeom>
        </p:spPr>
        <p:txBody>
          <a:bodyPr wrap="none">
            <a:spAutoFit/>
          </a:bodyPr>
          <a:lstStyle/>
          <a:p>
            <a:r>
              <a:rPr lang="en-US" altLang="zh-TW" dirty="0" smtClean="0"/>
              <a:t>10</a:t>
            </a:r>
            <a:endParaRPr lang="zh-TW" altLang="en-US" dirty="0"/>
          </a:p>
        </p:txBody>
      </p:sp>
      <p:sp>
        <p:nvSpPr>
          <p:cNvPr id="9" name="矩形 8"/>
          <p:cNvSpPr/>
          <p:nvPr/>
        </p:nvSpPr>
        <p:spPr>
          <a:xfrm>
            <a:off x="1478706" y="3069256"/>
            <a:ext cx="418704" cy="369332"/>
          </a:xfrm>
          <a:prstGeom prst="rect">
            <a:avLst/>
          </a:prstGeom>
        </p:spPr>
        <p:txBody>
          <a:bodyPr wrap="none">
            <a:spAutoFit/>
          </a:bodyPr>
          <a:lstStyle/>
          <a:p>
            <a:r>
              <a:rPr lang="en-US" altLang="zh-TW" dirty="0"/>
              <a:t>4</a:t>
            </a:r>
            <a:r>
              <a:rPr lang="en-US" altLang="zh-TW" dirty="0" smtClean="0"/>
              <a:t>0</a:t>
            </a:r>
            <a:endParaRPr lang="zh-TW" altLang="en-US" dirty="0"/>
          </a:p>
        </p:txBody>
      </p:sp>
      <p:sp>
        <p:nvSpPr>
          <p:cNvPr id="10" name="矩形 9"/>
          <p:cNvSpPr/>
          <p:nvPr/>
        </p:nvSpPr>
        <p:spPr>
          <a:xfrm>
            <a:off x="7164288" y="3069256"/>
            <a:ext cx="418704" cy="369332"/>
          </a:xfrm>
          <a:prstGeom prst="rect">
            <a:avLst/>
          </a:prstGeom>
        </p:spPr>
        <p:txBody>
          <a:bodyPr wrap="none">
            <a:spAutoFit/>
          </a:bodyPr>
          <a:lstStyle/>
          <a:p>
            <a:r>
              <a:rPr lang="en-US" altLang="zh-TW" dirty="0"/>
              <a:t>6</a:t>
            </a:r>
            <a:r>
              <a:rPr lang="en-US" altLang="zh-TW" dirty="0" smtClean="0"/>
              <a:t>0</a:t>
            </a:r>
            <a:endParaRPr lang="zh-TW" altLang="en-US" dirty="0"/>
          </a:p>
        </p:txBody>
      </p:sp>
      <p:sp>
        <p:nvSpPr>
          <p:cNvPr id="11" name="矩形 10"/>
          <p:cNvSpPr/>
          <p:nvPr/>
        </p:nvSpPr>
        <p:spPr>
          <a:xfrm>
            <a:off x="1489000" y="5103418"/>
            <a:ext cx="418704" cy="369332"/>
          </a:xfrm>
          <a:prstGeom prst="rect">
            <a:avLst/>
          </a:prstGeom>
        </p:spPr>
        <p:txBody>
          <a:bodyPr wrap="none">
            <a:spAutoFit/>
          </a:bodyPr>
          <a:lstStyle/>
          <a:p>
            <a:r>
              <a:rPr lang="en-US" altLang="zh-TW" dirty="0"/>
              <a:t>8</a:t>
            </a:r>
            <a:r>
              <a:rPr lang="en-US" altLang="zh-TW" dirty="0" smtClean="0"/>
              <a:t>0</a:t>
            </a:r>
            <a:endParaRPr lang="zh-TW" altLang="en-US" dirty="0"/>
          </a:p>
        </p:txBody>
      </p:sp>
      <p:sp>
        <p:nvSpPr>
          <p:cNvPr id="13" name="矩形 12"/>
          <p:cNvSpPr/>
          <p:nvPr/>
        </p:nvSpPr>
        <p:spPr>
          <a:xfrm>
            <a:off x="7164288" y="5085972"/>
            <a:ext cx="535724" cy="369332"/>
          </a:xfrm>
          <a:prstGeom prst="rect">
            <a:avLst/>
          </a:prstGeom>
        </p:spPr>
        <p:txBody>
          <a:bodyPr wrap="none">
            <a:spAutoFit/>
          </a:bodyPr>
          <a:lstStyle/>
          <a:p>
            <a:r>
              <a:rPr lang="en-US" altLang="zh-TW" dirty="0" smtClean="0"/>
              <a:t>100</a:t>
            </a:r>
            <a:endParaRPr lang="zh-TW" altLang="en-US" dirty="0"/>
          </a:p>
        </p:txBody>
      </p:sp>
      <p:sp>
        <p:nvSpPr>
          <p:cNvPr id="14" name="矩形 13"/>
          <p:cNvSpPr/>
          <p:nvPr/>
        </p:nvSpPr>
        <p:spPr>
          <a:xfrm>
            <a:off x="1478706" y="1019908"/>
            <a:ext cx="548420" cy="369332"/>
          </a:xfrm>
          <a:prstGeom prst="rect">
            <a:avLst/>
          </a:prstGeom>
        </p:spPr>
        <p:txBody>
          <a:bodyPr wrap="none">
            <a:spAutoFit/>
          </a:bodyPr>
          <a:lstStyle/>
          <a:p>
            <a:r>
              <a:rPr lang="en-US" altLang="zh-TW" dirty="0" smtClean="0"/>
              <a:t>first</a:t>
            </a:r>
            <a:endParaRPr lang="zh-TW" altLang="en-US" dirty="0"/>
          </a:p>
        </p:txBody>
      </p:sp>
    </p:spTree>
    <p:extLst>
      <p:ext uri="{BB962C8B-B14F-4D97-AF65-F5344CB8AC3E}">
        <p14:creationId xmlns:p14="http://schemas.microsoft.com/office/powerpoint/2010/main" xmlns="" val="3294564193"/>
      </p:ext>
    </p:extLst>
  </p:cSld>
  <p:clrMapOvr>
    <a:masterClrMapping/>
  </p:clrMapOvr>
  <p:transition>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Center </a:t>
            </a:r>
            <a:r>
              <a:rPr lang="en-US" altLang="zh-TW" dirty="0" smtClean="0"/>
              <a:t>Particle Swarm </a:t>
            </a:r>
            <a:r>
              <a:rPr lang="en-US" altLang="zh-TW" dirty="0"/>
              <a:t>O</a:t>
            </a:r>
            <a:r>
              <a:rPr lang="en-US" altLang="zh-TW" dirty="0" smtClean="0"/>
              <a:t>ptimization (</a:t>
            </a:r>
            <a:r>
              <a:rPr lang="en-US" altLang="zh-TW" dirty="0" err="1"/>
              <a:t>CenterPSO</a:t>
            </a:r>
            <a:r>
              <a:rPr lang="en-US" altLang="zh-TW" dirty="0"/>
              <a:t>)</a:t>
            </a:r>
            <a:endParaRPr lang="zh-TW" altLang="en-US" dirty="0"/>
          </a:p>
        </p:txBody>
      </p:sp>
      <p:sp>
        <p:nvSpPr>
          <p:cNvPr id="3" name="內容版面配置區 2"/>
          <p:cNvSpPr>
            <a:spLocks noGrp="1"/>
          </p:cNvSpPr>
          <p:nvPr>
            <p:ph idx="1"/>
          </p:nvPr>
        </p:nvSpPr>
        <p:spPr/>
        <p:txBody>
          <a:bodyPr/>
          <a:lstStyle/>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8</a:t>
            </a:fld>
            <a:endParaRPr lang="zh-TW" alt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39552" y="2326290"/>
            <a:ext cx="2638425" cy="7524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3059832" y="1574531"/>
            <a:ext cx="5112568" cy="145732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3159681" y="2897498"/>
            <a:ext cx="5667375" cy="36099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489676746"/>
      </p:ext>
    </p:extLst>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Experiments</a:t>
            </a:r>
            <a:endParaRPr lang="zh-TW" altLang="en-US" dirty="0"/>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9</a:t>
            </a:fld>
            <a:endParaRPr lang="zh-TW" alt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11560" y="1628800"/>
            <a:ext cx="5591175" cy="10953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21085" y="3183642"/>
            <a:ext cx="5581650" cy="762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4100" name="Picture 4"/>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602035" y="4353262"/>
            <a:ext cx="5600700" cy="11049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矩形 4"/>
          <p:cNvSpPr/>
          <p:nvPr/>
        </p:nvSpPr>
        <p:spPr>
          <a:xfrm>
            <a:off x="6202735" y="1813466"/>
            <a:ext cx="2114233" cy="369332"/>
          </a:xfrm>
          <a:prstGeom prst="rect">
            <a:avLst/>
          </a:prstGeom>
        </p:spPr>
        <p:txBody>
          <a:bodyPr wrap="none">
            <a:spAutoFit/>
          </a:bodyPr>
          <a:lstStyle/>
          <a:p>
            <a:r>
              <a:rPr lang="en-US" altLang="zh-TW" dirty="0" err="1"/>
              <a:t>Rosenbrock</a:t>
            </a:r>
            <a:r>
              <a:rPr lang="en-US" altLang="zh-TW" dirty="0"/>
              <a:t> function</a:t>
            </a:r>
            <a:endParaRPr lang="zh-TW" altLang="en-US" dirty="0"/>
          </a:p>
        </p:txBody>
      </p:sp>
      <p:sp>
        <p:nvSpPr>
          <p:cNvPr id="6" name="矩形 5"/>
          <p:cNvSpPr/>
          <p:nvPr/>
        </p:nvSpPr>
        <p:spPr>
          <a:xfrm>
            <a:off x="6202735" y="3437002"/>
            <a:ext cx="1982274" cy="369332"/>
          </a:xfrm>
          <a:prstGeom prst="rect">
            <a:avLst/>
          </a:prstGeom>
        </p:spPr>
        <p:txBody>
          <a:bodyPr wrap="none">
            <a:spAutoFit/>
          </a:bodyPr>
          <a:lstStyle/>
          <a:p>
            <a:r>
              <a:rPr lang="en-US" altLang="zh-TW" dirty="0" err="1"/>
              <a:t>Rastrigrin</a:t>
            </a:r>
            <a:r>
              <a:rPr lang="en-US" altLang="zh-TW" dirty="0"/>
              <a:t> function:</a:t>
            </a:r>
            <a:endParaRPr lang="zh-TW" altLang="en-US" dirty="0"/>
          </a:p>
        </p:txBody>
      </p:sp>
      <p:sp>
        <p:nvSpPr>
          <p:cNvPr id="7" name="矩形 6"/>
          <p:cNvSpPr/>
          <p:nvPr/>
        </p:nvSpPr>
        <p:spPr>
          <a:xfrm>
            <a:off x="6202735" y="4536380"/>
            <a:ext cx="1915396" cy="369332"/>
          </a:xfrm>
          <a:prstGeom prst="rect">
            <a:avLst/>
          </a:prstGeom>
        </p:spPr>
        <p:txBody>
          <a:bodyPr wrap="none">
            <a:spAutoFit/>
          </a:bodyPr>
          <a:lstStyle/>
          <a:p>
            <a:r>
              <a:rPr lang="en-US" altLang="zh-TW" dirty="0" err="1"/>
              <a:t>Griewank</a:t>
            </a:r>
            <a:r>
              <a:rPr lang="en-US" altLang="zh-TW" dirty="0"/>
              <a:t> function</a:t>
            </a:r>
            <a:endParaRPr lang="zh-TW" altLang="en-US" dirty="0"/>
          </a:p>
        </p:txBody>
      </p:sp>
    </p:spTree>
    <p:extLst>
      <p:ext uri="{BB962C8B-B14F-4D97-AF65-F5344CB8AC3E}">
        <p14:creationId xmlns:p14="http://schemas.microsoft.com/office/powerpoint/2010/main" xmlns="" val="685024478"/>
      </p:ext>
    </p:extLst>
  </p:cSld>
  <p:clrMapOvr>
    <a:masterClrMapping/>
  </p:clrMapOvr>
  <p:transition>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Experiments</a:t>
            </a:r>
            <a:endParaRPr lang="zh-TW" altLang="en-US" dirty="0"/>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10</a:t>
            </a:fld>
            <a:endParaRPr lang="zh-TW" alt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96650" y="1484784"/>
            <a:ext cx="4795430" cy="350373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5125" name="Picture 5" descr="C:\Users\shiujj\Downloads\720px-Rosenbrock_function.svg.png"/>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364088" y="3501008"/>
            <a:ext cx="3429001" cy="257175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870042075"/>
      </p:ext>
    </p:extLst>
  </p:cSld>
  <p:clrMapOvr>
    <a:masterClrMapping/>
  </p:clrMapOvr>
  <p:transition>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Experiments</a:t>
            </a:r>
            <a:endParaRPr lang="zh-TW" altLang="en-US" dirty="0"/>
          </a:p>
        </p:txBody>
      </p:sp>
      <p:sp>
        <p:nvSpPr>
          <p:cNvPr id="3" name="內容版面配置區 2"/>
          <p:cNvSpPr>
            <a:spLocks noGrp="1"/>
          </p:cNvSpPr>
          <p:nvPr>
            <p:ph idx="1"/>
          </p:nvPr>
        </p:nvSpPr>
        <p:spPr/>
        <p:txBody>
          <a:bodyPr/>
          <a:lstStyle/>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11</a:t>
            </a:fld>
            <a:endParaRPr lang="zh-TW" altLang="en-US"/>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67544" y="1628799"/>
            <a:ext cx="4841364" cy="361466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6147" name="Picture 3" descr="C:\Users\shiujj\Downloads\300px-Rastrigin_function.png"/>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436096" y="4365104"/>
            <a:ext cx="3212976" cy="175672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818940546"/>
      </p:ext>
    </p:extLst>
  </p:cSld>
  <p:clrMapOvr>
    <a:masterClrMapping/>
  </p:clrMapOvr>
  <p:transition>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Experiments</a:t>
            </a:r>
            <a:endParaRPr lang="zh-TW" altLang="en-US" dirty="0"/>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12</a:t>
            </a:fld>
            <a:endParaRPr lang="zh-TW" altLang="en-US"/>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39552" y="1628800"/>
            <a:ext cx="4725020" cy="36004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6" name="Picture 2" descr="C:\Users\shiujj\Downloads\image8891.jpg"/>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440794" y="4005064"/>
            <a:ext cx="3230826" cy="213072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985246730"/>
      </p:ext>
    </p:extLst>
  </p:cSld>
  <p:clrMapOvr>
    <a:masterClrMapping/>
  </p:clrMapOvr>
  <p:transition>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568575"/>
            <a:ext cx="7772400" cy="1470025"/>
          </a:xfrm>
        </p:spPr>
        <p:txBody>
          <a:bodyPr/>
          <a:lstStyle/>
          <a:p>
            <a:r>
              <a:rPr lang="en-US" dirty="0" smtClean="0"/>
              <a:t>Thank You!</a:t>
            </a:r>
            <a:endParaRPr lang="en-US" dirty="0"/>
          </a:p>
        </p:txBody>
      </p:sp>
      <p:sp>
        <p:nvSpPr>
          <p:cNvPr id="4" name="Slide Number Placeholder 3"/>
          <p:cNvSpPr>
            <a:spLocks noGrp="1"/>
          </p:cNvSpPr>
          <p:nvPr>
            <p:ph type="sldNum" sz="quarter" idx="12"/>
          </p:nvPr>
        </p:nvSpPr>
        <p:spPr/>
        <p:txBody>
          <a:bodyPr/>
          <a:lstStyle/>
          <a:p>
            <a:fld id="{A036DC8D-9A1F-4CC6-BEE1-B9238DE6B38E}" type="slidenum">
              <a:rPr lang="en-US" smtClean="0"/>
              <a:pPr/>
              <a:t>13</a:t>
            </a:fld>
            <a:endParaRPr lang="en-US"/>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xmlns="" val="2783363741"/>
      </p:ext>
    </p:extLst>
  </p:cSld>
  <p:clrMapOvr>
    <a:masterClrMapping/>
  </p:clrMapOvr>
  <p:transition spd="slow">
    <p:cut/>
  </p:transition>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987</TotalTime>
  <Words>320</Words>
  <Application>Microsoft Office PowerPoint</Application>
  <PresentationFormat>如螢幕大小 (4:3)</PresentationFormat>
  <Paragraphs>60</Paragraphs>
  <Slides>13</Slides>
  <Notes>0</Notes>
  <HiddenSlides>0</HiddenSlides>
  <MMClips>0</MMClips>
  <ScaleCrop>false</ScaleCrop>
  <HeadingPairs>
    <vt:vector size="4" baseType="variant">
      <vt:variant>
        <vt:lpstr>佈景主題</vt:lpstr>
      </vt:variant>
      <vt:variant>
        <vt:i4>1</vt:i4>
      </vt:variant>
      <vt:variant>
        <vt:lpstr>投影片標題</vt:lpstr>
      </vt:variant>
      <vt:variant>
        <vt:i4>13</vt:i4>
      </vt:variant>
    </vt:vector>
  </HeadingPairs>
  <TitlesOfParts>
    <vt:vector size="14" baseType="lpstr">
      <vt:lpstr>Office 佈景主題</vt:lpstr>
      <vt:lpstr>Center Particle Swarm Optimization</vt:lpstr>
      <vt:lpstr>Abstract</vt:lpstr>
      <vt:lpstr>Abstract</vt:lpstr>
      <vt:lpstr>Linearly Decreasing Weight Particle Swarm Optimization(LDWPSO)</vt:lpstr>
      <vt:lpstr>Linearly Decreasing Weight Particle Swarm Optimization(LDWPSO)</vt:lpstr>
      <vt:lpstr>Linearly Decreasing Weight Particle Swarm Optimization(LDWPSO)</vt:lpstr>
      <vt:lpstr>投影片 7</vt:lpstr>
      <vt:lpstr>Center Particle Swarm Optimization (CenterPSO)</vt:lpstr>
      <vt:lpstr>Experiments</vt:lpstr>
      <vt:lpstr>Experiments</vt:lpstr>
      <vt:lpstr>Experiments</vt:lpstr>
      <vt:lpstr>Experiments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Complexity of Multiway Cuts</dc:title>
  <dc:creator>sjiujj</dc:creator>
  <cp:lastModifiedBy>admin</cp:lastModifiedBy>
  <cp:revision>87</cp:revision>
  <dcterms:created xsi:type="dcterms:W3CDTF">2013-02-19T02:19:26Z</dcterms:created>
  <dcterms:modified xsi:type="dcterms:W3CDTF">2013-06-25T12:06:55Z</dcterms:modified>
</cp:coreProperties>
</file>