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BA2CCC6-1621-43AA-80E1-9C918F862ACB}">
          <p14:sldIdLst>
            <p14:sldId id="256"/>
            <p14:sldId id="257"/>
            <p14:sldId id="258"/>
            <p14:sldId id="259"/>
            <p14:sldId id="260"/>
            <p14:sldId id="261"/>
            <p14:sldId id="267"/>
            <p14:sldId id="268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CCAE0-0C81-4B78-82D1-11BE0D61DB07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A19FDD-675A-4A39-B0F1-906E5BA6EFB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19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1736F9-A0BE-4D52-9097-BF965413D210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B2AB0-7B78-40EC-A30E-F42C75B51AA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63848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B2AB0-7B78-40EC-A30E-F42C75B51AA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88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 smtClean="0"/>
              <a:t>按一下以編輯母片副標題樣式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AEB65-1833-43F1-BD28-90CA58C223F1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95561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26542-6EFB-4063-A5B0-41FD0D95C3CD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6798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74AF9-5678-44F8-A5F3-25F4EE962BEB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975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ABEE-C7E4-40C4-92CB-86E1D58CE5C6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69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A883-52C2-486B-8EA1-085A9CDA4FB8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3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D4510-C05F-405E-BF57-EDA10426F4FA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48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B8CA7-07F3-4DAF-849D-048C755ED96A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453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BBA66-D99D-4975-B43D-26D9BBCD9CA3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986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2A5DC-8ED7-4BFB-AF27-C684B4AEE8F0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320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8128C-3907-40E0-8A52-3CB0064A414F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090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2582-DD10-43EA-B141-5A8AB99B0301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5656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5E5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7C3D2-FFA1-4493-B768-C3A89A67BE4C}" type="datetime1">
              <a:rPr lang="zh-TW" altLang="en-US" smtClean="0"/>
              <a:t>2013/6/25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4D10255-A13B-40DE-A818-E35E0185DB7F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684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>
          <a:xfrm>
            <a:off x="685800" y="518815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4000" b="1" dirty="0"/>
              <a:t>Identifying almost identical </a:t>
            </a:r>
            <a:r>
              <a:rPr lang="en-US" altLang="zh-TW" sz="4000" b="1" dirty="0" smtClean="0"/>
              <a:t>files using </a:t>
            </a:r>
            <a:r>
              <a:rPr lang="en-US" altLang="zh-TW" sz="4000" b="1" dirty="0"/>
              <a:t>context </a:t>
            </a:r>
            <a:r>
              <a:rPr lang="en-US" altLang="zh-TW" sz="4000" b="1" dirty="0" smtClean="0"/>
              <a:t>triggered piecewise hashing</a:t>
            </a:r>
            <a:endParaRPr lang="zh-TW" altLang="en-US" sz="4000" b="1" dirty="0"/>
          </a:p>
        </p:txBody>
      </p:sp>
      <p:sp>
        <p:nvSpPr>
          <p:cNvPr id="5" name="副標題 3"/>
          <p:cNvSpPr>
            <a:spLocks noGrp="1"/>
          </p:cNvSpPr>
          <p:nvPr>
            <p:ph type="subTitle" idx="1"/>
          </p:nvPr>
        </p:nvSpPr>
        <p:spPr>
          <a:xfrm>
            <a:off x="1411560" y="2394847"/>
            <a:ext cx="6400800" cy="3554433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Jesse </a:t>
            </a:r>
            <a:r>
              <a:rPr lang="en-US" altLang="zh-TW" sz="2800" dirty="0" err="1" smtClean="0"/>
              <a:t>Kornblum</a:t>
            </a:r>
            <a:endParaRPr lang="en-US" altLang="zh-TW" sz="2800" dirty="0" smtClean="0"/>
          </a:p>
          <a:p>
            <a:r>
              <a:rPr lang="en-US" altLang="zh-TW" sz="2800" dirty="0"/>
              <a:t>Digital Investigation 3S (2006) S91–S97</a:t>
            </a:r>
            <a:endParaRPr lang="en-US" altLang="zh-TW" sz="2800" dirty="0" smtClean="0"/>
          </a:p>
        </p:txBody>
      </p:sp>
      <p:sp>
        <p:nvSpPr>
          <p:cNvPr id="8" name="副標題 3"/>
          <p:cNvSpPr txBox="1">
            <a:spLocks/>
          </p:cNvSpPr>
          <p:nvPr/>
        </p:nvSpPr>
        <p:spPr>
          <a:xfrm>
            <a:off x="323528" y="5425298"/>
            <a:ext cx="6400800" cy="1244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Presenter: </a:t>
            </a:r>
            <a:r>
              <a:rPr lang="en-US" altLang="zh-TW" sz="2800" dirty="0" err="1" smtClean="0">
                <a:solidFill>
                  <a:schemeClr val="tx1"/>
                </a:solidFill>
              </a:rPr>
              <a:t>Che-Jui</a:t>
            </a:r>
            <a:r>
              <a:rPr lang="en-US" altLang="zh-TW" sz="2800" dirty="0" smtClean="0">
                <a:solidFill>
                  <a:schemeClr val="tx1"/>
                </a:solidFill>
              </a:rPr>
              <a:t> Hsu(</a:t>
            </a:r>
            <a:r>
              <a:rPr lang="zh-TW" altLang="en-US" sz="2800" dirty="0" smtClean="0">
                <a:solidFill>
                  <a:schemeClr val="tx1"/>
                </a:solidFill>
              </a:rPr>
              <a:t>許哲睿</a:t>
            </a:r>
            <a:r>
              <a:rPr lang="en-US" altLang="zh-TW" sz="2800" dirty="0" smtClean="0">
                <a:solidFill>
                  <a:schemeClr val="tx1"/>
                </a:solidFill>
              </a:rPr>
              <a:t>)</a:t>
            </a:r>
          </a:p>
          <a:p>
            <a:pPr algn="l"/>
            <a:r>
              <a:rPr lang="en-US" altLang="zh-TW" sz="2800" dirty="0" smtClean="0">
                <a:solidFill>
                  <a:schemeClr val="tx1"/>
                </a:solidFill>
              </a:rPr>
              <a:t>Date: </a:t>
            </a:r>
            <a:fld id="{3DC95CE2-72FD-4627-B4FE-7CBC89963158}" type="datetime1">
              <a:rPr lang="zh-TW" altLang="en-US" sz="2800" smtClean="0">
                <a:solidFill>
                  <a:schemeClr val="tx1"/>
                </a:solidFill>
              </a:rPr>
              <a:t>2013/6/25</a:t>
            </a:fld>
            <a:endParaRPr lang="en-US" altLang="zh-TW" sz="2800" dirty="0" smtClean="0">
              <a:solidFill>
                <a:schemeClr val="tx1"/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28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Abstract</a:t>
            </a:r>
            <a:endParaRPr lang="zh-TW" altLang="en-US" b="1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457200" algn="just">
              <a:buNone/>
            </a:pPr>
            <a:r>
              <a:rPr lang="en-US" altLang="zh-TW" dirty="0"/>
              <a:t>Homologous files share identical sets of bits in the same order. Because such files are </a:t>
            </a:r>
            <a:r>
              <a:rPr lang="en-US" altLang="zh-TW" dirty="0" smtClean="0"/>
              <a:t>not completely </a:t>
            </a:r>
            <a:r>
              <a:rPr lang="en-US" altLang="zh-TW" dirty="0"/>
              <a:t>identical, traditional techniques such as cryptographic hashing cannot be </a:t>
            </a:r>
            <a:r>
              <a:rPr lang="en-US" altLang="zh-TW" dirty="0" smtClean="0"/>
              <a:t>used to </a:t>
            </a:r>
            <a:r>
              <a:rPr lang="en-US" altLang="zh-TW" dirty="0"/>
              <a:t>identify them. This paper introduces a new technique for constructing hash </a:t>
            </a:r>
            <a:r>
              <a:rPr lang="en-US" altLang="zh-TW" dirty="0" smtClean="0"/>
              <a:t>signatures by </a:t>
            </a:r>
            <a:r>
              <a:rPr lang="en-US" altLang="zh-TW" dirty="0"/>
              <a:t>combining a number of traditional hashes whose boundaries are determined by </a:t>
            </a:r>
            <a:r>
              <a:rPr lang="en-US" altLang="zh-TW" dirty="0" smtClean="0"/>
              <a:t>the context </a:t>
            </a:r>
            <a:r>
              <a:rPr lang="en-US" altLang="zh-TW" dirty="0"/>
              <a:t>of the input. These signatures can be used to identify modified versions of </a:t>
            </a:r>
            <a:r>
              <a:rPr lang="en-US" altLang="zh-TW" dirty="0" smtClean="0"/>
              <a:t>known files </a:t>
            </a:r>
            <a:r>
              <a:rPr lang="en-US" altLang="zh-TW" dirty="0"/>
              <a:t>even if data has been inserted, modified, or deleted in the new files. The description </a:t>
            </a:r>
            <a:r>
              <a:rPr lang="en-US" altLang="zh-TW" dirty="0" smtClean="0"/>
              <a:t>of this </a:t>
            </a:r>
            <a:r>
              <a:rPr lang="en-US" altLang="zh-TW" dirty="0"/>
              <a:t>method is followed by a brief analysis of its performance and some sample </a:t>
            </a:r>
            <a:r>
              <a:rPr lang="en-US" altLang="zh-TW" dirty="0" smtClean="0"/>
              <a:t>applications to </a:t>
            </a:r>
            <a:r>
              <a:rPr lang="en-US" altLang="zh-TW" dirty="0"/>
              <a:t>computer forensics.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675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The </a:t>
            </a:r>
            <a:r>
              <a:rPr lang="en-US" altLang="zh-TW" b="1" dirty="0" err="1"/>
              <a:t>spamsum</a:t>
            </a:r>
            <a:r>
              <a:rPr lang="en-US" altLang="zh-TW" b="1" dirty="0"/>
              <a:t> </a:t>
            </a:r>
            <a:r>
              <a:rPr lang="en-US" altLang="zh-TW" b="1" dirty="0" smtClean="0"/>
              <a:t>algorithm (1/3)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6"/>
          <a:stretch/>
        </p:blipFill>
        <p:spPr bwMode="auto">
          <a:xfrm>
            <a:off x="2483768" y="1267881"/>
            <a:ext cx="4302919" cy="5545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5775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The </a:t>
            </a:r>
            <a:r>
              <a:rPr lang="en-US" altLang="zh-TW" b="1" dirty="0" err="1"/>
              <a:t>spamsum</a:t>
            </a:r>
            <a:r>
              <a:rPr lang="en-US" altLang="zh-TW" b="1" dirty="0"/>
              <a:t> algorithm </a:t>
            </a:r>
            <a:r>
              <a:rPr lang="en-US" altLang="zh-TW" b="1" dirty="0" smtClean="0"/>
              <a:t>(2/3)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Step1: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𝑖𝑛𝑖𝑡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𝑚𝑖𝑛</m:t>
                        </m:r>
                      </m:sub>
                    </m:sSub>
                    <m:sSup>
                      <m:sSup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func>
                          <m:func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TW" b="0" i="0" smtClean="0">
                                    <a:latin typeface="Cambria Math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𝑆</m:t>
                                    </m:r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/>
                                          </a:rPr>
                                          <m:t>𝑚𝑖𝑛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func>
                      </m:sup>
                    </m:sSup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is minimum block size,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𝑆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/>
                  <a:t>is </a:t>
                </a:r>
                <a:r>
                  <a:rPr lang="en-US" altLang="zh-TW" dirty="0" err="1"/>
                  <a:t>spamsum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length</a:t>
                </a:r>
              </a:p>
              <a:p>
                <a:r>
                  <a:rPr lang="en-US" altLang="zh-TW" dirty="0" smtClean="0"/>
                  <a:t>Step2: each time, read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𝑑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bytes as input</a:t>
                </a:r>
              </a:p>
              <a:p>
                <a:r>
                  <a:rPr lang="en-US" altLang="zh-TW" dirty="0" smtClean="0"/>
                  <a:t>Step3a: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if</m:t>
                    </m:r>
                    <m:r>
                      <a:rPr lang="en-US" altLang="zh-TW" b="0" i="1" dirty="0" smtClean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dirty="0"/>
                          <m:t>rolling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/>
                          <m:t>hash</m:t>
                        </m:r>
                      </m:e>
                    </m:d>
                    <m:r>
                      <a:rPr lang="en-US" altLang="zh-TW" b="0" i="1" dirty="0" smtClean="0">
                        <a:latin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</a:rPr>
                      <m:t>𝑚𝑜𝑑</m:t>
                    </m:r>
                    <m:r>
                      <a:rPr lang="en-US" altLang="zh-TW" b="0" i="1" smtClean="0">
                        <a:latin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</a:rPr>
                      <m:t>𝑏</m:t>
                    </m:r>
                    <m:r>
                      <a:rPr lang="en-US" altLang="zh-TW" b="0" i="1" smtClean="0"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latin typeface="Cambria Math"/>
                      </a:rPr>
                      <m:t>𝑏</m:t>
                    </m:r>
                    <m:r>
                      <a:rPr lang="en-US" altLang="zh-TW" b="0" i="1" smtClean="0">
                        <a:latin typeface="Cambria Math"/>
                      </a:rPr>
                      <m:t>−1⟹</m:t>
                    </m:r>
                    <m:sSub>
                      <m:sSubPr>
                        <m:ctrlPr>
                          <a:rPr lang="en-US" altLang="zh-TW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𝑠𝑖𝑔𝑛𝑎𝑡𝑢𝑟𝑒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+=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/>
                          <m:t>traditional</m:t>
                        </m:r>
                        <m:r>
                          <m:rPr>
                            <m:nor/>
                          </m:rPr>
                          <a:rPr lang="en-US" altLang="zh-TW"/>
                          <m:t> </m:t>
                        </m:r>
                        <m:r>
                          <m:rPr>
                            <m:nor/>
                          </m:rPr>
                          <a:rPr lang="en-US" altLang="zh-TW"/>
                          <m:t>hash</m:t>
                        </m:r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 64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Step3b: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if</m:t>
                    </m:r>
                    <m:r>
                      <a:rPr lang="en-US" altLang="zh-TW" i="1" dirty="0">
                        <a:latin typeface="Cambria Math"/>
                      </a:rPr>
                      <m:t> </m:t>
                    </m:r>
                    <m:d>
                      <m:dPr>
                        <m:ctrlPr>
                          <a:rPr lang="en-US" altLang="zh-TW" i="1" dirty="0">
                            <a:latin typeface="Cambria Math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dirty="0"/>
                          <m:t>rolling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  <m:r>
                          <m:rPr>
                            <m:nor/>
                          </m:rPr>
                          <a:rPr lang="en-US" altLang="zh-TW" dirty="0"/>
                          <m:t>hash</m:t>
                        </m:r>
                      </m:e>
                    </m:d>
                    <m:r>
                      <a:rPr lang="en-US" altLang="zh-TW" i="1" dirty="0">
                        <a:latin typeface="Cambria Math"/>
                      </a:rPr>
                      <m:t> </m:t>
                    </m:r>
                    <m:r>
                      <a:rPr lang="en-US" altLang="zh-TW" i="1">
                        <a:latin typeface="Cambria Math"/>
                      </a:rPr>
                      <m:t>𝑚𝑜𝑑</m:t>
                    </m:r>
                    <m:r>
                      <a:rPr lang="en-US" altLang="zh-TW" i="1">
                        <a:latin typeface="Cambria Math"/>
                      </a:rPr>
                      <m:t> 2</m:t>
                    </m:r>
                    <m:r>
                      <a:rPr lang="en-US" altLang="zh-TW" i="1">
                        <a:latin typeface="Cambria Math"/>
                      </a:rPr>
                      <m:t>𝑏</m:t>
                    </m:r>
                    <m:r>
                      <a:rPr lang="en-US" altLang="zh-TW" i="1">
                        <a:latin typeface="Cambria Math"/>
                      </a:rPr>
                      <m:t>=2</m:t>
                    </m:r>
                    <m:r>
                      <a:rPr lang="en-US" altLang="zh-TW" i="1">
                        <a:latin typeface="Cambria Math"/>
                      </a:rPr>
                      <m:t>𝑏</m:t>
                    </m:r>
                    <m:r>
                      <a:rPr lang="en-US" altLang="zh-TW" i="1">
                        <a:latin typeface="Cambria Math"/>
                      </a:rPr>
                      <m:t>−1⟹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  <a:ea typeface="Cambria Math"/>
                          </a:rPr>
                          <m:t>𝑠𝑖𝑔𝑛𝑎𝑡𝑢𝑟𝑒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/>
                        <a:ea typeface="Cambria Math"/>
                      </a:rPr>
                      <m:t>+=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/>
                          <m:t>traditional</m:t>
                        </m:r>
                        <m:r>
                          <m:rPr>
                            <m:nor/>
                          </m:rPr>
                          <a:rPr lang="en-US" altLang="zh-TW"/>
                          <m:t> </m:t>
                        </m:r>
                        <m:r>
                          <m:rPr>
                            <m:nor/>
                          </m:rPr>
                          <a:rPr lang="en-US" altLang="zh-TW"/>
                          <m:t>hash</m:t>
                        </m:r>
                      </m:e>
                    </m:d>
                    <m:r>
                      <a:rPr lang="en-US" altLang="zh-TW" i="1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𝑚𝑜𝑑</m:t>
                    </m:r>
                    <m:r>
                      <a:rPr lang="en-US" altLang="zh-TW" i="1">
                        <a:latin typeface="Cambria Math"/>
                        <a:ea typeface="Cambria Math"/>
                      </a:rPr>
                      <m:t> 64</m:t>
                    </m:r>
                  </m:oMath>
                </a14:m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827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The </a:t>
            </a:r>
            <a:r>
              <a:rPr lang="en-US" altLang="zh-TW" b="1" dirty="0" err="1"/>
              <a:t>spamsum</a:t>
            </a:r>
            <a:r>
              <a:rPr lang="en-US" altLang="zh-TW" b="1" dirty="0"/>
              <a:t> algorithm </a:t>
            </a:r>
            <a:r>
              <a:rPr lang="en-US" altLang="zh-TW" b="1" dirty="0" smtClean="0"/>
              <a:t>(3/3)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Step4: if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𝑙𝑒𝑛𝑔𝑡h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  <a:ea typeface="Cambria Math"/>
                              </a:rPr>
                              <m:t>𝑠𝑖𝑔𝑛𝑎𝑡𝑢𝑟𝑒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&lt;</m:t>
                    </m:r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𝑆</m:t>
                        </m:r>
                      </m:num>
                      <m:den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⟹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en-US" altLang="zh-TW" b="0" i="1" smtClean="0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altLang="zh-TW" b="0" i="1" smtClean="0">
                            <a:latin typeface="Cambria Math"/>
                            <a:ea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𝑏</m:t>
                        </m:r>
                      </m:num>
                      <m:den>
                        <m:r>
                          <a:rPr lang="en-US" altLang="zh-TW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go to Step2 (</a:t>
                </a:r>
                <a:r>
                  <a:rPr lang="zh-TW" altLang="en-US" dirty="0" smtClean="0"/>
                  <a:t>重跑一次</a:t>
                </a:r>
                <a:r>
                  <a:rPr lang="en-US" altLang="zh-TW" dirty="0" smtClean="0"/>
                  <a:t>)</a:t>
                </a:r>
              </a:p>
              <a:p>
                <a:r>
                  <a:rPr lang="en-US" altLang="zh-TW" dirty="0" smtClean="0"/>
                  <a:t>Step5: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𝑠𝑖𝑔𝑛𝑎𝑡𝑢𝑟𝑒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𝑏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: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𝑠𝑖𝑔𝑛𝑎𝑡𝑢𝑟𝑒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: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𝑠𝑖𝑔𝑛𝑎𝑡𝑢𝑟𝑒</m:t>
                        </m:r>
                      </m:e>
                      <m:sub>
                        <m:r>
                          <a:rPr lang="en-US" altLang="zh-TW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0" y="4005064"/>
            <a:ext cx="90868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0048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Comparing </a:t>
            </a:r>
            <a:r>
              <a:rPr lang="en-US" altLang="zh-TW" b="1" dirty="0" err="1"/>
              <a:t>spamsum</a:t>
            </a:r>
            <a:r>
              <a:rPr lang="en-US" altLang="zh-TW" b="1" dirty="0"/>
              <a:t> </a:t>
            </a:r>
            <a:r>
              <a:rPr lang="en-US" altLang="zh-TW" b="1" dirty="0" smtClean="0"/>
              <a:t>signatures</a:t>
            </a:r>
            <a:r>
              <a:rPr lang="zh-TW" altLang="en-US" b="1" dirty="0" smtClean="0"/>
              <a:t> </a:t>
            </a:r>
            <a:r>
              <a:rPr lang="en-US" altLang="zh-TW" b="1" dirty="0" smtClean="0"/>
              <a:t>(1/3)</a:t>
            </a:r>
            <a:endParaRPr lang="zh-TW" alt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Two </a:t>
                </a:r>
                <a:r>
                  <a:rPr lang="en-US" altLang="zh-TW" dirty="0"/>
                  <a:t>signatures, the first with a </a:t>
                </a:r>
                <a:r>
                  <a:rPr lang="en-US" altLang="zh-TW" dirty="0" smtClean="0"/>
                  <a:t>block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size </a:t>
                </a:r>
                <a:r>
                  <a:rPr lang="en-US" altLang="zh-TW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and the second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TW" dirty="0"/>
                  <a:t>, </a:t>
                </a:r>
                <a:r>
                  <a:rPr lang="en-US" altLang="zh-TW" dirty="0"/>
                  <a:t>w</a:t>
                </a:r>
                <a:r>
                  <a:rPr lang="en-US" altLang="zh-TW" dirty="0" smtClean="0"/>
                  <a:t>e just </a:t>
                </a:r>
                <a:r>
                  <a:rPr lang="en-US" altLang="zh-TW" dirty="0"/>
                  <a:t>compare these two signatures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sub>
                    </m:sSub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b="0" i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sub>
                    </m:sSub>
                    <m:r>
                      <a:rPr lang="en-US" altLang="zh-TW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TW" dirty="0">
                    <a:solidFill>
                      <a:srgbClr val="FF0000"/>
                    </a:solidFill>
                  </a:rPr>
                  <a:t>, 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sub>
                    </m:sSub>
                    <m:r>
                      <a:rPr lang="en-US" altLang="zh-TW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r>
                      <a:rPr lang="en-US" altLang="zh-TW" b="0" i="1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sSub>
                      <m:sSubPr>
                        <m:ctrlP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zh-TW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altLang="zh-TW" dirty="0" smtClean="0"/>
                  <a:t>.</a:t>
                </a:r>
              </a:p>
              <a:p>
                <a:r>
                  <a:rPr lang="en-US" altLang="zh-TW" dirty="0"/>
                  <a:t>Edit distance</a:t>
                </a:r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𝑒</m:t>
                    </m:r>
                    <m:r>
                      <a:rPr lang="en-US" altLang="zh-TW" i="1">
                        <a:latin typeface="Cambria Math"/>
                      </a:rPr>
                      <m:t>=</m:t>
                    </m:r>
                    <m:r>
                      <a:rPr lang="en-US" altLang="zh-TW" i="1">
                        <a:latin typeface="Cambria Math"/>
                      </a:rPr>
                      <m:t>𝑖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m:rPr>
                        <m:nor/>
                      </m:rPr>
                      <a:rPr lang="en-US" altLang="zh-TW" dirty="0"/>
                      <m:t>insert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  <m:r>
                      <a:rPr lang="en-US" altLang="zh-TW" i="1">
                        <a:latin typeface="Cambria Math"/>
                      </a:rPr>
                      <m:t>+</m:t>
                    </m:r>
                    <m:r>
                      <a:rPr lang="en-US" altLang="zh-TW" i="1">
                        <a:latin typeface="Cambria Math"/>
                      </a:rPr>
                      <m:t>𝑑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m:rPr>
                        <m:nor/>
                      </m:rPr>
                      <a:rPr lang="en-US" altLang="zh-TW" dirty="0"/>
                      <m:t>delete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  <m:r>
                      <a:rPr lang="en-US" altLang="zh-TW" i="1">
                        <a:latin typeface="Cambria Math"/>
                      </a:rPr>
                      <m:t>+3</m:t>
                    </m:r>
                    <m:r>
                      <a:rPr lang="en-US" altLang="zh-TW" i="1">
                        <a:latin typeface="Cambria Math"/>
                      </a:rPr>
                      <m:t>𝑐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m:rPr>
                        <m:nor/>
                      </m:rPr>
                      <a:rPr lang="en-US" altLang="zh-TW" dirty="0"/>
                      <m:t>change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  <m:r>
                      <a:rPr lang="en-US" altLang="zh-TW" i="1">
                        <a:latin typeface="Cambria Math"/>
                      </a:rPr>
                      <m:t>+5</m:t>
                    </m:r>
                    <m:r>
                      <a:rPr lang="en-US" altLang="zh-TW" i="1">
                        <a:latin typeface="Cambria Math"/>
                      </a:rPr>
                      <m:t>𝑤</m:t>
                    </m:r>
                    <m:r>
                      <m:rPr>
                        <m:nor/>
                      </m:rPr>
                      <a:rPr lang="en-US" altLang="zh-TW" dirty="0"/>
                      <m:t>(</m:t>
                    </m:r>
                    <m:r>
                      <m:rPr>
                        <m:nor/>
                      </m:rPr>
                      <a:rPr lang="en-US" altLang="zh-TW" dirty="0"/>
                      <m:t>swap</m:t>
                    </m:r>
                    <m:r>
                      <m:rPr>
                        <m:nor/>
                      </m:rPr>
                      <a:rPr lang="en-US" altLang="zh-TW" dirty="0"/>
                      <m:t>)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Match score: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𝑀</m:t>
                    </m:r>
                    <m:r>
                      <a:rPr lang="en-US" altLang="zh-TW" b="0" i="1" smtClean="0">
                        <a:latin typeface="Cambria Math"/>
                      </a:rPr>
                      <m:t>=100−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TW" b="0" i="1" smtClean="0">
                                <a:latin typeface="Cambria Math"/>
                              </a:rPr>
                              <m:t>100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𝑆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∗</m:t>
                            </m:r>
                            <m:r>
                              <a:rPr lang="en-US" altLang="zh-TW" b="0" i="1" smtClean="0">
                                <a:latin typeface="Cambria Math"/>
                              </a:rPr>
                              <m:t>𝑒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altLang="zh-TW" b="0" i="1" smtClean="0">
                                <a:latin typeface="Cambria Math"/>
                              </a:rPr>
                              <m:t>64</m:t>
                            </m:r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 r="-5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6272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Comparing </a:t>
            </a:r>
            <a:r>
              <a:rPr lang="en-US" altLang="zh-TW" b="1" dirty="0" err="1"/>
              <a:t>spamsum</a:t>
            </a:r>
            <a:r>
              <a:rPr lang="en-US" altLang="zh-TW" b="1" dirty="0"/>
              <a:t> signatures</a:t>
            </a:r>
            <a:r>
              <a:rPr lang="zh-TW" altLang="en-US" b="1" dirty="0"/>
              <a:t> </a:t>
            </a:r>
            <a:r>
              <a:rPr lang="en-US" altLang="zh-TW" b="1" dirty="0" smtClean="0"/>
              <a:t>(2/3)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TW" dirty="0" smtClean="0"/>
                  <a:t>Comparing identical files</a:t>
                </a:r>
              </a:p>
              <a:p>
                <a:pPr lvl="1"/>
                <a:r>
                  <a:rPr lang="en-US" altLang="zh-TW" dirty="0" smtClean="0"/>
                  <a:t>Signature </a:t>
                </a:r>
                <a:r>
                  <a:rPr lang="zh-TW" altLang="en-US" dirty="0" smtClean="0"/>
                  <a:t>相同</a:t>
                </a:r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Edit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distance</m:t>
                    </m:r>
                    <m:r>
                      <a:rPr lang="en-US" altLang="zh-TW" i="1" dirty="0" smtClean="0">
                        <a:latin typeface="Cambria Math"/>
                      </a:rPr>
                      <m:t>=0</m:t>
                    </m:r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Match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score</m:t>
                    </m:r>
                    <m:r>
                      <a:rPr lang="en-US" altLang="zh-TW" i="1" dirty="0" smtClean="0">
                        <a:latin typeface="Cambria Math"/>
                      </a:rPr>
                      <m:t>=100</m:t>
                    </m:r>
                  </m:oMath>
                </a14:m>
                <a:endParaRPr lang="en-US" altLang="zh-TW" dirty="0" smtClean="0"/>
              </a:p>
              <a:p>
                <a:r>
                  <a:rPr lang="en-US" altLang="zh-TW" dirty="0"/>
                  <a:t>Without changing </a:t>
                </a:r>
                <a:r>
                  <a:rPr lang="en-US" altLang="zh-TW" dirty="0" smtClean="0"/>
                  <a:t>triggers</a:t>
                </a:r>
              </a:p>
              <a:p>
                <a:pPr lvl="1"/>
                <a:r>
                  <a:rPr lang="en-US" altLang="zh-TW" dirty="0" smtClean="0"/>
                  <a:t>Signature </a:t>
                </a:r>
                <a:r>
                  <a:rPr lang="zh-TW" altLang="en-US" dirty="0" smtClean="0"/>
                  <a:t>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TW" b="0" i="1" smtClean="0">
                            <a:latin typeface="Cambria Math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zh-TW" altLang="en-US" dirty="0" smtClean="0"/>
                  <a:t> 機率相同</a:t>
                </a:r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Edit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distance</m:t>
                    </m:r>
                    <m:r>
                      <a:rPr lang="en-US" altLang="zh-TW" i="1" dirty="0">
                        <a:latin typeface="Cambria Math"/>
                      </a:rPr>
                      <m:t>=</m:t>
                    </m:r>
                    <m:r>
                      <a:rPr lang="en-US" altLang="zh-TW" b="0" i="1" dirty="0" smtClean="0">
                        <a:latin typeface="Cambria Math"/>
                      </a:rPr>
                      <m:t>1</m:t>
                    </m:r>
                  </m:oMath>
                </a14:m>
                <a:endParaRPr lang="en-US" altLang="zh-TW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Match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score</m:t>
                    </m:r>
                    <m:r>
                      <a:rPr lang="en-US" altLang="zh-TW" i="1" dirty="0">
                        <a:latin typeface="Cambria Math"/>
                      </a:rPr>
                      <m:t>=</m:t>
                    </m:r>
                    <m:r>
                      <a:rPr lang="en-US" altLang="zh-TW" b="0" i="1" dirty="0" smtClean="0">
                        <a:latin typeface="Cambria Math"/>
                      </a:rPr>
                      <m:t>100−</m:t>
                    </m:r>
                    <m:d>
                      <m:dPr>
                        <m:ctrlPr>
                          <a:rPr lang="en-US" altLang="zh-TW" b="0" i="1" dirty="0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TW" i="1" dirty="0">
                                <a:latin typeface="Cambria Math"/>
                              </a:rPr>
                              <m:t>100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28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5913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/>
              <a:t>Comparing </a:t>
            </a:r>
            <a:r>
              <a:rPr lang="en-US" altLang="zh-TW" b="1" dirty="0" err="1"/>
              <a:t>spamsum</a:t>
            </a:r>
            <a:r>
              <a:rPr lang="en-US" altLang="zh-TW" b="1" dirty="0"/>
              <a:t> signatures</a:t>
            </a:r>
            <a:r>
              <a:rPr lang="zh-TW" altLang="en-US" b="1" dirty="0"/>
              <a:t> </a:t>
            </a:r>
            <a:r>
              <a:rPr lang="en-US" altLang="zh-TW" b="1" dirty="0" smtClean="0"/>
              <a:t>(3/3)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Changing triggers</a:t>
                </a:r>
              </a:p>
              <a:p>
                <a:pPr lvl="1"/>
                <a:r>
                  <a:rPr lang="en-US" altLang="zh-TW" dirty="0"/>
                  <a:t>Signature </a:t>
                </a:r>
                <a:r>
                  <a:rPr lang="zh-TW" altLang="en-US" dirty="0"/>
                  <a:t>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TW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TW" i="1">
                            <a:latin typeface="Cambria Math"/>
                          </a:rPr>
                          <m:t>−</m:t>
                        </m:r>
                        <m:r>
                          <a:rPr lang="en-US" altLang="zh-TW" b="0" i="1" smtClean="0">
                            <a:latin typeface="Cambria Math"/>
                          </a:rPr>
                          <m:t>12</m:t>
                        </m:r>
                      </m:sup>
                    </m:sSup>
                  </m:oMath>
                </a14:m>
                <a:r>
                  <a:rPr lang="zh-TW" altLang="en-US" dirty="0"/>
                  <a:t> 機率相同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Edit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distance</m:t>
                    </m:r>
                    <m:r>
                      <a:rPr lang="en-US" altLang="zh-TW" i="1" dirty="0">
                        <a:latin typeface="Cambria Math"/>
                      </a:rPr>
                      <m:t>=</m:t>
                    </m:r>
                    <m:r>
                      <a:rPr lang="en-US" altLang="zh-TW" b="0" i="1" dirty="0" smtClean="0">
                        <a:latin typeface="Cambria Math"/>
                      </a:rPr>
                      <m:t>2</m:t>
                    </m:r>
                  </m:oMath>
                </a14:m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dirty="0"/>
                      <m:t>Match</m:t>
                    </m:r>
                    <m:r>
                      <m:rPr>
                        <m:nor/>
                      </m:rPr>
                      <a:rPr lang="en-US" altLang="zh-TW" dirty="0"/>
                      <m:t> </m:t>
                    </m:r>
                    <m:r>
                      <m:rPr>
                        <m:nor/>
                      </m:rPr>
                      <a:rPr lang="en-US" altLang="zh-TW" dirty="0"/>
                      <m:t>score</m:t>
                    </m:r>
                    <m:r>
                      <a:rPr lang="en-US" altLang="zh-TW" i="1" dirty="0">
                        <a:latin typeface="Cambria Math"/>
                      </a:rPr>
                      <m:t>=</m:t>
                    </m:r>
                    <m:r>
                      <a:rPr lang="en-US" altLang="zh-TW" i="1" dirty="0">
                        <a:latin typeface="Cambria Math"/>
                      </a:rPr>
                      <m:t>100−</m:t>
                    </m:r>
                    <m:d>
                      <m:dPr>
                        <m:ctrlPr>
                          <a:rPr lang="en-US" altLang="zh-TW" i="1" dirty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TW" b="0" i="1" dirty="0" smtClean="0">
                                <a:latin typeface="Cambria Math"/>
                              </a:rPr>
                              <m:t>98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altLang="zh-TW" dirty="0" smtClean="0"/>
              </a:p>
              <a:p>
                <a:r>
                  <a:rPr lang="en-US" altLang="zh-TW" dirty="0"/>
                  <a:t>Random files</a:t>
                </a:r>
              </a:p>
              <a:p>
                <a:pPr lvl="1"/>
                <a:r>
                  <a:rPr lang="en-US" altLang="zh-TW" dirty="0"/>
                  <a:t>Signature </a:t>
                </a:r>
                <a:r>
                  <a:rPr lang="zh-TW" altLang="en-US" dirty="0"/>
                  <a:t>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i="1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TW" i="1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TW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TW" i="1">
                                    <a:latin typeface="Cambria Math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func>
                          <m:funcPr>
                            <m:ctrlPr>
                              <a:rPr lang="en-US" altLang="zh-TW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i="0" smtClean="0">
                                <a:latin typeface="Cambria Math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 smtClean="0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TW" b="0" i="1" smtClean="0">
                                    <a:latin typeface="Cambria Math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sup>
                    </m:sSup>
                  </m:oMath>
                </a14:m>
                <a:r>
                  <a:rPr lang="zh-TW" altLang="en-US" dirty="0" smtClean="0"/>
                  <a:t> 機率相同</a:t>
                </a:r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1624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Performance </a:t>
            </a:r>
            <a:r>
              <a:rPr lang="en-US" altLang="zh-TW" b="1" dirty="0" smtClean="0"/>
              <a:t>issues (1/2)</a:t>
            </a:r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0" y="1988840"/>
            <a:ext cx="9018365" cy="3455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981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Performance issues </a:t>
            </a:r>
            <a:r>
              <a:rPr lang="en-US" altLang="zh-TW" b="1" dirty="0" smtClean="0"/>
              <a:t>(2/2)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Assume single CTPH takes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en-US" altLang="zh-TW" dirty="0" smtClean="0"/>
              </a:p>
              <a:p>
                <a:pPr lvl="1"/>
                <a:r>
                  <a:rPr lang="en-US" altLang="zh-TW" dirty="0" smtClean="0"/>
                  <a:t>Block size need to be adjusted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TW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b="0" i="1" smtClean="0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times</a:t>
                </a:r>
              </a:p>
              <a:p>
                <a:pPr lvl="1"/>
                <a:r>
                  <a:rPr lang="en-US" altLang="zh-TW" dirty="0" smtClean="0"/>
                  <a:t>Total running time: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i="1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altLang="zh-TW" dirty="0" smtClean="0"/>
              </a:p>
              <a:p>
                <a:endParaRPr lang="en-US" altLang="zh-TW" dirty="0" smtClean="0"/>
              </a:p>
              <a:p>
                <a:r>
                  <a:rPr lang="en-US" altLang="zh-TW" dirty="0" smtClean="0"/>
                  <a:t>Compare a single CTPH signature: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𝑛</m:t>
                    </m:r>
                  </m:oMath>
                </a14:m>
                <a:r>
                  <a:rPr lang="en-US" altLang="zh-TW" dirty="0" smtClean="0"/>
                  <a:t> is numbers of known signatures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4357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Applications (1/3)</a:t>
            </a:r>
            <a:endParaRPr lang="zh-TW" altLang="en-US" b="1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Altered document </a:t>
            </a:r>
            <a:r>
              <a:rPr lang="en-US" altLang="zh-TW" dirty="0" smtClean="0"/>
              <a:t>matching</a:t>
            </a:r>
          </a:p>
          <a:p>
            <a:pPr lvl="1"/>
            <a:r>
              <a:rPr lang="zh-TW" altLang="en-US" dirty="0" smtClean="0"/>
              <a:t>文章開頭</a:t>
            </a:r>
            <a:r>
              <a:rPr lang="zh-TW" altLang="en-US" dirty="0"/>
              <a:t>加新</a:t>
            </a:r>
            <a:r>
              <a:rPr lang="zh-TW" altLang="en-US" dirty="0" smtClean="0"/>
              <a:t>段落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文章內容單字修改</a:t>
            </a:r>
            <a:endParaRPr lang="en-US" altLang="zh-TW" dirty="0" smtClean="0"/>
          </a:p>
          <a:p>
            <a:pPr lvl="1"/>
            <a:r>
              <a:rPr lang="zh-TW" altLang="en-US" dirty="0"/>
              <a:t>文章部分字體</a:t>
            </a:r>
            <a:r>
              <a:rPr lang="zh-TW" altLang="en-US" dirty="0" smtClean="0"/>
              <a:t>顏色</a:t>
            </a:r>
            <a:r>
              <a:rPr lang="zh-TW" altLang="en-US" dirty="0"/>
              <a:t>改為</a:t>
            </a:r>
            <a:r>
              <a:rPr lang="zh-TW" altLang="en-US" dirty="0" smtClean="0"/>
              <a:t>紅色</a:t>
            </a:r>
            <a:endParaRPr lang="en-US" altLang="zh-TW" dirty="0" smtClean="0"/>
          </a:p>
          <a:p>
            <a:pPr lvl="1"/>
            <a:r>
              <a:rPr lang="zh-TW" altLang="en-US" dirty="0"/>
              <a:t>文章結尾加上眾多贅</a:t>
            </a:r>
            <a:r>
              <a:rPr lang="zh-TW" altLang="en-US" dirty="0" smtClean="0"/>
              <a:t>句 </a:t>
            </a:r>
            <a:r>
              <a:rPr lang="en-US" altLang="zh-TW" dirty="0" smtClean="0"/>
              <a:t>(I </a:t>
            </a:r>
            <a:r>
              <a:rPr lang="en-US" altLang="zh-TW" dirty="0"/>
              <a:t>AM THE LIZARD KING</a:t>
            </a:r>
            <a:r>
              <a:rPr lang="en-US" altLang="zh-TW" dirty="0" smtClean="0"/>
              <a:t>!)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0" y="4406132"/>
            <a:ext cx="9067038" cy="1759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7331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Applications </a:t>
            </a:r>
            <a:r>
              <a:rPr lang="en-US" altLang="zh-TW" b="1" dirty="0" smtClean="0"/>
              <a:t>(2/3)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Partial file matching</a:t>
                </a:r>
              </a:p>
              <a:p>
                <a:pPr lvl="1"/>
                <a:r>
                  <a:rPr lang="zh-TW" altLang="en-US" dirty="0"/>
                  <a:t>原檔案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altLang="zh-TW" dirty="0" smtClean="0"/>
                  <a:t> bits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⟹</m:t>
                    </m:r>
                  </m:oMath>
                </a14:m>
                <a:r>
                  <a:rPr lang="zh-TW" altLang="en-US" dirty="0" smtClean="0"/>
                  <a:t> 新檔案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zh-TW" altLang="en-US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/>
                          </a:rPr>
                          <m:t>𝑛</m:t>
                        </m:r>
                      </m:num>
                      <m:den>
                        <m:r>
                          <a:rPr lang="en-US" altLang="zh-TW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bits</a:t>
                </a:r>
              </a:p>
              <a:p>
                <a:pPr lvl="1"/>
                <a:r>
                  <a:rPr lang="en-US" altLang="zh-TW" dirty="0" smtClean="0"/>
                  <a:t>Sample file: 313,478 bytes</a:t>
                </a:r>
              </a:p>
              <a:p>
                <a:pPr lvl="1"/>
                <a:r>
                  <a:rPr lang="en-US" altLang="zh-TW" dirty="0" smtClean="0"/>
                  <a:t>First: </a:t>
                </a:r>
                <a:r>
                  <a:rPr lang="en-US" altLang="zh-TW" dirty="0"/>
                  <a:t>Sample </a:t>
                </a:r>
                <a:r>
                  <a:rPr lang="en-US" altLang="zh-TW" dirty="0" smtClean="0"/>
                  <a:t>file </a:t>
                </a:r>
                <a:r>
                  <a:rPr lang="zh-TW" altLang="en-US" dirty="0" smtClean="0"/>
                  <a:t>的前</a:t>
                </a:r>
                <a:r>
                  <a:rPr lang="en-US" altLang="zh-TW" dirty="0" smtClean="0"/>
                  <a:t> 120,000 bytes</a:t>
                </a:r>
                <a:endParaRPr lang="en-US" altLang="zh-TW" dirty="0"/>
              </a:p>
              <a:p>
                <a:pPr lvl="1"/>
                <a:r>
                  <a:rPr lang="en-US" altLang="zh-TW" dirty="0" smtClean="0"/>
                  <a:t>Last: </a:t>
                </a:r>
                <a:r>
                  <a:rPr lang="en-US" altLang="zh-TW" dirty="0"/>
                  <a:t>Sample file </a:t>
                </a:r>
                <a:r>
                  <a:rPr lang="zh-TW" altLang="en-US" dirty="0" smtClean="0"/>
                  <a:t>的後</a:t>
                </a:r>
                <a:r>
                  <a:rPr lang="en-US" altLang="zh-TW" dirty="0" smtClean="0"/>
                  <a:t> 113,478 bytes</a:t>
                </a:r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6885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Applications </a:t>
            </a:r>
            <a:r>
              <a:rPr lang="en-US" altLang="zh-TW" b="1" dirty="0" smtClean="0"/>
              <a:t>(3/3)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10255-A13B-40DE-A818-E35E0185DB7F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2000" y="1493091"/>
            <a:ext cx="6764655" cy="5207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743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C7ED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679</Words>
  <Application>Microsoft Office PowerPoint</Application>
  <PresentationFormat>如螢幕大小 (4:3)</PresentationFormat>
  <Paragraphs>70</Paragraphs>
  <Slides>13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4" baseType="lpstr">
      <vt:lpstr>Office 佈景主題</vt:lpstr>
      <vt:lpstr>Identifying almost identical files using context triggered piecewise hashing</vt:lpstr>
      <vt:lpstr>Abstract</vt:lpstr>
      <vt:lpstr>The spamsum algorithm (1/3)</vt:lpstr>
      <vt:lpstr>The spamsum algorithm (2/3)</vt:lpstr>
      <vt:lpstr>The spamsum algorithm (3/3)</vt:lpstr>
      <vt:lpstr>Comparing spamsum signatures (1/3)</vt:lpstr>
      <vt:lpstr>Comparing spamsum signatures (2/3)</vt:lpstr>
      <vt:lpstr>Comparing spamsum signatures (3/3)</vt:lpstr>
      <vt:lpstr>Performance issues (1/2)</vt:lpstr>
      <vt:lpstr>Performance issues (2/2)</vt:lpstr>
      <vt:lpstr>Applications (1/3)</vt:lpstr>
      <vt:lpstr>Applications (2/3)</vt:lpstr>
      <vt:lpstr>Applications (3/3)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Longest Common Subsequence Fast Algorithm</dc:title>
  <dc:creator>Ray</dc:creator>
  <cp:lastModifiedBy>Ray</cp:lastModifiedBy>
  <cp:revision>565</cp:revision>
  <dcterms:created xsi:type="dcterms:W3CDTF">2012-09-09T09:37:21Z</dcterms:created>
  <dcterms:modified xsi:type="dcterms:W3CDTF">2013-06-25T08:11:00Z</dcterms:modified>
</cp:coreProperties>
</file>