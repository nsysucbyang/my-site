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handoutMasterIdLst>
    <p:handoutMasterId r:id="rId12"/>
  </p:handoutMasterIdLst>
  <p:sldIdLst>
    <p:sldId id="256" r:id="rId2"/>
    <p:sldId id="257" r:id="rId3"/>
    <p:sldId id="258" r:id="rId4"/>
    <p:sldId id="259" r:id="rId5"/>
    <p:sldId id="260" r:id="rId6"/>
    <p:sldId id="261" r:id="rId7"/>
    <p:sldId id="262" r:id="rId8"/>
    <p:sldId id="263" r:id="rId9"/>
    <p:sldId id="264" r:id="rId10"/>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5E5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D7AC3CCA-C797-4891-BE02-D94E43425B78}" styleName="中等深淺樣式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E25E649-3F16-4E02-A733-19D2CDBF48F0}" styleName="中等深淺樣式 3 - 輔色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9" d="100"/>
          <a:sy n="109" d="100"/>
        </p:scale>
        <p:origin x="-1098"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92CCAE0-0C81-4B78-82D1-11BE0D61DB07}" type="datetime1">
              <a:rPr lang="zh-TW" altLang="en-US" smtClean="0"/>
              <a:t>2013/4/23</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8A19FDD-675A-4A39-B0F1-906E5BA6EFB1}" type="slidenum">
              <a:rPr lang="zh-TW" altLang="en-US" smtClean="0"/>
              <a:t>‹#›</a:t>
            </a:fld>
            <a:endParaRPr lang="zh-TW" altLang="en-US"/>
          </a:p>
        </p:txBody>
      </p:sp>
    </p:spTree>
    <p:extLst>
      <p:ext uri="{BB962C8B-B14F-4D97-AF65-F5344CB8AC3E}">
        <p14:creationId xmlns:p14="http://schemas.microsoft.com/office/powerpoint/2010/main" val="972591950"/>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1736F9-A0BE-4D52-9097-BF965413D210}" type="datetime1">
              <a:rPr lang="zh-TW" altLang="en-US" smtClean="0"/>
              <a:t>2013/4/23</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96B2AB0-7B78-40EC-A30E-F42C75B51AAE}" type="slidenum">
              <a:rPr lang="zh-TW" altLang="en-US" smtClean="0"/>
              <a:t>‹#›</a:t>
            </a:fld>
            <a:endParaRPr lang="zh-TW" altLang="en-US"/>
          </a:p>
        </p:txBody>
      </p:sp>
    </p:spTree>
    <p:extLst>
      <p:ext uri="{BB962C8B-B14F-4D97-AF65-F5344CB8AC3E}">
        <p14:creationId xmlns:p14="http://schemas.microsoft.com/office/powerpoint/2010/main" val="3926384865"/>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zh.wikipedia.org/wiki/%E6%AD%A3%E6%80%81%E5%88%86%E5%B8%83"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a:p>
        </p:txBody>
      </p:sp>
      <p:sp>
        <p:nvSpPr>
          <p:cNvPr id="4" name="投影片編號版面配置區 3"/>
          <p:cNvSpPr>
            <a:spLocks noGrp="1"/>
          </p:cNvSpPr>
          <p:nvPr>
            <p:ph type="sldNum" sz="quarter" idx="10"/>
          </p:nvPr>
        </p:nvSpPr>
        <p:spPr/>
        <p:txBody>
          <a:bodyPr/>
          <a:lstStyle/>
          <a:p>
            <a:fld id="{F96B2AB0-7B78-40EC-A30E-F42C75B51AAE}" type="slidenum">
              <a:rPr lang="zh-TW" altLang="en-US" smtClean="0"/>
              <a:t>1</a:t>
            </a:fld>
            <a:endParaRPr lang="zh-TW" altLang="en-US"/>
          </a:p>
        </p:txBody>
      </p:sp>
    </p:spTree>
    <p:extLst>
      <p:ext uri="{BB962C8B-B14F-4D97-AF65-F5344CB8AC3E}">
        <p14:creationId xmlns:p14="http://schemas.microsoft.com/office/powerpoint/2010/main" val="25901884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smtClean="0"/>
              <a:t>圖片來源：</a:t>
            </a:r>
            <a:r>
              <a:rPr lang="en-US" altLang="zh-TW" dirty="0" smtClean="0">
                <a:hlinkClick r:id="rId3"/>
              </a:rPr>
              <a:t>https://zh.wikipedia.org/wiki/%E6%AD%A3%E6%80%81%E5%88%86%E5%B8%83</a:t>
            </a:r>
            <a:endParaRPr lang="zh-TW" altLang="en-US" dirty="0"/>
          </a:p>
        </p:txBody>
      </p:sp>
      <p:sp>
        <p:nvSpPr>
          <p:cNvPr id="4" name="投影片編號版面配置區 3"/>
          <p:cNvSpPr>
            <a:spLocks noGrp="1"/>
          </p:cNvSpPr>
          <p:nvPr>
            <p:ph type="sldNum" sz="quarter" idx="10"/>
          </p:nvPr>
        </p:nvSpPr>
        <p:spPr/>
        <p:txBody>
          <a:bodyPr/>
          <a:lstStyle/>
          <a:p>
            <a:fld id="{F96B2AB0-7B78-40EC-A30E-F42C75B51AAE}" type="slidenum">
              <a:rPr lang="zh-TW" altLang="en-US" smtClean="0"/>
              <a:t>5</a:t>
            </a:fld>
            <a:endParaRPr lang="zh-TW" altLang="en-US"/>
          </a:p>
        </p:txBody>
      </p:sp>
    </p:spTree>
    <p:extLst>
      <p:ext uri="{BB962C8B-B14F-4D97-AF65-F5344CB8AC3E}">
        <p14:creationId xmlns:p14="http://schemas.microsoft.com/office/powerpoint/2010/main" val="3784918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lumMod val="75000"/>
                    <a:lumOff val="2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dirty="0" smtClean="0"/>
              <a:t>按一下以編輯母片副標題樣式</a:t>
            </a:r>
            <a:endParaRPr lang="zh-TW" altLang="en-US" dirty="0"/>
          </a:p>
        </p:txBody>
      </p:sp>
      <p:sp>
        <p:nvSpPr>
          <p:cNvPr id="4" name="日期版面配置區 3"/>
          <p:cNvSpPr>
            <a:spLocks noGrp="1"/>
          </p:cNvSpPr>
          <p:nvPr>
            <p:ph type="dt" sz="half" idx="10"/>
          </p:nvPr>
        </p:nvSpPr>
        <p:spPr/>
        <p:txBody>
          <a:bodyPr/>
          <a:lstStyle/>
          <a:p>
            <a:fld id="{717AEB65-1833-43F1-BD28-90CA58C223F1}" type="datetime1">
              <a:rPr lang="zh-TW" altLang="en-US" smtClean="0"/>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2619556176"/>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3626542-6EFB-4063-A5B0-41FD0D95C3CD}" type="datetime1">
              <a:rPr lang="zh-TW" altLang="en-US" smtClean="0"/>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3326798314"/>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07B74AF9-5678-44F8-A5F3-25F4EE962BEB}" type="datetime1">
              <a:rPr lang="zh-TW" altLang="en-US" smtClean="0"/>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34269750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C6C5ABEE-C7E4-40C4-92CB-86E1D58CE5C6}" type="datetime1">
              <a:rPr lang="zh-TW" altLang="en-US" smtClean="0"/>
              <a:t>2013/4/23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10676983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82DAA883-52C2-486B-8EA1-085A9CDA4FB8}" type="datetime1">
              <a:rPr lang="zh-TW" altLang="en-US" smtClean="0"/>
              <a:t>2013/4/23</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1019351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F24D4510-C05F-405E-BF57-EDA10426F4FA}" type="datetime1">
              <a:rPr lang="zh-TW" altLang="en-US" smtClean="0"/>
              <a:t>2013/4/23</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68048722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E73B8CA7-07F3-4DAF-849D-048C755ED96A}" type="datetime1">
              <a:rPr lang="zh-TW" altLang="en-US" smtClean="0"/>
              <a:t>2013/4/23</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14345372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677BBA66-D99D-4975-B43D-26D9BBCD9CA3}" type="datetime1">
              <a:rPr lang="zh-TW" altLang="en-US" smtClean="0"/>
              <a:t>2013/4/23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51986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472A5DC-8ED7-4BFB-AF27-C684B4AEE8F0}" type="datetime1">
              <a:rPr lang="zh-TW" altLang="en-US" smtClean="0"/>
              <a:t>2013/4/23</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4183204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328128C-3907-40E0-8A52-3CB0064A414F}" type="datetime1">
              <a:rPr lang="zh-TW" altLang="en-US" smtClean="0"/>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35909011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402B2582-DD10-43EA-B141-5A8AB99B0301}" type="datetime1">
              <a:rPr lang="zh-TW" altLang="en-US" smtClean="0"/>
              <a:t>2013/4/23</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4D10255-A13B-40DE-A818-E35E0185DB7F}" type="slidenum">
              <a:rPr lang="zh-TW" altLang="en-US" smtClean="0"/>
              <a:t>‹#›</a:t>
            </a:fld>
            <a:endParaRPr lang="zh-TW" altLang="en-US"/>
          </a:p>
        </p:txBody>
      </p:sp>
    </p:spTree>
    <p:extLst>
      <p:ext uri="{BB962C8B-B14F-4D97-AF65-F5344CB8AC3E}">
        <p14:creationId xmlns:p14="http://schemas.microsoft.com/office/powerpoint/2010/main" val="1175656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B5E5B5"/>
        </a:solidFill>
        <a:effectLst/>
      </p:bgPr>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AA7C3D2-FFA1-4493-B768-C3A89A67BE4C}" type="datetime1">
              <a:rPr lang="zh-TW" altLang="en-US" smtClean="0"/>
              <a:t>2013/4/23</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600">
                <a:solidFill>
                  <a:schemeClr val="tx1"/>
                </a:solidFill>
              </a:defRPr>
            </a:lvl1pPr>
          </a:lstStyle>
          <a:p>
            <a:fld id="{24D10255-A13B-40DE-A818-E35E0185DB7F}" type="slidenum">
              <a:rPr lang="zh-TW" altLang="en-US" smtClean="0"/>
              <a:pPr/>
              <a:t>‹#›</a:t>
            </a:fld>
            <a:endParaRPr lang="zh-TW" altLang="en-US" dirty="0"/>
          </a:p>
        </p:txBody>
      </p:sp>
    </p:spTree>
    <p:extLst>
      <p:ext uri="{BB962C8B-B14F-4D97-AF65-F5344CB8AC3E}">
        <p14:creationId xmlns:p14="http://schemas.microsoft.com/office/powerpoint/2010/main" val="2906844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iming>
    <p:tnLst>
      <p:par>
        <p:cTn id="1" dur="indefinite" restart="never" nodeType="tmRoot"/>
      </p:par>
    </p:tnLst>
  </p:timing>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標題 1"/>
          <p:cNvSpPr>
            <a:spLocks noGrp="1"/>
          </p:cNvSpPr>
          <p:nvPr>
            <p:ph type="ctrTitle"/>
          </p:nvPr>
        </p:nvSpPr>
        <p:spPr>
          <a:xfrm>
            <a:off x="685800" y="518815"/>
            <a:ext cx="7772400" cy="1470025"/>
          </a:xfrm>
        </p:spPr>
        <p:txBody>
          <a:bodyPr>
            <a:noAutofit/>
          </a:bodyPr>
          <a:lstStyle/>
          <a:p>
            <a:r>
              <a:rPr lang="en-US" altLang="zh-TW" sz="4000" b="1" dirty="0"/>
              <a:t>Score Normalization by Dynamic Time Warping</a:t>
            </a:r>
            <a:endParaRPr lang="zh-TW" altLang="en-US" sz="4000" b="1" dirty="0"/>
          </a:p>
        </p:txBody>
      </p:sp>
      <p:sp>
        <p:nvSpPr>
          <p:cNvPr id="5" name="副標題 3"/>
          <p:cNvSpPr>
            <a:spLocks noGrp="1"/>
          </p:cNvSpPr>
          <p:nvPr>
            <p:ph type="subTitle" idx="1"/>
          </p:nvPr>
        </p:nvSpPr>
        <p:spPr>
          <a:xfrm>
            <a:off x="1411560" y="2394847"/>
            <a:ext cx="6400800" cy="3554433"/>
          </a:xfrm>
        </p:spPr>
        <p:txBody>
          <a:bodyPr>
            <a:normAutofit/>
          </a:bodyPr>
          <a:lstStyle/>
          <a:p>
            <a:r>
              <a:rPr lang="en-US" altLang="zh-TW" sz="2800" dirty="0"/>
              <a:t>R. </a:t>
            </a:r>
            <a:r>
              <a:rPr lang="en-US" altLang="zh-TW" sz="2800" dirty="0" err="1"/>
              <a:t>Modugno</a:t>
            </a:r>
            <a:r>
              <a:rPr lang="en-US" altLang="zh-TW" sz="2800" dirty="0"/>
              <a:t>, G. </a:t>
            </a:r>
            <a:r>
              <a:rPr lang="en-US" altLang="zh-TW" sz="2800" dirty="0" err="1" smtClean="0"/>
              <a:t>Pirlo</a:t>
            </a:r>
            <a:r>
              <a:rPr lang="en-US" altLang="zh-TW" sz="2800" dirty="0" smtClean="0"/>
              <a:t> and </a:t>
            </a:r>
            <a:r>
              <a:rPr lang="en-US" altLang="zh-TW" sz="2800" dirty="0"/>
              <a:t>D. </a:t>
            </a:r>
            <a:r>
              <a:rPr lang="en-US" altLang="zh-TW" sz="2800" dirty="0" err="1"/>
              <a:t>Impedovo</a:t>
            </a:r>
            <a:endParaRPr lang="en-US" altLang="zh-TW" sz="2800" dirty="0" smtClean="0"/>
          </a:p>
          <a:p>
            <a:r>
              <a:rPr lang="en-US" altLang="zh-TW" sz="2800" dirty="0"/>
              <a:t>Conference </a:t>
            </a:r>
            <a:r>
              <a:rPr lang="en-US" altLang="zh-TW" sz="2800" dirty="0" smtClean="0"/>
              <a:t>on Computational </a:t>
            </a:r>
            <a:r>
              <a:rPr lang="en-US" altLang="zh-TW" sz="2800" dirty="0"/>
              <a:t>Intelligence for Measurement Systems and Applications (CIMSA), 2010 IEEE </a:t>
            </a:r>
            <a:r>
              <a:rPr lang="en-US" altLang="zh-TW" sz="2800" dirty="0" smtClean="0"/>
              <a:t>International</a:t>
            </a:r>
          </a:p>
        </p:txBody>
      </p:sp>
      <p:sp>
        <p:nvSpPr>
          <p:cNvPr id="8" name="副標題 3"/>
          <p:cNvSpPr txBox="1">
            <a:spLocks/>
          </p:cNvSpPr>
          <p:nvPr/>
        </p:nvSpPr>
        <p:spPr>
          <a:xfrm>
            <a:off x="323528" y="5425298"/>
            <a:ext cx="6400800" cy="1244062"/>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r>
              <a:rPr lang="en-US" altLang="zh-TW" sz="2800" dirty="0" smtClean="0">
                <a:solidFill>
                  <a:schemeClr val="tx1"/>
                </a:solidFill>
              </a:rPr>
              <a:t>Presenter: </a:t>
            </a:r>
            <a:r>
              <a:rPr lang="en-US" altLang="zh-TW" sz="2800" dirty="0" err="1" smtClean="0">
                <a:solidFill>
                  <a:schemeClr val="tx1"/>
                </a:solidFill>
              </a:rPr>
              <a:t>Che-Jui</a:t>
            </a:r>
            <a:r>
              <a:rPr lang="en-US" altLang="zh-TW" sz="2800" dirty="0" smtClean="0">
                <a:solidFill>
                  <a:schemeClr val="tx1"/>
                </a:solidFill>
              </a:rPr>
              <a:t> Hsu(</a:t>
            </a:r>
            <a:r>
              <a:rPr lang="zh-TW" altLang="en-US" sz="2800" dirty="0" smtClean="0">
                <a:solidFill>
                  <a:schemeClr val="tx1"/>
                </a:solidFill>
              </a:rPr>
              <a:t>許哲睿</a:t>
            </a:r>
            <a:r>
              <a:rPr lang="en-US" altLang="zh-TW" sz="2800" dirty="0" smtClean="0">
                <a:solidFill>
                  <a:schemeClr val="tx1"/>
                </a:solidFill>
              </a:rPr>
              <a:t>)</a:t>
            </a:r>
          </a:p>
          <a:p>
            <a:pPr algn="l"/>
            <a:r>
              <a:rPr lang="en-US" altLang="zh-TW" sz="2800" dirty="0" smtClean="0">
                <a:solidFill>
                  <a:schemeClr val="tx1"/>
                </a:solidFill>
              </a:rPr>
              <a:t>Date: </a:t>
            </a:r>
            <a:fld id="{3DC95CE2-72FD-4627-B4FE-7CBC89963158}" type="datetime1">
              <a:rPr lang="zh-TW" altLang="en-US" sz="2800" smtClean="0">
                <a:solidFill>
                  <a:schemeClr val="tx1"/>
                </a:solidFill>
              </a:rPr>
              <a:t>2013/4/23</a:t>
            </a:fld>
            <a:endParaRPr lang="en-US" altLang="zh-TW" sz="2800" dirty="0" smtClean="0">
              <a:solidFill>
                <a:schemeClr val="tx1"/>
              </a:solidFill>
            </a:endParaRPr>
          </a:p>
        </p:txBody>
      </p:sp>
      <p:sp>
        <p:nvSpPr>
          <p:cNvPr id="9" name="投影片編號版面配置區 8"/>
          <p:cNvSpPr>
            <a:spLocks noGrp="1"/>
          </p:cNvSpPr>
          <p:nvPr>
            <p:ph type="sldNum" sz="quarter" idx="12"/>
          </p:nvPr>
        </p:nvSpPr>
        <p:spPr/>
        <p:txBody>
          <a:bodyPr/>
          <a:lstStyle/>
          <a:p>
            <a:fld id="{24D10255-A13B-40DE-A818-E35E0185DB7F}" type="slidenum">
              <a:rPr lang="zh-TW" altLang="en-US" smtClean="0"/>
              <a:t>1</a:t>
            </a:fld>
            <a:endParaRPr lang="zh-TW" altLang="en-US"/>
          </a:p>
        </p:txBody>
      </p:sp>
    </p:spTree>
    <p:extLst>
      <p:ext uri="{BB962C8B-B14F-4D97-AF65-F5344CB8AC3E}">
        <p14:creationId xmlns:p14="http://schemas.microsoft.com/office/powerpoint/2010/main" val="132284172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t>Abstract</a:t>
            </a:r>
            <a:endParaRPr lang="zh-TW" altLang="en-US" b="1" dirty="0"/>
          </a:p>
        </p:txBody>
      </p:sp>
      <p:sp>
        <p:nvSpPr>
          <p:cNvPr id="5" name="內容版面配置區 4"/>
          <p:cNvSpPr>
            <a:spLocks noGrp="1"/>
          </p:cNvSpPr>
          <p:nvPr>
            <p:ph idx="1"/>
          </p:nvPr>
        </p:nvSpPr>
        <p:spPr/>
        <p:txBody>
          <a:bodyPr>
            <a:normAutofit fontScale="85000" lnSpcReduction="20000"/>
          </a:bodyPr>
          <a:lstStyle/>
          <a:p>
            <a:pPr marL="0" indent="457200" algn="just">
              <a:buNone/>
            </a:pPr>
            <a:r>
              <a:rPr lang="en-US" altLang="zh-TW" dirty="0"/>
              <a:t>Multi-expert approach is a well-known paradigm to support complex decisions and several decision fusion techniques have been considered. In this field score normalization is a fundamental step to allow high performances and hence several techniques have been proposed so far. This paper addresses the problem of score normalization and presents a new technique based on Dynamic Time Warping. The experimental results, carried out in the field of pattern classification, show the superiority of the new technique with respect to other approaches in the literature, based on MIN-MAX, z-score and characteristics functions</a:t>
            </a:r>
            <a:r>
              <a:rPr lang="en-US" altLang="zh-TW" dirty="0" smtClean="0"/>
              <a:t>.</a:t>
            </a:r>
            <a:endParaRPr lang="zh-TW" altLang="en-US" dirty="0"/>
          </a:p>
        </p:txBody>
      </p:sp>
      <p:sp>
        <p:nvSpPr>
          <p:cNvPr id="4" name="投影片編號版面配置區 3"/>
          <p:cNvSpPr>
            <a:spLocks noGrp="1"/>
          </p:cNvSpPr>
          <p:nvPr>
            <p:ph type="sldNum" sz="quarter" idx="12"/>
          </p:nvPr>
        </p:nvSpPr>
        <p:spPr/>
        <p:txBody>
          <a:bodyPr/>
          <a:lstStyle/>
          <a:p>
            <a:fld id="{24D10255-A13B-40DE-A818-E35E0185DB7F}" type="slidenum">
              <a:rPr lang="zh-TW" altLang="en-US" smtClean="0"/>
              <a:t>2</a:t>
            </a:fld>
            <a:endParaRPr lang="zh-TW" altLang="en-US"/>
          </a:p>
        </p:txBody>
      </p:sp>
    </p:spTree>
    <p:extLst>
      <p:ext uri="{BB962C8B-B14F-4D97-AF65-F5344CB8AC3E}">
        <p14:creationId xmlns:p14="http://schemas.microsoft.com/office/powerpoint/2010/main" val="37467503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b="1" dirty="0"/>
              <a:t>Score Normalization</a:t>
            </a:r>
            <a:endParaRPr lang="zh-TW" altLang="en-US" b="1"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a:t>Input: </a:t>
                </a:r>
                <a14:m>
                  <m:oMath xmlns:m="http://schemas.openxmlformats.org/officeDocument/2006/math">
                    <m:r>
                      <a:rPr lang="en-US" altLang="zh-TW" i="1">
                        <a:latin typeface="Cambria Math"/>
                      </a:rPr>
                      <m:t>𝑥</m:t>
                    </m:r>
                  </m:oMath>
                </a14:m>
                <a:r>
                  <a:rPr lang="en-US" altLang="zh-TW" dirty="0"/>
                  <a:t> is an unknown pattern</a:t>
                </a:r>
                <a:r>
                  <a:rPr lang="en-US" altLang="zh-TW" dirty="0" smtClean="0"/>
                  <a:t>.</a:t>
                </a:r>
                <a:endParaRPr lang="en-US" altLang="zh-TW" b="0" i="1" dirty="0" smtClean="0">
                  <a:latin typeface="Cambria Math"/>
                </a:endParaRPr>
              </a:p>
              <a:p>
                <a14:m>
                  <m:oMath xmlns:m="http://schemas.openxmlformats.org/officeDocument/2006/math">
                    <m:r>
                      <a:rPr lang="en-US" altLang="zh-TW" b="0" i="1" smtClean="0">
                        <a:latin typeface="Cambria Math"/>
                      </a:rPr>
                      <m:t>𝐴</m:t>
                    </m:r>
                    <m:d>
                      <m:dPr>
                        <m:ctrlPr>
                          <a:rPr lang="en-US" altLang="zh-TW" i="1" smtClean="0">
                            <a:latin typeface="Cambria Math"/>
                          </a:rPr>
                        </m:ctrlPr>
                      </m:dPr>
                      <m:e>
                        <m:r>
                          <a:rPr lang="en-US" altLang="zh-TW" b="0" i="1" smtClean="0">
                            <a:latin typeface="Cambria Math"/>
                          </a:rPr>
                          <m:t>𝑥</m:t>
                        </m:r>
                      </m:e>
                    </m:d>
                    <m:r>
                      <a:rPr lang="en-US" altLang="zh-TW" b="0" i="1" smtClean="0">
                        <a:latin typeface="Cambria Math"/>
                      </a:rPr>
                      <m:t>=</m:t>
                    </m:r>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𝑎</m:t>
                            </m:r>
                          </m:e>
                          <m:sub>
                            <m:r>
                              <a:rPr lang="en-US" altLang="zh-TW" b="0" i="1" smtClean="0">
                                <a:latin typeface="Cambria Math"/>
                              </a:rPr>
                              <m:t>1</m:t>
                            </m:r>
                          </m:sub>
                        </m:sSub>
                        <m:r>
                          <a:rPr lang="en-US" altLang="zh-TW" b="0" i="1" smtClean="0">
                            <a:latin typeface="Cambria Math"/>
                          </a:rPr>
                          <m:t>,</m:t>
                        </m:r>
                        <m:sSub>
                          <m:sSubPr>
                            <m:ctrlPr>
                              <a:rPr lang="en-US" altLang="zh-TW" i="1">
                                <a:latin typeface="Cambria Math"/>
                              </a:rPr>
                            </m:ctrlPr>
                          </m:sSubPr>
                          <m:e>
                            <m:r>
                              <a:rPr lang="en-US" altLang="zh-TW" i="1">
                                <a:latin typeface="Cambria Math"/>
                              </a:rPr>
                              <m:t>𝑎</m:t>
                            </m:r>
                          </m:e>
                          <m:sub>
                            <m:r>
                              <a:rPr lang="en-US" altLang="zh-TW" b="0" i="1" smtClean="0">
                                <a:latin typeface="Cambria Math"/>
                              </a:rPr>
                              <m:t>2</m:t>
                            </m:r>
                          </m:sub>
                        </m:sSub>
                        <m:r>
                          <a:rPr lang="en-US" altLang="zh-TW" b="0" i="1" smtClean="0">
                            <a:latin typeface="Cambria Math"/>
                          </a:rPr>
                          <m:t>,</m:t>
                        </m:r>
                        <m:sSub>
                          <m:sSubPr>
                            <m:ctrlPr>
                              <a:rPr lang="en-US" altLang="zh-TW" i="1">
                                <a:latin typeface="Cambria Math"/>
                              </a:rPr>
                            </m:ctrlPr>
                          </m:sSubPr>
                          <m:e>
                            <m:r>
                              <a:rPr lang="en-US" altLang="zh-TW" b="0" i="1" smtClean="0">
                                <a:latin typeface="Cambria Math"/>
                              </a:rPr>
                              <m:t>…, </m:t>
                            </m:r>
                            <m:r>
                              <a:rPr lang="en-US" altLang="zh-TW" i="1">
                                <a:latin typeface="Cambria Math"/>
                              </a:rPr>
                              <m:t>𝑎</m:t>
                            </m:r>
                          </m:e>
                          <m:sub>
                            <m:r>
                              <a:rPr lang="en-US" altLang="zh-TW" b="0" i="1" smtClean="0">
                                <a:latin typeface="Cambria Math"/>
                              </a:rPr>
                              <m:t>𝑀</m:t>
                            </m:r>
                          </m:sub>
                        </m:sSub>
                      </m:e>
                    </m:d>
                    <m:r>
                      <a:rPr lang="en-US" altLang="zh-TW" b="0" i="1" smtClean="0">
                        <a:latin typeface="Cambria Math"/>
                      </a:rPr>
                      <m:t>=</m:t>
                    </m:r>
                    <m:d>
                      <m:dPr>
                        <m:ctrlPr>
                          <a:rPr lang="en-US" altLang="zh-TW" b="0" i="1" smtClean="0">
                            <a:latin typeface="Cambria Math"/>
                          </a:rPr>
                        </m:ctrlPr>
                      </m:dPr>
                      <m:e>
                        <m:r>
                          <a:rPr lang="en-US" altLang="zh-TW" b="0" i="1" smtClean="0">
                            <a:latin typeface="Cambria Math"/>
                          </a:rPr>
                          <m:t>𝐴</m:t>
                        </m:r>
                        <m:d>
                          <m:dPr>
                            <m:ctrlPr>
                              <a:rPr lang="en-US" altLang="zh-TW" b="0" i="1" smtClean="0">
                                <a:latin typeface="Cambria Math"/>
                              </a:rPr>
                            </m:ctrlPr>
                          </m:dPr>
                          <m:e>
                            <m:r>
                              <a:rPr lang="en-US" altLang="zh-TW" b="0" i="1" smtClean="0">
                                <a:latin typeface="Cambria Math"/>
                              </a:rPr>
                              <m:t>𝑥</m:t>
                            </m:r>
                            <m:r>
                              <a:rPr lang="en-US" altLang="zh-TW" b="0" i="1" smtClean="0">
                                <a:latin typeface="Cambria Math"/>
                              </a:rPr>
                              <m:t>, </m:t>
                            </m:r>
                            <m:sSub>
                              <m:sSubPr>
                                <m:ctrlPr>
                                  <a:rPr lang="en-US" altLang="zh-TW" b="0" i="1" smtClean="0">
                                    <a:latin typeface="Cambria Math"/>
                                  </a:rPr>
                                </m:ctrlPr>
                              </m:sSubPr>
                              <m:e>
                                <m:r>
                                  <a:rPr lang="zh-TW" altLang="en-US" b="0" i="1" smtClean="0">
                                    <a:latin typeface="Cambria Math"/>
                                  </a:rPr>
                                  <m:t>𝜔</m:t>
                                </m:r>
                              </m:e>
                              <m:sub>
                                <m:r>
                                  <a:rPr lang="en-US" altLang="zh-TW" b="0" i="1" smtClean="0">
                                    <a:latin typeface="Cambria Math"/>
                                  </a:rPr>
                                  <m:t>1</m:t>
                                </m:r>
                              </m:sub>
                            </m:sSub>
                          </m:e>
                        </m:d>
                        <m:r>
                          <a:rPr lang="en-US" altLang="zh-TW" b="0" i="1" smtClean="0">
                            <a:latin typeface="Cambria Math"/>
                          </a:rPr>
                          <m:t>,</m:t>
                        </m:r>
                        <m:r>
                          <a:rPr lang="en-US" altLang="zh-TW" i="1">
                            <a:latin typeface="Cambria Math"/>
                          </a:rPr>
                          <m:t>𝐴</m:t>
                        </m:r>
                        <m:d>
                          <m:dPr>
                            <m:ctrlPr>
                              <a:rPr lang="en-US" altLang="zh-TW" i="1">
                                <a:latin typeface="Cambria Math"/>
                              </a:rPr>
                            </m:ctrlPr>
                          </m:dPr>
                          <m:e>
                            <m:r>
                              <a:rPr lang="en-US" altLang="zh-TW" i="1">
                                <a:latin typeface="Cambria Math"/>
                              </a:rPr>
                              <m:t>𝑥</m:t>
                            </m:r>
                            <m:r>
                              <a:rPr lang="en-US" altLang="zh-TW" i="1">
                                <a:latin typeface="Cambria Math"/>
                              </a:rPr>
                              <m:t>, </m:t>
                            </m:r>
                            <m:sSub>
                              <m:sSubPr>
                                <m:ctrlPr>
                                  <a:rPr lang="en-US" altLang="zh-TW" i="1">
                                    <a:latin typeface="Cambria Math"/>
                                  </a:rPr>
                                </m:ctrlPr>
                              </m:sSubPr>
                              <m:e>
                                <m:r>
                                  <a:rPr lang="zh-TW" altLang="en-US" i="1">
                                    <a:latin typeface="Cambria Math"/>
                                  </a:rPr>
                                  <m:t>𝜔</m:t>
                                </m:r>
                              </m:e>
                              <m:sub>
                                <m:r>
                                  <a:rPr lang="en-US" altLang="zh-TW" b="0" i="1" smtClean="0">
                                    <a:latin typeface="Cambria Math"/>
                                  </a:rPr>
                                  <m:t>2</m:t>
                                </m:r>
                              </m:sub>
                            </m:sSub>
                          </m:e>
                        </m:d>
                        <m:r>
                          <a:rPr lang="en-US" altLang="zh-TW" b="0" i="1" smtClean="0">
                            <a:latin typeface="Cambria Math"/>
                          </a:rPr>
                          <m:t>, …,</m:t>
                        </m:r>
                        <m:r>
                          <a:rPr lang="en-US" altLang="zh-TW" i="1">
                            <a:latin typeface="Cambria Math"/>
                          </a:rPr>
                          <m:t>𝐴</m:t>
                        </m:r>
                        <m:d>
                          <m:dPr>
                            <m:ctrlPr>
                              <a:rPr lang="en-US" altLang="zh-TW" i="1">
                                <a:latin typeface="Cambria Math"/>
                              </a:rPr>
                            </m:ctrlPr>
                          </m:dPr>
                          <m:e>
                            <m:r>
                              <a:rPr lang="en-US" altLang="zh-TW" i="1">
                                <a:latin typeface="Cambria Math"/>
                              </a:rPr>
                              <m:t>𝑥</m:t>
                            </m:r>
                            <m:r>
                              <a:rPr lang="en-US" altLang="zh-TW" i="1">
                                <a:latin typeface="Cambria Math"/>
                              </a:rPr>
                              <m:t>, </m:t>
                            </m:r>
                            <m:sSub>
                              <m:sSubPr>
                                <m:ctrlPr>
                                  <a:rPr lang="en-US" altLang="zh-TW" i="1">
                                    <a:latin typeface="Cambria Math"/>
                                  </a:rPr>
                                </m:ctrlPr>
                              </m:sSubPr>
                              <m:e>
                                <m:r>
                                  <a:rPr lang="zh-TW" altLang="en-US" i="1">
                                    <a:latin typeface="Cambria Math"/>
                                  </a:rPr>
                                  <m:t>𝜔</m:t>
                                </m:r>
                              </m:e>
                              <m:sub>
                                <m:r>
                                  <a:rPr lang="en-US" altLang="zh-TW" b="0" i="1" smtClean="0">
                                    <a:latin typeface="Cambria Math"/>
                                  </a:rPr>
                                  <m:t>𝑀</m:t>
                                </m:r>
                              </m:sub>
                            </m:sSub>
                          </m:e>
                        </m:d>
                      </m:e>
                    </m:d>
                  </m:oMath>
                </a14:m>
                <a:endParaRPr lang="en-US" altLang="zh-TW" dirty="0" smtClean="0"/>
              </a:p>
              <a:p>
                <a14:m>
                  <m:oMath xmlns:m="http://schemas.openxmlformats.org/officeDocument/2006/math">
                    <m:sSub>
                      <m:sSubPr>
                        <m:ctrlPr>
                          <a:rPr lang="en-US" altLang="zh-TW" i="1">
                            <a:latin typeface="Cambria Math"/>
                          </a:rPr>
                        </m:ctrlPr>
                      </m:sSubPr>
                      <m:e>
                        <m:r>
                          <a:rPr lang="en-US" altLang="zh-TW" i="1">
                            <a:latin typeface="Cambria Math"/>
                          </a:rPr>
                          <m:t>𝑎</m:t>
                        </m:r>
                      </m:e>
                      <m:sub>
                        <m:r>
                          <a:rPr lang="en-US" altLang="zh-TW" b="0" i="1" smtClean="0">
                            <a:latin typeface="Cambria Math"/>
                          </a:rPr>
                          <m:t>𝑖</m:t>
                        </m:r>
                      </m:sub>
                    </m:sSub>
                    <m:r>
                      <a:rPr lang="en-US" altLang="zh-TW" b="0" i="1" smtClean="0">
                        <a:latin typeface="Cambria Math"/>
                      </a:rPr>
                      <m:t>=</m:t>
                    </m:r>
                    <m:r>
                      <a:rPr lang="en-US" altLang="zh-TW" b="0" i="1" smtClean="0">
                        <a:latin typeface="Cambria Math"/>
                      </a:rPr>
                      <m:t>𝐴</m:t>
                    </m:r>
                    <m:d>
                      <m:dPr>
                        <m:ctrlPr>
                          <a:rPr lang="en-US" altLang="zh-TW" i="1">
                            <a:latin typeface="Cambria Math"/>
                          </a:rPr>
                        </m:ctrlPr>
                      </m:dPr>
                      <m:e>
                        <m:r>
                          <a:rPr lang="en-US" altLang="zh-TW" i="1">
                            <a:latin typeface="Cambria Math"/>
                          </a:rPr>
                          <m:t>𝑥</m:t>
                        </m:r>
                        <m:r>
                          <a:rPr lang="en-US" altLang="zh-TW" i="1">
                            <a:latin typeface="Cambria Math"/>
                          </a:rPr>
                          <m:t>, </m:t>
                        </m:r>
                        <m:sSub>
                          <m:sSubPr>
                            <m:ctrlPr>
                              <a:rPr lang="en-US" altLang="zh-TW" i="1">
                                <a:latin typeface="Cambria Math"/>
                              </a:rPr>
                            </m:ctrlPr>
                          </m:sSubPr>
                          <m:e>
                            <m:r>
                              <a:rPr lang="zh-TW" altLang="en-US" i="1">
                                <a:latin typeface="Cambria Math"/>
                              </a:rPr>
                              <m:t>𝜔</m:t>
                            </m:r>
                          </m:e>
                          <m:sub>
                            <m:r>
                              <a:rPr lang="en-US" altLang="zh-TW" b="0" i="1" smtClean="0">
                                <a:latin typeface="Cambria Math"/>
                              </a:rPr>
                              <m:t>𝑖</m:t>
                            </m:r>
                          </m:sub>
                        </m:sSub>
                      </m:e>
                    </m:d>
                  </m:oMath>
                </a14:m>
                <a:r>
                  <a:rPr lang="zh-TW" altLang="en-US" dirty="0" smtClean="0"/>
                  <a:t> </a:t>
                </a:r>
                <a:r>
                  <a:rPr lang="en-US" altLang="zh-TW" dirty="0"/>
                  <a:t>is a </a:t>
                </a:r>
                <a:r>
                  <a:rPr lang="en-US" altLang="zh-TW" dirty="0" smtClean="0"/>
                  <a:t>confidence value </a:t>
                </a:r>
                <a:r>
                  <a:rPr lang="en-US" altLang="zh-TW" dirty="0"/>
                  <a:t>supporting the evidence </a:t>
                </a:r>
                <a:r>
                  <a:rPr lang="en-US" altLang="zh-TW" dirty="0" smtClean="0"/>
                  <a:t>that </a:t>
                </a:r>
                <a14:m>
                  <m:oMath xmlns:m="http://schemas.openxmlformats.org/officeDocument/2006/math">
                    <m:r>
                      <a:rPr lang="en-US" altLang="zh-TW" b="0" i="1" smtClean="0">
                        <a:latin typeface="Cambria Math"/>
                      </a:rPr>
                      <m:t>𝑥</m:t>
                    </m:r>
                  </m:oMath>
                </a14:m>
                <a:r>
                  <a:rPr lang="zh-TW" altLang="en-US" dirty="0" smtClean="0"/>
                  <a:t> </a:t>
                </a:r>
                <a:r>
                  <a:rPr lang="en-US" altLang="zh-TW" dirty="0"/>
                  <a:t>belongs </a:t>
                </a:r>
                <a:r>
                  <a:rPr lang="en-US" altLang="zh-TW" dirty="0" smtClean="0"/>
                  <a:t>to </a:t>
                </a:r>
                <a14:m>
                  <m:oMath xmlns:m="http://schemas.openxmlformats.org/officeDocument/2006/math">
                    <m:sSub>
                      <m:sSubPr>
                        <m:ctrlPr>
                          <a:rPr lang="en-US" altLang="zh-TW" i="1">
                            <a:latin typeface="Cambria Math"/>
                          </a:rPr>
                        </m:ctrlPr>
                      </m:sSubPr>
                      <m:e>
                        <m:r>
                          <a:rPr lang="zh-TW" altLang="en-US" i="1">
                            <a:latin typeface="Cambria Math"/>
                          </a:rPr>
                          <m:t>𝜔</m:t>
                        </m:r>
                      </m:e>
                      <m:sub>
                        <m:r>
                          <a:rPr lang="en-US" altLang="zh-TW" i="1">
                            <a:latin typeface="Cambria Math"/>
                          </a:rPr>
                          <m:t>𝑖</m:t>
                        </m:r>
                      </m:sub>
                    </m:sSub>
                  </m:oMath>
                </a14:m>
                <a:r>
                  <a:rPr lang="en-US" altLang="zh-TW" dirty="0" smtClean="0"/>
                  <a:t>.</a:t>
                </a:r>
              </a:p>
              <a:p>
                <a14:m>
                  <m:oMath xmlns:m="http://schemas.openxmlformats.org/officeDocument/2006/math">
                    <m:r>
                      <m:rPr>
                        <m:sty m:val="p"/>
                      </m:rPr>
                      <a:rPr lang="el-GR" altLang="zh-TW" i="1" smtClean="0">
                        <a:latin typeface="Cambria Math"/>
                        <a:ea typeface="Cambria Math"/>
                      </a:rPr>
                      <m:t>Ω</m:t>
                    </m:r>
                    <m:r>
                      <a:rPr lang="en-US" altLang="zh-TW" b="0" i="1" smtClean="0">
                        <a:latin typeface="Cambria Math"/>
                        <a:ea typeface="Cambria Math"/>
                      </a:rPr>
                      <m:t>=</m:t>
                    </m:r>
                    <m:d>
                      <m:dPr>
                        <m:begChr m:val="{"/>
                        <m:endChr m:val="}"/>
                        <m:ctrlPr>
                          <a:rPr lang="en-US" altLang="zh-TW" b="0" i="1" smtClean="0">
                            <a:latin typeface="Cambria Math"/>
                            <a:ea typeface="Cambria Math"/>
                          </a:rPr>
                        </m:ctrlPr>
                      </m:dPr>
                      <m:e>
                        <m:sSub>
                          <m:sSubPr>
                            <m:ctrlPr>
                              <a:rPr lang="en-US" altLang="zh-TW" i="1">
                                <a:latin typeface="Cambria Math"/>
                              </a:rPr>
                            </m:ctrlPr>
                          </m:sSubPr>
                          <m:e>
                            <m:r>
                              <a:rPr lang="zh-TW" altLang="en-US" i="1">
                                <a:latin typeface="Cambria Math"/>
                              </a:rPr>
                              <m:t>𝜔</m:t>
                            </m:r>
                          </m:e>
                          <m:sub>
                            <m:r>
                              <a:rPr lang="en-US" altLang="zh-TW" i="1">
                                <a:latin typeface="Cambria Math"/>
                              </a:rPr>
                              <m:t>1</m:t>
                            </m:r>
                          </m:sub>
                        </m:sSub>
                        <m:r>
                          <a:rPr lang="en-US" altLang="zh-TW" b="0" i="1" smtClean="0">
                            <a:latin typeface="Cambria Math"/>
                          </a:rPr>
                          <m:t>,</m:t>
                        </m:r>
                        <m:sSub>
                          <m:sSubPr>
                            <m:ctrlPr>
                              <a:rPr lang="en-US" altLang="zh-TW" i="1">
                                <a:latin typeface="Cambria Math"/>
                              </a:rPr>
                            </m:ctrlPr>
                          </m:sSubPr>
                          <m:e>
                            <m:r>
                              <a:rPr lang="zh-TW" altLang="en-US" i="1">
                                <a:latin typeface="Cambria Math"/>
                              </a:rPr>
                              <m:t>𝜔</m:t>
                            </m:r>
                          </m:e>
                          <m:sub>
                            <m:r>
                              <a:rPr lang="en-US" altLang="zh-TW" b="0" i="1" smtClean="0">
                                <a:latin typeface="Cambria Math"/>
                              </a:rPr>
                              <m:t>2</m:t>
                            </m:r>
                          </m:sub>
                        </m:sSub>
                        <m:r>
                          <a:rPr lang="en-US" altLang="zh-TW" b="0" i="1" smtClean="0">
                            <a:latin typeface="Cambria Math"/>
                          </a:rPr>
                          <m:t>, …,</m:t>
                        </m:r>
                        <m:sSub>
                          <m:sSubPr>
                            <m:ctrlPr>
                              <a:rPr lang="en-US" altLang="zh-TW" i="1">
                                <a:latin typeface="Cambria Math"/>
                              </a:rPr>
                            </m:ctrlPr>
                          </m:sSubPr>
                          <m:e>
                            <m:r>
                              <a:rPr lang="zh-TW" altLang="en-US" i="1">
                                <a:latin typeface="Cambria Math"/>
                              </a:rPr>
                              <m:t>𝜔</m:t>
                            </m:r>
                          </m:e>
                          <m:sub>
                            <m:r>
                              <a:rPr lang="en-US" altLang="zh-TW" b="0" i="1" smtClean="0">
                                <a:latin typeface="Cambria Math"/>
                              </a:rPr>
                              <m:t>𝑀</m:t>
                            </m:r>
                          </m:sub>
                        </m:sSub>
                      </m:e>
                    </m:d>
                  </m:oMath>
                </a14:m>
                <a:r>
                  <a:rPr lang="zh-TW" altLang="en-US" dirty="0" smtClean="0"/>
                  <a:t> </a:t>
                </a:r>
                <a:r>
                  <a:rPr lang="en-US" altLang="zh-TW" dirty="0"/>
                  <a:t>is the set of the classes</a:t>
                </a:r>
                <a:r>
                  <a:rPr lang="en-US" altLang="zh-TW" dirty="0" smtClean="0"/>
                  <a:t>.</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617" r="-2815"/>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24D10255-A13B-40DE-A818-E35E0185DB7F}" type="slidenum">
              <a:rPr lang="zh-TW" altLang="en-US" smtClean="0"/>
              <a:t>3</a:t>
            </a:fld>
            <a:endParaRPr lang="zh-TW" altLang="en-US"/>
          </a:p>
        </p:txBody>
      </p:sp>
    </p:spTree>
    <p:extLst>
      <p:ext uri="{BB962C8B-B14F-4D97-AF65-F5344CB8AC3E}">
        <p14:creationId xmlns:p14="http://schemas.microsoft.com/office/powerpoint/2010/main" val="22640053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b="1" dirty="0" smtClean="0"/>
              <a:t>Score Normalization by DTW (1/3)</a:t>
            </a:r>
            <a:endParaRPr lang="zh-TW" altLang="en-US" b="1"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r>
                  <a:rPr lang="en-US" altLang="zh-TW" dirty="0" smtClean="0"/>
                  <a:t>DTW input: </a:t>
                </a:r>
                <a14:m>
                  <m:oMath xmlns:m="http://schemas.openxmlformats.org/officeDocument/2006/math">
                    <m:r>
                      <a:rPr lang="en-US" altLang="zh-TW" b="0" i="1" smtClean="0">
                        <a:latin typeface="Cambria Math"/>
                      </a:rPr>
                      <m:t>𝑅</m:t>
                    </m:r>
                  </m:oMath>
                </a14:m>
                <a:r>
                  <a:rPr lang="zh-TW" altLang="en-US" dirty="0" smtClean="0"/>
                  <a:t> </a:t>
                </a:r>
                <a:r>
                  <a:rPr lang="en-US" altLang="zh-TW" dirty="0" smtClean="0"/>
                  <a:t>and </a:t>
                </a:r>
                <a14:m>
                  <m:oMath xmlns:m="http://schemas.openxmlformats.org/officeDocument/2006/math">
                    <m:r>
                      <a:rPr lang="en-US" altLang="zh-TW" b="0" i="1" smtClean="0">
                        <a:latin typeface="Cambria Math"/>
                      </a:rPr>
                      <m:t>𝐺</m:t>
                    </m:r>
                  </m:oMath>
                </a14:m>
                <a:endParaRPr lang="en-US" altLang="zh-TW" dirty="0" smtClean="0"/>
              </a:p>
              <a:p>
                <a14:m>
                  <m:oMath xmlns:m="http://schemas.openxmlformats.org/officeDocument/2006/math">
                    <m:r>
                      <a:rPr lang="en-US" altLang="zh-TW" b="0" i="1" smtClean="0">
                        <a:latin typeface="Cambria Math"/>
                      </a:rPr>
                      <m:t>𝑅</m:t>
                    </m:r>
                    <m:r>
                      <a:rPr lang="en-US" altLang="zh-TW" b="0" i="1" smtClean="0">
                        <a:latin typeface="Cambria Math"/>
                      </a:rPr>
                      <m:t>=</m:t>
                    </m:r>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𝑟</m:t>
                            </m:r>
                          </m:e>
                          <m:sub>
                            <m:r>
                              <a:rPr lang="en-US" altLang="zh-TW" b="0" i="1" smtClean="0">
                                <a:latin typeface="Cambria Math"/>
                              </a:rPr>
                              <m:t>1</m:t>
                            </m:r>
                          </m:sub>
                        </m:sSub>
                        <m:r>
                          <a:rPr lang="en-US" altLang="zh-TW" b="0" i="1" smtClean="0">
                            <a:latin typeface="Cambria Math"/>
                          </a:rPr>
                          <m:t>,</m:t>
                        </m:r>
                        <m:sSub>
                          <m:sSubPr>
                            <m:ctrlPr>
                              <a:rPr lang="en-US" altLang="zh-TW" i="1">
                                <a:latin typeface="Cambria Math"/>
                              </a:rPr>
                            </m:ctrlPr>
                          </m:sSubPr>
                          <m:e>
                            <m:r>
                              <a:rPr lang="en-US" altLang="zh-TW" i="1">
                                <a:latin typeface="Cambria Math"/>
                              </a:rPr>
                              <m:t>𝑟</m:t>
                            </m:r>
                          </m:e>
                          <m:sub>
                            <m:r>
                              <a:rPr lang="en-US" altLang="zh-TW" b="0" i="1" smtClean="0">
                                <a:latin typeface="Cambria Math"/>
                              </a:rPr>
                              <m:t>2</m:t>
                            </m:r>
                          </m:sub>
                        </m:sSub>
                        <m:r>
                          <a:rPr lang="en-US" altLang="zh-TW" b="0" i="1" smtClean="0">
                            <a:latin typeface="Cambria Math"/>
                          </a:rPr>
                          <m:t>, …,</m:t>
                        </m:r>
                        <m:sSub>
                          <m:sSubPr>
                            <m:ctrlPr>
                              <a:rPr lang="en-US" altLang="zh-TW" i="1">
                                <a:latin typeface="Cambria Math"/>
                              </a:rPr>
                            </m:ctrlPr>
                          </m:sSubPr>
                          <m:e>
                            <m:r>
                              <a:rPr lang="en-US" altLang="zh-TW" i="1">
                                <a:latin typeface="Cambria Math"/>
                              </a:rPr>
                              <m:t>𝑟</m:t>
                            </m:r>
                          </m:e>
                          <m:sub>
                            <m:r>
                              <a:rPr lang="en-US" altLang="zh-TW" b="0" i="1" smtClean="0">
                                <a:latin typeface="Cambria Math"/>
                              </a:rPr>
                              <m:t>𝐿</m:t>
                            </m:r>
                          </m:sub>
                        </m:sSub>
                      </m:e>
                    </m:d>
                  </m:oMath>
                </a14:m>
                <a:r>
                  <a:rPr lang="zh-TW" altLang="en-US" dirty="0" smtClean="0"/>
                  <a:t> </a:t>
                </a:r>
                <a:r>
                  <a:rPr lang="en-US" altLang="zh-TW" dirty="0"/>
                  <a:t>is L-point discrete version of the accumulated </a:t>
                </a:r>
                <a:r>
                  <a:rPr lang="en-US" altLang="zh-TW" dirty="0" smtClean="0"/>
                  <a:t>recognition function.</a:t>
                </a:r>
              </a:p>
              <a:p>
                <a14:m>
                  <m:oMath xmlns:m="http://schemas.openxmlformats.org/officeDocument/2006/math">
                    <m:sSub>
                      <m:sSubPr>
                        <m:ctrlPr>
                          <a:rPr lang="en-US" altLang="zh-TW" i="1" smtClean="0">
                            <a:latin typeface="Cambria Math"/>
                          </a:rPr>
                        </m:ctrlPr>
                      </m:sSubPr>
                      <m:e>
                        <m:r>
                          <a:rPr lang="en-US" altLang="zh-TW" b="0" i="1" smtClean="0">
                            <a:latin typeface="Cambria Math"/>
                          </a:rPr>
                          <m:t>𝑟</m:t>
                        </m:r>
                      </m:e>
                      <m:sub>
                        <m:r>
                          <a:rPr lang="en-US" altLang="zh-TW" b="0" i="1" smtClean="0">
                            <a:latin typeface="Cambria Math"/>
                          </a:rPr>
                          <m:t>𝑖</m:t>
                        </m:r>
                      </m:sub>
                    </m:sSub>
                    <m:r>
                      <a:rPr lang="en-US" altLang="zh-TW" b="0" i="1" smtClean="0">
                        <a:latin typeface="Cambria Math"/>
                      </a:rPr>
                      <m:t>=</m:t>
                    </m:r>
                    <m:f>
                      <m:fPr>
                        <m:ctrlPr>
                          <a:rPr lang="en-US" altLang="zh-TW" b="0" i="1" smtClean="0">
                            <a:latin typeface="Cambria Math"/>
                          </a:rPr>
                        </m:ctrlPr>
                      </m:fPr>
                      <m:num>
                        <m:nary>
                          <m:naryPr>
                            <m:chr m:val="∑"/>
                            <m:ctrlPr>
                              <a:rPr lang="en-US" altLang="zh-TW" b="0" i="1" smtClean="0">
                                <a:latin typeface="Cambria Math"/>
                              </a:rPr>
                            </m:ctrlPr>
                          </m:naryPr>
                          <m:sub>
                            <m:r>
                              <m:rPr>
                                <m:brk m:alnAt="23"/>
                              </m:rPr>
                              <a:rPr lang="en-US" altLang="zh-TW" b="0" i="1" smtClean="0">
                                <a:latin typeface="Cambria Math"/>
                              </a:rPr>
                              <m:t>𝑗</m:t>
                            </m:r>
                            <m:r>
                              <a:rPr lang="en-US" altLang="zh-TW" b="0" i="1" smtClean="0">
                                <a:latin typeface="Cambria Math"/>
                              </a:rPr>
                              <m:t>=1</m:t>
                            </m:r>
                          </m:sub>
                          <m:sup>
                            <m:r>
                              <a:rPr lang="en-US" altLang="zh-TW" b="0" i="1" smtClean="0">
                                <a:latin typeface="Cambria Math"/>
                              </a:rPr>
                              <m:t>𝑖</m:t>
                            </m:r>
                          </m:sup>
                          <m:e>
                            <m:sSub>
                              <m:sSubPr>
                                <m:ctrlPr>
                                  <a:rPr lang="en-US" altLang="zh-TW" b="0" i="1" smtClean="0">
                                    <a:latin typeface="Cambria Math"/>
                                  </a:rPr>
                                </m:ctrlPr>
                              </m:sSubPr>
                              <m:e>
                                <m:r>
                                  <a:rPr lang="en-US" altLang="zh-TW" b="0" i="1" smtClean="0">
                                    <a:latin typeface="Cambria Math"/>
                                  </a:rPr>
                                  <m:t>𝑛</m:t>
                                </m:r>
                              </m:e>
                              <m:sub>
                                <m:r>
                                  <a:rPr lang="en-US" altLang="zh-TW" b="0" i="1" smtClean="0">
                                    <a:latin typeface="Cambria Math"/>
                                  </a:rPr>
                                  <m:t>𝑐𝑜𝑟𝑟𝑒𝑐𝑡</m:t>
                                </m:r>
                              </m:sub>
                            </m:sSub>
                            <m:d>
                              <m:dPr>
                                <m:ctrlPr>
                                  <a:rPr lang="en-US" altLang="zh-TW" b="0" i="1" smtClean="0">
                                    <a:latin typeface="Cambria Math"/>
                                  </a:rPr>
                                </m:ctrlPr>
                              </m:dPr>
                              <m:e>
                                <m:r>
                                  <a:rPr lang="en-US" altLang="zh-TW" b="0" i="1" smtClean="0">
                                    <a:latin typeface="Cambria Math"/>
                                  </a:rPr>
                                  <m:t>𝑗</m:t>
                                </m:r>
                              </m:e>
                            </m:d>
                          </m:e>
                        </m:nary>
                      </m:num>
                      <m:den>
                        <m:r>
                          <a:rPr lang="en-US" altLang="zh-TW" b="0" i="1" smtClean="0">
                            <a:latin typeface="Cambria Math"/>
                          </a:rPr>
                          <m:t>𝑁</m:t>
                        </m:r>
                      </m:den>
                    </m:f>
                  </m:oMath>
                </a14:m>
                <a:endParaRPr lang="en-US" altLang="zh-TW" b="0" i="1" dirty="0" smtClean="0">
                  <a:latin typeface="Cambria Math"/>
                </a:endParaRPr>
              </a:p>
              <a:p>
                <a14:m>
                  <m:oMath xmlns:m="http://schemas.openxmlformats.org/officeDocument/2006/math">
                    <m:r>
                      <a:rPr lang="en-US" altLang="zh-TW" b="0" i="1" dirty="0" smtClean="0">
                        <a:latin typeface="Cambria Math"/>
                      </a:rPr>
                      <m:t>𝑁</m:t>
                    </m:r>
                  </m:oMath>
                </a14:m>
                <a:r>
                  <a:rPr lang="en-US" altLang="zh-TW" dirty="0"/>
                  <a:t> is the number of </a:t>
                </a:r>
                <a:r>
                  <a:rPr lang="en-US" altLang="zh-TW" dirty="0" smtClean="0"/>
                  <a:t>patterns.</a:t>
                </a:r>
                <a:endParaRPr lang="en-US" altLang="zh-TW" i="1" dirty="0" smtClean="0">
                  <a:latin typeface="Cambria Math"/>
                </a:endParaRPr>
              </a:p>
              <a:p>
                <a14:m>
                  <m:oMath xmlns:m="http://schemas.openxmlformats.org/officeDocument/2006/math">
                    <m:sSub>
                      <m:sSubPr>
                        <m:ctrlPr>
                          <a:rPr lang="en-US" altLang="zh-TW" i="1">
                            <a:latin typeface="Cambria Math"/>
                          </a:rPr>
                        </m:ctrlPr>
                      </m:sSubPr>
                      <m:e>
                        <m:r>
                          <a:rPr lang="en-US" altLang="zh-TW" i="1">
                            <a:latin typeface="Cambria Math"/>
                          </a:rPr>
                          <m:t>𝑛</m:t>
                        </m:r>
                      </m:e>
                      <m:sub>
                        <m:r>
                          <a:rPr lang="en-US" altLang="zh-TW" i="1">
                            <a:latin typeface="Cambria Math"/>
                          </a:rPr>
                          <m:t>𝑐𝑜𝑟𝑟𝑒𝑐𝑡</m:t>
                        </m:r>
                      </m:sub>
                    </m:sSub>
                    <m:d>
                      <m:dPr>
                        <m:ctrlPr>
                          <a:rPr lang="en-US" altLang="zh-TW" i="1">
                            <a:latin typeface="Cambria Math"/>
                          </a:rPr>
                        </m:ctrlPr>
                      </m:dPr>
                      <m:e>
                        <m:r>
                          <a:rPr lang="en-US" altLang="zh-TW" i="1">
                            <a:latin typeface="Cambria Math"/>
                          </a:rPr>
                          <m:t>𝑗</m:t>
                        </m:r>
                      </m:e>
                    </m:d>
                  </m:oMath>
                </a14:m>
                <a:r>
                  <a:rPr lang="en-US" altLang="zh-TW" dirty="0" smtClean="0"/>
                  <a:t> is the number of correctly recognized samples for each likelihood value.</a:t>
                </a:r>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617" r="-2741" b="-539"/>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24D10255-A13B-40DE-A818-E35E0185DB7F}" type="slidenum">
              <a:rPr lang="zh-TW" altLang="en-US" smtClean="0"/>
              <a:t>4</a:t>
            </a:fld>
            <a:endParaRPr lang="zh-TW" altLang="en-US"/>
          </a:p>
        </p:txBody>
      </p:sp>
    </p:spTree>
    <p:extLst>
      <p:ext uri="{BB962C8B-B14F-4D97-AF65-F5344CB8AC3E}">
        <p14:creationId xmlns:p14="http://schemas.microsoft.com/office/powerpoint/2010/main" val="1214581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lstStyle/>
          <a:p>
            <a:r>
              <a:rPr lang="en-US" altLang="zh-TW" b="1" dirty="0"/>
              <a:t>Score Normalization by DTW </a:t>
            </a:r>
            <a:r>
              <a:rPr lang="en-US" altLang="zh-TW" b="1" dirty="0" smtClean="0"/>
              <a:t>(2/3)</a:t>
            </a:r>
            <a:endParaRPr lang="zh-TW" altLang="en-US" dirty="0"/>
          </a:p>
        </p:txBody>
      </p:sp>
      <mc:AlternateContent xmlns:mc="http://schemas.openxmlformats.org/markup-compatibility/2006" xmlns:a14="http://schemas.microsoft.com/office/drawing/2010/main">
        <mc:Choice Requires="a14">
          <p:sp>
            <p:nvSpPr>
              <p:cNvPr id="6" name="內容版面配置區 5"/>
              <p:cNvSpPr>
                <a:spLocks noGrp="1"/>
              </p:cNvSpPr>
              <p:nvPr>
                <p:ph idx="1"/>
              </p:nvPr>
            </p:nvSpPr>
            <p:spPr/>
            <p:txBody>
              <a:bodyPr/>
              <a:lstStyle/>
              <a:p>
                <a14:m>
                  <m:oMath xmlns:m="http://schemas.openxmlformats.org/officeDocument/2006/math">
                    <m:r>
                      <a:rPr lang="en-US" altLang="zh-TW" b="0" i="1" smtClean="0">
                        <a:latin typeface="Cambria Math"/>
                      </a:rPr>
                      <m:t>𝐺</m:t>
                    </m:r>
                    <m:r>
                      <a:rPr lang="en-US" altLang="zh-TW" b="0" i="1" smtClean="0">
                        <a:latin typeface="Cambria Math"/>
                      </a:rPr>
                      <m:t>=</m:t>
                    </m:r>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𝑔</m:t>
                            </m:r>
                          </m:e>
                          <m:sub>
                            <m:r>
                              <a:rPr lang="en-US" altLang="zh-TW" b="0" i="1" smtClean="0">
                                <a:latin typeface="Cambria Math"/>
                              </a:rPr>
                              <m:t>1</m:t>
                            </m:r>
                          </m:sub>
                        </m:sSub>
                        <m:r>
                          <a:rPr lang="en-US" altLang="zh-TW" b="0" i="1" smtClean="0">
                            <a:latin typeface="Cambria Math"/>
                          </a:rPr>
                          <m:t>,</m:t>
                        </m:r>
                        <m:sSub>
                          <m:sSubPr>
                            <m:ctrlPr>
                              <a:rPr lang="en-US" altLang="zh-TW" i="1">
                                <a:latin typeface="Cambria Math"/>
                              </a:rPr>
                            </m:ctrlPr>
                          </m:sSubPr>
                          <m:e>
                            <m:r>
                              <a:rPr lang="en-US" altLang="zh-TW" i="1">
                                <a:latin typeface="Cambria Math"/>
                              </a:rPr>
                              <m:t>𝑔</m:t>
                            </m:r>
                          </m:e>
                          <m:sub>
                            <m:r>
                              <a:rPr lang="en-US" altLang="zh-TW" b="0" i="1" smtClean="0">
                                <a:latin typeface="Cambria Math"/>
                              </a:rPr>
                              <m:t>2</m:t>
                            </m:r>
                          </m:sub>
                        </m:sSub>
                        <m:r>
                          <a:rPr lang="en-US" altLang="zh-TW" b="0" i="1" smtClean="0">
                            <a:latin typeface="Cambria Math"/>
                          </a:rPr>
                          <m:t>, …,</m:t>
                        </m:r>
                        <m:sSub>
                          <m:sSubPr>
                            <m:ctrlPr>
                              <a:rPr lang="en-US" altLang="zh-TW" i="1">
                                <a:latin typeface="Cambria Math"/>
                              </a:rPr>
                            </m:ctrlPr>
                          </m:sSubPr>
                          <m:e>
                            <m:r>
                              <a:rPr lang="en-US" altLang="zh-TW" i="1">
                                <a:latin typeface="Cambria Math"/>
                              </a:rPr>
                              <m:t>𝑔</m:t>
                            </m:r>
                          </m:e>
                          <m:sub>
                            <m:r>
                              <a:rPr lang="en-US" altLang="zh-TW" b="0" i="1" smtClean="0">
                                <a:latin typeface="Cambria Math"/>
                              </a:rPr>
                              <m:t>𝐿</m:t>
                            </m:r>
                          </m:sub>
                        </m:sSub>
                      </m:e>
                    </m:d>
                  </m:oMath>
                </a14:m>
                <a:r>
                  <a:rPr lang="zh-TW" altLang="en-US" dirty="0" smtClean="0"/>
                  <a:t> </a:t>
                </a:r>
                <a:r>
                  <a:rPr lang="en-US" altLang="zh-TW" dirty="0"/>
                  <a:t>is the L-point discrete version of the accumulated </a:t>
                </a:r>
                <a:r>
                  <a:rPr lang="en-US" altLang="zh-TW" dirty="0" smtClean="0"/>
                  <a:t>probability function </a:t>
                </a:r>
                <a:r>
                  <a:rPr lang="en-US" altLang="zh-TW" dirty="0"/>
                  <a:t>of the standard Gaussian distribution.</a:t>
                </a:r>
                <a:endParaRPr lang="zh-TW" altLang="en-US" dirty="0"/>
              </a:p>
            </p:txBody>
          </p:sp>
        </mc:Choice>
        <mc:Fallback xmlns="">
          <p:sp>
            <p:nvSpPr>
              <p:cNvPr id="6" name="內容版面配置區 5"/>
              <p:cNvSpPr>
                <a:spLocks noGrp="1" noRot="1" noChangeAspect="1" noMove="1" noResize="1" noEditPoints="1" noAdjustHandles="1" noChangeArrowheads="1" noChangeShapeType="1" noTextEdit="1"/>
              </p:cNvSpPr>
              <p:nvPr>
                <p:ph idx="1"/>
              </p:nvPr>
            </p:nvSpPr>
            <p:spPr>
              <a:blipFill rotWithShape="1">
                <a:blip r:embed="rId3"/>
                <a:stretch>
                  <a:fillRect t="-1617" r="-1556"/>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24D10255-A13B-40DE-A818-E35E0185DB7F}" type="slidenum">
              <a:rPr lang="zh-TW" altLang="en-US" smtClean="0"/>
              <a:t>5</a:t>
            </a:fld>
            <a:endParaRPr lang="zh-TW" altLang="en-US"/>
          </a:p>
        </p:txBody>
      </p:sp>
      <p:grpSp>
        <p:nvGrpSpPr>
          <p:cNvPr id="9" name="群組 8"/>
          <p:cNvGrpSpPr/>
          <p:nvPr/>
        </p:nvGrpSpPr>
        <p:grpSpPr>
          <a:xfrm>
            <a:off x="63374" y="3083768"/>
            <a:ext cx="8428775" cy="3657600"/>
            <a:chOff x="63374" y="3083768"/>
            <a:chExt cx="8428775" cy="3657600"/>
          </a:xfrm>
        </p:grpSpPr>
        <p:pic>
          <p:nvPicPr>
            <p:cNvPr id="7" name="圖片 6"/>
            <p:cNvPicPr>
              <a:picLocks noChangeAspect="1"/>
            </p:cNvPicPr>
            <p:nvPr/>
          </p:nvPicPr>
          <p:blipFill rotWithShape="1">
            <a:blip r:embed="rId4">
              <a:extLst>
                <a:ext uri="{28A0092B-C50C-407E-A947-70E740481C1C}">
                  <a14:useLocalDpi xmlns:a14="http://schemas.microsoft.com/office/drawing/2010/main" val="0"/>
                </a:ext>
              </a:extLst>
            </a:blip>
            <a:srcRect l="5334" r="3181"/>
            <a:stretch/>
          </p:blipFill>
          <p:spPr>
            <a:xfrm>
              <a:off x="63374" y="3083768"/>
              <a:ext cx="4182701" cy="3657600"/>
            </a:xfrm>
            <a:prstGeom prst="rect">
              <a:avLst/>
            </a:prstGeom>
          </p:spPr>
        </p:pic>
        <p:pic>
          <p:nvPicPr>
            <p:cNvPr id="8" name="圖片 7"/>
            <p:cNvPicPr>
              <a:picLocks noChangeAspect="1"/>
            </p:cNvPicPr>
            <p:nvPr/>
          </p:nvPicPr>
          <p:blipFill rotWithShape="1">
            <a:blip r:embed="rId5">
              <a:extLst>
                <a:ext uri="{28A0092B-C50C-407E-A947-70E740481C1C}">
                  <a14:useLocalDpi xmlns:a14="http://schemas.microsoft.com/office/drawing/2010/main" val="0"/>
                </a:ext>
              </a:extLst>
            </a:blip>
            <a:srcRect l="4672" r="2456"/>
            <a:stretch/>
          </p:blipFill>
          <p:spPr>
            <a:xfrm>
              <a:off x="4246074" y="3083768"/>
              <a:ext cx="4246075" cy="3657600"/>
            </a:xfrm>
            <a:prstGeom prst="rect">
              <a:avLst/>
            </a:prstGeom>
          </p:spPr>
        </p:pic>
      </p:grpSp>
    </p:spTree>
    <p:extLst>
      <p:ext uri="{BB962C8B-B14F-4D97-AF65-F5344CB8AC3E}">
        <p14:creationId xmlns:p14="http://schemas.microsoft.com/office/powerpoint/2010/main" val="3118100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Score Normalization by DTW </a:t>
            </a:r>
            <a:r>
              <a:rPr lang="en-US" altLang="zh-TW" b="1" dirty="0" smtClean="0"/>
              <a:t>(3/3)</a:t>
            </a:r>
            <a:endParaRPr lang="zh-TW" altLang="en-US" dirty="0"/>
          </a:p>
        </p:txBody>
      </p:sp>
      <mc:AlternateContent xmlns:mc="http://schemas.openxmlformats.org/markup-compatibility/2006" xmlns:a14="http://schemas.microsoft.com/office/drawing/2010/main">
        <mc:Choice Requires="a14">
          <p:sp>
            <p:nvSpPr>
              <p:cNvPr id="3" name="內容版面配置區 2"/>
              <p:cNvSpPr>
                <a:spLocks noGrp="1"/>
              </p:cNvSpPr>
              <p:nvPr>
                <p:ph idx="1"/>
              </p:nvPr>
            </p:nvSpPr>
            <p:spPr/>
            <p:txBody>
              <a:bodyPr/>
              <a:lstStyle/>
              <a:p>
                <a:pPr>
                  <a:buClr>
                    <a:schemeClr val="tx1"/>
                  </a:buClr>
                </a:pPr>
                <a14:m>
                  <m:oMath xmlns:m="http://schemas.openxmlformats.org/officeDocument/2006/math">
                    <m:sSubSup>
                      <m:sSubSupPr>
                        <m:ctrlPr>
                          <a:rPr lang="en-US" altLang="zh-TW" b="0" i="1" smtClean="0">
                            <a:solidFill>
                              <a:srgbClr val="FF0000"/>
                            </a:solidFill>
                            <a:latin typeface="Cambria Math"/>
                          </a:rPr>
                        </m:ctrlPr>
                      </m:sSubSupPr>
                      <m:e>
                        <m:r>
                          <a:rPr lang="en-US" altLang="zh-TW" b="0" i="1" smtClean="0">
                            <a:solidFill>
                              <a:srgbClr val="FF0000"/>
                            </a:solidFill>
                            <a:latin typeface="Cambria Math"/>
                          </a:rPr>
                          <m:t>𝑎</m:t>
                        </m:r>
                      </m:e>
                      <m:sub>
                        <m:r>
                          <a:rPr lang="en-US" altLang="zh-TW" b="0" i="1" smtClean="0">
                            <a:solidFill>
                              <a:srgbClr val="FF0000"/>
                            </a:solidFill>
                            <a:latin typeface="Cambria Math"/>
                          </a:rPr>
                          <m:t>𝑖</m:t>
                        </m:r>
                      </m:sub>
                      <m:sup>
                        <m:r>
                          <a:rPr lang="en-US" altLang="zh-TW" b="0" i="1" smtClean="0">
                            <a:solidFill>
                              <a:srgbClr val="FF0000"/>
                            </a:solidFill>
                            <a:latin typeface="Cambria Math"/>
                          </a:rPr>
                          <m:t>′</m:t>
                        </m:r>
                      </m:sup>
                    </m:sSubSup>
                    <m:r>
                      <a:rPr lang="en-US" altLang="zh-TW" b="0" i="1" smtClean="0">
                        <a:latin typeface="Cambria Math"/>
                      </a:rPr>
                      <m:t>=</m:t>
                    </m:r>
                    <m:f>
                      <m:fPr>
                        <m:ctrlPr>
                          <a:rPr lang="en-US" altLang="zh-TW" b="0" i="1" smtClean="0">
                            <a:latin typeface="Cambria Math"/>
                          </a:rPr>
                        </m:ctrlPr>
                      </m:fPr>
                      <m:num>
                        <m:r>
                          <a:rPr lang="en-US" altLang="zh-TW" b="0" i="1" smtClean="0">
                            <a:latin typeface="Cambria Math"/>
                          </a:rPr>
                          <m:t>1</m:t>
                        </m:r>
                      </m:num>
                      <m:den>
                        <m:r>
                          <a:rPr lang="en-US" altLang="zh-TW" b="0" i="1" smtClean="0">
                            <a:latin typeface="Cambria Math"/>
                          </a:rPr>
                          <m:t>𝑐𝑎𝑟𝑑</m:t>
                        </m:r>
                        <m:d>
                          <m:dPr>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𝐺</m:t>
                                </m:r>
                              </m:e>
                              <m:sub>
                                <m:r>
                                  <a:rPr lang="en-US" altLang="zh-TW" b="0" i="1" smtClean="0">
                                    <a:latin typeface="Cambria Math"/>
                                  </a:rPr>
                                  <m:t>𝑖</m:t>
                                </m:r>
                              </m:sub>
                            </m:sSub>
                          </m:e>
                        </m:d>
                      </m:den>
                    </m:f>
                    <m:r>
                      <a:rPr lang="en-US" altLang="zh-TW" b="0" i="1" smtClean="0">
                        <a:latin typeface="Cambria Math"/>
                        <a:ea typeface="Cambria Math"/>
                      </a:rPr>
                      <m:t>×</m:t>
                    </m:r>
                    <m:nary>
                      <m:naryPr>
                        <m:chr m:val="∑"/>
                        <m:supHide m:val="on"/>
                        <m:ctrlPr>
                          <a:rPr lang="en-US" altLang="zh-TW" b="0" i="1" smtClean="0">
                            <a:latin typeface="Cambria Math"/>
                            <a:ea typeface="Cambria Math"/>
                          </a:rPr>
                        </m:ctrlPr>
                      </m:naryPr>
                      <m:sub>
                        <m:sSub>
                          <m:sSubPr>
                            <m:ctrlPr>
                              <a:rPr lang="en-US" altLang="zh-TW" b="0" i="1" smtClean="0">
                                <a:latin typeface="Cambria Math"/>
                                <a:ea typeface="Cambria Math"/>
                              </a:rPr>
                            </m:ctrlPr>
                          </m:sSubPr>
                          <m:e>
                            <m:r>
                              <a:rPr lang="en-US" altLang="zh-TW" b="0" i="1" smtClean="0">
                                <a:latin typeface="Cambria Math"/>
                                <a:ea typeface="Cambria Math"/>
                              </a:rPr>
                              <m:t>𝑔</m:t>
                            </m:r>
                          </m:e>
                          <m:sub>
                            <m:r>
                              <a:rPr lang="en-US" altLang="zh-TW" b="0" i="1" smtClean="0">
                                <a:latin typeface="Cambria Math"/>
                                <a:ea typeface="Cambria Math"/>
                              </a:rPr>
                              <m:t>𝑞</m:t>
                            </m:r>
                          </m:sub>
                        </m:sSub>
                        <m:r>
                          <m:rPr>
                            <m:brk m:alnAt="7"/>
                          </m:rPr>
                          <a:rPr lang="en-US" altLang="zh-TW" b="0" i="1" smtClean="0">
                            <a:latin typeface="Cambria Math"/>
                            <a:ea typeface="Cambria Math"/>
                          </a:rPr>
                          <m:t>∈</m:t>
                        </m:r>
                        <m:sSub>
                          <m:sSubPr>
                            <m:ctrlPr>
                              <a:rPr lang="en-US" altLang="zh-TW" b="0" i="1" smtClean="0">
                                <a:latin typeface="Cambria Math"/>
                                <a:ea typeface="Cambria Math"/>
                              </a:rPr>
                            </m:ctrlPr>
                          </m:sSubPr>
                          <m:e>
                            <m:r>
                              <a:rPr lang="en-US" altLang="zh-TW" b="0" i="1" smtClean="0">
                                <a:latin typeface="Cambria Math"/>
                                <a:ea typeface="Cambria Math"/>
                              </a:rPr>
                              <m:t>𝐺</m:t>
                            </m:r>
                          </m:e>
                          <m:sub>
                            <m:r>
                              <a:rPr lang="en-US" altLang="zh-TW" b="0" i="1" smtClean="0">
                                <a:latin typeface="Cambria Math"/>
                                <a:ea typeface="Cambria Math"/>
                              </a:rPr>
                              <m:t>𝑖</m:t>
                            </m:r>
                          </m:sub>
                        </m:sSub>
                      </m:sub>
                      <m:sup/>
                      <m:e>
                        <m:d>
                          <m:dPr>
                            <m:ctrlPr>
                              <a:rPr lang="en-US" altLang="zh-TW" b="0" i="1" smtClean="0">
                                <a:latin typeface="Cambria Math"/>
                                <a:ea typeface="Cambria Math"/>
                              </a:rPr>
                            </m:ctrlPr>
                          </m:dPr>
                          <m:e>
                            <m:sSub>
                              <m:sSubPr>
                                <m:ctrlPr>
                                  <a:rPr lang="en-US" altLang="zh-TW" b="0" i="1" smtClean="0">
                                    <a:latin typeface="Cambria Math"/>
                                    <a:ea typeface="Cambria Math"/>
                                  </a:rPr>
                                </m:ctrlPr>
                              </m:sSubPr>
                              <m:e>
                                <m:r>
                                  <a:rPr lang="en-US" altLang="zh-TW" b="0" i="1" smtClean="0">
                                    <a:latin typeface="Cambria Math"/>
                                    <a:ea typeface="Cambria Math"/>
                                  </a:rPr>
                                  <m:t>𝑔</m:t>
                                </m:r>
                              </m:e>
                              <m:sub>
                                <m:r>
                                  <a:rPr lang="en-US" altLang="zh-TW" b="0" i="1" smtClean="0">
                                    <a:latin typeface="Cambria Math"/>
                                    <a:ea typeface="Cambria Math"/>
                                  </a:rPr>
                                  <m:t>𝑞</m:t>
                                </m:r>
                              </m:sub>
                            </m:sSub>
                          </m:e>
                        </m:d>
                      </m:e>
                    </m:nary>
                  </m:oMath>
                </a14:m>
                <a:endParaRPr lang="en-US" altLang="zh-TW" dirty="0" smtClean="0"/>
              </a:p>
              <a:p>
                <a14:m>
                  <m:oMath xmlns:m="http://schemas.openxmlformats.org/officeDocument/2006/math">
                    <m:sSub>
                      <m:sSubPr>
                        <m:ctrlPr>
                          <a:rPr lang="en-US" altLang="zh-TW" i="1" smtClean="0">
                            <a:latin typeface="Cambria Math"/>
                          </a:rPr>
                        </m:ctrlPr>
                      </m:sSubPr>
                      <m:e>
                        <m:r>
                          <a:rPr lang="en-US" altLang="zh-TW" b="0" i="1" smtClean="0">
                            <a:latin typeface="Cambria Math"/>
                          </a:rPr>
                          <m:t>𝐺</m:t>
                        </m:r>
                      </m:e>
                      <m:sub>
                        <m:r>
                          <a:rPr lang="en-US" altLang="zh-TW" b="0" i="1" smtClean="0">
                            <a:latin typeface="Cambria Math"/>
                          </a:rPr>
                          <m:t>𝑖</m:t>
                        </m:r>
                      </m:sub>
                    </m:sSub>
                    <m:r>
                      <a:rPr lang="en-US" altLang="zh-TW" b="0" i="1" smtClean="0">
                        <a:latin typeface="Cambria Math"/>
                      </a:rPr>
                      <m:t>=</m:t>
                    </m:r>
                    <m:d>
                      <m:dPr>
                        <m:begChr m:val="{"/>
                        <m:endChr m:val="}"/>
                        <m:ctrlPr>
                          <a:rPr lang="en-US" altLang="zh-TW" b="0" i="1" smtClean="0">
                            <a:latin typeface="Cambria Math"/>
                          </a:rPr>
                        </m:ctrlPr>
                      </m:dPr>
                      <m:e>
                        <m:sSub>
                          <m:sSubPr>
                            <m:ctrlPr>
                              <a:rPr lang="en-US" altLang="zh-TW" b="0" i="1" smtClean="0">
                                <a:latin typeface="Cambria Math"/>
                              </a:rPr>
                            </m:ctrlPr>
                          </m:sSubPr>
                          <m:e>
                            <m:r>
                              <a:rPr lang="en-US" altLang="zh-TW" b="0" i="1" smtClean="0">
                                <a:latin typeface="Cambria Math"/>
                              </a:rPr>
                              <m:t>𝑔</m:t>
                            </m:r>
                          </m:e>
                          <m:sub>
                            <m:r>
                              <a:rPr lang="en-US" altLang="zh-TW" b="0" i="1" smtClean="0">
                                <a:latin typeface="Cambria Math"/>
                              </a:rPr>
                              <m:t>𝑞</m:t>
                            </m:r>
                          </m:sub>
                        </m:sSub>
                      </m:e>
                      <m:e>
                        <m:d>
                          <m:dPr>
                            <m:ctrlPr>
                              <a:rPr lang="en-US" altLang="zh-TW" b="0" i="1" smtClean="0">
                                <a:latin typeface="Cambria Math"/>
                              </a:rPr>
                            </m:ctrlPr>
                          </m:dPr>
                          <m:e>
                            <m:r>
                              <a:rPr lang="en-US" altLang="zh-TW" b="0" i="1" smtClean="0">
                                <a:latin typeface="Cambria Math"/>
                              </a:rPr>
                              <m:t>𝑞</m:t>
                            </m:r>
                            <m:r>
                              <a:rPr lang="en-US" altLang="zh-TW" b="0" i="1" smtClean="0">
                                <a:latin typeface="Cambria Math"/>
                              </a:rPr>
                              <m:t>, </m:t>
                            </m:r>
                            <m:r>
                              <a:rPr lang="en-US" altLang="zh-TW" b="0" i="1" smtClean="0">
                                <a:latin typeface="Cambria Math"/>
                              </a:rPr>
                              <m:t>𝑖</m:t>
                            </m:r>
                          </m:e>
                        </m:d>
                        <m:r>
                          <a:rPr lang="en-US" altLang="zh-TW" b="0" i="1" smtClean="0">
                            <a:latin typeface="Cambria Math"/>
                            <a:ea typeface="Cambria Math"/>
                          </a:rPr>
                          <m:t>∈</m:t>
                        </m:r>
                        <m:sSup>
                          <m:sSupPr>
                            <m:ctrlPr>
                              <a:rPr lang="en-US" altLang="zh-TW" b="0" i="1" smtClean="0">
                                <a:latin typeface="Cambria Math"/>
                                <a:ea typeface="Cambria Math"/>
                              </a:rPr>
                            </m:ctrlPr>
                          </m:sSupPr>
                          <m:e>
                            <m:r>
                              <a:rPr lang="en-US" altLang="zh-TW" b="0" i="1" smtClean="0">
                                <a:latin typeface="Cambria Math"/>
                                <a:ea typeface="Cambria Math"/>
                              </a:rPr>
                              <m:t>𝑊</m:t>
                            </m:r>
                          </m:e>
                          <m:sup>
                            <m:r>
                              <a:rPr lang="en-US" altLang="zh-TW" b="0" i="1" smtClean="0">
                                <a:latin typeface="Cambria Math"/>
                                <a:ea typeface="Cambria Math"/>
                              </a:rPr>
                              <m:t>∗</m:t>
                            </m:r>
                          </m:sup>
                        </m:sSup>
                        <m:d>
                          <m:dPr>
                            <m:ctrlPr>
                              <a:rPr lang="en-US" altLang="zh-TW" b="0" i="1" smtClean="0">
                                <a:latin typeface="Cambria Math"/>
                                <a:ea typeface="Cambria Math"/>
                              </a:rPr>
                            </m:ctrlPr>
                          </m:dPr>
                          <m:e>
                            <m:r>
                              <a:rPr lang="en-US" altLang="zh-TW" b="0" i="1" smtClean="0">
                                <a:latin typeface="Cambria Math"/>
                                <a:ea typeface="Cambria Math"/>
                              </a:rPr>
                              <m:t>𝑅</m:t>
                            </m:r>
                            <m:r>
                              <a:rPr lang="en-US" altLang="zh-TW" b="0" i="1" smtClean="0">
                                <a:latin typeface="Cambria Math"/>
                                <a:ea typeface="Cambria Math"/>
                              </a:rPr>
                              <m:t>, </m:t>
                            </m:r>
                            <m:r>
                              <a:rPr lang="en-US" altLang="zh-TW" b="0" i="1" smtClean="0">
                                <a:latin typeface="Cambria Math"/>
                                <a:ea typeface="Cambria Math"/>
                              </a:rPr>
                              <m:t>𝐺</m:t>
                            </m:r>
                          </m:e>
                        </m:d>
                      </m:e>
                    </m:d>
                  </m:oMath>
                </a14:m>
                <a:endParaRPr lang="zh-TW" altLang="en-US" dirty="0"/>
              </a:p>
            </p:txBody>
          </p:sp>
        </mc:Choice>
        <mc:Fallback xmlns="">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24D10255-A13B-40DE-A818-E35E0185DB7F}" type="slidenum">
              <a:rPr lang="zh-TW" altLang="en-US" smtClean="0"/>
              <a:t>6</a:t>
            </a:fld>
            <a:endParaRPr lang="zh-TW" altLang="en-US"/>
          </a:p>
        </p:txBody>
      </p:sp>
    </p:spTree>
    <p:extLst>
      <p:ext uri="{BB962C8B-B14F-4D97-AF65-F5344CB8AC3E}">
        <p14:creationId xmlns:p14="http://schemas.microsoft.com/office/powerpoint/2010/main" val="26841303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標題 15"/>
          <p:cNvSpPr>
            <a:spLocks noGrp="1"/>
          </p:cNvSpPr>
          <p:nvPr>
            <p:ph type="title"/>
          </p:nvPr>
        </p:nvSpPr>
        <p:spPr/>
        <p:txBody>
          <a:bodyPr/>
          <a:lstStyle/>
          <a:p>
            <a:r>
              <a:rPr lang="en-US" altLang="zh-TW" b="1" dirty="0" smtClean="0"/>
              <a:t>Experiments (1/3)</a:t>
            </a:r>
            <a:endParaRPr lang="zh-TW" altLang="en-US" b="1" dirty="0"/>
          </a:p>
        </p:txBody>
      </p:sp>
      <mc:AlternateContent xmlns:mc="http://schemas.openxmlformats.org/markup-compatibility/2006" xmlns:a14="http://schemas.microsoft.com/office/drawing/2010/main">
        <mc:Choice Requires="a14">
          <p:sp>
            <p:nvSpPr>
              <p:cNvPr id="17" name="內容版面配置區 16"/>
              <p:cNvSpPr>
                <a:spLocks noGrp="1"/>
              </p:cNvSpPr>
              <p:nvPr>
                <p:ph idx="1"/>
              </p:nvPr>
            </p:nvSpPr>
            <p:spPr>
              <a:xfrm>
                <a:off x="1393304" y="5013176"/>
                <a:ext cx="4834880" cy="1656184"/>
              </a:xfrm>
            </p:spPr>
            <p:txBody>
              <a:bodyPr>
                <a:noAutofit/>
              </a:bodyPr>
              <a:lstStyle/>
              <a:p>
                <a14:m>
                  <m:oMath xmlns:m="http://schemas.openxmlformats.org/officeDocument/2006/math">
                    <m:sSub>
                      <m:sSubPr>
                        <m:ctrlPr>
                          <a:rPr lang="en-US" altLang="zh-TW" sz="2400" i="1" dirty="0" smtClean="0">
                            <a:latin typeface="Cambria Math"/>
                          </a:rPr>
                        </m:ctrlPr>
                      </m:sSubPr>
                      <m:e>
                        <m:r>
                          <a:rPr lang="en-US" altLang="zh-TW" sz="2400" b="0" i="1" dirty="0" smtClean="0">
                            <a:latin typeface="Cambria Math"/>
                          </a:rPr>
                          <m:t>𝐴</m:t>
                        </m:r>
                      </m:e>
                      <m:sub>
                        <m:r>
                          <a:rPr lang="en-US" altLang="zh-TW" sz="2400" b="0" i="1" dirty="0" smtClean="0">
                            <a:latin typeface="Cambria Math"/>
                          </a:rPr>
                          <m:t>1</m:t>
                        </m:r>
                      </m:sub>
                    </m:sSub>
                  </m:oMath>
                </a14:m>
                <a:r>
                  <a:rPr lang="en-US" altLang="zh-TW" sz="2400" dirty="0"/>
                  <a:t>: Histogram-based classifier;</a:t>
                </a:r>
                <a:endParaRPr lang="en-US" altLang="zh-TW" sz="2400" dirty="0" smtClean="0"/>
              </a:p>
              <a:p>
                <a14:m>
                  <m:oMath xmlns:m="http://schemas.openxmlformats.org/officeDocument/2006/math">
                    <m:sSub>
                      <m:sSubPr>
                        <m:ctrlPr>
                          <a:rPr lang="en-US" altLang="zh-TW" sz="2400" i="1" dirty="0">
                            <a:latin typeface="Cambria Math"/>
                          </a:rPr>
                        </m:ctrlPr>
                      </m:sSubPr>
                      <m:e>
                        <m:r>
                          <a:rPr lang="en-US" altLang="zh-TW" sz="2400" i="1" dirty="0">
                            <a:latin typeface="Cambria Math"/>
                          </a:rPr>
                          <m:t>𝐴</m:t>
                        </m:r>
                      </m:e>
                      <m:sub>
                        <m:r>
                          <a:rPr lang="en-US" altLang="zh-TW" sz="2400" b="0" i="1" dirty="0" smtClean="0">
                            <a:latin typeface="Cambria Math"/>
                          </a:rPr>
                          <m:t>2</m:t>
                        </m:r>
                      </m:sub>
                    </m:sSub>
                  </m:oMath>
                </a14:m>
                <a:r>
                  <a:rPr lang="en-US" altLang="zh-TW" sz="2400" dirty="0"/>
                  <a:t>: Intersection-based classifier;</a:t>
                </a:r>
              </a:p>
              <a:p>
                <a14:m>
                  <m:oMath xmlns:m="http://schemas.openxmlformats.org/officeDocument/2006/math">
                    <m:sSub>
                      <m:sSubPr>
                        <m:ctrlPr>
                          <a:rPr lang="en-US" altLang="zh-TW" sz="2400" i="1" dirty="0">
                            <a:latin typeface="Cambria Math"/>
                          </a:rPr>
                        </m:ctrlPr>
                      </m:sSubPr>
                      <m:e>
                        <m:r>
                          <a:rPr lang="en-US" altLang="zh-TW" sz="2400" i="1" dirty="0">
                            <a:latin typeface="Cambria Math"/>
                          </a:rPr>
                          <m:t>𝐴</m:t>
                        </m:r>
                      </m:e>
                      <m:sub>
                        <m:r>
                          <a:rPr lang="en-US" altLang="zh-TW" sz="2400" b="0" i="1" dirty="0" smtClean="0">
                            <a:latin typeface="Cambria Math"/>
                          </a:rPr>
                          <m:t>3</m:t>
                        </m:r>
                      </m:sub>
                    </m:sSub>
                  </m:oMath>
                </a14:m>
                <a:r>
                  <a:rPr lang="en-US" altLang="zh-TW" sz="2400" dirty="0"/>
                  <a:t>: Zoning-based classifier ;</a:t>
                </a:r>
              </a:p>
              <a:p>
                <a14:m>
                  <m:oMath xmlns:m="http://schemas.openxmlformats.org/officeDocument/2006/math">
                    <m:sSub>
                      <m:sSubPr>
                        <m:ctrlPr>
                          <a:rPr lang="en-US" altLang="zh-TW" sz="2400" i="1" dirty="0">
                            <a:latin typeface="Cambria Math"/>
                          </a:rPr>
                        </m:ctrlPr>
                      </m:sSubPr>
                      <m:e>
                        <m:r>
                          <a:rPr lang="en-US" altLang="zh-TW" sz="2400" i="1" dirty="0">
                            <a:latin typeface="Cambria Math"/>
                          </a:rPr>
                          <m:t>𝐴</m:t>
                        </m:r>
                      </m:e>
                      <m:sub>
                        <m:r>
                          <a:rPr lang="en-US" altLang="zh-TW" sz="2400" b="0" i="1" dirty="0" smtClean="0">
                            <a:latin typeface="Cambria Math"/>
                          </a:rPr>
                          <m:t>4</m:t>
                        </m:r>
                      </m:sub>
                    </m:sSub>
                  </m:oMath>
                </a14:m>
                <a:r>
                  <a:rPr lang="en-US" altLang="zh-TW" sz="2400" dirty="0"/>
                  <a:t>: Pattern Matching classifier.</a:t>
                </a:r>
                <a:endParaRPr lang="zh-TW" altLang="en-US" sz="2400" dirty="0"/>
              </a:p>
            </p:txBody>
          </p:sp>
        </mc:Choice>
        <mc:Fallback xmlns="">
          <p:sp>
            <p:nvSpPr>
              <p:cNvPr id="17" name="內容版面配置區 16"/>
              <p:cNvSpPr>
                <a:spLocks noGrp="1" noRot="1" noChangeAspect="1" noMove="1" noResize="1" noEditPoints="1" noAdjustHandles="1" noChangeArrowheads="1" noChangeShapeType="1" noTextEdit="1"/>
              </p:cNvSpPr>
              <p:nvPr>
                <p:ph idx="1"/>
              </p:nvPr>
            </p:nvSpPr>
            <p:spPr>
              <a:xfrm>
                <a:off x="1393304" y="5013176"/>
                <a:ext cx="4834880" cy="1656184"/>
              </a:xfrm>
              <a:blipFill rotWithShape="1">
                <a:blip r:embed="rId2"/>
                <a:stretch>
                  <a:fillRect l="-1765" t="-2941" b="-154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24D10255-A13B-40DE-A818-E35E0185DB7F}" type="slidenum">
              <a:rPr lang="zh-TW" altLang="en-US" smtClean="0"/>
              <a:t>7</a:t>
            </a:fld>
            <a:endParaRPr lang="zh-TW" altLang="en-US"/>
          </a:p>
        </p:txBody>
      </p:sp>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68685" y="1196752"/>
            <a:ext cx="6543675" cy="390763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579247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Experiments </a:t>
            </a:r>
            <a:r>
              <a:rPr lang="en-US" altLang="zh-TW" b="1" dirty="0" smtClean="0"/>
              <a:t>(2/3)</a:t>
            </a:r>
            <a:endParaRPr lang="zh-TW" altLang="en-US" dirty="0"/>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p:txBody>
              <a:bodyPr/>
              <a:lstStyle/>
              <a:p>
                <a14:m>
                  <m:oMath xmlns:m="http://schemas.openxmlformats.org/officeDocument/2006/math">
                    <m:r>
                      <a:rPr lang="en-US" altLang="zh-TW" b="0" i="1" smtClean="0">
                        <a:latin typeface="Cambria Math"/>
                      </a:rPr>
                      <m:t>𝐸</m:t>
                    </m:r>
                  </m:oMath>
                </a14:m>
                <a:r>
                  <a:rPr lang="en-US" altLang="zh-TW" dirty="0" smtClean="0"/>
                  <a:t>:</a:t>
                </a:r>
                <a:r>
                  <a:rPr lang="zh-TW" altLang="en-US" dirty="0" smtClean="0"/>
                  <a:t> </a:t>
                </a:r>
                <a:r>
                  <a:rPr lang="en-US" altLang="zh-TW" dirty="0" smtClean="0"/>
                  <a:t>sum-rule </a:t>
                </a:r>
                <a:r>
                  <a:rPr lang="en-US" altLang="zh-TW" dirty="0" smtClean="0"/>
                  <a:t>or product-rule.</a:t>
                </a:r>
              </a:p>
              <a:p>
                <a:r>
                  <a:rPr lang="en-US" altLang="zh-TW" dirty="0" smtClean="0"/>
                  <a:t>Sum-rule: </a:t>
                </a:r>
                <a14:m>
                  <m:oMath xmlns:m="http://schemas.openxmlformats.org/officeDocument/2006/math">
                    <m:sSub>
                      <m:sSubPr>
                        <m:ctrlPr>
                          <a:rPr lang="en-US" altLang="zh-TW" i="1" smtClean="0">
                            <a:latin typeface="Cambria Math"/>
                          </a:rPr>
                        </m:ctrlPr>
                      </m:sSubPr>
                      <m:e>
                        <m:r>
                          <a:rPr lang="en-US" altLang="zh-TW" b="0" i="1" smtClean="0">
                            <a:latin typeface="Cambria Math"/>
                          </a:rPr>
                          <m:t>𝐵</m:t>
                        </m:r>
                      </m:e>
                      <m:sub>
                        <m:r>
                          <a:rPr lang="en-US" altLang="zh-TW" b="0" i="1" smtClean="0">
                            <a:latin typeface="Cambria Math"/>
                          </a:rPr>
                          <m:t>𝑖</m:t>
                        </m:r>
                      </m:sub>
                    </m:sSub>
                    <m:r>
                      <a:rPr lang="en-US" altLang="zh-TW" b="0" i="1" smtClean="0">
                        <a:latin typeface="Cambria Math"/>
                      </a:rPr>
                      <m:t>=</m:t>
                    </m:r>
                    <m:nary>
                      <m:naryPr>
                        <m:chr m:val="∑"/>
                        <m:ctrlPr>
                          <a:rPr lang="en-US" altLang="zh-TW" b="0" i="1" smtClean="0">
                            <a:latin typeface="Cambria Math"/>
                          </a:rPr>
                        </m:ctrlPr>
                      </m:naryPr>
                      <m:sub>
                        <m:r>
                          <m:rPr>
                            <m:brk m:alnAt="23"/>
                          </m:rPr>
                          <a:rPr lang="en-US" altLang="zh-TW" b="0" i="1" smtClean="0">
                            <a:latin typeface="Cambria Math"/>
                          </a:rPr>
                          <m:t>𝑠</m:t>
                        </m:r>
                        <m:r>
                          <a:rPr lang="en-US" altLang="zh-TW" b="0" i="1" smtClean="0">
                            <a:latin typeface="Cambria Math"/>
                          </a:rPr>
                          <m:t>=1</m:t>
                        </m:r>
                      </m:sub>
                      <m:sup>
                        <m:r>
                          <a:rPr lang="en-US" altLang="zh-TW" b="0" i="1" smtClean="0">
                            <a:latin typeface="Cambria Math"/>
                          </a:rPr>
                          <m:t>𝐾</m:t>
                        </m:r>
                      </m:sup>
                      <m:e>
                        <m:sSup>
                          <m:sSupPr>
                            <m:ctrlPr>
                              <a:rPr lang="en-US" altLang="zh-TW" b="0" i="1" smtClean="0">
                                <a:latin typeface="Cambria Math"/>
                              </a:rPr>
                            </m:ctrlPr>
                          </m:sSupPr>
                          <m:e>
                            <m:sSubSup>
                              <m:sSubSupPr>
                                <m:ctrlPr>
                                  <a:rPr lang="en-US" altLang="zh-TW" b="0" i="1" smtClean="0">
                                    <a:latin typeface="Cambria Math"/>
                                  </a:rPr>
                                </m:ctrlPr>
                              </m:sSubSupPr>
                              <m:e>
                                <m:r>
                                  <a:rPr lang="en-US" altLang="zh-TW" b="0" i="1" smtClean="0">
                                    <a:latin typeface="Cambria Math"/>
                                  </a:rPr>
                                  <m:t>𝑎</m:t>
                                </m:r>
                              </m:e>
                              <m:sub>
                                <m:r>
                                  <a:rPr lang="en-US" altLang="zh-TW" b="0" i="1" smtClean="0">
                                    <a:latin typeface="Cambria Math"/>
                                  </a:rPr>
                                  <m:t>𝑖</m:t>
                                </m:r>
                              </m:sub>
                              <m:sup>
                                <m:r>
                                  <a:rPr lang="en-US" altLang="zh-TW" b="0" i="1" smtClean="0">
                                    <a:latin typeface="Cambria Math"/>
                                  </a:rPr>
                                  <m:t>′</m:t>
                                </m:r>
                              </m:sup>
                            </m:sSubSup>
                          </m:e>
                          <m:sup>
                            <m:r>
                              <a:rPr lang="en-US" altLang="zh-TW" b="0" i="1" smtClean="0">
                                <a:latin typeface="Cambria Math"/>
                              </a:rPr>
                              <m:t>𝑠</m:t>
                            </m:r>
                          </m:sup>
                        </m:sSup>
                      </m:e>
                    </m:nary>
                  </m:oMath>
                </a14:m>
                <a:r>
                  <a:rPr lang="en-US" altLang="zh-TW" dirty="0" smtClean="0"/>
                  <a:t>, </a:t>
                </a:r>
                <a14:m>
                  <m:oMath xmlns:m="http://schemas.openxmlformats.org/officeDocument/2006/math">
                    <m:r>
                      <a:rPr lang="en-US" altLang="zh-TW" b="0" i="1" dirty="0" smtClean="0">
                        <a:latin typeface="Cambria Math"/>
                      </a:rPr>
                      <m:t>𝑖</m:t>
                    </m:r>
                    <m:r>
                      <a:rPr lang="en-US" altLang="zh-TW" b="0" i="1" dirty="0" smtClean="0">
                        <a:latin typeface="Cambria Math"/>
                      </a:rPr>
                      <m:t>=1, 2, …, </m:t>
                    </m:r>
                    <m:r>
                      <a:rPr lang="en-US" altLang="zh-TW" b="0" i="1" dirty="0" smtClean="0">
                        <a:latin typeface="Cambria Math"/>
                      </a:rPr>
                      <m:t>𝑀</m:t>
                    </m:r>
                  </m:oMath>
                </a14:m>
                <a:endParaRPr lang="en-US" altLang="zh-TW" dirty="0" smtClean="0"/>
              </a:p>
              <a:p>
                <a:r>
                  <a:rPr lang="en-US" altLang="zh-TW" dirty="0" smtClean="0"/>
                  <a:t>Product-rule: </a:t>
                </a:r>
                <a14:m>
                  <m:oMath xmlns:m="http://schemas.openxmlformats.org/officeDocument/2006/math">
                    <m:sSub>
                      <m:sSubPr>
                        <m:ctrlPr>
                          <a:rPr lang="en-US" altLang="zh-TW" i="1">
                            <a:latin typeface="Cambria Math"/>
                          </a:rPr>
                        </m:ctrlPr>
                      </m:sSubPr>
                      <m:e>
                        <m:r>
                          <a:rPr lang="en-US" altLang="zh-TW" i="1">
                            <a:latin typeface="Cambria Math"/>
                          </a:rPr>
                          <m:t>𝐵</m:t>
                        </m:r>
                      </m:e>
                      <m:sub>
                        <m:r>
                          <a:rPr lang="en-US" altLang="zh-TW" i="1">
                            <a:latin typeface="Cambria Math"/>
                          </a:rPr>
                          <m:t>𝑖</m:t>
                        </m:r>
                      </m:sub>
                    </m:sSub>
                    <m:r>
                      <a:rPr lang="en-US" altLang="zh-TW" i="1">
                        <a:latin typeface="Cambria Math"/>
                      </a:rPr>
                      <m:t>=</m:t>
                    </m:r>
                    <m:nary>
                      <m:naryPr>
                        <m:chr m:val="∏"/>
                        <m:ctrlPr>
                          <a:rPr lang="en-US" altLang="zh-TW" i="1" smtClean="0">
                            <a:latin typeface="Cambria Math"/>
                          </a:rPr>
                        </m:ctrlPr>
                      </m:naryPr>
                      <m:sub>
                        <m:r>
                          <m:rPr>
                            <m:brk m:alnAt="23"/>
                          </m:rPr>
                          <a:rPr lang="en-US" altLang="zh-TW" b="0" i="1" smtClean="0">
                            <a:latin typeface="Cambria Math"/>
                          </a:rPr>
                          <m:t>𝑠</m:t>
                        </m:r>
                        <m:r>
                          <a:rPr lang="en-US" altLang="zh-TW" b="0" i="1" smtClean="0">
                            <a:latin typeface="Cambria Math"/>
                          </a:rPr>
                          <m:t>=1</m:t>
                        </m:r>
                      </m:sub>
                      <m:sup>
                        <m:r>
                          <a:rPr lang="en-US" altLang="zh-TW" b="0" i="1" smtClean="0">
                            <a:latin typeface="Cambria Math"/>
                          </a:rPr>
                          <m:t>𝐾</m:t>
                        </m:r>
                      </m:sup>
                      <m:e>
                        <m:sSup>
                          <m:sSupPr>
                            <m:ctrlPr>
                              <a:rPr lang="en-US" altLang="zh-TW" i="1">
                                <a:latin typeface="Cambria Math"/>
                              </a:rPr>
                            </m:ctrlPr>
                          </m:sSupPr>
                          <m:e>
                            <m:sSubSup>
                              <m:sSubSupPr>
                                <m:ctrlPr>
                                  <a:rPr lang="en-US" altLang="zh-TW" i="1">
                                    <a:latin typeface="Cambria Math"/>
                                  </a:rPr>
                                </m:ctrlPr>
                              </m:sSubSupPr>
                              <m:e>
                                <m:r>
                                  <a:rPr lang="en-US" altLang="zh-TW" i="1">
                                    <a:latin typeface="Cambria Math"/>
                                  </a:rPr>
                                  <m:t>𝑎</m:t>
                                </m:r>
                              </m:e>
                              <m:sub>
                                <m:r>
                                  <a:rPr lang="en-US" altLang="zh-TW" i="1">
                                    <a:latin typeface="Cambria Math"/>
                                  </a:rPr>
                                  <m:t>𝑖</m:t>
                                </m:r>
                              </m:sub>
                              <m:sup>
                                <m:r>
                                  <a:rPr lang="en-US" altLang="zh-TW" i="1">
                                    <a:latin typeface="Cambria Math"/>
                                  </a:rPr>
                                  <m:t>′</m:t>
                                </m:r>
                              </m:sup>
                            </m:sSubSup>
                          </m:e>
                          <m:sup>
                            <m:r>
                              <a:rPr lang="en-US" altLang="zh-TW" i="1">
                                <a:latin typeface="Cambria Math"/>
                              </a:rPr>
                              <m:t>𝑠</m:t>
                            </m:r>
                          </m:sup>
                        </m:sSup>
                      </m:e>
                    </m:nary>
                  </m:oMath>
                </a14:m>
                <a:r>
                  <a:rPr lang="en-US" altLang="zh-TW" dirty="0"/>
                  <a:t>, </a:t>
                </a:r>
                <a14:m>
                  <m:oMath xmlns:m="http://schemas.openxmlformats.org/officeDocument/2006/math">
                    <m:r>
                      <a:rPr lang="en-US" altLang="zh-TW" i="1" dirty="0">
                        <a:latin typeface="Cambria Math"/>
                      </a:rPr>
                      <m:t>𝑖</m:t>
                    </m:r>
                    <m:r>
                      <a:rPr lang="en-US" altLang="zh-TW" i="1" dirty="0">
                        <a:latin typeface="Cambria Math"/>
                      </a:rPr>
                      <m:t>=1, 2, …, </m:t>
                    </m:r>
                    <m:r>
                      <a:rPr lang="en-US" altLang="zh-TW" i="1" dirty="0">
                        <a:latin typeface="Cambria Math"/>
                      </a:rPr>
                      <m:t>𝑀</m:t>
                    </m:r>
                  </m:oMath>
                </a14:m>
                <a:endParaRPr lang="en-US" altLang="zh-TW" dirty="0" smtClean="0"/>
              </a:p>
              <a:p>
                <a:r>
                  <a:rPr lang="en-US" altLang="zh-TW" dirty="0" smtClean="0"/>
                  <a:t>The </a:t>
                </a:r>
                <a:r>
                  <a:rPr lang="en-US" altLang="zh-TW" dirty="0"/>
                  <a:t>pattern </a:t>
                </a:r>
                <a14:m>
                  <m:oMath xmlns:m="http://schemas.openxmlformats.org/officeDocument/2006/math">
                    <m:r>
                      <a:rPr lang="en-US" altLang="zh-TW" i="1" dirty="0" smtClean="0">
                        <a:latin typeface="Cambria Math"/>
                      </a:rPr>
                      <m:t>𝑥</m:t>
                    </m:r>
                  </m:oMath>
                </a14:m>
                <a:r>
                  <a:rPr lang="en-US" altLang="zh-TW" dirty="0"/>
                  <a:t> is classified to the class </a:t>
                </a:r>
                <a14:m>
                  <m:oMath xmlns:m="http://schemas.openxmlformats.org/officeDocument/2006/math">
                    <m:sSub>
                      <m:sSubPr>
                        <m:ctrlPr>
                          <a:rPr lang="en-US" altLang="zh-TW" i="1" smtClean="0">
                            <a:latin typeface="Cambria Math"/>
                          </a:rPr>
                        </m:ctrlPr>
                      </m:sSubPr>
                      <m:e>
                        <m:r>
                          <a:rPr lang="zh-TW" altLang="en-US" i="1" smtClean="0">
                            <a:latin typeface="Cambria Math"/>
                          </a:rPr>
                          <m:t>𝜔</m:t>
                        </m:r>
                      </m:e>
                      <m:sub>
                        <m:r>
                          <a:rPr lang="en-US" altLang="zh-TW" b="0" i="1" smtClean="0">
                            <a:latin typeface="Cambria Math"/>
                          </a:rPr>
                          <m:t>𝑗</m:t>
                        </m:r>
                      </m:sub>
                    </m:sSub>
                  </m:oMath>
                </a14:m>
                <a:r>
                  <a:rPr lang="en-US" altLang="zh-TW" dirty="0" smtClean="0"/>
                  <a:t> if and only if </a:t>
                </a:r>
                <a14:m>
                  <m:oMath xmlns:m="http://schemas.openxmlformats.org/officeDocument/2006/math">
                    <m:sSub>
                      <m:sSubPr>
                        <m:ctrlPr>
                          <a:rPr lang="en-US" altLang="zh-TW" i="1" smtClean="0">
                            <a:latin typeface="Cambria Math"/>
                          </a:rPr>
                        </m:ctrlPr>
                      </m:sSubPr>
                      <m:e>
                        <m:r>
                          <a:rPr lang="en-US" altLang="zh-TW" b="0" i="1" smtClean="0">
                            <a:latin typeface="Cambria Math"/>
                          </a:rPr>
                          <m:t>𝐵</m:t>
                        </m:r>
                      </m:e>
                      <m:sub>
                        <m:r>
                          <a:rPr lang="en-US" altLang="zh-TW" b="0" i="1" smtClean="0">
                            <a:latin typeface="Cambria Math"/>
                          </a:rPr>
                          <m:t>𝑗</m:t>
                        </m:r>
                      </m:sub>
                    </m:sSub>
                    <m:r>
                      <a:rPr lang="en-US" altLang="zh-TW" b="0" i="1" smtClean="0">
                        <a:latin typeface="Cambria Math"/>
                      </a:rPr>
                      <m:t>=</m:t>
                    </m:r>
                    <m:func>
                      <m:funcPr>
                        <m:ctrlPr>
                          <a:rPr lang="en-US" altLang="zh-TW" b="0" i="1" smtClean="0">
                            <a:latin typeface="Cambria Math"/>
                          </a:rPr>
                        </m:ctrlPr>
                      </m:funcPr>
                      <m:fName>
                        <m:limLow>
                          <m:limLowPr>
                            <m:ctrlPr>
                              <a:rPr lang="en-US" altLang="zh-TW" b="0" i="1" smtClean="0">
                                <a:latin typeface="Cambria Math"/>
                              </a:rPr>
                            </m:ctrlPr>
                          </m:limLowPr>
                          <m:e>
                            <m:r>
                              <m:rPr>
                                <m:sty m:val="p"/>
                              </m:rPr>
                              <a:rPr lang="en-US" altLang="zh-TW" b="0" i="0" smtClean="0">
                                <a:latin typeface="Cambria Math"/>
                              </a:rPr>
                              <m:t>max</m:t>
                            </m:r>
                          </m:e>
                          <m:lim>
                            <m:d>
                              <m:dPr>
                                <m:ctrlPr>
                                  <a:rPr lang="en-US" altLang="zh-TW" b="0" i="1" smtClean="0">
                                    <a:latin typeface="Cambria Math"/>
                                  </a:rPr>
                                </m:ctrlPr>
                              </m:dPr>
                              <m:e>
                                <m:r>
                                  <a:rPr lang="en-US" altLang="zh-TW" b="0" i="1" smtClean="0">
                                    <a:latin typeface="Cambria Math"/>
                                  </a:rPr>
                                  <m:t>𝑖</m:t>
                                </m:r>
                                <m:r>
                                  <a:rPr lang="en-US" altLang="zh-TW" b="0" i="1" smtClean="0">
                                    <a:latin typeface="Cambria Math"/>
                                  </a:rPr>
                                  <m:t>=1, 2, …, </m:t>
                                </m:r>
                                <m:r>
                                  <a:rPr lang="en-US" altLang="zh-TW" b="0" i="1" smtClean="0">
                                    <a:latin typeface="Cambria Math"/>
                                  </a:rPr>
                                  <m:t>𝑀</m:t>
                                </m:r>
                              </m:e>
                            </m:d>
                          </m:lim>
                        </m:limLow>
                      </m:fName>
                      <m:e>
                        <m:sSub>
                          <m:sSubPr>
                            <m:ctrlPr>
                              <a:rPr lang="en-US" altLang="zh-TW" b="0" i="1" smtClean="0">
                                <a:latin typeface="Cambria Math"/>
                              </a:rPr>
                            </m:ctrlPr>
                          </m:sSubPr>
                          <m:e>
                            <m:r>
                              <a:rPr lang="en-US" altLang="zh-TW" b="0" i="1" smtClean="0">
                                <a:latin typeface="Cambria Math"/>
                              </a:rPr>
                              <m:t>𝐵</m:t>
                            </m:r>
                          </m:e>
                          <m:sub>
                            <m:r>
                              <a:rPr lang="en-US" altLang="zh-TW" b="0" i="1" smtClean="0">
                                <a:latin typeface="Cambria Math"/>
                              </a:rPr>
                              <m:t>𝑖</m:t>
                            </m:r>
                          </m:sub>
                        </m:sSub>
                      </m:e>
                    </m:func>
                  </m:oMath>
                </a14:m>
                <a:endParaRPr lang="zh-TW" altLang="en-US" dirty="0"/>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blipFill rotWithShape="1">
                <a:blip r:embed="rId2"/>
                <a:stretch>
                  <a:fillRect l="-1630" t="-1617" r="-2741"/>
                </a:stretch>
              </a:blipFill>
            </p:spPr>
            <p:txBody>
              <a:bodyPr/>
              <a:lstStyle/>
              <a:p>
                <a:r>
                  <a:rPr lang="zh-TW" altLang="en-US">
                    <a:noFill/>
                  </a:rPr>
                  <a:t> </a:t>
                </a:r>
              </a:p>
            </p:txBody>
          </p:sp>
        </mc:Fallback>
      </mc:AlternateContent>
      <p:sp>
        <p:nvSpPr>
          <p:cNvPr id="4" name="投影片編號版面配置區 3"/>
          <p:cNvSpPr>
            <a:spLocks noGrp="1"/>
          </p:cNvSpPr>
          <p:nvPr>
            <p:ph type="sldNum" sz="quarter" idx="12"/>
          </p:nvPr>
        </p:nvSpPr>
        <p:spPr/>
        <p:txBody>
          <a:bodyPr/>
          <a:lstStyle/>
          <a:p>
            <a:fld id="{24D10255-A13B-40DE-A818-E35E0185DB7F}" type="slidenum">
              <a:rPr lang="zh-TW" altLang="en-US" smtClean="0"/>
              <a:t>8</a:t>
            </a:fld>
            <a:endParaRPr lang="zh-TW" altLang="en-US"/>
          </a:p>
        </p:txBody>
      </p:sp>
    </p:spTree>
    <p:extLst>
      <p:ext uri="{BB962C8B-B14F-4D97-AF65-F5344CB8AC3E}">
        <p14:creationId xmlns:p14="http://schemas.microsoft.com/office/powerpoint/2010/main" val="23364135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a:t>Experiments </a:t>
            </a:r>
            <a:r>
              <a:rPr lang="en-US" altLang="zh-TW" b="1" dirty="0" smtClean="0"/>
              <a:t>(3/3)</a:t>
            </a:r>
            <a:endParaRPr lang="zh-TW" altLang="en-US" dirty="0"/>
          </a:p>
        </p:txBody>
      </p:sp>
      <p:sp>
        <p:nvSpPr>
          <p:cNvPr id="3" name="內容版面配置區 2"/>
          <p:cNvSpPr>
            <a:spLocks noGrp="1"/>
          </p:cNvSpPr>
          <p:nvPr>
            <p:ph idx="1"/>
          </p:nvPr>
        </p:nvSpPr>
        <p:spPr/>
        <p:txBody>
          <a:bodyPr/>
          <a:lstStyle/>
          <a:p>
            <a:r>
              <a:rPr lang="en-US" altLang="zh-TW" dirty="0" smtClean="0"/>
              <a:t>CEDAR: 18467 patterns </a:t>
            </a:r>
            <a:r>
              <a:rPr lang="en-US" altLang="zh-TW" dirty="0"/>
              <a:t>for learning </a:t>
            </a:r>
            <a:r>
              <a:rPr lang="en-US" altLang="zh-TW" dirty="0" smtClean="0"/>
              <a:t>and </a:t>
            </a:r>
            <a:r>
              <a:rPr lang="en-US" altLang="zh-TW" dirty="0"/>
              <a:t>2189 patterns for </a:t>
            </a:r>
            <a:r>
              <a:rPr lang="en-US" altLang="zh-TW" dirty="0" smtClean="0"/>
              <a:t>the test.</a:t>
            </a:r>
            <a:endParaRPr lang="zh-TW" altLang="en-US" dirty="0"/>
          </a:p>
        </p:txBody>
      </p:sp>
      <p:sp>
        <p:nvSpPr>
          <p:cNvPr id="4" name="投影片編號版面配置區 3"/>
          <p:cNvSpPr>
            <a:spLocks noGrp="1"/>
          </p:cNvSpPr>
          <p:nvPr>
            <p:ph type="sldNum" sz="quarter" idx="12"/>
          </p:nvPr>
        </p:nvSpPr>
        <p:spPr/>
        <p:txBody>
          <a:bodyPr/>
          <a:lstStyle/>
          <a:p>
            <a:fld id="{24D10255-A13B-40DE-A818-E35E0185DB7F}" type="slidenum">
              <a:rPr lang="zh-TW" altLang="en-US" smtClean="0"/>
              <a:t>9</a:t>
            </a:fld>
            <a:endParaRPr lang="zh-TW" altLang="en-US"/>
          </a:p>
        </p:txBody>
      </p:sp>
      <p:pic>
        <p:nvPicPr>
          <p:cNvPr id="2053"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2924944"/>
            <a:ext cx="8923020" cy="30480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086362356"/>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FF00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1318</TotalTime>
  <Words>602</Words>
  <Application>Microsoft Office PowerPoint</Application>
  <PresentationFormat>如螢幕大小 (4:3)</PresentationFormat>
  <Paragraphs>47</Paragraphs>
  <Slides>9</Slides>
  <Notes>2</Notes>
  <HiddenSlides>0</HiddenSlides>
  <MMClips>0</MMClips>
  <ScaleCrop>false</ScaleCrop>
  <HeadingPairs>
    <vt:vector size="4" baseType="variant">
      <vt:variant>
        <vt:lpstr>佈景主題</vt:lpstr>
      </vt:variant>
      <vt:variant>
        <vt:i4>1</vt:i4>
      </vt:variant>
      <vt:variant>
        <vt:lpstr>投影片標題</vt:lpstr>
      </vt:variant>
      <vt:variant>
        <vt:i4>9</vt:i4>
      </vt:variant>
    </vt:vector>
  </HeadingPairs>
  <TitlesOfParts>
    <vt:vector size="10" baseType="lpstr">
      <vt:lpstr>Office 佈景主題</vt:lpstr>
      <vt:lpstr>Score Normalization by Dynamic Time Warping</vt:lpstr>
      <vt:lpstr>Abstract</vt:lpstr>
      <vt:lpstr>Score Normalization</vt:lpstr>
      <vt:lpstr>Score Normalization by DTW (1/3)</vt:lpstr>
      <vt:lpstr>Score Normalization by DTW (2/3)</vt:lpstr>
      <vt:lpstr>Score Normalization by DTW (3/3)</vt:lpstr>
      <vt:lpstr>Experiments (1/3)</vt:lpstr>
      <vt:lpstr>Experiments (2/3)</vt:lpstr>
      <vt:lpstr>Experiments (3/3)</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on Longest Common Subsequence Fast Algorithm</dc:title>
  <dc:creator>Ray</dc:creator>
  <cp:lastModifiedBy>Ray</cp:lastModifiedBy>
  <cp:revision>434</cp:revision>
  <dcterms:created xsi:type="dcterms:W3CDTF">2012-09-09T09:37:21Z</dcterms:created>
  <dcterms:modified xsi:type="dcterms:W3CDTF">2013-04-23T04:07:41Z</dcterms:modified>
</cp:coreProperties>
</file>