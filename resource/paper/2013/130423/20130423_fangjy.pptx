
<file path=[Content_Types].xml><?xml version="1.0" encoding="utf-8"?>
<Types xmlns="http://schemas.openxmlformats.org/package/2006/content-types">
  <Override PartName="/ppt/slides/slide6.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6.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emf" ContentType="image/x-em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Layouts/slideLayout7.xml" ContentType="application/vnd.openxmlformats-officedocument.presentationml.slideLayout+xml"/>
  <Default Extension="png" ContentType="image/png"/>
  <Override PartName="/ppt/notesSlides/notesSlide1.xml" ContentType="application/vnd.openxmlformats-officedocument.presentationml.notesSlid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8"/>
  </p:notesMasterIdLst>
  <p:sldIdLst>
    <p:sldId id="256" r:id="rId2"/>
    <p:sldId id="257" r:id="rId3"/>
    <p:sldId id="283" r:id="rId4"/>
    <p:sldId id="258"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80" r:id="rId25"/>
    <p:sldId id="281" r:id="rId26"/>
    <p:sldId id="282" r:id="rId27"/>
  </p:sldIdLst>
  <p:sldSz cx="9144000" cy="6858000" type="screen4x3"/>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xmlns="">
          <a:srgbClr val="FF0000"/>
        </p14:laserClr>
      </p:ext>
      <p:ext uri="{2FDB2607-1784-4EEB-B798-7EB5836EED8A}">
        <p14:showMediaCtrls xmlns:p14="http://schemas.microsoft.com/office/powerpoint/2010/main" xmlns="" val="1"/>
      </p:ext>
    </p:extLst>
  </p:showPr>
  <p:extLst>
    <p:ext uri="{E76CE94A-603C-4142-B9EB-6D1370010A27}">
      <p14:discardImageEditData xmlns:p14="http://schemas.microsoft.com/office/powerpoint/2010/main" xmlns="" val="0"/>
    </p:ext>
    <p:ext uri="{D31A062A-798A-4329-ABDD-BBA856620510}">
      <p14:defaultImageDpi xmlns:p14="http://schemas.microsoft.com/office/powerpoint/2010/main" xmlns=""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3654" autoAdjust="0"/>
    <p:restoredTop sz="94764" autoAdjust="0"/>
  </p:normalViewPr>
  <p:slideViewPr>
    <p:cSldViewPr>
      <p:cViewPr>
        <p:scale>
          <a:sx n="117" d="100"/>
          <a:sy n="117" d="100"/>
        </p:scale>
        <p:origin x="1356" y="1998"/>
      </p:cViewPr>
      <p:guideLst>
        <p:guide orient="horz" pos="2160"/>
        <p:guide pos="2880"/>
      </p:guideLst>
    </p:cSldViewPr>
  </p:slid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A40C453A-7421-4F88-B24D-D25E51484FE3}" type="datetimeFigureOut">
              <a:rPr lang="zh-TW" altLang="en-US" smtClean="0"/>
              <a:pPr/>
              <a:t>2013/4/23</a:t>
            </a:fld>
            <a:endParaRPr lang="zh-TW" altLang="en-US"/>
          </a:p>
        </p:txBody>
      </p:sp>
      <p:sp>
        <p:nvSpPr>
          <p:cNvPr id="4" name="投影片圖像版面配置區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6" name="頁尾版面配置區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TW" altLang="en-US"/>
          </a:p>
        </p:txBody>
      </p:sp>
      <p:sp>
        <p:nvSpPr>
          <p:cNvPr id="7" name="投影片編號版面配置區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04D95FA1-170C-4E67-A9C4-80364AB804CF}" type="slidenum">
              <a:rPr lang="zh-TW" altLang="en-US" smtClean="0"/>
              <a:pPr/>
              <a:t>‹#›</a:t>
            </a:fld>
            <a:endParaRPr lang="zh-TW" altLang="en-US"/>
          </a:p>
        </p:txBody>
      </p:sp>
    </p:spTree>
    <p:extLst>
      <p:ext uri="{BB962C8B-B14F-4D97-AF65-F5344CB8AC3E}">
        <p14:creationId xmlns:p14="http://schemas.microsoft.com/office/powerpoint/2010/main" xmlns="" val="42298600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04D95FA1-170C-4E67-A9C4-80364AB804CF}" type="slidenum">
              <a:rPr lang="zh-TW" altLang="en-US" smtClean="0"/>
              <a:pPr/>
              <a:t>10</a:t>
            </a:fld>
            <a:endParaRPr lang="zh-TW" altLang="en-US"/>
          </a:p>
        </p:txBody>
      </p:sp>
    </p:spTree>
    <p:extLst>
      <p:ext uri="{BB962C8B-B14F-4D97-AF65-F5344CB8AC3E}">
        <p14:creationId xmlns:p14="http://schemas.microsoft.com/office/powerpoint/2010/main" xmlns="" val="219029793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p:cNvSpPr>
            <a:spLocks noGrp="1"/>
          </p:cNvSpPr>
          <p:nvPr>
            <p:ph type="ctrTitle"/>
          </p:nvPr>
        </p:nvSpPr>
        <p:spPr>
          <a:xfrm>
            <a:off x="685800" y="2130425"/>
            <a:ext cx="7772400" cy="1470025"/>
          </a:xfrm>
        </p:spPr>
        <p:txBody>
          <a:bodyPr/>
          <a:lstStyle/>
          <a:p>
            <a:r>
              <a:rPr lang="zh-TW" altLang="en-US" smtClean="0"/>
              <a:t>按一下以編輯母片標題樣式</a:t>
            </a:r>
            <a:endParaRPr lang="zh-TW" altLang="en-US"/>
          </a:p>
        </p:txBody>
      </p:sp>
      <p:sp>
        <p:nvSpPr>
          <p:cNvPr id="3" name="副標題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TW" altLang="en-US" smtClean="0"/>
              <a:t>按一下以編輯母片副標題樣式</a:t>
            </a:r>
            <a:endParaRPr lang="zh-TW" altLang="en-US"/>
          </a:p>
        </p:txBody>
      </p:sp>
      <p:sp>
        <p:nvSpPr>
          <p:cNvPr id="4" name="日期版面配置區 3"/>
          <p:cNvSpPr>
            <a:spLocks noGrp="1"/>
          </p:cNvSpPr>
          <p:nvPr>
            <p:ph type="dt" sz="half" idx="10"/>
          </p:nvPr>
        </p:nvSpPr>
        <p:spPr/>
        <p:txBody>
          <a:bodyPr/>
          <a:lstStyle/>
          <a:p>
            <a:fld id="{C1C912F8-4948-4523-949D-6D70199DC384}" type="datetimeFigureOut">
              <a:rPr lang="zh-TW" altLang="en-US" smtClean="0"/>
              <a:pPr/>
              <a:t>2013/4/23</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3C6BD3C5-9003-4B2E-97DA-CDDDF7895D1F}" type="slidenum">
              <a:rPr lang="zh-TW" altLang="en-US" smtClean="0"/>
              <a:pPr/>
              <a:t>‹#›</a:t>
            </a:fld>
            <a:endParaRPr lang="zh-TW"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內容版面配置區 2"/>
          <p:cNvSpPr>
            <a:spLocks noGrp="1"/>
          </p:cNvSpPr>
          <p:nvPr>
            <p:ph idx="1"/>
          </p:nvPr>
        </p:nvSpPr>
        <p:spPr/>
        <p:txBody>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10"/>
          </p:nvPr>
        </p:nvSpPr>
        <p:spPr/>
        <p:txBody>
          <a:bodyPr/>
          <a:lstStyle/>
          <a:p>
            <a:fld id="{C1C912F8-4948-4523-949D-6D70199DC384}" type="datetimeFigureOut">
              <a:rPr lang="zh-TW" altLang="en-US" smtClean="0"/>
              <a:pPr/>
              <a:t>2013/4/23</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3C6BD3C5-9003-4B2E-97DA-CDDDF7895D1F}" type="slidenum">
              <a:rPr lang="zh-TW" altLang="en-US" smtClean="0"/>
              <a:pPr/>
              <a:t>‹#›</a:t>
            </a:fld>
            <a:endParaRPr lang="zh-TW"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區段標題">
    <p:spTree>
      <p:nvGrpSpPr>
        <p:cNvPr id="1" name=""/>
        <p:cNvGrpSpPr/>
        <p:nvPr/>
      </p:nvGrpSpPr>
      <p:grpSpPr>
        <a:xfrm>
          <a:off x="0" y="0"/>
          <a:ext cx="0" cy="0"/>
          <a:chOff x="0" y="0"/>
          <a:chExt cx="0" cy="0"/>
        </a:xfrm>
      </p:grpSpPr>
      <p:sp>
        <p:nvSpPr>
          <p:cNvPr id="2" name="標題 1"/>
          <p:cNvSpPr>
            <a:spLocks noGrp="1"/>
          </p:cNvSpPr>
          <p:nvPr>
            <p:ph type="title"/>
          </p:nvPr>
        </p:nvSpPr>
        <p:spPr>
          <a:xfrm>
            <a:off x="722313" y="4406900"/>
            <a:ext cx="7772400" cy="1362075"/>
          </a:xfrm>
        </p:spPr>
        <p:txBody>
          <a:bodyPr anchor="t"/>
          <a:lstStyle>
            <a:lvl1pPr algn="l">
              <a:defRPr sz="4000" b="1" cap="all"/>
            </a:lvl1pPr>
          </a:lstStyle>
          <a:p>
            <a:r>
              <a:rPr lang="zh-TW" altLang="en-US" smtClean="0"/>
              <a:t>按一下以編輯母片標題樣式</a:t>
            </a:r>
            <a:endParaRPr lang="zh-TW" altLang="en-US"/>
          </a:p>
        </p:txBody>
      </p:sp>
      <p:sp>
        <p:nvSpPr>
          <p:cNvPr id="3" name="文字版面配置區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TW" altLang="en-US" smtClean="0"/>
              <a:t>按一下以編輯母片文字樣式</a:t>
            </a:r>
          </a:p>
        </p:txBody>
      </p:sp>
      <p:sp>
        <p:nvSpPr>
          <p:cNvPr id="4" name="日期版面配置區 3"/>
          <p:cNvSpPr>
            <a:spLocks noGrp="1"/>
          </p:cNvSpPr>
          <p:nvPr>
            <p:ph type="dt" sz="half" idx="10"/>
          </p:nvPr>
        </p:nvSpPr>
        <p:spPr/>
        <p:txBody>
          <a:bodyPr/>
          <a:lstStyle/>
          <a:p>
            <a:fld id="{C1C912F8-4948-4523-949D-6D70199DC384}" type="datetimeFigureOut">
              <a:rPr lang="zh-TW" altLang="en-US" smtClean="0"/>
              <a:pPr/>
              <a:t>2013/4/23</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3C6BD3C5-9003-4B2E-97DA-CDDDF7895D1F}" type="slidenum">
              <a:rPr lang="zh-TW" altLang="en-US" smtClean="0"/>
              <a:pPr/>
              <a:t>‹#›</a:t>
            </a:fld>
            <a:endParaRPr lang="zh-TW"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項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內容版面配置區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內容版面配置區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5" name="日期版面配置區 4"/>
          <p:cNvSpPr>
            <a:spLocks noGrp="1"/>
          </p:cNvSpPr>
          <p:nvPr>
            <p:ph type="dt" sz="half" idx="10"/>
          </p:nvPr>
        </p:nvSpPr>
        <p:spPr/>
        <p:txBody>
          <a:bodyPr/>
          <a:lstStyle/>
          <a:p>
            <a:fld id="{C1C912F8-4948-4523-949D-6D70199DC384}" type="datetimeFigureOut">
              <a:rPr lang="zh-TW" altLang="en-US" smtClean="0"/>
              <a:pPr/>
              <a:t>2013/4/23</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3C6BD3C5-9003-4B2E-97DA-CDDDF7895D1F}" type="slidenum">
              <a:rPr lang="zh-TW" altLang="en-US" smtClean="0"/>
              <a:pPr/>
              <a:t>‹#›</a:t>
            </a:fld>
            <a:endParaRPr lang="zh-TW"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對">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lvl1pPr>
              <a:defRPr/>
            </a:lvl1pPr>
          </a:lstStyle>
          <a:p>
            <a:r>
              <a:rPr lang="zh-TW" altLang="en-US" smtClean="0"/>
              <a:t>按一下以編輯母片標題樣式</a:t>
            </a:r>
            <a:endParaRPr lang="zh-TW" altLang="en-US"/>
          </a:p>
        </p:txBody>
      </p:sp>
      <p:sp>
        <p:nvSpPr>
          <p:cNvPr id="3" name="文字版面配置區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smtClean="0"/>
              <a:t>按一下以編輯母片文字樣式</a:t>
            </a:r>
          </a:p>
        </p:txBody>
      </p:sp>
      <p:sp>
        <p:nvSpPr>
          <p:cNvPr id="4" name="內容版面配置區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5" name="文字版面配置區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smtClean="0"/>
              <a:t>按一下以編輯母片文字樣式</a:t>
            </a:r>
          </a:p>
        </p:txBody>
      </p:sp>
      <p:sp>
        <p:nvSpPr>
          <p:cNvPr id="6" name="內容版面配置區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7" name="日期版面配置區 6"/>
          <p:cNvSpPr>
            <a:spLocks noGrp="1"/>
          </p:cNvSpPr>
          <p:nvPr>
            <p:ph type="dt" sz="half" idx="10"/>
          </p:nvPr>
        </p:nvSpPr>
        <p:spPr/>
        <p:txBody>
          <a:bodyPr/>
          <a:lstStyle/>
          <a:p>
            <a:fld id="{C1C912F8-4948-4523-949D-6D70199DC384}" type="datetimeFigureOut">
              <a:rPr lang="zh-TW" altLang="en-US" smtClean="0"/>
              <a:pPr/>
              <a:t>2013/4/23</a:t>
            </a:fld>
            <a:endParaRPr lang="zh-TW" altLang="en-US"/>
          </a:p>
        </p:txBody>
      </p:sp>
      <p:sp>
        <p:nvSpPr>
          <p:cNvPr id="8" name="頁尾版面配置區 7"/>
          <p:cNvSpPr>
            <a:spLocks noGrp="1"/>
          </p:cNvSpPr>
          <p:nvPr>
            <p:ph type="ftr" sz="quarter" idx="11"/>
          </p:nvPr>
        </p:nvSpPr>
        <p:spPr/>
        <p:txBody>
          <a:bodyPr/>
          <a:lstStyle/>
          <a:p>
            <a:endParaRPr lang="zh-TW" altLang="en-US"/>
          </a:p>
        </p:txBody>
      </p:sp>
      <p:sp>
        <p:nvSpPr>
          <p:cNvPr id="9" name="投影片編號版面配置區 8"/>
          <p:cNvSpPr>
            <a:spLocks noGrp="1"/>
          </p:cNvSpPr>
          <p:nvPr>
            <p:ph type="sldNum" sz="quarter" idx="12"/>
          </p:nvPr>
        </p:nvSpPr>
        <p:spPr/>
        <p:txBody>
          <a:bodyPr/>
          <a:lstStyle/>
          <a:p>
            <a:fld id="{3C6BD3C5-9003-4B2E-97DA-CDDDF7895D1F}" type="slidenum">
              <a:rPr lang="zh-TW" altLang="en-US" smtClean="0"/>
              <a:pPr/>
              <a:t>‹#›</a:t>
            </a:fld>
            <a:endParaRPr lang="zh-TW"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日期版面配置區 2"/>
          <p:cNvSpPr>
            <a:spLocks noGrp="1"/>
          </p:cNvSpPr>
          <p:nvPr>
            <p:ph type="dt" sz="half" idx="10"/>
          </p:nvPr>
        </p:nvSpPr>
        <p:spPr/>
        <p:txBody>
          <a:bodyPr/>
          <a:lstStyle/>
          <a:p>
            <a:fld id="{C1C912F8-4948-4523-949D-6D70199DC384}" type="datetimeFigureOut">
              <a:rPr lang="zh-TW" altLang="en-US" smtClean="0"/>
              <a:pPr/>
              <a:t>2013/4/23</a:t>
            </a:fld>
            <a:endParaRPr lang="zh-TW" altLang="en-US"/>
          </a:p>
        </p:txBody>
      </p:sp>
      <p:sp>
        <p:nvSpPr>
          <p:cNvPr id="4" name="頁尾版面配置區 3"/>
          <p:cNvSpPr>
            <a:spLocks noGrp="1"/>
          </p:cNvSpPr>
          <p:nvPr>
            <p:ph type="ftr" sz="quarter" idx="11"/>
          </p:nvPr>
        </p:nvSpPr>
        <p:spPr/>
        <p:txBody>
          <a:bodyPr/>
          <a:lstStyle/>
          <a:p>
            <a:endParaRPr lang="zh-TW" altLang="en-US"/>
          </a:p>
        </p:txBody>
      </p:sp>
      <p:sp>
        <p:nvSpPr>
          <p:cNvPr id="5" name="投影片編號版面配置區 4"/>
          <p:cNvSpPr>
            <a:spLocks noGrp="1"/>
          </p:cNvSpPr>
          <p:nvPr>
            <p:ph type="sldNum" sz="quarter" idx="12"/>
          </p:nvPr>
        </p:nvSpPr>
        <p:spPr/>
        <p:txBody>
          <a:bodyPr/>
          <a:lstStyle/>
          <a:p>
            <a:fld id="{3C6BD3C5-9003-4B2E-97DA-CDDDF7895D1F}" type="slidenum">
              <a:rPr lang="zh-TW" altLang="en-US" smtClean="0"/>
              <a:pPr/>
              <a:t>‹#›</a:t>
            </a:fld>
            <a:endParaRPr lang="zh-TW"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p:cNvSpPr>
            <a:spLocks noGrp="1"/>
          </p:cNvSpPr>
          <p:nvPr>
            <p:ph type="dt" sz="half" idx="10"/>
          </p:nvPr>
        </p:nvSpPr>
        <p:spPr/>
        <p:txBody>
          <a:bodyPr/>
          <a:lstStyle/>
          <a:p>
            <a:fld id="{C1C912F8-4948-4523-949D-6D70199DC384}" type="datetimeFigureOut">
              <a:rPr lang="zh-TW" altLang="en-US" smtClean="0"/>
              <a:pPr/>
              <a:t>2013/4/23</a:t>
            </a:fld>
            <a:endParaRPr lang="zh-TW" altLang="en-US"/>
          </a:p>
        </p:txBody>
      </p:sp>
      <p:sp>
        <p:nvSpPr>
          <p:cNvPr id="3" name="頁尾版面配置區 2"/>
          <p:cNvSpPr>
            <a:spLocks noGrp="1"/>
          </p:cNvSpPr>
          <p:nvPr>
            <p:ph type="ftr" sz="quarter" idx="11"/>
          </p:nvPr>
        </p:nvSpPr>
        <p:spPr/>
        <p:txBody>
          <a:bodyPr/>
          <a:lstStyle/>
          <a:p>
            <a:endParaRPr lang="zh-TW" altLang="en-US"/>
          </a:p>
        </p:txBody>
      </p:sp>
      <p:sp>
        <p:nvSpPr>
          <p:cNvPr id="4" name="投影片編號版面配置區 3"/>
          <p:cNvSpPr>
            <a:spLocks noGrp="1"/>
          </p:cNvSpPr>
          <p:nvPr>
            <p:ph type="sldNum" sz="quarter" idx="12"/>
          </p:nvPr>
        </p:nvSpPr>
        <p:spPr/>
        <p:txBody>
          <a:bodyPr/>
          <a:lstStyle/>
          <a:p>
            <a:fld id="{3C6BD3C5-9003-4B2E-97DA-CDDDF7895D1F}" type="slidenum">
              <a:rPr lang="zh-TW" altLang="en-US" smtClean="0"/>
              <a:pPr/>
              <a:t>‹#›</a:t>
            </a:fld>
            <a:endParaRPr lang="zh-TW"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標題 1"/>
          <p:cNvSpPr>
            <a:spLocks noGrp="1"/>
          </p:cNvSpPr>
          <p:nvPr>
            <p:ph type="title"/>
          </p:nvPr>
        </p:nvSpPr>
        <p:spPr>
          <a:xfrm>
            <a:off x="457200" y="273050"/>
            <a:ext cx="3008313" cy="1162050"/>
          </a:xfrm>
        </p:spPr>
        <p:txBody>
          <a:bodyPr anchor="b"/>
          <a:lstStyle>
            <a:lvl1pPr algn="l">
              <a:defRPr sz="2000" b="1"/>
            </a:lvl1pPr>
          </a:lstStyle>
          <a:p>
            <a:r>
              <a:rPr lang="zh-TW" altLang="en-US" smtClean="0"/>
              <a:t>按一下以編輯母片標題樣式</a:t>
            </a:r>
            <a:endParaRPr lang="zh-TW" altLang="en-US"/>
          </a:p>
        </p:txBody>
      </p:sp>
      <p:sp>
        <p:nvSpPr>
          <p:cNvPr id="3" name="內容版面配置區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文字版面配置區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smtClean="0"/>
              <a:t>按一下以編輯母片文字樣式</a:t>
            </a:r>
          </a:p>
        </p:txBody>
      </p:sp>
      <p:sp>
        <p:nvSpPr>
          <p:cNvPr id="5" name="日期版面配置區 4"/>
          <p:cNvSpPr>
            <a:spLocks noGrp="1"/>
          </p:cNvSpPr>
          <p:nvPr>
            <p:ph type="dt" sz="half" idx="10"/>
          </p:nvPr>
        </p:nvSpPr>
        <p:spPr/>
        <p:txBody>
          <a:bodyPr/>
          <a:lstStyle/>
          <a:p>
            <a:fld id="{C1C912F8-4948-4523-949D-6D70199DC384}" type="datetimeFigureOut">
              <a:rPr lang="zh-TW" altLang="en-US" smtClean="0"/>
              <a:pPr/>
              <a:t>2013/4/23</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3C6BD3C5-9003-4B2E-97DA-CDDDF7895D1F}" type="slidenum">
              <a:rPr lang="zh-TW" altLang="en-US" smtClean="0"/>
              <a:pPr/>
              <a:t>‹#›</a:t>
            </a:fld>
            <a:endParaRPr lang="zh-TW"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標題 1"/>
          <p:cNvSpPr>
            <a:spLocks noGrp="1"/>
          </p:cNvSpPr>
          <p:nvPr>
            <p:ph type="title"/>
          </p:nvPr>
        </p:nvSpPr>
        <p:spPr>
          <a:xfrm>
            <a:off x="1792288" y="4800600"/>
            <a:ext cx="5486400" cy="566738"/>
          </a:xfrm>
        </p:spPr>
        <p:txBody>
          <a:bodyPr anchor="b"/>
          <a:lstStyle>
            <a:lvl1pPr algn="l">
              <a:defRPr sz="2000" b="1"/>
            </a:lvl1pPr>
          </a:lstStyle>
          <a:p>
            <a:r>
              <a:rPr lang="zh-TW" altLang="en-US" smtClean="0"/>
              <a:t>按一下以編輯母片標題樣式</a:t>
            </a:r>
            <a:endParaRPr lang="zh-TW" altLang="en-US"/>
          </a:p>
        </p:txBody>
      </p:sp>
      <p:sp>
        <p:nvSpPr>
          <p:cNvPr id="3" name="圖片版面配置區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TW" altLang="en-US"/>
          </a:p>
        </p:txBody>
      </p:sp>
      <p:sp>
        <p:nvSpPr>
          <p:cNvPr id="4" name="文字版面配置區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smtClean="0"/>
              <a:t>按一下以編輯母片文字樣式</a:t>
            </a:r>
          </a:p>
        </p:txBody>
      </p:sp>
      <p:sp>
        <p:nvSpPr>
          <p:cNvPr id="5" name="日期版面配置區 4"/>
          <p:cNvSpPr>
            <a:spLocks noGrp="1"/>
          </p:cNvSpPr>
          <p:nvPr>
            <p:ph type="dt" sz="half" idx="10"/>
          </p:nvPr>
        </p:nvSpPr>
        <p:spPr/>
        <p:txBody>
          <a:bodyPr/>
          <a:lstStyle/>
          <a:p>
            <a:fld id="{C1C912F8-4948-4523-949D-6D70199DC384}" type="datetimeFigureOut">
              <a:rPr lang="zh-TW" altLang="en-US" smtClean="0"/>
              <a:pPr/>
              <a:t>2013/4/23</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3C6BD3C5-9003-4B2E-97DA-CDDDF7895D1F}" type="slidenum">
              <a:rPr lang="zh-TW" altLang="en-US" smtClean="0"/>
              <a:pPr/>
              <a:t>‹#›</a:t>
            </a:fld>
            <a:endParaRPr lang="zh-TW"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直排文字版面配置區 2"/>
          <p:cNvSpPr>
            <a:spLocks noGrp="1"/>
          </p:cNvSpPr>
          <p:nvPr>
            <p:ph type="body" orient="vert" idx="1"/>
          </p:nvPr>
        </p:nvSpPr>
        <p:spPr/>
        <p:txBody>
          <a:bodyPr vert="eaVert"/>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10"/>
          </p:nvPr>
        </p:nvSpPr>
        <p:spPr/>
        <p:txBody>
          <a:bodyPr/>
          <a:lstStyle/>
          <a:p>
            <a:fld id="{C1C912F8-4948-4523-949D-6D70199DC384}" type="datetimeFigureOut">
              <a:rPr lang="zh-TW" altLang="en-US" smtClean="0"/>
              <a:pPr/>
              <a:t>2013/4/23</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3C6BD3C5-9003-4B2E-97DA-CDDDF7895D1F}" type="slidenum">
              <a:rPr lang="zh-TW" altLang="en-US" smtClean="0"/>
              <a:pPr/>
              <a:t>‹#›</a:t>
            </a:fld>
            <a:endParaRPr lang="zh-TW"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p:cNvSpPr>
            <a:spLocks noGrp="1"/>
          </p:cNvSpPr>
          <p:nvPr>
            <p:ph type="title" orient="vert"/>
          </p:nvPr>
        </p:nvSpPr>
        <p:spPr>
          <a:xfrm>
            <a:off x="6629400" y="274638"/>
            <a:ext cx="2057400" cy="5851525"/>
          </a:xfrm>
        </p:spPr>
        <p:txBody>
          <a:bodyPr vert="eaVert"/>
          <a:lstStyle/>
          <a:p>
            <a:r>
              <a:rPr lang="zh-TW" altLang="en-US" smtClean="0"/>
              <a:t>按一下以編輯母片標題樣式</a:t>
            </a:r>
            <a:endParaRPr lang="zh-TW" altLang="en-US"/>
          </a:p>
        </p:txBody>
      </p:sp>
      <p:sp>
        <p:nvSpPr>
          <p:cNvPr id="3" name="直排文字版面配置區 2"/>
          <p:cNvSpPr>
            <a:spLocks noGrp="1"/>
          </p:cNvSpPr>
          <p:nvPr>
            <p:ph type="body" orient="vert" idx="1"/>
          </p:nvPr>
        </p:nvSpPr>
        <p:spPr>
          <a:xfrm>
            <a:off x="457200" y="274638"/>
            <a:ext cx="6019800" cy="5851525"/>
          </a:xfrm>
        </p:spPr>
        <p:txBody>
          <a:bodyPr vert="eaVert"/>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10"/>
          </p:nvPr>
        </p:nvSpPr>
        <p:spPr/>
        <p:txBody>
          <a:bodyPr/>
          <a:lstStyle/>
          <a:p>
            <a:fld id="{C1C912F8-4948-4523-949D-6D70199DC384}" type="datetimeFigureOut">
              <a:rPr lang="zh-TW" altLang="en-US" smtClean="0"/>
              <a:pPr/>
              <a:t>2013/4/23</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3C6BD3C5-9003-4B2E-97DA-CDDDF7895D1F}" type="slidenum">
              <a:rPr lang="zh-TW" altLang="en-US" smtClean="0"/>
              <a:pPr/>
              <a:t>‹#›</a:t>
            </a:fld>
            <a:endParaRPr lang="zh-TW"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標題版面配置區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zh-TW" altLang="en-US" smtClean="0"/>
              <a:t>按一下以編輯母片標題樣式</a:t>
            </a:r>
            <a:endParaRPr lang="zh-TW" altLang="en-US"/>
          </a:p>
        </p:txBody>
      </p:sp>
      <p:sp>
        <p:nvSpPr>
          <p:cNvPr id="3" name="文字版面配置區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1C912F8-4948-4523-949D-6D70199DC384}" type="datetimeFigureOut">
              <a:rPr lang="zh-TW" altLang="en-US" smtClean="0"/>
              <a:pPr/>
              <a:t>2013/4/23</a:t>
            </a:fld>
            <a:endParaRPr lang="zh-TW" altLang="en-US"/>
          </a:p>
        </p:txBody>
      </p:sp>
      <p:sp>
        <p:nvSpPr>
          <p:cNvPr id="5" name="頁尾版面配置區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TW" altLang="en-US"/>
          </a:p>
        </p:txBody>
      </p:sp>
      <p:sp>
        <p:nvSpPr>
          <p:cNvPr id="6" name="投影片編號版面配置區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C6BD3C5-9003-4B2E-97DA-CDDDF7895D1F}" type="slidenum">
              <a:rPr lang="zh-TW" altLang="en-US" smtClean="0"/>
              <a:pPr/>
              <a:t>‹#›</a:t>
            </a:fld>
            <a:endParaRPr lang="zh-TW"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8.emf"/><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4.emf"/><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5.emf"/><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ctrTitle"/>
          </p:nvPr>
        </p:nvSpPr>
        <p:spPr>
          <a:xfrm>
            <a:off x="683568" y="980728"/>
            <a:ext cx="7772400" cy="1470025"/>
          </a:xfrm>
        </p:spPr>
        <p:txBody>
          <a:bodyPr>
            <a:normAutofit fontScale="90000"/>
          </a:bodyPr>
          <a:lstStyle/>
          <a:p>
            <a:r>
              <a:rPr lang="en-US" altLang="zh-TW" dirty="0"/>
              <a:t> </a:t>
            </a:r>
            <a:r>
              <a:rPr lang="en-US" altLang="zh-TW" dirty="0" smtClean="0"/>
              <a:t>Fast </a:t>
            </a:r>
            <a:r>
              <a:rPr lang="en-US" altLang="zh-TW" dirty="0"/>
              <a:t>algorithms to enumerate all common intervals of two permutations.  </a:t>
            </a:r>
            <a:endParaRPr lang="zh-TW" altLang="en-US" dirty="0"/>
          </a:p>
        </p:txBody>
      </p:sp>
      <p:sp>
        <p:nvSpPr>
          <p:cNvPr id="3" name="副標題 2"/>
          <p:cNvSpPr>
            <a:spLocks noGrp="1"/>
          </p:cNvSpPr>
          <p:nvPr>
            <p:ph type="subTitle" idx="1"/>
          </p:nvPr>
        </p:nvSpPr>
        <p:spPr>
          <a:xfrm>
            <a:off x="1331640" y="2924944"/>
            <a:ext cx="6400800" cy="2256656"/>
          </a:xfrm>
        </p:spPr>
        <p:txBody>
          <a:bodyPr>
            <a:normAutofit/>
          </a:bodyPr>
          <a:lstStyle/>
          <a:p>
            <a:pPr fontAlgn="base"/>
            <a:r>
              <a:rPr lang="en-US" altLang="zh-TW" baseline="30000" dirty="0" smtClean="0">
                <a:solidFill>
                  <a:schemeClr val="tx1"/>
                </a:solidFill>
              </a:rPr>
              <a:t> </a:t>
            </a:r>
            <a:r>
              <a:rPr lang="it-IT" altLang="zh-TW" dirty="0" smtClean="0">
                <a:solidFill>
                  <a:schemeClr val="tx1"/>
                </a:solidFill>
              </a:rPr>
              <a:t>T. </a:t>
            </a:r>
            <a:r>
              <a:rPr lang="it-IT" altLang="zh-TW" dirty="0" smtClean="0">
                <a:solidFill>
                  <a:schemeClr val="tx1"/>
                </a:solidFill>
              </a:rPr>
              <a:t>Uno </a:t>
            </a:r>
            <a:r>
              <a:rPr lang="it-IT" altLang="zh-TW" dirty="0" smtClean="0">
                <a:solidFill>
                  <a:schemeClr val="tx1"/>
                </a:solidFill>
              </a:rPr>
              <a:t>and M. </a:t>
            </a:r>
            <a:r>
              <a:rPr lang="it-IT" altLang="zh-TW" dirty="0" smtClean="0">
                <a:solidFill>
                  <a:schemeClr val="tx1"/>
                </a:solidFill>
              </a:rPr>
              <a:t>Yagiura</a:t>
            </a:r>
            <a:endParaRPr lang="en-US" altLang="zh-TW" baseline="30000" dirty="0" smtClean="0">
              <a:solidFill>
                <a:schemeClr val="tx1"/>
              </a:solidFill>
            </a:endParaRPr>
          </a:p>
          <a:p>
            <a:pPr fontAlgn="base"/>
            <a:endParaRPr lang="en-US" altLang="zh-TW" sz="2000" dirty="0" smtClean="0">
              <a:solidFill>
                <a:schemeClr val="tx1"/>
              </a:solidFill>
            </a:endParaRPr>
          </a:p>
          <a:p>
            <a:pPr fontAlgn="base"/>
            <a:r>
              <a:rPr lang="en-US" altLang="zh-TW" sz="2400" dirty="0" err="1">
                <a:solidFill>
                  <a:schemeClr val="tx1"/>
                </a:solidFill>
              </a:rPr>
              <a:t>Algorithmica</a:t>
            </a:r>
            <a:r>
              <a:rPr lang="en-US" altLang="zh-TW" sz="2400" dirty="0">
                <a:solidFill>
                  <a:schemeClr val="tx1"/>
                </a:solidFill>
              </a:rPr>
              <a:t>, 26:290-309, 2000</a:t>
            </a:r>
            <a:r>
              <a:rPr lang="en-US" altLang="zh-TW" sz="2400" dirty="0"/>
              <a:t>.</a:t>
            </a:r>
            <a:endParaRPr lang="zh-TW" altLang="en-US" sz="2600" dirty="0"/>
          </a:p>
        </p:txBody>
      </p:sp>
      <p:sp>
        <p:nvSpPr>
          <p:cNvPr id="4" name="Text Box 4"/>
          <p:cNvSpPr txBox="1">
            <a:spLocks noChangeArrowheads="1"/>
          </p:cNvSpPr>
          <p:nvPr/>
        </p:nvSpPr>
        <p:spPr bwMode="auto">
          <a:xfrm>
            <a:off x="5292725" y="5805264"/>
            <a:ext cx="3600450" cy="64135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spAutoFit/>
          </a:bodyPr>
          <a:lstStyle/>
          <a:p>
            <a:r>
              <a:rPr kumimoji="0" lang="en-US" altLang="zh-TW" dirty="0">
                <a:latin typeface="Times New Roman" pitchFamily="18" charset="0"/>
              </a:rPr>
              <a:t>Presenter: </a:t>
            </a:r>
            <a:r>
              <a:rPr lang="zh-TW" altLang="en-US" dirty="0">
                <a:latin typeface="Times New Roman" pitchFamily="18" charset="0"/>
              </a:rPr>
              <a:t>方鈞毅</a:t>
            </a:r>
            <a:endParaRPr kumimoji="0" lang="en-US" altLang="zh-TW" dirty="0">
              <a:latin typeface="Times New Roman" pitchFamily="18" charset="0"/>
            </a:endParaRPr>
          </a:p>
          <a:p>
            <a:r>
              <a:rPr kumimoji="0" lang="en-US" altLang="zh-TW" dirty="0">
                <a:latin typeface="Times New Roman" pitchFamily="18" charset="0"/>
              </a:rPr>
              <a:t>Date: </a:t>
            </a:r>
            <a:r>
              <a:rPr lang="en-US" altLang="zh-TW" dirty="0" smtClean="0">
                <a:latin typeface="Times New Roman" pitchFamily="18" charset="0"/>
              </a:rPr>
              <a:t>Apr</a:t>
            </a:r>
            <a:r>
              <a:rPr kumimoji="0" lang="en-US" altLang="zh-TW" dirty="0" smtClean="0">
                <a:latin typeface="Times New Roman" pitchFamily="18" charset="0"/>
              </a:rPr>
              <a:t>. </a:t>
            </a:r>
            <a:r>
              <a:rPr kumimoji="0" lang="en-US" altLang="zh-TW" smtClean="0">
                <a:latin typeface="Times New Roman" pitchFamily="18" charset="0"/>
              </a:rPr>
              <a:t>23, </a:t>
            </a:r>
            <a:r>
              <a:rPr kumimoji="0" lang="en-US" altLang="zh-TW" dirty="0" smtClean="0">
                <a:latin typeface="Times New Roman" pitchFamily="18" charset="0"/>
              </a:rPr>
              <a:t>2013</a:t>
            </a:r>
            <a:endParaRPr kumimoji="0" lang="en-US" altLang="zh-TW" dirty="0">
              <a:latin typeface="Times New Roman" pitchFamily="18" charset="0"/>
            </a:endParaRPr>
          </a:p>
        </p:txBody>
      </p:sp>
    </p:spTree>
  </p:cSld>
  <p:clrMapOvr>
    <a:masterClrMapping/>
  </p:clrMapOvr>
  <p:transition>
    <p:cut/>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A</a:t>
            </a:r>
            <a:r>
              <a:rPr lang="en-US" altLang="zh-TW" dirty="0" smtClean="0"/>
              <a:t>bstract</a:t>
            </a:r>
            <a:endParaRPr lang="zh-TW" altLang="en-US" dirty="0"/>
          </a:p>
        </p:txBody>
      </p:sp>
      <p:sp>
        <p:nvSpPr>
          <p:cNvPr id="3" name="內容版面配置區 2"/>
          <p:cNvSpPr>
            <a:spLocks noGrp="1"/>
          </p:cNvSpPr>
          <p:nvPr>
            <p:ph idx="1"/>
          </p:nvPr>
        </p:nvSpPr>
        <p:spPr>
          <a:xfrm>
            <a:off x="457200" y="1600200"/>
            <a:ext cx="8229600" cy="5069160"/>
          </a:xfrm>
        </p:spPr>
        <p:txBody>
          <a:bodyPr>
            <a:normAutofit fontScale="85000" lnSpcReduction="20000"/>
          </a:bodyPr>
          <a:lstStyle/>
          <a:p>
            <a:r>
              <a:rPr lang="en-US" altLang="zh-TW" dirty="0" smtClean="0"/>
              <a:t>Given two permutations of </a:t>
            </a:r>
            <a:r>
              <a:rPr lang="en-US" altLang="zh-TW" i="1" dirty="0"/>
              <a:t>n </a:t>
            </a:r>
            <a:r>
              <a:rPr lang="en-US" altLang="zh-TW" dirty="0"/>
              <a:t>elements, a pair of intervals of these permutations consisting of </a:t>
            </a:r>
            <a:r>
              <a:rPr lang="en-US" altLang="zh-TW" dirty="0" smtClean="0"/>
              <a:t>the same </a:t>
            </a:r>
            <a:r>
              <a:rPr lang="en-US" altLang="zh-TW" dirty="0"/>
              <a:t>set of elements is called a </a:t>
            </a:r>
            <a:r>
              <a:rPr lang="en-US" altLang="zh-TW" i="1" dirty="0"/>
              <a:t>common interval</a:t>
            </a:r>
            <a:r>
              <a:rPr lang="en-US" altLang="zh-TW" dirty="0"/>
              <a:t>. Some genetic algorithms based on such common </a:t>
            </a:r>
            <a:r>
              <a:rPr lang="en-US" altLang="zh-TW" dirty="0" smtClean="0"/>
              <a:t>intervals have </a:t>
            </a:r>
            <a:r>
              <a:rPr lang="en-US" altLang="zh-TW" dirty="0"/>
              <a:t>been proposed for sequencing problems and have exhibited good prospects. </a:t>
            </a:r>
            <a:endParaRPr lang="en-US" altLang="zh-TW" dirty="0" smtClean="0"/>
          </a:p>
          <a:p>
            <a:r>
              <a:rPr lang="en-US" altLang="zh-TW" dirty="0" smtClean="0"/>
              <a:t>In </a:t>
            </a:r>
            <a:r>
              <a:rPr lang="en-US" altLang="zh-TW" dirty="0"/>
              <a:t>this paper we propose </a:t>
            </a:r>
            <a:r>
              <a:rPr lang="en-US" altLang="zh-TW" dirty="0" smtClean="0"/>
              <a:t>three types </a:t>
            </a:r>
            <a:r>
              <a:rPr lang="en-US" altLang="zh-TW" dirty="0"/>
              <a:t>of fast algorithms to enumerate all common intervals: </a:t>
            </a:r>
            <a:r>
              <a:rPr lang="en-US" altLang="zh-TW" dirty="0" smtClean="0"/>
              <a:t>(</a:t>
            </a:r>
            <a:r>
              <a:rPr lang="en-US" altLang="zh-TW" dirty="0" err="1"/>
              <a:t>i</a:t>
            </a:r>
            <a:r>
              <a:rPr lang="en-US" altLang="zh-TW" dirty="0"/>
              <a:t>) a simple </a:t>
            </a:r>
            <a:r>
              <a:rPr lang="en-US" altLang="zh-TW" i="1" dirty="0" smtClean="0"/>
              <a:t>O(n</a:t>
            </a:r>
            <a:r>
              <a:rPr lang="en-US" altLang="zh-TW" baseline="30000" dirty="0" smtClean="0"/>
              <a:t>2</a:t>
            </a:r>
            <a:r>
              <a:rPr lang="en-US" altLang="zh-TW" dirty="0" smtClean="0"/>
              <a:t>)</a:t>
            </a:r>
            <a:r>
              <a:rPr lang="en-US" altLang="zh-TW" i="1" dirty="0" smtClean="0"/>
              <a:t> </a:t>
            </a:r>
            <a:r>
              <a:rPr lang="en-US" altLang="zh-TW" dirty="0"/>
              <a:t>time algorithm (LHP), </a:t>
            </a:r>
            <a:r>
              <a:rPr lang="en-US" altLang="zh-TW" dirty="0" smtClean="0"/>
              <a:t>whose expected </a:t>
            </a:r>
            <a:r>
              <a:rPr lang="en-US" altLang="zh-TW" dirty="0"/>
              <a:t>running time becomes </a:t>
            </a:r>
            <a:r>
              <a:rPr lang="en-US" altLang="zh-TW" i="1" dirty="0" smtClean="0"/>
              <a:t>O(n) </a:t>
            </a:r>
            <a:r>
              <a:rPr lang="en-US" altLang="zh-TW" dirty="0"/>
              <a:t>for two randomly generated permutations, (ii) a practically fast </a:t>
            </a:r>
            <a:r>
              <a:rPr lang="en-US" altLang="zh-TW" i="1" dirty="0" smtClean="0"/>
              <a:t>O(n</a:t>
            </a:r>
            <a:r>
              <a:rPr lang="en-US" altLang="zh-TW" baseline="30000" dirty="0" smtClean="0"/>
              <a:t>2</a:t>
            </a:r>
            <a:r>
              <a:rPr lang="en-US" altLang="zh-TW" dirty="0" smtClean="0"/>
              <a:t>) time </a:t>
            </a:r>
            <a:r>
              <a:rPr lang="en-US" altLang="zh-TW" dirty="0"/>
              <a:t>algorithm (MNG) using the reverse </a:t>
            </a:r>
            <a:r>
              <a:rPr lang="en-US" altLang="zh-TW" dirty="0" err="1"/>
              <a:t>Monge</a:t>
            </a:r>
            <a:r>
              <a:rPr lang="en-US" altLang="zh-TW" dirty="0"/>
              <a:t> property, and (iii) an </a:t>
            </a:r>
            <a:r>
              <a:rPr lang="en-US" altLang="zh-TW" i="1" dirty="0" smtClean="0"/>
              <a:t>O(n + K ) </a:t>
            </a:r>
            <a:r>
              <a:rPr lang="en-US" altLang="zh-TW" dirty="0"/>
              <a:t>time algorithm (RC), </a:t>
            </a:r>
            <a:r>
              <a:rPr lang="en-US" altLang="zh-TW" dirty="0" smtClean="0"/>
              <a:t>where </a:t>
            </a:r>
            <a:r>
              <a:rPr lang="en-US" altLang="zh-TW" i="1" dirty="0" smtClean="0"/>
              <a:t>K </a:t>
            </a:r>
            <a:r>
              <a:rPr lang="en-US" altLang="zh-TW" dirty="0" smtClean="0"/>
              <a:t>(=&lt; C(</a:t>
            </a:r>
            <a:r>
              <a:rPr lang="en-US" altLang="zh-TW" baseline="30000" dirty="0" smtClean="0"/>
              <a:t>n</a:t>
            </a:r>
            <a:r>
              <a:rPr lang="en-US" altLang="zh-TW" baseline="-25000" dirty="0" smtClean="0"/>
              <a:t>2</a:t>
            </a:r>
            <a:r>
              <a:rPr lang="en-US" altLang="zh-TW" dirty="0" smtClean="0"/>
              <a:t>)) </a:t>
            </a:r>
            <a:r>
              <a:rPr lang="en-US" altLang="zh-TW" dirty="0"/>
              <a:t>is the number of common intervals</a:t>
            </a:r>
            <a:r>
              <a:rPr lang="en-US" altLang="zh-TW" dirty="0" smtClean="0"/>
              <a:t>.</a:t>
            </a:r>
          </a:p>
        </p:txBody>
      </p:sp>
    </p:spTree>
  </p:cSld>
  <p:clrMapOvr>
    <a:masterClrMapping/>
  </p:clrMapOvr>
  <p:transition>
    <p:cut/>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A</a:t>
            </a:r>
            <a:r>
              <a:rPr lang="en-US" altLang="zh-TW" dirty="0" smtClean="0"/>
              <a:t>bstract</a:t>
            </a:r>
            <a:endParaRPr lang="zh-TW" altLang="en-US" dirty="0"/>
          </a:p>
        </p:txBody>
      </p:sp>
      <p:sp>
        <p:nvSpPr>
          <p:cNvPr id="3" name="內容版面配置區 2"/>
          <p:cNvSpPr>
            <a:spLocks noGrp="1"/>
          </p:cNvSpPr>
          <p:nvPr>
            <p:ph idx="1"/>
          </p:nvPr>
        </p:nvSpPr>
        <p:spPr/>
        <p:txBody>
          <a:bodyPr>
            <a:normAutofit fontScale="70000" lnSpcReduction="20000"/>
          </a:bodyPr>
          <a:lstStyle/>
          <a:p>
            <a:r>
              <a:rPr lang="en-US" altLang="zh-TW" dirty="0"/>
              <a:t>It will also be shown that the expected number of common intervals for two random permutations is </a:t>
            </a:r>
            <a:r>
              <a:rPr lang="en-US" altLang="zh-TW" i="1" dirty="0"/>
              <a:t>O(</a:t>
            </a:r>
            <a:r>
              <a:rPr lang="en-US" altLang="zh-TW" dirty="0"/>
              <a:t>1). This result gives a reason for the phenomenon that the expected time complexity </a:t>
            </a:r>
            <a:r>
              <a:rPr lang="en-US" altLang="zh-TW" i="1" dirty="0"/>
              <a:t>O(n) </a:t>
            </a:r>
            <a:r>
              <a:rPr lang="en-US" altLang="zh-TW" dirty="0"/>
              <a:t>of the algorithm LHP is independent of </a:t>
            </a:r>
            <a:r>
              <a:rPr lang="en-US" altLang="zh-TW" i="1" dirty="0"/>
              <a:t>K</a:t>
            </a:r>
            <a:r>
              <a:rPr lang="en-US" altLang="zh-TW" dirty="0"/>
              <a:t>. Among the proposed algorithms, RC is most desirable from the theoretical point of view; however, it is quite complicated compared with LHP and MNG. Therefore, it is possible that RC is slower than the other two algorithms in some cases. For this reason, computational experiments for various types of problems with up to </a:t>
            </a:r>
            <a:r>
              <a:rPr lang="en-US" altLang="zh-TW" i="1" dirty="0"/>
              <a:t>n =</a:t>
            </a:r>
            <a:r>
              <a:rPr lang="en-US" altLang="zh-TW" dirty="0"/>
              <a:t> 10</a:t>
            </a:r>
            <a:r>
              <a:rPr lang="en-US" altLang="zh-TW" baseline="30000" dirty="0"/>
              <a:t>6</a:t>
            </a:r>
            <a:r>
              <a:rPr lang="en-US" altLang="zh-TW" dirty="0"/>
              <a:t> are conducted. The results indicate that (</a:t>
            </a:r>
            <a:r>
              <a:rPr lang="en-US" altLang="zh-TW" dirty="0" err="1"/>
              <a:t>i</a:t>
            </a:r>
            <a:r>
              <a:rPr lang="en-US" altLang="zh-TW" dirty="0"/>
              <a:t>) LHP and MNG are much faster than RC for two randomly generated permutations, and (ii) MNG is rather slower than LHP for random inputs; however, there are cases in which LHP requires </a:t>
            </a:r>
            <a:r>
              <a:rPr lang="el-GR" altLang="zh-TW" dirty="0"/>
              <a:t>Ω</a:t>
            </a:r>
            <a:r>
              <a:rPr lang="en-US" altLang="zh-TW" dirty="0"/>
              <a:t>(</a:t>
            </a:r>
            <a:r>
              <a:rPr lang="en-US" altLang="zh-TW" i="1" dirty="0"/>
              <a:t>n</a:t>
            </a:r>
            <a:r>
              <a:rPr lang="en-US" altLang="zh-TW" i="1" baseline="30000" dirty="0"/>
              <a:t>2</a:t>
            </a:r>
            <a:r>
              <a:rPr lang="en-US" altLang="zh-TW" i="1" dirty="0"/>
              <a:t>) </a:t>
            </a:r>
            <a:r>
              <a:rPr lang="en-US" altLang="zh-TW" dirty="0"/>
              <a:t>time, but MNG runs in </a:t>
            </a:r>
            <a:r>
              <a:rPr lang="en-US" altLang="zh-TW" i="1" dirty="0"/>
              <a:t>o(n</a:t>
            </a:r>
            <a:r>
              <a:rPr lang="en-US" altLang="zh-TW" i="1" baseline="30000" dirty="0"/>
              <a:t>2</a:t>
            </a:r>
            <a:r>
              <a:rPr lang="en-US" altLang="zh-TW" i="1" dirty="0"/>
              <a:t>) </a:t>
            </a:r>
            <a:r>
              <a:rPr lang="en-US" altLang="zh-TW" dirty="0"/>
              <a:t>time and is faster than both LHP and RC.</a:t>
            </a:r>
          </a:p>
          <a:p>
            <a:endParaRPr lang="zh-TW" altLang="en-US" dirty="0"/>
          </a:p>
        </p:txBody>
      </p:sp>
    </p:spTree>
    <p:extLst>
      <p:ext uri="{BB962C8B-B14F-4D97-AF65-F5344CB8AC3E}">
        <p14:creationId xmlns:p14="http://schemas.microsoft.com/office/powerpoint/2010/main" xmlns="" val="3053620963"/>
      </p:ext>
    </p:extLst>
  </p:cSld>
  <p:clrMapOvr>
    <a:masterClrMapping/>
  </p:clrMapOvr>
  <p:transition>
    <p:cut/>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C</a:t>
            </a:r>
            <a:r>
              <a:rPr lang="en-US" altLang="zh-TW" dirty="0" smtClean="0"/>
              <a:t>ommon </a:t>
            </a:r>
            <a:r>
              <a:rPr lang="en-US" altLang="zh-TW" dirty="0" smtClean="0"/>
              <a:t>I</a:t>
            </a:r>
            <a:r>
              <a:rPr lang="en-US" altLang="zh-TW" dirty="0" smtClean="0"/>
              <a:t>nterval</a:t>
            </a:r>
            <a:endParaRPr lang="zh-TW" altLang="en-US" dirty="0"/>
          </a:p>
        </p:txBody>
      </p:sp>
      <p:sp>
        <p:nvSpPr>
          <p:cNvPr id="3" name="內容版面配置區 2"/>
          <p:cNvSpPr>
            <a:spLocks noGrp="1"/>
          </p:cNvSpPr>
          <p:nvPr>
            <p:ph idx="1"/>
          </p:nvPr>
        </p:nvSpPr>
        <p:spPr/>
        <p:txBody>
          <a:bodyPr/>
          <a:lstStyle/>
          <a:p>
            <a:endParaRPr lang="zh-TW" altLang="en-US" dirty="0"/>
          </a:p>
        </p:txBody>
      </p:sp>
      <p:pic>
        <p:nvPicPr>
          <p:cNvPr id="1028" name="Picture 4"/>
          <p:cNvPicPr>
            <a:picLocks noChangeAspect="1" noChangeArrowheads="1"/>
          </p:cNvPicPr>
          <p:nvPr/>
        </p:nvPicPr>
        <p:blipFill>
          <a:blip r:embed="rId2">
            <a:extLst>
              <a:ext uri="{28A0092B-C50C-407E-A947-70E740481C1C}">
                <a14:useLocalDpi xmlns:a14="http://schemas.microsoft.com/office/drawing/2010/main" xmlns="" val="0"/>
              </a:ext>
            </a:extLst>
          </a:blip>
          <a:srcRect/>
          <a:stretch>
            <a:fillRect/>
          </a:stretch>
        </p:blipFill>
        <p:spPr bwMode="auto">
          <a:xfrm>
            <a:off x="251520" y="1772816"/>
            <a:ext cx="8509768" cy="190434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Tree>
    <p:extLst>
      <p:ext uri="{BB962C8B-B14F-4D97-AF65-F5344CB8AC3E}">
        <p14:creationId xmlns:p14="http://schemas.microsoft.com/office/powerpoint/2010/main" xmlns="" val="3755386824"/>
      </p:ext>
    </p:extLst>
  </p:cSld>
  <p:clrMapOvr>
    <a:masterClrMapping/>
  </p:clrMapOvr>
  <p:transition>
    <p:cut/>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Basic Algorithm(BSC)</a:t>
            </a:r>
            <a:endParaRPr lang="zh-TW" altLang="en-US" dirty="0"/>
          </a:p>
        </p:txBody>
      </p:sp>
      <p:pic>
        <p:nvPicPr>
          <p:cNvPr id="3074" name="Picture 2"/>
          <p:cNvPicPr>
            <a:picLocks noGrp="1" noChangeAspect="1" noChangeArrowheads="1"/>
          </p:cNvPicPr>
          <p:nvPr>
            <p:ph idx="1"/>
          </p:nvPr>
        </p:nvPicPr>
        <p:blipFill>
          <a:blip r:embed="rId2">
            <a:extLst>
              <a:ext uri="{28A0092B-C50C-407E-A947-70E740481C1C}">
                <a14:useLocalDpi xmlns:a14="http://schemas.microsoft.com/office/drawing/2010/main" xmlns="" val="0"/>
              </a:ext>
            </a:extLst>
          </a:blip>
          <a:srcRect/>
          <a:stretch>
            <a:fillRect/>
          </a:stretch>
        </p:blipFill>
        <p:spPr bwMode="auto">
          <a:xfrm>
            <a:off x="457200" y="2287774"/>
            <a:ext cx="8229600" cy="315081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Tree>
    <p:extLst>
      <p:ext uri="{BB962C8B-B14F-4D97-AF65-F5344CB8AC3E}">
        <p14:creationId xmlns:p14="http://schemas.microsoft.com/office/powerpoint/2010/main" xmlns="" val="2106670476"/>
      </p:ext>
    </p:extLst>
  </p:cSld>
  <p:clrMapOvr>
    <a:masterClrMapping/>
  </p:clrMapOvr>
  <p:transition>
    <p:cut/>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Example of </a:t>
            </a:r>
            <a:r>
              <a:rPr lang="en-US" altLang="zh-TW" dirty="0"/>
              <a:t>BSC</a:t>
            </a:r>
            <a:endParaRPr lang="zh-TW" altLang="en-US" dirty="0"/>
          </a:p>
        </p:txBody>
      </p:sp>
      <p:pic>
        <p:nvPicPr>
          <p:cNvPr id="4098" name="Picture 2"/>
          <p:cNvPicPr>
            <a:picLocks noGrp="1" noChangeAspect="1" noChangeArrowheads="1"/>
          </p:cNvPicPr>
          <p:nvPr>
            <p:ph idx="1"/>
          </p:nvPr>
        </p:nvPicPr>
        <p:blipFill>
          <a:blip r:embed="rId2">
            <a:extLst>
              <a:ext uri="{28A0092B-C50C-407E-A947-70E740481C1C}">
                <a14:useLocalDpi xmlns:a14="http://schemas.microsoft.com/office/drawing/2010/main" xmlns="" val="0"/>
              </a:ext>
            </a:extLst>
          </a:blip>
          <a:srcRect/>
          <a:stretch>
            <a:fillRect/>
          </a:stretch>
        </p:blipFill>
        <p:spPr bwMode="auto">
          <a:xfrm>
            <a:off x="457200" y="1929231"/>
            <a:ext cx="8229600" cy="3867901"/>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Tree>
    <p:extLst>
      <p:ext uri="{BB962C8B-B14F-4D97-AF65-F5344CB8AC3E}">
        <p14:creationId xmlns:p14="http://schemas.microsoft.com/office/powerpoint/2010/main" xmlns="" val="612285846"/>
      </p:ext>
    </p:extLst>
  </p:cSld>
  <p:clrMapOvr>
    <a:masterClrMapping/>
  </p:clrMapOvr>
  <p:transition>
    <p:cut/>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BSC</a:t>
            </a:r>
            <a:endParaRPr lang="zh-TW" altLang="en-US" dirty="0"/>
          </a:p>
        </p:txBody>
      </p:sp>
      <p:pic>
        <p:nvPicPr>
          <p:cNvPr id="5122" name="Picture 2"/>
          <p:cNvPicPr>
            <a:picLocks noGrp="1" noChangeAspect="1" noChangeArrowheads="1"/>
          </p:cNvPicPr>
          <p:nvPr>
            <p:ph idx="1"/>
          </p:nvPr>
        </p:nvPicPr>
        <p:blipFill>
          <a:blip r:embed="rId2">
            <a:extLst>
              <a:ext uri="{28A0092B-C50C-407E-A947-70E740481C1C}">
                <a14:useLocalDpi xmlns:a14="http://schemas.microsoft.com/office/drawing/2010/main" xmlns="" val="0"/>
              </a:ext>
            </a:extLst>
          </a:blip>
          <a:srcRect/>
          <a:stretch>
            <a:fillRect/>
          </a:stretch>
        </p:blipFill>
        <p:spPr bwMode="auto">
          <a:xfrm>
            <a:off x="1398562" y="1824831"/>
            <a:ext cx="6346876" cy="40767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Tree>
    <p:extLst>
      <p:ext uri="{BB962C8B-B14F-4D97-AF65-F5344CB8AC3E}">
        <p14:creationId xmlns:p14="http://schemas.microsoft.com/office/powerpoint/2010/main" xmlns="" val="890930359"/>
      </p:ext>
    </p:extLst>
  </p:cSld>
  <p:clrMapOvr>
    <a:masterClrMapping/>
  </p:clrMapOvr>
  <p:transition>
    <p:cut/>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Improved of BSC</a:t>
            </a:r>
            <a:endParaRPr lang="zh-TW" altLang="en-US" dirty="0"/>
          </a:p>
        </p:txBody>
      </p:sp>
      <p:sp>
        <p:nvSpPr>
          <p:cNvPr id="3" name="內容版面配置區 2"/>
          <p:cNvSpPr>
            <a:spLocks noGrp="1"/>
          </p:cNvSpPr>
          <p:nvPr>
            <p:ph idx="1"/>
          </p:nvPr>
        </p:nvSpPr>
        <p:spPr/>
        <p:txBody>
          <a:bodyPr/>
          <a:lstStyle/>
          <a:p>
            <a:r>
              <a:rPr lang="en-US" altLang="zh-TW" dirty="0" smtClean="0"/>
              <a:t>Two improved </a:t>
            </a:r>
            <a:r>
              <a:rPr lang="en-US" altLang="zh-TW" dirty="0"/>
              <a:t>versions of BSC, called LHP and MNG, both of which detect some </a:t>
            </a:r>
            <a:r>
              <a:rPr lang="en-US" altLang="zh-TW" dirty="0" smtClean="0"/>
              <a:t>redundant inner </a:t>
            </a:r>
            <a:r>
              <a:rPr lang="en-US" altLang="zh-TW" dirty="0"/>
              <a:t>loop iterations from Line 3 to 8 of </a:t>
            </a:r>
            <a:r>
              <a:rPr lang="en-US" altLang="zh-TW" dirty="0" smtClean="0"/>
              <a:t>BSC </a:t>
            </a:r>
            <a:r>
              <a:rPr lang="en-US" altLang="zh-TW" dirty="0"/>
              <a:t>They still require </a:t>
            </a:r>
            <a:r>
              <a:rPr lang="en-US" altLang="zh-TW" i="1" dirty="0" smtClean="0"/>
              <a:t>O(n</a:t>
            </a:r>
            <a:r>
              <a:rPr lang="en-US" altLang="zh-TW" i="1" baseline="30000" dirty="0" smtClean="0"/>
              <a:t>2</a:t>
            </a:r>
            <a:r>
              <a:rPr lang="en-US" altLang="zh-TW" i="1" dirty="0"/>
              <a:t>)</a:t>
            </a:r>
            <a:r>
              <a:rPr lang="en-US" altLang="zh-TW" i="1" dirty="0" smtClean="0"/>
              <a:t> </a:t>
            </a:r>
            <a:r>
              <a:rPr lang="en-US" altLang="zh-TW" dirty="0"/>
              <a:t>time in the worst case; </a:t>
            </a:r>
            <a:endParaRPr lang="en-US" altLang="zh-TW" dirty="0" smtClean="0"/>
          </a:p>
          <a:p>
            <a:endParaRPr lang="zh-TW" altLang="en-US" dirty="0"/>
          </a:p>
        </p:txBody>
      </p:sp>
      <p:pic>
        <p:nvPicPr>
          <p:cNvPr id="4" name="Picture 2"/>
          <p:cNvPicPr>
            <a:picLocks noChangeAspect="1" noChangeArrowheads="1"/>
          </p:cNvPicPr>
          <p:nvPr/>
        </p:nvPicPr>
        <p:blipFill>
          <a:blip r:embed="rId2">
            <a:extLst>
              <a:ext uri="{28A0092B-C50C-407E-A947-70E740481C1C}">
                <a14:useLocalDpi xmlns:a14="http://schemas.microsoft.com/office/drawing/2010/main" xmlns="" val="0"/>
              </a:ext>
            </a:extLst>
          </a:blip>
          <a:srcRect/>
          <a:stretch>
            <a:fillRect/>
          </a:stretch>
        </p:blipFill>
        <p:spPr bwMode="auto">
          <a:xfrm>
            <a:off x="683568" y="4005064"/>
            <a:ext cx="8244408" cy="1444341"/>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Tree>
    <p:extLst>
      <p:ext uri="{BB962C8B-B14F-4D97-AF65-F5344CB8AC3E}">
        <p14:creationId xmlns:p14="http://schemas.microsoft.com/office/powerpoint/2010/main" xmlns="" val="263146803"/>
      </p:ext>
    </p:extLst>
  </p:cSld>
  <p:clrMapOvr>
    <a:masterClrMapping/>
  </p:clrMapOvr>
  <p:transition>
    <p:cut/>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i="1" dirty="0"/>
              <a:t>The Algorithm LHP</a:t>
            </a:r>
            <a:endParaRPr lang="zh-TW" altLang="en-US" dirty="0"/>
          </a:p>
        </p:txBody>
      </p:sp>
      <p:sp>
        <p:nvSpPr>
          <p:cNvPr id="3" name="內容版面配置區 2"/>
          <p:cNvSpPr>
            <a:spLocks noGrp="1"/>
          </p:cNvSpPr>
          <p:nvPr>
            <p:ph idx="1"/>
          </p:nvPr>
        </p:nvSpPr>
        <p:spPr/>
        <p:txBody>
          <a:bodyPr/>
          <a:lstStyle/>
          <a:p>
            <a:r>
              <a:rPr lang="en-US" altLang="zh-TW" dirty="0" smtClean="0"/>
              <a:t>Here, we only </a:t>
            </a:r>
            <a:r>
              <a:rPr lang="en-US" altLang="zh-TW" dirty="0"/>
              <a:t>the common intervals of length 2 to </a:t>
            </a:r>
            <a:r>
              <a:rPr lang="en-US" altLang="zh-TW" i="1" dirty="0" smtClean="0"/>
              <a:t>n-</a:t>
            </a:r>
            <a:r>
              <a:rPr lang="en-US" altLang="zh-TW" dirty="0" smtClean="0"/>
              <a:t>2 </a:t>
            </a:r>
            <a:r>
              <a:rPr lang="en-US" altLang="zh-TW" dirty="0"/>
              <a:t>are </a:t>
            </a:r>
            <a:r>
              <a:rPr lang="en-US" altLang="zh-TW" dirty="0" smtClean="0"/>
              <a:t>considered, </a:t>
            </a:r>
            <a:r>
              <a:rPr lang="en-US" altLang="zh-TW" dirty="0"/>
              <a:t>and Line 3 of BSC is modified </a:t>
            </a:r>
            <a:r>
              <a:rPr lang="en-US" altLang="zh-TW" dirty="0" smtClean="0"/>
              <a:t>as</a:t>
            </a:r>
          </a:p>
          <a:p>
            <a:endParaRPr lang="en-US" altLang="zh-TW" dirty="0"/>
          </a:p>
          <a:p>
            <a:r>
              <a:rPr lang="zh-TW" altLang="en-US" dirty="0"/>
              <a:t>即不考慮</a:t>
            </a:r>
            <a:r>
              <a:rPr lang="en-US" altLang="zh-TW" dirty="0"/>
              <a:t>common intervals </a:t>
            </a:r>
            <a:r>
              <a:rPr lang="zh-TW" altLang="en-US" dirty="0"/>
              <a:t>長度為 </a:t>
            </a:r>
            <a:r>
              <a:rPr lang="en-US" altLang="zh-TW" dirty="0"/>
              <a:t>=  </a:t>
            </a:r>
            <a:r>
              <a:rPr lang="en-US" altLang="zh-TW" dirty="0" smtClean="0"/>
              <a:t>n-1,n-2</a:t>
            </a:r>
          </a:p>
          <a:p>
            <a:endParaRPr lang="zh-TW" altLang="en-US" dirty="0"/>
          </a:p>
        </p:txBody>
      </p:sp>
      <p:pic>
        <p:nvPicPr>
          <p:cNvPr id="6146" name="Picture 2"/>
          <p:cNvPicPr>
            <a:picLocks noChangeAspect="1" noChangeArrowheads="1"/>
          </p:cNvPicPr>
          <p:nvPr/>
        </p:nvPicPr>
        <p:blipFill>
          <a:blip r:embed="rId2">
            <a:extLst>
              <a:ext uri="{28A0092B-C50C-407E-A947-70E740481C1C}">
                <a14:useLocalDpi xmlns:a14="http://schemas.microsoft.com/office/drawing/2010/main" xmlns="" val="0"/>
              </a:ext>
            </a:extLst>
          </a:blip>
          <a:srcRect/>
          <a:stretch>
            <a:fillRect/>
          </a:stretch>
        </p:blipFill>
        <p:spPr bwMode="auto">
          <a:xfrm>
            <a:off x="2324100" y="3209925"/>
            <a:ext cx="4495800" cy="43815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Tree>
    <p:extLst>
      <p:ext uri="{BB962C8B-B14F-4D97-AF65-F5344CB8AC3E}">
        <p14:creationId xmlns:p14="http://schemas.microsoft.com/office/powerpoint/2010/main" xmlns="" val="2335054378"/>
      </p:ext>
    </p:extLst>
  </p:cSld>
  <p:clrMapOvr>
    <a:masterClrMapping/>
  </p:clrMapOvr>
  <p:transition>
    <p:cut/>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i="1" dirty="0"/>
              <a:t>The Algorithm LHP</a:t>
            </a:r>
            <a:endParaRPr lang="zh-TW" altLang="en-US" dirty="0"/>
          </a:p>
        </p:txBody>
      </p:sp>
      <p:sp>
        <p:nvSpPr>
          <p:cNvPr id="3" name="內容版面配置區 2"/>
          <p:cNvSpPr>
            <a:spLocks noGrp="1"/>
          </p:cNvSpPr>
          <p:nvPr>
            <p:ph idx="1"/>
          </p:nvPr>
        </p:nvSpPr>
        <p:spPr/>
        <p:txBody>
          <a:bodyPr/>
          <a:lstStyle/>
          <a:p>
            <a:endParaRPr lang="en-US" altLang="zh-TW" dirty="0" smtClean="0"/>
          </a:p>
          <a:p>
            <a:endParaRPr lang="en-US" altLang="zh-TW" dirty="0"/>
          </a:p>
          <a:p>
            <a:endParaRPr lang="en-US" altLang="zh-TW" dirty="0" smtClean="0"/>
          </a:p>
          <a:p>
            <a:endParaRPr lang="en-US" altLang="zh-TW" dirty="0" smtClean="0"/>
          </a:p>
          <a:p>
            <a:r>
              <a:rPr lang="zh-TW" altLang="en-US" dirty="0" smtClean="0"/>
              <a:t>即，若上式成立代表</a:t>
            </a:r>
            <a:r>
              <a:rPr lang="en-US" altLang="zh-TW" dirty="0" smtClean="0"/>
              <a:t>u-l</a:t>
            </a:r>
            <a:r>
              <a:rPr lang="zh-TW" altLang="en-US" dirty="0" smtClean="0"/>
              <a:t> 已經超過目前最大可能長度 </a:t>
            </a:r>
            <a:r>
              <a:rPr lang="en-US" altLang="zh-TW" dirty="0" smtClean="0"/>
              <a:t>[</a:t>
            </a:r>
            <a:r>
              <a:rPr lang="zh-TW" altLang="en-US" dirty="0" smtClean="0"/>
              <a:t> </a:t>
            </a:r>
            <a:r>
              <a:rPr lang="en-US" altLang="zh-TW" dirty="0" err="1" smtClean="0"/>
              <a:t>x..n</a:t>
            </a:r>
            <a:r>
              <a:rPr lang="zh-TW" altLang="en-US" dirty="0" smtClean="0"/>
              <a:t> </a:t>
            </a:r>
            <a:r>
              <a:rPr lang="en-US" altLang="zh-TW" dirty="0" smtClean="0"/>
              <a:t>]</a:t>
            </a:r>
            <a:r>
              <a:rPr lang="zh-TW" altLang="en-US" dirty="0" smtClean="0"/>
              <a:t>或長度超過</a:t>
            </a:r>
            <a:r>
              <a:rPr lang="en-US" altLang="zh-TW" dirty="0" smtClean="0"/>
              <a:t>n-2</a:t>
            </a:r>
            <a:r>
              <a:rPr lang="zh-TW" altLang="en-US" dirty="0" smtClean="0"/>
              <a:t>，內無法達成，又因為</a:t>
            </a:r>
            <a:r>
              <a:rPr lang="en-US" altLang="zh-TW" dirty="0" smtClean="0"/>
              <a:t>u-l</a:t>
            </a:r>
            <a:r>
              <a:rPr lang="zh-TW" altLang="en-US" dirty="0" smtClean="0"/>
              <a:t>是非嚴格單調遞增，故在此</a:t>
            </a:r>
            <a:r>
              <a:rPr lang="en-US" altLang="zh-TW" dirty="0" smtClean="0"/>
              <a:t>x</a:t>
            </a:r>
            <a:r>
              <a:rPr lang="zh-TW" altLang="en-US" dirty="0" smtClean="0"/>
              <a:t>層之後的</a:t>
            </a:r>
            <a:r>
              <a:rPr lang="en-US" altLang="zh-TW" dirty="0" smtClean="0"/>
              <a:t>y</a:t>
            </a:r>
            <a:r>
              <a:rPr lang="zh-TW" altLang="en-US" dirty="0" smtClean="0"/>
              <a:t>無須再討論。</a:t>
            </a:r>
            <a:endParaRPr lang="zh-TW" altLang="en-US" dirty="0"/>
          </a:p>
        </p:txBody>
      </p:sp>
      <p:pic>
        <p:nvPicPr>
          <p:cNvPr id="7170" name="Picture 2"/>
          <p:cNvPicPr>
            <a:picLocks noChangeAspect="1" noChangeArrowheads="1"/>
          </p:cNvPicPr>
          <p:nvPr/>
        </p:nvPicPr>
        <p:blipFill>
          <a:blip r:embed="rId3">
            <a:extLst>
              <a:ext uri="{28A0092B-C50C-407E-A947-70E740481C1C}">
                <a14:useLocalDpi xmlns:a14="http://schemas.microsoft.com/office/drawing/2010/main" xmlns="" val="0"/>
              </a:ext>
            </a:extLst>
          </a:blip>
          <a:srcRect/>
          <a:stretch>
            <a:fillRect/>
          </a:stretch>
        </p:blipFill>
        <p:spPr bwMode="auto">
          <a:xfrm>
            <a:off x="755576" y="1700808"/>
            <a:ext cx="7877586" cy="172819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Tree>
    <p:extLst>
      <p:ext uri="{BB962C8B-B14F-4D97-AF65-F5344CB8AC3E}">
        <p14:creationId xmlns:p14="http://schemas.microsoft.com/office/powerpoint/2010/main" xmlns="" val="759518176"/>
      </p:ext>
    </p:extLst>
  </p:cSld>
  <p:clrMapOvr>
    <a:masterClrMapping/>
  </p:clrMapOvr>
  <p:transition>
    <p:cut/>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i="1" dirty="0"/>
              <a:t>The Algorithm LHP</a:t>
            </a:r>
            <a:endParaRPr lang="zh-TW" altLang="en-US" dirty="0"/>
          </a:p>
        </p:txBody>
      </p:sp>
      <p:sp>
        <p:nvSpPr>
          <p:cNvPr id="3" name="內容版面配置區 2"/>
          <p:cNvSpPr>
            <a:spLocks noGrp="1"/>
          </p:cNvSpPr>
          <p:nvPr>
            <p:ph idx="1"/>
          </p:nvPr>
        </p:nvSpPr>
        <p:spPr/>
        <p:txBody>
          <a:bodyPr/>
          <a:lstStyle/>
          <a:p>
            <a:endParaRPr lang="en-US" altLang="zh-TW" dirty="0" smtClean="0"/>
          </a:p>
          <a:p>
            <a:endParaRPr lang="en-US" altLang="zh-TW" dirty="0"/>
          </a:p>
          <a:p>
            <a:endParaRPr lang="en-US" altLang="zh-TW" dirty="0" smtClean="0"/>
          </a:p>
          <a:p>
            <a:endParaRPr lang="en-US" altLang="zh-TW" dirty="0"/>
          </a:p>
          <a:p>
            <a:endParaRPr lang="en-US" altLang="zh-TW" dirty="0" smtClean="0"/>
          </a:p>
          <a:p>
            <a:r>
              <a:rPr lang="zh-TW" altLang="en-US" dirty="0"/>
              <a:t>即，若</a:t>
            </a:r>
            <a:r>
              <a:rPr lang="zh-TW" altLang="en-US" dirty="0" smtClean="0"/>
              <a:t>發現上下限中包夾了一個不會出現的數字時，則之後的序列亦不可能為</a:t>
            </a:r>
            <a:r>
              <a:rPr lang="en-US" altLang="zh-TW" dirty="0"/>
              <a:t>common </a:t>
            </a:r>
            <a:r>
              <a:rPr lang="en-US" altLang="zh-TW" dirty="0" smtClean="0"/>
              <a:t>interval </a:t>
            </a:r>
            <a:endParaRPr lang="en-US" altLang="zh-TW" dirty="0"/>
          </a:p>
        </p:txBody>
      </p:sp>
      <p:pic>
        <p:nvPicPr>
          <p:cNvPr id="8194" name="Picture 2"/>
          <p:cNvPicPr>
            <a:picLocks noChangeAspect="1" noChangeArrowheads="1"/>
          </p:cNvPicPr>
          <p:nvPr/>
        </p:nvPicPr>
        <p:blipFill>
          <a:blip r:embed="rId2">
            <a:extLst>
              <a:ext uri="{28A0092B-C50C-407E-A947-70E740481C1C}">
                <a14:useLocalDpi xmlns:a14="http://schemas.microsoft.com/office/drawing/2010/main" xmlns="" val="0"/>
              </a:ext>
            </a:extLst>
          </a:blip>
          <a:srcRect/>
          <a:stretch>
            <a:fillRect/>
          </a:stretch>
        </p:blipFill>
        <p:spPr bwMode="auto">
          <a:xfrm>
            <a:off x="539552" y="1700808"/>
            <a:ext cx="7000875" cy="295275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Tree>
    <p:extLst>
      <p:ext uri="{BB962C8B-B14F-4D97-AF65-F5344CB8AC3E}">
        <p14:creationId xmlns:p14="http://schemas.microsoft.com/office/powerpoint/2010/main" xmlns="" val="319928159"/>
      </p:ext>
    </p:extLst>
  </p:cSld>
  <p:clrMapOvr>
    <a:masterClrMapping/>
  </p:clrMapOvr>
  <p:transition>
    <p:cut/>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i="1" dirty="0"/>
              <a:t>The Algorithm LHP</a:t>
            </a:r>
            <a:endParaRPr lang="zh-TW" altLang="en-US" dirty="0"/>
          </a:p>
        </p:txBody>
      </p:sp>
      <p:sp>
        <p:nvSpPr>
          <p:cNvPr id="3" name="內容版面配置區 2"/>
          <p:cNvSpPr>
            <a:spLocks noGrp="1"/>
          </p:cNvSpPr>
          <p:nvPr>
            <p:ph idx="1"/>
          </p:nvPr>
        </p:nvSpPr>
        <p:spPr>
          <a:xfrm>
            <a:off x="4572000" y="1556792"/>
            <a:ext cx="4186808" cy="4525963"/>
          </a:xfrm>
        </p:spPr>
        <p:txBody>
          <a:bodyPr>
            <a:normAutofit/>
          </a:bodyPr>
          <a:lstStyle/>
          <a:p>
            <a:r>
              <a:rPr lang="zh-TW" altLang="en-US" dirty="0" smtClean="0"/>
              <a:t>修改版</a:t>
            </a:r>
            <a:r>
              <a:rPr lang="en-US" altLang="zh-TW" dirty="0" smtClean="0"/>
              <a:t>(</a:t>
            </a:r>
            <a:r>
              <a:rPr lang="zh-TW" altLang="en-US" dirty="0" smtClean="0"/>
              <a:t>亦可取隨機</a:t>
            </a:r>
            <a:r>
              <a:rPr lang="en-US" altLang="zh-TW" dirty="0" smtClean="0"/>
              <a:t>)</a:t>
            </a:r>
          </a:p>
          <a:p>
            <a:r>
              <a:rPr lang="en-US" altLang="zh-TW" dirty="0" smtClean="0"/>
              <a:t>x=1 </a:t>
            </a:r>
            <a:r>
              <a:rPr lang="en-US" altLang="zh-TW" dirty="0"/>
              <a:t>,</a:t>
            </a:r>
            <a:r>
              <a:rPr lang="en-US" altLang="zh-TW" dirty="0" smtClean="0"/>
              <a:t>HP’= </a:t>
            </a:r>
            <a:r>
              <a:rPr lang="el-GR" altLang="zh-TW" dirty="0"/>
              <a:t>π</a:t>
            </a:r>
            <a:r>
              <a:rPr lang="en-US" altLang="zh-TW" baseline="-25000" dirty="0"/>
              <a:t>AB</a:t>
            </a:r>
            <a:r>
              <a:rPr lang="en-US" altLang="zh-TW" dirty="0"/>
              <a:t>(n-1,n)</a:t>
            </a:r>
          </a:p>
          <a:p>
            <a:r>
              <a:rPr lang="en-US" altLang="zh-TW" dirty="0" smtClean="0"/>
              <a:t>x=2 </a:t>
            </a:r>
            <a:r>
              <a:rPr lang="en-US" altLang="zh-TW" dirty="0"/>
              <a:t>,</a:t>
            </a:r>
            <a:r>
              <a:rPr lang="en-US" altLang="zh-TW" dirty="0" smtClean="0"/>
              <a:t>HP</a:t>
            </a:r>
            <a:r>
              <a:rPr lang="en-US" altLang="zh-TW" baseline="30000" dirty="0" smtClean="0"/>
              <a:t>’</a:t>
            </a:r>
            <a:r>
              <a:rPr lang="en-US" altLang="zh-TW" dirty="0" smtClean="0"/>
              <a:t>= </a:t>
            </a:r>
            <a:r>
              <a:rPr lang="el-GR" altLang="zh-TW" dirty="0"/>
              <a:t>π</a:t>
            </a:r>
            <a:r>
              <a:rPr lang="en-US" altLang="zh-TW" baseline="-25000" dirty="0" smtClean="0"/>
              <a:t>AB</a:t>
            </a:r>
            <a:r>
              <a:rPr lang="en-US" altLang="zh-TW" dirty="0" smtClean="0"/>
              <a:t>(1,n-1)</a:t>
            </a:r>
            <a:endParaRPr lang="zh-TW" altLang="en-US" dirty="0"/>
          </a:p>
          <a:p>
            <a:r>
              <a:rPr lang="en-US" altLang="zh-TW" dirty="0" smtClean="0"/>
              <a:t>x=3 </a:t>
            </a:r>
            <a:r>
              <a:rPr lang="en-US" altLang="zh-TW" dirty="0"/>
              <a:t>,</a:t>
            </a:r>
            <a:r>
              <a:rPr lang="en-US" altLang="zh-TW" dirty="0" smtClean="0"/>
              <a:t>HP</a:t>
            </a:r>
            <a:r>
              <a:rPr lang="en-US" altLang="zh-TW" baseline="30000" dirty="0" smtClean="0"/>
              <a:t>’</a:t>
            </a:r>
            <a:r>
              <a:rPr lang="en-US" altLang="zh-TW" dirty="0" smtClean="0"/>
              <a:t>= </a:t>
            </a:r>
            <a:r>
              <a:rPr lang="el-GR" altLang="zh-TW" dirty="0"/>
              <a:t>π</a:t>
            </a:r>
            <a:r>
              <a:rPr lang="en-US" altLang="zh-TW" baseline="-25000" dirty="0" smtClean="0"/>
              <a:t>AB</a:t>
            </a:r>
            <a:r>
              <a:rPr lang="en-US" altLang="zh-TW" dirty="0" smtClean="0"/>
              <a:t>(1,2)</a:t>
            </a:r>
            <a:endParaRPr lang="zh-TW" altLang="en-US" dirty="0"/>
          </a:p>
          <a:p>
            <a:r>
              <a:rPr lang="en-US" altLang="zh-TW" dirty="0" smtClean="0"/>
              <a:t>x=4 </a:t>
            </a:r>
            <a:r>
              <a:rPr lang="en-US" altLang="zh-TW" dirty="0"/>
              <a:t>,</a:t>
            </a:r>
            <a:r>
              <a:rPr lang="en-US" altLang="zh-TW" dirty="0" smtClean="0"/>
              <a:t>HP</a:t>
            </a:r>
            <a:r>
              <a:rPr lang="en-US" altLang="zh-TW" baseline="30000" dirty="0" smtClean="0"/>
              <a:t>’</a:t>
            </a:r>
            <a:r>
              <a:rPr lang="en-US" altLang="zh-TW" dirty="0" smtClean="0"/>
              <a:t>= </a:t>
            </a:r>
            <a:r>
              <a:rPr lang="el-GR" altLang="zh-TW" dirty="0"/>
              <a:t>π</a:t>
            </a:r>
            <a:r>
              <a:rPr lang="en-US" altLang="zh-TW" baseline="-25000" dirty="0" smtClean="0"/>
              <a:t>AB</a:t>
            </a:r>
            <a:r>
              <a:rPr lang="en-US" altLang="zh-TW" dirty="0" smtClean="0"/>
              <a:t>(2,3)</a:t>
            </a:r>
            <a:endParaRPr lang="zh-TW" altLang="en-US" dirty="0"/>
          </a:p>
          <a:p>
            <a:endParaRPr lang="en-US" altLang="zh-TW" dirty="0" smtClean="0"/>
          </a:p>
          <a:p>
            <a:r>
              <a:rPr lang="en-US" altLang="zh-TW" dirty="0" smtClean="0"/>
              <a:t>x=k </a:t>
            </a:r>
            <a:r>
              <a:rPr lang="en-US" altLang="zh-TW" dirty="0"/>
              <a:t>,</a:t>
            </a:r>
            <a:r>
              <a:rPr lang="en-US" altLang="zh-TW" dirty="0" smtClean="0"/>
              <a:t>HP</a:t>
            </a:r>
            <a:r>
              <a:rPr lang="en-US" altLang="zh-TW" baseline="30000" dirty="0" smtClean="0"/>
              <a:t>’</a:t>
            </a:r>
            <a:r>
              <a:rPr lang="en-US" altLang="zh-TW" dirty="0" smtClean="0"/>
              <a:t>= </a:t>
            </a:r>
            <a:r>
              <a:rPr lang="el-GR" altLang="zh-TW" dirty="0"/>
              <a:t>π</a:t>
            </a:r>
            <a:r>
              <a:rPr lang="en-US" altLang="zh-TW" baseline="-25000" dirty="0" smtClean="0"/>
              <a:t>AB</a:t>
            </a:r>
            <a:r>
              <a:rPr lang="en-US" altLang="zh-TW" dirty="0" smtClean="0"/>
              <a:t>(k-2,k-1)</a:t>
            </a:r>
            <a:endParaRPr lang="zh-TW" altLang="en-US" dirty="0"/>
          </a:p>
          <a:p>
            <a:endParaRPr lang="zh-TW" altLang="en-US" dirty="0"/>
          </a:p>
        </p:txBody>
      </p:sp>
      <p:sp>
        <p:nvSpPr>
          <p:cNvPr id="4" name="內容版面配置區 2"/>
          <p:cNvSpPr txBox="1">
            <a:spLocks/>
          </p:cNvSpPr>
          <p:nvPr/>
        </p:nvSpPr>
        <p:spPr>
          <a:xfrm>
            <a:off x="107504" y="1556792"/>
            <a:ext cx="4186808" cy="4525963"/>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zh-TW" altLang="en-US" dirty="0" smtClean="0"/>
              <a:t>正式的</a:t>
            </a:r>
            <a:r>
              <a:rPr lang="en-US" altLang="zh-TW" dirty="0" smtClean="0"/>
              <a:t>HP</a:t>
            </a:r>
          </a:p>
          <a:p>
            <a:r>
              <a:rPr lang="en-US" altLang="zh-TW" dirty="0" smtClean="0"/>
              <a:t>x=1 ,HP= </a:t>
            </a:r>
            <a:r>
              <a:rPr lang="el-GR" altLang="zh-TW" dirty="0" smtClean="0"/>
              <a:t>π</a:t>
            </a:r>
            <a:r>
              <a:rPr lang="en-US" altLang="zh-TW" baseline="-25000" dirty="0" smtClean="0"/>
              <a:t>AB</a:t>
            </a:r>
            <a:r>
              <a:rPr lang="en-US" altLang="zh-TW" dirty="0" smtClean="0"/>
              <a:t>(n-1,n)</a:t>
            </a:r>
          </a:p>
          <a:p>
            <a:r>
              <a:rPr lang="en-US" altLang="zh-TW" dirty="0" smtClean="0"/>
              <a:t>x=2 ,HP= </a:t>
            </a:r>
            <a:r>
              <a:rPr lang="el-GR" altLang="zh-TW" dirty="0" smtClean="0"/>
              <a:t>π</a:t>
            </a:r>
            <a:r>
              <a:rPr lang="en-US" altLang="zh-TW" baseline="-25000" dirty="0" smtClean="0"/>
              <a:t>AB</a:t>
            </a:r>
            <a:r>
              <a:rPr lang="en-US" altLang="zh-TW" dirty="0" smtClean="0"/>
              <a:t>(1,n-1)</a:t>
            </a:r>
            <a:endParaRPr lang="zh-TW" altLang="en-US" dirty="0" smtClean="0"/>
          </a:p>
          <a:p>
            <a:r>
              <a:rPr lang="en-US" altLang="zh-TW" dirty="0" smtClean="0"/>
              <a:t>x=3 ,HP= </a:t>
            </a:r>
            <a:r>
              <a:rPr lang="el-GR" altLang="zh-TW" dirty="0" smtClean="0"/>
              <a:t>π</a:t>
            </a:r>
            <a:r>
              <a:rPr lang="en-US" altLang="zh-TW" baseline="-25000" dirty="0" smtClean="0"/>
              <a:t>AB</a:t>
            </a:r>
            <a:r>
              <a:rPr lang="en-US" altLang="zh-TW" dirty="0" smtClean="0"/>
              <a:t>(1,2)</a:t>
            </a:r>
            <a:endParaRPr lang="zh-TW" altLang="en-US" dirty="0" smtClean="0"/>
          </a:p>
          <a:p>
            <a:r>
              <a:rPr lang="en-US" altLang="zh-TW" dirty="0" smtClean="0"/>
              <a:t>x=4 ,HP= </a:t>
            </a:r>
            <a:r>
              <a:rPr lang="el-GR" altLang="zh-TW" dirty="0" smtClean="0"/>
              <a:t>π</a:t>
            </a:r>
            <a:r>
              <a:rPr lang="en-US" altLang="zh-TW" baseline="-25000" dirty="0" smtClean="0"/>
              <a:t>AB</a:t>
            </a:r>
            <a:r>
              <a:rPr lang="en-US" altLang="zh-TW" dirty="0" smtClean="0"/>
              <a:t>(1,2,3)</a:t>
            </a:r>
            <a:endParaRPr lang="zh-TW" altLang="en-US" dirty="0" smtClean="0"/>
          </a:p>
          <a:p>
            <a:endParaRPr lang="en-US" altLang="zh-TW" dirty="0" smtClean="0"/>
          </a:p>
          <a:p>
            <a:r>
              <a:rPr lang="en-US" altLang="zh-TW" dirty="0" smtClean="0"/>
              <a:t>x=k ,HP= </a:t>
            </a:r>
            <a:r>
              <a:rPr lang="el-GR" altLang="zh-TW" dirty="0" smtClean="0"/>
              <a:t>π</a:t>
            </a:r>
            <a:r>
              <a:rPr lang="en-US" altLang="zh-TW" baseline="-25000" dirty="0" smtClean="0"/>
              <a:t>AB</a:t>
            </a:r>
            <a:r>
              <a:rPr lang="en-US" altLang="zh-TW" dirty="0" smtClean="0"/>
              <a:t>(1,2,..,k-1)</a:t>
            </a:r>
            <a:endParaRPr lang="zh-TW" altLang="en-US" dirty="0" smtClean="0"/>
          </a:p>
          <a:p>
            <a:endParaRPr lang="zh-TW" altLang="en-US" dirty="0"/>
          </a:p>
        </p:txBody>
      </p:sp>
    </p:spTree>
    <p:extLst>
      <p:ext uri="{BB962C8B-B14F-4D97-AF65-F5344CB8AC3E}">
        <p14:creationId xmlns:p14="http://schemas.microsoft.com/office/powerpoint/2010/main" xmlns="" val="314017808"/>
      </p:ext>
    </p:extLst>
  </p:cSld>
  <p:clrMapOvr>
    <a:masterClrMapping/>
  </p:clrMapOvr>
  <p:transition>
    <p:cut/>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i="1" dirty="0"/>
              <a:t>The Algorithm MNG</a:t>
            </a:r>
            <a:endParaRPr lang="zh-TW" altLang="en-US" dirty="0"/>
          </a:p>
        </p:txBody>
      </p:sp>
      <p:sp>
        <p:nvSpPr>
          <p:cNvPr id="3" name="內容版面配置區 2"/>
          <p:cNvSpPr>
            <a:spLocks noGrp="1"/>
          </p:cNvSpPr>
          <p:nvPr>
            <p:ph idx="1"/>
          </p:nvPr>
        </p:nvSpPr>
        <p:spPr/>
        <p:txBody>
          <a:bodyPr/>
          <a:lstStyle/>
          <a:p>
            <a:endParaRPr lang="zh-TW" altLang="en-US" dirty="0"/>
          </a:p>
        </p:txBody>
      </p:sp>
      <p:pic>
        <p:nvPicPr>
          <p:cNvPr id="9218" name="Picture 2"/>
          <p:cNvPicPr>
            <a:picLocks noChangeAspect="1" noChangeArrowheads="1"/>
          </p:cNvPicPr>
          <p:nvPr/>
        </p:nvPicPr>
        <p:blipFill>
          <a:blip r:embed="rId2">
            <a:extLst>
              <a:ext uri="{28A0092B-C50C-407E-A947-70E740481C1C}">
                <a14:useLocalDpi xmlns:a14="http://schemas.microsoft.com/office/drawing/2010/main" xmlns="" val="0"/>
              </a:ext>
            </a:extLst>
          </a:blip>
          <a:srcRect/>
          <a:stretch>
            <a:fillRect/>
          </a:stretch>
        </p:blipFill>
        <p:spPr bwMode="auto">
          <a:xfrm>
            <a:off x="941732" y="1628800"/>
            <a:ext cx="7096125" cy="132397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Tree>
    <p:extLst>
      <p:ext uri="{BB962C8B-B14F-4D97-AF65-F5344CB8AC3E}">
        <p14:creationId xmlns:p14="http://schemas.microsoft.com/office/powerpoint/2010/main" xmlns="" val="4183947155"/>
      </p:ext>
    </p:extLst>
  </p:cSld>
  <p:clrMapOvr>
    <a:masterClrMapping/>
  </p:clrMapOvr>
  <p:transition>
    <p:cut/>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內容版面配置區 2"/>
          <p:cNvSpPr>
            <a:spLocks noGrp="1"/>
          </p:cNvSpPr>
          <p:nvPr>
            <p:ph idx="1"/>
          </p:nvPr>
        </p:nvSpPr>
        <p:spPr>
          <a:xfrm>
            <a:off x="467544" y="548680"/>
            <a:ext cx="8219256" cy="5577483"/>
          </a:xfrm>
        </p:spPr>
        <p:txBody>
          <a:bodyPr>
            <a:normAutofit/>
          </a:bodyPr>
          <a:lstStyle/>
          <a:p>
            <a:endParaRPr lang="en-US" altLang="zh-TW" dirty="0" smtClean="0"/>
          </a:p>
          <a:p>
            <a:endParaRPr lang="en-US" altLang="zh-TW" dirty="0"/>
          </a:p>
          <a:p>
            <a:endParaRPr lang="en-US" altLang="zh-TW" dirty="0" smtClean="0"/>
          </a:p>
          <a:p>
            <a:endParaRPr lang="en-US" altLang="zh-TW" dirty="0"/>
          </a:p>
          <a:p>
            <a:endParaRPr lang="en-US" altLang="zh-TW" dirty="0" smtClean="0"/>
          </a:p>
          <a:p>
            <a:endParaRPr lang="en-US" altLang="zh-TW" dirty="0"/>
          </a:p>
          <a:p>
            <a:endParaRPr lang="en-US" altLang="zh-TW" dirty="0" smtClean="0"/>
          </a:p>
          <a:p>
            <a:endParaRPr lang="en-US" altLang="zh-TW" dirty="0"/>
          </a:p>
          <a:p>
            <a:r>
              <a:rPr lang="zh-TW" altLang="en-US" sz="2400" dirty="0"/>
              <a:t>若</a:t>
            </a:r>
            <a:r>
              <a:rPr lang="en-US" altLang="zh-TW" sz="2400" dirty="0"/>
              <a:t>(12)</a:t>
            </a:r>
            <a:r>
              <a:rPr lang="zh-TW" altLang="en-US" sz="2400" dirty="0"/>
              <a:t>成立</a:t>
            </a:r>
            <a:r>
              <a:rPr lang="en-US" altLang="zh-TW" sz="2400" dirty="0"/>
              <a:t>,by(11),</a:t>
            </a:r>
            <a:r>
              <a:rPr lang="zh-TW" altLang="en-US" sz="2400" dirty="0"/>
              <a:t>則可</a:t>
            </a:r>
            <a:r>
              <a:rPr lang="zh-TW" altLang="en-US" sz="2400" dirty="0" smtClean="0"/>
              <a:t>得到</a:t>
            </a:r>
            <a:r>
              <a:rPr lang="en-US" altLang="zh-TW" sz="2400" dirty="0" smtClean="0"/>
              <a:t>f(</a:t>
            </a:r>
            <a:r>
              <a:rPr lang="en-US" altLang="zh-TW" sz="2400" dirty="0" err="1" smtClean="0"/>
              <a:t>x,y</a:t>
            </a:r>
            <a:r>
              <a:rPr lang="en-US" altLang="zh-TW" sz="2400" dirty="0" smtClean="0"/>
              <a:t>+)&gt;0</a:t>
            </a:r>
            <a:r>
              <a:rPr lang="zh-TW" altLang="en-US" sz="2400" dirty="0" smtClean="0"/>
              <a:t>即之後都不</a:t>
            </a:r>
            <a:r>
              <a:rPr lang="en-US" altLang="zh-TW" sz="2400" dirty="0" smtClean="0"/>
              <a:t>match</a:t>
            </a:r>
            <a:endParaRPr lang="zh-TW" altLang="en-US" sz="2400" dirty="0"/>
          </a:p>
        </p:txBody>
      </p:sp>
      <p:pic>
        <p:nvPicPr>
          <p:cNvPr id="10242" name="Picture 2"/>
          <p:cNvPicPr>
            <a:picLocks noChangeAspect="1" noChangeArrowheads="1"/>
          </p:cNvPicPr>
          <p:nvPr/>
        </p:nvPicPr>
        <p:blipFill>
          <a:blip r:embed="rId2">
            <a:extLst>
              <a:ext uri="{28A0092B-C50C-407E-A947-70E740481C1C}">
                <a14:useLocalDpi xmlns:a14="http://schemas.microsoft.com/office/drawing/2010/main" xmlns="" val="0"/>
              </a:ext>
            </a:extLst>
          </a:blip>
          <a:srcRect/>
          <a:stretch>
            <a:fillRect/>
          </a:stretch>
        </p:blipFill>
        <p:spPr bwMode="auto">
          <a:xfrm>
            <a:off x="467544" y="548680"/>
            <a:ext cx="7077075" cy="443865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
        <p:nvSpPr>
          <p:cNvPr id="4" name="標題 3"/>
          <p:cNvSpPr>
            <a:spLocks noGrp="1"/>
          </p:cNvSpPr>
          <p:nvPr>
            <p:ph type="title"/>
          </p:nvPr>
        </p:nvSpPr>
        <p:spPr/>
        <p:txBody>
          <a:bodyPr/>
          <a:lstStyle/>
          <a:p>
            <a:endParaRPr lang="zh-TW" altLang="en-US"/>
          </a:p>
        </p:txBody>
      </p:sp>
    </p:spTree>
    <p:extLst>
      <p:ext uri="{BB962C8B-B14F-4D97-AF65-F5344CB8AC3E}">
        <p14:creationId xmlns:p14="http://schemas.microsoft.com/office/powerpoint/2010/main" xmlns="" val="446435631"/>
      </p:ext>
    </p:extLst>
  </p:cSld>
  <p:clrMapOvr>
    <a:masterClrMapping/>
  </p:clrMapOvr>
  <p:transition>
    <p:cut/>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i="1" dirty="0"/>
              <a:t>The Algorithm MNG</a:t>
            </a:r>
            <a:endParaRPr lang="zh-TW" altLang="en-US" dirty="0"/>
          </a:p>
        </p:txBody>
      </p:sp>
      <p:sp>
        <p:nvSpPr>
          <p:cNvPr id="3" name="內容版面配置區 2"/>
          <p:cNvSpPr>
            <a:spLocks noGrp="1"/>
          </p:cNvSpPr>
          <p:nvPr>
            <p:ph idx="1"/>
          </p:nvPr>
        </p:nvSpPr>
        <p:spPr/>
        <p:txBody>
          <a:bodyPr/>
          <a:lstStyle/>
          <a:p>
            <a:endParaRPr lang="zh-TW" altLang="en-US"/>
          </a:p>
        </p:txBody>
      </p:sp>
      <p:pic>
        <p:nvPicPr>
          <p:cNvPr id="11266" name="Picture 2"/>
          <p:cNvPicPr>
            <a:picLocks noChangeAspect="1" noChangeArrowheads="1"/>
          </p:cNvPicPr>
          <p:nvPr/>
        </p:nvPicPr>
        <p:blipFill>
          <a:blip r:embed="rId2">
            <a:extLst>
              <a:ext uri="{28A0092B-C50C-407E-A947-70E740481C1C}">
                <a14:useLocalDpi xmlns:a14="http://schemas.microsoft.com/office/drawing/2010/main" xmlns="" val="0"/>
              </a:ext>
            </a:extLst>
          </a:blip>
          <a:srcRect/>
          <a:stretch>
            <a:fillRect/>
          </a:stretch>
        </p:blipFill>
        <p:spPr bwMode="auto">
          <a:xfrm>
            <a:off x="1009785" y="1484784"/>
            <a:ext cx="7086600" cy="45339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Tree>
    <p:extLst>
      <p:ext uri="{BB962C8B-B14F-4D97-AF65-F5344CB8AC3E}">
        <p14:creationId xmlns:p14="http://schemas.microsoft.com/office/powerpoint/2010/main" xmlns="" val="1365948202"/>
      </p:ext>
    </p:extLst>
  </p:cSld>
  <p:clrMapOvr>
    <a:masterClrMapping/>
  </p:clrMapOvr>
  <p:transition>
    <p:cut/>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i="1" dirty="0"/>
              <a:t>The Algorithm MNG</a:t>
            </a:r>
            <a:endParaRPr lang="zh-TW" altLang="en-US" dirty="0"/>
          </a:p>
        </p:txBody>
      </p:sp>
      <p:sp>
        <p:nvSpPr>
          <p:cNvPr id="3" name="內容版面配置區 2"/>
          <p:cNvSpPr>
            <a:spLocks noGrp="1"/>
          </p:cNvSpPr>
          <p:nvPr>
            <p:ph idx="1"/>
          </p:nvPr>
        </p:nvSpPr>
        <p:spPr/>
        <p:txBody>
          <a:bodyPr/>
          <a:lstStyle/>
          <a:p>
            <a:endParaRPr lang="zh-TW" altLang="en-US"/>
          </a:p>
        </p:txBody>
      </p:sp>
      <p:pic>
        <p:nvPicPr>
          <p:cNvPr id="12290" name="Picture 2"/>
          <p:cNvPicPr>
            <a:picLocks noChangeAspect="1" noChangeArrowheads="1"/>
          </p:cNvPicPr>
          <p:nvPr/>
        </p:nvPicPr>
        <p:blipFill>
          <a:blip r:embed="rId2">
            <a:extLst>
              <a:ext uri="{28A0092B-C50C-407E-A947-70E740481C1C}">
                <a14:useLocalDpi xmlns:a14="http://schemas.microsoft.com/office/drawing/2010/main" xmlns="" val="0"/>
              </a:ext>
            </a:extLst>
          </a:blip>
          <a:srcRect/>
          <a:stretch>
            <a:fillRect/>
          </a:stretch>
        </p:blipFill>
        <p:spPr bwMode="auto">
          <a:xfrm>
            <a:off x="539552" y="1700808"/>
            <a:ext cx="8208314" cy="196069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Tree>
    <p:extLst>
      <p:ext uri="{BB962C8B-B14F-4D97-AF65-F5344CB8AC3E}">
        <p14:creationId xmlns:p14="http://schemas.microsoft.com/office/powerpoint/2010/main" xmlns="" val="2449512633"/>
      </p:ext>
    </p:extLst>
  </p:cSld>
  <p:clrMapOvr>
    <a:masterClrMapping/>
  </p:clrMapOvr>
  <p:transition>
    <p:cut/>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Algorithm RC</a:t>
            </a:r>
            <a:endParaRPr lang="zh-TW" altLang="en-US" dirty="0"/>
          </a:p>
        </p:txBody>
      </p:sp>
      <p:sp>
        <p:nvSpPr>
          <p:cNvPr id="3" name="內容版面配置區 2"/>
          <p:cNvSpPr>
            <a:spLocks noGrp="1"/>
          </p:cNvSpPr>
          <p:nvPr>
            <p:ph idx="1"/>
          </p:nvPr>
        </p:nvSpPr>
        <p:spPr/>
        <p:txBody>
          <a:bodyPr/>
          <a:lstStyle/>
          <a:p>
            <a:endParaRPr lang="zh-TW" altLang="en-US" dirty="0"/>
          </a:p>
        </p:txBody>
      </p:sp>
      <p:pic>
        <p:nvPicPr>
          <p:cNvPr id="13314" name="Picture 2"/>
          <p:cNvPicPr>
            <a:picLocks noChangeAspect="1" noChangeArrowheads="1"/>
          </p:cNvPicPr>
          <p:nvPr/>
        </p:nvPicPr>
        <p:blipFill>
          <a:blip r:embed="rId2">
            <a:extLst>
              <a:ext uri="{28A0092B-C50C-407E-A947-70E740481C1C}">
                <a14:useLocalDpi xmlns:a14="http://schemas.microsoft.com/office/drawing/2010/main" xmlns="" val="0"/>
              </a:ext>
            </a:extLst>
          </a:blip>
          <a:srcRect/>
          <a:stretch>
            <a:fillRect/>
          </a:stretch>
        </p:blipFill>
        <p:spPr bwMode="auto">
          <a:xfrm>
            <a:off x="453447" y="1484784"/>
            <a:ext cx="8344015" cy="352839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Tree>
    <p:extLst>
      <p:ext uri="{BB962C8B-B14F-4D97-AF65-F5344CB8AC3E}">
        <p14:creationId xmlns:p14="http://schemas.microsoft.com/office/powerpoint/2010/main" xmlns="" val="1205289940"/>
      </p:ext>
    </p:extLst>
  </p:cSld>
  <p:clrMapOvr>
    <a:masterClrMapping/>
  </p:clrMapOvr>
  <p:transition>
    <p:cut/>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Algorithm RC</a:t>
            </a:r>
            <a:endParaRPr lang="zh-TW" altLang="en-US" dirty="0"/>
          </a:p>
        </p:txBody>
      </p:sp>
      <p:sp>
        <p:nvSpPr>
          <p:cNvPr id="3" name="內容版面配置區 2"/>
          <p:cNvSpPr>
            <a:spLocks noGrp="1"/>
          </p:cNvSpPr>
          <p:nvPr>
            <p:ph idx="1"/>
          </p:nvPr>
        </p:nvSpPr>
        <p:spPr/>
        <p:txBody>
          <a:bodyPr/>
          <a:lstStyle/>
          <a:p>
            <a:endParaRPr lang="zh-TW" altLang="en-US"/>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xmlns="" val="0"/>
              </a:ext>
            </a:extLst>
          </a:blip>
          <a:srcRect/>
          <a:stretch>
            <a:fillRect/>
          </a:stretch>
        </p:blipFill>
        <p:spPr bwMode="auto">
          <a:xfrm>
            <a:off x="205750" y="1398425"/>
            <a:ext cx="8938250" cy="473561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Tree>
    <p:extLst>
      <p:ext uri="{BB962C8B-B14F-4D97-AF65-F5344CB8AC3E}">
        <p14:creationId xmlns:p14="http://schemas.microsoft.com/office/powerpoint/2010/main" xmlns="" val="1888891619"/>
      </p:ext>
    </p:extLst>
  </p:cSld>
  <p:clrMapOvr>
    <a:masterClrMapping/>
  </p:clrMapOvr>
  <p:transition>
    <p:cut/>
  </p:transition>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Algorithm RC</a:t>
            </a:r>
            <a:endParaRPr lang="zh-TW" altLang="en-US" dirty="0"/>
          </a:p>
        </p:txBody>
      </p:sp>
      <p:sp>
        <p:nvSpPr>
          <p:cNvPr id="3" name="內容版面配置區 2"/>
          <p:cNvSpPr>
            <a:spLocks noGrp="1"/>
          </p:cNvSpPr>
          <p:nvPr>
            <p:ph idx="1"/>
          </p:nvPr>
        </p:nvSpPr>
        <p:spPr/>
        <p:txBody>
          <a:bodyPr/>
          <a:lstStyle/>
          <a:p>
            <a:endParaRPr lang="zh-TW" altLang="en-US"/>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xmlns="" val="0"/>
              </a:ext>
            </a:extLst>
          </a:blip>
          <a:srcRect/>
          <a:stretch>
            <a:fillRect/>
          </a:stretch>
        </p:blipFill>
        <p:spPr bwMode="auto">
          <a:xfrm>
            <a:off x="309563" y="2443163"/>
            <a:ext cx="8524875" cy="22479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Tree>
    <p:extLst>
      <p:ext uri="{BB962C8B-B14F-4D97-AF65-F5344CB8AC3E}">
        <p14:creationId xmlns:p14="http://schemas.microsoft.com/office/powerpoint/2010/main" xmlns="" val="2704086652"/>
      </p:ext>
    </p:extLst>
  </p:cSld>
  <p:clrMapOvr>
    <a:masterClrMapping/>
  </p:clrMapOvr>
  <p:transition>
    <p:cut/>
  </p:transition>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Types of </a:t>
            </a:r>
            <a:r>
              <a:rPr lang="en-US" altLang="zh-TW" dirty="0" smtClean="0"/>
              <a:t>Problem </a:t>
            </a:r>
            <a:r>
              <a:rPr lang="en-US" altLang="zh-TW" dirty="0" smtClean="0"/>
              <a:t>I</a:t>
            </a:r>
            <a:r>
              <a:rPr lang="en-US" altLang="zh-TW" dirty="0" smtClean="0"/>
              <a:t>nstances</a:t>
            </a:r>
            <a:endParaRPr lang="zh-TW" altLang="en-US" dirty="0"/>
          </a:p>
        </p:txBody>
      </p:sp>
      <p:sp>
        <p:nvSpPr>
          <p:cNvPr id="3" name="內容版面配置區 2"/>
          <p:cNvSpPr>
            <a:spLocks noGrp="1"/>
          </p:cNvSpPr>
          <p:nvPr>
            <p:ph idx="1"/>
          </p:nvPr>
        </p:nvSpPr>
        <p:spPr/>
        <p:txBody>
          <a:bodyPr/>
          <a:lstStyle/>
          <a:p>
            <a:endParaRPr lang="zh-TW" altLang="en-US"/>
          </a:p>
        </p:txBody>
      </p:sp>
      <p:pic>
        <p:nvPicPr>
          <p:cNvPr id="14339" name="Picture 3"/>
          <p:cNvPicPr>
            <a:picLocks noChangeAspect="1" noChangeArrowheads="1"/>
          </p:cNvPicPr>
          <p:nvPr/>
        </p:nvPicPr>
        <p:blipFill>
          <a:blip r:embed="rId2">
            <a:extLst>
              <a:ext uri="{28A0092B-C50C-407E-A947-70E740481C1C}">
                <a14:useLocalDpi xmlns:a14="http://schemas.microsoft.com/office/drawing/2010/main" xmlns="" val="0"/>
              </a:ext>
            </a:extLst>
          </a:blip>
          <a:srcRect/>
          <a:stretch>
            <a:fillRect/>
          </a:stretch>
        </p:blipFill>
        <p:spPr bwMode="auto">
          <a:xfrm>
            <a:off x="539553" y="1687837"/>
            <a:ext cx="7628136" cy="329373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Tree>
    <p:extLst>
      <p:ext uri="{BB962C8B-B14F-4D97-AF65-F5344CB8AC3E}">
        <p14:creationId xmlns:p14="http://schemas.microsoft.com/office/powerpoint/2010/main" xmlns="" val="2756441497"/>
      </p:ext>
    </p:extLst>
  </p:cSld>
  <p:clrMapOvr>
    <a:masterClrMapping/>
  </p:clrMapOvr>
  <p:transition>
    <p:cut/>
  </p:transition>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a:p>
        </p:txBody>
      </p:sp>
      <p:sp>
        <p:nvSpPr>
          <p:cNvPr id="3" name="內容版面配置區 2"/>
          <p:cNvSpPr>
            <a:spLocks noGrp="1"/>
          </p:cNvSpPr>
          <p:nvPr>
            <p:ph idx="1"/>
          </p:nvPr>
        </p:nvSpPr>
        <p:spPr/>
        <p:txBody>
          <a:bodyPr/>
          <a:lstStyle/>
          <a:p>
            <a:endParaRPr lang="zh-TW" altLang="en-US"/>
          </a:p>
        </p:txBody>
      </p:sp>
      <p:pic>
        <p:nvPicPr>
          <p:cNvPr id="15362" name="Picture 2"/>
          <p:cNvPicPr>
            <a:picLocks noChangeAspect="1" noChangeArrowheads="1"/>
          </p:cNvPicPr>
          <p:nvPr/>
        </p:nvPicPr>
        <p:blipFill>
          <a:blip r:embed="rId2">
            <a:extLst>
              <a:ext uri="{28A0092B-C50C-407E-A947-70E740481C1C}">
                <a14:useLocalDpi xmlns:a14="http://schemas.microsoft.com/office/drawing/2010/main" xmlns="" val="0"/>
              </a:ext>
            </a:extLst>
          </a:blip>
          <a:srcRect/>
          <a:stretch>
            <a:fillRect/>
          </a:stretch>
        </p:blipFill>
        <p:spPr bwMode="auto">
          <a:xfrm>
            <a:off x="899592" y="1700808"/>
            <a:ext cx="7000875" cy="48577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pic>
        <p:nvPicPr>
          <p:cNvPr id="15363" name="Picture 3"/>
          <p:cNvPicPr>
            <a:picLocks noChangeAspect="1" noChangeArrowheads="1"/>
          </p:cNvPicPr>
          <p:nvPr/>
        </p:nvPicPr>
        <p:blipFill>
          <a:blip r:embed="rId3">
            <a:extLst>
              <a:ext uri="{28A0092B-C50C-407E-A947-70E740481C1C}">
                <a14:useLocalDpi xmlns:a14="http://schemas.microsoft.com/office/drawing/2010/main" xmlns="" val="0"/>
              </a:ext>
            </a:extLst>
          </a:blip>
          <a:srcRect/>
          <a:stretch>
            <a:fillRect/>
          </a:stretch>
        </p:blipFill>
        <p:spPr bwMode="auto">
          <a:xfrm>
            <a:off x="871016" y="2186583"/>
            <a:ext cx="7058025" cy="413385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Tree>
    <p:extLst>
      <p:ext uri="{BB962C8B-B14F-4D97-AF65-F5344CB8AC3E}">
        <p14:creationId xmlns:p14="http://schemas.microsoft.com/office/powerpoint/2010/main" xmlns="" val="1608029146"/>
      </p:ext>
    </p:extLst>
  </p:cSld>
  <p:clrMapOvr>
    <a:masterClrMapping/>
  </p:clrMapOvr>
  <p:transition>
    <p:cut/>
  </p:transition>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Computational </a:t>
            </a:r>
            <a:r>
              <a:rPr lang="en-US" altLang="zh-TW" dirty="0" smtClean="0"/>
              <a:t>Result</a:t>
            </a:r>
            <a:endParaRPr lang="zh-TW" altLang="en-US" dirty="0"/>
          </a:p>
        </p:txBody>
      </p:sp>
      <p:sp>
        <p:nvSpPr>
          <p:cNvPr id="3" name="內容版面配置區 2"/>
          <p:cNvSpPr>
            <a:spLocks noGrp="1"/>
          </p:cNvSpPr>
          <p:nvPr>
            <p:ph idx="1"/>
          </p:nvPr>
        </p:nvSpPr>
        <p:spPr/>
        <p:txBody>
          <a:bodyPr/>
          <a:lstStyle/>
          <a:p>
            <a:endParaRPr lang="zh-TW" altLang="en-US"/>
          </a:p>
        </p:txBody>
      </p:sp>
      <p:pic>
        <p:nvPicPr>
          <p:cNvPr id="16386" name="Picture 2"/>
          <p:cNvPicPr>
            <a:picLocks noChangeAspect="1" noChangeArrowheads="1"/>
          </p:cNvPicPr>
          <p:nvPr/>
        </p:nvPicPr>
        <p:blipFill>
          <a:blip r:embed="rId2">
            <a:extLst>
              <a:ext uri="{28A0092B-C50C-407E-A947-70E740481C1C}">
                <a14:useLocalDpi xmlns:a14="http://schemas.microsoft.com/office/drawing/2010/main" xmlns="" val="0"/>
              </a:ext>
            </a:extLst>
          </a:blip>
          <a:srcRect/>
          <a:stretch>
            <a:fillRect/>
          </a:stretch>
        </p:blipFill>
        <p:spPr bwMode="auto">
          <a:xfrm>
            <a:off x="1052513" y="2147888"/>
            <a:ext cx="7038975" cy="256222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Tree>
    <p:extLst>
      <p:ext uri="{BB962C8B-B14F-4D97-AF65-F5344CB8AC3E}">
        <p14:creationId xmlns:p14="http://schemas.microsoft.com/office/powerpoint/2010/main" xmlns="" val="2824211710"/>
      </p:ext>
    </p:extLst>
  </p:cSld>
  <p:clrMapOvr>
    <a:masterClrMapping/>
  </p:clrMapOvr>
  <p:transition>
    <p:cut/>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a:p>
        </p:txBody>
      </p:sp>
      <p:sp>
        <p:nvSpPr>
          <p:cNvPr id="3" name="內容版面配置區 2"/>
          <p:cNvSpPr>
            <a:spLocks noGrp="1"/>
          </p:cNvSpPr>
          <p:nvPr>
            <p:ph idx="1"/>
          </p:nvPr>
        </p:nvSpPr>
        <p:spPr/>
        <p:txBody>
          <a:bodyPr/>
          <a:lstStyle/>
          <a:p>
            <a:endParaRPr lang="zh-TW" altLang="en-US"/>
          </a:p>
        </p:txBody>
      </p:sp>
      <p:pic>
        <p:nvPicPr>
          <p:cNvPr id="20482" name="Picture 2"/>
          <p:cNvPicPr>
            <a:picLocks noChangeAspect="1" noChangeArrowheads="1"/>
          </p:cNvPicPr>
          <p:nvPr/>
        </p:nvPicPr>
        <p:blipFill>
          <a:blip r:embed="rId2">
            <a:extLst>
              <a:ext uri="{28A0092B-C50C-407E-A947-70E740481C1C}">
                <a14:useLocalDpi xmlns:a14="http://schemas.microsoft.com/office/drawing/2010/main" xmlns="" val="0"/>
              </a:ext>
            </a:extLst>
          </a:blip>
          <a:srcRect/>
          <a:stretch>
            <a:fillRect/>
          </a:stretch>
        </p:blipFill>
        <p:spPr bwMode="auto">
          <a:xfrm>
            <a:off x="2390775" y="1704975"/>
            <a:ext cx="4362450" cy="344805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Tree>
    <p:extLst>
      <p:ext uri="{BB962C8B-B14F-4D97-AF65-F5344CB8AC3E}">
        <p14:creationId xmlns:p14="http://schemas.microsoft.com/office/powerpoint/2010/main" xmlns="" val="445814398"/>
      </p:ext>
    </p:extLst>
  </p:cSld>
  <p:clrMapOvr>
    <a:masterClrMapping/>
  </p:clrMapOvr>
  <p:transition>
    <p:cut/>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a:p>
        </p:txBody>
      </p:sp>
      <p:sp>
        <p:nvSpPr>
          <p:cNvPr id="3" name="內容版面配置區 2"/>
          <p:cNvSpPr>
            <a:spLocks noGrp="1"/>
          </p:cNvSpPr>
          <p:nvPr>
            <p:ph idx="1"/>
          </p:nvPr>
        </p:nvSpPr>
        <p:spPr/>
        <p:txBody>
          <a:bodyPr/>
          <a:lstStyle/>
          <a:p>
            <a:endParaRPr lang="zh-TW" altLang="en-US"/>
          </a:p>
        </p:txBody>
      </p:sp>
      <p:pic>
        <p:nvPicPr>
          <p:cNvPr id="21506" name="Picture 2"/>
          <p:cNvPicPr>
            <a:picLocks noChangeAspect="1" noChangeArrowheads="1"/>
          </p:cNvPicPr>
          <p:nvPr/>
        </p:nvPicPr>
        <p:blipFill>
          <a:blip r:embed="rId2">
            <a:extLst>
              <a:ext uri="{28A0092B-C50C-407E-A947-70E740481C1C}">
                <a14:useLocalDpi xmlns:a14="http://schemas.microsoft.com/office/drawing/2010/main" xmlns="" val="0"/>
              </a:ext>
            </a:extLst>
          </a:blip>
          <a:srcRect/>
          <a:stretch>
            <a:fillRect/>
          </a:stretch>
        </p:blipFill>
        <p:spPr bwMode="auto">
          <a:xfrm>
            <a:off x="2305050" y="1647825"/>
            <a:ext cx="4533900" cy="356235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Tree>
    <p:extLst>
      <p:ext uri="{BB962C8B-B14F-4D97-AF65-F5344CB8AC3E}">
        <p14:creationId xmlns:p14="http://schemas.microsoft.com/office/powerpoint/2010/main" xmlns="" val="523882980"/>
      </p:ext>
    </p:extLst>
  </p:cSld>
  <p:clrMapOvr>
    <a:masterClrMapping/>
  </p:clrMapOvr>
  <p:transition>
    <p:cut/>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a:p>
        </p:txBody>
      </p:sp>
      <p:sp>
        <p:nvSpPr>
          <p:cNvPr id="3" name="內容版面配置區 2"/>
          <p:cNvSpPr>
            <a:spLocks noGrp="1"/>
          </p:cNvSpPr>
          <p:nvPr>
            <p:ph idx="1"/>
          </p:nvPr>
        </p:nvSpPr>
        <p:spPr/>
        <p:txBody>
          <a:bodyPr/>
          <a:lstStyle/>
          <a:p>
            <a:endParaRPr lang="zh-TW" altLang="en-US"/>
          </a:p>
        </p:txBody>
      </p:sp>
      <p:pic>
        <p:nvPicPr>
          <p:cNvPr id="22530" name="Picture 2"/>
          <p:cNvPicPr>
            <a:picLocks noChangeAspect="1" noChangeArrowheads="1"/>
          </p:cNvPicPr>
          <p:nvPr/>
        </p:nvPicPr>
        <p:blipFill>
          <a:blip r:embed="rId2">
            <a:extLst>
              <a:ext uri="{28A0092B-C50C-407E-A947-70E740481C1C}">
                <a14:useLocalDpi xmlns:a14="http://schemas.microsoft.com/office/drawing/2010/main" xmlns="" val="0"/>
              </a:ext>
            </a:extLst>
          </a:blip>
          <a:srcRect/>
          <a:stretch>
            <a:fillRect/>
          </a:stretch>
        </p:blipFill>
        <p:spPr bwMode="auto">
          <a:xfrm>
            <a:off x="2305050" y="1643063"/>
            <a:ext cx="4533900" cy="357187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Tree>
    <p:extLst>
      <p:ext uri="{BB962C8B-B14F-4D97-AF65-F5344CB8AC3E}">
        <p14:creationId xmlns:p14="http://schemas.microsoft.com/office/powerpoint/2010/main" xmlns="" val="3696364368"/>
      </p:ext>
    </p:extLst>
  </p:cSld>
  <p:clrMapOvr>
    <a:masterClrMapping/>
  </p:clrMapOvr>
  <p:transition>
    <p:cut/>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a:p>
        </p:txBody>
      </p:sp>
      <p:sp>
        <p:nvSpPr>
          <p:cNvPr id="3" name="內容版面配置區 2"/>
          <p:cNvSpPr>
            <a:spLocks noGrp="1"/>
          </p:cNvSpPr>
          <p:nvPr>
            <p:ph idx="1"/>
          </p:nvPr>
        </p:nvSpPr>
        <p:spPr/>
        <p:txBody>
          <a:bodyPr/>
          <a:lstStyle/>
          <a:p>
            <a:endParaRPr lang="zh-TW" altLang="en-US"/>
          </a:p>
        </p:txBody>
      </p:sp>
      <p:pic>
        <p:nvPicPr>
          <p:cNvPr id="23554" name="Picture 2"/>
          <p:cNvPicPr>
            <a:picLocks noChangeAspect="1" noChangeArrowheads="1"/>
          </p:cNvPicPr>
          <p:nvPr/>
        </p:nvPicPr>
        <p:blipFill>
          <a:blip r:embed="rId2">
            <a:extLst>
              <a:ext uri="{28A0092B-C50C-407E-A947-70E740481C1C}">
                <a14:useLocalDpi xmlns:a14="http://schemas.microsoft.com/office/drawing/2010/main" xmlns="" val="0"/>
              </a:ext>
            </a:extLst>
          </a:blip>
          <a:srcRect/>
          <a:stretch>
            <a:fillRect/>
          </a:stretch>
        </p:blipFill>
        <p:spPr bwMode="auto">
          <a:xfrm>
            <a:off x="2338388" y="1700213"/>
            <a:ext cx="4467225" cy="345757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Tree>
    <p:extLst>
      <p:ext uri="{BB962C8B-B14F-4D97-AF65-F5344CB8AC3E}">
        <p14:creationId xmlns:p14="http://schemas.microsoft.com/office/powerpoint/2010/main" xmlns="" val="835657854"/>
      </p:ext>
    </p:extLst>
  </p:cSld>
  <p:clrMapOvr>
    <a:masterClrMapping/>
  </p:clrMapOvr>
  <p:transition>
    <p:cut/>
  </p:transition>
</p:sld>
</file>

<file path=ppt/theme/theme1.xml><?xml version="1.0" encoding="utf-8"?>
<a:theme xmlns:a="http://schemas.openxmlformats.org/drawingml/2006/main" name="Office 佈景主題">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1333</TotalTime>
  <Words>611</Words>
  <Application>Microsoft Office PowerPoint</Application>
  <PresentationFormat>如螢幕大小 (4:3)</PresentationFormat>
  <Paragraphs>67</Paragraphs>
  <Slides>26</Slides>
  <Notes>1</Notes>
  <HiddenSlides>0</HiddenSlides>
  <MMClips>0</MMClips>
  <ScaleCrop>false</ScaleCrop>
  <HeadingPairs>
    <vt:vector size="4" baseType="variant">
      <vt:variant>
        <vt:lpstr>佈景主題</vt:lpstr>
      </vt:variant>
      <vt:variant>
        <vt:i4>1</vt:i4>
      </vt:variant>
      <vt:variant>
        <vt:lpstr>投影片標題</vt:lpstr>
      </vt:variant>
      <vt:variant>
        <vt:i4>26</vt:i4>
      </vt:variant>
    </vt:vector>
  </HeadingPairs>
  <TitlesOfParts>
    <vt:vector size="27" baseType="lpstr">
      <vt:lpstr>Office 佈景主題</vt:lpstr>
      <vt:lpstr> Fast algorithms to enumerate all common intervals of two permutations.  </vt:lpstr>
      <vt:lpstr>Abstract</vt:lpstr>
      <vt:lpstr>Abstract</vt:lpstr>
      <vt:lpstr>Common Interval</vt:lpstr>
      <vt:lpstr>Basic Algorithm(BSC)</vt:lpstr>
      <vt:lpstr>Example of BSC</vt:lpstr>
      <vt:lpstr>BSC</vt:lpstr>
      <vt:lpstr>Improved of BSC</vt:lpstr>
      <vt:lpstr>The Algorithm LHP</vt:lpstr>
      <vt:lpstr>The Algorithm LHP</vt:lpstr>
      <vt:lpstr>The Algorithm LHP</vt:lpstr>
      <vt:lpstr>The Algorithm LHP</vt:lpstr>
      <vt:lpstr>The Algorithm MNG</vt:lpstr>
      <vt:lpstr>投影片 14</vt:lpstr>
      <vt:lpstr>The Algorithm MNG</vt:lpstr>
      <vt:lpstr>The Algorithm MNG</vt:lpstr>
      <vt:lpstr>Algorithm RC</vt:lpstr>
      <vt:lpstr>Algorithm RC</vt:lpstr>
      <vt:lpstr>Algorithm RC</vt:lpstr>
      <vt:lpstr>Types of Problem Instances</vt:lpstr>
      <vt:lpstr>投影片 21</vt:lpstr>
      <vt:lpstr>Computational Result</vt:lpstr>
      <vt:lpstr>投影片 23</vt:lpstr>
      <vt:lpstr>投影片 24</vt:lpstr>
      <vt:lpstr>投影片 25</vt:lpstr>
      <vt:lpstr>投影片 26</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 new grouping genetic algorithm for clustering problems</dc:title>
  <dc:creator>Transcend</dc:creator>
  <cp:lastModifiedBy>admin</cp:lastModifiedBy>
  <cp:revision>90</cp:revision>
  <dcterms:created xsi:type="dcterms:W3CDTF">2013-02-25T04:11:30Z</dcterms:created>
  <dcterms:modified xsi:type="dcterms:W3CDTF">2013-04-23T12:04:21Z</dcterms:modified>
</cp:coreProperties>
</file>