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2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70" r:id="rId10"/>
    <p:sldId id="271" r:id="rId11"/>
    <p:sldId id="264" r:id="rId12"/>
    <p:sldId id="272" r:id="rId13"/>
    <p:sldId id="265" r:id="rId14"/>
    <p:sldId id="266" r:id="rId15"/>
    <p:sldId id="267" r:id="rId16"/>
    <p:sldId id="268" r:id="rId17"/>
    <p:sldId id="269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  <p:clrMru>
    <a:srgbClr val="FF3399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89907" autoAdjust="0"/>
  </p:normalViewPr>
  <p:slideViewPr>
    <p:cSldViewPr>
      <p:cViewPr varScale="1">
        <p:scale>
          <a:sx n="65" d="100"/>
          <a:sy n="65" d="100"/>
        </p:scale>
        <p:origin x="-666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299C27-EBD8-42A0-BF3A-5114D5063A4F}" type="datetimeFigureOut">
              <a:rPr lang="zh-TW" altLang="en-US" smtClean="0"/>
              <a:pPr/>
              <a:t>2013/11/19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C6709A-208B-463C-940C-439F3997D87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69707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97570-0B66-43AD-8FEC-64909F8A30C8}" type="datetimeFigureOut">
              <a:rPr lang="zh-TW" altLang="en-US" smtClean="0"/>
              <a:pPr/>
              <a:t>2013/11/19</a:t>
            </a:fld>
            <a:endParaRPr lang="zh-TW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8F79D4-FF8B-406D-858C-734F9E83E83B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97570-0B66-43AD-8FEC-64909F8A30C8}" type="datetimeFigureOut">
              <a:rPr lang="zh-TW" altLang="en-US" smtClean="0"/>
              <a:pPr/>
              <a:t>2013/11/19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F79D4-FF8B-406D-858C-734F9E83E83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97570-0B66-43AD-8FEC-64909F8A30C8}" type="datetimeFigureOut">
              <a:rPr lang="zh-TW" altLang="en-US" smtClean="0"/>
              <a:pPr/>
              <a:t>2013/11/19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F79D4-FF8B-406D-858C-734F9E83E83B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97570-0B66-43AD-8FEC-64909F8A30C8}" type="datetimeFigureOut">
              <a:rPr lang="zh-TW" altLang="en-US" smtClean="0"/>
              <a:pPr/>
              <a:t>2013/11/19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F79D4-FF8B-406D-858C-734F9E83E83B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97570-0B66-43AD-8FEC-64909F8A30C8}" type="datetimeFigureOut">
              <a:rPr lang="zh-TW" altLang="en-US" smtClean="0"/>
              <a:pPr/>
              <a:t>2013/11/19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F79D4-FF8B-406D-858C-734F9E83E83B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97570-0B66-43AD-8FEC-64909F8A30C8}" type="datetimeFigureOut">
              <a:rPr lang="zh-TW" altLang="en-US" smtClean="0"/>
              <a:pPr/>
              <a:t>2013/11/19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F79D4-FF8B-406D-858C-734F9E83E83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97570-0B66-43AD-8FEC-64909F8A30C8}" type="datetimeFigureOut">
              <a:rPr lang="zh-TW" altLang="en-US" smtClean="0"/>
              <a:pPr/>
              <a:t>2013/11/19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F79D4-FF8B-406D-858C-734F9E83E83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97570-0B66-43AD-8FEC-64909F8A30C8}" type="datetimeFigureOut">
              <a:rPr lang="zh-TW" altLang="en-US" smtClean="0"/>
              <a:pPr/>
              <a:t>2013/11/19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F79D4-FF8B-406D-858C-734F9E83E83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97570-0B66-43AD-8FEC-64909F8A30C8}" type="datetimeFigureOut">
              <a:rPr lang="zh-TW" altLang="en-US" smtClean="0"/>
              <a:pPr/>
              <a:t>2013/11/19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F79D4-FF8B-406D-858C-734F9E83E83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97570-0B66-43AD-8FEC-64909F8A30C8}" type="datetimeFigureOut">
              <a:rPr lang="zh-TW" altLang="en-US" smtClean="0"/>
              <a:pPr/>
              <a:t>2013/11/19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F79D4-FF8B-406D-858C-734F9E83E83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97570-0B66-43AD-8FEC-64909F8A30C8}" type="datetimeFigureOut">
              <a:rPr lang="zh-TW" altLang="en-US" smtClean="0"/>
              <a:pPr/>
              <a:t>2013/11/19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F79D4-FF8B-406D-858C-734F9E83E83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E7397570-0B66-43AD-8FEC-64909F8A30C8}" type="datetimeFigureOut">
              <a:rPr lang="zh-TW" altLang="en-US" smtClean="0"/>
              <a:pPr/>
              <a:t>2013/11/19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988F79D4-FF8B-406D-858C-734F9E83E83B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3568" y="1988840"/>
            <a:ext cx="7772400" cy="1470025"/>
          </a:xfrm>
        </p:spPr>
        <p:txBody>
          <a:bodyPr>
            <a:noAutofit/>
          </a:bodyPr>
          <a:lstStyle/>
          <a:p>
            <a:r>
              <a:rPr lang="en-US" altLang="zh-TW" sz="3600" dirty="0">
                <a:solidFill>
                  <a:schemeClr val="tx1"/>
                </a:solidFill>
                <a:latin typeface="+mj-ea"/>
              </a:rPr>
              <a:t>Disulﬁde connectivity prediction based on structural information</a:t>
            </a:r>
            <a:br>
              <a:rPr lang="en-US" altLang="zh-TW" sz="3600" dirty="0">
                <a:solidFill>
                  <a:schemeClr val="tx1"/>
                </a:solidFill>
                <a:latin typeface="+mj-ea"/>
              </a:rPr>
            </a:br>
            <a:r>
              <a:rPr lang="en-US" altLang="zh-TW" sz="3600" dirty="0">
                <a:solidFill>
                  <a:schemeClr val="tx1"/>
                </a:solidFill>
                <a:latin typeface="+mj-ea"/>
              </a:rPr>
              <a:t>without a prior knowledge of the bonding state of cysteines</a:t>
            </a:r>
            <a:endParaRPr lang="zh-TW" altLang="en-US" sz="3600" dirty="0">
              <a:solidFill>
                <a:schemeClr val="tx1"/>
              </a:solidFill>
              <a:latin typeface="+mj-ea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403648" y="3867299"/>
            <a:ext cx="6400800" cy="2376264"/>
          </a:xfrm>
        </p:spPr>
        <p:txBody>
          <a:bodyPr>
            <a:normAutofit/>
          </a:bodyPr>
          <a:lstStyle/>
          <a:p>
            <a:r>
              <a:rPr lang="en-US" altLang="zh-TW" dirty="0" err="1">
                <a:latin typeface="標楷體" pitchFamily="65" charset="-120"/>
                <a:ea typeface="標楷體" pitchFamily="65" charset="-120"/>
              </a:rPr>
              <a:t>Hsuan</a:t>
            </a:r>
            <a:r>
              <a:rPr lang="en-US" altLang="zh-TW" dirty="0">
                <a:latin typeface="標楷體" pitchFamily="65" charset="-120"/>
                <a:ea typeface="標楷體" pitchFamily="65" charset="-120"/>
              </a:rPr>
              <a:t>-Hung </a:t>
            </a:r>
            <a:r>
              <a:rPr lang="en-US" altLang="zh-TW" dirty="0" err="1" smtClean="0">
                <a:latin typeface="標楷體" pitchFamily="65" charset="-120"/>
                <a:ea typeface="標楷體" pitchFamily="65" charset="-120"/>
              </a:rPr>
              <a:t>Lin,Jiin-Chyr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 Hsu, </a:t>
            </a:r>
            <a:r>
              <a:rPr lang="en-US" altLang="zh-TW" dirty="0">
                <a:latin typeface="標楷體" pitchFamily="65" charset="-120"/>
                <a:ea typeface="標楷體" pitchFamily="65" charset="-120"/>
              </a:rPr>
              <a:t>Yuan-</a:t>
            </a:r>
            <a:r>
              <a:rPr lang="en-US" altLang="zh-TW" dirty="0" err="1">
                <a:latin typeface="標楷體" pitchFamily="65" charset="-120"/>
                <a:ea typeface="標楷體" pitchFamily="65" charset="-120"/>
              </a:rPr>
              <a:t>Nian</a:t>
            </a:r>
            <a:r>
              <a:rPr lang="en-US" altLang="zh-TW" dirty="0">
                <a:latin typeface="標楷體" pitchFamily="65" charset="-120"/>
                <a:ea typeface="標楷體" pitchFamily="65" charset="-120"/>
              </a:rPr>
              <a:t> 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Hsu, </a:t>
            </a:r>
            <a:r>
              <a:rPr lang="en-US" altLang="zh-TW" dirty="0" err="1">
                <a:latin typeface="標楷體" pitchFamily="65" charset="-120"/>
                <a:ea typeface="標楷體" pitchFamily="65" charset="-120"/>
              </a:rPr>
              <a:t>Ren-Hao</a:t>
            </a:r>
            <a:r>
              <a:rPr lang="en-US" altLang="zh-TW" dirty="0">
                <a:latin typeface="標楷體" pitchFamily="65" charset="-120"/>
                <a:ea typeface="標楷體" pitchFamily="65" charset="-120"/>
              </a:rPr>
              <a:t> </a:t>
            </a:r>
            <a:r>
              <a:rPr lang="en-US" altLang="zh-TW" dirty="0" err="1" smtClean="0">
                <a:latin typeface="標楷體" pitchFamily="65" charset="-120"/>
                <a:ea typeface="標楷體" pitchFamily="65" charset="-120"/>
              </a:rPr>
              <a:t>Pan,Yung</a:t>
            </a:r>
            <a:r>
              <a:rPr lang="en-US" altLang="zh-TW" smtClean="0">
                <a:latin typeface="標楷體" pitchFamily="65" charset="-120"/>
                <a:ea typeface="標楷體" pitchFamily="65" charset="-120"/>
              </a:rPr>
              <a:t>-Fu Chen, </a:t>
            </a:r>
            <a:r>
              <a:rPr lang="en-US" altLang="zh-TW" dirty="0">
                <a:latin typeface="標楷體" pitchFamily="65" charset="-120"/>
                <a:ea typeface="標楷體" pitchFamily="65" charset="-120"/>
              </a:rPr>
              <a:t>Lin-Yu 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Tseng</a:t>
            </a:r>
          </a:p>
          <a:p>
            <a:r>
              <a:rPr lang="en-US" altLang="zh-TW" dirty="0">
                <a:latin typeface="標楷體" pitchFamily="65" charset="-120"/>
                <a:ea typeface="標楷體" pitchFamily="65" charset="-120"/>
              </a:rPr>
              <a:t>Computers in Biology and Medicine 43 (2013) 1941–1948</a:t>
            </a:r>
            <a:endParaRPr lang="zh-TW" altLang="en-US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6479704" y="6207829"/>
            <a:ext cx="26642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Presenter: Fang Jun Yi</a:t>
            </a:r>
          </a:p>
          <a:p>
            <a:r>
              <a:rPr lang="en-US" altLang="zh-TW" dirty="0" smtClean="0"/>
              <a:t>Date: 2013.11.19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184873716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340768"/>
          </a:xfrm>
        </p:spPr>
        <p:txBody>
          <a:bodyPr/>
          <a:lstStyle/>
          <a:p>
            <a:r>
              <a:rPr lang="en-US" altLang="zh-TW" dirty="0" smtClean="0">
                <a:solidFill>
                  <a:schemeClr val="tx1"/>
                </a:solidFill>
                <a:latin typeface="+mj-ea"/>
              </a:rPr>
              <a:t>Abstract</a:t>
            </a:r>
            <a:endParaRPr lang="zh-TW" altLang="en-US" dirty="0">
              <a:solidFill>
                <a:schemeClr val="tx1"/>
              </a:solidFill>
              <a:latin typeface="+mj-ea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>
                <a:solidFill>
                  <a:schemeClr val="tx1"/>
                </a:solidFill>
                <a:latin typeface="+mj-ea"/>
                <a:ea typeface="+mj-ea"/>
              </a:rPr>
              <a:t>Previous studies predicted the disulﬁde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bonding patterns </a:t>
            </a:r>
            <a:r>
              <a:rPr lang="en-US" altLang="zh-TW" dirty="0">
                <a:solidFill>
                  <a:schemeClr val="tx1"/>
                </a:solidFill>
                <a:latin typeface="+mj-ea"/>
                <a:ea typeface="+mj-ea"/>
              </a:rPr>
              <a:t>of cysteines using a prior knowledge of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their bonding </a:t>
            </a:r>
            <a:r>
              <a:rPr lang="en-US" altLang="zh-TW" dirty="0">
                <a:solidFill>
                  <a:schemeClr val="tx1"/>
                </a:solidFill>
                <a:latin typeface="+mj-ea"/>
                <a:ea typeface="+mj-ea"/>
              </a:rPr>
              <a:t>states.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In </a:t>
            </a:r>
            <a:r>
              <a:rPr lang="en-US" altLang="zh-TW" dirty="0">
                <a:solidFill>
                  <a:schemeClr val="tx1"/>
                </a:solidFill>
                <a:latin typeface="+mj-ea"/>
                <a:ea typeface="+mj-ea"/>
              </a:rPr>
              <a:t>this study, we propose a method that is based on the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 ensemble </a:t>
            </a:r>
            <a:r>
              <a:rPr lang="en-US" altLang="zh-TW" dirty="0">
                <a:solidFill>
                  <a:schemeClr val="tx1"/>
                </a:solidFill>
                <a:latin typeface="+mj-ea"/>
                <a:ea typeface="+mj-ea"/>
              </a:rPr>
              <a:t>support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vector  machine </a:t>
            </a:r>
            <a:r>
              <a:rPr lang="en-US" altLang="zh-TW" dirty="0">
                <a:solidFill>
                  <a:schemeClr val="tx1"/>
                </a:solidFill>
                <a:latin typeface="+mj-ea"/>
                <a:ea typeface="+mj-ea"/>
              </a:rPr>
              <a:t>(SVM), with the structural features of cysteines extracted without any prior knowledge of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their bonding </a:t>
            </a:r>
            <a:r>
              <a:rPr lang="en-US" altLang="zh-TW" dirty="0">
                <a:solidFill>
                  <a:schemeClr val="tx1"/>
                </a:solidFill>
                <a:latin typeface="+mj-ea"/>
                <a:ea typeface="+mj-ea"/>
              </a:rPr>
              <a:t>states. </a:t>
            </a:r>
            <a:endParaRPr lang="en-US" altLang="zh-TW" dirty="0" smtClean="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This </a:t>
            </a:r>
            <a:r>
              <a:rPr lang="en-US" altLang="zh-TW" dirty="0">
                <a:solidFill>
                  <a:schemeClr val="tx1"/>
                </a:solidFill>
                <a:latin typeface="+mj-ea"/>
                <a:ea typeface="+mj-ea"/>
              </a:rPr>
              <a:t>method is useful for improving the predictive performance of disulﬁde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bonding patterns. For </a:t>
            </a:r>
            <a:r>
              <a:rPr lang="en-US" altLang="zh-TW" dirty="0">
                <a:solidFill>
                  <a:schemeClr val="tx1"/>
                </a:solidFill>
                <a:latin typeface="+mj-ea"/>
                <a:ea typeface="+mj-ea"/>
              </a:rPr>
              <a:t>comparison, the proposed method was tested with the same dataset SPX that was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adopted in </a:t>
            </a:r>
            <a:r>
              <a:rPr lang="en-US" altLang="zh-TW" dirty="0">
                <a:solidFill>
                  <a:schemeClr val="tx1"/>
                </a:solidFill>
                <a:latin typeface="+mj-ea"/>
                <a:ea typeface="+mj-ea"/>
              </a:rPr>
              <a:t>previous studies.</a:t>
            </a:r>
            <a:endParaRPr lang="zh-TW" altLang="en-US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33027495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  <a:latin typeface="+mj-ea"/>
              </a:rPr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>
                <a:solidFill>
                  <a:schemeClr val="tx1"/>
                </a:solidFill>
                <a:latin typeface="+mj-ea"/>
                <a:ea typeface="+mj-ea"/>
              </a:rPr>
              <a:t> The experimental results demonstrate that bridge classiﬁcation and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disulﬁde connectivity </a:t>
            </a:r>
            <a:r>
              <a:rPr lang="en-US" altLang="zh-TW" dirty="0">
                <a:solidFill>
                  <a:schemeClr val="tx1"/>
                </a:solidFill>
                <a:latin typeface="+mj-ea"/>
                <a:ea typeface="+mj-ea"/>
              </a:rPr>
              <a:t>predictions achieve 96.5% and 89.2% accuracy, respectively, using the ensemble SVM model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, which </a:t>
            </a:r>
            <a:r>
              <a:rPr lang="en-US" altLang="zh-TW" dirty="0">
                <a:solidFill>
                  <a:schemeClr val="tx1"/>
                </a:solidFill>
                <a:latin typeface="+mj-ea"/>
                <a:ea typeface="+mj-ea"/>
              </a:rPr>
              <a:t>outperforms the traditional method (51.5% and 51.0%,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 respectively</a:t>
            </a:r>
            <a:r>
              <a:rPr lang="en-US" altLang="zh-TW" dirty="0">
                <a:solidFill>
                  <a:schemeClr val="tx1"/>
                </a:solidFill>
                <a:latin typeface="+mj-ea"/>
                <a:ea typeface="+mj-ea"/>
              </a:rPr>
              <a:t>) and the model that is based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on a </a:t>
            </a:r>
            <a:r>
              <a:rPr lang="en-US" altLang="zh-TW" dirty="0">
                <a:solidFill>
                  <a:schemeClr val="tx1"/>
                </a:solidFill>
                <a:latin typeface="+mj-ea"/>
                <a:ea typeface="+mj-ea"/>
              </a:rPr>
              <a:t>single-kernel SVM classiﬁer (94.6% and 84.4%, respectively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).</a:t>
            </a:r>
          </a:p>
          <a:p>
            <a:r>
              <a:rPr lang="en-US" altLang="zh-TW" dirty="0">
                <a:solidFill>
                  <a:schemeClr val="tx1"/>
                </a:solidFill>
                <a:latin typeface="+mj-ea"/>
                <a:ea typeface="+mj-ea"/>
              </a:rPr>
              <a:t> For protein chain and residue classiﬁcations, the sensitivity, speciﬁcity, and accuracy of ensemble and single-kernel SVM approaches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are better than </a:t>
            </a:r>
            <a:r>
              <a:rPr lang="en-US" altLang="zh-TW" dirty="0">
                <a:solidFill>
                  <a:schemeClr val="tx1"/>
                </a:solidFill>
                <a:latin typeface="+mj-ea"/>
                <a:ea typeface="+mj-ea"/>
              </a:rPr>
              <a:t>those of the traditional methods. The predictive performances of the ensemble SVM and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single-kernel </a:t>
            </a:r>
            <a:r>
              <a:rPr lang="en-US" altLang="zh-TW" dirty="0">
                <a:solidFill>
                  <a:schemeClr val="tx1"/>
                </a:solidFill>
                <a:latin typeface="+mj-ea"/>
                <a:ea typeface="+mj-ea"/>
              </a:rPr>
              <a:t>models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are identical</a:t>
            </a:r>
            <a:r>
              <a:rPr lang="en-US" altLang="zh-TW" dirty="0">
                <a:solidFill>
                  <a:schemeClr val="tx1"/>
                </a:solidFill>
                <a:latin typeface="+mj-ea"/>
                <a:ea typeface="+mj-ea"/>
              </a:rPr>
              <a:t>, indicating that the ensemble model can converge to the single-kernel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model for </a:t>
            </a:r>
            <a:r>
              <a:rPr lang="en-US" altLang="zh-TW" dirty="0">
                <a:solidFill>
                  <a:schemeClr val="tx1"/>
                </a:solidFill>
                <a:latin typeface="+mj-ea"/>
                <a:ea typeface="+mj-ea"/>
              </a:rPr>
              <a:t>some applications.</a:t>
            </a:r>
            <a:endParaRPr lang="zh-TW" altLang="en-US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87756927"/>
      </p:ext>
    </p:extLst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340768"/>
          </a:xfrm>
        </p:spPr>
        <p:txBody>
          <a:bodyPr/>
          <a:lstStyle/>
          <a:p>
            <a:r>
              <a:rPr lang="en-US" altLang="zh-TW" sz="3600" dirty="0" smtClean="0">
                <a:solidFill>
                  <a:schemeClr val="tx1"/>
                </a:solidFill>
              </a:rPr>
              <a:t>Amino acid(</a:t>
            </a:r>
            <a:r>
              <a:rPr lang="zh-TW" altLang="en-US" sz="3600" dirty="0">
                <a:effectLst/>
              </a:rPr>
              <a:t>氨基</a:t>
            </a:r>
            <a:r>
              <a:rPr lang="zh-TW" altLang="en-US" sz="3600" dirty="0" smtClean="0">
                <a:effectLst/>
              </a:rPr>
              <a:t>酸</a:t>
            </a:r>
            <a:r>
              <a:rPr lang="en-US" altLang="zh-TW" sz="3600" dirty="0" smtClean="0">
                <a:solidFill>
                  <a:schemeClr val="tx1"/>
                </a:solidFill>
              </a:rPr>
              <a:t>)</a:t>
            </a:r>
            <a:endParaRPr lang="zh-TW" altLang="en-US" sz="3600" dirty="0">
              <a:solidFill>
                <a:schemeClr val="tx1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713387"/>
          </a:xfrm>
        </p:spPr>
        <p:txBody>
          <a:bodyPr>
            <a:normAutofit lnSpcReduction="10000"/>
          </a:bodyPr>
          <a:lstStyle/>
          <a:p>
            <a:r>
              <a:rPr lang="zh-TW" altLang="en-US" dirty="0">
                <a:solidFill>
                  <a:schemeClr val="tx1"/>
                </a:solidFill>
              </a:rPr>
              <a:t>構成蛋白質的基本單</a:t>
            </a:r>
            <a:r>
              <a:rPr lang="zh-TW" altLang="en-US" dirty="0" smtClean="0">
                <a:solidFill>
                  <a:schemeClr val="tx1"/>
                </a:solidFill>
              </a:rPr>
              <a:t>位，圖中的</a:t>
            </a:r>
            <a:r>
              <a:rPr lang="en-US" altLang="zh-TW" b="1" dirty="0" smtClean="0">
                <a:solidFill>
                  <a:srgbClr val="FF3399"/>
                </a:solidFill>
              </a:rPr>
              <a:t>R</a:t>
            </a:r>
            <a:r>
              <a:rPr lang="zh-TW" altLang="en-US" dirty="0" smtClean="0">
                <a:solidFill>
                  <a:schemeClr val="tx1"/>
                </a:solidFill>
              </a:rPr>
              <a:t>即為</a:t>
            </a:r>
            <a:r>
              <a:rPr lang="en-US" altLang="zh-TW" dirty="0" smtClean="0">
                <a:solidFill>
                  <a:schemeClr val="tx1"/>
                </a:solidFill>
              </a:rPr>
              <a:t>residue(</a:t>
            </a:r>
            <a:r>
              <a:rPr lang="zh-TW" altLang="en-US" dirty="0" smtClean="0">
                <a:solidFill>
                  <a:schemeClr val="tx1"/>
                </a:solidFill>
              </a:rPr>
              <a:t>殘基</a:t>
            </a:r>
            <a:r>
              <a:rPr lang="en-US" altLang="zh-TW" dirty="0" smtClean="0">
                <a:solidFill>
                  <a:schemeClr val="tx1"/>
                </a:solidFill>
              </a:rPr>
              <a:t>)</a:t>
            </a:r>
            <a:r>
              <a:rPr lang="zh-TW" altLang="en-US" dirty="0" smtClean="0">
                <a:solidFill>
                  <a:schemeClr val="tx1"/>
                </a:solidFill>
              </a:rPr>
              <a:t>，不同的</a:t>
            </a:r>
            <a:r>
              <a:rPr lang="en-US" altLang="zh-TW" dirty="0">
                <a:solidFill>
                  <a:schemeClr val="tx1"/>
                </a:solidFill>
              </a:rPr>
              <a:t>Amino </a:t>
            </a:r>
            <a:r>
              <a:rPr lang="en-US" altLang="zh-TW" dirty="0" smtClean="0">
                <a:solidFill>
                  <a:schemeClr val="tx1"/>
                </a:solidFill>
              </a:rPr>
              <a:t>acid</a:t>
            </a:r>
            <a:r>
              <a:rPr lang="zh-TW" altLang="en-US" dirty="0" smtClean="0">
                <a:solidFill>
                  <a:schemeClr val="tx1"/>
                </a:solidFill>
              </a:rPr>
              <a:t>的</a:t>
            </a:r>
            <a:r>
              <a:rPr lang="zh-TW" altLang="en-US" dirty="0">
                <a:solidFill>
                  <a:schemeClr val="tx1"/>
                </a:solidFill>
              </a:rPr>
              <a:t>差異</a:t>
            </a:r>
            <a:r>
              <a:rPr lang="zh-TW" altLang="en-US" dirty="0" smtClean="0">
                <a:solidFill>
                  <a:schemeClr val="tx1"/>
                </a:solidFill>
              </a:rPr>
              <a:t>即為具有不同的</a:t>
            </a:r>
            <a:r>
              <a:rPr lang="en-US" altLang="zh-TW" dirty="0" smtClean="0">
                <a:solidFill>
                  <a:schemeClr val="tx1"/>
                </a:solidFill>
              </a:rPr>
              <a:t>residue</a:t>
            </a:r>
          </a:p>
          <a:p>
            <a:endParaRPr lang="en-US" altLang="zh-TW" dirty="0">
              <a:solidFill>
                <a:schemeClr val="tx1"/>
              </a:solidFill>
              <a:latin typeface="+mj-ea"/>
              <a:ea typeface="+mj-ea"/>
            </a:endParaRPr>
          </a:p>
          <a:p>
            <a:endParaRPr lang="en-US" altLang="zh-TW" dirty="0" smtClean="0">
              <a:solidFill>
                <a:schemeClr val="tx1"/>
              </a:solidFill>
              <a:latin typeface="+mj-ea"/>
              <a:ea typeface="+mj-ea"/>
            </a:endParaRPr>
          </a:p>
          <a:p>
            <a:endParaRPr lang="en-US" altLang="zh-TW" dirty="0">
              <a:solidFill>
                <a:schemeClr val="tx1"/>
              </a:solidFill>
              <a:latin typeface="+mj-ea"/>
              <a:ea typeface="+mj-ea"/>
            </a:endParaRPr>
          </a:p>
          <a:p>
            <a:endParaRPr lang="en-US" altLang="zh-TW" dirty="0" smtClean="0">
              <a:solidFill>
                <a:schemeClr val="tx1"/>
              </a:solidFill>
              <a:latin typeface="+mj-ea"/>
              <a:ea typeface="+mj-ea"/>
            </a:endParaRPr>
          </a:p>
          <a:p>
            <a:endParaRPr lang="en-US" altLang="zh-TW" dirty="0">
              <a:solidFill>
                <a:schemeClr val="tx1"/>
              </a:solidFill>
              <a:latin typeface="+mj-ea"/>
              <a:ea typeface="+mj-ea"/>
            </a:endParaRPr>
          </a:p>
          <a:p>
            <a:endParaRPr lang="en-US" altLang="zh-TW" dirty="0" smtClean="0">
              <a:solidFill>
                <a:schemeClr val="tx1"/>
              </a:solidFill>
              <a:latin typeface="+mj-ea"/>
              <a:ea typeface="+mj-ea"/>
            </a:endParaRPr>
          </a:p>
          <a:p>
            <a:endParaRPr lang="en-US" altLang="zh-TW" dirty="0">
              <a:solidFill>
                <a:schemeClr val="tx1"/>
              </a:solidFill>
              <a:latin typeface="+mj-ea"/>
              <a:ea typeface="+mj-ea"/>
            </a:endParaRPr>
          </a:p>
          <a:p>
            <a:endParaRPr lang="en-US" altLang="zh-TW" dirty="0" smtClean="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zh-TW" dirty="0">
                <a:solidFill>
                  <a:schemeClr val="tx1"/>
                </a:solidFill>
              </a:rPr>
              <a:t>&gt;1A0M:A|PDBID|CHAIN|SEQUENCE </a:t>
            </a:r>
            <a:r>
              <a:rPr lang="en-US" altLang="zh-TW" dirty="0" smtClean="0">
                <a:solidFill>
                  <a:schemeClr val="tx1"/>
                </a:solidFill>
              </a:rPr>
              <a:t>     (from PDB)</a:t>
            </a:r>
            <a:r>
              <a:rPr lang="zh-TW" altLang="en-US" dirty="0" smtClean="0">
                <a:solidFill>
                  <a:schemeClr val="tx1"/>
                </a:solidFill>
              </a:rPr>
              <a:t>  </a:t>
            </a:r>
            <a:r>
              <a:rPr lang="en-US" altLang="zh-TW" dirty="0" smtClean="0">
                <a:solidFill>
                  <a:schemeClr val="tx1"/>
                </a:solidFill>
              </a:rPr>
              <a:t>GCCSDPRCNMNNPDYCX</a:t>
            </a:r>
            <a:endParaRPr lang="zh-TW" altLang="en-US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pic>
        <p:nvPicPr>
          <p:cNvPr id="4" name="Picture 2" descr="http://upload.wikimedia.org/wikipedia/commons/7/74/Alpha-amino-acid-general-2D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699792" y="2348880"/>
            <a:ext cx="3960440" cy="2667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044890152"/>
      </p:ext>
    </p:extLst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600" dirty="0" smtClean="0">
                <a:solidFill>
                  <a:schemeClr val="tx1"/>
                </a:solidFill>
              </a:rPr>
              <a:t>Fours problems of disulfide bond prediction</a:t>
            </a:r>
            <a:endParaRPr lang="zh-TW" altLang="en-US" sz="3600" dirty="0">
              <a:solidFill>
                <a:schemeClr val="tx1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95536" y="2060848"/>
            <a:ext cx="8229600" cy="4525963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arenR"/>
            </a:pPr>
            <a:r>
              <a:rPr lang="en-US" altLang="zh-TW" dirty="0">
                <a:solidFill>
                  <a:schemeClr val="tx1"/>
                </a:solidFill>
                <a:latin typeface="+mj-ea"/>
                <a:ea typeface="+mj-ea"/>
              </a:rPr>
              <a:t> protein chain classiﬁcation to determine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whether a </a:t>
            </a:r>
            <a:r>
              <a:rPr lang="en-US" altLang="zh-TW" dirty="0">
                <a:solidFill>
                  <a:schemeClr val="tx1"/>
                </a:solidFill>
                <a:latin typeface="+mj-ea"/>
                <a:ea typeface="+mj-ea"/>
              </a:rPr>
              <a:t>protein contains disulﬁde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bridges.</a:t>
            </a:r>
          </a:p>
          <a:p>
            <a:pPr marL="457200" indent="-457200">
              <a:buFont typeface="+mj-lt"/>
              <a:buAutoNum type="arabicParenR"/>
            </a:pPr>
            <a:endParaRPr lang="en-US" altLang="zh-TW" dirty="0" smtClean="0">
              <a:solidFill>
                <a:schemeClr val="tx1"/>
              </a:solidFill>
              <a:latin typeface="+mj-ea"/>
              <a:ea typeface="+mj-ea"/>
            </a:endParaRPr>
          </a:p>
          <a:p>
            <a:pPr marL="457200" indent="-457200">
              <a:buFont typeface="+mj-lt"/>
              <a:buAutoNum type="arabicParenR"/>
            </a:pPr>
            <a:r>
              <a:rPr lang="en-US" altLang="zh-TW" dirty="0">
                <a:solidFill>
                  <a:schemeClr val="tx1"/>
                </a:solidFill>
                <a:latin typeface="+mj-ea"/>
                <a:ea typeface="+mj-ea"/>
              </a:rPr>
              <a:t>residue classiﬁcation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to categorize </a:t>
            </a:r>
            <a:r>
              <a:rPr lang="en-US" altLang="zh-TW" dirty="0">
                <a:solidFill>
                  <a:schemeClr val="tx1"/>
                </a:solidFill>
                <a:latin typeface="+mj-ea"/>
                <a:ea typeface="+mj-ea"/>
              </a:rPr>
              <a:t>the bonding state of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cysteines.</a:t>
            </a:r>
          </a:p>
          <a:p>
            <a:pPr marL="457200" indent="-457200">
              <a:buFont typeface="+mj-lt"/>
              <a:buAutoNum type="arabicParenR"/>
            </a:pPr>
            <a:endParaRPr lang="en-US" altLang="zh-TW" dirty="0" smtClean="0">
              <a:solidFill>
                <a:schemeClr val="tx1"/>
              </a:solidFill>
              <a:latin typeface="+mj-ea"/>
              <a:ea typeface="+mj-ea"/>
            </a:endParaRPr>
          </a:p>
          <a:p>
            <a:pPr marL="457200" indent="-457200">
              <a:buFont typeface="+mj-lt"/>
              <a:buAutoNum type="arabicParenR"/>
            </a:pPr>
            <a:r>
              <a:rPr lang="en-US" altLang="zh-TW" dirty="0">
                <a:solidFill>
                  <a:schemeClr val="tx1"/>
                </a:solidFill>
                <a:latin typeface="+mj-ea"/>
                <a:ea typeface="+mj-ea"/>
              </a:rPr>
              <a:t>bridge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classiﬁcation to </a:t>
            </a:r>
            <a:r>
              <a:rPr lang="en-US" altLang="zh-TW" dirty="0">
                <a:solidFill>
                  <a:schemeClr val="tx1"/>
                </a:solidFill>
                <a:latin typeface="+mj-ea"/>
                <a:ea typeface="+mj-ea"/>
              </a:rPr>
              <a:t>predict whether a pair of cysteines is linked by a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disulﬁde bond.</a:t>
            </a:r>
          </a:p>
          <a:p>
            <a:pPr marL="457200" indent="-457200">
              <a:buFont typeface="+mj-lt"/>
              <a:buAutoNum type="arabicParenR"/>
            </a:pPr>
            <a:endParaRPr lang="en-US" altLang="zh-TW" dirty="0" smtClean="0">
              <a:solidFill>
                <a:schemeClr val="tx1"/>
              </a:solidFill>
              <a:latin typeface="+mj-ea"/>
              <a:ea typeface="+mj-ea"/>
            </a:endParaRPr>
          </a:p>
          <a:p>
            <a:pPr marL="457200" indent="-457200">
              <a:buFont typeface="+mj-lt"/>
              <a:buAutoNum type="arabicParenR"/>
            </a:pPr>
            <a:r>
              <a:rPr lang="en-US" altLang="zh-TW" dirty="0">
                <a:solidFill>
                  <a:schemeClr val="tx1"/>
                </a:solidFill>
                <a:latin typeface="+mj-ea"/>
                <a:ea typeface="+mj-ea"/>
              </a:rPr>
              <a:t>disulﬁde bonding pattern prediction to predict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the cysteine </a:t>
            </a:r>
            <a:r>
              <a:rPr lang="en-US" altLang="zh-TW" dirty="0">
                <a:solidFill>
                  <a:schemeClr val="tx1"/>
                </a:solidFill>
                <a:latin typeface="+mj-ea"/>
                <a:ea typeface="+mj-ea"/>
              </a:rPr>
              <a:t>pairs that are bonded to each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other.</a:t>
            </a:r>
            <a:endParaRPr lang="zh-TW" altLang="en-US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94779927"/>
      </p:ext>
    </p:extLst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1484784"/>
          </a:xfrm>
        </p:spPr>
        <p:txBody>
          <a:bodyPr/>
          <a:lstStyle/>
          <a:p>
            <a:r>
              <a:rPr lang="en-US" altLang="zh-TW" sz="3600" dirty="0" smtClean="0">
                <a:solidFill>
                  <a:schemeClr val="tx1"/>
                </a:solidFill>
              </a:rPr>
              <a:t>Three </a:t>
            </a:r>
            <a:r>
              <a:rPr lang="en-US" altLang="zh-TW" sz="3600" dirty="0">
                <a:solidFill>
                  <a:schemeClr val="tx1"/>
                </a:solidFill>
              </a:rPr>
              <a:t>categories of </a:t>
            </a:r>
            <a:r>
              <a:rPr lang="en-US" altLang="zh-TW" sz="3600" dirty="0" smtClean="0">
                <a:solidFill>
                  <a:schemeClr val="tx1"/>
                </a:solidFill>
              </a:rPr>
              <a:t>recent </a:t>
            </a:r>
            <a:r>
              <a:rPr lang="en-US" altLang="zh-TW" sz="3600" dirty="0">
                <a:solidFill>
                  <a:schemeClr val="tx1"/>
                </a:solidFill>
              </a:rPr>
              <a:t>approaches</a:t>
            </a:r>
            <a:endParaRPr lang="zh-TW" altLang="en-US" sz="3600" dirty="0">
              <a:solidFill>
                <a:schemeClr val="tx1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2060848"/>
            <a:ext cx="8229600" cy="4065315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altLang="zh-TW" dirty="0">
                <a:solidFill>
                  <a:schemeClr val="tx1"/>
                </a:solidFill>
                <a:latin typeface="+mj-ea"/>
                <a:ea typeface="+mj-ea"/>
              </a:rPr>
              <a:t>methods for predicting the cysteine bonding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states.</a:t>
            </a:r>
          </a:p>
          <a:p>
            <a:pPr marL="457200" indent="-457200">
              <a:buFont typeface="+mj-lt"/>
              <a:buAutoNum type="arabicPeriod"/>
            </a:pPr>
            <a:endParaRPr lang="en-US" altLang="zh-TW" dirty="0">
              <a:solidFill>
                <a:schemeClr val="tx1"/>
              </a:solidFill>
              <a:latin typeface="+mj-ea"/>
              <a:ea typeface="+mj-ea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TW" dirty="0">
                <a:solidFill>
                  <a:schemeClr val="tx1"/>
                </a:solidFill>
                <a:latin typeface="+mj-ea"/>
                <a:ea typeface="+mj-ea"/>
              </a:rPr>
              <a:t>approaches for predicting the disulﬁde bonding patterns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with a </a:t>
            </a:r>
            <a:r>
              <a:rPr lang="en-US" altLang="zh-TW" dirty="0">
                <a:solidFill>
                  <a:schemeClr val="tx1"/>
                </a:solidFill>
                <a:latin typeface="+mj-ea"/>
                <a:ea typeface="+mj-ea"/>
              </a:rPr>
              <a:t>prior knowledge of the cysteine bonding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states.</a:t>
            </a:r>
          </a:p>
          <a:p>
            <a:pPr marL="457200" indent="-457200">
              <a:buFont typeface="+mj-lt"/>
              <a:buAutoNum type="arabicPeriod"/>
            </a:pPr>
            <a:endParaRPr lang="en-US" altLang="zh-TW" dirty="0">
              <a:solidFill>
                <a:schemeClr val="tx1"/>
              </a:solidFill>
              <a:latin typeface="+mj-ea"/>
              <a:ea typeface="+mj-ea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TW" dirty="0">
                <a:solidFill>
                  <a:schemeClr val="tx1"/>
                </a:solidFill>
                <a:latin typeface="+mj-ea"/>
                <a:ea typeface="+mj-ea"/>
              </a:rPr>
              <a:t>methods for predicting both cysteine bonding states and disulﬁde bonding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patterns.</a:t>
            </a:r>
            <a:endParaRPr lang="zh-TW" altLang="en-US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44890152"/>
      </p:ext>
    </p:extLst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600" dirty="0" smtClean="0">
                <a:solidFill>
                  <a:schemeClr val="tx1"/>
                </a:solidFill>
              </a:rPr>
              <a:t>Methodology</a:t>
            </a:r>
            <a:endParaRPr lang="zh-TW" altLang="en-US" sz="3600" dirty="0">
              <a:solidFill>
                <a:schemeClr val="tx1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In this study, for each </a:t>
            </a:r>
            <a:r>
              <a:rPr lang="en-US" altLang="zh-TW" dirty="0">
                <a:solidFill>
                  <a:schemeClr val="tx1"/>
                </a:solidFill>
                <a:latin typeface="+mj-ea"/>
              </a:rPr>
              <a:t>cysteine pairs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</a:rPr>
              <a:t>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we use </a:t>
            </a:r>
            <a:r>
              <a:rPr lang="en-US" altLang="zh-TW" u="sng" dirty="0" smtClean="0">
                <a:solidFill>
                  <a:schemeClr val="tx1"/>
                </a:solidFill>
                <a:latin typeface="+mj-ea"/>
                <a:ea typeface="+mj-ea"/>
              </a:rPr>
              <a:t>normalized pair distance(NPD)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as the feature</a:t>
            </a:r>
            <a:r>
              <a:rPr lang="en-US" altLang="zh-TW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and </a:t>
            </a:r>
            <a:r>
              <a:rPr lang="en-US" altLang="zh-TW" u="sng" dirty="0" smtClean="0">
                <a:solidFill>
                  <a:schemeClr val="tx1"/>
                </a:solidFill>
                <a:latin typeface="+mj-ea"/>
                <a:ea typeface="+mj-ea"/>
              </a:rPr>
              <a:t>ensemble </a:t>
            </a:r>
            <a:r>
              <a:rPr lang="en-US" altLang="zh-TW" u="sng" dirty="0">
                <a:solidFill>
                  <a:schemeClr val="tx1"/>
                </a:solidFill>
                <a:latin typeface="+mj-ea"/>
                <a:ea typeface="+mj-ea"/>
              </a:rPr>
              <a:t>SVM</a:t>
            </a:r>
            <a:r>
              <a:rPr lang="en-US" altLang="zh-TW" dirty="0">
                <a:solidFill>
                  <a:schemeClr val="tx1"/>
                </a:solidFill>
                <a:latin typeface="+mj-ea"/>
                <a:ea typeface="+mj-ea"/>
              </a:rPr>
              <a:t> model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to </a:t>
            </a:r>
            <a:r>
              <a:rPr lang="en-US" altLang="zh-TW" dirty="0">
                <a:solidFill>
                  <a:schemeClr val="tx1"/>
                </a:solidFill>
                <a:latin typeface="+mj-ea"/>
                <a:ea typeface="+mj-ea"/>
              </a:rPr>
              <a:t>compute the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connectivity probabilities </a:t>
            </a:r>
            <a:r>
              <a:rPr lang="en-US" altLang="zh-TW" dirty="0">
                <a:solidFill>
                  <a:schemeClr val="tx1"/>
                </a:solidFill>
                <a:latin typeface="+mj-ea"/>
                <a:ea typeface="+mj-ea"/>
              </a:rPr>
              <a:t>of cysteine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pairs.</a:t>
            </a:r>
          </a:p>
          <a:p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The </a:t>
            </a:r>
            <a:r>
              <a:rPr lang="en-US" altLang="zh-TW" u="sng" dirty="0" smtClean="0">
                <a:solidFill>
                  <a:schemeClr val="tx1"/>
                </a:solidFill>
                <a:latin typeface="+mj-ea"/>
                <a:ea typeface="+mj-ea"/>
              </a:rPr>
              <a:t>multiple </a:t>
            </a:r>
            <a:r>
              <a:rPr lang="en-US" altLang="zh-TW" u="sng" dirty="0">
                <a:solidFill>
                  <a:schemeClr val="tx1"/>
                </a:solidFill>
                <a:latin typeface="+mj-ea"/>
                <a:ea typeface="+mj-ea"/>
              </a:rPr>
              <a:t>trajectory search </a:t>
            </a:r>
            <a:r>
              <a:rPr lang="en-US" altLang="zh-TW" u="sng" dirty="0" smtClean="0">
                <a:solidFill>
                  <a:schemeClr val="tx1"/>
                </a:solidFill>
                <a:latin typeface="+mj-ea"/>
                <a:ea typeface="+mj-ea"/>
              </a:rPr>
              <a:t>(MTS)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was </a:t>
            </a:r>
            <a:r>
              <a:rPr lang="en-US" altLang="zh-TW" dirty="0">
                <a:solidFill>
                  <a:schemeClr val="tx1"/>
                </a:solidFill>
                <a:latin typeface="+mj-ea"/>
                <a:ea typeface="+mj-ea"/>
              </a:rPr>
              <a:t>used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to evolve </a:t>
            </a:r>
            <a:r>
              <a:rPr lang="en-US" altLang="zh-TW" dirty="0">
                <a:solidFill>
                  <a:schemeClr val="tx1"/>
                </a:solidFill>
                <a:latin typeface="+mj-ea"/>
                <a:ea typeface="+mj-ea"/>
              </a:rPr>
              <a:t>the SVM parameters, i.e., C and </a:t>
            </a:r>
            <a:r>
              <a:rPr lang="el-GR" altLang="zh-TW" dirty="0">
                <a:solidFill>
                  <a:schemeClr val="tx1"/>
                </a:solidFill>
                <a:latin typeface="+mj-ea"/>
                <a:ea typeface="+mj-ea"/>
              </a:rPr>
              <a:t>γ, </a:t>
            </a:r>
            <a:r>
              <a:rPr lang="en-US" altLang="zh-TW" dirty="0">
                <a:solidFill>
                  <a:schemeClr val="tx1"/>
                </a:solidFill>
                <a:latin typeface="+mj-ea"/>
                <a:ea typeface="+mj-ea"/>
              </a:rPr>
              <a:t>theNPD window sizes,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and the </a:t>
            </a:r>
            <a:r>
              <a:rPr lang="en-US" altLang="zh-TW" dirty="0">
                <a:solidFill>
                  <a:schemeClr val="tx1"/>
                </a:solidFill>
                <a:latin typeface="+mj-ea"/>
                <a:ea typeface="+mj-ea"/>
              </a:rPr>
              <a:t>weights of individual models in the ensemble SVM classiﬁer.</a:t>
            </a:r>
            <a:endParaRPr lang="en-US" altLang="zh-TW" dirty="0" smtClean="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zh-TW" dirty="0">
                <a:solidFill>
                  <a:schemeClr val="tx1"/>
                </a:solidFill>
                <a:latin typeface="+mj-ea"/>
                <a:ea typeface="+mj-ea"/>
              </a:rPr>
              <a:t>Finally, the </a:t>
            </a:r>
            <a:r>
              <a:rPr lang="en-US" altLang="zh-TW" u="sng" dirty="0">
                <a:solidFill>
                  <a:schemeClr val="tx1"/>
                </a:solidFill>
                <a:latin typeface="+mj-ea"/>
                <a:ea typeface="+mj-ea"/>
              </a:rPr>
              <a:t>modiﬁed maximum weight perfect matching </a:t>
            </a:r>
            <a:r>
              <a:rPr lang="en-US" altLang="zh-TW" u="sng" dirty="0" smtClean="0">
                <a:solidFill>
                  <a:schemeClr val="tx1"/>
                </a:solidFill>
                <a:latin typeface="+mj-ea"/>
                <a:ea typeface="+mj-ea"/>
              </a:rPr>
              <a:t>algorithm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 was </a:t>
            </a:r>
            <a:r>
              <a:rPr lang="en-US" altLang="zh-TW" dirty="0">
                <a:solidFill>
                  <a:schemeClr val="tx1"/>
                </a:solidFill>
                <a:latin typeface="+mj-ea"/>
                <a:ea typeface="+mj-ea"/>
              </a:rPr>
              <a:t>then used to ﬁnd the disulﬁde connectivity pattern without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a prior </a:t>
            </a:r>
            <a:r>
              <a:rPr lang="en-US" altLang="zh-TW" dirty="0">
                <a:solidFill>
                  <a:schemeClr val="tx1"/>
                </a:solidFill>
                <a:latin typeface="+mj-ea"/>
                <a:ea typeface="+mj-ea"/>
              </a:rPr>
              <a:t>knowledge of the bonding state of cysteines.</a:t>
            </a:r>
            <a:endParaRPr lang="zh-TW" altLang="en-US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44890152"/>
      </p:ext>
    </p:extLst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600" dirty="0" smtClean="0">
                <a:solidFill>
                  <a:schemeClr val="tx1"/>
                </a:solidFill>
                <a:latin typeface="+mj-ea"/>
              </a:rPr>
              <a:t>Normalized </a:t>
            </a:r>
            <a:r>
              <a:rPr lang="en-US" altLang="zh-TW" sz="3600" dirty="0">
                <a:solidFill>
                  <a:schemeClr val="tx1"/>
                </a:solidFill>
                <a:latin typeface="+mj-ea"/>
              </a:rPr>
              <a:t>pair distance(NPD)</a:t>
            </a:r>
            <a:endParaRPr lang="zh-TW" altLang="en-US" sz="3600" dirty="0">
              <a:solidFill>
                <a:schemeClr val="tx1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zh-TW" dirty="0" smtClean="0">
                <a:solidFill>
                  <a:schemeClr val="tx1"/>
                </a:solidFill>
                <a:latin typeface="+mj-ea"/>
              </a:rPr>
              <a:t>NPD is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structure-related feature.</a:t>
            </a:r>
          </a:p>
          <a:p>
            <a:r>
              <a:rPr lang="en-US" altLang="zh-TW" dirty="0">
                <a:solidFill>
                  <a:schemeClr val="tx1"/>
                </a:solidFill>
                <a:latin typeface="+mj-ea"/>
                <a:ea typeface="+mj-ea"/>
              </a:rPr>
              <a:t>Here use The MODELLER software to predict the coordinates (X,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Y,and </a:t>
            </a:r>
            <a:r>
              <a:rPr lang="en-US" altLang="zh-TW" dirty="0">
                <a:solidFill>
                  <a:schemeClr val="tx1"/>
                </a:solidFill>
                <a:latin typeface="+mj-ea"/>
                <a:ea typeface="+mj-ea"/>
              </a:rPr>
              <a:t>Z) of the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C</a:t>
            </a:r>
            <a:r>
              <a:rPr lang="el-GR" altLang="zh-TW" dirty="0" smtClean="0">
                <a:solidFill>
                  <a:schemeClr val="tx1"/>
                </a:solidFill>
                <a:latin typeface="+mj-ea"/>
              </a:rPr>
              <a:t>α </a:t>
            </a:r>
            <a:r>
              <a:rPr lang="el-GR" altLang="zh-TW" dirty="0" smtClean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+mj-ea"/>
                <a:ea typeface="+mj-ea"/>
              </a:rPr>
              <a:t>of each amino acid in the protein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sequence.</a:t>
            </a:r>
          </a:p>
          <a:p>
            <a:endParaRPr lang="en-US" altLang="zh-TW" dirty="0">
              <a:solidFill>
                <a:schemeClr val="tx1"/>
              </a:solidFill>
              <a:latin typeface="+mj-ea"/>
              <a:ea typeface="+mj-ea"/>
            </a:endParaRPr>
          </a:p>
          <a:p>
            <a:endParaRPr lang="en-US" altLang="zh-TW" dirty="0" smtClean="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zh-TW" dirty="0">
                <a:solidFill>
                  <a:schemeClr val="tx1"/>
                </a:solidFill>
              </a:rPr>
              <a:t>GCCS</a:t>
            </a:r>
            <a:r>
              <a:rPr lang="en-US" altLang="zh-TW" dirty="0">
                <a:solidFill>
                  <a:srgbClr val="0070C0"/>
                </a:solidFill>
              </a:rPr>
              <a:t>DPR</a:t>
            </a:r>
            <a:r>
              <a:rPr lang="en-US" altLang="zh-TW" dirty="0">
                <a:solidFill>
                  <a:srgbClr val="FF0000"/>
                </a:solidFill>
              </a:rPr>
              <a:t>C</a:t>
            </a:r>
            <a:r>
              <a:rPr lang="en-US" altLang="zh-TW" dirty="0">
                <a:solidFill>
                  <a:srgbClr val="0070C0"/>
                </a:solidFill>
              </a:rPr>
              <a:t>NMN</a:t>
            </a:r>
            <a:r>
              <a:rPr lang="en-US" altLang="zh-TW" dirty="0">
                <a:solidFill>
                  <a:schemeClr val="tx1"/>
                </a:solidFill>
              </a:rPr>
              <a:t>N</a:t>
            </a:r>
            <a:r>
              <a:rPr lang="en-US" altLang="zh-TW" dirty="0">
                <a:solidFill>
                  <a:srgbClr val="00B050"/>
                </a:solidFill>
              </a:rPr>
              <a:t>PDY</a:t>
            </a:r>
            <a:r>
              <a:rPr lang="en-US" altLang="zh-TW" dirty="0">
                <a:solidFill>
                  <a:srgbClr val="FF0000"/>
                </a:solidFill>
              </a:rPr>
              <a:t>C</a:t>
            </a:r>
            <a:r>
              <a:rPr lang="en-US" altLang="zh-TW" dirty="0">
                <a:solidFill>
                  <a:srgbClr val="00B050"/>
                </a:solidFill>
              </a:rPr>
              <a:t>X</a:t>
            </a:r>
            <a:r>
              <a:rPr lang="en-US" altLang="zh-TW" dirty="0">
                <a:solidFill>
                  <a:schemeClr val="tx1"/>
                </a:solidFill>
              </a:rPr>
              <a:t> </a:t>
            </a:r>
            <a:endParaRPr lang="zh-TW" altLang="en-US" dirty="0">
              <a:solidFill>
                <a:schemeClr val="tx1"/>
              </a:solidFill>
              <a:latin typeface="+mj-ea"/>
            </a:endParaRPr>
          </a:p>
          <a:p>
            <a:endParaRPr lang="en-US" altLang="zh-TW" dirty="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Than the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</a:rPr>
              <a:t>NPD </a:t>
            </a:r>
            <a:r>
              <a:rPr lang="en-US" altLang="zh-TW" dirty="0">
                <a:solidFill>
                  <a:schemeClr val="tx1"/>
                </a:solidFill>
                <a:latin typeface="+mj-ea"/>
              </a:rPr>
              <a:t>(window size =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</a:rPr>
              <a:t>3)for the above protein is </a:t>
            </a:r>
          </a:p>
          <a:p>
            <a:pPr marL="0" indent="0">
              <a:buNone/>
            </a:pP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     </a:t>
            </a:r>
            <a:r>
              <a:rPr lang="en-US" altLang="zh-TW" dirty="0">
                <a:solidFill>
                  <a:schemeClr val="tx1"/>
                </a:solidFill>
                <a:latin typeface="+mj-ea"/>
              </a:rPr>
              <a:t> (D</a:t>
            </a:r>
            <a:r>
              <a:rPr lang="en-US" altLang="zh-TW" baseline="-25000" dirty="0">
                <a:solidFill>
                  <a:srgbClr val="0070C0"/>
                </a:solidFill>
                <a:latin typeface="+mj-ea"/>
              </a:rPr>
              <a:t>D</a:t>
            </a:r>
            <a:r>
              <a:rPr lang="en-US" altLang="zh-TW" baseline="-25000" dirty="0">
                <a:solidFill>
                  <a:srgbClr val="00B050"/>
                </a:solidFill>
                <a:latin typeface="+mj-ea"/>
              </a:rPr>
              <a:t>P</a:t>
            </a:r>
            <a:r>
              <a:rPr lang="en-US" altLang="zh-TW" dirty="0">
                <a:solidFill>
                  <a:schemeClr val="tx1"/>
                </a:solidFill>
                <a:latin typeface="+mj-ea"/>
              </a:rPr>
              <a:t>, D</a:t>
            </a:r>
            <a:r>
              <a:rPr lang="en-US" altLang="zh-TW" baseline="-25000" dirty="0">
                <a:solidFill>
                  <a:srgbClr val="0070C0"/>
                </a:solidFill>
                <a:latin typeface="+mj-ea"/>
              </a:rPr>
              <a:t>P</a:t>
            </a:r>
            <a:r>
              <a:rPr lang="en-US" altLang="zh-TW" baseline="-25000" dirty="0">
                <a:solidFill>
                  <a:srgbClr val="00B050"/>
                </a:solidFill>
                <a:latin typeface="+mj-ea"/>
              </a:rPr>
              <a:t>D</a:t>
            </a:r>
            <a:r>
              <a:rPr lang="en-US" altLang="zh-TW" dirty="0">
                <a:solidFill>
                  <a:schemeClr val="tx1"/>
                </a:solidFill>
                <a:latin typeface="+mj-ea"/>
              </a:rPr>
              <a:t>, D</a:t>
            </a:r>
            <a:r>
              <a:rPr lang="en-US" altLang="zh-TW" baseline="-25000" dirty="0">
                <a:solidFill>
                  <a:srgbClr val="0070C0"/>
                </a:solidFill>
                <a:latin typeface="+mj-ea"/>
              </a:rPr>
              <a:t>R</a:t>
            </a:r>
            <a:r>
              <a:rPr lang="en-US" altLang="zh-TW" baseline="-25000" dirty="0">
                <a:solidFill>
                  <a:srgbClr val="00B050"/>
                </a:solidFill>
                <a:latin typeface="+mj-ea"/>
              </a:rPr>
              <a:t>Y</a:t>
            </a:r>
            <a:r>
              <a:rPr lang="en-US" altLang="zh-TW" dirty="0">
                <a:solidFill>
                  <a:schemeClr val="tx1"/>
                </a:solidFill>
                <a:latin typeface="+mj-ea"/>
              </a:rPr>
              <a:t>, D</a:t>
            </a:r>
            <a:r>
              <a:rPr lang="en-US" altLang="zh-TW" baseline="-25000" dirty="0">
                <a:solidFill>
                  <a:srgbClr val="FF0000"/>
                </a:solidFill>
                <a:latin typeface="+mj-ea"/>
              </a:rPr>
              <a:t>CC</a:t>
            </a:r>
            <a:r>
              <a:rPr lang="en-US" altLang="zh-TW" dirty="0">
                <a:solidFill>
                  <a:schemeClr val="tx1"/>
                </a:solidFill>
                <a:latin typeface="+mj-ea"/>
              </a:rPr>
              <a:t>,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</a:rPr>
              <a:t>D</a:t>
            </a:r>
            <a:r>
              <a:rPr lang="en-US" altLang="zh-TW" baseline="-25000" dirty="0" smtClean="0">
                <a:solidFill>
                  <a:srgbClr val="0070C0"/>
                </a:solidFill>
                <a:latin typeface="+mj-ea"/>
              </a:rPr>
              <a:t>N</a:t>
            </a:r>
            <a:r>
              <a:rPr lang="en-US" altLang="zh-TW" baseline="-25000" dirty="0" smtClean="0">
                <a:solidFill>
                  <a:srgbClr val="00B050"/>
                </a:solidFill>
                <a:latin typeface="+mj-ea"/>
              </a:rPr>
              <a:t>X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</a:rPr>
              <a:t>, </a:t>
            </a:r>
            <a:r>
              <a:rPr lang="en-US" altLang="zh-TW" dirty="0">
                <a:solidFill>
                  <a:schemeClr val="tx1"/>
                </a:solidFill>
                <a:latin typeface="+mj-ea"/>
              </a:rPr>
              <a:t>D ,D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</a:rPr>
              <a:t>)</a:t>
            </a:r>
          </a:p>
          <a:p>
            <a:pPr marL="0" indent="0">
              <a:buNone/>
            </a:pP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Here, D </a:t>
            </a:r>
            <a:r>
              <a:rPr lang="en-US" altLang="zh-TW" dirty="0">
                <a:solidFill>
                  <a:schemeClr val="tx1"/>
                </a:solidFill>
                <a:latin typeface="+mj-ea"/>
                <a:ea typeface="+mj-ea"/>
              </a:rPr>
              <a:t>is  Euclidean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distance </a:t>
            </a:r>
          </a:p>
        </p:txBody>
      </p:sp>
    </p:spTree>
    <p:extLst>
      <p:ext uri="{BB962C8B-B14F-4D97-AF65-F5344CB8AC3E}">
        <p14:creationId xmlns:p14="http://schemas.microsoft.com/office/powerpoint/2010/main" xmlns="" val="1044890152"/>
      </p:ext>
    </p:extLst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600" dirty="0" smtClean="0">
                <a:solidFill>
                  <a:schemeClr val="tx1"/>
                </a:solidFill>
                <a:latin typeface="+mj-ea"/>
              </a:rPr>
              <a:t>Normalized </a:t>
            </a:r>
            <a:r>
              <a:rPr lang="en-US" altLang="zh-TW" sz="3600" dirty="0">
                <a:solidFill>
                  <a:schemeClr val="tx1"/>
                </a:solidFill>
                <a:latin typeface="+mj-ea"/>
              </a:rPr>
              <a:t>pair distance(NPD)</a:t>
            </a:r>
            <a:endParaRPr lang="zh-TW" altLang="en-US" sz="3600" dirty="0">
              <a:solidFill>
                <a:schemeClr val="tx1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solidFill>
                  <a:schemeClr val="tx1"/>
                </a:solidFill>
                <a:latin typeface="+mj-ea"/>
              </a:rPr>
              <a:t>Here we set a threshold of 15,  if any above mentained Euclidean distance is not greater than 15, then this cysteine pair will not be considered as a disulﬁde bond candidate.</a:t>
            </a:r>
          </a:p>
          <a:p>
            <a:endParaRPr lang="en-US" altLang="zh-TW" dirty="0" smtClean="0">
              <a:solidFill>
                <a:schemeClr val="tx1"/>
              </a:solidFill>
              <a:latin typeface="+mj-ea"/>
            </a:endParaRPr>
          </a:p>
          <a:p>
            <a:r>
              <a:rPr lang="en-US" altLang="zh-TW" dirty="0" smtClean="0">
                <a:solidFill>
                  <a:schemeClr val="tx1"/>
                </a:solidFill>
                <a:latin typeface="+mj-ea"/>
              </a:rPr>
              <a:t>Adjust the </a:t>
            </a:r>
            <a:r>
              <a:rPr lang="en-US" altLang="zh-TW" dirty="0">
                <a:solidFill>
                  <a:schemeClr val="tx1"/>
                </a:solidFill>
                <a:latin typeface="+mj-ea"/>
              </a:rPr>
              <a:t>feature values to lie within the range from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</a:rPr>
              <a:t>--1 </a:t>
            </a:r>
            <a:r>
              <a:rPr lang="en-US" altLang="zh-TW" dirty="0">
                <a:solidFill>
                  <a:schemeClr val="tx1"/>
                </a:solidFill>
                <a:latin typeface="+mj-ea"/>
              </a:rPr>
              <a:t>to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</a:rPr>
              <a:t>1 by (D</a:t>
            </a:r>
            <a:r>
              <a:rPr lang="en-US" altLang="zh-TW" baseline="-25000" dirty="0" smtClean="0">
                <a:solidFill>
                  <a:schemeClr val="tx1"/>
                </a:solidFill>
                <a:latin typeface="+mj-ea"/>
              </a:rPr>
              <a:t>i,j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</a:rPr>
              <a:t> - 7.5) / 7.5</a:t>
            </a:r>
            <a:endParaRPr lang="zh-TW" altLang="en-US" dirty="0">
              <a:solidFill>
                <a:schemeClr val="tx1"/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91259908"/>
      </p:ext>
    </p:extLst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 smtClean="0">
                <a:solidFill>
                  <a:schemeClr val="tx1"/>
                </a:solidFill>
                <a:latin typeface="+mj-ea"/>
              </a:rPr>
              <a:t>Ensemble </a:t>
            </a:r>
            <a:r>
              <a:rPr lang="en-US" altLang="zh-TW" sz="3200" dirty="0">
                <a:solidFill>
                  <a:schemeClr val="tx1"/>
                </a:solidFill>
                <a:latin typeface="+mj-ea"/>
              </a:rPr>
              <a:t>SVM</a:t>
            </a:r>
            <a:endParaRPr lang="zh-TW" altLang="en-US" sz="32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Why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</a:rPr>
              <a:t>Ensemble </a:t>
            </a:r>
            <a:r>
              <a:rPr lang="en-US" altLang="zh-TW" dirty="0">
                <a:solidFill>
                  <a:schemeClr val="tx1"/>
                </a:solidFill>
                <a:latin typeface="+mj-ea"/>
              </a:rPr>
              <a:t>SVM not 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</a:rPr>
              <a:t>single-kernel SVM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dirty="0">
                <a:solidFill>
                  <a:schemeClr val="tx1"/>
                </a:solidFill>
                <a:latin typeface="+mj-ea"/>
                <a:ea typeface="+mj-ea"/>
              </a:rPr>
              <a:t>if several different optimal assumptions exist, then the ensemble classiﬁers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can reduce </a:t>
            </a:r>
            <a:r>
              <a:rPr lang="en-US" altLang="zh-TW" dirty="0">
                <a:solidFill>
                  <a:schemeClr val="tx1"/>
                </a:solidFill>
                <a:latin typeface="+mj-ea"/>
                <a:ea typeface="+mj-ea"/>
              </a:rPr>
              <a:t>the risk of choosing a wrong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assumption.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dirty="0">
                <a:solidFill>
                  <a:schemeClr val="tx1"/>
                </a:solidFill>
                <a:latin typeface="+mj-ea"/>
                <a:ea typeface="+mj-ea"/>
              </a:rPr>
              <a:t>a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single machine </a:t>
            </a:r>
            <a:r>
              <a:rPr lang="en-US" altLang="zh-TW" dirty="0">
                <a:solidFill>
                  <a:schemeClr val="tx1"/>
                </a:solidFill>
                <a:latin typeface="+mj-ea"/>
                <a:ea typeface="+mj-ea"/>
              </a:rPr>
              <a:t>learning algorithm may result in obtaining local optima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, whereas</a:t>
            </a:r>
            <a:r>
              <a:rPr lang="en-US" altLang="zh-TW" dirty="0">
                <a:solidFill>
                  <a:schemeClr val="tx1"/>
                </a:solidFill>
                <a:latin typeface="+mj-ea"/>
                <a:ea typeface="+mj-ea"/>
              </a:rPr>
              <a:t>, the ensemble method may obtain a better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solution.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dirty="0">
                <a:solidFill>
                  <a:schemeClr val="tx1"/>
                </a:solidFill>
                <a:latin typeface="+mj-ea"/>
                <a:ea typeface="+mj-ea"/>
              </a:rPr>
              <a:t> in general, a single model cannot achieve the desired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function.</a:t>
            </a:r>
            <a:endParaRPr lang="zh-TW" altLang="en-US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71600" y="5445224"/>
            <a:ext cx="6843048" cy="10046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959108626"/>
      </p:ext>
    </p:extLst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340768"/>
          </a:xfrm>
        </p:spPr>
        <p:txBody>
          <a:bodyPr/>
          <a:lstStyle/>
          <a:p>
            <a:r>
              <a:rPr lang="en-US" altLang="zh-TW" sz="3600" dirty="0" smtClean="0">
                <a:solidFill>
                  <a:schemeClr val="tx1"/>
                </a:solidFill>
                <a:latin typeface="+mj-ea"/>
              </a:rPr>
              <a:t>The multiple </a:t>
            </a:r>
            <a:r>
              <a:rPr lang="en-US" altLang="zh-TW" sz="3600" dirty="0">
                <a:solidFill>
                  <a:schemeClr val="tx1"/>
                </a:solidFill>
                <a:latin typeface="+mj-ea"/>
              </a:rPr>
              <a:t>trajectory search (MTS)</a:t>
            </a:r>
            <a:endParaRPr lang="zh-TW" altLang="en-US" sz="3600" dirty="0">
              <a:solidFill>
                <a:schemeClr val="tx1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>
                <a:solidFill>
                  <a:schemeClr val="tx1"/>
                </a:solidFill>
                <a:latin typeface="+mj-ea"/>
                <a:ea typeface="+mj-ea"/>
              </a:rPr>
              <a:t>In MTS, multiple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agents were </a:t>
            </a:r>
            <a:r>
              <a:rPr lang="en-US" altLang="zh-TW" dirty="0">
                <a:solidFill>
                  <a:schemeClr val="tx1"/>
                </a:solidFill>
                <a:latin typeface="+mj-ea"/>
                <a:ea typeface="+mj-ea"/>
              </a:rPr>
              <a:t>used to concurrently search the solution space, in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which each </a:t>
            </a:r>
            <a:r>
              <a:rPr lang="en-US" altLang="zh-TW" dirty="0">
                <a:solidFill>
                  <a:schemeClr val="tx1"/>
                </a:solidFill>
                <a:latin typeface="+mj-ea"/>
                <a:ea typeface="+mj-ea"/>
              </a:rPr>
              <a:t>agent performed an iterated local search using one of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three candidate </a:t>
            </a:r>
            <a:r>
              <a:rPr lang="en-US" altLang="zh-TW" dirty="0">
                <a:solidFill>
                  <a:schemeClr val="tx1"/>
                </a:solidFill>
                <a:latin typeface="+mj-ea"/>
                <a:ea typeface="+mj-ea"/>
              </a:rPr>
              <a:t>methods for local searching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  <a:p>
            <a:endParaRPr lang="en-US" altLang="zh-TW" dirty="0" smtClean="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zh-TW" dirty="0">
                <a:solidFill>
                  <a:schemeClr val="tx1"/>
                </a:solidFill>
                <a:latin typeface="+mj-ea"/>
                <a:ea typeface="+mj-ea"/>
              </a:rPr>
              <a:t>By choosing one of the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local search </a:t>
            </a:r>
            <a:r>
              <a:rPr lang="en-US" altLang="zh-TW" dirty="0">
                <a:solidFill>
                  <a:schemeClr val="tx1"/>
                </a:solidFill>
                <a:latin typeface="+mj-ea"/>
                <a:ea typeface="+mj-ea"/>
              </a:rPr>
              <a:t>methods that best ﬁts the landscape of a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solution's neighborhood</a:t>
            </a:r>
            <a:r>
              <a:rPr lang="en-US" altLang="zh-TW" dirty="0">
                <a:solidFill>
                  <a:schemeClr val="tx1"/>
                </a:solidFill>
                <a:latin typeface="+mj-ea"/>
                <a:ea typeface="+mj-ea"/>
              </a:rPr>
              <a:t>, an agent may ﬁnd its way to a local optimum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or to </a:t>
            </a:r>
            <a:r>
              <a:rPr lang="en-US" altLang="zh-TW" dirty="0">
                <a:solidFill>
                  <a:schemeClr val="tx1"/>
                </a:solidFill>
                <a:latin typeface="+mj-ea"/>
                <a:ea typeface="+mj-ea"/>
              </a:rPr>
              <a:t>the global optimum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  <a:p>
            <a:endParaRPr lang="en-US" altLang="zh-TW" dirty="0" smtClean="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zh-TW" dirty="0">
                <a:solidFill>
                  <a:schemeClr val="tx1"/>
                </a:solidFill>
                <a:latin typeface="+mj-ea"/>
                <a:ea typeface="+mj-ea"/>
              </a:rPr>
              <a:t>Multiple trajectory search for selecting SVM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parameters, window </a:t>
            </a:r>
            <a:r>
              <a:rPr lang="en-US" altLang="zh-TW" dirty="0">
                <a:solidFill>
                  <a:schemeClr val="tx1"/>
                </a:solidFill>
                <a:latin typeface="+mj-ea"/>
                <a:ea typeface="+mj-ea"/>
              </a:rPr>
              <a:t>sizes, and probability weights</a:t>
            </a:r>
            <a:endParaRPr lang="zh-TW" altLang="en-US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44890152"/>
      </p:ext>
    </p:extLst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endParaRPr lang="zh-TW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352551" y="0"/>
            <a:ext cx="5599044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4162551012"/>
      </p:ext>
    </p:extLst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dirty="0" smtClean="0">
                <a:solidFill>
                  <a:schemeClr val="tx1"/>
                </a:solidFill>
                <a:latin typeface="+mj-ea"/>
              </a:rPr>
              <a:t>The </a:t>
            </a:r>
            <a:r>
              <a:rPr lang="en-US" altLang="zh-TW" sz="2800" dirty="0">
                <a:solidFill>
                  <a:schemeClr val="tx1"/>
                </a:solidFill>
                <a:latin typeface="+mj-ea"/>
              </a:rPr>
              <a:t>modiﬁed maximum weight perfect matching algorithm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For a protein, </a:t>
            </a:r>
            <a:r>
              <a:rPr lang="en-US" altLang="zh-TW" dirty="0">
                <a:solidFill>
                  <a:schemeClr val="tx1"/>
                </a:solidFill>
                <a:latin typeface="+mj-ea"/>
                <a:ea typeface="+mj-ea"/>
              </a:rPr>
              <a:t>verteices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indicate all cycteines in the protein, noticed that we donnot know the </a:t>
            </a:r>
            <a:r>
              <a:rPr lang="en-US" altLang="zh-TW" dirty="0">
                <a:solidFill>
                  <a:schemeClr val="tx1"/>
                </a:solidFill>
                <a:latin typeface="+mj-ea"/>
                <a:ea typeface="+mj-ea"/>
              </a:rPr>
              <a:t>bonding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state(oxidized</a:t>
            </a:r>
            <a:r>
              <a:rPr lang="zh-TW" altLang="en-US" dirty="0" smtClean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or not) of cycteine  here.</a:t>
            </a:r>
          </a:p>
          <a:p>
            <a:endParaRPr lang="en-US" altLang="zh-TW" dirty="0" smtClean="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Edge </a:t>
            </a:r>
            <a:r>
              <a:rPr lang="en-US" altLang="zh-TW" dirty="0">
                <a:solidFill>
                  <a:schemeClr val="tx1"/>
                </a:solidFill>
                <a:latin typeface="+mj-ea"/>
                <a:ea typeface="+mj-ea"/>
              </a:rPr>
              <a:t>weights that are labeled as the contact potentials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between</a:t>
            </a:r>
            <a:r>
              <a:rPr lang="zh-TW" altLang="en-US" dirty="0" smtClean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the </a:t>
            </a:r>
            <a:r>
              <a:rPr lang="en-US" altLang="zh-TW" dirty="0">
                <a:solidFill>
                  <a:schemeClr val="tx1"/>
                </a:solidFill>
                <a:latin typeface="+mj-ea"/>
                <a:ea typeface="+mj-ea"/>
              </a:rPr>
              <a:t>corresponding pairs of cysteines.</a:t>
            </a:r>
            <a:endParaRPr lang="zh-TW" altLang="en-US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44890152"/>
      </p:ext>
    </p:extLst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dirty="0" smtClean="0">
                <a:solidFill>
                  <a:schemeClr val="tx1"/>
                </a:solidFill>
                <a:latin typeface="+mj-ea"/>
              </a:rPr>
              <a:t>The </a:t>
            </a:r>
            <a:r>
              <a:rPr lang="en-US" altLang="zh-TW" sz="2800" dirty="0">
                <a:solidFill>
                  <a:schemeClr val="tx1"/>
                </a:solidFill>
                <a:latin typeface="+mj-ea"/>
              </a:rPr>
              <a:t>modiﬁed maximum weight perfect matching algorithm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Here is a graph to show a example:</a:t>
            </a:r>
            <a:endParaRPr lang="zh-TW" altLang="en-US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57557" y="2204864"/>
            <a:ext cx="8348885" cy="3561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821428120"/>
      </p:ext>
    </p:extLst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834741" y="0"/>
            <a:ext cx="5474517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821428120"/>
      </p:ext>
    </p:extLst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36712"/>
          </a:xfrm>
        </p:spPr>
        <p:txBody>
          <a:bodyPr/>
          <a:lstStyle/>
          <a:p>
            <a:r>
              <a:rPr lang="en-US" altLang="zh-TW" sz="2800" dirty="0">
                <a:solidFill>
                  <a:schemeClr val="tx1"/>
                </a:solidFill>
                <a:latin typeface="+mj-ea"/>
              </a:rPr>
              <a:t>Experimental </a:t>
            </a:r>
            <a:r>
              <a:rPr lang="en-US" altLang="zh-TW" sz="2800" dirty="0" smtClean="0">
                <a:solidFill>
                  <a:schemeClr val="tx1"/>
                </a:solidFill>
                <a:latin typeface="+mj-ea"/>
              </a:rPr>
              <a:t>results;</a:t>
            </a:r>
            <a:r>
              <a:rPr lang="en-US" altLang="zh-TW" sz="2800" dirty="0">
                <a:solidFill>
                  <a:schemeClr val="tx1"/>
                </a:solidFill>
                <a:latin typeface="+mj-ea"/>
              </a:rPr>
              <a:t> Datasets</a:t>
            </a:r>
            <a:r>
              <a:rPr lang="en-US" altLang="zh-TW" sz="2800" dirty="0" smtClean="0">
                <a:solidFill>
                  <a:schemeClr val="tx1"/>
                </a:solidFill>
                <a:latin typeface="+mj-ea"/>
              </a:rPr>
              <a:t>: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45435"/>
          </a:xfrm>
        </p:spPr>
        <p:txBody>
          <a:bodyPr>
            <a:normAutofit lnSpcReduction="10000"/>
          </a:bodyPr>
          <a:lstStyle/>
          <a:p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MART : 969 protein sequences, extracted </a:t>
            </a:r>
            <a:r>
              <a:rPr lang="en-US" altLang="zh-TW" dirty="0">
                <a:solidFill>
                  <a:schemeClr val="tx1"/>
                </a:solidFill>
                <a:latin typeface="+mj-ea"/>
                <a:ea typeface="+mj-ea"/>
              </a:rPr>
              <a:t>from PDB with sequence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identities less </a:t>
            </a:r>
            <a:r>
              <a:rPr lang="en-US" altLang="zh-TW" dirty="0">
                <a:solidFill>
                  <a:schemeClr val="tx1"/>
                </a:solidFill>
                <a:latin typeface="+mj-ea"/>
                <a:ea typeface="+mj-ea"/>
              </a:rPr>
              <a:t>than 25%;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Among the </a:t>
            </a:r>
            <a:r>
              <a:rPr lang="en-US" altLang="zh-TW" dirty="0">
                <a:solidFill>
                  <a:schemeClr val="tx1"/>
                </a:solidFill>
                <a:latin typeface="+mj-ea"/>
                <a:ea typeface="+mj-ea"/>
              </a:rPr>
              <a:t>4136 segments with cysteines, 2690 were in the free state,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and the </a:t>
            </a:r>
            <a:r>
              <a:rPr lang="en-US" altLang="zh-TW" dirty="0">
                <a:solidFill>
                  <a:schemeClr val="tx1"/>
                </a:solidFill>
                <a:latin typeface="+mj-ea"/>
                <a:ea typeface="+mj-ea"/>
              </a:rPr>
              <a:t>other 1446 were in the disulﬁde bonded state(20-fold cross-validation)</a:t>
            </a:r>
            <a:endParaRPr lang="en-US" altLang="zh-TW" dirty="0" smtClean="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SPXC: has 897 </a:t>
            </a:r>
            <a:r>
              <a:rPr lang="en-US" altLang="zh-TW" dirty="0">
                <a:solidFill>
                  <a:schemeClr val="tx1"/>
                </a:solidFill>
                <a:latin typeface="+mj-ea"/>
                <a:ea typeface="+mj-ea"/>
              </a:rPr>
              <a:t>positive sequences and 1650 negative sequences that contained no disulﬁde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bridges</a:t>
            </a:r>
          </a:p>
          <a:p>
            <a:r>
              <a:rPr lang="en-US" altLang="zh-TW" dirty="0">
                <a:solidFill>
                  <a:schemeClr val="tx1"/>
                </a:solidFill>
                <a:latin typeface="+mj-ea"/>
                <a:ea typeface="+mj-ea"/>
              </a:rPr>
              <a:t> SPX is a collection of 1018 proteins which contain at least one intra-chain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disulﬁde bond </a:t>
            </a:r>
            <a:r>
              <a:rPr lang="en-US" altLang="zh-TW" dirty="0">
                <a:solidFill>
                  <a:schemeClr val="tx1"/>
                </a:solidFill>
                <a:latin typeface="+mj-ea"/>
                <a:ea typeface="+mj-ea"/>
              </a:rPr>
              <a:t>and at least 12 amino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acids.</a:t>
            </a:r>
          </a:p>
          <a:p>
            <a:r>
              <a:rPr lang="en-US" altLang="zh-TW" dirty="0">
                <a:solidFill>
                  <a:schemeClr val="tx1"/>
                </a:solidFill>
                <a:latin typeface="+mj-ea"/>
              </a:rPr>
              <a:t>Both SPXC and SPX datasets that were extracted from the PDB on May 17, 2004. Used UniqueProt tool to remove overrepresentation of particular protein families.(10-fold cross-validation)</a:t>
            </a:r>
          </a:p>
          <a:p>
            <a:endParaRPr lang="zh-TW" altLang="en-US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821428120"/>
      </p:ext>
    </p:extLst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08720"/>
          </a:xfrm>
        </p:spPr>
        <p:txBody>
          <a:bodyPr/>
          <a:lstStyle/>
          <a:p>
            <a:r>
              <a:rPr lang="en-US" altLang="zh-TW" sz="2800" dirty="0">
                <a:solidFill>
                  <a:schemeClr val="tx1"/>
                </a:solidFill>
                <a:latin typeface="+mj-ea"/>
              </a:rPr>
              <a:t>Experimental results; Protein chain classiﬁcation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/>
          <a:lstStyle/>
          <a:p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Sensitivity: </a:t>
            </a:r>
            <a:r>
              <a:rPr lang="en-US" altLang="zh-TW" dirty="0">
                <a:solidFill>
                  <a:schemeClr val="tx1"/>
                </a:solidFill>
                <a:latin typeface="+mj-ea"/>
              </a:rPr>
              <a:t>positive sequences </a:t>
            </a:r>
            <a:r>
              <a:rPr lang="zh-TW" altLang="en-US" dirty="0" smtClean="0">
                <a:solidFill>
                  <a:schemeClr val="tx1"/>
                </a:solidFill>
                <a:latin typeface="+mj-ea"/>
              </a:rPr>
              <a:t>被預測為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</a:rPr>
              <a:t>positive(</a:t>
            </a:r>
            <a:r>
              <a:rPr lang="zh-TW" altLang="en-US" dirty="0" smtClean="0">
                <a:solidFill>
                  <a:schemeClr val="tx1"/>
                </a:solidFill>
                <a:latin typeface="+mj-ea"/>
              </a:rPr>
              <a:t>此序列存在雙硫鍵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</a:rPr>
              <a:t>) </a:t>
            </a:r>
            <a:r>
              <a:rPr lang="zh-TW" altLang="en-US" dirty="0">
                <a:solidFill>
                  <a:schemeClr val="tx1"/>
                </a:solidFill>
                <a:latin typeface="+mj-ea"/>
              </a:rPr>
              <a:t>的比</a:t>
            </a:r>
            <a:r>
              <a:rPr lang="zh-TW" altLang="en-US" dirty="0" smtClean="0">
                <a:solidFill>
                  <a:schemeClr val="tx1"/>
                </a:solidFill>
                <a:latin typeface="+mj-ea"/>
              </a:rPr>
              <a:t>率。</a:t>
            </a:r>
            <a:endParaRPr lang="en-US" altLang="zh-TW" dirty="0" smtClean="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Specificity:</a:t>
            </a:r>
            <a:r>
              <a:rPr lang="en-US" altLang="zh-TW" dirty="0">
                <a:solidFill>
                  <a:schemeClr val="tx1"/>
                </a:solidFill>
                <a:latin typeface="+mj-ea"/>
              </a:rPr>
              <a:t>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</a:rPr>
              <a:t>negative</a:t>
            </a:r>
            <a:r>
              <a:rPr lang="zh-TW" altLang="en-US" dirty="0" smtClean="0">
                <a:solidFill>
                  <a:schemeClr val="tx1"/>
                </a:solidFill>
                <a:latin typeface="+mj-ea"/>
              </a:rPr>
              <a:t>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</a:rPr>
              <a:t>sequences </a:t>
            </a:r>
            <a:r>
              <a:rPr lang="zh-TW" altLang="en-US" dirty="0">
                <a:solidFill>
                  <a:schemeClr val="tx1"/>
                </a:solidFill>
                <a:latin typeface="+mj-ea"/>
              </a:rPr>
              <a:t>被預測</a:t>
            </a:r>
            <a:r>
              <a:rPr lang="zh-TW" altLang="en-US" dirty="0" smtClean="0">
                <a:solidFill>
                  <a:schemeClr val="tx1"/>
                </a:solidFill>
                <a:latin typeface="+mj-ea"/>
              </a:rPr>
              <a:t>為</a:t>
            </a:r>
            <a:r>
              <a:rPr lang="en-US" altLang="zh-TW" dirty="0">
                <a:solidFill>
                  <a:schemeClr val="tx1"/>
                </a:solidFill>
                <a:latin typeface="+mj-ea"/>
              </a:rPr>
              <a:t>negative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</a:rPr>
              <a:t> </a:t>
            </a:r>
            <a:r>
              <a:rPr lang="zh-TW" altLang="en-US" dirty="0">
                <a:solidFill>
                  <a:schemeClr val="tx1"/>
                </a:solidFill>
                <a:latin typeface="+mj-ea"/>
              </a:rPr>
              <a:t>的比率。</a:t>
            </a:r>
            <a:endParaRPr lang="en-US" altLang="zh-TW" dirty="0">
              <a:solidFill>
                <a:schemeClr val="tx1"/>
              </a:solidFill>
              <a:latin typeface="+mj-ea"/>
            </a:endParaRPr>
          </a:p>
          <a:p>
            <a:endParaRPr lang="zh-TW" altLang="en-US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701190" y="5013176"/>
            <a:ext cx="5676900" cy="148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692806" y="2708920"/>
            <a:ext cx="5676900" cy="2105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821428120"/>
      </p:ext>
    </p:extLst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08720"/>
          </a:xfrm>
        </p:spPr>
        <p:txBody>
          <a:bodyPr/>
          <a:lstStyle/>
          <a:p>
            <a:r>
              <a:rPr lang="en-US" altLang="zh-TW" sz="2800" dirty="0">
                <a:solidFill>
                  <a:schemeClr val="tx1"/>
                </a:solidFill>
                <a:latin typeface="+mj-ea"/>
              </a:rPr>
              <a:t>Experimental results; Residue classiﬁcation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  <a:latin typeface="+mj-ea"/>
                <a:ea typeface="+mj-ea"/>
              </a:rPr>
              <a:t>The overall predictive accuracy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Q</a:t>
            </a:r>
            <a:r>
              <a:rPr lang="en-US" altLang="zh-TW" baseline="-25000" dirty="0" smtClean="0">
                <a:solidFill>
                  <a:schemeClr val="tx1"/>
                </a:solidFill>
                <a:latin typeface="+mj-ea"/>
                <a:ea typeface="+mj-ea"/>
              </a:rPr>
              <a:t>2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+mj-ea"/>
                <a:ea typeface="+mj-ea"/>
              </a:rPr>
              <a:t>is evaluated as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Q</a:t>
            </a:r>
            <a:r>
              <a:rPr lang="zh-TW" altLang="en-US" dirty="0" smtClean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en-US" altLang="zh-TW" baseline="-25000" dirty="0" smtClean="0">
                <a:solidFill>
                  <a:schemeClr val="tx1"/>
                </a:solidFill>
                <a:latin typeface="+mj-ea"/>
                <a:ea typeface="+mj-ea"/>
              </a:rPr>
              <a:t>2</a:t>
            </a:r>
            <a:r>
              <a:rPr lang="zh-TW" altLang="en-US" baseline="-25000" dirty="0" smtClean="0">
                <a:solidFill>
                  <a:schemeClr val="tx1"/>
                </a:solidFill>
                <a:latin typeface="+mj-ea"/>
                <a:ea typeface="+mj-ea"/>
              </a:rPr>
              <a:t>  </a:t>
            </a:r>
            <a:r>
              <a:rPr lang="zh-TW" altLang="en-US" dirty="0" smtClean="0">
                <a:solidFill>
                  <a:schemeClr val="tx1"/>
                </a:solidFill>
                <a:latin typeface="+mj-ea"/>
                <a:ea typeface="+mj-ea"/>
              </a:rPr>
              <a:t> 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=Nc/Na</a:t>
            </a:r>
            <a:r>
              <a:rPr lang="zh-TW" altLang="en-US" dirty="0" smtClean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with </a:t>
            </a:r>
            <a:r>
              <a:rPr lang="en-US" altLang="zh-TW" dirty="0">
                <a:solidFill>
                  <a:schemeClr val="tx1"/>
                </a:solidFill>
                <a:latin typeface="+mj-ea"/>
                <a:ea typeface="+mj-ea"/>
              </a:rPr>
              <a:t>Nc and Na indicating the total number of correctly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predicted</a:t>
            </a:r>
            <a:r>
              <a:rPr lang="zh-TW" altLang="en-US" dirty="0" smtClean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bonding </a:t>
            </a:r>
            <a:r>
              <a:rPr lang="en-US" altLang="zh-TW" dirty="0">
                <a:solidFill>
                  <a:schemeClr val="tx1"/>
                </a:solidFill>
                <a:latin typeface="+mj-ea"/>
                <a:ea typeface="+mj-ea"/>
              </a:rPr>
              <a:t>state of cysteines and the total number of cysteines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,</a:t>
            </a:r>
            <a:r>
              <a:rPr lang="zh-TW" altLang="en-US" dirty="0" smtClean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en-US" altLang="zh-TW" dirty="0" smtClean="0">
                <a:solidFill>
                  <a:schemeClr val="tx1"/>
                </a:solidFill>
                <a:latin typeface="+mj-ea"/>
                <a:ea typeface="+mj-ea"/>
              </a:rPr>
              <a:t>respectively</a:t>
            </a:r>
            <a:r>
              <a:rPr lang="en-US" altLang="zh-TW" dirty="0">
                <a:solidFill>
                  <a:schemeClr val="tx1"/>
                </a:solidFill>
                <a:latin typeface="+mj-ea"/>
                <a:ea typeface="+mj-ea"/>
              </a:rPr>
              <a:t>. </a:t>
            </a:r>
            <a:endParaRPr lang="zh-TW" altLang="en-US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475656" y="2996952"/>
            <a:ext cx="5791200" cy="146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533992" y="4653136"/>
            <a:ext cx="5676900" cy="148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4259536690"/>
      </p:ext>
    </p:extLst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08720"/>
          </a:xfrm>
        </p:spPr>
        <p:txBody>
          <a:bodyPr/>
          <a:lstStyle/>
          <a:p>
            <a:r>
              <a:rPr lang="en-US" altLang="zh-TW" sz="2800" dirty="0">
                <a:solidFill>
                  <a:schemeClr val="tx1"/>
                </a:solidFill>
                <a:latin typeface="+mj-ea"/>
              </a:rPr>
              <a:t>Experimental results; Bridge classiﬁcation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/>
          <a:lstStyle/>
          <a:p>
            <a:endParaRPr lang="zh-TW" altLang="en-US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" y="2204864"/>
            <a:ext cx="8820472" cy="4423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4008351588"/>
      </p:ext>
    </p:extLst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08720"/>
          </a:xfrm>
        </p:spPr>
        <p:txBody>
          <a:bodyPr/>
          <a:lstStyle/>
          <a:p>
            <a:r>
              <a:rPr lang="en-US" altLang="zh-TW" sz="2800" dirty="0">
                <a:solidFill>
                  <a:schemeClr val="tx1"/>
                </a:solidFill>
                <a:latin typeface="+mj-ea"/>
              </a:rPr>
              <a:t>Experimental results; Bridge classiﬁcation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/>
          <a:lstStyle/>
          <a:p>
            <a:endParaRPr lang="zh-TW" altLang="en-US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51520" y="2276872"/>
            <a:ext cx="8892480" cy="23415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3062272954"/>
      </p:ext>
    </p:extLst>
  </p:cSld>
  <p:clrMapOvr>
    <a:masterClrMapping/>
  </p:clrMapOvr>
  <p:transition>
    <p:cut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高階主管">
  <a:themeElements>
    <a:clrScheme name="高階主管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高階主管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高階主管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454</TotalTime>
  <Words>1042</Words>
  <Application>Microsoft Office PowerPoint</Application>
  <PresentationFormat>如螢幕大小 (4:3)</PresentationFormat>
  <Paragraphs>83</Paragraphs>
  <Slides>20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21" baseType="lpstr">
      <vt:lpstr>高階主管</vt:lpstr>
      <vt:lpstr>Disulﬁde connectivity prediction based on structural information without a prior knowledge of the bonding state of cysteines</vt:lpstr>
      <vt:lpstr>Abstract</vt:lpstr>
      <vt:lpstr>Abstract</vt:lpstr>
      <vt:lpstr>Amino acid(氨基酸)</vt:lpstr>
      <vt:lpstr>Fours problems of disulfide bond prediction</vt:lpstr>
      <vt:lpstr>Three categories of recent approaches</vt:lpstr>
      <vt:lpstr>Methodology</vt:lpstr>
      <vt:lpstr>Normalized pair distance(NPD)</vt:lpstr>
      <vt:lpstr>Normalized pair distance(NPD)</vt:lpstr>
      <vt:lpstr>Ensemble SVM</vt:lpstr>
      <vt:lpstr>The multiple trajectory search (MTS)</vt:lpstr>
      <vt:lpstr>投影片 12</vt:lpstr>
      <vt:lpstr>The modiﬁed maximum weight perfect matching algorithm</vt:lpstr>
      <vt:lpstr>The modiﬁed maximum weight perfect matching algorithm</vt:lpstr>
      <vt:lpstr>投影片 15</vt:lpstr>
      <vt:lpstr>Experimental results; Datasets:</vt:lpstr>
      <vt:lpstr>Experimental results; Protein chain classiﬁcation</vt:lpstr>
      <vt:lpstr>Experimental results; Residue classiﬁcation</vt:lpstr>
      <vt:lpstr>Experimental results; Bridge classiﬁcation</vt:lpstr>
      <vt:lpstr>Experimental results; Bridge classiﬁcation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Incremental and Decremental Support Vector Machine Learning</dc:title>
  <dc:creator>fang</dc:creator>
  <cp:lastModifiedBy>admin</cp:lastModifiedBy>
  <cp:revision>43</cp:revision>
  <dcterms:created xsi:type="dcterms:W3CDTF">2013-10-22T04:22:31Z</dcterms:created>
  <dcterms:modified xsi:type="dcterms:W3CDTF">2013-11-19T10:38:18Z</dcterms:modified>
</cp:coreProperties>
</file>