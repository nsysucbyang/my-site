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77" r:id="rId5"/>
    <p:sldId id="276" r:id="rId6"/>
    <p:sldId id="259" r:id="rId7"/>
    <p:sldId id="260" r:id="rId8"/>
    <p:sldId id="263" r:id="rId9"/>
    <p:sldId id="269" r:id="rId10"/>
    <p:sldId id="266" r:id="rId11"/>
    <p:sldId id="267" r:id="rId12"/>
    <p:sldId id="275" r:id="rId13"/>
    <p:sldId id="278" r:id="rId14"/>
    <p:sldId id="270" r:id="rId15"/>
    <p:sldId id="273" r:id="rId16"/>
    <p:sldId id="274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inimized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91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B95E3-3A88-46F0-A67D-9632B87C8102}" type="datetimeFigureOut">
              <a:rPr lang="zh-TW" altLang="en-US" smtClean="0"/>
              <a:pPr/>
              <a:t>2013/9/16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B8317-1FD7-4A09-A3C8-B60680C7CC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63544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B95E3-3A88-46F0-A67D-9632B87C8102}" type="datetimeFigureOut">
              <a:rPr lang="zh-TW" altLang="en-US" smtClean="0"/>
              <a:pPr/>
              <a:t>2013/9/16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B8317-1FD7-4A09-A3C8-B60680C7CC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3394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B95E3-3A88-46F0-A67D-9632B87C8102}" type="datetimeFigureOut">
              <a:rPr lang="zh-TW" altLang="en-US" smtClean="0"/>
              <a:pPr/>
              <a:t>2013/9/16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B8317-1FD7-4A09-A3C8-B60680C7CC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9314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B95E3-3A88-46F0-A67D-9632B87C8102}" type="datetimeFigureOut">
              <a:rPr lang="zh-TW" altLang="en-US" smtClean="0"/>
              <a:pPr/>
              <a:t>2013/9/16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B8317-1FD7-4A09-A3C8-B60680C7CC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9701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B95E3-3A88-46F0-A67D-9632B87C8102}" type="datetimeFigureOut">
              <a:rPr lang="zh-TW" altLang="en-US" smtClean="0"/>
              <a:pPr/>
              <a:t>2013/9/16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B8317-1FD7-4A09-A3C8-B60680C7CC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4480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B95E3-3A88-46F0-A67D-9632B87C8102}" type="datetimeFigureOut">
              <a:rPr lang="zh-TW" altLang="en-US" smtClean="0"/>
              <a:pPr/>
              <a:t>2013/9/16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B8317-1FD7-4A09-A3C8-B60680C7CC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1151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B95E3-3A88-46F0-A67D-9632B87C8102}" type="datetimeFigureOut">
              <a:rPr lang="zh-TW" altLang="en-US" smtClean="0"/>
              <a:pPr/>
              <a:t>2013/9/16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B8317-1FD7-4A09-A3C8-B60680C7CC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6122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B95E3-3A88-46F0-A67D-9632B87C8102}" type="datetimeFigureOut">
              <a:rPr lang="zh-TW" altLang="en-US" smtClean="0"/>
              <a:pPr/>
              <a:t>2013/9/16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B8317-1FD7-4A09-A3C8-B60680C7CC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0587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B95E3-3A88-46F0-A67D-9632B87C8102}" type="datetimeFigureOut">
              <a:rPr lang="zh-TW" altLang="en-US" smtClean="0"/>
              <a:pPr/>
              <a:t>2013/9/16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B8317-1FD7-4A09-A3C8-B60680C7CC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5324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B95E3-3A88-46F0-A67D-9632B87C8102}" type="datetimeFigureOut">
              <a:rPr lang="zh-TW" altLang="en-US" smtClean="0"/>
              <a:pPr/>
              <a:t>2013/9/16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B8317-1FD7-4A09-A3C8-B60680C7CC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9395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B95E3-3A88-46F0-A67D-9632B87C8102}" type="datetimeFigureOut">
              <a:rPr lang="zh-TW" altLang="en-US" smtClean="0"/>
              <a:pPr/>
              <a:t>2013/9/16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B8317-1FD7-4A09-A3C8-B60680C7CC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6910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B95E3-3A88-46F0-A67D-9632B87C8102}" type="datetimeFigureOut">
              <a:rPr lang="zh-TW" altLang="en-US" smtClean="0"/>
              <a:pPr/>
              <a:t>2013/9/16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B8317-1FD7-4A09-A3C8-B60680C7CC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75665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484784"/>
            <a:ext cx="7772400" cy="2115667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Prediction of disulfide bonding pattern based on a support vector</a:t>
            </a:r>
            <a:br>
              <a:rPr lang="en-US" altLang="zh-TW" dirty="0"/>
            </a:br>
            <a:r>
              <a:rPr lang="en-US" altLang="zh-TW" dirty="0"/>
              <a:t>machine and multiple trajectory search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Lin-Yu Tseng, </a:t>
            </a:r>
            <a:r>
              <a:rPr lang="en-US" altLang="zh-TW" dirty="0"/>
              <a:t>Hsuan-Hung Lin</a:t>
            </a:r>
            <a:endParaRPr lang="en-US" altLang="zh-TW" dirty="0" smtClean="0"/>
          </a:p>
          <a:p>
            <a:r>
              <a:rPr lang="en-US" altLang="zh-TW" dirty="0"/>
              <a:t>Information Sciences 199 (2012) </a:t>
            </a:r>
            <a:endParaRPr lang="en-US" altLang="zh-TW" dirty="0" smtClean="0"/>
          </a:p>
          <a:p>
            <a:r>
              <a:rPr lang="en-US" altLang="zh-TW" dirty="0" smtClean="0"/>
              <a:t>pp. 167–178</a:t>
            </a:r>
          </a:p>
          <a:p>
            <a:r>
              <a:rPr lang="zh-TW" altLang="en-US" dirty="0" smtClean="0"/>
              <a:t>講</a:t>
            </a:r>
            <a:r>
              <a:rPr lang="zh-TW" altLang="en-US" dirty="0"/>
              <a:t>者</a:t>
            </a:r>
            <a:r>
              <a:rPr lang="en-US" altLang="zh-TW" dirty="0"/>
              <a:t>:</a:t>
            </a:r>
            <a:r>
              <a:rPr lang="zh-TW" altLang="en-US" dirty="0"/>
              <a:t>方鈞毅</a:t>
            </a:r>
          </a:p>
        </p:txBody>
      </p:sp>
    </p:spTree>
    <p:extLst>
      <p:ext uri="{BB962C8B-B14F-4D97-AF65-F5344CB8AC3E}">
        <p14:creationId xmlns:p14="http://schemas.microsoft.com/office/powerpoint/2010/main" xmlns="" val="86989591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To determine protein folding, accurately predicting the connectivity pattern of </a:t>
            </a:r>
            <a:r>
              <a:rPr lang="en-US" altLang="zh-TW" dirty="0" smtClean="0"/>
              <a:t>disulfide bridges </a:t>
            </a:r>
            <a:r>
              <a:rPr lang="en-US" altLang="zh-TW" dirty="0"/>
              <a:t>can significantly reduce the search space, helping to solving the </a:t>
            </a:r>
            <a:r>
              <a:rPr lang="en-US" altLang="zh-TW" dirty="0" smtClean="0"/>
              <a:t>protein-folding problem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Therefore</a:t>
            </a:r>
            <a:r>
              <a:rPr lang="en-US" altLang="zh-TW" dirty="0"/>
              <a:t>, developing an effective means of predicting disulfide connectivity </a:t>
            </a:r>
            <a:r>
              <a:rPr lang="en-US" altLang="zh-TW" dirty="0" smtClean="0"/>
              <a:t>patterns facilitates </a:t>
            </a:r>
            <a:r>
              <a:rPr lang="en-US" altLang="zh-TW" dirty="0"/>
              <a:t>the estimation of the three-dimensional structure of a protein and its function.</a:t>
            </a:r>
          </a:p>
          <a:p>
            <a:r>
              <a:rPr lang="en-US" altLang="zh-TW" dirty="0"/>
              <a:t>To our knowledge, with the prior knowledge of the bonding states of cysteines, </a:t>
            </a:r>
            <a:r>
              <a:rPr lang="en-US" altLang="zh-TW" dirty="0" smtClean="0"/>
              <a:t>the highest </a:t>
            </a:r>
            <a:r>
              <a:rPr lang="en-US" altLang="zh-TW" dirty="0"/>
              <a:t>accuracy rate in the literature for predicting the overall disulfide connectivity </a:t>
            </a:r>
            <a:r>
              <a:rPr lang="en-US" altLang="zh-TW" dirty="0" smtClean="0"/>
              <a:t>pattern (</a:t>
            </a:r>
            <a:r>
              <a:rPr lang="en-US" altLang="zh-TW" dirty="0"/>
              <a:t>Qp) is 74.4% for dataset SP39. Dataset SP39 is conventionally adopted to predict </a:t>
            </a:r>
            <a:r>
              <a:rPr lang="en-US" altLang="zh-TW" dirty="0" smtClean="0"/>
              <a:t>disulfide connectivity</a:t>
            </a:r>
            <a:r>
              <a:rPr lang="en-US" altLang="zh-TW" dirty="0"/>
              <a:t>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24786557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/>
              <a:t>This work presents a novel classifier based on the support vector </a:t>
            </a:r>
            <a:r>
              <a:rPr lang="en-US" altLang="zh-TW" dirty="0" smtClean="0"/>
              <a:t>machine (</a:t>
            </a:r>
            <a:r>
              <a:rPr lang="en-US" altLang="zh-TW" dirty="0"/>
              <a:t>SVM) that incorporates features of position-specific scoring matrix (PSSM), </a:t>
            </a:r>
            <a:r>
              <a:rPr lang="en-US" altLang="zh-TW" dirty="0" smtClean="0"/>
              <a:t>normalized bond </a:t>
            </a:r>
            <a:r>
              <a:rPr lang="en-US" altLang="zh-TW" dirty="0"/>
              <a:t>lengths, the predicted secondary structure of protein, and indices for the </a:t>
            </a:r>
            <a:r>
              <a:rPr lang="en-US" altLang="zh-TW" dirty="0" smtClean="0"/>
              <a:t>physico-chemical properties </a:t>
            </a:r>
            <a:r>
              <a:rPr lang="en-US" altLang="zh-TW" dirty="0"/>
              <a:t>of amino acid.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support vector machine is trained to derive the </a:t>
            </a:r>
            <a:r>
              <a:rPr lang="en-US" altLang="zh-TW" dirty="0" smtClean="0"/>
              <a:t>connectivity probabilities </a:t>
            </a:r>
            <a:r>
              <a:rPr lang="en-US" altLang="zh-TW" dirty="0"/>
              <a:t>of cysteine pairs. Additionally, an evolutionary algorithm called </a:t>
            </a:r>
            <a:r>
              <a:rPr lang="en-US" altLang="zh-TW" dirty="0" smtClean="0"/>
              <a:t>the multiple </a:t>
            </a:r>
            <a:r>
              <a:rPr lang="en-US" altLang="zh-TW" dirty="0"/>
              <a:t>trajectory search (MTS) is integrated with the SVM model to tune the SVM </a:t>
            </a:r>
            <a:r>
              <a:rPr lang="en-US" altLang="zh-TW" dirty="0" smtClean="0"/>
              <a:t>parameters and </a:t>
            </a:r>
            <a:r>
              <a:rPr lang="en-US" altLang="zh-TW" dirty="0"/>
              <a:t>window sizes for the above features. Moreover, the disulfide connectivity </a:t>
            </a:r>
            <a:r>
              <a:rPr lang="en-US" altLang="zh-TW" dirty="0" smtClean="0"/>
              <a:t>pattern is </a:t>
            </a:r>
            <a:r>
              <a:rPr lang="en-US" altLang="zh-TW" dirty="0"/>
              <a:t>identified by using the maximum weight perfect matching algorithm. </a:t>
            </a:r>
            <a:endParaRPr lang="en-US" altLang="zh-TW" dirty="0" smtClean="0"/>
          </a:p>
          <a:p>
            <a:r>
              <a:rPr lang="en-US" altLang="zh-TW" dirty="0" smtClean="0"/>
              <a:t>Experimental results </a:t>
            </a:r>
            <a:r>
              <a:rPr lang="en-US" altLang="zh-TW" dirty="0"/>
              <a:t>indicate that the accuracy rate for predicting the overall disulfide connectivity </a:t>
            </a:r>
            <a:r>
              <a:rPr lang="en-US" altLang="zh-TW" dirty="0" smtClean="0"/>
              <a:t>pattern (</a:t>
            </a:r>
            <a:r>
              <a:rPr lang="en-US" altLang="zh-TW" dirty="0"/>
              <a:t>Qp) reaches 79.8% when tested using the same dataset SP39.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9044922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50" y="116632"/>
            <a:ext cx="8229600" cy="1143000"/>
          </a:xfrm>
        </p:spPr>
        <p:txBody>
          <a:bodyPr/>
          <a:lstStyle/>
          <a:p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Support Vector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Machine(SVM)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支援向量機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(Support Vector Machine, SVM)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是一種監督式學習的方法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，應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用於二元的</a:t>
            </a:r>
            <a:r>
              <a:rPr lang="zh-TW" altLang="en-US" b="1" dirty="0">
                <a:latin typeface="標楷體" pitchFamily="65" charset="-120"/>
                <a:ea typeface="標楷體" pitchFamily="65" charset="-120"/>
              </a:rPr>
              <a:t>分類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問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題。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其精神是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找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出一個超平面，將兩群做分離，距離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(margin)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愈遠，分類效過愈好。</a:t>
            </a:r>
          </a:p>
          <a:p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68412" y="4221088"/>
            <a:ext cx="7277100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4455831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SVM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 descr="File:Svm separating hyperplanes (SVG)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774148"/>
            <a:ext cx="4876800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40647982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Multiple Trajectory Search (MTS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To </a:t>
            </a:r>
            <a:r>
              <a:rPr lang="en-US" altLang="zh-TW" dirty="0"/>
              <a:t>solve the large scale global optimization problem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r>
              <a:rPr lang="en-US" altLang="zh-TW" dirty="0" smtClean="0"/>
              <a:t>Problem definition:</a:t>
            </a:r>
          </a:p>
          <a:p>
            <a:pPr lvl="1"/>
            <a:r>
              <a:rPr lang="en-US" altLang="zh-TW" dirty="0" smtClean="0"/>
              <a:t>Minimize F(X</a:t>
            </a:r>
            <a:r>
              <a:rPr lang="en-US" altLang="zh-TW" dirty="0"/>
              <a:t>) : objective function.</a:t>
            </a:r>
          </a:p>
          <a:p>
            <a:pPr lvl="1"/>
            <a:r>
              <a:rPr lang="en-US" altLang="zh-TW" dirty="0" smtClean="0"/>
              <a:t>Subject to L ≤ X ≤ U</a:t>
            </a:r>
          </a:p>
          <a:p>
            <a:pPr lvl="2"/>
            <a:r>
              <a:rPr lang="en-US" altLang="zh-TW" dirty="0"/>
              <a:t>F(X) </a:t>
            </a:r>
            <a:r>
              <a:rPr lang="en-US" altLang="zh-TW" dirty="0" smtClean="0"/>
              <a:t>X = (x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.., x</a:t>
            </a:r>
            <a:r>
              <a:rPr lang="en-US" altLang="zh-TW" baseline="-25000" dirty="0" smtClean="0"/>
              <a:t>n</a:t>
            </a:r>
            <a:r>
              <a:rPr lang="en-US" altLang="zh-TW" dirty="0" smtClean="0"/>
              <a:t>), L = (l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l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.., </a:t>
            </a:r>
            <a:r>
              <a:rPr lang="en-US" altLang="zh-TW" dirty="0"/>
              <a:t>l</a:t>
            </a:r>
            <a:r>
              <a:rPr lang="en-US" altLang="zh-TW" baseline="-25000" dirty="0" smtClean="0"/>
              <a:t>n</a:t>
            </a:r>
            <a:r>
              <a:rPr lang="en-US" altLang="zh-TW" dirty="0" smtClean="0"/>
              <a:t>), U = (u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u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.., </a:t>
            </a:r>
            <a:r>
              <a:rPr lang="en-US" altLang="zh-TW" dirty="0"/>
              <a:t>u</a:t>
            </a:r>
            <a:r>
              <a:rPr lang="en-US" altLang="zh-TW" baseline="-25000" dirty="0" smtClean="0"/>
              <a:t>n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Feasible solution X satisfies l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≤ x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≤ </a:t>
            </a:r>
            <a:r>
              <a:rPr lang="en-US" altLang="zh-TW" dirty="0" err="1" smtClean="0"/>
              <a:t>u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 ,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= 1 to n</a:t>
            </a:r>
          </a:p>
          <a:p>
            <a:pPr lvl="2"/>
            <a:endParaRPr lang="en-US" altLang="zh-TW" dirty="0" smtClean="0"/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75267500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Multiple Trajectory Search (MTS)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Steps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產生 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M 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個均勻散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布的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clients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(initial solutions)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根據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clients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所在的環境執行較佳的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local search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，並將結果較好的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clients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做為下一次的疊代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(local search)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執行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step2.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，直到到達指定次數，或條件。</a:t>
            </a:r>
            <a:endParaRPr lang="en-US" altLang="zh-TW" baseline="-25000" dirty="0" smtClean="0">
              <a:latin typeface="標楷體" pitchFamily="65" charset="-120"/>
              <a:ea typeface="標楷體" pitchFamily="65" charset="-120"/>
            </a:endParaRPr>
          </a:p>
          <a:p>
            <a:pPr marL="457200" lvl="1" indent="0">
              <a:buNone/>
            </a:pPr>
            <a:endParaRPr lang="en-US" altLang="zh-TW" baseline="-25000" dirty="0" smtClean="0">
              <a:latin typeface="標楷體" pitchFamily="65" charset="-120"/>
              <a:ea typeface="標楷體" pitchFamily="65" charset="-120"/>
            </a:endParaRPr>
          </a:p>
          <a:p>
            <a:pPr marL="457200" lvl="1" indent="0">
              <a:buNone/>
            </a:pPr>
            <a:endParaRPr lang="zh-TW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xmlns="" val="115929667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Local Search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論文中提出三種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local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search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，其行為，為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藉由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search range(SR)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不斷的修改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client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的座標，並帶入目標凾式判斷好壞。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endParaRPr lang="en-US" altLang="zh-TW" dirty="0">
              <a:latin typeface="標楷體" pitchFamily="65" charset="-120"/>
              <a:ea typeface="標楷體" pitchFamily="65" charset="-120"/>
            </a:endParaRPr>
          </a:p>
          <a:p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SR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初始為當前維度，上界與下界的二分之一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292238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Local Search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local search1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做法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 維度從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1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到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N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分開處理，對處理中的維度減去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SR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，若結果提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升，則修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改原值，並跳至下一個維度處理，若無提升則恢復原值，再加上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SR/2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，若提升則修改原值，退化則恢復原值，並跳至下一維度。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  <a:p>
            <a:pPr lvl="1"/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lvl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若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SR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經過一輪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(1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至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N)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無法再有改進，則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SR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的範圍再做修改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:eg: SR = SR*0.4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70760427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Local Search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Local search2: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與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Local search1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相似，從第一維開始，每個維度有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1/4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的機會，要做增刪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SR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，較好則保留，退化則恢復原值，再加減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SR/2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，同樣較好保留，退化則恢復原值，重複直到第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n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維的值。 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27784" y="4509120"/>
            <a:ext cx="276225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83784643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Local Search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Local Search3: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從第一維開始，增減微小量值得到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X</a:t>
            </a:r>
            <a:r>
              <a:rPr lang="en-US" altLang="zh-TW" baseline="-25000" dirty="0" smtClean="0">
                <a:latin typeface="標楷體" pitchFamily="65" charset="-120"/>
                <a:ea typeface="標楷體" pitchFamily="65" charset="-120"/>
              </a:rPr>
              <a:t>1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, Y</a:t>
            </a:r>
            <a:r>
              <a:rPr lang="en-US" altLang="zh-TW" baseline="-25000" dirty="0" smtClean="0">
                <a:latin typeface="標楷體" pitchFamily="65" charset="-120"/>
                <a:ea typeface="標楷體" pitchFamily="65" charset="-120"/>
              </a:rPr>
              <a:t>1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, X</a:t>
            </a:r>
            <a:r>
              <a:rPr lang="en-US" altLang="zh-TW" baseline="-25000" dirty="0" smtClean="0">
                <a:latin typeface="標楷體" pitchFamily="65" charset="-120"/>
                <a:ea typeface="標楷體" pitchFamily="65" charset="-120"/>
              </a:rPr>
              <a:t>2</a:t>
            </a:r>
            <a:r>
              <a:rPr lang="zh-TW" altLang="en-US" baseline="-25000" dirty="0" smtClean="0">
                <a:latin typeface="標楷體" pitchFamily="65" charset="-120"/>
                <a:ea typeface="標楷體" pitchFamily="65" charset="-120"/>
              </a:rPr>
              <a:t>    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，再利用目標凾式與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random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的結果作移動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。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725144"/>
            <a:ext cx="3507767" cy="1014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653083"/>
            <a:ext cx="2545752" cy="243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4517889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Datasets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SP39 :adopted from the SWISS-PROT database, release No. 39 ,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其中最高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bond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數為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5</a:t>
            </a:r>
          </a:p>
          <a:p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使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用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four-fold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cross-validation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實驗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4653136"/>
            <a:ext cx="8277225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24558725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Features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(4)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分別是 分子形狀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、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極化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、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質量、疏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水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性</a:t>
            </a:r>
            <a:r>
              <a:rPr lang="zh-TW" altLang="en-US" dirty="0"/>
              <a:t>等電</a:t>
            </a:r>
            <a:r>
              <a:rPr lang="zh-TW" altLang="en-US" dirty="0" smtClean="0"/>
              <a:t>點</a:t>
            </a:r>
            <a:endParaRPr lang="en-US" altLang="zh-TW" smtClean="0"/>
          </a:p>
          <a:p>
            <a:endParaRPr lang="en-US" altLang="zh-TW" dirty="0">
              <a:latin typeface="標楷體" pitchFamily="65" charset="-120"/>
              <a:ea typeface="標楷體" pitchFamily="65" charset="-120"/>
            </a:endParaRPr>
          </a:p>
          <a:p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the 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features were linearly scaled to [1, 1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].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GCCSDPRCNMNNPDY</a:t>
            </a:r>
            <a:endParaRPr lang="zh-TW" altLang="en-US" dirty="0">
              <a:solidFill>
                <a:schemeClr val="bg1">
                  <a:lumMod val="85000"/>
                </a:schemeClr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84784"/>
            <a:ext cx="8632250" cy="2028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16369137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85118" y="0"/>
            <a:ext cx="557376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51777053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</a:t>
            </a:r>
            <a:r>
              <a:rPr lang="en-US" altLang="zh-TW" dirty="0" smtClean="0"/>
              <a:t>Result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與前人的方法比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較，皆採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sp39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資料庫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lvl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Q</a:t>
            </a:r>
            <a:r>
              <a:rPr lang="en-US" altLang="zh-TW" baseline="-25000" dirty="0" smtClean="0">
                <a:latin typeface="標楷體" pitchFamily="65" charset="-120"/>
                <a:ea typeface="標楷體" pitchFamily="65" charset="-120"/>
              </a:rPr>
              <a:t>p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為整條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protein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猜中的機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率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lvl="1"/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Q</a:t>
            </a:r>
            <a:r>
              <a:rPr lang="en-US" altLang="zh-TW" baseline="-25000" dirty="0" smtClean="0">
                <a:latin typeface="標楷體" pitchFamily="65" charset="-120"/>
                <a:ea typeface="標楷體" pitchFamily="65" charset="-120"/>
              </a:rPr>
              <a:t>c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 為一對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cycteine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猜中的機率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 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6535" y="3453587"/>
            <a:ext cx="9150535" cy="2968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6508033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</a:t>
            </a:r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已下是用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sp39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訓練，分別用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sp43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與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sp56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測試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03260" y="2777852"/>
            <a:ext cx="7591425" cy="201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6288" y="5157192"/>
            <a:ext cx="7595493" cy="897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45088153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807</Words>
  <Application>Microsoft Office PowerPoint</Application>
  <PresentationFormat>如螢幕大小 (4:3)</PresentationFormat>
  <Paragraphs>60</Paragraphs>
  <Slides>16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7" baseType="lpstr">
      <vt:lpstr>Office 佈景主題</vt:lpstr>
      <vt:lpstr>Prediction of disulfide bonding pattern based on a support vector machine and multiple trajectory search </vt:lpstr>
      <vt:lpstr>Abstract</vt:lpstr>
      <vt:lpstr>Abstract</vt:lpstr>
      <vt:lpstr>Support Vector Machine(SVM)</vt:lpstr>
      <vt:lpstr>SVM</vt:lpstr>
      <vt:lpstr>Multiple Trajectory Search (MTS)</vt:lpstr>
      <vt:lpstr>Multiple Trajectory Search (MTS)</vt:lpstr>
      <vt:lpstr>Local Search</vt:lpstr>
      <vt:lpstr>Local Search</vt:lpstr>
      <vt:lpstr>Local Search</vt:lpstr>
      <vt:lpstr>Local Search</vt:lpstr>
      <vt:lpstr>Datasets</vt:lpstr>
      <vt:lpstr>Features</vt:lpstr>
      <vt:lpstr>投影片 14</vt:lpstr>
      <vt:lpstr>Experimental Result</vt:lpstr>
      <vt:lpstr>Experimental Result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Trajectory Search for Large Scale Global Optimization</dc:title>
  <dc:creator>fang</dc:creator>
  <cp:lastModifiedBy>admin</cp:lastModifiedBy>
  <cp:revision>35</cp:revision>
  <dcterms:created xsi:type="dcterms:W3CDTF">2013-07-02T02:03:12Z</dcterms:created>
  <dcterms:modified xsi:type="dcterms:W3CDTF">2013-09-16T11:14:27Z</dcterms:modified>
</cp:coreProperties>
</file>