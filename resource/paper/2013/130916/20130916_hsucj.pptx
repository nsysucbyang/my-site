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63" r:id="rId5"/>
    <p:sldId id="266" r:id="rId6"/>
    <p:sldId id="265" r:id="rId7"/>
    <p:sldId id="260" r:id="rId8"/>
    <p:sldId id="259" r:id="rId9"/>
    <p:sldId id="277" r:id="rId10"/>
    <p:sldId id="269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BA2CCC6-1621-43AA-80E1-9C918F862ACB}">
          <p14:sldIdLst>
            <p14:sldId id="256"/>
            <p14:sldId id="257"/>
            <p14:sldId id="258"/>
            <p14:sldId id="263"/>
            <p14:sldId id="266"/>
            <p14:sldId id="265"/>
            <p14:sldId id="260"/>
            <p14:sldId id="259"/>
            <p14:sldId id="277"/>
            <p14:sldId id="269"/>
            <p14:sldId id="267"/>
            <p14:sldId id="268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9" autoAdjust="0"/>
    <p:restoredTop sz="94718" autoAdjust="0"/>
  </p:normalViewPr>
  <p:slideViewPr>
    <p:cSldViewPr>
      <p:cViewPr varScale="1">
        <p:scale>
          <a:sx n="70" d="100"/>
          <a:sy n="70" d="100"/>
        </p:scale>
        <p:origin x="51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dl.acm.org/citation.cfm?id=2487633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mirlab.org/jang/books/dcpr/dpDtw.asp?title=8-4%20Dynamic%20Time%20Warping&amp;language=al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http://dl.acm.org/citation.cfm?id=2487633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Ref: </a:t>
            </a:r>
            <a:r>
              <a:rPr lang="en-US" altLang="zh-TW" dirty="0" smtClean="0">
                <a:hlinkClick r:id="rId3"/>
              </a:rPr>
              <a:t>http://mirlab.org/jang/books/dcpr/dpDtw.asp?title=8-4%20Dynamic%20Time%20Warping&amp;language=all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112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dirty="0" smtClean="0"/>
              <a:t>按一下以編輯母片副標題樣式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latinLnBrk="0" hangingPunct="1">
        <a:spcBef>
          <a:spcPct val="0"/>
        </a:spcBef>
        <a:buNone/>
        <a:defRPr kumimoji="0"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/>
              <a:t>DTW-D: Time Series </a:t>
            </a:r>
            <a:r>
              <a:rPr lang="en-US" altLang="zh-TW" sz="4000" dirty="0" smtClean="0"/>
              <a:t>Semi-Supervised </a:t>
            </a:r>
            <a:r>
              <a:rPr lang="en-US" altLang="zh-TW" sz="4000" dirty="0"/>
              <a:t>Learning from </a:t>
            </a:r>
            <a:r>
              <a:rPr lang="en-US" altLang="zh-TW" sz="4000" dirty="0" smtClean="0"/>
              <a:t>a Single </a:t>
            </a:r>
            <a:r>
              <a:rPr lang="en-US" altLang="zh-TW" sz="4000" dirty="0"/>
              <a:t>Example</a:t>
            </a:r>
            <a:endParaRPr lang="zh-TW" altLang="en-US" sz="4000" b="1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802042"/>
          </a:xfrm>
        </p:spPr>
        <p:txBody>
          <a:bodyPr>
            <a:normAutofit/>
          </a:bodyPr>
          <a:lstStyle/>
          <a:p>
            <a:r>
              <a:rPr lang="en-US" altLang="zh-TW" dirty="0" err="1" smtClean="0"/>
              <a:t>Yanping</a:t>
            </a:r>
            <a:r>
              <a:rPr lang="en-US" altLang="zh-TW" dirty="0" smtClean="0"/>
              <a:t> Chen, Bing Hu, </a:t>
            </a:r>
            <a:r>
              <a:rPr lang="en-US" altLang="zh-TW" dirty="0" err="1" smtClean="0"/>
              <a:t>Eamonn</a:t>
            </a:r>
            <a:r>
              <a:rPr lang="en-US" altLang="zh-TW" dirty="0" smtClean="0"/>
              <a:t> Keogh, Gustavo </a:t>
            </a:r>
            <a:r>
              <a:rPr lang="en-US" altLang="zh-TW" dirty="0"/>
              <a:t>E.A.P.A </a:t>
            </a:r>
            <a:r>
              <a:rPr lang="en-US" altLang="zh-TW" dirty="0" smtClean="0"/>
              <a:t>Batista</a:t>
            </a:r>
          </a:p>
          <a:p>
            <a:r>
              <a:rPr lang="en-US" altLang="zh-TW" dirty="0" smtClean="0"/>
              <a:t>Proceedings </a:t>
            </a:r>
            <a:r>
              <a:rPr lang="en-US" altLang="zh-TW" dirty="0"/>
              <a:t>of the 19th ACM SIGKDD international conference on Knowledge discovery and data </a:t>
            </a:r>
            <a:r>
              <a:rPr lang="en-US" altLang="zh-TW" dirty="0" smtClean="0"/>
              <a:t>mining, Pages 383-391, 2013 </a:t>
            </a:r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687600" y="5641322"/>
            <a:ext cx="6400800" cy="110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Presenter: </a:t>
            </a:r>
            <a:r>
              <a:rPr lang="en-US" altLang="zh-TW" sz="2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Che-Jui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Hsu (</a:t>
            </a:r>
            <a:r>
              <a:rPr lang="zh-TW" altLang="en-US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許哲睿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Date: </a:t>
            </a:r>
            <a:fld id="{3DC95CE2-72FD-4627-B4FE-7CBC89963158}" type="datetime1">
              <a:rPr lang="zh-TW" altLang="en-US" sz="28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2013/9/16</a:t>
            </a:fld>
            <a:endParaRPr lang="en-US" altLang="zh-TW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457200" algn="just">
              <a:buNone/>
            </a:pPr>
            <a:r>
              <a:rPr lang="en-US" altLang="zh-TW" dirty="0"/>
              <a:t>Classification of time series data is an important problem </a:t>
            </a:r>
            <a:r>
              <a:rPr lang="en-US" altLang="zh-TW" dirty="0" smtClean="0"/>
              <a:t>with applications </a:t>
            </a:r>
            <a:r>
              <a:rPr lang="en-US" altLang="zh-TW" dirty="0"/>
              <a:t>in virtually every scientific endeavor. The </a:t>
            </a:r>
            <a:r>
              <a:rPr lang="en-US" altLang="zh-TW" dirty="0" smtClean="0"/>
              <a:t>large research </a:t>
            </a:r>
            <a:r>
              <a:rPr lang="en-US" altLang="zh-TW" dirty="0"/>
              <a:t>community working on time series classification </a:t>
            </a:r>
            <a:r>
              <a:rPr lang="en-US" altLang="zh-TW" dirty="0" smtClean="0"/>
              <a:t>has typically </a:t>
            </a:r>
            <a:r>
              <a:rPr lang="en-US" altLang="zh-TW" dirty="0"/>
              <a:t>used the UCR Archive to test their algorithms. In </a:t>
            </a:r>
            <a:r>
              <a:rPr lang="en-US" altLang="zh-TW" dirty="0" smtClean="0"/>
              <a:t>this work </a:t>
            </a:r>
            <a:r>
              <a:rPr lang="en-US" altLang="zh-TW" dirty="0"/>
              <a:t>we argue that the availability of this resource has </a:t>
            </a:r>
            <a:r>
              <a:rPr lang="en-US" altLang="zh-TW" dirty="0" smtClean="0"/>
              <a:t>isolated much </a:t>
            </a:r>
            <a:r>
              <a:rPr lang="en-US" altLang="zh-TW" dirty="0"/>
              <a:t>of the research community from the following </a:t>
            </a:r>
            <a:r>
              <a:rPr lang="en-US" altLang="zh-TW" dirty="0" smtClean="0"/>
              <a:t>reality, </a:t>
            </a:r>
            <a:r>
              <a:rPr lang="en-US" altLang="zh-TW" i="1" dirty="0" smtClean="0"/>
              <a:t>labeled</a:t>
            </a:r>
            <a:r>
              <a:rPr lang="en-US" altLang="zh-TW" dirty="0" smtClean="0"/>
              <a:t> </a:t>
            </a:r>
            <a:r>
              <a:rPr lang="en-US" altLang="zh-TW" dirty="0"/>
              <a:t>time series data is often </a:t>
            </a:r>
            <a:r>
              <a:rPr lang="en-US" altLang="zh-TW" i="1" dirty="0"/>
              <a:t>very</a:t>
            </a:r>
            <a:r>
              <a:rPr lang="en-US" altLang="zh-TW" dirty="0"/>
              <a:t> difficult to </a:t>
            </a:r>
            <a:r>
              <a:rPr lang="en-US" altLang="zh-TW" dirty="0" smtClean="0"/>
              <a:t>obtain.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245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457200" algn="just">
              <a:buNone/>
            </a:pPr>
            <a:r>
              <a:rPr lang="en-US" altLang="zh-TW" dirty="0" smtClean="0"/>
              <a:t>The </a:t>
            </a:r>
            <a:r>
              <a:rPr lang="en-US" altLang="zh-TW" dirty="0"/>
              <a:t>obvious solution to this problem is the application of </a:t>
            </a:r>
            <a:r>
              <a:rPr lang="en-US" altLang="zh-TW" dirty="0" smtClean="0"/>
              <a:t>semi-supervised learning</a:t>
            </a:r>
            <a:r>
              <a:rPr lang="en-US" altLang="zh-TW" dirty="0"/>
              <a:t>; however, as we shall show, </a:t>
            </a:r>
            <a:r>
              <a:rPr lang="en-US" altLang="zh-TW" dirty="0" smtClean="0"/>
              <a:t>direct applications </a:t>
            </a:r>
            <a:r>
              <a:rPr lang="en-US" altLang="zh-TW" dirty="0"/>
              <a:t>of off-the-shelf semi-supervised learning </a:t>
            </a:r>
            <a:r>
              <a:rPr lang="en-US" altLang="zh-TW" dirty="0" smtClean="0"/>
              <a:t>algorithms do </a:t>
            </a:r>
            <a:r>
              <a:rPr lang="en-US" altLang="zh-TW" dirty="0"/>
              <a:t>not typically work well for time series. In this work we </a:t>
            </a:r>
            <a:r>
              <a:rPr lang="en-US" altLang="zh-TW" dirty="0" smtClean="0"/>
              <a:t>explain </a:t>
            </a:r>
            <a:r>
              <a:rPr lang="en-US" altLang="zh-TW" i="1" dirty="0" smtClean="0"/>
              <a:t>why </a:t>
            </a:r>
            <a:r>
              <a:rPr lang="en-US" altLang="zh-TW" dirty="0"/>
              <a:t>semi-supervised learning algorithms typically fail for </a:t>
            </a:r>
            <a:r>
              <a:rPr lang="en-US" altLang="zh-TW" dirty="0" smtClean="0"/>
              <a:t>time series </a:t>
            </a:r>
            <a:r>
              <a:rPr lang="en-US" altLang="zh-TW" dirty="0"/>
              <a:t>problems, and we introduce a simple but very effective </a:t>
            </a:r>
            <a:r>
              <a:rPr lang="en-US" altLang="zh-TW" dirty="0" smtClean="0"/>
              <a:t>fix. We </a:t>
            </a:r>
            <a:r>
              <a:rPr lang="en-US" altLang="zh-TW" dirty="0"/>
              <a:t>demonstrate our ideas on diverse real word problems.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721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Euclidean </a:t>
            </a:r>
            <a:r>
              <a:rPr lang="en-US" altLang="zh-TW" b="1" dirty="0" smtClean="0"/>
              <a:t>Distance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The Euclidean distance (ED) between </a:t>
                </a:r>
                <a:r>
                  <a:rPr lang="en-US" altLang="zh-TW" i="1" dirty="0" smtClean="0"/>
                  <a:t>P </a:t>
                </a:r>
                <a:r>
                  <a:rPr lang="en-US" altLang="zh-TW" dirty="0"/>
                  <a:t>and </a:t>
                </a:r>
                <a:r>
                  <a:rPr lang="en-US" altLang="zh-TW" i="1" dirty="0" smtClean="0"/>
                  <a:t>U</a:t>
                </a:r>
                <a:r>
                  <a:rPr lang="en-US" altLang="zh-TW" dirty="0" smtClean="0"/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altLang="zh-TW" dirty="0" smtClean="0"/>
                  <a:t> is </a:t>
                </a:r>
                <a:r>
                  <a:rPr lang="en-US" altLang="zh-TW" dirty="0"/>
                  <a:t>defined as</a:t>
                </a:r>
                <a:r>
                  <a:rPr lang="en-US" altLang="zh-TW" dirty="0" smtClean="0"/>
                  <a:t>: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𝐸𝐷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752" r="-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96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Time Warping (1/2)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</a:rPr>
                      <m:t>𝐷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𝑇𝑊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, </m:t>
                        </m:r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zh-TW">
                        <a:latin typeface="Cambria Math"/>
                      </a:rPr>
                      <m:t>cost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, </m:t>
                        </m:r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i="1">
                        <a:latin typeface="Cambria Math"/>
                      </a:rPr>
                      <m:t>+</m:t>
                    </m:r>
                  </m:oMath>
                </a14:m>
                <a:r>
                  <a:rPr lang="en-US" altLang="zh-TW" i="1" dirty="0">
                    <a:latin typeface="Cambria Math"/>
                  </a:rPr>
                  <a:t/>
                </a:r>
                <a:br>
                  <a:rPr lang="en-US" altLang="zh-TW" i="1" dirty="0">
                    <a:latin typeface="Cambria Math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−1, 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,−1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3074" name="Picture 2" descr="http://mirlab.org/jang/books/dcpr/image/dtwLocalPathConstraint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906" y="2996952"/>
            <a:ext cx="470535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51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Dynamic Time Warping </a:t>
            </a:r>
            <a:r>
              <a:rPr lang="en-US" altLang="zh-TW" b="1" dirty="0" smtClean="0"/>
              <a:t>(2/2)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0.1, 0.3, 0.5, 0.4, 0.2</m:t>
                        </m:r>
                      </m:e>
                    </m:d>
                  </m:oMath>
                </a14:m>
                <a:endParaRPr lang="en-US" altLang="zh-TW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0.3, 0.2, 0.4, 0.1, 0.5</m:t>
                        </m:r>
                      </m:e>
                    </m:d>
                  </m:oMath>
                </a14:m>
                <a:endParaRPr lang="en-US" altLang="zh-TW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mtClean="0">
                        <a:latin typeface="Cambria Math"/>
                      </a:rPr>
                      <m:t>𝑐𝑜𝑠𝑡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>
                            <a:latin typeface="Cambria Math"/>
                          </a:rPr>
                          <m:t>𝑖</m:t>
                        </m:r>
                        <m:r>
                          <a:rPr lang="en-US" altLang="zh-TW">
                            <a:latin typeface="Cambria Math"/>
                          </a:rPr>
                          <m:t>, </m:t>
                        </m:r>
                        <m:r>
                          <a:rPr lang="en-US" altLang="zh-TW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altLang="zh-TW">
                            <a:latin typeface="Cambria Math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內容版面配置區 5"/>
              <p:cNvGraphicFramePr>
                <a:graphicFrameLocks/>
              </p:cNvGraphicFramePr>
              <p:nvPr>
                <p:extLst/>
              </p:nvPr>
            </p:nvGraphicFramePr>
            <p:xfrm>
              <a:off x="457200" y="3429000"/>
              <a:ext cx="8229600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1600"/>
                    <a:gridCol w="1371600"/>
                    <a:gridCol w="1371600"/>
                    <a:gridCol w="1371600"/>
                    <a:gridCol w="1371600"/>
                    <a:gridCol w="1371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0.1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0.3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0.5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0.4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0.2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0.3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0.2+0</m:t>
                                </m:r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0+0.2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0.2+0.2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0.1+0.4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0.1+0.5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0.2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0.1+0.2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0.1+0.2</m:t>
                                </m:r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0.3+0.2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0.2+0.4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0+0.5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0.4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0.3+0.3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0.1+0.3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0.1+0.3</m:t>
                                </m:r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0+0.4</m:t>
                                </m:r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0.2+0.4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0.1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0+0.6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0.2+0.4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0.4+0.4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0.3+0.4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0.1+0.4</m:t>
                                </m:r>
                              </m:oMath>
                            </m:oMathPara>
                          </a14:m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0.5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0.4+0.6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0.2+0.6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0+0.6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smtClean="0">
                                    <a:latin typeface="Cambria Math"/>
                                  </a:rPr>
                                  <m:t>0.1+0.6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altLang="zh-TW" sz="2400" b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US" altLang="zh-TW" sz="2400" b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altLang="zh-TW" sz="2400" b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內容版面配置區 5"/>
              <p:cNvGraphicFramePr>
                <a:graphicFrameLocks/>
              </p:cNvGraphicFramePr>
              <p:nvPr>
                <p:extLst/>
              </p:nvPr>
            </p:nvGraphicFramePr>
            <p:xfrm>
              <a:off x="457200" y="3429000"/>
              <a:ext cx="8229600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71600"/>
                    <a:gridCol w="1371600"/>
                    <a:gridCol w="1371600"/>
                    <a:gridCol w="1371600"/>
                    <a:gridCol w="1371600"/>
                    <a:gridCol w="1371600"/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0.1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0.3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0.5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0.4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0.2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0.3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889" t="-109333" r="-401333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0889" t="-109333" r="-301333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0889" t="-109333" r="-201333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400889" t="-109333" r="-101333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00889" t="-109333" r="-1333" b="-430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0.2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889" t="-206579" r="-401333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0889" t="-206579" r="-301333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0889" t="-206579" r="-201333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400889" t="-206579" r="-101333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00889" t="-206579" r="-1333" b="-325000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0.4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889" t="-310667" r="-401333" b="-2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0889" t="-310667" r="-301333" b="-2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0889" t="-310667" r="-201333" b="-2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400889" t="-310667" r="-101333" b="-2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00889" t="-310667" r="-1333" b="-229333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0.1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889" t="-410667" r="-401333" b="-1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0889" t="-410667" r="-301333" b="-1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0889" t="-410667" r="-201333" b="-1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400889" t="-410667" r="-101333" b="-1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00889" t="-410667" r="-1333" b="-129333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0.5</a:t>
                          </a:r>
                          <a:endParaRPr lang="zh-TW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889" t="-510667" r="-401333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0889" t="-510667" r="-301333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0889" t="-510667" r="-201333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400889" t="-510667" r="-101333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00889" t="-510667" r="-1333" b="-2933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5669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Dynamic Time </a:t>
            </a:r>
            <a:r>
              <a:rPr lang="en-US" altLang="zh-TW" dirty="0" smtClean="0"/>
              <a:t>Warping-Delta (</a:t>
            </a:r>
            <a:r>
              <a:rPr lang="en-US" altLang="zh-TW" smtClean="0"/>
              <a:t>DTW-D</a:t>
            </a:r>
            <a:r>
              <a:rPr lang="en-US" altLang="zh-TW" smtClean="0"/>
              <a:t>) (1/2)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𝐷𝑇𝑊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𝐷𝑇𝑊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𝐸𝐷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435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Why?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b="32581"/>
          <a:stretch/>
        </p:blipFill>
        <p:spPr>
          <a:xfrm>
            <a:off x="297887" y="1602001"/>
            <a:ext cx="8522585" cy="233105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/>
          <a:srcRect t="23204"/>
          <a:stretch/>
        </p:blipFill>
        <p:spPr>
          <a:xfrm>
            <a:off x="611560" y="3926155"/>
            <a:ext cx="7951366" cy="238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48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Dynamic Time </a:t>
            </a:r>
            <a:r>
              <a:rPr lang="en-US" altLang="zh-TW" dirty="0" smtClean="0"/>
              <a:t>Warping-Delta (DTW-D</a:t>
            </a:r>
            <a:r>
              <a:rPr lang="en-US" altLang="zh-TW" dirty="0" smtClean="0"/>
              <a:t>)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 smtClean="0"/>
              <a:t>Assumption </a:t>
            </a:r>
            <a:r>
              <a:rPr lang="en-US" altLang="zh-TW" b="1" dirty="0"/>
              <a:t>1: </a:t>
            </a:r>
            <a:r>
              <a:rPr lang="en-US" altLang="zh-TW" dirty="0"/>
              <a:t>The positive class (the target concept) </a:t>
            </a:r>
            <a:r>
              <a:rPr lang="en-US" altLang="zh-TW" dirty="0" smtClean="0"/>
              <a:t>contains time </a:t>
            </a:r>
            <a:r>
              <a:rPr lang="en-US" altLang="zh-TW" dirty="0"/>
              <a:t>warped versions of some platonic ideal (some </a:t>
            </a:r>
            <a:r>
              <a:rPr lang="en-US" altLang="zh-TW" dirty="0" smtClean="0"/>
              <a:t>prototypical shape</a:t>
            </a:r>
            <a:r>
              <a:rPr lang="en-US" altLang="zh-TW" dirty="0"/>
              <a:t>), possibly with other types of noise/distortions</a:t>
            </a:r>
            <a:r>
              <a:rPr lang="en-US" altLang="zh-TW" dirty="0" smtClean="0"/>
              <a:t>.</a:t>
            </a:r>
          </a:p>
          <a:p>
            <a:r>
              <a:rPr lang="en-US" altLang="zh-TW" b="1" dirty="0"/>
              <a:t>Assumption 2: </a:t>
            </a:r>
            <a:r>
              <a:rPr lang="en-US" altLang="zh-TW" dirty="0"/>
              <a:t>The negative class may be very diverse, </a:t>
            </a:r>
            <a:r>
              <a:rPr lang="en-US" altLang="zh-TW" dirty="0" smtClean="0"/>
              <a:t>and occasionally </a:t>
            </a:r>
            <a:r>
              <a:rPr lang="en-US" altLang="zh-TW" dirty="0"/>
              <a:t>by chance produces objects close to a member </a:t>
            </a:r>
            <a:r>
              <a:rPr lang="en-US" altLang="zh-TW" dirty="0" smtClean="0"/>
              <a:t>of the </a:t>
            </a:r>
            <a:r>
              <a:rPr lang="en-US" altLang="zh-TW" dirty="0"/>
              <a:t>positive class, even under DTW.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804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Training the Classifier </a:t>
            </a:r>
            <a:r>
              <a:rPr lang="en-US" altLang="zh-TW" dirty="0" smtClean="0"/>
              <a:t>(1/3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320" y="1283970"/>
            <a:ext cx="5537359" cy="557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4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Training the </a:t>
            </a:r>
            <a:r>
              <a:rPr lang="en-US" altLang="zh-TW" dirty="0" smtClean="0"/>
              <a:t>Classifier 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b="1" dirty="0"/>
              <a:t>Step 1:</a:t>
            </a:r>
            <a:r>
              <a:rPr lang="en-US" altLang="zh-TW" dirty="0"/>
              <a:t> The classifier is trained on the initial labeled </a:t>
            </a:r>
            <a:r>
              <a:rPr lang="en-US" altLang="zh-TW" dirty="0" smtClean="0"/>
              <a:t>dataset, which </a:t>
            </a:r>
            <a:r>
              <a:rPr lang="en-US" altLang="zh-TW" dirty="0"/>
              <a:t>contains as few as only one object from the positive </a:t>
            </a:r>
            <a:r>
              <a:rPr lang="en-US" altLang="zh-TW" dirty="0" smtClean="0"/>
              <a:t>class. Note </a:t>
            </a:r>
            <a:r>
              <a:rPr lang="en-US" altLang="zh-TW" dirty="0"/>
              <a:t>that the labeled dataset is augmented gradually during </a:t>
            </a:r>
            <a:r>
              <a:rPr lang="en-US" altLang="zh-TW" dirty="0" smtClean="0"/>
              <a:t>the training </a:t>
            </a:r>
            <a:r>
              <a:rPr lang="en-US" altLang="zh-TW" dirty="0"/>
              <a:t>process.</a:t>
            </a:r>
          </a:p>
          <a:p>
            <a:r>
              <a:rPr lang="en-US" altLang="zh-TW" b="1" dirty="0"/>
              <a:t>Step 2:</a:t>
            </a:r>
            <a:r>
              <a:rPr lang="en-US" altLang="zh-TW" dirty="0"/>
              <a:t> For each object in the unlabeled dataset U, we </a:t>
            </a:r>
            <a:r>
              <a:rPr lang="en-US" altLang="zh-TW" dirty="0" smtClean="0"/>
              <a:t>compute its </a:t>
            </a:r>
            <a:r>
              <a:rPr lang="en-US" altLang="zh-TW" dirty="0"/>
              <a:t>distance to the labeled dataset using DTW-D (Line 10 to </a:t>
            </a:r>
            <a:r>
              <a:rPr lang="en-US" altLang="zh-TW" dirty="0" smtClean="0"/>
              <a:t>Line 13</a:t>
            </a:r>
            <a:r>
              <a:rPr lang="en-US" altLang="zh-TW" dirty="0"/>
              <a:t>). An object’s distance to the labeled dataset is the distance </a:t>
            </a:r>
            <a:r>
              <a:rPr lang="en-US" altLang="zh-TW" dirty="0" smtClean="0"/>
              <a:t>of the </a:t>
            </a:r>
            <a:r>
              <a:rPr lang="en-US" altLang="zh-TW" dirty="0"/>
              <a:t>object to its nearest neighbor in the labeled dataset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284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Training the </a:t>
            </a:r>
            <a:r>
              <a:rPr lang="en-US" altLang="zh-TW" dirty="0" smtClean="0"/>
              <a:t>Classifier 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 smtClean="0"/>
              <a:t>Step </a:t>
            </a:r>
            <a:r>
              <a:rPr lang="en-US" altLang="zh-TW" b="1" dirty="0"/>
              <a:t>3:</a:t>
            </a:r>
            <a:r>
              <a:rPr lang="en-US" altLang="zh-TW" dirty="0"/>
              <a:t> Among all the unlabeled objects, the one we can </a:t>
            </a:r>
            <a:r>
              <a:rPr lang="en-US" altLang="zh-TW" dirty="0" smtClean="0"/>
              <a:t>most confidently </a:t>
            </a:r>
            <a:r>
              <a:rPr lang="en-US" altLang="zh-TW" dirty="0"/>
              <a:t>classify as positive is the object that is closest to </a:t>
            </a:r>
            <a:r>
              <a:rPr lang="en-US" altLang="zh-TW" dirty="0" smtClean="0"/>
              <a:t>the labeled </a:t>
            </a:r>
            <a:r>
              <a:rPr lang="en-US" altLang="zh-TW" dirty="0"/>
              <a:t>dataset (Line 3). The object is added into the </a:t>
            </a:r>
            <a:r>
              <a:rPr lang="en-US" altLang="zh-TW" dirty="0" smtClean="0"/>
              <a:t>labeled dataset </a:t>
            </a:r>
            <a:r>
              <a:rPr lang="en-US" altLang="zh-TW" dirty="0"/>
              <a:t>(Line 4) and removed from the unlabeled dataset (Line 5</a:t>
            </a:r>
            <a:r>
              <a:rPr lang="en-US" altLang="zh-TW" dirty="0" smtClean="0"/>
              <a:t>). With </a:t>
            </a:r>
            <a:r>
              <a:rPr lang="en-US" altLang="zh-TW" dirty="0"/>
              <a:t>the labeled dataset being adjusted, we return to Step 1 to </a:t>
            </a:r>
            <a:r>
              <a:rPr lang="en-US" altLang="zh-TW" dirty="0" smtClean="0"/>
              <a:t>retrain the </a:t>
            </a:r>
            <a:r>
              <a:rPr lang="en-US" altLang="zh-TW" dirty="0"/>
              <a:t>classifier. The procedure repeated until some </a:t>
            </a:r>
            <a:r>
              <a:rPr lang="en-US" altLang="zh-TW" dirty="0" smtClean="0"/>
              <a:t>stopping criterion </a:t>
            </a:r>
            <a:r>
              <a:rPr lang="en-US" altLang="zh-TW" dirty="0"/>
              <a:t>is met.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1242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Evaluating the Classifier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zh-TW" dirty="0"/>
                  <a:t>If an instance in the test dataset is top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TW" i="1" dirty="0"/>
                  <a:t> </a:t>
                </a:r>
                <a:r>
                  <a:rPr lang="en-US" altLang="zh-TW" dirty="0"/>
                  <a:t>closest </a:t>
                </a:r>
                <a:r>
                  <a:rPr lang="en-US" altLang="zh-TW" dirty="0" smtClean="0"/>
                  <a:t>to the </a:t>
                </a:r>
                <a:r>
                  <a:rPr lang="en-US" altLang="zh-TW" dirty="0"/>
                  <a:t>labeled dataset, the instance is classified as positive, </a:t>
                </a:r>
                <a:r>
                  <a:rPr lang="en-US" altLang="zh-TW" dirty="0" smtClean="0"/>
                  <a:t>otherwise it </a:t>
                </a:r>
                <a:r>
                  <a:rPr lang="en-US" altLang="zh-TW" dirty="0"/>
                  <a:t>is negative.</a:t>
                </a:r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𝑝𝑟𝑒𝑐𝑖𝑠𝑖𝑜𝑛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𝑝𝑜𝑠𝑖𝑡𝑖𝑣𝑒</m:t>
                            </m:r>
                          </m:sub>
                        </m:sSub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the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number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of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positive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objects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in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the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test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dataset</m:t>
                    </m:r>
                    <m:r>
                      <m:rPr>
                        <m:nor/>
                      </m:rPr>
                      <a:rPr lang="en-US" altLang="zh-TW" dirty="0"/>
                      <m:t>.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the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number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of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true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positives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among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the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top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nor/>
                      </m:rPr>
                      <a:rPr lang="en-US" altLang="zh-TW" i="1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closest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instances</m:t>
                    </m:r>
                    <m:r>
                      <m:rPr>
                        <m:nor/>
                      </m:rPr>
                      <a:rPr lang="en-US" altLang="zh-TW" dirty="0"/>
                      <m:t>.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8" t="-1752" r="-2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7252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Evaluation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b="1" dirty="0"/>
              <a:t>Learning dataset: </a:t>
            </a:r>
            <a:r>
              <a:rPr lang="en-US" altLang="zh-TW" dirty="0"/>
              <a:t>The </a:t>
            </a:r>
            <a:r>
              <a:rPr lang="en-US" altLang="zh-TW" i="1" dirty="0"/>
              <a:t>learning dataset </a:t>
            </a:r>
            <a:r>
              <a:rPr lang="en-US" altLang="zh-TW" dirty="0"/>
              <a:t>is used in the </a:t>
            </a:r>
            <a:r>
              <a:rPr lang="en-US" altLang="zh-TW" dirty="0" smtClean="0"/>
              <a:t>SSL process </a:t>
            </a:r>
            <a:r>
              <a:rPr lang="en-US" altLang="zh-TW" dirty="0"/>
              <a:t>to train the classifier. It is divided into the </a:t>
            </a:r>
            <a:r>
              <a:rPr lang="en-US" altLang="zh-TW" dirty="0" smtClean="0"/>
              <a:t>labeled dataset </a:t>
            </a:r>
            <a:r>
              <a:rPr lang="en-US" altLang="zh-TW" i="1" dirty="0"/>
              <a:t>P </a:t>
            </a:r>
            <a:r>
              <a:rPr lang="en-US" altLang="zh-TW" dirty="0"/>
              <a:t>and the unlabeled dataset </a:t>
            </a:r>
            <a:r>
              <a:rPr lang="en-US" altLang="zh-TW" i="1" dirty="0"/>
              <a:t>U</a:t>
            </a:r>
            <a:r>
              <a:rPr lang="en-US" altLang="zh-TW" dirty="0"/>
              <a:t>. The labeled </a:t>
            </a:r>
            <a:r>
              <a:rPr lang="en-US" altLang="zh-TW" dirty="0" smtClean="0"/>
              <a:t>dataset includes </a:t>
            </a:r>
            <a:r>
              <a:rPr lang="en-US" altLang="zh-TW" dirty="0"/>
              <a:t>a </a:t>
            </a:r>
            <a:r>
              <a:rPr lang="en-US" altLang="zh-TW" i="1" dirty="0"/>
              <a:t>single </a:t>
            </a:r>
            <a:r>
              <a:rPr lang="en-US" altLang="zh-TW" dirty="0"/>
              <a:t>positive example, which is a </a:t>
            </a:r>
            <a:r>
              <a:rPr lang="en-US" altLang="zh-TW" dirty="0" smtClean="0"/>
              <a:t>randomly selected </a:t>
            </a:r>
            <a:r>
              <a:rPr lang="en-US" altLang="zh-TW" dirty="0"/>
              <a:t>true positive object from the learning dataset. </a:t>
            </a:r>
            <a:r>
              <a:rPr lang="en-US" altLang="zh-TW" dirty="0" smtClean="0"/>
              <a:t>The rest </a:t>
            </a:r>
            <a:r>
              <a:rPr lang="en-US" altLang="zh-TW" dirty="0"/>
              <a:t>of objects in the learning dataset are regarded </a:t>
            </a:r>
            <a:r>
              <a:rPr lang="en-US" altLang="zh-TW" dirty="0" smtClean="0"/>
              <a:t>as unlabeled </a:t>
            </a:r>
            <a:r>
              <a:rPr lang="en-US" altLang="zh-TW" dirty="0"/>
              <a:t>objects and are included in </a:t>
            </a:r>
            <a:r>
              <a:rPr lang="en-US" altLang="zh-TW" i="1" dirty="0"/>
              <a:t>U</a:t>
            </a:r>
            <a:r>
              <a:rPr lang="en-US" altLang="zh-TW" dirty="0"/>
              <a:t>.</a:t>
            </a:r>
          </a:p>
          <a:p>
            <a:r>
              <a:rPr lang="en-US" altLang="zh-TW" b="1" dirty="0" smtClean="0"/>
              <a:t>Holdout </a:t>
            </a:r>
            <a:r>
              <a:rPr lang="en-US" altLang="zh-TW" b="1" dirty="0"/>
              <a:t>dataset: </a:t>
            </a:r>
            <a:r>
              <a:rPr lang="en-US" altLang="zh-TW" dirty="0"/>
              <a:t>The </a:t>
            </a:r>
            <a:r>
              <a:rPr lang="en-US" altLang="zh-TW" i="1" dirty="0"/>
              <a:t>holdout dataset </a:t>
            </a:r>
            <a:r>
              <a:rPr lang="en-US" altLang="zh-TW" dirty="0"/>
              <a:t>is used to test </a:t>
            </a:r>
            <a:r>
              <a:rPr lang="en-US" altLang="zh-TW" dirty="0" smtClean="0"/>
              <a:t>the accuracy </a:t>
            </a:r>
            <a:r>
              <a:rPr lang="en-US" altLang="zh-TW" dirty="0"/>
              <a:t>of the learned classifier. Objects in the </a:t>
            </a:r>
            <a:r>
              <a:rPr lang="en-US" altLang="zh-TW" dirty="0" smtClean="0"/>
              <a:t>holdout dataset </a:t>
            </a:r>
            <a:r>
              <a:rPr lang="en-US" altLang="zh-TW" dirty="0"/>
              <a:t>are hidden from the SSL process.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6022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69" y="3645024"/>
            <a:ext cx="7158261" cy="316103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Insect </a:t>
            </a:r>
            <a:r>
              <a:rPr lang="en-US" altLang="zh-TW" dirty="0" err="1"/>
              <a:t>Wingbeat</a:t>
            </a:r>
            <a:r>
              <a:rPr lang="en-US" altLang="zh-TW" dirty="0"/>
              <a:t> Sound </a:t>
            </a:r>
            <a:r>
              <a:rPr lang="en-US" altLang="zh-TW" dirty="0" smtClean="0"/>
              <a:t>Detection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Learning: </a:t>
            </a:r>
            <a:r>
              <a:rPr lang="en-US" altLang="zh-TW" dirty="0"/>
              <a:t>500 insect sounds and 2000 non-insect </a:t>
            </a:r>
            <a:r>
              <a:rPr lang="en-US" altLang="zh-TW" dirty="0" smtClean="0"/>
              <a:t>sounds.</a:t>
            </a:r>
          </a:p>
          <a:p>
            <a:r>
              <a:rPr lang="en-US" altLang="zh-TW" dirty="0"/>
              <a:t>Holdout: 500 insect sounds and 2,200 radio </a:t>
            </a:r>
            <a:r>
              <a:rPr lang="en-US" altLang="zh-TW" dirty="0" smtClean="0"/>
              <a:t>sounds.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2599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Insect </a:t>
            </a:r>
            <a:r>
              <a:rPr lang="en-US" altLang="zh-TW" dirty="0" err="1"/>
              <a:t>Wingbeat</a:t>
            </a:r>
            <a:r>
              <a:rPr lang="en-US" altLang="zh-TW" dirty="0"/>
              <a:t> Sound Detection </a:t>
            </a:r>
            <a:r>
              <a:rPr lang="en-US" altLang="zh-TW" dirty="0" smtClean="0"/>
              <a:t>(2/3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80" y="1600200"/>
            <a:ext cx="7517240" cy="518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8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68" y="1600200"/>
            <a:ext cx="8665263" cy="522859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Insect </a:t>
            </a:r>
            <a:r>
              <a:rPr lang="en-US" altLang="zh-TW" dirty="0" err="1"/>
              <a:t>Wingbeat</a:t>
            </a:r>
            <a:r>
              <a:rPr lang="en-US" altLang="zh-TW" dirty="0"/>
              <a:t> Sound Detection </a:t>
            </a:r>
            <a:r>
              <a:rPr lang="en-US" altLang="zh-TW" dirty="0" smtClean="0"/>
              <a:t>(3/3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5711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64" y="3738953"/>
            <a:ext cx="6988672" cy="3115437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Historical Manuscript Mining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Learning: </a:t>
            </a:r>
            <a:r>
              <a:rPr lang="en-US" altLang="zh-TW" dirty="0"/>
              <a:t>16 positive objects and 207 </a:t>
            </a:r>
            <a:r>
              <a:rPr lang="en-US" altLang="zh-TW" dirty="0" smtClean="0"/>
              <a:t>negatives.</a:t>
            </a:r>
          </a:p>
          <a:p>
            <a:r>
              <a:rPr lang="en-US" altLang="zh-TW" dirty="0" smtClean="0"/>
              <a:t>Holdout: </a:t>
            </a:r>
            <a:r>
              <a:rPr lang="en-US" altLang="zh-TW" dirty="0"/>
              <a:t>51 positive objects and 621 </a:t>
            </a:r>
            <a:r>
              <a:rPr lang="en-US" altLang="zh-TW" dirty="0" smtClean="0"/>
              <a:t>negatives.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8569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98" y="3741781"/>
            <a:ext cx="7744204" cy="310857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Activity Recognition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Learning: </a:t>
            </a:r>
            <a:r>
              <a:rPr lang="en-US" altLang="zh-TW" dirty="0"/>
              <a:t>100 positive objects and 400 </a:t>
            </a:r>
            <a:r>
              <a:rPr lang="en-US" altLang="zh-TW" dirty="0" smtClean="0"/>
              <a:t>negatives.</a:t>
            </a:r>
          </a:p>
          <a:p>
            <a:r>
              <a:rPr lang="en-US" altLang="zh-TW" dirty="0"/>
              <a:t>Holdout: 300 positive objects </a:t>
            </a:r>
            <a:r>
              <a:rPr lang="en-US" altLang="zh-TW" dirty="0" smtClean="0"/>
              <a:t>and 1,200 negatives.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2295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龍騰四海">
  <a:themeElements>
    <a:clrScheme name="龍騰四海">
      <a:dk1>
        <a:sysClr val="windowText" lastClr="000000"/>
      </a:dk1>
      <a:lt1>
        <a:sysClr val="window" lastClr="C7EDCC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龍騰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龍騰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TC104033925[[fn=小水滴]]</Template>
  <TotalTime>3188</TotalTime>
  <Words>787</Words>
  <Application>Microsoft Office PowerPoint</Application>
  <PresentationFormat>如螢幕大小 (4:3)</PresentationFormat>
  <Paragraphs>105</Paragraphs>
  <Slides>19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8" baseType="lpstr">
      <vt:lpstr>微軟正黑體</vt:lpstr>
      <vt:lpstr>新細明體</vt:lpstr>
      <vt:lpstr>Arial</vt:lpstr>
      <vt:lpstr>Calibri</vt:lpstr>
      <vt:lpstr>Cambria</vt:lpstr>
      <vt:lpstr>Cambria Math</vt:lpstr>
      <vt:lpstr>Maiandra GD</vt:lpstr>
      <vt:lpstr>Wingdings 2</vt:lpstr>
      <vt:lpstr>龍騰四海</vt:lpstr>
      <vt:lpstr>DTW-D: Time Series Semi-Supervised Learning from a Single Example</vt:lpstr>
      <vt:lpstr>Abstract (1/2)</vt:lpstr>
      <vt:lpstr>Abstract (2/2)</vt:lpstr>
      <vt:lpstr>Euclidean Distance</vt:lpstr>
      <vt:lpstr>Dynamic Time Warping (1/2)</vt:lpstr>
      <vt:lpstr>Dynamic Time Warping (2/2)</vt:lpstr>
      <vt:lpstr>Dynamic Time Warping-Delta (DTW-D) (1/2)</vt:lpstr>
      <vt:lpstr>Why?</vt:lpstr>
      <vt:lpstr>Dynamic Time Warping-Delta (DTW-D) (2/2)</vt:lpstr>
      <vt:lpstr>Training the Classifier (1/3)</vt:lpstr>
      <vt:lpstr>Training the Classifier (2/3)</vt:lpstr>
      <vt:lpstr>Training the Classifier (3/3)</vt:lpstr>
      <vt:lpstr>Evaluating the Classifier</vt:lpstr>
      <vt:lpstr>Experimental Evaluation</vt:lpstr>
      <vt:lpstr>Insect Wingbeat Sound Detection (1/3)</vt:lpstr>
      <vt:lpstr>Insect Wingbeat Sound Detection (2/3)</vt:lpstr>
      <vt:lpstr>Insect Wingbeat Sound Detection (3/3)</vt:lpstr>
      <vt:lpstr>Historical Manuscript Mining</vt:lpstr>
      <vt:lpstr>Activity Recognition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722</cp:revision>
  <dcterms:created xsi:type="dcterms:W3CDTF">2012-09-09T09:37:21Z</dcterms:created>
  <dcterms:modified xsi:type="dcterms:W3CDTF">2013-09-16T12:23:20Z</dcterms:modified>
</cp:coreProperties>
</file>