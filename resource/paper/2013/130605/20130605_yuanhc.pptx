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7" r:id="rId3"/>
    <p:sldId id="308" r:id="rId4"/>
    <p:sldId id="309" r:id="rId5"/>
    <p:sldId id="310" r:id="rId6"/>
    <p:sldId id="322" r:id="rId7"/>
    <p:sldId id="323" r:id="rId8"/>
    <p:sldId id="327" r:id="rId9"/>
    <p:sldId id="324" r:id="rId10"/>
    <p:sldId id="325" r:id="rId11"/>
    <p:sldId id="326" r:id="rId12"/>
    <p:sldId id="328" r:id="rId13"/>
    <p:sldId id="329" r:id="rId14"/>
    <p:sldId id="330" r:id="rId15"/>
    <p:sldId id="265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3DF"/>
    <a:srgbClr val="6F84EB"/>
    <a:srgbClr val="0000FF"/>
    <a:srgbClr val="FF33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6793" autoAdjust="0"/>
  </p:normalViewPr>
  <p:slideViewPr>
    <p:cSldViewPr>
      <p:cViewPr varScale="1">
        <p:scale>
          <a:sx n="48" d="100"/>
          <a:sy n="48" d="100"/>
        </p:scale>
        <p:origin x="-6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pPr/>
              <a:t>2013/6/5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pPr/>
              <a:t>2013/6/5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A Simple Algorithm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	for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Finding Gene Clusters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2009</a:t>
            </a:r>
            <a:r>
              <a:rPr lang="zh-TW" altLang="en-US" sz="2000" b="0" dirty="0" smtClean="0">
                <a:latin typeface="微軟正黑體" pitchFamily="34" charset="-120"/>
                <a:ea typeface="微軟正黑體" pitchFamily="34" charset="-120"/>
              </a:rPr>
              <a:t>年</a:t>
            </a:r>
            <a:r>
              <a:rPr lang="zh-TW" altLang="en-US" sz="2000" b="0" dirty="0">
                <a:latin typeface="微軟正黑體" pitchFamily="34" charset="-120"/>
                <a:ea typeface="微軟正黑體" pitchFamily="34" charset="-120"/>
              </a:rPr>
              <a:t>資訊科技國際研討會</a:t>
            </a:r>
            <a:r>
              <a:rPr lang="zh-TW" altLang="en-US" sz="2000" b="0" dirty="0" smtClean="0">
                <a:latin typeface="微軟正黑體" pitchFamily="34" charset="-120"/>
                <a:ea typeface="微軟正黑體" pitchFamily="34" charset="-120"/>
              </a:rPr>
              <a:t>論文集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/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呂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威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甫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	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亞洲大學 資訊工程學系 生物資訊系</a:t>
            </a:r>
            <a:endParaRPr lang="en-US" altLang="zh-TW" sz="1800" dirty="0" smtClean="0">
              <a:latin typeface="微軟正黑體" pitchFamily="34" charset="-120"/>
              <a:ea typeface="微軟正黑體" pitchFamily="34" charset="-120"/>
            </a:endParaRPr>
          </a:p>
          <a:p>
            <a:pPr algn="l"/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陳彥嘉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	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亞洲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大學 生物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資訊系</a:t>
            </a:r>
            <a:endParaRPr lang="en-US" altLang="zh-TW" sz="1800" dirty="0">
              <a:latin typeface="微軟正黑體" pitchFamily="34" charset="-120"/>
              <a:ea typeface="微軟正黑體" pitchFamily="34" charset="-120"/>
            </a:endParaRPr>
          </a:p>
          <a:p>
            <a:pPr algn="l"/>
            <a:endParaRPr lang="en-US" altLang="zh-TW" sz="1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err="1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err="1" smtClean="0">
                <a:solidFill>
                  <a:schemeClr val="tx1"/>
                </a:solidFill>
              </a:rPr>
              <a:t>Hsin-Chuan</a:t>
            </a:r>
            <a:r>
              <a:rPr lang="en-US" altLang="zh-TW" sz="2400" dirty="0" smtClean="0">
                <a:solidFill>
                  <a:schemeClr val="tx1"/>
                </a:solidFill>
              </a:rPr>
              <a:t>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Abstract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Genomes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evolve through large-scale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events,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known as genome rearrangements, that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reorganize the gene order in the chromosome.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Usually two closely related prokaryotes share many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gene clusters, which are sets of genes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in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close proximity to each other, but not necessarily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contiguous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nor in the same order in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both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genomes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. Gene clusters could result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from evolution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of common ancestors, and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could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represent phenomenon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of co-expression. It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plays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an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important role in the construction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of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phylogenetic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trees and prediction of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gene functions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. </a:t>
            </a:r>
            <a:endParaRPr lang="zh-TW" altLang="en-US" sz="2400" dirty="0"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082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Abstract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Thus, finding gene clusters is an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important problem in comparative genomics. In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this paper, we will discuss gene clusters finding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problem using model of approximate common intervals, that is, genomes are considered as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strings and approximate common intervals are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defined as set symmetric difference. We present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an O(n</a:t>
            </a:r>
            <a:r>
              <a:rPr lang="en-US" altLang="zh-TW" sz="2400" baseline="30000" dirty="0" smtClean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)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algorithm to find gene clusters.</a:t>
            </a:r>
            <a:endParaRPr lang="zh-TW" altLang="en-US" sz="2400" dirty="0"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39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Basic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Definitions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>Approximate 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common intervals </a:t>
            </a:r>
          </a:p>
          <a:p>
            <a:pPr lvl="1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e.g. </a:t>
            </a:r>
          </a:p>
          <a:p>
            <a:pPr lvl="2"/>
            <a:r>
              <a:rPr lang="el-GR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Σ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= {a, b, c, d, e, f, g, h}</a:t>
            </a: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S1 = c b </a:t>
            </a:r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b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e g h </a:t>
            </a:r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h</a:t>
            </a:r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S2 = b c g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f </a:t>
            </a:r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f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e h </a:t>
            </a:r>
            <a:r>
              <a:rPr lang="en-US" altLang="zh-TW" sz="2400" dirty="0" err="1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h</a:t>
            </a:r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CS(S1)={b, c, e, g, h}</a:t>
            </a: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CS(S2)={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b, c, e,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f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, g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, h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}</a:t>
            </a:r>
          </a:p>
          <a:p>
            <a:pPr lvl="2"/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稱</a:t>
            </a:r>
            <a:r>
              <a:rPr lang="zh-TW" altLang="en-US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相差</a:t>
            </a:r>
            <a:r>
              <a:rPr lang="en-US" altLang="zh-TW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的近似空間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或</a:t>
            </a:r>
            <a:r>
              <a:rPr lang="zh-TW" altLang="en-US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對稱差為</a:t>
            </a:r>
            <a:r>
              <a:rPr lang="en-US" altLang="zh-TW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的近似空間</a:t>
            </a:r>
            <a:endParaRPr lang="en-US" altLang="zh-TW" sz="2400" u="sng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2"/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2"/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981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Basic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Definitions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2"/>
            <a:r>
              <a:rPr lang="el-GR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Σ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= {a, b, c, d, e, f, g, h}</a:t>
            </a: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CS(S1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)={b, c, e, g, h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}			0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1 1 0 1 0 1 1</a:t>
            </a:r>
          </a:p>
          <a:p>
            <a:pPr lvl="2"/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CS(S2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)={b, c, e,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f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, g, h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}		0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1 1 0 1 1 1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</a:p>
          <a:p>
            <a:pPr marL="594360" lvl="2" indent="0">
              <a:buNone/>
            </a:pPr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594360" lvl="2" indent="0">
              <a:buNone/>
            </a:pPr>
            <a:r>
              <a:rPr lang="zh-TW" altLang="en-US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對稱差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CS(S1)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, 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CS(S2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))</a:t>
            </a:r>
          </a:p>
          <a:p>
            <a:pPr marL="594360" lvl="2" indent="0">
              <a:buNone/>
            </a:pPr>
            <a:r>
              <a:rPr lang="en-US" altLang="zh-TW" sz="240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=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Hamming distance(</a:t>
            </a:r>
            <a:r>
              <a:rPr lang="en-US" altLang="zh-TW" sz="2400" u="sng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0 1 1 0 1 0 1 </a:t>
            </a:r>
            <a:r>
              <a:rPr lang="en-US" altLang="zh-TW" sz="2400" u="sng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, </a:t>
            </a:r>
            <a:r>
              <a:rPr lang="en-US" altLang="zh-TW" sz="2400" u="sng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0 1 1 0 1 1 1 </a:t>
            </a:r>
            <a:r>
              <a:rPr lang="en-US" altLang="zh-TW" sz="2400" u="sng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en-US" altLang="zh-TW" sz="240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pPr marL="594360" lvl="2" indent="0">
              <a:buNone/>
            </a:pPr>
            <a:r>
              <a:rPr lang="en-US" altLang="zh-TW" sz="220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= 1</a:t>
            </a:r>
            <a:endParaRPr lang="en-US" altLang="zh-TW" sz="22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向右箭號 5"/>
          <p:cNvSpPr/>
          <p:nvPr/>
        </p:nvSpPr>
        <p:spPr>
          <a:xfrm>
            <a:off x="5076056" y="1966888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3214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命名法則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2"/>
            <a:endParaRPr lang="en-US" altLang="zh-TW" sz="22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268761"/>
            <a:ext cx="3329682" cy="1892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0794" y="1238686"/>
            <a:ext cx="5814318" cy="448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27669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690"/>
          <a:stretch/>
        </p:blipFill>
        <p:spPr bwMode="auto">
          <a:xfrm>
            <a:off x="4015858" y="0"/>
            <a:ext cx="5092646" cy="684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10253"/>
            <a:ext cx="3384376" cy="35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6889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3622522087"/>
              </p:ext>
            </p:extLst>
          </p:nvPr>
        </p:nvGraphicFramePr>
        <p:xfrm>
          <a:off x="457200" y="1219200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967988777"/>
              </p:ext>
            </p:extLst>
          </p:nvPr>
        </p:nvGraphicFramePr>
        <p:xfrm>
          <a:off x="4474592" y="1222152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8392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2059253739"/>
              </p:ext>
            </p:extLst>
          </p:nvPr>
        </p:nvGraphicFramePr>
        <p:xfrm>
          <a:off x="457200" y="1219200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128112686"/>
              </p:ext>
            </p:extLst>
          </p:nvPr>
        </p:nvGraphicFramePr>
        <p:xfrm>
          <a:off x="4474592" y="1222152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539552" y="3645024"/>
            <a:ext cx="1440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2	3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       4</a:t>
            </a:r>
          </a:p>
          <a:p>
            <a:endParaRPr lang="zh-TW" altLang="en-US" dirty="0"/>
          </a:p>
        </p:txBody>
      </p:sp>
      <p:cxnSp>
        <p:nvCxnSpPr>
          <p:cNvPr id="27" name="直線接點 26"/>
          <p:cNvCxnSpPr/>
          <p:nvPr/>
        </p:nvCxnSpPr>
        <p:spPr>
          <a:xfrm>
            <a:off x="755576" y="4005064"/>
            <a:ext cx="362024" cy="4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>
            <a:off x="1270000" y="4005064"/>
            <a:ext cx="277664" cy="452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741925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1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31640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661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1041841224"/>
              </p:ext>
            </p:extLst>
          </p:nvPr>
        </p:nvGraphicFramePr>
        <p:xfrm>
          <a:off x="457200" y="1219200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078200980"/>
              </p:ext>
            </p:extLst>
          </p:nvPr>
        </p:nvGraphicFramePr>
        <p:xfrm>
          <a:off x="4474592" y="1222152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3228132" y="3598858"/>
            <a:ext cx="1872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5	      6</a:t>
            </a:r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400" dirty="0" smtClean="0"/>
              <a:t>         8</a:t>
            </a:r>
            <a:endParaRPr lang="zh-TW" altLang="en-US" sz="2400" dirty="0"/>
          </a:p>
        </p:txBody>
      </p:sp>
      <p:cxnSp>
        <p:nvCxnSpPr>
          <p:cNvPr id="12" name="直線接點 11"/>
          <p:cNvCxnSpPr/>
          <p:nvPr/>
        </p:nvCxnSpPr>
        <p:spPr>
          <a:xfrm flipH="1">
            <a:off x="4067944" y="4005064"/>
            <a:ext cx="57606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39552" y="3645024"/>
            <a:ext cx="1440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2	3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       4</a:t>
            </a:r>
          </a:p>
          <a:p>
            <a:endParaRPr lang="zh-TW" altLang="en-US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755576" y="4005064"/>
            <a:ext cx="362024" cy="4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1270000" y="4005064"/>
            <a:ext cx="277664" cy="452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741925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1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331640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83968" y="42210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169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3019346068"/>
              </p:ext>
            </p:extLst>
          </p:nvPr>
        </p:nvGraphicFramePr>
        <p:xfrm>
          <a:off x="457200" y="1219200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947364158"/>
              </p:ext>
            </p:extLst>
          </p:nvPr>
        </p:nvGraphicFramePr>
        <p:xfrm>
          <a:off x="4474592" y="1222152"/>
          <a:ext cx="3610744" cy="1921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  <a:gridCol w="451343"/>
              </a:tblGrid>
              <a:tr h="48044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39552" y="3645024"/>
            <a:ext cx="1440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2	3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       4</a:t>
            </a:r>
          </a:p>
          <a:p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755576" y="4005064"/>
            <a:ext cx="362024" cy="4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1270000" y="4005064"/>
            <a:ext cx="277664" cy="452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228132" y="3598858"/>
            <a:ext cx="1872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5	      6</a:t>
            </a:r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400" dirty="0" smtClean="0"/>
              <a:t>         8</a:t>
            </a:r>
            <a:endParaRPr lang="zh-TW" altLang="en-US" sz="2400" dirty="0"/>
          </a:p>
        </p:txBody>
      </p:sp>
      <p:cxnSp>
        <p:nvCxnSpPr>
          <p:cNvPr id="12" name="直線接點 11"/>
          <p:cNvCxnSpPr/>
          <p:nvPr/>
        </p:nvCxnSpPr>
        <p:spPr>
          <a:xfrm flipH="1">
            <a:off x="4067944" y="4005064"/>
            <a:ext cx="57606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6804248" y="4119463"/>
            <a:ext cx="1307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7	9</a:t>
            </a:r>
            <a:endParaRPr lang="zh-TW" altLang="en-US" sz="2400" dirty="0"/>
          </a:p>
        </p:txBody>
      </p:sp>
      <p:cxnSp>
        <p:nvCxnSpPr>
          <p:cNvPr id="14" name="直線接點 13"/>
          <p:cNvCxnSpPr/>
          <p:nvPr/>
        </p:nvCxnSpPr>
        <p:spPr>
          <a:xfrm>
            <a:off x="7020272" y="4338091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33376" y="5661248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Time </a:t>
            </a:r>
            <a:r>
              <a:rPr lang="en-US" altLang="zh-TW" sz="2400" dirty="0" smtClean="0"/>
              <a:t>complexity</a:t>
            </a:r>
            <a:r>
              <a:rPr lang="en-US" altLang="zh-TW" sz="2400" i="1" dirty="0" smtClean="0"/>
              <a:t>:</a:t>
            </a:r>
            <a:r>
              <a:rPr lang="en-US" altLang="zh-TW" sz="2400" i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O(n</a:t>
            </a:r>
            <a:r>
              <a:rPr lang="en-US" altLang="zh-TW" sz="2400" baseline="30000" dirty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741925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1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331640" y="40459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08304" y="40770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6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83968" y="42210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078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(for K&gt;1)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15" name="內容版面配置區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2"/>
            <a:r>
              <a:rPr lang="el-GR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Σ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= {a, b, c,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d}			</a:t>
            </a:r>
          </a:p>
          <a:p>
            <a:pPr lvl="2"/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594360" lvl="2" indent="0">
              <a:buNone/>
            </a:pP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/>
          </a:p>
        </p:txBody>
      </p:sp>
      <p:sp>
        <p:nvSpPr>
          <p:cNvPr id="18" name="文字方塊 17"/>
          <p:cNvSpPr txBox="1"/>
          <p:nvPr/>
        </p:nvSpPr>
        <p:spPr>
          <a:xfrm>
            <a:off x="433376" y="5661248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Time </a:t>
            </a:r>
            <a:r>
              <a:rPr lang="en-US" altLang="zh-TW" sz="2400" dirty="0" smtClean="0"/>
              <a:t>complexity</a:t>
            </a:r>
            <a:r>
              <a:rPr lang="en-US" altLang="zh-TW" sz="2400" i="1" dirty="0" smtClean="0"/>
              <a:t>:</a:t>
            </a:r>
            <a:r>
              <a:rPr lang="en-US" altLang="zh-TW" sz="2400" i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O(n</a:t>
            </a:r>
            <a:r>
              <a:rPr lang="en-US" altLang="zh-TW" sz="2400" baseline="30000" dirty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60307004"/>
              </p:ext>
            </p:extLst>
          </p:nvPr>
        </p:nvGraphicFramePr>
        <p:xfrm>
          <a:off x="3419872" y="1268760"/>
          <a:ext cx="4464496" cy="1872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/>
                <a:gridCol w="2232248"/>
              </a:tblGrid>
              <a:tr h="374442"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S1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abcc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S2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acbd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1100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1110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8477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(for K&gt;1)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15" name="內容版面配置區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2"/>
            <a:r>
              <a:rPr lang="el-GR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Σ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= {a, b, c,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d}			</a:t>
            </a:r>
          </a:p>
          <a:p>
            <a:pPr lvl="2"/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594360" lvl="2" indent="0">
              <a:buNone/>
            </a:pP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/>
          </a:p>
        </p:txBody>
      </p:sp>
      <p:sp>
        <p:nvSpPr>
          <p:cNvPr id="18" name="文字方塊 17"/>
          <p:cNvSpPr txBox="1"/>
          <p:nvPr/>
        </p:nvSpPr>
        <p:spPr>
          <a:xfrm>
            <a:off x="433376" y="5661248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Time </a:t>
            </a:r>
            <a:r>
              <a:rPr lang="en-US" altLang="zh-TW" sz="2400" dirty="0" smtClean="0"/>
              <a:t>complexity</a:t>
            </a:r>
            <a:r>
              <a:rPr lang="en-US" altLang="zh-TW" sz="2400" i="1" dirty="0" smtClean="0"/>
              <a:t>:</a:t>
            </a:r>
            <a:r>
              <a:rPr lang="en-US" altLang="zh-TW" sz="2400" i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O(n</a:t>
            </a:r>
            <a:r>
              <a:rPr lang="en-US" altLang="zh-TW" sz="2400" baseline="30000" dirty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00427748"/>
              </p:ext>
            </p:extLst>
          </p:nvPr>
        </p:nvGraphicFramePr>
        <p:xfrm>
          <a:off x="3419872" y="1268760"/>
          <a:ext cx="4464496" cy="1872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/>
                <a:gridCol w="2232248"/>
              </a:tblGrid>
              <a:tr h="374442"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S1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abcc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S2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acbd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1100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1110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3203848" y="167458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3203848" y="204810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3203848" y="240814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5436096" y="1700808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5436096" y="2080403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5436096" y="2420888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5436096" y="278898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8322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演算法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(for K&gt;1)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15" name="內容版面配置區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2"/>
            <a:r>
              <a:rPr lang="el-GR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Σ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= {a, b, c,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d}			</a:t>
            </a:r>
          </a:p>
          <a:p>
            <a:pPr lvl="2"/>
            <a:endParaRPr lang="en-US" altLang="zh-TW" sz="2400" dirty="0" smtClean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594360" lvl="2" indent="0">
              <a:buNone/>
            </a:pP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/>
          </a:p>
        </p:txBody>
      </p:sp>
      <p:sp>
        <p:nvSpPr>
          <p:cNvPr id="18" name="文字方塊 17"/>
          <p:cNvSpPr txBox="1"/>
          <p:nvPr/>
        </p:nvSpPr>
        <p:spPr>
          <a:xfrm>
            <a:off x="433376" y="5661248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Time </a:t>
            </a:r>
            <a:r>
              <a:rPr lang="en-US" altLang="zh-TW" sz="2400" dirty="0" smtClean="0"/>
              <a:t>complexity</a:t>
            </a:r>
            <a:r>
              <a:rPr lang="en-US" altLang="zh-TW" sz="2400" i="1" dirty="0" smtClean="0"/>
              <a:t>:</a:t>
            </a:r>
            <a:r>
              <a:rPr lang="en-US" altLang="zh-TW" sz="2400" i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O(|En|)</a:t>
            </a:r>
            <a:r>
              <a:rPr lang="en-US" altLang="zh-TW" sz="2400" dirty="0" smtClean="0"/>
              <a:t> </a:t>
            </a:r>
            <a:endParaRPr lang="zh-TW" altLang="en-US" sz="24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53126697"/>
              </p:ext>
            </p:extLst>
          </p:nvPr>
        </p:nvGraphicFramePr>
        <p:xfrm>
          <a:off x="3419872" y="1268760"/>
          <a:ext cx="4464496" cy="2621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/>
                <a:gridCol w="2232248"/>
              </a:tblGrid>
              <a:tr h="374442"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S1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abcc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S2 = </a:t>
                      </a:r>
                      <a:r>
                        <a:rPr lang="en-US" altLang="zh-TW" sz="1800" dirty="0" err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acbd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1100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1110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0110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0111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0110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1010</a:t>
                      </a:r>
                      <a:endParaRPr lang="zh-TW" altLang="en-US" dirty="0"/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0101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3203848" y="167458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3203848" y="204810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3203848" y="240814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5436096" y="1700808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5436096" y="2080403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5436096" y="2420888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5436096" y="278898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9" name="橢圓 18"/>
          <p:cNvSpPr/>
          <p:nvPr/>
        </p:nvSpPr>
        <p:spPr>
          <a:xfrm>
            <a:off x="5652120" y="411746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6630061" y="4651605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2" name="橢圓 21"/>
          <p:cNvSpPr/>
          <p:nvPr/>
        </p:nvSpPr>
        <p:spPr>
          <a:xfrm>
            <a:off x="6206976" y="5620749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23" name="橢圓 22"/>
          <p:cNvSpPr/>
          <p:nvPr/>
        </p:nvSpPr>
        <p:spPr>
          <a:xfrm>
            <a:off x="5148064" y="5630621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24" name="橢圓 23"/>
          <p:cNvSpPr/>
          <p:nvPr/>
        </p:nvSpPr>
        <p:spPr>
          <a:xfrm>
            <a:off x="4779144" y="4651605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7" name="直線接點 6"/>
          <p:cNvCxnSpPr>
            <a:stCxn id="24" idx="7"/>
            <a:endCxn id="19" idx="2"/>
          </p:cNvCxnSpPr>
          <p:nvPr/>
        </p:nvCxnSpPr>
        <p:spPr>
          <a:xfrm flipV="1">
            <a:off x="5024995" y="4261477"/>
            <a:ext cx="627125" cy="432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24" idx="6"/>
            <a:endCxn id="20" idx="2"/>
          </p:cNvCxnSpPr>
          <p:nvPr/>
        </p:nvCxnSpPr>
        <p:spPr>
          <a:xfrm>
            <a:off x="5067176" y="4795621"/>
            <a:ext cx="15628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0" idx="4"/>
            <a:endCxn id="22" idx="7"/>
          </p:cNvCxnSpPr>
          <p:nvPr/>
        </p:nvCxnSpPr>
        <p:spPr>
          <a:xfrm flipH="1">
            <a:off x="6452827" y="4939637"/>
            <a:ext cx="321250" cy="723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4" idx="4"/>
            <a:endCxn id="23" idx="1"/>
          </p:cNvCxnSpPr>
          <p:nvPr/>
        </p:nvCxnSpPr>
        <p:spPr>
          <a:xfrm>
            <a:off x="4923160" y="4939637"/>
            <a:ext cx="267085" cy="733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3" idx="6"/>
            <a:endCxn id="22" idx="2"/>
          </p:cNvCxnSpPr>
          <p:nvPr/>
        </p:nvCxnSpPr>
        <p:spPr>
          <a:xfrm flipV="1">
            <a:off x="5436096" y="5764765"/>
            <a:ext cx="770880" cy="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148064" y="425218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3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724128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1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830275" y="512155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4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516216" y="512155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7B93DF"/>
                </a:solidFill>
              </a:rPr>
              <a:t>4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724128" y="548813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1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5436096" y="321297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7" name="橢圓 36"/>
          <p:cNvSpPr/>
          <p:nvPr/>
        </p:nvSpPr>
        <p:spPr>
          <a:xfrm>
            <a:off x="3707904" y="429309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8" name="橢圓 37"/>
          <p:cNvSpPr/>
          <p:nvPr/>
        </p:nvSpPr>
        <p:spPr>
          <a:xfrm>
            <a:off x="5436096" y="3573016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39" name="橢圓 38"/>
          <p:cNvSpPr/>
          <p:nvPr/>
        </p:nvSpPr>
        <p:spPr>
          <a:xfrm>
            <a:off x="7092280" y="6021288"/>
            <a:ext cx="288032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41" name="直線接點 40"/>
          <p:cNvCxnSpPr>
            <a:stCxn id="22" idx="5"/>
            <a:endCxn id="39" idx="1"/>
          </p:cNvCxnSpPr>
          <p:nvPr/>
        </p:nvCxnSpPr>
        <p:spPr>
          <a:xfrm>
            <a:off x="6452827" y="5866600"/>
            <a:ext cx="681634" cy="19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7" idx="5"/>
            <a:endCxn id="24" idx="1"/>
          </p:cNvCxnSpPr>
          <p:nvPr/>
        </p:nvCxnSpPr>
        <p:spPr>
          <a:xfrm>
            <a:off x="3953755" y="4538947"/>
            <a:ext cx="867570" cy="154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6660232" y="56612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7B93DF"/>
                </a:solidFill>
              </a:rPr>
              <a:t>3</a:t>
            </a:r>
            <a:endParaRPr lang="zh-TW" altLang="en-US" dirty="0">
              <a:solidFill>
                <a:srgbClr val="7B93DF"/>
              </a:solidFill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1960" y="429309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>
                <a:solidFill>
                  <a:srgbClr val="7B93DF"/>
                </a:solidFill>
              </a:rPr>
              <a:t>2</a:t>
            </a:r>
            <a:endParaRPr lang="zh-TW" altLang="en-US" dirty="0">
              <a:solidFill>
                <a:srgbClr val="7B9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694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Conclusions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2013/6/5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目前演算法的時間分析雖然是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O(n</a:t>
            </a:r>
            <a:r>
              <a:rPr lang="en-US" altLang="zh-TW" baseline="30000" dirty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的時間複雜度，但我們相信經過更嚴格的時間分析，演算法應該可以得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O(nlog</a:t>
            </a:r>
            <a:r>
              <a:rPr lang="en-US" altLang="zh-TW" baseline="30000" dirty="0" smtClean="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n)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的時間複雜度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目前正著手進行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修改。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631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2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6900</TotalTime>
  <Words>635</Words>
  <Application>Microsoft Office PowerPoint</Application>
  <PresentationFormat>如螢幕大小 (4:3)</PresentationFormat>
  <Paragraphs>282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原創</vt:lpstr>
      <vt:lpstr>A Simple Algorithm   for Finding Gene Clusters  2009年資訊科技國際研討會論文集</vt:lpstr>
      <vt:lpstr>Abstract</vt:lpstr>
      <vt:lpstr>Abstract</vt:lpstr>
      <vt:lpstr>Basic Definitions</vt:lpstr>
      <vt:lpstr>Basic Definitions</vt:lpstr>
      <vt:lpstr>命名法則</vt:lpstr>
      <vt:lpstr>演算法</vt:lpstr>
      <vt:lpstr>演算法</vt:lpstr>
      <vt:lpstr>演算法</vt:lpstr>
      <vt:lpstr>演算法</vt:lpstr>
      <vt:lpstr>演算法</vt:lpstr>
      <vt:lpstr>演算法(for K&gt;1)</vt:lpstr>
      <vt:lpstr>演算法(for K&gt;1)</vt:lpstr>
      <vt:lpstr>演算法(for K&gt;1)</vt:lpstr>
      <vt:lpstr>Conclusions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Guest</cp:lastModifiedBy>
  <cp:revision>275</cp:revision>
  <cp:lastPrinted>2012-09-10T21:31:19Z</cp:lastPrinted>
  <dcterms:created xsi:type="dcterms:W3CDTF">2012-09-10T08:29:10Z</dcterms:created>
  <dcterms:modified xsi:type="dcterms:W3CDTF">2013-06-05T12:35:34Z</dcterms:modified>
</cp:coreProperties>
</file>