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9" r:id="rId5"/>
    <p:sldId id="260" r:id="rId6"/>
    <p:sldId id="265" r:id="rId7"/>
    <p:sldId id="266" r:id="rId8"/>
    <p:sldId id="262" r:id="rId9"/>
    <p:sldId id="263" r:id="rId10"/>
    <p:sldId id="264" r:id="rId1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651192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13043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839484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3403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315904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144958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3247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42270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145663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386564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E769BA7-25B6-4A9B-839B-CA24A29D8383}" type="datetimeFigureOut">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412513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769BA7-25B6-4A9B-839B-CA24A29D8383}" type="datetimeFigureOut">
              <a:rPr lang="zh-TW" altLang="en-US" smtClean="0"/>
              <a:t>2013/4/9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21F568-DE53-4C23-8AC4-99D5F2B0DE41}" type="slidenum">
              <a:rPr lang="zh-TW" altLang="en-US" smtClean="0"/>
              <a:t>‹#›</a:t>
            </a:fld>
            <a:endParaRPr lang="zh-TW" altLang="en-US"/>
          </a:p>
        </p:txBody>
      </p:sp>
    </p:spTree>
    <p:extLst>
      <p:ext uri="{BB962C8B-B14F-4D97-AF65-F5344CB8AC3E}">
        <p14:creationId xmlns:p14="http://schemas.microsoft.com/office/powerpoint/2010/main" val="2468409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200" dirty="0" smtClean="0"/>
              <a:t>A genetic programming model to generate risk-adjusted technical trading rules</a:t>
            </a:r>
            <a:br>
              <a:rPr lang="en-US" altLang="zh-TW" sz="3200" dirty="0" smtClean="0"/>
            </a:br>
            <a:r>
              <a:rPr lang="en-US" altLang="zh-TW" sz="3200" dirty="0" smtClean="0"/>
              <a:t>in stock markets</a:t>
            </a:r>
            <a:endParaRPr lang="zh-TW" altLang="en-US" sz="3200" dirty="0"/>
          </a:p>
        </p:txBody>
      </p:sp>
      <p:sp>
        <p:nvSpPr>
          <p:cNvPr id="3" name="副標題 2"/>
          <p:cNvSpPr>
            <a:spLocks noGrp="1"/>
          </p:cNvSpPr>
          <p:nvPr>
            <p:ph type="subTitle" idx="1"/>
          </p:nvPr>
        </p:nvSpPr>
        <p:spPr/>
        <p:txBody>
          <a:bodyPr>
            <a:normAutofit/>
          </a:bodyPr>
          <a:lstStyle/>
          <a:p>
            <a:r>
              <a:rPr lang="en-US" altLang="zh-TW" sz="2000" dirty="0" smtClean="0"/>
              <a:t>Expert Systems with Applications 38 (2011) 8438–8445</a:t>
            </a:r>
          </a:p>
          <a:p>
            <a:r>
              <a:rPr lang="en-US" altLang="zh-TW" sz="2000" dirty="0" smtClean="0"/>
              <a:t>Akbar </a:t>
            </a:r>
            <a:r>
              <a:rPr lang="en-US" altLang="zh-TW" sz="2000" dirty="0" err="1" smtClean="0"/>
              <a:t>Esfahanipour</a:t>
            </a:r>
            <a:r>
              <a:rPr lang="en-US" altLang="zh-TW" sz="2000" dirty="0" smtClean="0"/>
              <a:t> , </a:t>
            </a:r>
            <a:r>
              <a:rPr lang="en-US" altLang="zh-TW" sz="2000" dirty="0" err="1" smtClean="0"/>
              <a:t>Somayeh</a:t>
            </a:r>
            <a:r>
              <a:rPr lang="en-US" altLang="zh-TW" sz="2000" dirty="0" smtClean="0"/>
              <a:t> </a:t>
            </a:r>
            <a:r>
              <a:rPr lang="en-US" altLang="zh-TW" sz="2000" dirty="0" err="1" smtClean="0"/>
              <a:t>Mousavi</a:t>
            </a:r>
            <a:endParaRPr lang="zh-TW" altLang="en-US" sz="2000" dirty="0"/>
          </a:p>
        </p:txBody>
      </p:sp>
      <p:sp>
        <p:nvSpPr>
          <p:cNvPr id="4" name="文字方塊 3"/>
          <p:cNvSpPr txBox="1"/>
          <p:nvPr/>
        </p:nvSpPr>
        <p:spPr>
          <a:xfrm>
            <a:off x="5724128" y="5229200"/>
            <a:ext cx="3096344" cy="646331"/>
          </a:xfrm>
          <a:prstGeom prst="rect">
            <a:avLst/>
          </a:prstGeom>
          <a:noFill/>
        </p:spPr>
        <p:txBody>
          <a:bodyPr wrap="square" rtlCol="0">
            <a:spAutoFit/>
          </a:bodyPr>
          <a:lstStyle/>
          <a:p>
            <a:r>
              <a:rPr lang="en-US" altLang="zh-TW" dirty="0" smtClean="0"/>
              <a:t>Presenter: Cheng-Han Lee</a:t>
            </a:r>
          </a:p>
          <a:p>
            <a:r>
              <a:rPr lang="en-US" altLang="zh-TW" dirty="0" smtClean="0"/>
              <a:t>Date: 2013/4/9</a:t>
            </a:r>
            <a:endParaRPr lang="zh-TW" altLang="en-US" dirty="0"/>
          </a:p>
        </p:txBody>
      </p:sp>
    </p:spTree>
    <p:extLst>
      <p:ext uri="{BB962C8B-B14F-4D97-AF65-F5344CB8AC3E}">
        <p14:creationId xmlns:p14="http://schemas.microsoft.com/office/powerpoint/2010/main" val="360520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62500" lnSpcReduction="20000"/>
          </a:bodyPr>
          <a:lstStyle/>
          <a:p>
            <a:pPr marL="0" indent="0">
              <a:buNone/>
            </a:pPr>
            <a:r>
              <a:rPr lang="en-US" altLang="zh-TW" dirty="0" smtClean="0"/>
              <a:t>Technical trading rules can be generated from historical data for decision making in stock markets. Genetic programming (GP) as an artificial intelligence technique is a valuable method to automatically generate such technical trading rules. In this paper, GP has been applied for generating risk-adjusted trading rules on individual stocks. Among many risk measures in the literature, conditional Sharpe ratio has been selected for this study because it uses conditional value at risk (</a:t>
            </a:r>
            <a:r>
              <a:rPr lang="en-US" altLang="zh-TW" dirty="0" err="1" smtClean="0"/>
              <a:t>CVaR</a:t>
            </a:r>
            <a:r>
              <a:rPr lang="en-US" altLang="zh-TW" dirty="0" smtClean="0"/>
              <a:t>) as an optimal coherent risk measure. In our proposed GP model, binary trading rules have been also extended to more realistic rules which are called </a:t>
            </a:r>
            <a:r>
              <a:rPr lang="en-US" altLang="zh-TW" dirty="0" err="1" smtClean="0"/>
              <a:t>trinary</a:t>
            </a:r>
            <a:r>
              <a:rPr lang="en-US" altLang="zh-TW" dirty="0" smtClean="0"/>
              <a:t> rules using three signals of buy, sell and no trade. Additionally we have included transaction costs, dividend and splits in our GP model for calculating more accurate returns in the generated rules. Our proposed model has been applied for 10 Iranian companies listed in Tehran Stock Exchange (TSE). The numerical results showed that our extended GP model could generate profitable trading rules in comparison with buy and hold strategy especially in the case of risk adjusted basis.</a:t>
            </a:r>
            <a:endParaRPr lang="zh-TW" altLang="en-US" dirty="0"/>
          </a:p>
        </p:txBody>
      </p:sp>
    </p:spTree>
    <p:extLst>
      <p:ext uri="{BB962C8B-B14F-4D97-AF65-F5344CB8AC3E}">
        <p14:creationId xmlns:p14="http://schemas.microsoft.com/office/powerpoint/2010/main" val="38544430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Risk</a:t>
            </a:r>
            <a:endParaRPr lang="zh-TW" altLang="en-US" dirty="0"/>
          </a:p>
        </p:txBody>
      </p:sp>
      <p:sp>
        <p:nvSpPr>
          <p:cNvPr id="3" name="內容版面配置區 2"/>
          <p:cNvSpPr>
            <a:spLocks noGrp="1"/>
          </p:cNvSpPr>
          <p:nvPr>
            <p:ph idx="1"/>
          </p:nvPr>
        </p:nvSpPr>
        <p:spPr/>
        <p:txBody>
          <a:bodyPr>
            <a:normAutofit/>
          </a:bodyPr>
          <a:lstStyle/>
          <a:p>
            <a:r>
              <a:rPr lang="zh-TW" altLang="en-US" sz="2000" dirty="0" smtClean="0"/>
              <a:t>風險值</a:t>
            </a:r>
            <a:r>
              <a:rPr lang="en-US" altLang="zh-TW" sz="2000" dirty="0" smtClean="0"/>
              <a:t>(Value-at-Risk, </a:t>
            </a:r>
            <a:r>
              <a:rPr lang="en-US" altLang="zh-TW" sz="2000" dirty="0" err="1" smtClean="0"/>
              <a:t>VaR</a:t>
            </a:r>
            <a:r>
              <a:rPr lang="en-US" altLang="zh-TW" sz="2000" dirty="0" smtClean="0"/>
              <a:t>)</a:t>
            </a:r>
            <a:r>
              <a:rPr lang="zh-TW" altLang="en-US" sz="2000" dirty="0" smtClean="0"/>
              <a:t>：「在一段期間內，在既定的信心水準下，預期可能的最大損失之金額。」</a:t>
            </a:r>
            <a:endParaRPr lang="en-US" altLang="zh-TW" sz="2000" dirty="0" smtClean="0"/>
          </a:p>
          <a:p>
            <a:endParaRPr lang="en-US" altLang="zh-TW" sz="2000" dirty="0" smtClean="0"/>
          </a:p>
          <a:p>
            <a:r>
              <a:rPr lang="zh-TW" altLang="en-US" sz="2000" dirty="0" smtClean="0"/>
              <a:t>條件風險</a:t>
            </a:r>
            <a:r>
              <a:rPr lang="en-US" altLang="zh-TW" sz="2000" dirty="0" smtClean="0"/>
              <a:t>(Conditional</a:t>
            </a:r>
            <a:r>
              <a:rPr lang="en-US" altLang="zh-TW" sz="2000" dirty="0"/>
              <a:t> </a:t>
            </a:r>
            <a:r>
              <a:rPr lang="en-US" altLang="zh-TW" sz="2000" dirty="0" err="1" smtClean="0"/>
              <a:t>VaR</a:t>
            </a:r>
            <a:r>
              <a:rPr lang="en-US" altLang="zh-TW" sz="2000" dirty="0" smtClean="0"/>
              <a:t>, </a:t>
            </a:r>
            <a:r>
              <a:rPr lang="en-US" altLang="zh-TW" sz="2000" dirty="0" err="1" smtClean="0"/>
              <a:t>CVaR</a:t>
            </a:r>
            <a:r>
              <a:rPr lang="en-US" altLang="zh-TW" sz="2000" dirty="0" smtClean="0"/>
              <a:t>)</a:t>
            </a:r>
            <a:r>
              <a:rPr lang="zh-TW" altLang="en-US" sz="2000" dirty="0" smtClean="0"/>
              <a:t>：「在損失</a:t>
            </a:r>
            <a:r>
              <a:rPr lang="zh-TW" altLang="en-US" sz="2000" dirty="0"/>
              <a:t>超過</a:t>
            </a:r>
            <a:r>
              <a:rPr lang="en-US" altLang="zh-TW" sz="2000" dirty="0" err="1" smtClean="0"/>
              <a:t>VaR</a:t>
            </a:r>
            <a:r>
              <a:rPr lang="zh-TW" altLang="en-US" sz="2000" dirty="0" smtClean="0"/>
              <a:t>情況下，對於損失的期望值」</a:t>
            </a:r>
            <a:endParaRPr lang="en-US" altLang="zh-TW" sz="2000" dirty="0" smtClean="0"/>
          </a:p>
          <a:p>
            <a:endParaRPr lang="zh-TW" altLang="en-US" sz="2000" dirty="0"/>
          </a:p>
        </p:txBody>
      </p:sp>
      <p:pic>
        <p:nvPicPr>
          <p:cNvPr id="1028" name="Picture 4" descr="http://help.riskmetrics.com/RiskManager3/Content/Statistics_Reference/VaR_files/image00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3145945"/>
            <a:ext cx="5486400" cy="3171826"/>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6948264" y="5229200"/>
            <a:ext cx="1907704" cy="923330"/>
          </a:xfrm>
          <a:prstGeom prst="rect">
            <a:avLst/>
          </a:prstGeom>
          <a:noFill/>
        </p:spPr>
        <p:txBody>
          <a:bodyPr wrap="square" rtlCol="0">
            <a:spAutoFit/>
          </a:bodyPr>
          <a:lstStyle/>
          <a:p>
            <a:r>
              <a:rPr lang="zh-TW" altLang="en-US" dirty="0" smtClean="0"/>
              <a:t>共變異數法、</a:t>
            </a:r>
            <a:endParaRPr lang="en-US" altLang="zh-TW" dirty="0" smtClean="0"/>
          </a:p>
          <a:p>
            <a:r>
              <a:rPr lang="zh-TW" altLang="en-US" dirty="0" smtClean="0"/>
              <a:t>歷史模擬法、</a:t>
            </a:r>
            <a:endParaRPr lang="en-US" altLang="zh-TW" dirty="0" smtClean="0"/>
          </a:p>
          <a:p>
            <a:r>
              <a:rPr lang="zh-TW" altLang="en-US" dirty="0" smtClean="0"/>
              <a:t>蒙地卡羅模擬法</a:t>
            </a:r>
            <a:endParaRPr lang="zh-TW" altLang="en-US" dirty="0"/>
          </a:p>
        </p:txBody>
      </p:sp>
    </p:spTree>
    <p:extLst>
      <p:ext uri="{BB962C8B-B14F-4D97-AF65-F5344CB8AC3E}">
        <p14:creationId xmlns:p14="http://schemas.microsoft.com/office/powerpoint/2010/main" val="33699309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m:rPr>
                          <m:nor/>
                        </m:rPr>
                        <a:rPr lang="en-US" altLang="zh-TW" smtClean="0"/>
                        <m:t>Conditional</m:t>
                      </m:r>
                      <m:r>
                        <m:rPr>
                          <m:nor/>
                        </m:rPr>
                        <a:rPr lang="en-US" altLang="zh-TW" smtClean="0"/>
                        <m:t> </m:t>
                      </m:r>
                      <m:r>
                        <m:rPr>
                          <m:nor/>
                        </m:rPr>
                        <a:rPr lang="en-US" altLang="zh-TW" smtClean="0"/>
                        <m:t>Sharpe</m:t>
                      </m:r>
                      <m:r>
                        <m:rPr>
                          <m:nor/>
                        </m:rPr>
                        <a:rPr lang="en-US" altLang="zh-TW" smtClean="0"/>
                        <m:t> </m:t>
                      </m:r>
                      <m:r>
                        <m:rPr>
                          <m:nor/>
                        </m:rPr>
                        <a:rPr lang="en-US" altLang="zh-TW" smtClean="0"/>
                        <m:t>ratio</m:t>
                      </m:r>
                    </m:oMath>
                  </m:oMathPara>
                </a14:m>
                <a:endParaRPr lang="zh-TW" altLang="en-US" dirty="0"/>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m:rPr>
                          <m:nor/>
                        </m:rPr>
                        <a:rPr lang="en-US" altLang="zh-TW" smtClean="0"/>
                        <m:t>Conditional</m:t>
                      </m:r>
                      <m:r>
                        <m:rPr>
                          <m:nor/>
                        </m:rPr>
                        <a:rPr lang="en-US" altLang="zh-TW" smtClean="0"/>
                        <m:t> </m:t>
                      </m:r>
                      <m:r>
                        <m:rPr>
                          <m:nor/>
                        </m:rPr>
                        <a:rPr lang="en-US" altLang="zh-TW" smtClean="0"/>
                        <m:t>Sharpe</m:t>
                      </m:r>
                      <m:r>
                        <m:rPr>
                          <m:nor/>
                        </m:rPr>
                        <a:rPr lang="en-US" altLang="zh-TW" smtClean="0"/>
                        <m:t> </m:t>
                      </m:r>
                      <m:r>
                        <m:rPr>
                          <m:nor/>
                        </m:rPr>
                        <a:rPr lang="en-US" altLang="zh-TW" smtClean="0"/>
                        <m:t>ratio</m:t>
                      </m:r>
                      <m:r>
                        <m:rPr>
                          <m:nor/>
                        </m:rPr>
                        <a:rPr lang="en-US" altLang="zh-TW" b="0" i="0" smtClean="0"/>
                        <m:t>=</m:t>
                      </m:r>
                      <m:f>
                        <m:fPr>
                          <m:ctrlPr>
                            <a:rPr lang="en-US" altLang="zh-TW" b="0" i="1" smtClean="0">
                              <a:latin typeface="Cambria Math"/>
                            </a:rPr>
                          </m:ctrlPr>
                        </m:fPr>
                        <m:num>
                          <m:r>
                            <a:rPr lang="en-US" altLang="zh-TW" b="0" i="1" smtClean="0">
                              <a:latin typeface="Cambria Math"/>
                            </a:rPr>
                            <m:t>𝑟</m:t>
                          </m:r>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𝑓</m:t>
                              </m:r>
                            </m:sub>
                          </m:sSub>
                        </m:num>
                        <m:den>
                          <m:sSub>
                            <m:sSubPr>
                              <m:ctrlPr>
                                <a:rPr lang="en-US" altLang="zh-TW" b="0" i="1" smtClean="0">
                                  <a:latin typeface="Cambria Math"/>
                                </a:rPr>
                              </m:ctrlPr>
                            </m:sSubPr>
                            <m:e>
                              <m:r>
                                <a:rPr lang="en-US" altLang="zh-TW" b="0" i="1" smtClean="0">
                                  <a:latin typeface="Cambria Math"/>
                                </a:rPr>
                                <m:t>𝐶𝑉𝑎𝑅</m:t>
                              </m:r>
                            </m:e>
                            <m:sub>
                              <m:r>
                                <a:rPr lang="en-US" altLang="zh-TW" b="0" i="1" smtClean="0">
                                  <a:latin typeface="Cambria Math"/>
                                </a:rPr>
                                <m:t>1−</m:t>
                              </m:r>
                              <m:r>
                                <a:rPr lang="zh-TW" altLang="en-US" b="0" i="1" smtClean="0">
                                  <a:latin typeface="Cambria Math"/>
                                </a:rPr>
                                <m:t>𝛼</m:t>
                              </m:r>
                            </m:sub>
                          </m:sSub>
                        </m:den>
                      </m:f>
                    </m:oMath>
                  </m:oMathPara>
                </a14:m>
                <a:endParaRPr lang="en-US" altLang="zh-TW" dirty="0" smtClean="0"/>
              </a:p>
              <a:p>
                <a:pPr marL="0" indent="0">
                  <a:buNone/>
                </a:pPr>
                <a:endParaRPr lang="en-US" altLang="zh-TW" dirty="0" smtClean="0"/>
              </a:p>
              <a:p>
                <a:r>
                  <a:rPr lang="en-US" altLang="zh-TW" i="1" dirty="0" smtClean="0"/>
                  <a:t>r</a:t>
                </a:r>
                <a:r>
                  <a:rPr lang="en-US" altLang="zh-TW" dirty="0" smtClean="0"/>
                  <a:t> is the return of the fund, </a:t>
                </a:r>
                <a:r>
                  <a:rPr lang="en-US" altLang="zh-TW" i="1" dirty="0" err="1" smtClean="0"/>
                  <a:t>r</a:t>
                </a:r>
                <a:r>
                  <a:rPr lang="en-US" altLang="zh-TW" i="1" baseline="-25000" dirty="0" err="1" smtClean="0"/>
                  <a:t>f</a:t>
                </a:r>
                <a:r>
                  <a:rPr lang="en-US" altLang="zh-TW" dirty="0" smtClean="0"/>
                  <a:t> is risk free rate</a:t>
                </a:r>
              </a:p>
              <a:p>
                <a14:m>
                  <m:oMath xmlns:m="http://schemas.openxmlformats.org/officeDocument/2006/math">
                    <m:sSub>
                      <m:sSubPr>
                        <m:ctrlPr>
                          <a:rPr lang="en-US" altLang="zh-TW" b="0" i="1" smtClean="0">
                            <a:latin typeface="Cambria Math"/>
                          </a:rPr>
                        </m:ctrlPr>
                      </m:sSubPr>
                      <m:e>
                        <m:r>
                          <a:rPr lang="en-US" altLang="zh-TW" b="0" i="1" smtClean="0">
                            <a:latin typeface="Cambria Math"/>
                          </a:rPr>
                          <m:t>𝐶𝑉𝑎𝑅</m:t>
                        </m:r>
                      </m:e>
                      <m:sub>
                        <m:r>
                          <a:rPr lang="en-US" altLang="zh-TW" b="0" i="1" smtClean="0">
                            <a:latin typeface="Cambria Math"/>
                          </a:rPr>
                          <m:t>1−</m:t>
                        </m:r>
                        <m:r>
                          <a:rPr lang="zh-TW" altLang="en-US" b="0" i="1" smtClean="0">
                            <a:latin typeface="Cambria Math"/>
                          </a:rPr>
                          <m:t>𝛼</m:t>
                        </m:r>
                      </m:sub>
                    </m:sSub>
                  </m:oMath>
                </a14:m>
                <a:r>
                  <a:rPr lang="en-US" altLang="zh-TW" dirty="0" smtClean="0"/>
                  <a:t> is the conditional value at risk over the given time horizon with 100(</a:t>
                </a:r>
                <a14:m>
                  <m:oMath xmlns:m="http://schemas.openxmlformats.org/officeDocument/2006/math">
                    <m:r>
                      <a:rPr lang="en-US" altLang="zh-TW" b="0" i="1" smtClean="0">
                        <a:latin typeface="Cambria Math"/>
                      </a:rPr>
                      <m:t>1−</m:t>
                    </m:r>
                    <m:r>
                      <a:rPr lang="zh-TW" altLang="en-US" b="0" i="1" smtClean="0">
                        <a:latin typeface="Cambria Math"/>
                      </a:rPr>
                      <m:t>𝛼</m:t>
                    </m:r>
                  </m:oMath>
                </a14:m>
                <a:r>
                  <a:rPr lang="en-US" altLang="zh-TW" dirty="0" smtClean="0"/>
                  <a:t>)% confidence level.</a:t>
                </a:r>
              </a:p>
              <a:p>
                <a14:m>
                  <m:oMath xmlns:m="http://schemas.openxmlformats.org/officeDocument/2006/math">
                    <m:sSub>
                      <m:sSubPr>
                        <m:ctrlPr>
                          <a:rPr lang="en-US" altLang="zh-TW" b="0" i="1" smtClean="0">
                            <a:latin typeface="Cambria Math"/>
                          </a:rPr>
                        </m:ctrlPr>
                      </m:sSubPr>
                      <m:e>
                        <m:r>
                          <a:rPr lang="en-US" altLang="zh-TW" b="0" i="1" smtClean="0">
                            <a:latin typeface="Cambria Math"/>
                          </a:rPr>
                          <m:t>𝐶𝑉𝑎𝑅</m:t>
                        </m:r>
                      </m:e>
                      <m:sub>
                        <m:r>
                          <a:rPr lang="en-US" altLang="zh-TW" b="0" i="1" smtClean="0">
                            <a:latin typeface="Cambria Math"/>
                          </a:rPr>
                          <m:t>1−</m:t>
                        </m:r>
                        <m:r>
                          <a:rPr lang="zh-TW" altLang="en-US" b="0" i="1" smtClean="0">
                            <a:latin typeface="Cambria Math"/>
                          </a:rPr>
                          <m:t>𝛼</m:t>
                        </m:r>
                      </m:sub>
                    </m:sSub>
                    <m:r>
                      <a:rPr lang="en-US" altLang="zh-TW" b="0" i="1" smtClean="0">
                        <a:latin typeface="Cambria Math"/>
                      </a:rPr>
                      <m:t>=−</m:t>
                    </m:r>
                    <m:r>
                      <a:rPr lang="en-US" altLang="zh-TW" b="0" i="1" smtClean="0">
                        <a:latin typeface="Cambria Math"/>
                      </a:rPr>
                      <m:t>𝐸</m:t>
                    </m:r>
                    <m:r>
                      <a:rPr lang="en-US" altLang="zh-TW" b="0" i="1" smtClean="0">
                        <a:latin typeface="Cambria Math"/>
                      </a:rPr>
                      <m:t>[</m:t>
                    </m:r>
                    <m:r>
                      <a:rPr lang="en-US" altLang="zh-TW" b="0" i="1" smtClean="0">
                        <a:latin typeface="Cambria Math"/>
                      </a:rPr>
                      <m:t>𝑋</m:t>
                    </m:r>
                    <m:r>
                      <a:rPr lang="en-US" altLang="zh-TW" b="0" i="1" smtClean="0">
                        <a:latin typeface="Cambria Math"/>
                      </a:rPr>
                      <m:t>|</m:t>
                    </m:r>
                    <m:r>
                      <a:rPr lang="en-US" altLang="zh-TW" b="0" i="1" smtClean="0">
                        <a:latin typeface="Cambria Math"/>
                      </a:rPr>
                      <m:t>𝑋</m:t>
                    </m:r>
                    <m:r>
                      <a:rPr lang="en-US" altLang="zh-TW" b="0" i="1" smtClean="0">
                        <a:latin typeface="Cambria Math"/>
                        <a:ea typeface="Cambria Math"/>
                      </a:rPr>
                      <m:t>≤−</m:t>
                    </m:r>
                    <m:sSub>
                      <m:sSubPr>
                        <m:ctrlPr>
                          <a:rPr lang="en-US" altLang="zh-TW" b="0" i="1" smtClean="0">
                            <a:latin typeface="Cambria Math"/>
                            <a:ea typeface="Cambria Math"/>
                          </a:rPr>
                        </m:ctrlPr>
                      </m:sSubPr>
                      <m:e>
                        <m:r>
                          <a:rPr lang="en-US" altLang="zh-TW" b="0" i="1" smtClean="0">
                            <a:latin typeface="Cambria Math"/>
                            <a:ea typeface="Cambria Math"/>
                          </a:rPr>
                          <m:t>𝑉𝑎𝑅</m:t>
                        </m:r>
                      </m:e>
                      <m:sub>
                        <m:r>
                          <a:rPr lang="en-US" altLang="zh-TW" b="0" i="1" smtClean="0">
                            <a:latin typeface="Cambria Math"/>
                            <a:ea typeface="Cambria Math"/>
                          </a:rPr>
                          <m:t>1−</m:t>
                        </m:r>
                        <m:r>
                          <a:rPr lang="zh-TW" altLang="en-US" b="0" i="1" smtClean="0">
                            <a:latin typeface="Cambria Math"/>
                            <a:ea typeface="Cambria Math"/>
                          </a:rPr>
                          <m:t>𝛼</m:t>
                        </m:r>
                      </m:sub>
                    </m:sSub>
                    <m:r>
                      <a:rPr lang="en-US" altLang="zh-TW" b="0" i="1" smtClean="0">
                        <a:latin typeface="Cambria Math"/>
                      </a:rPr>
                      <m:t>]</m:t>
                    </m:r>
                  </m:oMath>
                </a14:m>
                <a:endParaRPr lang="en-US" altLang="zh-TW" dirty="0" smtClean="0"/>
              </a:p>
              <a:p>
                <a:endParaRPr lang="en-US" altLang="zh-TW" dirty="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l="-16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869627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Fitness function of GP</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14:m>
                  <m:oMath xmlns:m="http://schemas.openxmlformats.org/officeDocument/2006/math">
                    <m:sSub>
                      <m:sSubPr>
                        <m:ctrlPr>
                          <a:rPr lang="en-US" altLang="zh-TW" i="1" smtClean="0">
                            <a:latin typeface="Cambria Math"/>
                          </a:rPr>
                        </m:ctrlPr>
                      </m:sSubPr>
                      <m:e>
                        <m:r>
                          <a:rPr lang="en-US" altLang="zh-TW" b="0" i="1" smtClean="0">
                            <a:latin typeface="Cambria Math"/>
                          </a:rPr>
                          <m:t>𝑅𝐴𝑅</m:t>
                        </m:r>
                      </m:e>
                      <m:sub>
                        <m:r>
                          <a:rPr lang="en-US" altLang="zh-TW" b="0" i="1" smtClean="0">
                            <a:latin typeface="Cambria Math"/>
                          </a:rPr>
                          <m:t>𝐵</m:t>
                        </m:r>
                        <m:r>
                          <a:rPr lang="en-US" altLang="zh-TW" b="0" i="1" smtClean="0">
                            <a:latin typeface="Cambria Math"/>
                          </a:rPr>
                          <m:t>&amp;</m:t>
                        </m:r>
                        <m:r>
                          <a:rPr lang="en-US" altLang="zh-TW" b="0" i="1" smtClean="0">
                            <a:latin typeface="Cambria Math"/>
                          </a:rPr>
                          <m:t>𝐻</m:t>
                        </m:r>
                      </m:sub>
                    </m:sSub>
                    <m:r>
                      <m:rPr>
                        <m:nor/>
                      </m:rPr>
                      <a:rPr lang="en-US" altLang="zh-TW" b="0" i="0" smtClean="0">
                        <a:latin typeface="Cambria Math"/>
                      </a:rPr>
                      <m:t> </m:t>
                    </m:r>
                    <m:r>
                      <m:rPr>
                        <m:nor/>
                      </m:rPr>
                      <a:rPr lang="en-US" altLang="zh-TW" b="0" i="0" smtClean="0"/>
                      <m:t>= </m:t>
                    </m:r>
                    <m:f>
                      <m:fPr>
                        <m:ctrlPr>
                          <a:rPr lang="en-US" altLang="zh-TW" b="0" i="1" smtClean="0">
                            <a:latin typeface="Cambria Math"/>
                          </a:rPr>
                        </m:ctrlPr>
                      </m:fPr>
                      <m:num>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𝐵</m:t>
                            </m:r>
                            <m:r>
                              <a:rPr lang="en-US" altLang="zh-TW" b="0" i="1" smtClean="0">
                                <a:latin typeface="Cambria Math"/>
                              </a:rPr>
                              <m:t>&amp;</m:t>
                            </m:r>
                            <m:r>
                              <a:rPr lang="en-US" altLang="zh-TW" b="0" i="1" smtClean="0">
                                <a:latin typeface="Cambria Math"/>
                              </a:rPr>
                              <m:t>𝐻</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𝑓</m:t>
                            </m:r>
                          </m:sub>
                        </m:sSub>
                      </m:num>
                      <m:den>
                        <m:sSub>
                          <m:sSubPr>
                            <m:ctrlPr>
                              <a:rPr lang="en-US" altLang="zh-TW" b="0" i="1" smtClean="0">
                                <a:latin typeface="Cambria Math"/>
                              </a:rPr>
                            </m:ctrlPr>
                          </m:sSubPr>
                          <m:e>
                            <m:r>
                              <a:rPr lang="en-US" altLang="zh-TW" b="0" i="1" smtClean="0">
                                <a:latin typeface="Cambria Math"/>
                              </a:rPr>
                              <m:t>𝐶𝑉𝑎𝑅</m:t>
                            </m:r>
                          </m:e>
                          <m:sub>
                            <m:r>
                              <a:rPr lang="en-US" altLang="zh-TW" b="0" i="1" smtClean="0">
                                <a:latin typeface="Cambria Math"/>
                              </a:rPr>
                              <m:t>1−</m:t>
                            </m:r>
                            <m:r>
                              <a:rPr lang="zh-TW" altLang="en-US" b="0" i="1" smtClean="0">
                                <a:latin typeface="Cambria Math"/>
                              </a:rPr>
                              <m:t>𝛼</m:t>
                            </m:r>
                          </m:sub>
                        </m:sSub>
                      </m:den>
                    </m:f>
                  </m:oMath>
                </a14:m>
                <a:endParaRPr lang="en-US" altLang="zh-TW" dirty="0" smtClean="0"/>
              </a:p>
              <a:p>
                <a14:m>
                  <m:oMath xmlns:m="http://schemas.openxmlformats.org/officeDocument/2006/math">
                    <m:sSub>
                      <m:sSubPr>
                        <m:ctrlPr>
                          <a:rPr lang="en-US" altLang="zh-TW" i="1" smtClean="0">
                            <a:latin typeface="Cambria Math"/>
                          </a:rPr>
                        </m:ctrlPr>
                      </m:sSubPr>
                      <m:e>
                        <m:r>
                          <a:rPr lang="en-US" altLang="zh-TW" b="0" i="1" smtClean="0">
                            <a:latin typeface="Cambria Math"/>
                          </a:rPr>
                          <m:t>𝑅𝐴𝑅</m:t>
                        </m:r>
                      </m:e>
                      <m:sub>
                        <m:r>
                          <a:rPr lang="en-US" altLang="zh-TW" b="0" i="1" smtClean="0">
                            <a:latin typeface="Cambria Math"/>
                          </a:rPr>
                          <m:t>𝐵</m:t>
                        </m:r>
                        <m:r>
                          <a:rPr lang="en-US" altLang="zh-TW" b="0" i="1" smtClean="0">
                            <a:latin typeface="Cambria Math"/>
                          </a:rPr>
                          <m:t>&amp;</m:t>
                        </m:r>
                        <m:r>
                          <a:rPr lang="en-US" altLang="zh-TW" b="0" i="1" smtClean="0">
                            <a:latin typeface="Cambria Math"/>
                          </a:rPr>
                          <m:t>𝑆</m:t>
                        </m:r>
                      </m:sub>
                    </m:sSub>
                    <m:r>
                      <m:rPr>
                        <m:nor/>
                      </m:rPr>
                      <a:rPr lang="en-US" altLang="zh-TW" b="0" i="0" smtClean="0">
                        <a:latin typeface="Cambria Math"/>
                      </a:rPr>
                      <m:t> </m:t>
                    </m:r>
                    <m:r>
                      <m:rPr>
                        <m:nor/>
                      </m:rPr>
                      <a:rPr lang="en-US" altLang="zh-TW" b="0" i="0" smtClean="0"/>
                      <m:t>= </m:t>
                    </m:r>
                    <m:nary>
                      <m:naryPr>
                        <m:chr m:val="∑"/>
                        <m:ctrlPr>
                          <a:rPr lang="en-US" altLang="zh-TW" b="0" i="1" smtClean="0">
                            <a:latin typeface="Cambria Math"/>
                          </a:rPr>
                        </m:ctrlPr>
                      </m:naryPr>
                      <m:sub>
                        <m:r>
                          <m:rPr>
                            <m:brk m:alnAt="23"/>
                          </m:rPr>
                          <a:rPr lang="en-US" altLang="zh-TW" b="0" i="1" smtClean="0">
                            <a:latin typeface="Cambria Math"/>
                          </a:rPr>
                          <m:t>𝑖</m:t>
                        </m:r>
                        <m:r>
                          <a:rPr lang="en-US" altLang="zh-TW" b="0" i="1" smtClean="0">
                            <a:latin typeface="Cambria Math"/>
                          </a:rPr>
                          <m:t>=1</m:t>
                        </m:r>
                      </m:sub>
                      <m:sup>
                        <m:r>
                          <a:rPr lang="en-US" altLang="zh-TW" b="0" i="1" smtClean="0">
                            <a:latin typeface="Cambria Math"/>
                          </a:rPr>
                          <m:t>𝑛</m:t>
                        </m:r>
                      </m:sup>
                      <m:e>
                        <m:f>
                          <m:fPr>
                            <m:ctrlPr>
                              <a:rPr lang="en-US" altLang="zh-TW" b="0" i="1" smtClean="0">
                                <a:latin typeface="Cambria Math"/>
                              </a:rPr>
                            </m:ctrlPr>
                          </m:fPr>
                          <m:num>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𝑖</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𝑓</m:t>
                                </m:r>
                              </m:sub>
                            </m:sSub>
                          </m:num>
                          <m:den>
                            <m:sSub>
                              <m:sSubPr>
                                <m:ctrlPr>
                                  <a:rPr lang="en-US" altLang="zh-TW" b="0" i="1" smtClean="0">
                                    <a:latin typeface="Cambria Math"/>
                                  </a:rPr>
                                </m:ctrlPr>
                              </m:sSubPr>
                              <m:e>
                                <m:r>
                                  <a:rPr lang="en-US" altLang="zh-TW" b="0" i="1" smtClean="0">
                                    <a:latin typeface="Cambria Math"/>
                                  </a:rPr>
                                  <m:t>𝐶𝑉𝑎𝑅</m:t>
                                </m:r>
                              </m:e>
                              <m:sub>
                                <m:r>
                                  <a:rPr lang="en-US" altLang="zh-TW" b="0" i="1" smtClean="0">
                                    <a:latin typeface="Cambria Math"/>
                                  </a:rPr>
                                  <m:t>1−</m:t>
                                </m:r>
                                <m:r>
                                  <a:rPr lang="zh-TW" altLang="en-US" b="0" i="1" smtClean="0">
                                    <a:latin typeface="Cambria Math"/>
                                  </a:rPr>
                                  <m:t>𝛼</m:t>
                                </m:r>
                              </m:sub>
                            </m:sSub>
                          </m:den>
                        </m:f>
                      </m:e>
                    </m:nary>
                    <m:r>
                      <a:rPr lang="en-US" altLang="zh-TW" b="0" i="0" smtClean="0">
                        <a:latin typeface="Cambria Math"/>
                      </a:rPr>
                      <m:t>,</m:t>
                    </m:r>
                  </m:oMath>
                </a14:m>
                <a:r>
                  <a:rPr lang="en-US" altLang="zh-TW" b="0" i="0" dirty="0" smtClean="0">
                    <a:latin typeface="Cambria Math"/>
                  </a:rPr>
                  <a:t/>
                </a:r>
                <a:br>
                  <a:rPr lang="en-US" altLang="zh-TW" b="0" i="0" dirty="0" smtClean="0">
                    <a:latin typeface="Cambria Math"/>
                  </a:rPr>
                </a:br>
                <a14:m>
                  <m:oMath xmlns:m="http://schemas.openxmlformats.org/officeDocument/2006/math">
                    <m:r>
                      <a:rPr lang="en-US" altLang="zh-TW" b="0" i="1" smtClean="0">
                        <a:latin typeface="Cambria Math"/>
                      </a:rPr>
                      <m:t>𝑛</m:t>
                    </m:r>
                    <m:r>
                      <a:rPr lang="en-US" altLang="zh-TW" b="0" i="0" smtClean="0">
                        <a:latin typeface="Cambria Math"/>
                      </a:rPr>
                      <m:t> </m:t>
                    </m:r>
                    <m:r>
                      <m:rPr>
                        <m:sty m:val="p"/>
                      </m:rPr>
                      <a:rPr lang="en-US" altLang="zh-TW" b="0" i="0" smtClean="0">
                        <a:latin typeface="Cambria Math"/>
                      </a:rPr>
                      <m:t>is</m:t>
                    </m:r>
                    <m:r>
                      <a:rPr lang="en-US" altLang="zh-TW" b="0" i="0" smtClean="0">
                        <a:latin typeface="Cambria Math"/>
                      </a:rPr>
                      <m:t> </m:t>
                    </m:r>
                    <m:r>
                      <m:rPr>
                        <m:sty m:val="p"/>
                      </m:rPr>
                      <a:rPr lang="en-US" altLang="zh-TW" b="0" i="0" smtClean="0">
                        <a:latin typeface="Cambria Math"/>
                      </a:rPr>
                      <m:t>the</m:t>
                    </m:r>
                    <m:r>
                      <a:rPr lang="en-US" altLang="zh-TW" b="0" i="0" smtClean="0">
                        <a:latin typeface="Cambria Math"/>
                      </a:rPr>
                      <m:t> </m:t>
                    </m:r>
                    <m:r>
                      <m:rPr>
                        <m:sty m:val="p"/>
                      </m:rPr>
                      <a:rPr lang="en-US" altLang="zh-TW" b="0" i="0" smtClean="0">
                        <a:latin typeface="Cambria Math"/>
                      </a:rPr>
                      <m:t>number</m:t>
                    </m:r>
                    <m:r>
                      <a:rPr lang="en-US" altLang="zh-TW" b="0" i="0" smtClean="0">
                        <a:latin typeface="Cambria Math"/>
                      </a:rPr>
                      <m:t> </m:t>
                    </m:r>
                    <m:r>
                      <m:rPr>
                        <m:sty m:val="p"/>
                      </m:rPr>
                      <a:rPr lang="en-US" altLang="zh-TW" b="0" i="0" smtClean="0">
                        <a:latin typeface="Cambria Math"/>
                      </a:rPr>
                      <m:t>of</m:t>
                    </m:r>
                    <m:r>
                      <a:rPr lang="en-US" altLang="zh-TW" b="0" i="0" smtClean="0">
                        <a:latin typeface="Cambria Math"/>
                      </a:rPr>
                      <m:t> </m:t>
                    </m:r>
                    <m:r>
                      <m:rPr>
                        <m:sty m:val="p"/>
                      </m:rPr>
                      <a:rPr lang="en-US" altLang="zh-TW" b="0" i="0" smtClean="0">
                        <a:latin typeface="Cambria Math"/>
                      </a:rPr>
                      <m:t>transactions</m:t>
                    </m:r>
                    <m:r>
                      <a:rPr lang="en-US" altLang="zh-TW" b="0" i="0" smtClean="0">
                        <a:latin typeface="Cambria Math"/>
                      </a:rPr>
                      <m:t> </m:t>
                    </m:r>
                    <m:r>
                      <m:rPr>
                        <m:sty m:val="p"/>
                      </m:rPr>
                      <a:rPr lang="en-US" altLang="zh-TW" b="0" i="0" smtClean="0">
                        <a:latin typeface="Cambria Math"/>
                      </a:rPr>
                      <m:t>in</m:t>
                    </m:r>
                    <m:r>
                      <a:rPr lang="en-US" altLang="zh-TW" b="0" i="0" smtClean="0">
                        <a:latin typeface="Cambria Math"/>
                      </a:rPr>
                      <m:t> </m:t>
                    </m:r>
                    <m:r>
                      <m:rPr>
                        <m:sty m:val="p"/>
                      </m:rPr>
                      <a:rPr lang="en-US" altLang="zh-TW" b="0" i="0" smtClean="0">
                        <a:latin typeface="Cambria Math"/>
                      </a:rPr>
                      <m:t>the</m:t>
                    </m:r>
                    <m:r>
                      <a:rPr lang="en-US" altLang="zh-TW" b="0" i="0" smtClean="0">
                        <a:latin typeface="Cambria Math"/>
                      </a:rPr>
                      <m:t> </m:t>
                    </m:r>
                    <m:r>
                      <m:rPr>
                        <m:sty m:val="p"/>
                      </m:rPr>
                      <a:rPr lang="en-US" altLang="zh-TW" b="0" i="0" smtClean="0">
                        <a:latin typeface="Cambria Math"/>
                      </a:rPr>
                      <m:t>period</m:t>
                    </m:r>
                  </m:oMath>
                </a14:m>
                <a:endParaRPr lang="en-US" altLang="zh-TW" dirty="0" smtClean="0"/>
              </a:p>
              <a:p>
                <a:endParaRPr lang="en-US" altLang="zh-TW" dirty="0" smtClean="0"/>
              </a:p>
              <a:p>
                <a:r>
                  <a:rPr lang="en-US" altLang="zh-TW" dirty="0" smtClean="0"/>
                  <a:t>Fitness function = </a:t>
                </a:r>
                <a14:m>
                  <m:oMath xmlns:m="http://schemas.openxmlformats.org/officeDocument/2006/math">
                    <m:sSub>
                      <m:sSubPr>
                        <m:ctrlPr>
                          <a:rPr lang="en-US" altLang="zh-TW" i="1" smtClean="0">
                            <a:latin typeface="Cambria Math"/>
                          </a:rPr>
                        </m:ctrlPr>
                      </m:sSubPr>
                      <m:e>
                        <m:r>
                          <a:rPr lang="en-US" altLang="zh-TW" b="0" i="1" smtClean="0">
                            <a:latin typeface="Cambria Math"/>
                          </a:rPr>
                          <m:t>𝑅𝐴𝑅</m:t>
                        </m:r>
                      </m:e>
                      <m:sub>
                        <m:r>
                          <a:rPr lang="en-US" altLang="zh-TW" b="0" i="1" smtClean="0">
                            <a:latin typeface="Cambria Math"/>
                          </a:rPr>
                          <m:t>𝐵</m:t>
                        </m:r>
                        <m:r>
                          <a:rPr lang="en-US" altLang="zh-TW" b="0" i="1" smtClean="0">
                            <a:latin typeface="Cambria Math"/>
                          </a:rPr>
                          <m:t>&amp;</m:t>
                        </m:r>
                        <m:r>
                          <a:rPr lang="en-US" altLang="zh-TW" b="0" i="1" smtClean="0">
                            <a:latin typeface="Cambria Math"/>
                          </a:rPr>
                          <m:t>𝑆</m:t>
                        </m:r>
                      </m:sub>
                    </m:sSub>
                    <m:r>
                      <a:rPr lang="en-US" altLang="zh-TW" b="0" i="1" smtClean="0">
                        <a:latin typeface="Cambria Math"/>
                      </a:rPr>
                      <m:t> −</m:t>
                    </m:r>
                    <m:sSub>
                      <m:sSubPr>
                        <m:ctrlPr>
                          <a:rPr lang="en-US" altLang="zh-TW" i="1" smtClean="0">
                            <a:latin typeface="Cambria Math"/>
                          </a:rPr>
                        </m:ctrlPr>
                      </m:sSubPr>
                      <m:e>
                        <m:r>
                          <a:rPr lang="en-US" altLang="zh-TW" b="0" i="1" smtClean="0">
                            <a:latin typeface="Cambria Math"/>
                          </a:rPr>
                          <m:t>𝑅𝐴𝑅</m:t>
                        </m:r>
                      </m:e>
                      <m:sub>
                        <m:r>
                          <a:rPr lang="en-US" altLang="zh-TW" b="0" i="1" smtClean="0">
                            <a:latin typeface="Cambria Math"/>
                          </a:rPr>
                          <m:t>𝐵</m:t>
                        </m:r>
                        <m:r>
                          <a:rPr lang="en-US" altLang="zh-TW" b="0" i="1" smtClean="0">
                            <a:latin typeface="Cambria Math"/>
                          </a:rPr>
                          <m:t>&amp;</m:t>
                        </m:r>
                        <m:r>
                          <a:rPr lang="en-US" altLang="zh-TW" b="0" i="1" smtClean="0">
                            <a:latin typeface="Cambria Math"/>
                          </a:rPr>
                          <m:t>𝐻</m:t>
                        </m:r>
                      </m:sub>
                    </m:sSub>
                  </m:oMath>
                </a14:m>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901655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Trinary</a:t>
            </a:r>
            <a:r>
              <a:rPr lang="en-US" altLang="zh-TW" dirty="0" smtClean="0"/>
              <a:t> trading rule signal</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204864"/>
            <a:ext cx="7265205"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154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645" y="476672"/>
            <a:ext cx="6471547" cy="59766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07216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t>
            </a:r>
            <a:endParaRPr lang="zh-TW" altLang="en-US" dirty="0"/>
          </a:p>
        </p:txBody>
      </p:sp>
      <p:sp>
        <p:nvSpPr>
          <p:cNvPr id="3" name="內容版面配置區 2"/>
          <p:cNvSpPr>
            <a:spLocks noGrp="1"/>
          </p:cNvSpPr>
          <p:nvPr>
            <p:ph idx="1"/>
          </p:nvPr>
        </p:nvSpPr>
        <p:spPr>
          <a:xfrm>
            <a:off x="467544" y="1412776"/>
            <a:ext cx="8229600" cy="4525963"/>
          </a:xfrm>
        </p:spPr>
        <p:txBody>
          <a:bodyPr>
            <a:normAutofit/>
          </a:bodyPr>
          <a:lstStyle/>
          <a:p>
            <a:r>
              <a:rPr lang="en-US" altLang="zh-TW" sz="2800" dirty="0" smtClean="0"/>
              <a:t>10 Iranian companies listed on Tehran Stock Exchange (TSE).</a:t>
            </a:r>
          </a:p>
          <a:p>
            <a:r>
              <a:rPr lang="en-US" altLang="zh-TW" sz="2800" dirty="0" smtClean="0"/>
              <a:t>Training period: 22/8/2004–21/8/2007</a:t>
            </a:r>
          </a:p>
          <a:p>
            <a:r>
              <a:rPr lang="en-US" altLang="zh-TW" sz="2800" dirty="0" smtClean="0"/>
              <a:t>Testing period: 22/8/2007–21/8/2008</a:t>
            </a:r>
            <a:endParaRPr lang="zh-TW" altLang="en-US"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471317"/>
            <a:ext cx="5623172" cy="3386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1154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00670"/>
            <a:ext cx="4953000" cy="287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248744"/>
            <a:ext cx="504825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5634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endParaRPr lang="en-US" altLang="zh-TW" dirty="0" smtClean="0"/>
          </a:p>
          <a:p>
            <a:pPr marL="0" indent="0" algn="ctr">
              <a:buNone/>
            </a:pPr>
            <a:endParaRPr lang="en-US" altLang="zh-TW" sz="5400" dirty="0" smtClean="0"/>
          </a:p>
          <a:p>
            <a:pPr marL="0" indent="0" algn="ctr">
              <a:buNone/>
            </a:pPr>
            <a:r>
              <a:rPr lang="en-US" altLang="zh-TW" sz="5400" dirty="0" smtClean="0"/>
              <a:t>THE END</a:t>
            </a:r>
            <a:endParaRPr lang="zh-TW" altLang="en-US" sz="5400" dirty="0"/>
          </a:p>
        </p:txBody>
      </p:sp>
    </p:spTree>
    <p:extLst>
      <p:ext uri="{BB962C8B-B14F-4D97-AF65-F5344CB8AC3E}">
        <p14:creationId xmlns:p14="http://schemas.microsoft.com/office/powerpoint/2010/main" val="406843169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TotalTime>
  <Words>447</Words>
  <Application>Microsoft Office PowerPoint</Application>
  <PresentationFormat>如螢幕大小 (4:3)</PresentationFormat>
  <Paragraphs>33</Paragraphs>
  <Slides>10</Slides>
  <Notes>0</Notes>
  <HiddenSlides>0</HiddenSlides>
  <MMClips>0</MMClips>
  <ScaleCrop>false</ScaleCrop>
  <HeadingPairs>
    <vt:vector size="4" baseType="variant">
      <vt:variant>
        <vt:lpstr>佈景主題</vt:lpstr>
      </vt:variant>
      <vt:variant>
        <vt:i4>1</vt:i4>
      </vt:variant>
      <vt:variant>
        <vt:lpstr>投影片標題</vt:lpstr>
      </vt:variant>
      <vt:variant>
        <vt:i4>10</vt:i4>
      </vt:variant>
    </vt:vector>
  </HeadingPairs>
  <TitlesOfParts>
    <vt:vector size="11" baseType="lpstr">
      <vt:lpstr>Office 佈景主題</vt:lpstr>
      <vt:lpstr>A genetic programming model to generate risk-adjusted technical trading rules in stock markets</vt:lpstr>
      <vt:lpstr>Abstract</vt:lpstr>
      <vt:lpstr>Risk</vt:lpstr>
      <vt:lpstr>"Conditional Sharpe ratio"</vt:lpstr>
      <vt:lpstr>Fitness function of GP</vt:lpstr>
      <vt:lpstr>Trinary trading rule signal</vt:lpstr>
      <vt:lpstr>PowerPoint 簡報</vt:lpstr>
      <vt:lpstr>experiment</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LCH</dc:creator>
  <cp:lastModifiedBy>LCH</cp:lastModifiedBy>
  <cp:revision>19</cp:revision>
  <dcterms:created xsi:type="dcterms:W3CDTF">2013-04-09T04:36:29Z</dcterms:created>
  <dcterms:modified xsi:type="dcterms:W3CDTF">2013-04-09T08:40:37Z</dcterms:modified>
</cp:coreProperties>
</file>