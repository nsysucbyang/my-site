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CAE0-0C81-4B78-82D1-11BE0D61DB07}" type="datetime1">
              <a:rPr lang="zh-TW" altLang="en-US" smtClean="0"/>
              <a:t>2013/4/9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19FDD-675A-4A39-B0F1-906E5BA6EF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591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36F9-A0BE-4D52-9097-BF965413D210}" type="datetime1">
              <a:rPr lang="zh-TW" altLang="en-US" smtClean="0"/>
              <a:t>2013/4/9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B2AB0-7B78-40EC-A30E-F42C75B51A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384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8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 smtClean="0"/>
              <a:t>按一下以編輯母片副標題樣式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EB65-1833-43F1-BD28-90CA58C223F1}" type="datetime1">
              <a:rPr lang="zh-TW" altLang="en-US" smtClean="0"/>
              <a:t>2013/4/9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5561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6542-6EFB-4063-A5B0-41FD0D95C3CD}" type="datetime1">
              <a:rPr lang="zh-TW" altLang="en-US" smtClean="0"/>
              <a:t>2013/4/9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7983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4AF9-5678-44F8-A5F3-25F4EE962BEB}" type="datetime1">
              <a:rPr lang="zh-TW" altLang="en-US" smtClean="0"/>
              <a:t>2013/4/9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97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ABEE-C7E4-40C4-92CB-86E1D58CE5C6}" type="datetime1">
              <a:rPr lang="zh-TW" altLang="en-US" smtClean="0"/>
              <a:t>2013/4/9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69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A883-52C2-486B-8EA1-085A9CDA4FB8}" type="datetime1">
              <a:rPr lang="zh-TW" altLang="en-US" smtClean="0"/>
              <a:t>2013/4/9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93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4510-C05F-405E-BF57-EDA10426F4FA}" type="datetime1">
              <a:rPr lang="zh-TW" altLang="en-US" smtClean="0"/>
              <a:t>2013/4/9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48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8CA7-07F3-4DAF-849D-048C755ED96A}" type="datetime1">
              <a:rPr lang="zh-TW" altLang="en-US" smtClean="0"/>
              <a:t>2013/4/9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453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BA66-D99D-4975-B43D-26D9BBCD9CA3}" type="datetime1">
              <a:rPr lang="zh-TW" altLang="en-US" smtClean="0"/>
              <a:t>2013/4/9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986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A5DC-8ED7-4BFB-AF27-C684B4AEE8F0}" type="datetime1">
              <a:rPr lang="zh-TW" altLang="en-US" smtClean="0"/>
              <a:t>2013/4/9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320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128C-3907-40E0-8A52-3CB0064A414F}" type="datetime1">
              <a:rPr lang="zh-TW" altLang="en-US" smtClean="0"/>
              <a:t>2013/4/9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090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2582-DD10-43EA-B141-5A8AB99B0301}" type="datetime1">
              <a:rPr lang="zh-TW" altLang="en-US" smtClean="0"/>
              <a:t>2013/4/9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565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E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7C3D2-FFA1-4493-B768-C3A89A67BE4C}" type="datetime1">
              <a:rPr lang="zh-TW" altLang="en-US" smtClean="0"/>
              <a:t>2013/4/9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684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>
          <a:xfrm>
            <a:off x="685800" y="518815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4000" b="1" dirty="0"/>
              <a:t>Adaptive Score Normalization for </a:t>
            </a:r>
            <a:r>
              <a:rPr lang="en-US" altLang="zh-TW" sz="4000" b="1" dirty="0" smtClean="0"/>
              <a:t>Output Integration </a:t>
            </a:r>
            <a:r>
              <a:rPr lang="en-US" altLang="zh-TW" sz="4000" b="1" dirty="0"/>
              <a:t>in </a:t>
            </a:r>
            <a:r>
              <a:rPr lang="en-US" altLang="zh-TW" sz="4000" b="1" dirty="0" err="1"/>
              <a:t>Multiclassifier</a:t>
            </a:r>
            <a:r>
              <a:rPr lang="en-US" altLang="zh-TW" sz="4000" b="1" dirty="0"/>
              <a:t> Systems</a:t>
            </a:r>
            <a:endParaRPr lang="zh-TW" altLang="en-US" sz="4000" dirty="0"/>
          </a:p>
        </p:txBody>
      </p:sp>
      <p:sp>
        <p:nvSpPr>
          <p:cNvPr id="5" name="副標題 3"/>
          <p:cNvSpPr>
            <a:spLocks noGrp="1"/>
          </p:cNvSpPr>
          <p:nvPr>
            <p:ph type="subTitle" idx="1"/>
          </p:nvPr>
        </p:nvSpPr>
        <p:spPr>
          <a:xfrm>
            <a:off x="1411560" y="2394847"/>
            <a:ext cx="6400800" cy="3554433"/>
          </a:xfrm>
        </p:spPr>
        <p:txBody>
          <a:bodyPr>
            <a:normAutofit/>
          </a:bodyPr>
          <a:lstStyle/>
          <a:p>
            <a:r>
              <a:rPr lang="it-IT" altLang="zh-TW" sz="2800" dirty="0"/>
              <a:t>Giuseppe </a:t>
            </a:r>
            <a:r>
              <a:rPr lang="it-IT" altLang="zh-TW" sz="2800" dirty="0" smtClean="0"/>
              <a:t>Pirlo </a:t>
            </a:r>
            <a:r>
              <a:rPr lang="it-IT" altLang="zh-TW" sz="2800" dirty="0"/>
              <a:t>and Donato </a:t>
            </a:r>
            <a:r>
              <a:rPr lang="it-IT" altLang="zh-TW" sz="2800" dirty="0" smtClean="0"/>
              <a:t>Impedovo</a:t>
            </a:r>
          </a:p>
          <a:p>
            <a:r>
              <a:rPr lang="en-US" altLang="zh-TW" sz="2800" dirty="0"/>
              <a:t>IEEE Signal Processing </a:t>
            </a:r>
            <a:r>
              <a:rPr lang="en-US" altLang="zh-TW" sz="2800" dirty="0" smtClean="0"/>
              <a:t>Letters, Vol. </a:t>
            </a:r>
            <a:r>
              <a:rPr lang="en-US" altLang="zh-TW" sz="2800" dirty="0"/>
              <a:t>19, </a:t>
            </a:r>
            <a:r>
              <a:rPr lang="en-US" altLang="zh-TW" sz="2800" dirty="0" smtClean="0"/>
              <a:t>No. </a:t>
            </a:r>
            <a:r>
              <a:rPr lang="en-US" altLang="zh-TW" sz="2800" dirty="0"/>
              <a:t>12, </a:t>
            </a:r>
            <a:r>
              <a:rPr lang="en-US" altLang="zh-TW" sz="2800" dirty="0" smtClean="0"/>
              <a:t>December </a:t>
            </a:r>
            <a:r>
              <a:rPr lang="en-US" altLang="zh-TW" sz="2800" dirty="0"/>
              <a:t>2012</a:t>
            </a:r>
            <a:endParaRPr lang="en-US" altLang="zh-TW" sz="2800" dirty="0" smtClean="0"/>
          </a:p>
        </p:txBody>
      </p:sp>
      <p:sp>
        <p:nvSpPr>
          <p:cNvPr id="8" name="副標題 3"/>
          <p:cNvSpPr txBox="1">
            <a:spLocks/>
          </p:cNvSpPr>
          <p:nvPr/>
        </p:nvSpPr>
        <p:spPr>
          <a:xfrm>
            <a:off x="323528" y="5425298"/>
            <a:ext cx="6400800" cy="1244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dirty="0" smtClean="0">
                <a:solidFill>
                  <a:schemeClr val="tx1"/>
                </a:solidFill>
              </a:rPr>
              <a:t>Presenter: </a:t>
            </a:r>
            <a:r>
              <a:rPr lang="en-US" altLang="zh-TW" sz="2800" dirty="0" err="1" smtClean="0">
                <a:solidFill>
                  <a:schemeClr val="tx1"/>
                </a:solidFill>
              </a:rPr>
              <a:t>Che-Jui</a:t>
            </a:r>
            <a:r>
              <a:rPr lang="en-US" altLang="zh-TW" sz="2800" dirty="0" smtClean="0">
                <a:solidFill>
                  <a:schemeClr val="tx1"/>
                </a:solidFill>
              </a:rPr>
              <a:t> Hsu(</a:t>
            </a:r>
            <a:r>
              <a:rPr lang="zh-TW" altLang="en-US" sz="2800" dirty="0" smtClean="0">
                <a:solidFill>
                  <a:schemeClr val="tx1"/>
                </a:solidFill>
              </a:rPr>
              <a:t>許哲睿</a:t>
            </a:r>
            <a:r>
              <a:rPr lang="en-US" altLang="zh-TW" sz="2800" dirty="0" smtClean="0">
                <a:solidFill>
                  <a:schemeClr val="tx1"/>
                </a:solidFill>
              </a:rPr>
              <a:t>)</a:t>
            </a:r>
          </a:p>
          <a:p>
            <a:pPr algn="l"/>
            <a:r>
              <a:rPr lang="en-US" altLang="zh-TW" sz="2800" dirty="0" smtClean="0">
                <a:solidFill>
                  <a:schemeClr val="tx1"/>
                </a:solidFill>
              </a:rPr>
              <a:t>Date: </a:t>
            </a:r>
            <a:fld id="{3DC95CE2-72FD-4627-B4FE-7CBC89963158}" type="datetime1">
              <a:rPr lang="zh-TW" altLang="en-US" sz="2800" smtClean="0">
                <a:solidFill>
                  <a:schemeClr val="tx1"/>
                </a:solidFill>
              </a:rPr>
              <a:t>2013/4/9</a:t>
            </a:fld>
            <a:endParaRPr lang="en-US" altLang="zh-TW" sz="2800" dirty="0" smtClean="0">
              <a:solidFill>
                <a:schemeClr val="tx1"/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284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Autofit/>
          </a:bodyPr>
          <a:lstStyle/>
          <a:p>
            <a:pPr marL="0" indent="457200" algn="just">
              <a:buNone/>
            </a:pPr>
            <a:r>
              <a:rPr lang="en-US" altLang="zh-TW" sz="2200" dirty="0"/>
              <a:t>This letter introduces a new score normalization </a:t>
            </a:r>
            <a:r>
              <a:rPr lang="en-US" altLang="zh-TW" sz="2200" dirty="0" smtClean="0"/>
              <a:t>technique – </a:t>
            </a:r>
            <a:r>
              <a:rPr lang="en-US" altLang="zh-TW" sz="2200" dirty="0"/>
              <a:t>based on Dynamic </a:t>
            </a:r>
            <a:r>
              <a:rPr lang="en-US" altLang="zh-TW" sz="2200" dirty="0" smtClean="0"/>
              <a:t>Time Warping </a:t>
            </a:r>
            <a:r>
              <a:rPr lang="en-US" altLang="zh-TW" sz="2200" dirty="0"/>
              <a:t>(DTW) – for output </a:t>
            </a:r>
            <a:r>
              <a:rPr lang="en-US" altLang="zh-TW" sz="2200" dirty="0" smtClean="0"/>
              <a:t>integration in </a:t>
            </a:r>
            <a:r>
              <a:rPr lang="en-US" altLang="zh-TW" sz="2200" dirty="0" err="1"/>
              <a:t>multiclassifier</a:t>
            </a:r>
            <a:r>
              <a:rPr lang="en-US" altLang="zh-TW" sz="2200" dirty="0"/>
              <a:t> systems. More precisely, DTW is used </a:t>
            </a:r>
            <a:r>
              <a:rPr lang="en-US" altLang="zh-TW" sz="2200" dirty="0" smtClean="0"/>
              <a:t>to match </a:t>
            </a:r>
            <a:r>
              <a:rPr lang="en-US" altLang="zh-TW" sz="2200" dirty="0"/>
              <a:t>the score cumulative distribution of each individual </a:t>
            </a:r>
            <a:r>
              <a:rPr lang="en-US" altLang="zh-TW" sz="2200" dirty="0" smtClean="0"/>
              <a:t>classifier against </a:t>
            </a:r>
            <a:r>
              <a:rPr lang="en-US" altLang="zh-TW" sz="2200" dirty="0"/>
              <a:t>a standard cumulative distribution. The warping </a:t>
            </a:r>
            <a:r>
              <a:rPr lang="en-US" altLang="zh-TW" sz="2200" dirty="0" smtClean="0"/>
              <a:t>function allows </a:t>
            </a:r>
            <a:r>
              <a:rPr lang="en-US" altLang="zh-TW" sz="2200" dirty="0"/>
              <a:t>optimal alignment of the scores provided by the </a:t>
            </a:r>
            <a:r>
              <a:rPr lang="en-US" altLang="zh-TW" sz="2200" dirty="0" smtClean="0"/>
              <a:t>individual classifiers </a:t>
            </a:r>
            <a:r>
              <a:rPr lang="en-US" altLang="zh-TW" sz="2200" dirty="0"/>
              <a:t>with the scores on the standard cumulative </a:t>
            </a:r>
            <a:r>
              <a:rPr lang="en-US" altLang="zh-TW" sz="2200" dirty="0" smtClean="0"/>
              <a:t>distribution. Furthermore</a:t>
            </a:r>
            <a:r>
              <a:rPr lang="en-US" altLang="zh-TW" sz="2200" dirty="0"/>
              <a:t>, in order to adapt the normalization </a:t>
            </a:r>
            <a:r>
              <a:rPr lang="en-US" altLang="zh-TW" sz="2200" dirty="0" smtClean="0"/>
              <a:t>process to </a:t>
            </a:r>
            <a:r>
              <a:rPr lang="en-US" altLang="zh-TW" sz="2200" dirty="0"/>
              <a:t>the behavior of the individual classifiers and to the decision </a:t>
            </a:r>
            <a:r>
              <a:rPr lang="en-US" altLang="zh-TW" sz="2200" dirty="0" smtClean="0"/>
              <a:t>fusion rule</a:t>
            </a:r>
            <a:r>
              <a:rPr lang="en-US" altLang="zh-TW" sz="2200" dirty="0"/>
              <a:t>, a new class of fuzzy cumulative distributions is </a:t>
            </a:r>
            <a:r>
              <a:rPr lang="en-US" altLang="zh-TW" sz="2200" dirty="0" smtClean="0"/>
              <a:t>introduced and </a:t>
            </a:r>
            <a:r>
              <a:rPr lang="en-US" altLang="zh-TW" sz="2200" dirty="0"/>
              <a:t>a genetic approach is used to select the optimal </a:t>
            </a:r>
            <a:r>
              <a:rPr lang="en-US" altLang="zh-TW" sz="2200" dirty="0" smtClean="0"/>
              <a:t>distribution to </a:t>
            </a:r>
            <a:r>
              <a:rPr lang="en-US" altLang="zh-TW" sz="2200" dirty="0"/>
              <a:t>be used as standard cumulative distribution for </a:t>
            </a:r>
            <a:r>
              <a:rPr lang="en-US" altLang="zh-TW" sz="2200" dirty="0" smtClean="0"/>
              <a:t>score normalization</a:t>
            </a:r>
            <a:r>
              <a:rPr lang="en-US" altLang="zh-TW" sz="2200" dirty="0"/>
              <a:t>. The experimental tests report better results for </a:t>
            </a:r>
            <a:r>
              <a:rPr lang="en-US" altLang="zh-TW" sz="2200" dirty="0" smtClean="0"/>
              <a:t>the fuzzy </a:t>
            </a:r>
            <a:r>
              <a:rPr lang="en-US" altLang="zh-TW" sz="2200" dirty="0"/>
              <a:t>normalization technique than for those obtained with </a:t>
            </a:r>
            <a:r>
              <a:rPr lang="en-US" altLang="zh-TW" sz="2200" dirty="0" smtClean="0"/>
              <a:t>other approaches </a:t>
            </a:r>
            <a:r>
              <a:rPr lang="en-US" altLang="zh-TW" sz="2200" dirty="0"/>
              <a:t>present in the literature.</a:t>
            </a:r>
            <a:endParaRPr lang="zh-TW" altLang="en-US" sz="2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7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Fuzzy Cumulative Distributions (FCD</a:t>
            </a:r>
            <a:r>
              <a:rPr lang="en-US" altLang="zh-TW" b="1" dirty="0" smtClean="0"/>
              <a:t>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Give several sequences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=1, 2, …,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dirty="0" smtClean="0"/>
                  <a:t>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FCD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zh-TW" alt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Sup>
                          <m:sSub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so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ER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FCD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FCD</m:t>
                                </m:r>
                              </m:e>
                            </m:d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ER</m:t>
                        </m:r>
                        <m:d>
                          <m:d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FCD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zh-TW" dirty="0" smtClean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221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FCD Algorithm (1/6)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STEP 1. The initial–population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𝑃𝑜𝑝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sSub>
                          <m:sSubPr>
                            <m:ctrlPr>
                              <a:rPr lang="el-GR" altLang="zh-TW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𝑝𝑜𝑝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 smtClean="0"/>
                  <a:t> was </a:t>
                </a:r>
                <a:r>
                  <a:rPr lang="en-US" altLang="zh-TW" dirty="0"/>
                  <a:t>created by </a:t>
                </a:r>
                <a:r>
                  <a:rPr lang="en-US" altLang="zh-TW" dirty="0" smtClean="0"/>
                  <a:t>generating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𝑝𝑜𝑝</m:t>
                        </m:r>
                      </m:sub>
                    </m:sSub>
                  </m:oMath>
                </a14:m>
                <a:r>
                  <a:rPr lang="en-US" altLang="zh-TW" dirty="0" smtClean="0"/>
                  <a:t> random </a:t>
                </a:r>
                <a:r>
                  <a:rPr lang="en-US" altLang="zh-TW" dirty="0"/>
                  <a:t>individuals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𝑝𝑜𝑝</m:t>
                        </m:r>
                      </m:sub>
                    </m:sSub>
                  </m:oMath>
                </a14:m>
                <a:r>
                  <a:rPr lang="en-US" altLang="zh-TW" dirty="0"/>
                  <a:t> even), where </a:t>
                </a:r>
                <a:r>
                  <a:rPr lang="en-US" altLang="zh-TW" dirty="0" smtClean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 was </a:t>
                </a:r>
                <a:r>
                  <a:rPr lang="en-US" altLang="zh-TW" dirty="0"/>
                  <a:t>a FCD that was defined through the sequence </a:t>
                </a:r>
                <a:r>
                  <a:rPr lang="en-US" altLang="zh-TW" dirty="0" smtClean="0"/>
                  <a:t>of the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0053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FCD Algorithm </a:t>
            </a:r>
            <a:r>
              <a:rPr lang="en-US" altLang="zh-TW" b="1" dirty="0" smtClean="0"/>
              <a:t>(2/6)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STEP 2. The cost function of an </a:t>
                </a:r>
                <a:r>
                  <a:rPr lang="en-US" altLang="zh-TW" dirty="0" smtClean="0"/>
                  <a:t>individual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was taken as the </a:t>
                </a:r>
                <a:r>
                  <a:rPr lang="en-US" altLang="zh-TW" dirty="0" smtClean="0"/>
                  <a:t>Error Rate </a:t>
                </a:r>
                <a:r>
                  <a:rPr lang="en-US" altLang="zh-TW" dirty="0"/>
                  <a:t>of the combined classifier,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 was considered as </a:t>
                </a:r>
                <a:r>
                  <a:rPr lang="en-US" altLang="zh-TW" dirty="0"/>
                  <a:t>the standard cumulative distribution of the score </a:t>
                </a:r>
                <a:r>
                  <a:rPr lang="en-US" altLang="zh-TW" dirty="0" smtClean="0"/>
                  <a:t>normalization process</a:t>
                </a:r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 r="-2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89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Dynamic Time Warping (DTW)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21275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−1, 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−1, 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sz="2000" dirty="0" smtClean="0"/>
                  <a:t>Ref</a:t>
                </a:r>
                <a:r>
                  <a:rPr lang="en-US" altLang="zh-TW" sz="2000" dirty="0"/>
                  <a:t>: http://mirlab.org/jang/books/dcpr/dpDtw.asp?title=8-4%20Dynamic%20Time%20Warping&amp;language=chinese</a:t>
                </a:r>
                <a:endParaRPr lang="en-US" altLang="zh-TW" sz="20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21275"/>
              </a:xfrm>
              <a:blipFill rotWithShape="0"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852936"/>
            <a:ext cx="4320480" cy="285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31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FCD Algorithm </a:t>
            </a:r>
            <a:r>
              <a:rPr lang="en-US" altLang="zh-TW" b="1" dirty="0" smtClean="0"/>
              <a:t>(3/6)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STEP 3. From the current – population, the new populations of </a:t>
                </a:r>
                <a:r>
                  <a:rPr lang="en-US" altLang="zh-TW" dirty="0"/>
                  <a:t>individuals were generated by the following </a:t>
                </a:r>
                <a:r>
                  <a:rPr lang="en-US" altLang="zh-TW" dirty="0" smtClean="0"/>
                  <a:t>genetic operators:</a:t>
                </a:r>
              </a:p>
              <a:p>
                <a:pPr lvl="1"/>
                <a:r>
                  <a:rPr lang="en-US" altLang="zh-TW" b="1" dirty="0"/>
                  <a:t>Selection. </a:t>
                </a:r>
                <a:r>
                  <a:rPr lang="en-US" altLang="zh-TW" dirty="0"/>
                  <a:t>The roulette-wheel strategy was used to </a:t>
                </a:r>
                <a:r>
                  <a:rPr lang="en-US" altLang="zh-TW" dirty="0" smtClean="0"/>
                  <a:t>select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𝑝𝑜𝑝</m:t>
                            </m:r>
                          </m:sub>
                        </m:sSub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dirty="0" smtClean="0"/>
                  <a:t> random </a:t>
                </a:r>
                <a:r>
                  <a:rPr lang="en-US" altLang="zh-TW" dirty="0"/>
                  <a:t>pairs of individuals for crossover.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7712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FCD Algorithm </a:t>
            </a:r>
            <a:r>
              <a:rPr lang="en-US" altLang="zh-TW" b="1" dirty="0" smtClean="0"/>
              <a:t>(4/6)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en-US" altLang="zh-TW" b="1" dirty="0" smtClean="0"/>
                  <a:t>Crossover. </a:t>
                </a:r>
                <a:r>
                  <a:rPr lang="en-US" altLang="zh-TW" dirty="0"/>
                  <a:t>The one-point crossover was used to </a:t>
                </a:r>
                <a:r>
                  <a:rPr lang="en-US" altLang="zh-TW" dirty="0" smtClean="0"/>
                  <a:t>combine information </a:t>
                </a:r>
                <a:r>
                  <a:rPr lang="en-US" altLang="zh-TW" dirty="0"/>
                  <a:t>from different individuals</a:t>
                </a:r>
                <a:r>
                  <a:rPr lang="en-US" altLang="zh-TW" dirty="0" smtClean="0"/>
                  <a:t>.</a:t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b="0" i="0" smtClean="0"/>
                      <m:t>become</m:t>
                    </m:r>
                  </m:oMath>
                </a14:m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TW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TW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143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FCD Algorithm </a:t>
            </a:r>
            <a:r>
              <a:rPr lang="en-US" altLang="zh-TW" b="1" dirty="0" smtClean="0"/>
              <a:t>(5/6)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altLang="zh-TW" b="1" dirty="0" smtClean="0"/>
                  <a:t>Mutation. </a:t>
                </a:r>
                <a14:m>
                  <m:oMath xmlns:m="http://schemas.openxmlformats.org/officeDocument/2006/math">
                    <m:r>
                      <a:rPr lang="en-US" altLang="zh-TW" b="1" i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i="1">
                            <a:latin typeface="Cambria Math"/>
                          </a:rPr>
                        </m:ctrlPr>
                      </m:sSub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zh-TW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=1, 2, …,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zh-TW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0" smtClean="0"/>
                      <m:t>was</m:t>
                    </m:r>
                    <m:r>
                      <m:rPr>
                        <m:nor/>
                      </m:rPr>
                      <a:rPr lang="en-US" altLang="zh-TW" b="0" i="0" smtClean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a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random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Boolean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value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generated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according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to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a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equally</m:t>
                    </m:r>
                    <m:r>
                      <m:rPr>
                        <m:nor/>
                      </m:rPr>
                      <a:rPr lang="en-US" altLang="zh-TW" dirty="0"/>
                      <m:t>−</m:t>
                    </m:r>
                    <m:r>
                      <m:rPr>
                        <m:nor/>
                      </m:rPr>
                      <a:rPr lang="en-US" altLang="zh-TW" dirty="0"/>
                      <m:t>distributed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probability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function</m:t>
                    </m:r>
                  </m:oMath>
                </a14:m>
                <a:endParaRPr lang="en-US" altLang="zh-TW" dirty="0"/>
              </a:p>
              <a:p>
                <a:pPr lvl="2"/>
                <a14:m>
                  <m:oMath xmlns:m="http://schemas.openxmlformats.org/officeDocument/2006/math"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/>
                      <m:t>was</m:t>
                    </m:r>
                    <m:r>
                      <m:rPr>
                        <m:nor/>
                      </m:rPr>
                      <a:rPr lang="en-US" altLang="zh-TW"/>
                      <m:t> </m:t>
                    </m:r>
                    <m:r>
                      <m:rPr>
                        <m:nor/>
                      </m:rPr>
                      <a:rPr lang="en-US" altLang="zh-TW"/>
                      <m:t>a</m:t>
                    </m:r>
                    <m:r>
                      <m:rPr>
                        <m:nor/>
                      </m:rPr>
                      <a:rPr lang="en-US" altLang="zh-TW"/>
                      <m:t> </m:t>
                    </m:r>
                    <m:r>
                      <m:rPr>
                        <m:nor/>
                      </m:rPr>
                      <a:rPr lang="en-US" altLang="zh-TW"/>
                      <m:t>random</m:t>
                    </m:r>
                    <m:r>
                      <m:rPr>
                        <m:nor/>
                      </m:rPr>
                      <a:rPr lang="en-US" altLang="zh-TW"/>
                      <m:t> </m:t>
                    </m:r>
                    <m:r>
                      <m:rPr>
                        <m:nor/>
                      </m:rPr>
                      <a:rPr lang="en-US" altLang="zh-TW"/>
                      <m:t>value</m:t>
                    </m:r>
                  </m:oMath>
                </a14:m>
                <a:r>
                  <a:rPr lang="en-US" altLang="zh-TW" b="0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zh-TW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zh-TW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lvl="1"/>
                <a:endParaRPr lang="en-US" altLang="zh-TW" dirty="0"/>
              </a:p>
              <a:p>
                <a:pPr lvl="1"/>
                <a:r>
                  <a:rPr lang="en-US" altLang="zh-TW" b="1" dirty="0" err="1"/>
                  <a:t>Elistism</a:t>
                </a:r>
                <a:r>
                  <a:rPr lang="en-US" altLang="zh-TW" b="1" dirty="0"/>
                  <a:t>. </a:t>
                </a:r>
                <a:r>
                  <a:rPr lang="en-US" altLang="zh-TW" dirty="0"/>
                  <a:t>One random individual of the current </a:t>
                </a:r>
                <a:r>
                  <a:rPr lang="en-US" altLang="zh-TW" dirty="0" smtClean="0"/>
                  <a:t>population was </a:t>
                </a:r>
                <a:r>
                  <a:rPr lang="en-US" altLang="zh-TW" dirty="0"/>
                  <a:t>substituted with the best individual of the </a:t>
                </a:r>
                <a:r>
                  <a:rPr lang="en-US" altLang="zh-TW" dirty="0" smtClean="0"/>
                  <a:t>previous population</a:t>
                </a:r>
                <a:r>
                  <a:rPr lang="en-US" altLang="zh-TW" dirty="0"/>
                  <a:t>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665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FCD Algorithm </a:t>
            </a:r>
            <a:r>
              <a:rPr lang="en-US" altLang="zh-TW" b="1" dirty="0" smtClean="0"/>
              <a:t>(6/6)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In the genetic process, steps 2 and 3 were repeated until at least one </a:t>
                </a:r>
                <a:r>
                  <a:rPr lang="en-US" altLang="zh-TW" dirty="0"/>
                  <a:t>of the following stop conditions occurred: </a:t>
                </a:r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𝑖𝑡𝑒𝑟</m:t>
                        </m:r>
                      </m:sup>
                    </m:sSup>
                  </m:oMath>
                </a14:m>
                <a:r>
                  <a:rPr lang="en-US" altLang="zh-TW" dirty="0" smtClean="0"/>
                  <a:t> successive populations </a:t>
                </a:r>
                <a:r>
                  <a:rPr lang="en-US" altLang="zh-TW" dirty="0"/>
                  <a:t>were generated</a:t>
                </a:r>
                <a:r>
                  <a:rPr lang="en-US" altLang="zh-TW" dirty="0" smtClean="0"/>
                  <a:t>;</a:t>
                </a:r>
              </a:p>
              <a:p>
                <a:pPr lvl="1"/>
                <a:r>
                  <a:rPr lang="en-US" altLang="zh-TW" dirty="0" smtClean="0"/>
                  <a:t>no </a:t>
                </a:r>
                <a:r>
                  <a:rPr lang="en-US" altLang="zh-TW" dirty="0"/>
                  <a:t>improvement was </a:t>
                </a:r>
                <a:r>
                  <a:rPr lang="en-US" altLang="zh-TW" dirty="0" smtClean="0"/>
                  <a:t>registered in </a:t>
                </a:r>
                <a:r>
                  <a:rPr lang="en-US" altLang="zh-TW" dirty="0"/>
                  <a:t>successive populations.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8965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Experiments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US" altLang="zh-TW" sz="2800" b="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𝑝𝑜𝑝</m:t>
                        </m:r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altLang="zh-TW" sz="2800" dirty="0" smtClean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𝑖𝑡𝑒𝑟</m:t>
                        </m:r>
                      </m:sup>
                    </m:sSup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US" altLang="zh-TW" sz="28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𝑚𝑢</m:t>
                        </m:r>
                        <m:sSub>
                          <m:sSub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𝑝𝑟𝑜𝑏</m:t>
                            </m:r>
                          </m:sub>
                        </m:sSub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=0.30</m:t>
                    </m:r>
                  </m:oMath>
                </a14:m>
                <a:r>
                  <a:rPr lang="en-US" altLang="zh-TW" sz="28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=0.02</m:t>
                    </m:r>
                  </m:oMath>
                </a14:m>
                <a:endParaRPr lang="en-US" altLang="zh-TW" sz="2800" dirty="0" smtClean="0"/>
              </a:p>
              <a:p>
                <a:endParaRPr lang="en-US" altLang="zh-TW" sz="2800" dirty="0" smtClean="0"/>
              </a:p>
              <a:p>
                <a:endParaRPr lang="zh-TW" altLang="en-US" sz="28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078" r="-12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/>
          <a:srcRect l="731" t="18995" r="1383" b="1456"/>
          <a:stretch/>
        </p:blipFill>
        <p:spPr>
          <a:xfrm>
            <a:off x="1187624" y="2730610"/>
            <a:ext cx="6754283" cy="401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08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1152</TotalTime>
  <Words>746</Words>
  <Application>Microsoft Office PowerPoint</Application>
  <PresentationFormat>如螢幕大小 (4:3)</PresentationFormat>
  <Paragraphs>54</Paragraphs>
  <Slides>11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2" baseType="lpstr">
      <vt:lpstr>Office 佈景主題</vt:lpstr>
      <vt:lpstr>Adaptive Score Normalization for Output Integration in Multiclassifier Systems</vt:lpstr>
      <vt:lpstr>Abstract</vt:lpstr>
      <vt:lpstr>Fuzzy Cumulative Distributions (FCD)</vt:lpstr>
      <vt:lpstr>FCD Algorithm (1/6)</vt:lpstr>
      <vt:lpstr>FCD Algorithm (2/6)</vt:lpstr>
      <vt:lpstr>Dynamic Time Warping (DTW)</vt:lpstr>
      <vt:lpstr>FCD Algorithm (3/6)</vt:lpstr>
      <vt:lpstr>FCD Algorithm (4/6)</vt:lpstr>
      <vt:lpstr>FCD Algorithm (5/6)</vt:lpstr>
      <vt:lpstr>FCD Algorithm (6/6)</vt:lpstr>
      <vt:lpstr>Experiments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Longest Common Subsequence Fast Algorithm</dc:title>
  <dc:creator>Ray</dc:creator>
  <cp:lastModifiedBy>Ray</cp:lastModifiedBy>
  <cp:revision>397</cp:revision>
  <dcterms:created xsi:type="dcterms:W3CDTF">2012-09-09T09:37:21Z</dcterms:created>
  <dcterms:modified xsi:type="dcterms:W3CDTF">2013-04-09T06:24:07Z</dcterms:modified>
</cp:coreProperties>
</file>