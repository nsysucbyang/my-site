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handoutMasterIdLst>
    <p:handoutMasterId r:id="rId22"/>
  </p:handoutMasterIdLst>
  <p:sldIdLst>
    <p:sldId id="256" r:id="rId2"/>
    <p:sldId id="307" r:id="rId3"/>
    <p:sldId id="308" r:id="rId4"/>
    <p:sldId id="322" r:id="rId5"/>
    <p:sldId id="282" r:id="rId6"/>
    <p:sldId id="297" r:id="rId7"/>
    <p:sldId id="323" r:id="rId8"/>
    <p:sldId id="309" r:id="rId9"/>
    <p:sldId id="324" r:id="rId10"/>
    <p:sldId id="325" r:id="rId11"/>
    <p:sldId id="326" r:id="rId12"/>
    <p:sldId id="327" r:id="rId13"/>
    <p:sldId id="328" r:id="rId14"/>
    <p:sldId id="329" r:id="rId15"/>
    <p:sldId id="330" r:id="rId16"/>
    <p:sldId id="331" r:id="rId17"/>
    <p:sldId id="332" r:id="rId18"/>
    <p:sldId id="333" r:id="rId19"/>
    <p:sldId id="265" r:id="rId2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93DF"/>
    <a:srgbClr val="6F84EB"/>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47" autoAdjust="0"/>
    <p:restoredTop sz="96825" autoAdjust="0"/>
  </p:normalViewPr>
  <p:slideViewPr>
    <p:cSldViewPr>
      <p:cViewPr>
        <p:scale>
          <a:sx n="125" d="100"/>
          <a:sy n="125" d="100"/>
        </p:scale>
        <p:origin x="288" y="3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t>2013/4/9</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t>‹#›</a:t>
            </a:fld>
            <a:endParaRPr lang="zh-TW" altLang="en-US"/>
          </a:p>
        </p:txBody>
      </p:sp>
    </p:spTree>
    <p:extLst>
      <p:ext uri="{BB962C8B-B14F-4D97-AF65-F5344CB8AC3E}">
        <p14:creationId xmlns:p14="http://schemas.microsoft.com/office/powerpoint/2010/main"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t>2013/4/9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t>‹#›</a:t>
            </a:fld>
            <a:endParaRPr lang="zh-TW" altLang="en-US"/>
          </a:p>
        </p:txBody>
      </p:sp>
    </p:spTree>
    <p:extLst>
      <p:ext uri="{BB962C8B-B14F-4D97-AF65-F5344CB8AC3E}">
        <p14:creationId xmlns:p14="http://schemas.microsoft.com/office/powerpoint/2010/main"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08879042-3193-49F2-8086-409E581C9D3A}" type="slidenum">
              <a:rPr lang="zh-TW" altLang="en-US" smtClean="0"/>
              <a:t>13</a:t>
            </a:fld>
            <a:endParaRPr lang="zh-TW" altLang="en-US"/>
          </a:p>
        </p:txBody>
      </p:sp>
    </p:spTree>
    <p:extLst>
      <p:ext uri="{BB962C8B-B14F-4D97-AF65-F5344CB8AC3E}">
        <p14:creationId xmlns:p14="http://schemas.microsoft.com/office/powerpoint/2010/main" val="2090992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440160"/>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228979"/>
            <a:ext cx="6858000" cy="2200243"/>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fld id="{675F7BC4-2962-489E-B3D6-D3A26809F8BC}" type="datetime1">
              <a:rPr lang="zh-TW" altLang="en-US" smtClean="0"/>
              <a:t>2013/4/9</a:t>
            </a:fld>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t>‹#›</a:t>
            </a:fld>
            <a:endParaRPr lang="zh-TW" altLang="en-US"/>
          </a:p>
        </p:txBody>
      </p:sp>
      <p:sp>
        <p:nvSpPr>
          <p:cNvPr id="21" name="矩形 20"/>
          <p:cNvSpPr/>
          <p:nvPr/>
        </p:nvSpPr>
        <p:spPr>
          <a:xfrm>
            <a:off x="904875" y="980728"/>
            <a:ext cx="7315200" cy="2088232"/>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140968"/>
            <a:ext cx="7305675" cy="237626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088232"/>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140968"/>
            <a:ext cx="238125" cy="237626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mn-lt"/>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p>
            <a:fld id="{6D0CA054-B788-4AB8-8392-34E81A54BD5B}" type="datetime1">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fld id="{B8AFE0C0-B095-4955-A474-37744648E20F}" type="datetime1">
              <a:rPr lang="zh-TW" altLang="en-US" smtClean="0"/>
              <a:t>2013/4/9</a:t>
            </a:fld>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fld id="{8E360253-BED4-4E12-BF6F-F7BB15031E1D}" type="datetime1">
              <a:rPr lang="zh-TW" altLang="en-US" smtClean="0"/>
              <a:t>2013/4/9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fld id="{44DF032A-EBAA-4056-9567-8D42C3FCF29D}" type="datetime1">
              <a:rPr lang="zh-TW" altLang="en-US" smtClean="0"/>
              <a:t>2013/4/9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fld id="{68BEEF2E-BA2E-4747-BBC6-DDAAB1A45979}" type="datetime1">
              <a:rPr lang="zh-TW" altLang="en-US" smtClean="0"/>
              <a:t>2013/4/9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B9F2A4F-C05F-436B-84F4-6BED7108DF25}" type="datetime1">
              <a:rPr lang="zh-TW" altLang="en-US" smtClean="0"/>
              <a:t>2013/4/9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C42D0F20-0304-4E20-969A-1C859939D3E8}" type="datetime1">
              <a:rPr lang="zh-TW" altLang="en-US" smtClean="0"/>
              <a:t>2013/4/9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D3985911-9E2D-404A-A20B-C27D7EF69B38}" type="datetime1">
              <a:rPr lang="zh-TW" altLang="en-US" smtClean="0"/>
              <a:t>2013/4/9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1768274F-581F-44E0-8831-ECDCF60FB1A3}" type="datetime1">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91FBC742-3B2E-402F-BA08-692B2735D71D}" type="datetime1">
              <a:rPr lang="zh-TW" altLang="en-US" smtClean="0"/>
              <a:t>2013/4/9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CECA1E9-B765-4833-8056-7E8DA24B4DA9}" type="datetime1">
              <a:rPr lang="zh-TW" altLang="en-US" smtClean="0"/>
              <a:t>2013/4/9</a:t>
            </a:fld>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42392" y="1052736"/>
            <a:ext cx="6858000" cy="1944216"/>
          </a:xfrm>
        </p:spPr>
        <p:txBody>
          <a:bodyPr>
            <a:noAutofit/>
          </a:bodyPr>
          <a:lstStyle/>
          <a:p>
            <a:pPr algn="l" fontAlgn="base"/>
            <a:r>
              <a:rPr lang="en-US" altLang="zh-TW" dirty="0" smtClean="0"/>
              <a:t>Climate </a:t>
            </a:r>
            <a:r>
              <a:rPr lang="en-US" altLang="zh-TW" dirty="0"/>
              <a:t>c</a:t>
            </a:r>
            <a:r>
              <a:rPr lang="en-US" altLang="zh-TW" dirty="0" smtClean="0"/>
              <a:t>lassifications</a:t>
            </a:r>
            <a:r>
              <a:rPr lang="en-US" altLang="zh-TW" dirty="0"/>
              <a:t>: the value of unsupervised clustering</a:t>
            </a:r>
            <a:r>
              <a:rPr lang="en-US" altLang="zh-TW" dirty="0" smtClean="0"/>
              <a:t/>
            </a:r>
            <a:br>
              <a:rPr lang="en-US" altLang="zh-TW" dirty="0" smtClean="0"/>
            </a:br>
            <a:r>
              <a:rPr lang="en-US" altLang="zh-TW" dirty="0" smtClean="0"/>
              <a:t/>
            </a:r>
            <a:br>
              <a:rPr lang="en-US" altLang="zh-TW" dirty="0" smtClean="0"/>
            </a:br>
            <a:r>
              <a:rPr lang="en-US" altLang="zh-TW" sz="2000" b="0" dirty="0" err="1"/>
              <a:t>Procedia</a:t>
            </a:r>
            <a:r>
              <a:rPr lang="en-US" altLang="zh-TW" sz="2000" b="0" dirty="0"/>
              <a:t> Computer Science </a:t>
            </a:r>
            <a:r>
              <a:rPr lang="en-US" altLang="zh-TW" sz="2000" b="0" dirty="0" smtClean="0"/>
              <a:t>vol.9,</a:t>
            </a:r>
            <a:r>
              <a:rPr lang="en-US" altLang="zh-TW" sz="2000" b="0" dirty="0"/>
              <a:t> </a:t>
            </a:r>
            <a:r>
              <a:rPr lang="en-US" altLang="zh-TW" sz="2000" b="0" dirty="0" smtClean="0"/>
              <a:t> pp.</a:t>
            </a:r>
            <a:r>
              <a:rPr lang="zh-TW" altLang="en-US" sz="2000" b="0" dirty="0"/>
              <a:t> </a:t>
            </a:r>
            <a:r>
              <a:rPr lang="en-US" altLang="zh-TW" sz="2000" b="0" dirty="0" smtClean="0"/>
              <a:t>897-906, 2012</a:t>
            </a:r>
            <a:endParaRPr lang="zh-TW" altLang="en-US" sz="2000" dirty="0"/>
          </a:p>
        </p:txBody>
      </p:sp>
      <p:sp>
        <p:nvSpPr>
          <p:cNvPr id="3" name="副標題 2"/>
          <p:cNvSpPr>
            <a:spLocks noGrp="1"/>
          </p:cNvSpPr>
          <p:nvPr>
            <p:ph type="subTitle" idx="1"/>
          </p:nvPr>
        </p:nvSpPr>
        <p:spPr>
          <a:xfrm>
            <a:off x="1219200" y="3228979"/>
            <a:ext cx="6858000" cy="2144237"/>
          </a:xfrm>
        </p:spPr>
        <p:txBody>
          <a:bodyPr>
            <a:noAutofit/>
          </a:bodyPr>
          <a:lstStyle/>
          <a:p>
            <a:pPr algn="l" fontAlgn="base"/>
            <a:r>
              <a:rPr lang="en-US" altLang="zh-TW" dirty="0" err="1" smtClean="0"/>
              <a:t>Jakob</a:t>
            </a:r>
            <a:r>
              <a:rPr lang="en-US" altLang="zh-TW" dirty="0" smtClean="0"/>
              <a:t> </a:t>
            </a:r>
            <a:r>
              <a:rPr lang="en-US" altLang="zh-TW" dirty="0" err="1"/>
              <a:t>Zscheischler</a:t>
            </a:r>
            <a:r>
              <a:rPr lang="en-US" altLang="zh-TW" baseline="30000" dirty="0" err="1"/>
              <a:t>a</a:t>
            </a:r>
            <a:r>
              <a:rPr lang="en-US" altLang="zh-TW" baseline="30000" dirty="0"/>
              <a:t>, </a:t>
            </a:r>
            <a:r>
              <a:rPr lang="en-US" altLang="zh-TW" baseline="30000" dirty="0" smtClean="0"/>
              <a:t>b</a:t>
            </a:r>
            <a:r>
              <a:rPr lang="en-US" altLang="zh-TW" dirty="0" smtClean="0"/>
              <a:t>,</a:t>
            </a:r>
            <a:r>
              <a:rPr lang="zh-TW" altLang="en-US" dirty="0" smtClean="0"/>
              <a:t> </a:t>
            </a:r>
            <a:r>
              <a:rPr lang="en-US" altLang="zh-TW" dirty="0"/>
              <a:t>Miguel D. </a:t>
            </a:r>
            <a:r>
              <a:rPr lang="en-US" altLang="zh-TW" dirty="0" err="1" smtClean="0"/>
              <a:t>Mahecha</a:t>
            </a:r>
            <a:r>
              <a:rPr lang="en-US" altLang="zh-TW" baseline="30000" dirty="0" err="1" smtClean="0"/>
              <a:t>a</a:t>
            </a:r>
            <a:r>
              <a:rPr lang="en-US" altLang="zh-TW" dirty="0"/>
              <a:t>,</a:t>
            </a:r>
            <a:r>
              <a:rPr lang="zh-TW" altLang="en-US" dirty="0" smtClean="0"/>
              <a:t> </a:t>
            </a:r>
            <a:r>
              <a:rPr lang="en-US" altLang="zh-TW" dirty="0"/>
              <a:t>Stefan </a:t>
            </a:r>
            <a:r>
              <a:rPr lang="en-US" altLang="zh-TW" dirty="0" err="1" smtClean="0"/>
              <a:t>Harmeling</a:t>
            </a:r>
            <a:r>
              <a:rPr lang="en-US" altLang="zh-TW" baseline="30000" dirty="0" err="1" smtClean="0"/>
              <a:t>b</a:t>
            </a:r>
            <a:r>
              <a:rPr lang="en-US" altLang="zh-TW" baseline="30000" dirty="0" smtClean="0"/>
              <a:t/>
            </a:r>
            <a:br>
              <a:rPr lang="en-US" altLang="zh-TW" baseline="30000" dirty="0" smtClean="0"/>
            </a:br>
            <a:r>
              <a:rPr lang="zh-TW" altLang="en-US" sz="900" baseline="30000" dirty="0" smtClean="0"/>
              <a:t> </a:t>
            </a:r>
            <a:r>
              <a:rPr lang="en-US" altLang="zh-TW" sz="1800" dirty="0" smtClean="0">
                <a:solidFill>
                  <a:schemeClr val="tx1"/>
                </a:solidFill>
              </a:rPr>
              <a:t/>
            </a:r>
            <a:br>
              <a:rPr lang="en-US" altLang="zh-TW" sz="1800" dirty="0" smtClean="0">
                <a:solidFill>
                  <a:schemeClr val="tx1"/>
                </a:solidFill>
              </a:rPr>
            </a:br>
            <a:r>
              <a:rPr lang="en-US" altLang="zh-TW" sz="1600" baseline="30000" dirty="0" smtClean="0"/>
              <a:t>a</a:t>
            </a:r>
            <a:r>
              <a:rPr lang="en-US" altLang="zh-TW" sz="1600" dirty="0"/>
              <a:t> </a:t>
            </a:r>
            <a:r>
              <a:rPr lang="en-US" altLang="zh-TW" sz="1800" dirty="0"/>
              <a:t>Max Planck Institute for Biogeochemistry, PO Box 100164, 07701 Jena, </a:t>
            </a:r>
            <a:r>
              <a:rPr lang="en-US" altLang="zh-TW" sz="1800" dirty="0" smtClean="0"/>
              <a:t>Germany</a:t>
            </a:r>
          </a:p>
          <a:p>
            <a:pPr algn="l" fontAlgn="base"/>
            <a:r>
              <a:rPr lang="en-US" altLang="zh-TW" sz="1800" baseline="30000" dirty="0" smtClean="0"/>
              <a:t>b</a:t>
            </a:r>
            <a:r>
              <a:rPr lang="en-US" altLang="zh-TW" sz="1800" dirty="0"/>
              <a:t> Max Planck Institute for Intelligent Systems, </a:t>
            </a:r>
            <a:r>
              <a:rPr lang="en-US" altLang="zh-TW" sz="1800" dirty="0" err="1"/>
              <a:t>Spemannstr</a:t>
            </a:r>
            <a:r>
              <a:rPr lang="en-US" altLang="zh-TW" sz="1800" dirty="0"/>
              <a:t>. 38, 72076 </a:t>
            </a:r>
            <a:r>
              <a:rPr lang="en-US" altLang="zh-TW" sz="1800" dirty="0" smtClean="0"/>
              <a:t>Tubingen</a:t>
            </a:r>
            <a:r>
              <a:rPr lang="en-US" altLang="zh-TW" sz="1800" dirty="0"/>
              <a:t>, Germany</a:t>
            </a:r>
          </a:p>
        </p:txBody>
      </p:sp>
      <p:sp>
        <p:nvSpPr>
          <p:cNvPr id="5" name="日期版面配置區 4"/>
          <p:cNvSpPr>
            <a:spLocks noGrp="1"/>
          </p:cNvSpPr>
          <p:nvPr>
            <p:ph type="dt" sz="half" idx="10"/>
          </p:nvPr>
        </p:nvSpPr>
        <p:spPr/>
        <p:txBody>
          <a:bodyPr/>
          <a:lstStyle/>
          <a:p>
            <a:fld id="{739C4FC7-CD57-4EED-B507-9C7F521F5484}" type="datetime1">
              <a:rPr lang="zh-TW" altLang="en-US" smtClean="0"/>
              <a:t>2013/4/9</a:t>
            </a:fld>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a:t>
            </a:fld>
            <a:endParaRPr lang="zh-TW" altLang="en-US" dirty="0"/>
          </a:p>
        </p:txBody>
      </p:sp>
      <p:sp>
        <p:nvSpPr>
          <p:cNvPr id="6" name="副標題 2"/>
          <p:cNvSpPr txBox="1">
            <a:spLocks/>
          </p:cNvSpPr>
          <p:nvPr/>
        </p:nvSpPr>
        <p:spPr>
          <a:xfrm>
            <a:off x="1259632" y="5649613"/>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err="1" smtClean="0">
                <a:solidFill>
                  <a:schemeClr val="tx1"/>
                </a:solidFill>
              </a:rPr>
              <a:t>Presentor</a:t>
            </a:r>
            <a:r>
              <a:rPr lang="zh-TW" altLang="en-US" sz="2400" dirty="0" smtClean="0">
                <a:solidFill>
                  <a:schemeClr val="tx1"/>
                </a:solidFill>
              </a:rPr>
              <a:t>：</a:t>
            </a:r>
            <a:r>
              <a:rPr lang="en-US" altLang="zh-TW" sz="2400" dirty="0" err="1" smtClean="0">
                <a:solidFill>
                  <a:schemeClr val="tx1"/>
                </a:solidFill>
              </a:rPr>
              <a:t>Hsin-Chuan</a:t>
            </a:r>
            <a:r>
              <a:rPr lang="en-US" altLang="zh-TW" sz="2400" dirty="0" smtClean="0">
                <a:solidFill>
                  <a:schemeClr val="tx1"/>
                </a:solidFill>
              </a:rPr>
              <a:t> Yuan</a:t>
            </a:r>
            <a:endParaRPr lang="zh-TW" altLang="en-US" sz="2400" dirty="0">
              <a:solidFill>
                <a:schemeClr val="tx1"/>
              </a:solidFill>
            </a:endParaRPr>
          </a:p>
        </p:txBody>
      </p:sp>
    </p:spTree>
    <p:extLst>
      <p:ext uri="{BB962C8B-B14F-4D97-AF65-F5344CB8AC3E}">
        <p14:creationId xmlns:p14="http://schemas.microsoft.com/office/powerpoint/2010/main" val="16631364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日期版面配置區 2"/>
          <p:cNvSpPr>
            <a:spLocks noGrp="1"/>
          </p:cNvSpPr>
          <p:nvPr>
            <p:ph type="dt" sz="half" idx="10"/>
          </p:nvPr>
        </p:nvSpPr>
        <p:spPr/>
        <p:txBody>
          <a:bodyPr/>
          <a:lstStyle/>
          <a:p>
            <a:fld id="{B6C5E99A-BAB4-4C9D-A6A8-E63169AE8108}"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2</a:t>
            </a:fld>
            <a:endParaRPr lang="zh-TW" altLang="en-US"/>
          </a:p>
        </p:txBody>
      </p:sp>
      <p:sp>
        <p:nvSpPr>
          <p:cNvPr id="5" name="內容版面配置區 4"/>
          <p:cNvSpPr>
            <a:spLocks noGrp="1"/>
          </p:cNvSpPr>
          <p:nvPr>
            <p:ph sz="quarter" idx="1"/>
          </p:nvPr>
        </p:nvSpPr>
        <p:spPr/>
        <p:txBody>
          <a:bodyPr>
            <a:noAutofit/>
          </a:bodyPr>
          <a:lstStyle/>
          <a:p>
            <a:r>
              <a:rPr lang="en-US" altLang="zh-TW" sz="2400" dirty="0">
                <a:latin typeface="+mj-lt"/>
              </a:rPr>
              <a:t>Classifying the land surface according to different climate zones is often a prerequisite for global diagnostic or predictive </a:t>
            </a:r>
            <a:r>
              <a:rPr lang="en-US" altLang="zh-TW" sz="2400" dirty="0" err="1">
                <a:latin typeface="+mj-lt"/>
              </a:rPr>
              <a:t>modelling</a:t>
            </a:r>
            <a:r>
              <a:rPr lang="en-US" altLang="zh-TW" sz="2400" dirty="0">
                <a:latin typeface="+mj-lt"/>
              </a:rPr>
              <a:t> studies. Classical classiﬁcations such as the prominent </a:t>
            </a:r>
            <a:r>
              <a:rPr lang="en-US" altLang="zh-TW" sz="2400" dirty="0" err="1">
                <a:latin typeface="+mj-lt"/>
              </a:rPr>
              <a:t>K̈oppen</a:t>
            </a:r>
            <a:r>
              <a:rPr lang="en-US" altLang="zh-TW" sz="2400" dirty="0">
                <a:latin typeface="+mj-lt"/>
              </a:rPr>
              <a:t>–Geiger (KG) approach rely on heuristic decision rules. Although these heuristics may transport some process understanding, such a discretization may appear “arbitrary” from a data oriented perspective. In this contribution we compare the precision of a KG classiﬁcation to an unsupervised classiﬁcation (</a:t>
            </a:r>
            <a:r>
              <a:rPr lang="en-US" altLang="zh-TW" sz="2400" i="1" dirty="0">
                <a:latin typeface="+mj-lt"/>
              </a:rPr>
              <a:t>k</a:t>
            </a:r>
            <a:r>
              <a:rPr lang="en-US" altLang="zh-TW" sz="2400" dirty="0">
                <a:latin typeface="+mj-lt"/>
              </a:rPr>
              <a:t>-means clustering). Generally speaking, we revisit the problem of “climate classiﬁcation” by investigating the inherent patterns in multiple data streams in a purely data driven way.</a:t>
            </a:r>
            <a:endParaRPr lang="zh-TW" altLang="en-US" sz="2400" dirty="0">
              <a:latin typeface="+mj-lt"/>
              <a:ea typeface="+mj-ea"/>
              <a:cs typeface="Arial" pitchFamily="34" charset="0"/>
            </a:endParaRPr>
          </a:p>
        </p:txBody>
      </p:sp>
    </p:spTree>
    <p:extLst>
      <p:ext uri="{BB962C8B-B14F-4D97-AF65-F5344CB8AC3E}">
        <p14:creationId xmlns:p14="http://schemas.microsoft.com/office/powerpoint/2010/main" val="7208216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日期版面配置區 2"/>
          <p:cNvSpPr>
            <a:spLocks noGrp="1"/>
          </p:cNvSpPr>
          <p:nvPr>
            <p:ph type="dt" sz="half" idx="10"/>
          </p:nvPr>
        </p:nvSpPr>
        <p:spPr/>
        <p:txBody>
          <a:bodyPr/>
          <a:lstStyle/>
          <a:p>
            <a:fld id="{26B71A82-A196-4289-9661-4B80CA2EE73A}"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3</a:t>
            </a:fld>
            <a:endParaRPr lang="zh-TW" altLang="en-US"/>
          </a:p>
        </p:txBody>
      </p:sp>
      <p:sp>
        <p:nvSpPr>
          <p:cNvPr id="5" name="內容版面配置區 4"/>
          <p:cNvSpPr>
            <a:spLocks noGrp="1"/>
          </p:cNvSpPr>
          <p:nvPr>
            <p:ph sz="quarter" idx="1"/>
          </p:nvPr>
        </p:nvSpPr>
        <p:spPr/>
        <p:txBody>
          <a:bodyPr>
            <a:noAutofit/>
          </a:bodyPr>
          <a:lstStyle/>
          <a:p>
            <a:r>
              <a:rPr lang="en-US" altLang="zh-TW" sz="2400" dirty="0">
                <a:latin typeface="+mn-lt"/>
              </a:rPr>
              <a:t>One question is whether we can reproduce the KG boundaries by exploring different combinations of climate and remotely sensed vegetation variables. In this context we also investigate whether climate and vegetation variables build similar clusters. In terms of statistical performances, </a:t>
            </a:r>
            <a:r>
              <a:rPr lang="en-US" altLang="zh-TW" sz="2400" i="1" dirty="0">
                <a:latin typeface="+mn-lt"/>
              </a:rPr>
              <a:t>k</a:t>
            </a:r>
            <a:r>
              <a:rPr lang="en-US" altLang="zh-TW" sz="2400" dirty="0">
                <a:latin typeface="+mn-lt"/>
              </a:rPr>
              <a:t>-means clearly outperforms classical climate classiﬁcations. However, a subsequent stability analysis only reveals a meaningful number of clusters if both climate and vegetation data are considered in the analysis. This is a setback for the hope to explain vegetation by means of climate alone. Clearly, classiﬁcation schemes like </a:t>
            </a:r>
            <a:r>
              <a:rPr lang="en-US" altLang="zh-TW" sz="2400" dirty="0" err="1">
                <a:latin typeface="+mn-lt"/>
              </a:rPr>
              <a:t>K̈oppen-Geiger</a:t>
            </a:r>
            <a:r>
              <a:rPr lang="en-US" altLang="zh-TW" sz="2400" dirty="0">
                <a:latin typeface="+mn-lt"/>
              </a:rPr>
              <a:t> will play an important role in the future. However, future developments in this area need to be assessed based on data driven approaches.</a:t>
            </a:r>
            <a:endParaRPr lang="zh-TW" altLang="en-US" sz="2400" dirty="0">
              <a:latin typeface="+mn-lt"/>
              <a:cs typeface="Arial" pitchFamily="34" charset="0"/>
            </a:endParaRPr>
          </a:p>
        </p:txBody>
      </p:sp>
    </p:spTree>
    <p:extLst>
      <p:ext uri="{BB962C8B-B14F-4D97-AF65-F5344CB8AC3E}">
        <p14:creationId xmlns:p14="http://schemas.microsoft.com/office/powerpoint/2010/main" val="6039125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K̈</a:t>
            </a:r>
            <a:r>
              <a:rPr lang="en-US" altLang="zh-TW" dirty="0" err="1"/>
              <a:t>oppen-Geiger</a:t>
            </a:r>
            <a:r>
              <a:rPr lang="en-US" altLang="zh-TW" dirty="0"/>
              <a:t> climate classiﬁcation</a:t>
            </a:r>
            <a:endParaRPr lang="zh-TW" altLang="en-US" dirty="0"/>
          </a:p>
        </p:txBody>
      </p:sp>
      <p:sp>
        <p:nvSpPr>
          <p:cNvPr id="3" name="日期版面配置區 2"/>
          <p:cNvSpPr>
            <a:spLocks noGrp="1"/>
          </p:cNvSpPr>
          <p:nvPr>
            <p:ph type="dt" sz="half" idx="10"/>
          </p:nvPr>
        </p:nvSpPr>
        <p:spPr/>
        <p:txBody>
          <a:bodyPr/>
          <a:lstStyle/>
          <a:p>
            <a:fld id="{1D1E499B-AA56-4A91-90DB-6852A0F1B75D}"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4</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81370" y="1124744"/>
            <a:ext cx="8611110" cy="57068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934049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ja-JP" dirty="0" smtClean="0"/>
              <a:t>K-means</a:t>
            </a:r>
            <a:endParaRPr lang="zh-TW" altLang="en-US" dirty="0"/>
          </a:p>
        </p:txBody>
      </p:sp>
      <p:sp>
        <p:nvSpPr>
          <p:cNvPr id="3" name="日期版面配置區 2"/>
          <p:cNvSpPr>
            <a:spLocks noGrp="1"/>
          </p:cNvSpPr>
          <p:nvPr>
            <p:ph type="dt" sz="half" idx="10"/>
          </p:nvPr>
        </p:nvSpPr>
        <p:spPr/>
        <p:txBody>
          <a:bodyPr/>
          <a:lstStyle/>
          <a:p>
            <a:fld id="{EE1264EC-43E5-4D58-90C7-F2A1C3380541}"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5</a:t>
            </a:fld>
            <a:endParaRPr lang="zh-TW" altLang="en-US"/>
          </a:p>
        </p:txBody>
      </p:sp>
      <mc:AlternateContent xmlns:mc="http://schemas.openxmlformats.org/markup-compatibility/2006" xmlns:a14="http://schemas.microsoft.com/office/drawing/2010/main">
        <mc:Choice Requires="a14">
          <p:sp>
            <p:nvSpPr>
              <p:cNvPr id="11" name="內容版面配置區 10"/>
              <p:cNvSpPr>
                <a:spLocks noGrp="1"/>
              </p:cNvSpPr>
              <p:nvPr>
                <p:ph sz="quarter" idx="1"/>
              </p:nvPr>
            </p:nvSpPr>
            <p:spPr>
              <a:xfrm>
                <a:off x="0" y="1219200"/>
                <a:ext cx="9144000" cy="4937760"/>
              </a:xfrm>
            </p:spPr>
            <p:txBody>
              <a:bodyPr>
                <a:normAutofit/>
              </a:bodyPr>
              <a:lstStyle/>
              <a:p>
                <a:pPr lvl="1"/>
                <a:r>
                  <a:rPr lang="zh-TW" altLang="en-US" dirty="0" smtClean="0">
                    <a:latin typeface="+mj-lt"/>
                  </a:rPr>
                  <a:t>假設每個資料點</a:t>
                </a:r>
                <a:r>
                  <a:rPr lang="en-US" altLang="zh-TW" dirty="0" smtClean="0">
                    <a:latin typeface="+mj-lt"/>
                  </a:rPr>
                  <a:t>X</a:t>
                </a:r>
                <a:r>
                  <a:rPr lang="en-US" altLang="zh-TW" baseline="-25000" dirty="0" smtClean="0">
                    <a:latin typeface="+mj-lt"/>
                  </a:rPr>
                  <a:t>i</a:t>
                </a:r>
                <a:r>
                  <a:rPr lang="zh-TW" altLang="en-US" dirty="0" smtClean="0">
                    <a:latin typeface="+mj-lt"/>
                  </a:rPr>
                  <a:t>為</a:t>
                </a:r>
                <a:r>
                  <a:rPr lang="en-US" altLang="zh-TW" dirty="0">
                    <a:latin typeface="+mj-lt"/>
                  </a:rPr>
                  <a:t>n</a:t>
                </a:r>
                <a:r>
                  <a:rPr lang="zh-TW" altLang="en-US" dirty="0" smtClean="0">
                    <a:latin typeface="+mj-lt"/>
                  </a:rPr>
                  <a:t>維度的點，即</a:t>
                </a:r>
                <a14:m>
                  <m:oMath xmlns:m="http://schemas.openxmlformats.org/officeDocument/2006/math">
                    <m:sSub>
                      <m:sSubPr>
                        <m:ctrlPr>
                          <a:rPr lang="en-US" altLang="zh-TW" b="0" i="1" smtClean="0">
                            <a:latin typeface="Cambria Math"/>
                          </a:rPr>
                        </m:ctrlPr>
                      </m:sSubPr>
                      <m:e>
                        <m:r>
                          <a:rPr lang="en-US" altLang="zh-TW" b="0" i="1" smtClean="0">
                            <a:latin typeface="Cambria Math"/>
                          </a:rPr>
                          <m:t>𝑋</m:t>
                        </m:r>
                      </m:e>
                      <m:sub>
                        <m:r>
                          <a:rPr lang="en-US" altLang="zh-TW" b="0" i="1" smtClean="0">
                            <a:latin typeface="Cambria Math"/>
                          </a:rPr>
                          <m:t>𝑖</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r>
                          <a:rPr lang="en-US" altLang="zh-TW" b="0" i="1" smtClean="0">
                            <a:latin typeface="Cambria Math"/>
                          </a:rPr>
                          <m:t>1</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m:t>
                        </m:r>
                        <m:r>
                          <a:rPr lang="en-US" altLang="zh-TW" b="0" i="1" smtClean="0">
                            <a:latin typeface="Cambria Math"/>
                          </a:rPr>
                          <m:t>2</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𝑖𝑛</m:t>
                        </m:r>
                      </m:sub>
                    </m:sSub>
                    <m:r>
                      <a:rPr lang="en-US" altLang="zh-TW" b="0" i="1" smtClean="0">
                        <a:latin typeface="Cambria Math"/>
                      </a:rPr>
                      <m:t>)</m:t>
                    </m:r>
                  </m:oMath>
                </a14:m>
                <a:endParaRPr lang="en-US" altLang="zh-TW" baseline="-25000" dirty="0" smtClean="0">
                  <a:latin typeface="+mj-lt"/>
                </a:endParaRPr>
              </a:p>
              <a:p>
                <a:pPr lvl="1"/>
                <a:r>
                  <a:rPr lang="zh-TW" altLang="en-US" dirty="0" smtClean="0">
                    <a:latin typeface="+mj-lt"/>
                  </a:rPr>
                  <a:t>重覆計算每個群集的中心，直到分割點收斂不再變動。</a:t>
                </a:r>
                <a:endParaRPr lang="en-US" altLang="zh-TW" dirty="0" smtClean="0">
                  <a:latin typeface="+mj-lt"/>
                </a:endParaRPr>
              </a:p>
              <a:p>
                <a:pPr lvl="1"/>
                <a:r>
                  <a:rPr lang="en-US" altLang="ja-JP" dirty="0"/>
                  <a:t>K-means</a:t>
                </a:r>
                <a:r>
                  <a:rPr lang="zh-TW" altLang="en-US" dirty="0" smtClean="0">
                    <a:latin typeface="+mj-lt"/>
                  </a:rPr>
                  <a:t>試圖最小化</a:t>
                </a:r>
                <a:r>
                  <a:rPr lang="en-US" altLang="zh-TW" dirty="0"/>
                  <a:t> within-cluster sum of squares (WCSS</a:t>
                </a:r>
                <a:r>
                  <a:rPr lang="en-US" altLang="zh-TW" dirty="0" smtClean="0"/>
                  <a:t>):</a:t>
                </a:r>
                <a:endParaRPr lang="en-US" altLang="zh-TW" dirty="0"/>
              </a:p>
              <a:p>
                <a:pPr marL="274320" lvl="1" indent="0">
                  <a:buNone/>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a:rPr>
                        <m:t>min</m:t>
                      </m:r>
                      <m:nary>
                        <m:naryPr>
                          <m:chr m:val="∑"/>
                          <m:ctrlPr>
                            <a:rPr lang="en-US" altLang="zh-TW" i="1">
                              <a:latin typeface="Cambria Math"/>
                            </a:rPr>
                          </m:ctrlPr>
                        </m:naryPr>
                        <m:sub>
                          <m:r>
                            <m:rPr>
                              <m:sty m:val="p"/>
                            </m:rPr>
                            <a:rPr lang="en-US" altLang="zh-TW" b="0" i="0" smtClean="0">
                              <a:latin typeface="Cambria Math"/>
                            </a:rPr>
                            <m:t>i</m:t>
                          </m:r>
                          <m:r>
                            <a:rPr lang="en-US" altLang="zh-TW">
                              <a:latin typeface="Cambria Math"/>
                            </a:rPr>
                            <m:t>=</m:t>
                          </m:r>
                          <m:r>
                            <a:rPr lang="en-US" altLang="zh-TW">
                              <a:latin typeface="Cambria Math"/>
                            </a:rPr>
                            <m:t>1</m:t>
                          </m:r>
                        </m:sub>
                        <m:sup>
                          <m:r>
                            <a:rPr lang="en-US" altLang="zh-TW">
                              <a:latin typeface="Cambria Math"/>
                            </a:rPr>
                            <m:t>𝑘</m:t>
                          </m:r>
                        </m:sup>
                        <m:e>
                          <m:nary>
                            <m:naryPr>
                              <m:chr m:val="∑"/>
                              <m:supHide m:val="on"/>
                              <m:ctrlPr>
                                <a:rPr lang="en-US" altLang="zh-TW" i="1">
                                  <a:latin typeface="Cambria Math"/>
                                </a:rPr>
                              </m:ctrlPr>
                            </m:naryPr>
                            <m:sub>
                              <m:r>
                                <a:rPr lang="en-US" altLang="zh-TW">
                                  <a:latin typeface="Cambria Math"/>
                                </a:rPr>
                                <m:t>𝑥</m:t>
                              </m:r>
                              <m:r>
                                <a:rPr lang="en-US" altLang="zh-TW">
                                  <a:latin typeface="Cambria Math"/>
                                </a:rPr>
                                <m:t>∈</m:t>
                              </m:r>
                              <m:r>
                                <a:rPr lang="en-US" altLang="zh-TW">
                                  <a:latin typeface="Cambria Math"/>
                                </a:rPr>
                                <m:t>𝐶𝑖</m:t>
                              </m:r>
                            </m:sub>
                            <m:sup/>
                            <m:e>
                              <m:sSup>
                                <m:sSupPr>
                                  <m:ctrlPr>
                                    <a:rPr lang="en-US" altLang="zh-TW" i="1">
                                      <a:latin typeface="Cambria Math"/>
                                    </a:rPr>
                                  </m:ctrlPr>
                                </m:sSupPr>
                                <m:e>
                                  <m:r>
                                    <a:rPr lang="en-US" altLang="zh-TW">
                                      <a:latin typeface="Cambria Math"/>
                                    </a:rPr>
                                    <m:t>𝑑𝑖𝑠𝑡</m:t>
                                  </m:r>
                                  <m:r>
                                    <a:rPr lang="en-US" altLang="zh-TW">
                                      <a:latin typeface="Cambria Math"/>
                                    </a:rPr>
                                    <m:t>(</m:t>
                                  </m:r>
                                  <m:r>
                                    <a:rPr lang="en-US" altLang="zh-TW">
                                      <a:latin typeface="Cambria Math"/>
                                    </a:rPr>
                                    <m:t>𝑥</m:t>
                                  </m:r>
                                  <m:r>
                                    <a:rPr lang="en-US" altLang="zh-TW">
                                      <a:latin typeface="Cambria Math"/>
                                    </a:rPr>
                                    <m:t>,</m:t>
                                  </m:r>
                                  <m:sSub>
                                    <m:sSubPr>
                                      <m:ctrlPr>
                                        <a:rPr lang="en-US" altLang="zh-TW" i="1">
                                          <a:latin typeface="Cambria Math"/>
                                        </a:rPr>
                                      </m:ctrlPr>
                                    </m:sSubPr>
                                    <m:e>
                                      <m:r>
                                        <a:rPr lang="en-US" altLang="zh-TW">
                                          <a:latin typeface="Cambria Math"/>
                                        </a:rPr>
                                        <m:t>𝑐</m:t>
                                      </m:r>
                                    </m:e>
                                    <m:sub>
                                      <m:r>
                                        <m:rPr>
                                          <m:sty m:val="p"/>
                                        </m:rPr>
                                        <a:rPr lang="en-US" altLang="zh-TW" b="0" i="0" smtClean="0">
                                          <a:latin typeface="Cambria Math"/>
                                        </a:rPr>
                                        <m:t>i</m:t>
                                      </m:r>
                                    </m:sub>
                                  </m:sSub>
                                  <m:r>
                                    <a:rPr lang="en-US" altLang="zh-TW">
                                      <a:latin typeface="Cambria Math"/>
                                    </a:rPr>
                                    <m:t>)</m:t>
                                  </m:r>
                                </m:e>
                                <m:sup>
                                  <m:r>
                                    <a:rPr lang="en-US" altLang="zh-TW">
                                      <a:latin typeface="Cambria Math"/>
                                    </a:rPr>
                                    <m:t>2</m:t>
                                  </m:r>
                                </m:sup>
                              </m:sSup>
                            </m:e>
                          </m:nary>
                          <m:r>
                            <a:rPr lang="en-US" altLang="zh-TW">
                              <a:latin typeface="Cambria Math"/>
                            </a:rPr>
                            <m:t> </m:t>
                          </m:r>
                        </m:e>
                      </m:nary>
                    </m:oMath>
                  </m:oMathPara>
                </a14:m>
                <a:endParaRPr lang="en-US" altLang="zh-TW" dirty="0" smtClean="0"/>
              </a:p>
              <a:p>
                <a:pPr marL="274320" lvl="1" indent="0">
                  <a:buNone/>
                </a:pPr>
                <a:endParaRPr lang="en-US" altLang="zh-TW" dirty="0" smtClean="0"/>
              </a:p>
              <a:p>
                <a:pPr marL="274320" lvl="1" indent="0">
                  <a:buNone/>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a:rPr>
                        <m:t>Q</m:t>
                      </m:r>
                      <m:r>
                        <a:rPr lang="en-US" altLang="zh-TW" b="0" i="0" smtClean="0">
                          <a:latin typeface="Cambria Math"/>
                        </a:rPr>
                        <m:t>=</m:t>
                      </m:r>
                      <m:r>
                        <m:rPr>
                          <m:sty m:val="p"/>
                        </m:rPr>
                        <a:rPr lang="en-US" altLang="zh-TW">
                          <a:latin typeface="Cambria Math"/>
                        </a:rPr>
                        <m:t>min</m:t>
                      </m:r>
                      <m:f>
                        <m:fPr>
                          <m:ctrlPr>
                            <a:rPr lang="en-US" altLang="zh-TW" i="1" smtClean="0">
                              <a:latin typeface="Cambria Math"/>
                            </a:rPr>
                          </m:ctrlPr>
                        </m:fPr>
                        <m:num>
                          <m:r>
                            <a:rPr lang="en-US" altLang="zh-TW" b="0" i="1" smtClean="0">
                              <a:latin typeface="Cambria Math"/>
                            </a:rPr>
                            <m:t>1</m:t>
                          </m:r>
                        </m:num>
                        <m:den>
                          <m:r>
                            <a:rPr lang="en-US" altLang="zh-TW" b="0" i="1" smtClean="0">
                              <a:latin typeface="Cambria Math"/>
                            </a:rPr>
                            <m:t>𝑛</m:t>
                          </m:r>
                        </m:den>
                      </m:f>
                      <m:nary>
                        <m:naryPr>
                          <m:chr m:val="∑"/>
                          <m:ctrlPr>
                            <a:rPr lang="en-US" altLang="zh-TW" i="1">
                              <a:latin typeface="Cambria Math"/>
                            </a:rPr>
                          </m:ctrlPr>
                        </m:naryPr>
                        <m:sub>
                          <m:r>
                            <m:rPr>
                              <m:sty m:val="p"/>
                            </m:rPr>
                            <a:rPr lang="en-US" altLang="zh-TW" b="0" i="0" smtClean="0">
                              <a:latin typeface="Cambria Math"/>
                            </a:rPr>
                            <m:t>i</m:t>
                          </m:r>
                          <m:r>
                            <a:rPr lang="en-US" altLang="zh-TW">
                              <a:latin typeface="Cambria Math"/>
                            </a:rPr>
                            <m:t>=</m:t>
                          </m:r>
                          <m:r>
                            <a:rPr lang="en-US" altLang="zh-TW">
                              <a:latin typeface="Cambria Math"/>
                            </a:rPr>
                            <m:t>1</m:t>
                          </m:r>
                        </m:sub>
                        <m:sup>
                          <m:r>
                            <a:rPr lang="en-US" altLang="zh-TW">
                              <a:latin typeface="Cambria Math"/>
                            </a:rPr>
                            <m:t>𝑘</m:t>
                          </m:r>
                        </m:sup>
                        <m:e>
                          <m:nary>
                            <m:naryPr>
                              <m:chr m:val="∑"/>
                              <m:supHide m:val="on"/>
                              <m:ctrlPr>
                                <a:rPr lang="en-US" altLang="zh-TW" i="1">
                                  <a:latin typeface="Cambria Math"/>
                                </a:rPr>
                              </m:ctrlPr>
                            </m:naryPr>
                            <m:sub>
                              <m:r>
                                <a:rPr lang="en-US" altLang="zh-TW">
                                  <a:latin typeface="Cambria Math"/>
                                </a:rPr>
                                <m:t>𝑥</m:t>
                              </m:r>
                              <m:r>
                                <a:rPr lang="en-US" altLang="zh-TW">
                                  <a:latin typeface="Cambria Math"/>
                                </a:rPr>
                                <m:t>∈</m:t>
                              </m:r>
                              <m:r>
                                <a:rPr lang="en-US" altLang="zh-TW">
                                  <a:latin typeface="Cambria Math"/>
                                </a:rPr>
                                <m:t>𝐶𝑖</m:t>
                              </m:r>
                            </m:sub>
                            <m:sup/>
                            <m:e>
                              <m:sSup>
                                <m:sSupPr>
                                  <m:ctrlPr>
                                    <a:rPr lang="en-US" altLang="zh-TW" i="1">
                                      <a:latin typeface="Cambria Math"/>
                                    </a:rPr>
                                  </m:ctrlPr>
                                </m:sSupPr>
                                <m:e>
                                  <m:r>
                                    <a:rPr lang="en-US" altLang="zh-TW">
                                      <a:latin typeface="Cambria Math"/>
                                    </a:rPr>
                                    <m:t>𝑑𝑖𝑠𝑡</m:t>
                                  </m:r>
                                  <m:r>
                                    <a:rPr lang="en-US" altLang="zh-TW">
                                      <a:latin typeface="Cambria Math"/>
                                    </a:rPr>
                                    <m:t>(</m:t>
                                  </m:r>
                                  <m:r>
                                    <a:rPr lang="en-US" altLang="zh-TW">
                                      <a:latin typeface="Cambria Math"/>
                                    </a:rPr>
                                    <m:t>𝑥</m:t>
                                  </m:r>
                                  <m:r>
                                    <a:rPr lang="en-US" altLang="zh-TW">
                                      <a:latin typeface="Cambria Math"/>
                                    </a:rPr>
                                    <m:t>,</m:t>
                                  </m:r>
                                  <m:sSub>
                                    <m:sSubPr>
                                      <m:ctrlPr>
                                        <a:rPr lang="en-US" altLang="zh-TW" i="1">
                                          <a:latin typeface="Cambria Math"/>
                                        </a:rPr>
                                      </m:ctrlPr>
                                    </m:sSubPr>
                                    <m:e>
                                      <m:r>
                                        <a:rPr lang="en-US" altLang="zh-TW">
                                          <a:latin typeface="Cambria Math"/>
                                        </a:rPr>
                                        <m:t>𝑐</m:t>
                                      </m:r>
                                    </m:e>
                                    <m:sub>
                                      <m:r>
                                        <a:rPr lang="en-US" altLang="zh-TW" b="0" i="1" smtClean="0">
                                          <a:latin typeface="Cambria Math"/>
                                        </a:rPr>
                                        <m:t>𝑖</m:t>
                                      </m:r>
                                    </m:sub>
                                  </m:sSub>
                                  <m:r>
                                    <a:rPr lang="en-US" altLang="zh-TW">
                                      <a:latin typeface="Cambria Math"/>
                                    </a:rPr>
                                    <m:t>)</m:t>
                                  </m:r>
                                </m:e>
                                <m:sup>
                                  <m:r>
                                    <a:rPr lang="en-US" altLang="zh-TW">
                                      <a:latin typeface="Cambria Math"/>
                                    </a:rPr>
                                    <m:t>2</m:t>
                                  </m:r>
                                </m:sup>
                              </m:sSup>
                            </m:e>
                          </m:nary>
                          <m:r>
                            <a:rPr lang="en-US" altLang="zh-TW">
                              <a:latin typeface="Cambria Math"/>
                            </a:rPr>
                            <m:t> </m:t>
                          </m:r>
                        </m:e>
                      </m:nary>
                    </m:oMath>
                  </m:oMathPara>
                </a14:m>
                <a:endParaRPr lang="en-US" altLang="zh-TW" dirty="0"/>
              </a:p>
            </p:txBody>
          </p:sp>
        </mc:Choice>
        <mc:Fallback xmlns="">
          <p:sp>
            <p:nvSpPr>
              <p:cNvPr id="11" name="內容版面配置區 10"/>
              <p:cNvSpPr>
                <a:spLocks noGrp="1" noRot="1" noChangeAspect="1" noMove="1" noResize="1" noEditPoints="1" noAdjustHandles="1" noChangeArrowheads="1" noChangeShapeType="1" noTextEdit="1"/>
              </p:cNvSpPr>
              <p:nvPr>
                <p:ph sz="quarter" idx="1"/>
              </p:nvPr>
            </p:nvSpPr>
            <p:spPr>
              <a:xfrm>
                <a:off x="0" y="1219200"/>
                <a:ext cx="9144000" cy="4937760"/>
              </a:xfrm>
              <a:blipFill rotWithShape="1">
                <a:blip r:embed="rId2"/>
                <a:stretch>
                  <a:fillRect t="-98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173382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Data</a:t>
            </a:r>
          </a:p>
        </p:txBody>
      </p:sp>
      <p:sp>
        <p:nvSpPr>
          <p:cNvPr id="3" name="日期版面配置區 2"/>
          <p:cNvSpPr>
            <a:spLocks noGrp="1"/>
          </p:cNvSpPr>
          <p:nvPr>
            <p:ph type="dt" sz="half" idx="10"/>
          </p:nvPr>
        </p:nvSpPr>
        <p:spPr/>
        <p:txBody>
          <a:bodyPr/>
          <a:lstStyle/>
          <a:p>
            <a:fld id="{C99B7858-B375-403B-A06E-DBE8A5262D44}"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6</a:t>
            </a:fld>
            <a:endParaRPr lang="zh-TW" altLang="en-US"/>
          </a:p>
        </p:txBody>
      </p:sp>
      <mc:AlternateContent xmlns:mc="http://schemas.openxmlformats.org/markup-compatibility/2006" xmlns:a14="http://schemas.microsoft.com/office/drawing/2010/main">
        <mc:Choice Requires="a14">
          <p:sp>
            <p:nvSpPr>
              <p:cNvPr id="5" name="內容版面配置區 4"/>
              <p:cNvSpPr>
                <a:spLocks noGrp="1"/>
              </p:cNvSpPr>
              <p:nvPr>
                <p:ph sz="quarter" idx="1"/>
              </p:nvPr>
            </p:nvSpPr>
            <p:spPr/>
            <p:txBody>
              <a:bodyPr>
                <a:normAutofit lnSpcReduction="10000"/>
              </a:bodyPr>
              <a:lstStyle/>
              <a:p>
                <a:r>
                  <a:rPr lang="en-US" altLang="zh-TW" dirty="0" smtClean="0"/>
                  <a:t>Air </a:t>
                </a:r>
                <a:r>
                  <a:rPr lang="en-US" altLang="zh-TW" dirty="0"/>
                  <a:t>Temperature </a:t>
                </a:r>
                <a:r>
                  <a:rPr lang="en-US" altLang="zh-TW" dirty="0" smtClean="0"/>
                  <a:t>T</a:t>
                </a:r>
                <a:endParaRPr lang="en-US" altLang="zh-TW" dirty="0"/>
              </a:p>
              <a:p>
                <a:r>
                  <a:rPr lang="en-US" altLang="zh-TW" dirty="0" smtClean="0"/>
                  <a:t>Precipitation P</a:t>
                </a:r>
                <a:endParaRPr lang="en-US" altLang="zh-TW" dirty="0"/>
              </a:p>
              <a:p>
                <a:r>
                  <a:rPr lang="en-US" altLang="zh-TW" dirty="0" smtClean="0"/>
                  <a:t>Downward </a:t>
                </a:r>
                <a:r>
                  <a:rPr lang="en-US" altLang="zh-TW" dirty="0"/>
                  <a:t>Shortwave Radiation </a:t>
                </a:r>
                <a:r>
                  <a:rPr lang="en-US" altLang="zh-TW" dirty="0" smtClean="0"/>
                  <a:t>SW</a:t>
                </a:r>
                <a:endParaRPr lang="en-US" altLang="zh-TW" dirty="0"/>
              </a:p>
              <a:p>
                <a:r>
                  <a:rPr lang="en-US" altLang="zh-TW" dirty="0" smtClean="0"/>
                  <a:t>Enhanced </a:t>
                </a:r>
                <a:r>
                  <a:rPr lang="en-US" altLang="zh-TW" dirty="0"/>
                  <a:t>Vegetation Index </a:t>
                </a:r>
                <a:r>
                  <a:rPr lang="en-US" altLang="zh-TW" dirty="0" smtClean="0"/>
                  <a:t>EVI</a:t>
                </a:r>
                <a:endParaRPr lang="en-US" altLang="zh-TW" dirty="0"/>
              </a:p>
              <a:p>
                <a:r>
                  <a:rPr lang="en-US" altLang="zh-TW" dirty="0" smtClean="0"/>
                  <a:t>Fraction </a:t>
                </a:r>
                <a:r>
                  <a:rPr lang="en-US" altLang="zh-TW" dirty="0"/>
                  <a:t>of Absorbed </a:t>
                </a:r>
                <a:r>
                  <a:rPr lang="en-US" altLang="zh-TW" dirty="0" err="1"/>
                  <a:t>Photosynthetically</a:t>
                </a:r>
                <a:r>
                  <a:rPr lang="en-US" altLang="zh-TW" dirty="0"/>
                  <a:t> Active Radiation </a:t>
                </a:r>
                <a:r>
                  <a:rPr lang="en-US" altLang="zh-TW" dirty="0" smtClean="0"/>
                  <a:t>FAPAR</a:t>
                </a:r>
              </a:p>
              <a:p>
                <a:r>
                  <a:rPr lang="en-US" altLang="zh-TW" dirty="0"/>
                  <a:t>We denote the data cube by </a:t>
                </a:r>
                <a14:m>
                  <m:oMath xmlns:m="http://schemas.openxmlformats.org/officeDocument/2006/math">
                    <m:sSubSup>
                      <m:sSubSupPr>
                        <m:ctrlPr>
                          <a:rPr lang="en-US" altLang="zh-TW" i="1">
                            <a:latin typeface="Cambria Math"/>
                          </a:rPr>
                        </m:ctrlPr>
                      </m:sSubSupPr>
                      <m:e>
                        <m:r>
                          <a:rPr lang="en-US" altLang="zh-TW" i="1">
                            <a:latin typeface="Cambria Math"/>
                          </a:rPr>
                          <m:t>𝑋</m:t>
                        </m:r>
                      </m:e>
                      <m:sub>
                        <m:r>
                          <a:rPr lang="en-US" altLang="zh-TW" i="1">
                            <a:latin typeface="Cambria Math"/>
                          </a:rPr>
                          <m:t>𝑝</m:t>
                        </m:r>
                        <m:r>
                          <a:rPr lang="en-US" altLang="zh-TW" i="1">
                            <a:latin typeface="Cambria Math"/>
                          </a:rPr>
                          <m:t>,</m:t>
                        </m:r>
                        <m:r>
                          <a:rPr lang="en-US" altLang="zh-TW" i="1">
                            <a:latin typeface="Cambria Math"/>
                          </a:rPr>
                          <m:t>𝑡</m:t>
                        </m:r>
                      </m:sub>
                      <m:sup>
                        <m:r>
                          <a:rPr lang="en-US" altLang="zh-TW" i="1">
                            <a:latin typeface="Cambria Math"/>
                          </a:rPr>
                          <m:t>𝑣</m:t>
                        </m:r>
                      </m:sup>
                    </m:sSubSup>
                  </m:oMath>
                </a14:m>
                <a:endParaRPr lang="en-US" altLang="zh-TW" dirty="0" smtClean="0"/>
              </a:p>
              <a:p>
                <a:pPr lvl="1"/>
                <a:r>
                  <a:rPr lang="en-US" altLang="zh-TW" i="1" dirty="0"/>
                  <a:t>v </a:t>
                </a:r>
                <a:r>
                  <a:rPr lang="en-US" altLang="zh-TW" i="1" dirty="0" smtClean="0"/>
                  <a:t> </a:t>
                </a:r>
                <a:r>
                  <a:rPr lang="en-US" altLang="zh-TW" dirty="0" smtClean="0"/>
                  <a:t>denote </a:t>
                </a:r>
                <a:r>
                  <a:rPr lang="en-US" altLang="zh-TW" dirty="0"/>
                  <a:t>the different </a:t>
                </a:r>
                <a:r>
                  <a:rPr lang="en-US" altLang="zh-TW" dirty="0" smtClean="0"/>
                  <a:t>variables</a:t>
                </a:r>
              </a:p>
              <a:p>
                <a:pPr lvl="1"/>
                <a:r>
                  <a:rPr lang="en-US" altLang="zh-TW" dirty="0" smtClean="0"/>
                  <a:t>p </a:t>
                </a:r>
                <a:r>
                  <a:rPr lang="en-US" altLang="zh-TW" dirty="0"/>
                  <a:t>denotes a time </a:t>
                </a:r>
                <a:r>
                  <a:rPr lang="en-US" altLang="zh-TW" dirty="0" smtClean="0"/>
                  <a:t>series </a:t>
                </a:r>
                <a:r>
                  <a:rPr lang="fi-FI" altLang="zh-TW" dirty="0" smtClean="0"/>
                  <a:t>on </a:t>
                </a:r>
                <a:r>
                  <a:rPr lang="fi-FI" altLang="zh-TW" dirty="0"/>
                  <a:t>pixel </a:t>
                </a:r>
                <a:r>
                  <a:rPr lang="fi-FI" altLang="zh-TW" i="1" dirty="0"/>
                  <a:t>p </a:t>
                </a:r>
                <a:r>
                  <a:rPr lang="fi-FI" altLang="zh-TW" dirty="0"/>
                  <a:t>(</a:t>
                </a:r>
                <a:r>
                  <a:rPr lang="fi-FI" altLang="zh-TW" i="1" dirty="0"/>
                  <a:t>p </a:t>
                </a:r>
                <a:r>
                  <a:rPr lang="fi-FI" altLang="zh-TW" dirty="0"/>
                  <a:t>= 1, . . . </a:t>
                </a:r>
                <a:r>
                  <a:rPr lang="fi-FI" altLang="zh-TW" dirty="0" smtClean="0"/>
                  <a:t>,54580</a:t>
                </a:r>
                <a:r>
                  <a:rPr lang="fi-FI" altLang="zh-TW" dirty="0"/>
                  <a:t>)</a:t>
                </a:r>
                <a:endParaRPr lang="en-US" altLang="zh-TW" dirty="0" smtClean="0"/>
              </a:p>
              <a:p>
                <a:pPr lvl="1"/>
                <a:r>
                  <a:rPr lang="en-US" altLang="zh-TW" dirty="0" smtClean="0"/>
                  <a:t>t </a:t>
                </a:r>
                <a:r>
                  <a:rPr lang="en-US" altLang="zh-TW" dirty="0"/>
                  <a:t>denotes </a:t>
                </a:r>
                <a:r>
                  <a:rPr lang="en-US" altLang="zh-TW" dirty="0" smtClean="0"/>
                  <a:t>time </a:t>
                </a:r>
                <a:r>
                  <a:rPr lang="en-US" altLang="zh-TW" dirty="0"/>
                  <a:t>step at </a:t>
                </a:r>
                <a:r>
                  <a:rPr lang="en-US" altLang="zh-TW" dirty="0" smtClean="0"/>
                  <a:t>month</a:t>
                </a:r>
                <a:r>
                  <a:rPr lang="en-US" altLang="zh-TW" dirty="0"/>
                  <a:t> (</a:t>
                </a:r>
                <a:r>
                  <a:rPr lang="en-US" altLang="zh-TW" i="1" dirty="0"/>
                  <a:t>t </a:t>
                </a:r>
                <a:r>
                  <a:rPr lang="en-US" altLang="zh-TW" dirty="0"/>
                  <a:t>= 1, . . . , 12</a:t>
                </a:r>
                <a:r>
                  <a:rPr lang="en-US" altLang="zh-TW" dirty="0" smtClean="0"/>
                  <a:t>)</a:t>
                </a:r>
              </a:p>
              <a:p>
                <a:r>
                  <a:rPr lang="en-US" altLang="zh-TW" dirty="0"/>
                  <a:t>normalize </a:t>
                </a:r>
                <a:r>
                  <a:rPr lang="en-US" altLang="zh-TW" dirty="0" smtClean="0"/>
                  <a:t> </a:t>
                </a:r>
                <a14:m>
                  <m:oMath xmlns:m="http://schemas.openxmlformats.org/officeDocument/2006/math">
                    <m:sSubSup>
                      <m:sSubSupPr>
                        <m:ctrlPr>
                          <a:rPr lang="en-US" altLang="zh-TW" i="1">
                            <a:latin typeface="Cambria Math"/>
                          </a:rPr>
                        </m:ctrlPr>
                      </m:sSubSupPr>
                      <m:e>
                        <m:r>
                          <a:rPr lang="en-US" altLang="zh-TW" i="1">
                            <a:latin typeface="Cambria Math"/>
                          </a:rPr>
                          <m:t>𝑋</m:t>
                        </m:r>
                      </m:e>
                      <m:sub/>
                      <m:sup>
                        <m:r>
                          <a:rPr lang="en-US" altLang="zh-TW" i="1">
                            <a:latin typeface="Cambria Math"/>
                          </a:rPr>
                          <m:t>𝑣</m:t>
                        </m:r>
                      </m:sup>
                    </m:sSubSup>
                  </m:oMath>
                </a14:m>
                <a:r>
                  <a:rPr lang="en-US" altLang="zh-TW" dirty="0" smtClean="0"/>
                  <a:t>=</a:t>
                </a:r>
                <a:r>
                  <a:rPr lang="en-US" altLang="zh-TW" dirty="0"/>
                  <a:t> </a:t>
                </a:r>
                <a14:m>
                  <m:oMath xmlns:m="http://schemas.openxmlformats.org/officeDocument/2006/math">
                    <m:sSubSup>
                      <m:sSubSupPr>
                        <m:ctrlPr>
                          <a:rPr lang="en-US" altLang="zh-TW" i="1">
                            <a:latin typeface="Cambria Math"/>
                          </a:rPr>
                        </m:ctrlPr>
                      </m:sSubSupPr>
                      <m:e>
                        <m:r>
                          <a:rPr lang="en-US" altLang="zh-TW" i="1">
                            <a:latin typeface="Cambria Math"/>
                          </a:rPr>
                          <m:t>𝑋</m:t>
                        </m:r>
                      </m:e>
                      <m:sub/>
                      <m:sup>
                        <m:r>
                          <a:rPr lang="en-US" altLang="zh-TW" i="1">
                            <a:latin typeface="Cambria Math"/>
                          </a:rPr>
                          <m:t>𝑣</m:t>
                        </m:r>
                      </m:sup>
                    </m:sSubSup>
                  </m:oMath>
                </a14:m>
                <a:r>
                  <a:rPr lang="en-US" altLang="zh-TW" dirty="0" smtClean="0"/>
                  <a:t>/</a:t>
                </a:r>
                <a:r>
                  <a:rPr lang="en-US" altLang="zh-TW" dirty="0" err="1" smtClean="0"/>
                  <a:t>std</a:t>
                </a:r>
                <a:r>
                  <a:rPr lang="en-US" altLang="zh-TW" dirty="0" smtClean="0"/>
                  <a:t>(</a:t>
                </a:r>
                <a14:m>
                  <m:oMath xmlns:m="http://schemas.openxmlformats.org/officeDocument/2006/math">
                    <m:sSubSup>
                      <m:sSubSupPr>
                        <m:ctrlPr>
                          <a:rPr lang="en-US" altLang="zh-TW" i="1">
                            <a:latin typeface="Cambria Math"/>
                          </a:rPr>
                        </m:ctrlPr>
                      </m:sSubSupPr>
                      <m:e>
                        <m:r>
                          <a:rPr lang="en-US" altLang="zh-TW" i="1">
                            <a:latin typeface="Cambria Math"/>
                          </a:rPr>
                          <m:t>𝑋</m:t>
                        </m:r>
                      </m:e>
                      <m:sub/>
                      <m:sup>
                        <m:r>
                          <a:rPr lang="en-US" altLang="zh-TW" i="1">
                            <a:latin typeface="Cambria Math"/>
                          </a:rPr>
                          <m:t>𝑣</m:t>
                        </m:r>
                      </m:sup>
                    </m:sSubSup>
                  </m:oMath>
                </a14:m>
                <a:r>
                  <a:rPr lang="en-US" altLang="zh-TW" dirty="0" smtClean="0"/>
                  <a:t>)</a:t>
                </a:r>
              </a:p>
            </p:txBody>
          </p:sp>
        </mc:Choice>
        <mc:Fallback xmlns="">
          <p:sp>
            <p:nvSpPr>
              <p:cNvPr id="5" name="內容版面配置區 4"/>
              <p:cNvSpPr>
                <a:spLocks noGrp="1" noRot="1" noChangeAspect="1" noMove="1" noResize="1" noEditPoints="1" noAdjustHandles="1" noChangeArrowheads="1" noChangeShapeType="1" noTextEdit="1"/>
              </p:cNvSpPr>
              <p:nvPr>
                <p:ph sz="quarter" idx="1"/>
              </p:nvPr>
            </p:nvSpPr>
            <p:spPr>
              <a:blipFill rotWithShape="1">
                <a:blip r:embed="rId2"/>
                <a:stretch>
                  <a:fillRect l="-593" t="-1852" r="-2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2022040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a:t>
            </a:r>
            <a:endParaRPr lang="zh-TW" altLang="en-US" dirty="0"/>
          </a:p>
        </p:txBody>
      </p:sp>
      <p:sp>
        <p:nvSpPr>
          <p:cNvPr id="3" name="日期版面配置區 2"/>
          <p:cNvSpPr>
            <a:spLocks noGrp="1"/>
          </p:cNvSpPr>
          <p:nvPr>
            <p:ph type="dt" sz="half" idx="10"/>
          </p:nvPr>
        </p:nvSpPr>
        <p:spPr/>
        <p:txBody>
          <a:bodyPr/>
          <a:lstStyle/>
          <a:p>
            <a:fld id="{CC2FDAB0-BBC9-4331-9530-8160D68C8D4B}"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7</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206947"/>
            <a:ext cx="5775684" cy="28878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descr="http://i116.photobucket.com/albums/o21/Kadu_album/global_precipitation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2" y="3700776"/>
            <a:ext cx="3865911" cy="2562133"/>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http://www.earthgauge.net/wp-content/uploads/2011/02/Global-air-temperature_April-2003_NASA-E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4077072"/>
            <a:ext cx="4469240" cy="2607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6068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Explained </a:t>
            </a:r>
            <a:r>
              <a:rPr lang="en-US" altLang="zh-TW" dirty="0" err="1"/>
              <a:t>predictand</a:t>
            </a:r>
            <a:r>
              <a:rPr lang="en-US" altLang="zh-TW" dirty="0"/>
              <a:t> variance (EV)</a:t>
            </a:r>
            <a:endParaRPr lang="zh-TW" altLang="en-US" dirty="0"/>
          </a:p>
        </p:txBody>
      </p:sp>
      <p:sp>
        <p:nvSpPr>
          <p:cNvPr id="3" name="日期版面配置區 2"/>
          <p:cNvSpPr>
            <a:spLocks noGrp="1"/>
          </p:cNvSpPr>
          <p:nvPr>
            <p:ph type="dt" sz="half" idx="10"/>
          </p:nvPr>
        </p:nvSpPr>
        <p:spPr/>
        <p:txBody>
          <a:bodyPr/>
          <a:lstStyle/>
          <a:p>
            <a:fld id="{A7F4494B-26B5-4416-9327-31F8AB09F8CC}"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8</a:t>
            </a:fld>
            <a:endParaRPr lang="zh-TW" altLang="en-US" dirty="0"/>
          </a:p>
        </p:txBody>
      </p:sp>
      <p:sp>
        <p:nvSpPr>
          <p:cNvPr id="6" name="內容版面配置區 5"/>
          <p:cNvSpPr>
            <a:spLocks noGrp="1"/>
          </p:cNvSpPr>
          <p:nvPr>
            <p:ph sz="quarter" idx="1"/>
          </p:nvPr>
        </p:nvSpPr>
        <p:spPr/>
        <p:txBody>
          <a:bodyPr/>
          <a:lstStyle/>
          <a:p>
            <a:r>
              <a:rPr lang="en-US" altLang="zh-TW" dirty="0"/>
              <a:t>Let </a:t>
            </a:r>
            <a:r>
              <a:rPr lang="en-US" altLang="zh-TW" dirty="0" err="1"/>
              <a:t>WCSS</a:t>
            </a:r>
            <a:r>
              <a:rPr lang="en-US" altLang="zh-TW" baseline="-25000" dirty="0" err="1"/>
              <a:t>k</a:t>
            </a:r>
            <a:r>
              <a:rPr lang="en-US" altLang="zh-TW" i="1" dirty="0"/>
              <a:t> </a:t>
            </a:r>
            <a:r>
              <a:rPr lang="en-US" altLang="zh-TW" dirty="0"/>
              <a:t>be the within-cluster sum of squares of a </a:t>
            </a:r>
            <a:r>
              <a:rPr lang="en-US" altLang="zh-TW" dirty="0" err="1" smtClean="0"/>
              <a:t>clusterin.g</a:t>
            </a:r>
            <a:r>
              <a:rPr lang="en-US" altLang="zh-TW" dirty="0" smtClean="0"/>
              <a:t> </a:t>
            </a:r>
            <a:r>
              <a:rPr lang="en-US" altLang="zh-TW" dirty="0"/>
              <a:t>with k</a:t>
            </a:r>
            <a:r>
              <a:rPr lang="en-US" altLang="zh-TW" i="1" dirty="0"/>
              <a:t> </a:t>
            </a:r>
            <a:r>
              <a:rPr lang="en-US" altLang="zh-TW" dirty="0" smtClean="0"/>
              <a:t>clusters.</a:t>
            </a:r>
          </a:p>
          <a:p>
            <a:endParaRPr lang="en-US" altLang="zh-TW" dirty="0"/>
          </a:p>
          <a:p>
            <a:r>
              <a:rPr lang="en-US" altLang="zh-TW" dirty="0" smtClean="0"/>
              <a:t> </a:t>
            </a:r>
          </a:p>
          <a:p>
            <a:endParaRPr lang="en-US" altLang="zh-TW" dirty="0"/>
          </a:p>
          <a:p>
            <a:r>
              <a:rPr lang="en-US" altLang="zh-TW" dirty="0" smtClean="0"/>
              <a:t>EV = 1 </a:t>
            </a:r>
            <a:r>
              <a:rPr lang="en-US" altLang="zh-TW" dirty="0"/>
              <a:t>is perfect</a:t>
            </a:r>
            <a:endParaRPr lang="en-US" altLang="zh-TW" dirty="0" smtClean="0"/>
          </a:p>
          <a:p>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276872"/>
            <a:ext cx="2664296" cy="1035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34492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Variation of information (VI)</a:t>
            </a:r>
            <a:endParaRPr lang="zh-TW" altLang="en-US" dirty="0"/>
          </a:p>
        </p:txBody>
      </p:sp>
      <p:sp>
        <p:nvSpPr>
          <p:cNvPr id="3" name="日期版面配置區 2"/>
          <p:cNvSpPr>
            <a:spLocks noGrp="1"/>
          </p:cNvSpPr>
          <p:nvPr>
            <p:ph type="dt" sz="half" idx="10"/>
          </p:nvPr>
        </p:nvSpPr>
        <p:spPr/>
        <p:txBody>
          <a:bodyPr/>
          <a:lstStyle/>
          <a:p>
            <a:fld id="{DAACC94A-63F3-4815-A224-B2F08D3B46B2}"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9</a:t>
            </a:fld>
            <a:endParaRPr lang="zh-TW" altLang="en-US"/>
          </a:p>
        </p:txBody>
      </p:sp>
      <p:sp>
        <p:nvSpPr>
          <p:cNvPr id="5" name="內容版面配置區 4"/>
          <p:cNvSpPr>
            <a:spLocks noGrp="1"/>
          </p:cNvSpPr>
          <p:nvPr>
            <p:ph sz="quarter" idx="1"/>
          </p:nvPr>
        </p:nvSpPr>
        <p:spPr>
          <a:xfrm>
            <a:off x="457199" y="1219200"/>
            <a:ext cx="8535591" cy="4937760"/>
          </a:xfrm>
        </p:spPr>
        <p:txBody>
          <a:bodyPr>
            <a:normAutofit lnSpcReduction="10000"/>
          </a:bodyPr>
          <a:lstStyle/>
          <a:p>
            <a:r>
              <a:rPr lang="en-US" altLang="zh-TW" sz="2000" dirty="0" smtClean="0">
                <a:latin typeface="+mn-lt"/>
              </a:rPr>
              <a:t> </a:t>
            </a:r>
          </a:p>
          <a:p>
            <a:endParaRPr lang="en-US" altLang="zh-TW" sz="2000" dirty="0">
              <a:latin typeface="+mn-lt"/>
            </a:endParaRPr>
          </a:p>
          <a:p>
            <a:endParaRPr lang="en-US" altLang="zh-TW" sz="2000" dirty="0" smtClean="0">
              <a:latin typeface="+mn-lt"/>
            </a:endParaRPr>
          </a:p>
          <a:p>
            <a:r>
              <a:rPr lang="en-US" altLang="zh-TW" sz="2000" dirty="0" smtClean="0">
                <a:latin typeface="+mn-lt"/>
              </a:rPr>
              <a:t> </a:t>
            </a:r>
          </a:p>
          <a:p>
            <a:endParaRPr lang="en-US" altLang="zh-TW" sz="2000" dirty="0">
              <a:latin typeface="+mn-lt"/>
            </a:endParaRPr>
          </a:p>
          <a:p>
            <a:r>
              <a:rPr lang="en-US" altLang="zh-TW" sz="2000" dirty="0" smtClean="0">
                <a:latin typeface="+mn-lt"/>
              </a:rPr>
              <a:t> </a:t>
            </a:r>
            <a:r>
              <a:rPr lang="en-US" altLang="zh-TW" sz="2200" dirty="0">
                <a:latin typeface="+mn-lt"/>
              </a:rPr>
              <a:t>the number of points in the intersection of clusters </a:t>
            </a:r>
            <a:r>
              <a:rPr lang="en-US" altLang="zh-TW" sz="2200" dirty="0" err="1">
                <a:latin typeface="+mn-lt"/>
              </a:rPr>
              <a:t>Ck</a:t>
            </a:r>
            <a:r>
              <a:rPr lang="en-US" altLang="zh-TW" sz="2200" dirty="0">
                <a:latin typeface="+mn-lt"/>
              </a:rPr>
              <a:t> </a:t>
            </a:r>
            <a:r>
              <a:rPr lang="en-US" altLang="zh-TW" sz="2200" dirty="0" smtClean="0">
                <a:latin typeface="+mn-lt"/>
              </a:rPr>
              <a:t>and </a:t>
            </a:r>
            <a:r>
              <a:rPr lang="en-US" altLang="zh-TW" sz="2200" dirty="0" err="1" smtClean="0">
                <a:latin typeface="+mn-lt"/>
              </a:rPr>
              <a:t>Ck</a:t>
            </a:r>
            <a:r>
              <a:rPr lang="en-US" altLang="zh-TW" sz="2200" dirty="0" smtClean="0">
                <a:latin typeface="+mn-lt"/>
              </a:rPr>
              <a:t>’ is</a:t>
            </a:r>
          </a:p>
          <a:p>
            <a:endParaRPr lang="en-US" altLang="zh-TW" sz="2000" dirty="0">
              <a:latin typeface="+mn-lt"/>
            </a:endParaRPr>
          </a:p>
          <a:p>
            <a:endParaRPr lang="en-US" altLang="zh-TW" sz="2000" dirty="0" smtClean="0">
              <a:latin typeface="+mn-lt"/>
            </a:endParaRPr>
          </a:p>
          <a:p>
            <a:r>
              <a:rPr lang="en-US" altLang="zh-TW" sz="2000" dirty="0" smtClean="0">
                <a:latin typeface="+mn-lt"/>
              </a:rPr>
              <a:t> </a:t>
            </a:r>
            <a:r>
              <a:rPr lang="en-US" altLang="zh-TW" sz="2200" dirty="0">
                <a:latin typeface="+mn-lt"/>
              </a:rPr>
              <a:t>the probability that the chosen point is in cluster </a:t>
            </a:r>
            <a:r>
              <a:rPr lang="en-US" altLang="zh-TW" sz="2200" dirty="0" err="1" smtClean="0">
                <a:latin typeface="+mn-lt"/>
              </a:rPr>
              <a:t>Ck</a:t>
            </a:r>
            <a:r>
              <a:rPr lang="en-US" altLang="zh-TW" sz="2200" dirty="0" smtClean="0">
                <a:latin typeface="+mn-lt"/>
              </a:rPr>
              <a:t> is</a:t>
            </a:r>
          </a:p>
          <a:p>
            <a:endParaRPr lang="en-US" altLang="zh-TW" sz="2000" dirty="0" smtClean="0">
              <a:latin typeface="+mn-lt"/>
            </a:endParaRPr>
          </a:p>
          <a:p>
            <a:endParaRPr lang="en-US" altLang="zh-TW" sz="2000" dirty="0">
              <a:latin typeface="+mn-lt"/>
            </a:endParaRPr>
          </a:p>
          <a:p>
            <a:endParaRPr lang="en-US" altLang="zh-TW" sz="2000" dirty="0" smtClean="0">
              <a:latin typeface="+mn-lt"/>
            </a:endParaRPr>
          </a:p>
          <a:p>
            <a:r>
              <a:rPr lang="en-US" altLang="zh-TW" sz="2200" dirty="0" smtClean="0">
                <a:latin typeface="+mn-lt"/>
              </a:rPr>
              <a:t>the </a:t>
            </a:r>
            <a:r>
              <a:rPr lang="en-US" altLang="zh-TW" sz="2200" dirty="0">
                <a:latin typeface="+mn-lt"/>
              </a:rPr>
              <a:t>entropy of the random </a:t>
            </a:r>
            <a:r>
              <a:rPr lang="en-US" altLang="zh-TW" sz="2200" dirty="0" smtClean="0">
                <a:latin typeface="+mn-lt"/>
              </a:rPr>
              <a:t>variable:</a:t>
            </a:r>
          </a:p>
          <a:p>
            <a:endParaRPr lang="en-US" altLang="zh-TW" sz="2000" dirty="0">
              <a:latin typeface="+mn-lt"/>
            </a:endParaRPr>
          </a:p>
          <a:p>
            <a:endParaRPr lang="zh-TW" altLang="en-US" sz="2000" dirty="0">
              <a:latin typeface="+mn-lt"/>
            </a:endParaRP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340"/>
          <a:stretch/>
        </p:blipFill>
        <p:spPr bwMode="auto">
          <a:xfrm>
            <a:off x="899592" y="1052736"/>
            <a:ext cx="7877175" cy="909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033811"/>
            <a:ext cx="1238250" cy="89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80" y="3576439"/>
            <a:ext cx="1962150"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7904" y="4533875"/>
            <a:ext cx="1257300" cy="69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5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54030" y="5157192"/>
            <a:ext cx="3200400" cy="100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17041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Variation of information (VI)</a:t>
            </a:r>
            <a:endParaRPr lang="zh-TW" altLang="en-US" dirty="0"/>
          </a:p>
        </p:txBody>
      </p:sp>
      <p:sp>
        <p:nvSpPr>
          <p:cNvPr id="3" name="日期版面配置區 2"/>
          <p:cNvSpPr>
            <a:spLocks noGrp="1"/>
          </p:cNvSpPr>
          <p:nvPr>
            <p:ph type="dt" sz="half" idx="10"/>
          </p:nvPr>
        </p:nvSpPr>
        <p:spPr/>
        <p:txBody>
          <a:bodyPr/>
          <a:lstStyle/>
          <a:p>
            <a:fld id="{CFDA6450-DF2E-4041-8059-FB793A42C918}"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10</a:t>
            </a:fld>
            <a:endParaRPr lang="zh-TW" altLang="en-US"/>
          </a:p>
        </p:txBody>
      </p:sp>
      <p:sp>
        <p:nvSpPr>
          <p:cNvPr id="5" name="內容版面配置區 4"/>
          <p:cNvSpPr>
            <a:spLocks noGrp="1"/>
          </p:cNvSpPr>
          <p:nvPr>
            <p:ph sz="quarter" idx="1"/>
          </p:nvPr>
        </p:nvSpPr>
        <p:spPr>
          <a:xfrm>
            <a:off x="457200" y="1219200"/>
            <a:ext cx="8363272" cy="4937760"/>
          </a:xfrm>
        </p:spPr>
        <p:txBody>
          <a:bodyPr>
            <a:normAutofit/>
          </a:bodyPr>
          <a:lstStyle/>
          <a:p>
            <a:r>
              <a:rPr lang="en-US" altLang="zh-TW" sz="2200" dirty="0" smtClean="0">
                <a:latin typeface="+mj-lt"/>
              </a:rPr>
              <a:t>The joint probability:</a:t>
            </a:r>
          </a:p>
          <a:p>
            <a:endParaRPr lang="en-US" altLang="zh-TW" sz="2000" dirty="0" smtClean="0">
              <a:latin typeface="+mj-lt"/>
            </a:endParaRPr>
          </a:p>
          <a:p>
            <a:r>
              <a:rPr lang="en-US" altLang="zh-TW" sz="2200" dirty="0" smtClean="0">
                <a:latin typeface="+mj-lt"/>
              </a:rPr>
              <a:t>The </a:t>
            </a:r>
            <a:r>
              <a:rPr lang="en-US" altLang="zh-TW" sz="2200" dirty="0">
                <a:latin typeface="+mj-lt"/>
              </a:rPr>
              <a:t>mutual </a:t>
            </a:r>
            <a:r>
              <a:rPr lang="en-US" altLang="zh-TW" sz="2200" dirty="0" smtClean="0">
                <a:latin typeface="+mj-lt"/>
              </a:rPr>
              <a:t>information is</a:t>
            </a:r>
          </a:p>
          <a:p>
            <a:endParaRPr lang="en-US" altLang="zh-TW" sz="2000" dirty="0" smtClean="0">
              <a:latin typeface="+mj-lt"/>
            </a:endParaRPr>
          </a:p>
          <a:p>
            <a:pPr marL="0" indent="0">
              <a:buNone/>
            </a:pPr>
            <a:r>
              <a:rPr lang="en-US" altLang="zh-TW" sz="2000" dirty="0" smtClean="0">
                <a:latin typeface="+mj-lt"/>
              </a:rPr>
              <a:t> </a:t>
            </a:r>
          </a:p>
          <a:p>
            <a:endParaRPr lang="en-US" altLang="zh-TW" sz="2000" dirty="0" smtClean="0">
              <a:latin typeface="+mj-lt"/>
            </a:endParaRPr>
          </a:p>
          <a:p>
            <a:r>
              <a:rPr lang="en-US" altLang="zh-TW" sz="2200" dirty="0" smtClean="0">
                <a:latin typeface="+mj-lt"/>
              </a:rPr>
              <a:t>Then </a:t>
            </a:r>
            <a:r>
              <a:rPr lang="en-US" altLang="zh-TW" sz="2200" dirty="0">
                <a:latin typeface="+mj-lt"/>
              </a:rPr>
              <a:t>we can define VI to be </a:t>
            </a:r>
            <a:r>
              <a:rPr lang="en-US" altLang="zh-TW" sz="2200" dirty="0" smtClean="0">
                <a:latin typeface="+mj-lt"/>
              </a:rPr>
              <a:t>the</a:t>
            </a:r>
          </a:p>
          <a:p>
            <a:endParaRPr lang="en-US" altLang="zh-TW" sz="2200" dirty="0">
              <a:latin typeface="+mj-lt"/>
            </a:endParaRPr>
          </a:p>
          <a:p>
            <a:endParaRPr lang="en-US" altLang="zh-TW" sz="2200" dirty="0" smtClean="0">
              <a:latin typeface="+mj-lt"/>
            </a:endParaRPr>
          </a:p>
          <a:p>
            <a:endParaRPr lang="en-US" altLang="zh-TW" sz="2200" dirty="0">
              <a:latin typeface="+mj-lt"/>
            </a:endParaRPr>
          </a:p>
          <a:p>
            <a:r>
              <a:rPr lang="en-US" altLang="zh-TW" sz="2200" dirty="0">
                <a:latin typeface="+mn-lt"/>
              </a:rPr>
              <a:t>0 implies identical</a:t>
            </a:r>
            <a:endParaRPr lang="en-US" altLang="zh-TW" sz="2200" dirty="0" smtClean="0">
              <a:latin typeface="+mn-lt"/>
            </a:endParaRPr>
          </a:p>
          <a:p>
            <a:endParaRPr lang="en-US" altLang="zh-TW" sz="2000" dirty="0" smtClean="0">
              <a:latin typeface="+mj-lt"/>
            </a:endParaRPr>
          </a:p>
          <a:p>
            <a:endParaRPr lang="en-US" altLang="zh-TW" sz="2000" dirty="0" smtClean="0">
              <a:latin typeface="+mj-lt"/>
            </a:endParaRPr>
          </a:p>
          <a:p>
            <a:endParaRPr lang="zh-TW" altLang="en-US" sz="2000" dirty="0">
              <a:latin typeface="+mj-lt"/>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6371" y="1052736"/>
            <a:ext cx="3209925"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366392"/>
            <a:ext cx="4667250"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9038" y="4077072"/>
            <a:ext cx="4495800"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16038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Instability of a clustering (</a:t>
            </a:r>
            <a:r>
              <a:rPr lang="en-US" altLang="zh-TW" dirty="0" err="1"/>
              <a:t>Instab</a:t>
            </a:r>
            <a:r>
              <a:rPr lang="en-US" altLang="zh-TW" dirty="0"/>
              <a:t>)</a:t>
            </a:r>
            <a:endParaRPr lang="zh-TW" altLang="en-US" dirty="0"/>
          </a:p>
        </p:txBody>
      </p:sp>
      <p:sp>
        <p:nvSpPr>
          <p:cNvPr id="3" name="日期版面配置區 2"/>
          <p:cNvSpPr>
            <a:spLocks noGrp="1"/>
          </p:cNvSpPr>
          <p:nvPr>
            <p:ph type="dt" sz="half" idx="10"/>
          </p:nvPr>
        </p:nvSpPr>
        <p:spPr/>
        <p:txBody>
          <a:bodyPr/>
          <a:lstStyle/>
          <a:p>
            <a:fld id="{091530F4-4771-41A0-97A9-8016BD849A6C}"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11</a:t>
            </a:fld>
            <a:endParaRPr lang="zh-TW" altLang="en-US"/>
          </a:p>
        </p:txBody>
      </p:sp>
      <p:sp>
        <p:nvSpPr>
          <p:cNvPr id="5" name="內容版面配置區 4"/>
          <p:cNvSpPr>
            <a:spLocks noGrp="1"/>
          </p:cNvSpPr>
          <p:nvPr>
            <p:ph sz="quarter" idx="1"/>
          </p:nvPr>
        </p:nvSpPr>
        <p:spPr/>
        <p:txBody>
          <a:bodyPr>
            <a:normAutofit/>
          </a:bodyPr>
          <a:lstStyle/>
          <a:p>
            <a:r>
              <a:rPr lang="en-US" altLang="zh-TW" sz="2200" dirty="0">
                <a:latin typeface="+mn-lt"/>
              </a:rPr>
              <a:t>We define instability of a clustering by the expected difference between two </a:t>
            </a:r>
            <a:r>
              <a:rPr lang="en-US" altLang="zh-TW" sz="2200" dirty="0" err="1" smtClean="0">
                <a:latin typeface="+mn-lt"/>
              </a:rPr>
              <a:t>clusterings</a:t>
            </a:r>
            <a:r>
              <a:rPr lang="en-US" altLang="zh-TW" sz="2200" dirty="0" smtClean="0">
                <a:latin typeface="+mn-lt"/>
              </a:rPr>
              <a:t> </a:t>
            </a:r>
            <a:r>
              <a:rPr lang="en-US" altLang="zh-TW" sz="2200" dirty="0" err="1" smtClean="0">
                <a:latin typeface="+mn-lt"/>
              </a:rPr>
              <a:t>C</a:t>
            </a:r>
            <a:r>
              <a:rPr lang="en-US" altLang="zh-TW" sz="2200" baseline="-25000" dirty="0" err="1" smtClean="0">
                <a:latin typeface="+mn-lt"/>
              </a:rPr>
              <a:t>k</a:t>
            </a:r>
            <a:r>
              <a:rPr lang="en-US" altLang="zh-TW" sz="2200" dirty="0" smtClean="0">
                <a:latin typeface="+mn-lt"/>
              </a:rPr>
              <a:t>(</a:t>
            </a:r>
            <a:r>
              <a:rPr lang="en-US" altLang="zh-TW" sz="2200" dirty="0" err="1" smtClean="0">
                <a:latin typeface="+mn-lt"/>
              </a:rPr>
              <a:t>S</a:t>
            </a:r>
            <a:r>
              <a:rPr lang="en-US" altLang="zh-TW" sz="2200" baseline="-25000" dirty="0" err="1" smtClean="0">
                <a:latin typeface="+mn-lt"/>
              </a:rPr>
              <a:t>n</a:t>
            </a:r>
            <a:r>
              <a:rPr lang="en-US" altLang="zh-TW" sz="2200" dirty="0" smtClean="0">
                <a:latin typeface="+mn-lt"/>
              </a:rPr>
              <a:t>), </a:t>
            </a:r>
            <a:r>
              <a:rPr lang="en-US" altLang="zh-TW" sz="2200" dirty="0" err="1" smtClean="0">
                <a:latin typeface="+mn-lt"/>
              </a:rPr>
              <a:t>C</a:t>
            </a:r>
            <a:r>
              <a:rPr lang="en-US" altLang="zh-TW" sz="2200" baseline="-25000" dirty="0" err="1" smtClean="0">
                <a:latin typeface="+mn-lt"/>
              </a:rPr>
              <a:t>k</a:t>
            </a:r>
            <a:r>
              <a:rPr lang="en-US" altLang="zh-TW" sz="2200" dirty="0" smtClean="0">
                <a:latin typeface="+mn-lt"/>
              </a:rPr>
              <a:t>(</a:t>
            </a:r>
            <a:r>
              <a:rPr lang="en-US" altLang="zh-TW" sz="2200" dirty="0" err="1" smtClean="0">
                <a:latin typeface="+mn-lt"/>
              </a:rPr>
              <a:t>S’</a:t>
            </a:r>
            <a:r>
              <a:rPr lang="en-US" altLang="zh-TW" sz="2200" baseline="-25000" dirty="0" err="1" smtClean="0">
                <a:latin typeface="+mn-lt"/>
              </a:rPr>
              <a:t>n</a:t>
            </a:r>
            <a:r>
              <a:rPr lang="en-US" altLang="zh-TW" sz="2200" dirty="0" smtClean="0">
                <a:latin typeface="+mn-lt"/>
              </a:rPr>
              <a:t> </a:t>
            </a:r>
            <a:r>
              <a:rPr lang="en-US" altLang="zh-TW" sz="2200" dirty="0">
                <a:latin typeface="+mn-lt"/>
              </a:rPr>
              <a:t>) on different data sets </a:t>
            </a:r>
            <a:r>
              <a:rPr lang="en-US" altLang="zh-TW" sz="2200" dirty="0" err="1" smtClean="0">
                <a:latin typeface="+mn-lt"/>
              </a:rPr>
              <a:t>S</a:t>
            </a:r>
            <a:r>
              <a:rPr lang="en-US" altLang="zh-TW" sz="2200" baseline="-25000" dirty="0" err="1" smtClean="0">
                <a:latin typeface="+mn-lt"/>
              </a:rPr>
              <a:t>n</a:t>
            </a:r>
            <a:r>
              <a:rPr lang="en-US" altLang="zh-TW" sz="2200" dirty="0">
                <a:latin typeface="+mn-lt"/>
              </a:rPr>
              <a:t>, </a:t>
            </a:r>
            <a:r>
              <a:rPr lang="en-US" altLang="zh-TW" sz="2200" dirty="0" err="1" smtClean="0">
                <a:latin typeface="+mn-lt"/>
              </a:rPr>
              <a:t>S’</a:t>
            </a:r>
            <a:r>
              <a:rPr lang="en-US" altLang="zh-TW" sz="2200" baseline="-25000" dirty="0" err="1" smtClean="0">
                <a:latin typeface="+mn-lt"/>
              </a:rPr>
              <a:t>n</a:t>
            </a:r>
            <a:r>
              <a:rPr lang="en-US" altLang="zh-TW" sz="2200" dirty="0" smtClean="0">
                <a:latin typeface="+mn-lt"/>
              </a:rPr>
              <a:t> </a:t>
            </a:r>
            <a:r>
              <a:rPr lang="en-US" altLang="zh-TW" sz="2200" dirty="0">
                <a:latin typeface="+mn-lt"/>
              </a:rPr>
              <a:t>of the same size n, i.e.</a:t>
            </a:r>
            <a:endParaRPr lang="zh-TW" altLang="en-US" sz="2200" dirty="0">
              <a:latin typeface="+mn-lt"/>
            </a:endParaRPr>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2001540"/>
            <a:ext cx="4464496" cy="3826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420888"/>
            <a:ext cx="9144000" cy="45224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644148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Principal Component Analysis (PCA)</a:t>
            </a:r>
            <a:endParaRPr lang="zh-TW" altLang="en-US" dirty="0"/>
          </a:p>
        </p:txBody>
      </p:sp>
      <p:sp>
        <p:nvSpPr>
          <p:cNvPr id="3" name="日期版面配置區 2"/>
          <p:cNvSpPr>
            <a:spLocks noGrp="1"/>
          </p:cNvSpPr>
          <p:nvPr>
            <p:ph type="dt" sz="half" idx="10"/>
          </p:nvPr>
        </p:nvSpPr>
        <p:spPr/>
        <p:txBody>
          <a:bodyPr/>
          <a:lstStyle/>
          <a:p>
            <a:fld id="{726A3BBD-C088-4677-A46A-35475F574CD5}"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12</a:t>
            </a:fld>
            <a:endParaRPr lang="zh-TW" altLang="en-US"/>
          </a:p>
        </p:txBody>
      </p:sp>
      <p:sp>
        <p:nvSpPr>
          <p:cNvPr id="5" name="內容版面配置區 4"/>
          <p:cNvSpPr>
            <a:spLocks noGrp="1"/>
          </p:cNvSpPr>
          <p:nvPr>
            <p:ph sz="quarter" idx="1"/>
          </p:nvPr>
        </p:nvSpPr>
        <p:spPr/>
        <p:txBody>
          <a:bodyPr/>
          <a:lstStyle/>
          <a:p>
            <a:r>
              <a:rPr lang="en-US" altLang="zh-TW" dirty="0">
                <a:latin typeface="+mn-lt"/>
              </a:rPr>
              <a:t>The singular </a:t>
            </a:r>
            <a:r>
              <a:rPr lang="en-US" altLang="zh-TW" dirty="0" smtClean="0">
                <a:latin typeface="+mn-lt"/>
              </a:rPr>
              <a:t>value decomposition</a:t>
            </a:r>
            <a:r>
              <a:rPr lang="en-US" altLang="zh-TW" dirty="0">
                <a:latin typeface="+mn-lt"/>
              </a:rPr>
              <a:t> of </a:t>
            </a:r>
            <a:r>
              <a:rPr lang="en-US" altLang="zh-TW" b="1" dirty="0">
                <a:latin typeface="+mn-lt"/>
              </a:rPr>
              <a:t>X</a:t>
            </a:r>
            <a:r>
              <a:rPr lang="en-US" altLang="zh-TW" dirty="0">
                <a:latin typeface="+mn-lt"/>
              </a:rPr>
              <a:t> is </a:t>
            </a:r>
            <a:r>
              <a:rPr lang="en-US" altLang="zh-TW" b="1" dirty="0">
                <a:latin typeface="+mn-lt"/>
              </a:rPr>
              <a:t>X</a:t>
            </a:r>
            <a:r>
              <a:rPr lang="en-US" altLang="zh-TW" dirty="0">
                <a:latin typeface="+mn-lt"/>
              </a:rPr>
              <a:t> = </a:t>
            </a:r>
            <a:r>
              <a:rPr lang="en-US" altLang="zh-TW" b="1" dirty="0" smtClean="0">
                <a:latin typeface="+mn-lt"/>
              </a:rPr>
              <a:t>WΣV</a:t>
            </a:r>
            <a:r>
              <a:rPr lang="en-US" altLang="zh-TW" b="1" baseline="30000" dirty="0" smtClean="0">
                <a:latin typeface="+mn-lt"/>
              </a:rPr>
              <a:t>T</a:t>
            </a:r>
          </a:p>
          <a:p>
            <a:r>
              <a:rPr lang="en-US" altLang="zh-TW" sz="2200" dirty="0"/>
              <a:t>The principal components are given by</a:t>
            </a:r>
            <a:endParaRPr lang="zh-TW" altLang="en-US" sz="2200" dirty="0">
              <a:latin typeface="+mn-lt"/>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132856"/>
            <a:ext cx="4536504" cy="489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784116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Results</a:t>
            </a:r>
            <a:endParaRPr lang="zh-TW" altLang="en-US" dirty="0"/>
          </a:p>
        </p:txBody>
      </p:sp>
      <p:sp>
        <p:nvSpPr>
          <p:cNvPr id="3" name="日期版面配置區 2"/>
          <p:cNvSpPr>
            <a:spLocks noGrp="1"/>
          </p:cNvSpPr>
          <p:nvPr>
            <p:ph type="dt" sz="half" idx="10"/>
          </p:nvPr>
        </p:nvSpPr>
        <p:spPr/>
        <p:txBody>
          <a:bodyPr/>
          <a:lstStyle/>
          <a:p>
            <a:fld id="{86FF27AC-3064-434D-9848-E1149EC89484}"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13</a:t>
            </a:fld>
            <a:endParaRPr lang="zh-TW" altLang="en-US"/>
          </a:p>
        </p:txBody>
      </p:sp>
      <p:sp>
        <p:nvSpPr>
          <p:cNvPr id="5" name="內容版面配置區 4"/>
          <p:cNvSpPr>
            <a:spLocks noGrp="1"/>
          </p:cNvSpPr>
          <p:nvPr>
            <p:ph sz="quarter" idx="1"/>
          </p:nvPr>
        </p:nvSpPr>
        <p:spPr/>
        <p:txBody>
          <a:bodyPr>
            <a:normAutofit/>
          </a:bodyPr>
          <a:lstStyle/>
          <a:p>
            <a:r>
              <a:rPr lang="en-US" altLang="zh-TW" dirty="0">
                <a:latin typeface="+mj-lt"/>
              </a:rPr>
              <a:t>Comparing the performance of k-means clustering via EV</a:t>
            </a:r>
            <a:endParaRPr lang="zh-TW" altLang="en-US" dirty="0">
              <a:latin typeface="+mj-lt"/>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54" y="1988840"/>
            <a:ext cx="9187278"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179512" y="6011996"/>
            <a:ext cx="8918724" cy="369332"/>
          </a:xfrm>
          <a:prstGeom prst="rect">
            <a:avLst/>
          </a:prstGeom>
        </p:spPr>
        <p:txBody>
          <a:bodyPr wrap="none">
            <a:spAutoFit/>
          </a:bodyPr>
          <a:lstStyle/>
          <a:p>
            <a:r>
              <a:rPr lang="en-US" altLang="zh-TW" dirty="0"/>
              <a:t>Expected variance (</a:t>
            </a:r>
            <a:r>
              <a:rPr lang="en-US" altLang="zh-TW" i="1" dirty="0"/>
              <a:t>EV</a:t>
            </a:r>
            <a:r>
              <a:rPr lang="en-US" altLang="zh-TW" dirty="0"/>
              <a:t>) for different scenarios. </a:t>
            </a:r>
            <a:r>
              <a:rPr lang="en-US" altLang="zh-TW" dirty="0" smtClean="0"/>
              <a:t>KG=</a:t>
            </a:r>
            <a:r>
              <a:rPr lang="en-US" altLang="zh-TW" dirty="0" err="1" smtClean="0"/>
              <a:t>Koppen</a:t>
            </a:r>
            <a:r>
              <a:rPr lang="en-US" altLang="zh-TW" dirty="0" smtClean="0"/>
              <a:t>-Geiger</a:t>
            </a:r>
            <a:r>
              <a:rPr lang="en-US" altLang="zh-TW" dirty="0"/>
              <a:t>, C=Cannon, Z=our analysis</a:t>
            </a:r>
            <a:endParaRPr lang="zh-TW" altLang="en-US" dirty="0"/>
          </a:p>
        </p:txBody>
      </p:sp>
    </p:spTree>
    <p:extLst>
      <p:ext uri="{BB962C8B-B14F-4D97-AF65-F5344CB8AC3E}">
        <p14:creationId xmlns:p14="http://schemas.microsoft.com/office/powerpoint/2010/main" val="34599305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 - Climate </a:t>
            </a:r>
            <a:r>
              <a:rPr lang="en-US" altLang="zh-TW" dirty="0" err="1" smtClean="0"/>
              <a:t>vs</a:t>
            </a:r>
            <a:r>
              <a:rPr lang="en-US" altLang="zh-TW" dirty="0" smtClean="0"/>
              <a:t> Vegetation</a:t>
            </a:r>
            <a:endParaRPr lang="zh-TW" altLang="en-US" dirty="0"/>
          </a:p>
        </p:txBody>
      </p:sp>
      <p:sp>
        <p:nvSpPr>
          <p:cNvPr id="3" name="日期版面配置區 2"/>
          <p:cNvSpPr>
            <a:spLocks noGrp="1"/>
          </p:cNvSpPr>
          <p:nvPr>
            <p:ph type="dt" sz="half" idx="10"/>
          </p:nvPr>
        </p:nvSpPr>
        <p:spPr/>
        <p:txBody>
          <a:bodyPr/>
          <a:lstStyle/>
          <a:p>
            <a:fld id="{9ECF2C98-6C4F-424A-90B2-ED17055355FB}"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14</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268760"/>
            <a:ext cx="6603437" cy="4952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360960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Finding the right k</a:t>
            </a:r>
            <a:endParaRPr lang="zh-TW" altLang="en-US" dirty="0"/>
          </a:p>
        </p:txBody>
      </p:sp>
      <p:sp>
        <p:nvSpPr>
          <p:cNvPr id="3" name="日期版面配置區 2"/>
          <p:cNvSpPr>
            <a:spLocks noGrp="1"/>
          </p:cNvSpPr>
          <p:nvPr>
            <p:ph type="dt" sz="half" idx="10"/>
          </p:nvPr>
        </p:nvSpPr>
        <p:spPr/>
        <p:txBody>
          <a:bodyPr/>
          <a:lstStyle/>
          <a:p>
            <a:fld id="{F8882815-1B0F-46D5-9831-870D17212C09}"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15</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253" y="1807840"/>
            <a:ext cx="5287301" cy="3965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969"/>
          <a:stretch/>
        </p:blipFill>
        <p:spPr bwMode="auto">
          <a:xfrm>
            <a:off x="4535113" y="1842864"/>
            <a:ext cx="5077447" cy="3965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397768" y="5661248"/>
            <a:ext cx="4572000" cy="646331"/>
          </a:xfrm>
          <a:prstGeom prst="rect">
            <a:avLst/>
          </a:prstGeom>
        </p:spPr>
        <p:txBody>
          <a:bodyPr>
            <a:spAutoFit/>
          </a:bodyPr>
          <a:lstStyle/>
          <a:p>
            <a:r>
              <a:rPr lang="en-US" altLang="zh-TW" i="1" dirty="0"/>
              <a:t>Q </a:t>
            </a:r>
            <a:r>
              <a:rPr lang="en-US" altLang="zh-TW" dirty="0"/>
              <a:t>for different number of clusters </a:t>
            </a:r>
            <a:r>
              <a:rPr lang="en-US" altLang="zh-TW" i="1" dirty="0"/>
              <a:t>k </a:t>
            </a:r>
            <a:r>
              <a:rPr lang="en-US" altLang="zh-TW" dirty="0"/>
              <a:t>and different variable </a:t>
            </a:r>
            <a:r>
              <a:rPr lang="en-US" altLang="zh-TW" dirty="0" smtClean="0"/>
              <a:t>subsets.</a:t>
            </a:r>
            <a:endParaRPr lang="zh-TW" altLang="en-US" dirty="0"/>
          </a:p>
        </p:txBody>
      </p:sp>
      <p:sp>
        <p:nvSpPr>
          <p:cNvPr id="7" name="矩形 6"/>
          <p:cNvSpPr/>
          <p:nvPr/>
        </p:nvSpPr>
        <p:spPr>
          <a:xfrm>
            <a:off x="5220072" y="5867980"/>
            <a:ext cx="4032448" cy="369332"/>
          </a:xfrm>
          <a:prstGeom prst="rect">
            <a:avLst/>
          </a:prstGeom>
        </p:spPr>
        <p:txBody>
          <a:bodyPr wrap="square">
            <a:spAutoFit/>
          </a:bodyPr>
          <a:lstStyle/>
          <a:p>
            <a:r>
              <a:rPr lang="en-US" altLang="zh-TW" dirty="0"/>
              <a:t>difference between </a:t>
            </a:r>
            <a:r>
              <a:rPr lang="en-US" altLang="zh-TW" i="1" dirty="0"/>
              <a:t>Q</a:t>
            </a:r>
            <a:r>
              <a:rPr lang="en-US" altLang="zh-TW" dirty="0"/>
              <a:t>(</a:t>
            </a:r>
            <a:r>
              <a:rPr lang="en-US" altLang="zh-TW" i="1" dirty="0"/>
              <a:t>k</a:t>
            </a:r>
            <a:r>
              <a:rPr lang="en-US" altLang="zh-TW" dirty="0"/>
              <a:t>) </a:t>
            </a:r>
            <a:r>
              <a:rPr lang="en-US" altLang="zh-TW" dirty="0" smtClean="0"/>
              <a:t>and </a:t>
            </a:r>
            <a:r>
              <a:rPr lang="en-US" altLang="zh-TW" i="1" dirty="0" smtClean="0"/>
              <a:t>Q</a:t>
            </a:r>
            <a:r>
              <a:rPr lang="en-US" altLang="zh-TW" dirty="0" smtClean="0"/>
              <a:t>(</a:t>
            </a:r>
            <a:r>
              <a:rPr lang="en-US" altLang="zh-TW" i="1" dirty="0" smtClean="0"/>
              <a:t>k </a:t>
            </a:r>
            <a:r>
              <a:rPr lang="en-US" altLang="zh-TW" dirty="0"/>
              <a:t>− 1).</a:t>
            </a:r>
            <a:endParaRPr lang="zh-TW" altLang="en-US" dirty="0"/>
          </a:p>
        </p:txBody>
      </p:sp>
    </p:spTree>
    <p:extLst>
      <p:ext uri="{BB962C8B-B14F-4D97-AF65-F5344CB8AC3E}">
        <p14:creationId xmlns:p14="http://schemas.microsoft.com/office/powerpoint/2010/main" val="406560216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Finding the right k</a:t>
            </a:r>
            <a:endParaRPr lang="zh-TW" altLang="en-US" dirty="0"/>
          </a:p>
        </p:txBody>
      </p:sp>
      <p:sp>
        <p:nvSpPr>
          <p:cNvPr id="3" name="日期版面配置區 2"/>
          <p:cNvSpPr>
            <a:spLocks noGrp="1"/>
          </p:cNvSpPr>
          <p:nvPr>
            <p:ph type="dt" sz="half" idx="10"/>
          </p:nvPr>
        </p:nvSpPr>
        <p:spPr/>
        <p:txBody>
          <a:bodyPr/>
          <a:lstStyle/>
          <a:p>
            <a:fld id="{59FE4B38-BB52-415E-B67D-A99B892DD823}"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16</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6" y="1844824"/>
            <a:ext cx="5237989" cy="39284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717"/>
          <a:stretch/>
        </p:blipFill>
        <p:spPr bwMode="auto">
          <a:xfrm>
            <a:off x="4584700" y="1844824"/>
            <a:ext cx="5043297" cy="39284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642288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Results</a:t>
            </a:r>
            <a:endParaRPr lang="zh-TW" altLang="en-US" dirty="0"/>
          </a:p>
        </p:txBody>
      </p:sp>
      <p:sp>
        <p:nvSpPr>
          <p:cNvPr id="3" name="日期版面配置區 2"/>
          <p:cNvSpPr>
            <a:spLocks noGrp="1"/>
          </p:cNvSpPr>
          <p:nvPr>
            <p:ph type="dt" sz="half" idx="10"/>
          </p:nvPr>
        </p:nvSpPr>
        <p:spPr/>
        <p:txBody>
          <a:bodyPr/>
          <a:lstStyle/>
          <a:p>
            <a:fld id="{FC8BB2DC-6BC2-41E1-BC3E-F96553A62FAE}"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17</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8" y="1772816"/>
            <a:ext cx="9090334"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7155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Results</a:t>
            </a:r>
            <a:endParaRPr lang="zh-TW" altLang="en-US" dirty="0"/>
          </a:p>
        </p:txBody>
      </p:sp>
      <p:sp>
        <p:nvSpPr>
          <p:cNvPr id="3" name="日期版面配置區 2"/>
          <p:cNvSpPr>
            <a:spLocks noGrp="1"/>
          </p:cNvSpPr>
          <p:nvPr>
            <p:ph type="dt" sz="half" idx="10"/>
          </p:nvPr>
        </p:nvSpPr>
        <p:spPr/>
        <p:txBody>
          <a:bodyPr/>
          <a:lstStyle/>
          <a:p>
            <a:fld id="{7DDE5CCB-2FF1-4BE7-B96F-8D877E5BE423}" type="datetime1">
              <a:rPr lang="zh-TW" altLang="en-US" smtClean="0"/>
              <a:t>2013/4/9</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18</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2308820"/>
            <a:ext cx="5334000"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5162"/>
          <a:stretch/>
        </p:blipFill>
        <p:spPr bwMode="auto">
          <a:xfrm>
            <a:off x="4559300" y="2308820"/>
            <a:ext cx="5058668"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395536" y="1268760"/>
            <a:ext cx="8640960" cy="923330"/>
          </a:xfrm>
          <a:prstGeom prst="rect">
            <a:avLst/>
          </a:prstGeom>
        </p:spPr>
        <p:txBody>
          <a:bodyPr wrap="square">
            <a:spAutoFit/>
          </a:bodyPr>
          <a:lstStyle/>
          <a:p>
            <a:r>
              <a:rPr lang="en-US" altLang="zh-TW" dirty="0"/>
              <a:t>Projection of the data from the northern (left) and southern (right) hemisphere onto the first two </a:t>
            </a:r>
            <a:r>
              <a:rPr lang="en-US" altLang="zh-TW" dirty="0" err="1" smtClean="0"/>
              <a:t>principalcomponents</a:t>
            </a:r>
            <a:r>
              <a:rPr lang="en-US" altLang="zh-TW" dirty="0"/>
              <a:t>. Each point constitutes one pixel and is </a:t>
            </a:r>
            <a:r>
              <a:rPr lang="en-US" altLang="zh-TW" dirty="0" err="1"/>
              <a:t>coloured</a:t>
            </a:r>
            <a:r>
              <a:rPr lang="en-US" altLang="zh-TW" dirty="0"/>
              <a:t> according to the five main climates of the </a:t>
            </a:r>
            <a:r>
              <a:rPr lang="en-US" altLang="zh-TW" dirty="0" err="1" smtClean="0"/>
              <a:t>K¨oppen-Geiger</a:t>
            </a:r>
            <a:r>
              <a:rPr lang="en-US" altLang="zh-TW" dirty="0" smtClean="0"/>
              <a:t> classification.</a:t>
            </a:r>
            <a:endParaRPr lang="zh-TW" altLang="en-US" dirty="0"/>
          </a:p>
        </p:txBody>
      </p:sp>
    </p:spTree>
    <p:extLst>
      <p:ext uri="{BB962C8B-B14F-4D97-AF65-F5344CB8AC3E}">
        <p14:creationId xmlns:p14="http://schemas.microsoft.com/office/powerpoint/2010/main" val="19354579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a:t>
            </a:r>
            <a:endParaRPr lang="zh-TW" altLang="en-US" dirty="0"/>
          </a:p>
        </p:txBody>
      </p:sp>
      <p:sp>
        <p:nvSpPr>
          <p:cNvPr id="5" name="日期版面配置區 4"/>
          <p:cNvSpPr>
            <a:spLocks noGrp="1"/>
          </p:cNvSpPr>
          <p:nvPr>
            <p:ph type="dt" sz="half" idx="10"/>
          </p:nvPr>
        </p:nvSpPr>
        <p:spPr/>
        <p:txBody>
          <a:bodyPr/>
          <a:lstStyle/>
          <a:p>
            <a:fld id="{18C2EA84-11C7-44DB-9552-E6386D22BBAC}" type="datetime1">
              <a:rPr lang="zh-TW" altLang="en-US" smtClean="0"/>
              <a:t>2013/4/9</a:t>
            </a:fld>
            <a:endParaRPr lang="zh-TW" altLang="en-US"/>
          </a:p>
        </p:txBody>
      </p:sp>
      <p:sp>
        <p:nvSpPr>
          <p:cNvPr id="3" name="投影片編號版面配置區 2"/>
          <p:cNvSpPr>
            <a:spLocks noGrp="1"/>
          </p:cNvSpPr>
          <p:nvPr>
            <p:ph type="sldNum" sz="quarter" idx="12"/>
          </p:nvPr>
        </p:nvSpPr>
        <p:spPr/>
        <p:txBody>
          <a:bodyPr/>
          <a:lstStyle/>
          <a:p>
            <a:fld id="{61A04B93-F247-42E5-95CE-B8478AD23DB7}" type="slidenum">
              <a:rPr lang="zh-TW" altLang="en-US" smtClean="0"/>
              <a:t>19</a:t>
            </a:fld>
            <a:endParaRPr lang="zh-TW" altLang="en-US"/>
          </a:p>
        </p:txBody>
      </p:sp>
      <p:sp>
        <p:nvSpPr>
          <p:cNvPr id="4" name="內容版面配置區 3"/>
          <p:cNvSpPr>
            <a:spLocks noGrp="1"/>
          </p:cNvSpPr>
          <p:nvPr>
            <p:ph sz="quarter" idx="1"/>
          </p:nvPr>
        </p:nvSpPr>
        <p:spPr/>
        <p:txBody>
          <a:bodyPr>
            <a:normAutofit/>
          </a:bodyPr>
          <a:lstStyle/>
          <a:p>
            <a:r>
              <a:rPr lang="en-US" altLang="zh-TW" dirty="0"/>
              <a:t>We have </a:t>
            </a:r>
            <a:r>
              <a:rPr lang="en-US" altLang="zh-TW" dirty="0" smtClean="0"/>
              <a:t>shown that </a:t>
            </a:r>
            <a:r>
              <a:rPr lang="en-US" altLang="zh-TW" dirty="0"/>
              <a:t>KG may not be optimal regarding this task and we tried to tackle it with an approach using unsupervised clustering</a:t>
            </a:r>
            <a:r>
              <a:rPr lang="en-US" altLang="zh-TW" dirty="0" smtClean="0"/>
              <a:t>.</a:t>
            </a:r>
          </a:p>
          <a:p>
            <a:r>
              <a:rPr lang="en-US" altLang="zh-TW" dirty="0"/>
              <a:t>the obtained clustering including climate and vegetation has rather diagnostic </a:t>
            </a:r>
            <a:r>
              <a:rPr lang="en-US" altLang="zh-TW" dirty="0" smtClean="0"/>
              <a:t>than predictive </a:t>
            </a:r>
            <a:r>
              <a:rPr lang="en-US" altLang="zh-TW" dirty="0"/>
              <a:t>character.</a:t>
            </a:r>
            <a:endParaRPr lang="zh-TW" altLang="en-US" dirty="0">
              <a:latin typeface="+mj-lt"/>
            </a:endParaRPr>
          </a:p>
        </p:txBody>
      </p:sp>
    </p:spTree>
    <p:extLst>
      <p:ext uri="{BB962C8B-B14F-4D97-AF65-F5344CB8AC3E}">
        <p14:creationId xmlns:p14="http://schemas.microsoft.com/office/powerpoint/2010/main" val="226631422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2">
      <a:majorFont>
        <a:latin typeface="Calibri"/>
        <a:ea typeface="Calibri"/>
        <a:cs typeface=""/>
      </a:majorFont>
      <a:minorFont>
        <a:latin typeface="Calibri"/>
        <a:ea typeface="Calibri"/>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3844</TotalTime>
  <Words>644</Words>
  <Application>Microsoft Office PowerPoint</Application>
  <PresentationFormat>如螢幕大小 (4:3)</PresentationFormat>
  <Paragraphs>119</Paragraphs>
  <Slides>19</Slides>
  <Notes>1</Notes>
  <HiddenSlides>1</HiddenSlides>
  <MMClips>0</MMClips>
  <ScaleCrop>false</ScaleCrop>
  <HeadingPairs>
    <vt:vector size="4" baseType="variant">
      <vt:variant>
        <vt:lpstr>佈景主題</vt:lpstr>
      </vt:variant>
      <vt:variant>
        <vt:i4>1</vt:i4>
      </vt:variant>
      <vt:variant>
        <vt:lpstr>投影片標題</vt:lpstr>
      </vt:variant>
      <vt:variant>
        <vt:i4>19</vt:i4>
      </vt:variant>
    </vt:vector>
  </HeadingPairs>
  <TitlesOfParts>
    <vt:vector size="20" baseType="lpstr">
      <vt:lpstr>原創</vt:lpstr>
      <vt:lpstr>Climate classifications: the value of unsupervised clustering  Procedia Computer Science vol.9,  pp. 897-906, 2012</vt:lpstr>
      <vt:lpstr>Abstract</vt:lpstr>
      <vt:lpstr>Abstract</vt:lpstr>
      <vt:lpstr>K̈oppen-Geiger climate classiﬁcation</vt:lpstr>
      <vt:lpstr>K-means</vt:lpstr>
      <vt:lpstr>Data</vt:lpstr>
      <vt:lpstr>Data</vt:lpstr>
      <vt:lpstr>Explained predictand variance (EV)</vt:lpstr>
      <vt:lpstr>Variation of information (VI)</vt:lpstr>
      <vt:lpstr>Variation of information (VI)</vt:lpstr>
      <vt:lpstr>Instability of a clustering (Instab)</vt:lpstr>
      <vt:lpstr>Principal Component Analysis (PCA)</vt:lpstr>
      <vt:lpstr>Results</vt:lpstr>
      <vt:lpstr>Results - Climate vs Vegetation</vt:lpstr>
      <vt:lpstr>Finding the right k</vt:lpstr>
      <vt:lpstr>Finding the right k</vt:lpstr>
      <vt:lpstr>Results</vt:lpstr>
      <vt:lpstr>Results</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user</cp:lastModifiedBy>
  <cp:revision>214</cp:revision>
  <cp:lastPrinted>2012-09-10T21:31:19Z</cp:lastPrinted>
  <dcterms:created xsi:type="dcterms:W3CDTF">2012-09-10T08:29:10Z</dcterms:created>
  <dcterms:modified xsi:type="dcterms:W3CDTF">2013-04-09T13:43:57Z</dcterms:modified>
</cp:coreProperties>
</file>