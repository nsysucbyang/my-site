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80" r:id="rId11"/>
    <p:sldId id="277" r:id="rId12"/>
    <p:sldId id="278" r:id="rId13"/>
    <p:sldId id="279" r:id="rId14"/>
    <p:sldId id="281" r:id="rId15"/>
    <p:sldId id="270" r:id="rId16"/>
    <p:sldId id="271" r:id="rId17"/>
    <p:sldId id="272" r:id="rId18"/>
    <p:sldId id="273" r:id="rId19"/>
    <p:sldId id="282" r:id="rId20"/>
    <p:sldId id="274" r:id="rId21"/>
    <p:sldId id="275" r:id="rId22"/>
    <p:sldId id="285" r:id="rId23"/>
    <p:sldId id="276" r:id="rId24"/>
    <p:sldId id="283" r:id="rId25"/>
    <p:sldId id="284" r:id="rId26"/>
    <p:sldId id="258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0521-DE19-4F40-9D91-7A6EE5884CB3}" type="datetimeFigureOut">
              <a:rPr lang="zh-TW" altLang="en-US" smtClean="0"/>
              <a:t>2013/12/24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DC13A-6B9C-43EA-AF60-292B7286C9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3144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0521-DE19-4F40-9D91-7A6EE5884CB3}" type="datetimeFigureOut">
              <a:rPr lang="zh-TW" altLang="en-US" smtClean="0"/>
              <a:t>2013/12/24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DC13A-6B9C-43EA-AF60-292B7286C9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152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0521-DE19-4F40-9D91-7A6EE5884CB3}" type="datetimeFigureOut">
              <a:rPr lang="zh-TW" altLang="en-US" smtClean="0"/>
              <a:t>2013/12/24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DC13A-6B9C-43EA-AF60-292B7286C9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401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0521-DE19-4F40-9D91-7A6EE5884CB3}" type="datetimeFigureOut">
              <a:rPr lang="zh-TW" altLang="en-US" smtClean="0"/>
              <a:t>2013/12/24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DC13A-6B9C-43EA-AF60-292B7286C9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0106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0521-DE19-4F40-9D91-7A6EE5884CB3}" type="datetimeFigureOut">
              <a:rPr lang="zh-TW" altLang="en-US" smtClean="0"/>
              <a:t>2013/12/24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DC13A-6B9C-43EA-AF60-292B7286C9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840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0521-DE19-4F40-9D91-7A6EE5884CB3}" type="datetimeFigureOut">
              <a:rPr lang="zh-TW" altLang="en-US" smtClean="0"/>
              <a:t>2013/12/24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DC13A-6B9C-43EA-AF60-292B7286C9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4354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0521-DE19-4F40-9D91-7A6EE5884CB3}" type="datetimeFigureOut">
              <a:rPr lang="zh-TW" altLang="en-US" smtClean="0"/>
              <a:t>2013/12/24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DC13A-6B9C-43EA-AF60-292B7286C9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347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0521-DE19-4F40-9D91-7A6EE5884CB3}" type="datetimeFigureOut">
              <a:rPr lang="zh-TW" altLang="en-US" smtClean="0"/>
              <a:t>2013/12/24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DC13A-6B9C-43EA-AF60-292B7286C9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8375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0521-DE19-4F40-9D91-7A6EE5884CB3}" type="datetimeFigureOut">
              <a:rPr lang="zh-TW" altLang="en-US" smtClean="0"/>
              <a:t>2013/12/24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DC13A-6B9C-43EA-AF60-292B7286C9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2440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0521-DE19-4F40-9D91-7A6EE5884CB3}" type="datetimeFigureOut">
              <a:rPr lang="zh-TW" altLang="en-US" smtClean="0"/>
              <a:t>2013/12/24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DC13A-6B9C-43EA-AF60-292B7286C9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05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90521-DE19-4F40-9D91-7A6EE5884CB3}" type="datetimeFigureOut">
              <a:rPr lang="zh-TW" altLang="en-US" smtClean="0"/>
              <a:t>2013/12/24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DC13A-6B9C-43EA-AF60-292B7286C9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7614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990521-DE19-4F40-9D91-7A6EE5884CB3}" type="datetimeFigureOut">
              <a:rPr lang="zh-TW" altLang="en-US" smtClean="0"/>
              <a:t>2013/12/24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DC13A-6B9C-43EA-AF60-292B7286C9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127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cran.r-project.org/web/packages/energy/index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en.wikipedia.org/wiki/Characteristic_function_(probability_theory)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Distance_correlation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Dow_Jones_Industrial_Average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25947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Measuring and Testing Dependence by Correlation</a:t>
            </a:r>
            <a:br>
              <a:rPr lang="en-US" altLang="zh-TW" dirty="0" smtClean="0"/>
            </a:br>
            <a:r>
              <a:rPr lang="en-US" altLang="zh-TW" dirty="0" smtClean="0"/>
              <a:t>of Distance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2816426"/>
            <a:ext cx="9144000" cy="2386638"/>
          </a:xfrm>
        </p:spPr>
        <p:txBody>
          <a:bodyPr>
            <a:noAutofit/>
          </a:bodyPr>
          <a:lstStyle/>
          <a:p>
            <a:r>
              <a:rPr lang="en-US" altLang="zh-TW" sz="2600" dirty="0"/>
              <a:t>GÁBOR J. SZÉKELY</a:t>
            </a:r>
            <a:r>
              <a:rPr lang="en-US" altLang="zh-TW" sz="2600" dirty="0" smtClean="0"/>
              <a:t>, </a:t>
            </a:r>
            <a:r>
              <a:rPr lang="en-US" altLang="zh-TW" sz="2600" dirty="0"/>
              <a:t>MARIA L. RIZZO AND NAIL K. </a:t>
            </a:r>
            <a:r>
              <a:rPr lang="en-US" altLang="zh-TW" sz="2600" dirty="0" smtClean="0"/>
              <a:t>BAKIROV</a:t>
            </a:r>
          </a:p>
          <a:p>
            <a:endParaRPr lang="en-US" altLang="zh-TW" sz="2600" dirty="0"/>
          </a:p>
          <a:p>
            <a:r>
              <a:rPr lang="en-US" altLang="zh-TW" sz="2600" i="1" dirty="0"/>
              <a:t>Bowling Green State University</a:t>
            </a:r>
            <a:r>
              <a:rPr lang="en-US" altLang="zh-TW" sz="2600" dirty="0"/>
              <a:t>, </a:t>
            </a:r>
            <a:r>
              <a:rPr lang="en-US" altLang="zh-TW" sz="2600" i="1" dirty="0"/>
              <a:t>Bowling Green State University </a:t>
            </a:r>
            <a:r>
              <a:rPr lang="en-US" altLang="zh-TW" sz="2600" i="1" dirty="0" smtClean="0"/>
              <a:t>and USC </a:t>
            </a:r>
            <a:r>
              <a:rPr lang="en-US" altLang="zh-TW" sz="2600" i="1" dirty="0"/>
              <a:t>Russian Academy of </a:t>
            </a:r>
            <a:r>
              <a:rPr lang="en-US" altLang="zh-TW" sz="2600" i="1" dirty="0" smtClean="0"/>
              <a:t>Sciences</a:t>
            </a:r>
          </a:p>
          <a:p>
            <a:r>
              <a:rPr lang="en-US" altLang="zh-TW" sz="2600" dirty="0" smtClean="0"/>
              <a:t>The Annals of Statistics, Vol.35, No. 6, pp.2769-2794, 2007</a:t>
            </a:r>
            <a:endParaRPr lang="zh-TW" altLang="en-US" sz="26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5293218" y="5620331"/>
            <a:ext cx="66068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Presenter: Hung-</a:t>
            </a:r>
            <a:r>
              <a:rPr lang="en-US" altLang="zh-TW" sz="2800" dirty="0" err="1" smtClean="0"/>
              <a:t>Hsin</a:t>
            </a:r>
            <a:r>
              <a:rPr lang="en-US" altLang="zh-TW" sz="2800" dirty="0" smtClean="0"/>
              <a:t> Chen (</a:t>
            </a:r>
            <a:r>
              <a:rPr lang="zh-TW" altLang="en-US" sz="2800" dirty="0" smtClean="0"/>
              <a:t>陳紘昕</a:t>
            </a:r>
            <a:r>
              <a:rPr lang="en-US" altLang="zh-TW" sz="2800" dirty="0" smtClean="0"/>
              <a:t>)</a:t>
            </a:r>
          </a:p>
          <a:p>
            <a:r>
              <a:rPr lang="en-US" altLang="zh-TW" sz="2800" dirty="0" smtClean="0"/>
              <a:t>Date: Dec. 24, 2013</a:t>
            </a:r>
            <a:endParaRPr lang="zh-TW" altLang="en-US" sz="28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13" y="5352867"/>
            <a:ext cx="4128551" cy="130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09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dirty="0">
                <a:solidFill>
                  <a:srgbClr val="FF0000"/>
                </a:solidFill>
              </a:rPr>
              <a:t>Distance correlation</a:t>
            </a:r>
            <a:r>
              <a:rPr lang="en-US" altLang="zh-TW" dirty="0"/>
              <a:t> is a new </a:t>
            </a:r>
            <a:r>
              <a:rPr lang="en-US" altLang="zh-TW" dirty="0">
                <a:solidFill>
                  <a:srgbClr val="0070C0"/>
                </a:solidFill>
              </a:rPr>
              <a:t>measure of dependence between </a:t>
            </a:r>
            <a:r>
              <a:rPr lang="en-US" altLang="zh-TW" dirty="0" smtClean="0">
                <a:solidFill>
                  <a:srgbClr val="0070C0"/>
                </a:solidFill>
              </a:rPr>
              <a:t>random vectors</a:t>
            </a:r>
            <a:r>
              <a:rPr lang="en-US" altLang="zh-TW" dirty="0">
                <a:solidFill>
                  <a:srgbClr val="0070C0"/>
                </a:solidFill>
              </a:rPr>
              <a:t>.</a:t>
            </a:r>
            <a:r>
              <a:rPr lang="en-US" altLang="zh-TW" dirty="0"/>
              <a:t> Distance covariance and distance correlation are analogous </a:t>
            </a:r>
            <a:r>
              <a:rPr lang="en-US" altLang="zh-TW" dirty="0" smtClean="0"/>
              <a:t>to product-moment </a:t>
            </a:r>
            <a:r>
              <a:rPr lang="en-US" altLang="zh-TW" dirty="0"/>
              <a:t>covariance and correlation, but unlike the classical </a:t>
            </a:r>
            <a:r>
              <a:rPr lang="en-US" altLang="zh-TW" dirty="0" smtClean="0"/>
              <a:t>definition of </a:t>
            </a:r>
            <a:r>
              <a:rPr lang="en-US" altLang="zh-TW" dirty="0"/>
              <a:t>correlation, </a:t>
            </a:r>
            <a:r>
              <a:rPr lang="en-US" altLang="zh-TW" dirty="0">
                <a:solidFill>
                  <a:srgbClr val="FF0000"/>
                </a:solidFill>
              </a:rPr>
              <a:t>distance correlation is zero only if the random </a:t>
            </a:r>
            <a:r>
              <a:rPr lang="en-US" altLang="zh-TW" dirty="0" smtClean="0">
                <a:solidFill>
                  <a:srgbClr val="FF0000"/>
                </a:solidFill>
              </a:rPr>
              <a:t>vectors are </a:t>
            </a:r>
            <a:r>
              <a:rPr lang="en-US" altLang="zh-TW" dirty="0">
                <a:solidFill>
                  <a:srgbClr val="FF0000"/>
                </a:solidFill>
              </a:rPr>
              <a:t>independent. </a:t>
            </a:r>
            <a:r>
              <a:rPr lang="en-US" altLang="zh-TW" dirty="0"/>
              <a:t>The empirical distance dependence measures are based </a:t>
            </a:r>
            <a:r>
              <a:rPr lang="en-US" altLang="zh-TW" dirty="0" smtClean="0"/>
              <a:t>on certain </a:t>
            </a:r>
            <a:r>
              <a:rPr lang="en-US" altLang="zh-TW" dirty="0"/>
              <a:t>Euclidean distances between sample elements rather than sample moments</a:t>
            </a:r>
            <a:r>
              <a:rPr lang="en-US" altLang="zh-TW" dirty="0" smtClean="0"/>
              <a:t>, yet </a:t>
            </a:r>
            <a:r>
              <a:rPr lang="en-US" altLang="zh-TW" dirty="0"/>
              <a:t>have a compact representation analogous to the classical </a:t>
            </a:r>
            <a:r>
              <a:rPr lang="en-US" altLang="zh-TW" dirty="0" smtClean="0"/>
              <a:t>covariance and </a:t>
            </a:r>
            <a:r>
              <a:rPr lang="en-US" altLang="zh-TW" dirty="0"/>
              <a:t>correlation. Asymptotic properties and applications in testing </a:t>
            </a:r>
            <a:r>
              <a:rPr lang="en-US" altLang="zh-TW" dirty="0" smtClean="0"/>
              <a:t>independence are </a:t>
            </a:r>
            <a:r>
              <a:rPr lang="en-US" altLang="zh-TW" dirty="0"/>
              <a:t>discussed. Implementation of the test and Monte Carlo </a:t>
            </a:r>
            <a:r>
              <a:rPr lang="en-US" altLang="zh-TW" dirty="0" smtClean="0"/>
              <a:t>results are </a:t>
            </a:r>
            <a:r>
              <a:rPr lang="en-US" altLang="zh-TW" dirty="0"/>
              <a:t>also presented.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7711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 smtClean="0"/>
                  <a:t>Distance correlation provides a new approach to the problem of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testing the joint independence of random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vectors</a:t>
                </a:r>
                <a:r>
                  <a:rPr lang="en-US" altLang="zh-TW" dirty="0" smtClean="0"/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TW" dirty="0"/>
                  <a:t>For all distributions </a:t>
                </a:r>
                <a:r>
                  <a:rPr lang="en-US" altLang="zh-TW" dirty="0" smtClean="0"/>
                  <a:t>with finite </a:t>
                </a:r>
                <a:r>
                  <a:rPr lang="en-US" altLang="zh-TW" dirty="0"/>
                  <a:t>first </a:t>
                </a:r>
                <a:r>
                  <a:rPr lang="en-US" altLang="zh-TW" dirty="0" smtClean="0"/>
                  <a:t>moments 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altLang="zh-TW" dirty="0" smtClean="0"/>
                  <a:t>), </a:t>
                </a:r>
                <a:r>
                  <a:rPr lang="en-US" altLang="zh-TW" dirty="0"/>
                  <a:t>distance </a:t>
                </a:r>
                <a:r>
                  <a:rPr lang="en-US" altLang="zh-TW" dirty="0" smtClean="0"/>
                  <a:t>correlation R: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	1. R(X, Y) is defined for X and Y </a:t>
                </a:r>
                <a:r>
                  <a:rPr lang="en-US" altLang="zh-TW" dirty="0" smtClean="0">
                    <a:solidFill>
                      <a:srgbClr val="00B0F0"/>
                    </a:solidFill>
                  </a:rPr>
                  <a:t>in arbitrary dimensions</a:t>
                </a:r>
                <a:r>
                  <a:rPr lang="en-US" altLang="zh-TW" dirty="0" smtClean="0"/>
                  <a:t>;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	2. R(X, Y) = 0 characterizes </a:t>
                </a:r>
                <a:r>
                  <a:rPr lang="en-US" altLang="zh-TW" dirty="0" smtClean="0">
                    <a:solidFill>
                      <a:srgbClr val="00B0F0"/>
                    </a:solidFill>
                  </a:rPr>
                  <a:t>independence </a:t>
                </a:r>
                <a:r>
                  <a:rPr lang="en-US" altLang="zh-TW" dirty="0" smtClean="0"/>
                  <a:t>of X and Y.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altLang="zh-TW" b="0" dirty="0" smtClean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dirty="0" smtClean="0"/>
                  <a:t> only if X and Y are independent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TW" dirty="0" smtClean="0">
                    <a:hlinkClick r:id="rId2"/>
                  </a:rPr>
                  <a:t>R-</a:t>
                </a:r>
                <a:r>
                  <a:rPr lang="en-US" altLang="zh-TW" dirty="0" err="1" smtClean="0">
                    <a:hlinkClick r:id="rId2"/>
                  </a:rPr>
                  <a:t>cran</a:t>
                </a:r>
                <a:r>
                  <a:rPr lang="en-US" altLang="zh-TW" dirty="0" smtClean="0">
                    <a:hlinkClick r:id="rId2"/>
                  </a:rPr>
                  <a:t> package: energy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928" t="-2801" r="-1449" b="-25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8058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endParaRPr lang="en-US" altLang="zh-TW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are </a:t>
                </a:r>
                <a:r>
                  <a:rPr lang="en-US" altLang="zh-TW" dirty="0" smtClean="0">
                    <a:hlinkClick r:id="rId2"/>
                  </a:rPr>
                  <a:t>characteristic function </a:t>
                </a:r>
                <a:r>
                  <a:rPr lang="en-US" altLang="zh-TW" dirty="0" smtClean="0"/>
                  <a:t>of X and Y, respectively.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is joint characteristic function of X and Y.</a:t>
                </a:r>
              </a:p>
              <a:p>
                <a:r>
                  <a:rPr lang="en-US" altLang="zh-TW" dirty="0" smtClean="0"/>
                  <a:t>Distance covariance V to measure the distance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TW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endParaRPr lang="en-US" altLang="zh-TW" dirty="0" smtClean="0">
                  <a:solidFill>
                    <a:srgbClr val="FF0000"/>
                  </a:solidFill>
                </a:endParaRPr>
              </a:p>
              <a:p>
                <a:r>
                  <a:rPr lang="en-US" altLang="zh-TW" dirty="0" smtClean="0"/>
                  <a:t>the distance covariance usually can’t compute directly, we utility empirical distance covariance as the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almost surely </a:t>
                </a:r>
                <a:r>
                  <a:rPr lang="en-US" altLang="zh-TW" dirty="0" smtClean="0"/>
                  <a:t>estimator.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5640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Empirical distance correlation 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73487" y="1571497"/>
            <a:ext cx="3389243" cy="19934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sz="1800" dirty="0" smtClean="0"/>
              <a:t>X=</a:t>
            </a:r>
          </a:p>
          <a:p>
            <a:pPr marL="0" indent="0">
              <a:buNone/>
            </a:pPr>
            <a:r>
              <a:rPr lang="en-US" altLang="zh-TW" sz="1800" dirty="0" smtClean="0"/>
              <a:t>[[ </a:t>
            </a:r>
            <a:r>
              <a:rPr lang="en-US" altLang="zh-TW" sz="1800" dirty="0"/>
              <a:t>0.55121671 -0.48911358]</a:t>
            </a:r>
          </a:p>
          <a:p>
            <a:pPr marL="0" indent="0">
              <a:buNone/>
            </a:pPr>
            <a:r>
              <a:rPr lang="zh-TW" altLang="en-US" sz="1800" dirty="0"/>
              <a:t> </a:t>
            </a:r>
            <a:r>
              <a:rPr lang="en-US" altLang="zh-TW" sz="1800" dirty="0"/>
              <a:t>[ 1.03359242  0.06681187]</a:t>
            </a:r>
          </a:p>
          <a:p>
            <a:pPr marL="0" indent="0">
              <a:buNone/>
            </a:pPr>
            <a:r>
              <a:rPr lang="zh-TW" altLang="en-US" sz="1800" dirty="0"/>
              <a:t> </a:t>
            </a:r>
            <a:r>
              <a:rPr lang="en-US" altLang="zh-TW" sz="1800" dirty="0"/>
              <a:t>[-0.80828891  0.17698972]</a:t>
            </a:r>
          </a:p>
          <a:p>
            <a:pPr marL="0" indent="0">
              <a:buNone/>
            </a:pPr>
            <a:r>
              <a:rPr lang="zh-TW" altLang="en-US" sz="1800" dirty="0"/>
              <a:t> </a:t>
            </a:r>
            <a:r>
              <a:rPr lang="en-US" altLang="zh-TW" sz="1800" dirty="0"/>
              <a:t>[-0.18922866 -0.10681709]</a:t>
            </a:r>
          </a:p>
          <a:p>
            <a:pPr marL="0" indent="0">
              <a:buNone/>
            </a:pPr>
            <a:r>
              <a:rPr lang="zh-TW" altLang="en-US" sz="1800" dirty="0"/>
              <a:t> </a:t>
            </a:r>
            <a:r>
              <a:rPr lang="en-US" altLang="zh-TW" sz="1800" dirty="0"/>
              <a:t>[-0.08933404  1.35171931]]</a:t>
            </a:r>
            <a:endParaRPr lang="zh-TW" altLang="en-US" sz="1800" dirty="0"/>
          </a:p>
        </p:txBody>
      </p:sp>
      <p:sp>
        <p:nvSpPr>
          <p:cNvPr id="4" name="矩形 3"/>
          <p:cNvSpPr/>
          <p:nvPr/>
        </p:nvSpPr>
        <p:spPr>
          <a:xfrm>
            <a:off x="3236084" y="1474885"/>
            <a:ext cx="198271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Y=</a:t>
            </a:r>
          </a:p>
          <a:p>
            <a:r>
              <a:rPr lang="en-US" altLang="zh-TW" dirty="0" smtClean="0"/>
              <a:t> [ </a:t>
            </a:r>
            <a:r>
              <a:rPr lang="en-US" altLang="zh-TW" dirty="0"/>
              <a:t>0.75407815  </a:t>
            </a:r>
            <a:endParaRPr lang="en-US" altLang="zh-TW" dirty="0" smtClean="0"/>
          </a:p>
          <a:p>
            <a:r>
              <a:rPr lang="en-US" altLang="zh-TW" dirty="0"/>
              <a:t> </a:t>
            </a:r>
            <a:r>
              <a:rPr lang="en-US" altLang="zh-TW" dirty="0" smtClean="0"/>
              <a:t>   0.40138421  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0.70709364  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1.67310307 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-</a:t>
            </a:r>
            <a:r>
              <a:rPr lang="en-US" altLang="zh-TW" dirty="0"/>
              <a:t>2.32533163]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5802166" y="1690688"/>
            <a:ext cx="60077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Pairwise distance matrix :</a:t>
            </a:r>
          </a:p>
          <a:p>
            <a:r>
              <a:rPr lang="en-US" altLang="zh-TW" dirty="0" smtClean="0"/>
              <a:t>a=</a:t>
            </a:r>
            <a:endParaRPr lang="en-US" altLang="zh-TW" dirty="0"/>
          </a:p>
          <a:p>
            <a:r>
              <a:rPr lang="pt-BR" altLang="zh-TW" dirty="0" smtClean="0"/>
              <a:t> </a:t>
            </a:r>
            <a:r>
              <a:rPr lang="pt-BR" altLang="zh-TW" dirty="0"/>
              <a:t>[[ 0.          0.7360295   1.51391848  0.83331264  1.94909492]</a:t>
            </a:r>
          </a:p>
          <a:p>
            <a:r>
              <a:rPr lang="zh-TW" altLang="en-US" dirty="0"/>
              <a:t> </a:t>
            </a:r>
            <a:r>
              <a:rPr lang="en-US" altLang="zh-TW" dirty="0"/>
              <a:t>[ 0.7360295   0.          1.84517371  1.2350864   1.70644396]</a:t>
            </a:r>
          </a:p>
          <a:p>
            <a:r>
              <a:rPr lang="zh-TW" altLang="en-US" dirty="0"/>
              <a:t> </a:t>
            </a:r>
            <a:r>
              <a:rPr lang="en-US" altLang="zh-TW" dirty="0"/>
              <a:t>[ 1.51391848  1.84517371  0.          0.68101534  1.37727475]</a:t>
            </a:r>
          </a:p>
          <a:p>
            <a:r>
              <a:rPr lang="zh-TW" altLang="en-US" dirty="0"/>
              <a:t> </a:t>
            </a:r>
            <a:r>
              <a:rPr lang="en-US" altLang="zh-TW" dirty="0"/>
              <a:t>[ 0.83331264  1.2350864   0.68101534  0.          1.46195327]</a:t>
            </a:r>
          </a:p>
          <a:p>
            <a:r>
              <a:rPr lang="zh-TW" altLang="en-US" dirty="0"/>
              <a:t> </a:t>
            </a:r>
            <a:r>
              <a:rPr lang="en-US" altLang="zh-TW" dirty="0"/>
              <a:t>[ 1.94909492  1.70644396  1.37727475  1.46195327  0.        ]]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4023808" y="4576185"/>
            <a:ext cx="8212429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altLang="zh-TW" sz="1700" dirty="0">
                <a:solidFill>
                  <a:srgbClr val="000000"/>
                </a:solidFill>
                <a:latin typeface="Consolas" panose="020B0609020204030204" pitchFamily="49" charset="0"/>
              </a:rPr>
              <a:t>b: [[ 0.          0.35269394  0.04698451  0.91902492  3.07940978]</a:t>
            </a:r>
          </a:p>
          <a:p>
            <a:r>
              <a:rPr lang="zh-TW" alt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onsolas" panose="020B0609020204030204" pitchFamily="49" charset="0"/>
              </a:rPr>
              <a:t>[ 0.35269394  0.          0.30570943  1.27171886  2.72671584]</a:t>
            </a:r>
          </a:p>
          <a:p>
            <a:r>
              <a:rPr lang="zh-TW" alt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onsolas" panose="020B0609020204030204" pitchFamily="49" charset="0"/>
              </a:rPr>
              <a:t>[ 0.04698451  0.30570943  0.          0.96600943  3.03242527]</a:t>
            </a:r>
          </a:p>
          <a:p>
            <a:r>
              <a:rPr lang="zh-TW" alt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onsolas" panose="020B0609020204030204" pitchFamily="49" charset="0"/>
              </a:rPr>
              <a:t>[ 0.91902492  1.27171886  0.96600943  0.          3.9984347 ]</a:t>
            </a:r>
          </a:p>
          <a:p>
            <a:r>
              <a:rPr lang="zh-TW" alt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onsolas" panose="020B0609020204030204" pitchFamily="49" charset="0"/>
              </a:rPr>
              <a:t>[ 3.07940978  2.72671584  3.03242527  3.9984347   0.        ]]</a:t>
            </a:r>
            <a:endParaRPr lang="zh-TW" alt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90008" y="4129058"/>
                <a:ext cx="3733800" cy="1284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>
                    <a:solidFill>
                      <a:srgbClr val="FF0000"/>
                    </a:solidFill>
                  </a:rPr>
                  <a:t>Pairwise distance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(Euclidean norm)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: </a:t>
                </a:r>
                <a:endParaRPr lang="en-US" altLang="zh-TW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TW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08" y="4129058"/>
                <a:ext cx="3733800" cy="1284454"/>
              </a:xfrm>
              <a:prstGeom prst="rect">
                <a:avLst/>
              </a:prstGeom>
              <a:blipFill rotWithShape="0">
                <a:blip r:embed="rId2"/>
                <a:stretch>
                  <a:fillRect l="-1471" t="-2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754721" y="6128693"/>
            <a:ext cx="700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(</a:t>
            </a:r>
            <a:r>
              <a:rPr lang="en-US" altLang="zh-TW" dirty="0">
                <a:hlinkClick r:id="rId3"/>
              </a:rPr>
              <a:t>wiki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14185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Empirical </a:t>
            </a:r>
            <a:r>
              <a:rPr lang="en-US" altLang="zh-TW" dirty="0" smtClean="0"/>
              <a:t>distance correlation (2/3)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Double centered distances (average of row and column are zero).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sub>
                          </m:sSub>
                        </m:e>
                      </m:ac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⋅⋅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sub>
                          </m:sSub>
                        </m:e>
                      </m:acc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⋅⋅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1583297" y="3565068"/>
            <a:ext cx="744828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TW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A= </a:t>
            </a:r>
          </a:p>
          <a:p>
            <a:r>
              <a:rPr lang="pt-BR" altLang="zh-TW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[[-</a:t>
            </a:r>
            <a:r>
              <a:rPr lang="pt-BR" altLang="zh-TW" sz="1400" dirty="0">
                <a:solidFill>
                  <a:srgbClr val="000000"/>
                </a:solidFill>
                <a:latin typeface="Consolas" panose="020B0609020204030204" pitchFamily="49" charset="0"/>
              </a:rPr>
              <a:t>0.94579798 -0.30784408  0.49111515  0.05171224  0.71081467]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</a:rPr>
              <a:t>[-0.30784408 -1.14194919  0.72429478  0.35541039  0.3700881 ]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</a:rPr>
              <a:t>[ 0.49111515  0.72429478 -1.09980867 -0.17759041  0.06198915]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</a:rPr>
              <a:t>[ 0.05171224  0.35541039 -0.17759041 -0.61740283  0.3878706 ]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</a:rPr>
              <a:t>[ 0.71081467  0.3700881   0.06198915  0.3878706  -1.53076252</a:t>
            </a:r>
            <a:r>
              <a:rPr lang="en-US" altLang="zh-TW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]]</a:t>
            </a:r>
            <a:endParaRPr lang="en-US" altLang="zh-TW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8200" y="5048662"/>
            <a:ext cx="982497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</a:rPr>
              <a:t>B: [[ -4.23315124e-01  -1.22366169e-01  -3.66933716e-01  -</a:t>
            </a:r>
            <a:r>
              <a:rPr lang="en-US" altLang="zh-TW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5.57051565e-02 9.68320165e-01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</a:rPr>
              <a:t> [ -1.22366169e-01  -5.26805095e-01  -1.59953774e-01   </a:t>
            </a:r>
            <a:r>
              <a:rPr lang="en-US" altLang="zh-TW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2.45243799e-01    5.63881239e-01]</a:t>
            </a:r>
          </a:p>
          <a:p>
            <a:r>
              <a:rPr lang="en-US" altLang="zh-TW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</a:rPr>
              <a:t>[ -3.66933716e-01  -1.59953774e-01  -4.04521322e-01   </a:t>
            </a:r>
            <a:r>
              <a:rPr lang="en-US" altLang="zh-TW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6.76251724e-04    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</a:rPr>
              <a:t>9.30732560e-01]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</a:rPr>
              <a:t> [ -5.57051565e-02   2.45243799e-01   6.76251724e-04  -</a:t>
            </a:r>
            <a:r>
              <a:rPr lang="en-US" altLang="zh-TW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1.52614503e+00    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</a:rPr>
              <a:t>1.33593013e+00]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</a:rPr>
              <a:t> [  9.68320165e-01   5.63881239e-01   9.30732560e-01   </a:t>
            </a:r>
            <a:r>
              <a:rPr lang="en-US" altLang="zh-TW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1.33593013e+00   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</a:rPr>
              <a:t>-3.79886410e+00]]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30434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Empirical </a:t>
            </a:r>
            <a:r>
              <a:rPr lang="en-US" altLang="zh-TW" dirty="0" smtClean="0"/>
              <a:t>distance correlation (3/3)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𝑑𝐶𝑜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en-US" altLang="zh-TW" b="0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𝑑𝑉𝑎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𝑑𝐶𝑜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en-US" altLang="zh-TW" b="0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𝑑𝐶𝑜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𝑑𝐶𝑜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𝑑𝑉𝑎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𝑑𝑉𝑎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rad>
                      </m:den>
                    </m:f>
                  </m:oMath>
                </a14:m>
                <a:r>
                  <a:rPr lang="en-US" altLang="zh-TW" dirty="0" smtClean="0"/>
                  <a:t>=</a:t>
                </a:r>
                <a:r>
                  <a:rPr lang="en-US" altLang="zh-TW" dirty="0"/>
                  <a:t> 0.8259</a:t>
                </a:r>
                <a:endParaRPr lang="en-US" altLang="zh-TW" dirty="0" smtClean="0"/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056068" y="4868214"/>
                <a:ext cx="1029773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𝑑𝐶𝑜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is empirical distance correlation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𝑑𝐶𝑜𝑟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is (real) distance correlation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𝑑𝐶𝑜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𝑑𝐶𝑜𝑟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68" y="4868214"/>
                <a:ext cx="10297732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178" t="-40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441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Distance correlation properties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𝑑𝐶𝑜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≤1,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𝑑𝐶𝑜𝑟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altLang="zh-TW" b="0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𝑑𝐶𝑜𝑟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𝑎𝑟𝑒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𝑖𝑛𝑑𝑒𝑝𝑒𝑛𝑑𝑒𝑛𝑡</m:t>
                    </m:r>
                  </m:oMath>
                </a14:m>
                <a:endParaRPr lang="en-US" altLang="zh-TW" dirty="0" smtClean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𝑑𝐶𝑜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=1,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en-US" altLang="zh-TW" dirty="0" smtClean="0"/>
                  <a:t>1. the linear space spanned by X and Y samples respectively are almost surely equal 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2. exists subspace Y=</a:t>
                </a:r>
                <a:r>
                  <a:rPr lang="en-US" altLang="zh-TW" dirty="0" err="1" smtClean="0"/>
                  <a:t>A+bCX</a:t>
                </a:r>
                <a:r>
                  <a:rPr lang="en-US" altLang="zh-TW" dirty="0" smtClean="0"/>
                  <a:t> for some vector A, scalar b, and    orthonormal matrix C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884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Distance covariance and variance properties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𝑑𝐶𝑜𝑣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≥0,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𝑑𝐶𝑜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𝑑𝐶𝑜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𝑎𝑟𝑒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𝑖𝑛𝑑𝑒𝑝𝑒𝑛𝑑𝑒𝑛𝑡</m:t>
                    </m:r>
                  </m:oMath>
                </a14:m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𝑑𝑉𝑎𝑟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𝑎𝑙𝑚𝑜𝑠𝑡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𝑠𝑢𝑟𝑒𝑙𝑦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𝑑𝑉𝑎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all samples are equal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𝑑𝑉𝑎𝑟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𝑏𝐶𝑋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𝑑𝑉𝑎𝑟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5445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Distance </a:t>
            </a:r>
            <a:r>
              <a:rPr lang="en-US" altLang="zh-TW" smtClean="0"/>
              <a:t>covariance test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205" y="5672437"/>
            <a:ext cx="6622387" cy="118556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33" y="1504424"/>
            <a:ext cx="11002179" cy="378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27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0014" y="1690688"/>
            <a:ext cx="3823952" cy="4351338"/>
          </a:xfrm>
        </p:spPr>
        <p:txBody>
          <a:bodyPr/>
          <a:lstStyle/>
          <a:p>
            <a:r>
              <a:rPr lang="en-US" altLang="zh-TW" dirty="0" err="1" smtClean="0"/>
              <a:t>Wilks</a:t>
            </a:r>
            <a:r>
              <a:rPr lang="en-US" altLang="zh-TW" dirty="0" smtClean="0"/>
              <a:t> Lambda-statistic (W)</a:t>
            </a:r>
          </a:p>
          <a:p>
            <a:r>
              <a:rPr lang="en-US" altLang="zh-TW" dirty="0" err="1" smtClean="0"/>
              <a:t>Puri</a:t>
            </a:r>
            <a:r>
              <a:rPr lang="en-US" altLang="zh-TW" dirty="0" smtClean="0"/>
              <a:t>-Sen rank correlation statistics (S)</a:t>
            </a:r>
          </a:p>
          <a:p>
            <a:r>
              <a:rPr lang="en-US" altLang="zh-TW" dirty="0" err="1" smtClean="0"/>
              <a:t>Puri</a:t>
            </a:r>
            <a:r>
              <a:rPr lang="en-US" altLang="zh-TW" dirty="0" smtClean="0"/>
              <a:t>-Sen statistics (T)</a:t>
            </a:r>
          </a:p>
          <a:p>
            <a:r>
              <a:rPr lang="en-US" altLang="zh-TW" dirty="0" smtClean="0"/>
              <a:t>10,000 samples </a:t>
            </a:r>
          </a:p>
          <a:p>
            <a:pPr marL="0" indent="0">
              <a:buNone/>
            </a:pP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431" y="782435"/>
            <a:ext cx="8087213" cy="525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513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04" y="0"/>
            <a:ext cx="5350259" cy="360483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952" y="75970"/>
            <a:ext cx="5125792" cy="354005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69" y="3604835"/>
            <a:ext cx="4859127" cy="332895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952" y="3616025"/>
            <a:ext cx="4768076" cy="324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10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2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8290"/>
                <a:ext cx="10515600" cy="917575"/>
              </a:xfrm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zh-TW" b="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𝑖𝑛𝑑𝑒𝑝𝑒𝑛𝑑𝑒𝑛𝑡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𝑠𝑡𝑎𝑛𝑑𝑎𝑟𝑑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𝑛𝑜𝑟𝑚𝑎𝑙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𝑖𝑛𝑑𝑒𝑝𝑒𝑛𝑑𝑒𝑛𝑡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8290"/>
                <a:ext cx="10515600" cy="917575"/>
              </a:xfrm>
              <a:blipFill rotWithShape="0">
                <a:blip r:embed="rId2"/>
                <a:stretch>
                  <a:fillRect b="-19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509" y="2421228"/>
            <a:ext cx="6352305" cy="428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9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3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158803" cy="4351338"/>
              </a:xfrm>
            </p:spPr>
            <p:txBody>
              <a:bodyPr/>
              <a:lstStyle/>
              <a:p>
                <a:r>
                  <a:rPr lang="en-US" altLang="zh-TW" dirty="0" smtClean="0"/>
                  <a:t>X is standard multivariate normal (p=5)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𝑘𝑗</m:t>
                                </m:r>
                              </m:sub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=1,⋯,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158803" cy="4351338"/>
              </a:xfrm>
              <a:blipFill rotWithShape="0">
                <a:blip r:embed="rId2"/>
                <a:stretch>
                  <a:fillRect l="-2639" t="-2241" r="-29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541" y="1430045"/>
            <a:ext cx="7603022" cy="514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932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25947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The distance correlation t-test of independence in high dimension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2816426"/>
            <a:ext cx="9144000" cy="2386638"/>
          </a:xfrm>
        </p:spPr>
        <p:txBody>
          <a:bodyPr>
            <a:noAutofit/>
          </a:bodyPr>
          <a:lstStyle/>
          <a:p>
            <a:r>
              <a:rPr lang="en-US" altLang="zh-TW" sz="2600" dirty="0"/>
              <a:t>GÁBOR J. </a:t>
            </a:r>
            <a:r>
              <a:rPr lang="en-US" altLang="zh-TW" sz="2600" dirty="0" smtClean="0"/>
              <a:t>SZÉKELY and </a:t>
            </a:r>
            <a:r>
              <a:rPr lang="en-US" altLang="zh-TW" sz="2600" dirty="0"/>
              <a:t>MARIA L. </a:t>
            </a:r>
            <a:r>
              <a:rPr lang="en-US" altLang="zh-TW" sz="2600" dirty="0" smtClean="0"/>
              <a:t>RIZZO</a:t>
            </a:r>
          </a:p>
          <a:p>
            <a:endParaRPr lang="en-US" altLang="zh-TW" sz="2600" dirty="0"/>
          </a:p>
          <a:p>
            <a:r>
              <a:rPr lang="en-US" altLang="zh-TW" sz="2600" dirty="0" smtClean="0"/>
              <a:t>Journal of Multivariate Analysis, Vol. 117, pp. 94, 2013.</a:t>
            </a:r>
            <a:endParaRPr lang="zh-TW" altLang="en-US" sz="26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5293218" y="5620331"/>
            <a:ext cx="66068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Presenter: Hung-</a:t>
            </a:r>
            <a:r>
              <a:rPr lang="en-US" altLang="zh-TW" sz="2800" dirty="0" err="1" smtClean="0"/>
              <a:t>Hsin</a:t>
            </a:r>
            <a:r>
              <a:rPr lang="en-US" altLang="zh-TW" sz="2800" dirty="0" smtClean="0"/>
              <a:t> Chen (</a:t>
            </a:r>
            <a:r>
              <a:rPr lang="zh-TW" altLang="en-US" sz="2800" dirty="0" smtClean="0"/>
              <a:t>陳紘昕</a:t>
            </a:r>
            <a:r>
              <a:rPr lang="en-US" altLang="zh-TW" sz="2800" dirty="0" smtClean="0"/>
              <a:t>)</a:t>
            </a:r>
          </a:p>
          <a:p>
            <a:r>
              <a:rPr lang="en-US" altLang="zh-TW" sz="2800" dirty="0" smtClean="0"/>
              <a:t>Date: Dec. 24, 2013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14386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6366" y="1481070"/>
            <a:ext cx="11359166" cy="469589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altLang="zh-TW" dirty="0"/>
              <a:t>Distance correlation is extended to the problem of testing the independence of random </a:t>
            </a:r>
            <a:r>
              <a:rPr lang="en-US" altLang="zh-TW" dirty="0" smtClean="0"/>
              <a:t>vectors in </a:t>
            </a:r>
            <a:r>
              <a:rPr lang="en-US" altLang="zh-TW" dirty="0"/>
              <a:t>high dimension. Distance correlation characterizes independence and determines </a:t>
            </a:r>
            <a:r>
              <a:rPr lang="en-US" altLang="zh-TW" dirty="0" smtClean="0"/>
              <a:t>a test </a:t>
            </a:r>
            <a:r>
              <a:rPr lang="en-US" altLang="zh-TW" dirty="0"/>
              <a:t>of </a:t>
            </a:r>
            <a:r>
              <a:rPr lang="en-US" altLang="zh-TW" dirty="0" smtClean="0"/>
              <a:t> multivariate </a:t>
            </a:r>
            <a:r>
              <a:rPr lang="en-US" altLang="zh-TW" dirty="0"/>
              <a:t>independence for random vectors in arbitrary dimension. In this work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rgbClr val="FF0000"/>
                </a:solidFill>
              </a:rPr>
              <a:t>a </a:t>
            </a:r>
            <a:r>
              <a:rPr lang="en-US" altLang="zh-TW" dirty="0">
                <a:solidFill>
                  <a:srgbClr val="FF0000"/>
                </a:solidFill>
              </a:rPr>
              <a:t>modified distance correlation statistic is proposed, such that under independence the </a:t>
            </a:r>
            <a:r>
              <a:rPr lang="en-US" altLang="zh-TW" dirty="0" smtClean="0">
                <a:solidFill>
                  <a:srgbClr val="FF0000"/>
                </a:solidFill>
              </a:rPr>
              <a:t>distribution of </a:t>
            </a:r>
            <a:r>
              <a:rPr lang="en-US" altLang="zh-TW" dirty="0">
                <a:solidFill>
                  <a:srgbClr val="FF0000"/>
                </a:solidFill>
              </a:rPr>
              <a:t>a transformation of the statistic converges to Student t, as dimension tends </a:t>
            </a:r>
            <a:r>
              <a:rPr lang="en-US" altLang="zh-TW" dirty="0" smtClean="0">
                <a:solidFill>
                  <a:srgbClr val="FF0000"/>
                </a:solidFill>
              </a:rPr>
              <a:t>to infinity</a:t>
            </a:r>
            <a:r>
              <a:rPr lang="en-US" altLang="zh-TW" dirty="0">
                <a:solidFill>
                  <a:srgbClr val="FF0000"/>
                </a:solidFill>
              </a:rPr>
              <a:t>. </a:t>
            </a:r>
            <a:r>
              <a:rPr lang="en-US" altLang="zh-TW" dirty="0"/>
              <a:t>Thus we obtain a distance correlation t-test for independence of random vectors </a:t>
            </a:r>
            <a:r>
              <a:rPr lang="en-US" altLang="zh-TW" dirty="0" smtClean="0"/>
              <a:t>in arbitrarily </a:t>
            </a:r>
            <a:r>
              <a:rPr lang="en-US" altLang="zh-TW" dirty="0"/>
              <a:t>high dimension, applicable under standard conditions on the coordinates </a:t>
            </a:r>
            <a:r>
              <a:rPr lang="en-US" altLang="zh-TW" dirty="0" smtClean="0"/>
              <a:t>that ensure </a:t>
            </a:r>
            <a:r>
              <a:rPr lang="en-US" altLang="zh-TW" dirty="0"/>
              <a:t>the validity of certain limit theorems. This new test is based on an unbiased </a:t>
            </a:r>
            <a:r>
              <a:rPr lang="en-US" altLang="zh-TW" dirty="0" smtClean="0"/>
              <a:t> estimator of </a:t>
            </a:r>
            <a:r>
              <a:rPr lang="en-US" altLang="zh-TW" dirty="0"/>
              <a:t>distance covariance, and the resulting t-test is unbiased for every sample </a:t>
            </a:r>
            <a:r>
              <a:rPr lang="en-US" altLang="zh-TW" dirty="0" smtClean="0"/>
              <a:t>size greater </a:t>
            </a:r>
            <a:r>
              <a:rPr lang="en-US" altLang="zh-TW" dirty="0"/>
              <a:t>than three and all significance levels. The transformed statistic is </a:t>
            </a:r>
            <a:r>
              <a:rPr lang="en-US" altLang="zh-TW" dirty="0" smtClean="0"/>
              <a:t>approximately normal </a:t>
            </a:r>
            <a:r>
              <a:rPr lang="en-US" altLang="zh-TW" dirty="0"/>
              <a:t>under independence for sample size greater than nine, providing an </a:t>
            </a:r>
            <a:r>
              <a:rPr lang="en-US" altLang="zh-TW" dirty="0" smtClean="0"/>
              <a:t>informative sample </a:t>
            </a:r>
            <a:r>
              <a:rPr lang="en-US" altLang="zh-TW" dirty="0"/>
              <a:t>coefficient that is easily interpretable for high dimensional data.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3437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endParaRPr lang="en-US" altLang="zh-TW" dirty="0"/>
              </a:p>
              <a:p>
                <a:r>
                  <a:rPr lang="en-US" altLang="zh-TW" dirty="0" smtClean="0"/>
                  <a:t>Distance correlation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sSubSup>
                              <m:sSub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rad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→1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altLang="zh-TW" dirty="0" smtClean="0"/>
              </a:p>
              <a:p>
                <a:r>
                  <a:rPr lang="zh-TW" altLang="en-US" dirty="0" smtClean="0"/>
                  <a:t>若</a:t>
                </a:r>
                <a:r>
                  <a:rPr lang="en-US" altLang="zh-TW" dirty="0" smtClean="0"/>
                  <a:t>X,Y</a:t>
                </a:r>
                <a:r>
                  <a:rPr lang="zh-TW" altLang="en-US" dirty="0" smtClean="0"/>
                  <a:t>的資料維度趨近無窮大時，即使兩資料為</a:t>
                </a:r>
                <a:r>
                  <a:rPr lang="en-US" altLang="zh-TW" dirty="0" smtClean="0"/>
                  <a:t>independent, </a:t>
                </a:r>
                <a:r>
                  <a:rPr lang="zh-TW" altLang="en-US" dirty="0" smtClean="0"/>
                  <a:t>其</a:t>
                </a:r>
                <a:r>
                  <a:rPr lang="en-US" altLang="zh-TW" dirty="0" smtClean="0"/>
                  <a:t>distance correlation</a:t>
                </a:r>
                <a:r>
                  <a:rPr lang="zh-TW" altLang="en-US" dirty="0" smtClean="0"/>
                  <a:t>仍可能接近</a:t>
                </a:r>
                <a:r>
                  <a:rPr lang="en-US" altLang="zh-TW" dirty="0" smtClean="0"/>
                  <a:t>1</a:t>
                </a:r>
              </a:p>
              <a:p>
                <a:r>
                  <a:rPr lang="en-US" altLang="zh-TW" dirty="0" smtClean="0"/>
                  <a:t>Solution: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proposed a modified distance covariance, which is approximately to normal for p, q&gt;0 and n&gt;=10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8864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Modified covariance 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79549"/>
            <a:ext cx="8771868" cy="137653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07" y="4582186"/>
            <a:ext cx="9769028" cy="192164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994" y="3117429"/>
            <a:ext cx="6115941" cy="130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08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274" y="1458099"/>
            <a:ext cx="8582938" cy="230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7520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Statistics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latin typeface="Cambria Math" panose="02040503050406030204" pitchFamily="18" charset="0"/>
                  </a:rPr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b="0" dirty="0" smtClean="0">
                    <a:latin typeface="Cambria Math" panose="02040503050406030204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→∞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𝑎𝑟𝑒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𝑖𝑛𝑑𝑒𝑝𝑒𝑛𝑑𝑒𝑛𝑡</m:t>
                    </m:r>
                  </m:oMath>
                </a14:m>
                <a:endParaRPr lang="en-US" altLang="zh-TW" b="0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59" y="3476119"/>
            <a:ext cx="11598609" cy="310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542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Simulation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70" y="1690688"/>
            <a:ext cx="11420670" cy="473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85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Application to time series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57" y="1265797"/>
            <a:ext cx="11715885" cy="28296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238057" y="4345771"/>
                <a:ext cx="11496541" cy="1541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E.g. p=2, N=4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1,2, 3</m:t>
                          </m:r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r>
                  <a:rPr lang="zh-TW" altLang="en-US" dirty="0" smtClean="0"/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 smtClean="0"/>
                  <a:t>中的元素，以</a:t>
                </a:r>
                <a:r>
                  <a:rPr lang="en-US" altLang="zh-TW" dirty="0" smtClean="0"/>
                  <a:t>index</a:t>
                </a:r>
                <a:r>
                  <a:rPr lang="zh-TW" altLang="en-US" dirty="0" smtClean="0"/>
                  <a:t>從</a:t>
                </a:r>
                <a:r>
                  <a:rPr lang="en-US" altLang="zh-TW" dirty="0" smtClean="0"/>
                  <a:t>{1,…N-p+1}</a:t>
                </a:r>
                <a:r>
                  <a:rPr lang="zh-TW" altLang="en-US" dirty="0" smtClean="0"/>
                  <a:t>中 等機率抽出，則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 smtClean="0"/>
                  <a:t>可視為</a:t>
                </a:r>
                <a:r>
                  <a:rPr lang="en-US" altLang="zh-TW" dirty="0" err="1" smtClean="0"/>
                  <a:t>iid</a:t>
                </a:r>
                <a:r>
                  <a:rPr lang="en-US" altLang="zh-TW" dirty="0" smtClean="0"/>
                  <a:t> observation.</a:t>
                </a:r>
              </a:p>
              <a:p>
                <a:r>
                  <a:rPr lang="zh-TW" altLang="en-US" dirty="0" smtClean="0"/>
                  <a:t>則可對</a:t>
                </a:r>
                <a:r>
                  <a:rPr lang="en-US" altLang="zh-TW" dirty="0" smtClean="0"/>
                  <a:t>vector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TW" altLang="en-US" dirty="0" smtClean="0"/>
                  <a:t>做 </a:t>
                </a:r>
                <a:r>
                  <a:rPr lang="en-US" altLang="zh-TW" dirty="0" smtClean="0"/>
                  <a:t>t-test </a:t>
                </a:r>
                <a:r>
                  <a:rPr lang="en-US" altLang="zh-TW" smtClean="0"/>
                  <a:t>of independence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57" y="4345771"/>
                <a:ext cx="11496541" cy="1541063"/>
              </a:xfrm>
              <a:prstGeom prst="rect">
                <a:avLst/>
              </a:prstGeom>
              <a:blipFill rotWithShape="0">
                <a:blip r:embed="rId3"/>
                <a:stretch>
                  <a:fillRect l="-424" t="-2372" b="-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770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989" y="1994825"/>
            <a:ext cx="7492355" cy="431707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Simulation: AR(1)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648200" cy="4351338"/>
              </a:xfrm>
            </p:spPr>
            <p:txBody>
              <a:bodyPr/>
              <a:lstStyle/>
              <a:p>
                <a:r>
                  <a:rPr lang="en-US" altLang="zh-TW" dirty="0" smtClean="0"/>
                  <a:t>N=2500,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.25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0.25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TW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zh-TW" b="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648200" cy="4351338"/>
              </a:xfrm>
              <a:blipFill rotWithShape="0">
                <a:blip r:embed="rId3"/>
                <a:stretch>
                  <a:fillRect l="-2362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55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Simulation: two white noise series(Gaussian, the same parameters, N=2520, p100, n=50)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13" y="1860593"/>
            <a:ext cx="10704484" cy="478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956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552" y="1413363"/>
            <a:ext cx="6652310" cy="517586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Simulation: Dow Jones Industrial Index (DJIA)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4995930" cy="4351338"/>
          </a:xfrm>
        </p:spPr>
        <p:txBody>
          <a:bodyPr/>
          <a:lstStyle/>
          <a:p>
            <a:r>
              <a:rPr lang="en-US" altLang="zh-TW" dirty="0" smtClean="0"/>
              <a:t>Daily (log) returns of </a:t>
            </a:r>
            <a:r>
              <a:rPr lang="en-US" altLang="zh-TW" dirty="0" smtClean="0">
                <a:hlinkClick r:id="rId3"/>
              </a:rPr>
              <a:t>30 stocks in DJIA</a:t>
            </a:r>
            <a:r>
              <a:rPr lang="en-US" altLang="zh-TW" dirty="0" smtClean="0"/>
              <a:t> from Aug. 30, 1993 ~ Aug. 29, 2003. </a:t>
            </a:r>
          </a:p>
          <a:p>
            <a:r>
              <a:rPr lang="en-US" altLang="zh-TW" dirty="0" smtClean="0"/>
              <a:t>Pair of stocks are tested for independence, p=100, n=50.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2602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Thanks for your listening!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876" y="1553496"/>
            <a:ext cx="4999703" cy="499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0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831</Words>
  <Application>Microsoft Office PowerPoint</Application>
  <PresentationFormat>寬螢幕</PresentationFormat>
  <Paragraphs>128</Paragraphs>
  <Slides>26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3" baseType="lpstr">
      <vt:lpstr>新細明體</vt:lpstr>
      <vt:lpstr>Arial</vt:lpstr>
      <vt:lpstr>Calibri</vt:lpstr>
      <vt:lpstr>Calibri Light</vt:lpstr>
      <vt:lpstr>Cambria Math</vt:lpstr>
      <vt:lpstr>Consolas</vt:lpstr>
      <vt:lpstr>Office 佈景主題</vt:lpstr>
      <vt:lpstr>Measuring and Testing Dependence by Correlation of Distance</vt:lpstr>
      <vt:lpstr>Abstract</vt:lpstr>
      <vt:lpstr>Introduction</vt:lpstr>
      <vt:lpstr>Introduction</vt:lpstr>
      <vt:lpstr>Empirical distance correlation (1/3)</vt:lpstr>
      <vt:lpstr>Empirical distance correlation (2/3)</vt:lpstr>
      <vt:lpstr>Empirical distance correlation (3/3)</vt:lpstr>
      <vt:lpstr>Distance correlation properties</vt:lpstr>
      <vt:lpstr>Distance covariance and variance properties</vt:lpstr>
      <vt:lpstr>Distance covariance test</vt:lpstr>
      <vt:lpstr>Example</vt:lpstr>
      <vt:lpstr>PowerPoint 簡報</vt:lpstr>
      <vt:lpstr>Example 2</vt:lpstr>
      <vt:lpstr>Example 3</vt:lpstr>
      <vt:lpstr>The distance correlation t-test of independence in high dimension</vt:lpstr>
      <vt:lpstr>Abstract</vt:lpstr>
      <vt:lpstr>Problem</vt:lpstr>
      <vt:lpstr>Modified covariance </vt:lpstr>
      <vt:lpstr>PowerPoint 簡報</vt:lpstr>
      <vt:lpstr>Statistics</vt:lpstr>
      <vt:lpstr>Simulation</vt:lpstr>
      <vt:lpstr>Application to time series</vt:lpstr>
      <vt:lpstr>Simulation: AR(1)</vt:lpstr>
      <vt:lpstr>Simulation: two white noise series(Gaussian, the same parameters, N=2520, p100, n=50)</vt:lpstr>
      <vt:lpstr>Simulation: Dow Jones Industrial Index (DJIA)</vt:lpstr>
      <vt:lpstr>Thanks for your listening!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AND TESTING DEPENDENCE BY CORRELATION OF DISTANCES</dc:title>
  <dc:creator>陳紘昕</dc:creator>
  <cp:lastModifiedBy>陳紘昕</cp:lastModifiedBy>
  <cp:revision>58</cp:revision>
  <dcterms:created xsi:type="dcterms:W3CDTF">2013-12-15T07:38:22Z</dcterms:created>
  <dcterms:modified xsi:type="dcterms:W3CDTF">2013-12-24T02:49:18Z</dcterms:modified>
</cp:coreProperties>
</file>