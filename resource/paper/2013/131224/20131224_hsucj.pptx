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BA2CCC6-1621-43AA-80E1-9C918F862ACB}">
          <p14:sldIdLst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3399"/>
    <a:srgbClr val="FF00FF"/>
    <a:srgbClr val="CC9900"/>
    <a:srgbClr val="663300"/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9" autoAdjust="0"/>
    <p:restoredTop sz="94718" autoAdjust="0"/>
  </p:normalViewPr>
  <p:slideViewPr>
    <p:cSldViewPr>
      <p:cViewPr varScale="1">
        <p:scale>
          <a:sx n="110" d="100"/>
          <a:sy n="110" d="100"/>
        </p:scale>
        <p:origin x="39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as.org/content/85/8/2444.abstrac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helsinki.fi/bioinformatiikka/mbi/courses/07-08/itb/slides/itb0708_slides_83-116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helsinki.fi/bioinformatiikka/mbi/courses/07-08/itb/slides/itb0708_slides_83-116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http://www.pnas.org/content/85/8/2444.abstract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http://www.cs.helsinki.fi/bioinformatiikka/mbi/courses/07-08/itb/slides/itb0708_slides_83-116.pdf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4196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http://www.cs.helsinki.fi/bioinformatiikka/mbi/courses/07-08/itb/slides/itb0708_slides_83-116.pdf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790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Improved tools for biological sequence comparison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802042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William </a:t>
            </a:r>
            <a:r>
              <a:rPr lang="en-US" altLang="zh-TW" b="1" dirty="0"/>
              <a:t>R. </a:t>
            </a:r>
            <a:r>
              <a:rPr lang="en-US" altLang="zh-TW" b="1" dirty="0" smtClean="0"/>
              <a:t>Person </a:t>
            </a:r>
            <a:r>
              <a:rPr lang="en-US" altLang="zh-TW" b="1" dirty="0"/>
              <a:t>a</a:t>
            </a:r>
            <a:r>
              <a:rPr lang="en-US" altLang="zh-TW" b="1" dirty="0" smtClean="0"/>
              <a:t>nd David </a:t>
            </a:r>
            <a:r>
              <a:rPr lang="en-US" altLang="zh-TW" b="1" dirty="0"/>
              <a:t>J. </a:t>
            </a:r>
            <a:r>
              <a:rPr lang="en-US" altLang="zh-TW" b="1" dirty="0" err="1" smtClean="0"/>
              <a:t>Lipman</a:t>
            </a:r>
            <a:endParaRPr lang="en-US" altLang="zh-TW" b="1" dirty="0" smtClean="0"/>
          </a:p>
          <a:p>
            <a:r>
              <a:rPr lang="en-US" altLang="zh-TW" b="1" dirty="0"/>
              <a:t>Proceedings of the National Academy of Sciences of the United States of </a:t>
            </a:r>
            <a:r>
              <a:rPr lang="en-US" altLang="zh-TW" b="1" dirty="0" smtClean="0"/>
              <a:t>America </a:t>
            </a:r>
            <a:r>
              <a:rPr lang="sv-SE" altLang="zh-TW" b="1" dirty="0"/>
              <a:t>Vol. 85, pp. 2444-2448, April 1988</a:t>
            </a:r>
            <a:endParaRPr lang="en-US" altLang="zh-TW" b="1" dirty="0"/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687600" y="5641322"/>
            <a:ext cx="6400800" cy="110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Presenter: </a:t>
            </a:r>
            <a:r>
              <a:rPr lang="en-US" altLang="zh-TW" sz="2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Che-Jui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Hsu (</a:t>
            </a:r>
            <a:r>
              <a:rPr lang="zh-TW" altLang="en-US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許哲睿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Date: </a:t>
            </a:r>
            <a:fld id="{3DC95CE2-72FD-4627-B4FE-7CBC89963158}" type="datetime1">
              <a:rPr lang="zh-TW" altLang="en-US" sz="2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2013/12/22</a:t>
            </a:fld>
            <a:endParaRPr lang="en-US" altLang="zh-TW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80000"/>
              </a:lnSpc>
              <a:buNone/>
            </a:pPr>
            <a:r>
              <a:rPr lang="en-US" altLang="zh-TW" sz="2100" dirty="0"/>
              <a:t>We have developed three computer </a:t>
            </a:r>
            <a:r>
              <a:rPr lang="en-US" altLang="zh-TW" sz="2100" dirty="0" smtClean="0"/>
              <a:t>programs for </a:t>
            </a:r>
            <a:r>
              <a:rPr lang="en-US" altLang="zh-TW" sz="2100" dirty="0"/>
              <a:t>comparisons of protein and DNA sequences. </a:t>
            </a:r>
            <a:r>
              <a:rPr lang="en-US" altLang="zh-TW" sz="2100" dirty="0" smtClean="0"/>
              <a:t>They can </a:t>
            </a:r>
            <a:r>
              <a:rPr lang="en-US" altLang="zh-TW" sz="2100" dirty="0"/>
              <a:t>be used to search sequence data bases, evaluate </a:t>
            </a:r>
            <a:r>
              <a:rPr lang="en-US" altLang="zh-TW" sz="2100" dirty="0" smtClean="0"/>
              <a:t>similarity scores</a:t>
            </a:r>
            <a:r>
              <a:rPr lang="en-US" altLang="zh-TW" sz="2100" dirty="0"/>
              <a:t>, and identify periodic structures based on local </a:t>
            </a:r>
            <a:r>
              <a:rPr lang="en-US" altLang="zh-TW" sz="2100" dirty="0" smtClean="0"/>
              <a:t>sequence similarity</a:t>
            </a:r>
            <a:r>
              <a:rPr lang="en-US" altLang="zh-TW" sz="2100" dirty="0"/>
              <a:t>. The FASTA program is a more </a:t>
            </a:r>
            <a:r>
              <a:rPr lang="en-US" altLang="zh-TW" sz="2100" dirty="0" smtClean="0"/>
              <a:t>sensitive derivative </a:t>
            </a:r>
            <a:r>
              <a:rPr lang="en-US" altLang="zh-TW" sz="2100" dirty="0"/>
              <a:t>of the FASTP program, which can be used to </a:t>
            </a:r>
            <a:r>
              <a:rPr lang="en-US" altLang="zh-TW" sz="2100" dirty="0" smtClean="0"/>
              <a:t>search protein </a:t>
            </a:r>
            <a:r>
              <a:rPr lang="en-US" altLang="zh-TW" sz="2100" dirty="0"/>
              <a:t>or DNA sequence data bases and can compare </a:t>
            </a:r>
            <a:r>
              <a:rPr lang="en-US" altLang="zh-TW" sz="2100" dirty="0" smtClean="0"/>
              <a:t>a protein </a:t>
            </a:r>
            <a:r>
              <a:rPr lang="en-US" altLang="zh-TW" sz="2100" dirty="0"/>
              <a:t>sequence to a DNA sequence data base by </a:t>
            </a:r>
            <a:r>
              <a:rPr lang="en-US" altLang="zh-TW" sz="2100" dirty="0" smtClean="0"/>
              <a:t>translating the </a:t>
            </a:r>
            <a:r>
              <a:rPr lang="en-US" altLang="zh-TW" sz="2100" dirty="0"/>
              <a:t>DNA data base as it is searched. FASTA includes </a:t>
            </a:r>
            <a:r>
              <a:rPr lang="en-US" altLang="zh-TW" sz="2100" dirty="0" smtClean="0"/>
              <a:t>an additional </a:t>
            </a:r>
            <a:r>
              <a:rPr lang="en-US" altLang="zh-TW" sz="2100" dirty="0"/>
              <a:t>step in the calculation of the initial pairwise </a:t>
            </a:r>
            <a:r>
              <a:rPr lang="en-US" altLang="zh-TW" sz="2100" dirty="0" smtClean="0"/>
              <a:t>similarity score </a:t>
            </a:r>
            <a:r>
              <a:rPr lang="en-US" altLang="zh-TW" sz="2100" dirty="0"/>
              <a:t>that allows multiple regions of similarity to </a:t>
            </a:r>
            <a:r>
              <a:rPr lang="en-US" altLang="zh-TW" sz="2100" dirty="0" smtClean="0"/>
              <a:t>be joined </a:t>
            </a:r>
            <a:r>
              <a:rPr lang="en-US" altLang="zh-TW" sz="2100" dirty="0"/>
              <a:t>to increase the score of related sequences. The </a:t>
            </a:r>
            <a:r>
              <a:rPr lang="en-US" altLang="zh-TW" sz="2100" dirty="0" smtClean="0"/>
              <a:t>RDF2 program </a:t>
            </a:r>
            <a:r>
              <a:rPr lang="en-US" altLang="zh-TW" sz="2100" dirty="0"/>
              <a:t>can be used to evaluate the significance of </a:t>
            </a:r>
            <a:r>
              <a:rPr lang="en-US" altLang="zh-TW" sz="2100" dirty="0" smtClean="0"/>
              <a:t>similarity scores </a:t>
            </a:r>
            <a:r>
              <a:rPr lang="en-US" altLang="zh-TW" sz="2100" dirty="0"/>
              <a:t>using a shuffling method that preserves local </a:t>
            </a:r>
            <a:r>
              <a:rPr lang="en-US" altLang="zh-TW" sz="2100" dirty="0" smtClean="0"/>
              <a:t>sequence composition</a:t>
            </a:r>
            <a:r>
              <a:rPr lang="en-US" altLang="zh-TW" sz="2100" dirty="0"/>
              <a:t>. The LFASTA program can display all the </a:t>
            </a:r>
            <a:r>
              <a:rPr lang="en-US" altLang="zh-TW" sz="2100" dirty="0" smtClean="0"/>
              <a:t>regions of </a:t>
            </a:r>
            <a:r>
              <a:rPr lang="en-US" altLang="zh-TW" sz="2100" dirty="0"/>
              <a:t>local similarity between two sequences with </a:t>
            </a:r>
            <a:r>
              <a:rPr lang="en-US" altLang="zh-TW" sz="2100" dirty="0" smtClean="0"/>
              <a:t>scores greater </a:t>
            </a:r>
            <a:r>
              <a:rPr lang="en-US" altLang="zh-TW" sz="2100" dirty="0"/>
              <a:t>than a threshold, using the same scoring </a:t>
            </a:r>
            <a:r>
              <a:rPr lang="en-US" altLang="zh-TW" sz="2100" dirty="0" smtClean="0"/>
              <a:t>parameters and </a:t>
            </a:r>
            <a:r>
              <a:rPr lang="en-US" altLang="zh-TW" sz="2100" dirty="0"/>
              <a:t>a similar alignment algorithm; these local similarities </a:t>
            </a:r>
            <a:r>
              <a:rPr lang="en-US" altLang="zh-TW" sz="2100" dirty="0" smtClean="0"/>
              <a:t>can be </a:t>
            </a:r>
            <a:r>
              <a:rPr lang="en-US" altLang="zh-TW" sz="2100" dirty="0"/>
              <a:t>displayed as a "graphic matrix" plot or as </a:t>
            </a:r>
            <a:r>
              <a:rPr lang="en-US" altLang="zh-TW" sz="2100" dirty="0" smtClean="0"/>
              <a:t>individual alignments</a:t>
            </a:r>
            <a:r>
              <a:rPr lang="en-US" altLang="zh-TW" sz="2100" dirty="0"/>
              <a:t>. In addition, these programs have been </a:t>
            </a:r>
            <a:r>
              <a:rPr lang="en-US" altLang="zh-TW" sz="2100" dirty="0" smtClean="0"/>
              <a:t>generalized to </a:t>
            </a:r>
            <a:r>
              <a:rPr lang="en-US" altLang="zh-TW" sz="2100" dirty="0"/>
              <a:t>allow comparison of DNA or protein sequences based on </a:t>
            </a:r>
            <a:r>
              <a:rPr lang="en-US" altLang="zh-TW" sz="2100" dirty="0" smtClean="0"/>
              <a:t>a variety </a:t>
            </a:r>
            <a:r>
              <a:rPr lang="en-US" altLang="zh-TW" sz="2100" dirty="0"/>
              <a:t>of alternative scoring matrices.</a:t>
            </a:r>
            <a:endParaRPr lang="en-US" altLang="zh-TW" sz="21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41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00" y="278851"/>
            <a:ext cx="4492800" cy="62282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48200" y="274638"/>
            <a:ext cx="4038600" cy="1143000"/>
          </a:xfrm>
        </p:spPr>
        <p:txBody>
          <a:bodyPr/>
          <a:lstStyle/>
          <a:p>
            <a:r>
              <a:rPr lang="en-US" altLang="zh-TW" dirty="0" smtClean="0"/>
              <a:t>FASTA (1/5)</a:t>
            </a:r>
            <a:endParaRPr lang="zh-TW" altLang="en-US" dirty="0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Identify common k-words between I and J</a:t>
            </a:r>
          </a:p>
          <a:p>
            <a:r>
              <a:rPr lang="en-US" altLang="zh-TW" dirty="0"/>
              <a:t>Score diagonals with k-word matches, identify 10 best diagonals</a:t>
            </a:r>
          </a:p>
          <a:p>
            <a:r>
              <a:rPr lang="en-US" altLang="zh-TW" dirty="0"/>
              <a:t>Rescore initial regions with a substitution score matrix</a:t>
            </a:r>
          </a:p>
          <a:p>
            <a:r>
              <a:rPr lang="en-US" altLang="zh-TW" dirty="0"/>
              <a:t>Join initial regions using gaps, </a:t>
            </a:r>
            <a:r>
              <a:rPr lang="en-US" altLang="zh-TW" dirty="0" err="1"/>
              <a:t>penalise</a:t>
            </a:r>
            <a:r>
              <a:rPr lang="en-US" altLang="zh-TW" dirty="0"/>
              <a:t> for gaps</a:t>
            </a:r>
          </a:p>
          <a:p>
            <a:r>
              <a:rPr lang="en-US" altLang="zh-TW" dirty="0"/>
              <a:t>Perform dynamic programming to find final </a:t>
            </a:r>
            <a:r>
              <a:rPr lang="en-US" altLang="zh-TW" dirty="0" smtClean="0"/>
              <a:t>alignments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459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FASTA </a:t>
            </a:r>
            <a:r>
              <a:rPr lang="en-US" altLang="zh-TW" dirty="0" smtClean="0"/>
              <a:t>(2/5)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0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𝑔𝑐𝑎𝑡𝑐𝑔𝑔𝑐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0" dirty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𝑐𝑐𝑎𝑡𝑐𝑔𝑐𝑐𝑎𝑡𝑐𝑔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zh-TW" b="0" dirty="0" smtClean="0"/>
              </a:p>
            </p:txBody>
          </p:sp>
        </mc:Choice>
        <mc:Fallback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896226"/>
              </p:ext>
            </p:extLst>
          </p:nvPr>
        </p:nvGraphicFramePr>
        <p:xfrm>
          <a:off x="251520" y="2276869"/>
          <a:ext cx="856895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150"/>
                <a:gridCol w="659150"/>
                <a:gridCol w="659150"/>
                <a:gridCol w="659150"/>
                <a:gridCol w="659150"/>
                <a:gridCol w="659150"/>
                <a:gridCol w="659150"/>
                <a:gridCol w="659150"/>
                <a:gridCol w="659150"/>
                <a:gridCol w="659150"/>
                <a:gridCol w="659150"/>
                <a:gridCol w="659150"/>
                <a:gridCol w="659150"/>
              </a:tblGrid>
              <a:tr h="453276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0070C0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2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2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2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2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0070C0"/>
                          </a:solidFill>
                        </a:rPr>
                        <a:t>t</a:t>
                      </a:r>
                      <a:endParaRPr lang="zh-TW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0070C0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2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*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2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2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</a:t>
                      </a:r>
                      <a:endParaRPr lang="zh-TW" altLang="en-US" sz="2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2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26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FASTA </a:t>
            </a:r>
            <a:r>
              <a:rPr lang="en-US" altLang="zh-TW" dirty="0" smtClean="0"/>
              <a:t>(3/5)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6242554"/>
                  </p:ext>
                </p:extLst>
              </p:nvPr>
            </p:nvGraphicFramePr>
            <p:xfrm>
              <a:off x="251520" y="1254968"/>
              <a:ext cx="8568952" cy="5486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</a:tblGrid>
                  <a:tr h="453276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FF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3276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6242554"/>
                  </p:ext>
                </p:extLst>
              </p:nvPr>
            </p:nvGraphicFramePr>
            <p:xfrm>
              <a:off x="251520" y="1254968"/>
              <a:ext cx="8568952" cy="5486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  <a:gridCol w="612068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306000" t="-209333" b="-932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306000" t="-309333" b="-832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306000" t="-409333" b="-732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306000" t="-502632" b="-622368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306000" t="-610667" b="-5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*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306000" t="-710667" b="-4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7030A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206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C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FFFF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5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rgbClr val="00B0F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306000" t="-810667" b="-3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1000" t="-910667" r="-11050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98020" t="-910667" r="-994059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2000" t="-910667" r="-9040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97030" t="-910667" r="-79505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3000" t="-910667" r="-7030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703000" t="-910667" r="-6030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795050" t="-910667" r="-49703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904000" t="-910667" r="-4020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994059" t="-910667" r="-29802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105000" t="-910667" r="-20100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193069" t="-910667" r="-99010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306000" t="-910667" b="-2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99010" t="-1010667" r="-119306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1000" t="-1010667" r="-11050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98020" t="-1010667" r="-99405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2000" t="-1010667" r="-9040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97030" t="-1010667" r="-79505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3000" t="-1010667" r="-7030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703000" t="-1010667" r="-6030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795050" t="-1010667" r="-49703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904000" t="-1010667" r="-4020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994059" t="-1010667" r="-29802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105000" t="-1010667" r="-20100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193069" t="-1010667" r="-9901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826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FASTA </a:t>
            </a:r>
            <a:r>
              <a:rPr lang="en-US" altLang="zh-TW" dirty="0" smtClean="0"/>
              <a:t>(4/5)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𝑐𝑎𝑡𝑐𝑔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𝑐𝑎𝑡𝑐𝑔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TW" dirty="0" smtClean="0">
                    <a:solidFill>
                      <a:schemeClr val="tx1"/>
                    </a:solidFill>
                  </a:rPr>
                  <a:t>75%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identity,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four 2-word identity</a:t>
                </a:r>
              </a:p>
              <a:p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𝑔𝑐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𝑎𝑡𝑐𝑔</m:t>
                    </m:r>
                    <m:r>
                      <a:rPr lang="en-US" altLang="zh-TW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𝑐𝑎𝑡𝑐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</a:endParaRPr>
              </a:p>
              <a:p>
                <a:r>
                  <a:rPr lang="en-US" altLang="zh-TW" dirty="0" smtClean="0">
                    <a:solidFill>
                      <a:schemeClr val="tx1"/>
                    </a:solidFill>
                  </a:rPr>
                  <a:t>43%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identity,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one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2-word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identity</a:t>
                </a:r>
              </a:p>
              <a:p>
                <a:endParaRPr lang="en-US" altLang="zh-TW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b>
                    </m:sSub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𝑐𝑎𝑡𝑐𝑔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b>
                    </m:sSub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𝑐𝑎𝑡𝑐𝑔</m:t>
                    </m:r>
                  </m:oMath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TW" dirty="0" smtClean="0">
                    <a:solidFill>
                      <a:srgbClr val="7030A0"/>
                    </a:solidFill>
                  </a:rPr>
                  <a:t>83% </a:t>
                </a:r>
                <a:r>
                  <a:rPr lang="en-US" altLang="zh-TW" dirty="0">
                    <a:solidFill>
                      <a:srgbClr val="7030A0"/>
                    </a:solidFill>
                  </a:rPr>
                  <a:t>identity, </a:t>
                </a:r>
                <a:r>
                  <a:rPr lang="en-US" altLang="zh-TW" dirty="0">
                    <a:solidFill>
                      <a:srgbClr val="7030A0"/>
                    </a:solidFill>
                  </a:rPr>
                  <a:t>four 2-word </a:t>
                </a:r>
                <a:r>
                  <a:rPr lang="en-US" altLang="zh-TW" dirty="0" smtClean="0">
                    <a:solidFill>
                      <a:srgbClr val="7030A0"/>
                    </a:solidFill>
                  </a:rPr>
                  <a:t>identity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2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29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FASTA </a:t>
            </a:r>
            <a:r>
              <a:rPr lang="en-US" altLang="zh-TW" dirty="0" smtClean="0"/>
              <a:t>(5/5)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95668" y="1434305"/>
            <a:ext cx="8952664" cy="4857751"/>
            <a:chOff x="95668" y="1434305"/>
            <a:chExt cx="8952664" cy="4857751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68" y="1434305"/>
              <a:ext cx="4295566" cy="4857751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2766" y="1497805"/>
              <a:ext cx="4295566" cy="4743451"/>
            </a:xfrm>
            <a:prstGeom prst="rect">
              <a:avLst/>
            </a:prstGeom>
          </p:spPr>
        </p:pic>
        <p:sp>
          <p:nvSpPr>
            <p:cNvPr id="7" name="向右箭號 6"/>
            <p:cNvSpPr/>
            <p:nvPr/>
          </p:nvSpPr>
          <p:spPr>
            <a:xfrm>
              <a:off x="4283968" y="3717032"/>
              <a:ext cx="576064" cy="7200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895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355" y="1295399"/>
            <a:ext cx="5915289" cy="556260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Experiments (1/3)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60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Experiments (2/3)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049" y="1600200"/>
            <a:ext cx="5889901" cy="508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4" y="1600200"/>
            <a:ext cx="8834852" cy="457835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 </a:t>
            </a:r>
            <a:r>
              <a:rPr lang="en-US" altLang="zh-TW" dirty="0" smtClean="0"/>
              <a:t>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86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龍騰四海">
  <a:themeElements>
    <a:clrScheme name="龍騰四海">
      <a:dk1>
        <a:sysClr val="windowText" lastClr="000000"/>
      </a:dk1>
      <a:lt1>
        <a:sysClr val="window" lastClr="C7EDCC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TC104033925[[fn=小水滴]]</Template>
  <TotalTime>4935</TotalTime>
  <Words>441</Words>
  <Application>Microsoft Office PowerPoint</Application>
  <PresentationFormat>如螢幕大小 (4:3)</PresentationFormat>
  <Paragraphs>147</Paragraphs>
  <Slides>10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微軟正黑體</vt:lpstr>
      <vt:lpstr>新細明體</vt:lpstr>
      <vt:lpstr>Arial</vt:lpstr>
      <vt:lpstr>Calibri</vt:lpstr>
      <vt:lpstr>Cambria</vt:lpstr>
      <vt:lpstr>Cambria Math</vt:lpstr>
      <vt:lpstr>Maiandra GD</vt:lpstr>
      <vt:lpstr>Wingdings 2</vt:lpstr>
      <vt:lpstr>龍騰四海</vt:lpstr>
      <vt:lpstr>Improved tools for biological sequence comparison</vt:lpstr>
      <vt:lpstr>Abstract</vt:lpstr>
      <vt:lpstr>FASTA (1/5)</vt:lpstr>
      <vt:lpstr>FASTA (2/5)</vt:lpstr>
      <vt:lpstr>FASTA (3/5)</vt:lpstr>
      <vt:lpstr>FASTA (4/5)</vt:lpstr>
      <vt:lpstr>FASTA (5/5)</vt:lpstr>
      <vt:lpstr>Experiments (1/3)</vt:lpstr>
      <vt:lpstr>Experiments (2/3)</vt:lpstr>
      <vt:lpstr>Experiments (3/3)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861</cp:revision>
  <dcterms:created xsi:type="dcterms:W3CDTF">2012-09-09T09:37:21Z</dcterms:created>
  <dcterms:modified xsi:type="dcterms:W3CDTF">2013-12-23T09:37:01Z</dcterms:modified>
</cp:coreProperties>
</file>