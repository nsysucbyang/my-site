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042E3-4F68-460A-9A15-EE1AEB509013}" type="datetimeFigureOut">
              <a:rPr lang="zh-TW" altLang="en-US" smtClean="0"/>
              <a:pPr/>
              <a:t>2013/12/24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4ED3-2590-42BD-AAE5-E054E675448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45219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042E3-4F68-460A-9A15-EE1AEB509013}" type="datetimeFigureOut">
              <a:rPr lang="zh-TW" altLang="en-US" smtClean="0"/>
              <a:pPr/>
              <a:t>2013/12/24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4ED3-2590-42BD-AAE5-E054E675448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90260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042E3-4F68-460A-9A15-EE1AEB509013}" type="datetimeFigureOut">
              <a:rPr lang="zh-TW" altLang="en-US" smtClean="0"/>
              <a:pPr/>
              <a:t>2013/12/24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4ED3-2590-42BD-AAE5-E054E675448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87828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042E3-4F68-460A-9A15-EE1AEB509013}" type="datetimeFigureOut">
              <a:rPr lang="zh-TW" altLang="en-US" smtClean="0"/>
              <a:pPr/>
              <a:t>2013/12/24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4ED3-2590-42BD-AAE5-E054E675448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13460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042E3-4F68-460A-9A15-EE1AEB509013}" type="datetimeFigureOut">
              <a:rPr lang="zh-TW" altLang="en-US" smtClean="0"/>
              <a:pPr/>
              <a:t>2013/12/24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4ED3-2590-42BD-AAE5-E054E675448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34825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042E3-4F68-460A-9A15-EE1AEB509013}" type="datetimeFigureOut">
              <a:rPr lang="zh-TW" altLang="en-US" smtClean="0"/>
              <a:pPr/>
              <a:t>2013/12/24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4ED3-2590-42BD-AAE5-E054E675448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37390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042E3-4F68-460A-9A15-EE1AEB509013}" type="datetimeFigureOut">
              <a:rPr lang="zh-TW" altLang="en-US" smtClean="0"/>
              <a:pPr/>
              <a:t>2013/12/24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4ED3-2590-42BD-AAE5-E054E675448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90771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042E3-4F68-460A-9A15-EE1AEB509013}" type="datetimeFigureOut">
              <a:rPr lang="zh-TW" altLang="en-US" smtClean="0"/>
              <a:pPr/>
              <a:t>2013/12/24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4ED3-2590-42BD-AAE5-E054E675448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8645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042E3-4F68-460A-9A15-EE1AEB509013}" type="datetimeFigureOut">
              <a:rPr lang="zh-TW" altLang="en-US" smtClean="0"/>
              <a:pPr/>
              <a:t>2013/12/24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4ED3-2590-42BD-AAE5-E054E675448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6936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042E3-4F68-460A-9A15-EE1AEB509013}" type="datetimeFigureOut">
              <a:rPr lang="zh-TW" altLang="en-US" smtClean="0"/>
              <a:pPr/>
              <a:t>2013/12/24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4ED3-2590-42BD-AAE5-E054E675448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418231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042E3-4F68-460A-9A15-EE1AEB509013}" type="datetimeFigureOut">
              <a:rPr lang="zh-TW" altLang="en-US" smtClean="0"/>
              <a:pPr/>
              <a:t>2013/12/24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4ED3-2590-42BD-AAE5-E054E675448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322458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042E3-4F68-460A-9A15-EE1AEB509013}" type="datetimeFigureOut">
              <a:rPr lang="zh-TW" altLang="en-US" smtClean="0"/>
              <a:pPr/>
              <a:t>2013/12/24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3C4ED3-2590-42BD-AAE5-E054E675448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80696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The Complexity of Some Problems on Subsequences</a:t>
            </a:r>
            <a:br>
              <a:rPr lang="en-US" altLang="zh-TW" b="1" dirty="0"/>
            </a:br>
            <a:r>
              <a:rPr lang="en-US" altLang="zh-TW" b="1" dirty="0"/>
              <a:t>and Supersequences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478904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/>
              <a:t>DAVID MAIER</a:t>
            </a: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98867826"/>
              </p:ext>
            </p:extLst>
          </p:nvPr>
        </p:nvGraphicFramePr>
        <p:xfrm>
          <a:off x="2915816" y="4437112"/>
          <a:ext cx="3816424" cy="946785"/>
        </p:xfrm>
        <a:graphic>
          <a:graphicData uri="http://schemas.openxmlformats.org/drawingml/2006/table">
            <a:tbl>
              <a:tblPr/>
              <a:tblGrid>
                <a:gridCol w="3816424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Verdana"/>
                        </a:rPr>
                        <a:t>Journal of the ACM (</a:t>
                      </a:r>
                      <a:r>
                        <a:rPr lang="en-US" dirty="0" smtClean="0">
                          <a:effectLst/>
                          <a:latin typeface="Verdana"/>
                        </a:rPr>
                        <a:t>JACM)</a:t>
                      </a:r>
                      <a:endParaRPr lang="en-US" dirty="0">
                        <a:effectLst/>
                        <a:latin typeface="Verdana"/>
                      </a:endParaRPr>
                    </a:p>
                  </a:txBody>
                  <a:tcPr marL="95250" marR="9525" marT="9525" marB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Verdana"/>
                        </a:rPr>
                        <a:t>Volume 25 Issue 2, April 1978 </a:t>
                      </a:r>
                      <a:br>
                        <a:rPr lang="en-US" dirty="0">
                          <a:effectLst/>
                          <a:latin typeface="Verdana"/>
                        </a:rPr>
                      </a:br>
                      <a:r>
                        <a:rPr lang="en-US" dirty="0">
                          <a:effectLst/>
                          <a:latin typeface="Verdana"/>
                        </a:rPr>
                        <a:t>Pages 322-336 </a:t>
                      </a:r>
                    </a:p>
                  </a:txBody>
                  <a:tcPr marL="95250" marR="9525" marT="9525" marB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419872" y="5517232"/>
            <a:ext cx="2652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Presenter: </a:t>
            </a:r>
            <a:r>
              <a:rPr lang="en-US" altLang="zh-TW" dirty="0" smtClean="0"/>
              <a:t>C</a:t>
            </a:r>
            <a:r>
              <a:rPr lang="en-US" altLang="zh-TW" dirty="0" smtClean="0"/>
              <a:t>hun-</a:t>
            </a:r>
            <a:r>
              <a:rPr lang="en-US" altLang="zh-TW" dirty="0" smtClean="0"/>
              <a:t>Y</a:t>
            </a:r>
            <a:r>
              <a:rPr lang="en-US" altLang="zh-TW" dirty="0" smtClean="0"/>
              <a:t>i Fang</a:t>
            </a:r>
            <a:endParaRPr lang="en-US" altLang="zh-TW" dirty="0" smtClean="0"/>
          </a:p>
          <a:p>
            <a:r>
              <a:rPr lang="en-US" altLang="zh-TW" dirty="0" smtClean="0"/>
              <a:t>Date:2013.12.24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866622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The complexity of finding the Longest Common </a:t>
            </a:r>
            <a:r>
              <a:rPr lang="en-US" altLang="zh-TW" dirty="0" smtClean="0"/>
              <a:t>subsequence </a:t>
            </a:r>
            <a:r>
              <a:rPr lang="en-US" altLang="zh-TW" dirty="0"/>
              <a:t>(LCS) and the Shortest </a:t>
            </a:r>
            <a:r>
              <a:rPr lang="en-US" altLang="zh-TW" dirty="0" smtClean="0"/>
              <a:t>Common Supersequence </a:t>
            </a:r>
            <a:r>
              <a:rPr lang="en-US" altLang="zh-TW" dirty="0"/>
              <a:t>(SCS) of an </a:t>
            </a:r>
            <a:r>
              <a:rPr lang="en-US" altLang="zh-TW" dirty="0" smtClean="0"/>
              <a:t>arbitrary </a:t>
            </a:r>
            <a:r>
              <a:rPr lang="en-US" altLang="zh-TW" dirty="0"/>
              <a:t>number of sequences </a:t>
            </a:r>
            <a:r>
              <a:rPr lang="en-US" altLang="zh-TW" dirty="0" smtClean="0"/>
              <a:t>is considered. </a:t>
            </a:r>
          </a:p>
          <a:p>
            <a:r>
              <a:rPr lang="en-US" altLang="zh-TW" dirty="0" smtClean="0"/>
              <a:t>We </a:t>
            </a:r>
            <a:r>
              <a:rPr lang="en-US" altLang="zh-TW" dirty="0"/>
              <a:t>show that the yes/no version of </a:t>
            </a:r>
            <a:r>
              <a:rPr lang="en-US" altLang="zh-TW" dirty="0" smtClean="0"/>
              <a:t>the LCS </a:t>
            </a:r>
            <a:r>
              <a:rPr lang="en-US" altLang="zh-TW" dirty="0"/>
              <a:t>problem is NP-complete for sequences over an alphabet of size 2, and that the yes/no SCS problem </a:t>
            </a:r>
            <a:r>
              <a:rPr lang="en-US" altLang="zh-TW"/>
              <a:t>is </a:t>
            </a:r>
            <a:r>
              <a:rPr lang="en-US" altLang="zh-TW" smtClean="0"/>
              <a:t>NP-complete </a:t>
            </a:r>
            <a:r>
              <a:rPr lang="en-US" altLang="zh-TW" dirty="0" smtClean="0"/>
              <a:t>for </a:t>
            </a:r>
            <a:r>
              <a:rPr lang="en-US" altLang="zh-TW" dirty="0"/>
              <a:t>sequences over an alphabet of size </a:t>
            </a:r>
            <a:r>
              <a:rPr lang="en-US" altLang="zh-TW" dirty="0" smtClean="0"/>
              <a:t>5.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xmlns="" val="1722461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248" y="-13672"/>
            <a:ext cx="8229600" cy="1143000"/>
          </a:xfrm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altLang="zh-TW" b="1" dirty="0" smtClean="0"/>
              <a:t>NP-Completeness</a:t>
            </a:r>
            <a:endParaRPr lang="en-US" alt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09448" y="880075"/>
            <a:ext cx="4038600" cy="203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28248" y="2924944"/>
            <a:ext cx="80010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n-US" altLang="zh-TW" sz="2800" b="1" u="sng" dirty="0" smtClean="0">
                <a:solidFill>
                  <a:schemeClr val="hlink"/>
                </a:solidFill>
              </a:rPr>
              <a:t>P</a:t>
            </a:r>
            <a:r>
              <a:rPr lang="en-US" altLang="zh-TW" sz="2800" dirty="0" smtClean="0"/>
              <a:t>: the class of problems which can be solved by a deterministic </a:t>
            </a:r>
            <a:r>
              <a:rPr lang="en-US" altLang="zh-TW" sz="2800" u="sng" dirty="0" smtClean="0">
                <a:solidFill>
                  <a:schemeClr val="hlink"/>
                </a:solidFill>
              </a:rPr>
              <a:t>p</a:t>
            </a:r>
            <a:r>
              <a:rPr lang="en-US" altLang="zh-TW" sz="2800" dirty="0" smtClean="0"/>
              <a:t>olynomial algorithm.</a:t>
            </a:r>
          </a:p>
          <a:p>
            <a:pPr algn="just">
              <a:lnSpc>
                <a:spcPct val="90000"/>
              </a:lnSpc>
            </a:pPr>
            <a:r>
              <a:rPr lang="en-US" altLang="zh-TW" sz="2800" b="1" u="sng" dirty="0" smtClean="0">
                <a:solidFill>
                  <a:schemeClr val="hlink"/>
                </a:solidFill>
              </a:rPr>
              <a:t>NP</a:t>
            </a:r>
            <a:r>
              <a:rPr lang="en-US" altLang="zh-TW" sz="2800" b="1" dirty="0" smtClean="0">
                <a:latin typeface="Times New Roman" pitchFamily="18" charset="0"/>
              </a:rPr>
              <a:t> </a:t>
            </a:r>
            <a:r>
              <a:rPr lang="en-US" altLang="zh-TW" sz="2800" dirty="0" smtClean="0"/>
              <a:t>: the class of </a:t>
            </a:r>
            <a:r>
              <a:rPr lang="en-US" altLang="zh-TW" sz="2800" u="sng" dirty="0" smtClean="0">
                <a:solidFill>
                  <a:schemeClr val="hlink"/>
                </a:solidFill>
              </a:rPr>
              <a:t>decision problem</a:t>
            </a:r>
            <a:r>
              <a:rPr lang="en-US" altLang="zh-TW" sz="2800" dirty="0" smtClean="0"/>
              <a:t> which can be solved by a </a:t>
            </a:r>
            <a:r>
              <a:rPr lang="en-US" altLang="zh-TW" sz="2800" u="sng" dirty="0" smtClean="0">
                <a:solidFill>
                  <a:schemeClr val="hlink"/>
                </a:solidFill>
              </a:rPr>
              <a:t>n</a:t>
            </a:r>
            <a:r>
              <a:rPr lang="en-US" altLang="zh-TW" sz="2800" dirty="0" smtClean="0"/>
              <a:t>on-deterministic </a:t>
            </a:r>
            <a:r>
              <a:rPr lang="en-US" altLang="zh-TW" sz="2800" u="sng" dirty="0" smtClean="0">
                <a:solidFill>
                  <a:schemeClr val="hlink"/>
                </a:solidFill>
              </a:rPr>
              <a:t>p</a:t>
            </a:r>
            <a:r>
              <a:rPr lang="en-US" altLang="zh-TW" sz="2800" dirty="0" smtClean="0"/>
              <a:t>olynomial algorithm.</a:t>
            </a:r>
          </a:p>
          <a:p>
            <a:pPr algn="just">
              <a:lnSpc>
                <a:spcPct val="90000"/>
              </a:lnSpc>
            </a:pPr>
            <a:r>
              <a:rPr lang="en-US" altLang="zh-TW" sz="2800" b="1" u="sng" dirty="0" smtClean="0">
                <a:solidFill>
                  <a:schemeClr val="hlink"/>
                </a:solidFill>
              </a:rPr>
              <a:t>NP-hard</a:t>
            </a:r>
            <a:r>
              <a:rPr lang="en-US" altLang="zh-TW" sz="2800" dirty="0" smtClean="0"/>
              <a:t>: the class of problems to which every NP problem </a:t>
            </a:r>
            <a:r>
              <a:rPr lang="en-US" altLang="zh-TW" sz="2800" b="1" dirty="0" smtClean="0"/>
              <a:t>reduces</a:t>
            </a:r>
            <a:r>
              <a:rPr lang="en-US" altLang="zh-TW" sz="2800" dirty="0" smtClean="0"/>
              <a:t>.</a:t>
            </a:r>
            <a:endParaRPr lang="en-US" altLang="zh-TW" sz="2800" u="sng" dirty="0" smtClean="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TW" sz="2800" b="1" u="sng" dirty="0" smtClean="0">
                <a:solidFill>
                  <a:schemeClr val="hlink"/>
                </a:solidFill>
              </a:rPr>
              <a:t>NP-complete (NPC)</a:t>
            </a:r>
            <a:r>
              <a:rPr lang="en-US" altLang="zh-TW" sz="2800" dirty="0" smtClean="0"/>
              <a:t>: the class of problems which are NP-hard and belong to NP.</a:t>
            </a:r>
          </a:p>
          <a:p>
            <a:pPr>
              <a:lnSpc>
                <a:spcPct val="90000"/>
              </a:lnSpc>
            </a:pP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xmlns="" val="78149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Some concepts of NPC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Problem A </a:t>
            </a:r>
            <a:r>
              <a:rPr lang="en-US" altLang="zh-TW" u="sng" dirty="0" smtClean="0">
                <a:solidFill>
                  <a:schemeClr val="hlink"/>
                </a:solidFill>
              </a:rPr>
              <a:t>reduces to</a:t>
            </a:r>
            <a:r>
              <a:rPr lang="en-US" altLang="zh-TW" dirty="0" smtClean="0"/>
              <a:t> problem B (A </a:t>
            </a:r>
            <a:r>
              <a:rPr lang="en-US" altLang="zh-TW" dirty="0" smtClean="0">
                <a:latin typeface="新細明體" pitchFamily="18" charset="-120"/>
                <a:sym typeface="Symbol" pitchFamily="18" charset="2"/>
              </a:rPr>
              <a:t></a:t>
            </a:r>
            <a:r>
              <a:rPr lang="en-US" altLang="zh-TW" dirty="0" smtClean="0"/>
              <a:t> B) iff A can be solved by a </a:t>
            </a:r>
            <a:r>
              <a:rPr lang="en-US" altLang="zh-TW" u="sng" dirty="0" smtClean="0">
                <a:solidFill>
                  <a:schemeClr val="hlink"/>
                </a:solidFill>
              </a:rPr>
              <a:t>deterministic polynomial</a:t>
            </a:r>
            <a:r>
              <a:rPr lang="en-US" altLang="zh-TW" dirty="0" smtClean="0"/>
              <a:t> time algorithm using a deterministic algorithm that solves B in </a:t>
            </a:r>
            <a:r>
              <a:rPr lang="en-US" altLang="zh-TW" u="sng" dirty="0" smtClean="0">
                <a:solidFill>
                  <a:schemeClr val="hlink"/>
                </a:solidFill>
              </a:rPr>
              <a:t>polynomial</a:t>
            </a:r>
            <a:r>
              <a:rPr lang="en-US" altLang="zh-TW" u="sng" dirty="0" smtClean="0"/>
              <a:t> </a:t>
            </a:r>
            <a:r>
              <a:rPr lang="en-US" altLang="zh-TW" dirty="0" smtClean="0"/>
              <a:t>time.</a:t>
            </a:r>
          </a:p>
          <a:p>
            <a:r>
              <a:rPr lang="en-US" altLang="zh-TW" u="sng" dirty="0" smtClean="0">
                <a:solidFill>
                  <a:schemeClr val="hlink"/>
                </a:solidFill>
              </a:rPr>
              <a:t>If A, B </a:t>
            </a:r>
            <a:r>
              <a:rPr lang="en-US" altLang="zh-TW" u="sng" dirty="0" smtClean="0">
                <a:solidFill>
                  <a:schemeClr val="hlink"/>
                </a:solidFill>
                <a:latin typeface="新細明體" pitchFamily="18" charset="-120"/>
                <a:sym typeface="Symbol" pitchFamily="18" charset="2"/>
              </a:rPr>
              <a:t></a:t>
            </a:r>
            <a:r>
              <a:rPr lang="en-US" altLang="zh-TW" u="sng" dirty="0" smtClean="0">
                <a:solidFill>
                  <a:schemeClr val="hlink"/>
                </a:solidFill>
              </a:rPr>
              <a:t> NPC, then A </a:t>
            </a:r>
            <a:r>
              <a:rPr lang="en-US" altLang="zh-TW" u="sng" dirty="0" smtClean="0">
                <a:solidFill>
                  <a:schemeClr val="hlink"/>
                </a:solidFill>
                <a:latin typeface="新細明體" pitchFamily="18" charset="-120"/>
                <a:sym typeface="Symbol" pitchFamily="18" charset="2"/>
              </a:rPr>
              <a:t></a:t>
            </a:r>
            <a:r>
              <a:rPr lang="en-US" altLang="zh-TW" u="sng" dirty="0" smtClean="0">
                <a:solidFill>
                  <a:schemeClr val="hlink"/>
                </a:solidFill>
              </a:rPr>
              <a:t> B and B </a:t>
            </a:r>
            <a:r>
              <a:rPr lang="en-US" altLang="zh-TW" u="sng" dirty="0" smtClean="0">
                <a:solidFill>
                  <a:schemeClr val="hlink"/>
                </a:solidFill>
                <a:latin typeface="新細明體" pitchFamily="18" charset="-120"/>
                <a:sym typeface="Symbol" pitchFamily="18" charset="2"/>
              </a:rPr>
              <a:t></a:t>
            </a:r>
            <a:r>
              <a:rPr lang="en-US" altLang="zh-TW" u="sng" dirty="0" smtClean="0">
                <a:solidFill>
                  <a:schemeClr val="hlink"/>
                </a:solidFill>
              </a:rPr>
              <a:t> A</a:t>
            </a:r>
            <a:r>
              <a:rPr lang="en-US" altLang="zh-TW" dirty="0" smtClean="0"/>
              <a:t>.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890144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node cover problem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u="sng" dirty="0" smtClean="0"/>
              <a:t>Def</a:t>
            </a:r>
            <a:r>
              <a:rPr lang="en-US" altLang="zh-TW" dirty="0" smtClean="0"/>
              <a:t>: Given a graph G=(V, E), S is the </a:t>
            </a:r>
            <a:r>
              <a:rPr lang="en-US" altLang="zh-TW" u="sng" dirty="0" smtClean="0">
                <a:solidFill>
                  <a:schemeClr val="hlink"/>
                </a:solidFill>
              </a:rPr>
              <a:t>node cover</a:t>
            </a:r>
            <a:r>
              <a:rPr lang="en-US" altLang="zh-TW" dirty="0" smtClean="0"/>
              <a:t>  if S </a:t>
            </a:r>
            <a:r>
              <a:rPr lang="en-US" altLang="zh-TW" dirty="0" smtClean="0">
                <a:latin typeface="新細明體" pitchFamily="18" charset="-120"/>
                <a:sym typeface="Symbol" pitchFamily="18" charset="2"/>
              </a:rPr>
              <a:t></a:t>
            </a:r>
            <a:r>
              <a:rPr lang="en-US" altLang="zh-TW" dirty="0" smtClean="0"/>
              <a:t> V and for every edge (u, v) </a:t>
            </a:r>
            <a:r>
              <a:rPr lang="en-US" altLang="zh-TW" dirty="0" smtClean="0">
                <a:latin typeface="新細明體" pitchFamily="18" charset="-120"/>
                <a:sym typeface="Symbol" pitchFamily="18" charset="2"/>
              </a:rPr>
              <a:t></a:t>
            </a:r>
            <a:r>
              <a:rPr lang="en-US" altLang="zh-TW" dirty="0" smtClean="0"/>
              <a:t> E, either u </a:t>
            </a:r>
            <a:r>
              <a:rPr lang="en-US" altLang="zh-TW" dirty="0" smtClean="0">
                <a:latin typeface="新細明體" pitchFamily="18" charset="-120"/>
                <a:sym typeface="Symbol" pitchFamily="18" charset="2"/>
              </a:rPr>
              <a:t></a:t>
            </a:r>
            <a:r>
              <a:rPr lang="en-US" altLang="zh-TW" dirty="0" smtClean="0"/>
              <a:t> S or v </a:t>
            </a:r>
            <a:r>
              <a:rPr lang="en-US" altLang="zh-TW" dirty="0" smtClean="0">
                <a:latin typeface="新細明體" pitchFamily="18" charset="-120"/>
                <a:sym typeface="Symbol" pitchFamily="18" charset="2"/>
              </a:rPr>
              <a:t></a:t>
            </a:r>
            <a:r>
              <a:rPr lang="en-US" altLang="zh-TW" dirty="0" smtClean="0"/>
              <a:t> S.</a:t>
            </a:r>
          </a:p>
          <a:p>
            <a:endParaRPr lang="zh-TW" alt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352800"/>
            <a:ext cx="3429000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953000" y="3810000"/>
            <a:ext cx="3276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TW" sz="2400" dirty="0">
                <a:latin typeface="Times New Roman" pitchFamily="18" charset="0"/>
              </a:rPr>
              <a:t>node cover :</a:t>
            </a:r>
          </a:p>
          <a:p>
            <a:pPr eaLnBrk="0" hangingPunct="0"/>
            <a:r>
              <a:rPr lang="en-US" altLang="zh-TW" sz="2400" dirty="0">
                <a:latin typeface="Times New Roman" pitchFamily="18" charset="0"/>
              </a:rPr>
              <a:t>{1, 3}</a:t>
            </a:r>
          </a:p>
          <a:p>
            <a:pPr eaLnBrk="0" hangingPunct="0"/>
            <a:r>
              <a:rPr lang="en-US" altLang="zh-TW" sz="2400" dirty="0">
                <a:latin typeface="Times New Roman" pitchFamily="18" charset="0"/>
              </a:rPr>
              <a:t>{5, 2, 4} </a:t>
            </a:r>
          </a:p>
        </p:txBody>
      </p:sp>
    </p:spTree>
    <p:extLst>
      <p:ext uri="{BB962C8B-B14F-4D97-AF65-F5344CB8AC3E}">
        <p14:creationId xmlns:p14="http://schemas.microsoft.com/office/powerpoint/2010/main" xmlns="" val="955972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t:</a:t>
            </a:r>
            <a:r>
              <a:rPr lang="zh-TW" altLang="en-US" dirty="0" smtClean="0"/>
              <a:t>總點數</a:t>
            </a:r>
            <a:r>
              <a:rPr lang="en-US" altLang="zh-TW" dirty="0" smtClean="0"/>
              <a:t>//(v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,v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,....v</a:t>
            </a:r>
            <a:r>
              <a:rPr lang="en-US" altLang="zh-TW" baseline="-25000" dirty="0" smtClean="0"/>
              <a:t>t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k: size of node cover (node cover</a:t>
            </a:r>
            <a:r>
              <a:rPr lang="zh-TW" altLang="en-US" dirty="0" smtClean="0"/>
              <a:t>點數</a:t>
            </a:r>
            <a:r>
              <a:rPr lang="en-US" altLang="zh-TW" dirty="0" smtClean="0"/>
              <a:t>)</a:t>
            </a:r>
          </a:p>
          <a:p>
            <a:r>
              <a:rPr lang="en-US" altLang="zh-TW" dirty="0"/>
              <a:t>r</a:t>
            </a:r>
            <a:r>
              <a:rPr lang="en-US" altLang="zh-TW" dirty="0" smtClean="0"/>
              <a:t>:</a:t>
            </a:r>
            <a:r>
              <a:rPr lang="zh-TW" altLang="en-US" dirty="0" smtClean="0"/>
              <a:t>邊數</a:t>
            </a:r>
            <a:r>
              <a:rPr lang="en-US" altLang="zh-TW" dirty="0" smtClean="0"/>
              <a:t>=node cover</a:t>
            </a:r>
            <a:r>
              <a:rPr lang="zh-TW" altLang="en-US" dirty="0" smtClean="0"/>
              <a:t>邊數</a:t>
            </a:r>
            <a:endParaRPr lang="en-US" altLang="zh-TW" dirty="0" smtClean="0"/>
          </a:p>
          <a:p>
            <a:r>
              <a:rPr lang="en-US" altLang="zh-TW" dirty="0" smtClean="0"/>
              <a:t>Node cover</a:t>
            </a:r>
            <a:r>
              <a:rPr lang="zh-TW" altLang="en-US" dirty="0" smtClean="0"/>
              <a:t>問題可表示成</a:t>
            </a:r>
            <a:endParaRPr lang="en-US" altLang="zh-TW" dirty="0" smtClean="0"/>
          </a:p>
          <a:p>
            <a:pPr lvl="1"/>
            <a:r>
              <a:rPr lang="en-US" altLang="zh-TW" dirty="0"/>
              <a:t>k</a:t>
            </a:r>
            <a:r>
              <a:rPr lang="en-US" altLang="zh-TW" dirty="0" smtClean="0"/>
              <a:t>;( x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y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);( x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 y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);...;( x</a:t>
            </a:r>
            <a:r>
              <a:rPr lang="en-US" altLang="zh-TW" baseline="-25000" dirty="0" smtClean="0"/>
              <a:t>r</a:t>
            </a:r>
            <a:r>
              <a:rPr lang="en-US" altLang="zh-TW" dirty="0" smtClean="0"/>
              <a:t>, y</a:t>
            </a:r>
            <a:r>
              <a:rPr lang="en-US" altLang="zh-TW" baseline="-25000" dirty="0" smtClean="0"/>
              <a:t>r</a:t>
            </a:r>
            <a:r>
              <a:rPr lang="en-US" altLang="zh-TW" dirty="0" smtClean="0"/>
              <a:t> )    //x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,y</a:t>
            </a:r>
            <a:r>
              <a:rPr lang="en-US" altLang="zh-TW" baseline="-25000" dirty="0" smtClean="0"/>
              <a:t>i  </a:t>
            </a:r>
            <a:r>
              <a:rPr lang="en-US" altLang="zh-TW" dirty="0" smtClean="0"/>
              <a:t> belong to t</a:t>
            </a:r>
          </a:p>
          <a:p>
            <a:r>
              <a:rPr lang="en-US" altLang="zh-TW" dirty="0" smtClean="0"/>
              <a:t>R:</a:t>
            </a:r>
            <a:r>
              <a:rPr lang="zh-TW" altLang="en-US" dirty="0" smtClean="0"/>
              <a:t>欲求的 </a:t>
            </a:r>
            <a:r>
              <a:rPr lang="en-US" altLang="zh-TW" dirty="0" smtClean="0"/>
              <a:t>LCS, SCS </a:t>
            </a:r>
            <a:r>
              <a:rPr lang="zh-TW" altLang="en-US" dirty="0" smtClean="0"/>
              <a:t>的集合</a:t>
            </a:r>
            <a:r>
              <a:rPr lang="en-US" altLang="zh-TW" dirty="0" smtClean="0"/>
              <a:t> </a:t>
            </a:r>
            <a:r>
              <a:rPr lang="en-US" altLang="zh-TW" baseline="-25000" dirty="0" smtClean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406462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568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Thread scheme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LCS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SCS</a:t>
            </a:r>
          </a:p>
          <a:p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在同一列中不會有</a:t>
            </a:r>
            <a:r>
              <a:rPr lang="en-US" altLang="zh-TW" dirty="0"/>
              <a:t>thread</a:t>
            </a:r>
            <a:r>
              <a:rPr lang="zh-TW" altLang="en-US" dirty="0"/>
              <a:t>同時穿過兩個字</a:t>
            </a:r>
            <a:r>
              <a:rPr lang="zh-TW" altLang="en-US" dirty="0" smtClean="0"/>
              <a:t>元。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threads</a:t>
            </a:r>
            <a:r>
              <a:rPr lang="zh-TW" altLang="en-US" dirty="0" smtClean="0"/>
              <a:t>之間彼此不會交叉。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79712" y="996899"/>
            <a:ext cx="3084155" cy="1717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00109" y="2996952"/>
            <a:ext cx="3454741" cy="1579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75598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i="1" dirty="0"/>
              <a:t>The LCS problem </a:t>
            </a:r>
            <a:r>
              <a:rPr lang="en-US" altLang="zh-TW" i="1" dirty="0" smtClean="0"/>
              <a:t>is </a:t>
            </a:r>
            <a:r>
              <a:rPr lang="en-US" altLang="zh-TW" i="1" dirty="0"/>
              <a:t>NP-complete for </a:t>
            </a:r>
            <a:r>
              <a:rPr lang="en-US" altLang="zh-TW" i="1" dirty="0" smtClean="0"/>
              <a:t> arbitrary size of R.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node cover problem </a:t>
            </a:r>
            <a:r>
              <a:rPr lang="en-US" altLang="zh-TW" dirty="0" smtClean="0"/>
              <a:t> of size k.                      k;( x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y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);( x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 y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);...;( x</a:t>
            </a:r>
            <a:r>
              <a:rPr lang="en-US" altLang="zh-TW" baseline="-25000" dirty="0" smtClean="0"/>
              <a:t>r</a:t>
            </a:r>
            <a:r>
              <a:rPr lang="en-US" altLang="zh-TW" dirty="0" smtClean="0"/>
              <a:t>, y</a:t>
            </a:r>
            <a:r>
              <a:rPr lang="en-US" altLang="zh-TW" baseline="-25000" dirty="0" smtClean="0"/>
              <a:t>r</a:t>
            </a:r>
            <a:r>
              <a:rPr lang="en-US" altLang="zh-TW" dirty="0" smtClean="0"/>
              <a:t> )</a:t>
            </a:r>
          </a:p>
          <a:p>
            <a:r>
              <a:rPr lang="en-US" altLang="zh-TW" i="1" dirty="0" smtClean="0"/>
              <a:t>R </a:t>
            </a:r>
            <a:r>
              <a:rPr lang="en-US" altLang="zh-TW" i="1" dirty="0"/>
              <a:t>= {T, </a:t>
            </a:r>
            <a:r>
              <a:rPr lang="en-US" altLang="zh-TW" i="1" dirty="0" smtClean="0"/>
              <a:t>s</a:t>
            </a:r>
            <a:r>
              <a:rPr lang="en-US" altLang="zh-TW" i="1" baseline="-25000" dirty="0" smtClean="0"/>
              <a:t>1 </a:t>
            </a:r>
            <a:r>
              <a:rPr lang="en-US" altLang="zh-TW" i="1" dirty="0" smtClean="0"/>
              <a:t>, s</a:t>
            </a:r>
            <a:r>
              <a:rPr lang="en-US" altLang="zh-TW" i="1" baseline="-25000" dirty="0" smtClean="0"/>
              <a:t>2 </a:t>
            </a:r>
            <a:r>
              <a:rPr lang="en-US" altLang="zh-TW" i="1" dirty="0" smtClean="0"/>
              <a:t>, ...., s</a:t>
            </a:r>
            <a:r>
              <a:rPr lang="en-US" altLang="zh-TW" i="1" baseline="-25000" dirty="0" smtClean="0"/>
              <a:t>t</a:t>
            </a:r>
            <a:r>
              <a:rPr lang="en-US" altLang="zh-TW" i="1" dirty="0"/>
              <a:t>} has a common subsequence of size t - k.</a:t>
            </a:r>
            <a:endParaRPr lang="en-US" altLang="zh-TW" dirty="0" smtClean="0"/>
          </a:p>
          <a:p>
            <a:r>
              <a:rPr lang="en-US" altLang="zh-TW" dirty="0" smtClean="0"/>
              <a:t> 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6888" y="3861048"/>
            <a:ext cx="7597350" cy="2701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023469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741368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t = 4 ,r = 6, k = 3</a:t>
            </a:r>
          </a:p>
          <a:p>
            <a:r>
              <a:rPr lang="en-US" altLang="zh-TW" dirty="0" smtClean="0"/>
              <a:t>V = {v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v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 v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, v</a:t>
            </a:r>
            <a:r>
              <a:rPr lang="en-US" altLang="zh-TW" baseline="-25000" dirty="0" smtClean="0"/>
              <a:t>4</a:t>
            </a:r>
            <a:r>
              <a:rPr lang="en-US" altLang="zh-TW" dirty="0" smtClean="0"/>
              <a:t>}; V’ = {v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v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 v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T: v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4</a:t>
            </a:r>
            <a:r>
              <a:rPr lang="en-US" altLang="zh-TW" dirty="0" smtClean="0"/>
              <a:t> ; T’:v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 </a:t>
            </a:r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:v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4</a:t>
            </a:r>
            <a:r>
              <a:rPr lang="en-US" altLang="zh-TW" dirty="0" smtClean="0"/>
              <a:t> </a:t>
            </a:r>
            <a:r>
              <a:rPr lang="zh-TW" altLang="en-US" dirty="0" smtClean="0"/>
              <a:t> 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4</a:t>
            </a:r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:v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4</a:t>
            </a:r>
            <a:r>
              <a:rPr lang="en-US" altLang="zh-TW" dirty="0" smtClean="0"/>
              <a:t> </a:t>
            </a:r>
            <a:r>
              <a:rPr lang="zh-TW" altLang="en-US" dirty="0" smtClean="0"/>
              <a:t> 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4</a:t>
            </a:r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:v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4</a:t>
            </a:r>
            <a:r>
              <a:rPr lang="en-US" altLang="zh-TW" dirty="0" smtClean="0"/>
              <a:t> </a:t>
            </a:r>
            <a:r>
              <a:rPr lang="zh-TW" altLang="en-US" dirty="0" smtClean="0"/>
              <a:t> 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3</a:t>
            </a:r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4</a:t>
            </a:r>
            <a:r>
              <a:rPr lang="en-US" altLang="zh-TW" dirty="0" smtClean="0"/>
              <a:t>:v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4</a:t>
            </a:r>
            <a:r>
              <a:rPr lang="en-US" altLang="zh-TW" dirty="0" smtClean="0"/>
              <a:t> </a:t>
            </a:r>
            <a:r>
              <a:rPr lang="zh-TW" altLang="en-US" dirty="0" smtClean="0"/>
              <a:t> 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4</a:t>
            </a:r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5</a:t>
            </a:r>
            <a:r>
              <a:rPr lang="en-US" altLang="zh-TW" dirty="0" smtClean="0"/>
              <a:t>:v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4</a:t>
            </a:r>
            <a:r>
              <a:rPr lang="en-US" altLang="zh-TW" dirty="0" smtClean="0"/>
              <a:t> </a:t>
            </a:r>
            <a:r>
              <a:rPr lang="zh-TW" altLang="en-US" dirty="0" smtClean="0"/>
              <a:t> 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3</a:t>
            </a:r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6</a:t>
            </a:r>
            <a:r>
              <a:rPr lang="en-US" altLang="zh-TW" dirty="0" smtClean="0"/>
              <a:t>:v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4</a:t>
            </a:r>
            <a:r>
              <a:rPr lang="en-US" altLang="zh-TW" dirty="0" smtClean="0"/>
              <a:t> </a:t>
            </a:r>
            <a:r>
              <a:rPr lang="zh-TW" altLang="en-US" dirty="0" smtClean="0"/>
              <a:t> 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3</a:t>
            </a:r>
          </a:p>
          <a:p>
            <a:r>
              <a:rPr lang="en-US" altLang="zh-TW" dirty="0" smtClean="0"/>
              <a:t>T’is the LCS for R with size t-k = 1</a:t>
            </a:r>
            <a:endParaRPr lang="zh-TW" altLang="en-US" dirty="0"/>
          </a:p>
        </p:txBody>
      </p:sp>
      <p:grpSp>
        <p:nvGrpSpPr>
          <p:cNvPr id="23" name="群組 22"/>
          <p:cNvGrpSpPr/>
          <p:nvPr/>
        </p:nvGrpSpPr>
        <p:grpSpPr>
          <a:xfrm>
            <a:off x="4932040" y="2913029"/>
            <a:ext cx="3015952" cy="1800200"/>
            <a:chOff x="1124000" y="260648"/>
            <a:chExt cx="1503784" cy="1152168"/>
          </a:xfrm>
        </p:grpSpPr>
        <p:sp>
          <p:nvSpPr>
            <p:cNvPr id="4" name="橢圓 3"/>
            <p:cNvSpPr/>
            <p:nvPr/>
          </p:nvSpPr>
          <p:spPr>
            <a:xfrm>
              <a:off x="1140808" y="260648"/>
              <a:ext cx="288032" cy="288032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v1</a:t>
              </a:r>
              <a:endParaRPr lang="zh-TW" altLang="en-US" dirty="0"/>
            </a:p>
          </p:txBody>
        </p:sp>
        <p:sp>
          <p:nvSpPr>
            <p:cNvPr id="5" name="橢圓 4"/>
            <p:cNvSpPr/>
            <p:nvPr/>
          </p:nvSpPr>
          <p:spPr>
            <a:xfrm>
              <a:off x="2339752" y="260648"/>
              <a:ext cx="288032" cy="288032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v2</a:t>
              </a:r>
              <a:endParaRPr lang="zh-TW" altLang="en-US" dirty="0"/>
            </a:p>
          </p:txBody>
        </p:sp>
        <p:sp>
          <p:nvSpPr>
            <p:cNvPr id="6" name="橢圓 5"/>
            <p:cNvSpPr/>
            <p:nvPr/>
          </p:nvSpPr>
          <p:spPr>
            <a:xfrm>
              <a:off x="1124000" y="1124744"/>
              <a:ext cx="288032" cy="288032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v4</a:t>
              </a:r>
              <a:endParaRPr lang="zh-TW" altLang="en-US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2339752" y="1124784"/>
              <a:ext cx="288032" cy="288032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v3</a:t>
              </a:r>
              <a:endParaRPr lang="zh-TW" altLang="en-US" dirty="0"/>
            </a:p>
          </p:txBody>
        </p:sp>
        <p:cxnSp>
          <p:nvCxnSpPr>
            <p:cNvPr id="9" name="直線接點 8"/>
            <p:cNvCxnSpPr>
              <a:stCxn id="4" idx="5"/>
              <a:endCxn id="7" idx="1"/>
            </p:cNvCxnSpPr>
            <p:nvPr/>
          </p:nvCxnSpPr>
          <p:spPr>
            <a:xfrm>
              <a:off x="1386659" y="506499"/>
              <a:ext cx="995274" cy="6604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>
              <a:endCxn id="5" idx="2"/>
            </p:cNvCxnSpPr>
            <p:nvPr/>
          </p:nvCxnSpPr>
          <p:spPr>
            <a:xfrm>
              <a:off x="1428840" y="404664"/>
              <a:ext cx="9109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>
              <a:stCxn id="5" idx="4"/>
              <a:endCxn id="7" idx="0"/>
            </p:cNvCxnSpPr>
            <p:nvPr/>
          </p:nvCxnSpPr>
          <p:spPr>
            <a:xfrm>
              <a:off x="2483768" y="548680"/>
              <a:ext cx="0" cy="5761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>
              <a:stCxn id="6" idx="6"/>
              <a:endCxn id="7" idx="2"/>
            </p:cNvCxnSpPr>
            <p:nvPr/>
          </p:nvCxnSpPr>
          <p:spPr>
            <a:xfrm>
              <a:off x="1412032" y="1268760"/>
              <a:ext cx="927720" cy="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>
              <a:stCxn id="4" idx="4"/>
              <a:endCxn id="6" idx="0"/>
            </p:cNvCxnSpPr>
            <p:nvPr/>
          </p:nvCxnSpPr>
          <p:spPr>
            <a:xfrm flipH="1">
              <a:off x="1268016" y="548680"/>
              <a:ext cx="16808" cy="5760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>
              <a:stCxn id="5" idx="3"/>
              <a:endCxn id="6" idx="7"/>
            </p:cNvCxnSpPr>
            <p:nvPr/>
          </p:nvCxnSpPr>
          <p:spPr>
            <a:xfrm flipH="1">
              <a:off x="1369851" y="506499"/>
              <a:ext cx="1012082" cy="6604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636516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i="1" dirty="0"/>
              <a:t>The </a:t>
            </a:r>
            <a:r>
              <a:rPr lang="en-US" altLang="zh-TW" i="1" dirty="0" smtClean="0"/>
              <a:t>LCS problem </a:t>
            </a:r>
            <a:r>
              <a:rPr lang="en-US" altLang="zh-TW" i="1" dirty="0"/>
              <a:t>is </a:t>
            </a:r>
            <a:r>
              <a:rPr lang="en-US" altLang="zh-TW" i="1" dirty="0" smtClean="0"/>
              <a:t>NP-complete for </a:t>
            </a:r>
            <a:br>
              <a:rPr lang="en-US" altLang="zh-TW" i="1" dirty="0" smtClean="0"/>
            </a:br>
            <a:r>
              <a:rPr lang="en-US" altLang="zh-TW" dirty="0" smtClean="0"/>
              <a:t>I</a:t>
            </a:r>
            <a:r>
              <a:rPr lang="en-US" altLang="zh-TW" i="1" dirty="0" smtClean="0"/>
              <a:t>R</a:t>
            </a:r>
            <a:r>
              <a:rPr lang="en-US" altLang="zh-TW" dirty="0" smtClean="0"/>
              <a:t>I </a:t>
            </a:r>
            <a:r>
              <a:rPr lang="en-US" altLang="zh-TW" dirty="0"/>
              <a:t>= 3.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r>
              <a:rPr lang="en-US" altLang="zh-TW" dirty="0" smtClean="0"/>
              <a:t>node cover </a:t>
            </a:r>
            <a:r>
              <a:rPr lang="en-US" altLang="zh-TW" i="1" dirty="0"/>
              <a:t>of size k </a:t>
            </a:r>
            <a:endParaRPr lang="en-US" altLang="zh-TW" i="1" dirty="0" smtClean="0"/>
          </a:p>
          <a:p>
            <a:r>
              <a:rPr lang="en-US" altLang="zh-TW" i="1" dirty="0" smtClean="0"/>
              <a:t>R = {T, s</a:t>
            </a:r>
            <a:r>
              <a:rPr lang="en-US" altLang="zh-TW" i="1" baseline="-25000" dirty="0" smtClean="0"/>
              <a:t>1 </a:t>
            </a:r>
            <a:r>
              <a:rPr lang="en-US" altLang="zh-TW" i="1" dirty="0" smtClean="0"/>
              <a:t>, s</a:t>
            </a:r>
            <a:r>
              <a:rPr lang="en-US" altLang="zh-TW" i="1" baseline="-25000" dirty="0" smtClean="0"/>
              <a:t>2 </a:t>
            </a:r>
            <a:r>
              <a:rPr lang="en-US" altLang="zh-TW" i="1" dirty="0" smtClean="0"/>
              <a:t>, ...., s</a:t>
            </a:r>
            <a:r>
              <a:rPr lang="en-US" altLang="zh-TW" i="1" baseline="-25000" dirty="0" smtClean="0"/>
              <a:t>t</a:t>
            </a:r>
            <a:r>
              <a:rPr lang="en-US" altLang="zh-TW" i="1" dirty="0" smtClean="0"/>
              <a:t>} has a common subsequence of size</a:t>
            </a:r>
            <a:r>
              <a:rPr lang="en-US" altLang="zh-TW" dirty="0"/>
              <a:t> (2r + t + 3)(4r + </a:t>
            </a:r>
            <a:r>
              <a:rPr lang="en-US" altLang="zh-TW" dirty="0" smtClean="0"/>
              <a:t>2t)+ </a:t>
            </a:r>
            <a:r>
              <a:rPr lang="en-US" altLang="zh-TW" dirty="0"/>
              <a:t>(2r + t- k).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3568" y="3404984"/>
            <a:ext cx="7878959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149742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3568" y="278552"/>
            <a:ext cx="7756768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835" y="3717032"/>
            <a:ext cx="9115725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663919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741368"/>
          </a:xfrm>
        </p:spPr>
        <p:txBody>
          <a:bodyPr/>
          <a:lstStyle/>
          <a:p>
            <a:r>
              <a:rPr lang="en-US" altLang="zh-TW" dirty="0" smtClean="0"/>
              <a:t>N’</a:t>
            </a:r>
            <a:r>
              <a:rPr lang="zh-TW" altLang="en-US" dirty="0" smtClean="0"/>
              <a:t> </a:t>
            </a:r>
            <a:r>
              <a:rPr lang="en-US" altLang="zh-TW" dirty="0" smtClean="0"/>
              <a:t>is the set of node cover size k; </a:t>
            </a:r>
          </a:p>
          <a:p>
            <a:r>
              <a:rPr lang="en-US" altLang="zh-TW" dirty="0" smtClean="0"/>
              <a:t>Let </a:t>
            </a:r>
            <a:r>
              <a:rPr lang="en-US" altLang="zh-TW" dirty="0"/>
              <a:t>W be the set of all </a:t>
            </a:r>
            <a:r>
              <a:rPr lang="en-US" altLang="zh-TW" dirty="0" smtClean="0"/>
              <a:t>edges </a:t>
            </a:r>
            <a:r>
              <a:rPr lang="en-US" altLang="zh-TW" i="1" dirty="0" smtClean="0"/>
              <a:t>e</a:t>
            </a:r>
            <a:r>
              <a:rPr lang="en-US" altLang="zh-TW" i="1" baseline="-25000" dirty="0" smtClean="0"/>
              <a:t>i</a:t>
            </a:r>
            <a:r>
              <a:rPr lang="en-US" altLang="zh-TW" i="1" dirty="0" smtClean="0"/>
              <a:t> </a:t>
            </a:r>
            <a:r>
              <a:rPr lang="en-US" altLang="zh-TW" i="1" dirty="0"/>
              <a:t>= (</a:t>
            </a:r>
            <a:r>
              <a:rPr lang="en-US" altLang="zh-TW" i="1" dirty="0" smtClean="0"/>
              <a:t>x</a:t>
            </a:r>
            <a:r>
              <a:rPr lang="en-US" altLang="zh-TW" i="1" baseline="-25000" dirty="0" smtClean="0"/>
              <a:t>i</a:t>
            </a:r>
            <a:r>
              <a:rPr lang="en-US" altLang="zh-TW" i="1" dirty="0" smtClean="0"/>
              <a:t>, </a:t>
            </a:r>
            <a:r>
              <a:rPr lang="en-US" altLang="zh-TW" dirty="0" smtClean="0"/>
              <a:t>y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) </a:t>
            </a:r>
            <a:r>
              <a:rPr lang="en-US" altLang="zh-TW" dirty="0"/>
              <a:t>such that </a:t>
            </a:r>
            <a:r>
              <a:rPr lang="en-US" altLang="zh-TW" dirty="0" smtClean="0"/>
              <a:t>x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belong to  </a:t>
            </a:r>
            <a:r>
              <a:rPr lang="en-US" altLang="zh-TW" dirty="0"/>
              <a:t>N'. Let U be the set of the rest of the edges in N</a:t>
            </a:r>
            <a:r>
              <a:rPr lang="en-US" altLang="zh-TW" dirty="0" smtClean="0"/>
              <a:t>.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T’is the LCS for R with size (2r + t + 3)(4r + 2t)+ (2r + t- k).</a:t>
            </a:r>
            <a:endParaRPr lang="zh-TW" altLang="en-US" dirty="0" smtClean="0"/>
          </a:p>
          <a:p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24760" y="2204864"/>
            <a:ext cx="9309285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86066" y="3426336"/>
            <a:ext cx="6362700" cy="218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821940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i="1" dirty="0"/>
              <a:t>The </a:t>
            </a:r>
            <a:r>
              <a:rPr lang="en-US" altLang="zh-TW" i="1" dirty="0" smtClean="0"/>
              <a:t>LCS problem </a:t>
            </a:r>
            <a:r>
              <a:rPr lang="en-US" altLang="zh-TW" i="1" dirty="0"/>
              <a:t>is </a:t>
            </a:r>
            <a:r>
              <a:rPr lang="en-US" altLang="zh-TW" i="1" dirty="0" smtClean="0"/>
              <a:t>NP-complete </a:t>
            </a:r>
            <a:br>
              <a:rPr lang="en-US" altLang="zh-TW" i="1" dirty="0" smtClean="0"/>
            </a:br>
            <a:r>
              <a:rPr lang="en-US" altLang="zh-TW" i="1" dirty="0" smtClean="0"/>
              <a:t>for </a:t>
            </a:r>
            <a:r>
              <a:rPr lang="en-US" altLang="zh-TW" dirty="0" smtClean="0"/>
              <a:t>|R| </a:t>
            </a:r>
            <a:r>
              <a:rPr lang="zh-TW" altLang="en-US" dirty="0"/>
              <a:t>≧</a:t>
            </a:r>
            <a:r>
              <a:rPr lang="en-US" altLang="zh-TW" dirty="0" smtClean="0"/>
              <a:t> </a:t>
            </a:r>
            <a:r>
              <a:rPr lang="en-US" altLang="zh-TW" dirty="0"/>
              <a:t>2.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95287" y="1700808"/>
            <a:ext cx="5767538" cy="4468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764911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i="1" dirty="0" smtClean="0"/>
              <a:t>The SCS problem is NP-complete for  arbitrary size of R.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/>
              <a:t>node cover of stze </a:t>
            </a:r>
            <a:r>
              <a:rPr lang="en-US" altLang="zh-TW" i="1" dirty="0" smtClean="0"/>
              <a:t>k</a:t>
            </a:r>
          </a:p>
          <a:p>
            <a:r>
              <a:rPr lang="en-US" altLang="zh-TW" i="1" dirty="0"/>
              <a:t>R has a common supersequence of </a:t>
            </a:r>
            <a:r>
              <a:rPr lang="en-US" altLang="zh-TW" i="1" dirty="0" smtClean="0"/>
              <a:t>length</a:t>
            </a:r>
          </a:p>
          <a:p>
            <a:pPr marL="0" indent="0">
              <a:buNone/>
            </a:pPr>
            <a:r>
              <a:rPr lang="en-US" altLang="zh-TW" i="1" dirty="0"/>
              <a:t> </a:t>
            </a:r>
            <a:r>
              <a:rPr lang="en-US" altLang="zh-TW" i="1" dirty="0" smtClean="0"/>
              <a:t>8c </a:t>
            </a:r>
            <a:r>
              <a:rPr lang="en-US" altLang="zh-TW" i="1" dirty="0"/>
              <a:t>+ 6r + 2t + </a:t>
            </a:r>
            <a:r>
              <a:rPr lang="en-US" altLang="zh-TW" i="1" dirty="0" smtClean="0"/>
              <a:t>k</a:t>
            </a:r>
          </a:p>
          <a:p>
            <a:pPr marL="0" indent="0">
              <a:buNone/>
            </a:pPr>
            <a:endParaRPr lang="en-US" altLang="zh-TW" i="1" dirty="0"/>
          </a:p>
          <a:p>
            <a:pPr marL="0" indent="0">
              <a:buNone/>
            </a:pPr>
            <a:r>
              <a:rPr lang="en-US" altLang="zh-TW" i="1" dirty="0"/>
              <a:t>The </a:t>
            </a:r>
            <a:r>
              <a:rPr lang="en-US" altLang="zh-TW" i="1" dirty="0" smtClean="0"/>
              <a:t>SCS problem </a:t>
            </a:r>
            <a:r>
              <a:rPr lang="en-US" altLang="zh-TW" i="1" dirty="0"/>
              <a:t>is </a:t>
            </a:r>
            <a:r>
              <a:rPr lang="en-US" altLang="zh-TW" i="1" dirty="0" smtClean="0"/>
              <a:t>NP-complete for </a:t>
            </a:r>
            <a:r>
              <a:rPr lang="en-US" altLang="zh-TW" dirty="0" smtClean="0"/>
              <a:t>|R| </a:t>
            </a:r>
            <a:r>
              <a:rPr lang="en-US" altLang="zh-TW" dirty="0"/>
              <a:t>= 5.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682981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51720" y="5276850"/>
            <a:ext cx="4543425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88640"/>
            <a:ext cx="9144000" cy="4645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975478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862" y="1568426"/>
            <a:ext cx="9078138" cy="304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929991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646</Words>
  <Application>Microsoft Office PowerPoint</Application>
  <PresentationFormat>如螢幕大小 (4:3)</PresentationFormat>
  <Paragraphs>73</Paragraphs>
  <Slides>16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17" baseType="lpstr">
      <vt:lpstr>Office 佈景主題</vt:lpstr>
      <vt:lpstr>The Complexity of Some Problems on Subsequences and Supersequences</vt:lpstr>
      <vt:lpstr>Abstract</vt:lpstr>
      <vt:lpstr>NP-Completeness</vt:lpstr>
      <vt:lpstr>Some concepts of NPC</vt:lpstr>
      <vt:lpstr>The node cover problem </vt:lpstr>
      <vt:lpstr>投影片 6</vt:lpstr>
      <vt:lpstr>Thread scheme</vt:lpstr>
      <vt:lpstr>The LCS problem is NP-complete for  arbitrary size of R.</vt:lpstr>
      <vt:lpstr>投影片 9</vt:lpstr>
      <vt:lpstr>The LCS problem is NP-complete for  IRI = 3.</vt:lpstr>
      <vt:lpstr>投影片 11</vt:lpstr>
      <vt:lpstr>投影片 12</vt:lpstr>
      <vt:lpstr>The LCS problem is NP-complete  for |R| ≧ 2.</vt:lpstr>
      <vt:lpstr>The SCS problem is NP-complete for  arbitrary size of R.</vt:lpstr>
      <vt:lpstr>投影片 15</vt:lpstr>
      <vt:lpstr>投影片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john</dc:creator>
  <cp:lastModifiedBy>admin</cp:lastModifiedBy>
  <cp:revision>14</cp:revision>
  <dcterms:created xsi:type="dcterms:W3CDTF">2013-12-24T06:38:16Z</dcterms:created>
  <dcterms:modified xsi:type="dcterms:W3CDTF">2013-12-24T12:00:00Z</dcterms:modified>
</cp:coreProperties>
</file>