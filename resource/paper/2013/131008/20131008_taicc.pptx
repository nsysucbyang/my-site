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67" r:id="rId3"/>
    <p:sldId id="271" r:id="rId4"/>
    <p:sldId id="275" r:id="rId5"/>
    <p:sldId id="272" r:id="rId6"/>
    <p:sldId id="274" r:id="rId7"/>
    <p:sldId id="280" r:id="rId8"/>
    <p:sldId id="283" r:id="rId9"/>
    <p:sldId id="277" r:id="rId10"/>
    <p:sldId id="278" r:id="rId11"/>
    <p:sldId id="279" r:id="rId12"/>
    <p:sldId id="281" r:id="rId13"/>
    <p:sldId id="282" r:id="rId14"/>
    <p:sldId id="266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44" autoAdjust="0"/>
  </p:normalViewPr>
  <p:slideViewPr>
    <p:cSldViewPr>
      <p:cViewPr varScale="1">
        <p:scale>
          <a:sx n="104" d="100"/>
          <a:sy n="104" d="100"/>
        </p:scale>
        <p:origin x="-181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550DA3-8C64-4E5B-BDA5-39D7F6F297B3}" type="datetimeFigureOut">
              <a:rPr lang="zh-TW" altLang="en-US" smtClean="0"/>
              <a:t>2013/10/8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8B9CE-08CF-4B6F-9C3E-B7375A4C73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1243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55EB1C-CCAB-410B-BDBF-A95636BA528E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有個方法叫</a:t>
            </a:r>
            <a:r>
              <a:rPr lang="en-US" altLang="zh-TW" dirty="0" smtClean="0"/>
              <a:t>TASSER,</a:t>
            </a:r>
            <a:r>
              <a:rPr lang="en-US" altLang="zh-TW" baseline="0" dirty="0" smtClean="0"/>
              <a:t> </a:t>
            </a:r>
            <a:r>
              <a:rPr lang="zh-TW" altLang="en-US" dirty="0" smtClean="0"/>
              <a:t>是用</a:t>
            </a:r>
            <a:r>
              <a:rPr lang="en-US" altLang="zh-TW" dirty="0" smtClean="0"/>
              <a:t>template based</a:t>
            </a:r>
            <a:r>
              <a:rPr lang="zh-TW" altLang="en-US" dirty="0" smtClean="0"/>
              <a:t>來兜成結果的</a:t>
            </a:r>
            <a:r>
              <a:rPr lang="en-US" altLang="zh-TW" dirty="0" smtClean="0"/>
              <a:t>,</a:t>
            </a:r>
            <a:r>
              <a:rPr lang="zh-TW" altLang="en-US" dirty="0" smtClean="0"/>
              <a:t> 目前是使用</a:t>
            </a:r>
            <a:r>
              <a:rPr lang="en-US" altLang="zh-TW" dirty="0" smtClean="0"/>
              <a:t>z-score</a:t>
            </a:r>
            <a:r>
              <a:rPr lang="zh-TW" altLang="en-US" dirty="0" smtClean="0"/>
              <a:t>高的那些</a:t>
            </a:r>
            <a:r>
              <a:rPr lang="en-US" altLang="zh-TW" dirty="0" smtClean="0"/>
              <a:t>template, </a:t>
            </a:r>
            <a:r>
              <a:rPr lang="zh-TW" altLang="en-US" dirty="0" smtClean="0"/>
              <a:t>但是作者發現有一些</a:t>
            </a:r>
            <a:r>
              <a:rPr lang="en-US" altLang="zh-TW" dirty="0" smtClean="0"/>
              <a:t>z-score</a:t>
            </a:r>
            <a:r>
              <a:rPr lang="zh-TW" altLang="en-US" dirty="0" smtClean="0"/>
              <a:t>低的卻好像</a:t>
            </a:r>
            <a:r>
              <a:rPr lang="zh-TW" altLang="en-US" baseline="0" dirty="0" smtClean="0"/>
              <a:t>對齊</a:t>
            </a:r>
            <a:r>
              <a:rPr lang="zh-TW" altLang="en-US" dirty="0" smtClean="0"/>
              <a:t>得很好</a:t>
            </a:r>
            <a:r>
              <a:rPr lang="en-US" altLang="zh-TW" dirty="0" smtClean="0"/>
              <a:t>(TM-score&gt;=0.4), </a:t>
            </a:r>
            <a:r>
              <a:rPr lang="zh-TW" altLang="en-US" dirty="0" smtClean="0"/>
              <a:t>所以本篇想要找出那些可能有用的低</a:t>
            </a:r>
            <a:r>
              <a:rPr lang="en-US" altLang="zh-TW" dirty="0" smtClean="0"/>
              <a:t>z-score</a:t>
            </a:r>
            <a:r>
              <a:rPr lang="zh-TW" altLang="en-US" dirty="0" smtClean="0"/>
              <a:t>的</a:t>
            </a:r>
            <a:r>
              <a:rPr lang="en-US" altLang="zh-TW" dirty="0" smtClean="0"/>
              <a:t>template. </a:t>
            </a:r>
            <a:r>
              <a:rPr lang="zh-TW" altLang="en-US" dirty="0" smtClean="0"/>
              <a:t>但</a:t>
            </a:r>
            <a:r>
              <a:rPr lang="en-US" altLang="zh-TW" dirty="0" smtClean="0"/>
              <a:t>low z-score</a:t>
            </a:r>
            <a:r>
              <a:rPr lang="zh-TW" altLang="en-US" dirty="0" smtClean="0"/>
              <a:t>的可能很多 所以作者就開發了</a:t>
            </a:r>
            <a:r>
              <a:rPr lang="en-US" altLang="zh-TW" dirty="0" err="1" smtClean="0"/>
              <a:t>thread_cluster</a:t>
            </a:r>
            <a:r>
              <a:rPr lang="en-US" altLang="zh-TW" dirty="0" smtClean="0"/>
              <a:t> algorithm</a:t>
            </a:r>
            <a:r>
              <a:rPr lang="zh-TW" altLang="en-US" dirty="0" smtClean="0"/>
              <a:t>來過濾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C8B9CE-08CF-4B6F-9C3E-B7375A4C738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1668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Threading: </a:t>
            </a:r>
            <a:r>
              <a:rPr lang="zh-TW" altLang="en-US" dirty="0" smtClean="0"/>
              <a:t>將所求序列與已知蛋白質三維結構進行配對</a:t>
            </a:r>
            <a:r>
              <a:rPr lang="en-US" altLang="zh-TW" dirty="0" smtClean="0"/>
              <a:t>,</a:t>
            </a:r>
            <a:r>
              <a:rPr lang="en-US" altLang="zh-TW" baseline="0" dirty="0" smtClean="0"/>
              <a:t> </a:t>
            </a:r>
            <a:r>
              <a:rPr lang="zh-TW" altLang="en-US" baseline="0" dirty="0" smtClean="0"/>
              <a:t>建構</a:t>
            </a:r>
            <a:r>
              <a:rPr lang="en-US" altLang="zh-TW" baseline="0" dirty="0" smtClean="0"/>
              <a:t>model</a:t>
            </a:r>
            <a:endParaRPr lang="en-US" altLang="zh-TW" dirty="0" smtClean="0"/>
          </a:p>
          <a:p>
            <a:r>
              <a:rPr lang="en-US" altLang="zh-TW" dirty="0" err="1" smtClean="0"/>
              <a:t>ASSEmbly</a:t>
            </a:r>
            <a:r>
              <a:rPr lang="en-US" altLang="zh-TW" dirty="0" smtClean="0"/>
              <a:t>: </a:t>
            </a:r>
            <a:r>
              <a:rPr lang="zh-TW" altLang="en-US" dirty="0" smtClean="0"/>
              <a:t>組合</a:t>
            </a:r>
            <a:endParaRPr lang="en-US" altLang="zh-TW" dirty="0" smtClean="0"/>
          </a:p>
          <a:p>
            <a:r>
              <a:rPr lang="en-US" altLang="zh-TW" dirty="0" smtClean="0"/>
              <a:t>Refinement: </a:t>
            </a:r>
            <a:r>
              <a:rPr lang="zh-TW" altLang="en-US" dirty="0" smtClean="0"/>
              <a:t>優化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C8B9CE-08CF-4B6F-9C3E-B7375A4C738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153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TM-score</a:t>
            </a:r>
            <a:r>
              <a:rPr lang="zh-TW" altLang="en-US" dirty="0" smtClean="0"/>
              <a:t>是用來計算兩個蛋白質模型的結構相似性，</a:t>
            </a:r>
            <a:r>
              <a:rPr lang="en-US" altLang="zh-TW" dirty="0" smtClean="0"/>
              <a:t>TM-score</a:t>
            </a:r>
            <a:r>
              <a:rPr lang="zh-TW" altLang="en-US" dirty="0" smtClean="0"/>
              <a:t>越高，其相似度越高。</a:t>
            </a:r>
            <a:r>
              <a:rPr lang="en-US" altLang="zh-TW" dirty="0" smtClean="0"/>
              <a:t>The definition of TM-score is independent on the length of the proteins.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C8B9CE-08CF-4B6F-9C3E-B7375A4C738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4692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LcParenBoth"/>
            </a:pPr>
            <a:r>
              <a:rPr lang="zh-TW" altLang="en-US" dirty="0" smtClean="0"/>
              <a:t>選</a:t>
            </a:r>
            <a:r>
              <a:rPr lang="en-US" altLang="zh-TW" dirty="0" smtClean="0"/>
              <a:t>N</a:t>
            </a:r>
            <a:r>
              <a:rPr lang="zh-TW" altLang="en-US" dirty="0" smtClean="0"/>
              <a:t>個</a:t>
            </a:r>
            <a:r>
              <a:rPr lang="en-US" altLang="zh-TW" dirty="0" smtClean="0"/>
              <a:t>template </a:t>
            </a:r>
            <a:r>
              <a:rPr lang="zh-TW" altLang="en-US" dirty="0" smtClean="0"/>
              <a:t>然後再套用</a:t>
            </a:r>
            <a:r>
              <a:rPr lang="en-US" altLang="zh-TW" dirty="0" smtClean="0"/>
              <a:t>affinity propagation </a:t>
            </a:r>
            <a:r>
              <a:rPr lang="zh-TW" altLang="en-US" dirty="0" smtClean="0"/>
              <a:t>來分群</a:t>
            </a:r>
            <a:r>
              <a:rPr lang="en-US" altLang="zh-TW" dirty="0" smtClean="0"/>
              <a:t>, </a:t>
            </a:r>
            <a:r>
              <a:rPr lang="zh-TW" altLang="en-US" dirty="0" smtClean="0"/>
              <a:t>分完就是</a:t>
            </a:r>
            <a:r>
              <a:rPr lang="en-US" altLang="zh-TW" dirty="0" smtClean="0"/>
              <a:t>final template cluster</a:t>
            </a:r>
          </a:p>
          <a:p>
            <a:pPr marL="228600" indent="-228600">
              <a:buAutoNum type="alphaLcParenBoth"/>
            </a:pPr>
            <a:r>
              <a:rPr lang="zh-TW" altLang="en-US" dirty="0" smtClean="0"/>
              <a:t>每個</a:t>
            </a:r>
            <a:r>
              <a:rPr lang="en-US" altLang="zh-TW" dirty="0" smtClean="0"/>
              <a:t>cluster</a:t>
            </a:r>
            <a:r>
              <a:rPr lang="zh-TW" altLang="en-US" dirty="0" smtClean="0"/>
              <a:t>分別送到</a:t>
            </a:r>
            <a:r>
              <a:rPr lang="en-US" altLang="zh-TW" dirty="0" smtClean="0"/>
              <a:t>TASSER</a:t>
            </a:r>
            <a:r>
              <a:rPr lang="zh-TW" altLang="en-US" dirty="0" smtClean="0"/>
              <a:t>建</a:t>
            </a:r>
            <a:r>
              <a:rPr lang="en-US" altLang="zh-TW" dirty="0" smtClean="0"/>
              <a:t>model</a:t>
            </a:r>
          </a:p>
          <a:p>
            <a:pPr marL="228600" indent="-228600">
              <a:buAutoNum type="alphaLcParenBoth"/>
            </a:pPr>
            <a:r>
              <a:rPr lang="zh-TW" altLang="zh-TW" dirty="0" smtClean="0"/>
              <a:t>模型的排名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----------------------------------</a:t>
            </a:r>
          </a:p>
          <a:p>
            <a:pPr marL="0" indent="0">
              <a:buNone/>
            </a:pPr>
            <a:r>
              <a:rPr lang="zh-TW" altLang="en-US" dirty="0" smtClean="0"/>
              <a:t>把選出來的再細選一次</a:t>
            </a:r>
            <a:endParaRPr lang="en-US" altLang="zh-TW" b="1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C8B9CE-08CF-4B6F-9C3E-B7375A4C738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1586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 smtClean="0"/>
              <a:t>SP</a:t>
            </a:r>
            <a:r>
              <a:rPr lang="en-US" altLang="zh-TW" sz="1200" b="1" baseline="30000" dirty="0" smtClean="0"/>
              <a:t>3</a:t>
            </a:r>
            <a:r>
              <a:rPr lang="en-US" altLang="zh-TW" sz="1200" dirty="0" smtClean="0"/>
              <a:t> &amp; </a:t>
            </a:r>
            <a:r>
              <a:rPr lang="en-US" altLang="zh-TW" sz="1200" b="1" dirty="0" smtClean="0"/>
              <a:t>SPARKS</a:t>
            </a:r>
            <a:r>
              <a:rPr lang="en-US" altLang="zh-TW" sz="1200" b="1" baseline="30000" dirty="0" smtClean="0"/>
              <a:t>2</a:t>
            </a:r>
            <a:r>
              <a:rPr lang="en-US" altLang="zh-TW" sz="1200" dirty="0" smtClean="0"/>
              <a:t>:</a:t>
            </a:r>
            <a:r>
              <a:rPr lang="zh-TW" altLang="en-US" sz="1200" dirty="0" smtClean="0"/>
              <a:t> 用來評分做出來的</a:t>
            </a:r>
            <a:r>
              <a:rPr lang="en-US" altLang="zh-TW" sz="1200" dirty="0" smtClean="0"/>
              <a:t>model</a:t>
            </a:r>
            <a:r>
              <a:rPr lang="zh-TW" altLang="en-US" sz="1200" dirty="0" smtClean="0"/>
              <a:t>的好壞的程式</a:t>
            </a:r>
            <a:endParaRPr lang="en-US" altLang="zh-TW" sz="1200" dirty="0" smtClean="0"/>
          </a:p>
          <a:p>
            <a:r>
              <a:rPr lang="en-US" altLang="zh-TW" dirty="0" smtClean="0"/>
              <a:t>SP</a:t>
            </a:r>
            <a:r>
              <a:rPr lang="zh-TW" altLang="en-US" dirty="0" smtClean="0"/>
              <a:t>和</a:t>
            </a:r>
            <a:r>
              <a:rPr lang="en-US" altLang="zh-TW" dirty="0" smtClean="0"/>
              <a:t>SPARKS</a:t>
            </a:r>
            <a:r>
              <a:rPr lang="zh-TW" altLang="en-US" dirty="0" smtClean="0"/>
              <a:t>都把</a:t>
            </a:r>
            <a:r>
              <a:rPr lang="en-US" altLang="zh-TW" dirty="0" smtClean="0"/>
              <a:t>target</a:t>
            </a:r>
            <a:r>
              <a:rPr lang="zh-TW" altLang="en-US" dirty="0" smtClean="0"/>
              <a:t>分成三類 </a:t>
            </a:r>
            <a:r>
              <a:rPr lang="en-US" altLang="zh-TW" dirty="0" smtClean="0"/>
              <a:t>easy, medium</a:t>
            </a:r>
            <a:r>
              <a:rPr lang="zh-TW" altLang="en-US" dirty="0" smtClean="0"/>
              <a:t>和</a:t>
            </a:r>
            <a:r>
              <a:rPr lang="en-US" altLang="zh-TW" dirty="0" smtClean="0"/>
              <a:t>hard:</a:t>
            </a:r>
            <a:r>
              <a:rPr lang="en-US" altLang="zh-TW" baseline="0" dirty="0" smtClean="0"/>
              <a:t> </a:t>
            </a:r>
          </a:p>
          <a:p>
            <a:r>
              <a:rPr lang="en-US" altLang="zh-TW" dirty="0" smtClean="0"/>
              <a:t>easy</a:t>
            </a:r>
            <a:r>
              <a:rPr lang="zh-TW" altLang="en-US" dirty="0" smtClean="0"/>
              <a:t>是很好找答案</a:t>
            </a:r>
            <a:r>
              <a:rPr lang="en-US" altLang="zh-TW" dirty="0" smtClean="0"/>
              <a:t>(</a:t>
            </a:r>
            <a:r>
              <a:rPr lang="zh-TW" altLang="en-US" dirty="0" smtClean="0"/>
              <a:t>資料庫中有跟他很像的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medium</a:t>
            </a:r>
            <a:r>
              <a:rPr lang="zh-TW" altLang="en-US" dirty="0" smtClean="0"/>
              <a:t>中等</a:t>
            </a:r>
            <a:r>
              <a:rPr lang="en-US" altLang="zh-TW" dirty="0" smtClean="0"/>
              <a:t>(</a:t>
            </a:r>
            <a:r>
              <a:rPr lang="zh-TW" altLang="en-US" dirty="0" smtClean="0"/>
              <a:t>資料庫中有主幹類似 但旁支不像的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hard(</a:t>
            </a:r>
            <a:r>
              <a:rPr lang="zh-TW" altLang="en-US" dirty="0" smtClean="0"/>
              <a:t>資料庫中連主幹都沒有像的</a:t>
            </a:r>
            <a:r>
              <a:rPr lang="en-US" altLang="zh-TW" dirty="0" smtClean="0"/>
              <a:t>)</a:t>
            </a:r>
          </a:p>
          <a:p>
            <a:r>
              <a:rPr lang="en-US" altLang="zh-TW" dirty="0" err="1" smtClean="0"/>
              <a:t>TMorg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TMtopn</a:t>
            </a:r>
            <a:r>
              <a:rPr lang="en-US" altLang="zh-TW" dirty="0" smtClean="0"/>
              <a:t> and </a:t>
            </a:r>
            <a:r>
              <a:rPr lang="en-US" altLang="zh-TW" dirty="0" err="1" smtClean="0"/>
              <a:t>TMclus</a:t>
            </a:r>
            <a:r>
              <a:rPr lang="zh-TW" altLang="en-US" dirty="0" smtClean="0"/>
              <a:t>各是 本來的方法 多選一些</a:t>
            </a:r>
            <a:r>
              <a:rPr lang="en-US" altLang="zh-TW" dirty="0" smtClean="0"/>
              <a:t>template</a:t>
            </a:r>
            <a:r>
              <a:rPr lang="zh-TW" altLang="en-US" dirty="0" smtClean="0"/>
              <a:t>的方法 以及 </a:t>
            </a:r>
            <a:r>
              <a:rPr lang="en-US" altLang="zh-TW" dirty="0" smtClean="0"/>
              <a:t>figure 1</a:t>
            </a:r>
            <a:r>
              <a:rPr lang="zh-TW" altLang="en-US" dirty="0" smtClean="0"/>
              <a:t>完整跑完的方法</a:t>
            </a:r>
            <a:endParaRPr lang="en-US" altLang="zh-TW" dirty="0" smtClean="0"/>
          </a:p>
          <a:p>
            <a:r>
              <a:rPr lang="zh-TW" altLang="en-US" dirty="0" smtClean="0"/>
              <a:t>最好</a:t>
            </a:r>
            <a:r>
              <a:rPr lang="en-US" altLang="zh-TW" dirty="0" smtClean="0"/>
              <a:t>tm-score(tm-score&gt;=0.4</a:t>
            </a:r>
            <a:r>
              <a:rPr lang="zh-TW" altLang="en-US" dirty="0" smtClean="0"/>
              <a:t>的個數</a:t>
            </a:r>
            <a:r>
              <a:rPr lang="en-US" altLang="zh-TW" dirty="0" smtClean="0"/>
              <a:t>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C8B9CE-08CF-4B6F-9C3E-B7375A4C738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3514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 smtClean="0"/>
              <a:t>K-centers</a:t>
            </a:r>
            <a:r>
              <a:rPr lang="zh-TW" altLang="en-US" sz="2000" dirty="0" smtClean="0"/>
              <a:t>對於初始選擇的 </a:t>
            </a:r>
            <a:r>
              <a:rPr lang="en-US" altLang="zh-TW" sz="2000" dirty="0" smtClean="0"/>
              <a:t>exemplars </a:t>
            </a:r>
            <a:r>
              <a:rPr lang="zh-TW" altLang="en-US" sz="2000" dirty="0" smtClean="0"/>
              <a:t>很敏感，所以通常需要更換初始選擇並且重跑許多次以獲得好的解答。</a:t>
            </a:r>
            <a:endParaRPr lang="en-US" altLang="zh-TW" sz="2000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000" dirty="0" smtClean="0"/>
              <a:t>然而這樣做通常也只有在 </a:t>
            </a:r>
            <a:r>
              <a:rPr lang="en-US" altLang="zh-TW" sz="2000" dirty="0" smtClean="0"/>
              <a:t>clusters </a:t>
            </a:r>
            <a:r>
              <a:rPr lang="zh-TW" altLang="en-US" sz="2000" dirty="0" smtClean="0"/>
              <a:t>的數目少且恰好初始時選的種子 </a:t>
            </a:r>
            <a:r>
              <a:rPr lang="en-US" altLang="zh-TW" sz="2000" dirty="0" smtClean="0"/>
              <a:t>(seeds) </a:t>
            </a:r>
            <a:r>
              <a:rPr lang="zh-TW" altLang="en-US" sz="2000" dirty="0" smtClean="0"/>
              <a:t>夠好才會趨近好的解答。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值得注目的 </a:t>
            </a:r>
            <a:r>
              <a:rPr lang="en-US" altLang="zh-TW" dirty="0" smtClean="0"/>
              <a:t>affinity propagation clustering </a:t>
            </a:r>
          </a:p>
          <a:p>
            <a:r>
              <a:rPr lang="en-US" altLang="zh-TW" dirty="0" smtClean="0"/>
              <a:t>http://thelightroad.blogspot.tw/2012/03/apcluster-affinity-propagation.html</a:t>
            </a:r>
          </a:p>
          <a:p>
            <a:r>
              <a:rPr lang="en-US" altLang="zh-TW" dirty="0" smtClean="0"/>
              <a:t>http://www.psi.toronto.edu/index.php?q=affinity%20propagation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C8B9CE-08CF-4B6F-9C3E-B7375A4C738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3514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TM Model</a:t>
            </a:r>
          </a:p>
          <a:p>
            <a:r>
              <a:rPr lang="zh-TW" altLang="en-US" dirty="0" smtClean="0"/>
              <a:t>最好</a:t>
            </a:r>
            <a:r>
              <a:rPr lang="en-US" altLang="zh-TW" dirty="0" smtClean="0"/>
              <a:t>tm-score(tm-score&gt;=0.4</a:t>
            </a:r>
            <a:r>
              <a:rPr lang="zh-TW" altLang="en-US" dirty="0" smtClean="0"/>
              <a:t>的個數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C8B9CE-08CF-4B6F-9C3E-B7375A4C738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1911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TM Best</a:t>
            </a:r>
          </a:p>
          <a:p>
            <a:r>
              <a:rPr lang="zh-TW" altLang="en-US" dirty="0" smtClean="0"/>
              <a:t>分數類似 但是</a:t>
            </a:r>
            <a:r>
              <a:rPr lang="en-US" altLang="zh-TW" dirty="0" err="1" smtClean="0"/>
              <a:t>zsc</a:t>
            </a:r>
            <a:r>
              <a:rPr lang="zh-TW" altLang="en-US" dirty="0" smtClean="0"/>
              <a:t>好一些 所以點在對角線上面一些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C8B9CE-08CF-4B6F-9C3E-B7375A4C738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0816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改良原本</a:t>
            </a:r>
            <a:r>
              <a:rPr lang="en-US" altLang="zh-TW" dirty="0" smtClean="0"/>
              <a:t>TASSER</a:t>
            </a:r>
            <a:r>
              <a:rPr lang="zh-TW" altLang="en-US" dirty="0" smtClean="0"/>
              <a:t>沒有使用到的那些</a:t>
            </a:r>
            <a:r>
              <a:rPr lang="en-US" altLang="zh-TW" dirty="0" smtClean="0"/>
              <a:t>"low z-score</a:t>
            </a:r>
            <a:r>
              <a:rPr lang="zh-TW" altLang="en-US" dirty="0" smtClean="0"/>
              <a:t>的</a:t>
            </a:r>
            <a:r>
              <a:rPr lang="en-US" altLang="zh-TW" dirty="0" smtClean="0"/>
              <a:t>template" </a:t>
            </a:r>
            <a:r>
              <a:rPr lang="zh-TW" altLang="en-US" dirty="0" smtClean="0"/>
              <a:t>使得</a:t>
            </a:r>
            <a:r>
              <a:rPr lang="en-US" altLang="zh-TW" dirty="0" smtClean="0"/>
              <a:t>TM-score</a:t>
            </a:r>
            <a:r>
              <a:rPr lang="zh-TW" altLang="en-US" dirty="0" smtClean="0"/>
              <a:t>的結果好一點點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C8B9CE-08CF-4B6F-9C3E-B7375A4C738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7530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9E23-CAB4-4AC9-B1D3-C404B2A8D45F}" type="datetime1">
              <a:rPr lang="zh-TW" altLang="en-US" smtClean="0"/>
              <a:t>2013/10/8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71DFF-2CB7-4FC6-91FC-EBD2965FCB4C}" type="datetime1">
              <a:rPr lang="zh-TW" altLang="en-US" smtClean="0"/>
              <a:t>2013/10/8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56B78-3B88-4218-BBA9-F70684D29F94}" type="datetime1">
              <a:rPr lang="zh-TW" altLang="en-US" smtClean="0"/>
              <a:t>2013/10/8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0131-A4A2-4A69-B3F2-90ED77FF9466}" type="datetime1">
              <a:rPr lang="zh-TW" altLang="en-US" smtClean="0"/>
              <a:t>2013/10/8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6B7E-71A5-4D99-9CC4-40B53F247A97}" type="datetime1">
              <a:rPr lang="zh-TW" altLang="en-US" smtClean="0"/>
              <a:t>2013/10/8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E7F3-7DB6-4F10-B662-1BB4DA84A4BE}" type="datetime1">
              <a:rPr lang="zh-TW" altLang="en-US" smtClean="0"/>
              <a:t>2013/10/8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B8DB-8BC9-41EC-B5F5-E5E6ABA62F7F}" type="datetime1">
              <a:rPr lang="zh-TW" altLang="en-US" smtClean="0"/>
              <a:t>2013/10/8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F484-157B-4B35-94F1-5570E486B3AD}" type="datetime1">
              <a:rPr lang="zh-TW" altLang="en-US" smtClean="0"/>
              <a:t>2013/10/8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3F45-D604-43A9-A433-05546504FCCF}" type="datetime1">
              <a:rPr lang="zh-TW" altLang="en-US" smtClean="0"/>
              <a:t>2013/10/8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E615-6024-424D-A3D3-43BCAFFE1C3E}" type="datetime1">
              <a:rPr lang="zh-TW" altLang="en-US" smtClean="0"/>
              <a:t>2013/10/8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65A4-4175-4F2F-9EB2-09251561B7EC}" type="datetime1">
              <a:rPr lang="zh-TW" altLang="en-US" smtClean="0"/>
              <a:t>2013/10/8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E302B-8F0F-4B7D-A730-DCE5C2323F11}" type="datetime1">
              <a:rPr lang="zh-TW" altLang="en-US" smtClean="0"/>
              <a:t>2013/10/8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si.toronto.edu/affinitypropagation/apmovie.sw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692696"/>
            <a:ext cx="9144000" cy="1470025"/>
          </a:xfrm>
        </p:spPr>
        <p:txBody>
          <a:bodyPr>
            <a:noAutofit/>
          </a:bodyPr>
          <a:lstStyle/>
          <a:p>
            <a:r>
              <a:rPr lang="en-US" altLang="zh-TW" sz="3200" dirty="0" err="1"/>
              <a:t>TASSER_low-zsc</a:t>
            </a:r>
            <a:r>
              <a:rPr lang="en-US" altLang="zh-TW" sz="3200" dirty="0"/>
              <a:t>: </a:t>
            </a:r>
            <a:r>
              <a:rPr lang="en-US" altLang="zh-TW" sz="3200" dirty="0" smtClean="0"/>
              <a:t>An </a:t>
            </a:r>
            <a:r>
              <a:rPr lang="en-US" altLang="zh-TW" sz="3200" dirty="0"/>
              <a:t>a</a:t>
            </a:r>
            <a:r>
              <a:rPr lang="en-US" altLang="zh-TW" sz="3200" dirty="0" smtClean="0"/>
              <a:t>pproach </a:t>
            </a:r>
            <a:r>
              <a:rPr lang="en-US" altLang="zh-TW" sz="3200" dirty="0"/>
              <a:t>to </a:t>
            </a:r>
            <a:r>
              <a:rPr lang="en-US" altLang="zh-TW" sz="3200" dirty="0" smtClean="0"/>
              <a:t>improve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structure prediction </a:t>
            </a:r>
            <a:r>
              <a:rPr lang="en-US" altLang="zh-TW" sz="3200" dirty="0"/>
              <a:t>using </a:t>
            </a:r>
            <a:r>
              <a:rPr lang="en-US" altLang="zh-TW" sz="3200" dirty="0" smtClean="0"/>
              <a:t>low z-score–ranked templates</a:t>
            </a:r>
            <a:endParaRPr lang="en-US" altLang="zh-TW" sz="3200" dirty="0"/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35496" y="2780928"/>
            <a:ext cx="9108504" cy="1512168"/>
          </a:xfrm>
        </p:spPr>
        <p:txBody>
          <a:bodyPr anchor="ctr">
            <a:normAutofit/>
          </a:bodyPr>
          <a:lstStyle/>
          <a:p>
            <a:r>
              <a:rPr lang="en-US" altLang="zh-TW" sz="2300" dirty="0" err="1">
                <a:solidFill>
                  <a:schemeClr val="tx1">
                    <a:lumMod val="65000"/>
                    <a:lumOff val="35000"/>
                  </a:schemeClr>
                </a:solidFill>
                <a:ea typeface="微軟正黑體" pitchFamily="34" charset="-120"/>
                <a:cs typeface="Times New Roman" pitchFamily="18" charset="0"/>
              </a:rPr>
              <a:t>Shashi</a:t>
            </a:r>
            <a:r>
              <a:rPr lang="en-US" altLang="zh-TW" sz="2300" dirty="0">
                <a:solidFill>
                  <a:schemeClr val="tx1">
                    <a:lumMod val="65000"/>
                    <a:lumOff val="35000"/>
                  </a:schemeClr>
                </a:solidFill>
                <a:ea typeface="微軟正黑體" pitchFamily="34" charset="-120"/>
                <a:cs typeface="Times New Roman" pitchFamily="18" charset="0"/>
              </a:rPr>
              <a:t> B. </a:t>
            </a:r>
            <a:r>
              <a:rPr lang="en-US" altLang="zh-TW" sz="2300" dirty="0" err="1">
                <a:solidFill>
                  <a:schemeClr val="tx1">
                    <a:lumMod val="65000"/>
                    <a:lumOff val="35000"/>
                  </a:schemeClr>
                </a:solidFill>
                <a:ea typeface="微軟正黑體" pitchFamily="34" charset="-120"/>
                <a:cs typeface="Times New Roman" pitchFamily="18" charset="0"/>
              </a:rPr>
              <a:t>Pandit</a:t>
            </a:r>
            <a:r>
              <a:rPr lang="en-US" altLang="zh-TW" sz="2300" dirty="0">
                <a:solidFill>
                  <a:schemeClr val="tx1">
                    <a:lumMod val="65000"/>
                    <a:lumOff val="35000"/>
                  </a:schemeClr>
                </a:solidFill>
                <a:ea typeface="微軟正黑體" pitchFamily="34" charset="-120"/>
                <a:cs typeface="Times New Roman" pitchFamily="18" charset="0"/>
              </a:rPr>
              <a:t> and Jeffrey Skolnick</a:t>
            </a:r>
            <a:r>
              <a:rPr lang="en-US" altLang="zh-TW" sz="23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微軟正黑體" pitchFamily="34" charset="-120"/>
                <a:cs typeface="Times New Roman" pitchFamily="18" charset="0"/>
              </a:rPr>
              <a:t/>
            </a:r>
            <a:br>
              <a:rPr lang="en-US" altLang="zh-TW" sz="23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微軟正黑體" pitchFamily="34" charset="-120"/>
                <a:cs typeface="Times New Roman" pitchFamily="18" charset="0"/>
              </a:rPr>
            </a:br>
            <a:r>
              <a:rPr lang="en-US" altLang="zh-TW" sz="2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PROTEINS: Structure, Function, and </a:t>
            </a:r>
            <a:r>
              <a:rPr lang="en-US" altLang="zh-TW" sz="23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Bioinformatics, </a:t>
            </a:r>
            <a:br>
              <a:rPr lang="en-US" altLang="zh-TW" sz="23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altLang="zh-TW" sz="23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Vol</a:t>
            </a:r>
            <a:r>
              <a:rPr lang="en-US" altLang="zh-TW" sz="2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altLang="zh-TW" sz="23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78, pp.2769–2780, 2010</a:t>
            </a:r>
            <a:endParaRPr lang="zh-TW" altLang="en-US" sz="2300" dirty="0">
              <a:solidFill>
                <a:schemeClr val="tx1">
                  <a:lumMod val="65000"/>
                  <a:lumOff val="35000"/>
                </a:schemeClr>
              </a:solidFill>
              <a:ea typeface="微軟正黑體" pitchFamily="34" charset="-120"/>
              <a:cs typeface="Times New Roman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860032" y="5301208"/>
            <a:ext cx="3384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itchFamily="18" charset="0"/>
              </a:rPr>
              <a:t>Presenter: Chun-</a:t>
            </a:r>
            <a:r>
              <a:rPr lang="en-US" altLang="zh-TW" sz="2400" dirty="0" err="1" smtClean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itchFamily="18" charset="0"/>
              </a:rPr>
              <a:t>Chieh</a:t>
            </a:r>
            <a:r>
              <a:rPr lang="en-US" altLang="zh-TW" sz="2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itchFamily="18" charset="0"/>
              </a:rPr>
              <a:t> Tai</a:t>
            </a:r>
          </a:p>
          <a:p>
            <a:r>
              <a:rPr lang="en-US" altLang="zh-TW" sz="2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itchFamily="18" charset="0"/>
              </a:rPr>
              <a:t>Date</a:t>
            </a:r>
            <a:r>
              <a:rPr lang="en-US" altLang="zh-TW" sz="24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itchFamily="18" charset="0"/>
              </a:rPr>
              <a:t>: </a:t>
            </a:r>
            <a:r>
              <a:rPr lang="en-US" altLang="zh-TW" sz="2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itchFamily="18" charset="0"/>
              </a:rPr>
              <a:t>October 8, 2013</a:t>
            </a:r>
            <a:endParaRPr lang="zh-TW" altLang="en-US" sz="2400" dirty="0">
              <a:solidFill>
                <a:schemeClr val="tx1">
                  <a:lumMod val="65000"/>
                  <a:lumOff val="35000"/>
                </a:schemeClr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06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21402"/>
            <a:ext cx="8640960" cy="471338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sz="2400" dirty="0" smtClean="0"/>
              <a:t>In </a:t>
            </a:r>
            <a:r>
              <a:rPr lang="en-US" altLang="zh-TW" sz="2400" dirty="0"/>
              <a:t>a variety of threading methods, often poorly ranked (low z-score) templates have good alignments. </a:t>
            </a:r>
            <a:r>
              <a:rPr lang="en-US" altLang="zh-TW" sz="2400" dirty="0"/>
              <a:t>Here, a new method, </a:t>
            </a:r>
            <a:r>
              <a:rPr lang="en-US" altLang="zh-TW" sz="2400" dirty="0" err="1"/>
              <a:t>TASSER_low-zsc</a:t>
            </a:r>
            <a:r>
              <a:rPr lang="en-US" altLang="zh-TW" sz="2400" dirty="0"/>
              <a:t> that identifies these low z-score-ranked templates to improve protein structure prediction accuracy, is described. </a:t>
            </a:r>
            <a:r>
              <a:rPr lang="en-US" altLang="zh-TW" sz="2400" dirty="0" smtClean="0"/>
              <a:t>The </a:t>
            </a:r>
            <a:r>
              <a:rPr lang="en-US" altLang="zh-TW" sz="2400" dirty="0"/>
              <a:t>approach consists of clustering of threading templates by affinity propagation on the basis of structural similarity (</a:t>
            </a:r>
            <a:r>
              <a:rPr lang="en-US" altLang="zh-TW" sz="2400" dirty="0" err="1"/>
              <a:t>thread_cluster</a:t>
            </a:r>
            <a:r>
              <a:rPr lang="en-US" altLang="zh-TW" sz="2400" dirty="0"/>
              <a:t>) followed by TASSER modeling, with final models selected by using a TASSER_QA variant. To establish the generality of the approach, templates provided by two threading methods, SP(3) and SPARKS(2), are examined</a:t>
            </a:r>
            <a:r>
              <a:rPr lang="en-US" altLang="zh-TW" sz="2400" dirty="0" smtClean="0"/>
              <a:t>. The </a:t>
            </a:r>
            <a:r>
              <a:rPr lang="en-US" altLang="zh-TW" sz="2400" dirty="0"/>
              <a:t>SP(3) and SPARKS(2) benchmark datasets consist of 351 and 357 medium/hard proteins (those with moderate to poor quality templates and/or alignments) of length &lt; or =250 residues, respectively</a:t>
            </a:r>
            <a:r>
              <a:rPr lang="en-US" altLang="zh-TW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508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21402"/>
            <a:ext cx="8640960" cy="471338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sz="2400" dirty="0"/>
              <a:t>For SP(3) medium and hard targets, using </a:t>
            </a:r>
            <a:r>
              <a:rPr lang="en-US" altLang="zh-TW" sz="2400" dirty="0" err="1"/>
              <a:t>thread_cluster</a:t>
            </a:r>
            <a:r>
              <a:rPr lang="en-US" altLang="zh-TW" sz="2400" dirty="0"/>
              <a:t>, the TM-scores of the best template improve by </a:t>
            </a:r>
            <a:r>
              <a:rPr lang="en-US" altLang="zh-TW" sz="2400" dirty="0" smtClean="0"/>
              <a:t>~4 </a:t>
            </a:r>
            <a:r>
              <a:rPr lang="en-US" altLang="zh-TW" sz="2400" dirty="0"/>
              <a:t>and 9% over the original set (without low z-score templates) respectively; after TASSER modeling/refinement and ranking, the best model improves by </a:t>
            </a:r>
            <a:r>
              <a:rPr lang="en-US" altLang="zh-TW" sz="2400" dirty="0" smtClean="0"/>
              <a:t>~7 </a:t>
            </a:r>
            <a:r>
              <a:rPr lang="en-US" altLang="zh-TW" sz="2400" dirty="0"/>
              <a:t>and 9% over the best model generated with the original template set. Moreover, </a:t>
            </a:r>
            <a:r>
              <a:rPr lang="en-US" altLang="zh-TW" sz="2400" dirty="0" err="1"/>
              <a:t>TASSER_low-zsc</a:t>
            </a:r>
            <a:r>
              <a:rPr lang="en-US" altLang="zh-TW" sz="2400" dirty="0"/>
              <a:t> generates 22% (43%) more foldable medium (hard) targets. Similar improvements are observed with low-ranked templates from SPARKS(2). The template clustering approach could be applied to other modeling methods that utilize multiple templates to improve structure prediction.</a:t>
            </a:r>
          </a:p>
        </p:txBody>
      </p:sp>
    </p:spTree>
    <p:extLst>
      <p:ext uri="{BB962C8B-B14F-4D97-AF65-F5344CB8AC3E}">
        <p14:creationId xmlns:p14="http://schemas.microsoft.com/office/powerpoint/2010/main" val="3046412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/>
              <a:t>TASSER</a:t>
            </a:r>
            <a:r>
              <a:rPr lang="en-US" altLang="zh-TW" dirty="0" smtClean="0"/>
              <a:t>: Threading/</a:t>
            </a:r>
            <a:r>
              <a:rPr lang="en-US" altLang="zh-TW" dirty="0" err="1" smtClean="0"/>
              <a:t>ASSEmbly</a:t>
            </a:r>
            <a:r>
              <a:rPr lang="en-US" altLang="zh-TW" dirty="0" smtClean="0"/>
              <a:t>/Refinement</a:t>
            </a:r>
          </a:p>
          <a:p>
            <a:r>
              <a:rPr lang="en-US" altLang="zh-TW" b="1" dirty="0"/>
              <a:t>Template-Based </a:t>
            </a:r>
            <a:r>
              <a:rPr lang="en-US" altLang="zh-TW" b="1" dirty="0" smtClean="0"/>
              <a:t>Modeling(TBM)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用</a:t>
            </a:r>
            <a:r>
              <a:rPr lang="zh-TW" altLang="en-US" dirty="0"/>
              <a:t>其他的蛋白質的結構片段當成</a:t>
            </a:r>
            <a:r>
              <a:rPr lang="en-US" altLang="zh-TW" dirty="0"/>
              <a:t>template</a:t>
            </a:r>
            <a:r>
              <a:rPr lang="zh-TW" altLang="en-US" dirty="0"/>
              <a:t>來組合出目標蛋白質的</a:t>
            </a:r>
            <a:r>
              <a:rPr lang="zh-TW" altLang="en-US" dirty="0" smtClean="0"/>
              <a:t>結構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相反</a:t>
            </a:r>
            <a:r>
              <a:rPr lang="en-US" altLang="zh-TW" dirty="0" smtClean="0"/>
              <a:t>: </a:t>
            </a:r>
            <a:r>
              <a:rPr lang="en-US" altLang="zh-TW" b="1" dirty="0" smtClean="0"/>
              <a:t>de </a:t>
            </a:r>
            <a:r>
              <a:rPr lang="en-US" altLang="zh-TW" b="1" dirty="0"/>
              <a:t>novo</a:t>
            </a:r>
            <a:r>
              <a:rPr lang="en-US" altLang="zh-TW" dirty="0"/>
              <a:t>: </a:t>
            </a:r>
            <a:r>
              <a:rPr lang="zh-TW" altLang="en-US" dirty="0"/>
              <a:t>只看序列</a:t>
            </a:r>
            <a:r>
              <a:rPr lang="en-US" altLang="zh-TW" dirty="0"/>
              <a:t>,</a:t>
            </a:r>
            <a:r>
              <a:rPr lang="zh-TW" altLang="en-US" dirty="0"/>
              <a:t> 憑空捏出結構</a:t>
            </a:r>
          </a:p>
          <a:p>
            <a:pPr lvl="1"/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08197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TM-score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TM-score is an algorithm to calculate the structural similarity of two protein models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TM-score has the value in (0,1]. Based on statistics, a TM-score &lt;0.17 corresponds to a random similarity and a TM-score &gt;0.5 generally corresponds to the same fold in SCOP/CATH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571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3" t="1455" r="2026"/>
          <a:stretch/>
        </p:blipFill>
        <p:spPr bwMode="auto">
          <a:xfrm>
            <a:off x="20753" y="105443"/>
            <a:ext cx="5631367" cy="6779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5652120" y="78058"/>
            <a:ext cx="30963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(a) filtering and clustering of templates via </a:t>
            </a:r>
            <a:r>
              <a:rPr lang="en-US" altLang="zh-TW" dirty="0" err="1" smtClean="0">
                <a:solidFill>
                  <a:srgbClr val="0070C0"/>
                </a:solidFill>
              </a:rPr>
              <a:t>thread_cluster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52120" y="980728"/>
            <a:ext cx="3368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rgbClr val="0070C0"/>
                </a:solidFill>
              </a:rPr>
              <a:t>(</a:t>
            </a:r>
            <a:r>
              <a:rPr lang="en-US" altLang="zh-TW" dirty="0">
                <a:solidFill>
                  <a:srgbClr val="0070C0"/>
                </a:solidFill>
              </a:rPr>
              <a:t>b) generation of </a:t>
            </a:r>
            <a:r>
              <a:rPr lang="en-US" altLang="zh-TW" dirty="0" smtClean="0">
                <a:solidFill>
                  <a:srgbClr val="0070C0"/>
                </a:solidFill>
              </a:rPr>
              <a:t>an ensemble </a:t>
            </a:r>
            <a:r>
              <a:rPr lang="en-US" altLang="zh-TW" dirty="0">
                <a:solidFill>
                  <a:srgbClr val="0070C0"/>
                </a:solidFill>
              </a:rPr>
              <a:t>of models using </a:t>
            </a:r>
            <a:r>
              <a:rPr lang="en-US" altLang="zh-TW" dirty="0" smtClean="0">
                <a:solidFill>
                  <a:srgbClr val="0070C0"/>
                </a:solidFill>
              </a:rPr>
              <a:t>TASSER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652120" y="1844824"/>
            <a:ext cx="18213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70C0"/>
                </a:solidFill>
              </a:rPr>
              <a:t>(</a:t>
            </a:r>
            <a:r>
              <a:rPr lang="en-US" altLang="zh-TW" dirty="0">
                <a:solidFill>
                  <a:srgbClr val="0070C0"/>
                </a:solidFill>
              </a:rPr>
              <a:t>c) model ranking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>
            <a:off x="5151084" y="836712"/>
            <a:ext cx="37444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5151084" y="1700808"/>
            <a:ext cx="37444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5151084" y="2420888"/>
            <a:ext cx="37444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053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Thread_cluster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sz="2400" dirty="0" smtClean="0"/>
              <a:t>I</a:t>
            </a:r>
            <a:r>
              <a:rPr lang="en-US" altLang="zh-TW" sz="2400" dirty="0" smtClean="0"/>
              <a:t>nput</a:t>
            </a:r>
            <a:r>
              <a:rPr lang="en-US" altLang="zh-TW" sz="2400" dirty="0"/>
              <a:t>: 691 proteins (whole chains or domains</a:t>
            </a:r>
            <a:r>
              <a:rPr lang="en-US" altLang="zh-TW" sz="2400" dirty="0" smtClean="0"/>
              <a:t>) of </a:t>
            </a:r>
            <a:r>
              <a:rPr lang="en-US" altLang="zh-TW" sz="2400" dirty="0"/>
              <a:t>length &lt; or = 250 </a:t>
            </a:r>
            <a:r>
              <a:rPr lang="en-US" altLang="zh-TW" sz="2400" dirty="0" smtClean="0"/>
              <a:t>residues</a:t>
            </a:r>
          </a:p>
          <a:p>
            <a:r>
              <a:rPr lang="en-US" altLang="zh-TW" sz="2400" dirty="0" smtClean="0"/>
              <a:t>Filtering: </a:t>
            </a:r>
            <a:r>
              <a:rPr lang="en-US" altLang="zh-TW" sz="2400" dirty="0"/>
              <a:t>using z-score</a:t>
            </a:r>
          </a:p>
          <a:p>
            <a:pPr lvl="1"/>
            <a:r>
              <a:rPr lang="en-US" altLang="zh-TW" sz="2000" dirty="0"/>
              <a:t>SP</a:t>
            </a:r>
            <a:r>
              <a:rPr lang="en-US" altLang="zh-TW" sz="2000" baseline="30000" dirty="0"/>
              <a:t>3</a:t>
            </a:r>
            <a:r>
              <a:rPr lang="en-US" altLang="zh-TW" sz="2000" dirty="0"/>
              <a:t>: </a:t>
            </a:r>
            <a:r>
              <a:rPr lang="en-US" altLang="zh-TW" sz="2000" dirty="0" smtClean="0"/>
              <a:t>hard&lt;=4.5&lt;medium&lt;6.0&lt;=easy</a:t>
            </a:r>
            <a:endParaRPr lang="en-US" altLang="zh-TW" sz="2000" dirty="0"/>
          </a:p>
          <a:p>
            <a:pPr lvl="1"/>
            <a:r>
              <a:rPr lang="en-US" altLang="zh-TW" sz="2000" dirty="0" smtClean="0"/>
              <a:t>SPARKS</a:t>
            </a:r>
            <a:r>
              <a:rPr lang="en-US" altLang="zh-TW" sz="2000" baseline="30000" dirty="0" smtClean="0"/>
              <a:t>2</a:t>
            </a:r>
            <a:r>
              <a:rPr lang="en-US" altLang="zh-TW" sz="2000" b="1" dirty="0" smtClean="0"/>
              <a:t>: </a:t>
            </a:r>
            <a:r>
              <a:rPr lang="en-US" altLang="zh-TW" sz="2000" dirty="0"/>
              <a:t>hard&lt;=</a:t>
            </a:r>
            <a:r>
              <a:rPr lang="en-US" altLang="zh-TW" sz="2000" dirty="0" smtClean="0"/>
              <a:t>4.0&lt;medium&lt;5.5&lt;=</a:t>
            </a:r>
            <a:r>
              <a:rPr lang="en-US" altLang="zh-TW" sz="2000" dirty="0"/>
              <a:t>easy</a:t>
            </a:r>
            <a:endParaRPr lang="en-US" altLang="zh-TW" sz="2000" b="1" dirty="0" smtClean="0"/>
          </a:p>
          <a:p>
            <a:r>
              <a:rPr lang="en-US" altLang="ja-JP" sz="2400" dirty="0" smtClean="0"/>
              <a:t>C</a:t>
            </a:r>
            <a:r>
              <a:rPr lang="en-US" altLang="zh-TW" sz="2400" dirty="0" smtClean="0"/>
              <a:t>lustering</a:t>
            </a:r>
          </a:p>
          <a:p>
            <a:pPr lvl="1"/>
            <a:r>
              <a:rPr lang="en-US" altLang="zh-TW" sz="2000" dirty="0" smtClean="0"/>
              <a:t>Affinity Propagation</a:t>
            </a:r>
            <a:endParaRPr lang="en-US" altLang="zh-TW" sz="2000" dirty="0"/>
          </a:p>
          <a:p>
            <a:r>
              <a:rPr lang="en-US" altLang="zh-TW" sz="2400" dirty="0" smtClean="0"/>
              <a:t>Output: </a:t>
            </a:r>
            <a:br>
              <a:rPr lang="en-US" altLang="zh-TW" sz="2400" dirty="0" smtClean="0"/>
            </a:br>
            <a:r>
              <a:rPr lang="en-US" altLang="zh-TW" sz="2400" dirty="0" smtClean="0"/>
              <a:t>final template clusters</a:t>
            </a:r>
          </a:p>
          <a:p>
            <a:pPr lvl="1"/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5650581" y="2492896"/>
                <a:ext cx="3779912" cy="7047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/>
                        </a:rPr>
                        <m:t>𝑍</m:t>
                      </m:r>
                      <m:r>
                        <a:rPr lang="en-US" altLang="zh-TW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TW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TW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i="1" dirty="0"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altLang="zh-TW" i="1" dirty="0">
                                  <a:latin typeface="Cambria Math"/>
                                </a:rPr>
                                <m:t>−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TW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 dirty="0">
                                      <a:latin typeface="Cambria Math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TW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i="1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𝐸</m:t>
                                          </m:r>
                                        </m:e>
                                        <m:sup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⟨"/>
                                          <m:endChr m:val="⟩"/>
                                          <m:ctrlPr>
                                            <a:rPr lang="en-US" altLang="zh-TW" i="1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𝐸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altLang="zh-TW" dirty="0"/>
              </a:p>
              <a:p>
                <a:pPr algn="ctr"/>
                <a:r>
                  <a:rPr lang="zh-TW" altLang="en-US" dirty="0"/>
                  <a:t>意義</a:t>
                </a:r>
                <a:r>
                  <a:rPr lang="en-US" altLang="zh-TW" dirty="0"/>
                  <a:t>: </a:t>
                </a:r>
                <a:r>
                  <a:rPr lang="zh-TW" altLang="en-US" dirty="0"/>
                  <a:t>跟平均值距離幾倍標準差</a:t>
                </a:r>
                <a:endParaRPr lang="en-US" altLang="zh-TW" b="1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581" y="2492896"/>
                <a:ext cx="3779912" cy="704745"/>
              </a:xfrm>
              <a:prstGeom prst="rect">
                <a:avLst/>
              </a:prstGeom>
              <a:blipFill rotWithShape="1">
                <a:blip r:embed="rId3"/>
                <a:stretch>
                  <a:fillRect t="-52586" b="-5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3592361"/>
            <a:ext cx="5436096" cy="3265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88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Affinity </a:t>
            </a:r>
            <a:r>
              <a:rPr lang="en-US" altLang="zh-TW" dirty="0" smtClean="0"/>
              <a:t>Propagation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K-centers </a:t>
            </a:r>
            <a:r>
              <a:rPr lang="en-US" altLang="zh-TW" sz="2400" dirty="0" smtClean="0"/>
              <a:t>algorithm</a:t>
            </a:r>
          </a:p>
          <a:p>
            <a:pPr lvl="1"/>
            <a:r>
              <a:rPr lang="zh-TW" altLang="en-US" sz="2000" dirty="0" smtClean="0"/>
              <a:t>從</a:t>
            </a:r>
            <a:r>
              <a:rPr lang="zh-TW" altLang="en-US" sz="2000" dirty="0"/>
              <a:t>一些隨機取得的 </a:t>
            </a:r>
            <a:r>
              <a:rPr lang="en-US" altLang="zh-TW" sz="2000" dirty="0"/>
              <a:t>"exemplars" (</a:t>
            </a:r>
            <a:r>
              <a:rPr lang="zh-TW" altLang="en-US" sz="2000" dirty="0"/>
              <a:t>被當做 </a:t>
            </a:r>
            <a:r>
              <a:rPr lang="en-US" altLang="zh-TW" sz="2000" dirty="0"/>
              <a:t>center </a:t>
            </a:r>
            <a:r>
              <a:rPr lang="zh-TW" altLang="en-US" sz="2000" dirty="0"/>
              <a:t>的 </a:t>
            </a:r>
            <a:r>
              <a:rPr lang="en-US" altLang="zh-TW" sz="2000" dirty="0"/>
              <a:t>data points)</a:t>
            </a:r>
            <a:r>
              <a:rPr lang="zh-TW" altLang="en-US" sz="2000" dirty="0"/>
              <a:t>開始，並且迭代調整更新每個集合以減少整體的 </a:t>
            </a:r>
            <a:r>
              <a:rPr lang="en-US" altLang="zh-TW" sz="2000" dirty="0" smtClean="0"/>
              <a:t>sq</a:t>
            </a:r>
            <a:r>
              <a:rPr lang="en-US" altLang="zh-TW" sz="2000" dirty="0"/>
              <a:t>u</a:t>
            </a:r>
            <a:r>
              <a:rPr lang="en-US" altLang="zh-TW" sz="2000" dirty="0" smtClean="0"/>
              <a:t>ared error</a:t>
            </a:r>
            <a:r>
              <a:rPr lang="zh-TW" altLang="en-US" sz="2000" dirty="0"/>
              <a:t> 。</a:t>
            </a:r>
            <a:endParaRPr lang="en-US" altLang="zh-TW" sz="2000" dirty="0" smtClean="0"/>
          </a:p>
          <a:p>
            <a:r>
              <a:rPr lang="en-US" altLang="zh-TW" sz="2400" dirty="0" smtClean="0"/>
              <a:t>AP algorithm </a:t>
            </a:r>
          </a:p>
          <a:p>
            <a:pPr lvl="1"/>
            <a:r>
              <a:rPr lang="zh-TW" altLang="en-US" sz="2000" dirty="0" smtClean="0"/>
              <a:t>同時</a:t>
            </a:r>
            <a:r>
              <a:rPr lang="zh-TW" altLang="en-US" sz="2000" dirty="0"/>
              <a:t>考慮全部的資料點為可能的 </a:t>
            </a:r>
            <a:r>
              <a:rPr lang="en-US" altLang="zh-TW" sz="2000" dirty="0" smtClean="0"/>
              <a:t>exemplars</a:t>
            </a:r>
            <a:endParaRPr lang="en-US" altLang="zh-TW" sz="2000" dirty="0"/>
          </a:p>
          <a:p>
            <a:pPr lvl="1"/>
            <a:r>
              <a:rPr lang="zh-TW" altLang="en-US" sz="2000" dirty="0" smtClean="0"/>
              <a:t>藉</a:t>
            </a:r>
            <a:r>
              <a:rPr lang="zh-TW" altLang="en-US" sz="2000" dirty="0"/>
              <a:t>由點與點之間的遞迴地交換資訊 ─ </a:t>
            </a:r>
            <a:r>
              <a:rPr lang="en-US" altLang="zh-TW" sz="2000" dirty="0"/>
              <a:t>"responsibility" </a:t>
            </a:r>
            <a:r>
              <a:rPr lang="en-US" altLang="zh-TW" sz="2000" dirty="0" smtClean="0"/>
              <a:t>&amp;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"availability"</a:t>
            </a:r>
            <a:r>
              <a:rPr lang="zh-TW" altLang="en-US" sz="2000" dirty="0"/>
              <a:t>，讓各個節點能夠知道誰是最適合自己的 </a:t>
            </a:r>
            <a:r>
              <a:rPr lang="en-US" altLang="zh-TW" sz="2000" dirty="0"/>
              <a:t>exemplar </a:t>
            </a:r>
            <a:r>
              <a:rPr lang="zh-TW" altLang="en-US" sz="2000" dirty="0"/>
              <a:t>以及自己有多大程度適合當 </a:t>
            </a:r>
            <a:r>
              <a:rPr lang="en-US" altLang="zh-TW" sz="2000" dirty="0"/>
              <a:t>exemplar</a:t>
            </a:r>
            <a:r>
              <a:rPr lang="zh-TW" altLang="en-US" sz="2000" dirty="0" smtClean="0"/>
              <a:t>。</a:t>
            </a:r>
            <a:endParaRPr lang="en-US" altLang="zh-TW" sz="2000" dirty="0" smtClean="0"/>
          </a:p>
          <a:p>
            <a:pPr lvl="1"/>
            <a:r>
              <a:rPr lang="zh-TW" altLang="en-US" sz="2000" dirty="0">
                <a:hlinkClick r:id="rId3"/>
              </a:rPr>
              <a:t>示意圖</a:t>
            </a:r>
            <a:r>
              <a:rPr lang="zh-TW" altLang="en-US" sz="2000" dirty="0"/>
              <a:t/>
            </a:r>
            <a:br>
              <a:rPr lang="zh-TW" altLang="en-US" sz="2000" dirty="0"/>
            </a:br>
            <a:endParaRPr lang="zh-TW" altLang="en-US" sz="2000" dirty="0"/>
          </a:p>
        </p:txBody>
      </p:sp>
      <p:pic>
        <p:nvPicPr>
          <p:cNvPr id="1026" name="Picture 2" descr="C:\Users\Dale\Desktop\apcluster-package_002_med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0" t="11179" r="4730" b="8725"/>
          <a:stretch/>
        </p:blipFill>
        <p:spPr bwMode="auto">
          <a:xfrm>
            <a:off x="6084168" y="4149872"/>
            <a:ext cx="2989596" cy="2708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03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354" y="188640"/>
            <a:ext cx="6002684" cy="2924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354" y="3401616"/>
            <a:ext cx="6058778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8456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2099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77" y="2063718"/>
            <a:ext cx="8147645" cy="4744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15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9" y="12225"/>
            <a:ext cx="5181600" cy="517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199" y="18399"/>
            <a:ext cx="3947801" cy="599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13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3" y="548680"/>
            <a:ext cx="9113397" cy="530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634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09550"/>
            <a:ext cx="5181600" cy="643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968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08920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Thanks for your listening.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778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1330</TotalTime>
  <Words>951</Words>
  <Application>Microsoft Office PowerPoint</Application>
  <PresentationFormat>如螢幕大小 (4:3)</PresentationFormat>
  <Paragraphs>75</Paragraphs>
  <Slides>14</Slides>
  <Notes>10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5" baseType="lpstr">
      <vt:lpstr>Office 佈景主題</vt:lpstr>
      <vt:lpstr>TASSER_low-zsc: An approach to improve structure prediction using low z-score–ranked templates</vt:lpstr>
      <vt:lpstr>Abstract(1/2)</vt:lpstr>
      <vt:lpstr>Abstract(2/2)</vt:lpstr>
      <vt:lpstr>Introduction</vt:lpstr>
      <vt:lpstr>TM-score</vt:lpstr>
      <vt:lpstr>PowerPoint 簡報</vt:lpstr>
      <vt:lpstr>Thread_cluster</vt:lpstr>
      <vt:lpstr>Affinity Propagation Algorithm</vt:lpstr>
      <vt:lpstr>PowerPoint 簡報</vt:lpstr>
      <vt:lpstr>PowerPoint 簡報</vt:lpstr>
      <vt:lpstr>PowerPoint 簡報</vt:lpstr>
      <vt:lpstr>PowerPoint 簡報</vt:lpstr>
      <vt:lpstr>PowerPoint 簡報</vt:lpstr>
      <vt:lpstr>Thanks for your listening.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TASSER_low-zsc: An approach to improve structure prediction using lowz-score–ranked templates</dc:title>
  <dc:creator>Dale</dc:creator>
  <cp:lastModifiedBy>Chun-Chieh Tai</cp:lastModifiedBy>
  <cp:revision>46</cp:revision>
  <dcterms:created xsi:type="dcterms:W3CDTF">2013-10-05T17:05:03Z</dcterms:created>
  <dcterms:modified xsi:type="dcterms:W3CDTF">2013-10-08T10:14:18Z</dcterms:modified>
</cp:coreProperties>
</file>