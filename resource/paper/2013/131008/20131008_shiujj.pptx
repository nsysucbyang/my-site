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79" r:id="rId4"/>
    <p:sldId id="278" r:id="rId5"/>
    <p:sldId id="277" r:id="rId6"/>
    <p:sldId id="276" r:id="rId7"/>
    <p:sldId id="280" r:id="rId8"/>
    <p:sldId id="281" r:id="rId9"/>
    <p:sldId id="275" r:id="rId10"/>
    <p:sldId id="274" r:id="rId1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23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AB5FB0-B2ED-4E2F-A013-0D3834BF9D53}" type="datetimeFigureOut">
              <a:rPr lang="zh-TW" altLang="en-US" smtClean="0"/>
              <a:t>2013/10/7</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2BEB50-B6E3-41E8-9C6B-A4F8CEE232D3}" type="slidenum">
              <a:rPr lang="zh-TW" altLang="en-US" smtClean="0"/>
              <a:t>‹#›</a:t>
            </a:fld>
            <a:endParaRPr lang="zh-TW" altLang="en-US"/>
          </a:p>
        </p:txBody>
      </p:sp>
    </p:spTree>
    <p:extLst>
      <p:ext uri="{BB962C8B-B14F-4D97-AF65-F5344CB8AC3E}">
        <p14:creationId xmlns:p14="http://schemas.microsoft.com/office/powerpoint/2010/main" val="3390206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E92BEB50-B6E3-41E8-9C6B-A4F8CEE232D3}" type="slidenum">
              <a:rPr lang="zh-TW" altLang="en-US" smtClean="0"/>
              <a:t>4</a:t>
            </a:fld>
            <a:endParaRPr lang="zh-TW" altLang="en-US"/>
          </a:p>
        </p:txBody>
      </p:sp>
    </p:spTree>
    <p:extLst>
      <p:ext uri="{BB962C8B-B14F-4D97-AF65-F5344CB8AC3E}">
        <p14:creationId xmlns:p14="http://schemas.microsoft.com/office/powerpoint/2010/main" val="3806777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598B1FC-FDBC-4A60-9939-D6110C3C3CB7}" type="datetime1">
              <a:rPr lang="zh-TW" altLang="en-US" smtClean="0"/>
              <a:t>2013/10/7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CF35AA8-C17B-49C4-9F55-79A4DAFC847E}" type="datetime1">
              <a:rPr lang="zh-TW" altLang="en-US" smtClean="0"/>
              <a:t>2013/10/7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A96A96A-FC63-4C61-823C-3BD62C2E28B8}" type="datetime1">
              <a:rPr lang="zh-TW" altLang="en-US" smtClean="0"/>
              <a:t>2013/10/7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8B2E92E-2B9A-487F-B01B-5FE56D55C6C1}" type="datetime1">
              <a:rPr lang="zh-TW" altLang="en-US" smtClean="0"/>
              <a:t>2013/10/7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156AAC1-9B63-4666-BB23-344CDF124E62}" type="datetime1">
              <a:rPr lang="zh-TW" altLang="en-US" smtClean="0"/>
              <a:t>2013/10/7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5E4E3BB-9CDE-4D13-BBDA-DD98F9CE892D}" type="datetime1">
              <a:rPr lang="zh-TW" altLang="en-US" smtClean="0"/>
              <a:t>2013/10/7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F152AD6-3F5F-4500-A699-DD6F81763D72}" type="datetime1">
              <a:rPr lang="zh-TW" altLang="en-US" smtClean="0"/>
              <a:t>2013/10/7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B846736-A346-4BC7-ADE5-4A3C96BA101E}" type="datetime1">
              <a:rPr lang="zh-TW" altLang="en-US" smtClean="0"/>
              <a:t>2013/10/7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DA39B9C-E24F-4392-968F-01188351DEFA}" type="datetime1">
              <a:rPr lang="zh-TW" altLang="en-US" smtClean="0"/>
              <a:t>2013/10/7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9F35204-8C53-4A42-8B7A-D264FC744199}" type="datetime1">
              <a:rPr lang="zh-TW" altLang="en-US" smtClean="0"/>
              <a:t>2013/10/7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2242D6C-28E0-4D29-AD77-CD7D08B3F689}" type="datetime1">
              <a:rPr lang="zh-TW" altLang="en-US" smtClean="0"/>
              <a:t>2013/10/7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5B5500-5665-4D2C-81B6-CB06C0A843FE}" type="datetime1">
              <a:rPr lang="zh-TW" altLang="en-US" smtClean="0"/>
              <a:t>2013/10/7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700808"/>
            <a:ext cx="7772400" cy="1470025"/>
          </a:xfrm>
        </p:spPr>
        <p:txBody>
          <a:bodyPr>
            <a:normAutofit fontScale="90000"/>
          </a:bodyPr>
          <a:lstStyle/>
          <a:p>
            <a:pPr fontAlgn="base"/>
            <a:r>
              <a:rPr lang="en-US" altLang="zh-TW" b="1" dirty="0"/>
              <a:t>Temporal significant wave height estimation from wind speed by perceptron </a:t>
            </a:r>
            <a:r>
              <a:rPr lang="en-US" altLang="zh-TW" b="1" dirty="0" err="1"/>
              <a:t>Kalman</a:t>
            </a:r>
            <a:r>
              <a:rPr lang="en-US" altLang="zh-TW" b="1" dirty="0"/>
              <a:t> filtering</a:t>
            </a:r>
          </a:p>
        </p:txBody>
      </p:sp>
      <p:sp>
        <p:nvSpPr>
          <p:cNvPr id="3" name="副標題 2"/>
          <p:cNvSpPr>
            <a:spLocks noGrp="1"/>
          </p:cNvSpPr>
          <p:nvPr>
            <p:ph type="subTitle" idx="1"/>
          </p:nvPr>
        </p:nvSpPr>
        <p:spPr>
          <a:xfrm>
            <a:off x="1403648" y="3501008"/>
            <a:ext cx="6400800" cy="1752600"/>
          </a:xfrm>
        </p:spPr>
        <p:txBody>
          <a:bodyPr>
            <a:normAutofit fontScale="92500" lnSpcReduction="10000"/>
          </a:bodyPr>
          <a:lstStyle/>
          <a:p>
            <a:r>
              <a:rPr lang="en-US" altLang="zh-TW" sz="1800" dirty="0" err="1">
                <a:solidFill>
                  <a:schemeClr val="tx1"/>
                </a:solidFill>
              </a:rPr>
              <a:t>Abdüsselam</a:t>
            </a:r>
            <a:r>
              <a:rPr lang="en-US" altLang="zh-TW" sz="1800" dirty="0">
                <a:solidFill>
                  <a:schemeClr val="tx1"/>
                </a:solidFill>
              </a:rPr>
              <a:t> </a:t>
            </a:r>
            <a:r>
              <a:rPr lang="en-US" altLang="zh-TW" sz="1800" dirty="0" err="1" smtClean="0">
                <a:solidFill>
                  <a:schemeClr val="tx1"/>
                </a:solidFill>
              </a:rPr>
              <a:t>Altunkaynak</a:t>
            </a:r>
            <a:r>
              <a:rPr lang="en-US" altLang="zh-TW" sz="1800" dirty="0">
                <a:solidFill>
                  <a:schemeClr val="tx1"/>
                </a:solidFill>
              </a:rPr>
              <a:t>, Mehmet </a:t>
            </a:r>
            <a:r>
              <a:rPr lang="en-US" altLang="zh-TW" sz="1800" dirty="0" err="1" smtClean="0">
                <a:solidFill>
                  <a:schemeClr val="tx1"/>
                </a:solidFill>
              </a:rPr>
              <a:t>Özger</a:t>
            </a:r>
            <a:endParaRPr lang="en-US" altLang="zh-TW" sz="1800" dirty="0" smtClean="0">
              <a:solidFill>
                <a:schemeClr val="tx1"/>
              </a:solidFill>
            </a:endParaRPr>
          </a:p>
          <a:p>
            <a:r>
              <a:rPr lang="en-US" altLang="zh-TW" sz="1800" dirty="0">
                <a:solidFill>
                  <a:schemeClr val="tx1"/>
                </a:solidFill>
              </a:rPr>
              <a:t>Civil Engineering Faculty, Hydraulics Division, Istanbul Technical University, </a:t>
            </a:r>
            <a:r>
              <a:rPr lang="en-US" altLang="zh-TW" sz="1800" dirty="0" err="1">
                <a:solidFill>
                  <a:schemeClr val="tx1"/>
                </a:solidFill>
              </a:rPr>
              <a:t>Maslak</a:t>
            </a:r>
            <a:r>
              <a:rPr lang="en-US" altLang="zh-TW" sz="1800" dirty="0">
                <a:solidFill>
                  <a:schemeClr val="tx1"/>
                </a:solidFill>
              </a:rPr>
              <a:t> </a:t>
            </a:r>
            <a:r>
              <a:rPr lang="en-US" altLang="zh-TW" sz="1800" dirty="0" smtClean="0">
                <a:solidFill>
                  <a:schemeClr val="tx1"/>
                </a:solidFill>
              </a:rPr>
              <a:t>34469, Istanbul</a:t>
            </a:r>
            <a:r>
              <a:rPr lang="en-US" altLang="zh-TW" sz="1800" dirty="0">
                <a:solidFill>
                  <a:schemeClr val="tx1"/>
                </a:solidFill>
              </a:rPr>
              <a:t>, Turkey</a:t>
            </a:r>
            <a:endParaRPr lang="en-US" altLang="zh-TW" sz="1800" dirty="0">
              <a:solidFill>
                <a:schemeClr val="tx1"/>
              </a:solidFill>
            </a:endParaRPr>
          </a:p>
          <a:p>
            <a:r>
              <a:rPr lang="en-US" altLang="zh-TW" sz="1800" dirty="0" smtClean="0">
                <a:solidFill>
                  <a:schemeClr val="tx1"/>
                </a:solidFill>
              </a:rPr>
              <a:t>Ocean </a:t>
            </a:r>
            <a:r>
              <a:rPr lang="en-US" altLang="zh-TW" sz="1800" dirty="0">
                <a:solidFill>
                  <a:schemeClr val="tx1"/>
                </a:solidFill>
              </a:rPr>
              <a:t>Engineering 31 (2004) </a:t>
            </a:r>
            <a:r>
              <a:rPr lang="en-US" altLang="zh-TW" sz="1800" dirty="0" smtClean="0">
                <a:solidFill>
                  <a:schemeClr val="tx1"/>
                </a:solidFill>
              </a:rPr>
              <a:t>1245–1255</a:t>
            </a:r>
          </a:p>
          <a:p>
            <a:r>
              <a:rPr lang="fr-FR" altLang="zh-TW" sz="1800" dirty="0" smtClean="0">
                <a:solidFill>
                  <a:schemeClr val="tx1"/>
                </a:solidFill>
                <a:latin typeface="標楷體" pitchFamily="65" charset="-120"/>
                <a:ea typeface="標楷體" pitchFamily="65" charset="-120"/>
              </a:rPr>
              <a:t>Presenter</a:t>
            </a:r>
            <a:r>
              <a:rPr lang="fr-FR" altLang="zh-TW" sz="1800" dirty="0">
                <a:solidFill>
                  <a:schemeClr val="tx1"/>
                </a:solidFill>
                <a:latin typeface="標楷體" pitchFamily="65" charset="-120"/>
                <a:ea typeface="標楷體" pitchFamily="65" charset="-120"/>
              </a:rPr>
              <a:t>: </a:t>
            </a:r>
            <a:r>
              <a:rPr lang="zh-TW" altLang="en-US" sz="1800" dirty="0">
                <a:solidFill>
                  <a:schemeClr val="tx1"/>
                </a:solidFill>
                <a:latin typeface="標楷體" pitchFamily="65" charset="-120"/>
                <a:ea typeface="標楷體" pitchFamily="65" charset="-120"/>
              </a:rPr>
              <a:t>許竣傑</a:t>
            </a:r>
            <a:endParaRPr lang="en-US" altLang="zh-TW" sz="1800" dirty="0">
              <a:solidFill>
                <a:schemeClr val="tx1"/>
              </a:solidFill>
              <a:latin typeface="標楷體" pitchFamily="65" charset="-120"/>
              <a:ea typeface="標楷體" pitchFamily="65" charset="-120"/>
            </a:endParaRPr>
          </a:p>
          <a:p>
            <a:r>
              <a:rPr lang="fr-FR" altLang="zh-TW" sz="1800" dirty="0" smtClean="0">
                <a:solidFill>
                  <a:schemeClr val="tx1"/>
                </a:solidFill>
                <a:latin typeface="標楷體" pitchFamily="65" charset="-120"/>
                <a:ea typeface="標楷體" pitchFamily="65" charset="-120"/>
              </a:rPr>
              <a:t>2013/</a:t>
            </a:r>
            <a:r>
              <a:rPr lang="en-US" altLang="zh-TW" sz="1800" dirty="0" smtClean="0">
                <a:solidFill>
                  <a:schemeClr val="tx1"/>
                </a:solidFill>
                <a:latin typeface="標楷體" pitchFamily="65" charset="-120"/>
                <a:ea typeface="標楷體" pitchFamily="65" charset="-120"/>
              </a:rPr>
              <a:t>10</a:t>
            </a:r>
            <a:r>
              <a:rPr lang="fr-FR" altLang="zh-TW" sz="1800" dirty="0" smtClean="0">
                <a:solidFill>
                  <a:schemeClr val="tx1"/>
                </a:solidFill>
                <a:latin typeface="標楷體" pitchFamily="65" charset="-120"/>
                <a:ea typeface="標楷體" pitchFamily="65" charset="-120"/>
              </a:rPr>
              <a:t>/</a:t>
            </a:r>
            <a:r>
              <a:rPr lang="en-US" altLang="zh-TW" sz="1800" dirty="0" smtClean="0">
                <a:solidFill>
                  <a:schemeClr val="tx1"/>
                </a:solidFill>
                <a:latin typeface="標楷體" pitchFamily="65" charset="-120"/>
                <a:ea typeface="標楷體" pitchFamily="65" charset="-120"/>
              </a:rPr>
              <a:t>08</a:t>
            </a:r>
            <a:endParaRPr lang="it-IT" altLang="zh-TW" sz="1800" dirty="0" smtClean="0">
              <a:latin typeface="標楷體" pitchFamily="65" charset="-120"/>
              <a:ea typeface="標楷體" pitchFamily="65" charset="-120"/>
            </a:endParaRPr>
          </a:p>
          <a:p>
            <a:endParaRPr lang="it-IT" altLang="zh-TW" sz="1800" dirty="0">
              <a:latin typeface="標楷體" pitchFamily="65" charset="-120"/>
              <a:ea typeface="標楷體" pitchFamily="65" charset="-120"/>
            </a:endParaRPr>
          </a:p>
          <a:p>
            <a:endParaRPr lang="zh-TW" altLang="en-US" sz="1800" dirty="0">
              <a:latin typeface="標楷體" pitchFamily="65" charset="-120"/>
              <a:ea typeface="標楷體" pitchFamily="65" charset="-120"/>
            </a:endParaRP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t>1</a:t>
            </a:fld>
            <a:endParaRPr lang="zh-TW" altLang="en-US"/>
          </a:p>
        </p:txBody>
      </p:sp>
    </p:spTree>
    <p:extLst>
      <p:ext uri="{BB962C8B-B14F-4D97-AF65-F5344CB8AC3E}">
        <p14:creationId xmlns:p14="http://schemas.microsoft.com/office/powerpoint/2010/main" val="14560279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18356" y="73100"/>
            <a:ext cx="8229600" cy="1143000"/>
          </a:xfrm>
        </p:spPr>
        <p:txBody>
          <a:bodyPr/>
          <a:lstStyle/>
          <a:p>
            <a:r>
              <a:rPr lang="en-US" altLang="zh-TW" b="1" dirty="0" smtClean="0"/>
              <a:t>Abstract</a:t>
            </a:r>
            <a:endParaRPr lang="zh-TW" altLang="en-US" b="1" dirty="0"/>
          </a:p>
        </p:txBody>
      </p:sp>
      <p:sp>
        <p:nvSpPr>
          <p:cNvPr id="3" name="內容版面配置區 2"/>
          <p:cNvSpPr>
            <a:spLocks noGrp="1"/>
          </p:cNvSpPr>
          <p:nvPr>
            <p:ph idx="1"/>
          </p:nvPr>
        </p:nvSpPr>
        <p:spPr>
          <a:xfrm>
            <a:off x="179512" y="1196752"/>
            <a:ext cx="8507288" cy="5159598"/>
          </a:xfrm>
        </p:spPr>
        <p:txBody>
          <a:bodyPr>
            <a:normAutofit/>
          </a:bodyPr>
          <a:lstStyle/>
          <a:p>
            <a:r>
              <a:rPr lang="en-US" altLang="zh-TW" sz="2000" dirty="0"/>
              <a:t>Significant wave height estimates are necessary for many applications in coastal and offshore engineering and therefore various estimation models are proposed in the literature for this purpose. Unfortunately, most of these models provide simultaneous wave height estimations from wind speed measurements. However, in practical studies, the prediction of significant wave height is necessary from previous time interval measurements. This paper presents a dynamic significant wave height prediction procedure based on the perceptron </a:t>
            </a:r>
            <a:r>
              <a:rPr lang="en-US" altLang="zh-TW" sz="2000" dirty="0" err="1"/>
              <a:t>Kalman</a:t>
            </a:r>
            <a:r>
              <a:rPr lang="en-US" altLang="zh-TW" sz="2000" dirty="0"/>
              <a:t> filtering</a:t>
            </a:r>
            <a:r>
              <a:rPr lang="en-US" altLang="zh-TW" sz="2000" dirty="0">
                <a:solidFill>
                  <a:srgbClr val="FF0000"/>
                </a:solidFill>
              </a:rPr>
              <a:t> </a:t>
            </a:r>
            <a:r>
              <a:rPr lang="en-US" altLang="zh-TW" sz="2000" dirty="0"/>
              <a:t>concepts. Past measurements of significant wave height and wind speed variables are used for training the adaptive model and it is then employed to predict the significant wave height amounts for future time intervals from the wind speed measurements only. The verification of the proposed model is achieved through the dynamic significant wave height and wind speed time series plots, observed versus predicted values scatter diagram and the classical linear significant wave height models. The application of the proposed model is presented for a station in USA</a:t>
            </a:r>
            <a:endParaRPr lang="zh-TW" altLang="en-US" sz="2000"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2</a:t>
            </a:fld>
            <a:endParaRPr lang="zh-TW" altLang="en-US"/>
          </a:p>
        </p:txBody>
      </p:sp>
    </p:spTree>
    <p:extLst>
      <p:ext uri="{BB962C8B-B14F-4D97-AF65-F5344CB8AC3E}">
        <p14:creationId xmlns:p14="http://schemas.microsoft.com/office/powerpoint/2010/main" val="23892609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Kalman</a:t>
            </a:r>
            <a:r>
              <a:rPr lang="en-US" altLang="zh-TW" dirty="0" smtClean="0"/>
              <a:t> Filtering</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3</a:t>
            </a:fld>
            <a:endParaRPr lang="zh-TW" altLang="en-US"/>
          </a:p>
        </p:txBody>
      </p:sp>
      <p:sp>
        <p:nvSpPr>
          <p:cNvPr id="6" name="矩形 5"/>
          <p:cNvSpPr/>
          <p:nvPr/>
        </p:nvSpPr>
        <p:spPr>
          <a:xfrm>
            <a:off x="1187624" y="1988840"/>
            <a:ext cx="492443" cy="369332"/>
          </a:xfrm>
          <a:prstGeom prst="rect">
            <a:avLst/>
          </a:prstGeom>
        </p:spPr>
        <p:txBody>
          <a:bodyPr wrap="none">
            <a:spAutoFit/>
          </a:bodyPr>
          <a:lstStyle/>
          <a:p>
            <a:r>
              <a:rPr lang="en-US" altLang="zh-TW" dirty="0" smtClean="0"/>
              <a:t>K-1</a:t>
            </a:r>
            <a:endParaRPr lang="zh-TW" altLang="en-US" dirty="0"/>
          </a:p>
        </p:txBody>
      </p:sp>
      <p:sp>
        <p:nvSpPr>
          <p:cNvPr id="7" name="矩形 6"/>
          <p:cNvSpPr/>
          <p:nvPr/>
        </p:nvSpPr>
        <p:spPr>
          <a:xfrm>
            <a:off x="3419872" y="2016840"/>
            <a:ext cx="288862" cy="369332"/>
          </a:xfrm>
          <a:prstGeom prst="rect">
            <a:avLst/>
          </a:prstGeom>
        </p:spPr>
        <p:txBody>
          <a:bodyPr wrap="none">
            <a:spAutoFit/>
          </a:bodyPr>
          <a:lstStyle/>
          <a:p>
            <a:r>
              <a:rPr lang="en-US" altLang="zh-TW" dirty="0" smtClean="0"/>
              <a:t>k</a:t>
            </a:r>
            <a:endParaRPr lang="zh-TW" altLang="en-US" dirty="0"/>
          </a:p>
        </p:txBody>
      </p:sp>
      <p:sp>
        <p:nvSpPr>
          <p:cNvPr id="8" name="矩形 7"/>
          <p:cNvSpPr/>
          <p:nvPr/>
        </p:nvSpPr>
        <p:spPr>
          <a:xfrm>
            <a:off x="5580112" y="2016840"/>
            <a:ext cx="537327" cy="369332"/>
          </a:xfrm>
          <a:prstGeom prst="rect">
            <a:avLst/>
          </a:prstGeom>
        </p:spPr>
        <p:txBody>
          <a:bodyPr wrap="none">
            <a:spAutoFit/>
          </a:bodyPr>
          <a:lstStyle/>
          <a:p>
            <a:r>
              <a:rPr lang="en-US" altLang="zh-TW" dirty="0" smtClean="0"/>
              <a:t>K+1</a:t>
            </a:r>
            <a:endParaRPr lang="zh-TW" altLang="en-US" dirty="0"/>
          </a:p>
        </p:txBody>
      </p:sp>
      <p:sp>
        <p:nvSpPr>
          <p:cNvPr id="9" name="矩形 8"/>
          <p:cNvSpPr/>
          <p:nvPr/>
        </p:nvSpPr>
        <p:spPr>
          <a:xfrm>
            <a:off x="995263" y="2540734"/>
            <a:ext cx="877163" cy="369332"/>
          </a:xfrm>
          <a:prstGeom prst="rect">
            <a:avLst/>
          </a:prstGeom>
        </p:spPr>
        <p:txBody>
          <a:bodyPr wrap="none">
            <a:spAutoFit/>
          </a:bodyPr>
          <a:lstStyle/>
          <a:p>
            <a:r>
              <a:rPr lang="zh-TW" altLang="en-US" dirty="0" smtClean="0"/>
              <a:t>預測值</a:t>
            </a:r>
            <a:endParaRPr lang="zh-TW" altLang="en-US" dirty="0"/>
          </a:p>
        </p:txBody>
      </p:sp>
      <p:sp>
        <p:nvSpPr>
          <p:cNvPr id="10" name="矩形 9"/>
          <p:cNvSpPr/>
          <p:nvPr/>
        </p:nvSpPr>
        <p:spPr>
          <a:xfrm>
            <a:off x="995263" y="3249672"/>
            <a:ext cx="877163" cy="369332"/>
          </a:xfrm>
          <a:prstGeom prst="rect">
            <a:avLst/>
          </a:prstGeom>
        </p:spPr>
        <p:txBody>
          <a:bodyPr wrap="none">
            <a:spAutoFit/>
          </a:bodyPr>
          <a:lstStyle/>
          <a:p>
            <a:r>
              <a:rPr lang="zh-TW" altLang="en-US" dirty="0" smtClean="0"/>
              <a:t>測量值</a:t>
            </a:r>
            <a:endParaRPr lang="zh-TW" altLang="en-US" dirty="0"/>
          </a:p>
        </p:txBody>
      </p:sp>
      <p:cxnSp>
        <p:nvCxnSpPr>
          <p:cNvPr id="12" name="直線單箭頭接點 11"/>
          <p:cNvCxnSpPr/>
          <p:nvPr/>
        </p:nvCxnSpPr>
        <p:spPr>
          <a:xfrm>
            <a:off x="1861042" y="2784472"/>
            <a:ext cx="1135077" cy="123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V="1">
            <a:off x="1872426" y="2907608"/>
            <a:ext cx="1123693" cy="523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3001043" y="2725400"/>
            <a:ext cx="877163" cy="369332"/>
          </a:xfrm>
          <a:prstGeom prst="rect">
            <a:avLst/>
          </a:prstGeom>
        </p:spPr>
        <p:txBody>
          <a:bodyPr wrap="none">
            <a:spAutoFit/>
          </a:bodyPr>
          <a:lstStyle/>
          <a:p>
            <a:r>
              <a:rPr lang="zh-TW" altLang="en-US" dirty="0" smtClean="0"/>
              <a:t>最佳值</a:t>
            </a:r>
            <a:endParaRPr lang="zh-TW" altLang="en-US" dirty="0"/>
          </a:p>
        </p:txBody>
      </p:sp>
      <p:cxnSp>
        <p:nvCxnSpPr>
          <p:cNvPr id="22" name="直線單箭頭接點 21"/>
          <p:cNvCxnSpPr/>
          <p:nvPr/>
        </p:nvCxnSpPr>
        <p:spPr>
          <a:xfrm flipV="1">
            <a:off x="3875184" y="2907608"/>
            <a:ext cx="389768" cy="14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4267390" y="2725400"/>
            <a:ext cx="877163" cy="369332"/>
          </a:xfrm>
          <a:prstGeom prst="rect">
            <a:avLst/>
          </a:prstGeom>
        </p:spPr>
        <p:txBody>
          <a:bodyPr wrap="none">
            <a:spAutoFit/>
          </a:bodyPr>
          <a:lstStyle/>
          <a:p>
            <a:r>
              <a:rPr lang="zh-TW" altLang="en-US" dirty="0" smtClean="0"/>
              <a:t>預測值</a:t>
            </a:r>
            <a:endParaRPr lang="zh-TW" altLang="en-US" dirty="0"/>
          </a:p>
        </p:txBody>
      </p:sp>
      <p:sp>
        <p:nvSpPr>
          <p:cNvPr id="27" name="矩形 26"/>
          <p:cNvSpPr/>
          <p:nvPr/>
        </p:nvSpPr>
        <p:spPr>
          <a:xfrm>
            <a:off x="4264952" y="3244734"/>
            <a:ext cx="877163" cy="369332"/>
          </a:xfrm>
          <a:prstGeom prst="rect">
            <a:avLst/>
          </a:prstGeom>
        </p:spPr>
        <p:txBody>
          <a:bodyPr wrap="none">
            <a:spAutoFit/>
          </a:bodyPr>
          <a:lstStyle/>
          <a:p>
            <a:r>
              <a:rPr lang="zh-TW" altLang="en-US" dirty="0" smtClean="0"/>
              <a:t>測量值</a:t>
            </a:r>
            <a:endParaRPr lang="zh-TW" altLang="en-US" dirty="0"/>
          </a:p>
        </p:txBody>
      </p:sp>
      <p:cxnSp>
        <p:nvCxnSpPr>
          <p:cNvPr id="28" name="直線單箭頭接點 27"/>
          <p:cNvCxnSpPr/>
          <p:nvPr/>
        </p:nvCxnSpPr>
        <p:spPr>
          <a:xfrm>
            <a:off x="5144553" y="2929938"/>
            <a:ext cx="435559" cy="3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5580112" y="2745272"/>
            <a:ext cx="877163" cy="369332"/>
          </a:xfrm>
          <a:prstGeom prst="rect">
            <a:avLst/>
          </a:prstGeom>
        </p:spPr>
        <p:txBody>
          <a:bodyPr wrap="none">
            <a:spAutoFit/>
          </a:bodyPr>
          <a:lstStyle/>
          <a:p>
            <a:r>
              <a:rPr lang="zh-TW" altLang="en-US" dirty="0" smtClean="0"/>
              <a:t>最佳值</a:t>
            </a:r>
            <a:endParaRPr lang="zh-TW" altLang="en-US" dirty="0"/>
          </a:p>
        </p:txBody>
      </p:sp>
      <p:cxnSp>
        <p:nvCxnSpPr>
          <p:cNvPr id="31" name="直線單箭頭接點 30"/>
          <p:cNvCxnSpPr/>
          <p:nvPr/>
        </p:nvCxnSpPr>
        <p:spPr>
          <a:xfrm flipV="1">
            <a:off x="5142115" y="2960720"/>
            <a:ext cx="437997" cy="446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 name="圖片 40"/>
          <p:cNvPicPr>
            <a:picLocks noChangeAspect="1"/>
          </p:cNvPicPr>
          <p:nvPr/>
        </p:nvPicPr>
        <p:blipFill>
          <a:blip r:embed="rId2"/>
          <a:stretch>
            <a:fillRect/>
          </a:stretch>
        </p:blipFill>
        <p:spPr>
          <a:xfrm>
            <a:off x="529401" y="3654256"/>
            <a:ext cx="2686050" cy="514350"/>
          </a:xfrm>
          <a:prstGeom prst="rect">
            <a:avLst/>
          </a:prstGeom>
        </p:spPr>
      </p:pic>
      <p:pic>
        <p:nvPicPr>
          <p:cNvPr id="42" name="圖片 41"/>
          <p:cNvPicPr>
            <a:picLocks noChangeAspect="1"/>
          </p:cNvPicPr>
          <p:nvPr/>
        </p:nvPicPr>
        <p:blipFill>
          <a:blip r:embed="rId3"/>
          <a:stretch>
            <a:fillRect/>
          </a:stretch>
        </p:blipFill>
        <p:spPr>
          <a:xfrm>
            <a:off x="529401" y="4197340"/>
            <a:ext cx="4019550" cy="485775"/>
          </a:xfrm>
          <a:prstGeom prst="rect">
            <a:avLst/>
          </a:prstGeom>
        </p:spPr>
      </p:pic>
      <p:pic>
        <p:nvPicPr>
          <p:cNvPr id="43" name="圖片 42"/>
          <p:cNvPicPr>
            <a:picLocks noChangeAspect="1"/>
          </p:cNvPicPr>
          <p:nvPr/>
        </p:nvPicPr>
        <p:blipFill>
          <a:blip r:embed="rId4"/>
          <a:stretch>
            <a:fillRect/>
          </a:stretch>
        </p:blipFill>
        <p:spPr>
          <a:xfrm>
            <a:off x="529401" y="4716674"/>
            <a:ext cx="4743450" cy="447675"/>
          </a:xfrm>
          <a:prstGeom prst="rect">
            <a:avLst/>
          </a:prstGeom>
        </p:spPr>
      </p:pic>
      <p:pic>
        <p:nvPicPr>
          <p:cNvPr id="44" name="圖片 43"/>
          <p:cNvPicPr>
            <a:picLocks noChangeAspect="1"/>
          </p:cNvPicPr>
          <p:nvPr/>
        </p:nvPicPr>
        <p:blipFill>
          <a:blip r:embed="rId5"/>
          <a:stretch>
            <a:fillRect/>
          </a:stretch>
        </p:blipFill>
        <p:spPr>
          <a:xfrm>
            <a:off x="529401" y="5208471"/>
            <a:ext cx="5695950" cy="504825"/>
          </a:xfrm>
          <a:prstGeom prst="rect">
            <a:avLst/>
          </a:prstGeom>
        </p:spPr>
      </p:pic>
      <p:pic>
        <p:nvPicPr>
          <p:cNvPr id="45" name="圖片 44"/>
          <p:cNvPicPr>
            <a:picLocks noChangeAspect="1"/>
          </p:cNvPicPr>
          <p:nvPr/>
        </p:nvPicPr>
        <p:blipFill>
          <a:blip r:embed="rId6"/>
          <a:stretch>
            <a:fillRect/>
          </a:stretch>
        </p:blipFill>
        <p:spPr>
          <a:xfrm>
            <a:off x="529401" y="5705837"/>
            <a:ext cx="6286500" cy="466725"/>
          </a:xfrm>
          <a:prstGeom prst="rect">
            <a:avLst/>
          </a:prstGeom>
        </p:spPr>
      </p:pic>
    </p:spTree>
    <p:extLst>
      <p:ext uri="{BB962C8B-B14F-4D97-AF65-F5344CB8AC3E}">
        <p14:creationId xmlns:p14="http://schemas.microsoft.com/office/powerpoint/2010/main" val="41344024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sp>
        <p:nvSpPr>
          <p:cNvPr id="3" name="內容版面配置區 2"/>
          <p:cNvSpPr>
            <a:spLocks noGrp="1"/>
          </p:cNvSpPr>
          <p:nvPr>
            <p:ph idx="1"/>
          </p:nvPr>
        </p:nvSpPr>
        <p:spPr/>
        <p:txBody>
          <a:bodyPr/>
          <a:lstStyle/>
          <a:p>
            <a:r>
              <a:rPr lang="zh-TW" altLang="en-US" sz="2400" dirty="0" smtClean="0"/>
              <a:t>房間的溫度</a:t>
            </a:r>
            <a:endParaRPr lang="en-US" altLang="zh-TW" sz="2400" dirty="0" smtClean="0"/>
          </a:p>
          <a:p>
            <a:r>
              <a:rPr lang="zh-TW" altLang="en-US" sz="2400" dirty="0" smtClean="0"/>
              <a:t>預測方法</a:t>
            </a:r>
            <a:r>
              <a:rPr lang="en-US" altLang="zh-TW" sz="2400" dirty="0" smtClean="0"/>
              <a:t>:</a:t>
            </a:r>
            <a:r>
              <a:rPr lang="zh-TW" altLang="en-US" sz="2400" dirty="0" smtClean="0"/>
              <a:t>與上一時刻相同</a:t>
            </a:r>
            <a:r>
              <a:rPr lang="en-US" altLang="zh-TW" sz="2400" dirty="0" smtClean="0"/>
              <a:t>,</a:t>
            </a:r>
            <a:r>
              <a:rPr lang="zh-TW" altLang="en-US" sz="2400" dirty="0" smtClean="0"/>
              <a:t> </a:t>
            </a:r>
            <a:r>
              <a:rPr lang="en-US" altLang="zh-TW" sz="2400" dirty="0" smtClean="0"/>
              <a:t>variance 4</a:t>
            </a:r>
          </a:p>
          <a:p>
            <a:r>
              <a:rPr lang="zh-TW" altLang="en-US" sz="2400" dirty="0" smtClean="0"/>
              <a:t>測量方法</a:t>
            </a:r>
            <a:r>
              <a:rPr lang="en-US" altLang="zh-TW" sz="2400" dirty="0" smtClean="0"/>
              <a:t>:</a:t>
            </a:r>
            <a:r>
              <a:rPr lang="zh-TW" altLang="en-US" sz="2400" dirty="0" smtClean="0"/>
              <a:t>溫度計</a:t>
            </a:r>
            <a:r>
              <a:rPr lang="en-US" altLang="zh-TW" sz="2400" dirty="0" smtClean="0"/>
              <a:t>, variance 4</a:t>
            </a:r>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4</a:t>
            </a:fld>
            <a:endParaRPr lang="zh-TW" altLang="en-US" dirty="0"/>
          </a:p>
        </p:txBody>
      </p:sp>
      <p:sp>
        <p:nvSpPr>
          <p:cNvPr id="5" name="矩形 4"/>
          <p:cNvSpPr/>
          <p:nvPr/>
        </p:nvSpPr>
        <p:spPr>
          <a:xfrm>
            <a:off x="1056218" y="3137242"/>
            <a:ext cx="492443" cy="369332"/>
          </a:xfrm>
          <a:prstGeom prst="rect">
            <a:avLst/>
          </a:prstGeom>
        </p:spPr>
        <p:txBody>
          <a:bodyPr wrap="none">
            <a:spAutoFit/>
          </a:bodyPr>
          <a:lstStyle/>
          <a:p>
            <a:r>
              <a:rPr lang="en-US" altLang="zh-TW" dirty="0" smtClean="0"/>
              <a:t>K-1</a:t>
            </a:r>
            <a:endParaRPr lang="zh-TW" altLang="en-US" dirty="0"/>
          </a:p>
        </p:txBody>
      </p:sp>
      <p:sp>
        <p:nvSpPr>
          <p:cNvPr id="6" name="矩形 5"/>
          <p:cNvSpPr/>
          <p:nvPr/>
        </p:nvSpPr>
        <p:spPr>
          <a:xfrm>
            <a:off x="4235386" y="3137242"/>
            <a:ext cx="288862" cy="369332"/>
          </a:xfrm>
          <a:prstGeom prst="rect">
            <a:avLst/>
          </a:prstGeom>
        </p:spPr>
        <p:txBody>
          <a:bodyPr wrap="none">
            <a:spAutoFit/>
          </a:bodyPr>
          <a:lstStyle/>
          <a:p>
            <a:r>
              <a:rPr lang="en-US" altLang="zh-TW" dirty="0" smtClean="0"/>
              <a:t>k</a:t>
            </a:r>
            <a:endParaRPr lang="zh-TW" altLang="en-US" dirty="0"/>
          </a:p>
        </p:txBody>
      </p:sp>
      <p:sp>
        <p:nvSpPr>
          <p:cNvPr id="7" name="矩形 6"/>
          <p:cNvSpPr/>
          <p:nvPr/>
        </p:nvSpPr>
        <p:spPr>
          <a:xfrm>
            <a:off x="7351336" y="3137242"/>
            <a:ext cx="537327" cy="369332"/>
          </a:xfrm>
          <a:prstGeom prst="rect">
            <a:avLst/>
          </a:prstGeom>
        </p:spPr>
        <p:txBody>
          <a:bodyPr wrap="none">
            <a:spAutoFit/>
          </a:bodyPr>
          <a:lstStyle/>
          <a:p>
            <a:r>
              <a:rPr lang="en-US" altLang="zh-TW" dirty="0" smtClean="0"/>
              <a:t>K+1</a:t>
            </a:r>
            <a:endParaRPr lang="zh-TW" altLang="en-US" dirty="0"/>
          </a:p>
        </p:txBody>
      </p:sp>
      <p:sp>
        <p:nvSpPr>
          <p:cNvPr id="8" name="矩形 7"/>
          <p:cNvSpPr/>
          <p:nvPr/>
        </p:nvSpPr>
        <p:spPr>
          <a:xfrm>
            <a:off x="715579" y="3528127"/>
            <a:ext cx="1173719" cy="369332"/>
          </a:xfrm>
          <a:prstGeom prst="rect">
            <a:avLst/>
          </a:prstGeom>
        </p:spPr>
        <p:txBody>
          <a:bodyPr wrap="none">
            <a:spAutoFit/>
          </a:bodyPr>
          <a:lstStyle/>
          <a:p>
            <a:r>
              <a:rPr lang="zh-TW" altLang="en-US" dirty="0" smtClean="0"/>
              <a:t>預測值</a:t>
            </a:r>
            <a:r>
              <a:rPr lang="en-US" altLang="zh-TW" dirty="0" smtClean="0"/>
              <a:t>:23</a:t>
            </a:r>
            <a:endParaRPr lang="zh-TW" altLang="en-US" dirty="0"/>
          </a:p>
        </p:txBody>
      </p:sp>
      <p:sp>
        <p:nvSpPr>
          <p:cNvPr id="9" name="矩形 8"/>
          <p:cNvSpPr/>
          <p:nvPr/>
        </p:nvSpPr>
        <p:spPr>
          <a:xfrm>
            <a:off x="715578" y="4468092"/>
            <a:ext cx="1173719" cy="369332"/>
          </a:xfrm>
          <a:prstGeom prst="rect">
            <a:avLst/>
          </a:prstGeom>
        </p:spPr>
        <p:txBody>
          <a:bodyPr wrap="none">
            <a:spAutoFit/>
          </a:bodyPr>
          <a:lstStyle/>
          <a:p>
            <a:r>
              <a:rPr lang="zh-TW" altLang="en-US" dirty="0" smtClean="0"/>
              <a:t>測量值</a:t>
            </a:r>
            <a:r>
              <a:rPr lang="en-US" altLang="zh-TW" dirty="0" smtClean="0"/>
              <a:t>:25</a:t>
            </a:r>
            <a:endParaRPr lang="zh-TW" altLang="en-US" dirty="0"/>
          </a:p>
        </p:txBody>
      </p:sp>
      <p:sp>
        <p:nvSpPr>
          <p:cNvPr id="10" name="矩形 9"/>
          <p:cNvSpPr/>
          <p:nvPr/>
        </p:nvSpPr>
        <p:spPr>
          <a:xfrm>
            <a:off x="3286608" y="3528127"/>
            <a:ext cx="2797560" cy="369332"/>
          </a:xfrm>
          <a:prstGeom prst="rect">
            <a:avLst/>
          </a:prstGeom>
        </p:spPr>
        <p:txBody>
          <a:bodyPr wrap="square">
            <a:spAutoFit/>
          </a:bodyPr>
          <a:lstStyle/>
          <a:p>
            <a:r>
              <a:rPr lang="zh-TW" altLang="en-US" dirty="0" smtClean="0"/>
              <a:t>最佳值</a:t>
            </a:r>
            <a:r>
              <a:rPr lang="en-US" altLang="zh-TW" dirty="0" smtClean="0"/>
              <a:t>:23+k(25-23)=24.56</a:t>
            </a:r>
            <a:endParaRPr lang="zh-TW" altLang="en-US" dirty="0"/>
          </a:p>
        </p:txBody>
      </p:sp>
      <mc:AlternateContent xmlns:mc="http://schemas.openxmlformats.org/markup-compatibility/2006">
        <mc:Choice xmlns:a14="http://schemas.microsoft.com/office/drawing/2010/main" Requires="a14">
          <p:sp>
            <p:nvSpPr>
              <p:cNvPr id="11" name="矩形 10"/>
              <p:cNvSpPr/>
              <p:nvPr/>
            </p:nvSpPr>
            <p:spPr>
              <a:xfrm>
                <a:off x="3286608" y="3914419"/>
                <a:ext cx="1827873" cy="656013"/>
              </a:xfrm>
              <a:prstGeom prst="rect">
                <a:avLst/>
              </a:prstGeom>
            </p:spPr>
            <p:txBody>
              <a:bodyPr wrap="none">
                <a:spAutoFit/>
              </a:bodyPr>
              <a:lstStyle/>
              <a:p>
                <a:r>
                  <a:rPr lang="en-US" altLang="zh-TW" dirty="0" smtClean="0"/>
                  <a:t>K=</a:t>
                </a:r>
                <a14:m>
                  <m:oMath xmlns:m="http://schemas.openxmlformats.org/officeDocument/2006/math">
                    <m:rad>
                      <m:radPr>
                        <m:degHide m:val="on"/>
                        <m:ctrlPr>
                          <a:rPr lang="en-US" altLang="zh-TW" i="1" smtClean="0">
                            <a:latin typeface="Cambria Math" panose="02040503050406030204" pitchFamily="18" charset="0"/>
                          </a:rPr>
                        </m:ctrlPr>
                      </m:radPr>
                      <m:deg/>
                      <m:e>
                        <m:f>
                          <m:fPr>
                            <m:ctrlPr>
                              <a:rPr lang="en-US" altLang="zh-TW" i="1" smtClean="0">
                                <a:latin typeface="Cambria Math" panose="02040503050406030204" pitchFamily="18" charset="0"/>
                              </a:rPr>
                            </m:ctrlPr>
                          </m:fPr>
                          <m:num>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5</m:t>
                                </m:r>
                              </m:e>
                              <m:sup>
                                <m:r>
                                  <a:rPr lang="en-US" altLang="zh-TW" b="0" i="1" smtClean="0">
                                    <a:latin typeface="Cambria Math" panose="02040503050406030204" pitchFamily="18" charset="0"/>
                                  </a:rPr>
                                  <m:t>2</m:t>
                                </m:r>
                              </m:sup>
                            </m:sSup>
                          </m:num>
                          <m:den>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5</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4</m:t>
                                </m:r>
                              </m:e>
                              <m:sup>
                                <m:r>
                                  <a:rPr lang="en-US" altLang="zh-TW" b="0" i="1" smtClean="0">
                                    <a:latin typeface="Cambria Math" panose="02040503050406030204" pitchFamily="18" charset="0"/>
                                  </a:rPr>
                                  <m:t>2</m:t>
                                </m:r>
                              </m:sup>
                            </m:sSup>
                          </m:den>
                        </m:f>
                      </m:e>
                    </m:rad>
                    <m:r>
                      <a:rPr lang="en-US" altLang="zh-TW" b="0" i="1" smtClean="0">
                        <a:latin typeface="Cambria Math" panose="02040503050406030204" pitchFamily="18" charset="0"/>
                      </a:rPr>
                      <m:t>=0.78</m:t>
                    </m:r>
                  </m:oMath>
                </a14:m>
                <a:endParaRPr lang="en-US" altLang="zh-TW" b="0" dirty="0" smtClean="0"/>
              </a:p>
            </p:txBody>
          </p:sp>
        </mc:Choice>
        <mc:Fallback>
          <p:sp>
            <p:nvSpPr>
              <p:cNvPr id="11" name="矩形 10"/>
              <p:cNvSpPr>
                <a:spLocks noRot="1" noChangeAspect="1" noMove="1" noResize="1" noEditPoints="1" noAdjustHandles="1" noChangeArrowheads="1" noChangeShapeType="1" noTextEdit="1"/>
              </p:cNvSpPr>
              <p:nvPr/>
            </p:nvSpPr>
            <p:spPr>
              <a:xfrm>
                <a:off x="3286608" y="3914419"/>
                <a:ext cx="1827873" cy="656013"/>
              </a:xfrm>
              <a:prstGeom prst="rect">
                <a:avLst/>
              </a:prstGeom>
              <a:blipFill rotWithShape="0">
                <a:blip r:embed="rId3"/>
                <a:stretch>
                  <a:fillRect l="-2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nvSpPr>
            <p:spPr>
              <a:xfrm>
                <a:off x="715579" y="3897459"/>
                <a:ext cx="2355709" cy="403252"/>
              </a:xfrm>
              <a:prstGeom prst="rect">
                <a:avLst/>
              </a:prstGeom>
            </p:spPr>
            <p:txBody>
              <a:bodyPr wrap="none">
                <a:spAutoFit/>
              </a:bodyPr>
              <a:lstStyle/>
              <a:p>
                <a:r>
                  <a:rPr lang="en-US" altLang="zh-TW" dirty="0" smtClean="0"/>
                  <a:t>variance </a:t>
                </a:r>
                <a14:m>
                  <m:oMath xmlns:m="http://schemas.openxmlformats.org/officeDocument/2006/math">
                    <m:rad>
                      <m:radPr>
                        <m:degHide m:val="on"/>
                        <m:ctrlPr>
                          <a:rPr lang="en-US" altLang="zh-TW" i="1" smtClean="0">
                            <a:latin typeface="Cambria Math" panose="02040503050406030204" pitchFamily="18" charset="0"/>
                          </a:rPr>
                        </m:ctrlPr>
                      </m:radPr>
                      <m:deg/>
                      <m:e>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4</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3</m:t>
                            </m:r>
                          </m:e>
                          <m:sup>
                            <m:r>
                              <a:rPr lang="en-US" altLang="zh-TW" b="0" i="1" smtClean="0">
                                <a:latin typeface="Cambria Math" panose="02040503050406030204" pitchFamily="18" charset="0"/>
                              </a:rPr>
                              <m:t>2</m:t>
                            </m:r>
                          </m:sup>
                        </m:sSup>
                      </m:e>
                    </m:rad>
                    <m:r>
                      <a:rPr lang="en-US" altLang="zh-TW" b="0" i="1" smtClean="0">
                        <a:latin typeface="Cambria Math" panose="02040503050406030204" pitchFamily="18" charset="0"/>
                      </a:rPr>
                      <m:t>=5</m:t>
                    </m:r>
                  </m:oMath>
                </a14:m>
                <a:endParaRPr lang="en-US" altLang="zh-TW" dirty="0"/>
              </a:p>
            </p:txBody>
          </p:sp>
        </mc:Choice>
        <mc:Fallback>
          <p:sp>
            <p:nvSpPr>
              <p:cNvPr id="12" name="矩形 11"/>
              <p:cNvSpPr>
                <a:spLocks noRot="1" noChangeAspect="1" noMove="1" noResize="1" noEditPoints="1" noAdjustHandles="1" noChangeArrowheads="1" noChangeShapeType="1" noTextEdit="1"/>
              </p:cNvSpPr>
              <p:nvPr/>
            </p:nvSpPr>
            <p:spPr>
              <a:xfrm>
                <a:off x="715579" y="3897459"/>
                <a:ext cx="2355709" cy="403252"/>
              </a:xfrm>
              <a:prstGeom prst="rect">
                <a:avLst/>
              </a:prstGeom>
              <a:blipFill rotWithShape="0">
                <a:blip r:embed="rId4"/>
                <a:stretch>
                  <a:fillRect l="-2067" b="-24242"/>
                </a:stretch>
              </a:blipFill>
            </p:spPr>
            <p:txBody>
              <a:bodyPr/>
              <a:lstStyle/>
              <a:p>
                <a:r>
                  <a:rPr lang="zh-TW" altLang="en-US">
                    <a:noFill/>
                  </a:rPr>
                  <a:t> </a:t>
                </a:r>
              </a:p>
            </p:txBody>
          </p:sp>
        </mc:Fallback>
      </mc:AlternateContent>
      <p:sp>
        <p:nvSpPr>
          <p:cNvPr id="13" name="矩形 12"/>
          <p:cNvSpPr/>
          <p:nvPr/>
        </p:nvSpPr>
        <p:spPr>
          <a:xfrm>
            <a:off x="709526" y="4907358"/>
            <a:ext cx="1144672" cy="369332"/>
          </a:xfrm>
          <a:prstGeom prst="rect">
            <a:avLst/>
          </a:prstGeom>
        </p:spPr>
        <p:txBody>
          <a:bodyPr wrap="none">
            <a:spAutoFit/>
          </a:bodyPr>
          <a:lstStyle/>
          <a:p>
            <a:r>
              <a:rPr lang="en-US" altLang="zh-TW" dirty="0" smtClean="0"/>
              <a:t>variance </a:t>
            </a:r>
            <a:r>
              <a:rPr lang="en-US" altLang="zh-TW" dirty="0"/>
              <a:t>4</a:t>
            </a:r>
          </a:p>
        </p:txBody>
      </p:sp>
      <p:sp>
        <p:nvSpPr>
          <p:cNvPr id="14" name="矩形 13"/>
          <p:cNvSpPr/>
          <p:nvPr/>
        </p:nvSpPr>
        <p:spPr>
          <a:xfrm>
            <a:off x="3286608" y="5125154"/>
            <a:ext cx="1465466" cy="369332"/>
          </a:xfrm>
          <a:prstGeom prst="rect">
            <a:avLst/>
          </a:prstGeom>
        </p:spPr>
        <p:txBody>
          <a:bodyPr wrap="none">
            <a:spAutoFit/>
          </a:bodyPr>
          <a:lstStyle/>
          <a:p>
            <a:r>
              <a:rPr lang="zh-TW" altLang="en-US" dirty="0" smtClean="0"/>
              <a:t>預測值</a:t>
            </a:r>
            <a:r>
              <a:rPr lang="en-US" altLang="zh-TW" dirty="0" smtClean="0"/>
              <a:t>:</a:t>
            </a:r>
            <a:r>
              <a:rPr lang="en-US" altLang="zh-TW" dirty="0"/>
              <a:t>24.56</a:t>
            </a:r>
            <a:endParaRPr lang="zh-TW" altLang="en-US" dirty="0"/>
          </a:p>
        </p:txBody>
      </p:sp>
      <p:sp>
        <p:nvSpPr>
          <p:cNvPr id="15" name="矩形 14"/>
          <p:cNvSpPr/>
          <p:nvPr/>
        </p:nvSpPr>
        <p:spPr>
          <a:xfrm>
            <a:off x="3350528" y="5963050"/>
            <a:ext cx="1173719" cy="369332"/>
          </a:xfrm>
          <a:prstGeom prst="rect">
            <a:avLst/>
          </a:prstGeom>
        </p:spPr>
        <p:txBody>
          <a:bodyPr wrap="none">
            <a:spAutoFit/>
          </a:bodyPr>
          <a:lstStyle/>
          <a:p>
            <a:r>
              <a:rPr lang="zh-TW" altLang="en-US" dirty="0" smtClean="0"/>
              <a:t>測量值</a:t>
            </a:r>
            <a:r>
              <a:rPr lang="en-US" altLang="zh-TW" dirty="0" smtClean="0"/>
              <a:t>:22</a:t>
            </a:r>
            <a:endParaRPr lang="zh-TW" altLang="en-US" dirty="0"/>
          </a:p>
        </p:txBody>
      </p:sp>
      <mc:AlternateContent xmlns:mc="http://schemas.openxmlformats.org/markup-compatibility/2006">
        <mc:Choice xmlns:a14="http://schemas.microsoft.com/office/drawing/2010/main" Requires="a14">
          <p:sp>
            <p:nvSpPr>
              <p:cNvPr id="16" name="矩形 15"/>
              <p:cNvSpPr/>
              <p:nvPr/>
            </p:nvSpPr>
            <p:spPr>
              <a:xfrm>
                <a:off x="3286606" y="4528045"/>
                <a:ext cx="3031727" cy="524439"/>
              </a:xfrm>
              <a:prstGeom prst="rect">
                <a:avLst/>
              </a:prstGeom>
            </p:spPr>
            <p:txBody>
              <a:bodyPr wrap="none">
                <a:spAutoFit/>
              </a:bodyPr>
              <a:lstStyle/>
              <a:p>
                <a:r>
                  <a:rPr lang="en-US" altLang="zh-TW" dirty="0" smtClean="0"/>
                  <a:t>variance: (1-0.78) =</a:t>
                </a:r>
                <a14:m>
                  <m:oMath xmlns:m="http://schemas.openxmlformats.org/officeDocument/2006/math">
                    <m:f>
                      <m:fPr>
                        <m:ctrlPr>
                          <a:rPr lang="en-US" altLang="zh-TW" i="1" smtClean="0">
                            <a:latin typeface="Cambria Math" panose="02040503050406030204" pitchFamily="18" charset="0"/>
                          </a:rPr>
                        </m:ctrlPr>
                      </m:fPr>
                      <m:num>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num>
                      <m:den>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5</m:t>
                            </m:r>
                          </m:e>
                          <m:sup>
                            <m:r>
                              <a:rPr lang="en-US" altLang="zh-TW" b="0" i="1" smtClean="0">
                                <a:latin typeface="Cambria Math" panose="02040503050406030204" pitchFamily="18" charset="0"/>
                              </a:rPr>
                              <m:t>2</m:t>
                            </m:r>
                          </m:sup>
                        </m:sSup>
                      </m:den>
                    </m:f>
                  </m:oMath>
                </a14:m>
                <a:r>
                  <a:rPr lang="en-US" altLang="zh-TW" dirty="0" smtClean="0"/>
                  <a:t> , x=2.35 </a:t>
                </a:r>
                <a:endParaRPr lang="zh-TW" altLang="en-US" dirty="0"/>
              </a:p>
            </p:txBody>
          </p:sp>
        </mc:Choice>
        <mc:Fallback>
          <p:sp>
            <p:nvSpPr>
              <p:cNvPr id="16" name="矩形 15"/>
              <p:cNvSpPr>
                <a:spLocks noRot="1" noChangeAspect="1" noMove="1" noResize="1" noEditPoints="1" noAdjustHandles="1" noChangeArrowheads="1" noChangeShapeType="1" noTextEdit="1"/>
              </p:cNvSpPr>
              <p:nvPr/>
            </p:nvSpPr>
            <p:spPr>
              <a:xfrm>
                <a:off x="3286606" y="4528045"/>
                <a:ext cx="3031727" cy="524439"/>
              </a:xfrm>
              <a:prstGeom prst="rect">
                <a:avLst/>
              </a:prstGeom>
              <a:blipFill rotWithShape="0">
                <a:blip r:embed="rId5"/>
                <a:stretch>
                  <a:fillRect l="-1610" r="-1006" b="-697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矩形 16"/>
              <p:cNvSpPr/>
              <p:nvPr/>
            </p:nvSpPr>
            <p:spPr>
              <a:xfrm>
                <a:off x="3286606" y="5503266"/>
                <a:ext cx="2952027" cy="403252"/>
              </a:xfrm>
              <a:prstGeom prst="rect">
                <a:avLst/>
              </a:prstGeom>
            </p:spPr>
            <p:txBody>
              <a:bodyPr wrap="none">
                <a:spAutoFit/>
              </a:bodyPr>
              <a:lstStyle/>
              <a:p>
                <a:r>
                  <a:rPr lang="en-US" altLang="zh-TW" dirty="0" smtClean="0"/>
                  <a:t>variance </a:t>
                </a:r>
                <a14:m>
                  <m:oMath xmlns:m="http://schemas.openxmlformats.org/officeDocument/2006/math">
                    <m:rad>
                      <m:radPr>
                        <m:degHide m:val="on"/>
                        <m:ctrlPr>
                          <a:rPr lang="en-US" altLang="zh-TW" i="1" smtClean="0">
                            <a:latin typeface="Cambria Math" panose="02040503050406030204" pitchFamily="18" charset="0"/>
                          </a:rPr>
                        </m:ctrlPr>
                      </m:radPr>
                      <m:deg/>
                      <m:e>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4</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i="1">
                                <a:latin typeface="Cambria Math" panose="02040503050406030204" pitchFamily="18" charset="0"/>
                              </a:rPr>
                              <m:t>2</m:t>
                            </m:r>
                            <m:r>
                              <a:rPr lang="en-US" altLang="zh-TW" i="1" smtClean="0">
                                <a:latin typeface="Cambria Math" panose="02040503050406030204" pitchFamily="18" charset="0"/>
                              </a:rPr>
                              <m:t>.</m:t>
                            </m:r>
                            <m:r>
                              <a:rPr lang="en-US" altLang="zh-TW" i="1">
                                <a:latin typeface="Cambria Math" panose="02040503050406030204" pitchFamily="18" charset="0"/>
                              </a:rPr>
                              <m:t>3</m:t>
                            </m:r>
                            <m:r>
                              <a:rPr lang="en-US" altLang="zh-TW" i="1" smtClean="0">
                                <a:latin typeface="Cambria Math" panose="02040503050406030204" pitchFamily="18" charset="0"/>
                              </a:rPr>
                              <m:t>5</m:t>
                            </m:r>
                          </m:e>
                          <m:sup>
                            <m:r>
                              <a:rPr lang="en-US" altLang="zh-TW" b="0" i="1" smtClean="0">
                                <a:latin typeface="Cambria Math" panose="02040503050406030204" pitchFamily="18" charset="0"/>
                              </a:rPr>
                              <m:t>2</m:t>
                            </m:r>
                          </m:sup>
                        </m:sSup>
                      </m:e>
                    </m:rad>
                    <m:r>
                      <a:rPr lang="en-US" altLang="zh-TW" b="0" i="1" smtClean="0">
                        <a:latin typeface="Cambria Math" panose="02040503050406030204" pitchFamily="18" charset="0"/>
                      </a:rPr>
                      <m:t>=</m:t>
                    </m:r>
                    <m:r>
                      <a:rPr lang="en-US" altLang="zh-TW" i="1">
                        <a:latin typeface="Cambria Math" panose="02040503050406030204" pitchFamily="18" charset="0"/>
                      </a:rPr>
                      <m:t>4</m:t>
                    </m:r>
                  </m:oMath>
                </a14:m>
                <a:r>
                  <a:rPr lang="en-US" altLang="zh-TW" dirty="0" smtClean="0"/>
                  <a:t>.64</a:t>
                </a:r>
                <a:endParaRPr lang="en-US" altLang="zh-TW" dirty="0"/>
              </a:p>
            </p:txBody>
          </p:sp>
        </mc:Choice>
        <mc:Fallback>
          <p:sp>
            <p:nvSpPr>
              <p:cNvPr id="17" name="矩形 16"/>
              <p:cNvSpPr>
                <a:spLocks noRot="1" noChangeAspect="1" noMove="1" noResize="1" noEditPoints="1" noAdjustHandles="1" noChangeArrowheads="1" noChangeShapeType="1" noTextEdit="1"/>
              </p:cNvSpPr>
              <p:nvPr/>
            </p:nvSpPr>
            <p:spPr>
              <a:xfrm>
                <a:off x="3286606" y="5503266"/>
                <a:ext cx="2952027" cy="403252"/>
              </a:xfrm>
              <a:prstGeom prst="rect">
                <a:avLst/>
              </a:prstGeom>
              <a:blipFill rotWithShape="0">
                <a:blip r:embed="rId6"/>
                <a:stretch>
                  <a:fillRect l="-1653" r="-1033" b="-24242"/>
                </a:stretch>
              </a:blipFill>
            </p:spPr>
            <p:txBody>
              <a:bodyPr/>
              <a:lstStyle/>
              <a:p>
                <a:r>
                  <a:rPr lang="zh-TW" altLang="en-US">
                    <a:noFill/>
                  </a:rPr>
                  <a:t> </a:t>
                </a:r>
              </a:p>
            </p:txBody>
          </p:sp>
        </mc:Fallback>
      </mc:AlternateContent>
      <p:sp>
        <p:nvSpPr>
          <p:cNvPr id="18" name="矩形 17"/>
          <p:cNvSpPr/>
          <p:nvPr/>
        </p:nvSpPr>
        <p:spPr>
          <a:xfrm>
            <a:off x="3350528" y="6308725"/>
            <a:ext cx="1144672" cy="369332"/>
          </a:xfrm>
          <a:prstGeom prst="rect">
            <a:avLst/>
          </a:prstGeom>
        </p:spPr>
        <p:txBody>
          <a:bodyPr wrap="none">
            <a:spAutoFit/>
          </a:bodyPr>
          <a:lstStyle/>
          <a:p>
            <a:r>
              <a:rPr lang="en-US" altLang="zh-TW" dirty="0" smtClean="0"/>
              <a:t>variance </a:t>
            </a:r>
            <a:r>
              <a:rPr lang="en-US" altLang="zh-TW" dirty="0"/>
              <a:t>4</a:t>
            </a:r>
          </a:p>
        </p:txBody>
      </p:sp>
      <p:sp>
        <p:nvSpPr>
          <p:cNvPr id="26" name="矩形 25"/>
          <p:cNvSpPr/>
          <p:nvPr/>
        </p:nvSpPr>
        <p:spPr>
          <a:xfrm>
            <a:off x="6235733" y="3493698"/>
            <a:ext cx="2797560" cy="369332"/>
          </a:xfrm>
          <a:prstGeom prst="rect">
            <a:avLst/>
          </a:prstGeom>
        </p:spPr>
        <p:txBody>
          <a:bodyPr wrap="square">
            <a:spAutoFit/>
          </a:bodyPr>
          <a:lstStyle/>
          <a:p>
            <a:r>
              <a:rPr lang="zh-TW" altLang="en-US" dirty="0" smtClean="0"/>
              <a:t>最佳值</a:t>
            </a:r>
            <a:r>
              <a:rPr lang="en-US" altLang="zh-TW" dirty="0" smtClean="0"/>
              <a:t>:</a:t>
            </a:r>
            <a:r>
              <a:rPr lang="zh-TW" altLang="en-US" dirty="0" smtClean="0"/>
              <a:t> </a:t>
            </a:r>
            <a:r>
              <a:rPr lang="en-US" altLang="zh-TW" dirty="0" smtClean="0"/>
              <a:t>24.56+k(22-24.56)</a:t>
            </a:r>
            <a:endParaRPr lang="zh-TW" altLang="en-US" dirty="0"/>
          </a:p>
        </p:txBody>
      </p:sp>
      <mc:AlternateContent xmlns:mc="http://schemas.openxmlformats.org/markup-compatibility/2006">
        <mc:Choice xmlns:a14="http://schemas.microsoft.com/office/drawing/2010/main" Requires="a14">
          <p:sp>
            <p:nvSpPr>
              <p:cNvPr id="27" name="矩形 26"/>
              <p:cNvSpPr/>
              <p:nvPr/>
            </p:nvSpPr>
            <p:spPr>
              <a:xfrm>
                <a:off x="6313934" y="3931889"/>
                <a:ext cx="1324530" cy="656013"/>
              </a:xfrm>
              <a:prstGeom prst="rect">
                <a:avLst/>
              </a:prstGeom>
            </p:spPr>
            <p:txBody>
              <a:bodyPr wrap="none">
                <a:spAutoFit/>
              </a:bodyPr>
              <a:lstStyle/>
              <a:p>
                <a:r>
                  <a:rPr lang="en-US" altLang="zh-TW" dirty="0" smtClean="0"/>
                  <a:t>K=</a:t>
                </a:r>
                <a14:m>
                  <m:oMath xmlns:m="http://schemas.openxmlformats.org/officeDocument/2006/math">
                    <m:rad>
                      <m:radPr>
                        <m:degHide m:val="on"/>
                        <m:ctrlPr>
                          <a:rPr lang="en-US" altLang="zh-TW" i="1" smtClean="0">
                            <a:latin typeface="Cambria Math" panose="02040503050406030204" pitchFamily="18" charset="0"/>
                          </a:rPr>
                        </m:ctrlPr>
                      </m:radPr>
                      <m:deg/>
                      <m:e>
                        <m:f>
                          <m:fPr>
                            <m:ctrlPr>
                              <a:rPr lang="en-US" altLang="zh-TW" i="1" smtClean="0">
                                <a:latin typeface="Cambria Math" panose="02040503050406030204" pitchFamily="18" charset="0"/>
                              </a:rPr>
                            </m:ctrlPr>
                          </m:fPr>
                          <m:num>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4</m:t>
                                </m:r>
                                <m:r>
                                  <a:rPr lang="en-US" altLang="zh-TW" i="1" smtClean="0">
                                    <a:latin typeface="Cambria Math" panose="02040503050406030204" pitchFamily="18" charset="0"/>
                                  </a:rPr>
                                  <m:t>.</m:t>
                                </m:r>
                                <m:r>
                                  <a:rPr lang="en-US" altLang="zh-TW" i="1">
                                    <a:latin typeface="Cambria Math" panose="02040503050406030204" pitchFamily="18" charset="0"/>
                                  </a:rPr>
                                  <m:t>6</m:t>
                                </m:r>
                                <m:r>
                                  <a:rPr lang="en-US" altLang="zh-TW" i="1" smtClean="0">
                                    <a:latin typeface="Cambria Math" panose="02040503050406030204" pitchFamily="18" charset="0"/>
                                  </a:rPr>
                                  <m:t>4</m:t>
                                </m:r>
                              </m:e>
                              <m:sup>
                                <m:r>
                                  <a:rPr lang="en-US" altLang="zh-TW" b="0" i="1" smtClean="0">
                                    <a:latin typeface="Cambria Math" panose="02040503050406030204" pitchFamily="18" charset="0"/>
                                  </a:rPr>
                                  <m:t>2</m:t>
                                </m:r>
                              </m:sup>
                            </m:sSup>
                          </m:num>
                          <m:den>
                            <m:sSup>
                              <m:sSupPr>
                                <m:ctrlPr>
                                  <a:rPr lang="en-US" altLang="zh-TW" i="1" smtClean="0">
                                    <a:latin typeface="Cambria Math" panose="02040503050406030204" pitchFamily="18" charset="0"/>
                                  </a:rPr>
                                </m:ctrlPr>
                              </m:sSupPr>
                              <m:e>
                                <m:r>
                                  <a:rPr lang="en-US" altLang="zh-TW" i="1">
                                    <a:latin typeface="Cambria Math" panose="02040503050406030204" pitchFamily="18" charset="0"/>
                                  </a:rPr>
                                  <m:t>4</m:t>
                                </m:r>
                                <m:r>
                                  <a:rPr lang="en-US" altLang="zh-TW" i="1" smtClean="0">
                                    <a:latin typeface="Cambria Math" panose="02040503050406030204" pitchFamily="18" charset="0"/>
                                  </a:rPr>
                                  <m:t>.</m:t>
                                </m:r>
                                <m:r>
                                  <a:rPr lang="en-US" altLang="zh-TW" i="1">
                                    <a:latin typeface="Cambria Math" panose="02040503050406030204" pitchFamily="18" charset="0"/>
                                  </a:rPr>
                                  <m:t>6</m:t>
                                </m:r>
                                <m:r>
                                  <a:rPr lang="en-US" altLang="zh-TW" i="1" smtClean="0">
                                    <a:latin typeface="Cambria Math" panose="02040503050406030204" pitchFamily="18" charset="0"/>
                                  </a:rPr>
                                  <m:t>5</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4</m:t>
                                </m:r>
                              </m:e>
                              <m:sup>
                                <m:r>
                                  <a:rPr lang="en-US" altLang="zh-TW" b="0" i="1" smtClean="0">
                                    <a:latin typeface="Cambria Math" panose="02040503050406030204" pitchFamily="18" charset="0"/>
                                  </a:rPr>
                                  <m:t>2</m:t>
                                </m:r>
                              </m:sup>
                            </m:sSup>
                          </m:den>
                        </m:f>
                      </m:e>
                    </m:rad>
                  </m:oMath>
                </a14:m>
                <a:endParaRPr lang="en-US" altLang="zh-TW" b="0" dirty="0" smtClean="0"/>
              </a:p>
            </p:txBody>
          </p:sp>
        </mc:Choice>
        <mc:Fallback>
          <p:sp>
            <p:nvSpPr>
              <p:cNvPr id="27" name="矩形 26"/>
              <p:cNvSpPr>
                <a:spLocks noRot="1" noChangeAspect="1" noMove="1" noResize="1" noEditPoints="1" noAdjustHandles="1" noChangeArrowheads="1" noChangeShapeType="1" noTextEdit="1"/>
              </p:cNvSpPr>
              <p:nvPr/>
            </p:nvSpPr>
            <p:spPr>
              <a:xfrm>
                <a:off x="6313934" y="3931889"/>
                <a:ext cx="1324530" cy="656013"/>
              </a:xfrm>
              <a:prstGeom prst="rect">
                <a:avLst/>
              </a:prstGeom>
              <a:blipFill rotWithShape="0">
                <a:blip r:embed="rId7"/>
                <a:stretch>
                  <a:fillRect l="-41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162387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Perceptron </a:t>
            </a:r>
            <a:r>
              <a:rPr lang="en-US" altLang="zh-TW" dirty="0" err="1" smtClean="0"/>
              <a:t>Kalman</a:t>
            </a:r>
            <a:r>
              <a:rPr lang="en-US" altLang="zh-TW" dirty="0" smtClean="0"/>
              <a:t> Filtering</a:t>
            </a:r>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5</a:t>
            </a:fld>
            <a:endParaRPr lang="zh-TW" altLang="en-US"/>
          </a:p>
        </p:txBody>
      </p:sp>
      <p:pic>
        <p:nvPicPr>
          <p:cNvPr id="5" name="圖片 4"/>
          <p:cNvPicPr>
            <a:picLocks noChangeAspect="1"/>
          </p:cNvPicPr>
          <p:nvPr/>
        </p:nvPicPr>
        <p:blipFill>
          <a:blip r:embed="rId2"/>
          <a:stretch>
            <a:fillRect/>
          </a:stretch>
        </p:blipFill>
        <p:spPr>
          <a:xfrm>
            <a:off x="899592" y="1663304"/>
            <a:ext cx="3267075" cy="447675"/>
          </a:xfrm>
          <a:prstGeom prst="rect">
            <a:avLst/>
          </a:prstGeom>
        </p:spPr>
      </p:pic>
      <p:pic>
        <p:nvPicPr>
          <p:cNvPr id="6" name="圖片 5"/>
          <p:cNvPicPr>
            <a:picLocks noChangeAspect="1"/>
          </p:cNvPicPr>
          <p:nvPr/>
        </p:nvPicPr>
        <p:blipFill>
          <a:blip r:embed="rId3"/>
          <a:stretch>
            <a:fillRect/>
          </a:stretch>
        </p:blipFill>
        <p:spPr>
          <a:xfrm>
            <a:off x="899592" y="3373437"/>
            <a:ext cx="2257425" cy="428625"/>
          </a:xfrm>
          <a:prstGeom prst="rect">
            <a:avLst/>
          </a:prstGeom>
        </p:spPr>
      </p:pic>
      <p:pic>
        <p:nvPicPr>
          <p:cNvPr id="7" name="圖片 6"/>
          <p:cNvPicPr>
            <a:picLocks noChangeAspect="1"/>
          </p:cNvPicPr>
          <p:nvPr/>
        </p:nvPicPr>
        <p:blipFill>
          <a:blip r:embed="rId4"/>
          <a:stretch>
            <a:fillRect/>
          </a:stretch>
        </p:blipFill>
        <p:spPr>
          <a:xfrm>
            <a:off x="899592" y="2145307"/>
            <a:ext cx="4991100" cy="866775"/>
          </a:xfrm>
          <a:prstGeom prst="rect">
            <a:avLst/>
          </a:prstGeom>
        </p:spPr>
      </p:pic>
      <mc:AlternateContent xmlns:mc="http://schemas.openxmlformats.org/markup-compatibility/2006">
        <mc:Choice xmlns:a14="http://schemas.microsoft.com/office/drawing/2010/main" Requires="a14">
          <p:sp>
            <p:nvSpPr>
              <p:cNvPr id="8" name="矩形 7"/>
              <p:cNvSpPr/>
              <p:nvPr/>
            </p:nvSpPr>
            <p:spPr>
              <a:xfrm>
                <a:off x="899592" y="4010932"/>
                <a:ext cx="2664296" cy="639214"/>
              </a:xfrm>
              <a:prstGeom prst="rect">
                <a:avLst/>
              </a:prstGeom>
            </p:spPr>
            <p:txBody>
              <a:bodyPr wrap="square">
                <a:spAutoFit/>
              </a:bodyPr>
              <a:lstStyle/>
              <a:p>
                <a14:m>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a:latin typeface="Cambria Math" panose="02040503050406030204" pitchFamily="18" charset="0"/>
                          </a:rPr>
                          <m:t>H</m:t>
                        </m:r>
                      </m:e>
                      <m: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𝑘</m:t>
                            </m:r>
                          </m:sub>
                        </m:sSub>
                      </m:sub>
                    </m:sSub>
                  </m:oMath>
                </a14:m>
                <a:r>
                  <a:rPr lang="en-US" altLang="zh-TW" dirty="0" smtClean="0"/>
                  <a:t>= [1 0]</a:t>
                </a:r>
                <a14:m>
                  <m:oMath xmlns:m="http://schemas.openxmlformats.org/officeDocument/2006/math">
                    <m:sSub>
                      <m:sSubPr>
                        <m:ctrlPr>
                          <a:rPr lang="en-US" altLang="zh-TW" i="1" smtClean="0">
                            <a:latin typeface="Cambria Math" panose="02040503050406030204" pitchFamily="18" charset="0"/>
                          </a:rPr>
                        </m:ctrlPr>
                      </m:sSubPr>
                      <m:e>
                        <m:d>
                          <m:dPr>
                            <m:begChr m:val="["/>
                            <m:endChr m:val="]"/>
                            <m:ctrlPr>
                              <a:rPr lang="en-US" altLang="zh-TW" i="1">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r>
                                    <m:rPr>
                                      <m:sty m:val="p"/>
                                      <m:brk m:alnAt="7"/>
                                    </m:rPr>
                                    <a:rPr lang="en-US" altLang="zh-TW" i="1">
                                      <a:latin typeface="Cambria Math" panose="02040503050406030204" pitchFamily="18" charset="0"/>
                                    </a:rPr>
                                    <m:t>S</m:t>
                                  </m:r>
                                </m:e>
                              </m:mr>
                              <m:mr>
                                <m:e>
                                  <m:sSub>
                                    <m:sSubPr>
                                      <m:ctrlPr>
                                        <a:rPr lang="en-US" altLang="zh-TW" i="1">
                                          <a:latin typeface="Cambria Math" panose="02040503050406030204" pitchFamily="18" charset="0"/>
                                        </a:rPr>
                                      </m:ctrlPr>
                                    </m:sSubPr>
                                    <m:e>
                                      <m:r>
                                        <m:rPr>
                                          <m:sty m:val="p"/>
                                        </m:rPr>
                                        <a:rPr lang="en-US" altLang="zh-TW" i="1">
                                          <a:latin typeface="Cambria Math" panose="02040503050406030204" pitchFamily="18" charset="0"/>
                                        </a:rPr>
                                        <m:t>H</m:t>
                                      </m:r>
                                    </m:e>
                                    <m:sub>
                                      <m:r>
                                        <a:rPr lang="en-US" altLang="zh-TW" i="1">
                                          <a:latin typeface="Cambria Math" panose="02040503050406030204" pitchFamily="18" charset="0"/>
                                        </a:rPr>
                                        <m:t>𝑠</m:t>
                                      </m:r>
                                    </m:sub>
                                  </m:sSub>
                                </m:e>
                              </m:mr>
                            </m:m>
                          </m:e>
                        </m:d>
                        <m:r>
                          <m:rPr>
                            <m:nor/>
                          </m:rPr>
                          <a:rPr lang="zh-TW" altLang="en-US" dirty="0"/>
                          <m:t> </m:t>
                        </m:r>
                      </m:e>
                      <m:sub>
                        <m:r>
                          <a:rPr lang="en-US" altLang="zh-TW" b="0" i="1" smtClean="0">
                            <a:latin typeface="Cambria Math" panose="02040503050406030204" pitchFamily="18" charset="0"/>
                          </a:rPr>
                          <m:t>𝑘</m:t>
                        </m:r>
                      </m:sub>
                    </m:sSub>
                  </m:oMath>
                </a14:m>
                <a:r>
                  <a:rPr lang="en-US" altLang="zh-TW" dirty="0" smtClean="0"/>
                  <a:t>+</a:t>
                </a:r>
                <a14:m>
                  <m:oMath xmlns:m="http://schemas.openxmlformats.org/officeDocument/2006/math">
                    <m:sSub>
                      <m:sSubPr>
                        <m:ctrlPr>
                          <a:rPr lang="en-US" altLang="zh-TW" i="1">
                            <a:latin typeface="Cambria Math" panose="02040503050406030204" pitchFamily="18" charset="0"/>
                          </a:rPr>
                        </m:ctrlPr>
                      </m:sSubPr>
                      <m:e>
                        <m:r>
                          <m:rPr>
                            <m:nor/>
                          </m:rPr>
                          <a:rPr lang="en-US" altLang="zh-TW" b="0" i="0" smtClean="0">
                            <a:latin typeface="Cambria Math" panose="02040503050406030204" pitchFamily="18" charset="0"/>
                          </a:rPr>
                          <m:t>V</m:t>
                        </m:r>
                        <m:r>
                          <m:rPr>
                            <m:nor/>
                          </m:rPr>
                          <a:rPr lang="zh-TW" altLang="en-US" dirty="0"/>
                          <m:t> </m:t>
                        </m:r>
                      </m:e>
                      <m:sub>
                        <m:r>
                          <a:rPr lang="en-US" altLang="zh-TW" i="1">
                            <a:latin typeface="Cambria Math" panose="02040503050406030204" pitchFamily="18" charset="0"/>
                          </a:rPr>
                          <m:t>𝑘</m:t>
                        </m:r>
                      </m:sub>
                    </m:sSub>
                  </m:oMath>
                </a14:m>
                <a:r>
                  <a:rPr lang="en-US" altLang="zh-TW" dirty="0" smtClean="0"/>
                  <a:t> </a:t>
                </a:r>
                <a:endParaRPr lang="zh-TW" altLang="en-US" dirty="0"/>
              </a:p>
            </p:txBody>
          </p:sp>
        </mc:Choice>
        <mc:Fallback>
          <p:sp>
            <p:nvSpPr>
              <p:cNvPr id="8" name="矩形 7"/>
              <p:cNvSpPr>
                <a:spLocks noRot="1" noChangeAspect="1" noMove="1" noResize="1" noEditPoints="1" noAdjustHandles="1" noChangeArrowheads="1" noChangeShapeType="1" noTextEdit="1"/>
              </p:cNvSpPr>
              <p:nvPr/>
            </p:nvSpPr>
            <p:spPr>
              <a:xfrm>
                <a:off x="899592" y="4010932"/>
                <a:ext cx="2664296" cy="639214"/>
              </a:xfrm>
              <a:prstGeom prst="rect">
                <a:avLst/>
              </a:prstGeom>
              <a:blipFill rotWithShape="0">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343268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Perceptron</a:t>
            </a:r>
            <a:endParaRPr lang="zh-TW" altLang="en-US" dirty="0"/>
          </a:p>
        </p:txBody>
      </p:sp>
      <p:graphicFrame>
        <p:nvGraphicFramePr>
          <p:cNvPr id="9" name="內容版面配置區 8"/>
          <p:cNvGraphicFramePr>
            <a:graphicFrameLocks noGrp="1"/>
          </p:cNvGraphicFramePr>
          <p:nvPr>
            <p:ph idx="1"/>
            <p:extLst>
              <p:ext uri="{D42A27DB-BD31-4B8C-83A1-F6EECF244321}">
                <p14:modId xmlns:p14="http://schemas.microsoft.com/office/powerpoint/2010/main" val="2002081811"/>
              </p:ext>
            </p:extLst>
          </p:nvPr>
        </p:nvGraphicFramePr>
        <p:xfrm>
          <a:off x="431800" y="2705683"/>
          <a:ext cx="3709909" cy="407632"/>
        </p:xfrm>
        <a:graphic>
          <a:graphicData uri="http://schemas.openxmlformats.org/drawingml/2006/table">
            <a:tbl>
              <a:tblPr firstRow="1" bandRow="1">
                <a:tableStyleId>{5C22544A-7EE6-4342-B048-85BDC9FD1C3A}</a:tableStyleId>
              </a:tblPr>
              <a:tblGrid>
                <a:gridCol w="529987"/>
                <a:gridCol w="529987"/>
                <a:gridCol w="529987"/>
                <a:gridCol w="529987"/>
                <a:gridCol w="529987"/>
                <a:gridCol w="529987"/>
                <a:gridCol w="529987"/>
              </a:tblGrid>
              <a:tr h="407632">
                <a:tc>
                  <a:txBody>
                    <a:bodyPr/>
                    <a:lstStyle/>
                    <a:p>
                      <a:r>
                        <a:rPr lang="en-US" altLang="zh-TW" dirty="0" smtClean="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dirty="0" smtClean="0">
                          <a:solidFill>
                            <a:schemeClr val="tx1"/>
                          </a:solidFill>
                        </a:rPr>
                        <a:t>2</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dirty="0" smtClean="0">
                          <a:solidFill>
                            <a:schemeClr val="tx1"/>
                          </a:solidFill>
                        </a:rPr>
                        <a:t>3</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dirty="0" smtClean="0">
                          <a:solidFill>
                            <a:schemeClr val="tx1"/>
                          </a:solidFill>
                        </a:rPr>
                        <a:t>4</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dirty="0" smtClean="0">
                          <a:solidFill>
                            <a:schemeClr val="tx1"/>
                          </a:solidFill>
                        </a:rPr>
                        <a:t>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dirty="0" smtClean="0">
                          <a:solidFill>
                            <a:schemeClr val="tx1"/>
                          </a:solidFill>
                        </a:rPr>
                        <a:t>…</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US" altLang="zh-TW" dirty="0" smtClean="0">
                          <a:solidFill>
                            <a:schemeClr val="tx1"/>
                          </a:solidFill>
                        </a:rPr>
                        <a:t>15</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bl>
          </a:graphicData>
        </a:graphic>
      </p:graphicFrame>
      <p:sp>
        <p:nvSpPr>
          <p:cNvPr id="4" name="投影片編號版面配置區 3"/>
          <p:cNvSpPr>
            <a:spLocks noGrp="1"/>
          </p:cNvSpPr>
          <p:nvPr>
            <p:ph type="sldNum" sz="quarter" idx="12"/>
          </p:nvPr>
        </p:nvSpPr>
        <p:spPr/>
        <p:txBody>
          <a:bodyPr/>
          <a:lstStyle/>
          <a:p>
            <a:fld id="{73DA0BB7-265A-403C-9275-D587AB510EDC}" type="slidenum">
              <a:rPr lang="zh-TW" altLang="en-US" smtClean="0"/>
              <a:t>6</a:t>
            </a:fld>
            <a:endParaRPr lang="zh-TW" altLang="en-US"/>
          </a:p>
        </p:txBody>
      </p:sp>
      <p:pic>
        <p:nvPicPr>
          <p:cNvPr id="7" name="圖片 6"/>
          <p:cNvPicPr>
            <a:picLocks noChangeAspect="1"/>
          </p:cNvPicPr>
          <p:nvPr/>
        </p:nvPicPr>
        <p:blipFill>
          <a:blip r:embed="rId2"/>
          <a:stretch>
            <a:fillRect/>
          </a:stretch>
        </p:blipFill>
        <p:spPr>
          <a:xfrm>
            <a:off x="457200" y="1700808"/>
            <a:ext cx="3896447" cy="676673"/>
          </a:xfrm>
          <a:prstGeom prst="rect">
            <a:avLst/>
          </a:prstGeom>
        </p:spPr>
      </p:pic>
      <p:pic>
        <p:nvPicPr>
          <p:cNvPr id="8" name="圖片 7"/>
          <p:cNvPicPr>
            <a:picLocks noChangeAspect="1"/>
          </p:cNvPicPr>
          <p:nvPr/>
        </p:nvPicPr>
        <p:blipFill>
          <a:blip r:embed="rId3"/>
          <a:stretch>
            <a:fillRect/>
          </a:stretch>
        </p:blipFill>
        <p:spPr>
          <a:xfrm>
            <a:off x="4167112" y="1600199"/>
            <a:ext cx="4588471" cy="4525964"/>
          </a:xfrm>
          <a:prstGeom prst="rect">
            <a:avLst/>
          </a:prstGeom>
        </p:spPr>
      </p:pic>
      <p:sp>
        <p:nvSpPr>
          <p:cNvPr id="10" name="弧形 9"/>
          <p:cNvSpPr/>
          <p:nvPr/>
        </p:nvSpPr>
        <p:spPr>
          <a:xfrm rot="10487214">
            <a:off x="716678" y="2821375"/>
            <a:ext cx="925407" cy="770939"/>
          </a:xfrm>
          <a:prstGeom prst="arc">
            <a:avLst>
              <a:gd name="adj1" fmla="val 10607073"/>
              <a:gd name="adj2" fmla="val 70728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1" name="弧形 10"/>
          <p:cNvSpPr/>
          <p:nvPr/>
        </p:nvSpPr>
        <p:spPr>
          <a:xfrm rot="10487214">
            <a:off x="1212490" y="2809236"/>
            <a:ext cx="925407" cy="770939"/>
          </a:xfrm>
          <a:prstGeom prst="arc">
            <a:avLst>
              <a:gd name="adj1" fmla="val 10607073"/>
              <a:gd name="adj2" fmla="val 70728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 name="弧形 11"/>
          <p:cNvSpPr/>
          <p:nvPr/>
        </p:nvSpPr>
        <p:spPr>
          <a:xfrm rot="10487214">
            <a:off x="1764322" y="2784397"/>
            <a:ext cx="925407" cy="770939"/>
          </a:xfrm>
          <a:prstGeom prst="arc">
            <a:avLst>
              <a:gd name="adj1" fmla="val 10607073"/>
              <a:gd name="adj2" fmla="val 70728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mc:Choice xmlns:a14="http://schemas.microsoft.com/office/drawing/2010/main" Requires="a14">
          <p:sp>
            <p:nvSpPr>
              <p:cNvPr id="13" name="矩形 12"/>
              <p:cNvSpPr/>
              <p:nvPr/>
            </p:nvSpPr>
            <p:spPr>
              <a:xfrm>
                <a:off x="929952" y="3595783"/>
                <a:ext cx="485454"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1</m:t>
                          </m:r>
                        </m:sub>
                      </m:sSub>
                    </m:oMath>
                  </m:oMathPara>
                </a14:m>
                <a:endParaRPr lang="zh-TW" altLang="en-US" dirty="0"/>
              </a:p>
            </p:txBody>
          </p:sp>
        </mc:Choice>
        <mc:Fallback>
          <p:sp>
            <p:nvSpPr>
              <p:cNvPr id="13" name="矩形 12"/>
              <p:cNvSpPr>
                <a:spLocks noRot="1" noChangeAspect="1" noMove="1" noResize="1" noEditPoints="1" noAdjustHandles="1" noChangeArrowheads="1" noChangeShapeType="1" noTextEdit="1"/>
              </p:cNvSpPr>
              <p:nvPr/>
            </p:nvSpPr>
            <p:spPr>
              <a:xfrm>
                <a:off x="929952" y="3595783"/>
                <a:ext cx="485454" cy="369332"/>
              </a:xfrm>
              <a:prstGeom prst="rect">
                <a:avLst/>
              </a:prstGeom>
              <a:blipFill rotWithShape="0">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矩形 13"/>
              <p:cNvSpPr/>
              <p:nvPr/>
            </p:nvSpPr>
            <p:spPr>
              <a:xfrm>
                <a:off x="1416402" y="3629898"/>
                <a:ext cx="49077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2</m:t>
                          </m:r>
                        </m:sub>
                      </m:sSub>
                    </m:oMath>
                  </m:oMathPara>
                </a14:m>
                <a:endParaRPr lang="zh-TW" altLang="en-US" dirty="0"/>
              </a:p>
            </p:txBody>
          </p:sp>
        </mc:Choice>
        <mc:Fallback>
          <p:sp>
            <p:nvSpPr>
              <p:cNvPr id="14" name="矩形 13"/>
              <p:cNvSpPr>
                <a:spLocks noRot="1" noChangeAspect="1" noMove="1" noResize="1" noEditPoints="1" noAdjustHandles="1" noChangeArrowheads="1" noChangeShapeType="1" noTextEdit="1"/>
              </p:cNvSpPr>
              <p:nvPr/>
            </p:nvSpPr>
            <p:spPr>
              <a:xfrm>
                <a:off x="1416402" y="3629898"/>
                <a:ext cx="490775" cy="369332"/>
              </a:xfrm>
              <a:prstGeom prst="rect">
                <a:avLst/>
              </a:prstGeom>
              <a:blipFill rotWithShape="0">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矩形 14"/>
              <p:cNvSpPr/>
              <p:nvPr/>
            </p:nvSpPr>
            <p:spPr>
              <a:xfrm>
                <a:off x="1991423" y="3595783"/>
                <a:ext cx="49077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3</m:t>
                          </m:r>
                        </m:sub>
                      </m:sSub>
                    </m:oMath>
                  </m:oMathPara>
                </a14:m>
                <a:endParaRPr lang="zh-TW" altLang="en-US" dirty="0"/>
              </a:p>
            </p:txBody>
          </p:sp>
        </mc:Choice>
        <mc:Fallback>
          <p:sp>
            <p:nvSpPr>
              <p:cNvPr id="15" name="矩形 14"/>
              <p:cNvSpPr>
                <a:spLocks noRot="1" noChangeAspect="1" noMove="1" noResize="1" noEditPoints="1" noAdjustHandles="1" noChangeArrowheads="1" noChangeShapeType="1" noTextEdit="1"/>
              </p:cNvSpPr>
              <p:nvPr/>
            </p:nvSpPr>
            <p:spPr>
              <a:xfrm>
                <a:off x="1991423" y="3595783"/>
                <a:ext cx="490775" cy="369332"/>
              </a:xfrm>
              <a:prstGeom prst="rect">
                <a:avLst/>
              </a:prstGeom>
              <a:blipFill rotWithShape="0">
                <a:blip r:embed="rId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6" name="矩形 15"/>
              <p:cNvSpPr/>
              <p:nvPr/>
            </p:nvSpPr>
            <p:spPr>
              <a:xfrm>
                <a:off x="3692403" y="3595783"/>
                <a:ext cx="583237"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𝐴</m:t>
                          </m:r>
                        </m:e>
                        <m:sub>
                          <m:r>
                            <a:rPr lang="en-US" altLang="zh-TW" b="0" i="1" smtClean="0">
                              <a:latin typeface="Cambria Math" panose="02040503050406030204" pitchFamily="18" charset="0"/>
                            </a:rPr>
                            <m:t>13</m:t>
                          </m:r>
                        </m:sub>
                      </m:sSub>
                    </m:oMath>
                  </m:oMathPara>
                </a14:m>
                <a:endParaRPr lang="zh-TW" altLang="en-US" dirty="0"/>
              </a:p>
            </p:txBody>
          </p:sp>
        </mc:Choice>
        <mc:Fallback>
          <p:sp>
            <p:nvSpPr>
              <p:cNvPr id="16" name="矩形 15"/>
              <p:cNvSpPr>
                <a:spLocks noRot="1" noChangeAspect="1" noMove="1" noResize="1" noEditPoints="1" noAdjustHandles="1" noChangeArrowheads="1" noChangeShapeType="1" noTextEdit="1"/>
              </p:cNvSpPr>
              <p:nvPr/>
            </p:nvSpPr>
            <p:spPr>
              <a:xfrm>
                <a:off x="3692403" y="3595783"/>
                <a:ext cx="583237" cy="369332"/>
              </a:xfrm>
              <a:prstGeom prst="rect">
                <a:avLst/>
              </a:prstGeom>
              <a:blipFill rotWithShape="0">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矩形 16"/>
              <p:cNvSpPr/>
              <p:nvPr/>
            </p:nvSpPr>
            <p:spPr>
              <a:xfrm>
                <a:off x="2914164" y="3595783"/>
                <a:ext cx="410689"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m:t>
                      </m:r>
                    </m:oMath>
                  </m:oMathPara>
                </a14:m>
                <a:endParaRPr lang="zh-TW" altLang="en-US" dirty="0"/>
              </a:p>
            </p:txBody>
          </p:sp>
        </mc:Choice>
        <mc:Fallback>
          <p:sp>
            <p:nvSpPr>
              <p:cNvPr id="17" name="矩形 16"/>
              <p:cNvSpPr>
                <a:spLocks noRot="1" noChangeAspect="1" noMove="1" noResize="1" noEditPoints="1" noAdjustHandles="1" noChangeArrowheads="1" noChangeShapeType="1" noTextEdit="1"/>
              </p:cNvSpPr>
              <p:nvPr/>
            </p:nvSpPr>
            <p:spPr>
              <a:xfrm>
                <a:off x="2914164" y="3595783"/>
                <a:ext cx="410689" cy="369332"/>
              </a:xfrm>
              <a:prstGeom prst="rect">
                <a:avLst/>
              </a:prstGeom>
              <a:blipFill rotWithShape="0">
                <a:blip r:embed="rId8"/>
                <a:stretch>
                  <a:fillRect/>
                </a:stretch>
              </a:blipFill>
            </p:spPr>
            <p:txBody>
              <a:bodyPr/>
              <a:lstStyle/>
              <a:p>
                <a:r>
                  <a:rPr lang="zh-TW" altLang="en-US">
                    <a:noFill/>
                  </a:rPr>
                  <a:t> </a:t>
                </a:r>
              </a:p>
            </p:txBody>
          </p:sp>
        </mc:Fallback>
      </mc:AlternateContent>
      <p:pic>
        <p:nvPicPr>
          <p:cNvPr id="18" name="圖片 17"/>
          <p:cNvPicPr>
            <a:picLocks noChangeAspect="1"/>
          </p:cNvPicPr>
          <p:nvPr/>
        </p:nvPicPr>
        <p:blipFill>
          <a:blip r:embed="rId9"/>
          <a:stretch>
            <a:fillRect/>
          </a:stretch>
        </p:blipFill>
        <p:spPr>
          <a:xfrm>
            <a:off x="67646" y="4181790"/>
            <a:ext cx="4207994" cy="1969211"/>
          </a:xfrm>
          <a:prstGeom prst="rect">
            <a:avLst/>
          </a:prstGeom>
        </p:spPr>
      </p:pic>
    </p:spTree>
    <p:extLst>
      <p:ext uri="{BB962C8B-B14F-4D97-AF65-F5344CB8AC3E}">
        <p14:creationId xmlns:p14="http://schemas.microsoft.com/office/powerpoint/2010/main" val="32975922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7</a:t>
            </a:fld>
            <a:endParaRPr lang="zh-TW" altLang="en-US"/>
          </a:p>
        </p:txBody>
      </p:sp>
      <p:pic>
        <p:nvPicPr>
          <p:cNvPr id="6" name="圖片 5"/>
          <p:cNvPicPr>
            <a:picLocks noChangeAspect="1"/>
          </p:cNvPicPr>
          <p:nvPr/>
        </p:nvPicPr>
        <p:blipFill>
          <a:blip r:embed="rId2"/>
          <a:stretch>
            <a:fillRect/>
          </a:stretch>
        </p:blipFill>
        <p:spPr>
          <a:xfrm>
            <a:off x="487288" y="1647825"/>
            <a:ext cx="8199512" cy="4387734"/>
          </a:xfrm>
          <a:prstGeom prst="rect">
            <a:avLst/>
          </a:prstGeom>
        </p:spPr>
      </p:pic>
    </p:spTree>
    <p:extLst>
      <p:ext uri="{BB962C8B-B14F-4D97-AF65-F5344CB8AC3E}">
        <p14:creationId xmlns:p14="http://schemas.microsoft.com/office/powerpoint/2010/main" val="26460952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8</a:t>
            </a:fld>
            <a:endParaRPr lang="zh-TW" altLang="en-US"/>
          </a:p>
        </p:txBody>
      </p:sp>
      <p:pic>
        <p:nvPicPr>
          <p:cNvPr id="6" name="圖片 5"/>
          <p:cNvPicPr>
            <a:picLocks noChangeAspect="1"/>
          </p:cNvPicPr>
          <p:nvPr/>
        </p:nvPicPr>
        <p:blipFill>
          <a:blip r:embed="rId2"/>
          <a:stretch>
            <a:fillRect/>
          </a:stretch>
        </p:blipFill>
        <p:spPr>
          <a:xfrm>
            <a:off x="457199" y="1635125"/>
            <a:ext cx="8229601" cy="4491038"/>
          </a:xfrm>
          <a:prstGeom prst="rect">
            <a:avLst/>
          </a:prstGeom>
        </p:spPr>
      </p:pic>
    </p:spTree>
    <p:extLst>
      <p:ext uri="{BB962C8B-B14F-4D97-AF65-F5344CB8AC3E}">
        <p14:creationId xmlns:p14="http://schemas.microsoft.com/office/powerpoint/2010/main" val="8290217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t>9</a:t>
            </a:fld>
            <a:endParaRPr lang="zh-TW" altLang="en-US"/>
          </a:p>
        </p:txBody>
      </p:sp>
      <p:pic>
        <p:nvPicPr>
          <p:cNvPr id="11" name="圖片 10"/>
          <p:cNvPicPr>
            <a:picLocks noChangeAspect="1"/>
          </p:cNvPicPr>
          <p:nvPr/>
        </p:nvPicPr>
        <p:blipFill>
          <a:blip r:embed="rId2"/>
          <a:stretch>
            <a:fillRect/>
          </a:stretch>
        </p:blipFill>
        <p:spPr>
          <a:xfrm>
            <a:off x="548556" y="1633984"/>
            <a:ext cx="8138244" cy="4345279"/>
          </a:xfrm>
          <a:prstGeom prst="rect">
            <a:avLst/>
          </a:prstGeom>
        </p:spPr>
      </p:pic>
    </p:spTree>
    <p:extLst>
      <p:ext uri="{BB962C8B-B14F-4D97-AF65-F5344CB8AC3E}">
        <p14:creationId xmlns:p14="http://schemas.microsoft.com/office/powerpoint/2010/main" val="40941285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568575"/>
            <a:ext cx="7772400" cy="1470025"/>
          </a:xfrm>
        </p:spPr>
        <p:txBody>
          <a:bodyPr/>
          <a:lstStyle/>
          <a:p>
            <a:r>
              <a:rPr lang="en-US" dirty="0" smtClean="0"/>
              <a:t>Thank You!</a:t>
            </a:r>
            <a:endParaRPr lang="en-US" dirty="0"/>
          </a:p>
        </p:txBody>
      </p:sp>
      <p:sp>
        <p:nvSpPr>
          <p:cNvPr id="4" name="Slide Number Placeholder 3"/>
          <p:cNvSpPr>
            <a:spLocks noGrp="1"/>
          </p:cNvSpPr>
          <p:nvPr>
            <p:ph type="sldNum" sz="quarter" idx="12"/>
          </p:nvPr>
        </p:nvSpPr>
        <p:spPr/>
        <p:txBody>
          <a:bodyPr/>
          <a:lstStyle/>
          <a:p>
            <a:fld id="{A036DC8D-9A1F-4CC6-BEE1-B9238DE6B38E}" type="slidenum">
              <a:rPr lang="en-US" smtClean="0"/>
              <a:pPr/>
              <a:t>10</a:t>
            </a:fld>
            <a:endParaRPr lang="en-US"/>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83363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1123</TotalTime>
  <Words>335</Words>
  <Application>Microsoft Office PowerPoint</Application>
  <PresentationFormat>如螢幕大小 (4:3)</PresentationFormat>
  <Paragraphs>65</Paragraphs>
  <Slides>10</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10</vt:i4>
      </vt:variant>
    </vt:vector>
  </HeadingPairs>
  <TitlesOfParts>
    <vt:vector size="16" baseType="lpstr">
      <vt:lpstr>新細明體</vt:lpstr>
      <vt:lpstr>標楷體</vt:lpstr>
      <vt:lpstr>Arial</vt:lpstr>
      <vt:lpstr>Calibri</vt:lpstr>
      <vt:lpstr>Cambria Math</vt:lpstr>
      <vt:lpstr>Office 佈景主題</vt:lpstr>
      <vt:lpstr>Temporal significant wave height estimation from wind speed by perceptron Kalman filtering</vt:lpstr>
      <vt:lpstr>Abstract</vt:lpstr>
      <vt:lpstr>Kalman Filtering</vt:lpstr>
      <vt:lpstr>Example</vt:lpstr>
      <vt:lpstr>Perceptron Kalman Filtering</vt:lpstr>
      <vt:lpstr>Perceptron</vt:lpstr>
      <vt:lpstr>PowerPoint 簡報</vt:lpstr>
      <vt:lpstr>PowerPoint 簡報</vt:lpstr>
      <vt:lpstr>PowerPoint 簡報</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Complexity of Multiway Cuts</dc:title>
  <dc:creator>sjiujj</dc:creator>
  <cp:lastModifiedBy>shiu</cp:lastModifiedBy>
  <cp:revision>99</cp:revision>
  <dcterms:created xsi:type="dcterms:W3CDTF">2013-02-19T02:19:26Z</dcterms:created>
  <dcterms:modified xsi:type="dcterms:W3CDTF">2013-10-07T15:36:37Z</dcterms:modified>
</cp:coreProperties>
</file>