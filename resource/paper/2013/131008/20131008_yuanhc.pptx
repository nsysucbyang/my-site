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7" r:id="rId3"/>
    <p:sldId id="331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265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93DF"/>
    <a:srgbClr val="6F84EB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2" autoAdjust="0"/>
    <p:restoredTop sz="96793" autoAdjust="0"/>
  </p:normalViewPr>
  <p:slideViewPr>
    <p:cSldViewPr>
      <p:cViewPr varScale="1">
        <p:scale>
          <a:sx n="112" d="100"/>
          <a:sy n="112" d="100"/>
        </p:scale>
        <p:origin x="179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1E9FC-490C-4865-A082-2CA8BB7D5A91}" type="datetimeFigureOut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1C7-1ECC-4CF7-ABF1-426C76202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7:55:51.5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7902 8855,'0'0,"0"0,18 0,-18 0,18 0,-18 0,35 0,-35 0,17 0,-17 0,18 0,0 0,-1 0,-17 0,18 0,0 0,-18 0,17 0,-17 0,18 0,0 0,-18 0,17 0,-17 0,18 0,-18 0,17 17,1-17,-18 0,18 0,-1 0,1 0,-18 0,18 0,-18 0,0 18,35-18,-35 0,18 0,-18 0,17 0,-17 0,18 0,-1 0,-17 0,18 0,-18 0,18 0,-1 0,-17 0,18 0,-18 0,18 0,-18 0,17 0,1 0,-18 0,18 0,-18 0,17 0,1 0,-18 0,17 0,-17 0,18 0,-18 0,18 0,-1 0,-17 0,18 0,-18 0,18 0,-1 0,-17 0,18 0,-18 0,18 0,-18 0,17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7:57:35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9701 7426,'18'0,"-18"0,18 0,-1 0,-17 0,0 0,18 0,-18 0,18 0,-1 0,-17 0,0 0,18 0,-18 18,0-18,17 0,-17 0,0 0,18 0,0 0,-18 0,17 0,-17 0,0 17,18-17,0 0,-18 0,17 0,-17 0,18 0,-18 0,18 0,-1 18,-17-18,18 0,-18 0,0 18,18-18,-1 0,-17 0,18 0,-18 0,17 0,-17 0,18 0,0 0,-18 0,17 0,-17 0,18 0,0 0,-18-18,17 18,-17 0,0 0,18 0,-18-18,18 18,-1 0,-17-17,0 17,0 0,18 0,-18-18,0 0,0 18,0-17,17 17,1 0,-18-18,0 0,0 18,0 0,0-17,18 17,-18-18,0 18,0 0,0-18,17 1,-17 17,0-18,0 18,0 0,0-17,0-1,18 18,-18-18,0 18,18-17,-18 17,0-18,0 0,0 18,0-17,0 17,0-18,0 0,0 18,0-17,0 17,0-18,0 18,0 0,0 0,0 0,0 18,0-18,0 17,0 1,0-18,0 18,-18-18,18 0,0 17,0 1,0-18,0 18,0-18,-18 17,18 1,0-18,0 18,0-18,-17 0,17 17,0-17,-18 0,18 18,0-1,0-17,-18 0,18 18,0-18,0 0,0 18,-17-18,17 17,0-17,0 18,0-18,-18 0,18 18,-17-18,17 17,0-17,0 18,-18-18,18 0,0 0,0 18,-18-18,18 0,-17 0,17 17,-18-17,18 0,-18 18,18-18,-17 0,17 0,-18 0,18 0,-18 18,18-18,-17 0,17 0,0 0,-18 0,1 0,17 17,-18-17,18 0,-18 0,1 0,17 0,-18 0,18 0,-18 0,18 0,-17 0,-1 0,18 0,-18 0,18 0,-17 0,17 0,-18 0,18 0,-18 0,18 0,-17 0,17-17,0 17,-18 0,18 0,-17 0,17 0,0-18,-18 18,18 0,0-18,-18 18,18 0,-17 0,17 0,0-17,-18 17,18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7:58:46.7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8184 6950,'0'0,"0"0,0 0,0 0,0 0,18 0,0 0,-18 17,35-17,-35 18,0-18,18 0,-18 0,17 18,1-18,-18 17,18-17,-18 18,17-18,-17 18,18-18,-18 17,-18-17,18 0,-17 0,17 18,0-18,-18 0,0 0,18 17,0-17,-17 0,17 0,-18 0,18 0,0 0,-18 0,18 18,-17-18,17 0,0 18,-18-18,18 0,-18 0,18 17,-17-17</inkml:trace>
  <inkml:trace contextRef="#ctx0" brushRef="#br0" timeOffset="984.0563">8502 6985,'0'0,"18"0,-18 0,35 0,-18 0,1 0,0 0,-1 0,1 0,0 0,-1 0,-17 0,18 0,17 0,-35 0,36 0,-19 0,1 0,-1 0,-17 0,18 0,0 0,-1 0,-17 0,36 0,-36 0,17 0,1 0,0 0,17 0,-35 0,0 18,17-18,-17 0,18 0,0 0,-1 0,19 0,-36 0,35 0,-17 0,-18 0,17 0,1 0,-18 0,18 0,-18 0,0 0,17 0,-17 0,18 0</inkml:trace>
  <inkml:trace contextRef="#ctx0" brushRef="#br0" timeOffset="2816.1611">8819 7126,'0'0,"0"0,0 0,0-18,18 18,-18 0,18 0,-1 0,19 0,-19 0,1 0,0 0,-18 0,17 0,-17 18,18-18,-18 18,0-18,0 0,0 17,0-17,0 18,0 0,0-1,0-17,0 0,0 0,0 18,-18-18,18 0,-53 0,0 18,18-18,0 17,0-17,35 0,-18 0,18 0,-18 0,18 0,0 0,0 0,18 0,-18 0,0-17,18 17,-18 0,35 0,0 0,-17 0,17 17,-17-17,-1 0,1 0,0 18,-18-18,17 0,-17 17,0-17,18 0,-18 18,0-18,17 0,-17 18,0-18,0 17,18 1,-18-18,0 18,0-18,0 17,0 1,0-18,0 18,0-18,0 0,0 17,0-17,-18 18,18-18,0 18,-17-18,17 0,0 0,-18 17,18-17,-17 0,-1 0,0 0,-17 0,-18 0,18 0,-18 0,18 0,17 0,0 0,1 0,17 0,-18 0,0 0,18 0,0 0,0-17</inkml:trace>
  <inkml:trace contextRef="#ctx0" brushRef="#br0" timeOffset="4376.2503">8696 6509,'18'0,"-18"0,17 0,1 0,17 17,-35-17,18 0,-1 0,1 0,-18 0,18 0,-1 0,1 0,17 0,-35 0,18 0,0 18,-1-18,1 0,-1 0,1 0,0 0,-18 0,35 18,-17-18,-1 0,-17 0,18 0,-18 0,0 0,18 0,-18 0,17 0,-17 0</inkml:trace>
  <inkml:trace contextRef="#ctx0" brushRef="#br0" timeOffset="5154.2948">8943 6544,'0'0,"-18"0,18 35,0-35,-17 36,17-36,-18 17,0 19,18-19,-35 1,35-1,-18 1,18-18,-17 35,17-35,-18 18,18-18,0 18,-17-18,17 17,0-17,0-17,0-1,0 0</inkml:trace>
  <inkml:trace contextRef="#ctx0" brushRef="#br0" timeOffset="6224.356">8925 6562,'0'0,"0"17,0 1,0 0,18-1,-18 19,0-19,18 1,-18 17,0-35,0 18,0 35,0-36,0 1,0-18,0 18,0-18,0 17,17-17,-17 0,18 0,-18 0,17 0,-17 0,18 0,-18 0,0-17,18 17,-18 0,17 0,1-18,0 0,-18 18,0 0,17 0,-17-17,18 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7:55:51.5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7902 8854,'0'0,"0"0,18 0,-18 0,18 0,-18 0,35 0,-35 0,17 0,-17 0,18 0,0 0,-1 0,-17 0,18 0,0 0,-18 0,17 0,-17 0,18 0,0 0,-18 0,17 0,-17 0,18 0,-18 0,17 243,1-243,-18 0,18 0,-1 0,1 0,-18 0,18 0,-18 0,0 242,35-242,-35 0,18 0,-18 0,17 0,-17 0,18 0,-1 0,-17 0,18 0,-18 0,18 0,-1 0,-17 0,18 0,-18 0,18 0,-18 0,17 0,1 0,-18 0,18 0,-18 0,17 0,1 0,-18 0,17 0,-17 0,18 0,-18 0,18 0,-1 0,-17 0,18 0,-18 0,18 0,-1 0,-17 0,18 0,-18 0,18 0,-18 0,17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7:58:14.3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14940 7391,'0'17,"0"-17,0 18,0-18,0 18,-18-18,18 17,0 1,0-18,0 0,0 18,-17-18,17 17,0 1,0-18,0 0,0 17,0-17,0 18,0 0,0-18,0 17,0-17,0 18,0-18,0 18,0-1,0 1,0-18,0 0,0 18,0-1,0-17,17 0,-17 18,0-18,0 17,18-17,-18 18,0-18,0 0,0 18,0-18,18 17,-18-17,0 0,17 18,-17 0,18-18,-18 0,0 17,0-17,0 0,18 0,-18 18,0-18,0 18,17-18,-17 0,0 17,18-17,-18 0,18 0,-18 18,17-18,-17 0,18 0,-18 18,0-18,0 17,18-17,-18 0,17 0,-17 0,0 18,18-18,-18 0,17 0,1 0,-18 0,18 0,-18 0,17 0,-17 17,0-17,18 0,0 0,-18 0,17 0,-17 0,18 0,0 0,-18 0,17 0,-17 0,18 0,-18 0,17 0,-17 18,18-18,-18 0,18 0,-18 0,17 0,1 0,-18 0,18 0,-18 0,0 0,0 0,0 0,0 0,-18 0,0 0,18 18,0-18,-17 0,17 0,-18 0,0 0,18 17,0-17,-17 0,17 0,-18 0,18 0,-17 0,17 0,-18 0,18 0,-18 0,18 0,0-17,-17 17,-1 0,18 0,-18-18,18 18,0-18,-17 18,17 0,0 0,-18 0,18-17,-18 17,18 0,0 0,-17 0,17-18,0 1,-18 17,18 0,-17 0,17-18,-18 18,18 0,-18-18,18 18,-17 0,-1-17,18-1,0 18,-18 0,18 0,0-18,-17 18,17 0,0 0,0-17,-18 17,18-18,0 18,-18-18,18 18,0-17,0 17,0-18,0 0,-17 18,17 0,0-17,0 17,0-18,0 1,0 17,0-18,0 18,0-18,0 18,0-17,0-1,0 18,0-18,0 18,0-17,0 17,0-18,0 0,0 18,0 0,0-17,0 17,0-18,17 18,-17-17,0 17,0-18,0 18,18 0</inkml:trace>
  <inkml:trace contextRef="#ctx0" brushRef="#br0" timeOffset="7000.4004">16404 7655,'18'0,"-1"0,1 0,0 18,-1-18,-17 0,0 0,18 0,-18 18,0-18,18 17,-18-17,0 0,17 0,1 0,-18 18,0-18,18 0,-18 17,0-17,17 0,1 18,-18-18,17 0,-17 0,18 0,-18 0,18 0,-1 18,-17-18,18 0,-18 17,0-17,0 0,0 0,0 0,0 18,0-18,-18 18,18-18,-17 0,17 0,-18 0,18 0,0 17,-18-17,18 0,-17 0,-1 0,18 18,0-18,-17 18,-1-18,0 17,1-17,17 0,0 18,-18-18,0 0,18 18,0-18,-17 0,17 0,0 0,-18 0,18 17,-18-17,18 0,0 0</inkml:trace>
  <inkml:trace contextRef="#ctx0" brushRef="#br0" timeOffset="9911.5669">16969 7761,'0'0,"0"-18,17 18,1 0,-18 0,18 0,-18 0,17 0,-17 0,18 0,-1 0,-17 0,18 0,-18 0,18 0,-1 0,-17 0,18 0,-18 0,18 0,-18 0,17 0,1 0,-18 0,35 0,-17 0,17 18,-35-18,18 0,-18 0,17 0,1 0,-18 0,0 0,18 0,-18 0,17 0,1 0,-18 0,18 0,-18 0,17 0,-17 18,18-18,-1 0,-17 0,18 0,-18 0,18 0,-1 0,-17 0,18 0,-18 0,18 0,-18 0,17 0,1 0,-18 0,18 0,-18 0,17 0,1 0,0 0,-18 0,17 0,1 0,-18 0,17 0,-17 0,0 0,18 0,-18 0,0 0</inkml:trace>
  <inkml:trace contextRef="#ctx0" brushRef="#br0" timeOffset="11088.6343">17180 7267,'0'0,"0"-17,18 17,0 0,17 0,-18 0,1 0,17 0,-35 0,36 0,-19 0,1 0,-18 0,18 17,-18-17,35 0,-35 18,17-18,1 0,-18 0,18 0,-1 0,-17 0,18 0</inkml:trace>
  <inkml:trace contextRef="#ctx0" brushRef="#br0" timeOffset="12016.6873">17251 7267,'0'0,"-18"18,18-18,0 17,-17-17,17 36,0-36,-18 17,18-17,-18 18,1 0,17-1,0-17,-18 18,18-18,0 18,-18-1,18-17,-17 0,17 18,-18-18,18 0,0 18,-18-18,18 17,-17-17,17 0</inkml:trace>
  <inkml:trace contextRef="#ctx0" brushRef="#br0" timeOffset="13279.7596">17392 7302,'-18'0,"1"0,17 18,-18 0,18-1,0 1,-18 0,18 17,-17-35,17 18,0-1,0 1,0-18,0 18,0-18,-18 17,18 1,0-18,0 17,0 1,0-18,18 18,-1-18,-17 0,18 0,-18 0,18 0,-18 0,17 0,1 0,-18 0,18 0,-18 0,17 0,1 0,-18-18,17 18,-17 0,0 0,18 0</inkml:trace>
  <inkml:trace contextRef="#ctx0" brushRef="#br0" timeOffset="18776.074">17268 7920,'18'0,"-18"0,0 0,18 0,-18 0,0-18,17 18,1 0,-18 0,0 0,0 0,18 0,-18 18,0-18,0 0,0 18,17-18,1 17,-18-17,0 0,0 18,0-18,18 17,-18 1,0-18,0 18,0-18,0 17,0-17,0 18,0 0,0-18,0 0,0 0,0 17,-18-17,18 0,-18 0,18 0,-17 0,-1 0,0 0,1 0,-1 0,-17 0,35 0,-18 0,18 0,-17 0,-1 0,18 0,0 0,-18 0,18 0,0 0,0 0,0 0,0-17,18 17,0 0,-18-18,0 18,17 0,-17 0,18 0,-1 0,-17 0,0 0,18 0,-18 0,18 0,-18 18,0-18,17 0,1 0,-18 0,0 17,18-17,-18 0,0 0,17 0,-17 18,18-18,-18 0,18 0,-18 0,0 0,0 18,17-18,-17 17,0-17,0 0,18 0,-18 18,0-18,17 0,-17 17,0 1,0-18,0 18,0-18,0 17,0-17,0 18,0 0,0-18,0 17,0-17,0 18,0-18,0 18,0-18,0 0,0 17,-17-17,17 0,0 0,0 18,-18-18,18 0,0 0,-17 0,17 17,0-17,-18 0,0 18,18-18,-17 0,17 0,0 0,-18 0,18 18,-18-18,18 0,-17 0,17 0,-36 0,36 0,0 0,-17 0,17 0,-18 0,1 0,17-18,-18 18,18 0,0-18,-18 18,18 0,-17-17,-1 17,18-18,0 18,0 0,-18 0,18-17,0-1,-17 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7:55:51.5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7902 8855,'0'0,"0"0,18 0,-18 0,18 0,-18 0,35 0,-35 0,17 0,-17 0,18 0,0 0,-1 0,-17 0,18 0,0 0,-18 0,17 0,-17 0,18 0,0 0,-18 0,17 0,-17 0,18 0,-18 0,17 17,1-17,-18 0,18 0,-1 0,1 0,-18 0,18 0,-18 0,0 18,35-18,-35 0,18 0,-18 0,17 0,-17 0,18 0,-1 0,-17 0,18 0,-18 0,18 0,-1 0,-17 0,18 0,-18 0,18 0,-18 0,17 0,1 0,-18 0,18 0,-18 0,17 0,1 0,-18 0,17 0,-17 0,18 0,-18 0,18 0,-1 0,-17 0,18 0,-18 0,18 0,-1 0,-17 0,18 0,-18 0,18 0,-18 0,17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8:00:33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13741 13970,'0'0,"0"0,17-18,-17 18,0-17,18 17,-18 0,0-18,18 18,-18 0,17 0,-17-18,0 18,0-17,18 17,-18 0,18 0,-18 0,17 0,-17-18,18 18,-18 0,0 0,0-17,17 17,-17 0,0 0,18 0,0-18,-18 18,17 0,-17 0,18-18,0 18,-18 0,17 0,-17 0,18-17,-18 17,18 0,-1 0,-17 0,0 0,18 0,-18 0,17-18,1 18,-18 0,18 0,-18 0,17 0,-17 0,18 0,0 0,-1 0,-17 0,18 0,0 0,-18 0,17 0,-17 0,18 0,0 0,-18 0,17 0,-17 0,18 0,-18 0,0 0,17 0,1 0,-18 18,0-18,18 0,-18 0,0 0,17 0,-17 0,0 17,18-17,0 18</inkml:trace>
  <inkml:trace contextRef="#ctx0" brushRef="#br0" timeOffset="2456.1405">15328 13776,'-17'18,"-1"-18,18 0,-18 0,18 17,-17-17,-1 0,18 18,-18 0,1-18,-1 0,18 17,-18-17,18 0,0 0,-17 0,17 0,-18 18,18-1,-17-17,-1 0,18 0,-18 0,18 18,-17-18,-1 0,18 0,0 18,-18-18,18 0,0 0,0 17,0-17,0 0,18 18,0-18,-18 35,35-35,-35 36,18-36,-1 17,1-17,-18 18,17-1,1-17,-18 0,0 0,0 18,18-18,-18 0,17 0,-17 0,18 0,-18 0</inkml:trace>
  <inkml:trace contextRef="#ctx0" brushRef="#br0" timeOffset="3520.2014">15610 13882,'0'0,"0"0,0 0,36 0,-19 17,19-17,-19 0,1 0,17 18,-17-18,-1 0,1 0,17 0,-17 0,0 0,17 0,-35 0,35 0,-35 0,18 0,-1 0,1 0,0 0,-1 0,1 0,0 0,-1 18,1-18,0 0,-1 0,1 0,-1 0,1 0,0 0,-1 0,1 0,-18 0,35 0,-35 0,18 0,-18 17,18-17,-1 0,-17 0,18 0,-18 0,18 0</inkml:trace>
  <inkml:trace contextRef="#ctx0" brushRef="#br0" timeOffset="5928.3391">15946 14129,'0'0,"17"0,1 0,-18 0,17 0,-17 0,0 0,18 0,-18 17,0 1,0-18,18 18,-18-18,0 17,0-17,17 18,-17 0,0-18,0 17,0-17,-17 0,17 18,0-18,-18 18,18-18,-18 0,18 0,-17 0,-1 0,18 0,-17 0,17 0,0 0,-18 0,18 0,-18 0,18 17,0-17,0 0,18 0,-18 0,18 0,-18 0,17 0,1 0,-1 0,-17 0,36 0,-36 0,17 0,-17 0,18 18,0-18,-18 0,17 17,-17-17,18 18,0-18,-18 0,0 18,17-18,-17 0,0 17,0-17,0 18,18-18,-18 0,0 18,0-18,0 17,0-17,17 18,-17 0,0-18,0 17,0 1,0-1,0-17,-17 0,17 18,0-18,0 18,-18-1,18-17,-17 0,17 18,-18-18,18 0,0 0,-18 0,18 0,-17 0,-1 18,18-18,-18 0,18 0,-17 0,17 0,-18 17,0-17,18 0,-17 0,17 0,-35 0,17 0,0 0,18 0,-17 0,-1 0,0 0,1 0,17 0,-18 0,0 0,1-17,17 17,-35 0,35 0,0-18,-18 18,18 0,0-18</inkml:trace>
  <inkml:trace contextRef="#ctx0" brushRef="#br0" timeOffset="7512.4297">15857 13282,'0'0,"0"0,0 0,0 0,18 0,-18 0,35 0,-35 0,18 0,-18 0,35 0,-35 0,18 0,-18 0,35 0,-17 0,-1 0,-17 0,18 0,-18 0,18 0,-1 0,-17 0,18 0,-18 0,18 0,-18 0,17 0,1 0,-18 0,17 0,-17 0,18 0,0 0,-18 0,17 0,-17 18,18-18,0 0,-1 0,-17 0,18 0,-18 17,18-17</inkml:trace>
  <inkml:trace contextRef="#ctx0" brushRef="#br0" timeOffset="8344.4773">16034 13335,'-18'0,"18"0,0 18,0-1,0 19,-18-19,1 1,17-1,0-17,-18 36,18-36,-17 35,-1-35,18 18,0-1,-18 1,18-18,0 18,0-18,0 17,0 1,-17-18,17 0</inkml:trace>
  <inkml:trace contextRef="#ctx0" brushRef="#br0" timeOffset="9576.5478">16157 13353,'0'0,"-17"17,17 1,0 17,0-17,0 17,0-17,-18-1,18 1,0-18,0 18,0-1,0-17,-18 18,18-18,0 18,0-18,0 17,0 1,0-18,0 0,0 17,18-17,-18 0,0 0,18 18,-18-18,0 18,17-18,1 0,-18 0,17 0,-17 0,18 0,-18 0,18 0,-1 0,-17 0,18 0,-18 0,18 0,-1 0,-17 0,18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7:55:51.5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7902 8855,'0'0,"0"0,18 0,-18 0,18 0,-18 0,35 0,-35 0,17 0,-17 0,18 0,0 0,-1 0,-17 0,18 0,0 0,-18 0,17 0,-17 0,18 0,0 0,-18 0,17 0,-17 0,18 0,-18 0,17 17,1-17,-18 0,18 0,-1 0,1 0,-18 0,18 0,-18 0,0 18,35-18,-35 0,18 0,-18 0,17 0,-17 0,18 0,-1 0,-17 0,18 0,-18 0,18 0,-1 0,-17 0,18 0,-18 0,18 0,-18 0,17 0,1 0,-18 0,18 0,-18 0,17 0,1 0,-18 0,17 0,-17 0,18 0,-18 0,18 0,-1 0,-17 0,18 0,-18 0,18 0,-1 0,-17 0,18 0,-18 0,18 0,-18 0,17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10-08T08:01:35.9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9366 8555,'18'0,"-18"0,0 17,0-17,0 18,18 0,-18-18,0 17,17-17,-17 18,0-18,0 18,0-1,0-17,0 18,0-18,0 18,0-18,18 17,-18 1,0-18,0 18,0-18,0 17,0 1,17-18,-17 17,0-17,0 18,0-18,0 18,0-1,0-17,0 18,0-18,0 18,0-1,0-17,0 18,0-18,0 18,0-18,0 17,0 1,0-1,0-17,0 18,-17 0,17-18,0 17,0-17,0 0,-18 18,18 0,-17-18,17 0,0 17,-18-17,18 0,0 18,-18-18,1 0,17 0,0 18,-18-18,18 17,0-17,0 0,0 0,0-17,18 17,-18 0,17 0,-17-18,0 18,18 0,-18-18,0 18,18 0,-1 0,-17-17,0 17,18-18,-18 18,0 0,17-18,-17 18,0 0,0-17,18-1,-18 18,18 0,-18-18,0 18,0-17,0 17,17-18,-17 1,0 17,0-18,18 18,-18-18,18 1,-18 17,0-18,0 18,0-18,0 18,0-17,0-1,0 18,0-18,0 18,0-17,0-1,0 18,0-17,0 17,0-18,0 18,0-18,0 1,0 17,0-18,0 18,0-18,0 1,0 17,0-18,0 18,0-18,-18 18,18-17,0-1,0 18,-18-18,18 18,0 0,0-17,0-1,-17 18,17 0,-18 0,18-17,0 17,-18 0,18 0,0-18,0 18,-17 0,17 0,0 0,0 0</inkml:trace>
  <inkml:trace contextRef="#ctx0" brushRef="#br0" timeOffset="2711.1551">10019 8961,'18'0,"-18"0,35 17,-35-17,17 18,19-1,-19-17,19 0,-36 0,17 18,-17-18,18 0,-18 0,0 18,18-18,-1 17,-17-17,0 0,0 18,0-18,-17 0,17 18,-18-1,18-17,-18 0,18 0,-17 18,-1-18,18 0,-18 0,18 0,0 18,-17-18,-1 0,18 0,0 0,-18 0,18 0,0 17,-17-17,17 18,0-18,-18 0,1 0,17 0,0 0,-18 0,18 0,0 18,0-18</inkml:trace>
  <inkml:trace contextRef="#ctx0" brushRef="#br0" timeOffset="4615.264">10495 9031,'0'0,"0"0,18 0,-18 0,17 0,1 0,-18 0,18 0,-1 0,-17 0,18 0,-18 0,18 0,-1 0,-17 0,18 0,-18 0,18 0,-18 0,17 0,1 0,-18 0,17 0,-17 0,18 0,0 0,-18 0,17 0,-17 0,18 0,-18 0,18-18,-1 18,-17 0,18 0,-18 0,18 0,-1 0,-17-17,18 17,-18 0,0 0,17 0,-17 0,18 0,0 0,-18 0,0-18,17 18,-17 0,18 0,0 0</inkml:trace>
  <inkml:trace contextRef="#ctx0" brushRef="#br0" timeOffset="6959.398">10672 9172,'0'0,"0"0,17 0,1 0,-18 0,17 0,-17 0,18 0,-18 0,18 0,-1 0,-17 0,0 0,18 0,-18 0,18 0,-1 0,-17 0,18 0,0 0,-1 0,-17 36,18-36,-1 0,1 17,-18-17,0 0,18 0,-18 18,0-1,0-17,0 18,0-18,0 18,0-18,-18 17,0-17,18 18,-17-18,17 18,-18-18,18 0,0 0,-17 0,-1 0,18 17,-18-17,18 0,-35 18,17-18,1 0,-1 0,18 0,-18 0,1 0,17 0,-18 0,18 0,0 0,18 0,-1 0,-17 0,18 0,-18 0,18-18,-1 18,1 0,0 0,-1 0,-17 0,18 0,-18 0,18 0,-1 0,-17 0,18 0,-18 0,17 0,-17 0,0 18,18-18,-18 0,18 0,-18 18,17-18,-17 17,18 1,-18-18,18 17,-18-17,0 18,0-18,17 18,-17-1,0 1,0-18,0 0,0 18,0-1,0-17,18 18,-18-18,0 18,0-1,0-17,0 18,0-18,-18 17,18-17,-17 0,17 18,-18-18,0 0,18 18,-17-18,-1 0,18 0,-18 17,18-17,-17 0,-1 0,18 0,-17 0,17 0,-18 0,0 0,1 0,-1 0,18 0,-18 0,1 0,17 0,-18 0,18 0,-18 0,1 0,17 0,-18 0,18 0,-17-17,17 17,0-18,-18 18,0 0,18 0,0-18</inkml:trace>
  <inkml:trace contextRef="#ctx0" brushRef="#br0" timeOffset="8207.4694">10583 8449,'0'-18,"18"18,17 0,1 0,-19 0,-17 0,18 0,-1 0,-17 0,18 0,-18 0,18 0,-1 0,-17 0,18 0,17 0,-35 0,18 0,-18 0,18 0,-1 0,18 0,-17 0,-18 0,18 0,-1 0,-17 0,18 0,-18 0</inkml:trace>
  <inkml:trace contextRef="#ctx0" brushRef="#br0" timeOffset="9223.5276">10760 8431,'0'0,"0"36,-18-19,0 1,18 0,0-1,0 1,-17-18,17 17,0-17,-18 18,18 0,0-1,-17-17,17 18,0 0,-18-1,18-17,0 18,0-18,0 18,0-18,0 17,-18-17,18 18</inkml:trace>
  <inkml:trace contextRef="#ctx0" brushRef="#br0" timeOffset="10495.6003">10848 8484,'0'0,"0"0,0 0,-18 18,18 0,-17-1,17 1,0-1,0 1,0 0,0-18,0 17,0-17,0 18,0-18,0 18,0-1,0-17,0 18,17-18,-17 18,0-1,0-17,18 0,-18 18,0-18,18 0,-18 18,0-18,17 0,1 0,-18 17,0-17,17 0,-17 18,0-18,18 0,0 0,-18 0,17 0,1 0,0 0,-18 0,17 0,-17 0,18 0,-18 0,18 0,-1-18,1 18,-18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58AF-C11A-4B8D-B5DF-F124E30CB17B}" type="datetimeFigureOut">
              <a:rPr lang="zh-TW" altLang="en-US" smtClean="0"/>
              <a:t>2013/10/8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9042-3193-49F2-8086-409E581C9D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99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419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customXml" Target="../ink/ink2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customXml" Target="../ink/ink5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customXml" Target="../ink/ink7.x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customXml" Target="../ink/ink9.xml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42392" y="1052736"/>
            <a:ext cx="6858000" cy="1944216"/>
          </a:xfrm>
        </p:spPr>
        <p:txBody>
          <a:bodyPr>
            <a:noAutofit/>
          </a:bodyPr>
          <a:lstStyle/>
          <a:p>
            <a:pPr algn="l"/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A </a:t>
            </a: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linear time algorithm 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for max-min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length triangulation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of </a:t>
            </a: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a convex polygon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000" b="0" dirty="0" smtClean="0">
                <a:latin typeface="微軟正黑體" pitchFamily="34" charset="-120"/>
                <a:ea typeface="微軟正黑體" pitchFamily="34" charset="-120"/>
              </a:rPr>
              <a:t>Information </a:t>
            </a:r>
            <a:r>
              <a:rPr lang="en-US" altLang="zh-TW" sz="2000" b="0" dirty="0">
                <a:latin typeface="微軟正黑體" pitchFamily="34" charset="-120"/>
                <a:ea typeface="微軟正黑體" pitchFamily="34" charset="-120"/>
              </a:rPr>
              <a:t>Processing Letters</a:t>
            </a:r>
            <a:r>
              <a:rPr lang="en-US" altLang="zh-TW" sz="2000" b="0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000" b="0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000" b="0" dirty="0" smtClean="0">
                <a:latin typeface="微軟正黑體" pitchFamily="34" charset="-120"/>
                <a:ea typeface="微軟正黑體" pitchFamily="34" charset="-120"/>
              </a:rPr>
              <a:t>	vol.</a:t>
            </a:r>
            <a:r>
              <a:rPr lang="zh-TW" altLang="en-US" sz="2000" b="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000" b="0" dirty="0" smtClean="0">
                <a:latin typeface="微軟正黑體" pitchFamily="34" charset="-120"/>
                <a:ea typeface="微軟正黑體" pitchFamily="34" charset="-120"/>
              </a:rPr>
              <a:t>101</a:t>
            </a:r>
            <a:r>
              <a:rPr lang="zh-TW" altLang="en-US" sz="2000" b="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000" b="0" dirty="0" smtClean="0">
                <a:latin typeface="微軟正黑體" pitchFamily="34" charset="-120"/>
                <a:ea typeface="微軟正黑體" pitchFamily="34" charset="-120"/>
              </a:rPr>
              <a:t>pp.203–208</a:t>
            </a:r>
            <a:r>
              <a:rPr lang="zh-TW" altLang="en-US" sz="2000" b="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000" b="0" dirty="0" smtClean="0">
                <a:latin typeface="微軟正黑體" pitchFamily="34" charset="-120"/>
                <a:ea typeface="微軟正黑體" pitchFamily="34" charset="-120"/>
              </a:rPr>
              <a:t>(2007) 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144237"/>
          </a:xfrm>
        </p:spPr>
        <p:txBody>
          <a:bodyPr>
            <a:noAutofit/>
          </a:bodyPr>
          <a:lstStyle/>
          <a:p>
            <a:pPr algn="l"/>
            <a:r>
              <a:rPr lang="en-US" altLang="zh-TW" sz="1800" dirty="0" err="1">
                <a:latin typeface="微軟正黑體" pitchFamily="34" charset="-120"/>
                <a:ea typeface="微軟正黑體" pitchFamily="34" charset="-120"/>
              </a:rPr>
              <a:t>Shiyan</a:t>
            </a:r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800" dirty="0" smtClean="0">
                <a:latin typeface="微軟正黑體" pitchFamily="34" charset="-120"/>
                <a:ea typeface="微軟正黑體" pitchFamily="34" charset="-120"/>
              </a:rPr>
              <a:t>Hu</a:t>
            </a:r>
          </a:p>
          <a:p>
            <a:pPr algn="l"/>
            <a:r>
              <a:rPr lang="en-US" altLang="zh-TW" sz="1800" dirty="0">
                <a:latin typeface="微軟正黑體" pitchFamily="34" charset="-120"/>
                <a:ea typeface="微軟正黑體" pitchFamily="34" charset="-120"/>
              </a:rPr>
              <a:t>Department of Computer and Information Science, Polytechnic University, Brooklyn, NY 11201, USA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400" dirty="0" smtClean="0">
                <a:solidFill>
                  <a:schemeClr val="tx1"/>
                </a:solidFill>
              </a:rPr>
              <a:t>Presentor</a:t>
            </a:r>
            <a:r>
              <a:rPr lang="zh-TW" altLang="en-US" sz="2400" dirty="0" smtClean="0">
                <a:solidFill>
                  <a:schemeClr val="tx1"/>
                </a:solidFill>
              </a:rPr>
              <a:t>：</a:t>
            </a:r>
            <a:r>
              <a:rPr lang="en-US" altLang="zh-TW" sz="2400" dirty="0" smtClean="0">
                <a:solidFill>
                  <a:schemeClr val="tx1"/>
                </a:solidFill>
              </a:rPr>
              <a:t>Hsin-Chuan Yuan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Abstract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We consider the following </a:t>
            </a:r>
            <a:r>
              <a:rPr lang="en-US" altLang="zh-TW" sz="2400" i="1" dirty="0"/>
              <a:t>planar max-min length triangulation</a:t>
            </a:r>
            <a:r>
              <a:rPr lang="en-US" altLang="zh-TW" sz="2400" dirty="0"/>
              <a:t> problem: given a set of </a:t>
            </a:r>
            <a:r>
              <a:rPr lang="en-US" altLang="zh-TW" sz="2400" i="1" dirty="0"/>
              <a:t>n</a:t>
            </a:r>
            <a:r>
              <a:rPr lang="en-US" altLang="zh-TW" sz="2400" dirty="0"/>
              <a:t> points in the Euclidean plane, find a triangulation such that the length of the shortest edge in the triangulation </a:t>
            </a:r>
            <a:r>
              <a:rPr lang="en-US" altLang="zh-TW" sz="2400" dirty="0" smtClean="0"/>
              <a:t>is</a:t>
            </a:r>
            <a:r>
              <a:rPr lang="zh-TW" altLang="en-US" sz="2400" dirty="0" smtClean="0"/>
              <a:t> </a:t>
            </a:r>
            <a:r>
              <a:rPr lang="en-US" altLang="zh-TW" sz="2400" i="1" dirty="0" smtClean="0"/>
              <a:t>maximized</a:t>
            </a:r>
            <a:r>
              <a:rPr lang="en-US" altLang="zh-TW" sz="2400" dirty="0"/>
              <a:t>. In this paper, a linear time algorithm is proposed for computing the max-min length triangulation of a set of points in convex position. </a:t>
            </a:r>
            <a:endParaRPr lang="zh-TW" altLang="en-US" sz="2400" dirty="0">
              <a:latin typeface="微軟正黑體" pitchFamily="34" charset="-120"/>
              <a:ea typeface="微軟正黑體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2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Abstract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altLang="zh-TW" sz="2400" dirty="0"/>
              <a:t> In addition, an O(</a:t>
            </a:r>
            <a:r>
              <a:rPr lang="en-US" altLang="zh-TW" sz="2400" dirty="0" err="1"/>
              <a:t>nlogn</a:t>
            </a:r>
            <a:r>
              <a:rPr lang="en-US" altLang="zh-TW" sz="2400" dirty="0"/>
              <a:t>) time algorithm is proposed for computing the max-min length k-set triangulation of a set of points in convex position, where we are to compute a set of </a:t>
            </a:r>
            <a:r>
              <a:rPr lang="en-US" altLang="zh-TW" sz="2400" dirty="0" smtClean="0"/>
              <a:t>k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vertices </a:t>
            </a:r>
            <a:r>
              <a:rPr lang="en-US" altLang="zh-TW" sz="2400" dirty="0"/>
              <a:t>such that the max-min length triangulation on them is minimized over all possible k-set. We further show that the graph version of max-min length triangulation is NP-complete, and some common heuristics such as greedy algorithm are in general not able to give a bounded-ratio approximation to the max-min length triangulation.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endParaRPr lang="zh-TW" altLang="en-US" sz="2400" dirty="0">
              <a:latin typeface="微軟正黑體" pitchFamily="34" charset="-120"/>
              <a:ea typeface="微軟正黑體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25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Triangulations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smtClean="0"/>
              <a:t>minimum</a:t>
            </a:r>
            <a:r>
              <a:rPr lang="zh-TW" altLang="en-US" dirty="0" smtClean="0"/>
              <a:t> </a:t>
            </a:r>
            <a:r>
              <a:rPr lang="en-US" altLang="zh-TW" dirty="0" smtClean="0"/>
              <a:t>weight triangulation</a:t>
            </a:r>
          </a:p>
          <a:p>
            <a:r>
              <a:rPr lang="en-US" altLang="zh-TW" dirty="0"/>
              <a:t>The maximum weight </a:t>
            </a:r>
            <a:r>
              <a:rPr lang="en-US" altLang="zh-TW" dirty="0" smtClean="0"/>
              <a:t>triangulation</a:t>
            </a:r>
          </a:p>
          <a:p>
            <a:r>
              <a:rPr lang="en-US" altLang="zh-TW" dirty="0"/>
              <a:t>The </a:t>
            </a:r>
            <a:r>
              <a:rPr lang="en-US" altLang="zh-TW" dirty="0" smtClean="0"/>
              <a:t>min-max</a:t>
            </a:r>
            <a:r>
              <a:rPr lang="zh-TW" altLang="en-US" dirty="0" smtClean="0"/>
              <a:t> </a:t>
            </a:r>
            <a:r>
              <a:rPr lang="en-US" altLang="zh-TW" dirty="0" smtClean="0"/>
              <a:t>length </a:t>
            </a:r>
            <a:r>
              <a:rPr lang="en-US" altLang="zh-TW" dirty="0"/>
              <a:t>triangulation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15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minimum weight </a:t>
            </a:r>
            <a:r>
              <a:rPr lang="en-US" altLang="zh-TW" dirty="0" smtClean="0"/>
              <a:t>triangulation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Find </a:t>
                </a:r>
                <a:r>
                  <a:rPr lang="en-US" altLang="zh-TW" dirty="0"/>
                  <a:t>a triangulation of minimal total edge </a:t>
                </a:r>
                <a:r>
                  <a:rPr lang="en-US" altLang="zh-TW" dirty="0" smtClean="0"/>
                  <a:t>length.</a:t>
                </a:r>
              </a:p>
              <a:p>
                <a:pPr lvl="1"/>
                <a:r>
                  <a:rPr lang="en-US" altLang="zh-TW" sz="2400" dirty="0" smtClean="0"/>
                  <a:t>For </a:t>
                </a:r>
                <a:r>
                  <a:rPr lang="en-US" altLang="zh-TW" sz="2400" dirty="0"/>
                  <a:t>polygon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inputs, using dynamic programming.</a:t>
                </a:r>
                <a:endParaRPr lang="en-US" altLang="zh-TW" sz="240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400" dirty="0" smtClean="0"/>
              </a:p>
              <a:p>
                <a:pPr lvl="2"/>
                <a:r>
                  <a:rPr lang="en-US" altLang="zh-TW" sz="2400" dirty="0" smtClean="0"/>
                  <a:t>Takes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 time </a:t>
                </a:r>
                <a:r>
                  <a:rPr lang="en-US" altLang="zh-TW" sz="2400" dirty="0" smtClean="0"/>
                  <a:t>&amp;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/>
                  <a:t> </a:t>
                </a:r>
                <a:r>
                  <a:rPr lang="en-US" altLang="zh-TW" sz="2400" dirty="0" smtClean="0"/>
                  <a:t>space.</a:t>
                </a:r>
              </a:p>
              <a:p>
                <a:pPr lvl="2"/>
                <a:endParaRPr lang="en-US" altLang="zh-TW" sz="2400" dirty="0"/>
              </a:p>
              <a:p>
                <a:pPr lvl="2"/>
                <a:endParaRPr lang="en-US" altLang="zh-TW" sz="2400" dirty="0" smtClean="0"/>
              </a:p>
              <a:p>
                <a:pPr lvl="1"/>
                <a:endParaRPr lang="en-US" altLang="zh-TW" sz="2400" dirty="0" smtClean="0"/>
              </a:p>
              <a:p>
                <a:pPr lvl="1"/>
                <a:r>
                  <a:rPr lang="en-US" altLang="zh-TW" sz="2400" dirty="0" smtClean="0"/>
                  <a:t>For </a:t>
                </a:r>
                <a:r>
                  <a:rPr lang="en-US" altLang="zh-TW" sz="2400" dirty="0"/>
                  <a:t>point set </a:t>
                </a:r>
                <a:r>
                  <a:rPr lang="en-US" altLang="zh-TW" sz="2400" dirty="0" smtClean="0"/>
                  <a:t>inputs</a:t>
                </a:r>
                <a:endParaRPr lang="en-US" altLang="zh-TW" sz="2400" dirty="0"/>
              </a:p>
              <a:p>
                <a:pPr lvl="2"/>
                <a:r>
                  <a:rPr lang="en-US" altLang="zh-TW" sz="2400" dirty="0" smtClean="0"/>
                  <a:t>NP-complete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667" t="-9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2708920"/>
            <a:ext cx="2915816" cy="116447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608" y="4993050"/>
            <a:ext cx="1244377" cy="124437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976" y="4993050"/>
            <a:ext cx="1276632" cy="126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maximum weight triangulation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Find </a:t>
                </a:r>
                <a:r>
                  <a:rPr lang="en-US" altLang="zh-TW" dirty="0"/>
                  <a:t>a triangulation of </a:t>
                </a:r>
                <a:r>
                  <a:rPr lang="en-US" altLang="zh-TW" dirty="0" smtClean="0"/>
                  <a:t>maximum </a:t>
                </a:r>
                <a:r>
                  <a:rPr lang="en-US" altLang="zh-TW" dirty="0"/>
                  <a:t>total edge length.</a:t>
                </a:r>
              </a:p>
              <a:p>
                <a:pPr lvl="1"/>
                <a:r>
                  <a:rPr lang="en-US" altLang="zh-TW" sz="2400" dirty="0"/>
                  <a:t>For polygon </a:t>
                </a:r>
                <a:r>
                  <a:rPr lang="en-US" altLang="zh-TW" sz="2400" dirty="0" smtClean="0"/>
                  <a:t>inputs</a:t>
                </a:r>
              </a:p>
              <a:p>
                <a:pPr lvl="2"/>
                <a:r>
                  <a:rPr lang="en-US" altLang="zh-TW" sz="2400" dirty="0">
                    <a:solidFill>
                      <a:schemeClr val="tx2"/>
                    </a:solidFill>
                  </a:rPr>
                  <a:t>Takes </a:t>
                </a:r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chemeClr val="tx2"/>
                        </a:solidFill>
                      </a:rPr>
                      <m:t>𝑂</m:t>
                    </m:r>
                    <m:r>
                      <a:rPr lang="en-US" altLang="zh-TW" sz="2400">
                        <a:solidFill>
                          <a:schemeClr val="tx2"/>
                        </a:solidFill>
                      </a:rPr>
                      <m:t>(</m:t>
                    </m:r>
                    <m:sSup>
                      <m:sSupPr>
                        <m:ctrlPr>
                          <a:rPr lang="en-US" altLang="zh-TW" sz="2400">
                            <a:solidFill>
                              <a:schemeClr val="tx2"/>
                            </a:solidFill>
                          </a:rPr>
                        </m:ctrlPr>
                      </m:sSupPr>
                      <m:e>
                        <m:r>
                          <a:rPr lang="en-US" altLang="zh-TW" sz="2400">
                            <a:solidFill>
                              <a:schemeClr val="tx2"/>
                            </a:solidFill>
                          </a:rPr>
                          <m:t>𝑛</m:t>
                        </m:r>
                      </m:e>
                      <m:sup>
                        <m:r>
                          <a:rPr lang="en-US" altLang="zh-TW" sz="2400">
                            <a:solidFill>
                              <a:schemeClr val="tx2"/>
                            </a:solidFill>
                          </a:rPr>
                          <m:t>2</m:t>
                        </m:r>
                      </m:sup>
                    </m:sSup>
                    <m:r>
                      <a:rPr lang="en-US" altLang="zh-TW" sz="2400">
                        <a:solidFill>
                          <a:schemeClr val="tx2"/>
                        </a:solidFill>
                      </a:rPr>
                      <m:t>)</m:t>
                    </m:r>
                  </m:oMath>
                </a14:m>
                <a:r>
                  <a:rPr lang="en-US" altLang="zh-TW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time</a:t>
                </a:r>
              </a:p>
              <a:p>
                <a:pPr lvl="2"/>
                <a:endParaRPr lang="en-US" altLang="zh-TW" sz="2400" dirty="0">
                  <a:solidFill>
                    <a:schemeClr val="tx2"/>
                  </a:solidFill>
                </a:endParaRPr>
              </a:p>
              <a:p>
                <a:pPr lvl="2"/>
                <a:endParaRPr lang="zh-TW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667" t="-9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94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min-max length </a:t>
            </a:r>
            <a:r>
              <a:rPr lang="en-US" altLang="zh-TW" dirty="0" smtClean="0"/>
              <a:t>triangulation</a:t>
            </a:r>
            <a:endParaRPr lang="en-US" altLang="zh-TW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Find </a:t>
                </a:r>
                <a:r>
                  <a:rPr lang="en-US" altLang="zh-TW" dirty="0"/>
                  <a:t>a triangulation such that the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length of the </a:t>
                </a:r>
                <a:r>
                  <a:rPr lang="en-US" altLang="zh-TW" dirty="0" smtClean="0"/>
                  <a:t>longest edge </a:t>
                </a:r>
                <a:r>
                  <a:rPr lang="en-US" altLang="zh-TW" dirty="0"/>
                  <a:t>is </a:t>
                </a:r>
                <a:r>
                  <a:rPr lang="en-US" altLang="zh-TW" dirty="0"/>
                  <a:t>minimized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lvl="2"/>
                <a:r>
                  <a:rPr lang="en-US" altLang="zh-TW" sz="2400" dirty="0" smtClean="0">
                    <a:solidFill>
                      <a:schemeClr val="tx2"/>
                    </a:solidFill>
                  </a:rPr>
                  <a:t>Takes </a:t>
                </a:r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TW" sz="2400" dirty="0">
                    <a:solidFill>
                      <a:schemeClr val="tx2"/>
                    </a:solidFill>
                  </a:rPr>
                  <a:t>time</a:t>
                </a:r>
              </a:p>
              <a:p>
                <a:pPr lvl="2"/>
                <a:endParaRPr lang="zh-TW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667" t="-9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59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max-min </a:t>
            </a:r>
            <a:r>
              <a:rPr lang="en-US" altLang="zh-TW" dirty="0"/>
              <a:t>length </a:t>
            </a:r>
            <a:r>
              <a:rPr lang="en-US" altLang="zh-TW" dirty="0" smtClean="0"/>
              <a:t>triangulation</a:t>
            </a:r>
            <a:endParaRPr lang="en-US" altLang="zh-TW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Find </a:t>
                </a:r>
                <a:r>
                  <a:rPr lang="en-US" altLang="zh-TW" dirty="0"/>
                  <a:t>a triangulation such that the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length of the shortest edge is </a:t>
                </a:r>
                <a:r>
                  <a:rPr lang="en-US" altLang="zh-TW" dirty="0" smtClean="0"/>
                  <a:t>maximized.</a:t>
                </a:r>
                <a:endParaRPr lang="en-US" altLang="zh-TW" dirty="0"/>
              </a:p>
              <a:p>
                <a:pPr lvl="1"/>
                <a:r>
                  <a:rPr lang="en-US" altLang="zh-TW" sz="2400" dirty="0" smtClean="0"/>
                  <a:t>For </a:t>
                </a:r>
                <a:r>
                  <a:rPr lang="en-US" altLang="zh-TW" sz="2400" dirty="0"/>
                  <a:t>polygon </a:t>
                </a:r>
                <a:r>
                  <a:rPr lang="en-US" altLang="zh-TW" sz="2400" dirty="0" smtClean="0"/>
                  <a:t>inputs</a:t>
                </a:r>
              </a:p>
              <a:p>
                <a:pPr lvl="2"/>
                <a:r>
                  <a:rPr lang="en-US" altLang="zh-TW" sz="2400" dirty="0">
                    <a:solidFill>
                      <a:schemeClr val="tx2"/>
                    </a:solidFill>
                  </a:rPr>
                  <a:t>Takes </a:t>
                </a:r>
                <a14:m>
                  <m:oMath xmlns:m="http://schemas.openxmlformats.org/officeDocument/2006/math">
                    <m:r>
                      <a:rPr lang="en-US" altLang="zh-TW" sz="2400">
                        <a:solidFill>
                          <a:schemeClr val="tx2"/>
                        </a:solidFill>
                      </a:rPr>
                      <m:t>𝑂</m:t>
                    </m:r>
                    <m:r>
                      <a:rPr lang="en-US" altLang="zh-TW" sz="2400">
                        <a:solidFill>
                          <a:schemeClr val="tx2"/>
                        </a:solidFill>
                      </a:rPr>
                      <m:t>(</m:t>
                    </m:r>
                    <m:sSup>
                      <m:sSupPr>
                        <m:ctrlPr>
                          <a:rPr lang="en-US" altLang="zh-TW" sz="2400">
                            <a:solidFill>
                              <a:schemeClr val="tx2"/>
                            </a:solidFill>
                          </a:rPr>
                        </m:ctrlPr>
                      </m:sSupPr>
                      <m:e>
                        <m:r>
                          <a:rPr lang="en-US" altLang="zh-TW" sz="2400">
                            <a:solidFill>
                              <a:schemeClr val="tx2"/>
                            </a:solidFill>
                          </a:rPr>
                          <m:t>𝑛</m:t>
                        </m:r>
                      </m:e>
                      <m:sup>
                        <m:r>
                          <a:rPr lang="en-US" altLang="zh-TW" sz="2400">
                            <a:solidFill>
                              <a:schemeClr val="tx2"/>
                            </a:solidFill>
                          </a:rPr>
                          <m:t>2</m:t>
                        </m:r>
                      </m:sup>
                    </m:sSup>
                    <m:r>
                      <a:rPr lang="en-US" altLang="zh-TW" sz="2400">
                        <a:solidFill>
                          <a:schemeClr val="tx2"/>
                        </a:solidFill>
                      </a:rPr>
                      <m:t>)</m:t>
                    </m:r>
                  </m:oMath>
                </a14:m>
                <a:r>
                  <a:rPr lang="en-US" altLang="zh-TW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time</a:t>
                </a:r>
              </a:p>
              <a:p>
                <a:pPr lvl="2"/>
                <a:endParaRPr lang="en-US" altLang="zh-TW" sz="24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en-US" altLang="zh-TW" sz="2400" dirty="0"/>
                  <a:t>For point set inputs</a:t>
                </a:r>
              </a:p>
              <a:p>
                <a:pPr lvl="2"/>
                <a:r>
                  <a:rPr lang="en-US" altLang="zh-TW" sz="2400" dirty="0"/>
                  <a:t>NP-complete</a:t>
                </a:r>
                <a:endParaRPr lang="zh-TW" altLang="en-US" sz="2400" dirty="0"/>
              </a:p>
              <a:p>
                <a:pPr lvl="2"/>
                <a:endParaRPr lang="zh-TW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667" t="-9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00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max-min </a:t>
            </a:r>
            <a:r>
              <a:rPr lang="en-US" altLang="zh-TW" dirty="0"/>
              <a:t>length triangulation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for a </a:t>
            </a:r>
            <a:r>
              <a:rPr lang="en-US" altLang="zh-TW" dirty="0"/>
              <a:t>convex polygon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43808" y="1758497"/>
            <a:ext cx="3456384" cy="398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0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max-min length triangulation </a:t>
            </a:r>
            <a:br>
              <a:rPr lang="en-US" altLang="zh-TW" dirty="0"/>
            </a:br>
            <a:r>
              <a:rPr lang="en-US" altLang="zh-TW" dirty="0"/>
              <a:t>for a convex polygon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43808" y="1758497"/>
            <a:ext cx="3456384" cy="39823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6"/>
              <p14:cNvContentPartPr/>
              <p14:nvPr/>
            </p14:nvContentPartPr>
            <p14:xfrm>
              <a:off x="2844720" y="3187800"/>
              <a:ext cx="298800" cy="12960"/>
            </p14:xfrm>
          </p:contentPart>
        </mc:Choice>
        <mc:Fallback>
          <p:pic>
            <p:nvPicPr>
              <p:cNvPr id="7" name="筆跡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8880" y="3124080"/>
                <a:ext cx="330480" cy="14004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直線接點 9"/>
          <p:cNvCxnSpPr/>
          <p:nvPr/>
        </p:nvCxnSpPr>
        <p:spPr>
          <a:xfrm flipV="1">
            <a:off x="3203848" y="2276872"/>
            <a:ext cx="1224136" cy="91092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筆跡 10"/>
              <p14:cNvContentPartPr/>
              <p14:nvPr/>
            </p14:nvContentPartPr>
            <p14:xfrm>
              <a:off x="3492360" y="2546280"/>
              <a:ext cx="241920" cy="159120"/>
            </p14:xfrm>
          </p:contentPart>
        </mc:Choice>
        <mc:Fallback>
          <p:pic>
            <p:nvPicPr>
              <p:cNvPr id="11" name="筆跡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83000" y="2536920"/>
                <a:ext cx="2606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筆跡 11"/>
              <p14:cNvContentPartPr/>
              <p14:nvPr/>
            </p14:nvContentPartPr>
            <p14:xfrm>
              <a:off x="2940120" y="2343240"/>
              <a:ext cx="387720" cy="362160"/>
            </p14:xfrm>
          </p:contentPart>
        </mc:Choice>
        <mc:Fallback>
          <p:pic>
            <p:nvPicPr>
              <p:cNvPr id="12" name="筆跡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30760" y="2333880"/>
                <a:ext cx="406440" cy="3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704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max-min length triangulation </a:t>
            </a:r>
            <a:br>
              <a:rPr lang="en-US" altLang="zh-TW" dirty="0"/>
            </a:br>
            <a:r>
              <a:rPr lang="en-US" altLang="zh-TW" dirty="0"/>
              <a:t>for a convex polygon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43808" y="1758497"/>
            <a:ext cx="3456384" cy="39823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6"/>
              <p14:cNvContentPartPr/>
              <p14:nvPr/>
            </p14:nvContentPartPr>
            <p14:xfrm rot="14043395">
              <a:off x="4293140" y="2001629"/>
              <a:ext cx="298800" cy="175090"/>
            </p14:xfrm>
          </p:contentPart>
        </mc:Choice>
        <mc:Fallback>
          <p:pic>
            <p:nvPicPr>
              <p:cNvPr id="7" name="筆跡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4043395">
                <a:off x="4277300" y="1938222"/>
                <a:ext cx="330480" cy="301904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直線接點 9"/>
          <p:cNvCxnSpPr/>
          <p:nvPr/>
        </p:nvCxnSpPr>
        <p:spPr>
          <a:xfrm flipV="1">
            <a:off x="3203848" y="2276872"/>
            <a:ext cx="1224136" cy="91092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4427984" y="2276872"/>
            <a:ext cx="1296144" cy="136815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筆跡 11"/>
              <p14:cNvContentPartPr/>
              <p14:nvPr/>
            </p14:nvContentPartPr>
            <p14:xfrm>
              <a:off x="5365800" y="2610000"/>
              <a:ext cx="1016280" cy="419400"/>
            </p14:xfrm>
          </p:contentPart>
        </mc:Choice>
        <mc:Fallback>
          <p:pic>
            <p:nvPicPr>
              <p:cNvPr id="12" name="筆跡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6440" y="2600640"/>
                <a:ext cx="1035000" cy="43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666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max-min length triangulation </a:t>
            </a:r>
            <a:br>
              <a:rPr lang="en-US" altLang="zh-TW" dirty="0"/>
            </a:br>
            <a:r>
              <a:rPr lang="en-US" altLang="zh-TW" dirty="0"/>
              <a:t>for a convex polygon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43808" y="1758497"/>
            <a:ext cx="3456384" cy="39823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6"/>
              <p14:cNvContentPartPr/>
              <p14:nvPr/>
            </p14:nvContentPartPr>
            <p14:xfrm>
              <a:off x="5796136" y="3638417"/>
              <a:ext cx="298800" cy="12960"/>
            </p14:xfrm>
          </p:contentPart>
        </mc:Choice>
        <mc:Fallback>
          <p:pic>
            <p:nvPicPr>
              <p:cNvPr id="7" name="筆跡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80296" y="3574697"/>
                <a:ext cx="330480" cy="14004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直線接點 9"/>
          <p:cNvCxnSpPr/>
          <p:nvPr/>
        </p:nvCxnSpPr>
        <p:spPr>
          <a:xfrm flipV="1">
            <a:off x="3203848" y="2276872"/>
            <a:ext cx="1224136" cy="91092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4427984" y="2276872"/>
            <a:ext cx="1296144" cy="136815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筆跡 12"/>
              <p14:cNvContentPartPr/>
              <p14:nvPr/>
            </p14:nvContentPartPr>
            <p14:xfrm>
              <a:off x="4946760" y="4781520"/>
              <a:ext cx="952920" cy="489240"/>
            </p14:xfrm>
          </p:contentPart>
        </mc:Choice>
        <mc:Fallback>
          <p:pic>
            <p:nvPicPr>
              <p:cNvPr id="13" name="筆跡 1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37400" y="4772160"/>
                <a:ext cx="971640" cy="50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943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max-min length triangulation </a:t>
            </a:r>
            <a:br>
              <a:rPr lang="en-US" altLang="zh-TW" dirty="0"/>
            </a:br>
            <a:r>
              <a:rPr lang="en-US" altLang="zh-TW" dirty="0"/>
              <a:t>for a convex polygon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43808" y="1758497"/>
            <a:ext cx="3456384" cy="39823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6"/>
              <p14:cNvContentPartPr/>
              <p14:nvPr/>
            </p14:nvContentPartPr>
            <p14:xfrm>
              <a:off x="4959772" y="5292367"/>
              <a:ext cx="298800" cy="12960"/>
            </p14:xfrm>
          </p:contentPart>
        </mc:Choice>
        <mc:Fallback>
          <p:pic>
            <p:nvPicPr>
              <p:cNvPr id="7" name="筆跡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43932" y="5228647"/>
                <a:ext cx="330480" cy="14004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直線接點 9"/>
          <p:cNvCxnSpPr/>
          <p:nvPr/>
        </p:nvCxnSpPr>
        <p:spPr>
          <a:xfrm flipV="1">
            <a:off x="3203848" y="2276872"/>
            <a:ext cx="1224136" cy="91092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4427984" y="2276872"/>
            <a:ext cx="1296144" cy="136815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 flipV="1">
            <a:off x="4427984" y="2276872"/>
            <a:ext cx="681188" cy="295232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筆跡 13"/>
              <p14:cNvContentPartPr/>
              <p14:nvPr/>
            </p14:nvContentPartPr>
            <p14:xfrm>
              <a:off x="3359160" y="3035160"/>
              <a:ext cx="635400" cy="457560"/>
            </p14:xfrm>
          </p:contentPart>
        </mc:Choice>
        <mc:Fallback>
          <p:pic>
            <p:nvPicPr>
              <p:cNvPr id="14" name="筆跡 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49800" y="3025800"/>
                <a:ext cx="654120" cy="4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03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900" dirty="0"/>
              <a:t>The </a:t>
            </a:r>
            <a:r>
              <a:rPr lang="en-US" altLang="zh-TW" sz="2900" dirty="0"/>
              <a:t>max-min </a:t>
            </a:r>
            <a:r>
              <a:rPr lang="en-US" altLang="zh-TW" sz="2900" dirty="0"/>
              <a:t>length k-set triangulation </a:t>
            </a:r>
            <a:r>
              <a:rPr lang="en-US" altLang="zh-TW" sz="2900" dirty="0"/>
              <a:t/>
            </a:r>
            <a:br>
              <a:rPr lang="en-US" altLang="zh-TW" sz="2900" dirty="0"/>
            </a:br>
            <a:r>
              <a:rPr lang="en-US" altLang="zh-TW" sz="2900" dirty="0"/>
              <a:t>for a </a:t>
            </a:r>
            <a:r>
              <a:rPr lang="en-US" altLang="zh-TW" sz="2900" dirty="0"/>
              <a:t>convex polygon</a:t>
            </a:r>
            <a:endParaRPr lang="zh-TW" altLang="en-US" sz="290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14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199"/>
                <a:ext cx="8229600" cy="507058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Compute a set </a:t>
                </a:r>
                <a:r>
                  <a:rPr lang="en-US" altLang="zh-TW" dirty="0"/>
                  <a:t>of </a:t>
                </a:r>
                <a:r>
                  <a:rPr lang="en-US" altLang="zh-TW" dirty="0" smtClean="0"/>
                  <a:t>k (k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 smtClean="0"/>
                  <a:t>n) vertices such </a:t>
                </a:r>
                <a:r>
                  <a:rPr lang="en-US" altLang="zh-TW" dirty="0"/>
                  <a:t>that </a:t>
                </a:r>
                <a:r>
                  <a:rPr lang="en-US" altLang="zh-TW" dirty="0" smtClean="0"/>
                  <a:t>the max-min </a:t>
                </a:r>
                <a:r>
                  <a:rPr lang="en-US" altLang="zh-TW" dirty="0"/>
                  <a:t>length triangulation on these vertices is </a:t>
                </a:r>
                <a:r>
                  <a:rPr lang="en-US" altLang="zh-TW" dirty="0" smtClean="0"/>
                  <a:t>minimized over </a:t>
                </a:r>
                <a:r>
                  <a:rPr lang="en-US" altLang="zh-TW" dirty="0"/>
                  <a:t>all possible k-set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For </a:t>
                </a:r>
                <a:r>
                  <a:rPr lang="en-US" altLang="zh-TW" dirty="0" smtClean="0"/>
                  <a:t>n=8, k=6</a:t>
                </a:r>
                <a:endParaRPr lang="en-US" altLang="zh-TW" dirty="0"/>
              </a:p>
              <a:p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𝑛𝑙𝑜𝑔𝑛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199"/>
                <a:ext cx="8229600" cy="5070581"/>
              </a:xfrm>
              <a:blipFill rotWithShape="0">
                <a:blip r:embed="rId2"/>
                <a:stretch>
                  <a:fillRect l="-667" t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接點 45"/>
          <p:cNvCxnSpPr>
            <a:stCxn id="60" idx="2"/>
            <a:endCxn id="55" idx="6"/>
          </p:cNvCxnSpPr>
          <p:nvPr/>
        </p:nvCxnSpPr>
        <p:spPr>
          <a:xfrm flipV="1">
            <a:off x="4840023" y="3598597"/>
            <a:ext cx="1290064" cy="1046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endCxn id="57" idx="6"/>
          </p:cNvCxnSpPr>
          <p:nvPr/>
        </p:nvCxnSpPr>
        <p:spPr>
          <a:xfrm>
            <a:off x="6174303" y="3595296"/>
            <a:ext cx="1622312" cy="4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61" idx="2"/>
          </p:cNvCxnSpPr>
          <p:nvPr/>
        </p:nvCxnSpPr>
        <p:spPr>
          <a:xfrm>
            <a:off x="4742917" y="4314501"/>
            <a:ext cx="1431386" cy="285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56" idx="2"/>
            <a:endCxn id="58" idx="6"/>
          </p:cNvCxnSpPr>
          <p:nvPr/>
        </p:nvCxnSpPr>
        <p:spPr>
          <a:xfrm flipV="1">
            <a:off x="6218519" y="4329240"/>
            <a:ext cx="1592676" cy="217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54" idx="2"/>
            <a:endCxn id="60" idx="6"/>
          </p:cNvCxnSpPr>
          <p:nvPr/>
        </p:nvCxnSpPr>
        <p:spPr>
          <a:xfrm flipV="1">
            <a:off x="3604213" y="3703249"/>
            <a:ext cx="1147378" cy="3380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54" idx="2"/>
            <a:endCxn id="61" idx="6"/>
          </p:cNvCxnSpPr>
          <p:nvPr/>
        </p:nvCxnSpPr>
        <p:spPr>
          <a:xfrm>
            <a:off x="3604213" y="4041326"/>
            <a:ext cx="1050272" cy="273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57" idx="2"/>
          </p:cNvCxnSpPr>
          <p:nvPr/>
        </p:nvCxnSpPr>
        <p:spPr>
          <a:xfrm>
            <a:off x="7885047" y="3595727"/>
            <a:ext cx="1241584" cy="4683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58" idx="2"/>
            <a:endCxn id="59" idx="5"/>
          </p:cNvCxnSpPr>
          <p:nvPr/>
        </p:nvCxnSpPr>
        <p:spPr>
          <a:xfrm flipV="1">
            <a:off x="7899627" y="4082648"/>
            <a:ext cx="1151655" cy="2465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 flipH="1">
            <a:off x="3515781" y="3997110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 flipH="1">
            <a:off x="6130087" y="3554381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橢圓 55"/>
          <p:cNvSpPr/>
          <p:nvPr/>
        </p:nvSpPr>
        <p:spPr>
          <a:xfrm flipH="1">
            <a:off x="6130087" y="4306731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/>
          <p:cNvSpPr/>
          <p:nvPr/>
        </p:nvSpPr>
        <p:spPr>
          <a:xfrm flipH="1">
            <a:off x="7796615" y="3551511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 flipH="1">
            <a:off x="7811195" y="4285024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 flipH="1">
            <a:off x="9038331" y="4007167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/>
          <p:cNvSpPr/>
          <p:nvPr/>
        </p:nvSpPr>
        <p:spPr>
          <a:xfrm flipH="1">
            <a:off x="4751591" y="3659033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 flipH="1">
            <a:off x="4654485" y="4270285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接點 62"/>
          <p:cNvCxnSpPr>
            <a:stCxn id="55" idx="4"/>
            <a:endCxn id="56" idx="0"/>
          </p:cNvCxnSpPr>
          <p:nvPr/>
        </p:nvCxnSpPr>
        <p:spPr>
          <a:xfrm>
            <a:off x="6174303" y="3642813"/>
            <a:ext cx="0" cy="6639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>
            <a:stCxn id="60" idx="4"/>
            <a:endCxn id="61" idx="0"/>
          </p:cNvCxnSpPr>
          <p:nvPr/>
        </p:nvCxnSpPr>
        <p:spPr>
          <a:xfrm flipH="1">
            <a:off x="4698701" y="3747465"/>
            <a:ext cx="97106" cy="5228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>
            <a:stCxn id="57" idx="4"/>
            <a:endCxn id="58" idx="0"/>
          </p:cNvCxnSpPr>
          <p:nvPr/>
        </p:nvCxnSpPr>
        <p:spPr>
          <a:xfrm>
            <a:off x="7840831" y="3639943"/>
            <a:ext cx="14580" cy="6450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/>
          <p:cNvCxnSpPr>
            <a:stCxn id="161" idx="2"/>
            <a:endCxn id="156" idx="6"/>
          </p:cNvCxnSpPr>
          <p:nvPr/>
        </p:nvCxnSpPr>
        <p:spPr>
          <a:xfrm flipV="1">
            <a:off x="4840023" y="2631651"/>
            <a:ext cx="1290064" cy="1046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接點 147"/>
          <p:cNvCxnSpPr>
            <a:endCxn id="158" idx="6"/>
          </p:cNvCxnSpPr>
          <p:nvPr/>
        </p:nvCxnSpPr>
        <p:spPr>
          <a:xfrm>
            <a:off x="6174303" y="2628350"/>
            <a:ext cx="1622312" cy="4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/>
          <p:cNvCxnSpPr>
            <a:stCxn id="162" idx="2"/>
          </p:cNvCxnSpPr>
          <p:nvPr/>
        </p:nvCxnSpPr>
        <p:spPr>
          <a:xfrm>
            <a:off x="4742917" y="3347555"/>
            <a:ext cx="1431386" cy="285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接點 149"/>
          <p:cNvCxnSpPr>
            <a:stCxn id="157" idx="2"/>
            <a:endCxn id="159" idx="6"/>
          </p:cNvCxnSpPr>
          <p:nvPr/>
        </p:nvCxnSpPr>
        <p:spPr>
          <a:xfrm flipV="1">
            <a:off x="6218519" y="3362294"/>
            <a:ext cx="1592676" cy="217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/>
          <p:cNvCxnSpPr>
            <a:stCxn id="155" idx="2"/>
            <a:endCxn id="161" idx="6"/>
          </p:cNvCxnSpPr>
          <p:nvPr/>
        </p:nvCxnSpPr>
        <p:spPr>
          <a:xfrm flipV="1">
            <a:off x="3604213" y="2736303"/>
            <a:ext cx="1147378" cy="3380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接點 151"/>
          <p:cNvCxnSpPr>
            <a:stCxn id="155" idx="2"/>
            <a:endCxn id="162" idx="6"/>
          </p:cNvCxnSpPr>
          <p:nvPr/>
        </p:nvCxnSpPr>
        <p:spPr>
          <a:xfrm>
            <a:off x="3604213" y="3074380"/>
            <a:ext cx="1050272" cy="273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接點 152"/>
          <p:cNvCxnSpPr>
            <a:stCxn id="158" idx="2"/>
          </p:cNvCxnSpPr>
          <p:nvPr/>
        </p:nvCxnSpPr>
        <p:spPr>
          <a:xfrm>
            <a:off x="7885047" y="2628781"/>
            <a:ext cx="1241584" cy="4683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接點 153"/>
          <p:cNvCxnSpPr>
            <a:stCxn id="159" idx="2"/>
            <a:endCxn id="160" idx="5"/>
          </p:cNvCxnSpPr>
          <p:nvPr/>
        </p:nvCxnSpPr>
        <p:spPr>
          <a:xfrm flipV="1">
            <a:off x="7899627" y="3115702"/>
            <a:ext cx="1151655" cy="2465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橢圓 154"/>
          <p:cNvSpPr/>
          <p:nvPr/>
        </p:nvSpPr>
        <p:spPr>
          <a:xfrm flipH="1">
            <a:off x="3515781" y="3030164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6" name="橢圓 155"/>
          <p:cNvSpPr/>
          <p:nvPr/>
        </p:nvSpPr>
        <p:spPr>
          <a:xfrm flipH="1">
            <a:off x="6130087" y="2587435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7" name="橢圓 156"/>
          <p:cNvSpPr/>
          <p:nvPr/>
        </p:nvSpPr>
        <p:spPr>
          <a:xfrm flipH="1">
            <a:off x="6130087" y="3339785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" name="橢圓 157"/>
          <p:cNvSpPr/>
          <p:nvPr/>
        </p:nvSpPr>
        <p:spPr>
          <a:xfrm flipH="1">
            <a:off x="7796615" y="2584565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橢圓 158"/>
          <p:cNvSpPr/>
          <p:nvPr/>
        </p:nvSpPr>
        <p:spPr>
          <a:xfrm flipH="1">
            <a:off x="7811195" y="3318078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0" name="橢圓 159"/>
          <p:cNvSpPr/>
          <p:nvPr/>
        </p:nvSpPr>
        <p:spPr>
          <a:xfrm flipH="1">
            <a:off x="9038331" y="3040221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1" name="橢圓 160"/>
          <p:cNvSpPr/>
          <p:nvPr/>
        </p:nvSpPr>
        <p:spPr>
          <a:xfrm flipH="1">
            <a:off x="4751591" y="2692087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2" name="橢圓 161"/>
          <p:cNvSpPr/>
          <p:nvPr/>
        </p:nvSpPr>
        <p:spPr>
          <a:xfrm flipH="1">
            <a:off x="4654485" y="3303339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6" name="直線接點 165"/>
          <p:cNvCxnSpPr>
            <a:stCxn id="180" idx="2"/>
            <a:endCxn id="175" idx="6"/>
          </p:cNvCxnSpPr>
          <p:nvPr/>
        </p:nvCxnSpPr>
        <p:spPr>
          <a:xfrm flipV="1">
            <a:off x="4840023" y="4569495"/>
            <a:ext cx="1290064" cy="1046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接點 166"/>
          <p:cNvCxnSpPr>
            <a:endCxn id="177" idx="6"/>
          </p:cNvCxnSpPr>
          <p:nvPr/>
        </p:nvCxnSpPr>
        <p:spPr>
          <a:xfrm>
            <a:off x="6174303" y="4566194"/>
            <a:ext cx="1622312" cy="4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接點 167"/>
          <p:cNvCxnSpPr>
            <a:stCxn id="181" idx="2"/>
          </p:cNvCxnSpPr>
          <p:nvPr/>
        </p:nvCxnSpPr>
        <p:spPr>
          <a:xfrm>
            <a:off x="4742917" y="5285399"/>
            <a:ext cx="1431386" cy="285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接點 168"/>
          <p:cNvCxnSpPr>
            <a:stCxn id="176" idx="2"/>
            <a:endCxn id="178" idx="6"/>
          </p:cNvCxnSpPr>
          <p:nvPr/>
        </p:nvCxnSpPr>
        <p:spPr>
          <a:xfrm flipV="1">
            <a:off x="6218519" y="5300138"/>
            <a:ext cx="1592676" cy="217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>
            <a:stCxn id="174" idx="2"/>
            <a:endCxn id="180" idx="6"/>
          </p:cNvCxnSpPr>
          <p:nvPr/>
        </p:nvCxnSpPr>
        <p:spPr>
          <a:xfrm flipV="1">
            <a:off x="3604213" y="4674147"/>
            <a:ext cx="1147378" cy="3380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接點 170"/>
          <p:cNvCxnSpPr>
            <a:stCxn id="174" idx="2"/>
            <a:endCxn id="181" idx="6"/>
          </p:cNvCxnSpPr>
          <p:nvPr/>
        </p:nvCxnSpPr>
        <p:spPr>
          <a:xfrm>
            <a:off x="3604213" y="5012224"/>
            <a:ext cx="1050272" cy="273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接點 171"/>
          <p:cNvCxnSpPr>
            <a:stCxn id="177" idx="2"/>
          </p:cNvCxnSpPr>
          <p:nvPr/>
        </p:nvCxnSpPr>
        <p:spPr>
          <a:xfrm>
            <a:off x="7885047" y="4566625"/>
            <a:ext cx="1241584" cy="4683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接點 172"/>
          <p:cNvCxnSpPr>
            <a:stCxn id="178" idx="2"/>
            <a:endCxn id="179" idx="5"/>
          </p:cNvCxnSpPr>
          <p:nvPr/>
        </p:nvCxnSpPr>
        <p:spPr>
          <a:xfrm flipV="1">
            <a:off x="7899627" y="5053546"/>
            <a:ext cx="1151655" cy="2465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橢圓 173"/>
          <p:cNvSpPr/>
          <p:nvPr/>
        </p:nvSpPr>
        <p:spPr>
          <a:xfrm flipH="1">
            <a:off x="3515781" y="4968008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5" name="橢圓 174"/>
          <p:cNvSpPr/>
          <p:nvPr/>
        </p:nvSpPr>
        <p:spPr>
          <a:xfrm flipH="1">
            <a:off x="6130087" y="4525279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6" name="橢圓 175"/>
          <p:cNvSpPr/>
          <p:nvPr/>
        </p:nvSpPr>
        <p:spPr>
          <a:xfrm flipH="1">
            <a:off x="6130087" y="5277629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7" name="橢圓 176"/>
          <p:cNvSpPr/>
          <p:nvPr/>
        </p:nvSpPr>
        <p:spPr>
          <a:xfrm flipH="1">
            <a:off x="7796615" y="4522409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8" name="橢圓 177"/>
          <p:cNvSpPr/>
          <p:nvPr/>
        </p:nvSpPr>
        <p:spPr>
          <a:xfrm flipH="1">
            <a:off x="7811195" y="5255922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9" name="橢圓 178"/>
          <p:cNvSpPr/>
          <p:nvPr/>
        </p:nvSpPr>
        <p:spPr>
          <a:xfrm flipH="1">
            <a:off x="9038331" y="4978065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0" name="橢圓 179"/>
          <p:cNvSpPr/>
          <p:nvPr/>
        </p:nvSpPr>
        <p:spPr>
          <a:xfrm flipH="1">
            <a:off x="4751591" y="4629931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1" name="橢圓 180"/>
          <p:cNvSpPr/>
          <p:nvPr/>
        </p:nvSpPr>
        <p:spPr>
          <a:xfrm flipH="1">
            <a:off x="4654485" y="5241183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2" name="直線接點 181"/>
          <p:cNvCxnSpPr>
            <a:stCxn id="175" idx="4"/>
            <a:endCxn id="176" idx="0"/>
          </p:cNvCxnSpPr>
          <p:nvPr/>
        </p:nvCxnSpPr>
        <p:spPr>
          <a:xfrm>
            <a:off x="6174303" y="4613711"/>
            <a:ext cx="0" cy="6639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接點 182"/>
          <p:cNvCxnSpPr>
            <a:stCxn id="180" idx="4"/>
            <a:endCxn id="181" idx="0"/>
          </p:cNvCxnSpPr>
          <p:nvPr/>
        </p:nvCxnSpPr>
        <p:spPr>
          <a:xfrm flipH="1">
            <a:off x="4698701" y="4718363"/>
            <a:ext cx="97106" cy="5228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接點 183"/>
          <p:cNvCxnSpPr>
            <a:stCxn id="177" idx="4"/>
            <a:endCxn id="178" idx="0"/>
          </p:cNvCxnSpPr>
          <p:nvPr/>
        </p:nvCxnSpPr>
        <p:spPr>
          <a:xfrm>
            <a:off x="7840831" y="4610841"/>
            <a:ext cx="14580" cy="6450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乘號 185"/>
          <p:cNvSpPr/>
          <p:nvPr/>
        </p:nvSpPr>
        <p:spPr>
          <a:xfrm>
            <a:off x="5998281" y="4765614"/>
            <a:ext cx="375622" cy="375622"/>
          </a:xfrm>
          <a:prstGeom prst="mathMultiply">
            <a:avLst>
              <a:gd name="adj1" fmla="val 769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7" name="直線接點 186"/>
          <p:cNvCxnSpPr>
            <a:stCxn id="201" idx="2"/>
            <a:endCxn id="196" idx="6"/>
          </p:cNvCxnSpPr>
          <p:nvPr/>
        </p:nvCxnSpPr>
        <p:spPr>
          <a:xfrm flipV="1">
            <a:off x="4840023" y="5537546"/>
            <a:ext cx="1290064" cy="1046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接點 187"/>
          <p:cNvCxnSpPr>
            <a:endCxn id="198" idx="6"/>
          </p:cNvCxnSpPr>
          <p:nvPr/>
        </p:nvCxnSpPr>
        <p:spPr>
          <a:xfrm>
            <a:off x="6174303" y="5534245"/>
            <a:ext cx="1622312" cy="4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接點 188"/>
          <p:cNvCxnSpPr>
            <a:stCxn id="202" idx="2"/>
          </p:cNvCxnSpPr>
          <p:nvPr/>
        </p:nvCxnSpPr>
        <p:spPr>
          <a:xfrm>
            <a:off x="4742917" y="6253450"/>
            <a:ext cx="1431386" cy="285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接點 189"/>
          <p:cNvCxnSpPr>
            <a:stCxn id="197" idx="2"/>
            <a:endCxn id="199" idx="6"/>
          </p:cNvCxnSpPr>
          <p:nvPr/>
        </p:nvCxnSpPr>
        <p:spPr>
          <a:xfrm flipV="1">
            <a:off x="6218519" y="6268189"/>
            <a:ext cx="1592676" cy="217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接點 192"/>
          <p:cNvCxnSpPr>
            <a:stCxn id="198" idx="4"/>
            <a:endCxn id="199" idx="0"/>
          </p:cNvCxnSpPr>
          <p:nvPr/>
        </p:nvCxnSpPr>
        <p:spPr>
          <a:xfrm>
            <a:off x="7840831" y="5578892"/>
            <a:ext cx="14580" cy="6450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橢圓 195"/>
          <p:cNvSpPr/>
          <p:nvPr/>
        </p:nvSpPr>
        <p:spPr>
          <a:xfrm flipH="1">
            <a:off x="6130087" y="5493330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7" name="橢圓 196"/>
          <p:cNvSpPr/>
          <p:nvPr/>
        </p:nvSpPr>
        <p:spPr>
          <a:xfrm flipH="1">
            <a:off x="6130087" y="6245680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橢圓 197"/>
          <p:cNvSpPr/>
          <p:nvPr/>
        </p:nvSpPr>
        <p:spPr>
          <a:xfrm flipH="1">
            <a:off x="7796615" y="5490460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/>
          <p:cNvSpPr/>
          <p:nvPr/>
        </p:nvSpPr>
        <p:spPr>
          <a:xfrm flipH="1">
            <a:off x="7811195" y="6223973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1" name="橢圓 200"/>
          <p:cNvSpPr/>
          <p:nvPr/>
        </p:nvSpPr>
        <p:spPr>
          <a:xfrm flipH="1">
            <a:off x="4751591" y="5597982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2" name="橢圓 201"/>
          <p:cNvSpPr/>
          <p:nvPr/>
        </p:nvSpPr>
        <p:spPr>
          <a:xfrm flipH="1">
            <a:off x="4654485" y="6209234"/>
            <a:ext cx="88432" cy="884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4" name="直線接點 203"/>
          <p:cNvCxnSpPr>
            <a:stCxn id="201" idx="4"/>
            <a:endCxn id="202" idx="0"/>
          </p:cNvCxnSpPr>
          <p:nvPr/>
        </p:nvCxnSpPr>
        <p:spPr>
          <a:xfrm flipH="1">
            <a:off x="4698701" y="5686414"/>
            <a:ext cx="97106" cy="5228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線接點 209"/>
          <p:cNvCxnSpPr>
            <a:stCxn id="201" idx="3"/>
            <a:endCxn id="198" idx="5"/>
          </p:cNvCxnSpPr>
          <p:nvPr/>
        </p:nvCxnSpPr>
        <p:spPr>
          <a:xfrm flipV="1">
            <a:off x="4827072" y="5565941"/>
            <a:ext cx="2982494" cy="107522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直線接點 213"/>
          <p:cNvCxnSpPr>
            <a:stCxn id="198" idx="5"/>
            <a:endCxn id="197" idx="0"/>
          </p:cNvCxnSpPr>
          <p:nvPr/>
        </p:nvCxnSpPr>
        <p:spPr>
          <a:xfrm flipH="1">
            <a:off x="6174303" y="5565941"/>
            <a:ext cx="1635263" cy="679739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直線接點 215"/>
          <p:cNvCxnSpPr>
            <a:endCxn id="201" idx="3"/>
          </p:cNvCxnSpPr>
          <p:nvPr/>
        </p:nvCxnSpPr>
        <p:spPr>
          <a:xfrm flipH="1" flipV="1">
            <a:off x="4827072" y="5673463"/>
            <a:ext cx="1347231" cy="557362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85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MMTG is NP-complete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Max-Min length Triangulation for undirected </a:t>
            </a:r>
            <a:r>
              <a:rPr lang="en-US" altLang="zh-TW" dirty="0" smtClean="0"/>
              <a:t>planar Graph </a:t>
            </a:r>
            <a:r>
              <a:rPr lang="en-US" altLang="zh-TW" dirty="0"/>
              <a:t>problem (MMTG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A complete graph G </a:t>
            </a:r>
            <a:r>
              <a:rPr lang="en-US" altLang="zh-TW" dirty="0"/>
              <a:t>= (P,E</a:t>
            </a:r>
            <a:r>
              <a:rPr lang="en-US" altLang="zh-TW" dirty="0" smtClean="0"/>
              <a:t>)</a:t>
            </a:r>
            <a:r>
              <a:rPr lang="en-US" altLang="zh-TW" dirty="0"/>
              <a:t> </a:t>
            </a:r>
            <a:r>
              <a:rPr lang="en-US" altLang="zh-TW" dirty="0" smtClean="0"/>
              <a:t>, w(e)</a:t>
            </a:r>
            <a:r>
              <a:rPr lang="en-US" altLang="zh-TW" dirty="0"/>
              <a:t> = </a:t>
            </a:r>
            <a:r>
              <a:rPr lang="en-US" altLang="zh-TW" dirty="0" smtClean="0"/>
              <a:t>length</a:t>
            </a:r>
          </a:p>
          <a:p>
            <a:pPr lvl="1"/>
            <a:r>
              <a:rPr lang="en-US" altLang="zh-TW" dirty="0" smtClean="0"/>
              <a:t>a positive number k</a:t>
            </a:r>
            <a:r>
              <a:rPr lang="en-US" altLang="zh-TW" dirty="0"/>
              <a:t>, decide whether there is a </a:t>
            </a:r>
            <a:r>
              <a:rPr lang="en-US" altLang="zh-TW" dirty="0" smtClean="0"/>
              <a:t>triangulation T </a:t>
            </a:r>
            <a:r>
              <a:rPr lang="en-US" altLang="zh-TW" dirty="0"/>
              <a:t>(P) in G such </a:t>
            </a:r>
            <a:r>
              <a:rPr lang="en-US" altLang="zh-TW" dirty="0" smtClean="0"/>
              <a:t>that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Let G</a:t>
            </a:r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 </a:t>
            </a:r>
            <a:r>
              <a:rPr lang="en-US" altLang="zh-TW" dirty="0" smtClean="0"/>
              <a:t>= </a:t>
            </a:r>
            <a:r>
              <a:rPr lang="en-US" altLang="zh-TW" dirty="0"/>
              <a:t>(</a:t>
            </a:r>
            <a:r>
              <a:rPr lang="en-US" altLang="zh-TW" dirty="0" smtClean="0"/>
              <a:t>P,E</a:t>
            </a:r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</a:t>
            </a:r>
            <a:r>
              <a:rPr lang="en-US" altLang="zh-TW" dirty="0" smtClean="0"/>
              <a:t>) </a:t>
            </a:r>
            <a:r>
              <a:rPr lang="en-US" altLang="zh-TW" dirty="0"/>
              <a:t>be the complete graph of </a:t>
            </a:r>
            <a:r>
              <a:rPr lang="en-US" altLang="zh-TW" dirty="0" smtClean="0"/>
              <a:t>P.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3307676"/>
            <a:ext cx="3112443" cy="44886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8" y="4725144"/>
            <a:ext cx="2566619" cy="71183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623" y="5043325"/>
            <a:ext cx="1244377" cy="1244377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91" y="5043325"/>
            <a:ext cx="1276632" cy="126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1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Conclusions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2013/10/8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The work may help us better understand the </a:t>
            </a:r>
            <a:r>
              <a:rPr lang="en-US" altLang="zh-TW" sz="2400" dirty="0" smtClean="0"/>
              <a:t>nature of </a:t>
            </a:r>
            <a:r>
              <a:rPr lang="en-US" altLang="zh-TW" sz="2400" dirty="0"/>
              <a:t>optimal triangulations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 smtClean="0"/>
              <a:t>Propose an </a:t>
            </a:r>
            <a:r>
              <a:rPr lang="en-US" altLang="zh-TW" sz="2400" dirty="0"/>
              <a:t>optimal linear time </a:t>
            </a:r>
            <a:r>
              <a:rPr lang="en-US" altLang="zh-TW" sz="2400" dirty="0" smtClean="0"/>
              <a:t>algorithm for </a:t>
            </a:r>
            <a:r>
              <a:rPr lang="en-US" altLang="zh-TW" sz="2400" dirty="0"/>
              <a:t>computing the max-min length </a:t>
            </a:r>
            <a:r>
              <a:rPr lang="en-US" altLang="zh-TW" sz="2400" dirty="0" smtClean="0"/>
              <a:t>triangulation of </a:t>
            </a:r>
            <a:r>
              <a:rPr lang="en-US" altLang="zh-TW" sz="2400" dirty="0"/>
              <a:t>a convex polygon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 smtClean="0"/>
              <a:t>The </a:t>
            </a:r>
            <a:r>
              <a:rPr lang="en-US" altLang="zh-TW" sz="2400" dirty="0"/>
              <a:t>max-min </a:t>
            </a:r>
            <a:r>
              <a:rPr lang="en-US" altLang="zh-TW" sz="2400" dirty="0" smtClean="0"/>
              <a:t>length k-set </a:t>
            </a:r>
            <a:r>
              <a:rPr lang="en-US" altLang="zh-TW" sz="2400" dirty="0"/>
              <a:t>triangulation of a convex polygon can be </a:t>
            </a:r>
            <a:r>
              <a:rPr lang="en-US" altLang="zh-TW" sz="2400" dirty="0" smtClean="0"/>
              <a:t>computed </a:t>
            </a:r>
            <a:r>
              <a:rPr lang="pt-BR" altLang="zh-TW" sz="2400" dirty="0" smtClean="0"/>
              <a:t>in </a:t>
            </a:r>
            <a:r>
              <a:rPr lang="pt-BR" altLang="zh-TW" sz="2400" dirty="0"/>
              <a:t>O(n log n) </a:t>
            </a:r>
            <a:r>
              <a:rPr lang="pt-BR" altLang="zh-TW" sz="2400" dirty="0" smtClean="0"/>
              <a:t>time.</a:t>
            </a:r>
          </a:p>
          <a:p>
            <a:r>
              <a:rPr lang="en-US" altLang="zh-TW" sz="2400" dirty="0" smtClean="0"/>
              <a:t>The </a:t>
            </a:r>
            <a:r>
              <a:rPr lang="en-US" altLang="zh-TW" sz="2400" dirty="0"/>
              <a:t>graph version of the max-min length </a:t>
            </a:r>
            <a:r>
              <a:rPr lang="en-US" altLang="zh-TW" sz="2400" dirty="0" smtClean="0"/>
              <a:t>triangulation problem </a:t>
            </a:r>
            <a:r>
              <a:rPr lang="en-US" altLang="zh-TW" sz="2400" dirty="0"/>
              <a:t>is </a:t>
            </a:r>
            <a:r>
              <a:rPr lang="en-US" altLang="zh-TW" sz="2400" dirty="0" smtClean="0"/>
              <a:t>NP-complete.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6631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2">
      <a:majorFont>
        <a:latin typeface="Calibri"/>
        <a:ea typeface="Calibri"/>
        <a:cs typeface=""/>
      </a:majorFont>
      <a:minorFont>
        <a:latin typeface="Calibri"/>
        <a:ea typeface="Calibri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7513</TotalTime>
  <Words>350</Words>
  <Application>Microsoft Office PowerPoint</Application>
  <PresentationFormat>如螢幕大小 (4:3)</PresentationFormat>
  <Paragraphs>97</Paragraphs>
  <Slides>16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Arial Unicode MS</vt:lpstr>
      <vt:lpstr>微軟正黑體</vt:lpstr>
      <vt:lpstr>新細明體</vt:lpstr>
      <vt:lpstr>Arial</vt:lpstr>
      <vt:lpstr>Calibri</vt:lpstr>
      <vt:lpstr>Cambria Math</vt:lpstr>
      <vt:lpstr>Wingdings</vt:lpstr>
      <vt:lpstr>Wingdings 3</vt:lpstr>
      <vt:lpstr>原創</vt:lpstr>
      <vt:lpstr>A linear time algorithm  for max-min length triangulation  of a convex polygon Information Processing Letters  vol. 101 pp.203–208 (2007) </vt:lpstr>
      <vt:lpstr>Abstract</vt:lpstr>
      <vt:lpstr>Abstract</vt:lpstr>
      <vt:lpstr>Triangulations</vt:lpstr>
      <vt:lpstr>The minimum weight triangulation</vt:lpstr>
      <vt:lpstr>The maximum weight triangulation</vt:lpstr>
      <vt:lpstr>The min-max length triangulation</vt:lpstr>
      <vt:lpstr>The max-min length triangulation</vt:lpstr>
      <vt:lpstr>The max-min length triangulation  for a convex polygon</vt:lpstr>
      <vt:lpstr>The max-min length triangulation  for a convex polygon</vt:lpstr>
      <vt:lpstr>The max-min length triangulation  for a convex polygon</vt:lpstr>
      <vt:lpstr>The max-min length triangulation  for a convex polygon</vt:lpstr>
      <vt:lpstr>The max-min length triangulation  for a convex polygon</vt:lpstr>
      <vt:lpstr>The max-min length k-set triangulation  for a convex polygon</vt:lpstr>
      <vt:lpstr>MMTG is NP-complete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Chuan Yuan</cp:lastModifiedBy>
  <cp:revision>333</cp:revision>
  <cp:lastPrinted>2012-09-10T21:31:19Z</cp:lastPrinted>
  <dcterms:created xsi:type="dcterms:W3CDTF">2012-09-10T08:29:10Z</dcterms:created>
  <dcterms:modified xsi:type="dcterms:W3CDTF">2013-10-08T10:31:38Z</dcterms:modified>
</cp:coreProperties>
</file>