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92" r:id="rId4"/>
    <p:sldId id="260" r:id="rId5"/>
    <p:sldId id="293" r:id="rId6"/>
    <p:sldId id="295" r:id="rId7"/>
    <p:sldId id="261" r:id="rId8"/>
    <p:sldId id="294" r:id="rId9"/>
    <p:sldId id="296" r:id="rId10"/>
    <p:sldId id="297" r:id="rId11"/>
    <p:sldId id="263" r:id="rId12"/>
    <p:sldId id="298" r:id="rId13"/>
    <p:sldId id="299"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90" y="-2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AB5FB0-B2ED-4E2F-A013-0D3834BF9D53}" type="datetimeFigureOut">
              <a:rPr lang="zh-TW" altLang="en-US" smtClean="0"/>
              <a:t>2013/4/15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2BEB50-B6E3-41E8-9C6B-A4F8CEE232D3}" type="slidenum">
              <a:rPr lang="zh-TW" altLang="en-US" smtClean="0"/>
              <a:t>‹#›</a:t>
            </a:fld>
            <a:endParaRPr lang="zh-TW" altLang="en-US"/>
          </a:p>
        </p:txBody>
      </p:sp>
    </p:spTree>
    <p:extLst>
      <p:ext uri="{BB962C8B-B14F-4D97-AF65-F5344CB8AC3E}">
        <p14:creationId xmlns:p14="http://schemas.microsoft.com/office/powerpoint/2010/main" val="3390206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598B1FC-FDBC-4A60-9939-D6110C3C3CB7}" type="datetime1">
              <a:rPr lang="zh-TW" altLang="en-US" smtClean="0"/>
              <a:t>2013/4/15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CF35AA8-C17B-49C4-9F55-79A4DAFC847E}" type="datetime1">
              <a:rPr lang="zh-TW" altLang="en-US" smtClean="0"/>
              <a:t>2013/4/15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A96A96A-FC63-4C61-823C-3BD62C2E28B8}" type="datetime1">
              <a:rPr lang="zh-TW" altLang="en-US" smtClean="0"/>
              <a:t>2013/4/15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8B2E92E-2B9A-487F-B01B-5FE56D55C6C1}" type="datetime1">
              <a:rPr lang="zh-TW" altLang="en-US" smtClean="0"/>
              <a:t>2013/4/15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156AAC1-9B63-4666-BB23-344CDF124E62}" type="datetime1">
              <a:rPr lang="zh-TW" altLang="en-US" smtClean="0"/>
              <a:t>2013/4/15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5E4E3BB-9CDE-4D13-BBDA-DD98F9CE892D}" type="datetime1">
              <a:rPr lang="zh-TW" altLang="en-US" smtClean="0"/>
              <a:t>2013/4/15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F152AD6-3F5F-4500-A699-DD6F81763D72}" type="datetime1">
              <a:rPr lang="zh-TW" altLang="en-US" smtClean="0"/>
              <a:t>2013/4/15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B846736-A346-4BC7-ADE5-4A3C96BA101E}" type="datetime1">
              <a:rPr lang="zh-TW" altLang="en-US" smtClean="0"/>
              <a:t>2013/4/15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DA39B9C-E24F-4392-968F-01188351DEFA}" type="datetime1">
              <a:rPr lang="zh-TW" altLang="en-US" smtClean="0"/>
              <a:t>2013/4/15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9F35204-8C53-4A42-8B7A-D264FC744199}" type="datetime1">
              <a:rPr lang="zh-TW" altLang="en-US" smtClean="0"/>
              <a:t>2013/4/15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2242D6C-28E0-4D29-AD77-CD7D08B3F689}" type="datetime1">
              <a:rPr lang="zh-TW" altLang="en-US" smtClean="0"/>
              <a:t>2013/4/15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B5500-5665-4D2C-81B6-CB06C0A843FE}" type="datetime1">
              <a:rPr lang="zh-TW" altLang="en-US" smtClean="0"/>
              <a:t>2013/4/15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700808"/>
            <a:ext cx="7772400" cy="1470025"/>
          </a:xfrm>
        </p:spPr>
        <p:txBody>
          <a:bodyPr>
            <a:normAutofit fontScale="90000"/>
          </a:bodyPr>
          <a:lstStyle/>
          <a:p>
            <a:r>
              <a:rPr lang="en-US" altLang="zh-TW" dirty="0"/>
              <a:t>Cluster-based </a:t>
            </a:r>
            <a:r>
              <a:rPr lang="en-US" altLang="zh-TW" dirty="0" smtClean="0"/>
              <a:t>Genetic Segmentation </a:t>
            </a:r>
            <a:r>
              <a:rPr lang="en-US" altLang="zh-TW" dirty="0"/>
              <a:t>of </a:t>
            </a:r>
            <a:r>
              <a:rPr lang="en-US" altLang="zh-TW" dirty="0" smtClean="0"/>
              <a:t>Time Series </a:t>
            </a:r>
            <a:r>
              <a:rPr lang="en-US" altLang="zh-TW" dirty="0"/>
              <a:t>with DWT</a:t>
            </a:r>
            <a:endParaRPr lang="zh-TW" altLang="en-US" dirty="0"/>
          </a:p>
        </p:txBody>
      </p:sp>
      <p:sp>
        <p:nvSpPr>
          <p:cNvPr id="3" name="副標題 2"/>
          <p:cNvSpPr>
            <a:spLocks noGrp="1"/>
          </p:cNvSpPr>
          <p:nvPr>
            <p:ph type="subTitle" idx="1"/>
          </p:nvPr>
        </p:nvSpPr>
        <p:spPr>
          <a:xfrm>
            <a:off x="1403648" y="3501008"/>
            <a:ext cx="6400800" cy="1752600"/>
          </a:xfrm>
        </p:spPr>
        <p:txBody>
          <a:bodyPr>
            <a:normAutofit/>
          </a:bodyPr>
          <a:lstStyle/>
          <a:p>
            <a:r>
              <a:rPr lang="en-US" altLang="zh-TW" sz="1800" dirty="0"/>
              <a:t>Pattern Recognition Letters 30 (2009) </a:t>
            </a:r>
            <a:r>
              <a:rPr lang="en-US" altLang="zh-TW" sz="1800" dirty="0" smtClean="0"/>
              <a:t>1190–1197</a:t>
            </a:r>
          </a:p>
          <a:p>
            <a:r>
              <a:rPr lang="en-US" altLang="zh-TW" sz="1800" dirty="0"/>
              <a:t>Vincent S. </a:t>
            </a:r>
            <a:r>
              <a:rPr lang="en-US" altLang="zh-TW" sz="1800" dirty="0" smtClean="0"/>
              <a:t>Tseng, </a:t>
            </a:r>
            <a:r>
              <a:rPr lang="en-US" altLang="zh-TW" sz="1800" dirty="0"/>
              <a:t>Chun-</a:t>
            </a:r>
            <a:r>
              <a:rPr lang="en-US" altLang="zh-TW" sz="1800" dirty="0" err="1"/>
              <a:t>Hao</a:t>
            </a:r>
            <a:r>
              <a:rPr lang="en-US" altLang="zh-TW" sz="1800" dirty="0"/>
              <a:t> </a:t>
            </a:r>
            <a:r>
              <a:rPr lang="en-US" altLang="zh-TW" sz="1800" dirty="0" smtClean="0"/>
              <a:t>Chen, </a:t>
            </a:r>
            <a:r>
              <a:rPr lang="en-US" altLang="zh-TW" sz="1800" dirty="0" err="1"/>
              <a:t>Pai-Chieh</a:t>
            </a:r>
            <a:r>
              <a:rPr lang="en-US" altLang="zh-TW" sz="1800" dirty="0"/>
              <a:t> </a:t>
            </a:r>
            <a:r>
              <a:rPr lang="en-US" altLang="zh-TW" sz="1800" dirty="0" smtClean="0"/>
              <a:t>Huang,</a:t>
            </a:r>
          </a:p>
          <a:p>
            <a:r>
              <a:rPr lang="en-US" altLang="zh-TW" sz="1800" dirty="0" err="1"/>
              <a:t>Tzung</a:t>
            </a:r>
            <a:r>
              <a:rPr lang="en-US" altLang="zh-TW" sz="1800" dirty="0"/>
              <a:t>-Pei Hong</a:t>
            </a:r>
            <a:endParaRPr lang="en-US" altLang="zh-TW" sz="1800" dirty="0" smtClean="0"/>
          </a:p>
          <a:p>
            <a:r>
              <a:rPr lang="fr-FR" altLang="zh-TW" sz="1800" dirty="0" smtClean="0">
                <a:solidFill>
                  <a:schemeClr val="tx1"/>
                </a:solidFill>
              </a:rPr>
              <a:t>Presenter</a:t>
            </a:r>
            <a:r>
              <a:rPr lang="fr-FR" altLang="zh-TW" sz="1800" dirty="0">
                <a:solidFill>
                  <a:schemeClr val="tx1"/>
                </a:solidFill>
              </a:rPr>
              <a:t>: </a:t>
            </a:r>
            <a:r>
              <a:rPr lang="zh-TW" altLang="en-US" sz="1800" dirty="0">
                <a:solidFill>
                  <a:schemeClr val="tx1"/>
                </a:solidFill>
              </a:rPr>
              <a:t>許竣傑</a:t>
            </a:r>
            <a:endParaRPr lang="en-US" altLang="zh-TW" sz="1800" dirty="0">
              <a:solidFill>
                <a:schemeClr val="tx1"/>
              </a:solidFill>
            </a:endParaRPr>
          </a:p>
          <a:p>
            <a:r>
              <a:rPr lang="fr-FR" altLang="zh-TW" sz="1800" dirty="0" smtClean="0">
                <a:solidFill>
                  <a:schemeClr val="tx1"/>
                </a:solidFill>
              </a:rPr>
              <a:t>2013/4/15</a:t>
            </a:r>
            <a:endParaRPr lang="zh-TW" altLang="en-US" sz="1800" dirty="0">
              <a:solidFill>
                <a:schemeClr val="tx1"/>
              </a:solidFill>
            </a:endParaRPr>
          </a:p>
          <a:p>
            <a:endParaRPr lang="it-IT" altLang="zh-TW" sz="1800" dirty="0" smtClean="0"/>
          </a:p>
          <a:p>
            <a:endParaRPr lang="it-IT" altLang="zh-TW" sz="1800" dirty="0"/>
          </a:p>
          <a:p>
            <a:endParaRPr lang="zh-TW" altLang="en-US" sz="1800" dirty="0"/>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1</a:t>
            </a:fld>
            <a:endParaRPr lang="zh-TW" altLang="en-US"/>
          </a:p>
        </p:txBody>
      </p:sp>
    </p:spTree>
    <p:extLst>
      <p:ext uri="{BB962C8B-B14F-4D97-AF65-F5344CB8AC3E}">
        <p14:creationId xmlns:p14="http://schemas.microsoft.com/office/powerpoint/2010/main" val="1456027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70000" lnSpcReduction="20000"/>
          </a:bodyPr>
          <a:lstStyle/>
          <a:p>
            <a:pPr marL="0" indent="0">
              <a:buNone/>
            </a:pPr>
            <a:r>
              <a:rPr lang="en-US" altLang="zh-TW" dirty="0" smtClean="0"/>
              <a:t>   </a:t>
            </a:r>
            <a:r>
              <a:rPr lang="en-US" altLang="zh-TW" dirty="0"/>
              <a:t>A time series is composed of lots of data points, each of which represents a value at a certain time. Many phenomena can be represented by time series, such as electrocardiograms in medical science, gene expressions in biology and video data in multimedia. Time series have thus been an important and interesting research field due to their frequent appearance in different applications. This paper proposes a time series segmentation approach by combining the clustering technique, the discrete wavelet transformation and the genetic algorithm to automatically find segments and patterns from a time series. The genetic algorithm is used to find the segmentation points for deriving appropriate patterns. In fitness evaluation, the proposed approach first divides the segments in a chromosome into </a:t>
            </a:r>
            <a:r>
              <a:rPr lang="en-US" altLang="zh-TW" i="1" dirty="0"/>
              <a:t>k</a:t>
            </a:r>
            <a:r>
              <a:rPr lang="en-US" altLang="zh-TW" dirty="0"/>
              <a:t> groups according to their slopes by using clustering techniques. </a:t>
            </a:r>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2</a:t>
            </a:fld>
            <a:endParaRPr lang="zh-TW" altLang="en-US"/>
          </a:p>
        </p:txBody>
      </p:sp>
    </p:spTree>
    <p:extLst>
      <p:ext uri="{BB962C8B-B14F-4D97-AF65-F5344CB8AC3E}">
        <p14:creationId xmlns:p14="http://schemas.microsoft.com/office/powerpoint/2010/main" val="2389260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a:t>
            </a:r>
            <a:endParaRPr lang="zh-TW" altLang="en-US" dirty="0"/>
          </a:p>
        </p:txBody>
      </p:sp>
      <p:sp>
        <p:nvSpPr>
          <p:cNvPr id="3" name="內容版面配置區 2"/>
          <p:cNvSpPr>
            <a:spLocks noGrp="1"/>
          </p:cNvSpPr>
          <p:nvPr>
            <p:ph idx="1"/>
          </p:nvPr>
        </p:nvSpPr>
        <p:spPr/>
        <p:txBody>
          <a:bodyPr>
            <a:normAutofit fontScale="85000" lnSpcReduction="10000"/>
          </a:bodyPr>
          <a:lstStyle/>
          <a:p>
            <a:r>
              <a:rPr lang="en-US" altLang="zh-TW" dirty="0" smtClean="0"/>
              <a:t>   The </a:t>
            </a:r>
            <a:r>
              <a:rPr lang="en-US" altLang="zh-TW" dirty="0"/>
              <a:t>Euclidean distance is then used to calculate the distance of each subsequence and evaluate a chromosome. The discrete wavelet transformation is also used to adjust the length of the subsequences for calculating the similarity since their length may be different. The evaluation results are utilized to choose appropriate chromosomes for mating. The offspring then undergo recursive evolution until a good result has been obtained. Experimental results show that the proposed approach can get good results in finding appropriate segmentation patterns in time series.</a:t>
            </a:r>
            <a:endParaRPr lang="zh-TW" altLang="en-US" dirty="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3</a:t>
            </a:fld>
            <a:endParaRPr lang="zh-TW" altLang="en-US"/>
          </a:p>
        </p:txBody>
      </p:sp>
    </p:spTree>
    <p:extLst>
      <p:ext uri="{BB962C8B-B14F-4D97-AF65-F5344CB8AC3E}">
        <p14:creationId xmlns:p14="http://schemas.microsoft.com/office/powerpoint/2010/main" val="6878819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Chromosome </a:t>
            </a:r>
            <a:r>
              <a:rPr lang="en-US" altLang="zh-TW" dirty="0" smtClean="0"/>
              <a:t>Representation</a:t>
            </a:r>
            <a:endParaRPr lang="zh-TW" altLang="en-US" dirty="0"/>
          </a:p>
        </p:txBody>
      </p:sp>
      <p:sp>
        <p:nvSpPr>
          <p:cNvPr id="3" name="內容版面配置區 2"/>
          <p:cNvSpPr>
            <a:spLocks noGrp="1"/>
          </p:cNvSpPr>
          <p:nvPr>
            <p:ph idx="1"/>
          </p:nvPr>
        </p:nvSpPr>
        <p:spPr/>
        <p:txBody>
          <a:bodyPr/>
          <a:lstStyle/>
          <a:p>
            <a:pPr marL="0" indent="0">
              <a:buNone/>
            </a:pPr>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4</a:t>
            </a:fld>
            <a:endParaRPr lang="zh-TW" altLang="en-US"/>
          </a:p>
        </p:txBody>
      </p:sp>
      <mc:AlternateContent xmlns:mc="http://schemas.openxmlformats.org/markup-compatibility/2006">
        <mc:Choice xmlns:a14="http://schemas.microsoft.com/office/drawing/2010/main" Requires="a14">
          <p:sp>
            <p:nvSpPr>
              <p:cNvPr id="4" name="矩形 3"/>
              <p:cNvSpPr/>
              <p:nvPr/>
            </p:nvSpPr>
            <p:spPr>
              <a:xfrm>
                <a:off x="611560" y="3863156"/>
                <a:ext cx="2214581" cy="369332"/>
              </a:xfrm>
              <a:prstGeom prst="rect">
                <a:avLst/>
              </a:prstGeom>
            </p:spPr>
            <p:txBody>
              <a:bodyPr wrap="none">
                <a:spAutoFit/>
              </a:bodyPr>
              <a:lstStyle/>
              <a:p>
                <a:r>
                  <a:rPr lang="en-US" altLang="zh-TW" dirty="0" smtClean="0"/>
                  <a:t>T = {</a:t>
                </a:r>
                <a14:m>
                  <m:oMath xmlns:m="http://schemas.openxmlformats.org/officeDocument/2006/math">
                    <m:sSub>
                      <m:sSubPr>
                        <m:ctrlPr>
                          <a:rPr lang="en-US" altLang="zh-TW" i="1" dirty="0" smtClean="0">
                            <a:latin typeface="Cambria Math"/>
                          </a:rPr>
                        </m:ctrlPr>
                      </m:sSubPr>
                      <m:e>
                        <m:r>
                          <a:rPr lang="en-US" altLang="zh-TW" b="0" i="1" dirty="0" smtClean="0">
                            <a:latin typeface="Cambria Math"/>
                          </a:rPr>
                          <m:t>𝑑</m:t>
                        </m:r>
                      </m:e>
                      <m:sub>
                        <m:r>
                          <a:rPr lang="en-US" altLang="zh-TW" b="0" i="1" dirty="0" smtClean="0">
                            <a:latin typeface="Cambria Math"/>
                          </a:rPr>
                          <m:t>1</m:t>
                        </m:r>
                      </m:sub>
                    </m:sSub>
                    <m:r>
                      <a:rPr lang="en-US" altLang="zh-TW" b="0" i="1" dirty="0" smtClean="0">
                        <a:latin typeface="Cambria Math"/>
                      </a:rPr>
                      <m:t>,</m:t>
                    </m:r>
                    <m:sSub>
                      <m:sSubPr>
                        <m:ctrlPr>
                          <a:rPr lang="en-US" altLang="zh-TW" i="1" dirty="0">
                            <a:latin typeface="Cambria Math"/>
                          </a:rPr>
                        </m:ctrlPr>
                      </m:sSubPr>
                      <m:e>
                        <m:r>
                          <a:rPr lang="en-US" altLang="zh-TW" i="1" dirty="0">
                            <a:latin typeface="Cambria Math"/>
                          </a:rPr>
                          <m:t>𝑑</m:t>
                        </m:r>
                      </m:e>
                      <m:sub>
                        <m:r>
                          <a:rPr lang="en-US" altLang="zh-TW" b="0" i="1" dirty="0" smtClean="0">
                            <a:latin typeface="Cambria Math"/>
                          </a:rPr>
                          <m:t>2</m:t>
                        </m:r>
                      </m:sub>
                    </m:sSub>
                  </m:oMath>
                </a14:m>
                <a:r>
                  <a:rPr lang="en-US" altLang="zh-TW" dirty="0" smtClean="0"/>
                  <a:t>,</a:t>
                </a:r>
                <a:r>
                  <a:rPr lang="en-US" altLang="zh-TW" dirty="0"/>
                  <a:t> </a:t>
                </a:r>
                <a14:m>
                  <m:oMath xmlns:m="http://schemas.openxmlformats.org/officeDocument/2006/math">
                    <m:sSub>
                      <m:sSubPr>
                        <m:ctrlPr>
                          <a:rPr lang="en-US" altLang="zh-TW" i="1" dirty="0">
                            <a:latin typeface="Cambria Math"/>
                          </a:rPr>
                        </m:ctrlPr>
                      </m:sSubPr>
                      <m:e>
                        <m:r>
                          <a:rPr lang="en-US" altLang="zh-TW" i="1" dirty="0">
                            <a:latin typeface="Cambria Math"/>
                          </a:rPr>
                          <m:t>𝑑</m:t>
                        </m:r>
                      </m:e>
                      <m:sub>
                        <m:r>
                          <a:rPr lang="en-US" altLang="zh-TW" b="0" i="1" dirty="0" smtClean="0">
                            <a:latin typeface="Cambria Math"/>
                          </a:rPr>
                          <m:t>3</m:t>
                        </m:r>
                      </m:sub>
                    </m:sSub>
                  </m:oMath>
                </a14:m>
                <a:r>
                  <a:rPr lang="en-US" altLang="zh-TW" dirty="0" smtClean="0"/>
                  <a:t>,…,</a:t>
                </a:r>
                <a:r>
                  <a:rPr lang="en-US" altLang="zh-TW" dirty="0"/>
                  <a:t> </a:t>
                </a:r>
                <a14:m>
                  <m:oMath xmlns:m="http://schemas.openxmlformats.org/officeDocument/2006/math">
                    <m:sSub>
                      <m:sSubPr>
                        <m:ctrlPr>
                          <a:rPr lang="en-US" altLang="zh-TW" i="1" dirty="0">
                            <a:latin typeface="Cambria Math"/>
                          </a:rPr>
                        </m:ctrlPr>
                      </m:sSubPr>
                      <m:e>
                        <m:r>
                          <a:rPr lang="en-US" altLang="zh-TW" i="1" dirty="0">
                            <a:latin typeface="Cambria Math"/>
                          </a:rPr>
                          <m:t>𝑑</m:t>
                        </m:r>
                      </m:e>
                      <m:sub>
                        <m:r>
                          <a:rPr lang="en-US" altLang="zh-TW" b="0" i="1" dirty="0" smtClean="0">
                            <a:latin typeface="Cambria Math"/>
                          </a:rPr>
                          <m:t>𝑛</m:t>
                        </m:r>
                      </m:sub>
                    </m:sSub>
                  </m:oMath>
                </a14:m>
                <a:r>
                  <a:rPr lang="en-US" altLang="zh-TW" dirty="0" smtClean="0"/>
                  <a:t>}</a:t>
                </a:r>
                <a:endParaRPr lang="zh-TW" altLang="en-US" dirty="0"/>
              </a:p>
            </p:txBody>
          </p:sp>
        </mc:Choice>
        <mc:Fallback>
          <p:sp>
            <p:nvSpPr>
              <p:cNvPr id="4" name="矩形 3"/>
              <p:cNvSpPr>
                <a:spLocks noRot="1" noChangeAspect="1" noMove="1" noResize="1" noEditPoints="1" noAdjustHandles="1" noChangeArrowheads="1" noChangeShapeType="1" noTextEdit="1"/>
              </p:cNvSpPr>
              <p:nvPr/>
            </p:nvSpPr>
            <p:spPr>
              <a:xfrm>
                <a:off x="611560" y="3863156"/>
                <a:ext cx="2214581" cy="369332"/>
              </a:xfrm>
              <a:prstGeom prst="rect">
                <a:avLst/>
              </a:prstGeom>
              <a:blipFill rotWithShape="1">
                <a:blip r:embed="rId2"/>
                <a:stretch>
                  <a:fillRect l="-2198" t="-8333" b="-26667"/>
                </a:stretch>
              </a:blipFill>
            </p:spPr>
            <p:txBody>
              <a:bodyPr/>
              <a:lstStyle/>
              <a:p>
                <a:r>
                  <a:rPr lang="zh-TW" altLang="en-US">
                    <a:noFill/>
                  </a:rPr>
                  <a:t> </a:t>
                </a:r>
              </a:p>
            </p:txBody>
          </p:sp>
        </mc:Fallback>
      </mc:AlternateContent>
      <p:sp>
        <p:nvSpPr>
          <p:cNvPr id="8" name="矩形 7"/>
          <p:cNvSpPr/>
          <p:nvPr/>
        </p:nvSpPr>
        <p:spPr>
          <a:xfrm>
            <a:off x="647563" y="4278072"/>
            <a:ext cx="2142573" cy="369332"/>
          </a:xfrm>
          <a:prstGeom prst="rect">
            <a:avLst/>
          </a:prstGeom>
        </p:spPr>
        <p:txBody>
          <a:bodyPr wrap="square">
            <a:spAutoFit/>
          </a:bodyPr>
          <a:lstStyle/>
          <a:p>
            <a:r>
              <a:rPr lang="en-US" altLang="zh-TW" dirty="0"/>
              <a:t>C</a:t>
            </a:r>
            <a:r>
              <a:rPr lang="en-US" altLang="zh-TW" dirty="0" smtClean="0"/>
              <a:t> = {4,8,12,16}</a:t>
            </a:r>
            <a:endParaRPr lang="zh-TW" alt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791781"/>
            <a:ext cx="7584579" cy="1641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75820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K - mean</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5</a:t>
            </a:fld>
            <a:endParaRPr lang="zh-TW" alt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9130" y="1700808"/>
            <a:ext cx="6253931" cy="13537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827583" y="3501008"/>
            <a:ext cx="2142573" cy="369332"/>
          </a:xfrm>
          <a:prstGeom prst="rect">
            <a:avLst/>
          </a:prstGeom>
        </p:spPr>
        <p:txBody>
          <a:bodyPr wrap="square">
            <a:spAutoFit/>
          </a:bodyPr>
          <a:lstStyle/>
          <a:p>
            <a:r>
              <a:rPr lang="en-US" altLang="zh-TW" dirty="0" smtClean="0"/>
              <a:t>S</a:t>
            </a:r>
            <a:r>
              <a:rPr lang="en-US" altLang="zh-TW" baseline="-25000" dirty="0" smtClean="0"/>
              <a:t>1</a:t>
            </a:r>
            <a:r>
              <a:rPr lang="en-US" altLang="zh-TW" dirty="0" smtClean="0"/>
              <a:t> = {8,12,12,2}</a:t>
            </a:r>
            <a:endParaRPr lang="zh-TW" altLang="en-US" dirty="0"/>
          </a:p>
        </p:txBody>
      </p:sp>
      <p:sp>
        <p:nvSpPr>
          <p:cNvPr id="7" name="矩形 6"/>
          <p:cNvSpPr/>
          <p:nvPr/>
        </p:nvSpPr>
        <p:spPr>
          <a:xfrm>
            <a:off x="827583" y="3989725"/>
            <a:ext cx="2142573" cy="369332"/>
          </a:xfrm>
          <a:prstGeom prst="rect">
            <a:avLst/>
          </a:prstGeom>
        </p:spPr>
        <p:txBody>
          <a:bodyPr wrap="square">
            <a:spAutoFit/>
          </a:bodyPr>
          <a:lstStyle/>
          <a:p>
            <a:r>
              <a:rPr lang="en-US" altLang="zh-TW" dirty="0" smtClean="0"/>
              <a:t>S</a:t>
            </a:r>
            <a:r>
              <a:rPr lang="en-US" altLang="zh-TW" baseline="-25000" dirty="0" smtClean="0"/>
              <a:t>2</a:t>
            </a:r>
            <a:r>
              <a:rPr lang="en-US" altLang="zh-TW" dirty="0" smtClean="0"/>
              <a:t> = {2,4,6,8}</a:t>
            </a:r>
            <a:endParaRPr lang="zh-TW" altLang="en-US" dirty="0"/>
          </a:p>
        </p:txBody>
      </p:sp>
      <p:sp>
        <p:nvSpPr>
          <p:cNvPr id="8" name="矩形 7"/>
          <p:cNvSpPr/>
          <p:nvPr/>
        </p:nvSpPr>
        <p:spPr>
          <a:xfrm>
            <a:off x="827582" y="4493509"/>
            <a:ext cx="2142573" cy="369332"/>
          </a:xfrm>
          <a:prstGeom prst="rect">
            <a:avLst/>
          </a:prstGeom>
        </p:spPr>
        <p:txBody>
          <a:bodyPr wrap="square">
            <a:spAutoFit/>
          </a:bodyPr>
          <a:lstStyle/>
          <a:p>
            <a:r>
              <a:rPr lang="en-US" altLang="zh-TW" dirty="0" smtClean="0"/>
              <a:t>S</a:t>
            </a:r>
            <a:r>
              <a:rPr lang="en-US" altLang="zh-TW" baseline="-25000" dirty="0" smtClean="0"/>
              <a:t>3</a:t>
            </a:r>
            <a:r>
              <a:rPr lang="en-US" altLang="zh-TW" dirty="0" smtClean="0"/>
              <a:t> = {8,6,4,2}</a:t>
            </a:r>
            <a:endParaRPr lang="zh-TW" altLang="en-US" dirty="0"/>
          </a:p>
        </p:txBody>
      </p:sp>
      <p:sp>
        <p:nvSpPr>
          <p:cNvPr id="9" name="矩形 8"/>
          <p:cNvSpPr/>
          <p:nvPr/>
        </p:nvSpPr>
        <p:spPr>
          <a:xfrm>
            <a:off x="827581" y="5003884"/>
            <a:ext cx="2142573" cy="369332"/>
          </a:xfrm>
          <a:prstGeom prst="rect">
            <a:avLst/>
          </a:prstGeom>
        </p:spPr>
        <p:txBody>
          <a:bodyPr wrap="square">
            <a:spAutoFit/>
          </a:bodyPr>
          <a:lstStyle/>
          <a:p>
            <a:r>
              <a:rPr lang="en-US" altLang="zh-TW" dirty="0" smtClean="0"/>
              <a:t>S</a:t>
            </a:r>
            <a:r>
              <a:rPr lang="en-US" altLang="zh-TW" baseline="-25000" dirty="0" smtClean="0"/>
              <a:t>4</a:t>
            </a:r>
            <a:r>
              <a:rPr lang="en-US" altLang="zh-TW" dirty="0" smtClean="0"/>
              <a:t> = {2,4,4,2}</a:t>
            </a:r>
            <a:endParaRPr lang="zh-TW" altLang="en-US" dirty="0"/>
          </a:p>
        </p:txBody>
      </p:sp>
      <p:sp>
        <p:nvSpPr>
          <p:cNvPr id="10" name="矩形 9"/>
          <p:cNvSpPr/>
          <p:nvPr/>
        </p:nvSpPr>
        <p:spPr>
          <a:xfrm>
            <a:off x="827580" y="5557882"/>
            <a:ext cx="2142573" cy="369332"/>
          </a:xfrm>
          <a:prstGeom prst="rect">
            <a:avLst/>
          </a:prstGeom>
        </p:spPr>
        <p:txBody>
          <a:bodyPr wrap="square">
            <a:spAutoFit/>
          </a:bodyPr>
          <a:lstStyle/>
          <a:p>
            <a:r>
              <a:rPr lang="en-US" altLang="zh-TW" dirty="0" smtClean="0"/>
              <a:t>S</a:t>
            </a:r>
            <a:r>
              <a:rPr lang="en-US" altLang="zh-TW" baseline="-25000" dirty="0" smtClean="0"/>
              <a:t>5</a:t>
            </a:r>
            <a:r>
              <a:rPr lang="en-US" altLang="zh-TW" dirty="0" smtClean="0"/>
              <a:t> = {2,4,4,2}</a:t>
            </a:r>
            <a:endParaRPr lang="zh-TW" altLang="en-US" dirty="0"/>
          </a:p>
        </p:txBody>
      </p:sp>
      <p:sp>
        <p:nvSpPr>
          <p:cNvPr id="12" name="矩形 11"/>
          <p:cNvSpPr/>
          <p:nvPr/>
        </p:nvSpPr>
        <p:spPr>
          <a:xfrm>
            <a:off x="3141004" y="3501008"/>
            <a:ext cx="2142573" cy="369332"/>
          </a:xfrm>
          <a:prstGeom prst="rect">
            <a:avLst/>
          </a:prstGeom>
        </p:spPr>
        <p:txBody>
          <a:bodyPr wrap="square">
            <a:spAutoFit/>
          </a:bodyPr>
          <a:lstStyle/>
          <a:p>
            <a:r>
              <a:rPr lang="en-US" altLang="zh-TW" dirty="0" smtClean="0"/>
              <a:t>S</a:t>
            </a:r>
            <a:r>
              <a:rPr lang="en-US" altLang="zh-TW" baseline="-25000" dirty="0" smtClean="0"/>
              <a:t>1</a:t>
            </a:r>
            <a:r>
              <a:rPr lang="en-US" altLang="zh-TW" dirty="0" smtClean="0"/>
              <a:t> = {8,12,2}</a:t>
            </a:r>
            <a:endParaRPr lang="zh-TW" altLang="en-US" dirty="0"/>
          </a:p>
        </p:txBody>
      </p:sp>
      <p:sp>
        <p:nvSpPr>
          <p:cNvPr id="13" name="矩形 12"/>
          <p:cNvSpPr/>
          <p:nvPr/>
        </p:nvSpPr>
        <p:spPr>
          <a:xfrm>
            <a:off x="5436096" y="3501008"/>
            <a:ext cx="3384376" cy="369332"/>
          </a:xfrm>
          <a:prstGeom prst="rect">
            <a:avLst/>
          </a:prstGeom>
        </p:spPr>
        <p:txBody>
          <a:bodyPr wrap="square">
            <a:spAutoFit/>
          </a:bodyPr>
          <a:lstStyle/>
          <a:p>
            <a:r>
              <a:rPr lang="en-US" altLang="zh-TW" dirty="0" smtClean="0"/>
              <a:t>Slope of segment S</a:t>
            </a:r>
            <a:r>
              <a:rPr lang="en-US" altLang="zh-TW" baseline="-25000" dirty="0" smtClean="0"/>
              <a:t>1</a:t>
            </a:r>
            <a:r>
              <a:rPr lang="en-US" altLang="zh-TW" dirty="0" smtClean="0"/>
              <a:t> = {2.66,-6.66}</a:t>
            </a:r>
            <a:endParaRPr lang="zh-TW" altLang="en-US" dirty="0"/>
          </a:p>
        </p:txBody>
      </p:sp>
      <p:sp>
        <p:nvSpPr>
          <p:cNvPr id="14" name="矩形 13"/>
          <p:cNvSpPr/>
          <p:nvPr/>
        </p:nvSpPr>
        <p:spPr>
          <a:xfrm>
            <a:off x="3141003" y="3989725"/>
            <a:ext cx="2142573" cy="369332"/>
          </a:xfrm>
          <a:prstGeom prst="rect">
            <a:avLst/>
          </a:prstGeom>
        </p:spPr>
        <p:txBody>
          <a:bodyPr wrap="square">
            <a:spAutoFit/>
          </a:bodyPr>
          <a:lstStyle/>
          <a:p>
            <a:r>
              <a:rPr lang="en-US" altLang="zh-TW" dirty="0" smtClean="0"/>
              <a:t>S</a:t>
            </a:r>
            <a:r>
              <a:rPr lang="en-US" altLang="zh-TW" baseline="-25000" dirty="0"/>
              <a:t>2</a:t>
            </a:r>
            <a:r>
              <a:rPr lang="en-US" altLang="zh-TW" dirty="0" smtClean="0"/>
              <a:t> = {2,5,8}</a:t>
            </a:r>
            <a:endParaRPr lang="zh-TW" altLang="en-US" dirty="0"/>
          </a:p>
        </p:txBody>
      </p:sp>
      <p:sp>
        <p:nvSpPr>
          <p:cNvPr id="15" name="矩形 14"/>
          <p:cNvSpPr/>
          <p:nvPr/>
        </p:nvSpPr>
        <p:spPr>
          <a:xfrm>
            <a:off x="5436096" y="3989725"/>
            <a:ext cx="3240360" cy="369332"/>
          </a:xfrm>
          <a:prstGeom prst="rect">
            <a:avLst/>
          </a:prstGeom>
        </p:spPr>
        <p:txBody>
          <a:bodyPr wrap="square">
            <a:spAutoFit/>
          </a:bodyPr>
          <a:lstStyle/>
          <a:p>
            <a:r>
              <a:rPr lang="en-US" altLang="zh-TW" dirty="0" smtClean="0"/>
              <a:t>Slope of segment S</a:t>
            </a:r>
            <a:r>
              <a:rPr lang="en-US" altLang="zh-TW" baseline="-25000" dirty="0" smtClean="0"/>
              <a:t>2</a:t>
            </a:r>
            <a:r>
              <a:rPr lang="en-US" altLang="zh-TW" dirty="0" smtClean="0"/>
              <a:t> = {2,2}</a:t>
            </a:r>
            <a:endParaRPr lang="zh-TW" altLang="en-US" dirty="0"/>
          </a:p>
        </p:txBody>
      </p:sp>
      <p:sp>
        <p:nvSpPr>
          <p:cNvPr id="16" name="矩形 15"/>
          <p:cNvSpPr/>
          <p:nvPr/>
        </p:nvSpPr>
        <p:spPr>
          <a:xfrm>
            <a:off x="3141002" y="4493509"/>
            <a:ext cx="2142573" cy="369332"/>
          </a:xfrm>
          <a:prstGeom prst="rect">
            <a:avLst/>
          </a:prstGeom>
        </p:spPr>
        <p:txBody>
          <a:bodyPr wrap="square">
            <a:spAutoFit/>
          </a:bodyPr>
          <a:lstStyle/>
          <a:p>
            <a:r>
              <a:rPr lang="en-US" altLang="zh-TW" dirty="0" smtClean="0"/>
              <a:t>S</a:t>
            </a:r>
            <a:r>
              <a:rPr lang="en-US" altLang="zh-TW" baseline="-25000" dirty="0" smtClean="0"/>
              <a:t>3</a:t>
            </a:r>
            <a:r>
              <a:rPr lang="en-US" altLang="zh-TW" dirty="0" smtClean="0"/>
              <a:t> = {8,5,2}</a:t>
            </a:r>
            <a:endParaRPr lang="zh-TW" altLang="en-US" dirty="0"/>
          </a:p>
        </p:txBody>
      </p:sp>
      <p:sp>
        <p:nvSpPr>
          <p:cNvPr id="18" name="矩形 17"/>
          <p:cNvSpPr/>
          <p:nvPr/>
        </p:nvSpPr>
        <p:spPr>
          <a:xfrm>
            <a:off x="5436096" y="4493509"/>
            <a:ext cx="3240360" cy="369332"/>
          </a:xfrm>
          <a:prstGeom prst="rect">
            <a:avLst/>
          </a:prstGeom>
        </p:spPr>
        <p:txBody>
          <a:bodyPr wrap="square">
            <a:spAutoFit/>
          </a:bodyPr>
          <a:lstStyle/>
          <a:p>
            <a:r>
              <a:rPr lang="en-US" altLang="zh-TW" dirty="0" smtClean="0"/>
              <a:t>Slope of segment S</a:t>
            </a:r>
            <a:r>
              <a:rPr lang="en-US" altLang="zh-TW" baseline="-25000" dirty="0" smtClean="0"/>
              <a:t>3</a:t>
            </a:r>
            <a:r>
              <a:rPr lang="en-US" altLang="zh-TW" dirty="0" smtClean="0"/>
              <a:t> = {-2,-2}</a:t>
            </a:r>
            <a:endParaRPr lang="zh-TW" altLang="en-US" dirty="0"/>
          </a:p>
        </p:txBody>
      </p:sp>
      <p:sp>
        <p:nvSpPr>
          <p:cNvPr id="19" name="矩形 18"/>
          <p:cNvSpPr/>
          <p:nvPr/>
        </p:nvSpPr>
        <p:spPr>
          <a:xfrm>
            <a:off x="3141004" y="5003884"/>
            <a:ext cx="2142573" cy="369332"/>
          </a:xfrm>
          <a:prstGeom prst="rect">
            <a:avLst/>
          </a:prstGeom>
        </p:spPr>
        <p:txBody>
          <a:bodyPr wrap="square">
            <a:spAutoFit/>
          </a:bodyPr>
          <a:lstStyle/>
          <a:p>
            <a:r>
              <a:rPr lang="en-US" altLang="zh-TW" dirty="0" smtClean="0"/>
              <a:t>S</a:t>
            </a:r>
            <a:r>
              <a:rPr lang="en-US" altLang="zh-TW" baseline="-25000" dirty="0" smtClean="0"/>
              <a:t>4</a:t>
            </a:r>
            <a:r>
              <a:rPr lang="en-US" altLang="zh-TW" dirty="0" smtClean="0"/>
              <a:t> = {2,4,2}</a:t>
            </a:r>
            <a:endParaRPr lang="zh-TW" altLang="en-US" dirty="0"/>
          </a:p>
        </p:txBody>
      </p:sp>
      <p:sp>
        <p:nvSpPr>
          <p:cNvPr id="21" name="矩形 20"/>
          <p:cNvSpPr/>
          <p:nvPr/>
        </p:nvSpPr>
        <p:spPr>
          <a:xfrm>
            <a:off x="5436096" y="5003884"/>
            <a:ext cx="3384376" cy="369332"/>
          </a:xfrm>
          <a:prstGeom prst="rect">
            <a:avLst/>
          </a:prstGeom>
        </p:spPr>
        <p:txBody>
          <a:bodyPr wrap="square">
            <a:spAutoFit/>
          </a:bodyPr>
          <a:lstStyle/>
          <a:p>
            <a:r>
              <a:rPr lang="en-US" altLang="zh-TW" dirty="0" smtClean="0"/>
              <a:t>Slope of segment S</a:t>
            </a:r>
            <a:r>
              <a:rPr lang="en-US" altLang="zh-TW" baseline="-25000" dirty="0" smtClean="0"/>
              <a:t>4</a:t>
            </a:r>
            <a:r>
              <a:rPr lang="en-US" altLang="zh-TW" dirty="0" smtClean="0"/>
              <a:t> = {1.33,-1.33}</a:t>
            </a:r>
            <a:endParaRPr lang="zh-TW" altLang="en-US" dirty="0"/>
          </a:p>
        </p:txBody>
      </p:sp>
      <p:sp>
        <p:nvSpPr>
          <p:cNvPr id="22" name="矩形 21"/>
          <p:cNvSpPr/>
          <p:nvPr/>
        </p:nvSpPr>
        <p:spPr>
          <a:xfrm>
            <a:off x="5436096" y="5557882"/>
            <a:ext cx="3384376" cy="369332"/>
          </a:xfrm>
          <a:prstGeom prst="rect">
            <a:avLst/>
          </a:prstGeom>
        </p:spPr>
        <p:txBody>
          <a:bodyPr wrap="square">
            <a:spAutoFit/>
          </a:bodyPr>
          <a:lstStyle/>
          <a:p>
            <a:r>
              <a:rPr lang="en-US" altLang="zh-TW" dirty="0" smtClean="0"/>
              <a:t>Slope of segment S</a:t>
            </a:r>
            <a:r>
              <a:rPr lang="en-US" altLang="zh-TW" baseline="-25000" dirty="0" smtClean="0"/>
              <a:t>5</a:t>
            </a:r>
            <a:r>
              <a:rPr lang="en-US" altLang="zh-TW" dirty="0" smtClean="0"/>
              <a:t> = {1.33,-1.33}</a:t>
            </a:r>
            <a:endParaRPr lang="zh-TW" altLang="en-US" dirty="0"/>
          </a:p>
        </p:txBody>
      </p:sp>
      <p:sp>
        <p:nvSpPr>
          <p:cNvPr id="23" name="矩形 22"/>
          <p:cNvSpPr/>
          <p:nvPr/>
        </p:nvSpPr>
        <p:spPr>
          <a:xfrm>
            <a:off x="3141004" y="5557882"/>
            <a:ext cx="2142573" cy="369332"/>
          </a:xfrm>
          <a:prstGeom prst="rect">
            <a:avLst/>
          </a:prstGeom>
        </p:spPr>
        <p:txBody>
          <a:bodyPr wrap="square">
            <a:spAutoFit/>
          </a:bodyPr>
          <a:lstStyle/>
          <a:p>
            <a:r>
              <a:rPr lang="en-US" altLang="zh-TW" dirty="0" smtClean="0"/>
              <a:t>S</a:t>
            </a:r>
            <a:r>
              <a:rPr lang="en-US" altLang="zh-TW" baseline="-25000" dirty="0" smtClean="0"/>
              <a:t>5</a:t>
            </a:r>
            <a:r>
              <a:rPr lang="en-US" altLang="zh-TW" dirty="0" smtClean="0"/>
              <a:t> = {2,4,2}</a:t>
            </a:r>
            <a:endParaRPr lang="zh-TW"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0" y="2852936"/>
            <a:ext cx="2299615" cy="6205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14258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K - mean</a:t>
            </a:r>
            <a:endParaRPr lang="zh-TW" altLang="en-US" dirty="0"/>
          </a:p>
        </p:txBody>
      </p:sp>
      <p:sp>
        <p:nvSpPr>
          <p:cNvPr id="3" name="內容版面配置區 2"/>
          <p:cNvSpPr>
            <a:spLocks noGrp="1"/>
          </p:cNvSpPr>
          <p:nvPr>
            <p:ph idx="1"/>
          </p:nvPr>
        </p:nvSpPr>
        <p:spPr/>
        <p:txBody>
          <a:bodyPr/>
          <a:lstStyle/>
          <a:p>
            <a:r>
              <a:rPr lang="en-US" altLang="zh-TW" dirty="0" smtClean="0"/>
              <a:t>K = </a:t>
            </a:r>
            <a:r>
              <a:rPr lang="en-US" altLang="zh-TW" dirty="0"/>
              <a:t>2</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6</a:t>
            </a:fld>
            <a:endParaRPr lang="zh-TW" altLang="en-US"/>
          </a:p>
        </p:txBody>
      </p:sp>
      <p:sp>
        <p:nvSpPr>
          <p:cNvPr id="14" name="矩形 13"/>
          <p:cNvSpPr/>
          <p:nvPr/>
        </p:nvSpPr>
        <p:spPr>
          <a:xfrm>
            <a:off x="7164288" y="3789040"/>
            <a:ext cx="304892" cy="369332"/>
          </a:xfrm>
          <a:prstGeom prst="rect">
            <a:avLst/>
          </a:prstGeom>
        </p:spPr>
        <p:txBody>
          <a:bodyPr wrap="none">
            <a:spAutoFit/>
          </a:bodyPr>
          <a:lstStyle/>
          <a:p>
            <a:r>
              <a:rPr lang="en-US" altLang="zh-TW" dirty="0" smtClean="0"/>
              <a:t>X</a:t>
            </a:r>
            <a:endParaRPr lang="zh-TW" altLang="en-US" dirty="0"/>
          </a:p>
        </p:txBody>
      </p:sp>
      <p:sp>
        <p:nvSpPr>
          <p:cNvPr id="15" name="矩形 14"/>
          <p:cNvSpPr/>
          <p:nvPr/>
        </p:nvSpPr>
        <p:spPr>
          <a:xfrm>
            <a:off x="4499992" y="6525344"/>
            <a:ext cx="296876" cy="369332"/>
          </a:xfrm>
          <a:prstGeom prst="rect">
            <a:avLst/>
          </a:prstGeom>
        </p:spPr>
        <p:txBody>
          <a:bodyPr wrap="none">
            <a:spAutoFit/>
          </a:bodyPr>
          <a:lstStyle/>
          <a:p>
            <a:r>
              <a:rPr lang="en-US" altLang="zh-TW" dirty="0" smtClean="0"/>
              <a:t>Y</a:t>
            </a:r>
            <a:endParaRPr lang="zh-TW" altLang="en-US" dirty="0"/>
          </a:p>
        </p:txBody>
      </p:sp>
      <p:graphicFrame>
        <p:nvGraphicFramePr>
          <p:cNvPr id="17" name="表格 16"/>
          <p:cNvGraphicFramePr>
            <a:graphicFrameLocks noGrp="1"/>
          </p:cNvGraphicFramePr>
          <p:nvPr>
            <p:extLst>
              <p:ext uri="{D42A27DB-BD31-4B8C-83A1-F6EECF244321}">
                <p14:modId xmlns:p14="http://schemas.microsoft.com/office/powerpoint/2010/main" val="2497534133"/>
              </p:ext>
            </p:extLst>
          </p:nvPr>
        </p:nvGraphicFramePr>
        <p:xfrm>
          <a:off x="2200158" y="1412776"/>
          <a:ext cx="4920208" cy="5120640"/>
        </p:xfrm>
        <a:graphic>
          <a:graphicData uri="http://schemas.openxmlformats.org/drawingml/2006/table">
            <a:tbl>
              <a:tblPr firstRow="1" bandRow="1">
                <a:tableStyleId>{2D5ABB26-0587-4C30-8999-92F81FD0307C}</a:tableStyleId>
              </a:tblPr>
              <a:tblGrid>
                <a:gridCol w="615026"/>
                <a:gridCol w="615026"/>
                <a:gridCol w="615026"/>
                <a:gridCol w="615026"/>
                <a:gridCol w="615026"/>
                <a:gridCol w="615026"/>
                <a:gridCol w="615026"/>
                <a:gridCol w="615026"/>
              </a:tblGrid>
              <a:tr h="149736">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3178">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19" name="直線接點 18"/>
          <p:cNvCxnSpPr>
            <a:endCxn id="17" idx="3"/>
          </p:cNvCxnSpPr>
          <p:nvPr/>
        </p:nvCxnSpPr>
        <p:spPr>
          <a:xfrm flipV="1">
            <a:off x="2195736" y="3973096"/>
            <a:ext cx="4924630" cy="61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線接點 21"/>
          <p:cNvCxnSpPr>
            <a:endCxn id="17" idx="2"/>
          </p:cNvCxnSpPr>
          <p:nvPr/>
        </p:nvCxnSpPr>
        <p:spPr>
          <a:xfrm>
            <a:off x="4658051" y="1412776"/>
            <a:ext cx="2211" cy="512064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228184" y="5733256"/>
            <a:ext cx="1271502" cy="369332"/>
          </a:xfrm>
          <a:prstGeom prst="rect">
            <a:avLst/>
          </a:prstGeom>
        </p:spPr>
        <p:txBody>
          <a:bodyPr wrap="none">
            <a:spAutoFit/>
          </a:bodyPr>
          <a:lstStyle/>
          <a:p>
            <a:r>
              <a:rPr lang="en-US" altLang="zh-TW" dirty="0" smtClean="0"/>
              <a:t>(2.66,-6.66)</a:t>
            </a:r>
            <a:endParaRPr lang="zh-TW" altLang="en-US" dirty="0"/>
          </a:p>
        </p:txBody>
      </p:sp>
      <p:sp>
        <p:nvSpPr>
          <p:cNvPr id="25" name="矩形 24"/>
          <p:cNvSpPr/>
          <p:nvPr/>
        </p:nvSpPr>
        <p:spPr>
          <a:xfrm>
            <a:off x="6084168" y="2911036"/>
            <a:ext cx="617477" cy="369332"/>
          </a:xfrm>
          <a:prstGeom prst="rect">
            <a:avLst/>
          </a:prstGeom>
        </p:spPr>
        <p:txBody>
          <a:bodyPr wrap="none">
            <a:spAutoFit/>
          </a:bodyPr>
          <a:lstStyle/>
          <a:p>
            <a:r>
              <a:rPr lang="en-US" altLang="zh-TW" dirty="0" smtClean="0"/>
              <a:t>(2,2)</a:t>
            </a:r>
            <a:endParaRPr lang="zh-TW" altLang="en-US" dirty="0"/>
          </a:p>
        </p:txBody>
      </p:sp>
      <p:sp>
        <p:nvSpPr>
          <p:cNvPr id="26" name="矩形 25"/>
          <p:cNvSpPr/>
          <p:nvPr/>
        </p:nvSpPr>
        <p:spPr>
          <a:xfrm>
            <a:off x="3507009" y="4331491"/>
            <a:ext cx="758541" cy="369332"/>
          </a:xfrm>
          <a:prstGeom prst="rect">
            <a:avLst/>
          </a:prstGeom>
        </p:spPr>
        <p:txBody>
          <a:bodyPr wrap="none">
            <a:spAutoFit/>
          </a:bodyPr>
          <a:lstStyle/>
          <a:p>
            <a:r>
              <a:rPr lang="en-US" altLang="zh-TW" dirty="0" smtClean="0"/>
              <a:t>(-2,-2)</a:t>
            </a:r>
            <a:endParaRPr lang="zh-TW" altLang="en-US" dirty="0"/>
          </a:p>
        </p:txBody>
      </p:sp>
      <p:sp>
        <p:nvSpPr>
          <p:cNvPr id="27" name="橢圓 26"/>
          <p:cNvSpPr/>
          <p:nvPr/>
        </p:nvSpPr>
        <p:spPr>
          <a:xfrm>
            <a:off x="5854291" y="3184721"/>
            <a:ext cx="128742" cy="13781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6163813" y="5911445"/>
            <a:ext cx="128742" cy="13781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3347864" y="4653136"/>
            <a:ext cx="128742" cy="13781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5436096" y="4458799"/>
            <a:ext cx="128742" cy="13781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p:cNvSpPr/>
          <p:nvPr/>
        </p:nvSpPr>
        <p:spPr>
          <a:xfrm>
            <a:off x="5674294" y="4343038"/>
            <a:ext cx="1271502" cy="369332"/>
          </a:xfrm>
          <a:prstGeom prst="rect">
            <a:avLst/>
          </a:prstGeom>
        </p:spPr>
        <p:txBody>
          <a:bodyPr wrap="none">
            <a:spAutoFit/>
          </a:bodyPr>
          <a:lstStyle/>
          <a:p>
            <a:r>
              <a:rPr lang="en-US" altLang="zh-TW" dirty="0" smtClean="0"/>
              <a:t>(1.33,-1.33)</a:t>
            </a:r>
            <a:endParaRPr lang="zh-TW" altLang="en-US" dirty="0"/>
          </a:p>
        </p:txBody>
      </p:sp>
      <p:sp>
        <p:nvSpPr>
          <p:cNvPr id="33" name="矩形 32"/>
          <p:cNvSpPr/>
          <p:nvPr/>
        </p:nvSpPr>
        <p:spPr>
          <a:xfrm>
            <a:off x="4686123" y="3987429"/>
            <a:ext cx="617477" cy="369332"/>
          </a:xfrm>
          <a:prstGeom prst="rect">
            <a:avLst/>
          </a:prstGeom>
        </p:spPr>
        <p:txBody>
          <a:bodyPr wrap="none">
            <a:spAutoFit/>
          </a:bodyPr>
          <a:lstStyle/>
          <a:p>
            <a:r>
              <a:rPr lang="en-US" altLang="zh-TW" dirty="0" smtClean="0"/>
              <a:t>(0,0)</a:t>
            </a:r>
            <a:endParaRPr lang="zh-TW" altLang="en-US" dirty="0"/>
          </a:p>
        </p:txBody>
      </p:sp>
      <p:sp>
        <p:nvSpPr>
          <p:cNvPr id="34" name="橢圓 33"/>
          <p:cNvSpPr/>
          <p:nvPr/>
        </p:nvSpPr>
        <p:spPr>
          <a:xfrm>
            <a:off x="4567809" y="3918524"/>
            <a:ext cx="128742" cy="13781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3455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Discrete Wavelet Transformation</a:t>
            </a:r>
            <a:endParaRPr lang="zh-TW" altLang="en-US" dirty="0"/>
          </a:p>
        </p:txBody>
      </p:sp>
      <p:sp>
        <p:nvSpPr>
          <p:cNvPr id="3" name="內容版面配置區 2"/>
          <p:cNvSpPr>
            <a:spLocks noGrp="1"/>
          </p:cNvSpPr>
          <p:nvPr>
            <p:ph idx="1"/>
          </p:nvPr>
        </p:nvSpPr>
        <p:spPr/>
        <p:txBody>
          <a:bodyPr/>
          <a:lstStyle/>
          <a:p>
            <a:pPr marL="0" indent="0">
              <a:buNone/>
            </a:pPr>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7</a:t>
            </a:fld>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268760"/>
            <a:ext cx="3805213" cy="5088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a14="http://schemas.microsoft.com/office/drawing/2010/main" Requires="a14">
          <p:sp>
            <p:nvSpPr>
              <p:cNvPr id="4" name="矩形 3"/>
              <p:cNvSpPr/>
              <p:nvPr/>
            </p:nvSpPr>
            <p:spPr>
              <a:xfrm>
                <a:off x="5436096" y="2204864"/>
                <a:ext cx="2132187" cy="475195"/>
              </a:xfrm>
              <a:prstGeom prst="rect">
                <a:avLst/>
              </a:prstGeom>
            </p:spPr>
            <p:txBody>
              <a:bodyPr wrap="none">
                <a:spAutoFit/>
              </a:bodyPr>
              <a:lstStyle/>
              <a:p>
                <a:r>
                  <a:rPr lang="en-US" altLang="zh-TW" dirty="0" smtClean="0"/>
                  <a:t>Approximation = </a:t>
                </a:r>
                <a14:m>
                  <m:oMath xmlns:m="http://schemas.openxmlformats.org/officeDocument/2006/math">
                    <m:f>
                      <m:fPr>
                        <m:ctrlPr>
                          <a:rPr lang="en-US" altLang="zh-TW" i="1" smtClean="0">
                            <a:latin typeface="Cambria Math"/>
                          </a:rPr>
                        </m:ctrlPr>
                      </m:fPr>
                      <m:num>
                        <m:r>
                          <a:rPr lang="en-US" altLang="zh-TW" b="0" i="1" smtClean="0">
                            <a:latin typeface="Cambria Math"/>
                          </a:rPr>
                          <m:t>𝑥</m:t>
                        </m:r>
                        <m:r>
                          <a:rPr lang="en-US" altLang="zh-TW" b="0" i="1" smtClean="0">
                            <a:latin typeface="Cambria Math"/>
                          </a:rPr>
                          <m:t>+</m:t>
                        </m:r>
                        <m:r>
                          <a:rPr lang="en-US" altLang="zh-TW" b="0" i="1" smtClean="0">
                            <a:latin typeface="Cambria Math"/>
                          </a:rPr>
                          <m:t>𝑦</m:t>
                        </m:r>
                      </m:num>
                      <m:den>
                        <m:r>
                          <a:rPr lang="en-US" altLang="zh-TW" b="0" i="1" smtClean="0">
                            <a:latin typeface="Cambria Math"/>
                          </a:rPr>
                          <m:t>2</m:t>
                        </m:r>
                      </m:den>
                    </m:f>
                  </m:oMath>
                </a14:m>
                <a:endParaRPr lang="zh-TW" altLang="en-US" dirty="0"/>
              </a:p>
            </p:txBody>
          </p:sp>
        </mc:Choice>
        <mc:Fallback>
          <p:sp>
            <p:nvSpPr>
              <p:cNvPr id="4" name="矩形 3"/>
              <p:cNvSpPr>
                <a:spLocks noRot="1" noChangeAspect="1" noMove="1" noResize="1" noEditPoints="1" noAdjustHandles="1" noChangeArrowheads="1" noChangeShapeType="1" noTextEdit="1"/>
              </p:cNvSpPr>
              <p:nvPr/>
            </p:nvSpPr>
            <p:spPr>
              <a:xfrm>
                <a:off x="5436096" y="2204864"/>
                <a:ext cx="2132187" cy="475195"/>
              </a:xfrm>
              <a:prstGeom prst="rect">
                <a:avLst/>
              </a:prstGeom>
              <a:blipFill rotWithShape="1">
                <a:blip r:embed="rId3"/>
                <a:stretch>
                  <a:fillRect l="-2571" b="-769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5436095" y="2835094"/>
                <a:ext cx="1845955" cy="461473"/>
              </a:xfrm>
              <a:prstGeom prst="rect">
                <a:avLst/>
              </a:prstGeom>
            </p:spPr>
            <p:txBody>
              <a:bodyPr wrap="none">
                <a:spAutoFit/>
              </a:bodyPr>
              <a:lstStyle/>
              <a:p>
                <a:r>
                  <a:rPr lang="en-US" altLang="zh-TW" dirty="0" smtClean="0"/>
                  <a:t>Coefficients = </a:t>
                </a:r>
                <a14:m>
                  <m:oMath xmlns:m="http://schemas.openxmlformats.org/officeDocument/2006/math">
                    <m:f>
                      <m:fPr>
                        <m:ctrlPr>
                          <a:rPr lang="en-US" altLang="zh-TW" i="1" smtClean="0">
                            <a:latin typeface="Cambria Math"/>
                          </a:rPr>
                        </m:ctrlPr>
                      </m:fPr>
                      <m:num>
                        <m:r>
                          <a:rPr lang="en-US" altLang="zh-TW" b="0" i="1" smtClean="0">
                            <a:latin typeface="Cambria Math"/>
                          </a:rPr>
                          <m:t>𝑥</m:t>
                        </m:r>
                        <m:r>
                          <a:rPr lang="en-US" altLang="zh-TW" b="0" i="1" smtClean="0">
                            <a:latin typeface="Cambria Math"/>
                          </a:rPr>
                          <m:t>−</m:t>
                        </m:r>
                        <m:r>
                          <a:rPr lang="en-US" altLang="zh-TW" b="0" i="1" smtClean="0">
                            <a:latin typeface="Cambria Math"/>
                          </a:rPr>
                          <m:t>𝑦</m:t>
                        </m:r>
                      </m:num>
                      <m:den>
                        <m:r>
                          <a:rPr lang="en-US" altLang="zh-TW" b="0" i="1" smtClean="0">
                            <a:latin typeface="Cambria Math"/>
                          </a:rPr>
                          <m:t>2</m:t>
                        </m:r>
                      </m:den>
                    </m:f>
                  </m:oMath>
                </a14:m>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5436095" y="2835094"/>
                <a:ext cx="1845955" cy="461473"/>
              </a:xfrm>
              <a:prstGeom prst="rect">
                <a:avLst/>
              </a:prstGeom>
              <a:blipFill rotWithShape="1">
                <a:blip r:embed="rId4"/>
                <a:stretch>
                  <a:fillRect l="-2970" b="-789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645315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Fitness and selection</a:t>
            </a:r>
            <a:endParaRPr lang="zh-TW" altLang="en-US" dirty="0"/>
          </a:p>
        </p:txBody>
      </p:sp>
      <p:sp>
        <p:nvSpPr>
          <p:cNvPr id="3" name="內容版面配置區 2"/>
          <p:cNvSpPr>
            <a:spLocks noGrp="1"/>
          </p:cNvSpPr>
          <p:nvPr>
            <p:ph idx="1"/>
          </p:nvPr>
        </p:nvSpPr>
        <p:spPr/>
        <p:txBody>
          <a:bodyPr/>
          <a:lstStyle/>
          <a:p>
            <a:pPr marL="0" indent="0">
              <a:buNone/>
            </a:pP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8</a:t>
            </a:fld>
            <a:endParaRPr lang="zh-TW" alt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152" y="1876532"/>
            <a:ext cx="4911845"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5" y="3717031"/>
            <a:ext cx="7522367" cy="16561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60444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Genetic </a:t>
            </a:r>
            <a:r>
              <a:rPr lang="en-US" altLang="zh-TW" dirty="0" smtClean="0"/>
              <a:t>Operators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9</a:t>
            </a:fld>
            <a:endParaRPr lang="zh-TW" alt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700808"/>
            <a:ext cx="7134662"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06200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Genetic Operators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10</a:t>
            </a:fld>
            <a:endParaRPr lang="zh-TW" alt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412776"/>
            <a:ext cx="7708156" cy="48603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793614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Time-series Segmentation Algorithm</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11</a:t>
            </a:fld>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66" y="1556792"/>
            <a:ext cx="3928628" cy="48035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1693773"/>
            <a:ext cx="3858053" cy="4529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97756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12</a:t>
            </a:fld>
            <a:endParaRPr lang="zh-TW" altLang="en-US"/>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454" y="3656324"/>
            <a:ext cx="5966587" cy="3188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6207772" y="2051534"/>
            <a:ext cx="1584473" cy="369332"/>
          </a:xfrm>
          <a:prstGeom prst="rect">
            <a:avLst/>
          </a:prstGeom>
        </p:spPr>
        <p:txBody>
          <a:bodyPr wrap="none">
            <a:spAutoFit/>
          </a:bodyPr>
          <a:lstStyle/>
          <a:p>
            <a:r>
              <a:rPr lang="en-US" altLang="zh-TW" dirty="0" smtClean="0"/>
              <a:t>2 = Downtrend</a:t>
            </a:r>
            <a:endParaRPr lang="zh-TW" altLang="en-US" dirty="0"/>
          </a:p>
        </p:txBody>
      </p:sp>
      <p:sp>
        <p:nvSpPr>
          <p:cNvPr id="6" name="矩形 5"/>
          <p:cNvSpPr/>
          <p:nvPr/>
        </p:nvSpPr>
        <p:spPr>
          <a:xfrm>
            <a:off x="6207772" y="2562311"/>
            <a:ext cx="1769908" cy="369332"/>
          </a:xfrm>
          <a:prstGeom prst="rect">
            <a:avLst/>
          </a:prstGeom>
        </p:spPr>
        <p:txBody>
          <a:bodyPr wrap="none">
            <a:spAutoFit/>
          </a:bodyPr>
          <a:lstStyle/>
          <a:p>
            <a:r>
              <a:rPr lang="en-US" altLang="zh-TW" dirty="0" smtClean="0"/>
              <a:t>3 = Spike Bottom</a:t>
            </a:r>
            <a:endParaRPr lang="zh-TW" altLang="en-US" dirty="0"/>
          </a:p>
        </p:txBody>
      </p:sp>
      <p:sp>
        <p:nvSpPr>
          <p:cNvPr id="7" name="矩形 6"/>
          <p:cNvSpPr/>
          <p:nvPr/>
        </p:nvSpPr>
        <p:spPr>
          <a:xfrm flipH="1">
            <a:off x="6207772" y="3111484"/>
            <a:ext cx="2107930" cy="369332"/>
          </a:xfrm>
          <a:prstGeom prst="rect">
            <a:avLst/>
          </a:prstGeom>
        </p:spPr>
        <p:txBody>
          <a:bodyPr wrap="square">
            <a:spAutoFit/>
          </a:bodyPr>
          <a:lstStyle/>
          <a:p>
            <a:r>
              <a:rPr lang="en-US" altLang="zh-TW" dirty="0" smtClean="0"/>
              <a:t>4 = Rounded top</a:t>
            </a:r>
            <a:endParaRPr lang="zh-TW" altLang="en-US" dirty="0"/>
          </a:p>
        </p:txBody>
      </p:sp>
      <p:sp>
        <p:nvSpPr>
          <p:cNvPr id="8" name="矩形 7"/>
          <p:cNvSpPr/>
          <p:nvPr/>
        </p:nvSpPr>
        <p:spPr>
          <a:xfrm>
            <a:off x="6207771" y="3611999"/>
            <a:ext cx="1304331" cy="369332"/>
          </a:xfrm>
          <a:prstGeom prst="rect">
            <a:avLst/>
          </a:prstGeom>
        </p:spPr>
        <p:txBody>
          <a:bodyPr wrap="none">
            <a:spAutoFit/>
          </a:bodyPr>
          <a:lstStyle/>
          <a:p>
            <a:r>
              <a:rPr lang="en-US" altLang="zh-TW" dirty="0" smtClean="0"/>
              <a:t>5 = Uptrend</a:t>
            </a:r>
            <a:endParaRPr lang="zh-TW" altLang="en-US" dirty="0"/>
          </a:p>
        </p:txBody>
      </p:sp>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542" y="245728"/>
            <a:ext cx="5672634" cy="3690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77460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13</a:t>
            </a:fld>
            <a:endParaRPr lang="zh-TW"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580" y="266438"/>
            <a:ext cx="4865524" cy="2841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3108174"/>
            <a:ext cx="5359100" cy="3352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61915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471</TotalTime>
  <Words>475</Words>
  <Application>Microsoft Office PowerPoint</Application>
  <PresentationFormat>如螢幕大小 (4:3)</PresentationFormat>
  <Paragraphs>63</Paragraphs>
  <Slides>13</Slides>
  <Notes>0</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Cluster-based Genetic Segmentation of Time Series with DWT</vt:lpstr>
      <vt:lpstr>Abstract</vt:lpstr>
      <vt:lpstr>Abstract</vt:lpstr>
      <vt:lpstr>Chromosome Representation</vt:lpstr>
      <vt:lpstr>K - mean</vt:lpstr>
      <vt:lpstr>K - mean</vt:lpstr>
      <vt:lpstr>Discrete Wavelet Transformation</vt:lpstr>
      <vt:lpstr>Fitness and selection</vt:lpstr>
      <vt:lpstr>Genetic Operators</vt:lpstr>
      <vt:lpstr>Genetic Operators</vt:lpstr>
      <vt:lpstr>Time-series Segmentation Algorithm</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Complexity of Multiway Cuts</dc:title>
  <dc:creator>sjiujj</dc:creator>
  <cp:lastModifiedBy>sjiujj</cp:lastModifiedBy>
  <cp:revision>44</cp:revision>
  <dcterms:created xsi:type="dcterms:W3CDTF">2013-02-19T02:19:26Z</dcterms:created>
  <dcterms:modified xsi:type="dcterms:W3CDTF">2013-04-14T21:47:38Z</dcterms:modified>
</cp:coreProperties>
</file>