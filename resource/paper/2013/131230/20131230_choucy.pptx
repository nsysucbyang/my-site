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11" autoAdjust="0"/>
    <p:restoredTop sz="94660"/>
  </p:normalViewPr>
  <p:slideViewPr>
    <p:cSldViewPr>
      <p:cViewPr>
        <p:scale>
          <a:sx n="81" d="100"/>
          <a:sy n="81" d="100"/>
        </p:scale>
        <p:origin x="-1098" y="49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2013/12/30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2013/12/30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2013/12/30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2013/12/30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2013/12/30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2013/12/30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2013/12/30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2013/12/30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2013/12/30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2013/12/30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2013/12/30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t>2013/12/30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Longest Common </a:t>
            </a:r>
            <a:r>
              <a:rPr lang="en-US" altLang="zh-TW" dirty="0"/>
              <a:t>S</a:t>
            </a:r>
            <a:r>
              <a:rPr lang="en-US" altLang="zh-TW" dirty="0" smtClean="0"/>
              <a:t>ubsequences of Two </a:t>
            </a:r>
            <a:r>
              <a:rPr lang="en-US" altLang="zh-TW" dirty="0"/>
              <a:t>R</a:t>
            </a:r>
            <a:r>
              <a:rPr lang="en-US" altLang="zh-TW" dirty="0" smtClean="0"/>
              <a:t>andom Sequences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pPr algn="l"/>
            <a:endParaRPr lang="zh-TW" altLang="en-US" dirty="0"/>
          </a:p>
          <a:p>
            <a:pPr algn="l"/>
            <a:r>
              <a:rPr lang="en-US" altLang="zh-TW" dirty="0" smtClean="0"/>
              <a:t>Author(s</a:t>
            </a:r>
            <a:r>
              <a:rPr lang="en-US" altLang="zh-TW" dirty="0"/>
              <a:t>): </a:t>
            </a:r>
            <a:r>
              <a:rPr lang="en-US" altLang="zh-TW" dirty="0" err="1"/>
              <a:t>Vacláv</a:t>
            </a:r>
            <a:r>
              <a:rPr lang="en-US" altLang="zh-TW" dirty="0"/>
              <a:t> </a:t>
            </a:r>
            <a:r>
              <a:rPr lang="en-US" altLang="zh-TW" dirty="0" err="1"/>
              <a:t>Chvátal</a:t>
            </a:r>
            <a:r>
              <a:rPr lang="en-US" altLang="zh-TW" dirty="0"/>
              <a:t> and </a:t>
            </a:r>
            <a:r>
              <a:rPr lang="en-US" altLang="zh-TW" dirty="0" smtClean="0"/>
              <a:t>David </a:t>
            </a:r>
            <a:r>
              <a:rPr lang="en-US" altLang="zh-TW" dirty="0" err="1" smtClean="0"/>
              <a:t>Sankoff</a:t>
            </a:r>
            <a:r>
              <a:rPr lang="en-US" altLang="zh-TW" dirty="0" smtClean="0"/>
              <a:t> Source</a:t>
            </a:r>
            <a:r>
              <a:rPr lang="en-US" altLang="zh-TW" dirty="0"/>
              <a:t>: Journal of Applied Probability, Vol. 12, No. 2 (Jun., 1975), pp. 306-315</a:t>
            </a:r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7078260" y="6019547"/>
            <a:ext cx="18582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Date:</a:t>
            </a:r>
            <a:r>
              <a:rPr lang="zh-TW" altLang="en-US" dirty="0" smtClean="0"/>
              <a:t> </a:t>
            </a:r>
            <a:r>
              <a:rPr lang="en-US" altLang="zh-TW" dirty="0" smtClean="0"/>
              <a:t>2013/12/30</a:t>
            </a:r>
            <a:endParaRPr lang="en-US" altLang="zh-TW" dirty="0" smtClean="0"/>
          </a:p>
          <a:p>
            <a:r>
              <a:rPr lang="en-US" altLang="zh-TW" dirty="0" smtClean="0"/>
              <a:t>Presenter:</a:t>
            </a:r>
            <a:r>
              <a:rPr lang="zh-TW" altLang="en-US" dirty="0" smtClean="0"/>
              <a:t> 周展億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03433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Abstract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矩形 2"/>
              <p:cNvSpPr/>
              <p:nvPr/>
            </p:nvSpPr>
            <p:spPr>
              <a:xfrm>
                <a:off x="935596" y="1620083"/>
                <a:ext cx="7272808" cy="397031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TW" sz="2800" dirty="0" smtClean="0"/>
                  <a:t>Given two random k-</a:t>
                </a:r>
                <a:r>
                  <a:rPr lang="en-US" altLang="zh-TW" sz="2800" dirty="0" err="1" smtClean="0"/>
                  <a:t>arys</a:t>
                </a:r>
                <a:r>
                  <a:rPr lang="en-US" altLang="zh-TW" sz="2800" dirty="0" smtClean="0"/>
                  <a:t> sequences of length n, what is f(n, k</a:t>
                </a:r>
                <a:r>
                  <a:rPr lang="en-US" altLang="zh-TW" sz="2800" dirty="0"/>
                  <a:t>), </a:t>
                </a:r>
                <a:r>
                  <a:rPr lang="en-US" altLang="zh-TW" sz="2800" dirty="0" smtClean="0"/>
                  <a:t> the expected length of their longest common subsequence? This problem arises in the study of molecular evolution. We calculate f(n, k</a:t>
                </a:r>
                <a:r>
                  <a:rPr lang="en-US" altLang="zh-TW" sz="2800" dirty="0"/>
                  <a:t>) for all k, </a:t>
                </a:r>
                <a:r>
                  <a:rPr lang="en-US" altLang="zh-TW" sz="2800" dirty="0" smtClean="0"/>
                  <a:t>where n ≤ </a:t>
                </a:r>
                <a:r>
                  <a:rPr lang="en-US" altLang="zh-TW" sz="2800" dirty="0"/>
                  <a:t>5, </a:t>
                </a:r>
                <a:r>
                  <a:rPr lang="en-US" altLang="zh-TW" sz="2800" dirty="0" smtClean="0"/>
                  <a:t>and f(n, 2) where n </a:t>
                </a:r>
                <a:r>
                  <a:rPr lang="en-US" altLang="zh-TW" sz="2800" dirty="0"/>
                  <a:t>≤</a:t>
                </a:r>
                <a:r>
                  <a:rPr lang="en-US" altLang="zh-TW" sz="2800" dirty="0" smtClean="0"/>
                  <a:t> </a:t>
                </a:r>
                <a:r>
                  <a:rPr lang="en-US" altLang="zh-TW" sz="2800" dirty="0"/>
                  <a:t>10</a:t>
                </a:r>
                <a:r>
                  <a:rPr lang="en-US" altLang="zh-TW" sz="2800" dirty="0" smtClean="0"/>
                  <a:t>. We study the limiting behavior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800" i="1" dirty="0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altLang="zh-TW" sz="2800" b="0" i="1" dirty="0" smtClean="0">
                            <a:latin typeface="Cambria Math"/>
                          </a:rPr>
                          <m:t>𝑛</m:t>
                        </m:r>
                      </m:e>
                      <m:sup>
                        <m:r>
                          <a:rPr lang="en-US" altLang="zh-TW" sz="2800" b="0" i="1" dirty="0" smtClean="0">
                            <a:latin typeface="Cambria Math"/>
                          </a:rPr>
                          <m:t>−1</m:t>
                        </m:r>
                      </m:sup>
                    </m:sSup>
                    <m:r>
                      <a:rPr lang="en-US" altLang="zh-TW" sz="2800" i="1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altLang="zh-TW" sz="2800" dirty="0" smtClean="0"/>
                  <a:t>(n, k) </a:t>
                </a:r>
                <a:r>
                  <a:rPr lang="en-US" altLang="zh-TW" sz="2800" dirty="0" smtClean="0"/>
                  <a:t>for </a:t>
                </a:r>
                <a:r>
                  <a:rPr lang="en-US" altLang="zh-TW" sz="2800" dirty="0"/>
                  <a:t>all k. Finally we estimate by </a:t>
                </a:r>
                <a:r>
                  <a:rPr lang="en-US" altLang="zh-TW" sz="2800" dirty="0" smtClean="0"/>
                  <a:t>Monte-Carlo methods f(100, k), f(1000, 2) and f(5000, 2</a:t>
                </a:r>
                <a:r>
                  <a:rPr lang="en-US" altLang="zh-TW" sz="2800" dirty="0"/>
                  <a:t>).</a:t>
                </a:r>
                <a:endParaRPr lang="zh-TW" altLang="en-US" sz="2800" dirty="0"/>
              </a:p>
            </p:txBody>
          </p:sp>
        </mc:Choice>
        <mc:Fallback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596" y="1620083"/>
                <a:ext cx="7272808" cy="3970318"/>
              </a:xfrm>
              <a:prstGeom prst="rect">
                <a:avLst/>
              </a:prstGeom>
              <a:blipFill rotWithShape="1">
                <a:blip r:embed="rId2"/>
                <a:stretch>
                  <a:fillRect l="-1675" t="-1536" r="-1508" b="-337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97643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Introduction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altLang="zh-TW" dirty="0" smtClean="0"/>
                  <a:t>a =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altLang="zh-TW" b="0" i="1" smtClean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altLang="zh-TW" b="0" i="1" smtClean="0">
                        <a:latin typeface="Cambria Math"/>
                      </a:rPr>
                      <m:t>,…,</m:t>
                    </m:r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TW" dirty="0" smtClean="0"/>
                  <a:t>), b =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altLang="zh-TW" b="0" i="1" smtClean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altLang="zh-TW" b="0" i="1" smtClean="0">
                        <a:latin typeface="Cambria Math"/>
                      </a:rPr>
                      <m:t>,…,</m:t>
                    </m:r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TW" dirty="0" smtClean="0"/>
                  <a:t>)</a:t>
                </a:r>
                <a:r>
                  <a:rPr lang="zh-TW" altLang="en-US" dirty="0" smtClean="0"/>
                  <a:t> 為兩個</a:t>
                </a:r>
                <a:r>
                  <a:rPr lang="zh-TW" altLang="en-US" dirty="0"/>
                  <a:t>長度為</a:t>
                </a:r>
                <a:r>
                  <a:rPr lang="en-US" altLang="zh-TW" dirty="0"/>
                  <a:t>n</a:t>
                </a:r>
                <a:r>
                  <a:rPr lang="zh-TW" altLang="en-US" dirty="0"/>
                  <a:t>的</a:t>
                </a:r>
                <a:r>
                  <a:rPr lang="zh-TW" altLang="en-US" dirty="0" smtClean="0"/>
                  <a:t>序列</a:t>
                </a:r>
                <a:endParaRPr lang="en-US" altLang="zh-TW" dirty="0" smtClean="0"/>
              </a:p>
              <a:p>
                <a:r>
                  <a:rPr lang="en-US" altLang="zh-TW" dirty="0" smtClean="0"/>
                  <a:t>(a, b)-match</a:t>
                </a:r>
                <a:r>
                  <a:rPr lang="zh-TW" altLang="en-US" dirty="0" smtClean="0"/>
                  <a:t>為一共同子序列，記為集合</a:t>
                </a:r>
                <a:r>
                  <a:rPr lang="en-US" altLang="zh-TW" dirty="0" smtClean="0"/>
                  <a:t>M</a:t>
                </a:r>
                <a:r>
                  <a:rPr lang="zh-TW" altLang="en-US" dirty="0" smtClean="0"/>
                  <a:t>，</a:t>
                </a:r>
                <a:r>
                  <a:rPr lang="en-US" altLang="zh-TW" dirty="0" smtClean="0"/>
                  <a:t>M = {(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𝑖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𝑘</m:t>
                        </m:r>
                      </m:sub>
                    </m:sSub>
                    <m:r>
                      <a:rPr lang="en-US" altLang="zh-TW" b="0" i="1" smtClean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𝑗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TW" dirty="0" smtClean="0"/>
                  <a:t>): 1≤ k ≤ m}, 1 ≤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𝑖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dirty="0" smtClean="0"/>
                  <a:t> 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𝑖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dirty="0" smtClean="0"/>
                  <a:t> &lt; … 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𝑖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altLang="zh-TW" dirty="0" smtClean="0"/>
                  <a:t> ≤ n, 1≤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𝑗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dirty="0" smtClean="0"/>
                  <a:t> 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𝑗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dirty="0" smtClean="0"/>
                  <a:t> &lt; … 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𝑗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altLang="zh-TW" dirty="0" smtClean="0"/>
                  <a:t> ≤ n</a:t>
                </a:r>
                <a:r>
                  <a:rPr lang="zh-TW" altLang="en-US" dirty="0" smtClean="0"/>
                  <a:t> 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for each (</a:t>
                </a:r>
                <a:r>
                  <a:rPr lang="en-US" altLang="zh-TW" dirty="0" err="1" smtClean="0"/>
                  <a:t>i</a:t>
                </a:r>
                <a:r>
                  <a:rPr lang="en-US" altLang="zh-TW" dirty="0" smtClean="0"/>
                  <a:t>, j) </a:t>
                </a:r>
                <a14:m>
                  <m:oMath xmlns:m="http://schemas.openxmlformats.org/officeDocument/2006/math">
                    <m:r>
                      <a:rPr lang="en-US" altLang="zh-TW" i="1" smtClean="0">
                        <a:latin typeface="Cambria Math"/>
                        <a:ea typeface="Cambria Math"/>
                      </a:rPr>
                      <m:t>∈</m:t>
                    </m:r>
                  </m:oMath>
                </a14:m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M</a:t>
                </a:r>
              </a:p>
              <a:p>
                <a:r>
                  <a:rPr lang="zh-TW" altLang="en-US" dirty="0" smtClean="0"/>
                  <a:t>最長子序列為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dirty="0" smtClean="0">
                        <a:latin typeface="Cambria Math"/>
                      </a:rPr>
                      <m:t>v</m:t>
                    </m:r>
                    <m:d>
                      <m:dPr>
                        <m:ctrlPr>
                          <a:rPr lang="en-US" altLang="zh-TW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𝑎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,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𝑏</m:t>
                        </m:r>
                      </m:e>
                    </m:d>
                  </m:oMath>
                </a14:m>
                <a:endParaRPr lang="en-US" altLang="zh-TW" dirty="0" smtClean="0"/>
              </a:p>
              <a:p>
                <a:r>
                  <a:rPr lang="en-US" altLang="zh-TW" dirty="0" smtClean="0"/>
                  <a:t>k</a:t>
                </a:r>
                <a:r>
                  <a:rPr lang="zh-TW" altLang="en-US" dirty="0" smtClean="0"/>
                  <a:t>為序列元素集合</a:t>
                </a:r>
                <a:r>
                  <a:rPr lang="en-US" altLang="zh-TW" dirty="0" smtClean="0"/>
                  <a:t>{1, 2, …, k}</a:t>
                </a:r>
              </a:p>
              <a:p>
                <a:r>
                  <a:rPr lang="en-US" altLang="zh-TW" dirty="0" smtClean="0"/>
                  <a:t>f(n, k)</a:t>
                </a:r>
                <a:r>
                  <a:rPr lang="zh-TW" altLang="en-US" dirty="0" smtClean="0"/>
                  <a:t>為最大共同子序列平均長度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2965" r="-1185" b="-31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02439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altLang="zh-TW" dirty="0" smtClean="0"/>
              <a:t>Exact formulae for f(n, k) with small n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363272" cy="4525963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zh-TW" altLang="en-US" dirty="0" smtClean="0"/>
                  <a:t>將序列</a:t>
                </a:r>
                <a:r>
                  <a:rPr lang="en-US" altLang="zh-TW" dirty="0" smtClean="0"/>
                  <a:t>a</a:t>
                </a:r>
                <a:r>
                  <a:rPr lang="zh-TW" altLang="en-US" dirty="0" smtClean="0"/>
                  <a:t>與</a:t>
                </a:r>
                <a:r>
                  <a:rPr lang="en-US" altLang="zh-TW" dirty="0" smtClean="0"/>
                  <a:t>b</a:t>
                </a:r>
                <a:r>
                  <a:rPr lang="zh-TW" altLang="en-US" dirty="0" smtClean="0"/>
                  <a:t>接在一起，令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TW" altLang="en-US" dirty="0" smtClean="0"/>
                  <a:t>固定為</a:t>
                </a:r>
                <a:r>
                  <a:rPr lang="en-US" altLang="zh-TW" dirty="0" smtClean="0"/>
                  <a:t>1</a:t>
                </a:r>
                <a:r>
                  <a:rPr lang="zh-TW" altLang="en-US" dirty="0" smtClean="0"/>
                  <a:t>，則產生出的</a:t>
                </a:r>
                <a:r>
                  <a:rPr lang="en-US" altLang="zh-TW" dirty="0" smtClean="0"/>
                  <a:t>pair (a, b)</a:t>
                </a:r>
                <a:r>
                  <a:rPr lang="zh-TW" altLang="en-US" dirty="0" smtClean="0"/>
                  <a:t>稱為</a:t>
                </a:r>
                <a:r>
                  <a:rPr lang="en-US" altLang="zh-TW" dirty="0" smtClean="0"/>
                  <a:t>normal</a:t>
                </a:r>
                <a:r>
                  <a:rPr lang="zh-TW" altLang="en-US" dirty="0" smtClean="0"/>
                  <a:t>。</a:t>
                </a:r>
                <a:endParaRPr lang="en-US" altLang="zh-TW" dirty="0" smtClean="0"/>
              </a:p>
              <a:p>
                <a:r>
                  <a:rPr lang="en-US" altLang="zh-TW" dirty="0" smtClean="0"/>
                  <a:t>Ex: n = 2, k = 2,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normal</a:t>
                </a:r>
                <a:r>
                  <a:rPr lang="zh-TW" altLang="en-US" dirty="0" smtClean="0"/>
                  <a:t>為：</a:t>
                </a:r>
                <a:r>
                  <a:rPr lang="en-US" altLang="zh-TW" dirty="0" smtClean="0"/>
                  <a:t/>
                </a:r>
                <a:br>
                  <a:rPr lang="en-US" altLang="zh-TW" dirty="0" smtClean="0"/>
                </a:br>
                <a:r>
                  <a:rPr lang="en-US" altLang="zh-TW" dirty="0" smtClean="0"/>
                  <a:t>(11, 11)(12, 11)</a:t>
                </a:r>
                <a:br>
                  <a:rPr lang="en-US" altLang="zh-TW" dirty="0" smtClean="0"/>
                </a:br>
                <a:r>
                  <a:rPr lang="en-US" altLang="zh-TW" dirty="0" smtClean="0"/>
                  <a:t>(11, 12)(12, 12)</a:t>
                </a:r>
                <a:br>
                  <a:rPr lang="en-US" altLang="zh-TW" dirty="0" smtClean="0"/>
                </a:br>
                <a:r>
                  <a:rPr lang="en-US" altLang="zh-TW" dirty="0" smtClean="0"/>
                  <a:t>(11, 21)(12, 21)</a:t>
                </a:r>
                <a:br>
                  <a:rPr lang="en-US" altLang="zh-TW" dirty="0" smtClean="0"/>
                </a:br>
                <a:r>
                  <a:rPr lang="en-US" altLang="zh-TW" dirty="0" smtClean="0"/>
                  <a:t>(11, 22)(12, 22)</a:t>
                </a:r>
              </a:p>
              <a:p>
                <a:r>
                  <a:rPr lang="en-US" altLang="zh-TW" dirty="0" smtClean="0"/>
                  <a:t>N(n, v, t)</a:t>
                </a:r>
                <a:r>
                  <a:rPr lang="zh-TW" altLang="en-US" dirty="0" smtClean="0"/>
                  <a:t>為長度</a:t>
                </a:r>
                <a:r>
                  <a:rPr lang="en-US" altLang="zh-TW" dirty="0" smtClean="0"/>
                  <a:t>n</a:t>
                </a:r>
                <a:r>
                  <a:rPr lang="zh-TW" altLang="en-US" dirty="0" smtClean="0"/>
                  <a:t>，</a:t>
                </a:r>
                <a:r>
                  <a:rPr lang="en-US" altLang="zh-TW" dirty="0" smtClean="0"/>
                  <a:t>LCS</a:t>
                </a:r>
                <a:r>
                  <a:rPr lang="zh-TW" altLang="en-US" dirty="0" smtClean="0"/>
                  <a:t>大小為</a:t>
                </a:r>
                <a:r>
                  <a:rPr lang="en-US" altLang="zh-TW" dirty="0" smtClean="0"/>
                  <a:t>v</a:t>
                </a:r>
                <a:r>
                  <a:rPr lang="zh-TW" altLang="en-US" dirty="0" smtClean="0"/>
                  <a:t>，</a:t>
                </a:r>
                <a:r>
                  <a:rPr lang="en-US" altLang="zh-TW" dirty="0" smtClean="0"/>
                  <a:t>t = max{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dirty="0" smtClean="0"/>
                  <a:t>,</a:t>
                </a:r>
                <a:r>
                  <a:rPr lang="en-US" altLang="zh-TW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dirty="0" smtClean="0"/>
                  <a:t>,…,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2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TW" dirty="0" smtClean="0"/>
                  <a:t>}</a:t>
                </a: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363272" cy="4525963"/>
              </a:xfrm>
              <a:blipFill rotWithShape="1">
                <a:blip r:embed="rId2"/>
                <a:stretch>
                  <a:fillRect l="-1603" t="-2965" r="-153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99716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altLang="zh-TW" dirty="0" smtClean="0"/>
              <a:t>Exact formulae for f(n, k) with small n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287"/>
          <a:stretch/>
        </p:blipFill>
        <p:spPr>
          <a:xfrm>
            <a:off x="457200" y="980728"/>
            <a:ext cx="8229600" cy="2896277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611560" y="3789040"/>
                <a:ext cx="6624736" cy="304698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TW" sz="2400" dirty="0" smtClean="0"/>
                  <a:t>Ex: n = 2, k = 2</a:t>
                </a:r>
                <a:br>
                  <a:rPr lang="en-US" altLang="zh-TW" sz="2400" dirty="0" smtClean="0"/>
                </a:br>
                <a:r>
                  <a:rPr lang="en-US" altLang="zh-TW" sz="2400" dirty="0" smtClean="0"/>
                  <a:t>(</a:t>
                </a:r>
                <a:r>
                  <a:rPr lang="en-US" altLang="zh-TW" sz="2400" dirty="0"/>
                  <a:t>11, </a:t>
                </a:r>
                <a:r>
                  <a:rPr lang="en-US" altLang="zh-TW" sz="2400" dirty="0" smtClean="0"/>
                  <a:t>11) v = 2	(12</a:t>
                </a:r>
                <a:r>
                  <a:rPr lang="en-US" altLang="zh-TW" sz="2400" dirty="0"/>
                  <a:t>, 11</a:t>
                </a:r>
                <a:r>
                  <a:rPr lang="en-US" altLang="zh-TW" sz="2400" dirty="0" smtClean="0"/>
                  <a:t>) v = 1</a:t>
                </a:r>
                <a:r>
                  <a:rPr lang="en-US" altLang="zh-TW" sz="2400" dirty="0"/>
                  <a:t/>
                </a:r>
                <a:br>
                  <a:rPr lang="en-US" altLang="zh-TW" sz="2400" dirty="0"/>
                </a:br>
                <a:r>
                  <a:rPr lang="en-US" altLang="zh-TW" sz="2400" dirty="0"/>
                  <a:t>(11, 12</a:t>
                </a:r>
                <a:r>
                  <a:rPr lang="en-US" altLang="zh-TW" sz="2400" dirty="0" smtClean="0"/>
                  <a:t>) v = 1	(12</a:t>
                </a:r>
                <a:r>
                  <a:rPr lang="en-US" altLang="zh-TW" sz="2400" dirty="0"/>
                  <a:t>, 12</a:t>
                </a:r>
                <a:r>
                  <a:rPr lang="en-US" altLang="zh-TW" sz="2400" dirty="0" smtClean="0"/>
                  <a:t>) v = 2</a:t>
                </a:r>
                <a:r>
                  <a:rPr lang="en-US" altLang="zh-TW" sz="2400" dirty="0"/>
                  <a:t/>
                </a:r>
                <a:br>
                  <a:rPr lang="en-US" altLang="zh-TW" sz="2400" dirty="0"/>
                </a:br>
                <a:r>
                  <a:rPr lang="en-US" altLang="zh-TW" sz="2400" dirty="0"/>
                  <a:t>(11, 21</a:t>
                </a:r>
                <a:r>
                  <a:rPr lang="en-US" altLang="zh-TW" sz="2400" dirty="0" smtClean="0"/>
                  <a:t>) v = 1	(12</a:t>
                </a:r>
                <a:r>
                  <a:rPr lang="en-US" altLang="zh-TW" sz="2400" dirty="0"/>
                  <a:t>, 21</a:t>
                </a:r>
                <a:r>
                  <a:rPr lang="en-US" altLang="zh-TW" sz="2400" dirty="0" smtClean="0"/>
                  <a:t>) v = 0</a:t>
                </a:r>
                <a:r>
                  <a:rPr lang="en-US" altLang="zh-TW" sz="2400" dirty="0"/>
                  <a:t/>
                </a:r>
                <a:br>
                  <a:rPr lang="en-US" altLang="zh-TW" sz="2400" dirty="0"/>
                </a:br>
                <a:r>
                  <a:rPr lang="en-US" altLang="zh-TW" sz="2400" dirty="0"/>
                  <a:t>(11, </a:t>
                </a:r>
                <a:r>
                  <a:rPr lang="en-US" altLang="zh-TW" sz="2400" dirty="0" smtClean="0"/>
                  <a:t>22) v = 0	(12</a:t>
                </a:r>
                <a:r>
                  <a:rPr lang="en-US" altLang="zh-TW" sz="2400" dirty="0"/>
                  <a:t>, 22</a:t>
                </a:r>
                <a:r>
                  <a:rPr lang="en-US" altLang="zh-TW" sz="2400" dirty="0" smtClean="0"/>
                  <a:t>) v = 1</a:t>
                </a:r>
                <a:br>
                  <a:rPr lang="en-US" altLang="zh-TW" sz="2400" dirty="0" smtClean="0"/>
                </a:br>
                <a:r>
                  <a:rPr lang="en-US" altLang="zh-TW" sz="2400" dirty="0" smtClean="0"/>
                  <a:t>v</a:t>
                </a:r>
                <a:r>
                  <a:rPr lang="zh-TW" altLang="en-US" sz="2400" dirty="0" smtClean="0"/>
                  <a:t>總和為</a:t>
                </a:r>
                <a:r>
                  <a:rPr lang="en-US" altLang="zh-TW" sz="2400" dirty="0" smtClean="0"/>
                  <a:t>9</a:t>
                </a:r>
                <a:r>
                  <a:rPr lang="en-US" altLang="zh-TW" sz="2400" dirty="0"/>
                  <a:t/>
                </a:r>
                <a:br>
                  <a:rPr lang="en-US" altLang="zh-TW" sz="2400" dirty="0"/>
                </a:br>
                <a:r>
                  <a:rPr lang="en-US" altLang="zh-TW" sz="2400" dirty="0" smtClean="0"/>
                  <a:t>v * k = 9 * 2 = 18</a:t>
                </a:r>
              </a:p>
              <a:p>
                <a:r>
                  <a:rPr lang="en-US" altLang="zh-TW" sz="2400" dirty="0" smtClean="0"/>
                  <a:t>f(n, k) = 18 /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altLang="zh-TW" sz="2400" b="0" i="1" smtClean="0">
                            <a:latin typeface="Cambria Math"/>
                          </a:rPr>
                          <m:t>𝑘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/>
                          </a:rPr>
                          <m:t>2</m:t>
                        </m:r>
                        <m:r>
                          <a:rPr lang="en-US" altLang="zh-TW" sz="2400" b="0" i="1" smtClean="0">
                            <a:latin typeface="Cambria Math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zh-TW" sz="2400" dirty="0" smtClean="0"/>
                  <a:t> = 18 / 16 = 1.125000</a:t>
                </a:r>
                <a:endParaRPr lang="en-US" altLang="zh-TW" sz="2400" dirty="0"/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3789040"/>
                <a:ext cx="6624736" cy="3046988"/>
              </a:xfrm>
              <a:prstGeom prst="rect">
                <a:avLst/>
              </a:prstGeom>
              <a:blipFill rotWithShape="1">
                <a:blip r:embed="rId3"/>
                <a:stretch>
                  <a:fillRect l="-1380" t="-1603" b="-380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0776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altLang="zh-TW" dirty="0" smtClean="0"/>
              <a:t>Exact formulae for f(n, k) with small n</a:t>
            </a:r>
            <a:endParaRPr lang="zh-TW" altLang="en-US" dirty="0"/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027621"/>
            <a:ext cx="8229600" cy="3671121"/>
          </a:xfrm>
        </p:spPr>
      </p:pic>
    </p:spTree>
    <p:extLst>
      <p:ext uri="{BB962C8B-B14F-4D97-AF65-F5344CB8AC3E}">
        <p14:creationId xmlns:p14="http://schemas.microsoft.com/office/powerpoint/2010/main" val="3751224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96" y="0"/>
            <a:ext cx="6724997" cy="6858000"/>
          </a:xfrm>
          <a:prstGeom prst="rect">
            <a:avLst/>
          </a:prstGeom>
        </p:spPr>
      </p:pic>
      <p:pic>
        <p:nvPicPr>
          <p:cNvPr id="3" name="圖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6955" y="2218885"/>
            <a:ext cx="2577045" cy="4090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796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Limiting behavior of f(n, k)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𝑐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=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TW" i="1" dirty="0" smtClean="0">
                            <a:latin typeface="Cambria Math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TW" i="1" dirty="0">
                                <a:latin typeface="Cambria Math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TW" dirty="0">
                                <a:latin typeface="Cambria Math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zh-TW" i="1" dirty="0">
                                <a:latin typeface="Cambria Math"/>
                              </a:rPr>
                              <m:t>𝑛</m:t>
                            </m:r>
                            <m:r>
                              <a:rPr lang="en-US" altLang="zh-TW" i="1" dirty="0">
                                <a:latin typeface="Cambria Math"/>
                                <a:ea typeface="Cambria Math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sSup>
                          <m:sSupPr>
                            <m:ctrlPr>
                              <a:rPr lang="en-US" altLang="zh-TW" i="1" dirty="0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altLang="zh-TW" b="0" i="1" dirty="0" smtClean="0">
                                <a:latin typeface="Cambria Math"/>
                              </a:rPr>
                              <m:t>𝑛</m:t>
                            </m:r>
                          </m:e>
                          <m:sup>
                            <m:r>
                              <a:rPr lang="en-US" altLang="zh-TW" b="0" i="1" dirty="0" smtClean="0">
                                <a:latin typeface="Cambria Math"/>
                              </a:rPr>
                              <m:t>−1</m:t>
                            </m:r>
                          </m:sup>
                        </m:sSup>
                      </m:e>
                    </m:func>
                  </m:oMath>
                </a14:m>
                <a:r>
                  <a:rPr lang="en-US" altLang="zh-TW" dirty="0" smtClean="0"/>
                  <a:t>f(n, k)</a:t>
                </a:r>
              </a:p>
              <a:p>
                <a:r>
                  <a:rPr lang="en-US" altLang="zh-TW" dirty="0"/>
                  <a:t>I</a:t>
                </a:r>
                <a:r>
                  <a:rPr lang="en-US" altLang="zh-TW" dirty="0" smtClean="0"/>
                  <a:t>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𝑐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dirty="0" smtClean="0"/>
                  <a:t> = 1 ?</a:t>
                </a:r>
              </a:p>
              <a:p>
                <a14:m>
                  <m:oMath xmlns:m="http://schemas.openxmlformats.org/officeDocument/2006/math">
                    <m:limLow>
                      <m:limLowPr>
                        <m:ctrlPr>
                          <a:rPr lang="en-US" altLang="zh-TW" i="1" dirty="0">
                            <a:latin typeface="Cambria Math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altLang="zh-TW" dirty="0">
                            <a:latin typeface="Cambria Math"/>
                          </a:rPr>
                          <m:t>lim</m:t>
                        </m:r>
                      </m:e>
                      <m:lim>
                        <m:r>
                          <a:rPr lang="en-US" altLang="zh-TW" b="0" i="1" dirty="0" smtClean="0">
                            <a:latin typeface="Cambria Math"/>
                          </a:rPr>
                          <m:t>𝑘</m:t>
                        </m:r>
                        <m:r>
                          <a:rPr lang="en-US" altLang="zh-TW" i="1" dirty="0">
                            <a:latin typeface="Cambria Math"/>
                            <a:ea typeface="Cambria Math"/>
                          </a:rPr>
                          <m:t>→∞</m:t>
                        </m:r>
                      </m:lim>
                    </m:limLow>
                  </m:oMath>
                </a14:m>
                <a:r>
                  <a:rPr lang="en-US" altLang="zh-TW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𝑐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= 0</a:t>
                </a:r>
                <a:endParaRPr lang="zh-TW" altLang="en-US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75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440540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標題 1"/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 fontScale="90000"/>
              </a:bodyPr>
              <a:lstStyle/>
              <a:p>
                <a:r>
                  <a:rPr lang="en-US" altLang="zh-TW" dirty="0"/>
                  <a:t>Monte-Carlo estimates for f (100, k)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𝑐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𝑘</m:t>
                        </m:r>
                      </m:sub>
                    </m:sSub>
                  </m:oMath>
                </a14:m>
                <a:endParaRPr lang="zh-TW" altLang="en-US" dirty="0"/>
              </a:p>
            </p:txBody>
          </p:sp>
        </mc:Choice>
        <mc:Fallback>
          <p:sp>
            <p:nvSpPr>
              <p:cNvPr id="2" name="標題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 t="-17021" r="-296" b="-2978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D:\Rika\Desktop\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595445"/>
            <a:ext cx="3888432" cy="52175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矩形 3"/>
              <p:cNvSpPr/>
              <p:nvPr/>
            </p:nvSpPr>
            <p:spPr>
              <a:xfrm>
                <a:off x="3955105" y="1656152"/>
                <a:ext cx="5081391" cy="47788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/>
                          </a:rPr>
                          <m:t>𝑚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/>
                          </a:rPr>
                          <m:t>𝑘</m:t>
                        </m:r>
                        <m:r>
                          <a:rPr lang="en-US" altLang="zh-TW" sz="2400" b="0" i="1" smtClean="0">
                            <a:latin typeface="Cambria Math"/>
                          </a:rPr>
                          <m:t>,</m:t>
                        </m:r>
                        <m:r>
                          <a:rPr lang="en-US" altLang="zh-TW" sz="2400" b="0" i="1" smtClean="0">
                            <a:latin typeface="Cambria Math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TW" sz="2400" dirty="0" smtClean="0"/>
                  <a:t> is </a:t>
                </a:r>
                <a:r>
                  <a:rPr lang="en-US" altLang="zh-TW" sz="2400" dirty="0"/>
                  <a:t>the average value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altLang="zh-TW" sz="2400" b="0" i="1" smtClean="0">
                            <a:latin typeface="Cambria Math"/>
                          </a:rPr>
                          <m:t>𝑛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altLang="zh-TW" sz="2400" dirty="0" smtClean="0"/>
                  <a:t>v(a</a:t>
                </a:r>
                <a:r>
                  <a:rPr lang="en-US" altLang="zh-TW" sz="2400" dirty="0"/>
                  <a:t>, b) </a:t>
                </a:r>
                <a:endParaRPr lang="zh-TW" altLang="en-US" sz="2400" dirty="0"/>
              </a:p>
            </p:txBody>
          </p:sp>
        </mc:Choice>
        <mc:Fallback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105" y="1656152"/>
                <a:ext cx="5081391" cy="477888"/>
              </a:xfrm>
              <a:prstGeom prst="rect">
                <a:avLst/>
              </a:prstGeom>
              <a:blipFill rotWithShape="1">
                <a:blip r:embed="rId4"/>
                <a:stretch>
                  <a:fillRect t="-10256" r="-840" b="-2564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9" name="Picture 5" descr="D:\Rika\Desktop\3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5660" y="2134039"/>
            <a:ext cx="5088826" cy="9349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D:\Rika\Desktop\2.PNG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63" r="1695"/>
          <a:stretch/>
        </p:blipFill>
        <p:spPr bwMode="auto">
          <a:xfrm>
            <a:off x="3707903" y="3491698"/>
            <a:ext cx="5322717" cy="2241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/>
          <p:cNvSpPr/>
          <p:nvPr/>
        </p:nvSpPr>
        <p:spPr>
          <a:xfrm>
            <a:off x="3995936" y="5647185"/>
            <a:ext cx="496855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400" dirty="0"/>
              <a:t>On the basis of these simulations, it seems fair to conjecture that c2 &gt; 4/5 </a:t>
            </a:r>
            <a:endParaRPr lang="zh-TW" altLang="en-US" sz="2400" dirty="0"/>
          </a:p>
        </p:txBody>
      </p:sp>
      <p:sp>
        <p:nvSpPr>
          <p:cNvPr id="6" name="文字方塊 5"/>
          <p:cNvSpPr txBox="1"/>
          <p:nvPr/>
        </p:nvSpPr>
        <p:spPr>
          <a:xfrm>
            <a:off x="4045660" y="3068960"/>
            <a:ext cx="660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k = 2</a:t>
            </a:r>
          </a:p>
        </p:txBody>
      </p:sp>
    </p:spTree>
    <p:extLst>
      <p:ext uri="{BB962C8B-B14F-4D97-AF65-F5344CB8AC3E}">
        <p14:creationId xmlns:p14="http://schemas.microsoft.com/office/powerpoint/2010/main" val="21311672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訂 1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</TotalTime>
  <Words>508</Words>
  <Application>Microsoft Office PowerPoint</Application>
  <PresentationFormat>如螢幕大小 (4:3)</PresentationFormat>
  <Paragraphs>29</Paragraphs>
  <Slides>9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0" baseType="lpstr">
      <vt:lpstr>Office 佈景主題</vt:lpstr>
      <vt:lpstr>Longest Common Subsequences of Two Random Sequences</vt:lpstr>
      <vt:lpstr>Abstract</vt:lpstr>
      <vt:lpstr>Introduction</vt:lpstr>
      <vt:lpstr>Exact formulae for f(n, k) with small n</vt:lpstr>
      <vt:lpstr>Exact formulae for f(n, k) with small n</vt:lpstr>
      <vt:lpstr>Exact formulae for f(n, k) with small n</vt:lpstr>
      <vt:lpstr>PowerPoint 簡報</vt:lpstr>
      <vt:lpstr>Limiting behavior of f(n, k)</vt:lpstr>
      <vt:lpstr>Monte-Carlo estimates for f (100, k) and c_k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Sena</dc:creator>
  <cp:lastModifiedBy>Rika</cp:lastModifiedBy>
  <cp:revision>21</cp:revision>
  <dcterms:created xsi:type="dcterms:W3CDTF">2013-12-29T13:55:44Z</dcterms:created>
  <dcterms:modified xsi:type="dcterms:W3CDTF">2013-12-30T12:00:24Z</dcterms:modified>
</cp:coreProperties>
</file>