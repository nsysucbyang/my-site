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2"/>
  </p:notesMasterIdLst>
  <p:handoutMasterIdLst>
    <p:handoutMasterId r:id="rId23"/>
  </p:handoutMasterIdLst>
  <p:sldIdLst>
    <p:sldId id="256" r:id="rId2"/>
    <p:sldId id="307" r:id="rId3"/>
    <p:sldId id="308" r:id="rId4"/>
    <p:sldId id="282" r:id="rId5"/>
    <p:sldId id="313" r:id="rId6"/>
    <p:sldId id="320" r:id="rId7"/>
    <p:sldId id="297" r:id="rId8"/>
    <p:sldId id="309" r:id="rId9"/>
    <p:sldId id="310" r:id="rId10"/>
    <p:sldId id="311" r:id="rId11"/>
    <p:sldId id="312" r:id="rId12"/>
    <p:sldId id="321" r:id="rId13"/>
    <p:sldId id="302" r:id="rId14"/>
    <p:sldId id="314" r:id="rId15"/>
    <p:sldId id="315" r:id="rId16"/>
    <p:sldId id="316" r:id="rId17"/>
    <p:sldId id="317" r:id="rId18"/>
    <p:sldId id="318" r:id="rId19"/>
    <p:sldId id="319" r:id="rId20"/>
    <p:sldId id="265" r:id="rId21"/>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B93DF"/>
    <a:srgbClr val="6F84EB"/>
    <a:srgbClr val="0000FF"/>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CF1AB2-1976-4502-BF36-3FF5EA218861}" styleName="中等深淺樣式 4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8FB837D-C827-4EFA-A057-4D05807E0F7C}" styleName="佈景主題樣式 1 - 輔色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淺色樣式 2 - 輔色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中等深淺樣式 1 - 輔色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3B4B98B0-60AC-42C2-AFA5-B58CD77FA1E5}" styleName="淺色樣式 1 - 輔色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69" autoAdjust="0"/>
    <p:restoredTop sz="96825" autoAdjust="0"/>
  </p:normalViewPr>
  <p:slideViewPr>
    <p:cSldViewPr>
      <p:cViewPr>
        <p:scale>
          <a:sx n="75" d="100"/>
          <a:sy n="75" d="100"/>
        </p:scale>
        <p:origin x="-156" y="-88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B9A1E9FC-490C-4865-A082-2CA8BB7D5A91}" type="datetimeFigureOut">
              <a:rPr lang="zh-TW" altLang="en-US" smtClean="0"/>
              <a:t>2013/3/12</a:t>
            </a:fld>
            <a:endParaRPr lang="zh-TW" altLang="en-US"/>
          </a:p>
        </p:txBody>
      </p:sp>
      <p:sp>
        <p:nvSpPr>
          <p:cNvPr id="4" name="頁尾版面配置區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5" name="投影片編號版面配置區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79BA81C7-1ECC-4CF7-ABF1-426C762021BC}" type="slidenum">
              <a:rPr lang="zh-TW" altLang="en-US" smtClean="0"/>
              <a:t>‹#›</a:t>
            </a:fld>
            <a:endParaRPr lang="zh-TW" altLang="en-US"/>
          </a:p>
        </p:txBody>
      </p:sp>
    </p:spTree>
    <p:extLst>
      <p:ext uri="{BB962C8B-B14F-4D97-AF65-F5344CB8AC3E}">
        <p14:creationId xmlns:p14="http://schemas.microsoft.com/office/powerpoint/2010/main" val="399105039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42458AF-C11A-4B8D-B5DF-F124E30CB17B}" type="datetimeFigureOut">
              <a:rPr lang="zh-TW" altLang="en-US" smtClean="0"/>
              <a:t>2013/3/12</a:t>
            </a:fld>
            <a:endParaRPr lang="zh-TW" altLang="en-US"/>
          </a:p>
        </p:txBody>
      </p:sp>
      <p:sp>
        <p:nvSpPr>
          <p:cNvPr id="4" name="投影片圖像版面配置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6" name="頁尾版面配置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8879042-3193-49F2-8086-409E581C9D3A}" type="slidenum">
              <a:rPr lang="zh-TW" altLang="en-US" smtClean="0"/>
              <a:t>‹#›</a:t>
            </a:fld>
            <a:endParaRPr lang="zh-TW" altLang="en-US"/>
          </a:p>
        </p:txBody>
      </p:sp>
    </p:spTree>
    <p:extLst>
      <p:ext uri="{BB962C8B-B14F-4D97-AF65-F5344CB8AC3E}">
        <p14:creationId xmlns:p14="http://schemas.microsoft.com/office/powerpoint/2010/main" val="29135172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sp>
        <p:nvSpPr>
          <p:cNvPr id="8" name="標題 7"/>
          <p:cNvSpPr>
            <a:spLocks noGrp="1"/>
          </p:cNvSpPr>
          <p:nvPr>
            <p:ph type="ctrTitle"/>
          </p:nvPr>
        </p:nvSpPr>
        <p:spPr>
          <a:xfrm>
            <a:off x="1242392" y="1556792"/>
            <a:ext cx="6858000" cy="1440160"/>
          </a:xfrm>
        </p:spPr>
        <p:txBody>
          <a:bodyPr anchor="t" anchorCtr="0"/>
          <a:lstStyle>
            <a:lvl1pPr algn="r">
              <a:defRPr sz="3200" b="1">
                <a:solidFill>
                  <a:schemeClr val="tx1"/>
                </a:solidFill>
              </a:defRPr>
            </a:lvl1pPr>
          </a:lstStyle>
          <a:p>
            <a:r>
              <a:rPr kumimoji="0" lang="zh-TW" altLang="en-US" dirty="0" smtClean="0"/>
              <a:t>按一下以編輯母片標題樣式</a:t>
            </a:r>
            <a:endParaRPr kumimoji="0" lang="en-US" dirty="0"/>
          </a:p>
        </p:txBody>
      </p:sp>
      <p:sp>
        <p:nvSpPr>
          <p:cNvPr id="9" name="副標題 8"/>
          <p:cNvSpPr>
            <a:spLocks noGrp="1"/>
          </p:cNvSpPr>
          <p:nvPr>
            <p:ph type="subTitle" idx="1"/>
          </p:nvPr>
        </p:nvSpPr>
        <p:spPr>
          <a:xfrm>
            <a:off x="1219200" y="3228979"/>
            <a:ext cx="6858000" cy="2200243"/>
          </a:xfrm>
        </p:spPr>
        <p:txBody>
          <a:bodyPr/>
          <a:lstStyle>
            <a:lvl1pPr marL="0" indent="0" algn="r">
              <a:buNone/>
              <a:defRPr sz="2000">
                <a:solidFill>
                  <a:schemeClr val="tx2"/>
                </a:solidFill>
                <a:latin typeface="+mj-lt"/>
                <a:ea typeface="+mj-ea"/>
                <a:cs typeface="+mj-cs"/>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zh-TW" altLang="en-US" smtClean="0"/>
              <a:t>按一下以編輯母片副標題樣式</a:t>
            </a:r>
            <a:endParaRPr kumimoji="0" lang="en-US"/>
          </a:p>
        </p:txBody>
      </p:sp>
      <p:sp>
        <p:nvSpPr>
          <p:cNvPr id="28" name="日期版面配置區 27"/>
          <p:cNvSpPr>
            <a:spLocks noGrp="1"/>
          </p:cNvSpPr>
          <p:nvPr>
            <p:ph type="dt" sz="half" idx="10"/>
          </p:nvPr>
        </p:nvSpPr>
        <p:spPr>
          <a:xfrm>
            <a:off x="6400800" y="6355080"/>
            <a:ext cx="2286000" cy="365760"/>
          </a:xfrm>
        </p:spPr>
        <p:txBody>
          <a:bodyPr/>
          <a:lstStyle>
            <a:lvl1pPr>
              <a:defRPr sz="1400"/>
            </a:lvl1pPr>
          </a:lstStyle>
          <a:p>
            <a:r>
              <a:rPr lang="en-US" altLang="zh-TW" smtClean="0"/>
              <a:t>2013/3/12</a:t>
            </a:r>
            <a:endParaRPr lang="zh-TW" altLang="en-US"/>
          </a:p>
        </p:txBody>
      </p:sp>
      <p:sp>
        <p:nvSpPr>
          <p:cNvPr id="17" name="頁尾版面配置區 16"/>
          <p:cNvSpPr>
            <a:spLocks noGrp="1"/>
          </p:cNvSpPr>
          <p:nvPr>
            <p:ph type="ftr" sz="quarter" idx="11"/>
          </p:nvPr>
        </p:nvSpPr>
        <p:spPr>
          <a:xfrm>
            <a:off x="2898648" y="6355080"/>
            <a:ext cx="3474720" cy="365760"/>
          </a:xfrm>
        </p:spPr>
        <p:txBody>
          <a:bodyPr/>
          <a:lstStyle/>
          <a:p>
            <a:endParaRPr lang="zh-TW" altLang="en-US"/>
          </a:p>
        </p:txBody>
      </p:sp>
      <p:sp>
        <p:nvSpPr>
          <p:cNvPr id="29" name="投影片編號版面配置區 28"/>
          <p:cNvSpPr>
            <a:spLocks noGrp="1"/>
          </p:cNvSpPr>
          <p:nvPr>
            <p:ph type="sldNum" sz="quarter" idx="12"/>
          </p:nvPr>
        </p:nvSpPr>
        <p:spPr>
          <a:xfrm>
            <a:off x="1216152" y="6355080"/>
            <a:ext cx="1219200" cy="365760"/>
          </a:xfrm>
        </p:spPr>
        <p:txBody>
          <a:bodyPr/>
          <a:lstStyle/>
          <a:p>
            <a:fld id="{61A04B93-F247-42E5-95CE-B8478AD23DB7}" type="slidenum">
              <a:rPr lang="zh-TW" altLang="en-US" smtClean="0"/>
              <a:t>‹#›</a:t>
            </a:fld>
            <a:endParaRPr lang="zh-TW" altLang="en-US"/>
          </a:p>
        </p:txBody>
      </p:sp>
      <p:sp>
        <p:nvSpPr>
          <p:cNvPr id="21" name="矩形 20"/>
          <p:cNvSpPr/>
          <p:nvPr/>
        </p:nvSpPr>
        <p:spPr>
          <a:xfrm>
            <a:off x="904875" y="980728"/>
            <a:ext cx="7315200" cy="2088232"/>
          </a:xfrm>
          <a:prstGeom prst="rect">
            <a:avLst/>
          </a:prstGeom>
          <a:noFill/>
          <a:ln w="6350" cap="rnd" cmpd="sng" algn="ctr">
            <a:solidFill>
              <a:schemeClr val="accent1">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3" name="矩形 32"/>
          <p:cNvSpPr/>
          <p:nvPr/>
        </p:nvSpPr>
        <p:spPr>
          <a:xfrm>
            <a:off x="914400" y="3140968"/>
            <a:ext cx="7305675" cy="2376264"/>
          </a:xfrm>
          <a:prstGeom prst="rect">
            <a:avLst/>
          </a:prstGeom>
          <a:noFill/>
          <a:ln w="6350" cap="rnd" cmpd="sng" algn="ctr">
            <a:solidFill>
              <a:schemeClr val="accent3">
                <a:lumMod val="75000"/>
              </a:schemeClr>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22" name="矩形 21"/>
          <p:cNvSpPr/>
          <p:nvPr/>
        </p:nvSpPr>
        <p:spPr>
          <a:xfrm>
            <a:off x="904875" y="980728"/>
            <a:ext cx="228600" cy="2088232"/>
          </a:xfrm>
          <a:prstGeom prst="rect">
            <a:avLst/>
          </a:prstGeom>
          <a:solidFill>
            <a:schemeClr val="accent1">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32" name="矩形 31"/>
          <p:cNvSpPr/>
          <p:nvPr/>
        </p:nvSpPr>
        <p:spPr>
          <a:xfrm>
            <a:off x="904875" y="3140968"/>
            <a:ext cx="238125" cy="2376264"/>
          </a:xfrm>
          <a:prstGeom prst="rect">
            <a:avLst/>
          </a:prstGeom>
          <a:solidFill>
            <a:schemeClr val="accent3">
              <a:lumMod val="75000"/>
            </a:schemeClr>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b="1">
                <a:latin typeface="+mn-lt"/>
              </a:defRPr>
            </a:lvl1pPr>
          </a:lstStyle>
          <a:p>
            <a:r>
              <a:rPr kumimoji="0" lang="zh-TW" altLang="en-US" dirty="0" smtClean="0"/>
              <a:t>按一下以編輯母片標題樣式</a:t>
            </a:r>
            <a:endParaRPr kumimoji="0" lang="en-US" dirty="0"/>
          </a:p>
        </p:txBody>
      </p:sp>
      <p:sp>
        <p:nvSpPr>
          <p:cNvPr id="4" name="日期版面配置區 3"/>
          <p:cNvSpPr>
            <a:spLocks noGrp="1"/>
          </p:cNvSpPr>
          <p:nvPr>
            <p:ph type="dt" sz="half" idx="10"/>
          </p:nvPr>
        </p:nvSpPr>
        <p:spPr/>
        <p:txBody>
          <a:bodyPr/>
          <a:lstStyle/>
          <a:p>
            <a:r>
              <a:rPr lang="en-US" altLang="zh-TW" smtClean="0"/>
              <a:t>2013/3/12</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內容版面配置區 7"/>
          <p:cNvSpPr>
            <a:spLocks noGrp="1"/>
          </p:cNvSpPr>
          <p:nvPr>
            <p:ph sz="quarter" idx="1"/>
          </p:nvPr>
        </p:nvSpPr>
        <p:spPr>
          <a:xfrm>
            <a:off x="457200" y="1219200"/>
            <a:ext cx="8229600" cy="4937760"/>
          </a:xfrm>
        </p:spPr>
        <p:txBody>
          <a:bodyPr/>
          <a:lstStyle>
            <a:lvl1pPr>
              <a:defRPr>
                <a:latin typeface="+mn-ea"/>
                <a:ea typeface="+mn-ea"/>
              </a:defRPr>
            </a:lvl1pPr>
            <a:lvl2pPr>
              <a:defRPr>
                <a:latin typeface="+mn-ea"/>
                <a:ea typeface="+mn-ea"/>
              </a:defRPr>
            </a:lvl2pPr>
            <a:lvl3pPr>
              <a:defRPr>
                <a:latin typeface="+mn-ea"/>
                <a:ea typeface="+mn-ea"/>
              </a:defRPr>
            </a:lvl3pPr>
            <a:lvl4pPr>
              <a:defRPr>
                <a:latin typeface="+mn-ea"/>
                <a:ea typeface="+mn-ea"/>
              </a:defRPr>
            </a:lvl4pPr>
            <a:lvl5pPr>
              <a:defRPr>
                <a:latin typeface="+mn-ea"/>
                <a:ea typeface="+mn-ea"/>
              </a:defRPr>
            </a:lvl5pPr>
          </a:lstStyle>
          <a:p>
            <a:pPr lvl="0" eaLnBrk="1" latinLnBrk="0" hangingPunct="1"/>
            <a:r>
              <a:rPr lang="zh-TW" altLang="en-US" dirty="0" smtClean="0"/>
              <a:t>按一下以編輯母片文字樣式</a:t>
            </a:r>
          </a:p>
          <a:p>
            <a:pPr lvl="1" eaLnBrk="1" latinLnBrk="0" hangingPunct="1"/>
            <a:r>
              <a:rPr lang="zh-TW" altLang="en-US" dirty="0" smtClean="0"/>
              <a:t>第二層</a:t>
            </a:r>
          </a:p>
          <a:p>
            <a:pPr lvl="2" eaLnBrk="1" latinLnBrk="0" hangingPunct="1"/>
            <a:r>
              <a:rPr lang="zh-TW" altLang="en-US" dirty="0" smtClean="0"/>
              <a:t>第三層</a:t>
            </a:r>
          </a:p>
          <a:p>
            <a:pPr lvl="3" eaLnBrk="1" latinLnBrk="0" hangingPunct="1"/>
            <a:r>
              <a:rPr lang="zh-TW" altLang="en-US" dirty="0" smtClean="0"/>
              <a:t>第四層</a:t>
            </a:r>
          </a:p>
          <a:p>
            <a:pPr lvl="4" eaLnBrk="1" latinLnBrk="0" hangingPunct="1"/>
            <a:r>
              <a:rPr lang="zh-TW" altLang="en-US" dirty="0" smtClean="0"/>
              <a:t>第五層</a:t>
            </a:r>
            <a:endParaRPr kumimoji="0" lang="en-US" dirty="0"/>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章節標題">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1219200" y="2971800"/>
            <a:ext cx="6858000" cy="1066800"/>
          </a:xfrm>
        </p:spPr>
        <p:txBody>
          <a:bodyPr anchor="t" anchorCtr="0"/>
          <a:lstStyle>
            <a:lvl1pPr algn="r">
              <a:buNone/>
              <a:defRPr sz="3200" b="0" cap="none" baseline="0"/>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1295400" y="4267200"/>
            <a:ext cx="6781800" cy="1143000"/>
          </a:xfrm>
        </p:spPr>
        <p:txBody>
          <a:bodyPr anchor="t" anchorCtr="0"/>
          <a:lstStyle>
            <a:lvl1pPr marL="0" indent="0" algn="r">
              <a:buNone/>
              <a:defRPr sz="2000">
                <a:solidFill>
                  <a:schemeClr val="tx1">
                    <a:tint val="75000"/>
                  </a:schemeClr>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zh-TW" altLang="en-US" smtClean="0"/>
              <a:t>按一下以編輯母片文字樣式</a:t>
            </a:r>
          </a:p>
        </p:txBody>
      </p:sp>
      <p:sp>
        <p:nvSpPr>
          <p:cNvPr id="4" name="日期版面配置區 3"/>
          <p:cNvSpPr>
            <a:spLocks noGrp="1"/>
          </p:cNvSpPr>
          <p:nvPr>
            <p:ph type="dt" sz="half" idx="10"/>
          </p:nvPr>
        </p:nvSpPr>
        <p:spPr>
          <a:xfrm>
            <a:off x="6400800" y="6355080"/>
            <a:ext cx="2286000" cy="365760"/>
          </a:xfrm>
        </p:spPr>
        <p:txBody>
          <a:bodyPr/>
          <a:lstStyle/>
          <a:p>
            <a:r>
              <a:rPr lang="en-US" altLang="zh-TW" smtClean="0"/>
              <a:t>2013/3/12</a:t>
            </a:r>
            <a:endParaRPr lang="zh-TW" altLang="en-US"/>
          </a:p>
        </p:txBody>
      </p:sp>
      <p:sp>
        <p:nvSpPr>
          <p:cNvPr id="5" name="頁尾版面配置區 4"/>
          <p:cNvSpPr>
            <a:spLocks noGrp="1"/>
          </p:cNvSpPr>
          <p:nvPr>
            <p:ph type="ftr" sz="quarter" idx="11"/>
          </p:nvPr>
        </p:nvSpPr>
        <p:spPr>
          <a:xfrm>
            <a:off x="2898648" y="6355080"/>
            <a:ext cx="3474720" cy="365760"/>
          </a:xfrm>
        </p:spPr>
        <p:txBody>
          <a:bodyPr/>
          <a:lstStyle/>
          <a:p>
            <a:endParaRPr lang="zh-TW" altLang="en-US"/>
          </a:p>
        </p:txBody>
      </p:sp>
      <p:sp>
        <p:nvSpPr>
          <p:cNvPr id="6" name="投影片編號版面配置區 5"/>
          <p:cNvSpPr>
            <a:spLocks noGrp="1"/>
          </p:cNvSpPr>
          <p:nvPr>
            <p:ph type="sldNum" sz="quarter" idx="12"/>
          </p:nvPr>
        </p:nvSpPr>
        <p:spPr>
          <a:xfrm>
            <a:off x="1069848" y="6355080"/>
            <a:ext cx="1520952" cy="365760"/>
          </a:xfrm>
        </p:spPr>
        <p:txBody>
          <a:bodyPr/>
          <a:lstStyle/>
          <a:p>
            <a:fld id="{61A04B93-F247-42E5-95CE-B8478AD23DB7}" type="slidenum">
              <a:rPr lang="zh-TW" altLang="en-US" smtClean="0"/>
              <a:t>‹#›</a:t>
            </a:fld>
            <a:endParaRPr lang="zh-TW" altLang="en-US"/>
          </a:p>
        </p:txBody>
      </p:sp>
      <p:sp>
        <p:nvSpPr>
          <p:cNvPr id="7" name="矩形 6"/>
          <p:cNvSpPr/>
          <p:nvPr/>
        </p:nvSpPr>
        <p:spPr>
          <a:xfrm>
            <a:off x="914400" y="2819400"/>
            <a:ext cx="7315200" cy="1280160"/>
          </a:xfrm>
          <a:prstGeom prst="rect">
            <a:avLst/>
          </a:prstGeom>
          <a:noFill/>
          <a:ln w="6350" cap="rnd" cmpd="sng" algn="ctr">
            <a:solidFill>
              <a:schemeClr val="accent1"/>
            </a:solid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8" name="矩形 7"/>
          <p:cNvSpPr/>
          <p:nvPr/>
        </p:nvSpPr>
        <p:spPr>
          <a:xfrm>
            <a:off x="914400" y="2819400"/>
            <a:ext cx="228600" cy="128016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5" name="日期版面配置區 4"/>
          <p:cNvSpPr>
            <a:spLocks noGrp="1"/>
          </p:cNvSpPr>
          <p:nvPr>
            <p:ph type="dt" sz="half" idx="10"/>
          </p:nvPr>
        </p:nvSpPr>
        <p:spPr/>
        <p:txBody>
          <a:bodyPr/>
          <a:lstStyle/>
          <a:p>
            <a:r>
              <a:rPr lang="en-US" altLang="zh-TW" smtClean="0"/>
              <a:t>2013/3/12</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9" name="內容版面配置區 8"/>
          <p:cNvSpPr>
            <a:spLocks noGrp="1"/>
          </p:cNvSpPr>
          <p:nvPr>
            <p:ph sz="quarter" idx="1"/>
          </p:nvPr>
        </p:nvSpPr>
        <p:spPr>
          <a:xfrm>
            <a:off x="457200" y="1219200"/>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1" name="內容版面配置區 10"/>
          <p:cNvSpPr>
            <a:spLocks noGrp="1"/>
          </p:cNvSpPr>
          <p:nvPr>
            <p:ph sz="quarter" idx="2"/>
          </p:nvPr>
        </p:nvSpPr>
        <p:spPr>
          <a:xfrm>
            <a:off x="4632198" y="1216152"/>
            <a:ext cx="4041648" cy="493776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nchor="ctr"/>
          <a:lstStyle>
            <a:lvl1pPr>
              <a:defRPr/>
            </a:lvl1pPr>
          </a:lstStyle>
          <a:p>
            <a:r>
              <a:rPr kumimoji="0" lang="zh-TW" altLang="en-US" smtClean="0"/>
              <a:t>按一下以編輯母片標題樣式</a:t>
            </a:r>
            <a:endParaRPr kumimoji="0" lang="en-US"/>
          </a:p>
        </p:txBody>
      </p:sp>
      <p:sp>
        <p:nvSpPr>
          <p:cNvPr id="3" name="文字版面配置區 2"/>
          <p:cNvSpPr>
            <a:spLocks noGrp="1"/>
          </p:cNvSpPr>
          <p:nvPr>
            <p:ph type="body" idx="1"/>
          </p:nvPr>
        </p:nvSpPr>
        <p:spPr>
          <a:xfrm>
            <a:off x="457200" y="1285875"/>
            <a:ext cx="4040188" cy="685800"/>
          </a:xfrm>
          <a:noFill/>
          <a:ln>
            <a:noFill/>
          </a:ln>
        </p:spPr>
        <p:txBody>
          <a:bodyPr lIns="91440" anchor="b" anchorCtr="0">
            <a:noAutofit/>
          </a:bodyPr>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4" name="文字版面配置區 3"/>
          <p:cNvSpPr>
            <a:spLocks noGrp="1"/>
          </p:cNvSpPr>
          <p:nvPr>
            <p:ph type="body" sz="half" idx="3"/>
          </p:nvPr>
        </p:nvSpPr>
        <p:spPr>
          <a:xfrm>
            <a:off x="4648200" y="1295400"/>
            <a:ext cx="4041775" cy="685800"/>
          </a:xfrm>
          <a:noFill/>
          <a:ln>
            <a:noFill/>
          </a:ln>
        </p:spPr>
        <p:txBody>
          <a:bodyPr lIns="91440" anchor="b" anchorCtr="0"/>
          <a:lstStyle>
            <a:lvl1pPr marL="0" indent="0">
              <a:buNone/>
              <a:defRPr sz="2400" b="1">
                <a:solidFill>
                  <a:schemeClr val="accent2"/>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zh-TW" altLang="en-US" smtClean="0"/>
              <a:t>按一下以編輯母片文字樣式</a:t>
            </a:r>
          </a:p>
        </p:txBody>
      </p:sp>
      <p:sp>
        <p:nvSpPr>
          <p:cNvPr id="7" name="日期版面配置區 6"/>
          <p:cNvSpPr>
            <a:spLocks noGrp="1"/>
          </p:cNvSpPr>
          <p:nvPr>
            <p:ph type="dt" sz="half" idx="10"/>
          </p:nvPr>
        </p:nvSpPr>
        <p:spPr/>
        <p:txBody>
          <a:bodyPr/>
          <a:lstStyle/>
          <a:p>
            <a:r>
              <a:rPr lang="en-US" altLang="zh-TW" smtClean="0"/>
              <a:t>2013/3/12</a:t>
            </a:r>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11" name="內容版面配置區 10"/>
          <p:cNvSpPr>
            <a:spLocks noGrp="1"/>
          </p:cNvSpPr>
          <p:nvPr>
            <p:ph sz="quarter" idx="2"/>
          </p:nvPr>
        </p:nvSpPr>
        <p:spPr>
          <a:xfrm>
            <a:off x="457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13" name="內容版面配置區 12"/>
          <p:cNvSpPr>
            <a:spLocks noGrp="1"/>
          </p:cNvSpPr>
          <p:nvPr>
            <p:ph sz="quarter" idx="4"/>
          </p:nvPr>
        </p:nvSpPr>
        <p:spPr>
          <a:xfrm>
            <a:off x="4648200" y="2133600"/>
            <a:ext cx="4038600" cy="40386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a:xfrm>
            <a:off x="457200" y="228600"/>
            <a:ext cx="8229600" cy="914400"/>
          </a:xfrm>
        </p:spPr>
        <p:txBody>
          <a:bodyPr/>
          <a:lstStyle/>
          <a:p>
            <a:r>
              <a:rPr kumimoji="0" lang="zh-TW" altLang="en-US" smtClean="0"/>
              <a:t>按一下以編輯母片標題樣式</a:t>
            </a:r>
            <a:endParaRPr kumimoji="0" lang="en-US"/>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r>
              <a:rPr lang="en-US" altLang="zh-TW" smtClean="0"/>
              <a:t>2013/3/12</a:t>
            </a:r>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5" name="直線接點 4"/>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6" name="等腰三角形 5"/>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6324600" y="304800"/>
            <a:ext cx="2514600" cy="838200"/>
          </a:xfrm>
        </p:spPr>
        <p:txBody>
          <a:bodyPr anchor="b" anchorCtr="0">
            <a:noAutofit/>
          </a:bodyPr>
          <a:lstStyle>
            <a:lvl1pPr algn="l">
              <a:buNone/>
              <a:defRPr sz="2000" b="1">
                <a:solidFill>
                  <a:schemeClr val="tx2"/>
                </a:solidFill>
                <a:latin typeface="+mn-lt"/>
                <a:ea typeface="+mn-ea"/>
                <a:cs typeface="+mn-cs"/>
              </a:defRPr>
            </a:lvl1pPr>
          </a:lstStyle>
          <a:p>
            <a:r>
              <a:rPr kumimoji="0" lang="zh-TW" altLang="en-US" smtClean="0"/>
              <a:t>按一下以編輯母片標題樣式</a:t>
            </a:r>
            <a:endParaRPr kumimoji="0" lang="en-US"/>
          </a:p>
        </p:txBody>
      </p:sp>
      <p:sp>
        <p:nvSpPr>
          <p:cNvPr id="3" name="文字版面配置區 2"/>
          <p:cNvSpPr>
            <a:spLocks noGrp="1"/>
          </p:cNvSpPr>
          <p:nvPr>
            <p:ph type="body" idx="2"/>
          </p:nvPr>
        </p:nvSpPr>
        <p:spPr>
          <a:xfrm>
            <a:off x="6324600" y="1219200"/>
            <a:ext cx="2514600" cy="4843463"/>
          </a:xfrm>
        </p:spPr>
        <p:txBody>
          <a:bodyPr/>
          <a:lstStyle>
            <a:lvl1pPr marL="0" indent="0">
              <a:lnSpc>
                <a:spcPts val="2200"/>
              </a:lnSpc>
              <a:spcAft>
                <a:spcPts val="1000"/>
              </a:spcAft>
              <a:buNone/>
              <a:defRPr sz="1600">
                <a:solidFill>
                  <a:schemeClr val="tx2"/>
                </a:solidFill>
              </a:defRPr>
            </a:lvl1pPr>
            <a:lvl2pPr>
              <a:buNone/>
              <a:defRPr sz="1200"/>
            </a:lvl2pPr>
            <a:lvl3pPr>
              <a:buNone/>
              <a:defRPr sz="1000"/>
            </a:lvl3pPr>
            <a:lvl4pPr>
              <a:buNone/>
              <a:defRPr sz="900"/>
            </a:lvl4pPr>
            <a:lvl5pPr>
              <a:buNone/>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2013/3/12</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直線接點 9"/>
          <p:cNvSpPr>
            <a:spLocks noChangeShapeType="1"/>
          </p:cNvSpPr>
          <p:nvPr/>
        </p:nvSpPr>
        <p:spPr bwMode="auto">
          <a:xfrm rot="5400000">
            <a:off x="3160645" y="3324225"/>
            <a:ext cx="603504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dirty="0"/>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2" name="內容版面配置區 11"/>
          <p:cNvSpPr>
            <a:spLocks noGrp="1"/>
          </p:cNvSpPr>
          <p:nvPr>
            <p:ph sz="quarter" idx="1"/>
          </p:nvPr>
        </p:nvSpPr>
        <p:spPr>
          <a:xfrm>
            <a:off x="304800" y="304800"/>
            <a:ext cx="5715000" cy="5715000"/>
          </a:xfrm>
        </p:spPr>
        <p:txBody>
          <a:bodyPr/>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含標題的圖片">
    <p:bg>
      <p:bgRef idx="1001">
        <a:schemeClr val="bg2"/>
      </p:bgRef>
    </p:bg>
    <p:spTree>
      <p:nvGrpSpPr>
        <p:cNvPr id="1" name=""/>
        <p:cNvGrpSpPr/>
        <p:nvPr/>
      </p:nvGrpSpPr>
      <p:grpSpPr>
        <a:xfrm>
          <a:off x="0" y="0"/>
          <a:ext cx="0" cy="0"/>
          <a:chOff x="0" y="0"/>
          <a:chExt cx="0" cy="0"/>
        </a:xfrm>
      </p:grpSpPr>
      <p:sp>
        <p:nvSpPr>
          <p:cNvPr id="2" name="標題 1"/>
          <p:cNvSpPr>
            <a:spLocks noGrp="1"/>
          </p:cNvSpPr>
          <p:nvPr>
            <p:ph type="title"/>
          </p:nvPr>
        </p:nvSpPr>
        <p:spPr>
          <a:xfrm>
            <a:off x="457200" y="500856"/>
            <a:ext cx="8229600" cy="674688"/>
          </a:xfrm>
          <a:ln>
            <a:solidFill>
              <a:schemeClr val="accent1"/>
            </a:solidFill>
          </a:ln>
        </p:spPr>
        <p:txBody>
          <a:bodyPr lIns="274320" anchor="ctr"/>
          <a:lstStyle>
            <a:lvl1pPr algn="r">
              <a:buNone/>
              <a:defRPr sz="2000" b="0">
                <a:solidFill>
                  <a:schemeClr val="tx1"/>
                </a:solidFill>
              </a:defRPr>
            </a:lvl1pPr>
          </a:lstStyle>
          <a:p>
            <a:r>
              <a:rPr kumimoji="0" lang="zh-TW" altLang="en-US" smtClean="0"/>
              <a:t>按一下以編輯母片標題樣式</a:t>
            </a:r>
            <a:endParaRPr kumimoji="0" lang="en-US"/>
          </a:p>
        </p:txBody>
      </p:sp>
      <p:sp>
        <p:nvSpPr>
          <p:cNvPr id="3" name="圖片版面配置區 2"/>
          <p:cNvSpPr>
            <a:spLocks noGrp="1"/>
          </p:cNvSpPr>
          <p:nvPr>
            <p:ph type="pic" idx="1"/>
          </p:nvPr>
        </p:nvSpPr>
        <p:spPr>
          <a:xfrm>
            <a:off x="457200" y="1905000"/>
            <a:ext cx="8229600" cy="4270248"/>
          </a:xfrm>
          <a:solidFill>
            <a:schemeClr val="tx1">
              <a:shade val="50000"/>
            </a:schemeClr>
          </a:solidFill>
          <a:ln>
            <a:noFill/>
          </a:ln>
          <a:effectLst/>
        </p:spPr>
        <p:txBody>
          <a:bodyPr/>
          <a:lstStyle>
            <a:lvl1pPr marL="0" indent="0">
              <a:spcBef>
                <a:spcPts val="600"/>
              </a:spcBef>
              <a:buNone/>
              <a:defRPr sz="3200"/>
            </a:lvl1pPr>
          </a:lstStyle>
          <a:p>
            <a:r>
              <a:rPr kumimoji="0" lang="zh-TW" altLang="en-US" smtClean="0"/>
              <a:t>按一下圖示以新增圖片</a:t>
            </a:r>
            <a:endParaRPr kumimoji="0" lang="en-US" dirty="0"/>
          </a:p>
        </p:txBody>
      </p:sp>
      <p:sp>
        <p:nvSpPr>
          <p:cNvPr id="4" name="文字版面配置區 3"/>
          <p:cNvSpPr>
            <a:spLocks noGrp="1"/>
          </p:cNvSpPr>
          <p:nvPr>
            <p:ph type="body" sz="half" idx="2"/>
          </p:nvPr>
        </p:nvSpPr>
        <p:spPr>
          <a:xfrm>
            <a:off x="457200" y="1219200"/>
            <a:ext cx="8229600" cy="533400"/>
          </a:xfrm>
        </p:spPr>
        <p:txBody>
          <a:bodyPr anchor="ctr" anchorCtr="0"/>
          <a:lstStyle>
            <a:lvl1pPr marL="0" indent="0" algn="l">
              <a:buFontTx/>
              <a:buNone/>
              <a:defRPr sz="1400"/>
            </a:lvl1pPr>
            <a:lvl2pPr>
              <a:defRPr sz="1200"/>
            </a:lvl2pPr>
            <a:lvl3pPr>
              <a:defRPr sz="1000"/>
            </a:lvl3pPr>
            <a:lvl4pPr>
              <a:defRPr sz="900"/>
            </a:lvl4pPr>
            <a:lvl5pPr>
              <a:defRPr sz="900"/>
            </a:lvl5pPr>
          </a:lstStyle>
          <a:p>
            <a:pPr lvl="0" eaLnBrk="1" latinLnBrk="0" hangingPunct="1"/>
            <a:r>
              <a:rPr kumimoji="0" lang="zh-TW" altLang="en-US" smtClean="0"/>
              <a:t>按一下以編輯母片文字樣式</a:t>
            </a:r>
          </a:p>
        </p:txBody>
      </p:sp>
      <p:sp>
        <p:nvSpPr>
          <p:cNvPr id="5" name="日期版面配置區 4"/>
          <p:cNvSpPr>
            <a:spLocks noGrp="1"/>
          </p:cNvSpPr>
          <p:nvPr>
            <p:ph type="dt" sz="half" idx="10"/>
          </p:nvPr>
        </p:nvSpPr>
        <p:spPr/>
        <p:txBody>
          <a:bodyPr/>
          <a:lstStyle/>
          <a:p>
            <a:r>
              <a:rPr lang="en-US" altLang="zh-TW" smtClean="0"/>
              <a:t>2013/3/12</a:t>
            </a:r>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8" name="直線接點 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9" name="等腰三角形 8"/>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10" name="矩形 9"/>
          <p:cNvSpPr/>
          <p:nvPr/>
        </p:nvSpPr>
        <p:spPr>
          <a:xfrm>
            <a:off x="457200" y="500856"/>
            <a:ext cx="182880" cy="685800"/>
          </a:xfrm>
          <a:prstGeom prst="rect">
            <a:avLst/>
          </a:prstGeom>
          <a:solidFill>
            <a:schemeClr val="accent1"/>
          </a:solidFill>
          <a:ln w="635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2013/3/12</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kumimoji="0" lang="zh-TW" altLang="en-US" smtClean="0"/>
              <a:t>按一下以編輯母片標題樣式</a:t>
            </a:r>
            <a:endParaRPr kumimoji="0" 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eaLnBrk="1" latinLnBrk="0" hangingPunct="1"/>
            <a:r>
              <a:rPr lang="zh-TW" altLang="en-US" smtClean="0"/>
              <a:t>按一下以編輯母片文字樣式</a:t>
            </a:r>
          </a:p>
          <a:p>
            <a:pPr lvl="1" eaLnBrk="1" latinLnBrk="0" hangingPunct="1"/>
            <a:r>
              <a:rPr lang="zh-TW" altLang="en-US" smtClean="0"/>
              <a:t>第二層</a:t>
            </a:r>
          </a:p>
          <a:p>
            <a:pPr lvl="2" eaLnBrk="1" latinLnBrk="0" hangingPunct="1"/>
            <a:r>
              <a:rPr lang="zh-TW" altLang="en-US" smtClean="0"/>
              <a:t>第三層</a:t>
            </a:r>
          </a:p>
          <a:p>
            <a:pPr lvl="3" eaLnBrk="1" latinLnBrk="0" hangingPunct="1"/>
            <a:r>
              <a:rPr lang="zh-TW" altLang="en-US" smtClean="0"/>
              <a:t>第四層</a:t>
            </a:r>
          </a:p>
          <a:p>
            <a:pPr lvl="4" eaLnBrk="1" latinLnBrk="0" hangingPunct="1"/>
            <a:r>
              <a:rPr lang="zh-TW" altLang="en-US" smtClean="0"/>
              <a:t>第五層</a:t>
            </a:r>
            <a:endParaRPr kumimoji="0" lang="en-US"/>
          </a:p>
        </p:txBody>
      </p:sp>
      <p:sp>
        <p:nvSpPr>
          <p:cNvPr id="4" name="日期版面配置區 3"/>
          <p:cNvSpPr>
            <a:spLocks noGrp="1"/>
          </p:cNvSpPr>
          <p:nvPr>
            <p:ph type="dt" sz="half" idx="10"/>
          </p:nvPr>
        </p:nvSpPr>
        <p:spPr/>
        <p:txBody>
          <a:bodyPr/>
          <a:lstStyle/>
          <a:p>
            <a:r>
              <a:rPr lang="en-US" altLang="zh-TW" smtClean="0"/>
              <a:t>2013/3/12</a:t>
            </a:r>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61A04B93-F247-42E5-95CE-B8478AD23DB7}" type="slidenum">
              <a:rPr lang="zh-TW" altLang="en-US" smtClean="0"/>
              <a:t>‹#›</a:t>
            </a:fld>
            <a:endParaRPr lang="zh-TW" altLang="en-US"/>
          </a:p>
        </p:txBody>
      </p:sp>
      <p:sp>
        <p:nvSpPr>
          <p:cNvPr id="7" name="直線接點 6"/>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8" name="等腰三角形 7"/>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
        <p:nvSpPr>
          <p:cNvPr id="9" name="直線接點 8"/>
          <p:cNvSpPr>
            <a:spLocks noChangeShapeType="1"/>
          </p:cNvSpPr>
          <p:nvPr/>
        </p:nvSpPr>
        <p:spPr bwMode="auto">
          <a:xfrm rot="5400000">
            <a:off x="3629607" y="3201952"/>
            <a:ext cx="585216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2" name="標題版面配置區 21"/>
          <p:cNvSpPr>
            <a:spLocks noGrp="1"/>
          </p:cNvSpPr>
          <p:nvPr>
            <p:ph type="title"/>
          </p:nvPr>
        </p:nvSpPr>
        <p:spPr>
          <a:xfrm>
            <a:off x="457200" y="152400"/>
            <a:ext cx="8229600" cy="990600"/>
          </a:xfrm>
          <a:prstGeom prst="rect">
            <a:avLst/>
          </a:prstGeom>
        </p:spPr>
        <p:txBody>
          <a:bodyPr vert="horz" anchor="b" anchorCtr="0">
            <a:normAutofit/>
          </a:bodyPr>
          <a:lstStyle/>
          <a:p>
            <a:r>
              <a:rPr kumimoji="0" lang="zh-TW" altLang="en-US" dirty="0" smtClean="0"/>
              <a:t>按一下以編輯母片標題樣式</a:t>
            </a:r>
            <a:endParaRPr kumimoji="0" lang="en-US" dirty="0"/>
          </a:p>
        </p:txBody>
      </p:sp>
      <p:sp>
        <p:nvSpPr>
          <p:cNvPr id="13" name="文字版面配置區 12"/>
          <p:cNvSpPr>
            <a:spLocks noGrp="1"/>
          </p:cNvSpPr>
          <p:nvPr>
            <p:ph type="body" idx="1"/>
          </p:nvPr>
        </p:nvSpPr>
        <p:spPr>
          <a:xfrm>
            <a:off x="457200" y="1219200"/>
            <a:ext cx="8229600" cy="4910328"/>
          </a:xfrm>
          <a:prstGeom prst="rect">
            <a:avLst/>
          </a:prstGeom>
        </p:spPr>
        <p:txBody>
          <a:bodyPr vert="horz">
            <a:normAutofit/>
          </a:bodyPr>
          <a:lstStyle/>
          <a:p>
            <a:pPr lvl="0" eaLnBrk="1" latinLnBrk="0" hangingPunct="1"/>
            <a:r>
              <a:rPr kumimoji="0" lang="zh-TW" altLang="en-US" dirty="0" smtClean="0"/>
              <a:t>按一下以編輯母片文字樣式</a:t>
            </a:r>
          </a:p>
          <a:p>
            <a:pPr lvl="1" eaLnBrk="1" latinLnBrk="0" hangingPunct="1"/>
            <a:r>
              <a:rPr kumimoji="0" lang="zh-TW" altLang="en-US" dirty="0" smtClean="0"/>
              <a:t>第二層</a:t>
            </a:r>
          </a:p>
          <a:p>
            <a:pPr lvl="2" eaLnBrk="1" latinLnBrk="0" hangingPunct="1"/>
            <a:r>
              <a:rPr kumimoji="0" lang="zh-TW" altLang="en-US" dirty="0" smtClean="0"/>
              <a:t>第三層</a:t>
            </a:r>
          </a:p>
          <a:p>
            <a:pPr lvl="3" eaLnBrk="1" latinLnBrk="0" hangingPunct="1"/>
            <a:r>
              <a:rPr kumimoji="0" lang="zh-TW" altLang="en-US" dirty="0" smtClean="0"/>
              <a:t>第四層</a:t>
            </a:r>
          </a:p>
          <a:p>
            <a:pPr lvl="4" eaLnBrk="1" latinLnBrk="0" hangingPunct="1"/>
            <a:r>
              <a:rPr kumimoji="0" lang="zh-TW" altLang="en-US" dirty="0" smtClean="0"/>
              <a:t>第五層</a:t>
            </a:r>
            <a:endParaRPr kumimoji="0" lang="en-US" dirty="0"/>
          </a:p>
        </p:txBody>
      </p:sp>
      <p:sp>
        <p:nvSpPr>
          <p:cNvPr id="14" name="日期版面配置區 13"/>
          <p:cNvSpPr>
            <a:spLocks noGrp="1"/>
          </p:cNvSpPr>
          <p:nvPr>
            <p:ph type="dt" sz="half" idx="2"/>
          </p:nvPr>
        </p:nvSpPr>
        <p:spPr>
          <a:xfrm>
            <a:off x="6400800" y="6356350"/>
            <a:ext cx="2289048" cy="365760"/>
          </a:xfrm>
          <a:prstGeom prst="rect">
            <a:avLst/>
          </a:prstGeom>
        </p:spPr>
        <p:txBody>
          <a:bodyPr vert="horz"/>
          <a:lstStyle>
            <a:lvl1pPr algn="l" eaLnBrk="1" latinLnBrk="0" hangingPunct="1">
              <a:defRPr kumimoji="0" sz="1400">
                <a:solidFill>
                  <a:schemeClr val="tx2"/>
                </a:solidFill>
              </a:defRPr>
            </a:lvl1pPr>
          </a:lstStyle>
          <a:p>
            <a:r>
              <a:rPr lang="en-US" altLang="zh-TW" smtClean="0"/>
              <a:t>2013/3/12</a:t>
            </a:r>
            <a:endParaRPr lang="zh-TW" altLang="en-US"/>
          </a:p>
        </p:txBody>
      </p:sp>
      <p:sp>
        <p:nvSpPr>
          <p:cNvPr id="3" name="頁尾版面配置區 2"/>
          <p:cNvSpPr>
            <a:spLocks noGrp="1"/>
          </p:cNvSpPr>
          <p:nvPr>
            <p:ph type="ftr" sz="quarter" idx="3"/>
          </p:nvPr>
        </p:nvSpPr>
        <p:spPr>
          <a:xfrm>
            <a:off x="2898648" y="6356350"/>
            <a:ext cx="3505200" cy="365760"/>
          </a:xfrm>
          <a:prstGeom prst="rect">
            <a:avLst/>
          </a:prstGeom>
        </p:spPr>
        <p:txBody>
          <a:bodyPr vert="horz"/>
          <a:lstStyle>
            <a:lvl1pPr algn="r" eaLnBrk="1" latinLnBrk="0" hangingPunct="1">
              <a:defRPr kumimoji="0" sz="1400">
                <a:solidFill>
                  <a:schemeClr val="tx2"/>
                </a:solidFill>
              </a:defRPr>
            </a:lvl1pPr>
          </a:lstStyle>
          <a:p>
            <a:endParaRPr lang="zh-TW" altLang="en-US"/>
          </a:p>
        </p:txBody>
      </p:sp>
      <p:sp>
        <p:nvSpPr>
          <p:cNvPr id="23" name="投影片編號版面配置區 22"/>
          <p:cNvSpPr>
            <a:spLocks noGrp="1"/>
          </p:cNvSpPr>
          <p:nvPr>
            <p:ph type="sldNum" sz="quarter" idx="4"/>
          </p:nvPr>
        </p:nvSpPr>
        <p:spPr>
          <a:xfrm>
            <a:off x="612648" y="6356350"/>
            <a:ext cx="1981200" cy="365760"/>
          </a:xfrm>
          <a:prstGeom prst="rect">
            <a:avLst/>
          </a:prstGeom>
        </p:spPr>
        <p:txBody>
          <a:bodyPr vert="horz"/>
          <a:lstStyle>
            <a:lvl1pPr algn="l" eaLnBrk="1" latinLnBrk="0" hangingPunct="1">
              <a:defRPr kumimoji="0" sz="1400">
                <a:solidFill>
                  <a:schemeClr val="tx2"/>
                </a:solidFill>
              </a:defRPr>
            </a:lvl1pPr>
          </a:lstStyle>
          <a:p>
            <a:fld id="{61A04B93-F247-42E5-95CE-B8478AD23DB7}" type="slidenum">
              <a:rPr lang="zh-TW" altLang="en-US" smtClean="0"/>
              <a:t>‹#›</a:t>
            </a:fld>
            <a:endParaRPr lang="zh-TW" altLang="en-US"/>
          </a:p>
        </p:txBody>
      </p:sp>
      <p:sp>
        <p:nvSpPr>
          <p:cNvPr id="28" name="直線接點 27"/>
          <p:cNvSpPr>
            <a:spLocks noChangeShapeType="1"/>
          </p:cNvSpPr>
          <p:nvPr/>
        </p:nvSpPr>
        <p:spPr bwMode="auto">
          <a:xfrm>
            <a:off x="457200" y="6353175"/>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29" name="直線接點 28"/>
          <p:cNvSpPr>
            <a:spLocks noChangeShapeType="1"/>
          </p:cNvSpPr>
          <p:nvPr/>
        </p:nvSpPr>
        <p:spPr bwMode="auto">
          <a:xfrm>
            <a:off x="457200" y="1143000"/>
            <a:ext cx="8229600" cy="0"/>
          </a:xfrm>
          <a:prstGeom prst="line">
            <a:avLst/>
          </a:prstGeom>
          <a:noFill/>
          <a:ln w="9525" cap="flat" cmpd="sng" algn="ctr">
            <a:solidFill>
              <a:schemeClr val="accent2"/>
            </a:solidFill>
            <a:prstDash val="dash"/>
            <a:round/>
            <a:headEnd type="none" w="med" len="med"/>
            <a:tailEnd type="none" w="med" len="med"/>
          </a:ln>
          <a:effectLst/>
        </p:spPr>
        <p:txBody>
          <a:bodyPr vert="horz" wrap="square" lIns="91440" tIns="45720" rIns="91440" bIns="45720" anchor="t" compatLnSpc="1"/>
          <a:lstStyle/>
          <a:p>
            <a:endParaRPr kumimoji="0" lang="en-US"/>
          </a:p>
        </p:txBody>
      </p:sp>
      <p:sp>
        <p:nvSpPr>
          <p:cNvPr id="10" name="等腰三角形 9"/>
          <p:cNvSpPr>
            <a:spLocks noChangeAspect="1"/>
          </p:cNvSpPr>
          <p:nvPr/>
        </p:nvSpPr>
        <p:spPr>
          <a:xfrm rot="5400000">
            <a:off x="419100" y="6467475"/>
            <a:ext cx="190849" cy="120314"/>
          </a:xfrm>
          <a:prstGeom prst="triangle">
            <a:avLst>
              <a:gd name="adj" fmla="val 50000"/>
            </a:avLst>
          </a:prstGeom>
          <a:solidFill>
            <a:schemeClr val="accent2"/>
          </a:solidFill>
          <a:ln w="25400" cap="rnd" cmpd="sng" algn="ctr">
            <a:noFill/>
            <a:prstDash val="solid"/>
          </a:ln>
          <a:effectLst/>
        </p:spPr>
        <p:style>
          <a:lnRef idx="3">
            <a:schemeClr val="lt1"/>
          </a:lnRef>
          <a:fillRef idx="1">
            <a:schemeClr val="accent1"/>
          </a:fillRef>
          <a:effectRef idx="1">
            <a:schemeClr val="accent1"/>
          </a:effectRef>
          <a:fontRef idx="minor">
            <a:schemeClr val="lt1"/>
          </a:fontRef>
        </p:style>
        <p:txBody>
          <a:bodyPr anchor="ctr"/>
          <a:lstStyle/>
          <a:p>
            <a:pPr algn="ctr" eaLnBrk="1" latinLnBrk="0" hangingPunct="1"/>
            <a:endParaRPr kumimoji="0"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iming>
    <p:tnLst>
      <p:par>
        <p:cTn id="1" dur="indefinite" restart="never" nodeType="tmRoot"/>
      </p:par>
    </p:tnLst>
  </p:timing>
  <p:hf hdr="0" ftr="0"/>
  <p:txStyles>
    <p:titleStyle>
      <a:lvl1pPr algn="l" rtl="0" eaLnBrk="1" latinLnBrk="0" hangingPunct="1">
        <a:spcBef>
          <a:spcPct val="0"/>
        </a:spcBef>
        <a:buNone/>
        <a:defRPr kumimoji="0" sz="3200" kern="1200">
          <a:solidFill>
            <a:schemeClr val="tx2"/>
          </a:solidFill>
          <a:latin typeface="+mj-lt"/>
          <a:ea typeface="+mj-ea"/>
          <a:cs typeface="+mj-cs"/>
        </a:defRPr>
      </a:lvl1pPr>
    </p:titleStyle>
    <p:bodyStyle>
      <a:lvl1pPr marL="274320" indent="-274320" algn="l" rtl="0" eaLnBrk="1" latinLnBrk="0" hangingPunct="1">
        <a:spcBef>
          <a:spcPts val="600"/>
        </a:spcBef>
        <a:buClr>
          <a:schemeClr val="accent1"/>
        </a:buClr>
        <a:buSzPct val="76000"/>
        <a:buFont typeface="Wingdings 3"/>
        <a:buChar char=""/>
        <a:defRPr kumimoji="0" sz="2600" kern="1200">
          <a:solidFill>
            <a:schemeClr val="tx1"/>
          </a:solidFill>
          <a:latin typeface="+mn-lt"/>
          <a:ea typeface="+mn-ea"/>
          <a:cs typeface="+mn-cs"/>
        </a:defRPr>
      </a:lvl1pPr>
      <a:lvl2pPr marL="548640" indent="-274320" algn="l" rtl="0" eaLnBrk="1" latinLnBrk="0" hangingPunct="1">
        <a:spcBef>
          <a:spcPts val="500"/>
        </a:spcBef>
        <a:buClr>
          <a:schemeClr val="accent2"/>
        </a:buClr>
        <a:buSzPct val="76000"/>
        <a:buFont typeface="Wingdings 3"/>
        <a:buChar char=""/>
        <a:defRPr kumimoji="0" sz="2300" kern="1200">
          <a:solidFill>
            <a:schemeClr val="tx2"/>
          </a:solidFill>
          <a:latin typeface="+mn-lt"/>
          <a:ea typeface="+mn-ea"/>
          <a:cs typeface="+mn-cs"/>
        </a:defRPr>
      </a:lvl2pPr>
      <a:lvl3pPr marL="822960" indent="-228600" algn="l" rtl="0" eaLnBrk="1" latinLnBrk="0" hangingPunct="1">
        <a:spcBef>
          <a:spcPts val="500"/>
        </a:spcBef>
        <a:buClr>
          <a:schemeClr val="bg1">
            <a:shade val="50000"/>
          </a:schemeClr>
        </a:buClr>
        <a:buSzPct val="76000"/>
        <a:buFont typeface="Wingdings 3"/>
        <a:buChar char=""/>
        <a:defRPr kumimoji="0" sz="2000" kern="1200">
          <a:solidFill>
            <a:schemeClr val="tx1"/>
          </a:solidFill>
          <a:latin typeface="+mn-lt"/>
          <a:ea typeface="+mn-ea"/>
          <a:cs typeface="+mn-cs"/>
        </a:defRPr>
      </a:lvl3pPr>
      <a:lvl4pPr marL="1097280" indent="-228600" algn="l" rtl="0" eaLnBrk="1" latinLnBrk="0" hangingPunct="1">
        <a:spcBef>
          <a:spcPts val="400"/>
        </a:spcBef>
        <a:buClr>
          <a:schemeClr val="accent2">
            <a:shade val="75000"/>
          </a:schemeClr>
        </a:buClr>
        <a:buSzPct val="70000"/>
        <a:buFont typeface="Wingdings"/>
        <a:buChar char=""/>
        <a:defRPr kumimoji="0" sz="1800" kern="1200">
          <a:solidFill>
            <a:schemeClr val="tx1"/>
          </a:solidFill>
          <a:latin typeface="+mn-lt"/>
          <a:ea typeface="+mn-ea"/>
          <a:cs typeface="+mn-cs"/>
        </a:defRPr>
      </a:lvl4pPr>
      <a:lvl5pPr marL="1371600" indent="-228600" algn="l" rtl="0" eaLnBrk="1" latinLnBrk="0" hangingPunct="1">
        <a:spcBef>
          <a:spcPts val="300"/>
        </a:spcBef>
        <a:buClr>
          <a:schemeClr val="accent2"/>
        </a:buClr>
        <a:buSzPct val="70000"/>
        <a:buFont typeface="Wingdings"/>
        <a:buChar char=""/>
        <a:defRPr kumimoji="0" sz="1600" kern="1200">
          <a:solidFill>
            <a:schemeClr val="tx1"/>
          </a:solidFill>
          <a:latin typeface="+mn-lt"/>
          <a:ea typeface="+mn-ea"/>
          <a:cs typeface="+mn-cs"/>
        </a:defRPr>
      </a:lvl5pPr>
      <a:lvl6pPr marL="1645920" indent="-182880" algn="l" rtl="0" eaLnBrk="1" latinLnBrk="0" hangingPunct="1">
        <a:spcBef>
          <a:spcPts val="300"/>
        </a:spcBef>
        <a:buClr>
          <a:srgbClr val="9FB8CD">
            <a:shade val="75000"/>
          </a:srgbClr>
        </a:buClr>
        <a:buSzPct val="75000"/>
        <a:buFont typeface="Wingdings 3"/>
        <a:buChar char=""/>
        <a:defRPr kumimoji="0" lang="en-US" sz="1600" kern="1200" smtClean="0">
          <a:solidFill>
            <a:schemeClr val="tx1"/>
          </a:solidFill>
          <a:latin typeface="+mn-lt"/>
          <a:ea typeface="+mn-ea"/>
          <a:cs typeface="+mn-cs"/>
        </a:defRPr>
      </a:lvl6pPr>
      <a:lvl7pPr marL="1828800" indent="-182880" algn="l" rtl="0" eaLnBrk="1" latinLnBrk="0" hangingPunct="1">
        <a:spcBef>
          <a:spcPts val="300"/>
        </a:spcBef>
        <a:buClr>
          <a:srgbClr val="727CA3">
            <a:shade val="75000"/>
          </a:srgbClr>
        </a:buClr>
        <a:buSzPct val="75000"/>
        <a:buFont typeface="Wingdings 3"/>
        <a:buChar char=""/>
        <a:defRPr kumimoji="0" lang="en-US" sz="1400" kern="1200" smtClean="0">
          <a:solidFill>
            <a:schemeClr val="tx1"/>
          </a:solidFill>
          <a:latin typeface="+mn-lt"/>
          <a:ea typeface="+mn-ea"/>
          <a:cs typeface="+mn-cs"/>
        </a:defRPr>
      </a:lvl7pPr>
      <a:lvl8pPr marL="2011680" indent="-182880" algn="l" rtl="0" eaLnBrk="1" latinLnBrk="0" hangingPunct="1">
        <a:spcBef>
          <a:spcPts val="300"/>
        </a:spcBef>
        <a:buClr>
          <a:prstClr val="white">
            <a:shade val="50000"/>
          </a:prstClr>
        </a:buClr>
        <a:buSzPct val="75000"/>
        <a:buFont typeface="Wingdings 3"/>
        <a:buChar char=""/>
        <a:defRPr kumimoji="0" lang="en-US" sz="1400" kern="1200" smtClean="0">
          <a:solidFill>
            <a:schemeClr val="tx1"/>
          </a:solidFill>
          <a:latin typeface="+mn-lt"/>
          <a:ea typeface="+mn-ea"/>
          <a:cs typeface="+mn-cs"/>
        </a:defRPr>
      </a:lvl8pPr>
      <a:lvl9pPr marL="2194560" indent="-182880" algn="l" rtl="0" eaLnBrk="1" latinLnBrk="0" hangingPunct="1">
        <a:spcBef>
          <a:spcPts val="300"/>
        </a:spcBef>
        <a:buClr>
          <a:srgbClr val="9FB8CD"/>
        </a:buClr>
        <a:buSzPct val="75000"/>
        <a:buFont typeface="Wingdings 3"/>
        <a:buChar char=""/>
        <a:defRPr kumimoji="0" lang="en-US" sz="1200" kern="1200" smtClean="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gi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1242392" y="1052736"/>
            <a:ext cx="6858000" cy="1944216"/>
          </a:xfrm>
        </p:spPr>
        <p:txBody>
          <a:bodyPr>
            <a:noAutofit/>
          </a:bodyPr>
          <a:lstStyle/>
          <a:p>
            <a:pPr algn="l" fontAlgn="base"/>
            <a:r>
              <a:rPr lang="en-US" altLang="zh-TW" dirty="0" smtClean="0"/>
              <a:t>Fuzzy c-means clustering with prior biological knowledge</a:t>
            </a:r>
            <a:br>
              <a:rPr lang="en-US" altLang="zh-TW" dirty="0" smtClean="0"/>
            </a:br>
            <a:r>
              <a:rPr lang="en-US" altLang="zh-TW" dirty="0" smtClean="0"/>
              <a:t/>
            </a:r>
            <a:br>
              <a:rPr lang="en-US" altLang="zh-TW" dirty="0" smtClean="0"/>
            </a:br>
            <a:r>
              <a:rPr lang="en-US" altLang="zh-TW" sz="2000" b="0" dirty="0"/>
              <a:t>Journal of Biomedical </a:t>
            </a:r>
            <a:r>
              <a:rPr lang="en-US" altLang="zh-TW" sz="2000" b="0" dirty="0" smtClean="0"/>
              <a:t>Informatics</a:t>
            </a:r>
            <a:r>
              <a:rPr lang="zh-TW" altLang="en-US" sz="2000" b="0" dirty="0" smtClean="0"/>
              <a:t> </a:t>
            </a:r>
            <a:r>
              <a:rPr lang="en-US" altLang="zh-TW" sz="2000" b="0" dirty="0" smtClean="0"/>
              <a:t>vol.42,</a:t>
            </a:r>
            <a:r>
              <a:rPr lang="en-US" altLang="zh-TW" sz="2000" b="0" dirty="0"/>
              <a:t> </a:t>
            </a:r>
            <a:r>
              <a:rPr lang="en-US" altLang="zh-TW" sz="2000" b="0" dirty="0" smtClean="0"/>
              <a:t> pp.74-81, </a:t>
            </a:r>
            <a:r>
              <a:rPr lang="en-US" altLang="zh-TW" sz="2000" b="0" dirty="0"/>
              <a:t>2009</a:t>
            </a:r>
            <a:endParaRPr lang="zh-TW" altLang="en-US" sz="2000" dirty="0"/>
          </a:p>
        </p:txBody>
      </p:sp>
      <p:sp>
        <p:nvSpPr>
          <p:cNvPr id="3" name="副標題 2"/>
          <p:cNvSpPr>
            <a:spLocks noGrp="1"/>
          </p:cNvSpPr>
          <p:nvPr>
            <p:ph type="subTitle" idx="1"/>
          </p:nvPr>
        </p:nvSpPr>
        <p:spPr>
          <a:xfrm>
            <a:off x="1219200" y="3228979"/>
            <a:ext cx="6858000" cy="2144237"/>
          </a:xfrm>
        </p:spPr>
        <p:txBody>
          <a:bodyPr>
            <a:noAutofit/>
          </a:bodyPr>
          <a:lstStyle/>
          <a:p>
            <a:pPr algn="l" fontAlgn="base"/>
            <a:r>
              <a:rPr lang="en-US" altLang="zh-TW" dirty="0" smtClean="0"/>
              <a:t>Luis Tari</a:t>
            </a:r>
            <a:r>
              <a:rPr lang="en-US" altLang="zh-TW" baseline="30000" dirty="0" smtClean="0"/>
              <a:t>a	</a:t>
            </a:r>
            <a:r>
              <a:rPr lang="en-US" altLang="zh-TW" dirty="0" smtClean="0"/>
              <a:t>,</a:t>
            </a:r>
            <a:r>
              <a:rPr lang="zh-TW" altLang="en-US" dirty="0" smtClean="0"/>
              <a:t>   </a:t>
            </a:r>
            <a:r>
              <a:rPr lang="en-US" altLang="zh-TW" dirty="0" smtClean="0"/>
              <a:t>Chitta Baral</a:t>
            </a:r>
            <a:r>
              <a:rPr lang="en-US" altLang="zh-TW" baseline="30000" dirty="0" smtClean="0"/>
              <a:t>a</a:t>
            </a:r>
            <a:r>
              <a:rPr lang="en-US" altLang="zh-TW" dirty="0" smtClean="0"/>
              <a:t>,</a:t>
            </a:r>
            <a:r>
              <a:rPr lang="zh-TW" altLang="en-US" dirty="0" smtClean="0"/>
              <a:t>   </a:t>
            </a:r>
            <a:r>
              <a:rPr lang="en-US" altLang="zh-TW" dirty="0" smtClean="0"/>
              <a:t>Seungchan</a:t>
            </a:r>
            <a:r>
              <a:rPr lang="en-US" altLang="zh-TW" dirty="0" smtClean="0"/>
              <a:t> Kim</a:t>
            </a:r>
            <a:r>
              <a:rPr lang="en-US" altLang="zh-TW" baseline="30000" dirty="0" smtClean="0"/>
              <a:t>a, b</a:t>
            </a:r>
            <a:br>
              <a:rPr lang="en-US" altLang="zh-TW" baseline="30000" dirty="0" smtClean="0"/>
            </a:br>
            <a:r>
              <a:rPr lang="zh-TW" altLang="en-US" sz="900" baseline="30000" dirty="0" smtClean="0"/>
              <a:t> </a:t>
            </a:r>
            <a:r>
              <a:rPr lang="en-US" altLang="zh-TW" sz="1800" dirty="0" smtClean="0">
                <a:solidFill>
                  <a:schemeClr val="tx1"/>
                </a:solidFill>
              </a:rPr>
              <a:t/>
            </a:r>
            <a:br>
              <a:rPr lang="en-US" altLang="zh-TW" sz="1800" dirty="0" smtClean="0">
                <a:solidFill>
                  <a:schemeClr val="tx1"/>
                </a:solidFill>
              </a:rPr>
            </a:br>
            <a:r>
              <a:rPr lang="en-US" altLang="zh-TW" sz="1800" baseline="30000" dirty="0" smtClean="0"/>
              <a:t>a</a:t>
            </a:r>
            <a:r>
              <a:rPr lang="en-US" altLang="zh-TW" sz="1800" dirty="0"/>
              <a:t> School of Computing and Informatics, Department of Computer Science and Engineering, Ira A. Fulton School of Engineering, Arizona State University, P.O. Box 878809, Tempe, AZ 85287-8809, USA</a:t>
            </a:r>
          </a:p>
          <a:p>
            <a:pPr algn="l" fontAlgn="base"/>
            <a:r>
              <a:rPr lang="en-US" altLang="zh-TW" sz="1800" baseline="30000" dirty="0"/>
              <a:t>b</a:t>
            </a:r>
            <a:r>
              <a:rPr lang="en-US" altLang="zh-TW" sz="1800" dirty="0"/>
              <a:t> Computational Biology Division, Translational Genomics Research Institute, Phoenix, AZ 85005, USA</a:t>
            </a:r>
          </a:p>
        </p:txBody>
      </p:sp>
      <p:sp>
        <p:nvSpPr>
          <p:cNvPr id="5" name="日期版面配置區 4"/>
          <p:cNvSpPr>
            <a:spLocks noGrp="1"/>
          </p:cNvSpPr>
          <p:nvPr>
            <p:ph type="dt" sz="half" idx="10"/>
          </p:nvPr>
        </p:nvSpPr>
        <p:spPr/>
        <p:txBody>
          <a:bodyPr/>
          <a:lstStyle/>
          <a:p>
            <a:r>
              <a:rPr lang="en-US" altLang="zh-TW" smtClean="0"/>
              <a:t>2013/3/12</a:t>
            </a:r>
            <a:endParaRPr lang="zh-TW" altLang="en-US" dirty="0"/>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a:t>
            </a:fld>
            <a:endParaRPr lang="zh-TW" altLang="en-US" dirty="0"/>
          </a:p>
        </p:txBody>
      </p:sp>
      <p:sp>
        <p:nvSpPr>
          <p:cNvPr id="6" name="副標題 2"/>
          <p:cNvSpPr txBox="1">
            <a:spLocks/>
          </p:cNvSpPr>
          <p:nvPr/>
        </p:nvSpPr>
        <p:spPr>
          <a:xfrm>
            <a:off x="1259632" y="5649613"/>
            <a:ext cx="6817568" cy="413196"/>
          </a:xfrm>
          <a:prstGeom prst="rect">
            <a:avLst/>
          </a:prstGeom>
        </p:spPr>
        <p:txBody>
          <a:bodyPr vert="horz">
            <a:noAutofit/>
          </a:bodyPr>
          <a:lstStyle>
            <a:lvl1pPr marL="0" indent="0" algn="r" rtl="0" eaLnBrk="1" latinLnBrk="0" hangingPunct="1">
              <a:spcBef>
                <a:spcPts val="600"/>
              </a:spcBef>
              <a:buClr>
                <a:schemeClr val="accent1"/>
              </a:buClr>
              <a:buSzPct val="76000"/>
              <a:buFont typeface="Wingdings 3"/>
              <a:buNone/>
              <a:defRPr kumimoji="0" sz="2000" kern="1200">
                <a:solidFill>
                  <a:schemeClr val="tx2"/>
                </a:solidFill>
                <a:latin typeface="+mj-lt"/>
                <a:ea typeface="+mj-ea"/>
                <a:cs typeface="+mj-cs"/>
              </a:defRPr>
            </a:lvl1pPr>
            <a:lvl2pPr marL="457200" indent="0" algn="ctr" rtl="0" eaLnBrk="1" latinLnBrk="0" hangingPunct="1">
              <a:spcBef>
                <a:spcPts val="500"/>
              </a:spcBef>
              <a:buClr>
                <a:schemeClr val="accent2"/>
              </a:buClr>
              <a:buSzPct val="76000"/>
              <a:buFont typeface="Wingdings 3"/>
              <a:buNone/>
              <a:defRPr kumimoji="0" sz="2300" kern="1200">
                <a:solidFill>
                  <a:schemeClr val="tx2"/>
                </a:solidFill>
                <a:latin typeface="+mn-lt"/>
                <a:ea typeface="+mn-ea"/>
                <a:cs typeface="+mn-cs"/>
              </a:defRPr>
            </a:lvl2pPr>
            <a:lvl3pPr marL="914400" indent="0" algn="ctr" rtl="0" eaLnBrk="1" latinLnBrk="0" hangingPunct="1">
              <a:spcBef>
                <a:spcPts val="500"/>
              </a:spcBef>
              <a:buClr>
                <a:schemeClr val="bg1">
                  <a:shade val="50000"/>
                </a:schemeClr>
              </a:buClr>
              <a:buSzPct val="76000"/>
              <a:buFont typeface="Wingdings 3"/>
              <a:buNone/>
              <a:defRPr kumimoji="0" sz="2000" kern="1200">
                <a:solidFill>
                  <a:schemeClr val="tx1"/>
                </a:solidFill>
                <a:latin typeface="+mn-lt"/>
                <a:ea typeface="+mn-ea"/>
                <a:cs typeface="+mn-cs"/>
              </a:defRPr>
            </a:lvl3pPr>
            <a:lvl4pPr marL="1371600" indent="0" algn="ctr" rtl="0" eaLnBrk="1" latinLnBrk="0" hangingPunct="1">
              <a:spcBef>
                <a:spcPts val="400"/>
              </a:spcBef>
              <a:buClr>
                <a:schemeClr val="accent2">
                  <a:shade val="75000"/>
                </a:schemeClr>
              </a:buClr>
              <a:buSzPct val="70000"/>
              <a:buFont typeface="Wingdings"/>
              <a:buNone/>
              <a:defRPr kumimoji="0" sz="1800" kern="1200">
                <a:solidFill>
                  <a:schemeClr val="tx1"/>
                </a:solidFill>
                <a:latin typeface="+mn-lt"/>
                <a:ea typeface="+mn-ea"/>
                <a:cs typeface="+mn-cs"/>
              </a:defRPr>
            </a:lvl4pPr>
            <a:lvl5pPr marL="1828800" indent="0" algn="ctr" rtl="0" eaLnBrk="1" latinLnBrk="0" hangingPunct="1">
              <a:spcBef>
                <a:spcPts val="300"/>
              </a:spcBef>
              <a:buClr>
                <a:schemeClr val="accent2"/>
              </a:buClr>
              <a:buSzPct val="70000"/>
              <a:buFont typeface="Wingdings"/>
              <a:buNone/>
              <a:defRPr kumimoji="0" sz="1600" kern="1200">
                <a:solidFill>
                  <a:schemeClr val="tx1"/>
                </a:solidFill>
                <a:latin typeface="+mn-lt"/>
                <a:ea typeface="+mn-ea"/>
                <a:cs typeface="+mn-cs"/>
              </a:defRPr>
            </a:lvl5pPr>
            <a:lvl6pPr marL="2286000" indent="0" algn="ctr" rtl="0" eaLnBrk="1" latinLnBrk="0" hangingPunct="1">
              <a:spcBef>
                <a:spcPts val="300"/>
              </a:spcBef>
              <a:buClr>
                <a:srgbClr val="9FB8CD">
                  <a:shade val="75000"/>
                </a:srgbClr>
              </a:buClr>
              <a:buSzPct val="75000"/>
              <a:buFont typeface="Wingdings 3"/>
              <a:buNone/>
              <a:defRPr kumimoji="0" lang="en-US" sz="1600" kern="1200" smtClean="0">
                <a:solidFill>
                  <a:schemeClr val="tx1"/>
                </a:solidFill>
                <a:latin typeface="+mn-lt"/>
                <a:ea typeface="+mn-ea"/>
                <a:cs typeface="+mn-cs"/>
              </a:defRPr>
            </a:lvl6pPr>
            <a:lvl7pPr marL="2743200" indent="0" algn="ctr" rtl="0" eaLnBrk="1" latinLnBrk="0" hangingPunct="1">
              <a:spcBef>
                <a:spcPts val="300"/>
              </a:spcBef>
              <a:buClr>
                <a:srgbClr val="727CA3">
                  <a:shade val="75000"/>
                </a:srgbClr>
              </a:buClr>
              <a:buSzPct val="75000"/>
              <a:buFont typeface="Wingdings 3"/>
              <a:buNone/>
              <a:defRPr kumimoji="0" lang="en-US" sz="1400" kern="1200" smtClean="0">
                <a:solidFill>
                  <a:schemeClr val="tx1"/>
                </a:solidFill>
                <a:latin typeface="+mn-lt"/>
                <a:ea typeface="+mn-ea"/>
                <a:cs typeface="+mn-cs"/>
              </a:defRPr>
            </a:lvl7pPr>
            <a:lvl8pPr marL="3200400" indent="0" algn="ctr" rtl="0" eaLnBrk="1" latinLnBrk="0" hangingPunct="1">
              <a:spcBef>
                <a:spcPts val="300"/>
              </a:spcBef>
              <a:buClr>
                <a:prstClr val="white">
                  <a:shade val="50000"/>
                </a:prstClr>
              </a:buClr>
              <a:buSzPct val="75000"/>
              <a:buFont typeface="Wingdings 3"/>
              <a:buNone/>
              <a:defRPr kumimoji="0" lang="en-US" sz="1400" kern="1200" smtClean="0">
                <a:solidFill>
                  <a:schemeClr val="tx1"/>
                </a:solidFill>
                <a:latin typeface="+mn-lt"/>
                <a:ea typeface="+mn-ea"/>
                <a:cs typeface="+mn-cs"/>
              </a:defRPr>
            </a:lvl8pPr>
            <a:lvl9pPr marL="3657600" indent="0" algn="ctr" rtl="0" eaLnBrk="1" latinLnBrk="0" hangingPunct="1">
              <a:spcBef>
                <a:spcPts val="300"/>
              </a:spcBef>
              <a:buClr>
                <a:srgbClr val="9FB8CD"/>
              </a:buClr>
              <a:buSzPct val="75000"/>
              <a:buFont typeface="Wingdings 3"/>
              <a:buNone/>
              <a:defRPr kumimoji="0" lang="en-US" sz="1200" kern="1200" smtClean="0">
                <a:solidFill>
                  <a:schemeClr val="tx1"/>
                </a:solidFill>
                <a:latin typeface="+mn-lt"/>
                <a:ea typeface="+mn-ea"/>
                <a:cs typeface="+mn-cs"/>
              </a:defRPr>
            </a:lvl9pPr>
          </a:lstStyle>
          <a:p>
            <a:pPr algn="l"/>
            <a:r>
              <a:rPr lang="en-US" altLang="zh-TW" sz="2400" dirty="0" err="1" smtClean="0">
                <a:solidFill>
                  <a:schemeClr val="tx1"/>
                </a:solidFill>
              </a:rPr>
              <a:t>Presentor</a:t>
            </a:r>
            <a:r>
              <a:rPr lang="zh-TW" altLang="en-US" sz="2400" dirty="0" smtClean="0">
                <a:solidFill>
                  <a:schemeClr val="tx1"/>
                </a:solidFill>
              </a:rPr>
              <a:t>：</a:t>
            </a:r>
            <a:r>
              <a:rPr lang="en-US" altLang="zh-TW" sz="2400" dirty="0" err="1" smtClean="0">
                <a:solidFill>
                  <a:schemeClr val="tx1"/>
                </a:solidFill>
              </a:rPr>
              <a:t>Hsin-Chuan</a:t>
            </a:r>
            <a:r>
              <a:rPr lang="en-US" altLang="zh-TW" sz="2400" dirty="0" smtClean="0">
                <a:solidFill>
                  <a:schemeClr val="tx1"/>
                </a:solidFill>
              </a:rPr>
              <a:t> Yuan</a:t>
            </a:r>
            <a:endParaRPr lang="zh-TW" altLang="en-US" sz="2400" dirty="0">
              <a:solidFill>
                <a:schemeClr val="tx1"/>
              </a:solidFill>
            </a:endParaRPr>
          </a:p>
        </p:txBody>
      </p:sp>
    </p:spTree>
    <p:extLst>
      <p:ext uri="{BB962C8B-B14F-4D97-AF65-F5344CB8AC3E}">
        <p14:creationId xmlns:p14="http://schemas.microsoft.com/office/powerpoint/2010/main" val="166313647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2</a:t>
            </a:fld>
            <a:endParaRPr lang="zh-TW" altLang="en-US"/>
          </a:p>
        </p:txBody>
      </p:sp>
      <p:sp>
        <p:nvSpPr>
          <p:cNvPr id="5" name="內容版面配置區 4"/>
          <p:cNvSpPr>
            <a:spLocks noGrp="1"/>
          </p:cNvSpPr>
          <p:nvPr>
            <p:ph sz="quarter" idx="1"/>
          </p:nvPr>
        </p:nvSpPr>
        <p:spPr/>
        <p:txBody>
          <a:bodyPr>
            <a:normAutofit/>
          </a:bodyPr>
          <a:lstStyle/>
          <a:p>
            <a:r>
              <a:rPr lang="en-US" altLang="zh-TW" dirty="0">
                <a:latin typeface="+mn-lt"/>
              </a:rPr>
              <a:t>We propose a novel semi-supervised clustering method called GO Fuzzy c-means, which enables the simultaneous use of biological knowledge and gene expression data in a probabilistic clustering algorithm. Our method is based on the fuzzy </a:t>
            </a:r>
            <a:r>
              <a:rPr lang="en-US" altLang="zh-TW" dirty="0" smtClean="0">
                <a:latin typeface="+mn-lt"/>
              </a:rPr>
              <a:t>c-means </a:t>
            </a:r>
            <a:r>
              <a:rPr lang="en-US" altLang="zh-TW" dirty="0">
                <a:latin typeface="+mn-lt"/>
              </a:rPr>
              <a:t>clustering algorithm and utilizes the Gene Ontology annotations as prior knowledge to guide the process of grouping functionally related genes. Unlike traditional clustering methods, our method is capable of assigning genes to multiple clusters, which is a more appropriate representation of the behavior of genes</a:t>
            </a:r>
            <a:r>
              <a:rPr lang="en-US" altLang="zh-TW" dirty="0" smtClean="0">
                <a:latin typeface="+mn-lt"/>
              </a:rPr>
              <a:t>.</a:t>
            </a:r>
            <a:r>
              <a:rPr lang="en-US" altLang="zh-TW" dirty="0"/>
              <a:t> </a:t>
            </a:r>
            <a:endParaRPr lang="zh-TW" altLang="en-US" dirty="0">
              <a:latin typeface="Arial" pitchFamily="34" charset="0"/>
              <a:ea typeface="+mj-ea"/>
              <a:cs typeface="Arial" pitchFamily="34" charset="0"/>
            </a:endParaRPr>
          </a:p>
        </p:txBody>
      </p:sp>
    </p:spTree>
    <p:extLst>
      <p:ext uri="{BB962C8B-B14F-4D97-AF65-F5344CB8AC3E}">
        <p14:creationId xmlns:p14="http://schemas.microsoft.com/office/powerpoint/2010/main" val="72082165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Abstract</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3</a:t>
            </a:fld>
            <a:endParaRPr lang="zh-TW" altLang="en-US"/>
          </a:p>
        </p:txBody>
      </p:sp>
      <p:sp>
        <p:nvSpPr>
          <p:cNvPr id="5" name="內容版面配置區 4"/>
          <p:cNvSpPr>
            <a:spLocks noGrp="1"/>
          </p:cNvSpPr>
          <p:nvPr>
            <p:ph sz="quarter" idx="1"/>
          </p:nvPr>
        </p:nvSpPr>
        <p:spPr/>
        <p:txBody>
          <a:bodyPr>
            <a:normAutofit/>
          </a:bodyPr>
          <a:lstStyle/>
          <a:p>
            <a:r>
              <a:rPr lang="en-US" altLang="zh-TW" dirty="0">
                <a:latin typeface="+mj-lt"/>
              </a:rPr>
              <a:t>Two datasets of </a:t>
            </a:r>
            <a:r>
              <a:rPr lang="en-US" altLang="zh-TW" dirty="0" smtClean="0">
                <a:latin typeface="+mj-lt"/>
              </a:rPr>
              <a:t>yeast </a:t>
            </a:r>
            <a:r>
              <a:rPr lang="en-US" altLang="zh-TW" dirty="0">
                <a:latin typeface="+mj-lt"/>
              </a:rPr>
              <a:t>expression profiles were applied to compare our method with other state-of-the-art clustering methods. Our experiments show that our method can produce far better biologically meaningful clusters even with the use of a small percentage of Gene Ontology annotations. In addition, our experiments further indicate that the utilization of prior knowledge in our method can predict gene functions effectively. </a:t>
            </a:r>
            <a:endParaRPr lang="zh-TW" altLang="en-US" dirty="0">
              <a:latin typeface="+mj-lt"/>
              <a:cs typeface="Arial" pitchFamily="34" charset="0"/>
            </a:endParaRPr>
          </a:p>
        </p:txBody>
      </p:sp>
    </p:spTree>
    <p:extLst>
      <p:ext uri="{BB962C8B-B14F-4D97-AF65-F5344CB8AC3E}">
        <p14:creationId xmlns:p14="http://schemas.microsoft.com/office/powerpoint/2010/main" val="60391256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ja-JP" dirty="0" smtClean="0"/>
              <a:t>Fuzzy c-means</a:t>
            </a:r>
            <a:r>
              <a:rPr lang="en-US" altLang="zh-TW" dirty="0" smtClean="0"/>
              <a:t>(FCM)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4</a:t>
            </a:fld>
            <a:endParaRPr lang="zh-TW" altLang="en-US"/>
          </a:p>
        </p:txBody>
      </p:sp>
      <mc:AlternateContent xmlns:mc="http://schemas.openxmlformats.org/markup-compatibility/2006">
        <mc:Choice xmlns:a14="http://schemas.microsoft.com/office/drawing/2010/main" Requires="a14">
          <p:sp>
            <p:nvSpPr>
              <p:cNvPr id="11" name="內容版面配置區 10"/>
              <p:cNvSpPr>
                <a:spLocks noGrp="1"/>
              </p:cNvSpPr>
              <p:nvPr>
                <p:ph sz="quarter" idx="1"/>
              </p:nvPr>
            </p:nvSpPr>
            <p:spPr>
              <a:xfrm>
                <a:off x="0" y="1219200"/>
                <a:ext cx="9144000" cy="4937760"/>
              </a:xfrm>
            </p:spPr>
            <p:txBody>
              <a:bodyPr>
                <a:normAutofit/>
              </a:bodyPr>
              <a:lstStyle/>
              <a:p>
                <a:r>
                  <a:rPr lang="zh-TW" altLang="en-US" sz="2300" dirty="0" smtClean="0">
                    <a:latin typeface="+mj-lt"/>
                  </a:rPr>
                  <a:t>將</a:t>
                </a:r>
                <a:r>
                  <a:rPr lang="en-US" altLang="zh-TW" sz="2300" dirty="0" smtClean="0">
                    <a:latin typeface="+mj-lt"/>
                  </a:rPr>
                  <a:t>K-means</a:t>
                </a:r>
                <a:r>
                  <a:rPr lang="zh-TW" altLang="en-US" sz="2300" dirty="0" smtClean="0">
                    <a:latin typeface="+mj-lt"/>
                  </a:rPr>
                  <a:t>模糊化稱為</a:t>
                </a:r>
                <a:r>
                  <a:rPr lang="en-US" altLang="zh-TW" sz="2300" dirty="0" smtClean="0">
                    <a:latin typeface="+mj-lt"/>
                  </a:rPr>
                  <a:t>f</a:t>
                </a:r>
                <a:r>
                  <a:rPr lang="en-US" altLang="ja-JP" sz="2300" dirty="0" smtClean="0">
                    <a:latin typeface="+mj-lt"/>
                  </a:rPr>
                  <a:t>uzzy c-means</a:t>
                </a:r>
                <a:r>
                  <a:rPr lang="zh-TW" altLang="en-US" sz="2300" dirty="0" smtClean="0">
                    <a:latin typeface="+mj-lt"/>
                  </a:rPr>
                  <a:t>。</a:t>
                </a:r>
                <a:endParaRPr lang="en-US" altLang="zh-TW" sz="2300" dirty="0" smtClean="0">
                  <a:latin typeface="+mj-lt"/>
                </a:endParaRPr>
              </a:p>
              <a:p>
                <a:pPr lvl="1"/>
                <a:r>
                  <a:rPr lang="zh-TW" altLang="en-US" dirty="0">
                    <a:latin typeface="+mj-lt"/>
                  </a:rPr>
                  <a:t>假設</a:t>
                </a:r>
                <a:r>
                  <a:rPr lang="zh-TW" altLang="en-US" dirty="0" smtClean="0">
                    <a:latin typeface="+mj-lt"/>
                  </a:rPr>
                  <a:t>每個資料點</a:t>
                </a:r>
                <a:r>
                  <a:rPr lang="en-US" altLang="zh-TW" dirty="0" smtClean="0">
                    <a:latin typeface="+mj-lt"/>
                  </a:rPr>
                  <a:t>X</a:t>
                </a:r>
                <a:r>
                  <a:rPr lang="en-US" altLang="zh-TW" baseline="-25000" dirty="0" smtClean="0">
                    <a:latin typeface="+mj-lt"/>
                  </a:rPr>
                  <a:t>i</a:t>
                </a:r>
                <a:r>
                  <a:rPr lang="zh-TW" altLang="en-US" dirty="0" smtClean="0">
                    <a:latin typeface="+mj-lt"/>
                  </a:rPr>
                  <a:t>為</a:t>
                </a:r>
                <a:r>
                  <a:rPr lang="en-US" altLang="zh-TW" dirty="0">
                    <a:latin typeface="+mj-lt"/>
                  </a:rPr>
                  <a:t>n</a:t>
                </a:r>
                <a:r>
                  <a:rPr lang="zh-TW" altLang="en-US" dirty="0" smtClean="0">
                    <a:latin typeface="+mj-lt"/>
                  </a:rPr>
                  <a:t>維度的點，即</a:t>
                </a:r>
                <a14:m>
                  <m:oMath xmlns:m="http://schemas.openxmlformats.org/officeDocument/2006/math">
                    <m:sSub>
                      <m:sSubPr>
                        <m:ctrlPr>
                          <a:rPr lang="en-US" altLang="zh-TW" b="0" i="1" smtClean="0">
                            <a:latin typeface="+mj-lt"/>
                          </a:rPr>
                        </m:ctrlPr>
                      </m:sSubPr>
                      <m:e>
                        <m:r>
                          <a:rPr lang="en-US" altLang="zh-TW" b="0" i="1" smtClean="0">
                            <a:latin typeface="+mj-lt"/>
                          </a:rPr>
                          <m:t>𝑋</m:t>
                        </m:r>
                      </m:e>
                      <m:sub>
                        <m:r>
                          <a:rPr lang="en-US" altLang="zh-TW" b="0" i="1" smtClean="0">
                            <a:latin typeface="+mj-lt"/>
                          </a:rPr>
                          <m:t>𝑖</m:t>
                        </m:r>
                      </m:sub>
                    </m:sSub>
                    <m:r>
                      <a:rPr lang="en-US" altLang="zh-TW" b="0" i="1" smtClean="0">
                        <a:latin typeface="+mj-lt"/>
                      </a:rPr>
                      <m:t>=(</m:t>
                    </m:r>
                    <m:sSub>
                      <m:sSubPr>
                        <m:ctrlPr>
                          <a:rPr lang="en-US" altLang="zh-TW" b="0" i="1" smtClean="0">
                            <a:latin typeface="+mj-lt"/>
                          </a:rPr>
                        </m:ctrlPr>
                      </m:sSubPr>
                      <m:e>
                        <m:r>
                          <a:rPr lang="en-US" altLang="zh-TW" b="0" i="1" smtClean="0">
                            <a:latin typeface="+mj-lt"/>
                          </a:rPr>
                          <m:t>𝑥</m:t>
                        </m:r>
                      </m:e>
                      <m:sub>
                        <m:r>
                          <a:rPr lang="en-US" altLang="zh-TW" b="0" i="1" smtClean="0">
                            <a:latin typeface="+mj-lt"/>
                          </a:rPr>
                          <m:t>𝑖</m:t>
                        </m:r>
                        <m:r>
                          <a:rPr lang="en-US" altLang="zh-TW" b="0" i="1" smtClean="0">
                            <a:latin typeface="+mj-lt"/>
                          </a:rPr>
                          <m:t>1</m:t>
                        </m:r>
                      </m:sub>
                    </m:sSub>
                    <m:r>
                      <a:rPr lang="en-US" altLang="zh-TW" b="0" i="1" smtClean="0">
                        <a:latin typeface="+mj-lt"/>
                      </a:rPr>
                      <m:t>,</m:t>
                    </m:r>
                    <m:sSub>
                      <m:sSubPr>
                        <m:ctrlPr>
                          <a:rPr lang="en-US" altLang="zh-TW" b="0" i="1" smtClean="0">
                            <a:latin typeface="+mj-lt"/>
                          </a:rPr>
                        </m:ctrlPr>
                      </m:sSubPr>
                      <m:e>
                        <m:r>
                          <a:rPr lang="en-US" altLang="zh-TW" b="0" i="1" smtClean="0">
                            <a:latin typeface="+mj-lt"/>
                          </a:rPr>
                          <m:t>𝑥</m:t>
                        </m:r>
                      </m:e>
                      <m:sub>
                        <m:r>
                          <a:rPr lang="en-US" altLang="zh-TW" b="0" i="1" smtClean="0">
                            <a:latin typeface="+mj-lt"/>
                          </a:rPr>
                          <m:t>𝑖</m:t>
                        </m:r>
                        <m:r>
                          <a:rPr lang="en-US" altLang="zh-TW" b="0" i="1" smtClean="0">
                            <a:latin typeface="+mj-lt"/>
                          </a:rPr>
                          <m:t>2</m:t>
                        </m:r>
                      </m:sub>
                    </m:sSub>
                    <m:r>
                      <a:rPr lang="en-US" altLang="zh-TW" b="0" i="1" smtClean="0">
                        <a:latin typeface="+mj-lt"/>
                      </a:rPr>
                      <m:t>,…,</m:t>
                    </m:r>
                    <m:sSub>
                      <m:sSubPr>
                        <m:ctrlPr>
                          <a:rPr lang="en-US" altLang="zh-TW" b="0" i="1" smtClean="0">
                            <a:latin typeface="+mj-lt"/>
                          </a:rPr>
                        </m:ctrlPr>
                      </m:sSubPr>
                      <m:e>
                        <m:r>
                          <a:rPr lang="en-US" altLang="zh-TW" b="0" i="1" smtClean="0">
                            <a:latin typeface="+mj-lt"/>
                          </a:rPr>
                          <m:t>𝑥</m:t>
                        </m:r>
                      </m:e>
                      <m:sub>
                        <m:r>
                          <a:rPr lang="en-US" altLang="zh-TW" b="0" i="1" smtClean="0">
                            <a:latin typeface="+mj-lt"/>
                          </a:rPr>
                          <m:t>𝑖𝑛</m:t>
                        </m:r>
                      </m:sub>
                    </m:sSub>
                    <m:r>
                      <a:rPr lang="en-US" altLang="zh-TW" b="0" i="1" smtClean="0">
                        <a:latin typeface="+mj-lt"/>
                      </a:rPr>
                      <m:t>)</m:t>
                    </m:r>
                  </m:oMath>
                </a14:m>
                <a:endParaRPr lang="en-US" altLang="zh-TW" baseline="-25000" dirty="0" smtClean="0">
                  <a:latin typeface="+mj-lt"/>
                </a:endParaRPr>
              </a:p>
              <a:p>
                <a:pPr lvl="1"/>
                <a:r>
                  <a:rPr lang="en-US" altLang="zh-TW" dirty="0" smtClean="0">
                    <a:latin typeface="+mj-lt"/>
                  </a:rPr>
                  <a:t> </a:t>
                </a:r>
                <a:r>
                  <a:rPr lang="zh-TW" altLang="en-US" dirty="0"/>
                  <a:t>模糊虛擬</a:t>
                </a:r>
                <a:r>
                  <a:rPr lang="zh-TW" altLang="en-US" dirty="0" smtClean="0"/>
                  <a:t>分割</a:t>
                </a:r>
                <a:r>
                  <a:rPr lang="en-US" altLang="zh-TW" dirty="0" err="1" smtClean="0">
                    <a:latin typeface="+mj-lt"/>
                  </a:rPr>
                  <a:t>w</a:t>
                </a:r>
                <a:r>
                  <a:rPr lang="en-US" altLang="zh-TW" baseline="-25000" dirty="0" err="1" smtClean="0">
                    <a:latin typeface="+mj-lt"/>
                  </a:rPr>
                  <a:t>ij</a:t>
                </a:r>
                <a:r>
                  <a:rPr lang="zh-TW" altLang="en-US" dirty="0" smtClean="0">
                    <a:latin typeface="+mj-lt"/>
                  </a:rPr>
                  <a:t>表示每個資料點</a:t>
                </a:r>
                <a:r>
                  <a:rPr lang="en-US" altLang="zh-TW" dirty="0" smtClean="0">
                    <a:latin typeface="+mj-lt"/>
                  </a:rPr>
                  <a:t>X</a:t>
                </a:r>
                <a:r>
                  <a:rPr lang="en-US" altLang="zh-TW" baseline="-25000" dirty="0" smtClean="0">
                    <a:latin typeface="+mj-lt"/>
                  </a:rPr>
                  <a:t>i</a:t>
                </a:r>
                <a:r>
                  <a:rPr lang="zh-TW" altLang="en-US" dirty="0" smtClean="0">
                    <a:latin typeface="+mj-lt"/>
                  </a:rPr>
                  <a:t>隸屬於每個群集</a:t>
                </a:r>
                <a:r>
                  <a:rPr lang="en-US" altLang="zh-TW" dirty="0" smtClean="0">
                    <a:latin typeface="+mj-lt"/>
                  </a:rPr>
                  <a:t>C</a:t>
                </a:r>
                <a:r>
                  <a:rPr lang="en-US" altLang="zh-TW" baseline="-25000" dirty="0" smtClean="0">
                    <a:latin typeface="+mj-lt"/>
                  </a:rPr>
                  <a:t>1</a:t>
                </a:r>
                <a:r>
                  <a:rPr lang="en-US" altLang="zh-TW" dirty="0" smtClean="0">
                    <a:latin typeface="+mj-lt"/>
                  </a:rPr>
                  <a:t>,C</a:t>
                </a:r>
                <a:r>
                  <a:rPr lang="en-US" altLang="zh-TW" baseline="-25000" dirty="0" smtClean="0">
                    <a:latin typeface="+mj-lt"/>
                  </a:rPr>
                  <a:t>2</a:t>
                </a:r>
                <a:r>
                  <a:rPr lang="en-US" altLang="zh-TW" dirty="0" smtClean="0">
                    <a:latin typeface="+mj-lt"/>
                  </a:rPr>
                  <a:t>,…,</a:t>
                </a:r>
                <a:r>
                  <a:rPr lang="en-US" altLang="zh-TW" dirty="0" err="1" smtClean="0">
                    <a:latin typeface="+mj-lt"/>
                  </a:rPr>
                  <a:t>C</a:t>
                </a:r>
                <a:r>
                  <a:rPr lang="en-US" altLang="zh-TW" baseline="-25000" dirty="0" err="1" smtClean="0">
                    <a:latin typeface="+mj-lt"/>
                  </a:rPr>
                  <a:t>k</a:t>
                </a:r>
                <a:r>
                  <a:rPr lang="zh-TW" altLang="en-US" dirty="0" smtClean="0">
                    <a:latin typeface="+mj-lt"/>
                  </a:rPr>
                  <a:t>的程度將介於</a:t>
                </a:r>
                <a:r>
                  <a:rPr lang="en-US" altLang="zh-TW" dirty="0" smtClean="0">
                    <a:latin typeface="+mj-lt"/>
                  </a:rPr>
                  <a:t>0</a:t>
                </a:r>
                <a:r>
                  <a:rPr lang="zh-TW" altLang="en-US" dirty="0" smtClean="0">
                    <a:latin typeface="+mj-lt"/>
                  </a:rPr>
                  <a:t>與</a:t>
                </a:r>
                <a:r>
                  <a:rPr lang="en-US" altLang="zh-TW" dirty="0" smtClean="0">
                    <a:latin typeface="+mj-lt"/>
                  </a:rPr>
                  <a:t>1</a:t>
                </a:r>
                <a:r>
                  <a:rPr lang="zh-TW" altLang="en-US" dirty="0" smtClean="0">
                    <a:latin typeface="+mj-lt"/>
                  </a:rPr>
                  <a:t>之間。</a:t>
                </a:r>
                <a:endParaRPr lang="en-US" altLang="zh-TW" dirty="0" smtClean="0">
                  <a:latin typeface="+mj-lt"/>
                </a:endParaRPr>
              </a:p>
              <a:p>
                <a:pPr lvl="1"/>
                <a:r>
                  <a:rPr lang="zh-TW" altLang="en-US" dirty="0" smtClean="0">
                    <a:latin typeface="+mj-lt"/>
                  </a:rPr>
                  <a:t>通常</a:t>
                </a:r>
                <a:r>
                  <a:rPr lang="zh-TW" altLang="en-US" dirty="0" smtClean="0">
                    <a:latin typeface="+mj-lt"/>
                  </a:rPr>
                  <a:t>使用</a:t>
                </a:r>
                <a:r>
                  <a:rPr lang="zh-TW" altLang="en-US" dirty="0">
                    <a:latin typeface="+mj-lt"/>
                  </a:rPr>
                  <a:t>隨機</a:t>
                </a:r>
                <a:r>
                  <a:rPr lang="zh-TW" altLang="en-US" b="1" dirty="0" smtClean="0">
                    <a:latin typeface="+mj-lt"/>
                  </a:rPr>
                  <a:t>初始化</a:t>
                </a:r>
                <a:r>
                  <a:rPr lang="zh-TW" altLang="en-US" dirty="0" smtClean="0">
                    <a:latin typeface="+mj-lt"/>
                  </a:rPr>
                  <a:t>，權重是隨機地選取，所有權種總合為</a:t>
                </a:r>
                <a:r>
                  <a:rPr lang="en-US" altLang="zh-TW" dirty="0" smtClean="0">
                    <a:latin typeface="+mj-lt"/>
                  </a:rPr>
                  <a:t>1</a:t>
                </a:r>
                <a:r>
                  <a:rPr lang="zh-TW" altLang="en-US" dirty="0" smtClean="0">
                    <a:latin typeface="+mj-lt"/>
                  </a:rPr>
                  <a:t>。</a:t>
                </a:r>
                <a:r>
                  <a:rPr lang="en-US" altLang="zh-TW" dirty="0" smtClean="0">
                    <a:latin typeface="+mj-lt"/>
                  </a:rPr>
                  <a:t>	</a:t>
                </a:r>
                <a14:m>
                  <m:oMath xmlns:m="http://schemas.openxmlformats.org/officeDocument/2006/math">
                    <m:nary>
                      <m:naryPr>
                        <m:chr m:val="∑"/>
                        <m:ctrlPr>
                          <a:rPr lang="zh-TW" altLang="en-US" i="1">
                            <a:latin typeface="+mj-lt"/>
                          </a:rPr>
                        </m:ctrlPr>
                      </m:naryPr>
                      <m:sub>
                        <m:r>
                          <m:rPr>
                            <m:brk m:alnAt="23"/>
                          </m:rPr>
                          <a:rPr lang="en-US" altLang="zh-TW" i="1">
                            <a:latin typeface="+mj-lt"/>
                          </a:rPr>
                          <m:t>𝑗</m:t>
                        </m:r>
                        <m:r>
                          <a:rPr lang="en-US" altLang="zh-TW" i="1">
                            <a:latin typeface="+mj-lt"/>
                          </a:rPr>
                          <m:t>=1</m:t>
                        </m:r>
                      </m:sub>
                      <m:sup>
                        <m:r>
                          <a:rPr lang="en-US" altLang="zh-TW" i="1">
                            <a:latin typeface="+mj-lt"/>
                          </a:rPr>
                          <m:t>𝑘</m:t>
                        </m:r>
                      </m:sup>
                      <m:e>
                        <m:sSub>
                          <m:sSubPr>
                            <m:ctrlPr>
                              <a:rPr lang="en-US" altLang="zh-TW" i="1">
                                <a:latin typeface="+mj-lt"/>
                              </a:rPr>
                            </m:ctrlPr>
                          </m:sSubPr>
                          <m:e>
                            <m:r>
                              <a:rPr lang="en-US" altLang="zh-TW" i="1">
                                <a:latin typeface="+mj-lt"/>
                              </a:rPr>
                              <m:t>𝑤</m:t>
                            </m:r>
                          </m:e>
                          <m:sub>
                            <m:r>
                              <a:rPr lang="en-US" altLang="zh-TW" i="1">
                                <a:latin typeface="+mj-lt"/>
                              </a:rPr>
                              <m:t>𝑖𝑗</m:t>
                            </m:r>
                          </m:sub>
                        </m:sSub>
                        <m:r>
                          <a:rPr lang="en-US" altLang="zh-TW" i="1">
                            <a:latin typeface="+mj-lt"/>
                          </a:rPr>
                          <m:t>=1</m:t>
                        </m:r>
                      </m:e>
                    </m:nary>
                  </m:oMath>
                </a14:m>
                <a:endParaRPr lang="en-US" altLang="zh-TW" sz="2300" dirty="0" smtClean="0">
                  <a:latin typeface="+mj-lt"/>
                </a:endParaRPr>
              </a:p>
              <a:p>
                <a:pPr lvl="1"/>
                <a:r>
                  <a:rPr lang="zh-TW" altLang="en-US" dirty="0">
                    <a:latin typeface="+mj-lt"/>
                  </a:rPr>
                  <a:t>重覆</a:t>
                </a:r>
                <a:r>
                  <a:rPr lang="zh-TW" altLang="en-US" dirty="0" smtClean="0">
                    <a:latin typeface="+mj-lt"/>
                  </a:rPr>
                  <a:t>計算每個群集的中心與</a:t>
                </a:r>
                <a:r>
                  <a:rPr lang="en-US" altLang="zh-TW" dirty="0" err="1" smtClean="0">
                    <a:latin typeface="+mj-lt"/>
                  </a:rPr>
                  <a:t>w</a:t>
                </a:r>
                <a:r>
                  <a:rPr lang="en-US" altLang="zh-TW" baseline="-25000" dirty="0" err="1" smtClean="0">
                    <a:latin typeface="+mj-lt"/>
                  </a:rPr>
                  <a:t>ij</a:t>
                </a:r>
                <a:r>
                  <a:rPr lang="zh-TW" altLang="en-US" dirty="0" smtClean="0">
                    <a:latin typeface="+mj-lt"/>
                  </a:rPr>
                  <a:t>，直到分割不再變動。</a:t>
                </a:r>
                <a:endParaRPr lang="en-US" altLang="zh-TW" dirty="0" smtClean="0">
                  <a:latin typeface="+mj-lt"/>
                </a:endParaRPr>
              </a:p>
              <a:p>
                <a:pPr lvl="1"/>
                <a:r>
                  <a:rPr lang="en-US" altLang="zh-TW" dirty="0" smtClean="0">
                    <a:latin typeface="+mj-lt"/>
                  </a:rPr>
                  <a:t>FCM</a:t>
                </a:r>
                <a:r>
                  <a:rPr lang="zh-TW" altLang="en-US" dirty="0" smtClean="0">
                    <a:latin typeface="+mj-lt"/>
                  </a:rPr>
                  <a:t>試圖將</a:t>
                </a:r>
                <a:r>
                  <a:rPr lang="zh-TW" altLang="en-US" b="1" dirty="0" smtClean="0">
                    <a:latin typeface="+mj-lt"/>
                  </a:rPr>
                  <a:t>平方誤差總和</a:t>
                </a:r>
                <a:r>
                  <a:rPr lang="en-US" altLang="zh-TW" b="1" dirty="0" smtClean="0">
                    <a:latin typeface="+mj-lt"/>
                  </a:rPr>
                  <a:t>SSE</a:t>
                </a:r>
                <a:r>
                  <a:rPr lang="zh-TW" altLang="en-US" dirty="0" smtClean="0">
                    <a:latin typeface="+mj-lt"/>
                  </a:rPr>
                  <a:t>最小化。</a:t>
                </a:r>
                <a:endParaRPr lang="en-US" altLang="zh-TW" dirty="0" smtClean="0">
                  <a:latin typeface="+mj-lt"/>
                </a:endParaRPr>
              </a:p>
              <a:p>
                <a:pPr marL="274320" lvl="1" indent="0">
                  <a:buNone/>
                </a:pPr>
                <a14:m>
                  <m:oMathPara xmlns:m="http://schemas.openxmlformats.org/officeDocument/2006/math">
                    <m:oMathParaPr>
                      <m:jc m:val="centerGroup"/>
                    </m:oMathParaPr>
                    <m:oMath xmlns:m="http://schemas.openxmlformats.org/officeDocument/2006/math">
                      <m:r>
                        <a:rPr lang="en-US" altLang="zh-TW" b="0" i="1" smtClean="0">
                          <a:latin typeface="+mj-lt"/>
                        </a:rPr>
                        <m:t>𝑆𝑆𝐸</m:t>
                      </m:r>
                      <m:d>
                        <m:dPr>
                          <m:ctrlPr>
                            <a:rPr lang="en-US" altLang="zh-TW" b="0" i="1" smtClean="0">
                              <a:latin typeface="+mj-lt"/>
                            </a:rPr>
                          </m:ctrlPr>
                        </m:dPr>
                        <m:e>
                          <m:sSub>
                            <m:sSubPr>
                              <m:ctrlPr>
                                <a:rPr lang="en-US" altLang="zh-TW" b="0" i="1" smtClean="0">
                                  <a:latin typeface="+mj-lt"/>
                                </a:rPr>
                              </m:ctrlPr>
                            </m:sSubPr>
                            <m:e>
                              <m:r>
                                <a:rPr lang="en-US" altLang="zh-TW" b="0" i="1" smtClean="0">
                                  <a:latin typeface="+mj-lt"/>
                                </a:rPr>
                                <m:t>𝐶</m:t>
                              </m:r>
                            </m:e>
                            <m:sub>
                              <m:r>
                                <a:rPr lang="en-US" altLang="zh-TW" b="0" i="1" smtClean="0">
                                  <a:latin typeface="+mj-lt"/>
                                </a:rPr>
                                <m:t>1</m:t>
                              </m:r>
                            </m:sub>
                          </m:sSub>
                          <m:r>
                            <a:rPr lang="en-US" altLang="zh-TW" b="0" i="1" smtClean="0">
                              <a:latin typeface="+mj-lt"/>
                            </a:rPr>
                            <m:t>,</m:t>
                          </m:r>
                          <m:sSub>
                            <m:sSubPr>
                              <m:ctrlPr>
                                <a:rPr lang="en-US" altLang="zh-TW" b="0" i="1" smtClean="0">
                                  <a:latin typeface="+mj-lt"/>
                                </a:rPr>
                              </m:ctrlPr>
                            </m:sSubPr>
                            <m:e>
                              <m:r>
                                <a:rPr lang="en-US" altLang="zh-TW" b="0" i="1" smtClean="0">
                                  <a:latin typeface="+mj-lt"/>
                                </a:rPr>
                                <m:t>𝐶</m:t>
                              </m:r>
                            </m:e>
                            <m:sub>
                              <m:r>
                                <a:rPr lang="en-US" altLang="zh-TW" b="0" i="1" smtClean="0">
                                  <a:latin typeface="+mj-lt"/>
                                </a:rPr>
                                <m:t>2</m:t>
                              </m:r>
                            </m:sub>
                          </m:sSub>
                          <m:r>
                            <a:rPr lang="en-US" altLang="zh-TW" b="0" i="1" smtClean="0">
                              <a:latin typeface="+mj-lt"/>
                            </a:rPr>
                            <m:t>,…,</m:t>
                          </m:r>
                          <m:sSub>
                            <m:sSubPr>
                              <m:ctrlPr>
                                <a:rPr lang="en-US" altLang="zh-TW" b="0" i="1" smtClean="0">
                                  <a:latin typeface="+mj-lt"/>
                                </a:rPr>
                              </m:ctrlPr>
                            </m:sSubPr>
                            <m:e>
                              <m:r>
                                <a:rPr lang="en-US" altLang="zh-TW" b="0" i="1" smtClean="0">
                                  <a:latin typeface="+mj-lt"/>
                                </a:rPr>
                                <m:t>𝐶</m:t>
                              </m:r>
                            </m:e>
                            <m:sub>
                              <m:r>
                                <a:rPr lang="en-US" altLang="zh-TW" b="0" i="1" smtClean="0">
                                  <a:latin typeface="+mj-lt"/>
                                </a:rPr>
                                <m:t>𝑘</m:t>
                              </m:r>
                            </m:sub>
                          </m:sSub>
                        </m:e>
                      </m:d>
                      <m:r>
                        <a:rPr lang="en-US" altLang="zh-TW" b="0" i="1" smtClean="0">
                          <a:latin typeface="+mj-lt"/>
                        </a:rPr>
                        <m:t>=</m:t>
                      </m:r>
                      <m:nary>
                        <m:naryPr>
                          <m:chr m:val="∑"/>
                          <m:ctrlPr>
                            <a:rPr lang="en-US" altLang="zh-TW" b="0" i="1" smtClean="0">
                              <a:latin typeface="+mj-lt"/>
                            </a:rPr>
                          </m:ctrlPr>
                        </m:naryPr>
                        <m:sub>
                          <m:r>
                            <m:rPr>
                              <m:brk m:alnAt="23"/>
                            </m:rPr>
                            <a:rPr lang="en-US" altLang="zh-TW" b="0" i="1" smtClean="0">
                              <a:latin typeface="+mj-lt"/>
                            </a:rPr>
                            <m:t>𝑗</m:t>
                          </m:r>
                          <m:r>
                            <a:rPr lang="en-US" altLang="zh-TW" b="0" i="1" smtClean="0">
                              <a:latin typeface="+mj-lt"/>
                            </a:rPr>
                            <m:t>=1</m:t>
                          </m:r>
                        </m:sub>
                        <m:sup>
                          <m:r>
                            <a:rPr lang="en-US" altLang="zh-TW" b="0" i="1" smtClean="0">
                              <a:latin typeface="+mj-lt"/>
                            </a:rPr>
                            <m:t>𝑘</m:t>
                          </m:r>
                        </m:sup>
                        <m:e>
                          <m:nary>
                            <m:naryPr>
                              <m:chr m:val="∑"/>
                              <m:ctrlPr>
                                <a:rPr lang="en-US" altLang="zh-TW" b="0" i="1" smtClean="0">
                                  <a:latin typeface="+mj-lt"/>
                                </a:rPr>
                              </m:ctrlPr>
                            </m:naryPr>
                            <m:sub>
                              <m:r>
                                <m:rPr>
                                  <m:brk m:alnAt="23"/>
                                </m:rPr>
                                <a:rPr lang="en-US" altLang="zh-TW" b="0" i="1" smtClean="0">
                                  <a:latin typeface="+mj-lt"/>
                                </a:rPr>
                                <m:t>𝑖</m:t>
                              </m:r>
                              <m:r>
                                <a:rPr lang="en-US" altLang="zh-TW" b="0" i="1" smtClean="0">
                                  <a:latin typeface="+mj-lt"/>
                                </a:rPr>
                                <m:t>=1</m:t>
                              </m:r>
                            </m:sub>
                            <m:sup>
                              <m:r>
                                <a:rPr lang="en-US" altLang="zh-TW" b="0" i="1" smtClean="0">
                                  <a:latin typeface="+mj-lt"/>
                                </a:rPr>
                                <m:t>𝑚</m:t>
                              </m:r>
                            </m:sup>
                            <m:e>
                              <m:sSubSup>
                                <m:sSubSupPr>
                                  <m:ctrlPr>
                                    <a:rPr lang="en-US" altLang="zh-TW" b="0" i="1" smtClean="0">
                                      <a:latin typeface="+mj-lt"/>
                                    </a:rPr>
                                  </m:ctrlPr>
                                </m:sSubSupPr>
                                <m:e>
                                  <m:r>
                                    <a:rPr lang="en-US" altLang="zh-TW" b="0" i="1" smtClean="0">
                                      <a:latin typeface="+mj-lt"/>
                                    </a:rPr>
                                    <m:t>𝑤</m:t>
                                  </m:r>
                                </m:e>
                                <m:sub>
                                  <m:r>
                                    <a:rPr lang="en-US" altLang="zh-TW" b="0" i="1" smtClean="0">
                                      <a:latin typeface="+mj-lt"/>
                                    </a:rPr>
                                    <m:t>𝑖𝑗</m:t>
                                  </m:r>
                                </m:sub>
                                <m:sup>
                                  <m:r>
                                    <a:rPr lang="en-US" altLang="zh-TW" b="0" i="1" smtClean="0">
                                      <a:latin typeface="+mj-lt"/>
                                    </a:rPr>
                                    <m:t>𝑝</m:t>
                                  </m:r>
                                </m:sup>
                              </m:sSubSup>
                            </m:e>
                          </m:nary>
                          <m:r>
                            <a:rPr lang="en-US" altLang="zh-TW" b="0" i="1" smtClean="0">
                              <a:latin typeface="+mj-lt"/>
                            </a:rPr>
                            <m:t> </m:t>
                          </m:r>
                          <m:sSup>
                            <m:sSupPr>
                              <m:ctrlPr>
                                <a:rPr lang="en-US" altLang="zh-TW" b="0" i="1" smtClean="0">
                                  <a:latin typeface="+mj-lt"/>
                                </a:rPr>
                              </m:ctrlPr>
                            </m:sSupPr>
                            <m:e>
                              <m:r>
                                <a:rPr lang="en-US" altLang="zh-TW" i="1">
                                  <a:latin typeface="+mj-lt"/>
                                </a:rPr>
                                <m:t>𝑑𝑖𝑠𝑡</m:t>
                              </m:r>
                              <m:r>
                                <a:rPr lang="en-US" altLang="zh-TW" b="0" i="1" smtClean="0">
                                  <a:latin typeface="+mj-lt"/>
                                </a:rPr>
                                <m:t>(</m:t>
                              </m:r>
                              <m:sSub>
                                <m:sSubPr>
                                  <m:ctrlPr>
                                    <a:rPr lang="en-US" altLang="zh-TW" i="1">
                                      <a:latin typeface="+mj-lt"/>
                                    </a:rPr>
                                  </m:ctrlPr>
                                </m:sSubPr>
                                <m:e>
                                  <m:r>
                                    <a:rPr lang="en-US" altLang="zh-TW" b="0" i="1" smtClean="0">
                                      <a:latin typeface="+mj-lt"/>
                                    </a:rPr>
                                    <m:t>𝑥</m:t>
                                  </m:r>
                                </m:e>
                                <m:sub>
                                  <m:r>
                                    <a:rPr lang="en-US" altLang="zh-TW" b="0" i="1" smtClean="0">
                                      <a:latin typeface="+mj-lt"/>
                                    </a:rPr>
                                    <m:t>𝑖</m:t>
                                  </m:r>
                                </m:sub>
                              </m:sSub>
                              <m:r>
                                <a:rPr lang="en-US" altLang="zh-TW" b="0" i="1" smtClean="0">
                                  <a:latin typeface="+mj-lt"/>
                                </a:rPr>
                                <m:t>,</m:t>
                              </m:r>
                              <m:sSub>
                                <m:sSubPr>
                                  <m:ctrlPr>
                                    <a:rPr lang="en-US" altLang="zh-TW" i="1">
                                      <a:latin typeface="+mj-lt"/>
                                    </a:rPr>
                                  </m:ctrlPr>
                                </m:sSubPr>
                                <m:e>
                                  <m:r>
                                    <a:rPr lang="en-US" altLang="zh-TW" b="0" i="1" smtClean="0">
                                      <a:latin typeface="+mj-lt"/>
                                    </a:rPr>
                                    <m:t>𝑐</m:t>
                                  </m:r>
                                </m:e>
                                <m:sub>
                                  <m:r>
                                    <a:rPr lang="en-US" altLang="zh-TW" b="0" i="1" smtClean="0">
                                      <a:latin typeface="+mj-lt"/>
                                    </a:rPr>
                                    <m:t>𝑗</m:t>
                                  </m:r>
                                </m:sub>
                              </m:sSub>
                              <m:r>
                                <a:rPr lang="en-US" altLang="zh-TW" b="0" i="1" smtClean="0">
                                  <a:latin typeface="+mj-lt"/>
                                </a:rPr>
                                <m:t>)</m:t>
                              </m:r>
                            </m:e>
                            <m:sup>
                              <m:r>
                                <a:rPr lang="en-US" altLang="zh-TW" b="0" i="1" smtClean="0">
                                  <a:latin typeface="+mj-lt"/>
                                </a:rPr>
                                <m:t>2</m:t>
                              </m:r>
                            </m:sup>
                          </m:sSup>
                        </m:e>
                      </m:nary>
                    </m:oMath>
                  </m:oMathPara>
                </a14:m>
                <a:endParaRPr lang="en-US" altLang="zh-TW" dirty="0" smtClean="0">
                  <a:latin typeface="+mj-lt"/>
                </a:endParaRPr>
              </a:p>
            </p:txBody>
          </p:sp>
        </mc:Choice>
        <mc:Fallback>
          <p:sp>
            <p:nvSpPr>
              <p:cNvPr id="11" name="內容版面配置區 10"/>
              <p:cNvSpPr>
                <a:spLocks noGrp="1" noRot="1" noChangeAspect="1" noMove="1" noResize="1" noEditPoints="1" noAdjustHandles="1" noChangeArrowheads="1" noChangeShapeType="1" noTextEdit="1"/>
              </p:cNvSpPr>
              <p:nvPr>
                <p:ph sz="quarter" idx="1"/>
              </p:nvPr>
            </p:nvSpPr>
            <p:spPr>
              <a:xfrm>
                <a:off x="0" y="1219200"/>
                <a:ext cx="9144000" cy="4937760"/>
              </a:xfrm>
              <a:blipFill rotWithShape="1">
                <a:blip r:embed="rId2"/>
                <a:stretch>
                  <a:fillRect l="-333" t="-1111"/>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17338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ja-JP" dirty="0" smtClean="0"/>
              <a:t>Fuzzy c-means</a:t>
            </a:r>
            <a:r>
              <a:rPr lang="en-US" altLang="zh-TW" dirty="0" smtClean="0"/>
              <a:t>(FCM)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5</a:t>
            </a:fld>
            <a:endParaRPr lang="zh-TW" altLang="en-US"/>
          </a:p>
        </p:txBody>
      </p:sp>
      <mc:AlternateContent xmlns:mc="http://schemas.openxmlformats.org/markup-compatibility/2006">
        <mc:Choice xmlns:a14="http://schemas.microsoft.com/office/drawing/2010/main" Requires="a14">
          <p:sp>
            <p:nvSpPr>
              <p:cNvPr id="11" name="內容版面配置區 10"/>
              <p:cNvSpPr>
                <a:spLocks noGrp="1"/>
              </p:cNvSpPr>
              <p:nvPr>
                <p:ph sz="quarter" idx="1"/>
              </p:nvPr>
            </p:nvSpPr>
            <p:spPr>
              <a:xfrm>
                <a:off x="0" y="1219200"/>
                <a:ext cx="9144000" cy="5234136"/>
              </a:xfrm>
            </p:spPr>
            <p:txBody>
              <a:bodyPr>
                <a:noAutofit/>
              </a:bodyPr>
              <a:lstStyle/>
              <a:p>
                <a:r>
                  <a:rPr lang="zh-TW" altLang="en-US" sz="2300" b="1" dirty="0" smtClean="0">
                    <a:latin typeface="+mj-lt"/>
                  </a:rPr>
                  <a:t>計算中心點：</a:t>
                </a:r>
                <a:r>
                  <a:rPr lang="zh-TW" altLang="en-US" sz="2300" dirty="0" smtClean="0">
                    <a:latin typeface="+mj-lt"/>
                  </a:rPr>
                  <a:t>藉由尋找最小化的模糊</a:t>
                </a:r>
                <a:r>
                  <a:rPr lang="en-US" altLang="zh-TW" sz="2300" dirty="0" smtClean="0">
                    <a:latin typeface="+mj-lt"/>
                  </a:rPr>
                  <a:t>SSE</a:t>
                </a:r>
                <a:r>
                  <a:rPr lang="zh-TW" altLang="en-US" sz="2300" dirty="0" smtClean="0">
                    <a:latin typeface="+mj-lt"/>
                  </a:rPr>
                  <a:t>，可得中心點定義的公式</a:t>
                </a:r>
                <a:r>
                  <a:rPr lang="en-US" altLang="zh-TW" sz="2300" dirty="0" smtClean="0">
                    <a:latin typeface="+mj-lt"/>
                  </a:rPr>
                  <a:t/>
                </a:r>
                <a:br>
                  <a:rPr lang="en-US" altLang="zh-TW" sz="2300" dirty="0" smtClean="0">
                    <a:latin typeface="+mj-lt"/>
                  </a:rPr>
                </a:br>
                <a14:m>
                  <m:oMath xmlns:m="http://schemas.openxmlformats.org/officeDocument/2006/math">
                    <m:sSub>
                      <m:sSubPr>
                        <m:ctrlPr>
                          <a:rPr lang="en-US" altLang="zh-TW" sz="2300" i="1">
                            <a:latin typeface="Cambria Math"/>
                          </a:rPr>
                        </m:ctrlPr>
                      </m:sSubPr>
                      <m:e>
                        <m:r>
                          <a:rPr lang="en-US" altLang="zh-TW" sz="2300" i="1">
                            <a:latin typeface="Cambria Math"/>
                          </a:rPr>
                          <m:t>𝑐</m:t>
                        </m:r>
                      </m:e>
                      <m:sub>
                        <m:r>
                          <a:rPr lang="en-US" altLang="zh-TW" sz="2300" i="1">
                            <a:latin typeface="Cambria Math"/>
                          </a:rPr>
                          <m:t>𝑗</m:t>
                        </m:r>
                      </m:sub>
                    </m:sSub>
                    <m:r>
                      <a:rPr lang="en-US" altLang="zh-TW" sz="2300" i="1">
                        <a:latin typeface="Cambria Math"/>
                      </a:rPr>
                      <m:t>=</m:t>
                    </m:r>
                    <m:nary>
                      <m:naryPr>
                        <m:chr m:val="∑"/>
                        <m:ctrlPr>
                          <a:rPr lang="en-US" altLang="zh-TW" sz="2300" i="1">
                            <a:latin typeface="Cambria Math"/>
                          </a:rPr>
                        </m:ctrlPr>
                      </m:naryPr>
                      <m:sub>
                        <m:r>
                          <m:rPr>
                            <m:brk m:alnAt="23"/>
                          </m:rPr>
                          <a:rPr lang="en-US" altLang="zh-TW" sz="2300" i="1">
                            <a:latin typeface="Cambria Math"/>
                          </a:rPr>
                          <m:t>𝑖</m:t>
                        </m:r>
                        <m:r>
                          <a:rPr lang="en-US" altLang="zh-TW" sz="2300" i="1">
                            <a:latin typeface="Cambria Math"/>
                          </a:rPr>
                          <m:t>=1</m:t>
                        </m:r>
                      </m:sub>
                      <m:sup>
                        <m:r>
                          <a:rPr lang="en-US" altLang="zh-TW" sz="2300" i="1">
                            <a:latin typeface="Cambria Math"/>
                          </a:rPr>
                          <m:t>𝑚</m:t>
                        </m:r>
                      </m:sup>
                      <m:e>
                        <m:f>
                          <m:fPr>
                            <m:type m:val="lin"/>
                            <m:ctrlPr>
                              <a:rPr lang="en-US" altLang="zh-TW" sz="2300" i="1">
                                <a:latin typeface="Cambria Math"/>
                              </a:rPr>
                            </m:ctrlPr>
                          </m:fPr>
                          <m:num>
                            <m:sSubSup>
                              <m:sSubSupPr>
                                <m:ctrlPr>
                                  <a:rPr lang="en-US" altLang="zh-TW" sz="2300" i="1">
                                    <a:latin typeface="Cambria Math"/>
                                  </a:rPr>
                                </m:ctrlPr>
                              </m:sSubSupPr>
                              <m:e>
                                <m:r>
                                  <a:rPr lang="en-US" altLang="zh-TW" sz="2300" i="1">
                                    <a:latin typeface="Cambria Math"/>
                                  </a:rPr>
                                  <m:t>𝑤</m:t>
                                </m:r>
                              </m:e>
                              <m:sub>
                                <m:r>
                                  <a:rPr lang="en-US" altLang="zh-TW" sz="2300" i="1">
                                    <a:latin typeface="Cambria Math"/>
                                  </a:rPr>
                                  <m:t>𝑖𝑗</m:t>
                                </m:r>
                              </m:sub>
                              <m:sup>
                                <m:r>
                                  <a:rPr lang="en-US" altLang="zh-TW" sz="2300" i="1">
                                    <a:latin typeface="Cambria Math"/>
                                  </a:rPr>
                                  <m:t>𝑝</m:t>
                                </m:r>
                              </m:sup>
                            </m:sSubSup>
                            <m:sSub>
                              <m:sSubPr>
                                <m:ctrlPr>
                                  <a:rPr lang="en-US" altLang="zh-TW" sz="2300" i="1">
                                    <a:latin typeface="Cambria Math"/>
                                  </a:rPr>
                                </m:ctrlPr>
                              </m:sSubPr>
                              <m:e>
                                <m:r>
                                  <a:rPr lang="en-US" altLang="zh-TW" sz="2300" i="1">
                                    <a:latin typeface="Cambria Math"/>
                                  </a:rPr>
                                  <m:t>𝑥</m:t>
                                </m:r>
                              </m:e>
                              <m:sub>
                                <m:r>
                                  <a:rPr lang="en-US" altLang="zh-TW" sz="2300" i="1">
                                    <a:latin typeface="Cambria Math"/>
                                  </a:rPr>
                                  <m:t>𝑖</m:t>
                                </m:r>
                              </m:sub>
                            </m:sSub>
                          </m:num>
                          <m:den>
                            <m:nary>
                              <m:naryPr>
                                <m:chr m:val="∑"/>
                                <m:ctrlPr>
                                  <a:rPr lang="en-US" altLang="zh-TW" sz="2300" i="1">
                                    <a:latin typeface="Cambria Math"/>
                                  </a:rPr>
                                </m:ctrlPr>
                              </m:naryPr>
                              <m:sub>
                                <m:r>
                                  <m:rPr>
                                    <m:brk m:alnAt="23"/>
                                  </m:rPr>
                                  <a:rPr lang="en-US" altLang="zh-TW" sz="2300" i="1">
                                    <a:latin typeface="Cambria Math"/>
                                  </a:rPr>
                                  <m:t>𝑖</m:t>
                                </m:r>
                                <m:r>
                                  <a:rPr lang="en-US" altLang="zh-TW" sz="2300" i="1">
                                    <a:latin typeface="Cambria Math"/>
                                  </a:rPr>
                                  <m:t>=1</m:t>
                                </m:r>
                              </m:sub>
                              <m:sup>
                                <m:r>
                                  <a:rPr lang="en-US" altLang="zh-TW" sz="2300" i="1">
                                    <a:latin typeface="Cambria Math"/>
                                  </a:rPr>
                                  <m:t>𝑚</m:t>
                                </m:r>
                              </m:sup>
                              <m:e>
                                <m:sSubSup>
                                  <m:sSubSupPr>
                                    <m:ctrlPr>
                                      <a:rPr lang="en-US" altLang="zh-TW" sz="2300" i="1">
                                        <a:latin typeface="Cambria Math"/>
                                      </a:rPr>
                                    </m:ctrlPr>
                                  </m:sSubSupPr>
                                  <m:e>
                                    <m:r>
                                      <a:rPr lang="en-US" altLang="zh-TW" sz="2300" i="1">
                                        <a:latin typeface="Cambria Math"/>
                                      </a:rPr>
                                      <m:t>𝑤</m:t>
                                    </m:r>
                                  </m:e>
                                  <m:sub>
                                    <m:r>
                                      <a:rPr lang="en-US" altLang="zh-TW" sz="2300" i="1">
                                        <a:latin typeface="Cambria Math"/>
                                      </a:rPr>
                                      <m:t>𝑖𝑗</m:t>
                                    </m:r>
                                  </m:sub>
                                  <m:sup>
                                    <m:r>
                                      <a:rPr lang="en-US" altLang="zh-TW" sz="2300" i="1">
                                        <a:latin typeface="Cambria Math"/>
                                      </a:rPr>
                                      <m:t>𝑝</m:t>
                                    </m:r>
                                  </m:sup>
                                </m:sSubSup>
                              </m:e>
                            </m:nary>
                          </m:den>
                        </m:f>
                      </m:e>
                    </m:nary>
                  </m:oMath>
                </a14:m>
                <a:r>
                  <a:rPr lang="en-US" altLang="zh-TW" sz="2300" dirty="0" smtClean="0">
                    <a:latin typeface="+mj-lt"/>
                  </a:rPr>
                  <a:t/>
                </a:r>
                <a:br>
                  <a:rPr lang="en-US" altLang="zh-TW" sz="2300" dirty="0" smtClean="0">
                    <a:latin typeface="+mj-lt"/>
                  </a:rPr>
                </a:br>
                <a:r>
                  <a:rPr lang="en-US" altLang="zh-TW" sz="2300" dirty="0" smtClean="0">
                    <a:latin typeface="+mj-lt"/>
                  </a:rPr>
                  <a:t/>
                </a:r>
                <a:br>
                  <a:rPr lang="en-US" altLang="zh-TW" sz="2300" dirty="0" smtClean="0">
                    <a:latin typeface="+mj-lt"/>
                  </a:rPr>
                </a:br>
                <a:r>
                  <a:rPr lang="zh-TW" altLang="en-US" sz="2300" dirty="0" smtClean="0">
                    <a:latin typeface="+mn-lt"/>
                  </a:rPr>
                  <a:t>若</a:t>
                </a:r>
                <a:r>
                  <a:rPr lang="zh-TW" altLang="zh-TW" sz="2300" dirty="0" smtClean="0">
                    <a:latin typeface="+mn-lt"/>
                  </a:rPr>
                  <a:t>選擇</a:t>
                </a:r>
                <a:r>
                  <a:rPr lang="zh-TW" altLang="zh-TW" sz="2300" dirty="0">
                    <a:latin typeface="+mn-lt"/>
                  </a:rPr>
                  <a:t>的p值</a:t>
                </a:r>
                <a:r>
                  <a:rPr lang="zh-TW" altLang="zh-TW" sz="2300" dirty="0" smtClean="0">
                    <a:latin typeface="+mn-lt"/>
                  </a:rPr>
                  <a:t>接近</a:t>
                </a:r>
                <a:r>
                  <a:rPr lang="en-US" altLang="zh-TW" sz="2300" dirty="0" smtClean="0">
                    <a:latin typeface="+mn-lt"/>
                  </a:rPr>
                  <a:t>1</a:t>
                </a:r>
                <a:r>
                  <a:rPr lang="zh-TW" altLang="en-US" sz="2300" dirty="0" smtClean="0">
                    <a:latin typeface="+mn-lt"/>
                  </a:rPr>
                  <a:t>，</a:t>
                </a:r>
                <a:r>
                  <a:rPr lang="zh-TW" altLang="zh-TW" sz="2300" dirty="0" smtClean="0">
                    <a:latin typeface="+mn-lt"/>
                  </a:rPr>
                  <a:t>則</a:t>
                </a:r>
                <a:r>
                  <a:rPr lang="en-US" altLang="zh-TW" sz="2300" dirty="0" smtClean="0">
                    <a:latin typeface="+mn-lt"/>
                  </a:rPr>
                  <a:t>FCM</a:t>
                </a:r>
                <a:r>
                  <a:rPr lang="zh-TW" altLang="zh-TW" sz="2300" dirty="0" smtClean="0">
                    <a:latin typeface="+mn-lt"/>
                  </a:rPr>
                  <a:t>的</a:t>
                </a:r>
                <a:r>
                  <a:rPr lang="zh-TW" altLang="zh-TW" sz="2300" dirty="0">
                    <a:latin typeface="+mn-lt"/>
                  </a:rPr>
                  <a:t>表現會像傳統</a:t>
                </a:r>
                <a:r>
                  <a:rPr lang="zh-TW" altLang="zh-TW" sz="2300" dirty="0" smtClean="0">
                    <a:latin typeface="+mn-lt"/>
                  </a:rPr>
                  <a:t>K</a:t>
                </a:r>
                <a:r>
                  <a:rPr lang="en-US" altLang="zh-TW" sz="2300" dirty="0" smtClean="0">
                    <a:latin typeface="+mn-lt"/>
                  </a:rPr>
                  <a:t>-</a:t>
                </a:r>
                <a:r>
                  <a:rPr lang="zh-TW" altLang="zh-TW" sz="2300" dirty="0" smtClean="0">
                    <a:latin typeface="+mn-lt"/>
                  </a:rPr>
                  <a:t>means</a:t>
                </a:r>
                <a:r>
                  <a:rPr lang="zh-TW" altLang="en-US" sz="2300" dirty="0" smtClean="0">
                    <a:latin typeface="+mn-lt"/>
                  </a:rPr>
                  <a:t>，</a:t>
                </a:r>
                <a:r>
                  <a:rPr lang="zh-TW" altLang="zh-TW" sz="2300" dirty="0" smtClean="0">
                    <a:latin typeface="+mn-lt"/>
                  </a:rPr>
                  <a:t>選擇p</a:t>
                </a:r>
                <a:r>
                  <a:rPr lang="en-US" altLang="zh-TW" sz="2300" dirty="0" smtClean="0">
                    <a:latin typeface="+mn-lt"/>
                  </a:rPr>
                  <a:t>=</a:t>
                </a:r>
                <a:r>
                  <a:rPr lang="zh-TW" altLang="zh-TW" sz="2300" dirty="0" smtClean="0">
                    <a:latin typeface="+mn-lt"/>
                  </a:rPr>
                  <a:t>2</a:t>
                </a:r>
                <a:r>
                  <a:rPr lang="zh-TW" altLang="zh-TW" sz="2300" dirty="0">
                    <a:latin typeface="+mn-lt"/>
                  </a:rPr>
                  <a:t>能簡化權重更新</a:t>
                </a:r>
                <a:r>
                  <a:rPr lang="zh-TW" altLang="zh-TW" sz="2300" dirty="0" smtClean="0">
                    <a:latin typeface="+mn-lt"/>
                  </a:rPr>
                  <a:t>公式</a:t>
                </a:r>
                <a:r>
                  <a:rPr lang="zh-TW" altLang="en-US" sz="2300" dirty="0" smtClean="0">
                    <a:latin typeface="+mn-lt"/>
                  </a:rPr>
                  <a:t>。</a:t>
                </a:r>
                <a:r>
                  <a:rPr lang="zh-TW" altLang="zh-TW" sz="2300" dirty="0" smtClean="0">
                    <a:latin typeface="+mn-lt"/>
                  </a:rPr>
                  <a:t>另一方面，</a:t>
                </a:r>
                <a:r>
                  <a:rPr lang="zh-TW" altLang="zh-TW" sz="2300" dirty="0">
                    <a:latin typeface="+mn-lt"/>
                  </a:rPr>
                  <a:t>若p值越大，所有</a:t>
                </a:r>
                <a:r>
                  <a:rPr lang="zh-TW" altLang="zh-TW" sz="2300" dirty="0" smtClean="0">
                    <a:latin typeface="+mn-lt"/>
                  </a:rPr>
                  <a:t>群集</a:t>
                </a:r>
                <a:r>
                  <a:rPr lang="zh-TW" altLang="en-US" sz="2300" dirty="0">
                    <a:latin typeface="+mn-lt"/>
                  </a:rPr>
                  <a:t>中</a:t>
                </a:r>
                <a:r>
                  <a:rPr lang="zh-TW" altLang="zh-TW" sz="2300" dirty="0" smtClean="0">
                    <a:latin typeface="+mn-lt"/>
                  </a:rPr>
                  <a:t>心點</a:t>
                </a:r>
                <a:r>
                  <a:rPr lang="zh-TW" altLang="zh-TW" sz="2300" dirty="0">
                    <a:latin typeface="+mn-lt"/>
                  </a:rPr>
                  <a:t>會接近所有資料點的全</a:t>
                </a:r>
                <a:r>
                  <a:rPr lang="zh-TW" altLang="zh-TW" sz="2300" dirty="0" smtClean="0">
                    <a:latin typeface="+mn-lt"/>
                  </a:rPr>
                  <a:t>域</a:t>
                </a:r>
                <a:r>
                  <a:rPr lang="zh-TW" altLang="en-US" sz="2300" dirty="0">
                    <a:latin typeface="+mn-lt"/>
                  </a:rPr>
                  <a:t>中</a:t>
                </a:r>
                <a:r>
                  <a:rPr lang="zh-TW" altLang="zh-TW" sz="2300" dirty="0" smtClean="0">
                    <a:latin typeface="+mn-lt"/>
                  </a:rPr>
                  <a:t>心點</a:t>
                </a:r>
                <a:r>
                  <a:rPr lang="zh-TW" altLang="en-US" sz="2300" dirty="0" smtClean="0">
                    <a:latin typeface="+mn-lt"/>
                  </a:rPr>
                  <a:t>。</a:t>
                </a:r>
                <a:r>
                  <a:rPr lang="zh-TW" altLang="zh-TW" sz="2300" dirty="0" smtClean="0">
                    <a:latin typeface="+mn-lt"/>
                  </a:rPr>
                  <a:t>換</a:t>
                </a:r>
                <a:r>
                  <a:rPr lang="zh-TW" altLang="en-US" sz="2300" dirty="0" smtClean="0">
                    <a:latin typeface="+mn-lt"/>
                  </a:rPr>
                  <a:t>言之當</a:t>
                </a:r>
                <a:r>
                  <a:rPr lang="zh-TW" altLang="en-US" sz="2300" dirty="0">
                    <a:latin typeface="+mn-lt"/>
                  </a:rPr>
                  <a:t>，</a:t>
                </a:r>
                <a:r>
                  <a:rPr lang="en-US" altLang="zh-TW" sz="2300" dirty="0" smtClean="0">
                    <a:latin typeface="+mn-lt"/>
                  </a:rPr>
                  <a:t>p</a:t>
                </a:r>
                <a:r>
                  <a:rPr lang="zh-TW" altLang="zh-TW" sz="2300" dirty="0" smtClean="0">
                    <a:latin typeface="+mn-lt"/>
                  </a:rPr>
                  <a:t>值</a:t>
                </a:r>
                <a:r>
                  <a:rPr lang="zh-TW" altLang="zh-TW" sz="2300" dirty="0">
                    <a:latin typeface="+mn-lt"/>
                  </a:rPr>
                  <a:t>增加時，分割</a:t>
                </a:r>
                <a:r>
                  <a:rPr lang="zh-TW" altLang="zh-TW" sz="2300" dirty="0" smtClean="0">
                    <a:latin typeface="+mn-lt"/>
                  </a:rPr>
                  <a:t>變</a:t>
                </a:r>
                <a:r>
                  <a:rPr lang="zh-TW" altLang="en-US" sz="2300" dirty="0">
                    <a:latin typeface="+mn-lt"/>
                  </a:rPr>
                  <a:t>更為</a:t>
                </a:r>
                <a:r>
                  <a:rPr lang="zh-TW" altLang="zh-TW" sz="2300" dirty="0" smtClean="0">
                    <a:latin typeface="+mn-lt"/>
                  </a:rPr>
                  <a:t>為模糊</a:t>
                </a:r>
                <a:r>
                  <a:rPr lang="zh-TW" altLang="en-US" sz="2300" dirty="0" smtClean="0">
                    <a:latin typeface="+mn-lt"/>
                  </a:rPr>
                  <a:t>。</a:t>
                </a:r>
                <a:endParaRPr lang="en-US" altLang="zh-TW" sz="2300" dirty="0" smtClean="0">
                  <a:latin typeface="+mn-lt"/>
                </a:endParaRPr>
              </a:p>
              <a:p>
                <a:endParaRPr lang="en-US" altLang="zh-TW" sz="800" dirty="0" smtClean="0">
                  <a:latin typeface="+mj-lt"/>
                </a:endParaRPr>
              </a:p>
              <a:p>
                <a:r>
                  <a:rPr lang="zh-TW" altLang="en-US" sz="2300" b="1" dirty="0" smtClean="0">
                    <a:latin typeface="+mj-lt"/>
                  </a:rPr>
                  <a:t>更新模糊虛擬分割</a:t>
                </a:r>
                <a:endParaRPr lang="en-US" altLang="zh-TW" sz="2300" b="1" dirty="0" smtClean="0">
                  <a:latin typeface="+mj-lt"/>
                </a:endParaRPr>
              </a:p>
              <a:p>
                <a:pPr marL="274320" lvl="1" indent="0">
                  <a:buNone/>
                </a:pPr>
                <a14:m>
                  <m:oMathPara xmlns:m="http://schemas.openxmlformats.org/officeDocument/2006/math">
                    <m:oMathParaPr>
                      <m:jc m:val="centerGroup"/>
                    </m:oMathParaPr>
                    <m:oMath xmlns:m="http://schemas.openxmlformats.org/officeDocument/2006/math">
                      <m:sSub>
                        <m:sSubPr>
                          <m:ctrlPr>
                            <a:rPr lang="en-US" altLang="zh-TW" i="1" smtClean="0">
                              <a:latin typeface="+mj-lt"/>
                            </a:rPr>
                          </m:ctrlPr>
                        </m:sSubPr>
                        <m:e>
                          <m:r>
                            <a:rPr lang="en-US" altLang="zh-TW" b="0" i="1" smtClean="0">
                              <a:latin typeface="+mj-lt"/>
                            </a:rPr>
                            <m:t>𝑤</m:t>
                          </m:r>
                        </m:e>
                        <m:sub>
                          <m:r>
                            <a:rPr lang="en-US" altLang="zh-TW" b="0" i="1" smtClean="0">
                              <a:latin typeface="+mj-lt"/>
                            </a:rPr>
                            <m:t>𝑖𝑗</m:t>
                          </m:r>
                        </m:sub>
                      </m:sSub>
                      <m:r>
                        <a:rPr lang="en-US" altLang="zh-TW" b="0" i="1" smtClean="0">
                          <a:latin typeface="+mj-lt"/>
                        </a:rPr>
                        <m:t>=(</m:t>
                      </m:r>
                      <m:f>
                        <m:fPr>
                          <m:type m:val="lin"/>
                          <m:ctrlPr>
                            <a:rPr lang="en-US" altLang="zh-TW" b="0" i="1" smtClean="0">
                              <a:latin typeface="+mj-lt"/>
                            </a:rPr>
                          </m:ctrlPr>
                        </m:fPr>
                        <m:num>
                          <m:sSup>
                            <m:sSupPr>
                              <m:ctrlPr>
                                <a:rPr lang="en-US" altLang="zh-TW" b="0" i="1" smtClean="0">
                                  <a:latin typeface="+mj-lt"/>
                                </a:rPr>
                              </m:ctrlPr>
                            </m:sSupPr>
                            <m:e>
                              <m:sSup>
                                <m:sSupPr>
                                  <m:ctrlPr>
                                    <a:rPr lang="en-US" altLang="zh-TW" b="0" i="1" smtClean="0">
                                      <a:latin typeface="+mj-lt"/>
                                    </a:rPr>
                                  </m:ctrlPr>
                                </m:sSupPr>
                                <m:e>
                                  <m:r>
                                    <a:rPr lang="en-US" altLang="zh-TW" b="0" i="1" smtClean="0">
                                      <a:latin typeface="+mj-lt"/>
                                    </a:rPr>
                                    <m:t>1/</m:t>
                                  </m:r>
                                  <m:r>
                                    <a:rPr lang="en-US" altLang="zh-TW" b="0" i="1" smtClean="0">
                                      <a:latin typeface="+mj-lt"/>
                                    </a:rPr>
                                    <m:t>𝑑𝑖𝑠𝑡</m:t>
                                  </m:r>
                                  <m:r>
                                    <a:rPr lang="en-US" altLang="zh-TW" b="0" i="1" smtClean="0">
                                      <a:latin typeface="+mj-lt"/>
                                    </a:rPr>
                                    <m:t>(</m:t>
                                  </m:r>
                                  <m:sSubSup>
                                    <m:sSubSupPr>
                                      <m:ctrlPr>
                                        <a:rPr lang="en-US" altLang="zh-TW" b="0" i="1" smtClean="0">
                                          <a:latin typeface="+mj-lt"/>
                                        </a:rPr>
                                      </m:ctrlPr>
                                    </m:sSubSupPr>
                                    <m:e>
                                      <m:r>
                                        <a:rPr lang="en-US" altLang="zh-TW" b="0" i="1" smtClean="0">
                                          <a:latin typeface="+mj-lt"/>
                                        </a:rPr>
                                        <m:t>𝑥</m:t>
                                      </m:r>
                                    </m:e>
                                    <m:sub>
                                      <m:r>
                                        <a:rPr lang="en-US" altLang="zh-TW" b="0" i="1" smtClean="0">
                                          <a:latin typeface="+mj-lt"/>
                                        </a:rPr>
                                        <m:t>𝑖</m:t>
                                      </m:r>
                                    </m:sub>
                                    <m:sup/>
                                  </m:sSubSup>
                                  <m:r>
                                    <a:rPr lang="en-US" altLang="zh-TW" b="0" i="1" smtClean="0">
                                      <a:latin typeface="+mj-lt"/>
                                    </a:rPr>
                                    <m:t>,</m:t>
                                  </m:r>
                                  <m:sSubSup>
                                    <m:sSubSupPr>
                                      <m:ctrlPr>
                                        <a:rPr lang="en-US" altLang="zh-TW" i="1" smtClean="0">
                                          <a:latin typeface="+mj-lt"/>
                                        </a:rPr>
                                      </m:ctrlPr>
                                    </m:sSubSupPr>
                                    <m:e>
                                      <m:r>
                                        <a:rPr lang="en-US" altLang="zh-TW" b="0" i="1" smtClean="0">
                                          <a:latin typeface="+mj-lt"/>
                                        </a:rPr>
                                        <m:t>𝑐</m:t>
                                      </m:r>
                                    </m:e>
                                    <m:sub>
                                      <m:r>
                                        <a:rPr lang="en-US" altLang="zh-TW" b="0" i="1" smtClean="0">
                                          <a:latin typeface="+mj-lt"/>
                                        </a:rPr>
                                        <m:t>𝑗</m:t>
                                      </m:r>
                                    </m:sub>
                                    <m:sup/>
                                  </m:sSubSup>
                                  <m:r>
                                    <a:rPr lang="en-US" altLang="zh-TW" b="0" i="1" smtClean="0">
                                      <a:latin typeface="+mj-lt"/>
                                    </a:rPr>
                                    <m:t>)</m:t>
                                  </m:r>
                                </m:e>
                                <m:sup>
                                  <m:r>
                                    <a:rPr lang="en-US" altLang="zh-TW" b="0" i="1" smtClean="0">
                                      <a:latin typeface="+mj-lt"/>
                                    </a:rPr>
                                    <m:t>2</m:t>
                                  </m:r>
                                </m:sup>
                              </m:sSup>
                              <m:r>
                                <a:rPr lang="en-US" altLang="zh-TW" b="0" i="1" smtClean="0">
                                  <a:latin typeface="+mj-lt"/>
                                </a:rPr>
                                <m:t>)</m:t>
                              </m:r>
                            </m:e>
                            <m:sup>
                              <m:f>
                                <m:fPr>
                                  <m:ctrlPr>
                                    <a:rPr lang="en-US" altLang="zh-TW" b="0" i="1" smtClean="0">
                                      <a:latin typeface="+mj-lt"/>
                                    </a:rPr>
                                  </m:ctrlPr>
                                </m:fPr>
                                <m:num>
                                  <m:r>
                                    <a:rPr lang="en-US" altLang="zh-TW" b="0" i="1" smtClean="0">
                                      <a:latin typeface="+mj-lt"/>
                                    </a:rPr>
                                    <m:t>1</m:t>
                                  </m:r>
                                </m:num>
                                <m:den>
                                  <m:r>
                                    <a:rPr lang="en-US" altLang="zh-TW" b="0" i="1" smtClean="0">
                                      <a:latin typeface="+mj-lt"/>
                                    </a:rPr>
                                    <m:t>𝑝</m:t>
                                  </m:r>
                                  <m:r>
                                    <a:rPr lang="en-US" altLang="zh-TW" b="0" i="1" smtClean="0">
                                      <a:latin typeface="+mj-lt"/>
                                    </a:rPr>
                                    <m:t>−1</m:t>
                                  </m:r>
                                </m:den>
                              </m:f>
                            </m:sup>
                          </m:sSup>
                        </m:num>
                        <m:den>
                          <m:nary>
                            <m:naryPr>
                              <m:chr m:val="∑"/>
                              <m:ctrlPr>
                                <a:rPr lang="en-US" altLang="zh-TW" b="0" i="1" smtClean="0">
                                  <a:latin typeface="+mj-lt"/>
                                </a:rPr>
                              </m:ctrlPr>
                            </m:naryPr>
                            <m:sub>
                              <m:r>
                                <m:rPr>
                                  <m:brk m:alnAt="23"/>
                                </m:rPr>
                                <a:rPr lang="en-US" altLang="zh-TW" b="0" i="1" smtClean="0">
                                  <a:latin typeface="+mj-lt"/>
                                </a:rPr>
                                <m:t>𝑞</m:t>
                              </m:r>
                              <m:r>
                                <a:rPr lang="en-US" altLang="zh-TW" b="0" i="1" smtClean="0">
                                  <a:latin typeface="+mj-lt"/>
                                </a:rPr>
                                <m:t>=1</m:t>
                              </m:r>
                            </m:sub>
                            <m:sup>
                              <m:r>
                                <a:rPr lang="en-US" altLang="zh-TW" b="0" i="1" smtClean="0">
                                  <a:latin typeface="+mj-lt"/>
                                </a:rPr>
                                <m:t>𝑘</m:t>
                              </m:r>
                            </m:sup>
                            <m:e>
                              <m:sSup>
                                <m:sSupPr>
                                  <m:ctrlPr>
                                    <a:rPr lang="en-US" altLang="zh-TW" b="0" i="1" smtClean="0">
                                      <a:latin typeface="+mj-lt"/>
                                    </a:rPr>
                                  </m:ctrlPr>
                                </m:sSupPr>
                                <m:e>
                                  <m:sSup>
                                    <m:sSupPr>
                                      <m:ctrlPr>
                                        <a:rPr lang="en-US" altLang="zh-TW" b="0" i="1" smtClean="0">
                                          <a:latin typeface="+mj-lt"/>
                                        </a:rPr>
                                      </m:ctrlPr>
                                    </m:sSupPr>
                                    <m:e>
                                      <m:r>
                                        <a:rPr lang="en-US" altLang="zh-TW" b="0" i="1" smtClean="0">
                                          <a:latin typeface="+mj-lt"/>
                                        </a:rPr>
                                        <m:t>(1/</m:t>
                                      </m:r>
                                      <m:r>
                                        <a:rPr lang="en-US" altLang="zh-TW" b="0" i="1" smtClean="0">
                                          <a:latin typeface="+mj-lt"/>
                                        </a:rPr>
                                        <m:t>𝑑𝑖𝑠𝑡</m:t>
                                      </m:r>
                                      <m:r>
                                        <a:rPr lang="en-US" altLang="zh-TW" b="0" i="1" smtClean="0">
                                          <a:latin typeface="+mj-lt"/>
                                        </a:rPr>
                                        <m:t>(</m:t>
                                      </m:r>
                                      <m:sSubSup>
                                        <m:sSubSupPr>
                                          <m:ctrlPr>
                                            <a:rPr lang="en-US" altLang="zh-TW" b="0" i="1" smtClean="0">
                                              <a:latin typeface="+mj-lt"/>
                                            </a:rPr>
                                          </m:ctrlPr>
                                        </m:sSubSupPr>
                                        <m:e>
                                          <m:r>
                                            <a:rPr lang="en-US" altLang="zh-TW" b="0" i="1" smtClean="0">
                                              <a:latin typeface="+mj-lt"/>
                                            </a:rPr>
                                            <m:t>𝑥</m:t>
                                          </m:r>
                                        </m:e>
                                        <m:sub>
                                          <m:r>
                                            <a:rPr lang="en-US" altLang="zh-TW" b="0" i="1" smtClean="0">
                                              <a:latin typeface="+mj-lt"/>
                                            </a:rPr>
                                            <m:t>𝑖</m:t>
                                          </m:r>
                                        </m:sub>
                                        <m:sup/>
                                      </m:sSubSup>
                                      <m:r>
                                        <a:rPr lang="en-US" altLang="zh-TW" b="0" i="1" smtClean="0">
                                          <a:latin typeface="+mj-lt"/>
                                        </a:rPr>
                                        <m:t>,</m:t>
                                      </m:r>
                                      <m:sSubSup>
                                        <m:sSubSupPr>
                                          <m:ctrlPr>
                                            <a:rPr lang="en-US" altLang="zh-TW" i="1" smtClean="0">
                                              <a:latin typeface="+mj-lt"/>
                                            </a:rPr>
                                          </m:ctrlPr>
                                        </m:sSubSupPr>
                                        <m:e>
                                          <m:r>
                                            <a:rPr lang="en-US" altLang="zh-TW" b="0" i="1" smtClean="0">
                                              <a:latin typeface="+mj-lt"/>
                                            </a:rPr>
                                            <m:t>𝑐</m:t>
                                          </m:r>
                                        </m:e>
                                        <m:sub>
                                          <m:r>
                                            <a:rPr lang="en-US" altLang="zh-TW" b="0" i="1" smtClean="0">
                                              <a:latin typeface="+mj-lt"/>
                                            </a:rPr>
                                            <m:t>𝑞</m:t>
                                          </m:r>
                                        </m:sub>
                                        <m:sup/>
                                      </m:sSubSup>
                                      <m:r>
                                        <a:rPr lang="en-US" altLang="zh-TW" b="0" i="1" smtClean="0">
                                          <a:latin typeface="+mj-lt"/>
                                        </a:rPr>
                                        <m:t>)</m:t>
                                      </m:r>
                                    </m:e>
                                    <m:sup>
                                      <m:r>
                                        <a:rPr lang="en-US" altLang="zh-TW" b="0" i="1" smtClean="0">
                                          <a:latin typeface="+mj-lt"/>
                                        </a:rPr>
                                        <m:t>2</m:t>
                                      </m:r>
                                    </m:sup>
                                  </m:sSup>
                                  <m:r>
                                    <a:rPr lang="en-US" altLang="zh-TW" b="0" i="1" smtClean="0">
                                      <a:latin typeface="+mj-lt"/>
                                    </a:rPr>
                                    <m:t>)</m:t>
                                  </m:r>
                                </m:e>
                                <m:sup>
                                  <m:f>
                                    <m:fPr>
                                      <m:ctrlPr>
                                        <a:rPr lang="en-US" altLang="zh-TW" b="0" i="1" smtClean="0">
                                          <a:latin typeface="+mj-lt"/>
                                        </a:rPr>
                                      </m:ctrlPr>
                                    </m:fPr>
                                    <m:num>
                                      <m:r>
                                        <a:rPr lang="en-US" altLang="zh-TW" b="0" i="1" smtClean="0">
                                          <a:latin typeface="+mj-lt"/>
                                        </a:rPr>
                                        <m:t>1</m:t>
                                      </m:r>
                                    </m:num>
                                    <m:den>
                                      <m:r>
                                        <a:rPr lang="en-US" altLang="zh-TW" b="0" i="1" smtClean="0">
                                          <a:latin typeface="+mj-lt"/>
                                        </a:rPr>
                                        <m:t>𝑝</m:t>
                                      </m:r>
                                      <m:r>
                                        <a:rPr lang="en-US" altLang="zh-TW" b="0" i="1" smtClean="0">
                                          <a:latin typeface="+mj-lt"/>
                                        </a:rPr>
                                        <m:t>−1</m:t>
                                      </m:r>
                                    </m:den>
                                  </m:f>
                                </m:sup>
                              </m:sSup>
                            </m:e>
                          </m:nary>
                        </m:den>
                      </m:f>
                    </m:oMath>
                  </m:oMathPara>
                </a14:m>
                <a:endParaRPr lang="en-US" altLang="zh-TW" dirty="0" smtClean="0">
                  <a:latin typeface="+mj-lt"/>
                </a:endParaRPr>
              </a:p>
              <a:p>
                <a:pPr marL="274320" lvl="1" indent="0">
                  <a:buNone/>
                </a:pPr>
                <a:r>
                  <a:rPr lang="zh-TW" altLang="zh-TW" dirty="0" smtClean="0"/>
                  <a:t>若</a:t>
                </a:r>
                <a:r>
                  <a:rPr lang="en-US" altLang="zh-TW" dirty="0" smtClean="0"/>
                  <a:t>x</a:t>
                </a:r>
                <a:r>
                  <a:rPr lang="en-US" altLang="zh-TW" baseline="-25000" dirty="0" smtClean="0"/>
                  <a:t>i</a:t>
                </a:r>
                <a:r>
                  <a:rPr lang="zh-TW" altLang="zh-TW" dirty="0" smtClean="0"/>
                  <a:t>接近中心點</a:t>
                </a:r>
                <a:r>
                  <a:rPr lang="en-US" altLang="zh-TW" dirty="0" err="1" smtClean="0"/>
                  <a:t>c</a:t>
                </a:r>
                <a:r>
                  <a:rPr lang="en-US" altLang="zh-TW" baseline="-25000" dirty="0" err="1" smtClean="0"/>
                  <a:t>j</a:t>
                </a:r>
                <a:r>
                  <a:rPr lang="en-US" altLang="zh-TW" baseline="-25000" dirty="0" smtClean="0"/>
                  <a:t> </a:t>
                </a:r>
                <a:r>
                  <a:rPr lang="zh-TW" altLang="zh-TW" dirty="0" smtClean="0"/>
                  <a:t>(dist(x</a:t>
                </a:r>
                <a:r>
                  <a:rPr lang="en-US" altLang="zh-TW" baseline="-25000" dirty="0" err="1" smtClean="0"/>
                  <a:t>i</a:t>
                </a:r>
                <a:r>
                  <a:rPr lang="zh-TW" altLang="zh-TW" dirty="0" smtClean="0"/>
                  <a:t>,c</a:t>
                </a:r>
                <a:r>
                  <a:rPr lang="en-US" altLang="zh-TW" baseline="-25000" dirty="0" smtClean="0"/>
                  <a:t>j</a:t>
                </a:r>
                <a:r>
                  <a:rPr lang="en-US" altLang="zh-TW" dirty="0"/>
                  <a:t>)</a:t>
                </a:r>
                <a:r>
                  <a:rPr lang="zh-TW" altLang="zh-TW" dirty="0" smtClean="0"/>
                  <a:t>較小</a:t>
                </a:r>
                <a:r>
                  <a:rPr lang="en-US" altLang="zh-TW" dirty="0" smtClean="0"/>
                  <a:t>)</a:t>
                </a:r>
                <a:r>
                  <a:rPr lang="zh-TW" altLang="zh-TW" dirty="0" smtClean="0"/>
                  <a:t>，</a:t>
                </a:r>
                <a:r>
                  <a:rPr lang="zh-TW" altLang="zh-TW" dirty="0"/>
                  <a:t>則權重值會相對地</a:t>
                </a:r>
                <a:r>
                  <a:rPr lang="zh-TW" altLang="zh-TW" dirty="0" smtClean="0"/>
                  <a:t>大</a:t>
                </a:r>
                <a:r>
                  <a:rPr lang="zh-TW" altLang="en-US" dirty="0" smtClean="0"/>
                  <a:t>；反之亦然。</a:t>
                </a:r>
                <a:endParaRPr lang="en-US" altLang="zh-TW" dirty="0" smtClean="0">
                  <a:latin typeface="+mj-lt"/>
                </a:endParaRPr>
              </a:p>
            </p:txBody>
          </p:sp>
        </mc:Choice>
        <mc:Fallback>
          <p:sp>
            <p:nvSpPr>
              <p:cNvPr id="11" name="內容版面配置區 10"/>
              <p:cNvSpPr>
                <a:spLocks noGrp="1" noRot="1" noChangeAspect="1" noMove="1" noResize="1" noEditPoints="1" noAdjustHandles="1" noChangeArrowheads="1" noChangeShapeType="1" noTextEdit="1"/>
              </p:cNvSpPr>
              <p:nvPr>
                <p:ph sz="quarter" idx="1"/>
              </p:nvPr>
            </p:nvSpPr>
            <p:spPr>
              <a:xfrm>
                <a:off x="0" y="1219200"/>
                <a:ext cx="9144000" cy="5234136"/>
              </a:xfrm>
              <a:blipFill rotWithShape="1">
                <a:blip r:embed="rId2"/>
                <a:stretch>
                  <a:fillRect l="-333" t="-1048" r="-34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8439002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ja-JP" dirty="0"/>
              <a:t>Fuzzy c-means</a:t>
            </a:r>
            <a:r>
              <a:rPr lang="en-US" altLang="zh-TW" dirty="0"/>
              <a:t>(FCM)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6</a:t>
            </a:fld>
            <a:endParaRPr lang="zh-TW" altLang="en-US"/>
          </a:p>
        </p:txBody>
      </p:sp>
      <p:sp>
        <p:nvSpPr>
          <p:cNvPr id="6" name="內容版面配置區 5"/>
          <p:cNvSpPr>
            <a:spLocks noGrp="1"/>
          </p:cNvSpPr>
          <p:nvPr>
            <p:ph sz="quarter" idx="1"/>
          </p:nvPr>
        </p:nvSpPr>
        <p:spPr/>
        <p:txBody>
          <a:bodyPr/>
          <a:lstStyle/>
          <a:p>
            <a:endParaRPr lang="zh-TW" altLang="en-US" dirty="0"/>
          </a:p>
        </p:txBody>
      </p:sp>
      <p:pic>
        <p:nvPicPr>
          <p:cNvPr id="20483" name="Picture 3"/>
          <p:cNvPicPr>
            <a:picLocks noChangeAspect="1" noChangeArrowheads="1"/>
          </p:cNvPicPr>
          <p:nvPr/>
        </p:nvPicPr>
        <p:blipFill>
          <a:blip r:embed="rId2">
            <a:grayscl/>
            <a:extLst>
              <a:ext uri="{BEBA8EAE-BF5A-486C-A8C5-ECC9F3942E4B}">
                <a14:imgProps xmlns:a14="http://schemas.microsoft.com/office/drawing/2010/main">
                  <a14:imgLayer r:embed="rId3">
                    <a14:imgEffect>
                      <a14:saturation sat="0"/>
                    </a14:imgEffect>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1619672" y="1196752"/>
            <a:ext cx="5904656" cy="5154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81072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22303" y="206018"/>
            <a:ext cx="3200091" cy="646334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標題 1"/>
          <p:cNvSpPr>
            <a:spLocks noGrp="1"/>
          </p:cNvSpPr>
          <p:nvPr>
            <p:ph type="title"/>
          </p:nvPr>
        </p:nvSpPr>
        <p:spPr/>
        <p:txBody>
          <a:bodyPr/>
          <a:lstStyle/>
          <a:p>
            <a:r>
              <a:rPr lang="en-US" altLang="zh-TW" dirty="0"/>
              <a:t>Gene Ontology (GO)</a:t>
            </a:r>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7</a:t>
            </a:fld>
            <a:endParaRPr lang="zh-TW" altLang="en-US"/>
          </a:p>
        </p:txBody>
      </p:sp>
      <p:sp>
        <p:nvSpPr>
          <p:cNvPr id="11" name="內容版面配置區 10"/>
          <p:cNvSpPr>
            <a:spLocks noGrp="1"/>
          </p:cNvSpPr>
          <p:nvPr>
            <p:ph sz="quarter" idx="1"/>
          </p:nvPr>
        </p:nvSpPr>
        <p:spPr>
          <a:xfrm>
            <a:off x="0" y="1196752"/>
            <a:ext cx="6372200" cy="4937760"/>
          </a:xfrm>
        </p:spPr>
        <p:txBody>
          <a:bodyPr>
            <a:normAutofit/>
          </a:bodyPr>
          <a:lstStyle/>
          <a:p>
            <a:r>
              <a:rPr lang="en-US" altLang="zh-TW" sz="2300" dirty="0">
                <a:latin typeface="+mn-lt"/>
              </a:rPr>
              <a:t>The Gene Ontology </a:t>
            </a:r>
            <a:r>
              <a:rPr lang="en-US" altLang="zh-TW" sz="2300" dirty="0" smtClean="0">
                <a:latin typeface="+mn-lt"/>
              </a:rPr>
              <a:t>is </a:t>
            </a:r>
            <a:r>
              <a:rPr lang="en-US" altLang="zh-TW" sz="2300" dirty="0">
                <a:latin typeface="+mn-lt"/>
              </a:rPr>
              <a:t>a hierarchy of terms using a </a:t>
            </a:r>
            <a:r>
              <a:rPr lang="en-US" altLang="zh-TW" sz="2300" dirty="0" smtClean="0">
                <a:latin typeface="+mn-lt"/>
              </a:rPr>
              <a:t>controlled vocabulary </a:t>
            </a:r>
            <a:r>
              <a:rPr lang="en-US" altLang="zh-TW" sz="2300" dirty="0">
                <a:latin typeface="+mn-lt"/>
              </a:rPr>
              <a:t>that includes three independent ontologies </a:t>
            </a:r>
            <a:r>
              <a:rPr lang="en-US" altLang="zh-TW" sz="2300" dirty="0" smtClean="0">
                <a:latin typeface="+mn-lt"/>
              </a:rPr>
              <a:t>for biological process:</a:t>
            </a:r>
          </a:p>
          <a:p>
            <a:pPr lvl="2"/>
            <a:r>
              <a:rPr lang="zh-TW" altLang="zh-TW" sz="2200" dirty="0" smtClean="0">
                <a:latin typeface="+mj-lt"/>
              </a:rPr>
              <a:t>Biologlcal</a:t>
            </a:r>
            <a:r>
              <a:rPr lang="en-US" altLang="zh-TW" sz="2200" dirty="0" smtClean="0">
                <a:latin typeface="+mj-lt"/>
              </a:rPr>
              <a:t> process</a:t>
            </a:r>
            <a:r>
              <a:rPr lang="zh-TW" altLang="zh-TW" sz="2200" dirty="0" smtClean="0">
                <a:latin typeface="+mj-lt"/>
              </a:rPr>
              <a:t> </a:t>
            </a:r>
            <a:endParaRPr lang="en-US" altLang="zh-TW" sz="2200" dirty="0" smtClean="0">
              <a:latin typeface="+mj-lt"/>
            </a:endParaRPr>
          </a:p>
          <a:p>
            <a:pPr lvl="2"/>
            <a:r>
              <a:rPr lang="zh-TW" altLang="zh-TW" sz="2200" dirty="0" smtClean="0">
                <a:latin typeface="+mj-lt"/>
              </a:rPr>
              <a:t>Cellular</a:t>
            </a:r>
            <a:r>
              <a:rPr lang="en-US" altLang="zh-TW" sz="2200" dirty="0" smtClean="0">
                <a:latin typeface="+mj-lt"/>
              </a:rPr>
              <a:t> </a:t>
            </a:r>
            <a:r>
              <a:rPr lang="zh-TW" altLang="zh-TW" sz="2200" dirty="0" smtClean="0">
                <a:latin typeface="+mj-lt"/>
              </a:rPr>
              <a:t>co</a:t>
            </a:r>
            <a:r>
              <a:rPr lang="en-US" altLang="zh-TW" sz="2200" dirty="0" smtClean="0">
                <a:latin typeface="+mj-lt"/>
              </a:rPr>
              <a:t>m</a:t>
            </a:r>
            <a:r>
              <a:rPr lang="zh-TW" altLang="zh-TW" sz="2200" dirty="0" smtClean="0">
                <a:latin typeface="+mj-lt"/>
              </a:rPr>
              <a:t>ponent</a:t>
            </a:r>
            <a:endParaRPr lang="en-US" altLang="zh-TW" sz="2200" dirty="0" smtClean="0">
              <a:latin typeface="+mj-lt"/>
            </a:endParaRPr>
          </a:p>
          <a:p>
            <a:pPr lvl="2"/>
            <a:r>
              <a:rPr lang="zh-TW" altLang="zh-TW" sz="2200" dirty="0" smtClean="0">
                <a:latin typeface="+mj-lt"/>
              </a:rPr>
              <a:t>Molecula</a:t>
            </a:r>
            <a:r>
              <a:rPr lang="en-US" altLang="zh-TW" sz="2200" dirty="0" smtClean="0">
                <a:latin typeface="+mj-lt"/>
              </a:rPr>
              <a:t>r </a:t>
            </a:r>
            <a:r>
              <a:rPr lang="zh-TW" altLang="zh-TW" sz="2200" dirty="0" smtClean="0">
                <a:latin typeface="+mj-lt"/>
              </a:rPr>
              <a:t>function</a:t>
            </a:r>
            <a:endParaRPr lang="en-US" altLang="zh-TW" sz="2200" dirty="0" smtClean="0">
              <a:latin typeface="+mj-lt"/>
            </a:endParaRPr>
          </a:p>
          <a:p>
            <a:r>
              <a:rPr lang="zh-TW" altLang="zh-TW" dirty="0">
                <a:latin typeface="+mn-lt"/>
              </a:rPr>
              <a:t>G</a:t>
            </a:r>
            <a:r>
              <a:rPr lang="en-US" altLang="zh-TW" dirty="0">
                <a:latin typeface="+mn-lt"/>
              </a:rPr>
              <a:t>O </a:t>
            </a:r>
            <a:r>
              <a:rPr lang="zh-TW" altLang="zh-TW" dirty="0" smtClean="0">
                <a:latin typeface="+mn-lt"/>
              </a:rPr>
              <a:t>Annotations</a:t>
            </a:r>
            <a:r>
              <a:rPr lang="en-US" altLang="zh-TW" dirty="0" smtClean="0">
                <a:latin typeface="+mn-lt"/>
              </a:rPr>
              <a:t>:</a:t>
            </a:r>
            <a:endParaRPr lang="zh-TW" altLang="zh-TW" dirty="0">
              <a:latin typeface="+mn-lt"/>
            </a:endParaRPr>
          </a:p>
          <a:p>
            <a:pPr lvl="1"/>
            <a:r>
              <a:rPr lang="zh-TW" altLang="zh-TW" dirty="0" smtClean="0">
                <a:latin typeface="+mn-lt"/>
              </a:rPr>
              <a:t>Annotations</a:t>
            </a:r>
            <a:r>
              <a:rPr lang="en-US" altLang="zh-TW" dirty="0" smtClean="0">
                <a:latin typeface="+mn-lt"/>
              </a:rPr>
              <a:t> </a:t>
            </a:r>
            <a:r>
              <a:rPr lang="zh-TW" altLang="zh-TW" dirty="0" smtClean="0">
                <a:latin typeface="+mn-lt"/>
              </a:rPr>
              <a:t>provided</a:t>
            </a:r>
            <a:r>
              <a:rPr lang="en-US" altLang="zh-TW" dirty="0" smtClean="0">
                <a:latin typeface="+mn-lt"/>
              </a:rPr>
              <a:t> </a:t>
            </a:r>
            <a:r>
              <a:rPr lang="zh-TW" altLang="zh-TW" dirty="0" smtClean="0">
                <a:latin typeface="+mn-lt"/>
              </a:rPr>
              <a:t>by</a:t>
            </a:r>
            <a:r>
              <a:rPr lang="en-US" altLang="zh-TW" dirty="0" smtClean="0">
                <a:latin typeface="+mn-lt"/>
              </a:rPr>
              <a:t> </a:t>
            </a:r>
            <a:r>
              <a:rPr lang="zh-TW" altLang="zh-TW" dirty="0" smtClean="0">
                <a:latin typeface="+mn-lt"/>
              </a:rPr>
              <a:t>experts</a:t>
            </a:r>
            <a:r>
              <a:rPr lang="zh-TW" altLang="zh-TW" dirty="0">
                <a:latin typeface="+mn-lt"/>
              </a:rPr>
              <a:t>.</a:t>
            </a:r>
          </a:p>
          <a:p>
            <a:pPr lvl="1"/>
            <a:r>
              <a:rPr lang="zh-TW" altLang="zh-TW" b="1" dirty="0">
                <a:latin typeface="+mn-lt"/>
              </a:rPr>
              <a:t>Evidence</a:t>
            </a:r>
            <a:r>
              <a:rPr lang="en-US" altLang="zh-TW" b="1" dirty="0">
                <a:latin typeface="+mn-lt"/>
              </a:rPr>
              <a:t> </a:t>
            </a:r>
            <a:r>
              <a:rPr lang="zh-TW" altLang="zh-TW" b="1" dirty="0">
                <a:latin typeface="+mn-lt"/>
              </a:rPr>
              <a:t>codes</a:t>
            </a:r>
            <a:r>
              <a:rPr lang="en-US" altLang="zh-TW" b="1" dirty="0">
                <a:latin typeface="+mn-lt"/>
              </a:rPr>
              <a:t> </a:t>
            </a:r>
            <a:r>
              <a:rPr lang="zh-TW" altLang="zh-TW" dirty="0">
                <a:latin typeface="+mn-lt"/>
              </a:rPr>
              <a:t>deter</a:t>
            </a:r>
            <a:r>
              <a:rPr lang="en-US" altLang="zh-TW" dirty="0">
                <a:latin typeface="+mn-lt"/>
              </a:rPr>
              <a:t>mine </a:t>
            </a:r>
            <a:r>
              <a:rPr lang="zh-TW" altLang="zh-TW" dirty="0">
                <a:latin typeface="+mn-lt"/>
              </a:rPr>
              <a:t>the</a:t>
            </a:r>
            <a:r>
              <a:rPr lang="en-US" altLang="zh-TW" dirty="0">
                <a:latin typeface="+mn-lt"/>
              </a:rPr>
              <a:t> </a:t>
            </a:r>
            <a:r>
              <a:rPr lang="zh-TW" altLang="zh-TW" dirty="0">
                <a:latin typeface="+mn-lt"/>
              </a:rPr>
              <a:t>de</a:t>
            </a:r>
            <a:r>
              <a:rPr lang="en-US" altLang="zh-TW" dirty="0">
                <a:latin typeface="+mn-lt"/>
              </a:rPr>
              <a:t>g</a:t>
            </a:r>
            <a:r>
              <a:rPr lang="zh-TW" altLang="zh-TW" dirty="0">
                <a:latin typeface="+mn-lt"/>
              </a:rPr>
              <a:t>ree</a:t>
            </a:r>
            <a:r>
              <a:rPr lang="en-US" altLang="zh-TW" dirty="0">
                <a:latin typeface="+mn-lt"/>
              </a:rPr>
              <a:t> </a:t>
            </a:r>
            <a:r>
              <a:rPr lang="zh-TW" altLang="zh-TW" dirty="0">
                <a:latin typeface="+mn-lt"/>
              </a:rPr>
              <a:t>of</a:t>
            </a:r>
            <a:r>
              <a:rPr lang="en-US" altLang="zh-TW" dirty="0">
                <a:latin typeface="+mn-lt"/>
              </a:rPr>
              <a:t> </a:t>
            </a:r>
            <a:r>
              <a:rPr lang="zh-TW" altLang="zh-TW" dirty="0">
                <a:latin typeface="+mn-lt"/>
              </a:rPr>
              <a:t>belief</a:t>
            </a:r>
            <a:r>
              <a:rPr lang="en-US" altLang="zh-TW" dirty="0">
                <a:latin typeface="+mn-lt"/>
              </a:rPr>
              <a:t> </a:t>
            </a:r>
            <a:r>
              <a:rPr lang="zh-TW" altLang="zh-TW" dirty="0">
                <a:latin typeface="+mn-lt"/>
              </a:rPr>
              <a:t>(0&lt;=</a:t>
            </a:r>
            <a:r>
              <a:rPr lang="en-US" altLang="zh-TW" dirty="0" err="1">
                <a:latin typeface="+mn-lt"/>
              </a:rPr>
              <a:t>p</a:t>
            </a:r>
            <a:r>
              <a:rPr lang="en-US" altLang="zh-TW" baseline="-25000" dirty="0" err="1">
                <a:latin typeface="+mn-lt"/>
              </a:rPr>
              <a:t>ij</a:t>
            </a:r>
            <a:r>
              <a:rPr lang="en-US" altLang="zh-TW" dirty="0">
                <a:latin typeface="+mn-lt"/>
              </a:rPr>
              <a:t>&lt;</a:t>
            </a:r>
            <a:r>
              <a:rPr lang="zh-TW" altLang="zh-TW" dirty="0">
                <a:latin typeface="+mn-lt"/>
              </a:rPr>
              <a:t>=</a:t>
            </a:r>
            <a:r>
              <a:rPr lang="en-US" altLang="zh-TW" dirty="0">
                <a:latin typeface="+mn-lt"/>
              </a:rPr>
              <a:t>1</a:t>
            </a:r>
            <a:r>
              <a:rPr lang="zh-TW" altLang="zh-TW" dirty="0">
                <a:latin typeface="+mn-lt"/>
              </a:rPr>
              <a:t>)</a:t>
            </a:r>
            <a:r>
              <a:rPr lang="en-US" altLang="zh-TW" dirty="0">
                <a:latin typeface="+mn-lt"/>
              </a:rPr>
              <a:t> </a:t>
            </a:r>
            <a:r>
              <a:rPr lang="zh-TW" altLang="zh-TW" dirty="0">
                <a:latin typeface="+mn-lt"/>
              </a:rPr>
              <a:t>of</a:t>
            </a:r>
            <a:r>
              <a:rPr lang="en-US" altLang="zh-TW" dirty="0">
                <a:latin typeface="+mn-lt"/>
              </a:rPr>
              <a:t> </a:t>
            </a:r>
            <a:r>
              <a:rPr lang="zh-TW" altLang="zh-TW" dirty="0">
                <a:latin typeface="+mn-lt"/>
              </a:rPr>
              <a:t>these</a:t>
            </a:r>
            <a:r>
              <a:rPr lang="en-US" altLang="zh-TW" dirty="0">
                <a:latin typeface="+mn-lt"/>
              </a:rPr>
              <a:t> </a:t>
            </a:r>
            <a:r>
              <a:rPr lang="zh-TW" altLang="zh-TW" dirty="0">
                <a:latin typeface="+mn-lt"/>
              </a:rPr>
              <a:t>annotations.</a:t>
            </a:r>
          </a:p>
          <a:p>
            <a:pPr lvl="2"/>
            <a:endParaRPr lang="en-US" altLang="zh-TW" dirty="0"/>
          </a:p>
        </p:txBody>
      </p:sp>
      <p:pic>
        <p:nvPicPr>
          <p:cNvPr id="819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6" y="5162550"/>
            <a:ext cx="6781800" cy="16954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8202204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dirty="0"/>
              <a:t>GO Fuzzy c-means </a:t>
            </a:r>
            <a:r>
              <a:rPr lang="en-US" altLang="zh-TW" dirty="0" smtClean="0"/>
              <a:t>algorithm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8</a:t>
            </a:fld>
            <a:endParaRPr lang="zh-TW" altLang="en-US"/>
          </a:p>
        </p:txBody>
      </p:sp>
      <mc:AlternateContent xmlns:mc="http://schemas.openxmlformats.org/markup-compatibility/2006">
        <mc:Choice xmlns:a14="http://schemas.microsoft.com/office/drawing/2010/main" Requires="a14">
          <p:sp>
            <p:nvSpPr>
              <p:cNvPr id="5" name="內容版面配置區 4"/>
              <p:cNvSpPr>
                <a:spLocks noGrp="1"/>
              </p:cNvSpPr>
              <p:nvPr>
                <p:ph sz="quarter" idx="1"/>
              </p:nvPr>
            </p:nvSpPr>
            <p:spPr>
              <a:xfrm>
                <a:off x="0" y="1219200"/>
                <a:ext cx="9144000" cy="4937760"/>
              </a:xfrm>
            </p:spPr>
            <p:txBody>
              <a:bodyPr>
                <a:normAutofit/>
              </a:bodyPr>
              <a:lstStyle/>
              <a:p>
                <a:pPr marL="514350" indent="-514350">
                  <a:buClrTx/>
                  <a:buFont typeface="+mj-lt"/>
                  <a:buAutoNum type="arabicPeriod"/>
                </a:pPr>
                <a:r>
                  <a:rPr lang="en-US" altLang="zh-TW" dirty="0">
                    <a:latin typeface="+mj-lt"/>
                  </a:rPr>
                  <a:t>Each </a:t>
                </a:r>
                <a:r>
                  <a:rPr lang="en-US" altLang="zh-TW" dirty="0" err="1">
                    <a:latin typeface="+mj-lt"/>
                  </a:rPr>
                  <a:t>GOSlim</a:t>
                </a:r>
                <a:r>
                  <a:rPr lang="en-US" altLang="zh-TW" dirty="0">
                    <a:latin typeface="+mj-lt"/>
                  </a:rPr>
                  <a:t> biological process </a:t>
                </a:r>
                <a:r>
                  <a:rPr lang="en-US" altLang="zh-TW" dirty="0" smtClean="0">
                    <a:latin typeface="+mj-lt"/>
                  </a:rPr>
                  <a:t>term </a:t>
                </a:r>
                <a:r>
                  <a:rPr lang="en-US" altLang="zh-TW" dirty="0">
                    <a:latin typeface="+mj-lt"/>
                  </a:rPr>
                  <a:t>is considered as a cluster. </a:t>
                </a:r>
                <a:r>
                  <a:rPr lang="en-US" altLang="zh-TW" dirty="0">
                    <a:latin typeface="+mj-lt"/>
                  </a:rPr>
                  <a:t>(</a:t>
                </a:r>
                <a:r>
                  <a:rPr lang="en-US" altLang="zh-TW" dirty="0" smtClean="0">
                    <a:latin typeface="+mj-lt"/>
                  </a:rPr>
                  <a:t>Thus</a:t>
                </a:r>
                <a:r>
                  <a:rPr lang="en-US" altLang="zh-TW" dirty="0">
                    <a:latin typeface="+mj-lt"/>
                  </a:rPr>
                  <a:t>,</a:t>
                </a:r>
                <a:r>
                  <a:rPr lang="en-US" altLang="zh-TW" dirty="0">
                    <a:latin typeface="+mj-lt"/>
                  </a:rPr>
                  <a:t> number of clusters is automatically determined</a:t>
                </a:r>
                <a:r>
                  <a:rPr lang="en-US" altLang="zh-TW" dirty="0">
                    <a:latin typeface="+mj-lt"/>
                  </a:rPr>
                  <a:t>).</a:t>
                </a:r>
              </a:p>
              <a:p>
                <a:pPr marL="514350" indent="-514350">
                  <a:buClrTx/>
                  <a:buFont typeface="+mj-lt"/>
                  <a:buAutoNum type="arabicPeriod"/>
                </a:pPr>
                <a:r>
                  <a:rPr lang="en-US" altLang="zh-TW" dirty="0">
                    <a:latin typeface="+mj-lt"/>
                  </a:rPr>
                  <a:t>Initialize </a:t>
                </a:r>
                <a:r>
                  <a:rPr lang="en-US" altLang="zh-TW" dirty="0" err="1">
                    <a:latin typeface="+mj-lt"/>
                  </a:rPr>
                  <a:t>uij</a:t>
                </a:r>
                <a:r>
                  <a:rPr lang="en-US" altLang="zh-TW" dirty="0">
                    <a:latin typeface="+mj-lt"/>
                  </a:rPr>
                  <a:t>(0) as </a:t>
                </a:r>
                <a:r>
                  <a:rPr lang="el-GR" altLang="zh-TW" dirty="0">
                    <a:latin typeface="+mj-lt"/>
                  </a:rPr>
                  <a:t>α</a:t>
                </a:r>
                <a14:m>
                  <m:oMath xmlns:m="http://schemas.openxmlformats.org/officeDocument/2006/math">
                    <m:r>
                      <a:rPr lang="el-GR" altLang="zh-TW">
                        <a:latin typeface="+mj-lt"/>
                      </a:rPr>
                      <m:t>∙</m:t>
                    </m:r>
                  </m:oMath>
                </a14:m>
                <a:r>
                  <a:rPr lang="en-US" altLang="zh-TW" dirty="0">
                    <a:latin typeface="+mj-lt"/>
                  </a:rPr>
                  <a:t>r.</a:t>
                </a:r>
                <a:endParaRPr lang="en-US" altLang="zh-TW" dirty="0">
                  <a:latin typeface="+mj-lt"/>
                </a:endParaRPr>
              </a:p>
              <a:p>
                <a:pPr marL="514350" indent="-514350">
                  <a:buClrTx/>
                  <a:buFont typeface="+mj-lt"/>
                  <a:buAutoNum type="arabicPeriod"/>
                </a:pPr>
                <a:r>
                  <a:rPr lang="en-US" altLang="zh-TW" dirty="0" smtClean="0">
                    <a:latin typeface="+mj-lt"/>
                  </a:rPr>
                  <a:t>If </a:t>
                </a:r>
                <a:r>
                  <a:rPr lang="en-US" altLang="zh-TW" dirty="0" err="1">
                    <a:latin typeface="+mj-lt"/>
                  </a:rPr>
                  <a:t>g</a:t>
                </a:r>
                <a:r>
                  <a:rPr lang="en-US" altLang="zh-TW" baseline="-25000" dirty="0" err="1">
                    <a:latin typeface="+mj-lt"/>
                  </a:rPr>
                  <a:t>i</a:t>
                </a:r>
                <a:r>
                  <a:rPr lang="en-US" altLang="zh-TW" dirty="0">
                    <a:latin typeface="+mj-lt"/>
                  </a:rPr>
                  <a:t> is involved in biological process </a:t>
                </a:r>
                <a:r>
                  <a:rPr lang="en-US" altLang="zh-TW" dirty="0" err="1">
                    <a:latin typeface="+mj-lt"/>
                  </a:rPr>
                  <a:t>b</a:t>
                </a:r>
                <a:r>
                  <a:rPr lang="en-US" altLang="zh-TW" baseline="-25000" dirty="0" err="1">
                    <a:latin typeface="+mj-lt"/>
                  </a:rPr>
                  <a:t>j</a:t>
                </a:r>
                <a:r>
                  <a:rPr lang="en-US" altLang="zh-TW" dirty="0">
                    <a:latin typeface="+mj-lt"/>
                  </a:rPr>
                  <a:t>, assign </a:t>
                </a:r>
                <a:r>
                  <a:rPr lang="en-US" altLang="zh-TW" dirty="0" err="1" smtClean="0">
                    <a:latin typeface="+mj-lt"/>
                  </a:rPr>
                  <a:t>u</a:t>
                </a:r>
                <a:r>
                  <a:rPr lang="en-US" altLang="zh-TW" baseline="-25000" dirty="0" err="1" smtClean="0">
                    <a:latin typeface="+mj-lt"/>
                  </a:rPr>
                  <a:t>ij</a:t>
                </a:r>
                <a:r>
                  <a:rPr lang="en-US" altLang="zh-TW" baseline="30000" dirty="0" smtClean="0">
                    <a:latin typeface="+mj-lt"/>
                  </a:rPr>
                  <a:t>(0</a:t>
                </a:r>
                <a:r>
                  <a:rPr lang="en-US" altLang="zh-TW" baseline="30000" dirty="0">
                    <a:latin typeface="+mj-lt"/>
                  </a:rPr>
                  <a:t>)</a:t>
                </a:r>
                <a:r>
                  <a:rPr lang="en-US" altLang="zh-TW" dirty="0">
                    <a:latin typeface="+mj-lt"/>
                  </a:rPr>
                  <a:t> = </a:t>
                </a:r>
                <a:r>
                  <a:rPr lang="en-US" altLang="zh-TW" dirty="0" err="1" smtClean="0">
                    <a:latin typeface="+mj-lt"/>
                  </a:rPr>
                  <a:t>p</a:t>
                </a:r>
                <a:r>
                  <a:rPr lang="en-US" altLang="zh-TW" baseline="-25000" dirty="0" err="1" smtClean="0">
                    <a:latin typeface="+mj-lt"/>
                  </a:rPr>
                  <a:t>ij</a:t>
                </a:r>
                <a:r>
                  <a:rPr lang="en-US" altLang="zh-TW" baseline="-25000" dirty="0">
                    <a:latin typeface="+mj-lt"/>
                  </a:rPr>
                  <a:t> </a:t>
                </a:r>
                <a:r>
                  <a:rPr lang="en-US" altLang="zh-TW" dirty="0" smtClean="0">
                    <a:latin typeface="+mj-lt"/>
                  </a:rPr>
                  <a:t> (1 - </a:t>
                </a:r>
                <a:r>
                  <a:rPr lang="el-GR" altLang="zh-TW" dirty="0" smtClean="0">
                    <a:latin typeface="+mj-lt"/>
                  </a:rPr>
                  <a:t>α</a:t>
                </a:r>
                <a:r>
                  <a:rPr lang="en-US" altLang="zh-TW" dirty="0" smtClean="0">
                    <a:latin typeface="+mj-lt"/>
                  </a:rPr>
                  <a:t>) </a:t>
                </a:r>
                <a:r>
                  <a:rPr lang="en-US" altLang="zh-TW" dirty="0">
                    <a:latin typeface="+mj-lt"/>
                  </a:rPr>
                  <a:t>+ </a:t>
                </a:r>
                <a:r>
                  <a:rPr lang="el-GR" altLang="zh-TW" dirty="0">
                    <a:latin typeface="+mj-lt"/>
                  </a:rPr>
                  <a:t>α</a:t>
                </a:r>
                <a14:m>
                  <m:oMath xmlns:m="http://schemas.openxmlformats.org/officeDocument/2006/math">
                    <m:r>
                      <a:rPr lang="en-US" altLang="zh-TW" b="0" i="0" smtClean="0">
                        <a:latin typeface="+mj-lt"/>
                        <a:ea typeface="Cambria Math"/>
                      </a:rPr>
                      <m:t> </m:t>
                    </m:r>
                    <m:r>
                      <a:rPr lang="en-US" altLang="zh-TW" i="1" smtClean="0">
                        <a:latin typeface="+mj-lt"/>
                        <a:ea typeface="Cambria Math"/>
                      </a:rPr>
                      <m:t>∙</m:t>
                    </m:r>
                    <m:r>
                      <a:rPr lang="en-US" altLang="zh-TW" b="0" i="1" smtClean="0">
                        <a:latin typeface="+mj-lt"/>
                        <a:ea typeface="Cambria Math"/>
                      </a:rPr>
                      <m:t> </m:t>
                    </m:r>
                  </m:oMath>
                </a14:m>
                <a:r>
                  <a:rPr lang="en-US" altLang="zh-TW" dirty="0">
                    <a:latin typeface="+mj-lt"/>
                  </a:rPr>
                  <a:t>r</a:t>
                </a:r>
                <a:r>
                  <a:rPr lang="en-US" altLang="zh-TW" dirty="0" smtClean="0">
                    <a:latin typeface="+mj-lt"/>
                  </a:rPr>
                  <a:t>.</a:t>
                </a:r>
              </a:p>
              <a:p>
                <a:pPr marL="514350" indent="-514350">
                  <a:buClrTx/>
                  <a:buFont typeface="+mj-lt"/>
                  <a:buAutoNum type="arabicPeriod"/>
                </a:pPr>
                <a:endParaRPr lang="en-US" altLang="zh-TW" dirty="0" smtClean="0">
                  <a:latin typeface="+mj-lt"/>
                </a:endParaRPr>
              </a:p>
              <a:p>
                <a:pPr lvl="1"/>
                <a:r>
                  <a:rPr lang="en-US" altLang="zh-TW" dirty="0" smtClean="0">
                    <a:latin typeface="+mj-lt"/>
                  </a:rPr>
                  <a:t>p: (</a:t>
                </a:r>
                <a:r>
                  <a:rPr lang="en-US" altLang="zh-TW" dirty="0">
                    <a:latin typeface="+mj-lt"/>
                  </a:rPr>
                  <a:t>degree </a:t>
                </a:r>
                <a:r>
                  <a:rPr lang="en-US" altLang="zh-TW" dirty="0" smtClean="0">
                    <a:latin typeface="+mj-lt"/>
                  </a:rPr>
                  <a:t>of belief by the evidence </a:t>
                </a:r>
                <a:r>
                  <a:rPr lang="en-US" altLang="zh-TW" dirty="0">
                    <a:latin typeface="+mj-lt"/>
                  </a:rPr>
                  <a:t>codes </a:t>
                </a:r>
                <a:r>
                  <a:rPr lang="en-US" altLang="zh-TW" dirty="0" smtClean="0">
                    <a:latin typeface="+mj-lt"/>
                  </a:rPr>
                  <a:t>)</a:t>
                </a:r>
              </a:p>
              <a:p>
                <a:pPr lvl="1"/>
                <a:r>
                  <a:rPr lang="el-GR" altLang="zh-TW" dirty="0" smtClean="0">
                    <a:latin typeface="+mj-lt"/>
                  </a:rPr>
                  <a:t>α</a:t>
                </a:r>
                <a:r>
                  <a:rPr lang="en-US" altLang="zh-TW" dirty="0" smtClean="0">
                    <a:latin typeface="+mj-lt"/>
                  </a:rPr>
                  <a:t>: </a:t>
                </a:r>
                <a:r>
                  <a:rPr lang="en-US" altLang="zh-TW" dirty="0">
                    <a:latin typeface="+mj-lt"/>
                  </a:rPr>
                  <a:t>(degree of </a:t>
                </a:r>
                <a:r>
                  <a:rPr lang="en-US" altLang="zh-TW" dirty="0" smtClean="0">
                    <a:latin typeface="+mj-lt"/>
                  </a:rPr>
                  <a:t>dependency)</a:t>
                </a:r>
              </a:p>
              <a:p>
                <a:pPr lvl="1"/>
                <a:r>
                  <a:rPr lang="en-US" altLang="zh-TW" dirty="0" smtClean="0">
                    <a:latin typeface="+mj-lt"/>
                  </a:rPr>
                  <a:t>r: </a:t>
                </a:r>
                <a:r>
                  <a:rPr lang="en-US" altLang="zh-TW" dirty="0">
                    <a:latin typeface="+mj-lt"/>
                  </a:rPr>
                  <a:t>(constant that acts as degree of </a:t>
                </a:r>
                <a:r>
                  <a:rPr lang="en-US" altLang="zh-TW" dirty="0" smtClean="0">
                    <a:latin typeface="+mj-lt"/>
                  </a:rPr>
                  <a:t>belief when&lt;g </a:t>
                </a:r>
                <a:r>
                  <a:rPr lang="en-US" altLang="zh-TW" dirty="0">
                    <a:latin typeface="+mj-lt"/>
                  </a:rPr>
                  <a:t>is not associated with a process </a:t>
                </a:r>
                <a:r>
                  <a:rPr lang="en-US" altLang="zh-TW" dirty="0" smtClean="0">
                    <a:latin typeface="+mj-lt"/>
                  </a:rPr>
                  <a:t>b).</a:t>
                </a:r>
                <a:endParaRPr lang="en-US" altLang="zh-TW" dirty="0">
                  <a:latin typeface="+mj-lt"/>
                </a:endParaRPr>
              </a:p>
              <a:p>
                <a:pPr lvl="1">
                  <a:buClrTx/>
                </a:pPr>
                <a:endParaRPr lang="en-US" altLang="zh-TW" dirty="0" smtClean="0">
                  <a:latin typeface="+mj-lt"/>
                </a:endParaRPr>
              </a:p>
            </p:txBody>
          </p:sp>
        </mc:Choice>
        <mc:Fallback>
          <p:sp>
            <p:nvSpPr>
              <p:cNvPr id="5" name="內容版面配置區 4"/>
              <p:cNvSpPr>
                <a:spLocks noGrp="1" noRot="1" noChangeAspect="1" noMove="1" noResize="1" noEditPoints="1" noAdjustHandles="1" noChangeArrowheads="1" noChangeShapeType="1" noTextEdit="1"/>
              </p:cNvSpPr>
              <p:nvPr>
                <p:ph sz="quarter" idx="1"/>
              </p:nvPr>
            </p:nvSpPr>
            <p:spPr>
              <a:xfrm>
                <a:off x="0" y="1219200"/>
                <a:ext cx="9144000" cy="4937760"/>
              </a:xfrm>
              <a:blipFill rotWithShape="1">
                <a:blip r:embed="rId2"/>
                <a:stretch>
                  <a:fillRect l="-667" t="-988" r="-1067"/>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39034492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GO Fuzzy c-means algorithm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9</a:t>
            </a:fld>
            <a:endParaRPr lang="zh-TW" altLang="en-US"/>
          </a:p>
        </p:txBody>
      </p:sp>
      <p:pic>
        <p:nvPicPr>
          <p:cNvPr id="6" name="Picture 2"/>
          <p:cNvPicPr>
            <a:picLocks noGrp="1" noChangeAspect="1" noChangeArrowheads="1"/>
          </p:cNvPicPr>
          <p:nvPr>
            <p:ph sz="quarter" idx="1"/>
          </p:nvPr>
        </p:nvPicPr>
        <p:blipFill>
          <a:blip r:embed="rId2">
            <a:extLst>
              <a:ext uri="{28A0092B-C50C-407E-A947-70E740481C1C}">
                <a14:useLocalDpi xmlns:a14="http://schemas.microsoft.com/office/drawing/2010/main" val="0"/>
              </a:ext>
            </a:extLst>
          </a:blip>
          <a:stretch>
            <a:fillRect/>
          </a:stretch>
        </p:blipFill>
        <p:spPr bwMode="auto">
          <a:xfrm>
            <a:off x="3995936" y="1112387"/>
            <a:ext cx="5042919" cy="580721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mc:Choice xmlns:a14="http://schemas.microsoft.com/office/drawing/2010/main" Requires="a14">
          <p:sp>
            <p:nvSpPr>
              <p:cNvPr id="7" name="矩形 6"/>
              <p:cNvSpPr/>
              <p:nvPr/>
            </p:nvSpPr>
            <p:spPr>
              <a:xfrm>
                <a:off x="0" y="1268760"/>
                <a:ext cx="3995936" cy="3785652"/>
              </a:xfrm>
              <a:prstGeom prst="rect">
                <a:avLst/>
              </a:prstGeom>
            </p:spPr>
            <p:txBody>
              <a:bodyPr wrap="square">
                <a:spAutoFit/>
              </a:bodyPr>
              <a:lstStyle/>
              <a:p>
                <a:r>
                  <a:rPr lang="en-US" altLang="zh-TW" sz="2400" dirty="0" smtClean="0"/>
                  <a:t>A list of 32 </a:t>
                </a:r>
                <a:r>
                  <a:rPr lang="en-US" altLang="zh-TW" sz="2400" dirty="0" err="1"/>
                  <a:t>GOSlim</a:t>
                </a:r>
                <a:r>
                  <a:rPr lang="en-US" altLang="zh-TW" sz="2400" dirty="0"/>
                  <a:t> biological process terms used in GO Fuzzy </a:t>
                </a:r>
                <a:r>
                  <a:rPr lang="en-US" altLang="zh-TW" sz="2400" dirty="0" smtClean="0"/>
                  <a:t>c-means denoted as GO</a:t>
                </a:r>
                <a:r>
                  <a:rPr lang="en-US" altLang="zh-TW" sz="2400" baseline="-25000" dirty="0" smtClean="0"/>
                  <a:t>BP</a:t>
                </a:r>
                <a:r>
                  <a:rPr lang="en-US" altLang="zh-TW" sz="2400" dirty="0" smtClean="0"/>
                  <a:t>.</a:t>
                </a:r>
              </a:p>
              <a:p>
                <a:endParaRPr lang="en-US" altLang="zh-TW" sz="2400" dirty="0" smtClean="0"/>
              </a:p>
              <a:p>
                <a:r>
                  <a:rPr lang="en-US" altLang="zh-TW" sz="2400" dirty="0" smtClean="0"/>
                  <a:t>If g is associated with a process </a:t>
                </a:r>
                <a:r>
                  <a:rPr lang="en-US" altLang="zh-TW" sz="2400" dirty="0" err="1" smtClean="0"/>
                  <a:t>bp.</a:t>
                </a:r>
                <a:r>
                  <a:rPr lang="en-US" altLang="zh-TW" sz="2400" dirty="0" smtClean="0"/>
                  <a:t> Using GO hierarchy the parent </a:t>
                </a:r>
                <a:r>
                  <a:rPr lang="en-US" altLang="zh-TW" sz="2400" dirty="0" err="1" smtClean="0"/>
                  <a:t>sbp</a:t>
                </a:r>
                <a:r>
                  <a:rPr lang="en-US" altLang="zh-TW" sz="2400" dirty="0" smtClean="0"/>
                  <a:t> of </a:t>
                </a:r>
                <a:r>
                  <a:rPr lang="en-US" altLang="zh-TW" sz="2400" dirty="0" err="1" smtClean="0"/>
                  <a:t>bp</a:t>
                </a:r>
                <a:r>
                  <a:rPr lang="en-US" altLang="zh-TW" sz="2400" dirty="0" smtClean="0"/>
                  <a:t>(</a:t>
                </a:r>
                <a:r>
                  <a:rPr lang="en-US" altLang="zh-TW" sz="2400" dirty="0" err="1" smtClean="0"/>
                  <a:t>sbp</a:t>
                </a:r>
                <a14:m>
                  <m:oMath xmlns:m="http://schemas.openxmlformats.org/officeDocument/2006/math">
                    <m:r>
                      <a:rPr lang="en-US" altLang="zh-TW" sz="2400" b="0" i="0" smtClean="0">
                        <a:latin typeface="Cambria Math"/>
                      </a:rPr>
                      <m:t> </m:t>
                    </m:r>
                    <m:r>
                      <a:rPr lang="zh-TW" altLang="en-US" sz="2400" i="1" smtClean="0">
                        <a:latin typeface="Cambria Math"/>
                      </a:rPr>
                      <m:t>𝜖</m:t>
                    </m:r>
                    <m:r>
                      <a:rPr lang="en-US" altLang="zh-TW" sz="2400" b="0" i="1" smtClean="0">
                        <a:latin typeface="Cambria Math"/>
                      </a:rPr>
                      <m:t> </m:t>
                    </m:r>
                  </m:oMath>
                </a14:m>
                <a:r>
                  <a:rPr lang="en-US" altLang="zh-TW" sz="2400" dirty="0" smtClean="0"/>
                  <a:t>GO</a:t>
                </a:r>
                <a:r>
                  <a:rPr lang="en-US" altLang="zh-TW" sz="2400" baseline="-25000" dirty="0" smtClean="0"/>
                  <a:t>BP</a:t>
                </a:r>
                <a:r>
                  <a:rPr lang="en-US" altLang="zh-TW" sz="2400" dirty="0" smtClean="0"/>
                  <a:t>). In this case g is assigned to the process </a:t>
                </a:r>
                <a:r>
                  <a:rPr lang="en-US" altLang="zh-TW" sz="2400" dirty="0" err="1" smtClean="0"/>
                  <a:t>sbp</a:t>
                </a:r>
                <a:r>
                  <a:rPr lang="en-US" altLang="zh-TW" sz="2400" dirty="0" smtClean="0"/>
                  <a:t>.</a:t>
                </a:r>
              </a:p>
            </p:txBody>
          </p:sp>
        </mc:Choice>
        <mc:Fallback>
          <p:sp>
            <p:nvSpPr>
              <p:cNvPr id="7" name="矩形 6"/>
              <p:cNvSpPr>
                <a:spLocks noRot="1" noChangeAspect="1" noMove="1" noResize="1" noEditPoints="1" noAdjustHandles="1" noChangeArrowheads="1" noChangeShapeType="1" noTextEdit="1"/>
              </p:cNvSpPr>
              <p:nvPr/>
            </p:nvSpPr>
            <p:spPr>
              <a:xfrm>
                <a:off x="0" y="1268760"/>
                <a:ext cx="3995936" cy="3785652"/>
              </a:xfrm>
              <a:prstGeom prst="rect">
                <a:avLst/>
              </a:prstGeom>
              <a:blipFill rotWithShape="1">
                <a:blip r:embed="rId3"/>
                <a:stretch>
                  <a:fillRect l="-2287" t="-1288" r="-152" b="-2738"/>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51673602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GO Fuzzy c-means algorithm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10</a:t>
            </a:fld>
            <a:endParaRPr lang="zh-TW" altLang="en-US"/>
          </a:p>
        </p:txBody>
      </p:sp>
      <p:sp>
        <p:nvSpPr>
          <p:cNvPr id="5" name="內容版面配置區 4"/>
          <p:cNvSpPr>
            <a:spLocks noGrp="1"/>
          </p:cNvSpPr>
          <p:nvPr>
            <p:ph sz="quarter" idx="1"/>
          </p:nvPr>
        </p:nvSpPr>
        <p:spPr>
          <a:xfrm>
            <a:off x="0" y="1195965"/>
            <a:ext cx="9144000" cy="4960995"/>
          </a:xfrm>
        </p:spPr>
        <p:txBody>
          <a:bodyPr/>
          <a:lstStyle/>
          <a:p>
            <a:pPr marL="514350" indent="-514350">
              <a:buFont typeface="+mj-lt"/>
              <a:buAutoNum type="arabicPeriod"/>
            </a:pPr>
            <a:r>
              <a:rPr lang="en-US" altLang="zh-TW" dirty="0">
                <a:latin typeface="+mj-lt"/>
              </a:rPr>
              <a:t>At the k-</a:t>
            </a:r>
            <a:r>
              <a:rPr lang="en-US" altLang="zh-TW" dirty="0" err="1">
                <a:latin typeface="+mj-lt"/>
              </a:rPr>
              <a:t>th</a:t>
            </a:r>
            <a:r>
              <a:rPr lang="en-US" altLang="zh-TW" dirty="0">
                <a:latin typeface="+mj-lt"/>
              </a:rPr>
              <a:t> step, compute the fuzzy centroid C(k) = [</a:t>
            </a:r>
            <a:r>
              <a:rPr lang="en-US" altLang="zh-TW" dirty="0" err="1">
                <a:latin typeface="+mj-lt"/>
              </a:rPr>
              <a:t>c</a:t>
            </a:r>
            <a:r>
              <a:rPr lang="en-US" altLang="zh-TW" baseline="-25000" dirty="0" err="1">
                <a:latin typeface="+mj-lt"/>
              </a:rPr>
              <a:t>j</a:t>
            </a:r>
            <a:r>
              <a:rPr lang="en-US" altLang="zh-TW" dirty="0">
                <a:latin typeface="+mj-lt"/>
              </a:rPr>
              <a:t>] </a:t>
            </a:r>
            <a:r>
              <a:rPr lang="en-US" altLang="zh-TW" dirty="0" smtClean="0">
                <a:latin typeface="+mj-lt"/>
              </a:rPr>
              <a:t>for j </a:t>
            </a:r>
            <a:r>
              <a:rPr lang="en-US" altLang="zh-TW" dirty="0">
                <a:latin typeface="+mj-lt"/>
              </a:rPr>
              <a:t>= 1,..,nc, where </a:t>
            </a:r>
            <a:r>
              <a:rPr lang="en-US" altLang="zh-TW" dirty="0" err="1">
                <a:latin typeface="+mj-lt"/>
              </a:rPr>
              <a:t>n</a:t>
            </a:r>
            <a:r>
              <a:rPr lang="en-US" altLang="zh-TW" baseline="-25000" dirty="0" err="1">
                <a:latin typeface="+mj-lt"/>
              </a:rPr>
              <a:t>c</a:t>
            </a:r>
            <a:r>
              <a:rPr lang="en-US" altLang="zh-TW" dirty="0">
                <a:latin typeface="+mj-lt"/>
              </a:rPr>
              <a:t> is the number of clusters, </a:t>
            </a:r>
            <a:r>
              <a:rPr lang="en-US" altLang="zh-TW" dirty="0" smtClean="0">
                <a:latin typeface="+mj-lt"/>
              </a:rPr>
              <a:t>using</a:t>
            </a:r>
            <a:br>
              <a:rPr lang="en-US" altLang="zh-TW" dirty="0" smtClean="0">
                <a:latin typeface="+mj-lt"/>
              </a:rPr>
            </a:br>
            <a:r>
              <a:rPr lang="en-US" altLang="zh-TW" dirty="0" smtClean="0">
                <a:latin typeface="+mj-lt"/>
              </a:rPr>
              <a:t/>
            </a:r>
            <a:br>
              <a:rPr lang="en-US" altLang="zh-TW" dirty="0" smtClean="0">
                <a:latin typeface="+mj-lt"/>
              </a:rPr>
            </a:br>
            <a:r>
              <a:rPr lang="en-US" altLang="zh-TW" dirty="0" smtClean="0">
                <a:latin typeface="+mj-lt"/>
              </a:rPr>
              <a:t/>
            </a:r>
            <a:br>
              <a:rPr lang="en-US" altLang="zh-TW" dirty="0" smtClean="0">
                <a:latin typeface="+mj-lt"/>
              </a:rPr>
            </a:br>
            <a:r>
              <a:rPr lang="en-US" altLang="zh-TW" dirty="0" smtClean="0">
                <a:latin typeface="+mj-lt"/>
              </a:rPr>
              <a:t>where </a:t>
            </a:r>
            <a:r>
              <a:rPr lang="en-US" altLang="zh-TW" dirty="0">
                <a:latin typeface="+mj-lt"/>
              </a:rPr>
              <a:t>m is the fuzzy parameter, x</a:t>
            </a:r>
            <a:r>
              <a:rPr lang="en-US" altLang="zh-TW" baseline="-25000" dirty="0">
                <a:latin typeface="+mj-lt"/>
              </a:rPr>
              <a:t>i</a:t>
            </a:r>
            <a:r>
              <a:rPr lang="en-US" altLang="zh-TW" dirty="0">
                <a:latin typeface="+mj-lt"/>
              </a:rPr>
              <a:t> is the expression vector for </a:t>
            </a:r>
            <a:r>
              <a:rPr lang="en-US" altLang="zh-TW" dirty="0" smtClean="0">
                <a:latin typeface="+mj-lt"/>
              </a:rPr>
              <a:t>gene </a:t>
            </a:r>
            <a:r>
              <a:rPr lang="en-US" altLang="zh-TW" dirty="0" err="1" smtClean="0">
                <a:latin typeface="+mj-lt"/>
              </a:rPr>
              <a:t>g</a:t>
            </a:r>
            <a:r>
              <a:rPr lang="en-US" altLang="zh-TW" baseline="-25000" dirty="0" err="1" smtClean="0">
                <a:latin typeface="+mj-lt"/>
              </a:rPr>
              <a:t>i</a:t>
            </a:r>
            <a:r>
              <a:rPr lang="en-US" altLang="zh-TW" dirty="0">
                <a:latin typeface="+mj-lt"/>
              </a:rPr>
              <a:t>, and n is the number of genes</a:t>
            </a:r>
            <a:r>
              <a:rPr lang="en-US" altLang="zh-TW" dirty="0" smtClean="0">
                <a:latin typeface="+mj-lt"/>
              </a:rPr>
              <a:t>.</a:t>
            </a:r>
          </a:p>
          <a:p>
            <a:pPr marL="514350" indent="-514350">
              <a:buFont typeface="+mj-lt"/>
              <a:buAutoNum type="arabicPeriod"/>
            </a:pPr>
            <a:r>
              <a:rPr lang="en-US" altLang="zh-TW" dirty="0">
                <a:latin typeface="+mj-lt"/>
              </a:rPr>
              <a:t>Update the fuzzy membership U(k) = </a:t>
            </a:r>
            <a:r>
              <a:rPr lang="en-US" altLang="zh-TW" dirty="0" smtClean="0">
                <a:latin typeface="+mj-lt"/>
              </a:rPr>
              <a:t>[</a:t>
            </a:r>
            <a:r>
              <a:rPr lang="en-US" altLang="zh-TW" dirty="0" err="1" smtClean="0">
                <a:latin typeface="+mj-lt"/>
              </a:rPr>
              <a:t>u</a:t>
            </a:r>
            <a:r>
              <a:rPr lang="en-US" altLang="zh-TW" baseline="-25000" dirty="0" err="1" smtClean="0">
                <a:latin typeface="+mj-lt"/>
              </a:rPr>
              <a:t>ij</a:t>
            </a:r>
            <a:r>
              <a:rPr lang="en-US" altLang="zh-TW" dirty="0" smtClean="0">
                <a:latin typeface="+mj-lt"/>
              </a:rPr>
              <a:t>], using</a:t>
            </a:r>
          </a:p>
          <a:p>
            <a:pPr marL="514350" indent="-514350">
              <a:buFont typeface="+mj-lt"/>
              <a:buAutoNum type="arabicPeriod"/>
            </a:pPr>
            <a:endParaRPr lang="en-US" altLang="zh-TW" dirty="0">
              <a:latin typeface="+mj-lt"/>
            </a:endParaRPr>
          </a:p>
          <a:p>
            <a:pPr marL="514350" indent="-514350">
              <a:buFont typeface="+mj-lt"/>
              <a:buAutoNum type="arabicPeriod"/>
            </a:pPr>
            <a:endParaRPr lang="zh-TW" altLang="en-US" dirty="0">
              <a:latin typeface="+mj-lt"/>
            </a:endParaRPr>
          </a:p>
        </p:txBody>
      </p:sp>
      <p:pic>
        <p:nvPicPr>
          <p:cNvPr id="10245" name="Picture 5"/>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46389" y="2013555"/>
            <a:ext cx="3600400" cy="8986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46" name="Picture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23728" y="4169687"/>
            <a:ext cx="5688632" cy="16643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32847278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GO Fuzzy c-means algorithm</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11</a:t>
            </a:fld>
            <a:endParaRPr lang="zh-TW" altLang="en-US"/>
          </a:p>
        </p:txBody>
      </p:sp>
      <p:sp>
        <p:nvSpPr>
          <p:cNvPr id="5" name="內容版面配置區 4"/>
          <p:cNvSpPr>
            <a:spLocks noGrp="1"/>
          </p:cNvSpPr>
          <p:nvPr>
            <p:ph sz="quarter" idx="1"/>
          </p:nvPr>
        </p:nvSpPr>
        <p:spPr>
          <a:xfrm>
            <a:off x="0" y="1195965"/>
            <a:ext cx="9144000" cy="4960995"/>
          </a:xfrm>
        </p:spPr>
        <p:txBody>
          <a:bodyPr/>
          <a:lstStyle/>
          <a:p>
            <a:pPr marL="514350" indent="-514350">
              <a:buFont typeface="+mj-lt"/>
              <a:buAutoNum type="arabicPeriod"/>
            </a:pPr>
            <a:r>
              <a:rPr lang="en-US" altLang="zh-TW" dirty="0">
                <a:latin typeface="+mj-lt"/>
              </a:rPr>
              <a:t>Compute validity of cluster measure S </a:t>
            </a:r>
            <a:r>
              <a:rPr lang="en-US" altLang="zh-TW" dirty="0" smtClean="0">
                <a:latin typeface="+mj-lt"/>
              </a:rPr>
              <a:t>using</a:t>
            </a:r>
          </a:p>
          <a:p>
            <a:pPr marL="514350" indent="-514350">
              <a:buFont typeface="+mj-lt"/>
              <a:buAutoNum type="arabicPeriod"/>
            </a:pPr>
            <a:endParaRPr lang="en-US" altLang="zh-TW" dirty="0">
              <a:latin typeface="+mj-lt"/>
            </a:endParaRPr>
          </a:p>
          <a:p>
            <a:pPr marL="514350" indent="-514350">
              <a:buFont typeface="+mj-lt"/>
              <a:buAutoNum type="arabicPeriod"/>
            </a:pPr>
            <a:endParaRPr lang="en-US" altLang="zh-TW" dirty="0" smtClean="0">
              <a:latin typeface="+mj-lt"/>
            </a:endParaRPr>
          </a:p>
          <a:p>
            <a:pPr marL="514350" indent="-514350">
              <a:buFont typeface="+mj-lt"/>
              <a:buAutoNum type="arabicPeriod"/>
            </a:pPr>
            <a:endParaRPr lang="en-US" altLang="zh-TW" dirty="0">
              <a:latin typeface="+mj-lt"/>
            </a:endParaRPr>
          </a:p>
          <a:p>
            <a:pPr marL="514350" indent="-514350">
              <a:buFont typeface="+mj-lt"/>
              <a:buAutoNum type="arabicPeriod"/>
            </a:pPr>
            <a:endParaRPr lang="en-US" altLang="zh-TW" dirty="0" smtClean="0">
              <a:latin typeface="+mj-lt"/>
            </a:endParaRPr>
          </a:p>
          <a:p>
            <a:pPr marL="514350" indent="-514350">
              <a:buFont typeface="+mj-lt"/>
              <a:buAutoNum type="arabicPeriod"/>
            </a:pPr>
            <a:r>
              <a:rPr lang="en-US" altLang="zh-TW" dirty="0" smtClean="0">
                <a:latin typeface="+mj-lt"/>
              </a:rPr>
              <a:t>If </a:t>
            </a:r>
            <a:r>
              <a:rPr lang="en-US" altLang="zh-TW" dirty="0">
                <a:latin typeface="+mj-lt"/>
              </a:rPr>
              <a:t>S &lt; S*, then S* = S, C* = C(k) and U* = U(k).</a:t>
            </a:r>
          </a:p>
          <a:p>
            <a:pPr marL="514350" indent="-514350">
              <a:buFont typeface="+mj-lt"/>
              <a:buAutoNum type="arabicPeriod"/>
            </a:pPr>
            <a:r>
              <a:rPr lang="en-US" altLang="zh-TW" dirty="0" smtClean="0">
                <a:latin typeface="+mj-lt"/>
              </a:rPr>
              <a:t>Repeat </a:t>
            </a:r>
            <a:r>
              <a:rPr lang="en-US" altLang="zh-TW" dirty="0">
                <a:latin typeface="+mj-lt"/>
              </a:rPr>
              <a:t>steps 2 to 6 until stopping </a:t>
            </a:r>
            <a:r>
              <a:rPr lang="en-US" altLang="zh-TW" dirty="0" smtClean="0">
                <a:latin typeface="+mj-lt"/>
              </a:rPr>
              <a:t>criteria(number </a:t>
            </a:r>
            <a:r>
              <a:rPr lang="en-US" altLang="zh-TW" dirty="0">
                <a:latin typeface="+mj-lt"/>
              </a:rPr>
              <a:t>of </a:t>
            </a:r>
            <a:r>
              <a:rPr lang="en-US" altLang="zh-TW" dirty="0" smtClean="0">
                <a:latin typeface="+mj-lt"/>
              </a:rPr>
              <a:t>iterations are </a:t>
            </a:r>
            <a:r>
              <a:rPr lang="en-US" altLang="zh-TW" dirty="0">
                <a:latin typeface="+mj-lt"/>
              </a:rPr>
              <a:t>reached</a:t>
            </a:r>
            <a:r>
              <a:rPr lang="en-US" altLang="zh-TW" dirty="0" smtClean="0">
                <a:latin typeface="+mj-lt"/>
              </a:rPr>
              <a:t>).</a:t>
            </a:r>
            <a:endParaRPr lang="en-US" altLang="zh-TW" dirty="0">
              <a:latin typeface="+mj-lt"/>
            </a:endParaRPr>
          </a:p>
          <a:p>
            <a:pPr marL="514350" indent="-514350">
              <a:buFont typeface="+mj-lt"/>
              <a:buAutoNum type="arabicPeriod"/>
            </a:pPr>
            <a:endParaRPr lang="zh-TW" altLang="en-US" dirty="0">
              <a:latin typeface="+mj-lt"/>
            </a:endParaRPr>
          </a:p>
        </p:txBody>
      </p:sp>
      <p:pic>
        <p:nvPicPr>
          <p:cNvPr id="112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736" y="1617246"/>
            <a:ext cx="3816424" cy="1751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33848231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Datasets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12</a:t>
            </a:fld>
            <a:endParaRPr lang="zh-TW" altLang="en-US"/>
          </a:p>
        </p:txBody>
      </p:sp>
      <p:sp>
        <p:nvSpPr>
          <p:cNvPr id="5" name="內容版面配置區 4"/>
          <p:cNvSpPr>
            <a:spLocks noGrp="1"/>
          </p:cNvSpPr>
          <p:nvPr>
            <p:ph sz="quarter" idx="1"/>
          </p:nvPr>
        </p:nvSpPr>
        <p:spPr/>
        <p:txBody>
          <a:bodyPr/>
          <a:lstStyle/>
          <a:p>
            <a:r>
              <a:rPr lang="en-US" altLang="zh-TW" dirty="0"/>
              <a:t>We </a:t>
            </a:r>
            <a:r>
              <a:rPr lang="en-US" altLang="zh-TW" dirty="0" smtClean="0"/>
              <a:t>analyze two well-known </a:t>
            </a:r>
            <a:r>
              <a:rPr lang="en-US" altLang="zh-TW" dirty="0"/>
              <a:t>yeast microarray </a:t>
            </a:r>
            <a:r>
              <a:rPr lang="en-US" altLang="zh-TW" dirty="0" smtClean="0"/>
              <a:t>datasets.</a:t>
            </a:r>
          </a:p>
          <a:p>
            <a:pPr lvl="1"/>
            <a:r>
              <a:rPr lang="en-US" altLang="zh-TW" dirty="0"/>
              <a:t>dataset </a:t>
            </a:r>
            <a:r>
              <a:rPr lang="en-US" altLang="zh-TW" dirty="0" smtClean="0"/>
              <a:t>A contains about 6200 </a:t>
            </a:r>
            <a:r>
              <a:rPr lang="en-US" altLang="zh-TW" dirty="0"/>
              <a:t>genes with 80 </a:t>
            </a:r>
            <a:r>
              <a:rPr lang="en-US" altLang="zh-TW" dirty="0" smtClean="0"/>
              <a:t>samples.</a:t>
            </a:r>
          </a:p>
          <a:p>
            <a:pPr lvl="1"/>
            <a:r>
              <a:rPr lang="en-US" altLang="zh-TW" dirty="0"/>
              <a:t>dataset </a:t>
            </a:r>
            <a:r>
              <a:rPr lang="en-US" altLang="zh-TW" dirty="0" smtClean="0"/>
              <a:t>B contains </a:t>
            </a:r>
            <a:r>
              <a:rPr lang="en-US" altLang="zh-TW" dirty="0"/>
              <a:t>about 6100 genes with 93 </a:t>
            </a:r>
            <a:r>
              <a:rPr lang="en-US" altLang="zh-TW" dirty="0" smtClean="0"/>
              <a:t>samples.</a:t>
            </a:r>
            <a:endParaRPr lang="zh-TW" altLang="en-US" dirty="0"/>
          </a:p>
        </p:txBody>
      </p:sp>
      <p:pic>
        <p:nvPicPr>
          <p:cNvPr id="21506" name="Picture 2" descr="Figure 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91922" y="3284984"/>
            <a:ext cx="3085466" cy="30714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30416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a:t>
            </a:r>
            <a:r>
              <a:rPr lang="en-US" altLang="zh-TW" dirty="0"/>
              <a:t>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13</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52" y="1772815"/>
            <a:ext cx="9135848" cy="310823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05986881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14</a:t>
            </a:fld>
            <a:endParaRPr lang="zh-TW" altLang="en-US"/>
          </a:p>
        </p:txBody>
      </p:sp>
      <p:sp>
        <p:nvSpPr>
          <p:cNvPr id="5" name="內容版面配置區 4"/>
          <p:cNvSpPr>
            <a:spLocks noGrp="1"/>
          </p:cNvSpPr>
          <p:nvPr>
            <p:ph sz="quarter" idx="1"/>
          </p:nvPr>
        </p:nvSpPr>
        <p:spPr/>
        <p:txBody>
          <a:bodyPr/>
          <a:lstStyle/>
          <a:p>
            <a:r>
              <a:rPr lang="en-US" altLang="zh-TW" dirty="0"/>
              <a:t>Two measures were used: </a:t>
            </a:r>
            <a:endParaRPr lang="en-US" altLang="zh-TW" dirty="0" smtClean="0"/>
          </a:p>
          <a:p>
            <a:pPr lvl="1"/>
            <a:r>
              <a:rPr lang="en-US" altLang="zh-TW" dirty="0" smtClean="0"/>
              <a:t>compactness </a:t>
            </a:r>
            <a:r>
              <a:rPr lang="en-US" altLang="zh-TW" dirty="0"/>
              <a:t>and </a:t>
            </a:r>
            <a:r>
              <a:rPr lang="en-US" altLang="zh-TW" dirty="0" smtClean="0"/>
              <a:t>separation </a:t>
            </a:r>
            <a:r>
              <a:rPr lang="en-US" altLang="zh-TW" b="1" dirty="0" smtClean="0"/>
              <a:t>S</a:t>
            </a:r>
          </a:p>
          <a:p>
            <a:pPr lvl="1"/>
            <a:r>
              <a:rPr lang="en-US" altLang="zh-TW" dirty="0"/>
              <a:t>z-scores (</a:t>
            </a:r>
            <a:r>
              <a:rPr lang="en-US" altLang="zh-TW" dirty="0"/>
              <a:t>The biological significance of </a:t>
            </a:r>
            <a:r>
              <a:rPr lang="en-US" altLang="zh-TW" dirty="0"/>
              <a:t>the clusters)</a:t>
            </a:r>
            <a:endParaRPr lang="zh-TW" altLang="en-US" dirty="0"/>
          </a:p>
        </p:txBody>
      </p:sp>
      <p:pic>
        <p:nvPicPr>
          <p:cNvPr id="133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12" y="2725524"/>
            <a:ext cx="9144000" cy="159852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331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 y="4497093"/>
            <a:ext cx="9080501" cy="15962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48703845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15</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7584" y="1196752"/>
            <a:ext cx="7553325" cy="13811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433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600" y="2577877"/>
            <a:ext cx="7258050" cy="37719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文字方塊 5"/>
          <p:cNvSpPr txBox="1"/>
          <p:nvPr/>
        </p:nvSpPr>
        <p:spPr>
          <a:xfrm>
            <a:off x="17385" y="4005064"/>
            <a:ext cx="1035605" cy="369332"/>
          </a:xfrm>
          <a:prstGeom prst="rect">
            <a:avLst/>
          </a:prstGeom>
          <a:noFill/>
        </p:spPr>
        <p:txBody>
          <a:bodyPr wrap="none" rtlCol="0">
            <a:spAutoFit/>
          </a:bodyPr>
          <a:lstStyle/>
          <a:p>
            <a:r>
              <a:rPr lang="en-US" altLang="zh-TW" b="1" dirty="0" smtClean="0"/>
              <a:t>Accuracy</a:t>
            </a:r>
          </a:p>
        </p:txBody>
      </p:sp>
    </p:spTree>
    <p:extLst>
      <p:ext uri="{BB962C8B-B14F-4D97-AF65-F5344CB8AC3E}">
        <p14:creationId xmlns:p14="http://schemas.microsoft.com/office/powerpoint/2010/main" val="204117597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16</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53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5574" y="1236737"/>
            <a:ext cx="7562850" cy="14001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536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318" y="2636912"/>
            <a:ext cx="7562852" cy="37565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 name="文字方塊 9"/>
          <p:cNvSpPr txBox="1"/>
          <p:nvPr/>
        </p:nvSpPr>
        <p:spPr>
          <a:xfrm>
            <a:off x="17385" y="4005064"/>
            <a:ext cx="1035605" cy="369332"/>
          </a:xfrm>
          <a:prstGeom prst="rect">
            <a:avLst/>
          </a:prstGeom>
          <a:noFill/>
        </p:spPr>
        <p:txBody>
          <a:bodyPr wrap="none" rtlCol="0">
            <a:spAutoFit/>
          </a:bodyPr>
          <a:lstStyle/>
          <a:p>
            <a:r>
              <a:rPr lang="en-US" altLang="zh-TW" b="1" dirty="0" smtClean="0"/>
              <a:t>Accuracy</a:t>
            </a:r>
          </a:p>
        </p:txBody>
      </p:sp>
    </p:spTree>
    <p:extLst>
      <p:ext uri="{BB962C8B-B14F-4D97-AF65-F5344CB8AC3E}">
        <p14:creationId xmlns:p14="http://schemas.microsoft.com/office/powerpoint/2010/main" val="305573998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17</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63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1412776"/>
            <a:ext cx="8440576" cy="475252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75647956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18</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74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413" y="1180647"/>
            <a:ext cx="7200987" cy="234893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4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89552" y="3529584"/>
            <a:ext cx="7164710" cy="33284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4265016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a:t>Experimental Results</a:t>
            </a:r>
            <a:endParaRPr lang="zh-TW" altLang="en-US" dirty="0"/>
          </a:p>
        </p:txBody>
      </p:sp>
      <p:sp>
        <p:nvSpPr>
          <p:cNvPr id="3" name="日期版面配置區 2"/>
          <p:cNvSpPr>
            <a:spLocks noGrp="1"/>
          </p:cNvSpPr>
          <p:nvPr>
            <p:ph type="dt" sz="half" idx="10"/>
          </p:nvPr>
        </p:nvSpPr>
        <p:spPr/>
        <p:txBody>
          <a:bodyPr/>
          <a:lstStyle/>
          <a:p>
            <a:r>
              <a:rPr lang="en-US" altLang="zh-TW" smtClean="0"/>
              <a:t>2013/3/12</a:t>
            </a:r>
            <a:endParaRPr lang="zh-TW" altLang="en-US"/>
          </a:p>
        </p:txBody>
      </p:sp>
      <p:sp>
        <p:nvSpPr>
          <p:cNvPr id="4" name="投影片編號版面配置區 3"/>
          <p:cNvSpPr>
            <a:spLocks noGrp="1"/>
          </p:cNvSpPr>
          <p:nvPr>
            <p:ph type="sldNum" sz="quarter" idx="12"/>
          </p:nvPr>
        </p:nvSpPr>
        <p:spPr/>
        <p:txBody>
          <a:bodyPr/>
          <a:lstStyle/>
          <a:p>
            <a:fld id="{61A04B93-F247-42E5-95CE-B8478AD23DB7}" type="slidenum">
              <a:rPr lang="zh-TW" altLang="en-US" smtClean="0"/>
              <a:t>19</a:t>
            </a:fld>
            <a:endParaRPr lang="zh-TW" altLang="en-US"/>
          </a:p>
        </p:txBody>
      </p:sp>
      <p:sp>
        <p:nvSpPr>
          <p:cNvPr id="5" name="內容版面配置區 4"/>
          <p:cNvSpPr>
            <a:spLocks noGrp="1"/>
          </p:cNvSpPr>
          <p:nvPr>
            <p:ph sz="quarter" idx="1"/>
          </p:nvPr>
        </p:nvSpPr>
        <p:spPr/>
        <p:txBody>
          <a:bodyPr/>
          <a:lstStyle/>
          <a:p>
            <a:endParaRPr lang="zh-TW" altLang="en-US" dirty="0"/>
          </a:p>
        </p:txBody>
      </p:sp>
      <p:pic>
        <p:nvPicPr>
          <p:cNvPr id="184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273" y="2084608"/>
            <a:ext cx="12441355" cy="343262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514895323"/>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dirty="0" smtClean="0"/>
              <a:t>Conclusions</a:t>
            </a:r>
            <a:endParaRPr lang="zh-TW" altLang="en-US" dirty="0"/>
          </a:p>
        </p:txBody>
      </p:sp>
      <p:sp>
        <p:nvSpPr>
          <p:cNvPr id="5" name="日期版面配置區 4"/>
          <p:cNvSpPr>
            <a:spLocks noGrp="1"/>
          </p:cNvSpPr>
          <p:nvPr>
            <p:ph type="dt" sz="half" idx="10"/>
          </p:nvPr>
        </p:nvSpPr>
        <p:spPr/>
        <p:txBody>
          <a:bodyPr/>
          <a:lstStyle/>
          <a:p>
            <a:r>
              <a:rPr lang="en-US" altLang="zh-TW" smtClean="0"/>
              <a:t>2013/3/12</a:t>
            </a:r>
            <a:endParaRPr lang="zh-TW" altLang="en-US"/>
          </a:p>
        </p:txBody>
      </p:sp>
      <p:sp>
        <p:nvSpPr>
          <p:cNvPr id="3" name="投影片編號版面配置區 2"/>
          <p:cNvSpPr>
            <a:spLocks noGrp="1"/>
          </p:cNvSpPr>
          <p:nvPr>
            <p:ph type="sldNum" sz="quarter" idx="12"/>
          </p:nvPr>
        </p:nvSpPr>
        <p:spPr/>
        <p:txBody>
          <a:bodyPr/>
          <a:lstStyle/>
          <a:p>
            <a:fld id="{61A04B93-F247-42E5-95CE-B8478AD23DB7}" type="slidenum">
              <a:rPr lang="zh-TW" altLang="en-US" smtClean="0"/>
              <a:t>20</a:t>
            </a:fld>
            <a:endParaRPr lang="zh-TW" altLang="en-US"/>
          </a:p>
        </p:txBody>
      </p:sp>
      <p:sp>
        <p:nvSpPr>
          <p:cNvPr id="4" name="內容版面配置區 3"/>
          <p:cNvSpPr>
            <a:spLocks noGrp="1"/>
          </p:cNvSpPr>
          <p:nvPr>
            <p:ph sz="quarter" idx="1"/>
          </p:nvPr>
        </p:nvSpPr>
        <p:spPr/>
        <p:txBody>
          <a:bodyPr>
            <a:normAutofit/>
          </a:bodyPr>
          <a:lstStyle/>
          <a:p>
            <a:r>
              <a:rPr lang="en-US" altLang="zh-TW" dirty="0">
                <a:latin typeface="+mj-lt"/>
              </a:rPr>
              <a:t>GO Fuzzy c-means is quite efficient in </a:t>
            </a:r>
            <a:r>
              <a:rPr lang="en-US" altLang="zh-TW" dirty="0" smtClean="0">
                <a:latin typeface="+mj-lt"/>
              </a:rPr>
              <a:t>exploiting</a:t>
            </a:r>
            <a:r>
              <a:rPr lang="zh-TW" altLang="en-US" dirty="0" smtClean="0">
                <a:latin typeface="+mj-lt"/>
              </a:rPr>
              <a:t> </a:t>
            </a:r>
            <a:r>
              <a:rPr lang="en-US" altLang="zh-TW" dirty="0" smtClean="0">
                <a:latin typeface="+mj-lt"/>
              </a:rPr>
              <a:t>even </a:t>
            </a:r>
            <a:r>
              <a:rPr lang="en-US" altLang="zh-TW" dirty="0">
                <a:latin typeface="+mj-lt"/>
              </a:rPr>
              <a:t>a small percentage of GO annotations in order to assign </a:t>
            </a:r>
            <a:r>
              <a:rPr lang="en-US" altLang="zh-TW" dirty="0" smtClean="0">
                <a:latin typeface="+mj-lt"/>
              </a:rPr>
              <a:t>gene</a:t>
            </a:r>
            <a:r>
              <a:rPr lang="zh-TW" altLang="en-US" dirty="0" smtClean="0">
                <a:latin typeface="+mj-lt"/>
              </a:rPr>
              <a:t> </a:t>
            </a:r>
            <a:r>
              <a:rPr lang="en-US" altLang="zh-TW" dirty="0" smtClean="0">
                <a:latin typeface="+mj-lt"/>
              </a:rPr>
              <a:t>functions</a:t>
            </a:r>
            <a:r>
              <a:rPr lang="en-US" altLang="zh-TW" dirty="0">
                <a:latin typeface="+mj-lt"/>
              </a:rPr>
              <a:t>. This implies that our GO Fuzzy c-means algorithm </a:t>
            </a:r>
            <a:r>
              <a:rPr lang="en-US" altLang="zh-TW" dirty="0" smtClean="0">
                <a:latin typeface="+mj-lt"/>
              </a:rPr>
              <a:t>will</a:t>
            </a:r>
            <a:r>
              <a:rPr lang="zh-TW" altLang="en-US" dirty="0" smtClean="0">
                <a:latin typeface="+mj-lt"/>
              </a:rPr>
              <a:t> </a:t>
            </a:r>
            <a:r>
              <a:rPr lang="en-US" altLang="zh-TW" dirty="0" smtClean="0">
                <a:latin typeface="+mj-lt"/>
              </a:rPr>
              <a:t>be </a:t>
            </a:r>
            <a:r>
              <a:rPr lang="en-US" altLang="zh-TW" dirty="0">
                <a:latin typeface="+mj-lt"/>
              </a:rPr>
              <a:t>very useful when applied to gene expression data for </a:t>
            </a:r>
            <a:r>
              <a:rPr lang="en-US" altLang="zh-TW" dirty="0" smtClean="0">
                <a:latin typeface="+mj-lt"/>
              </a:rPr>
              <a:t>organisms</a:t>
            </a:r>
            <a:r>
              <a:rPr lang="zh-TW" altLang="en-US" dirty="0" smtClean="0">
                <a:latin typeface="+mj-lt"/>
              </a:rPr>
              <a:t> </a:t>
            </a:r>
            <a:r>
              <a:rPr lang="en-US" altLang="zh-TW" dirty="0" smtClean="0">
                <a:latin typeface="+mj-lt"/>
              </a:rPr>
              <a:t>in </a:t>
            </a:r>
            <a:r>
              <a:rPr lang="en-US" altLang="zh-TW" dirty="0">
                <a:latin typeface="+mj-lt"/>
              </a:rPr>
              <a:t>which the annotations are not as rich as in yeast. </a:t>
            </a:r>
            <a:endParaRPr lang="en-US" altLang="zh-TW" dirty="0" smtClean="0">
              <a:latin typeface="+mj-lt"/>
            </a:endParaRPr>
          </a:p>
          <a:p>
            <a:r>
              <a:rPr lang="en-US" altLang="zh-TW" dirty="0" smtClean="0">
                <a:latin typeface="+mj-lt"/>
              </a:rPr>
              <a:t>Our </a:t>
            </a:r>
            <a:r>
              <a:rPr lang="en-US" altLang="zh-TW" dirty="0">
                <a:latin typeface="+mj-lt"/>
              </a:rPr>
              <a:t>results </a:t>
            </a:r>
            <a:r>
              <a:rPr lang="en-US" altLang="zh-TW" dirty="0" smtClean="0">
                <a:latin typeface="+mj-lt"/>
              </a:rPr>
              <a:t>also</a:t>
            </a:r>
            <a:r>
              <a:rPr lang="zh-TW" altLang="en-US" dirty="0" smtClean="0">
                <a:latin typeface="+mj-lt"/>
              </a:rPr>
              <a:t> </a:t>
            </a:r>
            <a:r>
              <a:rPr lang="en-US" altLang="zh-TW" dirty="0" smtClean="0">
                <a:latin typeface="+mj-lt"/>
              </a:rPr>
              <a:t>show </a:t>
            </a:r>
            <a:r>
              <a:rPr lang="en-US" altLang="zh-TW" dirty="0">
                <a:latin typeface="+mj-lt"/>
              </a:rPr>
              <a:t>that GO Fuzzy c-means outperforms the state-of-the-art </a:t>
            </a:r>
            <a:r>
              <a:rPr lang="en-US" altLang="zh-TW" dirty="0" smtClean="0">
                <a:latin typeface="+mj-lt"/>
              </a:rPr>
              <a:t>clustering</a:t>
            </a:r>
            <a:r>
              <a:rPr lang="zh-TW" altLang="en-US" dirty="0" smtClean="0">
                <a:latin typeface="+mj-lt"/>
              </a:rPr>
              <a:t> </a:t>
            </a:r>
            <a:r>
              <a:rPr lang="en-US" altLang="zh-TW" dirty="0" smtClean="0">
                <a:latin typeface="+mj-lt"/>
              </a:rPr>
              <a:t>algorithms. </a:t>
            </a:r>
            <a:r>
              <a:rPr lang="en-US" altLang="zh-TW" dirty="0">
                <a:latin typeface="+mj-lt"/>
              </a:rPr>
              <a:t>This suggests that the use </a:t>
            </a:r>
            <a:r>
              <a:rPr lang="en-US" altLang="zh-TW" dirty="0" smtClean="0">
                <a:latin typeface="+mj-lt"/>
              </a:rPr>
              <a:t>of</a:t>
            </a:r>
            <a:r>
              <a:rPr lang="zh-TW" altLang="en-US" dirty="0" smtClean="0">
                <a:latin typeface="+mj-lt"/>
              </a:rPr>
              <a:t> </a:t>
            </a:r>
            <a:r>
              <a:rPr lang="en-US" altLang="zh-TW" dirty="0" smtClean="0">
                <a:latin typeface="+mj-lt"/>
              </a:rPr>
              <a:t>GO</a:t>
            </a:r>
            <a:r>
              <a:rPr lang="zh-TW" altLang="en-US" dirty="0" smtClean="0">
                <a:latin typeface="+mj-lt"/>
              </a:rPr>
              <a:t> </a:t>
            </a:r>
            <a:r>
              <a:rPr lang="en-US" altLang="zh-TW" dirty="0" smtClean="0">
                <a:latin typeface="+mj-lt"/>
              </a:rPr>
              <a:t>annotations </a:t>
            </a:r>
            <a:r>
              <a:rPr lang="en-US" altLang="zh-TW" dirty="0">
                <a:latin typeface="+mj-lt"/>
              </a:rPr>
              <a:t>improves the prediction of correct gene functions.</a:t>
            </a:r>
            <a:endParaRPr lang="zh-TW" altLang="en-US" dirty="0">
              <a:latin typeface="+mj-lt"/>
            </a:endParaRPr>
          </a:p>
        </p:txBody>
      </p:sp>
    </p:spTree>
    <p:extLst>
      <p:ext uri="{BB962C8B-B14F-4D97-AF65-F5344CB8AC3E}">
        <p14:creationId xmlns:p14="http://schemas.microsoft.com/office/powerpoint/2010/main" val="2266314224"/>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原創">
  <a:themeElements>
    <a:clrScheme name="自訂 3">
      <a:dk1>
        <a:sysClr val="windowText" lastClr="000000"/>
      </a:dk1>
      <a:lt1>
        <a:sysClr val="window" lastClr="FFFFFF"/>
      </a:lt1>
      <a:dk2>
        <a:srgbClr val="000000"/>
      </a:dk2>
      <a:lt2>
        <a:srgbClr val="EEECE1"/>
      </a:lt2>
      <a:accent1>
        <a:srgbClr val="4F81BD"/>
      </a:accent1>
      <a:accent2>
        <a:srgbClr val="C0504D"/>
      </a:accent2>
      <a:accent3>
        <a:srgbClr val="9BBB59"/>
      </a:accent3>
      <a:accent4>
        <a:srgbClr val="8064A2"/>
      </a:accent4>
      <a:accent5>
        <a:srgbClr val="4BACC6"/>
      </a:accent5>
      <a:accent6>
        <a:srgbClr val="F79646"/>
      </a:accent6>
      <a:hlink>
        <a:srgbClr val="FF0000"/>
      </a:hlink>
      <a:folHlink>
        <a:srgbClr val="0000FF"/>
      </a:folHlink>
    </a:clrScheme>
    <a:fontScheme name="自訂 1">
      <a:majorFont>
        <a:latin typeface="Calibri"/>
        <a:ea typeface="微軟正黑體"/>
        <a:cs typeface=""/>
      </a:majorFont>
      <a:minorFont>
        <a:latin typeface="Calibri"/>
        <a:ea typeface="微軟正黑體"/>
        <a:cs typeface=""/>
      </a:minorFont>
    </a:fontScheme>
    <a:fmtScheme name="原創">
      <a:fillStyleLst>
        <a:solidFill>
          <a:schemeClr val="phClr"/>
        </a:solidFill>
        <a:gradFill rotWithShape="1">
          <a:gsLst>
            <a:gs pos="0">
              <a:schemeClr val="phClr">
                <a:tint val="45000"/>
                <a:satMod val="200000"/>
              </a:schemeClr>
            </a:gs>
            <a:gs pos="30000">
              <a:schemeClr val="phClr">
                <a:tint val="61000"/>
                <a:satMod val="200000"/>
              </a:schemeClr>
            </a:gs>
            <a:gs pos="45000">
              <a:schemeClr val="phClr">
                <a:tint val="66000"/>
                <a:satMod val="200000"/>
              </a:schemeClr>
            </a:gs>
            <a:gs pos="55000">
              <a:schemeClr val="phClr">
                <a:tint val="66000"/>
                <a:satMod val="200000"/>
              </a:schemeClr>
            </a:gs>
            <a:gs pos="73000">
              <a:schemeClr val="phClr">
                <a:tint val="61000"/>
                <a:satMod val="200000"/>
              </a:schemeClr>
            </a:gs>
            <a:gs pos="100000">
              <a:schemeClr val="phClr">
                <a:tint val="45000"/>
                <a:satMod val="200000"/>
              </a:schemeClr>
            </a:gs>
          </a:gsLst>
          <a:lin ang="950000" scaled="1"/>
        </a:gradFill>
        <a:gradFill rotWithShape="1">
          <a:gsLst>
            <a:gs pos="0">
              <a:schemeClr val="phClr">
                <a:shade val="63000"/>
              </a:schemeClr>
            </a:gs>
            <a:gs pos="30000">
              <a:schemeClr val="phClr">
                <a:shade val="90000"/>
                <a:satMod val="110000"/>
              </a:schemeClr>
            </a:gs>
            <a:gs pos="45000">
              <a:schemeClr val="phClr">
                <a:shade val="100000"/>
                <a:satMod val="118000"/>
              </a:schemeClr>
            </a:gs>
            <a:gs pos="55000">
              <a:schemeClr val="phClr">
                <a:shade val="100000"/>
                <a:satMod val="118000"/>
              </a:schemeClr>
            </a:gs>
            <a:gs pos="73000">
              <a:schemeClr val="phClr">
                <a:shade val="90000"/>
                <a:satMod val="110000"/>
              </a:schemeClr>
            </a:gs>
            <a:gs pos="100000">
              <a:schemeClr val="phClr">
                <a:shade val="63000"/>
              </a:schemeClr>
            </a:gs>
          </a:gsLst>
          <a:lin ang="950000" scaled="1"/>
        </a:gradFill>
      </a:fillStyleLst>
      <a:lnStyleLst>
        <a:ln w="9525"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outerShdw blurRad="38100" dist="25400" dir="5400000" rotWithShape="0">
              <a:srgbClr val="000000">
                <a:alpha val="40000"/>
              </a:srgbClr>
            </a:outerShdw>
          </a:effectLst>
        </a:effectStyle>
        <a:effectStyle>
          <a:effectLst>
            <a:outerShdw blurRad="50800" dist="43000" dir="5400000" rotWithShape="0">
              <a:srgbClr val="000000">
                <a:alpha val="40000"/>
              </a:srgbClr>
            </a:outerShdw>
          </a:effectLst>
          <a:scene3d>
            <a:camera prst="orthographicFront" fov="0">
              <a:rot lat="0" lon="0" rev="0"/>
            </a:camera>
            <a:lightRig rig="balanced" dir="t">
              <a:rot lat="0" lon="0" rev="0"/>
            </a:lightRig>
          </a:scene3d>
          <a:sp3d prstMaterial="matte">
            <a:bevelT w="0" h="0"/>
            <a:contourClr>
              <a:schemeClr val="phClr">
                <a:tint val="100000"/>
                <a:shade val="100000"/>
                <a:hueMod val="100000"/>
                <a:satMod val="100000"/>
              </a:schemeClr>
            </a:contourClr>
          </a:sp3d>
        </a:effectStyle>
        <a:effectStyle>
          <a:effectLst>
            <a:outerShdw blurRad="50800" dist="25400" dir="5400000" rotWithShape="0">
              <a:srgbClr val="000000">
                <a:alpha val="50000"/>
              </a:srgbClr>
            </a:outerShdw>
          </a:effectLst>
          <a:scene3d>
            <a:camera prst="orthographicFront" fov="0">
              <a:rot lat="0" lon="0" rev="0"/>
            </a:camera>
            <a:lightRig rig="soft" dir="t">
              <a:rot lat="0" lon="0" rev="2700000"/>
            </a:lightRig>
          </a:scene3d>
          <a:sp3d prstMaterial="matte">
            <a:bevelT w="50800" h="50800"/>
            <a:contourClr>
              <a:schemeClr val="phClr"/>
            </a:contourClr>
          </a:sp3d>
        </a:effectStyle>
      </a:effectStyleLst>
      <a:bgFillStyleLst>
        <a:solidFill>
          <a:schemeClr val="phClr"/>
        </a:solidFill>
        <a:gradFill rotWithShape="1">
          <a:gsLst>
            <a:gs pos="0">
              <a:schemeClr val="phClr">
                <a:shade val="60000"/>
                <a:satMod val="300000"/>
              </a:schemeClr>
            </a:gs>
            <a:gs pos="30000">
              <a:schemeClr val="phClr">
                <a:shade val="80000"/>
                <a:satMod val="230000"/>
              </a:schemeClr>
            </a:gs>
            <a:gs pos="100000">
              <a:schemeClr val="phClr">
                <a:tint val="97000"/>
                <a:satMod val="220000"/>
              </a:schemeClr>
            </a:gs>
          </a:gsLst>
          <a:lin ang="16200000" scaled="1"/>
        </a:gradFill>
        <a:blipFill>
          <a:blip xmlns:r="http://schemas.openxmlformats.org/officeDocument/2006/relationships" r:embed="rId1">
            <a:duotone>
              <a:schemeClr val="phClr">
                <a:shade val="6000"/>
                <a:satMod val="120000"/>
              </a:schemeClr>
              <a:schemeClr val="phClr">
                <a:tint val="90000"/>
              </a:schemeClr>
            </a:duotone>
          </a:blip>
          <a:tile tx="0" ty="0" sx="35000" sy="40000" flip="x" algn="tl"/>
        </a:blipFill>
      </a:bgFillStyleLst>
    </a:fmtScheme>
  </a:themeElements>
  <a:objectDefaults/>
  <a:extraClrScheme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Origin</Template>
  <TotalTime>3562</TotalTime>
  <Words>713</Words>
  <Application>Microsoft Office PowerPoint</Application>
  <PresentationFormat>如螢幕大小 (4:3)</PresentationFormat>
  <Paragraphs>113</Paragraphs>
  <Slides>20</Slides>
  <Notes>0</Notes>
  <HiddenSlides>0</HiddenSlides>
  <MMClips>0</MMClips>
  <ScaleCrop>false</ScaleCrop>
  <HeadingPairs>
    <vt:vector size="4" baseType="variant">
      <vt:variant>
        <vt:lpstr>佈景主題</vt:lpstr>
      </vt:variant>
      <vt:variant>
        <vt:i4>1</vt:i4>
      </vt:variant>
      <vt:variant>
        <vt:lpstr>投影片標題</vt:lpstr>
      </vt:variant>
      <vt:variant>
        <vt:i4>20</vt:i4>
      </vt:variant>
    </vt:vector>
  </HeadingPairs>
  <TitlesOfParts>
    <vt:vector size="21" baseType="lpstr">
      <vt:lpstr>原創</vt:lpstr>
      <vt:lpstr>Fuzzy c-means clustering with prior biological knowledge  Journal of Biomedical Informatics vol.42,  pp.74-81, 2009</vt:lpstr>
      <vt:lpstr>Abstract</vt:lpstr>
      <vt:lpstr>Abstract</vt:lpstr>
      <vt:lpstr>Fuzzy c-means(FCM)</vt:lpstr>
      <vt:lpstr>Fuzzy c-means(FCM)</vt:lpstr>
      <vt:lpstr>Fuzzy c-means(FCM)</vt:lpstr>
      <vt:lpstr>Gene Ontology (GO)</vt:lpstr>
      <vt:lpstr>GO Fuzzy c-means algorithm</vt:lpstr>
      <vt:lpstr>GO Fuzzy c-means algorithm</vt:lpstr>
      <vt:lpstr>GO Fuzzy c-means algorithm</vt:lpstr>
      <vt:lpstr>GO Fuzzy c-means algorithm</vt:lpstr>
      <vt:lpstr>Datasets</vt:lpstr>
      <vt:lpstr>Experimental Results</vt:lpstr>
      <vt:lpstr>Experimental Results</vt:lpstr>
      <vt:lpstr>Experimental Results</vt:lpstr>
      <vt:lpstr>Experimental Results</vt:lpstr>
      <vt:lpstr>Experimental Results</vt:lpstr>
      <vt:lpstr>Experimental Results</vt:lpstr>
      <vt:lpstr>Experimental Results</vt:lpstr>
      <vt:lpstr>Conclusions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Quadratic-time algorithm for a string constrained LCS problem</dc:title>
  <dc:creator>Robert</dc:creator>
  <cp:lastModifiedBy>Chuan</cp:lastModifiedBy>
  <cp:revision>194</cp:revision>
  <cp:lastPrinted>2012-09-10T21:31:19Z</cp:lastPrinted>
  <dcterms:created xsi:type="dcterms:W3CDTF">2012-09-10T08:29:10Z</dcterms:created>
  <dcterms:modified xsi:type="dcterms:W3CDTF">2013-03-12T10:26:32Z</dcterms:modified>
</cp:coreProperties>
</file>