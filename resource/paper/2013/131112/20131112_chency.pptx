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7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8" r:id="rId13"/>
    <p:sldId id="266" r:id="rId14"/>
    <p:sldId id="267" r:id="rId15"/>
    <p:sldId id="268" r:id="rId16"/>
    <p:sldId id="269" r:id="rId17"/>
    <p:sldId id="270" r:id="rId18"/>
    <p:sldId id="273" r:id="rId19"/>
    <p:sldId id="274" r:id="rId20"/>
    <p:sldId id="271" r:id="rId21"/>
    <p:sldId id="272" r:id="rId22"/>
    <p:sldId id="276" r:id="rId23"/>
    <p:sldId id="275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8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11/12/2013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11/12/2013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11/12/2013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11/12/2013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11/12/2013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11/12/2013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11/12/2013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11/12/2013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11/12/2013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11/12/2013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11/12/2013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11/12/2013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gif"/><Relationship Id="rId4" Type="http://schemas.openxmlformats.org/officeDocument/2006/relationships/image" Target="../media/image12.gi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sz="6600" dirty="0"/>
              <a:t>A Common Interval Guided </a:t>
            </a:r>
            <a:r>
              <a:rPr lang="en-US" altLang="zh-TW" sz="6600" dirty="0" smtClean="0"/>
              <a:t>ACO Algorithm </a:t>
            </a:r>
            <a:r>
              <a:rPr lang="en-US" altLang="zh-TW" sz="6600" dirty="0"/>
              <a:t>for</a:t>
            </a:r>
            <a:br>
              <a:rPr lang="en-US" altLang="zh-TW" sz="6600" dirty="0"/>
            </a:br>
            <a:r>
              <a:rPr lang="en-US" altLang="zh-TW" sz="6600" dirty="0"/>
              <a:t>Permutation Problems</a:t>
            </a:r>
            <a:endParaRPr lang="zh-TW" altLang="en-US" sz="6600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Martin </a:t>
            </a:r>
            <a:r>
              <a:rPr lang="en-US" altLang="zh-TW" dirty="0" err="1"/>
              <a:t>Clauß</a:t>
            </a:r>
            <a:r>
              <a:rPr lang="en-US" altLang="zh-TW" dirty="0"/>
              <a:t>, Matthias </a:t>
            </a:r>
            <a:r>
              <a:rPr lang="en-US" altLang="zh-TW" dirty="0" err="1"/>
              <a:t>Bernt</a:t>
            </a:r>
            <a:r>
              <a:rPr lang="en-US" altLang="zh-TW" dirty="0"/>
              <a:t> and Martin </a:t>
            </a:r>
            <a:r>
              <a:rPr lang="en-US" altLang="zh-TW" dirty="0" err="1" smtClean="0"/>
              <a:t>Middendorf</a:t>
            </a:r>
            <a:endParaRPr lang="en-US" altLang="zh-TW" dirty="0" smtClean="0"/>
          </a:p>
          <a:p>
            <a:r>
              <a:rPr lang="en-US" altLang="zh-TW" dirty="0"/>
              <a:t>2013 IEEE Symposium on Swarm Intelligence (</a:t>
            </a:r>
            <a:r>
              <a:rPr lang="en-US" altLang="zh-TW" dirty="0" smtClean="0"/>
              <a:t>SIS)64-71</a:t>
            </a:r>
          </a:p>
          <a:p>
            <a:r>
              <a:rPr lang="en-US" altLang="zh-TW" dirty="0" smtClean="0"/>
              <a:t>Reporter : </a:t>
            </a:r>
            <a:r>
              <a:rPr lang="en-US" altLang="zh-TW" dirty="0" err="1" smtClean="0"/>
              <a:t>Cing</a:t>
            </a:r>
            <a:r>
              <a:rPr lang="en-US" altLang="zh-TW" dirty="0" smtClean="0"/>
              <a:t>-Yao Chen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0044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Abstract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/>
              <a:t>Ant Colony Optimization (ACO) has been </a:t>
            </a:r>
            <a:r>
              <a:rPr lang="en-US" altLang="zh-TW" sz="2400" dirty="0" smtClean="0"/>
              <a:t>successfully applied </a:t>
            </a:r>
            <a:r>
              <a:rPr lang="en-US" altLang="zh-TW" sz="2400" dirty="0"/>
              <a:t>to many combinatorial optimization problems. </a:t>
            </a:r>
            <a:r>
              <a:rPr lang="en-US" altLang="zh-TW" sz="2400" dirty="0" smtClean="0"/>
              <a:t>In this </a:t>
            </a:r>
            <a:r>
              <a:rPr lang="en-US" altLang="zh-TW" sz="2400" dirty="0"/>
              <a:t>work we propose a new solution construction scheme </a:t>
            </a:r>
            <a:r>
              <a:rPr lang="en-US" altLang="zh-TW" sz="2400" dirty="0" smtClean="0"/>
              <a:t>for ACO</a:t>
            </a:r>
            <a:r>
              <a:rPr lang="en-US" altLang="zh-TW" sz="2400" dirty="0"/>
              <a:t>. This scheme uses the common intervals of the </a:t>
            </a:r>
            <a:r>
              <a:rPr lang="en-US" altLang="zh-TW" sz="2400" dirty="0" smtClean="0"/>
              <a:t>current iteration’s </a:t>
            </a:r>
            <a:r>
              <a:rPr lang="en-US" altLang="zh-TW" sz="2400" dirty="0"/>
              <a:t>best solutions to guide the ants during solution construction</a:t>
            </a:r>
            <a:r>
              <a:rPr lang="en-US" altLang="zh-TW" sz="2400" dirty="0" smtClean="0"/>
              <a:t>. Firstly</a:t>
            </a:r>
            <a:r>
              <a:rPr lang="en-US" altLang="zh-TW" sz="2400" dirty="0"/>
              <a:t>, we compared the performance of ACO and </a:t>
            </a:r>
            <a:r>
              <a:rPr lang="en-US" altLang="zh-TW" sz="2400" dirty="0" smtClean="0"/>
              <a:t>the proposed </a:t>
            </a:r>
            <a:r>
              <a:rPr lang="en-US" altLang="zh-TW" sz="2400" dirty="0"/>
              <a:t>algorithm Common Interval ACO (CIACO). Secondly</a:t>
            </a:r>
            <a:r>
              <a:rPr lang="en-US" altLang="zh-TW" sz="2400" dirty="0" smtClean="0"/>
              <a:t>, we </a:t>
            </a:r>
            <a:r>
              <a:rPr lang="en-US" altLang="zh-TW" sz="2400" dirty="0"/>
              <a:t>conducted an in-depth study for the CIACO algorithm </a:t>
            </a:r>
            <a:r>
              <a:rPr lang="en-US" altLang="zh-TW" sz="2400" dirty="0" smtClean="0"/>
              <a:t>to investigate </a:t>
            </a:r>
            <a:r>
              <a:rPr lang="en-US" altLang="zh-TW" sz="2400" dirty="0"/>
              <a:t>the influence of the common interval guidance. </a:t>
            </a:r>
            <a:r>
              <a:rPr lang="en-US" altLang="zh-TW" sz="2400" dirty="0" smtClean="0"/>
              <a:t>For both </a:t>
            </a:r>
            <a:r>
              <a:rPr lang="en-US" altLang="zh-TW" sz="2400" dirty="0"/>
              <a:t>experiments a large parameter space was used. The </a:t>
            </a:r>
            <a:r>
              <a:rPr lang="en-US" altLang="zh-TW" sz="2400" dirty="0" smtClean="0"/>
              <a:t>results show</a:t>
            </a:r>
            <a:r>
              <a:rPr lang="en-US" altLang="zh-TW" sz="2400" dirty="0"/>
              <a:t>, that common intervals can be used to improve the </a:t>
            </a:r>
            <a:r>
              <a:rPr lang="en-US" altLang="zh-TW" sz="2400" dirty="0" smtClean="0"/>
              <a:t>solution quality </a:t>
            </a:r>
            <a:r>
              <a:rPr lang="en-US" altLang="zh-TW" sz="2400" dirty="0"/>
              <a:t>in comparison to the standard ACO algorithm.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452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BACKGROUND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7764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Ant Colony Optimization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procedure </a:t>
            </a:r>
            <a:r>
              <a:rPr lang="en-US" altLang="zh-TW" dirty="0" err="1"/>
              <a:t>ACO_MetaHeuristic</a:t>
            </a:r>
            <a:endParaRPr lang="en-US" altLang="zh-TW" dirty="0"/>
          </a:p>
          <a:p>
            <a:r>
              <a:rPr lang="en-US" altLang="zh-TW" dirty="0"/>
              <a:t>    while(</a:t>
            </a:r>
            <a:r>
              <a:rPr lang="en-US" altLang="zh-TW" dirty="0" err="1"/>
              <a:t>not_termination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       </a:t>
            </a:r>
            <a:r>
              <a:rPr lang="en-US" altLang="zh-TW" dirty="0" err="1"/>
              <a:t>generateSolutions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   </a:t>
            </a:r>
            <a:r>
              <a:rPr lang="en-US" altLang="zh-TW" dirty="0" err="1"/>
              <a:t>daemonActions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   </a:t>
            </a:r>
            <a:r>
              <a:rPr lang="en-US" altLang="zh-TW" dirty="0" err="1"/>
              <a:t>pheromoneUpdate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end while</a:t>
            </a:r>
          </a:p>
          <a:p>
            <a:r>
              <a:rPr lang="en-US" altLang="zh-TW" dirty="0"/>
              <a:t>  end procedure</a:t>
            </a:r>
            <a:endParaRPr lang="zh-TW" altLang="en-US" dirty="0"/>
          </a:p>
        </p:txBody>
      </p:sp>
      <p:pic>
        <p:nvPicPr>
          <p:cNvPr id="1028" name="Picture 4" descr="http://upload.wikimedia.org/wikipedia/commons/thumb/3/34/Safari_ants.jpg/220px-Safari_ant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8733" y="2093976"/>
            <a:ext cx="4369515" cy="28997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2033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Ant Colony Optimization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procedure </a:t>
            </a:r>
            <a:r>
              <a:rPr lang="en-US" altLang="zh-TW" dirty="0" err="1"/>
              <a:t>ACO_MetaHeuristic</a:t>
            </a:r>
            <a:endParaRPr lang="en-US" altLang="zh-TW" dirty="0"/>
          </a:p>
          <a:p>
            <a:r>
              <a:rPr lang="en-US" altLang="zh-TW" dirty="0"/>
              <a:t>    while(</a:t>
            </a:r>
            <a:r>
              <a:rPr lang="en-US" altLang="zh-TW" dirty="0" err="1"/>
              <a:t>not_termination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       </a:t>
            </a:r>
            <a:r>
              <a:rPr lang="en-US" altLang="zh-TW" dirty="0" err="1"/>
              <a:t>generateSolutions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   </a:t>
            </a:r>
            <a:r>
              <a:rPr lang="en-US" altLang="zh-TW" dirty="0" err="1"/>
              <a:t>daemonActions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   </a:t>
            </a:r>
            <a:r>
              <a:rPr lang="en-US" altLang="zh-TW" dirty="0" err="1"/>
              <a:t>pheromoneUpdate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end while</a:t>
            </a:r>
          </a:p>
          <a:p>
            <a:r>
              <a:rPr lang="en-US" altLang="zh-TW" dirty="0"/>
              <a:t>  end procedure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98724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Ant Colony Optimization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procedure </a:t>
            </a:r>
            <a:r>
              <a:rPr lang="en-US" altLang="zh-TW" dirty="0" err="1"/>
              <a:t>ACO_MetaHeuristic</a:t>
            </a:r>
            <a:endParaRPr lang="en-US" altLang="zh-TW" dirty="0"/>
          </a:p>
          <a:p>
            <a:r>
              <a:rPr lang="en-US" altLang="zh-TW" dirty="0"/>
              <a:t>    while(</a:t>
            </a:r>
            <a:r>
              <a:rPr lang="en-US" altLang="zh-TW" dirty="0" err="1"/>
              <a:t>not_termination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       </a:t>
            </a:r>
            <a:r>
              <a:rPr lang="en-US" altLang="zh-TW" dirty="0" err="1"/>
              <a:t>generateSolutions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   </a:t>
            </a:r>
            <a:r>
              <a:rPr lang="en-US" altLang="zh-TW" dirty="0" err="1"/>
              <a:t>daemonActions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   </a:t>
            </a:r>
            <a:r>
              <a:rPr lang="en-US" altLang="zh-TW" dirty="0" err="1"/>
              <a:t>pheromoneUpdate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end while</a:t>
            </a:r>
          </a:p>
          <a:p>
            <a:r>
              <a:rPr lang="en-US" altLang="zh-TW" dirty="0"/>
              <a:t>  end procedure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78" y="2121408"/>
            <a:ext cx="5855370" cy="2360422"/>
          </a:xfrm>
          <a:prstGeom prst="rect">
            <a:avLst/>
          </a:prstGeom>
        </p:spPr>
      </p:pic>
      <p:cxnSp>
        <p:nvCxnSpPr>
          <p:cNvPr id="6" name="直線單箭頭接點 5"/>
          <p:cNvCxnSpPr>
            <a:endCxn id="4" idx="1"/>
          </p:cNvCxnSpPr>
          <p:nvPr/>
        </p:nvCxnSpPr>
        <p:spPr>
          <a:xfrm>
            <a:off x="4090737" y="3200400"/>
            <a:ext cx="1182141" cy="101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97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2878" y="2121408"/>
            <a:ext cx="5855370" cy="236042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Ant Colony Optimization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l-GR" altLang="zh-TW" dirty="0"/>
              <a:t>τ</a:t>
            </a:r>
            <a:r>
              <a:rPr lang="en-US" altLang="zh-TW" dirty="0"/>
              <a:t> : </a:t>
            </a:r>
            <a:r>
              <a:rPr lang="en-US" altLang="zh-TW" dirty="0" smtClean="0"/>
              <a:t>Pheromone</a:t>
            </a:r>
            <a:endParaRPr lang="en-US" altLang="zh-TW" dirty="0"/>
          </a:p>
          <a:p>
            <a:r>
              <a:rPr lang="el-GR" altLang="zh-TW" dirty="0"/>
              <a:t>η</a:t>
            </a:r>
            <a:r>
              <a:rPr lang="en-US" altLang="zh-TW" dirty="0"/>
              <a:t> : H</a:t>
            </a:r>
            <a:r>
              <a:rPr lang="en-US" altLang="zh-TW" dirty="0" smtClean="0"/>
              <a:t>euristic values</a:t>
            </a:r>
          </a:p>
          <a:p>
            <a:r>
              <a:rPr lang="en-US" altLang="zh-TW" dirty="0" smtClean="0"/>
              <a:t>S : </a:t>
            </a:r>
            <a:r>
              <a:rPr lang="en-US" altLang="zh-TW" dirty="0"/>
              <a:t>T</a:t>
            </a:r>
            <a:r>
              <a:rPr lang="en-US" altLang="zh-TW" dirty="0" smtClean="0"/>
              <a:t>he nodes that </a:t>
            </a:r>
            <a:r>
              <a:rPr lang="en-US" altLang="zh-TW" dirty="0"/>
              <a:t>have not been </a:t>
            </a:r>
            <a:r>
              <a:rPr lang="en-US" altLang="zh-TW" dirty="0" smtClean="0"/>
              <a:t>visited</a:t>
            </a:r>
          </a:p>
          <a:p>
            <a:endParaRPr lang="en-US" altLang="zh-TW" dirty="0"/>
          </a:p>
          <a:p>
            <a:r>
              <a:rPr lang="en-US" altLang="zh-TW" dirty="0"/>
              <a:t>p</a:t>
            </a:r>
            <a:r>
              <a:rPr lang="en-US" altLang="zh-TW" dirty="0" smtClean="0"/>
              <a:t> : The probability from node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 to j.</a:t>
            </a:r>
          </a:p>
          <a:p>
            <a:endParaRPr lang="en-US" altLang="zh-TW" dirty="0" smtClean="0"/>
          </a:p>
          <a:p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8117305" y="5903495"/>
            <a:ext cx="1904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altLang="zh-TW" dirty="0"/>
              <a:t>τ</a:t>
            </a:r>
            <a:r>
              <a:rPr lang="en-US" altLang="zh-TW" dirty="0"/>
              <a:t> (</a:t>
            </a:r>
            <a:r>
              <a:rPr lang="en-US" altLang="zh-TW" dirty="0" err="1"/>
              <a:t>tauon</a:t>
            </a:r>
            <a:r>
              <a:rPr lang="en-US" altLang="zh-TW" dirty="0"/>
              <a:t>) </a:t>
            </a:r>
            <a:r>
              <a:rPr lang="el-GR" altLang="zh-TW" dirty="0"/>
              <a:t>η</a:t>
            </a:r>
            <a:r>
              <a:rPr lang="en-US" altLang="zh-TW" dirty="0"/>
              <a:t> (Eta)</a:t>
            </a:r>
            <a:r>
              <a:rPr lang="en-US" altLang="zh-TW" dirty="0" smtClean="0"/>
              <a:t> </a:t>
            </a:r>
            <a:endParaRPr lang="zh-TW" altLang="en-US" dirty="0"/>
          </a:p>
        </p:txBody>
      </p:sp>
      <p:cxnSp>
        <p:nvCxnSpPr>
          <p:cNvPr id="8" name="直線單箭頭接點 7"/>
          <p:cNvCxnSpPr/>
          <p:nvPr/>
        </p:nvCxnSpPr>
        <p:spPr>
          <a:xfrm flipH="1">
            <a:off x="5430253" y="3842084"/>
            <a:ext cx="489284" cy="1925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 flipH="1" flipV="1">
            <a:off x="3224463" y="2358189"/>
            <a:ext cx="5342021" cy="521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/>
          <p:cNvCxnSpPr/>
          <p:nvPr/>
        </p:nvCxnSpPr>
        <p:spPr>
          <a:xfrm flipH="1" flipV="1">
            <a:off x="3633538" y="2780251"/>
            <a:ext cx="5654841" cy="2762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7530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Ant Colony Optimization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procedure </a:t>
            </a:r>
            <a:r>
              <a:rPr lang="en-US" altLang="zh-TW" dirty="0" err="1"/>
              <a:t>ACO_MetaHeuristic</a:t>
            </a:r>
            <a:endParaRPr lang="en-US" altLang="zh-TW" dirty="0"/>
          </a:p>
          <a:p>
            <a:r>
              <a:rPr lang="en-US" altLang="zh-TW" dirty="0"/>
              <a:t>    while(</a:t>
            </a:r>
            <a:r>
              <a:rPr lang="en-US" altLang="zh-TW" dirty="0" err="1"/>
              <a:t>not_termination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       </a:t>
            </a:r>
            <a:r>
              <a:rPr lang="en-US" altLang="zh-TW" dirty="0" err="1"/>
              <a:t>generateSolutions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   </a:t>
            </a:r>
            <a:r>
              <a:rPr lang="en-US" altLang="zh-TW" dirty="0" err="1"/>
              <a:t>daemonActions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   </a:t>
            </a:r>
            <a:r>
              <a:rPr lang="en-US" altLang="zh-TW" dirty="0" err="1"/>
              <a:t>pheromoneUpdate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end while</a:t>
            </a:r>
          </a:p>
          <a:p>
            <a:r>
              <a:rPr lang="en-US" altLang="zh-TW" dirty="0"/>
              <a:t>  end procedure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569" y="3980116"/>
            <a:ext cx="2066925" cy="333375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602" y="3591462"/>
            <a:ext cx="772778" cy="292103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t="1" r="79105" b="-15668"/>
          <a:stretch/>
        </p:blipFill>
        <p:spPr>
          <a:xfrm>
            <a:off x="6979570" y="3544713"/>
            <a:ext cx="431884" cy="385603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7336307" y="3552847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+=</a:t>
            </a:r>
            <a:endParaRPr lang="zh-TW" altLang="en-US" dirty="0"/>
          </a:p>
        </p:txBody>
      </p:sp>
      <p:cxnSp>
        <p:nvCxnSpPr>
          <p:cNvPr id="10" name="直線單箭頭接點 9"/>
          <p:cNvCxnSpPr/>
          <p:nvPr/>
        </p:nvCxnSpPr>
        <p:spPr>
          <a:xfrm flipV="1">
            <a:off x="4339389" y="3922179"/>
            <a:ext cx="2454443" cy="224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7118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Ant Colony Optimization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procedure </a:t>
            </a:r>
            <a:r>
              <a:rPr lang="en-US" altLang="zh-TW" dirty="0" err="1"/>
              <a:t>ACO_MetaHeuristic</a:t>
            </a:r>
            <a:endParaRPr lang="en-US" altLang="zh-TW" dirty="0"/>
          </a:p>
          <a:p>
            <a:r>
              <a:rPr lang="en-US" altLang="zh-TW" dirty="0"/>
              <a:t>    while(</a:t>
            </a:r>
            <a:r>
              <a:rPr lang="en-US" altLang="zh-TW" dirty="0" err="1"/>
              <a:t>not_termination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       </a:t>
            </a:r>
            <a:r>
              <a:rPr lang="en-US" altLang="zh-TW" dirty="0" err="1"/>
              <a:t>generateSolutions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   </a:t>
            </a:r>
            <a:r>
              <a:rPr lang="en-US" altLang="zh-TW" dirty="0" err="1"/>
              <a:t>daemonActions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   </a:t>
            </a:r>
            <a:r>
              <a:rPr lang="en-US" altLang="zh-TW" dirty="0" err="1"/>
              <a:t>pheromoneUpdate</a:t>
            </a:r>
            <a:r>
              <a:rPr lang="en-US" altLang="zh-TW" dirty="0"/>
              <a:t>()</a:t>
            </a:r>
          </a:p>
          <a:p>
            <a:r>
              <a:rPr lang="en-US" altLang="zh-TW" dirty="0"/>
              <a:t>    end while</a:t>
            </a:r>
          </a:p>
          <a:p>
            <a:r>
              <a:rPr lang="en-US" altLang="zh-TW" dirty="0"/>
              <a:t>  end procedure</a:t>
            </a:r>
            <a:endParaRPr lang="zh-TW" altLang="en-US" dirty="0"/>
          </a:p>
        </p:txBody>
      </p:sp>
      <p:pic>
        <p:nvPicPr>
          <p:cNvPr id="4098" name="Picture 2" descr="Aco branches.sv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8248" y="2121408"/>
            <a:ext cx="381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9824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Traveling </a:t>
            </a:r>
            <a:r>
              <a:rPr lang="en-US" altLang="zh-TW" dirty="0" smtClean="0"/>
              <a:t>Salesman Problem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NP-hard</a:t>
            </a:r>
          </a:p>
          <a:p>
            <a:r>
              <a:rPr lang="en-US" altLang="zh-TW" dirty="0" smtClean="0"/>
              <a:t>N node </a:t>
            </a:r>
          </a:p>
          <a:p>
            <a:r>
              <a:rPr lang="en-US" altLang="zh-TW" dirty="0" smtClean="0"/>
              <a:t>Min value for visited all node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3393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Traveling </a:t>
            </a:r>
            <a:r>
              <a:rPr lang="en-US" altLang="zh-TW" dirty="0" smtClean="0"/>
              <a:t>Salesman Problem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7170" name="Picture 2" descr="http://upload.wikimedia.org/wikipedia/commons/2/23/Nearestneighbor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8713" y="4146804"/>
            <a:ext cx="2185834" cy="159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http://upload.wikimedia.org/wikipedia/commons/2/2b/Bruteforce.gif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564" y="2125873"/>
            <a:ext cx="3529167" cy="159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http://upload.wikimedia.org/wikipedia/commons/3/3c/Branchbound.gif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8446" y="2121408"/>
            <a:ext cx="3446101" cy="160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http://upload.wikimedia.org/wikipedia/commons/8/8c/AntColony.gif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4564" y="4146804"/>
            <a:ext cx="4279546" cy="15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/>
          <p:cNvSpPr/>
          <p:nvPr/>
        </p:nvSpPr>
        <p:spPr>
          <a:xfrm>
            <a:off x="2805779" y="3718774"/>
            <a:ext cx="21267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brute force search</a:t>
            </a:r>
          </a:p>
        </p:txBody>
      </p:sp>
      <p:sp>
        <p:nvSpPr>
          <p:cNvPr id="6" name="矩形 5"/>
          <p:cNvSpPr/>
          <p:nvPr/>
        </p:nvSpPr>
        <p:spPr>
          <a:xfrm>
            <a:off x="6397681" y="3717678"/>
            <a:ext cx="3987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simple Branch and bound algorithm</a:t>
            </a:r>
          </a:p>
        </p:txBody>
      </p:sp>
      <p:sp>
        <p:nvSpPr>
          <p:cNvPr id="7" name="矩形 6"/>
          <p:cNvSpPr/>
          <p:nvPr/>
        </p:nvSpPr>
        <p:spPr>
          <a:xfrm>
            <a:off x="7437029" y="5743074"/>
            <a:ext cx="3169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Nearest Neighbor algorithm</a:t>
            </a:r>
          </a:p>
        </p:txBody>
      </p:sp>
      <p:sp>
        <p:nvSpPr>
          <p:cNvPr id="8" name="矩形 7"/>
          <p:cNvSpPr/>
          <p:nvPr/>
        </p:nvSpPr>
        <p:spPr>
          <a:xfrm>
            <a:off x="2284730" y="5696694"/>
            <a:ext cx="39192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Ant Colony Optimization Algorithm</a:t>
            </a:r>
          </a:p>
        </p:txBody>
      </p:sp>
    </p:spTree>
    <p:extLst>
      <p:ext uri="{BB962C8B-B14F-4D97-AF65-F5344CB8AC3E}">
        <p14:creationId xmlns:p14="http://schemas.microsoft.com/office/powerpoint/2010/main" val="3521724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COMMON INTERVAL ACO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450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CIACO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3021" y="2093976"/>
            <a:ext cx="5372053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166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CIACO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093976"/>
            <a:ext cx="5372053" cy="40513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01" y="2093976"/>
            <a:ext cx="5109912" cy="382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94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CIACO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093976"/>
            <a:ext cx="5372053" cy="40513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01" y="3491575"/>
            <a:ext cx="4429619" cy="125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503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CIACO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093976"/>
            <a:ext cx="5372053" cy="40513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01" y="2093976"/>
            <a:ext cx="5109912" cy="3823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89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CIACO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093976"/>
            <a:ext cx="5372053" cy="40513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01" y="572419"/>
            <a:ext cx="5339748" cy="556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1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CIACO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093976"/>
            <a:ext cx="5372053" cy="40513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01" y="2849564"/>
            <a:ext cx="5546057" cy="2540123"/>
          </a:xfrm>
          <a:prstGeom prst="rect">
            <a:avLst/>
          </a:prstGeom>
        </p:spPr>
      </p:pic>
      <p:pic>
        <p:nvPicPr>
          <p:cNvPr id="8194" name="Picture 2" descr="\underset{x}{\operatorname{arg\,max}} \, f(x) := \{x\ |\ \forall y : f(y) \le f(x)\}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523" y="5769790"/>
            <a:ext cx="31337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671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CIACO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093976"/>
            <a:ext cx="5372053" cy="40513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01" y="572419"/>
            <a:ext cx="5339748" cy="556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50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CIACO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093976"/>
            <a:ext cx="5372053" cy="4051300"/>
          </a:xfrm>
          <a:prstGeom prst="rect">
            <a:avLst/>
          </a:prstGeom>
        </p:spPr>
      </p:pic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01" y="2619438"/>
            <a:ext cx="5467350" cy="30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67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CIACO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093976"/>
            <a:ext cx="5372053" cy="4051300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901" y="572419"/>
            <a:ext cx="5339748" cy="5561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9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658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69848" y="2121408"/>
            <a:ext cx="3323473" cy="4050792"/>
          </a:xfrm>
        </p:spPr>
        <p:txBody>
          <a:bodyPr/>
          <a:lstStyle/>
          <a:p>
            <a:r>
              <a:rPr lang="en-US" altLang="zh-TW" dirty="0"/>
              <a:t>For a certain </a:t>
            </a:r>
            <a:r>
              <a:rPr lang="en-US" altLang="zh-TW" dirty="0" smtClean="0"/>
              <a:t>problem instance </a:t>
            </a:r>
            <a:r>
              <a:rPr lang="en-US" altLang="zh-TW" dirty="0"/>
              <a:t>and algorithm using a given </a:t>
            </a:r>
            <a:r>
              <a:rPr lang="en-US" altLang="zh-TW" dirty="0" smtClean="0"/>
              <a:t>combination </a:t>
            </a:r>
            <a:r>
              <a:rPr lang="en-US" altLang="zh-TW" dirty="0"/>
              <a:t>of </a:t>
            </a:r>
            <a:r>
              <a:rPr lang="en-US" altLang="zh-TW" dirty="0" smtClean="0"/>
              <a:t>parameter values </a:t>
            </a:r>
            <a:r>
              <a:rPr lang="en-US" altLang="zh-TW" dirty="0"/>
              <a:t>(</a:t>
            </a:r>
            <a:r>
              <a:rPr lang="en-US" altLang="zh-TW" i="1" dirty="0"/>
              <a:t>β</a:t>
            </a:r>
            <a:r>
              <a:rPr lang="en-US" altLang="zh-TW" dirty="0"/>
              <a:t>, </a:t>
            </a:r>
            <a:r>
              <a:rPr lang="en-US" altLang="zh-TW" i="1" dirty="0"/>
              <a:t>q</a:t>
            </a:r>
            <a:r>
              <a:rPr lang="en-US" altLang="zh-TW" dirty="0"/>
              <a:t>0 and additionally </a:t>
            </a:r>
            <a:r>
              <a:rPr lang="en-US" altLang="zh-TW" i="1" dirty="0"/>
              <a:t>ψ</a:t>
            </a:r>
            <a:r>
              <a:rPr lang="en-US" altLang="zh-TW" dirty="0"/>
              <a:t>, </a:t>
            </a:r>
            <a:r>
              <a:rPr lang="en-US" altLang="zh-TW" i="1" dirty="0"/>
              <a:t>θ</a:t>
            </a:r>
            <a:r>
              <a:rPr lang="en-US" altLang="zh-TW" dirty="0"/>
              <a:t>, and </a:t>
            </a:r>
            <a:r>
              <a:rPr lang="en-US" altLang="zh-TW" i="1" dirty="0" err="1"/>
              <a:t>p</a:t>
            </a:r>
            <a:r>
              <a:rPr lang="en-US" altLang="zh-TW" i="1" baseline="30000" dirty="0" err="1"/>
              <a:t>guide</a:t>
            </a:r>
            <a:r>
              <a:rPr lang="en-US" altLang="zh-TW" i="1" dirty="0"/>
              <a:t> </a:t>
            </a:r>
            <a:r>
              <a:rPr lang="en-US" altLang="zh-TW" dirty="0"/>
              <a:t>for CIACO)</a:t>
            </a:r>
          </a:p>
          <a:p>
            <a:r>
              <a:rPr lang="en-US" altLang="zh-TW" dirty="0"/>
              <a:t>the quality is the average solution quality over 20 runs.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321" y="1498204"/>
            <a:ext cx="6734927" cy="5297200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11012905" y="2887579"/>
            <a:ext cx="1347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426(?</a:t>
            </a:r>
          </a:p>
          <a:p>
            <a:r>
              <a:rPr lang="en-US" altLang="zh-TW" dirty="0" smtClean="0"/>
              <a:t>428.8718</a:t>
            </a:r>
            <a:endParaRPr lang="zh-TW" alt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1012905" y="3671941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22141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1012905" y="4327513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118282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11012905" y="4899994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6110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1012905" y="5525751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58537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1012905" y="5966842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126643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76471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刻字型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TC103090434[[fn=木頭類型]]</Template>
  <TotalTime>240</TotalTime>
  <Words>397</Words>
  <Application>Microsoft Office PowerPoint</Application>
  <PresentationFormat>寬螢幕</PresentationFormat>
  <Paragraphs>85</Paragraphs>
  <Slides>23</Slides>
  <Notes>0</Notes>
  <HiddenSlides>2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1" baseType="lpstr">
      <vt:lpstr>微軟正黑體</vt:lpstr>
      <vt:lpstr>標楷體</vt:lpstr>
      <vt:lpstr>Arial</vt:lpstr>
      <vt:lpstr>Cambria</vt:lpstr>
      <vt:lpstr>Rockwell</vt:lpstr>
      <vt:lpstr>Rockwell Condensed</vt:lpstr>
      <vt:lpstr>Wingdings</vt:lpstr>
      <vt:lpstr>木刻字型</vt:lpstr>
      <vt:lpstr>A Common Interval Guided ACO Algorithm for Permutation Problems</vt:lpstr>
      <vt:lpstr>Abstract</vt:lpstr>
      <vt:lpstr>BACKGROUND</vt:lpstr>
      <vt:lpstr>Ant Colony Optimization</vt:lpstr>
      <vt:lpstr>Ant Colony Optimization</vt:lpstr>
      <vt:lpstr>Ant Colony Optimization</vt:lpstr>
      <vt:lpstr>Ant Colony Optimization</vt:lpstr>
      <vt:lpstr>Ant Colony Optimization</vt:lpstr>
      <vt:lpstr>Ant Colony Optimization</vt:lpstr>
      <vt:lpstr>Traveling Salesman Problem</vt:lpstr>
      <vt:lpstr>Traveling Salesman Problem</vt:lpstr>
      <vt:lpstr>COMMON INTERVAL ACO</vt:lpstr>
      <vt:lpstr>CIACO</vt:lpstr>
      <vt:lpstr>CIACO</vt:lpstr>
      <vt:lpstr>CIACO</vt:lpstr>
      <vt:lpstr>CIACO</vt:lpstr>
      <vt:lpstr>CIACO</vt:lpstr>
      <vt:lpstr>CIACO</vt:lpstr>
      <vt:lpstr>CIACO</vt:lpstr>
      <vt:lpstr>CIACO</vt:lpstr>
      <vt:lpstr>CIACO</vt:lpstr>
      <vt:lpstr>EXPERIMENTAL RESULTS</vt:lpstr>
      <vt:lpstr>EXPERIMENTAL RESULTS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Common Interval Guided ACO Algorithm for Permutation Problems</dc:title>
  <dc:creator>Pichu</dc:creator>
  <cp:lastModifiedBy>Pichu</cp:lastModifiedBy>
  <cp:revision>15</cp:revision>
  <dcterms:created xsi:type="dcterms:W3CDTF">2013-11-12T05:58:27Z</dcterms:created>
  <dcterms:modified xsi:type="dcterms:W3CDTF">2013-11-12T09:58:35Z</dcterms:modified>
</cp:coreProperties>
</file>