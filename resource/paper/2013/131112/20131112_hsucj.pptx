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9" r:id="rId3"/>
    <p:sldId id="266" r:id="rId4"/>
    <p:sldId id="265" r:id="rId5"/>
    <p:sldId id="268" r:id="rId6"/>
    <p:sldId id="274" r:id="rId7"/>
    <p:sldId id="270" r:id="rId8"/>
    <p:sldId id="271" r:id="rId9"/>
    <p:sldId id="272" r:id="rId10"/>
    <p:sldId id="273" r:id="rId11"/>
    <p:sldId id="275" r:id="rId12"/>
    <p:sldId id="276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BA2CCC6-1621-43AA-80E1-9C918F862ACB}">
          <p14:sldIdLst>
            <p14:sldId id="256"/>
            <p14:sldId id="269"/>
            <p14:sldId id="266"/>
            <p14:sldId id="265"/>
            <p14:sldId id="268"/>
            <p14:sldId id="274"/>
            <p14:sldId id="270"/>
            <p14:sldId id="271"/>
            <p14:sldId id="272"/>
            <p14:sldId id="273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E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9" autoAdjust="0"/>
    <p:restoredTop sz="94718" autoAdjust="0"/>
  </p:normalViewPr>
  <p:slideViewPr>
    <p:cSldViewPr>
      <p:cViewPr varScale="1">
        <p:scale>
          <a:sx n="110" d="100"/>
          <a:sy n="110" d="100"/>
        </p:scale>
        <p:origin x="92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CCAE0-0C81-4B78-82D1-11BE0D61DB07}" type="datetime1">
              <a:rPr lang="zh-TW" altLang="en-US" smtClean="0"/>
              <a:t>2013/11/11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19FDD-675A-4A39-B0F1-906E5BA6EF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25919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736F9-A0BE-4D52-9097-BF965413D210}" type="datetime1">
              <a:rPr lang="zh-TW" altLang="en-US" smtClean="0"/>
              <a:t>2013/11/11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B2AB0-7B78-40EC-A30E-F42C75B51A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3848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link.springer.com/chapter/10.1007/978-3-642-23163-6_10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mirlab.org/jang/books/dcpr/dpDtw.asp?title=8-4%20Dynamic%20Time%20Warping&amp;language=all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3"/>
              </a:rPr>
              <a:t>http://link.springer.com/chapter/10.1007/978-3-642-23163-6_10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188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Ref: </a:t>
            </a:r>
            <a:r>
              <a:rPr lang="en-US" altLang="zh-TW" dirty="0" smtClean="0">
                <a:hlinkClick r:id="rId3"/>
              </a:rPr>
              <a:t>http://mirlab.org/jang/books/dcpr/dpDtw.asp?title=8-4%20Dynamic%20Time%20Warping&amp;language=all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0C93-EEEA-4B52-815E-D24010254F7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112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858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smtClean="0"/>
              <a:t>Ref: http://www.google.com/url?sa=t&amp;rct=j&amp;q=lb_keogh&amp;source=web&amp;cd=2&amp;ved=0CDMQFjAB&amp;url=http%3A%2F%2Fwww.cise.ufl.edu%2Fclass%2Fcis4930fa07ilg%2Fslides%2Fdtw.ppt&amp;ei=mTH1UeX6B8qPkgWvv4H4BQ&amp;usg=AFQjCNGUA1lfcli-rD46hrqVSBwD_pJ3aQ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0C93-EEEA-4B52-815E-D24010254F7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3251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TW" altLang="en-US" dirty="0" smtClean="0"/>
              <a:t>按一下以編輯母片副標題樣式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EB65-1833-43F1-BD28-90CA58C223F1}" type="datetime1">
              <a:rPr lang="zh-TW" altLang="en-US" smtClean="0"/>
              <a:t>2013/11/11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26542-6EFB-4063-A5B0-41FD0D95C3CD}" type="datetime1">
              <a:rPr lang="zh-TW" altLang="en-US" smtClean="0"/>
              <a:t>2013/11/11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4AF9-5678-44F8-A5F3-25F4EE962BEB}" type="datetime1">
              <a:rPr lang="zh-TW" altLang="en-US" smtClean="0"/>
              <a:t>2013/11/11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ABEE-C7E4-40C4-92CB-86E1D58CE5C6}" type="datetime1">
              <a:rPr lang="zh-TW" altLang="en-US" smtClean="0"/>
              <a:t>2013/11/11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A883-52C2-486B-8EA1-085A9CDA4FB8}" type="datetime1">
              <a:rPr lang="zh-TW" altLang="en-US" smtClean="0"/>
              <a:t>2013/11/11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4510-C05F-405E-BF57-EDA10426F4FA}" type="datetime1">
              <a:rPr lang="zh-TW" altLang="en-US" smtClean="0"/>
              <a:t>2013/11/11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8CA7-07F3-4DAF-849D-048C755ED96A}" type="datetime1">
              <a:rPr lang="zh-TW" altLang="en-US" smtClean="0"/>
              <a:t>2013/11/11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BA66-D99D-4975-B43D-26D9BBCD9CA3}" type="datetime1">
              <a:rPr lang="zh-TW" altLang="en-US" smtClean="0"/>
              <a:t>2013/11/11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TW" altLang="en-US" smtClean="0"/>
              <a:t>按一下圖示以新增圖片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A5DC-8ED7-4BFB-AF27-C684B4AEE8F0}" type="datetime1">
              <a:rPr lang="zh-TW" altLang="en-US" smtClean="0"/>
              <a:t>2013/11/11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128C-3907-40E0-8A52-3CB0064A414F}" type="datetime1">
              <a:rPr lang="zh-TW" altLang="en-US" smtClean="0"/>
              <a:t>2013/11/11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2582-DD10-43EA-B141-5A8AB99B0301}" type="datetime1">
              <a:rPr lang="zh-TW" altLang="en-US" smtClean="0"/>
              <a:t>2013/11/11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E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7C3D2-FFA1-4493-B768-C3A89A67BE4C}" type="datetime1">
              <a:rPr lang="zh-TW" altLang="en-US" smtClean="0"/>
              <a:t>2013/11/11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latinLnBrk="0" hangingPunct="1">
        <a:spcBef>
          <a:spcPct val="0"/>
        </a:spcBef>
        <a:buNone/>
        <a:defRPr kumimoji="0"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cr.edu/~eamonn/time_series_data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4000" dirty="0"/>
              <a:t>The Influence of Global Constraints on DTW and LCS Similarity Measures for Time-Series Databases</a:t>
            </a:r>
            <a:endParaRPr lang="zh-TW" altLang="en-US" sz="4000" b="1" dirty="0"/>
          </a:p>
        </p:txBody>
      </p:sp>
      <p:sp>
        <p:nvSpPr>
          <p:cNvPr id="5" name="副標題 3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802042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b="1" dirty="0"/>
              <a:t>Vladimir </a:t>
            </a:r>
            <a:r>
              <a:rPr lang="en-US" altLang="zh-TW" b="1" dirty="0" err="1"/>
              <a:t>Kurbalija</a:t>
            </a:r>
            <a:r>
              <a:rPr lang="en-US" altLang="zh-TW" b="1" dirty="0"/>
              <a:t>, </a:t>
            </a:r>
            <a:r>
              <a:rPr lang="en-US" altLang="zh-TW" b="1" dirty="0" err="1"/>
              <a:t>Miloš</a:t>
            </a:r>
            <a:r>
              <a:rPr lang="en-US" altLang="zh-TW" b="1" dirty="0"/>
              <a:t> </a:t>
            </a:r>
            <a:r>
              <a:rPr lang="en-US" altLang="zh-TW" b="1" dirty="0" err="1"/>
              <a:t>Radovanović</a:t>
            </a:r>
            <a:r>
              <a:rPr lang="en-US" altLang="zh-TW" b="1" dirty="0"/>
              <a:t>, </a:t>
            </a:r>
            <a:r>
              <a:rPr lang="en-US" altLang="zh-TW" b="1" dirty="0" err="1"/>
              <a:t>Zoltan</a:t>
            </a:r>
            <a:r>
              <a:rPr lang="en-US" altLang="zh-TW" b="1" dirty="0"/>
              <a:t> </a:t>
            </a:r>
            <a:r>
              <a:rPr lang="en-US" altLang="zh-TW" b="1" dirty="0" err="1"/>
              <a:t>Geler</a:t>
            </a:r>
            <a:r>
              <a:rPr lang="en-US" altLang="zh-TW" b="1" dirty="0"/>
              <a:t>, and </a:t>
            </a:r>
            <a:r>
              <a:rPr lang="en-US" altLang="zh-TW" b="1" dirty="0" err="1"/>
              <a:t>Mirjana</a:t>
            </a:r>
            <a:r>
              <a:rPr lang="en-US" altLang="zh-TW" b="1" dirty="0"/>
              <a:t> </a:t>
            </a:r>
            <a:r>
              <a:rPr lang="en-US" altLang="zh-TW" b="1" dirty="0" err="1" smtClean="0"/>
              <a:t>Ivanović</a:t>
            </a:r>
            <a:endParaRPr lang="en-US" altLang="zh-TW" b="1" dirty="0" smtClean="0"/>
          </a:p>
          <a:p>
            <a:r>
              <a:rPr lang="en-US" altLang="zh-TW" b="1" dirty="0"/>
              <a:t>Third International Conference on Software, Services and Semantic Technologies S3T 2011</a:t>
            </a:r>
          </a:p>
          <a:p>
            <a:r>
              <a:rPr lang="en-US" altLang="zh-TW" b="1" dirty="0"/>
              <a:t>Advances in Intelligent and Soft Computing Volume 101, 2011, pp 67-74</a:t>
            </a:r>
          </a:p>
        </p:txBody>
      </p:sp>
      <p:sp>
        <p:nvSpPr>
          <p:cNvPr id="8" name="副標題 3"/>
          <p:cNvSpPr txBox="1">
            <a:spLocks/>
          </p:cNvSpPr>
          <p:nvPr/>
        </p:nvSpPr>
        <p:spPr>
          <a:xfrm>
            <a:off x="687600" y="5641322"/>
            <a:ext cx="6400800" cy="1100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Presenter: </a:t>
            </a:r>
            <a:r>
              <a:rPr lang="en-US" altLang="zh-TW" sz="28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Che-Jui</a:t>
            </a:r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TW" sz="28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Hsu (</a:t>
            </a:r>
            <a:r>
              <a:rPr lang="zh-TW" altLang="en-US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許哲睿</a:t>
            </a:r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</a:p>
          <a:p>
            <a:pPr algn="l"/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Date: </a:t>
            </a:r>
            <a:fld id="{3DC95CE2-72FD-4627-B4FE-7CBC89963158}" type="datetime1">
              <a:rPr lang="zh-TW" altLang="en-US" sz="28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2013/11/11</a:t>
            </a:fld>
            <a:endParaRPr lang="en-US" altLang="zh-TW" sz="2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284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6720" y="1600200"/>
            <a:ext cx="8229600" cy="5121275"/>
          </a:xfrm>
        </p:spPr>
        <p:txBody>
          <a:bodyPr>
            <a:normAutofit fontScale="62500" lnSpcReduction="20000"/>
          </a:bodyPr>
          <a:lstStyle/>
          <a:p>
            <a:pPr marL="0" indent="457200" algn="just">
              <a:buNone/>
            </a:pPr>
            <a:r>
              <a:rPr lang="en-US" altLang="zh-TW" dirty="0"/>
              <a:t>Analysis of time series represents an important tool in many </a:t>
            </a:r>
            <a:r>
              <a:rPr lang="en-US" altLang="zh-TW" dirty="0" smtClean="0"/>
              <a:t>application areas</a:t>
            </a:r>
            <a:r>
              <a:rPr lang="en-US" altLang="zh-TW" dirty="0"/>
              <a:t>. A vital component in many types of time-series analysis is the choice of </a:t>
            </a:r>
            <a:r>
              <a:rPr lang="en-US" altLang="zh-TW" dirty="0" smtClean="0"/>
              <a:t>an appropriate </a:t>
            </a:r>
            <a:r>
              <a:rPr lang="en-US" altLang="zh-TW" dirty="0"/>
              <a:t>distance/similarity measure. Numerous measures have been </a:t>
            </a:r>
            <a:r>
              <a:rPr lang="en-US" altLang="zh-TW" dirty="0" smtClean="0"/>
              <a:t>proposed to </a:t>
            </a:r>
            <a:r>
              <a:rPr lang="en-US" altLang="zh-TW" dirty="0"/>
              <a:t>date, with the most successful ones based on dynamic programming. Being </a:t>
            </a:r>
            <a:r>
              <a:rPr lang="en-US" altLang="zh-TW" dirty="0" smtClean="0"/>
              <a:t>of quadratic </a:t>
            </a:r>
            <a:r>
              <a:rPr lang="en-US" altLang="zh-TW" dirty="0"/>
              <a:t>time complexity, however, global constraints are often employed to </a:t>
            </a:r>
            <a:r>
              <a:rPr lang="en-US" altLang="zh-TW" dirty="0" smtClean="0"/>
              <a:t>limit the </a:t>
            </a:r>
            <a:r>
              <a:rPr lang="en-US" altLang="zh-TW" dirty="0"/>
              <a:t>search space in the matrix during the dynamic programming procedure, </a:t>
            </a:r>
            <a:r>
              <a:rPr lang="en-US" altLang="zh-TW" dirty="0" smtClean="0"/>
              <a:t>in order </a:t>
            </a:r>
            <a:r>
              <a:rPr lang="en-US" altLang="zh-TW" dirty="0"/>
              <a:t>to speed up computation. In this paper, we investigate two </a:t>
            </a:r>
            <a:r>
              <a:rPr lang="en-US" altLang="zh-TW" dirty="0" smtClean="0"/>
              <a:t>representative time-series </a:t>
            </a:r>
            <a:r>
              <a:rPr lang="en-US" altLang="zh-TW" dirty="0"/>
              <a:t>distance/similarity measures based on dynamic </a:t>
            </a:r>
            <a:r>
              <a:rPr lang="en-US" altLang="zh-TW" dirty="0" smtClean="0"/>
              <a:t>programming, Dynamic </a:t>
            </a:r>
            <a:r>
              <a:rPr lang="en-US" altLang="zh-TW" dirty="0"/>
              <a:t>Time Warping (DTW) and Longest Common Subsequence (LCS), </a:t>
            </a:r>
            <a:r>
              <a:rPr lang="en-US" altLang="zh-TW" dirty="0" smtClean="0"/>
              <a:t>and the </a:t>
            </a:r>
            <a:r>
              <a:rPr lang="en-US" altLang="zh-TW" dirty="0"/>
              <a:t>effects of global constraints on them. Through extensive experiments on </a:t>
            </a:r>
            <a:r>
              <a:rPr lang="en-US" altLang="zh-TW" dirty="0" smtClean="0"/>
              <a:t>a large </a:t>
            </a:r>
            <a:r>
              <a:rPr lang="en-US" altLang="zh-TW" dirty="0"/>
              <a:t>number of time-series data sets, we demonstrate how global constrains </a:t>
            </a:r>
            <a:r>
              <a:rPr lang="en-US" altLang="zh-TW" dirty="0" smtClean="0"/>
              <a:t>can significantly </a:t>
            </a:r>
            <a:r>
              <a:rPr lang="en-US" altLang="zh-TW" dirty="0"/>
              <a:t>reduce the computation time of DTW and LCS. We also show that, </a:t>
            </a:r>
            <a:r>
              <a:rPr lang="en-US" altLang="zh-TW" dirty="0" smtClean="0"/>
              <a:t>if the </a:t>
            </a:r>
            <a:r>
              <a:rPr lang="en-US" altLang="zh-TW" dirty="0"/>
              <a:t>constraint parameter is tight enough (less than 10–15% of time-series length</a:t>
            </a:r>
            <a:r>
              <a:rPr lang="en-US" altLang="zh-TW" dirty="0" smtClean="0"/>
              <a:t>), the </a:t>
            </a:r>
            <a:r>
              <a:rPr lang="en-US" altLang="zh-TW" dirty="0"/>
              <a:t>constrained measure becomes significantly different from its </a:t>
            </a:r>
            <a:r>
              <a:rPr lang="en-US" altLang="zh-TW" dirty="0" smtClean="0"/>
              <a:t>unconstrained counterpart</a:t>
            </a:r>
            <a:r>
              <a:rPr lang="en-US" altLang="zh-TW" dirty="0"/>
              <a:t>, in the sense of producing qualitatively different 1-nearest </a:t>
            </a:r>
            <a:r>
              <a:rPr lang="en-US" altLang="zh-TW" dirty="0" smtClean="0"/>
              <a:t>neighbor (1NN</a:t>
            </a:r>
            <a:r>
              <a:rPr lang="en-US" altLang="zh-TW" dirty="0"/>
              <a:t>) graphs. This observation highlights the need for careful tuning of </a:t>
            </a:r>
            <a:r>
              <a:rPr lang="en-US" altLang="zh-TW" dirty="0" smtClean="0"/>
              <a:t>constraint parameters </a:t>
            </a:r>
            <a:r>
              <a:rPr lang="en-US" altLang="zh-TW" dirty="0"/>
              <a:t>in order to achieve a good trade-off between speed and accuracy.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2300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Time Warping (</a:t>
            </a:r>
            <a:r>
              <a:rPr lang="en-US" altLang="zh-TW" dirty="0" smtClean="0"/>
              <a:t>1/3)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</a:rPr>
                      <m:t>𝐷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𝑇𝑊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i="1" smtClean="0">
                            <a:latin typeface="Cambria Math"/>
                          </a:rPr>
                          <m:t>, </m:t>
                        </m:r>
                        <m:r>
                          <a:rPr lang="en-US" altLang="zh-TW" i="1" smtClean="0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altLang="zh-TW" i="1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en-US" altLang="zh-TW">
                        <a:latin typeface="Cambria Math"/>
                      </a:rPr>
                      <m:t>cost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  <m:r>
                          <a:rPr lang="en-US" altLang="zh-TW" i="1">
                            <a:latin typeface="Cambria Math"/>
                          </a:rPr>
                          <m:t>, </m:t>
                        </m:r>
                        <m:r>
                          <a:rPr lang="en-US" altLang="zh-TW" i="1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altLang="zh-TW" i="1">
                        <a:latin typeface="Cambria Math"/>
                      </a:rPr>
                      <m:t>+</m:t>
                    </m:r>
                  </m:oMath>
                </a14:m>
                <a:r>
                  <a:rPr lang="en-US" altLang="zh-TW" i="1" dirty="0">
                    <a:latin typeface="Cambria Math"/>
                  </a:rPr>
                  <a:t/>
                </a:r>
                <a:br>
                  <a:rPr lang="en-US" altLang="zh-TW" i="1" dirty="0">
                    <a:latin typeface="Cambria Math"/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>
                            <a:latin typeface="Cambria Math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−1, 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altLang="zh-TW" i="1"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TW" i="1"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,−1 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3074" name="Picture 2" descr="http://mirlab.org/jang/books/dcpr/image/dtwLocalPathConstraint2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906" y="2996952"/>
            <a:ext cx="4705350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9518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Dynamic Time Warping </a:t>
            </a:r>
            <a:r>
              <a:rPr lang="en-US" altLang="zh-TW" b="1" dirty="0" smtClean="0"/>
              <a:t>(2/3)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4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0.1, 0.3, 0.5, 0.4, 0.2</m:t>
                        </m:r>
                      </m:e>
                    </m:d>
                  </m:oMath>
                </a14:m>
                <a:endParaRPr lang="en-US" altLang="zh-TW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0.3, 0.2, 0.4, 0.1, 0.5</m:t>
                        </m:r>
                      </m:e>
                    </m:d>
                  </m:oMath>
                </a14:m>
                <a:endParaRPr lang="en-US" altLang="zh-TW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mtClean="0">
                        <a:latin typeface="Cambria Math"/>
                      </a:rPr>
                      <m:t>𝑐𝑜𝑠𝑡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>
                            <a:latin typeface="Cambria Math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6695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Dynamic Time Warping </a:t>
            </a:r>
            <a:r>
              <a:rPr lang="en-US" altLang="zh-TW" b="1" dirty="0" smtClean="0"/>
              <a:t>(3/3)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5</a:t>
            </a:fld>
            <a:endParaRPr lang="zh-TW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69295"/>
              </p:ext>
            </p:extLst>
          </p:nvPr>
        </p:nvGraphicFramePr>
        <p:xfrm>
          <a:off x="900395" y="1602000"/>
          <a:ext cx="7199997" cy="306000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8571"/>
                <a:gridCol w="1028571"/>
                <a:gridCol w="1028571"/>
                <a:gridCol w="1028571"/>
                <a:gridCol w="1028571"/>
                <a:gridCol w="1028571"/>
                <a:gridCol w="1028571"/>
              </a:tblGrid>
              <a:tr h="4371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0.5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0.4+0.6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0.2+0.6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0+0.6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0.1+0.6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1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0.3+0.5</a:t>
                      </a:r>
                      <a:endParaRPr lang="en-US" altLang="zh-TW" sz="2000" b="1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71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0.1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0+0.6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0.2+0.4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0.4+0.4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0.3+0.4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0.1+0.4</a:t>
                      </a:r>
                      <a:endParaRPr lang="en-US" alt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71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0.4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0.3+0.3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0.1+0.3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0.1+0.3</a:t>
                      </a:r>
                      <a:endParaRPr lang="en-US" alt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0+0.4</a:t>
                      </a:r>
                      <a:endParaRPr lang="en-US" alt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0.2+0.4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71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0.2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0.1+0.2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0.1+0.2</a:t>
                      </a:r>
                      <a:endParaRPr lang="en-US" alt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0.3+0.2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0.2+0.4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0+0.5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71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0.3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dirty="0" smtClean="0">
                          <a:effectLst/>
                        </a:rPr>
                        <a:t>INF</a:t>
                      </a:r>
                      <a:endParaRPr lang="en-US" altLang="zh-TW" sz="2000" b="0" i="0" u="none" strike="noStrike" dirty="0" smtClean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0.2+0</a:t>
                      </a:r>
                      <a:endParaRPr lang="en-US" alt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0+0.2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0.2+0.2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0.1+0.4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0.1+0.5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7143"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alt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effectLst/>
                        </a:rPr>
                        <a:t>INF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7143"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0.1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0.3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0.5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0.4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0.2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813043"/>
              </p:ext>
            </p:extLst>
          </p:nvPr>
        </p:nvGraphicFramePr>
        <p:xfrm>
          <a:off x="1428328" y="4937720"/>
          <a:ext cx="60960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0.5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0.4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0.2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0.2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0.4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0.5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9" name="直線接點 8"/>
          <p:cNvCxnSpPr/>
          <p:nvPr/>
        </p:nvCxnSpPr>
        <p:spPr>
          <a:xfrm>
            <a:off x="2051720" y="5369768"/>
            <a:ext cx="0" cy="504056"/>
          </a:xfrm>
          <a:prstGeom prst="line">
            <a:avLst/>
          </a:prstGeom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3275856" y="5369768"/>
            <a:ext cx="0" cy="504056"/>
          </a:xfrm>
          <a:prstGeom prst="line">
            <a:avLst/>
          </a:prstGeom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4427984" y="5369768"/>
            <a:ext cx="0" cy="504056"/>
          </a:xfrm>
          <a:prstGeom prst="line">
            <a:avLst/>
          </a:prstGeom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H="1">
            <a:off x="4427984" y="5369768"/>
            <a:ext cx="1296144" cy="504056"/>
          </a:xfrm>
          <a:prstGeom prst="line">
            <a:avLst/>
          </a:prstGeom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5724128" y="5369768"/>
            <a:ext cx="1152128" cy="504056"/>
          </a:xfrm>
          <a:prstGeom prst="line">
            <a:avLst/>
          </a:prstGeom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6876256" y="5369768"/>
            <a:ext cx="0" cy="504056"/>
          </a:xfrm>
          <a:prstGeom prst="line">
            <a:avLst/>
          </a:prstGeom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281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DTW V.S 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DTW: </a:t>
            </a:r>
            <a:r>
              <a:rPr lang="en-US" altLang="zh-TW" dirty="0" smtClean="0"/>
              <a:t>Compute </a:t>
            </a:r>
            <a:r>
              <a:rPr lang="en-US" altLang="zh-TW" dirty="0"/>
              <a:t>the distance by finding an optimal path in matrix </a:t>
            </a:r>
            <a:r>
              <a:rPr lang="en-US" altLang="zh-TW" dirty="0" smtClean="0"/>
              <a:t>of distances </a:t>
            </a:r>
            <a:r>
              <a:rPr lang="en-US" altLang="zh-TW" dirty="0"/>
              <a:t>between points of two time series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LCS: </a:t>
            </a:r>
            <a:r>
              <a:rPr lang="en-US" altLang="zh-TW" dirty="0" smtClean="0"/>
              <a:t>The </a:t>
            </a:r>
            <a:r>
              <a:rPr lang="en-US" altLang="zh-TW" dirty="0"/>
              <a:t>similarity between two time series is expressed as the </a:t>
            </a:r>
            <a:r>
              <a:rPr lang="en-US" altLang="zh-TW" dirty="0" smtClean="0"/>
              <a:t>length of </a:t>
            </a:r>
            <a:r>
              <a:rPr lang="en-US" altLang="zh-TW" dirty="0"/>
              <a:t>the longest common subsequence of both time </a:t>
            </a:r>
            <a:r>
              <a:rPr lang="en-US" altLang="zh-TW" dirty="0" smtClean="0"/>
              <a:t>series.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7786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Global Constraints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5" name="Picture 5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57" y="1763184"/>
            <a:ext cx="8135486" cy="4247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484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Evaluation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Datasets:</a:t>
            </a:r>
            <a:br>
              <a:rPr lang="en-US" altLang="zh-TW" dirty="0" smtClean="0"/>
            </a:br>
            <a:r>
              <a:rPr lang="en-US" altLang="zh-TW" dirty="0">
                <a:hlinkClick r:id="rId2"/>
              </a:rPr>
              <a:t>http://www.cs.ucr.edu/~eamonn/time_series_data</a:t>
            </a:r>
            <a:r>
              <a:rPr lang="en-US" altLang="zh-TW" dirty="0" smtClean="0">
                <a:hlinkClick r:id="rId2"/>
              </a:rPr>
              <a:t>/</a:t>
            </a:r>
            <a:endParaRPr lang="en-US" altLang="zh-TW" dirty="0" smtClean="0"/>
          </a:p>
          <a:p>
            <a:r>
              <a:rPr lang="en-US" altLang="zh-TW" dirty="0"/>
              <a:t>Global </a:t>
            </a:r>
            <a:r>
              <a:rPr lang="en-US" altLang="zh-TW" dirty="0" smtClean="0"/>
              <a:t>Constraint: </a:t>
            </a:r>
            <a:r>
              <a:rPr lang="en-US" altLang="zh-TW" dirty="0" err="1"/>
              <a:t>Sakoe</a:t>
            </a:r>
            <a:r>
              <a:rPr lang="en-US" altLang="zh-TW" dirty="0"/>
              <a:t>-Chiba band</a:t>
            </a:r>
            <a:endParaRPr lang="en-US" altLang="zh-TW" dirty="0"/>
          </a:p>
          <a:p>
            <a:r>
              <a:rPr lang="en-US" altLang="zh-TW" dirty="0" smtClean="0"/>
              <a:t>Use 1NN </a:t>
            </a:r>
            <a:r>
              <a:rPr lang="en-US" altLang="zh-TW" dirty="0"/>
              <a:t>classifier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5045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Computational </a:t>
            </a:r>
            <a:r>
              <a:rPr lang="en-US" altLang="zh-TW" dirty="0" smtClean="0"/>
              <a:t>Times (1/2)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0" y="1600200"/>
            <a:ext cx="9063339" cy="313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248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Computational Times </a:t>
            </a:r>
            <a:r>
              <a:rPr lang="en-US" altLang="zh-TW" dirty="0" smtClean="0"/>
              <a:t>(2/2)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3" y="1600200"/>
            <a:ext cx="9042014" cy="318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17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Change of 1NN </a:t>
            </a:r>
            <a:r>
              <a:rPr lang="en-US" altLang="zh-TW" dirty="0" smtClean="0"/>
              <a:t>Graph (1/2)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9" y="1600200"/>
            <a:ext cx="9017642" cy="378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76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Change of 1NN Graph </a:t>
            </a:r>
            <a:r>
              <a:rPr lang="en-US" altLang="zh-TW" dirty="0" smtClean="0"/>
              <a:t>(2/2)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4" y="1600200"/>
            <a:ext cx="9037952" cy="371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4602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龍騰四海">
  <a:themeElements>
    <a:clrScheme name="龍騰四海">
      <a:dk1>
        <a:sysClr val="windowText" lastClr="000000"/>
      </a:dk1>
      <a:lt1>
        <a:sysClr val="window" lastClr="C7EDCC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龍騰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龍騰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TC104033925[[fn=小水滴]]</Template>
  <TotalTime>3450</TotalTime>
  <Words>476</Words>
  <Application>Microsoft Office PowerPoint</Application>
  <PresentationFormat>如螢幕大小 (4:3)</PresentationFormat>
  <Paragraphs>101</Paragraphs>
  <Slides>12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1" baseType="lpstr">
      <vt:lpstr>微軟正黑體</vt:lpstr>
      <vt:lpstr>新細明體</vt:lpstr>
      <vt:lpstr>Arial</vt:lpstr>
      <vt:lpstr>Calibri</vt:lpstr>
      <vt:lpstr>Cambria</vt:lpstr>
      <vt:lpstr>Cambria Math</vt:lpstr>
      <vt:lpstr>Maiandra GD</vt:lpstr>
      <vt:lpstr>Wingdings 2</vt:lpstr>
      <vt:lpstr>龍騰四海</vt:lpstr>
      <vt:lpstr>The Influence of Global Constraints on DTW and LCS Similarity Measures for Time-Series Databases</vt:lpstr>
      <vt:lpstr>Abstract</vt:lpstr>
      <vt:lpstr>Dynamic Time Warping (1/3)</vt:lpstr>
      <vt:lpstr>Dynamic Time Warping (2/3)</vt:lpstr>
      <vt:lpstr>Dynamic Time Warping (3/3)</vt:lpstr>
      <vt:lpstr>DTW V.S LCS</vt:lpstr>
      <vt:lpstr>Global Constraints</vt:lpstr>
      <vt:lpstr>Experimental Evaluation</vt:lpstr>
      <vt:lpstr>Computational Times (1/2)</vt:lpstr>
      <vt:lpstr>Computational Times (2/2)</vt:lpstr>
      <vt:lpstr>The Change of 1NN Graph (1/2)</vt:lpstr>
      <vt:lpstr>The Change of 1NN Graph (2/2)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Longest Common Subsequence Fast Algorithm</dc:title>
  <dc:creator>Ray</dc:creator>
  <cp:lastModifiedBy>Ray</cp:lastModifiedBy>
  <cp:revision>763</cp:revision>
  <dcterms:created xsi:type="dcterms:W3CDTF">2012-09-09T09:37:21Z</dcterms:created>
  <dcterms:modified xsi:type="dcterms:W3CDTF">2013-11-11T06:58:03Z</dcterms:modified>
</cp:coreProperties>
</file>