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7" r:id="rId3"/>
    <p:sldId id="257" r:id="rId4"/>
    <p:sldId id="258" r:id="rId5"/>
    <p:sldId id="266" r:id="rId6"/>
    <p:sldId id="260" r:id="rId7"/>
    <p:sldId id="268" r:id="rId8"/>
    <p:sldId id="261" r:id="rId9"/>
    <p:sldId id="263" r:id="rId10"/>
    <p:sldId id="270" r:id="rId11"/>
    <p:sldId id="269" r:id="rId12"/>
    <p:sldId id="272" r:id="rId13"/>
    <p:sldId id="265"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2DFA7C-69A0-4E48-82AD-301CA4CCF335}" type="datetimeFigureOut">
              <a:rPr lang="zh-TW" altLang="en-US" smtClean="0"/>
              <a:pPr/>
              <a:t>2013/5/14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F94289-4856-4B8C-A0A8-271A51FAF9CA}" type="slidenum">
              <a:rPr lang="zh-TW" altLang="en-US" smtClean="0"/>
              <a:pPr/>
              <a:t>‹#›</a:t>
            </a:fld>
            <a:endParaRPr lang="zh-TW" altLang="en-US"/>
          </a:p>
        </p:txBody>
      </p:sp>
    </p:spTree>
    <p:extLst>
      <p:ext uri="{BB962C8B-B14F-4D97-AF65-F5344CB8AC3E}">
        <p14:creationId xmlns:p14="http://schemas.microsoft.com/office/powerpoint/2010/main" xmlns="" val="2997154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Rhodobacter_sphaeroide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hlinkClick r:id="rId3"/>
              </a:rPr>
              <a:t>http://en.wikipedia.org/wiki/Rhodobacter_sphaeroides</a:t>
            </a:r>
            <a:endParaRPr lang="zh-TW" altLang="en-US" dirty="0"/>
          </a:p>
        </p:txBody>
      </p:sp>
      <p:sp>
        <p:nvSpPr>
          <p:cNvPr id="4" name="投影片編號版面配置區 3"/>
          <p:cNvSpPr>
            <a:spLocks noGrp="1"/>
          </p:cNvSpPr>
          <p:nvPr>
            <p:ph type="sldNum" sz="quarter" idx="10"/>
          </p:nvPr>
        </p:nvSpPr>
        <p:spPr/>
        <p:txBody>
          <a:bodyPr/>
          <a:lstStyle/>
          <a:p>
            <a:fld id="{5CF94289-4856-4B8C-A0A8-271A51FAF9CA}" type="slidenum">
              <a:rPr lang="zh-TW" altLang="en-US" smtClean="0"/>
              <a:pPr/>
              <a:t>9</a:t>
            </a:fld>
            <a:endParaRPr lang="zh-TW" altLang="en-US"/>
          </a:p>
        </p:txBody>
      </p:sp>
    </p:spTree>
    <p:extLst>
      <p:ext uri="{BB962C8B-B14F-4D97-AF65-F5344CB8AC3E}">
        <p14:creationId xmlns:p14="http://schemas.microsoft.com/office/powerpoint/2010/main" xmlns="" val="2921769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Chaff: &lt;200pb</a:t>
            </a:r>
            <a:endParaRPr lang="zh-TW" altLang="en-US" dirty="0"/>
          </a:p>
        </p:txBody>
      </p:sp>
      <p:sp>
        <p:nvSpPr>
          <p:cNvPr id="4" name="投影片編號版面配置區 3"/>
          <p:cNvSpPr>
            <a:spLocks noGrp="1"/>
          </p:cNvSpPr>
          <p:nvPr>
            <p:ph type="sldNum" sz="quarter" idx="10"/>
          </p:nvPr>
        </p:nvSpPr>
        <p:spPr/>
        <p:txBody>
          <a:bodyPr/>
          <a:lstStyle/>
          <a:p>
            <a:fld id="{5CF94289-4856-4B8C-A0A8-271A51FAF9CA}" type="slidenum">
              <a:rPr lang="zh-TW" altLang="en-US" smtClean="0"/>
              <a:pPr/>
              <a:t>10</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4163922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195257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3352746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2284508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3824623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527032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1837911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2546422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4257027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326113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5C2840-A97D-408D-BAAC-99B3502C03CC}" type="datetimeFigureOut">
              <a:rPr lang="zh-TW" altLang="en-US" smtClean="0"/>
              <a:pPr/>
              <a:t>2013/5/14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927945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C2840-A97D-408D-BAAC-99B3502C03CC}" type="datetimeFigureOut">
              <a:rPr lang="zh-TW" altLang="en-US" smtClean="0"/>
              <a:pPr/>
              <a:t>2013/5/14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D05D21-D03B-4B0B-8925-C1F60EECD3B9}" type="slidenum">
              <a:rPr lang="zh-TW" altLang="en-US" smtClean="0"/>
              <a:pPr/>
              <a:t>‹#›</a:t>
            </a:fld>
            <a:endParaRPr lang="zh-TW" altLang="en-US"/>
          </a:p>
        </p:txBody>
      </p:sp>
    </p:spTree>
    <p:extLst>
      <p:ext uri="{BB962C8B-B14F-4D97-AF65-F5344CB8AC3E}">
        <p14:creationId xmlns:p14="http://schemas.microsoft.com/office/powerpoint/2010/main" xmlns="" val="225732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gage.cbcb.umd.edu/"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8062664" cy="1470025"/>
          </a:xfrm>
        </p:spPr>
        <p:txBody>
          <a:bodyPr>
            <a:normAutofit fontScale="90000"/>
          </a:bodyPr>
          <a:lstStyle/>
          <a:p>
            <a:r>
              <a:rPr lang="en-US" altLang="zh-TW" dirty="0"/>
              <a:t>GAGE: A critical evaluation of genome assemblies and assembly algorithms</a:t>
            </a:r>
            <a:endParaRPr lang="zh-TW" altLang="en-US" dirty="0"/>
          </a:p>
        </p:txBody>
      </p:sp>
      <p:sp>
        <p:nvSpPr>
          <p:cNvPr id="3" name="副標題 2"/>
          <p:cNvSpPr>
            <a:spLocks noGrp="1"/>
          </p:cNvSpPr>
          <p:nvPr>
            <p:ph type="subTitle" idx="1"/>
          </p:nvPr>
        </p:nvSpPr>
        <p:spPr>
          <a:xfrm>
            <a:off x="1403648" y="3789040"/>
            <a:ext cx="6400800" cy="1752600"/>
          </a:xfrm>
        </p:spPr>
        <p:txBody>
          <a:bodyPr>
            <a:normAutofit fontScale="62500" lnSpcReduction="20000"/>
          </a:bodyPr>
          <a:lstStyle/>
          <a:p>
            <a:pPr algn="just"/>
            <a:r>
              <a:rPr lang="en-US" altLang="zh-TW" dirty="0"/>
              <a:t>Steven L. </a:t>
            </a:r>
            <a:r>
              <a:rPr lang="en-US" altLang="zh-TW" dirty="0" err="1"/>
              <a:t>Salzberg</a:t>
            </a:r>
            <a:r>
              <a:rPr lang="en-US" altLang="zh-TW" dirty="0"/>
              <a:t>, Adam M. </a:t>
            </a:r>
            <a:r>
              <a:rPr lang="en-US" altLang="zh-TW" dirty="0" err="1"/>
              <a:t>Phillippy</a:t>
            </a:r>
            <a:r>
              <a:rPr lang="en-US" altLang="zh-TW" dirty="0"/>
              <a:t>, Aleksey </a:t>
            </a:r>
            <a:r>
              <a:rPr lang="en-US" altLang="zh-TW" dirty="0" err="1"/>
              <a:t>Zimin</a:t>
            </a:r>
            <a:r>
              <a:rPr lang="en-US" altLang="zh-TW" dirty="0"/>
              <a:t>, Daniela </a:t>
            </a:r>
            <a:r>
              <a:rPr lang="en-US" altLang="zh-TW" dirty="0" err="1"/>
              <a:t>Puiu</a:t>
            </a:r>
            <a:r>
              <a:rPr lang="en-US" altLang="zh-TW" dirty="0"/>
              <a:t>, </a:t>
            </a:r>
            <a:r>
              <a:rPr lang="en-US" altLang="zh-TW" dirty="0" err="1"/>
              <a:t>Tanja</a:t>
            </a:r>
            <a:r>
              <a:rPr lang="en-US" altLang="zh-TW" dirty="0"/>
              <a:t> </a:t>
            </a:r>
            <a:r>
              <a:rPr lang="en-US" altLang="zh-TW" dirty="0" err="1"/>
              <a:t>Magoc</a:t>
            </a:r>
            <a:r>
              <a:rPr lang="en-US" altLang="zh-TW" dirty="0"/>
              <a:t>, Sergey </a:t>
            </a:r>
            <a:r>
              <a:rPr lang="en-US" altLang="zh-TW" dirty="0" err="1"/>
              <a:t>Koren</a:t>
            </a:r>
            <a:r>
              <a:rPr lang="en-US" altLang="zh-TW" dirty="0"/>
              <a:t>, Todd J. </a:t>
            </a:r>
            <a:r>
              <a:rPr lang="en-US" altLang="zh-TW" dirty="0" err="1"/>
              <a:t>Treangen</a:t>
            </a:r>
            <a:r>
              <a:rPr lang="en-US" altLang="zh-TW" dirty="0"/>
              <a:t>, Michael C. Schatz, Arthur L. </a:t>
            </a:r>
            <a:r>
              <a:rPr lang="en-US" altLang="zh-TW" dirty="0" err="1"/>
              <a:t>Delcher</a:t>
            </a:r>
            <a:r>
              <a:rPr lang="en-US" altLang="zh-TW" dirty="0"/>
              <a:t>, Michael Roberts, Guillaume </a:t>
            </a:r>
            <a:r>
              <a:rPr lang="en-US" altLang="zh-TW" dirty="0" err="1"/>
              <a:t>Marcxais</a:t>
            </a:r>
            <a:r>
              <a:rPr lang="en-US" altLang="zh-TW" dirty="0"/>
              <a:t>, </a:t>
            </a:r>
            <a:r>
              <a:rPr lang="en-US" altLang="zh-TW" dirty="0" err="1"/>
              <a:t>Mihai</a:t>
            </a:r>
            <a:r>
              <a:rPr lang="en-US" altLang="zh-TW" dirty="0"/>
              <a:t> Pop, and James A. </a:t>
            </a:r>
            <a:r>
              <a:rPr lang="en-US" altLang="zh-TW" dirty="0" err="1" smtClean="0"/>
              <a:t>Yorke</a:t>
            </a:r>
            <a:endParaRPr lang="en-US" altLang="zh-TW" dirty="0" smtClean="0"/>
          </a:p>
          <a:p>
            <a:r>
              <a:rPr lang="en-US" altLang="zh-TW" dirty="0"/>
              <a:t>Genome Res 2012, 22:557-567</a:t>
            </a:r>
            <a:endParaRPr lang="zh-TW" altLang="en-US" dirty="0"/>
          </a:p>
        </p:txBody>
      </p:sp>
      <p:sp>
        <p:nvSpPr>
          <p:cNvPr id="4" name="文字方塊 3"/>
          <p:cNvSpPr txBox="1"/>
          <p:nvPr/>
        </p:nvSpPr>
        <p:spPr>
          <a:xfrm>
            <a:off x="5292080" y="5517232"/>
            <a:ext cx="3096344" cy="646331"/>
          </a:xfrm>
          <a:prstGeom prst="rect">
            <a:avLst/>
          </a:prstGeom>
          <a:noFill/>
        </p:spPr>
        <p:txBody>
          <a:bodyPr wrap="square" rtlCol="0">
            <a:spAutoFit/>
          </a:bodyPr>
          <a:lstStyle/>
          <a:p>
            <a:r>
              <a:rPr lang="en-US" altLang="zh-TW" dirty="0" smtClean="0"/>
              <a:t>Date:2013/5/7</a:t>
            </a:r>
          </a:p>
          <a:p>
            <a:r>
              <a:rPr lang="en-US" altLang="zh-TW" dirty="0" smtClean="0"/>
              <a:t>Presenter: Cheng-Han Lee</a:t>
            </a:r>
            <a:endParaRPr lang="zh-TW" altLang="en-US" dirty="0"/>
          </a:p>
        </p:txBody>
      </p:sp>
    </p:spTree>
    <p:extLst>
      <p:ext uri="{BB962C8B-B14F-4D97-AF65-F5344CB8AC3E}">
        <p14:creationId xmlns:p14="http://schemas.microsoft.com/office/powerpoint/2010/main" xmlns="" val="4246495255"/>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55000" lnSpcReduction="20000"/>
          </a:bodyPr>
          <a:lstStyle/>
          <a:p>
            <a:pPr marL="0" indent="0" algn="just">
              <a:buNone/>
            </a:pPr>
            <a:r>
              <a:rPr lang="en-US" altLang="zh-TW" dirty="0"/>
              <a:t>New sequencing technology has dramatically altered the landscape of whole-genome sequencing, allowing scientists to initiate numerous projects to decode the genomes of previously </a:t>
            </a:r>
            <a:r>
              <a:rPr lang="en-US" altLang="zh-TW" dirty="0" err="1"/>
              <a:t>unsequenced</a:t>
            </a:r>
            <a:r>
              <a:rPr lang="en-US" altLang="zh-TW" dirty="0"/>
              <a:t> organisms. The lowest-cost technology can generate deep coverage of most species, including mammals, in just a few days. The sequence data generated by one of these projects consist of millions or billions of short DNA sequences (reads) that range from 50 to 150 </a:t>
            </a:r>
            <a:r>
              <a:rPr lang="en-US" altLang="zh-TW" dirty="0" err="1"/>
              <a:t>nt</a:t>
            </a:r>
            <a:r>
              <a:rPr lang="en-US" altLang="zh-TW" dirty="0"/>
              <a:t> in length. These sequences must then be assembled de novo before most genome analyses can begin. Unfortunately, genome assembly remains a very difficult problem, made more difficult by shorter reads and unreliable long-range linking information. In this study, we evaluated several of the leading de novo assembly algorithms on four different short-read data sets, all generated by </a:t>
            </a:r>
            <a:r>
              <a:rPr lang="en-US" altLang="zh-TW" dirty="0" err="1"/>
              <a:t>Illumina</a:t>
            </a:r>
            <a:r>
              <a:rPr lang="en-US" altLang="zh-TW" dirty="0"/>
              <a:t> sequencers. Our results describe the relative performance of the different assemblers as well as other significant differences in assembly difficulty that appear to be inherent in the genomes themselves. Three overarching conclusions are apparent: first, that data quality, rather than the assembler itself, has a dramatic effect on the quality of an assembled genome; second, that the degree of contiguity of an assembly varies enormously among different assemblers and different genomes; and third, that the correctness of an assembly also varies widely and is not well correlated with statistics on contiguity. To enable others to replicate our results, all of our data and methods are freely available, as are all assemblers used in this study.</a:t>
            </a:r>
            <a:endParaRPr lang="zh-TW" altLang="en-US" dirty="0"/>
          </a:p>
        </p:txBody>
      </p:sp>
    </p:spTree>
    <p:extLst>
      <p:ext uri="{BB962C8B-B14F-4D97-AF65-F5344CB8AC3E}">
        <p14:creationId xmlns:p14="http://schemas.microsoft.com/office/powerpoint/2010/main" xmlns="" val="585880224"/>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線接點 12"/>
          <p:cNvCxnSpPr/>
          <p:nvPr/>
        </p:nvCxnSpPr>
        <p:spPr>
          <a:xfrm>
            <a:off x="1393379" y="1988840"/>
            <a:ext cx="640871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5" name="向下箭號 34"/>
          <p:cNvSpPr/>
          <p:nvPr/>
        </p:nvSpPr>
        <p:spPr>
          <a:xfrm>
            <a:off x="4163087" y="2222355"/>
            <a:ext cx="529791"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p:cNvSpPr txBox="1"/>
          <p:nvPr/>
        </p:nvSpPr>
        <p:spPr>
          <a:xfrm>
            <a:off x="395536" y="1844824"/>
            <a:ext cx="792088" cy="369332"/>
          </a:xfrm>
          <a:prstGeom prst="rect">
            <a:avLst/>
          </a:prstGeom>
          <a:noFill/>
        </p:spPr>
        <p:txBody>
          <a:bodyPr wrap="square" rtlCol="0">
            <a:spAutoFit/>
          </a:bodyPr>
          <a:lstStyle/>
          <a:p>
            <a:r>
              <a:rPr lang="en-US" altLang="zh-TW" dirty="0" smtClean="0"/>
              <a:t>DNA</a:t>
            </a:r>
            <a:endParaRPr lang="zh-TW" altLang="en-US" dirty="0"/>
          </a:p>
        </p:txBody>
      </p:sp>
      <p:sp>
        <p:nvSpPr>
          <p:cNvPr id="37" name="文字方塊 36"/>
          <p:cNvSpPr txBox="1"/>
          <p:nvPr/>
        </p:nvSpPr>
        <p:spPr>
          <a:xfrm>
            <a:off x="395536" y="2878410"/>
            <a:ext cx="792088" cy="369332"/>
          </a:xfrm>
          <a:prstGeom prst="rect">
            <a:avLst/>
          </a:prstGeom>
          <a:noFill/>
        </p:spPr>
        <p:txBody>
          <a:bodyPr wrap="square" rtlCol="0">
            <a:spAutoFit/>
          </a:bodyPr>
          <a:lstStyle/>
          <a:p>
            <a:r>
              <a:rPr lang="en-US" altLang="zh-TW" dirty="0" smtClean="0"/>
              <a:t>Reads</a:t>
            </a:r>
            <a:endParaRPr lang="zh-TW" altLang="en-US" dirty="0"/>
          </a:p>
        </p:txBody>
      </p:sp>
      <p:sp>
        <p:nvSpPr>
          <p:cNvPr id="38" name="向下箭號 37"/>
          <p:cNvSpPr/>
          <p:nvPr/>
        </p:nvSpPr>
        <p:spPr>
          <a:xfrm>
            <a:off x="4186225" y="3789040"/>
            <a:ext cx="529791"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6" name="直線接點 45"/>
          <p:cNvCxnSpPr/>
          <p:nvPr/>
        </p:nvCxnSpPr>
        <p:spPr>
          <a:xfrm>
            <a:off x="2823208" y="4725144"/>
            <a:ext cx="124473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a:off x="1393379" y="4725144"/>
            <a:ext cx="118576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2" name="直線接點 61"/>
          <p:cNvCxnSpPr/>
          <p:nvPr/>
        </p:nvCxnSpPr>
        <p:spPr>
          <a:xfrm>
            <a:off x="4597735" y="4725144"/>
            <a:ext cx="318889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向下箭號 66"/>
          <p:cNvSpPr/>
          <p:nvPr/>
        </p:nvSpPr>
        <p:spPr>
          <a:xfrm>
            <a:off x="4203001" y="5157192"/>
            <a:ext cx="529791"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p:cNvSpPr txBox="1"/>
          <p:nvPr/>
        </p:nvSpPr>
        <p:spPr>
          <a:xfrm>
            <a:off x="251520" y="4540478"/>
            <a:ext cx="936104" cy="369332"/>
          </a:xfrm>
          <a:prstGeom prst="rect">
            <a:avLst/>
          </a:prstGeom>
          <a:noFill/>
        </p:spPr>
        <p:txBody>
          <a:bodyPr wrap="square" rtlCol="0">
            <a:spAutoFit/>
          </a:bodyPr>
          <a:lstStyle/>
          <a:p>
            <a:r>
              <a:rPr lang="en-US" altLang="zh-TW" dirty="0" err="1" smtClean="0"/>
              <a:t>Contigs</a:t>
            </a:r>
            <a:endParaRPr lang="zh-TW" altLang="en-US" dirty="0"/>
          </a:p>
        </p:txBody>
      </p:sp>
      <p:cxnSp>
        <p:nvCxnSpPr>
          <p:cNvPr id="69" name="直線接點 68"/>
          <p:cNvCxnSpPr/>
          <p:nvPr/>
        </p:nvCxnSpPr>
        <p:spPr>
          <a:xfrm>
            <a:off x="2848943" y="5980638"/>
            <a:ext cx="124473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0" name="直線接點 69"/>
          <p:cNvCxnSpPr/>
          <p:nvPr/>
        </p:nvCxnSpPr>
        <p:spPr>
          <a:xfrm>
            <a:off x="1419114" y="5980638"/>
            <a:ext cx="118576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a:off x="4597735" y="5980638"/>
            <a:ext cx="32146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2" name="文字方塊 71"/>
          <p:cNvSpPr txBox="1"/>
          <p:nvPr/>
        </p:nvSpPr>
        <p:spPr>
          <a:xfrm>
            <a:off x="277255" y="5795972"/>
            <a:ext cx="1116124" cy="369332"/>
          </a:xfrm>
          <a:prstGeom prst="rect">
            <a:avLst/>
          </a:prstGeom>
          <a:noFill/>
        </p:spPr>
        <p:txBody>
          <a:bodyPr wrap="square" rtlCol="0">
            <a:spAutoFit/>
          </a:bodyPr>
          <a:lstStyle/>
          <a:p>
            <a:r>
              <a:rPr lang="en-US" altLang="zh-TW" dirty="0" smtClean="0"/>
              <a:t>Scaffolds</a:t>
            </a:r>
            <a:endParaRPr lang="zh-TW" altLang="en-US" dirty="0"/>
          </a:p>
        </p:txBody>
      </p:sp>
      <p:cxnSp>
        <p:nvCxnSpPr>
          <p:cNvPr id="74" name="直線接點 73"/>
          <p:cNvCxnSpPr/>
          <p:nvPr/>
        </p:nvCxnSpPr>
        <p:spPr>
          <a:xfrm>
            <a:off x="2604880" y="5980638"/>
            <a:ext cx="24406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直線接點 78"/>
          <p:cNvCxnSpPr/>
          <p:nvPr/>
        </p:nvCxnSpPr>
        <p:spPr>
          <a:xfrm>
            <a:off x="4093679" y="5980638"/>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a:off x="4597735" y="3247742"/>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a:off x="4724268" y="3031617"/>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直線接點 39"/>
          <p:cNvCxnSpPr/>
          <p:nvPr/>
        </p:nvCxnSpPr>
        <p:spPr>
          <a:xfrm>
            <a:off x="5204501" y="2878410"/>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5826838" y="3247742"/>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直線接點 41"/>
          <p:cNvCxnSpPr/>
          <p:nvPr/>
        </p:nvCxnSpPr>
        <p:spPr>
          <a:xfrm>
            <a:off x="6562199" y="3063076"/>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6873368" y="3247742"/>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直線接點 43"/>
          <p:cNvCxnSpPr/>
          <p:nvPr/>
        </p:nvCxnSpPr>
        <p:spPr>
          <a:xfrm>
            <a:off x="7190023" y="2878410"/>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直線接點 44"/>
          <p:cNvCxnSpPr/>
          <p:nvPr/>
        </p:nvCxnSpPr>
        <p:spPr>
          <a:xfrm>
            <a:off x="2987824" y="3247742"/>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7" name="直線接點 46"/>
          <p:cNvCxnSpPr/>
          <p:nvPr/>
        </p:nvCxnSpPr>
        <p:spPr>
          <a:xfrm>
            <a:off x="2848974" y="3029657"/>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直線接點 47"/>
          <p:cNvCxnSpPr/>
          <p:nvPr/>
        </p:nvCxnSpPr>
        <p:spPr>
          <a:xfrm>
            <a:off x="3445607" y="2878410"/>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直線接點 48"/>
          <p:cNvCxnSpPr/>
          <p:nvPr/>
        </p:nvCxnSpPr>
        <p:spPr>
          <a:xfrm>
            <a:off x="6138006" y="2889481"/>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0" name="直線接點 49"/>
          <p:cNvCxnSpPr/>
          <p:nvPr/>
        </p:nvCxnSpPr>
        <p:spPr>
          <a:xfrm>
            <a:off x="1363925" y="3247742"/>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直線接點 51"/>
          <p:cNvCxnSpPr/>
          <p:nvPr/>
        </p:nvCxnSpPr>
        <p:spPr>
          <a:xfrm>
            <a:off x="1565093" y="3031617"/>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3" name="直線接點 52"/>
          <p:cNvCxnSpPr/>
          <p:nvPr/>
        </p:nvCxnSpPr>
        <p:spPr>
          <a:xfrm>
            <a:off x="1956808" y="2878410"/>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5" name="直線接點 54"/>
          <p:cNvCxnSpPr/>
          <p:nvPr/>
        </p:nvCxnSpPr>
        <p:spPr>
          <a:xfrm>
            <a:off x="5582710" y="3063076"/>
            <a:ext cx="62233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標題 1"/>
          <p:cNvSpPr>
            <a:spLocks noGrp="1"/>
          </p:cNvSpPr>
          <p:nvPr>
            <p:ph type="title"/>
          </p:nvPr>
        </p:nvSpPr>
        <p:spPr>
          <a:xfrm>
            <a:off x="457200" y="274638"/>
            <a:ext cx="8229600" cy="1143000"/>
          </a:xfrm>
        </p:spPr>
        <p:txBody>
          <a:bodyPr/>
          <a:lstStyle/>
          <a:p>
            <a:r>
              <a:rPr lang="en-US" altLang="zh-TW" dirty="0" err="1" smtClean="0"/>
              <a:t>Backgroud</a:t>
            </a:r>
            <a:r>
              <a:rPr lang="en-US" altLang="zh-TW" dirty="0" smtClean="0"/>
              <a:t> Knowledge</a:t>
            </a:r>
            <a:endParaRPr lang="zh-TW" altLang="en-US" dirty="0"/>
          </a:p>
        </p:txBody>
      </p:sp>
    </p:spTree>
    <p:extLst>
      <p:ext uri="{BB962C8B-B14F-4D97-AF65-F5344CB8AC3E}">
        <p14:creationId xmlns:p14="http://schemas.microsoft.com/office/powerpoint/2010/main" xmlns="" val="2181907319"/>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N50</a:t>
            </a:r>
            <a:endParaRPr lang="zh-TW" altLang="en-US" dirty="0"/>
          </a:p>
        </p:txBody>
      </p:sp>
      <p:sp>
        <p:nvSpPr>
          <p:cNvPr id="3" name="內容版面配置區 2"/>
          <p:cNvSpPr>
            <a:spLocks noGrp="1"/>
          </p:cNvSpPr>
          <p:nvPr>
            <p:ph idx="1"/>
          </p:nvPr>
        </p:nvSpPr>
        <p:spPr/>
        <p:txBody>
          <a:bodyPr>
            <a:normAutofit/>
          </a:bodyPr>
          <a:lstStyle/>
          <a:p>
            <a:r>
              <a:rPr lang="en-US" altLang="zh-TW" sz="2400" dirty="0" smtClean="0"/>
              <a:t>50 </a:t>
            </a:r>
            <a:r>
              <a:rPr lang="zh-TW" altLang="en-US" sz="2400" dirty="0" smtClean="0"/>
              <a:t>指的是</a:t>
            </a:r>
            <a:r>
              <a:rPr lang="en-US" altLang="zh-TW" sz="2400" dirty="0" smtClean="0"/>
              <a:t>50%</a:t>
            </a:r>
          </a:p>
          <a:p>
            <a:r>
              <a:rPr lang="en-US" altLang="zh-TW" sz="2400" dirty="0" err="1"/>
              <a:t>Contigs</a:t>
            </a:r>
            <a:r>
              <a:rPr lang="en-US" altLang="zh-TW" sz="2400" dirty="0"/>
              <a:t>/Scaffolds</a:t>
            </a:r>
            <a:r>
              <a:rPr lang="zh-TW" altLang="en-US" sz="2400" dirty="0" smtClean="0"/>
              <a:t>排序後由最長的開始累加，直到長度超過總長的</a:t>
            </a:r>
            <a:r>
              <a:rPr lang="en-US" altLang="zh-TW" sz="2400" dirty="0" smtClean="0"/>
              <a:t>50%</a:t>
            </a:r>
            <a:r>
              <a:rPr lang="zh-TW" altLang="en-US" sz="2400" dirty="0" smtClean="0"/>
              <a:t>。跨越</a:t>
            </a:r>
            <a:r>
              <a:rPr lang="en-US" altLang="zh-TW" sz="2400" dirty="0"/>
              <a:t>50%</a:t>
            </a:r>
            <a:r>
              <a:rPr lang="zh-TW" altLang="en-US" sz="2400" dirty="0" smtClean="0"/>
              <a:t>門檻值的長度即為</a:t>
            </a:r>
            <a:r>
              <a:rPr lang="en-US" altLang="zh-TW" sz="2400" dirty="0" smtClean="0"/>
              <a:t>N50</a:t>
            </a:r>
            <a:r>
              <a:rPr lang="zh-TW" altLang="en-US" sz="2400" dirty="0" smtClean="0"/>
              <a:t>的值。</a:t>
            </a:r>
            <a:endParaRPr lang="en-US" altLang="zh-TW" sz="2400" dirty="0" smtClean="0"/>
          </a:p>
          <a:p>
            <a:pPr lvl="1"/>
            <a:r>
              <a:rPr lang="en-US" altLang="zh-TW" sz="2000" dirty="0" smtClean="0"/>
              <a:t>EX:</a:t>
            </a:r>
            <a:r>
              <a:rPr lang="zh-TW" altLang="en-US" sz="2000" dirty="0" smtClean="0"/>
              <a:t> </a:t>
            </a:r>
            <a:r>
              <a:rPr lang="en-US" altLang="zh-TW" sz="2000" dirty="0" err="1" smtClean="0"/>
              <a:t>Contigs</a:t>
            </a:r>
            <a:r>
              <a:rPr lang="en-US" altLang="zh-TW" sz="2000" dirty="0" smtClean="0"/>
              <a:t>:</a:t>
            </a:r>
            <a:r>
              <a:rPr lang="zh-TW" altLang="en-US" sz="2000" dirty="0" smtClean="0"/>
              <a:t> </a:t>
            </a:r>
            <a:r>
              <a:rPr lang="en-US" altLang="zh-TW" sz="2000" dirty="0" smtClean="0"/>
              <a:t>200K, 160K, 140K, 80K, 60K, 50K, 30K, 20K, 10K</a:t>
            </a:r>
          </a:p>
          <a:p>
            <a:pPr lvl="1"/>
            <a:r>
              <a:rPr lang="en-US" altLang="zh-TW" sz="2000" dirty="0" smtClean="0"/>
              <a:t>Total length = 750K</a:t>
            </a:r>
          </a:p>
          <a:p>
            <a:pPr lvl="1"/>
            <a:r>
              <a:rPr lang="en-US" altLang="zh-TW" sz="2000" dirty="0" smtClean="0"/>
              <a:t>(200+160+</a:t>
            </a:r>
            <a:r>
              <a:rPr lang="en-US" altLang="zh-TW" sz="2000" dirty="0" smtClean="0">
                <a:solidFill>
                  <a:srgbClr val="FF0000"/>
                </a:solidFill>
              </a:rPr>
              <a:t>140</a:t>
            </a:r>
            <a:r>
              <a:rPr lang="en-US" altLang="zh-TW" sz="2000" dirty="0" smtClean="0"/>
              <a:t>)K &gt; 750K*50% --&gt; N50 = 140K</a:t>
            </a:r>
            <a:endParaRPr lang="en-US" altLang="zh-TW" sz="2000" dirty="0"/>
          </a:p>
          <a:p>
            <a:endParaRPr lang="en-US" altLang="zh-TW" sz="2400" dirty="0" smtClean="0"/>
          </a:p>
          <a:p>
            <a:r>
              <a:rPr lang="zh-TW" altLang="en-US" sz="2400" dirty="0"/>
              <a:t>是</a:t>
            </a:r>
            <a:r>
              <a:rPr lang="zh-TW" altLang="en-US" sz="2400" dirty="0" smtClean="0"/>
              <a:t>一種評估重組過後序列好壞的參考</a:t>
            </a:r>
            <a:r>
              <a:rPr lang="en-US" altLang="zh-TW" sz="2400" dirty="0" smtClean="0"/>
              <a:t>(</a:t>
            </a:r>
            <a:r>
              <a:rPr lang="zh-TW" altLang="en-US" sz="2400" dirty="0" smtClean="0"/>
              <a:t>越長越好</a:t>
            </a:r>
            <a:r>
              <a:rPr lang="en-US" altLang="zh-TW" sz="2400" dirty="0" smtClean="0"/>
              <a:t>)</a:t>
            </a:r>
            <a:endParaRPr lang="zh-TW" altLang="en-US" sz="2400" dirty="0"/>
          </a:p>
        </p:txBody>
      </p:sp>
    </p:spTree>
    <p:extLst>
      <p:ext uri="{BB962C8B-B14F-4D97-AF65-F5344CB8AC3E}">
        <p14:creationId xmlns:p14="http://schemas.microsoft.com/office/powerpoint/2010/main" xmlns="" val="2576623709"/>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GAGE</a:t>
            </a:r>
            <a:endParaRPr lang="zh-TW" altLang="en-US" dirty="0"/>
          </a:p>
        </p:txBody>
      </p:sp>
      <p:pic>
        <p:nvPicPr>
          <p:cNvPr id="1026" name="Picture 2" descr="http://gage.cbcb.umd.edu/images/gagelogo.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71600" y="1729928"/>
            <a:ext cx="6768752" cy="3300906"/>
          </a:xfrm>
          <a:prstGeom prst="rect">
            <a:avLst/>
          </a:prstGeom>
          <a:noFill/>
          <a:extLst>
            <a:ext uri="{909E8E84-426E-40DD-AFC4-6F175D3DCCD1}">
              <a14:hiddenFill xmlns:a14="http://schemas.microsoft.com/office/drawing/2010/main" xmlns="">
                <a:solidFill>
                  <a:srgbClr val="FFFFFF"/>
                </a:solidFill>
              </a14:hiddenFill>
            </a:ext>
          </a:extLst>
        </p:spPr>
      </p:pic>
      <p:sp>
        <p:nvSpPr>
          <p:cNvPr id="4" name="文字方塊 3"/>
          <p:cNvSpPr txBox="1"/>
          <p:nvPr/>
        </p:nvSpPr>
        <p:spPr>
          <a:xfrm>
            <a:off x="996562" y="5333730"/>
            <a:ext cx="6408712" cy="369332"/>
          </a:xfrm>
          <a:prstGeom prst="rect">
            <a:avLst/>
          </a:prstGeom>
          <a:noFill/>
        </p:spPr>
        <p:txBody>
          <a:bodyPr wrap="square" rtlCol="0">
            <a:spAutoFit/>
          </a:bodyPr>
          <a:lstStyle/>
          <a:p>
            <a:r>
              <a:rPr lang="en-US" altLang="zh-TW" dirty="0">
                <a:hlinkClick r:id="rId3"/>
              </a:rPr>
              <a:t>http://gage.cbcb.umd.edu/</a:t>
            </a:r>
            <a:endParaRPr lang="zh-TW" altLang="en-US" dirty="0"/>
          </a:p>
        </p:txBody>
      </p:sp>
    </p:spTree>
    <p:extLst>
      <p:ext uri="{BB962C8B-B14F-4D97-AF65-F5344CB8AC3E}">
        <p14:creationId xmlns:p14="http://schemas.microsoft.com/office/powerpoint/2010/main" xmlns="" val="1888993376"/>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Assemblers</a:t>
            </a:r>
            <a:endParaRPr lang="zh-TW" altLang="en-US" dirty="0"/>
          </a:p>
        </p:txBody>
      </p:sp>
      <p:sp>
        <p:nvSpPr>
          <p:cNvPr id="3" name="內容版面配置區 2"/>
          <p:cNvSpPr>
            <a:spLocks noGrp="1"/>
          </p:cNvSpPr>
          <p:nvPr>
            <p:ph idx="1"/>
          </p:nvPr>
        </p:nvSpPr>
        <p:spPr/>
        <p:txBody>
          <a:bodyPr>
            <a:normAutofit lnSpcReduction="10000"/>
          </a:bodyPr>
          <a:lstStyle/>
          <a:p>
            <a:pPr marL="0" indent="0">
              <a:buNone/>
            </a:pPr>
            <a:r>
              <a:rPr lang="en-US" altLang="zh-TW" dirty="0"/>
              <a:t>• </a:t>
            </a:r>
            <a:r>
              <a:rPr lang="en-US" altLang="zh-TW" dirty="0" err="1" smtClean="0"/>
              <a:t>ABySS</a:t>
            </a:r>
            <a:endParaRPr lang="en-US" altLang="zh-TW" dirty="0" smtClean="0"/>
          </a:p>
          <a:p>
            <a:pPr marL="0" indent="0">
              <a:buNone/>
            </a:pPr>
            <a:r>
              <a:rPr lang="en-US" altLang="zh-TW" dirty="0" smtClean="0"/>
              <a:t>• ALLPATHS-LG</a:t>
            </a:r>
            <a:endParaRPr lang="en-US" altLang="zh-TW" dirty="0"/>
          </a:p>
          <a:p>
            <a:pPr marL="0" indent="0">
              <a:buNone/>
            </a:pPr>
            <a:r>
              <a:rPr lang="en-US" altLang="zh-TW" dirty="0"/>
              <a:t>• </a:t>
            </a:r>
            <a:r>
              <a:rPr lang="en-US" altLang="zh-TW" dirty="0" smtClean="0"/>
              <a:t>Bambus2</a:t>
            </a:r>
          </a:p>
          <a:p>
            <a:pPr marL="0" indent="0">
              <a:buNone/>
            </a:pPr>
            <a:r>
              <a:rPr lang="en-US" altLang="zh-TW" dirty="0" smtClean="0"/>
              <a:t>• CABOG</a:t>
            </a:r>
          </a:p>
          <a:p>
            <a:pPr marL="0" indent="0">
              <a:buNone/>
            </a:pPr>
            <a:r>
              <a:rPr lang="en-US" altLang="zh-TW" dirty="0" smtClean="0"/>
              <a:t>• MSR-CA</a:t>
            </a:r>
          </a:p>
          <a:p>
            <a:pPr marL="0" indent="0">
              <a:buNone/>
            </a:pPr>
            <a:r>
              <a:rPr lang="en-US" altLang="zh-TW" dirty="0" smtClean="0"/>
              <a:t>• SGA</a:t>
            </a:r>
          </a:p>
          <a:p>
            <a:pPr marL="0" indent="0">
              <a:buNone/>
            </a:pPr>
            <a:r>
              <a:rPr lang="en-US" altLang="zh-TW" dirty="0" smtClean="0"/>
              <a:t>• </a:t>
            </a:r>
            <a:r>
              <a:rPr lang="en-US" altLang="zh-TW" dirty="0" err="1" smtClean="0"/>
              <a:t>SOAPdenovo</a:t>
            </a:r>
            <a:endParaRPr lang="en-US" altLang="zh-TW" dirty="0"/>
          </a:p>
          <a:p>
            <a:pPr marL="0" indent="0">
              <a:buNone/>
            </a:pPr>
            <a:r>
              <a:rPr lang="en-US" altLang="zh-TW" dirty="0" smtClean="0"/>
              <a:t>• Velvet</a:t>
            </a:r>
            <a:endParaRPr lang="zh-TW" altLang="en-US" dirty="0"/>
          </a:p>
        </p:txBody>
      </p:sp>
    </p:spTree>
    <p:extLst>
      <p:ext uri="{BB962C8B-B14F-4D97-AF65-F5344CB8AC3E}">
        <p14:creationId xmlns:p14="http://schemas.microsoft.com/office/powerpoint/2010/main" xmlns="" val="234890637"/>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Data</a:t>
            </a:r>
            <a:endParaRPr lang="zh-TW" altLang="en-US" dirty="0"/>
          </a:p>
        </p:txBody>
      </p:sp>
      <p:sp>
        <p:nvSpPr>
          <p:cNvPr id="3" name="內容版面配置區 2"/>
          <p:cNvSpPr>
            <a:spLocks noGrp="1"/>
          </p:cNvSpPr>
          <p:nvPr>
            <p:ph idx="1"/>
          </p:nvPr>
        </p:nvSpPr>
        <p:spPr/>
        <p:txBody>
          <a:bodyPr/>
          <a:lstStyle/>
          <a:p>
            <a:r>
              <a:rPr lang="en-US" altLang="zh-TW" i="1" dirty="0"/>
              <a:t>Staphylococcus </a:t>
            </a:r>
            <a:r>
              <a:rPr lang="en-US" altLang="zh-TW" i="1" dirty="0" err="1" smtClean="0"/>
              <a:t>aureus</a:t>
            </a:r>
            <a:r>
              <a:rPr lang="en-US" altLang="zh-TW" i="1" dirty="0" smtClean="0"/>
              <a:t> </a:t>
            </a:r>
            <a:r>
              <a:rPr lang="en-US" altLang="zh-TW" dirty="0" smtClean="0"/>
              <a:t>(</a:t>
            </a:r>
            <a:r>
              <a:rPr lang="zh-TW" altLang="en-US" dirty="0"/>
              <a:t>金黃色葡萄球菌</a:t>
            </a:r>
            <a:r>
              <a:rPr lang="en-US" altLang="zh-TW" dirty="0" smtClean="0"/>
              <a:t>)</a:t>
            </a:r>
          </a:p>
          <a:p>
            <a:r>
              <a:rPr lang="en-US" altLang="zh-TW" i="1" dirty="0" err="1"/>
              <a:t>Rhodobacter</a:t>
            </a:r>
            <a:r>
              <a:rPr lang="en-US" altLang="zh-TW" i="1" dirty="0"/>
              <a:t> </a:t>
            </a:r>
            <a:r>
              <a:rPr lang="en-US" altLang="zh-TW" i="1" dirty="0" err="1" smtClean="0"/>
              <a:t>sphaeroides</a:t>
            </a:r>
            <a:r>
              <a:rPr lang="en-US" altLang="zh-TW" i="1" dirty="0" smtClean="0"/>
              <a:t> </a:t>
            </a:r>
            <a:r>
              <a:rPr lang="en-US" altLang="zh-TW" dirty="0" smtClean="0"/>
              <a:t>(</a:t>
            </a:r>
            <a:r>
              <a:rPr lang="zh-TW" altLang="en-US" dirty="0" smtClean="0"/>
              <a:t>某種菌類</a:t>
            </a:r>
            <a:r>
              <a:rPr lang="en-US" altLang="zh-TW" dirty="0" smtClean="0"/>
              <a:t>)</a:t>
            </a:r>
          </a:p>
          <a:p>
            <a:r>
              <a:rPr lang="en-US" altLang="zh-TW" dirty="0"/>
              <a:t>Human </a:t>
            </a:r>
            <a:r>
              <a:rPr lang="en-US" altLang="zh-TW" dirty="0" smtClean="0"/>
              <a:t>(chromosome </a:t>
            </a:r>
            <a:r>
              <a:rPr lang="en-US" altLang="zh-TW" dirty="0"/>
              <a:t>14</a:t>
            </a:r>
            <a:r>
              <a:rPr lang="en-US" altLang="zh-TW" dirty="0" smtClean="0"/>
              <a:t>)</a:t>
            </a:r>
          </a:p>
          <a:p>
            <a:r>
              <a:rPr lang="en-US" altLang="zh-TW" i="1" dirty="0" err="1">
                <a:solidFill>
                  <a:schemeClr val="bg1">
                    <a:lumMod val="75000"/>
                  </a:schemeClr>
                </a:solidFill>
              </a:rPr>
              <a:t>Bombus</a:t>
            </a:r>
            <a:r>
              <a:rPr lang="en-US" altLang="zh-TW" i="1" dirty="0">
                <a:solidFill>
                  <a:schemeClr val="bg1">
                    <a:lumMod val="75000"/>
                  </a:schemeClr>
                </a:solidFill>
              </a:rPr>
              <a:t> impatiens</a:t>
            </a:r>
            <a:r>
              <a:rPr lang="en-US" altLang="zh-TW" dirty="0">
                <a:solidFill>
                  <a:schemeClr val="bg1">
                    <a:lumMod val="75000"/>
                  </a:schemeClr>
                </a:solidFill>
              </a:rPr>
              <a:t> (a species of bee)</a:t>
            </a:r>
            <a:endParaRPr lang="zh-TW" altLang="en-US" dirty="0">
              <a:solidFill>
                <a:schemeClr val="bg1">
                  <a:lumMod val="75000"/>
                </a:schemeClr>
              </a:solidFill>
            </a:endParaRPr>
          </a:p>
        </p:txBody>
      </p:sp>
    </p:spTree>
    <p:extLst>
      <p:ext uri="{BB962C8B-B14F-4D97-AF65-F5344CB8AC3E}">
        <p14:creationId xmlns:p14="http://schemas.microsoft.com/office/powerpoint/2010/main" xmlns="" val="1524435351"/>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1560" y="1052736"/>
            <a:ext cx="7995205" cy="512345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81154059"/>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95536" y="2691715"/>
            <a:ext cx="8083373" cy="21054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21642" y="4765259"/>
            <a:ext cx="8110798" cy="21201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098" name="Picture 2"/>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395536" y="119557"/>
            <a:ext cx="7992888" cy="25893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967596901"/>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96146" y="764704"/>
            <a:ext cx="8940350" cy="560993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399749010"/>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1560" y="980728"/>
            <a:ext cx="7848872" cy="528056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081753208"/>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38213" y="95250"/>
            <a:ext cx="7267575" cy="66675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273631274"/>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p:cNvSpPr txBox="1"/>
          <p:nvPr/>
        </p:nvSpPr>
        <p:spPr>
          <a:xfrm>
            <a:off x="1751991" y="2928719"/>
            <a:ext cx="5112568" cy="1015663"/>
          </a:xfrm>
          <a:prstGeom prst="rect">
            <a:avLst/>
          </a:prstGeom>
          <a:noFill/>
        </p:spPr>
        <p:txBody>
          <a:bodyPr wrap="square" rtlCol="0">
            <a:spAutoFit/>
          </a:bodyPr>
          <a:lstStyle/>
          <a:p>
            <a:pPr algn="ctr"/>
            <a:r>
              <a:rPr lang="en-US" altLang="zh-TW" sz="6000" dirty="0" smtClean="0"/>
              <a:t>THE</a:t>
            </a:r>
            <a:r>
              <a:rPr lang="zh-TW" altLang="en-US" sz="6000" dirty="0" smtClean="0"/>
              <a:t> </a:t>
            </a:r>
            <a:r>
              <a:rPr lang="en-US" altLang="zh-TW" sz="6000" dirty="0" smtClean="0"/>
              <a:t>END</a:t>
            </a:r>
            <a:endParaRPr lang="zh-TW" altLang="en-US" sz="6000" dirty="0"/>
          </a:p>
        </p:txBody>
      </p:sp>
    </p:spTree>
    <p:extLst>
      <p:ext uri="{BB962C8B-B14F-4D97-AF65-F5344CB8AC3E}">
        <p14:creationId xmlns:p14="http://schemas.microsoft.com/office/powerpoint/2010/main" xmlns="" val="3379784071"/>
      </p:ext>
    </p:extLst>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470</TotalTime>
  <Words>489</Words>
  <Application>Microsoft Office PowerPoint</Application>
  <PresentationFormat>如螢幕大小 (4:3)</PresentationFormat>
  <Paragraphs>41</Paragraphs>
  <Slides>13</Slides>
  <Notes>2</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GAGE: A critical evaluation of genome assemblies and assembly algorithms</vt:lpstr>
      <vt:lpstr>Abstract</vt:lpstr>
      <vt:lpstr>Backgroud Knowledge</vt:lpstr>
      <vt:lpstr>N50</vt:lpstr>
      <vt:lpstr>GAGE</vt:lpstr>
      <vt:lpstr>Assemblers</vt:lpstr>
      <vt:lpstr>Data</vt:lpstr>
      <vt:lpstr>投影片 8</vt:lpstr>
      <vt:lpstr>投影片 9</vt:lpstr>
      <vt:lpstr>投影片 10</vt:lpstr>
      <vt:lpstr>投影片 11</vt:lpstr>
      <vt:lpstr>投影片 12</vt:lpstr>
      <vt:lpstr>投影片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LCH</dc:creator>
  <cp:lastModifiedBy>admin</cp:lastModifiedBy>
  <cp:revision>35</cp:revision>
  <dcterms:created xsi:type="dcterms:W3CDTF">2013-05-07T06:45:22Z</dcterms:created>
  <dcterms:modified xsi:type="dcterms:W3CDTF">2013-05-14T11:49:53Z</dcterms:modified>
</cp:coreProperties>
</file>