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4" r:id="rId12"/>
    <p:sldId id="283" r:id="rId13"/>
    <p:sldId id="274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B5FB0-B2ED-4E2F-A013-0D3834BF9D53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BEB50-B6E3-41E8-9C6B-A4F8CEE232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39020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8B1FC-FDBC-4A60-9939-D6110C3C3CB7}" type="datetime1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5AA8-C17B-49C4-9F55-79A4DAFC847E}" type="datetime1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A96A-FC63-4C61-823C-3BD62C2E28B8}" type="datetime1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E92E-2B9A-487F-B01B-5FE56D55C6C1}" type="datetime1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6AAC1-9B63-4666-BB23-344CDF124E62}" type="datetime1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E3BB-9CDE-4D13-BBDA-DD98F9CE892D}" type="datetime1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52AD6-3F5F-4500-A699-DD6F81763D72}" type="datetime1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736-A346-4BC7-ADE5-4A3C96BA101E}" type="datetime1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9B9C-E24F-4392-968F-01188351DEFA}" type="datetime1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5204-8C53-4A42-8B7A-D264FC744199}" type="datetime1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2D6C-28E0-4D29-AD77-CD7D08B3F689}" type="datetime1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B5500-5665-4D2C-81B6-CB06C0A843FE}" type="datetime1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170080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zh-TW" b="1" dirty="0"/>
              <a:t>Computing Common Intervals of </a:t>
            </a:r>
            <a:r>
              <a:rPr lang="en-US" altLang="zh-TW" b="1" i="1" dirty="0"/>
              <a:t>K</a:t>
            </a:r>
            <a:br>
              <a:rPr lang="en-US" altLang="zh-TW" b="1" i="1" dirty="0"/>
            </a:br>
            <a:r>
              <a:rPr lang="en-US" altLang="zh-TW" b="1" dirty="0"/>
              <a:t>Permutations, with Applications to</a:t>
            </a:r>
            <a:br>
              <a:rPr lang="en-US" altLang="zh-TW" b="1" dirty="0"/>
            </a:br>
            <a:r>
              <a:rPr lang="en-US" altLang="zh-TW" b="1" dirty="0"/>
              <a:t>Modular Decomposition of Graphs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03648" y="3501008"/>
            <a:ext cx="6400800" cy="1752600"/>
          </a:xfrm>
        </p:spPr>
        <p:txBody>
          <a:bodyPr>
            <a:normAutofit fontScale="85000" lnSpcReduction="20000"/>
          </a:bodyPr>
          <a:lstStyle/>
          <a:p>
            <a:r>
              <a:rPr lang="fr-FR" altLang="zh-TW" sz="1800" dirty="0">
                <a:solidFill>
                  <a:schemeClr val="tx1"/>
                </a:solidFill>
              </a:rPr>
              <a:t>Anne Bergeron</a:t>
            </a:r>
            <a:r>
              <a:rPr lang="fr-FR" altLang="zh-TW" sz="1800" baseline="30000" dirty="0">
                <a:solidFill>
                  <a:schemeClr val="tx1"/>
                </a:solidFill>
              </a:rPr>
              <a:t>1</a:t>
            </a:r>
            <a:r>
              <a:rPr lang="fr-FR" altLang="zh-TW" sz="1800" dirty="0">
                <a:solidFill>
                  <a:schemeClr val="tx1"/>
                </a:solidFill>
              </a:rPr>
              <a:t>, Cedric Chauve</a:t>
            </a:r>
            <a:r>
              <a:rPr lang="fr-FR" altLang="zh-TW" sz="1800" baseline="30000" dirty="0">
                <a:solidFill>
                  <a:schemeClr val="tx1"/>
                </a:solidFill>
              </a:rPr>
              <a:t>1</a:t>
            </a:r>
            <a:r>
              <a:rPr lang="fr-FR" altLang="zh-TW" sz="1800" dirty="0">
                <a:solidFill>
                  <a:schemeClr val="tx1"/>
                </a:solidFill>
              </a:rPr>
              <a:t>, Fabien de Montgolfier</a:t>
            </a:r>
            <a:r>
              <a:rPr lang="fr-FR" altLang="zh-TW" sz="1800" baseline="30000" dirty="0">
                <a:solidFill>
                  <a:schemeClr val="tx1"/>
                </a:solidFill>
              </a:rPr>
              <a:t>2</a:t>
            </a:r>
            <a:r>
              <a:rPr lang="fr-FR" altLang="zh-TW" sz="1800" dirty="0">
                <a:solidFill>
                  <a:schemeClr val="tx1"/>
                </a:solidFill>
              </a:rPr>
              <a:t>,</a:t>
            </a:r>
          </a:p>
          <a:p>
            <a:r>
              <a:rPr lang="en-US" altLang="zh-TW" sz="1800" dirty="0">
                <a:solidFill>
                  <a:schemeClr val="tx1"/>
                </a:solidFill>
              </a:rPr>
              <a:t>and Mathieu </a:t>
            </a:r>
            <a:r>
              <a:rPr lang="en-US" altLang="zh-TW" sz="1800" dirty="0" smtClean="0">
                <a:solidFill>
                  <a:schemeClr val="tx1"/>
                </a:solidFill>
              </a:rPr>
              <a:t>Raffinot</a:t>
            </a:r>
            <a:r>
              <a:rPr lang="en-US" altLang="zh-TW" sz="1800" baseline="30000" dirty="0" smtClean="0">
                <a:solidFill>
                  <a:schemeClr val="tx1"/>
                </a:solidFill>
              </a:rPr>
              <a:t>3</a:t>
            </a:r>
          </a:p>
          <a:p>
            <a:r>
              <a:rPr lang="en-US" sz="1800" dirty="0" smtClean="0">
                <a:solidFill>
                  <a:schemeClr val="tx1"/>
                </a:solidFill>
              </a:rPr>
              <a:t>Proc. 13th Annual European Symposium on Algorithms, in Lecture Notes in </a:t>
            </a:r>
            <a:r>
              <a:rPr lang="en-US" sz="1800" dirty="0" err="1" smtClean="0">
                <a:solidFill>
                  <a:schemeClr val="tx1"/>
                </a:solidFill>
              </a:rPr>
              <a:t>Comput</a:t>
            </a:r>
            <a:r>
              <a:rPr lang="en-US" sz="1800" dirty="0" smtClean="0">
                <a:solidFill>
                  <a:schemeClr val="tx1"/>
                </a:solidFill>
              </a:rPr>
              <a:t>. </a:t>
            </a:r>
            <a:r>
              <a:rPr lang="en-US" sz="1800" dirty="0" err="1" smtClean="0">
                <a:solidFill>
                  <a:schemeClr val="tx1"/>
                </a:solidFill>
              </a:rPr>
              <a:t>Sci</a:t>
            </a:r>
            <a:endParaRPr lang="en-US" altLang="zh-TW" sz="1800" b="1" baseline="30000" dirty="0" smtClean="0">
              <a:solidFill>
                <a:schemeClr val="tx1"/>
              </a:solidFill>
            </a:endParaRPr>
          </a:p>
          <a:p>
            <a:r>
              <a:rPr lang="en-US" altLang="zh-TW" sz="1800" dirty="0" smtClean="0">
                <a:solidFill>
                  <a:schemeClr val="tx1"/>
                </a:solidFill>
              </a:rPr>
              <a:t>LNCS 3669, pp. 779–790</a:t>
            </a:r>
            <a:r>
              <a:rPr lang="fr-FR" altLang="zh-TW" sz="1800" dirty="0" smtClean="0">
                <a:solidFill>
                  <a:schemeClr val="tx1"/>
                </a:solidFill>
              </a:rPr>
              <a:t>, 2005.</a:t>
            </a:r>
          </a:p>
          <a:p>
            <a:r>
              <a:rPr lang="fr-FR" altLang="zh-TW" sz="1800" dirty="0" smtClean="0">
                <a:solidFill>
                  <a:schemeClr val="tx1"/>
                </a:solidFill>
              </a:rPr>
              <a:t>Presenter</a:t>
            </a:r>
            <a:r>
              <a:rPr lang="fr-FR" altLang="zh-TW" sz="1800" dirty="0">
                <a:solidFill>
                  <a:schemeClr val="tx1"/>
                </a:solidFill>
              </a:rPr>
              <a:t>: </a:t>
            </a:r>
            <a:r>
              <a:rPr lang="zh-TW" altLang="en-US" sz="1800" dirty="0">
                <a:solidFill>
                  <a:schemeClr val="tx1"/>
                </a:solidFill>
              </a:rPr>
              <a:t>許竣傑</a:t>
            </a:r>
            <a:endParaRPr lang="en-US" altLang="zh-TW" sz="1800" dirty="0">
              <a:solidFill>
                <a:schemeClr val="tx1"/>
              </a:solidFill>
            </a:endParaRPr>
          </a:p>
          <a:p>
            <a:r>
              <a:rPr lang="fr-FR" altLang="zh-TW" sz="1800" dirty="0" smtClean="0">
                <a:solidFill>
                  <a:schemeClr val="tx1"/>
                </a:solidFill>
              </a:rPr>
              <a:t>2013/5/14</a:t>
            </a:r>
            <a:endParaRPr lang="zh-TW" altLang="en-US" sz="1800" dirty="0">
              <a:solidFill>
                <a:schemeClr val="tx1"/>
              </a:solidFill>
            </a:endParaRPr>
          </a:p>
          <a:p>
            <a:endParaRPr lang="it-IT" altLang="zh-TW" sz="1800" dirty="0" smtClean="0"/>
          </a:p>
          <a:p>
            <a:endParaRPr lang="it-IT" altLang="zh-TW" sz="1800" dirty="0"/>
          </a:p>
          <a:p>
            <a:endParaRPr lang="zh-TW" altLang="en-US" sz="180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45602795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We </a:t>
            </a:r>
            <a:r>
              <a:rPr lang="en-US" altLang="zh-TW" dirty="0"/>
              <a:t>introduce a new way to compute common intervals of </a:t>
            </a:r>
            <a:r>
              <a:rPr lang="en-US" altLang="zh-TW" i="1" dirty="0" smtClean="0"/>
              <a:t>K </a:t>
            </a:r>
            <a:r>
              <a:rPr lang="en-US" altLang="zh-TW" dirty="0" smtClean="0"/>
              <a:t>permutations </a:t>
            </a:r>
            <a:r>
              <a:rPr lang="en-US" altLang="zh-TW" dirty="0"/>
              <a:t>based on a very simple and general notion of generators </a:t>
            </a:r>
            <a:r>
              <a:rPr lang="en-US" altLang="zh-TW" dirty="0" smtClean="0"/>
              <a:t>of common </a:t>
            </a:r>
            <a:r>
              <a:rPr lang="en-US" altLang="zh-TW" dirty="0"/>
              <a:t>intervals. This formalism leads to simple and efficient </a:t>
            </a:r>
            <a:r>
              <a:rPr lang="en-US" altLang="zh-TW" dirty="0" smtClean="0"/>
              <a:t>algorithms to </a:t>
            </a:r>
            <a:r>
              <a:rPr lang="en-US" altLang="zh-TW" dirty="0"/>
              <a:t>compute the set of all common intervals of </a:t>
            </a:r>
            <a:r>
              <a:rPr lang="en-US" altLang="zh-TW" i="1" dirty="0"/>
              <a:t>K </a:t>
            </a:r>
            <a:r>
              <a:rPr lang="en-US" altLang="zh-TW" dirty="0"/>
              <a:t>permutations, that </a:t>
            </a:r>
            <a:r>
              <a:rPr lang="en-US" altLang="zh-TW" dirty="0" smtClean="0"/>
              <a:t>can contain </a:t>
            </a:r>
            <a:r>
              <a:rPr lang="en-US" altLang="zh-TW" dirty="0"/>
              <a:t>a quadratic number of intervals, as well as a linear space </a:t>
            </a:r>
            <a:r>
              <a:rPr lang="en-US" altLang="zh-TW" dirty="0" smtClean="0"/>
              <a:t>basis of </a:t>
            </a:r>
            <a:r>
              <a:rPr lang="en-US" altLang="zh-TW" dirty="0"/>
              <a:t>this set of common intervals. Finally, we show how our results </a:t>
            </a:r>
            <a:r>
              <a:rPr lang="en-US" altLang="zh-TW" dirty="0" smtClean="0"/>
              <a:t>on permutations </a:t>
            </a:r>
            <a:r>
              <a:rPr lang="en-US" altLang="zh-TW" dirty="0"/>
              <a:t>can be used for computing the modular decomposition </a:t>
            </a:r>
            <a:r>
              <a:rPr lang="en-US" altLang="zh-TW" dirty="0" smtClean="0"/>
              <a:t>of graphs </a:t>
            </a:r>
            <a:r>
              <a:rPr lang="en-US" altLang="zh-TW" dirty="0"/>
              <a:t>in linear time.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38926094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K Permutations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Example: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𝐼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=(1,2,3,4,5)</a:t>
                </a:r>
              </a:p>
              <a:p>
                <a:r>
                  <a:rPr lang="en-US" altLang="zh-TW" dirty="0" smtClean="0"/>
                  <a:t>p=(</a:t>
                </a:r>
                <a:r>
                  <a:rPr lang="en-US" altLang="zh-TW" dirty="0" smtClean="0"/>
                  <a:t>2,1,4,5,3)</a:t>
                </a:r>
              </a:p>
              <a:p>
                <a:r>
                  <a:rPr lang="en-US" altLang="zh-TW" dirty="0" smtClean="0"/>
                  <a:t>A set of k permutations on n elements: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𝑃</m:t>
                    </m:r>
                    <m:r>
                      <a:rPr lang="en-US" altLang="zh-TW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𝐼𝑑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}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36075882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Common Intervals and Generators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Interval: (</a:t>
            </a:r>
            <a:r>
              <a:rPr lang="en-US" altLang="zh-TW" dirty="0" err="1" smtClean="0"/>
              <a:t>i,j</a:t>
            </a:r>
            <a:r>
              <a:rPr lang="en-US" altLang="zh-TW" dirty="0" smtClean="0"/>
              <a:t>)…(i,i+1,i+2,…,j)</a:t>
            </a:r>
          </a:p>
          <a:p>
            <a:r>
              <a:rPr lang="en-US" altLang="zh-TW" dirty="0" smtClean="0"/>
              <a:t>Common interval:</a:t>
            </a:r>
          </a:p>
          <a:p>
            <a:r>
              <a:rPr lang="en-US" altLang="zh-TW" dirty="0" smtClean="0"/>
              <a:t>(1,2,3,4,5,6,7,8,9)</a:t>
            </a:r>
          </a:p>
          <a:p>
            <a:r>
              <a:rPr lang="en-US" altLang="zh-TW" dirty="0" smtClean="0"/>
              <a:t>(1,4,7,5,9,6,2,3,8)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4067944" y="3173968"/>
            <a:ext cx="1391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=&gt; (1,9),(2,3)</a:t>
            </a:r>
            <a:endParaRPr lang="zh-TW" altLang="en-US" dirty="0"/>
          </a:p>
        </p:txBody>
      </p:sp>
      <p:cxnSp>
        <p:nvCxnSpPr>
          <p:cNvPr id="7" name="直線接點 6"/>
          <p:cNvCxnSpPr/>
          <p:nvPr/>
        </p:nvCxnSpPr>
        <p:spPr>
          <a:xfrm>
            <a:off x="1331640" y="3284984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771800" y="3854172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5268839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Common Intervals and Generators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 smtClean="0"/>
                  <a:t>A generator for the common intervals of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𝑃</m:t>
                    </m:r>
                  </m:oMath>
                </a14:m>
                <a:r>
                  <a:rPr lang="en-US" altLang="zh-TW" dirty="0" smtClean="0"/>
                  <a:t> is  a pair(R,L) of vectors of size n such that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ea typeface="Cambria Math"/>
                  </a:rPr>
                  <a:t/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  <a:ea typeface="Cambria Math"/>
                      </a:rPr>
                      <m:t>R</m:t>
                    </m:r>
                    <m:r>
                      <a:rPr lang="en-US" altLang="zh-TW" b="0" i="0" smtClean="0">
                        <a:latin typeface="Cambria Math"/>
                        <a:ea typeface="Cambria Math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  <a:ea typeface="Cambria Math"/>
                      </a:rPr>
                      <m:t>i</m:t>
                    </m:r>
                    <m:r>
                      <a:rPr lang="en-US" altLang="zh-TW" b="0" i="0" smtClean="0">
                        <a:latin typeface="Cambria Math"/>
                        <a:ea typeface="Cambria Math"/>
                      </a:rPr>
                      <m:t>]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𝑖</m:t>
                    </m:r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/>
                        <a:ea typeface="Cambria Math"/>
                      </a:rPr>
                      <m:t>L</m:t>
                    </m:r>
                    <m:r>
                      <a:rPr lang="en-US" altLang="zh-TW" b="0" i="0" smtClean="0">
                        <a:latin typeface="Cambria Math"/>
                        <a:ea typeface="Cambria Math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  <a:ea typeface="Cambria Math"/>
                      </a:rPr>
                      <m:t>j</m:t>
                    </m:r>
                    <m:r>
                      <a:rPr lang="en-US" altLang="zh-TW" b="0" i="0" smtClean="0">
                        <a:latin typeface="Cambria Math"/>
                        <a:ea typeface="Cambria Math"/>
                      </a:rPr>
                      <m:t>]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𝑗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Common interval (</a:t>
                </a:r>
                <a:r>
                  <a:rPr lang="en-US" altLang="zh-TW" dirty="0" err="1" smtClean="0"/>
                  <a:t>i,j</a:t>
                </a:r>
                <a:r>
                  <a:rPr lang="en-US" altLang="zh-TW" dirty="0" smtClean="0"/>
                  <a:t>)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6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cxnSp>
        <p:nvCxnSpPr>
          <p:cNvPr id="6" name="直線接點 5"/>
          <p:cNvCxnSpPr/>
          <p:nvPr/>
        </p:nvCxnSpPr>
        <p:spPr>
          <a:xfrm>
            <a:off x="3851920" y="3794750"/>
            <a:ext cx="367240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483668" y="4437112"/>
            <a:ext cx="367240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3851920" y="3284984"/>
            <a:ext cx="0" cy="19442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5156076" y="3284984"/>
            <a:ext cx="0" cy="19442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733137" y="2915652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/>
              <a:t>i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036492" y="2915652"/>
            <a:ext cx="2391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j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565565" y="3572520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p1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060154" y="4257092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p2</a:t>
            </a:r>
            <a:endParaRPr lang="zh-TW" altLang="en-US" dirty="0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3888492" y="3463444"/>
            <a:ext cx="1799632" cy="62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H="1">
            <a:off x="3419872" y="4257092"/>
            <a:ext cx="17362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5690015" y="3284984"/>
            <a:ext cx="503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R[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2861002" y="4038054"/>
            <a:ext cx="476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L[j]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22159307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Common Intervals and Generators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TW" sz="2400" b="1" dirty="0" smtClean="0"/>
                  <a:t>Definition </a:t>
                </a:r>
                <a:r>
                  <a:rPr lang="en-US" altLang="zh-TW" sz="2400" b="1" dirty="0"/>
                  <a:t>3. </a:t>
                </a:r>
                <a:r>
                  <a:rPr lang="en-US" altLang="zh-TW" sz="2400" dirty="0"/>
                  <a:t>Let </a:t>
                </a:r>
                <a:r>
                  <a:rPr lang="en-US" altLang="zh-TW" sz="2400" i="1" dirty="0"/>
                  <a:t>P </a:t>
                </a:r>
                <a:r>
                  <a:rPr lang="en-US" altLang="zh-TW" sz="2400" dirty="0"/>
                  <a:t>= (</a:t>
                </a:r>
                <a:r>
                  <a:rPr lang="en-US" altLang="zh-TW" sz="2400" i="1" dirty="0"/>
                  <a:t>p</a:t>
                </a:r>
                <a:r>
                  <a:rPr lang="en-US" altLang="zh-TW" sz="2400" dirty="0"/>
                  <a:t>1</a:t>
                </a:r>
                <a:r>
                  <a:rPr lang="en-US" altLang="zh-TW" sz="2400" i="1" dirty="0"/>
                  <a:t>, . . . , </a:t>
                </a:r>
                <a:r>
                  <a:rPr lang="en-US" altLang="zh-TW" sz="2400" i="1" dirty="0" err="1"/>
                  <a:t>pn</a:t>
                </a:r>
                <a:r>
                  <a:rPr lang="en-US" altLang="zh-TW" sz="2400" dirty="0"/>
                  <a:t>) be </a:t>
                </a:r>
                <a:r>
                  <a:rPr lang="en-US" altLang="zh-TW" sz="2400" dirty="0" smtClean="0"/>
                  <a:t>a permutation </a:t>
                </a:r>
                <a:r>
                  <a:rPr lang="en-US" altLang="zh-TW" sz="2400" dirty="0"/>
                  <a:t>on </a:t>
                </a:r>
                <a:r>
                  <a:rPr lang="en-US" altLang="zh-TW" sz="2400" i="1" dirty="0"/>
                  <a:t>n </a:t>
                </a:r>
                <a:r>
                  <a:rPr lang="en-US" altLang="zh-TW" sz="2400" dirty="0"/>
                  <a:t>elements</a:t>
                </a:r>
                <a:r>
                  <a:rPr lang="en-US" altLang="zh-TW" sz="24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sz="2400" i="1" dirty="0" err="1"/>
                  <a:t>IMax</a:t>
                </a:r>
                <a:r>
                  <a:rPr lang="en-US" altLang="zh-TW" sz="2400" dirty="0"/>
                  <a:t>[</a:t>
                </a:r>
                <a:r>
                  <a:rPr lang="en-US" altLang="zh-TW" sz="2400" i="1" dirty="0"/>
                  <a:t>pi</a:t>
                </a:r>
                <a:r>
                  <a:rPr lang="en-US" altLang="zh-TW" sz="2400" dirty="0"/>
                  <a:t>] is the largest interval of </a:t>
                </a:r>
                <a:r>
                  <a:rPr lang="en-US" altLang="zh-TW" sz="2400" i="1" dirty="0"/>
                  <a:t>P </a:t>
                </a:r>
                <a:r>
                  <a:rPr lang="en-US" altLang="zh-TW" sz="2400" dirty="0" smtClean="0"/>
                  <a:t>whose elements </a:t>
                </a:r>
                <a:r>
                  <a:rPr lang="en-US" altLang="zh-TW" sz="2400" dirty="0"/>
                  <a:t>are all </a:t>
                </a:r>
                <a:r>
                  <a:rPr lang="en-US" altLang="zh-TW" sz="2400" i="1" dirty="0"/>
                  <a:t>≥ </a:t>
                </a:r>
                <a:r>
                  <a:rPr lang="en-US" altLang="zh-TW" sz="2400" i="1" dirty="0" smtClean="0"/>
                  <a:t>pi</a:t>
                </a:r>
                <a:endParaRPr lang="en-US" altLang="zh-TW" sz="2400" dirty="0" smtClean="0"/>
              </a:p>
              <a:p>
                <a:pPr marL="0" indent="0">
                  <a:buNone/>
                </a:pPr>
                <a:r>
                  <a:rPr lang="en-US" altLang="zh-TW" sz="2400" i="1" dirty="0" err="1"/>
                  <a:t>IMin</a:t>
                </a:r>
                <a:r>
                  <a:rPr lang="en-US" altLang="zh-TW" sz="2400" dirty="0"/>
                  <a:t>[</a:t>
                </a:r>
                <a:r>
                  <a:rPr lang="en-US" altLang="zh-TW" sz="2400" i="1" dirty="0"/>
                  <a:t>pi</a:t>
                </a:r>
                <a:r>
                  <a:rPr lang="en-US" altLang="zh-TW" sz="2400" dirty="0"/>
                  <a:t>] is the largest interval of </a:t>
                </a:r>
                <a:r>
                  <a:rPr lang="en-US" altLang="zh-TW" sz="2400" i="1" dirty="0"/>
                  <a:t>P </a:t>
                </a:r>
                <a:r>
                  <a:rPr lang="en-US" altLang="zh-TW" sz="2400" dirty="0"/>
                  <a:t>whose elements are all </a:t>
                </a:r>
                <a:r>
                  <a:rPr lang="en-US" altLang="zh-TW" sz="2400" i="1" dirty="0"/>
                  <a:t>≤ pi</a:t>
                </a:r>
                <a:r>
                  <a:rPr lang="en-US" altLang="zh-TW" sz="2400" dirty="0"/>
                  <a:t>.</a:t>
                </a:r>
                <a:endParaRPr lang="en-US" altLang="zh-TW" sz="2400" dirty="0" smtClean="0"/>
              </a:p>
              <a:p>
                <a:pPr marL="0" indent="0">
                  <a:buNone/>
                </a:pPr>
                <a:r>
                  <a:rPr lang="en-US" altLang="zh-TW" sz="2400" dirty="0"/>
                  <a:t>Sup[pi] is the largest integer such that (</a:t>
                </a:r>
                <a:r>
                  <a:rPr lang="en-US" altLang="zh-TW" sz="2400" dirty="0" err="1"/>
                  <a:t>pi..Sup</a:t>
                </a:r>
                <a:r>
                  <a:rPr lang="en-US" altLang="zh-TW" sz="2400" dirty="0"/>
                  <a:t>[pi]) ⊆ </a:t>
                </a:r>
                <a:r>
                  <a:rPr lang="en-US" altLang="zh-TW" sz="2400" dirty="0" err="1"/>
                  <a:t>IMax</a:t>
                </a:r>
                <a:r>
                  <a:rPr lang="en-US" altLang="zh-TW" sz="2400" dirty="0"/>
                  <a:t>[pi</a:t>
                </a:r>
                <a:r>
                  <a:rPr lang="en-US" altLang="zh-TW" sz="2400" dirty="0" smtClean="0"/>
                  <a:t>]</a:t>
                </a:r>
              </a:p>
              <a:p>
                <a:pPr marL="0" indent="0">
                  <a:buNone/>
                </a:pPr>
                <a:r>
                  <a:rPr lang="en-US" altLang="zh-TW" sz="2400" dirty="0" err="1"/>
                  <a:t>Inf</a:t>
                </a:r>
                <a:r>
                  <a:rPr lang="en-US" altLang="zh-TW" sz="2400" dirty="0"/>
                  <a:t>[pi] is the smallest integer such that (</a:t>
                </a:r>
                <a:r>
                  <a:rPr lang="en-US" altLang="zh-TW" sz="2400" dirty="0" err="1"/>
                  <a:t>Inf</a:t>
                </a:r>
                <a:r>
                  <a:rPr lang="en-US" altLang="zh-TW" sz="2400" dirty="0"/>
                  <a:t>[pi]..pi) ⊆ </a:t>
                </a:r>
                <a:r>
                  <a:rPr lang="en-US" altLang="zh-TW" sz="2400" dirty="0" err="1"/>
                  <a:t>IMin</a:t>
                </a:r>
                <a:r>
                  <a:rPr lang="en-US" altLang="zh-TW" sz="2400" dirty="0"/>
                  <a:t>[pi].</a:t>
                </a:r>
                <a:endParaRPr lang="en-US" altLang="zh-TW" sz="2400" dirty="0" smtClean="0"/>
              </a:p>
              <a:p>
                <a:pPr marL="0" indent="0">
                  <a:buNone/>
                </a:pPr>
                <a:r>
                  <a:rPr lang="en-US" altLang="zh-TW" sz="2400" dirty="0" smtClean="0"/>
                  <a:t>Example:</a:t>
                </a:r>
              </a:p>
              <a:p>
                <a:pPr marL="0" indent="0">
                  <a:buNone/>
                </a:pPr>
                <a:r>
                  <a:rPr lang="en-US" altLang="zh-TW" sz="2400" dirty="0" smtClean="0"/>
                  <a:t/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𝑝</m:t>
                    </m:r>
                    <m:r>
                      <a:rPr lang="en-US" altLang="zh-TW" sz="2400" b="0" i="1" smtClean="0">
                        <a:latin typeface="Cambria Math"/>
                      </a:rPr>
                      <m:t>=(1,4,7,5,9,6,2,3,8)</m:t>
                    </m:r>
                  </m:oMath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r>
                  <a:rPr lang="en-US" altLang="zh-TW" sz="2400" i="1" dirty="0" err="1" smtClean="0"/>
                  <a:t>IMax</a:t>
                </a:r>
                <a:r>
                  <a:rPr lang="en-US" altLang="zh-TW" sz="2400" dirty="0" smtClean="0"/>
                  <a:t>[</a:t>
                </a:r>
                <a:r>
                  <a:rPr lang="en-US" altLang="zh-TW" sz="2400" i="1" dirty="0" smtClean="0"/>
                  <a:t>5</a:t>
                </a:r>
                <a:r>
                  <a:rPr lang="en-US" altLang="zh-TW" sz="2400" dirty="0" smtClean="0"/>
                  <a:t>] = (7,5,9,6)   Sup[5] = 7</a:t>
                </a:r>
              </a:p>
              <a:p>
                <a:pPr marL="0" indent="0">
                  <a:buNone/>
                </a:pPr>
                <a:r>
                  <a:rPr lang="en-US" altLang="zh-TW" sz="2400" i="1" dirty="0" err="1" smtClean="0"/>
                  <a:t>IMin</a:t>
                </a:r>
                <a:r>
                  <a:rPr lang="en-US" altLang="zh-TW" sz="2400" dirty="0" smtClean="0"/>
                  <a:t>[</a:t>
                </a:r>
                <a:r>
                  <a:rPr lang="en-US" altLang="zh-TW" sz="2400" i="1" dirty="0" smtClean="0"/>
                  <a:t>8</a:t>
                </a:r>
                <a:r>
                  <a:rPr lang="en-US" altLang="zh-TW" sz="2400" dirty="0" smtClean="0"/>
                  <a:t>] = (6,2,3,8)    </a:t>
                </a:r>
                <a:r>
                  <a:rPr lang="en-US" altLang="zh-TW" sz="2400" dirty="0" err="1" smtClean="0"/>
                  <a:t>Inf</a:t>
                </a:r>
                <a:r>
                  <a:rPr lang="en-US" altLang="zh-TW" sz="2400" dirty="0" smtClean="0"/>
                  <a:t>[8] = 8</a:t>
                </a:r>
              </a:p>
              <a:p>
                <a:pPr marL="0" indent="0">
                  <a:buNone/>
                </a:pPr>
                <a:r>
                  <a:rPr lang="en-US" altLang="zh-TW" sz="2400" dirty="0" err="1" smtClean="0"/>
                  <a:t>IMax</a:t>
                </a:r>
                <a:r>
                  <a:rPr lang="en-US" altLang="zh-TW" sz="2400" dirty="0" smtClean="0"/>
                  <a:t>[</a:t>
                </a:r>
                <a:r>
                  <a:rPr lang="en-US" altLang="zh-TW" sz="2400" i="1" dirty="0" smtClean="0"/>
                  <a:t>pi</a:t>
                </a:r>
                <a:r>
                  <a:rPr lang="en-US" altLang="zh-TW" sz="2400" dirty="0" smtClean="0"/>
                  <a:t>]: </a:t>
                </a:r>
                <a:r>
                  <a:rPr lang="zh-TW" altLang="en-US" sz="2400" dirty="0" smtClean="0"/>
                  <a:t>大於</a:t>
                </a:r>
                <a:r>
                  <a:rPr lang="en-US" altLang="zh-TW" sz="2400" dirty="0" smtClean="0"/>
                  <a:t>pi</a:t>
                </a:r>
                <a:r>
                  <a:rPr lang="zh-TW" altLang="en-US" sz="2400" dirty="0" smtClean="0"/>
                  <a:t>的最大連續區間。  </a:t>
                </a:r>
                <a:r>
                  <a:rPr lang="en-US" altLang="zh-TW" sz="2400" dirty="0" smtClean="0"/>
                  <a:t>Sup[</a:t>
                </a:r>
                <a:r>
                  <a:rPr lang="en-US" altLang="zh-TW" sz="2400" i="1" dirty="0"/>
                  <a:t>pi</a:t>
                </a:r>
                <a:r>
                  <a:rPr lang="en-US" altLang="zh-TW" sz="2400" dirty="0" smtClean="0"/>
                  <a:t>]:</a:t>
                </a:r>
                <a:r>
                  <a:rPr lang="zh-TW" altLang="en-US" sz="2400" dirty="0" smtClean="0"/>
                  <a:t>大於</a:t>
                </a:r>
                <a:r>
                  <a:rPr lang="en-US" altLang="zh-TW" sz="2400" i="1" dirty="0" smtClean="0"/>
                  <a:t>pi</a:t>
                </a:r>
                <a:r>
                  <a:rPr lang="zh-TW" altLang="en-US" sz="2400" i="1" dirty="0" smtClean="0"/>
                  <a:t>的最大連續數字</a:t>
                </a:r>
                <a:endParaRPr lang="en-US" altLang="zh-TW" sz="2400" dirty="0" smtClean="0"/>
              </a:p>
              <a:p>
                <a:pPr marL="0" indent="0">
                  <a:buNone/>
                </a:pPr>
                <a:r>
                  <a:rPr lang="en-US" altLang="zh-TW" sz="2400" dirty="0" err="1" smtClean="0"/>
                  <a:t>IMin</a:t>
                </a:r>
                <a:r>
                  <a:rPr lang="en-US" altLang="zh-TW" sz="2400" dirty="0" smtClean="0"/>
                  <a:t>[</a:t>
                </a:r>
                <a:r>
                  <a:rPr lang="en-US" altLang="zh-TW" sz="2400" i="1" dirty="0" smtClean="0"/>
                  <a:t>pi</a:t>
                </a:r>
                <a:r>
                  <a:rPr lang="en-US" altLang="zh-TW" sz="2400" dirty="0"/>
                  <a:t>]: </a:t>
                </a:r>
                <a:r>
                  <a:rPr lang="zh-TW" altLang="en-US" sz="2400" dirty="0" smtClean="0"/>
                  <a:t>小於</a:t>
                </a:r>
                <a:r>
                  <a:rPr lang="en-US" altLang="zh-TW" sz="2400" dirty="0"/>
                  <a:t>pi</a:t>
                </a:r>
                <a:r>
                  <a:rPr lang="zh-TW" altLang="en-US" sz="2400" dirty="0"/>
                  <a:t>的最大連續區間。  </a:t>
                </a:r>
                <a:r>
                  <a:rPr lang="en-US" altLang="zh-TW" sz="2400" dirty="0"/>
                  <a:t>Sup[</a:t>
                </a:r>
                <a:r>
                  <a:rPr lang="en-US" altLang="zh-TW" sz="2400" i="1" dirty="0"/>
                  <a:t>pi</a:t>
                </a:r>
                <a:r>
                  <a:rPr lang="en-US" altLang="zh-TW" sz="2400" dirty="0" smtClean="0"/>
                  <a:t>]:</a:t>
                </a:r>
                <a:r>
                  <a:rPr lang="zh-TW" altLang="en-US" sz="2400" dirty="0" smtClean="0"/>
                  <a:t>小於</a:t>
                </a:r>
                <a:r>
                  <a:rPr lang="en-US" altLang="zh-TW" sz="2400" i="1" dirty="0"/>
                  <a:t>pi</a:t>
                </a:r>
                <a:r>
                  <a:rPr lang="zh-TW" altLang="en-US" sz="2400" i="1" dirty="0"/>
                  <a:t>的</a:t>
                </a:r>
                <a:r>
                  <a:rPr lang="zh-TW" altLang="en-US" sz="2400" i="1" dirty="0" smtClean="0"/>
                  <a:t>最小連續</a:t>
                </a:r>
                <a:r>
                  <a:rPr lang="zh-TW" altLang="en-US" sz="2400" i="1" dirty="0"/>
                  <a:t>數字</a:t>
                </a:r>
                <a:endParaRPr lang="en-US" altLang="zh-TW" sz="240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809" b="-9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388811541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Common Intervals and Generators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i="1" dirty="0" smtClean="0"/>
                  <a:t>The pair of vectors 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Sup, </a:t>
                </a:r>
                <a:r>
                  <a:rPr lang="en-US" altLang="zh-TW" i="1" dirty="0" err="1"/>
                  <a:t>Inf</a:t>
                </a:r>
                <a:r>
                  <a:rPr lang="en-US" altLang="zh-TW" dirty="0"/>
                  <a:t>) </a:t>
                </a:r>
                <a:r>
                  <a:rPr lang="en-US" altLang="zh-TW" i="1" dirty="0"/>
                  <a:t>is a generator for the </a:t>
                </a:r>
                <a:r>
                  <a:rPr lang="en-US" altLang="zh-TW" i="1" dirty="0" smtClean="0"/>
                  <a:t>common</a:t>
                </a:r>
                <a:r>
                  <a:rPr lang="zh-TW" altLang="en-US" i="1" dirty="0" smtClean="0"/>
                  <a:t/>
                </a:r>
                <a:r>
                  <a:rPr lang="en-US" altLang="zh-TW" i="1" dirty="0" smtClean="0"/>
                  <a:t>intervals </a:t>
                </a:r>
                <a:r>
                  <a:rPr lang="en-US" altLang="zh-TW" i="1" dirty="0"/>
                  <a:t>of P </a:t>
                </a:r>
                <a:r>
                  <a:rPr lang="en-US" altLang="zh-TW" i="1" dirty="0" smtClean="0"/>
                  <a:t>and</a:t>
                </a:r>
                <a:r>
                  <a:rPr lang="zh-TW" altLang="en-US" i="1" dirty="0" smtClean="0"/>
                  <a:t/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𝐼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i="1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𝐼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=(1,2,3,4,5,6,7,8,9)</m:t>
                    </m:r>
                  </m:oMath>
                </a14:m>
                <a:endParaRPr lang="en-US" altLang="zh-TW" i="1" dirty="0" smtClean="0"/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𝑝</m:t>
                    </m:r>
                    <m:r>
                      <a:rPr lang="en-US" altLang="zh-TW" i="1">
                        <a:latin typeface="Cambria Math"/>
                      </a:rPr>
                      <m:t>=(1,4,7,5,9,6,2,3,8)</m:t>
                    </m:r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𝑆𝑢𝑝</m:t>
                    </m:r>
                    <m:r>
                      <a:rPr lang="en-US" altLang="zh-TW" b="0" i="1" smtClean="0">
                        <a:latin typeface="Cambria Math"/>
                      </a:rPr>
                      <m:t>=(9,9,3,7,7,6,7,8,9)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𝐼𝑛𝑓</m:t>
                    </m:r>
                    <m:r>
                      <a:rPr lang="en-US" altLang="zh-TW" i="1">
                        <a:latin typeface="Cambria Math"/>
                      </a:rPr>
                      <m:t>=(</m:t>
                    </m:r>
                    <m:r>
                      <a:rPr lang="en-US" altLang="zh-TW" b="0" i="1" smtClean="0">
                        <a:latin typeface="Cambria Math"/>
                      </a:rPr>
                      <m:t>1,2,2,4,5,6,7,8,1</m:t>
                    </m:r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53878728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Common Intervals and Generators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𝑎𝑛𝑑</m:t>
                    </m:r>
                    <m:r>
                      <a:rPr lang="en-US" altLang="zh-TW" b="0" i="1" smtClean="0">
                        <a:latin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</a:rPr>
                      <m:t>𝐼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TW" altLang="en-US" dirty="0" smtClean="0"/>
                  <a:t/>
                </a:r>
                <a:r>
                  <a:rPr lang="en-US" altLang="zh-TW" dirty="0" smtClean="0"/>
                  <a:t>generators 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𝑎𝑛𝑑</m:t>
                    </m:r>
                    <m:r>
                      <a:rPr lang="en-US" altLang="zh-TW" i="1">
                        <a:latin typeface="Cambria Math"/>
                      </a:rPr>
                      <m:t> </m:t>
                    </m:r>
                    <m:r>
                      <a:rPr lang="en-US" altLang="zh-TW" i="1">
                        <a:latin typeface="Cambria Math"/>
                      </a:rPr>
                      <m:t>𝐼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TW" altLang="en-US" dirty="0"/>
                  <a:t/>
                </a:r>
                <a:r>
                  <a:rPr lang="en-US" altLang="zh-TW" dirty="0"/>
                  <a:t>generators 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)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zh-TW" b="0" i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/>
                      </a:rPr>
                      <m:t>p</m:t>
                    </m:r>
                    <m:r>
                      <m:rPr>
                        <m:nor/>
                      </m:rPr>
                      <a:rPr lang="en-US" altLang="zh-TW" dirty="0"/>
                      <m:t>air</m:t>
                    </m:r>
                    <m:r>
                      <m:rPr>
                        <m:nor/>
                      </m:rPr>
                      <a:rPr lang="en-US" altLang="zh-TW" b="0" i="0" dirty="0" smtClean="0"/>
                      <m:t>(</m:t>
                    </m:r>
                  </m:oMath>
                </a14:m>
                <a:r>
                  <a:rPr lang="en-US" altLang="zh-TW" dirty="0" smtClean="0"/>
                  <a:t>min(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),</a:t>
                </a:r>
                <a:r>
                  <a:rPr lang="en-US" altLang="zh-TW" dirty="0"/>
                  <a:t> m</a:t>
                </a:r>
                <a:r>
                  <a:rPr lang="en-US" altLang="zh-TW" dirty="0" smtClean="0"/>
                  <a:t>ax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)</a:t>
                </a:r>
                <a:r>
                  <a:rPr lang="en-US" altLang="zh-TW" dirty="0" smtClean="0"/>
                  <a:t>)</a:t>
                </a:r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en-US" altLang="zh-TW" sz="2600" b="1" dirty="0"/>
                  <a:t>Proposition 5. </a:t>
                </a:r>
                <a:r>
                  <a:rPr lang="en-US" altLang="zh-TW" sz="2600" i="1" dirty="0"/>
                  <a:t>The generator </a:t>
                </a:r>
                <a:r>
                  <a:rPr lang="en-US" altLang="zh-TW" sz="2600" dirty="0"/>
                  <a:t>(</a:t>
                </a:r>
                <a:r>
                  <a:rPr lang="en-US" altLang="zh-TW" sz="2600" i="1" dirty="0"/>
                  <a:t>Sup, </a:t>
                </a:r>
                <a:r>
                  <a:rPr lang="en-US" altLang="zh-TW" sz="2600" i="1" dirty="0" err="1"/>
                  <a:t>Inf</a:t>
                </a:r>
                <a:r>
                  <a:rPr lang="en-US" altLang="zh-TW" sz="2600" dirty="0"/>
                  <a:t>) </a:t>
                </a:r>
                <a:r>
                  <a:rPr lang="en-US" altLang="zh-TW" sz="2600" i="1" dirty="0"/>
                  <a:t>for the common intervals of </a:t>
                </a:r>
                <a:r>
                  <a:rPr lang="en-US" altLang="zh-TW" sz="2600" i="1" dirty="0" smtClean="0"/>
                  <a:t>permutations P </a:t>
                </a:r>
                <a:r>
                  <a:rPr lang="en-US" altLang="zh-TW" sz="2600" i="1" dirty="0"/>
                  <a:t>and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/>
                      </a:rPr>
                      <m:t>𝐼</m:t>
                    </m:r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sz="2600" i="1" dirty="0"/>
                  <a:t> is commuting.</a:t>
                </a:r>
                <a:endParaRPr lang="en-US" altLang="zh-TW" sz="2600" dirty="0" smtClean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617" b="-5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cxnSp>
        <p:nvCxnSpPr>
          <p:cNvPr id="6" name="直線接點 5"/>
          <p:cNvCxnSpPr/>
          <p:nvPr/>
        </p:nvCxnSpPr>
        <p:spPr>
          <a:xfrm>
            <a:off x="1619672" y="4653136"/>
            <a:ext cx="42484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2195736" y="4005064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4139952" y="4005064"/>
            <a:ext cx="0" cy="64807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2771800" y="3991000"/>
            <a:ext cx="0" cy="6286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4594859" y="4024496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15" name="矩形 14"/>
              <p:cNvSpPr/>
              <p:nvPr/>
            </p:nvSpPr>
            <p:spPr>
              <a:xfrm>
                <a:off x="1964230" y="3621668"/>
                <a:ext cx="4630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230" y="3621668"/>
                <a:ext cx="463012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2537633" y="3635732"/>
                <a:ext cx="4683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633" y="3635732"/>
                <a:ext cx="468333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3898411" y="3655164"/>
                <a:ext cx="4830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411" y="3655164"/>
                <a:ext cx="483081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9" name="矩形 18"/>
              <p:cNvSpPr/>
              <p:nvPr/>
            </p:nvSpPr>
            <p:spPr>
              <a:xfrm>
                <a:off x="4350658" y="3621668"/>
                <a:ext cx="4884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658" y="3621668"/>
                <a:ext cx="488403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單箭頭接點 22"/>
          <p:cNvCxnSpPr/>
          <p:nvPr/>
        </p:nvCxnSpPr>
        <p:spPr>
          <a:xfrm>
            <a:off x="2771799" y="4701128"/>
            <a:ext cx="1368152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96436819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Common Intervals of </a:t>
            </a:r>
            <a:r>
              <a:rPr lang="en-US" altLang="zh-TW" b="1" i="1" dirty="0"/>
              <a:t>K </a:t>
            </a:r>
            <a:r>
              <a:rPr lang="en-US" altLang="zh-TW" b="1" dirty="0"/>
              <a:t>Permutations in Optimal Time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𝑆𝑢𝑝𝑝𝑜𝑟𝑡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sz="2400" dirty="0" smtClean="0"/>
                  <a:t>:</a:t>
                </a:r>
                <a:r>
                  <a:rPr lang="zh-TW" altLang="en-US" sz="2400" dirty="0" smtClean="0"/>
                  <a:t>下一個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TW" altLang="en-US" sz="2400" dirty="0" smtClean="0"/>
                  <a:t>值比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zh-TW" altLang="en-US" sz="2400" dirty="0" smtClean="0"/>
                  <a:t>小，且</a:t>
                </a:r>
                <a:r>
                  <a:rPr lang="en-US" altLang="zh-TW" sz="2400" dirty="0" smtClean="0"/>
                  <a:t>R[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altLang="zh-TW" sz="24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400" dirty="0" smtClean="0"/>
                  <a:t>]</a:t>
                </a:r>
                <a:r>
                  <a:rPr lang="zh-TW" altLang="en-US" sz="2400" dirty="0" smtClean="0"/>
                  <a:t> 大於</a:t>
                </a:r>
                <a:r>
                  <a:rPr lang="en-US" altLang="zh-TW" sz="2400" dirty="0" smtClean="0"/>
                  <a:t>i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/>
                      </a:rPr>
                      <m:t>𝑆𝑢𝑝𝑝𝑜𝑟𝑡</m:t>
                    </m:r>
                  </m:oMath>
                </a14:m>
                <a:r>
                  <a:rPr lang="en-US" altLang="zh-TW" sz="2400" dirty="0" smtClean="0"/>
                  <a:t>=(   ,1,2,2,4,5,5,2,2)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2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  <p:cxnSp>
        <p:nvCxnSpPr>
          <p:cNvPr id="6" name="直線接點 5"/>
          <p:cNvCxnSpPr/>
          <p:nvPr/>
        </p:nvCxnSpPr>
        <p:spPr>
          <a:xfrm>
            <a:off x="1659146" y="3645024"/>
            <a:ext cx="38884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005064"/>
            <a:ext cx="4314825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直線單箭頭接點 9"/>
          <p:cNvCxnSpPr/>
          <p:nvPr/>
        </p:nvCxnSpPr>
        <p:spPr>
          <a:xfrm>
            <a:off x="4860032" y="328498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3923928" y="328498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3603362" y="328498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23" name="矩形 22"/>
              <p:cNvSpPr/>
              <p:nvPr/>
            </p:nvSpPr>
            <p:spPr>
              <a:xfrm>
                <a:off x="4731306" y="2915652"/>
                <a:ext cx="3186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306" y="2915652"/>
                <a:ext cx="318613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24" name="矩形 23"/>
              <p:cNvSpPr/>
              <p:nvPr/>
            </p:nvSpPr>
            <p:spPr>
              <a:xfrm>
                <a:off x="3727944" y="2915652"/>
                <a:ext cx="3919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</m:e>
                        <m:sup>
                          <m:r>
                            <a:rPr lang="en-US" altLang="zh-TW" i="1">
                              <a:latin typeface="Cambria Math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944" y="2915652"/>
                <a:ext cx="39196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25" name="矩形 24"/>
              <p:cNvSpPr/>
              <p:nvPr/>
            </p:nvSpPr>
            <p:spPr>
              <a:xfrm>
                <a:off x="3377723" y="2972802"/>
                <a:ext cx="4512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</m:e>
                        <m:sup>
                          <m:r>
                            <a:rPr lang="en-US" altLang="zh-TW" i="1">
                              <a:latin typeface="Cambria Math"/>
                            </a:rPr>
                            <m:t>′′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723" y="2972802"/>
                <a:ext cx="451277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單箭頭接點 26"/>
          <p:cNvCxnSpPr/>
          <p:nvPr/>
        </p:nvCxnSpPr>
        <p:spPr>
          <a:xfrm>
            <a:off x="3923928" y="3717032"/>
            <a:ext cx="1125991" cy="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3603362" y="3869432"/>
            <a:ext cx="1832734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4995664" y="3465004"/>
            <a:ext cx="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8" name="矩形 37"/>
              <p:cNvSpPr/>
              <p:nvPr/>
            </p:nvSpPr>
            <p:spPr>
              <a:xfrm>
                <a:off x="4937009" y="3095672"/>
                <a:ext cx="6051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/>
                  <a:t>R[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]</a:t>
                </a:r>
                <a:endParaRPr lang="zh-TW" altLang="en-US" dirty="0"/>
              </a:p>
            </p:txBody>
          </p:sp>
        </mc:Choice>
        <mc:Fallback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009" y="3095672"/>
                <a:ext cx="605166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9091" t="-8333" r="-9091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191472677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Common Intervals of </a:t>
            </a:r>
            <a:r>
              <a:rPr lang="en-US" altLang="zh-TW" b="1" i="1" dirty="0"/>
              <a:t>K </a:t>
            </a:r>
            <a:r>
              <a:rPr lang="en-US" altLang="zh-TW" b="1" dirty="0"/>
              <a:t>Permutations in Optimal Time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797152"/>
            <a:ext cx="6840759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1475656" y="2564904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5220072" y="2148302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4535995" y="2148302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3282732" y="2132856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24" name="矩形 23"/>
              <p:cNvSpPr/>
              <p:nvPr/>
            </p:nvSpPr>
            <p:spPr>
              <a:xfrm>
                <a:off x="5057623" y="1778970"/>
                <a:ext cx="3248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623" y="1778970"/>
                <a:ext cx="324897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25" name="矩形 24"/>
              <p:cNvSpPr/>
              <p:nvPr/>
            </p:nvSpPr>
            <p:spPr>
              <a:xfrm>
                <a:off x="2978418" y="1763524"/>
                <a:ext cx="6086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i="1" smtClean="0">
                          <a:latin typeface="Cambria Math"/>
                        </a:rPr>
                        <m:t>L</m:t>
                      </m:r>
                      <m:r>
                        <a:rPr lang="en-US" altLang="zh-TW" b="0" i="1" smtClean="0">
                          <a:latin typeface="Cambria Math"/>
                        </a:rPr>
                        <m:t>[</m:t>
                      </m:r>
                      <m:r>
                        <a:rPr lang="en-US" altLang="zh-TW" b="0" i="1" smtClean="0">
                          <a:latin typeface="Cambria Math"/>
                        </a:rPr>
                        <m:t>𝑗</m:t>
                      </m:r>
                      <m:r>
                        <a:rPr lang="en-US" altLang="zh-TW" b="0" i="1" smtClean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418" y="1763524"/>
                <a:ext cx="608628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26" name="矩形 25"/>
              <p:cNvSpPr/>
              <p:nvPr/>
            </p:nvSpPr>
            <p:spPr>
              <a:xfrm>
                <a:off x="4373546" y="1778970"/>
                <a:ext cx="3248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546" y="1778970"/>
                <a:ext cx="32489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弧形 26"/>
          <p:cNvSpPr/>
          <p:nvPr/>
        </p:nvSpPr>
        <p:spPr>
          <a:xfrm>
            <a:off x="3974760" y="2371750"/>
            <a:ext cx="576064" cy="457200"/>
          </a:xfrm>
          <a:prstGeom prst="arc">
            <a:avLst>
              <a:gd name="adj1" fmla="val 21409210"/>
              <a:gd name="adj2" fmla="val 100939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28" name="矩形 27"/>
              <p:cNvSpPr/>
              <p:nvPr/>
            </p:nvSpPr>
            <p:spPr>
              <a:xfrm>
                <a:off x="3815916" y="1809832"/>
                <a:ext cx="3919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</m:e>
                        <m:sup>
                          <m:r>
                            <a:rPr lang="en-US" altLang="zh-TW" i="1">
                              <a:latin typeface="Cambria Math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916" y="1809832"/>
                <a:ext cx="391967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單箭頭接點 29"/>
          <p:cNvCxnSpPr>
            <a:stCxn id="28" idx="2"/>
          </p:cNvCxnSpPr>
          <p:nvPr/>
        </p:nvCxnSpPr>
        <p:spPr>
          <a:xfrm flipH="1">
            <a:off x="4011899" y="2179164"/>
            <a:ext cx="1" cy="3598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4011900" y="2600350"/>
            <a:ext cx="770966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4782866" y="2367846"/>
            <a:ext cx="1" cy="232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43" name="矩形 42"/>
              <p:cNvSpPr/>
              <p:nvPr/>
            </p:nvSpPr>
            <p:spPr>
              <a:xfrm>
                <a:off x="4514740" y="2580764"/>
                <a:ext cx="6051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/>
                  <a:t>R[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]</a:t>
                </a:r>
                <a:endParaRPr lang="zh-TW" altLang="en-US" dirty="0"/>
              </a:p>
            </p:txBody>
          </p:sp>
        </mc:Choice>
        <mc:Fallback>
          <p:sp>
            <p:nvSpPr>
              <p:cNvPr id="43" name="矩形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740" y="2580764"/>
                <a:ext cx="605166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9091" t="-8197" r="-9091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46" name="矩形 45"/>
              <p:cNvSpPr/>
              <p:nvPr/>
            </p:nvSpPr>
            <p:spPr>
              <a:xfrm>
                <a:off x="971600" y="3350290"/>
                <a:ext cx="727280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dirty="0" smtClean="0"/>
                  <a:t>(</a:t>
                </a:r>
                <a:r>
                  <a:rPr lang="en-US" altLang="zh-TW" dirty="0" err="1" smtClean="0"/>
                  <a:t>i,j</a:t>
                </a:r>
                <a:r>
                  <a:rPr lang="en-US" altLang="zh-TW" dirty="0" smtClean="0"/>
                  <a:t>) is a common interval, </a:t>
                </a:r>
                <a:r>
                  <a:rPr lang="zh-TW" altLang="en-US" dirty="0" smtClean="0"/>
                  <a:t>∵</a:t>
                </a:r>
                <a:r>
                  <a:rPr lang="en-US" altLang="zh-TW" dirty="0"/>
                  <a:t>R[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]</a:t>
                </a:r>
                <a:r>
                  <a:rPr lang="en-US" altLang="zh-TW" dirty="0" smtClean="0"/>
                  <a:t/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TW" b="0" i="1" dirty="0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b="0" i="0" dirty="0" smtClean="0">
                        <a:latin typeface="Cambria Math"/>
                        <a:ea typeface="Cambria Math"/>
                      </a:rPr>
                      <m:t>   </m:t>
                    </m:r>
                  </m:oMath>
                </a14:m>
                <a:r>
                  <a:rPr lang="zh-TW" altLang="en-US" dirty="0" smtClean="0"/>
                  <a:t>∴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 smtClean="0"/>
                  <a:t>,j) is also a common interval</a:t>
                </a:r>
                <a:endParaRPr lang="zh-TW" altLang="en-US" dirty="0"/>
              </a:p>
            </p:txBody>
          </p:sp>
        </mc:Choice>
        <mc:Fallback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350290"/>
                <a:ext cx="7272808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671" t="-8333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61" name="矩形 60"/>
              <p:cNvSpPr/>
              <p:nvPr/>
            </p:nvSpPr>
            <p:spPr>
              <a:xfrm>
                <a:off x="899592" y="3842742"/>
                <a:ext cx="461917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altLang="zh-TW" i="1">
                          <a:latin typeface="Cambria Math"/>
                        </a:rPr>
                        <m:t> </m:t>
                      </m:r>
                      <m:r>
                        <a:rPr lang="en-US" altLang="zh-TW" i="1">
                          <a:latin typeface="Cambria Math"/>
                        </a:rPr>
                        <m:t>𝑏𝑒</m:t>
                      </m:r>
                      <m:r>
                        <a:rPr lang="en-US" altLang="zh-TW" i="1">
                          <a:latin typeface="Cambria Math"/>
                        </a:rPr>
                        <m:t> </m:t>
                      </m:r>
                      <m:r>
                        <a:rPr lang="en-US" altLang="zh-TW" i="1">
                          <a:latin typeface="Cambria Math"/>
                        </a:rPr>
                        <m:t>𝑓𝑖𝑛𝑑𝑒𝑑</m:t>
                      </m:r>
                      <m:r>
                        <a:rPr lang="en-US" altLang="zh-TW" b="0" i="0" smtClean="0">
                          <a:latin typeface="Cambria Math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</a:rPr>
                        <m:t>𝑤h𝑒𝑛</m:t>
                      </m:r>
                      <m:r>
                        <a:rPr lang="en-US" altLang="zh-TW" b="0" i="1" smtClean="0">
                          <a:latin typeface="Cambria Math"/>
                        </a:rPr>
                        <m:t>  </m:t>
                      </m:r>
                      <m:r>
                        <a:rPr lang="en-US" altLang="zh-TW" b="0" i="1" smtClean="0">
                          <a:latin typeface="Cambria Math"/>
                        </a:rPr>
                        <m:t>𝑗</m:t>
                      </m:r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</a:rPr>
                        <m:t>𝑚𝑜𝑣𝑒𝑑</m:t>
                      </m:r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</a:rPr>
                        <m:t>𝑡𝑜</m:t>
                      </m:r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1" name="矩形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842742"/>
                <a:ext cx="4619179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63" name="矩形 62"/>
              <p:cNvSpPr/>
              <p:nvPr/>
            </p:nvSpPr>
            <p:spPr>
              <a:xfrm>
                <a:off x="6156176" y="2396098"/>
                <a:ext cx="3745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3" name="矩形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2396098"/>
                <a:ext cx="374590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64" name="矩形 63"/>
              <p:cNvSpPr/>
              <p:nvPr/>
            </p:nvSpPr>
            <p:spPr>
              <a:xfrm>
                <a:off x="1150759" y="2396098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4" name="矩形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759" y="2396098"/>
                <a:ext cx="365806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46436383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Modular Decomposition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429000"/>
            <a:ext cx="6840760" cy="2679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線接點 7"/>
          <p:cNvCxnSpPr/>
          <p:nvPr/>
        </p:nvCxnSpPr>
        <p:spPr>
          <a:xfrm>
            <a:off x="1907704" y="2708920"/>
            <a:ext cx="360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4067944" y="2276872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3347864" y="2276872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4716016" y="2276872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5076056" y="2276872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/>
          <p:cNvSpPr/>
          <p:nvPr/>
        </p:nvSpPr>
        <p:spPr>
          <a:xfrm>
            <a:off x="4464536" y="2035696"/>
            <a:ext cx="914400" cy="914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978978" y="2765430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2725444" y="2765430"/>
            <a:ext cx="1128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Support[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p:sp>
        <p:nvSpPr>
          <p:cNvPr id="21" name="弧形 20"/>
          <p:cNvSpPr/>
          <p:nvPr/>
        </p:nvSpPr>
        <p:spPr>
          <a:xfrm>
            <a:off x="3347864" y="2492896"/>
            <a:ext cx="1728192" cy="641866"/>
          </a:xfrm>
          <a:prstGeom prst="arc">
            <a:avLst>
              <a:gd name="adj1" fmla="val 21320925"/>
              <a:gd name="adj2" fmla="val 10971744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4485387" y="1894840"/>
            <a:ext cx="503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R[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5053703" y="1907540"/>
            <a:ext cx="1378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R[support[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]]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325037019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Modular Decomposition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Linear-time decomposition algorithms have been discovered [6,13] but </a:t>
            </a:r>
            <a:r>
              <a:rPr lang="en-US" altLang="zh-TW" dirty="0" smtClean="0"/>
              <a:t>remain rather </a:t>
            </a:r>
            <a:r>
              <a:rPr lang="en-US" altLang="zh-TW" dirty="0"/>
              <a:t>complex. Simpler algorithms work in two steps: computing a </a:t>
            </a:r>
            <a:r>
              <a:rPr lang="en-US" altLang="zh-TW" dirty="0" smtClean="0"/>
              <a:t>factorizing permutation</a:t>
            </a:r>
            <a:r>
              <a:rPr lang="en-US" altLang="zh-TW" dirty="0"/>
              <a:t>, and then building a tree representation on it. The first step </a:t>
            </a:r>
            <a:r>
              <a:rPr lang="en-US" altLang="zh-TW" dirty="0" smtClean="0"/>
              <a:t>was published </a:t>
            </a:r>
            <a:r>
              <a:rPr lang="en-US" altLang="zh-TW" dirty="0"/>
              <a:t>in [9]. In this paper, we simplify the second step.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48473766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68575"/>
            <a:ext cx="7772400" cy="1470025"/>
          </a:xfrm>
        </p:spPr>
        <p:txBody>
          <a:bodyPr/>
          <a:lstStyle/>
          <a:p>
            <a:r>
              <a:rPr lang="en-US" dirty="0" smtClean="0"/>
              <a:t>Thank You!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6DC8D-9A1F-4CC6-BEE1-B9238DE6B38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3363741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294</Words>
  <Application>Microsoft Office PowerPoint</Application>
  <PresentationFormat>如螢幕大小 (4:3)</PresentationFormat>
  <Paragraphs>73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Computing Common Intervals of K Permutations, with Applications to Modular Decomposition of Graphs</vt:lpstr>
      <vt:lpstr>Abstract</vt:lpstr>
      <vt:lpstr>K Permutations</vt:lpstr>
      <vt:lpstr>Common Intervals and Generators</vt:lpstr>
      <vt:lpstr>Common Intervals and Generators</vt:lpstr>
      <vt:lpstr>Common Intervals and Generators</vt:lpstr>
      <vt:lpstr>Common Intervals and Generators</vt:lpstr>
      <vt:lpstr>Common Intervals and Generators</vt:lpstr>
      <vt:lpstr>Common Intervals of K Permutations in Optimal Time</vt:lpstr>
      <vt:lpstr>Common Intervals of K Permutations in Optimal Time</vt:lpstr>
      <vt:lpstr>Modular Decomposition</vt:lpstr>
      <vt:lpstr>Modular Decomposition</vt:lpstr>
      <vt:lpstr>Thank You!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Complexity of Multiway Cuts</dc:title>
  <dc:creator>sjiujj</dc:creator>
  <cp:lastModifiedBy>admin</cp:lastModifiedBy>
  <cp:revision>69</cp:revision>
  <dcterms:created xsi:type="dcterms:W3CDTF">2013-02-19T02:19:26Z</dcterms:created>
  <dcterms:modified xsi:type="dcterms:W3CDTF">2013-05-14T12:24:12Z</dcterms:modified>
</cp:coreProperties>
</file>