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90" r:id="rId3"/>
    <p:sldId id="292" r:id="rId4"/>
    <p:sldId id="291" r:id="rId5"/>
    <p:sldId id="294" r:id="rId6"/>
    <p:sldId id="293" r:id="rId7"/>
    <p:sldId id="295" r:id="rId8"/>
    <p:sldId id="296" r:id="rId9"/>
    <p:sldId id="298" r:id="rId10"/>
    <p:sldId id="299" r:id="rId11"/>
    <p:sldId id="300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047" autoAdjust="0"/>
    <p:restoredTop sz="94891" autoAdjust="0"/>
  </p:normalViewPr>
  <p:slideViewPr>
    <p:cSldViewPr>
      <p:cViewPr varScale="1">
        <p:scale>
          <a:sx n="69" d="100"/>
          <a:sy n="69" d="100"/>
        </p:scale>
        <p:origin x="-5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C453A-7421-4F88-B24D-D25E51484FE3}" type="datetimeFigureOut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95FA1-170C-4E67-A9C4-80364AB804C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422986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912F8-4948-4523-949D-6D70199DC384}" type="datetimeFigureOut">
              <a:rPr lang="zh-TW" altLang="en-US" smtClean="0"/>
              <a:pPr/>
              <a:t>2013/5/14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BD3C5-9003-4B2E-97DA-CDDDF7895D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3568" y="980728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TW" dirty="0"/>
              <a:t> </a:t>
            </a:r>
            <a:r>
              <a:rPr lang="en-US" altLang="zh-TW" dirty="0" smtClean="0"/>
              <a:t>Improved approximate common interval</a:t>
            </a:r>
            <a:r>
              <a:rPr lang="en-US" altLang="zh-TW" dirty="0"/>
              <a:t> 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31640" y="2924944"/>
            <a:ext cx="6400800" cy="2256656"/>
          </a:xfrm>
        </p:spPr>
        <p:txBody>
          <a:bodyPr>
            <a:normAutofit/>
          </a:bodyPr>
          <a:lstStyle/>
          <a:p>
            <a:pPr fontAlgn="base"/>
            <a:r>
              <a:rPr lang="en-US" altLang="zh-TW" dirty="0" err="1" smtClean="0">
                <a:solidFill>
                  <a:schemeClr val="tx1"/>
                </a:solidFill>
              </a:rPr>
              <a:t>Amihood</a:t>
            </a:r>
            <a:r>
              <a:rPr lang="en-US" altLang="zh-TW" dirty="0" smtClean="0">
                <a:solidFill>
                  <a:schemeClr val="tx1"/>
                </a:solidFill>
              </a:rPr>
              <a:t> Amir, </a:t>
            </a:r>
            <a:r>
              <a:rPr lang="en-US" altLang="zh-TW" dirty="0" err="1" smtClean="0">
                <a:solidFill>
                  <a:schemeClr val="tx1"/>
                </a:solidFill>
              </a:rPr>
              <a:t>Leszek</a:t>
            </a:r>
            <a:r>
              <a:rPr lang="en-US" altLang="zh-TW" dirty="0" smtClean="0">
                <a:solidFill>
                  <a:schemeClr val="tx1"/>
                </a:solidFill>
              </a:rPr>
              <a:t> </a:t>
            </a:r>
            <a:r>
              <a:rPr lang="en-US" altLang="zh-TW" dirty="0" err="1" smtClean="0">
                <a:solidFill>
                  <a:schemeClr val="tx1"/>
                </a:solidFill>
              </a:rPr>
              <a:t>Gasieniec</a:t>
            </a:r>
            <a:r>
              <a:rPr lang="en-US" altLang="zh-TW" dirty="0" smtClean="0">
                <a:solidFill>
                  <a:schemeClr val="tx1"/>
                </a:solidFill>
              </a:rPr>
              <a:t>, Riva Shalom </a:t>
            </a:r>
            <a:r>
              <a:rPr lang="en-US" altLang="zh-TW" baseline="30000" dirty="0" smtClean="0">
                <a:solidFill>
                  <a:schemeClr val="tx1"/>
                </a:solidFill>
              </a:rPr>
              <a:t> </a:t>
            </a:r>
          </a:p>
          <a:p>
            <a:pPr fontAlgn="base"/>
            <a:endParaRPr lang="en-US" altLang="zh-TW" sz="2000" dirty="0" smtClean="0">
              <a:solidFill>
                <a:schemeClr val="tx1"/>
              </a:solidFill>
            </a:endParaRPr>
          </a:p>
          <a:p>
            <a:pPr fontAlgn="base"/>
            <a:r>
              <a:rPr lang="en-US" altLang="zh-TW" sz="2400" dirty="0" smtClean="0">
                <a:solidFill>
                  <a:schemeClr val="tx1"/>
                </a:solidFill>
              </a:rPr>
              <a:t>Information Processing Letters 103 (2007) 142–149</a:t>
            </a:r>
            <a:endParaRPr lang="zh-TW" altLang="en-US" sz="2600" dirty="0">
              <a:solidFill>
                <a:schemeClr val="tx1"/>
              </a:solidFill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292725" y="5805264"/>
            <a:ext cx="3600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en-US" altLang="zh-TW" dirty="0">
                <a:latin typeface="Times New Roman" pitchFamily="18" charset="0"/>
              </a:rPr>
              <a:t>Presenter: </a:t>
            </a:r>
            <a:r>
              <a:rPr lang="zh-TW" altLang="en-US" dirty="0">
                <a:latin typeface="Times New Roman" pitchFamily="18" charset="0"/>
              </a:rPr>
              <a:t>方鈞毅</a:t>
            </a:r>
            <a:endParaRPr kumimoji="0" lang="en-US" altLang="zh-TW" dirty="0">
              <a:latin typeface="Times New Roman" pitchFamily="18" charset="0"/>
            </a:endParaRPr>
          </a:p>
          <a:p>
            <a:r>
              <a:rPr kumimoji="0" lang="en-US" altLang="zh-TW" dirty="0" smtClean="0">
                <a:latin typeface="Times New Roman" pitchFamily="18" charset="0"/>
              </a:rPr>
              <a:t>Date</a:t>
            </a:r>
            <a:r>
              <a:rPr kumimoji="0" lang="en-US" altLang="zh-TW" smtClean="0">
                <a:latin typeface="Times New Roman" pitchFamily="18" charset="0"/>
              </a:rPr>
              <a:t>: </a:t>
            </a:r>
            <a:r>
              <a:rPr kumimoji="0" lang="en-US" altLang="zh-TW" smtClean="0">
                <a:latin typeface="Times New Roman" pitchFamily="18" charset="0"/>
              </a:rPr>
              <a:t>May </a:t>
            </a:r>
            <a:r>
              <a:rPr lang="en-US" altLang="zh-TW" dirty="0" smtClean="0">
                <a:latin typeface="Times New Roman" pitchFamily="18" charset="0"/>
              </a:rPr>
              <a:t>14</a:t>
            </a:r>
            <a:r>
              <a:rPr kumimoji="0" lang="en-US" altLang="zh-TW" dirty="0" smtClean="0">
                <a:latin typeface="Times New Roman" pitchFamily="18" charset="0"/>
              </a:rPr>
              <a:t>, 2013</a:t>
            </a:r>
            <a:endParaRPr kumimoji="0" lang="en-US" altLang="zh-TW" dirty="0">
              <a:latin typeface="Times New Roman" pitchFamily="18" charset="0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Intervals with the Same Character Set</a:t>
            </a:r>
            <a:r>
              <a:rPr lang="zh-TW" altLang="en-US" dirty="0" smtClean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Schmidt and </a:t>
            </a:r>
            <a:r>
              <a:rPr lang="en-US" altLang="zh-TW" dirty="0" err="1" smtClean="0"/>
              <a:t>Stoye</a:t>
            </a:r>
            <a:r>
              <a:rPr lang="en-US" altLang="zh-TW" dirty="0" smtClean="0"/>
              <a:t> give an O</a:t>
            </a:r>
            <a:r>
              <a:rPr lang="en-US" altLang="zh-TW" i="1" dirty="0" smtClean="0"/>
              <a:t>(n</a:t>
            </a:r>
            <a:r>
              <a:rPr lang="en-US" altLang="zh-TW" i="1" baseline="30000" dirty="0" smtClean="0"/>
              <a:t>2</a:t>
            </a:r>
            <a:r>
              <a:rPr lang="en-US" altLang="zh-TW" i="1" dirty="0" smtClean="0"/>
              <a:t>) time algorithm that </a:t>
            </a:r>
            <a:r>
              <a:rPr lang="en-US" altLang="zh-TW" dirty="0" smtClean="0"/>
              <a:t>locates all intervals of two strings that share the same character set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en-US" altLang="zh-TW" dirty="0" smtClean="0"/>
              <a:t>O(Ln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) for L strings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= 121312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= 232321</a:t>
            </a:r>
          </a:p>
          <a:p>
            <a:pPr lvl="1">
              <a:buNone/>
            </a:pPr>
            <a:r>
              <a:rPr lang="en-US" altLang="zh-TW" dirty="0" smtClean="0"/>
              <a:t>    {1,2}  at   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[1..2],  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[5..6],  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[5..6]</a:t>
            </a:r>
          </a:p>
          <a:p>
            <a:pPr lvl="1">
              <a:buNone/>
            </a:pPr>
            <a:r>
              <a:rPr lang="en-US" altLang="zh-TW" dirty="0" smtClean="0"/>
              <a:t>    {1,2,3}  at   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[1..6],  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[1..6]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Approximate Common Intervals Problem(ACI)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844824"/>
            <a:ext cx="8229600" cy="4525963"/>
          </a:xfrm>
        </p:spPr>
        <p:txBody>
          <a:bodyPr>
            <a:normAutofit/>
          </a:bodyPr>
          <a:lstStyle/>
          <a:p>
            <a:r>
              <a:rPr lang="zh-TW" altLang="en-US" sz="2400" dirty="0" smtClean="0">
                <a:latin typeface="+mj-ea"/>
                <a:ea typeface="+mj-ea"/>
              </a:rPr>
              <a:t>在容許部分錯誤之下</a:t>
            </a:r>
            <a:r>
              <a:rPr lang="en-US" altLang="zh-TW" sz="2400" dirty="0" smtClean="0">
                <a:latin typeface="+mj-ea"/>
                <a:ea typeface="+mj-ea"/>
              </a:rPr>
              <a:t>,</a:t>
            </a:r>
            <a:r>
              <a:rPr lang="zh-TW" altLang="en-US" sz="2400" dirty="0" smtClean="0">
                <a:latin typeface="+mj-ea"/>
                <a:ea typeface="+mj-ea"/>
              </a:rPr>
              <a:t>擁有更大區間</a:t>
            </a:r>
            <a:endParaRPr lang="en-US" altLang="zh-TW" dirty="0" smtClean="0"/>
          </a:p>
          <a:p>
            <a:r>
              <a:rPr lang="en-US" altLang="zh-TW" dirty="0" smtClean="0"/>
              <a:t>Input</a:t>
            </a:r>
          </a:p>
          <a:p>
            <a:pPr lvl="1"/>
            <a:r>
              <a:rPr lang="en-US" altLang="zh-TW" dirty="0" smtClean="0"/>
              <a:t>S = {s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, 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,..,</a:t>
            </a:r>
            <a:r>
              <a:rPr lang="en-US" altLang="zh-TW" dirty="0" err="1" smtClean="0"/>
              <a:t>s</a:t>
            </a:r>
            <a:r>
              <a:rPr lang="en-US" altLang="zh-TW" baseline="-25000" dirty="0" err="1" smtClean="0"/>
              <a:t>L</a:t>
            </a:r>
            <a:r>
              <a:rPr lang="en-US" altLang="zh-TW" dirty="0" smtClean="0"/>
              <a:t>} with size n </a:t>
            </a:r>
          </a:p>
          <a:p>
            <a:pPr lvl="1"/>
            <a:r>
              <a:rPr lang="en-US" altLang="zh-TW" dirty="0" err="1" smtClean="0"/>
              <a:t>int</a:t>
            </a:r>
            <a:r>
              <a:rPr lang="en-US" altLang="zh-TW" dirty="0" smtClean="0"/>
              <a:t>  K (symmetric set difference )</a:t>
            </a:r>
          </a:p>
          <a:p>
            <a:r>
              <a:rPr lang="en-US" altLang="zh-TW" dirty="0" smtClean="0"/>
              <a:t>Output</a:t>
            </a:r>
          </a:p>
          <a:p>
            <a:pPr lvl="1"/>
            <a:r>
              <a:rPr lang="en-US" altLang="zh-TW" dirty="0" smtClean="0"/>
              <a:t>For every distinct character set (</a:t>
            </a:r>
            <a:r>
              <a:rPr lang="en-US" altLang="zh-TW" i="1" dirty="0" err="1" smtClean="0"/>
              <a:t>cs</a:t>
            </a:r>
            <a:r>
              <a:rPr lang="en-US" altLang="zh-TW" i="1" dirty="0" smtClean="0"/>
              <a:t>)  in</a:t>
            </a:r>
            <a:r>
              <a:rPr lang="zh-TW" altLang="en-US" i="1" dirty="0" smtClean="0"/>
              <a:t> </a:t>
            </a:r>
            <a:r>
              <a:rPr lang="en-US" altLang="zh-TW" i="1" dirty="0" smtClean="0"/>
              <a:t>S, report all character sets </a:t>
            </a:r>
            <a:r>
              <a:rPr lang="en-US" altLang="zh-TW" i="1" dirty="0" err="1" smtClean="0"/>
              <a:t>cs’</a:t>
            </a:r>
            <a:r>
              <a:rPr lang="en-US" altLang="zh-TW" i="1" dirty="0" smtClean="0"/>
              <a:t> (and intervals), occurring in S, such</a:t>
            </a:r>
            <a:r>
              <a:rPr lang="zh-TW" altLang="en-US" i="1" dirty="0" smtClean="0"/>
              <a:t> </a:t>
            </a:r>
            <a:r>
              <a:rPr lang="en-US" altLang="zh-TW" dirty="0" smtClean="0"/>
              <a:t>that</a:t>
            </a:r>
            <a:r>
              <a:rPr lang="zh-TW" altLang="en-US" dirty="0" smtClean="0"/>
              <a:t> 彼此的對稱差 ≤ </a:t>
            </a:r>
            <a:r>
              <a:rPr lang="en-US" altLang="zh-TW" dirty="0" smtClean="0"/>
              <a:t>K</a:t>
            </a:r>
          </a:p>
          <a:p>
            <a:pPr lvl="2"/>
            <a:r>
              <a:rPr lang="zh-TW" altLang="en-US" dirty="0"/>
              <a:t>對稱</a:t>
            </a:r>
            <a:r>
              <a:rPr lang="zh-TW" altLang="en-US" dirty="0" smtClean="0"/>
              <a:t>差 </a:t>
            </a:r>
            <a:r>
              <a:rPr lang="en-US" altLang="zh-TW" dirty="0" smtClean="0"/>
              <a:t>- </a:t>
            </a:r>
            <a:r>
              <a:rPr lang="zh-TW" altLang="en-US" dirty="0" smtClean="0"/>
              <a:t> 聯集扣掉交集</a:t>
            </a:r>
            <a:endParaRPr lang="zh-TW" alt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ACI example</a:t>
            </a:r>
            <a:endParaRPr lang="zh-TW" alt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38300" y="2453481"/>
            <a:ext cx="5867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字方塊 3"/>
          <p:cNvSpPr txBox="1"/>
          <p:nvPr/>
        </p:nvSpPr>
        <p:spPr>
          <a:xfrm>
            <a:off x="1619672" y="1962775"/>
            <a:ext cx="5472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 </a:t>
            </a:r>
            <a:r>
              <a:rPr lang="en-US" altLang="zh-TW" sz="2800" dirty="0" smtClean="0"/>
              <a:t>         </a:t>
            </a:r>
            <a:r>
              <a:rPr lang="en-US" altLang="zh-TW" sz="2800" dirty="0" err="1" smtClean="0"/>
              <a:t>cs</a:t>
            </a:r>
            <a:r>
              <a:rPr lang="en-US" altLang="zh-TW" sz="2800" dirty="0" smtClean="0"/>
              <a:t>                           </a:t>
            </a:r>
            <a:r>
              <a:rPr lang="en-US" altLang="zh-TW" sz="2800" dirty="0" err="1" smtClean="0"/>
              <a:t>cs’</a:t>
            </a:r>
            <a:endParaRPr lang="zh-TW" altLang="en-US" sz="2800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作法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建圖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Node  =&gt;  distinct character sets(and its interval)</a:t>
            </a:r>
          </a:p>
          <a:p>
            <a:pPr lvl="2"/>
            <a:r>
              <a:rPr lang="zh-TW" altLang="en-US" dirty="0"/>
              <a:t>第一層為</a:t>
            </a:r>
            <a:r>
              <a:rPr lang="en-US" altLang="zh-TW" dirty="0" smtClean="0"/>
              <a:t>size</a:t>
            </a:r>
            <a:r>
              <a:rPr lang="zh-TW" altLang="en-US" dirty="0" smtClean="0"/>
              <a:t>為</a:t>
            </a:r>
            <a:r>
              <a:rPr lang="en-US" altLang="zh-TW" dirty="0" smtClean="0"/>
              <a:t>1 </a:t>
            </a:r>
            <a:r>
              <a:rPr lang="en-US" altLang="zh-TW" dirty="0"/>
              <a:t>, </a:t>
            </a:r>
            <a:r>
              <a:rPr lang="zh-TW" altLang="en-US" dirty="0"/>
              <a:t>第二層的</a:t>
            </a:r>
            <a:r>
              <a:rPr lang="en-US" altLang="zh-TW" dirty="0"/>
              <a:t>size</a:t>
            </a:r>
            <a:r>
              <a:rPr lang="zh-TW" altLang="en-US" dirty="0"/>
              <a:t>為</a:t>
            </a:r>
            <a:r>
              <a:rPr lang="en-US" altLang="zh-TW" dirty="0"/>
              <a:t>2</a:t>
            </a:r>
            <a:r>
              <a:rPr lang="en-US" altLang="zh-TW" dirty="0" smtClean="0"/>
              <a:t>,…</a:t>
            </a:r>
            <a:r>
              <a:rPr lang="zh-TW" altLang="en-US" dirty="0" smtClean="0"/>
              <a:t>由上而下</a:t>
            </a:r>
            <a:endParaRPr lang="en-US" altLang="zh-TW" dirty="0" smtClean="0"/>
          </a:p>
          <a:p>
            <a:pPr lvl="3"/>
            <a:r>
              <a:rPr lang="zh-TW" altLang="en-US" dirty="0"/>
              <a:t>一層的</a:t>
            </a:r>
            <a:r>
              <a:rPr lang="en-US" altLang="zh-TW" dirty="0" smtClean="0"/>
              <a:t>  nodes count O(n – size + 1)</a:t>
            </a:r>
          </a:p>
          <a:p>
            <a:pPr lvl="2"/>
            <a:r>
              <a:rPr lang="zh-TW" altLang="en-US" dirty="0" smtClean="0"/>
              <a:t>一個</a:t>
            </a:r>
            <a:r>
              <a:rPr lang="en-US" altLang="zh-TW" dirty="0"/>
              <a:t>character </a:t>
            </a:r>
            <a:r>
              <a:rPr lang="en-US" altLang="zh-TW" dirty="0" smtClean="0"/>
              <a:t>set</a:t>
            </a:r>
            <a:r>
              <a:rPr lang="zh-TW" altLang="en-US" dirty="0" smtClean="0"/>
              <a:t>可能對應到多個</a:t>
            </a:r>
            <a:r>
              <a:rPr lang="en-US" altLang="zh-TW" dirty="0" smtClean="0"/>
              <a:t>intervals</a:t>
            </a:r>
          </a:p>
          <a:p>
            <a:pPr lvl="3"/>
            <a:r>
              <a:rPr lang="en-US" altLang="zh-TW" dirty="0" smtClean="0"/>
              <a:t>S = 121312    {1}</a:t>
            </a:r>
            <a:r>
              <a:rPr lang="zh-TW" altLang="en-US" dirty="0" smtClean="0"/>
              <a:t>對應到</a:t>
            </a:r>
            <a:r>
              <a:rPr lang="en-US" altLang="zh-TW" dirty="0"/>
              <a:t>S</a:t>
            </a:r>
            <a:r>
              <a:rPr lang="en-US" altLang="zh-TW" dirty="0" smtClean="0"/>
              <a:t>[1],S[3],S[5]</a:t>
            </a:r>
          </a:p>
          <a:p>
            <a:pPr lvl="1"/>
            <a:r>
              <a:rPr lang="en-US" altLang="zh-TW" dirty="0" smtClean="0"/>
              <a:t>Edge  =&gt; node</a:t>
            </a:r>
            <a:r>
              <a:rPr lang="zh-TW" altLang="en-US" dirty="0" smtClean="0"/>
              <a:t>間彼此的對稱差</a:t>
            </a:r>
            <a:r>
              <a:rPr lang="en-US" altLang="zh-TW" dirty="0" smtClean="0"/>
              <a:t>=1</a:t>
            </a:r>
            <a:r>
              <a:rPr lang="zh-TW" altLang="en-US" dirty="0" smtClean="0"/>
              <a:t>時，則相連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O(n*size) </a:t>
            </a:r>
            <a:r>
              <a:rPr lang="en-US" altLang="zh-TW" dirty="0" smtClean="0">
                <a:solidFill>
                  <a:schemeClr val="bg1">
                    <a:lumMod val="85000"/>
                  </a:schemeClr>
                </a:solidFill>
              </a:rPr>
              <a:t>// 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(size+1, size) </a:t>
            </a:r>
            <a:endParaRPr lang="en-US" altLang="zh-TW" dirty="0" smtClean="0">
              <a:solidFill>
                <a:schemeClr val="bg1">
                  <a:lumMod val="85000"/>
                </a:schemeClr>
              </a:solidFill>
            </a:endParaRPr>
          </a:p>
          <a:p>
            <a:pPr lvl="2"/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2469029230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37" y="1905794"/>
            <a:ext cx="7172325" cy="391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1556792"/>
            <a:ext cx="275272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566317"/>
            <a:ext cx="2009775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342598783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Character </a:t>
            </a:r>
            <a:r>
              <a:rPr lang="en-US" altLang="zh-TW" dirty="0"/>
              <a:t>S</a:t>
            </a:r>
            <a:r>
              <a:rPr lang="en-US" altLang="zh-TW" dirty="0" smtClean="0"/>
              <a:t>ets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用 </a:t>
            </a:r>
            <a:r>
              <a:rPr lang="en-US" altLang="zh-TW" dirty="0" smtClean="0"/>
              <a:t>bit </a:t>
            </a:r>
            <a:r>
              <a:rPr lang="en-US" altLang="zh-TW" dirty="0" err="1" smtClean="0"/>
              <a:t>arrary</a:t>
            </a:r>
            <a:r>
              <a:rPr lang="zh-TW" altLang="en-US" dirty="0" smtClean="0"/>
              <a:t> 紀錄 </a:t>
            </a:r>
            <a:r>
              <a:rPr lang="en-US" altLang="zh-TW" dirty="0" smtClean="0"/>
              <a:t>character set</a:t>
            </a:r>
            <a:r>
              <a:rPr lang="zh-TW" altLang="en-US" dirty="0" smtClean="0"/>
              <a:t> </a:t>
            </a:r>
            <a:r>
              <a:rPr lang="en-US" altLang="zh-TW" dirty="0" smtClean="0"/>
              <a:t>(size = |∑|)</a:t>
            </a:r>
          </a:p>
          <a:p>
            <a:pPr lvl="1"/>
            <a:r>
              <a:rPr lang="en-US" altLang="zh-TW" dirty="0" smtClean="0"/>
              <a:t>∑ = {1,2,3}</a:t>
            </a:r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= 1123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063321030"/>
              </p:ext>
            </p:extLst>
          </p:nvPr>
        </p:nvGraphicFramePr>
        <p:xfrm>
          <a:off x="1475656" y="3429000"/>
          <a:ext cx="48768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{1}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{2}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{3}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{1,2}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{2,3}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910646125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</a:t>
            </a:r>
            <a:r>
              <a:rPr lang="en-US" altLang="zh-TW" dirty="0" smtClean="0"/>
              <a:t>odes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For a string find its distinct character sets</a:t>
            </a:r>
          </a:p>
          <a:p>
            <a:pPr lvl="1"/>
            <a:r>
              <a:rPr lang="en-US" altLang="zh-TW" dirty="0" smtClean="0"/>
              <a:t>for size = 1 to </a:t>
            </a:r>
            <a:r>
              <a:rPr lang="en-US" altLang="zh-TW" dirty="0"/>
              <a:t>|∑|</a:t>
            </a:r>
            <a:endParaRPr lang="en-US" altLang="zh-TW" dirty="0" smtClean="0"/>
          </a:p>
          <a:p>
            <a:pPr lvl="1"/>
            <a:r>
              <a:rPr lang="en-US" altLang="zh-TW" dirty="0"/>
              <a:t>f</a:t>
            </a:r>
            <a:r>
              <a:rPr lang="en-US" altLang="zh-TW" dirty="0" smtClean="0"/>
              <a:t>or y = 1 to (n-size+1)</a:t>
            </a:r>
          </a:p>
          <a:p>
            <a:pPr lvl="1"/>
            <a:r>
              <a:rPr lang="en-US" altLang="zh-TW" dirty="0" smtClean="0"/>
              <a:t> {</a:t>
            </a:r>
          </a:p>
          <a:p>
            <a:pPr lvl="1"/>
            <a:r>
              <a:rPr lang="en-US" altLang="zh-TW" dirty="0" smtClean="0"/>
              <a:t>…..find </a:t>
            </a:r>
            <a:r>
              <a:rPr lang="en-US" altLang="zh-TW" dirty="0"/>
              <a:t>distinct character </a:t>
            </a:r>
            <a:r>
              <a:rPr lang="en-US" altLang="zh-TW" dirty="0" smtClean="0"/>
              <a:t>sets [y..y+</a:t>
            </a:r>
            <a:r>
              <a:rPr lang="en-US" altLang="zh-TW" dirty="0"/>
              <a:t>size</a:t>
            </a:r>
            <a:r>
              <a:rPr lang="en-US" altLang="zh-TW" dirty="0" smtClean="0"/>
              <a:t>-1] and record its maximal  intervals…</a:t>
            </a:r>
          </a:p>
          <a:p>
            <a:pPr lvl="1"/>
            <a:r>
              <a:rPr lang="en-US" altLang="zh-TW" dirty="0" smtClean="0"/>
              <a:t>}           </a:t>
            </a:r>
          </a:p>
          <a:p>
            <a:pPr lvl="1"/>
            <a:r>
              <a:rPr lang="en-US" altLang="zh-TW" dirty="0" smtClean="0"/>
              <a:t>O(n|∑|) worst O(n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Sorted them(by layer) to get </a:t>
            </a:r>
            <a:r>
              <a:rPr lang="en-US" altLang="zh-TW" dirty="0"/>
              <a:t>distinct character </a:t>
            </a:r>
            <a:r>
              <a:rPr lang="en-US" altLang="zh-TW" dirty="0" smtClean="0"/>
              <a:t>sets O(n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 log n)//</a:t>
            </a:r>
            <a:r>
              <a:rPr lang="zh-TW" altLang="en-US" dirty="0" smtClean="0"/>
              <a:t>整合區間</a:t>
            </a:r>
            <a:r>
              <a:rPr lang="en-US" altLang="zh-TW" dirty="0" smtClean="0"/>
              <a:t>,character set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2570220969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</a:t>
            </a:r>
            <a:r>
              <a:rPr lang="en-US" altLang="zh-TW" dirty="0" smtClean="0"/>
              <a:t>dges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因為對稱差為</a:t>
            </a:r>
            <a:r>
              <a:rPr lang="en-US" altLang="zh-TW" dirty="0"/>
              <a:t>1</a:t>
            </a:r>
            <a:r>
              <a:rPr lang="zh-TW" altLang="en-US" dirty="0"/>
              <a:t>的只會出現在上</a:t>
            </a:r>
            <a:r>
              <a:rPr lang="zh-TW" altLang="en-US" dirty="0" smtClean="0"/>
              <a:t>下層，故逐一檢查，</a:t>
            </a:r>
            <a:r>
              <a:rPr lang="en-US" altLang="zh-TW" dirty="0" smtClean="0"/>
              <a:t>each layer</a:t>
            </a:r>
            <a:r>
              <a:rPr lang="zh-TW" altLang="en-US" dirty="0" smtClean="0"/>
              <a:t>的</a:t>
            </a:r>
            <a:r>
              <a:rPr lang="en-US" altLang="zh-TW" dirty="0" smtClean="0"/>
              <a:t>upper bond</a:t>
            </a:r>
            <a:r>
              <a:rPr lang="zh-TW" altLang="en-US" dirty="0" smtClean="0"/>
              <a:t>為</a:t>
            </a:r>
            <a:r>
              <a:rPr lang="en-US" altLang="zh-TW" dirty="0"/>
              <a:t>O(n – size + </a:t>
            </a:r>
            <a:r>
              <a:rPr lang="en-US" altLang="zh-TW" dirty="0" smtClean="0"/>
              <a:t>1)</a:t>
            </a:r>
            <a:r>
              <a:rPr lang="zh-TW" altLang="en-US" dirty="0" smtClean="0"/>
              <a:t>故</a:t>
            </a:r>
            <a:r>
              <a:rPr lang="en-US" altLang="zh-TW" dirty="0" smtClean="0"/>
              <a:t>cost O(n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) between layers</a:t>
            </a:r>
          </a:p>
          <a:p>
            <a:r>
              <a:rPr lang="en-US" altLang="zh-TW" dirty="0" smtClean="0"/>
              <a:t>Here we </a:t>
            </a:r>
            <a:r>
              <a:rPr lang="en-US" altLang="zh-TW" dirty="0"/>
              <a:t>consider this problem as </a:t>
            </a:r>
            <a:r>
              <a:rPr lang="en-US" altLang="zh-TW" dirty="0" smtClean="0"/>
              <a:t>an approximate </a:t>
            </a:r>
            <a:r>
              <a:rPr lang="en-US" altLang="zh-TW" dirty="0"/>
              <a:t>dictionary matching problem</a:t>
            </a:r>
            <a:r>
              <a:rPr lang="en-US" altLang="zh-TW" dirty="0" smtClean="0"/>
              <a:t>, by </a:t>
            </a:r>
            <a:r>
              <a:rPr lang="en-US" altLang="zh-TW" dirty="0" err="1" smtClean="0"/>
              <a:t>Brodal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Gasieniec</a:t>
            </a:r>
            <a:r>
              <a:rPr lang="en-US" altLang="zh-TW" dirty="0" smtClean="0"/>
              <a:t>  algorithm </a:t>
            </a:r>
            <a:r>
              <a:rPr lang="en-US" altLang="zh-TW" i="1" dirty="0" err="1"/>
              <a:t>cs</a:t>
            </a:r>
            <a:r>
              <a:rPr lang="en-US" altLang="zh-TW" dirty="0"/>
              <a:t>_</a:t>
            </a:r>
            <a:r>
              <a:rPr lang="en-US" altLang="zh-TW" i="1" dirty="0"/>
              <a:t>(f </a:t>
            </a:r>
            <a:r>
              <a:rPr lang="en-US" altLang="zh-TW" dirty="0"/>
              <a:t>+ 1</a:t>
            </a:r>
            <a:r>
              <a:rPr lang="en-US" altLang="zh-TW" i="1" dirty="0"/>
              <a:t>)</a:t>
            </a:r>
            <a:r>
              <a:rPr lang="en-US" altLang="zh-TW" dirty="0"/>
              <a:t>s form the dictionary, and all </a:t>
            </a:r>
            <a:r>
              <a:rPr lang="en-US" altLang="zh-TW" i="1" dirty="0" err="1"/>
              <a:t>cs</a:t>
            </a:r>
            <a:r>
              <a:rPr lang="en-US" altLang="zh-TW" dirty="0" err="1"/>
              <a:t>_</a:t>
            </a:r>
            <a:r>
              <a:rPr lang="en-US" altLang="zh-TW" i="1" dirty="0" err="1"/>
              <a:t>f</a:t>
            </a:r>
            <a:r>
              <a:rPr lang="en-US" altLang="zh-TW" i="1" dirty="0"/>
              <a:t> </a:t>
            </a:r>
            <a:r>
              <a:rPr lang="en-US" altLang="zh-TW" dirty="0"/>
              <a:t>s are </a:t>
            </a:r>
            <a:r>
              <a:rPr lang="en-US" altLang="zh-TW" dirty="0" smtClean="0"/>
              <a:t>considered as </a:t>
            </a:r>
            <a:r>
              <a:rPr lang="en-US" altLang="zh-TW" dirty="0"/>
              <a:t>query </a:t>
            </a:r>
            <a:r>
              <a:rPr lang="en-US" altLang="zh-TW" dirty="0" smtClean="0"/>
              <a:t>text</a:t>
            </a:r>
            <a:r>
              <a:rPr lang="en-US" altLang="zh-TW" dirty="0"/>
              <a:t> </a:t>
            </a:r>
            <a:r>
              <a:rPr lang="en-US" altLang="zh-TW" dirty="0" smtClean="0"/>
              <a:t>O(n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)</a:t>
            </a:r>
          </a:p>
          <a:p>
            <a:r>
              <a:rPr lang="en-US" altLang="zh-TW" dirty="0"/>
              <a:t>All in all the procedure of constructing both </a:t>
            </a:r>
            <a:r>
              <a:rPr lang="en-US" altLang="zh-TW" i="1" dirty="0" smtClean="0"/>
              <a:t>V </a:t>
            </a:r>
            <a:r>
              <a:rPr lang="en-US" altLang="zh-TW" dirty="0" smtClean="0"/>
              <a:t>and </a:t>
            </a:r>
            <a:r>
              <a:rPr lang="en-US" altLang="zh-TW" i="1" dirty="0"/>
              <a:t>E</a:t>
            </a:r>
            <a:r>
              <a:rPr lang="en-US" altLang="zh-TW" dirty="0"/>
              <a:t>, including edges between all </a:t>
            </a:r>
            <a:r>
              <a:rPr lang="en-US" altLang="zh-TW" dirty="0" smtClean="0"/>
              <a:t>consecutive layers </a:t>
            </a:r>
            <a:r>
              <a:rPr lang="pt-BR" altLang="zh-TW" dirty="0" smtClean="0"/>
              <a:t>consumes O</a:t>
            </a:r>
            <a:r>
              <a:rPr lang="pt-BR" altLang="zh-TW" i="1" dirty="0" smtClean="0"/>
              <a:t>(n</a:t>
            </a:r>
            <a:r>
              <a:rPr lang="pt-BR" altLang="zh-TW" baseline="30000" dirty="0"/>
              <a:t>2</a:t>
            </a:r>
            <a:r>
              <a:rPr lang="pt-BR" altLang="zh-TW" dirty="0" smtClean="0"/>
              <a:t> </a:t>
            </a:r>
            <a:r>
              <a:rPr lang="pt-BR" altLang="zh-TW" dirty="0"/>
              <a:t>log </a:t>
            </a:r>
            <a:r>
              <a:rPr lang="pt-BR" altLang="zh-TW" i="1" dirty="0"/>
              <a:t>n)</a:t>
            </a:r>
            <a:r>
              <a:rPr lang="pt-BR" altLang="zh-TW" dirty="0"/>
              <a:t>+ </a:t>
            </a:r>
            <a:r>
              <a:rPr lang="pt-BR" altLang="zh-TW" dirty="0" smtClean="0"/>
              <a:t>O</a:t>
            </a:r>
            <a:r>
              <a:rPr lang="pt-BR" altLang="zh-TW" i="1" dirty="0" smtClean="0"/>
              <a:t>(n</a:t>
            </a:r>
            <a:r>
              <a:rPr lang="pt-BR" altLang="zh-TW" baseline="30000" dirty="0"/>
              <a:t>3</a:t>
            </a:r>
            <a:r>
              <a:rPr lang="pt-BR" altLang="zh-TW" i="1" dirty="0" smtClean="0"/>
              <a:t>) </a:t>
            </a:r>
            <a:r>
              <a:rPr lang="pt-BR" altLang="zh-TW" dirty="0"/>
              <a:t>= </a:t>
            </a:r>
            <a:r>
              <a:rPr lang="pt-BR" altLang="zh-TW" dirty="0" smtClean="0"/>
              <a:t>O</a:t>
            </a:r>
            <a:r>
              <a:rPr lang="pt-BR" altLang="zh-TW" i="1" dirty="0" smtClean="0"/>
              <a:t>(n</a:t>
            </a:r>
            <a:r>
              <a:rPr lang="pt-BR" altLang="zh-TW" i="1" baseline="30000" dirty="0" smtClean="0"/>
              <a:t>3</a:t>
            </a:r>
            <a:r>
              <a:rPr lang="pt-BR" altLang="zh-TW" i="1" dirty="0" smtClean="0"/>
              <a:t>) </a:t>
            </a:r>
            <a:r>
              <a:rPr lang="pt-BR" altLang="zh-TW" dirty="0"/>
              <a:t>time.</a:t>
            </a:r>
            <a:endParaRPr lang="en-US" altLang="zh-TW" dirty="0"/>
          </a:p>
        </p:txBody>
      </p:sp>
    </p:spTree>
    <p:extLst>
      <p:ext uri="{BB962C8B-B14F-4D97-AF65-F5344CB8AC3E}">
        <p14:creationId xmlns="" xmlns:p14="http://schemas.microsoft.com/office/powerpoint/2010/main" val="3291675270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37" y="1905794"/>
            <a:ext cx="7172325" cy="391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1556792"/>
            <a:ext cx="275272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566317"/>
            <a:ext cx="2009775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48103304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Graph have built</a:t>
            </a:r>
          </a:p>
          <a:p>
            <a:r>
              <a:rPr lang="en-US" altLang="zh-TW" dirty="0" smtClean="0"/>
              <a:t>Now we can use DFS search with depth(k)</a:t>
            </a:r>
          </a:p>
          <a:p>
            <a:r>
              <a:rPr lang="en-US" altLang="zh-TW" dirty="0" smtClean="0"/>
              <a:t>node, which was </a:t>
            </a:r>
            <a:r>
              <a:rPr lang="en-US" altLang="zh-TW" dirty="0" err="1" smtClean="0"/>
              <a:t>visted</a:t>
            </a:r>
            <a:r>
              <a:rPr lang="en-US" altLang="zh-TW" dirty="0" smtClean="0"/>
              <a:t> is the answer</a:t>
            </a:r>
          </a:p>
          <a:p>
            <a:r>
              <a:rPr lang="en-US" altLang="zh-TW" dirty="0" smtClean="0"/>
              <a:t>O(Ln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)  </a:t>
            </a:r>
          </a:p>
        </p:txBody>
      </p:sp>
    </p:spTree>
    <p:extLst>
      <p:ext uri="{BB962C8B-B14F-4D97-AF65-F5344CB8AC3E}">
        <p14:creationId xmlns="" xmlns:p14="http://schemas.microsoft.com/office/powerpoint/2010/main" val="3989021049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2103</TotalTime>
  <Words>500</Words>
  <Application>Microsoft Office PowerPoint</Application>
  <PresentationFormat>如螢幕大小 (4:3)</PresentationFormat>
  <Paragraphs>76</Paragraphs>
  <Slides>11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2" baseType="lpstr">
      <vt:lpstr>Office 佈景主題</vt:lpstr>
      <vt:lpstr> Improved approximate common interval </vt:lpstr>
      <vt:lpstr>Intervals with the Same Character Set </vt:lpstr>
      <vt:lpstr>Approximate Common Intervals Problem(ACI)</vt:lpstr>
      <vt:lpstr>ACI example</vt:lpstr>
      <vt:lpstr>作法</vt:lpstr>
      <vt:lpstr>投影片 6</vt:lpstr>
      <vt:lpstr>Character Sets</vt:lpstr>
      <vt:lpstr>Nodes</vt:lpstr>
      <vt:lpstr>Edges</vt:lpstr>
      <vt:lpstr>投影片 10</vt:lpstr>
      <vt:lpstr>投影片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grouping genetic algorithm for clustering problems</dc:title>
  <dc:creator>Transcend</dc:creator>
  <cp:lastModifiedBy>admin</cp:lastModifiedBy>
  <cp:revision>135</cp:revision>
  <dcterms:created xsi:type="dcterms:W3CDTF">2013-02-25T04:11:30Z</dcterms:created>
  <dcterms:modified xsi:type="dcterms:W3CDTF">2013-05-14T10:43:09Z</dcterms:modified>
</cp:coreProperties>
</file>