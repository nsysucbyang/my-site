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67" d="100"/>
          <a:sy n="67" d="100"/>
        </p:scale>
        <p:origin x="-146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4090108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86656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3704382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2158244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606287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944956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1527899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1540459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1136537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1942547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578435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77FB99-BE27-4AFC-833A-28AF3D2792A3}" type="datetimeFigureOut">
              <a:rPr lang="zh-TW" altLang="en-US" smtClean="0"/>
              <a:t>2013/10/22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2153A-87F7-4E7A-B661-E05031E85BD6}" type="slidenum">
              <a:rPr lang="zh-TW" altLang="en-US" smtClean="0"/>
              <a:t>‹#›</a:t>
            </a:fld>
            <a:endParaRPr lang="zh-TW" altLang="en-US"/>
          </a:p>
        </p:txBody>
      </p:sp>
    </p:spTree>
    <p:extLst>
      <p:ext uri="{BB962C8B-B14F-4D97-AF65-F5344CB8AC3E}">
        <p14:creationId xmlns:p14="http://schemas.microsoft.com/office/powerpoint/2010/main" val="4265821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Learning Optimal Warping Window Size of DTW for</a:t>
            </a:r>
            <a:br>
              <a:rPr lang="en-US" altLang="zh-TW" dirty="0" smtClean="0"/>
            </a:br>
            <a:r>
              <a:rPr lang="en-US" altLang="zh-TW" dirty="0" smtClean="0"/>
              <a:t>Time Series Classification</a:t>
            </a:r>
            <a:endParaRPr lang="zh-TW" altLang="en-US" dirty="0"/>
          </a:p>
        </p:txBody>
      </p:sp>
      <p:sp>
        <p:nvSpPr>
          <p:cNvPr id="3" name="副標題 2"/>
          <p:cNvSpPr>
            <a:spLocks noGrp="1"/>
          </p:cNvSpPr>
          <p:nvPr>
            <p:ph type="subTitle" idx="1"/>
          </p:nvPr>
        </p:nvSpPr>
        <p:spPr/>
        <p:txBody>
          <a:bodyPr>
            <a:normAutofit fontScale="77500" lnSpcReduction="20000"/>
          </a:bodyPr>
          <a:lstStyle/>
          <a:p>
            <a:r>
              <a:rPr lang="en-US" altLang="zh-TW" dirty="0" err="1"/>
              <a:t>Qian</a:t>
            </a:r>
            <a:r>
              <a:rPr lang="en-US" altLang="zh-TW" dirty="0"/>
              <a:t> Chen, </a:t>
            </a:r>
            <a:r>
              <a:rPr lang="en-US" altLang="zh-TW" dirty="0" err="1"/>
              <a:t>Guyu</a:t>
            </a:r>
            <a:r>
              <a:rPr lang="en-US" altLang="zh-TW" dirty="0"/>
              <a:t> Hu, </a:t>
            </a:r>
            <a:r>
              <a:rPr lang="en-US" altLang="zh-TW" dirty="0" err="1"/>
              <a:t>Fanglin</a:t>
            </a:r>
            <a:r>
              <a:rPr lang="en-US" altLang="zh-TW" dirty="0"/>
              <a:t> </a:t>
            </a:r>
            <a:r>
              <a:rPr lang="en-US" altLang="zh-TW" dirty="0" err="1"/>
              <a:t>Gu</a:t>
            </a:r>
            <a:r>
              <a:rPr lang="en-US" altLang="zh-TW" dirty="0"/>
              <a:t>, </a:t>
            </a:r>
            <a:r>
              <a:rPr lang="en-US" altLang="zh-TW" dirty="0" err="1"/>
              <a:t>Peng</a:t>
            </a:r>
            <a:r>
              <a:rPr lang="en-US" altLang="zh-TW" dirty="0"/>
              <a:t> Xiang</a:t>
            </a:r>
          </a:p>
          <a:p>
            <a:r>
              <a:rPr lang="en-US" altLang="zh-TW" dirty="0"/>
              <a:t>Information Science, Signal Processing and their Applications (ISSPA), 2012 11th International Conference </a:t>
            </a:r>
            <a:r>
              <a:rPr lang="en-US" altLang="zh-TW" dirty="0" smtClean="0"/>
              <a:t>p.1272 – p.1277</a:t>
            </a:r>
            <a:endParaRPr lang="zh-TW" altLang="en-US" dirty="0"/>
          </a:p>
        </p:txBody>
      </p:sp>
      <p:sp>
        <p:nvSpPr>
          <p:cNvPr id="4" name="文字方塊 3"/>
          <p:cNvSpPr txBox="1"/>
          <p:nvPr/>
        </p:nvSpPr>
        <p:spPr>
          <a:xfrm>
            <a:off x="7078260" y="6019547"/>
            <a:ext cx="1858201" cy="646331"/>
          </a:xfrm>
          <a:prstGeom prst="rect">
            <a:avLst/>
          </a:prstGeom>
          <a:noFill/>
        </p:spPr>
        <p:txBody>
          <a:bodyPr wrap="none" rtlCol="0">
            <a:spAutoFit/>
          </a:bodyPr>
          <a:lstStyle/>
          <a:p>
            <a:r>
              <a:rPr lang="en-US" altLang="zh-TW" dirty="0" smtClean="0"/>
              <a:t>Date:</a:t>
            </a:r>
            <a:r>
              <a:rPr lang="zh-TW" altLang="en-US" dirty="0" smtClean="0"/>
              <a:t> </a:t>
            </a:r>
            <a:r>
              <a:rPr lang="en-US" altLang="zh-TW" dirty="0" smtClean="0"/>
              <a:t>2013/10/15</a:t>
            </a:r>
          </a:p>
          <a:p>
            <a:r>
              <a:rPr lang="en-US" altLang="zh-TW" dirty="0" smtClean="0"/>
              <a:t>Presenter:</a:t>
            </a:r>
            <a:r>
              <a:rPr lang="zh-TW" altLang="en-US" dirty="0" smtClean="0"/>
              <a:t> 周展億</a:t>
            </a:r>
            <a:endParaRPr lang="zh-TW" altLang="en-US" dirty="0"/>
          </a:p>
        </p:txBody>
      </p:sp>
    </p:spTree>
    <p:extLst>
      <p:ext uri="{BB962C8B-B14F-4D97-AF65-F5344CB8AC3E}">
        <p14:creationId xmlns:p14="http://schemas.microsoft.com/office/powerpoint/2010/main" val="25265275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矩形 2"/>
          <p:cNvSpPr/>
          <p:nvPr/>
        </p:nvSpPr>
        <p:spPr>
          <a:xfrm>
            <a:off x="467544" y="1340768"/>
            <a:ext cx="8208912" cy="4832092"/>
          </a:xfrm>
          <a:prstGeom prst="rect">
            <a:avLst/>
          </a:prstGeom>
        </p:spPr>
        <p:txBody>
          <a:bodyPr wrap="square">
            <a:spAutoFit/>
          </a:bodyPr>
          <a:lstStyle/>
          <a:p>
            <a:r>
              <a:rPr lang="en-US" altLang="zh-TW" sz="2200" dirty="0" smtClean="0"/>
              <a:t>	The dynamic time warping (DTW) is a classic similarity measure which can handle the time warping issue in similarity computation of time series. And the DTW with constrained warping window is the most common and practical form of DTW. In this paper, the traditional learning method for optimal warping window of DTW is systematically analyzed. Then the time distance to measure the time deviation between two time series is introduced. Finally a new learning method for optimal warping window size based on DTW and time distance is proposed which can improve DTW classification accuracy with little additional computation. Experimental data show that the optimal DTW with best warping window get better classification accuracy when the new learning method is employed. Additionally, the classification accuracy is better than that of ERP and LCSS, and is close to that of TWED.</a:t>
            </a:r>
            <a:endParaRPr lang="zh-TW" altLang="en-US" sz="2200" dirty="0"/>
          </a:p>
        </p:txBody>
      </p:sp>
    </p:spTree>
    <p:extLst>
      <p:ext uri="{BB962C8B-B14F-4D97-AF65-F5344CB8AC3E}">
        <p14:creationId xmlns:p14="http://schemas.microsoft.com/office/powerpoint/2010/main" val="24230463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Sena\Desktop\擷取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530384"/>
            <a:ext cx="4005258" cy="3838173"/>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en-US" altLang="zh-TW" dirty="0" smtClean="0"/>
              <a:t>DTW and Warping Path</a:t>
            </a:r>
            <a:endParaRPr lang="zh-TW" altLang="en-US" dirty="0"/>
          </a:p>
        </p:txBody>
      </p:sp>
      <p:pic>
        <p:nvPicPr>
          <p:cNvPr id="1027" name="Picture 3" descr="F:\Sena\Desktop\擷取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20" y="2895706"/>
            <a:ext cx="5292080" cy="965342"/>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3851920" y="1988840"/>
            <a:ext cx="3491661" cy="769441"/>
          </a:xfrm>
          <a:prstGeom prst="rect">
            <a:avLst/>
          </a:prstGeom>
          <a:noFill/>
        </p:spPr>
        <p:txBody>
          <a:bodyPr wrap="none" rtlCol="0">
            <a:spAutoFit/>
          </a:bodyPr>
          <a:lstStyle/>
          <a:p>
            <a:r>
              <a:rPr lang="zh-TW" altLang="en-US" sz="2200" dirty="0" smtClean="0"/>
              <a:t>有</a:t>
            </a:r>
            <a:r>
              <a:rPr lang="zh-TW" altLang="en-US" sz="2200" dirty="0"/>
              <a:t>兩時間</a:t>
            </a:r>
            <a:r>
              <a:rPr lang="zh-TW" altLang="en-US" sz="2200" dirty="0" smtClean="0"/>
              <a:t>序列：</a:t>
            </a:r>
            <a:r>
              <a:rPr lang="en-US" altLang="zh-TW" sz="2200" dirty="0" smtClean="0"/>
              <a:t>X</a:t>
            </a:r>
            <a:r>
              <a:rPr lang="zh-TW" altLang="en-US" sz="2200" dirty="0" smtClean="0"/>
              <a:t>與</a:t>
            </a:r>
            <a:r>
              <a:rPr lang="en-US" altLang="zh-TW" sz="2200" dirty="0" smtClean="0"/>
              <a:t>Y</a:t>
            </a:r>
          </a:p>
          <a:p>
            <a:r>
              <a:rPr lang="en-US" altLang="zh-TW" sz="2200" dirty="0" smtClean="0"/>
              <a:t>X</a:t>
            </a:r>
            <a:r>
              <a:rPr lang="zh-TW" altLang="en-US" sz="2200" dirty="0" smtClean="0"/>
              <a:t>的長度</a:t>
            </a:r>
            <a:r>
              <a:rPr lang="zh-TW" altLang="en-US" sz="2200" dirty="0" smtClean="0"/>
              <a:t>為</a:t>
            </a:r>
            <a:r>
              <a:rPr lang="en-US" altLang="zh-TW" sz="2200" dirty="0"/>
              <a:t>n</a:t>
            </a:r>
            <a:r>
              <a:rPr lang="zh-TW" altLang="en-US" sz="2200" dirty="0" smtClean="0"/>
              <a:t>，</a:t>
            </a:r>
            <a:r>
              <a:rPr lang="en-US" altLang="zh-TW" sz="2200" dirty="0" smtClean="0"/>
              <a:t>Y</a:t>
            </a:r>
            <a:r>
              <a:rPr lang="zh-TW" altLang="en-US" sz="2200" dirty="0" smtClean="0"/>
              <a:t>的長度</a:t>
            </a:r>
            <a:r>
              <a:rPr lang="zh-TW" altLang="en-US" sz="2200" dirty="0" smtClean="0"/>
              <a:t>為</a:t>
            </a:r>
            <a:r>
              <a:rPr lang="en-US" altLang="zh-TW" sz="2200" dirty="0"/>
              <a:t>m</a:t>
            </a:r>
            <a:endParaRPr lang="en-US" altLang="zh-TW" sz="2200" dirty="0" smtClean="0"/>
          </a:p>
        </p:txBody>
      </p:sp>
      <p:sp>
        <p:nvSpPr>
          <p:cNvPr id="5" name="文字方塊 4"/>
          <p:cNvSpPr txBox="1"/>
          <p:nvPr/>
        </p:nvSpPr>
        <p:spPr>
          <a:xfrm>
            <a:off x="3851920" y="4005644"/>
            <a:ext cx="3124573" cy="430887"/>
          </a:xfrm>
          <a:prstGeom prst="rect">
            <a:avLst/>
          </a:prstGeom>
          <a:noFill/>
        </p:spPr>
        <p:txBody>
          <a:bodyPr wrap="none" rtlCol="0">
            <a:spAutoFit/>
          </a:bodyPr>
          <a:lstStyle/>
          <a:p>
            <a:r>
              <a:rPr lang="zh-TW" altLang="en-US" sz="2200" dirty="0" smtClean="0"/>
              <a:t>時間複雜度為</a:t>
            </a:r>
            <a:r>
              <a:rPr lang="en-US" altLang="zh-TW" sz="2200" dirty="0"/>
              <a:t>O</a:t>
            </a:r>
            <a:r>
              <a:rPr lang="en-US" altLang="zh-TW" sz="2200" dirty="0" smtClean="0"/>
              <a:t> ( </a:t>
            </a:r>
            <a:r>
              <a:rPr lang="en-US" altLang="zh-TW" sz="2200" dirty="0" smtClean="0"/>
              <a:t>n * m</a:t>
            </a:r>
            <a:r>
              <a:rPr lang="en-US" altLang="zh-TW" sz="2200" dirty="0" smtClean="0"/>
              <a:t> </a:t>
            </a:r>
            <a:r>
              <a:rPr lang="en-US" altLang="zh-TW" sz="2200" dirty="0" smtClean="0"/>
              <a:t>)</a:t>
            </a:r>
            <a:endParaRPr lang="zh-TW" altLang="en-US" sz="2200" dirty="0"/>
          </a:p>
        </p:txBody>
      </p:sp>
    </p:spTree>
    <p:extLst>
      <p:ext uri="{BB962C8B-B14F-4D97-AF65-F5344CB8AC3E}">
        <p14:creationId xmlns:p14="http://schemas.microsoft.com/office/powerpoint/2010/main" val="21615301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Global Constraints of DTW</a:t>
            </a:r>
            <a:endParaRPr lang="zh-TW" altLang="en-US" dirty="0"/>
          </a:p>
        </p:txBody>
      </p:sp>
      <p:pic>
        <p:nvPicPr>
          <p:cNvPr id="2050" name="Picture 2" descr="F:\Sena\Desktop\擷取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6095" y="1412776"/>
            <a:ext cx="6691809" cy="3044019"/>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917794" y="5163933"/>
            <a:ext cx="6109365" cy="430887"/>
          </a:xfrm>
          <a:prstGeom prst="rect">
            <a:avLst/>
          </a:prstGeom>
          <a:noFill/>
        </p:spPr>
        <p:txBody>
          <a:bodyPr wrap="none" rtlCol="0">
            <a:spAutoFit/>
          </a:bodyPr>
          <a:lstStyle/>
          <a:p>
            <a:r>
              <a:rPr lang="zh-TW" altLang="en-US" sz="2200" dirty="0" smtClean="0"/>
              <a:t>可依照某些物理意義的需要，給予範圍的限制。</a:t>
            </a:r>
            <a:endParaRPr lang="zh-TW" altLang="en-US" sz="2200" dirty="0"/>
          </a:p>
        </p:txBody>
      </p:sp>
    </p:spTree>
    <p:extLst>
      <p:ext uri="{BB962C8B-B14F-4D97-AF65-F5344CB8AC3E}">
        <p14:creationId xmlns:p14="http://schemas.microsoft.com/office/powerpoint/2010/main" val="2575695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Global Constraints of DTW</a:t>
            </a:r>
            <a:endParaRPr lang="zh-TW" altLang="en-US" dirty="0"/>
          </a:p>
        </p:txBody>
      </p:sp>
      <p:pic>
        <p:nvPicPr>
          <p:cNvPr id="3074" name="Picture 2" descr="F:\Sena\Desktop\擷取4.PNG"/>
          <p:cNvPicPr>
            <a:picLocks noChangeAspect="1" noChangeArrowheads="1"/>
          </p:cNvPicPr>
          <p:nvPr/>
        </p:nvPicPr>
        <p:blipFill rotWithShape="1">
          <a:blip r:embed="rId2">
            <a:extLst>
              <a:ext uri="{28A0092B-C50C-407E-A947-70E740481C1C}">
                <a14:useLocalDpi xmlns:a14="http://schemas.microsoft.com/office/drawing/2010/main" val="0"/>
              </a:ext>
            </a:extLst>
          </a:blip>
          <a:srcRect l="3251"/>
          <a:stretch/>
        </p:blipFill>
        <p:spPr bwMode="auto">
          <a:xfrm>
            <a:off x="670756" y="2060848"/>
            <a:ext cx="7802732" cy="4267921"/>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p:cNvSpPr txBox="1"/>
          <p:nvPr/>
        </p:nvSpPr>
        <p:spPr>
          <a:xfrm>
            <a:off x="670756" y="1454277"/>
            <a:ext cx="3005951" cy="430887"/>
          </a:xfrm>
          <a:prstGeom prst="rect">
            <a:avLst/>
          </a:prstGeom>
          <a:noFill/>
        </p:spPr>
        <p:txBody>
          <a:bodyPr wrap="none" rtlCol="0">
            <a:spAutoFit/>
          </a:bodyPr>
          <a:lstStyle/>
          <a:p>
            <a:r>
              <a:rPr lang="zh-TW" altLang="en-US" sz="2200" dirty="0" smtClean="0"/>
              <a:t>常被使用的範圍限制：</a:t>
            </a:r>
            <a:endParaRPr lang="zh-TW" altLang="en-US" sz="2200" dirty="0"/>
          </a:p>
        </p:txBody>
      </p:sp>
    </p:spTree>
    <p:extLst>
      <p:ext uri="{BB962C8B-B14F-4D97-AF65-F5344CB8AC3E}">
        <p14:creationId xmlns:p14="http://schemas.microsoft.com/office/powerpoint/2010/main" val="18372267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2990" y="260648"/>
            <a:ext cx="7638020" cy="1143000"/>
          </a:xfrm>
        </p:spPr>
        <p:txBody>
          <a:bodyPr>
            <a:noAutofit/>
          </a:bodyPr>
          <a:lstStyle/>
          <a:p>
            <a:r>
              <a:rPr lang="en-US" altLang="zh-TW" sz="3200" dirty="0" smtClean="0"/>
              <a:t>Learning Optimal Warping Window of DTW</a:t>
            </a:r>
            <a:endParaRPr lang="zh-TW" altLang="en-US" sz="3200" dirty="0"/>
          </a:p>
        </p:txBody>
      </p:sp>
      <p:sp>
        <p:nvSpPr>
          <p:cNvPr id="4" name="文字方塊 3"/>
          <p:cNvSpPr txBox="1"/>
          <p:nvPr/>
        </p:nvSpPr>
        <p:spPr>
          <a:xfrm>
            <a:off x="377788" y="1557365"/>
            <a:ext cx="8388424" cy="430887"/>
          </a:xfrm>
          <a:prstGeom prst="rect">
            <a:avLst/>
          </a:prstGeom>
          <a:noFill/>
        </p:spPr>
        <p:txBody>
          <a:bodyPr wrap="square" rtlCol="0">
            <a:spAutoFit/>
          </a:bodyPr>
          <a:lstStyle/>
          <a:p>
            <a:r>
              <a:rPr lang="en-US" altLang="zh-TW" sz="2200" dirty="0" smtClean="0"/>
              <a:t>DTW</a:t>
            </a:r>
            <a:r>
              <a:rPr lang="zh-TW" altLang="en-US" sz="2200" dirty="0" smtClean="0"/>
              <a:t> </a:t>
            </a:r>
            <a:r>
              <a:rPr lang="en-US" altLang="zh-TW" sz="2200" dirty="0" smtClean="0"/>
              <a:t>Distance</a:t>
            </a:r>
            <a:r>
              <a:rPr lang="zh-TW" altLang="en-US" sz="2200" dirty="0" smtClean="0"/>
              <a:t>：</a:t>
            </a:r>
            <a:r>
              <a:rPr lang="zh-TW" altLang="en-US" sz="2200" dirty="0" smtClean="0"/>
              <a:t>增加</a:t>
            </a:r>
            <a:r>
              <a:rPr lang="en-US" altLang="zh-TW" sz="2200" dirty="0" smtClean="0"/>
              <a:t>Warping window size</a:t>
            </a:r>
            <a:r>
              <a:rPr lang="zh-TW" altLang="en-US" sz="2200" dirty="0" smtClean="0"/>
              <a:t>，</a:t>
            </a:r>
            <a:r>
              <a:rPr lang="zh-TW" altLang="en-US" sz="2200" dirty="0" smtClean="0"/>
              <a:t>觀察哪次的結果最好。</a:t>
            </a:r>
            <a:endParaRPr lang="en-US" altLang="zh-TW" sz="2200" dirty="0" smtClean="0"/>
          </a:p>
        </p:txBody>
      </p:sp>
      <p:sp>
        <p:nvSpPr>
          <p:cNvPr id="6" name="文字方塊 5"/>
          <p:cNvSpPr txBox="1"/>
          <p:nvPr/>
        </p:nvSpPr>
        <p:spPr>
          <a:xfrm>
            <a:off x="377788" y="2204864"/>
            <a:ext cx="4946290" cy="430887"/>
          </a:xfrm>
          <a:prstGeom prst="rect">
            <a:avLst/>
          </a:prstGeom>
          <a:noFill/>
        </p:spPr>
        <p:txBody>
          <a:bodyPr wrap="none" rtlCol="0">
            <a:spAutoFit/>
          </a:bodyPr>
          <a:lstStyle/>
          <a:p>
            <a:r>
              <a:rPr lang="en-US" altLang="zh-TW" sz="2200" dirty="0" smtClean="0"/>
              <a:t>Time Distance between the Time Series</a:t>
            </a:r>
            <a:r>
              <a:rPr lang="zh-TW" altLang="en-US" sz="2200" dirty="0" smtClean="0"/>
              <a:t>：</a:t>
            </a:r>
            <a:endParaRPr lang="zh-TW" altLang="en-US" sz="2200" dirty="0"/>
          </a:p>
        </p:txBody>
      </p:sp>
      <p:pic>
        <p:nvPicPr>
          <p:cNvPr id="4098" name="Picture 2" descr="F:\Sena\Desktop\擷取.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3386" y="2708920"/>
            <a:ext cx="5098215" cy="59378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F:\Sena\Desktop\擷取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3910" y="3429000"/>
            <a:ext cx="2989065" cy="27284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F:\Sena\Desktop\擷取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41378" y="3861048"/>
            <a:ext cx="5098215" cy="2801322"/>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6660232" y="4653136"/>
            <a:ext cx="379361"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6660232" y="6165304"/>
            <a:ext cx="379361"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92150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2990" y="260648"/>
            <a:ext cx="7638020" cy="1143000"/>
          </a:xfrm>
        </p:spPr>
        <p:txBody>
          <a:bodyPr>
            <a:noAutofit/>
          </a:bodyPr>
          <a:lstStyle/>
          <a:p>
            <a:r>
              <a:rPr lang="en-US" altLang="zh-TW" sz="3200" dirty="0" smtClean="0"/>
              <a:t>Learning Optimal Warping Window of DTW</a:t>
            </a:r>
            <a:endParaRPr lang="zh-TW" altLang="en-US" sz="3200" dirty="0"/>
          </a:p>
        </p:txBody>
      </p:sp>
      <p:pic>
        <p:nvPicPr>
          <p:cNvPr id="5122" name="Picture 2" descr="F:\Sena\Desktop\擷取7.PNG"/>
          <p:cNvPicPr>
            <a:picLocks noChangeAspect="1" noChangeArrowheads="1"/>
          </p:cNvPicPr>
          <p:nvPr/>
        </p:nvPicPr>
        <p:blipFill rotWithShape="1">
          <a:blip r:embed="rId2">
            <a:extLst>
              <a:ext uri="{28A0092B-C50C-407E-A947-70E740481C1C}">
                <a14:useLocalDpi xmlns:a14="http://schemas.microsoft.com/office/drawing/2010/main" val="0"/>
              </a:ext>
            </a:extLst>
          </a:blip>
          <a:srcRect l="5785"/>
          <a:stretch/>
        </p:blipFill>
        <p:spPr bwMode="auto">
          <a:xfrm>
            <a:off x="3596640" y="1124744"/>
            <a:ext cx="5223832" cy="5429609"/>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p:cNvSpPr txBox="1"/>
          <p:nvPr/>
        </p:nvSpPr>
        <p:spPr>
          <a:xfrm>
            <a:off x="107504" y="2705725"/>
            <a:ext cx="3417128" cy="1107996"/>
          </a:xfrm>
          <a:prstGeom prst="rect">
            <a:avLst/>
          </a:prstGeom>
          <a:noFill/>
        </p:spPr>
        <p:txBody>
          <a:bodyPr wrap="square" rtlCol="0">
            <a:spAutoFit/>
          </a:bodyPr>
          <a:lstStyle/>
          <a:p>
            <a:r>
              <a:rPr lang="en-US" altLang="zh-TW" sz="2200" dirty="0" smtClean="0"/>
              <a:t>Time Distance</a:t>
            </a:r>
            <a:r>
              <a:rPr lang="zh-TW" altLang="en-US" sz="2200" dirty="0" smtClean="0"/>
              <a:t> 即</a:t>
            </a:r>
            <a:r>
              <a:rPr lang="zh-TW" altLang="en-US" sz="2200" dirty="0" smtClean="0"/>
              <a:t>為</a:t>
            </a:r>
            <a:r>
              <a:rPr lang="zh-TW" altLang="en-US" sz="2200" dirty="0"/>
              <a:t>理想</a:t>
            </a:r>
            <a:r>
              <a:rPr lang="zh-TW" altLang="en-US" sz="2200" dirty="0" smtClean="0"/>
              <a:t>的</a:t>
            </a:r>
            <a:r>
              <a:rPr lang="en-US" altLang="zh-TW" sz="2200" dirty="0" smtClean="0"/>
              <a:t>Warping Path </a:t>
            </a:r>
            <a:r>
              <a:rPr lang="zh-TW" altLang="en-US" sz="2200" dirty="0" smtClean="0"/>
              <a:t>與實際的</a:t>
            </a:r>
            <a:r>
              <a:rPr lang="en-US" altLang="zh-TW" sz="2200" dirty="0" smtClean="0"/>
              <a:t>Warping Path </a:t>
            </a:r>
            <a:r>
              <a:rPr lang="zh-TW" altLang="en-US" sz="2200" dirty="0" smtClean="0"/>
              <a:t>的</a:t>
            </a:r>
            <a:r>
              <a:rPr lang="zh-TW" altLang="en-US" sz="2200" dirty="0" smtClean="0"/>
              <a:t>垂直距離。</a:t>
            </a:r>
            <a:endParaRPr lang="en-US" altLang="zh-TW" sz="2200" dirty="0" smtClean="0"/>
          </a:p>
        </p:txBody>
      </p:sp>
    </p:spTree>
    <p:extLst>
      <p:ext uri="{BB962C8B-B14F-4D97-AF65-F5344CB8AC3E}">
        <p14:creationId xmlns:p14="http://schemas.microsoft.com/office/powerpoint/2010/main" val="33565429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New Learning Method based on both Distances</a:t>
            </a:r>
            <a:endParaRPr lang="zh-TW" altLang="en-US" dirty="0"/>
          </a:p>
        </p:txBody>
      </p:sp>
      <p:pic>
        <p:nvPicPr>
          <p:cNvPr id="1026" name="Picture 2" descr="D:\Rika\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81" y="3395836"/>
            <a:ext cx="7259638" cy="3276600"/>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p:nvSpPr>
        <p:spPr>
          <a:xfrm>
            <a:off x="942181" y="1557953"/>
            <a:ext cx="4068452" cy="430887"/>
          </a:xfrm>
          <a:prstGeom prst="rect">
            <a:avLst/>
          </a:prstGeom>
        </p:spPr>
        <p:txBody>
          <a:bodyPr wrap="square">
            <a:spAutoFit/>
          </a:bodyPr>
          <a:lstStyle/>
          <a:p>
            <a:r>
              <a:rPr lang="en-US" altLang="zh-TW" sz="2200" dirty="0" err="1" smtClean="0"/>
              <a:t>Ev</a:t>
            </a:r>
            <a:r>
              <a:rPr lang="en-US" altLang="zh-TW" sz="2200" dirty="0" smtClean="0"/>
              <a:t> : the </a:t>
            </a:r>
            <a:r>
              <a:rPr lang="en-US" altLang="zh-TW" sz="2200" dirty="0"/>
              <a:t>results of DTW </a:t>
            </a:r>
            <a:r>
              <a:rPr lang="en-US" altLang="zh-TW" sz="2200" dirty="0" smtClean="0"/>
              <a:t>distance</a:t>
            </a:r>
            <a:endParaRPr lang="zh-TW" altLang="en-US" sz="2200" dirty="0"/>
          </a:p>
        </p:txBody>
      </p:sp>
      <p:sp>
        <p:nvSpPr>
          <p:cNvPr id="12" name="矩形 11"/>
          <p:cNvSpPr/>
          <p:nvPr/>
        </p:nvSpPr>
        <p:spPr>
          <a:xfrm>
            <a:off x="942181" y="2132856"/>
            <a:ext cx="4572000" cy="430887"/>
          </a:xfrm>
          <a:prstGeom prst="rect">
            <a:avLst/>
          </a:prstGeom>
        </p:spPr>
        <p:txBody>
          <a:bodyPr>
            <a:spAutoFit/>
          </a:bodyPr>
          <a:lstStyle/>
          <a:p>
            <a:r>
              <a:rPr lang="en-US" altLang="zh-TW" sz="2200" dirty="0" smtClean="0"/>
              <a:t>Et : the </a:t>
            </a:r>
            <a:r>
              <a:rPr lang="en-US" altLang="zh-TW" sz="2200" dirty="0"/>
              <a:t>results of time </a:t>
            </a:r>
            <a:r>
              <a:rPr lang="en-US" altLang="zh-TW" sz="2200" dirty="0" smtClean="0"/>
              <a:t>distance</a:t>
            </a:r>
            <a:endParaRPr lang="zh-TW" altLang="en-US" sz="2200" dirty="0"/>
          </a:p>
        </p:txBody>
      </p:sp>
      <p:sp>
        <p:nvSpPr>
          <p:cNvPr id="13" name="矩形 12"/>
          <p:cNvSpPr/>
          <p:nvPr/>
        </p:nvSpPr>
        <p:spPr>
          <a:xfrm>
            <a:off x="942181" y="2710081"/>
            <a:ext cx="3501280" cy="430887"/>
          </a:xfrm>
          <a:prstGeom prst="rect">
            <a:avLst/>
          </a:prstGeom>
        </p:spPr>
        <p:txBody>
          <a:bodyPr wrap="none">
            <a:spAutoFit/>
          </a:bodyPr>
          <a:lstStyle/>
          <a:p>
            <a:r>
              <a:rPr lang="en-US" altLang="zh-TW" sz="2200" dirty="0" err="1" smtClean="0"/>
              <a:t>Esum</a:t>
            </a:r>
            <a:r>
              <a:rPr lang="en-US" altLang="zh-TW" sz="2200" dirty="0" smtClean="0"/>
              <a:t> : the </a:t>
            </a:r>
            <a:r>
              <a:rPr lang="en-US" altLang="zh-TW" sz="2200" dirty="0"/>
              <a:t>sum of </a:t>
            </a:r>
            <a:r>
              <a:rPr lang="en-US" altLang="zh-TW" sz="2200" dirty="0" err="1"/>
              <a:t>Ev</a:t>
            </a:r>
            <a:r>
              <a:rPr lang="en-US" altLang="zh-TW" sz="2200" dirty="0"/>
              <a:t> and Et</a:t>
            </a:r>
            <a:endParaRPr lang="zh-TW" altLang="en-US" sz="2200" dirty="0"/>
          </a:p>
        </p:txBody>
      </p:sp>
    </p:spTree>
    <p:extLst>
      <p:ext uri="{BB962C8B-B14F-4D97-AF65-F5344CB8AC3E}">
        <p14:creationId xmlns:p14="http://schemas.microsoft.com/office/powerpoint/2010/main" val="29431917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New Learning Method based on both Distances</a:t>
            </a:r>
            <a:endParaRPr lang="zh-TW" altLang="en-US" dirty="0"/>
          </a:p>
        </p:txBody>
      </p:sp>
      <p:pic>
        <p:nvPicPr>
          <p:cNvPr id="1026" name="Picture 2" descr="D:\Rika\Desktop\擷取.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81" y="3395836"/>
            <a:ext cx="7259638" cy="32766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D:\Rika\Desktop\擷取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2181" y="2755776"/>
            <a:ext cx="48768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D:\Rika\Desktop\擷取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181" y="2136827"/>
            <a:ext cx="2819400" cy="495300"/>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942181" y="1628800"/>
            <a:ext cx="1031051" cy="430887"/>
          </a:xfrm>
          <a:prstGeom prst="rect">
            <a:avLst/>
          </a:prstGeom>
          <a:noFill/>
        </p:spPr>
        <p:txBody>
          <a:bodyPr wrap="none" rtlCol="0">
            <a:spAutoFit/>
          </a:bodyPr>
          <a:lstStyle/>
          <a:p>
            <a:r>
              <a:rPr lang="zh-TW" altLang="en-US" sz="2200" dirty="0" smtClean="0"/>
              <a:t>條件</a:t>
            </a:r>
            <a:r>
              <a:rPr lang="zh-TW" altLang="en-US" sz="2200" dirty="0" smtClean="0"/>
              <a:t>：</a:t>
            </a:r>
            <a:endParaRPr lang="zh-TW" altLang="en-US" sz="2200" dirty="0"/>
          </a:p>
        </p:txBody>
      </p:sp>
    </p:spTree>
    <p:extLst>
      <p:ext uri="{BB962C8B-B14F-4D97-AF65-F5344CB8AC3E}">
        <p14:creationId xmlns:p14="http://schemas.microsoft.com/office/powerpoint/2010/main" val="3115780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New Learning Method based on both Distances</a:t>
            </a:r>
            <a:endParaRPr lang="zh-TW" altLang="en-US" dirty="0"/>
          </a:p>
        </p:txBody>
      </p:sp>
      <p:pic>
        <p:nvPicPr>
          <p:cNvPr id="2050" name="Picture 2" descr="D:\Rika\Desktop\擷取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1884772"/>
            <a:ext cx="5544616" cy="3056396"/>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395536" y="1700808"/>
            <a:ext cx="3168352" cy="1200329"/>
          </a:xfrm>
          <a:prstGeom prst="rect">
            <a:avLst/>
          </a:prstGeom>
        </p:spPr>
        <p:txBody>
          <a:bodyPr wrap="square">
            <a:spAutoFit/>
          </a:bodyPr>
          <a:lstStyle/>
          <a:p>
            <a:r>
              <a:rPr lang="en-US" altLang="zh-TW" dirty="0" smtClean="0"/>
              <a:t>1. </a:t>
            </a:r>
            <a:r>
              <a:rPr lang="en-US" altLang="zh-TW" dirty="0"/>
              <a:t>Setting the </a:t>
            </a:r>
            <a:r>
              <a:rPr lang="en-US" altLang="zh-TW" dirty="0" smtClean="0"/>
              <a:t>candidates,</a:t>
            </a:r>
            <a:r>
              <a:rPr lang="zh-TW" altLang="en-US" dirty="0" smtClean="0"/>
              <a:t> </a:t>
            </a:r>
            <a:r>
              <a:rPr lang="en-US" altLang="zh-TW" dirty="0" smtClean="0"/>
              <a:t>select </a:t>
            </a:r>
            <a:r>
              <a:rPr lang="en-US" altLang="zh-TW" dirty="0"/>
              <a:t>the segment </a:t>
            </a:r>
            <a:r>
              <a:rPr lang="en-US" altLang="zh-TW" dirty="0" smtClean="0"/>
              <a:t>that</a:t>
            </a:r>
            <a:r>
              <a:rPr lang="zh-TW" altLang="en-US" dirty="0" smtClean="0"/>
              <a:t> </a:t>
            </a:r>
            <a:r>
              <a:rPr lang="en-US" altLang="zh-TW" dirty="0" smtClean="0"/>
              <a:t>contains </a:t>
            </a:r>
            <a:r>
              <a:rPr lang="en-US" altLang="zh-TW" dirty="0"/>
              <a:t>minimum of </a:t>
            </a:r>
            <a:r>
              <a:rPr lang="en-US" altLang="zh-TW" dirty="0" err="1"/>
              <a:t>Ev</a:t>
            </a:r>
            <a:r>
              <a:rPr lang="en-US" altLang="zh-TW" dirty="0"/>
              <a:t> </a:t>
            </a:r>
            <a:r>
              <a:rPr lang="en-US" altLang="zh-TW" dirty="0" smtClean="0"/>
              <a:t>if</a:t>
            </a:r>
            <a:r>
              <a:rPr lang="zh-TW" altLang="en-US" dirty="0" smtClean="0"/>
              <a:t> </a:t>
            </a:r>
            <a:r>
              <a:rPr lang="en-US" altLang="zh-TW" dirty="0" smtClean="0"/>
              <a:t>candidates </a:t>
            </a:r>
            <a:r>
              <a:rPr lang="en-US" altLang="zh-TW" dirty="0"/>
              <a:t>consist </a:t>
            </a:r>
            <a:r>
              <a:rPr lang="en-US" altLang="zh-TW" dirty="0" smtClean="0"/>
              <a:t>of</a:t>
            </a:r>
            <a:r>
              <a:rPr lang="zh-TW" altLang="en-US" dirty="0" smtClean="0"/>
              <a:t> </a:t>
            </a:r>
            <a:r>
              <a:rPr lang="en-US" altLang="zh-TW" dirty="0" smtClean="0"/>
              <a:t>several </a:t>
            </a:r>
            <a:r>
              <a:rPr lang="en-US" altLang="zh-TW" dirty="0"/>
              <a:t>segments.</a:t>
            </a:r>
            <a:endParaRPr lang="zh-TW" altLang="en-US" dirty="0"/>
          </a:p>
        </p:txBody>
      </p:sp>
      <p:sp>
        <p:nvSpPr>
          <p:cNvPr id="6" name="矩形 5"/>
          <p:cNvSpPr/>
          <p:nvPr/>
        </p:nvSpPr>
        <p:spPr>
          <a:xfrm>
            <a:off x="395536" y="2901137"/>
            <a:ext cx="3168352" cy="1200329"/>
          </a:xfrm>
          <a:prstGeom prst="rect">
            <a:avLst/>
          </a:prstGeom>
        </p:spPr>
        <p:txBody>
          <a:bodyPr wrap="square">
            <a:spAutoFit/>
          </a:bodyPr>
          <a:lstStyle/>
          <a:p>
            <a:r>
              <a:rPr lang="en-US" altLang="zh-TW" dirty="0" smtClean="0"/>
              <a:t>2. </a:t>
            </a:r>
            <a:r>
              <a:rPr lang="en-US" altLang="zh-TW" dirty="0"/>
              <a:t>If </a:t>
            </a:r>
            <a:r>
              <a:rPr lang="en-US" altLang="zh-TW" dirty="0" err="1"/>
              <a:t>Ev</a:t>
            </a:r>
            <a:r>
              <a:rPr lang="en-US" altLang="zh-TW" dirty="0"/>
              <a:t> and Et. changes with </a:t>
            </a:r>
            <a:r>
              <a:rPr lang="en-US" altLang="zh-TW" dirty="0" smtClean="0"/>
              <a:t>all</a:t>
            </a:r>
            <a:r>
              <a:rPr lang="zh-TW" altLang="en-US" dirty="0" smtClean="0"/>
              <a:t> </a:t>
            </a:r>
            <a:r>
              <a:rPr lang="en-US" altLang="zh-TW" dirty="0" smtClean="0"/>
              <a:t>candidates</a:t>
            </a:r>
            <a:r>
              <a:rPr lang="en-US" altLang="zh-TW" dirty="0"/>
              <a:t>, select </a:t>
            </a:r>
            <a:r>
              <a:rPr lang="en-US" altLang="zh-TW" dirty="0" smtClean="0"/>
              <a:t>the</a:t>
            </a:r>
            <a:r>
              <a:rPr lang="zh-TW" altLang="en-US" dirty="0" smtClean="0"/>
              <a:t> </a:t>
            </a:r>
            <a:r>
              <a:rPr lang="en-US" altLang="zh-TW" dirty="0" smtClean="0"/>
              <a:t>size </a:t>
            </a:r>
            <a:r>
              <a:rPr lang="en-US" altLang="zh-TW" dirty="0"/>
              <a:t>leading to the first </a:t>
            </a:r>
            <a:r>
              <a:rPr lang="en-US" altLang="zh-TW" dirty="0" smtClean="0"/>
              <a:t>relative</a:t>
            </a:r>
            <a:r>
              <a:rPr lang="zh-TW" altLang="en-US" dirty="0" smtClean="0"/>
              <a:t> </a:t>
            </a:r>
            <a:r>
              <a:rPr lang="en-US" altLang="zh-TW" dirty="0" smtClean="0"/>
              <a:t>minimal </a:t>
            </a:r>
            <a:r>
              <a:rPr lang="en-US" altLang="zh-TW" dirty="0"/>
              <a:t>point </a:t>
            </a:r>
            <a:r>
              <a:rPr lang="en-US" altLang="zh-TW" dirty="0" smtClean="0"/>
              <a:t>of</a:t>
            </a:r>
            <a:r>
              <a:rPr lang="zh-TW" altLang="en-US" dirty="0" smtClean="0"/>
              <a:t> </a:t>
            </a:r>
            <a:r>
              <a:rPr lang="en-US" altLang="zh-TW" dirty="0" err="1" smtClean="0"/>
              <a:t>Esum</a:t>
            </a:r>
            <a:r>
              <a:rPr lang="en-US" altLang="zh-TW" dirty="0" smtClean="0"/>
              <a:t> </a:t>
            </a:r>
            <a:r>
              <a:rPr lang="en-US" altLang="zh-TW" dirty="0"/>
              <a:t>.</a:t>
            </a:r>
            <a:endParaRPr lang="zh-TW" altLang="en-US" dirty="0"/>
          </a:p>
        </p:txBody>
      </p:sp>
      <p:sp>
        <p:nvSpPr>
          <p:cNvPr id="14" name="矩形 13"/>
          <p:cNvSpPr/>
          <p:nvPr/>
        </p:nvSpPr>
        <p:spPr>
          <a:xfrm>
            <a:off x="395536" y="4101466"/>
            <a:ext cx="3168352" cy="923330"/>
          </a:xfrm>
          <a:prstGeom prst="rect">
            <a:avLst/>
          </a:prstGeom>
        </p:spPr>
        <p:txBody>
          <a:bodyPr wrap="square">
            <a:spAutoFit/>
          </a:bodyPr>
          <a:lstStyle/>
          <a:p>
            <a:r>
              <a:rPr lang="en-US" altLang="zh-TW" dirty="0" smtClean="0"/>
              <a:t>3. </a:t>
            </a:r>
            <a:r>
              <a:rPr lang="en-US" altLang="zh-TW" dirty="0"/>
              <a:t>If </a:t>
            </a:r>
            <a:r>
              <a:rPr lang="en-US" altLang="zh-TW" dirty="0" err="1"/>
              <a:t>Ev</a:t>
            </a:r>
            <a:r>
              <a:rPr lang="en-US" altLang="zh-TW" dirty="0"/>
              <a:t> is a constant with </a:t>
            </a:r>
            <a:r>
              <a:rPr lang="en-US" altLang="zh-TW" dirty="0" smtClean="0"/>
              <a:t>all</a:t>
            </a:r>
            <a:r>
              <a:rPr lang="zh-TW" altLang="en-US" dirty="0" smtClean="0"/>
              <a:t> </a:t>
            </a:r>
            <a:r>
              <a:rPr lang="en-US" altLang="zh-TW" dirty="0" smtClean="0"/>
              <a:t>candidates</a:t>
            </a:r>
            <a:r>
              <a:rPr lang="en-US" altLang="zh-TW" dirty="0"/>
              <a:t>, select the </a:t>
            </a:r>
            <a:r>
              <a:rPr lang="en-US" altLang="zh-TW" dirty="0" smtClean="0"/>
              <a:t>size</a:t>
            </a:r>
            <a:r>
              <a:rPr lang="zh-TW" altLang="en-US" dirty="0" smtClean="0"/>
              <a:t> </a:t>
            </a:r>
            <a:r>
              <a:rPr lang="en-US" altLang="zh-TW" dirty="0" smtClean="0"/>
              <a:t>leading </a:t>
            </a:r>
            <a:r>
              <a:rPr lang="en-US" altLang="zh-TW" dirty="0"/>
              <a:t>to the minimum of Et .</a:t>
            </a:r>
            <a:endParaRPr lang="zh-TW" altLang="en-US" dirty="0"/>
          </a:p>
        </p:txBody>
      </p:sp>
      <p:sp>
        <p:nvSpPr>
          <p:cNvPr id="15" name="矩形 14"/>
          <p:cNvSpPr/>
          <p:nvPr/>
        </p:nvSpPr>
        <p:spPr>
          <a:xfrm>
            <a:off x="395536" y="5024796"/>
            <a:ext cx="3168352" cy="923330"/>
          </a:xfrm>
          <a:prstGeom prst="rect">
            <a:avLst/>
          </a:prstGeom>
        </p:spPr>
        <p:txBody>
          <a:bodyPr wrap="square">
            <a:spAutoFit/>
          </a:bodyPr>
          <a:lstStyle/>
          <a:p>
            <a:r>
              <a:rPr lang="en-US" altLang="zh-TW" dirty="0" smtClean="0"/>
              <a:t>4. </a:t>
            </a:r>
            <a:r>
              <a:rPr lang="en-US" altLang="zh-TW" dirty="0"/>
              <a:t>If different values lead to </a:t>
            </a:r>
            <a:r>
              <a:rPr lang="en-US" altLang="zh-TW" dirty="0" smtClean="0"/>
              <a:t>the</a:t>
            </a:r>
            <a:r>
              <a:rPr lang="zh-TW" altLang="en-US" dirty="0" smtClean="0"/>
              <a:t> </a:t>
            </a:r>
            <a:r>
              <a:rPr lang="en-US" altLang="zh-TW" dirty="0" smtClean="0"/>
              <a:t>first </a:t>
            </a:r>
            <a:r>
              <a:rPr lang="en-US" altLang="zh-TW" dirty="0"/>
              <a:t>relative </a:t>
            </a:r>
            <a:r>
              <a:rPr lang="en-US" altLang="zh-TW" dirty="0" smtClean="0"/>
              <a:t>minimal,</a:t>
            </a:r>
            <a:r>
              <a:rPr lang="zh-TW" altLang="en-US" dirty="0" smtClean="0"/>
              <a:t> </a:t>
            </a:r>
            <a:r>
              <a:rPr lang="en-US" altLang="zh-TW" dirty="0" smtClean="0"/>
              <a:t>select </a:t>
            </a:r>
            <a:r>
              <a:rPr lang="en-US" altLang="zh-TW" dirty="0"/>
              <a:t>the median.</a:t>
            </a:r>
            <a:endParaRPr lang="zh-TW" altLang="en-US" dirty="0"/>
          </a:p>
        </p:txBody>
      </p:sp>
    </p:spTree>
    <p:extLst>
      <p:ext uri="{BB962C8B-B14F-4D97-AF65-F5344CB8AC3E}">
        <p14:creationId xmlns:p14="http://schemas.microsoft.com/office/powerpoint/2010/main" val="11373159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t>
            </a:r>
            <a:endParaRPr lang="zh-TW" altLang="en-US" dirty="0"/>
          </a:p>
        </p:txBody>
      </p:sp>
      <p:pic>
        <p:nvPicPr>
          <p:cNvPr id="3075" name="Picture 3" descr="D:\Rika\Desktop\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628775"/>
            <a:ext cx="3829050" cy="36004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Rika\Desktop\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514475"/>
            <a:ext cx="3771900" cy="371475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831095" y="5624193"/>
            <a:ext cx="3481810" cy="430887"/>
          </a:xfrm>
          <a:prstGeom prst="rect">
            <a:avLst/>
          </a:prstGeom>
        </p:spPr>
        <p:txBody>
          <a:bodyPr wrap="square">
            <a:spAutoFit/>
          </a:bodyPr>
          <a:lstStyle/>
          <a:p>
            <a:r>
              <a:rPr lang="en-US" altLang="zh-TW" sz="2200" dirty="0"/>
              <a:t>Comparison of distance </a:t>
            </a:r>
            <a:r>
              <a:rPr lang="en-US" altLang="zh-TW" sz="2200" dirty="0" smtClean="0"/>
              <a:t>pairs</a:t>
            </a:r>
            <a:endParaRPr lang="zh-TW" altLang="en-US" sz="2200" dirty="0"/>
          </a:p>
        </p:txBody>
      </p:sp>
    </p:spTree>
    <p:extLst>
      <p:ext uri="{BB962C8B-B14F-4D97-AF65-F5344CB8AC3E}">
        <p14:creationId xmlns:p14="http://schemas.microsoft.com/office/powerpoint/2010/main" val="15161423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t>
            </a:r>
            <a:endParaRPr lang="zh-TW" altLang="en-US" dirty="0"/>
          </a:p>
        </p:txBody>
      </p:sp>
      <p:pic>
        <p:nvPicPr>
          <p:cNvPr id="4098" name="Picture 2" descr="D:\Rika\Desktop\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048" y="1785936"/>
            <a:ext cx="3590925" cy="3286125"/>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D:\Rika\Desktop\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785937"/>
            <a:ext cx="3543300" cy="32861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p:nvSpPr>
        <p:spPr>
          <a:xfrm>
            <a:off x="2831095" y="5624193"/>
            <a:ext cx="3481810" cy="430887"/>
          </a:xfrm>
          <a:prstGeom prst="rect">
            <a:avLst/>
          </a:prstGeom>
        </p:spPr>
        <p:txBody>
          <a:bodyPr wrap="square">
            <a:spAutoFit/>
          </a:bodyPr>
          <a:lstStyle/>
          <a:p>
            <a:r>
              <a:rPr lang="en-US" altLang="zh-TW" sz="2200" dirty="0"/>
              <a:t>Comparison of distance </a:t>
            </a:r>
            <a:r>
              <a:rPr lang="en-US" altLang="zh-TW" sz="2200" dirty="0" smtClean="0"/>
              <a:t>pairs</a:t>
            </a:r>
            <a:endParaRPr lang="zh-TW" altLang="en-US" sz="2200" dirty="0"/>
          </a:p>
        </p:txBody>
      </p:sp>
    </p:spTree>
    <p:extLst>
      <p:ext uri="{BB962C8B-B14F-4D97-AF65-F5344CB8AC3E}">
        <p14:creationId xmlns:p14="http://schemas.microsoft.com/office/powerpoint/2010/main" val="32658734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Rika\Desktop\f.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4390" y="1124744"/>
            <a:ext cx="3448050" cy="335280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D:\Rika\Desktop\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786" y="1124744"/>
            <a:ext cx="3486150" cy="3343275"/>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lstStyle/>
          <a:p>
            <a:r>
              <a:rPr lang="en-US" altLang="zh-TW" dirty="0" smtClean="0"/>
              <a:t>Experiment</a:t>
            </a:r>
            <a:endParaRPr lang="zh-TW" altLang="en-US" dirty="0"/>
          </a:p>
        </p:txBody>
      </p:sp>
      <p:pic>
        <p:nvPicPr>
          <p:cNvPr id="5124" name="Picture 4" descr="D:\Rika\Desktop\12.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081" y="4388693"/>
            <a:ext cx="7335838"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582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1">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621</TotalTime>
  <Words>297</Words>
  <Application>Microsoft Office PowerPoint</Application>
  <PresentationFormat>如螢幕大小 (4:3)</PresentationFormat>
  <Paragraphs>36</Paragraphs>
  <Slides>13</Slides>
  <Notes>0</Notes>
  <HiddenSlides>0</HiddenSlides>
  <MMClips>0</MMClips>
  <ScaleCrop>false</ScaleCrop>
  <HeadingPairs>
    <vt:vector size="4" baseType="variant">
      <vt:variant>
        <vt:lpstr>佈景主題</vt:lpstr>
      </vt:variant>
      <vt:variant>
        <vt:i4>1</vt:i4>
      </vt:variant>
      <vt:variant>
        <vt:lpstr>投影片標題</vt:lpstr>
      </vt:variant>
      <vt:variant>
        <vt:i4>13</vt:i4>
      </vt:variant>
    </vt:vector>
  </HeadingPairs>
  <TitlesOfParts>
    <vt:vector size="14" baseType="lpstr">
      <vt:lpstr>Office 佈景主題</vt:lpstr>
      <vt:lpstr>Learning Optimal Warping Window Size of DTW for Time Series Classification</vt:lpstr>
      <vt:lpstr>Abstract</vt:lpstr>
      <vt:lpstr>DTW and Warping Path</vt:lpstr>
      <vt:lpstr>Global Constraints of DTW</vt:lpstr>
      <vt:lpstr>Global Constraints of DTW</vt:lpstr>
      <vt:lpstr>Learning Optimal Warping Window of DTW</vt:lpstr>
      <vt:lpstr>Learning Optimal Warping Window of DTW</vt:lpstr>
      <vt:lpstr>New Learning Method based on both Distances</vt:lpstr>
      <vt:lpstr>New Learning Method based on both Distances</vt:lpstr>
      <vt:lpstr>New Learning Method based on both Distances</vt:lpstr>
      <vt:lpstr>Experiment</vt:lpstr>
      <vt:lpstr>Experiment</vt:lpstr>
      <vt:lpstr>Experiment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Optimal Warping Window Size of DTW for Time Series Classification</dc:title>
  <dc:creator>Sena</dc:creator>
  <cp:lastModifiedBy>Rika</cp:lastModifiedBy>
  <cp:revision>25</cp:revision>
  <dcterms:created xsi:type="dcterms:W3CDTF">2013-10-14T14:41:24Z</dcterms:created>
  <dcterms:modified xsi:type="dcterms:W3CDTF">2013-10-22T09:51:16Z</dcterms:modified>
</cp:coreProperties>
</file>