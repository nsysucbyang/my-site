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6" r:id="rId4"/>
    <p:sldId id="265" r:id="rId5"/>
    <p:sldId id="268" r:id="rId6"/>
    <p:sldId id="267" r:id="rId7"/>
    <p:sldId id="269" r:id="rId8"/>
    <p:sldId id="270" r:id="rId9"/>
    <p:sldId id="271" r:id="rId10"/>
    <p:sldId id="272" r:id="rId11"/>
    <p:sldId id="273" r:id="rId12"/>
    <p:sldId id="274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66"/>
            <p14:sldId id="265"/>
            <p14:sldId id="268"/>
            <p14:sldId id="267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9" autoAdjust="0"/>
    <p:restoredTop sz="94718" autoAdjust="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ubs.acs.org/doi/abs/10.1021/ac802041e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irlab.org/jang/books/dcpr/dpDtw.asp?title=8-4%20Dynamic%20Time%20Warping&amp;language=al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http://pubs.acs.org/doi/abs/10.1021/ac802041e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Ref: </a:t>
            </a:r>
            <a:r>
              <a:rPr lang="en-US" altLang="zh-TW" dirty="0" smtClean="0">
                <a:hlinkClick r:id="rId3"/>
              </a:rPr>
              <a:t>http://mirlab.org/jang/books/dcpr/dpDtw.asp?title=8-4%20Dynamic%20Time%20Warping&amp;language=all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112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85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Alignment Using Variable Penalty Dynamic Time Warping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/>
          </a:bodyPr>
          <a:lstStyle/>
          <a:p>
            <a:r>
              <a:rPr lang="en-US" altLang="zh-TW" b="1" dirty="0"/>
              <a:t>David Clifford</a:t>
            </a:r>
            <a:r>
              <a:rPr lang="en-US" altLang="zh-TW" b="1" dirty="0" smtClean="0"/>
              <a:t>, </a:t>
            </a:r>
            <a:r>
              <a:rPr lang="en-US" altLang="zh-TW" b="1" dirty="0"/>
              <a:t>Glenn Stone</a:t>
            </a:r>
            <a:r>
              <a:rPr lang="en-US" altLang="zh-TW" b="1" dirty="0" smtClean="0"/>
              <a:t>, </a:t>
            </a:r>
            <a:r>
              <a:rPr lang="en-US" altLang="zh-TW" b="1" dirty="0"/>
              <a:t>Ivan </a:t>
            </a:r>
            <a:r>
              <a:rPr lang="en-US" altLang="zh-TW" b="1" dirty="0" err="1"/>
              <a:t>Montoliu</a:t>
            </a:r>
            <a:r>
              <a:rPr lang="en-US" altLang="zh-TW" b="1" dirty="0" smtClean="0"/>
              <a:t>, </a:t>
            </a:r>
            <a:r>
              <a:rPr lang="en-US" altLang="zh-TW" b="1" dirty="0"/>
              <a:t>Serge </a:t>
            </a:r>
            <a:r>
              <a:rPr lang="en-US" altLang="zh-TW" b="1" dirty="0" err="1"/>
              <a:t>Rezzi</a:t>
            </a:r>
            <a:r>
              <a:rPr lang="en-US" altLang="zh-TW" b="1" dirty="0" smtClean="0"/>
              <a:t>, Francois-Pierre Martin, Philippe </a:t>
            </a:r>
            <a:r>
              <a:rPr lang="en-US" altLang="zh-TW" b="1" dirty="0"/>
              <a:t>Guy</a:t>
            </a:r>
            <a:r>
              <a:rPr lang="en-US" altLang="zh-TW" b="1" dirty="0" smtClean="0"/>
              <a:t>, </a:t>
            </a:r>
            <a:r>
              <a:rPr lang="en-US" altLang="zh-TW" b="1" dirty="0"/>
              <a:t>Stephen Bruce</a:t>
            </a:r>
            <a:r>
              <a:rPr lang="en-US" altLang="zh-TW" b="1" dirty="0" smtClean="0"/>
              <a:t>, </a:t>
            </a:r>
            <a:r>
              <a:rPr lang="en-US" altLang="zh-TW" b="1" dirty="0"/>
              <a:t>and Sunil </a:t>
            </a:r>
            <a:r>
              <a:rPr lang="en-US" altLang="zh-TW" b="1" dirty="0" err="1" smtClean="0"/>
              <a:t>Kochhar</a:t>
            </a:r>
            <a:endParaRPr lang="en-US" altLang="zh-TW" dirty="0"/>
          </a:p>
          <a:p>
            <a:r>
              <a:rPr lang="en-US" altLang="zh-TW" b="1" dirty="0"/>
              <a:t>Analytical Chemistry, Vol. 81, No. 3, February 1, 2009</a:t>
            </a: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2013/10/22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90000"/>
              </a:lnSpc>
              <a:buNone/>
            </a:pPr>
            <a:r>
              <a:rPr lang="en-US" altLang="zh-TW" sz="2300" dirty="0"/>
              <a:t>In this article we highlight a novel variation on </a:t>
            </a:r>
            <a:r>
              <a:rPr lang="en-US" altLang="zh-TW" sz="2300" dirty="0" smtClean="0"/>
              <a:t>dynamic time </a:t>
            </a:r>
            <a:r>
              <a:rPr lang="en-US" altLang="zh-TW" sz="2300" dirty="0"/>
              <a:t>warping (DTW) for aligning chromatogram </a:t>
            </a:r>
            <a:r>
              <a:rPr lang="en-US" altLang="zh-TW" sz="2300" dirty="0" smtClean="0"/>
              <a:t>signals. We </a:t>
            </a:r>
            <a:r>
              <a:rPr lang="en-US" altLang="zh-TW" sz="2300" dirty="0"/>
              <a:t>are interested in sets of signals that can be </a:t>
            </a:r>
            <a:r>
              <a:rPr lang="en-US" altLang="zh-TW" sz="2300" dirty="0" smtClean="0"/>
              <a:t>aligned well </a:t>
            </a:r>
            <a:r>
              <a:rPr lang="en-US" altLang="zh-TW" sz="2300" dirty="0"/>
              <a:t>locally, but not globally, by shifting individual </a:t>
            </a:r>
            <a:r>
              <a:rPr lang="en-US" altLang="zh-TW" sz="2300" dirty="0" smtClean="0"/>
              <a:t>signals in </a:t>
            </a:r>
            <a:r>
              <a:rPr lang="en-US" altLang="zh-TW" sz="2300" dirty="0"/>
              <a:t>time. This kind of alignment is often sufficient </a:t>
            </a:r>
            <a:r>
              <a:rPr lang="en-US" altLang="zh-TW" sz="2300" dirty="0" smtClean="0"/>
              <a:t>for aligning </a:t>
            </a:r>
            <a:r>
              <a:rPr lang="en-US" altLang="zh-TW" sz="2300" dirty="0"/>
              <a:t>gas chromatography data. Regular DTW </a:t>
            </a:r>
            <a:r>
              <a:rPr lang="en-US" altLang="zh-TW" sz="2300" dirty="0" smtClean="0"/>
              <a:t>often “over-warps</a:t>
            </a:r>
            <a:r>
              <a:rPr lang="en-US" altLang="zh-TW" sz="2300" dirty="0"/>
              <a:t>” signals and introduces artificial features </a:t>
            </a:r>
            <a:r>
              <a:rPr lang="en-US" altLang="zh-TW" sz="2300" dirty="0" smtClean="0"/>
              <a:t>into the </a:t>
            </a:r>
            <a:r>
              <a:rPr lang="en-US" altLang="zh-TW" sz="2300" dirty="0"/>
              <a:t>aligned data. To overcome this we introduce a </a:t>
            </a:r>
            <a:r>
              <a:rPr lang="en-US" altLang="zh-TW" sz="2300" dirty="0" smtClean="0"/>
              <a:t>variable penalty </a:t>
            </a:r>
            <a:r>
              <a:rPr lang="en-US" altLang="zh-TW" sz="2300" dirty="0"/>
              <a:t>into the DTW process. The penalty is added </a:t>
            </a:r>
            <a:r>
              <a:rPr lang="en-US" altLang="zh-TW" sz="2300" dirty="0" smtClean="0"/>
              <a:t>to the </a:t>
            </a:r>
            <a:r>
              <a:rPr lang="en-US" altLang="zh-TW" sz="2300" dirty="0"/>
              <a:t>distance metric whenever a </a:t>
            </a:r>
            <a:r>
              <a:rPr lang="en-US" altLang="zh-TW" sz="2300" dirty="0" err="1"/>
              <a:t>nondiagonal</a:t>
            </a:r>
            <a:r>
              <a:rPr lang="en-US" altLang="zh-TW" sz="2300" dirty="0"/>
              <a:t> step is </a:t>
            </a:r>
            <a:r>
              <a:rPr lang="en-US" altLang="zh-TW" sz="2300" dirty="0" smtClean="0"/>
              <a:t>taken. We </a:t>
            </a:r>
            <a:r>
              <a:rPr lang="en-US" altLang="zh-TW" sz="2300" dirty="0"/>
              <a:t>select our penalty based on a morphological </a:t>
            </a:r>
            <a:r>
              <a:rPr lang="en-US" altLang="zh-TW" sz="2300" dirty="0" smtClean="0"/>
              <a:t>dilation of </a:t>
            </a:r>
            <a:r>
              <a:rPr lang="en-US" altLang="zh-TW" sz="2300" dirty="0"/>
              <a:t>the two signals. We showcase our method by </a:t>
            </a:r>
            <a:r>
              <a:rPr lang="en-US" altLang="zh-TW" sz="2300" dirty="0" smtClean="0"/>
              <a:t>aligning GC/MS </a:t>
            </a:r>
            <a:r>
              <a:rPr lang="en-US" altLang="zh-TW" sz="2300" dirty="0" err="1"/>
              <a:t>datafiles</a:t>
            </a:r>
            <a:r>
              <a:rPr lang="en-US" altLang="zh-TW" sz="2300" dirty="0"/>
              <a:t> from 712 blood plasma samples </a:t>
            </a:r>
            <a:r>
              <a:rPr lang="en-US" altLang="zh-TW" sz="2300" dirty="0" smtClean="0"/>
              <a:t>processed in </a:t>
            </a:r>
            <a:r>
              <a:rPr lang="en-US" altLang="zh-TW" sz="2300" dirty="0"/>
              <a:t>23 batches over the course of 6 months. </a:t>
            </a:r>
            <a:r>
              <a:rPr lang="en-US" altLang="zh-TW" sz="2300" dirty="0" smtClean="0"/>
              <a:t>The use </a:t>
            </a:r>
            <a:r>
              <a:rPr lang="en-US" altLang="zh-TW" sz="2300" dirty="0"/>
              <a:t>of variable penalty DTW significantly reduces </a:t>
            </a:r>
            <a:r>
              <a:rPr lang="en-US" altLang="zh-TW" sz="2300" dirty="0" smtClean="0"/>
              <a:t>the number </a:t>
            </a:r>
            <a:r>
              <a:rPr lang="en-US" altLang="zh-TW" sz="2300" dirty="0"/>
              <a:t>of </a:t>
            </a:r>
            <a:r>
              <a:rPr lang="en-US" altLang="zh-TW" sz="2300" dirty="0" err="1"/>
              <a:t>nondiagonal</a:t>
            </a:r>
            <a:r>
              <a:rPr lang="en-US" altLang="zh-TW" sz="2300" dirty="0"/>
              <a:t> moves. In the examples </a:t>
            </a:r>
            <a:r>
              <a:rPr lang="en-US" altLang="zh-TW" sz="2300" dirty="0" smtClean="0"/>
              <a:t>presented here</a:t>
            </a:r>
            <a:r>
              <a:rPr lang="en-US" altLang="zh-TW" sz="2300" dirty="0"/>
              <a:t>, this reduction is by a factor of 30, with no cost </a:t>
            </a:r>
            <a:r>
              <a:rPr lang="en-US" altLang="zh-TW" sz="2300" dirty="0" smtClean="0"/>
              <a:t>to visual </a:t>
            </a:r>
            <a:r>
              <a:rPr lang="en-US" altLang="zh-TW" sz="2300" dirty="0"/>
              <a:t>quality of the alignment.</a:t>
            </a:r>
            <a:endParaRPr lang="en-US" altLang="zh-TW" sz="23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245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Time Warping (</a:t>
            </a:r>
            <a:r>
              <a:rPr lang="en-US" altLang="zh-TW" dirty="0" smtClean="0"/>
              <a:t>1/3)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</a:rPr>
                      <m:t>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𝑇𝑊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latin typeface="Cambria Math"/>
                      </a:rPr>
                      <m:t>cost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+</m:t>
                    </m:r>
                  </m:oMath>
                </a14:m>
                <a:r>
                  <a:rPr lang="en-US" altLang="zh-TW" i="1" dirty="0">
                    <a:latin typeface="Cambria Math"/>
                  </a:rPr>
                  <a:t/>
                </a:r>
                <a:br>
                  <a:rPr lang="en-US" altLang="zh-TW" i="1" dirty="0">
                    <a:latin typeface="Cambria Math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,−1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3074" name="Picture 2" descr="http://mirlab.org/jang/books/dcpr/image/dtwLocalPathConstraint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06" y="2996952"/>
            <a:ext cx="47053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51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0.1, 0.3, 0.5, 0.4, 0.2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0.3, 0.2, 0.4, 0.1, 0.5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mtClean="0">
                        <a:latin typeface="Cambria Math"/>
                      </a:rPr>
                      <m:t>𝑐𝑜𝑠𝑡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69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69295"/>
              </p:ext>
            </p:extLst>
          </p:nvPr>
        </p:nvGraphicFramePr>
        <p:xfrm>
          <a:off x="900395" y="1602000"/>
          <a:ext cx="7199997" cy="30600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571"/>
                <a:gridCol w="1028571"/>
                <a:gridCol w="1028571"/>
                <a:gridCol w="1028571"/>
                <a:gridCol w="1028571"/>
                <a:gridCol w="1028571"/>
                <a:gridCol w="1028571"/>
              </a:tblGrid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0.4+0.6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0.3+0.5</a:t>
                      </a:r>
                      <a:endParaRPr lang="en-US" altLang="zh-TW" sz="20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0.4+0.4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0.1+0.4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0.3+0.3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0.1+0.3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0+0.4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0.1+0.2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0.3+0.2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dirty="0" smtClean="0">
                          <a:effectLst/>
                        </a:rPr>
                        <a:t>INF</a:t>
                      </a:r>
                      <a:endParaRPr lang="en-US" altLang="zh-TW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0.2+0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0+0.2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0.1+0.5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effectLst/>
                        </a:rPr>
                        <a:t>INF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813043"/>
              </p:ext>
            </p:extLst>
          </p:nvPr>
        </p:nvGraphicFramePr>
        <p:xfrm>
          <a:off x="1428328" y="4937720"/>
          <a:ext cx="6096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9" name="直線接點 8"/>
          <p:cNvCxnSpPr/>
          <p:nvPr/>
        </p:nvCxnSpPr>
        <p:spPr>
          <a:xfrm>
            <a:off x="2051720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3275856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427984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4427984" y="5369768"/>
            <a:ext cx="1296144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5724128" y="5369768"/>
            <a:ext cx="1152128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876256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28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Variable Penalty DTW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sz="23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3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3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3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3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3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3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3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3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3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3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th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move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dirty="0"/>
                                <m:t>nondiagonal</m:t>
                              </m:r>
                            </m:e>
                          </m:d>
                        </m:e>
                      </m:nary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3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3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3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3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3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3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3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3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3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sz="23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l="715" t="2622" r="2120" b="741"/>
          <a:stretch/>
        </p:blipFill>
        <p:spPr>
          <a:xfrm>
            <a:off x="1144413" y="3632068"/>
            <a:ext cx="6855173" cy="322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2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 (1/6)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5" y="1602000"/>
            <a:ext cx="9002409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31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</a:t>
            </a:r>
            <a:r>
              <a:rPr lang="en-US" altLang="zh-TW" dirty="0" smtClean="0"/>
              <a:t>(2/6)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Regular DTW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penalty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 smtClean="0"/>
                  <a:t>Constant Penalty DTW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 smtClean="0"/>
                  <a:t>Parametric Time Warping</a:t>
                </a:r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Variable Penalty DTW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dirty="0" smtClean="0">
                            <a:solidFill>
                              <a:srgbClr val="FF0000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</a:rPr>
                          <m:t>ilation</m:t>
                        </m:r>
                      </m:num>
                      <m:den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10000</m:t>
                        </m:r>
                      </m:den>
                    </m:f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 r="-3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l="715" t="2622" r="2120" b="741"/>
          <a:stretch/>
        </p:blipFill>
        <p:spPr>
          <a:xfrm>
            <a:off x="1438206" y="3908577"/>
            <a:ext cx="6267587" cy="294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0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343" t="1194" r="1935" b="591"/>
          <a:stretch/>
        </p:blipFill>
        <p:spPr>
          <a:xfrm>
            <a:off x="1168144" y="51548"/>
            <a:ext cx="6807712" cy="680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7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t="722" r="485"/>
          <a:stretch/>
        </p:blipFill>
        <p:spPr>
          <a:xfrm>
            <a:off x="1172425" y="42454"/>
            <a:ext cx="6799149" cy="681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47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699" t="723" r="699" b="114"/>
          <a:stretch/>
        </p:blipFill>
        <p:spPr>
          <a:xfrm>
            <a:off x="1189096" y="50349"/>
            <a:ext cx="6765808" cy="680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96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</a:t>
            </a:r>
            <a:r>
              <a:rPr lang="en-US" altLang="zh-TW" dirty="0" smtClean="0"/>
              <a:t>(6/6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30" y="1381759"/>
            <a:ext cx="8126540" cy="547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497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C7EDCC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3364</TotalTime>
  <Words>379</Words>
  <Application>Microsoft Office PowerPoint</Application>
  <PresentationFormat>如螢幕大小 (4:3)</PresentationFormat>
  <Paragraphs>95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微軟正黑體</vt:lpstr>
      <vt:lpstr>新細明體</vt:lpstr>
      <vt:lpstr>Arial</vt:lpstr>
      <vt:lpstr>Calibri</vt:lpstr>
      <vt:lpstr>Cambria</vt:lpstr>
      <vt:lpstr>Cambria Math</vt:lpstr>
      <vt:lpstr>Maiandra GD</vt:lpstr>
      <vt:lpstr>Wingdings 2</vt:lpstr>
      <vt:lpstr>龍騰四海</vt:lpstr>
      <vt:lpstr>Alignment Using Variable Penalty Dynamic Time Warping</vt:lpstr>
      <vt:lpstr>Abstract</vt:lpstr>
      <vt:lpstr>Dynamic Time Warping (1/3)</vt:lpstr>
      <vt:lpstr>Dynamic Time Warping (2/3)</vt:lpstr>
      <vt:lpstr>Dynamic Time Warping (3/3)</vt:lpstr>
      <vt:lpstr>Variable Penalty DTW</vt:lpstr>
      <vt:lpstr>Experiment (1/6)</vt:lpstr>
      <vt:lpstr>Experiment (2/6)</vt:lpstr>
      <vt:lpstr>PowerPoint 簡報</vt:lpstr>
      <vt:lpstr>PowerPoint 簡報</vt:lpstr>
      <vt:lpstr>PowerPoint 簡報</vt:lpstr>
      <vt:lpstr>Experiment (6/6)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747</cp:revision>
  <dcterms:created xsi:type="dcterms:W3CDTF">2012-09-09T09:37:21Z</dcterms:created>
  <dcterms:modified xsi:type="dcterms:W3CDTF">2013-10-22T07:06:50Z</dcterms:modified>
</cp:coreProperties>
</file>