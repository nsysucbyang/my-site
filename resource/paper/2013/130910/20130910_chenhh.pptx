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303" r:id="rId3"/>
    <p:sldId id="304" r:id="rId4"/>
    <p:sldId id="259" r:id="rId5"/>
    <p:sldId id="258" r:id="rId6"/>
    <p:sldId id="295" r:id="rId7"/>
    <p:sldId id="300" r:id="rId8"/>
    <p:sldId id="296" r:id="rId9"/>
    <p:sldId id="286" r:id="rId10"/>
    <p:sldId id="260" r:id="rId11"/>
    <p:sldId id="287" r:id="rId12"/>
    <p:sldId id="261" r:id="rId13"/>
    <p:sldId id="262" r:id="rId14"/>
    <p:sldId id="263" r:id="rId15"/>
    <p:sldId id="264" r:id="rId16"/>
    <p:sldId id="297" r:id="rId17"/>
    <p:sldId id="265" r:id="rId18"/>
    <p:sldId id="266" r:id="rId19"/>
    <p:sldId id="298" r:id="rId20"/>
    <p:sldId id="267" r:id="rId21"/>
    <p:sldId id="299" r:id="rId22"/>
    <p:sldId id="268" r:id="rId23"/>
    <p:sldId id="272" r:id="rId24"/>
    <p:sldId id="271" r:id="rId25"/>
    <p:sldId id="274" r:id="rId26"/>
    <p:sldId id="273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8" r:id="rId38"/>
    <p:sldId id="290" r:id="rId39"/>
    <p:sldId id="293" r:id="rId40"/>
    <p:sldId id="294" r:id="rId41"/>
    <p:sldId id="301" r:id="rId42"/>
    <p:sldId id="302" r:id="rId43"/>
    <p:sldId id="285" r:id="rId4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09AAB-3788-4053-BF57-BEB31AB3B955}" type="datetimeFigureOut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7CC42-783B-4A6C-9CB7-5D1325E07E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7893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98DBE2-2850-48E9-8195-82C692B70893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xmlns="" val="1919498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7CC42-783B-4A6C-9CB7-5D1325E07E66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4558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FBB19-7514-44F5-85A0-965F8AD0D36A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92096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57CF5-A647-4E8F-9850-A9D4520D0650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5439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DDE1-8755-47FE-9B32-2CE2A1CFAB84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7530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24F3-C638-41C5-8915-23396AFD384E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59135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90F9-CDD0-4BB3-8B8F-1444CBB9EFC6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3006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AFEC-D2B0-4947-AEA6-A9F863506BF5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3938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10DC-F9D0-4D14-9CD7-42EA6E0E221E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84067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5957-BBFE-4399-BF6B-D69AE08590C7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798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21DFA-8633-4750-BBF8-599DAC7CA677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6940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3231D-8D73-4099-B6BB-DCFEA7CF915C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0197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7751-BCBE-4DE3-B4B4-3673A93A8DBE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3258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460FB-F5A6-4E48-8CE7-B344ADAF2484}" type="datetime1">
              <a:rPr lang="zh-TW" altLang="en-US" smtClean="0"/>
              <a:pPr/>
              <a:t>2013/9/10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147EF-2645-418D-AD7B-AC03683E85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923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cs.scipy.org/doc/scipy/reference/generated/scipy.optimize.fmin_cg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39.png"/><Relationship Id="rId9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39552" y="692696"/>
            <a:ext cx="7772400" cy="2088232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An Introduction to the Conjugate gradient method without the agonizing pain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714480" y="5500702"/>
            <a:ext cx="6400800" cy="1152128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Sept. 10, 2013</a:t>
            </a:r>
          </a:p>
          <a:p>
            <a:r>
              <a:rPr lang="en-US" altLang="zh-TW" sz="2800" dirty="0" smtClean="0"/>
              <a:t>Hung-</a:t>
            </a:r>
            <a:r>
              <a:rPr lang="en-US" altLang="zh-TW" sz="2800" dirty="0" err="1" smtClean="0"/>
              <a:t>Hsin</a:t>
            </a:r>
            <a:r>
              <a:rPr lang="en-US" altLang="zh-TW" sz="2800" dirty="0" smtClean="0"/>
              <a:t> Chen (</a:t>
            </a:r>
            <a:r>
              <a:rPr lang="zh-TW" altLang="en-US" sz="2800" dirty="0" smtClean="0"/>
              <a:t>陳紘昕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9552" y="3348570"/>
            <a:ext cx="8064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Jonathan Richard </a:t>
            </a:r>
            <a:r>
              <a:rPr lang="en-US" altLang="zh-TW" sz="2800" b="1" dirty="0" err="1" smtClean="0"/>
              <a:t>Shewchuk</a:t>
            </a:r>
            <a:endParaRPr lang="en-US" altLang="zh-TW" sz="2800" b="1" dirty="0" smtClean="0"/>
          </a:p>
          <a:p>
            <a:pPr algn="ctr"/>
            <a:endParaRPr lang="en-US" altLang="zh-TW" sz="2800" b="1" dirty="0"/>
          </a:p>
          <a:p>
            <a:pPr algn="ctr"/>
            <a:r>
              <a:rPr lang="en-US" altLang="zh-TW" sz="2800" b="1" dirty="0"/>
              <a:t>Technical Report, </a:t>
            </a:r>
            <a:r>
              <a:rPr lang="en-US" altLang="zh-TW" sz="2800" b="1" dirty="0" smtClean="0"/>
              <a:t>1994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383110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altLang="zh-TW" dirty="0"/>
              <a:t>The Conjugate Gradient Method is the most prominent iterative method for solving sparse systems of linear equations</a:t>
            </a:r>
            <a:r>
              <a:rPr lang="en-US" altLang="zh-TW" dirty="0" smtClean="0"/>
              <a:t>. Unfortunately</a:t>
            </a:r>
            <a:r>
              <a:rPr lang="en-US" altLang="zh-TW" dirty="0"/>
              <a:t>, many textbook treatments of the topic are written with neither illustrations nor intuition, and </a:t>
            </a:r>
            <a:r>
              <a:rPr lang="en-US" altLang="zh-TW" dirty="0" smtClean="0"/>
              <a:t>their victims </a:t>
            </a:r>
            <a:r>
              <a:rPr lang="en-US" altLang="zh-TW" dirty="0"/>
              <a:t>can be found to this day babbling senselessly in the corners of dusty libraries. For this reason, a deep</a:t>
            </a:r>
            <a:r>
              <a:rPr lang="en-US" altLang="zh-TW" dirty="0" smtClean="0"/>
              <a:t>, geometric understanding of the method has been reserved for the elite brilliant few who have painstakingly decoded the </a:t>
            </a:r>
            <a:r>
              <a:rPr lang="en-US" altLang="zh-TW" dirty="0"/>
              <a:t>mumblings of their forebears. Nevertheless, the Conjugate Gradient Method is a composite of simple, elegant </a:t>
            </a:r>
            <a:r>
              <a:rPr lang="en-US" altLang="zh-TW" dirty="0" smtClean="0"/>
              <a:t>ideas that </a:t>
            </a:r>
            <a:r>
              <a:rPr lang="en-US" altLang="zh-TW" dirty="0"/>
              <a:t>almost anyone can understand. Of course, a reader as intelligent as yourself will learn them almost effortlessly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1034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altLang="zh-TW" dirty="0"/>
              <a:t>The idea of quadratic forms is introduced and used to derive the methods of Steepest Descent, Conjugate </a:t>
            </a:r>
            <a:r>
              <a:rPr lang="en-US" altLang="zh-TW" dirty="0" smtClean="0"/>
              <a:t>Directions, and </a:t>
            </a:r>
            <a:r>
              <a:rPr lang="en-US" altLang="zh-TW" dirty="0"/>
              <a:t>Conjugate Gradients. Eigenvectors are explained and used to examine the convergence of the Jacobi Method</a:t>
            </a:r>
            <a:r>
              <a:rPr lang="en-US" altLang="zh-TW" dirty="0" smtClean="0"/>
              <a:t>, Steepest </a:t>
            </a:r>
            <a:r>
              <a:rPr lang="en-US" altLang="zh-TW" dirty="0"/>
              <a:t>Descent, and Conjugate Gradients. Other topics include preconditioning and the nonlinear Conjugate </a:t>
            </a:r>
            <a:r>
              <a:rPr lang="en-US" altLang="zh-TW" dirty="0" smtClean="0"/>
              <a:t>Gradient Method</a:t>
            </a:r>
            <a:r>
              <a:rPr lang="en-US" altLang="zh-TW" dirty="0"/>
              <a:t>. I have taken pains to make this article easy to read. Sixty-six illustrations are provided. Dense prose </a:t>
            </a:r>
            <a:r>
              <a:rPr lang="en-US" altLang="zh-TW" dirty="0" smtClean="0"/>
              <a:t>is avoided</a:t>
            </a:r>
            <a:r>
              <a:rPr lang="en-US" altLang="zh-TW" dirty="0"/>
              <a:t>. Concepts are explained in several different ways. Most equations are coupled with an intuitive interpretation.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46001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Conjugate gradient (CG)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CG is the most popular iterative method for </a:t>
                </a:r>
                <a:r>
                  <a:rPr lang="en-US" altLang="zh-TW" b="1" dirty="0" smtClean="0">
                    <a:solidFill>
                      <a:srgbClr val="00B0F0"/>
                    </a:solidFill>
                  </a:rPr>
                  <a:t>solving large systems of linear equations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𝐴𝑥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</m:oMath>
                </a14:m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TW" dirty="0" smtClean="0"/>
                  <a:t>x: unknown vector</a:t>
                </a:r>
              </a:p>
              <a:p>
                <a:pPr lvl="1"/>
                <a:r>
                  <a:rPr lang="en-US" altLang="zh-TW" dirty="0" smtClean="0"/>
                  <a:t>b: known vector</a:t>
                </a:r>
              </a:p>
              <a:p>
                <a:pPr lvl="1"/>
                <a:r>
                  <a:rPr lang="en-US" altLang="zh-TW" dirty="0" smtClean="0"/>
                  <a:t>A: known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 square</a:t>
                </a:r>
                <a:r>
                  <a:rPr lang="en-US" altLang="zh-TW" dirty="0" smtClean="0"/>
                  <a:t>,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positive definite </a:t>
                </a:r>
                <a:r>
                  <a:rPr lang="en-US" altLang="zh-TW" dirty="0" smtClean="0"/>
                  <a:t>matrix.</a:t>
                </a:r>
              </a:p>
              <a:p>
                <a:pPr lvl="1"/>
                <a:endParaRPr lang="en-US" altLang="zh-TW" dirty="0"/>
              </a:p>
              <a:p>
                <a:pPr lvl="1"/>
                <a:r>
                  <a:rPr lang="en-US" altLang="zh-TW" dirty="0">
                    <a:hlinkClick r:id="rId2"/>
                  </a:rPr>
                  <a:t>http://docs.scipy.org/doc/scipy/reference/generated/scipy.optimize.fmin_cg.html</a:t>
                </a:r>
                <a:endParaRPr lang="en-US" altLang="zh-TW" dirty="0"/>
              </a:p>
              <a:p>
                <a:pPr lvl="1"/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481" t="-2695" b="-29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4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4427984" y="2780928"/>
                <a:ext cx="2742739" cy="8107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−8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8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2780928"/>
                <a:ext cx="2742739" cy="8107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6745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Quadratic form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15044" y="1621190"/>
                <a:ext cx="822960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</a:rPr>
                      <m:t>𝐴𝑥</m:t>
                    </m:r>
                    <m:r>
                      <a:rPr lang="en-US" altLang="zh-TW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</a:rPr>
                      <m:t>𝑥</m:t>
                    </m:r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𝑐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b="1" dirty="0" smtClean="0">
                    <a:solidFill>
                      <a:srgbClr val="FF0000"/>
                    </a:solidFill>
                  </a:rPr>
                  <a:t>If A is </a:t>
                </a:r>
                <a:r>
                  <a:rPr lang="en-US" altLang="zh-TW" b="1" u="sng" dirty="0" smtClean="0">
                    <a:solidFill>
                      <a:srgbClr val="FF0000"/>
                    </a:solidFill>
                  </a:rPr>
                  <a:t>symmetric </a:t>
                </a:r>
                <a:r>
                  <a:rPr lang="en-US" altLang="zh-TW" b="1" dirty="0" smtClean="0">
                    <a:solidFill>
                      <a:srgbClr val="FF0000"/>
                    </a:solidFill>
                  </a:rPr>
                  <a:t>and </a:t>
                </a:r>
                <a:r>
                  <a:rPr lang="en-US" altLang="zh-TW" b="1" u="sng" dirty="0" smtClean="0">
                    <a:solidFill>
                      <a:srgbClr val="FF0000"/>
                    </a:solidFill>
                  </a:rPr>
                  <a:t>positive definite</a:t>
                </a:r>
                <a:r>
                  <a:rPr lang="en-US" altLang="zh-TW" b="1" dirty="0" smtClean="0">
                    <a:solidFill>
                      <a:srgbClr val="FF0000"/>
                    </a:solidFill>
                  </a:rPr>
                  <a:t> then f(t) is minimized by the solution Ax=b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044" y="1621190"/>
                <a:ext cx="8229600" cy="4525963"/>
              </a:xfrm>
              <a:blipFill rotWithShape="0">
                <a:blip r:embed="rId2"/>
                <a:stretch>
                  <a:fillRect l="-1704" r="-4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353380" y="3863181"/>
                <a:ext cx="8352928" cy="2446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/>
                        </a:rPr>
                        <m:t>𝐴</m:t>
                      </m:r>
                      <m:r>
                        <a:rPr lang="en-US" altLang="zh-TW" sz="280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800" i="1">
                          <a:latin typeface="Cambria Math"/>
                        </a:rPr>
                        <m:t>, </m:t>
                      </m:r>
                      <m:r>
                        <a:rPr lang="en-US" altLang="zh-TW" sz="2800" i="1">
                          <a:latin typeface="Cambria Math"/>
                        </a:rPr>
                        <m:t>𝑏</m:t>
                      </m:r>
                      <m:r>
                        <a:rPr lang="en-US" altLang="zh-TW" sz="28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−8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800" i="1">
                          <a:latin typeface="Cambria Math"/>
                        </a:rPr>
                        <m:t>, </m:t>
                      </m:r>
                      <m:r>
                        <a:rPr lang="en-US" altLang="zh-TW" sz="2800" i="1">
                          <a:latin typeface="Cambria Math"/>
                        </a:rPr>
                        <m:t>𝑐</m:t>
                      </m:r>
                      <m:r>
                        <a:rPr lang="en-US" altLang="zh-TW" sz="28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altLang="zh-TW" sz="2800" dirty="0" smtClean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2,−8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1.5</m:t>
                      </m:r>
                      <m:sSubSup>
                        <m:sSubSup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+3</m:t>
                      </m:r>
                      <m:sSubSup>
                        <m:sSubSup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8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80" y="3863181"/>
                <a:ext cx="8352928" cy="244643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12099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395536" y="404664"/>
                <a:ext cx="7776864" cy="18918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∵</m:t>
                    </m:r>
                    <m:r>
                      <a:rPr lang="en-US" altLang="zh-TW" sz="2400" i="1">
                        <a:latin typeface="Cambria Math"/>
                      </a:rPr>
                      <m:t>𝐴</m:t>
                    </m:r>
                    <m:r>
                      <a:rPr lang="en-US" altLang="zh-TW" sz="2400" i="1">
                        <a:latin typeface="Cambria Math"/>
                      </a:rPr>
                      <m:t> </m:t>
                    </m:r>
                    <m:r>
                      <a:rPr lang="en-US" altLang="zh-TW" sz="2400" i="1">
                        <a:latin typeface="Cambria Math"/>
                      </a:rPr>
                      <m:t>𝑖𝑠</m:t>
                    </m:r>
                    <m:r>
                      <a:rPr lang="en-US" altLang="zh-TW" sz="2400" i="1">
                        <a:latin typeface="Cambria Math"/>
                      </a:rPr>
                      <m:t> </m:t>
                    </m:r>
                    <m:r>
                      <a:rPr lang="en-US" altLang="zh-TW" sz="2400" i="1">
                        <a:latin typeface="Cambria Math"/>
                      </a:rPr>
                      <m:t>𝑃𝐷</m:t>
                    </m:r>
                    <m:r>
                      <a:rPr lang="en-US" altLang="zh-TW" sz="2400" i="1">
                        <a:latin typeface="Cambria Math"/>
                      </a:rPr>
                      <m:t>∴</m:t>
                    </m:r>
                    <m:r>
                      <a:rPr lang="en-US" altLang="zh-TW" sz="2400" i="1">
                        <a:latin typeface="Cambria Math"/>
                      </a:rPr>
                      <m:t>𝑓</m:t>
                    </m:r>
                    <m:r>
                      <a:rPr lang="en-US" altLang="zh-TW" sz="2400" i="1">
                        <a:latin typeface="Cambria Math"/>
                      </a:rPr>
                      <m:t>(</m:t>
                    </m:r>
                    <m:r>
                      <a:rPr lang="en-US" altLang="zh-TW" sz="2400" i="1">
                        <a:latin typeface="Cambria Math"/>
                      </a:rPr>
                      <m:t>𝑥</m:t>
                    </m:r>
                    <m:r>
                      <a:rPr lang="en-US" altLang="zh-TW" sz="2400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sz="2400" i="1" dirty="0">
                    <a:latin typeface="Cambria Math"/>
                  </a:rPr>
                  <a:t>為開口朝上的</a:t>
                </a:r>
                <a:r>
                  <a:rPr lang="zh-TW" altLang="en-US" sz="2400" i="1" dirty="0" smtClean="0">
                    <a:latin typeface="Cambria Math"/>
                  </a:rPr>
                  <a:t>函數 </a:t>
                </a:r>
                <a:r>
                  <a:rPr lang="en-US" altLang="zh-TW" sz="2400" i="1" dirty="0" smtClean="0">
                    <a:latin typeface="Cambria Math"/>
                  </a:rPr>
                  <a:t>(convex)</a:t>
                </a:r>
                <a:endParaRPr lang="en-US" altLang="zh-TW" sz="24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/>
                        </a:rPr>
                        <m:t>𝑙𝑒𝑡</m:t>
                      </m:r>
                      <m:r>
                        <a:rPr lang="en-US" altLang="zh-TW" sz="2400" i="1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i="1">
                          <a:latin typeface="Cambria Math"/>
                        </a:rPr>
                        <m:t>𝑥</m:t>
                      </m:r>
                      <m:r>
                        <a:rPr lang="en-US" altLang="zh-TW" sz="24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altLang="zh-TW" sz="2400" i="1">
                          <a:latin typeface="Cambria Math"/>
                        </a:rPr>
                        <m:t>𝐴𝑥</m:t>
                      </m:r>
                      <m:r>
                        <a:rPr lang="en-US" altLang="zh-TW" sz="2400" i="1">
                          <a:latin typeface="Cambria Math"/>
                        </a:rPr>
                        <m:t>−</m:t>
                      </m:r>
                      <m:r>
                        <a:rPr lang="en-US" altLang="zh-TW" sz="2400" i="1">
                          <a:latin typeface="Cambria Math"/>
                        </a:rPr>
                        <m:t>𝑏</m:t>
                      </m:r>
                      <m:r>
                        <a:rPr lang="en-US" altLang="zh-TW" sz="2400" i="1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US" altLang="zh-TW" sz="2400" i="1">
                          <a:latin typeface="Cambria Math"/>
                        </a:rPr>
                        <m:t>∵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r>
                        <a:rPr lang="en-US" altLang="zh-TW" sz="2400" i="1">
                          <a:latin typeface="Cambria Math"/>
                        </a:rPr>
                        <m:t>𝐴</m:t>
                      </m:r>
                      <m:r>
                        <a:rPr lang="en-US" altLang="zh-TW" sz="2400" i="1">
                          <a:latin typeface="Cambria Math"/>
                        </a:rPr>
                        <m:t>∴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r>
                        <a:rPr lang="en-US" altLang="zh-TW" sz="2400" i="1">
                          <a:latin typeface="Cambria Math"/>
                        </a:rPr>
                        <m:t>𝐴𝑥</m:t>
                      </m:r>
                      <m:r>
                        <a:rPr lang="en-US" altLang="zh-TW" sz="2400" i="1">
                          <a:latin typeface="Cambria Math"/>
                        </a:rPr>
                        <m:t>−</m:t>
                      </m:r>
                      <m:r>
                        <a:rPr lang="en-US" altLang="zh-TW" sz="2400" i="1">
                          <a:latin typeface="Cambria Math"/>
                        </a:rPr>
                        <m:t>𝑏</m:t>
                      </m:r>
                      <m:r>
                        <a:rPr lang="en-US" altLang="zh-TW" sz="24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r>
                  <a:rPr lang="en-US" altLang="zh-TW" sz="2400" dirty="0"/>
                  <a:t/>
                </a:r>
                <a:br>
                  <a:rPr lang="en-US" altLang="zh-TW" sz="2400" dirty="0"/>
                </a:b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∴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/>
                      </a:rPr>
                      <m:t>𝐴𝑥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</a:rPr>
                  <a:t> is critical point for f(x)</a:t>
                </a: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04664"/>
                <a:ext cx="7776864" cy="1891800"/>
              </a:xfrm>
              <a:prstGeom prst="rect">
                <a:avLst/>
              </a:prstGeom>
              <a:blipFill rotWithShape="0">
                <a:blip r:embed="rId2"/>
                <a:stretch>
                  <a:fillRect t="-2894" b="-61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683568" y="2420888"/>
                <a:ext cx="7560840" cy="39942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=1.5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+3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dirty="0" smtClean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𝑙𝑒𝑡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+8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400" dirty="0" smtClean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+8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−8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TW" sz="2400" dirty="0" smtClean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𝑐𝑟𝑖𝑡𝑖𝑎𝑙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𝑝𝑜𝑖𝑛𝑡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4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20888"/>
                <a:ext cx="7560840" cy="39942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128759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If matrix A is not symmetric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矩形 3"/>
              <p:cNvSpPr/>
              <p:nvPr/>
            </p:nvSpPr>
            <p:spPr>
              <a:xfrm>
                <a:off x="796314" y="3394732"/>
                <a:ext cx="6975307" cy="25075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altLang="zh-TW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𝑡𝑟𝑎𝑛𝑓𝑜𝑟𝑚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TW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TW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TW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400" dirty="0" smtClean="0"/>
              </a:p>
              <a:p>
                <a:endParaRPr lang="en-US" altLang="zh-TW" sz="2400" dirty="0" smtClean="0"/>
              </a:p>
              <a:p>
                <a:r>
                  <a:rPr lang="en-US" altLang="zh-TW" sz="2400" dirty="0" smtClean="0"/>
                  <a:t>Assume b=0, c=0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TW" sz="2400" dirty="0"/>
              </a:p>
              <a:p>
                <a:endParaRPr lang="zh-TW" altLang="en-US" sz="2400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14" y="3394732"/>
                <a:ext cx="6975307" cy="2507546"/>
              </a:xfrm>
              <a:prstGeom prst="rect">
                <a:avLst/>
              </a:prstGeom>
              <a:blipFill rotWithShape="0">
                <a:blip r:embed="rId2"/>
                <a:stretch>
                  <a:fillRect l="-13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971600" y="1418192"/>
                <a:ext cx="6624736" cy="15224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i="1">
                          <a:latin typeface="Cambria Math"/>
                        </a:rPr>
                        <m:t>𝐴𝑥</m:t>
                      </m:r>
                      <m:r>
                        <a:rPr lang="en-US" altLang="zh-TW" sz="240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i="1">
                          <a:latin typeface="Cambria Math"/>
                        </a:rPr>
                        <m:t>𝑥</m:t>
                      </m:r>
                      <m:r>
                        <a:rPr lang="en-US" altLang="zh-TW" sz="2400" i="1">
                          <a:latin typeface="Cambria Math"/>
                        </a:rPr>
                        <m:t>+</m:t>
                      </m:r>
                      <m:r>
                        <a:rPr lang="en-US" altLang="zh-TW" sz="2400" i="1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b="1" dirty="0">
                    <a:solidFill>
                      <a:srgbClr val="FF0000"/>
                    </a:solidFill>
                  </a:rPr>
                  <a:t>If A is </a:t>
                </a:r>
                <a:r>
                  <a:rPr lang="en-US" altLang="zh-TW" sz="2400" b="1" u="sng" dirty="0">
                    <a:solidFill>
                      <a:srgbClr val="FF0000"/>
                    </a:solidFill>
                  </a:rPr>
                  <a:t>symmetric </a:t>
                </a:r>
                <a:r>
                  <a:rPr lang="en-US" altLang="zh-TW" sz="2400" b="1" dirty="0">
                    <a:solidFill>
                      <a:srgbClr val="FF0000"/>
                    </a:solidFill>
                  </a:rPr>
                  <a:t>and </a:t>
                </a:r>
                <a:r>
                  <a:rPr lang="en-US" altLang="zh-TW" sz="2400" b="1" u="sng" dirty="0">
                    <a:solidFill>
                      <a:srgbClr val="FF0000"/>
                    </a:solidFill>
                  </a:rPr>
                  <a:t>positive definite</a:t>
                </a:r>
                <a:r>
                  <a:rPr lang="en-US" altLang="zh-TW" sz="2400" b="1" dirty="0">
                    <a:solidFill>
                      <a:srgbClr val="FF0000"/>
                    </a:solidFill>
                  </a:rPr>
                  <a:t> then f(t) is minimized by the solution Ax=b</a:t>
                </a: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418192"/>
                <a:ext cx="6624736" cy="1522468"/>
              </a:xfrm>
              <a:prstGeom prst="rect">
                <a:avLst/>
              </a:prstGeom>
              <a:blipFill rotWithShape="0">
                <a:blip r:embed="rId3"/>
                <a:stretch>
                  <a:fillRect l="-1380" b="-8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52943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Positive definite matrix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矩形 3"/>
              <p:cNvSpPr/>
              <p:nvPr/>
            </p:nvSpPr>
            <p:spPr>
              <a:xfrm>
                <a:off x="473063" y="1196752"/>
                <a:ext cx="8229600" cy="34246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Definition: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𝒊𝒇</m:t>
                      </m:r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𝑩𝒙</m:t>
                      </m:r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TW" sz="2400" b="1" dirty="0" smtClean="0">
                  <a:solidFill>
                    <a:srgbClr val="0070C0"/>
                  </a:solidFill>
                </a:endParaRPr>
              </a:p>
              <a:p>
                <a:endParaRPr lang="en-US" altLang="zh-TW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Property: The </a:t>
                </a:r>
                <a:r>
                  <a:rPr lang="en-US" altLang="zh-TW" sz="2400" b="1" dirty="0">
                    <a:solidFill>
                      <a:srgbClr val="FF0000"/>
                    </a:solidFill>
                  </a:rPr>
                  <a:t>eigenvalues of a positive definite matrix are all positive (&gt;0).</a:t>
                </a:r>
              </a:p>
              <a:p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∵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𝐵𝑣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∴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𝐵𝑣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∵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𝐵𝑣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&gt;0 ∴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63" y="1196752"/>
                <a:ext cx="8229600" cy="3424655"/>
              </a:xfrm>
              <a:prstGeom prst="rect">
                <a:avLst/>
              </a:prstGeom>
              <a:blipFill rotWithShape="0">
                <a:blip r:embed="rId2"/>
                <a:stretch>
                  <a:fillRect l="-1185" t="-1423" b="-24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36561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Advantage of the CG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899592" y="1628800"/>
            <a:ext cx="3044099" cy="4525963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355976" y="2132856"/>
            <a:ext cx="4680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 smtClean="0"/>
              <a:t>X: optimal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 smtClean="0"/>
              <a:t>X</a:t>
            </a:r>
            <a:r>
              <a:rPr lang="en-US" altLang="zh-TW" sz="2400" baseline="-25000" dirty="0" smtClean="0"/>
              <a:t>0</a:t>
            </a:r>
            <a:r>
              <a:rPr lang="en-US" altLang="zh-TW" sz="2400" dirty="0" smtClean="0"/>
              <a:t>: initial search pint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 smtClean="0"/>
              <a:t>Green path: gradient descent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 smtClean="0"/>
              <a:t>Red path: conjugate gradient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549398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1520511" y="525165"/>
                <a:ext cx="5832648" cy="201622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𝐴𝑥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𝑥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r>
                      <a:rPr lang="en-US" altLang="zh-TW" sz="2400" b="0" i="1" smtClean="0">
                        <a:latin typeface="Cambria Math"/>
                      </a:rPr>
                      <m:t>𝑐</m:t>
                    </m:r>
                  </m:oMath>
                </a14:m>
                <a:endParaRPr lang="en-US" altLang="zh-TW" sz="2400" b="0" dirty="0" smtClean="0"/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𝐴</m:t>
                    </m:r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4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, </m:t>
                    </m:r>
                    <m:r>
                      <a:rPr lang="en-US" altLang="zh-TW" sz="2400" b="0" i="1" smtClean="0">
                        <a:latin typeface="Cambria Math"/>
                      </a:rPr>
                      <m:t>𝑏</m:t>
                    </m:r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4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−8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, </m:t>
                    </m:r>
                    <m:r>
                      <a:rPr lang="en-US" altLang="zh-TW" sz="2400" b="0" i="1" smtClean="0">
                        <a:latin typeface="Cambria Math"/>
                      </a:rPr>
                      <m:t>𝑐</m:t>
                    </m:r>
                    <m:r>
                      <a:rPr lang="en-US" altLang="zh-TW" sz="2400" b="0" i="1" smtClean="0">
                        <a:latin typeface="Cambria Math"/>
                      </a:rPr>
                      <m:t>=0</m:t>
                    </m:r>
                  </m:oMath>
                </a14:m>
                <a:endParaRPr lang="en-US" altLang="zh-TW" sz="2400" dirty="0"/>
              </a:p>
              <a:p>
                <a:r>
                  <a:rPr lang="zh-TW" altLang="en-US" sz="2400" dirty="0" smtClean="0"/>
                  <a:t>最小值在</a:t>
                </a:r>
                <a:r>
                  <a:rPr lang="en-US" altLang="zh-TW" sz="2400" dirty="0" smtClean="0"/>
                  <a:t>x=(2, -2)</a:t>
                </a:r>
              </a:p>
              <a:p>
                <a:endParaRPr lang="zh-TW" altLang="en-US" sz="2400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0511" y="525165"/>
                <a:ext cx="5832648" cy="2016224"/>
              </a:xfrm>
              <a:blipFill rotWithShape="0">
                <a:blip r:embed="rId2"/>
                <a:stretch>
                  <a:fillRect l="-13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/>
        </p:blipFill>
        <p:spPr bwMode="auto">
          <a:xfrm>
            <a:off x="522316" y="2924944"/>
            <a:ext cx="4370551" cy="36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4892867" y="2764421"/>
            <a:ext cx="3816424" cy="359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03593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323528" y="2511938"/>
            <a:ext cx="4032448" cy="371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4716016" y="2491810"/>
            <a:ext cx="3970784" cy="3756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矩形 6"/>
              <p:cNvSpPr/>
              <p:nvPr/>
            </p:nvSpPr>
            <p:spPr>
              <a:xfrm>
                <a:off x="2323640" y="620688"/>
                <a:ext cx="4572000" cy="213827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i="1">
                          <a:latin typeface="Cambria Math"/>
                        </a:rPr>
                        <m:t>𝐴𝑥</m:t>
                      </m:r>
                      <m:r>
                        <a:rPr lang="en-US" altLang="zh-TW" sz="240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i="1">
                          <a:latin typeface="Cambria Math"/>
                        </a:rPr>
                        <m:t>𝑥</m:t>
                      </m:r>
                      <m:r>
                        <a:rPr lang="en-US" altLang="zh-TW" sz="2400" i="1">
                          <a:latin typeface="Cambria Math"/>
                        </a:rPr>
                        <m:t>+</m:t>
                      </m:r>
                      <m:r>
                        <a:rPr lang="en-US" altLang="zh-TW" sz="2400" i="1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US" altLang="zh-TW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/>
                        </a:rPr>
                        <m:t>𝐴</m:t>
                      </m:r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, </m:t>
                      </m:r>
                      <m:r>
                        <a:rPr lang="en-US" altLang="zh-TW" sz="2400" i="1">
                          <a:latin typeface="Cambria Math"/>
                        </a:rPr>
                        <m:t>𝑏</m:t>
                      </m:r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−8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, </m:t>
                      </m:r>
                      <m:r>
                        <a:rPr lang="en-US" altLang="zh-TW" sz="2400" i="1">
                          <a:latin typeface="Cambria Math"/>
                        </a:rPr>
                        <m:t>𝑐</m:t>
                      </m:r>
                      <m:r>
                        <a:rPr lang="en-US" altLang="zh-TW" sz="24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altLang="zh-TW" sz="2400" dirty="0"/>
              </a:p>
              <a:p>
                <a:pPr algn="ctr"/>
                <a:r>
                  <a:rPr lang="zh-TW" altLang="en-US" sz="2400" dirty="0"/>
                  <a:t>最小值在</a:t>
                </a:r>
                <a:r>
                  <a:rPr lang="en-US" altLang="zh-TW" sz="2400" dirty="0"/>
                  <a:t>x=(2, -2)</a:t>
                </a:r>
              </a:p>
              <a:p>
                <a:pPr algn="ctr"/>
                <a:endParaRPr lang="zh-TW" altLang="en-US" sz="2400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40" y="620688"/>
                <a:ext cx="4572000" cy="213827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820736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Quadratic form for different matrix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/>
        </p:blipFill>
        <p:spPr bwMode="auto">
          <a:xfrm>
            <a:off x="551627" y="1340768"/>
            <a:ext cx="8084261" cy="540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755576" y="1844824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PD, </a:t>
            </a:r>
            <a:r>
              <a:rPr lang="zh-TW" altLang="en-US" dirty="0" smtClean="0">
                <a:solidFill>
                  <a:srgbClr val="FF0000"/>
                </a:solidFill>
              </a:rPr>
              <a:t>開口朝上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zh-TW" altLang="en-US" dirty="0" smtClean="0">
                <a:solidFill>
                  <a:srgbClr val="FF0000"/>
                </a:solidFill>
              </a:rPr>
              <a:t>存在最小值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092280" y="1997224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ND, </a:t>
            </a:r>
            <a:r>
              <a:rPr lang="zh-TW" altLang="en-US" dirty="0" smtClean="0">
                <a:solidFill>
                  <a:srgbClr val="FF0000"/>
                </a:solidFill>
              </a:rPr>
              <a:t>開口朝下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zh-TW" altLang="en-US" dirty="0" smtClean="0">
                <a:solidFill>
                  <a:srgbClr val="FF0000"/>
                </a:solidFill>
              </a:rPr>
              <a:t>存在最大值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2173" y="4149080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Singular and PI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Set of solutions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0745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0175" y="22039"/>
            <a:ext cx="8928992" cy="1143000"/>
          </a:xfrm>
        </p:spPr>
        <p:txBody>
          <a:bodyPr>
            <a:no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The solution to Ax=b minimizes the quadratic form</a:t>
            </a:r>
            <a:endParaRPr lang="zh-TW" altLang="en-US" sz="32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052736"/>
                <a:ext cx="8229600" cy="5661248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 smtClean="0"/>
                  <a:t>Pf: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𝐴𝑥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𝑥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r>
                      <a:rPr lang="en-US" altLang="zh-TW" sz="2400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altLang="zh-TW" sz="2400" b="0" dirty="0" smtClean="0"/>
                  <a:t/>
                </a:r>
                <a:br>
                  <a:rPr lang="en-US" altLang="zh-TW" sz="2400" b="0" dirty="0" smtClean="0"/>
                </a:b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𝑖𝑓</m:t>
                    </m:r>
                    <m:r>
                      <a:rPr lang="en-US" altLang="zh-TW" sz="2400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altLang="zh-TW" sz="2400" b="0" dirty="0" smtClean="0"/>
                  <a:t> and x be the point of Ax=b and minimizes the quadratic form, e is th</a:t>
                </a:r>
                <a:r>
                  <a:rPr lang="en-US" altLang="zh-TW" sz="2400" dirty="0" smtClean="0"/>
                  <a:t>e error term then</a:t>
                </a:r>
                <a:r>
                  <a:rPr lang="en-US" altLang="zh-TW" sz="2400" dirty="0"/>
                  <a:t/>
                </a:r>
                <a:br>
                  <a:rPr lang="en-US" altLang="zh-TW" sz="2400" dirty="0"/>
                </a:b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𝑒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r>
                      <a:rPr lang="en-US" altLang="zh-TW" sz="2400" b="0" i="1" smtClean="0">
                        <a:latin typeface="Cambria Math"/>
                      </a:rPr>
                      <m:t>𝑐</m:t>
                    </m:r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𝐴𝑥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𝐴𝑥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𝐴𝑒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𝑥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𝑒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r>
                      <a:rPr lang="en-US" altLang="zh-TW" sz="2400" b="0" i="1" smtClean="0">
                        <a:latin typeface="Cambria Math"/>
                      </a:rPr>
                      <m:t>𝑐</m:t>
                    </m:r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𝐴𝑥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𝑥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r>
                      <a:rPr lang="en-US" altLang="zh-TW" sz="2400" b="0" i="1" smtClean="0">
                        <a:latin typeface="Cambria Math"/>
                      </a:rPr>
                      <m:t>𝑐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𝑏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𝐴𝑒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𝑒</m:t>
                    </m:r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𝐴𝑒</m:t>
                    </m:r>
                  </m:oMath>
                </a14:m>
                <a:endParaRPr lang="en-US" altLang="zh-TW" sz="2400" dirty="0" smtClean="0"/>
              </a:p>
              <a:p>
                <a:r>
                  <a:rPr lang="en-US" altLang="zh-TW" sz="2400" dirty="0" smtClean="0"/>
                  <a:t>If  A is PD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𝐴𝑒</m:t>
                    </m:r>
                    <m:r>
                      <a:rPr lang="en-US" altLang="zh-TW" sz="2400" b="0" i="1" smtClean="0">
                        <a:latin typeface="Cambria Math"/>
                      </a:rPr>
                      <m:t>&gt;0</m:t>
                    </m:r>
                  </m:oMath>
                </a14:m>
                <a:endParaRPr lang="en-US" altLang="zh-TW" sz="2400" b="0" dirty="0" smtClean="0"/>
              </a:p>
              <a:p>
                <a:r>
                  <a:rPr lang="en-US" altLang="zh-TW" sz="2400" dirty="0" smtClean="0"/>
                  <a:t>Then x minimizes f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052736"/>
                <a:ext cx="8229600" cy="5661248"/>
              </a:xfrm>
              <a:blipFill rotWithShape="1">
                <a:blip r:embed="rId2"/>
                <a:stretch>
                  <a:fillRect l="-1037" t="-862" b="-1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6359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Steepest gradient descent (SGD)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 smtClean="0"/>
                  <a:t>X</a:t>
                </a:r>
                <a:r>
                  <a:rPr lang="en-US" altLang="zh-TW" sz="2400" baseline="-25000" dirty="0" smtClean="0"/>
                  <a:t>(1)</a:t>
                </a:r>
                <a:r>
                  <a:rPr lang="en-US" altLang="zh-TW" sz="2400" dirty="0" smtClean="0"/>
                  <a:t>, x</a:t>
                </a:r>
                <a:r>
                  <a:rPr lang="en-US" altLang="zh-TW" sz="2400" baseline="-25000" dirty="0" smtClean="0"/>
                  <a:t>(2)</a:t>
                </a:r>
                <a:r>
                  <a:rPr lang="en-US" altLang="zh-TW" sz="2400" dirty="0" smtClean="0"/>
                  <a:t>,.. are a series of steps</a:t>
                </a:r>
              </a:p>
              <a:p>
                <a:r>
                  <a:rPr lang="zh-TW" altLang="en-US" sz="2400" dirty="0" smtClean="0"/>
                  <a:t>在</a:t>
                </a:r>
                <a:r>
                  <a:rPr lang="en-US" altLang="zh-TW" sz="2400" dirty="0" smtClean="0"/>
                  <a:t>x</a:t>
                </a:r>
                <a:r>
                  <a:rPr lang="en-US" altLang="zh-TW" sz="2400" baseline="-25000" dirty="0" smtClean="0"/>
                  <a:t>(</a:t>
                </a:r>
                <a:r>
                  <a:rPr lang="en-US" altLang="zh-TW" sz="2400" baseline="-25000" dirty="0" err="1" smtClean="0"/>
                  <a:t>i</a:t>
                </a:r>
                <a:r>
                  <a:rPr lang="en-US" altLang="zh-TW" sz="2400" baseline="-25000" dirty="0" smtClean="0"/>
                  <a:t>)</a:t>
                </a:r>
                <a:r>
                  <a:rPr lang="zh-TW" altLang="en-US" sz="2400" dirty="0" smtClean="0"/>
                  <a:t>步，下降最快的方向</a:t>
                </a:r>
                <a:r>
                  <a:rPr lang="en-US" altLang="zh-TW" sz="2400" dirty="0" smtClean="0"/>
                  <a:t>(</a:t>
                </a:r>
                <a:r>
                  <a:rPr lang="zh-TW" altLang="en-US" sz="2400" dirty="0" smtClean="0"/>
                  <a:t>梯度</a:t>
                </a:r>
                <a:r>
                  <a:rPr lang="en-US" altLang="zh-TW" sz="2400" dirty="0" smtClean="0"/>
                  <a:t>)</a:t>
                </a:r>
                <a:r>
                  <a:rPr lang="zh-TW" altLang="en-US" sz="2400" dirty="0" smtClean="0"/>
                  <a:t>為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endParaRPr lang="en-US" altLang="zh-TW" sz="2400" dirty="0" smtClean="0"/>
              </a:p>
              <a:p>
                <a:r>
                  <a:rPr lang="en-US" altLang="zh-TW" sz="2400" dirty="0" smtClean="0"/>
                  <a:t>Let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r>
                      <a:rPr lang="en-US" altLang="zh-TW" sz="24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zh-TW" altLang="en-US" sz="2400" dirty="0" smtClean="0"/>
                  <a:t/>
                </a:r>
                <a:r>
                  <a:rPr lang="en-US" altLang="zh-TW" sz="2400" dirty="0" smtClean="0"/>
                  <a:t/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(</a:t>
                </a:r>
                <a:r>
                  <a:rPr lang="zh-TW" altLang="en-US" sz="2400" dirty="0" smtClean="0"/>
                  <a:t>與最佳值的誤差</a:t>
                </a:r>
                <a:r>
                  <a:rPr lang="en-US" altLang="zh-TW" sz="2400" dirty="0" smtClean="0"/>
                  <a:t>, </a:t>
                </a:r>
                <a:r>
                  <a:rPr lang="zh-TW" altLang="en-US" sz="2400" dirty="0" smtClean="0"/>
                  <a:t>越小越好</a:t>
                </a:r>
                <a:r>
                  <a:rPr lang="en-US" altLang="zh-TW" sz="2400" dirty="0" smtClean="0"/>
                  <a:t>)</a:t>
                </a:r>
              </a:p>
              <a:p>
                <a:r>
                  <a:rPr lang="en-US" altLang="zh-TW" sz="2400" dirty="0" smtClean="0"/>
                  <a:t>Let residual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latin typeface="Cambria Math"/>
                      </a:rPr>
                      <m:t>𝑏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r>
                      <a:rPr lang="en-US" altLang="zh-TW" sz="2400" b="0" i="1" smtClean="0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en-US" altLang="zh-TW" sz="2400" dirty="0" smtClean="0"/>
                  <a:t/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(</a:t>
                </a:r>
                <a:r>
                  <a:rPr lang="zh-TW" altLang="en-US" sz="2400" dirty="0" smtClean="0"/>
                  <a:t>離正確的</a:t>
                </a:r>
                <a:r>
                  <a:rPr lang="en-US" altLang="zh-TW" sz="2400" dirty="0" smtClean="0"/>
                  <a:t>b</a:t>
                </a:r>
                <a:r>
                  <a:rPr lang="zh-TW" altLang="en-US" sz="2400" dirty="0" smtClean="0"/>
                  <a:t>的誤差或是最陡梯度法的方向</a:t>
                </a:r>
                <a:r>
                  <a:rPr lang="en-US" altLang="zh-TW" sz="2400" dirty="0"/>
                  <a:t>, </a:t>
                </a:r>
                <a:r>
                  <a:rPr lang="zh-TW" altLang="en-US" sz="2400" dirty="0"/>
                  <a:t>越小越好</a:t>
                </a:r>
                <a:r>
                  <a:rPr lang="en-US" altLang="zh-TW" sz="2400" dirty="0" smtClean="0"/>
                  <a:t>)</a:t>
                </a:r>
                <a:br>
                  <a:rPr lang="en-US" altLang="zh-TW" sz="24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latin typeface="Cambria Math"/>
                      </a:rPr>
                      <m:t>𝑏</m:t>
                    </m:r>
                    <m:r>
                      <a:rPr lang="en-US" altLang="zh-TW" sz="2400" b="0" i="0" smtClean="0">
                        <a:latin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/>
                      </a:rPr>
                      <m:t>A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altLang="zh-TW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latin typeface="Cambria Math"/>
                      </a:rPr>
                      <m:t>𝑏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r>
                      <a:rPr lang="en-US" altLang="zh-TW" sz="2400" b="0" i="1" smtClean="0">
                        <a:latin typeface="Cambria Math"/>
                      </a:rPr>
                      <m:t>𝐴𝑥</m:t>
                    </m:r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r>
                      <a:rPr lang="en-US" altLang="zh-TW" sz="2400" b="0" i="1" smtClean="0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=−</m:t>
                    </m:r>
                    <m:r>
                      <a:rPr lang="en-US" altLang="zh-TW" sz="2400" b="0" i="1" smtClean="0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Iteration: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b>
                    </m:sSub>
                    <m:r>
                      <a:rPr lang="en-US" altLang="zh-TW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US" altLang="zh-TW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𝜶</m:t>
                    </m:r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US" altLang="zh-TW" sz="2400" b="1" i="1" smtClean="0">
                        <a:latin typeface="Cambria Math"/>
                      </a:rPr>
                      <m:t>, </m:t>
                    </m:r>
                    <m:r>
                      <a:rPr lang="en-US" altLang="zh-TW" sz="2400" b="1" i="1" smtClean="0">
                        <a:latin typeface="Cambria Math"/>
                      </a:rPr>
                      <m:t>𝜶</m:t>
                    </m:r>
                    <m:r>
                      <a:rPr lang="en-US" altLang="zh-TW" sz="2400" b="1" i="1" smtClean="0">
                        <a:latin typeface="Cambria Math"/>
                      </a:rPr>
                      <m:t>:</m:t>
                    </m:r>
                    <m:r>
                      <a:rPr lang="en-US" altLang="zh-TW" sz="2400" b="1" i="1" smtClean="0">
                        <a:latin typeface="Cambria Math"/>
                      </a:rPr>
                      <m:t>𝒔𝒕𝒆𝒑</m:t>
                    </m:r>
                    <m:r>
                      <a:rPr lang="en-US" altLang="zh-TW" sz="2400" b="1" i="1" smtClean="0">
                        <a:latin typeface="Cambria Math"/>
                      </a:rPr>
                      <m:t> </m:t>
                    </m:r>
                    <m:r>
                      <a:rPr lang="en-US" altLang="zh-TW" sz="2400" b="1" i="1" smtClean="0">
                        <a:latin typeface="Cambria Math"/>
                      </a:rPr>
                      <m:t>𝒔𝒊𝒛𝒆</m:t>
                    </m:r>
                  </m:oMath>
                </a14:m>
                <a:endParaRPr lang="en-US" altLang="zh-TW" sz="2400" b="1" dirty="0" smtClean="0"/>
              </a:p>
              <a:p>
                <a:r>
                  <a:rPr lang="zh-TW" altLang="en-US" sz="2400" dirty="0" smtClean="0"/>
                  <a:t>如何決定最佳</a:t>
                </a:r>
                <a:r>
                  <a:rPr lang="en-US" altLang="zh-TW" sz="2400" dirty="0" smtClean="0"/>
                  <a:t>step size? ( learning rate in machine learning?)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b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7676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矩形 3"/>
              <p:cNvSpPr/>
              <p:nvPr/>
            </p:nvSpPr>
            <p:spPr>
              <a:xfrm>
                <a:off x="261936" y="187126"/>
                <a:ext cx="8823185" cy="31599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Iteration: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𝛼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endParaRPr lang="en-US" altLang="zh-TW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∴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+1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400" b="0" dirty="0" smtClean="0"/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∴</m:t>
                    </m:r>
                    <m:r>
                      <a:rPr lang="en-US" altLang="zh-TW" sz="2400" b="0" i="1" smtClean="0">
                        <a:latin typeface="Cambria Math"/>
                      </a:rPr>
                      <m:t>𝛼</m:t>
                    </m:r>
                    <m:r>
                      <a:rPr lang="en-US" altLang="zh-TW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400" dirty="0" smtClean="0"/>
                  <a:t>minimizes f when directional derivative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𝛼</m:t>
                        </m:r>
                      </m:den>
                    </m:f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+1)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=0</m:t>
                    </m:r>
                  </m:oMath>
                </a14:m>
                <a:endParaRPr lang="en-US" altLang="zh-TW" sz="2400" dirty="0" smtClean="0"/>
              </a:p>
              <a:p>
                <a:r>
                  <a:rPr lang="en-US" altLang="zh-TW" sz="2400" dirty="0" smtClean="0"/>
                  <a:t>By chain rule: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𝛼</m:t>
                        </m:r>
                      </m:den>
                    </m:f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+1)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+1)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𝛼</m:t>
                        </m:r>
                      </m:den>
                    </m:f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=0</m:t>
                    </m:r>
                  </m:oMath>
                </a14:m>
                <a:endParaRPr lang="en-US" altLang="zh-TW" sz="2400" dirty="0" smtClean="0"/>
              </a:p>
              <a:p>
                <a:r>
                  <a:rPr lang="zh-TW" altLang="en-US" sz="2400" b="1" dirty="0" smtClean="0">
                    <a:solidFill>
                      <a:srgbClr val="FF0000"/>
                    </a:solidFill>
                  </a:rPr>
                  <a:t>如果上式為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0, 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</a:rPr>
                  <a:t>表示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en-US" altLang="zh-TW" sz="24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TW" sz="24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zh-TW" altLang="en-US" sz="2400" b="1" dirty="0" smtClean="0">
                    <a:solidFill>
                      <a:srgbClr val="FF0000"/>
                    </a:solidFill>
                  </a:rPr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altLang="zh-TW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altLang="zh-TW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TW" altLang="en-US" sz="2400" b="1" dirty="0" smtClean="0">
                    <a:solidFill>
                      <a:srgbClr val="FF0000"/>
                    </a:solidFill>
                  </a:rPr>
                  <a:t>正交</a:t>
                </a:r>
                <a:endParaRPr lang="en-US" altLang="zh-TW" sz="2400" b="1" dirty="0" smtClean="0">
                  <a:solidFill>
                    <a:srgbClr val="FF0000"/>
                  </a:solidFill>
                </a:endParaRPr>
              </a:p>
              <a:p>
                <a:r>
                  <a:rPr lang="zh-TW" altLang="en-US" sz="2400" dirty="0" smtClean="0"/>
                  <a:t>所以由上</a:t>
                </a:r>
                <a:r>
                  <a:rPr lang="zh-TW" altLang="en-US" sz="2400" dirty="0"/>
                  <a:t>式</a:t>
                </a:r>
                <a:r>
                  <a:rPr lang="zh-TW" altLang="en-US" sz="2400" dirty="0" smtClean="0"/>
                  <a:t>可推論出往極小值收斂的過程中，</a:t>
                </a:r>
                <a:endParaRPr lang="en-US" altLang="zh-TW" sz="2400" dirty="0" smtClean="0"/>
              </a:p>
              <a:p>
                <a:r>
                  <a:rPr lang="zh-TW" altLang="en-US" sz="2400" dirty="0" smtClean="0"/>
                  <a:t>每次前進都是與目前正交的方向</a:t>
                </a:r>
                <a:endParaRPr lang="en-US" altLang="zh-TW" sz="2400" dirty="0" smtClean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6" y="187126"/>
                <a:ext cx="8823185" cy="3159968"/>
              </a:xfrm>
              <a:prstGeom prst="rect">
                <a:avLst/>
              </a:prstGeom>
              <a:blipFill rotWithShape="0">
                <a:blip r:embed="rId2"/>
                <a:stretch>
                  <a:fillRect l="-1106" t="-1351" b="-32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5436096" y="2977762"/>
            <a:ext cx="3511620" cy="3346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273512" y="3573016"/>
                <a:ext cx="5294918" cy="3283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200" dirty="0" smtClean="0"/>
                  <a:t>To determine </a:t>
                </a:r>
                <a:r>
                  <a:rPr lang="el-GR" altLang="zh-TW" sz="2200" dirty="0" smtClean="0">
                    <a:latin typeface="Times New Roman"/>
                    <a:cs typeface="Times New Roman"/>
                  </a:rPr>
                  <a:t>α</a:t>
                </a:r>
                <a:r>
                  <a:rPr lang="en-US" altLang="zh-TW" sz="2200" dirty="0" smtClean="0">
                    <a:latin typeface="Times New Roman"/>
                    <a:cs typeface="Times New Roman"/>
                  </a:rPr>
                  <a:t>, note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sz="22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200" b="0" i="1" smtClean="0">
                                    <a:latin typeface="Cambria Math"/>
                                  </a:rPr>
                                  <m:t>+1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altLang="zh-TW" sz="2200" b="0" i="1" smtClean="0">
                        <a:latin typeface="Cambria Math"/>
                      </a:rPr>
                      <m:t>=−</m:t>
                    </m:r>
                    <m:sSub>
                      <m:sSub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sz="2200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</m:oMath>
                </a14:m>
                <a:r>
                  <a:rPr lang="zh-TW" altLang="en-US" sz="2200" dirty="0" smtClean="0"/>
                  <a:t/>
                </a:r>
                <a:r>
                  <a:rPr lang="en-US" altLang="zh-TW" sz="2200" dirty="0" smtClean="0"/>
                  <a:t>and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sz="22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200" b="0" i="1" smtClean="0">
                            <a:latin typeface="Cambria Math"/>
                          </a:rPr>
                          <m:t>+1)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sz="22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200" b="0" i="1" smtClean="0"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zh-TW" altLang="en-US" sz="2200" dirty="0" smtClean="0"/>
                  <a:t/>
                </a:r>
                <a:r>
                  <a:rPr lang="en-US" altLang="zh-TW" sz="2200" dirty="0" smtClean="0"/>
                  <a:t>(</a:t>
                </a:r>
                <a:r>
                  <a:rPr lang="zh-TW" altLang="en-US" sz="2200" dirty="0" smtClean="0"/>
                  <a:t>每步均正交</a:t>
                </a:r>
                <a:r>
                  <a:rPr lang="en-US" altLang="zh-TW" sz="2200" dirty="0" smtClean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2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zh-TW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2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altLang="zh-TW" sz="2200" b="0" i="1" smtClean="0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200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altLang="zh-TW" sz="2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2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altLang="zh-TW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200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  <m:r>
                                    <a:rPr lang="en-US" altLang="zh-TW" sz="2200" b="0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altLang="zh-TW" sz="2200" b="0" i="1" smtClean="0">
                                      <a:latin typeface="Cambria Math"/>
                                    </a:rPr>
                                    <m:t>𝛼</m:t>
                                  </m:r>
                                  <m:sSub>
                                    <m:sSubPr>
                                      <m:ctrlPr>
                                        <a:rPr lang="en-US" altLang="zh-TW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200" b="0" i="1" smtClean="0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altLang="zh-TW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200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200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altLang="zh-TW" sz="2200" b="0" dirty="0" smtClean="0"/>
              </a:p>
              <a:p>
                <a14:m>
                  <m:oMath xmlns:m="http://schemas.openxmlformats.org/officeDocument/2006/math">
                    <m:r>
                      <a:rPr lang="en-US" altLang="zh-TW" sz="2200" b="0" i="1" smtClean="0">
                        <a:solidFill>
                          <a:srgbClr val="FF0000"/>
                        </a:solidFill>
                        <a:latin typeface="Cambria Math"/>
                      </a:rPr>
                      <m:t>𝛼</m:t>
                    </m:r>
                    <m:r>
                      <a:rPr lang="en-US" altLang="zh-TW" sz="22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2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r>
                  <a:rPr lang="zh-TW" altLang="en-US" sz="2200" dirty="0" smtClean="0">
                    <a:solidFill>
                      <a:srgbClr val="FF0000"/>
                    </a:solidFill>
                  </a:rPr>
                  <a:t> 最佳步長</a:t>
                </a:r>
                <a:endParaRPr lang="zh-TW" altLang="en-US" sz="2200" dirty="0">
                  <a:solidFill>
                    <a:srgbClr val="FF0000"/>
                  </a:solidFill>
                </a:endParaRPr>
              </a:p>
              <a:p>
                <a:endParaRPr lang="zh-TW" altLang="en-US" sz="22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12" y="3573016"/>
                <a:ext cx="5294918" cy="3283078"/>
              </a:xfrm>
              <a:prstGeom prst="rect">
                <a:avLst/>
              </a:prstGeom>
              <a:blipFill rotWithShape="0">
                <a:blip r:embed="rId4"/>
                <a:stretch>
                  <a:fillRect l="-1498" t="-7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圓角矩形圖說文字 6"/>
          <p:cNvSpPr/>
          <p:nvPr/>
        </p:nvSpPr>
        <p:spPr>
          <a:xfrm>
            <a:off x="3707904" y="5812434"/>
            <a:ext cx="2232248" cy="864096"/>
          </a:xfrm>
          <a:prstGeom prst="wedgeRoundRectCallout">
            <a:avLst>
              <a:gd name="adj1" fmla="val 55609"/>
              <a:gd name="adj2" fmla="val -13211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Zigzag path</a:t>
            </a:r>
            <a:endParaRPr lang="zh-TW" altLang="en-US" sz="24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9191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SGD example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矩形 3"/>
              <p:cNvSpPr/>
              <p:nvPr/>
            </p:nvSpPr>
            <p:spPr>
              <a:xfrm>
                <a:off x="2627784" y="1501776"/>
                <a:ext cx="5472608" cy="5219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20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2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2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sz="2200" i="1">
                          <a:latin typeface="Cambria Math"/>
                        </a:rPr>
                        <m:t>𝐴𝑥</m:t>
                      </m:r>
                      <m:r>
                        <a:rPr lang="en-US" altLang="zh-TW" sz="220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22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sz="2200" i="1">
                          <a:latin typeface="Cambria Math"/>
                        </a:rPr>
                        <m:t>𝑥</m:t>
                      </m:r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r>
                        <a:rPr lang="en-US" altLang="zh-TW" sz="2200" i="1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US" altLang="zh-TW" sz="2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/>
                        </a:rPr>
                        <m:t>𝐴</m:t>
                      </m:r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20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200" i="1">
                          <a:latin typeface="Cambria Math"/>
                        </a:rPr>
                        <m:t>, </m:t>
                      </m:r>
                      <m:r>
                        <a:rPr lang="en-US" altLang="zh-TW" sz="2200" i="1">
                          <a:latin typeface="Cambria Math"/>
                        </a:rPr>
                        <m:t>𝑏</m:t>
                      </m:r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2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−8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200" i="1">
                          <a:latin typeface="Cambria Math"/>
                        </a:rPr>
                        <m:t>, </m:t>
                      </m:r>
                      <m:r>
                        <a:rPr lang="en-US" altLang="zh-TW" sz="2200" i="1">
                          <a:latin typeface="Cambria Math"/>
                        </a:rPr>
                        <m:t>𝑐</m:t>
                      </m:r>
                      <m:r>
                        <a:rPr lang="en-US" altLang="zh-TW" sz="22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altLang="zh-TW" sz="2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TW" sz="2200" dirty="0" smtClean="0"/>
              </a:p>
              <a:p>
                <a:endParaRPr lang="en-US" altLang="zh-TW" sz="2200" dirty="0"/>
              </a:p>
              <a:p>
                <a:r>
                  <a:rPr lang="en-US" altLang="zh-TW" sz="2200" dirty="0" smtClean="0"/>
                  <a:t>Initial gauss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TW" sz="22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200" b="0" i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2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den>
                      </m:f>
                      <m:r>
                        <a:rPr lang="en-US" altLang="zh-TW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=0.173</m:t>
                      </m:r>
                    </m:oMath>
                  </m:oMathPara>
                </a14:m>
                <a:endParaRPr lang="en-US" altLang="zh-TW" sz="2200" b="0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.08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−0.613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200" b="0" dirty="0" smtClean="0"/>
              </a:p>
              <a:p>
                <a:endParaRPr lang="en-US" altLang="zh-TW" sz="2200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1501776"/>
                <a:ext cx="5472608" cy="5219699"/>
              </a:xfrm>
              <a:prstGeom prst="rect">
                <a:avLst/>
              </a:prstGeom>
              <a:blipFill rotWithShape="0">
                <a:blip r:embed="rId2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5"/>
          <p:cNvCxnSpPr/>
          <p:nvPr/>
        </p:nvCxnSpPr>
        <p:spPr>
          <a:xfrm>
            <a:off x="457200" y="3140968"/>
            <a:ext cx="7787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84287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831911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圓角矩形圖說文字 1"/>
              <p:cNvSpPr/>
              <p:nvPr/>
            </p:nvSpPr>
            <p:spPr>
              <a:xfrm>
                <a:off x="179512" y="198164"/>
                <a:ext cx="2016224" cy="1080120"/>
              </a:xfrm>
              <a:prstGeom prst="wedgeRoundRectCallout">
                <a:avLst>
                  <a:gd name="adj1" fmla="val 105277"/>
                  <a:gd name="adj2" fmla="val 49242"/>
                  <a:gd name="adj3" fmla="val 1666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/>
                  <a:t>由</a:t>
                </a:r>
                <a:r>
                  <a:rPr lang="en-US" altLang="zh-TW" dirty="0" smtClean="0"/>
                  <a:t>(-2, -2)</a:t>
                </a:r>
                <a:r>
                  <a:rPr lang="zh-TW" altLang="en-US" dirty="0" smtClean="0"/>
                  <a:t>開始，實線的方向為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−2, −2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圓角矩形圖說文字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8164"/>
                <a:ext cx="2016224" cy="1080120"/>
              </a:xfrm>
              <a:prstGeom prst="wedgeRoundRectCallout">
                <a:avLst>
                  <a:gd name="adj1" fmla="val 105277"/>
                  <a:gd name="adj2" fmla="val 49242"/>
                  <a:gd name="adj3" fmla="val 16667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圓角矩形圖說文字 2"/>
              <p:cNvSpPr/>
              <p:nvPr/>
            </p:nvSpPr>
            <p:spPr>
              <a:xfrm>
                <a:off x="7164286" y="188640"/>
                <a:ext cx="1919143" cy="720080"/>
              </a:xfrm>
              <a:prstGeom prst="wedgeRoundRectCallout">
                <a:avLst>
                  <a:gd name="adj1" fmla="val -60060"/>
                  <a:gd name="adj2" fmla="val 88773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_</m:t>
                            </m:r>
                          </m:sub>
                        </m:sSub>
                      </m:e>
                    </m:d>
                    <m:r>
                      <a:rPr lang="zh-TW" altLang="en-US" b="0" i="1" smtClean="0">
                        <a:latin typeface="Cambria Math"/>
                      </a:rPr>
                      <m:t>與</m:t>
                    </m:r>
                    <m:r>
                      <a:rPr lang="en-US" altLang="zh-TW" b="0" i="1" smtClean="0">
                        <a:latin typeface="Cambria Math"/>
                      </a:rPr>
                      <m:t>𝑓</m:t>
                    </m:r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𝑥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相交的切線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圓角矩形圖說文字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286" y="188640"/>
                <a:ext cx="1919143" cy="720080"/>
              </a:xfrm>
              <a:prstGeom prst="wedgeRoundRectCallout">
                <a:avLst>
                  <a:gd name="adj1" fmla="val -60060"/>
                  <a:gd name="adj2" fmla="val 88773"/>
                  <a:gd name="adj3" fmla="val 16667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5326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Steepest descent algorithm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文字方塊 2"/>
              <p:cNvSpPr txBox="1"/>
              <p:nvPr/>
            </p:nvSpPr>
            <p:spPr>
              <a:xfrm>
                <a:off x="755576" y="1628800"/>
                <a:ext cx="8064896" cy="3770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最陡方向</m:t>
                          </m:r>
                        </m:e>
                      </m:d>
                    </m:oMath>
                  </m:oMathPara>
                </a14:m>
                <a:endParaRPr lang="en-US" altLang="zh-TW" sz="2400" b="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最佳步長</m:t>
                          </m:r>
                        </m:e>
                      </m:d>
                    </m:oMath>
                  </m:oMathPara>
                </a14:m>
                <a:endParaRPr lang="en-US" altLang="zh-TW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TW" sz="2400" dirty="0" smtClean="0">
                  <a:solidFill>
                    <a:schemeClr val="tx1"/>
                  </a:solidFill>
                </a:endParaRPr>
              </a:p>
              <a:p>
                <a:endParaRPr lang="en-US" altLang="zh-TW" sz="2400" dirty="0"/>
              </a:p>
              <a:p>
                <a:r>
                  <a:rPr lang="zh-TW" altLang="en-US" sz="2400" dirty="0" smtClean="0">
                    <a:solidFill>
                      <a:schemeClr val="tx1"/>
                    </a:solidFill>
                  </a:rPr>
                  <a:t>可再簡化為</a:t>
                </a:r>
                <a:r>
                  <a:rPr lang="en-US" altLang="zh-TW" sz="2400" dirty="0" smtClean="0">
                    <a:solidFill>
                      <a:schemeClr val="tx1"/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TW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⟺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⟺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628800"/>
                <a:ext cx="8064896" cy="3770904"/>
              </a:xfrm>
              <a:prstGeom prst="rect">
                <a:avLst/>
              </a:prstGeom>
              <a:blipFill rotWithShape="1">
                <a:blip r:embed="rId2"/>
                <a:stretch>
                  <a:fillRect l="-12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4253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Eigenvector and eigenvalue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31640" y="1916832"/>
            <a:ext cx="6172200" cy="118813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eigenvector of matrix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!=0 if: </a:t>
            </a:r>
          </a:p>
          <a:p>
            <a:pPr algn="ctr">
              <a:buNone/>
            </a:pPr>
            <a:r>
              <a:rPr lang="en-US" altLang="zh-TW" b="1" dirty="0" err="1" smtClean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Bx</a:t>
            </a:r>
            <a:r>
              <a:rPr lang="en-US" altLang="zh-TW" dirty="0" smtClean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= </a:t>
            </a:r>
            <a:r>
              <a:rPr lang="el-GR" altLang="zh-TW" dirty="0" smtClean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λ</a:t>
            </a:r>
            <a:r>
              <a:rPr lang="en-US" altLang="zh-TW" b="1" dirty="0" smtClean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</a:t>
            </a:r>
            <a:endParaRPr lang="en-US" altLang="zh-TW" b="1" dirty="0"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l-GR" altLang="zh-TW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λ</a:t>
            </a:r>
            <a:r>
              <a:rPr lang="en-US" altLang="zh-TW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is eigenvalue of matrix </a:t>
            </a:r>
            <a:r>
              <a:rPr lang="en-US" altLang="zh-TW" b="1" dirty="0" smtClean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FD6A-CD28-4AD1-997B-38CF7B9E77E7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57200" y="5246704"/>
            <a:ext cx="65881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sz="2000" dirty="0">
                <a:latin typeface="微軟正黑體" pitchFamily="34" charset="-120"/>
                <a:ea typeface="微軟正黑體" pitchFamily="34" charset="-120"/>
              </a:rPr>
              <a:t>λ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=3 or 1, 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可再求出對應的eigenvector各為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[1, 1]與[-1, 1]</a:t>
            </a:r>
            <a:endParaRPr lang="zh-TW" altLang="en-US" sz="2000" dirty="0"/>
          </a:p>
        </p:txBody>
      </p:sp>
      <p:pic>
        <p:nvPicPr>
          <p:cNvPr id="9" name="圖片 8" descr="250px-Eigenvalue_equation.svg (1)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6553200" y="3014002"/>
            <a:ext cx="2295823" cy="18366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323528" y="3501008"/>
                <a:ext cx="6120680" cy="1084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3−4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501008"/>
                <a:ext cx="6120680" cy="10849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769132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Eigenvector &amp; eigenvalue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文字方塊 2"/>
              <p:cNvSpPr txBox="1"/>
              <p:nvPr/>
            </p:nvSpPr>
            <p:spPr>
              <a:xfrm>
                <a:off x="753629" y="1412776"/>
                <a:ext cx="7931224" cy="195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𝑎𝑙𝑠𝑜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𝑒𝑖𝑔𝑒𝑛𝑣𝑒𝑐𝑡𝑜𝑟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𝑒𝑖𝑔𝑒𝑛𝑣𝑎𝑙𝑢𝑒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endParaRPr lang="en-US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&lt;1 , 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→∞, 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&gt;1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→∞, 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endParaRPr lang="en-US" altLang="zh-TW" sz="2000" dirty="0"/>
              </a:p>
            </p:txBody>
          </p:sp>
        </mc:Choice>
        <mc:Fallback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29" y="1412776"/>
                <a:ext cx="7931224" cy="195899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20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文字方塊 10"/>
              <p:cNvSpPr txBox="1"/>
              <p:nvPr/>
            </p:nvSpPr>
            <p:spPr>
              <a:xfrm>
                <a:off x="753629" y="3943108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TW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TW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TW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29" y="3943108"/>
                <a:ext cx="1152128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" name="文字方塊 11"/>
              <p:cNvSpPr txBox="1"/>
              <p:nvPr/>
            </p:nvSpPr>
            <p:spPr>
              <a:xfrm>
                <a:off x="753629" y="5550162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TW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29" y="5550162"/>
                <a:ext cx="1152128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2051720" y="3140968"/>
            <a:ext cx="6408712" cy="354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5166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8" name="Rectangle 10"/>
          <p:cNvSpPr>
            <a:spLocks noChangeArrowheads="1"/>
          </p:cNvSpPr>
          <p:nvPr/>
        </p:nvSpPr>
        <p:spPr bwMode="auto">
          <a:xfrm>
            <a:off x="179512" y="296041"/>
            <a:ext cx="8640960" cy="944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96850" indent="-1968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40000"/>
              <a:buFont typeface="Wingdings" panose="05000000000000000000" pitchFamily="2" charset="2"/>
              <a:buChar char="n"/>
              <a:defRPr kumimoji="1" sz="240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5715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4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77925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 marL="0" indent="0" algn="ctr">
              <a:buNone/>
            </a:pPr>
            <a:r>
              <a:rPr lang="en-US" altLang="zh-TW" sz="4000" dirty="0" smtClean="0">
                <a:solidFill>
                  <a:schemeClr val="tx1"/>
                </a:solidFill>
              </a:rPr>
              <a:t>Symmetric matrix</a:t>
            </a:r>
            <a:endParaRPr lang="zh-TW" altLang="en-US" sz="4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9579" name="Rectangle 11"/>
              <p:cNvSpPr>
                <a:spLocks noChangeArrowheads="1"/>
              </p:cNvSpPr>
              <p:nvPr/>
            </p:nvSpPr>
            <p:spPr bwMode="auto">
              <a:xfrm>
                <a:off x="-108520" y="1383484"/>
                <a:ext cx="9026013" cy="971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196850" indent="-1968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4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hlink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defRPr>
                </a:lvl1pPr>
                <a:lvl2pPr marL="5715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4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defRPr>
                </a:lvl2pPr>
                <a:lvl3pPr marL="1177925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標楷體" panose="03000509000000000000" pitchFamily="65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標楷體" panose="03000509000000000000" pitchFamily="65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標楷體" panose="03000509000000000000" pitchFamily="65" charset="-12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標楷體" panose="03000509000000000000" pitchFamily="65" charset="-12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標楷體" panose="03000509000000000000" pitchFamily="65" charset="-12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標楷體" panose="03000509000000000000" pitchFamily="65" charset="-12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標楷體" panose="03000509000000000000" pitchFamily="65" charset="-120"/>
                  </a:defRPr>
                </a:lvl9pPr>
              </a:lstStyle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None/>
                </a:pPr>
                <a:r>
                  <a:rPr lang="zh-TW" altLang="en-US" sz="1800" dirty="0" smtClean="0"/>
                  <a:t>令</a:t>
                </a:r>
                <a:r>
                  <a:rPr lang="en-US" altLang="zh-TW" sz="1800" b="1" i="1" dirty="0" smtClean="0"/>
                  <a:t>B</a:t>
                </a:r>
                <a:r>
                  <a:rPr lang="zh-TW" altLang="en-US" sz="1800" dirty="0" smtClean="0"/>
                  <a:t>為</a:t>
                </a:r>
                <a:r>
                  <a:rPr lang="zh-TW" altLang="en-US" sz="1800" dirty="0"/>
                  <a:t>一</a:t>
                </a:r>
                <a:r>
                  <a:rPr lang="en-US" altLang="zh-TW" sz="1800" i="1" dirty="0" err="1"/>
                  <a:t>n</a:t>
                </a:r>
                <a:r>
                  <a:rPr lang="en-US" altLang="zh-TW" sz="1800" dirty="0" err="1">
                    <a:sym typeface="Symbol" panose="05050102010706020507" pitchFamily="18" charset="2"/>
                  </a:rPr>
                  <a:t></a:t>
                </a:r>
                <a:r>
                  <a:rPr lang="en-US" altLang="zh-TW" sz="1800" i="1" dirty="0" err="1"/>
                  <a:t>n</a:t>
                </a:r>
                <a:r>
                  <a:rPr lang="zh-TW" altLang="en-US" sz="1800" dirty="0"/>
                  <a:t>的對稱</a:t>
                </a:r>
                <a:r>
                  <a:rPr lang="zh-TW" altLang="en-US" sz="1800" dirty="0" smtClean="0"/>
                  <a:t>矩陣</a:t>
                </a:r>
                <a:r>
                  <a:rPr lang="en-US" altLang="zh-TW" sz="1800" dirty="0" smtClean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sz="1800" dirty="0" smtClean="0"/>
                  <a:t>)</a:t>
                </a:r>
                <a:r>
                  <a:rPr lang="zh-TW" altLang="en-US" sz="1800" dirty="0" smtClean="0"/>
                  <a:t>。</a:t>
                </a:r>
                <a:r>
                  <a:rPr lang="zh-TW" altLang="en-US" sz="1800" dirty="0"/>
                  <a:t>若</a:t>
                </a:r>
                <a:r>
                  <a:rPr lang="zh-TW" altLang="en-US" sz="1800" i="1" dirty="0">
                    <a:sym typeface="Symbol" panose="05050102010706020507" pitchFamily="18" charset="2"/>
                  </a:rPr>
                  <a:t></a:t>
                </a:r>
                <a:r>
                  <a:rPr lang="en-US" altLang="zh-TW" sz="1800" baseline="-25000" dirty="0">
                    <a:sym typeface="Symbol" panose="05050102010706020507" pitchFamily="18" charset="2"/>
                  </a:rPr>
                  <a:t>1</a:t>
                </a:r>
                <a:r>
                  <a:rPr lang="zh-TW" altLang="en-US" sz="1800" dirty="0"/>
                  <a:t>及</a:t>
                </a:r>
                <a:r>
                  <a:rPr lang="zh-TW" altLang="en-US" sz="1800" i="1" dirty="0">
                    <a:sym typeface="Symbol" panose="05050102010706020507" pitchFamily="18" charset="2"/>
                  </a:rPr>
                  <a:t></a:t>
                </a:r>
                <a:r>
                  <a:rPr lang="en-US" altLang="zh-TW" sz="1800" baseline="-25000" dirty="0">
                    <a:sym typeface="Symbol" panose="05050102010706020507" pitchFamily="18" charset="2"/>
                  </a:rPr>
                  <a:t>2</a:t>
                </a:r>
                <a:r>
                  <a:rPr lang="zh-TW" altLang="en-US" sz="1800" dirty="0" smtClean="0"/>
                  <a:t>為</a:t>
                </a:r>
                <a:r>
                  <a:rPr lang="en-US" altLang="zh-TW" sz="1800" b="1" i="1" dirty="0" smtClean="0"/>
                  <a:t>B</a:t>
                </a:r>
                <a:r>
                  <a:rPr lang="zh-TW" altLang="en-US" sz="1800" dirty="0" smtClean="0"/>
                  <a:t>的</a:t>
                </a:r>
                <a:r>
                  <a:rPr lang="zh-TW" altLang="en-US" sz="1800" dirty="0"/>
                  <a:t>不同特徵值，則其相對的特徵向量</a:t>
                </a:r>
                <a:r>
                  <a:rPr lang="en-US" altLang="zh-TW" sz="1800" i="1" dirty="0"/>
                  <a:t>x</a:t>
                </a:r>
                <a:r>
                  <a:rPr lang="en-US" altLang="zh-TW" sz="1800" baseline="-25000" dirty="0"/>
                  <a:t>1</a:t>
                </a:r>
                <a:r>
                  <a:rPr lang="zh-TW" altLang="en-US" sz="1800" dirty="0"/>
                  <a:t>與</a:t>
                </a:r>
                <a:r>
                  <a:rPr lang="en-US" altLang="zh-TW" sz="1800" i="1" dirty="0"/>
                  <a:t>x</a:t>
                </a:r>
                <a:r>
                  <a:rPr lang="en-US" altLang="zh-TW" sz="1800" baseline="-25000" dirty="0"/>
                  <a:t>2</a:t>
                </a:r>
                <a:r>
                  <a:rPr lang="zh-TW" altLang="en-US" sz="1800" dirty="0"/>
                  <a:t>為</a:t>
                </a:r>
                <a:r>
                  <a:rPr lang="zh-TW" altLang="en-US" sz="1800" dirty="0">
                    <a:solidFill>
                      <a:srgbClr val="FF0000"/>
                    </a:solidFill>
                  </a:rPr>
                  <a:t>正交</a:t>
                </a:r>
                <a:r>
                  <a:rPr lang="zh-TW" altLang="en-US" sz="1800" dirty="0"/>
                  <a:t/>
                </a:r>
              </a:p>
            </p:txBody>
          </p:sp>
        </mc:Choice>
        <mc:Fallback>
          <p:sp>
            <p:nvSpPr>
              <p:cNvPr id="109579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08520" y="1383484"/>
                <a:ext cx="9026013" cy="971550"/>
              </a:xfrm>
              <a:prstGeom prst="rect">
                <a:avLst/>
              </a:prstGeom>
              <a:blipFill rotWithShape="0">
                <a:blip r:embed="rId4"/>
                <a:stretch>
                  <a:fillRect t="-12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23466918"/>
              </p:ext>
            </p:extLst>
          </p:nvPr>
        </p:nvGraphicFramePr>
        <p:xfrm>
          <a:off x="1034920" y="2751614"/>
          <a:ext cx="981050" cy="634159"/>
        </p:xfrm>
        <a:graphic>
          <a:graphicData uri="http://schemas.openxmlformats.org/presentationml/2006/ole">
            <p:oleObj spid="_x0000_s1136" name="方程式" r:id="rId5" imgW="711000" imgH="457200" progId="Equation.3">
              <p:embed/>
            </p:oleObj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67250136"/>
              </p:ext>
            </p:extLst>
          </p:nvPr>
        </p:nvGraphicFramePr>
        <p:xfrm>
          <a:off x="2306141" y="2705354"/>
          <a:ext cx="5079206" cy="685800"/>
        </p:xfrm>
        <a:graphic>
          <a:graphicData uri="http://schemas.openxmlformats.org/presentationml/2006/ole">
            <p:oleObj spid="_x0000_s1137" name="方程式" r:id="rId6" imgW="3377880" imgH="457200" progId="Equation.3">
              <p:embed/>
            </p:oleObj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09511274"/>
              </p:ext>
            </p:extLst>
          </p:nvPr>
        </p:nvGraphicFramePr>
        <p:xfrm>
          <a:off x="1050925" y="3622675"/>
          <a:ext cx="5867400" cy="685800"/>
        </p:xfrm>
        <a:graphic>
          <a:graphicData uri="http://schemas.openxmlformats.org/presentationml/2006/ole">
            <p:oleObj spid="_x0000_s1138" name="方程式" r:id="rId7" imgW="3911400" imgH="457200" progId="Equation.3">
              <p:embed/>
            </p:oleObj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33427439"/>
              </p:ext>
            </p:extLst>
          </p:nvPr>
        </p:nvGraphicFramePr>
        <p:xfrm>
          <a:off x="1027113" y="4400550"/>
          <a:ext cx="5829300" cy="685800"/>
        </p:xfrm>
        <a:graphic>
          <a:graphicData uri="http://schemas.openxmlformats.org/presentationml/2006/ole">
            <p:oleObj spid="_x0000_s1139" name="方程式" r:id="rId8" imgW="3886200" imgH="457200" progId="Equation.3">
              <p:embed/>
            </p:oleObj>
          </a:graphicData>
        </a:graphic>
      </p:graphicFrame>
      <p:graphicFrame>
        <p:nvGraphicFramePr>
          <p:cNvPr id="9" name="Object 18"/>
          <p:cNvGraphicFramePr>
            <a:graphicFrameLocks noChangeAspect="1"/>
          </p:cNvGraphicFramePr>
          <p:nvPr>
            <p:extLst/>
          </p:nvPr>
        </p:nvGraphicFramePr>
        <p:xfrm>
          <a:off x="2251682" y="5179536"/>
          <a:ext cx="4648200" cy="685800"/>
        </p:xfrm>
        <a:graphic>
          <a:graphicData uri="http://schemas.openxmlformats.org/presentationml/2006/ole">
            <p:oleObj spid="_x0000_s1140" name="方程式" r:id="rId9" imgW="3098800" imgH="457200" progId="Equation.3">
              <p:embed/>
            </p:oleObj>
          </a:graphicData>
        </a:graphic>
      </p:graphicFrame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219F-0D1D-406E-9A44-C7FDF5EFF17E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8007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Symmetric matrix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323528" y="1417638"/>
            <a:ext cx="84969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 smtClean="0">
                <a:solidFill>
                  <a:srgbClr val="FF0000"/>
                </a:solidFill>
              </a:rPr>
              <a:t>A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 </a:t>
            </a:r>
            <a:r>
              <a:rPr lang="zh-TW" altLang="en-US" sz="2400" b="1" dirty="0">
                <a:solidFill>
                  <a:srgbClr val="FF0000"/>
                </a:solidFill>
              </a:rPr>
              <a:t>real n×n matrix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B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 </a:t>
            </a:r>
            <a:r>
              <a:rPr lang="zh-TW" altLang="en-US" sz="2400" b="1" dirty="0">
                <a:solidFill>
                  <a:srgbClr val="FF0000"/>
                </a:solidFill>
              </a:rPr>
              <a:t>is </a:t>
            </a:r>
            <a:r>
              <a:rPr lang="zh-TW" altLang="en-US" sz="2400" b="1" u="sng" dirty="0">
                <a:solidFill>
                  <a:srgbClr val="FF0000"/>
                </a:solidFill>
              </a:rPr>
              <a:t>symmetric</a:t>
            </a:r>
            <a:r>
              <a:rPr lang="zh-TW" altLang="en-US" sz="2400" b="1" dirty="0">
                <a:solidFill>
                  <a:srgbClr val="FF0000"/>
                </a:solidFill>
              </a:rPr>
              <a:t> if and only if there is an orthonormal basis of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R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 </a:t>
            </a:r>
            <a:r>
              <a:rPr lang="zh-TW" altLang="en-US" sz="2400" b="1" dirty="0">
                <a:solidFill>
                  <a:srgbClr val="FF0000"/>
                </a:solidFill>
              </a:rPr>
              <a:t>consisting of eigenvectors for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B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.</a:t>
            </a:r>
            <a:endParaRPr lang="en-US" altLang="zh-TW" sz="2400" b="1" dirty="0" smtClean="0">
              <a:solidFill>
                <a:srgbClr val="FF0000"/>
              </a:solidFill>
            </a:endParaRPr>
          </a:p>
          <a:p>
            <a:endParaRPr lang="en-US" altLang="zh-TW" sz="2400" b="1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 smtClean="0"/>
              <a:t>所以對稱矩陣</a:t>
            </a:r>
            <a:r>
              <a:rPr lang="en-US" altLang="zh-TW" sz="2400" dirty="0" smtClean="0"/>
              <a:t>B</a:t>
            </a:r>
            <a:r>
              <a:rPr lang="zh-TW" altLang="en-US" sz="2400" dirty="0" smtClean="0"/>
              <a:t>的</a:t>
            </a:r>
            <a:r>
              <a:rPr lang="en-US" altLang="zh-TW" sz="2400" dirty="0" smtClean="0"/>
              <a:t>eigenvector</a:t>
            </a:r>
            <a:r>
              <a:rPr lang="zh-TW" altLang="en-US" sz="2400" dirty="0" smtClean="0"/>
              <a:t>必定</a:t>
            </a:r>
            <a:r>
              <a:rPr lang="en-US" altLang="zh-TW" sz="2400" dirty="0" smtClean="0"/>
              <a:t>L.I.</a:t>
            </a:r>
            <a:r>
              <a:rPr lang="zh-TW" altLang="en-US" sz="2400" dirty="0" smtClean="0"/>
              <a:t>，且有</a:t>
            </a:r>
            <a:r>
              <a:rPr lang="en-US" altLang="zh-TW" sz="2400" dirty="0" smtClean="0"/>
              <a:t>n</a:t>
            </a:r>
            <a:r>
              <a:rPr lang="zh-TW" altLang="en-US" sz="2400" dirty="0" smtClean="0"/>
              <a:t>個不同的</a:t>
            </a:r>
            <a:r>
              <a:rPr lang="en-US" altLang="zh-TW" sz="2400" dirty="0" smtClean="0"/>
              <a:t>eigenvalues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 smtClean="0"/>
              <a:t>如果</a:t>
            </a:r>
            <a:r>
              <a:rPr lang="en-US" altLang="zh-TW" sz="2400" dirty="0" smtClean="0"/>
              <a:t>B apply to a non-eigenvector x</a:t>
            </a:r>
            <a:r>
              <a:rPr lang="zh-TW" altLang="en-US" sz="2400" dirty="0" smtClean="0"/>
              <a:t>時，則</a:t>
            </a:r>
            <a:r>
              <a:rPr lang="en-US" altLang="zh-TW" sz="2400" dirty="0" err="1" smtClean="0"/>
              <a:t>Bx</a:t>
            </a:r>
            <a:r>
              <a:rPr lang="zh-TW" altLang="en-US" sz="2400" dirty="0" smtClean="0"/>
              <a:t>可拆解成</a:t>
            </a:r>
            <a:r>
              <a:rPr lang="en-US" altLang="zh-TW" sz="2400" dirty="0" smtClean="0"/>
              <a:t>B</a:t>
            </a:r>
            <a:r>
              <a:rPr lang="zh-TW" altLang="en-US" sz="2400" dirty="0" smtClean="0"/>
              <a:t>之</a:t>
            </a:r>
            <a:r>
              <a:rPr lang="en-US" altLang="zh-TW" sz="2400" dirty="0" smtClean="0"/>
              <a:t>eigenvector</a:t>
            </a:r>
            <a:r>
              <a:rPr lang="zh-TW" altLang="en-US" sz="2400" dirty="0" smtClean="0"/>
              <a:t>的線性組合</a:t>
            </a:r>
            <a:endParaRPr lang="zh-TW" altLang="en-US" sz="24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43027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23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539552" y="476672"/>
                <a:ext cx="8435280" cy="235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altLang="zh-TW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TW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sSub>
                        <m:sSub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sSub>
                        <m:sSub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TW" sz="2400" b="1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bSup>
                      <m:sSub>
                        <m:sSub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bSup>
                      <m:sSub>
                        <m:sSubPr>
                          <m:ctrlP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TW" sz="2400" b="1" dirty="0" smtClean="0">
                  <a:solidFill>
                    <a:schemeClr val="tx2"/>
                  </a:solidFill>
                </a:endParaRPr>
              </a:p>
              <a:p>
                <a:endParaRPr lang="en-US" altLang="zh-TW" sz="2400" b="1" dirty="0">
                  <a:solidFill>
                    <a:schemeClr val="tx2"/>
                  </a:solidFill>
                </a:endParaRPr>
              </a:p>
              <a:p>
                <a:r>
                  <a:rPr lang="zh-TW" altLang="en-US" sz="2400" dirty="0" smtClean="0">
                    <a:solidFill>
                      <a:schemeClr val="tx2"/>
                    </a:solidFill>
                  </a:rPr>
                  <a:t>如果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B</a:t>
                </a:r>
                <a:r>
                  <a:rPr lang="zh-TW" altLang="en-US" sz="2400" dirty="0" smtClean="0">
                    <a:solidFill>
                      <a:schemeClr val="tx2"/>
                    </a:solidFill>
                  </a:rPr>
                  <a:t>的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eigenvalues</a:t>
                </a:r>
                <a:r>
                  <a:rPr lang="zh-TW" altLang="en-US" sz="2400" dirty="0" smtClean="0">
                    <a:solidFill>
                      <a:schemeClr val="tx2"/>
                    </a:solidFill>
                  </a:rPr>
                  <a:t>均小於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1, </a:t>
                </a:r>
                <a:r>
                  <a:rPr lang="zh-TW" altLang="en-US" sz="2400" dirty="0" smtClean="0">
                    <a:solidFill>
                      <a:schemeClr val="tx2"/>
                    </a:solidFill>
                  </a:rPr>
                  <a:t>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zh-TW" altLang="en-US" sz="2400" dirty="0" smtClean="0">
                    <a:solidFill>
                      <a:schemeClr val="tx2"/>
                    </a:solidFill>
                  </a:rPr>
                  <a:t>會收斂到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0</a:t>
                </a:r>
                <a:r>
                  <a:rPr lang="zh-TW" altLang="en-US" sz="2400" dirty="0" smtClean="0">
                    <a:solidFill>
                      <a:schemeClr val="tx2"/>
                    </a:solidFill>
                  </a:rPr>
                  <a:t>。</a:t>
                </a:r>
                <a:endParaRPr lang="en-US" altLang="zh-TW" sz="2400" dirty="0" smtClean="0">
                  <a:solidFill>
                    <a:schemeClr val="tx2"/>
                  </a:solidFill>
                </a:endParaRPr>
              </a:p>
              <a:p>
                <a:r>
                  <a:rPr lang="zh-TW" altLang="en-US" sz="2400" dirty="0" smtClean="0">
                    <a:solidFill>
                      <a:schemeClr val="tx2"/>
                    </a:solidFill>
                  </a:rPr>
                  <a:t>如果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B</a:t>
                </a:r>
                <a:r>
                  <a:rPr lang="zh-TW" altLang="en-US" sz="2400" dirty="0" smtClean="0">
                    <a:solidFill>
                      <a:schemeClr val="tx2"/>
                    </a:solidFill>
                  </a:rPr>
                  <a:t>有任一個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eigenvalue</a:t>
                </a:r>
                <a:r>
                  <a:rPr lang="zh-TW" altLang="en-US" sz="2400" dirty="0" smtClean="0">
                    <a:solidFill>
                      <a:schemeClr val="tx2"/>
                    </a:solidFill>
                  </a:rPr>
                  <a:t>大於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1 , </a:t>
                </a:r>
                <a:r>
                  <a:rPr lang="zh-TW" altLang="en-US" sz="2400" dirty="0" smtClean="0">
                    <a:solidFill>
                      <a:schemeClr val="tx2"/>
                    </a:solidFill>
                  </a:rPr>
                  <a:t>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TW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en-US" sz="2400" dirty="0" smtClean="0">
                    <a:solidFill>
                      <a:schemeClr val="tx2"/>
                    </a:solidFill>
                  </a:rPr>
                  <a:t>會發散至無窮大。</a:t>
                </a:r>
                <a:endParaRPr lang="en-US" altLang="zh-TW" sz="2400" dirty="0" smtClean="0">
                  <a:solidFill>
                    <a:schemeClr val="tx2"/>
                  </a:solidFill>
                </a:endParaRPr>
              </a:p>
              <a:p>
                <a:endParaRPr lang="en-US" altLang="zh-TW" sz="2400" dirty="0">
                  <a:solidFill>
                    <a:schemeClr val="tx2"/>
                  </a:solidFill>
                </a:endParaRPr>
              </a:p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Spectral radius: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𝑒𝑖𝑔𝑒𝑛𝑣𝑎𝑙𝑢𝑒𝑠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76672"/>
                <a:ext cx="8435280" cy="2358851"/>
              </a:xfrm>
              <a:prstGeom prst="rect">
                <a:avLst/>
              </a:prstGeom>
              <a:blipFill rotWithShape="0">
                <a:blip r:embed="rId2"/>
                <a:stretch>
                  <a:fillRect l="-1157" b="-49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251520" y="3429000"/>
            <a:ext cx="8435280" cy="279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0469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Jacobi iterations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24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287524" y="714206"/>
                <a:ext cx="8568952" cy="5791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/>
                  <a:t>For solving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TW" sz="2000" b="0" dirty="0" smtClean="0"/>
              </a:p>
              <a:p>
                <a:pPr/>
                <a:r>
                  <a:rPr lang="en-US" altLang="zh-TW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TW" sz="20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zh-TW" sz="2000" b="0" i="1" dirty="0" smtClean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𝑑𝑖𝑎𝑔𝑜𝑛𝑎𝑙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𝑒𝑙𝑒𝑚𝑒𝑛𝑡𝑠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𝑜𝑓𝑓</m:t>
                      </m:r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𝑑𝑖𝑎𝑔𝑜𝑛𝑎𝑙</m:t>
                      </m:r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𝑒𝑙𝑒𝑚𝑒𝑛𝑡𝑠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⟺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∵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𝑑𝑖𝑎𝑔𝑜𝑛𝑎𝑙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𝑒𝑎𝑠𝑦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𝑔𝑒𝑡</m:t>
                      </m:r>
                    </m:oMath>
                  </m:oMathPara>
                </a14:m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TW" sz="2000" dirty="0" smtClean="0"/>
              </a:p>
              <a:p>
                <a:r>
                  <a:rPr lang="zh-TW" altLang="en-US" sz="2000" dirty="0" smtClean="0"/>
                  <a:t>解發生在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zh-TW" altLang="en-US" sz="2000" dirty="0" smtClean="0"/>
                  <a:t/>
                </a:r>
                <a:r>
                  <a:rPr lang="en-US" altLang="zh-TW" sz="2000" dirty="0" smtClean="0"/>
                  <a:t>is called stationary point.</a:t>
                </a:r>
              </a:p>
              <a:p>
                <a:endParaRPr lang="en-US" altLang="zh-TW" sz="2000" dirty="0"/>
              </a:p>
              <a:p>
                <a:r>
                  <a:rPr lang="zh-TW" altLang="en-US" sz="2000" dirty="0" smtClean="0"/>
                  <a:t>假設在每個</a:t>
                </a:r>
                <a:r>
                  <a:rPr lang="en-US" altLang="zh-TW" sz="2000" dirty="0" smtClean="0"/>
                  <a:t>iteration</a:t>
                </a:r>
                <a:r>
                  <a:rPr lang="zh-TW" altLang="en-US" sz="2000" dirty="0" smtClean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𝑒𝑥𝑎𝑐𝑡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𝑠𝑜𝑙𝑢𝑡𝑖𝑜𝑛</m:t>
                    </m:r>
                  </m:oMath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altLang="zh-TW" sz="2000" dirty="0" smtClean="0"/>
              </a:p>
              <a:p>
                <a:r>
                  <a:rPr lang="zh-TW" altLang="en-US" sz="2000" dirty="0" smtClean="0"/>
                  <a:t>所以在</a:t>
                </a:r>
                <a:r>
                  <a:rPr lang="en-US" altLang="zh-TW" sz="2000" dirty="0" smtClean="0"/>
                  <a:t>iteration</a:t>
                </a:r>
                <a:r>
                  <a:rPr lang="zh-TW" altLang="en-US" sz="2000" dirty="0" smtClean="0"/>
                  <a:t>時，並不會影響到</a:t>
                </a:r>
                <a:r>
                  <a:rPr lang="en-US" altLang="zh-TW" sz="2000" dirty="0" smtClean="0"/>
                  <a:t>correct part of x(</a:t>
                </a:r>
                <a:r>
                  <a:rPr lang="en-US" altLang="zh-TW" sz="2000" dirty="0" err="1" smtClean="0"/>
                  <a:t>i</a:t>
                </a:r>
                <a:r>
                  <a:rPr lang="en-US" altLang="zh-TW" sz="2000" dirty="0" smtClean="0"/>
                  <a:t>), </a:t>
                </a:r>
                <a:r>
                  <a:rPr lang="zh-TW" altLang="en-US" sz="2000" dirty="0" smtClean="0"/>
                  <a:t>只會影響到</a:t>
                </a:r>
                <a:r>
                  <a:rPr lang="en-US" altLang="zh-TW" sz="2000" dirty="0" smtClean="0"/>
                  <a:t>error term</a:t>
                </a:r>
                <a:r>
                  <a:rPr lang="zh-TW" altLang="en-US" sz="2000" dirty="0" smtClean="0"/>
                  <a:t>，且若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spectral radius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TW" sz="2000" dirty="0" smtClean="0">
                    <a:solidFill>
                      <a:srgbClr val="FF0000"/>
                    </a:solidFill>
                  </a:rPr>
                  <a:t>(</a:t>
                </a:r>
                <a:r>
                  <a:rPr lang="zh-TW" altLang="en-US" sz="2000" dirty="0" smtClean="0">
                    <a:solidFill>
                      <a:srgbClr val="FF0000"/>
                    </a:solidFill>
                  </a:rPr>
                  <a:t>影響收斂速度之關鍵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)</a:t>
                </a:r>
                <a:r>
                  <a:rPr lang="zh-TW" altLang="en-US" sz="2000" dirty="0" smtClean="0"/>
                  <a:t>，則</a:t>
                </a:r>
                <a:r>
                  <a:rPr lang="en-US" altLang="zh-TW" sz="2000" dirty="0" smtClean="0"/>
                  <a:t>error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TW" altLang="en-US" sz="2000" dirty="0" smtClean="0"/>
                  <a:t>會收斂到</a:t>
                </a:r>
                <a:r>
                  <a:rPr lang="en-US" altLang="zh-TW" sz="2000" dirty="0" smtClean="0"/>
                  <a:t>0</a:t>
                </a:r>
                <a:r>
                  <a:rPr lang="zh-TW" altLang="en-US" sz="2000" dirty="0" smtClean="0"/>
                  <a:t>。</a:t>
                </a:r>
                <a:endParaRPr lang="en-US" altLang="zh-TW" sz="20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714206"/>
                <a:ext cx="8568952" cy="5791394"/>
              </a:xfrm>
              <a:prstGeom prst="rect">
                <a:avLst/>
              </a:prstGeom>
              <a:blipFill rotWithShape="0">
                <a:blip r:embed="rId3"/>
                <a:stretch>
                  <a:fillRect l="-711" t="-526" b="-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0282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Jacobi iterations example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8585"/>
                <a:ext cx="8229600" cy="5121275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</a:rPr>
                      <m:t>𝐴</m:t>
                    </m:r>
                    <m:r>
                      <a:rPr lang="en-US" altLang="zh-TW" sz="200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r>
                      <a:rPr lang="en-US" altLang="zh-TW" sz="2000" b="0" i="1" smtClean="0">
                        <a:latin typeface="Cambria Math"/>
                      </a:rPr>
                      <m:t>𝐷</m:t>
                    </m:r>
                    <m:r>
                      <a:rPr lang="en-US" altLang="zh-TW" sz="2000" b="0" i="1" smtClean="0">
                        <a:latin typeface="Cambria Math"/>
                      </a:rPr>
                      <m:t>+</m:t>
                    </m:r>
                    <m:r>
                      <a:rPr lang="en-US" altLang="zh-TW" sz="2000" b="0" i="1" smtClean="0">
                        <a:latin typeface="Cambria Math"/>
                      </a:rPr>
                      <m:t>𝐸</m:t>
                    </m:r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,</m:t>
                    </m:r>
                    <m:r>
                      <a:rPr lang="en-US" altLang="zh-TW" sz="2000" i="1">
                        <a:latin typeface="Cambria Math"/>
                      </a:rPr>
                      <m:t>𝑏</m:t>
                    </m:r>
                    <m:r>
                      <a:rPr lang="en-US" altLang="zh-TW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−8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000" i="1">
                        <a:latin typeface="Cambria Math"/>
                      </a:rPr>
                      <m:t>, </m:t>
                    </m:r>
                    <m:r>
                      <a:rPr lang="en-US" altLang="zh-TW" sz="2000" i="1">
                        <a:latin typeface="Cambria Math"/>
                      </a:rPr>
                      <m:t>𝑐</m:t>
                    </m:r>
                    <m:r>
                      <a:rPr lang="en-US" altLang="zh-TW" sz="2000" i="1">
                        <a:latin typeface="Cambria Math"/>
                      </a:rPr>
                      <m:t>=0</m:t>
                    </m:r>
                  </m:oMath>
                </a14:m>
                <a:endParaRPr lang="en-US" altLang="zh-TW" sz="2000" dirty="0" smtClean="0"/>
              </a:p>
              <a:p>
                <a:r>
                  <a:rPr lang="en-US" altLang="zh-TW" sz="2000" b="0" dirty="0" smtClean="0"/>
                  <a:t>Eigenvalues of A: 7 and 2.</a:t>
                </a:r>
              </a:p>
              <a:p>
                <a:r>
                  <a:rPr lang="en-US" altLang="zh-TW" sz="2000" dirty="0" smtClean="0"/>
                  <a:t>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1,2</m:t>
                            </m:r>
                          </m:e>
                        </m:d>
                      </m:e>
                      <m:sup>
                        <m:r>
                          <a:rPr lang="en-US" altLang="zh-TW" sz="20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sz="2000" b="0" dirty="0" smtClean="0"/>
                  <a:t> w.r.t. 7</a:t>
                </a:r>
              </a:p>
              <a:p>
                <a:r>
                  <a:rPr lang="en-US" altLang="zh-TW" sz="2000" dirty="0" smtClean="0"/>
                  <a:t>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−2, 1</m:t>
                            </m:r>
                          </m:e>
                        </m:d>
                      </m:e>
                      <m:sup>
                        <m:r>
                          <a:rPr lang="en-US" altLang="zh-TW" sz="20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sz="2000" b="0" dirty="0" smtClean="0"/>
                  <a:t> w.r.t.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b="0" i="0" smtClean="0">
                        <a:latin typeface="Cambria Math"/>
                      </a:rPr>
                      <m:t>,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𝑤h𝑒𝑟𝑒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sz="2000" dirty="0" smtClean="0">
                    <a:ea typeface="Cambria Math" panose="02040503050406030204" pitchFamily="18" charset="0"/>
                  </a:rPr>
                  <a:t/>
                </a:r>
                <a:br>
                  <a:rPr lang="en-US" altLang="zh-TW" sz="2000" dirty="0" smtClean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sz="2000" b="0" i="0" smtClean="0">
                        <a:latin typeface="Cambria Math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TW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TW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000" b="0" i="1" smtClean="0"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TW" sz="20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TW" sz="2000" i="1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−8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000" b="0" i="1" smtClean="0"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TW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TW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Eigenvalues of B: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TW" sz="2000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US" altLang="zh-TW" sz="2000" b="0" i="1" smtClean="0"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latin typeface="Cambria Math"/>
                      </a:rPr>
                      <m:t>𝑎𝑛𝑑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TW" sz="2000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US" altLang="zh-TW" sz="2000" b="0" i="1" smtClean="0">
                                <a:latin typeface="Cambria Math"/>
                              </a:rPr>
                              <m:t>, 1</m:t>
                            </m:r>
                          </m:e>
                        </m:d>
                      </m:e>
                      <m:sup>
                        <m:r>
                          <a:rPr lang="en-US" altLang="zh-TW" sz="20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sz="2000" dirty="0" smtClean="0"/>
                  <a:t> w.r.t.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TW" sz="20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US" altLang="zh-TW" sz="2000" b="0" i="1" smtClean="0">
                                <a:latin typeface="Cambria Math"/>
                              </a:rPr>
                              <m:t>,1</m:t>
                            </m:r>
                          </m:e>
                        </m:d>
                      </m:e>
                      <m:sup>
                        <m:r>
                          <a:rPr lang="en-US" altLang="zh-TW" sz="20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sz="2000" dirty="0" smtClean="0"/>
                  <a:t> w.r.t.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TW" sz="20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altLang="zh-TW" sz="2000" dirty="0"/>
              </a:p>
              <a:p>
                <a:endParaRPr lang="en-US" altLang="zh-TW" sz="2000" b="0" dirty="0" smtClean="0"/>
              </a:p>
              <a:p>
                <a:endParaRPr lang="en-US" altLang="zh-TW" sz="2000" b="0" dirty="0" smtClean="0"/>
              </a:p>
            </p:txBody>
          </p:sp>
        </mc:Choice>
        <mc:Fallback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8585"/>
                <a:ext cx="8229600" cy="5121275"/>
              </a:xfrm>
              <a:blipFill rotWithShape="0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2828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107504" y="1176427"/>
            <a:ext cx="8971224" cy="51799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611560" y="332656"/>
                <a:ext cx="1342996" cy="5542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/>
                        </a:rPr>
                        <m:t>𝐴</m:t>
                      </m:r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32656"/>
                <a:ext cx="1342996" cy="5542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2286000" y="148118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zh-TW" dirty="0"/>
                  <a:t>Eigenvalues of A: 7 and 2.</a:t>
                </a:r>
              </a:p>
              <a:p>
                <a:r>
                  <a:rPr lang="en-US" altLang="zh-TW" dirty="0"/>
                  <a:t>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1,2</m:t>
                            </m:r>
                          </m:e>
                        </m:d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dirty="0"/>
                  <a:t> w.r.t. 7</a:t>
                </a:r>
              </a:p>
              <a:p>
                <a:r>
                  <a:rPr lang="en-US" altLang="zh-TW" dirty="0"/>
                  <a:t>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−2, 1</m:t>
                            </m:r>
                          </m:e>
                        </m:d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dirty="0"/>
                  <a:t> w.r.t. 2</a:t>
                </a: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8118"/>
                <a:ext cx="4572000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1067" t="-3289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/>
          <p:cNvSpPr txBox="1"/>
          <p:nvPr/>
        </p:nvSpPr>
        <p:spPr>
          <a:xfrm>
            <a:off x="179512" y="2060848"/>
            <a:ext cx="23042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>
                <a:solidFill>
                  <a:srgbClr val="FF0000"/>
                </a:solidFill>
              </a:rPr>
              <a:t>Eigenvectors</a:t>
            </a:r>
            <a:r>
              <a:rPr lang="zh-TW" altLang="en-US" dirty="0" smtClean="0">
                <a:solidFill>
                  <a:srgbClr val="FF0000"/>
                </a:solidFill>
              </a:rPr>
              <a:t>正交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>
                <a:solidFill>
                  <a:srgbClr val="FF0000"/>
                </a:solidFill>
              </a:rPr>
              <a:t>Eigenvectors</a:t>
            </a:r>
            <a:r>
              <a:rPr lang="zh-TW" altLang="en-US" dirty="0" smtClean="0">
                <a:solidFill>
                  <a:srgbClr val="FF0000"/>
                </a:solidFill>
              </a:rPr>
              <a:t>指向橢圓的兩軸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>
                <a:solidFill>
                  <a:srgbClr val="FF0000"/>
                </a:solidFill>
              </a:rPr>
              <a:t>eigenvalue</a:t>
            </a:r>
            <a:r>
              <a:rPr lang="zh-TW" altLang="en-US" dirty="0" smtClean="0">
                <a:solidFill>
                  <a:srgbClr val="FF0000"/>
                </a:solidFill>
              </a:rPr>
              <a:t>較大的</a:t>
            </a:r>
            <a:r>
              <a:rPr lang="en-US" altLang="zh-TW" dirty="0" smtClean="0">
                <a:solidFill>
                  <a:srgbClr val="FF0000"/>
                </a:solidFill>
              </a:rPr>
              <a:t>eigenvector</a:t>
            </a:r>
            <a:r>
              <a:rPr lang="zh-TW" altLang="en-US" dirty="0" smtClean="0">
                <a:solidFill>
                  <a:srgbClr val="FF0000"/>
                </a:solidFill>
              </a:rPr>
              <a:t>的方向較陡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7806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27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/>
        </p:blipFill>
        <p:spPr bwMode="auto">
          <a:xfrm>
            <a:off x="43759" y="1735992"/>
            <a:ext cx="8585149" cy="3680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127311" y="5445224"/>
            <a:ext cx="8346565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矩形 2"/>
              <p:cNvSpPr/>
              <p:nvPr/>
            </p:nvSpPr>
            <p:spPr>
              <a:xfrm>
                <a:off x="323528" y="393347"/>
                <a:ext cx="1802481" cy="11729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𝐵</m:t>
                      </m:r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93347"/>
                <a:ext cx="1802481" cy="1172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矩形 3"/>
              <p:cNvSpPr/>
              <p:nvPr/>
            </p:nvSpPr>
            <p:spPr>
              <a:xfrm>
                <a:off x="2161991" y="160883"/>
                <a:ext cx="4572000" cy="142038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zh-TW" dirty="0"/>
                  <a:t>Eigenvalues of B: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US" altLang="zh-TW" i="1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</a:rPr>
                      <m:t>𝑎𝑛𝑑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r>
                  <a:rPr lang="en-US" altLang="zh-TW" dirty="0"/>
                  <a:t>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US" altLang="zh-TW" i="1">
                                <a:latin typeface="Cambria Math"/>
                              </a:rPr>
                              <m:t>, 1</m:t>
                            </m:r>
                          </m:e>
                        </m:d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dirty="0"/>
                  <a:t> w.r.t.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r>
                  <a:rPr lang="en-US" altLang="zh-TW" dirty="0"/>
                  <a:t>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US" altLang="zh-TW" i="1">
                                <a:latin typeface="Cambria Math"/>
                              </a:rPr>
                              <m:t>,1</m:t>
                            </m:r>
                          </m:e>
                        </m:d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dirty="0"/>
                  <a:t> w.r.t.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991" y="160883"/>
                <a:ext cx="4572000" cy="1420389"/>
              </a:xfrm>
              <a:prstGeom prst="rect">
                <a:avLst/>
              </a:prstGeom>
              <a:blipFill rotWithShape="1">
                <a:blip r:embed="rId5"/>
                <a:stretch>
                  <a:fillRect l="-1200" b="-21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5545858" y="241158"/>
            <a:ext cx="30830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>
                <a:solidFill>
                  <a:srgbClr val="FF0000"/>
                </a:solidFill>
              </a:rPr>
              <a:t>與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zh-TW" altLang="en-US" dirty="0" smtClean="0">
                <a:solidFill>
                  <a:srgbClr val="FF0000"/>
                </a:solidFill>
              </a:rPr>
              <a:t>的</a:t>
            </a:r>
            <a:r>
              <a:rPr lang="en-US" altLang="zh-TW" dirty="0" smtClean="0">
                <a:solidFill>
                  <a:srgbClr val="FF0000"/>
                </a:solidFill>
              </a:rPr>
              <a:t>eigenvectors</a:t>
            </a:r>
            <a:r>
              <a:rPr lang="zh-TW" altLang="en-US" dirty="0" smtClean="0">
                <a:solidFill>
                  <a:srgbClr val="FF0000"/>
                </a:solidFill>
              </a:rPr>
              <a:t>的方向不同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>
                <a:solidFill>
                  <a:srgbClr val="FF0000"/>
                </a:solidFill>
              </a:rPr>
              <a:t>Eigenvectors</a:t>
            </a:r>
            <a:r>
              <a:rPr lang="zh-TW" altLang="en-US" dirty="0" smtClean="0">
                <a:solidFill>
                  <a:srgbClr val="FF0000"/>
                </a:solidFill>
              </a:rPr>
              <a:t>不指向</a:t>
            </a:r>
            <a:r>
              <a:rPr lang="zh-TW" altLang="en-US" dirty="0">
                <a:solidFill>
                  <a:srgbClr val="FF0000"/>
                </a:solidFill>
              </a:rPr>
              <a:t>橢圓的兩軸</a:t>
            </a:r>
            <a:endParaRPr lang="en-US" altLang="zh-TW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>
                <a:solidFill>
                  <a:srgbClr val="FF0000"/>
                </a:solidFill>
              </a:rPr>
              <a:t>x</a:t>
            </a:r>
            <a:r>
              <a:rPr lang="zh-TW" altLang="en-US" dirty="0" smtClean="0">
                <a:solidFill>
                  <a:srgbClr val="FF0000"/>
                </a:solidFill>
              </a:rPr>
              <a:t>前進的方向不正交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327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28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1403648" y="243379"/>
            <a:ext cx="6533069" cy="553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134099" y="5708160"/>
            <a:ext cx="8672503" cy="99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341784" y="509430"/>
            <a:ext cx="21237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實線為</a:t>
            </a:r>
            <a:r>
              <a:rPr lang="en-US" altLang="zh-TW" dirty="0" smtClean="0">
                <a:solidFill>
                  <a:srgbClr val="FF0000"/>
                </a:solidFill>
              </a:rPr>
              <a:t>error term</a:t>
            </a:r>
          </a:p>
          <a:p>
            <a:r>
              <a:rPr lang="zh-TW" altLang="en-US" dirty="0" smtClean="0">
                <a:solidFill>
                  <a:srgbClr val="FF0000"/>
                </a:solidFill>
              </a:rPr>
              <a:t>虛線為</a:t>
            </a:r>
            <a:r>
              <a:rPr lang="en-US" altLang="zh-TW" dirty="0" smtClean="0">
                <a:solidFill>
                  <a:srgbClr val="FF0000"/>
                </a:solidFill>
              </a:rPr>
              <a:t>eigenvectors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Error term</a:t>
            </a:r>
            <a:r>
              <a:rPr lang="zh-TW" altLang="en-US" dirty="0" smtClean="0">
                <a:solidFill>
                  <a:srgbClr val="FF0000"/>
                </a:solidFill>
              </a:rPr>
              <a:t>因為</a:t>
            </a:r>
            <a:r>
              <a:rPr lang="en-US" altLang="zh-TW" dirty="0" smtClean="0">
                <a:solidFill>
                  <a:srgbClr val="FF0000"/>
                </a:solidFill>
              </a:rPr>
              <a:t>B</a:t>
            </a:r>
            <a:r>
              <a:rPr lang="zh-TW" altLang="en-US" dirty="0" smtClean="0">
                <a:solidFill>
                  <a:srgbClr val="FF0000"/>
                </a:solidFill>
              </a:rPr>
              <a:t>之</a:t>
            </a:r>
            <a:r>
              <a:rPr lang="en-US" altLang="zh-TW" dirty="0" smtClean="0">
                <a:solidFill>
                  <a:srgbClr val="FF0000"/>
                </a:solidFill>
              </a:rPr>
              <a:t>eigenvalues</a:t>
            </a:r>
            <a:r>
              <a:rPr lang="zh-TW" altLang="en-US" dirty="0" smtClean="0">
                <a:solidFill>
                  <a:srgbClr val="FF0000"/>
                </a:solidFill>
              </a:rPr>
              <a:t>的關系會逐漸漸收斂至</a:t>
            </a:r>
            <a:r>
              <a:rPr lang="en-US" altLang="zh-TW" dirty="0" smtClean="0">
                <a:solidFill>
                  <a:srgbClr val="FF0000"/>
                </a:solidFill>
              </a:rPr>
              <a:t>0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699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method of Conjugate directions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449650"/>
                <a:ext cx="8640960" cy="4525963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500" dirty="0" smtClean="0"/>
                  <a:t>Steepest Descent often ﬁnds itself taking steps in the same direction as earlier steps (</a:t>
                </a:r>
                <a:r>
                  <a:rPr lang="zh-TW" altLang="en-US" sz="2500" dirty="0" smtClean="0"/>
                  <a:t>因為第</a:t>
                </a:r>
                <a:r>
                  <a:rPr lang="en-US" altLang="zh-TW" sz="2500" dirty="0" smtClean="0"/>
                  <a:t>t</a:t>
                </a:r>
                <a:r>
                  <a:rPr lang="zh-TW" altLang="en-US" sz="2500" dirty="0" smtClean="0"/>
                  <a:t>步前進的方向總是與</a:t>
                </a:r>
                <a:r>
                  <a:rPr lang="en-US" altLang="zh-TW" sz="2500" dirty="0" smtClean="0"/>
                  <a:t>t+1</a:t>
                </a:r>
                <a:r>
                  <a:rPr lang="zh-TW" altLang="en-US" sz="2500" dirty="0" smtClean="0"/>
                  <a:t>步正交，所以常常在隔兩步後，往同一方向前進</a:t>
                </a:r>
                <a:r>
                  <a:rPr lang="en-US" altLang="zh-TW" sz="2500" dirty="0" smtClean="0"/>
                  <a:t>)</a:t>
                </a:r>
              </a:p>
              <a:p>
                <a:r>
                  <a:rPr lang="en-US" altLang="zh-TW" sz="2500" b="1" dirty="0" smtClean="0">
                    <a:solidFill>
                      <a:srgbClr val="FF0000"/>
                    </a:solidFill>
                  </a:rPr>
                  <a:t>Idea:</a:t>
                </a:r>
                <a:r>
                  <a:rPr lang="en-US" altLang="zh-TW" sz="2500" dirty="0" smtClean="0">
                    <a:solidFill>
                      <a:srgbClr val="FF0000"/>
                    </a:solidFill>
                  </a:rPr>
                  <a:t/>
                </a:r>
                <a:r>
                  <a:rPr lang="zh-TW" altLang="en-US" sz="2500" dirty="0" smtClean="0">
                    <a:solidFill>
                      <a:srgbClr val="FF0000"/>
                    </a:solidFill>
                  </a:rPr>
                  <a:t>找尋一群正交的搜尋方向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(0)</m:t>
                        </m:r>
                      </m:sub>
                    </m:sSub>
                    <m:r>
                      <a:rPr lang="en-US" altLang="zh-TW" sz="2500" b="0" i="1" smtClean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altLang="zh-TW" sz="2500" b="0" i="1" smtClean="0">
                        <a:solidFill>
                          <a:srgbClr val="FF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TW" sz="25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−1</m:t>
                            </m:r>
                          </m:e>
                        </m:d>
                      </m:sub>
                    </m:sSub>
                  </m:oMath>
                </a14:m>
                <a:r>
                  <a:rPr lang="zh-TW" altLang="en-US" sz="2500" dirty="0" smtClean="0">
                    <a:solidFill>
                      <a:srgbClr val="FF0000"/>
                    </a:solidFill>
                  </a:rPr>
                  <a:t>，每個方向只走一次</a:t>
                </a:r>
                <a:endParaRPr lang="en-US" altLang="zh-TW" sz="2500" dirty="0" smtClean="0">
                  <a:solidFill>
                    <a:srgbClr val="FF0000"/>
                  </a:solidFill>
                </a:endParaRPr>
              </a:p>
              <a:p>
                <a:r>
                  <a:rPr lang="en-US" altLang="zh-TW" sz="2500" dirty="0" err="1" smtClean="0"/>
                  <a:t>Eg</a:t>
                </a:r>
                <a:r>
                  <a:rPr lang="en-US" altLang="zh-TW" sz="2500" dirty="0" smtClean="0"/>
                  <a:t>: initial step x(0)=(2,2,2), best solution (</a:t>
                </a:r>
                <a:r>
                  <a:rPr lang="zh-TW" altLang="en-US" sz="2500" dirty="0" smtClean="0"/>
                  <a:t>假設已知</a:t>
                </a:r>
                <a:r>
                  <a:rPr lang="en-US" altLang="zh-TW" sz="2500" dirty="0" smtClean="0"/>
                  <a:t>) x=(-2, 1, 4)</a:t>
                </a:r>
                <a:r>
                  <a:rPr lang="zh-TW" altLang="en-US" sz="2500" dirty="0" smtClean="0"/>
                  <a:t>，是否能夠用</a:t>
                </a:r>
                <a:r>
                  <a:rPr lang="en-US" altLang="zh-TW" sz="2500" dirty="0" smtClean="0"/>
                  <a:t>-4*(1,0,0), -1(0,1,0), 2*(0,0,1)</a:t>
                </a:r>
                <a:r>
                  <a:rPr lang="zh-TW" altLang="en-US" sz="2500" dirty="0" smtClean="0"/>
                  <a:t>三步找到最佳解</a:t>
                </a:r>
                <a:r>
                  <a:rPr lang="en-US" altLang="zh-TW" sz="2500" dirty="0" smtClean="0"/>
                  <a:t>?</a:t>
                </a:r>
              </a:p>
              <a:p>
                <a:r>
                  <a:rPr lang="en-US" altLang="zh-TW" sz="2500" dirty="0" smtClean="0"/>
                  <a:t>In general: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sz="2500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sz="25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5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altLang="zh-TW" sz="2500" dirty="0" smtClean="0"/>
              </a:p>
              <a:p>
                <a:r>
                  <a:rPr lang="en-US" altLang="zh-TW" sz="2500" dirty="0" smtClean="0"/>
                  <a:t>To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sz="2500" dirty="0" smtClean="0"/>
                  <a:t>, </a:t>
                </a:r>
                <a:r>
                  <a:rPr lang="en-US" altLang="zh-TW" sz="2500" dirty="0" smtClean="0">
                    <a:solidFill>
                      <a:srgbClr val="0070C0"/>
                    </a:solidFill>
                  </a:rPr>
                  <a:t>use the fact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sz="25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sz="2500" dirty="0" smtClean="0">
                    <a:solidFill>
                      <a:srgbClr val="0070C0"/>
                    </a:solidFill>
                  </a:rPr>
                  <a:t> should be orthogonal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5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sz="2500" dirty="0" smtClean="0"/>
                  <a:t>, </a:t>
                </a:r>
                <a:r>
                  <a:rPr lang="en-US" altLang="zh-TW" sz="2500" u="sng" dirty="0" smtClean="0"/>
                  <a:t>so we never step in in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u="sng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sz="2500" b="0" i="1" u="sng" smtClean="0">
                            <a:latin typeface="Cambria Math"/>
                          </a:rPr>
                          <m:t>(</m:t>
                        </m:r>
                        <m:r>
                          <a:rPr lang="en-US" altLang="zh-TW" sz="2500" b="0" i="1" u="sng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500" b="0" i="1" u="sng" smtClean="0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TW" sz="2500" u="sng" dirty="0" smtClean="0"/>
                  <a:t> again.</a:t>
                </a:r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449650"/>
                <a:ext cx="8640960" cy="4525963"/>
              </a:xfrm>
              <a:blipFill rotWithShape="0">
                <a:blip r:embed="rId2"/>
                <a:stretch>
                  <a:fillRect l="-987" t="-1078" r="-71" b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0817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85101" y="1916832"/>
            <a:ext cx="7429781" cy="4915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4032172" y="170202"/>
                <a:ext cx="4716291" cy="2007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𝑇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  <m:r>
                            <a:rPr lang="en-US" altLang="zh-TW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b="0" dirty="0" smtClean="0"/>
              </a:p>
              <a:p>
                <a:r>
                  <a:rPr lang="zh-TW" altLang="en-US" dirty="0" smtClean="0"/>
                  <a:t>但是我們不知道</a:t>
                </a:r>
                <a:r>
                  <a:rPr lang="en-US" altLang="zh-TW" dirty="0" smtClean="0"/>
                  <a:t>e(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之值，如果知道，則表示已知最佳解為何</a:t>
                </a:r>
                <a:endParaRPr lang="en-US" altLang="zh-TW" b="0" dirty="0" smtClean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172" y="170202"/>
                <a:ext cx="4716291" cy="2007601"/>
              </a:xfrm>
              <a:prstGeom prst="rect">
                <a:avLst/>
              </a:prstGeom>
              <a:blipFill rotWithShape="1">
                <a:blip r:embed="rId3"/>
                <a:stretch>
                  <a:fillRect l="-1034" b="-3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矩形 1"/>
              <p:cNvSpPr/>
              <p:nvPr/>
            </p:nvSpPr>
            <p:spPr>
              <a:xfrm>
                <a:off x="395536" y="548680"/>
                <a:ext cx="3636637" cy="982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𝑥</m:t>
                      </m:r>
                      <m:r>
                        <a:rPr lang="en-US" altLang="zh-TW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𝑥</m:t>
                      </m:r>
                      <m:r>
                        <a:rPr lang="en-US" altLang="zh-TW" b="0" i="0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𝛼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zh-TW" b="0" i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𝛼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48680"/>
                <a:ext cx="3636637" cy="9820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10437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A-orthogonal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600200"/>
                <a:ext cx="8435280" cy="4525963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2400" dirty="0" smtClean="0"/>
                  <a:t>因為找尋</a:t>
                </a:r>
                <a:r>
                  <a:rPr lang="en-US" altLang="zh-TW" sz="2400" dirty="0" smtClean="0"/>
                  <a:t>orthogonal</a:t>
                </a:r>
                <a:r>
                  <a:rPr lang="zh-TW" altLang="en-US" sz="2400" dirty="0" smtClean="0"/>
                  <a:t>的方向不可行，改用</a:t>
                </a:r>
                <a:r>
                  <a:rPr lang="en-US" altLang="zh-TW" sz="2400" dirty="0" smtClean="0"/>
                  <a:t>A-orthogonal</a:t>
                </a:r>
                <a:r>
                  <a:rPr lang="zh-TW" altLang="en-US" sz="2400" dirty="0" smtClean="0"/>
                  <a:t>。</a:t>
                </a:r>
                <a:endParaRPr lang="en-US" altLang="zh-TW" sz="2400" dirty="0" smtClean="0"/>
              </a:p>
              <a:p>
                <a:r>
                  <a:rPr lang="en-US" altLang="zh-TW" sz="2400" dirty="0" smtClean="0"/>
                  <a:t>Two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 </m:t>
                    </m:r>
                    <m:r>
                      <a:rPr lang="en-US" altLang="zh-TW" sz="2400" b="0" i="1" smtClean="0">
                        <a:latin typeface="Cambria Math"/>
                      </a:rPr>
                      <m:t>𝑎𝑛𝑑</m:t>
                    </m:r>
                    <m:r>
                      <a:rPr lang="en-US" altLang="zh-TW" sz="2400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sub>
                    </m:sSub>
                  </m:oMath>
                </a14:m>
                <a:r>
                  <a:rPr lang="zh-TW" altLang="en-US" sz="2400" dirty="0" smtClean="0"/>
                  <a:t/>
                </a:r>
                <a:r>
                  <a:rPr lang="en-US" altLang="zh-TW" sz="2400" dirty="0" smtClean="0"/>
                  <a:t>are 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A-orthogonal or conjugate</a:t>
                </a:r>
                <a:r>
                  <a:rPr lang="en-US" altLang="zh-TW" sz="2400" dirty="0" smtClean="0"/>
                  <a:t>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𝑇</m:t>
                        </m:r>
                      </m:sup>
                    </m:sSubSup>
                    <m:r>
                      <a:rPr lang="en-US" altLang="zh-TW" sz="2400" b="0" i="1" smtClean="0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zh-TW" altLang="en-US" sz="2400" dirty="0" smtClean="0"/>
                  <a:t/>
                </a:r>
                <a:endParaRPr lang="en-US" altLang="zh-TW" sz="2400" dirty="0" smtClean="0"/>
              </a:p>
              <a:p>
                <a:endParaRPr lang="en-US" altLang="zh-TW" sz="2400" dirty="0"/>
              </a:p>
              <a:p>
                <a:pPr marL="0" indent="0">
                  <a:buNone/>
                </a:pPr>
                <a:endParaRPr lang="zh-TW" altLang="en-US" sz="2400" dirty="0"/>
              </a:p>
            </p:txBody>
          </p:sp>
        </mc:Choice>
        <mc:Fallback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600200"/>
                <a:ext cx="8435280" cy="4525963"/>
              </a:xfrm>
              <a:blipFill rotWithShape="0">
                <a:blip r:embed="rId2"/>
                <a:stretch>
                  <a:fillRect l="-939" t="-1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1475656" y="3534618"/>
            <a:ext cx="5759450" cy="320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1979712" y="3169456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rgbClr val="0070C0"/>
                </a:solidFill>
              </a:rPr>
              <a:t>可想成兩個向量經矩陣</a:t>
            </a:r>
            <a:r>
              <a:rPr lang="en-US" altLang="zh-TW" b="1" dirty="0" smtClean="0">
                <a:solidFill>
                  <a:srgbClr val="0070C0"/>
                </a:solidFill>
              </a:rPr>
              <a:t>A</a:t>
            </a:r>
            <a:r>
              <a:rPr lang="zh-TW" altLang="en-US" b="1" dirty="0" smtClean="0">
                <a:solidFill>
                  <a:srgbClr val="0070C0"/>
                </a:solidFill>
              </a:rPr>
              <a:t>線性轉換後才會正交。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261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32"/>
                <a:ext cx="8229600" cy="6009531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dirty="0"/>
                  <a:t> should be orthogonal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=&gt;</a:t>
                </a:r>
                <a:r>
                  <a:rPr lang="en-US" altLang="zh-TW" dirty="0"/>
                  <a:t/>
                </a: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d>
                          <m:dPr>
                            <m:ctrlPr>
                              <a:rPr lang="en-US" altLang="zh-TW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TW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b="1" dirty="0">
                    <a:solidFill>
                      <a:srgbClr val="0070C0"/>
                    </a:solidFill>
                  </a:rPr>
                  <a:t> should be </a:t>
                </a:r>
                <a:r>
                  <a:rPr lang="en-US" altLang="zh-TW" b="1" dirty="0" smtClean="0">
                    <a:solidFill>
                      <a:srgbClr val="0070C0"/>
                    </a:solidFill>
                  </a:rPr>
                  <a:t>A-orthogonal </a:t>
                </a:r>
                <a:r>
                  <a:rPr lang="en-US" altLang="zh-TW" b="1" dirty="0">
                    <a:solidFill>
                      <a:srgbClr val="0070C0"/>
                    </a:solidFill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d>
                          <m:dPr>
                            <m:ctrlPr>
                              <a:rPr lang="en-US" altLang="zh-TW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</m:e>
                        </m:d>
                      </m:sub>
                    </m:sSub>
                  </m:oMath>
                </a14:m>
                <a:endParaRPr lang="en-US" altLang="zh-TW" b="1" dirty="0" smtClean="0">
                  <a:solidFill>
                    <a:srgbClr val="0070C0"/>
                  </a:solidFill>
                </a:endParaRPr>
              </a:p>
              <a:p>
                <a:endParaRPr lang="en-US" altLang="zh-TW" b="1" dirty="0">
                  <a:solidFill>
                    <a:srgbClr val="0070C0"/>
                  </a:solidFill>
                </a:endParaRPr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This orthogonally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condition is equivalent to </a:t>
                </a:r>
                <a:r>
                  <a:rPr lang="en-US" altLang="zh-TW" u="sng" dirty="0">
                    <a:solidFill>
                      <a:srgbClr val="FF0000"/>
                    </a:solidFill>
                  </a:rPr>
                  <a:t>ﬁnding the minimum point along the search </a:t>
                </a:r>
                <a:r>
                  <a:rPr lang="en-US" altLang="zh-TW" u="sng" dirty="0" smtClean="0">
                    <a:solidFill>
                      <a:srgbClr val="FF0000"/>
                    </a:solidFill>
                  </a:rPr>
                  <a:t>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u="sng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b="0" i="1" u="sng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u="sng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u="sng" dirty="0" smtClean="0">
                    <a:solidFill>
                      <a:srgbClr val="FF0000"/>
                    </a:solidFill>
                  </a:rPr>
                  <a:t> as in steepest descent.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den>
                    </m:f>
                    <m:r>
                      <a:rPr lang="en-US" altLang="zh-TW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TW" b="0" i="1" dirty="0" smtClean="0">
                    <a:solidFill>
                      <a:schemeClr val="tx1"/>
                    </a:solidFill>
                    <a:latin typeface="Cambria Math"/>
                  </a:rPr>
                  <a:t/>
                </a:r>
                <a:r>
                  <a:rPr lang="en-US" altLang="zh-TW" b="0" dirty="0" smtClean="0">
                    <a:solidFill>
                      <a:schemeClr val="tx1"/>
                    </a:solidFill>
                    <a:latin typeface="Cambria Math"/>
                  </a:rPr>
                  <a:t>(</a:t>
                </a:r>
                <a:r>
                  <a:rPr lang="zh-TW" altLang="en-US" b="0" dirty="0" smtClean="0">
                    <a:solidFill>
                      <a:schemeClr val="tx1"/>
                    </a:solidFill>
                    <a:latin typeface="Cambria Math"/>
                  </a:rPr>
                  <a:t>求最佳步長</a:t>
                </a:r>
                <a:r>
                  <a:rPr lang="en-US" altLang="zh-TW" b="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α</a:t>
                </a:r>
                <a:r>
                  <a:rPr lang="en-US" altLang="zh-TW" b="0" dirty="0" smtClean="0">
                    <a:solidFill>
                      <a:schemeClr val="tx1"/>
                    </a:solidFill>
                    <a:latin typeface="Cambria Math"/>
                  </a:rPr>
                  <a:t>)</a:t>
                </a:r>
                <a:endParaRPr lang="en-US" altLang="zh-TW" b="0" i="1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zh-TW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+1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den>
                    </m:f>
                    <m:sSub>
                      <m:sSub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n-US" altLang="zh-TW" b="0" i="1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Sup>
                      <m:sSubSup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  <m:sup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n-US" altLang="zh-TW" b="0" i="1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d>
                          <m:dPr>
                            <m:ctrlPr>
                              <a:rPr lang="en-US" altLang="zh-TW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</m:e>
                        </m:d>
                      </m:sub>
                      <m:sup>
                        <m:r>
                          <a:rPr lang="en-US" altLang="zh-TW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𝑻</m:t>
                        </m:r>
                      </m:sup>
                    </m:sSubSup>
                    <m:r>
                      <a:rPr lang="en-US" altLang="zh-TW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sSub>
                      <m:sSubPr>
                        <m:ctrlPr>
                          <a:rPr lang="en-US" altLang="zh-TW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d>
                          <m:dPr>
                            <m:ctrlPr>
                              <a:rPr lang="en-US" altLang="zh-TW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b>
                    </m:sSub>
                    <m:r>
                      <a:rPr lang="en-US" altLang="zh-TW" b="1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endParaRPr lang="en-US" altLang="zh-TW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32"/>
                <a:ext cx="8229600" cy="6009531"/>
              </a:xfrm>
              <a:blipFill rotWithShape="1">
                <a:blip r:embed="rId2"/>
                <a:stretch>
                  <a:fillRect l="-1481" t="-18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32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矩形 1"/>
              <p:cNvSpPr/>
              <p:nvPr/>
            </p:nvSpPr>
            <p:spPr>
              <a:xfrm>
                <a:off x="6156176" y="3284984"/>
                <a:ext cx="2645853" cy="7878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altLang="zh-TW" dirty="0" smtClean="0"/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  <m:r>
                          <a:rPr lang="en-US" altLang="zh-TW" i="1">
                            <a:latin typeface="Cambria Math"/>
                          </a:rPr>
                          <m:t>𝛼</m:t>
                        </m:r>
                      </m:den>
                    </m:f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284984"/>
                <a:ext cx="2645853" cy="787844"/>
              </a:xfrm>
              <a:prstGeom prst="rect">
                <a:avLst/>
              </a:prstGeom>
              <a:blipFill rotWithShape="1">
                <a:blip r:embed="rId3"/>
                <a:stretch>
                  <a:fillRect l="-1613" t="-775" b="-15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5302392" y="4365104"/>
                <a:ext cx="4022135" cy="108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i="1">
                        <a:latin typeface="Cambria Math"/>
                      </a:rPr>
                      <m:t>𝐴𝑥</m:t>
                    </m:r>
                    <m:r>
                      <a:rPr lang="en-US" altLang="zh-TW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i="1">
                        <a:latin typeface="Cambria Math"/>
                      </a:rPr>
                      <m:t>𝑥</m:t>
                    </m:r>
                    <m:r>
                      <a:rPr lang="en-US" altLang="zh-TW" i="1">
                        <a:latin typeface="Cambria Math"/>
                      </a:rPr>
                      <m:t>+</m:t>
                    </m:r>
                    <m:r>
                      <a:rPr lang="en-US" altLang="zh-TW" i="1">
                        <a:latin typeface="Cambria Math"/>
                      </a:rPr>
                      <m:t>𝑐</m:t>
                    </m:r>
                  </m:oMath>
                </a14:m>
                <a:endParaRPr lang="en-US" altLang="zh-TW" dirty="0" smtClean="0"/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a:rPr lang="en-US" altLang="zh-TW" i="1">
                        <a:latin typeface="Cambria Math"/>
                      </a:rPr>
                      <m:t>𝑏</m:t>
                    </m:r>
                    <m:r>
                      <a:rPr lang="en-US" altLang="zh-TW" i="1">
                        <a:latin typeface="Cambria Math"/>
                      </a:rPr>
                      <m:t>−</m:t>
                    </m:r>
                    <m:r>
                      <a:rPr lang="en-US" altLang="zh-TW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/>
                      </a:rPr>
                      <m:t>=−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+1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)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/>
                </a:r>
                <a:br>
                  <a:rPr lang="en-US" altLang="zh-TW" dirty="0"/>
                </a:br>
                <a:endParaRPr lang="zh-TW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392" y="4365104"/>
                <a:ext cx="4022135" cy="1083886"/>
              </a:xfrm>
              <a:prstGeom prst="rect">
                <a:avLst/>
              </a:prstGeom>
              <a:blipFill rotWithShape="1">
                <a:blip r:embed="rId4"/>
                <a:stretch>
                  <a:fillRect l="-1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4427984" y="5493399"/>
                <a:ext cx="4572000" cy="71231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a:rPr lang="en-US" altLang="zh-TW" i="1">
                        <a:latin typeface="Cambria Math"/>
                      </a:rPr>
                      <m:t>𝑏</m:t>
                    </m:r>
                    <m:r>
                      <a:rPr lang="en-US" altLang="zh-TW">
                        <a:latin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>
                        <a:latin typeface="Cambria Math"/>
                      </a:rPr>
                      <m:t>A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+</m:t>
                        </m:r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a:rPr lang="en-US" altLang="zh-TW" i="1">
                        <a:latin typeface="Cambria Math"/>
                      </a:rPr>
                      <m:t>𝑏</m:t>
                    </m:r>
                    <m:r>
                      <a:rPr lang="en-US" altLang="zh-TW" i="1">
                        <a:latin typeface="Cambria Math"/>
                      </a:rPr>
                      <m:t>−</m:t>
                    </m:r>
                    <m:r>
                      <a:rPr lang="en-US" altLang="zh-TW" i="1">
                        <a:latin typeface="Cambria Math"/>
                      </a:rPr>
                      <m:t>𝐴𝑥</m:t>
                    </m:r>
                    <m:r>
                      <a:rPr lang="en-US" altLang="zh-TW" i="1">
                        <a:latin typeface="Cambria Math"/>
                      </a:rPr>
                      <m:t>−</m:t>
                    </m:r>
                    <m:r>
                      <a:rPr lang="en-US" altLang="zh-TW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/>
                      </a:rPr>
                      <m:t>=−</m:t>
                    </m:r>
                    <m:r>
                      <a:rPr lang="en-US" altLang="zh-TW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(</m:t>
                        </m:r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5493399"/>
                <a:ext cx="4572000" cy="712311"/>
              </a:xfrm>
              <a:prstGeom prst="rect">
                <a:avLst/>
              </a:prstGeom>
              <a:blipFill rotWithShape="1">
                <a:blip r:embed="rId5"/>
                <a:stretch>
                  <a:fillRect l="-800" b="-42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6012160" y="1120777"/>
                <a:ext cx="3538736" cy="580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1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1400" i="1">
                            <a:latin typeface="Cambria Math"/>
                          </a:rPr>
                          <m:t>(</m:t>
                        </m:r>
                        <m:r>
                          <a:rPr lang="en-US" altLang="zh-TW" sz="1400" i="1">
                            <a:latin typeface="Cambria Math"/>
                          </a:rPr>
                          <m:t>𝑖</m:t>
                        </m:r>
                        <m:r>
                          <a:rPr lang="en-US" altLang="zh-TW" sz="1400" i="1"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US" altLang="zh-TW" sz="1400" i="1">
                        <a:latin typeface="Cambria Math"/>
                      </a:rPr>
                      <m:t>−</m:t>
                    </m:r>
                    <m:r>
                      <a:rPr lang="en-US" altLang="zh-TW" sz="1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sz="1400" dirty="0" smtClean="0"/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1400" i="1">
                        <a:latin typeface="Cambria Math"/>
                      </a:rPr>
                      <m:t>=</m:t>
                    </m:r>
                    <m:r>
                      <a:rPr lang="en-US" altLang="zh-TW" sz="1400" i="1">
                        <a:latin typeface="Cambria Math"/>
                      </a:rPr>
                      <m:t>𝑏</m:t>
                    </m:r>
                    <m:r>
                      <a:rPr lang="en-US" altLang="zh-TW" sz="1400">
                        <a:latin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sz="1400">
                        <a:latin typeface="Cambria Math"/>
                      </a:rPr>
                      <m:t>A</m:t>
                    </m:r>
                    <m:d>
                      <m:d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4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altLang="zh-TW" sz="1400" i="1">
                            <a:latin typeface="Cambria Math"/>
                          </a:rPr>
                          <m:t>+</m:t>
                        </m:r>
                        <m:r>
                          <a:rPr lang="en-US" altLang="zh-TW" sz="1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1400" i="1">
                        <a:latin typeface="Cambria Math"/>
                      </a:rPr>
                      <m:t>=−</m:t>
                    </m:r>
                    <m:r>
                      <a:rPr lang="en-US" altLang="zh-TW" sz="1400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1400" i="1">
                            <a:latin typeface="Cambria Math"/>
                          </a:rPr>
                          <m:t>(</m:t>
                        </m:r>
                        <m:r>
                          <a:rPr lang="en-US" altLang="zh-TW" sz="1400" i="1">
                            <a:latin typeface="Cambria Math"/>
                          </a:rPr>
                          <m:t>𝑖</m:t>
                        </m:r>
                        <m:r>
                          <a:rPr lang="en-US" altLang="zh-TW" sz="1400" i="1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TW" altLang="en-US" sz="1400" dirty="0" smtClean="0"/>
                  <a:t/>
                </a:r>
                <a:r>
                  <a:rPr lang="en-US" altLang="zh-TW" sz="1400" dirty="0" smtClean="0"/>
                  <a:t>)</a:t>
                </a:r>
                <a:endParaRPr lang="en-US" altLang="zh-TW" sz="1400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60" y="1120777"/>
                <a:ext cx="3538736" cy="580031"/>
              </a:xfrm>
              <a:prstGeom prst="rect">
                <a:avLst/>
              </a:prstGeom>
              <a:blipFill rotWithShape="0">
                <a:blip r:embed="rId6"/>
                <a:stretch>
                  <a:fillRect t="-1053" b="-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74319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8640"/>
                <a:ext cx="8229600" cy="593752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=0⇒</m:t>
                    </m:r>
                    <m:sSubSup>
                      <m:sSubSup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d>
                      <m:d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600" b="0" i="1" smtClean="0"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600" b="0" i="1" smtClean="0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600" b="0" i="1" smtClean="0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altLang="zh-TW" sz="26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600" b="0" i="1" smtClean="0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8640"/>
                <a:ext cx="8229600" cy="5937523"/>
              </a:xfrm>
              <a:blipFill rotWithShape="0">
                <a:blip r:embed="rId2"/>
                <a:stretch>
                  <a:fillRect l="-1111" t="-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33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1035803" y="2417045"/>
            <a:ext cx="7145418" cy="442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544141" y="2124237"/>
            <a:ext cx="2946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e(1) is A-orthogonal to d(0)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591236" y="2047713"/>
            <a:ext cx="3923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e(0)</a:t>
            </a:r>
            <a:r>
              <a:rPr lang="zh-TW" altLang="en-US" b="1" dirty="0" smtClean="0">
                <a:solidFill>
                  <a:srgbClr val="FF0000"/>
                </a:solidFill>
              </a:rPr>
              <a:t>為</a:t>
            </a:r>
            <a:r>
              <a:rPr lang="en-US" altLang="zh-TW" b="1" dirty="0" smtClean="0">
                <a:solidFill>
                  <a:srgbClr val="FF0000"/>
                </a:solidFill>
              </a:rPr>
              <a:t>d(0)</a:t>
            </a:r>
            <a:r>
              <a:rPr lang="zh-TW" altLang="en-US" b="1" dirty="0" smtClean="0">
                <a:solidFill>
                  <a:srgbClr val="FF0000"/>
                </a:solidFill>
              </a:rPr>
              <a:t>與</a:t>
            </a:r>
            <a:r>
              <a:rPr lang="en-US" altLang="zh-TW" b="1" dirty="0" smtClean="0">
                <a:solidFill>
                  <a:srgbClr val="FF0000"/>
                </a:solidFill>
              </a:rPr>
              <a:t>e(1)</a:t>
            </a:r>
            <a:r>
              <a:rPr lang="zh-TW" altLang="en-US" b="1" dirty="0" smtClean="0">
                <a:solidFill>
                  <a:srgbClr val="FF0000"/>
                </a:solidFill>
              </a:rPr>
              <a:t>的合成向量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矩形 6"/>
              <p:cNvSpPr/>
              <p:nvPr/>
            </p:nvSpPr>
            <p:spPr>
              <a:xfrm>
                <a:off x="5292080" y="941279"/>
                <a:ext cx="3538736" cy="580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1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1400" i="1">
                            <a:latin typeface="Cambria Math"/>
                          </a:rPr>
                          <m:t>(</m:t>
                        </m:r>
                        <m:r>
                          <a:rPr lang="en-US" altLang="zh-TW" sz="1400" i="1">
                            <a:latin typeface="Cambria Math"/>
                          </a:rPr>
                          <m:t>𝑖</m:t>
                        </m:r>
                        <m:r>
                          <a:rPr lang="en-US" altLang="zh-TW" sz="1400" i="1"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en-US" altLang="zh-TW" sz="1400" i="1">
                        <a:latin typeface="Cambria Math"/>
                      </a:rPr>
                      <m:t>−</m:t>
                    </m:r>
                    <m:r>
                      <a:rPr lang="en-US" altLang="zh-TW" sz="1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sz="1400" dirty="0" smtClean="0"/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1400" i="1">
                        <a:latin typeface="Cambria Math"/>
                      </a:rPr>
                      <m:t>=</m:t>
                    </m:r>
                    <m:r>
                      <a:rPr lang="en-US" altLang="zh-TW" sz="1400" i="1">
                        <a:latin typeface="Cambria Math"/>
                      </a:rPr>
                      <m:t>𝑏</m:t>
                    </m:r>
                    <m:r>
                      <a:rPr lang="en-US" altLang="zh-TW" sz="1400">
                        <a:latin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sz="1400">
                        <a:latin typeface="Cambria Math"/>
                      </a:rPr>
                      <m:t>A</m:t>
                    </m:r>
                    <m:d>
                      <m:d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4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altLang="zh-TW" sz="1400" i="1">
                            <a:latin typeface="Cambria Math"/>
                          </a:rPr>
                          <m:t>+</m:t>
                        </m:r>
                        <m:r>
                          <a:rPr lang="en-US" altLang="zh-TW" sz="1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1400" i="1">
                        <a:latin typeface="Cambria Math"/>
                      </a:rPr>
                      <m:t>=−</m:t>
                    </m:r>
                    <m:r>
                      <a:rPr lang="en-US" altLang="zh-TW" sz="1400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1400" i="1">
                            <a:latin typeface="Cambria Math"/>
                          </a:rPr>
                          <m:t>(</m:t>
                        </m:r>
                        <m:r>
                          <a:rPr lang="en-US" altLang="zh-TW" sz="1400" i="1">
                            <a:latin typeface="Cambria Math"/>
                          </a:rPr>
                          <m:t>𝑖</m:t>
                        </m:r>
                        <m:r>
                          <a:rPr lang="en-US" altLang="zh-TW" sz="1400" i="1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TW" altLang="en-US" sz="1400" dirty="0" smtClean="0"/>
                  <a:t/>
                </a:r>
                <a:r>
                  <a:rPr lang="en-US" altLang="zh-TW" sz="1400" dirty="0" smtClean="0"/>
                  <a:t>)</a:t>
                </a:r>
                <a:endParaRPr lang="en-US" altLang="zh-TW" sz="1400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941279"/>
                <a:ext cx="3538736" cy="580031"/>
              </a:xfrm>
              <a:prstGeom prst="rect">
                <a:avLst/>
              </a:prstGeom>
              <a:blipFill rotWithShape="0">
                <a:blip r:embed="rId4"/>
                <a:stretch>
                  <a:fillRect b="-7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09812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Convergence of CG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TW" altLang="en-US" dirty="0" smtClean="0">
                    <a:latin typeface="Cambria Math"/>
                  </a:rPr>
                  <a:t>假設在</a:t>
                </a:r>
                <a:r>
                  <a:rPr lang="en-US" altLang="zh-TW" i="1" dirty="0" smtClean="0">
                    <a:latin typeface="Cambria Math"/>
                  </a:rPr>
                  <a:t>n</a:t>
                </a:r>
                <a:r>
                  <a:rPr lang="en-US" altLang="zh-TW" dirty="0" smtClean="0">
                    <a:latin typeface="Cambria Math"/>
                  </a:rPr>
                  <a:t> steps</a:t>
                </a:r>
                <a:r>
                  <a:rPr lang="zh-TW" altLang="en-US" dirty="0" smtClean="0">
                    <a:latin typeface="Cambria Math"/>
                  </a:rPr>
                  <a:t>後得到</a:t>
                </a:r>
                <a:r>
                  <a:rPr lang="en-US" altLang="zh-TW" dirty="0" smtClean="0">
                    <a:latin typeface="Cambria Math"/>
                  </a:rPr>
                  <a:t>optimal solution x</a:t>
                </a:r>
                <a:endParaRPr lang="en-US" altLang="zh-TW" b="0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(0)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𝑘</m:t>
                            </m:r>
                          </m:e>
                        </m:d>
                      </m:sub>
                      <m:sup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(0)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  <m:r>
                          <a:rPr lang="en-US" altLang="zh-TW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  <m:r>
                          <a:rPr lang="en-US" altLang="zh-TW" i="1">
                            <a:latin typeface="Cambria Math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TW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</m:e>
                    </m:nary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𝑘</m:t>
                            </m:r>
                          </m:e>
                        </m:d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𝑇</m:t>
                        </m:r>
                      </m:sup>
                    </m:sSubSup>
                    <m:r>
                      <a:rPr lang="en-US" altLang="zh-TW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(0)</m:t>
                        </m:r>
                      </m:sub>
                    </m:sSub>
                  </m:oMath>
                </a14:m>
                <a:r>
                  <a:rPr lang="en-US" altLang="zh-TW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𝑘</m:t>
                            </m:r>
                          </m:e>
                        </m:d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𝑇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(by A-</a:t>
                </a:r>
                <a:r>
                  <a:rPr lang="en-US" altLang="zh-TW" dirty="0" err="1" smtClean="0"/>
                  <a:t>orthogonality</a:t>
                </a:r>
                <a:r>
                  <a:rPr lang="en-US" altLang="zh-TW" dirty="0" smtClean="0"/>
                  <a:t> of d vectors)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(0)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𝑑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nary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292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467544" y="620688"/>
                <a:ext cx="7848872" cy="4688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𝛿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TW" sz="2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800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800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800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800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altLang="zh-TW" sz="2800" dirty="0" smtClean="0"/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800" i="1"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800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800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800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800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altLang="zh-TW" sz="2800" dirty="0" smtClean="0"/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altLang="zh-TW" sz="2800" dirty="0" smtClean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=−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𝛿</m:t>
                        </m:r>
                      </m:e>
                      <m:sub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altLang="zh-TW" sz="2800" dirty="0" smtClean="0"/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altLang="zh-TW" sz="2800" dirty="0"/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∴</m:t>
                    </m:r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</m:e>
                    </m:nary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800" i="1">
                            <a:latin typeface="Cambria Math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sz="2800" i="1">
                            <a:latin typeface="Cambria Math"/>
                          </a:rPr>
                          <m:t>𝑛</m:t>
                        </m:r>
                        <m:r>
                          <a:rPr lang="en-US" altLang="zh-TW" sz="2800" i="1">
                            <a:latin typeface="Cambria Math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𝛿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</m:e>
                    </m:nary>
                    <m:r>
                      <a:rPr lang="en-US" altLang="zh-TW" sz="2800" b="0" i="1" smtClean="0">
                        <a:latin typeface="Cambria Math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800" i="1">
                            <a:latin typeface="Cambria Math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𝛿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</m:e>
                    </m:nary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800" i="1">
                            <a:latin typeface="Cambria Math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/>
                          </a:rPr>
                          <m:t>=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zh-TW" sz="2800" i="1">
                            <a:latin typeface="Cambria Math"/>
                          </a:rPr>
                          <m:t>𝑛</m:t>
                        </m:r>
                        <m:r>
                          <a:rPr lang="en-US" altLang="zh-TW" sz="2800" i="1">
                            <a:latin typeface="Cambria Math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𝛿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</m:e>
                    </m:nary>
                  </m:oMath>
                </a14:m>
                <a:endParaRPr lang="en-US" altLang="zh-TW" sz="2800" dirty="0" smtClean="0"/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altLang="zh-TW" sz="2800" dirty="0"/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zh-TW" altLang="en-US" sz="2800" dirty="0" smtClean="0"/>
                  <a:t>所以在</a:t>
                </a:r>
                <a:r>
                  <a:rPr lang="en-US" altLang="zh-TW" sz="2800" dirty="0" smtClean="0"/>
                  <a:t>n steps</a:t>
                </a:r>
                <a:r>
                  <a:rPr lang="zh-TW" altLang="en-US" sz="2800" dirty="0" smtClean="0"/>
                  <a:t>後</a:t>
                </a:r>
                <a:r>
                  <a:rPr lang="en-US" altLang="zh-TW" sz="2800" dirty="0" smtClean="0"/>
                  <a:t>, error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=0</m:t>
                    </m:r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620688"/>
                <a:ext cx="7848872" cy="4688463"/>
              </a:xfrm>
              <a:prstGeom prst="rect">
                <a:avLst/>
              </a:prstGeom>
              <a:blipFill rotWithShape="0">
                <a:blip r:embed="rId2"/>
                <a:stretch>
                  <a:fillRect l="-1399" b="-2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71037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Gram-Schmidt conjugation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189856" y="1391290"/>
                <a:ext cx="8496944" cy="5192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dirty="0" smtClean="0"/>
                  <a:t>在知道</a:t>
                </a:r>
                <a:r>
                  <a:rPr lang="en-US" altLang="zh-TW" sz="2400" dirty="0" smtClean="0"/>
                  <a:t>search direction</a:t>
                </a:r>
                <a:r>
                  <a:rPr lang="zh-TW" altLang="en-US" sz="2400" dirty="0" smtClean="0"/>
                  <a:t>的特性後，現在需要找出</a:t>
                </a:r>
                <a:r>
                  <a:rPr lang="en-US" altLang="zh-TW" sz="2400" dirty="0" smtClean="0"/>
                  <a:t>search direction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zh-TW" altLang="en-US" sz="2400" dirty="0" smtClean="0"/>
                  <a:t>之值，假設現在有 </a:t>
                </a:r>
                <a:r>
                  <a:rPr lang="en-US" altLang="zh-TW" sz="2400" dirty="0" smtClean="0"/>
                  <a:t>n</a:t>
                </a:r>
                <a:r>
                  <a:rPr lang="zh-TW" altLang="en-US" sz="2400" dirty="0" smtClean="0"/>
                  <a:t>個</a:t>
                </a:r>
                <a:r>
                  <a:rPr lang="en-US" altLang="zh-TW" sz="2400" dirty="0" smtClean="0"/>
                  <a:t>linear independent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,⋯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/>
                </a:r>
                <a:r>
                  <a:rPr lang="en-US" altLang="zh-TW" sz="2400" dirty="0" smtClean="0"/>
                  <a:t>(</a:t>
                </a:r>
                <a:r>
                  <a:rPr lang="zh-TW" altLang="en-US" sz="2400" dirty="0" smtClean="0"/>
                  <a:t>但未彼此正交或共軛正交</a:t>
                </a:r>
                <a:r>
                  <a:rPr lang="en-US" altLang="zh-TW" sz="2400" dirty="0" smtClean="0"/>
                  <a:t>)</a:t>
                </a:r>
              </a:p>
              <a:p>
                <a:endParaRPr lang="en-US" altLang="zh-TW" sz="2400" dirty="0"/>
              </a:p>
              <a:p>
                <a:r>
                  <a:rPr lang="en-US" altLang="zh-TW" sz="24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 </m:t>
                    </m:r>
                    <m:r>
                      <a:rPr lang="en-US" altLang="zh-TW" sz="2400" b="0" i="1" smtClean="0">
                        <a:latin typeface="Cambria Math"/>
                      </a:rPr>
                      <m:t>𝑎𝑛𝑑</m:t>
                    </m:r>
                    <m:r>
                      <a:rPr lang="en-US" altLang="zh-TW" sz="2400" b="0" i="1" smtClean="0">
                        <a:latin typeface="Cambria Math"/>
                      </a:rPr>
                      <m:t> ∀</m:t>
                    </m:r>
                    <m:r>
                      <a:rPr lang="en-US" altLang="zh-TW" sz="2400" b="0" i="1" smtClean="0">
                        <a:latin typeface="Cambria Math"/>
                      </a:rPr>
                      <m:t>𝑖</m:t>
                    </m:r>
                    <m:r>
                      <a:rPr lang="en-US" altLang="zh-TW" sz="2400" b="0" i="1" smtClean="0">
                        <a:latin typeface="Cambria Math"/>
                      </a:rPr>
                      <m:t>&gt;0</m:t>
                    </m:r>
                  </m:oMath>
                </a14:m>
                <a:endParaRPr lang="en-US" altLang="zh-TW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e>
                      </m:nary>
                      <m:r>
                        <a:rPr lang="en-US" altLang="zh-TW" sz="2400" b="0" i="1" smtClean="0">
                          <a:latin typeface="Cambria Math"/>
                        </a:rPr>
                        <m:t>,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𝑤h𝑒𝑟𝑒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𝑖𝑘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/>
                        </a:rPr>
                        <m:t>are</m:t>
                      </m:r>
                      <m:r>
                        <a:rPr lang="en-US" altLang="zh-TW" sz="24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/>
                        </a:rPr>
                        <m:t>defined</m:t>
                      </m:r>
                      <m:r>
                        <a:rPr lang="en-US" altLang="zh-TW" sz="24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/>
                        </a:rPr>
                        <m:t>for</m:t>
                      </m:r>
                      <m:r>
                        <a:rPr lang="en-US" altLang="zh-TW" sz="24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/>
                        </a:rPr>
                        <m:t>i</m:t>
                      </m:r>
                      <m:r>
                        <a:rPr lang="en-US" altLang="zh-TW" sz="2400" b="0" i="0" smtClean="0">
                          <a:latin typeface="Cambria Math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/>
                        </a:rPr>
                        <m:t>k</m:t>
                      </m:r>
                    </m:oMath>
                  </m:oMathPara>
                </a14:m>
                <a:endParaRPr lang="en-US" altLang="zh-TW" sz="2400" b="0" i="0" dirty="0" smtClean="0">
                  <a:latin typeface="Cambria Math"/>
                </a:endParaRPr>
              </a:p>
              <a:p>
                <a:endParaRPr lang="en-US" altLang="zh-TW" sz="2400" b="0" i="1" dirty="0" smtClean="0">
                  <a:latin typeface="Cambria Math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altLang="zh-TW" sz="2400" b="0" dirty="0" smtClean="0">
                  <a:solidFill>
                    <a:srgbClr val="002060"/>
                  </a:solidFill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rgbClr val="002060"/>
                        </a:solidFill>
                        <a:latin typeface="Cambria Math"/>
                      </a:rPr>
                      <m:t>−</m:t>
                    </m:r>
                    <m:r>
                      <a:rPr lang="en-US" altLang="zh-TW" sz="2400" b="0" i="1" smtClean="0">
                        <a:solidFill>
                          <a:srgbClr val="002060"/>
                        </a:solidFill>
                        <a:latin typeface="Cambria Math"/>
                      </a:rPr>
                      <m:t>𝑐𝑜𝑛𝑗𝑝𝑟𝑜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d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400" dirty="0" smtClean="0">
                  <a:solidFill>
                    <a:srgbClr val="002060"/>
                  </a:solidFill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e>
                        </m:d>
                      </m:sub>
                    </m:sSub>
                    <m:r>
                      <a:rPr lang="en-US" altLang="zh-TW" sz="2400" i="1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2060"/>
                        </a:solidFill>
                        <a:latin typeface="Cambria Math"/>
                      </a:rPr>
                      <m:t>−</m:t>
                    </m:r>
                    <m:r>
                      <a:rPr lang="en-US" altLang="zh-TW" sz="2400" i="1">
                        <a:solidFill>
                          <a:srgbClr val="002060"/>
                        </a:solidFill>
                        <a:latin typeface="Cambria Math"/>
                      </a:rPr>
                      <m:t>𝑐𝑜𝑛𝑗𝑝𝑟𝑜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d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solidFill>
                          <a:srgbClr val="002060"/>
                        </a:solidFill>
                        <a:latin typeface="Cambria Math"/>
                      </a:rPr>
                      <m:t>−</m:t>
                    </m:r>
                    <m:r>
                      <a:rPr lang="en-US" altLang="zh-TW" sz="2400" i="1">
                        <a:solidFill>
                          <a:srgbClr val="002060"/>
                        </a:solidFill>
                        <a:latin typeface="Cambria Math"/>
                      </a:rPr>
                      <m:t>𝑐𝑜𝑛𝑗𝑝𝑟𝑜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400" dirty="0" smtClean="0">
                  <a:solidFill>
                    <a:srgbClr val="002060"/>
                  </a:solidFill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rgbClr val="002060"/>
                        </a:solidFill>
                        <a:latin typeface="Cambria Math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−1</m:t>
                        </m:r>
                      </m:sup>
                      <m:e>
                        <m:r>
                          <a:rPr lang="en-US" altLang="zh-TW" sz="24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𝑐𝑜𝑛𝑗𝑝𝑟𝑜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d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TW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6" y="1391290"/>
                <a:ext cx="8496944" cy="5192768"/>
              </a:xfrm>
              <a:prstGeom prst="rect">
                <a:avLst/>
              </a:prstGeom>
              <a:blipFill rotWithShape="0">
                <a:blip r:embed="rId2"/>
                <a:stretch>
                  <a:fillRect l="-1076" t="-1056" r="-10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23932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323528" y="116632"/>
            <a:ext cx="8217080" cy="278994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835696" y="2675747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u</a:t>
            </a:r>
            <a:r>
              <a:rPr lang="en-US" altLang="zh-TW" sz="2400" baseline="-25000" dirty="0" smtClean="0"/>
              <a:t>1</a:t>
            </a:r>
            <a:r>
              <a:rPr lang="zh-TW" altLang="en-US" sz="2400" dirty="0" smtClean="0"/>
              <a:t>可拆解成</a:t>
            </a:r>
            <a:r>
              <a:rPr lang="en-US" altLang="zh-TW" sz="2400" dirty="0" smtClean="0"/>
              <a:t>u* (</a:t>
            </a:r>
            <a:r>
              <a:rPr lang="zh-TW" altLang="en-US" sz="2400" dirty="0" smtClean="0"/>
              <a:t>與</a:t>
            </a:r>
            <a:r>
              <a:rPr lang="en-US" altLang="zh-TW" sz="2400" dirty="0" smtClean="0"/>
              <a:t>u</a:t>
            </a:r>
            <a:r>
              <a:rPr lang="en-US" altLang="zh-TW" sz="2400" baseline="-25000" dirty="0" smtClean="0"/>
              <a:t>0</a:t>
            </a:r>
            <a:r>
              <a:rPr lang="zh-TW" altLang="en-US" sz="2400" dirty="0" smtClean="0"/>
              <a:t>共軛正交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與</a:t>
            </a:r>
            <a:r>
              <a:rPr lang="en-US" altLang="zh-TW" sz="2400" dirty="0" smtClean="0"/>
              <a:t>u</a:t>
            </a:r>
            <a:r>
              <a:rPr lang="en-US" altLang="zh-TW" sz="2400" baseline="30000" dirty="0" smtClean="0"/>
              <a:t>+</a:t>
            </a:r>
            <a:r>
              <a:rPr lang="en-US" altLang="zh-TW" sz="2400" dirty="0" smtClean="0"/>
              <a:t>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矩形 1"/>
              <p:cNvSpPr/>
              <p:nvPr/>
            </p:nvSpPr>
            <p:spPr>
              <a:xfrm>
                <a:off x="1676548" y="3319300"/>
                <a:ext cx="6998647" cy="32678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2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200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2200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TW" sz="2200" i="1"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sub>
                        <m:sup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TW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2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TW" sz="2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TW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200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2200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TW" sz="2200" i="1"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TW" sz="2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TW" sz="2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sz="22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0=</m:t>
                    </m:r>
                    <m:sSubSup>
                      <m:sSubSupPr>
                        <m:ctrlP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a:rPr lang="en-US" altLang="zh-TW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𝛽</m:t>
                        </m:r>
                      </m:e>
                      <m:sub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  <m:sup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sz="2200" dirty="0" smtClean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𝑜𝑟𝑡h𝑜𝑔𝑜𝑛𝑎𝑙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zh-TW" sz="22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200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548" y="3319300"/>
                <a:ext cx="6998647" cy="3267882"/>
              </a:xfrm>
              <a:prstGeom prst="rect">
                <a:avLst/>
              </a:prstGeom>
              <a:blipFill rotWithShape="0">
                <a:blip r:embed="rId3"/>
                <a:stretch>
                  <a:fillRect l="-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341765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CG algorithm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750404" y="1817453"/>
                <a:ext cx="7643192" cy="3576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sz="24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zh-TW" sz="2400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400" b="0" i="1" smtClean="0">
                            <a:latin typeface="Cambria Math" panose="02040503050406030204" pitchFamily="18" charset="0"/>
                          </a:rPr>
                          <m:t>初始方向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𝑛𝑒𝑔𝑎𝑡𝑖𝑣𝑒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𝑔𝑟𝑎𝑑𝑖𝑒𝑛𝑡</m:t>
                        </m:r>
                      </m:e>
                    </m:d>
                  </m:oMath>
                </a14:m>
                <a:endParaRPr lang="en-US" altLang="zh-TW" sz="2400" b="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den>
                    </m:f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400" b="0" i="1" smtClean="0">
                            <a:latin typeface="Cambria Math" panose="02040503050406030204" pitchFamily="18" charset="0"/>
                          </a:rPr>
                          <m:t>最佳步長</m:t>
                        </m:r>
                      </m:e>
                    </m:d>
                  </m:oMath>
                </a14:m>
                <a:endParaRPr lang="en-US" altLang="zh-TW" sz="2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b>
                    </m:sSub>
                    <m:r>
                      <a:rPr lang="en-US" altLang="zh-TW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</m:sub>
                    </m:sSub>
                    <m:r>
                      <a:rPr lang="en-US" altLang="zh-TW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</m:sub>
                    </m:sSub>
                  </m:oMath>
                </a14:m>
                <a:endParaRPr lang="en-US" altLang="zh-TW" sz="24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altLang="zh-TW" sz="2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zh-TW" sz="2400" b="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b>
                    </m:sSub>
                    <m:r>
                      <a:rPr lang="en-US" altLang="zh-TW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b>
                    </m:sSub>
                    <m:r>
                      <a:rPr lang="en-US" altLang="zh-TW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d>
                          <m:d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400" b="0" i="1" smtClean="0">
                            <a:latin typeface="Cambria Math" panose="02040503050406030204" pitchFamily="18" charset="0"/>
                          </a:rPr>
                          <m:t>下一個前進方向</m:t>
                        </m:r>
                      </m:e>
                    </m:d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04" y="1817453"/>
                <a:ext cx="7643192" cy="3576235"/>
              </a:xfrm>
              <a:prstGeom prst="rect">
                <a:avLst/>
              </a:prstGeom>
              <a:blipFill rotWithShape="0">
                <a:blip r:embed="rId2"/>
                <a:stretch>
                  <a:fillRect l="-1037" t="-681" b="-11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001830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Nonlinear CG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39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197768" y="1556792"/>
                <a:ext cx="8748464" cy="4967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Key points: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 dirty="0" smtClean="0"/>
                  <a:t>The step size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2400" dirty="0" smtClean="0"/>
                  <a:t> is determined by linear search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 dirty="0" smtClean="0"/>
                  <a:t>Different choice for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TW" sz="2400" b="0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 dirty="0" smtClean="0"/>
                  <a:t>The residual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∀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TW" sz="2400" dirty="0" smtClean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TW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TW" sz="2400" dirty="0" smtClean="0"/>
              </a:p>
              <a:p>
                <a:r>
                  <a:rPr lang="en-US" altLang="zh-TW" sz="2400" dirty="0" smtClean="0"/>
                  <a:t>Fletcher Reeves 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𝐹𝑅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 smtClean="0"/>
              </a:p>
              <a:p>
                <a:r>
                  <a:rPr lang="en-US" altLang="zh-TW" sz="2400" dirty="0" err="1" smtClean="0"/>
                  <a:t>Polak-Ribere</a:t>
                </a:r>
                <a:r>
                  <a:rPr lang="en-US" altLang="zh-TW" sz="2400" dirty="0" smtClean="0"/>
                  <a:t> formula (</a:t>
                </a:r>
                <a:r>
                  <a:rPr lang="en-US" altLang="zh-TW" sz="2400" dirty="0" err="1" smtClean="0"/>
                  <a:t>scipy</a:t>
                </a:r>
                <a:r>
                  <a:rPr lang="en-US" altLang="zh-TW" sz="2400" dirty="0" smtClean="0"/>
                  <a:t> use this one):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𝑃𝑅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68" y="1556792"/>
                <a:ext cx="8748464" cy="4967642"/>
              </a:xfrm>
              <a:prstGeom prst="rect">
                <a:avLst/>
              </a:prstGeom>
              <a:blipFill rotWithShape="0">
                <a:blip r:embed="rId2"/>
                <a:stretch>
                  <a:fillRect l="-1114" t="-9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377772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 of nonlinear CG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40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9" y="1383358"/>
            <a:ext cx="9028571" cy="337777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778" y="4769353"/>
            <a:ext cx="3644444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0711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41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1194238" y="-26182"/>
            <a:ext cx="6425762" cy="675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61605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47EF-2645-418D-AD7B-AC03683E8563}" type="slidenum">
              <a:rPr lang="zh-TW" altLang="en-US" smtClean="0"/>
              <a:pPr/>
              <a:t>42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1185"/>
            <a:ext cx="6519115" cy="668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51589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Thanks for your listening!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pPr/>
              <a:t>43</a:t>
            </a:fld>
            <a:endParaRPr lang="zh-TW" altLang="en-US"/>
          </a:p>
        </p:txBody>
      </p:sp>
      <p:pic>
        <p:nvPicPr>
          <p:cNvPr id="5" name="圖片 4">
            <a:hlinkClick r:id="rId2"/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3180121" y="2330245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7360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629</Words>
  <Application>Microsoft Office PowerPoint</Application>
  <PresentationFormat>如螢幕大小 (4:3)</PresentationFormat>
  <Paragraphs>160</Paragraphs>
  <Slides>43</Slides>
  <Notes>2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45" baseType="lpstr">
      <vt:lpstr>Office 佈景主題</vt:lpstr>
      <vt:lpstr>方程式</vt:lpstr>
      <vt:lpstr>An Introduction to the Conjugate gradient method without the agonizing pain</vt:lpstr>
      <vt:lpstr>Abstract (1/2)</vt:lpstr>
      <vt:lpstr>Abstract (2/2)</vt:lpstr>
      <vt:lpstr>Conjugate gradient (CG)</vt:lpstr>
      <vt:lpstr>Quadratic form</vt:lpstr>
      <vt:lpstr>投影片 6</vt:lpstr>
      <vt:lpstr>If matrix A is not symmetric</vt:lpstr>
      <vt:lpstr>Positive definite matrix</vt:lpstr>
      <vt:lpstr>Advantage of the CG</vt:lpstr>
      <vt:lpstr>投影片 10</vt:lpstr>
      <vt:lpstr>投影片 11</vt:lpstr>
      <vt:lpstr>Quadratic form for different matrix</vt:lpstr>
      <vt:lpstr>The solution to Ax=b minimizes the quadratic form</vt:lpstr>
      <vt:lpstr>Steepest gradient descent (SGD)</vt:lpstr>
      <vt:lpstr>投影片 15</vt:lpstr>
      <vt:lpstr>SGD example</vt:lpstr>
      <vt:lpstr>投影片 17</vt:lpstr>
      <vt:lpstr>Steepest descent algorithm</vt:lpstr>
      <vt:lpstr>Eigenvector and eigenvalue</vt:lpstr>
      <vt:lpstr>Eigenvector &amp; eigenvalue</vt:lpstr>
      <vt:lpstr>投影片 21</vt:lpstr>
      <vt:lpstr>Symmetric matrix</vt:lpstr>
      <vt:lpstr>投影片 23</vt:lpstr>
      <vt:lpstr>Jacobi iterations</vt:lpstr>
      <vt:lpstr>Jacobi iterations example</vt:lpstr>
      <vt:lpstr>投影片 26</vt:lpstr>
      <vt:lpstr>投影片 27</vt:lpstr>
      <vt:lpstr>投影片 28</vt:lpstr>
      <vt:lpstr>The method of Conjugate directions</vt:lpstr>
      <vt:lpstr>投影片 30</vt:lpstr>
      <vt:lpstr>A-orthogonal</vt:lpstr>
      <vt:lpstr>投影片 32</vt:lpstr>
      <vt:lpstr>投影片 33</vt:lpstr>
      <vt:lpstr>Convergence of CG</vt:lpstr>
      <vt:lpstr>投影片 35</vt:lpstr>
      <vt:lpstr>Gram-Schmidt conjugation</vt:lpstr>
      <vt:lpstr>投影片 37</vt:lpstr>
      <vt:lpstr>CG algorithm</vt:lpstr>
      <vt:lpstr>Nonlinear CG</vt:lpstr>
      <vt:lpstr>Outline of nonlinear CG</vt:lpstr>
      <vt:lpstr>投影片 41</vt:lpstr>
      <vt:lpstr>投影片 42</vt:lpstr>
      <vt:lpstr>Thanks for your listening!</vt:lpstr>
    </vt:vector>
  </TitlesOfParts>
  <Company>comstar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Conjugate gradient method 共軛梯度法</dc:title>
  <dc:creator>chenhh</dc:creator>
  <cp:lastModifiedBy>admin</cp:lastModifiedBy>
  <cp:revision>241</cp:revision>
  <dcterms:created xsi:type="dcterms:W3CDTF">2013-07-12T11:44:12Z</dcterms:created>
  <dcterms:modified xsi:type="dcterms:W3CDTF">2013-09-10T10:29:54Z</dcterms:modified>
</cp:coreProperties>
</file>