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Default Extension="wdp" ContentType="image/vnd.ms-photo"/>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handoutMasterIdLst>
    <p:handoutMasterId r:id="rId28"/>
  </p:handoutMasterIdLst>
  <p:sldIdLst>
    <p:sldId id="256" r:id="rId2"/>
    <p:sldId id="307" r:id="rId3"/>
    <p:sldId id="331" r:id="rId4"/>
    <p:sldId id="333" r:id="rId5"/>
    <p:sldId id="309" r:id="rId6"/>
    <p:sldId id="336" r:id="rId7"/>
    <p:sldId id="334" r:id="rId8"/>
    <p:sldId id="335" r:id="rId9"/>
    <p:sldId id="337" r:id="rId10"/>
    <p:sldId id="338" r:id="rId11"/>
    <p:sldId id="340" r:id="rId12"/>
    <p:sldId id="341" r:id="rId13"/>
    <p:sldId id="339" r:id="rId14"/>
    <p:sldId id="342" r:id="rId15"/>
    <p:sldId id="343" r:id="rId16"/>
    <p:sldId id="344" r:id="rId17"/>
    <p:sldId id="345" r:id="rId18"/>
    <p:sldId id="346" r:id="rId19"/>
    <p:sldId id="347" r:id="rId20"/>
    <p:sldId id="348" r:id="rId21"/>
    <p:sldId id="351" r:id="rId22"/>
    <p:sldId id="349" r:id="rId23"/>
    <p:sldId id="350" r:id="rId24"/>
    <p:sldId id="352" r:id="rId25"/>
    <p:sldId id="265" r:id="rId26"/>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clrMru>
    <a:srgbClr val="7B93DF"/>
    <a:srgbClr val="6F84EB"/>
    <a:srgbClr val="0000FF"/>
    <a:srgbClr val="FF33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8FB837D-C827-4EFA-A057-4D05807E0F7C}" styleName="佈景主題樣式 1 - 輔色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012ECD-51FC-41F1-AA8D-1B2483CD663E}" styleName="淺色樣式 2 - 輔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中等深淺樣式 1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2042" autoAdjust="0"/>
    <p:restoredTop sz="96793" autoAdjust="0"/>
  </p:normalViewPr>
  <p:slideViewPr>
    <p:cSldViewPr>
      <p:cViewPr varScale="1">
        <p:scale>
          <a:sx n="70" d="100"/>
          <a:sy n="70" d="100"/>
        </p:scale>
        <p:origin x="-624" y="-108"/>
      </p:cViewPr>
      <p:guideLst>
        <p:guide orient="horz" pos="2160"/>
        <p:guide pos="2880"/>
      </p:guideLst>
    </p:cSldViewPr>
  </p:slideViewPr>
  <p:outlineViewPr>
    <p:cViewPr>
      <p:scale>
        <a:sx n="33" d="100"/>
        <a:sy n="33" d="100"/>
      </p:scale>
      <p:origin x="0" y="966"/>
    </p:cViewPr>
  </p:outlineViewPr>
  <p:notesTextViewPr>
    <p:cViewPr>
      <p:scale>
        <a:sx n="1" d="1"/>
        <a:sy n="1" d="1"/>
      </p:scale>
      <p:origin x="0" y="0"/>
    </p:cViewPr>
  </p:notesTextViewPr>
  <p:notesViewPr>
    <p:cSldViewPr>
      <p:cViewPr varScale="1">
        <p:scale>
          <a:sx n="88" d="100"/>
          <a:sy n="88" d="100"/>
        </p:scale>
        <p:origin x="3822" y="102"/>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9A1E9FC-490C-4865-A082-2CA8BB7D5A91}" type="datetimeFigureOut">
              <a:rPr lang="zh-TW" altLang="en-US" smtClean="0"/>
              <a:pPr/>
              <a:t>2013/9/10</a:t>
            </a:fld>
            <a:endParaRPr lang="zh-TW" altLang="en-US"/>
          </a:p>
        </p:txBody>
      </p:sp>
      <p:sp>
        <p:nvSpPr>
          <p:cNvPr id="4" name="頁尾版面配置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BA81C7-1ECC-4CF7-ABF1-426C762021BC}" type="slidenum">
              <a:rPr lang="zh-TW" altLang="en-US" smtClean="0"/>
              <a:pPr/>
              <a:t>‹#›</a:t>
            </a:fld>
            <a:endParaRPr lang="zh-TW" altLang="en-US"/>
          </a:p>
        </p:txBody>
      </p:sp>
    </p:spTree>
    <p:extLst>
      <p:ext uri="{BB962C8B-B14F-4D97-AF65-F5344CB8AC3E}">
        <p14:creationId xmlns:p14="http://schemas.microsoft.com/office/powerpoint/2010/main" xmlns="" val="39910503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42458AF-C11A-4B8D-B5DF-F124E30CB17B}" type="datetimeFigureOut">
              <a:rPr lang="zh-TW" altLang="en-US" smtClean="0"/>
              <a:pPr/>
              <a:t>2013/9/10</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8879042-3193-49F2-8086-409E581C9D3A}" type="slidenum">
              <a:rPr lang="zh-TW" altLang="en-US" smtClean="0"/>
              <a:pPr/>
              <a:t>‹#›</a:t>
            </a:fld>
            <a:endParaRPr lang="zh-TW" altLang="en-US"/>
          </a:p>
        </p:txBody>
      </p:sp>
    </p:spTree>
    <p:extLst>
      <p:ext uri="{BB962C8B-B14F-4D97-AF65-F5344CB8AC3E}">
        <p14:creationId xmlns:p14="http://schemas.microsoft.com/office/powerpoint/2010/main" xmlns="" val="2913517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08879042-3193-49F2-8086-409E581C9D3A}" type="slidenum">
              <a:rPr lang="zh-TW" altLang="en-US" smtClean="0"/>
              <a:pPr/>
              <a:t>1</a:t>
            </a:fld>
            <a:endParaRPr lang="zh-TW" altLang="en-US"/>
          </a:p>
        </p:txBody>
      </p:sp>
    </p:spTree>
    <p:extLst>
      <p:ext uri="{BB962C8B-B14F-4D97-AF65-F5344CB8AC3E}">
        <p14:creationId xmlns:p14="http://schemas.microsoft.com/office/powerpoint/2010/main" xmlns="" val="3297998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8" name="標題 7"/>
          <p:cNvSpPr>
            <a:spLocks noGrp="1"/>
          </p:cNvSpPr>
          <p:nvPr>
            <p:ph type="ctrTitle"/>
          </p:nvPr>
        </p:nvSpPr>
        <p:spPr>
          <a:xfrm>
            <a:off x="1242392" y="1556792"/>
            <a:ext cx="6858000" cy="1440160"/>
          </a:xfrm>
        </p:spPr>
        <p:txBody>
          <a:bodyPr anchor="t" anchorCtr="0"/>
          <a:lstStyle>
            <a:lvl1pPr algn="r">
              <a:defRPr sz="3200" b="1">
                <a:solidFill>
                  <a:schemeClr val="tx1"/>
                </a:solidFill>
              </a:defRPr>
            </a:lvl1pPr>
          </a:lstStyle>
          <a:p>
            <a:r>
              <a:rPr kumimoji="0" lang="zh-TW" altLang="en-US" dirty="0" smtClean="0"/>
              <a:t>按一下以編輯母片標題樣式</a:t>
            </a:r>
            <a:endParaRPr kumimoji="0" lang="en-US" dirty="0"/>
          </a:p>
        </p:txBody>
      </p:sp>
      <p:sp>
        <p:nvSpPr>
          <p:cNvPr id="9" name="副標題 8"/>
          <p:cNvSpPr>
            <a:spLocks noGrp="1"/>
          </p:cNvSpPr>
          <p:nvPr>
            <p:ph type="subTitle" idx="1"/>
          </p:nvPr>
        </p:nvSpPr>
        <p:spPr>
          <a:xfrm>
            <a:off x="1219200" y="3228979"/>
            <a:ext cx="6858000" cy="2200243"/>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TW" altLang="en-US" smtClean="0"/>
              <a:t>按一下以編輯母片副標題樣式</a:t>
            </a:r>
            <a:endParaRPr kumimoji="0" lang="en-US"/>
          </a:p>
        </p:txBody>
      </p:sp>
      <p:sp>
        <p:nvSpPr>
          <p:cNvPr id="28" name="日期版面配置區 27"/>
          <p:cNvSpPr>
            <a:spLocks noGrp="1"/>
          </p:cNvSpPr>
          <p:nvPr>
            <p:ph type="dt" sz="half" idx="10"/>
          </p:nvPr>
        </p:nvSpPr>
        <p:spPr>
          <a:xfrm>
            <a:off x="6400800" y="6355080"/>
            <a:ext cx="2286000" cy="365760"/>
          </a:xfrm>
        </p:spPr>
        <p:txBody>
          <a:bodyPr/>
          <a:lstStyle>
            <a:lvl1pPr>
              <a:defRPr sz="1400"/>
            </a:lvl1pPr>
          </a:lstStyle>
          <a:p>
            <a:fld id="{EC7B8A31-1E50-4C75-97EE-1D3E8CBF0373}" type="datetime1">
              <a:rPr lang="zh-TW" altLang="en-US" smtClean="0"/>
              <a:t>2013/9/10</a:t>
            </a:fld>
            <a:endParaRPr lang="zh-TW" altLang="en-US"/>
          </a:p>
        </p:txBody>
      </p:sp>
      <p:sp>
        <p:nvSpPr>
          <p:cNvPr id="17" name="頁尾版面配置區 16"/>
          <p:cNvSpPr>
            <a:spLocks noGrp="1"/>
          </p:cNvSpPr>
          <p:nvPr>
            <p:ph type="ftr" sz="quarter" idx="11"/>
          </p:nvPr>
        </p:nvSpPr>
        <p:spPr>
          <a:xfrm>
            <a:off x="2898648" y="6355080"/>
            <a:ext cx="3474720" cy="365760"/>
          </a:xfrm>
        </p:spPr>
        <p:txBody>
          <a:bodyPr/>
          <a:lstStyle/>
          <a:p>
            <a:endParaRPr lang="zh-TW" altLang="en-US"/>
          </a:p>
        </p:txBody>
      </p:sp>
      <p:sp>
        <p:nvSpPr>
          <p:cNvPr id="29" name="投影片編號版面配置區 28"/>
          <p:cNvSpPr>
            <a:spLocks noGrp="1"/>
          </p:cNvSpPr>
          <p:nvPr>
            <p:ph type="sldNum" sz="quarter" idx="12"/>
          </p:nvPr>
        </p:nvSpPr>
        <p:spPr>
          <a:xfrm>
            <a:off x="1216152" y="6355080"/>
            <a:ext cx="1219200" cy="365760"/>
          </a:xfrm>
        </p:spPr>
        <p:txBody>
          <a:bodyPr/>
          <a:lstStyle/>
          <a:p>
            <a:fld id="{61A04B93-F247-42E5-95CE-B8478AD23DB7}" type="slidenum">
              <a:rPr lang="zh-TW" altLang="en-US" smtClean="0"/>
              <a:pPr/>
              <a:t>‹#›</a:t>
            </a:fld>
            <a:endParaRPr lang="zh-TW" altLang="en-US"/>
          </a:p>
        </p:txBody>
      </p:sp>
      <p:sp>
        <p:nvSpPr>
          <p:cNvPr id="21" name="矩形 20"/>
          <p:cNvSpPr/>
          <p:nvPr/>
        </p:nvSpPr>
        <p:spPr>
          <a:xfrm>
            <a:off x="904875" y="980728"/>
            <a:ext cx="7315200" cy="2088232"/>
          </a:xfrm>
          <a:prstGeom prst="rect">
            <a:avLst/>
          </a:prstGeom>
          <a:noFill/>
          <a:ln w="6350" cap="rnd" cmpd="sng" algn="ctr">
            <a:solidFill>
              <a:schemeClr val="accent1">
                <a:lumMod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矩形 32"/>
          <p:cNvSpPr/>
          <p:nvPr/>
        </p:nvSpPr>
        <p:spPr>
          <a:xfrm>
            <a:off x="914400" y="3140968"/>
            <a:ext cx="7305675" cy="2376264"/>
          </a:xfrm>
          <a:prstGeom prst="rect">
            <a:avLst/>
          </a:prstGeom>
          <a:noFill/>
          <a:ln w="6350" cap="rnd" cmpd="sng" algn="ctr">
            <a:solidFill>
              <a:schemeClr val="accent3">
                <a:lumMod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矩形 21"/>
          <p:cNvSpPr/>
          <p:nvPr/>
        </p:nvSpPr>
        <p:spPr>
          <a:xfrm>
            <a:off x="904875" y="980728"/>
            <a:ext cx="228600" cy="2088232"/>
          </a:xfrm>
          <a:prstGeom prst="rect">
            <a:avLst/>
          </a:prstGeom>
          <a:solidFill>
            <a:schemeClr val="accent1">
              <a:lumMod val="75000"/>
            </a:schemeClr>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矩形 31"/>
          <p:cNvSpPr/>
          <p:nvPr/>
        </p:nvSpPr>
        <p:spPr>
          <a:xfrm>
            <a:off x="904875" y="3140968"/>
            <a:ext cx="238125" cy="2376264"/>
          </a:xfrm>
          <a:prstGeom prst="rect">
            <a:avLst/>
          </a:prstGeom>
          <a:solidFill>
            <a:schemeClr val="accent3">
              <a:lumMod val="75000"/>
            </a:schemeClr>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b="1">
                <a:latin typeface="微軟正黑體" panose="020B0604030504040204" pitchFamily="34" charset="-120"/>
                <a:ea typeface="微軟正黑體" panose="020B0604030504040204" pitchFamily="34" charset="-120"/>
              </a:defRPr>
            </a:lvl1pPr>
          </a:lstStyle>
          <a:p>
            <a:r>
              <a:rPr kumimoji="0" lang="zh-TW" altLang="en-US" dirty="0" smtClean="0"/>
              <a:t>按一下以編輯母片標題樣式</a:t>
            </a:r>
            <a:endParaRPr kumimoji="0" lang="en-US" dirty="0"/>
          </a:p>
        </p:txBody>
      </p:sp>
      <p:sp>
        <p:nvSpPr>
          <p:cNvPr id="4" name="日期版面配置區 3"/>
          <p:cNvSpPr>
            <a:spLocks noGrp="1"/>
          </p:cNvSpPr>
          <p:nvPr>
            <p:ph type="dt" sz="half" idx="10"/>
          </p:nvPr>
        </p:nvSpPr>
        <p:spPr/>
        <p:txBody>
          <a:bodyPr/>
          <a:lstStyle>
            <a:lvl1pPr>
              <a:defRPr>
                <a:latin typeface="微軟正黑體" panose="020B0604030504040204" pitchFamily="34" charset="-120"/>
                <a:ea typeface="微軟正黑體" panose="020B0604030504040204" pitchFamily="34" charset="-120"/>
              </a:defRPr>
            </a:lvl1pPr>
          </a:lstStyle>
          <a:p>
            <a:fld id="{673E5A48-64E2-4E9B-94C5-8A8AA3DBC313}" type="datetime1">
              <a:rPr lang="zh-TW" altLang="en-US" smtClean="0"/>
              <a:t>2013/9/10</a:t>
            </a:fld>
            <a:endParaRPr lang="zh-TW" altLang="en-US"/>
          </a:p>
        </p:txBody>
      </p:sp>
      <p:sp>
        <p:nvSpPr>
          <p:cNvPr id="5" name="頁尾版面配置區 4"/>
          <p:cNvSpPr>
            <a:spLocks noGrp="1"/>
          </p:cNvSpPr>
          <p:nvPr>
            <p:ph type="ftr" sz="quarter" idx="11"/>
          </p:nvPr>
        </p:nvSpPr>
        <p:spPr/>
        <p:txBody>
          <a:bodyPr/>
          <a:lstStyle>
            <a:lvl1pPr>
              <a:defRPr>
                <a:latin typeface="微軟正黑體" panose="020B0604030504040204" pitchFamily="34" charset="-120"/>
                <a:ea typeface="微軟正黑體" panose="020B0604030504040204" pitchFamily="34" charset="-120"/>
              </a:defRPr>
            </a:lvl1pPr>
          </a:lstStyle>
          <a:p>
            <a:endParaRPr lang="zh-TW" altLang="en-US"/>
          </a:p>
        </p:txBody>
      </p:sp>
      <p:sp>
        <p:nvSpPr>
          <p:cNvPr id="6" name="投影片編號版面配置區 5"/>
          <p:cNvSpPr>
            <a:spLocks noGrp="1"/>
          </p:cNvSpPr>
          <p:nvPr>
            <p:ph type="sldNum" sz="quarter" idx="12"/>
          </p:nvPr>
        </p:nvSpPr>
        <p:spPr/>
        <p:txBody>
          <a:bodyPr/>
          <a:lstStyle>
            <a:lvl1pPr>
              <a:defRPr>
                <a:latin typeface="微軟正黑體" panose="020B0604030504040204" pitchFamily="34" charset="-120"/>
                <a:ea typeface="微軟正黑體" panose="020B0604030504040204" pitchFamily="34" charset="-120"/>
              </a:defRPr>
            </a:lvl1pPr>
          </a:lstStyle>
          <a:p>
            <a:fld id="{61A04B93-F247-42E5-95CE-B8478AD23DB7}" type="slidenum">
              <a:rPr lang="zh-TW" altLang="en-US" smtClean="0"/>
              <a:pPr/>
              <a:t>‹#›</a:t>
            </a:fld>
            <a:endParaRPr lang="zh-TW" altLang="en-US"/>
          </a:p>
        </p:txBody>
      </p:sp>
      <p:sp>
        <p:nvSpPr>
          <p:cNvPr id="8" name="內容版面配置區 7"/>
          <p:cNvSpPr>
            <a:spLocks noGrp="1"/>
          </p:cNvSpPr>
          <p:nvPr>
            <p:ph sz="quarter" idx="1"/>
          </p:nvPr>
        </p:nvSpPr>
        <p:spPr>
          <a:xfrm>
            <a:off x="457200" y="1219200"/>
            <a:ext cx="8229600" cy="4937760"/>
          </a:xfrm>
        </p:spPr>
        <p:txBody>
          <a:bodyPr/>
          <a:lstStyle>
            <a:lvl1pPr>
              <a:defRPr>
                <a:latin typeface="微軟正黑體" panose="020B0604030504040204" pitchFamily="34" charset="-120"/>
                <a:ea typeface="微軟正黑體" panose="020B0604030504040204" pitchFamily="34" charset="-120"/>
              </a:defRPr>
            </a:lvl1pPr>
            <a:lvl2pPr>
              <a:defRPr>
                <a:latin typeface="微軟正黑體" panose="020B0604030504040204" pitchFamily="34" charset="-120"/>
                <a:ea typeface="微軟正黑體" panose="020B0604030504040204" pitchFamily="34" charset="-120"/>
              </a:defRPr>
            </a:lvl2pPr>
            <a:lvl3pPr>
              <a:defRPr>
                <a:latin typeface="微軟正黑體" panose="020B0604030504040204" pitchFamily="34" charset="-120"/>
                <a:ea typeface="微軟正黑體" panose="020B0604030504040204" pitchFamily="34" charset="-120"/>
              </a:defRPr>
            </a:lvl3pPr>
            <a:lvl4pPr>
              <a:defRPr>
                <a:latin typeface="微軟正黑體" panose="020B0604030504040204" pitchFamily="34" charset="-120"/>
                <a:ea typeface="微軟正黑體" panose="020B0604030504040204" pitchFamily="34" charset="-120"/>
              </a:defRPr>
            </a:lvl4pPr>
            <a:lvl5pPr>
              <a:defRPr>
                <a:latin typeface="微軟正黑體" panose="020B0604030504040204" pitchFamily="34" charset="-120"/>
                <a:ea typeface="微軟正黑體" panose="020B0604030504040204" pitchFamily="34" charset="-120"/>
              </a:defRPr>
            </a:lvl5pPr>
          </a:lstStyle>
          <a:p>
            <a:pPr lvl="0" eaLnBrk="1" latinLnBrk="0" hangingPunct="1"/>
            <a:r>
              <a:rPr lang="zh-TW" altLang="en-US" dirty="0" smtClean="0"/>
              <a:t>按一下以編輯母片文字樣式</a:t>
            </a:r>
          </a:p>
          <a:p>
            <a:pPr lvl="1" eaLnBrk="1" latinLnBrk="0" hangingPunct="1"/>
            <a:r>
              <a:rPr lang="zh-TW" altLang="en-US" dirty="0" smtClean="0"/>
              <a:t>第二層</a:t>
            </a:r>
          </a:p>
          <a:p>
            <a:pPr lvl="2" eaLnBrk="1" latinLnBrk="0" hangingPunct="1"/>
            <a:r>
              <a:rPr lang="zh-TW" altLang="en-US" dirty="0" smtClean="0"/>
              <a:t>第三層</a:t>
            </a:r>
          </a:p>
          <a:p>
            <a:pPr lvl="3" eaLnBrk="1" latinLnBrk="0" hangingPunct="1"/>
            <a:r>
              <a:rPr lang="zh-TW" altLang="en-US" dirty="0" smtClean="0"/>
              <a:t>第四層</a:t>
            </a:r>
          </a:p>
          <a:p>
            <a:pPr lvl="4" eaLnBrk="1" latinLnBrk="0" hangingPunct="1"/>
            <a:r>
              <a:rPr lang="zh-TW" altLang="en-US" dirty="0" smtClean="0"/>
              <a:t>第五層</a:t>
            </a:r>
            <a:endParaRPr kumimoji="0"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bg>
      <p:bgRef idx="1001">
        <a:schemeClr val="bg2"/>
      </p:bgRef>
    </p:bg>
    <p:spTree>
      <p:nvGrpSpPr>
        <p:cNvPr id="1" name=""/>
        <p:cNvGrpSpPr/>
        <p:nvPr/>
      </p:nvGrpSpPr>
      <p:grpSpPr>
        <a:xfrm>
          <a:off x="0" y="0"/>
          <a:ext cx="0" cy="0"/>
          <a:chOff x="0" y="0"/>
          <a:chExt cx="0" cy="0"/>
        </a:xfrm>
      </p:grpSpPr>
      <p:sp>
        <p:nvSpPr>
          <p:cNvPr id="2" name="標題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zh-TW" altLang="en-US" smtClean="0"/>
              <a:t>按一下以編輯母片標題樣式</a:t>
            </a:r>
            <a:endParaRPr kumimoji="0" lang="en-US"/>
          </a:p>
        </p:txBody>
      </p:sp>
      <p:sp>
        <p:nvSpPr>
          <p:cNvPr id="3" name="文字版面配置區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TW" altLang="en-US" smtClean="0"/>
              <a:t>按一下以編輯母片文字樣式</a:t>
            </a:r>
          </a:p>
        </p:txBody>
      </p:sp>
      <p:sp>
        <p:nvSpPr>
          <p:cNvPr id="4" name="日期版面配置區 3"/>
          <p:cNvSpPr>
            <a:spLocks noGrp="1"/>
          </p:cNvSpPr>
          <p:nvPr>
            <p:ph type="dt" sz="half" idx="10"/>
          </p:nvPr>
        </p:nvSpPr>
        <p:spPr>
          <a:xfrm>
            <a:off x="6400800" y="6355080"/>
            <a:ext cx="2286000" cy="365760"/>
          </a:xfrm>
        </p:spPr>
        <p:txBody>
          <a:bodyPr/>
          <a:lstStyle/>
          <a:p>
            <a:fld id="{D3D9B587-1023-48D8-A19A-B396FA4F683B}" type="datetime1">
              <a:rPr lang="zh-TW" altLang="en-US" smtClean="0"/>
              <a:t>2013/9/10</a:t>
            </a:fld>
            <a:endParaRPr lang="zh-TW" altLang="en-US"/>
          </a:p>
        </p:txBody>
      </p:sp>
      <p:sp>
        <p:nvSpPr>
          <p:cNvPr id="5" name="頁尾版面配置區 4"/>
          <p:cNvSpPr>
            <a:spLocks noGrp="1"/>
          </p:cNvSpPr>
          <p:nvPr>
            <p:ph type="ftr" sz="quarter" idx="11"/>
          </p:nvPr>
        </p:nvSpPr>
        <p:spPr>
          <a:xfrm>
            <a:off x="2898648" y="6355080"/>
            <a:ext cx="3474720" cy="365760"/>
          </a:xfrm>
        </p:spPr>
        <p:txBody>
          <a:bodyPr/>
          <a:lstStyle/>
          <a:p>
            <a:endParaRPr lang="zh-TW" altLang="en-US"/>
          </a:p>
        </p:txBody>
      </p:sp>
      <p:sp>
        <p:nvSpPr>
          <p:cNvPr id="6" name="投影片編號版面配置區 5"/>
          <p:cNvSpPr>
            <a:spLocks noGrp="1"/>
          </p:cNvSpPr>
          <p:nvPr>
            <p:ph type="sldNum" sz="quarter" idx="12"/>
          </p:nvPr>
        </p:nvSpPr>
        <p:spPr>
          <a:xfrm>
            <a:off x="1069848" y="6355080"/>
            <a:ext cx="1520952" cy="365760"/>
          </a:xfrm>
        </p:spPr>
        <p:txBody>
          <a:bodyPr/>
          <a:lstStyle/>
          <a:p>
            <a:fld id="{61A04B93-F247-42E5-95CE-B8478AD23DB7}" type="slidenum">
              <a:rPr lang="zh-TW" altLang="en-US" smtClean="0"/>
              <a:pPr/>
              <a:t>‹#›</a:t>
            </a:fld>
            <a:endParaRPr lang="zh-TW" altLang="en-US"/>
          </a:p>
        </p:txBody>
      </p:sp>
      <p:sp>
        <p:nvSpPr>
          <p:cNvPr id="7" name="矩形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914400"/>
          </a:xfrm>
        </p:spPr>
        <p:txBody>
          <a:bodyPr/>
          <a:lstStyle/>
          <a:p>
            <a:r>
              <a:rPr kumimoji="0" lang="zh-TW" altLang="en-US" smtClean="0"/>
              <a:t>按一下以編輯母片標題樣式</a:t>
            </a:r>
            <a:endParaRPr kumimoji="0" lang="en-US"/>
          </a:p>
        </p:txBody>
      </p:sp>
      <p:sp>
        <p:nvSpPr>
          <p:cNvPr id="5" name="日期版面配置區 4"/>
          <p:cNvSpPr>
            <a:spLocks noGrp="1"/>
          </p:cNvSpPr>
          <p:nvPr>
            <p:ph type="dt" sz="half" idx="10"/>
          </p:nvPr>
        </p:nvSpPr>
        <p:spPr/>
        <p:txBody>
          <a:bodyPr/>
          <a:lstStyle/>
          <a:p>
            <a:fld id="{4D5B35FE-91EA-4FA2-8258-3553959BB0A0}" type="datetime1">
              <a:rPr lang="zh-TW" altLang="en-US" smtClean="0"/>
              <a:t>2013/9/10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1A04B93-F247-42E5-95CE-B8478AD23DB7}" type="slidenum">
              <a:rPr lang="zh-TW" altLang="en-US" smtClean="0"/>
              <a:pPr/>
              <a:t>‹#›</a:t>
            </a:fld>
            <a:endParaRPr lang="zh-TW" altLang="en-US"/>
          </a:p>
        </p:txBody>
      </p:sp>
      <p:sp>
        <p:nvSpPr>
          <p:cNvPr id="9" name="內容版面配置區 8"/>
          <p:cNvSpPr>
            <a:spLocks noGrp="1"/>
          </p:cNvSpPr>
          <p:nvPr>
            <p:ph sz="quarter" idx="1"/>
          </p:nvPr>
        </p:nvSpPr>
        <p:spPr>
          <a:xfrm>
            <a:off x="457200" y="1219200"/>
            <a:ext cx="4041648" cy="493776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11" name="內容版面配置區 10"/>
          <p:cNvSpPr>
            <a:spLocks noGrp="1"/>
          </p:cNvSpPr>
          <p:nvPr>
            <p:ph sz="quarter" idx="2"/>
          </p:nvPr>
        </p:nvSpPr>
        <p:spPr>
          <a:xfrm>
            <a:off x="4632198" y="1216152"/>
            <a:ext cx="4041648" cy="493776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914400"/>
          </a:xfrm>
        </p:spPr>
        <p:txBody>
          <a:bodyPr anchor="ctr"/>
          <a:lstStyle>
            <a:lvl1pPr>
              <a:defRPr/>
            </a:lvl1pPr>
          </a:lstStyle>
          <a:p>
            <a:r>
              <a:rPr kumimoji="0" lang="zh-TW" altLang="en-US" smtClean="0"/>
              <a:t>按一下以編輯母片標題樣式</a:t>
            </a:r>
            <a:endParaRPr kumimoji="0" lang="en-US"/>
          </a:p>
        </p:txBody>
      </p:sp>
      <p:sp>
        <p:nvSpPr>
          <p:cNvPr id="3" name="文字版面配置區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smtClean="0"/>
              <a:t>按一下以編輯母片文字樣式</a:t>
            </a:r>
          </a:p>
        </p:txBody>
      </p:sp>
      <p:sp>
        <p:nvSpPr>
          <p:cNvPr id="4" name="文字版面配置區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smtClean="0"/>
              <a:t>按一下以編輯母片文字樣式</a:t>
            </a:r>
          </a:p>
        </p:txBody>
      </p:sp>
      <p:sp>
        <p:nvSpPr>
          <p:cNvPr id="7" name="日期版面配置區 6"/>
          <p:cNvSpPr>
            <a:spLocks noGrp="1"/>
          </p:cNvSpPr>
          <p:nvPr>
            <p:ph type="dt" sz="half" idx="10"/>
          </p:nvPr>
        </p:nvSpPr>
        <p:spPr/>
        <p:txBody>
          <a:bodyPr/>
          <a:lstStyle/>
          <a:p>
            <a:fld id="{1A4FEE71-FE49-4DCF-9E78-38627AFC6DED}" type="datetime1">
              <a:rPr lang="zh-TW" altLang="en-US" smtClean="0"/>
              <a:t>2013/9/10</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61A04B93-F247-42E5-95CE-B8478AD23DB7}" type="slidenum">
              <a:rPr lang="zh-TW" altLang="en-US" smtClean="0"/>
              <a:pPr/>
              <a:t>‹#›</a:t>
            </a:fld>
            <a:endParaRPr lang="zh-TW" altLang="en-US"/>
          </a:p>
        </p:txBody>
      </p:sp>
      <p:sp>
        <p:nvSpPr>
          <p:cNvPr id="11" name="內容版面配置區 10"/>
          <p:cNvSpPr>
            <a:spLocks noGrp="1"/>
          </p:cNvSpPr>
          <p:nvPr>
            <p:ph sz="quarter" idx="2"/>
          </p:nvPr>
        </p:nvSpPr>
        <p:spPr>
          <a:xfrm>
            <a:off x="457200" y="2133600"/>
            <a:ext cx="4038600" cy="403860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13" name="內容版面配置區 12"/>
          <p:cNvSpPr>
            <a:spLocks noGrp="1"/>
          </p:cNvSpPr>
          <p:nvPr>
            <p:ph sz="quarter" idx="4"/>
          </p:nvPr>
        </p:nvSpPr>
        <p:spPr>
          <a:xfrm>
            <a:off x="4648200" y="2133600"/>
            <a:ext cx="4038600" cy="403860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914400"/>
          </a:xfrm>
        </p:spPr>
        <p:txBody>
          <a:bodyPr/>
          <a:lstStyle/>
          <a:p>
            <a:r>
              <a:rPr kumimoji="0" lang="zh-TW" altLang="en-US" smtClean="0"/>
              <a:t>按一下以編輯母片標題樣式</a:t>
            </a:r>
            <a:endParaRPr kumimoji="0" lang="en-US"/>
          </a:p>
        </p:txBody>
      </p:sp>
      <p:sp>
        <p:nvSpPr>
          <p:cNvPr id="3" name="日期版面配置區 2"/>
          <p:cNvSpPr>
            <a:spLocks noGrp="1"/>
          </p:cNvSpPr>
          <p:nvPr>
            <p:ph type="dt" sz="half" idx="10"/>
          </p:nvPr>
        </p:nvSpPr>
        <p:spPr/>
        <p:txBody>
          <a:bodyPr/>
          <a:lstStyle/>
          <a:p>
            <a:fld id="{44D962A2-B103-4898-BBB5-D333F02BE617}" type="datetime1">
              <a:rPr lang="zh-TW" altLang="en-US" smtClean="0"/>
              <a:t>2013/9/10</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61A04B93-F247-42E5-95CE-B8478AD23DB7}" type="slidenum">
              <a:rPr lang="zh-TW" altLang="en-US" smtClean="0"/>
              <a:pPr/>
              <a:t>‹#›</a:t>
            </a:fld>
            <a:endParaRPr lang="zh-TW" altLang="en-US"/>
          </a:p>
        </p:txBody>
      </p:sp>
      <p:sp>
        <p:nvSpPr>
          <p:cNvPr id="6" name="等腰三角形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90CCF377-9D61-4CE8-977F-153D9D98F61C}" type="datetime1">
              <a:rPr lang="zh-TW" altLang="en-US" smtClean="0"/>
              <a:t>2013/9/10</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a:t>
            </a:fld>
            <a:endParaRPr lang="zh-TW" altLang="en-US"/>
          </a:p>
        </p:txBody>
      </p:sp>
      <p:sp>
        <p:nvSpPr>
          <p:cNvPr id="5" name="直線接點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等腰三角形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zh-TW" altLang="en-US" smtClean="0"/>
              <a:t>按一下以編輯母片標題樣式</a:t>
            </a:r>
            <a:endParaRPr kumimoji="0" lang="en-US"/>
          </a:p>
        </p:txBody>
      </p:sp>
      <p:sp>
        <p:nvSpPr>
          <p:cNvPr id="3" name="文字版面配置區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zh-TW" altLang="en-US" smtClean="0"/>
              <a:t>按一下以編輯母片文字樣式</a:t>
            </a:r>
          </a:p>
        </p:txBody>
      </p:sp>
      <p:sp>
        <p:nvSpPr>
          <p:cNvPr id="5" name="日期版面配置區 4"/>
          <p:cNvSpPr>
            <a:spLocks noGrp="1"/>
          </p:cNvSpPr>
          <p:nvPr>
            <p:ph type="dt" sz="half" idx="10"/>
          </p:nvPr>
        </p:nvSpPr>
        <p:spPr/>
        <p:txBody>
          <a:bodyPr/>
          <a:lstStyle/>
          <a:p>
            <a:fld id="{FB33425C-1288-4438-A115-02AA53B351A2}" type="datetime1">
              <a:rPr lang="zh-TW" altLang="en-US" smtClean="0"/>
              <a:t>2013/9/10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1A04B93-F247-42E5-95CE-B8478AD23DB7}" type="slidenum">
              <a:rPr lang="zh-TW" altLang="en-US" smtClean="0"/>
              <a:pPr/>
              <a:t>‹#›</a:t>
            </a:fld>
            <a:endParaRPr lang="zh-TW" altLang="en-US"/>
          </a:p>
        </p:txBody>
      </p:sp>
      <p:sp>
        <p:nvSpPr>
          <p:cNvPr id="8" name="直線接點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直線接點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等腰三角形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內容版面配置區 11"/>
          <p:cNvSpPr>
            <a:spLocks noGrp="1"/>
          </p:cNvSpPr>
          <p:nvPr>
            <p:ph sz="quarter" idx="1"/>
          </p:nvPr>
        </p:nvSpPr>
        <p:spPr>
          <a:xfrm>
            <a:off x="304800" y="304800"/>
            <a:ext cx="5715000" cy="571500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bg>
      <p:bgRef idx="1001">
        <a:schemeClr val="bg2"/>
      </p:bgRef>
    </p:bg>
    <p:spTree>
      <p:nvGrpSpPr>
        <p:cNvPr id="1" name=""/>
        <p:cNvGrpSpPr/>
        <p:nvPr/>
      </p:nvGrpSpPr>
      <p:grpSpPr>
        <a:xfrm>
          <a:off x="0" y="0"/>
          <a:ext cx="0" cy="0"/>
          <a:chOff x="0" y="0"/>
          <a:chExt cx="0" cy="0"/>
        </a:xfrm>
      </p:grpSpPr>
      <p:sp>
        <p:nvSpPr>
          <p:cNvPr id="2" name="標題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zh-TW" altLang="en-US" smtClean="0"/>
              <a:t>按一下以編輯母片標題樣式</a:t>
            </a:r>
            <a:endParaRPr kumimoji="0" lang="en-US"/>
          </a:p>
        </p:txBody>
      </p:sp>
      <p:sp>
        <p:nvSpPr>
          <p:cNvPr id="3" name="圖片版面配置區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zh-TW" altLang="en-US" smtClean="0"/>
              <a:t>按一下圖示以新增圖片</a:t>
            </a:r>
            <a:endParaRPr kumimoji="0" lang="en-US" dirty="0"/>
          </a:p>
        </p:txBody>
      </p:sp>
      <p:sp>
        <p:nvSpPr>
          <p:cNvPr id="4" name="文字版面配置區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zh-TW" altLang="en-US" smtClean="0"/>
              <a:t>按一下以編輯母片文字樣式</a:t>
            </a:r>
          </a:p>
        </p:txBody>
      </p:sp>
      <p:sp>
        <p:nvSpPr>
          <p:cNvPr id="5" name="日期版面配置區 4"/>
          <p:cNvSpPr>
            <a:spLocks noGrp="1"/>
          </p:cNvSpPr>
          <p:nvPr>
            <p:ph type="dt" sz="half" idx="10"/>
          </p:nvPr>
        </p:nvSpPr>
        <p:spPr/>
        <p:txBody>
          <a:bodyPr/>
          <a:lstStyle/>
          <a:p>
            <a:fld id="{68746BAC-89D3-436B-9B76-D8468DFF71A3}" type="datetime1">
              <a:rPr lang="zh-TW" altLang="en-US" smtClean="0"/>
              <a:t>2013/9/10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1A04B93-F247-42E5-95CE-B8478AD23DB7}" type="slidenum">
              <a:rPr lang="zh-TW" altLang="en-US" smtClean="0"/>
              <a:pPr/>
              <a:t>‹#›</a:t>
            </a:fld>
            <a:endParaRPr lang="zh-TW" altLang="en-US"/>
          </a:p>
        </p:txBody>
      </p:sp>
      <p:sp>
        <p:nvSpPr>
          <p:cNvPr id="8" name="直線接點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等腰三角形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smtClean="0"/>
              <a:t>按一下以編輯母片標題樣式</a:t>
            </a:r>
            <a:endParaRPr kumimoji="0" lang="en-US"/>
          </a:p>
        </p:txBody>
      </p:sp>
      <p:sp>
        <p:nvSpPr>
          <p:cNvPr id="3" name="直排文字版面配置區 2"/>
          <p:cNvSpPr>
            <a:spLocks noGrp="1"/>
          </p:cNvSpPr>
          <p:nvPr>
            <p:ph type="body" orient="vert" idx="1"/>
          </p:nvPr>
        </p:nvSpPr>
        <p:spPr/>
        <p:txBody>
          <a:bodyPr vert="eaVer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4" name="日期版面配置區 3"/>
          <p:cNvSpPr>
            <a:spLocks noGrp="1"/>
          </p:cNvSpPr>
          <p:nvPr>
            <p:ph type="dt" sz="half" idx="10"/>
          </p:nvPr>
        </p:nvSpPr>
        <p:spPr/>
        <p:txBody>
          <a:bodyPr/>
          <a:lstStyle/>
          <a:p>
            <a:fld id="{EA7770AA-0B0D-4308-9E09-CAB32DE61E84}" type="datetime1">
              <a:rPr lang="zh-TW" altLang="en-US" smtClean="0"/>
              <a:t>2013/9/10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1A04B93-F247-42E5-95CE-B8478AD23DB7}"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kumimoji="0" lang="zh-TW" altLang="en-US" smtClean="0"/>
              <a:t>按一下以編輯母片標題樣式</a:t>
            </a:r>
            <a:endParaRPr kumimoji="0" 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4" name="日期版面配置區 3"/>
          <p:cNvSpPr>
            <a:spLocks noGrp="1"/>
          </p:cNvSpPr>
          <p:nvPr>
            <p:ph type="dt" sz="half" idx="10"/>
          </p:nvPr>
        </p:nvSpPr>
        <p:spPr/>
        <p:txBody>
          <a:bodyPr/>
          <a:lstStyle/>
          <a:p>
            <a:fld id="{840A72BC-E4BD-4A2D-AF67-03DD2EFF4782}" type="datetime1">
              <a:rPr lang="zh-TW" altLang="en-US" smtClean="0"/>
              <a:t>2013/9/10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1A04B93-F247-42E5-95CE-B8478AD23DB7}" type="slidenum">
              <a:rPr lang="zh-TW" altLang="en-US" smtClean="0"/>
              <a:pPr/>
              <a:t>‹#›</a:t>
            </a:fld>
            <a:endParaRPr lang="zh-TW" altLang="en-US"/>
          </a:p>
        </p:txBody>
      </p:sp>
      <p:sp>
        <p:nvSpPr>
          <p:cNvPr id="7" name="直線接點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等腰三角形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直線接點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標題版面配置區 21"/>
          <p:cNvSpPr>
            <a:spLocks noGrp="1"/>
          </p:cNvSpPr>
          <p:nvPr>
            <p:ph type="title"/>
          </p:nvPr>
        </p:nvSpPr>
        <p:spPr>
          <a:xfrm>
            <a:off x="457200" y="152400"/>
            <a:ext cx="8229600" cy="990600"/>
          </a:xfrm>
          <a:prstGeom prst="rect">
            <a:avLst/>
          </a:prstGeom>
        </p:spPr>
        <p:txBody>
          <a:bodyPr vert="horz" anchor="b" anchorCtr="0">
            <a:normAutofit/>
          </a:bodyPr>
          <a:lstStyle/>
          <a:p>
            <a:r>
              <a:rPr kumimoji="0" lang="zh-TW" altLang="en-US" dirty="0" smtClean="0"/>
              <a:t>按一下以編輯母片標題樣式</a:t>
            </a:r>
            <a:endParaRPr kumimoji="0" lang="en-US" dirty="0"/>
          </a:p>
        </p:txBody>
      </p:sp>
      <p:sp>
        <p:nvSpPr>
          <p:cNvPr id="13" name="文字版面配置區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zh-TW" altLang="en-US" dirty="0" smtClean="0"/>
              <a:t>按一下以編輯母片文字樣式</a:t>
            </a:r>
          </a:p>
          <a:p>
            <a:pPr lvl="1" eaLnBrk="1" latinLnBrk="0" hangingPunct="1"/>
            <a:r>
              <a:rPr kumimoji="0" lang="zh-TW" altLang="en-US" dirty="0" smtClean="0"/>
              <a:t>第二層</a:t>
            </a:r>
          </a:p>
          <a:p>
            <a:pPr lvl="2" eaLnBrk="1" latinLnBrk="0" hangingPunct="1"/>
            <a:r>
              <a:rPr kumimoji="0" lang="zh-TW" altLang="en-US" dirty="0" smtClean="0"/>
              <a:t>第三層</a:t>
            </a:r>
          </a:p>
          <a:p>
            <a:pPr lvl="3" eaLnBrk="1" latinLnBrk="0" hangingPunct="1"/>
            <a:r>
              <a:rPr kumimoji="0" lang="zh-TW" altLang="en-US" dirty="0" smtClean="0"/>
              <a:t>第四層</a:t>
            </a:r>
          </a:p>
          <a:p>
            <a:pPr lvl="4" eaLnBrk="1" latinLnBrk="0" hangingPunct="1"/>
            <a:r>
              <a:rPr kumimoji="0" lang="zh-TW" altLang="en-US" dirty="0" smtClean="0"/>
              <a:t>第五層</a:t>
            </a:r>
            <a:endParaRPr kumimoji="0" lang="en-US" dirty="0"/>
          </a:p>
        </p:txBody>
      </p:sp>
      <p:sp>
        <p:nvSpPr>
          <p:cNvPr id="14" name="日期版面配置區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FBEFC06C-B002-4DC6-8DD0-F3B4A3AD2C10}" type="datetime1">
              <a:rPr lang="zh-TW" altLang="en-US" smtClean="0"/>
              <a:t>2013/9/10</a:t>
            </a:fld>
            <a:endParaRPr lang="zh-TW" altLang="en-US"/>
          </a:p>
        </p:txBody>
      </p:sp>
      <p:sp>
        <p:nvSpPr>
          <p:cNvPr id="3" name="頁尾版面配置區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zh-TW" altLang="en-US"/>
          </a:p>
        </p:txBody>
      </p:sp>
      <p:sp>
        <p:nvSpPr>
          <p:cNvPr id="23" name="投影片編號版面配置區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61A04B93-F247-42E5-95CE-B8478AD23DB7}" type="slidenum">
              <a:rPr lang="zh-TW" altLang="en-US" smtClean="0"/>
              <a:pPr/>
              <a:t>‹#›</a:t>
            </a:fld>
            <a:endParaRPr lang="zh-TW" altLang="en-US"/>
          </a:p>
        </p:txBody>
      </p:sp>
      <p:sp>
        <p:nvSpPr>
          <p:cNvPr id="28" name="直線接點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直線接點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等腰三角形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png"/><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34.png"/><Relationship Id="rId4" Type="http://schemas.openxmlformats.org/officeDocument/2006/relationships/image" Target="../media/image33.jpeg"/></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242392" y="1052736"/>
            <a:ext cx="6858000" cy="1944216"/>
          </a:xfrm>
        </p:spPr>
        <p:txBody>
          <a:bodyPr>
            <a:noAutofit/>
          </a:bodyPr>
          <a:lstStyle/>
          <a:p>
            <a:pPr algn="l"/>
            <a:r>
              <a:rPr lang="en-US" altLang="zh-TW" sz="2800" dirty="0" smtClean="0">
                <a:latin typeface="微軟正黑體" pitchFamily="34" charset="-120"/>
                <a:ea typeface="微軟正黑體" pitchFamily="34" charset="-120"/>
              </a:rPr>
              <a:t>Combining </a:t>
            </a:r>
            <a:r>
              <a:rPr lang="en-US" altLang="zh-TW" sz="2800" dirty="0">
                <a:latin typeface="微軟正黑體" pitchFamily="34" charset="-120"/>
                <a:ea typeface="微軟正黑體" pitchFamily="34" charset="-120"/>
              </a:rPr>
              <a:t>multiple clusterings using similarity graph</a:t>
            </a:r>
            <a:r>
              <a:rPr lang="en-US" altLang="zh-TW" dirty="0" smtClean="0">
                <a:latin typeface="微軟正黑體" pitchFamily="34" charset="-120"/>
                <a:ea typeface="微軟正黑體" pitchFamily="34" charset="-120"/>
              </a:rPr>
              <a:t/>
            </a:r>
            <a:br>
              <a:rPr lang="en-US" altLang="zh-TW" dirty="0" smtClean="0">
                <a:latin typeface="微軟正黑體" pitchFamily="34" charset="-120"/>
                <a:ea typeface="微軟正黑體" pitchFamily="34" charset="-120"/>
              </a:rPr>
            </a:br>
            <a:r>
              <a:rPr lang="en-US" altLang="zh-TW" dirty="0">
                <a:latin typeface="微軟正黑體" pitchFamily="34" charset="-120"/>
                <a:ea typeface="微軟正黑體" pitchFamily="34" charset="-120"/>
              </a:rPr>
              <a:t/>
            </a:r>
            <a:br>
              <a:rPr lang="en-US" altLang="zh-TW" dirty="0">
                <a:latin typeface="微軟正黑體" pitchFamily="34" charset="-120"/>
                <a:ea typeface="微軟正黑體" pitchFamily="34" charset="-120"/>
              </a:rPr>
            </a:br>
            <a:r>
              <a:rPr lang="en-US" altLang="zh-TW" sz="2000" b="0" dirty="0">
                <a:latin typeface="微軟正黑體" pitchFamily="34" charset="-120"/>
                <a:ea typeface="微軟正黑體" pitchFamily="34" charset="-120"/>
              </a:rPr>
              <a:t>Pattern </a:t>
            </a:r>
            <a:r>
              <a:rPr lang="en-US" altLang="zh-TW" sz="2000" b="0" dirty="0" smtClean="0">
                <a:latin typeface="微軟正黑體" pitchFamily="34" charset="-120"/>
                <a:ea typeface="微軟正黑體" pitchFamily="34" charset="-120"/>
              </a:rPr>
              <a:t>Recognition</a:t>
            </a:r>
            <a:br>
              <a:rPr lang="en-US" altLang="zh-TW" sz="2000" b="0" dirty="0" smtClean="0">
                <a:latin typeface="微軟正黑體" pitchFamily="34" charset="-120"/>
                <a:ea typeface="微軟正黑體" pitchFamily="34" charset="-120"/>
              </a:rPr>
            </a:br>
            <a:r>
              <a:rPr lang="en-US" altLang="zh-TW" sz="2000" b="0" dirty="0">
                <a:latin typeface="微軟正黑體" pitchFamily="34" charset="-120"/>
                <a:ea typeface="微軟正黑體" pitchFamily="34" charset="-120"/>
              </a:rPr>
              <a:t>	</a:t>
            </a:r>
            <a:r>
              <a:rPr lang="en-US" altLang="zh-TW" sz="2000" b="0" dirty="0" smtClean="0">
                <a:latin typeface="微軟正黑體" pitchFamily="34" charset="-120"/>
                <a:ea typeface="微軟正黑體" pitchFamily="34" charset="-120"/>
              </a:rPr>
              <a:t>vol.</a:t>
            </a:r>
            <a:r>
              <a:rPr lang="zh-TW" altLang="en-US" sz="2000" b="0" dirty="0" smtClean="0">
                <a:latin typeface="微軟正黑體" pitchFamily="34" charset="-120"/>
                <a:ea typeface="微軟正黑體" pitchFamily="34" charset="-120"/>
              </a:rPr>
              <a:t> </a:t>
            </a:r>
            <a:r>
              <a:rPr lang="en-US" altLang="zh-TW" sz="2000" b="0" dirty="0" smtClean="0">
                <a:latin typeface="微軟正黑體" pitchFamily="34" charset="-120"/>
                <a:ea typeface="微軟正黑體" pitchFamily="34" charset="-120"/>
              </a:rPr>
              <a:t>44 pp.694–703</a:t>
            </a:r>
            <a:r>
              <a:rPr lang="zh-TW" altLang="en-US" sz="2000" b="0" dirty="0" smtClean="0">
                <a:latin typeface="微軟正黑體" pitchFamily="34" charset="-120"/>
                <a:ea typeface="微軟正黑體" pitchFamily="34" charset="-120"/>
              </a:rPr>
              <a:t> </a:t>
            </a:r>
            <a:r>
              <a:rPr lang="en-US" altLang="zh-TW" sz="2000" b="0" dirty="0" smtClean="0">
                <a:latin typeface="微軟正黑體" pitchFamily="34" charset="-120"/>
                <a:ea typeface="微軟正黑體" pitchFamily="34" charset="-120"/>
              </a:rPr>
              <a:t>(2011</a:t>
            </a:r>
            <a:r>
              <a:rPr lang="en-US" altLang="zh-TW" sz="2000" b="0" dirty="0">
                <a:latin typeface="微軟正黑體" pitchFamily="34" charset="-120"/>
                <a:ea typeface="微軟正黑體" pitchFamily="34" charset="-120"/>
              </a:rPr>
              <a:t>) </a:t>
            </a:r>
            <a:endParaRPr lang="zh-TW" altLang="en-US" sz="2000" dirty="0">
              <a:latin typeface="微軟正黑體" pitchFamily="34" charset="-120"/>
              <a:ea typeface="微軟正黑體" pitchFamily="34" charset="-120"/>
            </a:endParaRPr>
          </a:p>
        </p:txBody>
      </p:sp>
      <p:sp>
        <p:nvSpPr>
          <p:cNvPr id="3" name="副標題 2"/>
          <p:cNvSpPr>
            <a:spLocks noGrp="1"/>
          </p:cNvSpPr>
          <p:nvPr>
            <p:ph type="subTitle" idx="1"/>
          </p:nvPr>
        </p:nvSpPr>
        <p:spPr>
          <a:xfrm>
            <a:off x="1219200" y="3228979"/>
            <a:ext cx="6858000" cy="2144237"/>
          </a:xfrm>
        </p:spPr>
        <p:txBody>
          <a:bodyPr>
            <a:noAutofit/>
          </a:bodyPr>
          <a:lstStyle/>
          <a:p>
            <a:pPr algn="l"/>
            <a:r>
              <a:rPr lang="en-US" altLang="zh-TW" sz="1800" dirty="0" err="1" smtClean="0">
                <a:latin typeface="微軟正黑體" pitchFamily="34" charset="-120"/>
                <a:ea typeface="微軟正黑體" pitchFamily="34" charset="-120"/>
              </a:rPr>
              <a:t>Selim</a:t>
            </a:r>
            <a:r>
              <a:rPr lang="en-US" altLang="zh-TW" sz="1800" dirty="0" smtClean="0">
                <a:latin typeface="微軟正黑體" pitchFamily="34" charset="-120"/>
                <a:ea typeface="微軟正黑體" pitchFamily="34" charset="-120"/>
              </a:rPr>
              <a:t> </a:t>
            </a:r>
            <a:r>
              <a:rPr lang="en-US" altLang="zh-TW" sz="1800" dirty="0" err="1">
                <a:latin typeface="微軟正黑體" pitchFamily="34" charset="-120"/>
                <a:ea typeface="微軟正黑體" pitchFamily="34" charset="-120"/>
              </a:rPr>
              <a:t>Mimaroglu</a:t>
            </a:r>
            <a:r>
              <a:rPr lang="en-US" altLang="zh-TW" sz="1800" dirty="0">
                <a:latin typeface="微軟正黑體" pitchFamily="34" charset="-120"/>
                <a:ea typeface="微軟正黑體" pitchFamily="34" charset="-120"/>
              </a:rPr>
              <a:t>, </a:t>
            </a:r>
            <a:r>
              <a:rPr lang="en-US" altLang="zh-TW" sz="1800" dirty="0" err="1" smtClean="0">
                <a:latin typeface="微軟正黑體" pitchFamily="34" charset="-120"/>
                <a:ea typeface="微軟正黑體" pitchFamily="34" charset="-120"/>
              </a:rPr>
              <a:t>Ertunc</a:t>
            </a:r>
            <a:r>
              <a:rPr lang="en-US" altLang="zh-TW" sz="1800" dirty="0" smtClean="0">
                <a:latin typeface="微軟正黑體" pitchFamily="34" charset="-120"/>
                <a:ea typeface="微軟正黑體" pitchFamily="34" charset="-120"/>
              </a:rPr>
              <a:t> </a:t>
            </a:r>
            <a:r>
              <a:rPr lang="en-US" altLang="zh-TW" sz="1800" dirty="0" err="1">
                <a:latin typeface="微軟正黑體" pitchFamily="34" charset="-120"/>
                <a:ea typeface="微軟正黑體" pitchFamily="34" charset="-120"/>
              </a:rPr>
              <a:t>Erdil</a:t>
            </a:r>
            <a:endParaRPr lang="en-US" altLang="zh-TW" sz="1800" dirty="0" smtClean="0">
              <a:latin typeface="微軟正黑體" pitchFamily="34" charset="-120"/>
              <a:ea typeface="微軟正黑體" pitchFamily="34" charset="-120"/>
            </a:endParaRPr>
          </a:p>
          <a:p>
            <a:pPr algn="l"/>
            <a:r>
              <a:rPr lang="en-US" altLang="zh-TW" sz="1800" dirty="0"/>
              <a:t>Department of Computer Engineering, </a:t>
            </a:r>
            <a:r>
              <a:rPr lang="en-US" altLang="zh-TW" sz="1800" dirty="0" err="1"/>
              <a:t>Bahcesehir</a:t>
            </a:r>
            <a:r>
              <a:rPr lang="en-US" altLang="zh-TW" sz="1800" dirty="0"/>
              <a:t> University, </a:t>
            </a:r>
            <a:r>
              <a:rPr lang="en-US" altLang="zh-TW" sz="1800" dirty="0" err="1"/>
              <a:t>Ciragan</a:t>
            </a:r>
            <a:r>
              <a:rPr lang="en-US" altLang="zh-TW" sz="1800" dirty="0"/>
              <a:t> </a:t>
            </a:r>
            <a:r>
              <a:rPr lang="en-US" altLang="zh-TW" sz="1800" dirty="0" err="1"/>
              <a:t>Caddesi</a:t>
            </a:r>
            <a:r>
              <a:rPr lang="en-US" altLang="zh-TW" sz="1800" dirty="0"/>
              <a:t>, 34353 </a:t>
            </a:r>
            <a:r>
              <a:rPr lang="en-US" altLang="zh-TW" sz="1800" dirty="0" err="1"/>
              <a:t>Besiktas</a:t>
            </a:r>
            <a:r>
              <a:rPr lang="en-US" altLang="zh-TW" sz="1800" dirty="0"/>
              <a:t>, Istanbul, Turkey</a:t>
            </a:r>
            <a:endParaRPr lang="en-US" altLang="zh-TW" sz="1800" dirty="0">
              <a:latin typeface="微軟正黑體" pitchFamily="34" charset="-120"/>
              <a:ea typeface="微軟正黑體" pitchFamily="34" charset="-120"/>
            </a:endParaRPr>
          </a:p>
        </p:txBody>
      </p:sp>
      <p:sp>
        <p:nvSpPr>
          <p:cNvPr id="5" name="日期版面配置區 4"/>
          <p:cNvSpPr>
            <a:spLocks noGrp="1"/>
          </p:cNvSpPr>
          <p:nvPr>
            <p:ph type="dt" sz="half" idx="10"/>
          </p:nvPr>
        </p:nvSpPr>
        <p:spPr/>
        <p:txBody>
          <a:bodyPr/>
          <a:lstStyle/>
          <a:p>
            <a:fld id="{F1825004-D095-4200-9BDF-2D1E2E1C9151}" type="datetime1">
              <a:rPr lang="zh-TW" altLang="en-US" smtClean="0"/>
              <a:t>2013/9/10</a:t>
            </a:fld>
            <a:endParaRPr lang="zh-TW" altLang="en-US" dirty="0"/>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1</a:t>
            </a:fld>
            <a:endParaRPr lang="zh-TW" altLang="en-US" dirty="0"/>
          </a:p>
        </p:txBody>
      </p:sp>
      <p:sp>
        <p:nvSpPr>
          <p:cNvPr id="6" name="副標題 2"/>
          <p:cNvSpPr txBox="1">
            <a:spLocks/>
          </p:cNvSpPr>
          <p:nvPr/>
        </p:nvSpPr>
        <p:spPr>
          <a:xfrm>
            <a:off x="1259632" y="5649613"/>
            <a:ext cx="6817568" cy="413196"/>
          </a:xfrm>
          <a:prstGeom prst="rect">
            <a:avLst/>
          </a:prstGeom>
        </p:spPr>
        <p:txBody>
          <a:bodyPr vert="horz">
            <a:noAutofit/>
          </a:bodyPr>
          <a:lstStyle>
            <a:lvl1pPr marL="0" indent="0" algn="r" rtl="0" eaLnBrk="1" latinLnBrk="0" hangingPunct="1">
              <a:spcBef>
                <a:spcPts val="600"/>
              </a:spcBef>
              <a:buClr>
                <a:schemeClr val="accent1"/>
              </a:buClr>
              <a:buSzPct val="76000"/>
              <a:buFont typeface="Wingdings 3"/>
              <a:buNone/>
              <a:defRPr kumimoji="0" sz="2000" kern="1200">
                <a:solidFill>
                  <a:schemeClr val="tx2"/>
                </a:solidFill>
                <a:latin typeface="+mj-lt"/>
                <a:ea typeface="+mj-ea"/>
                <a:cs typeface="+mj-cs"/>
              </a:defRPr>
            </a:lvl1pPr>
            <a:lvl2pPr marL="457200" indent="0" algn="ctr" rtl="0" eaLnBrk="1" latinLnBrk="0" hangingPunct="1">
              <a:spcBef>
                <a:spcPts val="500"/>
              </a:spcBef>
              <a:buClr>
                <a:schemeClr val="accent2"/>
              </a:buClr>
              <a:buSzPct val="76000"/>
              <a:buFont typeface="Wingdings 3"/>
              <a:buNone/>
              <a:defRPr kumimoji="0" sz="2300" kern="1200">
                <a:solidFill>
                  <a:schemeClr val="tx2"/>
                </a:solidFill>
                <a:latin typeface="+mn-lt"/>
                <a:ea typeface="+mn-ea"/>
                <a:cs typeface="+mn-cs"/>
              </a:defRPr>
            </a:lvl2pPr>
            <a:lvl3pPr marL="914400" indent="0" algn="ctr" rtl="0" eaLnBrk="1" latinLnBrk="0" hangingPunct="1">
              <a:spcBef>
                <a:spcPts val="500"/>
              </a:spcBef>
              <a:buClr>
                <a:schemeClr val="bg1">
                  <a:shade val="50000"/>
                </a:schemeClr>
              </a:buClr>
              <a:buSzPct val="76000"/>
              <a:buFont typeface="Wingdings 3"/>
              <a:buNone/>
              <a:defRPr kumimoji="0" sz="2000" kern="1200">
                <a:solidFill>
                  <a:schemeClr val="tx1"/>
                </a:solidFill>
                <a:latin typeface="+mn-lt"/>
                <a:ea typeface="+mn-ea"/>
                <a:cs typeface="+mn-cs"/>
              </a:defRPr>
            </a:lvl3pPr>
            <a:lvl4pPr marL="1371600" indent="0" algn="ctr" rtl="0" eaLnBrk="1" latinLnBrk="0" hangingPunct="1">
              <a:spcBef>
                <a:spcPts val="400"/>
              </a:spcBef>
              <a:buClr>
                <a:schemeClr val="accent2">
                  <a:shade val="75000"/>
                </a:schemeClr>
              </a:buClr>
              <a:buSzPct val="70000"/>
              <a:buFont typeface="Wingdings"/>
              <a:buNone/>
              <a:defRPr kumimoji="0" sz="1800" kern="1200">
                <a:solidFill>
                  <a:schemeClr val="tx1"/>
                </a:solidFill>
                <a:latin typeface="+mn-lt"/>
                <a:ea typeface="+mn-ea"/>
                <a:cs typeface="+mn-cs"/>
              </a:defRPr>
            </a:lvl4pPr>
            <a:lvl5pPr marL="1828800" indent="0" algn="ctr" rtl="0" eaLnBrk="1" latinLnBrk="0" hangingPunct="1">
              <a:spcBef>
                <a:spcPts val="300"/>
              </a:spcBef>
              <a:buClr>
                <a:schemeClr val="accent2"/>
              </a:buClr>
              <a:buSzPct val="70000"/>
              <a:buFont typeface="Wingdings"/>
              <a:buNone/>
              <a:defRPr kumimoji="0" sz="1600" kern="1200">
                <a:solidFill>
                  <a:schemeClr val="tx1"/>
                </a:solidFill>
                <a:latin typeface="+mn-lt"/>
                <a:ea typeface="+mn-ea"/>
                <a:cs typeface="+mn-cs"/>
              </a:defRPr>
            </a:lvl5pPr>
            <a:lvl6pPr marL="2286000" indent="0" algn="ctr" rtl="0" eaLnBrk="1" latinLnBrk="0" hangingPunct="1">
              <a:spcBef>
                <a:spcPts val="300"/>
              </a:spcBef>
              <a:buClr>
                <a:srgbClr val="9FB8CD">
                  <a:shade val="75000"/>
                </a:srgbClr>
              </a:buClr>
              <a:buSzPct val="75000"/>
              <a:buFont typeface="Wingdings 3"/>
              <a:buNone/>
              <a:defRPr kumimoji="0" lang="en-US" sz="1600" kern="1200" smtClean="0">
                <a:solidFill>
                  <a:schemeClr val="tx1"/>
                </a:solidFill>
                <a:latin typeface="+mn-lt"/>
                <a:ea typeface="+mn-ea"/>
                <a:cs typeface="+mn-cs"/>
              </a:defRPr>
            </a:lvl6pPr>
            <a:lvl7pPr marL="2743200" indent="0" algn="ctr" rtl="0" eaLnBrk="1" latinLnBrk="0" hangingPunct="1">
              <a:spcBef>
                <a:spcPts val="300"/>
              </a:spcBef>
              <a:buClr>
                <a:srgbClr val="727CA3">
                  <a:shade val="75000"/>
                </a:srgbClr>
              </a:buClr>
              <a:buSzPct val="75000"/>
              <a:buFont typeface="Wingdings 3"/>
              <a:buNone/>
              <a:defRPr kumimoji="0" lang="en-US" sz="1400" kern="1200" smtClean="0">
                <a:solidFill>
                  <a:schemeClr val="tx1"/>
                </a:solidFill>
                <a:latin typeface="+mn-lt"/>
                <a:ea typeface="+mn-ea"/>
                <a:cs typeface="+mn-cs"/>
              </a:defRPr>
            </a:lvl7pPr>
            <a:lvl8pPr marL="3200400" indent="0" algn="ctr" rtl="0" eaLnBrk="1" latinLnBrk="0" hangingPunct="1">
              <a:spcBef>
                <a:spcPts val="300"/>
              </a:spcBef>
              <a:buClr>
                <a:prstClr val="white">
                  <a:shade val="50000"/>
                </a:prstClr>
              </a:buClr>
              <a:buSzPct val="75000"/>
              <a:buFont typeface="Wingdings 3"/>
              <a:buNone/>
              <a:defRPr kumimoji="0" lang="en-US" sz="1400" kern="1200" smtClean="0">
                <a:solidFill>
                  <a:schemeClr val="tx1"/>
                </a:solidFill>
                <a:latin typeface="+mn-lt"/>
                <a:ea typeface="+mn-ea"/>
                <a:cs typeface="+mn-cs"/>
              </a:defRPr>
            </a:lvl8pPr>
            <a:lvl9pPr marL="3657600" indent="0" algn="ctr" rtl="0" eaLnBrk="1" latinLnBrk="0" hangingPunct="1">
              <a:spcBef>
                <a:spcPts val="300"/>
              </a:spcBef>
              <a:buClr>
                <a:srgbClr val="9FB8CD"/>
              </a:buClr>
              <a:buSzPct val="75000"/>
              <a:buFont typeface="Wingdings 3"/>
              <a:buNone/>
              <a:defRPr kumimoji="0" lang="en-US" sz="1200" kern="1200" smtClean="0">
                <a:solidFill>
                  <a:schemeClr val="tx1"/>
                </a:solidFill>
                <a:latin typeface="+mn-lt"/>
                <a:ea typeface="+mn-ea"/>
                <a:cs typeface="+mn-cs"/>
              </a:defRPr>
            </a:lvl9pPr>
          </a:lstStyle>
          <a:p>
            <a:pPr algn="l"/>
            <a:r>
              <a:rPr lang="en-US" altLang="zh-TW" sz="2400" dirty="0" smtClean="0">
                <a:solidFill>
                  <a:schemeClr val="tx1"/>
                </a:solidFill>
              </a:rPr>
              <a:t>Presentor</a:t>
            </a:r>
            <a:r>
              <a:rPr lang="zh-TW" altLang="en-US" sz="2400" dirty="0" smtClean="0">
                <a:solidFill>
                  <a:schemeClr val="tx1"/>
                </a:solidFill>
              </a:rPr>
              <a:t>：</a:t>
            </a:r>
            <a:r>
              <a:rPr lang="en-US" altLang="zh-TW" sz="2400" dirty="0" smtClean="0">
                <a:solidFill>
                  <a:schemeClr val="tx1"/>
                </a:solidFill>
              </a:rPr>
              <a:t>Hsin-Chuan Yuan</a:t>
            </a:r>
            <a:endParaRPr lang="zh-TW" altLang="en-US" sz="2400" dirty="0">
              <a:solidFill>
                <a:schemeClr val="tx1"/>
              </a:solidFill>
            </a:endParaRPr>
          </a:p>
        </p:txBody>
      </p:sp>
    </p:spTree>
    <p:extLst>
      <p:ext uri="{BB962C8B-B14F-4D97-AF65-F5344CB8AC3E}">
        <p14:creationId xmlns:p14="http://schemas.microsoft.com/office/powerpoint/2010/main" xmlns="" val="1663136472"/>
      </p:ext>
    </p:extLst>
  </p:cSld>
  <p:clrMapOvr>
    <a:masterClrMapping/>
  </p:clrMapOvr>
  <p:transition>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微軟正黑體" pitchFamily="34" charset="-120"/>
                <a:ea typeface="微軟正黑體" pitchFamily="34" charset="-120"/>
              </a:rPr>
              <a:t>Abstract</a:t>
            </a:r>
            <a:endParaRPr lang="zh-TW" altLang="en-US" dirty="0">
              <a:latin typeface="微軟正黑體" pitchFamily="34" charset="-120"/>
              <a:ea typeface="微軟正黑體" pitchFamily="34" charset="-120"/>
            </a:endParaRPr>
          </a:p>
        </p:txBody>
      </p:sp>
      <p:sp>
        <p:nvSpPr>
          <p:cNvPr id="3" name="日期版面配置區 2"/>
          <p:cNvSpPr>
            <a:spLocks noGrp="1"/>
          </p:cNvSpPr>
          <p:nvPr>
            <p:ph type="dt" sz="half" idx="10"/>
          </p:nvPr>
        </p:nvSpPr>
        <p:spPr/>
        <p:txBody>
          <a:bodyPr/>
          <a:lstStyle/>
          <a:p>
            <a:fld id="{82F6E4FF-D2A6-48BB-8F21-DE142FE102E1}" type="datetime1">
              <a:rPr lang="zh-TW" altLang="en-US" smtClean="0"/>
              <a:t>2013/9/10</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2</a:t>
            </a:fld>
            <a:endParaRPr lang="zh-TW" altLang="en-US"/>
          </a:p>
        </p:txBody>
      </p:sp>
      <p:sp>
        <p:nvSpPr>
          <p:cNvPr id="5" name="內容版面配置區 4"/>
          <p:cNvSpPr>
            <a:spLocks noGrp="1"/>
          </p:cNvSpPr>
          <p:nvPr>
            <p:ph sz="quarter" idx="1"/>
          </p:nvPr>
        </p:nvSpPr>
        <p:spPr/>
        <p:txBody>
          <a:bodyPr>
            <a:noAutofit/>
          </a:bodyPr>
          <a:lstStyle/>
          <a:p>
            <a:r>
              <a:rPr lang="en-US" altLang="zh-TW" sz="2400" dirty="0"/>
              <a:t>Multiple clusterings are produced for various needs and reasons in both distributed and local environments. Combining multiple </a:t>
            </a:r>
            <a:r>
              <a:rPr lang="en-US" altLang="zh-TW" sz="2400" dirty="0" err="1"/>
              <a:t>clusterings</a:t>
            </a:r>
            <a:r>
              <a:rPr lang="en-US" altLang="zh-TW" sz="2400" dirty="0"/>
              <a:t> into a final clustering which has better overall quality has gained importance recently. It is also expected that the final clustering is novel, robust, and scalable. In order to solve this challenging problem we introduce a new graph-based method.  </a:t>
            </a:r>
            <a:endParaRPr lang="zh-TW" altLang="en-US" sz="2400" dirty="0">
              <a:latin typeface="微軟正黑體" pitchFamily="34" charset="-120"/>
              <a:ea typeface="微軟正黑體" pitchFamily="34" charset="-120"/>
              <a:cs typeface="Arial" pitchFamily="34" charset="0"/>
            </a:endParaRPr>
          </a:p>
        </p:txBody>
      </p:sp>
    </p:spTree>
    <p:extLst>
      <p:ext uri="{BB962C8B-B14F-4D97-AF65-F5344CB8AC3E}">
        <p14:creationId xmlns:p14="http://schemas.microsoft.com/office/powerpoint/2010/main" xmlns="" val="720821653"/>
      </p:ext>
    </p:extLst>
  </p:cSld>
  <p:clrMapOvr>
    <a:masterClrMapping/>
  </p:clrMapOvr>
  <p:transition>
    <p:cu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微軟正黑體" pitchFamily="34" charset="-120"/>
                <a:ea typeface="微軟正黑體" pitchFamily="34" charset="-120"/>
              </a:rPr>
              <a:t>Abstract</a:t>
            </a:r>
            <a:endParaRPr lang="zh-TW" altLang="en-US" dirty="0">
              <a:latin typeface="微軟正黑體" pitchFamily="34" charset="-120"/>
              <a:ea typeface="微軟正黑體" pitchFamily="34" charset="-120"/>
            </a:endParaRPr>
          </a:p>
        </p:txBody>
      </p:sp>
      <p:sp>
        <p:nvSpPr>
          <p:cNvPr id="3" name="日期版面配置區 2"/>
          <p:cNvSpPr>
            <a:spLocks noGrp="1"/>
          </p:cNvSpPr>
          <p:nvPr>
            <p:ph type="dt" sz="half" idx="10"/>
          </p:nvPr>
        </p:nvSpPr>
        <p:spPr/>
        <p:txBody>
          <a:bodyPr/>
          <a:lstStyle/>
          <a:p>
            <a:fld id="{4BA8754E-81F4-4AFF-A946-EC1A4E6CFA0F}" type="datetime1">
              <a:rPr lang="zh-TW" altLang="en-US" smtClean="0"/>
              <a:t>2013/9/10</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3</a:t>
            </a:fld>
            <a:endParaRPr lang="zh-TW" altLang="en-US"/>
          </a:p>
        </p:txBody>
      </p:sp>
      <p:sp>
        <p:nvSpPr>
          <p:cNvPr id="5" name="內容版面配置區 4"/>
          <p:cNvSpPr>
            <a:spLocks noGrp="1"/>
          </p:cNvSpPr>
          <p:nvPr>
            <p:ph sz="quarter" idx="1"/>
          </p:nvPr>
        </p:nvSpPr>
        <p:spPr/>
        <p:txBody>
          <a:bodyPr>
            <a:noAutofit/>
          </a:bodyPr>
          <a:lstStyle/>
          <a:p>
            <a:pPr fontAlgn="base"/>
            <a:r>
              <a:rPr lang="en-US" altLang="zh-TW" sz="2400" dirty="0"/>
              <a:t>Our method uses the evidence accumulated in the previously obtained </a:t>
            </a:r>
            <a:r>
              <a:rPr lang="en-US" altLang="zh-TW" sz="2400" dirty="0" err="1"/>
              <a:t>clusterings</a:t>
            </a:r>
            <a:r>
              <a:rPr lang="en-US" altLang="zh-TW" sz="2400" dirty="0"/>
              <a:t>, and produces a very good quality final clustering. The number of clusters in the final clustering is obtained automatically; this is another important advantage of our technique. Experimental test results on real and synthetically generated data sets demonstrate the effectiveness of our new method. </a:t>
            </a:r>
            <a:endParaRPr lang="zh-TW" altLang="en-US" sz="2400" dirty="0">
              <a:cs typeface="Arial" pitchFamily="34" charset="0"/>
            </a:endParaRPr>
          </a:p>
          <a:p>
            <a:pPr marL="0" indent="0" fontAlgn="base">
              <a:buNone/>
            </a:pPr>
            <a:r>
              <a:rPr lang="en-US" altLang="zh-TW" sz="2400" dirty="0"/>
              <a:t/>
            </a:r>
            <a:br>
              <a:rPr lang="en-US" altLang="zh-TW" sz="2400" dirty="0"/>
            </a:br>
            <a:endParaRPr lang="zh-TW" altLang="en-US" sz="2400" dirty="0">
              <a:latin typeface="微軟正黑體" pitchFamily="34" charset="-120"/>
              <a:ea typeface="微軟正黑體" pitchFamily="34" charset="-120"/>
              <a:cs typeface="Arial" pitchFamily="34" charset="0"/>
            </a:endParaRPr>
          </a:p>
        </p:txBody>
      </p:sp>
    </p:spTree>
    <p:extLst>
      <p:ext uri="{BB962C8B-B14F-4D97-AF65-F5344CB8AC3E}">
        <p14:creationId xmlns:p14="http://schemas.microsoft.com/office/powerpoint/2010/main" xmlns="" val="2735257726"/>
      </p:ext>
    </p:extLst>
  </p:cSld>
  <p:clrMapOvr>
    <a:masterClrMapping/>
  </p:clrMapOvr>
  <p:transition>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Combining multiple </a:t>
            </a:r>
            <a:r>
              <a:rPr lang="en-US" altLang="zh-TW" dirty="0" smtClean="0"/>
              <a:t>clusterings </a:t>
            </a:r>
            <a:endParaRPr lang="zh-TW" altLang="en-US" dirty="0"/>
          </a:p>
        </p:txBody>
      </p:sp>
      <p:sp>
        <p:nvSpPr>
          <p:cNvPr id="3" name="日期版面配置區 2"/>
          <p:cNvSpPr>
            <a:spLocks noGrp="1"/>
          </p:cNvSpPr>
          <p:nvPr>
            <p:ph type="dt" sz="half" idx="10"/>
          </p:nvPr>
        </p:nvSpPr>
        <p:spPr/>
        <p:txBody>
          <a:bodyPr/>
          <a:lstStyle/>
          <a:p>
            <a:fld id="{CF172039-55CB-4A9D-B84C-3F15ABCDDDB3}" type="datetime1">
              <a:rPr lang="zh-TW" altLang="en-US" smtClean="0"/>
              <a:t>2013/9/10</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4</a:t>
            </a:fld>
            <a:endParaRPr lang="zh-TW" altLang="en-US"/>
          </a:p>
        </p:txBody>
      </p:sp>
      <p:sp>
        <p:nvSpPr>
          <p:cNvPr id="5" name="內容版面配置區 4"/>
          <p:cNvSpPr>
            <a:spLocks noGrp="1"/>
          </p:cNvSpPr>
          <p:nvPr>
            <p:ph sz="quarter" idx="1"/>
          </p:nvPr>
        </p:nvSpPr>
        <p:spPr/>
        <p:txBody>
          <a:bodyPr/>
          <a:lstStyle/>
          <a:p>
            <a:endParaRPr lang="zh-TW" altLang="en-US" dirty="0"/>
          </a:p>
        </p:txBody>
      </p:sp>
      <p:pic>
        <p:nvPicPr>
          <p:cNvPr id="2050" name="Picture 2" descr="http://www.sciencedirect.com/cache/MiamiImageURL/1-s2.0-S0031320310004486-gr1_lrg.jpg/0?wchp=dGLzVBA-zSkWz&amp;pii=S0031320310004486"/>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036637" y="1853490"/>
            <a:ext cx="7070725" cy="366918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80158508"/>
      </p:ext>
    </p:extLst>
  </p:cSld>
  <p:clrMapOvr>
    <a:masterClrMapping/>
  </p:clrMapOvr>
  <p:transition>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dirty="0" smtClean="0"/>
              <a:t>Example</a:t>
            </a:r>
            <a:endParaRPr lang="zh-TW" altLang="en-US" dirty="0"/>
          </a:p>
        </p:txBody>
      </p:sp>
      <p:sp>
        <p:nvSpPr>
          <p:cNvPr id="3" name="日期版面配置區 2"/>
          <p:cNvSpPr>
            <a:spLocks noGrp="1"/>
          </p:cNvSpPr>
          <p:nvPr>
            <p:ph type="dt" sz="half" idx="10"/>
          </p:nvPr>
        </p:nvSpPr>
        <p:spPr/>
        <p:txBody>
          <a:bodyPr/>
          <a:lstStyle/>
          <a:p>
            <a:fld id="{8ECB41BC-4E9E-4953-B319-65FFE74D0712}" type="datetime1">
              <a:rPr lang="zh-TW" altLang="en-US" smtClean="0"/>
              <a:t>2013/9/10</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5</a:t>
            </a:fld>
            <a:endParaRPr lang="zh-TW" altLang="en-US"/>
          </a:p>
        </p:txBody>
      </p:sp>
      <p:sp>
        <p:nvSpPr>
          <p:cNvPr id="5" name="內容版面配置區 4"/>
          <p:cNvSpPr>
            <a:spLocks noGrp="1"/>
          </p:cNvSpPr>
          <p:nvPr>
            <p:ph sz="quarter" idx="1"/>
          </p:nvPr>
        </p:nvSpPr>
        <p:spPr>
          <a:xfrm>
            <a:off x="457200" y="1219200"/>
            <a:ext cx="8435280" cy="4937760"/>
          </a:xfrm>
        </p:spPr>
        <p:txBody>
          <a:bodyPr>
            <a:normAutofit/>
          </a:bodyPr>
          <a:lstStyle/>
          <a:p>
            <a:r>
              <a:rPr lang="en-US" altLang="zh-TW" sz="2800" dirty="0"/>
              <a:t>Binary </a:t>
            </a:r>
            <a:r>
              <a:rPr lang="en-US" altLang="zh-TW" sz="2800" dirty="0" smtClean="0"/>
              <a:t>representation of multiple clusterings, </a:t>
            </a:r>
            <a:r>
              <a:rPr lang="el-GR" altLang="zh-TW" sz="2800" i="1" dirty="0" smtClean="0">
                <a:latin typeface="新細明體" panose="02020500000000000000" pitchFamily="18" charset="-120"/>
                <a:ea typeface="新細明體" panose="02020500000000000000" pitchFamily="18" charset="-120"/>
              </a:rPr>
              <a:t>Π</a:t>
            </a:r>
            <a:r>
              <a:rPr lang="en-US" altLang="zh-TW" sz="2800" dirty="0" smtClean="0"/>
              <a:t> </a:t>
            </a:r>
            <a:endParaRPr lang="en-US" altLang="zh-TW" sz="2800" dirty="0">
              <a:solidFill>
                <a:schemeClr val="tx2"/>
              </a:solidFill>
            </a:endParaRPr>
          </a:p>
        </p:txBody>
      </p:sp>
      <p:pic>
        <p:nvPicPr>
          <p:cNvPr id="3076" name="Picture 4" descr="http://www.sciencedirect.com/cache/MiamiImageURL/1-s2.0-S0031320310004486-gr2_lrg.jpg/0?wchp=dGLbVlt-zSkWb&amp;pii=S0031320310004486"/>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922990" y="1888080"/>
            <a:ext cx="7298019" cy="36000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239816414"/>
      </p:ext>
    </p:extLst>
  </p:cSld>
  <p:clrMapOvr>
    <a:masterClrMapping/>
  </p:clrMapOvr>
  <p:transition>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dirty="0" smtClean="0"/>
              <a:t>Example</a:t>
            </a:r>
            <a:endParaRPr lang="zh-TW" altLang="en-US" dirty="0"/>
          </a:p>
        </p:txBody>
      </p:sp>
      <p:sp>
        <p:nvSpPr>
          <p:cNvPr id="3" name="日期版面配置區 2"/>
          <p:cNvSpPr>
            <a:spLocks noGrp="1"/>
          </p:cNvSpPr>
          <p:nvPr>
            <p:ph type="dt" sz="half" idx="10"/>
          </p:nvPr>
        </p:nvSpPr>
        <p:spPr/>
        <p:txBody>
          <a:bodyPr/>
          <a:lstStyle/>
          <a:p>
            <a:fld id="{072F9836-4B9D-4E3C-919A-ED7E23004FD4}" type="datetime1">
              <a:rPr lang="zh-TW" altLang="en-US" smtClean="0"/>
              <a:t>2013/9/10</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6</a:t>
            </a:fld>
            <a:endParaRPr lang="zh-TW" altLang="en-US"/>
          </a:p>
        </p:txBody>
      </p:sp>
      <mc:AlternateContent xmlns:mc="http://schemas.openxmlformats.org/markup-compatibility/2006">
        <mc:Choice xmlns:a14="http://schemas.microsoft.com/office/drawing/2010/main" xmlns="" Requires="a14">
          <p:sp>
            <p:nvSpPr>
              <p:cNvPr id="5" name="內容版面配置區 4"/>
              <p:cNvSpPr>
                <a:spLocks noGrp="1"/>
              </p:cNvSpPr>
              <p:nvPr>
                <p:ph sz="quarter" idx="1"/>
              </p:nvPr>
            </p:nvSpPr>
            <p:spPr/>
            <p:txBody>
              <a:bodyPr>
                <a:normAutofit/>
              </a:bodyPr>
              <a:lstStyle/>
              <a:p>
                <a:r>
                  <a:rPr lang="en-US" altLang="zh-TW" sz="2800" dirty="0" smtClean="0"/>
                  <a:t>A </a:t>
                </a:r>
                <a14:m>
                  <m:oMath xmlns:m="http://schemas.openxmlformats.org/officeDocument/2006/math">
                    <m:d>
                      <m:dPr>
                        <m:begChr m:val="|"/>
                        <m:endChr m:val="|"/>
                        <m:ctrlPr>
                          <a:rPr lang="en-US" altLang="zh-TW" sz="2800" i="1" smtClean="0">
                            <a:latin typeface="Cambria Math" panose="02040503050406030204" pitchFamily="18" charset="0"/>
                          </a:rPr>
                        </m:ctrlPr>
                      </m:dPr>
                      <m:e>
                        <m:r>
                          <a:rPr lang="en-US" altLang="zh-TW" sz="2800" b="0" i="1" smtClean="0">
                            <a:latin typeface="Cambria Math" panose="02040503050406030204" pitchFamily="18" charset="0"/>
                          </a:rPr>
                          <m:t>𝐷</m:t>
                        </m:r>
                      </m:e>
                    </m:d>
                    <m:r>
                      <a:rPr lang="en-US" altLang="zh-TW" sz="2800" i="1" smtClean="0">
                        <a:latin typeface="Cambria Math" panose="02040503050406030204" pitchFamily="18" charset="0"/>
                        <a:ea typeface="Cambria Math" panose="02040503050406030204" pitchFamily="18" charset="0"/>
                      </a:rPr>
                      <m:t>×</m:t>
                    </m:r>
                    <m:d>
                      <m:dPr>
                        <m:begChr m:val="|"/>
                        <m:endChr m:val="|"/>
                        <m:ctrlPr>
                          <a:rPr lang="en-US" altLang="zh-TW" sz="2800" i="1" smtClean="0">
                            <a:latin typeface="Cambria Math" panose="02040503050406030204" pitchFamily="18" charset="0"/>
                          </a:rPr>
                        </m:ctrlPr>
                      </m:dPr>
                      <m:e>
                        <m:r>
                          <a:rPr lang="en-US" altLang="zh-TW" sz="2800" b="0" i="1" smtClean="0">
                            <a:latin typeface="Cambria Math" panose="02040503050406030204" pitchFamily="18" charset="0"/>
                          </a:rPr>
                          <m:t>𝐷</m:t>
                        </m:r>
                      </m:e>
                    </m:d>
                  </m:oMath>
                </a14:m>
                <a:r>
                  <a:rPr lang="en-US" altLang="zh-TW" sz="2800" dirty="0" smtClean="0"/>
                  <a:t/>
                </a:r>
                <a:r>
                  <a:rPr lang="en-US" altLang="zh-TW" sz="2800" dirty="0"/>
                  <a:t>co-association </a:t>
                </a:r>
                <a:r>
                  <a:rPr lang="en-US" altLang="zh-TW" sz="2800" dirty="0" smtClean="0"/>
                  <a:t>matrix</a:t>
                </a:r>
              </a:p>
              <a:p>
                <a:r>
                  <a:rPr lang="en-US" altLang="zh-TW" sz="2800" dirty="0">
                    <a:solidFill>
                      <a:schemeClr val="tx2"/>
                    </a:solidFill>
                  </a:rPr>
                  <a:t/>
                </a:r>
              </a:p>
            </p:txBody>
          </p:sp>
        </mc:Choice>
        <mc:Fallback>
          <p:sp>
            <p:nvSpPr>
              <p:cNvPr id="5" name="內容版面配置區 4"/>
              <p:cNvSpPr>
                <a:spLocks noGrp="1" noRot="1" noChangeAspect="1" noMove="1" noResize="1" noEditPoints="1" noAdjustHandles="1" noChangeArrowheads="1" noChangeShapeType="1" noTextEdit="1"/>
              </p:cNvSpPr>
              <p:nvPr>
                <p:ph sz="quarter" idx="1"/>
              </p:nvPr>
            </p:nvSpPr>
            <p:spPr>
              <a:blipFill rotWithShape="0">
                <a:blip r:embed="rId2"/>
                <a:stretch>
                  <a:fillRect l="-741" t="-1111"/>
                </a:stretch>
              </a:blipFill>
            </p:spPr>
            <p:txBody>
              <a:bodyPr/>
              <a:lstStyle/>
              <a:p>
                <a:r>
                  <a:rPr lang="zh-TW" altLang="en-US">
                    <a:noFill/>
                  </a:rPr>
                  <a:t> </a:t>
                </a:r>
              </a:p>
            </p:txBody>
          </p:sp>
        </mc:Fallback>
      </mc:AlternateContent>
      <p:pic>
        <p:nvPicPr>
          <p:cNvPr id="4102" name="Picture 6" descr="http://www.sciencedirect.com/cache/MiamiImageURL/1-s2.0-S0031320310004486-gr3_lrg.jpg/0?wchp=dGLbVlk-zSkWb&amp;pii=S0031320310004486"/>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569556" y="2556960"/>
            <a:ext cx="6004887" cy="3600000"/>
          </a:xfrm>
          <a:prstGeom prst="rect">
            <a:avLst/>
          </a:prstGeom>
          <a:noFill/>
          <a:extLst>
            <a:ext uri="{909E8E84-426E-40DD-AFC4-6F175D3DCCD1}">
              <a14:hiddenFill xmlns:a14="http://schemas.microsoft.com/office/drawing/2010/main" xmlns="">
                <a:solidFill>
                  <a:srgbClr val="FFFFFF"/>
                </a:solidFill>
              </a14:hiddenFill>
            </a:ext>
          </a:extLst>
        </p:spPr>
      </p:pic>
      <p:pic>
        <p:nvPicPr>
          <p:cNvPr id="10" name="圖片 9"/>
          <p:cNvPicPr>
            <a:picLocks noChangeAspect="1"/>
          </p:cNvPicPr>
          <p:nvPr/>
        </p:nvPicPr>
        <p:blipFill>
          <a:blip r:embed="rId4"/>
          <a:stretch>
            <a:fillRect/>
          </a:stretch>
        </p:blipFill>
        <p:spPr>
          <a:xfrm>
            <a:off x="827584" y="1775316"/>
            <a:ext cx="3024336" cy="471561"/>
          </a:xfrm>
          <a:prstGeom prst="rect">
            <a:avLst/>
          </a:prstGeom>
        </p:spPr>
      </p:pic>
    </p:spTree>
    <p:extLst>
      <p:ext uri="{BB962C8B-B14F-4D97-AF65-F5344CB8AC3E}">
        <p14:creationId xmlns:p14="http://schemas.microsoft.com/office/powerpoint/2010/main" xmlns="" val="3590192228"/>
      </p:ext>
    </p:extLst>
  </p:cSld>
  <p:clrMapOvr>
    <a:masterClrMapping/>
  </p:clrMapOvr>
  <p:transition>
    <p:cu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 8"/>
          <p:cNvPicPr>
            <a:picLocks noChangeAspect="1"/>
          </p:cNvPicPr>
          <p:nvPr/>
        </p:nvPicPr>
        <p:blipFill rotWithShape="1">
          <a:blip r:embed="rId2"/>
          <a:srcRect t="14119"/>
          <a:stretch/>
        </p:blipFill>
        <p:spPr>
          <a:xfrm>
            <a:off x="3858050" y="5320035"/>
            <a:ext cx="3905250" cy="1006168"/>
          </a:xfrm>
          <a:prstGeom prst="rect">
            <a:avLst/>
          </a:prstGeom>
        </p:spPr>
      </p:pic>
      <p:sp>
        <p:nvSpPr>
          <p:cNvPr id="2" name="標題 1"/>
          <p:cNvSpPr>
            <a:spLocks noGrp="1"/>
          </p:cNvSpPr>
          <p:nvPr>
            <p:ph type="title"/>
          </p:nvPr>
        </p:nvSpPr>
        <p:spPr/>
        <p:txBody>
          <a:bodyPr>
            <a:noAutofit/>
          </a:bodyPr>
          <a:lstStyle/>
          <a:p>
            <a:r>
              <a:rPr lang="en-US" altLang="zh-TW" dirty="0"/>
              <a:t>Combining Multiple Clusterings </a:t>
            </a:r>
            <a:br>
              <a:rPr lang="en-US" altLang="zh-TW" dirty="0"/>
            </a:br>
            <a:r>
              <a:rPr lang="en-US" altLang="zh-TW" dirty="0"/>
              <a:t>	via Similarity Graph (COMUSA) </a:t>
            </a:r>
            <a:endParaRPr lang="zh-TW" altLang="en-US" dirty="0"/>
          </a:p>
        </p:txBody>
      </p:sp>
      <p:sp>
        <p:nvSpPr>
          <p:cNvPr id="3" name="日期版面配置區 2"/>
          <p:cNvSpPr>
            <a:spLocks noGrp="1"/>
          </p:cNvSpPr>
          <p:nvPr>
            <p:ph type="dt" sz="half" idx="10"/>
          </p:nvPr>
        </p:nvSpPr>
        <p:spPr/>
        <p:txBody>
          <a:bodyPr/>
          <a:lstStyle/>
          <a:p>
            <a:fld id="{4759A143-EB52-46BD-82DE-74FAF001B6D7}" type="datetime1">
              <a:rPr lang="zh-TW" altLang="en-US" smtClean="0"/>
              <a:t>2013/9/10</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7</a:t>
            </a:fld>
            <a:endParaRPr lang="zh-TW" altLang="en-US"/>
          </a:p>
        </p:txBody>
      </p:sp>
      <p:sp>
        <p:nvSpPr>
          <p:cNvPr id="5" name="內容版面配置區 4"/>
          <p:cNvSpPr>
            <a:spLocks noGrp="1"/>
          </p:cNvSpPr>
          <p:nvPr>
            <p:ph sz="quarter" idx="1"/>
          </p:nvPr>
        </p:nvSpPr>
        <p:spPr/>
        <p:txBody>
          <a:bodyPr>
            <a:normAutofit/>
          </a:bodyPr>
          <a:lstStyle/>
          <a:p>
            <a:r>
              <a:rPr lang="en-US" altLang="zh-TW" sz="2800" dirty="0"/>
              <a:t>The </a:t>
            </a:r>
            <a:r>
              <a:rPr lang="en-US" altLang="zh-TW" sz="2800" dirty="0">
                <a:solidFill>
                  <a:srgbClr val="C00000"/>
                </a:solidFill>
              </a:rPr>
              <a:t>degree </a:t>
            </a:r>
            <a:r>
              <a:rPr lang="en-US" altLang="zh-TW" sz="2800" dirty="0" smtClean="0">
                <a:solidFill>
                  <a:srgbClr val="C00000"/>
                </a:solidFill>
              </a:rPr>
              <a:t>of freedom </a:t>
            </a:r>
            <a:r>
              <a:rPr lang="en-US" altLang="zh-TW" sz="2800" dirty="0"/>
              <a:t>of </a:t>
            </a:r>
            <a:r>
              <a:rPr lang="en-US" altLang="zh-TW" sz="2800" dirty="0" smtClean="0"/>
              <a:t>a vertex </a:t>
            </a:r>
            <a:r>
              <a:rPr lang="en-US" altLang="zh-TW" sz="2800" dirty="0"/>
              <a:t>d</a:t>
            </a:r>
            <a:r>
              <a:rPr lang="en-US" altLang="zh-TW" sz="2800" baseline="-25000" dirty="0"/>
              <a:t>i</a:t>
            </a:r>
            <a:r>
              <a:rPr lang="en-US" altLang="zh-TW" sz="2800" dirty="0"/>
              <a:t> </a:t>
            </a:r>
            <a:r>
              <a:rPr lang="en-US" altLang="zh-TW" sz="2800" dirty="0" smtClean="0"/>
              <a:t>is</a:t>
            </a:r>
          </a:p>
          <a:p>
            <a:endParaRPr lang="en-US" altLang="zh-TW" sz="2800" dirty="0" smtClean="0"/>
          </a:p>
          <a:p>
            <a:endParaRPr lang="en-US" altLang="zh-TW" sz="1000" dirty="0" smtClean="0"/>
          </a:p>
          <a:p>
            <a:r>
              <a:rPr lang="en-US" altLang="zh-TW" sz="2800" dirty="0" smtClean="0"/>
              <a:t> </a:t>
            </a:r>
          </a:p>
          <a:p>
            <a:endParaRPr lang="en-US" altLang="zh-TW" sz="1000" dirty="0" smtClean="0"/>
          </a:p>
          <a:p>
            <a:r>
              <a:rPr lang="en-US" altLang="zh-TW" sz="2800" dirty="0" smtClean="0"/>
              <a:t> </a:t>
            </a:r>
            <a:r>
              <a:rPr lang="en-US" altLang="zh-TW" sz="2800" dirty="0"/>
              <a:t>The </a:t>
            </a:r>
            <a:r>
              <a:rPr lang="en-US" altLang="zh-TW" sz="2800" dirty="0">
                <a:solidFill>
                  <a:srgbClr val="C00000"/>
                </a:solidFill>
              </a:rPr>
              <a:t>sum </a:t>
            </a:r>
            <a:r>
              <a:rPr lang="en-US" altLang="zh-TW" sz="2800" dirty="0" smtClean="0">
                <a:solidFill>
                  <a:srgbClr val="C00000"/>
                </a:solidFill>
              </a:rPr>
              <a:t>of weights</a:t>
            </a:r>
            <a:r>
              <a:rPr lang="en-US" altLang="zh-TW" sz="2800" dirty="0" smtClean="0"/>
              <a:t> </a:t>
            </a:r>
            <a:r>
              <a:rPr lang="en-US" altLang="zh-TW" sz="2800" dirty="0"/>
              <a:t>of </a:t>
            </a:r>
            <a:r>
              <a:rPr lang="en-US" altLang="zh-TW" sz="2800" dirty="0" smtClean="0"/>
              <a:t>edges incident to a vertex </a:t>
            </a:r>
            <a:r>
              <a:rPr lang="en-US" altLang="zh-TW" sz="2800" dirty="0"/>
              <a:t>di is </a:t>
            </a:r>
            <a:r>
              <a:rPr lang="en-US" altLang="zh-TW" sz="2800" dirty="0" smtClean="0"/>
              <a:t>the</a:t>
            </a:r>
          </a:p>
          <a:p>
            <a:endParaRPr lang="en-US" altLang="zh-TW" sz="2800" dirty="0"/>
          </a:p>
          <a:p>
            <a:endParaRPr lang="en-US" altLang="zh-TW" sz="2400" dirty="0" smtClean="0"/>
          </a:p>
          <a:p>
            <a:r>
              <a:rPr lang="en-US" altLang="zh-TW" sz="2800" dirty="0"/>
              <a:t>The </a:t>
            </a:r>
            <a:r>
              <a:rPr lang="en-US" altLang="zh-TW" sz="2800" dirty="0">
                <a:solidFill>
                  <a:srgbClr val="C00000"/>
                </a:solidFill>
              </a:rPr>
              <a:t>attachment</a:t>
            </a:r>
            <a:r>
              <a:rPr lang="en-US" altLang="zh-TW" sz="2800" dirty="0"/>
              <a:t> of </a:t>
            </a:r>
            <a:r>
              <a:rPr lang="en-US" altLang="zh-TW" sz="2800" dirty="0" smtClean="0"/>
              <a:t>a vertex is  </a:t>
            </a:r>
            <a:endParaRPr lang="en-US" altLang="zh-TW" sz="2800" dirty="0">
              <a:solidFill>
                <a:schemeClr val="tx2"/>
              </a:solidFill>
            </a:endParaRPr>
          </a:p>
        </p:txBody>
      </p:sp>
      <p:pic>
        <p:nvPicPr>
          <p:cNvPr id="6" name="圖片 5"/>
          <p:cNvPicPr>
            <a:picLocks noChangeAspect="1"/>
          </p:cNvPicPr>
          <p:nvPr/>
        </p:nvPicPr>
        <p:blipFill>
          <a:blip r:embed="rId3"/>
          <a:stretch>
            <a:fillRect/>
          </a:stretch>
        </p:blipFill>
        <p:spPr>
          <a:xfrm>
            <a:off x="3853438" y="1696449"/>
            <a:ext cx="3714750" cy="514350"/>
          </a:xfrm>
          <a:prstGeom prst="rect">
            <a:avLst/>
          </a:prstGeom>
        </p:spPr>
      </p:pic>
      <p:pic>
        <p:nvPicPr>
          <p:cNvPr id="7" name="圖片 6"/>
          <p:cNvPicPr>
            <a:picLocks noChangeAspect="1"/>
          </p:cNvPicPr>
          <p:nvPr/>
        </p:nvPicPr>
        <p:blipFill>
          <a:blip r:embed="rId4"/>
          <a:stretch>
            <a:fillRect/>
          </a:stretch>
        </p:blipFill>
        <p:spPr>
          <a:xfrm>
            <a:off x="845646" y="2431640"/>
            <a:ext cx="3007792" cy="560072"/>
          </a:xfrm>
          <a:prstGeom prst="rect">
            <a:avLst/>
          </a:prstGeom>
        </p:spPr>
      </p:pic>
      <p:pic>
        <p:nvPicPr>
          <p:cNvPr id="8" name="圖片 7"/>
          <p:cNvPicPr>
            <a:picLocks noChangeAspect="1"/>
          </p:cNvPicPr>
          <p:nvPr/>
        </p:nvPicPr>
        <p:blipFill>
          <a:blip r:embed="rId5"/>
          <a:stretch>
            <a:fillRect/>
          </a:stretch>
        </p:blipFill>
        <p:spPr>
          <a:xfrm>
            <a:off x="3853438" y="3622819"/>
            <a:ext cx="4629150" cy="1219200"/>
          </a:xfrm>
          <a:prstGeom prst="rect">
            <a:avLst/>
          </a:prstGeom>
        </p:spPr>
      </p:pic>
    </p:spTree>
    <p:extLst>
      <p:ext uri="{BB962C8B-B14F-4D97-AF65-F5344CB8AC3E}">
        <p14:creationId xmlns:p14="http://schemas.microsoft.com/office/powerpoint/2010/main" xmlns="" val="1038127192"/>
      </p:ext>
    </p:extLst>
  </p:cSld>
  <p:clrMapOvr>
    <a:masterClrMapping/>
  </p:clrMapOvr>
  <p:transition>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dirty="0"/>
              <a:t>Combining Multiple Clusterings </a:t>
            </a:r>
            <a:br>
              <a:rPr lang="en-US" altLang="zh-TW" dirty="0"/>
            </a:br>
            <a:r>
              <a:rPr lang="en-US" altLang="zh-TW" dirty="0"/>
              <a:t>	via Similarity Graph (COMUSA) </a:t>
            </a:r>
            <a:endParaRPr lang="zh-TW" altLang="en-US" dirty="0"/>
          </a:p>
        </p:txBody>
      </p:sp>
      <p:sp>
        <p:nvSpPr>
          <p:cNvPr id="3" name="日期版面配置區 2"/>
          <p:cNvSpPr>
            <a:spLocks noGrp="1"/>
          </p:cNvSpPr>
          <p:nvPr>
            <p:ph type="dt" sz="half" idx="10"/>
          </p:nvPr>
        </p:nvSpPr>
        <p:spPr/>
        <p:txBody>
          <a:bodyPr/>
          <a:lstStyle/>
          <a:p>
            <a:fld id="{1536A7AC-C4B4-4F0A-9D82-4F65F5ECEB07}" type="datetime1">
              <a:rPr lang="zh-TW" altLang="en-US" smtClean="0"/>
              <a:t>2013/9/10</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8</a:t>
            </a:fld>
            <a:endParaRPr lang="zh-TW" altLang="en-US"/>
          </a:p>
        </p:txBody>
      </p:sp>
      <p:sp>
        <p:nvSpPr>
          <p:cNvPr id="5" name="內容版面配置區 4"/>
          <p:cNvSpPr>
            <a:spLocks noGrp="1"/>
          </p:cNvSpPr>
          <p:nvPr>
            <p:ph sz="quarter" idx="1"/>
          </p:nvPr>
        </p:nvSpPr>
        <p:spPr/>
        <p:txBody>
          <a:bodyPr>
            <a:normAutofit/>
          </a:bodyPr>
          <a:lstStyle/>
          <a:p>
            <a:r>
              <a:rPr lang="en-US" altLang="zh-TW" sz="2400" dirty="0">
                <a:latin typeface="Arial Unicode MS" panose="020B0604020202020204" pitchFamily="34" charset="-120"/>
                <a:ea typeface="Arial Unicode MS" panose="020B0604020202020204" pitchFamily="34" charset="-120"/>
              </a:rPr>
              <a:t>(a) </a:t>
            </a:r>
            <a:r>
              <a:rPr lang="en-US" altLang="zh-TW" sz="2400" dirty="0" err="1">
                <a:latin typeface="Arial" panose="020B0604020202020204" pitchFamily="34" charset="0"/>
              </a:rPr>
              <a:t>df</a:t>
            </a:r>
            <a:r>
              <a:rPr lang="en-US" altLang="zh-TW" sz="2400" dirty="0">
                <a:latin typeface="Arial Unicode MS" panose="020B0604020202020204" pitchFamily="34" charset="-120"/>
                <a:ea typeface="Arial Unicode MS" panose="020B0604020202020204" pitchFamily="34" charset="-120"/>
              </a:rPr>
              <a:t>(</a:t>
            </a:r>
            <a:r>
              <a:rPr lang="en-US" altLang="zh-TW" sz="2400" i="1" dirty="0">
                <a:latin typeface="Arial Unicode MS" panose="020B0604020202020204" pitchFamily="34" charset="-120"/>
                <a:ea typeface="Arial Unicode MS" panose="020B0604020202020204" pitchFamily="34" charset="-120"/>
              </a:rPr>
              <a:t>d</a:t>
            </a:r>
            <a:r>
              <a:rPr lang="en-US" altLang="zh-TW" sz="2400" baseline="-25000" dirty="0">
                <a:latin typeface="Arial Unicode MS" panose="020B0604020202020204" pitchFamily="34" charset="-120"/>
                <a:ea typeface="Arial Unicode MS" panose="020B0604020202020204" pitchFamily="34" charset="-120"/>
              </a:rPr>
              <a:t>1</a:t>
            </a:r>
            <a:r>
              <a:rPr lang="en-US" altLang="zh-TW" sz="2400" dirty="0">
                <a:latin typeface="Arial Unicode MS" panose="020B0604020202020204" pitchFamily="34" charset="-120"/>
                <a:ea typeface="Arial Unicode MS" panose="020B0604020202020204" pitchFamily="34" charset="-120"/>
              </a:rPr>
              <a:t>) = </a:t>
            </a:r>
            <a:r>
              <a:rPr lang="en-US" altLang="zh-TW" sz="2400" dirty="0" err="1">
                <a:latin typeface="Arial" panose="020B0604020202020204" pitchFamily="34" charset="0"/>
              </a:rPr>
              <a:t>sw</a:t>
            </a:r>
            <a:r>
              <a:rPr lang="en-US" altLang="zh-TW" sz="2400" dirty="0">
                <a:latin typeface="Arial Unicode MS" panose="020B0604020202020204" pitchFamily="34" charset="-120"/>
                <a:ea typeface="Arial Unicode MS" panose="020B0604020202020204" pitchFamily="34" charset="-120"/>
              </a:rPr>
              <a:t>(</a:t>
            </a:r>
            <a:r>
              <a:rPr lang="en-US" altLang="zh-TW" sz="2400" i="1" dirty="0">
                <a:latin typeface="Arial Unicode MS" panose="020B0604020202020204" pitchFamily="34" charset="-120"/>
                <a:ea typeface="Arial Unicode MS" panose="020B0604020202020204" pitchFamily="34" charset="-120"/>
              </a:rPr>
              <a:t>d</a:t>
            </a:r>
            <a:r>
              <a:rPr lang="en-US" altLang="zh-TW" sz="2400" baseline="-25000" dirty="0">
                <a:latin typeface="Arial Unicode MS" panose="020B0604020202020204" pitchFamily="34" charset="-120"/>
                <a:ea typeface="Arial Unicode MS" panose="020B0604020202020204" pitchFamily="34" charset="-120"/>
              </a:rPr>
              <a:t>1</a:t>
            </a:r>
            <a:r>
              <a:rPr lang="en-US" altLang="zh-TW" sz="2400" dirty="0">
                <a:latin typeface="Arial Unicode MS" panose="020B0604020202020204" pitchFamily="34" charset="-120"/>
                <a:ea typeface="Arial Unicode MS" panose="020B0604020202020204" pitchFamily="34" charset="-120"/>
              </a:rPr>
              <a:t>) = 5 and (b) </a:t>
            </a:r>
            <a:r>
              <a:rPr lang="en-US" altLang="zh-TW" sz="2400" dirty="0" err="1">
                <a:latin typeface="Arial" panose="020B0604020202020204" pitchFamily="34" charset="0"/>
              </a:rPr>
              <a:t>df</a:t>
            </a:r>
            <a:r>
              <a:rPr lang="en-US" altLang="zh-TW" sz="2400" dirty="0">
                <a:latin typeface="Arial Unicode MS" panose="020B0604020202020204" pitchFamily="34" charset="-120"/>
                <a:ea typeface="Arial Unicode MS" panose="020B0604020202020204" pitchFamily="34" charset="-120"/>
              </a:rPr>
              <a:t>(</a:t>
            </a:r>
            <a:r>
              <a:rPr lang="en-US" altLang="zh-TW" sz="2400" i="1" dirty="0">
                <a:latin typeface="Arial Unicode MS" panose="020B0604020202020204" pitchFamily="34" charset="-120"/>
                <a:ea typeface="Arial Unicode MS" panose="020B0604020202020204" pitchFamily="34" charset="-120"/>
              </a:rPr>
              <a:t>d</a:t>
            </a:r>
            <a:r>
              <a:rPr lang="en-US" altLang="zh-TW" sz="2400" baseline="-25000" dirty="0">
                <a:latin typeface="Arial Unicode MS" panose="020B0604020202020204" pitchFamily="34" charset="-120"/>
                <a:ea typeface="Arial Unicode MS" panose="020B0604020202020204" pitchFamily="34" charset="-120"/>
              </a:rPr>
              <a:t>1</a:t>
            </a:r>
            <a:r>
              <a:rPr lang="en-US" altLang="zh-TW" sz="2400" dirty="0">
                <a:latin typeface="Arial Unicode MS" panose="020B0604020202020204" pitchFamily="34" charset="-120"/>
                <a:ea typeface="Arial Unicode MS" panose="020B0604020202020204" pitchFamily="34" charset="-120"/>
              </a:rPr>
              <a:t>) = 2, </a:t>
            </a:r>
            <a:r>
              <a:rPr lang="en-US" altLang="zh-TW" sz="2400" dirty="0" err="1">
                <a:latin typeface="Arial" panose="020B0604020202020204" pitchFamily="34" charset="0"/>
              </a:rPr>
              <a:t>sw</a:t>
            </a:r>
            <a:r>
              <a:rPr lang="en-US" altLang="zh-TW" sz="2400" dirty="0">
                <a:latin typeface="Arial Unicode MS" panose="020B0604020202020204" pitchFamily="34" charset="-120"/>
                <a:ea typeface="Arial Unicode MS" panose="020B0604020202020204" pitchFamily="34" charset="-120"/>
              </a:rPr>
              <a:t>(</a:t>
            </a:r>
            <a:r>
              <a:rPr lang="en-US" altLang="zh-TW" sz="2400" i="1" dirty="0">
                <a:latin typeface="Arial Unicode MS" panose="020B0604020202020204" pitchFamily="34" charset="-120"/>
                <a:ea typeface="Arial Unicode MS" panose="020B0604020202020204" pitchFamily="34" charset="-120"/>
              </a:rPr>
              <a:t>d</a:t>
            </a:r>
            <a:r>
              <a:rPr lang="en-US" altLang="zh-TW" sz="2400" baseline="-25000" dirty="0">
                <a:latin typeface="Arial Unicode MS" panose="020B0604020202020204" pitchFamily="34" charset="-120"/>
                <a:ea typeface="Arial Unicode MS" panose="020B0604020202020204" pitchFamily="34" charset="-120"/>
              </a:rPr>
              <a:t>1</a:t>
            </a:r>
            <a:r>
              <a:rPr lang="en-US" altLang="zh-TW" sz="2400" dirty="0">
                <a:latin typeface="Arial Unicode MS" panose="020B0604020202020204" pitchFamily="34" charset="-120"/>
                <a:ea typeface="Arial Unicode MS" panose="020B0604020202020204" pitchFamily="34" charset="-120"/>
              </a:rPr>
              <a:t>) = 6</a:t>
            </a:r>
            <a:endParaRPr lang="zh-TW" altLang="en-US" sz="2400" dirty="0"/>
          </a:p>
          <a:p>
            <a:endParaRPr lang="en-US" altLang="zh-TW" sz="2800" dirty="0">
              <a:solidFill>
                <a:schemeClr val="tx2"/>
              </a:solidFill>
            </a:endParaRPr>
          </a:p>
        </p:txBody>
      </p:sp>
      <p:pic>
        <p:nvPicPr>
          <p:cNvPr id="5122" name="Picture 2" descr="http://www.sciencedirect.com/cache/MiamiImageURL/1-s2.0-S0031320310004486-gr4_lrg.jpg/0?wchp=dGLzVlk-zSkWA&amp;pii=S0031320310004486"/>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22290" y="1888080"/>
            <a:ext cx="5699420" cy="36000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419843666"/>
      </p:ext>
    </p:extLst>
  </p:cSld>
  <p:clrMapOvr>
    <a:masterClrMapping/>
  </p:clrMapOvr>
  <p:transition>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endParaRPr lang="zh-TW" altLang="en-US" dirty="0"/>
          </a:p>
        </p:txBody>
      </p:sp>
      <p:sp>
        <p:nvSpPr>
          <p:cNvPr id="3" name="日期版面配置區 2"/>
          <p:cNvSpPr>
            <a:spLocks noGrp="1"/>
          </p:cNvSpPr>
          <p:nvPr>
            <p:ph type="dt" sz="half" idx="10"/>
          </p:nvPr>
        </p:nvSpPr>
        <p:spPr/>
        <p:txBody>
          <a:bodyPr/>
          <a:lstStyle/>
          <a:p>
            <a:fld id="{3B638246-8600-4928-9A2B-93CC52945DD8}" type="datetime1">
              <a:rPr lang="zh-TW" altLang="en-US" smtClean="0"/>
              <a:t>2013/9/10</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9</a:t>
            </a:fld>
            <a:endParaRPr lang="zh-TW" altLang="en-US"/>
          </a:p>
        </p:txBody>
      </p:sp>
      <p:sp>
        <p:nvSpPr>
          <p:cNvPr id="5" name="內容版面配置區 4"/>
          <p:cNvSpPr>
            <a:spLocks noGrp="1"/>
          </p:cNvSpPr>
          <p:nvPr>
            <p:ph sz="quarter" idx="1"/>
          </p:nvPr>
        </p:nvSpPr>
        <p:spPr/>
        <p:txBody>
          <a:bodyPr>
            <a:normAutofit/>
          </a:bodyPr>
          <a:lstStyle/>
          <a:p>
            <a:endParaRPr lang="en-US" altLang="zh-TW" sz="2800" dirty="0">
              <a:solidFill>
                <a:schemeClr val="tx2"/>
              </a:solidFill>
            </a:endParaRPr>
          </a:p>
        </p:txBody>
      </p:sp>
      <p:pic>
        <p:nvPicPr>
          <p:cNvPr id="7" name="圖片 6"/>
          <p:cNvPicPr>
            <a:picLocks noChangeAspect="1"/>
          </p:cNvPicPr>
          <p:nvPr/>
        </p:nvPicPr>
        <p:blipFill>
          <a:blip r:embed="rId2"/>
          <a:stretch>
            <a:fillRect/>
          </a:stretch>
        </p:blipFill>
        <p:spPr>
          <a:xfrm>
            <a:off x="0" y="9553"/>
            <a:ext cx="5652120" cy="6829964"/>
          </a:xfrm>
          <a:prstGeom prst="rect">
            <a:avLst/>
          </a:prstGeom>
        </p:spPr>
      </p:pic>
    </p:spTree>
    <p:extLst>
      <p:ext uri="{BB962C8B-B14F-4D97-AF65-F5344CB8AC3E}">
        <p14:creationId xmlns:p14="http://schemas.microsoft.com/office/powerpoint/2010/main" xmlns="" val="3754689311"/>
      </p:ext>
    </p:extLst>
  </p:cSld>
  <p:clrMapOvr>
    <a:masterClrMapping/>
  </p:clrMapOvr>
  <p:transition>
    <p:cu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dirty="0"/>
              <a:t>Combining Multiple Clusterings </a:t>
            </a:r>
            <a:br>
              <a:rPr lang="en-US" altLang="zh-TW" dirty="0"/>
            </a:br>
            <a:r>
              <a:rPr lang="en-US" altLang="zh-TW" dirty="0"/>
              <a:t>	via Similarity Graph (COMUSA) </a:t>
            </a:r>
            <a:endParaRPr lang="zh-TW" altLang="en-US" dirty="0"/>
          </a:p>
        </p:txBody>
      </p:sp>
      <p:sp>
        <p:nvSpPr>
          <p:cNvPr id="3" name="日期版面配置區 2"/>
          <p:cNvSpPr>
            <a:spLocks noGrp="1"/>
          </p:cNvSpPr>
          <p:nvPr>
            <p:ph type="dt" sz="half" idx="10"/>
          </p:nvPr>
        </p:nvSpPr>
        <p:spPr/>
        <p:txBody>
          <a:bodyPr/>
          <a:lstStyle/>
          <a:p>
            <a:fld id="{06E54992-E26D-4626-8FAB-88AECEACB8C6}" type="datetime1">
              <a:rPr lang="zh-TW" altLang="en-US" smtClean="0"/>
              <a:t>2013/9/10</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10</a:t>
            </a:fld>
            <a:endParaRPr lang="zh-TW" altLang="en-US"/>
          </a:p>
        </p:txBody>
      </p:sp>
      <p:sp>
        <p:nvSpPr>
          <p:cNvPr id="5" name="內容版面配置區 4"/>
          <p:cNvSpPr>
            <a:spLocks noGrp="1"/>
          </p:cNvSpPr>
          <p:nvPr>
            <p:ph sz="quarter" idx="1"/>
          </p:nvPr>
        </p:nvSpPr>
        <p:spPr>
          <a:xfrm>
            <a:off x="457200" y="1219200"/>
            <a:ext cx="4618856" cy="4937760"/>
          </a:xfrm>
        </p:spPr>
        <p:txBody>
          <a:bodyPr>
            <a:normAutofit/>
          </a:bodyPr>
          <a:lstStyle/>
          <a:p>
            <a:r>
              <a:rPr lang="en-US" altLang="zh-TW" sz="2000" dirty="0"/>
              <a:t>Similarity graph</a:t>
            </a:r>
            <a:endParaRPr lang="en-US" altLang="zh-TW" sz="2000" dirty="0">
              <a:solidFill>
                <a:schemeClr val="tx2"/>
              </a:solidFill>
            </a:endParaRPr>
          </a:p>
        </p:txBody>
      </p:sp>
      <p:pic>
        <p:nvPicPr>
          <p:cNvPr id="7170" name="Picture 2" descr="http://www.sciencedirect.com/cache/MiamiImageURL/1-s2.0-S0031320310004486-gr5_lrg.jpg/0?wchp=dGLbVlB-zSkzk&amp;pii=S0031320310004486"/>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9819" y="2204864"/>
            <a:ext cx="6490308" cy="3600000"/>
          </a:xfrm>
          <a:prstGeom prst="rect">
            <a:avLst/>
          </a:prstGeom>
          <a:noFill/>
          <a:extLst>
            <a:ext uri="{909E8E84-426E-40DD-AFC4-6F175D3DCCD1}">
              <a14:hiddenFill xmlns:a14="http://schemas.microsoft.com/office/drawing/2010/main" xmlns="">
                <a:solidFill>
                  <a:srgbClr val="FFFFFF"/>
                </a:solidFill>
              </a14:hiddenFill>
            </a:ext>
          </a:extLst>
        </p:spPr>
      </p:pic>
      <p:graphicFrame>
        <p:nvGraphicFramePr>
          <p:cNvPr id="9" name="表格 8"/>
          <p:cNvGraphicFramePr>
            <a:graphicFrameLocks noGrp="1"/>
          </p:cNvGraphicFramePr>
          <p:nvPr>
            <p:extLst>
              <p:ext uri="{D42A27DB-BD31-4B8C-83A1-F6EECF244321}">
                <p14:modId xmlns:p14="http://schemas.microsoft.com/office/powerpoint/2010/main" xmlns="" val="1854958610"/>
              </p:ext>
            </p:extLst>
          </p:nvPr>
        </p:nvGraphicFramePr>
        <p:xfrm>
          <a:off x="6660232" y="2132856"/>
          <a:ext cx="2483768" cy="3291840"/>
        </p:xfrm>
        <a:graphic>
          <a:graphicData uri="http://schemas.openxmlformats.org/drawingml/2006/table">
            <a:tbl>
              <a:tblPr/>
              <a:tblGrid>
                <a:gridCol w="792088"/>
                <a:gridCol w="1691680"/>
              </a:tblGrid>
              <a:tr h="0">
                <a:tc>
                  <a:txBody>
                    <a:bodyPr/>
                    <a:lstStyle/>
                    <a:p>
                      <a:pPr algn="l" fontAlgn="t"/>
                      <a:r>
                        <a:rPr lang="en-US" b="0" dirty="0">
                          <a:effectLst/>
                        </a:rPr>
                        <a:t>Vertex</a:t>
                      </a:r>
                    </a:p>
                  </a:txBody>
                  <a:tcPr>
                    <a:lnL w="9525" cap="flat" cmpd="sng" algn="ctr">
                      <a:solidFill>
                        <a:srgbClr val="F9FBFC"/>
                      </a:solidFill>
                      <a:prstDash val="solid"/>
                      <a:round/>
                      <a:headEnd type="none" w="med" len="med"/>
                      <a:tailEnd type="none" w="med" len="med"/>
                    </a:lnL>
                    <a:lnR w="9525" cap="flat" cmpd="sng" algn="ctr">
                      <a:solidFill>
                        <a:srgbClr val="F9FBFC"/>
                      </a:solidFill>
                      <a:prstDash val="solid"/>
                      <a:round/>
                      <a:headEnd type="none" w="med" len="med"/>
                      <a:tailEnd type="none" w="med" len="med"/>
                    </a:lnR>
                    <a:lnT w="9525" cap="flat" cmpd="sng" algn="ctr">
                      <a:solidFill>
                        <a:srgbClr val="F9FBFC"/>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9FBFC"/>
                    </a:solidFill>
                  </a:tcPr>
                </a:tc>
                <a:tc>
                  <a:txBody>
                    <a:bodyPr/>
                    <a:lstStyle/>
                    <a:p>
                      <a:pPr algn="l" fontAlgn="t"/>
                      <a:r>
                        <a:rPr lang="en-US" b="0" dirty="0">
                          <a:effectLst/>
                          <a:latin typeface="Arial" panose="020B0604020202020204" pitchFamily="34" charset="0"/>
                        </a:rPr>
                        <a:t>Attachment</a:t>
                      </a:r>
                      <a:r>
                        <a:rPr lang="en-US" b="0" dirty="0">
                          <a:effectLst/>
                        </a:rPr>
                        <a:t> </a:t>
                      </a:r>
                    </a:p>
                  </a:txBody>
                  <a:tcPr>
                    <a:lnL w="9525" cap="flat" cmpd="sng" algn="ctr">
                      <a:solidFill>
                        <a:srgbClr val="F9FBFC"/>
                      </a:solidFill>
                      <a:prstDash val="solid"/>
                      <a:round/>
                      <a:headEnd type="none" w="med" len="med"/>
                      <a:tailEnd type="none" w="med" len="med"/>
                    </a:lnL>
                    <a:lnR w="9525" cap="flat" cmpd="sng" algn="ctr">
                      <a:solidFill>
                        <a:srgbClr val="F9FBFC"/>
                      </a:solidFill>
                      <a:prstDash val="solid"/>
                      <a:round/>
                      <a:headEnd type="none" w="med" len="med"/>
                      <a:tailEnd type="none" w="med" len="med"/>
                    </a:lnR>
                    <a:lnT w="9525" cap="flat" cmpd="sng" algn="ctr">
                      <a:solidFill>
                        <a:srgbClr val="F9FBFC"/>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9FBFC"/>
                    </a:solidFill>
                  </a:tcPr>
                </a:tc>
              </a:tr>
              <a:tr h="0">
                <a:tc>
                  <a:txBody>
                    <a:bodyPr/>
                    <a:lstStyle/>
                    <a:p>
                      <a:pPr algn="l" fontAlgn="t"/>
                      <a:r>
                        <a:rPr lang="en-US" b="0" i="1" dirty="0">
                          <a:effectLst/>
                        </a:rPr>
                        <a:t>d</a:t>
                      </a:r>
                      <a:r>
                        <a:rPr lang="en-US" b="0" baseline="-25000" dirty="0">
                          <a:effectLst/>
                        </a:rPr>
                        <a:t>3</a:t>
                      </a:r>
                      <a:endParaRPr lang="en-US" b="0" dirty="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b="0">
                          <a:effectLst/>
                        </a:rPr>
                        <a:t>2.00</a:t>
                      </a: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0">
                <a:tc>
                  <a:txBody>
                    <a:bodyPr/>
                    <a:lstStyle/>
                    <a:p>
                      <a:pPr algn="l" fontAlgn="t"/>
                      <a:r>
                        <a:rPr lang="en-US" b="0" i="1">
                          <a:effectLst/>
                        </a:rPr>
                        <a:t>d</a:t>
                      </a:r>
                      <a:r>
                        <a:rPr lang="en-US" b="0" baseline="-25000">
                          <a:effectLst/>
                        </a:rPr>
                        <a:t>6</a:t>
                      </a:r>
                      <a:endParaRPr lang="en-US" b="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b="0" dirty="0">
                          <a:effectLst/>
                        </a:rPr>
                        <a:t>2.00</a:t>
                      </a: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0">
                <a:tc>
                  <a:txBody>
                    <a:bodyPr/>
                    <a:lstStyle/>
                    <a:p>
                      <a:pPr algn="l" fontAlgn="t"/>
                      <a:r>
                        <a:rPr lang="en-US" b="0" i="1" dirty="0">
                          <a:effectLst/>
                        </a:rPr>
                        <a:t>d</a:t>
                      </a:r>
                      <a:r>
                        <a:rPr lang="en-US" b="0" baseline="-25000" dirty="0">
                          <a:effectLst/>
                        </a:rPr>
                        <a:t>2</a:t>
                      </a:r>
                      <a:endParaRPr lang="en-US" b="0" dirty="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b="0">
                          <a:effectLst/>
                        </a:rPr>
                        <a:t>1.75</a:t>
                      </a: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0">
                <a:tc>
                  <a:txBody>
                    <a:bodyPr/>
                    <a:lstStyle/>
                    <a:p>
                      <a:pPr algn="l" fontAlgn="t"/>
                      <a:r>
                        <a:rPr lang="en-US" b="0" i="1">
                          <a:effectLst/>
                        </a:rPr>
                        <a:t>d</a:t>
                      </a:r>
                      <a:r>
                        <a:rPr lang="en-US" b="0" baseline="-25000">
                          <a:effectLst/>
                        </a:rPr>
                        <a:t>4</a:t>
                      </a:r>
                      <a:endParaRPr lang="en-US" b="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b="0">
                          <a:effectLst/>
                        </a:rPr>
                        <a:t>1.50</a:t>
                      </a: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0">
                <a:tc>
                  <a:txBody>
                    <a:bodyPr/>
                    <a:lstStyle/>
                    <a:p>
                      <a:pPr algn="l" fontAlgn="t"/>
                      <a:r>
                        <a:rPr lang="en-US" b="0" i="1">
                          <a:effectLst/>
                        </a:rPr>
                        <a:t>d</a:t>
                      </a:r>
                      <a:r>
                        <a:rPr lang="en-US" b="0" baseline="-25000">
                          <a:effectLst/>
                        </a:rPr>
                        <a:t>5</a:t>
                      </a:r>
                      <a:endParaRPr lang="en-US" b="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b="0">
                          <a:effectLst/>
                        </a:rPr>
                        <a:t>1.50</a:t>
                      </a: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0">
                <a:tc>
                  <a:txBody>
                    <a:bodyPr/>
                    <a:lstStyle/>
                    <a:p>
                      <a:pPr algn="l" fontAlgn="t"/>
                      <a:r>
                        <a:rPr lang="en-US" b="0" i="1">
                          <a:effectLst/>
                        </a:rPr>
                        <a:t>d</a:t>
                      </a:r>
                      <a:r>
                        <a:rPr lang="en-US" b="0" baseline="-25000">
                          <a:effectLst/>
                        </a:rPr>
                        <a:t>1</a:t>
                      </a:r>
                      <a:endParaRPr lang="en-US" b="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b="0">
                          <a:effectLst/>
                        </a:rPr>
                        <a:t>1.40</a:t>
                      </a: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0">
                <a:tc>
                  <a:txBody>
                    <a:bodyPr/>
                    <a:lstStyle/>
                    <a:p>
                      <a:pPr algn="l" fontAlgn="t"/>
                      <a:r>
                        <a:rPr lang="en-US" b="0" i="1">
                          <a:effectLst/>
                        </a:rPr>
                        <a:t>d</a:t>
                      </a:r>
                      <a:r>
                        <a:rPr lang="en-US" b="0" baseline="-25000">
                          <a:effectLst/>
                        </a:rPr>
                        <a:t>7</a:t>
                      </a:r>
                      <a:endParaRPr lang="en-US" b="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b="0">
                          <a:effectLst/>
                        </a:rPr>
                        <a:t>1.33</a:t>
                      </a: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0">
                <a:tc>
                  <a:txBody>
                    <a:bodyPr/>
                    <a:lstStyle/>
                    <a:p>
                      <a:pPr algn="l" fontAlgn="t"/>
                      <a:r>
                        <a:rPr lang="en-US" b="0" i="1">
                          <a:effectLst/>
                        </a:rPr>
                        <a:t>d</a:t>
                      </a:r>
                      <a:r>
                        <a:rPr lang="en-US" b="0" baseline="-25000">
                          <a:effectLst/>
                        </a:rPr>
                        <a:t>8</a:t>
                      </a:r>
                      <a:endParaRPr lang="en-US" b="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b="0" dirty="0">
                          <a:effectLst/>
                        </a:rPr>
                        <a:t>1.25</a:t>
                      </a: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bl>
          </a:graphicData>
        </a:graphic>
      </p:graphicFrame>
      <p:sp>
        <p:nvSpPr>
          <p:cNvPr id="10" name="內容版面配置區 4"/>
          <p:cNvSpPr txBox="1">
            <a:spLocks/>
          </p:cNvSpPr>
          <p:nvPr/>
        </p:nvSpPr>
        <p:spPr>
          <a:xfrm>
            <a:off x="6156176" y="1206277"/>
            <a:ext cx="2987824" cy="493776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微軟正黑體" panose="020B0604030504040204" pitchFamily="34" charset="-120"/>
                <a:ea typeface="微軟正黑體" panose="020B0604030504040204" pitchFamily="34" charset="-120"/>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微軟正黑體" panose="020B0604030504040204" pitchFamily="34" charset="-120"/>
                <a:ea typeface="微軟正黑體" panose="020B0604030504040204" pitchFamily="34" charset="-120"/>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微軟正黑體" panose="020B0604030504040204" pitchFamily="34" charset="-120"/>
                <a:ea typeface="微軟正黑體" panose="020B0604030504040204" pitchFamily="34" charset="-120"/>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微軟正黑體" panose="020B0604030504040204" pitchFamily="34" charset="-120"/>
                <a:ea typeface="微軟正黑體" panose="020B0604030504040204" pitchFamily="34" charset="-120"/>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微軟正黑體" panose="020B0604030504040204" pitchFamily="34" charset="-120"/>
                <a:ea typeface="微軟正黑體" panose="020B0604030504040204" pitchFamily="34" charset="-120"/>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TW" sz="2000" dirty="0"/>
              <a:t>Attachment values in decreasing order</a:t>
            </a:r>
            <a:endParaRPr lang="en-US" altLang="zh-TW" sz="2000" dirty="0">
              <a:solidFill>
                <a:schemeClr val="tx2"/>
              </a:solidFill>
            </a:endParaRPr>
          </a:p>
        </p:txBody>
      </p:sp>
    </p:spTree>
    <p:extLst>
      <p:ext uri="{BB962C8B-B14F-4D97-AF65-F5344CB8AC3E}">
        <p14:creationId xmlns:p14="http://schemas.microsoft.com/office/powerpoint/2010/main" xmlns="" val="4238605951"/>
      </p:ext>
    </p:extLst>
  </p:cSld>
  <p:clrMapOvr>
    <a:masterClrMapping/>
  </p:clrMapOvr>
  <p:transition>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dirty="0"/>
              <a:t>Combining Multiple Clusterings </a:t>
            </a:r>
            <a:br>
              <a:rPr lang="en-US" altLang="zh-TW" dirty="0"/>
            </a:br>
            <a:r>
              <a:rPr lang="en-US" altLang="zh-TW" dirty="0"/>
              <a:t>	via Similarity Graph (COMUSA) </a:t>
            </a:r>
            <a:endParaRPr lang="zh-TW" altLang="en-US" dirty="0"/>
          </a:p>
        </p:txBody>
      </p:sp>
      <p:sp>
        <p:nvSpPr>
          <p:cNvPr id="3" name="日期版面配置區 2"/>
          <p:cNvSpPr>
            <a:spLocks noGrp="1"/>
          </p:cNvSpPr>
          <p:nvPr>
            <p:ph type="dt" sz="half" idx="10"/>
          </p:nvPr>
        </p:nvSpPr>
        <p:spPr/>
        <p:txBody>
          <a:bodyPr/>
          <a:lstStyle/>
          <a:p>
            <a:fld id="{F2337E30-D6AA-4A6A-8399-603CA982FA86}" type="datetime1">
              <a:rPr lang="zh-TW" altLang="en-US" smtClean="0"/>
              <a:t>2013/9/10</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11</a:t>
            </a:fld>
            <a:endParaRPr lang="zh-TW" altLang="en-US"/>
          </a:p>
        </p:txBody>
      </p:sp>
      <p:sp>
        <p:nvSpPr>
          <p:cNvPr id="5" name="內容版面配置區 4"/>
          <p:cNvSpPr>
            <a:spLocks noGrp="1"/>
          </p:cNvSpPr>
          <p:nvPr>
            <p:ph sz="quarter" idx="1"/>
          </p:nvPr>
        </p:nvSpPr>
        <p:spPr/>
        <p:txBody>
          <a:bodyPr>
            <a:normAutofit/>
          </a:bodyPr>
          <a:lstStyle/>
          <a:p>
            <a:endParaRPr lang="en-US" altLang="zh-TW" sz="2800" dirty="0">
              <a:solidFill>
                <a:schemeClr val="tx2"/>
              </a:solidFill>
            </a:endParaRPr>
          </a:p>
        </p:txBody>
      </p:sp>
      <p:pic>
        <p:nvPicPr>
          <p:cNvPr id="9218" name="Picture 2" descr="http://www.sciencedirect.com/cache/MiamiImageURL/1-s2.0-S0031320310004486-gr6_lrg.jpg/0?wchp=dGLzVlS-zSkzS&amp;pii=S0031320310004486"/>
          <p:cNvPicPr>
            <a:picLocks noChangeAspect="1" noChangeArrowheads="1"/>
          </p:cNvPicPr>
          <p:nvPr/>
        </p:nvPicPr>
        <p:blipFill rotWithShape="1">
          <a:blip r:embed="rId2">
            <a:extLst>
              <a:ext uri="{28A0092B-C50C-407E-A947-70E740481C1C}">
                <a14:useLocalDpi xmlns:a14="http://schemas.microsoft.com/office/drawing/2010/main" xmlns="" val="0"/>
              </a:ext>
            </a:extLst>
          </a:blip>
          <a:srcRect t="-1" b="66959"/>
          <a:stretch/>
        </p:blipFill>
        <p:spPr bwMode="auto">
          <a:xfrm>
            <a:off x="972000" y="1455832"/>
            <a:ext cx="7200000" cy="446449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949235370"/>
      </p:ext>
    </p:extLst>
  </p:cSld>
  <p:clrMapOvr>
    <a:masterClrMapping/>
  </p:clrMapOvr>
  <p:transition>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dirty="0"/>
              <a:t>Combining Multiple Clusterings </a:t>
            </a:r>
            <a:br>
              <a:rPr lang="en-US" altLang="zh-TW" dirty="0"/>
            </a:br>
            <a:r>
              <a:rPr lang="en-US" altLang="zh-TW" dirty="0"/>
              <a:t>	via Similarity Graph (COMUSA) </a:t>
            </a:r>
            <a:endParaRPr lang="zh-TW" altLang="en-US" dirty="0"/>
          </a:p>
        </p:txBody>
      </p:sp>
      <p:sp>
        <p:nvSpPr>
          <p:cNvPr id="3" name="日期版面配置區 2"/>
          <p:cNvSpPr>
            <a:spLocks noGrp="1"/>
          </p:cNvSpPr>
          <p:nvPr>
            <p:ph type="dt" sz="half" idx="10"/>
          </p:nvPr>
        </p:nvSpPr>
        <p:spPr/>
        <p:txBody>
          <a:bodyPr/>
          <a:lstStyle/>
          <a:p>
            <a:fld id="{34F753EB-4612-4DED-A881-1D3159B50E5A}" type="datetime1">
              <a:rPr lang="zh-TW" altLang="en-US" smtClean="0"/>
              <a:t>2013/9/10</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12</a:t>
            </a:fld>
            <a:endParaRPr lang="zh-TW" altLang="en-US"/>
          </a:p>
        </p:txBody>
      </p:sp>
      <p:sp>
        <p:nvSpPr>
          <p:cNvPr id="5" name="內容版面配置區 4"/>
          <p:cNvSpPr>
            <a:spLocks noGrp="1"/>
          </p:cNvSpPr>
          <p:nvPr>
            <p:ph sz="quarter" idx="1"/>
          </p:nvPr>
        </p:nvSpPr>
        <p:spPr/>
        <p:txBody>
          <a:bodyPr>
            <a:normAutofit/>
          </a:bodyPr>
          <a:lstStyle/>
          <a:p>
            <a:endParaRPr lang="en-US" altLang="zh-TW" sz="2800" dirty="0">
              <a:solidFill>
                <a:schemeClr val="tx2"/>
              </a:solidFill>
            </a:endParaRPr>
          </a:p>
        </p:txBody>
      </p:sp>
      <p:pic>
        <p:nvPicPr>
          <p:cNvPr id="9218" name="Picture 2" descr="http://www.sciencedirect.com/cache/MiamiImageURL/1-s2.0-S0031320310004486-gr6_lrg.jpg/0?wchp=dGLzVlS-zSkzS&amp;pii=S0031320310004486"/>
          <p:cNvPicPr>
            <a:picLocks noChangeAspect="1" noChangeArrowheads="1"/>
          </p:cNvPicPr>
          <p:nvPr/>
        </p:nvPicPr>
        <p:blipFill rotWithShape="1">
          <a:blip r:embed="rId2">
            <a:extLst>
              <a:ext uri="{28A0092B-C50C-407E-A947-70E740481C1C}">
                <a14:useLocalDpi xmlns:a14="http://schemas.microsoft.com/office/drawing/2010/main" xmlns="" val="0"/>
              </a:ext>
            </a:extLst>
          </a:blip>
          <a:srcRect t="33042" b="32850"/>
          <a:stretch/>
        </p:blipFill>
        <p:spPr bwMode="auto">
          <a:xfrm>
            <a:off x="972000" y="1268760"/>
            <a:ext cx="7200000" cy="460851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77586433"/>
      </p:ext>
    </p:extLst>
  </p:cSld>
  <p:clrMapOvr>
    <a:masterClrMapping/>
  </p:clrMapOvr>
  <p:transition>
    <p:cu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dirty="0"/>
              <a:t>Combining Multiple Clusterings </a:t>
            </a:r>
            <a:br>
              <a:rPr lang="en-US" altLang="zh-TW" dirty="0"/>
            </a:br>
            <a:r>
              <a:rPr lang="en-US" altLang="zh-TW" dirty="0"/>
              <a:t>	via Similarity Graph (COMUSA) </a:t>
            </a:r>
            <a:endParaRPr lang="zh-TW" altLang="en-US" dirty="0"/>
          </a:p>
        </p:txBody>
      </p:sp>
      <p:sp>
        <p:nvSpPr>
          <p:cNvPr id="3" name="日期版面配置區 2"/>
          <p:cNvSpPr>
            <a:spLocks noGrp="1"/>
          </p:cNvSpPr>
          <p:nvPr>
            <p:ph type="dt" sz="half" idx="10"/>
          </p:nvPr>
        </p:nvSpPr>
        <p:spPr/>
        <p:txBody>
          <a:bodyPr/>
          <a:lstStyle/>
          <a:p>
            <a:fld id="{63C8B676-9B08-4731-8C0B-C86B3D0BB881}" type="datetime1">
              <a:rPr lang="zh-TW" altLang="en-US" smtClean="0"/>
              <a:t>2013/9/10</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13</a:t>
            </a:fld>
            <a:endParaRPr lang="zh-TW" altLang="en-US"/>
          </a:p>
        </p:txBody>
      </p:sp>
      <p:sp>
        <p:nvSpPr>
          <p:cNvPr id="5" name="內容版面配置區 4"/>
          <p:cNvSpPr>
            <a:spLocks noGrp="1"/>
          </p:cNvSpPr>
          <p:nvPr>
            <p:ph sz="quarter" idx="1"/>
          </p:nvPr>
        </p:nvSpPr>
        <p:spPr/>
        <p:txBody>
          <a:bodyPr>
            <a:normAutofit/>
          </a:bodyPr>
          <a:lstStyle/>
          <a:p>
            <a:endParaRPr lang="en-US" altLang="zh-TW" sz="2800" dirty="0">
              <a:solidFill>
                <a:schemeClr val="tx2"/>
              </a:solidFill>
            </a:endParaRPr>
          </a:p>
        </p:txBody>
      </p:sp>
      <p:pic>
        <p:nvPicPr>
          <p:cNvPr id="9218" name="Picture 2" descr="http://www.sciencedirect.com/cache/MiamiImageURL/1-s2.0-S0031320310004486-gr6_lrg.jpg/0?wchp=dGLzVlS-zSkzS&amp;pii=S0031320310004486"/>
          <p:cNvPicPr>
            <a:picLocks noChangeAspect="1" noChangeArrowheads="1"/>
          </p:cNvPicPr>
          <p:nvPr/>
        </p:nvPicPr>
        <p:blipFill rotWithShape="1">
          <a:blip r:embed="rId2">
            <a:extLst>
              <a:ext uri="{28A0092B-C50C-407E-A947-70E740481C1C}">
                <a14:useLocalDpi xmlns:a14="http://schemas.microsoft.com/office/drawing/2010/main" xmlns="" val="0"/>
              </a:ext>
            </a:extLst>
          </a:blip>
          <a:srcRect t="67150"/>
          <a:stretch/>
        </p:blipFill>
        <p:spPr bwMode="auto">
          <a:xfrm>
            <a:off x="972000" y="1340768"/>
            <a:ext cx="7200000" cy="443853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803932449"/>
      </p:ext>
    </p:extLst>
  </p:cSld>
  <p:clrMapOvr>
    <a:masterClrMapping/>
  </p:clrMapOvr>
  <p:transition>
    <p:cu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4" name="Picture 4" descr="http://www.sciencedirect.com/cache/MiamiImageURL/1-s2.0-S0031320310004486-gr7_lrg.jpg/0?wchp=dGLzVlV-zSkWA&amp;pii=S0031320310004486"/>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195736" y="2331961"/>
            <a:ext cx="6491064" cy="3824999"/>
          </a:xfrm>
          <a:prstGeom prst="rect">
            <a:avLst/>
          </a:prstGeom>
          <a:noFill/>
          <a:extLst>
            <a:ext uri="{909E8E84-426E-40DD-AFC4-6F175D3DCCD1}">
              <a14:hiddenFill xmlns:a14="http://schemas.microsoft.com/office/drawing/2010/main" xmlns="">
                <a:solidFill>
                  <a:srgbClr val="FFFFFF"/>
                </a:solidFill>
              </a14:hiddenFill>
            </a:ext>
          </a:extLst>
        </p:spPr>
      </p:pic>
      <p:sp>
        <p:nvSpPr>
          <p:cNvPr id="2" name="標題 1"/>
          <p:cNvSpPr>
            <a:spLocks noGrp="1"/>
          </p:cNvSpPr>
          <p:nvPr>
            <p:ph type="title"/>
          </p:nvPr>
        </p:nvSpPr>
        <p:spPr/>
        <p:txBody>
          <a:bodyPr>
            <a:noAutofit/>
          </a:bodyPr>
          <a:lstStyle/>
          <a:p>
            <a:r>
              <a:rPr lang="en-US" altLang="zh-TW" dirty="0" smtClean="0"/>
              <a:t>Relaxation</a:t>
            </a:r>
            <a:endParaRPr lang="zh-TW" altLang="en-US" dirty="0"/>
          </a:p>
        </p:txBody>
      </p:sp>
      <p:sp>
        <p:nvSpPr>
          <p:cNvPr id="3" name="日期版面配置區 2"/>
          <p:cNvSpPr>
            <a:spLocks noGrp="1"/>
          </p:cNvSpPr>
          <p:nvPr>
            <p:ph type="dt" sz="half" idx="10"/>
          </p:nvPr>
        </p:nvSpPr>
        <p:spPr/>
        <p:txBody>
          <a:bodyPr/>
          <a:lstStyle/>
          <a:p>
            <a:fld id="{8215EE2D-B57C-4186-9AD0-287083A8D62E}" type="datetime1">
              <a:rPr lang="zh-TW" altLang="en-US" smtClean="0"/>
              <a:t>2013/9/10</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14</a:t>
            </a:fld>
            <a:endParaRPr lang="zh-TW" altLang="en-US"/>
          </a:p>
        </p:txBody>
      </p:sp>
      <mc:AlternateContent xmlns:mc="http://schemas.openxmlformats.org/markup-compatibility/2006">
        <mc:Choice xmlns:a14="http://schemas.microsoft.com/office/drawing/2010/main" xmlns="" Requires="a14">
          <p:sp>
            <p:nvSpPr>
              <p:cNvPr id="5" name="內容版面配置區 4"/>
              <p:cNvSpPr>
                <a:spLocks noGrp="1"/>
              </p:cNvSpPr>
              <p:nvPr>
                <p:ph sz="quarter" idx="1"/>
              </p:nvPr>
            </p:nvSpPr>
            <p:spPr/>
            <p:txBody>
              <a:bodyPr>
                <a:normAutofit/>
              </a:bodyPr>
              <a:lstStyle/>
              <a:p>
                <a:r>
                  <a:rPr lang="en-US" altLang="zh-TW" sz="2800" dirty="0" smtClean="0"/>
                  <a:t>With a relaxation of 25%,</a:t>
                </a:r>
                <a:br>
                  <a:rPr lang="en-US" altLang="zh-TW" sz="2800" dirty="0" smtClean="0"/>
                </a:br>
                <a:r>
                  <a:rPr lang="en-US" altLang="zh-TW" sz="2800" dirty="0" smtClean="0"/>
                  <a:t>weight(d1,d2)</a:t>
                </a:r>
                <a14:m>
                  <m:oMath xmlns:m="http://schemas.openxmlformats.org/officeDocument/2006/math">
                    <m:r>
                      <a:rPr lang="en-US" altLang="zh-TW" sz="2800" i="1" smtClean="0">
                        <a:latin typeface="Cambria Math" panose="02040503050406030204" pitchFamily="18" charset="0"/>
                        <a:ea typeface="Cambria Math" panose="02040503050406030204" pitchFamily="18" charset="0"/>
                      </a:rPr>
                      <m:t>×</m:t>
                    </m:r>
                  </m:oMath>
                </a14:m>
                <a:r>
                  <a:rPr lang="en-US" altLang="zh-TW" sz="2800" dirty="0" smtClean="0"/>
                  <a:t>1.25</a:t>
                </a:r>
                <a14:m>
                  <m:oMath xmlns:m="http://schemas.openxmlformats.org/officeDocument/2006/math">
                    <m:r>
                      <a:rPr lang="en-US" altLang="zh-TW" sz="2800" i="1" dirty="0" smtClean="0">
                        <a:latin typeface="Cambria Math" panose="02040503050406030204" pitchFamily="18" charset="0"/>
                        <a:ea typeface="Cambria Math" panose="02040503050406030204" pitchFamily="18" charset="0"/>
                      </a:rPr>
                      <m:t>≥</m:t>
                    </m:r>
                  </m:oMath>
                </a14:m>
                <a:r>
                  <a:rPr lang="en-US" altLang="zh-TW" sz="2800" dirty="0" smtClean="0"/>
                  <a:t>weight(d2,d3) </a:t>
                </a:r>
                <a:endParaRPr lang="en-US" altLang="zh-TW" sz="2800" dirty="0">
                  <a:solidFill>
                    <a:schemeClr val="tx2"/>
                  </a:solidFill>
                </a:endParaRPr>
              </a:p>
            </p:txBody>
          </p:sp>
        </mc:Choice>
        <mc:Fallback>
          <p:sp>
            <p:nvSpPr>
              <p:cNvPr id="5" name="內容版面配置區 4"/>
              <p:cNvSpPr>
                <a:spLocks noGrp="1" noRot="1" noChangeAspect="1" noMove="1" noResize="1" noEditPoints="1" noAdjustHandles="1" noChangeArrowheads="1" noChangeShapeType="1" noTextEdit="1"/>
              </p:cNvSpPr>
              <p:nvPr>
                <p:ph sz="quarter" idx="1"/>
              </p:nvPr>
            </p:nvSpPr>
            <p:spPr>
              <a:blipFill rotWithShape="0">
                <a:blip r:embed="rId3"/>
                <a:stretch>
                  <a:fillRect l="-741" t="-1111"/>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4283622359"/>
      </p:ext>
    </p:extLst>
  </p:cSld>
  <p:clrMapOvr>
    <a:masterClrMapping/>
  </p:clrMapOvr>
  <p:transition>
    <p:cu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dirty="0" smtClean="0"/>
              <a:t>Example - 1</a:t>
            </a:r>
            <a:endParaRPr lang="zh-TW" altLang="en-US" dirty="0"/>
          </a:p>
        </p:txBody>
      </p:sp>
      <p:sp>
        <p:nvSpPr>
          <p:cNvPr id="3" name="日期版面配置區 2"/>
          <p:cNvSpPr>
            <a:spLocks noGrp="1"/>
          </p:cNvSpPr>
          <p:nvPr>
            <p:ph type="dt" sz="half" idx="10"/>
          </p:nvPr>
        </p:nvSpPr>
        <p:spPr/>
        <p:txBody>
          <a:bodyPr/>
          <a:lstStyle/>
          <a:p>
            <a:fld id="{7466244F-70DD-408D-A108-AD38352E0FBF}" type="datetime1">
              <a:rPr lang="zh-TW" altLang="en-US" smtClean="0"/>
              <a:t>2013/9/10</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15</a:t>
            </a:fld>
            <a:endParaRPr lang="zh-TW" altLang="en-US"/>
          </a:p>
        </p:txBody>
      </p:sp>
      <p:sp>
        <p:nvSpPr>
          <p:cNvPr id="5" name="內容版面配置區 4"/>
          <p:cNvSpPr>
            <a:spLocks noGrp="1"/>
          </p:cNvSpPr>
          <p:nvPr>
            <p:ph sz="quarter" idx="1"/>
          </p:nvPr>
        </p:nvSpPr>
        <p:spPr/>
        <p:txBody>
          <a:bodyPr>
            <a:normAutofit/>
          </a:bodyPr>
          <a:lstStyle/>
          <a:p>
            <a:r>
              <a:rPr lang="en-US" altLang="zh-TW" sz="2800" dirty="0" smtClean="0"/>
              <a:t>All </a:t>
            </a:r>
            <a:r>
              <a:rPr lang="en-US" altLang="zh-TW" sz="2800" dirty="0"/>
              <a:t>the edge labels are </a:t>
            </a:r>
            <a:r>
              <a:rPr lang="en-US" altLang="zh-TW" sz="2800" dirty="0" smtClean="0"/>
              <a:t>2</a:t>
            </a:r>
          </a:p>
          <a:p>
            <a:r>
              <a:rPr lang="en-US" altLang="zh-TW" sz="2800" dirty="0" smtClean="0"/>
              <a:t>We end </a:t>
            </a:r>
            <a:r>
              <a:rPr lang="en-US" altLang="zh-TW" sz="2800" dirty="0"/>
              <a:t>up with one big cluster having all the </a:t>
            </a:r>
            <a:r>
              <a:rPr lang="en-US" altLang="zh-TW" sz="2800" dirty="0" smtClean="0"/>
              <a:t>vertices.</a:t>
            </a:r>
            <a:endParaRPr lang="en-US" altLang="zh-TW" sz="2800" dirty="0">
              <a:solidFill>
                <a:schemeClr val="tx2"/>
              </a:solidFill>
            </a:endParaRPr>
          </a:p>
        </p:txBody>
      </p:sp>
      <p:pic>
        <p:nvPicPr>
          <p:cNvPr id="11" name="Picture 4" descr="http://www.sciencedirect.com/cache/MiamiImageURL/1-s2.0-S0031320310004486-gr8_lrg.jpg/0?wchp=dGLzVlB-zSkWb&amp;pii=S0031320310004486"/>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b="50327"/>
          <a:stretch/>
        </p:blipFill>
        <p:spPr bwMode="auto">
          <a:xfrm>
            <a:off x="2793035" y="2492897"/>
            <a:ext cx="5893765" cy="3816424"/>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73928077"/>
      </p:ext>
    </p:extLst>
  </p:cSld>
  <p:clrMapOvr>
    <a:masterClrMapping/>
  </p:clrMapOvr>
  <p:transition>
    <p:cu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p:cNvPicPr>
            <a:picLocks noChangeAspect="1"/>
          </p:cNvPicPr>
          <p:nvPr/>
        </p:nvPicPr>
        <p:blipFill>
          <a:blip r:embed="rId2"/>
          <a:stretch>
            <a:fillRect/>
          </a:stretch>
        </p:blipFill>
        <p:spPr>
          <a:xfrm>
            <a:off x="3567993" y="3284985"/>
            <a:ext cx="5570673" cy="3576438"/>
          </a:xfrm>
          <a:prstGeom prst="rect">
            <a:avLst/>
          </a:prstGeom>
        </p:spPr>
      </p:pic>
      <p:sp>
        <p:nvSpPr>
          <p:cNvPr id="2" name="標題 1"/>
          <p:cNvSpPr>
            <a:spLocks noGrp="1"/>
          </p:cNvSpPr>
          <p:nvPr>
            <p:ph type="title"/>
          </p:nvPr>
        </p:nvSpPr>
        <p:spPr/>
        <p:txBody>
          <a:bodyPr>
            <a:noAutofit/>
          </a:bodyPr>
          <a:lstStyle/>
          <a:p>
            <a:r>
              <a:rPr lang="en-US" altLang="zh-TW" dirty="0" smtClean="0"/>
              <a:t>Example - 2</a:t>
            </a:r>
            <a:endParaRPr lang="zh-TW" altLang="en-US" dirty="0"/>
          </a:p>
        </p:txBody>
      </p:sp>
      <p:sp>
        <p:nvSpPr>
          <p:cNvPr id="3" name="日期版面配置區 2"/>
          <p:cNvSpPr>
            <a:spLocks noGrp="1"/>
          </p:cNvSpPr>
          <p:nvPr>
            <p:ph type="dt" sz="half" idx="10"/>
          </p:nvPr>
        </p:nvSpPr>
        <p:spPr/>
        <p:txBody>
          <a:bodyPr/>
          <a:lstStyle/>
          <a:p>
            <a:fld id="{E28F2364-73F1-4C24-AAE8-0BF8025890B1}" type="datetime1">
              <a:rPr lang="zh-TW" altLang="en-US" smtClean="0"/>
              <a:t>2013/9/10</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16</a:t>
            </a:fld>
            <a:endParaRPr lang="zh-TW" altLang="en-US"/>
          </a:p>
        </p:txBody>
      </p:sp>
      <p:sp>
        <p:nvSpPr>
          <p:cNvPr id="5" name="內容版面配置區 4"/>
          <p:cNvSpPr>
            <a:spLocks noGrp="1"/>
          </p:cNvSpPr>
          <p:nvPr>
            <p:ph sz="quarter" idx="1"/>
          </p:nvPr>
        </p:nvSpPr>
        <p:spPr/>
        <p:txBody>
          <a:bodyPr>
            <a:normAutofit/>
          </a:bodyPr>
          <a:lstStyle/>
          <a:p>
            <a:endParaRPr lang="en-US" altLang="zh-TW" sz="2800" dirty="0">
              <a:solidFill>
                <a:schemeClr val="tx2"/>
              </a:solidFill>
            </a:endParaRPr>
          </a:p>
        </p:txBody>
      </p:sp>
      <p:pic>
        <p:nvPicPr>
          <p:cNvPr id="6" name="圖片 5"/>
          <p:cNvPicPr>
            <a:picLocks noChangeAspect="1"/>
          </p:cNvPicPr>
          <p:nvPr/>
        </p:nvPicPr>
        <p:blipFill>
          <a:blip r:embed="rId3"/>
          <a:stretch>
            <a:fillRect/>
          </a:stretch>
        </p:blipFill>
        <p:spPr>
          <a:xfrm>
            <a:off x="3608901" y="-36453"/>
            <a:ext cx="5535099" cy="3412495"/>
          </a:xfrm>
          <a:prstGeom prst="rect">
            <a:avLst/>
          </a:prstGeom>
        </p:spPr>
      </p:pic>
    </p:spTree>
    <p:extLst>
      <p:ext uri="{BB962C8B-B14F-4D97-AF65-F5344CB8AC3E}">
        <p14:creationId xmlns:p14="http://schemas.microsoft.com/office/powerpoint/2010/main" xmlns="" val="3556526951"/>
      </p:ext>
    </p:extLst>
  </p:cSld>
  <p:clrMapOvr>
    <a:masterClrMapping/>
  </p:clrMapOvr>
  <p:transition>
    <p:cu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evaluations</a:t>
            </a:r>
            <a:endParaRPr lang="zh-TW" altLang="en-US" dirty="0"/>
          </a:p>
        </p:txBody>
      </p:sp>
      <p:sp>
        <p:nvSpPr>
          <p:cNvPr id="5" name="內容版面配置區 4"/>
          <p:cNvSpPr>
            <a:spLocks noGrp="1"/>
          </p:cNvSpPr>
          <p:nvPr>
            <p:ph sz="quarter" idx="1"/>
          </p:nvPr>
        </p:nvSpPr>
        <p:spPr>
          <a:xfrm>
            <a:off x="457200" y="1219200"/>
            <a:ext cx="8229600" cy="5638800"/>
          </a:xfrm>
        </p:spPr>
        <p:txBody>
          <a:bodyPr>
            <a:normAutofit/>
          </a:bodyPr>
          <a:lstStyle/>
          <a:p>
            <a:r>
              <a:rPr lang="en-US" altLang="zh-TW" dirty="0" smtClean="0"/>
              <a:t>Intra-cluster </a:t>
            </a:r>
            <a:r>
              <a:rPr lang="en-US" altLang="zh-TW" dirty="0"/>
              <a:t>similarity </a:t>
            </a:r>
            <a:r>
              <a:rPr lang="en-US" altLang="zh-TW" dirty="0" smtClean="0"/>
              <a:t>is</a:t>
            </a:r>
          </a:p>
          <a:p>
            <a:endParaRPr lang="en-US" altLang="zh-TW" dirty="0"/>
          </a:p>
          <a:p>
            <a:endParaRPr lang="en-US" altLang="zh-TW" dirty="0" smtClean="0"/>
          </a:p>
          <a:p>
            <a:pPr marL="0" indent="0">
              <a:buNone/>
            </a:pPr>
            <a:endParaRPr lang="en-US" altLang="zh-TW" dirty="0" smtClean="0"/>
          </a:p>
          <a:p>
            <a:r>
              <a:rPr lang="en-US" altLang="zh-TW" dirty="0"/>
              <a:t>Inter-cluster </a:t>
            </a:r>
            <a:r>
              <a:rPr lang="en-US" altLang="zh-TW" dirty="0" smtClean="0"/>
              <a:t>similarity is</a:t>
            </a:r>
          </a:p>
          <a:p>
            <a:endParaRPr lang="en-US" altLang="zh-TW" dirty="0"/>
          </a:p>
          <a:p>
            <a:endParaRPr lang="en-US" altLang="zh-TW" dirty="0" smtClean="0"/>
          </a:p>
          <a:p>
            <a:endParaRPr lang="en-US" altLang="zh-TW" dirty="0"/>
          </a:p>
          <a:p>
            <a:endParaRPr lang="en-US" altLang="zh-TW" dirty="0" smtClean="0"/>
          </a:p>
          <a:p>
            <a:endParaRPr lang="en-US" altLang="zh-TW" dirty="0" smtClean="0"/>
          </a:p>
          <a:p>
            <a:endParaRPr lang="en-US" altLang="zh-TW" dirty="0"/>
          </a:p>
        </p:txBody>
      </p:sp>
      <p:pic>
        <p:nvPicPr>
          <p:cNvPr id="7" name="圖片 6"/>
          <p:cNvPicPr>
            <a:picLocks noChangeAspect="1"/>
          </p:cNvPicPr>
          <p:nvPr/>
        </p:nvPicPr>
        <p:blipFill>
          <a:blip r:embed="rId2"/>
          <a:stretch>
            <a:fillRect/>
          </a:stretch>
        </p:blipFill>
        <p:spPr>
          <a:xfrm>
            <a:off x="4788024" y="1318066"/>
            <a:ext cx="4325841" cy="886798"/>
          </a:xfrm>
          <a:prstGeom prst="rect">
            <a:avLst/>
          </a:prstGeom>
        </p:spPr>
      </p:pic>
      <p:pic>
        <p:nvPicPr>
          <p:cNvPr id="8" name="圖片 7"/>
          <p:cNvPicPr>
            <a:picLocks noChangeAspect="1"/>
          </p:cNvPicPr>
          <p:nvPr/>
        </p:nvPicPr>
        <p:blipFill>
          <a:blip r:embed="rId3"/>
          <a:stretch>
            <a:fillRect/>
          </a:stretch>
        </p:blipFill>
        <p:spPr>
          <a:xfrm>
            <a:off x="3680334" y="2244990"/>
            <a:ext cx="5500178" cy="823970"/>
          </a:xfrm>
          <a:prstGeom prst="rect">
            <a:avLst/>
          </a:prstGeom>
        </p:spPr>
      </p:pic>
      <p:pic>
        <p:nvPicPr>
          <p:cNvPr id="9" name="圖片 8"/>
          <p:cNvPicPr>
            <a:picLocks noChangeAspect="1"/>
          </p:cNvPicPr>
          <p:nvPr/>
        </p:nvPicPr>
        <p:blipFill>
          <a:blip r:embed="rId4"/>
          <a:stretch>
            <a:fillRect/>
          </a:stretch>
        </p:blipFill>
        <p:spPr>
          <a:xfrm>
            <a:off x="4082241" y="3537837"/>
            <a:ext cx="5098271" cy="827267"/>
          </a:xfrm>
          <a:prstGeom prst="rect">
            <a:avLst/>
          </a:prstGeom>
        </p:spPr>
      </p:pic>
      <p:pic>
        <p:nvPicPr>
          <p:cNvPr id="10" name="圖片 9"/>
          <p:cNvPicPr>
            <a:picLocks noChangeAspect="1"/>
          </p:cNvPicPr>
          <p:nvPr/>
        </p:nvPicPr>
        <p:blipFill>
          <a:blip r:embed="rId5"/>
          <a:stretch>
            <a:fillRect/>
          </a:stretch>
        </p:blipFill>
        <p:spPr>
          <a:xfrm>
            <a:off x="2411760" y="4514459"/>
            <a:ext cx="6768752" cy="1434821"/>
          </a:xfrm>
          <a:prstGeom prst="rect">
            <a:avLst/>
          </a:prstGeom>
        </p:spPr>
      </p:pic>
      <p:pic>
        <p:nvPicPr>
          <p:cNvPr id="11" name="圖片 10"/>
          <p:cNvPicPr>
            <a:picLocks noChangeAspect="1"/>
          </p:cNvPicPr>
          <p:nvPr/>
        </p:nvPicPr>
        <p:blipFill>
          <a:blip r:embed="rId6"/>
          <a:stretch>
            <a:fillRect/>
          </a:stretch>
        </p:blipFill>
        <p:spPr>
          <a:xfrm>
            <a:off x="3607905" y="6379040"/>
            <a:ext cx="5572607" cy="434336"/>
          </a:xfrm>
          <a:prstGeom prst="rect">
            <a:avLst/>
          </a:prstGeom>
        </p:spPr>
      </p:pic>
      <p:sp>
        <p:nvSpPr>
          <p:cNvPr id="12" name="矩形 11"/>
          <p:cNvSpPr/>
          <p:nvPr/>
        </p:nvSpPr>
        <p:spPr>
          <a:xfrm>
            <a:off x="572813" y="6306112"/>
            <a:ext cx="3005823" cy="492443"/>
          </a:xfrm>
          <a:prstGeom prst="rect">
            <a:avLst/>
          </a:prstGeom>
        </p:spPr>
        <p:txBody>
          <a:bodyPr wrap="none">
            <a:spAutoFit/>
          </a:bodyPr>
          <a:lstStyle/>
          <a:p>
            <a:r>
              <a:rPr lang="en-US" altLang="zh-TW" sz="2600" dirty="0">
                <a:latin typeface="微軟正黑體" panose="020B0604030504040204" pitchFamily="34" charset="-120"/>
                <a:ea typeface="微軟正黑體" panose="020B0604030504040204" pitchFamily="34" charset="-120"/>
              </a:rPr>
              <a:t>validity </a:t>
            </a:r>
            <a:r>
              <a:rPr lang="en-US" altLang="zh-TW" sz="2600" dirty="0" smtClean="0">
                <a:latin typeface="微軟正黑體" panose="020B0604030504040204" pitchFamily="34" charset="-120"/>
                <a:ea typeface="微軟正黑體" panose="020B0604030504040204" pitchFamily="34" charset="-120"/>
              </a:rPr>
              <a:t>function is</a:t>
            </a:r>
            <a:endParaRPr lang="zh-TW" altLang="en-US" sz="2600" dirty="0">
              <a:latin typeface="微軟正黑體" panose="020B0604030504040204" pitchFamily="34" charset="-120"/>
              <a:ea typeface="微軟正黑體" panose="020B0604030504040204" pitchFamily="34" charset="-120"/>
            </a:endParaRPr>
          </a:p>
        </p:txBody>
      </p:sp>
      <p:pic>
        <p:nvPicPr>
          <p:cNvPr id="13" name="圖片 12"/>
          <p:cNvPicPr>
            <a:picLocks noChangeAspect="1"/>
          </p:cNvPicPr>
          <p:nvPr/>
        </p:nvPicPr>
        <p:blipFill>
          <a:blip r:embed="rId7"/>
          <a:stretch>
            <a:fillRect/>
          </a:stretch>
        </p:blipFill>
        <p:spPr>
          <a:xfrm>
            <a:off x="6885781" y="6394633"/>
            <a:ext cx="304800" cy="295275"/>
          </a:xfrm>
          <a:prstGeom prst="rect">
            <a:avLst/>
          </a:prstGeom>
        </p:spPr>
      </p:pic>
      <p:sp>
        <p:nvSpPr>
          <p:cNvPr id="14" name="日期版面配置區 13"/>
          <p:cNvSpPr>
            <a:spLocks noGrp="1"/>
          </p:cNvSpPr>
          <p:nvPr>
            <p:ph type="dt" sz="half" idx="10"/>
          </p:nvPr>
        </p:nvSpPr>
        <p:spPr/>
        <p:txBody>
          <a:bodyPr/>
          <a:lstStyle/>
          <a:p>
            <a:fld id="{61C6C756-9F9A-4A19-B077-5F4EF019496E}" type="datetime1">
              <a:rPr lang="zh-TW" altLang="en-US" smtClean="0"/>
              <a:t>2013/9/10</a:t>
            </a:fld>
            <a:endParaRPr lang="zh-TW" altLang="en-US"/>
          </a:p>
        </p:txBody>
      </p:sp>
      <p:sp>
        <p:nvSpPr>
          <p:cNvPr id="15" name="投影片編號版面配置區 14"/>
          <p:cNvSpPr>
            <a:spLocks noGrp="1"/>
          </p:cNvSpPr>
          <p:nvPr>
            <p:ph type="sldNum" sz="quarter" idx="12"/>
          </p:nvPr>
        </p:nvSpPr>
        <p:spPr/>
        <p:txBody>
          <a:bodyPr/>
          <a:lstStyle/>
          <a:p>
            <a:fld id="{61A04B93-F247-42E5-95CE-B8478AD23DB7}" type="slidenum">
              <a:rPr lang="zh-TW" altLang="en-US" smtClean="0"/>
              <a:pPr/>
              <a:t>17</a:t>
            </a:fld>
            <a:endParaRPr lang="zh-TW" altLang="en-US"/>
          </a:p>
        </p:txBody>
      </p:sp>
    </p:spTree>
    <p:extLst>
      <p:ext uri="{BB962C8B-B14F-4D97-AF65-F5344CB8AC3E}">
        <p14:creationId xmlns:p14="http://schemas.microsoft.com/office/powerpoint/2010/main" xmlns="" val="380109983"/>
      </p:ext>
    </p:extLst>
  </p:cSld>
  <p:clrMapOvr>
    <a:masterClrMapping/>
  </p:clrMapOvr>
  <p:transition>
    <p:cu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evaluations</a:t>
            </a:r>
            <a:endParaRPr lang="zh-TW" altLang="en-US" dirty="0"/>
          </a:p>
        </p:txBody>
      </p:sp>
      <p:sp>
        <p:nvSpPr>
          <p:cNvPr id="3" name="日期版面配置區 2"/>
          <p:cNvSpPr>
            <a:spLocks noGrp="1"/>
          </p:cNvSpPr>
          <p:nvPr>
            <p:ph type="dt" sz="half" idx="10"/>
          </p:nvPr>
        </p:nvSpPr>
        <p:spPr/>
        <p:txBody>
          <a:bodyPr/>
          <a:lstStyle/>
          <a:p>
            <a:fld id="{0732485A-7AF3-4797-B90A-E2365B224070}" type="datetime1">
              <a:rPr lang="zh-TW" altLang="en-US" smtClean="0"/>
              <a:t>2013/9/10</a:t>
            </a:fld>
            <a:endParaRPr lang="zh-TW" altLang="en-US"/>
          </a:p>
        </p:txBody>
      </p:sp>
      <p:sp>
        <p:nvSpPr>
          <p:cNvPr id="5" name="內容版面配置區 4"/>
          <p:cNvSpPr>
            <a:spLocks noGrp="1"/>
          </p:cNvSpPr>
          <p:nvPr>
            <p:ph sz="quarter" idx="1"/>
          </p:nvPr>
        </p:nvSpPr>
        <p:spPr>
          <a:xfrm>
            <a:off x="457200" y="1219199"/>
            <a:ext cx="8229600" cy="5613421"/>
          </a:xfrm>
        </p:spPr>
        <p:txBody>
          <a:bodyPr>
            <a:normAutofit/>
          </a:bodyPr>
          <a:lstStyle/>
          <a:p>
            <a:r>
              <a:rPr lang="en-US" altLang="zh-TW" dirty="0"/>
              <a:t>Adjusted rand index (ARI</a:t>
            </a:r>
            <a:r>
              <a:rPr lang="en-US" altLang="zh-TW" dirty="0" smtClean="0"/>
              <a:t>)</a:t>
            </a:r>
          </a:p>
          <a:p>
            <a:pPr marL="0" indent="0">
              <a:buNone/>
            </a:pPr>
            <a:r>
              <a:rPr lang="en-US" altLang="zh-TW" dirty="0" smtClean="0"/>
              <a:t>                           </a:t>
            </a:r>
            <a:r>
              <a:rPr lang="en-US" altLang="zh-TW" dirty="0"/>
              <a:t>represents </a:t>
            </a:r>
            <a:r>
              <a:rPr lang="en-US" altLang="zh-TW" dirty="0" smtClean="0"/>
              <a:t>classes.</a:t>
            </a:r>
          </a:p>
          <a:p>
            <a:pPr marL="0" indent="0">
              <a:buNone/>
            </a:pPr>
            <a:r>
              <a:rPr lang="en-US" altLang="zh-TW" dirty="0"/>
              <a:t> </a:t>
            </a:r>
            <a:r>
              <a:rPr lang="en-US" altLang="zh-TW" dirty="0" smtClean="0"/>
              <a:t>                          represents </a:t>
            </a:r>
            <a:r>
              <a:rPr lang="en-US" altLang="zh-TW" dirty="0"/>
              <a:t>a </a:t>
            </a:r>
            <a:r>
              <a:rPr lang="en-US" altLang="zh-TW" dirty="0" smtClean="0"/>
              <a:t>clusterings.</a:t>
            </a:r>
          </a:p>
          <a:p>
            <a:pPr marL="0" indent="0">
              <a:buNone/>
            </a:pPr>
            <a:endParaRPr lang="en-US" altLang="zh-TW" dirty="0"/>
          </a:p>
          <a:p>
            <a:pPr marL="0" indent="0">
              <a:buNone/>
            </a:pPr>
            <a:endParaRPr lang="en-US" altLang="zh-TW" dirty="0" smtClean="0"/>
          </a:p>
          <a:p>
            <a:pPr marL="0" indent="0">
              <a:buNone/>
            </a:pPr>
            <a:endParaRPr lang="en-US" altLang="zh-TW" dirty="0"/>
          </a:p>
          <a:p>
            <a:pPr marL="0" indent="0">
              <a:buNone/>
            </a:pPr>
            <a:endParaRPr lang="en-US" altLang="zh-TW" dirty="0" smtClean="0"/>
          </a:p>
          <a:p>
            <a:pPr marL="0" indent="0">
              <a:buNone/>
            </a:pPr>
            <a:endParaRPr lang="en-US" altLang="zh-TW" dirty="0"/>
          </a:p>
          <a:p>
            <a:pPr marL="0" indent="0">
              <a:buNone/>
            </a:pPr>
            <a:endParaRPr lang="en-US" altLang="zh-TW" dirty="0" smtClean="0"/>
          </a:p>
          <a:p>
            <a:pPr marL="0" indent="0">
              <a:buNone/>
            </a:pPr>
            <a:endParaRPr lang="en-US" altLang="zh-TW" dirty="0"/>
          </a:p>
          <a:p>
            <a:r>
              <a:rPr lang="en-US" altLang="zh-TW" dirty="0" smtClean="0"/>
              <a:t>  ARI =</a:t>
            </a:r>
          </a:p>
          <a:p>
            <a:pPr marL="0" indent="0">
              <a:buNone/>
            </a:pPr>
            <a:endParaRPr lang="en-US" altLang="zh-TW" dirty="0" smtClean="0"/>
          </a:p>
        </p:txBody>
      </p:sp>
      <p:pic>
        <p:nvPicPr>
          <p:cNvPr id="6" name="圖片 5"/>
          <p:cNvPicPr>
            <a:picLocks noChangeAspect="1"/>
          </p:cNvPicPr>
          <p:nvPr/>
        </p:nvPicPr>
        <p:blipFill>
          <a:blip r:embed="rId2"/>
          <a:stretch>
            <a:fillRect/>
          </a:stretch>
        </p:blipFill>
        <p:spPr>
          <a:xfrm>
            <a:off x="755576" y="1772816"/>
            <a:ext cx="1838272" cy="344676"/>
          </a:xfrm>
          <a:prstGeom prst="rect">
            <a:avLst/>
          </a:prstGeom>
        </p:spPr>
      </p:pic>
      <p:pic>
        <p:nvPicPr>
          <p:cNvPr id="11" name="圖片 10"/>
          <p:cNvPicPr>
            <a:picLocks noChangeAspect="1"/>
          </p:cNvPicPr>
          <p:nvPr/>
        </p:nvPicPr>
        <p:blipFill>
          <a:blip r:embed="rId3"/>
          <a:stretch>
            <a:fillRect/>
          </a:stretch>
        </p:blipFill>
        <p:spPr>
          <a:xfrm>
            <a:off x="755576" y="2231158"/>
            <a:ext cx="1838272" cy="367654"/>
          </a:xfrm>
          <a:prstGeom prst="rect">
            <a:avLst/>
          </a:prstGeom>
        </p:spPr>
      </p:pic>
      <p:graphicFrame>
        <p:nvGraphicFramePr>
          <p:cNvPr id="12" name="表格 11"/>
          <p:cNvGraphicFramePr>
            <a:graphicFrameLocks noGrp="1"/>
          </p:cNvGraphicFramePr>
          <p:nvPr>
            <p:extLst>
              <p:ext uri="{D42A27DB-BD31-4B8C-83A1-F6EECF244321}">
                <p14:modId xmlns:p14="http://schemas.microsoft.com/office/powerpoint/2010/main" xmlns="" val="2509558120"/>
              </p:ext>
            </p:extLst>
          </p:nvPr>
        </p:nvGraphicFramePr>
        <p:xfrm>
          <a:off x="457200" y="3240984"/>
          <a:ext cx="8363274" cy="2194560"/>
        </p:xfrm>
        <a:graphic>
          <a:graphicData uri="http://schemas.openxmlformats.org/drawingml/2006/table">
            <a:tbl>
              <a:tblPr/>
              <a:tblGrid>
                <a:gridCol w="1393879"/>
                <a:gridCol w="1393879"/>
                <a:gridCol w="1393879"/>
                <a:gridCol w="1393879"/>
                <a:gridCol w="1393879"/>
                <a:gridCol w="1393879"/>
              </a:tblGrid>
              <a:tr h="0">
                <a:tc>
                  <a:txBody>
                    <a:bodyPr/>
                    <a:lstStyle/>
                    <a:p>
                      <a:pPr algn="l" fontAlgn="t"/>
                      <a:r>
                        <a:rPr lang="en-US" b="1" dirty="0">
                          <a:effectLst/>
                        </a:rPr>
                        <a:t>Class/cluster</a:t>
                      </a:r>
                      <a:endParaRPr lang="en-US" b="0" dirty="0">
                        <a:effectLst/>
                      </a:endParaRPr>
                    </a:p>
                  </a:txBody>
                  <a:tcPr>
                    <a:lnL w="9525" cap="flat" cmpd="sng" algn="ctr">
                      <a:solidFill>
                        <a:srgbClr val="F9FBFC"/>
                      </a:solidFill>
                      <a:prstDash val="solid"/>
                      <a:round/>
                      <a:headEnd type="none" w="med" len="med"/>
                      <a:tailEnd type="none" w="med" len="med"/>
                    </a:lnL>
                    <a:lnR w="9525" cap="flat" cmpd="sng" algn="ctr">
                      <a:solidFill>
                        <a:srgbClr val="F9FBFC"/>
                      </a:solidFill>
                      <a:prstDash val="solid"/>
                      <a:round/>
                      <a:headEnd type="none" w="med" len="med"/>
                      <a:tailEnd type="none" w="med" len="med"/>
                    </a:lnR>
                    <a:lnT w="9525" cap="flat" cmpd="sng" algn="ctr">
                      <a:solidFill>
                        <a:srgbClr val="F9FBFC"/>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9FBFC"/>
                    </a:solidFill>
                  </a:tcPr>
                </a:tc>
                <a:tc>
                  <a:txBody>
                    <a:bodyPr/>
                    <a:lstStyle/>
                    <a:p>
                      <a:pPr algn="l" fontAlgn="t"/>
                      <a:r>
                        <a:rPr lang="en-US" b="1" dirty="0" smtClean="0">
                          <a:effectLst/>
                        </a:rPr>
                        <a:t>V</a:t>
                      </a:r>
                      <a:r>
                        <a:rPr lang="en-US" b="1" baseline="-25000" dirty="0" smtClean="0">
                          <a:effectLst/>
                        </a:rPr>
                        <a:t>1</a:t>
                      </a:r>
                      <a:endParaRPr lang="en-US" b="0" dirty="0">
                        <a:effectLst/>
                      </a:endParaRPr>
                    </a:p>
                  </a:txBody>
                  <a:tcPr>
                    <a:lnL w="9525" cap="flat" cmpd="sng" algn="ctr">
                      <a:solidFill>
                        <a:srgbClr val="F9FBFC"/>
                      </a:solidFill>
                      <a:prstDash val="solid"/>
                      <a:round/>
                      <a:headEnd type="none" w="med" len="med"/>
                      <a:tailEnd type="none" w="med" len="med"/>
                    </a:lnL>
                    <a:lnR w="9525" cap="flat" cmpd="sng" algn="ctr">
                      <a:solidFill>
                        <a:srgbClr val="F9FBFC"/>
                      </a:solidFill>
                      <a:prstDash val="solid"/>
                      <a:round/>
                      <a:headEnd type="none" w="med" len="med"/>
                      <a:tailEnd type="none" w="med" len="med"/>
                    </a:lnR>
                    <a:lnT w="9525" cap="flat" cmpd="sng" algn="ctr">
                      <a:solidFill>
                        <a:srgbClr val="F9FBFC"/>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9FBFC"/>
                    </a:solidFill>
                  </a:tcPr>
                </a:tc>
                <a:tc>
                  <a:txBody>
                    <a:bodyPr/>
                    <a:lstStyle/>
                    <a:p>
                      <a:pPr algn="l" fontAlgn="t"/>
                      <a:r>
                        <a:rPr lang="en-US" b="1" dirty="0">
                          <a:effectLst/>
                        </a:rPr>
                        <a:t>v</a:t>
                      </a:r>
                      <a:r>
                        <a:rPr lang="en-US" b="1" baseline="-25000" dirty="0">
                          <a:effectLst/>
                        </a:rPr>
                        <a:t>2</a:t>
                      </a:r>
                      <a:endParaRPr lang="en-US" b="0" dirty="0">
                        <a:effectLst/>
                      </a:endParaRPr>
                    </a:p>
                  </a:txBody>
                  <a:tcPr>
                    <a:lnL w="9525" cap="flat" cmpd="sng" algn="ctr">
                      <a:solidFill>
                        <a:srgbClr val="F9FBFC"/>
                      </a:solidFill>
                      <a:prstDash val="solid"/>
                      <a:round/>
                      <a:headEnd type="none" w="med" len="med"/>
                      <a:tailEnd type="none" w="med" len="med"/>
                    </a:lnL>
                    <a:lnR w="9525" cap="flat" cmpd="sng" algn="ctr">
                      <a:solidFill>
                        <a:srgbClr val="F9FBFC"/>
                      </a:solidFill>
                      <a:prstDash val="solid"/>
                      <a:round/>
                      <a:headEnd type="none" w="med" len="med"/>
                      <a:tailEnd type="none" w="med" len="med"/>
                    </a:lnR>
                    <a:lnT w="9525" cap="flat" cmpd="sng" algn="ctr">
                      <a:solidFill>
                        <a:srgbClr val="F9FBFC"/>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9FBFC"/>
                    </a:solidFill>
                  </a:tcPr>
                </a:tc>
                <a:tc>
                  <a:txBody>
                    <a:bodyPr/>
                    <a:lstStyle/>
                    <a:p>
                      <a:pPr algn="l" fontAlgn="t"/>
                      <a:r>
                        <a:rPr lang="en-US" altLang="zh-TW" b="0" dirty="0">
                          <a:effectLst/>
                        </a:rPr>
                        <a:t>…</a:t>
                      </a:r>
                    </a:p>
                  </a:txBody>
                  <a:tcPr>
                    <a:lnL w="9525" cap="flat" cmpd="sng" algn="ctr">
                      <a:solidFill>
                        <a:srgbClr val="F9FBFC"/>
                      </a:solidFill>
                      <a:prstDash val="solid"/>
                      <a:round/>
                      <a:headEnd type="none" w="med" len="med"/>
                      <a:tailEnd type="none" w="med" len="med"/>
                    </a:lnL>
                    <a:lnR w="9525" cap="flat" cmpd="sng" algn="ctr">
                      <a:solidFill>
                        <a:srgbClr val="F9FBFC"/>
                      </a:solidFill>
                      <a:prstDash val="solid"/>
                      <a:round/>
                      <a:headEnd type="none" w="med" len="med"/>
                      <a:tailEnd type="none" w="med" len="med"/>
                    </a:lnR>
                    <a:lnT w="9525" cap="flat" cmpd="sng" algn="ctr">
                      <a:solidFill>
                        <a:srgbClr val="F9FBFC"/>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9FBFC"/>
                    </a:solidFill>
                  </a:tcPr>
                </a:tc>
                <a:tc>
                  <a:txBody>
                    <a:bodyPr/>
                    <a:lstStyle/>
                    <a:p>
                      <a:pPr algn="l" fontAlgn="t"/>
                      <a:r>
                        <a:rPr lang="en-US" b="1">
                          <a:effectLst/>
                        </a:rPr>
                        <a:t>v</a:t>
                      </a:r>
                      <a:r>
                        <a:rPr lang="en-US" b="1" baseline="-25000">
                          <a:effectLst/>
                        </a:rPr>
                        <a:t>p</a:t>
                      </a:r>
                      <a:endParaRPr lang="en-US" b="0">
                        <a:effectLst/>
                      </a:endParaRPr>
                    </a:p>
                  </a:txBody>
                  <a:tcPr>
                    <a:lnL w="9525" cap="flat" cmpd="sng" algn="ctr">
                      <a:solidFill>
                        <a:srgbClr val="F9FBFC"/>
                      </a:solidFill>
                      <a:prstDash val="solid"/>
                      <a:round/>
                      <a:headEnd type="none" w="med" len="med"/>
                      <a:tailEnd type="none" w="med" len="med"/>
                    </a:lnL>
                    <a:lnR w="9525" cap="flat" cmpd="sng" algn="ctr">
                      <a:solidFill>
                        <a:srgbClr val="F9FBFC"/>
                      </a:solidFill>
                      <a:prstDash val="solid"/>
                      <a:round/>
                      <a:headEnd type="none" w="med" len="med"/>
                      <a:tailEnd type="none" w="med" len="med"/>
                    </a:lnR>
                    <a:lnT w="9525" cap="flat" cmpd="sng" algn="ctr">
                      <a:solidFill>
                        <a:srgbClr val="F9FBFC"/>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9FBFC"/>
                    </a:solidFill>
                  </a:tcPr>
                </a:tc>
                <a:tc>
                  <a:txBody>
                    <a:bodyPr/>
                    <a:lstStyle/>
                    <a:p>
                      <a:pPr algn="l" fontAlgn="t"/>
                      <a:r>
                        <a:rPr lang="en-US" b="1">
                          <a:effectLst/>
                        </a:rPr>
                        <a:t>Sums</a:t>
                      </a:r>
                      <a:endParaRPr lang="en-US" b="0">
                        <a:effectLst/>
                      </a:endParaRPr>
                    </a:p>
                  </a:txBody>
                  <a:tcPr>
                    <a:lnL w="9525" cap="flat" cmpd="sng" algn="ctr">
                      <a:solidFill>
                        <a:srgbClr val="F9FBFC"/>
                      </a:solidFill>
                      <a:prstDash val="solid"/>
                      <a:round/>
                      <a:headEnd type="none" w="med" len="med"/>
                      <a:tailEnd type="none" w="med" len="med"/>
                    </a:lnL>
                    <a:lnR w="9525" cap="flat" cmpd="sng" algn="ctr">
                      <a:solidFill>
                        <a:srgbClr val="F9FBFC"/>
                      </a:solidFill>
                      <a:prstDash val="solid"/>
                      <a:round/>
                      <a:headEnd type="none" w="med" len="med"/>
                      <a:tailEnd type="none" w="med" len="med"/>
                    </a:lnR>
                    <a:lnT w="9525" cap="flat" cmpd="sng" algn="ctr">
                      <a:solidFill>
                        <a:srgbClr val="F9FBFC"/>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9FBFC"/>
                    </a:solidFill>
                  </a:tcPr>
                </a:tc>
              </a:tr>
              <a:tr h="0">
                <a:tc>
                  <a:txBody>
                    <a:bodyPr/>
                    <a:lstStyle/>
                    <a:p>
                      <a:pPr algn="l" fontAlgn="t"/>
                      <a:r>
                        <a:rPr lang="en-US" b="1">
                          <a:effectLst/>
                        </a:rPr>
                        <a:t>u</a:t>
                      </a:r>
                      <a:r>
                        <a:rPr lang="en-US" b="1" baseline="-25000">
                          <a:effectLst/>
                        </a:rPr>
                        <a:t>1</a:t>
                      </a:r>
                      <a:endParaRPr lang="en-US" b="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b="0" i="1">
                          <a:effectLst/>
                        </a:rPr>
                        <a:t>n</a:t>
                      </a:r>
                      <a:r>
                        <a:rPr lang="en-US" b="0" baseline="-25000">
                          <a:effectLst/>
                        </a:rPr>
                        <a:t>11</a:t>
                      </a:r>
                      <a:endParaRPr lang="en-US" b="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b="0" i="1">
                          <a:effectLst/>
                        </a:rPr>
                        <a:t>n</a:t>
                      </a:r>
                      <a:r>
                        <a:rPr lang="en-US" b="0" baseline="-25000">
                          <a:effectLst/>
                        </a:rPr>
                        <a:t>12</a:t>
                      </a:r>
                      <a:endParaRPr lang="en-US" b="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b="0">
                          <a:effectLst/>
                        </a:rPr>
                        <a:t>…</a:t>
                      </a: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b="0" i="1">
                          <a:effectLst/>
                        </a:rPr>
                        <a:t>n</a:t>
                      </a:r>
                      <a:r>
                        <a:rPr lang="en-US" b="0" baseline="-25000">
                          <a:effectLst/>
                        </a:rPr>
                        <a:t>1</a:t>
                      </a:r>
                      <a:r>
                        <a:rPr lang="en-US" b="0" i="1" baseline="-25000">
                          <a:effectLst/>
                        </a:rPr>
                        <a:t>p</a:t>
                      </a:r>
                      <a:endParaRPr lang="en-US" b="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b="0" i="1">
                          <a:effectLst/>
                        </a:rPr>
                        <a:t>n</a:t>
                      </a:r>
                      <a:r>
                        <a:rPr lang="en-US" b="0" baseline="-25000">
                          <a:effectLst/>
                        </a:rPr>
                        <a:t>1.</a:t>
                      </a:r>
                      <a:endParaRPr lang="en-US" b="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0">
                <a:tc>
                  <a:txBody>
                    <a:bodyPr/>
                    <a:lstStyle/>
                    <a:p>
                      <a:pPr algn="l" fontAlgn="t"/>
                      <a:r>
                        <a:rPr lang="en-US" b="1">
                          <a:effectLst/>
                        </a:rPr>
                        <a:t>u</a:t>
                      </a:r>
                      <a:r>
                        <a:rPr lang="en-US" b="1" baseline="-25000">
                          <a:effectLst/>
                        </a:rPr>
                        <a:t>2</a:t>
                      </a:r>
                      <a:endParaRPr lang="en-US" b="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b="0" i="1">
                          <a:effectLst/>
                        </a:rPr>
                        <a:t>n</a:t>
                      </a:r>
                      <a:r>
                        <a:rPr lang="en-US" b="0" baseline="-25000">
                          <a:effectLst/>
                        </a:rPr>
                        <a:t>21</a:t>
                      </a:r>
                      <a:endParaRPr lang="en-US" b="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b="0" i="1">
                          <a:effectLst/>
                        </a:rPr>
                        <a:t>n</a:t>
                      </a:r>
                      <a:r>
                        <a:rPr lang="en-US" b="0" baseline="-25000">
                          <a:effectLst/>
                        </a:rPr>
                        <a:t>22</a:t>
                      </a:r>
                      <a:endParaRPr lang="en-US" b="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b="0">
                          <a:effectLst/>
                        </a:rPr>
                        <a:t>…</a:t>
                      </a: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b="0" i="1">
                          <a:effectLst/>
                        </a:rPr>
                        <a:t>n</a:t>
                      </a:r>
                      <a:r>
                        <a:rPr lang="en-US" b="0" baseline="-25000">
                          <a:effectLst/>
                        </a:rPr>
                        <a:t>2</a:t>
                      </a:r>
                      <a:r>
                        <a:rPr lang="en-US" b="0" i="1" baseline="-25000">
                          <a:effectLst/>
                        </a:rPr>
                        <a:t>p</a:t>
                      </a:r>
                      <a:endParaRPr lang="en-US" b="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b="0" i="1">
                          <a:effectLst/>
                        </a:rPr>
                        <a:t>n</a:t>
                      </a:r>
                      <a:r>
                        <a:rPr lang="en-US" b="0" baseline="-25000">
                          <a:effectLst/>
                        </a:rPr>
                        <a:t>2.</a:t>
                      </a:r>
                      <a:endParaRPr lang="en-US" b="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0">
                <a:tc>
                  <a:txBody>
                    <a:bodyPr/>
                    <a:lstStyle/>
                    <a:p>
                      <a:pPr algn="l" fontAlgn="t"/>
                      <a:r>
                        <a:rPr lang="zh-TW" altLang="en-US" b="0">
                          <a:effectLst/>
                        </a:rPr>
                        <a:t>⋮</a:t>
                      </a: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zh-TW" altLang="en-US" b="0">
                          <a:effectLst/>
                        </a:rPr>
                        <a:t>⋮</a:t>
                      </a: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zh-TW" altLang="en-US" b="0">
                          <a:effectLst/>
                        </a:rPr>
                        <a:t>⋮</a:t>
                      </a: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endParaRPr lang="zh-TW" altLang="en-US" b="0" dirty="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zh-TW" altLang="en-US" b="0">
                          <a:effectLst/>
                        </a:rPr>
                        <a:t>⋮</a:t>
                      </a: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endParaRPr lang="zh-TW" altLang="en-US" b="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0">
                <a:tc>
                  <a:txBody>
                    <a:bodyPr/>
                    <a:lstStyle/>
                    <a:p>
                      <a:pPr algn="l" fontAlgn="t"/>
                      <a:r>
                        <a:rPr lang="en-US" b="1">
                          <a:effectLst/>
                        </a:rPr>
                        <a:t>u</a:t>
                      </a:r>
                      <a:r>
                        <a:rPr lang="en-US" b="1" baseline="-25000">
                          <a:effectLst/>
                        </a:rPr>
                        <a:t>r</a:t>
                      </a:r>
                      <a:endParaRPr lang="en-US" b="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b="0" i="1">
                          <a:effectLst/>
                        </a:rPr>
                        <a:t>n</a:t>
                      </a:r>
                      <a:r>
                        <a:rPr lang="en-US" b="0" i="1" baseline="-25000">
                          <a:effectLst/>
                        </a:rPr>
                        <a:t>r</a:t>
                      </a:r>
                      <a:r>
                        <a:rPr lang="en-US" b="0" baseline="-25000">
                          <a:effectLst/>
                        </a:rPr>
                        <a:t>1</a:t>
                      </a:r>
                      <a:endParaRPr lang="en-US" b="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b="0" i="1">
                          <a:effectLst/>
                        </a:rPr>
                        <a:t>n</a:t>
                      </a:r>
                      <a:r>
                        <a:rPr lang="en-US" b="0" i="1" baseline="-25000">
                          <a:effectLst/>
                        </a:rPr>
                        <a:t>r</a:t>
                      </a:r>
                      <a:r>
                        <a:rPr lang="en-US" b="0" baseline="-25000">
                          <a:effectLst/>
                        </a:rPr>
                        <a:t>2</a:t>
                      </a:r>
                      <a:endParaRPr lang="en-US" b="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b="0">
                          <a:effectLst/>
                        </a:rPr>
                        <a:t>…</a:t>
                      </a: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b="0" i="1">
                          <a:effectLst/>
                        </a:rPr>
                        <a:t>n</a:t>
                      </a:r>
                      <a:r>
                        <a:rPr lang="en-US" b="0" i="1" baseline="-25000">
                          <a:effectLst/>
                        </a:rPr>
                        <a:t>rp</a:t>
                      </a:r>
                      <a:endParaRPr lang="en-US" b="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b="0" i="1">
                          <a:effectLst/>
                        </a:rPr>
                        <a:t>n</a:t>
                      </a:r>
                      <a:r>
                        <a:rPr lang="en-US" b="0" i="1" baseline="-25000">
                          <a:effectLst/>
                        </a:rPr>
                        <a:t>r</a:t>
                      </a:r>
                      <a:r>
                        <a:rPr lang="en-US" b="0" baseline="-25000">
                          <a:effectLst/>
                        </a:rPr>
                        <a:t>.</a:t>
                      </a:r>
                      <a:endParaRPr lang="en-US" b="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0">
                <a:tc>
                  <a:txBody>
                    <a:bodyPr/>
                    <a:lstStyle/>
                    <a:p>
                      <a:pPr algn="l" fontAlgn="t"/>
                      <a:r>
                        <a:rPr lang="en-US" b="1" dirty="0">
                          <a:effectLst/>
                        </a:rPr>
                        <a:t>Sums</a:t>
                      </a:r>
                      <a:endParaRPr lang="en-US" b="0" dirty="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b="0" i="1">
                          <a:effectLst/>
                        </a:rPr>
                        <a:t>n</a:t>
                      </a:r>
                      <a:r>
                        <a:rPr lang="en-US" b="0" baseline="-25000">
                          <a:effectLst/>
                        </a:rPr>
                        <a:t>.1</a:t>
                      </a:r>
                      <a:endParaRPr lang="en-US" b="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b="0" i="1">
                          <a:effectLst/>
                        </a:rPr>
                        <a:t>n</a:t>
                      </a:r>
                      <a:r>
                        <a:rPr lang="en-US" b="0" baseline="-25000">
                          <a:effectLst/>
                        </a:rPr>
                        <a:t>.2</a:t>
                      </a:r>
                      <a:endParaRPr lang="en-US" b="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endParaRPr lang="zh-TW" altLang="en-US" b="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b="0" i="1">
                          <a:effectLst/>
                        </a:rPr>
                        <a:t>n</a:t>
                      </a:r>
                      <a:r>
                        <a:rPr lang="en-US" b="0" baseline="-25000">
                          <a:effectLst/>
                        </a:rPr>
                        <a:t>.</a:t>
                      </a:r>
                      <a:r>
                        <a:rPr lang="en-US" b="0" i="1" baseline="-25000">
                          <a:effectLst/>
                        </a:rPr>
                        <a:t>p</a:t>
                      </a:r>
                      <a:endParaRPr lang="en-US" b="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b="0" i="1" dirty="0">
                          <a:effectLst/>
                        </a:rPr>
                        <a:t>n</a:t>
                      </a:r>
                      <a:r>
                        <a:rPr lang="en-US" b="0" dirty="0">
                          <a:effectLst/>
                        </a:rPr>
                        <a:t>..=</a:t>
                      </a:r>
                      <a:r>
                        <a:rPr lang="en-US" b="0" i="1" dirty="0">
                          <a:effectLst/>
                        </a:rPr>
                        <a:t>n</a:t>
                      </a:r>
                      <a:endParaRPr lang="en-US" b="0" dirty="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bl>
          </a:graphicData>
        </a:graphic>
      </p:graphicFrame>
      <p:pic>
        <p:nvPicPr>
          <p:cNvPr id="13" name="圖片 12"/>
          <p:cNvPicPr>
            <a:picLocks noChangeAspect="1"/>
          </p:cNvPicPr>
          <p:nvPr/>
        </p:nvPicPr>
        <p:blipFill>
          <a:blip r:embed="rId4"/>
          <a:stretch>
            <a:fillRect/>
          </a:stretch>
        </p:blipFill>
        <p:spPr>
          <a:xfrm>
            <a:off x="755576" y="2712478"/>
            <a:ext cx="6696744" cy="445350"/>
          </a:xfrm>
          <a:prstGeom prst="rect">
            <a:avLst/>
          </a:prstGeom>
        </p:spPr>
      </p:pic>
      <p:pic>
        <p:nvPicPr>
          <p:cNvPr id="14" name="圖片 13"/>
          <p:cNvPicPr>
            <a:picLocks noChangeAspect="1"/>
          </p:cNvPicPr>
          <p:nvPr/>
        </p:nvPicPr>
        <p:blipFill>
          <a:blip r:embed="rId5"/>
          <a:stretch>
            <a:fillRect/>
          </a:stretch>
        </p:blipFill>
        <p:spPr>
          <a:xfrm>
            <a:off x="1979712" y="5517232"/>
            <a:ext cx="6405537" cy="1351323"/>
          </a:xfrm>
          <a:prstGeom prst="rect">
            <a:avLst/>
          </a:prstGeom>
        </p:spPr>
      </p:pic>
      <p:sp>
        <p:nvSpPr>
          <p:cNvPr id="10" name="投影片編號版面配置區 9"/>
          <p:cNvSpPr>
            <a:spLocks noGrp="1"/>
          </p:cNvSpPr>
          <p:nvPr>
            <p:ph type="sldNum" sz="quarter" idx="12"/>
          </p:nvPr>
        </p:nvSpPr>
        <p:spPr/>
        <p:txBody>
          <a:bodyPr/>
          <a:lstStyle/>
          <a:p>
            <a:fld id="{61A04B93-F247-42E5-95CE-B8478AD23DB7}" type="slidenum">
              <a:rPr lang="zh-TW" altLang="en-US" smtClean="0"/>
              <a:pPr/>
              <a:t>18</a:t>
            </a:fld>
            <a:endParaRPr lang="zh-TW" altLang="en-US"/>
          </a:p>
        </p:txBody>
      </p:sp>
    </p:spTree>
    <p:extLst>
      <p:ext uri="{BB962C8B-B14F-4D97-AF65-F5344CB8AC3E}">
        <p14:creationId xmlns:p14="http://schemas.microsoft.com/office/powerpoint/2010/main" xmlns="" val="1553595521"/>
      </p:ext>
    </p:extLst>
  </p:cSld>
  <p:clrMapOvr>
    <a:masterClrMapping/>
  </p:clrMapOvr>
  <p:transition>
    <p:cu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evaluations</a:t>
            </a:r>
            <a:endParaRPr lang="zh-TW" altLang="en-US" dirty="0"/>
          </a:p>
        </p:txBody>
      </p:sp>
      <p:sp>
        <p:nvSpPr>
          <p:cNvPr id="3" name="日期版面配置區 2"/>
          <p:cNvSpPr>
            <a:spLocks noGrp="1"/>
          </p:cNvSpPr>
          <p:nvPr>
            <p:ph type="dt" sz="half" idx="10"/>
          </p:nvPr>
        </p:nvSpPr>
        <p:spPr/>
        <p:txBody>
          <a:bodyPr/>
          <a:lstStyle/>
          <a:p>
            <a:fld id="{37DADFEE-210E-4DCC-B111-AD7B9C2032C9}" type="datetime1">
              <a:rPr lang="zh-TW" altLang="en-US" smtClean="0"/>
              <a:t>2013/9/10</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19</a:t>
            </a:fld>
            <a:endParaRPr lang="zh-TW" altLang="en-US"/>
          </a:p>
        </p:txBody>
      </p:sp>
      <p:graphicFrame>
        <p:nvGraphicFramePr>
          <p:cNvPr id="6" name="內容版面配置區 5"/>
          <p:cNvGraphicFramePr>
            <a:graphicFrameLocks noGrp="1"/>
          </p:cNvGraphicFramePr>
          <p:nvPr>
            <p:ph sz="quarter" idx="1"/>
            <p:extLst>
              <p:ext uri="{D42A27DB-BD31-4B8C-83A1-F6EECF244321}">
                <p14:modId xmlns:p14="http://schemas.microsoft.com/office/powerpoint/2010/main" xmlns="" val="4268188897"/>
              </p:ext>
            </p:extLst>
          </p:nvPr>
        </p:nvGraphicFramePr>
        <p:xfrm>
          <a:off x="612648" y="1772816"/>
          <a:ext cx="7859218" cy="3831546"/>
        </p:xfrm>
        <a:graphic>
          <a:graphicData uri="http://schemas.openxmlformats.org/drawingml/2006/table">
            <a:tbl>
              <a:tblPr/>
              <a:tblGrid>
                <a:gridCol w="1964805"/>
                <a:gridCol w="1776127"/>
                <a:gridCol w="1554070"/>
                <a:gridCol w="2564216"/>
              </a:tblGrid>
              <a:tr h="252657">
                <a:tc>
                  <a:txBody>
                    <a:bodyPr/>
                    <a:lstStyle/>
                    <a:p>
                      <a:pPr algn="l" fontAlgn="t"/>
                      <a:r>
                        <a:rPr lang="en-US" sz="1400" b="1" dirty="0">
                          <a:effectLst/>
                        </a:rPr>
                        <a:t>INPUT</a:t>
                      </a:r>
                      <a:endParaRPr lang="en-US" sz="1400" b="0" dirty="0">
                        <a:effectLst/>
                      </a:endParaRPr>
                    </a:p>
                  </a:txBody>
                  <a:tcPr marL="64962" marR="64962" marT="32481" marB="32481">
                    <a:lnL w="9525" cap="flat" cmpd="sng" algn="ctr">
                      <a:solidFill>
                        <a:srgbClr val="F9FBFC"/>
                      </a:solidFill>
                      <a:prstDash val="solid"/>
                      <a:round/>
                      <a:headEnd type="none" w="med" len="med"/>
                      <a:tailEnd type="none" w="med" len="med"/>
                    </a:lnL>
                    <a:lnR w="9525" cap="flat" cmpd="sng" algn="ctr">
                      <a:solidFill>
                        <a:srgbClr val="F9FBFC"/>
                      </a:solidFill>
                      <a:prstDash val="solid"/>
                      <a:round/>
                      <a:headEnd type="none" w="med" len="med"/>
                      <a:tailEnd type="none" w="med" len="med"/>
                    </a:lnR>
                    <a:lnT w="9525" cap="flat" cmpd="sng" algn="ctr">
                      <a:solidFill>
                        <a:srgbClr val="F9FBFC"/>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9FBFC"/>
                    </a:solidFill>
                  </a:tcPr>
                </a:tc>
                <a:tc>
                  <a:txBody>
                    <a:bodyPr/>
                    <a:lstStyle/>
                    <a:p>
                      <a:pPr algn="l" fontAlgn="t"/>
                      <a:r>
                        <a:rPr lang="en-US" sz="1400" b="1">
                          <a:effectLst/>
                        </a:rPr>
                        <a:t>Number of clusterings</a:t>
                      </a:r>
                      <a:endParaRPr lang="en-US" sz="1400" b="0">
                        <a:effectLst/>
                      </a:endParaRPr>
                    </a:p>
                  </a:txBody>
                  <a:tcPr marL="64962" marR="64962" marT="32481" marB="32481">
                    <a:lnL w="9525" cap="flat" cmpd="sng" algn="ctr">
                      <a:solidFill>
                        <a:srgbClr val="F9FBFC"/>
                      </a:solidFill>
                      <a:prstDash val="solid"/>
                      <a:round/>
                      <a:headEnd type="none" w="med" len="med"/>
                      <a:tailEnd type="none" w="med" len="med"/>
                    </a:lnL>
                    <a:lnR w="9525" cap="flat" cmpd="sng" algn="ctr">
                      <a:solidFill>
                        <a:srgbClr val="F9FBFC"/>
                      </a:solidFill>
                      <a:prstDash val="solid"/>
                      <a:round/>
                      <a:headEnd type="none" w="med" len="med"/>
                      <a:tailEnd type="none" w="med" len="med"/>
                    </a:lnR>
                    <a:lnT w="9525" cap="flat" cmpd="sng" algn="ctr">
                      <a:solidFill>
                        <a:srgbClr val="F9FBFC"/>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9FBFC"/>
                    </a:solidFill>
                  </a:tcPr>
                </a:tc>
                <a:tc>
                  <a:txBody>
                    <a:bodyPr/>
                    <a:lstStyle/>
                    <a:p>
                      <a:pPr algn="l" fontAlgn="t"/>
                      <a:r>
                        <a:rPr lang="en-US" sz="1400" b="1" dirty="0">
                          <a:effectLst/>
                        </a:rPr>
                        <a:t>Number of clusters</a:t>
                      </a:r>
                      <a:endParaRPr lang="en-US" sz="1400" b="0" dirty="0">
                        <a:effectLst/>
                      </a:endParaRPr>
                    </a:p>
                  </a:txBody>
                  <a:tcPr marL="64962" marR="64962" marT="32481" marB="32481">
                    <a:lnL w="9525" cap="flat" cmpd="sng" algn="ctr">
                      <a:solidFill>
                        <a:srgbClr val="F9FBFC"/>
                      </a:solidFill>
                      <a:prstDash val="solid"/>
                      <a:round/>
                      <a:headEnd type="none" w="med" len="med"/>
                      <a:tailEnd type="none" w="med" len="med"/>
                    </a:lnL>
                    <a:lnR w="9525" cap="flat" cmpd="sng" algn="ctr">
                      <a:solidFill>
                        <a:srgbClr val="F9FBFC"/>
                      </a:solidFill>
                      <a:prstDash val="solid"/>
                      <a:round/>
                      <a:headEnd type="none" w="med" len="med"/>
                      <a:tailEnd type="none" w="med" len="med"/>
                    </a:lnR>
                    <a:lnT w="9525" cap="flat" cmpd="sng" algn="ctr">
                      <a:solidFill>
                        <a:srgbClr val="F9FBFC"/>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9FBFC"/>
                    </a:solidFill>
                  </a:tcPr>
                </a:tc>
                <a:tc>
                  <a:txBody>
                    <a:bodyPr/>
                    <a:lstStyle/>
                    <a:p>
                      <a:pPr algn="l" fontAlgn="t"/>
                      <a:r>
                        <a:rPr lang="en-US" sz="1400" b="1">
                          <a:effectLst/>
                        </a:rPr>
                        <a:t>Ensemble generation methods</a:t>
                      </a:r>
                      <a:endParaRPr lang="en-US" sz="1400" b="0">
                        <a:effectLst/>
                      </a:endParaRPr>
                    </a:p>
                  </a:txBody>
                  <a:tcPr marL="64962" marR="64962" marT="32481" marB="32481">
                    <a:lnL w="9525" cap="flat" cmpd="sng" algn="ctr">
                      <a:solidFill>
                        <a:srgbClr val="F9FBFC"/>
                      </a:solidFill>
                      <a:prstDash val="solid"/>
                      <a:round/>
                      <a:headEnd type="none" w="med" len="med"/>
                      <a:tailEnd type="none" w="med" len="med"/>
                    </a:lnL>
                    <a:lnR w="9525" cap="flat" cmpd="sng" algn="ctr">
                      <a:solidFill>
                        <a:srgbClr val="F9FBFC"/>
                      </a:solidFill>
                      <a:prstDash val="solid"/>
                      <a:round/>
                      <a:headEnd type="none" w="med" len="med"/>
                      <a:tailEnd type="none" w="med" len="med"/>
                    </a:lnR>
                    <a:lnT w="9525" cap="flat" cmpd="sng" algn="ctr">
                      <a:solidFill>
                        <a:srgbClr val="F9FBFC"/>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9FBFC"/>
                    </a:solidFill>
                  </a:tcPr>
                </a:tc>
              </a:tr>
              <a:tr h="176860">
                <a:tc>
                  <a:txBody>
                    <a:bodyPr/>
                    <a:lstStyle/>
                    <a:p>
                      <a:pPr algn="l" fontAlgn="t"/>
                      <a:r>
                        <a:rPr lang="en-US" sz="1400" b="0">
                          <a:effectLst/>
                        </a:rPr>
                        <a:t>1-</a:t>
                      </a:r>
                      <a:r>
                        <a:rPr lang="en-US" sz="1400" b="1">
                          <a:effectLst/>
                        </a:rPr>
                        <a:t>Spiral, hand clustered</a:t>
                      </a:r>
                      <a:endParaRPr lang="en-US" sz="1400" b="0">
                        <a:effectLst/>
                      </a:endParaRP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400" b="0">
                          <a:effectLst/>
                        </a:rPr>
                        <a:t>2</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400" b="0">
                          <a:effectLst/>
                        </a:rPr>
                        <a:t>3</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sz="1400" b="0">
                          <a:effectLst/>
                        </a:rPr>
                        <a:t>Manually</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266542">
                <a:tc>
                  <a:txBody>
                    <a:bodyPr/>
                    <a:lstStyle/>
                    <a:p>
                      <a:pPr algn="l" fontAlgn="t"/>
                      <a:r>
                        <a:rPr lang="en-US" sz="1400" b="0">
                          <a:effectLst/>
                        </a:rPr>
                        <a:t>1-</a:t>
                      </a:r>
                      <a:r>
                        <a:rPr lang="en-US" sz="1400" b="1">
                          <a:effectLst/>
                        </a:rPr>
                        <a:t>Spiral</a:t>
                      </a:r>
                      <a:r>
                        <a:rPr lang="en-US" sz="1400" b="0">
                          <a:effectLst/>
                        </a:rPr>
                        <a:t>, </a:t>
                      </a:r>
                      <a:r>
                        <a:rPr lang="en-US" sz="1400" b="0" i="1">
                          <a:effectLst/>
                        </a:rPr>
                        <a:t>k</a:t>
                      </a:r>
                      <a:r>
                        <a:rPr lang="en-US" sz="1400" b="0">
                          <a:effectLst/>
                        </a:rPr>
                        <a:t>-</a:t>
                      </a:r>
                      <a:r>
                        <a:rPr lang="en-US" sz="1400" b="1">
                          <a:effectLst/>
                        </a:rPr>
                        <a:t>means clustered</a:t>
                      </a:r>
                      <a:endParaRPr lang="en-US" sz="1400" b="0">
                        <a:effectLst/>
                      </a:endParaRP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400" b="0" dirty="0">
                          <a:effectLst/>
                        </a:rPr>
                        <a:t>4</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400" b="0">
                          <a:effectLst/>
                        </a:rPr>
                        <a:t>[2, 3]</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sz="1400" b="0" i="1">
                          <a:effectLst/>
                        </a:rPr>
                        <a:t>k</a:t>
                      </a:r>
                      <a:r>
                        <a:rPr lang="en-US" sz="1400" b="0">
                          <a:effectLst/>
                        </a:rPr>
                        <a:t>-means</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152043">
                <a:tc>
                  <a:txBody>
                    <a:bodyPr/>
                    <a:lstStyle/>
                    <a:p>
                      <a:pPr algn="l" fontAlgn="t"/>
                      <a:r>
                        <a:rPr lang="en-US" sz="1400" b="0">
                          <a:effectLst/>
                        </a:rPr>
                        <a:t>2-</a:t>
                      </a:r>
                      <a:r>
                        <a:rPr lang="en-US" sz="1400" b="1">
                          <a:effectLst/>
                        </a:rPr>
                        <a:t>Spiral</a:t>
                      </a:r>
                      <a:endParaRPr lang="en-US" sz="1400" b="0">
                        <a:effectLst/>
                      </a:endParaRP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400" b="0">
                          <a:effectLst/>
                        </a:rPr>
                        <a:t>2</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400" b="0">
                          <a:effectLst/>
                        </a:rPr>
                        <a:t>[2, 3]</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sz="1400" b="0">
                          <a:effectLst/>
                        </a:rPr>
                        <a:t>Manually</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152043">
                <a:tc>
                  <a:txBody>
                    <a:bodyPr/>
                    <a:lstStyle/>
                    <a:p>
                      <a:pPr algn="l" fontAlgn="t"/>
                      <a:r>
                        <a:rPr lang="en-US" sz="1400" b="0" dirty="0">
                          <a:effectLst/>
                        </a:rPr>
                        <a:t>2-</a:t>
                      </a:r>
                      <a:r>
                        <a:rPr lang="en-US" sz="1400" b="1" dirty="0">
                          <a:effectLst/>
                        </a:rPr>
                        <a:t>Half rings</a:t>
                      </a:r>
                      <a:endParaRPr lang="en-US" sz="1400" b="0" dirty="0">
                        <a:effectLst/>
                      </a:endParaRP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400" b="0" dirty="0">
                          <a:effectLst/>
                        </a:rPr>
                        <a:t>3</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400" b="0" dirty="0">
                          <a:effectLst/>
                        </a:rPr>
                        <a:t>[2, 5]</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sz="1400" b="0" i="1" dirty="0">
                          <a:effectLst/>
                        </a:rPr>
                        <a:t>k</a:t>
                      </a:r>
                      <a:r>
                        <a:rPr lang="en-US" sz="1400" b="0" dirty="0">
                          <a:effectLst/>
                        </a:rPr>
                        <a:t>-means</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176860">
                <a:tc>
                  <a:txBody>
                    <a:bodyPr/>
                    <a:lstStyle/>
                    <a:p>
                      <a:pPr algn="l" fontAlgn="t"/>
                      <a:r>
                        <a:rPr lang="en-US" sz="1400" b="0" dirty="0">
                          <a:effectLst/>
                        </a:rPr>
                        <a:t>2-</a:t>
                      </a:r>
                      <a:r>
                        <a:rPr lang="en-US" sz="1400" b="1" dirty="0">
                          <a:effectLst/>
                        </a:rPr>
                        <a:t>Curve</a:t>
                      </a:r>
                      <a:endParaRPr lang="en-US" sz="1400" b="0" dirty="0">
                        <a:effectLst/>
                      </a:endParaRP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400" b="0" dirty="0">
                          <a:effectLst/>
                        </a:rPr>
                        <a:t>2</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400" b="0">
                          <a:effectLst/>
                        </a:rPr>
                        <a:t>[2, 8]</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sz="1400" b="0" i="1" dirty="0">
                          <a:effectLst/>
                        </a:rPr>
                        <a:t>k</a:t>
                      </a:r>
                      <a:r>
                        <a:rPr lang="en-US" sz="1400" b="0" dirty="0">
                          <a:effectLst/>
                        </a:rPr>
                        <a:t>-means, randomly, manually</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152043">
                <a:tc>
                  <a:txBody>
                    <a:bodyPr/>
                    <a:lstStyle/>
                    <a:p>
                      <a:pPr algn="l" fontAlgn="t"/>
                      <a:r>
                        <a:rPr lang="en-US" sz="1400" b="1">
                          <a:effectLst/>
                        </a:rPr>
                        <a:t>2D2K</a:t>
                      </a:r>
                      <a:endParaRPr lang="en-US" sz="1400" b="0">
                        <a:effectLst/>
                      </a:endParaRP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400" b="0">
                          <a:effectLst/>
                        </a:rPr>
                        <a:t>3</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400" b="0">
                          <a:effectLst/>
                        </a:rPr>
                        <a:t>[2, 3]</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sz="1400" b="0" i="1" dirty="0">
                          <a:effectLst/>
                        </a:rPr>
                        <a:t>k</a:t>
                      </a:r>
                      <a:r>
                        <a:rPr lang="en-US" sz="1400" b="0" dirty="0">
                          <a:effectLst/>
                        </a:rPr>
                        <a:t>-means</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152043">
                <a:tc>
                  <a:txBody>
                    <a:bodyPr/>
                    <a:lstStyle/>
                    <a:p>
                      <a:pPr algn="l" fontAlgn="t"/>
                      <a:r>
                        <a:rPr lang="en-US" sz="1400" b="1">
                          <a:effectLst/>
                        </a:rPr>
                        <a:t>8D5K</a:t>
                      </a:r>
                      <a:endParaRPr lang="en-US" sz="1400" b="0">
                        <a:effectLst/>
                      </a:endParaRP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400" b="0">
                          <a:effectLst/>
                        </a:rPr>
                        <a:t>3</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400" b="0">
                          <a:effectLst/>
                        </a:rPr>
                        <a:t>[3, 5]</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sz="1400" b="0" i="1">
                          <a:effectLst/>
                        </a:rPr>
                        <a:t>k</a:t>
                      </a:r>
                      <a:r>
                        <a:rPr lang="en-US" sz="1400" b="0">
                          <a:effectLst/>
                        </a:rPr>
                        <a:t>-means</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152043">
                <a:tc>
                  <a:txBody>
                    <a:bodyPr/>
                    <a:lstStyle/>
                    <a:p>
                      <a:pPr algn="l" fontAlgn="t"/>
                      <a:r>
                        <a:rPr lang="en-US" sz="1400" b="1">
                          <a:effectLst/>
                        </a:rPr>
                        <a:t>Iris</a:t>
                      </a:r>
                      <a:endParaRPr lang="en-US" sz="1400" b="0">
                        <a:effectLst/>
                      </a:endParaRP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400" b="0" dirty="0">
                          <a:effectLst/>
                        </a:rPr>
                        <a:t>3</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400" b="0">
                          <a:effectLst/>
                        </a:rPr>
                        <a:t>[2, 3]</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sz="1400" b="0" i="1">
                          <a:effectLst/>
                        </a:rPr>
                        <a:t>k</a:t>
                      </a:r>
                      <a:r>
                        <a:rPr lang="en-US" sz="1400" b="0">
                          <a:effectLst/>
                        </a:rPr>
                        <a:t>-means</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176860">
                <a:tc>
                  <a:txBody>
                    <a:bodyPr/>
                    <a:lstStyle/>
                    <a:p>
                      <a:pPr algn="l" fontAlgn="t"/>
                      <a:r>
                        <a:rPr lang="en-US" sz="1400" b="1">
                          <a:effectLst/>
                        </a:rPr>
                        <a:t>Glass</a:t>
                      </a:r>
                      <a:endParaRPr lang="en-US" sz="1400" b="0">
                        <a:effectLst/>
                      </a:endParaRP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400" b="0">
                          <a:effectLst/>
                        </a:rPr>
                        <a:t>4</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400" b="0" dirty="0">
                          <a:effectLst/>
                        </a:rPr>
                        <a:t>[6, 8]</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sz="1400" b="0" i="1">
                          <a:effectLst/>
                        </a:rPr>
                        <a:t>k</a:t>
                      </a:r>
                      <a:r>
                        <a:rPr lang="en-US" sz="1400" b="0">
                          <a:effectLst/>
                        </a:rPr>
                        <a:t>-means, randomly, manually</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176860">
                <a:tc>
                  <a:txBody>
                    <a:bodyPr/>
                    <a:lstStyle/>
                    <a:p>
                      <a:pPr algn="l" fontAlgn="t"/>
                      <a:r>
                        <a:rPr lang="en-US" sz="1400" b="1">
                          <a:effectLst/>
                        </a:rPr>
                        <a:t>Breast Cancer</a:t>
                      </a:r>
                      <a:endParaRPr lang="en-US" sz="1400" b="0">
                        <a:effectLst/>
                      </a:endParaRP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400" b="0">
                          <a:effectLst/>
                        </a:rPr>
                        <a:t>5</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400" b="0">
                          <a:effectLst/>
                        </a:rPr>
                        <a:t>[2, 5]</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sz="1400" b="0" i="1">
                          <a:effectLst/>
                        </a:rPr>
                        <a:t>k</a:t>
                      </a:r>
                      <a:r>
                        <a:rPr lang="en-US" sz="1400" b="0">
                          <a:effectLst/>
                        </a:rPr>
                        <a:t>-means, randomly, manually</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176860">
                <a:tc>
                  <a:txBody>
                    <a:bodyPr/>
                    <a:lstStyle/>
                    <a:p>
                      <a:pPr algn="l" fontAlgn="t"/>
                      <a:r>
                        <a:rPr lang="en-US" sz="1400" b="1">
                          <a:effectLst/>
                        </a:rPr>
                        <a:t>Image Segmentation</a:t>
                      </a:r>
                      <a:endParaRPr lang="en-US" sz="1400" b="0">
                        <a:effectLst/>
                      </a:endParaRP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400" b="0">
                          <a:effectLst/>
                        </a:rPr>
                        <a:t>10</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400" b="0">
                          <a:effectLst/>
                        </a:rPr>
                        <a:t>7</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sz="1400" b="0">
                          <a:effectLst/>
                        </a:rPr>
                        <a:t>Randomly</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152043">
                <a:tc>
                  <a:txBody>
                    <a:bodyPr/>
                    <a:lstStyle/>
                    <a:p>
                      <a:pPr algn="l" fontAlgn="t"/>
                      <a:r>
                        <a:rPr lang="en-US" sz="1400" b="1">
                          <a:effectLst/>
                        </a:rPr>
                        <a:t>Syn5K</a:t>
                      </a:r>
                      <a:endParaRPr lang="en-US" sz="1400" b="0">
                        <a:effectLst/>
                      </a:endParaRP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400" b="0">
                          <a:effectLst/>
                        </a:rPr>
                        <a:t>10</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400" b="0">
                          <a:effectLst/>
                        </a:rPr>
                        <a:t>5</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sz="1400" b="0" dirty="0">
                          <a:effectLst/>
                        </a:rPr>
                        <a:t>Randomly</a:t>
                      </a:r>
                    </a:p>
                  </a:txBody>
                  <a:tcPr marL="64962" marR="64962" marT="32481" marB="3248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xmlns="" val="494722158"/>
      </p:ext>
    </p:extLst>
  </p:cSld>
  <p:clrMapOvr>
    <a:masterClrMapping/>
  </p:clrMapOvr>
  <p:transition>
    <p:cu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evaluations</a:t>
            </a:r>
            <a:endParaRPr lang="zh-TW" altLang="en-US" dirty="0"/>
          </a:p>
        </p:txBody>
      </p:sp>
      <p:sp>
        <p:nvSpPr>
          <p:cNvPr id="3" name="日期版面配置區 2"/>
          <p:cNvSpPr>
            <a:spLocks noGrp="1"/>
          </p:cNvSpPr>
          <p:nvPr>
            <p:ph type="dt" sz="half" idx="10"/>
          </p:nvPr>
        </p:nvSpPr>
        <p:spPr/>
        <p:txBody>
          <a:bodyPr/>
          <a:lstStyle/>
          <a:p>
            <a:fld id="{10B9A5F1-B42F-4883-9F15-6D1CDACBBAC8}" type="datetime1">
              <a:rPr lang="zh-TW" altLang="en-US" smtClean="0"/>
              <a:t>2013/9/10</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20</a:t>
            </a:fld>
            <a:endParaRPr lang="zh-TW" altLang="en-US"/>
          </a:p>
        </p:txBody>
      </p:sp>
      <p:graphicFrame>
        <p:nvGraphicFramePr>
          <p:cNvPr id="7" name="內容版面配置區 6"/>
          <p:cNvGraphicFramePr>
            <a:graphicFrameLocks noGrp="1"/>
          </p:cNvGraphicFramePr>
          <p:nvPr>
            <p:ph sz="quarter" idx="1"/>
            <p:extLst>
              <p:ext uri="{D42A27DB-BD31-4B8C-83A1-F6EECF244321}">
                <p14:modId xmlns:p14="http://schemas.microsoft.com/office/powerpoint/2010/main" xmlns="" val="2899116519"/>
              </p:ext>
            </p:extLst>
          </p:nvPr>
        </p:nvGraphicFramePr>
        <p:xfrm>
          <a:off x="323528" y="1860403"/>
          <a:ext cx="8229600" cy="1097280"/>
        </p:xfrm>
        <a:graphic>
          <a:graphicData uri="http://schemas.openxmlformats.org/drawingml/2006/table">
            <a:tbl>
              <a:tblPr/>
              <a:tblGrid>
                <a:gridCol w="2743200"/>
                <a:gridCol w="2743200"/>
                <a:gridCol w="2743200"/>
              </a:tblGrid>
              <a:tr h="0">
                <a:tc>
                  <a:txBody>
                    <a:bodyPr/>
                    <a:lstStyle/>
                    <a:p>
                      <a:pPr algn="l" fontAlgn="t"/>
                      <a:r>
                        <a:rPr lang="en-US" b="1" dirty="0">
                          <a:effectLst/>
                        </a:rPr>
                        <a:t>INPUT</a:t>
                      </a:r>
                      <a:endParaRPr lang="en-US" b="0" dirty="0">
                        <a:effectLst/>
                      </a:endParaRPr>
                    </a:p>
                  </a:txBody>
                  <a:tcPr>
                    <a:lnL w="9525" cap="flat" cmpd="sng" algn="ctr">
                      <a:solidFill>
                        <a:srgbClr val="F9FBFC"/>
                      </a:solidFill>
                      <a:prstDash val="solid"/>
                      <a:round/>
                      <a:headEnd type="none" w="med" len="med"/>
                      <a:tailEnd type="none" w="med" len="med"/>
                    </a:lnL>
                    <a:lnR w="9525" cap="flat" cmpd="sng" algn="ctr">
                      <a:solidFill>
                        <a:srgbClr val="F9FBFC"/>
                      </a:solidFill>
                      <a:prstDash val="solid"/>
                      <a:round/>
                      <a:headEnd type="none" w="med" len="med"/>
                      <a:tailEnd type="none" w="med" len="med"/>
                    </a:lnR>
                    <a:lnT w="9525" cap="flat" cmpd="sng" algn="ctr">
                      <a:solidFill>
                        <a:srgbClr val="F9FBFC"/>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9FBFC"/>
                    </a:solidFill>
                  </a:tcPr>
                </a:tc>
                <a:tc>
                  <a:txBody>
                    <a:bodyPr/>
                    <a:lstStyle/>
                    <a:p>
                      <a:pPr algn="l" fontAlgn="t"/>
                      <a:r>
                        <a:rPr lang="en-US" b="0">
                          <a:effectLst/>
                        </a:rPr>
                        <a:t>Relaxation (%)</a:t>
                      </a:r>
                    </a:p>
                  </a:txBody>
                  <a:tcPr>
                    <a:lnL w="9525" cap="flat" cmpd="sng" algn="ctr">
                      <a:solidFill>
                        <a:srgbClr val="F9FBFC"/>
                      </a:solidFill>
                      <a:prstDash val="solid"/>
                      <a:round/>
                      <a:headEnd type="none" w="med" len="med"/>
                      <a:tailEnd type="none" w="med" len="med"/>
                    </a:lnL>
                    <a:lnR w="9525" cap="flat" cmpd="sng" algn="ctr">
                      <a:solidFill>
                        <a:srgbClr val="F9FBFC"/>
                      </a:solidFill>
                      <a:prstDash val="solid"/>
                      <a:round/>
                      <a:headEnd type="none" w="med" len="med"/>
                      <a:tailEnd type="none" w="med" len="med"/>
                    </a:lnR>
                    <a:lnT w="9525" cap="flat" cmpd="sng" algn="ctr">
                      <a:solidFill>
                        <a:srgbClr val="F9FBFC"/>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9FBFC"/>
                    </a:solidFill>
                  </a:tcPr>
                </a:tc>
                <a:tc>
                  <a:txBody>
                    <a:bodyPr/>
                    <a:lstStyle/>
                    <a:p>
                      <a:pPr algn="l" fontAlgn="t"/>
                      <a:r>
                        <a:rPr lang="en-US" b="0">
                          <a:effectLst/>
                        </a:rPr>
                        <a:t>ARI</a:t>
                      </a:r>
                    </a:p>
                  </a:txBody>
                  <a:tcPr>
                    <a:lnL w="9525" cap="flat" cmpd="sng" algn="ctr">
                      <a:solidFill>
                        <a:srgbClr val="F9FBFC"/>
                      </a:solidFill>
                      <a:prstDash val="solid"/>
                      <a:round/>
                      <a:headEnd type="none" w="med" len="med"/>
                      <a:tailEnd type="none" w="med" len="med"/>
                    </a:lnL>
                    <a:lnR w="9525" cap="flat" cmpd="sng" algn="ctr">
                      <a:solidFill>
                        <a:srgbClr val="F9FBFC"/>
                      </a:solidFill>
                      <a:prstDash val="solid"/>
                      <a:round/>
                      <a:headEnd type="none" w="med" len="med"/>
                      <a:tailEnd type="none" w="med" len="med"/>
                    </a:lnR>
                    <a:lnT w="9525" cap="flat" cmpd="sng" algn="ctr">
                      <a:solidFill>
                        <a:srgbClr val="F9FBFC"/>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9FBFC"/>
                    </a:solidFill>
                  </a:tcPr>
                </a:tc>
              </a:tr>
              <a:tr h="0">
                <a:tc>
                  <a:txBody>
                    <a:bodyPr/>
                    <a:lstStyle/>
                    <a:p>
                      <a:pPr algn="l" fontAlgn="t"/>
                      <a:r>
                        <a:rPr lang="en-US" b="0">
                          <a:effectLst/>
                        </a:rPr>
                        <a:t>1-</a:t>
                      </a:r>
                      <a:r>
                        <a:rPr lang="en-US" b="1">
                          <a:effectLst/>
                        </a:rPr>
                        <a:t>Spiral</a:t>
                      </a:r>
                      <a:r>
                        <a:rPr lang="en-US" b="0">
                          <a:effectLst/>
                        </a:rPr>
                        <a:t>, </a:t>
                      </a:r>
                      <a:r>
                        <a:rPr lang="en-US" b="1">
                          <a:effectLst/>
                        </a:rPr>
                        <a:t>hand clustered</a:t>
                      </a:r>
                      <a:endParaRPr lang="en-US" b="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b="0" dirty="0">
                          <a:effectLst/>
                        </a:rPr>
                        <a:t>0</a:t>
                      </a: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b="1">
                          <a:effectLst/>
                        </a:rPr>
                        <a:t>1.0</a:t>
                      </a:r>
                      <a:endParaRPr lang="zh-TW" altLang="en-US" b="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0">
                <a:tc>
                  <a:txBody>
                    <a:bodyPr/>
                    <a:lstStyle/>
                    <a:p>
                      <a:pPr algn="l" fontAlgn="t"/>
                      <a:r>
                        <a:rPr lang="en-US" b="0">
                          <a:effectLst/>
                        </a:rPr>
                        <a:t>1-</a:t>
                      </a:r>
                      <a:r>
                        <a:rPr lang="en-US" b="1">
                          <a:effectLst/>
                        </a:rPr>
                        <a:t>Spiral</a:t>
                      </a:r>
                      <a:r>
                        <a:rPr lang="en-US" b="0">
                          <a:effectLst/>
                        </a:rPr>
                        <a:t>, </a:t>
                      </a:r>
                      <a:r>
                        <a:rPr lang="en-US" b="0" i="1">
                          <a:effectLst/>
                        </a:rPr>
                        <a:t>k</a:t>
                      </a:r>
                      <a:r>
                        <a:rPr lang="en-US" b="0">
                          <a:effectLst/>
                        </a:rPr>
                        <a:t>-</a:t>
                      </a:r>
                      <a:r>
                        <a:rPr lang="en-US" b="1">
                          <a:effectLst/>
                        </a:rPr>
                        <a:t>means clustered</a:t>
                      </a:r>
                      <a:endParaRPr lang="en-US" b="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b="0">
                          <a:effectLst/>
                        </a:rPr>
                        <a:t>34</a:t>
                      </a: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b="1" dirty="0">
                          <a:effectLst/>
                        </a:rPr>
                        <a:t>1.0</a:t>
                      </a:r>
                      <a:endParaRPr lang="zh-TW" altLang="en-US" b="0" dirty="0">
                        <a:effectLst/>
                      </a:endParaRPr>
                    </a:p>
                  </a:txBody>
                  <a:tcPr>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bl>
          </a:graphicData>
        </a:graphic>
      </p:graphicFrame>
      <p:pic>
        <p:nvPicPr>
          <p:cNvPr id="17410" name="Picture 2" descr="http://www.sciencedirect.com/cache/MiamiImageURL/1-s2.0-S0031320310004486-gr10_lrg.jpg/0?wchp=dGLbVlk-zSkWz&amp;pii=S0031320310004486"/>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160" r="-1"/>
          <a:stretch/>
        </p:blipFill>
        <p:spPr bwMode="auto">
          <a:xfrm>
            <a:off x="8384" y="2996952"/>
            <a:ext cx="9156773" cy="32557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740484255"/>
      </p:ext>
    </p:extLst>
  </p:cSld>
  <p:clrMapOvr>
    <a:masterClrMapping/>
  </p:clrMapOvr>
  <p:transition>
    <p:cu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p:cNvPicPr>
            <a:picLocks noChangeAspect="1"/>
          </p:cNvPicPr>
          <p:nvPr/>
        </p:nvPicPr>
        <p:blipFill>
          <a:blip r:embed="rId2"/>
          <a:stretch>
            <a:fillRect/>
          </a:stretch>
        </p:blipFill>
        <p:spPr>
          <a:xfrm>
            <a:off x="-21056" y="2404242"/>
            <a:ext cx="5313136" cy="4453758"/>
          </a:xfrm>
          <a:prstGeom prst="rect">
            <a:avLst/>
          </a:prstGeom>
        </p:spPr>
      </p:pic>
      <p:pic>
        <p:nvPicPr>
          <p:cNvPr id="10" name="Picture 4" descr="http://www.sciencedirect.com/cache/MiamiImageURL/1-s2.0-S0031320310004486-gr11_lrg.jpg/0?wchp=dGLbVBA-zSkWA&amp;pii=S0031320310004486"/>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l="50216"/>
          <a:stretch/>
        </p:blipFill>
        <p:spPr bwMode="auto">
          <a:xfrm>
            <a:off x="5220072" y="4041338"/>
            <a:ext cx="3779515" cy="3060070"/>
          </a:xfrm>
          <a:prstGeom prst="rect">
            <a:avLst/>
          </a:prstGeom>
          <a:noFill/>
          <a:extLst>
            <a:ext uri="{909E8E84-426E-40DD-AFC4-6F175D3DCCD1}">
              <a14:hiddenFill xmlns:a14="http://schemas.microsoft.com/office/drawing/2010/main" xmlns="">
                <a:solidFill>
                  <a:srgbClr val="FFFFFF"/>
                </a:solidFill>
              </a14:hiddenFill>
            </a:ext>
          </a:extLst>
        </p:spPr>
      </p:pic>
      <p:sp>
        <p:nvSpPr>
          <p:cNvPr id="2" name="標題 1"/>
          <p:cNvSpPr>
            <a:spLocks noGrp="1"/>
          </p:cNvSpPr>
          <p:nvPr>
            <p:ph type="title"/>
          </p:nvPr>
        </p:nvSpPr>
        <p:spPr/>
        <p:txBody>
          <a:bodyPr/>
          <a:lstStyle/>
          <a:p>
            <a:endParaRPr lang="zh-TW" altLang="en-US" dirty="0"/>
          </a:p>
        </p:txBody>
      </p:sp>
      <p:sp>
        <p:nvSpPr>
          <p:cNvPr id="3" name="日期版面配置區 2"/>
          <p:cNvSpPr>
            <a:spLocks noGrp="1"/>
          </p:cNvSpPr>
          <p:nvPr>
            <p:ph type="dt" sz="half" idx="10"/>
          </p:nvPr>
        </p:nvSpPr>
        <p:spPr/>
        <p:txBody>
          <a:bodyPr/>
          <a:lstStyle/>
          <a:p>
            <a:fld id="{C1D97135-AB23-4052-96D9-3B6655C81AB1}" type="datetime1">
              <a:rPr lang="zh-TW" altLang="en-US" smtClean="0"/>
              <a:t>2013/9/10</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21</a:t>
            </a:fld>
            <a:endParaRPr lang="zh-TW" altLang="en-US"/>
          </a:p>
        </p:txBody>
      </p:sp>
      <p:sp>
        <p:nvSpPr>
          <p:cNvPr id="5" name="內容版面配置區 4"/>
          <p:cNvSpPr>
            <a:spLocks noGrp="1"/>
          </p:cNvSpPr>
          <p:nvPr>
            <p:ph sz="quarter" idx="1"/>
          </p:nvPr>
        </p:nvSpPr>
        <p:spPr/>
        <p:txBody>
          <a:bodyPr/>
          <a:lstStyle/>
          <a:p>
            <a:endParaRPr lang="zh-TW" altLang="en-US" dirty="0"/>
          </a:p>
        </p:txBody>
      </p:sp>
      <p:pic>
        <p:nvPicPr>
          <p:cNvPr id="17412" name="Picture 4" descr="http://www.sciencedirect.com/cache/MiamiImageURL/1-s2.0-S0031320310004486-gr11_lrg.jpg/0?wchp=dGLbVBA-zSkWA&amp;pii=S0031320310004486"/>
          <p:cNvPicPr>
            <a:picLocks noChangeAspect="1" noChangeArrowheads="1"/>
          </p:cNvPicPr>
          <p:nvPr/>
        </p:nvPicPr>
        <p:blipFill rotWithShape="1">
          <a:blip r:embed="rId4" cstate="print">
            <a:extLst>
              <a:ext uri="{28A0092B-C50C-407E-A947-70E740481C1C}">
                <a14:useLocalDpi xmlns:a14="http://schemas.microsoft.com/office/drawing/2010/main" xmlns="" val="0"/>
              </a:ext>
            </a:extLst>
          </a:blip>
          <a:srcRect r="48492"/>
          <a:stretch/>
        </p:blipFill>
        <p:spPr bwMode="auto">
          <a:xfrm>
            <a:off x="5230560" y="1924914"/>
            <a:ext cx="3661920" cy="2867682"/>
          </a:xfrm>
          <a:prstGeom prst="rect">
            <a:avLst/>
          </a:prstGeom>
          <a:noFill/>
          <a:extLst>
            <a:ext uri="{909E8E84-426E-40DD-AFC4-6F175D3DCCD1}">
              <a14:hiddenFill xmlns:a14="http://schemas.microsoft.com/office/drawing/2010/main" xmlns="">
                <a:solidFill>
                  <a:srgbClr val="FFFFFF"/>
                </a:solidFill>
              </a14:hiddenFill>
            </a:ext>
          </a:extLst>
        </p:spPr>
      </p:pic>
      <p:pic>
        <p:nvPicPr>
          <p:cNvPr id="9" name="內容版面配置區 11"/>
          <p:cNvPicPr>
            <a:picLocks noChangeAspect="1"/>
          </p:cNvPicPr>
          <p:nvPr/>
        </p:nvPicPr>
        <p:blipFill>
          <a:blip r:embed="rId5">
            <a:extLst>
              <a:ext uri="{BEBA8EAE-BF5A-486C-A8C5-ECC9F3942E4B}">
                <a14:imgProps xmlns:a14="http://schemas.microsoft.com/office/drawing/2010/main" xmlns="">
                  <a14:imgLayer r:embed="rId6">
                    <a14:imgEffect>
                      <a14:sharpenSoften amount="50000"/>
                    </a14:imgEffect>
                  </a14:imgLayer>
                </a14:imgProps>
              </a:ext>
            </a:extLst>
          </a:blip>
          <a:stretch>
            <a:fillRect/>
          </a:stretch>
        </p:blipFill>
        <p:spPr>
          <a:xfrm>
            <a:off x="457200" y="-27384"/>
            <a:ext cx="8105844" cy="2245716"/>
          </a:xfrm>
          <a:prstGeom prst="rect">
            <a:avLst/>
          </a:prstGeom>
        </p:spPr>
      </p:pic>
    </p:spTree>
    <p:extLst>
      <p:ext uri="{BB962C8B-B14F-4D97-AF65-F5344CB8AC3E}">
        <p14:creationId xmlns:p14="http://schemas.microsoft.com/office/powerpoint/2010/main" xmlns="" val="2710686747"/>
      </p:ext>
    </p:extLst>
  </p:cSld>
  <p:clrMapOvr>
    <a:masterClrMapping/>
  </p:clrMapOvr>
  <p:transition>
    <p:cu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evaluations</a:t>
            </a:r>
            <a:endParaRPr lang="zh-TW" altLang="en-US" dirty="0"/>
          </a:p>
        </p:txBody>
      </p:sp>
      <p:sp>
        <p:nvSpPr>
          <p:cNvPr id="3" name="日期版面配置區 2"/>
          <p:cNvSpPr>
            <a:spLocks noGrp="1"/>
          </p:cNvSpPr>
          <p:nvPr>
            <p:ph type="dt" sz="half" idx="10"/>
          </p:nvPr>
        </p:nvSpPr>
        <p:spPr/>
        <p:txBody>
          <a:bodyPr/>
          <a:lstStyle/>
          <a:p>
            <a:fld id="{45C92324-7C58-4CC0-8C2D-E578725F9D1C}" type="datetime1">
              <a:rPr lang="zh-TW" altLang="en-US" smtClean="0"/>
              <a:t>2013/9/10</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22</a:t>
            </a:fld>
            <a:endParaRPr lang="zh-TW" altLang="en-US"/>
          </a:p>
        </p:txBody>
      </p:sp>
      <p:sp>
        <p:nvSpPr>
          <p:cNvPr id="5" name="內容版面配置區 4"/>
          <p:cNvSpPr>
            <a:spLocks noGrp="1"/>
          </p:cNvSpPr>
          <p:nvPr>
            <p:ph sz="quarter" idx="1"/>
          </p:nvPr>
        </p:nvSpPr>
        <p:spPr/>
        <p:txBody>
          <a:bodyPr/>
          <a:lstStyle/>
          <a:p>
            <a:endParaRPr lang="zh-TW" altLang="en-US" dirty="0"/>
          </a:p>
        </p:txBody>
      </p:sp>
      <p:pic>
        <p:nvPicPr>
          <p:cNvPr id="12" name="圖片 11"/>
          <p:cNvPicPr>
            <a:picLocks noChangeAspect="1"/>
          </p:cNvPicPr>
          <p:nvPr/>
        </p:nvPicPr>
        <p:blipFill>
          <a:blip r:embed="rId2"/>
          <a:stretch>
            <a:fillRect/>
          </a:stretch>
        </p:blipFill>
        <p:spPr>
          <a:xfrm>
            <a:off x="0" y="1196752"/>
            <a:ext cx="9075178" cy="4991348"/>
          </a:xfrm>
          <a:prstGeom prst="rect">
            <a:avLst/>
          </a:prstGeom>
        </p:spPr>
      </p:pic>
    </p:spTree>
    <p:extLst>
      <p:ext uri="{BB962C8B-B14F-4D97-AF65-F5344CB8AC3E}">
        <p14:creationId xmlns:p14="http://schemas.microsoft.com/office/powerpoint/2010/main" xmlns="" val="1535602136"/>
      </p:ext>
    </p:extLst>
  </p:cSld>
  <p:clrMapOvr>
    <a:masterClrMapping/>
  </p:clrMapOvr>
  <p:transition>
    <p:cut/>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evaluations</a:t>
            </a:r>
            <a:endParaRPr lang="zh-TW" altLang="en-US" dirty="0"/>
          </a:p>
        </p:txBody>
      </p:sp>
      <p:sp>
        <p:nvSpPr>
          <p:cNvPr id="3" name="日期版面配置區 2"/>
          <p:cNvSpPr>
            <a:spLocks noGrp="1"/>
          </p:cNvSpPr>
          <p:nvPr>
            <p:ph type="dt" sz="half" idx="10"/>
          </p:nvPr>
        </p:nvSpPr>
        <p:spPr/>
        <p:txBody>
          <a:bodyPr/>
          <a:lstStyle/>
          <a:p>
            <a:fld id="{3CEF7ED9-5C65-4949-A716-28C3191ADF0A}" type="datetime1">
              <a:rPr lang="zh-TW" altLang="en-US" smtClean="0"/>
              <a:t>2013/9/10</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23</a:t>
            </a:fld>
            <a:endParaRPr lang="zh-TW" altLang="en-US" dirty="0"/>
          </a:p>
        </p:txBody>
      </p:sp>
      <p:graphicFrame>
        <p:nvGraphicFramePr>
          <p:cNvPr id="19" name="表格 18"/>
          <p:cNvGraphicFramePr>
            <a:graphicFrameLocks noGrp="1"/>
          </p:cNvGraphicFramePr>
          <p:nvPr>
            <p:extLst>
              <p:ext uri="{D42A27DB-BD31-4B8C-83A1-F6EECF244321}">
                <p14:modId xmlns:p14="http://schemas.microsoft.com/office/powerpoint/2010/main" xmlns="" val="4121702797"/>
              </p:ext>
            </p:extLst>
          </p:nvPr>
        </p:nvGraphicFramePr>
        <p:xfrm>
          <a:off x="9921" y="1052736"/>
          <a:ext cx="3142467" cy="4589263"/>
        </p:xfrm>
        <a:graphic>
          <a:graphicData uri="http://schemas.openxmlformats.org/drawingml/2006/table">
            <a:tbl>
              <a:tblPr firstRow="1" firstCol="1" bandRow="1">
                <a:tableStyleId>{F5AB1C69-6EDB-4FF4-983F-18BD219EF322}</a:tableStyleId>
              </a:tblPr>
              <a:tblGrid>
                <a:gridCol w="1609751"/>
                <a:gridCol w="864096"/>
                <a:gridCol w="668620"/>
              </a:tblGrid>
              <a:tr h="199218">
                <a:tc>
                  <a:txBody>
                    <a:bodyPr/>
                    <a:lstStyle/>
                    <a:p>
                      <a:pPr>
                        <a:lnSpc>
                          <a:spcPts val="1500"/>
                        </a:lnSpc>
                        <a:spcAft>
                          <a:spcPts val="0"/>
                        </a:spcAft>
                      </a:pPr>
                      <a:r>
                        <a:rPr lang="en-US" sz="1600" kern="0" dirty="0">
                          <a:effectLst/>
                        </a:rPr>
                        <a:t>INPUT</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gridSpan="2">
                  <a:txBody>
                    <a:bodyPr/>
                    <a:lstStyle/>
                    <a:p>
                      <a:pPr>
                        <a:lnSpc>
                          <a:spcPts val="1500"/>
                        </a:lnSpc>
                        <a:spcAft>
                          <a:spcPts val="0"/>
                        </a:spcAft>
                      </a:pPr>
                      <a:r>
                        <a:rPr lang="en-US" sz="1600" kern="0" dirty="0">
                          <a:effectLst/>
                        </a:rPr>
                        <a:t>COMUSA</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hMerge="1">
                  <a:txBody>
                    <a:bodyPr/>
                    <a:lstStyle/>
                    <a:p>
                      <a:endParaRPr lang="zh-TW" altLang="en-US"/>
                    </a:p>
                  </a:txBody>
                  <a:tcPr/>
                </a:tc>
              </a:tr>
              <a:tr h="421123">
                <a:tc>
                  <a:txBody>
                    <a:bodyPr/>
                    <a:lstStyle/>
                    <a:p>
                      <a:endParaRPr lang="zh-TW" sz="1400" kern="100" dirty="0">
                        <a:effectLst/>
                        <a:latin typeface="Calibri" panose="020F0502020204030204" pitchFamily="34" charset="0"/>
                      </a:endParaRPr>
                    </a:p>
                  </a:txBody>
                  <a:tcPr marL="76200" marR="76200" marT="15240" marB="15240"/>
                </a:tc>
                <a:tc>
                  <a:txBody>
                    <a:bodyPr/>
                    <a:lstStyle/>
                    <a:p>
                      <a:pPr>
                        <a:lnSpc>
                          <a:spcPts val="1500"/>
                        </a:lnSpc>
                        <a:spcAft>
                          <a:spcPts val="0"/>
                        </a:spcAft>
                      </a:pPr>
                      <a:r>
                        <a:rPr lang="en-US" sz="1600" kern="0" dirty="0">
                          <a:effectLst/>
                        </a:rPr>
                        <a:t>Relaxation (%)</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ARI</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r h="199218">
                <a:tc>
                  <a:txBody>
                    <a:bodyPr/>
                    <a:lstStyle/>
                    <a:p>
                      <a:pPr>
                        <a:lnSpc>
                          <a:spcPts val="1500"/>
                        </a:lnSpc>
                        <a:spcAft>
                          <a:spcPts val="0"/>
                        </a:spcAft>
                      </a:pPr>
                      <a:r>
                        <a:rPr lang="en-US" sz="1600" kern="0">
                          <a:effectLst/>
                        </a:rPr>
                        <a:t>Iris</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0.676</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r h="214045">
                <a:tc>
                  <a:txBody>
                    <a:bodyPr/>
                    <a:lstStyle/>
                    <a:p>
                      <a:endParaRPr lang="zh-TW" sz="1400" kern="100">
                        <a:effectLst/>
                        <a:latin typeface="Calibri" panose="020F0502020204030204" pitchFamily="34" charset="0"/>
                      </a:endParaRPr>
                    </a:p>
                  </a:txBody>
                  <a:tcPr marL="76200" marR="76200" marT="15240" marB="15240"/>
                </a:tc>
                <a:tc>
                  <a:txBody>
                    <a:bodyPr/>
                    <a:lstStyle/>
                    <a:p>
                      <a:pPr>
                        <a:lnSpc>
                          <a:spcPts val="1500"/>
                        </a:lnSpc>
                        <a:spcAft>
                          <a:spcPts val="0"/>
                        </a:spcAft>
                      </a:pPr>
                      <a:r>
                        <a:rPr lang="en-US" sz="1600" kern="0">
                          <a:effectLst/>
                        </a:rPr>
                        <a:t>50</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0.698</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r h="199218">
                <a:tc>
                  <a:txBody>
                    <a:bodyPr/>
                    <a:lstStyle/>
                    <a:p>
                      <a:pPr>
                        <a:lnSpc>
                          <a:spcPts val="1500"/>
                        </a:lnSpc>
                        <a:spcAft>
                          <a:spcPts val="0"/>
                        </a:spcAft>
                      </a:pPr>
                      <a:r>
                        <a:rPr lang="en-US" sz="1600" kern="0" dirty="0">
                          <a:effectLst/>
                        </a:rPr>
                        <a:t>Glass</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0.308</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r h="214045">
                <a:tc>
                  <a:txBody>
                    <a:bodyPr/>
                    <a:lstStyle/>
                    <a:p>
                      <a:endParaRPr lang="zh-TW" sz="1400" kern="100">
                        <a:effectLst/>
                        <a:latin typeface="Calibri" panose="020F0502020204030204" pitchFamily="34" charset="0"/>
                      </a:endParaRPr>
                    </a:p>
                  </a:txBody>
                  <a:tcPr marL="76200" marR="76200" marT="15240" marB="15240"/>
                </a:tc>
                <a:tc>
                  <a:txBody>
                    <a:bodyPr/>
                    <a:lstStyle/>
                    <a:p>
                      <a:pPr>
                        <a:lnSpc>
                          <a:spcPts val="1500"/>
                        </a:lnSpc>
                        <a:spcAft>
                          <a:spcPts val="0"/>
                        </a:spcAft>
                      </a:pPr>
                      <a:r>
                        <a:rPr lang="en-US" sz="1600" kern="0">
                          <a:effectLst/>
                        </a:rPr>
                        <a:t>25</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0.403</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r h="214045">
                <a:tc>
                  <a:txBody>
                    <a:bodyPr/>
                    <a:lstStyle/>
                    <a:p>
                      <a:endParaRPr lang="en-US" altLang="zh-TW" sz="1400" kern="100" dirty="0" smtClean="0">
                        <a:effectLst/>
                        <a:latin typeface="Calibri" panose="020F0502020204030204" pitchFamily="34" charset="0"/>
                      </a:endParaRPr>
                    </a:p>
                    <a:p>
                      <a:endParaRPr lang="zh-TW" sz="1400" kern="100" dirty="0">
                        <a:effectLst/>
                        <a:latin typeface="Calibri" panose="020F0502020204030204" pitchFamily="34" charset="0"/>
                      </a:endParaRPr>
                    </a:p>
                  </a:txBody>
                  <a:tcPr marL="76200" marR="76200" marT="15240" marB="15240"/>
                </a:tc>
                <a:tc>
                  <a:txBody>
                    <a:bodyPr/>
                    <a:lstStyle/>
                    <a:p>
                      <a:pPr>
                        <a:lnSpc>
                          <a:spcPts val="1500"/>
                        </a:lnSpc>
                        <a:spcAft>
                          <a:spcPts val="0"/>
                        </a:spcAft>
                      </a:pPr>
                      <a:r>
                        <a:rPr lang="en-US" sz="1600" kern="0" dirty="0">
                          <a:effectLst/>
                        </a:rPr>
                        <a:t>34</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solidFill>
                            <a:srgbClr val="FF0000"/>
                          </a:solidFill>
                          <a:effectLst/>
                        </a:rPr>
                        <a:t>0.964</a:t>
                      </a:r>
                      <a:endParaRPr lang="zh-TW" sz="1400" kern="100" dirty="0">
                        <a:solidFill>
                          <a:srgbClr val="FF0000"/>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r h="199218">
                <a:tc>
                  <a:txBody>
                    <a:bodyPr/>
                    <a:lstStyle/>
                    <a:p>
                      <a:pPr>
                        <a:lnSpc>
                          <a:spcPts val="1500"/>
                        </a:lnSpc>
                        <a:spcAft>
                          <a:spcPts val="0"/>
                        </a:spcAft>
                      </a:pPr>
                      <a:r>
                        <a:rPr lang="en-US" sz="1600" kern="0">
                          <a:effectLst/>
                        </a:rPr>
                        <a:t>Breast Cancer</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0.156</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r h="214045">
                <a:tc>
                  <a:txBody>
                    <a:bodyPr/>
                    <a:lstStyle/>
                    <a:p>
                      <a:endParaRPr lang="zh-TW" sz="1400" kern="100">
                        <a:effectLst/>
                        <a:latin typeface="Calibri" panose="020F0502020204030204" pitchFamily="34" charset="0"/>
                      </a:endParaRPr>
                    </a:p>
                  </a:txBody>
                  <a:tcPr marL="76200" marR="76200" marT="15240" marB="15240"/>
                </a:tc>
                <a:tc>
                  <a:txBody>
                    <a:bodyPr/>
                    <a:lstStyle/>
                    <a:p>
                      <a:pPr>
                        <a:lnSpc>
                          <a:spcPts val="1500"/>
                        </a:lnSpc>
                        <a:spcAft>
                          <a:spcPts val="0"/>
                        </a:spcAft>
                      </a:pPr>
                      <a:r>
                        <a:rPr lang="en-US" sz="1600" kern="0">
                          <a:effectLst/>
                        </a:rPr>
                        <a:t>17</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0.301</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r h="214045">
                <a:tc>
                  <a:txBody>
                    <a:bodyPr/>
                    <a:lstStyle/>
                    <a:p>
                      <a:endParaRPr lang="zh-TW" sz="1400" kern="100">
                        <a:effectLst/>
                        <a:latin typeface="Calibri" panose="020F0502020204030204" pitchFamily="34" charset="0"/>
                      </a:endParaRPr>
                    </a:p>
                  </a:txBody>
                  <a:tcPr marL="76200" marR="76200" marT="15240" marB="15240"/>
                </a:tc>
                <a:tc>
                  <a:txBody>
                    <a:bodyPr/>
                    <a:lstStyle/>
                    <a:p>
                      <a:pPr>
                        <a:lnSpc>
                          <a:spcPts val="1500"/>
                        </a:lnSpc>
                        <a:spcAft>
                          <a:spcPts val="0"/>
                        </a:spcAft>
                      </a:pPr>
                      <a:r>
                        <a:rPr lang="en-US" sz="1600" kern="0">
                          <a:effectLst/>
                        </a:rPr>
                        <a:t>20</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effectLst/>
                        </a:rPr>
                        <a:t>0.604</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r h="214045">
                <a:tc>
                  <a:txBody>
                    <a:bodyPr/>
                    <a:lstStyle/>
                    <a:p>
                      <a:endParaRPr lang="zh-TW" sz="1400" kern="100">
                        <a:effectLst/>
                        <a:latin typeface="Calibri" panose="020F0502020204030204" pitchFamily="34" charset="0"/>
                      </a:endParaRPr>
                    </a:p>
                  </a:txBody>
                  <a:tcPr marL="76200" marR="76200" marT="15240" marB="15240"/>
                </a:tc>
                <a:tc>
                  <a:txBody>
                    <a:bodyPr/>
                    <a:lstStyle/>
                    <a:p>
                      <a:pPr>
                        <a:lnSpc>
                          <a:spcPts val="1500"/>
                        </a:lnSpc>
                        <a:spcAft>
                          <a:spcPts val="0"/>
                        </a:spcAft>
                      </a:pPr>
                      <a:r>
                        <a:rPr lang="en-US" sz="1600" kern="0">
                          <a:effectLst/>
                        </a:rPr>
                        <a:t>25</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solidFill>
                            <a:srgbClr val="FF0000"/>
                          </a:solidFill>
                          <a:effectLst/>
                        </a:rPr>
                        <a:t>1.0</a:t>
                      </a:r>
                      <a:endParaRPr lang="zh-TW" sz="1400" kern="100" dirty="0">
                        <a:solidFill>
                          <a:srgbClr val="FF0000"/>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r h="366440">
                <a:tc>
                  <a:txBody>
                    <a:bodyPr/>
                    <a:lstStyle/>
                    <a:p>
                      <a:pPr>
                        <a:lnSpc>
                          <a:spcPts val="1500"/>
                        </a:lnSpc>
                        <a:spcAft>
                          <a:spcPts val="0"/>
                        </a:spcAft>
                      </a:pPr>
                      <a:r>
                        <a:rPr lang="en-US" sz="1600" kern="0">
                          <a:effectLst/>
                        </a:rPr>
                        <a:t>Image Segmentation</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0.350</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r h="214045">
                <a:tc>
                  <a:txBody>
                    <a:bodyPr/>
                    <a:lstStyle/>
                    <a:p>
                      <a:endParaRPr lang="zh-TW" sz="1400" kern="100">
                        <a:effectLst/>
                        <a:latin typeface="Calibri" panose="020F0502020204030204" pitchFamily="34" charset="0"/>
                      </a:endParaRPr>
                    </a:p>
                  </a:txBody>
                  <a:tcPr marL="76200" marR="76200" marT="15240" marB="15240"/>
                </a:tc>
                <a:tc>
                  <a:txBody>
                    <a:bodyPr/>
                    <a:lstStyle/>
                    <a:p>
                      <a:pPr>
                        <a:lnSpc>
                          <a:spcPts val="1500"/>
                        </a:lnSpc>
                        <a:spcAft>
                          <a:spcPts val="0"/>
                        </a:spcAft>
                      </a:pPr>
                      <a:r>
                        <a:rPr lang="en-US" sz="1600" kern="0">
                          <a:effectLst/>
                        </a:rPr>
                        <a:t>12</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0.932</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r h="214045">
                <a:tc>
                  <a:txBody>
                    <a:bodyPr/>
                    <a:lstStyle/>
                    <a:p>
                      <a:endParaRPr lang="zh-TW" sz="1400" kern="100">
                        <a:effectLst/>
                        <a:latin typeface="Calibri" panose="020F0502020204030204" pitchFamily="34" charset="0"/>
                      </a:endParaRPr>
                    </a:p>
                  </a:txBody>
                  <a:tcPr marL="76200" marR="76200" marT="15240" marB="15240"/>
                </a:tc>
                <a:tc>
                  <a:txBody>
                    <a:bodyPr/>
                    <a:lstStyle/>
                    <a:p>
                      <a:pPr>
                        <a:lnSpc>
                          <a:spcPts val="1500"/>
                        </a:lnSpc>
                        <a:spcAft>
                          <a:spcPts val="0"/>
                        </a:spcAft>
                      </a:pPr>
                      <a:r>
                        <a:rPr lang="en-US" sz="1600" kern="0">
                          <a:effectLst/>
                        </a:rPr>
                        <a:t>13</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0.831</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r h="199218">
                <a:tc>
                  <a:txBody>
                    <a:bodyPr/>
                    <a:lstStyle/>
                    <a:p>
                      <a:pPr>
                        <a:lnSpc>
                          <a:spcPts val="1500"/>
                        </a:lnSpc>
                        <a:spcAft>
                          <a:spcPts val="0"/>
                        </a:spcAft>
                      </a:pPr>
                      <a:r>
                        <a:rPr lang="en-US" sz="1600" kern="0">
                          <a:effectLst/>
                        </a:rPr>
                        <a:t>Syn5K</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0.301</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r h="214045">
                <a:tc>
                  <a:txBody>
                    <a:bodyPr/>
                    <a:lstStyle/>
                    <a:p>
                      <a:endParaRPr lang="zh-TW" sz="1400" kern="100">
                        <a:effectLst/>
                        <a:latin typeface="Calibri" panose="020F0502020204030204" pitchFamily="34" charset="0"/>
                      </a:endParaRPr>
                    </a:p>
                  </a:txBody>
                  <a:tcPr marL="76200" marR="76200" marT="15240" marB="15240"/>
                </a:tc>
                <a:tc>
                  <a:txBody>
                    <a:bodyPr/>
                    <a:lstStyle/>
                    <a:p>
                      <a:pPr>
                        <a:lnSpc>
                          <a:spcPts val="1500"/>
                        </a:lnSpc>
                        <a:spcAft>
                          <a:spcPts val="0"/>
                        </a:spcAft>
                      </a:pPr>
                      <a:r>
                        <a:rPr lang="en-US" sz="1600" kern="0">
                          <a:effectLst/>
                        </a:rPr>
                        <a:t>15</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solidFill>
                            <a:srgbClr val="FF0000"/>
                          </a:solidFill>
                          <a:effectLst/>
                        </a:rPr>
                        <a:t>1.0</a:t>
                      </a:r>
                      <a:endParaRPr lang="zh-TW" sz="1400" kern="100" dirty="0">
                        <a:solidFill>
                          <a:srgbClr val="FF0000"/>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r h="214045">
                <a:tc>
                  <a:txBody>
                    <a:bodyPr/>
                    <a:lstStyle/>
                    <a:p>
                      <a:endParaRPr lang="zh-TW" sz="1400" kern="100" dirty="0">
                        <a:effectLst/>
                        <a:latin typeface="Calibri" panose="020F0502020204030204" pitchFamily="34" charset="0"/>
                      </a:endParaRPr>
                    </a:p>
                  </a:txBody>
                  <a:tcPr marL="76200" marR="76200" marT="15240" marB="15240"/>
                </a:tc>
                <a:tc>
                  <a:txBody>
                    <a:bodyPr/>
                    <a:lstStyle/>
                    <a:p>
                      <a:pPr>
                        <a:lnSpc>
                          <a:spcPts val="1500"/>
                        </a:lnSpc>
                        <a:spcAft>
                          <a:spcPts val="0"/>
                        </a:spcAft>
                      </a:pPr>
                      <a:r>
                        <a:rPr lang="en-US" sz="1600" kern="0">
                          <a:effectLst/>
                        </a:rPr>
                        <a:t>25</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effectLst/>
                        </a:rPr>
                        <a:t>0.999</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bl>
          </a:graphicData>
        </a:graphic>
      </p:graphicFrame>
      <p:graphicFrame>
        <p:nvGraphicFramePr>
          <p:cNvPr id="22" name="表格 21"/>
          <p:cNvGraphicFramePr>
            <a:graphicFrameLocks noGrp="1"/>
          </p:cNvGraphicFramePr>
          <p:nvPr>
            <p:extLst>
              <p:ext uri="{D42A27DB-BD31-4B8C-83A1-F6EECF244321}">
                <p14:modId xmlns:p14="http://schemas.microsoft.com/office/powerpoint/2010/main" xmlns="" val="3969532202"/>
              </p:ext>
            </p:extLst>
          </p:nvPr>
        </p:nvGraphicFramePr>
        <p:xfrm>
          <a:off x="3110137" y="1052736"/>
          <a:ext cx="6033865" cy="4625712"/>
        </p:xfrm>
        <a:graphic>
          <a:graphicData uri="http://schemas.openxmlformats.org/drawingml/2006/table">
            <a:tbl>
              <a:tblPr firstRow="1" firstCol="1" bandRow="1">
                <a:tableStyleId>{F5AB1C69-6EDB-4FF4-983F-18BD219EF322}</a:tableStyleId>
              </a:tblPr>
              <a:tblGrid>
                <a:gridCol w="1353343"/>
                <a:gridCol w="806897"/>
                <a:gridCol w="774725"/>
                <a:gridCol w="774725"/>
                <a:gridCol w="774725"/>
                <a:gridCol w="774725"/>
                <a:gridCol w="774725"/>
              </a:tblGrid>
              <a:tr h="648072">
                <a:tc>
                  <a:txBody>
                    <a:bodyPr/>
                    <a:lstStyle/>
                    <a:p>
                      <a:pPr>
                        <a:lnSpc>
                          <a:spcPts val="1500"/>
                        </a:lnSpc>
                        <a:spcAft>
                          <a:spcPts val="0"/>
                        </a:spcAft>
                      </a:pPr>
                      <a:r>
                        <a:rPr lang="en-US" sz="1600" kern="0" dirty="0">
                          <a:effectLst/>
                        </a:rPr>
                        <a:t>INPUT</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smtClean="0">
                          <a:effectLst/>
                        </a:rPr>
                        <a:t>#</a:t>
                      </a:r>
                      <a:r>
                        <a:rPr lang="en-US" sz="1600" kern="0" baseline="0" dirty="0" smtClean="0">
                          <a:effectLst/>
                        </a:rPr>
                        <a:t> </a:t>
                      </a:r>
                      <a:r>
                        <a:rPr lang="en-US" sz="1600" kern="0" dirty="0" smtClean="0">
                          <a:effectLst/>
                        </a:rPr>
                        <a:t>of </a:t>
                      </a:r>
                      <a:r>
                        <a:rPr lang="en-US" sz="1600" kern="0" dirty="0">
                          <a:effectLst/>
                        </a:rPr>
                        <a:t>clusters</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effectLst/>
                        </a:rPr>
                        <a:t>PMETISARI</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effectLst/>
                        </a:rPr>
                        <a:t>KMETISARI</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HMETISARI</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MCLAARI</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effectLst/>
                        </a:rPr>
                        <a:t>EACARI</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r h="213511">
                <a:tc>
                  <a:txBody>
                    <a:bodyPr/>
                    <a:lstStyle/>
                    <a:p>
                      <a:pPr>
                        <a:lnSpc>
                          <a:spcPts val="1500"/>
                        </a:lnSpc>
                        <a:spcAft>
                          <a:spcPts val="0"/>
                        </a:spcAft>
                      </a:pPr>
                      <a:r>
                        <a:rPr lang="en-US" sz="1600" kern="0">
                          <a:effectLst/>
                        </a:rPr>
                        <a:t>Iris</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effectLst/>
                        </a:rPr>
                        <a:t>3</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0.691</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effectLst/>
                        </a:rPr>
                        <a:t>0.688</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0.096</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solidFill>
                            <a:srgbClr val="FF0000"/>
                          </a:solidFill>
                          <a:effectLst/>
                        </a:rPr>
                        <a:t>0.711</a:t>
                      </a:r>
                      <a:endParaRPr lang="zh-TW" sz="1400" kern="100" dirty="0">
                        <a:solidFill>
                          <a:srgbClr val="FF0000"/>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solidFill>
                            <a:srgbClr val="FF0000"/>
                          </a:solidFill>
                          <a:effectLst/>
                        </a:rPr>
                        <a:t>0.711</a:t>
                      </a:r>
                      <a:endParaRPr lang="zh-TW" sz="1400" kern="100" dirty="0">
                        <a:solidFill>
                          <a:srgbClr val="FF0000"/>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r h="235598">
                <a:tc>
                  <a:txBody>
                    <a:bodyPr/>
                    <a:lstStyle/>
                    <a:p>
                      <a:endParaRPr lang="zh-TW" sz="1400" kern="100" dirty="0">
                        <a:effectLst/>
                        <a:latin typeface="Calibri" panose="020F0502020204030204" pitchFamily="34" charset="0"/>
                      </a:endParaRPr>
                    </a:p>
                  </a:txBody>
                  <a:tcPr marL="76200" marR="76200" marT="15240" marB="15240"/>
                </a:tc>
                <a:tc>
                  <a:txBody>
                    <a:bodyPr/>
                    <a:lstStyle/>
                    <a:p>
                      <a:pPr>
                        <a:lnSpc>
                          <a:spcPts val="1500"/>
                        </a:lnSpc>
                        <a:spcAft>
                          <a:spcPts val="0"/>
                        </a:spcAft>
                      </a:pPr>
                      <a:r>
                        <a:rPr lang="en-US" sz="1600" kern="0">
                          <a:effectLst/>
                        </a:rPr>
                        <a:t>4</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0.412</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effectLst/>
                        </a:rPr>
                        <a:t>0.368</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0.036</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0.662</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0.690</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r h="213511">
                <a:tc>
                  <a:txBody>
                    <a:bodyPr/>
                    <a:lstStyle/>
                    <a:p>
                      <a:pPr>
                        <a:lnSpc>
                          <a:spcPts val="1500"/>
                        </a:lnSpc>
                        <a:spcAft>
                          <a:spcPts val="0"/>
                        </a:spcAft>
                      </a:pPr>
                      <a:r>
                        <a:rPr lang="en-US" sz="1600" kern="0">
                          <a:effectLst/>
                        </a:rPr>
                        <a:t>Glass</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6</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0.4740</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effectLst/>
                        </a:rPr>
                        <a:t>0.4698</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0.1568</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0.9633</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0.8041</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r h="235598">
                <a:tc>
                  <a:txBody>
                    <a:bodyPr/>
                    <a:lstStyle/>
                    <a:p>
                      <a:endParaRPr lang="zh-TW" sz="1400" kern="100" dirty="0">
                        <a:effectLst/>
                        <a:latin typeface="Calibri" panose="020F0502020204030204" pitchFamily="34" charset="0"/>
                      </a:endParaRPr>
                    </a:p>
                  </a:txBody>
                  <a:tcPr marL="76200" marR="76200" marT="15240" marB="15240"/>
                </a:tc>
                <a:tc>
                  <a:txBody>
                    <a:bodyPr/>
                    <a:lstStyle/>
                    <a:p>
                      <a:pPr>
                        <a:lnSpc>
                          <a:spcPts val="1500"/>
                        </a:lnSpc>
                        <a:spcAft>
                          <a:spcPts val="0"/>
                        </a:spcAft>
                      </a:pPr>
                      <a:r>
                        <a:rPr lang="en-US" sz="1600" kern="0">
                          <a:effectLst/>
                        </a:rPr>
                        <a:t>8</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0.3835</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0.4151</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effectLst/>
                        </a:rPr>
                        <a:t>0.0063</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0.6439</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0.7862</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r h="235598">
                <a:tc>
                  <a:txBody>
                    <a:bodyPr/>
                    <a:lstStyle/>
                    <a:p>
                      <a:endParaRPr lang="zh-TW" sz="1400" kern="100" dirty="0">
                        <a:effectLst/>
                        <a:latin typeface="Calibri" panose="020F0502020204030204" pitchFamily="34" charset="0"/>
                      </a:endParaRPr>
                    </a:p>
                  </a:txBody>
                  <a:tcPr marL="76200" marR="76200" marT="15240" marB="15240"/>
                </a:tc>
                <a:tc>
                  <a:txBody>
                    <a:bodyPr/>
                    <a:lstStyle/>
                    <a:p>
                      <a:pPr>
                        <a:lnSpc>
                          <a:spcPts val="1500"/>
                        </a:lnSpc>
                        <a:spcAft>
                          <a:spcPts val="0"/>
                        </a:spcAft>
                      </a:pPr>
                      <a:r>
                        <a:rPr lang="en-US" sz="1600" kern="0">
                          <a:effectLst/>
                        </a:rPr>
                        <a:t>22</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0.2026</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0.1971</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effectLst/>
                        </a:rPr>
                        <a:t>0.0654</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0.2898</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0.6404</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r h="235598">
                <a:tc>
                  <a:txBody>
                    <a:bodyPr/>
                    <a:lstStyle/>
                    <a:p>
                      <a:endParaRPr lang="zh-TW" sz="1400" kern="100" dirty="0">
                        <a:effectLst/>
                        <a:latin typeface="Calibri" panose="020F0502020204030204" pitchFamily="34" charset="0"/>
                      </a:endParaRPr>
                    </a:p>
                  </a:txBody>
                  <a:tcPr marL="76200" marR="76200" marT="15240" marB="15240"/>
                </a:tc>
                <a:tc>
                  <a:txBody>
                    <a:bodyPr/>
                    <a:lstStyle/>
                    <a:p>
                      <a:pPr>
                        <a:lnSpc>
                          <a:spcPts val="1500"/>
                        </a:lnSpc>
                        <a:spcAft>
                          <a:spcPts val="0"/>
                        </a:spcAft>
                      </a:pPr>
                      <a:r>
                        <a:rPr lang="en-US" sz="1600" kern="0" dirty="0">
                          <a:effectLst/>
                        </a:rPr>
                        <a:t>24</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0.1892</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0.1705</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effectLst/>
                        </a:rPr>
                        <a:t>0.0615</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0.2847</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0.4292</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r h="213511">
                <a:tc>
                  <a:txBody>
                    <a:bodyPr/>
                    <a:lstStyle/>
                    <a:p>
                      <a:pPr>
                        <a:lnSpc>
                          <a:spcPts val="1500"/>
                        </a:lnSpc>
                        <a:spcAft>
                          <a:spcPts val="0"/>
                        </a:spcAft>
                      </a:pPr>
                      <a:r>
                        <a:rPr lang="en-US" sz="1600" kern="0" dirty="0">
                          <a:effectLst/>
                        </a:rPr>
                        <a:t>Breast Cancer</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2</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0.3597</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0.3942</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effectLst/>
                        </a:rPr>
                        <a:t>0.0024</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effectLst/>
                        </a:rPr>
                        <a:t>0.5778</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0.8322</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r h="235598">
                <a:tc>
                  <a:txBody>
                    <a:bodyPr/>
                    <a:lstStyle/>
                    <a:p>
                      <a:endParaRPr lang="zh-TW" sz="1400" kern="100" dirty="0">
                        <a:effectLst/>
                        <a:latin typeface="Calibri" panose="020F0502020204030204" pitchFamily="34" charset="0"/>
                      </a:endParaRPr>
                    </a:p>
                  </a:txBody>
                  <a:tcPr marL="76200" marR="76200" marT="15240" marB="15240"/>
                </a:tc>
                <a:tc>
                  <a:txBody>
                    <a:bodyPr/>
                    <a:lstStyle/>
                    <a:p>
                      <a:pPr>
                        <a:lnSpc>
                          <a:spcPts val="1500"/>
                        </a:lnSpc>
                        <a:spcAft>
                          <a:spcPts val="0"/>
                        </a:spcAft>
                      </a:pPr>
                      <a:r>
                        <a:rPr lang="en-US" sz="1600" kern="0" dirty="0">
                          <a:effectLst/>
                        </a:rPr>
                        <a:t>6</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0.2174</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0.2039</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0.1311</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effectLst/>
                        </a:rPr>
                        <a:t>0.2967</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0.8981</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r h="235598">
                <a:tc>
                  <a:txBody>
                    <a:bodyPr/>
                    <a:lstStyle/>
                    <a:p>
                      <a:endParaRPr lang="zh-TW" sz="1400" kern="100">
                        <a:effectLst/>
                        <a:latin typeface="Calibri" panose="020F0502020204030204" pitchFamily="34" charset="0"/>
                      </a:endParaRPr>
                    </a:p>
                  </a:txBody>
                  <a:tcPr marL="76200" marR="76200" marT="15240" marB="15240"/>
                </a:tc>
                <a:tc>
                  <a:txBody>
                    <a:bodyPr/>
                    <a:lstStyle/>
                    <a:p>
                      <a:pPr>
                        <a:lnSpc>
                          <a:spcPts val="1500"/>
                        </a:lnSpc>
                        <a:spcAft>
                          <a:spcPts val="0"/>
                        </a:spcAft>
                      </a:pPr>
                      <a:r>
                        <a:rPr lang="en-US" sz="1600" kern="0">
                          <a:effectLst/>
                        </a:rPr>
                        <a:t>11</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0.1189</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0.1122</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0.0684</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effectLst/>
                        </a:rPr>
                        <a:t>0.3268</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0.5463</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r h="235598">
                <a:tc>
                  <a:txBody>
                    <a:bodyPr/>
                    <a:lstStyle/>
                    <a:p>
                      <a:endParaRPr lang="zh-TW" sz="1400" kern="100" dirty="0">
                        <a:effectLst/>
                        <a:latin typeface="Calibri" panose="020F0502020204030204" pitchFamily="34" charset="0"/>
                      </a:endParaRPr>
                    </a:p>
                  </a:txBody>
                  <a:tcPr marL="76200" marR="76200" marT="15240" marB="15240"/>
                </a:tc>
                <a:tc>
                  <a:txBody>
                    <a:bodyPr/>
                    <a:lstStyle/>
                    <a:p>
                      <a:pPr>
                        <a:lnSpc>
                          <a:spcPts val="1500"/>
                        </a:lnSpc>
                        <a:spcAft>
                          <a:spcPts val="0"/>
                        </a:spcAft>
                      </a:pPr>
                      <a:r>
                        <a:rPr lang="en-US" sz="1600" kern="0">
                          <a:effectLst/>
                        </a:rPr>
                        <a:t>16</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0.0836</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0.0828</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0.0188</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effectLst/>
                        </a:rPr>
                        <a:t>0.4547</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0.5316</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r h="397572">
                <a:tc>
                  <a:txBody>
                    <a:bodyPr/>
                    <a:lstStyle/>
                    <a:p>
                      <a:pPr>
                        <a:lnSpc>
                          <a:spcPts val="1500"/>
                        </a:lnSpc>
                        <a:spcAft>
                          <a:spcPts val="0"/>
                        </a:spcAft>
                      </a:pPr>
                      <a:r>
                        <a:rPr lang="en-US" sz="1600" kern="0" dirty="0">
                          <a:effectLst/>
                        </a:rPr>
                        <a:t>Image Segmentation</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7</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0.987</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solidFill>
                            <a:srgbClr val="FF0000"/>
                          </a:solidFill>
                          <a:effectLst/>
                        </a:rPr>
                        <a:t>0.988</a:t>
                      </a:r>
                      <a:endParaRPr lang="zh-TW" sz="1400" kern="100" dirty="0">
                        <a:solidFill>
                          <a:srgbClr val="FF0000"/>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0.535</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effectLst/>
                        </a:rPr>
                        <a:t>0.985</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0.840</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r h="235598">
                <a:tc>
                  <a:txBody>
                    <a:bodyPr/>
                    <a:lstStyle/>
                    <a:p>
                      <a:endParaRPr lang="zh-TW" sz="1400" kern="100" dirty="0">
                        <a:effectLst/>
                        <a:latin typeface="Calibri" panose="020F0502020204030204" pitchFamily="34" charset="0"/>
                      </a:endParaRPr>
                    </a:p>
                  </a:txBody>
                  <a:tcPr marL="76200" marR="76200" marT="15240" marB="15240"/>
                </a:tc>
                <a:tc>
                  <a:txBody>
                    <a:bodyPr/>
                    <a:lstStyle/>
                    <a:p>
                      <a:pPr>
                        <a:lnSpc>
                          <a:spcPts val="1500"/>
                        </a:lnSpc>
                        <a:spcAft>
                          <a:spcPts val="0"/>
                        </a:spcAft>
                      </a:pPr>
                      <a:r>
                        <a:rPr lang="en-US" sz="1600" kern="0">
                          <a:effectLst/>
                        </a:rPr>
                        <a:t>9</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effectLst/>
                        </a:rPr>
                        <a:t>0.633</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0.639</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0.352</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effectLst/>
                        </a:rPr>
                        <a:t>0.938</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0.837</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r h="235598">
                <a:tc>
                  <a:txBody>
                    <a:bodyPr/>
                    <a:lstStyle/>
                    <a:p>
                      <a:endParaRPr lang="zh-TW" sz="1400" kern="100" dirty="0">
                        <a:effectLst/>
                        <a:latin typeface="Calibri" panose="020F0502020204030204" pitchFamily="34" charset="0"/>
                      </a:endParaRPr>
                    </a:p>
                  </a:txBody>
                  <a:tcPr marL="76200" marR="76200" marT="15240" marB="15240"/>
                </a:tc>
                <a:tc>
                  <a:txBody>
                    <a:bodyPr/>
                    <a:lstStyle/>
                    <a:p>
                      <a:pPr>
                        <a:lnSpc>
                          <a:spcPts val="1500"/>
                        </a:lnSpc>
                        <a:spcAft>
                          <a:spcPts val="0"/>
                        </a:spcAft>
                      </a:pPr>
                      <a:r>
                        <a:rPr lang="en-US" sz="1600" kern="0">
                          <a:effectLst/>
                        </a:rPr>
                        <a:t>11</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0.574</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0.539</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0.354</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0.969</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effectLst/>
                        </a:rPr>
                        <a:t>0.838</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r h="213511">
                <a:tc>
                  <a:txBody>
                    <a:bodyPr/>
                    <a:lstStyle/>
                    <a:p>
                      <a:pPr>
                        <a:lnSpc>
                          <a:spcPts val="1500"/>
                        </a:lnSpc>
                        <a:spcAft>
                          <a:spcPts val="0"/>
                        </a:spcAft>
                      </a:pPr>
                      <a:r>
                        <a:rPr lang="en-US" sz="1600" kern="0" dirty="0">
                          <a:effectLst/>
                        </a:rPr>
                        <a:t>Syn5K</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3</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0.488</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effectLst/>
                        </a:rPr>
                        <a:t>0.480</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0.317</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0.611</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effectLst/>
                        </a:rPr>
                        <a:t>0.482</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r h="235598">
                <a:tc>
                  <a:txBody>
                    <a:bodyPr/>
                    <a:lstStyle/>
                    <a:p>
                      <a:endParaRPr lang="zh-TW" sz="1400" kern="100" dirty="0">
                        <a:effectLst/>
                        <a:latin typeface="Calibri" panose="020F0502020204030204" pitchFamily="34" charset="0"/>
                      </a:endParaRPr>
                    </a:p>
                  </a:txBody>
                  <a:tcPr marL="76200" marR="76200" marT="15240" marB="15240"/>
                </a:tc>
                <a:tc>
                  <a:txBody>
                    <a:bodyPr/>
                    <a:lstStyle/>
                    <a:p>
                      <a:pPr>
                        <a:lnSpc>
                          <a:spcPts val="1500"/>
                        </a:lnSpc>
                        <a:spcAft>
                          <a:spcPts val="0"/>
                        </a:spcAft>
                      </a:pPr>
                      <a:r>
                        <a:rPr lang="en-US" sz="1600" kern="0">
                          <a:effectLst/>
                        </a:rPr>
                        <a:t>5</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solidFill>
                            <a:srgbClr val="FF0000"/>
                          </a:solidFill>
                          <a:effectLst/>
                        </a:rPr>
                        <a:t>1.0</a:t>
                      </a:r>
                      <a:endParaRPr lang="zh-TW" sz="1400" kern="100" dirty="0">
                        <a:solidFill>
                          <a:srgbClr val="FF0000"/>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solidFill>
                            <a:srgbClr val="FF0000"/>
                          </a:solidFill>
                          <a:effectLst/>
                        </a:rPr>
                        <a:t>1.0</a:t>
                      </a:r>
                      <a:endParaRPr lang="zh-TW" sz="1400" kern="100" dirty="0">
                        <a:solidFill>
                          <a:srgbClr val="FF0000"/>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0.426</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solidFill>
                            <a:srgbClr val="FF0000"/>
                          </a:solidFill>
                          <a:effectLst/>
                        </a:rPr>
                        <a:t>1.0</a:t>
                      </a:r>
                      <a:endParaRPr lang="zh-TW" sz="1400" kern="100" dirty="0">
                        <a:solidFill>
                          <a:srgbClr val="FF0000"/>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solidFill>
                            <a:srgbClr val="FF0000"/>
                          </a:solidFill>
                          <a:effectLst/>
                        </a:rPr>
                        <a:t>1.0</a:t>
                      </a:r>
                      <a:endParaRPr lang="zh-TW" sz="1400" kern="100" dirty="0">
                        <a:solidFill>
                          <a:srgbClr val="FF0000"/>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r h="235598">
                <a:tc>
                  <a:txBody>
                    <a:bodyPr/>
                    <a:lstStyle/>
                    <a:p>
                      <a:endParaRPr lang="zh-TW" sz="1400" kern="100" dirty="0">
                        <a:effectLst/>
                        <a:latin typeface="Calibri" panose="020F0502020204030204" pitchFamily="34" charset="0"/>
                      </a:endParaRPr>
                    </a:p>
                  </a:txBody>
                  <a:tcPr marL="76200" marR="76200" marT="15240" marB="15240"/>
                </a:tc>
                <a:tc>
                  <a:txBody>
                    <a:bodyPr/>
                    <a:lstStyle/>
                    <a:p>
                      <a:pPr>
                        <a:lnSpc>
                          <a:spcPts val="1500"/>
                        </a:lnSpc>
                        <a:spcAft>
                          <a:spcPts val="0"/>
                        </a:spcAft>
                      </a:pPr>
                      <a:r>
                        <a:rPr lang="en-US" sz="1600" kern="0" dirty="0">
                          <a:effectLst/>
                        </a:rPr>
                        <a:t>7</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0.578</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0.556</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0.607</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a:effectLst/>
                        </a:rPr>
                        <a:t>0.953</a:t>
                      </a:r>
                      <a:endParaRPr lang="zh-TW" sz="1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c>
                  <a:txBody>
                    <a:bodyPr/>
                    <a:lstStyle/>
                    <a:p>
                      <a:pPr>
                        <a:lnSpc>
                          <a:spcPts val="1500"/>
                        </a:lnSpc>
                        <a:spcAft>
                          <a:spcPts val="0"/>
                        </a:spcAft>
                      </a:pPr>
                      <a:r>
                        <a:rPr lang="en-US" sz="1600" kern="0" dirty="0">
                          <a:effectLst/>
                        </a:rPr>
                        <a:t>0.999</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76200" marR="76200" marT="15240" marB="15240"/>
                </a:tc>
              </a:tr>
            </a:tbl>
          </a:graphicData>
        </a:graphic>
      </p:graphicFrame>
    </p:spTree>
    <p:extLst>
      <p:ext uri="{BB962C8B-B14F-4D97-AF65-F5344CB8AC3E}">
        <p14:creationId xmlns:p14="http://schemas.microsoft.com/office/powerpoint/2010/main" xmlns="" val="2495679310"/>
      </p:ext>
    </p:extLst>
  </p:cSld>
  <p:clrMapOvr>
    <a:masterClrMapping/>
  </p:clrMapOvr>
  <p:transition>
    <p:cu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evaluations</a:t>
            </a:r>
            <a:endParaRPr lang="zh-TW" altLang="en-US" dirty="0"/>
          </a:p>
        </p:txBody>
      </p:sp>
      <p:sp>
        <p:nvSpPr>
          <p:cNvPr id="3" name="日期版面配置區 2"/>
          <p:cNvSpPr>
            <a:spLocks noGrp="1"/>
          </p:cNvSpPr>
          <p:nvPr>
            <p:ph type="dt" sz="half" idx="10"/>
          </p:nvPr>
        </p:nvSpPr>
        <p:spPr/>
        <p:txBody>
          <a:bodyPr/>
          <a:lstStyle/>
          <a:p>
            <a:fld id="{8F77439C-746D-409D-9384-D16BD340DA03}" type="datetime1">
              <a:rPr lang="zh-TW" altLang="en-US" smtClean="0"/>
              <a:t>2013/9/10</a:t>
            </a:fld>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pPr/>
              <a:t>24</a:t>
            </a:fld>
            <a:endParaRPr lang="zh-TW" altLang="en-US" dirty="0"/>
          </a:p>
        </p:txBody>
      </p:sp>
      <p:graphicFrame>
        <p:nvGraphicFramePr>
          <p:cNvPr id="5" name="表格 4"/>
          <p:cNvGraphicFramePr>
            <a:graphicFrameLocks noGrp="1"/>
          </p:cNvGraphicFramePr>
          <p:nvPr>
            <p:extLst>
              <p:ext uri="{D42A27DB-BD31-4B8C-83A1-F6EECF244321}">
                <p14:modId xmlns:p14="http://schemas.microsoft.com/office/powerpoint/2010/main" xmlns="" val="87436211"/>
              </p:ext>
            </p:extLst>
          </p:nvPr>
        </p:nvGraphicFramePr>
        <p:xfrm>
          <a:off x="107502" y="1219201"/>
          <a:ext cx="8410142" cy="4910136"/>
        </p:xfrm>
        <a:graphic>
          <a:graphicData uri="http://schemas.openxmlformats.org/drawingml/2006/table">
            <a:tbl>
              <a:tblPr/>
              <a:tblGrid>
                <a:gridCol w="1512170"/>
                <a:gridCol w="1149662"/>
                <a:gridCol w="1149662"/>
                <a:gridCol w="1149662"/>
                <a:gridCol w="1149662"/>
                <a:gridCol w="1149662"/>
                <a:gridCol w="1149662"/>
              </a:tblGrid>
              <a:tr h="350724">
                <a:tc>
                  <a:txBody>
                    <a:bodyPr/>
                    <a:lstStyle/>
                    <a:p>
                      <a:pPr algn="l" fontAlgn="t"/>
                      <a:r>
                        <a:rPr lang="en-US" sz="1700" b="1" dirty="0">
                          <a:effectLst/>
                        </a:rPr>
                        <a:t>INPUT</a:t>
                      </a:r>
                      <a:endParaRPr lang="en-US" sz="1700" b="0" dirty="0">
                        <a:effectLst/>
                      </a:endParaRPr>
                    </a:p>
                  </a:txBody>
                  <a:tcPr marL="87681" marR="87681" marT="43841" marB="43841">
                    <a:lnL w="9525" cap="flat" cmpd="sng" algn="ctr">
                      <a:solidFill>
                        <a:srgbClr val="F9FBFC"/>
                      </a:solidFill>
                      <a:prstDash val="solid"/>
                      <a:round/>
                      <a:headEnd type="none" w="med" len="med"/>
                      <a:tailEnd type="none" w="med" len="med"/>
                    </a:lnL>
                    <a:lnR w="9525" cap="flat" cmpd="sng" algn="ctr">
                      <a:solidFill>
                        <a:srgbClr val="F9FBFC"/>
                      </a:solidFill>
                      <a:prstDash val="solid"/>
                      <a:round/>
                      <a:headEnd type="none" w="med" len="med"/>
                      <a:tailEnd type="none" w="med" len="med"/>
                    </a:lnR>
                    <a:lnT w="9525" cap="flat" cmpd="sng" algn="ctr">
                      <a:solidFill>
                        <a:srgbClr val="F9FBFC"/>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9FBFC"/>
                    </a:solidFill>
                  </a:tcPr>
                </a:tc>
                <a:tc>
                  <a:txBody>
                    <a:bodyPr/>
                    <a:lstStyle/>
                    <a:p>
                      <a:pPr algn="l" fontAlgn="t"/>
                      <a:r>
                        <a:rPr lang="en-US" sz="1700" b="1" dirty="0">
                          <a:effectLst/>
                        </a:rPr>
                        <a:t>COMUSA</a:t>
                      </a:r>
                      <a:endParaRPr lang="en-US" sz="1700" b="0" dirty="0">
                        <a:effectLst/>
                      </a:endParaRPr>
                    </a:p>
                  </a:txBody>
                  <a:tcPr marL="87681" marR="87681" marT="43841" marB="43841">
                    <a:lnL w="9525" cap="flat" cmpd="sng" algn="ctr">
                      <a:solidFill>
                        <a:srgbClr val="F9FBFC"/>
                      </a:solidFill>
                      <a:prstDash val="solid"/>
                      <a:round/>
                      <a:headEnd type="none" w="med" len="med"/>
                      <a:tailEnd type="none" w="med" len="med"/>
                    </a:lnL>
                    <a:lnR w="9525" cap="flat" cmpd="sng" algn="ctr">
                      <a:solidFill>
                        <a:srgbClr val="F9FBFC"/>
                      </a:solidFill>
                      <a:prstDash val="solid"/>
                      <a:round/>
                      <a:headEnd type="none" w="med" len="med"/>
                      <a:tailEnd type="none" w="med" len="med"/>
                    </a:lnR>
                    <a:lnT w="9525" cap="flat" cmpd="sng" algn="ctr">
                      <a:solidFill>
                        <a:srgbClr val="F9FBFC"/>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9FBFC"/>
                    </a:solidFill>
                  </a:tcPr>
                </a:tc>
                <a:tc>
                  <a:txBody>
                    <a:bodyPr/>
                    <a:lstStyle/>
                    <a:p>
                      <a:pPr algn="l" fontAlgn="t"/>
                      <a:r>
                        <a:rPr lang="en-US" sz="1700" b="1">
                          <a:effectLst/>
                        </a:rPr>
                        <a:t>PMETIS</a:t>
                      </a:r>
                      <a:endParaRPr lang="en-US" sz="1700" b="0">
                        <a:effectLst/>
                      </a:endParaRPr>
                    </a:p>
                  </a:txBody>
                  <a:tcPr marL="87681" marR="87681" marT="43841" marB="43841">
                    <a:lnL w="9525" cap="flat" cmpd="sng" algn="ctr">
                      <a:solidFill>
                        <a:srgbClr val="F9FBFC"/>
                      </a:solidFill>
                      <a:prstDash val="solid"/>
                      <a:round/>
                      <a:headEnd type="none" w="med" len="med"/>
                      <a:tailEnd type="none" w="med" len="med"/>
                    </a:lnL>
                    <a:lnR w="9525" cap="flat" cmpd="sng" algn="ctr">
                      <a:solidFill>
                        <a:srgbClr val="F9FBFC"/>
                      </a:solidFill>
                      <a:prstDash val="solid"/>
                      <a:round/>
                      <a:headEnd type="none" w="med" len="med"/>
                      <a:tailEnd type="none" w="med" len="med"/>
                    </a:lnR>
                    <a:lnT w="9525" cap="flat" cmpd="sng" algn="ctr">
                      <a:solidFill>
                        <a:srgbClr val="F9FBFC"/>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9FBFC"/>
                    </a:solidFill>
                  </a:tcPr>
                </a:tc>
                <a:tc>
                  <a:txBody>
                    <a:bodyPr/>
                    <a:lstStyle/>
                    <a:p>
                      <a:pPr algn="l" fontAlgn="t"/>
                      <a:r>
                        <a:rPr lang="en-US" sz="1700" b="1">
                          <a:effectLst/>
                        </a:rPr>
                        <a:t>KMETIS</a:t>
                      </a:r>
                      <a:endParaRPr lang="en-US" sz="1700" b="0">
                        <a:effectLst/>
                      </a:endParaRPr>
                    </a:p>
                  </a:txBody>
                  <a:tcPr marL="87681" marR="87681" marT="43841" marB="43841">
                    <a:lnL w="9525" cap="flat" cmpd="sng" algn="ctr">
                      <a:solidFill>
                        <a:srgbClr val="F9FBFC"/>
                      </a:solidFill>
                      <a:prstDash val="solid"/>
                      <a:round/>
                      <a:headEnd type="none" w="med" len="med"/>
                      <a:tailEnd type="none" w="med" len="med"/>
                    </a:lnL>
                    <a:lnR w="9525" cap="flat" cmpd="sng" algn="ctr">
                      <a:solidFill>
                        <a:srgbClr val="F9FBFC"/>
                      </a:solidFill>
                      <a:prstDash val="solid"/>
                      <a:round/>
                      <a:headEnd type="none" w="med" len="med"/>
                      <a:tailEnd type="none" w="med" len="med"/>
                    </a:lnR>
                    <a:lnT w="9525" cap="flat" cmpd="sng" algn="ctr">
                      <a:solidFill>
                        <a:srgbClr val="F9FBFC"/>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9FBFC"/>
                    </a:solidFill>
                  </a:tcPr>
                </a:tc>
                <a:tc>
                  <a:txBody>
                    <a:bodyPr/>
                    <a:lstStyle/>
                    <a:p>
                      <a:pPr algn="l" fontAlgn="t"/>
                      <a:r>
                        <a:rPr lang="en-US" sz="1700" b="1">
                          <a:effectLst/>
                        </a:rPr>
                        <a:t>HMETIS</a:t>
                      </a:r>
                      <a:endParaRPr lang="en-US" sz="1700" b="0">
                        <a:effectLst/>
                      </a:endParaRPr>
                    </a:p>
                  </a:txBody>
                  <a:tcPr marL="87681" marR="87681" marT="43841" marB="43841">
                    <a:lnL w="9525" cap="flat" cmpd="sng" algn="ctr">
                      <a:solidFill>
                        <a:srgbClr val="F9FBFC"/>
                      </a:solidFill>
                      <a:prstDash val="solid"/>
                      <a:round/>
                      <a:headEnd type="none" w="med" len="med"/>
                      <a:tailEnd type="none" w="med" len="med"/>
                    </a:lnL>
                    <a:lnR w="9525" cap="flat" cmpd="sng" algn="ctr">
                      <a:solidFill>
                        <a:srgbClr val="F9FBFC"/>
                      </a:solidFill>
                      <a:prstDash val="solid"/>
                      <a:round/>
                      <a:headEnd type="none" w="med" len="med"/>
                      <a:tailEnd type="none" w="med" len="med"/>
                    </a:lnR>
                    <a:lnT w="9525" cap="flat" cmpd="sng" algn="ctr">
                      <a:solidFill>
                        <a:srgbClr val="F9FBFC"/>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9FBFC"/>
                    </a:solidFill>
                  </a:tcPr>
                </a:tc>
                <a:tc>
                  <a:txBody>
                    <a:bodyPr/>
                    <a:lstStyle/>
                    <a:p>
                      <a:pPr algn="l" fontAlgn="t"/>
                      <a:r>
                        <a:rPr lang="en-US" sz="1700" b="1">
                          <a:effectLst/>
                        </a:rPr>
                        <a:t>MCLA</a:t>
                      </a:r>
                      <a:endParaRPr lang="en-US" sz="1700" b="0">
                        <a:effectLst/>
                      </a:endParaRPr>
                    </a:p>
                  </a:txBody>
                  <a:tcPr marL="87681" marR="87681" marT="43841" marB="43841">
                    <a:lnL w="9525" cap="flat" cmpd="sng" algn="ctr">
                      <a:solidFill>
                        <a:srgbClr val="F9FBFC"/>
                      </a:solidFill>
                      <a:prstDash val="solid"/>
                      <a:round/>
                      <a:headEnd type="none" w="med" len="med"/>
                      <a:tailEnd type="none" w="med" len="med"/>
                    </a:lnL>
                    <a:lnR w="9525" cap="flat" cmpd="sng" algn="ctr">
                      <a:solidFill>
                        <a:srgbClr val="F9FBFC"/>
                      </a:solidFill>
                      <a:prstDash val="solid"/>
                      <a:round/>
                      <a:headEnd type="none" w="med" len="med"/>
                      <a:tailEnd type="none" w="med" len="med"/>
                    </a:lnR>
                    <a:lnT w="9525" cap="flat" cmpd="sng" algn="ctr">
                      <a:solidFill>
                        <a:srgbClr val="F9FBFC"/>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9FBFC"/>
                    </a:solidFill>
                  </a:tcPr>
                </a:tc>
                <a:tc>
                  <a:txBody>
                    <a:bodyPr/>
                    <a:lstStyle/>
                    <a:p>
                      <a:pPr algn="l" fontAlgn="t"/>
                      <a:r>
                        <a:rPr lang="en-US" sz="1700" b="1">
                          <a:effectLst/>
                        </a:rPr>
                        <a:t>EAC</a:t>
                      </a:r>
                      <a:endParaRPr lang="en-US" sz="1700" b="0">
                        <a:effectLst/>
                      </a:endParaRPr>
                    </a:p>
                  </a:txBody>
                  <a:tcPr marL="87681" marR="87681" marT="43841" marB="43841">
                    <a:lnL w="9525" cap="flat" cmpd="sng" algn="ctr">
                      <a:solidFill>
                        <a:srgbClr val="F9FBFC"/>
                      </a:solidFill>
                      <a:prstDash val="solid"/>
                      <a:round/>
                      <a:headEnd type="none" w="med" len="med"/>
                      <a:tailEnd type="none" w="med" len="med"/>
                    </a:lnL>
                    <a:lnR w="9525" cap="flat" cmpd="sng" algn="ctr">
                      <a:solidFill>
                        <a:srgbClr val="F9FBFC"/>
                      </a:solidFill>
                      <a:prstDash val="solid"/>
                      <a:round/>
                      <a:headEnd type="none" w="med" len="med"/>
                      <a:tailEnd type="none" w="med" len="med"/>
                    </a:lnR>
                    <a:lnT w="9525" cap="flat" cmpd="sng" algn="ctr">
                      <a:solidFill>
                        <a:srgbClr val="F9FBFC"/>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9FBFC"/>
                    </a:solidFill>
                  </a:tcPr>
                </a:tc>
              </a:tr>
              <a:tr h="350724">
                <a:tc>
                  <a:txBody>
                    <a:bodyPr/>
                    <a:lstStyle/>
                    <a:p>
                      <a:pPr algn="l" fontAlgn="t"/>
                      <a:r>
                        <a:rPr lang="en-US" sz="1700" b="0" dirty="0">
                          <a:effectLst/>
                        </a:rPr>
                        <a:t>2-</a:t>
                      </a:r>
                      <a:r>
                        <a:rPr lang="en-US" sz="1700" b="1" dirty="0">
                          <a:effectLst/>
                        </a:rPr>
                        <a:t>Spiral</a:t>
                      </a:r>
                      <a:endParaRPr lang="en-US" sz="1700" b="0" dirty="0">
                        <a:effectLst/>
                      </a:endParaRP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dirty="0">
                          <a:solidFill>
                            <a:srgbClr val="FF0000"/>
                          </a:solidFill>
                          <a:effectLst/>
                        </a:rPr>
                        <a:t>1.1</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4.0</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4.0</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1.0</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201.0</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148.0</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613767">
                <a:tc>
                  <a:txBody>
                    <a:bodyPr/>
                    <a:lstStyle/>
                    <a:p>
                      <a:pPr algn="l" fontAlgn="t"/>
                      <a:r>
                        <a:rPr lang="en-US" sz="1700" b="0">
                          <a:effectLst/>
                        </a:rPr>
                        <a:t>2-</a:t>
                      </a:r>
                      <a:r>
                        <a:rPr lang="en-US" sz="1700" b="1">
                          <a:effectLst/>
                        </a:rPr>
                        <a:t>Half rings</a:t>
                      </a:r>
                      <a:endParaRPr lang="en-US" sz="1700" b="0">
                        <a:effectLst/>
                      </a:endParaRP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dirty="0">
                          <a:effectLst/>
                        </a:rPr>
                        <a:t>2.3</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dirty="0">
                          <a:effectLst/>
                        </a:rPr>
                        <a:t>2.0</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2.0</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dirty="0">
                          <a:solidFill>
                            <a:srgbClr val="FF0000"/>
                          </a:solidFill>
                          <a:effectLst/>
                        </a:rPr>
                        <a:t>1.0</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196.0</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114.0</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350724">
                <a:tc>
                  <a:txBody>
                    <a:bodyPr/>
                    <a:lstStyle/>
                    <a:p>
                      <a:pPr algn="l" fontAlgn="t"/>
                      <a:r>
                        <a:rPr lang="en-US" sz="1700" b="0">
                          <a:effectLst/>
                        </a:rPr>
                        <a:t>2-</a:t>
                      </a:r>
                      <a:r>
                        <a:rPr lang="en-US" sz="1700" b="1">
                          <a:effectLst/>
                        </a:rPr>
                        <a:t>Curve</a:t>
                      </a:r>
                      <a:endParaRPr lang="en-US" sz="1700" b="0">
                        <a:effectLst/>
                      </a:endParaRP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dirty="0">
                          <a:solidFill>
                            <a:srgbClr val="FF0000"/>
                          </a:solidFill>
                          <a:effectLst/>
                        </a:rPr>
                        <a:t>1.1</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dirty="0">
                          <a:effectLst/>
                        </a:rPr>
                        <a:t>2.0</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3.0</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3.0</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203.0</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150.0</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350724">
                <a:tc>
                  <a:txBody>
                    <a:bodyPr/>
                    <a:lstStyle/>
                    <a:p>
                      <a:pPr algn="l" fontAlgn="t"/>
                      <a:r>
                        <a:rPr lang="en-US" sz="1700" b="1">
                          <a:effectLst/>
                        </a:rPr>
                        <a:t>2D2K</a:t>
                      </a:r>
                      <a:endParaRPr lang="en-US" sz="1700" b="0">
                        <a:effectLst/>
                      </a:endParaRP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25.1</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dirty="0">
                          <a:effectLst/>
                        </a:rPr>
                        <a:t>48.5</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46.0</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dirty="0">
                          <a:solidFill>
                            <a:srgbClr val="FF0000"/>
                          </a:solidFill>
                          <a:effectLst/>
                        </a:rPr>
                        <a:t>2.0</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197.5</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1203.5</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350724">
                <a:tc>
                  <a:txBody>
                    <a:bodyPr/>
                    <a:lstStyle/>
                    <a:p>
                      <a:pPr algn="l" fontAlgn="t"/>
                      <a:r>
                        <a:rPr lang="en-US" sz="1700" b="1">
                          <a:effectLst/>
                        </a:rPr>
                        <a:t>8D5K</a:t>
                      </a:r>
                      <a:endParaRPr lang="en-US" sz="1700" b="0">
                        <a:effectLst/>
                      </a:endParaRP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21.7</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dirty="0">
                          <a:effectLst/>
                        </a:rPr>
                        <a:t>43.0</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35.5</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dirty="0">
                          <a:solidFill>
                            <a:srgbClr val="FF0000"/>
                          </a:solidFill>
                          <a:effectLst/>
                        </a:rPr>
                        <a:t>2.5</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195.5</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1207</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350724">
                <a:tc>
                  <a:txBody>
                    <a:bodyPr/>
                    <a:lstStyle/>
                    <a:p>
                      <a:pPr algn="l" fontAlgn="t"/>
                      <a:r>
                        <a:rPr lang="en-US" sz="1700" b="1">
                          <a:effectLst/>
                        </a:rPr>
                        <a:t>Iris</a:t>
                      </a:r>
                      <a:endParaRPr lang="en-US" sz="1700" b="0">
                        <a:effectLst/>
                      </a:endParaRP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3.6</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3.0</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dirty="0">
                          <a:solidFill>
                            <a:srgbClr val="FF0000"/>
                          </a:solidFill>
                          <a:effectLst/>
                        </a:rPr>
                        <a:t>2.5</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dirty="0">
                          <a:solidFill>
                            <a:srgbClr val="FF0000"/>
                          </a:solidFill>
                          <a:effectLst/>
                        </a:rPr>
                        <a:t>2.5</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199.5</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117.5</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350724">
                <a:tc>
                  <a:txBody>
                    <a:bodyPr/>
                    <a:lstStyle/>
                    <a:p>
                      <a:pPr algn="l" fontAlgn="t"/>
                      <a:r>
                        <a:rPr lang="en-US" sz="1700" b="1">
                          <a:effectLst/>
                        </a:rPr>
                        <a:t>Glass</a:t>
                      </a:r>
                      <a:endParaRPr lang="en-US" sz="1700" b="0">
                        <a:effectLst/>
                      </a:endParaRP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dirty="0">
                          <a:solidFill>
                            <a:srgbClr val="FF0000"/>
                          </a:solidFill>
                          <a:effectLst/>
                        </a:rPr>
                        <a:t>1.3</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5.5</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dirty="0">
                          <a:effectLst/>
                        </a:rPr>
                        <a:t>7.3</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34.3</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198.5</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149.5</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613767">
                <a:tc>
                  <a:txBody>
                    <a:bodyPr/>
                    <a:lstStyle/>
                    <a:p>
                      <a:pPr algn="l" fontAlgn="t"/>
                      <a:r>
                        <a:rPr lang="en-US" sz="1700" b="1">
                          <a:effectLst/>
                        </a:rPr>
                        <a:t>Breast Cancer</a:t>
                      </a:r>
                      <a:endParaRPr lang="en-US" sz="1700" b="0">
                        <a:effectLst/>
                      </a:endParaRP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dirty="0">
                          <a:solidFill>
                            <a:srgbClr val="FF0000"/>
                          </a:solidFill>
                          <a:effectLst/>
                        </a:rPr>
                        <a:t>2.1</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9.5</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12</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dirty="0">
                          <a:effectLst/>
                        </a:rPr>
                        <a:t>12</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198.8</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601</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876810">
                <a:tc>
                  <a:txBody>
                    <a:bodyPr/>
                    <a:lstStyle/>
                    <a:p>
                      <a:pPr algn="l" fontAlgn="t"/>
                      <a:r>
                        <a:rPr lang="en-US" sz="1700" b="1">
                          <a:effectLst/>
                        </a:rPr>
                        <a:t>Image Segmentation</a:t>
                      </a:r>
                      <a:endParaRPr lang="en-US" sz="1700" b="0">
                        <a:effectLst/>
                      </a:endParaRP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7083.6</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251.0</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206.0</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dirty="0">
                          <a:solidFill>
                            <a:srgbClr val="FF0000"/>
                          </a:solidFill>
                          <a:effectLst/>
                        </a:rPr>
                        <a:t>2</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dirty="0">
                          <a:effectLst/>
                        </a:rPr>
                        <a:t>922.3</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dirty="0" smtClean="0">
                          <a:effectLst/>
                        </a:rPr>
                        <a:t>15466.3</a:t>
                      </a:r>
                      <a:endParaRPr lang="en-US" altLang="zh-TW" sz="1700" b="0" dirty="0">
                        <a:effectLst/>
                      </a:endParaRP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r h="350724">
                <a:tc>
                  <a:txBody>
                    <a:bodyPr/>
                    <a:lstStyle/>
                    <a:p>
                      <a:pPr algn="l" fontAlgn="t"/>
                      <a:r>
                        <a:rPr lang="en-US" sz="1700" b="1">
                          <a:effectLst/>
                        </a:rPr>
                        <a:t>Syn5K</a:t>
                      </a:r>
                      <a:endParaRPr lang="en-US" sz="1700" b="0">
                        <a:effectLst/>
                      </a:endParaRP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dirty="0" smtClean="0">
                          <a:effectLst/>
                        </a:rPr>
                        <a:t>71769.0</a:t>
                      </a:r>
                      <a:endParaRPr lang="en-US" altLang="zh-TW" sz="1700" b="0" dirty="0">
                        <a:effectLst/>
                      </a:endParaRP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1371.0</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1159.0</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dirty="0">
                          <a:solidFill>
                            <a:srgbClr val="FF0000"/>
                          </a:solidFill>
                          <a:effectLst/>
                        </a:rPr>
                        <a:t>6</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a:effectLst/>
                        </a:rPr>
                        <a:t>372.3</a:t>
                      </a: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c>
                  <a:txBody>
                    <a:bodyPr/>
                    <a:lstStyle/>
                    <a:p>
                      <a:pPr algn="l" fontAlgn="t"/>
                      <a:r>
                        <a:rPr lang="en-US" altLang="zh-TW" sz="1700" b="0" dirty="0" smtClean="0">
                          <a:effectLst/>
                        </a:rPr>
                        <a:t>30774.6</a:t>
                      </a:r>
                      <a:endParaRPr lang="en-US" altLang="zh-TW" sz="1700" b="0" dirty="0">
                        <a:effectLst/>
                      </a:endParaRPr>
                    </a:p>
                  </a:txBody>
                  <a:tcPr marL="87681" marR="87681" marT="43841" marB="43841">
                    <a:lnL w="9525" cap="flat" cmpd="sng" algn="ctr">
                      <a:solidFill>
                        <a:srgbClr val="ECF2F6"/>
                      </a:solidFill>
                      <a:prstDash val="solid"/>
                      <a:round/>
                      <a:headEnd type="none" w="med" len="med"/>
                      <a:tailEnd type="none" w="med" len="med"/>
                    </a:lnL>
                    <a:lnR w="9525" cap="flat" cmpd="sng" algn="ctr">
                      <a:solidFill>
                        <a:srgbClr val="ECF2F6"/>
                      </a:solidFill>
                      <a:prstDash val="solid"/>
                      <a:round/>
                      <a:headEnd type="none" w="med" len="med"/>
                      <a:tailEnd type="none" w="med" len="med"/>
                    </a:lnR>
                    <a:lnT w="9525" cap="flat" cmpd="sng" algn="ctr">
                      <a:solidFill>
                        <a:srgbClr val="ECF2F6"/>
                      </a:solidFill>
                      <a:prstDash val="solid"/>
                      <a:round/>
                      <a:headEnd type="none" w="med" len="med"/>
                      <a:tailEnd type="none" w="med" len="med"/>
                    </a:lnT>
                    <a:lnB w="9525" cap="flat" cmpd="sng" algn="ctr">
                      <a:solidFill>
                        <a:srgbClr val="ECF2F6"/>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xmlns="" val="2331073331"/>
      </p:ext>
    </p:extLst>
  </p:cSld>
  <p:clrMapOvr>
    <a:masterClrMapping/>
  </p:clrMapOvr>
  <p:transition>
    <p:cut/>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微軟正黑體" pitchFamily="34" charset="-120"/>
                <a:ea typeface="微軟正黑體" pitchFamily="34" charset="-120"/>
              </a:rPr>
              <a:t>Conclusions</a:t>
            </a:r>
            <a:endParaRPr lang="zh-TW" altLang="en-US" dirty="0">
              <a:latin typeface="微軟正黑體" pitchFamily="34" charset="-120"/>
              <a:ea typeface="微軟正黑體" pitchFamily="34" charset="-120"/>
            </a:endParaRPr>
          </a:p>
        </p:txBody>
      </p:sp>
      <p:sp>
        <p:nvSpPr>
          <p:cNvPr id="5" name="日期版面配置區 4"/>
          <p:cNvSpPr>
            <a:spLocks noGrp="1"/>
          </p:cNvSpPr>
          <p:nvPr>
            <p:ph type="dt" sz="half" idx="10"/>
          </p:nvPr>
        </p:nvSpPr>
        <p:spPr/>
        <p:txBody>
          <a:bodyPr/>
          <a:lstStyle/>
          <a:p>
            <a:fld id="{694E6488-F746-43D9-867C-147B58F01739}" type="datetime1">
              <a:rPr lang="zh-TW" altLang="en-US" smtClean="0"/>
              <a:t>2013/9/10</a:t>
            </a:fld>
            <a:endParaRPr lang="zh-TW" altLang="en-US"/>
          </a:p>
        </p:txBody>
      </p:sp>
      <p:sp>
        <p:nvSpPr>
          <p:cNvPr id="3" name="投影片編號版面配置區 2"/>
          <p:cNvSpPr>
            <a:spLocks noGrp="1"/>
          </p:cNvSpPr>
          <p:nvPr>
            <p:ph type="sldNum" sz="quarter" idx="12"/>
          </p:nvPr>
        </p:nvSpPr>
        <p:spPr/>
        <p:txBody>
          <a:bodyPr/>
          <a:lstStyle/>
          <a:p>
            <a:fld id="{61A04B93-F247-42E5-95CE-B8478AD23DB7}" type="slidenum">
              <a:rPr lang="zh-TW" altLang="en-US" smtClean="0"/>
              <a:pPr/>
              <a:t>25</a:t>
            </a:fld>
            <a:endParaRPr lang="zh-TW" altLang="en-US"/>
          </a:p>
        </p:txBody>
      </p:sp>
      <p:sp>
        <p:nvSpPr>
          <p:cNvPr id="7" name="內容版面配置區 6"/>
          <p:cNvSpPr>
            <a:spLocks noGrp="1"/>
          </p:cNvSpPr>
          <p:nvPr>
            <p:ph sz="quarter" idx="1"/>
          </p:nvPr>
        </p:nvSpPr>
        <p:spPr/>
        <p:txBody>
          <a:bodyPr/>
          <a:lstStyle/>
          <a:p>
            <a:r>
              <a:rPr lang="en-US" altLang="zh-TW" dirty="0"/>
              <a:t>Extensive experimental evaluations on many real and artificial </a:t>
            </a:r>
            <a:r>
              <a:rPr lang="en-US" altLang="zh-TW" dirty="0" smtClean="0"/>
              <a:t>data </a:t>
            </a:r>
            <a:r>
              <a:rPr lang="en-US" altLang="zh-TW" dirty="0"/>
              <a:t>sets demonstrate that COMUSA: </a:t>
            </a:r>
            <a:endParaRPr lang="en-US" altLang="zh-TW" dirty="0" smtClean="0"/>
          </a:p>
          <a:p>
            <a:pPr marL="731520" lvl="1" indent="-457200">
              <a:buFont typeface="+mj-lt"/>
              <a:buAutoNum type="arabicPeriod"/>
            </a:pPr>
            <a:r>
              <a:rPr lang="en-US" altLang="zh-TW" dirty="0" smtClean="0"/>
              <a:t>finds </a:t>
            </a:r>
            <a:r>
              <a:rPr lang="en-US" altLang="zh-TW" dirty="0"/>
              <a:t>arbitrary shape </a:t>
            </a:r>
            <a:r>
              <a:rPr lang="en-US" altLang="zh-TW" dirty="0" smtClean="0"/>
              <a:t>clusters</a:t>
            </a:r>
          </a:p>
          <a:p>
            <a:pPr marL="731520" lvl="1" indent="-457200">
              <a:buFont typeface="+mj-lt"/>
              <a:buAutoNum type="arabicPeriod"/>
            </a:pPr>
            <a:r>
              <a:rPr lang="en-US" altLang="zh-TW" dirty="0" smtClean="0"/>
              <a:t>is </a:t>
            </a:r>
            <a:r>
              <a:rPr lang="en-US" altLang="zh-TW" dirty="0"/>
              <a:t>not affected by the cluster </a:t>
            </a:r>
            <a:r>
              <a:rPr lang="en-US" altLang="zh-TW" dirty="0" smtClean="0"/>
              <a:t>size</a:t>
            </a:r>
          </a:p>
          <a:p>
            <a:pPr marL="731520" lvl="1" indent="-457200">
              <a:buFont typeface="+mj-lt"/>
              <a:buAutoNum type="arabicPeriod"/>
            </a:pPr>
            <a:r>
              <a:rPr lang="en-US" altLang="zh-TW" dirty="0" smtClean="0"/>
              <a:t>is </a:t>
            </a:r>
            <a:r>
              <a:rPr lang="en-US" altLang="zh-TW" dirty="0"/>
              <a:t>not affected by noise and </a:t>
            </a:r>
            <a:r>
              <a:rPr lang="en-US" altLang="zh-TW" dirty="0" smtClean="0"/>
              <a:t>outliers</a:t>
            </a:r>
          </a:p>
          <a:p>
            <a:pPr marL="731520" lvl="1" indent="-457200">
              <a:buFont typeface="+mj-lt"/>
              <a:buAutoNum type="arabicPeriod"/>
            </a:pPr>
            <a:r>
              <a:rPr lang="en-US" altLang="zh-TW" dirty="0" smtClean="0"/>
              <a:t>is </a:t>
            </a:r>
            <a:r>
              <a:rPr lang="en-US" altLang="zh-TW" dirty="0"/>
              <a:t>not affected by the sparseness of the data </a:t>
            </a:r>
            <a:r>
              <a:rPr lang="en-US" altLang="zh-TW" dirty="0" smtClean="0"/>
              <a:t>set</a:t>
            </a:r>
          </a:p>
          <a:p>
            <a:pPr marL="731520" lvl="1" indent="-457200">
              <a:buFont typeface="+mj-lt"/>
              <a:buAutoNum type="arabicPeriod"/>
            </a:pPr>
            <a:r>
              <a:rPr lang="en-US" altLang="zh-TW" dirty="0" smtClean="0"/>
              <a:t>is </a:t>
            </a:r>
            <a:r>
              <a:rPr lang="en-US" altLang="zh-TW" dirty="0"/>
              <a:t>order </a:t>
            </a:r>
            <a:r>
              <a:rPr lang="en-US" altLang="zh-TW" dirty="0" smtClean="0"/>
              <a:t>independent</a:t>
            </a:r>
          </a:p>
          <a:p>
            <a:pPr marL="731520" lvl="1" indent="-457200">
              <a:buFont typeface="+mj-lt"/>
              <a:buAutoNum type="arabicPeriod"/>
            </a:pPr>
            <a:r>
              <a:rPr lang="en-US" altLang="zh-TW" dirty="0" smtClean="0"/>
              <a:t>is deterministic</a:t>
            </a:r>
          </a:p>
          <a:p>
            <a:pPr marL="731520" lvl="1" indent="-457200">
              <a:buFont typeface="+mj-lt"/>
              <a:buAutoNum type="arabicPeriod"/>
            </a:pPr>
            <a:r>
              <a:rPr lang="en-US" altLang="zh-TW" dirty="0" smtClean="0"/>
              <a:t>scales </a:t>
            </a:r>
            <a:r>
              <a:rPr lang="en-US" altLang="zh-TW" dirty="0"/>
              <a:t>well </a:t>
            </a:r>
            <a:endParaRPr lang="zh-TW" altLang="en-US" dirty="0"/>
          </a:p>
        </p:txBody>
      </p:sp>
    </p:spTree>
    <p:extLst>
      <p:ext uri="{BB962C8B-B14F-4D97-AF65-F5344CB8AC3E}">
        <p14:creationId xmlns:p14="http://schemas.microsoft.com/office/powerpoint/2010/main" xmlns="" val="2266314224"/>
      </p:ext>
    </p:extLst>
  </p:cSld>
  <p:clrMapOvr>
    <a:masterClrMapping/>
  </p:clrMapOvr>
  <p:transition>
    <p:cut/>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原創">
  <a:themeElements>
    <a:clrScheme name="自訂 3">
      <a:dk1>
        <a:sysClr val="windowText" lastClr="000000"/>
      </a:dk1>
      <a:lt1>
        <a:sysClr val="window" lastClr="FFFFFF"/>
      </a:lt1>
      <a:dk2>
        <a:srgbClr val="000000"/>
      </a:dk2>
      <a:lt2>
        <a:srgbClr val="EEECE1"/>
      </a:lt2>
      <a:accent1>
        <a:srgbClr val="4F81BD"/>
      </a:accent1>
      <a:accent2>
        <a:srgbClr val="C0504D"/>
      </a:accent2>
      <a:accent3>
        <a:srgbClr val="9BBB59"/>
      </a:accent3>
      <a:accent4>
        <a:srgbClr val="8064A2"/>
      </a:accent4>
      <a:accent5>
        <a:srgbClr val="4BACC6"/>
      </a:accent5>
      <a:accent6>
        <a:srgbClr val="F79646"/>
      </a:accent6>
      <a:hlink>
        <a:srgbClr val="FF0000"/>
      </a:hlink>
      <a:folHlink>
        <a:srgbClr val="0000FF"/>
      </a:folHlink>
    </a:clrScheme>
    <a:fontScheme name="自訂 2">
      <a:majorFont>
        <a:latin typeface="Calibri"/>
        <a:ea typeface="Calibri"/>
        <a:cs typeface=""/>
      </a:majorFont>
      <a:minorFont>
        <a:latin typeface="Calibri"/>
        <a:ea typeface="Calibri"/>
        <a:cs typeface=""/>
      </a:minorFont>
    </a:fontScheme>
    <a:fmtScheme name="原創">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7305</TotalTime>
  <Words>805</Words>
  <Application>Microsoft Office PowerPoint</Application>
  <PresentationFormat>如螢幕大小 (4:3)</PresentationFormat>
  <Paragraphs>462</Paragraphs>
  <Slides>25</Slides>
  <Notes>1</Notes>
  <HiddenSlides>0</HiddenSlides>
  <MMClips>0</MMClips>
  <ScaleCrop>false</ScaleCrop>
  <HeadingPairs>
    <vt:vector size="4" baseType="variant">
      <vt:variant>
        <vt:lpstr>佈景主題</vt:lpstr>
      </vt:variant>
      <vt:variant>
        <vt:i4>1</vt:i4>
      </vt:variant>
      <vt:variant>
        <vt:lpstr>投影片標題</vt:lpstr>
      </vt:variant>
      <vt:variant>
        <vt:i4>25</vt:i4>
      </vt:variant>
    </vt:vector>
  </HeadingPairs>
  <TitlesOfParts>
    <vt:vector size="26" baseType="lpstr">
      <vt:lpstr>原創</vt:lpstr>
      <vt:lpstr>Combining multiple clusterings using similarity graph  Pattern Recognition  vol. 44 pp.694–703 (2011) </vt:lpstr>
      <vt:lpstr>Abstract</vt:lpstr>
      <vt:lpstr>Abstract</vt:lpstr>
      <vt:lpstr>Combining multiple clusterings </vt:lpstr>
      <vt:lpstr>Example</vt:lpstr>
      <vt:lpstr>Example</vt:lpstr>
      <vt:lpstr>Combining Multiple Clusterings   via Similarity Graph (COMUSA) </vt:lpstr>
      <vt:lpstr>Combining Multiple Clusterings   via Similarity Graph (COMUSA) </vt:lpstr>
      <vt:lpstr>投影片 9</vt:lpstr>
      <vt:lpstr>Combining Multiple Clusterings   via Similarity Graph (COMUSA) </vt:lpstr>
      <vt:lpstr>Combining Multiple Clusterings   via Similarity Graph (COMUSA) </vt:lpstr>
      <vt:lpstr>Combining Multiple Clusterings   via Similarity Graph (COMUSA) </vt:lpstr>
      <vt:lpstr>Combining Multiple Clusterings   via Similarity Graph (COMUSA) </vt:lpstr>
      <vt:lpstr>Relaxation</vt:lpstr>
      <vt:lpstr>Example - 1</vt:lpstr>
      <vt:lpstr>Example - 2</vt:lpstr>
      <vt:lpstr>Experimental evaluations</vt:lpstr>
      <vt:lpstr>Experimental evaluations</vt:lpstr>
      <vt:lpstr>Experimental evaluations</vt:lpstr>
      <vt:lpstr>Experimental evaluations</vt:lpstr>
      <vt:lpstr>投影片 21</vt:lpstr>
      <vt:lpstr>Experimental evaluations</vt:lpstr>
      <vt:lpstr>Experimental evaluations</vt:lpstr>
      <vt:lpstr>Experimental evaluations</vt:lpstr>
      <vt:lpstr>Conclusions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Quadratic-time algorithm for a string constrained LCS problem</dc:title>
  <dc:creator>Robert</dc:creator>
  <cp:lastModifiedBy>admin</cp:lastModifiedBy>
  <cp:revision>306</cp:revision>
  <cp:lastPrinted>2012-09-10T21:31:19Z</cp:lastPrinted>
  <dcterms:created xsi:type="dcterms:W3CDTF">2012-09-10T08:29:10Z</dcterms:created>
  <dcterms:modified xsi:type="dcterms:W3CDTF">2013-09-10T12:50:37Z</dcterms:modified>
</cp:coreProperties>
</file>