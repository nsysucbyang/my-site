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60" r:id="rId5"/>
    <p:sldId id="261" r:id="rId6"/>
    <p:sldId id="262" r:id="rId7"/>
    <p:sldId id="263" r:id="rId8"/>
    <p:sldId id="264" r:id="rId9"/>
    <p:sldId id="265" r:id="rId10"/>
    <p:sldId id="266" r:id="rId11"/>
    <p:sldId id="268" r:id="rId12"/>
    <p:sldId id="273" r:id="rId13"/>
    <p:sldId id="267" r:id="rId14"/>
    <p:sldId id="269" r:id="rId15"/>
    <p:sldId id="270" r:id="rId16"/>
    <p:sldId id="271" r:id="rId17"/>
    <p:sldId id="272"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F898D3-2B0F-4E4C-9EA4-3F88BDD1CF0C}" type="datetimeFigureOut">
              <a:rPr lang="zh-TW" altLang="en-US" smtClean="0"/>
              <a:t>2013/3/5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311185-246C-4270-8BA0-DA4E8F097F92}" type="slidenum">
              <a:rPr lang="zh-TW" altLang="en-US" smtClean="0"/>
              <a:t>‹#›</a:t>
            </a:fld>
            <a:endParaRPr lang="zh-TW" altLang="en-US"/>
          </a:p>
        </p:txBody>
      </p:sp>
    </p:spTree>
    <p:extLst>
      <p:ext uri="{BB962C8B-B14F-4D97-AF65-F5344CB8AC3E}">
        <p14:creationId xmlns:p14="http://schemas.microsoft.com/office/powerpoint/2010/main" val="209836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B9FCCD2-7500-42A7-9BAC-B1E5898D2FC0}" type="slidenum">
              <a:rPr lang="zh-TW" altLang="en-US" smtClean="0"/>
              <a:t>3</a:t>
            </a:fld>
            <a:endParaRPr lang="zh-TW" altLang="en-US"/>
          </a:p>
        </p:txBody>
      </p:sp>
    </p:spTree>
    <p:extLst>
      <p:ext uri="{BB962C8B-B14F-4D97-AF65-F5344CB8AC3E}">
        <p14:creationId xmlns:p14="http://schemas.microsoft.com/office/powerpoint/2010/main" val="201019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3286323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704989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2769658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3270738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143619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358281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1877293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232305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3678576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4179632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E749B48-17FD-4F7F-95FC-BBCE39B5D215}" type="datetimeFigureOut">
              <a:rPr lang="zh-TW" altLang="en-US" smtClean="0"/>
              <a:t>2013/3/5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2384297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749B48-17FD-4F7F-95FC-BBCE39B5D215}" type="datetimeFigureOut">
              <a:rPr lang="zh-TW" altLang="en-US" smtClean="0"/>
              <a:t>2013/3/5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9F6682-BDD6-4351-A7BB-25A6B348CBDD}" type="slidenum">
              <a:rPr lang="zh-TW" altLang="en-US" smtClean="0"/>
              <a:t>‹#›</a:t>
            </a:fld>
            <a:endParaRPr lang="zh-TW" altLang="en-US"/>
          </a:p>
        </p:txBody>
      </p:sp>
    </p:spTree>
    <p:extLst>
      <p:ext uri="{BB962C8B-B14F-4D97-AF65-F5344CB8AC3E}">
        <p14:creationId xmlns:p14="http://schemas.microsoft.com/office/powerpoint/2010/main" val="3355923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268760"/>
            <a:ext cx="7772400" cy="1470025"/>
          </a:xfrm>
        </p:spPr>
        <p:txBody>
          <a:bodyPr>
            <a:normAutofit fontScale="90000"/>
          </a:bodyPr>
          <a:lstStyle/>
          <a:p>
            <a:r>
              <a:rPr lang="en-US" altLang="zh-TW" dirty="0" smtClean="0"/>
              <a:t>A Novel Instantaneous Frequency Algorithm and Its Application in Stock Index Movement Prediction</a:t>
            </a:r>
            <a:endParaRPr lang="zh-TW" altLang="en-US" dirty="0"/>
          </a:p>
        </p:txBody>
      </p:sp>
      <p:sp>
        <p:nvSpPr>
          <p:cNvPr id="3" name="副標題 2"/>
          <p:cNvSpPr>
            <a:spLocks noGrp="1"/>
          </p:cNvSpPr>
          <p:nvPr>
            <p:ph type="subTitle" idx="1"/>
          </p:nvPr>
        </p:nvSpPr>
        <p:spPr>
          <a:xfrm>
            <a:off x="1331640" y="3212976"/>
            <a:ext cx="6400800" cy="1752600"/>
          </a:xfrm>
        </p:spPr>
        <p:txBody>
          <a:bodyPr>
            <a:normAutofit/>
          </a:bodyPr>
          <a:lstStyle/>
          <a:p>
            <a:r>
              <a:rPr lang="en-US" altLang="zh-TW" sz="2000" dirty="0" smtClean="0"/>
              <a:t>IEEE JOURNAL OF SELECTED TOPICS IN SIGNAL PROCESSING, VOL. 6, NO. 4, AUGUST 2012</a:t>
            </a:r>
          </a:p>
          <a:p>
            <a:r>
              <a:rPr lang="en-US" altLang="zh-TW" sz="2000" dirty="0" smtClean="0"/>
              <a:t>Liming Zhang, Na Liu, </a:t>
            </a:r>
            <a:r>
              <a:rPr lang="en-US" altLang="zh-TW" sz="2000" dirty="0" err="1" smtClean="0"/>
              <a:t>Pengyi</a:t>
            </a:r>
            <a:r>
              <a:rPr lang="en-US" altLang="zh-TW" sz="2000" dirty="0" smtClean="0"/>
              <a:t> Yu</a:t>
            </a:r>
            <a:endParaRPr lang="zh-TW" altLang="en-US" sz="2000" dirty="0"/>
          </a:p>
        </p:txBody>
      </p:sp>
      <p:sp>
        <p:nvSpPr>
          <p:cNvPr id="4" name="文字方塊 3"/>
          <p:cNvSpPr txBox="1"/>
          <p:nvPr/>
        </p:nvSpPr>
        <p:spPr>
          <a:xfrm>
            <a:off x="5796136" y="5085184"/>
            <a:ext cx="2664296" cy="646331"/>
          </a:xfrm>
          <a:prstGeom prst="rect">
            <a:avLst/>
          </a:prstGeom>
          <a:noFill/>
        </p:spPr>
        <p:txBody>
          <a:bodyPr wrap="square" rtlCol="0">
            <a:spAutoFit/>
          </a:bodyPr>
          <a:lstStyle/>
          <a:p>
            <a:r>
              <a:rPr lang="en-US" altLang="zh-TW" dirty="0" smtClean="0"/>
              <a:t>Presenter</a:t>
            </a:r>
            <a:r>
              <a:rPr lang="en-US" altLang="zh-TW" smtClean="0"/>
              <a:t>: Cheng-Han Lee</a:t>
            </a:r>
            <a:br>
              <a:rPr lang="en-US" altLang="zh-TW" smtClean="0"/>
            </a:br>
            <a:r>
              <a:rPr lang="en-US" altLang="zh-TW" smtClean="0"/>
              <a:t>Date:2013/3/5</a:t>
            </a:r>
            <a:endParaRPr lang="zh-TW" altLang="en-US"/>
          </a:p>
        </p:txBody>
      </p:sp>
    </p:spTree>
    <p:extLst>
      <p:ext uri="{BB962C8B-B14F-4D97-AF65-F5344CB8AC3E}">
        <p14:creationId xmlns:p14="http://schemas.microsoft.com/office/powerpoint/2010/main" val="3816084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77500" lnSpcReduction="20000"/>
          </a:bodyPr>
          <a:lstStyle/>
          <a:p>
            <a:pPr marL="0" indent="0" algn="just">
              <a:buNone/>
            </a:pPr>
            <a:r>
              <a:rPr lang="en-US" altLang="zh-TW" dirty="0" smtClean="0"/>
              <a:t>There are different approaches in deﬁning instantaneous frequency in the literature; however, with a great variety of practical problems a speciﬁc approach is not always applicable. This paper proposes a new type instantaneous frequency suitable for a large class of signals called simple wave. The new instantaneous frequency is called alpha-counting instantaneous frequency (IF) that should have independent interest. A stock index movement prediction approach is proposed in this paper based on the newly deﬁned instantaneous frequency and signal decomposition. An experiment is provided based on the stock market data of Hong Kong Hang </a:t>
            </a:r>
            <a:r>
              <a:rPr lang="en-US" altLang="zh-TW" dirty="0" err="1" smtClean="0"/>
              <a:t>Seng</a:t>
            </a:r>
            <a:r>
              <a:rPr lang="en-US" altLang="zh-TW" dirty="0" smtClean="0"/>
              <a:t> Index. Effectiveness of the proposed approach is assessed through the comparison with BP neural network prediction method, and is proved to be promising.</a:t>
            </a:r>
            <a:endParaRPr lang="zh-TW" altLang="en-US" dirty="0"/>
          </a:p>
        </p:txBody>
      </p:sp>
    </p:spTree>
    <p:extLst>
      <p:ext uri="{BB962C8B-B14F-4D97-AF65-F5344CB8AC3E}">
        <p14:creationId xmlns:p14="http://schemas.microsoft.com/office/powerpoint/2010/main" val="2717904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 </a:t>
            </a:r>
            <a:r>
              <a:rPr lang="en-US" altLang="zh-TW" sz="3600" b="1" dirty="0" smtClean="0"/>
              <a:t>(2)</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a:t>
            </a:fld>
            <a:endParaRPr lang="zh-TW" altLang="en-US"/>
          </a:p>
        </p:txBody>
      </p:sp>
      <p:pic>
        <p:nvPicPr>
          <p:cNvPr id="133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1628800"/>
            <a:ext cx="6361734" cy="201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683568" y="1212114"/>
            <a:ext cx="6408712" cy="400110"/>
          </a:xfrm>
          <a:prstGeom prst="rect">
            <a:avLst/>
          </a:prstGeom>
          <a:noFill/>
        </p:spPr>
        <p:txBody>
          <a:bodyPr wrap="square" rtlCol="0">
            <a:spAutoFit/>
          </a:bodyPr>
          <a:lstStyle/>
          <a:p>
            <a:r>
              <a:rPr lang="en-US" altLang="zh-TW" sz="2000" dirty="0" smtClean="0">
                <a:solidFill>
                  <a:srgbClr val="C00000"/>
                </a:solidFill>
                <a:latin typeface="微軟正黑體" pitchFamily="34" charset="-120"/>
                <a:ea typeface="微軟正黑體" pitchFamily="34" charset="-120"/>
              </a:rPr>
              <a:t>IMF</a:t>
            </a:r>
            <a:r>
              <a:rPr lang="en-US" altLang="zh-TW" sz="2000" baseline="-25000" dirty="0" smtClean="0">
                <a:solidFill>
                  <a:srgbClr val="C00000"/>
                </a:solidFill>
                <a:latin typeface="微軟正黑體" pitchFamily="34" charset="-120"/>
                <a:ea typeface="微軟正黑體" pitchFamily="34" charset="-120"/>
              </a:rPr>
              <a:t>1</a:t>
            </a:r>
            <a:r>
              <a:rPr lang="en-US" altLang="zh-TW" sz="2000" dirty="0" smtClean="0">
                <a:solidFill>
                  <a:srgbClr val="C00000"/>
                </a:solidFill>
                <a:latin typeface="微軟正黑體" pitchFamily="34" charset="-120"/>
                <a:ea typeface="微軟正黑體" pitchFamily="34" charset="-120"/>
              </a:rPr>
              <a:t> iteration 0, step1:  </a:t>
            </a:r>
            <a:r>
              <a:rPr lang="en-US" altLang="zh-TW" sz="2000" dirty="0" err="1" smtClean="0">
                <a:solidFill>
                  <a:srgbClr val="C00000"/>
                </a:solidFill>
                <a:latin typeface="微軟正黑體" pitchFamily="34" charset="-120"/>
                <a:ea typeface="微軟正黑體" pitchFamily="34" charset="-120"/>
              </a:rPr>
              <a:t>找出</a:t>
            </a:r>
            <a:r>
              <a:rPr lang="en-US" altLang="zh-TW" sz="2000" dirty="0" smtClean="0">
                <a:solidFill>
                  <a:srgbClr val="C00000"/>
                </a:solidFill>
                <a:latin typeface="微軟正黑體" pitchFamily="34" charset="-120"/>
                <a:ea typeface="微軟正黑體" pitchFamily="34" charset="-120"/>
              </a:rPr>
              <a:t> local maximum</a:t>
            </a:r>
            <a:endParaRPr lang="zh-TW" altLang="en-US" sz="2000" dirty="0">
              <a:solidFill>
                <a:srgbClr val="C00000"/>
              </a:solidFill>
              <a:latin typeface="微軟正黑體" pitchFamily="34" charset="-120"/>
              <a:ea typeface="微軟正黑體" pitchFamily="34" charset="-120"/>
            </a:endParaRPr>
          </a:p>
        </p:txBody>
      </p:sp>
      <p:pic>
        <p:nvPicPr>
          <p:cNvPr id="13315"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3676"/>
          <a:stretch/>
        </p:blipFill>
        <p:spPr bwMode="auto">
          <a:xfrm>
            <a:off x="971600" y="4544904"/>
            <a:ext cx="7199808" cy="219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20587" y="3933056"/>
            <a:ext cx="7923451" cy="369332"/>
          </a:xfrm>
          <a:prstGeom prst="rect">
            <a:avLst/>
          </a:prstGeom>
        </p:spPr>
        <p:txBody>
          <a:bodyPr wrap="non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0, step2:  </a:t>
            </a:r>
            <a:r>
              <a:rPr lang="en-US" altLang="zh-TW" dirty="0" err="1">
                <a:solidFill>
                  <a:srgbClr val="C00000"/>
                </a:solidFill>
                <a:latin typeface="微軟正黑體" pitchFamily="34" charset="-120"/>
                <a:ea typeface="微軟正黑體" pitchFamily="34" charset="-120"/>
              </a:rPr>
              <a:t>找出</a:t>
            </a:r>
            <a:r>
              <a:rPr lang="en-US" altLang="zh-TW" dirty="0">
                <a:solidFill>
                  <a:srgbClr val="C00000"/>
                </a:solidFill>
                <a:latin typeface="微軟正黑體" pitchFamily="34" charset="-120"/>
                <a:ea typeface="微軟正黑體" pitchFamily="34" charset="-120"/>
              </a:rPr>
              <a:t> local </a:t>
            </a:r>
            <a:r>
              <a:rPr lang="en-US" altLang="zh-TW" dirty="0" err="1" smtClean="0">
                <a:solidFill>
                  <a:srgbClr val="C00000"/>
                </a:solidFill>
                <a:latin typeface="微軟正黑體" pitchFamily="34" charset="-120"/>
                <a:ea typeface="微軟正黑體" pitchFamily="34" charset="-120"/>
              </a:rPr>
              <a:t>maximum的</a:t>
            </a:r>
            <a:r>
              <a:rPr lang="en-US" altLang="zh-TW" dirty="0" smtClean="0">
                <a:solidFill>
                  <a:srgbClr val="C00000"/>
                </a:solidFill>
                <a:latin typeface="微軟正黑體" pitchFamily="34" charset="-120"/>
                <a:ea typeface="微軟正黑體" pitchFamily="34" charset="-120"/>
              </a:rPr>
              <a:t> envelope (cubic function)</a:t>
            </a:r>
            <a:endParaRPr lang="zh-TW" altLang="en-US"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42148926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 </a:t>
            </a:r>
            <a:r>
              <a:rPr lang="en-US" altLang="zh-TW" sz="3600" b="1" dirty="0" smtClean="0"/>
              <a:t>(3)</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a:t>
            </a:fld>
            <a:endParaRPr lang="zh-TW" altLang="en-US"/>
          </a:p>
        </p:txBody>
      </p:sp>
      <p:pic>
        <p:nvPicPr>
          <p:cNvPr id="143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288"/>
          <a:stretch/>
        </p:blipFill>
        <p:spPr bwMode="auto">
          <a:xfrm>
            <a:off x="683568" y="1846053"/>
            <a:ext cx="7102376" cy="2154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729160" y="1235529"/>
            <a:ext cx="8136904" cy="369332"/>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0, step3, 4:  </a:t>
            </a:r>
            <a:r>
              <a:rPr lang="en-US" altLang="zh-TW" dirty="0" err="1" smtClean="0">
                <a:solidFill>
                  <a:srgbClr val="C00000"/>
                </a:solidFill>
                <a:latin typeface="微軟正黑體" pitchFamily="34" charset="-120"/>
                <a:ea typeface="微軟正黑體" pitchFamily="34" charset="-120"/>
              </a:rPr>
              <a:t>找出</a:t>
            </a:r>
            <a:r>
              <a:rPr lang="en-US" altLang="zh-TW" dirty="0" smtClean="0">
                <a:solidFill>
                  <a:srgbClr val="C00000"/>
                </a:solidFill>
                <a:latin typeface="微軟正黑體" pitchFamily="34" charset="-120"/>
                <a:ea typeface="微軟正黑體" pitchFamily="34" charset="-120"/>
              </a:rPr>
              <a:t> local </a:t>
            </a:r>
            <a:r>
              <a:rPr lang="en-US" altLang="zh-TW" dirty="0" err="1" smtClean="0">
                <a:solidFill>
                  <a:srgbClr val="C00000"/>
                </a:solidFill>
                <a:latin typeface="微軟正黑體" pitchFamily="34" charset="-120"/>
                <a:ea typeface="微軟正黑體" pitchFamily="34" charset="-120"/>
              </a:rPr>
              <a:t>miniimum的</a:t>
            </a:r>
            <a:r>
              <a:rPr lang="en-US" altLang="zh-TW" dirty="0" smtClean="0">
                <a:solidFill>
                  <a:srgbClr val="C00000"/>
                </a:solidFill>
                <a:latin typeface="微軟正黑體" pitchFamily="34" charset="-120"/>
                <a:ea typeface="微軟正黑體" pitchFamily="34" charset="-120"/>
              </a:rPr>
              <a:t> envelope (cubic function)</a:t>
            </a:r>
            <a:endParaRPr lang="zh-TW" altLang="en-US" dirty="0">
              <a:solidFill>
                <a:srgbClr val="C00000"/>
              </a:solidFill>
              <a:latin typeface="微軟正黑體" pitchFamily="34" charset="-120"/>
              <a:ea typeface="微軟正黑體" pitchFamily="34" charset="-120"/>
            </a:endParaRPr>
          </a:p>
        </p:txBody>
      </p:sp>
      <p:pic>
        <p:nvPicPr>
          <p:cNvPr id="1433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956"/>
          <a:stretch/>
        </p:blipFill>
        <p:spPr bwMode="auto">
          <a:xfrm>
            <a:off x="683568" y="4653136"/>
            <a:ext cx="6915862" cy="2117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611560" y="4149080"/>
            <a:ext cx="8208912" cy="369332"/>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0, step 5:  </a:t>
            </a:r>
            <a:r>
              <a:rPr lang="en-US" altLang="zh-TW" dirty="0" err="1" smtClean="0">
                <a:solidFill>
                  <a:srgbClr val="C00000"/>
                </a:solidFill>
                <a:latin typeface="微軟正黑體" pitchFamily="34" charset="-120"/>
                <a:ea typeface="微軟正黑體" pitchFamily="34" charset="-120"/>
              </a:rPr>
              <a:t>找出upper</a:t>
            </a:r>
            <a:r>
              <a:rPr lang="en-US" altLang="zh-TW" dirty="0" smtClean="0">
                <a:solidFill>
                  <a:srgbClr val="C00000"/>
                </a:solidFill>
                <a:latin typeface="微軟正黑體" pitchFamily="34" charset="-120"/>
                <a:ea typeface="微軟正黑體" pitchFamily="34" charset="-120"/>
              </a:rPr>
              <a:t> &amp; lower </a:t>
            </a:r>
            <a:r>
              <a:rPr lang="en-US" altLang="zh-TW" dirty="0" err="1" smtClean="0">
                <a:solidFill>
                  <a:srgbClr val="C00000"/>
                </a:solidFill>
                <a:latin typeface="微軟正黑體" pitchFamily="34" charset="-120"/>
                <a:ea typeface="微軟正黑體" pitchFamily="34" charset="-120"/>
              </a:rPr>
              <a:t>envelope的mean</a:t>
            </a:r>
            <a:r>
              <a:rPr lang="en-US" altLang="zh-TW" dirty="0" smtClean="0">
                <a:solidFill>
                  <a:srgbClr val="C00000"/>
                </a:solidFill>
                <a:latin typeface="微軟正黑體" pitchFamily="34" charset="-120"/>
                <a:ea typeface="微軟正黑體" pitchFamily="34" charset="-120"/>
              </a:rPr>
              <a:t> envelope m</a:t>
            </a:r>
            <a:r>
              <a:rPr lang="en-US" altLang="zh-TW" baseline="-25000" dirty="0" smtClean="0">
                <a:solidFill>
                  <a:srgbClr val="C00000"/>
                </a:solidFill>
                <a:latin typeface="微軟正黑體" pitchFamily="34" charset="-120"/>
                <a:ea typeface="微軟正黑體" pitchFamily="34" charset="-120"/>
              </a:rPr>
              <a:t>1</a:t>
            </a:r>
            <a:endParaRPr lang="zh-TW" altLang="en-US" baseline="-25000"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31215263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 </a:t>
            </a:r>
            <a:r>
              <a:rPr lang="en-US" altLang="zh-TW" sz="3600" b="1" dirty="0" smtClean="0"/>
              <a:t>(4)</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5</a:t>
            </a:fld>
            <a:endParaRPr lang="zh-TW" altLang="en-US"/>
          </a:p>
        </p:txBody>
      </p:sp>
      <p:pic>
        <p:nvPicPr>
          <p:cNvPr id="153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864"/>
          <a:stretch/>
        </p:blipFill>
        <p:spPr bwMode="auto">
          <a:xfrm>
            <a:off x="267193" y="1268760"/>
            <a:ext cx="8481271" cy="431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2987824" y="5657671"/>
            <a:ext cx="5904656" cy="1200329"/>
          </a:xfrm>
          <a:prstGeom prst="rect">
            <a:avLst/>
          </a:prstGeom>
        </p:spPr>
        <p:txBody>
          <a:bodyPr wrap="square">
            <a:spAutoFit/>
          </a:bodyPr>
          <a:lstStyle/>
          <a:p>
            <a:r>
              <a:rPr lang="zh-TW" altLang="en-US" sz="2400" dirty="0">
                <a:latin typeface="微軟正黑體" pitchFamily="34" charset="-120"/>
                <a:ea typeface="微軟正黑體" pitchFamily="34" charset="-120"/>
              </a:rPr>
              <a:t>篩檢過程有兩個目的</a:t>
            </a:r>
          </a:p>
          <a:p>
            <a:r>
              <a:rPr lang="en-US" altLang="zh-TW" sz="2400" dirty="0">
                <a:latin typeface="微軟正黑體" pitchFamily="34" charset="-120"/>
                <a:ea typeface="微軟正黑體" pitchFamily="34" charset="-120"/>
              </a:rPr>
              <a:t>1.</a:t>
            </a:r>
            <a:r>
              <a:rPr lang="zh-TW" altLang="en-US" sz="2400" dirty="0">
                <a:latin typeface="微軟正黑體" pitchFamily="34" charset="-120"/>
                <a:ea typeface="微軟正黑體" pitchFamily="34" charset="-120"/>
              </a:rPr>
              <a:t>可消除載波</a:t>
            </a:r>
          </a:p>
          <a:p>
            <a:r>
              <a:rPr lang="en-US" altLang="zh-TW" sz="2400" dirty="0">
                <a:latin typeface="微軟正黑體" pitchFamily="34" charset="-120"/>
                <a:ea typeface="微軟正黑體" pitchFamily="34" charset="-120"/>
              </a:rPr>
              <a:t>2.</a:t>
            </a:r>
            <a:r>
              <a:rPr lang="zh-TW" altLang="en-US" sz="2400" dirty="0">
                <a:latin typeface="微軟正黑體" pitchFamily="34" charset="-120"/>
                <a:ea typeface="微軟正黑體" pitchFamily="34" charset="-120"/>
              </a:rPr>
              <a:t>使得波形更對稱</a:t>
            </a:r>
          </a:p>
        </p:txBody>
      </p:sp>
    </p:spTree>
    <p:extLst>
      <p:ext uri="{BB962C8B-B14F-4D97-AF65-F5344CB8AC3E}">
        <p14:creationId xmlns:p14="http://schemas.microsoft.com/office/powerpoint/2010/main" val="100692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a:t>
            </a:r>
            <a:r>
              <a:rPr lang="en-US" altLang="zh-TW" sz="3600" b="1" dirty="0" smtClean="0"/>
              <a:t>)(</a:t>
            </a:r>
            <a:r>
              <a:rPr lang="en-US" altLang="zh-TW" sz="3600" b="1" dirty="0"/>
              <a:t>4)</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6</a:t>
            </a:fld>
            <a:endParaRPr lang="zh-TW" altLang="en-US"/>
          </a:p>
        </p:txBody>
      </p:sp>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2239"/>
          <a:stretch/>
        </p:blipFill>
        <p:spPr bwMode="auto">
          <a:xfrm>
            <a:off x="1130060" y="2060849"/>
            <a:ext cx="7258364" cy="258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611560" y="1340768"/>
            <a:ext cx="7416824" cy="369332"/>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1, 重複上述step得到h1的mean envelope m</a:t>
            </a:r>
            <a:r>
              <a:rPr lang="en-US" altLang="zh-TW" baseline="-25000" dirty="0" smtClean="0">
                <a:solidFill>
                  <a:srgbClr val="C00000"/>
                </a:solidFill>
                <a:latin typeface="微軟正黑體" pitchFamily="34" charset="-120"/>
                <a:ea typeface="微軟正黑體" pitchFamily="34" charset="-120"/>
              </a:rPr>
              <a:t>11</a:t>
            </a:r>
            <a:endParaRPr lang="zh-TW" altLang="en-US" baseline="-25000" dirty="0">
              <a:solidFill>
                <a:srgbClr val="C00000"/>
              </a:solidFill>
              <a:latin typeface="微軟正黑體" pitchFamily="34" charset="-120"/>
              <a:ea typeface="微軟正黑體" pitchFamily="34" charset="-120"/>
            </a:endParaRPr>
          </a:p>
        </p:txBody>
      </p:sp>
      <p:pic>
        <p:nvPicPr>
          <p:cNvPr id="1638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234"/>
          <a:stretch/>
        </p:blipFill>
        <p:spPr bwMode="auto">
          <a:xfrm>
            <a:off x="283058" y="4645411"/>
            <a:ext cx="8073827" cy="2139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626004" y="2951413"/>
            <a:ext cx="504056" cy="400110"/>
          </a:xfrm>
          <a:prstGeom prst="rect">
            <a:avLst/>
          </a:prstGeom>
          <a:noFill/>
        </p:spPr>
        <p:txBody>
          <a:bodyPr wrap="square" rtlCol="0">
            <a:spAutoFit/>
          </a:bodyPr>
          <a:lstStyle/>
          <a:p>
            <a:r>
              <a:rPr lang="en-US" altLang="zh-TW" sz="2000" dirty="0" smtClean="0"/>
              <a:t>h</a:t>
            </a:r>
            <a:r>
              <a:rPr lang="en-US" altLang="zh-TW" sz="2000" baseline="-25000" dirty="0" smtClean="0"/>
              <a:t>1</a:t>
            </a:r>
            <a:endParaRPr lang="zh-TW" altLang="en-US" sz="2000" baseline="-25000" dirty="0"/>
          </a:p>
        </p:txBody>
      </p:sp>
    </p:spTree>
    <p:extLst>
      <p:ext uri="{BB962C8B-B14F-4D97-AF65-F5344CB8AC3E}">
        <p14:creationId xmlns:p14="http://schemas.microsoft.com/office/powerpoint/2010/main" val="11856437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a:t>
            </a:r>
            <a:r>
              <a:rPr lang="en-US" altLang="zh-TW" sz="3600" b="1" dirty="0" smtClean="0"/>
              <a:t>)(5)</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7</a:t>
            </a:fld>
            <a:endParaRPr lang="zh-TW" altLang="en-US"/>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2060848"/>
            <a:ext cx="9076631" cy="474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611560" y="1340768"/>
            <a:ext cx="8064896" cy="646331"/>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k, 重複上述步驟直到h</a:t>
            </a:r>
            <a:r>
              <a:rPr lang="en-US" altLang="zh-TW" baseline="-25000" dirty="0" smtClean="0">
                <a:solidFill>
                  <a:srgbClr val="C00000"/>
                </a:solidFill>
                <a:latin typeface="微軟正黑體" pitchFamily="34" charset="-120"/>
                <a:ea typeface="微軟正黑體" pitchFamily="34" charset="-120"/>
              </a:rPr>
              <a:t>1k</a:t>
            </a:r>
            <a:r>
              <a:rPr lang="en-US" altLang="zh-TW" dirty="0" smtClean="0">
                <a:solidFill>
                  <a:srgbClr val="C00000"/>
                </a:solidFill>
                <a:latin typeface="微軟正黑體" pitchFamily="34" charset="-120"/>
                <a:ea typeface="微軟正黑體" pitchFamily="34" charset="-120"/>
              </a:rPr>
              <a:t>與h</a:t>
            </a:r>
            <a:r>
              <a:rPr lang="en-US" altLang="zh-TW" baseline="-25000" dirty="0" smtClean="0">
                <a:solidFill>
                  <a:srgbClr val="C00000"/>
                </a:solidFill>
                <a:latin typeface="微軟正黑體" pitchFamily="34" charset="-120"/>
                <a:ea typeface="微軟正黑體" pitchFamily="34" charset="-120"/>
              </a:rPr>
              <a:t>1(k-1)</a:t>
            </a:r>
            <a:r>
              <a:rPr lang="en-US" altLang="zh-TW" dirty="0" smtClean="0">
                <a:solidFill>
                  <a:srgbClr val="C00000"/>
                </a:solidFill>
                <a:latin typeface="微軟正黑體" pitchFamily="34" charset="-120"/>
                <a:ea typeface="微軟正黑體" pitchFamily="34" charset="-120"/>
              </a:rPr>
              <a:t>的SD之值小於0.1(自訂，建議為0.2~0.3)，得到原始訊號的IMF</a:t>
            </a:r>
            <a:r>
              <a:rPr lang="en-US" altLang="zh-TW" baseline="-25000" dirty="0" smtClean="0">
                <a:solidFill>
                  <a:srgbClr val="C00000"/>
                </a:solidFill>
                <a:latin typeface="微軟正黑體" pitchFamily="34" charset="-120"/>
                <a:ea typeface="微軟正黑體" pitchFamily="34" charset="-120"/>
              </a:rPr>
              <a:t>1 </a:t>
            </a:r>
            <a:r>
              <a:rPr lang="en-US" altLang="zh-TW" dirty="0" smtClean="0">
                <a:solidFill>
                  <a:srgbClr val="C00000"/>
                </a:solidFill>
                <a:latin typeface="微軟正黑體" pitchFamily="34" charset="-120"/>
                <a:ea typeface="微軟正黑體" pitchFamily="34" charset="-120"/>
              </a:rPr>
              <a:t>c</a:t>
            </a:r>
            <a:r>
              <a:rPr lang="en-US" altLang="zh-TW" baseline="-25000" dirty="0" smtClean="0">
                <a:solidFill>
                  <a:srgbClr val="C00000"/>
                </a:solidFill>
                <a:latin typeface="微軟正黑體" pitchFamily="34" charset="-120"/>
                <a:ea typeface="微軟正黑體" pitchFamily="34" charset="-120"/>
              </a:rPr>
              <a:t>1</a:t>
            </a:r>
            <a:endParaRPr lang="zh-TW" altLang="en-US" baseline="-25000"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16805285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a:t>
            </a:r>
            <a:r>
              <a:rPr lang="en-US" altLang="zh-TW" sz="3600" b="1" dirty="0" smtClean="0"/>
              <a:t>)(6)</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8</a:t>
            </a:fld>
            <a:endParaRPr lang="zh-TW" altLang="en-US"/>
          </a:p>
        </p:txBody>
      </p:sp>
      <p:sp>
        <p:nvSpPr>
          <p:cNvPr id="4" name="矩形 3"/>
          <p:cNvSpPr/>
          <p:nvPr/>
        </p:nvSpPr>
        <p:spPr>
          <a:xfrm>
            <a:off x="611560" y="1340768"/>
            <a:ext cx="8064896" cy="461665"/>
          </a:xfrm>
          <a:prstGeom prst="rect">
            <a:avLst/>
          </a:prstGeom>
        </p:spPr>
        <p:txBody>
          <a:bodyPr wrap="square">
            <a:spAutoFit/>
          </a:bodyPr>
          <a:lstStyle/>
          <a:p>
            <a:r>
              <a:rPr lang="zh-TW" altLang="en-US" sz="2400" dirty="0" smtClean="0">
                <a:solidFill>
                  <a:srgbClr val="C00000"/>
                </a:solidFill>
                <a:latin typeface="微軟正黑體" pitchFamily="34" charset="-120"/>
                <a:ea typeface="微軟正黑體" pitchFamily="34" charset="-120"/>
              </a:rPr>
              <a:t>將</a:t>
            </a:r>
            <a:r>
              <a:rPr lang="en-US" altLang="zh-TW" sz="2400" dirty="0" smtClean="0">
                <a:solidFill>
                  <a:srgbClr val="C00000"/>
                </a:solidFill>
                <a:latin typeface="微軟正黑體" pitchFamily="34" charset="-120"/>
                <a:ea typeface="微軟正黑體" pitchFamily="34" charset="-120"/>
              </a:rPr>
              <a:t>x(t)-c</a:t>
            </a:r>
            <a:r>
              <a:rPr lang="en-US" altLang="zh-TW" sz="2400" baseline="-25000" dirty="0" smtClean="0">
                <a:solidFill>
                  <a:srgbClr val="C00000"/>
                </a:solidFill>
                <a:latin typeface="微軟正黑體" pitchFamily="34" charset="-120"/>
                <a:ea typeface="微軟正黑體" pitchFamily="34" charset="-120"/>
              </a:rPr>
              <a:t>1</a:t>
            </a:r>
            <a:r>
              <a:rPr lang="en-US" altLang="zh-TW" sz="2400" dirty="0" smtClean="0">
                <a:solidFill>
                  <a:srgbClr val="C00000"/>
                </a:solidFill>
                <a:latin typeface="微軟正黑體" pitchFamily="34" charset="-120"/>
                <a:ea typeface="微軟正黑體" pitchFamily="34" charset="-120"/>
              </a:rPr>
              <a:t>之後，繼續上述的分解得到IMF</a:t>
            </a:r>
            <a:r>
              <a:rPr lang="en-US" altLang="zh-TW" sz="2400" baseline="-25000" dirty="0" smtClean="0">
                <a:solidFill>
                  <a:srgbClr val="C00000"/>
                </a:solidFill>
                <a:latin typeface="微軟正黑體" pitchFamily="34" charset="-120"/>
                <a:ea typeface="微軟正黑體" pitchFamily="34" charset="-120"/>
              </a:rPr>
              <a:t>2</a:t>
            </a:r>
            <a:r>
              <a:rPr lang="en-US" altLang="zh-TW" sz="2400" dirty="0" smtClean="0">
                <a:solidFill>
                  <a:srgbClr val="C00000"/>
                </a:solidFill>
                <a:latin typeface="微軟正黑體" pitchFamily="34" charset="-120"/>
                <a:ea typeface="微軟正黑體" pitchFamily="34" charset="-120"/>
              </a:rPr>
              <a:t> c</a:t>
            </a:r>
            <a:r>
              <a:rPr lang="en-US" altLang="zh-TW" sz="2400" baseline="-25000" dirty="0" smtClean="0">
                <a:solidFill>
                  <a:srgbClr val="C00000"/>
                </a:solidFill>
                <a:latin typeface="微軟正黑體" pitchFamily="34" charset="-120"/>
                <a:ea typeface="微軟正黑體" pitchFamily="34" charset="-120"/>
              </a:rPr>
              <a:t>2</a:t>
            </a:r>
            <a:endParaRPr lang="zh-TW" altLang="en-US" sz="2400" baseline="-25000" dirty="0">
              <a:solidFill>
                <a:srgbClr val="C00000"/>
              </a:solidFill>
              <a:latin typeface="微軟正黑體" pitchFamily="34" charset="-120"/>
              <a:ea typeface="微軟正黑體" pitchFamily="34" charset="-12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29992"/>
            <a:ext cx="7922904" cy="4866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10913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39552" y="77335"/>
            <a:ext cx="8229600" cy="1143000"/>
          </a:xfrm>
        </p:spPr>
        <p:txBody>
          <a:bodyPr>
            <a:normAutofit/>
          </a:bodyPr>
          <a:lstStyle/>
          <a:p>
            <a:r>
              <a:rPr lang="en-US" altLang="zh-TW" sz="3200" b="1" dirty="0"/>
              <a:t>Empirical mode decomposition (EMD</a:t>
            </a:r>
            <a:r>
              <a:rPr lang="en-US" altLang="zh-TW" sz="3200" b="1" dirty="0" smtClean="0"/>
              <a:t>)(8)</a:t>
            </a:r>
            <a:endParaRPr lang="zh-TW" altLang="en-US" sz="32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9</a:t>
            </a:fld>
            <a:endParaRPr lang="zh-TW" altLang="en-US"/>
          </a:p>
        </p:txBody>
      </p:sp>
      <p:sp>
        <p:nvSpPr>
          <p:cNvPr id="4" name="矩形 3"/>
          <p:cNvSpPr/>
          <p:nvPr/>
        </p:nvSpPr>
        <p:spPr>
          <a:xfrm>
            <a:off x="539552" y="980728"/>
            <a:ext cx="8208912" cy="830997"/>
          </a:xfrm>
          <a:prstGeom prst="rect">
            <a:avLst/>
          </a:prstGeom>
        </p:spPr>
        <p:txBody>
          <a:bodyPr wrap="square">
            <a:spAutoFit/>
          </a:bodyPr>
          <a:lstStyle/>
          <a:p>
            <a:r>
              <a:rPr lang="zh-TW" altLang="en-US" sz="2400" dirty="0">
                <a:latin typeface="微軟正黑體" pitchFamily="34" charset="-120"/>
                <a:ea typeface="微軟正黑體" pitchFamily="34" charset="-120"/>
              </a:rPr>
              <a:t>當訊號之極值數目小於</a:t>
            </a:r>
            <a:r>
              <a:rPr lang="en-US" altLang="zh-TW" sz="2400" dirty="0">
                <a:latin typeface="微軟正黑體" pitchFamily="34" charset="-120"/>
                <a:ea typeface="微軟正黑體" pitchFamily="34" charset="-120"/>
              </a:rPr>
              <a:t>2</a:t>
            </a:r>
            <a:r>
              <a:rPr lang="zh-TW" altLang="en-US" sz="2400" dirty="0" smtClean="0">
                <a:latin typeface="微軟正黑體" pitchFamily="34" charset="-120"/>
                <a:ea typeface="微軟正黑體" pitchFamily="34" charset="-120"/>
              </a:rPr>
              <a:t>，或是</a:t>
            </a:r>
            <a:r>
              <a:rPr lang="zh-TW" altLang="en-US" sz="2400" dirty="0">
                <a:latin typeface="微軟正黑體" pitchFamily="34" charset="-120"/>
                <a:ea typeface="微軟正黑體" pitchFamily="34" charset="-120"/>
              </a:rPr>
              <a:t>訊號能量已經小於設定的門檻值（例如原始</a:t>
            </a:r>
            <a:r>
              <a:rPr lang="zh-TW" altLang="en-US" sz="2400" dirty="0" smtClean="0">
                <a:latin typeface="微軟正黑體" pitchFamily="34" charset="-120"/>
                <a:ea typeface="微軟正黑體" pitchFamily="34" charset="-120"/>
              </a:rPr>
              <a:t>訊號</a:t>
            </a:r>
            <a:r>
              <a:rPr lang="en-US" altLang="zh-TW" sz="2400" dirty="0" smtClean="0">
                <a:latin typeface="微軟正黑體" pitchFamily="34" charset="-120"/>
                <a:ea typeface="微軟正黑體" pitchFamily="34" charset="-120"/>
              </a:rPr>
              <a:t>1</a:t>
            </a:r>
            <a:r>
              <a:rPr lang="en-US" altLang="zh-TW" sz="2400" dirty="0">
                <a:latin typeface="微軟正黑體" pitchFamily="34" charset="-120"/>
                <a:ea typeface="微軟正黑體" pitchFamily="34" charset="-120"/>
              </a:rPr>
              <a:t>%</a:t>
            </a:r>
            <a:r>
              <a:rPr lang="zh-TW" altLang="en-US" sz="2400" dirty="0">
                <a:latin typeface="微軟正黑體" pitchFamily="34" charset="-120"/>
                <a:ea typeface="微軟正黑體" pitchFamily="34" charset="-120"/>
              </a:rPr>
              <a:t>），整個篩檢過程即停止。</a:t>
            </a:r>
          </a:p>
        </p:txBody>
      </p:sp>
      <p:pic>
        <p:nvPicPr>
          <p:cNvPr id="2048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3347864" y="3068959"/>
            <a:ext cx="5257443" cy="3666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525"/>
          <a:stretch/>
        </p:blipFill>
        <p:spPr bwMode="auto">
          <a:xfrm>
            <a:off x="3851920" y="2060848"/>
            <a:ext cx="4539968" cy="900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899592" y="6165304"/>
            <a:ext cx="2376264" cy="369332"/>
          </a:xfrm>
          <a:prstGeom prst="rect">
            <a:avLst/>
          </a:prstGeom>
          <a:noFill/>
        </p:spPr>
        <p:txBody>
          <a:bodyPr wrap="square" rtlCol="0">
            <a:spAutoFit/>
          </a:bodyPr>
          <a:lstStyle/>
          <a:p>
            <a:r>
              <a:rPr lang="zh-TW" altLang="en-US" dirty="0" smtClean="0">
                <a:solidFill>
                  <a:srgbClr val="C00000"/>
                </a:solidFill>
                <a:latin typeface="微軟正黑體" pitchFamily="34" charset="-120"/>
                <a:ea typeface="微軟正黑體" pitchFamily="34" charset="-120"/>
              </a:rPr>
              <a:t>殘餘序列，非</a:t>
            </a:r>
            <a:r>
              <a:rPr lang="en-US" altLang="zh-TW" dirty="0" smtClean="0">
                <a:solidFill>
                  <a:srgbClr val="C00000"/>
                </a:solidFill>
                <a:latin typeface="微軟正黑體" pitchFamily="34" charset="-120"/>
                <a:ea typeface="微軟正黑體" pitchFamily="34" charset="-120"/>
              </a:rPr>
              <a:t>IMF</a:t>
            </a:r>
            <a:endParaRPr lang="zh-TW" altLang="en-US" dirty="0">
              <a:solidFill>
                <a:srgbClr val="C00000"/>
              </a:solidFill>
              <a:latin typeface="微軟正黑體" pitchFamily="34" charset="-120"/>
              <a:ea typeface="微軟正黑體" pitchFamily="34" charset="-120"/>
            </a:endParaRPr>
          </a:p>
        </p:txBody>
      </p:sp>
      <mc:AlternateContent xmlns:mc="http://schemas.openxmlformats.org/markup-compatibility/2006" xmlns:a14="http://schemas.microsoft.com/office/drawing/2010/main">
        <mc:Choice Requires="a14">
          <p:sp>
            <p:nvSpPr>
              <p:cNvPr id="7" name="文字方塊 6"/>
              <p:cNvSpPr txBox="1"/>
              <p:nvPr/>
            </p:nvSpPr>
            <p:spPr>
              <a:xfrm>
                <a:off x="539552" y="2197823"/>
                <a:ext cx="2016224" cy="871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𝑋</m:t>
                      </m:r>
                      <m:d>
                        <m:dPr>
                          <m:ctrlPr>
                            <a:rPr lang="en-US" altLang="zh-TW" b="0" i="1" smtClean="0">
                              <a:latin typeface="Cambria Math"/>
                            </a:rPr>
                          </m:ctrlPr>
                        </m:dPr>
                        <m:e>
                          <m:r>
                            <a:rPr lang="en-US" altLang="zh-TW" b="0" i="1" smtClean="0">
                              <a:latin typeface="Cambria Math"/>
                            </a:rPr>
                            <m:t>𝑡</m:t>
                          </m:r>
                        </m:e>
                      </m:d>
                      <m:r>
                        <a:rPr lang="en-US" altLang="zh-TW" b="0" i="1" smtClean="0">
                          <a:latin typeface="Cambria Math"/>
                        </a:rPr>
                        <m:t>=</m:t>
                      </m:r>
                      <m:nary>
                        <m:naryPr>
                          <m:chr m:val="∑"/>
                          <m:ctrlPr>
                            <a:rPr lang="en-US" altLang="zh-TW" b="0" i="1" smtClean="0">
                              <a:latin typeface="Cambria Math"/>
                            </a:rPr>
                          </m:ctrlPr>
                        </m:naryPr>
                        <m:sub>
                          <m:r>
                            <m:rPr>
                              <m:brk m:alnAt="23"/>
                            </m:rPr>
                            <a:rPr lang="en-US" altLang="zh-TW" b="0" i="1" smtClean="0">
                              <a:latin typeface="Cambria Math"/>
                            </a:rPr>
                            <m:t>𝑖</m:t>
                          </m:r>
                          <m:r>
                            <a:rPr lang="en-US" altLang="zh-TW" b="0" i="1" smtClean="0">
                              <a:latin typeface="Cambria Math"/>
                            </a:rPr>
                            <m:t>=1</m:t>
                          </m:r>
                        </m:sub>
                        <m:sup>
                          <m:r>
                            <a:rPr lang="en-US" altLang="zh-TW" b="0" i="1" smtClean="0">
                              <a:latin typeface="Cambria Math"/>
                            </a:rPr>
                            <m:t>6</m:t>
                          </m:r>
                        </m:sup>
                        <m:e>
                          <m:sSub>
                            <m:sSubPr>
                              <m:ctrlPr>
                                <a:rPr lang="en-US" altLang="zh-TW" b="0" i="1" smtClean="0">
                                  <a:latin typeface="Cambria Math"/>
                                </a:rPr>
                              </m:ctrlPr>
                            </m:sSubPr>
                            <m:e>
                              <m:r>
                                <a:rPr lang="en-US" altLang="zh-TW" b="0" i="1" smtClean="0">
                                  <a:latin typeface="Cambria Math"/>
                                </a:rPr>
                                <m:t>𝑐</m:t>
                              </m:r>
                            </m:e>
                            <m:sub>
                              <m:r>
                                <a:rPr lang="en-US" altLang="zh-TW" b="0" i="1" smtClean="0">
                                  <a:latin typeface="Cambria Math"/>
                                </a:rPr>
                                <m:t>𝑖</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𝑛</m:t>
                              </m:r>
                            </m:sub>
                          </m:sSub>
                        </m:e>
                      </m:nary>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39552" y="2197823"/>
                <a:ext cx="2016224" cy="871136"/>
              </a:xfrm>
              <a:prstGeom prst="rect">
                <a:avLst/>
              </a:prstGeom>
              <a:blipFill rotWithShape="1">
                <a:blip r:embed="rId4"/>
                <a:stretch>
                  <a:fillRect/>
                </a:stretch>
              </a:blipFill>
            </p:spPr>
            <p:txBody>
              <a:bodyPr/>
              <a:lstStyle/>
              <a:p>
                <a:r>
                  <a:rPr lang="zh-TW" altLang="en-US">
                    <a:noFill/>
                  </a:rPr>
                  <a:t> </a:t>
                </a:r>
              </a:p>
            </p:txBody>
          </p:sp>
        </mc:Fallback>
      </mc:AlternateContent>
      <p:sp>
        <p:nvSpPr>
          <p:cNvPr id="8" name="文字方塊 7"/>
          <p:cNvSpPr txBox="1"/>
          <p:nvPr/>
        </p:nvSpPr>
        <p:spPr>
          <a:xfrm>
            <a:off x="395536" y="3212976"/>
            <a:ext cx="2952328" cy="1200329"/>
          </a:xfrm>
          <a:prstGeom prst="rect">
            <a:avLst/>
          </a:prstGeom>
          <a:noFill/>
        </p:spPr>
        <p:txBody>
          <a:bodyPr wrap="square" rtlCol="0">
            <a:spAutoFit/>
          </a:bodyPr>
          <a:lstStyle/>
          <a:p>
            <a:r>
              <a:rPr lang="zh-TW" altLang="en-US" dirty="0" smtClean="0">
                <a:solidFill>
                  <a:srgbClr val="C00000"/>
                </a:solidFill>
                <a:latin typeface="微軟正黑體" pitchFamily="34" charset="-120"/>
                <a:ea typeface="微軟正黑體" pitchFamily="34" charset="-120"/>
              </a:rPr>
              <a:t>即</a:t>
            </a:r>
            <a:r>
              <a:rPr lang="en-US" altLang="zh-TW" dirty="0" err="1" smtClean="0">
                <a:solidFill>
                  <a:srgbClr val="C00000"/>
                </a:solidFill>
                <a:latin typeface="微軟正黑體" pitchFamily="34" charset="-120"/>
                <a:ea typeface="微軟正黑體" pitchFamily="34" charset="-120"/>
              </a:rPr>
              <a:t>可由IMF訊號疊加後復原到原始訊號X</a:t>
            </a:r>
            <a:r>
              <a:rPr lang="en-US" altLang="zh-TW" dirty="0" smtClean="0">
                <a:solidFill>
                  <a:srgbClr val="C00000"/>
                </a:solidFill>
                <a:latin typeface="微軟正黑體" pitchFamily="34" charset="-120"/>
                <a:ea typeface="微軟正黑體" pitchFamily="34" charset="-120"/>
              </a:rPr>
              <a:t>(t)</a:t>
            </a:r>
          </a:p>
          <a:p>
            <a:endParaRPr lang="en-US" altLang="zh-TW" dirty="0">
              <a:solidFill>
                <a:srgbClr val="C00000"/>
              </a:solidFill>
              <a:latin typeface="微軟正黑體" pitchFamily="34" charset="-120"/>
              <a:ea typeface="微軟正黑體" pitchFamily="34" charset="-120"/>
            </a:endParaRPr>
          </a:p>
          <a:p>
            <a:r>
              <a:rPr lang="en-US" altLang="zh-TW" dirty="0" err="1" smtClean="0">
                <a:solidFill>
                  <a:srgbClr val="C00000"/>
                </a:solidFill>
                <a:latin typeface="微軟正黑體" pitchFamily="34" charset="-120"/>
                <a:ea typeface="微軟正黑體" pitchFamily="34" charset="-120"/>
              </a:rPr>
              <a:t>IMF訊號之間接近正交</a:t>
            </a:r>
            <a:r>
              <a:rPr lang="en-US" altLang="zh-TW" dirty="0" smtClean="0">
                <a:solidFill>
                  <a:srgbClr val="C00000"/>
                </a:solidFill>
                <a:latin typeface="微軟正黑體" pitchFamily="34" charset="-120"/>
                <a:ea typeface="微軟正黑體" pitchFamily="34" charset="-120"/>
              </a:rPr>
              <a:t>!!</a:t>
            </a:r>
            <a:endParaRPr lang="zh-TW" altLang="en-US"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3026815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smtClean="0"/>
              <a:t>Reconstruction</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10</a:t>
            </a:fld>
            <a:endParaRPr lang="zh-TW" altLang="en-US"/>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429891"/>
            <a:ext cx="6248911" cy="4862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1187624" y="1484784"/>
            <a:ext cx="792088" cy="461665"/>
          </a:xfrm>
          <a:prstGeom prst="rect">
            <a:avLst/>
          </a:prstGeom>
          <a:noFill/>
        </p:spPr>
        <p:txBody>
          <a:bodyPr wrap="square" rtlCol="0">
            <a:spAutoFit/>
          </a:bodyPr>
          <a:lstStyle/>
          <a:p>
            <a:r>
              <a:rPr lang="en-US" altLang="zh-TW" sz="2400" dirty="0" smtClean="0"/>
              <a:t>c</a:t>
            </a:r>
            <a:r>
              <a:rPr lang="en-US" altLang="zh-TW" sz="2400" baseline="-25000" dirty="0" smtClean="0"/>
              <a:t>1</a:t>
            </a:r>
            <a:endParaRPr lang="zh-TW" altLang="en-US" sz="2400" baseline="-25000" dirty="0"/>
          </a:p>
        </p:txBody>
      </p:sp>
      <p:sp>
        <p:nvSpPr>
          <p:cNvPr id="6" name="文字方塊 5"/>
          <p:cNvSpPr txBox="1"/>
          <p:nvPr/>
        </p:nvSpPr>
        <p:spPr>
          <a:xfrm>
            <a:off x="971600" y="2204863"/>
            <a:ext cx="1224136" cy="461665"/>
          </a:xfrm>
          <a:prstGeom prst="rect">
            <a:avLst/>
          </a:prstGeom>
          <a:noFill/>
        </p:spPr>
        <p:txBody>
          <a:bodyPr wrap="square" rtlCol="0">
            <a:spAutoFit/>
          </a:bodyPr>
          <a:lstStyle/>
          <a:p>
            <a:r>
              <a:rPr lang="en-US" altLang="zh-TW" sz="2400" dirty="0" smtClean="0"/>
              <a:t>c</a:t>
            </a:r>
            <a:r>
              <a:rPr lang="en-US" altLang="zh-TW" sz="2400" baseline="-25000" dirty="0" smtClean="0"/>
              <a:t>1</a:t>
            </a:r>
            <a:r>
              <a:rPr lang="en-US" altLang="zh-TW" sz="2400" dirty="0" smtClean="0"/>
              <a:t>+c</a:t>
            </a:r>
            <a:r>
              <a:rPr lang="en-US" altLang="zh-TW" sz="2400" baseline="-25000" dirty="0" smtClean="0"/>
              <a:t>2</a:t>
            </a:r>
            <a:endParaRPr lang="zh-TW" altLang="en-US" sz="2400" baseline="-25000" dirty="0"/>
          </a:p>
        </p:txBody>
      </p:sp>
      <p:sp>
        <p:nvSpPr>
          <p:cNvPr id="7" name="文字方塊 6"/>
          <p:cNvSpPr txBox="1"/>
          <p:nvPr/>
        </p:nvSpPr>
        <p:spPr>
          <a:xfrm>
            <a:off x="827584" y="2996952"/>
            <a:ext cx="1224136" cy="461665"/>
          </a:xfrm>
          <a:prstGeom prst="rect">
            <a:avLst/>
          </a:prstGeom>
          <a:noFill/>
        </p:spPr>
        <p:txBody>
          <a:bodyPr wrap="square" rtlCol="0">
            <a:spAutoFit/>
          </a:bodyPr>
          <a:lstStyle/>
          <a:p>
            <a:r>
              <a:rPr lang="en-US" altLang="zh-TW" sz="2400" dirty="0" smtClean="0"/>
              <a:t>c</a:t>
            </a:r>
            <a:r>
              <a:rPr lang="en-US" altLang="zh-TW" sz="2400" baseline="-25000" dirty="0" smtClean="0"/>
              <a:t>1</a:t>
            </a:r>
            <a:r>
              <a:rPr lang="en-US" altLang="zh-TW" sz="2400" dirty="0" smtClean="0"/>
              <a:t>+c</a:t>
            </a:r>
            <a:r>
              <a:rPr lang="en-US" altLang="zh-TW" sz="2400" baseline="-25000" dirty="0" smtClean="0"/>
              <a:t>2</a:t>
            </a:r>
            <a:r>
              <a:rPr lang="en-US" altLang="zh-TW" sz="2400" dirty="0"/>
              <a:t>+c</a:t>
            </a:r>
            <a:r>
              <a:rPr lang="en-US" altLang="zh-TW" sz="2400" baseline="-25000" dirty="0"/>
              <a:t>3</a:t>
            </a:r>
            <a:endParaRPr lang="zh-TW" altLang="en-US" sz="2400" baseline="-25000" dirty="0"/>
          </a:p>
        </p:txBody>
      </p:sp>
      <p:sp>
        <p:nvSpPr>
          <p:cNvPr id="5" name="文字方塊 4"/>
          <p:cNvSpPr txBox="1"/>
          <p:nvPr/>
        </p:nvSpPr>
        <p:spPr>
          <a:xfrm>
            <a:off x="1187624" y="4077072"/>
            <a:ext cx="504056" cy="369332"/>
          </a:xfrm>
          <a:prstGeom prst="rect">
            <a:avLst/>
          </a:prstGeom>
          <a:noFill/>
        </p:spPr>
        <p:txBody>
          <a:bodyPr wrap="square" rtlCol="0">
            <a:spAutoFit/>
          </a:bodyPr>
          <a:lstStyle/>
          <a:p>
            <a:pPr algn="ctr"/>
            <a:r>
              <a:rPr lang="en-US" altLang="zh-TW" dirty="0" smtClean="0"/>
              <a:t>…</a:t>
            </a:r>
            <a:endParaRPr lang="zh-TW" altLang="en-US" dirty="0"/>
          </a:p>
        </p:txBody>
      </p:sp>
      <p:sp>
        <p:nvSpPr>
          <p:cNvPr id="9" name="文字方塊 8"/>
          <p:cNvSpPr txBox="1"/>
          <p:nvPr/>
        </p:nvSpPr>
        <p:spPr>
          <a:xfrm>
            <a:off x="1235790" y="5589240"/>
            <a:ext cx="504056" cy="369332"/>
          </a:xfrm>
          <a:prstGeom prst="rect">
            <a:avLst/>
          </a:prstGeom>
          <a:noFill/>
        </p:spPr>
        <p:txBody>
          <a:bodyPr wrap="square" rtlCol="0">
            <a:spAutoFit/>
          </a:bodyPr>
          <a:lstStyle/>
          <a:p>
            <a:pPr algn="ctr"/>
            <a:r>
              <a:rPr lang="en-US" altLang="zh-TW" dirty="0" smtClean="0"/>
              <a:t>X(t)</a:t>
            </a:r>
            <a:endParaRPr lang="zh-TW" altLang="en-US" dirty="0"/>
          </a:p>
        </p:txBody>
      </p:sp>
    </p:spTree>
    <p:extLst>
      <p:ext uri="{BB962C8B-B14F-4D97-AF65-F5344CB8AC3E}">
        <p14:creationId xmlns:p14="http://schemas.microsoft.com/office/powerpoint/2010/main" val="23333459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 Design</a:t>
            </a:r>
            <a:endParaRPr lang="zh-TW" alt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340768"/>
            <a:ext cx="3516629" cy="5417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105446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80963"/>
            <a:ext cx="4752975" cy="669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91388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59" y="2132856"/>
            <a:ext cx="8215263" cy="4411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16632"/>
            <a:ext cx="4714875" cy="194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11401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 Results</a:t>
            </a:r>
            <a:endParaRPr lang="zh-TW"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462708"/>
            <a:ext cx="4320480" cy="2492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64" y="3933760"/>
            <a:ext cx="4166245" cy="2582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2022" y="1421098"/>
            <a:ext cx="4176464" cy="25411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2022" y="3985456"/>
            <a:ext cx="4211960" cy="2395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4449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772816"/>
            <a:ext cx="4464496" cy="4598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1700524"/>
            <a:ext cx="4127649" cy="46808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9272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157288"/>
            <a:ext cx="7829550" cy="454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文字方塊 2"/>
          <p:cNvSpPr txBox="1"/>
          <p:nvPr/>
        </p:nvSpPr>
        <p:spPr>
          <a:xfrm>
            <a:off x="1619672" y="5805264"/>
            <a:ext cx="3600400" cy="369332"/>
          </a:xfrm>
          <a:prstGeom prst="rect">
            <a:avLst/>
          </a:prstGeom>
          <a:noFill/>
        </p:spPr>
        <p:txBody>
          <a:bodyPr wrap="square" rtlCol="0">
            <a:spAutoFit/>
          </a:bodyPr>
          <a:lstStyle/>
          <a:p>
            <a:r>
              <a:rPr lang="en-US" altLang="zh-TW" dirty="0"/>
              <a:t>The error sum of </a:t>
            </a:r>
            <a:r>
              <a:rPr lang="en-US" altLang="zh-TW" dirty="0" smtClean="0"/>
              <a:t>squares = 0.0087</a:t>
            </a:r>
            <a:endParaRPr lang="zh-TW" altLang="en-US" dirty="0"/>
          </a:p>
        </p:txBody>
      </p:sp>
    </p:spTree>
    <p:extLst>
      <p:ext uri="{BB962C8B-B14F-4D97-AF65-F5344CB8AC3E}">
        <p14:creationId xmlns:p14="http://schemas.microsoft.com/office/powerpoint/2010/main" val="622943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方塊 2"/>
          <p:cNvSpPr txBox="1"/>
          <p:nvPr/>
        </p:nvSpPr>
        <p:spPr>
          <a:xfrm>
            <a:off x="1691680" y="2924944"/>
            <a:ext cx="5832648" cy="1323439"/>
          </a:xfrm>
          <a:prstGeom prst="rect">
            <a:avLst/>
          </a:prstGeom>
          <a:noFill/>
        </p:spPr>
        <p:txBody>
          <a:bodyPr wrap="square" rtlCol="0">
            <a:spAutoFit/>
          </a:bodyPr>
          <a:lstStyle/>
          <a:p>
            <a:pPr algn="ctr"/>
            <a:r>
              <a:rPr lang="en-US" altLang="zh-TW" sz="8000" dirty="0" smtClean="0"/>
              <a:t>THE END</a:t>
            </a:r>
            <a:endParaRPr lang="zh-TW" altLang="en-US" sz="8000" dirty="0"/>
          </a:p>
        </p:txBody>
      </p:sp>
    </p:spTree>
    <p:extLst>
      <p:ext uri="{BB962C8B-B14F-4D97-AF65-F5344CB8AC3E}">
        <p14:creationId xmlns:p14="http://schemas.microsoft.com/office/powerpoint/2010/main" val="311214734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448</Words>
  <Application>Microsoft Office PowerPoint</Application>
  <PresentationFormat>如螢幕大小 (4:3)</PresentationFormat>
  <Paragraphs>49</Paragraphs>
  <Slides>17</Slides>
  <Notes>1</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Office 佈景主題</vt:lpstr>
      <vt:lpstr>A Novel Instantaneous Frequency Algorithm and Its Application in Stock Index Movement Prediction</vt:lpstr>
      <vt:lpstr>Abstract</vt:lpstr>
      <vt:lpstr>Empirical mode decomposition (EMD) (2)</vt:lpstr>
      <vt:lpstr>Empirical mode decomposition (EMD) (3)</vt:lpstr>
      <vt:lpstr>Empirical mode decomposition (EMD) (4)</vt:lpstr>
      <vt:lpstr>Empirical mode decomposition (EMD)(4)</vt:lpstr>
      <vt:lpstr>Empirical mode decomposition (EMD)(5)</vt:lpstr>
      <vt:lpstr>Empirical mode decomposition (EMD)(6)</vt:lpstr>
      <vt:lpstr>Empirical mode decomposition (EMD)(8)</vt:lpstr>
      <vt:lpstr>Reconstruction</vt:lpstr>
      <vt:lpstr>Experiment Design</vt:lpstr>
      <vt:lpstr>PowerPoint 簡報</vt:lpstr>
      <vt:lpstr>PowerPoint 簡報</vt:lpstr>
      <vt:lpstr>Experiment Results</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Novel Instantaneous Frequency Algorithm and Its Application in Stock Index Movement Prediction</dc:title>
  <dc:creator>LCH</dc:creator>
  <cp:lastModifiedBy>LCH</cp:lastModifiedBy>
  <cp:revision>10</cp:revision>
  <dcterms:created xsi:type="dcterms:W3CDTF">2013-03-05T07:18:41Z</dcterms:created>
  <dcterms:modified xsi:type="dcterms:W3CDTF">2013-03-05T12:12:07Z</dcterms:modified>
</cp:coreProperties>
</file>