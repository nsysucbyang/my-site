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8"/>
  </p:notesMasterIdLst>
  <p:sldIdLst>
    <p:sldId id="256" r:id="rId2"/>
    <p:sldId id="257" r:id="rId3"/>
    <p:sldId id="261" r:id="rId4"/>
    <p:sldId id="258" r:id="rId5"/>
    <p:sldId id="260" r:id="rId6"/>
    <p:sldId id="279" r:id="rId7"/>
    <p:sldId id="259" r:id="rId8"/>
    <p:sldId id="311" r:id="rId9"/>
    <p:sldId id="312" r:id="rId10"/>
    <p:sldId id="262" r:id="rId11"/>
    <p:sldId id="263" r:id="rId12"/>
    <p:sldId id="265" r:id="rId13"/>
    <p:sldId id="264" r:id="rId14"/>
    <p:sldId id="273" r:id="rId15"/>
    <p:sldId id="267" r:id="rId16"/>
    <p:sldId id="266" r:id="rId17"/>
    <p:sldId id="280" r:id="rId18"/>
    <p:sldId id="274" r:id="rId19"/>
    <p:sldId id="275" r:id="rId20"/>
    <p:sldId id="276" r:id="rId21"/>
    <p:sldId id="277" r:id="rId22"/>
    <p:sldId id="278" r:id="rId23"/>
    <p:sldId id="281" r:id="rId24"/>
    <p:sldId id="283" r:id="rId25"/>
    <p:sldId id="287" r:id="rId26"/>
    <p:sldId id="282" r:id="rId27"/>
    <p:sldId id="284" r:id="rId28"/>
    <p:sldId id="285" r:id="rId29"/>
    <p:sldId id="313" r:id="rId30"/>
    <p:sldId id="286" r:id="rId31"/>
    <p:sldId id="288" r:id="rId32"/>
    <p:sldId id="289" r:id="rId33"/>
    <p:sldId id="290" r:id="rId34"/>
    <p:sldId id="291" r:id="rId35"/>
    <p:sldId id="314" r:id="rId36"/>
    <p:sldId id="315" r:id="rId37"/>
    <p:sldId id="294" r:id="rId38"/>
    <p:sldId id="295" r:id="rId39"/>
    <p:sldId id="293" r:id="rId40"/>
    <p:sldId id="296" r:id="rId41"/>
    <p:sldId id="298" r:id="rId42"/>
    <p:sldId id="297" r:id="rId43"/>
    <p:sldId id="299" r:id="rId44"/>
    <p:sldId id="300" r:id="rId45"/>
    <p:sldId id="301" r:id="rId46"/>
    <p:sldId id="302" r:id="rId47"/>
    <p:sldId id="316" r:id="rId48"/>
    <p:sldId id="318" r:id="rId49"/>
    <p:sldId id="319" r:id="rId50"/>
    <p:sldId id="320" r:id="rId51"/>
    <p:sldId id="321" r:id="rId52"/>
    <p:sldId id="317" r:id="rId53"/>
    <p:sldId id="306" r:id="rId54"/>
    <p:sldId id="307" r:id="rId55"/>
    <p:sldId id="308" r:id="rId56"/>
    <p:sldId id="352" r:id="rId57"/>
    <p:sldId id="303" r:id="rId58"/>
    <p:sldId id="304" r:id="rId59"/>
    <p:sldId id="322" r:id="rId60"/>
    <p:sldId id="323" r:id="rId61"/>
    <p:sldId id="324" r:id="rId62"/>
    <p:sldId id="325" r:id="rId63"/>
    <p:sldId id="326" r:id="rId64"/>
    <p:sldId id="328" r:id="rId65"/>
    <p:sldId id="329" r:id="rId66"/>
    <p:sldId id="327" r:id="rId67"/>
    <p:sldId id="330" r:id="rId68"/>
    <p:sldId id="331" r:id="rId69"/>
    <p:sldId id="332" r:id="rId70"/>
    <p:sldId id="333" r:id="rId71"/>
    <p:sldId id="335" r:id="rId72"/>
    <p:sldId id="336" r:id="rId73"/>
    <p:sldId id="339" r:id="rId74"/>
    <p:sldId id="340" r:id="rId75"/>
    <p:sldId id="341" r:id="rId76"/>
    <p:sldId id="338" r:id="rId77"/>
    <p:sldId id="337" r:id="rId78"/>
    <p:sldId id="343" r:id="rId79"/>
    <p:sldId id="342" r:id="rId80"/>
    <p:sldId id="347" r:id="rId81"/>
    <p:sldId id="344" r:id="rId82"/>
    <p:sldId id="346" r:id="rId83"/>
    <p:sldId id="349" r:id="rId84"/>
    <p:sldId id="348" r:id="rId85"/>
    <p:sldId id="350" r:id="rId86"/>
    <p:sldId id="351" r:id="rId87"/>
    <p:sldId id="354" r:id="rId88"/>
    <p:sldId id="353" r:id="rId89"/>
    <p:sldId id="355" r:id="rId90"/>
    <p:sldId id="357" r:id="rId91"/>
    <p:sldId id="356" r:id="rId92"/>
    <p:sldId id="358" r:id="rId93"/>
    <p:sldId id="359" r:id="rId94"/>
    <p:sldId id="360" r:id="rId95"/>
    <p:sldId id="361" r:id="rId96"/>
    <p:sldId id="362" r:id="rId97"/>
    <p:sldId id="363" r:id="rId98"/>
    <p:sldId id="310" r:id="rId99"/>
    <p:sldId id="305" r:id="rId100"/>
    <p:sldId id="364" r:id="rId101"/>
    <p:sldId id="365" r:id="rId102"/>
    <p:sldId id="366" r:id="rId103"/>
    <p:sldId id="367" r:id="rId104"/>
    <p:sldId id="368" r:id="rId105"/>
    <p:sldId id="369" r:id="rId106"/>
    <p:sldId id="370" r:id="rId10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324415D1-DB35-42E7-82E6-DE477483A66F}">
          <p14:sldIdLst>
            <p14:sldId id="256"/>
            <p14:sldId id="257"/>
            <p14:sldId id="261"/>
            <p14:sldId id="258"/>
            <p14:sldId id="260"/>
            <p14:sldId id="279"/>
            <p14:sldId id="259"/>
            <p14:sldId id="311"/>
            <p14:sldId id="312"/>
            <p14:sldId id="262"/>
            <p14:sldId id="263"/>
            <p14:sldId id="265"/>
            <p14:sldId id="264"/>
            <p14:sldId id="273"/>
            <p14:sldId id="267"/>
            <p14:sldId id="266"/>
            <p14:sldId id="280"/>
            <p14:sldId id="274"/>
            <p14:sldId id="275"/>
            <p14:sldId id="276"/>
            <p14:sldId id="277"/>
            <p14:sldId id="278"/>
            <p14:sldId id="281"/>
            <p14:sldId id="283"/>
            <p14:sldId id="287"/>
            <p14:sldId id="282"/>
            <p14:sldId id="284"/>
            <p14:sldId id="285"/>
            <p14:sldId id="313"/>
            <p14:sldId id="286"/>
            <p14:sldId id="288"/>
            <p14:sldId id="289"/>
            <p14:sldId id="290"/>
            <p14:sldId id="291"/>
            <p14:sldId id="314"/>
            <p14:sldId id="315"/>
            <p14:sldId id="294"/>
            <p14:sldId id="295"/>
            <p14:sldId id="293"/>
            <p14:sldId id="296"/>
            <p14:sldId id="298"/>
            <p14:sldId id="297"/>
            <p14:sldId id="299"/>
            <p14:sldId id="300"/>
            <p14:sldId id="301"/>
            <p14:sldId id="302"/>
            <p14:sldId id="316"/>
            <p14:sldId id="318"/>
            <p14:sldId id="319"/>
            <p14:sldId id="320"/>
            <p14:sldId id="321"/>
            <p14:sldId id="317"/>
            <p14:sldId id="306"/>
            <p14:sldId id="307"/>
            <p14:sldId id="308"/>
            <p14:sldId id="352"/>
            <p14:sldId id="303"/>
            <p14:sldId id="304"/>
            <p14:sldId id="322"/>
            <p14:sldId id="323"/>
            <p14:sldId id="324"/>
            <p14:sldId id="325"/>
            <p14:sldId id="326"/>
            <p14:sldId id="328"/>
            <p14:sldId id="329"/>
            <p14:sldId id="327"/>
            <p14:sldId id="330"/>
            <p14:sldId id="331"/>
            <p14:sldId id="332"/>
            <p14:sldId id="333"/>
            <p14:sldId id="335"/>
            <p14:sldId id="336"/>
            <p14:sldId id="339"/>
            <p14:sldId id="340"/>
            <p14:sldId id="341"/>
            <p14:sldId id="338"/>
            <p14:sldId id="337"/>
            <p14:sldId id="343"/>
            <p14:sldId id="342"/>
            <p14:sldId id="347"/>
            <p14:sldId id="344"/>
            <p14:sldId id="346"/>
            <p14:sldId id="349"/>
            <p14:sldId id="348"/>
            <p14:sldId id="350"/>
            <p14:sldId id="351"/>
            <p14:sldId id="354"/>
            <p14:sldId id="353"/>
            <p14:sldId id="355"/>
            <p14:sldId id="357"/>
            <p14:sldId id="356"/>
            <p14:sldId id="358"/>
            <p14:sldId id="359"/>
            <p14:sldId id="360"/>
            <p14:sldId id="361"/>
            <p14:sldId id="362"/>
            <p14:sldId id="363"/>
            <p14:sldId id="310"/>
            <p14:sldId id="305"/>
            <p14:sldId id="364"/>
            <p14:sldId id="365"/>
            <p14:sldId id="366"/>
            <p14:sldId id="367"/>
            <p14:sldId id="368"/>
            <p14:sldId id="369"/>
            <p14:sldId id="3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-47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C62FD-0B71-4776-99ED-E80D91820966}" type="datetimeFigureOut">
              <a:rPr lang="zh-TW" altLang="en-US" smtClean="0"/>
              <a:t>2013/3/5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FEF220-9A19-4D51-BE95-2D7F8FC541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4526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grpSp>
        <p:nvGrpSpPr>
          <p:cNvPr id="2" name="群組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手繪多邊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手繪多邊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手繪多邊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線接點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版面配置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D14AD80-7490-4BEF-8508-E97EF7C1F6D0}" type="datetime1">
              <a:rPr lang="zh-TW" altLang="en-US" smtClean="0"/>
              <a:t>2013/3/5</a:t>
            </a:fld>
            <a:endParaRPr lang="zh-TW" altLang="en-US"/>
          </a:p>
        </p:txBody>
      </p:sp>
      <p:sp>
        <p:nvSpPr>
          <p:cNvPr id="19" name="頁尾版面配置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7FDAB7D-3A76-4E22-A0DF-E53F781656F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0BAB0F5-D1BB-43CA-B44E-13068396054E}" type="datetime1">
              <a:rPr lang="zh-TW" altLang="en-US" smtClean="0"/>
              <a:t>2013/3/5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FDAB7D-3A76-4E22-A0DF-E53F781656F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5891779-068A-4555-AECE-06E3F1CC2BF4}" type="datetime1">
              <a:rPr lang="zh-TW" altLang="en-US" smtClean="0"/>
              <a:t>2013/3/5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FDAB7D-3A76-4E22-A0DF-E53F781656F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＞形箭號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＞形箭號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20882EE-B41F-4F21-ABB2-8164230AE07D}" type="datetime1">
              <a:rPr lang="zh-TW" altLang="en-US" smtClean="0"/>
              <a:t>2013/3/5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FDAB7D-3A76-4E22-A0DF-E53F781656F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9D3AB1C-B63F-4FD3-B681-50B977D9B8E5}" type="datetime1">
              <a:rPr lang="zh-TW" altLang="en-US" smtClean="0"/>
              <a:t>2013/3/5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FDAB7D-3A76-4E22-A0DF-E53F781656F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589B7DE-C91B-4942-BB10-F2F369D0785E}" type="datetime1">
              <a:rPr lang="zh-TW" altLang="en-US" smtClean="0"/>
              <a:t>2013/3/5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FDAB7D-3A76-4E22-A0DF-E53F781656F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9BF66A7-645E-43EA-B79E-9EEB5FD48871}" type="datetime1">
              <a:rPr lang="zh-TW" altLang="en-US" smtClean="0"/>
              <a:t>2013/3/5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FDAB7D-3A76-4E22-A0DF-E53F781656F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E80EDDD-1DCA-4FFC-83C8-45F199E3BDF4}" type="datetime1">
              <a:rPr lang="zh-TW" altLang="en-US" smtClean="0"/>
              <a:t>2013/3/5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FDAB7D-3A76-4E22-A0DF-E53F781656F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17427F3-85D6-4E23-8F12-99181DE4F912}" type="datetime1">
              <a:rPr lang="zh-TW" altLang="en-US" smtClean="0"/>
              <a:t>2013/3/5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7FDAB7D-3A76-4E22-A0DF-E53F781656F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8" name="手繪多邊形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手繪多邊形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直線接點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＞形箭號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＞形箭號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6284B41-A96F-4887-B9FD-C59208892C1B}" type="datetime1">
              <a:rPr lang="zh-TW" altLang="en-US" smtClean="0"/>
              <a:t>2013/3/5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FDAB7D-3A76-4E22-A0DF-E53F781656F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1EE437D-76CE-4889-B85B-D6F0607F7DFD}" type="datetime1">
              <a:rPr lang="zh-TW" altLang="en-US" smtClean="0"/>
              <a:t>2013/3/5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FDAB7D-3A76-4E22-A0DF-E53F781656F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手繪多邊形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手繪多邊形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直線接點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標題版面配置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0" name="文字版面配置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9C6F7B2-AA74-46F1-AC76-112567C31BAC}" type="datetime1">
              <a:rPr lang="zh-TW" altLang="en-US" smtClean="0"/>
              <a:t>2013/3/5</a:t>
            </a:fld>
            <a:endParaRPr lang="zh-TW" altLang="en-US"/>
          </a:p>
        </p:txBody>
      </p:sp>
      <p:sp>
        <p:nvSpPr>
          <p:cNvPr id="22" name="頁尾版面配置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7FDAB7D-3A76-4E22-A0DF-E53F781656F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algo2.iti.kit.edu/2109.php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Dynamic Ordered Sets with Exponential Search </a:t>
            </a:r>
            <a:r>
              <a:rPr lang="en-US" altLang="zh-TW" dirty="0" smtClean="0"/>
              <a:t>Trees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 smtClean="0"/>
              <a:t>Arne </a:t>
            </a:r>
            <a:r>
              <a:rPr lang="en-US" altLang="zh-TW" dirty="0" err="1" smtClean="0"/>
              <a:t>Andersson</a:t>
            </a:r>
            <a:r>
              <a:rPr lang="en-US" altLang="zh-TW" dirty="0"/>
              <a:t> </a:t>
            </a:r>
            <a:r>
              <a:rPr lang="en-US" altLang="zh-TW" dirty="0" smtClean="0"/>
              <a:t>and </a:t>
            </a:r>
            <a:r>
              <a:rPr lang="en-US" altLang="zh-TW" dirty="0" err="1"/>
              <a:t>Mikkel</a:t>
            </a:r>
            <a:r>
              <a:rPr lang="en-US" altLang="zh-TW" dirty="0"/>
              <a:t> </a:t>
            </a:r>
            <a:r>
              <a:rPr lang="en-US" altLang="zh-TW" dirty="0" err="1" smtClean="0"/>
              <a:t>Thorup</a:t>
            </a:r>
            <a:endParaRPr lang="en-US" altLang="zh-TW" dirty="0" smtClean="0"/>
          </a:p>
          <a:p>
            <a:r>
              <a:rPr lang="en-US" altLang="zh-TW" dirty="0"/>
              <a:t>Journal of the </a:t>
            </a:r>
            <a:r>
              <a:rPr lang="en-US" altLang="zh-TW" dirty="0" smtClean="0"/>
              <a:t>ACM, Vol. 54,  No. 3, A</a:t>
            </a:r>
            <a:r>
              <a:rPr lang="en-US" altLang="zh-TW" dirty="0" smtClean="0">
                <a:effectLst/>
              </a:rPr>
              <a:t>rticle 13, </a:t>
            </a:r>
            <a:r>
              <a:rPr lang="en-US" altLang="zh-TW" dirty="0" smtClean="0"/>
              <a:t>2007 </a:t>
            </a:r>
          </a:p>
          <a:p>
            <a:r>
              <a:rPr lang="en-US" altLang="zh-TW" dirty="0" smtClean="0"/>
              <a:t>Presenter: </a:t>
            </a:r>
            <a:r>
              <a:rPr lang="en-US" altLang="zh-TW" dirty="0" err="1" smtClean="0"/>
              <a:t>Chiou</a:t>
            </a:r>
            <a:r>
              <a:rPr lang="en-US" altLang="zh-TW" dirty="0" smtClean="0"/>
              <a:t>-Ting Tseng</a:t>
            </a:r>
          </a:p>
          <a:p>
            <a:r>
              <a:rPr lang="en-US" altLang="zh-TW" dirty="0" smtClean="0"/>
              <a:t>Date: Jan. 15, 2013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29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altLang="zh-TW" dirty="0" smtClean="0"/>
                  <a:t>We introduce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exponential search trees </a:t>
                </a:r>
                <a:r>
                  <a:rPr lang="en-US" altLang="zh-TW" dirty="0" smtClean="0"/>
                  <a:t>as a novel technique for converting static polynomial </a:t>
                </a:r>
                <a:r>
                  <a:rPr lang="en-US" altLang="zh-TW" dirty="0"/>
                  <a:t>space search structures for ordered sets into fully-dynamic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linear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space </a:t>
                </a:r>
                <a:r>
                  <a:rPr lang="en-US" altLang="zh-TW" dirty="0" smtClean="0"/>
                  <a:t>data structures. </a:t>
                </a:r>
              </a:p>
              <a:p>
                <a:r>
                  <a:rPr lang="en-US" altLang="zh-TW" dirty="0" smtClean="0"/>
                  <a:t>This </a:t>
                </a:r>
                <a:r>
                  <a:rPr lang="en-US" altLang="zh-TW" dirty="0"/>
                  <a:t>leads to an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optimal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bound </a:t>
                </a:r>
                <a:r>
                  <a:rPr lang="en-US" altLang="zh-TW" dirty="0"/>
                  <a:t>of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TW" b="0" i="0" smtClean="0">
                            <a:latin typeface="Cambria Math"/>
                          </a:rPr>
                          <m:t>log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latin typeface="Cambria Math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altLang="zh-TW" dirty="0" smtClean="0"/>
                  <a:t>) </a:t>
                </a:r>
                <a:r>
                  <a:rPr lang="en-US" altLang="zh-TW" dirty="0"/>
                  <a:t>for searching and </a:t>
                </a:r>
                <a:r>
                  <a:rPr lang="en-US" altLang="zh-TW" dirty="0" smtClean="0"/>
                  <a:t>updating a </a:t>
                </a:r>
                <a:r>
                  <a:rPr lang="en-US" altLang="zh-TW" dirty="0"/>
                  <a:t>dynamic set </a:t>
                </a:r>
                <a:r>
                  <a:rPr lang="en-US" altLang="zh-TW" i="1" dirty="0"/>
                  <a:t>X </a:t>
                </a:r>
                <a:r>
                  <a:rPr lang="en-US" altLang="zh-TW" dirty="0"/>
                  <a:t>of </a:t>
                </a:r>
                <a:r>
                  <a:rPr lang="en-US" altLang="zh-TW" i="1" dirty="0"/>
                  <a:t>n </a:t>
                </a:r>
                <a:r>
                  <a:rPr lang="en-US" altLang="zh-TW" dirty="0"/>
                  <a:t>integer keys in linear space. Searching </a:t>
                </a:r>
                <a:r>
                  <a:rPr lang="en-US" altLang="zh-TW" i="1" dirty="0"/>
                  <a:t>X </a:t>
                </a:r>
                <a:r>
                  <a:rPr lang="en-US" altLang="zh-TW" dirty="0"/>
                  <a:t>for an integer </a:t>
                </a:r>
                <a:r>
                  <a:rPr lang="en-US" altLang="zh-TW" i="1" dirty="0"/>
                  <a:t>y </a:t>
                </a:r>
                <a:r>
                  <a:rPr lang="en-US" altLang="zh-TW" dirty="0" smtClean="0"/>
                  <a:t>means finding </a:t>
                </a:r>
                <a:r>
                  <a:rPr lang="en-US" altLang="zh-TW" dirty="0"/>
                  <a:t>the maximum key in </a:t>
                </a:r>
                <a:r>
                  <a:rPr lang="en-US" altLang="zh-TW" i="1" dirty="0"/>
                  <a:t>X </a:t>
                </a:r>
                <a:r>
                  <a:rPr lang="en-US" altLang="zh-TW" dirty="0"/>
                  <a:t>which is smaller than or equal to </a:t>
                </a:r>
                <a:r>
                  <a:rPr lang="en-US" altLang="zh-TW" i="1" dirty="0"/>
                  <a:t>y</a:t>
                </a:r>
                <a:r>
                  <a:rPr lang="en-US" altLang="zh-TW" dirty="0"/>
                  <a:t>. This problem </a:t>
                </a:r>
                <a:r>
                  <a:rPr lang="en-US" altLang="zh-TW" dirty="0" smtClean="0"/>
                  <a:t>is equivalent </a:t>
                </a:r>
                <a:r>
                  <a:rPr lang="en-US" altLang="zh-TW" dirty="0"/>
                  <a:t>to the standard text book problem of maintaining an ordered </a:t>
                </a:r>
                <a:r>
                  <a:rPr lang="en-US" altLang="zh-TW" dirty="0" smtClean="0"/>
                  <a:t>set. </a:t>
                </a:r>
              </a:p>
              <a:p>
                <a:r>
                  <a:rPr lang="en-US" altLang="zh-TW" dirty="0" smtClean="0"/>
                  <a:t>The </a:t>
                </a:r>
                <a:r>
                  <a:rPr lang="en-US" altLang="zh-TW" dirty="0"/>
                  <a:t>best previous deterministic linear space bound was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(log </a:t>
                </a:r>
                <a:r>
                  <a:rPr lang="en-US" altLang="zh-TW" i="1" dirty="0"/>
                  <a:t>n/ </a:t>
                </a:r>
                <a:r>
                  <a:rPr lang="en-US" altLang="zh-TW" dirty="0"/>
                  <a:t>log </a:t>
                </a:r>
                <a:r>
                  <a:rPr lang="en-US" altLang="zh-TW" dirty="0" err="1"/>
                  <a:t>log</a:t>
                </a:r>
                <a:r>
                  <a:rPr lang="en-US" altLang="zh-TW" dirty="0"/>
                  <a:t>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due </a:t>
                </a:r>
                <a:r>
                  <a:rPr lang="en-US" altLang="zh-TW" dirty="0" smtClean="0"/>
                  <a:t>to </a:t>
                </a:r>
                <a:r>
                  <a:rPr lang="en-US" altLang="zh-TW" dirty="0" err="1" smtClean="0"/>
                  <a:t>Fredman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and Willard from STOC 1990. No better deterministic search bound </a:t>
                </a:r>
                <a:r>
                  <a:rPr lang="en-US" altLang="zh-TW" dirty="0" smtClean="0"/>
                  <a:t>was known </a:t>
                </a:r>
                <a:r>
                  <a:rPr lang="en-US" altLang="zh-TW" dirty="0"/>
                  <a:t>using polynomial space</a:t>
                </a:r>
                <a:r>
                  <a:rPr lang="en-US" altLang="zh-TW" dirty="0" smtClean="0"/>
                  <a:t>.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2291" r="-593" b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7689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We also get the following worst-case linear space trade-offs between the number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, the word length </a:t>
                </a:r>
                <a:r>
                  <a:rPr lang="en-US" altLang="zh-TW" i="1" dirty="0"/>
                  <a:t>W</a:t>
                </a:r>
                <a:r>
                  <a:rPr lang="en-US" altLang="zh-TW" dirty="0"/>
                  <a:t>, and the maximal key </a:t>
                </a:r>
                <a:r>
                  <a:rPr lang="en-US" altLang="zh-TW" i="1" dirty="0"/>
                  <a:t>U </a:t>
                </a:r>
                <a:r>
                  <a:rPr lang="en-US" altLang="zh-TW" dirty="0"/>
                  <a:t>&lt;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2</a:t>
                </a:r>
                <a:r>
                  <a:rPr lang="en-US" altLang="zh-TW" i="1" baseline="30000" dirty="0"/>
                  <a:t>W</a:t>
                </a:r>
                <a:r>
                  <a:rPr lang="en-US" altLang="zh-TW" dirty="0"/>
                  <a:t>: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(min{log </a:t>
                </a:r>
                <a:r>
                  <a:rPr lang="en-US" altLang="zh-TW" dirty="0" err="1"/>
                  <a:t>log</a:t>
                </a:r>
                <a:r>
                  <a:rPr lang="en-US" altLang="zh-TW" dirty="0"/>
                  <a:t> </a:t>
                </a:r>
                <a:r>
                  <a:rPr lang="en-US" altLang="zh-TW" i="1" dirty="0"/>
                  <a:t>n </a:t>
                </a:r>
                <a:r>
                  <a:rPr lang="en-US" altLang="zh-TW" dirty="0"/>
                  <a:t>+ log </a:t>
                </a:r>
                <a:r>
                  <a:rPr lang="en-US" altLang="zh-TW" i="1" dirty="0"/>
                  <a:t>n/ </a:t>
                </a:r>
                <a:r>
                  <a:rPr lang="en-US" altLang="zh-TW" dirty="0" err="1"/>
                  <a:t>log</a:t>
                </a:r>
                <a:r>
                  <a:rPr lang="en-US" altLang="zh-TW" i="1" dirty="0" err="1"/>
                  <a:t>W</a:t>
                </a:r>
                <a:r>
                  <a:rPr lang="en-US" altLang="zh-TW" i="1" dirty="0"/>
                  <a:t>, </a:t>
                </a:r>
                <a:r>
                  <a:rPr lang="en-US" altLang="zh-TW" dirty="0"/>
                  <a:t>log </a:t>
                </a:r>
                <a:r>
                  <a:rPr lang="en-US" altLang="zh-TW" dirty="0" err="1"/>
                  <a:t>log</a:t>
                </a:r>
                <a:r>
                  <a:rPr lang="en-US" altLang="zh-TW" dirty="0"/>
                  <a:t> </a:t>
                </a:r>
                <a:r>
                  <a:rPr lang="en-US" altLang="zh-TW" i="1" dirty="0"/>
                  <a:t>n 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 dirty="0"/>
                          <m:t>log</m:t>
                        </m:r>
                        <m:r>
                          <m:rPr>
                            <m:nor/>
                          </m:rPr>
                          <a:rPr lang="en-US" altLang="zh-TW" dirty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/>
                          <m:t>log</m:t>
                        </m:r>
                        <m:r>
                          <m:rPr>
                            <m:nor/>
                          </m:rPr>
                          <a:rPr lang="en-US" altLang="zh-TW" dirty="0"/>
                          <m:t> </m:t>
                        </m:r>
                        <m:r>
                          <m:rPr>
                            <m:nor/>
                          </m:rPr>
                          <a:rPr lang="en-US" altLang="zh-TW" i="1" dirty="0"/>
                          <m:t>U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 dirty="0"/>
                          <m:t>log</m:t>
                        </m:r>
                        <m:r>
                          <m:rPr>
                            <m:nor/>
                          </m:rPr>
                          <a:rPr lang="en-US" altLang="zh-TW" dirty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/>
                          <m:t>log</m:t>
                        </m:r>
                        <m:r>
                          <m:rPr>
                            <m:nor/>
                          </m:rPr>
                          <a:rPr lang="en-US" altLang="zh-TW" dirty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/>
                          <m:t>log</m:t>
                        </m:r>
                        <m:r>
                          <m:rPr>
                            <m:nor/>
                          </m:rPr>
                          <a:rPr lang="en-US" altLang="zh-TW" dirty="0"/>
                          <m:t> </m:t>
                        </m:r>
                        <m:r>
                          <m:rPr>
                            <m:nor/>
                          </m:rPr>
                          <a:rPr lang="en-US" altLang="zh-TW" i="1" dirty="0"/>
                          <m:t>U</m:t>
                        </m:r>
                      </m:den>
                    </m:f>
                  </m:oMath>
                </a14:m>
                <a:r>
                  <a:rPr lang="en-US" altLang="zh-TW" dirty="0"/>
                  <a:t>}). These trade-offs are, however, not likely to be optimal.</a:t>
                </a:r>
              </a:p>
              <a:p>
                <a:r>
                  <a:rPr lang="en-US" altLang="zh-TW" dirty="0"/>
                  <a:t>Our results are generalized to finger searching and string searching, providing optimal results for both in terms of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.</a:t>
                </a:r>
                <a:endParaRPr lang="zh-TW" altLang="en-US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40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389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/>
              <a:t> </a:t>
            </a:r>
            <a:r>
              <a:rPr lang="en-US" altLang="zh-TW" dirty="0" smtClean="0">
                <a:hlinkClick r:id="rId2"/>
              </a:rPr>
              <a:t>http://algo2.iti.kit.edu/2109.php</a:t>
            </a:r>
            <a:endParaRPr lang="en-US" altLang="zh-TW" dirty="0" smtClean="0"/>
          </a:p>
          <a:p>
            <a:r>
              <a:rPr lang="en-US" altLang="zh-TW" dirty="0" smtClean="0"/>
              <a:t>space efficient hash tables</a:t>
            </a:r>
          </a:p>
          <a:p>
            <a:r>
              <a:rPr lang="en-US" altLang="zh-TW" dirty="0" smtClean="0"/>
              <a:t>order maintenance problem</a:t>
            </a:r>
          </a:p>
          <a:p>
            <a:r>
              <a:rPr lang="en-US" altLang="zh-TW" dirty="0" smtClean="0"/>
              <a:t>skip lists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exponential search trees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orthogonal 2d range searching</a:t>
            </a:r>
          </a:p>
          <a:p>
            <a:r>
              <a:rPr lang="en-US" altLang="zh-TW" dirty="0" smtClean="0"/>
              <a:t>range successor queries</a:t>
            </a:r>
          </a:p>
          <a:p>
            <a:r>
              <a:rPr lang="en-US" altLang="zh-TW" dirty="0" smtClean="0"/>
              <a:t>range median queries</a:t>
            </a:r>
          </a:p>
          <a:p>
            <a:r>
              <a:rPr lang="en-US" altLang="zh-TW" dirty="0" smtClean="0"/>
              <a:t>range mode queries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/>
              <a:t>1st Symposium on Breakthroughs in Advanced Data Structures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2598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space efficient construction of </a:t>
            </a:r>
            <a:r>
              <a:rPr lang="en-US" altLang="zh-TW" dirty="0" smtClean="0">
                <a:solidFill>
                  <a:srgbClr val="FF0000"/>
                </a:solidFill>
              </a:rPr>
              <a:t>compressed suffix arrays</a:t>
            </a:r>
          </a:p>
          <a:p>
            <a:r>
              <a:rPr lang="en-US" altLang="zh-TW" dirty="0" smtClean="0"/>
              <a:t>dynamic succinct trees</a:t>
            </a:r>
          </a:p>
          <a:p>
            <a:r>
              <a:rPr lang="en-US" altLang="zh-TW" dirty="0"/>
              <a:t>practical solutions for </a:t>
            </a:r>
            <a:r>
              <a:rPr lang="en-US" altLang="zh-TW" dirty="0" smtClean="0"/>
              <a:t>rank/select</a:t>
            </a:r>
          </a:p>
          <a:p>
            <a:r>
              <a:rPr lang="en-US" altLang="zh-TW" dirty="0" smtClean="0"/>
              <a:t>alphabet partitioning for rank/select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persistent data </a:t>
            </a:r>
            <a:r>
              <a:rPr lang="en-US" altLang="zh-TW" dirty="0" smtClean="0">
                <a:solidFill>
                  <a:srgbClr val="FF0000"/>
                </a:solidFill>
              </a:rPr>
              <a:t>structures</a:t>
            </a:r>
          </a:p>
          <a:p>
            <a:r>
              <a:rPr lang="en-US" altLang="zh-TW" dirty="0"/>
              <a:t>dynamic graphs (dynamic connectivity</a:t>
            </a:r>
            <a:r>
              <a:rPr lang="en-US" altLang="zh-TW" dirty="0" smtClean="0"/>
              <a:t>)</a:t>
            </a:r>
          </a:p>
          <a:p>
            <a:r>
              <a:rPr lang="en-US" altLang="zh-TW" dirty="0"/>
              <a:t>link-cut </a:t>
            </a:r>
            <a:r>
              <a:rPr lang="en-US" altLang="zh-TW" dirty="0" smtClean="0"/>
              <a:t>trees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lowest common ancestors </a:t>
            </a:r>
            <a:r>
              <a:rPr lang="en-US" altLang="zh-TW" dirty="0" smtClean="0"/>
              <a:t>in directed acyclic graphs (DAGs)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645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Introduction</a:t>
            </a:r>
          </a:p>
          <a:p>
            <a:r>
              <a:rPr lang="en-US" altLang="zh-TW" dirty="0"/>
              <a:t>Amortized </a:t>
            </a:r>
            <a:r>
              <a:rPr lang="en-US" altLang="zh-TW" dirty="0" smtClean="0"/>
              <a:t>exponential search tree</a:t>
            </a:r>
            <a:endParaRPr lang="en-US" altLang="zh-TW" dirty="0"/>
          </a:p>
          <a:p>
            <a:r>
              <a:rPr lang="en-US" altLang="zh-TW" dirty="0" smtClean="0"/>
              <a:t>Worst case efficient </a:t>
            </a:r>
            <a:r>
              <a:rPr lang="en-US" altLang="zh-TW" dirty="0"/>
              <a:t>exponential search tree </a:t>
            </a:r>
            <a:endParaRPr lang="en-US" altLang="zh-TW" dirty="0" smtClean="0"/>
          </a:p>
          <a:p>
            <a:r>
              <a:rPr lang="en-US" altLang="zh-TW" dirty="0"/>
              <a:t>Static search structures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Finger Update</a:t>
            </a:r>
          </a:p>
          <a:p>
            <a:r>
              <a:rPr lang="en-US" altLang="zh-TW" dirty="0" smtClean="0"/>
              <a:t>Finger Search</a:t>
            </a:r>
          </a:p>
          <a:p>
            <a:r>
              <a:rPr lang="en-US" altLang="zh-TW" dirty="0" smtClean="0"/>
              <a:t>String Search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8363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Insert</a:t>
            </a:r>
            <a:r>
              <a:rPr lang="en-US" altLang="zh-TW" sz="2000" dirty="0"/>
              <a:t> (</a:t>
            </a:r>
            <a:r>
              <a:rPr lang="en-US" altLang="zh-TW" sz="2000" i="1" dirty="0"/>
              <a:t>X, x</a:t>
            </a:r>
            <a:r>
              <a:rPr lang="en-US" altLang="zh-TW" sz="2000" dirty="0"/>
              <a:t>) Add </a:t>
            </a:r>
            <a:r>
              <a:rPr lang="en-US" altLang="zh-TW" sz="2000" i="1" dirty="0"/>
              <a:t>x </a:t>
            </a:r>
            <a:r>
              <a:rPr lang="en-US" altLang="zh-TW" sz="2000" dirty="0"/>
              <a:t>to </a:t>
            </a:r>
            <a:r>
              <a:rPr lang="en-US" altLang="zh-TW" sz="2000" i="1" dirty="0"/>
              <a:t>X </a:t>
            </a:r>
            <a:r>
              <a:rPr lang="en-US" altLang="zh-TW" sz="2000" dirty="0"/>
              <a:t>where </a:t>
            </a:r>
            <a:r>
              <a:rPr lang="en-US" altLang="zh-TW" sz="2000" i="1" dirty="0"/>
              <a:t>x </a:t>
            </a:r>
            <a:r>
              <a:rPr lang="en-US" altLang="zh-TW" sz="2000" dirty="0"/>
              <a:t>is a pointer to a key.</a:t>
            </a:r>
          </a:p>
          <a:p>
            <a:r>
              <a:rPr lang="en-US" altLang="zh-TW" sz="2000" dirty="0">
                <a:solidFill>
                  <a:srgbClr val="FF0000"/>
                </a:solidFill>
              </a:rPr>
              <a:t>Delete</a:t>
            </a:r>
            <a:r>
              <a:rPr lang="en-US" altLang="zh-TW" sz="2000" dirty="0"/>
              <a:t> (</a:t>
            </a:r>
            <a:r>
              <a:rPr lang="en-US" altLang="zh-TW" sz="2000" i="1" dirty="0"/>
              <a:t>X, x</a:t>
            </a:r>
            <a:r>
              <a:rPr lang="en-US" altLang="zh-TW" sz="2000" dirty="0"/>
              <a:t>) Remove </a:t>
            </a:r>
            <a:r>
              <a:rPr lang="en-US" altLang="zh-TW" sz="2000" i="1" dirty="0"/>
              <a:t>x </a:t>
            </a:r>
            <a:r>
              <a:rPr lang="en-US" altLang="zh-TW" sz="2000" dirty="0"/>
              <a:t>from </a:t>
            </a:r>
            <a:r>
              <a:rPr lang="en-US" altLang="zh-TW" sz="2000" i="1" dirty="0"/>
              <a:t>X</a:t>
            </a:r>
            <a:r>
              <a:rPr lang="en-US" altLang="zh-TW" sz="2000" dirty="0"/>
              <a:t>, here </a:t>
            </a:r>
            <a:r>
              <a:rPr lang="en-US" altLang="zh-TW" sz="2000" i="1" dirty="0"/>
              <a:t>x </a:t>
            </a:r>
            <a:r>
              <a:rPr lang="en-US" altLang="zh-TW" sz="2000" dirty="0"/>
              <a:t>is a pointer to a key in </a:t>
            </a:r>
            <a:r>
              <a:rPr lang="en-US" altLang="zh-TW" sz="2000" i="1" dirty="0"/>
              <a:t>X</a:t>
            </a:r>
            <a:r>
              <a:rPr lang="en-US" altLang="zh-TW" sz="2000" dirty="0"/>
              <a:t>.</a:t>
            </a:r>
          </a:p>
          <a:p>
            <a:r>
              <a:rPr lang="en-US" altLang="zh-TW" sz="2000" dirty="0" smtClean="0">
                <a:solidFill>
                  <a:srgbClr val="FF0000"/>
                </a:solidFill>
              </a:rPr>
              <a:t>Lookup</a:t>
            </a:r>
            <a:r>
              <a:rPr lang="en-US" altLang="zh-TW" sz="2000" dirty="0" smtClean="0"/>
              <a:t>(</a:t>
            </a:r>
            <a:r>
              <a:rPr lang="en-US" altLang="zh-TW" sz="2000" i="1" dirty="0" smtClean="0"/>
              <a:t>X</a:t>
            </a:r>
            <a:r>
              <a:rPr lang="en-US" altLang="zh-TW" sz="2000" i="1" dirty="0"/>
              <a:t>, y</a:t>
            </a:r>
            <a:r>
              <a:rPr lang="en-US" altLang="zh-TW" sz="2000" dirty="0"/>
              <a:t>) Returns a pointer to a key in </a:t>
            </a:r>
            <a:r>
              <a:rPr lang="en-US" altLang="zh-TW" sz="2000" i="1" dirty="0"/>
              <a:t>X </a:t>
            </a:r>
            <a:r>
              <a:rPr lang="en-US" altLang="zh-TW" sz="2000" dirty="0"/>
              <a:t>with the same value as </a:t>
            </a:r>
            <a:r>
              <a:rPr lang="en-US" altLang="zh-TW" sz="2000" i="1" dirty="0"/>
              <a:t>y</a:t>
            </a:r>
            <a:r>
              <a:rPr lang="en-US" altLang="zh-TW" sz="2000" dirty="0"/>
              <a:t>, or return a </a:t>
            </a:r>
            <a:r>
              <a:rPr lang="en-US" altLang="zh-TW" sz="2000" dirty="0" smtClean="0"/>
              <a:t>null pointer </a:t>
            </a:r>
            <a:r>
              <a:rPr lang="en-US" altLang="zh-TW" sz="2000" dirty="0"/>
              <a:t>if there is no such key in </a:t>
            </a:r>
            <a:r>
              <a:rPr lang="en-US" altLang="zh-TW" sz="2000" i="1" dirty="0"/>
              <a:t>X</a:t>
            </a:r>
            <a:r>
              <a:rPr lang="en-US" altLang="zh-TW" sz="2000" dirty="0" smtClean="0"/>
              <a:t>.</a:t>
            </a:r>
          </a:p>
          <a:p>
            <a:r>
              <a:rPr lang="en-US" altLang="zh-TW" sz="2000" dirty="0" smtClean="0">
                <a:solidFill>
                  <a:srgbClr val="FF0000"/>
                </a:solidFill>
              </a:rPr>
              <a:t>Search</a:t>
            </a:r>
            <a:r>
              <a:rPr lang="en-US" altLang="zh-TW" sz="2000" dirty="0" smtClean="0"/>
              <a:t> </a:t>
            </a:r>
            <a:r>
              <a:rPr lang="en-US" altLang="zh-TW" sz="2000" dirty="0"/>
              <a:t>(</a:t>
            </a:r>
            <a:r>
              <a:rPr lang="en-US" altLang="zh-TW" sz="2000" i="1" dirty="0"/>
              <a:t>X, y</a:t>
            </a:r>
            <a:r>
              <a:rPr lang="en-US" altLang="zh-TW" sz="2000" dirty="0"/>
              <a:t>) Returns a pointer to the largest key in </a:t>
            </a:r>
            <a:r>
              <a:rPr lang="en-US" altLang="zh-TW" sz="2000" i="1" dirty="0"/>
              <a:t>X </a:t>
            </a:r>
            <a:r>
              <a:rPr lang="en-US" altLang="zh-TW" sz="2000" dirty="0"/>
              <a:t>which is smaller than or equal </a:t>
            </a:r>
            <a:r>
              <a:rPr lang="en-US" altLang="zh-TW" sz="2000" dirty="0" smtClean="0"/>
              <a:t>to </a:t>
            </a:r>
            <a:r>
              <a:rPr lang="en-US" altLang="zh-TW" sz="2000" i="1" dirty="0" smtClean="0"/>
              <a:t>y</a:t>
            </a:r>
            <a:r>
              <a:rPr lang="en-US" altLang="zh-TW" sz="2000" dirty="0"/>
              <a:t>, or null if </a:t>
            </a:r>
            <a:r>
              <a:rPr lang="en-US" altLang="zh-TW" sz="2000" i="1" dirty="0"/>
              <a:t>y </a:t>
            </a:r>
            <a:r>
              <a:rPr lang="en-US" altLang="zh-TW" sz="2000" dirty="0"/>
              <a:t>is smaller than any key in </a:t>
            </a:r>
            <a:r>
              <a:rPr lang="en-US" altLang="zh-TW" sz="2000" i="1" dirty="0"/>
              <a:t>X</a:t>
            </a:r>
            <a:r>
              <a:rPr lang="en-US" altLang="zh-TW" sz="2000" dirty="0"/>
              <a:t>.</a:t>
            </a:r>
          </a:p>
          <a:p>
            <a:r>
              <a:rPr lang="en-US" altLang="zh-TW" sz="2000" dirty="0">
                <a:solidFill>
                  <a:srgbClr val="FF0000"/>
                </a:solidFill>
              </a:rPr>
              <a:t>Predecessor/Successor</a:t>
            </a:r>
            <a:r>
              <a:rPr lang="en-US" altLang="zh-TW" sz="2000" dirty="0"/>
              <a:t> (</a:t>
            </a:r>
            <a:r>
              <a:rPr lang="en-US" altLang="zh-TW" sz="2000" i="1" dirty="0"/>
              <a:t>X, x</a:t>
            </a:r>
            <a:r>
              <a:rPr lang="en-US" altLang="zh-TW" sz="2000" dirty="0"/>
              <a:t>) Given that </a:t>
            </a:r>
            <a:r>
              <a:rPr lang="en-US" altLang="zh-TW" sz="2000" i="1" dirty="0"/>
              <a:t>x </a:t>
            </a:r>
            <a:r>
              <a:rPr lang="en-US" altLang="zh-TW" sz="2000" dirty="0"/>
              <a:t>points at a key in </a:t>
            </a:r>
            <a:r>
              <a:rPr lang="en-US" altLang="zh-TW" sz="2000" i="1" dirty="0"/>
              <a:t>X</a:t>
            </a:r>
            <a:r>
              <a:rPr lang="en-US" altLang="zh-TW" sz="2000" dirty="0"/>
              <a:t>, return a pointer to </a:t>
            </a:r>
            <a:r>
              <a:rPr lang="en-US" altLang="zh-TW" sz="2000" dirty="0" smtClean="0"/>
              <a:t>the next </a:t>
            </a:r>
            <a:r>
              <a:rPr lang="en-US" altLang="zh-TW" sz="2000" dirty="0"/>
              <a:t>smaller/larger key in </a:t>
            </a:r>
            <a:r>
              <a:rPr lang="en-US" altLang="zh-TW" sz="2000" i="1" dirty="0"/>
              <a:t>X </a:t>
            </a:r>
            <a:r>
              <a:rPr lang="en-US" altLang="zh-TW" sz="2000" dirty="0"/>
              <a:t>(or a null pointer if no such key exists).</a:t>
            </a:r>
          </a:p>
          <a:p>
            <a:r>
              <a:rPr lang="en-US" altLang="zh-TW" sz="2000" dirty="0">
                <a:solidFill>
                  <a:srgbClr val="FF0000"/>
                </a:solidFill>
              </a:rPr>
              <a:t>Minimum/Maximum</a:t>
            </a:r>
            <a:r>
              <a:rPr lang="en-US" altLang="zh-TW" sz="2000" dirty="0"/>
              <a:t> (</a:t>
            </a:r>
            <a:r>
              <a:rPr lang="en-US" altLang="zh-TW" sz="2000" i="1" dirty="0"/>
              <a:t>X</a:t>
            </a:r>
            <a:r>
              <a:rPr lang="en-US" altLang="zh-TW" sz="2000" dirty="0"/>
              <a:t>) Return a pointer to the smallest/largest key in </a:t>
            </a:r>
            <a:r>
              <a:rPr lang="en-US" altLang="zh-TW" sz="2000" i="1" dirty="0"/>
              <a:t>X </a:t>
            </a:r>
            <a:r>
              <a:rPr lang="en-US" altLang="zh-TW" sz="2000" dirty="0"/>
              <a:t>(or a </a:t>
            </a:r>
            <a:r>
              <a:rPr lang="en-US" altLang="zh-TW" sz="2000" dirty="0" smtClean="0"/>
              <a:t>null pointer </a:t>
            </a:r>
            <a:r>
              <a:rPr lang="en-US" altLang="zh-TW" sz="2000" dirty="0"/>
              <a:t>if </a:t>
            </a:r>
            <a:r>
              <a:rPr lang="en-US" altLang="zh-TW" sz="2000" i="1" dirty="0"/>
              <a:t>X </a:t>
            </a:r>
            <a:r>
              <a:rPr lang="en-US" altLang="zh-TW" sz="2000" dirty="0"/>
              <a:t>is empty</a:t>
            </a:r>
            <a:r>
              <a:rPr lang="en-US" altLang="zh-TW" sz="2000" dirty="0" smtClean="0"/>
              <a:t>).</a:t>
            </a:r>
          </a:p>
          <a:p>
            <a:r>
              <a:rPr lang="en-US" altLang="zh-TW" sz="2000" dirty="0"/>
              <a:t>For keys that can </a:t>
            </a:r>
            <a:r>
              <a:rPr lang="en-US" altLang="zh-TW" sz="2000" dirty="0">
                <a:solidFill>
                  <a:srgbClr val="FF0000"/>
                </a:solidFill>
              </a:rPr>
              <a:t>only be accessed via comparisons</a:t>
            </a:r>
            <a:r>
              <a:rPr lang="en-US" altLang="zh-TW" sz="2000" dirty="0"/>
              <a:t>, all of the above operations can </a:t>
            </a:r>
            <a:r>
              <a:rPr lang="en-US" altLang="zh-TW" sz="2000" dirty="0" smtClean="0"/>
              <a:t>be supported </a:t>
            </a:r>
            <a:r>
              <a:rPr lang="en-US" altLang="zh-TW" sz="2000" dirty="0"/>
              <a:t>in </a:t>
            </a:r>
            <a:r>
              <a:rPr lang="en-US" altLang="zh-TW" sz="2000" i="1" dirty="0">
                <a:solidFill>
                  <a:srgbClr val="FF0000"/>
                </a:solidFill>
              </a:rPr>
              <a:t>O</a:t>
            </a:r>
            <a:r>
              <a:rPr lang="en-US" altLang="zh-TW" sz="2000" dirty="0">
                <a:solidFill>
                  <a:srgbClr val="FF0000"/>
                </a:solidFill>
              </a:rPr>
              <a:t>(log </a:t>
            </a:r>
            <a:r>
              <a:rPr lang="en-US" altLang="zh-TW" sz="2000" i="1" dirty="0">
                <a:solidFill>
                  <a:srgbClr val="FF0000"/>
                </a:solidFill>
              </a:rPr>
              <a:t>n</a:t>
            </a:r>
            <a:r>
              <a:rPr lang="en-US" altLang="zh-TW" sz="2000" dirty="0">
                <a:solidFill>
                  <a:srgbClr val="FF0000"/>
                </a:solidFill>
              </a:rPr>
              <a:t>) </a:t>
            </a:r>
            <a:r>
              <a:rPr lang="en-US" altLang="zh-TW" sz="2000" dirty="0" smtClean="0">
                <a:solidFill>
                  <a:srgbClr val="FF0000"/>
                </a:solidFill>
              </a:rPr>
              <a:t>time, </a:t>
            </a:r>
            <a:r>
              <a:rPr lang="en-US" altLang="zh-TW" sz="2000" dirty="0">
                <a:solidFill>
                  <a:srgbClr val="FF0000"/>
                </a:solidFill>
              </a:rPr>
              <a:t>which is best possible</a:t>
            </a:r>
            <a:r>
              <a:rPr lang="en-US" altLang="zh-TW" sz="2000" dirty="0"/>
              <a:t>.</a:t>
            </a:r>
            <a:endParaRPr lang="zh-TW" altLang="en-US" sz="20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Basic Operations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1693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By </a:t>
            </a:r>
            <a:r>
              <a:rPr lang="en-US" altLang="zh-TW" i="1" dirty="0"/>
              <a:t>finger search </a:t>
            </a:r>
            <a:r>
              <a:rPr lang="en-US" altLang="zh-TW" dirty="0"/>
              <a:t>we mean that we can have a “finger” pointing at a stored key </a:t>
            </a:r>
            <a:r>
              <a:rPr lang="en-US" altLang="zh-TW" i="1" dirty="0"/>
              <a:t>x </a:t>
            </a:r>
            <a:r>
              <a:rPr lang="en-US" altLang="zh-TW" dirty="0" smtClean="0"/>
              <a:t>when searching </a:t>
            </a:r>
            <a:r>
              <a:rPr lang="en-US" altLang="zh-TW" dirty="0"/>
              <a:t>for a key </a:t>
            </a:r>
            <a:r>
              <a:rPr lang="en-US" altLang="zh-TW" i="1" dirty="0"/>
              <a:t>y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Here </a:t>
            </a:r>
            <a:r>
              <a:rPr lang="en-US" altLang="zh-TW" dirty="0"/>
              <a:t>a finger is just a reference returned to the user when </a:t>
            </a:r>
            <a:r>
              <a:rPr lang="en-US" altLang="zh-TW" i="1" dirty="0"/>
              <a:t>x </a:t>
            </a:r>
            <a:r>
              <a:rPr lang="en-US" altLang="zh-TW" dirty="0"/>
              <a:t>is </a:t>
            </a:r>
            <a:r>
              <a:rPr lang="en-US" altLang="zh-TW" dirty="0" smtClean="0"/>
              <a:t>inserted or </a:t>
            </a:r>
            <a:r>
              <a:rPr lang="en-US" altLang="zh-TW" dirty="0"/>
              <a:t>searched for.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goal is to do better if the number </a:t>
            </a:r>
            <a:r>
              <a:rPr lang="en-US" altLang="zh-TW" i="1" dirty="0"/>
              <a:t>q </a:t>
            </a:r>
            <a:r>
              <a:rPr lang="en-US" altLang="zh-TW" dirty="0"/>
              <a:t>of stored keys between </a:t>
            </a:r>
            <a:r>
              <a:rPr lang="en-US" altLang="zh-TW" i="1" dirty="0"/>
              <a:t>x </a:t>
            </a:r>
            <a:r>
              <a:rPr lang="en-US" altLang="zh-TW" dirty="0"/>
              <a:t>and </a:t>
            </a:r>
            <a:r>
              <a:rPr lang="en-US" altLang="zh-TW" i="1" dirty="0"/>
              <a:t>y </a:t>
            </a:r>
            <a:r>
              <a:rPr lang="en-US" altLang="zh-TW" dirty="0" smtClean="0"/>
              <a:t>is small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Finger Search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9165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 smtClean="0"/>
                  <a:t>For a finger insertion, we are given a finger to the key after which </a:t>
                </a:r>
                <a:r>
                  <a:rPr lang="en-US" altLang="zh-TW" dirty="0"/>
                  <a:t>the new key is to be inserted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The finger delete is </a:t>
                </a:r>
                <a:r>
                  <a:rPr lang="en-US" altLang="zh-TW" dirty="0" smtClean="0"/>
                  <a:t>just a </a:t>
                </a:r>
                <a:r>
                  <a:rPr lang="en-US" altLang="zh-TW" dirty="0"/>
                  <a:t>regular delete as defined above, i.e. we are given a pointer to the key to be deleted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In the comparison-based model of computation Dietz and Raman </a:t>
                </a:r>
                <a:r>
                  <a:rPr lang="en-US" altLang="zh-TW" dirty="0" smtClean="0"/>
                  <a:t>have provided optimal </a:t>
                </a:r>
                <a:r>
                  <a:rPr lang="en-US" altLang="zh-TW" dirty="0"/>
                  <a:t>bounds, supporting finger searches in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(log </a:t>
                </a:r>
                <a:r>
                  <a:rPr lang="en-US" altLang="zh-TW" i="1" dirty="0"/>
                  <a:t>q</a:t>
                </a:r>
                <a:r>
                  <a:rPr lang="en-US" altLang="zh-TW" dirty="0"/>
                  <a:t>) time while supporting finger </a:t>
                </a:r>
                <a:r>
                  <a:rPr lang="en-US" altLang="zh-TW" dirty="0" smtClean="0"/>
                  <a:t>updates in </a:t>
                </a:r>
                <a:r>
                  <a:rPr lang="en-US" altLang="zh-TW" dirty="0"/>
                  <a:t>constant time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In this paper we present optimal bounds on the RAM; namely </a:t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>O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log</m:t>
                        </m:r>
                        <m: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q</m:t>
                        </m:r>
                        <m: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q</m:t>
                        </m:r>
                      </m:e>
                    </m:rad>
                  </m:oMath>
                </a14:m>
                <a:r>
                  <a:rPr lang="pt-BR" altLang="zh-TW" dirty="0">
                    <a:solidFill>
                      <a:schemeClr val="tx1"/>
                    </a:solidFill>
                  </a:rPr>
                  <a:t>) </a:t>
                </a:r>
                <a:r>
                  <a:rPr lang="en-US" altLang="zh-TW" dirty="0" smtClean="0"/>
                  <a:t>for finger </a:t>
                </a:r>
                <a:r>
                  <a:rPr lang="en-US" altLang="zh-TW" dirty="0"/>
                  <a:t>search with constant time finger updates.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617" r="-2222" b="-14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Finger Update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2777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/>
                  <a:t>Beame and </a:t>
                </a:r>
                <a:r>
                  <a:rPr lang="en-US" altLang="zh-TW" dirty="0" err="1"/>
                  <a:t>Fich</a:t>
                </a:r>
                <a:r>
                  <a:rPr lang="en-US" altLang="zh-TW" dirty="0"/>
                  <a:t> shows that even if we just want to support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insert and predecessor </a:t>
                </a:r>
                <a:r>
                  <a:rPr lang="en-US" altLang="zh-TW" dirty="0"/>
                  <a:t>operations in polynomial space, one of these two operations have a worst-case bound of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log</m:t>
                        </m:r>
                        <m:r>
                          <a:rPr lang="en-US" altLang="zh-TW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/>
                          </a:rPr>
                          <m:t>n</m:t>
                        </m:r>
                        <m:r>
                          <a:rPr lang="en-US" altLang="zh-TW">
                            <a:latin typeface="Cambria Math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/>
                          </a:rPr>
                          <m:t>n</m:t>
                        </m:r>
                      </m:e>
                    </m:rad>
                  </m:oMath>
                </a14:m>
                <a:r>
                  <a:rPr lang="pt-BR" altLang="zh-TW" dirty="0" smtClean="0"/>
                  <a:t>).</a:t>
                </a:r>
                <a:endParaRPr lang="en-US" altLang="zh-TW" dirty="0" smtClean="0"/>
              </a:p>
              <a:p>
                <a:r>
                  <a:rPr lang="en-US" altLang="zh-TW" dirty="0" smtClean="0"/>
                  <a:t>Our main result is that we can support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all the above operations in </a:t>
                </a:r>
                <a:r>
                  <a:rPr lang="en-US" altLang="zh-TW" i="1" dirty="0" smtClean="0">
                    <a:solidFill>
                      <a:srgbClr val="FF0000"/>
                    </a:solidFill>
                  </a:rPr>
                  <a:t>O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log</m:t>
                        </m:r>
                        <m:r>
                          <a:rPr lang="en-US" altLang="zh-TW" b="0" i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i="0">
                            <a:solidFill>
                              <a:srgbClr val="FF0000"/>
                            </a:solidFill>
                            <a:latin typeface="Cambria Math"/>
                          </a:rPr>
                          <m:t>n</m:t>
                        </m:r>
                        <m:r>
                          <a:rPr lang="en-US" altLang="zh-TW" i="0">
                            <a:solidFill>
                              <a:srgbClr val="FF0000"/>
                            </a:solidFill>
                            <a:latin typeface="Cambria Math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log</m:t>
                        </m:r>
                        <m:r>
                          <m:rPr>
                            <m:sty m:val="p"/>
                          </m:rPr>
                          <a:rPr lang="en-US" altLang="zh-TW" i="0">
                            <a:solidFill>
                              <a:srgbClr val="FF0000"/>
                            </a:solidFill>
                            <a:latin typeface="Cambria Math"/>
                          </a:rPr>
                          <m:t>n</m:t>
                        </m:r>
                      </m:e>
                    </m:rad>
                  </m:oMath>
                </a14:m>
                <a:r>
                  <a:rPr lang="pt-BR" altLang="zh-TW" dirty="0" smtClean="0">
                    <a:solidFill>
                      <a:srgbClr val="FF0000"/>
                    </a:solidFill>
                  </a:rPr>
                  <a:t>)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worst-case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time</a:t>
                </a:r>
                <a:r>
                  <a:rPr lang="en-US" altLang="zh-TW" dirty="0"/>
                  <a:t>, and this common bound is best possible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 smtClean="0"/>
                  <a:t>Indeed</a:t>
                </a:r>
                <a:r>
                  <a:rPr lang="en-US" altLang="zh-TW" dirty="0"/>
                  <a:t>, we will support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min, max, predecessor, successor, and delete </a:t>
                </a:r>
                <a:r>
                  <a:rPr lang="en-US" altLang="zh-TW" dirty="0" smtClean="0"/>
                  <a:t>operations in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constant time</a:t>
                </a:r>
                <a:r>
                  <a:rPr lang="en-US" altLang="zh-TW" dirty="0"/>
                  <a:t>, and only do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insert and search </a:t>
                </a:r>
                <a:r>
                  <a:rPr lang="en-US" altLang="zh-TW" dirty="0"/>
                  <a:t>in </a:t>
                </a:r>
                <a:r>
                  <a:rPr lang="el-GR" altLang="zh-TW" i="1" dirty="0" smtClean="0">
                    <a:solidFill>
                      <a:srgbClr val="FF0000"/>
                    </a:solidFill>
                  </a:rPr>
                  <a:t>Θ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log</m:t>
                        </m:r>
                        <m: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n</m:t>
                        </m:r>
                        <m: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>
                            <a:solidFill>
                              <a:srgbClr val="FF0000"/>
                            </a:solidFill>
                            <a:latin typeface="Cambria Math"/>
                          </a:rPr>
                          <m:t>n</m:t>
                        </m:r>
                      </m:e>
                    </m:rad>
                  </m:oMath>
                </a14:m>
                <a:r>
                  <a:rPr lang="pt-BR" altLang="zh-TW" dirty="0" smtClean="0">
                    <a:solidFill>
                      <a:srgbClr val="FF0000"/>
                    </a:solidFill>
                  </a:rPr>
                  <a:t>) time</a:t>
                </a:r>
                <a:r>
                  <a:rPr lang="pt-BR" altLang="zh-TW" dirty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617" r="-3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Optimality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62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An exponential search tree on 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 keys is a search tree data </a:t>
                </a:r>
                <a:r>
                  <a:rPr lang="en-US" altLang="zh-TW" dirty="0"/>
                  <a:t>structure where the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root has </a:t>
                </a:r>
                <a:r>
                  <a:rPr lang="el-GR" altLang="zh-TW" i="1" dirty="0">
                    <a:solidFill>
                      <a:srgbClr val="FF0000"/>
                    </a:solidFill>
                  </a:rPr>
                  <a:t>Θ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en-US" altLang="zh-TW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TW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𝑐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TW" dirty="0" smtClean="0">
                    <a:solidFill>
                      <a:srgbClr val="FF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children</a:t>
                </a:r>
                <a:r>
                  <a:rPr lang="en-US" altLang="zh-TW" dirty="0"/>
                  <a:t>, for a constant </a:t>
                </a:r>
                <a:r>
                  <a:rPr lang="en-US" altLang="zh-TW" i="1" dirty="0"/>
                  <a:t>c</a:t>
                </a:r>
                <a:r>
                  <a:rPr lang="en-US" altLang="zh-TW" dirty="0"/>
                  <a:t> &gt; 1, and each child </a:t>
                </a:r>
                <a:r>
                  <a:rPr lang="en-US" altLang="zh-TW" dirty="0" err="1" smtClean="0"/>
                  <a:t>subtree</a:t>
                </a:r>
                <a:r>
                  <a:rPr lang="en-US" altLang="zh-TW" dirty="0" smtClean="0"/>
                  <a:t> is </a:t>
                </a:r>
                <a:r>
                  <a:rPr lang="en-US" altLang="zh-TW" dirty="0"/>
                  <a:t>an exponential search tree on </a:t>
                </a:r>
                <a:r>
                  <a:rPr lang="el-GR" altLang="zh-TW" i="1" dirty="0" smtClean="0">
                    <a:solidFill>
                      <a:srgbClr val="FF0000"/>
                    </a:solidFill>
                  </a:rPr>
                  <a:t>Θ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altLang="zh-TW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1−</m:t>
                        </m:r>
                        <m:f>
                          <m:f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𝑐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TW" dirty="0" smtClean="0">
                    <a:solidFill>
                      <a:srgbClr val="FF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keys</a:t>
                </a:r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1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Exponential Search Tree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991688"/>
            <a:ext cx="8136859" cy="2866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9683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actual data is stored at the leaves. </a:t>
            </a:r>
            <a:endParaRPr lang="en-US" altLang="zh-TW" dirty="0" smtClean="0"/>
          </a:p>
          <a:p>
            <a:r>
              <a:rPr lang="en-US" altLang="zh-TW" dirty="0" smtClean="0"/>
              <a:t>Internal nodes </a:t>
            </a:r>
            <a:r>
              <a:rPr lang="en-US" altLang="zh-TW" dirty="0"/>
              <a:t>store </a:t>
            </a:r>
            <a:r>
              <a:rPr lang="en-US" altLang="zh-TW" dirty="0" smtClean="0">
                <a:solidFill>
                  <a:srgbClr val="FF0000"/>
                </a:solidFill>
              </a:rPr>
              <a:t>splitters</a:t>
            </a:r>
            <a:r>
              <a:rPr lang="en-US" altLang="zh-TW" dirty="0" smtClean="0"/>
              <a:t> </a:t>
            </a:r>
            <a:r>
              <a:rPr lang="en-US" altLang="zh-TW" dirty="0"/>
              <a:t>for each child that is less than or equal to all nodes in the child </a:t>
            </a:r>
            <a:r>
              <a:rPr lang="en-US" altLang="zh-TW" dirty="0" err="1"/>
              <a:t>subtree</a:t>
            </a:r>
            <a:r>
              <a:rPr lang="en-US" altLang="zh-TW" dirty="0"/>
              <a:t>, and greater </a:t>
            </a:r>
            <a:r>
              <a:rPr lang="en-US" altLang="zh-TW" dirty="0" smtClean="0"/>
              <a:t>than all </a:t>
            </a:r>
            <a:r>
              <a:rPr lang="en-US" altLang="zh-TW" dirty="0"/>
              <a:t>nodes in its left sibling </a:t>
            </a:r>
            <a:r>
              <a:rPr lang="en-US" altLang="zh-TW" dirty="0" err="1"/>
              <a:t>subtree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/>
              <a:t>We require that the splitter of </a:t>
            </a:r>
            <a:r>
              <a:rPr lang="en-US" altLang="zh-TW" dirty="0" smtClean="0"/>
              <a:t>an internal </a:t>
            </a:r>
            <a:r>
              <a:rPr lang="en-US" altLang="zh-TW" dirty="0"/>
              <a:t>node equals the splitter of its leftmost child.</a:t>
            </a:r>
            <a:endParaRPr lang="en-US" altLang="zh-TW" dirty="0" smtClean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Exponential Search Tree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090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/>
              <a:t>k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</a:t>
            </a:r>
            <a:r>
              <a:rPr lang="en-US" altLang="zh-TW" i="1" dirty="0"/>
              <a:t> </a:t>
            </a:r>
            <a:r>
              <a:rPr lang="en-US" altLang="zh-TW" i="1" dirty="0" smtClean="0"/>
              <a:t>k</a:t>
            </a:r>
            <a:r>
              <a:rPr lang="en-US" altLang="zh-TW" baseline="-25000" dirty="0"/>
              <a:t>2</a:t>
            </a:r>
            <a:r>
              <a:rPr lang="en-US" altLang="zh-TW" baseline="-25000" dirty="0" smtClean="0"/>
              <a:t>, …,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16</a:t>
            </a:r>
            <a:r>
              <a:rPr lang="zh-TW" altLang="en-US" dirty="0" smtClean="0"/>
              <a:t>，</a:t>
            </a:r>
            <a:r>
              <a:rPr lang="en-US" altLang="zh-TW" dirty="0" smtClean="0"/>
              <a:t>from small to large</a:t>
            </a:r>
            <a:r>
              <a:rPr lang="zh-TW" altLang="en-US" dirty="0" smtClean="0"/>
              <a:t>，</a:t>
            </a:r>
            <a:r>
              <a:rPr lang="en-US" altLang="zh-TW" dirty="0" smtClean="0"/>
              <a:t>c=2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2555776" y="2308230"/>
            <a:ext cx="34904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5,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9,</a:t>
            </a:r>
            <a:r>
              <a:rPr lang="en-US" altLang="zh-TW" dirty="0" smtClean="0"/>
              <a:t>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13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755576" y="3209390"/>
            <a:ext cx="14401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3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2556560" y="3209390"/>
            <a:ext cx="14401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/>
              <a:t>5</a:t>
            </a:r>
            <a:r>
              <a:rPr lang="en-US" altLang="zh-TW" baseline="-25000" dirty="0" smtClean="0"/>
              <a:t>, </a:t>
            </a:r>
            <a:r>
              <a:rPr lang="en-US" altLang="zh-TW" i="1" dirty="0" smtClean="0"/>
              <a:t>k</a:t>
            </a:r>
            <a:r>
              <a:rPr lang="en-US" altLang="zh-TW" baseline="-25000" dirty="0"/>
              <a:t>7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4617576" y="3209390"/>
            <a:ext cx="14401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/>
              <a:t>9</a:t>
            </a:r>
            <a:r>
              <a:rPr lang="en-US" altLang="zh-TW" baseline="-25000" dirty="0" smtClean="0"/>
              <a:t>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11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6606400" y="3209390"/>
            <a:ext cx="14401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13,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15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35496" y="4090144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39552" y="4090144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2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1115616" y="4090144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3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1691680" y="4090144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4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2195736" y="4097754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5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2771800" y="4097754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6</a:t>
            </a:r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3275856" y="4097754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7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3779912" y="4097754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8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4283968" y="4090868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9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4788024" y="4090868"/>
            <a:ext cx="560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10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5436096" y="4090868"/>
            <a:ext cx="5892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11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6084168" y="4090868"/>
            <a:ext cx="5181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12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6660232" y="4098478"/>
            <a:ext cx="5676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13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7308304" y="4098478"/>
            <a:ext cx="560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14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7943160" y="4098478"/>
            <a:ext cx="5892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15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8577992" y="4098478"/>
            <a:ext cx="56600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16</a:t>
            </a:r>
            <a:endParaRPr lang="zh-TW" altLang="en-US" dirty="0"/>
          </a:p>
        </p:txBody>
      </p:sp>
      <p:cxnSp>
        <p:nvCxnSpPr>
          <p:cNvPr id="27" name="直線單箭頭接點 26"/>
          <p:cNvCxnSpPr>
            <a:endCxn id="6" idx="0"/>
          </p:cNvCxnSpPr>
          <p:nvPr/>
        </p:nvCxnSpPr>
        <p:spPr>
          <a:xfrm flipH="1">
            <a:off x="1475656" y="2677562"/>
            <a:ext cx="1174824" cy="531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endCxn id="7" idx="0"/>
          </p:cNvCxnSpPr>
          <p:nvPr/>
        </p:nvCxnSpPr>
        <p:spPr>
          <a:xfrm>
            <a:off x="3276640" y="2677562"/>
            <a:ext cx="0" cy="531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endCxn id="8" idx="0"/>
          </p:cNvCxnSpPr>
          <p:nvPr/>
        </p:nvCxnSpPr>
        <p:spPr>
          <a:xfrm>
            <a:off x="5148064" y="2677562"/>
            <a:ext cx="189592" cy="531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5940152" y="2677562"/>
            <a:ext cx="1287760" cy="531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endCxn id="10" idx="0"/>
          </p:cNvCxnSpPr>
          <p:nvPr/>
        </p:nvCxnSpPr>
        <p:spPr>
          <a:xfrm flipH="1">
            <a:off x="262868" y="3578722"/>
            <a:ext cx="636724" cy="5114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endCxn id="11" idx="0"/>
          </p:cNvCxnSpPr>
          <p:nvPr/>
        </p:nvCxnSpPr>
        <p:spPr>
          <a:xfrm flipH="1">
            <a:off x="766924" y="3578722"/>
            <a:ext cx="576064" cy="5114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endCxn id="12" idx="0"/>
          </p:cNvCxnSpPr>
          <p:nvPr/>
        </p:nvCxnSpPr>
        <p:spPr>
          <a:xfrm flipH="1">
            <a:off x="1342988" y="3578722"/>
            <a:ext cx="348692" cy="5114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endCxn id="13" idx="0"/>
          </p:cNvCxnSpPr>
          <p:nvPr/>
        </p:nvCxnSpPr>
        <p:spPr>
          <a:xfrm flipH="1">
            <a:off x="1919052" y="3578722"/>
            <a:ext cx="60660" cy="5114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endCxn id="14" idx="0"/>
          </p:cNvCxnSpPr>
          <p:nvPr/>
        </p:nvCxnSpPr>
        <p:spPr>
          <a:xfrm flipH="1">
            <a:off x="2423108" y="3578722"/>
            <a:ext cx="227372" cy="519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endCxn id="15" idx="0"/>
          </p:cNvCxnSpPr>
          <p:nvPr/>
        </p:nvCxnSpPr>
        <p:spPr>
          <a:xfrm>
            <a:off x="2999172" y="3578722"/>
            <a:ext cx="0" cy="519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endCxn id="16" idx="0"/>
          </p:cNvCxnSpPr>
          <p:nvPr/>
        </p:nvCxnSpPr>
        <p:spPr>
          <a:xfrm>
            <a:off x="3503228" y="3578722"/>
            <a:ext cx="0" cy="519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endCxn id="17" idx="0"/>
          </p:cNvCxnSpPr>
          <p:nvPr/>
        </p:nvCxnSpPr>
        <p:spPr>
          <a:xfrm>
            <a:off x="3779912" y="3578722"/>
            <a:ext cx="227372" cy="519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endCxn id="18" idx="0"/>
          </p:cNvCxnSpPr>
          <p:nvPr/>
        </p:nvCxnSpPr>
        <p:spPr>
          <a:xfrm flipH="1">
            <a:off x="4511340" y="3578722"/>
            <a:ext cx="276684" cy="5121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endCxn id="19" idx="0"/>
          </p:cNvCxnSpPr>
          <p:nvPr/>
        </p:nvCxnSpPr>
        <p:spPr>
          <a:xfrm flipH="1">
            <a:off x="5068064" y="3578722"/>
            <a:ext cx="80000" cy="5121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>
            <a:off x="5652120" y="3578722"/>
            <a:ext cx="0" cy="5114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endCxn id="21" idx="0"/>
          </p:cNvCxnSpPr>
          <p:nvPr/>
        </p:nvCxnSpPr>
        <p:spPr>
          <a:xfrm>
            <a:off x="6025376" y="3578722"/>
            <a:ext cx="317878" cy="5121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6804248" y="3578722"/>
            <a:ext cx="0" cy="519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>
            <a:stCxn id="9" idx="2"/>
            <a:endCxn id="23" idx="0"/>
          </p:cNvCxnSpPr>
          <p:nvPr/>
        </p:nvCxnSpPr>
        <p:spPr>
          <a:xfrm>
            <a:off x="7326480" y="3578722"/>
            <a:ext cx="261864" cy="5197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>
            <a:endCxn id="24" idx="0"/>
          </p:cNvCxnSpPr>
          <p:nvPr/>
        </p:nvCxnSpPr>
        <p:spPr>
          <a:xfrm>
            <a:off x="7668344" y="3578722"/>
            <a:ext cx="569456" cy="5197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>
            <a:endCxn id="25" idx="0"/>
          </p:cNvCxnSpPr>
          <p:nvPr/>
        </p:nvCxnSpPr>
        <p:spPr>
          <a:xfrm>
            <a:off x="7943160" y="3578722"/>
            <a:ext cx="917836" cy="5197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443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/>
              <a:t>k</a:t>
            </a:r>
            <a:r>
              <a:rPr lang="en-US" altLang="zh-TW" baseline="-25000" dirty="0"/>
              <a:t>1</a:t>
            </a:r>
            <a:r>
              <a:rPr lang="en-US" altLang="zh-TW" dirty="0"/>
              <a:t>,</a:t>
            </a:r>
            <a:r>
              <a:rPr lang="en-US" altLang="zh-TW" i="1" dirty="0"/>
              <a:t> k</a:t>
            </a:r>
            <a:r>
              <a:rPr lang="en-US" altLang="zh-TW" baseline="-25000" dirty="0"/>
              <a:t>2, …,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512</a:t>
            </a:r>
            <a:r>
              <a:rPr lang="zh-TW" altLang="en-US" dirty="0" smtClean="0"/>
              <a:t>，</a:t>
            </a:r>
            <a:r>
              <a:rPr lang="en-US" altLang="zh-TW" dirty="0" smtClean="0"/>
              <a:t>c=3</a:t>
            </a:r>
            <a:r>
              <a:rPr lang="zh-TW" altLang="en-US" dirty="0" smtClean="0"/>
              <a:t>，</a:t>
            </a:r>
            <a:r>
              <a:rPr lang="en-US" altLang="zh-TW" dirty="0"/>
              <a:t> </a:t>
            </a:r>
            <a:r>
              <a:rPr lang="en-US" altLang="zh-TW" dirty="0" smtClean="0"/>
              <a:t>512=2</a:t>
            </a:r>
            <a:r>
              <a:rPr lang="en-US" altLang="zh-TW" baseline="30000" dirty="0" smtClean="0"/>
              <a:t>9</a:t>
            </a:r>
            <a:r>
              <a:rPr lang="zh-TW" altLang="en-US" dirty="0"/>
              <a:t> </a:t>
            </a:r>
            <a:r>
              <a:rPr lang="en-US" altLang="zh-TW" dirty="0" smtClean="0"/>
              <a:t>so root</a:t>
            </a:r>
            <a:r>
              <a:rPr lang="zh-TW" altLang="en-US" dirty="0" smtClean="0"/>
              <a:t> </a:t>
            </a:r>
            <a:r>
              <a:rPr lang="en-US" altLang="zh-TW" dirty="0" smtClean="0"/>
              <a:t>has 2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=8</a:t>
            </a:r>
            <a:r>
              <a:rPr lang="en-US" altLang="zh-TW" baseline="30000" dirty="0" smtClean="0"/>
              <a:t> </a:t>
            </a:r>
            <a:r>
              <a:rPr lang="en-US" altLang="zh-TW" dirty="0" smtClean="0"/>
              <a:t>childes each for 2</a:t>
            </a:r>
            <a:r>
              <a:rPr lang="en-US" altLang="zh-TW" baseline="30000" dirty="0" smtClean="0"/>
              <a:t>6</a:t>
            </a:r>
            <a:r>
              <a:rPr lang="en-US" altLang="zh-TW" dirty="0" smtClean="0"/>
              <a:t>=64 data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Example2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2057400" y="2953710"/>
            <a:ext cx="435451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65,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129,</a:t>
            </a:r>
            <a:r>
              <a:rPr lang="en-US" altLang="zh-TW" dirty="0" smtClean="0"/>
              <a:t>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193, </a:t>
            </a:r>
            <a:r>
              <a:rPr lang="en-US" altLang="zh-TW" i="1" dirty="0"/>
              <a:t>k</a:t>
            </a:r>
            <a:r>
              <a:rPr lang="en-US" altLang="zh-TW" baseline="-25000" dirty="0"/>
              <a:t>193</a:t>
            </a:r>
            <a:r>
              <a:rPr lang="en-US" altLang="zh-TW" baseline="-25000" dirty="0" smtClean="0"/>
              <a:t>,</a:t>
            </a:r>
            <a:r>
              <a:rPr lang="en-US" altLang="zh-TW" i="1" dirty="0"/>
              <a:t>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257,</a:t>
            </a:r>
            <a:r>
              <a:rPr lang="en-US" altLang="zh-TW" i="1" dirty="0" smtClean="0"/>
              <a:t> k</a:t>
            </a:r>
            <a:r>
              <a:rPr lang="en-US" altLang="zh-TW" baseline="-25000" dirty="0" smtClean="0"/>
              <a:t>321,</a:t>
            </a:r>
            <a:r>
              <a:rPr lang="en-US" altLang="zh-TW" i="1" dirty="0" smtClean="0"/>
              <a:t> k</a:t>
            </a:r>
            <a:r>
              <a:rPr lang="en-US" altLang="zh-TW" baseline="-25000" dirty="0" smtClean="0"/>
              <a:t>385,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347640" y="3854870"/>
            <a:ext cx="17054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1,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17,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33,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49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2195736" y="3865104"/>
            <a:ext cx="19365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65,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81,</a:t>
            </a:r>
            <a:r>
              <a:rPr lang="en-US" altLang="zh-TW" i="1" dirty="0" smtClean="0"/>
              <a:t> k</a:t>
            </a:r>
            <a:r>
              <a:rPr lang="en-US" altLang="zh-TW" baseline="-25000" dirty="0" smtClean="0"/>
              <a:t>97,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113</a:t>
            </a:r>
            <a:endParaRPr lang="zh-TW" altLang="en-US" dirty="0"/>
          </a:p>
        </p:txBody>
      </p:sp>
      <p:cxnSp>
        <p:nvCxnSpPr>
          <p:cNvPr id="25" name="直線單箭頭接點 24"/>
          <p:cNvCxnSpPr>
            <a:endCxn id="5" idx="0"/>
          </p:cNvCxnSpPr>
          <p:nvPr/>
        </p:nvCxnSpPr>
        <p:spPr>
          <a:xfrm flipH="1">
            <a:off x="1200388" y="3323042"/>
            <a:ext cx="1211372" cy="531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endCxn id="6" idx="0"/>
          </p:cNvCxnSpPr>
          <p:nvPr/>
        </p:nvCxnSpPr>
        <p:spPr>
          <a:xfrm>
            <a:off x="2783840" y="3291840"/>
            <a:ext cx="380187" cy="5732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endCxn id="61" idx="0"/>
          </p:cNvCxnSpPr>
          <p:nvPr/>
        </p:nvCxnSpPr>
        <p:spPr>
          <a:xfrm>
            <a:off x="5814184" y="3322798"/>
            <a:ext cx="1122248" cy="5480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字方塊 60"/>
          <p:cNvSpPr txBox="1"/>
          <p:nvPr/>
        </p:nvSpPr>
        <p:spPr>
          <a:xfrm>
            <a:off x="5784304" y="3870876"/>
            <a:ext cx="230425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k</a:t>
            </a:r>
            <a:r>
              <a:rPr lang="en-US" altLang="zh-TW" baseline="-25000" dirty="0" smtClean="0"/>
              <a:t>385,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401,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417, </a:t>
            </a:r>
            <a:r>
              <a:rPr lang="en-US" altLang="zh-TW" i="1" dirty="0" smtClean="0"/>
              <a:t>k</a:t>
            </a:r>
            <a:r>
              <a:rPr lang="en-US" altLang="zh-TW" baseline="-25000" dirty="0" smtClean="0"/>
              <a:t>433</a:t>
            </a:r>
            <a:endParaRPr lang="zh-TW" altLang="en-US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4427984" y="3540315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5</a:t>
            </a:r>
            <a:r>
              <a:rPr lang="en-US" altLang="zh-TW" sz="1600" b="1" dirty="0" smtClean="0"/>
              <a:t> more</a:t>
            </a:r>
          </a:p>
          <a:p>
            <a:r>
              <a:rPr lang="en-US" altLang="zh-TW" sz="2400" b="1" dirty="0" smtClean="0"/>
              <a:t>……</a:t>
            </a:r>
            <a:endParaRPr lang="zh-TW" altLang="en-US" sz="2400" b="1" dirty="0"/>
          </a:p>
        </p:txBody>
      </p:sp>
      <p:cxnSp>
        <p:nvCxnSpPr>
          <p:cNvPr id="65" name="直線單箭頭接點 64"/>
          <p:cNvCxnSpPr>
            <a:endCxn id="67" idx="0"/>
          </p:cNvCxnSpPr>
          <p:nvPr/>
        </p:nvCxnSpPr>
        <p:spPr>
          <a:xfrm flipH="1">
            <a:off x="535392" y="4224202"/>
            <a:ext cx="4197" cy="5959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等腰三角形 66"/>
          <p:cNvSpPr/>
          <p:nvPr/>
        </p:nvSpPr>
        <p:spPr>
          <a:xfrm>
            <a:off x="28496" y="4820181"/>
            <a:ext cx="1013792" cy="1008112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77919" y="5458961"/>
            <a:ext cx="923340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i="1" dirty="0" smtClean="0"/>
              <a:t>k</a:t>
            </a:r>
            <a:r>
              <a:rPr lang="en-US" altLang="zh-TW" sz="1600" baseline="-25000" dirty="0" smtClean="0"/>
              <a:t>1</a:t>
            </a:r>
            <a:r>
              <a:rPr lang="en-US" altLang="zh-TW" sz="1600" dirty="0" smtClean="0"/>
              <a:t>-</a:t>
            </a:r>
            <a:r>
              <a:rPr lang="en-US" altLang="zh-TW" sz="1600" i="1" dirty="0" smtClean="0"/>
              <a:t>k</a:t>
            </a:r>
            <a:r>
              <a:rPr lang="en-US" altLang="zh-TW" sz="1600" baseline="-25000" dirty="0" smtClean="0"/>
              <a:t>16</a:t>
            </a:r>
            <a:endParaRPr lang="zh-TW" altLang="en-US" sz="1600" dirty="0"/>
          </a:p>
        </p:txBody>
      </p:sp>
      <p:cxnSp>
        <p:nvCxnSpPr>
          <p:cNvPr id="72" name="直線單箭頭接點 71"/>
          <p:cNvCxnSpPr>
            <a:endCxn id="73" idx="0"/>
          </p:cNvCxnSpPr>
          <p:nvPr/>
        </p:nvCxnSpPr>
        <p:spPr>
          <a:xfrm>
            <a:off x="1001259" y="4218457"/>
            <a:ext cx="706025" cy="6017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等腰三角形 72"/>
          <p:cNvSpPr/>
          <p:nvPr/>
        </p:nvSpPr>
        <p:spPr>
          <a:xfrm>
            <a:off x="1200388" y="4820181"/>
            <a:ext cx="1013792" cy="1008112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1249811" y="5458961"/>
            <a:ext cx="923340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i="1" dirty="0" smtClean="0"/>
              <a:t>k</a:t>
            </a:r>
            <a:r>
              <a:rPr lang="en-US" altLang="zh-TW" sz="1600" baseline="-25000" dirty="0" smtClean="0"/>
              <a:t>17</a:t>
            </a:r>
            <a:r>
              <a:rPr lang="en-US" altLang="zh-TW" sz="1600" dirty="0" smtClean="0"/>
              <a:t>-</a:t>
            </a:r>
            <a:r>
              <a:rPr lang="en-US" altLang="zh-TW" sz="1600" i="1" dirty="0" smtClean="0"/>
              <a:t>k</a:t>
            </a:r>
            <a:r>
              <a:rPr lang="en-US" altLang="zh-TW" sz="1600" baseline="-25000" dirty="0" smtClean="0"/>
              <a:t>32</a:t>
            </a:r>
            <a:endParaRPr lang="zh-TW" altLang="en-US" sz="1600" dirty="0"/>
          </a:p>
        </p:txBody>
      </p:sp>
      <p:cxnSp>
        <p:nvCxnSpPr>
          <p:cNvPr id="75" name="直線單箭頭接點 74"/>
          <p:cNvCxnSpPr>
            <a:endCxn id="76" idx="0"/>
          </p:cNvCxnSpPr>
          <p:nvPr/>
        </p:nvCxnSpPr>
        <p:spPr>
          <a:xfrm>
            <a:off x="1354271" y="4224202"/>
            <a:ext cx="1549577" cy="5902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等腰三角形 75"/>
          <p:cNvSpPr/>
          <p:nvPr/>
        </p:nvSpPr>
        <p:spPr>
          <a:xfrm>
            <a:off x="2396952" y="4814436"/>
            <a:ext cx="1013792" cy="1008112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2446375" y="5453216"/>
            <a:ext cx="923340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i="1" dirty="0" smtClean="0"/>
              <a:t>k</a:t>
            </a:r>
            <a:r>
              <a:rPr lang="en-US" altLang="zh-TW" sz="1600" baseline="-25000" dirty="0" smtClean="0"/>
              <a:t>33</a:t>
            </a:r>
            <a:r>
              <a:rPr lang="en-US" altLang="zh-TW" sz="1600" dirty="0" smtClean="0"/>
              <a:t>-</a:t>
            </a:r>
            <a:r>
              <a:rPr lang="en-US" altLang="zh-TW" sz="1600" i="1" dirty="0" smtClean="0"/>
              <a:t>k</a:t>
            </a:r>
            <a:r>
              <a:rPr lang="en-US" altLang="zh-TW" sz="1600" baseline="-25000" dirty="0" smtClean="0"/>
              <a:t>48</a:t>
            </a:r>
            <a:endParaRPr lang="zh-TW" altLang="en-US" sz="1600" dirty="0"/>
          </a:p>
        </p:txBody>
      </p:sp>
      <p:cxnSp>
        <p:nvCxnSpPr>
          <p:cNvPr id="78" name="直線單箭頭接點 77"/>
          <p:cNvCxnSpPr>
            <a:endCxn id="79" idx="0"/>
          </p:cNvCxnSpPr>
          <p:nvPr/>
        </p:nvCxnSpPr>
        <p:spPr>
          <a:xfrm>
            <a:off x="1806074" y="4234436"/>
            <a:ext cx="2326244" cy="5857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等腰三角形 78"/>
          <p:cNvSpPr/>
          <p:nvPr/>
        </p:nvSpPr>
        <p:spPr>
          <a:xfrm>
            <a:off x="3625422" y="4820181"/>
            <a:ext cx="1013792" cy="1008112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3674845" y="5458961"/>
            <a:ext cx="923340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i="1" dirty="0" smtClean="0"/>
              <a:t>k</a:t>
            </a:r>
            <a:r>
              <a:rPr lang="en-US" altLang="zh-TW" sz="1600" baseline="-25000" dirty="0" smtClean="0"/>
              <a:t>49</a:t>
            </a:r>
            <a:r>
              <a:rPr lang="en-US" altLang="zh-TW" sz="1600" dirty="0" smtClean="0"/>
              <a:t>-</a:t>
            </a:r>
            <a:r>
              <a:rPr lang="en-US" altLang="zh-TW" sz="1600" i="1" dirty="0" smtClean="0"/>
              <a:t>k</a:t>
            </a:r>
            <a:r>
              <a:rPr lang="en-US" altLang="zh-TW" sz="1600" baseline="-25000" dirty="0" smtClean="0"/>
              <a:t>64</a:t>
            </a:r>
            <a:endParaRPr lang="zh-TW" altLang="en-US" sz="1600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875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For 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 elements with value [1..U].</a:t>
                </a:r>
              </a:p>
              <a:p>
                <a:r>
                  <a:rPr lang="en-US" altLang="zh-TW" dirty="0" smtClean="0"/>
                  <a:t>The tree with m leaves contains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𝑚</m:t>
                        </m:r>
                      </m:e>
                    </m:rad>
                    <m:r>
                      <a:rPr lang="en-US" altLang="zh-TW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dirty="0" err="1" smtClean="0"/>
                  <a:t>subtrees</a:t>
                </a:r>
                <a:r>
                  <a:rPr lang="en-US" altLang="zh-TW" dirty="0" smtClean="0"/>
                  <a:t> each have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altLang="zh-TW" i="1">
                            <a:latin typeface="Cambria Math"/>
                          </a:rPr>
                          <m:t>𝑚</m:t>
                        </m:r>
                      </m:e>
                    </m:rad>
                    <m:r>
                      <a:rPr lang="en-US" altLang="zh-TW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dirty="0" smtClean="0"/>
                  <a:t>leafs.</a:t>
                </a:r>
              </a:p>
              <a:p>
                <a:r>
                  <a:rPr lang="en-US" altLang="zh-TW" dirty="0" smtClean="0"/>
                  <a:t>The leafs are mapping to [1..</a:t>
                </a:r>
                <a:r>
                  <a:rPr lang="en-US" altLang="zh-TW" i="1" dirty="0" smtClean="0"/>
                  <a:t>U</a:t>
                </a:r>
                <a:r>
                  <a:rPr lang="en-US" altLang="zh-TW" dirty="0" smtClean="0"/>
                  <a:t>], recording each value present or not present.</a:t>
                </a:r>
              </a:p>
              <a:p>
                <a:r>
                  <a:rPr lang="en-US" altLang="zh-TW" dirty="0" smtClean="0"/>
                  <a:t>Supports 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all operations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in </a:t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>O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(log </a:t>
                </a:r>
                <a:r>
                  <a:rPr lang="en-US" altLang="zh-TW" dirty="0" err="1" smtClean="0">
                    <a:solidFill>
                      <a:schemeClr val="tx1"/>
                    </a:solidFill>
                  </a:rPr>
                  <a:t>log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>U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) </a:t>
                </a:r>
                <a:r>
                  <a:rPr lang="pt-BR" altLang="zh-TW" dirty="0" smtClean="0">
                    <a:solidFill>
                      <a:schemeClr val="tx1"/>
                    </a:solidFill>
                  </a:rPr>
                  <a:t>time.</a:t>
                </a:r>
              </a:p>
              <a:p>
                <a:r>
                  <a:rPr lang="en-US" altLang="zh-TW" dirty="0"/>
                  <a:t>R</a:t>
                </a:r>
                <a:r>
                  <a:rPr lang="en-US" altLang="zh-TW" dirty="0" smtClean="0"/>
                  <a:t>equires </a:t>
                </a:r>
                <a:r>
                  <a:rPr lang="en-US" altLang="zh-TW" dirty="0"/>
                  <a:t>randomization (</a:t>
                </a:r>
                <a:r>
                  <a:rPr lang="en-US" altLang="zh-TW" dirty="0" smtClean="0"/>
                  <a:t>hashing) in </a:t>
                </a:r>
                <a:r>
                  <a:rPr lang="en-US" altLang="zh-TW" dirty="0"/>
                  <a:t>order to achieve linear </a:t>
                </a:r>
                <a:r>
                  <a:rPr lang="en-US" altLang="zh-TW" dirty="0" smtClean="0"/>
                  <a:t>space.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</a:t>
            </a:r>
            <a:r>
              <a:rPr lang="en-US" altLang="zh-TW" dirty="0" smtClean="0"/>
              <a:t>an </a:t>
            </a:r>
            <a:r>
              <a:rPr lang="en-US" altLang="zh-TW" dirty="0" err="1" smtClean="0"/>
              <a:t>Emde</a:t>
            </a:r>
            <a:r>
              <a:rPr lang="en-US" altLang="zh-TW" dirty="0" smtClean="0"/>
              <a:t> Boas Priority Queue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914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We will always maintain a </a:t>
            </a:r>
            <a:r>
              <a:rPr lang="en-US" altLang="zh-TW" dirty="0">
                <a:solidFill>
                  <a:srgbClr val="FF0000"/>
                </a:solidFill>
              </a:rPr>
              <a:t>sorted doubly-linked list</a:t>
            </a:r>
            <a:r>
              <a:rPr lang="en-US" altLang="zh-TW" dirty="0"/>
              <a:t> with the stored keys and a </a:t>
            </a:r>
            <a:r>
              <a:rPr lang="en-US" altLang="zh-TW" dirty="0" smtClean="0"/>
              <a:t>distinguished head </a:t>
            </a:r>
            <a:r>
              <a:rPr lang="en-US" altLang="zh-TW" dirty="0"/>
              <a:t>and tail. </a:t>
            </a:r>
            <a:endParaRPr lang="en-US" altLang="zh-TW" dirty="0" smtClean="0"/>
          </a:p>
          <a:p>
            <a:r>
              <a:rPr lang="en-US" altLang="zh-TW" dirty="0" smtClean="0"/>
              <a:t>With </a:t>
            </a:r>
            <a:r>
              <a:rPr lang="en-US" altLang="zh-TW" dirty="0"/>
              <a:t>this list we support </a:t>
            </a:r>
            <a:r>
              <a:rPr lang="en-US" altLang="zh-TW" dirty="0">
                <a:solidFill>
                  <a:srgbClr val="FF0000"/>
                </a:solidFill>
              </a:rPr>
              <a:t>successor, predecessor, min, and </a:t>
            </a:r>
            <a:r>
              <a:rPr lang="en-US" altLang="zh-TW" dirty="0" smtClean="0">
                <a:solidFill>
                  <a:srgbClr val="FF0000"/>
                </a:solidFill>
              </a:rPr>
              <a:t>max operations </a:t>
            </a:r>
            <a:r>
              <a:rPr lang="en-US" altLang="zh-TW" dirty="0">
                <a:solidFill>
                  <a:srgbClr val="FF0000"/>
                </a:solidFill>
              </a:rPr>
              <a:t>in constant time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Then </a:t>
            </a:r>
            <a:r>
              <a:rPr lang="en-US" altLang="zh-TW" dirty="0">
                <a:solidFill>
                  <a:srgbClr val="FF0000"/>
                </a:solidFill>
              </a:rPr>
              <a:t>insertion</a:t>
            </a:r>
            <a:r>
              <a:rPr lang="en-US" altLang="zh-TW" dirty="0"/>
              <a:t> subsumes a </a:t>
            </a:r>
            <a:r>
              <a:rPr lang="en-US" altLang="zh-TW" dirty="0">
                <a:solidFill>
                  <a:srgbClr val="FF0000"/>
                </a:solidFill>
              </a:rPr>
              <a:t>search</a:t>
            </a:r>
            <a:r>
              <a:rPr lang="en-US" altLang="zh-TW" dirty="0"/>
              <a:t> identifying the key </a:t>
            </a:r>
            <a:r>
              <a:rPr lang="en-US" altLang="zh-TW" dirty="0" smtClean="0"/>
              <a:t>after which </a:t>
            </a:r>
            <a:r>
              <a:rPr lang="en-US" altLang="zh-TW" dirty="0"/>
              <a:t>the new key is to be inserted. </a:t>
            </a:r>
            <a:endParaRPr lang="en-US" altLang="zh-TW" dirty="0" smtClean="0"/>
          </a:p>
          <a:p>
            <a:r>
              <a:rPr lang="en-US" altLang="zh-TW" dirty="0" smtClean="0"/>
              <a:t>Similarly</a:t>
            </a:r>
            <a:r>
              <a:rPr lang="en-US" altLang="zh-TW" dirty="0"/>
              <a:t>, if we want to </a:t>
            </a:r>
            <a:r>
              <a:rPr lang="en-US" altLang="zh-TW" dirty="0">
                <a:solidFill>
                  <a:srgbClr val="FF0000"/>
                </a:solidFill>
              </a:rPr>
              <a:t>delete a key by value</a:t>
            </a:r>
            <a:r>
              <a:rPr lang="en-US" altLang="zh-TW" dirty="0"/>
              <a:t>, </a:t>
            </a:r>
            <a:r>
              <a:rPr lang="en-US" altLang="zh-TW" dirty="0" smtClean="0"/>
              <a:t>rather than </a:t>
            </a:r>
            <a:r>
              <a:rPr lang="en-US" altLang="zh-TW" dirty="0"/>
              <a:t>by a pointer to a key, a search, or </a:t>
            </a:r>
            <a:r>
              <a:rPr lang="en-US" altLang="zh-TW" dirty="0">
                <a:solidFill>
                  <a:srgbClr val="FF0000"/>
                </a:solidFill>
              </a:rPr>
              <a:t>look-up</a:t>
            </a:r>
            <a:r>
              <a:rPr lang="en-US" altLang="zh-TW" dirty="0"/>
              <a:t>, identifies the key to be deleted, if any.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Implementation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463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Amortized </a:t>
            </a:r>
            <a:r>
              <a:rPr lang="en-US" altLang="zh-TW" dirty="0" smtClean="0">
                <a:solidFill>
                  <a:srgbClr val="FF0000"/>
                </a:solidFill>
              </a:rPr>
              <a:t>exponential </a:t>
            </a:r>
            <a:r>
              <a:rPr lang="en-US" altLang="zh-TW" dirty="0">
                <a:solidFill>
                  <a:srgbClr val="FF0000"/>
                </a:solidFill>
              </a:rPr>
              <a:t>search tree</a:t>
            </a:r>
          </a:p>
          <a:p>
            <a:r>
              <a:rPr lang="en-US" altLang="zh-TW" dirty="0" smtClean="0"/>
              <a:t>Worst case </a:t>
            </a:r>
            <a:r>
              <a:rPr lang="en-US" altLang="zh-TW" dirty="0"/>
              <a:t>efficient </a:t>
            </a:r>
            <a:r>
              <a:rPr lang="en-US" altLang="zh-TW" dirty="0" smtClean="0"/>
              <a:t>exponential </a:t>
            </a:r>
            <a:r>
              <a:rPr lang="en-US" altLang="zh-TW" dirty="0"/>
              <a:t>search tree</a:t>
            </a:r>
          </a:p>
          <a:p>
            <a:r>
              <a:rPr lang="en-US" altLang="zh-TW" dirty="0"/>
              <a:t>Static search structures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Finger Update</a:t>
            </a:r>
          </a:p>
          <a:p>
            <a:r>
              <a:rPr lang="en-US" altLang="zh-TW" dirty="0" smtClean="0"/>
              <a:t>Finger Search</a:t>
            </a:r>
          </a:p>
          <a:p>
            <a:r>
              <a:rPr lang="en-US" altLang="zh-TW" dirty="0" smtClean="0"/>
              <a:t>String Search</a:t>
            </a:r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3775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our exponential search trees, the local search at each internal node is performed </a:t>
            </a:r>
            <a:r>
              <a:rPr lang="en-US" altLang="zh-TW" dirty="0" smtClean="0"/>
              <a:t>using a </a:t>
            </a:r>
            <a:r>
              <a:rPr lang="en-US" altLang="zh-TW" dirty="0">
                <a:solidFill>
                  <a:srgbClr val="FF0000"/>
                </a:solidFill>
              </a:rPr>
              <a:t>static local search structure</a:t>
            </a:r>
            <a:r>
              <a:rPr lang="en-US" altLang="zh-TW" dirty="0"/>
              <a:t>, called an </a:t>
            </a:r>
            <a:r>
              <a:rPr lang="en-US" altLang="zh-TW" i="1" dirty="0">
                <a:solidFill>
                  <a:srgbClr val="FF0000"/>
                </a:solidFill>
              </a:rPr>
              <a:t>S-structure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We </a:t>
            </a:r>
            <a:r>
              <a:rPr lang="en-US" altLang="zh-TW" dirty="0"/>
              <a:t>assume that an </a:t>
            </a:r>
            <a:r>
              <a:rPr lang="en-US" altLang="zh-TW" i="1" dirty="0"/>
              <a:t>S</a:t>
            </a:r>
            <a:r>
              <a:rPr lang="en-US" altLang="zh-TW" dirty="0"/>
              <a:t>-structure over </a:t>
            </a:r>
            <a:r>
              <a:rPr lang="en-US" altLang="zh-TW" i="1" dirty="0" smtClean="0"/>
              <a:t>d </a:t>
            </a:r>
            <a:r>
              <a:rPr lang="en-US" altLang="zh-TW" dirty="0" smtClean="0"/>
              <a:t>keys </a:t>
            </a:r>
            <a:r>
              <a:rPr lang="en-US" altLang="zh-TW" dirty="0"/>
              <a:t>can be built in </a:t>
            </a:r>
            <a:r>
              <a:rPr lang="en-US" altLang="zh-TW" i="1" dirty="0">
                <a:solidFill>
                  <a:srgbClr val="FF0000"/>
                </a:solidFill>
              </a:rPr>
              <a:t>O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d</a:t>
            </a:r>
            <a:r>
              <a:rPr lang="en-US" altLang="zh-TW" i="1" baseline="30000" dirty="0">
                <a:solidFill>
                  <a:srgbClr val="FF0000"/>
                </a:solidFill>
              </a:rPr>
              <a:t>k−</a:t>
            </a:r>
            <a:r>
              <a:rPr lang="en-US" altLang="zh-TW" baseline="30000" dirty="0">
                <a:solidFill>
                  <a:srgbClr val="FF0000"/>
                </a:solidFill>
              </a:rPr>
              <a:t>1</a:t>
            </a:r>
            <a:r>
              <a:rPr lang="en-US" altLang="zh-TW" dirty="0">
                <a:solidFill>
                  <a:srgbClr val="FF0000"/>
                </a:solidFill>
              </a:rPr>
              <a:t>) time and space </a:t>
            </a:r>
            <a:r>
              <a:rPr lang="en-US" altLang="zh-TW" dirty="0"/>
              <a:t>and that it supports searches in </a:t>
            </a:r>
            <a:r>
              <a:rPr lang="en-US" altLang="zh-TW" i="1" dirty="0"/>
              <a:t>S</a:t>
            </a:r>
            <a:r>
              <a:rPr lang="en-US" altLang="zh-TW" dirty="0"/>
              <a:t>(</a:t>
            </a:r>
            <a:r>
              <a:rPr lang="en-US" altLang="zh-TW" i="1" dirty="0"/>
              <a:t>d</a:t>
            </a:r>
            <a:r>
              <a:rPr lang="en-US" altLang="zh-TW" dirty="0"/>
              <a:t>) time</a:t>
            </a:r>
            <a:r>
              <a:rPr lang="en-US" altLang="zh-TW" dirty="0" smtClean="0"/>
              <a:t>. The total search time T(n) is 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Implementation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5004176"/>
            <a:ext cx="7776865" cy="14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1547664" y="5954960"/>
            <a:ext cx="432048" cy="432048"/>
          </a:xfrm>
          <a:prstGeom prst="rect">
            <a:avLst/>
          </a:prstGeom>
          <a:noFill/>
          <a:ln w="12700" cmpd="sng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3342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Next we argue that the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space</a:t>
                </a:r>
                <a:r>
                  <a:rPr lang="en-US" altLang="zh-TW" dirty="0" smtClean="0"/>
                  <a:t> of an exponential search tree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is linear</a:t>
                </a:r>
                <a:r>
                  <a:rPr lang="en-US" altLang="zh-TW" dirty="0" smtClean="0"/>
                  <a:t>. Let </a:t>
                </a:r>
                <a:r>
                  <a:rPr lang="en-US" altLang="zh-TW" i="1" dirty="0"/>
                  <a:t>n </a:t>
                </a:r>
                <a:r>
                  <a:rPr lang="en-US" altLang="zh-TW" dirty="0"/>
                  <a:t>be </a:t>
                </a:r>
                <a:r>
                  <a:rPr lang="en-US" altLang="zh-TW" dirty="0" smtClean="0"/>
                  <a:t>the total </a:t>
                </a:r>
                <a:r>
                  <a:rPr lang="en-US" altLang="zh-TW" dirty="0"/>
                  <a:t>number of keys, and let 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be the number of keys in the </a:t>
                </a:r>
                <a:r>
                  <a:rPr lang="en-US" altLang="zh-TW" i="1" dirty="0" err="1"/>
                  <a:t>i</a:t>
                </a:r>
                <a:r>
                  <a:rPr lang="en-US" altLang="zh-TW" dirty="0" err="1"/>
                  <a:t>th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subtree</a:t>
                </a:r>
                <a:r>
                  <a:rPr lang="en-US" altLang="zh-TW" dirty="0"/>
                  <a:t> of the </a:t>
                </a:r>
                <a:r>
                  <a:rPr lang="en-US" altLang="zh-TW" dirty="0" smtClean="0"/>
                  <a:t>root. Then 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= </a:t>
                </a:r>
                <a:r>
                  <a:rPr lang="el-GR" altLang="zh-TW" i="1" dirty="0"/>
                  <a:t>Θ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n</a:t>
                </a:r>
                <a:r>
                  <a:rPr lang="en-US" altLang="zh-TW" baseline="30000" dirty="0" smtClean="0"/>
                  <a:t>1</a:t>
                </a:r>
                <a:r>
                  <a:rPr lang="en-US" altLang="zh-TW" i="1" baseline="30000" dirty="0"/>
                  <a:t>−</a:t>
                </a:r>
                <a:r>
                  <a:rPr lang="en-US" altLang="zh-TW" baseline="30000" dirty="0"/>
                  <a:t>1</a:t>
                </a:r>
                <a:r>
                  <a:rPr lang="en-US" altLang="zh-TW" i="1" baseline="30000" dirty="0"/>
                  <a:t>/k</a:t>
                </a:r>
                <a:r>
                  <a:rPr lang="en-US" altLang="zh-TW" dirty="0"/>
                  <a:t>) </a:t>
                </a:r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r>
                      <a:rPr lang="en-US" altLang="zh-TW" b="0" i="1" smtClean="0">
                        <a:latin typeface="Cambria Math"/>
                      </a:rPr>
                      <m:t>𝑛</m:t>
                    </m:r>
                    <m:r>
                      <a:rPr lang="en-US" altLang="zh-TW" b="0" i="1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The root has degree </a:t>
                </a:r>
                <a:r>
                  <a:rPr lang="en-US" altLang="zh-TW" i="1" dirty="0"/>
                  <a:t>d </a:t>
                </a:r>
                <a:r>
                  <a:rPr lang="en-US" altLang="zh-TW" dirty="0"/>
                  <a:t>= </a:t>
                </a:r>
                <a:r>
                  <a:rPr lang="el-GR" altLang="zh-TW" i="1" dirty="0"/>
                  <a:t>Θ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n</a:t>
                </a:r>
                <a:r>
                  <a:rPr lang="en-US" altLang="zh-TW" baseline="30000" dirty="0" smtClean="0"/>
                  <a:t>1</a:t>
                </a:r>
                <a:r>
                  <a:rPr lang="en-US" altLang="zh-TW" i="1" baseline="30000" dirty="0" smtClean="0"/>
                  <a:t>/k</a:t>
                </a:r>
                <a:r>
                  <a:rPr lang="en-US" altLang="zh-TW" dirty="0"/>
                  <a:t>) and it uses </a:t>
                </a:r>
                <a:r>
                  <a:rPr lang="en-US" altLang="zh-TW" dirty="0" smtClean="0"/>
                  <a:t>space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d</a:t>
                </a:r>
                <a:r>
                  <a:rPr lang="en-US" altLang="zh-TW" i="1" baseline="30000" dirty="0" smtClean="0"/>
                  <a:t>k</a:t>
                </a:r>
                <a:r>
                  <a:rPr lang="en-US" altLang="zh-TW" i="1" baseline="30000" dirty="0"/>
                  <a:t>−</a:t>
                </a:r>
                <a:r>
                  <a:rPr lang="en-US" altLang="zh-TW" baseline="30000" dirty="0" smtClean="0"/>
                  <a:t>1</a:t>
                </a:r>
                <a:r>
                  <a:rPr lang="en-US" altLang="zh-TW" dirty="0" smtClean="0"/>
                  <a:t>)=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n</a:t>
                </a:r>
                <a:r>
                  <a:rPr lang="en-US" altLang="zh-TW" baseline="30000" dirty="0" smtClean="0"/>
                  <a:t>1</a:t>
                </a:r>
                <a:r>
                  <a:rPr lang="en-US" altLang="zh-TW" i="1" baseline="30000" dirty="0"/>
                  <a:t>−</a:t>
                </a:r>
                <a:r>
                  <a:rPr lang="en-US" altLang="zh-TW" baseline="30000" dirty="0"/>
                  <a:t>1</a:t>
                </a:r>
                <a:r>
                  <a:rPr lang="en-US" altLang="zh-TW" i="1" baseline="30000" dirty="0"/>
                  <a:t>/k</a:t>
                </a:r>
                <a:r>
                  <a:rPr lang="en-US" altLang="zh-TW" dirty="0" smtClean="0"/>
                  <a:t>). </a:t>
                </a:r>
                <a:r>
                  <a:rPr lang="en-US" altLang="zh-TW" dirty="0"/>
                  <a:t>Hence the total space </a:t>
                </a:r>
                <a:r>
                  <a:rPr lang="en-US" altLang="zh-TW" i="1" dirty="0"/>
                  <a:t>C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satisfies the recurrence: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1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S</a:t>
            </a:r>
            <a:r>
              <a:rPr lang="en-US" altLang="zh-TW" dirty="0"/>
              <a:t>-structure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4869160"/>
            <a:ext cx="4981575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432" y="5661248"/>
            <a:ext cx="3705225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1949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finger delete essentially just removes a leaf. </a:t>
            </a:r>
            <a:endParaRPr lang="en-US" altLang="zh-TW" dirty="0" smtClean="0"/>
          </a:p>
          <a:p>
            <a:r>
              <a:rPr lang="en-US" altLang="zh-TW" dirty="0" smtClean="0"/>
              <a:t>However</a:t>
            </a:r>
            <a:r>
              <a:rPr lang="en-US" altLang="zh-TW" dirty="0"/>
              <a:t>, if the leaf was the first </a:t>
            </a:r>
            <a:r>
              <a:rPr lang="en-US" altLang="zh-TW" dirty="0" smtClean="0"/>
              <a:t>child of </a:t>
            </a:r>
            <a:r>
              <a:rPr lang="en-US" altLang="zh-TW" dirty="0"/>
              <a:t>its parent, its splitter has to be transferred to the new first child.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Finger Delete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356992"/>
            <a:ext cx="4533900" cy="211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3356992"/>
            <a:ext cx="3609975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6184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For a finger insert of </a:t>
            </a:r>
            <a:r>
              <a:rPr lang="en-US" altLang="zh-TW" sz="2400" dirty="0" smtClean="0"/>
              <a:t>a key </a:t>
            </a:r>
            <a:r>
              <a:rPr lang="en-US" altLang="zh-TW" sz="2400" i="1" dirty="0"/>
              <a:t>y</a:t>
            </a:r>
            <a:r>
              <a:rPr lang="en-US" altLang="zh-TW" sz="2400" dirty="0"/>
              <a:t>, we get a reference (finger) to the key </a:t>
            </a:r>
            <a:r>
              <a:rPr lang="en-US" altLang="zh-TW" sz="2400" i="1" dirty="0"/>
              <a:t>x </a:t>
            </a:r>
            <a:r>
              <a:rPr lang="en-US" altLang="zh-TW" sz="2400" dirty="0"/>
              <a:t>after which </a:t>
            </a:r>
            <a:r>
              <a:rPr lang="en-US" altLang="zh-TW" sz="2400" i="1" dirty="0"/>
              <a:t>y </a:t>
            </a:r>
            <a:r>
              <a:rPr lang="en-US" altLang="zh-TW" sz="2400" dirty="0"/>
              <a:t>is to be inserted. </a:t>
            </a:r>
            <a:endParaRPr lang="en-US" altLang="zh-TW" sz="2400" dirty="0" smtClean="0"/>
          </a:p>
          <a:p>
            <a:r>
              <a:rPr lang="en-US" altLang="zh-TW" sz="2400" dirty="0" smtClean="0"/>
              <a:t>We </a:t>
            </a:r>
            <a:r>
              <a:rPr lang="en-US" altLang="zh-TW" sz="2400" dirty="0"/>
              <a:t>then </a:t>
            </a:r>
            <a:r>
              <a:rPr lang="en-US" altLang="zh-TW" sz="2400" dirty="0" smtClean="0"/>
              <a:t>also have </a:t>
            </a:r>
            <a:r>
              <a:rPr lang="en-US" altLang="zh-TW" sz="2400" dirty="0"/>
              <a:t>to consider the successor </a:t>
            </a:r>
            <a:r>
              <a:rPr lang="en-US" altLang="zh-TW" sz="2400" i="1" dirty="0"/>
              <a:t>z </a:t>
            </a:r>
            <a:r>
              <a:rPr lang="en-US" altLang="zh-TW" sz="2400" dirty="0"/>
              <a:t>of </a:t>
            </a:r>
            <a:r>
              <a:rPr lang="en-US" altLang="zh-TW" sz="2400" i="1" dirty="0"/>
              <a:t>x</a:t>
            </a:r>
            <a:r>
              <a:rPr lang="en-US" altLang="zh-TW" sz="2400" dirty="0"/>
              <a:t>. Let </a:t>
            </a:r>
            <a:r>
              <a:rPr lang="en-US" altLang="zh-TW" sz="2400" i="1" dirty="0"/>
              <a:t>s </a:t>
            </a:r>
            <a:r>
              <a:rPr lang="en-US" altLang="zh-TW" sz="2400" dirty="0"/>
              <a:t>be the splitter of </a:t>
            </a:r>
            <a:r>
              <a:rPr lang="en-US" altLang="zh-TW" sz="2400" i="1" dirty="0"/>
              <a:t>z</a:t>
            </a:r>
            <a:r>
              <a:rPr lang="en-US" altLang="zh-TW" sz="2400" dirty="0"/>
              <a:t>. If </a:t>
            </a:r>
            <a:r>
              <a:rPr lang="en-US" altLang="zh-TW" sz="2400" i="1" dirty="0"/>
              <a:t>y &lt; s</a:t>
            </a:r>
            <a:r>
              <a:rPr lang="en-US" altLang="zh-TW" sz="2400" dirty="0"/>
              <a:t>, we place </a:t>
            </a:r>
            <a:r>
              <a:rPr lang="en-US" altLang="zh-TW" sz="2400" i="1" dirty="0"/>
              <a:t>y </a:t>
            </a:r>
            <a:r>
              <a:rPr lang="en-US" altLang="zh-TW" sz="2400" dirty="0"/>
              <a:t>after </a:t>
            </a:r>
            <a:r>
              <a:rPr lang="en-US" altLang="zh-TW" sz="2400" i="1" dirty="0" smtClean="0"/>
              <a:t>x </a:t>
            </a:r>
            <a:r>
              <a:rPr lang="en-US" altLang="zh-TW" sz="2400" dirty="0" smtClean="0"/>
              <a:t>under </a:t>
            </a:r>
            <a:r>
              <a:rPr lang="en-US" altLang="zh-TW" sz="2400" dirty="0"/>
              <a:t>the parent of </a:t>
            </a:r>
            <a:r>
              <a:rPr lang="en-US" altLang="zh-TW" sz="2400" i="1" dirty="0"/>
              <a:t>x</a:t>
            </a:r>
            <a:r>
              <a:rPr lang="en-US" altLang="zh-TW" sz="2400" dirty="0"/>
              <a:t>, and let </a:t>
            </a:r>
            <a:r>
              <a:rPr lang="en-US" altLang="zh-TW" sz="2400" i="1" dirty="0"/>
              <a:t>y </a:t>
            </a:r>
            <a:r>
              <a:rPr lang="en-US" altLang="zh-TW" sz="2400" dirty="0"/>
              <a:t>be its own splitter. If </a:t>
            </a:r>
            <a:r>
              <a:rPr lang="en-US" altLang="zh-TW" sz="2400" i="1" dirty="0"/>
              <a:t>y </a:t>
            </a:r>
            <a:r>
              <a:rPr lang="en-US" altLang="zh-TW" sz="2400" i="1" dirty="0" smtClean="0"/>
              <a:t>≥ s</a:t>
            </a:r>
            <a:r>
              <a:rPr lang="en-US" altLang="zh-TW" sz="2400" dirty="0"/>
              <a:t>, we place </a:t>
            </a:r>
            <a:r>
              <a:rPr lang="en-US" altLang="zh-TW" sz="2400" i="1" dirty="0"/>
              <a:t>y </a:t>
            </a:r>
            <a:r>
              <a:rPr lang="en-US" altLang="zh-TW" sz="2400" dirty="0"/>
              <a:t>before </a:t>
            </a:r>
            <a:r>
              <a:rPr lang="en-US" altLang="zh-TW" sz="2400" i="1" dirty="0"/>
              <a:t>z </a:t>
            </a:r>
            <a:r>
              <a:rPr lang="en-US" altLang="zh-TW" sz="2400" dirty="0"/>
              <a:t>under </a:t>
            </a:r>
            <a:r>
              <a:rPr lang="en-US" altLang="zh-TW" sz="2400" dirty="0" smtClean="0"/>
              <a:t>the parent </a:t>
            </a:r>
            <a:r>
              <a:rPr lang="en-US" altLang="zh-TW" sz="2400" dirty="0"/>
              <a:t>of </a:t>
            </a:r>
            <a:r>
              <a:rPr lang="en-US" altLang="zh-TW" sz="2400" i="1" dirty="0"/>
              <a:t>z</a:t>
            </a:r>
            <a:r>
              <a:rPr lang="en-US" altLang="zh-TW" sz="2400" dirty="0"/>
              <a:t>, and give </a:t>
            </a:r>
            <a:r>
              <a:rPr lang="en-US" altLang="zh-TW" sz="2400" i="1" dirty="0"/>
              <a:t>y </a:t>
            </a:r>
            <a:r>
              <a:rPr lang="en-US" altLang="zh-TW" sz="2400" dirty="0"/>
              <a:t>splitter </a:t>
            </a:r>
            <a:r>
              <a:rPr lang="en-US" altLang="zh-TW" sz="2400" i="1" dirty="0"/>
              <a:t>s </a:t>
            </a:r>
            <a:r>
              <a:rPr lang="en-US" altLang="zh-TW" sz="2400" dirty="0"/>
              <a:t>and make </a:t>
            </a:r>
            <a:r>
              <a:rPr lang="en-US" altLang="zh-TW" sz="2400" i="1" dirty="0"/>
              <a:t>z </a:t>
            </a:r>
            <a:r>
              <a:rPr lang="en-US" altLang="zh-TW" sz="2400" dirty="0"/>
              <a:t>its own splitter.</a:t>
            </a:r>
            <a:endParaRPr lang="zh-TW" altLang="en-US" sz="2400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Finger Insert</a:t>
            </a:r>
            <a:endParaRPr lang="zh-TW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149080"/>
            <a:ext cx="3898719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4149080"/>
            <a:ext cx="4421432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2000446" y="6140856"/>
            <a:ext cx="295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x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2552155" y="6165304"/>
            <a:ext cx="295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z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295720" y="515719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s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350668" y="605487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y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cxnSp>
        <p:nvCxnSpPr>
          <p:cNvPr id="12" name="直線接點 11"/>
          <p:cNvCxnSpPr>
            <a:endCxn id="10" idx="0"/>
          </p:cNvCxnSpPr>
          <p:nvPr/>
        </p:nvCxnSpPr>
        <p:spPr>
          <a:xfrm>
            <a:off x="2056863" y="5661248"/>
            <a:ext cx="401398" cy="8205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2142216" y="6481840"/>
            <a:ext cx="632090" cy="2927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</a:rPr>
              <a:t>25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cxnSp>
        <p:nvCxnSpPr>
          <p:cNvPr id="14" name="直線接點 13"/>
          <p:cNvCxnSpPr>
            <a:endCxn id="10" idx="1"/>
          </p:cNvCxnSpPr>
          <p:nvPr/>
        </p:nvCxnSpPr>
        <p:spPr>
          <a:xfrm>
            <a:off x="1763688" y="6174063"/>
            <a:ext cx="378528" cy="4541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0" idx="3"/>
          </p:cNvCxnSpPr>
          <p:nvPr/>
        </p:nvCxnSpPr>
        <p:spPr>
          <a:xfrm flipV="1">
            <a:off x="2774306" y="6208758"/>
            <a:ext cx="141510" cy="4194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9117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When a </a:t>
            </a:r>
            <a:r>
              <a:rPr lang="en-US" altLang="zh-TW" dirty="0" err="1"/>
              <a:t>subtree</a:t>
            </a:r>
            <a:r>
              <a:rPr lang="en-US" altLang="zh-TW" dirty="0"/>
              <a:t> gets too heavy, by a factor </a:t>
            </a:r>
            <a:r>
              <a:rPr lang="en-US" altLang="zh-TW" dirty="0" smtClean="0"/>
              <a:t>of 2</a:t>
            </a:r>
            <a:r>
              <a:rPr lang="en-US" altLang="zh-TW" dirty="0"/>
              <a:t>, we split it in two, and if it gets too light, by a factor of 2, we join it with its neighbor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W</a:t>
            </a:r>
            <a:r>
              <a:rPr lang="en-US" altLang="zh-TW" dirty="0" smtClean="0"/>
              <a:t>e </a:t>
            </a:r>
            <a:r>
              <a:rPr lang="en-US" altLang="zh-TW" dirty="0"/>
              <a:t>can </a:t>
            </a:r>
            <a:r>
              <a:rPr lang="en-US" altLang="zh-TW" dirty="0">
                <a:solidFill>
                  <a:srgbClr val="FF0000"/>
                </a:solidFill>
              </a:rPr>
              <a:t>reconstruct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the </a:t>
            </a:r>
            <a:r>
              <a:rPr lang="en-US" altLang="zh-TW" dirty="0" err="1">
                <a:solidFill>
                  <a:srgbClr val="FF0000"/>
                </a:solidFill>
              </a:rPr>
              <a:t>subtrees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and update the parent’s </a:t>
            </a:r>
            <a:r>
              <a:rPr lang="en-US" altLang="zh-TW" i="1" dirty="0"/>
              <a:t>S</a:t>
            </a:r>
            <a:r>
              <a:rPr lang="en-US" altLang="zh-TW" dirty="0"/>
              <a:t>-structure </a:t>
            </a:r>
            <a:r>
              <a:rPr lang="en-US" altLang="zh-TW" dirty="0" smtClean="0">
                <a:solidFill>
                  <a:srgbClr val="FF0000"/>
                </a:solidFill>
              </a:rPr>
              <a:t>in time </a:t>
            </a:r>
            <a:r>
              <a:rPr lang="en-US" altLang="zh-TW" dirty="0">
                <a:solidFill>
                  <a:srgbClr val="FF0000"/>
                </a:solidFill>
              </a:rPr>
              <a:t>linear in the weight of the </a:t>
            </a:r>
            <a:r>
              <a:rPr lang="en-US" altLang="zh-TW" dirty="0" err="1">
                <a:solidFill>
                  <a:srgbClr val="FF0000"/>
                </a:solidFill>
              </a:rPr>
              <a:t>subtrees</a:t>
            </a:r>
            <a:r>
              <a:rPr lang="en-US" altLang="zh-TW" dirty="0"/>
              <a:t>.</a:t>
            </a:r>
            <a:endParaRPr lang="en-US" altLang="zh-TW" dirty="0" smtClean="0"/>
          </a:p>
          <a:p>
            <a:r>
              <a:rPr lang="en-US" altLang="zh-TW" dirty="0"/>
              <a:t>Exceeding the weight constraints requires that a constant fraction of the keys in a </a:t>
            </a:r>
            <a:r>
              <a:rPr lang="en-US" altLang="zh-TW" dirty="0" err="1" smtClean="0"/>
              <a:t>subtree</a:t>
            </a:r>
            <a:r>
              <a:rPr lang="en-US" altLang="zh-TW" dirty="0" smtClean="0"/>
              <a:t> have </a:t>
            </a:r>
            <a:r>
              <a:rPr lang="en-US" altLang="zh-TW" dirty="0"/>
              <a:t>been inserted and deleted since the </a:t>
            </a:r>
            <a:r>
              <a:rPr lang="en-US" altLang="zh-TW" dirty="0" err="1"/>
              <a:t>subtree</a:t>
            </a:r>
            <a:r>
              <a:rPr lang="en-US" altLang="zh-TW" dirty="0"/>
              <a:t> was constructed with proper weight. </a:t>
            </a:r>
            <a:r>
              <a:rPr lang="en-US" altLang="zh-TW" dirty="0" smtClean="0"/>
              <a:t>Thus, the </a:t>
            </a:r>
            <a:r>
              <a:rPr lang="en-US" altLang="zh-TW" dirty="0">
                <a:solidFill>
                  <a:srgbClr val="FF0000"/>
                </a:solidFill>
              </a:rPr>
              <a:t>reconstruction cost</a:t>
            </a:r>
            <a:r>
              <a:rPr lang="en-US" altLang="zh-TW" dirty="0"/>
              <a:t> is an </a:t>
            </a:r>
            <a:r>
              <a:rPr lang="en-US" altLang="zh-TW" dirty="0">
                <a:solidFill>
                  <a:srgbClr val="FF0000"/>
                </a:solidFill>
              </a:rPr>
              <a:t>amortized constant per key inserted or deleted</a:t>
            </a:r>
            <a:r>
              <a:rPr lang="en-US" altLang="zh-TW" dirty="0"/>
              <a:t> from a tree.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Balance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1539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Since the depth of an exponential search tree is </a:t>
            </a:r>
            <a:r>
              <a:rPr lang="en-US" altLang="zh-TW" i="1" dirty="0"/>
              <a:t>O</a:t>
            </a:r>
            <a:r>
              <a:rPr lang="en-US" altLang="zh-TW" dirty="0"/>
              <a:t>(log </a:t>
            </a:r>
            <a:r>
              <a:rPr lang="en-US" altLang="zh-TW" dirty="0" err="1"/>
              <a:t>log</a:t>
            </a:r>
            <a:r>
              <a:rPr lang="en-US" altLang="zh-TW" dirty="0"/>
              <a:t> </a:t>
            </a:r>
            <a:r>
              <a:rPr lang="en-US" altLang="zh-TW" i="1" dirty="0"/>
              <a:t>n</a:t>
            </a:r>
            <a:r>
              <a:rPr lang="en-US" altLang="zh-TW" dirty="0"/>
              <a:t>), the </a:t>
            </a:r>
            <a:r>
              <a:rPr lang="en-US" altLang="zh-TW" dirty="0">
                <a:solidFill>
                  <a:srgbClr val="FF0000"/>
                </a:solidFill>
              </a:rPr>
              <a:t>update cost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excluding </a:t>
            </a:r>
            <a:r>
              <a:rPr lang="en-US" altLang="zh-TW" dirty="0" smtClean="0">
                <a:solidFill>
                  <a:srgbClr val="FF0000"/>
                </a:solidFill>
              </a:rPr>
              <a:t>the search </a:t>
            </a:r>
            <a:r>
              <a:rPr lang="en-US" altLang="zh-TW" dirty="0">
                <a:solidFill>
                  <a:srgbClr val="FF0000"/>
                </a:solidFill>
              </a:rPr>
              <a:t>cost</a:t>
            </a:r>
            <a:r>
              <a:rPr lang="en-US" altLang="zh-TW" dirty="0"/>
              <a:t> for finding out were to update, </a:t>
            </a:r>
            <a:r>
              <a:rPr lang="en-US" altLang="zh-TW" dirty="0">
                <a:solidFill>
                  <a:srgbClr val="FF0000"/>
                </a:solidFill>
              </a:rPr>
              <a:t>is</a:t>
            </a:r>
            <a:r>
              <a:rPr lang="en-US" altLang="zh-TW" dirty="0"/>
              <a:t> </a:t>
            </a:r>
            <a:r>
              <a:rPr lang="en-US" altLang="zh-TW" i="1" dirty="0">
                <a:solidFill>
                  <a:srgbClr val="FF0000"/>
                </a:solidFill>
              </a:rPr>
              <a:t>O</a:t>
            </a:r>
            <a:r>
              <a:rPr lang="en-US" altLang="zh-TW" dirty="0">
                <a:solidFill>
                  <a:srgbClr val="FF0000"/>
                </a:solidFill>
              </a:rPr>
              <a:t>(log </a:t>
            </a:r>
            <a:r>
              <a:rPr lang="en-US" altLang="zh-TW" dirty="0" err="1">
                <a:solidFill>
                  <a:srgbClr val="FF0000"/>
                </a:solidFill>
              </a:rPr>
              <a:t>log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i="1" dirty="0">
                <a:solidFill>
                  <a:srgbClr val="FF0000"/>
                </a:solidFill>
              </a:rPr>
              <a:t>n</a:t>
            </a:r>
            <a:r>
              <a:rPr lang="en-US" altLang="zh-TW" dirty="0">
                <a:solidFill>
                  <a:srgbClr val="FF0000"/>
                </a:solidFill>
              </a:rPr>
              <a:t>) amortized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5212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</a:p>
          <a:p>
            <a:r>
              <a:rPr lang="en-US" altLang="zh-TW" dirty="0" smtClean="0"/>
              <a:t>Amortized exponential </a:t>
            </a:r>
            <a:r>
              <a:rPr lang="en-US" altLang="zh-TW" dirty="0"/>
              <a:t>s</a:t>
            </a:r>
            <a:r>
              <a:rPr lang="en-US" altLang="zh-TW" dirty="0" smtClean="0"/>
              <a:t>earch </a:t>
            </a:r>
            <a:r>
              <a:rPr lang="en-US" altLang="zh-TW" dirty="0"/>
              <a:t>t</a:t>
            </a:r>
            <a:r>
              <a:rPr lang="en-US" altLang="zh-TW" dirty="0" smtClean="0"/>
              <a:t>ree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Worst case </a:t>
            </a:r>
            <a:r>
              <a:rPr lang="en-US" altLang="zh-TW" dirty="0">
                <a:solidFill>
                  <a:srgbClr val="FF0000"/>
                </a:solidFill>
              </a:rPr>
              <a:t>efficient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e</a:t>
            </a:r>
            <a:r>
              <a:rPr lang="en-US" altLang="zh-TW" dirty="0" smtClean="0">
                <a:solidFill>
                  <a:srgbClr val="FF0000"/>
                </a:solidFill>
              </a:rPr>
              <a:t>xponential search tree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Static search structures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Finger Update</a:t>
            </a:r>
          </a:p>
          <a:p>
            <a:r>
              <a:rPr lang="en-US" altLang="zh-TW" dirty="0" smtClean="0"/>
              <a:t>Finger </a:t>
            </a:r>
            <a:r>
              <a:rPr lang="en-US" altLang="zh-TW" dirty="0"/>
              <a:t>Search</a:t>
            </a:r>
          </a:p>
          <a:p>
            <a:r>
              <a:rPr lang="en-US" altLang="zh-TW" dirty="0"/>
              <a:t>String </a:t>
            </a:r>
            <a:r>
              <a:rPr lang="en-US" altLang="zh-TW" dirty="0" smtClean="0"/>
              <a:t>Search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3698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In order to </a:t>
            </a:r>
            <a:r>
              <a:rPr lang="en-US" altLang="zh-TW" dirty="0">
                <a:solidFill>
                  <a:srgbClr val="FF0000"/>
                </a:solidFill>
              </a:rPr>
              <a:t>get from the amortized bounds above to worst-case bounds</a:t>
            </a:r>
            <a:r>
              <a:rPr lang="en-US" altLang="zh-TW" dirty="0"/>
              <a:t>, we need a new </a:t>
            </a:r>
            <a:r>
              <a:rPr lang="en-US" altLang="zh-TW" dirty="0" smtClean="0"/>
              <a:t>type of </a:t>
            </a:r>
            <a:r>
              <a:rPr lang="en-US" altLang="zh-TW" dirty="0"/>
              <a:t>data structure. </a:t>
            </a:r>
            <a:endParaRPr lang="en-US" altLang="zh-TW" dirty="0" smtClean="0"/>
          </a:p>
          <a:p>
            <a:r>
              <a:rPr lang="en-US" altLang="zh-TW" dirty="0" smtClean="0"/>
              <a:t>Instead </a:t>
            </a:r>
            <a:r>
              <a:rPr lang="en-US" altLang="zh-TW" dirty="0"/>
              <a:t>of a data structure where we </a:t>
            </a:r>
            <a:r>
              <a:rPr lang="en-US" altLang="zh-TW" dirty="0">
                <a:solidFill>
                  <a:srgbClr val="FF0000"/>
                </a:solidFill>
              </a:rPr>
              <a:t>occasionally rebuild entire </a:t>
            </a:r>
            <a:r>
              <a:rPr lang="en-US" altLang="zh-TW" dirty="0" err="1" smtClean="0">
                <a:solidFill>
                  <a:srgbClr val="FF0000"/>
                </a:solidFill>
              </a:rPr>
              <a:t>subtrees</a:t>
            </a:r>
            <a:r>
              <a:rPr lang="en-US" altLang="zh-TW" dirty="0" smtClean="0"/>
              <a:t>, we </a:t>
            </a:r>
            <a:r>
              <a:rPr lang="en-US" altLang="zh-TW" dirty="0"/>
              <a:t>need a </a:t>
            </a:r>
            <a:r>
              <a:rPr lang="en-US" altLang="zh-TW" dirty="0" err="1"/>
              <a:t>multiway</a:t>
            </a:r>
            <a:r>
              <a:rPr lang="en-US" altLang="zh-TW" dirty="0"/>
              <a:t> tree which is something more in the style of a standard B-tree, </a:t>
            </a:r>
            <a:r>
              <a:rPr lang="en-US" altLang="zh-TW" dirty="0" smtClean="0"/>
              <a:t>where </a:t>
            </a:r>
            <a:r>
              <a:rPr lang="en-US" altLang="zh-TW" dirty="0" smtClean="0">
                <a:solidFill>
                  <a:srgbClr val="FF0000"/>
                </a:solidFill>
              </a:rPr>
              <a:t>balance </a:t>
            </a:r>
            <a:r>
              <a:rPr lang="en-US" altLang="zh-TW" dirty="0">
                <a:solidFill>
                  <a:srgbClr val="FF0000"/>
                </a:solidFill>
              </a:rPr>
              <a:t>is maintained by locally joining and splitting nodes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By </a:t>
            </a:r>
            <a:r>
              <a:rPr lang="en-US" altLang="zh-TW" dirty="0"/>
              <a:t>locally we mean that </a:t>
            </a:r>
            <a:r>
              <a:rPr lang="en-US" altLang="zh-TW" dirty="0" smtClean="0"/>
              <a:t>the joining </a:t>
            </a:r>
            <a:r>
              <a:rPr lang="en-US" altLang="zh-TW" dirty="0"/>
              <a:t>and splitting is done just by joining and splitting the children sequences. </a:t>
            </a:r>
            <a:endParaRPr lang="en-US" altLang="zh-TW" dirty="0" smtClean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Main Change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451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Suppose a </a:t>
            </a:r>
            <a:r>
              <a:rPr lang="en-US" altLang="zh-TW" dirty="0">
                <a:solidFill>
                  <a:srgbClr val="FF0000"/>
                </a:solidFill>
              </a:rPr>
              <a:t>static</a:t>
            </a:r>
            <a:r>
              <a:rPr lang="en-US" altLang="zh-TW" dirty="0"/>
              <a:t> search structure on </a:t>
            </a:r>
            <a:r>
              <a:rPr lang="en-US" altLang="zh-TW" i="1" dirty="0">
                <a:solidFill>
                  <a:srgbClr val="FF0000"/>
                </a:solidFill>
              </a:rPr>
              <a:t>d</a:t>
            </a:r>
            <a:r>
              <a:rPr lang="en-US" altLang="zh-TW" dirty="0"/>
              <a:t> integer keys can be </a:t>
            </a:r>
            <a:r>
              <a:rPr lang="en-US" altLang="zh-TW" dirty="0">
                <a:solidFill>
                  <a:srgbClr val="FF0000"/>
                </a:solidFill>
              </a:rPr>
              <a:t>constructed</a:t>
            </a:r>
            <a:r>
              <a:rPr lang="en-US" altLang="zh-TW" dirty="0"/>
              <a:t> in </a:t>
            </a:r>
            <a:r>
              <a:rPr lang="en-US" altLang="zh-TW" i="1" dirty="0">
                <a:solidFill>
                  <a:srgbClr val="FF0000"/>
                </a:solidFill>
              </a:rPr>
              <a:t>O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d</a:t>
            </a:r>
            <a:r>
              <a:rPr lang="en-US" altLang="zh-TW" i="1" baseline="30000" dirty="0">
                <a:solidFill>
                  <a:srgbClr val="FF0000"/>
                </a:solidFill>
              </a:rPr>
              <a:t>k</a:t>
            </a:r>
            <a:r>
              <a:rPr lang="en-US" altLang="zh-TW" baseline="30000" dirty="0">
                <a:solidFill>
                  <a:srgbClr val="FF0000"/>
                </a:solidFill>
              </a:rPr>
              <a:t>−1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k</a:t>
            </a:r>
            <a:r>
              <a:rPr lang="en-US" altLang="zh-TW" dirty="0" smtClean="0"/>
              <a:t> ≥ </a:t>
            </a:r>
            <a:r>
              <a:rPr lang="en-US" altLang="zh-TW" dirty="0"/>
              <a:t>2, </a:t>
            </a:r>
            <a:r>
              <a:rPr lang="en-US" altLang="zh-TW" dirty="0">
                <a:solidFill>
                  <a:srgbClr val="FF0000"/>
                </a:solidFill>
              </a:rPr>
              <a:t>time and space </a:t>
            </a:r>
            <a:r>
              <a:rPr lang="en-US" altLang="zh-TW" dirty="0"/>
              <a:t>so that it supports </a:t>
            </a:r>
            <a:r>
              <a:rPr lang="en-US" altLang="zh-TW" dirty="0">
                <a:solidFill>
                  <a:srgbClr val="FF0000"/>
                </a:solidFill>
              </a:rPr>
              <a:t>searches</a:t>
            </a:r>
            <a:r>
              <a:rPr lang="en-US" altLang="zh-TW" dirty="0"/>
              <a:t> in </a:t>
            </a:r>
            <a:r>
              <a:rPr lang="en-US" altLang="zh-TW" i="1" dirty="0">
                <a:solidFill>
                  <a:srgbClr val="FF0000"/>
                </a:solidFill>
              </a:rPr>
              <a:t>S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d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r>
              <a:rPr lang="en-US" altLang="zh-TW" dirty="0"/>
              <a:t> time. We can </a:t>
            </a:r>
            <a:r>
              <a:rPr lang="en-US" altLang="zh-TW" dirty="0" smtClean="0"/>
              <a:t>then construct </a:t>
            </a:r>
            <a:r>
              <a:rPr lang="en-US" altLang="zh-TW" dirty="0"/>
              <a:t>a </a:t>
            </a:r>
            <a:r>
              <a:rPr lang="en-US" altLang="zh-TW" dirty="0">
                <a:solidFill>
                  <a:srgbClr val="FF0000"/>
                </a:solidFill>
              </a:rPr>
              <a:t>dynamic linear space search structure </a:t>
            </a:r>
            <a:r>
              <a:rPr lang="en-US" altLang="zh-TW" dirty="0"/>
              <a:t>that with </a:t>
            </a:r>
            <a:r>
              <a:rPr lang="en-US" altLang="zh-TW" i="1" dirty="0">
                <a:solidFill>
                  <a:srgbClr val="FF0000"/>
                </a:solidFill>
              </a:rPr>
              <a:t>n</a:t>
            </a:r>
            <a:r>
              <a:rPr lang="en-US" altLang="zh-TW" dirty="0"/>
              <a:t> integer keys </a:t>
            </a:r>
            <a:r>
              <a:rPr lang="en-US" altLang="zh-TW" dirty="0" smtClean="0"/>
              <a:t>supports </a:t>
            </a:r>
            <a:r>
              <a:rPr lang="en-US" altLang="zh-TW" dirty="0" smtClean="0">
                <a:solidFill>
                  <a:srgbClr val="FF0000"/>
                </a:solidFill>
              </a:rPr>
              <a:t>insert</a:t>
            </a:r>
            <a:r>
              <a:rPr lang="en-US" altLang="zh-TW" dirty="0">
                <a:solidFill>
                  <a:srgbClr val="FF0000"/>
                </a:solidFill>
              </a:rPr>
              <a:t>, delete, and searches in time </a:t>
            </a:r>
            <a:r>
              <a:rPr lang="en-US" altLang="zh-TW" i="1" dirty="0">
                <a:solidFill>
                  <a:srgbClr val="FF0000"/>
                </a:solidFill>
              </a:rPr>
              <a:t>T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n</a:t>
            </a:r>
            <a:r>
              <a:rPr lang="en-US" altLang="zh-TW" dirty="0">
                <a:solidFill>
                  <a:srgbClr val="FF0000"/>
                </a:solidFill>
              </a:rPr>
              <a:t>) </a:t>
            </a:r>
            <a:r>
              <a:rPr lang="en-US" altLang="zh-TW" dirty="0"/>
              <a:t>where </a:t>
            </a:r>
            <a:r>
              <a:rPr lang="en-US" altLang="zh-TW" i="1" dirty="0">
                <a:solidFill>
                  <a:srgbClr val="FF0000"/>
                </a:solidFill>
              </a:rPr>
              <a:t>T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n</a:t>
            </a:r>
            <a:r>
              <a:rPr lang="en-US" altLang="zh-TW" dirty="0">
                <a:solidFill>
                  <a:srgbClr val="FF0000"/>
                </a:solidFill>
              </a:rPr>
              <a:t>) </a:t>
            </a:r>
            <a:r>
              <a:rPr lang="en-US" altLang="zh-TW" dirty="0" smtClean="0">
                <a:solidFill>
                  <a:srgbClr val="FF0000"/>
                </a:solidFill>
              </a:rPr>
              <a:t>≤ </a:t>
            </a:r>
            <a:r>
              <a:rPr lang="en-US" altLang="zh-TW" i="1" dirty="0">
                <a:solidFill>
                  <a:srgbClr val="FF0000"/>
                </a:solidFill>
              </a:rPr>
              <a:t>T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n</a:t>
            </a:r>
            <a:r>
              <a:rPr lang="en-US" altLang="zh-TW" baseline="30000" dirty="0">
                <a:solidFill>
                  <a:srgbClr val="FF0000"/>
                </a:solidFill>
              </a:rPr>
              <a:t>1−1/</a:t>
            </a:r>
            <a:r>
              <a:rPr lang="en-US" altLang="zh-TW" i="1" baseline="30000" dirty="0">
                <a:solidFill>
                  <a:srgbClr val="FF0000"/>
                </a:solidFill>
              </a:rPr>
              <a:t>k</a:t>
            </a:r>
            <a:r>
              <a:rPr lang="en-US" altLang="zh-TW" dirty="0">
                <a:solidFill>
                  <a:srgbClr val="FF0000"/>
                </a:solidFill>
              </a:rPr>
              <a:t>)+</a:t>
            </a:r>
            <a:r>
              <a:rPr lang="en-US" altLang="zh-TW" i="1" dirty="0">
                <a:solidFill>
                  <a:srgbClr val="FF0000"/>
                </a:solidFill>
              </a:rPr>
              <a:t>O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S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n</a:t>
            </a:r>
            <a:r>
              <a:rPr lang="en-US" altLang="zh-TW" dirty="0">
                <a:solidFill>
                  <a:srgbClr val="FF0000"/>
                </a:solidFill>
              </a:rPr>
              <a:t>))</a:t>
            </a:r>
            <a:r>
              <a:rPr lang="en-US" altLang="zh-TW" dirty="0"/>
              <a:t>. </a:t>
            </a:r>
            <a:r>
              <a:rPr lang="en-US" altLang="zh-TW" dirty="0" smtClean="0"/>
              <a:t>The reduction </a:t>
            </a:r>
            <a:r>
              <a:rPr lang="en-US" altLang="zh-TW" dirty="0"/>
              <a:t>itself uses only standard AC</a:t>
            </a:r>
            <a:r>
              <a:rPr lang="en-US" altLang="zh-TW" baseline="30000" dirty="0"/>
              <a:t>0</a:t>
            </a:r>
            <a:r>
              <a:rPr lang="en-US" altLang="zh-TW" dirty="0"/>
              <a:t> operations.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Theorem </a:t>
            </a:r>
            <a:r>
              <a:rPr lang="en-US" altLang="zh-TW" b="0" dirty="0" smtClean="0"/>
              <a:t>1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998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criteria when </a:t>
            </a:r>
            <a:r>
              <a:rPr lang="en-US" altLang="zh-TW" dirty="0" err="1"/>
              <a:t>subtrees</a:t>
            </a:r>
            <a:r>
              <a:rPr lang="en-US" altLang="zh-TW" dirty="0"/>
              <a:t> are too large or too small depend on their parents. </a:t>
            </a:r>
            <a:endParaRPr lang="en-US" altLang="zh-TW" dirty="0" smtClean="0"/>
          </a:p>
          <a:p>
            <a:r>
              <a:rPr lang="en-US" altLang="zh-TW" dirty="0" smtClean="0"/>
              <a:t>If </a:t>
            </a:r>
            <a:r>
              <a:rPr lang="en-US" altLang="zh-TW" dirty="0"/>
              <a:t>two </a:t>
            </a:r>
            <a:r>
              <a:rPr lang="en-US" altLang="zh-TW" dirty="0" err="1"/>
              <a:t>subtrees</a:t>
            </a:r>
            <a:r>
              <a:rPr lang="en-US" altLang="zh-TW" dirty="0"/>
              <a:t> </a:t>
            </a:r>
            <a:r>
              <a:rPr lang="en-US" altLang="zh-TW" dirty="0" smtClean="0"/>
              <a:t>are joined</a:t>
            </a:r>
            <a:r>
              <a:rPr lang="en-US" altLang="zh-TW" dirty="0"/>
              <a:t>, the resulting </a:t>
            </a:r>
            <a:r>
              <a:rPr lang="en-US" altLang="zh-TW" dirty="0" err="1"/>
              <a:t>subtree</a:t>
            </a:r>
            <a:r>
              <a:rPr lang="en-US" altLang="zh-TW" dirty="0"/>
              <a:t> is larger, and according to our recursive definition, this </a:t>
            </a:r>
            <a:r>
              <a:rPr lang="en-US" altLang="zh-TW" dirty="0" smtClean="0"/>
              <a:t>may imply </a:t>
            </a:r>
            <a:r>
              <a:rPr lang="en-US" altLang="zh-TW" dirty="0"/>
              <a:t>that all of the children simultaneously become too small, so they have to be </a:t>
            </a:r>
            <a:r>
              <a:rPr lang="en-US" altLang="zh-TW" dirty="0" smtClean="0"/>
              <a:t>joined, etc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Problem with the Previous Definition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3561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In an exponential search tree all leaves are on the same depth, and we define the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height or level of a node </a:t>
                </a:r>
                <a:r>
                  <a:rPr lang="en-US" altLang="zh-TW" dirty="0"/>
                  <a:t>to be the unique distance from the node to the leaves </a:t>
                </a:r>
                <a:r>
                  <a:rPr lang="en-US" altLang="zh-TW" dirty="0" smtClean="0"/>
                  <a:t>descending from </a:t>
                </a:r>
                <a:r>
                  <a:rPr lang="en-US" altLang="zh-TW" dirty="0"/>
                  <a:t>it. For a non-root node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v</a:t>
                </a:r>
                <a:r>
                  <a:rPr lang="en-US" altLang="zh-TW" dirty="0"/>
                  <a:t> at height 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> &gt; 0, the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weight</a:t>
                </a:r>
                <a:r>
                  <a:rPr lang="en-US" altLang="zh-TW" dirty="0"/>
                  <a:t> (number of descending leaves) </a:t>
                </a:r>
                <a:r>
                  <a:rPr lang="en-US" altLang="zh-TW" dirty="0" smtClean="0"/>
                  <a:t>is |v</a:t>
                </a:r>
                <a:r>
                  <a:rPr lang="en-US" altLang="zh-TW" dirty="0"/>
                  <a:t>| = </a:t>
                </a:r>
                <a:r>
                  <a:rPr lang="el-GR" altLang="zh-TW" i="1" dirty="0" smtClean="0"/>
                  <a:t>Θ</a:t>
                </a:r>
                <a:r>
                  <a:rPr lang="en-US" altLang="zh-TW" dirty="0" smtClean="0"/>
                  <a:t>(</a:t>
                </a:r>
                <a:r>
                  <a:rPr lang="en-US" altLang="zh-TW" i="1" dirty="0" err="1" smtClean="0"/>
                  <a:t>n</a:t>
                </a:r>
                <a:r>
                  <a:rPr lang="en-US" altLang="zh-TW" i="1" baseline="-25000" dirty="0" err="1" smtClean="0"/>
                  <a:t>i</a:t>
                </a:r>
                <a:r>
                  <a:rPr lang="en-US" altLang="zh-TW" dirty="0"/>
                  <a:t>) where 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altLang="zh-TW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TW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α</m:t>
                        </m:r>
                      </m:e>
                      <m:sup>
                        <m:sSup>
                          <m:sSupPr>
                            <m:ctrlPr>
                              <a:rPr lang="el-GR" altLang="zh-TW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TW" b="0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altLang="zh-TW" b="0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altLang="zh-TW" b="0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altLang="zh-TW" b="0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den>
                            </m:f>
                            <m:r>
                              <a:rPr lang="en-US" altLang="zh-TW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</m:sup>
                        </m:sSup>
                      </m:sup>
                    </m:sSup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dirty="0"/>
                  <a:t>and </a:t>
                </a:r>
                <a:r>
                  <a:rPr lang="el-GR" altLang="zh-TW" dirty="0"/>
                  <a:t>α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= </a:t>
                </a:r>
                <a:r>
                  <a:rPr lang="el-GR" altLang="zh-TW" i="1" dirty="0"/>
                  <a:t>Θ</a:t>
                </a:r>
                <a:r>
                  <a:rPr lang="en-US" altLang="zh-TW" dirty="0" smtClean="0"/>
                  <a:t>(1</a:t>
                </a:r>
                <a:r>
                  <a:rPr lang="en-US" altLang="zh-TW" dirty="0"/>
                  <a:t>). If the root has height </a:t>
                </a:r>
                <a:r>
                  <a:rPr lang="en-US" altLang="zh-TW" i="1" dirty="0"/>
                  <a:t>h</a:t>
                </a:r>
                <a:r>
                  <a:rPr lang="en-US" altLang="zh-TW" dirty="0"/>
                  <a:t>, its weight </a:t>
                </a:r>
                <a:r>
                  <a:rPr lang="en-US" altLang="zh-TW" dirty="0" smtClean="0"/>
                  <a:t>is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:r>
                  <a:rPr lang="en-US" altLang="zh-TW" i="1" dirty="0" err="1" smtClean="0"/>
                  <a:t>n</a:t>
                </a:r>
                <a:r>
                  <a:rPr lang="en-US" altLang="zh-TW" i="1" baseline="-25000" dirty="0" err="1" smtClean="0"/>
                  <a:t>h</a:t>
                </a:r>
                <a:r>
                  <a:rPr lang="en-US" altLang="zh-TW" dirty="0" smtClean="0"/>
                  <a:t>).</a:t>
                </a:r>
              </a:p>
              <a:p>
                <a:r>
                  <a:rPr lang="en-US" altLang="zh-TW" dirty="0" smtClean="0"/>
                  <a:t>If </a:t>
                </a:r>
                <a:r>
                  <a:rPr lang="en-US" altLang="zh-TW" i="1" dirty="0"/>
                  <a:t>v </a:t>
                </a:r>
                <a:r>
                  <a:rPr lang="en-US" altLang="zh-TW" dirty="0"/>
                  <a:t>is a non-root node, it has </a:t>
                </a:r>
                <a:r>
                  <a:rPr lang="el-GR" altLang="zh-TW" i="1" dirty="0"/>
                  <a:t>Θ</a:t>
                </a:r>
                <a:r>
                  <a:rPr lang="en-US" altLang="zh-TW" dirty="0" smtClean="0"/>
                  <a:t>(|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|</a:t>
                </a:r>
                <a:r>
                  <a:rPr lang="en-US" altLang="zh-TW" baseline="30000" dirty="0"/>
                  <a:t>1</a:t>
                </a:r>
                <a:r>
                  <a:rPr lang="en-US" altLang="zh-TW" i="1" baseline="30000" dirty="0"/>
                  <a:t>/k</a:t>
                </a:r>
                <a:r>
                  <a:rPr lang="en-US" altLang="zh-TW" dirty="0"/>
                  <a:t>) children, each of </a:t>
                </a:r>
                <a:r>
                  <a:rPr lang="en-US" altLang="zh-TW" dirty="0" smtClean="0"/>
                  <a:t>weight </a:t>
                </a:r>
                <a:r>
                  <a:rPr lang="el-GR" altLang="zh-TW" i="1" dirty="0"/>
                  <a:t>Θ</a:t>
                </a:r>
                <a:r>
                  <a:rPr lang="en-US" altLang="zh-TW" dirty="0" smtClean="0"/>
                  <a:t>(|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|</a:t>
                </a:r>
                <a:r>
                  <a:rPr lang="en-US" altLang="zh-TW" baseline="30000" dirty="0"/>
                  <a:t>1</a:t>
                </a:r>
                <a:r>
                  <a:rPr lang="en-US" altLang="zh-TW" i="1" baseline="30000" dirty="0"/>
                  <a:t>−</a:t>
                </a:r>
                <a:r>
                  <a:rPr lang="en-US" altLang="zh-TW" baseline="30000" dirty="0"/>
                  <a:t>1</a:t>
                </a:r>
                <a:r>
                  <a:rPr lang="en-US" altLang="zh-TW" i="1" baseline="30000" dirty="0"/>
                  <a:t>/k</a:t>
                </a:r>
                <a:r>
                  <a:rPr lang="en-US" altLang="zh-TW" dirty="0"/>
                  <a:t>).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1926" b="-14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New Definition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3611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i="1" dirty="0"/>
                  <a:t>n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altLang="zh-TW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TW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α</m:t>
                        </m:r>
                      </m:e>
                      <m:sup>
                        <m:sSup>
                          <m:sSupPr>
                            <m:ctrlPr>
                              <a:rPr lang="el-GR" altLang="zh-TW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den>
                            </m:f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sup>
                        </m:sSup>
                      </m:sup>
                    </m:sSup>
                  </m:oMath>
                </a14:m>
                <a:endParaRPr lang="en-US" altLang="zh-TW" dirty="0" smtClean="0"/>
              </a:p>
              <a:p>
                <a:r>
                  <a:rPr lang="el-GR" altLang="zh-TW" dirty="0" smtClean="0"/>
                  <a:t>α</a:t>
                </a:r>
                <a:r>
                  <a:rPr lang="en-US" altLang="zh-TW" dirty="0" smtClean="0"/>
                  <a:t>=10, </a:t>
                </a:r>
                <a:r>
                  <a:rPr lang="en-US" altLang="zh-TW" i="1" dirty="0" smtClean="0"/>
                  <a:t>k</a:t>
                </a:r>
                <a:r>
                  <a:rPr lang="en-US" altLang="zh-TW" dirty="0" smtClean="0"/>
                  <a:t>=2, </a:t>
                </a:r>
                <a:r>
                  <a:rPr lang="en-US" altLang="zh-TW" i="1" dirty="0" smtClean="0"/>
                  <a:t>n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=10</a:t>
                </a:r>
                <a:r>
                  <a:rPr lang="en-US" altLang="zh-TW" baseline="30000" dirty="0" smtClean="0"/>
                  <a:t>2</a:t>
                </a:r>
                <a:r>
                  <a:rPr lang="en-US" altLang="zh-TW" dirty="0" smtClean="0"/>
                  <a:t>, </a:t>
                </a:r>
                <a:r>
                  <a:rPr lang="en-US" altLang="zh-TW" i="1" dirty="0" smtClean="0"/>
                  <a:t>n</a:t>
                </a:r>
                <a:r>
                  <a:rPr lang="en-US" altLang="zh-TW" baseline="-25000" dirty="0" smtClean="0"/>
                  <a:t>2</a:t>
                </a:r>
                <a:r>
                  <a:rPr lang="en-US" altLang="zh-TW" dirty="0" smtClean="0"/>
                  <a:t>=10</a:t>
                </a:r>
                <a:r>
                  <a:rPr lang="en-US" altLang="zh-TW" baseline="30000" dirty="0" smtClean="0"/>
                  <a:t>4</a:t>
                </a:r>
                <a:r>
                  <a:rPr lang="en-US" altLang="zh-TW" dirty="0" smtClean="0"/>
                  <a:t>, </a:t>
                </a:r>
                <a:r>
                  <a:rPr lang="en-US" altLang="zh-TW" i="1" dirty="0" smtClean="0"/>
                  <a:t>n</a:t>
                </a:r>
                <a:r>
                  <a:rPr lang="en-US" altLang="zh-TW" baseline="-25000" dirty="0" smtClean="0"/>
                  <a:t>3</a:t>
                </a:r>
                <a:r>
                  <a:rPr lang="en-US" altLang="zh-TW" dirty="0" smtClean="0"/>
                  <a:t>=10</a:t>
                </a:r>
                <a:r>
                  <a:rPr lang="en-US" altLang="zh-TW" baseline="30000" dirty="0" smtClean="0"/>
                  <a:t>8</a:t>
                </a:r>
                <a:r>
                  <a:rPr lang="en-US" altLang="zh-TW" dirty="0" smtClean="0"/>
                  <a:t>, so </a:t>
                </a:r>
                <a:r>
                  <a:rPr lang="en-US" altLang="zh-TW" i="1" dirty="0" smtClean="0"/>
                  <a:t>n</a:t>
                </a:r>
                <a:r>
                  <a:rPr lang="en-US" altLang="zh-TW" baseline="-25000" dirty="0" smtClean="0"/>
                  <a:t>3</a:t>
                </a:r>
                <a:r>
                  <a:rPr lang="en-US" altLang="zh-TW" dirty="0" smtClean="0"/>
                  <a:t> has 10</a:t>
                </a:r>
                <a:r>
                  <a:rPr lang="en-US" altLang="zh-TW" baseline="30000" dirty="0" smtClean="0"/>
                  <a:t>8</a:t>
                </a:r>
                <a:r>
                  <a:rPr lang="en-US" altLang="zh-TW" dirty="0" smtClean="0"/>
                  <a:t>/10</a:t>
                </a:r>
                <a:r>
                  <a:rPr lang="en-US" altLang="zh-TW" baseline="30000" dirty="0" smtClean="0"/>
                  <a:t>4</a:t>
                </a:r>
                <a:r>
                  <a:rPr lang="en-US" altLang="zh-TW" dirty="0" smtClean="0"/>
                  <a:t>=10</a:t>
                </a:r>
                <a:r>
                  <a:rPr lang="en-US" altLang="zh-TW" baseline="30000" dirty="0" smtClean="0"/>
                  <a:t>4</a:t>
                </a:r>
                <a:r>
                  <a:rPr lang="en-US" altLang="zh-TW" dirty="0" smtClean="0"/>
                  <a:t>=(10</a:t>
                </a:r>
                <a:r>
                  <a:rPr lang="en-US" altLang="zh-TW" baseline="30000" dirty="0" smtClean="0"/>
                  <a:t>8</a:t>
                </a:r>
                <a:r>
                  <a:rPr lang="en-US" altLang="zh-TW" dirty="0" smtClean="0"/>
                  <a:t>)</a:t>
                </a:r>
                <a:r>
                  <a:rPr lang="en-US" altLang="zh-TW" baseline="30000" dirty="0" smtClean="0"/>
                  <a:t>1/2</a:t>
                </a:r>
                <a:r>
                  <a:rPr lang="en-US" altLang="zh-TW" dirty="0" smtClean="0"/>
                  <a:t> children, each with weight </a:t>
                </a:r>
                <a:r>
                  <a:rPr lang="en-US" altLang="zh-TW" dirty="0"/>
                  <a:t>(</a:t>
                </a:r>
                <a:r>
                  <a:rPr lang="en-US" altLang="zh-TW" dirty="0" smtClean="0"/>
                  <a:t>10</a:t>
                </a:r>
                <a:r>
                  <a:rPr lang="en-US" altLang="zh-TW" baseline="30000" dirty="0" smtClean="0"/>
                  <a:t>8</a:t>
                </a:r>
                <a:r>
                  <a:rPr lang="en-US" altLang="zh-TW" dirty="0" smtClean="0"/>
                  <a:t>)</a:t>
                </a:r>
                <a:r>
                  <a:rPr lang="en-US" altLang="zh-TW" baseline="30000" dirty="0" smtClean="0"/>
                  <a:t>1-1/2</a:t>
                </a:r>
                <a:r>
                  <a:rPr lang="en-US" altLang="zh-TW" dirty="0" smtClean="0"/>
                  <a:t>=10</a:t>
                </a:r>
                <a:r>
                  <a:rPr lang="en-US" altLang="zh-TW" baseline="30000" dirty="0" smtClean="0"/>
                  <a:t>4</a:t>
                </a:r>
              </a:p>
              <a:p>
                <a:r>
                  <a:rPr lang="el-GR" altLang="zh-TW" dirty="0"/>
                  <a:t>α</a:t>
                </a:r>
                <a:r>
                  <a:rPr lang="en-US" altLang="zh-TW" dirty="0" smtClean="0"/>
                  <a:t>=60, </a:t>
                </a:r>
                <a:r>
                  <a:rPr lang="en-US" altLang="zh-TW" i="1" dirty="0" smtClean="0"/>
                  <a:t>k</a:t>
                </a:r>
                <a:r>
                  <a:rPr lang="en-US" altLang="zh-TW" dirty="0" smtClean="0"/>
                  <a:t>=3, </a:t>
                </a:r>
                <a:r>
                  <a:rPr lang="en-US" altLang="zh-TW" i="1" dirty="0" smtClean="0"/>
                  <a:t>n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=60</a:t>
                </a:r>
                <a:r>
                  <a:rPr lang="en-US" altLang="zh-TW" baseline="30000" dirty="0" smtClean="0"/>
                  <a:t>1.5</a:t>
                </a:r>
                <a:r>
                  <a:rPr lang="en-US" altLang="zh-TW" dirty="0" smtClean="0"/>
                  <a:t>, </a:t>
                </a:r>
                <a:r>
                  <a:rPr lang="en-US" altLang="zh-TW" i="1" dirty="0" smtClean="0"/>
                  <a:t>n</a:t>
                </a:r>
                <a:r>
                  <a:rPr lang="en-US" altLang="zh-TW" baseline="-25000" dirty="0" smtClean="0"/>
                  <a:t>2</a:t>
                </a:r>
                <a:r>
                  <a:rPr lang="en-US" altLang="zh-TW" dirty="0" smtClean="0"/>
                  <a:t>=60</a:t>
                </a:r>
                <a:r>
                  <a:rPr lang="en-US" altLang="zh-TW" baseline="30000" dirty="0" smtClean="0"/>
                  <a:t>2.25</a:t>
                </a:r>
                <a:r>
                  <a:rPr lang="en-US" altLang="zh-TW" dirty="0" smtClean="0"/>
                  <a:t>, </a:t>
                </a:r>
                <a:r>
                  <a:rPr lang="en-US" altLang="zh-TW" i="1" dirty="0" smtClean="0"/>
                  <a:t>n</a:t>
                </a:r>
                <a:r>
                  <a:rPr lang="en-US" altLang="zh-TW" baseline="-25000" dirty="0" smtClean="0"/>
                  <a:t>3</a:t>
                </a:r>
                <a:r>
                  <a:rPr lang="en-US" altLang="zh-TW" dirty="0" smtClean="0"/>
                  <a:t>=60</a:t>
                </a:r>
                <a:r>
                  <a:rPr lang="en-US" altLang="zh-TW" baseline="30000" dirty="0" smtClean="0"/>
                  <a:t>3.375</a:t>
                </a:r>
                <a:r>
                  <a:rPr lang="en-US" altLang="zh-TW" dirty="0" smtClean="0"/>
                  <a:t>, </a:t>
                </a:r>
                <a:r>
                  <a:rPr lang="en-US" altLang="zh-TW" dirty="0"/>
                  <a:t>so </a:t>
                </a:r>
                <a:r>
                  <a:rPr lang="en-US" altLang="zh-TW" i="1" dirty="0"/>
                  <a:t>n</a:t>
                </a:r>
                <a:r>
                  <a:rPr lang="en-US" altLang="zh-TW" baseline="-25000" dirty="0"/>
                  <a:t>3</a:t>
                </a:r>
                <a:r>
                  <a:rPr lang="en-US" altLang="zh-TW" dirty="0"/>
                  <a:t> has </a:t>
                </a:r>
                <a:r>
                  <a:rPr lang="en-US" altLang="zh-TW" dirty="0" smtClean="0"/>
                  <a:t>60</a:t>
                </a:r>
                <a:r>
                  <a:rPr lang="en-US" altLang="zh-TW" baseline="30000" dirty="0" smtClean="0"/>
                  <a:t>3.375</a:t>
                </a:r>
                <a:r>
                  <a:rPr lang="en-US" altLang="zh-TW" dirty="0" smtClean="0"/>
                  <a:t>/60</a:t>
                </a:r>
                <a:r>
                  <a:rPr lang="en-US" altLang="zh-TW" baseline="30000" dirty="0" smtClean="0"/>
                  <a:t>2.25</a:t>
                </a:r>
                <a:r>
                  <a:rPr lang="en-US" altLang="zh-TW" dirty="0" smtClean="0"/>
                  <a:t>=60</a:t>
                </a:r>
                <a:r>
                  <a:rPr lang="en-US" altLang="zh-TW" baseline="30000" dirty="0" smtClean="0"/>
                  <a:t>1.125</a:t>
                </a:r>
                <a:r>
                  <a:rPr lang="en-US" altLang="zh-TW" dirty="0" smtClean="0"/>
                  <a:t>=(60</a:t>
                </a:r>
                <a:r>
                  <a:rPr lang="en-US" altLang="zh-TW" baseline="30000" dirty="0" smtClean="0"/>
                  <a:t>3.375</a:t>
                </a:r>
                <a:r>
                  <a:rPr lang="en-US" altLang="zh-TW" dirty="0" smtClean="0"/>
                  <a:t>)</a:t>
                </a:r>
                <a:r>
                  <a:rPr lang="en-US" altLang="zh-TW" baseline="30000" dirty="0" smtClean="0"/>
                  <a:t>1/3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children, each with weight </a:t>
                </a:r>
                <a:r>
                  <a:rPr lang="en-US" altLang="zh-TW" dirty="0" smtClean="0"/>
                  <a:t>(60</a:t>
                </a:r>
                <a:r>
                  <a:rPr lang="en-US" altLang="zh-TW" baseline="30000" dirty="0" smtClean="0"/>
                  <a:t>3.375</a:t>
                </a:r>
                <a:r>
                  <a:rPr lang="en-US" altLang="zh-TW" dirty="0" smtClean="0"/>
                  <a:t>)</a:t>
                </a:r>
                <a:r>
                  <a:rPr lang="en-US" altLang="zh-TW" baseline="30000" dirty="0" smtClean="0"/>
                  <a:t>1-1/3</a:t>
                </a:r>
                <a:r>
                  <a:rPr lang="en-US" altLang="zh-TW" dirty="0" smtClean="0"/>
                  <a:t>=</a:t>
                </a:r>
                <a:r>
                  <a:rPr lang="en-US" altLang="zh-TW" dirty="0"/>
                  <a:t>60</a:t>
                </a:r>
                <a:r>
                  <a:rPr lang="en-US" altLang="zh-TW" baseline="30000" dirty="0"/>
                  <a:t>2.25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r="-1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29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9952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Consider a process </a:t>
            </a:r>
            <a:r>
              <a:rPr lang="en-US" altLang="zh-TW" i="1" dirty="0"/>
              <a:t>A </a:t>
            </a:r>
            <a:r>
              <a:rPr lang="en-US" altLang="zh-TW" dirty="0"/>
              <a:t>that traverses a list. When </a:t>
            </a:r>
            <a:r>
              <a:rPr lang="en-US" altLang="zh-TW" i="1" dirty="0"/>
              <a:t>A </a:t>
            </a:r>
            <a:r>
              <a:rPr lang="en-US" altLang="zh-TW" dirty="0"/>
              <a:t>begins, the length of the list is </a:t>
            </a:r>
            <a:r>
              <a:rPr lang="en-US" altLang="zh-TW" i="1" dirty="0"/>
              <a:t>m </a:t>
            </a:r>
            <a:r>
              <a:rPr lang="en-US" altLang="zh-TW" dirty="0"/>
              <a:t>and </a:t>
            </a:r>
            <a:r>
              <a:rPr lang="en-US" altLang="zh-TW" i="1" dirty="0" smtClean="0"/>
              <a:t>A </a:t>
            </a:r>
            <a:r>
              <a:rPr lang="en-US" altLang="zh-TW" dirty="0" smtClean="0"/>
              <a:t>is </a:t>
            </a:r>
            <a:r>
              <a:rPr lang="en-US" altLang="zh-TW" dirty="0"/>
              <a:t>given </a:t>
            </a:r>
            <a:r>
              <a:rPr lang="en-US" altLang="zh-TW" i="1" dirty="0"/>
              <a:t>m </a:t>
            </a:r>
            <a:r>
              <a:rPr lang="en-US" altLang="zh-TW" dirty="0"/>
              <a:t>steps to traverse the list, one element per step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Now, assume that between </a:t>
            </a:r>
            <a:r>
              <a:rPr lang="en-US" altLang="zh-TW" dirty="0" smtClean="0"/>
              <a:t>two </a:t>
            </a:r>
            <a:r>
              <a:rPr lang="en-US" altLang="zh-TW" dirty="0"/>
              <a:t>steps of </a:t>
            </a:r>
            <a:r>
              <a:rPr lang="en-US" altLang="zh-TW" i="1" dirty="0"/>
              <a:t>A</a:t>
            </a:r>
            <a:r>
              <a:rPr lang="en-US" altLang="zh-TW" dirty="0"/>
              <a:t>, another process </a:t>
            </a:r>
            <a:r>
              <a:rPr lang="en-US" altLang="zh-TW" i="1" dirty="0"/>
              <a:t>B </a:t>
            </a:r>
            <a:r>
              <a:rPr lang="en-US" altLang="zh-TW" dirty="0"/>
              <a:t>adds a new element to the list. Then, in order to ensure </a:t>
            </a:r>
            <a:r>
              <a:rPr lang="en-US" altLang="zh-TW" dirty="0" smtClean="0"/>
              <a:t>that </a:t>
            </a:r>
            <a:r>
              <a:rPr lang="en-US" altLang="zh-TW" i="1" dirty="0" smtClean="0"/>
              <a:t>A </a:t>
            </a:r>
            <a:r>
              <a:rPr lang="en-US" altLang="zh-TW" dirty="0"/>
              <a:t>will not need any extra step, we let </a:t>
            </a:r>
            <a:r>
              <a:rPr lang="en-US" altLang="zh-TW" i="1" dirty="0"/>
              <a:t>B compensate A </a:t>
            </a:r>
            <a:r>
              <a:rPr lang="en-US" altLang="zh-TW" dirty="0"/>
              <a:t>by progressing </a:t>
            </a:r>
            <a:r>
              <a:rPr lang="en-US" altLang="zh-TW" i="1" dirty="0"/>
              <a:t>A </a:t>
            </a:r>
            <a:r>
              <a:rPr lang="en-US" altLang="zh-TW" dirty="0"/>
              <a:t>by one step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Compensation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1640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0"/>
            <a:ext cx="5562600" cy="405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68"/>
          <a:stretch/>
        </p:blipFill>
        <p:spPr bwMode="auto">
          <a:xfrm>
            <a:off x="2771800" y="4149080"/>
            <a:ext cx="6267450" cy="2603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2463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fter </a:t>
            </a:r>
            <a:r>
              <a:rPr lang="en-US" altLang="zh-TW" dirty="0"/>
              <a:t>each join or split, we want to allow for some unspecified </a:t>
            </a:r>
            <a:r>
              <a:rPr lang="en-US" altLang="zh-TW" i="1" dirty="0" err="1" smtClean="0"/>
              <a:t>postprocessing</a:t>
            </a:r>
            <a:r>
              <a:rPr lang="en-US" altLang="zh-TW" i="1" dirty="0" smtClean="0"/>
              <a:t> </a:t>
            </a:r>
            <a:r>
              <a:rPr lang="en-US" altLang="zh-TW" dirty="0" smtClean="0"/>
              <a:t>before </a:t>
            </a:r>
            <a:r>
              <a:rPr lang="en-US" altLang="zh-TW" dirty="0"/>
              <a:t>the involved nodes can participate in new joins and splits. </a:t>
            </a:r>
            <a:endParaRPr lang="en-US" altLang="zh-TW" dirty="0" smtClean="0"/>
          </a:p>
          <a:p>
            <a:r>
              <a:rPr lang="en-US" altLang="zh-TW" dirty="0" smtClean="0"/>
              <a:t>This </a:t>
            </a:r>
            <a:r>
              <a:rPr lang="en-US" altLang="zh-TW" dirty="0" err="1">
                <a:solidFill>
                  <a:srgbClr val="FF0000"/>
                </a:solidFill>
              </a:rPr>
              <a:t>postprocessing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 smtClean="0"/>
              <a:t>time will</a:t>
            </a:r>
            <a:r>
              <a:rPr lang="en-US" altLang="zh-TW" dirty="0"/>
              <a:t>, for example, be used to </a:t>
            </a:r>
            <a:r>
              <a:rPr lang="en-US" altLang="zh-TW" dirty="0">
                <a:solidFill>
                  <a:srgbClr val="FF0000"/>
                </a:solidFill>
              </a:rPr>
              <a:t>update parent pointers and </a:t>
            </a:r>
            <a:r>
              <a:rPr lang="en-US" altLang="zh-TW" i="1" dirty="0">
                <a:solidFill>
                  <a:srgbClr val="FF0000"/>
                </a:solidFill>
              </a:rPr>
              <a:t>S</a:t>
            </a:r>
            <a:r>
              <a:rPr lang="en-US" altLang="zh-TW" dirty="0">
                <a:solidFill>
                  <a:srgbClr val="FF0000"/>
                </a:solidFill>
              </a:rPr>
              <a:t>-structures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If </a:t>
            </a:r>
            <a:r>
              <a:rPr lang="en-US" altLang="zh-TW" dirty="0" smtClean="0"/>
              <a:t>a data </a:t>
            </a:r>
            <a:r>
              <a:rPr lang="en-US" altLang="zh-TW" dirty="0"/>
              <a:t>structure is changed by some other operation before the </a:t>
            </a:r>
            <a:r>
              <a:rPr lang="en-US" altLang="zh-TW" dirty="0" err="1"/>
              <a:t>postprocessing</a:t>
            </a:r>
            <a:r>
              <a:rPr lang="en-US" altLang="zh-TW" dirty="0"/>
              <a:t> is finished, </a:t>
            </a:r>
            <a:r>
              <a:rPr lang="en-US" altLang="zh-TW" dirty="0" smtClean="0">
                <a:solidFill>
                  <a:srgbClr val="FF0000"/>
                </a:solidFill>
              </a:rPr>
              <a:t>the </a:t>
            </a:r>
            <a:r>
              <a:rPr lang="en-US" altLang="zh-TW" dirty="0" err="1" smtClean="0">
                <a:solidFill>
                  <a:srgbClr val="FF0000"/>
                </a:solidFill>
              </a:rPr>
              <a:t>postprocessing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will be compensated</a:t>
            </a:r>
            <a:r>
              <a:rPr lang="en-US" altLang="zh-TW" dirty="0"/>
              <a:t>, and therefore </a:t>
            </a:r>
            <a:r>
              <a:rPr lang="en-US" altLang="zh-TW" dirty="0">
                <a:solidFill>
                  <a:srgbClr val="FF0000"/>
                </a:solidFill>
              </a:rPr>
              <a:t>it will always finish within the number </a:t>
            </a:r>
            <a:r>
              <a:rPr lang="en-US" altLang="zh-TW" dirty="0" smtClean="0">
                <a:solidFill>
                  <a:srgbClr val="FF0000"/>
                </a:solidFill>
              </a:rPr>
              <a:t>of steps </a:t>
            </a:r>
            <a:r>
              <a:rPr lang="en-US" altLang="zh-TW" dirty="0">
                <a:solidFill>
                  <a:srgbClr val="FF0000"/>
                </a:solidFill>
              </a:rPr>
              <a:t>allocated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 err="1"/>
              <a:t>P</a:t>
            </a:r>
            <a:r>
              <a:rPr lang="en-US" altLang="zh-TW" b="0" dirty="0" err="1" smtClean="0"/>
              <a:t>ostprocessing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319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</a:t>
            </a:r>
            <a:r>
              <a:rPr lang="en-US" altLang="zh-TW" dirty="0" smtClean="0"/>
              <a:t>et </a:t>
            </a:r>
            <a:r>
              <a:rPr lang="en-US" altLang="zh-TW" i="1" dirty="0"/>
              <a:t>u </a:t>
            </a:r>
            <a:r>
              <a:rPr lang="en-US" altLang="zh-TW" dirty="0"/>
              <a:t>be the predecessor of </a:t>
            </a:r>
            <a:r>
              <a:rPr lang="en-US" altLang="zh-TW" i="1" dirty="0"/>
              <a:t>v </a:t>
            </a:r>
            <a:r>
              <a:rPr lang="en-US" altLang="zh-TW" dirty="0" smtClean="0"/>
              <a:t>in their </a:t>
            </a:r>
            <a:r>
              <a:rPr lang="en-US" altLang="zh-TW" dirty="0"/>
              <a:t>parent’s children list </a:t>
            </a:r>
            <a:r>
              <a:rPr lang="en-US" altLang="zh-TW" i="1" dirty="0"/>
              <a:t>C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A </a:t>
            </a:r>
            <a:r>
              <a:rPr lang="en-US" altLang="zh-TW" i="1" dirty="0"/>
              <a:t>join </a:t>
            </a:r>
            <a:r>
              <a:rPr lang="en-US" altLang="zh-TW" dirty="0"/>
              <a:t>of </a:t>
            </a:r>
            <a:r>
              <a:rPr lang="en-US" altLang="zh-TW" i="1" dirty="0"/>
              <a:t>u </a:t>
            </a:r>
            <a:r>
              <a:rPr lang="en-US" altLang="zh-TW" dirty="0"/>
              <a:t>and </a:t>
            </a:r>
            <a:r>
              <a:rPr lang="en-US" altLang="zh-TW" i="1" dirty="0"/>
              <a:t>v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append </a:t>
            </a:r>
            <a:r>
              <a:rPr lang="en-US" altLang="zh-TW" dirty="0"/>
              <a:t>the children list of </a:t>
            </a:r>
            <a:r>
              <a:rPr lang="en-US" altLang="zh-TW" i="1" dirty="0" smtClean="0"/>
              <a:t>v </a:t>
            </a:r>
            <a:r>
              <a:rPr lang="en-US" altLang="zh-TW" dirty="0" smtClean="0"/>
              <a:t>to </a:t>
            </a:r>
            <a:r>
              <a:rPr lang="en-US" altLang="zh-TW" dirty="0"/>
              <a:t>that of </a:t>
            </a:r>
            <a:r>
              <a:rPr lang="en-US" altLang="zh-TW" i="1" dirty="0"/>
              <a:t>u </a:t>
            </a:r>
            <a:r>
              <a:rPr lang="en-US" altLang="zh-TW" dirty="0"/>
              <a:t>so that </a:t>
            </a:r>
            <a:r>
              <a:rPr lang="en-US" altLang="zh-TW" i="1" dirty="0"/>
              <a:t>u </a:t>
            </a:r>
            <a:r>
              <a:rPr lang="en-US" altLang="zh-TW" dirty="0"/>
              <a:t>adopts all these children from </a:t>
            </a:r>
            <a:r>
              <a:rPr lang="en-US" altLang="zh-TW" i="1" dirty="0"/>
              <a:t>v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delete </a:t>
            </a:r>
            <a:r>
              <a:rPr lang="en-US" altLang="zh-TW" i="1" dirty="0"/>
              <a:t>v </a:t>
            </a:r>
            <a:r>
              <a:rPr lang="en-US" altLang="zh-TW" dirty="0"/>
              <a:t>from </a:t>
            </a:r>
            <a:r>
              <a:rPr lang="en-US" altLang="zh-TW" i="1" dirty="0"/>
              <a:t>C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A</a:t>
            </a:r>
            <a:r>
              <a:rPr lang="en-US" altLang="zh-TW" dirty="0" smtClean="0"/>
              <a:t> </a:t>
            </a:r>
            <a:r>
              <a:rPr lang="en-US" altLang="zh-TW" i="1" dirty="0"/>
              <a:t>split </a:t>
            </a:r>
            <a:r>
              <a:rPr lang="en-US" altLang="zh-TW" dirty="0"/>
              <a:t>of a node </a:t>
            </a:r>
            <a:r>
              <a:rPr lang="en-US" altLang="zh-TW" i="1" dirty="0"/>
              <a:t>u </a:t>
            </a:r>
            <a:r>
              <a:rPr lang="en-US" altLang="zh-TW" dirty="0"/>
              <a:t>at its child </a:t>
            </a:r>
            <a:r>
              <a:rPr lang="en-US" altLang="zh-TW" i="1" dirty="0"/>
              <a:t>w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add </a:t>
            </a:r>
            <a:r>
              <a:rPr lang="en-US" altLang="zh-TW" dirty="0"/>
              <a:t>a new node </a:t>
            </a:r>
            <a:r>
              <a:rPr lang="en-US" altLang="zh-TW" i="1" dirty="0"/>
              <a:t>v </a:t>
            </a:r>
            <a:r>
              <a:rPr lang="en-US" altLang="zh-TW" dirty="0"/>
              <a:t>after </a:t>
            </a:r>
            <a:r>
              <a:rPr lang="en-US" altLang="zh-TW" i="1" dirty="0"/>
              <a:t>u </a:t>
            </a:r>
            <a:r>
              <a:rPr lang="en-US" altLang="zh-TW" dirty="0"/>
              <a:t>in the </a:t>
            </a:r>
            <a:r>
              <a:rPr lang="en-US" altLang="zh-TW" dirty="0" smtClean="0"/>
              <a:t>children list </a:t>
            </a:r>
            <a:r>
              <a:rPr lang="en-US" altLang="zh-TW" i="1" dirty="0"/>
              <a:t>C </a:t>
            </a:r>
            <a:r>
              <a:rPr lang="en-US" altLang="zh-TW" dirty="0"/>
              <a:t>of </a:t>
            </a:r>
            <a:r>
              <a:rPr lang="en-US" altLang="zh-TW" i="1" dirty="0"/>
              <a:t>u</a:t>
            </a:r>
            <a:r>
              <a:rPr lang="en-US" altLang="zh-TW" dirty="0"/>
              <a:t>’s </a:t>
            </a:r>
            <a:r>
              <a:rPr lang="en-US" altLang="zh-TW" dirty="0" smtClean="0"/>
              <a:t>parent</a:t>
            </a:r>
          </a:p>
          <a:p>
            <a:pPr lvl="1"/>
            <a:r>
              <a:rPr lang="en-US" altLang="zh-TW" dirty="0" smtClean="0"/>
              <a:t>cut </a:t>
            </a:r>
            <a:r>
              <a:rPr lang="en-US" altLang="zh-TW" dirty="0"/>
              <a:t>the children list of </a:t>
            </a:r>
            <a:r>
              <a:rPr lang="en-US" altLang="zh-TW" i="1" dirty="0"/>
              <a:t>u </a:t>
            </a:r>
            <a:r>
              <a:rPr lang="en-US" altLang="zh-TW" dirty="0"/>
              <a:t>just before </a:t>
            </a:r>
            <a:r>
              <a:rPr lang="en-US" altLang="zh-TW" i="1" dirty="0" smtClean="0"/>
              <a:t>w</a:t>
            </a:r>
          </a:p>
          <a:p>
            <a:pPr lvl="1"/>
            <a:r>
              <a:rPr lang="en-US" altLang="zh-TW" dirty="0" smtClean="0"/>
              <a:t>make </a:t>
            </a:r>
            <a:r>
              <a:rPr lang="en-US" altLang="zh-TW" dirty="0"/>
              <a:t>the last </a:t>
            </a:r>
            <a:r>
              <a:rPr lang="en-US" altLang="zh-TW" dirty="0" smtClean="0"/>
              <a:t>part the </a:t>
            </a:r>
            <a:r>
              <a:rPr lang="en-US" altLang="zh-TW" dirty="0"/>
              <a:t>children list of </a:t>
            </a:r>
            <a:r>
              <a:rPr lang="en-US" altLang="zh-TW" i="1" dirty="0"/>
              <a:t>v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Join &amp; Split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8790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the </a:t>
            </a:r>
            <a:r>
              <a:rPr lang="en-US" altLang="zh-TW" dirty="0" err="1"/>
              <a:t>postprocessing</a:t>
            </a:r>
            <a:r>
              <a:rPr lang="en-US" altLang="zh-TW" dirty="0"/>
              <a:t> of a </a:t>
            </a:r>
            <a:r>
              <a:rPr lang="en-US" altLang="zh-TW" dirty="0">
                <a:solidFill>
                  <a:srgbClr val="FF0000"/>
                </a:solidFill>
              </a:rPr>
              <a:t>join</a:t>
            </a:r>
            <a:r>
              <a:rPr lang="en-US" altLang="zh-TW" dirty="0"/>
              <a:t>, the resulting node is not allowed </a:t>
            </a:r>
            <a:r>
              <a:rPr lang="en-US" altLang="zh-TW" dirty="0" smtClean="0"/>
              <a:t>to participate </a:t>
            </a:r>
            <a:r>
              <a:rPr lang="en-US" altLang="zh-TW" dirty="0"/>
              <a:t>in any </a:t>
            </a:r>
            <a:r>
              <a:rPr lang="en-US" altLang="zh-TW" dirty="0">
                <a:solidFill>
                  <a:srgbClr val="FF0000"/>
                </a:solidFill>
              </a:rPr>
              <a:t>joins or splits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In </a:t>
            </a:r>
            <a:r>
              <a:rPr lang="en-US" altLang="zh-TW" dirty="0"/>
              <a:t>the </a:t>
            </a:r>
            <a:r>
              <a:rPr lang="en-US" altLang="zh-TW" dirty="0" err="1"/>
              <a:t>postprocessing</a:t>
            </a:r>
            <a:r>
              <a:rPr lang="en-US" altLang="zh-TW" dirty="0"/>
              <a:t> of a </a:t>
            </a:r>
            <a:r>
              <a:rPr lang="en-US" altLang="zh-TW" dirty="0">
                <a:solidFill>
                  <a:srgbClr val="FF0000"/>
                </a:solidFill>
              </a:rPr>
              <a:t>split</a:t>
            </a:r>
            <a:r>
              <a:rPr lang="en-US" altLang="zh-TW" dirty="0"/>
              <a:t>, the resulting nodes </a:t>
            </a:r>
            <a:r>
              <a:rPr lang="en-US" altLang="zh-TW" dirty="0" smtClean="0"/>
              <a:t>are neither </a:t>
            </a:r>
            <a:r>
              <a:rPr lang="en-US" altLang="zh-TW" dirty="0"/>
              <a:t>allowed to participate directly in a </a:t>
            </a:r>
            <a:r>
              <a:rPr lang="en-US" altLang="zh-TW" dirty="0">
                <a:solidFill>
                  <a:srgbClr val="FF0000"/>
                </a:solidFill>
              </a:rPr>
              <a:t>join or split</a:t>
            </a:r>
            <a:r>
              <a:rPr lang="en-US" altLang="zh-TW" dirty="0"/>
              <a:t>, nor is the </a:t>
            </a:r>
            <a:r>
              <a:rPr lang="en-US" altLang="zh-TW" dirty="0">
                <a:solidFill>
                  <a:srgbClr val="FF0000"/>
                </a:solidFill>
              </a:rPr>
              <a:t>parent</a:t>
            </a:r>
            <a:r>
              <a:rPr lang="en-US" altLang="zh-TW" dirty="0"/>
              <a:t> allowed to </a:t>
            </a:r>
            <a:r>
              <a:rPr lang="en-US" altLang="zh-TW" dirty="0" smtClean="0">
                <a:solidFill>
                  <a:srgbClr val="FF0000"/>
                </a:solidFill>
              </a:rPr>
              <a:t>split between </a:t>
            </a:r>
            <a:r>
              <a:rPr lang="en-US" altLang="zh-TW" dirty="0">
                <a:solidFill>
                  <a:srgbClr val="FF0000"/>
                </a:solidFill>
              </a:rPr>
              <a:t>them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Each round of </a:t>
            </a:r>
            <a:r>
              <a:rPr lang="en-US" altLang="zh-TW" dirty="0" err="1" smtClean="0"/>
              <a:t>postprocessing</a:t>
            </a:r>
            <a:r>
              <a:rPr lang="en-US" altLang="zh-TW" dirty="0" smtClean="0"/>
              <a:t> change 84 pointers.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Join &amp; Split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357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Given a number series </a:t>
            </a:r>
            <a:r>
              <a:rPr lang="en-US" altLang="zh-TW" i="1" dirty="0"/>
              <a:t>n</a:t>
            </a:r>
            <a:r>
              <a:rPr lang="en-US" altLang="zh-TW" baseline="-25000" dirty="0"/>
              <a:t>1</a:t>
            </a:r>
            <a:r>
              <a:rPr lang="en-US" altLang="zh-TW" dirty="0"/>
              <a:t>, </a:t>
            </a:r>
            <a:r>
              <a:rPr lang="en-US" altLang="zh-TW" i="1" dirty="0"/>
              <a:t>n</a:t>
            </a:r>
            <a:r>
              <a:rPr lang="en-US" altLang="zh-TW" baseline="-25000" dirty="0"/>
              <a:t>2</a:t>
            </a:r>
            <a:r>
              <a:rPr lang="en-US" altLang="zh-TW" dirty="0"/>
              <a:t>, . . ., with </a:t>
            </a:r>
            <a:r>
              <a:rPr lang="en-US" altLang="zh-TW" i="1" dirty="0">
                <a:solidFill>
                  <a:srgbClr val="FF0000"/>
                </a:solidFill>
              </a:rPr>
              <a:t>n</a:t>
            </a:r>
            <a:r>
              <a:rPr lang="en-US" altLang="zh-TW" baseline="-25000" dirty="0">
                <a:solidFill>
                  <a:srgbClr val="FF0000"/>
                </a:solidFill>
              </a:rPr>
              <a:t>1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≥ </a:t>
            </a:r>
            <a:r>
              <a:rPr lang="en-US" altLang="zh-TW" dirty="0">
                <a:solidFill>
                  <a:srgbClr val="FF0000"/>
                </a:solidFill>
              </a:rPr>
              <a:t>84, </a:t>
            </a:r>
            <a:r>
              <a:rPr lang="en-US" altLang="zh-TW" i="1" dirty="0">
                <a:solidFill>
                  <a:srgbClr val="FF0000"/>
                </a:solidFill>
              </a:rPr>
              <a:t>n</a:t>
            </a:r>
            <a:r>
              <a:rPr lang="en-US" altLang="zh-TW" i="1" baseline="-25000" dirty="0">
                <a:solidFill>
                  <a:srgbClr val="FF0000"/>
                </a:solidFill>
              </a:rPr>
              <a:t>i</a:t>
            </a:r>
            <a:r>
              <a:rPr lang="en-US" altLang="zh-TW" baseline="-25000" dirty="0">
                <a:solidFill>
                  <a:srgbClr val="FF0000"/>
                </a:solidFill>
              </a:rPr>
              <a:t>+1</a:t>
            </a:r>
            <a:r>
              <a:rPr lang="en-US" altLang="zh-TW" dirty="0">
                <a:solidFill>
                  <a:srgbClr val="FF0000"/>
                </a:solidFill>
              </a:rPr>
              <a:t> &gt; 19</a:t>
            </a:r>
            <a:r>
              <a:rPr lang="en-US" altLang="zh-TW" i="1" dirty="0">
                <a:solidFill>
                  <a:srgbClr val="FF0000"/>
                </a:solidFill>
              </a:rPr>
              <a:t>n</a:t>
            </a:r>
            <a:r>
              <a:rPr lang="en-US" altLang="zh-TW" i="1" baseline="-25000" dirty="0">
                <a:solidFill>
                  <a:srgbClr val="FF0000"/>
                </a:solidFill>
              </a:rPr>
              <a:t>i</a:t>
            </a:r>
            <a:r>
              <a:rPr lang="en-US" altLang="zh-TW" dirty="0"/>
              <a:t>, we can </a:t>
            </a:r>
            <a:r>
              <a:rPr lang="en-US" altLang="zh-TW" dirty="0" smtClean="0"/>
              <a:t>schedule split </a:t>
            </a:r>
            <a:r>
              <a:rPr lang="en-US" altLang="zh-TW" dirty="0"/>
              <a:t>and joins to maintain a </a:t>
            </a:r>
            <a:r>
              <a:rPr lang="en-US" altLang="zh-TW" dirty="0" err="1"/>
              <a:t>multiway</a:t>
            </a:r>
            <a:r>
              <a:rPr lang="en-US" altLang="zh-TW" dirty="0"/>
              <a:t> tree where each non-root node </a:t>
            </a:r>
            <a:r>
              <a:rPr lang="en-US" altLang="zh-TW" i="1" dirty="0"/>
              <a:t>v</a:t>
            </a:r>
            <a:r>
              <a:rPr lang="en-US" altLang="zh-TW" dirty="0"/>
              <a:t> on height </a:t>
            </a:r>
            <a:r>
              <a:rPr lang="en-US" altLang="zh-TW" i="1" dirty="0" err="1"/>
              <a:t>i</a:t>
            </a:r>
            <a:r>
              <a:rPr lang="en-US" altLang="zh-TW" dirty="0"/>
              <a:t> &gt; 0 </a:t>
            </a:r>
            <a:r>
              <a:rPr lang="en-US" altLang="zh-TW" dirty="0" smtClean="0"/>
              <a:t>has weight </a:t>
            </a:r>
            <a:r>
              <a:rPr lang="en-US" altLang="zh-TW" dirty="0"/>
              <a:t>between 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i</a:t>
            </a:r>
            <a:r>
              <a:rPr lang="en-US" altLang="zh-TW" dirty="0"/>
              <a:t>/4 and 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i</a:t>
            </a:r>
            <a:r>
              <a:rPr lang="en-US" altLang="zh-TW" dirty="0"/>
              <a:t>. A root node on height </a:t>
            </a:r>
            <a:r>
              <a:rPr lang="en-US" altLang="zh-TW" i="1" dirty="0"/>
              <a:t>h</a:t>
            </a:r>
            <a:r>
              <a:rPr lang="en-US" altLang="zh-TW" dirty="0"/>
              <a:t> &gt; 0 has weight at most 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h</a:t>
            </a:r>
            <a:r>
              <a:rPr lang="en-US" altLang="zh-TW" dirty="0"/>
              <a:t> and at least </a:t>
            </a:r>
            <a:r>
              <a:rPr lang="en-US" altLang="zh-TW" dirty="0" smtClean="0"/>
              <a:t>2 children</a:t>
            </a:r>
            <a:r>
              <a:rPr lang="en-US" altLang="zh-TW" dirty="0"/>
              <a:t>, so the root has weight at least </a:t>
            </a:r>
            <a:r>
              <a:rPr lang="en-US" altLang="zh-TW" i="1" dirty="0"/>
              <a:t>n</a:t>
            </a:r>
            <a:r>
              <a:rPr lang="en-US" altLang="zh-TW" i="1" baseline="-25000" dirty="0"/>
              <a:t>h</a:t>
            </a:r>
            <a:r>
              <a:rPr lang="en-US" altLang="zh-TW" baseline="-25000" dirty="0"/>
              <a:t>−1</a:t>
            </a:r>
            <a:r>
              <a:rPr lang="en-US" altLang="zh-TW" dirty="0"/>
              <a:t>/2. The schedule gives the following properties:</a:t>
            </a:r>
          </a:p>
          <a:p>
            <a:pPr lvl="1"/>
            <a:r>
              <a:rPr lang="en-US" altLang="zh-TW" dirty="0" smtClean="0"/>
              <a:t>When </a:t>
            </a:r>
            <a:r>
              <a:rPr lang="en-US" altLang="zh-TW" dirty="0"/>
              <a:t>a leaf </a:t>
            </a:r>
            <a:r>
              <a:rPr lang="en-US" altLang="zh-TW" i="1" dirty="0"/>
              <a:t>v</a:t>
            </a:r>
            <a:r>
              <a:rPr lang="en-US" altLang="zh-TW" dirty="0"/>
              <a:t> is inserted or deleted, for each node </a:t>
            </a:r>
            <a:r>
              <a:rPr lang="en-US" altLang="zh-TW" i="1" dirty="0"/>
              <a:t>u</a:t>
            </a:r>
            <a:r>
              <a:rPr lang="en-US" altLang="zh-TW" dirty="0"/>
              <a:t> on the path from </a:t>
            </a:r>
            <a:r>
              <a:rPr lang="en-US" altLang="zh-TW" i="1" dirty="0"/>
              <a:t>v</a:t>
            </a:r>
            <a:r>
              <a:rPr lang="en-US" altLang="zh-TW" dirty="0"/>
              <a:t> to the </a:t>
            </a:r>
            <a:r>
              <a:rPr lang="en-US" altLang="zh-TW" dirty="0" smtClean="0"/>
              <a:t>root the </a:t>
            </a:r>
            <a:r>
              <a:rPr lang="en-US" altLang="zh-TW" dirty="0"/>
              <a:t>schedule uses one local update step contributing to the </a:t>
            </a:r>
            <a:r>
              <a:rPr lang="en-US" altLang="zh-TW" dirty="0" err="1"/>
              <a:t>postprocessing</a:t>
            </a:r>
            <a:r>
              <a:rPr lang="en-US" altLang="zh-TW" dirty="0"/>
              <a:t> of at most one </a:t>
            </a:r>
            <a:r>
              <a:rPr lang="en-US" altLang="zh-TW" dirty="0" smtClean="0"/>
              <a:t>join or </a:t>
            </a:r>
            <a:r>
              <a:rPr lang="en-US" altLang="zh-TW" dirty="0"/>
              <a:t>split involving either </a:t>
            </a:r>
            <a:r>
              <a:rPr lang="en-US" altLang="zh-TW" i="1" dirty="0"/>
              <a:t>u</a:t>
            </a:r>
            <a:r>
              <a:rPr lang="en-US" altLang="zh-TW" dirty="0"/>
              <a:t> or a neighbor of </a:t>
            </a:r>
            <a:r>
              <a:rPr lang="en-US" altLang="zh-TW" i="1" dirty="0"/>
              <a:t>u</a:t>
            </a:r>
            <a:r>
              <a:rPr lang="en-US" altLang="zh-TW" dirty="0"/>
              <a:t>. In addition to the local updates, the </a:t>
            </a:r>
            <a:r>
              <a:rPr lang="en-US" altLang="zh-TW" dirty="0" smtClean="0"/>
              <a:t>schedule spends </a:t>
            </a:r>
            <a:r>
              <a:rPr lang="en-US" altLang="zh-TW" dirty="0"/>
              <a:t>constant time on each level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For </a:t>
            </a:r>
            <a:r>
              <a:rPr lang="en-US" altLang="zh-TW" dirty="0"/>
              <a:t>each split or join at level </a:t>
            </a:r>
            <a:r>
              <a:rPr lang="en-US" altLang="zh-TW" i="1" dirty="0" err="1"/>
              <a:t>i</a:t>
            </a:r>
            <a:r>
              <a:rPr lang="en-US" altLang="zh-TW" dirty="0"/>
              <a:t> the schedule ensures that we have 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i</a:t>
            </a:r>
            <a:r>
              <a:rPr lang="en-US" altLang="zh-TW" dirty="0"/>
              <a:t>/84 local </a:t>
            </a:r>
            <a:r>
              <a:rPr lang="en-US" altLang="zh-TW" dirty="0" smtClean="0"/>
              <a:t>update steps </a:t>
            </a:r>
            <a:r>
              <a:rPr lang="en-US" altLang="zh-TW" dirty="0"/>
              <a:t>available for </a:t>
            </a:r>
            <a:r>
              <a:rPr lang="en-US" altLang="zh-TW" dirty="0" err="1"/>
              <a:t>postprocessing</a:t>
            </a:r>
            <a:r>
              <a:rPr lang="en-US" altLang="zh-TW" dirty="0"/>
              <a:t>, including one at the time of the split or join.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35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Theorem 8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0514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With </a:t>
                </a:r>
                <a:r>
                  <a:rPr lang="el-GR" altLang="zh-TW" dirty="0"/>
                  <a:t>α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= max{84</a:t>
                </a:r>
                <a:r>
                  <a:rPr lang="en-US" altLang="zh-TW" baseline="30000" dirty="0"/>
                  <a:t>(</a:t>
                </a:r>
                <a:r>
                  <a:rPr lang="en-US" altLang="zh-TW" i="1" baseline="30000" dirty="0"/>
                  <a:t>k</a:t>
                </a:r>
                <a:r>
                  <a:rPr lang="en-US" altLang="zh-TW" baseline="30000" dirty="0"/>
                  <a:t>−1)/</a:t>
                </a:r>
                <a:r>
                  <a:rPr lang="en-US" altLang="zh-TW" i="1" baseline="30000" dirty="0"/>
                  <a:t>k</a:t>
                </a:r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0" smtClean="0">
                            <a:latin typeface="Cambria Math"/>
                          </a:rPr>
                          <m:t>19</m:t>
                        </m:r>
                      </m:e>
                      <m:sup>
                        <m:sSup>
                          <m:sSupPr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b="0" i="0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𝑘</m:t>
                            </m:r>
                            <m:r>
                              <a:rPr lang="en-US" altLang="zh-TW" b="0" i="0" smtClean="0">
                                <a:latin typeface="Cambria Math"/>
                              </a:rPr>
                              <m:t>−1)</m:t>
                            </m:r>
                          </m:e>
                          <m:sup>
                            <m:r>
                              <a:rPr lang="en-US" altLang="zh-TW" b="0" i="0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b="0" i="0" smtClean="0">
                            <a:latin typeface="Cambria Math"/>
                          </a:rPr>
                          <m:t>/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TW" dirty="0"/>
                  <a:t>} and 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altLang="zh-TW" i="1" dirty="0"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TW" i="1" dirty="0">
                            <a:latin typeface="Cambria Math"/>
                          </a:rPr>
                          <m:t>α</m:t>
                        </m:r>
                      </m:e>
                      <m:sup>
                        <m:sSup>
                          <m:sSupPr>
                            <m:ctrlPr>
                              <a:rPr lang="el-GR" altLang="zh-TW" i="1" dirty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latin typeface="Cambria Math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TW" i="1" dirty="0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altLang="zh-TW" i="1" dirty="0">
                                    <a:latin typeface="Cambria Math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altLang="zh-TW" i="1" dirty="0"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altLang="zh-TW" i="1" dirty="0">
                                    <a:latin typeface="Cambria Math"/>
                                  </a:rPr>
                                  <m:t>−1</m:t>
                                </m:r>
                              </m:den>
                            </m:f>
                            <m:r>
                              <a:rPr lang="en-US" altLang="zh-TW" i="1" dirty="0"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 dirty="0">
                                <a:latin typeface="Cambria Math"/>
                              </a:rPr>
                              <m:t>𝑖</m:t>
                            </m:r>
                          </m:sup>
                        </m:sSup>
                      </m:sup>
                    </m:sSup>
                    <m:r>
                      <a:rPr lang="en-US" altLang="zh-TW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dirty="0"/>
                  <a:t>as in Definition </a:t>
                </a:r>
                <a:r>
                  <a:rPr lang="en-US" altLang="zh-TW" dirty="0" smtClean="0"/>
                  <a:t>7, then </a:t>
                </a:r>
                <a:r>
                  <a:rPr lang="en-US" altLang="zh-TW" i="1" dirty="0"/>
                  <a:t>n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≥ </a:t>
                </a:r>
                <a:r>
                  <a:rPr lang="en-US" altLang="zh-TW" dirty="0"/>
                  <a:t>84 and </a:t>
                </a:r>
                <a:r>
                  <a:rPr lang="en-US" altLang="zh-TW" i="1" dirty="0"/>
                  <a:t>n</a:t>
                </a:r>
                <a:r>
                  <a:rPr lang="en-US" altLang="zh-TW" i="1" baseline="-25000" dirty="0"/>
                  <a:t>i</a:t>
                </a:r>
                <a:r>
                  <a:rPr lang="en-US" altLang="zh-TW" baseline="-25000" dirty="0"/>
                  <a:t>+1</a:t>
                </a:r>
                <a:r>
                  <a:rPr lang="en-US" altLang="zh-TW" dirty="0"/>
                  <a:t>/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≥ </a:t>
                </a:r>
                <a:r>
                  <a:rPr lang="en-US" altLang="zh-TW" dirty="0"/>
                  <a:t>19 for 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≥ </a:t>
                </a:r>
                <a:r>
                  <a:rPr lang="en-US" altLang="zh-TW" dirty="0"/>
                  <a:t>1.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36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Lemma 11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38246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Initial: Given a constant 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 and a list of weight between 24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 and 58</a:t>
            </a:r>
            <a:r>
              <a:rPr lang="en-US" altLang="zh-TW" i="1" dirty="0" smtClean="0"/>
              <a:t>b</a:t>
            </a:r>
          </a:p>
          <a:p>
            <a:r>
              <a:rPr lang="en-US" altLang="zh-TW" dirty="0" smtClean="0"/>
              <a:t>Balance: All weights are between 21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 and 84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Destroyer</a:t>
            </a:r>
          </a:p>
          <a:p>
            <a:pPr lvl="1"/>
            <a:r>
              <a:rPr lang="en-US" altLang="zh-TW" dirty="0" smtClean="0"/>
              <a:t>In each round, increase or decrease one of the weights by 1.</a:t>
            </a:r>
          </a:p>
          <a:p>
            <a:pPr lvl="1"/>
            <a:r>
              <a:rPr lang="en-US" altLang="zh-TW" dirty="0" smtClean="0"/>
              <a:t>Cannot decrease the sum of all weights down below 24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Decide the two weights when splitting with the constraint that the difference is at </a:t>
            </a:r>
            <a:r>
              <a:rPr lang="en-US" altLang="zh-TW" dirty="0"/>
              <a:t>most </a:t>
            </a:r>
            <a:r>
              <a:rPr lang="en-US" altLang="zh-TW" dirty="0" smtClean="0"/>
              <a:t>7b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Balance Game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5221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Keeper: </a:t>
            </a:r>
          </a:p>
          <a:p>
            <a:pPr lvl="1"/>
            <a:r>
              <a:rPr lang="en-US" altLang="zh-TW" dirty="0" smtClean="0"/>
              <a:t>Join two </a:t>
            </a:r>
            <a:r>
              <a:rPr lang="en-US" altLang="zh-TW" dirty="0"/>
              <a:t>neighboring </a:t>
            </a:r>
            <a:r>
              <a:rPr lang="en-US" altLang="zh-TW" dirty="0" smtClean="0"/>
              <a:t>weights or </a:t>
            </a:r>
            <a:r>
              <a:rPr lang="en-US" altLang="zh-TW" dirty="0"/>
              <a:t>split one </a:t>
            </a:r>
            <a:r>
              <a:rPr lang="en-US" altLang="zh-TW" dirty="0" smtClean="0"/>
              <a:t>weights into </a:t>
            </a:r>
            <a:r>
              <a:rPr lang="en-US" altLang="zh-TW" dirty="0"/>
              <a:t>two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Each split or </a:t>
            </a:r>
            <a:r>
              <a:rPr lang="en-US" altLang="zh-TW" dirty="0" smtClean="0"/>
              <a:t>join is </a:t>
            </a:r>
            <a:r>
              <a:rPr lang="en-US" altLang="zh-TW" dirty="0"/>
              <a:t>followed by a </a:t>
            </a:r>
            <a:r>
              <a:rPr lang="en-US" altLang="zh-TW" dirty="0" err="1"/>
              <a:t>postprocessing</a:t>
            </a:r>
            <a:r>
              <a:rPr lang="en-US" altLang="zh-TW" dirty="0"/>
              <a:t> requiring </a:t>
            </a:r>
            <a:r>
              <a:rPr lang="en-US" altLang="zh-TW" i="1" dirty="0"/>
              <a:t>b</a:t>
            </a:r>
            <a:r>
              <a:rPr lang="en-US" altLang="zh-TW" dirty="0"/>
              <a:t> steps during which </a:t>
            </a:r>
            <a:r>
              <a:rPr lang="en-US" altLang="zh-TW" dirty="0" smtClean="0"/>
              <a:t>the involved </a:t>
            </a:r>
            <a:r>
              <a:rPr lang="en-US" altLang="zh-TW" dirty="0"/>
              <a:t>weights may not participate in any other split or join.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When </a:t>
            </a:r>
            <a:r>
              <a:rPr lang="en-US" altLang="zh-TW" dirty="0"/>
              <a:t>it is our turn, </a:t>
            </a:r>
            <a:r>
              <a:rPr lang="en-US" altLang="zh-TW" dirty="0" smtClean="0"/>
              <a:t>we get </a:t>
            </a:r>
            <a:r>
              <a:rPr lang="en-US" altLang="zh-TW" dirty="0"/>
              <a:t>to perform one such step.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Moreover</a:t>
            </a:r>
            <a:r>
              <a:rPr lang="en-US" altLang="zh-TW" dirty="0"/>
              <a:t>, the step may only be performed locally in </a:t>
            </a:r>
            <a:r>
              <a:rPr lang="en-US" altLang="zh-TW" dirty="0" smtClean="0"/>
              <a:t>the sense </a:t>
            </a:r>
            <a:r>
              <a:rPr lang="en-US" altLang="zh-TW" dirty="0"/>
              <a:t>of being on a </a:t>
            </a:r>
            <a:r>
              <a:rPr lang="en-US" altLang="zh-TW" dirty="0" err="1"/>
              <a:t>postprocessing</a:t>
            </a:r>
            <a:r>
              <a:rPr lang="en-US" altLang="zh-TW" dirty="0"/>
              <a:t> involving the weight last changed by the adversary, or </a:t>
            </a:r>
            <a:r>
              <a:rPr lang="en-US" altLang="zh-TW" dirty="0" smtClean="0"/>
              <a:t>a neighboring </a:t>
            </a:r>
            <a:r>
              <a:rPr lang="en-US" altLang="zh-TW" dirty="0"/>
              <a:t>weight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Balance Game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196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4078" indent="-514350">
              <a:buFont typeface="+mj-lt"/>
              <a:buAutoNum type="arabicPeriod"/>
            </a:pPr>
            <a:r>
              <a:rPr lang="en-US" altLang="zh-TW" dirty="0"/>
              <a:t>We say a weight is </a:t>
            </a:r>
            <a:r>
              <a:rPr lang="en-US" altLang="zh-TW" i="1" dirty="0"/>
              <a:t>involved </a:t>
            </a:r>
            <a:r>
              <a:rPr lang="en-US" altLang="zh-TW" dirty="0"/>
              <a:t>if it is involved in a split or </a:t>
            </a:r>
            <a:r>
              <a:rPr lang="en-US" altLang="zh-TW" dirty="0" smtClean="0"/>
              <a:t>sum </a:t>
            </a:r>
            <a:r>
              <a:rPr lang="en-US" altLang="zh-TW" dirty="0" err="1"/>
              <a:t>postprocessing</a:t>
            </a:r>
            <a:r>
              <a:rPr lang="en-US" altLang="zh-TW" dirty="0"/>
              <a:t>; </a:t>
            </a:r>
            <a:r>
              <a:rPr lang="en-US" altLang="zh-TW" dirty="0" smtClean="0"/>
              <a:t>otherwise it </a:t>
            </a:r>
            <a:r>
              <a:rPr lang="en-US" altLang="zh-TW" dirty="0"/>
              <a:t>is </a:t>
            </a:r>
            <a:r>
              <a:rPr lang="en-US" altLang="zh-TW" i="1" dirty="0"/>
              <a:t>free</a:t>
            </a:r>
            <a:r>
              <a:rPr lang="en-US" altLang="zh-TW" dirty="0"/>
              <a:t>.</a:t>
            </a:r>
            <a:endParaRPr lang="en-US" altLang="zh-TW" dirty="0" smtClean="0"/>
          </a:p>
          <a:p>
            <a:pPr marL="624078" indent="-514350">
              <a:buFont typeface="+mj-lt"/>
              <a:buAutoNum type="arabicPeriod"/>
            </a:pPr>
            <a:r>
              <a:rPr lang="en-US" altLang="zh-TW" dirty="0" smtClean="0"/>
              <a:t>If </a:t>
            </a:r>
            <a:r>
              <a:rPr lang="en-US" altLang="zh-TW" dirty="0"/>
              <a:t>a </a:t>
            </a:r>
            <a:r>
              <a:rPr lang="en-US" altLang="zh-TW" dirty="0" smtClean="0"/>
              <a:t>weight gets </a:t>
            </a:r>
            <a:r>
              <a:rPr lang="en-US" altLang="zh-TW" dirty="0"/>
              <a:t>up to </a:t>
            </a:r>
            <a:r>
              <a:rPr lang="en-US" altLang="zh-TW" dirty="0" smtClean="0"/>
              <a:t>58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, </a:t>
            </a:r>
            <a:r>
              <a:rPr lang="en-US" altLang="zh-TW" dirty="0"/>
              <a:t>we start splitting it</a:t>
            </a:r>
            <a:r>
              <a:rPr lang="en-US" altLang="zh-TW" dirty="0" smtClean="0"/>
              <a:t>.</a:t>
            </a:r>
          </a:p>
          <a:p>
            <a:pPr marL="624078" indent="-514350">
              <a:buFont typeface="+mj-lt"/>
              <a:buAutoNum type="arabicPeriod"/>
            </a:pPr>
            <a:r>
              <a:rPr lang="en-US" altLang="zh-TW" dirty="0"/>
              <a:t>If a </a:t>
            </a:r>
            <a:r>
              <a:rPr lang="en-US" altLang="zh-TW" dirty="0" smtClean="0"/>
              <a:t>weight </a:t>
            </a:r>
            <a:r>
              <a:rPr lang="en-US" altLang="zh-TW" i="1" dirty="0" smtClean="0"/>
              <a:t>v </a:t>
            </a:r>
            <a:r>
              <a:rPr lang="en-US" altLang="zh-TW" dirty="0"/>
              <a:t>gets down to </a:t>
            </a:r>
            <a:r>
              <a:rPr lang="en-US" altLang="zh-TW" dirty="0" smtClean="0"/>
              <a:t>24</a:t>
            </a:r>
            <a:r>
              <a:rPr lang="en-US" altLang="zh-TW" i="1" dirty="0" smtClean="0"/>
              <a:t>b </a:t>
            </a:r>
            <a:r>
              <a:rPr lang="en-US" altLang="zh-TW" dirty="0"/>
              <a:t>and has a free neighbor </a:t>
            </a:r>
            <a:r>
              <a:rPr lang="en-US" altLang="zh-TW" i="1" dirty="0"/>
              <a:t>w</a:t>
            </a:r>
            <a:r>
              <a:rPr lang="en-US" altLang="zh-TW" dirty="0"/>
              <a:t>, we join </a:t>
            </a:r>
            <a:r>
              <a:rPr lang="en-US" altLang="zh-TW" i="1" dirty="0"/>
              <a:t>v </a:t>
            </a:r>
            <a:r>
              <a:rPr lang="en-US" altLang="zh-TW" dirty="0"/>
              <a:t>and </a:t>
            </a:r>
            <a:r>
              <a:rPr lang="en-US" altLang="zh-TW" i="1" dirty="0"/>
              <a:t>w</a:t>
            </a:r>
            <a:r>
              <a:rPr lang="en-US" altLang="zh-TW" dirty="0"/>
              <a:t>, </a:t>
            </a:r>
            <a:r>
              <a:rPr lang="en-US" altLang="zh-TW" dirty="0" smtClean="0"/>
              <a:t>untying </a:t>
            </a:r>
            <a:r>
              <a:rPr lang="en-US" altLang="zh-TW" i="1" dirty="0" smtClean="0"/>
              <a:t>w </a:t>
            </a:r>
            <a:r>
              <a:rPr lang="en-US" altLang="zh-TW" dirty="0"/>
              <a:t>from any other neighbor.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Let the Magic Start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2558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624078" indent="-514350">
              <a:buFont typeface="+mj-lt"/>
              <a:buAutoNum type="arabicPeriod" startAt="5"/>
            </a:pPr>
            <a:r>
              <a:rPr lang="en-US" altLang="zh-TW" dirty="0"/>
              <a:t>If a free weight </a:t>
            </a:r>
            <a:r>
              <a:rPr lang="en-US" altLang="zh-TW" i="1" dirty="0"/>
              <a:t>v </a:t>
            </a:r>
            <a:r>
              <a:rPr lang="en-US" altLang="zh-TW" dirty="0"/>
              <a:t>gets down to </a:t>
            </a:r>
            <a:r>
              <a:rPr lang="en-US" altLang="zh-TW" dirty="0" smtClean="0"/>
              <a:t>24</a:t>
            </a:r>
            <a:r>
              <a:rPr lang="en-US" altLang="zh-TW" i="1" dirty="0" smtClean="0"/>
              <a:t>b </a:t>
            </a:r>
            <a:r>
              <a:rPr lang="en-US" altLang="zh-TW" dirty="0"/>
              <a:t>and has no free neighbors, we tie it to any one </a:t>
            </a:r>
            <a:r>
              <a:rPr lang="en-US" altLang="zh-TW" dirty="0" smtClean="0"/>
              <a:t>of its </a:t>
            </a:r>
            <a:r>
              <a:rPr lang="en-US" altLang="zh-TW" dirty="0"/>
              <a:t>neighbors. If </a:t>
            </a:r>
            <a:r>
              <a:rPr lang="en-US" altLang="zh-TW" i="1" dirty="0"/>
              <a:t>v </a:t>
            </a:r>
            <a:r>
              <a:rPr lang="en-US" altLang="zh-TW" dirty="0"/>
              <a:t>later gets back up above </a:t>
            </a:r>
            <a:r>
              <a:rPr lang="en-US" altLang="zh-TW" dirty="0" smtClean="0"/>
              <a:t>24</a:t>
            </a:r>
            <a:r>
              <a:rPr lang="en-US" altLang="zh-TW" i="1" dirty="0" smtClean="0"/>
              <a:t>b</a:t>
            </a:r>
            <a:r>
              <a:rPr lang="en-US" altLang="zh-TW" dirty="0"/>
              <a:t>, it is untied again</a:t>
            </a:r>
            <a:r>
              <a:rPr lang="en-US" altLang="zh-TW" dirty="0" smtClean="0"/>
              <a:t>.</a:t>
            </a:r>
          </a:p>
          <a:p>
            <a:pPr marL="624078" indent="-514350">
              <a:buFont typeface="+mj-lt"/>
              <a:buAutoNum type="arabicPeriod" startAt="5"/>
            </a:pPr>
            <a:r>
              <a:rPr lang="en-US" altLang="zh-TW" dirty="0"/>
              <a:t>When we finish a join </a:t>
            </a:r>
            <a:r>
              <a:rPr lang="en-US" altLang="zh-TW" dirty="0" err="1" smtClean="0"/>
              <a:t>postprocessing</a:t>
            </a:r>
            <a:endParaRPr lang="en-US" altLang="zh-TW" dirty="0" smtClean="0"/>
          </a:p>
          <a:p>
            <a:pPr marL="880110" lvl="1" indent="-514350"/>
            <a:r>
              <a:rPr lang="en-US" altLang="zh-TW" dirty="0" smtClean="0"/>
              <a:t>if </a:t>
            </a:r>
            <a:r>
              <a:rPr lang="en-US" altLang="zh-TW" dirty="0"/>
              <a:t>the resulting weight is ≥</a:t>
            </a:r>
            <a:r>
              <a:rPr lang="en-US" altLang="zh-TW" i="1" dirty="0"/>
              <a:t> </a:t>
            </a:r>
            <a:r>
              <a:rPr lang="en-US" altLang="zh-TW" dirty="0"/>
              <a:t>58</a:t>
            </a:r>
            <a:r>
              <a:rPr lang="en-US" altLang="zh-TW" i="1" dirty="0" smtClean="0"/>
              <a:t>b</a:t>
            </a:r>
            <a:r>
              <a:rPr lang="en-US" altLang="zh-TW" dirty="0"/>
              <a:t>, we </a:t>
            </a:r>
            <a:r>
              <a:rPr lang="en-US" altLang="zh-TW" dirty="0" smtClean="0"/>
              <a:t>immediately start </a:t>
            </a:r>
            <a:r>
              <a:rPr lang="en-US" altLang="zh-TW" dirty="0"/>
              <a:t>splitting it. </a:t>
            </a:r>
            <a:r>
              <a:rPr lang="en-US" altLang="zh-TW" dirty="0" smtClean="0"/>
              <a:t>If </a:t>
            </a:r>
            <a:r>
              <a:rPr lang="en-US" altLang="zh-TW" dirty="0"/>
              <a:t>a neighbor was tied to the joined weight, the tie is transferred </a:t>
            </a:r>
            <a:r>
              <a:rPr lang="en-US" altLang="zh-TW" dirty="0" smtClean="0"/>
              <a:t>to the </a:t>
            </a:r>
            <a:r>
              <a:rPr lang="en-US" altLang="zh-TW" dirty="0"/>
              <a:t>nearest weight resulting from the </a:t>
            </a:r>
            <a:r>
              <a:rPr lang="en-US" altLang="zh-TW" dirty="0" smtClean="0"/>
              <a:t>split.</a:t>
            </a:r>
          </a:p>
          <a:p>
            <a:pPr marL="880110" lvl="1" indent="-514350"/>
            <a:r>
              <a:rPr lang="en-US" altLang="zh-TW" dirty="0" smtClean="0"/>
              <a:t>If </a:t>
            </a:r>
            <a:r>
              <a:rPr lang="en-US" altLang="zh-TW" dirty="0"/>
              <a:t>the weight v resulting from the join is </a:t>
            </a:r>
            <a:r>
              <a:rPr lang="en-US" altLang="zh-TW" i="1" dirty="0"/>
              <a:t>&lt; </a:t>
            </a:r>
            <a:r>
              <a:rPr lang="en-US" altLang="zh-TW" dirty="0"/>
              <a:t>58</a:t>
            </a:r>
            <a:r>
              <a:rPr lang="en-US" altLang="zh-TW" i="1" dirty="0"/>
              <a:t>b</a:t>
            </a:r>
            <a:r>
              <a:rPr lang="en-US" altLang="zh-TW" dirty="0" smtClean="0"/>
              <a:t> </a:t>
            </a:r>
            <a:r>
              <a:rPr lang="en-US" altLang="zh-TW" dirty="0"/>
              <a:t>and </a:t>
            </a:r>
            <a:r>
              <a:rPr lang="en-US" altLang="zh-TW" i="1" dirty="0"/>
              <a:t>v</a:t>
            </a:r>
            <a:r>
              <a:rPr lang="en-US" altLang="zh-TW" dirty="0"/>
              <a:t> is tied by a neighbor, we join </a:t>
            </a:r>
            <a:r>
              <a:rPr lang="en-US" altLang="zh-TW" dirty="0" smtClean="0"/>
              <a:t>with the </a:t>
            </a:r>
            <a:r>
              <a:rPr lang="en-US" altLang="zh-TW" dirty="0"/>
              <a:t>neighbor that tied </a:t>
            </a:r>
            <a:r>
              <a:rPr lang="en-US" altLang="zh-TW" i="1" dirty="0"/>
              <a:t>v</a:t>
            </a:r>
            <a:r>
              <a:rPr lang="en-US" altLang="zh-TW" dirty="0"/>
              <a:t> first</a:t>
            </a:r>
            <a:r>
              <a:rPr lang="en-US" altLang="zh-TW" dirty="0" smtClean="0"/>
              <a:t>.</a:t>
            </a:r>
            <a:endParaRPr lang="en-US" altLang="zh-TW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64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4078" indent="-514350">
              <a:buFont typeface="+mj-lt"/>
              <a:buAutoNum type="arabicPeriod" startAt="8"/>
            </a:pPr>
            <a:r>
              <a:rPr lang="en-US" altLang="zh-TW" dirty="0"/>
              <a:t>At the end of a split </a:t>
            </a:r>
            <a:r>
              <a:rPr lang="en-US" altLang="zh-TW" dirty="0" err="1"/>
              <a:t>postprocessing</a:t>
            </a:r>
            <a:r>
              <a:rPr lang="en-US" altLang="zh-TW" dirty="0"/>
              <a:t>, if any of the resulting weights are tied by </a:t>
            </a:r>
            <a:r>
              <a:rPr lang="en-US" altLang="zh-TW" dirty="0" smtClean="0"/>
              <a:t>a neighbor</a:t>
            </a:r>
            <a:r>
              <a:rPr lang="en-US" altLang="zh-TW" dirty="0"/>
              <a:t>, it joins with that neighbor. Note here that since resulting weights are </a:t>
            </a:r>
            <a:r>
              <a:rPr lang="en-US" altLang="zh-TW" dirty="0" smtClean="0"/>
              <a:t>not tied </a:t>
            </a:r>
            <a:r>
              <a:rPr lang="en-US" altLang="zh-TW" dirty="0"/>
              <a:t>to each other, there cannot be a conflict.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0894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/>
              <a:t>Each free weight is between 21</a:t>
            </a:r>
            <a:r>
              <a:rPr lang="en-US" altLang="zh-TW" i="1" dirty="0"/>
              <a:t>b</a:t>
            </a:r>
            <a:r>
              <a:rPr lang="en-US" altLang="zh-TW" dirty="0"/>
              <a:t> and 58</a:t>
            </a:r>
            <a:r>
              <a:rPr lang="en-US" altLang="zh-TW" i="1" dirty="0"/>
              <a:t>b</a:t>
            </a:r>
            <a:r>
              <a:rPr lang="en-US" altLang="zh-TW" dirty="0"/>
              <a:t>.</a:t>
            </a:r>
            <a:endParaRPr lang="zh-TW" altLang="zh-TW" dirty="0"/>
          </a:p>
          <a:p>
            <a:pPr lvl="0"/>
            <a:r>
              <a:rPr lang="en-US" altLang="zh-TW" dirty="0"/>
              <a:t>The weight in a join </a:t>
            </a:r>
            <a:r>
              <a:rPr lang="en-US" altLang="zh-TW" dirty="0" err="1"/>
              <a:t>postprocessing</a:t>
            </a:r>
            <a:r>
              <a:rPr lang="en-US" altLang="zh-TW" dirty="0"/>
              <a:t> is between </a:t>
            </a:r>
            <a:r>
              <a:rPr lang="en-US" altLang="zh-TW" dirty="0" smtClean="0"/>
              <a:t>44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 </a:t>
            </a:r>
            <a:r>
              <a:rPr lang="en-US" altLang="zh-TW" dirty="0"/>
              <a:t>and 83</a:t>
            </a:r>
            <a:r>
              <a:rPr lang="en-US" altLang="zh-TW" i="1" dirty="0"/>
              <a:t>b</a:t>
            </a:r>
            <a:endParaRPr lang="zh-TW" altLang="zh-TW" i="1" dirty="0"/>
          </a:p>
          <a:p>
            <a:pPr lvl="0"/>
            <a:r>
              <a:rPr lang="en-US" altLang="zh-TW" dirty="0"/>
              <a:t>In a split </a:t>
            </a:r>
            <a:r>
              <a:rPr lang="en-US" altLang="zh-TW" dirty="0" err="1"/>
              <a:t>postprocessing</a:t>
            </a:r>
            <a:r>
              <a:rPr lang="en-US" altLang="zh-TW" dirty="0"/>
              <a:t>, the total weight is at most 84</a:t>
            </a:r>
            <a:r>
              <a:rPr lang="en-US" altLang="zh-TW" i="1" dirty="0"/>
              <a:t>b</a:t>
            </a:r>
            <a:r>
              <a:rPr lang="en-US" altLang="zh-TW" dirty="0"/>
              <a:t> and the split weights are between 24.5</a:t>
            </a:r>
            <a:r>
              <a:rPr lang="en-US" altLang="zh-TW" i="1" dirty="0"/>
              <a:t>b</a:t>
            </a:r>
            <a:r>
              <a:rPr lang="en-US" altLang="zh-TW" dirty="0"/>
              <a:t> &gt; 24</a:t>
            </a:r>
            <a:r>
              <a:rPr lang="en-US" altLang="zh-TW" i="1" dirty="0"/>
              <a:t>b</a:t>
            </a:r>
            <a:r>
              <a:rPr lang="en-US" altLang="zh-TW" dirty="0"/>
              <a:t> and 46b &lt; 58</a:t>
            </a:r>
            <a:r>
              <a:rPr lang="en-US" altLang="zh-TW" i="1" dirty="0"/>
              <a:t>b</a:t>
            </a:r>
            <a:r>
              <a:rPr lang="en-US" altLang="zh-TW" dirty="0"/>
              <a:t>.</a:t>
            </a:r>
            <a:endParaRPr lang="zh-TW" altLang="zh-TW" dirty="0"/>
          </a:p>
          <a:p>
            <a:pPr lvl="0"/>
            <a:r>
              <a:rPr lang="en-US" altLang="zh-TW" dirty="0"/>
              <a:t>maximum </a:t>
            </a:r>
            <a:r>
              <a:rPr lang="en-US" altLang="zh-TW" dirty="0" err="1"/>
              <a:t>uncuttable</a:t>
            </a:r>
            <a:r>
              <a:rPr lang="en-US" altLang="zh-TW" dirty="0"/>
              <a:t> segment is of size at most 132</a:t>
            </a:r>
            <a:r>
              <a:rPr lang="en-US" altLang="zh-TW" i="1" dirty="0"/>
              <a:t>b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Lemma 16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42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5076056" y="5949280"/>
            <a:ext cx="2087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21, 24, 58, 84, 7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0093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For each level </a:t>
            </a:r>
            <a:r>
              <a:rPr lang="en-US" altLang="zh-TW" i="1" dirty="0" err="1"/>
              <a:t>i</a:t>
            </a:r>
            <a:r>
              <a:rPr lang="en-US" altLang="zh-TW" i="1" dirty="0"/>
              <a:t> &lt; h</a:t>
            </a:r>
            <a:r>
              <a:rPr lang="en-US" altLang="zh-TW" dirty="0" smtClean="0"/>
              <a:t>, 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i</a:t>
            </a:r>
            <a:r>
              <a:rPr lang="en-US" altLang="zh-TW" i="1" dirty="0"/>
              <a:t> </a:t>
            </a:r>
            <a:r>
              <a:rPr lang="en-US" altLang="zh-TW" dirty="0"/>
              <a:t>= </a:t>
            </a:r>
            <a:r>
              <a:rPr lang="en-US" altLang="zh-TW" i="1" dirty="0" err="1" smtClean="0"/>
              <a:t>n</a:t>
            </a:r>
            <a:r>
              <a:rPr lang="en-US" altLang="zh-TW" i="1" baseline="-25000" dirty="0" err="1" smtClean="0"/>
              <a:t>i</a:t>
            </a:r>
            <a:r>
              <a:rPr lang="en-US" altLang="zh-TW" i="1" dirty="0" smtClean="0"/>
              <a:t>/</a:t>
            </a:r>
            <a:r>
              <a:rPr lang="en-US" altLang="zh-TW" dirty="0" smtClean="0"/>
              <a:t>84 so </a:t>
            </a:r>
            <a:r>
              <a:rPr lang="en-US" altLang="zh-TW" dirty="0"/>
              <a:t>21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i</a:t>
            </a:r>
            <a:r>
              <a:rPr lang="en-US" altLang="zh-TW" i="1" dirty="0"/>
              <a:t> </a:t>
            </a:r>
            <a:r>
              <a:rPr lang="en-US" altLang="zh-TW" dirty="0"/>
              <a:t>= 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i</a:t>
            </a:r>
            <a:r>
              <a:rPr lang="en-US" altLang="zh-TW" i="1" dirty="0"/>
              <a:t>/</a:t>
            </a:r>
            <a:r>
              <a:rPr lang="en-US" altLang="zh-TW" dirty="0"/>
              <a:t>4 and 84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i</a:t>
            </a:r>
            <a:r>
              <a:rPr lang="en-US" altLang="zh-TW" i="1" dirty="0"/>
              <a:t> </a:t>
            </a:r>
            <a:r>
              <a:rPr lang="en-US" altLang="zh-TW" dirty="0"/>
              <a:t>= </a:t>
            </a:r>
            <a:r>
              <a:rPr lang="en-US" altLang="zh-TW" i="1" dirty="0" err="1" smtClean="0"/>
              <a:t>n</a:t>
            </a:r>
            <a:r>
              <a:rPr lang="en-US" altLang="zh-TW" i="1" baseline="-25000" dirty="0" err="1" smtClean="0"/>
              <a:t>i</a:t>
            </a:r>
            <a:endParaRPr lang="en-US" altLang="zh-TW" i="1" baseline="-25000" dirty="0" smtClean="0"/>
          </a:p>
          <a:p>
            <a:r>
              <a:rPr lang="en-US" altLang="zh-TW" dirty="0"/>
              <a:t>W</a:t>
            </a:r>
            <a:r>
              <a:rPr lang="en-US" altLang="zh-TW" dirty="0" smtClean="0"/>
              <a:t>e </a:t>
            </a:r>
            <a:r>
              <a:rPr lang="en-US" altLang="zh-TW" dirty="0"/>
              <a:t>can cut the list on level </a:t>
            </a:r>
            <a:r>
              <a:rPr lang="en-US" altLang="zh-TW" i="1" dirty="0" err="1"/>
              <a:t>i</a:t>
            </a:r>
            <a:r>
              <a:rPr lang="en-US" altLang="zh-TW" i="1" dirty="0"/>
              <a:t> </a:t>
            </a:r>
            <a:r>
              <a:rPr lang="en-US" altLang="zh-TW" dirty="0"/>
              <a:t>with a difference of 132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i−</a:t>
            </a:r>
            <a:r>
              <a:rPr lang="en-US" altLang="zh-TW" baseline="-25000" dirty="0"/>
              <a:t>1</a:t>
            </a:r>
            <a:r>
              <a:rPr lang="en-US" altLang="zh-TW" dirty="0"/>
              <a:t>. </a:t>
            </a:r>
            <a:r>
              <a:rPr lang="en-US" altLang="zh-TW" dirty="0" smtClean="0"/>
              <a:t>However, </a:t>
            </a:r>
            <a:r>
              <a:rPr lang="it-IT" altLang="zh-TW" i="1" dirty="0" smtClean="0"/>
              <a:t>b</a:t>
            </a:r>
            <a:r>
              <a:rPr lang="it-IT" altLang="zh-TW" i="1" baseline="-25000" dirty="0" smtClean="0"/>
              <a:t>i</a:t>
            </a:r>
            <a:r>
              <a:rPr lang="it-IT" altLang="zh-TW" i="1" dirty="0" smtClean="0"/>
              <a:t> </a:t>
            </a:r>
            <a:r>
              <a:rPr lang="en-US" altLang="zh-TW" dirty="0"/>
              <a:t>≥</a:t>
            </a:r>
            <a:r>
              <a:rPr lang="it-IT" altLang="zh-TW" i="1" dirty="0" smtClean="0"/>
              <a:t> </a:t>
            </a:r>
            <a:r>
              <a:rPr lang="it-IT" altLang="zh-TW" dirty="0"/>
              <a:t>19</a:t>
            </a:r>
            <a:r>
              <a:rPr lang="it-IT" altLang="zh-TW" i="1" dirty="0"/>
              <a:t>b</a:t>
            </a:r>
            <a:r>
              <a:rPr lang="it-IT" altLang="zh-TW" i="1" baseline="-25000" dirty="0"/>
              <a:t>i−</a:t>
            </a:r>
            <a:r>
              <a:rPr lang="it-IT" altLang="zh-TW" baseline="-25000" dirty="0"/>
              <a:t>1</a:t>
            </a:r>
            <a:r>
              <a:rPr lang="it-IT" altLang="zh-TW" dirty="0"/>
              <a:t>, so 132</a:t>
            </a:r>
            <a:r>
              <a:rPr lang="it-IT" altLang="zh-TW" i="1" dirty="0"/>
              <a:t>b</a:t>
            </a:r>
            <a:r>
              <a:rPr lang="it-IT" altLang="zh-TW" i="1" baseline="-25000" dirty="0"/>
              <a:t>i−</a:t>
            </a:r>
            <a:r>
              <a:rPr lang="it-IT" altLang="zh-TW" baseline="-25000" dirty="0"/>
              <a:t>1</a:t>
            </a:r>
            <a:r>
              <a:rPr lang="it-IT" altLang="zh-TW" dirty="0"/>
              <a:t> </a:t>
            </a:r>
            <a:r>
              <a:rPr lang="en-US" altLang="zh-TW" dirty="0"/>
              <a:t>&lt; </a:t>
            </a:r>
            <a:r>
              <a:rPr lang="it-IT" altLang="zh-TW" dirty="0" smtClean="0"/>
              <a:t>7</a:t>
            </a:r>
            <a:r>
              <a:rPr lang="it-IT" altLang="zh-TW" i="1" dirty="0" smtClean="0"/>
              <a:t>b</a:t>
            </a:r>
            <a:r>
              <a:rPr lang="it-IT" altLang="zh-TW" i="1" baseline="-25000" dirty="0" smtClean="0"/>
              <a:t>i</a:t>
            </a:r>
            <a:endParaRPr lang="en-US" altLang="zh-TW" baseline="-25000" dirty="0" smtClean="0"/>
          </a:p>
          <a:p>
            <a:r>
              <a:rPr lang="en-US" altLang="zh-TW" dirty="0"/>
              <a:t>T</a:t>
            </a:r>
            <a:r>
              <a:rPr lang="en-US" altLang="zh-TW" dirty="0" smtClean="0"/>
              <a:t>hree </a:t>
            </a:r>
            <a:r>
              <a:rPr lang="en-US" altLang="zh-TW" dirty="0"/>
              <a:t>unresolved problems remain:</a:t>
            </a:r>
          </a:p>
          <a:p>
            <a:pPr lvl="1"/>
            <a:r>
              <a:rPr lang="en-US" altLang="zh-TW" dirty="0" smtClean="0"/>
              <a:t>To </a:t>
            </a:r>
            <a:r>
              <a:rPr lang="en-US" altLang="zh-TW" dirty="0"/>
              <a:t>implement splits in constant time, how do we find a good place to cut the </a:t>
            </a:r>
            <a:r>
              <a:rPr lang="en-US" altLang="zh-TW" dirty="0" smtClean="0"/>
              <a:t>children list</a:t>
            </a:r>
            <a:r>
              <a:rPr lang="en-US" altLang="zh-TW" dirty="0"/>
              <a:t>?</a:t>
            </a:r>
          </a:p>
          <a:p>
            <a:pPr lvl="1"/>
            <a:r>
              <a:rPr lang="en-US" altLang="zh-TW" dirty="0" smtClean="0"/>
              <a:t>How </a:t>
            </a:r>
            <a:r>
              <a:rPr lang="en-US" altLang="zh-TW" dirty="0"/>
              <a:t>does the protocol apply as the height of the tree changes?</a:t>
            </a:r>
          </a:p>
          <a:p>
            <a:pPr lvl="1"/>
            <a:r>
              <a:rPr lang="en-US" altLang="zh-TW" dirty="0" smtClean="0"/>
              <a:t>How </a:t>
            </a:r>
            <a:r>
              <a:rPr lang="en-US" altLang="zh-TW" dirty="0"/>
              <a:t>do we actually find the nodes on the path from the leaf </a:t>
            </a:r>
            <a:r>
              <a:rPr lang="en-US" altLang="zh-TW" i="1" dirty="0"/>
              <a:t>v </a:t>
            </a:r>
            <a:r>
              <a:rPr lang="en-US" altLang="zh-TW" dirty="0"/>
              <a:t>to the root?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Applying the </a:t>
            </a:r>
            <a:r>
              <a:rPr lang="en-US" altLang="zh-TW" b="0" dirty="0" smtClean="0"/>
              <a:t>Protocol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550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For each node </a:t>
            </a:r>
            <a:r>
              <a:rPr lang="en-US" altLang="zh-TW" i="1" dirty="0"/>
              <a:t>v </a:t>
            </a:r>
            <a:r>
              <a:rPr lang="en-US" altLang="zh-TW" dirty="0"/>
              <a:t>on level </a:t>
            </a:r>
            <a:r>
              <a:rPr lang="en-US" altLang="zh-TW" i="1" dirty="0" err="1"/>
              <a:t>i</a:t>
            </a:r>
            <a:r>
              <a:rPr lang="en-US" altLang="zh-TW" dirty="0"/>
              <a:t>, our goal is to maintain a </a:t>
            </a:r>
            <a:r>
              <a:rPr lang="en-US" altLang="zh-TW" dirty="0" smtClean="0"/>
              <a:t>good cut </a:t>
            </a:r>
            <a:r>
              <a:rPr lang="en-US" altLang="zh-TW" dirty="0"/>
              <a:t>child in the sense that </a:t>
            </a:r>
            <a:r>
              <a:rPr lang="en-US" altLang="zh-TW" dirty="0">
                <a:solidFill>
                  <a:srgbClr val="FF0000"/>
                </a:solidFill>
              </a:rPr>
              <a:t>when cutting at that child, the lists will not differ by more </a:t>
            </a:r>
            <a:r>
              <a:rPr lang="en-US" altLang="zh-TW" dirty="0" smtClean="0">
                <a:solidFill>
                  <a:srgbClr val="FF0000"/>
                </a:solidFill>
              </a:rPr>
              <a:t>than </a:t>
            </a:r>
            <a:r>
              <a:rPr lang="en-US" altLang="zh-TW" dirty="0" smtClean="0">
                <a:solidFill>
                  <a:srgbClr val="FF0000"/>
                </a:solidFill>
                <a:latin typeface="Times New Roman"/>
                <a:cs typeface="Times New Roman"/>
              </a:rPr>
              <a:t>7</a:t>
            </a:r>
            <a:r>
              <a:rPr lang="en-US" altLang="zh-TW" i="1" dirty="0" smtClean="0">
                <a:solidFill>
                  <a:srgbClr val="FF0000"/>
                </a:solidFill>
              </a:rPr>
              <a:t>b</a:t>
            </a:r>
            <a:r>
              <a:rPr lang="en-US" altLang="zh-TW" i="1" baseline="-25000" dirty="0" smtClean="0">
                <a:solidFill>
                  <a:srgbClr val="FF0000"/>
                </a:solidFill>
              </a:rPr>
              <a:t>i</a:t>
            </a:r>
            <a:r>
              <a:rPr lang="en-US" altLang="zh-TW" dirty="0"/>
              <a:t>.</a:t>
            </a:r>
            <a:endParaRPr lang="en-US" altLang="zh-TW" dirty="0" smtClean="0"/>
          </a:p>
          <a:p>
            <a:r>
              <a:rPr lang="en-US" altLang="zh-TW" dirty="0" smtClean="0"/>
              <a:t>We </a:t>
            </a:r>
            <a:r>
              <a:rPr lang="en-US" altLang="zh-TW" dirty="0"/>
              <a:t>will always maintain the </a:t>
            </a:r>
            <a:r>
              <a:rPr lang="en-US" altLang="zh-TW" dirty="0">
                <a:solidFill>
                  <a:srgbClr val="FF0000"/>
                </a:solidFill>
              </a:rPr>
              <a:t>sum of the weights of the children preceding the cut </a:t>
            </a:r>
            <a:r>
              <a:rPr lang="en-US" altLang="zh-TW" dirty="0" smtClean="0">
                <a:solidFill>
                  <a:srgbClr val="FF0000"/>
                </a:solidFill>
              </a:rPr>
              <a:t>child</a:t>
            </a:r>
            <a:r>
              <a:rPr lang="en-US" altLang="zh-TW" dirty="0" smtClean="0"/>
              <a:t>, and </a:t>
            </a:r>
            <a:r>
              <a:rPr lang="en-US" altLang="zh-TW" dirty="0">
                <a:solidFill>
                  <a:srgbClr val="FF0000"/>
                </a:solidFill>
              </a:rPr>
              <a:t>comparing</a:t>
            </a:r>
            <a:r>
              <a:rPr lang="en-US" altLang="zh-TW" dirty="0"/>
              <a:t> that </a:t>
            </a:r>
            <a:r>
              <a:rPr lang="en-US" altLang="zh-TW" dirty="0">
                <a:solidFill>
                  <a:srgbClr val="FF0000"/>
                </a:solidFill>
              </a:rPr>
              <a:t>with the weight of </a:t>
            </a:r>
            <a:r>
              <a:rPr lang="en-US" altLang="zh-TW" i="1" dirty="0">
                <a:solidFill>
                  <a:srgbClr val="FF0000"/>
                </a:solidFill>
              </a:rPr>
              <a:t>v</a:t>
            </a:r>
            <a:r>
              <a:rPr lang="en-US" altLang="zh-TW" i="1" dirty="0"/>
              <a:t> </a:t>
            </a:r>
            <a:r>
              <a:rPr lang="en-US" altLang="zh-TW" dirty="0"/>
              <a:t>tells us if it is at good balance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Move accordingly, a </a:t>
            </a:r>
            <a:r>
              <a:rPr lang="en-US" altLang="zh-TW" dirty="0"/>
              <a:t>possible cut is always </a:t>
            </a:r>
            <a:r>
              <a:rPr lang="en-US" altLang="zh-TW" dirty="0" smtClean="0"/>
              <a:t>at most </a:t>
            </a:r>
            <a:r>
              <a:rPr lang="en-US" altLang="zh-TW" dirty="0"/>
              <a:t>4 children </a:t>
            </a:r>
            <a:r>
              <a:rPr lang="en-US" altLang="zh-TW" dirty="0" smtClean="0"/>
              <a:t>away.</a:t>
            </a:r>
          </a:p>
          <a:p>
            <a:r>
              <a:rPr lang="en-US" altLang="zh-TW" dirty="0"/>
              <a:t>I</a:t>
            </a:r>
            <a:r>
              <a:rPr lang="en-US" altLang="zh-TW" dirty="0" smtClean="0"/>
              <a:t>f </a:t>
            </a:r>
            <a:r>
              <a:rPr lang="en-US" altLang="zh-TW" dirty="0"/>
              <a:t>the cut </a:t>
            </a:r>
            <a:r>
              <a:rPr lang="en-US" altLang="zh-TW" dirty="0" smtClean="0"/>
              <a:t>child stops </a:t>
            </a:r>
            <a:r>
              <a:rPr lang="en-US" altLang="zh-TW" dirty="0"/>
              <a:t>being </a:t>
            </a:r>
            <a:r>
              <a:rPr lang="en-US" altLang="zh-TW" dirty="0" err="1"/>
              <a:t>cutable</a:t>
            </a:r>
            <a:r>
              <a:rPr lang="en-US" altLang="zh-TW" dirty="0"/>
              <a:t>, we move in the direction that gives us the best balance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Cut Child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3223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When a new list is created by a join or a split, we need to find a new good cut </a:t>
            </a:r>
            <a:r>
              <a:rPr lang="en-US" altLang="zh-TW" dirty="0" smtClean="0"/>
              <a:t>child.</a:t>
            </a:r>
          </a:p>
          <a:p>
            <a:r>
              <a:rPr lang="en-US" altLang="zh-TW" dirty="0"/>
              <a:t>W</a:t>
            </a:r>
            <a:r>
              <a:rPr lang="en-US" altLang="zh-TW" dirty="0" smtClean="0"/>
              <a:t>e </a:t>
            </a:r>
            <a:r>
              <a:rPr lang="en-US" altLang="zh-TW" dirty="0"/>
              <a:t>have at least </a:t>
            </a:r>
            <a:r>
              <a:rPr lang="en-US" altLang="zh-TW" i="1" dirty="0" smtClean="0"/>
              <a:t>b</a:t>
            </a:r>
            <a:r>
              <a:rPr lang="en-US" altLang="zh-TW" i="1" baseline="-25000" dirty="0" smtClean="0"/>
              <a:t>i</a:t>
            </a:r>
            <a:r>
              <a:rPr lang="en-US" altLang="zh-TW" i="1" dirty="0"/>
              <a:t> </a:t>
            </a:r>
            <a:r>
              <a:rPr lang="en-US" altLang="zh-TW" dirty="0" smtClean="0"/>
              <a:t>=</a:t>
            </a:r>
            <a:r>
              <a:rPr lang="en-US" altLang="zh-TW" i="1" dirty="0" err="1" smtClean="0">
                <a:solidFill>
                  <a:srgbClr val="FF0000"/>
                </a:solidFill>
              </a:rPr>
              <a:t>n</a:t>
            </a:r>
            <a:r>
              <a:rPr lang="en-US" altLang="zh-TW" i="1" baseline="-25000" dirty="0" err="1" smtClean="0">
                <a:solidFill>
                  <a:srgbClr val="FF0000"/>
                </a:solidFill>
              </a:rPr>
              <a:t>i</a:t>
            </a:r>
            <a:r>
              <a:rPr lang="en-US" altLang="zh-TW" i="1" dirty="0" smtClean="0">
                <a:solidFill>
                  <a:srgbClr val="FF0000"/>
                </a:solidFill>
              </a:rPr>
              <a:t>/</a:t>
            </a:r>
            <a:r>
              <a:rPr lang="en-US" altLang="zh-TW" dirty="0" smtClean="0">
                <a:solidFill>
                  <a:srgbClr val="FF0000"/>
                </a:solidFill>
              </a:rPr>
              <a:t>84</a:t>
            </a:r>
            <a:r>
              <a:rPr lang="en-US" altLang="zh-TW" i="1" dirty="0" smtClean="0"/>
              <a:t> </a:t>
            </a:r>
            <a:r>
              <a:rPr lang="en-US" altLang="zh-TW" dirty="0"/>
              <a:t>update steps before the cut child is needed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We can therefore start by making the cut child the </a:t>
            </a:r>
            <a:r>
              <a:rPr lang="en-US" altLang="zh-TW" dirty="0" smtClean="0">
                <a:solidFill>
                  <a:srgbClr val="0070C0"/>
                </a:solidFill>
              </a:rPr>
              <a:t>leftmost</a:t>
            </a:r>
            <a:r>
              <a:rPr lang="en-US" altLang="zh-TW" dirty="0" smtClean="0"/>
              <a:t> </a:t>
            </a:r>
            <a:r>
              <a:rPr lang="en-US" altLang="zh-TW" dirty="0"/>
              <a:t>child, and every time we </a:t>
            </a:r>
            <a:r>
              <a:rPr lang="en-US" altLang="zh-TW" dirty="0" smtClean="0"/>
              <a:t>receive an </a:t>
            </a:r>
            <a:r>
              <a:rPr lang="en-US" altLang="zh-TW" dirty="0"/>
              <a:t>update step for the join, we move to the right, stopping when we are in balance. </a:t>
            </a:r>
            <a:endParaRPr lang="en-US" altLang="zh-TW" dirty="0" smtClean="0"/>
          </a:p>
          <a:p>
            <a:r>
              <a:rPr lang="en-US" altLang="zh-TW" dirty="0" smtClean="0"/>
              <a:t>Since the children </a:t>
            </a:r>
            <a:r>
              <a:rPr lang="en-US" altLang="zh-TW" dirty="0"/>
              <a:t>list is of length </a:t>
            </a:r>
            <a:r>
              <a:rPr lang="en-US" altLang="zh-TW" i="1" dirty="0">
                <a:solidFill>
                  <a:srgbClr val="FF0000"/>
                </a:solidFill>
              </a:rPr>
              <a:t>O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 err="1">
                <a:solidFill>
                  <a:srgbClr val="FF0000"/>
                </a:solidFill>
              </a:rPr>
              <a:t>n</a:t>
            </a:r>
            <a:r>
              <a:rPr lang="en-US" altLang="zh-TW" i="1" baseline="-25000" dirty="0" err="1">
                <a:solidFill>
                  <a:srgbClr val="FF0000"/>
                </a:solidFill>
              </a:rPr>
              <a:t>i</a:t>
            </a:r>
            <a:r>
              <a:rPr lang="en-US" altLang="zh-TW" i="1" dirty="0">
                <a:solidFill>
                  <a:srgbClr val="FF0000"/>
                </a:solidFill>
              </a:rPr>
              <a:t>/n</a:t>
            </a:r>
            <a:r>
              <a:rPr lang="en-US" altLang="zh-TW" i="1" baseline="-25000" dirty="0">
                <a:solidFill>
                  <a:srgbClr val="FF0000"/>
                </a:solidFill>
              </a:rPr>
              <a:t>i−</a:t>
            </a:r>
            <a:r>
              <a:rPr lang="en-US" altLang="zh-TW" baseline="-25000" dirty="0">
                <a:solidFill>
                  <a:srgbClr val="FF0000"/>
                </a:solidFill>
              </a:rPr>
              <a:t>1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r>
              <a:rPr lang="en-US" altLang="zh-TW" dirty="0"/>
              <a:t>, we only need to move a </a:t>
            </a:r>
            <a:r>
              <a:rPr lang="en-US" altLang="zh-TW" dirty="0">
                <a:solidFill>
                  <a:srgbClr val="FF0000"/>
                </a:solidFill>
              </a:rPr>
              <a:t>constant number </a:t>
            </a:r>
            <a:r>
              <a:rPr lang="en-US" altLang="zh-TW" dirty="0"/>
              <a:t>of children </a:t>
            </a:r>
            <a:r>
              <a:rPr lang="en-US" altLang="zh-TW" dirty="0" smtClean="0"/>
              <a:t>to the </a:t>
            </a:r>
            <a:r>
              <a:rPr lang="en-US" altLang="zh-TW" dirty="0"/>
              <a:t>right in each update step in order to ensure balance before the </a:t>
            </a:r>
            <a:r>
              <a:rPr lang="en-US" altLang="zh-TW" dirty="0" err="1"/>
              <a:t>postprocessing</a:t>
            </a:r>
            <a:r>
              <a:rPr lang="en-US" altLang="zh-TW" dirty="0"/>
              <a:t> is ended.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Cut Child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5635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If the root is on height </a:t>
            </a:r>
            <a:r>
              <a:rPr lang="en-US" altLang="zh-TW" i="1" dirty="0"/>
              <a:t>h</a:t>
            </a:r>
            <a:r>
              <a:rPr lang="en-US" altLang="zh-TW" dirty="0"/>
              <a:t>, we only apply the protocol when it has weight at least </a:t>
            </a:r>
            <a:r>
              <a:rPr lang="en-US" altLang="zh-TW" dirty="0" smtClean="0"/>
              <a:t>21</a:t>
            </a:r>
            <a:r>
              <a:rPr lang="en-US" altLang="zh-TW" i="1" dirty="0" smtClean="0"/>
              <a:t>b</a:t>
            </a:r>
            <a:r>
              <a:rPr lang="en-US" altLang="zh-TW" i="1" baseline="-25000" dirty="0" smtClean="0"/>
              <a:t>h</a:t>
            </a:r>
            <a:r>
              <a:rPr lang="en-US" altLang="zh-TW" i="1" dirty="0" smtClean="0"/>
              <a:t>.</a:t>
            </a:r>
          </a:p>
          <a:p>
            <a:r>
              <a:rPr lang="en-US" altLang="zh-TW" dirty="0"/>
              <a:t>B</a:t>
            </a:r>
            <a:r>
              <a:rPr lang="en-US" altLang="zh-TW" dirty="0" smtClean="0"/>
              <a:t>efore </a:t>
            </a:r>
            <a:r>
              <a:rPr lang="en-US" altLang="zh-TW" dirty="0"/>
              <a:t>the </a:t>
            </a:r>
            <a:r>
              <a:rPr lang="en-US" altLang="zh-TW" dirty="0">
                <a:solidFill>
                  <a:srgbClr val="FF0000"/>
                </a:solidFill>
              </a:rPr>
              <a:t>split</a:t>
            </a:r>
            <a:r>
              <a:rPr lang="en-US" altLang="zh-TW" dirty="0"/>
              <a:t>, the root has weight at most 84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h</a:t>
            </a:r>
            <a:r>
              <a:rPr lang="en-US" altLang="zh-TW" dirty="0"/>
              <a:t>, and this is the weight of the new </a:t>
            </a:r>
            <a:r>
              <a:rPr lang="en-US" altLang="zh-TW" dirty="0" smtClean="0"/>
              <a:t>root at </a:t>
            </a:r>
            <a:r>
              <a:rPr lang="en-US" altLang="zh-TW" dirty="0"/>
              <a:t>height </a:t>
            </a:r>
            <a:r>
              <a:rPr lang="en-US" altLang="zh-TW" i="1" dirty="0"/>
              <a:t>h </a:t>
            </a:r>
            <a:r>
              <a:rPr lang="en-US" altLang="zh-TW" dirty="0"/>
              <a:t>+ 1. However </a:t>
            </a:r>
            <a:r>
              <a:rPr lang="en-US" altLang="zh-TW" i="1" dirty="0" err="1"/>
              <a:t>b</a:t>
            </a:r>
            <a:r>
              <a:rPr lang="en-US" altLang="zh-TW" i="1" baseline="-25000" dirty="0" err="1"/>
              <a:t>h</a:t>
            </a:r>
            <a:r>
              <a:rPr lang="en-US" altLang="zh-TW" i="1" dirty="0"/>
              <a:t> </a:t>
            </a:r>
            <a:r>
              <a:rPr lang="en-US" altLang="zh-TW" dirty="0" smtClean="0"/>
              <a:t>≤</a:t>
            </a:r>
            <a:r>
              <a:rPr lang="en-US" altLang="zh-TW" i="1" dirty="0" smtClean="0"/>
              <a:t> 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h</a:t>
            </a:r>
            <a:r>
              <a:rPr lang="en-US" altLang="zh-TW" baseline="-25000" dirty="0"/>
              <a:t>+1</a:t>
            </a:r>
            <a:r>
              <a:rPr lang="en-US" altLang="zh-TW" i="1" dirty="0"/>
              <a:t>/</a:t>
            </a:r>
            <a:r>
              <a:rPr lang="en-US" altLang="zh-TW" dirty="0"/>
              <a:t>19, so it will take </a:t>
            </a:r>
            <a:r>
              <a:rPr lang="en-US" altLang="zh-TW" dirty="0">
                <a:solidFill>
                  <a:srgbClr val="0070C0"/>
                </a:solidFill>
              </a:rPr>
              <a:t>many updates </a:t>
            </a:r>
            <a:r>
              <a:rPr lang="en-US" altLang="zh-TW" dirty="0"/>
              <a:t>before the new </a:t>
            </a:r>
            <a:r>
              <a:rPr lang="en-US" altLang="zh-TW" dirty="0" smtClean="0"/>
              <a:t>root reaches </a:t>
            </a:r>
            <a:r>
              <a:rPr lang="en-US" altLang="zh-TW" dirty="0"/>
              <a:t>the weight </a:t>
            </a:r>
            <a:r>
              <a:rPr lang="en-US" altLang="zh-TW" dirty="0" smtClean="0"/>
              <a:t>21</a:t>
            </a:r>
            <a:r>
              <a:rPr lang="en-US" altLang="zh-TW" i="1" dirty="0" smtClean="0"/>
              <a:t>b</a:t>
            </a:r>
            <a:r>
              <a:rPr lang="en-US" altLang="zh-TW" i="1" baseline="-25000" dirty="0" smtClean="0"/>
              <a:t>h</a:t>
            </a:r>
            <a:r>
              <a:rPr lang="en-US" altLang="zh-TW" baseline="-25000" dirty="0" smtClean="0"/>
              <a:t>+1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At the </a:t>
            </a:r>
            <a:r>
              <a:rPr lang="en-US" altLang="zh-TW" dirty="0" smtClean="0">
                <a:solidFill>
                  <a:srgbClr val="FF0000"/>
                </a:solidFill>
              </a:rPr>
              <a:t>join</a:t>
            </a:r>
            <a:r>
              <a:rPr lang="en-US" altLang="zh-TW" dirty="0" smtClean="0"/>
              <a:t>, the </a:t>
            </a:r>
            <a:r>
              <a:rPr lang="en-US" altLang="zh-TW" dirty="0"/>
              <a:t>new root starts with weight at least 21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h</a:t>
            </a:r>
            <a:r>
              <a:rPr lang="en-US" altLang="zh-TW" dirty="0"/>
              <a:t>, </a:t>
            </a:r>
            <a:r>
              <a:rPr lang="en-US" altLang="zh-TW" dirty="0" smtClean="0"/>
              <a:t>so it </a:t>
            </a:r>
            <a:r>
              <a:rPr lang="en-US" altLang="zh-TW" dirty="0"/>
              <a:t>has at least 21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h</a:t>
            </a:r>
            <a:r>
              <a:rPr lang="en-US" altLang="zh-TW" i="1" dirty="0"/>
              <a:t>/</a:t>
            </a:r>
            <a:r>
              <a:rPr lang="en-US" altLang="zh-TW" dirty="0"/>
              <a:t>84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h−</a:t>
            </a:r>
            <a:r>
              <a:rPr lang="en-US" altLang="zh-TW" baseline="-25000" dirty="0" smtClean="0"/>
              <a:t>1</a:t>
            </a:r>
            <a:r>
              <a:rPr lang="en-US" altLang="zh-TW" i="1" dirty="0" smtClean="0"/>
              <a:t>≥ </a:t>
            </a:r>
            <a:r>
              <a:rPr lang="en-US" altLang="zh-TW" dirty="0"/>
              <a:t>19</a:t>
            </a:r>
            <a:r>
              <a:rPr lang="en-US" altLang="zh-TW" i="1" dirty="0"/>
              <a:t>/</a:t>
            </a:r>
            <a:r>
              <a:rPr lang="en-US" altLang="zh-TW" dirty="0"/>
              <a:t>4 </a:t>
            </a:r>
            <a:r>
              <a:rPr lang="en-US" altLang="zh-TW" i="1" dirty="0"/>
              <a:t>&gt; </a:t>
            </a:r>
            <a:r>
              <a:rPr lang="en-US" altLang="zh-TW" dirty="0"/>
              <a:t>4 children. Hence it will survive long enough to </a:t>
            </a:r>
            <a:r>
              <a:rPr lang="en-US" altLang="zh-TW" dirty="0" smtClean="0"/>
              <a:t>pay for </a:t>
            </a:r>
            <a:r>
              <a:rPr lang="en-US" altLang="zh-TW" dirty="0"/>
              <a:t>its construction.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Changing the </a:t>
            </a:r>
            <a:r>
              <a:rPr lang="en-US" altLang="zh-TW" b="0" dirty="0" smtClean="0"/>
              <a:t>Height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606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Suppose </a:t>
                </a:r>
                <a:r>
                  <a:rPr lang="en-US" altLang="zh-TW" dirty="0"/>
                  <a:t>an </a:t>
                </a:r>
                <a:r>
                  <a:rPr lang="en-US" altLang="zh-TW" i="1" dirty="0"/>
                  <a:t>S</a:t>
                </a:r>
                <a:r>
                  <a:rPr lang="en-US" altLang="zh-TW" dirty="0"/>
                  <a:t>-structure for </a:t>
                </a:r>
                <a:r>
                  <a:rPr lang="en-US" altLang="zh-TW" dirty="0" smtClean="0"/>
                  <a:t>a node </a:t>
                </a:r>
                <a:r>
                  <a:rPr lang="en-US" altLang="zh-TW" dirty="0"/>
                  <a:t>on height 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> can be built in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i="1" baseline="-25000" dirty="0"/>
                  <a:t>i</a:t>
                </a:r>
                <a:r>
                  <a:rPr lang="en-US" altLang="zh-TW" baseline="-25000" dirty="0"/>
                  <a:t>−1</a:t>
                </a:r>
                <a:r>
                  <a:rPr lang="en-US" altLang="zh-TW" i="1" dirty="0"/>
                  <a:t>t</a:t>
                </a:r>
                <a:r>
                  <a:rPr lang="en-US" altLang="zh-TW" i="1" baseline="-25000" dirty="0"/>
                  <a:t>i</a:t>
                </a:r>
                <a:r>
                  <a:rPr lang="en-US" altLang="zh-TW" dirty="0"/>
                  <a:t>) time. We can then maintain S-structures for </a:t>
                </a:r>
                <a:r>
                  <a:rPr lang="en-US" altLang="zh-TW" dirty="0" smtClean="0"/>
                  <a:t>the whole </a:t>
                </a:r>
                <a:r>
                  <a:rPr lang="en-US" altLang="zh-TW" dirty="0"/>
                  <a:t>tree supporting a finger update in </a:t>
                </a:r>
                <a:r>
                  <a:rPr lang="en-US" altLang="zh-TW" dirty="0" smtClean="0"/>
                  <a:t>O(</a:t>
                </a:r>
                <a:r>
                  <a:rPr lang="en-US" altLang="zh-TW" i="1" dirty="0" smtClean="0"/>
                  <a:t>h</a:t>
                </a:r>
                <a:r>
                  <a:rPr lang="en-US" altLang="zh-TW" dirty="0" smtClean="0"/>
                  <a:t>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b="0" i="1" dirty="0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b="0" i="1" dirty="0" smtClean="0">
                            <a:latin typeface="Cambria Math"/>
                          </a:rPr>
                          <m:t>h</m:t>
                        </m:r>
                      </m:sup>
                      <m:e>
                        <m:sSub>
                          <m:sSubPr>
                            <m:ctrlPr>
                              <a:rPr lang="en-US" altLang="zh-TW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TW" dirty="0"/>
                  <a:t>) time where </a:t>
                </a:r>
                <a:r>
                  <a:rPr lang="en-US" altLang="zh-TW" i="1" dirty="0"/>
                  <a:t>h</a:t>
                </a:r>
                <a:r>
                  <a:rPr lang="en-US" altLang="zh-TW" dirty="0"/>
                  <a:t> is the current height </a:t>
                </a:r>
                <a:r>
                  <a:rPr lang="en-US" altLang="zh-TW" dirty="0" smtClean="0"/>
                  <a:t>of the </a:t>
                </a:r>
                <a:r>
                  <a:rPr lang="en-US" altLang="zh-TW" dirty="0"/>
                  <a:t>tree.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47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Corollary 10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477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4078" indent="-514350">
              <a:buFont typeface="+mj-lt"/>
              <a:buAutoNum type="arabicPeriod"/>
            </a:pPr>
            <a:r>
              <a:rPr lang="en-US" altLang="zh-TW" dirty="0" smtClean="0"/>
              <a:t>An </a:t>
            </a:r>
            <a:r>
              <a:rPr lang="en-US" altLang="zh-TW" dirty="0" smtClean="0">
                <a:solidFill>
                  <a:srgbClr val="0070C0"/>
                </a:solidFill>
              </a:rPr>
              <a:t>periodic</a:t>
            </a:r>
            <a:r>
              <a:rPr lang="en-US" altLang="zh-TW" dirty="0" smtClean="0"/>
              <a:t> </a:t>
            </a:r>
            <a:r>
              <a:rPr lang="en-US" altLang="zh-TW" dirty="0"/>
              <a:t>rebuilding of the </a:t>
            </a:r>
            <a:r>
              <a:rPr lang="en-US" altLang="zh-TW" i="1" dirty="0"/>
              <a:t>S</a:t>
            </a:r>
            <a:r>
              <a:rPr lang="en-US" altLang="zh-TW" dirty="0"/>
              <a:t>-structure at </a:t>
            </a:r>
            <a:r>
              <a:rPr lang="en-US" altLang="zh-TW" dirty="0" smtClean="0"/>
              <a:t>each node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. </a:t>
            </a:r>
          </a:p>
          <a:p>
            <a:pPr marL="880110" lvl="1" indent="-514350">
              <a:buFont typeface="+mj-lt"/>
              <a:buAutoNum type="arabicParenR"/>
            </a:pPr>
            <a:r>
              <a:rPr lang="en-US" altLang="zh-TW" dirty="0" smtClean="0"/>
              <a:t>Starts </a:t>
            </a:r>
            <a:r>
              <a:rPr lang="en-US" altLang="zh-TW" dirty="0"/>
              <a:t>by scanning the splitter list of the children of </a:t>
            </a:r>
            <a:r>
              <a:rPr lang="en-US" altLang="zh-TW" i="1" dirty="0"/>
              <a:t>v </a:t>
            </a:r>
            <a:r>
              <a:rPr lang="en-US" altLang="zh-TW" dirty="0"/>
              <a:t>in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i</a:t>
            </a:r>
            <a:r>
              <a:rPr lang="en-US" altLang="zh-TW" i="1" dirty="0"/>
              <a:t>/n</a:t>
            </a:r>
            <a:r>
              <a:rPr lang="en-US" altLang="zh-TW" i="1" baseline="-25000" dirty="0"/>
              <a:t>i−</a:t>
            </a:r>
            <a:r>
              <a:rPr lang="en-US" altLang="zh-TW" baseline="-25000" dirty="0"/>
              <a:t>1</a:t>
            </a:r>
            <a:r>
              <a:rPr lang="en-US" altLang="zh-TW" dirty="0"/>
              <a:t>) time</a:t>
            </a:r>
            <a:r>
              <a:rPr lang="en-US" altLang="zh-TW" dirty="0" smtClean="0"/>
              <a:t>.</a:t>
            </a:r>
          </a:p>
          <a:p>
            <a:pPr marL="880110" lvl="1" indent="-514350">
              <a:buFont typeface="+mj-lt"/>
              <a:buAutoNum type="arabicParenR"/>
            </a:pPr>
            <a:r>
              <a:rPr lang="en-US" altLang="zh-TW" dirty="0" smtClean="0"/>
              <a:t>Create </a:t>
            </a:r>
            <a:r>
              <a:rPr lang="en-US" altLang="zh-TW" dirty="0"/>
              <a:t>a new S-structure in O(</a:t>
            </a:r>
            <a:r>
              <a:rPr lang="en-US" altLang="zh-TW" i="1" dirty="0"/>
              <a:t>n</a:t>
            </a:r>
            <a:r>
              <a:rPr lang="en-US" altLang="zh-TW" i="1" baseline="-25000" dirty="0"/>
              <a:t>i</a:t>
            </a:r>
            <a:r>
              <a:rPr lang="en-US" altLang="zh-TW" baseline="-25000" dirty="0"/>
              <a:t>−1</a:t>
            </a:r>
            <a:r>
              <a:rPr lang="en-US" altLang="zh-TW" i="1" dirty="0"/>
              <a:t>t</a:t>
            </a:r>
            <a:r>
              <a:rPr lang="en-US" altLang="zh-TW" i="1" baseline="-25000" dirty="0"/>
              <a:t>i</a:t>
            </a:r>
            <a:r>
              <a:rPr lang="en-US" altLang="zh-TW" dirty="0"/>
              <a:t>) </a:t>
            </a:r>
            <a:r>
              <a:rPr lang="en-US" altLang="zh-TW" dirty="0" smtClean="0"/>
              <a:t>time</a:t>
            </a:r>
          </a:p>
          <a:p>
            <a:pPr marL="880110" lvl="1" indent="-514350">
              <a:buFont typeface="+mj-lt"/>
              <a:buAutoNum type="arabicParenR"/>
            </a:pPr>
            <a:r>
              <a:rPr lang="en-US" altLang="zh-TW" dirty="0"/>
              <a:t>I</a:t>
            </a:r>
            <a:r>
              <a:rPr lang="en-US" altLang="zh-TW" dirty="0" smtClean="0"/>
              <a:t>n </a:t>
            </a:r>
            <a:r>
              <a:rPr lang="en-US" altLang="zh-TW" dirty="0"/>
              <a:t>constant time, it </a:t>
            </a:r>
            <a:r>
              <a:rPr lang="en-US" altLang="zh-TW" dirty="0" smtClean="0"/>
              <a:t>replaces the </a:t>
            </a:r>
            <a:r>
              <a:rPr lang="en-US" altLang="zh-TW" dirty="0"/>
              <a:t>old S-structure with the new S-structure. </a:t>
            </a:r>
            <a:endParaRPr lang="en-US" altLang="zh-TW" dirty="0" smtClean="0"/>
          </a:p>
          <a:p>
            <a:pPr marL="880110" lvl="1" indent="-514350">
              <a:buFont typeface="+mj-lt"/>
              <a:buAutoNum type="arabicParenR"/>
            </a:pPr>
            <a:r>
              <a:rPr lang="en-US" altLang="zh-TW" dirty="0" smtClean="0"/>
              <a:t>The </a:t>
            </a:r>
            <a:r>
              <a:rPr lang="en-US" altLang="zh-TW" dirty="0"/>
              <a:t>whole rebuilding is divided into n</a:t>
            </a:r>
            <a:r>
              <a:rPr lang="en-US" altLang="zh-TW" baseline="-25000" dirty="0"/>
              <a:t>i−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/160 steps</a:t>
            </a:r>
            <a:r>
              <a:rPr lang="en-US" altLang="zh-TW" dirty="0"/>
              <a:t>, each taking O(</a:t>
            </a:r>
            <a:r>
              <a:rPr lang="en-US" altLang="zh-TW" i="1" dirty="0" err="1"/>
              <a:t>t</a:t>
            </a:r>
            <a:r>
              <a:rPr lang="en-US" altLang="zh-TW" i="1" baseline="-25000" dirty="0" err="1"/>
              <a:t>i</a:t>
            </a:r>
            <a:r>
              <a:rPr lang="en-US" altLang="zh-TW" dirty="0"/>
              <a:t>) time.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48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2027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624078" indent="-514350">
              <a:buFont typeface="+mj-lt"/>
              <a:buAutoNum type="arabicPeriod" startAt="2"/>
            </a:pPr>
            <a:r>
              <a:rPr lang="en-US" altLang="zh-TW" dirty="0"/>
              <a:t>E</a:t>
            </a:r>
            <a:r>
              <a:rPr lang="en-US" altLang="zh-TW" dirty="0" smtClean="0"/>
              <a:t>very </a:t>
            </a:r>
            <a:r>
              <a:rPr lang="en-US" altLang="zh-TW" dirty="0"/>
              <a:t>time an update contributes to a join or split </a:t>
            </a:r>
            <a:r>
              <a:rPr lang="en-US" altLang="zh-TW" dirty="0" err="1"/>
              <a:t>postprocessing</a:t>
            </a:r>
            <a:r>
              <a:rPr lang="en-US" altLang="zh-TW" dirty="0"/>
              <a:t> on level </a:t>
            </a:r>
            <a:r>
              <a:rPr lang="en-US" altLang="zh-TW" i="1" dirty="0" err="1"/>
              <a:t>i</a:t>
            </a:r>
            <a:r>
              <a:rPr lang="en-US" altLang="zh-TW" i="1" dirty="0"/>
              <a:t> − </a:t>
            </a:r>
            <a:r>
              <a:rPr lang="en-US" altLang="zh-TW" dirty="0" smtClean="0"/>
              <a:t>1, we </a:t>
            </a:r>
            <a:r>
              <a:rPr lang="en-US" altLang="zh-TW" dirty="0"/>
              <a:t>perform one step in the rebuilding of the </a:t>
            </a:r>
            <a:r>
              <a:rPr lang="en-US" altLang="zh-TW" i="1" dirty="0"/>
              <a:t>S</a:t>
            </a:r>
            <a:r>
              <a:rPr lang="en-US" altLang="zh-TW" dirty="0"/>
              <a:t>-structure of the parent </a:t>
            </a:r>
            <a:r>
              <a:rPr lang="en-US" altLang="zh-TW" i="1" dirty="0"/>
              <a:t>p</a:t>
            </a:r>
            <a:r>
              <a:rPr lang="en-US" altLang="zh-TW" dirty="0"/>
              <a:t>, which is on level </a:t>
            </a:r>
            <a:r>
              <a:rPr lang="en-US" altLang="zh-TW" i="1" dirty="0" err="1"/>
              <a:t>i</a:t>
            </a:r>
            <a:r>
              <a:rPr lang="en-US" altLang="zh-TW" dirty="0" smtClean="0"/>
              <a:t>.</a:t>
            </a:r>
          </a:p>
          <a:p>
            <a:pPr marL="624078" indent="-514350">
              <a:buFont typeface="+mj-lt"/>
              <a:buAutoNum type="arabicPeriod" startAt="2"/>
            </a:pPr>
            <a:r>
              <a:rPr lang="en-US" altLang="zh-TW" dirty="0" smtClean="0"/>
              <a:t>When two neighboring nodes </a:t>
            </a:r>
            <a:r>
              <a:rPr lang="en-US" altLang="zh-TW" i="1" dirty="0" smtClean="0"/>
              <a:t>u</a:t>
            </a:r>
            <a:r>
              <a:rPr lang="en-US" altLang="zh-TW" dirty="0" smtClean="0"/>
              <a:t> and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 on level </a:t>
            </a:r>
            <a:r>
              <a:rPr lang="en-US" altLang="zh-TW" i="1" dirty="0" smtClean="0"/>
              <a:t>i</a:t>
            </a:r>
            <a:r>
              <a:rPr lang="en-US" altLang="zh-TW" dirty="0" smtClean="0"/>
              <a:t>−1 join to </a:t>
            </a:r>
            <a:r>
              <a:rPr lang="en-US" altLang="zh-TW" i="1" dirty="0" smtClean="0"/>
              <a:t>u</a:t>
            </a:r>
            <a:endParaRPr lang="en-US" altLang="zh-TW" dirty="0"/>
          </a:p>
          <a:p>
            <a:pPr marL="880110" lvl="1" indent="-514350">
              <a:buFont typeface="+mj-lt"/>
              <a:buAutoNum type="arabicParenR"/>
            </a:pPr>
            <a:r>
              <a:rPr lang="en-US" altLang="zh-TW" dirty="0" smtClean="0"/>
              <a:t>the next rebuilding of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u</a:t>
            </a:r>
            <a:r>
              <a:rPr lang="en-US" altLang="zh-TW" dirty="0" smtClean="0"/>
              <a:t>) will automatically include the old children of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. </a:t>
            </a:r>
          </a:p>
          <a:p>
            <a:pPr marL="880110" lvl="1" indent="-514350">
              <a:buFont typeface="+mj-lt"/>
              <a:buAutoNum type="arabicParenR"/>
            </a:pPr>
            <a:r>
              <a:rPr lang="en-US" altLang="zh-TW" dirty="0" smtClean="0"/>
              <a:t>The maintenance of the disappearing node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, including rebuilding of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) when needed, is continued for all updates belonging under the old </a:t>
            </a:r>
            <a:r>
              <a:rPr lang="en-US" altLang="zh-TW" i="1" dirty="0" smtClean="0"/>
              <a:t>v</a:t>
            </a:r>
            <a:r>
              <a:rPr lang="en-US" altLang="zh-TW" dirty="0"/>
              <a:t>; this maintenance is ended when the creation of </a:t>
            </a:r>
            <a:r>
              <a:rPr lang="en-US" altLang="zh-TW" i="1" dirty="0"/>
              <a:t>S</a:t>
            </a:r>
            <a:r>
              <a:rPr lang="en-US" altLang="zh-TW" dirty="0"/>
              <a:t>(</a:t>
            </a:r>
            <a:r>
              <a:rPr lang="en-US" altLang="zh-TW" i="1" dirty="0"/>
              <a:t>u</a:t>
            </a:r>
            <a:r>
              <a:rPr lang="en-US" altLang="zh-TW" dirty="0"/>
              <a:t>) for the joined node </a:t>
            </a:r>
            <a:r>
              <a:rPr lang="en-US" altLang="zh-TW" i="1" dirty="0"/>
              <a:t>u</a:t>
            </a:r>
            <a:r>
              <a:rPr lang="en-US" altLang="zh-TW" dirty="0"/>
              <a:t> </a:t>
            </a:r>
            <a:r>
              <a:rPr lang="en-US" altLang="zh-TW" dirty="0" smtClean="0"/>
              <a:t>is completed</a:t>
            </a:r>
            <a:r>
              <a:rPr lang="en-US" altLang="zh-TW" dirty="0"/>
              <a:t>.</a:t>
            </a:r>
          </a:p>
          <a:p>
            <a:pPr marL="880110" lvl="1" indent="-514350">
              <a:buFont typeface="+mj-lt"/>
              <a:buAutoNum type="arabicParenR"/>
            </a:pPr>
            <a:r>
              <a:rPr lang="en-US" altLang="zh-TW" dirty="0" smtClean="0"/>
              <a:t>Furthermore</a:t>
            </a:r>
            <a:r>
              <a:rPr lang="en-US" altLang="zh-TW" dirty="0"/>
              <a:t>, each step of rebuilding </a:t>
            </a:r>
            <a:r>
              <a:rPr lang="en-US" altLang="zh-TW" i="1" dirty="0"/>
              <a:t>S</a:t>
            </a:r>
            <a:r>
              <a:rPr lang="en-US" altLang="zh-TW" dirty="0"/>
              <a:t>(</a:t>
            </a:r>
            <a:r>
              <a:rPr lang="en-US" altLang="zh-TW" i="1" dirty="0"/>
              <a:t>v</a:t>
            </a:r>
            <a:r>
              <a:rPr lang="en-US" altLang="zh-TW" dirty="0"/>
              <a:t>) for the old </a:t>
            </a:r>
            <a:r>
              <a:rPr lang="en-US" altLang="zh-TW" i="1" dirty="0"/>
              <a:t>v</a:t>
            </a:r>
            <a:r>
              <a:rPr lang="en-US" altLang="zh-TW" dirty="0"/>
              <a:t> will also compensate </a:t>
            </a:r>
            <a:r>
              <a:rPr lang="en-US" altLang="zh-TW" dirty="0" smtClean="0"/>
              <a:t>the rebuilding </a:t>
            </a:r>
            <a:r>
              <a:rPr lang="en-US" altLang="zh-TW" dirty="0"/>
              <a:t>of </a:t>
            </a:r>
            <a:r>
              <a:rPr lang="en-US" altLang="zh-TW" i="1" dirty="0"/>
              <a:t>S</a:t>
            </a:r>
            <a:r>
              <a:rPr lang="en-US" altLang="zh-TW" dirty="0"/>
              <a:t>(</a:t>
            </a:r>
            <a:r>
              <a:rPr lang="en-US" altLang="zh-TW" i="1" dirty="0"/>
              <a:t>u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49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66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v join to u</a:t>
            </a:r>
          </a:p>
          <a:p>
            <a:r>
              <a:rPr lang="en-US" altLang="zh-TW" dirty="0" smtClean="0"/>
              <a:t>rebuild take time </a:t>
            </a:r>
            <a:r>
              <a:rPr lang="en-US" altLang="zh-TW" dirty="0"/>
              <a:t>p=16, </a:t>
            </a:r>
            <a:r>
              <a:rPr lang="en-US" altLang="zh-TW" dirty="0" smtClean="0"/>
              <a:t>u=8, v=8, w=4, x=4</a:t>
            </a:r>
          </a:p>
          <a:p>
            <a:r>
              <a:rPr lang="en-US" altLang="zh-TW" dirty="0"/>
              <a:t>R</a:t>
            </a:r>
            <a:r>
              <a:rPr lang="en-US" altLang="zh-TW" dirty="0" smtClean="0"/>
              <a:t>ebuild start time p=1, u=5, v=3, w=8, x=11</a:t>
            </a:r>
          </a:p>
          <a:p>
            <a:r>
              <a:rPr lang="zh-TW" altLang="en-US" dirty="0" smtClean="0">
                <a:solidFill>
                  <a:srgbClr val="FF0000"/>
                </a:solidFill>
              </a:rPr>
              <a:t>多</a:t>
            </a:r>
            <a:r>
              <a:rPr lang="en-US" altLang="zh-TW" dirty="0" smtClean="0">
                <a:solidFill>
                  <a:srgbClr val="FF0000"/>
                </a:solidFill>
              </a:rPr>
              <a:t>(</a:t>
            </a:r>
            <a:r>
              <a:rPr lang="zh-TW" altLang="en-US" dirty="0" smtClean="0">
                <a:solidFill>
                  <a:srgbClr val="FF0000"/>
                </a:solidFill>
              </a:rPr>
              <a:t>幾</a:t>
            </a:r>
            <a:r>
              <a:rPr lang="en-US" altLang="zh-TW" dirty="0" smtClean="0">
                <a:solidFill>
                  <a:srgbClr val="FF0000"/>
                </a:solidFill>
              </a:rPr>
              <a:t>?)</a:t>
            </a:r>
            <a:r>
              <a:rPr lang="zh-TW" altLang="en-US" dirty="0" smtClean="0">
                <a:solidFill>
                  <a:srgbClr val="FF0000"/>
                </a:solidFill>
              </a:rPr>
              <a:t>個工作同時執行的時間計算</a:t>
            </a:r>
            <a:r>
              <a:rPr lang="en-US" altLang="zh-TW" dirty="0" smtClean="0">
                <a:solidFill>
                  <a:srgbClr val="FF0000"/>
                </a:solidFill>
              </a:rPr>
              <a:t>?</a:t>
            </a:r>
          </a:p>
          <a:p>
            <a:pPr marL="109728" indent="0">
              <a:buNone/>
            </a:pPr>
            <a:endParaRPr lang="en-US" altLang="zh-TW" dirty="0">
              <a:solidFill>
                <a:srgbClr val="FF0000"/>
              </a:solidFill>
            </a:endParaRPr>
          </a:p>
          <a:p>
            <a:pPr marL="109728" indent="0">
              <a:buNone/>
            </a:pP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50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7844661" y="116632"/>
            <a:ext cx="504056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6733024" y="605148"/>
            <a:ext cx="504056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u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8235193" y="605148"/>
            <a:ext cx="504056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v</a:t>
            </a:r>
            <a:endParaRPr lang="zh-TW" altLang="en-US" dirty="0"/>
          </a:p>
        </p:txBody>
      </p:sp>
      <p:sp>
        <p:nvSpPr>
          <p:cNvPr id="8" name="橢圓 7"/>
          <p:cNvSpPr/>
          <p:nvPr/>
        </p:nvSpPr>
        <p:spPr>
          <a:xfrm>
            <a:off x="7761617" y="1196752"/>
            <a:ext cx="504056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</a:t>
            </a:r>
            <a:endParaRPr lang="zh-TW" altLang="en-US" dirty="0"/>
          </a:p>
        </p:txBody>
      </p:sp>
      <p:sp>
        <p:nvSpPr>
          <p:cNvPr id="9" name="橢圓 8"/>
          <p:cNvSpPr/>
          <p:nvPr/>
        </p:nvSpPr>
        <p:spPr>
          <a:xfrm>
            <a:off x="8487221" y="1196752"/>
            <a:ext cx="504056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x</a:t>
            </a:r>
            <a:endParaRPr lang="zh-TW" altLang="en-US" dirty="0"/>
          </a:p>
        </p:txBody>
      </p:sp>
      <p:cxnSp>
        <p:nvCxnSpPr>
          <p:cNvPr id="11" name="直線接點 10"/>
          <p:cNvCxnSpPr>
            <a:stCxn id="5" idx="3"/>
            <a:endCxn id="6" idx="0"/>
          </p:cNvCxnSpPr>
          <p:nvPr/>
        </p:nvCxnSpPr>
        <p:spPr>
          <a:xfrm flipH="1">
            <a:off x="6985052" y="423945"/>
            <a:ext cx="933426" cy="181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5" idx="5"/>
            <a:endCxn id="7" idx="0"/>
          </p:cNvCxnSpPr>
          <p:nvPr/>
        </p:nvCxnSpPr>
        <p:spPr>
          <a:xfrm>
            <a:off x="8274900" y="423945"/>
            <a:ext cx="212321" cy="181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7" idx="3"/>
            <a:endCxn id="8" idx="0"/>
          </p:cNvCxnSpPr>
          <p:nvPr/>
        </p:nvCxnSpPr>
        <p:spPr>
          <a:xfrm flipH="1">
            <a:off x="8013645" y="912461"/>
            <a:ext cx="295365" cy="28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7" idx="5"/>
            <a:endCxn id="9" idx="0"/>
          </p:cNvCxnSpPr>
          <p:nvPr/>
        </p:nvCxnSpPr>
        <p:spPr>
          <a:xfrm>
            <a:off x="8665432" y="912461"/>
            <a:ext cx="73817" cy="28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690207"/>
              </p:ext>
            </p:extLst>
          </p:nvPr>
        </p:nvGraphicFramePr>
        <p:xfrm>
          <a:off x="210896" y="4293096"/>
          <a:ext cx="8152688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668"/>
                <a:gridCol w="462280"/>
                <a:gridCol w="462280"/>
                <a:gridCol w="462280"/>
                <a:gridCol w="462280"/>
                <a:gridCol w="462280"/>
                <a:gridCol w="462280"/>
                <a:gridCol w="462280"/>
                <a:gridCol w="487680"/>
                <a:gridCol w="462280"/>
                <a:gridCol w="574993"/>
                <a:gridCol w="574993"/>
                <a:gridCol w="576064"/>
                <a:gridCol w="574993"/>
                <a:gridCol w="574993"/>
                <a:gridCol w="576064"/>
              </a:tblGrid>
              <a:tr h="354792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/>
                </a:tc>
              </a:tr>
              <a:tr h="916547"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Job</a:t>
                      </a:r>
                    </a:p>
                    <a:p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p3</a:t>
                      </a:r>
                    </a:p>
                    <a:p>
                      <a:r>
                        <a:rPr lang="en-US" altLang="zh-TW" sz="1400" dirty="0" smtClean="0"/>
                        <a:t>v1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p4</a:t>
                      </a:r>
                    </a:p>
                    <a:p>
                      <a:r>
                        <a:rPr lang="en-US" altLang="zh-TW" sz="1400" dirty="0" smtClean="0"/>
                        <a:t>v2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p5</a:t>
                      </a:r>
                    </a:p>
                    <a:p>
                      <a:r>
                        <a:rPr lang="en-US" altLang="zh-TW" sz="1400" dirty="0" smtClean="0"/>
                        <a:t>u1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p6</a:t>
                      </a:r>
                    </a:p>
                    <a:p>
                      <a:r>
                        <a:rPr lang="en-US" altLang="zh-TW" sz="1400" dirty="0" smtClean="0"/>
                        <a:t>u2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p7</a:t>
                      </a:r>
                    </a:p>
                    <a:p>
                      <a:r>
                        <a:rPr lang="en-US" altLang="zh-TW" sz="1400" dirty="0" smtClean="0"/>
                        <a:t>u3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p8</a:t>
                      </a:r>
                    </a:p>
                    <a:p>
                      <a:r>
                        <a:rPr lang="en-US" altLang="zh-TW" sz="1400" dirty="0" smtClean="0"/>
                        <a:t>u4</a:t>
                      </a:r>
                    </a:p>
                    <a:p>
                      <a:r>
                        <a:rPr lang="en-US" altLang="zh-TW" sz="1400" dirty="0" smtClean="0"/>
                        <a:t>w1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p9</a:t>
                      </a:r>
                    </a:p>
                    <a:p>
                      <a:r>
                        <a:rPr lang="en-US" altLang="zh-TW" sz="1400" dirty="0" smtClean="0"/>
                        <a:t>u5</a:t>
                      </a:r>
                    </a:p>
                    <a:p>
                      <a:r>
                        <a:rPr lang="en-US" altLang="zh-TW" sz="1400" dirty="0" smtClean="0"/>
                        <a:t>w2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p10</a:t>
                      </a:r>
                    </a:p>
                    <a:p>
                      <a:r>
                        <a:rPr lang="en-US" altLang="zh-TW" sz="1400" dirty="0" smtClean="0"/>
                        <a:t>u6</a:t>
                      </a:r>
                    </a:p>
                    <a:p>
                      <a:r>
                        <a:rPr lang="en-US" altLang="zh-TW" sz="1400" dirty="0" smtClean="0"/>
                        <a:t>w3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p11</a:t>
                      </a:r>
                    </a:p>
                    <a:p>
                      <a:r>
                        <a:rPr lang="en-US" altLang="zh-TW" sz="1400" dirty="0" smtClean="0"/>
                        <a:t>u7</a:t>
                      </a:r>
                    </a:p>
                    <a:p>
                      <a:r>
                        <a:rPr lang="en-US" altLang="zh-TW" sz="1400" dirty="0" smtClean="0"/>
                        <a:t>w4</a:t>
                      </a:r>
                    </a:p>
                    <a:p>
                      <a:r>
                        <a:rPr lang="en-US" altLang="zh-TW" sz="1400" dirty="0" smtClean="0"/>
                        <a:t>x1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p12</a:t>
                      </a:r>
                    </a:p>
                    <a:p>
                      <a:r>
                        <a:rPr lang="en-US" altLang="zh-TW" sz="1400" dirty="0" smtClean="0"/>
                        <a:t>u8</a:t>
                      </a:r>
                    </a:p>
                    <a:p>
                      <a:r>
                        <a:rPr lang="en-US" altLang="zh-TW" sz="1400" dirty="0" smtClean="0"/>
                        <a:t>x2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p13</a:t>
                      </a:r>
                    </a:p>
                    <a:p>
                      <a:r>
                        <a:rPr lang="en-US" altLang="zh-TW" sz="1400" dirty="0" smtClean="0"/>
                        <a:t>x3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p14</a:t>
                      </a:r>
                    </a:p>
                    <a:p>
                      <a:r>
                        <a:rPr lang="en-US" altLang="zh-TW" sz="1400" dirty="0" smtClean="0"/>
                        <a:t>x4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p15</a:t>
                      </a:r>
                      <a:endParaRPr lang="zh-TW" alt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6228184" y="5949280"/>
            <a:ext cx="1513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v removed</a:t>
            </a:r>
            <a:endParaRPr lang="zh-TW" altLang="en-US" dirty="0"/>
          </a:p>
        </p:txBody>
      </p:sp>
      <p:cxnSp>
        <p:nvCxnSpPr>
          <p:cNvPr id="21" name="直線單箭頭接點 20"/>
          <p:cNvCxnSpPr/>
          <p:nvPr/>
        </p:nvCxnSpPr>
        <p:spPr>
          <a:xfrm flipH="1" flipV="1">
            <a:off x="6372200" y="5085184"/>
            <a:ext cx="144016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4499992" y="5755654"/>
            <a:ext cx="164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w</a:t>
            </a:r>
            <a:r>
              <a:rPr lang="en-US" altLang="zh-TW" dirty="0" smtClean="0"/>
              <a:t> point to u</a:t>
            </a:r>
            <a:endParaRPr lang="zh-TW" altLang="en-US" dirty="0"/>
          </a:p>
        </p:txBody>
      </p:sp>
      <p:cxnSp>
        <p:nvCxnSpPr>
          <p:cNvPr id="24" name="直線單箭頭接點 23"/>
          <p:cNvCxnSpPr/>
          <p:nvPr/>
        </p:nvCxnSpPr>
        <p:spPr>
          <a:xfrm flipH="1" flipV="1">
            <a:off x="4631680" y="5085184"/>
            <a:ext cx="288032" cy="6704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5076304" y="6381328"/>
            <a:ext cx="164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x point to u</a:t>
            </a:r>
            <a:endParaRPr lang="zh-TW" altLang="en-US" dirty="0"/>
          </a:p>
        </p:txBody>
      </p:sp>
      <p:cxnSp>
        <p:nvCxnSpPr>
          <p:cNvPr id="27" name="直線單箭頭接點 26"/>
          <p:cNvCxnSpPr>
            <a:stCxn id="26" idx="0"/>
          </p:cNvCxnSpPr>
          <p:nvPr/>
        </p:nvCxnSpPr>
        <p:spPr>
          <a:xfrm flipH="1" flipV="1">
            <a:off x="5724128" y="5085184"/>
            <a:ext cx="174888" cy="12961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2123728" y="557994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v compensate</a:t>
            </a:r>
            <a:endParaRPr lang="zh-TW" altLang="en-US" dirty="0"/>
          </a:p>
        </p:txBody>
      </p:sp>
      <p:cxnSp>
        <p:nvCxnSpPr>
          <p:cNvPr id="33" name="直線單箭頭接點 32"/>
          <p:cNvCxnSpPr>
            <a:stCxn id="32" idx="0"/>
          </p:cNvCxnSpPr>
          <p:nvPr/>
        </p:nvCxnSpPr>
        <p:spPr>
          <a:xfrm flipH="1" flipV="1">
            <a:off x="2802424" y="5062786"/>
            <a:ext cx="293412" cy="5171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84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24078" indent="-514350">
              <a:buFont typeface="+mj-lt"/>
              <a:buAutoNum type="arabicPeriod" startAt="4"/>
            </a:pPr>
            <a:r>
              <a:rPr lang="en-US" altLang="zh-TW" dirty="0"/>
              <a:t>During the </a:t>
            </a:r>
            <a:r>
              <a:rPr lang="en-US" altLang="zh-TW" dirty="0" err="1"/>
              <a:t>postprocessing</a:t>
            </a:r>
            <a:r>
              <a:rPr lang="en-US" altLang="zh-TW" dirty="0"/>
              <a:t> of the join, we may, internally, have to forward keys </a:t>
            </a:r>
            <a:r>
              <a:rPr lang="en-US" altLang="zh-TW" dirty="0" smtClean="0"/>
              <a:t>between </a:t>
            </a:r>
            <a:r>
              <a:rPr lang="en-US" altLang="zh-TW" i="1" dirty="0" smtClean="0"/>
              <a:t>u </a:t>
            </a:r>
            <a:r>
              <a:rPr lang="en-US" altLang="zh-TW" dirty="0"/>
              <a:t>and </a:t>
            </a:r>
            <a:r>
              <a:rPr lang="en-US" altLang="zh-TW" i="1" dirty="0"/>
              <a:t>v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pPr lvl="1"/>
            <a:r>
              <a:rPr lang="en-US" altLang="zh-TW" dirty="0"/>
              <a:t>I</a:t>
            </a:r>
            <a:r>
              <a:rPr lang="en-US" altLang="zh-TW" dirty="0" smtClean="0"/>
              <a:t>f </a:t>
            </a:r>
            <a:r>
              <a:rPr lang="en-US" altLang="zh-TW" dirty="0"/>
              <a:t>a key arrives at </a:t>
            </a:r>
            <a:r>
              <a:rPr lang="en-US" altLang="zh-TW" i="1" dirty="0"/>
              <a:t>v </a:t>
            </a:r>
            <a:r>
              <a:rPr lang="en-US" altLang="zh-TW" dirty="0"/>
              <a:t>from the </a:t>
            </a:r>
            <a:r>
              <a:rPr lang="en-US" altLang="zh-TW" i="1" dirty="0"/>
              <a:t>S</a:t>
            </a:r>
            <a:r>
              <a:rPr lang="en-US" altLang="zh-TW" dirty="0"/>
              <a:t>-structure of the parent and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u</a:t>
            </a:r>
            <a:r>
              <a:rPr lang="en-US" altLang="zh-TW" dirty="0" smtClean="0"/>
              <a:t>) has </a:t>
            </a:r>
            <a:r>
              <a:rPr lang="en-US" altLang="zh-TW" dirty="0"/>
              <a:t>been updated to take over </a:t>
            </a:r>
            <a:r>
              <a:rPr lang="en-US" altLang="zh-TW" i="1" dirty="0"/>
              <a:t>S</a:t>
            </a:r>
            <a:r>
              <a:rPr lang="en-US" altLang="zh-TW" dirty="0"/>
              <a:t>(</a:t>
            </a:r>
            <a:r>
              <a:rPr lang="en-US" altLang="zh-TW" i="1" dirty="0"/>
              <a:t>v</a:t>
            </a:r>
            <a:r>
              <a:rPr lang="en-US" altLang="zh-TW" dirty="0"/>
              <a:t>), the key is </a:t>
            </a:r>
            <a:r>
              <a:rPr lang="en-US" altLang="zh-TW" dirty="0" smtClean="0"/>
              <a:t>transferred </a:t>
            </a:r>
            <a:r>
              <a:rPr lang="en-US" altLang="zh-TW" dirty="0"/>
              <a:t>to </a:t>
            </a:r>
            <a:r>
              <a:rPr lang="en-US" altLang="zh-TW" i="1" dirty="0"/>
              <a:t>S</a:t>
            </a:r>
            <a:r>
              <a:rPr lang="en-US" altLang="zh-TW" dirty="0"/>
              <a:t>(</a:t>
            </a:r>
            <a:r>
              <a:rPr lang="en-US" altLang="zh-TW" i="1" dirty="0"/>
              <a:t>u</a:t>
            </a:r>
            <a:r>
              <a:rPr lang="en-US" altLang="zh-TW" dirty="0"/>
              <a:t>).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Conversely</a:t>
            </a:r>
            <a:r>
              <a:rPr lang="en-US" altLang="zh-TW" dirty="0"/>
              <a:t>, </a:t>
            </a:r>
            <a:r>
              <a:rPr lang="en-US" altLang="zh-TW" i="1" dirty="0"/>
              <a:t>S</a:t>
            </a:r>
            <a:r>
              <a:rPr lang="en-US" altLang="zh-TW" dirty="0"/>
              <a:t>(</a:t>
            </a:r>
            <a:r>
              <a:rPr lang="en-US" altLang="zh-TW" i="1" dirty="0"/>
              <a:t>v</a:t>
            </a:r>
            <a:r>
              <a:rPr lang="en-US" altLang="zh-TW" dirty="0"/>
              <a:t>) is </a:t>
            </a:r>
            <a:r>
              <a:rPr lang="en-US" altLang="zh-TW" dirty="0" smtClean="0"/>
              <a:t>still in </a:t>
            </a:r>
            <a:r>
              <a:rPr lang="en-US" altLang="zh-TW" dirty="0"/>
              <a:t>use; if a key arriving at </a:t>
            </a:r>
            <a:r>
              <a:rPr lang="en-US" altLang="zh-TW" i="1" dirty="0"/>
              <a:t>u </a:t>
            </a:r>
            <a:r>
              <a:rPr lang="en-US" altLang="zh-TW" dirty="0"/>
              <a:t>is larger than or equal to the splitter of </a:t>
            </a:r>
            <a:r>
              <a:rPr lang="en-US" altLang="zh-TW" i="1" dirty="0"/>
              <a:t>v </a:t>
            </a:r>
            <a:r>
              <a:rPr lang="en-US" altLang="zh-TW" dirty="0"/>
              <a:t>it is transferred </a:t>
            </a:r>
            <a:r>
              <a:rPr lang="en-US" altLang="zh-TW" dirty="0" smtClean="0"/>
              <a:t>to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).</a:t>
            </a:r>
          </a:p>
          <a:p>
            <a:pPr marL="624078" indent="-514350">
              <a:buFont typeface="+mj-lt"/>
              <a:buAutoNum type="arabicPeriod" startAt="5"/>
            </a:pPr>
            <a:r>
              <a:rPr lang="en-US" altLang="zh-TW" dirty="0"/>
              <a:t>The split is implemented using the same </a:t>
            </a:r>
            <a:r>
              <a:rPr lang="en-US" altLang="zh-TW" dirty="0" smtClean="0"/>
              <a:t>ideas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51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9973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With Definition 7, creating an </a:t>
                </a:r>
                <a:r>
                  <a:rPr lang="en-US" altLang="zh-TW" i="1" dirty="0"/>
                  <a:t>S</a:t>
                </a:r>
                <a:r>
                  <a:rPr lang="en-US" altLang="zh-TW" dirty="0"/>
                  <a:t>-structure for a node </a:t>
                </a:r>
                <a:r>
                  <a:rPr lang="en-US" altLang="zh-TW" i="1" dirty="0"/>
                  <a:t>u</a:t>
                </a:r>
                <a:r>
                  <a:rPr lang="en-US" altLang="zh-TW" dirty="0"/>
                  <a:t> on level 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> takes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i="1" baseline="-25000" dirty="0"/>
                  <a:t>i</a:t>
                </a:r>
                <a:r>
                  <a:rPr lang="en-US" altLang="zh-TW" baseline="-25000" dirty="0"/>
                  <a:t>−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) time</a:t>
                </a:r>
                <a:r>
                  <a:rPr lang="en-US" altLang="zh-TW" dirty="0"/>
                  <a:t>, and the total cost of a finger update is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(log </a:t>
                </a:r>
                <a:r>
                  <a:rPr lang="en-US" altLang="zh-TW" dirty="0" err="1"/>
                  <a:t>log</a:t>
                </a:r>
                <a:r>
                  <a:rPr lang="en-US" altLang="zh-TW" dirty="0"/>
                  <a:t> </a:t>
                </a:r>
                <a:r>
                  <a:rPr lang="en-US" altLang="zh-TW" i="1" dirty="0"/>
                  <a:t>n</a:t>
                </a:r>
                <a:r>
                  <a:rPr lang="en-US" altLang="zh-TW" dirty="0" smtClean="0"/>
                  <a:t>).</a:t>
                </a:r>
              </a:p>
              <a:p>
                <a:r>
                  <a:rPr lang="en-US" altLang="zh-TW" dirty="0" smtClean="0"/>
                  <a:t>Proof: </a:t>
                </a:r>
                <a:r>
                  <a:rPr lang="en-US" altLang="zh-TW" dirty="0"/>
                  <a:t>Since </a:t>
                </a:r>
                <a:r>
                  <a:rPr lang="en-US" altLang="zh-TW" i="1" dirty="0"/>
                  <a:t>u </a:t>
                </a:r>
                <a:r>
                  <a:rPr lang="en-US" altLang="zh-TW" dirty="0"/>
                  <a:t>has degree at most </a:t>
                </a:r>
                <a:r>
                  <a:rPr lang="el-GR" altLang="zh-TW" dirty="0" smtClean="0"/>
                  <a:t>Θ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(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zh-TW" b="0" i="1" dirty="0" smtClean="0">
                            <a:latin typeface="Cambria Math"/>
                          </a:rPr>
                          <m:t>1/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𝑘</m:t>
                        </m:r>
                      </m:sup>
                    </m:sSubSup>
                    <m:r>
                      <a:rPr lang="en-US" altLang="zh-TW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/>
                  <a:t>, the creation takes </a:t>
                </a:r>
                <a:r>
                  <a:rPr lang="el-GR" altLang="zh-TW" dirty="0"/>
                  <a:t>Θ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dirty="0" smtClean="0">
                            <a:latin typeface="Cambria Math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altLang="zh-TW" i="1" dirty="0">
                                <a:latin typeface="Cambria Math"/>
                              </a:rPr>
                              <m:t>((</m:t>
                            </m:r>
                            <m:r>
                              <a:rPr lang="en-US" altLang="zh-TW" i="1" dirty="0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TW" i="1" dirty="0">
                                <a:latin typeface="Cambria Math"/>
                              </a:rPr>
                              <m:t>1/</m:t>
                            </m:r>
                            <m:r>
                              <a:rPr lang="en-US" altLang="zh-TW" i="1" dirty="0">
                                <a:latin typeface="Cambria Math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zh-TW" i="1" dirty="0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altLang="zh-TW" i="1" dirty="0">
                        <a:latin typeface="Cambria Math"/>
                      </a:rPr>
                      <m:t>)</m:t>
                    </m:r>
                  </m:oMath>
                </a14:m>
                <a:r>
                  <a:rPr lang="pt-BR" altLang="zh-TW" dirty="0"/>
                  <a:t>= </a:t>
                </a:r>
                <a:r>
                  <a:rPr lang="pt-BR" altLang="zh-TW" i="1" dirty="0"/>
                  <a:t>O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/>
                          </a:rPr>
                          <m:t>(</m:t>
                        </m:r>
                        <m:r>
                          <a:rPr lang="en-US" altLang="zh-TW" i="1" dirty="0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zh-TW" b="0" i="1" dirty="0" smtClean="0">
                            <a:latin typeface="Cambria Math"/>
                          </a:rPr>
                          <m:t>1−</m:t>
                        </m:r>
                        <m:r>
                          <a:rPr lang="en-US" altLang="zh-TW" i="1" dirty="0">
                            <a:latin typeface="Cambria Math"/>
                          </a:rPr>
                          <m:t>1/</m:t>
                        </m:r>
                        <m:r>
                          <a:rPr lang="en-US" altLang="zh-TW" i="1" dirty="0">
                            <a:latin typeface="Cambria Math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altLang="zh-TW" dirty="0"/>
                  <a:t>) </a:t>
                </a:r>
                <a:r>
                  <a:rPr lang="en-US" altLang="zh-TW" dirty="0" smtClean="0"/>
                  <a:t>=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n</a:t>
                </a:r>
                <a:r>
                  <a:rPr lang="en-US" altLang="zh-TW" i="1" baseline="-25000" dirty="0" smtClean="0"/>
                  <a:t>i</a:t>
                </a:r>
                <a:r>
                  <a:rPr lang="en-US" altLang="zh-TW" i="1" baseline="-25000" dirty="0"/>
                  <a:t>−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) time. Thus, we get </a:t>
                </a:r>
                <a:r>
                  <a:rPr lang="en-US" altLang="zh-TW" i="1" dirty="0" err="1"/>
                  <a:t>t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=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(1) in Corollary 10, corresponding to a finger update </a:t>
                </a:r>
                <a:r>
                  <a:rPr lang="en-US" altLang="zh-TW" dirty="0" smtClean="0"/>
                  <a:t>time of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(log </a:t>
                </a:r>
                <a:r>
                  <a:rPr lang="en-US" altLang="zh-TW" dirty="0" err="1"/>
                  <a:t>log</a:t>
                </a:r>
                <a:r>
                  <a:rPr lang="en-US" altLang="zh-TW" dirty="0"/>
                  <a:t>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52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Lemma 12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62756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</a:p>
          <a:p>
            <a:r>
              <a:rPr lang="en-US" altLang="zh-TW" dirty="0" smtClean="0"/>
              <a:t>Amortized exponential </a:t>
            </a:r>
            <a:r>
              <a:rPr lang="en-US" altLang="zh-TW" dirty="0"/>
              <a:t>s</a:t>
            </a:r>
            <a:r>
              <a:rPr lang="en-US" altLang="zh-TW" dirty="0" smtClean="0"/>
              <a:t>earch </a:t>
            </a:r>
            <a:r>
              <a:rPr lang="en-US" altLang="zh-TW" dirty="0"/>
              <a:t>t</a:t>
            </a:r>
            <a:r>
              <a:rPr lang="en-US" altLang="zh-TW" dirty="0" smtClean="0"/>
              <a:t>ree</a:t>
            </a:r>
          </a:p>
          <a:p>
            <a:r>
              <a:rPr lang="en-US" altLang="zh-TW" dirty="0" smtClean="0"/>
              <a:t>Worst case </a:t>
            </a:r>
            <a:r>
              <a:rPr lang="en-US" altLang="zh-TW" dirty="0"/>
              <a:t>efficient e</a:t>
            </a:r>
            <a:r>
              <a:rPr lang="en-US" altLang="zh-TW" dirty="0" smtClean="0"/>
              <a:t>xponential search tree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Static search </a:t>
            </a:r>
            <a:r>
              <a:rPr lang="en-US" altLang="zh-TW" dirty="0" smtClean="0">
                <a:solidFill>
                  <a:srgbClr val="FF0000"/>
                </a:solidFill>
              </a:rPr>
              <a:t>structures</a:t>
            </a:r>
          </a:p>
          <a:p>
            <a:r>
              <a:rPr lang="en-US" altLang="zh-TW" dirty="0" smtClean="0"/>
              <a:t>Finger Update</a:t>
            </a:r>
            <a:endParaRPr lang="en-US" altLang="zh-TW" dirty="0"/>
          </a:p>
          <a:p>
            <a:r>
              <a:rPr lang="en-US" altLang="zh-TW" dirty="0" smtClean="0"/>
              <a:t>Finger </a:t>
            </a:r>
            <a:r>
              <a:rPr lang="en-US" altLang="zh-TW" dirty="0"/>
              <a:t>Search</a:t>
            </a:r>
          </a:p>
          <a:p>
            <a:r>
              <a:rPr lang="en-US" altLang="zh-TW" dirty="0"/>
              <a:t>String </a:t>
            </a:r>
            <a:r>
              <a:rPr lang="en-US" altLang="zh-TW" dirty="0" smtClean="0"/>
              <a:t>Search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2545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memory is divided into addressable words </a:t>
            </a:r>
            <a:r>
              <a:rPr lang="en-US" altLang="zh-TW" dirty="0" smtClean="0"/>
              <a:t>of length </a:t>
            </a:r>
            <a:r>
              <a:rPr lang="en-US" altLang="zh-TW" i="1" dirty="0"/>
              <a:t>W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Addresses </a:t>
            </a:r>
            <a:r>
              <a:rPr lang="en-US" altLang="zh-TW" dirty="0"/>
              <a:t>are themselves contained in words, so </a:t>
            </a:r>
            <a:r>
              <a:rPr lang="en-US" altLang="zh-TW" i="1" dirty="0"/>
              <a:t>W </a:t>
            </a:r>
            <a:r>
              <a:rPr lang="en-US" altLang="zh-TW" i="1" dirty="0" smtClean="0"/>
              <a:t>≥ </a:t>
            </a:r>
            <a:r>
              <a:rPr lang="en-US" altLang="zh-TW" dirty="0"/>
              <a:t>log </a:t>
            </a:r>
            <a:r>
              <a:rPr lang="en-US" altLang="zh-TW" i="1" dirty="0"/>
              <a:t>n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Moreover</a:t>
            </a:r>
            <a:r>
              <a:rPr lang="en-US" altLang="zh-TW" dirty="0"/>
              <a:t>, we </a:t>
            </a:r>
            <a:r>
              <a:rPr lang="en-US" altLang="zh-TW" dirty="0" smtClean="0"/>
              <a:t>have a </a:t>
            </a:r>
            <a:r>
              <a:rPr lang="en-US" altLang="zh-TW" dirty="0"/>
              <a:t>constant number of registers, each with capacity for one word.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basic instructions are</a:t>
            </a:r>
            <a:r>
              <a:rPr lang="en-US" altLang="zh-TW" dirty="0" smtClean="0"/>
              <a:t>:</a:t>
            </a:r>
            <a:r>
              <a:rPr lang="en-US" altLang="zh-TW" dirty="0"/>
              <a:t> conditional jumps, direct and indirect addressing for loading and storing words in </a:t>
            </a:r>
            <a:r>
              <a:rPr lang="en-US" altLang="zh-TW" dirty="0" smtClean="0"/>
              <a:t>registers, comparisons</a:t>
            </a:r>
            <a:r>
              <a:rPr lang="en-US" altLang="zh-TW" dirty="0"/>
              <a:t>, addition, </a:t>
            </a:r>
            <a:r>
              <a:rPr lang="en-US" altLang="zh-TW" dirty="0" smtClean="0"/>
              <a:t>and multiplication.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RAM model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157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A computational </a:t>
            </a:r>
            <a:r>
              <a:rPr lang="en-US" altLang="zh-TW" dirty="0" smtClean="0"/>
              <a:t>instruction is </a:t>
            </a:r>
            <a:r>
              <a:rPr lang="en-US" altLang="zh-TW" dirty="0"/>
              <a:t>an AC</a:t>
            </a:r>
            <a:r>
              <a:rPr lang="en-US" altLang="zh-TW" baseline="30000" dirty="0"/>
              <a:t>0</a:t>
            </a:r>
            <a:r>
              <a:rPr lang="en-US" altLang="zh-TW" dirty="0"/>
              <a:t> operation if it is </a:t>
            </a:r>
            <a:r>
              <a:rPr lang="en-US" altLang="zh-TW" dirty="0">
                <a:solidFill>
                  <a:srgbClr val="FF0000"/>
                </a:solidFill>
              </a:rPr>
              <a:t>computable by an </a:t>
            </a:r>
            <a:r>
              <a:rPr lang="en-US" altLang="zh-TW" i="1" dirty="0">
                <a:solidFill>
                  <a:srgbClr val="FF0000"/>
                </a:solidFill>
              </a:rPr>
              <a:t>W</a:t>
            </a:r>
            <a:r>
              <a:rPr lang="en-US" altLang="zh-TW" i="1" baseline="30000" dirty="0">
                <a:solidFill>
                  <a:srgbClr val="FF0000"/>
                </a:solidFill>
              </a:rPr>
              <a:t>O</a:t>
            </a:r>
            <a:r>
              <a:rPr lang="en-US" altLang="zh-TW" baseline="30000" dirty="0">
                <a:solidFill>
                  <a:srgbClr val="FF0000"/>
                </a:solidFill>
              </a:rPr>
              <a:t>(1)</a:t>
            </a:r>
            <a:r>
              <a:rPr lang="en-US" altLang="zh-TW" dirty="0">
                <a:solidFill>
                  <a:srgbClr val="FF0000"/>
                </a:solidFill>
              </a:rPr>
              <a:t>-sized constant depth circuit with </a:t>
            </a:r>
            <a:r>
              <a:rPr lang="en-US" altLang="zh-TW" i="1" dirty="0" smtClean="0">
                <a:solidFill>
                  <a:srgbClr val="FF0000"/>
                </a:solidFill>
              </a:rPr>
              <a:t>O</a:t>
            </a:r>
            <a:r>
              <a:rPr lang="en-US" altLang="zh-TW" dirty="0" smtClean="0">
                <a:solidFill>
                  <a:srgbClr val="FF0000"/>
                </a:solidFill>
              </a:rPr>
              <a:t>(</a:t>
            </a:r>
            <a:r>
              <a:rPr lang="en-US" altLang="zh-TW" i="1" dirty="0" smtClean="0">
                <a:solidFill>
                  <a:srgbClr val="FF0000"/>
                </a:solidFill>
              </a:rPr>
              <a:t>W</a:t>
            </a:r>
            <a:r>
              <a:rPr lang="en-US" altLang="zh-TW" dirty="0" smtClean="0">
                <a:solidFill>
                  <a:srgbClr val="FF0000"/>
                </a:solidFill>
              </a:rPr>
              <a:t>) input </a:t>
            </a:r>
            <a:r>
              <a:rPr lang="en-US" altLang="zh-TW" dirty="0">
                <a:solidFill>
                  <a:srgbClr val="FF0000"/>
                </a:solidFill>
              </a:rPr>
              <a:t>and output bits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In </a:t>
            </a:r>
            <a:r>
              <a:rPr lang="en-US" altLang="zh-TW" dirty="0"/>
              <a:t>the circuit we may have negation, and-gates, and or-gates </a:t>
            </a:r>
            <a:r>
              <a:rPr lang="en-US" altLang="zh-TW" dirty="0" smtClean="0"/>
              <a:t>with unbounded </a:t>
            </a:r>
            <a:r>
              <a:rPr lang="en-US" altLang="zh-TW" dirty="0"/>
              <a:t>fan-in. </a:t>
            </a:r>
            <a:endParaRPr lang="en-US" altLang="zh-TW" dirty="0" smtClean="0"/>
          </a:p>
          <a:p>
            <a:r>
              <a:rPr lang="en-US" altLang="zh-TW" dirty="0" smtClean="0"/>
              <a:t>Addition</a:t>
            </a:r>
            <a:r>
              <a:rPr lang="en-US" altLang="zh-TW" dirty="0"/>
              <a:t>, shift, and bit-wise Boolean operations are all AC</a:t>
            </a:r>
            <a:r>
              <a:rPr lang="en-US" altLang="zh-TW" baseline="30000" dirty="0"/>
              <a:t>0</a:t>
            </a:r>
            <a:r>
              <a:rPr lang="en-US" altLang="zh-TW" dirty="0"/>
              <a:t> </a:t>
            </a:r>
            <a:r>
              <a:rPr lang="en-US" altLang="zh-TW" dirty="0" smtClean="0"/>
              <a:t>operations. On </a:t>
            </a:r>
            <a:r>
              <a:rPr lang="en-US" altLang="zh-TW" dirty="0"/>
              <a:t>the other hand, multiplication is not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In this paper, we will present a linear </a:t>
            </a:r>
            <a:r>
              <a:rPr lang="en-US" altLang="zh-TW" dirty="0" smtClean="0"/>
              <a:t>space worst-case </a:t>
            </a:r>
            <a:r>
              <a:rPr lang="en-US" altLang="zh-TW" dirty="0"/>
              <a:t>time bound of </a:t>
            </a:r>
            <a:r>
              <a:rPr lang="en-US" altLang="zh-TW" i="1" dirty="0"/>
              <a:t>O</a:t>
            </a:r>
            <a:r>
              <a:rPr lang="en-US" altLang="zh-TW" dirty="0"/>
              <a:t>((log 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  <a:r>
              <a:rPr lang="en-US" altLang="zh-TW" baseline="30000" dirty="0"/>
              <a:t>3</a:t>
            </a:r>
            <a:r>
              <a:rPr lang="en-US" altLang="zh-TW" i="1" baseline="30000" dirty="0"/>
              <a:t>/</a:t>
            </a:r>
            <a:r>
              <a:rPr lang="en-US" altLang="zh-TW" baseline="30000" dirty="0"/>
              <a:t>4+</a:t>
            </a:r>
            <a:r>
              <a:rPr lang="en-US" altLang="zh-TW" i="1" baseline="30000" dirty="0"/>
              <a:t>o</a:t>
            </a:r>
            <a:r>
              <a:rPr lang="en-US" altLang="zh-TW" baseline="30000" dirty="0"/>
              <a:t>(1)</a:t>
            </a:r>
            <a:r>
              <a:rPr lang="en-US" altLang="zh-TW" dirty="0"/>
              <a:t>) using only standard AC</a:t>
            </a:r>
            <a:r>
              <a:rPr lang="en-US" altLang="zh-TW" baseline="30000" dirty="0"/>
              <a:t>0</a:t>
            </a:r>
            <a:r>
              <a:rPr lang="en-US" altLang="zh-TW" dirty="0"/>
              <a:t> </a:t>
            </a:r>
            <a:r>
              <a:rPr lang="en-US" altLang="zh-TW" dirty="0" smtClean="0"/>
              <a:t>operations.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AC</a:t>
            </a:r>
            <a:r>
              <a:rPr lang="en-US" altLang="zh-TW" baseline="30000" dirty="0" smtClean="0"/>
              <a:t>0</a:t>
            </a:r>
            <a:r>
              <a:rPr lang="en-US" altLang="zh-TW" dirty="0" smtClean="0"/>
              <a:t> Operation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8752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</a:p>
          <a:p>
            <a:r>
              <a:rPr lang="en-US" altLang="zh-TW" dirty="0" smtClean="0"/>
              <a:t>Amortized exponential </a:t>
            </a:r>
            <a:r>
              <a:rPr lang="en-US" altLang="zh-TW" dirty="0"/>
              <a:t>s</a:t>
            </a:r>
            <a:r>
              <a:rPr lang="en-US" altLang="zh-TW" dirty="0" smtClean="0"/>
              <a:t>earch </a:t>
            </a:r>
            <a:r>
              <a:rPr lang="en-US" altLang="zh-TW" dirty="0"/>
              <a:t>t</a:t>
            </a:r>
            <a:r>
              <a:rPr lang="en-US" altLang="zh-TW" dirty="0" smtClean="0"/>
              <a:t>ree</a:t>
            </a:r>
          </a:p>
          <a:p>
            <a:r>
              <a:rPr lang="en-US" altLang="zh-TW" dirty="0" smtClean="0"/>
              <a:t>Worst case </a:t>
            </a:r>
            <a:r>
              <a:rPr lang="en-US" altLang="zh-TW" dirty="0"/>
              <a:t>efficient e</a:t>
            </a:r>
            <a:r>
              <a:rPr lang="en-US" altLang="zh-TW" dirty="0" smtClean="0"/>
              <a:t>xponential search tree</a:t>
            </a:r>
          </a:p>
          <a:p>
            <a:r>
              <a:rPr lang="en-US" altLang="zh-TW" dirty="0"/>
              <a:t>Static search </a:t>
            </a:r>
            <a:r>
              <a:rPr lang="en-US" altLang="zh-TW" dirty="0" smtClean="0"/>
              <a:t>structures</a:t>
            </a:r>
          </a:p>
          <a:p>
            <a:r>
              <a:rPr lang="en-US" altLang="zh-TW" dirty="0" smtClean="0">
                <a:solidFill>
                  <a:schemeClr val="accent2"/>
                </a:solidFill>
              </a:rPr>
              <a:t>Finger Update</a:t>
            </a:r>
            <a:endParaRPr lang="en-US" altLang="zh-TW" dirty="0">
              <a:solidFill>
                <a:schemeClr val="accent2"/>
              </a:solidFill>
            </a:endParaRPr>
          </a:p>
          <a:p>
            <a:r>
              <a:rPr lang="en-US" altLang="zh-TW" dirty="0" smtClean="0"/>
              <a:t>Finger </a:t>
            </a:r>
            <a:r>
              <a:rPr lang="en-US" altLang="zh-TW" dirty="0"/>
              <a:t>Search</a:t>
            </a:r>
          </a:p>
          <a:p>
            <a:r>
              <a:rPr lang="en-US" altLang="zh-TW" dirty="0"/>
              <a:t>String </a:t>
            </a:r>
            <a:r>
              <a:rPr lang="en-US" altLang="zh-TW" dirty="0" smtClean="0"/>
              <a:t>Search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7175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By </a:t>
            </a:r>
            <a:r>
              <a:rPr lang="en-US" altLang="zh-TW" i="1" dirty="0"/>
              <a:t>finger search </a:t>
            </a:r>
            <a:r>
              <a:rPr lang="en-US" altLang="zh-TW" dirty="0"/>
              <a:t>we mean that we can have a “finger” pointing at a stored key </a:t>
            </a:r>
            <a:r>
              <a:rPr lang="en-US" altLang="zh-TW" i="1" dirty="0"/>
              <a:t>x </a:t>
            </a:r>
            <a:r>
              <a:rPr lang="en-US" altLang="zh-TW" dirty="0" smtClean="0"/>
              <a:t>when searching </a:t>
            </a:r>
            <a:r>
              <a:rPr lang="en-US" altLang="zh-TW" dirty="0"/>
              <a:t>for a key </a:t>
            </a:r>
            <a:r>
              <a:rPr lang="en-US" altLang="zh-TW" i="1" dirty="0"/>
              <a:t>y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Here </a:t>
            </a:r>
            <a:r>
              <a:rPr lang="en-US" altLang="zh-TW" dirty="0"/>
              <a:t>a finger is just a reference returned to the user when </a:t>
            </a:r>
            <a:r>
              <a:rPr lang="en-US" altLang="zh-TW" i="1" dirty="0"/>
              <a:t>x </a:t>
            </a:r>
            <a:r>
              <a:rPr lang="en-US" altLang="zh-TW" dirty="0"/>
              <a:t>is </a:t>
            </a:r>
            <a:r>
              <a:rPr lang="en-US" altLang="zh-TW" dirty="0" smtClean="0"/>
              <a:t>inserted or </a:t>
            </a:r>
            <a:r>
              <a:rPr lang="en-US" altLang="zh-TW" dirty="0"/>
              <a:t>searched for.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goal is to do better if the number </a:t>
            </a:r>
            <a:r>
              <a:rPr lang="en-US" altLang="zh-TW" i="1" dirty="0"/>
              <a:t>q </a:t>
            </a:r>
            <a:r>
              <a:rPr lang="en-US" altLang="zh-TW" dirty="0"/>
              <a:t>of stored keys between </a:t>
            </a:r>
            <a:r>
              <a:rPr lang="en-US" altLang="zh-TW" i="1" dirty="0"/>
              <a:t>x </a:t>
            </a:r>
            <a:r>
              <a:rPr lang="en-US" altLang="zh-TW" dirty="0"/>
              <a:t>and </a:t>
            </a:r>
            <a:r>
              <a:rPr lang="en-US" altLang="zh-TW" i="1" dirty="0"/>
              <a:t>y </a:t>
            </a:r>
            <a:r>
              <a:rPr lang="en-US" altLang="zh-TW" dirty="0" smtClean="0"/>
              <a:t>is small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Finger Search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069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 smtClean="0"/>
                  <a:t>For a finger insertion, we are given a finger to the key after which </a:t>
                </a:r>
                <a:r>
                  <a:rPr lang="en-US" altLang="zh-TW" dirty="0"/>
                  <a:t>the new key is to be inserted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The finger delete is </a:t>
                </a:r>
                <a:r>
                  <a:rPr lang="en-US" altLang="zh-TW" dirty="0" smtClean="0"/>
                  <a:t>just a </a:t>
                </a:r>
                <a:r>
                  <a:rPr lang="en-US" altLang="zh-TW" dirty="0"/>
                  <a:t>regular delete as defined above, i.e. we are given a pointer to the key to be deleted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In the comparison-based model of computation Dietz and Raman </a:t>
                </a:r>
                <a:r>
                  <a:rPr lang="en-US" altLang="zh-TW" dirty="0" smtClean="0"/>
                  <a:t>have provided optimal </a:t>
                </a:r>
                <a:r>
                  <a:rPr lang="en-US" altLang="zh-TW" dirty="0"/>
                  <a:t>bounds, supporting finger searches in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(log </a:t>
                </a:r>
                <a:r>
                  <a:rPr lang="en-US" altLang="zh-TW" i="1" dirty="0"/>
                  <a:t>q</a:t>
                </a:r>
                <a:r>
                  <a:rPr lang="en-US" altLang="zh-TW" dirty="0"/>
                  <a:t>) time while supporting finger </a:t>
                </a:r>
                <a:r>
                  <a:rPr lang="en-US" altLang="zh-TW" dirty="0" smtClean="0"/>
                  <a:t>updates in </a:t>
                </a:r>
                <a:r>
                  <a:rPr lang="en-US" altLang="zh-TW" dirty="0"/>
                  <a:t>constant time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In this paper we present optimal bounds on the RAM; namely </a:t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>O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log</m:t>
                        </m:r>
                        <m: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q</m:t>
                        </m:r>
                        <m: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1"/>
                            </a:solidFill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q</m:t>
                        </m:r>
                      </m:e>
                    </m:rad>
                  </m:oMath>
                </a14:m>
                <a:r>
                  <a:rPr lang="pt-BR" altLang="zh-TW" dirty="0">
                    <a:solidFill>
                      <a:schemeClr val="tx1"/>
                    </a:solidFill>
                  </a:rPr>
                  <a:t>) </a:t>
                </a:r>
                <a:r>
                  <a:rPr lang="en-US" altLang="zh-TW" dirty="0" smtClean="0"/>
                  <a:t>for finger </a:t>
                </a:r>
                <a:r>
                  <a:rPr lang="en-US" altLang="zh-TW" dirty="0"/>
                  <a:t>search with constant time finger updates.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617" r="-2222" b="-14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Finger Update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42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</a:t>
            </a:r>
            <a:r>
              <a:rPr lang="en-US" altLang="zh-TW" i="1" dirty="0"/>
              <a:t>O</a:t>
            </a:r>
            <a:r>
              <a:rPr lang="en-US" altLang="zh-TW" dirty="0"/>
              <a:t>(log </a:t>
            </a:r>
            <a:r>
              <a:rPr lang="en-US" altLang="zh-TW" dirty="0" err="1"/>
              <a:t>log</a:t>
            </a:r>
            <a:r>
              <a:rPr lang="en-US" altLang="zh-TW" dirty="0"/>
              <a:t> </a:t>
            </a:r>
            <a:r>
              <a:rPr lang="en-US" altLang="zh-TW" i="1" dirty="0"/>
              <a:t>n</a:t>
            </a:r>
            <a:r>
              <a:rPr lang="en-US" altLang="zh-TW" dirty="0"/>
              <a:t>) bound stems from the fact that when </a:t>
            </a:r>
            <a:r>
              <a:rPr lang="en-US" altLang="zh-TW" dirty="0" smtClean="0"/>
              <a:t>we insert </a:t>
            </a:r>
            <a:r>
              <a:rPr lang="en-US" altLang="zh-TW" dirty="0"/>
              <a:t>or delete a leaf, we use a local update step for each level above the leaf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Now, </a:t>
            </a:r>
            <a:r>
              <a:rPr lang="en-US" altLang="zh-TW" dirty="0" smtClean="0"/>
              <a:t>however, we </a:t>
            </a:r>
            <a:r>
              <a:rPr lang="en-US" altLang="zh-TW" dirty="0"/>
              <a:t>only want to use a </a:t>
            </a:r>
            <a:r>
              <a:rPr lang="en-US" altLang="zh-TW" dirty="0">
                <a:solidFill>
                  <a:srgbClr val="0070C0"/>
                </a:solidFill>
              </a:rPr>
              <a:t>constant number of local update steps </a:t>
            </a:r>
            <a:r>
              <a:rPr lang="en-US" altLang="zh-TW" dirty="0"/>
              <a:t>in connection with each </a:t>
            </a:r>
            <a:r>
              <a:rPr lang="en-US" altLang="zh-TW" dirty="0" smtClean="0"/>
              <a:t>leaf update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price is that we have less local update steps available for the </a:t>
            </a:r>
            <a:r>
              <a:rPr lang="en-US" altLang="zh-TW" dirty="0" err="1"/>
              <a:t>postprocessing</a:t>
            </a:r>
            <a:r>
              <a:rPr lang="en-US" altLang="zh-TW" dirty="0"/>
              <a:t> </a:t>
            </a:r>
            <a:r>
              <a:rPr lang="en-US" altLang="zh-TW" dirty="0" smtClean="0"/>
              <a:t>of joins </a:t>
            </a:r>
            <a:r>
              <a:rPr lang="en-US" altLang="zh-TW" dirty="0"/>
              <a:t>and splits.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59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0" dirty="0"/>
              <a:t>Constant </a:t>
            </a:r>
            <a:r>
              <a:rPr lang="en-US" altLang="zh-TW" b="0" dirty="0" smtClean="0"/>
              <a:t>Time </a:t>
            </a:r>
            <a:r>
              <a:rPr lang="en-US" altLang="zh-TW" b="0" dirty="0"/>
              <a:t>F</a:t>
            </a:r>
            <a:r>
              <a:rPr lang="en-US" altLang="zh-TW" b="0" dirty="0" smtClean="0"/>
              <a:t>inger Updates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92505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60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50032"/>
            <a:ext cx="9144000" cy="278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5" y="620688"/>
            <a:ext cx="9137335" cy="2780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5220072" y="620688"/>
            <a:ext cx="2160240" cy="288032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5372472" y="3750032"/>
            <a:ext cx="3736032" cy="288032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7240488" y="2852936"/>
            <a:ext cx="643880" cy="288032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8604448" y="5733256"/>
            <a:ext cx="539552" cy="288032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3203848" y="2861320"/>
            <a:ext cx="643880" cy="288032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3275856" y="5721072"/>
            <a:ext cx="1080120" cy="288032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1197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It is important to note that the number series of Theorem 24 is more restrictive than that </a:t>
                </a:r>
                <a:r>
                  <a:rPr lang="en-US" altLang="zh-TW" dirty="0"/>
                  <a:t>of Theorem 8, hence that Theorem 8 works for any number series from Theorem 24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We will use essentially the same schedule for join and splits as in the proof of Theorem 8.</a:t>
                </a:r>
                <a:endParaRPr lang="en-US" altLang="zh-TW" dirty="0" smtClean="0"/>
              </a:p>
              <a:p>
                <a:r>
                  <a:rPr lang="en-US" altLang="zh-TW" dirty="0" smtClean="0"/>
                  <a:t>We will show that the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TW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local update steps suffice for the </a:t>
                </a:r>
                <a:r>
                  <a:rPr lang="en-US" altLang="zh-TW" dirty="0" smtClean="0"/>
                  <a:t>maintenance of S-structures after </a:t>
                </a:r>
                <a:r>
                  <a:rPr lang="en-US" altLang="zh-TW" dirty="0"/>
                  <a:t>join and splits</a:t>
                </a:r>
                <a:r>
                  <a:rPr lang="en-US" altLang="zh-TW" dirty="0" smtClean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21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61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Constant Time Finger Updates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5593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The tree is split into three parts</a:t>
                </a:r>
              </a:p>
              <a:p>
                <a:pPr lvl="1"/>
                <a:r>
                  <a:rPr lang="en-US" altLang="zh-TW" dirty="0" smtClean="0"/>
                  <a:t>the lower part with weight &lt;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radPr>
                      <m:deg/>
                      <m:e>
                        <m:func>
                          <m:func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𝑛</m:t>
                            </m:r>
                          </m:e>
                        </m:func>
                      </m:e>
                    </m:rad>
                  </m:oMath>
                </a14:m>
                <a:endParaRPr lang="en-US" altLang="zh-TW" dirty="0" smtClean="0"/>
              </a:p>
              <a:p>
                <a:pPr lvl="1"/>
                <a:r>
                  <a:rPr lang="en-US" altLang="zh-TW" dirty="0" smtClean="0"/>
                  <a:t>The middle part with weight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≤</m:t>
                    </m:r>
                    <m:sSup>
                      <m:sSupPr>
                        <m:ctrlPr>
                          <a:rPr lang="en-US" altLang="zh-TW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lang="en-US" altLang="zh-TW" b="0" i="1" smtClean="0">
                                <a:latin typeface="Cambria Math"/>
                                <a:ea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/>
                                <a:ea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b="0" i="1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e>
                        </m:func>
                      </m:e>
                      <m:sup>
                        <m:func>
                          <m:funcPr>
                            <m:ctrlPr>
                              <a:rPr lang="en-US" altLang="zh-TW" b="0" i="1" smtClean="0">
                                <a:latin typeface="Cambria Math"/>
                                <a:ea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/>
                                <a:ea typeface="Cambria Math"/>
                              </a:rPr>
                              <m:t>log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/>
                                    <a:ea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b="0" i="1" smtClean="0">
                                    <a:latin typeface="Cambria Math"/>
                                    <a:ea typeface="Cambria Math"/>
                                  </a:rPr>
                                  <m:t>𝑛</m:t>
                                </m:r>
                              </m:e>
                            </m:func>
                          </m:e>
                        </m:func>
                      </m:sup>
                    </m:sSup>
                  </m:oMath>
                </a14:m>
                <a:endParaRPr lang="en-US" altLang="zh-TW" dirty="0" smtClean="0"/>
              </a:p>
              <a:p>
                <a:pPr lvl="1"/>
                <a:r>
                  <a:rPr lang="en-US" altLang="zh-TW" dirty="0" smtClean="0"/>
                  <a:t>The top levels</a:t>
                </a:r>
              </a:p>
              <a:p>
                <a:r>
                  <a:rPr lang="en-US" altLang="zh-TW" dirty="0" smtClean="0"/>
                  <a:t>We </a:t>
                </a:r>
                <a:r>
                  <a:rPr lang="en-US" altLang="zh-TW" dirty="0"/>
                  <a:t>will </a:t>
                </a:r>
                <a:r>
                  <a:rPr lang="en-US" altLang="zh-TW" dirty="0" smtClean="0"/>
                  <a:t>use a </a:t>
                </a:r>
                <a:r>
                  <a:rPr lang="en-US" altLang="zh-TW" dirty="0"/>
                  <a:t>tabulation technique for the lower levels of the exponential search tree, and a </a:t>
                </a:r>
                <a:r>
                  <a:rPr lang="en-US" altLang="zh-TW" dirty="0" smtClean="0"/>
                  <a:t>scheduling idea </a:t>
                </a:r>
                <a:r>
                  <a:rPr lang="en-US" altLang="zh-TW" dirty="0"/>
                  <a:t>of </a:t>
                </a:r>
                <a:r>
                  <a:rPr lang="en-US" altLang="zh-TW" dirty="0" err="1"/>
                  <a:t>Levcopoulos</a:t>
                </a:r>
                <a:r>
                  <a:rPr lang="en-US" altLang="zh-TW" dirty="0"/>
                  <a:t> and </a:t>
                </a:r>
                <a:r>
                  <a:rPr lang="en-US" altLang="zh-TW" dirty="0" err="1"/>
                  <a:t>Overmars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for </a:t>
                </a:r>
                <a:r>
                  <a:rPr lang="en-US" altLang="zh-TW" dirty="0"/>
                  <a:t>the upper </a:t>
                </a:r>
                <a:r>
                  <a:rPr lang="en-US" altLang="zh-TW" dirty="0" smtClean="0"/>
                  <a:t>levels (middle + top).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62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Constant Time Finger Updates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0783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63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510" y="260648"/>
            <a:ext cx="4792980" cy="384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580" y="4581128"/>
            <a:ext cx="5958840" cy="1973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9028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TW" dirty="0"/>
                  <a:t>Consider an exponential search tree </a:t>
                </a:r>
                <a:r>
                  <a:rPr lang="en-US" altLang="zh-TW" i="1" dirty="0"/>
                  <a:t>E </a:t>
                </a:r>
                <a:r>
                  <a:rPr lang="en-US" altLang="zh-TW" dirty="0"/>
                  <a:t>with at most </a:t>
                </a:r>
                <a:r>
                  <a:rPr lang="en-US" altLang="zh-TW" i="1" dirty="0"/>
                  <a:t>m </a:t>
                </a:r>
                <a:r>
                  <a:rPr lang="en-US" altLang="zh-TW" dirty="0"/>
                  <a:t>&lt;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latin typeface="Cambria Math"/>
                          </a:rPr>
                        </m:ctrlPr>
                      </m:radPr>
                      <m:deg/>
                      <m:e>
                        <m:func>
                          <m:func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𝑛</m:t>
                            </m:r>
                          </m:e>
                        </m:func>
                      </m:e>
                    </m:rad>
                    <m:r>
                      <a:rPr lang="en-US" altLang="zh-TW" i="1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dirty="0" smtClean="0"/>
                  <a:t>nodes.</a:t>
                </a:r>
              </a:p>
              <a:p>
                <a:r>
                  <a:rPr lang="en-US" altLang="zh-TW" dirty="0" smtClean="0"/>
                  <a:t>With </a:t>
                </a:r>
                <a:r>
                  <a:rPr lang="en-US" altLang="zh-TW" dirty="0"/>
                  <a:t>every node, we associate a unique index </a:t>
                </a:r>
                <a:r>
                  <a:rPr lang="en-US" altLang="zh-TW" dirty="0" smtClean="0"/>
                  <a:t>below </a:t>
                </a:r>
                <a:r>
                  <a:rPr lang="en-US" altLang="zh-TW" i="1" dirty="0" smtClean="0"/>
                  <a:t>m</a:t>
                </a:r>
                <a:r>
                  <a:rPr lang="en-US" altLang="zh-TW" dirty="0"/>
                  <a:t>, which is given to the node when it is first created by a split. </a:t>
                </a:r>
                <a:endParaRPr lang="en-US" altLang="zh-TW" dirty="0" smtClean="0"/>
              </a:p>
              <a:p>
                <a:r>
                  <a:rPr lang="en-US" altLang="zh-TW" dirty="0" smtClean="0"/>
                  <a:t>Indices </a:t>
                </a:r>
                <a:r>
                  <a:rPr lang="en-US" altLang="zh-TW" dirty="0"/>
                  <a:t>are recycled </a:t>
                </a:r>
                <a:r>
                  <a:rPr lang="en-US" altLang="zh-TW" dirty="0" smtClean="0"/>
                  <a:t>when nodes </a:t>
                </a:r>
                <a:r>
                  <a:rPr lang="en-US" altLang="zh-TW" dirty="0"/>
                  <a:t>disappear in connection with joins. </a:t>
                </a:r>
                <a:endParaRPr lang="en-US" altLang="zh-TW" dirty="0" smtClean="0"/>
              </a:p>
              <a:p>
                <a:r>
                  <a:rPr lang="en-US" altLang="zh-TW" dirty="0" smtClean="0"/>
                  <a:t>We </a:t>
                </a:r>
                <a:r>
                  <a:rPr lang="en-US" altLang="zh-TW" dirty="0"/>
                  <a:t>will have a table of size </a:t>
                </a:r>
                <a:r>
                  <a:rPr lang="en-US" altLang="zh-TW" i="1" dirty="0"/>
                  <a:t>m </a:t>
                </a:r>
                <a:r>
                  <a:rPr lang="en-US" altLang="zh-TW" dirty="0"/>
                  <a:t>that maps </a:t>
                </a:r>
                <a:r>
                  <a:rPr lang="en-US" altLang="zh-TW" dirty="0" smtClean="0"/>
                  <a:t>indices into </a:t>
                </a:r>
                <a:r>
                  <a:rPr lang="en-US" altLang="zh-TW" dirty="0"/>
                  <a:t>the nodes in </a:t>
                </a:r>
                <a:r>
                  <a:rPr lang="en-US" altLang="zh-TW" i="1" dirty="0"/>
                  <a:t>E</a:t>
                </a:r>
                <a:r>
                  <a:rPr lang="en-US" altLang="zh-TW" dirty="0"/>
                  <a:t>. </a:t>
                </a:r>
                <a:endParaRPr lang="en-US" altLang="zh-TW" dirty="0" smtClean="0"/>
              </a:p>
              <a:p>
                <a:r>
                  <a:rPr lang="en-US" altLang="zh-TW" dirty="0" smtClean="0"/>
                  <a:t>Conversely</a:t>
                </a:r>
                <a:r>
                  <a:rPr lang="en-US" altLang="zh-TW" dirty="0"/>
                  <a:t>, with each node in </a:t>
                </a:r>
                <a:r>
                  <a:rPr lang="en-US" altLang="zh-TW" i="1" dirty="0"/>
                  <a:t>E</a:t>
                </a:r>
                <a:r>
                  <a:rPr lang="en-US" altLang="zh-TW" dirty="0"/>
                  <a:t>, we will store its index.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887" r="-1111" b="-20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64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Lower-Level Trees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4002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65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1135936" y="2037984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3008144" y="2046368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865352" y="2686056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8" name="橢圓 7"/>
          <p:cNvSpPr/>
          <p:nvPr/>
        </p:nvSpPr>
        <p:spPr>
          <a:xfrm>
            <a:off x="2648104" y="2723080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10" name="橢圓 9"/>
          <p:cNvSpPr/>
          <p:nvPr/>
        </p:nvSpPr>
        <p:spPr>
          <a:xfrm>
            <a:off x="3413828" y="2745856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11" name="橢圓 10"/>
          <p:cNvSpPr/>
          <p:nvPr/>
        </p:nvSpPr>
        <p:spPr>
          <a:xfrm>
            <a:off x="1648376" y="2710464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665012" y="1484784"/>
            <a:ext cx="45272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 smtClean="0"/>
              <a:t>依序加入</a:t>
            </a:r>
            <a:r>
              <a:rPr lang="en-US" altLang="zh-TW" sz="2400" dirty="0" smtClean="0"/>
              <a:t>10, 5, 30, 15, 20, 50</a:t>
            </a:r>
            <a:endParaRPr lang="zh-TW" altLang="en-US" sz="2400" dirty="0"/>
          </a:p>
        </p:txBody>
      </p:sp>
      <p:cxnSp>
        <p:nvCxnSpPr>
          <p:cNvPr id="14" name="直線接點 13"/>
          <p:cNvCxnSpPr>
            <a:stCxn id="5" idx="3"/>
            <a:endCxn id="7" idx="0"/>
          </p:cNvCxnSpPr>
          <p:nvPr/>
        </p:nvCxnSpPr>
        <p:spPr>
          <a:xfrm flipH="1">
            <a:off x="1045372" y="2283835"/>
            <a:ext cx="143291" cy="402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>
            <a:stCxn id="5" idx="5"/>
            <a:endCxn id="11" idx="0"/>
          </p:cNvCxnSpPr>
          <p:nvPr/>
        </p:nvCxnSpPr>
        <p:spPr>
          <a:xfrm>
            <a:off x="1443249" y="2283835"/>
            <a:ext cx="385147" cy="426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6" idx="3"/>
            <a:endCxn id="8" idx="0"/>
          </p:cNvCxnSpPr>
          <p:nvPr/>
        </p:nvCxnSpPr>
        <p:spPr>
          <a:xfrm flipH="1">
            <a:off x="2828124" y="2292219"/>
            <a:ext cx="232747" cy="430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6" idx="5"/>
            <a:endCxn id="10" idx="0"/>
          </p:cNvCxnSpPr>
          <p:nvPr/>
        </p:nvCxnSpPr>
        <p:spPr>
          <a:xfrm>
            <a:off x="3315457" y="2292219"/>
            <a:ext cx="278391" cy="45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/>
          <p:cNvSpPr/>
          <p:nvPr/>
        </p:nvSpPr>
        <p:spPr>
          <a:xfrm>
            <a:off x="1187847" y="3761232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26" name="橢圓 25"/>
          <p:cNvSpPr/>
          <p:nvPr/>
        </p:nvSpPr>
        <p:spPr>
          <a:xfrm>
            <a:off x="917263" y="4409304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27" name="橢圓 26"/>
          <p:cNvSpPr/>
          <p:nvPr/>
        </p:nvSpPr>
        <p:spPr>
          <a:xfrm>
            <a:off x="2700015" y="4446328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28" name="橢圓 27"/>
          <p:cNvSpPr/>
          <p:nvPr/>
        </p:nvSpPr>
        <p:spPr>
          <a:xfrm>
            <a:off x="3465739" y="4469104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29" name="橢圓 28"/>
          <p:cNvSpPr/>
          <p:nvPr/>
        </p:nvSpPr>
        <p:spPr>
          <a:xfrm>
            <a:off x="1700287" y="4433712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716923" y="3208032"/>
            <a:ext cx="1883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10</a:t>
            </a:r>
            <a:r>
              <a:rPr lang="zh-TW" altLang="en-US" sz="2400" dirty="0" smtClean="0"/>
              <a:t>和</a:t>
            </a:r>
            <a:r>
              <a:rPr lang="en-US" altLang="zh-TW" sz="2400" dirty="0"/>
              <a:t>3</a:t>
            </a:r>
            <a:r>
              <a:rPr lang="en-US" altLang="zh-TW" sz="2400" dirty="0" smtClean="0"/>
              <a:t>0</a:t>
            </a:r>
            <a:r>
              <a:rPr lang="zh-TW" altLang="en-US" sz="2400" dirty="0" smtClean="0"/>
              <a:t>合併</a:t>
            </a:r>
            <a:endParaRPr lang="zh-TW" altLang="en-US" sz="2400" dirty="0"/>
          </a:p>
        </p:txBody>
      </p:sp>
      <p:cxnSp>
        <p:nvCxnSpPr>
          <p:cNvPr id="31" name="直線接點 30"/>
          <p:cNvCxnSpPr>
            <a:stCxn id="24" idx="3"/>
            <a:endCxn id="26" idx="0"/>
          </p:cNvCxnSpPr>
          <p:nvPr/>
        </p:nvCxnSpPr>
        <p:spPr>
          <a:xfrm flipH="1">
            <a:off x="1097283" y="4007083"/>
            <a:ext cx="143291" cy="402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>
            <a:stCxn id="24" idx="5"/>
            <a:endCxn id="29" idx="0"/>
          </p:cNvCxnSpPr>
          <p:nvPr/>
        </p:nvCxnSpPr>
        <p:spPr>
          <a:xfrm>
            <a:off x="1495160" y="4007083"/>
            <a:ext cx="385147" cy="426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24" idx="6"/>
            <a:endCxn id="27" idx="0"/>
          </p:cNvCxnSpPr>
          <p:nvPr/>
        </p:nvCxnSpPr>
        <p:spPr>
          <a:xfrm>
            <a:off x="1547887" y="3905248"/>
            <a:ext cx="1332148" cy="541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>
            <a:stCxn id="24" idx="7"/>
            <a:endCxn id="28" idx="0"/>
          </p:cNvCxnSpPr>
          <p:nvPr/>
        </p:nvCxnSpPr>
        <p:spPr>
          <a:xfrm>
            <a:off x="1495160" y="3803413"/>
            <a:ext cx="2150599" cy="6656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1462081" y="199733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10</a:t>
            </a:r>
            <a:endParaRPr lang="zh-TW" altLang="en-US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534812" y="2664556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3443352" y="199733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30</a:t>
            </a:r>
            <a:endParaRPr lang="zh-TW" altLang="en-US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1770210" y="245848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15</a:t>
            </a:r>
            <a:endParaRPr lang="zh-TW" altLang="en-US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2246622" y="272308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20</a:t>
            </a:r>
            <a:endParaRPr lang="zh-TW" altLang="en-US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3708774" y="274585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1495976" y="354189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10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926315" y="4707976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1700287" y="469733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15</a:t>
            </a:r>
            <a:endParaRPr lang="zh-TW" altLang="en-US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2608387" y="475713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20</a:t>
            </a:r>
            <a:endParaRPr lang="zh-TW" altLang="en-US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3407553" y="473634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48" name="橢圓 47"/>
          <p:cNvSpPr/>
          <p:nvPr/>
        </p:nvSpPr>
        <p:spPr>
          <a:xfrm>
            <a:off x="5059274" y="3782940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49" name="橢圓 48"/>
          <p:cNvSpPr/>
          <p:nvPr/>
        </p:nvSpPr>
        <p:spPr>
          <a:xfrm>
            <a:off x="4788690" y="4431012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50" name="橢圓 49"/>
          <p:cNvSpPr/>
          <p:nvPr/>
        </p:nvSpPr>
        <p:spPr>
          <a:xfrm>
            <a:off x="6931482" y="4468036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51" name="橢圓 50"/>
          <p:cNvSpPr/>
          <p:nvPr/>
        </p:nvSpPr>
        <p:spPr>
          <a:xfrm>
            <a:off x="7697206" y="4490812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52" name="橢圓 51"/>
          <p:cNvSpPr/>
          <p:nvPr/>
        </p:nvSpPr>
        <p:spPr>
          <a:xfrm>
            <a:off x="5571714" y="4455420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4588350" y="3229740"/>
            <a:ext cx="1188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 smtClean="0"/>
              <a:t>加入</a:t>
            </a:r>
            <a:r>
              <a:rPr lang="en-US" altLang="zh-TW" sz="2400" dirty="0" smtClean="0"/>
              <a:t>45</a:t>
            </a:r>
            <a:endParaRPr lang="zh-TW" altLang="en-US" sz="2400" dirty="0"/>
          </a:p>
        </p:txBody>
      </p:sp>
      <p:cxnSp>
        <p:nvCxnSpPr>
          <p:cNvPr id="54" name="直線接點 53"/>
          <p:cNvCxnSpPr>
            <a:stCxn id="48" idx="3"/>
            <a:endCxn id="49" idx="0"/>
          </p:cNvCxnSpPr>
          <p:nvPr/>
        </p:nvCxnSpPr>
        <p:spPr>
          <a:xfrm flipH="1">
            <a:off x="4968710" y="4028791"/>
            <a:ext cx="143291" cy="402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>
            <a:stCxn id="48" idx="5"/>
            <a:endCxn id="52" idx="0"/>
          </p:cNvCxnSpPr>
          <p:nvPr/>
        </p:nvCxnSpPr>
        <p:spPr>
          <a:xfrm>
            <a:off x="5366587" y="4028791"/>
            <a:ext cx="385147" cy="426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>
            <a:stCxn id="48" idx="6"/>
            <a:endCxn id="50" idx="0"/>
          </p:cNvCxnSpPr>
          <p:nvPr/>
        </p:nvCxnSpPr>
        <p:spPr>
          <a:xfrm>
            <a:off x="5419314" y="3926956"/>
            <a:ext cx="1692188" cy="541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48" idx="7"/>
            <a:endCxn id="51" idx="0"/>
          </p:cNvCxnSpPr>
          <p:nvPr/>
        </p:nvCxnSpPr>
        <p:spPr>
          <a:xfrm>
            <a:off x="5366587" y="3825121"/>
            <a:ext cx="2510639" cy="6656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字方塊 57"/>
          <p:cNvSpPr txBox="1"/>
          <p:nvPr/>
        </p:nvSpPr>
        <p:spPr>
          <a:xfrm>
            <a:off x="5367403" y="356359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10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4797742" y="4729684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5571714" y="471904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943142" y="477884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20</a:t>
            </a:r>
            <a:endParaRPr lang="zh-TW" altLang="en-US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7639020" y="475805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65" name="橢圓 64"/>
          <p:cNvSpPr/>
          <p:nvPr/>
        </p:nvSpPr>
        <p:spPr>
          <a:xfrm>
            <a:off x="6221430" y="4445676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66" name="文字方塊 65"/>
          <p:cNvSpPr txBox="1"/>
          <p:nvPr/>
        </p:nvSpPr>
        <p:spPr>
          <a:xfrm>
            <a:off x="6145494" y="475805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45</a:t>
            </a:r>
            <a:endParaRPr lang="zh-TW" altLang="en-US" dirty="0"/>
          </a:p>
        </p:txBody>
      </p:sp>
      <p:cxnSp>
        <p:nvCxnSpPr>
          <p:cNvPr id="68" name="直線接點 67"/>
          <p:cNvCxnSpPr>
            <a:endCxn id="65" idx="1"/>
          </p:cNvCxnSpPr>
          <p:nvPr/>
        </p:nvCxnSpPr>
        <p:spPr>
          <a:xfrm>
            <a:off x="5239294" y="3926956"/>
            <a:ext cx="1034863" cy="560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/>
          <p:cNvSpPr txBox="1"/>
          <p:nvPr/>
        </p:nvSpPr>
        <p:spPr>
          <a:xfrm>
            <a:off x="4615593" y="3704287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</a:t>
            </a:r>
            <a:r>
              <a:rPr lang="en-US" altLang="zh-TW" baseline="-25000" dirty="0" smtClean="0"/>
              <a:t>1</a:t>
            </a:r>
            <a:endParaRPr lang="zh-TW" altLang="en-US" baseline="-250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4341609" y="4390362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</a:t>
            </a:r>
            <a:r>
              <a:rPr lang="en-US" altLang="zh-TW" baseline="-25000" dirty="0"/>
              <a:t>2</a:t>
            </a:r>
            <a:endParaRPr lang="zh-TW" altLang="en-US" baseline="-250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5154845" y="4445676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</a:t>
            </a:r>
            <a:r>
              <a:rPr lang="en-US" altLang="zh-TW" baseline="-25000" dirty="0"/>
              <a:t>3</a:t>
            </a:r>
            <a:endParaRPr lang="zh-TW" altLang="en-US" baseline="-25000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5849174" y="4233955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</a:t>
            </a:r>
            <a:r>
              <a:rPr lang="en-US" altLang="zh-TW" baseline="-25000" dirty="0"/>
              <a:t>4</a:t>
            </a:r>
            <a:endParaRPr lang="zh-TW" altLang="en-US" baseline="-25000" dirty="0"/>
          </a:p>
        </p:txBody>
      </p:sp>
      <p:sp>
        <p:nvSpPr>
          <p:cNvPr id="75" name="文字方塊 74"/>
          <p:cNvSpPr txBox="1"/>
          <p:nvPr/>
        </p:nvSpPr>
        <p:spPr>
          <a:xfrm>
            <a:off x="6621906" y="4232869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</a:t>
            </a:r>
            <a:r>
              <a:rPr lang="en-US" altLang="zh-TW" baseline="-25000" dirty="0"/>
              <a:t>5</a:t>
            </a:r>
            <a:endParaRPr lang="zh-TW" altLang="en-US" baseline="-250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7827715" y="4090893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</a:t>
            </a:r>
            <a:r>
              <a:rPr lang="en-US" altLang="zh-TW" baseline="-25000" dirty="0"/>
              <a:t>6</a:t>
            </a:r>
            <a:endParaRPr lang="zh-TW" altLang="en-US" baseline="-25000" dirty="0"/>
          </a:p>
        </p:txBody>
      </p:sp>
      <p:graphicFrame>
        <p:nvGraphicFramePr>
          <p:cNvPr id="77" name="表格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828637"/>
              </p:ext>
            </p:extLst>
          </p:nvPr>
        </p:nvGraphicFramePr>
        <p:xfrm>
          <a:off x="4588350" y="5229200"/>
          <a:ext cx="3841332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22"/>
                <a:gridCol w="640222"/>
                <a:gridCol w="640222"/>
                <a:gridCol w="640222"/>
                <a:gridCol w="640222"/>
                <a:gridCol w="64022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r>
                        <a:rPr lang="en-US" altLang="zh-TW" baseline="-25000" dirty="0" smtClean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r>
                        <a:rPr lang="en-US" altLang="zh-TW" baseline="-25000" dirty="0" smtClean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r>
                        <a:rPr lang="en-US" altLang="zh-TW" baseline="-25000" dirty="0" smtClean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r>
                        <a:rPr lang="en-US" altLang="zh-TW" baseline="-25000" dirty="0" smtClean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r>
                        <a:rPr lang="en-US" altLang="zh-TW" baseline="-25000" dirty="0" smtClean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</a:t>
                      </a:r>
                      <a:r>
                        <a:rPr lang="en-US" altLang="zh-TW" baseline="-25000" dirty="0" smtClean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702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We call </a:t>
            </a:r>
            <a:r>
              <a:rPr lang="el-GR" altLang="zh-TW" i="1" dirty="0"/>
              <a:t>α</a:t>
            </a:r>
            <a:r>
              <a:rPr lang="en-US" altLang="zh-TW" i="1" baseline="-25000" dirty="0"/>
              <a:t>E</a:t>
            </a:r>
            <a:r>
              <a:rPr lang="en-US" altLang="zh-TW" i="1" dirty="0"/>
              <a:t> </a:t>
            </a:r>
            <a:r>
              <a:rPr lang="en-US" altLang="zh-TW" dirty="0"/>
              <a:t>= (</a:t>
            </a:r>
            <a:r>
              <a:rPr lang="el-GR" altLang="zh-TW" i="1" dirty="0"/>
              <a:t>τ</a:t>
            </a:r>
            <a:r>
              <a:rPr lang="en-US" altLang="zh-TW" i="1" baseline="-25000" dirty="0"/>
              <a:t>E</a:t>
            </a:r>
            <a:r>
              <a:rPr lang="en-US" altLang="zh-TW" i="1" dirty="0"/>
              <a:t>, </a:t>
            </a:r>
            <a:r>
              <a:rPr lang="en-US" altLang="zh-TW" i="1" dirty="0" err="1"/>
              <a:t>μ</a:t>
            </a:r>
            <a:r>
              <a:rPr lang="en-US" altLang="zh-TW" i="1" baseline="-25000" dirty="0" err="1"/>
              <a:t>E</a:t>
            </a:r>
            <a:r>
              <a:rPr lang="en-US" altLang="zh-TW" i="1" dirty="0"/>
              <a:t>, </a:t>
            </a:r>
            <a:r>
              <a:rPr lang="el-GR" altLang="zh-TW" i="1" dirty="0"/>
              <a:t>γ</a:t>
            </a:r>
            <a:r>
              <a:rPr lang="en-US" altLang="zh-TW" i="1" baseline="-25000" dirty="0"/>
              <a:t>E</a:t>
            </a:r>
            <a:r>
              <a:rPr lang="en-US" altLang="zh-TW" dirty="0"/>
              <a:t>) the signature of </a:t>
            </a:r>
            <a:r>
              <a:rPr lang="en-US" altLang="zh-TW" i="1" dirty="0"/>
              <a:t>E</a:t>
            </a:r>
            <a:r>
              <a:rPr lang="en-US" altLang="zh-TW" dirty="0"/>
              <a:t>.</a:t>
            </a:r>
            <a:endParaRPr lang="zh-TW" altLang="en-US" dirty="0"/>
          </a:p>
          <a:p>
            <a:r>
              <a:rPr lang="el-GR" altLang="zh-TW" i="1" dirty="0" smtClean="0"/>
              <a:t>τ</a:t>
            </a:r>
            <a:r>
              <a:rPr lang="en-US" altLang="zh-TW" i="1" baseline="-25000" dirty="0" smtClean="0"/>
              <a:t>E</a:t>
            </a:r>
            <a:r>
              <a:rPr lang="en-US" altLang="zh-TW" i="1" dirty="0" smtClean="0"/>
              <a:t> </a:t>
            </a:r>
            <a:r>
              <a:rPr lang="en-US" altLang="zh-TW" dirty="0"/>
              <a:t>representing the topology of </a:t>
            </a:r>
            <a:r>
              <a:rPr lang="en-US" altLang="zh-TW" i="1" dirty="0"/>
              <a:t>E</a:t>
            </a:r>
            <a:r>
              <a:rPr lang="en-US" altLang="zh-TW" dirty="0"/>
              <a:t>. </a:t>
            </a:r>
            <a:r>
              <a:rPr lang="en-US" altLang="zh-TW" dirty="0" smtClean="0"/>
              <a:t>More precisely</a:t>
            </a:r>
            <a:r>
              <a:rPr lang="en-US" altLang="zh-TW" dirty="0"/>
              <a:t>, </a:t>
            </a:r>
            <a:r>
              <a:rPr lang="el-GR" altLang="zh-TW" i="1" dirty="0"/>
              <a:t>τ</a:t>
            </a:r>
            <a:r>
              <a:rPr lang="en-US" altLang="zh-TW" i="1" baseline="-25000" dirty="0"/>
              <a:t>E</a:t>
            </a:r>
            <a:r>
              <a:rPr lang="en-US" altLang="zh-TW" i="1" dirty="0" smtClean="0"/>
              <a:t> </a:t>
            </a:r>
            <a:r>
              <a:rPr lang="en-US" altLang="zh-TW" dirty="0"/>
              <a:t>represents the </a:t>
            </a:r>
            <a:r>
              <a:rPr lang="en-US" altLang="zh-TW" dirty="0">
                <a:solidFill>
                  <a:srgbClr val="0070C0"/>
                </a:solidFill>
              </a:rPr>
              <a:t>depth first search </a:t>
            </a:r>
            <a:r>
              <a:rPr lang="en-US" altLang="zh-TW" dirty="0"/>
              <a:t>traversal of </a:t>
            </a:r>
            <a:r>
              <a:rPr lang="en-US" altLang="zh-TW" i="1" dirty="0"/>
              <a:t>E </a:t>
            </a:r>
            <a:r>
              <a:rPr lang="en-US" altLang="zh-TW" dirty="0"/>
              <a:t>where </a:t>
            </a:r>
            <a:r>
              <a:rPr lang="en-US" altLang="zh-TW" dirty="0">
                <a:solidFill>
                  <a:srgbClr val="0070C0"/>
                </a:solidFill>
              </a:rPr>
              <a:t>1 means go down </a:t>
            </a:r>
            <a:r>
              <a:rPr lang="en-US" altLang="zh-TW" dirty="0" smtClean="0">
                <a:solidFill>
                  <a:srgbClr val="0070C0"/>
                </a:solidFill>
              </a:rPr>
              <a:t>and 0 </a:t>
            </a:r>
            <a:r>
              <a:rPr lang="en-US" altLang="zh-TW" dirty="0">
                <a:solidFill>
                  <a:srgbClr val="0070C0"/>
                </a:solidFill>
              </a:rPr>
              <a:t>means go up</a:t>
            </a:r>
            <a:r>
              <a:rPr lang="en-US" altLang="zh-TW" dirty="0"/>
              <a:t>. Hence, </a:t>
            </a:r>
            <a:r>
              <a:rPr lang="el-GR" altLang="zh-TW" i="1" dirty="0"/>
              <a:t>τ</a:t>
            </a:r>
            <a:r>
              <a:rPr lang="en-US" altLang="zh-TW" i="1" baseline="-25000" dirty="0"/>
              <a:t>E</a:t>
            </a:r>
            <a:r>
              <a:rPr lang="en-US" altLang="zh-TW" i="1" dirty="0" smtClean="0"/>
              <a:t> </a:t>
            </a:r>
            <a:r>
              <a:rPr lang="en-US" altLang="zh-TW" dirty="0"/>
              <a:t>has length 2</a:t>
            </a:r>
            <a:r>
              <a:rPr lang="en-US" altLang="zh-TW" i="1" dirty="0"/>
              <a:t>m − </a:t>
            </a:r>
            <a:r>
              <a:rPr lang="en-US" altLang="zh-TW" dirty="0"/>
              <a:t>2. </a:t>
            </a:r>
            <a:endParaRPr lang="en-US" altLang="zh-TW" dirty="0" smtClean="0"/>
          </a:p>
          <a:p>
            <a:r>
              <a:rPr lang="en-US" altLang="zh-TW" i="1" dirty="0" err="1" smtClean="0"/>
              <a:t>μ</a:t>
            </a:r>
            <a:r>
              <a:rPr lang="en-US" altLang="zh-TW" i="1" baseline="-25000" dirty="0" err="1" smtClean="0"/>
              <a:t>E</a:t>
            </a:r>
            <a:r>
              <a:rPr lang="en-US" altLang="zh-TW" i="1" dirty="0" smtClean="0"/>
              <a:t> </a:t>
            </a:r>
            <a:r>
              <a:rPr lang="en-US" altLang="zh-TW" dirty="0" smtClean="0"/>
              <a:t>maps depth </a:t>
            </a:r>
            <a:r>
              <a:rPr lang="en-US" altLang="zh-TW" dirty="0"/>
              <a:t>first search numbers of nodes into indices. </a:t>
            </a:r>
            <a:endParaRPr lang="en-US" altLang="zh-TW" dirty="0" smtClean="0"/>
          </a:p>
          <a:p>
            <a:r>
              <a:rPr lang="el-GR" altLang="zh-TW" i="1" dirty="0" smtClean="0"/>
              <a:t>γ</a:t>
            </a:r>
            <a:r>
              <a:rPr lang="en-US" altLang="zh-TW" i="1" baseline="-25000" dirty="0" smtClean="0"/>
              <a:t>E</a:t>
            </a:r>
            <a:r>
              <a:rPr lang="en-US" altLang="zh-TW" i="1" dirty="0" smtClean="0"/>
              <a:t> </a:t>
            </a:r>
            <a:r>
              <a:rPr lang="en-US" altLang="zh-TW" dirty="0" smtClean="0"/>
              <a:t>for every node </a:t>
            </a:r>
            <a:r>
              <a:rPr lang="en-US" altLang="zh-TW" dirty="0"/>
              <a:t>tells if it is marked. </a:t>
            </a:r>
            <a:endParaRPr lang="en-US" altLang="zh-TW" dirty="0" smtClean="0"/>
          </a:p>
          <a:p>
            <a:r>
              <a:rPr lang="en-US" altLang="zh-TW" dirty="0"/>
              <a:t>Note that we </a:t>
            </a:r>
            <a:r>
              <a:rPr lang="en-US" altLang="zh-TW" dirty="0" smtClean="0"/>
              <a:t>have </a:t>
            </a:r>
            <a:r>
              <a:rPr lang="it-IT" altLang="zh-TW" dirty="0" smtClean="0"/>
              <a:t>≤ 2</a:t>
            </a:r>
            <a:r>
              <a:rPr lang="it-IT" altLang="zh-TW" baseline="30000" dirty="0" smtClean="0"/>
              <a:t>2</a:t>
            </a:r>
            <a:r>
              <a:rPr lang="it-IT" altLang="zh-TW" i="1" baseline="30000" dirty="0" smtClean="0"/>
              <a:t>m</a:t>
            </a:r>
            <a:r>
              <a:rPr lang="it-IT" altLang="zh-TW" i="1" dirty="0" smtClean="0"/>
              <a:t> </a:t>
            </a:r>
            <a:r>
              <a:rPr lang="it-IT" altLang="zh-TW" i="1" dirty="0"/>
              <a:t>× m</a:t>
            </a:r>
            <a:r>
              <a:rPr lang="it-IT" altLang="zh-TW" i="1" baseline="30000" dirty="0"/>
              <a:t>m</a:t>
            </a:r>
            <a:r>
              <a:rPr lang="it-IT" altLang="zh-TW" i="1" dirty="0"/>
              <a:t> × </a:t>
            </a:r>
            <a:r>
              <a:rPr lang="it-IT" altLang="zh-TW" dirty="0"/>
              <a:t>2</a:t>
            </a:r>
            <a:r>
              <a:rPr lang="it-IT" altLang="zh-TW" i="1" baseline="30000" dirty="0"/>
              <a:t>m</a:t>
            </a:r>
            <a:r>
              <a:rPr lang="it-IT" altLang="zh-TW" i="1" dirty="0"/>
              <a:t> × O</a:t>
            </a:r>
            <a:r>
              <a:rPr lang="it-IT" altLang="zh-TW" dirty="0"/>
              <a:t>(</a:t>
            </a:r>
            <a:r>
              <a:rPr lang="it-IT" altLang="zh-TW" i="1" dirty="0"/>
              <a:t>m</a:t>
            </a:r>
            <a:r>
              <a:rPr lang="it-IT" altLang="zh-TW" dirty="0"/>
              <a:t>) = </a:t>
            </a:r>
            <a:r>
              <a:rPr lang="it-IT" altLang="zh-TW" i="1" dirty="0"/>
              <a:t>m</a:t>
            </a:r>
            <a:r>
              <a:rPr lang="it-IT" altLang="zh-TW" i="1" baseline="30000" dirty="0"/>
              <a:t>O</a:t>
            </a:r>
            <a:r>
              <a:rPr lang="it-IT" altLang="zh-TW" baseline="30000" dirty="0"/>
              <a:t>(</a:t>
            </a:r>
            <a:r>
              <a:rPr lang="it-IT" altLang="zh-TW" i="1" baseline="30000" dirty="0"/>
              <a:t>m</a:t>
            </a:r>
            <a:r>
              <a:rPr lang="it-IT" altLang="zh-TW" baseline="30000" dirty="0"/>
              <a:t>)</a:t>
            </a:r>
            <a:r>
              <a:rPr lang="it-IT" altLang="zh-TW" dirty="0"/>
              <a:t> different signatures.</a:t>
            </a:r>
            <a:endParaRPr lang="en-US" altLang="zh-TW" dirty="0" smtClean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66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Signature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661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67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2340340" y="2437876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4212548" y="2446260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2069756" y="3085948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8" name="橢圓 7"/>
          <p:cNvSpPr/>
          <p:nvPr/>
        </p:nvSpPr>
        <p:spPr>
          <a:xfrm>
            <a:off x="3852508" y="3122972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9" name="橢圓 8"/>
          <p:cNvSpPr/>
          <p:nvPr/>
        </p:nvSpPr>
        <p:spPr>
          <a:xfrm>
            <a:off x="4618232" y="3145748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10" name="橢圓 9"/>
          <p:cNvSpPr/>
          <p:nvPr/>
        </p:nvSpPr>
        <p:spPr>
          <a:xfrm>
            <a:off x="2852780" y="3110356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4</a:t>
            </a:r>
            <a:endParaRPr lang="zh-TW" altLang="en-US" dirty="0"/>
          </a:p>
        </p:txBody>
      </p:sp>
      <p:cxnSp>
        <p:nvCxnSpPr>
          <p:cNvPr id="11" name="直線接點 10"/>
          <p:cNvCxnSpPr>
            <a:stCxn id="5" idx="3"/>
            <a:endCxn id="7" idx="0"/>
          </p:cNvCxnSpPr>
          <p:nvPr/>
        </p:nvCxnSpPr>
        <p:spPr>
          <a:xfrm flipH="1">
            <a:off x="2249776" y="2683727"/>
            <a:ext cx="143291" cy="402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>
            <a:stCxn id="5" idx="5"/>
            <a:endCxn id="10" idx="0"/>
          </p:cNvCxnSpPr>
          <p:nvPr/>
        </p:nvCxnSpPr>
        <p:spPr>
          <a:xfrm>
            <a:off x="2647653" y="2683727"/>
            <a:ext cx="385147" cy="426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6" idx="3"/>
            <a:endCxn id="8" idx="0"/>
          </p:cNvCxnSpPr>
          <p:nvPr/>
        </p:nvCxnSpPr>
        <p:spPr>
          <a:xfrm flipH="1">
            <a:off x="4032528" y="2692111"/>
            <a:ext cx="232747" cy="430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6" idx="5"/>
            <a:endCxn id="9" idx="0"/>
          </p:cNvCxnSpPr>
          <p:nvPr/>
        </p:nvCxnSpPr>
        <p:spPr>
          <a:xfrm>
            <a:off x="4519861" y="2692111"/>
            <a:ext cx="278391" cy="45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3164476" y="1668652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7</a:t>
            </a:r>
            <a:endParaRPr lang="zh-TW" altLang="en-US" dirty="0"/>
          </a:p>
        </p:txBody>
      </p:sp>
      <p:cxnSp>
        <p:nvCxnSpPr>
          <p:cNvPr id="23" name="直線接點 22"/>
          <p:cNvCxnSpPr>
            <a:stCxn id="21" idx="2"/>
            <a:endCxn id="5" idx="7"/>
          </p:cNvCxnSpPr>
          <p:nvPr/>
        </p:nvCxnSpPr>
        <p:spPr>
          <a:xfrm flipH="1">
            <a:off x="2647653" y="1812668"/>
            <a:ext cx="516823" cy="667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21" idx="6"/>
            <a:endCxn id="6" idx="7"/>
          </p:cNvCxnSpPr>
          <p:nvPr/>
        </p:nvCxnSpPr>
        <p:spPr>
          <a:xfrm>
            <a:off x="3524516" y="1812668"/>
            <a:ext cx="995345" cy="6757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5416364" y="3145748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8</a:t>
            </a:r>
            <a:endParaRPr lang="zh-TW" altLang="en-US" dirty="0"/>
          </a:p>
        </p:txBody>
      </p:sp>
      <p:cxnSp>
        <p:nvCxnSpPr>
          <p:cNvPr id="28" name="直線接點 27"/>
          <p:cNvCxnSpPr>
            <a:stCxn id="6" idx="6"/>
            <a:endCxn id="26" idx="6"/>
          </p:cNvCxnSpPr>
          <p:nvPr/>
        </p:nvCxnSpPr>
        <p:spPr>
          <a:xfrm>
            <a:off x="4572588" y="2590276"/>
            <a:ext cx="1203816" cy="699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2225408" y="3645024"/>
            <a:ext cx="34566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zh-TW" sz="2400" i="1" dirty="0"/>
              <a:t>τ</a:t>
            </a:r>
            <a:r>
              <a:rPr lang="en-US" altLang="zh-TW" sz="2400" i="1" baseline="-25000" dirty="0" smtClean="0"/>
              <a:t>E</a:t>
            </a:r>
            <a:r>
              <a:rPr lang="en-US" altLang="zh-TW" sz="2400" i="1" dirty="0" smtClean="0"/>
              <a:t>=</a:t>
            </a:r>
            <a:r>
              <a:rPr lang="en-US" altLang="zh-TW" sz="2400" dirty="0" smtClean="0"/>
              <a:t>11010011010100</a:t>
            </a:r>
          </a:p>
          <a:p>
            <a:r>
              <a:rPr lang="en-US" altLang="zh-TW" sz="2400" i="1" dirty="0" err="1" smtClean="0"/>
              <a:t>μ</a:t>
            </a:r>
            <a:r>
              <a:rPr lang="en-US" altLang="zh-TW" sz="2400" i="1" baseline="-25000" dirty="0" err="1" smtClean="0"/>
              <a:t>E</a:t>
            </a:r>
            <a:r>
              <a:rPr lang="en-US" altLang="zh-TW" sz="2400" dirty="0" smtClean="0"/>
              <a:t>=71243568</a:t>
            </a:r>
            <a:endParaRPr lang="zh-TW" altLang="en-US" sz="24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2575524" y="1815304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1955332" y="2676203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2285872" y="2800779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2616412" y="2811067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2852780" y="262952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2882280" y="2150554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3666846" y="2068544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3818361" y="2676203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1</a:t>
            </a:r>
            <a:endParaRPr lang="zh-TW" altLang="en-US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076778" y="2814322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407318" y="2824610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4666424" y="2798379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5009226" y="2906917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5100424" y="257068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4022188" y="1781350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93316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When </a:t>
            </a:r>
            <a:r>
              <a:rPr lang="en-US" altLang="zh-TW" dirty="0"/>
              <a:t>we insert or delete a leaf </a:t>
            </a:r>
            <a:r>
              <a:rPr lang="en-US" altLang="zh-TW" i="1" dirty="0"/>
              <a:t>u</a:t>
            </a:r>
            <a:r>
              <a:rPr lang="en-US" altLang="zh-TW" dirty="0"/>
              <a:t>, we will do 600 local </a:t>
            </a:r>
            <a:r>
              <a:rPr lang="en-US" altLang="zh-TW" dirty="0" smtClean="0"/>
              <a:t>update steps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place for these local update steps is determined based on a system of marking </a:t>
            </a:r>
            <a:r>
              <a:rPr lang="en-US" altLang="zh-TW" dirty="0" smtClean="0"/>
              <a:t>and unmarking </a:t>
            </a:r>
            <a:r>
              <a:rPr lang="en-US" altLang="zh-TW" dirty="0"/>
              <a:t>nodes. </a:t>
            </a:r>
            <a:endParaRPr lang="en-US" altLang="zh-TW" dirty="0" smtClean="0"/>
          </a:p>
          <a:p>
            <a:r>
              <a:rPr lang="en-US" altLang="zh-TW" dirty="0" smtClean="0"/>
              <a:t>To </a:t>
            </a:r>
            <a:r>
              <a:rPr lang="en-US" altLang="zh-TW" dirty="0"/>
              <a:t>place a local update step from a leaf </a:t>
            </a:r>
            <a:r>
              <a:rPr lang="en-US" altLang="zh-TW" i="1" dirty="0"/>
              <a:t>u</a:t>
            </a:r>
            <a:r>
              <a:rPr lang="en-US" altLang="zh-TW" dirty="0"/>
              <a:t>, we find its nearest </a:t>
            </a:r>
            <a:r>
              <a:rPr lang="en-US" altLang="zh-TW" dirty="0" smtClean="0"/>
              <a:t>unmarked ancestor </a:t>
            </a:r>
            <a:r>
              <a:rPr lang="en-US" altLang="zh-TW" i="1" dirty="0"/>
              <a:t>v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We </a:t>
            </a:r>
            <a:r>
              <a:rPr lang="en-US" altLang="zh-TW" dirty="0"/>
              <a:t>then unmark all nodes on the path from </a:t>
            </a:r>
            <a:r>
              <a:rPr lang="en-US" altLang="zh-TW" i="1" dirty="0"/>
              <a:t>u </a:t>
            </a:r>
            <a:r>
              <a:rPr lang="en-US" altLang="zh-TW" dirty="0"/>
              <a:t>to </a:t>
            </a:r>
            <a:r>
              <a:rPr lang="en-US" altLang="zh-TW" i="1" dirty="0"/>
              <a:t>v </a:t>
            </a:r>
            <a:r>
              <a:rPr lang="en-US" altLang="zh-TW" dirty="0"/>
              <a:t>and mark </a:t>
            </a:r>
            <a:r>
              <a:rPr lang="en-US" altLang="zh-TW" i="1" dirty="0"/>
              <a:t>v</a:t>
            </a:r>
            <a:r>
              <a:rPr lang="en-US" altLang="zh-TW" dirty="0" smtClean="0"/>
              <a:t>.</a:t>
            </a:r>
          </a:p>
          <a:p>
            <a:r>
              <a:rPr lang="zh-TW" altLang="en-US" dirty="0" smtClean="0"/>
              <a:t>被</a:t>
            </a:r>
            <a:r>
              <a:rPr lang="en-US" altLang="zh-TW" dirty="0" smtClean="0"/>
              <a:t>mark</a:t>
            </a:r>
            <a:r>
              <a:rPr lang="zh-TW" altLang="en-US" dirty="0" smtClean="0"/>
              <a:t>的</a:t>
            </a:r>
            <a:r>
              <a:rPr lang="en-US" altLang="zh-TW" dirty="0" smtClean="0"/>
              <a:t>node</a:t>
            </a:r>
            <a:r>
              <a:rPr lang="zh-TW" altLang="en-US" dirty="0" smtClean="0"/>
              <a:t>可以做一次</a:t>
            </a:r>
            <a:r>
              <a:rPr lang="en-US" altLang="zh-TW" dirty="0"/>
              <a:t>local </a:t>
            </a:r>
            <a:r>
              <a:rPr lang="en-US" altLang="zh-TW" dirty="0" smtClean="0"/>
              <a:t>update.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68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0" dirty="0" smtClean="0"/>
              <a:t>Marking </a:t>
            </a:r>
            <a:r>
              <a:rPr lang="en-US" altLang="zh-TW" b="0" dirty="0"/>
              <a:t>and </a:t>
            </a:r>
            <a:r>
              <a:rPr lang="en-US" altLang="zh-TW" b="0" dirty="0" smtClean="0"/>
              <a:t>Unmarking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7597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Let </a:t>
            </a:r>
            <a:r>
              <a:rPr lang="en-US" altLang="zh-TW" i="1" dirty="0"/>
              <a:t>v</a:t>
            </a:r>
            <a:r>
              <a:rPr lang="en-US" altLang="zh-TW" dirty="0"/>
              <a:t> be a level </a:t>
            </a:r>
            <a:r>
              <a:rPr lang="en-US" altLang="zh-TW" i="1" dirty="0" err="1"/>
              <a:t>i</a:t>
            </a:r>
            <a:r>
              <a:rPr lang="en-US" altLang="zh-TW" dirty="0"/>
              <a:t> node. If there are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 </a:t>
            </a:r>
            <a:r>
              <a:rPr lang="en-US" altLang="zh-TW" dirty="0"/>
              <a:t>markings from leaves below </a:t>
            </a:r>
            <a:r>
              <a:rPr lang="en-US" altLang="zh-TW" i="1" dirty="0"/>
              <a:t>v</a:t>
            </a:r>
            <a:r>
              <a:rPr lang="en-US" altLang="zh-TW" dirty="0"/>
              <a:t>, then </a:t>
            </a:r>
            <a:r>
              <a:rPr lang="en-US" altLang="zh-TW" i="1" dirty="0"/>
              <a:t>v</a:t>
            </a:r>
            <a:r>
              <a:rPr lang="en-US" altLang="zh-TW" dirty="0"/>
              <a:t> </a:t>
            </a:r>
            <a:r>
              <a:rPr lang="en-US" altLang="zh-TW" dirty="0" smtClean="0"/>
              <a:t>gets marked </a:t>
            </a:r>
            <a:r>
              <a:rPr lang="en-US" altLang="zh-TW" dirty="0"/>
              <a:t>at least 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 </a:t>
            </a:r>
            <a:r>
              <a:rPr lang="en-US" altLang="zh-TW" dirty="0"/>
              <a:t>− </a:t>
            </a:r>
            <a:r>
              <a:rPr lang="en-US" altLang="zh-TW" dirty="0" smtClean="0"/>
              <a:t>2</a:t>
            </a:r>
            <a:r>
              <a:rPr lang="en-US" altLang="zh-TW" i="1" dirty="0" smtClean="0"/>
              <a:t>n</a:t>
            </a:r>
            <a:r>
              <a:rPr lang="en-US" altLang="zh-TW" i="1" baseline="-25000" dirty="0" smtClean="0"/>
              <a:t>i </a:t>
            </a:r>
            <a:r>
              <a:rPr lang="en-US" altLang="zh-TW" dirty="0" smtClean="0"/>
              <a:t>)/</a:t>
            </a:r>
            <a:r>
              <a:rPr lang="en-US" altLang="zh-TW" dirty="0"/>
              <a:t>2</a:t>
            </a:r>
            <a:r>
              <a:rPr lang="en-US" altLang="zh-TW" i="1" baseline="30000" dirty="0"/>
              <a:t>i</a:t>
            </a:r>
            <a:r>
              <a:rPr lang="en-US" altLang="zh-TW" baseline="30000" dirty="0"/>
              <a:t>+1</a:t>
            </a:r>
            <a:r>
              <a:rPr lang="en-US" altLang="zh-TW" dirty="0"/>
              <a:t> times</a:t>
            </a:r>
            <a:r>
              <a:rPr lang="en-US" altLang="zh-TW" dirty="0" smtClean="0"/>
              <a:t>.</a:t>
            </a:r>
          </a:p>
          <a:p>
            <a:r>
              <a:rPr lang="zh-TW" altLang="en-US" dirty="0" smtClean="0"/>
              <a:t>這是非常低估的</a:t>
            </a:r>
            <a:endParaRPr lang="en-US" altLang="zh-TW" dirty="0" smtClean="0"/>
          </a:p>
          <a:p>
            <a:r>
              <a:rPr lang="zh-TW" altLang="en-US" dirty="0" smtClean="0"/>
              <a:t>以</a:t>
            </a:r>
            <a:r>
              <a:rPr lang="en-US" altLang="zh-TW" i="1" dirty="0" err="1" smtClean="0"/>
              <a:t>i</a:t>
            </a:r>
            <a:r>
              <a:rPr lang="en-US" altLang="zh-TW" dirty="0"/>
              <a:t>=2, </a:t>
            </a:r>
            <a:r>
              <a:rPr lang="en-US" altLang="zh-TW" i="1" dirty="0" smtClean="0"/>
              <a:t>n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=84, </a:t>
            </a:r>
            <a:r>
              <a:rPr lang="en-US" altLang="zh-TW" i="1" dirty="0" smtClean="0"/>
              <a:t>n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=84*23+1=1933</a:t>
            </a:r>
            <a:r>
              <a:rPr lang="zh-TW" altLang="en-US" dirty="0" smtClean="0"/>
              <a:t>為例，</a:t>
            </a:r>
            <a:r>
              <a:rPr lang="en-US" altLang="zh-TW" dirty="0" smtClean="0"/>
              <a:t>level2</a:t>
            </a:r>
            <a:r>
              <a:rPr lang="zh-TW" altLang="en-US" dirty="0" smtClean="0"/>
              <a:t>的</a:t>
            </a:r>
            <a:r>
              <a:rPr lang="en-US" altLang="zh-TW" dirty="0" smtClean="0"/>
              <a:t>node</a:t>
            </a:r>
            <a:r>
              <a:rPr lang="zh-TW" altLang="en-US" dirty="0" smtClean="0"/>
              <a:t>至少有</a:t>
            </a:r>
            <a:r>
              <a:rPr lang="en-US" altLang="zh-TW" dirty="0" smtClean="0"/>
              <a:t>1933/4=484</a:t>
            </a:r>
            <a:r>
              <a:rPr lang="zh-TW" altLang="en-US" dirty="0" smtClean="0"/>
              <a:t>個</a:t>
            </a:r>
            <a:r>
              <a:rPr lang="en-US" altLang="zh-TW" dirty="0" smtClean="0"/>
              <a:t>leaf</a:t>
            </a:r>
            <a:r>
              <a:rPr lang="zh-TW" altLang="en-US" dirty="0" smtClean="0"/>
              <a:t>，只要把</a:t>
            </a:r>
            <a:r>
              <a:rPr lang="en-US" altLang="zh-TW" dirty="0" smtClean="0"/>
              <a:t>leaf node</a:t>
            </a:r>
            <a:r>
              <a:rPr lang="zh-TW" altLang="en-US" dirty="0" smtClean="0"/>
              <a:t>通通標一次</a:t>
            </a:r>
            <a:r>
              <a:rPr lang="en-US" altLang="zh-TW" dirty="0" smtClean="0"/>
              <a:t>, </a:t>
            </a:r>
            <a:r>
              <a:rPr lang="zh-TW" altLang="en-US" dirty="0" smtClean="0"/>
              <a:t>再把</a:t>
            </a:r>
            <a:r>
              <a:rPr lang="zh-TW" altLang="en-US" dirty="0"/>
              <a:t>每</a:t>
            </a:r>
            <a:r>
              <a:rPr lang="zh-TW" altLang="en-US" dirty="0" smtClean="0"/>
              <a:t>一個</a:t>
            </a:r>
            <a:r>
              <a:rPr lang="en-US" altLang="zh-TW" dirty="0" smtClean="0"/>
              <a:t>level 1 </a:t>
            </a:r>
            <a:r>
              <a:rPr lang="en-US" altLang="zh-TW" dirty="0" err="1" smtClean="0"/>
              <a:t>subtree</a:t>
            </a:r>
            <a:r>
              <a:rPr lang="zh-TW" altLang="en-US" dirty="0" smtClean="0"/>
              <a:t>選一個</a:t>
            </a:r>
            <a:r>
              <a:rPr lang="en-US" altLang="zh-TW" dirty="0" smtClean="0"/>
              <a:t>leaf</a:t>
            </a:r>
            <a:r>
              <a:rPr lang="zh-TW" altLang="en-US" dirty="0"/>
              <a:t> </a:t>
            </a:r>
            <a:r>
              <a:rPr lang="en-US" altLang="zh-TW" dirty="0" smtClean="0"/>
              <a:t>delete</a:t>
            </a:r>
            <a:r>
              <a:rPr lang="zh-TW" altLang="en-US" dirty="0" smtClean="0"/>
              <a:t>再</a:t>
            </a:r>
            <a:r>
              <a:rPr lang="en-US" altLang="zh-TW" dirty="0" smtClean="0"/>
              <a:t>insert</a:t>
            </a:r>
            <a:r>
              <a:rPr lang="zh-TW" altLang="en-US" dirty="0" smtClean="0"/>
              <a:t>，則所有</a:t>
            </a:r>
            <a:r>
              <a:rPr lang="en-US" altLang="zh-TW" dirty="0" err="1" smtClean="0"/>
              <a:t>leaf+level</a:t>
            </a:r>
            <a:r>
              <a:rPr lang="en-US" altLang="zh-TW" dirty="0" smtClean="0"/>
              <a:t> 1 internal node</a:t>
            </a:r>
            <a:r>
              <a:rPr lang="zh-TW" altLang="en-US" dirty="0" smtClean="0"/>
              <a:t>都會被</a:t>
            </a:r>
            <a:r>
              <a:rPr lang="en-US" altLang="zh-TW" dirty="0" smtClean="0"/>
              <a:t>mark, </a:t>
            </a:r>
            <a:r>
              <a:rPr lang="zh-TW" altLang="en-US" dirty="0" smtClean="0"/>
              <a:t>共執行了</a:t>
            </a:r>
            <a:r>
              <a:rPr lang="en-US" altLang="zh-TW" i="1" dirty="0" smtClean="0"/>
              <a:t>n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+2*</a:t>
            </a:r>
            <a:r>
              <a:rPr lang="en-US" altLang="zh-TW" i="1" dirty="0" smtClean="0"/>
              <a:t>n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&lt;(</a:t>
            </a:r>
            <a:r>
              <a:rPr lang="en-US" altLang="zh-TW" dirty="0" smtClean="0"/>
              <a:t>25/23)</a:t>
            </a:r>
            <a:r>
              <a:rPr lang="en-US" altLang="zh-TW" i="1" dirty="0" smtClean="0"/>
              <a:t>n</a:t>
            </a:r>
            <a:r>
              <a:rPr lang="en-US" altLang="zh-TW" baseline="-25000" dirty="0" smtClean="0"/>
              <a:t>2</a:t>
            </a:r>
            <a:r>
              <a:rPr lang="zh-TW" altLang="en-US" dirty="0" smtClean="0"/>
              <a:t>個步驟，之後的任何動作都會導致第</a:t>
            </a:r>
            <a:r>
              <a:rPr lang="en-US" altLang="zh-TW" dirty="0" smtClean="0"/>
              <a:t>2</a:t>
            </a:r>
            <a:r>
              <a:rPr lang="zh-TW" altLang="en-US" dirty="0" smtClean="0"/>
              <a:t>層的</a:t>
            </a:r>
            <a:r>
              <a:rPr lang="en-US" altLang="zh-TW" dirty="0" smtClean="0"/>
              <a:t>node</a:t>
            </a:r>
            <a:r>
              <a:rPr lang="zh-TW" altLang="en-US" dirty="0" smtClean="0"/>
              <a:t>被</a:t>
            </a:r>
            <a:r>
              <a:rPr lang="en-US" altLang="zh-TW" dirty="0" smtClean="0"/>
              <a:t>mark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69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Lemma 26</a:t>
            </a:r>
            <a:endParaRPr lang="zh-TW" altLang="en-US" dirty="0"/>
          </a:p>
        </p:txBody>
      </p:sp>
      <p:sp>
        <p:nvSpPr>
          <p:cNvPr id="5" name="等腰三角形 4"/>
          <p:cNvSpPr/>
          <p:nvPr/>
        </p:nvSpPr>
        <p:spPr>
          <a:xfrm>
            <a:off x="5058008" y="6021288"/>
            <a:ext cx="864096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84</a:t>
            </a:r>
            <a:endParaRPr lang="zh-TW" altLang="en-US" sz="1400" dirty="0"/>
          </a:p>
        </p:txBody>
      </p:sp>
      <p:sp>
        <p:nvSpPr>
          <p:cNvPr id="6" name="等腰三角形 5"/>
          <p:cNvSpPr/>
          <p:nvPr/>
        </p:nvSpPr>
        <p:spPr>
          <a:xfrm>
            <a:off x="6074504" y="6016612"/>
            <a:ext cx="864096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84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3926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Lemma 28: For </a:t>
                </a:r>
                <a:r>
                  <a:rPr lang="en-US" altLang="zh-TW" dirty="0"/>
                  <a:t>each split or join at level 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>, our schedule ensures that we have at least </a:t>
                </a:r>
                <a:r>
                  <a:rPr lang="en-US" altLang="zh-TW" i="1" dirty="0" err="1" smtClean="0">
                    <a:solidFill>
                      <a:srgbClr val="0070C0"/>
                    </a:solidFill>
                  </a:rPr>
                  <a:t>n</a:t>
                </a:r>
                <a:r>
                  <a:rPr lang="en-US" altLang="zh-TW" i="1" baseline="-25000" dirty="0" err="1" smtClean="0">
                    <a:solidFill>
                      <a:srgbClr val="0070C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70C0"/>
                    </a:solidFill>
                  </a:rPr>
                  <a:t>/84 leaf </a:t>
                </a:r>
                <a:r>
                  <a:rPr lang="en-US" altLang="zh-TW" dirty="0">
                    <a:solidFill>
                      <a:srgbClr val="0070C0"/>
                    </a:solidFill>
                  </a:rPr>
                  <a:t>updates</a:t>
                </a:r>
                <a:r>
                  <a:rPr lang="en-US" altLang="zh-TW" dirty="0"/>
                  <a:t> either below the involved nodes, or below a single tied neighbor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 smtClean="0"/>
                  <a:t>Lemma 29: </a:t>
                </a:r>
                <a:r>
                  <a:rPr lang="en-US" altLang="zh-TW" dirty="0"/>
                  <a:t>We get at least 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dirty="0"/>
                  <a:t>/2</a:t>
                </a:r>
                <a:r>
                  <a:rPr lang="en-US" altLang="zh-TW" baseline="30000" dirty="0"/>
                  <a:t>i</a:t>
                </a:r>
                <a:r>
                  <a:rPr lang="en-US" altLang="zh-TW" dirty="0"/>
                  <a:t> </a:t>
                </a:r>
                <a:r>
                  <a:rPr lang="en-US" altLang="zh-TW" dirty="0"/>
                  <a:t>&gt;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latin typeface="Cambria Math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>
                    <a:solidFill>
                      <a:srgbClr val="0070C0"/>
                    </a:solidFill>
                  </a:rPr>
                  <a:t>local update steps </a:t>
                </a:r>
                <a:r>
                  <a:rPr lang="en-US" altLang="zh-TW" dirty="0"/>
                  <a:t>for a split or join </a:t>
                </a:r>
                <a:r>
                  <a:rPr lang="en-US" altLang="zh-TW" dirty="0" err="1"/>
                  <a:t>postprocessing</a:t>
                </a:r>
                <a:r>
                  <a:rPr lang="en-US" altLang="zh-TW" dirty="0"/>
                  <a:t> on </a:t>
                </a:r>
                <a:r>
                  <a:rPr lang="en-US" altLang="zh-TW" dirty="0"/>
                  <a:t>level </a:t>
                </a:r>
                <a:r>
                  <a:rPr lang="en-US" altLang="zh-TW" i="1" dirty="0" err="1"/>
                  <a:t>i</a:t>
                </a:r>
                <a:r>
                  <a:rPr lang="en-US" altLang="zh-TW" dirty="0" smtClean="0"/>
                  <a:t>.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25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70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Lemma </a:t>
            </a:r>
            <a:r>
              <a:rPr lang="en-US" altLang="zh-TW" dirty="0" smtClean="0"/>
              <a:t>28 &amp; 29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078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/>
                  <a:t>For the split case, as we have 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dirty="0"/>
                  <a:t>/84 leaf updates, we have 600*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dirty="0"/>
                  <a:t>/84 markings from below 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. So 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 got marked (600*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dirty="0"/>
                  <a:t>/84-2</a:t>
                </a:r>
                <a:r>
                  <a:rPr lang="en-US" altLang="zh-TW" i="1" dirty="0"/>
                  <a:t>n</a:t>
                </a:r>
                <a:r>
                  <a:rPr lang="en-US" altLang="zh-TW" i="1" baseline="-25000" dirty="0"/>
                  <a:t>i</a:t>
                </a:r>
                <a:r>
                  <a:rPr lang="en-US" altLang="zh-TW" dirty="0"/>
                  <a:t>)/ 2</a:t>
                </a:r>
                <a:r>
                  <a:rPr lang="en-US" altLang="zh-TW" i="1" baseline="30000" dirty="0"/>
                  <a:t>i</a:t>
                </a:r>
                <a:r>
                  <a:rPr lang="en-US" altLang="zh-TW" baseline="30000" dirty="0"/>
                  <a:t>+1</a:t>
                </a:r>
                <a:r>
                  <a:rPr lang="en-US" altLang="zh-TW" dirty="0"/>
                  <a:t>&gt;</a:t>
                </a:r>
                <a:r>
                  <a:rPr lang="en-US" altLang="zh-TW" i="1" dirty="0"/>
                  <a:t> 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dirty="0"/>
                  <a:t>/2</a:t>
                </a:r>
                <a:r>
                  <a:rPr lang="en-US" altLang="zh-TW" baseline="30000" dirty="0"/>
                  <a:t>i</a:t>
                </a:r>
                <a:r>
                  <a:rPr lang="en-US" altLang="zh-TW" dirty="0"/>
                  <a:t>.</a:t>
                </a:r>
              </a:p>
              <a:p>
                <a:r>
                  <a:rPr lang="en-US" altLang="zh-TW" dirty="0"/>
                  <a:t>For the merge </a:t>
                </a:r>
                <a:r>
                  <a:rPr lang="en-US" altLang="zh-TW" dirty="0" smtClean="0"/>
                  <a:t>case, let </a:t>
                </a:r>
                <a:r>
                  <a:rPr lang="en-US" altLang="zh-TW" i="1" dirty="0" smtClean="0"/>
                  <a:t>m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and </a:t>
                </a:r>
                <a:r>
                  <a:rPr lang="en-US" altLang="zh-TW" i="1" dirty="0"/>
                  <a:t>m</a:t>
                </a:r>
                <a:r>
                  <a:rPr lang="en-US" altLang="zh-TW" baseline="-25000" dirty="0"/>
                  <a:t>2</a:t>
                </a:r>
                <a:r>
                  <a:rPr lang="en-US" altLang="zh-TW" dirty="0"/>
                  <a:t> be the markings from below </a:t>
                </a:r>
                <a:r>
                  <a:rPr lang="en-US" altLang="zh-TW" i="1" dirty="0"/>
                  <a:t>v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 and </a:t>
                </a:r>
                <a:r>
                  <a:rPr lang="en-US" altLang="zh-TW" i="1" dirty="0"/>
                  <a:t>v</a:t>
                </a:r>
                <a:r>
                  <a:rPr lang="en-US" altLang="zh-TW" baseline="-25000" dirty="0"/>
                  <a:t>2</a:t>
                </a:r>
                <a:r>
                  <a:rPr lang="en-US" altLang="zh-TW" dirty="0"/>
                  <a:t>, respectively. Then </a:t>
                </a:r>
                <a:r>
                  <a:rPr lang="en-US" altLang="zh-TW" i="1" dirty="0"/>
                  <a:t>m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+</a:t>
                </a:r>
                <a:r>
                  <a:rPr lang="en-US" altLang="zh-TW" i="1" dirty="0"/>
                  <a:t>m</a:t>
                </a:r>
                <a:r>
                  <a:rPr lang="en-US" altLang="zh-TW" baseline="-25000" dirty="0"/>
                  <a:t>2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≥</a:t>
                </a:r>
                <a:r>
                  <a:rPr lang="en-US" altLang="zh-TW" i="1" dirty="0" smtClean="0"/>
                  <a:t> </a:t>
                </a:r>
                <a:r>
                  <a:rPr lang="en-US" altLang="zh-TW" dirty="0" smtClean="0"/>
                  <a:t>600*</a:t>
                </a:r>
                <a:r>
                  <a:rPr lang="en-US" altLang="zh-TW" i="1" dirty="0" err="1" smtClean="0"/>
                  <a:t>n</a:t>
                </a:r>
                <a:r>
                  <a:rPr lang="en-US" altLang="zh-TW" i="1" baseline="-25000" dirty="0" err="1" smtClean="0"/>
                  <a:t>i</a:t>
                </a:r>
                <a:r>
                  <a:rPr lang="en-US" altLang="zh-TW" i="1" dirty="0" smtClean="0"/>
                  <a:t>/</a:t>
                </a:r>
                <a:r>
                  <a:rPr lang="en-US" altLang="zh-TW" dirty="0" smtClean="0"/>
                  <a:t>84.</a:t>
                </a:r>
                <a:endParaRPr lang="zh-TW" altLang="en-US" dirty="0"/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Finally, 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dirty="0"/>
                  <a:t>/2</a:t>
                </a:r>
                <a:r>
                  <a:rPr lang="en-US" altLang="zh-TW" baseline="30000" dirty="0"/>
                  <a:t>i</a:t>
                </a:r>
                <a:r>
                  <a:rPr lang="en-US" altLang="zh-TW" dirty="0"/>
                  <a:t> &gt;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latin typeface="Cambria Math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rad>
                    <m:r>
                      <a:rPr lang="en-US" altLang="zh-TW" i="1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dirty="0"/>
                  <a:t>because 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&gt;</a:t>
                </a:r>
                <a:r>
                  <a:rPr lang="en-US" altLang="zh-TW" i="1" dirty="0"/>
                  <a:t> </a:t>
                </a:r>
                <a:r>
                  <a:rPr lang="en-US" altLang="zh-TW" dirty="0" smtClean="0"/>
                  <a:t>23</a:t>
                </a:r>
                <a:r>
                  <a:rPr lang="en-US" altLang="zh-TW" i="1" baseline="30000" dirty="0" smtClean="0"/>
                  <a:t>i</a:t>
                </a:r>
                <a:r>
                  <a:rPr lang="en-US" altLang="zh-TW" dirty="0" smtClean="0"/>
                  <a:t>.</a:t>
                </a:r>
                <a:endParaRPr lang="zh-TW" altLang="en-US" baseline="30000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71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Proof of Lemma 29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09119"/>
            <a:ext cx="9144000" cy="41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3309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For each of </a:t>
            </a:r>
            <a:r>
              <a:rPr lang="en-US" altLang="zh-TW" dirty="0" smtClean="0"/>
              <a:t>the signatures</a:t>
            </a:r>
            <a:r>
              <a:rPr lang="en-US" altLang="zh-TW" dirty="0"/>
              <a:t>, we tabulate what to do in connection with each possible </a:t>
            </a:r>
            <a:r>
              <a:rPr lang="en-US" altLang="zh-TW" dirty="0">
                <a:solidFill>
                  <a:srgbClr val="0070C0"/>
                </a:solidFill>
              </a:rPr>
              <a:t>leaf update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For leaf insert or delete, the table gives the next signature.</a:t>
            </a:r>
          </a:p>
          <a:p>
            <a:r>
              <a:rPr lang="en-US" altLang="zh-TW" dirty="0"/>
              <a:t>For the local updates, </a:t>
            </a:r>
            <a:r>
              <a:rPr lang="en-US" altLang="zh-TW" dirty="0" smtClean="0"/>
              <a:t>the </a:t>
            </a:r>
            <a:r>
              <a:rPr lang="en-US" altLang="zh-TW" dirty="0"/>
              <a:t>table produces the index of the node to be marked, </a:t>
            </a:r>
            <a:r>
              <a:rPr lang="en-US" altLang="zh-TW" dirty="0" smtClean="0"/>
              <a:t>hence at </a:t>
            </a:r>
            <a:r>
              <a:rPr lang="en-US" altLang="zh-TW" dirty="0"/>
              <a:t>which to do a local update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If a split or join is to be done, </a:t>
            </a:r>
            <a:r>
              <a:rPr lang="en-US" altLang="zh-TW" dirty="0" smtClean="0"/>
              <a:t>the </a:t>
            </a:r>
            <a:r>
              <a:rPr lang="en-US" altLang="zh-TW" dirty="0"/>
              <a:t>transformation table </a:t>
            </a:r>
            <a:r>
              <a:rPr lang="en-US" altLang="zh-TW"/>
              <a:t>produces </a:t>
            </a:r>
            <a:r>
              <a:rPr lang="en-US" altLang="zh-TW" smtClean="0"/>
              <a:t>the signature </a:t>
            </a:r>
            <a:r>
              <a:rPr lang="en-US" altLang="zh-TW" dirty="0"/>
              <a:t>of the resulting tree.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72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0" dirty="0"/>
              <a:t>T</a:t>
            </a:r>
            <a:r>
              <a:rPr lang="en-US" altLang="zh-TW" b="0" dirty="0" smtClean="0"/>
              <a:t>abulation </a:t>
            </a:r>
            <a:r>
              <a:rPr lang="en-US" altLang="zh-TW" b="0" dirty="0"/>
              <a:t>B</a:t>
            </a:r>
            <a:r>
              <a:rPr lang="en-US" altLang="zh-TW" b="0" dirty="0" smtClean="0"/>
              <a:t>ased </a:t>
            </a:r>
            <a:r>
              <a:rPr lang="en-US" altLang="zh-TW" b="0" dirty="0"/>
              <a:t>I</a:t>
            </a:r>
            <a:r>
              <a:rPr lang="en-US" altLang="zh-TW" b="0" dirty="0" smtClean="0"/>
              <a:t>mplementation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9556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73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– Leaf Delete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680694" y="2491922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2552902" y="2500306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410110" y="3139994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8" name="橢圓 7"/>
          <p:cNvSpPr/>
          <p:nvPr/>
        </p:nvSpPr>
        <p:spPr>
          <a:xfrm>
            <a:off x="2192862" y="3177018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9" name="橢圓 8"/>
          <p:cNvSpPr/>
          <p:nvPr/>
        </p:nvSpPr>
        <p:spPr>
          <a:xfrm>
            <a:off x="2958586" y="3199794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10" name="橢圓 9"/>
          <p:cNvSpPr/>
          <p:nvPr/>
        </p:nvSpPr>
        <p:spPr>
          <a:xfrm>
            <a:off x="1193134" y="3164402"/>
            <a:ext cx="360040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線接點 10"/>
          <p:cNvCxnSpPr>
            <a:stCxn id="5" idx="3"/>
            <a:endCxn id="7" idx="0"/>
          </p:cNvCxnSpPr>
          <p:nvPr/>
        </p:nvCxnSpPr>
        <p:spPr>
          <a:xfrm flipH="1">
            <a:off x="590130" y="2737773"/>
            <a:ext cx="143291" cy="402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>
            <a:stCxn id="5" idx="5"/>
            <a:endCxn id="10" idx="0"/>
          </p:cNvCxnSpPr>
          <p:nvPr/>
        </p:nvCxnSpPr>
        <p:spPr>
          <a:xfrm>
            <a:off x="988007" y="2737773"/>
            <a:ext cx="385147" cy="426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6" idx="3"/>
            <a:endCxn id="8" idx="0"/>
          </p:cNvCxnSpPr>
          <p:nvPr/>
        </p:nvCxnSpPr>
        <p:spPr>
          <a:xfrm flipH="1">
            <a:off x="2372882" y="2746157"/>
            <a:ext cx="232747" cy="430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6" idx="5"/>
            <a:endCxn id="9" idx="0"/>
          </p:cNvCxnSpPr>
          <p:nvPr/>
        </p:nvCxnSpPr>
        <p:spPr>
          <a:xfrm>
            <a:off x="2860215" y="2746157"/>
            <a:ext cx="278391" cy="45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/>
          <p:cNvSpPr/>
          <p:nvPr/>
        </p:nvSpPr>
        <p:spPr>
          <a:xfrm>
            <a:off x="1504830" y="1722698"/>
            <a:ext cx="360040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6" name="直線接點 15"/>
          <p:cNvCxnSpPr>
            <a:stCxn id="15" idx="2"/>
            <a:endCxn id="5" idx="7"/>
          </p:cNvCxnSpPr>
          <p:nvPr/>
        </p:nvCxnSpPr>
        <p:spPr>
          <a:xfrm flipH="1">
            <a:off x="988007" y="1866714"/>
            <a:ext cx="516823" cy="667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5" idx="6"/>
            <a:endCxn id="6" idx="7"/>
          </p:cNvCxnSpPr>
          <p:nvPr/>
        </p:nvCxnSpPr>
        <p:spPr>
          <a:xfrm>
            <a:off x="1864870" y="1866714"/>
            <a:ext cx="995345" cy="6757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橢圓 17"/>
          <p:cNvSpPr/>
          <p:nvPr/>
        </p:nvSpPr>
        <p:spPr>
          <a:xfrm>
            <a:off x="3756718" y="3199794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8</a:t>
            </a:r>
            <a:endParaRPr lang="zh-TW" altLang="en-US" dirty="0"/>
          </a:p>
        </p:txBody>
      </p:sp>
      <p:cxnSp>
        <p:nvCxnSpPr>
          <p:cNvPr id="19" name="直線接點 18"/>
          <p:cNvCxnSpPr>
            <a:stCxn id="6" idx="6"/>
            <a:endCxn id="18" idx="6"/>
          </p:cNvCxnSpPr>
          <p:nvPr/>
        </p:nvCxnSpPr>
        <p:spPr>
          <a:xfrm>
            <a:off x="2912942" y="2644322"/>
            <a:ext cx="1203816" cy="699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565762" y="3699070"/>
            <a:ext cx="34566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zh-TW" sz="2400" i="1" dirty="0"/>
              <a:t>τ</a:t>
            </a:r>
            <a:r>
              <a:rPr lang="en-US" altLang="zh-TW" sz="2400" i="1" baseline="-25000" dirty="0" smtClean="0"/>
              <a:t>E</a:t>
            </a:r>
            <a:r>
              <a:rPr lang="en-US" altLang="zh-TW" sz="2400" i="1" dirty="0" smtClean="0"/>
              <a:t>=</a:t>
            </a:r>
            <a:r>
              <a:rPr lang="en-US" altLang="zh-TW" sz="2400" dirty="0" smtClean="0"/>
              <a:t>110100110</a:t>
            </a:r>
            <a:r>
              <a:rPr lang="en-US" altLang="zh-TW" sz="2400" dirty="0" smtClean="0">
                <a:solidFill>
                  <a:srgbClr val="FF0000"/>
                </a:solidFill>
              </a:rPr>
              <a:t>10</a:t>
            </a:r>
            <a:r>
              <a:rPr lang="en-US" altLang="zh-TW" sz="2400" dirty="0" smtClean="0"/>
              <a:t>100</a:t>
            </a:r>
          </a:p>
          <a:p>
            <a:r>
              <a:rPr lang="en-US" altLang="zh-TW" sz="2400" i="1" dirty="0" err="1" smtClean="0"/>
              <a:t>μ</a:t>
            </a:r>
            <a:r>
              <a:rPr lang="en-US" altLang="zh-TW" sz="2400" i="1" baseline="-25000" dirty="0" err="1" smtClean="0"/>
              <a:t>E</a:t>
            </a:r>
            <a:r>
              <a:rPr lang="en-US" altLang="zh-TW" sz="2400" dirty="0" smtClean="0"/>
              <a:t>=71243568</a:t>
            </a:r>
          </a:p>
          <a:p>
            <a:r>
              <a:rPr lang="el-GR" altLang="zh-TW" sz="2400" i="1" dirty="0"/>
              <a:t>γ</a:t>
            </a:r>
            <a:r>
              <a:rPr lang="en-US" altLang="zh-TW" sz="2400" i="1" baseline="-25000" dirty="0" smtClean="0"/>
              <a:t>E</a:t>
            </a:r>
            <a:r>
              <a:rPr lang="en-US" altLang="zh-TW" sz="2400" dirty="0" smtClean="0"/>
              <a:t>=01101111</a:t>
            </a:r>
            <a:endParaRPr lang="zh-TW" altLang="en-US" sz="2400" dirty="0"/>
          </a:p>
        </p:txBody>
      </p:sp>
      <p:cxnSp>
        <p:nvCxnSpPr>
          <p:cNvPr id="37" name="直線接點 36"/>
          <p:cNvCxnSpPr/>
          <p:nvPr/>
        </p:nvCxnSpPr>
        <p:spPr>
          <a:xfrm flipH="1">
            <a:off x="2958586" y="3139994"/>
            <a:ext cx="360040" cy="4607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直線接點 37"/>
          <p:cNvCxnSpPr/>
          <p:nvPr/>
        </p:nvCxnSpPr>
        <p:spPr>
          <a:xfrm>
            <a:off x="2912942" y="3139994"/>
            <a:ext cx="527836" cy="4607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1" name="橢圓 60"/>
          <p:cNvSpPr/>
          <p:nvPr/>
        </p:nvSpPr>
        <p:spPr>
          <a:xfrm>
            <a:off x="4948336" y="2644322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62" name="橢圓 61"/>
          <p:cNvSpPr/>
          <p:nvPr/>
        </p:nvSpPr>
        <p:spPr>
          <a:xfrm>
            <a:off x="6820544" y="2652706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63" name="橢圓 62"/>
          <p:cNvSpPr/>
          <p:nvPr/>
        </p:nvSpPr>
        <p:spPr>
          <a:xfrm>
            <a:off x="4677752" y="3292394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64" name="橢圓 63"/>
          <p:cNvSpPr/>
          <p:nvPr/>
        </p:nvSpPr>
        <p:spPr>
          <a:xfrm>
            <a:off x="6460504" y="3329418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66" name="橢圓 65"/>
          <p:cNvSpPr/>
          <p:nvPr/>
        </p:nvSpPr>
        <p:spPr>
          <a:xfrm>
            <a:off x="5460776" y="3316802"/>
            <a:ext cx="360040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67" name="直線接點 66"/>
          <p:cNvCxnSpPr>
            <a:stCxn id="61" idx="3"/>
            <a:endCxn id="63" idx="0"/>
          </p:cNvCxnSpPr>
          <p:nvPr/>
        </p:nvCxnSpPr>
        <p:spPr>
          <a:xfrm flipH="1">
            <a:off x="4857772" y="2890173"/>
            <a:ext cx="143291" cy="402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>
            <a:stCxn id="61" idx="5"/>
            <a:endCxn id="66" idx="0"/>
          </p:cNvCxnSpPr>
          <p:nvPr/>
        </p:nvCxnSpPr>
        <p:spPr>
          <a:xfrm>
            <a:off x="5255649" y="2890173"/>
            <a:ext cx="385147" cy="426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>
            <a:stCxn id="62" idx="3"/>
            <a:endCxn id="64" idx="0"/>
          </p:cNvCxnSpPr>
          <p:nvPr/>
        </p:nvCxnSpPr>
        <p:spPr>
          <a:xfrm flipH="1">
            <a:off x="6640524" y="2898557"/>
            <a:ext cx="232747" cy="430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/>
          <p:cNvSpPr/>
          <p:nvPr/>
        </p:nvSpPr>
        <p:spPr>
          <a:xfrm>
            <a:off x="5772472" y="1875098"/>
            <a:ext cx="360040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2" name="直線接點 71"/>
          <p:cNvCxnSpPr>
            <a:stCxn id="71" idx="2"/>
            <a:endCxn id="61" idx="7"/>
          </p:cNvCxnSpPr>
          <p:nvPr/>
        </p:nvCxnSpPr>
        <p:spPr>
          <a:xfrm flipH="1">
            <a:off x="5255649" y="2019114"/>
            <a:ext cx="516823" cy="667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>
            <a:stCxn id="71" idx="6"/>
            <a:endCxn id="62" idx="7"/>
          </p:cNvCxnSpPr>
          <p:nvPr/>
        </p:nvCxnSpPr>
        <p:spPr>
          <a:xfrm>
            <a:off x="6132512" y="2019114"/>
            <a:ext cx="995345" cy="6757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橢圓 73"/>
          <p:cNvSpPr/>
          <p:nvPr/>
        </p:nvSpPr>
        <p:spPr>
          <a:xfrm>
            <a:off x="8024360" y="3352194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8</a:t>
            </a:r>
            <a:endParaRPr lang="zh-TW" altLang="en-US" dirty="0"/>
          </a:p>
        </p:txBody>
      </p:sp>
      <p:cxnSp>
        <p:nvCxnSpPr>
          <p:cNvPr id="75" name="直線接點 74"/>
          <p:cNvCxnSpPr>
            <a:stCxn id="62" idx="6"/>
            <a:endCxn id="74" idx="6"/>
          </p:cNvCxnSpPr>
          <p:nvPr/>
        </p:nvCxnSpPr>
        <p:spPr>
          <a:xfrm>
            <a:off x="7180584" y="2796722"/>
            <a:ext cx="1203816" cy="699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4833404" y="3851470"/>
            <a:ext cx="34566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zh-TW" sz="2400" i="1" dirty="0"/>
              <a:t>τ</a:t>
            </a:r>
            <a:r>
              <a:rPr lang="en-US" altLang="zh-TW" sz="2400" i="1" baseline="-25000" dirty="0" smtClean="0"/>
              <a:t>E</a:t>
            </a:r>
            <a:r>
              <a:rPr lang="en-US" altLang="zh-TW" sz="2400" i="1" dirty="0" smtClean="0"/>
              <a:t>=</a:t>
            </a:r>
            <a:r>
              <a:rPr lang="en-US" altLang="zh-TW" sz="2400" dirty="0" smtClean="0"/>
              <a:t>110100110100</a:t>
            </a:r>
          </a:p>
          <a:p>
            <a:r>
              <a:rPr lang="en-US" altLang="zh-TW" sz="2400" i="1" dirty="0" err="1" smtClean="0"/>
              <a:t>μ</a:t>
            </a:r>
            <a:r>
              <a:rPr lang="en-US" altLang="zh-TW" sz="2400" i="1" baseline="-25000" dirty="0" err="1" smtClean="0"/>
              <a:t>E</a:t>
            </a:r>
            <a:r>
              <a:rPr lang="en-US" altLang="zh-TW" sz="2400" dirty="0" smtClean="0"/>
              <a:t>=7124358</a:t>
            </a:r>
          </a:p>
          <a:p>
            <a:r>
              <a:rPr lang="el-GR" altLang="zh-TW" sz="2400" i="1" dirty="0"/>
              <a:t>γ</a:t>
            </a:r>
            <a:r>
              <a:rPr lang="en-US" altLang="zh-TW" sz="2400" i="1" baseline="-25000" dirty="0" smtClean="0"/>
              <a:t>E</a:t>
            </a:r>
            <a:r>
              <a:rPr lang="en-US" altLang="zh-TW" sz="2400" dirty="0" smtClean="0"/>
              <a:t>=0110111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74607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74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– </a:t>
            </a:r>
            <a:r>
              <a:rPr lang="en-US" altLang="zh-TW" dirty="0" smtClean="0"/>
              <a:t>Local Update</a:t>
            </a:r>
            <a:endParaRPr lang="zh-TW" altLang="en-US" dirty="0"/>
          </a:p>
        </p:txBody>
      </p:sp>
      <p:sp>
        <p:nvSpPr>
          <p:cNvPr id="25" name="橢圓 24"/>
          <p:cNvSpPr/>
          <p:nvPr/>
        </p:nvSpPr>
        <p:spPr>
          <a:xfrm>
            <a:off x="680694" y="2491922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26" name="橢圓 25"/>
          <p:cNvSpPr/>
          <p:nvPr/>
        </p:nvSpPr>
        <p:spPr>
          <a:xfrm>
            <a:off x="2552902" y="2500306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27" name="橢圓 26"/>
          <p:cNvSpPr/>
          <p:nvPr/>
        </p:nvSpPr>
        <p:spPr>
          <a:xfrm>
            <a:off x="410110" y="3139994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28" name="橢圓 27"/>
          <p:cNvSpPr/>
          <p:nvPr/>
        </p:nvSpPr>
        <p:spPr>
          <a:xfrm>
            <a:off x="2192862" y="3177018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29" name="橢圓 28"/>
          <p:cNvSpPr/>
          <p:nvPr/>
        </p:nvSpPr>
        <p:spPr>
          <a:xfrm>
            <a:off x="2958586" y="3199794"/>
            <a:ext cx="360040" cy="28803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30" name="橢圓 29"/>
          <p:cNvSpPr/>
          <p:nvPr/>
        </p:nvSpPr>
        <p:spPr>
          <a:xfrm>
            <a:off x="1193134" y="3164402"/>
            <a:ext cx="360040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/>
          <p:cNvCxnSpPr>
            <a:stCxn id="25" idx="3"/>
            <a:endCxn id="27" idx="0"/>
          </p:cNvCxnSpPr>
          <p:nvPr/>
        </p:nvCxnSpPr>
        <p:spPr>
          <a:xfrm flipH="1">
            <a:off x="590130" y="2737773"/>
            <a:ext cx="143291" cy="402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>
            <a:stCxn id="25" idx="5"/>
            <a:endCxn id="30" idx="0"/>
          </p:cNvCxnSpPr>
          <p:nvPr/>
        </p:nvCxnSpPr>
        <p:spPr>
          <a:xfrm>
            <a:off x="988007" y="2737773"/>
            <a:ext cx="385147" cy="426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26" idx="3"/>
            <a:endCxn id="28" idx="0"/>
          </p:cNvCxnSpPr>
          <p:nvPr/>
        </p:nvCxnSpPr>
        <p:spPr>
          <a:xfrm flipH="1">
            <a:off x="2372882" y="2746157"/>
            <a:ext cx="232747" cy="430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>
            <a:stCxn id="26" idx="5"/>
            <a:endCxn id="29" idx="0"/>
          </p:cNvCxnSpPr>
          <p:nvPr/>
        </p:nvCxnSpPr>
        <p:spPr>
          <a:xfrm>
            <a:off x="2860215" y="2746157"/>
            <a:ext cx="278391" cy="45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橢圓 34"/>
          <p:cNvSpPr/>
          <p:nvPr/>
        </p:nvSpPr>
        <p:spPr>
          <a:xfrm>
            <a:off x="1504830" y="1722698"/>
            <a:ext cx="360040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6" name="直線接點 35"/>
          <p:cNvCxnSpPr>
            <a:stCxn id="35" idx="2"/>
            <a:endCxn id="25" idx="7"/>
          </p:cNvCxnSpPr>
          <p:nvPr/>
        </p:nvCxnSpPr>
        <p:spPr>
          <a:xfrm flipH="1">
            <a:off x="988007" y="1866714"/>
            <a:ext cx="516823" cy="667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>
            <a:stCxn id="35" idx="6"/>
            <a:endCxn id="26" idx="7"/>
          </p:cNvCxnSpPr>
          <p:nvPr/>
        </p:nvCxnSpPr>
        <p:spPr>
          <a:xfrm>
            <a:off x="1864870" y="1866714"/>
            <a:ext cx="995345" cy="6757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橢圓 37"/>
          <p:cNvSpPr/>
          <p:nvPr/>
        </p:nvSpPr>
        <p:spPr>
          <a:xfrm>
            <a:off x="3756718" y="3199794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8</a:t>
            </a:r>
            <a:endParaRPr lang="zh-TW" altLang="en-US" dirty="0"/>
          </a:p>
        </p:txBody>
      </p:sp>
      <p:cxnSp>
        <p:nvCxnSpPr>
          <p:cNvPr id="39" name="直線接點 38"/>
          <p:cNvCxnSpPr>
            <a:stCxn id="26" idx="6"/>
            <a:endCxn id="38" idx="6"/>
          </p:cNvCxnSpPr>
          <p:nvPr/>
        </p:nvCxnSpPr>
        <p:spPr>
          <a:xfrm>
            <a:off x="2912942" y="2644322"/>
            <a:ext cx="1203816" cy="699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565762" y="3699070"/>
            <a:ext cx="34566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zh-TW" sz="2400" i="1" dirty="0"/>
              <a:t>τ</a:t>
            </a:r>
            <a:r>
              <a:rPr lang="en-US" altLang="zh-TW" sz="2400" i="1" baseline="-25000" dirty="0" smtClean="0"/>
              <a:t>E</a:t>
            </a:r>
            <a:r>
              <a:rPr lang="en-US" altLang="zh-TW" sz="2400" i="1" dirty="0" smtClean="0"/>
              <a:t>=</a:t>
            </a:r>
            <a:r>
              <a:rPr lang="en-US" altLang="zh-TW" sz="2400" dirty="0" smtClean="0"/>
              <a:t>110100110</a:t>
            </a:r>
            <a:r>
              <a:rPr lang="en-US" altLang="zh-TW" sz="2400" dirty="0" smtClean="0">
                <a:solidFill>
                  <a:srgbClr val="FF0000"/>
                </a:solidFill>
              </a:rPr>
              <a:t>1</a:t>
            </a:r>
            <a:r>
              <a:rPr lang="en-US" altLang="zh-TW" sz="2400" dirty="0" smtClean="0"/>
              <a:t>0100</a:t>
            </a:r>
          </a:p>
          <a:p>
            <a:r>
              <a:rPr lang="en-US" altLang="zh-TW" sz="2400" i="1" dirty="0" err="1" smtClean="0"/>
              <a:t>μ</a:t>
            </a:r>
            <a:r>
              <a:rPr lang="en-US" altLang="zh-TW" sz="2400" i="1" baseline="-25000" dirty="0" err="1" smtClean="0"/>
              <a:t>E</a:t>
            </a:r>
            <a:r>
              <a:rPr lang="en-US" altLang="zh-TW" sz="2400" dirty="0" smtClean="0"/>
              <a:t>=71243568</a:t>
            </a:r>
          </a:p>
          <a:p>
            <a:r>
              <a:rPr lang="el-GR" altLang="zh-TW" sz="2400" i="1" dirty="0"/>
              <a:t>γ</a:t>
            </a:r>
            <a:r>
              <a:rPr lang="en-US" altLang="zh-TW" sz="2400" i="1" baseline="-25000" dirty="0" smtClean="0"/>
              <a:t>E</a:t>
            </a:r>
            <a:r>
              <a:rPr lang="en-US" altLang="zh-TW" sz="2400" dirty="0" smtClean="0"/>
              <a:t>=01101111</a:t>
            </a:r>
            <a:endParaRPr lang="zh-TW" altLang="en-US" sz="2400" dirty="0"/>
          </a:p>
        </p:txBody>
      </p:sp>
      <p:sp>
        <p:nvSpPr>
          <p:cNvPr id="45" name="橢圓 44"/>
          <p:cNvSpPr/>
          <p:nvPr/>
        </p:nvSpPr>
        <p:spPr>
          <a:xfrm>
            <a:off x="4948336" y="2644322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46" name="橢圓 45"/>
          <p:cNvSpPr/>
          <p:nvPr/>
        </p:nvSpPr>
        <p:spPr>
          <a:xfrm>
            <a:off x="6820544" y="2652706"/>
            <a:ext cx="360040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7" name="橢圓 46"/>
          <p:cNvSpPr/>
          <p:nvPr/>
        </p:nvSpPr>
        <p:spPr>
          <a:xfrm>
            <a:off x="4677752" y="3292394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48" name="橢圓 47"/>
          <p:cNvSpPr/>
          <p:nvPr/>
        </p:nvSpPr>
        <p:spPr>
          <a:xfrm>
            <a:off x="6460504" y="3329418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49" name="橢圓 48"/>
          <p:cNvSpPr/>
          <p:nvPr/>
        </p:nvSpPr>
        <p:spPr>
          <a:xfrm>
            <a:off x="5460776" y="3316802"/>
            <a:ext cx="360040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0" name="直線接點 49"/>
          <p:cNvCxnSpPr>
            <a:stCxn id="45" idx="3"/>
            <a:endCxn id="47" idx="0"/>
          </p:cNvCxnSpPr>
          <p:nvPr/>
        </p:nvCxnSpPr>
        <p:spPr>
          <a:xfrm flipH="1">
            <a:off x="4857772" y="2890173"/>
            <a:ext cx="143291" cy="402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45" idx="5"/>
            <a:endCxn id="49" idx="0"/>
          </p:cNvCxnSpPr>
          <p:nvPr/>
        </p:nvCxnSpPr>
        <p:spPr>
          <a:xfrm>
            <a:off x="5255649" y="2890173"/>
            <a:ext cx="385147" cy="426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>
            <a:stCxn id="46" idx="3"/>
            <a:endCxn id="48" idx="0"/>
          </p:cNvCxnSpPr>
          <p:nvPr/>
        </p:nvCxnSpPr>
        <p:spPr>
          <a:xfrm flipH="1">
            <a:off x="6640524" y="2898557"/>
            <a:ext cx="232747" cy="430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橢圓 52"/>
          <p:cNvSpPr/>
          <p:nvPr/>
        </p:nvSpPr>
        <p:spPr>
          <a:xfrm>
            <a:off x="5772472" y="1875098"/>
            <a:ext cx="360040" cy="288032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7</a:t>
            </a:r>
            <a:endParaRPr lang="zh-TW" altLang="en-US" dirty="0">
              <a:solidFill>
                <a:schemeClr val="bg1"/>
              </a:solidFill>
            </a:endParaRPr>
          </a:p>
        </p:txBody>
      </p:sp>
      <p:cxnSp>
        <p:nvCxnSpPr>
          <p:cNvPr id="54" name="直線接點 53"/>
          <p:cNvCxnSpPr>
            <a:stCxn id="53" idx="2"/>
            <a:endCxn id="45" idx="7"/>
          </p:cNvCxnSpPr>
          <p:nvPr/>
        </p:nvCxnSpPr>
        <p:spPr>
          <a:xfrm flipH="1">
            <a:off x="5255649" y="2019114"/>
            <a:ext cx="516823" cy="667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>
            <a:stCxn id="53" idx="6"/>
            <a:endCxn id="46" idx="7"/>
          </p:cNvCxnSpPr>
          <p:nvPr/>
        </p:nvCxnSpPr>
        <p:spPr>
          <a:xfrm>
            <a:off x="6132512" y="2019114"/>
            <a:ext cx="995345" cy="6757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橢圓 55"/>
          <p:cNvSpPr/>
          <p:nvPr/>
        </p:nvSpPr>
        <p:spPr>
          <a:xfrm>
            <a:off x="8024360" y="3352194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8</a:t>
            </a:r>
            <a:endParaRPr lang="zh-TW" altLang="en-US" dirty="0"/>
          </a:p>
        </p:txBody>
      </p:sp>
      <p:cxnSp>
        <p:nvCxnSpPr>
          <p:cNvPr id="57" name="直線接點 56"/>
          <p:cNvCxnSpPr>
            <a:stCxn id="46" idx="6"/>
            <a:endCxn id="56" idx="6"/>
          </p:cNvCxnSpPr>
          <p:nvPr/>
        </p:nvCxnSpPr>
        <p:spPr>
          <a:xfrm>
            <a:off x="7180584" y="2796722"/>
            <a:ext cx="1203816" cy="699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4833404" y="3851470"/>
            <a:ext cx="34566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zh-TW" sz="2400" i="1" dirty="0"/>
              <a:t>τ</a:t>
            </a:r>
            <a:r>
              <a:rPr lang="en-US" altLang="zh-TW" sz="2400" i="1" baseline="-25000" dirty="0" smtClean="0"/>
              <a:t>E</a:t>
            </a:r>
            <a:r>
              <a:rPr lang="en-US" altLang="zh-TW" sz="2400" i="1" dirty="0" smtClean="0"/>
              <a:t>=</a:t>
            </a:r>
            <a:r>
              <a:rPr lang="en-US" altLang="zh-TW" sz="2400" dirty="0" smtClean="0"/>
              <a:t>110100110100</a:t>
            </a:r>
          </a:p>
          <a:p>
            <a:r>
              <a:rPr lang="en-US" altLang="zh-TW" sz="2400" i="1" dirty="0" err="1" smtClean="0"/>
              <a:t>μ</a:t>
            </a:r>
            <a:r>
              <a:rPr lang="en-US" altLang="zh-TW" sz="2400" i="1" baseline="-25000" dirty="0" err="1" smtClean="0"/>
              <a:t>E</a:t>
            </a:r>
            <a:r>
              <a:rPr lang="en-US" altLang="zh-TW" sz="2400" dirty="0" smtClean="0"/>
              <a:t>=71243568</a:t>
            </a:r>
          </a:p>
          <a:p>
            <a:r>
              <a:rPr lang="el-GR" altLang="zh-TW" sz="2400" i="1" dirty="0"/>
              <a:t>γ</a:t>
            </a:r>
            <a:r>
              <a:rPr lang="en-US" altLang="zh-TW" sz="2400" i="1" baseline="-25000" dirty="0" smtClean="0"/>
              <a:t>E</a:t>
            </a:r>
            <a:r>
              <a:rPr lang="en-US" altLang="zh-TW" sz="2400" dirty="0" smtClean="0"/>
              <a:t>=11100101</a:t>
            </a:r>
            <a:endParaRPr lang="zh-TW" altLang="en-US" sz="2400" dirty="0"/>
          </a:p>
        </p:txBody>
      </p:sp>
      <p:sp>
        <p:nvSpPr>
          <p:cNvPr id="59" name="橢圓 58"/>
          <p:cNvSpPr/>
          <p:nvPr/>
        </p:nvSpPr>
        <p:spPr>
          <a:xfrm>
            <a:off x="7127857" y="3352194"/>
            <a:ext cx="360040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6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60" name="直線接點 59"/>
          <p:cNvCxnSpPr>
            <a:stCxn id="46" idx="5"/>
            <a:endCxn id="59" idx="0"/>
          </p:cNvCxnSpPr>
          <p:nvPr/>
        </p:nvCxnSpPr>
        <p:spPr>
          <a:xfrm>
            <a:off x="7127857" y="2898557"/>
            <a:ext cx="180020" cy="45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方塊 63"/>
          <p:cNvSpPr txBox="1"/>
          <p:nvPr/>
        </p:nvSpPr>
        <p:spPr>
          <a:xfrm>
            <a:off x="3349580" y="2960963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3440778" y="2624734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66" name="文字方塊 65"/>
          <p:cNvSpPr txBox="1"/>
          <p:nvPr/>
        </p:nvSpPr>
        <p:spPr>
          <a:xfrm>
            <a:off x="2999410" y="2756072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67" name="文字方塊 66"/>
          <p:cNvSpPr txBox="1"/>
          <p:nvPr/>
        </p:nvSpPr>
        <p:spPr>
          <a:xfrm>
            <a:off x="2275089" y="1843879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5447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75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– </a:t>
            </a:r>
            <a:r>
              <a:rPr lang="en-US" altLang="zh-TW" dirty="0" smtClean="0"/>
              <a:t>Split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680694" y="2491922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2552902" y="2500306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410110" y="3139994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8" name="橢圓 7"/>
          <p:cNvSpPr/>
          <p:nvPr/>
        </p:nvSpPr>
        <p:spPr>
          <a:xfrm>
            <a:off x="2192862" y="3177018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9" name="橢圓 8"/>
          <p:cNvSpPr/>
          <p:nvPr/>
        </p:nvSpPr>
        <p:spPr>
          <a:xfrm>
            <a:off x="2958586" y="3199794"/>
            <a:ext cx="360040" cy="288032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10" name="橢圓 9"/>
          <p:cNvSpPr/>
          <p:nvPr/>
        </p:nvSpPr>
        <p:spPr>
          <a:xfrm>
            <a:off x="1193134" y="3164402"/>
            <a:ext cx="360040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線接點 10"/>
          <p:cNvCxnSpPr>
            <a:stCxn id="5" idx="3"/>
            <a:endCxn id="7" idx="0"/>
          </p:cNvCxnSpPr>
          <p:nvPr/>
        </p:nvCxnSpPr>
        <p:spPr>
          <a:xfrm flipH="1">
            <a:off x="590130" y="2737773"/>
            <a:ext cx="143291" cy="402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>
            <a:stCxn id="5" idx="5"/>
            <a:endCxn id="10" idx="0"/>
          </p:cNvCxnSpPr>
          <p:nvPr/>
        </p:nvCxnSpPr>
        <p:spPr>
          <a:xfrm>
            <a:off x="988007" y="2737773"/>
            <a:ext cx="385147" cy="426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6" idx="3"/>
            <a:endCxn id="8" idx="0"/>
          </p:cNvCxnSpPr>
          <p:nvPr/>
        </p:nvCxnSpPr>
        <p:spPr>
          <a:xfrm flipH="1">
            <a:off x="2372882" y="2746157"/>
            <a:ext cx="232747" cy="430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6" idx="5"/>
            <a:endCxn id="9" idx="0"/>
          </p:cNvCxnSpPr>
          <p:nvPr/>
        </p:nvCxnSpPr>
        <p:spPr>
          <a:xfrm>
            <a:off x="2860215" y="2746157"/>
            <a:ext cx="278391" cy="45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/>
          <p:cNvSpPr/>
          <p:nvPr/>
        </p:nvSpPr>
        <p:spPr>
          <a:xfrm>
            <a:off x="1504830" y="1722698"/>
            <a:ext cx="360040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6" name="直線接點 15"/>
          <p:cNvCxnSpPr>
            <a:stCxn id="15" idx="2"/>
            <a:endCxn id="5" idx="7"/>
          </p:cNvCxnSpPr>
          <p:nvPr/>
        </p:nvCxnSpPr>
        <p:spPr>
          <a:xfrm flipH="1">
            <a:off x="988007" y="1866714"/>
            <a:ext cx="516823" cy="667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5" idx="6"/>
            <a:endCxn id="6" idx="7"/>
          </p:cNvCxnSpPr>
          <p:nvPr/>
        </p:nvCxnSpPr>
        <p:spPr>
          <a:xfrm>
            <a:off x="1864870" y="1866714"/>
            <a:ext cx="995345" cy="6757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橢圓 17"/>
          <p:cNvSpPr/>
          <p:nvPr/>
        </p:nvSpPr>
        <p:spPr>
          <a:xfrm>
            <a:off x="3756718" y="3199794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8</a:t>
            </a:r>
            <a:endParaRPr lang="zh-TW" altLang="en-US" dirty="0"/>
          </a:p>
        </p:txBody>
      </p:sp>
      <p:cxnSp>
        <p:nvCxnSpPr>
          <p:cNvPr id="19" name="直線接點 18"/>
          <p:cNvCxnSpPr>
            <a:stCxn id="6" idx="6"/>
            <a:endCxn id="18" idx="6"/>
          </p:cNvCxnSpPr>
          <p:nvPr/>
        </p:nvCxnSpPr>
        <p:spPr>
          <a:xfrm>
            <a:off x="2912942" y="2644322"/>
            <a:ext cx="1203816" cy="699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565762" y="3699070"/>
            <a:ext cx="34566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zh-TW" sz="2400" i="1" dirty="0"/>
              <a:t>τ</a:t>
            </a:r>
            <a:r>
              <a:rPr lang="en-US" altLang="zh-TW" sz="2400" i="1" baseline="-25000" dirty="0" smtClean="0"/>
              <a:t>E</a:t>
            </a:r>
            <a:r>
              <a:rPr lang="en-US" altLang="zh-TW" sz="2400" i="1" dirty="0" smtClean="0"/>
              <a:t>=</a:t>
            </a:r>
            <a:r>
              <a:rPr lang="en-US" altLang="zh-TW" sz="2400" dirty="0" smtClean="0"/>
              <a:t>11010011010100</a:t>
            </a:r>
          </a:p>
          <a:p>
            <a:r>
              <a:rPr lang="en-US" altLang="zh-TW" sz="2400" i="1" dirty="0" err="1" smtClean="0"/>
              <a:t>μ</a:t>
            </a:r>
            <a:r>
              <a:rPr lang="en-US" altLang="zh-TW" sz="2400" i="1" baseline="-25000" dirty="0" err="1" smtClean="0"/>
              <a:t>E</a:t>
            </a:r>
            <a:r>
              <a:rPr lang="en-US" altLang="zh-TW" sz="2400" dirty="0" smtClean="0"/>
              <a:t>=71243568</a:t>
            </a:r>
          </a:p>
          <a:p>
            <a:r>
              <a:rPr lang="el-GR" altLang="zh-TW" sz="2400" i="1" dirty="0"/>
              <a:t>γ</a:t>
            </a:r>
            <a:r>
              <a:rPr lang="en-US" altLang="zh-TW" sz="2400" i="1" baseline="-25000" dirty="0" smtClean="0"/>
              <a:t>E</a:t>
            </a:r>
            <a:r>
              <a:rPr lang="en-US" altLang="zh-TW" sz="2400" dirty="0" smtClean="0"/>
              <a:t>=01101111</a:t>
            </a:r>
            <a:endParaRPr lang="zh-TW" altLang="en-US" sz="2400" dirty="0"/>
          </a:p>
        </p:txBody>
      </p:sp>
      <p:sp>
        <p:nvSpPr>
          <p:cNvPr id="39" name="橢圓 38"/>
          <p:cNvSpPr/>
          <p:nvPr/>
        </p:nvSpPr>
        <p:spPr>
          <a:xfrm>
            <a:off x="4827984" y="2681600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40" name="橢圓 39"/>
          <p:cNvSpPr/>
          <p:nvPr/>
        </p:nvSpPr>
        <p:spPr>
          <a:xfrm>
            <a:off x="6700192" y="2689984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41" name="橢圓 40"/>
          <p:cNvSpPr/>
          <p:nvPr/>
        </p:nvSpPr>
        <p:spPr>
          <a:xfrm>
            <a:off x="4557400" y="3329672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42" name="橢圓 41"/>
          <p:cNvSpPr/>
          <p:nvPr/>
        </p:nvSpPr>
        <p:spPr>
          <a:xfrm>
            <a:off x="6340152" y="3366696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43" name="橢圓 42"/>
          <p:cNvSpPr/>
          <p:nvPr/>
        </p:nvSpPr>
        <p:spPr>
          <a:xfrm>
            <a:off x="7105876" y="3389472"/>
            <a:ext cx="360040" cy="288032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44" name="橢圓 43"/>
          <p:cNvSpPr/>
          <p:nvPr/>
        </p:nvSpPr>
        <p:spPr>
          <a:xfrm>
            <a:off x="5340424" y="3354080"/>
            <a:ext cx="360040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/>
          <p:cNvCxnSpPr>
            <a:stCxn id="39" idx="3"/>
            <a:endCxn id="41" idx="0"/>
          </p:cNvCxnSpPr>
          <p:nvPr/>
        </p:nvCxnSpPr>
        <p:spPr>
          <a:xfrm flipH="1">
            <a:off x="4737420" y="2927451"/>
            <a:ext cx="143291" cy="402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>
            <a:stCxn id="39" idx="5"/>
            <a:endCxn id="44" idx="0"/>
          </p:cNvCxnSpPr>
          <p:nvPr/>
        </p:nvCxnSpPr>
        <p:spPr>
          <a:xfrm>
            <a:off x="5135297" y="2927451"/>
            <a:ext cx="385147" cy="426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>
            <a:stCxn id="40" idx="3"/>
            <a:endCxn id="42" idx="0"/>
          </p:cNvCxnSpPr>
          <p:nvPr/>
        </p:nvCxnSpPr>
        <p:spPr>
          <a:xfrm flipH="1">
            <a:off x="6520172" y="2935835"/>
            <a:ext cx="232747" cy="430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40" idx="5"/>
            <a:endCxn id="43" idx="0"/>
          </p:cNvCxnSpPr>
          <p:nvPr/>
        </p:nvCxnSpPr>
        <p:spPr>
          <a:xfrm>
            <a:off x="7007505" y="2935835"/>
            <a:ext cx="278391" cy="45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橢圓 48"/>
          <p:cNvSpPr/>
          <p:nvPr/>
        </p:nvSpPr>
        <p:spPr>
          <a:xfrm>
            <a:off x="5652120" y="1912376"/>
            <a:ext cx="360040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0" name="直線接點 49"/>
          <p:cNvCxnSpPr>
            <a:stCxn id="49" idx="2"/>
            <a:endCxn id="39" idx="7"/>
          </p:cNvCxnSpPr>
          <p:nvPr/>
        </p:nvCxnSpPr>
        <p:spPr>
          <a:xfrm flipH="1">
            <a:off x="5135297" y="2056392"/>
            <a:ext cx="516823" cy="667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49" idx="5"/>
            <a:endCxn id="40" idx="7"/>
          </p:cNvCxnSpPr>
          <p:nvPr/>
        </p:nvCxnSpPr>
        <p:spPr>
          <a:xfrm>
            <a:off x="5959433" y="2158227"/>
            <a:ext cx="1048072" cy="573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/>
          <p:cNvSpPr/>
          <p:nvPr/>
        </p:nvSpPr>
        <p:spPr>
          <a:xfrm>
            <a:off x="7904008" y="3389472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8</a:t>
            </a:r>
            <a:endParaRPr lang="zh-TW" altLang="en-US" dirty="0"/>
          </a:p>
        </p:txBody>
      </p:sp>
      <p:cxnSp>
        <p:nvCxnSpPr>
          <p:cNvPr id="53" name="直線接點 52"/>
          <p:cNvCxnSpPr>
            <a:stCxn id="57" idx="4"/>
            <a:endCxn id="52" idx="0"/>
          </p:cNvCxnSpPr>
          <p:nvPr/>
        </p:nvCxnSpPr>
        <p:spPr>
          <a:xfrm>
            <a:off x="8084028" y="3034189"/>
            <a:ext cx="0" cy="3552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4713052" y="3888748"/>
            <a:ext cx="41794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zh-TW" sz="2400" i="1" dirty="0"/>
              <a:t>τ</a:t>
            </a:r>
            <a:r>
              <a:rPr lang="en-US" altLang="zh-TW" sz="2400" i="1" baseline="-25000" dirty="0" smtClean="0"/>
              <a:t>E</a:t>
            </a:r>
            <a:r>
              <a:rPr lang="en-US" altLang="zh-TW" sz="2400" i="1" dirty="0" smtClean="0"/>
              <a:t>=</a:t>
            </a:r>
            <a:r>
              <a:rPr lang="en-US" altLang="zh-TW" sz="2400" dirty="0" smtClean="0"/>
              <a:t>11010011010</a:t>
            </a:r>
            <a:r>
              <a:rPr lang="en-US" altLang="zh-TW" sz="2400" dirty="0" smtClean="0">
                <a:solidFill>
                  <a:srgbClr val="FF0000"/>
                </a:solidFill>
              </a:rPr>
              <a:t>01</a:t>
            </a:r>
            <a:r>
              <a:rPr lang="en-US" altLang="zh-TW" sz="2400" dirty="0" smtClean="0"/>
              <a:t>100</a:t>
            </a:r>
          </a:p>
          <a:p>
            <a:r>
              <a:rPr lang="en-US" altLang="zh-TW" sz="2400" i="1" dirty="0" err="1" smtClean="0"/>
              <a:t>μ</a:t>
            </a:r>
            <a:r>
              <a:rPr lang="en-US" altLang="zh-TW" sz="2400" i="1" baseline="-25000" dirty="0" err="1" smtClean="0"/>
              <a:t>E</a:t>
            </a:r>
            <a:r>
              <a:rPr lang="en-US" altLang="zh-TW" sz="2400" dirty="0" smtClean="0"/>
              <a:t>=712435698</a:t>
            </a:r>
          </a:p>
          <a:p>
            <a:r>
              <a:rPr lang="el-GR" altLang="zh-TW" sz="2400" i="1" dirty="0"/>
              <a:t>γ</a:t>
            </a:r>
            <a:r>
              <a:rPr lang="en-US" altLang="zh-TW" sz="2400" i="1" baseline="-25000" dirty="0" smtClean="0"/>
              <a:t>E</a:t>
            </a:r>
            <a:r>
              <a:rPr lang="en-US" altLang="zh-TW" sz="2400" dirty="0" smtClean="0"/>
              <a:t>=011011101</a:t>
            </a:r>
            <a:endParaRPr lang="zh-TW" altLang="en-US" sz="2400" dirty="0"/>
          </a:p>
        </p:txBody>
      </p:sp>
      <p:sp>
        <p:nvSpPr>
          <p:cNvPr id="57" name="橢圓 56"/>
          <p:cNvSpPr/>
          <p:nvPr/>
        </p:nvSpPr>
        <p:spPr>
          <a:xfrm>
            <a:off x="7904008" y="2746157"/>
            <a:ext cx="360040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/>
          <p:cNvCxnSpPr>
            <a:stCxn id="49" idx="6"/>
            <a:endCxn id="57" idx="1"/>
          </p:cNvCxnSpPr>
          <p:nvPr/>
        </p:nvCxnSpPr>
        <p:spPr>
          <a:xfrm>
            <a:off x="6012160" y="2056392"/>
            <a:ext cx="1944575" cy="731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932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entire transformation table can easily be constructed in </a:t>
            </a:r>
            <a:r>
              <a:rPr lang="en-US" altLang="zh-TW" i="1" dirty="0" err="1"/>
              <a:t>m</a:t>
            </a:r>
            <a:r>
              <a:rPr lang="en-US" altLang="zh-TW" i="1" baseline="30000" dirty="0" err="1"/>
              <a:t>O</a:t>
            </a:r>
            <a:r>
              <a:rPr lang="en-US" altLang="zh-TW" baseline="30000" dirty="0"/>
              <a:t>(</a:t>
            </a:r>
            <a:r>
              <a:rPr lang="en-US" altLang="zh-TW" i="1" baseline="30000" dirty="0"/>
              <a:t>m</a:t>
            </a:r>
            <a:r>
              <a:rPr lang="en-US" altLang="zh-TW" baseline="30000" dirty="0"/>
              <a:t>)</a:t>
            </a:r>
            <a:r>
              <a:rPr lang="en-US" altLang="zh-TW" dirty="0"/>
              <a:t> =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 time and space. </a:t>
            </a:r>
          </a:p>
          <a:p>
            <a:r>
              <a:rPr lang="en-US" altLang="zh-TW" dirty="0"/>
              <a:t>Furthermore, each signature occupies </a:t>
            </a:r>
            <a:r>
              <a:rPr lang="en-US" altLang="zh-TW" i="1" dirty="0"/>
              <a:t>O</a:t>
            </a:r>
            <a:r>
              <a:rPr lang="en-US" altLang="zh-TW" dirty="0"/>
              <a:t>(log </a:t>
            </a:r>
            <a:r>
              <a:rPr lang="en-US" altLang="zh-TW" i="1" dirty="0"/>
              <a:t>n</a:t>
            </a:r>
            <a:r>
              <a:rPr lang="en-US" altLang="zh-TW" dirty="0"/>
              <a:t>) bits, so we can update the signature of a tree in constant time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76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0" dirty="0"/>
              <a:t>Tabulation Based Implementation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8450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Let </a:t>
                </a:r>
                <a:r>
                  <a:rPr lang="en-US" altLang="zh-TW" i="1" dirty="0"/>
                  <a:t>a </a:t>
                </a:r>
                <a:r>
                  <a:rPr lang="en-US" altLang="zh-TW" dirty="0"/>
                  <a:t>be such that 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a</a:t>
                </a:r>
                <a:r>
                  <a:rPr lang="en-US" altLang="zh-TW" dirty="0"/>
                  <a:t>≤</a:t>
                </a:r>
                <a:r>
                  <a:rPr lang="en-US" altLang="zh-TW" i="1" dirty="0" smtClean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latin typeface="Cambria Math"/>
                          </a:rPr>
                        </m:ctrlPr>
                      </m:radPr>
                      <m:deg/>
                      <m:e>
                        <m:func>
                          <m:func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𝑛</m:t>
                            </m:r>
                          </m:e>
                        </m:func>
                      </m:e>
                    </m:rad>
                    <m:r>
                      <a:rPr lang="en-US" altLang="zh-TW" i="1">
                        <a:latin typeface="Cambria Math"/>
                      </a:rPr>
                      <m:t> </m:t>
                    </m:r>
                  </m:oMath>
                </a14:m>
                <a:r>
                  <a:rPr lang="pl-PL" altLang="zh-TW" i="1" dirty="0"/>
                  <a:t>&lt; n</a:t>
                </a:r>
                <a:r>
                  <a:rPr lang="pl-PL" altLang="zh-TW" i="1" baseline="-25000" dirty="0"/>
                  <a:t>a</a:t>
                </a:r>
                <a:r>
                  <a:rPr lang="pl-PL" altLang="zh-TW" baseline="-25000" dirty="0"/>
                  <a:t>+1</a:t>
                </a:r>
                <a:r>
                  <a:rPr lang="pl-PL" altLang="zh-TW" dirty="0"/>
                  <a:t> and set </a:t>
                </a:r>
                <a:r>
                  <a:rPr lang="pl-PL" altLang="zh-TW" i="1" dirty="0"/>
                  <a:t>m </a:t>
                </a:r>
                <a:r>
                  <a:rPr lang="pl-PL" altLang="zh-TW" dirty="0"/>
                  <a:t>= </a:t>
                </a:r>
                <a:r>
                  <a:rPr lang="pl-PL" altLang="zh-TW" i="1" dirty="0" smtClean="0"/>
                  <a:t>n</a:t>
                </a:r>
                <a:r>
                  <a:rPr lang="pl-PL" altLang="zh-TW" i="1" baseline="-25000" dirty="0" smtClean="0"/>
                  <a:t>a</a:t>
                </a:r>
                <a:r>
                  <a:rPr lang="en-US" altLang="zh-TW" i="1" dirty="0" smtClean="0"/>
                  <a:t>.</a:t>
                </a:r>
              </a:p>
              <a:p>
                <a:r>
                  <a:rPr lang="en-US" altLang="zh-TW" dirty="0"/>
                  <a:t>With each of </a:t>
                </a:r>
                <a:r>
                  <a:rPr lang="en-US" altLang="zh-TW" dirty="0" smtClean="0"/>
                  <a:t>the level </a:t>
                </a:r>
                <a:r>
                  <a:rPr lang="en-US" altLang="zh-TW" i="1" dirty="0"/>
                  <a:t>a </a:t>
                </a:r>
                <a:r>
                  <a:rPr lang="en-US" altLang="zh-TW" dirty="0"/>
                  <a:t>nodes, we store the signature of the descending </a:t>
                </a:r>
                <a:r>
                  <a:rPr lang="en-US" altLang="zh-TW" dirty="0" err="1"/>
                  <a:t>subtree</a:t>
                </a:r>
                <a:r>
                  <a:rPr lang="en-US" altLang="zh-TW" dirty="0"/>
                  <a:t> as well as the table </a:t>
                </a:r>
                <a:r>
                  <a:rPr lang="en-US" altLang="zh-TW" dirty="0" smtClean="0"/>
                  <a:t>mapping indices </a:t>
                </a:r>
                <a:r>
                  <a:rPr lang="en-US" altLang="zh-TW" dirty="0"/>
                  <a:t>to nodes. </a:t>
                </a:r>
                <a:endParaRPr lang="en-US" altLang="zh-TW" dirty="0" smtClean="0"/>
              </a:p>
              <a:p>
                <a:r>
                  <a:rPr lang="en-US" altLang="zh-TW" dirty="0" smtClean="0"/>
                  <a:t>With </a:t>
                </a:r>
                <a:r>
                  <a:rPr lang="en-US" altLang="zh-TW" dirty="0"/>
                  <a:t>each leaf, we store an ancestor pointer to its level </a:t>
                </a:r>
                <a:r>
                  <a:rPr lang="en-US" altLang="zh-TW" i="1" dirty="0"/>
                  <a:t>a </a:t>
                </a:r>
                <a:r>
                  <a:rPr lang="en-US" altLang="zh-TW" dirty="0"/>
                  <a:t>ancestor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Via </a:t>
                </a:r>
                <a:r>
                  <a:rPr lang="en-US" altLang="zh-TW" dirty="0" smtClean="0"/>
                  <a:t>these ancestor </a:t>
                </a:r>
                <a:r>
                  <a:rPr lang="en-US" altLang="zh-TW" dirty="0"/>
                  <a:t>pointers, we get the signature of the tree that is being updated.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r="-20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77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0" dirty="0"/>
              <a:t>Tabulation Based Implementation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74455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W</a:t>
            </a:r>
            <a:r>
              <a:rPr lang="en-US" altLang="zh-TW" dirty="0" smtClean="0"/>
              <a:t>hen </a:t>
            </a:r>
            <a:r>
              <a:rPr lang="en-US" altLang="zh-TW" dirty="0"/>
              <a:t>level </a:t>
            </a:r>
            <a:r>
              <a:rPr lang="en-US" altLang="zh-TW" i="1" dirty="0"/>
              <a:t>a </a:t>
            </a:r>
            <a:r>
              <a:rPr lang="en-US" altLang="zh-TW" dirty="0"/>
              <a:t>nodes </a:t>
            </a:r>
            <a:r>
              <a:rPr lang="en-US" altLang="zh-TW" i="1" dirty="0"/>
              <a:t>u </a:t>
            </a:r>
            <a:r>
              <a:rPr lang="en-US" altLang="zh-TW" dirty="0"/>
              <a:t>and </a:t>
            </a:r>
            <a:r>
              <a:rPr lang="en-US" altLang="zh-TW" i="1" dirty="0"/>
              <a:t>v </a:t>
            </a:r>
            <a:r>
              <a:rPr lang="en-US" altLang="zh-TW" dirty="0"/>
              <a:t>get joined into </a:t>
            </a:r>
            <a:r>
              <a:rPr lang="en-US" altLang="zh-TW" i="1" dirty="0" smtClean="0"/>
              <a:t>u</a:t>
            </a:r>
            <a:r>
              <a:rPr lang="en-US" altLang="zh-TW" dirty="0" smtClean="0"/>
              <a:t>, we temporarily </a:t>
            </a:r>
            <a:r>
              <a:rPr lang="en-US" altLang="zh-TW" dirty="0"/>
              <a:t>allow indices up to 2</a:t>
            </a:r>
            <a:r>
              <a:rPr lang="en-US" altLang="zh-TW" i="1" dirty="0"/>
              <a:t>m− </a:t>
            </a:r>
            <a:r>
              <a:rPr lang="en-US" altLang="zh-TW" dirty="0"/>
              <a:t>1, and add </a:t>
            </a:r>
            <a:r>
              <a:rPr lang="en-US" altLang="zh-TW" i="1" dirty="0"/>
              <a:t>m </a:t>
            </a:r>
            <a:r>
              <a:rPr lang="en-US" altLang="zh-TW" dirty="0"/>
              <a:t>to the indices of nodes descending </a:t>
            </a:r>
            <a:r>
              <a:rPr lang="en-US" altLang="zh-TW" dirty="0" smtClean="0"/>
              <a:t>from </a:t>
            </a:r>
            <a:r>
              <a:rPr lang="en-US" altLang="zh-TW" i="1" dirty="0" smtClean="0"/>
              <a:t>v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A </a:t>
            </a:r>
            <a:r>
              <a:rPr lang="en-US" altLang="zh-TW" dirty="0"/>
              <a:t>table takes the signatures of the </a:t>
            </a:r>
            <a:r>
              <a:rPr lang="en-US" altLang="zh-TW" dirty="0" err="1"/>
              <a:t>subtrees</a:t>
            </a:r>
            <a:r>
              <a:rPr lang="en-US" altLang="zh-TW" dirty="0"/>
              <a:t> of </a:t>
            </a:r>
            <a:r>
              <a:rPr lang="en-US" altLang="zh-TW" i="1" dirty="0"/>
              <a:t>u </a:t>
            </a:r>
            <a:r>
              <a:rPr lang="en-US" altLang="zh-TW" dirty="0"/>
              <a:t>and </a:t>
            </a:r>
            <a:r>
              <a:rPr lang="en-US" altLang="zh-TW" i="1" dirty="0"/>
              <a:t>v </a:t>
            </a:r>
            <a:r>
              <a:rPr lang="en-US" altLang="zh-TW" dirty="0"/>
              <a:t>and produce the signature for </a:t>
            </a:r>
            <a:r>
              <a:rPr lang="en-US" altLang="zh-TW" dirty="0" smtClean="0"/>
              <a:t>the joined </a:t>
            </a:r>
            <a:r>
              <a:rPr lang="en-US" altLang="zh-TW" dirty="0"/>
              <a:t>tree with these new indices. </a:t>
            </a:r>
            <a:endParaRPr lang="en-US" altLang="zh-TW" dirty="0" smtClean="0"/>
          </a:p>
          <a:p>
            <a:r>
              <a:rPr lang="en-US" altLang="zh-TW" dirty="0" smtClean="0"/>
              <a:t>Also</a:t>
            </a:r>
            <a:r>
              <a:rPr lang="en-US" altLang="zh-TW" dirty="0"/>
              <a:t>, we place a forward pointer from </a:t>
            </a:r>
            <a:r>
              <a:rPr lang="en-US" altLang="zh-TW" i="1" dirty="0"/>
              <a:t>v </a:t>
            </a:r>
            <a:r>
              <a:rPr lang="en-US" altLang="zh-TW" dirty="0"/>
              <a:t>to </a:t>
            </a:r>
            <a:r>
              <a:rPr lang="en-US" altLang="zh-TW" i="1" dirty="0"/>
              <a:t>u</a:t>
            </a:r>
            <a:r>
              <a:rPr lang="en-US" altLang="zh-TW" dirty="0"/>
              <a:t>, so </a:t>
            </a:r>
            <a:r>
              <a:rPr lang="en-US" altLang="zh-TW" dirty="0" smtClean="0"/>
              <a:t>that </a:t>
            </a:r>
            <a:r>
              <a:rPr lang="en-US" altLang="zh-TW" dirty="0"/>
              <a:t>nodes below </a:t>
            </a:r>
            <a:r>
              <a:rPr lang="en-US" altLang="zh-TW" i="1" dirty="0"/>
              <a:t>v </a:t>
            </a:r>
            <a:r>
              <a:rPr lang="en-US" altLang="zh-TW" dirty="0"/>
              <a:t>can find their new ancestor in constant time. </a:t>
            </a:r>
            <a:endParaRPr lang="en-US" altLang="zh-TW" dirty="0" smtClean="0"/>
          </a:p>
          <a:p>
            <a:r>
              <a:rPr lang="en-US" altLang="zh-TW" dirty="0" smtClean="0"/>
              <a:t>To </a:t>
            </a:r>
            <a:r>
              <a:rPr lang="en-US" altLang="zh-TW" dirty="0"/>
              <a:t>get the index of a node, </a:t>
            </a:r>
            <a:r>
              <a:rPr lang="en-US" altLang="zh-TW" dirty="0" smtClean="0"/>
              <a:t>we take </a:t>
            </a:r>
            <a:r>
              <a:rPr lang="en-US" altLang="zh-TW" dirty="0"/>
              <a:t>its current ancestor pointer. If it points to a node with a forward pointer, we add </a:t>
            </a:r>
            <a:r>
              <a:rPr lang="en-US" altLang="zh-TW" i="1" dirty="0" smtClean="0"/>
              <a:t>m </a:t>
            </a:r>
            <a:r>
              <a:rPr lang="en-US" altLang="zh-TW" dirty="0" smtClean="0"/>
              <a:t>to </a:t>
            </a:r>
            <a:r>
              <a:rPr lang="en-US" altLang="zh-TW" dirty="0"/>
              <a:t>the stored index. </a:t>
            </a:r>
            <a:endParaRPr lang="en-US" altLang="zh-TW" dirty="0" smtClean="0"/>
          </a:p>
          <a:p>
            <a:r>
              <a:rPr lang="en-US" altLang="zh-TW" dirty="0" smtClean="0"/>
              <a:t>Conversely</a:t>
            </a:r>
            <a:r>
              <a:rPr lang="en-US" altLang="zh-TW" dirty="0"/>
              <a:t>, given an index, if it is not less than </a:t>
            </a:r>
            <a:r>
              <a:rPr lang="en-US" altLang="zh-TW" i="1" dirty="0"/>
              <a:t>m</a:t>
            </a:r>
            <a:r>
              <a:rPr lang="en-US" altLang="zh-TW" dirty="0"/>
              <a:t>, this tells us that </a:t>
            </a:r>
            <a:r>
              <a:rPr lang="en-US" altLang="zh-TW" dirty="0" smtClean="0"/>
              <a:t>we should </a:t>
            </a:r>
            <a:r>
              <a:rPr lang="en-US" altLang="zh-TW" dirty="0"/>
              <a:t>use the old table from </a:t>
            </a:r>
            <a:r>
              <a:rPr lang="en-US" altLang="zh-TW" i="1" dirty="0"/>
              <a:t>v</a:t>
            </a:r>
            <a:r>
              <a:rPr lang="en-US" altLang="zh-TW" dirty="0"/>
              <a:t>, though subtracting </a:t>
            </a:r>
            <a:r>
              <a:rPr lang="en-US" altLang="zh-TW" i="1" dirty="0"/>
              <a:t>m </a:t>
            </a:r>
            <a:r>
              <a:rPr lang="en-US" altLang="zh-TW" dirty="0"/>
              <a:t>from the index.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78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Joining at Level </a:t>
            </a:r>
            <a:r>
              <a:rPr lang="en-US" altLang="zh-TW" i="1" dirty="0"/>
              <a:t>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2525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79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Joining at Level </a:t>
            </a:r>
            <a:r>
              <a:rPr lang="en-US" altLang="zh-TW" i="1" dirty="0" smtClean="0"/>
              <a:t>a</a:t>
            </a:r>
            <a:endParaRPr lang="zh-TW" altLang="en-US" i="1" dirty="0"/>
          </a:p>
        </p:txBody>
      </p:sp>
      <p:sp>
        <p:nvSpPr>
          <p:cNvPr id="5" name="橢圓 4"/>
          <p:cNvSpPr/>
          <p:nvPr/>
        </p:nvSpPr>
        <p:spPr>
          <a:xfrm>
            <a:off x="840821" y="2299577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480781" y="2976289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1246505" y="2999065"/>
            <a:ext cx="360040" cy="288032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4</a:t>
            </a:r>
            <a:endParaRPr lang="zh-TW" altLang="en-US" dirty="0"/>
          </a:p>
        </p:txBody>
      </p:sp>
      <p:cxnSp>
        <p:nvCxnSpPr>
          <p:cNvPr id="8" name="直線接點 7"/>
          <p:cNvCxnSpPr>
            <a:stCxn id="5" idx="3"/>
            <a:endCxn id="6" idx="0"/>
          </p:cNvCxnSpPr>
          <p:nvPr/>
        </p:nvCxnSpPr>
        <p:spPr>
          <a:xfrm flipH="1">
            <a:off x="660801" y="2545428"/>
            <a:ext cx="232747" cy="430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stCxn id="5" idx="5"/>
            <a:endCxn id="7" idx="0"/>
          </p:cNvCxnSpPr>
          <p:nvPr/>
        </p:nvCxnSpPr>
        <p:spPr>
          <a:xfrm>
            <a:off x="1148134" y="2545428"/>
            <a:ext cx="278391" cy="45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/>
          <p:cNvSpPr/>
          <p:nvPr/>
        </p:nvSpPr>
        <p:spPr>
          <a:xfrm>
            <a:off x="2044637" y="2999065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cxnSp>
        <p:nvCxnSpPr>
          <p:cNvPr id="11" name="直線接點 10"/>
          <p:cNvCxnSpPr>
            <a:stCxn id="12" idx="4"/>
            <a:endCxn id="10" idx="0"/>
          </p:cNvCxnSpPr>
          <p:nvPr/>
        </p:nvCxnSpPr>
        <p:spPr>
          <a:xfrm>
            <a:off x="2224657" y="2643782"/>
            <a:ext cx="0" cy="3552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>
            <a:off x="2044637" y="2355750"/>
            <a:ext cx="360040" cy="288032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2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184227" y="1644635"/>
            <a:ext cx="91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i="1" dirty="0" smtClean="0"/>
              <a:t>m</a:t>
            </a:r>
            <a:r>
              <a:rPr lang="en-US" altLang="zh-TW" sz="2400" dirty="0" smtClean="0"/>
              <a:t>=6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127670" y="3516843"/>
            <a:ext cx="14788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zh-TW" sz="2400" i="1" dirty="0"/>
              <a:t>τ</a:t>
            </a:r>
            <a:r>
              <a:rPr lang="en-US" altLang="zh-TW" sz="2400" i="1" baseline="-25000" dirty="0" smtClean="0"/>
              <a:t>E</a:t>
            </a:r>
            <a:r>
              <a:rPr lang="en-US" altLang="zh-TW" sz="2400" i="1" dirty="0" smtClean="0"/>
              <a:t>=</a:t>
            </a:r>
            <a:r>
              <a:rPr lang="en-US" altLang="zh-TW" sz="2400" dirty="0" smtClean="0"/>
              <a:t>1010</a:t>
            </a:r>
          </a:p>
          <a:p>
            <a:r>
              <a:rPr lang="en-US" altLang="zh-TW" sz="2400" i="1" dirty="0" err="1" smtClean="0"/>
              <a:t>μ</a:t>
            </a:r>
            <a:r>
              <a:rPr lang="en-US" altLang="zh-TW" sz="2400" i="1" baseline="-25000" dirty="0" err="1" smtClean="0"/>
              <a:t>E</a:t>
            </a:r>
            <a:r>
              <a:rPr lang="en-US" altLang="zh-TW" sz="2400" dirty="0" smtClean="0"/>
              <a:t>=124</a:t>
            </a:r>
          </a:p>
          <a:p>
            <a:r>
              <a:rPr lang="el-GR" altLang="zh-TW" sz="2400" i="1" dirty="0"/>
              <a:t>γ</a:t>
            </a:r>
            <a:r>
              <a:rPr lang="en-US" altLang="zh-TW" sz="2400" i="1" baseline="-25000" dirty="0" smtClean="0"/>
              <a:t>E</a:t>
            </a:r>
            <a:r>
              <a:rPr lang="en-US" altLang="zh-TW" sz="2400" dirty="0" smtClean="0"/>
              <a:t>=111</a:t>
            </a:r>
            <a:endParaRPr lang="zh-TW" altLang="en-US" sz="2400" dirty="0"/>
          </a:p>
        </p:txBody>
      </p:sp>
      <p:sp>
        <p:nvSpPr>
          <p:cNvPr id="15" name="矩形 14"/>
          <p:cNvSpPr/>
          <p:nvPr/>
        </p:nvSpPr>
        <p:spPr>
          <a:xfrm>
            <a:off x="1758945" y="3516843"/>
            <a:ext cx="14788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zh-TW" sz="2400" i="1" dirty="0"/>
              <a:t>τ</a:t>
            </a:r>
            <a:r>
              <a:rPr lang="en-US" altLang="zh-TW" sz="2400" i="1" baseline="-25000" dirty="0" smtClean="0"/>
              <a:t>E</a:t>
            </a:r>
            <a:r>
              <a:rPr lang="en-US" altLang="zh-TW" sz="2400" i="1" dirty="0" smtClean="0"/>
              <a:t>=</a:t>
            </a:r>
            <a:r>
              <a:rPr lang="en-US" altLang="zh-TW" sz="2400" dirty="0" smtClean="0"/>
              <a:t>10</a:t>
            </a:r>
          </a:p>
          <a:p>
            <a:r>
              <a:rPr lang="en-US" altLang="zh-TW" sz="2400" i="1" dirty="0" err="1" smtClean="0"/>
              <a:t>μ</a:t>
            </a:r>
            <a:r>
              <a:rPr lang="en-US" altLang="zh-TW" sz="2400" i="1" baseline="-25000" dirty="0" err="1" smtClean="0"/>
              <a:t>E</a:t>
            </a:r>
            <a:r>
              <a:rPr lang="en-US" altLang="zh-TW" sz="2400" dirty="0" smtClean="0"/>
              <a:t>=21</a:t>
            </a:r>
          </a:p>
          <a:p>
            <a:r>
              <a:rPr lang="el-GR" altLang="zh-TW" sz="2400" i="1" dirty="0"/>
              <a:t>γ</a:t>
            </a:r>
            <a:r>
              <a:rPr lang="en-US" altLang="zh-TW" sz="2400" i="1" baseline="-25000" dirty="0" smtClean="0"/>
              <a:t>E</a:t>
            </a:r>
            <a:r>
              <a:rPr lang="en-US" altLang="zh-TW" sz="2400" dirty="0" smtClean="0"/>
              <a:t>=11</a:t>
            </a:r>
            <a:endParaRPr lang="zh-TW" altLang="en-US" sz="2400" dirty="0"/>
          </a:p>
        </p:txBody>
      </p:sp>
      <p:sp>
        <p:nvSpPr>
          <p:cNvPr id="16" name="橢圓 15"/>
          <p:cNvSpPr/>
          <p:nvPr/>
        </p:nvSpPr>
        <p:spPr>
          <a:xfrm>
            <a:off x="3845876" y="2257396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17" name="橢圓 16"/>
          <p:cNvSpPr/>
          <p:nvPr/>
        </p:nvSpPr>
        <p:spPr>
          <a:xfrm>
            <a:off x="3485836" y="2934108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18" name="橢圓 17"/>
          <p:cNvSpPr/>
          <p:nvPr/>
        </p:nvSpPr>
        <p:spPr>
          <a:xfrm>
            <a:off x="4251560" y="2956884"/>
            <a:ext cx="360040" cy="288032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4</a:t>
            </a:r>
            <a:endParaRPr lang="zh-TW" altLang="en-US" dirty="0"/>
          </a:p>
        </p:txBody>
      </p:sp>
      <p:cxnSp>
        <p:nvCxnSpPr>
          <p:cNvPr id="19" name="直線接點 18"/>
          <p:cNvCxnSpPr>
            <a:stCxn id="16" idx="3"/>
            <a:endCxn id="17" idx="0"/>
          </p:cNvCxnSpPr>
          <p:nvPr/>
        </p:nvCxnSpPr>
        <p:spPr>
          <a:xfrm flipH="1">
            <a:off x="3665856" y="2503247"/>
            <a:ext cx="232747" cy="430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6" idx="5"/>
            <a:endCxn id="18" idx="0"/>
          </p:cNvCxnSpPr>
          <p:nvPr/>
        </p:nvCxnSpPr>
        <p:spPr>
          <a:xfrm>
            <a:off x="4153189" y="2503247"/>
            <a:ext cx="278391" cy="45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3208620" y="3516842"/>
            <a:ext cx="14788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zh-TW" sz="2400" i="1" dirty="0"/>
              <a:t>τ</a:t>
            </a:r>
            <a:r>
              <a:rPr lang="en-US" altLang="zh-TW" sz="2400" i="1" baseline="-25000" dirty="0" smtClean="0"/>
              <a:t>E</a:t>
            </a:r>
            <a:r>
              <a:rPr lang="en-US" altLang="zh-TW" sz="2400" i="1" dirty="0" smtClean="0"/>
              <a:t>=</a:t>
            </a:r>
            <a:r>
              <a:rPr lang="en-US" altLang="zh-TW" sz="2400" dirty="0" smtClean="0"/>
              <a:t>1010</a:t>
            </a:r>
          </a:p>
          <a:p>
            <a:r>
              <a:rPr lang="en-US" altLang="zh-TW" sz="2400" i="1" dirty="0" err="1" smtClean="0"/>
              <a:t>μ</a:t>
            </a:r>
            <a:r>
              <a:rPr lang="en-US" altLang="zh-TW" sz="2400" i="1" baseline="-25000" dirty="0" err="1" smtClean="0"/>
              <a:t>E</a:t>
            </a:r>
            <a:r>
              <a:rPr lang="en-US" altLang="zh-TW" sz="2400" dirty="0" smtClean="0"/>
              <a:t>=124</a:t>
            </a:r>
          </a:p>
          <a:p>
            <a:r>
              <a:rPr lang="el-GR" altLang="zh-TW" sz="2400" i="1" dirty="0"/>
              <a:t>γ</a:t>
            </a:r>
            <a:r>
              <a:rPr lang="en-US" altLang="zh-TW" sz="2400" i="1" baseline="-25000" dirty="0" smtClean="0"/>
              <a:t>E</a:t>
            </a:r>
            <a:r>
              <a:rPr lang="en-US" altLang="zh-TW" sz="2400" dirty="0" smtClean="0"/>
              <a:t>=111</a:t>
            </a:r>
            <a:endParaRPr lang="zh-TW" altLang="en-US" sz="2400" dirty="0"/>
          </a:p>
        </p:txBody>
      </p:sp>
      <p:sp>
        <p:nvSpPr>
          <p:cNvPr id="26" name="矩形 25"/>
          <p:cNvSpPr/>
          <p:nvPr/>
        </p:nvSpPr>
        <p:spPr>
          <a:xfrm>
            <a:off x="4839895" y="3516842"/>
            <a:ext cx="14788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zh-TW" sz="2400" i="1" dirty="0"/>
              <a:t>τ</a:t>
            </a:r>
            <a:r>
              <a:rPr lang="en-US" altLang="zh-TW" sz="2400" i="1" baseline="-25000" dirty="0" smtClean="0"/>
              <a:t>E</a:t>
            </a:r>
            <a:r>
              <a:rPr lang="en-US" altLang="zh-TW" sz="2400" i="1" dirty="0" smtClean="0"/>
              <a:t>=</a:t>
            </a:r>
            <a:r>
              <a:rPr lang="en-US" altLang="zh-TW" sz="2400" dirty="0" smtClean="0"/>
              <a:t>10</a:t>
            </a:r>
          </a:p>
          <a:p>
            <a:r>
              <a:rPr lang="en-US" altLang="zh-TW" sz="2400" i="1" dirty="0" err="1" smtClean="0"/>
              <a:t>μ</a:t>
            </a:r>
            <a:r>
              <a:rPr lang="en-US" altLang="zh-TW" sz="2400" i="1" baseline="-25000" dirty="0" err="1" smtClean="0"/>
              <a:t>E</a:t>
            </a:r>
            <a:r>
              <a:rPr lang="en-US" altLang="zh-TW" sz="2400" dirty="0" smtClean="0"/>
              <a:t>=27</a:t>
            </a:r>
          </a:p>
          <a:p>
            <a:r>
              <a:rPr lang="el-GR" altLang="zh-TW" sz="2400" i="1" dirty="0"/>
              <a:t>γ</a:t>
            </a:r>
            <a:r>
              <a:rPr lang="en-US" altLang="zh-TW" sz="2400" i="1" baseline="-25000" dirty="0" smtClean="0"/>
              <a:t>E</a:t>
            </a:r>
            <a:r>
              <a:rPr lang="en-US" altLang="zh-TW" sz="2400" dirty="0" smtClean="0"/>
              <a:t>=11</a:t>
            </a:r>
            <a:endParaRPr lang="zh-TW" altLang="en-US" sz="2400" dirty="0"/>
          </a:p>
        </p:txBody>
      </p:sp>
      <p:sp>
        <p:nvSpPr>
          <p:cNvPr id="27" name="橢圓 26"/>
          <p:cNvSpPr/>
          <p:nvPr/>
        </p:nvSpPr>
        <p:spPr>
          <a:xfrm>
            <a:off x="4998004" y="2942892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7</a:t>
            </a:r>
            <a:endParaRPr lang="zh-TW" altLang="en-US" dirty="0"/>
          </a:p>
        </p:txBody>
      </p:sp>
      <p:cxnSp>
        <p:nvCxnSpPr>
          <p:cNvPr id="28" name="直線接點 27"/>
          <p:cNvCxnSpPr>
            <a:stCxn id="29" idx="4"/>
            <a:endCxn id="27" idx="0"/>
          </p:cNvCxnSpPr>
          <p:nvPr/>
        </p:nvCxnSpPr>
        <p:spPr>
          <a:xfrm>
            <a:off x="5178024" y="2587609"/>
            <a:ext cx="0" cy="3552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橢圓 28"/>
          <p:cNvSpPr/>
          <p:nvPr/>
        </p:nvSpPr>
        <p:spPr>
          <a:xfrm>
            <a:off x="4998004" y="2299577"/>
            <a:ext cx="360040" cy="288032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2</a:t>
            </a:r>
            <a:endParaRPr lang="zh-TW" altLang="en-US" dirty="0">
              <a:solidFill>
                <a:schemeClr val="bg1"/>
              </a:solidFill>
            </a:endParaRPr>
          </a:p>
        </p:txBody>
      </p:sp>
      <p:cxnSp>
        <p:nvCxnSpPr>
          <p:cNvPr id="31" name="直線單箭頭接點 30"/>
          <p:cNvCxnSpPr>
            <a:stCxn id="29" idx="2"/>
            <a:endCxn id="16" idx="6"/>
          </p:cNvCxnSpPr>
          <p:nvPr/>
        </p:nvCxnSpPr>
        <p:spPr>
          <a:xfrm flipH="1" flipV="1">
            <a:off x="4205916" y="2401412"/>
            <a:ext cx="792088" cy="421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橢圓 32"/>
          <p:cNvSpPr/>
          <p:nvPr/>
        </p:nvSpPr>
        <p:spPr>
          <a:xfrm>
            <a:off x="6611954" y="2262054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4" name="橢圓 33"/>
          <p:cNvSpPr/>
          <p:nvPr/>
        </p:nvSpPr>
        <p:spPr>
          <a:xfrm>
            <a:off x="6251914" y="2938766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5" name="橢圓 34"/>
          <p:cNvSpPr/>
          <p:nvPr/>
        </p:nvSpPr>
        <p:spPr>
          <a:xfrm>
            <a:off x="7017638" y="2961542"/>
            <a:ext cx="360040" cy="288032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4</a:t>
            </a:r>
            <a:endParaRPr lang="zh-TW" altLang="en-US" dirty="0"/>
          </a:p>
        </p:txBody>
      </p:sp>
      <p:cxnSp>
        <p:nvCxnSpPr>
          <p:cNvPr id="36" name="直線接點 35"/>
          <p:cNvCxnSpPr>
            <a:stCxn id="33" idx="3"/>
            <a:endCxn id="34" idx="0"/>
          </p:cNvCxnSpPr>
          <p:nvPr/>
        </p:nvCxnSpPr>
        <p:spPr>
          <a:xfrm flipH="1">
            <a:off x="6431934" y="2507905"/>
            <a:ext cx="232747" cy="430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>
            <a:stCxn id="33" idx="5"/>
            <a:endCxn id="35" idx="0"/>
          </p:cNvCxnSpPr>
          <p:nvPr/>
        </p:nvCxnSpPr>
        <p:spPr>
          <a:xfrm>
            <a:off x="6919267" y="2507905"/>
            <a:ext cx="278391" cy="45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6344184" y="3489964"/>
            <a:ext cx="19722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zh-TW" sz="2400" i="1" dirty="0"/>
              <a:t>τ</a:t>
            </a:r>
            <a:r>
              <a:rPr lang="en-US" altLang="zh-TW" sz="2400" i="1" baseline="-25000" dirty="0" smtClean="0"/>
              <a:t>E</a:t>
            </a:r>
            <a:r>
              <a:rPr lang="en-US" altLang="zh-TW" sz="2400" i="1" dirty="0" smtClean="0"/>
              <a:t>=</a:t>
            </a:r>
            <a:r>
              <a:rPr lang="en-US" altLang="zh-TW" sz="2400" dirty="0" smtClean="0"/>
              <a:t>101010</a:t>
            </a:r>
          </a:p>
          <a:p>
            <a:r>
              <a:rPr lang="en-US" altLang="zh-TW" sz="2400" i="1" dirty="0" err="1" smtClean="0"/>
              <a:t>μ</a:t>
            </a:r>
            <a:r>
              <a:rPr lang="en-US" altLang="zh-TW" sz="2400" i="1" baseline="-25000" dirty="0" err="1" smtClean="0"/>
              <a:t>E</a:t>
            </a:r>
            <a:r>
              <a:rPr lang="en-US" altLang="zh-TW" sz="2400" dirty="0" smtClean="0"/>
              <a:t>=1243</a:t>
            </a:r>
          </a:p>
          <a:p>
            <a:r>
              <a:rPr lang="el-GR" altLang="zh-TW" sz="2400" i="1" dirty="0"/>
              <a:t>γ</a:t>
            </a:r>
            <a:r>
              <a:rPr lang="en-US" altLang="zh-TW" sz="2400" i="1" baseline="-25000" dirty="0" smtClean="0"/>
              <a:t>E</a:t>
            </a:r>
            <a:r>
              <a:rPr lang="en-US" altLang="zh-TW" sz="2400" dirty="0" smtClean="0"/>
              <a:t>=1111</a:t>
            </a:r>
            <a:endParaRPr lang="zh-TW" altLang="en-US" sz="2400" dirty="0"/>
          </a:p>
        </p:txBody>
      </p:sp>
      <p:sp>
        <p:nvSpPr>
          <p:cNvPr id="40" name="橢圓 39"/>
          <p:cNvSpPr/>
          <p:nvPr/>
        </p:nvSpPr>
        <p:spPr>
          <a:xfrm>
            <a:off x="7764082" y="2947550"/>
            <a:ext cx="360040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41" name="直線接點 40"/>
          <p:cNvCxnSpPr>
            <a:stCxn id="33" idx="6"/>
            <a:endCxn id="40" idx="0"/>
          </p:cNvCxnSpPr>
          <p:nvPr/>
        </p:nvCxnSpPr>
        <p:spPr>
          <a:xfrm>
            <a:off x="6971994" y="2406070"/>
            <a:ext cx="972108" cy="541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555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/>
                  <a:t>L</a:t>
                </a:r>
                <a:r>
                  <a:rPr lang="en-US" altLang="zh-TW" dirty="0" smtClean="0"/>
                  <a:t>evels </a:t>
                </a:r>
                <a:r>
                  <a:rPr lang="en-US" altLang="zh-TW" i="1" dirty="0"/>
                  <a:t>a </a:t>
                </a:r>
                <a:r>
                  <a:rPr lang="en-US" altLang="zh-TW" dirty="0"/>
                  <a:t>+ 1</a:t>
                </a:r>
                <a:r>
                  <a:rPr lang="en-US" altLang="zh-TW" i="1" dirty="0"/>
                  <a:t>, ..., b </a:t>
                </a:r>
                <a:r>
                  <a:rPr lang="en-US" altLang="zh-TW" dirty="0"/>
                  <a:t>where </a:t>
                </a:r>
                <a:r>
                  <a:rPr lang="en-US" altLang="zh-TW" i="1" dirty="0" smtClean="0"/>
                  <a:t>b </a:t>
                </a:r>
                <a:r>
                  <a:rPr lang="en-US" altLang="zh-TW" dirty="0" smtClean="0"/>
                  <a:t>is </a:t>
                </a:r>
                <a:r>
                  <a:rPr lang="en-US" altLang="zh-TW" dirty="0"/>
                  <a:t>such that 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b</a:t>
                </a:r>
                <a:r>
                  <a:rPr lang="en-US" altLang="zh-TW" i="1" dirty="0"/>
                  <a:t> </a:t>
                </a:r>
                <a:r>
                  <a:rPr lang="en-US" altLang="zh-TW" dirty="0" smtClean="0"/>
                  <a:t>≤</a:t>
                </a:r>
                <a:r>
                  <a:rPr lang="en-US" altLang="zh-TW" i="1" dirty="0" smtClean="0"/>
                  <a:t> </a:t>
                </a:r>
                <a:r>
                  <a:rPr lang="en-US" altLang="zh-TW" dirty="0" smtClean="0"/>
                  <a:t>(log 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)</a:t>
                </a:r>
                <a:r>
                  <a:rPr lang="en-US" altLang="zh-TW" baseline="30000" dirty="0" smtClean="0"/>
                  <a:t>log </a:t>
                </a:r>
                <a:r>
                  <a:rPr lang="en-US" altLang="zh-TW" baseline="30000" dirty="0"/>
                  <a:t>log </a:t>
                </a:r>
                <a:r>
                  <a:rPr lang="en-US" altLang="zh-TW" i="1" baseline="30000" dirty="0"/>
                  <a:t>n</a:t>
                </a:r>
                <a:r>
                  <a:rPr lang="en-US" altLang="zh-TW" i="1" dirty="0"/>
                  <a:t> &lt; </a:t>
                </a:r>
                <a:r>
                  <a:rPr lang="en-US" altLang="zh-TW" i="1" dirty="0" smtClean="0"/>
                  <a:t>n</a:t>
                </a:r>
                <a:r>
                  <a:rPr lang="en-US" altLang="zh-TW" i="1" baseline="-25000" dirty="0" smtClean="0"/>
                  <a:t>b</a:t>
                </a:r>
                <a:r>
                  <a:rPr lang="en-US" altLang="zh-TW" baseline="-25000" dirty="0" smtClean="0"/>
                  <a:t>+1</a:t>
                </a:r>
                <a:r>
                  <a:rPr lang="en-US" altLang="zh-TW" dirty="0" smtClean="0"/>
                  <a:t>, set </a:t>
                </a:r>
                <a:r>
                  <a:rPr lang="en-US" altLang="zh-TW" i="1" dirty="0" smtClean="0"/>
                  <a:t>q</a:t>
                </a:r>
                <a:r>
                  <a:rPr lang="en-US" altLang="zh-TW" dirty="0" smtClean="0"/>
                  <a:t>=</a:t>
                </a:r>
                <a:r>
                  <a:rPr lang="en-US" altLang="zh-TW" i="1" dirty="0" smtClean="0"/>
                  <a:t>b</a:t>
                </a:r>
                <a:r>
                  <a:rPr lang="en-US" altLang="zh-TW" dirty="0" smtClean="0"/>
                  <a:t>-</a:t>
                </a:r>
                <a:r>
                  <a:rPr lang="en-US" altLang="zh-TW" i="1" dirty="0" smtClean="0"/>
                  <a:t>a </a:t>
                </a:r>
                <a:r>
                  <a:rPr lang="en-US" altLang="zh-TW" dirty="0" smtClean="0"/>
                  <a:t>(height of the middle level)</a:t>
                </a:r>
              </a:p>
              <a:p>
                <a:r>
                  <a:rPr lang="pl-PL" altLang="zh-TW" dirty="0" smtClean="0"/>
                  <a:t>Since </a:t>
                </a:r>
                <a:r>
                  <a:rPr lang="pl-PL" altLang="zh-TW" i="1" dirty="0"/>
                  <a:t>n</a:t>
                </a:r>
                <a:r>
                  <a:rPr lang="pl-PL" altLang="zh-TW" i="1" baseline="-25000" dirty="0"/>
                  <a:t>i</a:t>
                </a:r>
                <a:r>
                  <a:rPr lang="pl-PL" altLang="zh-TW" baseline="-25000" dirty="0"/>
                  <a:t>+1</a:t>
                </a:r>
                <a:r>
                  <a:rPr lang="pl-PL" altLang="zh-TW" dirty="0"/>
                  <a:t> &gt;</a:t>
                </a:r>
                <a:r>
                  <a:rPr lang="pl-PL" altLang="zh-TW" i="1" dirty="0"/>
                  <a:t> </a:t>
                </a:r>
                <a:r>
                  <a:rPr lang="pl-PL" altLang="zh-TW" dirty="0"/>
                  <a:t>19</a:t>
                </a:r>
                <a:r>
                  <a:rPr lang="pl-PL" altLang="zh-TW" i="1" dirty="0"/>
                  <a:t>n</a:t>
                </a:r>
                <a:r>
                  <a:rPr lang="pl-PL" altLang="zh-TW" i="1" baseline="-25000" dirty="0"/>
                  <a:t>i</a:t>
                </a:r>
                <a:r>
                  <a:rPr lang="pl-PL" altLang="zh-TW" dirty="0"/>
                  <a:t>, </a:t>
                </a:r>
                <a:r>
                  <a:rPr lang="pl-PL" altLang="zh-TW" i="1" dirty="0"/>
                  <a:t>q </a:t>
                </a:r>
                <a:r>
                  <a:rPr lang="pl-PL" altLang="zh-TW" dirty="0"/>
                  <a:t>&lt;</a:t>
                </a:r>
                <a:r>
                  <a:rPr lang="pl-PL" altLang="zh-TW" i="1" dirty="0"/>
                  <a:t> </a:t>
                </a:r>
                <a:r>
                  <a:rPr lang="pl-PL" altLang="zh-TW" dirty="0"/>
                  <a:t>log</a:t>
                </a:r>
                <a:r>
                  <a:rPr lang="pl-PL" altLang="zh-TW" baseline="-25000" dirty="0"/>
                  <a:t>19</a:t>
                </a:r>
                <a:r>
                  <a:rPr lang="pl-PL" altLang="zh-TW" dirty="0"/>
                  <a:t>(</a:t>
                </a:r>
                <a:r>
                  <a:rPr lang="pl-PL" altLang="zh-TW" i="1" dirty="0"/>
                  <a:t>n</a:t>
                </a:r>
                <a:r>
                  <a:rPr lang="pl-PL" altLang="zh-TW" i="1" baseline="-25000" dirty="0"/>
                  <a:t>b</a:t>
                </a:r>
                <a:r>
                  <a:rPr lang="pl-PL" altLang="zh-TW" i="1" dirty="0"/>
                  <a:t>/n</a:t>
                </a:r>
                <a:r>
                  <a:rPr lang="pl-PL" altLang="zh-TW" i="1" baseline="-25000" dirty="0"/>
                  <a:t>a</a:t>
                </a:r>
                <a:r>
                  <a:rPr lang="pl-PL" altLang="zh-TW" dirty="0"/>
                  <a:t>) &lt;</a:t>
                </a:r>
                <a:r>
                  <a:rPr lang="pl-PL" altLang="zh-TW" i="1" dirty="0"/>
                  <a:t> </a:t>
                </a:r>
                <a:r>
                  <a:rPr lang="pl-PL" altLang="zh-TW" dirty="0"/>
                  <a:t>(log log </a:t>
                </a:r>
                <a:r>
                  <a:rPr lang="pl-PL" altLang="zh-TW" i="1" dirty="0" smtClean="0"/>
                  <a:t>n</a:t>
                </a:r>
                <a:r>
                  <a:rPr lang="pl-PL" altLang="zh-TW" dirty="0" smtClean="0"/>
                  <a:t>)</a:t>
                </a:r>
                <a:r>
                  <a:rPr lang="pl-PL" altLang="zh-TW" baseline="30000" dirty="0" smtClean="0"/>
                  <a:t>2</a:t>
                </a:r>
                <a:r>
                  <a:rPr lang="pl-PL" altLang="zh-TW" dirty="0" smtClean="0"/>
                  <a:t>.</a:t>
                </a:r>
                <a:r>
                  <a:rPr lang="en-US" altLang="zh-TW" dirty="0" smtClean="0"/>
                  <a:t> On </a:t>
                </a:r>
                <a:r>
                  <a:rPr lang="en-US" altLang="zh-TW" dirty="0"/>
                  <a:t>the other hand, 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i="1" dirty="0"/>
                  <a:t> </a:t>
                </a:r>
                <a:r>
                  <a:rPr lang="en-US" altLang="zh-TW" dirty="0" smtClean="0"/>
                  <a:t>≥</a:t>
                </a:r>
                <a:r>
                  <a:rPr lang="en-US" altLang="zh-TW" i="1" dirty="0" smtClean="0"/>
                  <a:t> </a:t>
                </a:r>
                <a:r>
                  <a:rPr lang="en-US" altLang="zh-TW" i="1" dirty="0"/>
                  <a:t>n</a:t>
                </a:r>
                <a:r>
                  <a:rPr lang="en-US" altLang="zh-TW" i="1" baseline="-25000" dirty="0"/>
                  <a:t>a</a:t>
                </a:r>
                <a:r>
                  <a:rPr lang="en-US" altLang="zh-TW" baseline="-25000" dirty="0"/>
                  <a:t>+1</a:t>
                </a:r>
                <a:r>
                  <a:rPr lang="en-US" altLang="zh-TW" dirty="0"/>
                  <a:t> &gt;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latin typeface="Cambria Math"/>
                          </a:rPr>
                        </m:ctrlPr>
                      </m:radPr>
                      <m:deg/>
                      <m:e>
                        <m:func>
                          <m:func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𝑛</m:t>
                            </m:r>
                          </m:e>
                        </m:func>
                      </m:e>
                    </m:rad>
                  </m:oMath>
                </a14:m>
                <a:r>
                  <a:rPr lang="pt-BR" altLang="zh-TW" dirty="0"/>
                  <a:t>, so </a:t>
                </a:r>
                <a:r>
                  <a:rPr lang="pt-BR" altLang="zh-TW" i="1" dirty="0"/>
                  <a:t>q </a:t>
                </a:r>
                <a:r>
                  <a:rPr lang="pt-BR" altLang="zh-TW" dirty="0"/>
                  <a:t>= </a:t>
                </a:r>
                <a:r>
                  <a:rPr lang="pt-BR" altLang="zh-TW" i="1" dirty="0" smtClean="0"/>
                  <a:t>o</a:t>
                </a:r>
                <a:r>
                  <a:rPr lang="pt-BR" altLang="zh-TW" dirty="0" smtClean="0"/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latin typeface="Cambria Math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altLang="zh-TW" dirty="0" smtClean="0"/>
                  <a:t>).</a:t>
                </a:r>
              </a:p>
              <a:p>
                <a:r>
                  <a:rPr lang="en-US" altLang="zh-TW" dirty="0"/>
                  <a:t>Each level </a:t>
                </a:r>
                <a:r>
                  <a:rPr lang="en-US" altLang="zh-TW" i="1" dirty="0"/>
                  <a:t>a </a:t>
                </a:r>
                <a:r>
                  <a:rPr lang="en-US" altLang="zh-TW" dirty="0"/>
                  <a:t>+ 1 node </a:t>
                </a:r>
                <a:r>
                  <a:rPr lang="en-US" altLang="zh-TW" i="1" dirty="0"/>
                  <a:t>v </a:t>
                </a:r>
                <a:r>
                  <a:rPr lang="en-US" altLang="zh-TW" dirty="0"/>
                  <a:t>has a </a:t>
                </a:r>
                <a:r>
                  <a:rPr lang="en-US" altLang="zh-TW" dirty="0">
                    <a:solidFill>
                      <a:srgbClr val="0070C0"/>
                    </a:solidFill>
                  </a:rPr>
                  <a:t>counter</a:t>
                </a:r>
                <a:r>
                  <a:rPr lang="en-US" altLang="zh-TW" dirty="0"/>
                  <a:t> that is incremented every time we have a </a:t>
                </a:r>
                <a:r>
                  <a:rPr lang="en-US" altLang="zh-TW" dirty="0" smtClean="0"/>
                  <a:t>leaf update </a:t>
                </a:r>
                <a:r>
                  <a:rPr lang="en-US" altLang="zh-TW" dirty="0"/>
                  <a:t>below </a:t>
                </a:r>
                <a:r>
                  <a:rPr lang="en-US" altLang="zh-TW" i="1" dirty="0"/>
                  <a:t>v</a:t>
                </a:r>
                <a:r>
                  <a:rPr lang="en-US" altLang="zh-TW" dirty="0" smtClean="0"/>
                  <a:t>.</a:t>
                </a:r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2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80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Middle Level Updates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60615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Lemma 30</a:t>
            </a:r>
          </a:p>
          <a:p>
            <a:r>
              <a:rPr lang="en-US" altLang="zh-TW" dirty="0" smtClean="0"/>
              <a:t>Given </a:t>
            </a:r>
            <a:r>
              <a:rPr lang="en-US" altLang="zh-TW" dirty="0"/>
              <a:t>p counters, all starting at zero, and an adversary incrementing </a:t>
            </a:r>
            <a:r>
              <a:rPr lang="en-US" altLang="zh-TW" dirty="0" smtClean="0"/>
              <a:t>these counters </a:t>
            </a:r>
            <a:r>
              <a:rPr lang="en-US" altLang="zh-TW" dirty="0"/>
              <a:t>arbitrarily. </a:t>
            </a:r>
            <a:endParaRPr lang="en-US" altLang="zh-TW" dirty="0" smtClean="0"/>
          </a:p>
          <a:p>
            <a:r>
              <a:rPr lang="en-US" altLang="zh-TW" dirty="0" smtClean="0"/>
              <a:t>Every </a:t>
            </a:r>
            <a:r>
              <a:rPr lang="en-US" altLang="zh-TW" dirty="0"/>
              <a:t>time the adversary has made </a:t>
            </a:r>
            <a:r>
              <a:rPr lang="en-US" altLang="zh-TW" i="1" dirty="0"/>
              <a:t>q</a:t>
            </a:r>
            <a:r>
              <a:rPr lang="en-US" altLang="zh-TW" dirty="0"/>
              <a:t> increments, the increments </a:t>
            </a:r>
            <a:r>
              <a:rPr lang="en-US" altLang="zh-TW" dirty="0" smtClean="0"/>
              <a:t>being by </a:t>
            </a:r>
            <a:r>
              <a:rPr lang="en-US" altLang="zh-TW" dirty="0"/>
              <a:t>one at the time, we subtract </a:t>
            </a:r>
            <a:r>
              <a:rPr lang="en-US" altLang="zh-TW" i="1" dirty="0"/>
              <a:t>q</a:t>
            </a:r>
            <a:r>
              <a:rPr lang="en-US" altLang="zh-TW" dirty="0"/>
              <a:t> from some largest counter, or set it to zero if it is below </a:t>
            </a:r>
            <a:r>
              <a:rPr lang="en-US" altLang="zh-TW" i="1" dirty="0" smtClean="0"/>
              <a:t>q</a:t>
            </a:r>
            <a:r>
              <a:rPr lang="en-US" altLang="zh-TW" dirty="0" smtClean="0"/>
              <a:t>. </a:t>
            </a:r>
          </a:p>
          <a:p>
            <a:r>
              <a:rPr lang="en-US" altLang="zh-TW" dirty="0" smtClean="0"/>
              <a:t>Then </a:t>
            </a:r>
            <a:r>
              <a:rPr lang="en-US" altLang="zh-TW" dirty="0"/>
              <a:t>the largest possible counter value is </a:t>
            </a:r>
            <a:r>
              <a:rPr lang="el-GR" altLang="zh-TW" dirty="0" smtClean="0"/>
              <a:t>Θ</a:t>
            </a:r>
            <a:r>
              <a:rPr lang="en-US" altLang="zh-TW" dirty="0" smtClean="0"/>
              <a:t>(q </a:t>
            </a:r>
            <a:r>
              <a:rPr lang="en-US" altLang="zh-TW" dirty="0"/>
              <a:t>log p).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81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Counter Game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1920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Spending constant time per counter </a:t>
            </a:r>
            <a:r>
              <a:rPr lang="en-US" altLang="zh-TW" dirty="0" smtClean="0"/>
              <a:t>increment, </a:t>
            </a:r>
            <a:r>
              <a:rPr lang="en-US" altLang="zh-TW" dirty="0"/>
              <a:t>the largest </a:t>
            </a:r>
            <a:r>
              <a:rPr lang="en-US" altLang="zh-TW" dirty="0" smtClean="0"/>
              <a:t>counter to </a:t>
            </a:r>
            <a:r>
              <a:rPr lang="en-US" altLang="zh-TW" dirty="0"/>
              <a:t>be reduced can be found in constant time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We simply maintain a </a:t>
            </a:r>
            <a:r>
              <a:rPr lang="en-US" altLang="zh-TW" dirty="0">
                <a:solidFill>
                  <a:srgbClr val="0070C0"/>
                </a:solidFill>
              </a:rPr>
              <a:t>doubly linked sorted list of counter values</a:t>
            </a:r>
            <a:r>
              <a:rPr lang="en-US" altLang="zh-TW" dirty="0"/>
              <a:t>, and with each </a:t>
            </a:r>
            <a:r>
              <a:rPr lang="en-US" altLang="zh-TW" dirty="0" smtClean="0"/>
              <a:t>value</a:t>
            </a:r>
            <a:r>
              <a:rPr lang="zh-TW" altLang="en-US" dirty="0" smtClean="0"/>
              <a:t> </a:t>
            </a:r>
            <a:r>
              <a:rPr lang="en-US" altLang="zh-TW" dirty="0" smtClean="0"/>
              <a:t>we </a:t>
            </a:r>
            <a:r>
              <a:rPr lang="en-US" altLang="zh-TW" dirty="0"/>
              <a:t>have a bucket containing the counters with that value.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82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Lemma 31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06155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We make an independent schedule for the </a:t>
            </a:r>
            <a:r>
              <a:rPr lang="en-US" altLang="zh-TW" dirty="0" err="1"/>
              <a:t>subtree</a:t>
            </a:r>
            <a:r>
              <a:rPr lang="en-US" altLang="zh-TW" dirty="0"/>
              <a:t> descending from each level </a:t>
            </a:r>
            <a:r>
              <a:rPr lang="en-US" altLang="zh-TW" i="1" dirty="0"/>
              <a:t>b </a:t>
            </a:r>
            <a:r>
              <a:rPr lang="en-US" altLang="zh-TW" dirty="0"/>
              <a:t>node </a:t>
            </a:r>
            <a:r>
              <a:rPr lang="en-US" altLang="zh-TW" i="1" dirty="0"/>
              <a:t>u</a:t>
            </a:r>
            <a:r>
              <a:rPr lang="en-US" altLang="zh-TW" dirty="0"/>
              <a:t>. </a:t>
            </a:r>
          </a:p>
          <a:p>
            <a:r>
              <a:rPr lang="en-US" altLang="zh-TW" dirty="0"/>
              <a:t>Once for every </a:t>
            </a:r>
            <a:r>
              <a:rPr lang="en-US" altLang="zh-TW" i="1" dirty="0"/>
              <a:t>q </a:t>
            </a:r>
            <a:r>
              <a:rPr lang="en-US" altLang="zh-TW" dirty="0"/>
              <a:t>updates below </a:t>
            </a:r>
            <a:r>
              <a:rPr lang="en-US" altLang="zh-TW" i="1" dirty="0"/>
              <a:t>u</a:t>
            </a:r>
            <a:r>
              <a:rPr lang="en-US" altLang="zh-TW" dirty="0"/>
              <a:t>, we pick a descending level </a:t>
            </a:r>
            <a:r>
              <a:rPr lang="en-US" altLang="zh-TW" i="1" dirty="0" err="1">
                <a:solidFill>
                  <a:srgbClr val="0070C0"/>
                </a:solidFill>
              </a:rPr>
              <a:t>i</a:t>
            </a:r>
            <a:r>
              <a:rPr lang="en-US" altLang="zh-TW" i="1" dirty="0"/>
              <a:t> </a:t>
            </a:r>
            <a:r>
              <a:rPr lang="en-US" altLang="zh-TW" dirty="0"/>
              <a:t>node with the largest </a:t>
            </a:r>
            <a:r>
              <a:rPr lang="en-US" altLang="zh-TW" dirty="0">
                <a:solidFill>
                  <a:srgbClr val="0070C0"/>
                </a:solidFill>
              </a:rPr>
              <a:t>counter</a:t>
            </a:r>
            <a:r>
              <a:rPr lang="en-US" altLang="zh-TW" dirty="0"/>
              <a:t>, do a local update at </a:t>
            </a:r>
            <a:r>
              <a:rPr lang="en-US" altLang="zh-TW" i="1" dirty="0"/>
              <a:t>v</a:t>
            </a:r>
            <a:r>
              <a:rPr lang="en-US" altLang="zh-TW" dirty="0"/>
              <a:t>, and subtract </a:t>
            </a:r>
            <a:r>
              <a:rPr lang="en-US" altLang="zh-TW" i="1" dirty="0"/>
              <a:t>q </a:t>
            </a:r>
            <a:r>
              <a:rPr lang="en-US" altLang="zh-TW" dirty="0"/>
              <a:t>from the counter. </a:t>
            </a:r>
          </a:p>
          <a:p>
            <a:r>
              <a:rPr lang="en-US" altLang="zh-TW" dirty="0"/>
              <a:t>During the next </a:t>
            </a:r>
            <a:r>
              <a:rPr lang="en-US" altLang="zh-TW" i="1" dirty="0"/>
              <a:t>q −</a:t>
            </a:r>
            <a:r>
              <a:rPr lang="en-US" altLang="zh-TW" dirty="0"/>
              <a:t>1 leaf updates below </a:t>
            </a:r>
            <a:r>
              <a:rPr lang="en-US" altLang="zh-TW" i="1" dirty="0"/>
              <a:t>u</a:t>
            </a:r>
            <a:r>
              <a:rPr lang="en-US" altLang="zh-TW" dirty="0"/>
              <a:t>, we follow the path up from </a:t>
            </a:r>
            <a:r>
              <a:rPr lang="en-US" altLang="zh-TW" i="1" dirty="0"/>
              <a:t>v </a:t>
            </a:r>
            <a:r>
              <a:rPr lang="en-US" altLang="zh-TW" dirty="0"/>
              <a:t>to </a:t>
            </a:r>
            <a:r>
              <a:rPr lang="en-US" altLang="zh-TW" i="1" dirty="0"/>
              <a:t>u</a:t>
            </a:r>
            <a:r>
              <a:rPr lang="en-US" altLang="zh-TW" dirty="0"/>
              <a:t>, doing a local update at each node on the way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83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Middle-Level </a:t>
            </a:r>
            <a:r>
              <a:rPr lang="en-US" altLang="zh-TW" dirty="0"/>
              <a:t>Updates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7707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largest counter below </a:t>
            </a:r>
            <a:r>
              <a:rPr lang="en-US" altLang="zh-TW" i="1" dirty="0"/>
              <a:t>u </a:t>
            </a:r>
            <a:r>
              <a:rPr lang="en-US" altLang="zh-TW" dirty="0"/>
              <a:t>is maintained as described in Lemma 31.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number </a:t>
            </a:r>
            <a:r>
              <a:rPr lang="en-US" altLang="zh-TW" dirty="0" smtClean="0"/>
              <a:t>of counters </a:t>
            </a:r>
            <a:r>
              <a:rPr lang="en-US" altLang="zh-TW" dirty="0"/>
              <a:t>below </a:t>
            </a:r>
            <a:r>
              <a:rPr lang="en-US" altLang="zh-TW" i="1" dirty="0"/>
              <a:t>u </a:t>
            </a:r>
            <a:r>
              <a:rPr lang="en-US" altLang="zh-TW" dirty="0"/>
              <a:t>is at most </a:t>
            </a:r>
            <a:r>
              <a:rPr lang="en-US" altLang="zh-TW" i="1" dirty="0"/>
              <a:t>p </a:t>
            </a:r>
            <a:r>
              <a:rPr lang="en-US" altLang="zh-TW" dirty="0"/>
              <a:t>= 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b</a:t>
            </a:r>
            <a:r>
              <a:rPr lang="en-US" altLang="zh-TW" i="1" dirty="0"/>
              <a:t>/</a:t>
            </a:r>
            <a:r>
              <a:rPr lang="en-US" altLang="zh-TW" dirty="0"/>
              <a:t>(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a</a:t>
            </a:r>
            <a:r>
              <a:rPr lang="en-US" altLang="zh-TW" i="1" dirty="0"/>
              <a:t>/</a:t>
            </a:r>
            <a:r>
              <a:rPr lang="en-US" altLang="zh-TW" dirty="0"/>
              <a:t>4), so by Lemma 30, the maximal counter value </a:t>
            </a:r>
            <a:r>
              <a:rPr lang="en-US" altLang="zh-TW" dirty="0" smtClean="0"/>
              <a:t>is </a:t>
            </a:r>
            <a:r>
              <a:rPr lang="pt-BR" altLang="zh-TW" i="1" dirty="0" smtClean="0"/>
              <a:t>O</a:t>
            </a:r>
            <a:r>
              <a:rPr lang="pt-BR" altLang="zh-TW" dirty="0" smtClean="0"/>
              <a:t>(</a:t>
            </a:r>
            <a:r>
              <a:rPr lang="pt-BR" altLang="zh-TW" i="1" dirty="0" smtClean="0"/>
              <a:t>q </a:t>
            </a:r>
            <a:r>
              <a:rPr lang="pt-BR" altLang="zh-TW" dirty="0"/>
              <a:t>log </a:t>
            </a:r>
            <a:r>
              <a:rPr lang="pt-BR" altLang="zh-TW" i="1" dirty="0"/>
              <a:t>p</a:t>
            </a:r>
            <a:r>
              <a:rPr lang="pt-BR" altLang="zh-TW" dirty="0"/>
              <a:t>) = </a:t>
            </a:r>
            <a:r>
              <a:rPr lang="pt-BR" altLang="zh-TW" i="1" dirty="0"/>
              <a:t>O</a:t>
            </a:r>
            <a:r>
              <a:rPr lang="pt-BR" altLang="zh-TW" dirty="0"/>
              <a:t>((log </a:t>
            </a:r>
            <a:r>
              <a:rPr lang="pt-BR" altLang="zh-TW" i="1" dirty="0"/>
              <a:t>n</a:t>
            </a:r>
            <a:r>
              <a:rPr lang="pt-BR" altLang="zh-TW" i="1" baseline="-25000" dirty="0"/>
              <a:t>b</a:t>
            </a:r>
            <a:r>
              <a:rPr lang="pt-BR" altLang="zh-TW" dirty="0"/>
              <a:t>)</a:t>
            </a:r>
            <a:r>
              <a:rPr lang="pt-BR" altLang="zh-TW" baseline="30000" dirty="0"/>
              <a:t>2</a:t>
            </a:r>
            <a:r>
              <a:rPr lang="pt-BR" altLang="zh-TW" dirty="0"/>
              <a:t>) = </a:t>
            </a:r>
            <a:r>
              <a:rPr lang="pt-BR" altLang="zh-TW" i="1" dirty="0"/>
              <a:t>O</a:t>
            </a:r>
            <a:r>
              <a:rPr lang="pt-BR" altLang="zh-TW" dirty="0"/>
              <a:t>((log log </a:t>
            </a:r>
            <a:r>
              <a:rPr lang="pt-BR" altLang="zh-TW" i="1" dirty="0"/>
              <a:t>n</a:t>
            </a:r>
            <a:r>
              <a:rPr lang="pt-BR" altLang="zh-TW" dirty="0"/>
              <a:t>)</a:t>
            </a:r>
            <a:r>
              <a:rPr lang="pt-BR" altLang="zh-TW" baseline="30000" dirty="0"/>
              <a:t>4</a:t>
            </a:r>
            <a:r>
              <a:rPr lang="pt-BR" altLang="zh-TW" dirty="0" smtClean="0"/>
              <a:t>).</a:t>
            </a:r>
          </a:p>
          <a:p>
            <a:r>
              <a:rPr lang="en-US" altLang="zh-TW" dirty="0"/>
              <a:t>C</a:t>
            </a:r>
            <a:r>
              <a:rPr lang="en-US" altLang="zh-TW" dirty="0" smtClean="0"/>
              <a:t>onsider </a:t>
            </a:r>
            <a:r>
              <a:rPr lang="en-US" altLang="zh-TW" dirty="0"/>
              <a:t>a level </a:t>
            </a:r>
            <a:r>
              <a:rPr lang="en-US" altLang="zh-TW" i="1" dirty="0" err="1"/>
              <a:t>i</a:t>
            </a:r>
            <a:r>
              <a:rPr lang="en-US" altLang="zh-TW" i="1" dirty="0"/>
              <a:t> </a:t>
            </a:r>
            <a:r>
              <a:rPr lang="en-US" altLang="zh-TW" dirty="0"/>
              <a:t>node </a:t>
            </a:r>
            <a:r>
              <a:rPr lang="en-US" altLang="zh-TW" i="1" dirty="0"/>
              <a:t>w</a:t>
            </a:r>
            <a:r>
              <a:rPr lang="en-US" altLang="zh-TW" dirty="0"/>
              <a:t>. The maximal number of </a:t>
            </a:r>
            <a:r>
              <a:rPr lang="en-US" altLang="zh-TW" dirty="0" smtClean="0"/>
              <a:t>counters below </a:t>
            </a:r>
            <a:r>
              <a:rPr lang="en-US" altLang="zh-TW" i="1" dirty="0"/>
              <a:t>w </a:t>
            </a:r>
            <a:r>
              <a:rPr lang="en-US" altLang="zh-TW" dirty="0"/>
              <a:t>is 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i</a:t>
            </a:r>
            <a:r>
              <a:rPr lang="en-US" altLang="zh-TW" i="1" dirty="0"/>
              <a:t>/</a:t>
            </a:r>
            <a:r>
              <a:rPr lang="en-US" altLang="zh-TW" dirty="0"/>
              <a:t>(4</a:t>
            </a:r>
            <a:r>
              <a:rPr lang="en-US" altLang="zh-TW" i="1" dirty="0"/>
              <a:t>n</a:t>
            </a:r>
            <a:r>
              <a:rPr lang="en-US" altLang="zh-TW" i="1" baseline="-25000" dirty="0"/>
              <a:t>a</a:t>
            </a:r>
            <a:r>
              <a:rPr lang="en-US" altLang="zh-TW" baseline="-25000" dirty="0"/>
              <a:t>+1</a:t>
            </a:r>
            <a:r>
              <a:rPr lang="en-US" altLang="zh-TW" dirty="0"/>
              <a:t>), so their total value is at most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84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Middle-Level </a:t>
            </a:r>
            <a:r>
              <a:rPr lang="en-US" altLang="zh-TW" dirty="0"/>
              <a:t>Updates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5373216"/>
            <a:ext cx="7376160" cy="434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147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TW" dirty="0"/>
                  <a:t>One simplification is that we have only one tree induced by levels </a:t>
                </a:r>
                <a:r>
                  <a:rPr lang="en-US" altLang="zh-TW" dirty="0" smtClean="0"/>
                  <a:t>above </a:t>
                </a:r>
                <a:r>
                  <a:rPr lang="en-US" altLang="zh-TW" i="1" dirty="0" smtClean="0"/>
                  <a:t>b</a:t>
                </a:r>
                <a:r>
                  <a:rPr lang="en-US" altLang="zh-TW" dirty="0"/>
                  <a:t>. </a:t>
                </a:r>
                <a:endParaRPr lang="en-US" altLang="zh-TW" dirty="0" smtClean="0"/>
              </a:p>
              <a:p>
                <a:r>
                  <a:rPr lang="en-US" altLang="zh-TW" dirty="0" smtClean="0"/>
                  <a:t>Consequently</a:t>
                </a:r>
                <a:r>
                  <a:rPr lang="en-US" altLang="zh-TW" dirty="0"/>
                  <a:t>, we have only one priority queue over all counters on level </a:t>
                </a:r>
                <a:r>
                  <a:rPr lang="en-US" altLang="zh-TW" i="1" dirty="0"/>
                  <a:t>b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the number </a:t>
                </a:r>
                <a:r>
                  <a:rPr lang="en-US" altLang="zh-TW" i="1" dirty="0" smtClean="0"/>
                  <a:t>q’ </a:t>
                </a:r>
                <a:r>
                  <a:rPr lang="en-US" altLang="zh-TW" dirty="0"/>
                  <a:t>of levels is log</a:t>
                </a:r>
                <a:r>
                  <a:rPr lang="en-US" altLang="zh-TW" baseline="-25000" dirty="0"/>
                  <a:t>19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n/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b</a:t>
                </a:r>
                <a:r>
                  <a:rPr lang="en-US" altLang="zh-TW" dirty="0"/>
                  <a:t>) &lt;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log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. </a:t>
                </a:r>
              </a:p>
              <a:p>
                <a:r>
                  <a:rPr lang="en-US" altLang="zh-TW" dirty="0" smtClean="0"/>
                  <a:t>For </a:t>
                </a:r>
                <a:r>
                  <a:rPr lang="pt-BR" altLang="zh-TW" i="1" dirty="0" smtClean="0"/>
                  <a:t>i </a:t>
                </a:r>
                <a:r>
                  <a:rPr lang="pt-BR" altLang="zh-TW" dirty="0"/>
                  <a:t>&gt;</a:t>
                </a:r>
                <a:r>
                  <a:rPr lang="pt-BR" altLang="zh-TW" i="1" dirty="0"/>
                  <a:t> b</a:t>
                </a:r>
                <a:r>
                  <a:rPr lang="pt-BR" altLang="zh-TW" dirty="0"/>
                  <a:t>, </a:t>
                </a:r>
                <a:r>
                  <a:rPr lang="pt-BR" altLang="zh-TW" i="1" dirty="0"/>
                  <a:t>n</a:t>
                </a:r>
                <a:r>
                  <a:rPr lang="pt-BR" altLang="zh-TW" i="1" baseline="-25000" dirty="0"/>
                  <a:t>i</a:t>
                </a:r>
                <a:r>
                  <a:rPr lang="pt-BR" altLang="zh-TW" i="1" dirty="0"/>
                  <a:t> </a:t>
                </a:r>
                <a:r>
                  <a:rPr lang="pt-BR" altLang="zh-TW" dirty="0"/>
                  <a:t>&gt;</a:t>
                </a:r>
                <a:r>
                  <a:rPr lang="pt-BR" altLang="zh-TW" i="1" dirty="0"/>
                  <a:t> </a:t>
                </a:r>
                <a:r>
                  <a:rPr lang="pt-BR" altLang="zh-TW" dirty="0"/>
                  <a:t>(log </a:t>
                </a:r>
                <a:r>
                  <a:rPr lang="pt-BR" altLang="zh-TW" i="1" dirty="0"/>
                  <a:t>n</a:t>
                </a:r>
                <a:r>
                  <a:rPr lang="pt-BR" altLang="zh-TW" dirty="0"/>
                  <a:t>)</a:t>
                </a:r>
                <a:r>
                  <a:rPr lang="pt-BR" altLang="zh-TW" baseline="30000" dirty="0"/>
                  <a:t>log log </a:t>
                </a:r>
                <a:r>
                  <a:rPr lang="pt-BR" altLang="zh-TW" i="1" baseline="30000" dirty="0"/>
                  <a:t>n</a:t>
                </a:r>
                <a:r>
                  <a:rPr lang="pt-BR" altLang="zh-TW" dirty="0"/>
                  <a:t>, so </a:t>
                </a:r>
                <a:r>
                  <a:rPr lang="pt-BR" altLang="zh-TW" i="1" dirty="0" smtClean="0"/>
                  <a:t>q’ </a:t>
                </a:r>
                <a:r>
                  <a:rPr lang="pt-BR" altLang="zh-TW" dirty="0"/>
                  <a:t>= </a:t>
                </a:r>
                <a:r>
                  <a:rPr lang="pt-BR" altLang="zh-TW" i="1" dirty="0"/>
                  <a:t>o</a:t>
                </a:r>
                <a:r>
                  <a:rPr lang="pt-BR" altLang="zh-TW" dirty="0"/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latin typeface="Cambria Math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altLang="zh-TW" dirty="0"/>
                  <a:t>).</a:t>
                </a:r>
                <a:endParaRPr lang="en-US" altLang="zh-TW" dirty="0" smtClean="0"/>
              </a:p>
              <a:p>
                <a:r>
                  <a:rPr lang="en-US" altLang="zh-TW" dirty="0"/>
                  <a:t>We have one priority queue over all counters on level </a:t>
                </a:r>
                <a:r>
                  <a:rPr lang="en-US" altLang="zh-TW" i="1" dirty="0"/>
                  <a:t>b</a:t>
                </a:r>
                <a:r>
                  <a:rPr lang="en-US" altLang="zh-TW" dirty="0"/>
                  <a:t>, of which there are at most </a:t>
                </a:r>
                <a:r>
                  <a:rPr lang="en-US" altLang="zh-TW" i="1" dirty="0" smtClean="0"/>
                  <a:t>p’ </a:t>
                </a:r>
                <a:r>
                  <a:rPr lang="en-US" altLang="zh-TW" dirty="0" smtClean="0"/>
                  <a:t>=</a:t>
                </a:r>
                <a:r>
                  <a:rPr lang="en-US" altLang="zh-TW" i="1" dirty="0" smtClean="0"/>
                  <a:t>n</a:t>
                </a:r>
                <a:r>
                  <a:rPr lang="en-US" altLang="zh-TW" i="1" dirty="0"/>
                  <a:t>/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i="1" baseline="-25000" dirty="0"/>
                  <a:t>b</a:t>
                </a:r>
                <a:r>
                  <a:rPr lang="en-US" altLang="zh-TW" baseline="-25000" dirty="0"/>
                  <a:t>+1</a:t>
                </a:r>
                <a:r>
                  <a:rPr lang="en-US" altLang="zh-TW" i="1" dirty="0"/>
                  <a:t>/</a:t>
                </a:r>
                <a:r>
                  <a:rPr lang="en-US" altLang="zh-TW" dirty="0"/>
                  <a:t>4), so by Lemma 30, the maximal counter value is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q’ </a:t>
                </a:r>
                <a:r>
                  <a:rPr lang="en-US" altLang="zh-TW" dirty="0"/>
                  <a:t>log </a:t>
                </a:r>
                <a:r>
                  <a:rPr lang="en-US" altLang="zh-TW" i="1" dirty="0" smtClean="0"/>
                  <a:t>p’</a:t>
                </a:r>
                <a:r>
                  <a:rPr lang="en-US" altLang="zh-TW" dirty="0" smtClean="0"/>
                  <a:t>) </a:t>
                </a:r>
                <a:r>
                  <a:rPr lang="en-US" altLang="zh-TW" dirty="0"/>
                  <a:t>=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(log </a:t>
                </a:r>
                <a:r>
                  <a:rPr lang="en-US" altLang="zh-TW" i="1" dirty="0"/>
                  <a:t>n</a:t>
                </a:r>
                <a:r>
                  <a:rPr lang="en-US" altLang="zh-TW" dirty="0">
                    <a:solidFill>
                      <a:srgbClr val="0070C0"/>
                    </a:solidFill>
                  </a:rPr>
                  <a:t>(log </a:t>
                </a:r>
                <a:r>
                  <a:rPr lang="en-US" altLang="zh-TW" dirty="0" err="1">
                    <a:solidFill>
                      <a:srgbClr val="0070C0"/>
                    </a:solidFill>
                  </a:rPr>
                  <a:t>log</a:t>
                </a:r>
                <a:r>
                  <a:rPr lang="en-US" altLang="zh-TW" dirty="0">
                    <a:solidFill>
                      <a:srgbClr val="0070C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70C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70C0"/>
                    </a:solidFill>
                  </a:rPr>
                  <a:t>)</a:t>
                </a:r>
                <a:r>
                  <a:rPr lang="en-US" altLang="zh-TW" baseline="30000" dirty="0">
                    <a:solidFill>
                      <a:srgbClr val="0070C0"/>
                    </a:solidFill>
                  </a:rPr>
                  <a:t>2</a:t>
                </a:r>
                <a:r>
                  <a:rPr lang="en-US" altLang="zh-TW" dirty="0"/>
                  <a:t>).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887" r="-1259" b="-5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85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Top-Level Updates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7376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Now, for </a:t>
            </a:r>
            <a:r>
              <a:rPr lang="en-US" altLang="zh-TW" i="1" dirty="0" err="1"/>
              <a:t>i</a:t>
            </a:r>
            <a:r>
              <a:rPr lang="en-US" altLang="zh-TW" i="1" dirty="0"/>
              <a:t> </a:t>
            </a:r>
            <a:r>
              <a:rPr lang="en-US" altLang="zh-TW" dirty="0"/>
              <a:t>&gt;</a:t>
            </a:r>
            <a:r>
              <a:rPr lang="en-US" altLang="zh-TW" i="1" dirty="0"/>
              <a:t> b</a:t>
            </a:r>
            <a:r>
              <a:rPr lang="en-US" altLang="zh-TW" dirty="0"/>
              <a:t>, consider a level </a:t>
            </a:r>
            <a:r>
              <a:rPr lang="en-US" altLang="zh-TW" i="1" dirty="0" err="1"/>
              <a:t>i</a:t>
            </a:r>
            <a:r>
              <a:rPr lang="en-US" altLang="zh-TW" i="1" dirty="0"/>
              <a:t> </a:t>
            </a:r>
            <a:r>
              <a:rPr lang="en-US" altLang="zh-TW" dirty="0"/>
              <a:t>node </a:t>
            </a:r>
            <a:r>
              <a:rPr lang="en-US" altLang="zh-TW" i="1" dirty="0"/>
              <a:t>w</a:t>
            </a:r>
            <a:r>
              <a:rPr lang="en-US" altLang="zh-TW" dirty="0"/>
              <a:t>. The maximal number of counters below </a:t>
            </a:r>
            <a:r>
              <a:rPr lang="en-US" altLang="zh-TW" i="1" dirty="0"/>
              <a:t>w </a:t>
            </a:r>
            <a:r>
              <a:rPr lang="en-US" altLang="zh-TW" dirty="0" smtClean="0"/>
              <a:t>is </a:t>
            </a:r>
            <a:r>
              <a:rPr lang="en-US" altLang="zh-TW" i="1" dirty="0" err="1" smtClean="0"/>
              <a:t>n</a:t>
            </a:r>
            <a:r>
              <a:rPr lang="en-US" altLang="zh-TW" i="1" baseline="-25000" dirty="0" err="1" smtClean="0"/>
              <a:t>i</a:t>
            </a:r>
            <a:r>
              <a:rPr lang="en-US" altLang="zh-TW" i="1" dirty="0"/>
              <a:t>/</a:t>
            </a:r>
            <a:r>
              <a:rPr lang="en-US" altLang="zh-TW" dirty="0"/>
              <a:t>(4</a:t>
            </a:r>
            <a:r>
              <a:rPr lang="en-US" altLang="zh-TW" i="1" dirty="0"/>
              <a:t>n</a:t>
            </a:r>
            <a:r>
              <a:rPr lang="en-US" altLang="zh-TW" i="1" baseline="-25000" dirty="0"/>
              <a:t>b</a:t>
            </a:r>
            <a:r>
              <a:rPr lang="en-US" altLang="zh-TW" baseline="-25000" dirty="0"/>
              <a:t>+1</a:t>
            </a:r>
            <a:r>
              <a:rPr lang="en-US" altLang="zh-TW" dirty="0"/>
              <a:t>), so their total value is at most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86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Top-Level Updates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" y="2780928"/>
            <a:ext cx="9075420" cy="449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9445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altLang="zh-TW" dirty="0" smtClean="0"/>
                  <a:t>Given a number series </a:t>
                </a:r>
                <a:r>
                  <a:rPr lang="pt-BR" altLang="zh-TW" i="1" dirty="0"/>
                  <a:t>n</a:t>
                </a:r>
                <a:r>
                  <a:rPr lang="pt-BR" altLang="zh-TW" baseline="-25000" dirty="0"/>
                  <a:t>0</a:t>
                </a:r>
                <a:r>
                  <a:rPr lang="pt-BR" altLang="zh-TW" dirty="0"/>
                  <a:t>, </a:t>
                </a:r>
                <a:r>
                  <a:rPr lang="pt-BR" altLang="zh-TW" i="1" dirty="0"/>
                  <a:t>n</a:t>
                </a:r>
                <a:r>
                  <a:rPr lang="pt-BR" altLang="zh-TW" baseline="-25000" dirty="0"/>
                  <a:t>1</a:t>
                </a:r>
                <a:r>
                  <a:rPr lang="pt-BR" altLang="zh-TW" dirty="0"/>
                  <a:t>, </a:t>
                </a:r>
                <a:r>
                  <a:rPr lang="pt-BR" altLang="zh-TW" i="1" dirty="0"/>
                  <a:t>n</a:t>
                </a:r>
                <a:r>
                  <a:rPr lang="pt-BR" altLang="zh-TW" baseline="-25000" dirty="0"/>
                  <a:t>2</a:t>
                </a:r>
                <a:r>
                  <a:rPr lang="pt-BR" altLang="zh-TW" dirty="0"/>
                  <a:t> &lt;, . . ., with </a:t>
                </a:r>
                <a:r>
                  <a:rPr lang="pt-BR" altLang="zh-TW" i="1" dirty="0"/>
                  <a:t>n</a:t>
                </a:r>
                <a:r>
                  <a:rPr lang="pt-BR" altLang="zh-TW" baseline="-25000" dirty="0"/>
                  <a:t>0</a:t>
                </a:r>
                <a:r>
                  <a:rPr lang="pt-BR" altLang="zh-TW" dirty="0"/>
                  <a:t> = 1, </a:t>
                </a:r>
                <a:r>
                  <a:rPr lang="pt-BR" altLang="zh-TW" i="1" dirty="0"/>
                  <a:t>n</a:t>
                </a:r>
                <a:r>
                  <a:rPr lang="pt-BR" altLang="zh-TW" baseline="-25000" dirty="0"/>
                  <a:t>1</a:t>
                </a:r>
                <a:r>
                  <a:rPr lang="pt-BR" altLang="zh-TW" dirty="0"/>
                  <a:t> </a:t>
                </a:r>
                <a:r>
                  <a:rPr lang="pt-BR" altLang="zh-TW" dirty="0" smtClean="0"/>
                  <a:t>≥ </a:t>
                </a:r>
                <a:r>
                  <a:rPr lang="pt-BR" altLang="zh-TW" dirty="0"/>
                  <a:t>84, </a:t>
                </a:r>
                <a:r>
                  <a:rPr lang="pt-BR" altLang="zh-TW" i="1" dirty="0" smtClean="0"/>
                  <a:t>n</a:t>
                </a:r>
                <a:r>
                  <a:rPr lang="pt-BR" altLang="zh-TW" i="1" baseline="-25000" dirty="0" smtClean="0"/>
                  <a:t>i</a:t>
                </a:r>
                <a:r>
                  <a:rPr lang="pt-BR" altLang="zh-TW" baseline="30000" dirty="0" smtClean="0"/>
                  <a:t>2</a:t>
                </a:r>
                <a:r>
                  <a:rPr lang="pt-BR" altLang="zh-TW" dirty="0" smtClean="0"/>
                  <a:t> </a:t>
                </a:r>
                <a:r>
                  <a:rPr lang="en-US" altLang="zh-TW" dirty="0" smtClean="0"/>
                  <a:t>&gt; </a:t>
                </a:r>
                <a:r>
                  <a:rPr lang="en-US" altLang="zh-TW" i="1" dirty="0"/>
                  <a:t>n</a:t>
                </a:r>
                <a:r>
                  <a:rPr lang="en-US" altLang="zh-TW" i="1" baseline="-25000" dirty="0"/>
                  <a:t>i</a:t>
                </a:r>
                <a:r>
                  <a:rPr lang="en-US" altLang="zh-TW" baseline="-25000" dirty="0"/>
                  <a:t>+1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&gt; 23</a:t>
                </a:r>
                <a:r>
                  <a:rPr lang="en-US" altLang="zh-TW" i="1" dirty="0" smtClean="0"/>
                  <a:t>n</a:t>
                </a:r>
                <a:r>
                  <a:rPr lang="en-US" altLang="zh-TW" i="1" baseline="-25000" dirty="0" smtClean="0"/>
                  <a:t>i</a:t>
                </a:r>
                <a:r>
                  <a:rPr lang="en-US" altLang="zh-TW" dirty="0"/>
                  <a:t>, we maintain a </a:t>
                </a:r>
                <a:r>
                  <a:rPr lang="en-US" altLang="zh-TW" dirty="0" err="1"/>
                  <a:t>multiway</a:t>
                </a:r>
                <a:r>
                  <a:rPr lang="en-US" altLang="zh-TW" dirty="0"/>
                  <a:t> tree where each node on height 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> which is neither the root </a:t>
                </a:r>
                <a:r>
                  <a:rPr lang="en-US" altLang="zh-TW" dirty="0" smtClean="0"/>
                  <a:t>nor a </a:t>
                </a:r>
                <a:r>
                  <a:rPr lang="en-US" altLang="zh-TW" dirty="0"/>
                  <a:t>leaf node has weight between 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dirty="0"/>
                  <a:t>/4 and 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dirty="0"/>
                  <a:t>. If an </a:t>
                </a:r>
                <a:r>
                  <a:rPr lang="en-US" altLang="zh-TW" i="1" dirty="0"/>
                  <a:t>S</a:t>
                </a:r>
                <a:r>
                  <a:rPr lang="en-US" altLang="zh-TW" dirty="0"/>
                  <a:t>-structure for a node on height 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can be </a:t>
                </a:r>
                <a:r>
                  <a:rPr lang="en-US" altLang="zh-TW" dirty="0"/>
                  <a:t>built in </a:t>
                </a:r>
                <a:r>
                  <a:rPr lang="en-US" altLang="zh-TW" i="1" dirty="0" smtClean="0">
                    <a:solidFill>
                      <a:srgbClr val="0070C0"/>
                    </a:solidFill>
                  </a:rPr>
                  <a:t>O</a:t>
                </a:r>
                <a:r>
                  <a:rPr lang="en-US" altLang="zh-TW" dirty="0" smtClean="0">
                    <a:solidFill>
                      <a:srgbClr val="0070C0"/>
                    </a:solidFill>
                  </a:rPr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altLang="zh-TW" dirty="0" smtClean="0">
                    <a:solidFill>
                      <a:srgbClr val="0070C0"/>
                    </a:solidFill>
                  </a:rPr>
                  <a:t>) </a:t>
                </a:r>
                <a:r>
                  <a:rPr lang="en-US" altLang="zh-TW" dirty="0"/>
                  <a:t>time, or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) time for level 1, we can </a:t>
                </a:r>
                <a:r>
                  <a:rPr lang="en-US" altLang="zh-TW" dirty="0">
                    <a:solidFill>
                      <a:srgbClr val="0070C0"/>
                    </a:solidFill>
                  </a:rPr>
                  <a:t>maintain </a:t>
                </a:r>
                <a:r>
                  <a:rPr lang="en-US" altLang="zh-TW" i="1" dirty="0">
                    <a:solidFill>
                      <a:srgbClr val="0070C0"/>
                    </a:solidFill>
                  </a:rPr>
                  <a:t>S</a:t>
                </a:r>
                <a:r>
                  <a:rPr lang="en-US" altLang="zh-TW" dirty="0">
                    <a:solidFill>
                      <a:srgbClr val="0070C0"/>
                    </a:solidFill>
                  </a:rPr>
                  <a:t>-structures </a:t>
                </a:r>
                <a:r>
                  <a:rPr lang="en-US" altLang="zh-TW" dirty="0"/>
                  <a:t>for </a:t>
                </a:r>
                <a:r>
                  <a:rPr lang="en-US" altLang="zh-TW" dirty="0" smtClean="0"/>
                  <a:t>the whole </a:t>
                </a:r>
                <a:r>
                  <a:rPr lang="en-US" altLang="zh-TW" dirty="0"/>
                  <a:t>tree in </a:t>
                </a:r>
                <a:r>
                  <a:rPr lang="en-US" altLang="zh-TW" dirty="0">
                    <a:solidFill>
                      <a:srgbClr val="0070C0"/>
                    </a:solidFill>
                  </a:rPr>
                  <a:t>constant time per finger update</a:t>
                </a:r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11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87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Corollary 32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7143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</a:p>
          <a:p>
            <a:r>
              <a:rPr lang="en-US" altLang="zh-TW" dirty="0" smtClean="0"/>
              <a:t>Amortized exponential </a:t>
            </a:r>
            <a:r>
              <a:rPr lang="en-US" altLang="zh-TW" dirty="0"/>
              <a:t>s</a:t>
            </a:r>
            <a:r>
              <a:rPr lang="en-US" altLang="zh-TW" dirty="0" smtClean="0"/>
              <a:t>earch </a:t>
            </a:r>
            <a:r>
              <a:rPr lang="en-US" altLang="zh-TW" dirty="0"/>
              <a:t>t</a:t>
            </a:r>
            <a:r>
              <a:rPr lang="en-US" altLang="zh-TW" dirty="0" smtClean="0"/>
              <a:t>ree</a:t>
            </a:r>
          </a:p>
          <a:p>
            <a:r>
              <a:rPr lang="en-US" altLang="zh-TW" dirty="0" smtClean="0"/>
              <a:t>Worst case </a:t>
            </a:r>
            <a:r>
              <a:rPr lang="en-US" altLang="zh-TW" dirty="0"/>
              <a:t>efficient e</a:t>
            </a:r>
            <a:r>
              <a:rPr lang="en-US" altLang="zh-TW" dirty="0" smtClean="0"/>
              <a:t>xponential search tree</a:t>
            </a:r>
          </a:p>
          <a:p>
            <a:r>
              <a:rPr lang="en-US" altLang="zh-TW" dirty="0"/>
              <a:t>Static search </a:t>
            </a:r>
            <a:r>
              <a:rPr lang="en-US" altLang="zh-TW" dirty="0" smtClean="0"/>
              <a:t>structures</a:t>
            </a:r>
          </a:p>
          <a:p>
            <a:r>
              <a:rPr lang="en-US" altLang="zh-TW" dirty="0" smtClean="0"/>
              <a:t>Finger Update</a:t>
            </a:r>
            <a:endParaRPr lang="en-US" altLang="zh-TW" dirty="0"/>
          </a:p>
          <a:p>
            <a:r>
              <a:rPr lang="en-US" altLang="zh-TW" dirty="0" smtClean="0">
                <a:solidFill>
                  <a:srgbClr val="FF0000"/>
                </a:solidFill>
              </a:rPr>
              <a:t>Finger </a:t>
            </a:r>
            <a:r>
              <a:rPr lang="en-US" altLang="zh-TW" dirty="0">
                <a:solidFill>
                  <a:srgbClr val="FF0000"/>
                </a:solidFill>
              </a:rPr>
              <a:t>Search</a:t>
            </a:r>
          </a:p>
          <a:p>
            <a:r>
              <a:rPr lang="en-US" altLang="zh-TW" dirty="0"/>
              <a:t>String </a:t>
            </a:r>
            <a:r>
              <a:rPr lang="en-US" altLang="zh-TW" dirty="0" smtClean="0"/>
              <a:t>Search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88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7175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For </a:t>
            </a:r>
            <a:r>
              <a:rPr lang="en-US" altLang="zh-TW" dirty="0"/>
              <a:t>finger searching we have a finger pointing at a key </a:t>
            </a:r>
            <a:r>
              <a:rPr lang="en-US" altLang="zh-TW" i="1" dirty="0"/>
              <a:t>x </a:t>
            </a:r>
            <a:r>
              <a:rPr lang="en-US" altLang="zh-TW" dirty="0"/>
              <a:t>while searching for another </a:t>
            </a:r>
            <a:r>
              <a:rPr lang="en-US" altLang="zh-TW" dirty="0" smtClean="0"/>
              <a:t>key </a:t>
            </a:r>
            <a:r>
              <a:rPr lang="en-US" altLang="zh-TW" i="1" dirty="0" smtClean="0"/>
              <a:t>y.</a:t>
            </a:r>
          </a:p>
          <a:p>
            <a:r>
              <a:rPr lang="en-US" altLang="zh-TW" dirty="0" smtClean="0"/>
              <a:t>Let </a:t>
            </a:r>
            <a:r>
              <a:rPr lang="en-US" altLang="zh-TW" i="1" dirty="0"/>
              <a:t>q </a:t>
            </a:r>
            <a:r>
              <a:rPr lang="en-US" altLang="zh-TW" dirty="0"/>
              <a:t>be the number of keys between </a:t>
            </a:r>
            <a:r>
              <a:rPr lang="en-US" altLang="zh-TW" i="1" dirty="0"/>
              <a:t>x </a:t>
            </a:r>
            <a:r>
              <a:rPr lang="en-US" altLang="zh-TW" dirty="0"/>
              <a:t>and </a:t>
            </a:r>
            <a:r>
              <a:rPr lang="en-US" altLang="zh-TW" i="1" dirty="0" smtClean="0"/>
              <a:t>y</a:t>
            </a:r>
            <a:r>
              <a:rPr lang="en-US" altLang="zh-TW" dirty="0" smtClean="0"/>
              <a:t>. </a:t>
            </a:r>
          </a:p>
          <a:p>
            <a:r>
              <a:rPr lang="en-US" altLang="zh-TW" dirty="0" smtClean="0"/>
              <a:t>The </a:t>
            </a:r>
            <a:r>
              <a:rPr lang="en-US" altLang="zh-TW" dirty="0"/>
              <a:t>idea of finger search is that we should be able to find </a:t>
            </a:r>
            <a:r>
              <a:rPr lang="en-US" altLang="zh-TW" i="1" dirty="0"/>
              <a:t>y </a:t>
            </a:r>
            <a:r>
              <a:rPr lang="en-US" altLang="zh-TW" dirty="0" smtClean="0"/>
              <a:t>quickly if </a:t>
            </a:r>
            <a:r>
              <a:rPr lang="en-US" altLang="zh-TW" i="1" dirty="0"/>
              <a:t>q </a:t>
            </a:r>
            <a:r>
              <a:rPr lang="en-US" altLang="zh-TW" dirty="0"/>
              <a:t>is small. </a:t>
            </a:r>
            <a:endParaRPr lang="en-US" altLang="zh-TW" dirty="0" smtClean="0"/>
          </a:p>
          <a:p>
            <a:r>
              <a:rPr lang="en-US" altLang="zh-TW" dirty="0" smtClean="0"/>
              <a:t>Here</a:t>
            </a:r>
            <a:r>
              <a:rPr lang="en-US" altLang="zh-TW" dirty="0"/>
              <a:t>, we also consider another possibility: the search should be fast if </a:t>
            </a:r>
            <a:r>
              <a:rPr lang="en-US" altLang="zh-TW" i="1" dirty="0"/>
              <a:t>y − </a:t>
            </a:r>
            <a:r>
              <a:rPr lang="en-US" altLang="zh-TW" i="1" dirty="0" smtClean="0"/>
              <a:t>x </a:t>
            </a:r>
            <a:r>
              <a:rPr lang="en-US" altLang="zh-TW" dirty="0" smtClean="0"/>
              <a:t>is </a:t>
            </a:r>
            <a:r>
              <a:rPr lang="en-US" altLang="zh-TW" dirty="0"/>
              <a:t>small.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Finger Search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89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923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There is a fully-dynamic deterministic linear space search structure that </a:t>
            </a:r>
            <a:r>
              <a:rPr lang="en-US" altLang="zh-TW" dirty="0" smtClean="0"/>
              <a:t>supports finger </a:t>
            </a:r>
            <a:r>
              <a:rPr lang="en-US" altLang="zh-TW" dirty="0"/>
              <a:t>updates in constant time, and given a finger to a stored key x, searches </a:t>
            </a:r>
            <a:r>
              <a:rPr lang="en-US" altLang="zh-TW" dirty="0" smtClean="0"/>
              <a:t>a key </a:t>
            </a:r>
            <a:r>
              <a:rPr lang="en-US" altLang="zh-TW" dirty="0"/>
              <a:t>y &gt; x in </a:t>
            </a:r>
            <a:r>
              <a:rPr lang="en-US" altLang="zh-TW" dirty="0" smtClean="0"/>
              <a:t>time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pPr marL="365760" lvl="1" indent="0">
              <a:buNone/>
            </a:pPr>
            <a:r>
              <a:rPr lang="en-US" altLang="zh-TW" sz="2700" dirty="0" smtClean="0"/>
              <a:t>where </a:t>
            </a:r>
            <a:r>
              <a:rPr lang="en-US" altLang="zh-TW" sz="2700" i="1" dirty="0"/>
              <a:t>q</a:t>
            </a:r>
            <a:r>
              <a:rPr lang="en-US" altLang="zh-TW" sz="2700" dirty="0"/>
              <a:t> is the number of stored keys between </a:t>
            </a:r>
            <a:r>
              <a:rPr lang="en-US" altLang="zh-TW" sz="2700" i="1" dirty="0"/>
              <a:t>x</a:t>
            </a:r>
            <a:r>
              <a:rPr lang="en-US" altLang="zh-TW" sz="2700" dirty="0"/>
              <a:t> and </a:t>
            </a:r>
            <a:r>
              <a:rPr lang="en-US" altLang="zh-TW" sz="2700" i="1" dirty="0"/>
              <a:t>y</a:t>
            </a:r>
            <a:r>
              <a:rPr lang="en-US" altLang="zh-TW" sz="2700" dirty="0"/>
              <a:t>.</a:t>
            </a:r>
            <a:endParaRPr lang="zh-TW" altLang="en-US" sz="27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90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Finger Search</a:t>
            </a:r>
            <a:endParaRPr lang="zh-TW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19" y="3140968"/>
            <a:ext cx="3987165" cy="1293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7369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Suppose a </a:t>
            </a:r>
            <a:r>
              <a:rPr lang="en-US" altLang="zh-TW" dirty="0">
                <a:solidFill>
                  <a:srgbClr val="0070C0"/>
                </a:solidFill>
              </a:rPr>
              <a:t>static</a:t>
            </a:r>
            <a:r>
              <a:rPr lang="en-US" altLang="zh-TW" dirty="0"/>
              <a:t> search structure on </a:t>
            </a:r>
            <a:r>
              <a:rPr lang="en-US" altLang="zh-TW" i="1" dirty="0">
                <a:solidFill>
                  <a:srgbClr val="0070C0"/>
                </a:solidFill>
              </a:rPr>
              <a:t>d</a:t>
            </a:r>
            <a:r>
              <a:rPr lang="en-US" altLang="zh-TW" dirty="0">
                <a:solidFill>
                  <a:srgbClr val="0070C0"/>
                </a:solidFill>
              </a:rPr>
              <a:t> integer keys</a:t>
            </a:r>
            <a:r>
              <a:rPr lang="en-US" altLang="zh-TW" dirty="0"/>
              <a:t> can be </a:t>
            </a:r>
            <a:r>
              <a:rPr lang="en-US" altLang="zh-TW" dirty="0">
                <a:solidFill>
                  <a:srgbClr val="0070C0"/>
                </a:solidFill>
              </a:rPr>
              <a:t>constructed</a:t>
            </a:r>
            <a:r>
              <a:rPr lang="en-US" altLang="zh-TW" dirty="0"/>
              <a:t> </a:t>
            </a:r>
            <a:r>
              <a:rPr lang="en-US" altLang="zh-TW" dirty="0" smtClean="0"/>
              <a:t>in </a:t>
            </a:r>
            <a:r>
              <a:rPr lang="en-US" altLang="zh-TW" dirty="0" smtClean="0">
                <a:solidFill>
                  <a:srgbClr val="0070C0"/>
                </a:solidFill>
              </a:rPr>
              <a:t>O(</a:t>
            </a:r>
            <a:r>
              <a:rPr lang="en-US" altLang="zh-TW" i="1" dirty="0" smtClean="0">
                <a:solidFill>
                  <a:srgbClr val="0070C0"/>
                </a:solidFill>
              </a:rPr>
              <a:t>d</a:t>
            </a:r>
            <a:r>
              <a:rPr lang="en-US" altLang="zh-TW" baseline="30000" dirty="0" smtClean="0">
                <a:solidFill>
                  <a:srgbClr val="0070C0"/>
                </a:solidFill>
              </a:rPr>
              <a:t>(</a:t>
            </a:r>
            <a:r>
              <a:rPr lang="en-US" altLang="zh-TW" i="1" baseline="30000" dirty="0" smtClean="0">
                <a:solidFill>
                  <a:srgbClr val="0070C0"/>
                </a:solidFill>
              </a:rPr>
              <a:t>k</a:t>
            </a:r>
            <a:r>
              <a:rPr lang="en-US" altLang="zh-TW" baseline="30000" dirty="0">
                <a:solidFill>
                  <a:srgbClr val="0070C0"/>
                </a:solidFill>
              </a:rPr>
              <a:t>−1)/2</a:t>
            </a:r>
            <a:r>
              <a:rPr lang="en-US" altLang="zh-TW" dirty="0">
                <a:solidFill>
                  <a:srgbClr val="0070C0"/>
                </a:solidFill>
              </a:rPr>
              <a:t>)</a:t>
            </a:r>
            <a:r>
              <a:rPr lang="en-US" altLang="zh-TW" dirty="0"/>
              <a:t>, k </a:t>
            </a:r>
            <a:r>
              <a:rPr lang="en-US" altLang="zh-TW" dirty="0" smtClean="0"/>
              <a:t>≥ </a:t>
            </a:r>
            <a:r>
              <a:rPr lang="en-US" altLang="zh-TW" dirty="0"/>
              <a:t>2, </a:t>
            </a:r>
            <a:r>
              <a:rPr lang="en-US" altLang="zh-TW" dirty="0">
                <a:solidFill>
                  <a:srgbClr val="0070C0"/>
                </a:solidFill>
              </a:rPr>
              <a:t>time and space</a:t>
            </a:r>
            <a:r>
              <a:rPr lang="en-US" altLang="zh-TW" dirty="0"/>
              <a:t> so given a finger to a stored key </a:t>
            </a:r>
            <a:r>
              <a:rPr lang="en-US" altLang="zh-TW" i="1" dirty="0"/>
              <a:t>x</a:t>
            </a:r>
            <a:r>
              <a:rPr lang="en-US" altLang="zh-TW" dirty="0"/>
              <a:t>, we can </a:t>
            </a:r>
            <a:r>
              <a:rPr lang="en-US" altLang="zh-TW" dirty="0" smtClean="0"/>
              <a:t>search a </a:t>
            </a:r>
            <a:r>
              <a:rPr lang="en-US" altLang="zh-TW" dirty="0"/>
              <a:t>key </a:t>
            </a:r>
            <a:r>
              <a:rPr lang="en-US" altLang="zh-TW" i="1" dirty="0"/>
              <a:t>y</a:t>
            </a:r>
            <a:r>
              <a:rPr lang="en-US" altLang="zh-TW" dirty="0"/>
              <a:t> &gt; </a:t>
            </a:r>
            <a:r>
              <a:rPr lang="en-US" altLang="zh-TW" i="1" dirty="0"/>
              <a:t>x</a:t>
            </a:r>
            <a:r>
              <a:rPr lang="en-US" altLang="zh-TW" dirty="0"/>
              <a:t> in time </a:t>
            </a:r>
            <a:r>
              <a:rPr lang="en-US" altLang="zh-TW" i="1" dirty="0"/>
              <a:t>S</a:t>
            </a:r>
            <a:r>
              <a:rPr lang="en-US" altLang="zh-TW" dirty="0"/>
              <a:t>(</a:t>
            </a:r>
            <a:r>
              <a:rPr lang="en-US" altLang="zh-TW" i="1" dirty="0"/>
              <a:t>d</a:t>
            </a:r>
            <a:r>
              <a:rPr lang="en-US" altLang="zh-TW" dirty="0"/>
              <a:t>, </a:t>
            </a:r>
            <a:r>
              <a:rPr lang="en-US" altLang="zh-TW" i="1" dirty="0"/>
              <a:t>y</a:t>
            </a:r>
            <a:r>
              <a:rPr lang="en-US" altLang="zh-TW" dirty="0"/>
              <a:t> − </a:t>
            </a:r>
            <a:r>
              <a:rPr lang="en-US" altLang="zh-TW" i="1" dirty="0"/>
              <a:t>x</a:t>
            </a:r>
            <a:r>
              <a:rPr lang="en-US" altLang="zh-TW" dirty="0"/>
              <a:t>). </a:t>
            </a:r>
            <a:endParaRPr lang="en-US" altLang="zh-TW" dirty="0" smtClean="0"/>
          </a:p>
          <a:p>
            <a:r>
              <a:rPr lang="en-US" altLang="zh-TW" dirty="0" smtClean="0"/>
              <a:t>We </a:t>
            </a:r>
            <a:r>
              <a:rPr lang="en-US" altLang="zh-TW" dirty="0"/>
              <a:t>can then construct a </a:t>
            </a:r>
            <a:r>
              <a:rPr lang="en-US" altLang="zh-TW" dirty="0">
                <a:solidFill>
                  <a:srgbClr val="0070C0"/>
                </a:solidFill>
              </a:rPr>
              <a:t>dynamic linear space </a:t>
            </a:r>
            <a:r>
              <a:rPr lang="en-US" altLang="zh-TW" dirty="0" smtClean="0"/>
              <a:t>search structure </a:t>
            </a:r>
            <a:r>
              <a:rPr lang="en-US" altLang="zh-TW" dirty="0"/>
              <a:t>that with </a:t>
            </a:r>
            <a:r>
              <a:rPr lang="en-US" altLang="zh-TW" i="1" dirty="0"/>
              <a:t>n</a:t>
            </a:r>
            <a:r>
              <a:rPr lang="en-US" altLang="zh-TW" dirty="0"/>
              <a:t> integer keys supports </a:t>
            </a:r>
            <a:r>
              <a:rPr lang="en-US" altLang="zh-TW" dirty="0">
                <a:solidFill>
                  <a:srgbClr val="0070C0"/>
                </a:solidFill>
              </a:rPr>
              <a:t>finger updates </a:t>
            </a:r>
            <a:r>
              <a:rPr lang="en-US" altLang="zh-TW" dirty="0"/>
              <a:t>in time </a:t>
            </a:r>
            <a:r>
              <a:rPr lang="en-US" altLang="zh-TW" dirty="0">
                <a:solidFill>
                  <a:srgbClr val="0070C0"/>
                </a:solidFill>
              </a:rPr>
              <a:t>constant time </a:t>
            </a:r>
            <a:r>
              <a:rPr lang="en-US" altLang="zh-TW" dirty="0"/>
              <a:t>and </a:t>
            </a:r>
            <a:r>
              <a:rPr lang="en-US" altLang="zh-TW" dirty="0" smtClean="0">
                <a:solidFill>
                  <a:srgbClr val="0070C0"/>
                </a:solidFill>
              </a:rPr>
              <a:t>finger searches </a:t>
            </a:r>
            <a:r>
              <a:rPr lang="en-US" altLang="zh-TW" dirty="0"/>
              <a:t>in time </a:t>
            </a:r>
            <a:r>
              <a:rPr lang="en-US" altLang="zh-TW" i="1" dirty="0">
                <a:solidFill>
                  <a:srgbClr val="0070C0"/>
                </a:solidFill>
              </a:rPr>
              <a:t>T</a:t>
            </a:r>
            <a:r>
              <a:rPr lang="en-US" altLang="zh-TW" dirty="0">
                <a:solidFill>
                  <a:srgbClr val="0070C0"/>
                </a:solidFill>
              </a:rPr>
              <a:t>(</a:t>
            </a:r>
            <a:r>
              <a:rPr lang="en-US" altLang="zh-TW" i="1" dirty="0">
                <a:solidFill>
                  <a:srgbClr val="0070C0"/>
                </a:solidFill>
              </a:rPr>
              <a:t>q</a:t>
            </a:r>
            <a:r>
              <a:rPr lang="en-US" altLang="zh-TW" dirty="0">
                <a:solidFill>
                  <a:srgbClr val="0070C0"/>
                </a:solidFill>
              </a:rPr>
              <a:t>, </a:t>
            </a:r>
            <a:r>
              <a:rPr lang="en-US" altLang="zh-TW" i="1" dirty="0">
                <a:solidFill>
                  <a:srgbClr val="0070C0"/>
                </a:solidFill>
              </a:rPr>
              <a:t>y</a:t>
            </a:r>
            <a:r>
              <a:rPr lang="en-US" altLang="zh-TW" dirty="0">
                <a:solidFill>
                  <a:srgbClr val="0070C0"/>
                </a:solidFill>
              </a:rPr>
              <a:t> − </a:t>
            </a:r>
            <a:r>
              <a:rPr lang="en-US" altLang="zh-TW" i="1" dirty="0">
                <a:solidFill>
                  <a:srgbClr val="0070C0"/>
                </a:solidFill>
              </a:rPr>
              <a:t>x</a:t>
            </a:r>
            <a:r>
              <a:rPr lang="en-US" altLang="zh-TW" dirty="0">
                <a:solidFill>
                  <a:srgbClr val="0070C0"/>
                </a:solidFill>
              </a:rPr>
              <a:t>) </a:t>
            </a:r>
            <a:r>
              <a:rPr lang="en-US" altLang="zh-TW" dirty="0"/>
              <a:t>where </a:t>
            </a:r>
            <a:r>
              <a:rPr lang="en-US" altLang="zh-TW" i="1" dirty="0"/>
              <a:t>q</a:t>
            </a:r>
            <a:r>
              <a:rPr lang="en-US" altLang="zh-TW" dirty="0"/>
              <a:t> is the number of stored keys between </a:t>
            </a:r>
            <a:r>
              <a:rPr lang="en-US" altLang="zh-TW" i="1" dirty="0"/>
              <a:t>x</a:t>
            </a:r>
            <a:r>
              <a:rPr lang="en-US" altLang="zh-TW" dirty="0"/>
              <a:t> and </a:t>
            </a:r>
            <a:r>
              <a:rPr lang="en-US" altLang="zh-TW" i="1" dirty="0"/>
              <a:t>y</a:t>
            </a:r>
            <a:r>
              <a:rPr lang="en-US" altLang="zh-TW" dirty="0"/>
              <a:t> </a:t>
            </a:r>
            <a:r>
              <a:rPr lang="en-US" altLang="zh-TW" dirty="0" smtClean="0"/>
              <a:t>and </a:t>
            </a:r>
            <a:r>
              <a:rPr lang="en-US" altLang="zh-TW" i="1" dirty="0" smtClean="0"/>
              <a:t>T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n</a:t>
            </a:r>
            <a:r>
              <a:rPr lang="en-US" altLang="zh-TW" dirty="0"/>
              <a:t>, </a:t>
            </a:r>
            <a:r>
              <a:rPr lang="en-US" altLang="zh-TW" i="1" dirty="0"/>
              <a:t>y</a:t>
            </a:r>
            <a:r>
              <a:rPr lang="en-US" altLang="zh-TW" dirty="0"/>
              <a:t> − </a:t>
            </a:r>
            <a:r>
              <a:rPr lang="en-US" altLang="zh-TW" i="1" dirty="0"/>
              <a:t>x</a:t>
            </a:r>
            <a:r>
              <a:rPr lang="en-US" altLang="zh-TW" dirty="0"/>
              <a:t>) </a:t>
            </a:r>
            <a:r>
              <a:rPr lang="en-US" altLang="zh-TW" dirty="0" smtClean="0"/>
              <a:t>≤ </a:t>
            </a:r>
            <a:r>
              <a:rPr lang="en-US" altLang="zh-TW" i="1" dirty="0"/>
              <a:t>T</a:t>
            </a:r>
            <a:r>
              <a:rPr lang="en-US" altLang="zh-TW" dirty="0"/>
              <a:t>(n</a:t>
            </a:r>
            <a:r>
              <a:rPr lang="en-US" altLang="zh-TW" baseline="30000" dirty="0"/>
              <a:t>1−1/</a:t>
            </a:r>
            <a:r>
              <a:rPr lang="en-US" altLang="zh-TW" i="1" baseline="30000" dirty="0"/>
              <a:t>k</a:t>
            </a:r>
            <a:r>
              <a:rPr lang="en-US" altLang="zh-TW" dirty="0"/>
              <a:t>, </a:t>
            </a:r>
            <a:r>
              <a:rPr lang="en-US" altLang="zh-TW" i="1" dirty="0"/>
              <a:t>y</a:t>
            </a:r>
            <a:r>
              <a:rPr lang="en-US" altLang="zh-TW" dirty="0"/>
              <a:t> − </a:t>
            </a:r>
            <a:r>
              <a:rPr lang="en-US" altLang="zh-TW" i="1" dirty="0"/>
              <a:t>x</a:t>
            </a:r>
            <a:r>
              <a:rPr lang="en-US" altLang="zh-TW" dirty="0"/>
              <a:t>) +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/>
              <a:t>S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, </a:t>
            </a:r>
            <a:r>
              <a:rPr lang="en-US" altLang="zh-TW" i="1" dirty="0"/>
              <a:t>y</a:t>
            </a:r>
            <a:r>
              <a:rPr lang="en-US" altLang="zh-TW" dirty="0"/>
              <a:t> − </a:t>
            </a:r>
            <a:r>
              <a:rPr lang="en-US" altLang="zh-TW" i="1" dirty="0"/>
              <a:t>x</a:t>
            </a:r>
            <a:r>
              <a:rPr lang="en-US" altLang="zh-TW" dirty="0"/>
              <a:t>)). Here </a:t>
            </a:r>
            <a:r>
              <a:rPr lang="en-US" altLang="zh-TW" i="1" dirty="0"/>
              <a:t>S</a:t>
            </a:r>
            <a:r>
              <a:rPr lang="en-US" altLang="zh-TW" dirty="0"/>
              <a:t> is supposed to be non-decreasing </a:t>
            </a:r>
            <a:r>
              <a:rPr lang="en-US" altLang="zh-TW" dirty="0" smtClean="0"/>
              <a:t>in both </a:t>
            </a:r>
            <a:r>
              <a:rPr lang="en-US" altLang="zh-TW" dirty="0"/>
              <a:t>arguments. The reduction itself uses only standard </a:t>
            </a:r>
            <a:r>
              <a:rPr lang="en-US" altLang="zh-TW" i="1" dirty="0" smtClean="0"/>
              <a:t>AC</a:t>
            </a:r>
            <a:r>
              <a:rPr lang="en-US" altLang="zh-TW" baseline="30000" dirty="0" smtClean="0"/>
              <a:t>0</a:t>
            </a:r>
            <a:r>
              <a:rPr lang="en-US" altLang="zh-TW" dirty="0" smtClean="0"/>
              <a:t> </a:t>
            </a:r>
            <a:r>
              <a:rPr lang="en-US" altLang="zh-TW" dirty="0"/>
              <a:t>operations.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91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Theorem 33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80435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We use an exponential search tree where on each level we have </a:t>
            </a:r>
            <a:r>
              <a:rPr lang="en-US" altLang="zh-TW"/>
              <a:t>horizontal </a:t>
            </a:r>
            <a:r>
              <a:rPr lang="en-US" altLang="zh-TW" smtClean="0"/>
              <a:t>links between </a:t>
            </a:r>
            <a:r>
              <a:rPr lang="en-US" altLang="zh-TW" dirty="0"/>
              <a:t>neighboring nodes.</a:t>
            </a:r>
            <a:endParaRPr lang="en-US" altLang="zh-TW" dirty="0" smtClean="0"/>
          </a:p>
          <a:p>
            <a:r>
              <a:rPr lang="en-US" altLang="zh-TW" dirty="0" smtClean="0"/>
              <a:t>To </a:t>
            </a:r>
            <a:r>
              <a:rPr lang="en-US" altLang="zh-TW" dirty="0"/>
              <a:t>search for </a:t>
            </a:r>
            <a:r>
              <a:rPr lang="en-US" altLang="zh-TW" i="1" dirty="0"/>
              <a:t>y &gt; x</a:t>
            </a:r>
            <a:r>
              <a:rPr lang="en-US" altLang="zh-TW" dirty="0"/>
              <a:t>, given a finger to </a:t>
            </a:r>
            <a:r>
              <a:rPr lang="en-US" altLang="zh-TW" i="1" dirty="0"/>
              <a:t>x</a:t>
            </a:r>
            <a:r>
              <a:rPr lang="en-US" altLang="zh-TW" dirty="0"/>
              <a:t>, we first traverse the path up the tree from </a:t>
            </a:r>
            <a:r>
              <a:rPr lang="en-US" altLang="zh-TW" dirty="0" smtClean="0"/>
              <a:t>the leaf </a:t>
            </a:r>
            <a:r>
              <a:rPr lang="en-US" altLang="zh-TW" dirty="0"/>
              <a:t>containing </a:t>
            </a:r>
            <a:r>
              <a:rPr lang="en-US" altLang="zh-TW" i="1" dirty="0"/>
              <a:t>x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At </a:t>
            </a:r>
            <a:r>
              <a:rPr lang="en-US" altLang="zh-TW" dirty="0"/>
              <a:t>each level, we examine the current node and its right neighbor until </a:t>
            </a:r>
            <a:r>
              <a:rPr lang="en-US" altLang="zh-TW" dirty="0" smtClean="0"/>
              <a:t>a node </a:t>
            </a:r>
            <a:r>
              <a:rPr lang="en-US" altLang="zh-TW" i="1" dirty="0"/>
              <a:t>v </a:t>
            </a:r>
            <a:r>
              <a:rPr lang="en-US" altLang="zh-TW" dirty="0"/>
              <a:t>is found that contains </a:t>
            </a:r>
            <a:r>
              <a:rPr lang="en-US" altLang="zh-TW" i="1" dirty="0"/>
              <a:t>y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Here </a:t>
            </a:r>
            <a:r>
              <a:rPr lang="en-US" altLang="zh-TW" dirty="0"/>
              <a:t>the right neighbor is found in constant time </a:t>
            </a:r>
            <a:r>
              <a:rPr lang="en-US" altLang="zh-TW" dirty="0" smtClean="0"/>
              <a:t>using the horizontal </a:t>
            </a:r>
            <a:r>
              <a:rPr lang="en-US" altLang="zh-TW" dirty="0"/>
              <a:t>links between neighbors. </a:t>
            </a:r>
            <a:endParaRPr lang="en-US" altLang="zh-TW" dirty="0" smtClean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92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Finger Search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6463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By definition of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y </a:t>
            </a:r>
            <a:r>
              <a:rPr lang="en-US" altLang="zh-TW" dirty="0"/>
              <a:t>does not belong to </a:t>
            </a:r>
            <a:r>
              <a:rPr lang="en-US" altLang="zh-TW" i="1" dirty="0" smtClean="0"/>
              <a:t>u’</a:t>
            </a:r>
            <a:r>
              <a:rPr lang="en-US" altLang="zh-TW" dirty="0" smtClean="0"/>
              <a:t>, </a:t>
            </a:r>
            <a:r>
              <a:rPr lang="en-US" altLang="zh-TW" dirty="0"/>
              <a:t>and hence all keys below </a:t>
            </a:r>
            <a:r>
              <a:rPr lang="en-US" altLang="zh-TW" i="1" dirty="0" smtClean="0"/>
              <a:t>u’ </a:t>
            </a:r>
            <a:r>
              <a:rPr lang="en-US" altLang="zh-TW" dirty="0"/>
              <a:t>are between </a:t>
            </a:r>
            <a:r>
              <a:rPr lang="en-US" altLang="zh-TW" i="1" dirty="0"/>
              <a:t>x </a:t>
            </a:r>
            <a:r>
              <a:rPr lang="en-US" altLang="zh-TW" dirty="0"/>
              <a:t>and </a:t>
            </a:r>
            <a:r>
              <a:rPr lang="en-US" altLang="zh-TW" i="1" dirty="0"/>
              <a:t>y</a:t>
            </a:r>
            <a:r>
              <a:rPr lang="en-US" altLang="zh-TW" dirty="0"/>
              <a:t>. It follows </a:t>
            </a:r>
            <a:r>
              <a:rPr lang="en-US" altLang="zh-TW" dirty="0" smtClean="0"/>
              <a:t>that </a:t>
            </a:r>
            <a:r>
              <a:rPr lang="en-US" altLang="zh-TW" i="1" dirty="0" smtClean="0"/>
              <a:t>q </a:t>
            </a:r>
            <a:r>
              <a:rPr lang="en-US" altLang="zh-TW" dirty="0" smtClean="0"/>
              <a:t>≥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u’ </a:t>
            </a:r>
            <a:r>
              <a:rPr lang="en-US" altLang="zh-TW" dirty="0" smtClean="0"/>
              <a:t>) </a:t>
            </a:r>
            <a:r>
              <a:rPr lang="en-US" altLang="zh-TW" dirty="0"/>
              <a:t>≥</a:t>
            </a:r>
            <a:r>
              <a:rPr lang="en-US" altLang="zh-TW" i="1" dirty="0" smtClean="0"/>
              <a:t> </a:t>
            </a:r>
            <a:r>
              <a:rPr lang="en-US" altLang="zh-TW" i="1" dirty="0"/>
              <a:t>n</a:t>
            </a:r>
            <a:r>
              <a:rPr lang="en-US" altLang="zh-TW" i="1" baseline="-25000" dirty="0"/>
              <a:t>i−</a:t>
            </a:r>
            <a:r>
              <a:rPr lang="en-US" altLang="zh-TW" baseline="-25000" dirty="0"/>
              <a:t>1</a:t>
            </a:r>
            <a:r>
              <a:rPr lang="en-US" altLang="zh-TW" i="1" dirty="0"/>
              <a:t>/</a:t>
            </a:r>
            <a:r>
              <a:rPr lang="en-US" altLang="zh-TW" dirty="0"/>
              <a:t>10.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93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Finger Search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2517224" y="3284984"/>
            <a:ext cx="34904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v 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…, x’, …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717024" y="4186144"/>
            <a:ext cx="14401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u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2518008" y="4186144"/>
            <a:ext cx="14401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u'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4579024" y="4186144"/>
            <a:ext cx="14401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w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6567848" y="4186144"/>
            <a:ext cx="14401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-3056" y="5066898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01000" y="5066898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x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1077064" y="5066898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1653128" y="5066898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2157184" y="5074508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2733248" y="5074508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3237304" y="5074508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3741360" y="5074508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4245416" y="5067622"/>
            <a:ext cx="4547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4749472" y="5067622"/>
            <a:ext cx="560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 smtClean="0"/>
              <a:t>y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5397544" y="5067622"/>
            <a:ext cx="5892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6045616" y="5067622"/>
            <a:ext cx="5181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6621680" y="5075232"/>
            <a:ext cx="5676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7269752" y="5075232"/>
            <a:ext cx="560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7904608" y="5075232"/>
            <a:ext cx="5892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8539440" y="5075232"/>
            <a:ext cx="56600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zh-TW" altLang="en-US" dirty="0"/>
          </a:p>
        </p:txBody>
      </p:sp>
      <p:cxnSp>
        <p:nvCxnSpPr>
          <p:cNvPr id="26" name="直線單箭頭接點 25"/>
          <p:cNvCxnSpPr>
            <a:endCxn id="6" idx="0"/>
          </p:cNvCxnSpPr>
          <p:nvPr/>
        </p:nvCxnSpPr>
        <p:spPr>
          <a:xfrm flipH="1">
            <a:off x="1437104" y="3654316"/>
            <a:ext cx="1174824" cy="531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endCxn id="7" idx="0"/>
          </p:cNvCxnSpPr>
          <p:nvPr/>
        </p:nvCxnSpPr>
        <p:spPr>
          <a:xfrm>
            <a:off x="3238088" y="3654316"/>
            <a:ext cx="0" cy="531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endCxn id="8" idx="0"/>
          </p:cNvCxnSpPr>
          <p:nvPr/>
        </p:nvCxnSpPr>
        <p:spPr>
          <a:xfrm>
            <a:off x="5109512" y="3654316"/>
            <a:ext cx="189592" cy="531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5901600" y="3654316"/>
            <a:ext cx="1287760" cy="531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10" idx="0"/>
          </p:cNvCxnSpPr>
          <p:nvPr/>
        </p:nvCxnSpPr>
        <p:spPr>
          <a:xfrm flipH="1">
            <a:off x="224316" y="4555476"/>
            <a:ext cx="636724" cy="5114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endCxn id="11" idx="0"/>
          </p:cNvCxnSpPr>
          <p:nvPr/>
        </p:nvCxnSpPr>
        <p:spPr>
          <a:xfrm flipH="1">
            <a:off x="728372" y="4555476"/>
            <a:ext cx="576064" cy="5114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>
            <a:endCxn id="12" idx="0"/>
          </p:cNvCxnSpPr>
          <p:nvPr/>
        </p:nvCxnSpPr>
        <p:spPr>
          <a:xfrm flipH="1">
            <a:off x="1304436" y="4555476"/>
            <a:ext cx="348692" cy="5114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>
            <a:endCxn id="13" idx="0"/>
          </p:cNvCxnSpPr>
          <p:nvPr/>
        </p:nvCxnSpPr>
        <p:spPr>
          <a:xfrm flipH="1">
            <a:off x="1880500" y="4555476"/>
            <a:ext cx="60660" cy="5114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endCxn id="14" idx="0"/>
          </p:cNvCxnSpPr>
          <p:nvPr/>
        </p:nvCxnSpPr>
        <p:spPr>
          <a:xfrm flipH="1">
            <a:off x="2384556" y="4555476"/>
            <a:ext cx="227372" cy="519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endCxn id="15" idx="0"/>
          </p:cNvCxnSpPr>
          <p:nvPr/>
        </p:nvCxnSpPr>
        <p:spPr>
          <a:xfrm>
            <a:off x="2960620" y="4555476"/>
            <a:ext cx="0" cy="519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endCxn id="16" idx="0"/>
          </p:cNvCxnSpPr>
          <p:nvPr/>
        </p:nvCxnSpPr>
        <p:spPr>
          <a:xfrm>
            <a:off x="3464676" y="4555476"/>
            <a:ext cx="0" cy="519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endCxn id="17" idx="0"/>
          </p:cNvCxnSpPr>
          <p:nvPr/>
        </p:nvCxnSpPr>
        <p:spPr>
          <a:xfrm>
            <a:off x="3741360" y="4555476"/>
            <a:ext cx="227372" cy="519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endCxn id="18" idx="0"/>
          </p:cNvCxnSpPr>
          <p:nvPr/>
        </p:nvCxnSpPr>
        <p:spPr>
          <a:xfrm flipH="1">
            <a:off x="4472788" y="4555476"/>
            <a:ext cx="276684" cy="5121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endCxn id="19" idx="0"/>
          </p:cNvCxnSpPr>
          <p:nvPr/>
        </p:nvCxnSpPr>
        <p:spPr>
          <a:xfrm flipH="1">
            <a:off x="5029512" y="4555476"/>
            <a:ext cx="80000" cy="5121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5613568" y="4555476"/>
            <a:ext cx="0" cy="5114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endCxn id="21" idx="0"/>
          </p:cNvCxnSpPr>
          <p:nvPr/>
        </p:nvCxnSpPr>
        <p:spPr>
          <a:xfrm>
            <a:off x="5986824" y="4555476"/>
            <a:ext cx="317878" cy="5121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6765696" y="4555476"/>
            <a:ext cx="0" cy="519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9" idx="2"/>
            <a:endCxn id="23" idx="0"/>
          </p:cNvCxnSpPr>
          <p:nvPr/>
        </p:nvCxnSpPr>
        <p:spPr>
          <a:xfrm>
            <a:off x="7287928" y="4555476"/>
            <a:ext cx="261864" cy="5197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>
            <a:endCxn id="24" idx="0"/>
          </p:cNvCxnSpPr>
          <p:nvPr/>
        </p:nvCxnSpPr>
        <p:spPr>
          <a:xfrm>
            <a:off x="7629792" y="4555476"/>
            <a:ext cx="569456" cy="5197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endCxn id="25" idx="0"/>
          </p:cNvCxnSpPr>
          <p:nvPr/>
        </p:nvCxnSpPr>
        <p:spPr>
          <a:xfrm>
            <a:off x="7904608" y="4555476"/>
            <a:ext cx="917836" cy="5197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endCxn id="7" idx="1"/>
          </p:cNvCxnSpPr>
          <p:nvPr/>
        </p:nvCxnSpPr>
        <p:spPr>
          <a:xfrm>
            <a:off x="2157184" y="4370810"/>
            <a:ext cx="3608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7" idx="3"/>
            <a:endCxn id="8" idx="1"/>
          </p:cNvCxnSpPr>
          <p:nvPr/>
        </p:nvCxnSpPr>
        <p:spPr>
          <a:xfrm>
            <a:off x="3958168" y="4370810"/>
            <a:ext cx="6208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8" idx="3"/>
            <a:endCxn id="9" idx="1"/>
          </p:cNvCxnSpPr>
          <p:nvPr/>
        </p:nvCxnSpPr>
        <p:spPr>
          <a:xfrm>
            <a:off x="6019184" y="4370810"/>
            <a:ext cx="5486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306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Note in the above theorem, that it does not matter whether the static search structure supports </a:t>
                </a:r>
                <a:r>
                  <a:rPr lang="en-US" altLang="zh-TW" dirty="0"/>
                  <a:t>efficient finger search in terms of the number </a:t>
                </a:r>
                <a:r>
                  <a:rPr lang="en-US" altLang="zh-TW" i="1" dirty="0"/>
                  <a:t>d </a:t>
                </a:r>
                <a:r>
                  <a:rPr lang="en-US" altLang="zh-TW" dirty="0"/>
                  <a:t>of </a:t>
                </a:r>
                <a:r>
                  <a:rPr lang="en-US" altLang="zh-TW" dirty="0" smtClean="0"/>
                  <a:t>intermediate </a:t>
                </a:r>
                <a:r>
                  <a:rPr lang="en-US" altLang="zh-TW" dirty="0"/>
                  <a:t>keys. </a:t>
                </a:r>
                <a:endParaRPr lang="en-US" altLang="zh-TW" dirty="0" smtClean="0"/>
              </a:p>
              <a:p>
                <a:r>
                  <a:rPr lang="en-US" altLang="zh-TW" dirty="0" smtClean="0"/>
                  <a:t>For example, the </a:t>
                </a:r>
                <a:r>
                  <a:rPr lang="en-US" altLang="zh-TW" dirty="0"/>
                  <a:t>static search bound of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radPr>
                      <m:deg/>
                      <m:e>
                        <m:f>
                          <m:fPr>
                            <m:type m:val="lin"/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𝑛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/>
                                  </a:rPr>
                                  <m:t>log</m:t>
                                </m:r>
                              </m:fName>
                              <m:e>
                                <m:func>
                                  <m:funcPr>
                                    <m:ctrlPr>
                                      <a:rPr lang="en-US" altLang="zh-TW" b="0" i="1" smtClean="0">
                                        <a:latin typeface="Cambria Math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b="0" i="0" smtClean="0">
                                        <a:latin typeface="Cambria Math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</m:func>
                              </m:e>
                            </m:func>
                          </m:den>
                        </m:f>
                      </m:e>
                    </m:rad>
                  </m:oMath>
                </a14:m>
                <a:r>
                  <a:rPr lang="en-US" altLang="zh-TW" dirty="0" smtClean="0"/>
                  <a:t>) immediately </a:t>
                </a:r>
                <a:r>
                  <a:rPr lang="en-US" altLang="zh-TW" dirty="0"/>
                  <a:t>implies a </a:t>
                </a:r>
                <a:r>
                  <a:rPr lang="en-US" altLang="zh-TW" dirty="0" smtClean="0"/>
                  <a:t>dynamic finger </a:t>
                </a:r>
                <a:r>
                  <a:rPr lang="en-US" altLang="zh-TW" dirty="0"/>
                  <a:t>search bound of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latin typeface="Cambria Math"/>
                          </a:rPr>
                        </m:ctrlPr>
                      </m:radPr>
                      <m:deg/>
                      <m:e>
                        <m:f>
                          <m:fPr>
                            <m:type m:val="lin"/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𝑞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/>
                                  </a:rPr>
                                  <m:t>log</m:t>
                                </m:r>
                              </m:fName>
                              <m:e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𝑞</m:t>
                                    </m:r>
                                  </m:e>
                                </m:func>
                              </m:e>
                            </m:func>
                          </m:den>
                        </m:f>
                      </m:e>
                    </m:rad>
                  </m:oMath>
                </a14:m>
                <a:r>
                  <a:rPr lang="en-US" altLang="zh-TW" dirty="0" smtClean="0"/>
                  <a:t>) </a:t>
                </a:r>
                <a:r>
                  <a:rPr lang="en-US" altLang="zh-TW" dirty="0"/>
                  <a:t>where </a:t>
                </a:r>
                <a:r>
                  <a:rPr lang="en-US" altLang="zh-TW" i="1" dirty="0"/>
                  <a:t>q </a:t>
                </a:r>
                <a:r>
                  <a:rPr lang="en-US" altLang="zh-TW" dirty="0"/>
                  <a:t>is the number of stored keys between </a:t>
                </a:r>
                <a:r>
                  <a:rPr lang="en-US" altLang="zh-TW" dirty="0" smtClean="0"/>
                  <a:t>the fingered </a:t>
                </a:r>
                <a:r>
                  <a:rPr lang="en-US" altLang="zh-TW" dirty="0"/>
                  <a:t>key </a:t>
                </a:r>
                <a:r>
                  <a:rPr lang="en-US" altLang="zh-TW" i="1" dirty="0"/>
                  <a:t>x </a:t>
                </a:r>
                <a:r>
                  <a:rPr lang="en-US" altLang="zh-TW" dirty="0"/>
                  <a:t>and the sought key </a:t>
                </a:r>
                <a:r>
                  <a:rPr lang="en-US" altLang="zh-TW" i="1" dirty="0"/>
                  <a:t>y</a:t>
                </a:r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b="-1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94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Complexity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1852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data structure storing a set X of </a:t>
            </a:r>
            <a:r>
              <a:rPr lang="en-US" altLang="zh-TW" i="1" dirty="0"/>
              <a:t>d</a:t>
            </a:r>
            <a:r>
              <a:rPr lang="en-US" altLang="zh-TW" dirty="0"/>
              <a:t> keys from a universe of size </a:t>
            </a:r>
            <a:r>
              <a:rPr lang="en-US" altLang="zh-TW" i="1" dirty="0"/>
              <a:t>U</a:t>
            </a:r>
            <a:r>
              <a:rPr lang="en-US" altLang="zh-TW" dirty="0"/>
              <a:t> can </a:t>
            </a:r>
            <a:r>
              <a:rPr lang="en-US" altLang="zh-TW" dirty="0" smtClean="0"/>
              <a:t>be constructed </a:t>
            </a:r>
            <a:r>
              <a:rPr lang="en-US" altLang="zh-TW" dirty="0"/>
              <a:t>in </a:t>
            </a:r>
            <a:r>
              <a:rPr lang="en-US" altLang="zh-TW" dirty="0" err="1"/>
              <a:t>d</a:t>
            </a:r>
            <a:r>
              <a:rPr lang="en-US" altLang="zh-TW" baseline="30000" dirty="0" err="1"/>
              <a:t>O</a:t>
            </a:r>
            <a:r>
              <a:rPr lang="en-US" altLang="zh-TW" baseline="30000" dirty="0"/>
              <a:t>(1)</a:t>
            </a:r>
            <a:r>
              <a:rPr lang="en-US" altLang="zh-TW" dirty="0"/>
              <a:t> time and space such that given a finger to stored key </a:t>
            </a:r>
            <a:r>
              <a:rPr lang="en-US" altLang="zh-TW" i="1" dirty="0"/>
              <a:t>x</a:t>
            </a:r>
            <a:r>
              <a:rPr lang="en-US" altLang="zh-TW" dirty="0"/>
              <a:t> </a:t>
            </a:r>
            <a:r>
              <a:rPr lang="en-US" altLang="zh-TW" dirty="0" smtClean="0"/>
              <a:t>∈ </a:t>
            </a:r>
            <a:r>
              <a:rPr lang="en-US" altLang="zh-TW" i="1" dirty="0"/>
              <a:t>X</a:t>
            </a:r>
            <a:r>
              <a:rPr lang="en-US" altLang="zh-TW" dirty="0"/>
              <a:t>, we </a:t>
            </a:r>
            <a:r>
              <a:rPr lang="en-US" altLang="zh-TW" dirty="0" smtClean="0"/>
              <a:t>search </a:t>
            </a:r>
            <a:r>
              <a:rPr lang="es-ES" altLang="zh-TW" dirty="0" smtClean="0"/>
              <a:t>a </a:t>
            </a:r>
            <a:r>
              <a:rPr lang="es-ES" altLang="zh-TW" dirty="0"/>
              <a:t>key </a:t>
            </a:r>
            <a:r>
              <a:rPr lang="es-ES" altLang="zh-TW" i="1" dirty="0"/>
              <a:t>y</a:t>
            </a:r>
            <a:r>
              <a:rPr lang="es-ES" altLang="zh-TW" dirty="0"/>
              <a:t> &gt; </a:t>
            </a:r>
            <a:r>
              <a:rPr lang="es-ES" altLang="zh-TW" i="1" dirty="0"/>
              <a:t>x</a:t>
            </a:r>
            <a:r>
              <a:rPr lang="es-ES" altLang="zh-TW" dirty="0"/>
              <a:t> in time </a:t>
            </a:r>
            <a:r>
              <a:rPr lang="es-ES" altLang="zh-TW" i="1" dirty="0"/>
              <a:t>O</a:t>
            </a:r>
            <a:r>
              <a:rPr lang="es-ES" altLang="zh-TW" dirty="0"/>
              <a:t>(log log(</a:t>
            </a:r>
            <a:r>
              <a:rPr lang="es-ES" altLang="zh-TW" i="1" dirty="0"/>
              <a:t>y</a:t>
            </a:r>
            <a:r>
              <a:rPr lang="es-ES" altLang="zh-TW" dirty="0"/>
              <a:t> − </a:t>
            </a:r>
            <a:r>
              <a:rPr lang="es-ES" altLang="zh-TW" i="1" dirty="0"/>
              <a:t>x</a:t>
            </a:r>
            <a:r>
              <a:rPr lang="es-ES" altLang="zh-TW" dirty="0"/>
              <a:t>)/ log log log(</a:t>
            </a:r>
            <a:r>
              <a:rPr lang="es-ES" altLang="zh-TW" i="1" dirty="0"/>
              <a:t>y</a:t>
            </a:r>
            <a:r>
              <a:rPr lang="es-ES" altLang="zh-TW" dirty="0"/>
              <a:t> − </a:t>
            </a:r>
            <a:r>
              <a:rPr lang="es-ES" altLang="zh-TW" i="1" dirty="0"/>
              <a:t>x</a:t>
            </a:r>
            <a:r>
              <a:rPr lang="es-ES" altLang="zh-TW" dirty="0"/>
              <a:t>)).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95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Lemma 34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00482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Beame</a:t>
                </a:r>
                <a:r>
                  <a:rPr lang="en-US" altLang="zh-TW" dirty="0"/>
                  <a:t> and </a:t>
                </a:r>
                <a:r>
                  <a:rPr lang="en-US" altLang="zh-TW" dirty="0" err="1"/>
                  <a:t>Fich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have </a:t>
                </a:r>
                <a:r>
                  <a:rPr lang="en-US" altLang="zh-TW" dirty="0"/>
                  <a:t>shown that a polynomial space search structure can </a:t>
                </a:r>
                <a:r>
                  <a:rPr lang="en-US" altLang="zh-TW" dirty="0" smtClean="0"/>
                  <a:t>be constructed </a:t>
                </a:r>
                <a:r>
                  <a:rPr lang="en-US" altLang="zh-TW" dirty="0"/>
                  <a:t>with search time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(min{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latin typeface="Cambria Math"/>
                          </a:rPr>
                        </m:ctrlPr>
                      </m:radPr>
                      <m:deg/>
                      <m:e>
                        <m:f>
                          <m:fPr>
                            <m:type m:val="lin"/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𝑛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/>
                                  </a:rPr>
                                  <m:t>log</m:t>
                                </m:r>
                              </m:fName>
                              <m:e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</m:func>
                              </m:e>
                            </m:func>
                          </m:den>
                        </m:f>
                      </m:e>
                    </m:rad>
                  </m:oMath>
                </a14:m>
                <a:r>
                  <a:rPr lang="da-DK" altLang="zh-TW" i="1" dirty="0"/>
                  <a:t>, </a:t>
                </a:r>
                <a:r>
                  <a:rPr lang="da-DK" altLang="zh-TW" dirty="0"/>
                  <a:t>log log </a:t>
                </a:r>
                <a:r>
                  <a:rPr lang="da-DK" altLang="zh-TW" i="1" dirty="0"/>
                  <a:t>U/ </a:t>
                </a:r>
                <a:r>
                  <a:rPr lang="da-DK" altLang="zh-TW" dirty="0"/>
                  <a:t>log log </a:t>
                </a:r>
                <a:r>
                  <a:rPr lang="da-DK" altLang="zh-TW" dirty="0" smtClean="0"/>
                  <a:t>log </a:t>
                </a:r>
                <a:r>
                  <a:rPr lang="da-DK" altLang="zh-TW" i="1" dirty="0" smtClean="0"/>
                  <a:t>U</a:t>
                </a:r>
                <a:r>
                  <a:rPr lang="da-DK" altLang="zh-TW" dirty="0"/>
                  <a:t>}), where </a:t>
                </a:r>
                <a:r>
                  <a:rPr lang="da-DK" altLang="zh-TW" i="1" dirty="0"/>
                  <a:t>n </a:t>
                </a:r>
                <a:r>
                  <a:rPr lang="da-DK" altLang="zh-TW" dirty="0"/>
                  <a:t>is </a:t>
                </a:r>
                <a:r>
                  <a:rPr lang="da-DK" altLang="zh-TW" dirty="0" smtClean="0"/>
                  <a:t>the </a:t>
                </a:r>
                <a:r>
                  <a:rPr lang="en-US" altLang="zh-TW" dirty="0"/>
                  <a:t>number of keys and </a:t>
                </a:r>
                <a:r>
                  <a:rPr lang="en-US" altLang="zh-TW" i="1" dirty="0"/>
                  <a:t>U </a:t>
                </a:r>
                <a:r>
                  <a:rPr lang="en-US" altLang="zh-TW" dirty="0"/>
                  <a:t>= 2</a:t>
                </a:r>
                <a:r>
                  <a:rPr lang="en-US" altLang="zh-TW" i="1" baseline="30000" dirty="0"/>
                  <a:t>W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is the size of the universe they are drawn </a:t>
                </a:r>
                <a:r>
                  <a:rPr lang="en-US" altLang="zh-TW" dirty="0" smtClean="0"/>
                  <a:t>from.</a:t>
                </a:r>
              </a:p>
              <a:p>
                <a:r>
                  <a:rPr lang="es-ES" altLang="zh-TW" dirty="0" smtClean="0"/>
                  <a:t>We are done if </a:t>
                </a:r>
                <a:r>
                  <a:rPr lang="es-ES" altLang="zh-TW" i="1" dirty="0" smtClean="0"/>
                  <a:t>O</a:t>
                </a:r>
                <a:r>
                  <a:rPr lang="es-ES" altLang="zh-TW" dirty="0" smtClean="0"/>
                  <a:t>(log </a:t>
                </a:r>
                <a:r>
                  <a:rPr lang="es-ES" altLang="zh-TW" dirty="0"/>
                  <a:t>log(</a:t>
                </a:r>
                <a:r>
                  <a:rPr lang="es-ES" altLang="zh-TW" i="1" dirty="0"/>
                  <a:t>y</a:t>
                </a:r>
                <a:r>
                  <a:rPr lang="es-ES" altLang="zh-TW" dirty="0"/>
                  <a:t> − </a:t>
                </a:r>
                <a:r>
                  <a:rPr lang="es-ES" altLang="zh-TW" i="1" dirty="0"/>
                  <a:t>x</a:t>
                </a:r>
                <a:r>
                  <a:rPr lang="es-ES" altLang="zh-TW" dirty="0"/>
                  <a:t>)/ log log log(</a:t>
                </a:r>
                <a:r>
                  <a:rPr lang="es-ES" altLang="zh-TW" i="1" dirty="0"/>
                  <a:t>y</a:t>
                </a:r>
                <a:r>
                  <a:rPr lang="es-ES" altLang="zh-TW" dirty="0"/>
                  <a:t> − </a:t>
                </a:r>
                <a:r>
                  <a:rPr lang="es-ES" altLang="zh-TW" i="1" dirty="0"/>
                  <a:t>x</a:t>
                </a:r>
                <a:r>
                  <a:rPr lang="es-ES" altLang="zh-TW" dirty="0" smtClean="0"/>
                  <a:t>) = </a:t>
                </a:r>
                <a:r>
                  <a:rPr lang="el-GR" altLang="zh-TW" dirty="0" smtClean="0"/>
                  <a:t>Ω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latin typeface="Cambria Math"/>
                          </a:rPr>
                        </m:ctrlPr>
                      </m:radPr>
                      <m:deg/>
                      <m:e>
                        <m:f>
                          <m:fPr>
                            <m:type m:val="lin"/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𝑑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/>
                                  </a:rPr>
                                  <m:t>log</m:t>
                                </m:r>
                              </m:fName>
                              <m:e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𝑑</m:t>
                                    </m:r>
                                  </m:e>
                                </m:func>
                              </m:e>
                            </m:func>
                          </m:den>
                        </m:f>
                      </m:e>
                    </m:rad>
                    <m:r>
                      <a:rPr lang="en-US" altLang="zh-TW" b="0" i="1" smtClean="0">
                        <a:latin typeface="Cambria Math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2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96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Case 1: </a:t>
            </a:r>
            <a:r>
              <a:rPr lang="en-US" altLang="zh-TW" b="0" i="1" dirty="0"/>
              <a:t>y − x </a:t>
            </a:r>
            <a:r>
              <a:rPr lang="en-US" altLang="zh-TW" b="0" dirty="0" smtClean="0"/>
              <a:t>≥</a:t>
            </a:r>
            <a:r>
              <a:rPr lang="en-US" altLang="zh-TW" b="0" i="1" dirty="0" smtClean="0"/>
              <a:t> </a:t>
            </a:r>
            <a:r>
              <a:rPr lang="en-US" altLang="zh-TW" b="0" dirty="0"/>
              <a:t>2</a:t>
            </a:r>
            <a:r>
              <a:rPr lang="en-US" altLang="zh-TW" b="0" i="1" baseline="30000" dirty="0"/>
              <a:t>d</a:t>
            </a:r>
            <a:endParaRPr lang="zh-TW" alt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2945673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Now, for each key </a:t>
                </a:r>
                <a:r>
                  <a:rPr lang="en-US" altLang="zh-TW" i="1" dirty="0"/>
                  <a:t>x </a:t>
                </a:r>
                <a:r>
                  <a:rPr lang="en-US" altLang="zh-TW" dirty="0"/>
                  <a:t>∈</a:t>
                </a:r>
                <a:r>
                  <a:rPr lang="en-US" altLang="zh-TW" i="1" dirty="0" smtClean="0"/>
                  <a:t> </a:t>
                </a:r>
                <a:r>
                  <a:rPr lang="en-US" altLang="zh-TW" i="1" dirty="0"/>
                  <a:t>X</a:t>
                </a:r>
                <a:r>
                  <a:rPr lang="en-US" altLang="zh-TW" dirty="0"/>
                  <a:t>, and for </a:t>
                </a:r>
                <a:r>
                  <a:rPr lang="en-US" altLang="zh-TW" i="1" dirty="0" err="1"/>
                  <a:t>i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= 0</a:t>
                </a:r>
                <a:r>
                  <a:rPr lang="en-US" altLang="zh-TW" i="1" dirty="0"/>
                  <a:t>, ..., </a:t>
                </a:r>
                <a:r>
                  <a:rPr lang="en-US" altLang="zh-TW" dirty="0"/>
                  <a:t>log </a:t>
                </a:r>
                <a:r>
                  <a:rPr lang="en-US" altLang="zh-TW" dirty="0" err="1"/>
                  <a:t>log</a:t>
                </a:r>
                <a:r>
                  <a:rPr lang="en-US" altLang="zh-TW" dirty="0"/>
                  <a:t> </a:t>
                </a:r>
                <a:r>
                  <a:rPr lang="en-US" altLang="zh-TW" i="1" dirty="0"/>
                  <a:t>d</a:t>
                </a:r>
                <a:r>
                  <a:rPr lang="en-US" altLang="zh-TW" dirty="0"/>
                  <a:t>, we will have a search </a:t>
                </a:r>
                <a:r>
                  <a:rPr lang="en-US" altLang="zh-TW" dirty="0" smtClean="0"/>
                  <a:t>structure </a:t>
                </a:r>
                <a:r>
                  <a:rPr lang="en-US" altLang="zh-TW" i="1" dirty="0" err="1" smtClean="0"/>
                  <a:t>S</a:t>
                </a:r>
                <a:r>
                  <a:rPr lang="en-US" altLang="zh-TW" i="1" baseline="-25000" dirty="0" err="1" smtClean="0"/>
                  <a:t>x,i</a:t>
                </a:r>
                <a:r>
                  <a:rPr lang="en-US" altLang="zh-TW" i="1" dirty="0" smtClean="0"/>
                  <a:t> </a:t>
                </a:r>
                <a:r>
                  <a:rPr lang="en-US" altLang="zh-TW" dirty="0"/>
                  <a:t>over the keys in the range [</a:t>
                </a:r>
                <a:r>
                  <a:rPr lang="en-US" altLang="zh-TW" i="1" dirty="0"/>
                  <a:t>x, </a:t>
                </a:r>
                <a:r>
                  <a:rPr lang="en-US" altLang="zh-TW" i="1" dirty="0" smtClean="0"/>
                  <a:t>x</a:t>
                </a:r>
                <a:r>
                  <a:rPr lang="en-US" altLang="zh-TW" dirty="0" smtClean="0"/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altLang="zh-TW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𝑖</m:t>
                                </m:r>
                              </m:sup>
                            </m:sSup>
                          </m:sup>
                        </m:sSup>
                      </m:sup>
                    </m:sSup>
                  </m:oMath>
                </a14:m>
                <a:r>
                  <a:rPr lang="en-US" altLang="zh-TW" dirty="0" smtClean="0"/>
                  <a:t>), </a:t>
                </a:r>
                <a:r>
                  <a:rPr lang="en-US" altLang="zh-TW" dirty="0"/>
                  <a:t>with search </a:t>
                </a:r>
                <a:r>
                  <a:rPr lang="en-US" altLang="zh-TW" dirty="0" smtClean="0"/>
                  <a:t>time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(log </a:t>
                </a:r>
                <a:r>
                  <a:rPr lang="en-US" altLang="zh-TW" dirty="0" err="1"/>
                  <a:t>log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</m:sup>
                            </m:sSup>
                          </m:sup>
                        </m:sSup>
                      </m:sup>
                    </m:sSup>
                  </m:oMath>
                </a14:m>
                <a:r>
                  <a:rPr lang="en-US" altLang="zh-TW" i="1" dirty="0" smtClean="0"/>
                  <a:t>/ </a:t>
                </a:r>
                <a:r>
                  <a:rPr lang="en-US" altLang="zh-TW" dirty="0"/>
                  <a:t>log </a:t>
                </a:r>
                <a:r>
                  <a:rPr lang="en-US" altLang="zh-TW" dirty="0" err="1"/>
                  <a:t>log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log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</m:sup>
                            </m:sSup>
                          </m:sup>
                        </m:sSup>
                      </m:sup>
                    </m:sSup>
                  </m:oMath>
                </a14:m>
                <a:r>
                  <a:rPr lang="en-US" altLang="zh-TW" dirty="0" smtClean="0"/>
                  <a:t>) =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(2</a:t>
                </a:r>
                <a:r>
                  <a:rPr lang="en-US" altLang="zh-TW" i="1" baseline="30000" dirty="0" smtClean="0"/>
                  <a:t>i</a:t>
                </a:r>
                <a:r>
                  <a:rPr lang="en-US" altLang="zh-TW" i="1" dirty="0" smtClean="0"/>
                  <a:t>/</a:t>
                </a:r>
                <a:r>
                  <a:rPr lang="en-US" altLang="zh-TW" i="1" dirty="0" err="1" smtClean="0"/>
                  <a:t>i</a:t>
                </a:r>
                <a:r>
                  <a:rPr lang="en-US" altLang="zh-TW" dirty="0" smtClean="0"/>
                  <a:t>).</a:t>
                </a:r>
              </a:p>
              <a:p>
                <a:r>
                  <a:rPr lang="en-US" altLang="zh-TW" dirty="0"/>
                  <a:t>Then to find </a:t>
                </a:r>
                <a:r>
                  <a:rPr lang="en-US" altLang="zh-TW" i="1" dirty="0"/>
                  <a:t>y </a:t>
                </a:r>
                <a:r>
                  <a:rPr lang="en-US" altLang="zh-TW" dirty="0"/>
                  <a:t>&lt;</a:t>
                </a:r>
                <a:r>
                  <a:rPr lang="en-US" altLang="zh-TW" i="1" dirty="0"/>
                  <a:t> x </a:t>
                </a:r>
                <a:r>
                  <a:rPr lang="en-US" altLang="zh-TW" dirty="0"/>
                  <a:t>+ 2</a:t>
                </a:r>
                <a:r>
                  <a:rPr lang="en-US" altLang="zh-TW" i="1" baseline="30000" dirty="0"/>
                  <a:t>d</a:t>
                </a:r>
                <a:r>
                  <a:rPr lang="en-US" altLang="zh-TW" dirty="0"/>
                  <a:t>, we look in </a:t>
                </a:r>
                <a:r>
                  <a:rPr lang="en-US" altLang="zh-TW" i="1" dirty="0" err="1"/>
                  <a:t>S</a:t>
                </a:r>
                <a:r>
                  <a:rPr lang="en-US" altLang="zh-TW" i="1" baseline="-25000" dirty="0" err="1"/>
                  <a:t>x</a:t>
                </a:r>
                <a:r>
                  <a:rPr lang="en-US" altLang="zh-TW" i="1" baseline="-25000" dirty="0" smtClean="0"/>
                  <a:t>,</a:t>
                </a:r>
                <a:r>
                  <a:rPr lang="en-US" altLang="zh-TW" baseline="-25000" dirty="0" smtClean="0"/>
                  <a:t>⌈log </a:t>
                </a:r>
                <a:r>
                  <a:rPr lang="en-US" altLang="zh-TW" baseline="-25000" dirty="0"/>
                  <a:t>log log(</a:t>
                </a:r>
                <a:r>
                  <a:rPr lang="en-US" altLang="zh-TW" i="1" baseline="-25000" dirty="0"/>
                  <a:t>y−x</a:t>
                </a:r>
                <a:r>
                  <a:rPr lang="en-US" altLang="zh-TW" baseline="-25000" dirty="0" smtClean="0"/>
                  <a:t>)⌉</a:t>
                </a:r>
                <a:r>
                  <a:rPr lang="en-US" altLang="zh-TW" dirty="0" smtClean="0"/>
                  <a:t>. </a:t>
                </a:r>
                <a:r>
                  <a:rPr lang="en-US" altLang="zh-TW" dirty="0"/>
                  <a:t>Now,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altLang="zh-TW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2</m:t>
                                </m:r>
                              </m:e>
                              <m:sup>
                                <m:d>
                                  <m:dPr>
                                    <m:begChr m:val="⌈"/>
                                    <m:endChr m:val="⌉"/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>
                                            <a:latin typeface="Cambria Math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func>
                                          <m:funcPr>
                                            <m:ctrlPr>
                                              <a:rPr lang="en-US" altLang="zh-TW" i="1">
                                                <a:latin typeface="Cambria Math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>
                                                <a:latin typeface="Cambria Math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func>
                                              <m:funcPr>
                                                <m:ctrlPr>
                                                  <a:rPr lang="en-US" altLang="zh-TW" i="1">
                                                    <a:latin typeface="Cambria Math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TW">
                                                    <a:latin typeface="Cambria Math"/>
                                                  </a:rPr>
                                                  <m:t>log</m:t>
                                                </m:r>
                                              </m:fName>
                                              <m:e>
                                                <m:r>
                                                  <a:rPr lang="en-US" altLang="zh-TW" i="1">
                                                    <a:latin typeface="Cambria Math"/>
                                                  </a:rPr>
                                                  <m:t>(</m:t>
                                                </m:r>
                                                <m:r>
                                                  <a:rPr lang="en-US" altLang="zh-TW" i="1">
                                                    <a:latin typeface="Cambria Math"/>
                                                  </a:rPr>
                                                  <m:t>𝑦</m:t>
                                                </m:r>
                                                <m:r>
                                                  <a:rPr lang="en-US" altLang="zh-TW" i="1">
                                                    <a:latin typeface="Cambria Math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n-US" altLang="zh-TW" i="1">
                                                    <a:latin typeface="Cambria Math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a:rPr lang="en-US" altLang="zh-TW" i="1">
                                                    <a:latin typeface="Cambria Math"/>
                                                  </a:rPr>
                                                  <m:t>)</m:t>
                                                </m:r>
                                              </m:e>
                                            </m:func>
                                          </m:e>
                                        </m:func>
                                      </m:e>
                                    </m:func>
                                  </m:e>
                                </m:d>
                              </m:sup>
                            </m:sSup>
                          </m:sup>
                        </m:sSup>
                      </m:sup>
                    </m:sSup>
                  </m:oMath>
                </a14:m>
                <a:r>
                  <a:rPr lang="en-US" altLang="zh-TW" i="1" dirty="0" smtClean="0"/>
                  <a:t>&lt; 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y </a:t>
                </a:r>
                <a:r>
                  <a:rPr lang="en-US" altLang="zh-TW" i="1" dirty="0" smtClean="0"/>
                  <a:t>− x</a:t>
                </a:r>
                <a:r>
                  <a:rPr lang="en-US" altLang="zh-TW" dirty="0" smtClean="0"/>
                  <a:t>)</a:t>
                </a:r>
                <a:r>
                  <a:rPr lang="en-US" altLang="zh-TW" baseline="30000" dirty="0" smtClean="0"/>
                  <a:t>log(</a:t>
                </a:r>
                <a:r>
                  <a:rPr lang="en-US" altLang="zh-TW" i="1" baseline="30000" dirty="0" smtClean="0"/>
                  <a:t>y</a:t>
                </a:r>
                <a:r>
                  <a:rPr lang="en-US" altLang="zh-TW" i="1" baseline="30000" dirty="0"/>
                  <a:t>−x</a:t>
                </a:r>
                <a:r>
                  <a:rPr lang="en-US" altLang="zh-TW" baseline="30000" dirty="0"/>
                  <a:t>)</a:t>
                </a:r>
                <a:r>
                  <a:rPr lang="en-US" altLang="zh-TW" dirty="0"/>
                  <a:t>, the search time is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(log </a:t>
                </a:r>
                <a:r>
                  <a:rPr lang="en-US" altLang="zh-TW" dirty="0" smtClean="0"/>
                  <a:t>log(</a:t>
                </a:r>
                <a:r>
                  <a:rPr lang="en-US" altLang="zh-TW" i="1" dirty="0" smtClean="0"/>
                  <a:t>y</a:t>
                </a:r>
                <a:r>
                  <a:rPr lang="en-US" altLang="zh-TW" i="1" dirty="0"/>
                  <a:t>−x</a:t>
                </a:r>
                <a:r>
                  <a:rPr lang="en-US" altLang="zh-TW" dirty="0"/>
                  <a:t>)</a:t>
                </a:r>
                <a:r>
                  <a:rPr lang="en-US" altLang="zh-TW" baseline="30000" dirty="0"/>
                  <a:t>log(</a:t>
                </a:r>
                <a:r>
                  <a:rPr lang="en-US" altLang="zh-TW" i="1" baseline="30000" dirty="0"/>
                  <a:t>y−x</a:t>
                </a:r>
                <a:r>
                  <a:rPr lang="en-US" altLang="zh-TW" baseline="30000" dirty="0"/>
                  <a:t>)</a:t>
                </a:r>
                <a:r>
                  <a:rPr lang="en-US" altLang="zh-TW" i="1" dirty="0"/>
                  <a:t>/ </a:t>
                </a:r>
                <a:r>
                  <a:rPr lang="en-US" altLang="zh-TW" dirty="0"/>
                  <a:t>log </a:t>
                </a:r>
                <a:r>
                  <a:rPr lang="en-US" altLang="zh-TW" dirty="0" err="1"/>
                  <a:t>log</a:t>
                </a:r>
                <a:r>
                  <a:rPr lang="en-US" altLang="zh-TW" dirty="0"/>
                  <a:t> log(</a:t>
                </a:r>
                <a:r>
                  <a:rPr lang="en-US" altLang="zh-TW" i="1" dirty="0"/>
                  <a:t>y−x</a:t>
                </a:r>
                <a:r>
                  <a:rPr lang="en-US" altLang="zh-TW" dirty="0"/>
                  <a:t>)</a:t>
                </a:r>
                <a:r>
                  <a:rPr lang="en-US" altLang="zh-TW" baseline="30000" dirty="0"/>
                  <a:t>log(</a:t>
                </a:r>
                <a:r>
                  <a:rPr lang="en-US" altLang="zh-TW" i="1" baseline="30000" dirty="0"/>
                  <a:t>y−x</a:t>
                </a:r>
                <a:r>
                  <a:rPr lang="en-US" altLang="zh-TW" baseline="30000" dirty="0"/>
                  <a:t>)</a:t>
                </a:r>
                <a:r>
                  <a:rPr lang="en-US" altLang="zh-TW" dirty="0"/>
                  <a:t>) =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(log log(</a:t>
                </a:r>
                <a:r>
                  <a:rPr lang="en-US" altLang="zh-TW" i="1" dirty="0"/>
                  <a:t>y</a:t>
                </a:r>
                <a:r>
                  <a:rPr lang="en-US" altLang="zh-TW" i="1" dirty="0" smtClean="0"/>
                  <a:t>− x</a:t>
                </a:r>
                <a:r>
                  <a:rPr lang="en-US" altLang="zh-TW" dirty="0"/>
                  <a:t>)</a:t>
                </a:r>
                <a:r>
                  <a:rPr lang="en-US" altLang="zh-TW" i="1" dirty="0"/>
                  <a:t>/ </a:t>
                </a:r>
                <a:r>
                  <a:rPr lang="en-US" altLang="zh-TW" dirty="0"/>
                  <a:t>log </a:t>
                </a:r>
                <a:r>
                  <a:rPr lang="en-US" altLang="zh-TW" dirty="0" err="1"/>
                  <a:t>log</a:t>
                </a:r>
                <a:r>
                  <a:rPr lang="en-US" altLang="zh-TW" dirty="0"/>
                  <a:t> log(</a:t>
                </a:r>
                <a:r>
                  <a:rPr lang="en-US" altLang="zh-TW" i="1" dirty="0"/>
                  <a:t>y − x</a:t>
                </a:r>
                <a:r>
                  <a:rPr lang="en-US" altLang="zh-TW" dirty="0"/>
                  <a:t>)).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1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97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Case 2: </a:t>
            </a:r>
            <a:r>
              <a:rPr lang="en-US" altLang="zh-TW" b="0" i="1" dirty="0" smtClean="0"/>
              <a:t>y </a:t>
            </a:r>
            <a:r>
              <a:rPr lang="en-US" altLang="zh-TW" b="0" i="1" dirty="0"/>
              <a:t>− x </a:t>
            </a:r>
            <a:r>
              <a:rPr lang="en-US" altLang="zh-TW" b="0" dirty="0" smtClean="0"/>
              <a:t>&lt;</a:t>
            </a:r>
            <a:r>
              <a:rPr lang="en-US" altLang="zh-TW" b="0" i="1" dirty="0" smtClean="0"/>
              <a:t> </a:t>
            </a:r>
            <a:r>
              <a:rPr lang="en-US" altLang="zh-TW" b="0" dirty="0"/>
              <a:t>2</a:t>
            </a:r>
            <a:r>
              <a:rPr lang="en-US" altLang="zh-TW" b="0" i="1" baseline="30000" dirty="0"/>
              <a:t>d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39009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</a:p>
          <a:p>
            <a:r>
              <a:rPr lang="en-US" altLang="zh-TW" dirty="0" smtClean="0"/>
              <a:t>Amortized optimal exponential </a:t>
            </a:r>
            <a:r>
              <a:rPr lang="en-US" altLang="zh-TW" dirty="0"/>
              <a:t>s</a:t>
            </a:r>
            <a:r>
              <a:rPr lang="en-US" altLang="zh-TW" dirty="0" smtClean="0"/>
              <a:t>earch </a:t>
            </a:r>
            <a:r>
              <a:rPr lang="en-US" altLang="zh-TW" dirty="0"/>
              <a:t>t</a:t>
            </a:r>
            <a:r>
              <a:rPr lang="en-US" altLang="zh-TW" dirty="0" smtClean="0"/>
              <a:t>ree</a:t>
            </a:r>
          </a:p>
          <a:p>
            <a:r>
              <a:rPr lang="en-US" altLang="zh-TW" dirty="0" smtClean="0"/>
              <a:t>Worst case optimal </a:t>
            </a:r>
            <a:r>
              <a:rPr lang="en-US" altLang="zh-TW" dirty="0"/>
              <a:t>e</a:t>
            </a:r>
            <a:r>
              <a:rPr lang="en-US" altLang="zh-TW" dirty="0" smtClean="0"/>
              <a:t>xponential search tree</a:t>
            </a:r>
          </a:p>
          <a:p>
            <a:r>
              <a:rPr lang="en-US" altLang="zh-TW" dirty="0"/>
              <a:t>Static search structures</a:t>
            </a:r>
          </a:p>
          <a:p>
            <a:r>
              <a:rPr lang="en-US" altLang="zh-TW" dirty="0" smtClean="0"/>
              <a:t>Finger </a:t>
            </a:r>
            <a:r>
              <a:rPr lang="en-US" altLang="zh-TW" dirty="0"/>
              <a:t>Search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String </a:t>
            </a:r>
            <a:r>
              <a:rPr lang="en-US" altLang="zh-TW" dirty="0" smtClean="0">
                <a:solidFill>
                  <a:srgbClr val="FF0000"/>
                </a:solidFill>
              </a:rPr>
              <a:t>Search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98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7213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Each </a:t>
                </a:r>
                <a:r>
                  <a:rPr lang="en-US" altLang="zh-TW" dirty="0"/>
                  <a:t>key may be distributed </a:t>
                </a:r>
                <a:r>
                  <a:rPr lang="en-US" altLang="zh-TW" dirty="0" smtClean="0"/>
                  <a:t>over multiple </a:t>
                </a:r>
                <a:r>
                  <a:rPr lang="en-US" altLang="zh-TW" dirty="0"/>
                  <a:t>words. Strings are then ordered lexicographically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I</a:t>
                </a:r>
                <a:r>
                  <a:rPr lang="en-US" altLang="zh-TW" dirty="0" smtClean="0"/>
                  <a:t>f </a:t>
                </a:r>
                <a:r>
                  <a:rPr lang="en-US" altLang="zh-TW" dirty="0"/>
                  <a:t>the longest common prefix between a key </a:t>
                </a:r>
                <a:r>
                  <a:rPr lang="en-US" altLang="zh-TW" i="1" dirty="0"/>
                  <a:t>y </a:t>
                </a:r>
                <a:r>
                  <a:rPr lang="en-US" altLang="zh-TW" dirty="0"/>
                  <a:t>and the stored keys has </a:t>
                </a:r>
                <a:r>
                  <a:rPr lang="en-US" altLang="zh-TW" i="1" dirty="0" smtClean="0"/>
                  <a:t>l </a:t>
                </a:r>
                <a:r>
                  <a:rPr lang="en-US" altLang="zh-TW" dirty="0" smtClean="0"/>
                  <a:t>words, we </a:t>
                </a:r>
                <a:r>
                  <a:rPr lang="en-US" altLang="zh-TW" dirty="0"/>
                  <a:t>can search </a:t>
                </a:r>
                <a:r>
                  <a:rPr lang="en-US" altLang="zh-TW" i="1" dirty="0"/>
                  <a:t>y </a:t>
                </a:r>
                <a:r>
                  <a:rPr lang="en-US" altLang="zh-TW" dirty="0"/>
                  <a:t>in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l </a:t>
                </a:r>
                <a:r>
                  <a:rPr lang="en-US" altLang="zh-TW" dirty="0" smtClean="0"/>
                  <a:t>+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>
                            <a:latin typeface="Cambria Math"/>
                          </a:rPr>
                        </m:ctrlPr>
                      </m:radPr>
                      <m:deg/>
                      <m:e>
                        <m:func>
                          <m:func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i="0" smtClean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𝑛</m:t>
                            </m:r>
                          </m:e>
                        </m:func>
                        <m:r>
                          <a:rPr lang="en-US" altLang="zh-TW">
                            <a:latin typeface="Cambria Math"/>
                          </a:rPr>
                          <m:t>/</m:t>
                        </m:r>
                        <m:func>
                          <m:func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i="0" smtClean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𝑛</m:t>
                                </m:r>
                              </m:e>
                            </m:func>
                          </m:e>
                        </m:func>
                      </m:e>
                    </m:rad>
                  </m:oMath>
                </a14:m>
                <a:r>
                  <a:rPr lang="en-US" altLang="zh-TW" dirty="0"/>
                  <a:t>) time, where </a:t>
                </a:r>
                <a:r>
                  <a:rPr lang="en-US" altLang="zh-TW" i="1" dirty="0"/>
                  <a:t>n </a:t>
                </a:r>
                <a:r>
                  <a:rPr lang="en-US" altLang="zh-TW" dirty="0"/>
                  <a:t>is the current number of keys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Updates can be done within the same time bound.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1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String Searching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99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4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Merge the common prefixes of the stored keys.</a:t>
                </a:r>
              </a:p>
              <a:p>
                <a:r>
                  <a:rPr lang="en-US" altLang="zh-TW" dirty="0"/>
                  <a:t>S</a:t>
                </a:r>
                <a:r>
                  <a:rPr lang="en-US" altLang="zh-TW" dirty="0" smtClean="0"/>
                  <a:t>earching </a:t>
                </a:r>
                <a:r>
                  <a:rPr lang="en-US" altLang="zh-TW" dirty="0"/>
                  <a:t>a string </a:t>
                </a:r>
                <a:r>
                  <a:rPr lang="en-US" altLang="zh-TW" i="1" dirty="0"/>
                  <a:t>x </a:t>
                </a:r>
                <a:r>
                  <a:rPr lang="en-US" altLang="zh-TW" dirty="0"/>
                  <a:t>among the </a:t>
                </a:r>
                <a:r>
                  <a:rPr lang="en-US" altLang="zh-TW" dirty="0" smtClean="0"/>
                  <a:t>stored strings </a:t>
                </a:r>
                <a:r>
                  <a:rPr lang="en-US" altLang="zh-TW" i="1" dirty="0"/>
                  <a:t>S </a:t>
                </a:r>
                <a:r>
                  <a:rPr lang="en-US" altLang="zh-TW" dirty="0"/>
                  <a:t>reduces to </a:t>
                </a:r>
                <a:endParaRPr lang="en-US" altLang="zh-TW" dirty="0"/>
              </a:p>
              <a:p>
                <a:pPr lvl="1"/>
                <a:r>
                  <a:rPr lang="en-US" altLang="zh-TW" dirty="0"/>
                  <a:t>F</a:t>
                </a:r>
                <a:r>
                  <a:rPr lang="en-US" altLang="zh-TW" dirty="0" smtClean="0"/>
                  <a:t>inding </a:t>
                </a:r>
                <a:r>
                  <a:rPr lang="en-US" altLang="zh-TW" dirty="0"/>
                  <a:t>the longest common prefix </a:t>
                </a:r>
                <a:r>
                  <a:rPr lang="el-GR" altLang="zh-TW" i="1" dirty="0" smtClean="0"/>
                  <a:t>α</a:t>
                </a:r>
                <a:r>
                  <a:rPr lang="en-US" altLang="zh-TW" i="1" dirty="0" smtClean="0"/>
                  <a:t> </a:t>
                </a:r>
                <a:r>
                  <a:rPr lang="en-US" altLang="zh-TW" dirty="0"/>
                  <a:t>between </a:t>
                </a:r>
                <a:r>
                  <a:rPr lang="en-US" altLang="zh-TW" i="1" dirty="0"/>
                  <a:t>x </a:t>
                </a:r>
                <a:r>
                  <a:rPr lang="en-US" altLang="zh-TW" dirty="0"/>
                  <a:t>and the </a:t>
                </a:r>
                <a:r>
                  <a:rPr lang="en-US" altLang="zh-TW" dirty="0" smtClean="0"/>
                  <a:t>strings in </a:t>
                </a:r>
                <a:r>
                  <a:rPr lang="en-US" altLang="zh-TW" i="1" dirty="0" smtClean="0"/>
                  <a:t>S, O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l </a:t>
                </a:r>
                <a:r>
                  <a:rPr lang="en-US" altLang="zh-TW" dirty="0" smtClean="0"/>
                  <a:t>) time with a dictionary in each of the internal node</a:t>
                </a:r>
                <a:r>
                  <a:rPr lang="en-US" altLang="zh-TW" i="1" dirty="0" smtClean="0"/>
                  <a:t>.</a:t>
                </a:r>
                <a:endParaRPr lang="en-US" altLang="zh-TW" dirty="0" smtClean="0"/>
              </a:p>
              <a:p>
                <a:pPr lvl="1"/>
                <a:r>
                  <a:rPr lang="en-US" altLang="zh-TW" dirty="0"/>
                  <a:t>S</a:t>
                </a:r>
                <a:r>
                  <a:rPr lang="en-US" altLang="zh-TW" dirty="0" smtClean="0"/>
                  <a:t>earching </a:t>
                </a:r>
                <a:r>
                  <a:rPr lang="en-US" altLang="zh-TW" dirty="0"/>
                  <a:t>the next 1-word character of </a:t>
                </a:r>
                <a:r>
                  <a:rPr lang="en-US" altLang="zh-TW" i="1" dirty="0"/>
                  <a:t>x </a:t>
                </a:r>
                <a:r>
                  <a:rPr lang="en-US" altLang="zh-TW" dirty="0"/>
                  <a:t>among the labels of the </a:t>
                </a:r>
                <a:r>
                  <a:rPr lang="en-US" altLang="zh-TW" dirty="0" smtClean="0"/>
                  <a:t>children of </a:t>
                </a:r>
                <a:r>
                  <a:rPr lang="en-US" altLang="zh-TW" dirty="0"/>
                  <a:t>the </a:t>
                </a:r>
                <a:r>
                  <a:rPr lang="en-US" altLang="zh-TW" dirty="0" err="1"/>
                  <a:t>trie</a:t>
                </a:r>
                <a:r>
                  <a:rPr lang="en-US" altLang="zh-TW" dirty="0"/>
                  <a:t> node </a:t>
                </a:r>
                <a:r>
                  <a:rPr lang="el-GR" altLang="zh-TW" i="1" dirty="0" smtClean="0"/>
                  <a:t>α</a:t>
                </a:r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O</m:t>
                    </m:r>
                    <m:r>
                      <a:rPr lang="en-US" altLang="zh-TW" b="0" i="0" smtClean="0">
                        <a:latin typeface="Cambria Math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zh-TW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log</m:t>
                        </m:r>
                        <m:r>
                          <a:rPr lang="en-US" altLang="zh-TW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/>
                          </a:rPr>
                          <m:t>n</m:t>
                        </m:r>
                        <m:r>
                          <a:rPr lang="en-US" altLang="zh-TW">
                            <a:latin typeface="Cambria Math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/>
                          </a:rPr>
                          <m:t>n</m:t>
                        </m:r>
                      </m:e>
                    </m:rad>
                  </m:oMath>
                </a14:m>
                <a:r>
                  <a:rPr lang="en-US" altLang="zh-TW" dirty="0" smtClean="0"/>
                  <a:t>) time.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100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Static </a:t>
            </a:r>
            <a:r>
              <a:rPr lang="en-US" altLang="zh-TW" dirty="0" err="1" smtClean="0"/>
              <a:t>Trie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82724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Our new idea is to only use the constant time dictionaries for </a:t>
            </a:r>
            <a:r>
              <a:rPr lang="en-US" altLang="zh-TW" dirty="0" smtClean="0"/>
              <a:t>some of </a:t>
            </a:r>
            <a:r>
              <a:rPr lang="en-US" altLang="zh-TW" dirty="0"/>
              <a:t>the children of a node, called the </a:t>
            </a:r>
            <a:r>
              <a:rPr lang="en-US" altLang="zh-TW" dirty="0">
                <a:solidFill>
                  <a:srgbClr val="0070C0"/>
                </a:solidFill>
              </a:rPr>
              <a:t>dictionary children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The dictionary children </a:t>
            </a:r>
            <a:r>
              <a:rPr lang="en-US" altLang="zh-TW" dirty="0"/>
              <a:t>f</a:t>
            </a:r>
            <a:r>
              <a:rPr lang="en-US" altLang="zh-TW" dirty="0" smtClean="0"/>
              <a:t>or </a:t>
            </a:r>
            <a:r>
              <a:rPr lang="en-US" altLang="zh-TW" dirty="0"/>
              <a:t>a node </a:t>
            </a:r>
            <a:r>
              <a:rPr lang="el-GR" altLang="zh-TW" i="1" dirty="0"/>
              <a:t>α</a:t>
            </a:r>
            <a:r>
              <a:rPr lang="en-US" altLang="zh-TW" i="1" dirty="0" smtClean="0"/>
              <a:t> </a:t>
            </a:r>
            <a:r>
              <a:rPr lang="en-US" altLang="zh-TW" dirty="0" smtClean="0"/>
              <a:t>with </a:t>
            </a:r>
            <a:r>
              <a:rPr lang="en-US" altLang="zh-TW" i="1" dirty="0"/>
              <a:t>m </a:t>
            </a:r>
            <a:r>
              <a:rPr lang="en-US" altLang="zh-TW" dirty="0"/>
              <a:t>descending leaves </a:t>
            </a:r>
            <a:r>
              <a:rPr lang="en-US" altLang="zh-TW" dirty="0" smtClean="0"/>
              <a:t>will have more than </a:t>
            </a:r>
            <a:r>
              <a:rPr lang="en-US" altLang="zh-TW" i="1" dirty="0"/>
              <a:t>m</a:t>
            </a:r>
            <a:r>
              <a:rPr lang="en-US" altLang="zh-TW" baseline="30000" dirty="0"/>
              <a:t>1</a:t>
            </a:r>
            <a:r>
              <a:rPr lang="en-US" altLang="zh-TW" i="1" baseline="30000" dirty="0"/>
              <a:t>−</a:t>
            </a:r>
            <a:r>
              <a:rPr lang="en-US" altLang="zh-TW" baseline="30000" dirty="0"/>
              <a:t>1</a:t>
            </a:r>
            <a:r>
              <a:rPr lang="en-US" altLang="zh-TW" i="1" baseline="30000" dirty="0"/>
              <a:t>/k</a:t>
            </a:r>
            <a:r>
              <a:rPr lang="en-US" altLang="zh-TW" dirty="0" smtClean="0"/>
              <a:t> </a:t>
            </a:r>
            <a:r>
              <a:rPr lang="en-US" altLang="zh-TW" dirty="0"/>
              <a:t>leaf descendants so they are guaranteed to remain for a long time</a:t>
            </a:r>
            <a:r>
              <a:rPr lang="en-US" altLang="zh-TW" dirty="0" smtClean="0"/>
              <a:t>. </a:t>
            </a:r>
          </a:p>
          <a:p>
            <a:r>
              <a:rPr lang="en-US" altLang="zh-TW" dirty="0" smtClean="0"/>
              <a:t>We </a:t>
            </a:r>
            <a:r>
              <a:rPr lang="en-US" altLang="zh-TW" dirty="0"/>
              <a:t>can </a:t>
            </a:r>
            <a:r>
              <a:rPr lang="en-US" altLang="zh-TW" dirty="0" smtClean="0"/>
              <a:t>therefore afford </a:t>
            </a:r>
            <a:r>
              <a:rPr lang="en-US" altLang="zh-TW" dirty="0"/>
              <a:t>to store them in a constant time dictionary which is rebuilt slowly in the background.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101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Dynamic </a:t>
            </a:r>
            <a:r>
              <a:rPr lang="en-US" altLang="zh-TW" dirty="0" err="1" smtClean="0"/>
              <a:t>Trie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952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We </a:t>
            </a:r>
            <a:r>
              <a:rPr lang="en-US" altLang="zh-TW" dirty="0" smtClean="0"/>
              <a:t>construct </a:t>
            </a:r>
            <a:r>
              <a:rPr lang="en-US" altLang="zh-TW" dirty="0"/>
              <a:t>the dictionary over the dictionary </a:t>
            </a:r>
            <a:r>
              <a:rPr lang="en-US" altLang="zh-TW" dirty="0" smtClean="0"/>
              <a:t>children using </a:t>
            </a:r>
            <a:r>
              <a:rPr lang="en-US" altLang="zh-TW" dirty="0"/>
              <a:t>linear space and is constructed in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i="1" baseline="30000" dirty="0"/>
              <a:t>k−</a:t>
            </a:r>
            <a:r>
              <a:rPr lang="en-US" altLang="zh-TW" baseline="30000" dirty="0"/>
              <a:t>1</a:t>
            </a:r>
            <a:r>
              <a:rPr lang="en-US" altLang="zh-TW" dirty="0"/>
              <a:t>) time for any fixed </a:t>
            </a:r>
            <a:r>
              <a:rPr lang="en-US" altLang="zh-TW" i="1" dirty="0"/>
              <a:t>k &gt; </a:t>
            </a:r>
            <a:r>
              <a:rPr lang="en-US" altLang="zh-TW" dirty="0"/>
              <a:t>3.</a:t>
            </a:r>
            <a:endParaRPr lang="en-US" altLang="zh-TW" dirty="0" smtClean="0"/>
          </a:p>
          <a:p>
            <a:r>
              <a:rPr lang="en-US" altLang="zh-TW" dirty="0" smtClean="0"/>
              <a:t>Now </a:t>
            </a:r>
            <a:r>
              <a:rPr lang="en-US" altLang="zh-TW" dirty="0"/>
              <a:t>suppose a search arrives at </a:t>
            </a:r>
            <a:r>
              <a:rPr lang="el-GR" altLang="zh-TW" i="1" dirty="0"/>
              <a:t>α</a:t>
            </a:r>
            <a:r>
              <a:rPr lang="en-US" altLang="zh-TW" i="1" dirty="0" smtClean="0"/>
              <a:t> </a:t>
            </a:r>
            <a:r>
              <a:rPr lang="en-US" altLang="zh-TW" dirty="0"/>
              <a:t>and the </a:t>
            </a:r>
            <a:r>
              <a:rPr lang="en-US" altLang="zh-TW" dirty="0" smtClean="0"/>
              <a:t>next character </a:t>
            </a:r>
            <a:r>
              <a:rPr lang="en-US" altLang="zh-TW" dirty="0"/>
              <a:t>is </a:t>
            </a:r>
            <a:r>
              <a:rPr lang="en-US" altLang="zh-TW" i="1" dirty="0" smtClean="0"/>
              <a:t>a</a:t>
            </a:r>
            <a:endParaRPr lang="en-US" altLang="zh-TW" dirty="0"/>
          </a:p>
          <a:p>
            <a:pPr lvl="1"/>
            <a:r>
              <a:rPr lang="en-US" altLang="zh-TW" dirty="0"/>
              <a:t>If a is in the dictionary, we get to </a:t>
            </a:r>
            <a:r>
              <a:rPr lang="en-US" altLang="zh-TW" dirty="0" smtClean="0"/>
              <a:t>the child </a:t>
            </a:r>
            <a:r>
              <a:rPr lang="en-US" altLang="zh-TW" dirty="0"/>
              <a:t>labeled </a:t>
            </a:r>
            <a:r>
              <a:rPr lang="en-US" altLang="zh-TW" i="1" dirty="0"/>
              <a:t>a</a:t>
            </a:r>
            <a:r>
              <a:rPr lang="en-US" altLang="zh-TW" dirty="0"/>
              <a:t> in constant </a:t>
            </a:r>
            <a:r>
              <a:rPr lang="en-US" altLang="zh-TW" dirty="0" smtClean="0"/>
              <a:t>time (case 1)</a:t>
            </a:r>
          </a:p>
          <a:p>
            <a:pPr lvl="1"/>
            <a:r>
              <a:rPr lang="en-US" altLang="zh-TW" dirty="0"/>
              <a:t>If </a:t>
            </a:r>
            <a:r>
              <a:rPr lang="en-US" altLang="zh-TW" i="1" dirty="0"/>
              <a:t>a </a:t>
            </a:r>
            <a:r>
              <a:rPr lang="en-US" altLang="zh-TW" dirty="0"/>
              <a:t>is not in the dictionary, we use the search structure at </a:t>
            </a:r>
            <a:r>
              <a:rPr lang="el-GR" altLang="zh-TW" i="1" dirty="0"/>
              <a:t>α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>
                <a:solidFill>
                  <a:srgbClr val="0070C0"/>
                </a:solidFill>
              </a:rPr>
              <a:t>If the label a is found by </a:t>
            </a:r>
            <a:r>
              <a:rPr lang="en-US" altLang="zh-TW" dirty="0" smtClean="0">
                <a:solidFill>
                  <a:srgbClr val="0070C0"/>
                </a:solidFill>
              </a:rPr>
              <a:t>the search </a:t>
            </a:r>
            <a:r>
              <a:rPr lang="en-US" altLang="zh-TW" dirty="0">
                <a:solidFill>
                  <a:srgbClr val="0070C0"/>
                </a:solidFill>
              </a:rPr>
              <a:t>structure, it brings us to the child labeled </a:t>
            </a:r>
            <a:r>
              <a:rPr lang="en-US" altLang="zh-TW" i="1" dirty="0" smtClean="0">
                <a:solidFill>
                  <a:srgbClr val="0070C0"/>
                </a:solidFill>
              </a:rPr>
              <a:t>a</a:t>
            </a:r>
            <a:r>
              <a:rPr lang="en-US" altLang="zh-TW" dirty="0" smtClean="0">
                <a:solidFill>
                  <a:srgbClr val="0070C0"/>
                </a:solidFill>
              </a:rPr>
              <a:t>. (case 2a)</a:t>
            </a:r>
          </a:p>
          <a:p>
            <a:pPr lvl="2"/>
            <a:r>
              <a:rPr lang="en-US" altLang="zh-TW" dirty="0"/>
              <a:t>Otherwise </a:t>
            </a:r>
            <a:r>
              <a:rPr lang="en-US" altLang="zh-TW" dirty="0" smtClean="0"/>
              <a:t>there was </a:t>
            </a:r>
            <a:r>
              <a:rPr lang="en-US" altLang="zh-TW" dirty="0"/>
              <a:t>no child of </a:t>
            </a:r>
            <a:r>
              <a:rPr lang="el-GR" altLang="zh-TW" i="1" dirty="0"/>
              <a:t>α</a:t>
            </a:r>
            <a:r>
              <a:rPr lang="en-US" altLang="zh-TW" dirty="0" smtClean="0"/>
              <a:t> </a:t>
            </a:r>
            <a:r>
              <a:rPr lang="en-US" altLang="zh-TW" dirty="0"/>
              <a:t>labeled </a:t>
            </a:r>
            <a:r>
              <a:rPr lang="en-US" altLang="zh-TW" i="1" dirty="0"/>
              <a:t>a</a:t>
            </a:r>
            <a:r>
              <a:rPr lang="en-US" altLang="zh-TW" dirty="0" smtClean="0"/>
              <a:t>. (case 2b)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102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Main Ideas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7600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There are at most </a:t>
                </a:r>
                <a:r>
                  <a:rPr lang="en-US" altLang="zh-TW" i="1" dirty="0"/>
                  <a:t>m </a:t>
                </a:r>
                <a:r>
                  <a:rPr lang="en-US" altLang="zh-TW" dirty="0"/>
                  <a:t>labels in the dynamic search </a:t>
                </a:r>
                <a:r>
                  <a:rPr lang="en-US" altLang="zh-TW" dirty="0" smtClean="0"/>
                  <a:t>structure, so </a:t>
                </a:r>
                <a:r>
                  <a:rPr lang="en-US" altLang="zh-TW" dirty="0"/>
                  <a:t>the search for </a:t>
                </a:r>
                <a:r>
                  <a:rPr lang="en-US" altLang="zh-TW" i="1" dirty="0"/>
                  <a:t>a </a:t>
                </a:r>
                <a:r>
                  <a:rPr lang="en-US" altLang="zh-TW" dirty="0"/>
                  <a:t>takes </a:t>
                </a:r>
                <a:r>
                  <a:rPr lang="en-US" altLang="zh-TW" i="1" dirty="0"/>
                  <a:t>O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zh-TW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log</m:t>
                        </m:r>
                        <m:r>
                          <a:rPr lang="en-US" altLang="zh-TW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/>
                          </a:rPr>
                          <m:t>m</m:t>
                        </m:r>
                        <m:r>
                          <a:rPr lang="en-US" altLang="zh-TW">
                            <a:latin typeface="Cambria Math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/>
                          </a:rPr>
                          <m:t>m</m:t>
                        </m:r>
                      </m:e>
                    </m:rad>
                  </m:oMath>
                </a14:m>
                <a:r>
                  <a:rPr lang="en-US" altLang="zh-TW" dirty="0" smtClean="0"/>
                  <a:t>).</a:t>
                </a:r>
              </a:p>
              <a:p>
                <a:r>
                  <a:rPr lang="en-US" altLang="zh-TW" dirty="0" smtClean="0"/>
                  <a:t>When </a:t>
                </a:r>
                <a:r>
                  <a:rPr lang="en-US" altLang="zh-TW" i="1" dirty="0"/>
                  <a:t>a </a:t>
                </a:r>
                <a:r>
                  <a:rPr lang="en-US" altLang="zh-TW" dirty="0"/>
                  <a:t>is found by </a:t>
                </a:r>
                <a:r>
                  <a:rPr lang="en-US" altLang="zh-TW" dirty="0" smtClean="0"/>
                  <a:t>the search </a:t>
                </a:r>
                <a:r>
                  <a:rPr lang="en-US" altLang="zh-TW" dirty="0"/>
                  <a:t>structure as a label of a child </a:t>
                </a:r>
                <a:r>
                  <a:rPr lang="el-GR" altLang="zh-TW" i="1" dirty="0"/>
                  <a:t>α </a:t>
                </a:r>
                <a:r>
                  <a:rPr lang="en-US" altLang="zh-TW" i="1" dirty="0" smtClean="0"/>
                  <a:t>a</a:t>
                </a:r>
                <a:r>
                  <a:rPr lang="en-US" altLang="zh-TW" dirty="0"/>
                  <a:t>, we know that </a:t>
                </a:r>
                <a:r>
                  <a:rPr lang="el-GR" altLang="zh-TW" i="1" dirty="0"/>
                  <a:t>α </a:t>
                </a:r>
                <a:r>
                  <a:rPr lang="en-US" altLang="zh-TW" i="1" dirty="0" smtClean="0"/>
                  <a:t>a </a:t>
                </a:r>
                <a:r>
                  <a:rPr lang="en-US" altLang="zh-TW" dirty="0"/>
                  <a:t>has at most </a:t>
                </a:r>
                <a:r>
                  <a:rPr lang="en-US" altLang="zh-TW" i="1" dirty="0"/>
                  <a:t>m</a:t>
                </a:r>
                <a:r>
                  <a:rPr lang="en-US" altLang="zh-TW" baseline="30000" dirty="0"/>
                  <a:t>1</a:t>
                </a:r>
                <a:r>
                  <a:rPr lang="en-US" altLang="zh-TW" i="1" baseline="30000" dirty="0"/>
                  <a:t>−</a:t>
                </a:r>
                <a:r>
                  <a:rPr lang="en-US" altLang="zh-TW" baseline="30000" dirty="0"/>
                  <a:t>1</a:t>
                </a:r>
                <a:r>
                  <a:rPr lang="en-US" altLang="zh-TW" i="1" baseline="30000" dirty="0"/>
                  <a:t>/k</a:t>
                </a:r>
                <a:r>
                  <a:rPr lang="en-US" altLang="zh-TW" i="1" dirty="0"/>
                  <a:t> </a:t>
                </a:r>
                <a:r>
                  <a:rPr lang="en-US" altLang="zh-TW" dirty="0" smtClean="0"/>
                  <a:t>descending </a:t>
                </a:r>
                <a:r>
                  <a:rPr lang="en-US" altLang="zh-TW" dirty="0"/>
                  <a:t>leaves.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103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Case 2a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425" y="4149080"/>
            <a:ext cx="691515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203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Suppose the node </a:t>
            </a:r>
            <a:r>
              <a:rPr lang="el-GR" altLang="zh-TW" i="1" dirty="0"/>
              <a:t>α</a:t>
            </a:r>
            <a:r>
              <a:rPr lang="en-US" altLang="zh-TW" i="1" dirty="0" smtClean="0"/>
              <a:t> </a:t>
            </a:r>
            <a:r>
              <a:rPr lang="en-US" altLang="zh-TW" dirty="0"/>
              <a:t>has </a:t>
            </a:r>
            <a:r>
              <a:rPr lang="en-US" altLang="zh-TW" i="1" dirty="0"/>
              <a:t>m </a:t>
            </a:r>
            <a:r>
              <a:rPr lang="en-US" altLang="zh-TW" dirty="0"/>
              <a:t>leaf descendants. Our challenge is to make sure that </a:t>
            </a:r>
            <a:r>
              <a:rPr lang="en-US" altLang="zh-TW" dirty="0" smtClean="0"/>
              <a:t>its dictionary </a:t>
            </a:r>
            <a:r>
              <a:rPr lang="en-US" altLang="zh-TW" dirty="0"/>
              <a:t>contains the label of any child </a:t>
            </a:r>
            <a:r>
              <a:rPr lang="el-GR" altLang="zh-TW" i="1" dirty="0" smtClean="0"/>
              <a:t>β</a:t>
            </a:r>
            <a:r>
              <a:rPr lang="en-US" altLang="zh-TW" i="1" dirty="0" smtClean="0"/>
              <a:t> </a:t>
            </a:r>
            <a:r>
              <a:rPr lang="en-US" altLang="zh-TW" dirty="0" smtClean="0"/>
              <a:t>with </a:t>
            </a:r>
            <a:r>
              <a:rPr lang="en-US" altLang="zh-TW" dirty="0"/>
              <a:t>more than </a:t>
            </a:r>
            <a:r>
              <a:rPr lang="en-US" altLang="zh-TW" i="1" dirty="0"/>
              <a:t>m</a:t>
            </a:r>
            <a:r>
              <a:rPr lang="en-US" altLang="zh-TW" baseline="30000" dirty="0"/>
              <a:t>1</a:t>
            </a:r>
            <a:r>
              <a:rPr lang="en-US" altLang="zh-TW" i="1" baseline="30000" dirty="0"/>
              <a:t>−</a:t>
            </a:r>
            <a:r>
              <a:rPr lang="en-US" altLang="zh-TW" baseline="30000" dirty="0"/>
              <a:t>1</a:t>
            </a:r>
            <a:r>
              <a:rPr lang="en-US" altLang="zh-TW" i="1" baseline="30000" dirty="0"/>
              <a:t>/k</a:t>
            </a:r>
            <a:r>
              <a:rPr lang="en-US" altLang="zh-TW" i="1" dirty="0"/>
              <a:t> </a:t>
            </a:r>
            <a:r>
              <a:rPr lang="en-US" altLang="zh-TW" dirty="0"/>
              <a:t>leaf descendants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The period of </a:t>
            </a:r>
            <a:r>
              <a:rPr lang="el-GR" altLang="zh-TW" i="1" dirty="0"/>
              <a:t>α</a:t>
            </a:r>
            <a:r>
              <a:rPr lang="en-US" altLang="zh-TW" i="1" dirty="0" smtClean="0"/>
              <a:t> </a:t>
            </a:r>
            <a:r>
              <a:rPr lang="en-US" altLang="zh-TW" dirty="0"/>
              <a:t>spans </a:t>
            </a:r>
            <a:r>
              <a:rPr lang="en-US" altLang="zh-TW" i="1" dirty="0"/>
              <a:t>m</a:t>
            </a:r>
            <a:r>
              <a:rPr lang="en-US" altLang="zh-TW" baseline="30000" dirty="0"/>
              <a:t>1</a:t>
            </a:r>
            <a:r>
              <a:rPr lang="en-US" altLang="zh-TW" i="1" baseline="30000" dirty="0"/>
              <a:t>−</a:t>
            </a:r>
            <a:r>
              <a:rPr lang="en-US" altLang="zh-TW" baseline="30000" dirty="0"/>
              <a:t>1</a:t>
            </a:r>
            <a:r>
              <a:rPr lang="en-US" altLang="zh-TW" i="1" baseline="30000" dirty="0"/>
              <a:t>/k</a:t>
            </a:r>
            <a:r>
              <a:rPr lang="en-US" altLang="zh-TW" i="1" dirty="0"/>
              <a:t>/</a:t>
            </a:r>
            <a:r>
              <a:rPr lang="en-US" altLang="zh-TW" dirty="0"/>
              <a:t>4 leaf updates below </a:t>
            </a:r>
            <a:r>
              <a:rPr lang="el-GR" altLang="zh-TW" i="1" dirty="0"/>
              <a:t>α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To keep track of the dictionary children of </a:t>
            </a:r>
            <a:r>
              <a:rPr lang="el-GR" altLang="zh-TW" i="1" dirty="0"/>
              <a:t>α</a:t>
            </a:r>
            <a:r>
              <a:rPr lang="en-US" altLang="zh-TW" dirty="0" smtClean="0"/>
              <a:t>, </a:t>
            </a:r>
            <a:r>
              <a:rPr lang="en-US" altLang="zh-TW" dirty="0"/>
              <a:t>we maintain an unordered </a:t>
            </a:r>
            <a:r>
              <a:rPr lang="en-US" altLang="zh-TW" dirty="0" smtClean="0"/>
              <a:t>doubly-linked “heavy</a:t>
            </a:r>
            <a:r>
              <a:rPr lang="en-US" altLang="zh-TW" dirty="0"/>
              <a:t>” list of all children with more than </a:t>
            </a:r>
            <a:r>
              <a:rPr lang="en-US" altLang="zh-TW" i="1" dirty="0"/>
              <a:t>m</a:t>
            </a:r>
            <a:r>
              <a:rPr lang="en-US" altLang="zh-TW" baseline="30000" dirty="0"/>
              <a:t>1</a:t>
            </a:r>
            <a:r>
              <a:rPr lang="en-US" altLang="zh-TW" i="1" baseline="30000" dirty="0"/>
              <a:t>−</a:t>
            </a:r>
            <a:r>
              <a:rPr lang="en-US" altLang="zh-TW" baseline="30000" dirty="0"/>
              <a:t>1</a:t>
            </a:r>
            <a:r>
              <a:rPr lang="en-US" altLang="zh-TW" i="1" baseline="30000" dirty="0"/>
              <a:t>/k</a:t>
            </a:r>
            <a:r>
              <a:rPr lang="en-US" altLang="zh-TW" i="1" dirty="0"/>
              <a:t>/</a:t>
            </a:r>
            <a:r>
              <a:rPr lang="en-US" altLang="zh-TW" dirty="0"/>
              <a:t>2 descending leaves.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104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Trie</a:t>
            </a:r>
            <a:r>
              <a:rPr lang="en-US" altLang="zh-TW" dirty="0" smtClean="0"/>
              <a:t> Update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428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In a period, we </a:t>
            </a:r>
            <a:r>
              <a:rPr lang="en-US" altLang="zh-TW" dirty="0" smtClean="0"/>
              <a:t>first scan </a:t>
            </a:r>
            <a:r>
              <a:rPr lang="en-US" altLang="zh-TW" dirty="0"/>
              <a:t>the heavy list, and then build a dictionary over the labels of the scanned </a:t>
            </a:r>
            <a:r>
              <a:rPr lang="en-US" altLang="zh-TW" dirty="0" smtClean="0"/>
              <a:t>children. </a:t>
            </a:r>
          </a:p>
          <a:p>
            <a:r>
              <a:rPr lang="en-US" altLang="zh-TW" dirty="0" smtClean="0"/>
              <a:t>When </a:t>
            </a:r>
            <a:r>
              <a:rPr lang="en-US" altLang="zh-TW" dirty="0"/>
              <a:t>the new dictionary is completed, it replaces the previous one in constant time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A scanned </a:t>
            </a:r>
            <a:r>
              <a:rPr lang="en-US" altLang="zh-TW" dirty="0"/>
              <a:t>heavy child will continue to have at least </a:t>
            </a:r>
            <a:r>
              <a:rPr lang="en-US" altLang="zh-TW" i="1" dirty="0"/>
              <a:t>m</a:t>
            </a:r>
            <a:r>
              <a:rPr lang="en-US" altLang="zh-TW" baseline="30000" dirty="0"/>
              <a:t>1</a:t>
            </a:r>
            <a:r>
              <a:rPr lang="en-US" altLang="zh-TW" i="1" baseline="30000" dirty="0"/>
              <a:t>−</a:t>
            </a:r>
            <a:r>
              <a:rPr lang="en-US" altLang="zh-TW" baseline="30000" dirty="0"/>
              <a:t>1</a:t>
            </a:r>
            <a:r>
              <a:rPr lang="en-US" altLang="zh-TW" i="1" baseline="30000" dirty="0"/>
              <a:t>/k</a:t>
            </a:r>
            <a:r>
              <a:rPr lang="en-US" altLang="zh-TW" i="1" dirty="0"/>
              <a:t>/</a:t>
            </a:r>
            <a:r>
              <a:rPr lang="en-US" altLang="zh-TW" dirty="0"/>
              <a:t>4 descending leaves, so we </a:t>
            </a:r>
            <a:r>
              <a:rPr lang="en-US" altLang="zh-TW" dirty="0" smtClean="0"/>
              <a:t>collect at </a:t>
            </a:r>
            <a:r>
              <a:rPr lang="en-US" altLang="zh-TW" dirty="0"/>
              <a:t>most </a:t>
            </a:r>
            <a:r>
              <a:rPr lang="en-US" altLang="zh-TW" i="1" dirty="0"/>
              <a:t>m/</a:t>
            </a:r>
            <a:r>
              <a:rPr lang="en-US" altLang="zh-TW" dirty="0"/>
              <a:t>(</a:t>
            </a:r>
            <a:r>
              <a:rPr lang="en-US" altLang="zh-TW" i="1" dirty="0"/>
              <a:t>m</a:t>
            </a:r>
            <a:r>
              <a:rPr lang="en-US" altLang="zh-TW" baseline="30000" dirty="0"/>
              <a:t>1</a:t>
            </a:r>
            <a:r>
              <a:rPr lang="en-US" altLang="zh-TW" i="1" baseline="30000" dirty="0"/>
              <a:t>−</a:t>
            </a:r>
            <a:r>
              <a:rPr lang="en-US" altLang="zh-TW" baseline="30000" dirty="0"/>
              <a:t>1</a:t>
            </a:r>
            <a:r>
              <a:rPr lang="en-US" altLang="zh-TW" i="1" baseline="30000" dirty="0"/>
              <a:t>/k</a:t>
            </a:r>
            <a:r>
              <a:rPr lang="en-US" altLang="zh-TW" i="1" dirty="0"/>
              <a:t>/</a:t>
            </a:r>
            <a:r>
              <a:rPr lang="en-US" altLang="zh-TW" dirty="0"/>
              <a:t>4) =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/>
              <a:t>m</a:t>
            </a:r>
            <a:r>
              <a:rPr lang="en-US" altLang="zh-TW" baseline="30000" dirty="0"/>
              <a:t>1</a:t>
            </a:r>
            <a:r>
              <a:rPr lang="en-US" altLang="zh-TW" i="1" baseline="30000" dirty="0"/>
              <a:t>/k</a:t>
            </a:r>
            <a:r>
              <a:rPr lang="en-US" altLang="zh-TW" dirty="0"/>
              <a:t>) children. </a:t>
            </a:r>
            <a:endParaRPr lang="en-US" altLang="zh-TW" dirty="0" smtClean="0"/>
          </a:p>
          <a:p>
            <a:r>
              <a:rPr lang="en-US" altLang="zh-TW" dirty="0" smtClean="0"/>
              <a:t>Constructing </a:t>
            </a:r>
            <a:r>
              <a:rPr lang="en-US" altLang="zh-TW" dirty="0"/>
              <a:t>a dictionary over the labels </a:t>
            </a:r>
            <a:r>
              <a:rPr lang="en-US" altLang="zh-TW" dirty="0" smtClean="0"/>
              <a:t>takes </a:t>
            </a:r>
            <a:r>
              <a:rPr lang="pt-BR" altLang="zh-TW" i="1" dirty="0" smtClean="0"/>
              <a:t>O</a:t>
            </a:r>
            <a:r>
              <a:rPr lang="pt-BR" altLang="zh-TW" dirty="0" smtClean="0"/>
              <a:t>(</a:t>
            </a:r>
            <a:r>
              <a:rPr lang="pt-BR" altLang="zh-TW" i="1" dirty="0" smtClean="0"/>
              <a:t>m</a:t>
            </a:r>
            <a:r>
              <a:rPr lang="pt-BR" altLang="zh-TW" baseline="30000" dirty="0" smtClean="0"/>
              <a:t>1</a:t>
            </a:r>
            <a:r>
              <a:rPr lang="pt-BR" altLang="zh-TW" i="1" baseline="30000" dirty="0" smtClean="0"/>
              <a:t>/k</a:t>
            </a:r>
            <a:r>
              <a:rPr lang="pt-BR" altLang="zh-TW" i="1" baseline="30000" dirty="0"/>
              <a:t>*</a:t>
            </a:r>
            <a:r>
              <a:rPr lang="pt-BR" altLang="zh-TW" baseline="30000" dirty="0" smtClean="0"/>
              <a:t>(</a:t>
            </a:r>
            <a:r>
              <a:rPr lang="pt-BR" altLang="zh-TW" i="1" baseline="30000" dirty="0" smtClean="0"/>
              <a:t>k</a:t>
            </a:r>
            <a:r>
              <a:rPr lang="pt-BR" altLang="zh-TW" i="1" baseline="30000" dirty="0"/>
              <a:t>−</a:t>
            </a:r>
            <a:r>
              <a:rPr lang="pt-BR" altLang="zh-TW" baseline="30000" dirty="0"/>
              <a:t>1)</a:t>
            </a:r>
            <a:r>
              <a:rPr lang="pt-BR" altLang="zh-TW" dirty="0"/>
              <a:t>) = </a:t>
            </a:r>
            <a:r>
              <a:rPr lang="pt-BR" altLang="zh-TW" i="1" dirty="0"/>
              <a:t>O</a:t>
            </a:r>
            <a:r>
              <a:rPr lang="pt-BR" altLang="zh-TW" dirty="0"/>
              <a:t>(</a:t>
            </a:r>
            <a:r>
              <a:rPr lang="pt-BR" altLang="zh-TW" i="1" dirty="0"/>
              <a:t>m</a:t>
            </a:r>
            <a:r>
              <a:rPr lang="pt-BR" altLang="zh-TW" baseline="30000" dirty="0"/>
              <a:t>1</a:t>
            </a:r>
            <a:r>
              <a:rPr lang="pt-BR" altLang="zh-TW" i="1" baseline="30000" dirty="0"/>
              <a:t>−</a:t>
            </a:r>
            <a:r>
              <a:rPr lang="pt-BR" altLang="zh-TW" baseline="30000" dirty="0"/>
              <a:t>1</a:t>
            </a:r>
            <a:r>
              <a:rPr lang="pt-BR" altLang="zh-TW" i="1" baseline="30000" dirty="0"/>
              <a:t>/k</a:t>
            </a:r>
            <a:r>
              <a:rPr lang="pt-BR" altLang="zh-TW" dirty="0"/>
              <a:t>) time.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105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Trie</a:t>
            </a:r>
            <a:r>
              <a:rPr lang="en-US" altLang="zh-TW" dirty="0"/>
              <a:t> Update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14670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The whole scan and rebuild can thus be completed </a:t>
            </a:r>
            <a:r>
              <a:rPr lang="en-US" altLang="zh-TW" dirty="0" smtClean="0"/>
              <a:t>spending only </a:t>
            </a:r>
            <a:r>
              <a:rPr lang="en-US" altLang="zh-TW" dirty="0">
                <a:solidFill>
                  <a:srgbClr val="0070C0"/>
                </a:solidFill>
              </a:rPr>
              <a:t>constant time during each of the </a:t>
            </a:r>
            <a:r>
              <a:rPr lang="en-US" altLang="zh-TW" i="1" dirty="0">
                <a:solidFill>
                  <a:srgbClr val="0070C0"/>
                </a:solidFill>
              </a:rPr>
              <a:t>m</a:t>
            </a:r>
            <a:r>
              <a:rPr lang="en-US" altLang="zh-TW" baseline="30000" dirty="0">
                <a:solidFill>
                  <a:srgbClr val="0070C0"/>
                </a:solidFill>
              </a:rPr>
              <a:t>1</a:t>
            </a:r>
            <a:r>
              <a:rPr lang="en-US" altLang="zh-TW" i="1" baseline="30000" dirty="0">
                <a:solidFill>
                  <a:srgbClr val="0070C0"/>
                </a:solidFill>
              </a:rPr>
              <a:t>−</a:t>
            </a:r>
            <a:r>
              <a:rPr lang="en-US" altLang="zh-TW" baseline="30000" dirty="0">
                <a:solidFill>
                  <a:srgbClr val="0070C0"/>
                </a:solidFill>
              </a:rPr>
              <a:t>1</a:t>
            </a:r>
            <a:r>
              <a:rPr lang="en-US" altLang="zh-TW" i="1" baseline="30000" dirty="0">
                <a:solidFill>
                  <a:srgbClr val="0070C0"/>
                </a:solidFill>
              </a:rPr>
              <a:t>/k</a:t>
            </a:r>
            <a:r>
              <a:rPr lang="en-US" altLang="zh-TW" i="1" dirty="0">
                <a:solidFill>
                  <a:srgbClr val="0070C0"/>
                </a:solidFill>
              </a:rPr>
              <a:t>/</a:t>
            </a:r>
            <a:r>
              <a:rPr lang="en-US" altLang="zh-TW" dirty="0">
                <a:solidFill>
                  <a:srgbClr val="0070C0"/>
                </a:solidFill>
              </a:rPr>
              <a:t>4 updates </a:t>
            </a:r>
            <a:r>
              <a:rPr lang="en-US" altLang="zh-TW" dirty="0"/>
              <a:t>below </a:t>
            </a:r>
            <a:r>
              <a:rPr lang="el-GR" altLang="zh-TW" i="1" dirty="0"/>
              <a:t>α</a:t>
            </a:r>
            <a:r>
              <a:rPr lang="en-US" altLang="zh-TW" i="1" dirty="0" smtClean="0"/>
              <a:t> </a:t>
            </a:r>
            <a:r>
              <a:rPr lang="en-US" altLang="zh-TW" dirty="0"/>
              <a:t>during a period. </a:t>
            </a:r>
            <a:endParaRPr lang="en-US" altLang="zh-TW" dirty="0" smtClean="0"/>
          </a:p>
          <a:p>
            <a:r>
              <a:rPr lang="en-US" altLang="zh-TW" dirty="0" smtClean="0"/>
              <a:t>Then no child </a:t>
            </a:r>
            <a:r>
              <a:rPr lang="en-US" altLang="zh-TW" dirty="0"/>
              <a:t>can have more than </a:t>
            </a:r>
            <a:r>
              <a:rPr lang="en-US" altLang="zh-TW" i="1" dirty="0"/>
              <a:t>m</a:t>
            </a:r>
            <a:r>
              <a:rPr lang="en-US" altLang="zh-TW" baseline="30000" dirty="0"/>
              <a:t>1</a:t>
            </a:r>
            <a:r>
              <a:rPr lang="en-US" altLang="zh-TW" i="1" baseline="30000" dirty="0"/>
              <a:t>−</a:t>
            </a:r>
            <a:r>
              <a:rPr lang="en-US" altLang="zh-TW" baseline="30000" dirty="0"/>
              <a:t>1</a:t>
            </a:r>
            <a:r>
              <a:rPr lang="en-US" altLang="zh-TW" i="1" baseline="30000" dirty="0"/>
              <a:t>/k</a:t>
            </a:r>
            <a:r>
              <a:rPr lang="en-US" altLang="zh-TW" i="1" dirty="0"/>
              <a:t> </a:t>
            </a:r>
            <a:r>
              <a:rPr lang="en-US" altLang="zh-TW" dirty="0"/>
              <a:t>descending leaves without having its label in the </a:t>
            </a:r>
            <a:r>
              <a:rPr lang="en-US" altLang="zh-TW" dirty="0" smtClean="0"/>
              <a:t>current heavy </a:t>
            </a:r>
            <a:r>
              <a:rPr lang="en-US" altLang="zh-TW" dirty="0"/>
              <a:t>dictionary; for to get </a:t>
            </a:r>
            <a:r>
              <a:rPr lang="en-US" altLang="zh-TW" i="1" dirty="0"/>
              <a:t>m</a:t>
            </a:r>
            <a:r>
              <a:rPr lang="en-US" altLang="zh-TW" baseline="30000" dirty="0"/>
              <a:t>1</a:t>
            </a:r>
            <a:r>
              <a:rPr lang="en-US" altLang="zh-TW" i="1" baseline="30000" dirty="0"/>
              <a:t>−</a:t>
            </a:r>
            <a:r>
              <a:rPr lang="en-US" altLang="zh-TW" baseline="30000" dirty="0"/>
              <a:t>1</a:t>
            </a:r>
            <a:r>
              <a:rPr lang="en-US" altLang="zh-TW" i="1" baseline="30000" dirty="0"/>
              <a:t>/k</a:t>
            </a:r>
            <a:r>
              <a:rPr lang="en-US" altLang="zh-TW" i="1" dirty="0"/>
              <a:t> </a:t>
            </a:r>
            <a:r>
              <a:rPr lang="en-US" altLang="zh-TW" dirty="0"/>
              <a:t>descending leaves, it must have had </a:t>
            </a:r>
            <a:r>
              <a:rPr lang="en-US" altLang="zh-TW" i="1" dirty="0"/>
              <a:t>m</a:t>
            </a:r>
            <a:r>
              <a:rPr lang="en-US" altLang="zh-TW" baseline="30000" dirty="0"/>
              <a:t>1</a:t>
            </a:r>
            <a:r>
              <a:rPr lang="en-US" altLang="zh-TW" i="1" baseline="30000" dirty="0"/>
              <a:t>−</a:t>
            </a:r>
            <a:r>
              <a:rPr lang="en-US" altLang="zh-TW" baseline="30000" dirty="0"/>
              <a:t>1</a:t>
            </a:r>
            <a:r>
              <a:rPr lang="en-US" altLang="zh-TW" i="1" baseline="30000" dirty="0"/>
              <a:t>/k</a:t>
            </a:r>
            <a:r>
              <a:rPr lang="en-US" altLang="zh-TW" i="1" dirty="0"/>
              <a:t>/</a:t>
            </a:r>
            <a:r>
              <a:rPr lang="en-US" altLang="zh-TW" dirty="0"/>
              <a:t>2 </a:t>
            </a:r>
            <a:r>
              <a:rPr lang="en-US" altLang="zh-TW" dirty="0" smtClean="0"/>
              <a:t>descending leaves </a:t>
            </a:r>
            <a:r>
              <a:rPr lang="en-US" altLang="zh-TW" dirty="0"/>
              <a:t>for at least </a:t>
            </a:r>
            <a:r>
              <a:rPr lang="en-US" altLang="zh-TW" i="1" dirty="0"/>
              <a:t>m</a:t>
            </a:r>
            <a:r>
              <a:rPr lang="en-US" altLang="zh-TW" baseline="30000" dirty="0"/>
              <a:t>1</a:t>
            </a:r>
            <a:r>
              <a:rPr lang="en-US" altLang="zh-TW" i="1" baseline="30000" dirty="0"/>
              <a:t>−</a:t>
            </a:r>
            <a:r>
              <a:rPr lang="en-US" altLang="zh-TW" baseline="30000" dirty="0"/>
              <a:t>1</a:t>
            </a:r>
            <a:r>
              <a:rPr lang="en-US" altLang="zh-TW" i="1" baseline="30000" dirty="0"/>
              <a:t>/k</a:t>
            </a:r>
            <a:r>
              <a:rPr lang="en-US" altLang="zh-TW" i="1" dirty="0"/>
              <a:t>/</a:t>
            </a:r>
            <a:r>
              <a:rPr lang="en-US" altLang="zh-TW" dirty="0"/>
              <a:t>2 updates. This must include one full period where it got </a:t>
            </a:r>
            <a:r>
              <a:rPr lang="en-US" altLang="zh-TW" dirty="0" smtClean="0"/>
              <a:t>scanned in </a:t>
            </a:r>
            <a:r>
              <a:rPr lang="en-US" altLang="zh-TW" dirty="0"/>
              <a:t>the heavy list and placed in the new dictionary.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AB7D-3A76-4E22-A0DF-E53F781656F0}" type="slidenum">
              <a:rPr lang="zh-TW" altLang="en-US" smtClean="0"/>
              <a:t>106</a:t>
            </a:fld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Trie</a:t>
            </a:r>
            <a:r>
              <a:rPr lang="en-US" altLang="zh-TW" dirty="0"/>
              <a:t> Update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10608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匯合">
  <a:themeElements>
    <a:clrScheme name="匯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匯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匯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2185</TotalTime>
  <Words>8164</Words>
  <Application>Microsoft Office PowerPoint</Application>
  <PresentationFormat>如螢幕大小 (4:3)</PresentationFormat>
  <Paragraphs>833</Paragraphs>
  <Slides>106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106</vt:i4>
      </vt:variant>
    </vt:vector>
  </HeadingPairs>
  <TitlesOfParts>
    <vt:vector size="107" baseType="lpstr">
      <vt:lpstr>匯合</vt:lpstr>
      <vt:lpstr>Dynamic Ordered Sets with Exponential Search Trees</vt:lpstr>
      <vt:lpstr>Abstract</vt:lpstr>
      <vt:lpstr>Abstract</vt:lpstr>
      <vt:lpstr>1st Symposium on Breakthroughs in Advanced Data Structures</vt:lpstr>
      <vt:lpstr>PowerPoint 簡報</vt:lpstr>
      <vt:lpstr>Outline</vt:lpstr>
      <vt:lpstr>Basic Operations</vt:lpstr>
      <vt:lpstr>Finger Search</vt:lpstr>
      <vt:lpstr>Finger Update</vt:lpstr>
      <vt:lpstr>Optimality</vt:lpstr>
      <vt:lpstr>Exponential Search Tree</vt:lpstr>
      <vt:lpstr>Exponential Search Tree</vt:lpstr>
      <vt:lpstr>Example</vt:lpstr>
      <vt:lpstr>Example2</vt:lpstr>
      <vt:lpstr>van Emde Boas Priority Queue</vt:lpstr>
      <vt:lpstr>Implementation</vt:lpstr>
      <vt:lpstr>Outline</vt:lpstr>
      <vt:lpstr>Implementation</vt:lpstr>
      <vt:lpstr>S-structure</vt:lpstr>
      <vt:lpstr>Finger Delete</vt:lpstr>
      <vt:lpstr>Finger Insert</vt:lpstr>
      <vt:lpstr>Balance</vt:lpstr>
      <vt:lpstr>PowerPoint 簡報</vt:lpstr>
      <vt:lpstr>Outline</vt:lpstr>
      <vt:lpstr>Main Change</vt:lpstr>
      <vt:lpstr>Theorem 1</vt:lpstr>
      <vt:lpstr>Problem with the Previous Definition</vt:lpstr>
      <vt:lpstr>New Definition</vt:lpstr>
      <vt:lpstr>Example</vt:lpstr>
      <vt:lpstr>Compensation</vt:lpstr>
      <vt:lpstr>Example</vt:lpstr>
      <vt:lpstr>Postprocessing</vt:lpstr>
      <vt:lpstr>Join &amp; Split</vt:lpstr>
      <vt:lpstr>Join &amp; Split</vt:lpstr>
      <vt:lpstr>Theorem 8</vt:lpstr>
      <vt:lpstr>Lemma 11</vt:lpstr>
      <vt:lpstr>Balance Game</vt:lpstr>
      <vt:lpstr>Balance Game</vt:lpstr>
      <vt:lpstr>Let the Magic Start</vt:lpstr>
      <vt:lpstr>PowerPoint 簡報</vt:lpstr>
      <vt:lpstr>PowerPoint 簡報</vt:lpstr>
      <vt:lpstr>Lemma 16</vt:lpstr>
      <vt:lpstr>Applying the Protocol</vt:lpstr>
      <vt:lpstr>Cut Child</vt:lpstr>
      <vt:lpstr>Cut Child</vt:lpstr>
      <vt:lpstr>Changing the Height</vt:lpstr>
      <vt:lpstr>Corollary 10</vt:lpstr>
      <vt:lpstr>Algorithm</vt:lpstr>
      <vt:lpstr>Algorithm</vt:lpstr>
      <vt:lpstr>Example</vt:lpstr>
      <vt:lpstr>PowerPoint 簡報</vt:lpstr>
      <vt:lpstr>Lemma 12</vt:lpstr>
      <vt:lpstr>Outline</vt:lpstr>
      <vt:lpstr>RAM model</vt:lpstr>
      <vt:lpstr>AC0 Operation</vt:lpstr>
      <vt:lpstr>Outline</vt:lpstr>
      <vt:lpstr>Finger Search</vt:lpstr>
      <vt:lpstr>Finger Update</vt:lpstr>
      <vt:lpstr>Constant Time Finger Updates</vt:lpstr>
      <vt:lpstr>PowerPoint 簡報</vt:lpstr>
      <vt:lpstr>Constant Time Finger Updates</vt:lpstr>
      <vt:lpstr>Constant Time Finger Updates</vt:lpstr>
      <vt:lpstr>PowerPoint 簡報</vt:lpstr>
      <vt:lpstr>Lower-Level Trees</vt:lpstr>
      <vt:lpstr>Example</vt:lpstr>
      <vt:lpstr>Signature</vt:lpstr>
      <vt:lpstr>Example</vt:lpstr>
      <vt:lpstr>Marking and Unmarking</vt:lpstr>
      <vt:lpstr>Lemma 26</vt:lpstr>
      <vt:lpstr>Lemma 28 &amp; 29</vt:lpstr>
      <vt:lpstr>Proof of Lemma 29</vt:lpstr>
      <vt:lpstr>Tabulation Based Implementation</vt:lpstr>
      <vt:lpstr>Example – Leaf Delete</vt:lpstr>
      <vt:lpstr>Example – Local Update</vt:lpstr>
      <vt:lpstr>Example – Split</vt:lpstr>
      <vt:lpstr>Tabulation Based Implementation</vt:lpstr>
      <vt:lpstr>Tabulation Based Implementation</vt:lpstr>
      <vt:lpstr>Joining at Level a</vt:lpstr>
      <vt:lpstr>Joining at Level a</vt:lpstr>
      <vt:lpstr>Middle Level Updates</vt:lpstr>
      <vt:lpstr>Counter Game</vt:lpstr>
      <vt:lpstr>Lemma 31</vt:lpstr>
      <vt:lpstr>Middle-Level Updates</vt:lpstr>
      <vt:lpstr>Middle-Level Updates</vt:lpstr>
      <vt:lpstr>Top-Level Updates</vt:lpstr>
      <vt:lpstr>Top-Level Updates</vt:lpstr>
      <vt:lpstr>Corollary 32</vt:lpstr>
      <vt:lpstr>Outline</vt:lpstr>
      <vt:lpstr>Finger Search</vt:lpstr>
      <vt:lpstr>Finger Search</vt:lpstr>
      <vt:lpstr>Theorem 33</vt:lpstr>
      <vt:lpstr>Finger Search</vt:lpstr>
      <vt:lpstr>Finger Search</vt:lpstr>
      <vt:lpstr>First Complexity</vt:lpstr>
      <vt:lpstr>Lemma 34</vt:lpstr>
      <vt:lpstr>Case 1: y − x ≥ 2d</vt:lpstr>
      <vt:lpstr>Case 2: y − x &lt; 2d </vt:lpstr>
      <vt:lpstr>Outline</vt:lpstr>
      <vt:lpstr>String Searching</vt:lpstr>
      <vt:lpstr>Static Trie</vt:lpstr>
      <vt:lpstr>Dynamic Trie</vt:lpstr>
      <vt:lpstr>Main Ideas</vt:lpstr>
      <vt:lpstr>Case 2a</vt:lpstr>
      <vt:lpstr>Trie Update</vt:lpstr>
      <vt:lpstr>Trie Update</vt:lpstr>
      <vt:lpstr>Trie Update</vt:lpstr>
    </vt:vector>
  </TitlesOfParts>
  <Company>Net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Ordered Sets with Exponential Search Trees</dc:title>
  <dc:creator>NS</dc:creator>
  <cp:lastModifiedBy>NS</cp:lastModifiedBy>
  <cp:revision>131</cp:revision>
  <dcterms:created xsi:type="dcterms:W3CDTF">2013-01-12T04:14:19Z</dcterms:created>
  <dcterms:modified xsi:type="dcterms:W3CDTF">2013-03-05T09:33:51Z</dcterms:modified>
</cp:coreProperties>
</file>