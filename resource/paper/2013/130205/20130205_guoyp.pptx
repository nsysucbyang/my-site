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60" r:id="rId4"/>
    <p:sldId id="258" r:id="rId5"/>
    <p:sldId id="264" r:id="rId6"/>
    <p:sldId id="259" r:id="rId7"/>
    <p:sldId id="261" r:id="rId8"/>
    <p:sldId id="262" r:id="rId9"/>
    <p:sldId id="265" r:id="rId10"/>
    <p:sldId id="263" r:id="rId11"/>
    <p:sldId id="266" r:id="rId1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0" d="100"/>
          <a:sy n="100" d="100"/>
        </p:scale>
        <p:origin x="-258"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DABB11-AD93-49BC-8B75-B04CADAC5E09}" type="datetimeFigureOut">
              <a:rPr lang="zh-TW" altLang="en-US" smtClean="0"/>
              <a:t>2013/2/5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F306CA-BC69-4BBF-A107-3CDDF876FD6B}" type="slidenum">
              <a:rPr lang="zh-TW" altLang="en-US" smtClean="0"/>
              <a:t>‹#›</a:t>
            </a:fld>
            <a:endParaRPr lang="zh-TW" altLang="en-US"/>
          </a:p>
        </p:txBody>
      </p:sp>
    </p:spTree>
    <p:extLst>
      <p:ext uri="{BB962C8B-B14F-4D97-AF65-F5344CB8AC3E}">
        <p14:creationId xmlns:p14="http://schemas.microsoft.com/office/powerpoint/2010/main" val="3449860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簽名一定有筆劃順序，故可視為時間序列。</a:t>
            </a:r>
            <a:r>
              <a:rPr lang="en-US" altLang="zh-TW" dirty="0" smtClean="0"/>
              <a:t/>
            </a:r>
            <a:br>
              <a:rPr lang="en-US" altLang="zh-TW" dirty="0" smtClean="0"/>
            </a:br>
            <a:r>
              <a:rPr lang="en-US" altLang="zh-TW" dirty="0" smtClean="0"/>
              <a:t>http://en.wikipedia.org/wiki/Azimuth</a:t>
            </a:r>
            <a:endParaRPr lang="zh-TW" altLang="en-US" dirty="0"/>
          </a:p>
        </p:txBody>
      </p:sp>
      <p:sp>
        <p:nvSpPr>
          <p:cNvPr id="4" name="投影片編號版面配置區 3"/>
          <p:cNvSpPr>
            <a:spLocks noGrp="1"/>
          </p:cNvSpPr>
          <p:nvPr>
            <p:ph type="sldNum" sz="quarter" idx="10"/>
          </p:nvPr>
        </p:nvSpPr>
        <p:spPr/>
        <p:txBody>
          <a:bodyPr/>
          <a:lstStyle/>
          <a:p>
            <a:fld id="{EBF306CA-BC69-4BBF-A107-3CDDF876FD6B}" type="slidenum">
              <a:rPr lang="zh-TW" altLang="en-US" smtClean="0"/>
              <a:t>4</a:t>
            </a:fld>
            <a:endParaRPr lang="zh-TW" altLang="en-US"/>
          </a:p>
        </p:txBody>
      </p:sp>
    </p:spTree>
    <p:extLst>
      <p:ext uri="{BB962C8B-B14F-4D97-AF65-F5344CB8AC3E}">
        <p14:creationId xmlns:p14="http://schemas.microsoft.com/office/powerpoint/2010/main" val="158105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因為 </a:t>
            </a:r>
            <a:r>
              <a:rPr lang="en-US" altLang="zh-TW" dirty="0" smtClean="0"/>
              <a:t>Σ </a:t>
            </a:r>
            <a:r>
              <a:rPr lang="zh-TW" altLang="en-US" dirty="0" smtClean="0"/>
              <a:t>是值而非字元，故算距離，似</a:t>
            </a:r>
            <a:r>
              <a:rPr lang="zh-TW" altLang="en-US" baseline="0" dirty="0" smtClean="0"/>
              <a:t> </a:t>
            </a:r>
            <a:r>
              <a:rPr lang="en-US" altLang="zh-TW" baseline="0" dirty="0" smtClean="0"/>
              <a:t>DTW</a:t>
            </a:r>
            <a:r>
              <a:rPr lang="zh-TW" altLang="en-US" baseline="0" dirty="0" smtClean="0"/>
              <a:t>。</a:t>
            </a:r>
            <a:endParaRPr lang="zh-TW" altLang="en-US" dirty="0"/>
          </a:p>
        </p:txBody>
      </p:sp>
      <p:sp>
        <p:nvSpPr>
          <p:cNvPr id="4" name="投影片編號版面配置區 3"/>
          <p:cNvSpPr>
            <a:spLocks noGrp="1"/>
          </p:cNvSpPr>
          <p:nvPr>
            <p:ph type="sldNum" sz="quarter" idx="10"/>
          </p:nvPr>
        </p:nvSpPr>
        <p:spPr/>
        <p:txBody>
          <a:bodyPr/>
          <a:lstStyle/>
          <a:p>
            <a:fld id="{EBF306CA-BC69-4BBF-A107-3CDDF876FD6B}" type="slidenum">
              <a:rPr lang="zh-TW" altLang="en-US" smtClean="0"/>
              <a:t>6</a:t>
            </a:fld>
            <a:endParaRPr lang="zh-TW" altLang="en-US"/>
          </a:p>
        </p:txBody>
      </p:sp>
    </p:spTree>
    <p:extLst>
      <p:ext uri="{BB962C8B-B14F-4D97-AF65-F5344CB8AC3E}">
        <p14:creationId xmlns:p14="http://schemas.microsoft.com/office/powerpoint/2010/main" val="4211500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l-GR" altLang="zh-TW" dirty="0" smtClean="0"/>
              <a:t>Θ</a:t>
            </a:r>
            <a:r>
              <a:rPr lang="en-US" altLang="zh-TW" dirty="0" smtClean="0"/>
              <a:t> </a:t>
            </a:r>
            <a:r>
              <a:rPr lang="zh-TW" altLang="en-US" dirty="0" smtClean="0"/>
              <a:t>在最大或最小 </a:t>
            </a:r>
            <a:r>
              <a:rPr lang="en-US" altLang="zh-TW" dirty="0" smtClean="0"/>
              <a:t>FA</a:t>
            </a:r>
            <a:r>
              <a:rPr lang="en-US" altLang="zh-TW" baseline="0" dirty="0" smtClean="0"/>
              <a:t> </a:t>
            </a:r>
            <a:r>
              <a:rPr lang="zh-TW" altLang="en-US" baseline="0" dirty="0" smtClean="0"/>
              <a:t>與 </a:t>
            </a:r>
            <a:r>
              <a:rPr lang="en-US" altLang="zh-TW" baseline="0" dirty="0" smtClean="0"/>
              <a:t>FR </a:t>
            </a:r>
            <a:r>
              <a:rPr lang="zh-TW" altLang="en-US" baseline="0" dirty="0" smtClean="0"/>
              <a:t>會下</a:t>
            </a:r>
            <a:r>
              <a:rPr lang="zh-TW" altLang="en-US" baseline="0" smtClean="0"/>
              <a:t>降至 </a:t>
            </a:r>
            <a:r>
              <a:rPr lang="en-US" altLang="zh-TW" baseline="0" smtClean="0"/>
              <a:t>0</a:t>
            </a:r>
            <a:r>
              <a:rPr lang="zh-TW" altLang="en-US" baseline="0" smtClean="0"/>
              <a:t>？</a:t>
            </a:r>
            <a:endParaRPr lang="zh-TW" altLang="en-US" dirty="0"/>
          </a:p>
        </p:txBody>
      </p:sp>
      <p:sp>
        <p:nvSpPr>
          <p:cNvPr id="4" name="投影片編號版面配置區 3"/>
          <p:cNvSpPr>
            <a:spLocks noGrp="1"/>
          </p:cNvSpPr>
          <p:nvPr>
            <p:ph type="sldNum" sz="quarter" idx="10"/>
          </p:nvPr>
        </p:nvSpPr>
        <p:spPr/>
        <p:txBody>
          <a:bodyPr/>
          <a:lstStyle/>
          <a:p>
            <a:fld id="{EBF306CA-BC69-4BBF-A107-3CDDF876FD6B}" type="slidenum">
              <a:rPr lang="zh-TW" altLang="en-US" smtClean="0"/>
              <a:t>7</a:t>
            </a:fld>
            <a:endParaRPr lang="zh-TW" altLang="en-US"/>
          </a:p>
        </p:txBody>
      </p:sp>
    </p:spTree>
    <p:extLst>
      <p:ext uri="{BB962C8B-B14F-4D97-AF65-F5344CB8AC3E}">
        <p14:creationId xmlns:p14="http://schemas.microsoft.com/office/powerpoint/2010/main" val="63486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204536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85544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809578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3724361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2192373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1540970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223707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3809215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2150496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126583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1C30E778-AC65-45A4-BF35-5C1AC789DD3A}" type="datetimeFigureOut">
              <a:rPr lang="zh-TW" altLang="en-US" smtClean="0"/>
              <a:t>2013/2/5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4034279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30E778-AC65-45A4-BF35-5C1AC789DD3A}" type="datetimeFigureOut">
              <a:rPr lang="zh-TW" altLang="en-US" smtClean="0"/>
              <a:t>2013/2/5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99E845-98D9-48E9-8759-B0212E1C620A}" type="slidenum">
              <a:rPr lang="zh-TW" altLang="en-US" smtClean="0"/>
              <a:t>‹#›</a:t>
            </a:fld>
            <a:endParaRPr lang="zh-TW" altLang="en-US"/>
          </a:p>
        </p:txBody>
      </p:sp>
    </p:spTree>
    <p:extLst>
      <p:ext uri="{BB962C8B-B14F-4D97-AF65-F5344CB8AC3E}">
        <p14:creationId xmlns:p14="http://schemas.microsoft.com/office/powerpoint/2010/main" val="3775427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916833"/>
            <a:ext cx="7772400" cy="1683618"/>
          </a:xfrm>
        </p:spPr>
        <p:txBody>
          <a:bodyPr>
            <a:normAutofit/>
          </a:bodyPr>
          <a:lstStyle/>
          <a:p>
            <a:r>
              <a:rPr lang="en-US" altLang="zh-TW" sz="3200" dirty="0" smtClean="0"/>
              <a:t>Dynamic Signature Verification through</a:t>
            </a:r>
            <a:br>
              <a:rPr lang="en-US" altLang="zh-TW" sz="3200" dirty="0" smtClean="0"/>
            </a:br>
            <a:r>
              <a:rPr lang="en-US" altLang="zh-TW" sz="3200" dirty="0" smtClean="0"/>
              <a:t>the Longest Common Subsequence Problem</a:t>
            </a:r>
            <a:br>
              <a:rPr lang="en-US" altLang="zh-TW" sz="3200" dirty="0" smtClean="0"/>
            </a:br>
            <a:r>
              <a:rPr lang="en-US" altLang="zh-TW" sz="3200" dirty="0" smtClean="0"/>
              <a:t>and Genetic Algorithms</a:t>
            </a:r>
            <a:endParaRPr lang="zh-TW" altLang="en-US" sz="3200" dirty="0"/>
          </a:p>
        </p:txBody>
      </p:sp>
      <p:sp>
        <p:nvSpPr>
          <p:cNvPr id="11" name="副標題 10"/>
          <p:cNvSpPr>
            <a:spLocks noGrp="1"/>
          </p:cNvSpPr>
          <p:nvPr>
            <p:ph type="subTitle" idx="1"/>
          </p:nvPr>
        </p:nvSpPr>
        <p:spPr>
          <a:xfrm>
            <a:off x="841580" y="3886200"/>
            <a:ext cx="7460840" cy="1752600"/>
          </a:xfrm>
        </p:spPr>
        <p:txBody>
          <a:bodyPr>
            <a:noAutofit/>
          </a:bodyPr>
          <a:lstStyle/>
          <a:p>
            <a:r>
              <a:rPr lang="en-US" altLang="zh-TW" sz="2000" dirty="0" smtClean="0">
                <a:solidFill>
                  <a:schemeClr val="tx1"/>
                </a:solidFill>
              </a:rPr>
              <a:t>Alejandro Flores-Mendez and Manuel Bernal-</a:t>
            </a:r>
            <a:r>
              <a:rPr lang="en-US" altLang="zh-TW" sz="2000" dirty="0" err="1" smtClean="0">
                <a:solidFill>
                  <a:schemeClr val="tx1"/>
                </a:solidFill>
              </a:rPr>
              <a:t>Urbina</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Evolutionary Computation (CEC), 2010 IEEE Congress on, Pages 1-6</a:t>
            </a:r>
          </a:p>
          <a:p>
            <a:r>
              <a:rPr lang="en-US" altLang="zh-TW" sz="2000" dirty="0" smtClean="0">
                <a:solidFill>
                  <a:schemeClr val="tx1"/>
                </a:solidFill>
              </a:rPr>
              <a:t>Presenter: </a:t>
            </a:r>
            <a:r>
              <a:rPr lang="en-US" altLang="zh-TW" sz="2000" dirty="0" err="1" smtClean="0">
                <a:solidFill>
                  <a:schemeClr val="tx1"/>
                </a:solidFill>
              </a:rPr>
              <a:t>Guo</a:t>
            </a:r>
            <a:r>
              <a:rPr lang="en-US" altLang="zh-TW" sz="2000" dirty="0" smtClean="0">
                <a:solidFill>
                  <a:schemeClr val="tx1"/>
                </a:solidFill>
              </a:rPr>
              <a:t> Yi-</a:t>
            </a:r>
            <a:r>
              <a:rPr lang="en-US" altLang="zh-TW" sz="2000" dirty="0" err="1" smtClean="0">
                <a:solidFill>
                  <a:schemeClr val="tx1"/>
                </a:solidFill>
              </a:rPr>
              <a:t>Pu</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2013-02-05</a:t>
            </a:r>
            <a:endParaRPr lang="zh-TW" altLang="en-US" sz="2000" dirty="0">
              <a:solidFill>
                <a:schemeClr val="tx1"/>
              </a:solidFill>
            </a:endParaRPr>
          </a:p>
        </p:txBody>
      </p:sp>
    </p:spTree>
    <p:extLst>
      <p:ext uri="{BB962C8B-B14F-4D97-AF65-F5344CB8AC3E}">
        <p14:creationId xmlns:p14="http://schemas.microsoft.com/office/powerpoint/2010/main" val="1235755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Abstract</a:t>
            </a:r>
            <a:endParaRPr lang="zh-TW" altLang="en-US" dirty="0"/>
          </a:p>
        </p:txBody>
      </p:sp>
      <p:sp>
        <p:nvSpPr>
          <p:cNvPr id="3" name="內容版面配置區 2"/>
          <p:cNvSpPr>
            <a:spLocks noGrp="1"/>
          </p:cNvSpPr>
          <p:nvPr>
            <p:ph idx="1"/>
          </p:nvPr>
        </p:nvSpPr>
        <p:spPr/>
        <p:txBody>
          <a:bodyPr>
            <a:normAutofit/>
          </a:bodyPr>
          <a:lstStyle/>
          <a:p>
            <a:pPr marL="0" indent="457200">
              <a:lnSpc>
                <a:spcPct val="150000"/>
              </a:lnSpc>
              <a:buNone/>
            </a:pPr>
            <a:r>
              <a:rPr lang="en-US" altLang="zh-TW" sz="2400" dirty="0" smtClean="0"/>
              <a:t>The following paper includes an automated system that shows the use of signature data for biometric verification. The verification uses the dynamic distinctiveness of the signature, thus this method lies within those referred as dynamic or on-line signature verification. This proposal makes use of a variation of the Longest Common Subsequence Problem together with Genetic Algorithm for this purpose.</a:t>
            </a:r>
            <a:endParaRPr lang="zh-TW" altLang="en-US" sz="2400" dirty="0"/>
          </a:p>
        </p:txBody>
      </p:sp>
    </p:spTree>
    <p:extLst>
      <p:ext uri="{BB962C8B-B14F-4D97-AF65-F5344CB8AC3E}">
        <p14:creationId xmlns:p14="http://schemas.microsoft.com/office/powerpoint/2010/main" val="1856221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The Problem to Solve</a:t>
            </a:r>
            <a:endParaRPr lang="zh-TW" altLang="en-US" dirty="0"/>
          </a:p>
        </p:txBody>
      </p:sp>
      <mc:AlternateContent xmlns:mc="http://schemas.openxmlformats.org/markup-compatibility/2006" xmlns:a14="http://schemas.microsoft.com/office/drawing/2010/main">
        <mc:Choice Requires="a14">
          <p:sp>
            <p:nvSpPr>
              <p:cNvPr id="5" name="內容版面配置區 4"/>
              <p:cNvSpPr>
                <a:spLocks noGrp="1"/>
              </p:cNvSpPr>
              <p:nvPr>
                <p:ph idx="1"/>
              </p:nvPr>
            </p:nvSpPr>
            <p:spPr/>
            <p:txBody>
              <a:bodyPr>
                <a:normAutofit/>
              </a:bodyPr>
              <a:lstStyle/>
              <a:p>
                <a:pPr>
                  <a:lnSpc>
                    <a:spcPct val="150000"/>
                  </a:lnSpc>
                </a:pPr>
                <a:r>
                  <a:rPr lang="en-US" altLang="zh-TW" sz="2400" b="1" dirty="0" smtClean="0"/>
                  <a:t>Learning:</a:t>
                </a:r>
                <a:r>
                  <a:rPr lang="en-US" altLang="zh-TW" sz="2400" dirty="0" smtClean="0"/>
                  <a:t> original signature </a:t>
                </a:r>
                <a14:m>
                  <m:oMath xmlns:m="http://schemas.openxmlformats.org/officeDocument/2006/math">
                    <m:sSub>
                      <m:sSubPr>
                        <m:ctrlPr>
                          <a:rPr lang="en-US" altLang="zh-TW" sz="2400" i="1" smtClean="0">
                            <a:latin typeface="Cambria Math"/>
                          </a:rPr>
                        </m:ctrlPr>
                      </m:sSubPr>
                      <m:e>
                        <m:r>
                          <a:rPr lang="en-US" altLang="zh-TW" sz="2400" smtClean="0">
                            <a:latin typeface="Cambria Math"/>
                          </a:rPr>
                          <m:t>𝑆</m:t>
                        </m:r>
                      </m:e>
                      <m:sub>
                        <m:r>
                          <a:rPr lang="en-US" altLang="zh-TW" sz="2400" smtClean="0">
                            <a:latin typeface="Cambria Math"/>
                          </a:rPr>
                          <m:t>1</m:t>
                        </m:r>
                      </m:sub>
                    </m:sSub>
                    <m:r>
                      <a:rPr lang="en-US" altLang="zh-TW" sz="2400" smtClean="0">
                        <a:latin typeface="Cambria Math"/>
                      </a:rPr>
                      <m:t>,</m:t>
                    </m:r>
                    <m:sSub>
                      <m:sSubPr>
                        <m:ctrlPr>
                          <a:rPr lang="en-US" altLang="zh-TW" sz="2400" i="1" smtClean="0">
                            <a:latin typeface="Cambria Math"/>
                          </a:rPr>
                        </m:ctrlPr>
                      </m:sSubPr>
                      <m:e>
                        <m:r>
                          <a:rPr lang="en-US" altLang="zh-TW" sz="2400" smtClean="0">
                            <a:latin typeface="Cambria Math"/>
                          </a:rPr>
                          <m:t>𝑆</m:t>
                        </m:r>
                      </m:e>
                      <m:sub>
                        <m:r>
                          <a:rPr lang="en-US" altLang="zh-TW" sz="2400" smtClean="0">
                            <a:latin typeface="Cambria Math"/>
                          </a:rPr>
                          <m:t>2</m:t>
                        </m:r>
                      </m:sub>
                    </m:sSub>
                    <m:r>
                      <a:rPr lang="en-US" altLang="zh-TW" sz="2400" smtClean="0">
                        <a:latin typeface="Cambria Math"/>
                      </a:rPr>
                      <m:t>,…,</m:t>
                    </m:r>
                    <m:sSub>
                      <m:sSubPr>
                        <m:ctrlPr>
                          <a:rPr lang="en-US" altLang="zh-TW" sz="2400" i="1" smtClean="0">
                            <a:latin typeface="Cambria Math"/>
                          </a:rPr>
                        </m:ctrlPr>
                      </m:sSubPr>
                      <m:e>
                        <m:r>
                          <a:rPr lang="en-US" altLang="zh-TW" sz="2400" smtClean="0">
                            <a:latin typeface="Cambria Math"/>
                          </a:rPr>
                          <m:t>𝑆</m:t>
                        </m:r>
                      </m:e>
                      <m:sub>
                        <m:r>
                          <a:rPr lang="en-US" altLang="zh-TW" sz="2400" smtClean="0">
                            <a:latin typeface="Cambria Math"/>
                          </a:rPr>
                          <m:t>𝑘</m:t>
                        </m:r>
                      </m:sub>
                    </m:sSub>
                  </m:oMath>
                </a14:m>
                <a:r>
                  <a:rPr lang="en-US" altLang="zh-TW" sz="2400" dirty="0" smtClean="0"/>
                  <a:t> of a person</a:t>
                </a:r>
              </a:p>
              <a:p>
                <a:pPr>
                  <a:lnSpc>
                    <a:spcPct val="150000"/>
                  </a:lnSpc>
                </a:pPr>
                <a:r>
                  <a:rPr lang="en-US" altLang="zh-TW" sz="2400" b="1" dirty="0" smtClean="0"/>
                  <a:t>Input:</a:t>
                </a:r>
                <a:r>
                  <a:rPr lang="en-US" altLang="zh-TW" sz="2400" dirty="0" smtClean="0"/>
                  <a:t> any signature </a:t>
                </a:r>
                <a14:m>
                  <m:oMath xmlns:m="http://schemas.openxmlformats.org/officeDocument/2006/math">
                    <m:sSup>
                      <m:sSupPr>
                        <m:ctrlPr>
                          <a:rPr lang="en-US" altLang="zh-TW" sz="2400" i="1" smtClean="0">
                            <a:latin typeface="Cambria Math"/>
                          </a:rPr>
                        </m:ctrlPr>
                      </m:sSupPr>
                      <m:e>
                        <m:r>
                          <a:rPr lang="en-US" altLang="zh-TW" sz="2400" smtClean="0">
                            <a:latin typeface="Cambria Math"/>
                          </a:rPr>
                          <m:t>𝑆</m:t>
                        </m:r>
                      </m:e>
                      <m:sup>
                        <m:r>
                          <a:rPr lang="en-US" altLang="zh-TW" sz="2400" smtClean="0">
                            <a:latin typeface="Cambria Math"/>
                          </a:rPr>
                          <m:t>′</m:t>
                        </m:r>
                      </m:sup>
                    </m:sSup>
                  </m:oMath>
                </a14:m>
                <a:endParaRPr lang="en-US" altLang="zh-TW" sz="2400" dirty="0" smtClean="0"/>
              </a:p>
              <a:p>
                <a:pPr>
                  <a:lnSpc>
                    <a:spcPct val="150000"/>
                  </a:lnSpc>
                </a:pPr>
                <a:r>
                  <a:rPr lang="en-US" altLang="zh-TW" sz="2400" b="1" dirty="0" smtClean="0"/>
                  <a:t>Output:</a:t>
                </a:r>
                <a:r>
                  <a:rPr lang="en-US" altLang="zh-TW" sz="2400" dirty="0" smtClean="0"/>
                  <a:t> accept/reject</a:t>
                </a:r>
                <a:endParaRPr lang="zh-TW" altLang="en-US" sz="2400"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blipFill rotWithShape="1">
                <a:blip r:embed="rId2"/>
                <a:stretch>
                  <a:fillRect l="-96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40585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Dynamic Signature</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smtClean="0"/>
              <a:t>Captured by a PDA, a digitizer, etc.</a:t>
            </a:r>
          </a:p>
          <a:p>
            <a:pPr>
              <a:lnSpc>
                <a:spcPct val="150000"/>
              </a:lnSpc>
            </a:pPr>
            <a:r>
              <a:rPr lang="en-US" altLang="zh-TW" sz="2000" dirty="0" smtClean="0"/>
              <a:t>A number of events:</a:t>
            </a:r>
          </a:p>
          <a:p>
            <a:pPr lvl="1"/>
            <a:r>
              <a:rPr lang="en-US" altLang="zh-TW" sz="2000" dirty="0" smtClean="0"/>
              <a:t>current position </a:t>
            </a:r>
            <a:r>
              <a:rPr lang="en-US" altLang="zh-TW" sz="2000" i="1" dirty="0" smtClean="0"/>
              <a:t>x, y</a:t>
            </a:r>
          </a:p>
          <a:p>
            <a:pPr lvl="1"/>
            <a:r>
              <a:rPr lang="en-US" altLang="zh-TW" sz="2000" dirty="0" smtClean="0"/>
              <a:t>time </a:t>
            </a:r>
            <a:r>
              <a:rPr lang="en-US" altLang="zh-TW" sz="2000" i="1" dirty="0" smtClean="0"/>
              <a:t>t</a:t>
            </a:r>
          </a:p>
          <a:p>
            <a:pPr lvl="1"/>
            <a:r>
              <a:rPr lang="en-US" altLang="zh-TW" sz="2000" dirty="0" smtClean="0"/>
              <a:t>button status </a:t>
            </a:r>
            <a:r>
              <a:rPr lang="en-US" altLang="zh-TW" sz="2000" i="1" dirty="0" err="1" smtClean="0"/>
              <a:t>bs</a:t>
            </a:r>
            <a:endParaRPr lang="en-US" altLang="zh-TW" sz="2000" i="1" dirty="0" smtClean="0"/>
          </a:p>
          <a:p>
            <a:pPr lvl="1"/>
            <a:r>
              <a:rPr lang="en-US" altLang="zh-TW" sz="2000" dirty="0" smtClean="0"/>
              <a:t>azimuth degree </a:t>
            </a:r>
            <a:r>
              <a:rPr lang="en-US" altLang="zh-TW" sz="2000" i="1" dirty="0" smtClean="0"/>
              <a:t>a</a:t>
            </a:r>
          </a:p>
          <a:p>
            <a:pPr lvl="1"/>
            <a:r>
              <a:rPr lang="en-US" altLang="zh-TW" sz="2000" dirty="0" smtClean="0"/>
              <a:t>altitude degree </a:t>
            </a:r>
            <a:r>
              <a:rPr lang="en-US" altLang="zh-TW" sz="2000" i="1" dirty="0" smtClean="0"/>
              <a:t>h</a:t>
            </a:r>
          </a:p>
          <a:p>
            <a:pPr lvl="1"/>
            <a:r>
              <a:rPr lang="en-US" altLang="zh-TW" sz="2000" dirty="0" smtClean="0"/>
              <a:t>pressure </a:t>
            </a:r>
            <a:r>
              <a:rPr lang="en-US" altLang="zh-TW" sz="2000" i="1" dirty="0" smtClean="0"/>
              <a:t>p</a:t>
            </a:r>
          </a:p>
          <a:p>
            <a:pPr lvl="1"/>
            <a:r>
              <a:rPr lang="en-US" altLang="zh-TW" sz="2000" dirty="0" smtClean="0"/>
              <a:t>distance </a:t>
            </a:r>
            <a:r>
              <a:rPr lang="en-US" altLang="zh-TW" sz="2000" i="1" dirty="0" err="1" smtClean="0"/>
              <a:t>dist</a:t>
            </a:r>
            <a:endParaRPr lang="en-US" altLang="zh-TW" sz="2000" i="1" dirty="0" smtClean="0"/>
          </a:p>
          <a:p>
            <a:pPr lvl="1"/>
            <a:r>
              <a:rPr lang="en-US" altLang="zh-TW" sz="2000" dirty="0" smtClean="0"/>
              <a:t>derivatives of </a:t>
            </a:r>
            <a:r>
              <a:rPr lang="en-US" altLang="zh-TW" sz="2000" i="1" dirty="0" smtClean="0"/>
              <a:t>x, y, a, h</a:t>
            </a:r>
            <a:r>
              <a:rPr lang="en-US" altLang="zh-TW" sz="2000" dirty="0" smtClean="0"/>
              <a:t> and </a:t>
            </a:r>
            <a:r>
              <a:rPr lang="en-US" altLang="zh-TW" sz="2000" i="1" dirty="0" smtClean="0"/>
              <a:t>p</a:t>
            </a:r>
            <a:endParaRPr lang="zh-TW" altLang="en-US" sz="2000" i="1" dirty="0"/>
          </a:p>
        </p:txBody>
      </p:sp>
      <p:pic>
        <p:nvPicPr>
          <p:cNvPr id="10" name="圖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8104" y="3036912"/>
            <a:ext cx="3322320" cy="3200400"/>
          </a:xfrm>
          <a:prstGeom prst="rect">
            <a:avLst/>
          </a:prstGeom>
        </p:spPr>
      </p:pic>
    </p:spTree>
    <p:extLst>
      <p:ext uri="{BB962C8B-B14F-4D97-AF65-F5344CB8AC3E}">
        <p14:creationId xmlns:p14="http://schemas.microsoft.com/office/powerpoint/2010/main" val="105689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1357"/>
            <a:ext cx="9144000" cy="4735286"/>
          </a:xfrm>
          <a:prstGeom prst="rect">
            <a:avLst/>
          </a:prstGeom>
        </p:spPr>
      </p:pic>
    </p:spTree>
    <p:extLst>
      <p:ext uri="{BB962C8B-B14F-4D97-AF65-F5344CB8AC3E}">
        <p14:creationId xmlns:p14="http://schemas.microsoft.com/office/powerpoint/2010/main" val="268017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Learning</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14:m>
                  <m:oMath xmlns:m="http://schemas.openxmlformats.org/officeDocument/2006/math">
                    <m:sSup>
                      <m:sSupPr>
                        <m:ctrlPr>
                          <a:rPr lang="en-US" altLang="zh-TW" sz="2400" i="1" smtClean="0">
                            <a:latin typeface="Cambria Math"/>
                          </a:rPr>
                        </m:ctrlPr>
                      </m:sSupPr>
                      <m:e>
                        <m:r>
                          <a:rPr lang="en-US" altLang="zh-TW" sz="2400" b="0" i="1" smtClean="0">
                            <a:latin typeface="Cambria Math"/>
                          </a:rPr>
                          <m:t>𝑍</m:t>
                        </m:r>
                      </m:e>
                      <m:sup>
                        <m:r>
                          <a:rPr lang="en-US" altLang="zh-TW" sz="2400" b="0" i="1" smtClean="0">
                            <a:latin typeface="Cambria Math"/>
                          </a:rPr>
                          <m:t>∗</m:t>
                        </m:r>
                      </m:sup>
                    </m:sSup>
                  </m:oMath>
                </a14:m>
                <a:r>
                  <a:rPr lang="en-US" altLang="zh-TW" sz="2400" i="1" dirty="0" smtClean="0">
                    <a:latin typeface="Cambria Math"/>
                  </a:rPr>
                  <a:t/>
                </a:r>
                <a:br>
                  <a:rPr lang="en-US" altLang="zh-TW" sz="2400" i="1" dirty="0" smtClean="0">
                    <a:latin typeface="Cambria Math"/>
                  </a:rPr>
                </a:br>
                <a14:m>
                  <m:oMath xmlns:m="http://schemas.openxmlformats.org/officeDocument/2006/math">
                    <m:r>
                      <a:rPr lang="en-US" altLang="zh-TW" sz="2400" smtClean="0">
                        <a:latin typeface="Cambria Math"/>
                      </a:rPr>
                      <m:t>=</m:t>
                    </m:r>
                    <m:sSup>
                      <m:sSupPr>
                        <m:ctrlPr>
                          <a:rPr lang="en-US" altLang="zh-TW" sz="2400" i="1" smtClean="0">
                            <a:latin typeface="Cambria Math"/>
                          </a:rPr>
                        </m:ctrlPr>
                      </m:sSupPr>
                      <m:e>
                        <m:r>
                          <a:rPr lang="en-US" altLang="zh-TW" sz="2400" smtClean="0">
                            <a:latin typeface="Cambria Math"/>
                          </a:rPr>
                          <m:t>𝐿𝐶𝑆</m:t>
                        </m:r>
                      </m:e>
                      <m:sup>
                        <m:r>
                          <a:rPr lang="en-US" altLang="zh-TW" sz="2400" smtClean="0">
                            <a:latin typeface="Cambria Math"/>
                          </a:rPr>
                          <m:t>∗</m:t>
                        </m:r>
                      </m:sup>
                    </m:sSup>
                    <m:d>
                      <m:dPr>
                        <m:ctrlPr>
                          <a:rPr lang="en-US" altLang="zh-TW" sz="2400" i="1" smtClean="0">
                            <a:latin typeface="Cambria Math"/>
                          </a:rPr>
                        </m:ctrlPr>
                      </m:dPr>
                      <m:e>
                        <m:sSub>
                          <m:sSubPr>
                            <m:ctrlPr>
                              <a:rPr lang="en-US" altLang="zh-TW" sz="2400" i="1">
                                <a:latin typeface="Cambria Math"/>
                              </a:rPr>
                            </m:ctrlPr>
                          </m:sSubPr>
                          <m:e>
                            <m:r>
                              <a:rPr lang="en-US" altLang="zh-TW" sz="2400" smtClean="0">
                                <a:latin typeface="Cambria Math"/>
                              </a:rPr>
                              <m:t>𝑆</m:t>
                            </m:r>
                          </m:e>
                          <m:sub>
                            <m:r>
                              <a:rPr lang="en-US" altLang="zh-TW" sz="2400" smtClean="0">
                                <a:latin typeface="Cambria Math"/>
                              </a:rPr>
                              <m:t>1</m:t>
                            </m:r>
                          </m:sub>
                        </m:sSub>
                        <m:r>
                          <a:rPr lang="en-US" altLang="zh-TW" sz="2400">
                            <a:latin typeface="Cambria Math"/>
                          </a:rPr>
                          <m:t>,</m:t>
                        </m:r>
                        <m:sSub>
                          <m:sSubPr>
                            <m:ctrlPr>
                              <a:rPr lang="en-US" altLang="zh-TW" sz="2400" i="1">
                                <a:latin typeface="Cambria Math"/>
                              </a:rPr>
                            </m:ctrlPr>
                          </m:sSubPr>
                          <m:e>
                            <m:r>
                              <a:rPr lang="en-US" altLang="zh-TW" sz="2400" smtClean="0">
                                <a:latin typeface="Cambria Math"/>
                              </a:rPr>
                              <m:t>𝑆</m:t>
                            </m:r>
                          </m:e>
                          <m:sub>
                            <m:r>
                              <a:rPr lang="en-US" altLang="zh-TW" sz="2400" smtClean="0">
                                <a:latin typeface="Cambria Math"/>
                              </a:rPr>
                              <m:t>2</m:t>
                            </m:r>
                          </m:sub>
                        </m:sSub>
                        <m:r>
                          <a:rPr lang="en-US" altLang="zh-TW" sz="2400" smtClean="0">
                            <a:latin typeface="Cambria Math"/>
                          </a:rPr>
                          <m:t>,…</m:t>
                        </m:r>
                        <m:r>
                          <a:rPr lang="en-US" altLang="zh-TW" sz="2400">
                            <a:latin typeface="Cambria Math"/>
                          </a:rPr>
                          <m:t>,</m:t>
                        </m:r>
                        <m:sSub>
                          <m:sSubPr>
                            <m:ctrlPr>
                              <a:rPr lang="en-US" altLang="zh-TW" sz="2400" i="1">
                                <a:latin typeface="Cambria Math"/>
                              </a:rPr>
                            </m:ctrlPr>
                          </m:sSubPr>
                          <m:e>
                            <m:r>
                              <a:rPr lang="en-US" altLang="zh-TW" sz="2400" smtClean="0">
                                <a:latin typeface="Cambria Math"/>
                              </a:rPr>
                              <m:t>𝑆</m:t>
                            </m:r>
                          </m:e>
                          <m:sub>
                            <m:r>
                              <a:rPr lang="en-US" altLang="zh-TW" sz="2400" smtClean="0">
                                <a:latin typeface="Cambria Math"/>
                              </a:rPr>
                              <m:t>𝑘</m:t>
                            </m:r>
                          </m:sub>
                        </m:sSub>
                      </m:e>
                    </m:d>
                  </m:oMath>
                </a14:m>
                <a:r>
                  <a:rPr lang="en-US" altLang="zh-TW" sz="2400" dirty="0" smtClean="0"/>
                  <a:t> </a:t>
                </a:r>
                <a:br>
                  <a:rPr lang="en-US" altLang="zh-TW" sz="2400" dirty="0" smtClean="0"/>
                </a:br>
                <a14:m>
                  <m:oMath xmlns:m="http://schemas.openxmlformats.org/officeDocument/2006/math">
                    <m:r>
                      <a:rPr lang="en-US" altLang="zh-TW" sz="2400" i="1" smtClean="0">
                        <a:latin typeface="Cambria Math"/>
                        <a:ea typeface="Cambria Math"/>
                      </a:rPr>
                      <m:t>≅</m:t>
                    </m:r>
                    <m:r>
                      <a:rPr lang="en-US" altLang="zh-TW" sz="2400" smtClean="0">
                        <a:latin typeface="Cambria Math"/>
                      </a:rPr>
                      <m:t>𝐿𝐶𝑆</m:t>
                    </m:r>
                    <m:d>
                      <m:dPr>
                        <m:ctrlPr>
                          <a:rPr lang="en-US" altLang="zh-TW" sz="2400" i="1" smtClean="0">
                            <a:latin typeface="Cambria Math"/>
                          </a:rPr>
                        </m:ctrlPr>
                      </m:dPr>
                      <m:e>
                        <m:sSub>
                          <m:sSubPr>
                            <m:ctrlPr>
                              <a:rPr lang="en-US" altLang="zh-TW" sz="2400" i="1">
                                <a:latin typeface="Cambria Math"/>
                              </a:rPr>
                            </m:ctrlPr>
                          </m:sSubPr>
                          <m:e>
                            <m:r>
                              <a:rPr lang="en-US" altLang="zh-TW" sz="2400">
                                <a:latin typeface="Cambria Math"/>
                              </a:rPr>
                              <m:t>𝑆</m:t>
                            </m:r>
                          </m:e>
                          <m:sub>
                            <m:r>
                              <a:rPr lang="en-US" altLang="zh-TW" sz="2400">
                                <a:latin typeface="Cambria Math"/>
                              </a:rPr>
                              <m:t>1</m:t>
                            </m:r>
                          </m:sub>
                        </m:sSub>
                        <m:r>
                          <a:rPr lang="en-US" altLang="zh-TW" sz="2400" smtClean="0">
                            <a:latin typeface="Cambria Math"/>
                          </a:rPr>
                          <m:t>,</m:t>
                        </m:r>
                        <m:r>
                          <a:rPr lang="en-US" altLang="zh-TW" sz="2400" smtClean="0">
                            <a:latin typeface="Cambria Math"/>
                          </a:rPr>
                          <m:t>𝐿𝐶𝑆</m:t>
                        </m:r>
                        <m:r>
                          <a:rPr lang="en-US" altLang="zh-TW" sz="2400" smtClean="0">
                            <a:latin typeface="Cambria Math"/>
                          </a:rPr>
                          <m:t>(</m:t>
                        </m:r>
                        <m:sSub>
                          <m:sSubPr>
                            <m:ctrlPr>
                              <a:rPr lang="en-US" altLang="zh-TW" sz="2400" i="1">
                                <a:latin typeface="Cambria Math"/>
                              </a:rPr>
                            </m:ctrlPr>
                          </m:sSubPr>
                          <m:e>
                            <m:r>
                              <a:rPr lang="en-US" altLang="zh-TW" sz="2400">
                                <a:latin typeface="Cambria Math"/>
                              </a:rPr>
                              <m:t>𝑆</m:t>
                            </m:r>
                          </m:e>
                          <m:sub>
                            <m:r>
                              <a:rPr lang="en-US" altLang="zh-TW" sz="2400" smtClean="0">
                                <a:latin typeface="Cambria Math"/>
                              </a:rPr>
                              <m:t>2</m:t>
                            </m:r>
                          </m:sub>
                        </m:sSub>
                        <m:r>
                          <a:rPr lang="en-US" altLang="zh-TW" sz="2400" smtClean="0">
                            <a:latin typeface="Cambria Math"/>
                          </a:rPr>
                          <m:t>,…</m:t>
                        </m:r>
                        <m:d>
                          <m:dPr>
                            <m:ctrlPr>
                              <a:rPr lang="en-US" altLang="zh-TW" sz="2400" i="1" smtClean="0">
                                <a:latin typeface="Cambria Math"/>
                              </a:rPr>
                            </m:ctrlPr>
                          </m:dPr>
                          <m:e>
                            <m:r>
                              <a:rPr lang="en-US" altLang="zh-TW" sz="2400" smtClean="0">
                                <a:latin typeface="Cambria Math"/>
                              </a:rPr>
                              <m:t>𝐿𝐶𝑆</m:t>
                            </m:r>
                            <m:d>
                              <m:dPr>
                                <m:ctrlPr>
                                  <a:rPr lang="en-US" altLang="zh-TW" sz="2400" i="1" smtClean="0">
                                    <a:latin typeface="Cambria Math"/>
                                  </a:rPr>
                                </m:ctrlPr>
                              </m:dPr>
                              <m:e>
                                <m:sSub>
                                  <m:sSubPr>
                                    <m:ctrlPr>
                                      <a:rPr lang="en-US" altLang="zh-TW" sz="2400" i="1">
                                        <a:latin typeface="Cambria Math"/>
                                      </a:rPr>
                                    </m:ctrlPr>
                                  </m:sSubPr>
                                  <m:e>
                                    <m:r>
                                      <a:rPr lang="en-US" altLang="zh-TW" sz="2400">
                                        <a:latin typeface="Cambria Math"/>
                                      </a:rPr>
                                      <m:t>𝑆</m:t>
                                    </m:r>
                                  </m:e>
                                  <m:sub>
                                    <m:r>
                                      <a:rPr lang="en-US" altLang="zh-TW" sz="2400" smtClean="0">
                                        <a:latin typeface="Cambria Math"/>
                                      </a:rPr>
                                      <m:t>𝑘</m:t>
                                    </m:r>
                                    <m:r>
                                      <a:rPr lang="en-US" altLang="zh-TW" sz="2400" smtClean="0">
                                        <a:latin typeface="Cambria Math"/>
                                      </a:rPr>
                                      <m:t>−1</m:t>
                                    </m:r>
                                  </m:sub>
                                </m:sSub>
                                <m:r>
                                  <a:rPr lang="en-US" altLang="zh-TW" sz="2400" smtClean="0">
                                    <a:latin typeface="Cambria Math"/>
                                  </a:rPr>
                                  <m:t>,</m:t>
                                </m:r>
                                <m:sSub>
                                  <m:sSubPr>
                                    <m:ctrlPr>
                                      <a:rPr lang="en-US" altLang="zh-TW" sz="2400" i="1">
                                        <a:latin typeface="Cambria Math"/>
                                      </a:rPr>
                                    </m:ctrlPr>
                                  </m:sSubPr>
                                  <m:e>
                                    <m:r>
                                      <a:rPr lang="en-US" altLang="zh-TW" sz="2400">
                                        <a:latin typeface="Cambria Math"/>
                                      </a:rPr>
                                      <m:t>𝑆</m:t>
                                    </m:r>
                                  </m:e>
                                  <m:sub>
                                    <m:r>
                                      <a:rPr lang="en-US" altLang="zh-TW" sz="2400" smtClean="0">
                                        <a:latin typeface="Cambria Math"/>
                                      </a:rPr>
                                      <m:t>𝑘</m:t>
                                    </m:r>
                                  </m:sub>
                                </m:sSub>
                              </m:e>
                            </m:d>
                          </m:e>
                        </m:d>
                        <m:r>
                          <a:rPr lang="en-US" altLang="zh-TW" sz="2400" smtClean="0">
                            <a:latin typeface="Cambria Math"/>
                          </a:rPr>
                          <m:t>…)</m:t>
                        </m:r>
                      </m:e>
                    </m:d>
                  </m:oMath>
                </a14:m>
                <a:r>
                  <a:rPr lang="en-US" altLang="zh-TW" sz="2400" dirty="0" smtClean="0"/>
                  <a:t> </a:t>
                </a:r>
              </a:p>
              <a:p>
                <a14:m>
                  <m:oMath xmlns:m="http://schemas.openxmlformats.org/officeDocument/2006/math">
                    <m:sSub>
                      <m:sSubPr>
                        <m:ctrlPr>
                          <a:rPr lang="en-US" altLang="zh-TW" sz="2400" i="1" smtClean="0">
                            <a:latin typeface="Cambria Math"/>
                          </a:rPr>
                        </m:ctrlPr>
                      </m:sSubPr>
                      <m:e>
                        <m:r>
                          <a:rPr lang="en-US" altLang="zh-TW" sz="2400" smtClean="0">
                            <a:latin typeface="Cambria Math"/>
                          </a:rPr>
                          <m:t>𝑙</m:t>
                        </m:r>
                      </m:e>
                      <m:sub>
                        <m:r>
                          <a:rPr lang="en-US" altLang="zh-TW" sz="2400" smtClean="0">
                            <a:latin typeface="Cambria Math"/>
                          </a:rPr>
                          <m:t>𝑖</m:t>
                        </m:r>
                        <m:r>
                          <a:rPr lang="en-US" altLang="zh-TW" sz="2400" smtClean="0">
                            <a:latin typeface="Cambria Math"/>
                          </a:rPr>
                          <m:t>,</m:t>
                        </m:r>
                        <m:r>
                          <a:rPr lang="en-US" altLang="zh-TW" sz="2400" smtClean="0">
                            <a:latin typeface="Cambria Math"/>
                          </a:rPr>
                          <m:t>𝑗</m:t>
                        </m:r>
                      </m:sub>
                    </m:sSub>
                    <m:r>
                      <a:rPr lang="en-US" altLang="zh-TW" sz="2400" smtClean="0">
                        <a:latin typeface="Cambria Math"/>
                      </a:rPr>
                      <m:t>=</m:t>
                    </m:r>
                    <m:d>
                      <m:dPr>
                        <m:begChr m:val="{"/>
                        <m:endChr m:val=""/>
                        <m:ctrlPr>
                          <a:rPr lang="en-US" altLang="zh-TW" sz="2400" i="1" smtClean="0">
                            <a:latin typeface="Cambria Math"/>
                          </a:rPr>
                        </m:ctrlPr>
                      </m:dPr>
                      <m:e>
                        <m:eqArr>
                          <m:eqArrPr>
                            <m:ctrlPr>
                              <a:rPr lang="en-US" altLang="zh-TW" sz="2400" i="1" smtClean="0">
                                <a:latin typeface="Cambria Math"/>
                              </a:rPr>
                            </m:ctrlPr>
                          </m:eqArrPr>
                          <m:e>
                            <m:r>
                              <a:rPr lang="en-US" altLang="zh-TW" sz="2400" b="0" i="0" smtClean="0">
                                <a:latin typeface="Cambria Math"/>
                              </a:rPr>
                              <m:t>&amp;</m:t>
                            </m:r>
                            <m:r>
                              <a:rPr lang="en-US" altLang="zh-TW" sz="2400" smtClean="0">
                                <a:latin typeface="Cambria Math"/>
                              </a:rPr>
                              <m:t>0</m:t>
                            </m:r>
                            <m:r>
                              <a:rPr lang="en-US" altLang="zh-TW" sz="2400" b="0" i="0" smtClean="0">
                                <a:latin typeface="Cambria Math"/>
                              </a:rPr>
                              <m:t>&amp;</m:t>
                            </m:r>
                            <m:r>
                              <a:rPr lang="en-US" altLang="zh-TW" sz="2400" smtClean="0">
                                <a:latin typeface="Cambria Math"/>
                              </a:rPr>
                              <m:t>𝑖𝑓</m:t>
                            </m:r>
                            <m:r>
                              <a:rPr lang="en-US" altLang="zh-TW" sz="2400" smtClean="0">
                                <a:latin typeface="Cambria Math"/>
                              </a:rPr>
                              <m:t> </m:t>
                            </m:r>
                            <m:r>
                              <a:rPr lang="en-US" altLang="zh-TW" sz="2400" smtClean="0">
                                <a:latin typeface="Cambria Math"/>
                              </a:rPr>
                              <m:t>𝑖</m:t>
                            </m:r>
                            <m:r>
                              <a:rPr lang="en-US" altLang="zh-TW" sz="2400" smtClean="0">
                                <a:latin typeface="Cambria Math"/>
                              </a:rPr>
                              <m:t>=0 </m:t>
                            </m:r>
                            <m:r>
                              <a:rPr lang="en-US" altLang="zh-TW" sz="2400" smtClean="0">
                                <a:latin typeface="Cambria Math"/>
                              </a:rPr>
                              <m:t>𝑜𝑟</m:t>
                            </m:r>
                            <m:r>
                              <a:rPr lang="en-US" altLang="zh-TW" sz="2400" smtClean="0">
                                <a:latin typeface="Cambria Math"/>
                              </a:rPr>
                              <m:t> </m:t>
                            </m:r>
                            <m:r>
                              <a:rPr lang="en-US" altLang="zh-TW" sz="2400" smtClean="0">
                                <a:latin typeface="Cambria Math"/>
                              </a:rPr>
                              <m:t>𝑗</m:t>
                            </m:r>
                            <m:r>
                              <a:rPr lang="en-US" altLang="zh-TW" sz="2400" smtClean="0">
                                <a:latin typeface="Cambria Math"/>
                              </a:rPr>
                              <m:t>=0</m:t>
                            </m:r>
                          </m:e>
                          <m:e>
                            <m:r>
                              <a:rPr lang="en-US" altLang="zh-TW" sz="2400" b="0" i="0" smtClean="0">
                                <a:latin typeface="Cambria Math"/>
                              </a:rPr>
                              <m:t>&amp;</m:t>
                            </m:r>
                            <m:r>
                              <a:rPr lang="en-US" altLang="zh-TW" sz="2400" smtClean="0">
                                <a:latin typeface="Cambria Math"/>
                              </a:rPr>
                              <m:t>𝑚𝑖𝑛</m:t>
                            </m:r>
                            <m:d>
                              <m:dPr>
                                <m:begChr m:val="{"/>
                                <m:endChr m:val=""/>
                                <m:ctrlPr>
                                  <a:rPr lang="en-US" altLang="zh-TW" sz="2400" i="1" smtClean="0">
                                    <a:latin typeface="Cambria Math"/>
                                  </a:rPr>
                                </m:ctrlPr>
                              </m:dPr>
                              <m:e>
                                <m:eqArr>
                                  <m:eqArrPr>
                                    <m:ctrlPr>
                                      <a:rPr lang="en-US" altLang="zh-TW" sz="2400" i="1" smtClean="0">
                                        <a:latin typeface="Cambria Math"/>
                                      </a:rPr>
                                    </m:ctrlPr>
                                  </m:eqArrPr>
                                  <m:e>
                                    <m:r>
                                      <a:rPr lang="en-US" altLang="zh-TW" sz="2400" b="0" i="0" smtClean="0">
                                        <a:latin typeface="Cambria Math"/>
                                      </a:rPr>
                                      <m:t>&amp;</m:t>
                                    </m:r>
                                    <m:sSub>
                                      <m:sSubPr>
                                        <m:ctrlPr>
                                          <a:rPr lang="en-US" altLang="zh-TW" sz="2400" i="1" smtClean="0">
                                            <a:latin typeface="Cambria Math"/>
                                          </a:rPr>
                                        </m:ctrlPr>
                                      </m:sSubPr>
                                      <m:e>
                                        <m:r>
                                          <a:rPr lang="en-US" altLang="zh-TW" sz="2400" smtClean="0">
                                            <a:latin typeface="Cambria Math"/>
                                          </a:rPr>
                                          <m:t>𝑙</m:t>
                                        </m:r>
                                      </m:e>
                                      <m:sub>
                                        <m:r>
                                          <a:rPr lang="en-US" altLang="zh-TW" sz="2400" smtClean="0">
                                            <a:latin typeface="Cambria Math"/>
                                          </a:rPr>
                                          <m:t>𝑖</m:t>
                                        </m:r>
                                        <m:r>
                                          <a:rPr lang="en-US" altLang="zh-TW" sz="2400" smtClean="0">
                                            <a:latin typeface="Cambria Math"/>
                                          </a:rPr>
                                          <m:t>,</m:t>
                                        </m:r>
                                        <m:r>
                                          <a:rPr lang="en-US" altLang="zh-TW" sz="2400" smtClean="0">
                                            <a:latin typeface="Cambria Math"/>
                                          </a:rPr>
                                          <m:t>𝑗</m:t>
                                        </m:r>
                                        <m:r>
                                          <a:rPr lang="en-US" altLang="zh-TW" sz="2400" smtClean="0">
                                            <a:latin typeface="Cambria Math"/>
                                          </a:rPr>
                                          <m:t>−1</m:t>
                                        </m:r>
                                      </m:sub>
                                    </m:sSub>
                                    <m:r>
                                      <a:rPr lang="en-US" altLang="zh-TW" sz="2400" smtClean="0">
                                        <a:latin typeface="Cambria Math"/>
                                      </a:rPr>
                                      <m:t>+</m:t>
                                    </m:r>
                                    <m:sSub>
                                      <m:sSubPr>
                                        <m:ctrlPr>
                                          <a:rPr lang="en-US" altLang="zh-TW" sz="2400" i="1" smtClean="0">
                                            <a:latin typeface="Cambria Math"/>
                                          </a:rPr>
                                        </m:ctrlPr>
                                      </m:sSubPr>
                                      <m:e>
                                        <m:d>
                                          <m:dPr>
                                            <m:begChr m:val="‖"/>
                                            <m:endChr m:val="‖"/>
                                            <m:ctrlPr>
                                              <a:rPr lang="en-US" altLang="zh-TW" sz="2400" i="1" smtClean="0">
                                                <a:latin typeface="Cambria Math"/>
                                              </a:rPr>
                                            </m:ctrlPr>
                                          </m:dPr>
                                          <m:e>
                                            <m:sSub>
                                              <m:sSubPr>
                                                <m:ctrlPr>
                                                  <a:rPr lang="en-US" altLang="zh-TW" sz="2400" i="1" smtClean="0">
                                                    <a:latin typeface="Cambria Math"/>
                                                  </a:rPr>
                                                </m:ctrlPr>
                                              </m:sSubPr>
                                              <m:e>
                                                <m:r>
                                                  <a:rPr lang="en-US" altLang="zh-TW" sz="2400" smtClean="0">
                                                    <a:latin typeface="Cambria Math"/>
                                                  </a:rPr>
                                                  <m:t>𝑆</m:t>
                                                </m:r>
                                              </m:e>
                                              <m:sub>
                                                <m:r>
                                                  <a:rPr lang="en-US" altLang="zh-TW" sz="2400" smtClean="0">
                                                    <a:latin typeface="Cambria Math"/>
                                                  </a:rPr>
                                                  <m:t>:,</m:t>
                                                </m:r>
                                                <m:r>
                                                  <a:rPr lang="en-US" altLang="zh-TW" sz="2400" smtClean="0">
                                                    <a:latin typeface="Cambria Math"/>
                                                  </a:rPr>
                                                  <m:t>𝑖</m:t>
                                                </m:r>
                                              </m:sub>
                                            </m:sSub>
                                          </m:e>
                                        </m:d>
                                      </m:e>
                                      <m:sub>
                                        <m:r>
                                          <a:rPr lang="en-US" altLang="zh-TW" sz="2400" smtClean="0">
                                            <a:latin typeface="Cambria Math"/>
                                          </a:rPr>
                                          <m:t>2</m:t>
                                        </m:r>
                                      </m:sub>
                                    </m:sSub>
                                  </m:e>
                                  <m:e>
                                    <m:r>
                                      <a:rPr lang="en-US" altLang="zh-TW" sz="2400" b="0" i="0" smtClean="0">
                                        <a:latin typeface="Cambria Math"/>
                                      </a:rPr>
                                      <m:t>&amp;</m:t>
                                    </m:r>
                                    <m:sSub>
                                      <m:sSubPr>
                                        <m:ctrlPr>
                                          <a:rPr lang="en-US" altLang="zh-TW" sz="2400" i="1">
                                            <a:latin typeface="Cambria Math"/>
                                          </a:rPr>
                                        </m:ctrlPr>
                                      </m:sSubPr>
                                      <m:e>
                                        <m:r>
                                          <a:rPr lang="en-US" altLang="zh-TW" sz="2400">
                                            <a:latin typeface="Cambria Math"/>
                                          </a:rPr>
                                          <m:t>𝑙</m:t>
                                        </m:r>
                                      </m:e>
                                      <m:sub>
                                        <m:r>
                                          <a:rPr lang="en-US" altLang="zh-TW" sz="2400">
                                            <a:latin typeface="Cambria Math"/>
                                          </a:rPr>
                                          <m:t>𝑖</m:t>
                                        </m:r>
                                        <m:r>
                                          <a:rPr lang="en-US" altLang="zh-TW" sz="2400" smtClean="0">
                                            <a:latin typeface="Cambria Math"/>
                                          </a:rPr>
                                          <m:t>−1</m:t>
                                        </m:r>
                                        <m:r>
                                          <a:rPr lang="en-US" altLang="zh-TW" sz="2400">
                                            <a:latin typeface="Cambria Math"/>
                                          </a:rPr>
                                          <m:t>,</m:t>
                                        </m:r>
                                        <m:r>
                                          <a:rPr lang="en-US" altLang="zh-TW" sz="2400">
                                            <a:latin typeface="Cambria Math"/>
                                          </a:rPr>
                                          <m:t>𝑗</m:t>
                                        </m:r>
                                        <m:r>
                                          <a:rPr lang="en-US" altLang="zh-TW" sz="2400">
                                            <a:latin typeface="Cambria Math"/>
                                          </a:rPr>
                                          <m:t>−1</m:t>
                                        </m:r>
                                      </m:sub>
                                    </m:sSub>
                                    <m:r>
                                      <a:rPr lang="en-US" altLang="zh-TW" sz="2400">
                                        <a:latin typeface="Cambria Math"/>
                                      </a:rPr>
                                      <m:t>+</m:t>
                                    </m:r>
                                    <m:sSub>
                                      <m:sSubPr>
                                        <m:ctrlPr>
                                          <a:rPr lang="en-US" altLang="zh-TW" sz="2400" i="1">
                                            <a:latin typeface="Cambria Math"/>
                                          </a:rPr>
                                        </m:ctrlPr>
                                      </m:sSubPr>
                                      <m:e>
                                        <m:d>
                                          <m:dPr>
                                            <m:begChr m:val="‖"/>
                                            <m:endChr m:val="‖"/>
                                            <m:ctrlPr>
                                              <a:rPr lang="en-US" altLang="zh-TW" sz="2400" i="1">
                                                <a:latin typeface="Cambria Math"/>
                                              </a:rPr>
                                            </m:ctrlPr>
                                          </m:dPr>
                                          <m:e>
                                            <m:sSub>
                                              <m:sSubPr>
                                                <m:ctrlPr>
                                                  <a:rPr lang="en-US" altLang="zh-TW" sz="2400" i="1">
                                                    <a:latin typeface="Cambria Math"/>
                                                  </a:rPr>
                                                </m:ctrlPr>
                                              </m:sSubPr>
                                              <m:e>
                                                <m:r>
                                                  <a:rPr lang="en-US" altLang="zh-TW" sz="2400">
                                                    <a:latin typeface="Cambria Math"/>
                                                  </a:rPr>
                                                  <m:t>𝑆</m:t>
                                                </m:r>
                                              </m:e>
                                              <m:sub>
                                                <m:r>
                                                  <a:rPr lang="en-US" altLang="zh-TW" sz="2400">
                                                    <a:latin typeface="Cambria Math"/>
                                                  </a:rPr>
                                                  <m:t>:,</m:t>
                                                </m:r>
                                                <m:r>
                                                  <a:rPr lang="en-US" altLang="zh-TW" sz="2400">
                                                    <a:latin typeface="Cambria Math"/>
                                                  </a:rPr>
                                                  <m:t>𝑖</m:t>
                                                </m:r>
                                              </m:sub>
                                            </m:sSub>
                                            <m:r>
                                              <a:rPr lang="en-US" altLang="zh-TW" sz="2400" smtClean="0">
                                                <a:latin typeface="Cambria Math"/>
                                              </a:rPr>
                                              <m:t>−</m:t>
                                            </m:r>
                                            <m:sSub>
                                              <m:sSubPr>
                                                <m:ctrlPr>
                                                  <a:rPr lang="en-US" altLang="zh-TW" sz="2400" i="1" smtClean="0">
                                                    <a:latin typeface="Cambria Math"/>
                                                  </a:rPr>
                                                </m:ctrlPr>
                                              </m:sSubPr>
                                              <m:e>
                                                <m:sSup>
                                                  <m:sSupPr>
                                                    <m:ctrlPr>
                                                      <a:rPr lang="en-US" altLang="zh-TW" sz="2400" i="1" smtClean="0">
                                                        <a:latin typeface="Cambria Math"/>
                                                      </a:rPr>
                                                    </m:ctrlPr>
                                                  </m:sSupPr>
                                                  <m:e>
                                                    <m:r>
                                                      <a:rPr lang="en-US" altLang="zh-TW" sz="2400" smtClean="0">
                                                        <a:latin typeface="Cambria Math"/>
                                                      </a:rPr>
                                                      <m:t>𝑆</m:t>
                                                    </m:r>
                                                  </m:e>
                                                  <m:sup>
                                                    <m:r>
                                                      <a:rPr lang="en-US" altLang="zh-TW" sz="2400" smtClean="0">
                                                        <a:latin typeface="Cambria Math"/>
                                                      </a:rPr>
                                                      <m:t>′</m:t>
                                                    </m:r>
                                                  </m:sup>
                                                </m:sSup>
                                              </m:e>
                                              <m:sub>
                                                <m:r>
                                                  <a:rPr lang="en-US" altLang="zh-TW" sz="2400" smtClean="0">
                                                    <a:latin typeface="Cambria Math"/>
                                                  </a:rPr>
                                                  <m:t>:,</m:t>
                                                </m:r>
                                                <m:r>
                                                  <a:rPr lang="en-US" altLang="zh-TW" sz="2400" smtClean="0">
                                                    <a:latin typeface="Cambria Math"/>
                                                  </a:rPr>
                                                  <m:t>𝑗</m:t>
                                                </m:r>
                                              </m:sub>
                                            </m:sSub>
                                          </m:e>
                                        </m:d>
                                      </m:e>
                                      <m:sub>
                                        <m:r>
                                          <a:rPr lang="en-US" altLang="zh-TW" sz="2400">
                                            <a:latin typeface="Cambria Math"/>
                                          </a:rPr>
                                          <m:t>2</m:t>
                                        </m:r>
                                      </m:sub>
                                    </m:sSub>
                                  </m:e>
                                  <m:e>
                                    <m:r>
                                      <a:rPr lang="en-US" altLang="zh-TW" sz="2400" b="0" i="0" smtClean="0">
                                        <a:latin typeface="Cambria Math"/>
                                      </a:rPr>
                                      <m:t>&amp;</m:t>
                                    </m:r>
                                    <m:sSub>
                                      <m:sSubPr>
                                        <m:ctrlPr>
                                          <a:rPr lang="en-US" altLang="zh-TW" sz="2400" i="1">
                                            <a:latin typeface="Cambria Math"/>
                                          </a:rPr>
                                        </m:ctrlPr>
                                      </m:sSubPr>
                                      <m:e>
                                        <m:r>
                                          <a:rPr lang="en-US" altLang="zh-TW" sz="2400">
                                            <a:latin typeface="Cambria Math"/>
                                          </a:rPr>
                                          <m:t>𝑙</m:t>
                                        </m:r>
                                      </m:e>
                                      <m:sub>
                                        <m:r>
                                          <a:rPr lang="en-US" altLang="zh-TW" sz="2400">
                                            <a:latin typeface="Cambria Math"/>
                                          </a:rPr>
                                          <m:t>𝑖</m:t>
                                        </m:r>
                                        <m:r>
                                          <a:rPr lang="en-US" altLang="zh-TW" sz="2400">
                                            <a:latin typeface="Cambria Math"/>
                                          </a:rPr>
                                          <m:t>,</m:t>
                                        </m:r>
                                        <m:r>
                                          <a:rPr lang="en-US" altLang="zh-TW" sz="2400">
                                            <a:latin typeface="Cambria Math"/>
                                          </a:rPr>
                                          <m:t>𝑗</m:t>
                                        </m:r>
                                        <m:r>
                                          <a:rPr lang="en-US" altLang="zh-TW" sz="2400">
                                            <a:latin typeface="Cambria Math"/>
                                          </a:rPr>
                                          <m:t>−1</m:t>
                                        </m:r>
                                      </m:sub>
                                    </m:sSub>
                                    <m:r>
                                      <a:rPr lang="en-US" altLang="zh-TW" sz="2400">
                                        <a:latin typeface="Cambria Math"/>
                                      </a:rPr>
                                      <m:t>+</m:t>
                                    </m:r>
                                    <m:sSub>
                                      <m:sSubPr>
                                        <m:ctrlPr>
                                          <a:rPr lang="en-US" altLang="zh-TW" sz="2400" i="1">
                                            <a:latin typeface="Cambria Math"/>
                                          </a:rPr>
                                        </m:ctrlPr>
                                      </m:sSubPr>
                                      <m:e>
                                        <m:d>
                                          <m:dPr>
                                            <m:begChr m:val="‖"/>
                                            <m:endChr m:val="‖"/>
                                            <m:ctrlPr>
                                              <a:rPr lang="en-US" altLang="zh-TW" sz="2400" i="1">
                                                <a:latin typeface="Cambria Math"/>
                                              </a:rPr>
                                            </m:ctrlPr>
                                          </m:dPr>
                                          <m:e>
                                            <m:sSub>
                                              <m:sSubPr>
                                                <m:ctrlPr>
                                                  <a:rPr lang="en-US" altLang="zh-TW" sz="2400" i="1">
                                                    <a:latin typeface="Cambria Math"/>
                                                  </a:rPr>
                                                </m:ctrlPr>
                                              </m:sSubPr>
                                              <m:e>
                                                <m:sSup>
                                                  <m:sSupPr>
                                                    <m:ctrlPr>
                                                      <a:rPr lang="en-US" altLang="zh-TW" sz="2400" i="1" smtClean="0">
                                                        <a:latin typeface="Cambria Math"/>
                                                      </a:rPr>
                                                    </m:ctrlPr>
                                                  </m:sSupPr>
                                                  <m:e>
                                                    <m:r>
                                                      <a:rPr lang="en-US" altLang="zh-TW" sz="2400">
                                                        <a:latin typeface="Cambria Math"/>
                                                      </a:rPr>
                                                      <m:t>𝑆</m:t>
                                                    </m:r>
                                                  </m:e>
                                                  <m:sup>
                                                    <m:r>
                                                      <a:rPr lang="en-US" altLang="zh-TW" sz="2400" smtClean="0">
                                                        <a:latin typeface="Cambria Math"/>
                                                      </a:rPr>
                                                      <m:t>′</m:t>
                                                    </m:r>
                                                  </m:sup>
                                                </m:sSup>
                                              </m:e>
                                              <m:sub>
                                                <m:r>
                                                  <a:rPr lang="en-US" altLang="zh-TW" sz="2400">
                                                    <a:latin typeface="Cambria Math"/>
                                                  </a:rPr>
                                                  <m:t>:,</m:t>
                                                </m:r>
                                                <m:r>
                                                  <a:rPr lang="en-US" altLang="zh-TW" sz="2400">
                                                    <a:latin typeface="Cambria Math"/>
                                                  </a:rPr>
                                                  <m:t>𝑖</m:t>
                                                </m:r>
                                              </m:sub>
                                            </m:sSub>
                                          </m:e>
                                        </m:d>
                                      </m:e>
                                      <m:sub>
                                        <m:r>
                                          <a:rPr lang="en-US" altLang="zh-TW" sz="2400">
                                            <a:latin typeface="Cambria Math"/>
                                          </a:rPr>
                                          <m:t>2</m:t>
                                        </m:r>
                                      </m:sub>
                                    </m:sSub>
                                  </m:e>
                                </m:eqArr>
                              </m:e>
                            </m:d>
                            <m:r>
                              <a:rPr lang="en-US" altLang="zh-TW" sz="2400" b="0" i="0" smtClean="0">
                                <a:latin typeface="Cambria Math"/>
                              </a:rPr>
                              <m:t>&amp;</m:t>
                            </m:r>
                            <m:r>
                              <a:rPr lang="en-US" altLang="zh-TW" sz="2400" smtClean="0">
                                <a:latin typeface="Cambria Math"/>
                              </a:rPr>
                              <m:t>𝑜𝑡h𝑒𝑟𝑤𝑖𝑠𝑒</m:t>
                            </m:r>
                          </m:e>
                        </m:eqArr>
                      </m:e>
                    </m:d>
                  </m:oMath>
                </a14:m>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l="-963" t="-40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6341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Verification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lvl="1">
                  <a:lnSpc>
                    <a:spcPct val="150000"/>
                  </a:lnSpc>
                </a:pPr>
                <a14:m>
                  <m:oMath xmlns:m="http://schemas.openxmlformats.org/officeDocument/2006/math">
                    <m:sSup>
                      <m:sSupPr>
                        <m:ctrlPr>
                          <a:rPr lang="en-US" altLang="zh-TW" sz="2000" i="1" smtClean="0">
                            <a:latin typeface="Cambria Math"/>
                          </a:rPr>
                        </m:ctrlPr>
                      </m:sSupPr>
                      <m:e>
                        <m:r>
                          <a:rPr lang="en-US" altLang="zh-TW" sz="2000" smtClean="0">
                            <a:latin typeface="Cambria Math"/>
                          </a:rPr>
                          <m:t>𝑑</m:t>
                        </m:r>
                      </m:e>
                      <m:sup>
                        <m:r>
                          <a:rPr lang="en-US" altLang="zh-TW" sz="2000" smtClean="0">
                            <a:latin typeface="Cambria Math"/>
                          </a:rPr>
                          <m:t>∗</m:t>
                        </m:r>
                      </m:sup>
                    </m:sSup>
                    <m:r>
                      <a:rPr lang="en-US" altLang="zh-TW" sz="2000" smtClean="0">
                        <a:latin typeface="Cambria Math"/>
                      </a:rPr>
                      <m:t>=</m:t>
                    </m:r>
                    <m:r>
                      <a:rPr lang="en-US" altLang="zh-TW" sz="2000" smtClean="0">
                        <a:latin typeface="Cambria Math"/>
                      </a:rPr>
                      <m:t>𝐿𝐶𝑆</m:t>
                    </m:r>
                    <m:d>
                      <m:dPr>
                        <m:ctrlPr>
                          <a:rPr lang="en-US" altLang="zh-TW" sz="2000" i="1" smtClean="0">
                            <a:latin typeface="Cambria Math"/>
                          </a:rPr>
                        </m:ctrlPr>
                      </m:dPr>
                      <m:e>
                        <m:sSup>
                          <m:sSupPr>
                            <m:ctrlPr>
                              <a:rPr lang="en-US" altLang="zh-TW" sz="2000" i="1" smtClean="0">
                                <a:latin typeface="Cambria Math"/>
                              </a:rPr>
                            </m:ctrlPr>
                          </m:sSupPr>
                          <m:e>
                            <m:r>
                              <a:rPr lang="en-US" altLang="zh-TW" sz="2000" smtClean="0">
                                <a:latin typeface="Cambria Math"/>
                              </a:rPr>
                              <m:t>𝑆</m:t>
                            </m:r>
                          </m:e>
                          <m:sup>
                            <m:r>
                              <a:rPr lang="en-US" altLang="zh-TW" sz="2000" smtClean="0">
                                <a:latin typeface="Cambria Math"/>
                              </a:rPr>
                              <m:t>′</m:t>
                            </m:r>
                          </m:sup>
                        </m:sSup>
                        <m:r>
                          <a:rPr lang="en-US" altLang="zh-TW" sz="2000" smtClean="0">
                            <a:latin typeface="Cambria Math"/>
                          </a:rPr>
                          <m:t>,</m:t>
                        </m:r>
                        <m:sSup>
                          <m:sSupPr>
                            <m:ctrlPr>
                              <a:rPr lang="en-US" altLang="zh-TW" sz="2000" i="1" smtClean="0">
                                <a:latin typeface="Cambria Math"/>
                              </a:rPr>
                            </m:ctrlPr>
                          </m:sSupPr>
                          <m:e>
                            <m:r>
                              <a:rPr lang="en-US" altLang="zh-TW" sz="2000" smtClean="0">
                                <a:latin typeface="Cambria Math"/>
                              </a:rPr>
                              <m:t>𝑍</m:t>
                            </m:r>
                          </m:e>
                          <m:sup>
                            <m:r>
                              <a:rPr lang="en-US" altLang="zh-TW" sz="2000" smtClean="0">
                                <a:latin typeface="Cambria Math"/>
                              </a:rPr>
                              <m:t>∗</m:t>
                            </m:r>
                          </m:sup>
                        </m:sSup>
                      </m:e>
                    </m:d>
                  </m:oMath>
                </a14:m>
                <a:endParaRPr lang="en-US" altLang="zh-TW" sz="2000" dirty="0" smtClean="0"/>
              </a:p>
              <a:p>
                <a:pPr lvl="1">
                  <a:lnSpc>
                    <a:spcPct val="150000"/>
                  </a:lnSpc>
                </a:pPr>
                <a14:m>
                  <m:oMath xmlns:m="http://schemas.openxmlformats.org/officeDocument/2006/math">
                    <m:sSup>
                      <m:sSupPr>
                        <m:ctrlPr>
                          <a:rPr lang="en-US" altLang="zh-TW" sz="2000" i="1">
                            <a:latin typeface="Cambria Math"/>
                          </a:rPr>
                        </m:ctrlPr>
                      </m:sSupPr>
                      <m:e>
                        <m:r>
                          <a:rPr lang="en-US" altLang="zh-TW" sz="2000">
                            <a:latin typeface="Cambria Math"/>
                          </a:rPr>
                          <m:t>𝑑</m:t>
                        </m:r>
                      </m:e>
                      <m:sup>
                        <m:r>
                          <a:rPr lang="en-US" altLang="zh-TW" sz="2000">
                            <a:latin typeface="Cambria Math"/>
                          </a:rPr>
                          <m:t>∗</m:t>
                        </m:r>
                      </m:sup>
                    </m:sSup>
                    <m:r>
                      <a:rPr lang="en-US" altLang="zh-TW" sz="2000" smtClean="0">
                        <a:latin typeface="Cambria Math"/>
                      </a:rPr>
                      <m:t>≤</m:t>
                    </m:r>
                    <m:r>
                      <a:rPr lang="en-US" altLang="zh-TW" sz="2000" smtClean="0">
                        <a:latin typeface="Cambria Math"/>
                      </a:rPr>
                      <m:t>𝜃</m:t>
                    </m:r>
                  </m:oMath>
                </a14:m>
                <a:endParaRPr lang="en-US" altLang="zh-TW" sz="2000" dirty="0" smtClean="0"/>
              </a:p>
              <a:p>
                <a:pPr>
                  <a:lnSpc>
                    <a:spcPct val="150000"/>
                  </a:lnSpc>
                </a:pPr>
                <a:r>
                  <a:rPr lang="en-US" altLang="zh-TW" sz="2000" dirty="0" smtClean="0"/>
                  <a:t>The threshold: θ</a:t>
                </a:r>
                <a:endParaRPr lang="en-US" altLang="zh-TW" sz="2000" dirty="0"/>
              </a:p>
              <a:p>
                <a:pPr lvl="1">
                  <a:lnSpc>
                    <a:spcPct val="150000"/>
                  </a:lnSpc>
                </a:pPr>
                <a:r>
                  <a:rPr lang="el-GR" altLang="zh-TW" sz="2000" dirty="0" smtClean="0"/>
                  <a:t>Θ</a:t>
                </a:r>
                <a:r>
                  <a:rPr lang="zh-TW" altLang="en-US" sz="2000" dirty="0" smtClean="0"/>
                  <a:t>↓；</a:t>
                </a:r>
                <a:r>
                  <a:rPr lang="en-US" altLang="zh-TW" sz="2000" dirty="0" smtClean="0"/>
                  <a:t>False Rejection (FR)</a:t>
                </a:r>
                <a:r>
                  <a:rPr lang="zh-TW" altLang="en-US" sz="2000" dirty="0" smtClean="0"/>
                  <a:t>↑</a:t>
                </a:r>
                <a:endParaRPr lang="en-US" altLang="zh-TW" sz="2000" dirty="0" smtClean="0"/>
              </a:p>
              <a:p>
                <a:pPr lvl="1">
                  <a:lnSpc>
                    <a:spcPct val="150000"/>
                  </a:lnSpc>
                </a:pPr>
                <a:r>
                  <a:rPr lang="el-GR" altLang="zh-TW" sz="2000" dirty="0" smtClean="0"/>
                  <a:t>Θ</a:t>
                </a:r>
                <a:r>
                  <a:rPr lang="zh-TW" altLang="en-US" sz="2000" dirty="0" smtClean="0"/>
                  <a:t>↑；</a:t>
                </a:r>
                <a:r>
                  <a:rPr lang="en-US" altLang="zh-TW" sz="2000" dirty="0" smtClean="0"/>
                  <a:t>False Acceptance (FA)</a:t>
                </a:r>
                <a:r>
                  <a:rPr lang="zh-TW" altLang="en-US" sz="2000" dirty="0" smtClean="0"/>
                  <a:t>↑</a:t>
                </a:r>
                <a:endParaRPr lang="en-US" altLang="zh-TW" sz="2000" dirty="0" smtClean="0"/>
              </a:p>
              <a:p>
                <a:pPr>
                  <a:lnSpc>
                    <a:spcPct val="150000"/>
                  </a:lnSpc>
                </a:pPr>
                <a:r>
                  <a:rPr lang="en-US" altLang="zh-TW" sz="2400" dirty="0" smtClean="0"/>
                  <a:t>Equal Error Rate (EER)</a:t>
                </a:r>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3"/>
                <a:stretch>
                  <a:fillRect l="-963"/>
                </a:stretch>
              </a:blipFill>
            </p:spPr>
            <p:txBody>
              <a:bodyPr/>
              <a:lstStyle/>
              <a:p>
                <a:r>
                  <a:rPr lang="zh-TW" altLang="en-US">
                    <a:noFill/>
                  </a:rPr>
                  <a:t> </a:t>
                </a:r>
              </a:p>
            </p:txBody>
          </p:sp>
        </mc:Fallback>
      </mc:AlternateContent>
      <p:pic>
        <p:nvPicPr>
          <p:cNvPr id="8" name="圖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0834" y="4221088"/>
            <a:ext cx="4406881" cy="2469225"/>
          </a:xfrm>
          <a:prstGeom prst="rect">
            <a:avLst/>
          </a:prstGeom>
        </p:spPr>
      </p:pic>
    </p:spTree>
    <p:extLst>
      <p:ext uri="{BB962C8B-B14F-4D97-AF65-F5344CB8AC3E}">
        <p14:creationId xmlns:p14="http://schemas.microsoft.com/office/powerpoint/2010/main" val="2881828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Genetic Algorithm</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Autofit/>
              </a:bodyPr>
              <a:lstStyle/>
              <a:p>
                <a:pPr>
                  <a:lnSpc>
                    <a:spcPct val="150000"/>
                  </a:lnSpc>
                </a:pPr>
                <a:r>
                  <a:rPr lang="zh-TW" altLang="en-US" sz="2400" dirty="0" smtClean="0"/>
                  <a:t>各屬性並非一樣重要，故加上權重：</a:t>
                </a:r>
                <a14:m>
                  <m:oMath xmlns:m="http://schemas.openxmlformats.org/officeDocument/2006/math">
                    <m:d>
                      <m:dPr>
                        <m:ctrlPr>
                          <a:rPr lang="en-US" altLang="zh-TW" sz="2400" b="0" i="1" smtClean="0">
                            <a:latin typeface="Cambria Math"/>
                          </a:rPr>
                        </m:ctrlPr>
                      </m:dPr>
                      <m:e>
                        <m:nary>
                          <m:naryPr>
                            <m:chr m:val="∑"/>
                            <m:limLoc m:val="subSup"/>
                            <m:supHide m:val="on"/>
                            <m:ctrlPr>
                              <a:rPr lang="zh-TW" altLang="en-US" sz="2400" i="1" smtClean="0">
                                <a:latin typeface="Cambria Math"/>
                              </a:rPr>
                            </m:ctrlPr>
                          </m:naryPr>
                          <m:sub>
                            <m:r>
                              <m:rPr>
                                <m:brk m:alnAt="9"/>
                              </m:rPr>
                              <a:rPr lang="en-US" altLang="zh-TW" sz="2400" b="0" i="1" smtClean="0">
                                <a:latin typeface="Cambria Math"/>
                              </a:rPr>
                              <m:t>𝑖</m:t>
                            </m:r>
                          </m:sub>
                          <m:sup/>
                          <m:e>
                            <m:sSub>
                              <m:sSubPr>
                                <m:ctrlPr>
                                  <a:rPr lang="en-US" altLang="zh-TW" sz="2400" i="1" smtClean="0">
                                    <a:latin typeface="Cambria Math"/>
                                  </a:rPr>
                                </m:ctrlPr>
                              </m:sSubPr>
                              <m:e>
                                <m:r>
                                  <a:rPr lang="en-US" altLang="zh-TW" sz="2400" b="0" i="1" smtClean="0">
                                    <a:latin typeface="Cambria Math"/>
                                  </a:rPr>
                                  <m:t>𝛼</m:t>
                                </m:r>
                              </m:e>
                              <m:sub>
                                <m:r>
                                  <a:rPr lang="en-US" altLang="zh-TW" sz="2400" b="0" i="1" smtClean="0">
                                    <a:latin typeface="Cambria Math"/>
                                  </a:rPr>
                                  <m:t>𝑖</m:t>
                                </m:r>
                              </m:sub>
                            </m:sSub>
                          </m:e>
                        </m:nary>
                        <m:r>
                          <a:rPr lang="en-US" altLang="zh-TW" sz="2400" b="0" i="1" smtClean="0">
                            <a:latin typeface="Cambria Math"/>
                          </a:rPr>
                          <m:t>=1</m:t>
                        </m:r>
                      </m:e>
                    </m:d>
                  </m:oMath>
                </a14:m>
                <a:endParaRPr lang="en-US" altLang="zh-TW" sz="2400" dirty="0" smtClean="0"/>
              </a:p>
              <a:p>
                <a:pPr marL="0" indent="0">
                  <a:buNone/>
                </a:pPr>
                <a14:m>
                  <m:oMathPara xmlns:m="http://schemas.openxmlformats.org/officeDocument/2006/math">
                    <m:oMathParaPr>
                      <m:jc m:val="left"/>
                    </m:oMathParaPr>
                    <m:oMath xmlns:m="http://schemas.openxmlformats.org/officeDocument/2006/math">
                      <m:sSub>
                        <m:sSubPr>
                          <m:ctrlPr>
                            <a:rPr lang="en-US" altLang="zh-TW" sz="1600" i="1">
                              <a:latin typeface="Cambria Math"/>
                            </a:rPr>
                          </m:ctrlPr>
                        </m:sSubPr>
                        <m:e>
                          <m:r>
                            <a:rPr lang="en-US" altLang="zh-TW" sz="1600">
                              <a:latin typeface="Cambria Math"/>
                            </a:rPr>
                            <m:t>𝑙</m:t>
                          </m:r>
                        </m:e>
                        <m:sub>
                          <m:r>
                            <a:rPr lang="en-US" altLang="zh-TW" sz="1600">
                              <a:latin typeface="Cambria Math"/>
                            </a:rPr>
                            <m:t>𝑖</m:t>
                          </m:r>
                          <m:r>
                            <a:rPr lang="en-US" altLang="zh-TW" sz="1600">
                              <a:latin typeface="Cambria Math"/>
                            </a:rPr>
                            <m:t>,</m:t>
                          </m:r>
                          <m:r>
                            <a:rPr lang="en-US" altLang="zh-TW" sz="1600">
                              <a:latin typeface="Cambria Math"/>
                            </a:rPr>
                            <m:t>𝑗</m:t>
                          </m:r>
                        </m:sub>
                      </m:sSub>
                      <m:r>
                        <a:rPr lang="en-US" altLang="zh-TW" sz="1600">
                          <a:latin typeface="Cambria Math"/>
                        </a:rPr>
                        <m:t>=</m:t>
                      </m:r>
                      <m:d>
                        <m:dPr>
                          <m:begChr m:val="{"/>
                          <m:endChr m:val=""/>
                          <m:ctrlPr>
                            <a:rPr lang="en-US" altLang="zh-TW" sz="1600" i="1">
                              <a:latin typeface="Cambria Math"/>
                            </a:rPr>
                          </m:ctrlPr>
                        </m:dPr>
                        <m:e>
                          <m:eqArr>
                            <m:eqArrPr>
                              <m:ctrlPr>
                                <a:rPr lang="en-US" altLang="zh-TW" sz="1600" i="1">
                                  <a:latin typeface="Cambria Math"/>
                                </a:rPr>
                              </m:ctrlPr>
                            </m:eqArrPr>
                            <m:e>
                              <m:r>
                                <a:rPr lang="en-US" altLang="zh-TW" sz="1600" b="0" i="0" smtClean="0">
                                  <a:latin typeface="Cambria Math"/>
                                </a:rPr>
                                <m:t>&amp;</m:t>
                              </m:r>
                              <m:r>
                                <a:rPr lang="en-US" altLang="zh-TW" sz="1600">
                                  <a:latin typeface="Cambria Math"/>
                                </a:rPr>
                                <m:t>0</m:t>
                              </m:r>
                              <m:r>
                                <a:rPr lang="en-US" altLang="zh-TW" sz="1600" b="0" i="0" smtClean="0">
                                  <a:latin typeface="Cambria Math"/>
                                </a:rPr>
                                <m:t>&amp;</m:t>
                              </m:r>
                              <m:r>
                                <a:rPr lang="en-US" altLang="zh-TW" sz="1600">
                                  <a:latin typeface="Cambria Math"/>
                                </a:rPr>
                                <m:t>𝑖𝑓</m:t>
                              </m:r>
                              <m:r>
                                <a:rPr lang="en-US" altLang="zh-TW" sz="1600">
                                  <a:latin typeface="Cambria Math"/>
                                </a:rPr>
                                <m:t> </m:t>
                              </m:r>
                              <m:r>
                                <a:rPr lang="en-US" altLang="zh-TW" sz="1600">
                                  <a:latin typeface="Cambria Math"/>
                                </a:rPr>
                                <m:t>𝑖</m:t>
                              </m:r>
                              <m:r>
                                <a:rPr lang="en-US" altLang="zh-TW" sz="1600">
                                  <a:latin typeface="Cambria Math"/>
                                </a:rPr>
                                <m:t>=0 </m:t>
                              </m:r>
                              <m:r>
                                <a:rPr lang="en-US" altLang="zh-TW" sz="1600">
                                  <a:latin typeface="Cambria Math"/>
                                </a:rPr>
                                <m:t>𝑜𝑟</m:t>
                              </m:r>
                              <m:r>
                                <a:rPr lang="en-US" altLang="zh-TW" sz="1600">
                                  <a:latin typeface="Cambria Math"/>
                                </a:rPr>
                                <m:t> </m:t>
                              </m:r>
                              <m:r>
                                <a:rPr lang="en-US" altLang="zh-TW" sz="1600">
                                  <a:latin typeface="Cambria Math"/>
                                </a:rPr>
                                <m:t>𝑗</m:t>
                              </m:r>
                              <m:r>
                                <a:rPr lang="en-US" altLang="zh-TW" sz="1600">
                                  <a:latin typeface="Cambria Math"/>
                                </a:rPr>
                                <m:t>=0</m:t>
                              </m:r>
                            </m:e>
                            <m:e>
                              <m:r>
                                <a:rPr lang="en-US" altLang="zh-TW" sz="1600" b="0" i="0" smtClean="0">
                                  <a:latin typeface="Cambria Math"/>
                                </a:rPr>
                                <m:t>&amp;</m:t>
                              </m:r>
                              <m:r>
                                <a:rPr lang="en-US" altLang="zh-TW" sz="1600">
                                  <a:latin typeface="Cambria Math"/>
                                </a:rPr>
                                <m:t>𝑚𝑖𝑛</m:t>
                              </m:r>
                              <m:d>
                                <m:dPr>
                                  <m:begChr m:val="{"/>
                                  <m:endChr m:val=""/>
                                  <m:ctrlPr>
                                    <a:rPr lang="en-US" altLang="zh-TW" sz="1600" i="1">
                                      <a:latin typeface="Cambria Math"/>
                                    </a:rPr>
                                  </m:ctrlPr>
                                </m:dPr>
                                <m:e>
                                  <m:eqArr>
                                    <m:eqArrPr>
                                      <m:ctrlPr>
                                        <a:rPr lang="en-US" altLang="zh-TW" sz="1600" i="1" smtClean="0">
                                          <a:latin typeface="Cambria Math"/>
                                        </a:rPr>
                                      </m:ctrlPr>
                                    </m:eqArrPr>
                                    <m:e>
                                      <m:r>
                                        <a:rPr lang="en-US" altLang="zh-TW" sz="1600" b="0" i="0" smtClean="0">
                                          <a:latin typeface="Cambria Math"/>
                                        </a:rPr>
                                        <m:t>&amp;</m:t>
                                      </m:r>
                                      <m:sSub>
                                        <m:sSubPr>
                                          <m:ctrlPr>
                                            <a:rPr lang="en-US" altLang="zh-TW" sz="1600" i="1">
                                              <a:latin typeface="Cambria Math"/>
                                            </a:rPr>
                                          </m:ctrlPr>
                                        </m:sSubPr>
                                        <m:e>
                                          <m:r>
                                            <a:rPr lang="en-US" altLang="zh-TW" sz="1600">
                                              <a:latin typeface="Cambria Math"/>
                                            </a:rPr>
                                            <m:t>𝑙</m:t>
                                          </m:r>
                                        </m:e>
                                        <m:sub>
                                          <m:r>
                                            <a:rPr lang="en-US" altLang="zh-TW" sz="1600">
                                              <a:latin typeface="Cambria Math"/>
                                            </a:rPr>
                                            <m:t>𝑖</m:t>
                                          </m:r>
                                          <m:r>
                                            <a:rPr lang="en-US" altLang="zh-TW" sz="1600">
                                              <a:latin typeface="Cambria Math"/>
                                            </a:rPr>
                                            <m:t>,</m:t>
                                          </m:r>
                                          <m:r>
                                            <a:rPr lang="en-US" altLang="zh-TW" sz="1600">
                                              <a:latin typeface="Cambria Math"/>
                                            </a:rPr>
                                            <m:t>𝑗</m:t>
                                          </m:r>
                                          <m:r>
                                            <a:rPr lang="en-US" altLang="zh-TW" sz="1600">
                                              <a:latin typeface="Cambria Math"/>
                                            </a:rPr>
                                            <m:t>−1</m:t>
                                          </m:r>
                                        </m:sub>
                                      </m:sSub>
                                      <m:r>
                                        <a:rPr lang="en-US" altLang="zh-TW" sz="1600">
                                          <a:latin typeface="Cambria Math"/>
                                        </a:rPr>
                                        <m:t>+</m:t>
                                      </m:r>
                                      <m:rad>
                                        <m:radPr>
                                          <m:degHide m:val="on"/>
                                          <m:ctrlPr>
                                            <a:rPr lang="en-US" altLang="zh-TW" sz="1600" i="1" smtClean="0">
                                              <a:latin typeface="Cambria Math"/>
                                            </a:rPr>
                                          </m:ctrlPr>
                                        </m:radPr>
                                        <m:deg/>
                                        <m:e>
                                          <m:nary>
                                            <m:naryPr>
                                              <m:chr m:val="∑"/>
                                              <m:ctrlPr>
                                                <a:rPr lang="en-US" altLang="zh-TW" sz="1600" i="1" smtClean="0">
                                                  <a:latin typeface="Cambria Math"/>
                                                </a:rPr>
                                              </m:ctrlPr>
                                            </m:naryPr>
                                            <m:sub>
                                              <m:r>
                                                <m:rPr>
                                                  <m:brk m:alnAt="23"/>
                                                </m:rPr>
                                                <a:rPr lang="en-US" altLang="zh-TW" sz="1600" smtClean="0">
                                                  <a:latin typeface="Cambria Math"/>
                                                </a:rPr>
                                                <m:t>𝑑</m:t>
                                              </m:r>
                                              <m:r>
                                                <a:rPr lang="en-US" altLang="zh-TW" sz="1600" smtClean="0">
                                                  <a:latin typeface="Cambria Math"/>
                                                </a:rPr>
                                                <m:t>=0</m:t>
                                              </m:r>
                                            </m:sub>
                                            <m:sup>
                                              <m:r>
                                                <a:rPr lang="en-US" altLang="zh-TW" sz="1600" smtClean="0">
                                                  <a:latin typeface="Cambria Math"/>
                                                </a:rPr>
                                                <m:t>𝛿</m:t>
                                              </m:r>
                                            </m:sup>
                                            <m:e>
                                              <m:sSup>
                                                <m:sSupPr>
                                                  <m:ctrlPr>
                                                    <a:rPr lang="en-US" altLang="zh-TW" sz="1600" i="1" smtClean="0">
                                                      <a:latin typeface="Cambria Math"/>
                                                    </a:rPr>
                                                  </m:ctrlPr>
                                                </m:sSupPr>
                                                <m:e>
                                                  <m:d>
                                                    <m:dPr>
                                                      <m:ctrlPr>
                                                        <a:rPr lang="en-US" altLang="zh-TW" sz="1600" i="1" smtClean="0">
                                                          <a:latin typeface="Cambria Math"/>
                                                        </a:rPr>
                                                      </m:ctrlPr>
                                                    </m:dPr>
                                                    <m:e>
                                                      <m:sSub>
                                                        <m:sSubPr>
                                                          <m:ctrlPr>
                                                            <a:rPr lang="en-US" altLang="zh-TW" sz="1600" i="1" smtClean="0">
                                                              <a:latin typeface="Cambria Math"/>
                                                            </a:rPr>
                                                          </m:ctrlPr>
                                                        </m:sSubPr>
                                                        <m:e>
                                                          <m:r>
                                                            <a:rPr lang="en-US" altLang="zh-TW" sz="1600" smtClean="0">
                                                              <a:latin typeface="Cambria Math"/>
                                                            </a:rPr>
                                                            <m:t>𝛼</m:t>
                                                          </m:r>
                                                        </m:e>
                                                        <m:sub>
                                                          <m:r>
                                                            <a:rPr lang="en-US" altLang="zh-TW" sz="1600" smtClean="0">
                                                              <a:latin typeface="Cambria Math"/>
                                                            </a:rPr>
                                                            <m:t>𝑑</m:t>
                                                          </m:r>
                                                        </m:sub>
                                                      </m:sSub>
                                                      <m:sSub>
                                                        <m:sSubPr>
                                                          <m:ctrlPr>
                                                            <a:rPr lang="en-US" altLang="zh-TW" sz="1600" i="1" smtClean="0">
                                                              <a:latin typeface="Cambria Math"/>
                                                            </a:rPr>
                                                          </m:ctrlPr>
                                                        </m:sSubPr>
                                                        <m:e>
                                                          <m:r>
                                                            <a:rPr lang="en-US" altLang="zh-TW" sz="1600" smtClean="0">
                                                              <a:latin typeface="Cambria Math"/>
                                                            </a:rPr>
                                                            <m:t>𝑆</m:t>
                                                          </m:r>
                                                        </m:e>
                                                        <m:sub>
                                                          <m:r>
                                                            <a:rPr lang="en-US" altLang="zh-TW" sz="1600" smtClean="0">
                                                              <a:latin typeface="Cambria Math"/>
                                                            </a:rPr>
                                                            <m:t>𝑑</m:t>
                                                          </m:r>
                                                          <m:r>
                                                            <a:rPr lang="en-US" altLang="zh-TW" sz="1600" smtClean="0">
                                                              <a:latin typeface="Cambria Math"/>
                                                            </a:rPr>
                                                            <m:t>,</m:t>
                                                          </m:r>
                                                          <m:r>
                                                            <a:rPr lang="en-US" altLang="zh-TW" sz="1600" smtClean="0">
                                                              <a:latin typeface="Cambria Math"/>
                                                            </a:rPr>
                                                            <m:t>𝑖</m:t>
                                                          </m:r>
                                                        </m:sub>
                                                      </m:sSub>
                                                    </m:e>
                                                  </m:d>
                                                </m:e>
                                                <m:sup>
                                                  <m:r>
                                                    <a:rPr lang="en-US" altLang="zh-TW" sz="1600" smtClean="0">
                                                      <a:latin typeface="Cambria Math"/>
                                                    </a:rPr>
                                                    <m:t>2</m:t>
                                                  </m:r>
                                                </m:sup>
                                              </m:sSup>
                                            </m:e>
                                          </m:nary>
                                        </m:e>
                                      </m:rad>
                                    </m:e>
                                    <m:e>
                                      <m:r>
                                        <a:rPr lang="en-US" altLang="zh-TW" sz="1600" b="0" i="0" smtClean="0">
                                          <a:latin typeface="Cambria Math"/>
                                        </a:rPr>
                                        <m:t>&amp;</m:t>
                                      </m:r>
                                      <m:sSub>
                                        <m:sSubPr>
                                          <m:ctrlPr>
                                            <a:rPr lang="en-US" altLang="zh-TW" sz="1600" i="1">
                                              <a:latin typeface="Cambria Math"/>
                                            </a:rPr>
                                          </m:ctrlPr>
                                        </m:sSubPr>
                                        <m:e>
                                          <m:r>
                                            <a:rPr lang="en-US" altLang="zh-TW" sz="1600">
                                              <a:latin typeface="Cambria Math"/>
                                            </a:rPr>
                                            <m:t>𝑙</m:t>
                                          </m:r>
                                        </m:e>
                                        <m:sub>
                                          <m:r>
                                            <a:rPr lang="en-US" altLang="zh-TW" sz="1600">
                                              <a:latin typeface="Cambria Math"/>
                                            </a:rPr>
                                            <m:t>𝑖</m:t>
                                          </m:r>
                                          <m:r>
                                            <a:rPr lang="en-US" altLang="zh-TW" sz="1600">
                                              <a:latin typeface="Cambria Math"/>
                                            </a:rPr>
                                            <m:t>−1,</m:t>
                                          </m:r>
                                          <m:r>
                                            <a:rPr lang="en-US" altLang="zh-TW" sz="1600">
                                              <a:latin typeface="Cambria Math"/>
                                            </a:rPr>
                                            <m:t>𝑗</m:t>
                                          </m:r>
                                          <m:r>
                                            <a:rPr lang="en-US" altLang="zh-TW" sz="1600">
                                              <a:latin typeface="Cambria Math"/>
                                            </a:rPr>
                                            <m:t>−1</m:t>
                                          </m:r>
                                        </m:sub>
                                      </m:sSub>
                                      <m:r>
                                        <a:rPr lang="en-US" altLang="zh-TW" sz="1600">
                                          <a:latin typeface="Cambria Math"/>
                                        </a:rPr>
                                        <m:t>+</m:t>
                                      </m:r>
                                      <m:rad>
                                        <m:radPr>
                                          <m:degHide m:val="on"/>
                                          <m:ctrlPr>
                                            <a:rPr lang="en-US" altLang="zh-TW" sz="1600" i="1">
                                              <a:latin typeface="Cambria Math"/>
                                            </a:rPr>
                                          </m:ctrlPr>
                                        </m:radPr>
                                        <m:deg/>
                                        <m:e>
                                          <m:nary>
                                            <m:naryPr>
                                              <m:chr m:val="∑"/>
                                              <m:ctrlPr>
                                                <a:rPr lang="en-US" altLang="zh-TW" sz="1600" i="1">
                                                  <a:latin typeface="Cambria Math"/>
                                                </a:rPr>
                                              </m:ctrlPr>
                                            </m:naryPr>
                                            <m:sub>
                                              <m:r>
                                                <m:rPr>
                                                  <m:brk m:alnAt="23"/>
                                                </m:rPr>
                                                <a:rPr lang="en-US" altLang="zh-TW" sz="1600">
                                                  <a:latin typeface="Cambria Math"/>
                                                </a:rPr>
                                                <m:t>𝑑</m:t>
                                              </m:r>
                                              <m:r>
                                                <a:rPr lang="en-US" altLang="zh-TW" sz="1600">
                                                  <a:latin typeface="Cambria Math"/>
                                                </a:rPr>
                                                <m:t>=0</m:t>
                                              </m:r>
                                            </m:sub>
                                            <m:sup>
                                              <m:r>
                                                <a:rPr lang="en-US" altLang="zh-TW" sz="1600">
                                                  <a:latin typeface="Cambria Math"/>
                                                </a:rPr>
                                                <m:t>𝛿</m:t>
                                              </m:r>
                                            </m:sup>
                                            <m:e>
                                              <m:sSup>
                                                <m:sSupPr>
                                                  <m:ctrlPr>
                                                    <a:rPr lang="en-US" altLang="zh-TW" sz="1600" i="1">
                                                      <a:latin typeface="Cambria Math"/>
                                                    </a:rPr>
                                                  </m:ctrlPr>
                                                </m:sSupPr>
                                                <m:e>
                                                  <m:d>
                                                    <m:dPr>
                                                      <m:ctrlPr>
                                                        <a:rPr lang="en-US" altLang="zh-TW" sz="1600" i="1">
                                                          <a:latin typeface="Cambria Math"/>
                                                        </a:rPr>
                                                      </m:ctrlPr>
                                                    </m:dPr>
                                                    <m:e>
                                                      <m:sSub>
                                                        <m:sSubPr>
                                                          <m:ctrlPr>
                                                            <a:rPr lang="en-US" altLang="zh-TW" sz="1600" i="1">
                                                              <a:latin typeface="Cambria Math"/>
                                                            </a:rPr>
                                                          </m:ctrlPr>
                                                        </m:sSubPr>
                                                        <m:e>
                                                          <m:r>
                                                            <a:rPr lang="en-US" altLang="zh-TW" sz="1600">
                                                              <a:latin typeface="Cambria Math"/>
                                                            </a:rPr>
                                                            <m:t>𝛼</m:t>
                                                          </m:r>
                                                        </m:e>
                                                        <m:sub>
                                                          <m:r>
                                                            <a:rPr lang="en-US" altLang="zh-TW" sz="1600">
                                                              <a:latin typeface="Cambria Math"/>
                                                            </a:rPr>
                                                            <m:t>𝑑</m:t>
                                                          </m:r>
                                                        </m:sub>
                                                      </m:sSub>
                                                      <m:d>
                                                        <m:dPr>
                                                          <m:ctrlPr>
                                                            <a:rPr lang="en-US" altLang="zh-TW" sz="1600" i="1" smtClean="0">
                                                              <a:latin typeface="Cambria Math"/>
                                                            </a:rPr>
                                                          </m:ctrlPr>
                                                        </m:dPr>
                                                        <m:e>
                                                          <m:sSub>
                                                            <m:sSubPr>
                                                              <m:ctrlPr>
                                                                <a:rPr lang="en-US" altLang="zh-TW" sz="1600" i="1">
                                                                  <a:latin typeface="Cambria Math"/>
                                                                </a:rPr>
                                                              </m:ctrlPr>
                                                            </m:sSubPr>
                                                            <m:e>
                                                              <m:r>
                                                                <a:rPr lang="en-US" altLang="zh-TW" sz="1600">
                                                                  <a:latin typeface="Cambria Math"/>
                                                                </a:rPr>
                                                                <m:t>𝑆</m:t>
                                                              </m:r>
                                                            </m:e>
                                                            <m:sub>
                                                              <m:r>
                                                                <a:rPr lang="en-US" altLang="zh-TW" sz="1600">
                                                                  <a:latin typeface="Cambria Math"/>
                                                                </a:rPr>
                                                                <m:t>𝑑</m:t>
                                                              </m:r>
                                                              <m:r>
                                                                <a:rPr lang="en-US" altLang="zh-TW" sz="1600">
                                                                  <a:latin typeface="Cambria Math"/>
                                                                </a:rPr>
                                                                <m:t>,</m:t>
                                                              </m:r>
                                                              <m:r>
                                                                <a:rPr lang="en-US" altLang="zh-TW" sz="1600">
                                                                  <a:latin typeface="Cambria Math"/>
                                                                </a:rPr>
                                                                <m:t>𝑖</m:t>
                                                              </m:r>
                                                            </m:sub>
                                                          </m:sSub>
                                                          <m:r>
                                                            <a:rPr lang="en-US" altLang="zh-TW" sz="1600" smtClean="0">
                                                              <a:latin typeface="Cambria Math"/>
                                                            </a:rPr>
                                                            <m:t>−</m:t>
                                                          </m:r>
                                                          <m:sSub>
                                                            <m:sSubPr>
                                                              <m:ctrlPr>
                                                                <a:rPr lang="en-US" altLang="zh-TW" sz="1600" i="1">
                                                                  <a:latin typeface="Cambria Math"/>
                                                                </a:rPr>
                                                              </m:ctrlPr>
                                                            </m:sSubPr>
                                                            <m:e>
                                                              <m:sSup>
                                                                <m:sSupPr>
                                                                  <m:ctrlPr>
                                                                    <a:rPr lang="en-US" altLang="zh-TW" sz="1600" i="1" smtClean="0">
                                                                      <a:latin typeface="Cambria Math"/>
                                                                    </a:rPr>
                                                                  </m:ctrlPr>
                                                                </m:sSupPr>
                                                                <m:e>
                                                                  <m:r>
                                                                    <a:rPr lang="en-US" altLang="zh-TW" sz="1600">
                                                                      <a:latin typeface="Cambria Math"/>
                                                                    </a:rPr>
                                                                    <m:t>𝑆</m:t>
                                                                  </m:r>
                                                                </m:e>
                                                                <m:sup>
                                                                  <m:r>
                                                                    <a:rPr lang="en-US" altLang="zh-TW" sz="1600" smtClean="0">
                                                                      <a:latin typeface="Cambria Math"/>
                                                                    </a:rPr>
                                                                    <m:t>′</m:t>
                                                                  </m:r>
                                                                </m:sup>
                                                              </m:sSup>
                                                            </m:e>
                                                            <m:sub>
                                                              <m:r>
                                                                <a:rPr lang="en-US" altLang="zh-TW" sz="1600">
                                                                  <a:latin typeface="Cambria Math"/>
                                                                </a:rPr>
                                                                <m:t>𝑑</m:t>
                                                              </m:r>
                                                              <m:r>
                                                                <a:rPr lang="en-US" altLang="zh-TW" sz="1600">
                                                                  <a:latin typeface="Cambria Math"/>
                                                                </a:rPr>
                                                                <m:t>,</m:t>
                                                              </m:r>
                                                              <m:r>
                                                                <a:rPr lang="en-US" altLang="zh-TW" sz="1600">
                                                                  <a:latin typeface="Cambria Math"/>
                                                                </a:rPr>
                                                                <m:t>𝑖</m:t>
                                                              </m:r>
                                                            </m:sub>
                                                          </m:sSub>
                                                        </m:e>
                                                      </m:d>
                                                    </m:e>
                                                  </m:d>
                                                </m:e>
                                                <m:sup>
                                                  <m:r>
                                                    <a:rPr lang="en-US" altLang="zh-TW" sz="1600">
                                                      <a:latin typeface="Cambria Math"/>
                                                    </a:rPr>
                                                    <m:t>2</m:t>
                                                  </m:r>
                                                </m:sup>
                                              </m:sSup>
                                            </m:e>
                                          </m:nary>
                                        </m:e>
                                      </m:rad>
                                    </m:e>
                                    <m:e>
                                      <m:r>
                                        <a:rPr lang="en-US" altLang="zh-TW" sz="1600" b="0" i="0" smtClean="0">
                                          <a:latin typeface="Cambria Math"/>
                                        </a:rPr>
                                        <m:t>&amp;</m:t>
                                      </m:r>
                                      <m:sSub>
                                        <m:sSubPr>
                                          <m:ctrlPr>
                                            <a:rPr lang="en-US" altLang="zh-TW" sz="1600" i="1" smtClean="0">
                                              <a:latin typeface="Cambria Math"/>
                                            </a:rPr>
                                          </m:ctrlPr>
                                        </m:sSubPr>
                                        <m:e>
                                          <m:r>
                                            <a:rPr lang="en-US" altLang="zh-TW" sz="1600">
                                              <a:latin typeface="Cambria Math"/>
                                            </a:rPr>
                                            <m:t>𝑙</m:t>
                                          </m:r>
                                        </m:e>
                                        <m:sub>
                                          <m:r>
                                            <a:rPr lang="en-US" altLang="zh-TW" sz="1600">
                                              <a:latin typeface="Cambria Math"/>
                                            </a:rPr>
                                            <m:t>𝑖</m:t>
                                          </m:r>
                                          <m:r>
                                            <a:rPr lang="en-US" altLang="zh-TW" sz="1600">
                                              <a:latin typeface="Cambria Math"/>
                                            </a:rPr>
                                            <m:t>,</m:t>
                                          </m:r>
                                          <m:r>
                                            <a:rPr lang="en-US" altLang="zh-TW" sz="1600">
                                              <a:latin typeface="Cambria Math"/>
                                            </a:rPr>
                                            <m:t>𝑗</m:t>
                                          </m:r>
                                          <m:r>
                                            <a:rPr lang="en-US" altLang="zh-TW" sz="1600">
                                              <a:latin typeface="Cambria Math"/>
                                            </a:rPr>
                                            <m:t>−1</m:t>
                                          </m:r>
                                        </m:sub>
                                      </m:sSub>
                                      <m:r>
                                        <a:rPr lang="en-US" altLang="zh-TW" sz="1600">
                                          <a:latin typeface="Cambria Math"/>
                                        </a:rPr>
                                        <m:t>+</m:t>
                                      </m:r>
                                      <m:rad>
                                        <m:radPr>
                                          <m:degHide m:val="on"/>
                                          <m:ctrlPr>
                                            <a:rPr lang="en-US" altLang="zh-TW" sz="1600" i="1">
                                              <a:latin typeface="Cambria Math"/>
                                            </a:rPr>
                                          </m:ctrlPr>
                                        </m:radPr>
                                        <m:deg/>
                                        <m:e>
                                          <m:nary>
                                            <m:naryPr>
                                              <m:chr m:val="∑"/>
                                              <m:ctrlPr>
                                                <a:rPr lang="en-US" altLang="zh-TW" sz="1600" i="1">
                                                  <a:latin typeface="Cambria Math"/>
                                                </a:rPr>
                                              </m:ctrlPr>
                                            </m:naryPr>
                                            <m:sub>
                                              <m:r>
                                                <m:rPr>
                                                  <m:brk m:alnAt="23"/>
                                                </m:rPr>
                                                <a:rPr lang="en-US" altLang="zh-TW" sz="1600">
                                                  <a:latin typeface="Cambria Math"/>
                                                </a:rPr>
                                                <m:t>𝑑</m:t>
                                              </m:r>
                                              <m:r>
                                                <a:rPr lang="en-US" altLang="zh-TW" sz="1600">
                                                  <a:latin typeface="Cambria Math"/>
                                                </a:rPr>
                                                <m:t>=0</m:t>
                                              </m:r>
                                            </m:sub>
                                            <m:sup>
                                              <m:r>
                                                <a:rPr lang="en-US" altLang="zh-TW" sz="1600">
                                                  <a:latin typeface="Cambria Math"/>
                                                </a:rPr>
                                                <m:t>𝛿</m:t>
                                              </m:r>
                                            </m:sup>
                                            <m:e>
                                              <m:sSup>
                                                <m:sSupPr>
                                                  <m:ctrlPr>
                                                    <a:rPr lang="en-US" altLang="zh-TW" sz="1600" i="1">
                                                      <a:latin typeface="Cambria Math"/>
                                                    </a:rPr>
                                                  </m:ctrlPr>
                                                </m:sSupPr>
                                                <m:e>
                                                  <m:d>
                                                    <m:dPr>
                                                      <m:ctrlPr>
                                                        <a:rPr lang="en-US" altLang="zh-TW" sz="1600" i="1">
                                                          <a:latin typeface="Cambria Math"/>
                                                        </a:rPr>
                                                      </m:ctrlPr>
                                                    </m:dPr>
                                                    <m:e>
                                                      <m:sSub>
                                                        <m:sSubPr>
                                                          <m:ctrlPr>
                                                            <a:rPr lang="en-US" altLang="zh-TW" sz="1600" i="1">
                                                              <a:latin typeface="Cambria Math"/>
                                                            </a:rPr>
                                                          </m:ctrlPr>
                                                        </m:sSubPr>
                                                        <m:e>
                                                          <m:r>
                                                            <a:rPr lang="en-US" altLang="zh-TW" sz="1600">
                                                              <a:latin typeface="Cambria Math"/>
                                                            </a:rPr>
                                                            <m:t>𝛼</m:t>
                                                          </m:r>
                                                        </m:e>
                                                        <m:sub>
                                                          <m:r>
                                                            <a:rPr lang="en-US" altLang="zh-TW" sz="1600">
                                                              <a:latin typeface="Cambria Math"/>
                                                            </a:rPr>
                                                            <m:t>𝑑</m:t>
                                                          </m:r>
                                                        </m:sub>
                                                      </m:sSub>
                                                      <m:sSub>
                                                        <m:sSubPr>
                                                          <m:ctrlPr>
                                                            <a:rPr lang="en-US" altLang="zh-TW" sz="1600" i="1">
                                                              <a:latin typeface="Cambria Math"/>
                                                            </a:rPr>
                                                          </m:ctrlPr>
                                                        </m:sSubPr>
                                                        <m:e>
                                                          <m:sSup>
                                                            <m:sSupPr>
                                                              <m:ctrlPr>
                                                                <a:rPr lang="en-US" altLang="zh-TW" sz="1600" i="1" smtClean="0">
                                                                  <a:latin typeface="Cambria Math"/>
                                                                </a:rPr>
                                                              </m:ctrlPr>
                                                            </m:sSupPr>
                                                            <m:e>
                                                              <m:r>
                                                                <a:rPr lang="en-US" altLang="zh-TW" sz="1600">
                                                                  <a:latin typeface="Cambria Math"/>
                                                                </a:rPr>
                                                                <m:t>𝑆</m:t>
                                                              </m:r>
                                                            </m:e>
                                                            <m:sup>
                                                              <m:r>
                                                                <a:rPr lang="en-US" altLang="zh-TW" sz="1600" smtClean="0">
                                                                  <a:latin typeface="Cambria Math"/>
                                                                </a:rPr>
                                                                <m:t>′</m:t>
                                                              </m:r>
                                                            </m:sup>
                                                          </m:sSup>
                                                        </m:e>
                                                        <m:sub>
                                                          <m:r>
                                                            <a:rPr lang="en-US" altLang="zh-TW" sz="1600">
                                                              <a:latin typeface="Cambria Math"/>
                                                            </a:rPr>
                                                            <m:t>𝑑</m:t>
                                                          </m:r>
                                                          <m:r>
                                                            <a:rPr lang="en-US" altLang="zh-TW" sz="1600">
                                                              <a:latin typeface="Cambria Math"/>
                                                            </a:rPr>
                                                            <m:t>,</m:t>
                                                          </m:r>
                                                          <m:r>
                                                            <a:rPr lang="en-US" altLang="zh-TW" sz="1600" smtClean="0">
                                                              <a:latin typeface="Cambria Math"/>
                                                            </a:rPr>
                                                            <m:t>𝑗</m:t>
                                                          </m:r>
                                                        </m:sub>
                                                      </m:sSub>
                                                    </m:e>
                                                  </m:d>
                                                </m:e>
                                                <m:sup>
                                                  <m:r>
                                                    <a:rPr lang="en-US" altLang="zh-TW" sz="1600">
                                                      <a:latin typeface="Cambria Math"/>
                                                    </a:rPr>
                                                    <m:t>2</m:t>
                                                  </m:r>
                                                </m:sup>
                                              </m:sSup>
                                            </m:e>
                                          </m:nary>
                                        </m:e>
                                      </m:rad>
                                    </m:e>
                                  </m:eqArr>
                                </m:e>
                              </m:d>
                              <m:r>
                                <a:rPr lang="en-US" altLang="zh-TW" sz="1600" b="0" i="0" smtClean="0">
                                  <a:latin typeface="Cambria Math"/>
                                </a:rPr>
                                <m:t>&amp;</m:t>
                              </m:r>
                              <m:r>
                                <a:rPr lang="en-US" altLang="zh-TW" sz="1600">
                                  <a:latin typeface="Cambria Math"/>
                                </a:rPr>
                                <m:t>𝑜𝑡h𝑒𝑟𝑤𝑖𝑠𝑒</m:t>
                              </m:r>
                            </m:e>
                          </m:eqArr>
                        </m:e>
                      </m:d>
                    </m:oMath>
                  </m:oMathPara>
                </a14:m>
                <a:endParaRPr lang="zh-TW" altLang="en-US" sz="1600" dirty="0"/>
              </a:p>
              <a:p>
                <a:pPr>
                  <a:lnSpc>
                    <a:spcPct val="150000"/>
                  </a:lnSpc>
                </a:pPr>
                <a:r>
                  <a:rPr lang="zh-TW" altLang="en-US" sz="2400" dirty="0" smtClean="0"/>
                  <a:t>以 </a:t>
                </a:r>
                <a:r>
                  <a:rPr lang="en-US" altLang="zh-TW" sz="2400" dirty="0" smtClean="0"/>
                  <a:t>GA </a:t>
                </a:r>
                <a:r>
                  <a:rPr lang="zh-TW" altLang="en-US" sz="2400" dirty="0" smtClean="0"/>
                  <a:t>演化 </a:t>
                </a:r>
                <a14:m>
                  <m:oMath xmlns:m="http://schemas.openxmlformats.org/officeDocument/2006/math">
                    <m:sSub>
                      <m:sSubPr>
                        <m:ctrlPr>
                          <a:rPr lang="en-US" altLang="zh-TW" sz="2400" i="1" smtClean="0">
                            <a:latin typeface="Cambria Math"/>
                          </a:rPr>
                        </m:ctrlPr>
                      </m:sSubPr>
                      <m:e>
                        <m:r>
                          <a:rPr lang="en-US" altLang="zh-TW" sz="2400" b="0" i="1" smtClean="0">
                            <a:latin typeface="Cambria Math"/>
                          </a:rPr>
                          <m:t>𝛼</m:t>
                        </m:r>
                      </m:e>
                      <m:sub>
                        <m:r>
                          <a:rPr lang="en-US" altLang="zh-TW" sz="2400" b="0" i="1" smtClean="0">
                            <a:latin typeface="Cambria Math"/>
                          </a:rPr>
                          <m:t>1</m:t>
                        </m:r>
                      </m:sub>
                    </m:sSub>
                    <m:sSub>
                      <m:sSubPr>
                        <m:ctrlPr>
                          <a:rPr lang="en-US" altLang="zh-TW" sz="2400" i="1">
                            <a:latin typeface="Cambria Math"/>
                          </a:rPr>
                        </m:ctrlPr>
                      </m:sSubPr>
                      <m:e>
                        <m:r>
                          <a:rPr lang="en-US" altLang="zh-TW" sz="2400" i="1">
                            <a:latin typeface="Cambria Math"/>
                          </a:rPr>
                          <m:t>𝛼</m:t>
                        </m:r>
                      </m:e>
                      <m:sub>
                        <m:r>
                          <a:rPr lang="en-US" altLang="zh-TW" sz="2400" b="0" i="1" smtClean="0">
                            <a:latin typeface="Cambria Math"/>
                          </a:rPr>
                          <m:t>2</m:t>
                        </m:r>
                      </m:sub>
                    </m:sSub>
                    <m:r>
                      <a:rPr lang="en-US" altLang="zh-TW" sz="2400" b="0" i="1" smtClean="0">
                        <a:latin typeface="Cambria Math"/>
                      </a:rPr>
                      <m:t>,…,</m:t>
                    </m:r>
                    <m:sSub>
                      <m:sSubPr>
                        <m:ctrlPr>
                          <a:rPr lang="en-US" altLang="zh-TW" sz="2400" i="1">
                            <a:latin typeface="Cambria Math"/>
                          </a:rPr>
                        </m:ctrlPr>
                      </m:sSubPr>
                      <m:e>
                        <m:r>
                          <a:rPr lang="en-US" altLang="zh-TW" sz="2400" i="1">
                            <a:latin typeface="Cambria Math"/>
                          </a:rPr>
                          <m:t>𝛼</m:t>
                        </m:r>
                      </m:e>
                      <m:sub>
                        <m:r>
                          <a:rPr lang="en-US" altLang="zh-TW" sz="2400" b="0" i="1" smtClean="0">
                            <a:latin typeface="Cambria Math"/>
                          </a:rPr>
                          <m:t>𝛿</m:t>
                        </m:r>
                      </m:sub>
                    </m:sSub>
                  </m:oMath>
                </a14:m>
                <a:r>
                  <a:rPr lang="zh-TW" altLang="en-US" sz="2400" dirty="0" smtClean="0"/>
                  <a:t>。</a:t>
                </a:r>
                <a:endParaRPr lang="zh-TW" altLang="en-US" sz="24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t="-1051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60107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Database: SVC04</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400" dirty="0" smtClean="0"/>
              <a:t>Signature</a:t>
            </a:r>
            <a:r>
              <a:rPr lang="en-US" altLang="zh-TW" sz="2000" dirty="0" smtClean="0"/>
              <a:t> Verification Competition 2004</a:t>
            </a:r>
          </a:p>
          <a:p>
            <a:pPr lvl="1">
              <a:lnSpc>
                <a:spcPct val="150000"/>
              </a:lnSpc>
            </a:pPr>
            <a:r>
              <a:rPr lang="en-US" altLang="zh-TW" sz="2000" dirty="0" smtClean="0"/>
              <a:t>40 persons × (20 originals + 20 forgeries)</a:t>
            </a:r>
          </a:p>
          <a:p>
            <a:pPr lvl="1">
              <a:lnSpc>
                <a:spcPct val="150000"/>
              </a:lnSpc>
            </a:pPr>
            <a:r>
              <a:rPr lang="en-US" altLang="zh-TW" sz="2000" dirty="0" smtClean="0"/>
              <a:t>Original signatures were taken in 2 session (10 in each session).</a:t>
            </a:r>
          </a:p>
          <a:p>
            <a:pPr lvl="1">
              <a:lnSpc>
                <a:spcPct val="150000"/>
              </a:lnSpc>
            </a:pPr>
            <a:r>
              <a:rPr lang="en-US" altLang="zh-TW" sz="2000" dirty="0" smtClean="0"/>
              <a:t>Forgeries were informed on how good was faked.</a:t>
            </a:r>
            <a:br>
              <a:rPr lang="en-US" altLang="zh-TW" sz="2000" dirty="0" smtClean="0"/>
            </a:br>
            <a:r>
              <a:rPr lang="en-US" altLang="zh-TW" sz="2000" dirty="0" smtClean="0"/>
              <a:t>(practicing is allowed)</a:t>
            </a:r>
          </a:p>
          <a:p>
            <a:pPr>
              <a:lnSpc>
                <a:spcPct val="150000"/>
              </a:lnSpc>
            </a:pPr>
            <a:r>
              <a:rPr lang="en-US" altLang="zh-TW" sz="2400" dirty="0" smtClean="0"/>
              <a:t>To calculate EER:</a:t>
            </a:r>
          </a:p>
          <a:p>
            <a:pPr lvl="1">
              <a:lnSpc>
                <a:spcPct val="150000"/>
              </a:lnSpc>
            </a:pPr>
            <a:r>
              <a:rPr lang="en-US" altLang="zh-TW" sz="2000" dirty="0" smtClean="0"/>
              <a:t>Randomly choose k signatures from 10 originals (k=2, 3, 5).</a:t>
            </a:r>
            <a:endParaRPr lang="zh-TW" altLang="en-US" sz="2000" dirty="0"/>
          </a:p>
        </p:txBody>
      </p:sp>
    </p:spTree>
    <p:extLst>
      <p:ext uri="{BB962C8B-B14F-4D97-AF65-F5344CB8AC3E}">
        <p14:creationId xmlns:p14="http://schemas.microsoft.com/office/powerpoint/2010/main" val="574458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Result</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3574" y="1957915"/>
            <a:ext cx="6096851" cy="3810532"/>
          </a:xfrm>
        </p:spPr>
      </p:pic>
    </p:spTree>
    <p:extLst>
      <p:ext uri="{BB962C8B-B14F-4D97-AF65-F5344CB8AC3E}">
        <p14:creationId xmlns:p14="http://schemas.microsoft.com/office/powerpoint/2010/main" val="292060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151" y="1047417"/>
            <a:ext cx="8573697" cy="4763165"/>
          </a:xfrm>
          <a:prstGeom prst="rect">
            <a:avLst/>
          </a:prstGeom>
        </p:spPr>
      </p:pic>
    </p:spTree>
    <p:extLst>
      <p:ext uri="{BB962C8B-B14F-4D97-AF65-F5344CB8AC3E}">
        <p14:creationId xmlns:p14="http://schemas.microsoft.com/office/powerpoint/2010/main" val="129344854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443</Words>
  <Application>Microsoft Office PowerPoint</Application>
  <PresentationFormat>如螢幕大小 (4:3)</PresentationFormat>
  <Paragraphs>48</Paragraphs>
  <Slides>11</Slides>
  <Notes>3</Notes>
  <HiddenSlides>0</HiddenSlides>
  <MMClips>0</MMClips>
  <ScaleCrop>false</ScaleCrop>
  <HeadingPairs>
    <vt:vector size="4" baseType="variant">
      <vt:variant>
        <vt:lpstr>佈景主題</vt:lpstr>
      </vt:variant>
      <vt:variant>
        <vt:i4>1</vt:i4>
      </vt:variant>
      <vt:variant>
        <vt:lpstr>投影片標題</vt:lpstr>
      </vt:variant>
      <vt:variant>
        <vt:i4>11</vt:i4>
      </vt:variant>
    </vt:vector>
  </HeadingPairs>
  <TitlesOfParts>
    <vt:vector size="12" baseType="lpstr">
      <vt:lpstr>Office 佈景主題</vt:lpstr>
      <vt:lpstr>Dynamic Signature Verification through the Longest Common Subsequence Problem and Genetic Algorithms</vt:lpstr>
      <vt:lpstr>Abstract</vt:lpstr>
      <vt:lpstr>The Problem to Solve</vt:lpstr>
      <vt:lpstr>Dynamic Signature</vt:lpstr>
      <vt:lpstr>PowerPoint 簡報</vt:lpstr>
      <vt:lpstr>Learning</vt:lpstr>
      <vt:lpstr>Verification</vt:lpstr>
      <vt:lpstr>Genetic Algorithm</vt:lpstr>
      <vt:lpstr>Database: SVC04</vt:lpstr>
      <vt:lpstr>Result</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Signature Verification through the Longest Common Subsequence Problem and Genetic Algorithms</dc:title>
  <dc:creator>YiPo</dc:creator>
  <cp:lastModifiedBy>YiPo</cp:lastModifiedBy>
  <cp:revision>29</cp:revision>
  <dcterms:created xsi:type="dcterms:W3CDTF">2013-02-04T17:03:03Z</dcterms:created>
  <dcterms:modified xsi:type="dcterms:W3CDTF">2013-02-05T11:04:23Z</dcterms:modified>
</cp:coreProperties>
</file>