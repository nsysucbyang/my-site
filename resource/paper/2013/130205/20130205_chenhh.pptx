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86" r:id="rId6"/>
    <p:sldId id="305" r:id="rId7"/>
    <p:sldId id="306" r:id="rId8"/>
    <p:sldId id="271" r:id="rId9"/>
    <p:sldId id="272" r:id="rId10"/>
    <p:sldId id="261" r:id="rId11"/>
    <p:sldId id="273" r:id="rId12"/>
    <p:sldId id="260" r:id="rId13"/>
    <p:sldId id="274" r:id="rId14"/>
    <p:sldId id="262" r:id="rId15"/>
    <p:sldId id="263" r:id="rId16"/>
    <p:sldId id="264" r:id="rId17"/>
    <p:sldId id="265" r:id="rId18"/>
    <p:sldId id="277" r:id="rId19"/>
    <p:sldId id="276" r:id="rId20"/>
    <p:sldId id="278" r:id="rId21"/>
    <p:sldId id="266" r:id="rId22"/>
    <p:sldId id="287" r:id="rId23"/>
    <p:sldId id="288" r:id="rId24"/>
    <p:sldId id="289" r:id="rId25"/>
    <p:sldId id="290" r:id="rId26"/>
    <p:sldId id="291" r:id="rId27"/>
    <p:sldId id="292" r:id="rId28"/>
    <p:sldId id="295" r:id="rId29"/>
    <p:sldId id="296" r:id="rId30"/>
    <p:sldId id="267" r:id="rId31"/>
    <p:sldId id="280" r:id="rId32"/>
    <p:sldId id="281" r:id="rId33"/>
    <p:sldId id="282" r:id="rId34"/>
    <p:sldId id="298" r:id="rId35"/>
    <p:sldId id="303" r:id="rId36"/>
    <p:sldId id="269" r:id="rId37"/>
    <p:sldId id="270" r:id="rId38"/>
    <p:sldId id="299" r:id="rId39"/>
    <p:sldId id="300" r:id="rId40"/>
    <p:sldId id="301" r:id="rId41"/>
    <p:sldId id="302" r:id="rId42"/>
    <p:sldId id="268" r:id="rId4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2790" y="-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848333-0E06-4AB8-9D7E-F7D3E7C66DC7}" type="datetimeFigureOut">
              <a:rPr lang="zh-TW" altLang="en-US" smtClean="0"/>
              <a:t>2013/2/5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B9311-341F-4B7E-8CA8-3574CF9EE7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9949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73C15-5400-4264-9DE9-6102DC869076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061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78E6-3EFA-4597-A616-C9F36F0A6465}" type="datetime1">
              <a:rPr lang="zh-TW" altLang="en-US" smtClean="0"/>
              <a:t>2013/2/5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163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6021-B624-4B08-A12D-7E5C14D97F93}" type="datetime1">
              <a:rPr lang="zh-TW" altLang="en-US" smtClean="0"/>
              <a:t>2013/2/5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122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B26D6-9DEA-4FF5-B317-0D8DE3D0F155}" type="datetime1">
              <a:rPr lang="zh-TW" altLang="en-US" smtClean="0"/>
              <a:t>2013/2/5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629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9B567-27BB-4BBE-992C-4653F3D1D3FA}" type="datetime1">
              <a:rPr lang="zh-TW" altLang="en-US" smtClean="0"/>
              <a:t>2013/2/5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11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D6A98-104A-4D6C-AA32-B1A765DF9F07}" type="datetime1">
              <a:rPr lang="zh-TW" altLang="en-US" smtClean="0"/>
              <a:t>2013/2/5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5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A929-2D41-4939-A0D7-AE104057B864}" type="datetime1">
              <a:rPr lang="zh-TW" altLang="en-US" smtClean="0"/>
              <a:t>2013/2/5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22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1AE7-5354-4BA1-853C-9257D19FF4CE}" type="datetime1">
              <a:rPr lang="zh-TW" altLang="en-US" smtClean="0"/>
              <a:t>2013/2/5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119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4979-9C60-4A6E-B89D-78129E6F7A82}" type="datetime1">
              <a:rPr lang="zh-TW" altLang="en-US" smtClean="0"/>
              <a:t>2013/2/5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474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60C-9881-483F-B54B-A99C61E677E2}" type="datetime1">
              <a:rPr lang="zh-TW" altLang="en-US" smtClean="0"/>
              <a:t>2013/2/5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4408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D3349-7012-4EB6-A919-CB944C39838A}" type="datetime1">
              <a:rPr lang="zh-TW" altLang="en-US" smtClean="0"/>
              <a:t>2013/2/5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788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34210-BD18-405D-8237-3334D5C8A008}" type="datetime1">
              <a:rPr lang="zh-TW" altLang="en-US" smtClean="0"/>
              <a:t>2013/2/5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65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A409E-F20D-4C17-8212-27A7E0EB4BD4}" type="datetime1">
              <a:rPr lang="zh-TW" altLang="en-US" smtClean="0"/>
              <a:t>2013/2/5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36B6D-04F5-43F5-9597-836641C3EB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4123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course/pgm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://deeplearning.ne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ro.umontreal.ca/~bengioy/yoshua_en/index.html" TargetMode="External"/><Relationship Id="rId5" Type="http://schemas.openxmlformats.org/officeDocument/2006/relationships/hyperlink" Target="http://www.cs.toronto.edu/~hinton/" TargetMode="External"/><Relationship Id="rId4" Type="http://schemas.openxmlformats.org/officeDocument/2006/relationships/hyperlink" Target="https://class.coursera.org/neuralnets-2012-001/lecture/preview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Bayesian_network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ongliangjie.com/2012/07/12/maximum-likelihood-as-minimize-kl-divergence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darrenjw.wordpress.com/2011/07/16/gibbs-sampler-in-various-languages-revisited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37.png"/><Relationship Id="rId10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://yann.lecun.com/exdb/mnist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7504" y="404664"/>
            <a:ext cx="8928992" cy="1470025"/>
          </a:xfrm>
        </p:spPr>
        <p:txBody>
          <a:bodyPr>
            <a:noAutofit/>
          </a:bodyPr>
          <a:lstStyle/>
          <a:p>
            <a:r>
              <a:rPr lang="en-US" altLang="zh-TW" dirty="0" smtClean="0"/>
              <a:t>A fast learning algorithm for </a:t>
            </a:r>
            <a:br>
              <a:rPr lang="en-US" altLang="zh-TW" dirty="0" smtClean="0"/>
            </a:br>
            <a:r>
              <a:rPr lang="en-US" altLang="zh-TW" dirty="0" smtClean="0"/>
              <a:t>deep belief nets</a:t>
            </a:r>
            <a:br>
              <a:rPr lang="en-US" altLang="zh-TW" dirty="0" smtClean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8" y="1844824"/>
            <a:ext cx="8424936" cy="3168352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Geoffrey E. </a:t>
            </a:r>
            <a:r>
              <a:rPr lang="en-US" altLang="zh-TW" sz="2400" dirty="0" err="1" smtClean="0"/>
              <a:t>Hinton</a:t>
            </a:r>
            <a:r>
              <a:rPr lang="en-US" altLang="zh-TW" sz="2400" baseline="30000" dirty="0" err="1" smtClean="0"/>
              <a:t>a</a:t>
            </a:r>
            <a:r>
              <a:rPr lang="en-US" altLang="zh-TW" sz="2400" dirty="0" smtClean="0"/>
              <a:t>, Simon </a:t>
            </a:r>
            <a:r>
              <a:rPr lang="en-US" altLang="zh-TW" sz="2400" dirty="0" err="1" smtClean="0"/>
              <a:t>Osindero</a:t>
            </a:r>
            <a:r>
              <a:rPr lang="en-US" altLang="zh-TW" sz="2400" baseline="30000" dirty="0" err="1" smtClean="0"/>
              <a:t>a</a:t>
            </a:r>
            <a:r>
              <a:rPr lang="en-US" altLang="zh-TW" sz="2400" dirty="0" smtClean="0"/>
              <a:t>, and Yee-</a:t>
            </a:r>
            <a:r>
              <a:rPr lang="en-US" altLang="zh-TW" sz="2400" dirty="0" err="1" smtClean="0"/>
              <a:t>Whye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Teh</a:t>
            </a:r>
            <a:r>
              <a:rPr lang="en-US" altLang="zh-TW" sz="2400" baseline="30000" dirty="0" err="1" smtClean="0"/>
              <a:t>b</a:t>
            </a:r>
            <a:endParaRPr lang="en-US" altLang="zh-TW" sz="2400" baseline="30000" dirty="0" smtClean="0"/>
          </a:p>
          <a:p>
            <a:endParaRPr lang="en-US" altLang="zh-TW" sz="2400" baseline="30000" dirty="0" smtClean="0"/>
          </a:p>
          <a:p>
            <a:r>
              <a:rPr lang="en-US" altLang="zh-TW" sz="2400" baseline="30000" dirty="0" err="1" smtClean="0"/>
              <a:t>a</a:t>
            </a:r>
            <a:r>
              <a:rPr lang="en-US" altLang="zh-TW" sz="2400" dirty="0" err="1" smtClean="0"/>
              <a:t>Department</a:t>
            </a:r>
            <a:r>
              <a:rPr lang="en-US" altLang="zh-TW" sz="2400" dirty="0" smtClean="0"/>
              <a:t> of Computer Science, University of Toronto</a:t>
            </a:r>
          </a:p>
          <a:p>
            <a:r>
              <a:rPr lang="en-US" altLang="zh-TW" sz="2400" baseline="30000" dirty="0" err="1" smtClean="0"/>
              <a:t>b</a:t>
            </a:r>
            <a:r>
              <a:rPr lang="en-US" altLang="zh-TW" sz="2400" dirty="0" err="1" smtClean="0"/>
              <a:t>Department</a:t>
            </a:r>
            <a:r>
              <a:rPr lang="en-US" altLang="zh-TW" sz="2400" dirty="0" smtClean="0"/>
              <a:t> of Computer Science, National University of Singapore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Neural Computation,  Vo. 18, Issue 7, pp. 1527-1554, 2006</a:t>
            </a:r>
          </a:p>
          <a:p>
            <a:endParaRPr lang="zh-TW" altLang="en-US" sz="2400" dirty="0"/>
          </a:p>
        </p:txBody>
      </p:sp>
      <p:sp>
        <p:nvSpPr>
          <p:cNvPr id="4" name="文字方塊 5"/>
          <p:cNvSpPr txBox="1"/>
          <p:nvPr/>
        </p:nvSpPr>
        <p:spPr>
          <a:xfrm>
            <a:off x="2843808" y="5301208"/>
            <a:ext cx="6192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 smtClean="0">
                <a:ea typeface="微軟正黑體" pitchFamily="34" charset="-120"/>
              </a:rPr>
              <a:t>Presenter: Hung-</a:t>
            </a:r>
            <a:r>
              <a:rPr lang="en-US" altLang="zh-TW" sz="2800" dirty="0" err="1" smtClean="0">
                <a:ea typeface="微軟正黑體" pitchFamily="34" charset="-120"/>
              </a:rPr>
              <a:t>Hsin</a:t>
            </a:r>
            <a:r>
              <a:rPr lang="en-US" altLang="zh-TW" sz="2800" dirty="0" smtClean="0">
                <a:ea typeface="微軟正黑體" pitchFamily="34" charset="-120"/>
              </a:rPr>
              <a:t> Chen (</a:t>
            </a:r>
            <a:r>
              <a:rPr lang="en-US" altLang="zh-TW" sz="2800" dirty="0" err="1" smtClean="0">
                <a:ea typeface="微軟正黑體" pitchFamily="34" charset="-120"/>
              </a:rPr>
              <a:t>陳紘昕</a:t>
            </a:r>
            <a:r>
              <a:rPr lang="en-US" altLang="zh-TW" sz="2800" dirty="0" smtClean="0">
                <a:ea typeface="微軟正黑體" pitchFamily="34" charset="-120"/>
              </a:rPr>
              <a:t>)</a:t>
            </a:r>
          </a:p>
          <a:p>
            <a:r>
              <a:rPr lang="en-US" altLang="zh-TW" sz="2800" dirty="0" smtClean="0">
                <a:ea typeface="微軟正黑體" pitchFamily="34" charset="-120"/>
              </a:rPr>
              <a:t>Date: Feb. 5, 2013</a:t>
            </a:r>
            <a:endParaRPr lang="zh-TW" altLang="en-US" sz="2800" dirty="0"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386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Abstract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196752"/>
            <a:ext cx="8229600" cy="532859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600" dirty="0" smtClean="0"/>
              <a:t>We show how to use “complementary priors” to eliminate the explaining away effects that make inference  difﬁcult  in  densely-connected belief nets that have many hidden layers.  Using complementary priors, we derive a fast, greedy algorithm that can learn deep, directed belief networks one layer at a time,  provided  the top two layers form an undirected associative memory.  The fast, greedy algorithm is used to initialize a slower learning procedure that ﬁne-tunes the weights using a  contrastive version of the wake-sleep algorithm.   After ﬁne-tuning,  a network with three hidden layers forms a very good generative model of the joint distribution of handwritten digit images and their labels. </a:t>
            </a:r>
            <a:endParaRPr lang="zh-TW" altLang="en-US" sz="2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48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sz="2600" dirty="0" smtClean="0"/>
              <a:t>This generative model gives better digit classiﬁcation than the best discriminative learning algorithms. </a:t>
            </a:r>
            <a:r>
              <a:rPr lang="en-US" altLang="zh-TW" sz="2600" dirty="0" smtClean="0"/>
              <a:t>The </a:t>
            </a:r>
            <a:r>
              <a:rPr lang="en-US" altLang="zh-TW" sz="2600" dirty="0" smtClean="0"/>
              <a:t>low-dimensional manifolds on which the digits lie are </a:t>
            </a:r>
            <a:r>
              <a:rPr lang="en-US" altLang="zh-TW" sz="2600" dirty="0" smtClean="0"/>
              <a:t>modeled </a:t>
            </a:r>
            <a:r>
              <a:rPr lang="en-US" altLang="zh-TW" sz="2600" dirty="0" smtClean="0"/>
              <a:t>by long ravines in the free-energy landscape of the top-level associative memory and it is easy to explore these ravines by using the directed connections to display what the associative memory has in mind.</a:t>
            </a:r>
            <a:endParaRPr lang="zh-TW" altLang="en-US" sz="2600" dirty="0" smtClean="0"/>
          </a:p>
          <a:p>
            <a:pPr algn="just"/>
            <a:endParaRPr lang="zh-TW" altLang="en-US" sz="2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49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Deep learning resources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hlinkClick r:id="rId2"/>
              </a:rPr>
              <a:t>http://deeplearning.net/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err="1" smtClean="0">
                <a:hlinkClick r:id="rId3"/>
              </a:rPr>
              <a:t>Coursera</a:t>
            </a:r>
            <a:r>
              <a:rPr lang="en-US" altLang="zh-TW" dirty="0" smtClean="0">
                <a:hlinkClick r:id="rId3"/>
              </a:rPr>
              <a:t>: probabilistic graphical models (</a:t>
            </a:r>
            <a:r>
              <a:rPr lang="en-US" altLang="zh-TW" dirty="0" err="1" smtClean="0">
                <a:hlinkClick r:id="rId3"/>
              </a:rPr>
              <a:t>Daphine</a:t>
            </a:r>
            <a:r>
              <a:rPr lang="en-US" altLang="zh-TW" dirty="0" smtClean="0">
                <a:hlinkClick r:id="rId3"/>
              </a:rPr>
              <a:t> </a:t>
            </a:r>
            <a:r>
              <a:rPr lang="en-US" altLang="zh-TW" dirty="0" err="1" smtClean="0">
                <a:hlinkClick r:id="rId3"/>
              </a:rPr>
              <a:t>Koller</a:t>
            </a:r>
            <a:r>
              <a:rPr lang="en-US" altLang="zh-TW" dirty="0" smtClean="0">
                <a:hlinkClick r:id="rId3"/>
              </a:rPr>
              <a:t>)</a:t>
            </a:r>
            <a:endParaRPr lang="en-US" altLang="zh-TW" dirty="0" smtClean="0">
              <a:hlinkClick r:id="rId4"/>
            </a:endParaRPr>
          </a:p>
          <a:p>
            <a:r>
              <a:rPr lang="en-US" altLang="zh-TW" dirty="0" err="1" smtClean="0">
                <a:hlinkClick r:id="rId4"/>
              </a:rPr>
              <a:t>Coursera</a:t>
            </a:r>
            <a:r>
              <a:rPr lang="en-US" altLang="zh-TW" dirty="0" smtClean="0">
                <a:hlinkClick r:id="rId4"/>
              </a:rPr>
              <a:t>: neural networks for machine learning (Geoffrey Hinton)</a:t>
            </a:r>
            <a:endParaRPr lang="en-US" altLang="zh-TW" dirty="0" smtClean="0"/>
          </a:p>
          <a:p>
            <a:r>
              <a:rPr lang="en-US" altLang="zh-TW" dirty="0" smtClean="0">
                <a:hlinkClick r:id="rId5"/>
              </a:rPr>
              <a:t>Geoffrey Hinton website</a:t>
            </a:r>
            <a:r>
              <a:rPr lang="en-US" altLang="zh-TW" dirty="0" smtClean="0"/>
              <a:t> (Univ. of Toronto)</a:t>
            </a:r>
          </a:p>
          <a:p>
            <a:r>
              <a:rPr lang="en-US" altLang="zh-TW" dirty="0" err="1" smtClean="0">
                <a:hlinkClick r:id="rId6"/>
              </a:rPr>
              <a:t>Yosuha</a:t>
            </a:r>
            <a:r>
              <a:rPr lang="en-US" altLang="zh-TW" dirty="0" smtClean="0">
                <a:hlinkClick r:id="rId6"/>
              </a:rPr>
              <a:t> </a:t>
            </a:r>
            <a:r>
              <a:rPr lang="en-US" altLang="zh-TW" dirty="0" err="1" smtClean="0">
                <a:hlinkClick r:id="rId6"/>
              </a:rPr>
              <a:t>Bergio</a:t>
            </a:r>
            <a:r>
              <a:rPr lang="en-US" altLang="zh-TW" dirty="0" smtClean="0">
                <a:hlinkClick r:id="rId6"/>
              </a:rPr>
              <a:t> website</a:t>
            </a:r>
            <a:r>
              <a:rPr lang="en-US" altLang="zh-TW" dirty="0" smtClean="0"/>
              <a:t> </a:t>
            </a:r>
            <a:r>
              <a:rPr lang="en-US" altLang="zh-TW" dirty="0"/>
              <a:t>(Univ</a:t>
            </a:r>
            <a:r>
              <a:rPr lang="en-US" altLang="zh-TW" dirty="0" smtClean="0"/>
              <a:t>. of Montreal)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556792"/>
            <a:ext cx="863492" cy="863492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59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Deep belief net (DBN)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498908"/>
            <a:ext cx="4064149" cy="5147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圓角矩形圖說文字 3"/>
          <p:cNvSpPr/>
          <p:nvPr/>
        </p:nvSpPr>
        <p:spPr>
          <a:xfrm>
            <a:off x="467544" y="1513136"/>
            <a:ext cx="2664296" cy="2203895"/>
          </a:xfrm>
          <a:prstGeom prst="wedgeRoundRectCallout">
            <a:avLst>
              <a:gd name="adj1" fmla="val 101428"/>
              <a:gd name="adj2" fmla="val -18087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/>
              <a:t>Goal</a:t>
            </a:r>
            <a:r>
              <a:rPr lang="en-US" altLang="zh-TW" sz="2800" dirty="0" smtClean="0"/>
              <a:t>: to learn the weight matrix of each layer</a:t>
            </a:r>
            <a:endParaRPr lang="zh-TW" altLang="en-US" sz="28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34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Deep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68760"/>
            <a:ext cx="5387280" cy="5040560"/>
          </a:xfrm>
        </p:spPr>
        <p:txBody>
          <a:bodyPr>
            <a:normAutofit/>
          </a:bodyPr>
          <a:lstStyle/>
          <a:p>
            <a:r>
              <a:rPr lang="en-US" dirty="0" smtClean="0"/>
              <a:t>Why go deep??</a:t>
            </a:r>
          </a:p>
          <a:p>
            <a:pPr lvl="1"/>
            <a:r>
              <a:rPr lang="en-US" sz="2400" dirty="0" smtClean="0"/>
              <a:t>Insufficient depth can require more computational elements,  than architectures whose depth is matches to the task. </a:t>
            </a:r>
            <a:endParaRPr lang="en-US" sz="2400" dirty="0"/>
          </a:p>
          <a:p>
            <a:pPr lvl="1"/>
            <a:r>
              <a:rPr lang="en-US" sz="2400" dirty="0" smtClean="0"/>
              <a:t>Provide </a:t>
            </a:r>
            <a:r>
              <a:rPr lang="en-US" sz="2400" b="1" dirty="0" smtClean="0"/>
              <a:t>simpler more descriptive model </a:t>
            </a:r>
            <a:r>
              <a:rPr lang="en-US" sz="2400" dirty="0" smtClean="0"/>
              <a:t>of many problems.</a:t>
            </a:r>
            <a:endParaRPr lang="en-US" sz="2400" dirty="0"/>
          </a:p>
          <a:p>
            <a:r>
              <a:rPr lang="en-US" dirty="0" smtClean="0"/>
              <a:t>Problem with deep?</a:t>
            </a:r>
          </a:p>
          <a:p>
            <a:pPr lvl="1"/>
            <a:r>
              <a:rPr lang="en-US" dirty="0" smtClean="0"/>
              <a:t>Many cases, deep nets are </a:t>
            </a:r>
            <a:r>
              <a:rPr lang="en-US" b="1" dirty="0" smtClean="0"/>
              <a:t>hard to optimize</a:t>
            </a:r>
            <a:r>
              <a:rPr lang="en-US" dirty="0" smtClean="0"/>
              <a:t>. </a:t>
            </a:r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638800" y="2590800"/>
            <a:ext cx="2819400" cy="2108200"/>
            <a:chOff x="4191001" y="2362200"/>
            <a:chExt cx="4114800" cy="2710543"/>
          </a:xfrm>
        </p:grpSpPr>
        <p:sp>
          <p:nvSpPr>
            <p:cNvPr id="7" name="Rectangle 6"/>
            <p:cNvSpPr/>
            <p:nvPr/>
          </p:nvSpPr>
          <p:spPr>
            <a:xfrm>
              <a:off x="4191001" y="2362200"/>
              <a:ext cx="4114800" cy="23622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                                     </a:t>
              </a:r>
              <a:r>
                <a:rPr lang="en-US" dirty="0" smtClean="0">
                  <a:solidFill>
                    <a:schemeClr val="tx1"/>
                  </a:solidFill>
                </a:rPr>
                <a:t>     		Neural 	               Networks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4413424" y="2558143"/>
              <a:ext cx="2362200" cy="2514600"/>
              <a:chOff x="5477565" y="2026722"/>
              <a:chExt cx="2438399" cy="23622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5477565" y="2026722"/>
                <a:ext cx="2438399" cy="2362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Deep Networks</a:t>
                </a:r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</p:txBody>
          </p:sp>
          <p:sp>
            <p:nvSpPr>
              <p:cNvPr id="5" name="Oval 4"/>
              <p:cNvSpPr/>
              <p:nvPr/>
            </p:nvSpPr>
            <p:spPr>
              <a:xfrm>
                <a:off x="5867400" y="2971800"/>
                <a:ext cx="1828800" cy="10668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Deep Belief Nets.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4783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Autofit/>
          </a:bodyPr>
          <a:lstStyle/>
          <a:p>
            <a:r>
              <a:rPr lang="en-US" sz="3600" dirty="0" smtClean="0"/>
              <a:t>Why it is usually very hard to learn </a:t>
            </a:r>
            <a:br>
              <a:rPr lang="en-US" sz="3600" dirty="0" smtClean="0"/>
            </a:br>
            <a:r>
              <a:rPr lang="en-US" sz="3600" dirty="0" smtClean="0"/>
              <a:t>belief nets one layer at a time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876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To learn </a:t>
            </a:r>
            <a:r>
              <a:rPr lang="en-US" sz="2400" dirty="0" smtClean="0">
                <a:solidFill>
                  <a:srgbClr val="3333CC"/>
                </a:solidFill>
              </a:rPr>
              <a:t>W</a:t>
            </a:r>
            <a:r>
              <a:rPr lang="en-US" sz="2400" dirty="0" smtClean="0"/>
              <a:t>, we need the posterior distribution in the first hidden layer.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Problem 1</a:t>
            </a:r>
            <a:r>
              <a:rPr lang="en-US" sz="2400" dirty="0" smtClean="0"/>
              <a:t>: The posterior is typically intractable because of “explaining away”.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Problem 2:</a:t>
            </a:r>
            <a:r>
              <a:rPr lang="en-US" sz="2400" dirty="0" smtClean="0"/>
              <a:t> The posterior depends on the prior as well as the likelihood. 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So to learn </a:t>
            </a:r>
            <a:r>
              <a:rPr lang="en-US" sz="2400" dirty="0" smtClean="0">
                <a:solidFill>
                  <a:srgbClr val="3333CC"/>
                </a:solidFill>
              </a:rPr>
              <a:t>W</a:t>
            </a:r>
            <a:r>
              <a:rPr lang="en-US" sz="2400" dirty="0" smtClean="0"/>
              <a:t>, we need to know the weights in higher layers, even if we are only approximating the posterior. </a:t>
            </a:r>
            <a:r>
              <a:rPr lang="en-US" sz="2400" dirty="0" smtClean="0">
                <a:solidFill>
                  <a:srgbClr val="3333CC"/>
                </a:solidFill>
              </a:rPr>
              <a:t>All the weights interact.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Problem 3:</a:t>
            </a:r>
            <a:r>
              <a:rPr lang="en-US" sz="2400" dirty="0" smtClean="0"/>
              <a:t> We need to integrate over all possible configurations of the higher variables to get the prior for first hidden layer. </a:t>
            </a:r>
            <a:endParaRPr lang="en-US" sz="2400" dirty="0" smtClean="0">
              <a:solidFill>
                <a:srgbClr val="3333CC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US" sz="2400" dirty="0" smtClean="0"/>
          </a:p>
          <a:p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6096000" y="2057400"/>
            <a:ext cx="2544762" cy="3951288"/>
            <a:chOff x="6096000" y="2057400"/>
            <a:chExt cx="2544762" cy="3951288"/>
          </a:xfrm>
        </p:grpSpPr>
        <p:grpSp>
          <p:nvGrpSpPr>
            <p:cNvPr id="4" name="Group 3"/>
            <p:cNvGrpSpPr/>
            <p:nvPr/>
          </p:nvGrpSpPr>
          <p:grpSpPr>
            <a:xfrm>
              <a:off x="6324599" y="2057400"/>
              <a:ext cx="2316163" cy="3951288"/>
              <a:chOff x="6049962" y="1916113"/>
              <a:chExt cx="2590801" cy="4092575"/>
            </a:xfrm>
          </p:grpSpPr>
          <p:sp>
            <p:nvSpPr>
              <p:cNvPr id="5" name="Text Box 4"/>
              <p:cNvSpPr txBox="1">
                <a:spLocks noChangeArrowheads="1"/>
              </p:cNvSpPr>
              <p:nvPr/>
            </p:nvSpPr>
            <p:spPr bwMode="auto">
              <a:xfrm>
                <a:off x="6049963" y="5480050"/>
                <a:ext cx="2520950" cy="52863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 dirty="0"/>
                  <a:t>          data</a:t>
                </a:r>
              </a:p>
            </p:txBody>
          </p:sp>
          <p:sp>
            <p:nvSpPr>
              <p:cNvPr id="6" name="Text Box 5"/>
              <p:cNvSpPr txBox="1">
                <a:spLocks noChangeArrowheads="1"/>
              </p:cNvSpPr>
              <p:nvPr/>
            </p:nvSpPr>
            <p:spPr bwMode="auto">
              <a:xfrm>
                <a:off x="6049963" y="4291013"/>
                <a:ext cx="2520950" cy="46672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/>
                  <a:t>hidden variables</a:t>
                </a:r>
              </a:p>
            </p:txBody>
          </p:sp>
          <p:sp>
            <p:nvSpPr>
              <p:cNvPr id="7" name="AutoShape 6"/>
              <p:cNvSpPr>
                <a:spLocks noChangeArrowheads="1"/>
              </p:cNvSpPr>
              <p:nvPr/>
            </p:nvSpPr>
            <p:spPr bwMode="auto">
              <a:xfrm>
                <a:off x="7778750" y="4832350"/>
                <a:ext cx="323850" cy="64770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009900"/>
              </a:solidFill>
              <a:ln w="9525">
                <a:solidFill>
                  <a:srgbClr val="00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8" name="Text Box 7"/>
              <p:cNvSpPr txBox="1">
                <a:spLocks noChangeArrowheads="1"/>
              </p:cNvSpPr>
              <p:nvPr/>
            </p:nvSpPr>
            <p:spPr bwMode="auto">
              <a:xfrm>
                <a:off x="6049963" y="3103563"/>
                <a:ext cx="2557062" cy="47817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dirty="0" smtClean="0"/>
                  <a:t>hidden variables</a:t>
                </a:r>
                <a:endParaRPr lang="en-US" sz="2400" dirty="0"/>
              </a:p>
            </p:txBody>
          </p:sp>
          <p:sp>
            <p:nvSpPr>
              <p:cNvPr id="9" name="AutoShape 8"/>
              <p:cNvSpPr>
                <a:spLocks noChangeArrowheads="1"/>
              </p:cNvSpPr>
              <p:nvPr/>
            </p:nvSpPr>
            <p:spPr bwMode="auto">
              <a:xfrm>
                <a:off x="7239000" y="3644900"/>
                <a:ext cx="323850" cy="64770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009900"/>
              </a:solidFill>
              <a:ln w="9525">
                <a:solidFill>
                  <a:srgbClr val="00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10" name="Text Box 9"/>
              <p:cNvSpPr txBox="1">
                <a:spLocks noChangeArrowheads="1"/>
              </p:cNvSpPr>
              <p:nvPr/>
            </p:nvSpPr>
            <p:spPr bwMode="auto">
              <a:xfrm>
                <a:off x="6049962" y="1916113"/>
                <a:ext cx="2484437" cy="46672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dirty="0"/>
                  <a:t>hidden variables</a:t>
                </a:r>
              </a:p>
            </p:txBody>
          </p:sp>
          <p:sp>
            <p:nvSpPr>
              <p:cNvPr id="11" name="AutoShape 10"/>
              <p:cNvSpPr>
                <a:spLocks noChangeArrowheads="1"/>
              </p:cNvSpPr>
              <p:nvPr/>
            </p:nvSpPr>
            <p:spPr bwMode="auto">
              <a:xfrm>
                <a:off x="7239000" y="2457450"/>
                <a:ext cx="323850" cy="64770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009900"/>
              </a:solidFill>
              <a:ln w="9525">
                <a:solidFill>
                  <a:srgbClr val="00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12" name="AutoShape 11"/>
              <p:cNvSpPr>
                <a:spLocks noChangeArrowheads="1"/>
              </p:cNvSpPr>
              <p:nvPr/>
            </p:nvSpPr>
            <p:spPr bwMode="auto">
              <a:xfrm>
                <a:off x="6697663" y="4832350"/>
                <a:ext cx="323850" cy="611188"/>
              </a:xfrm>
              <a:prstGeom prst="upArrow">
                <a:avLst>
                  <a:gd name="adj1" fmla="val 50000"/>
                  <a:gd name="adj2" fmla="val 47181"/>
                </a:avLst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13" name="Text Box 13"/>
              <p:cNvSpPr txBox="1">
                <a:spLocks noChangeArrowheads="1"/>
              </p:cNvSpPr>
              <p:nvPr/>
            </p:nvSpPr>
            <p:spPr bwMode="auto">
              <a:xfrm>
                <a:off x="8102600" y="4903788"/>
                <a:ext cx="504825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>
                    <a:solidFill>
                      <a:srgbClr val="3333CC"/>
                    </a:solidFill>
                  </a:rPr>
                  <a:t>W</a:t>
                </a:r>
              </a:p>
            </p:txBody>
          </p:sp>
          <p:sp>
            <p:nvSpPr>
              <p:cNvPr id="14" name="Text Box 14"/>
              <p:cNvSpPr txBox="1">
                <a:spLocks noChangeArrowheads="1"/>
              </p:cNvSpPr>
              <p:nvPr/>
            </p:nvSpPr>
            <p:spPr bwMode="auto">
              <a:xfrm>
                <a:off x="7597775" y="3716338"/>
                <a:ext cx="1042988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/>
                  <a:t>prior</a:t>
                </a:r>
              </a:p>
            </p:txBody>
          </p:sp>
        </p:grp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6096000" y="4953000"/>
              <a:ext cx="167005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/>
                <a:t>  likelihood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7544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Generative </a:t>
            </a:r>
            <a:r>
              <a:rPr lang="en-US" altLang="zh-TW" dirty="0" err="1" smtClean="0"/>
              <a:t>v.s</a:t>
            </a:r>
            <a:r>
              <a:rPr lang="en-US" altLang="zh-TW" dirty="0" smtClean="0"/>
              <a:t>. discriminant models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525963"/>
          </a:xfrm>
        </p:spPr>
        <p:txBody>
          <a:bodyPr/>
          <a:lstStyle/>
          <a:p>
            <a:r>
              <a:rPr lang="en-US" altLang="zh-TW" dirty="0" smtClean="0"/>
              <a:t>Given random variables X (features) and </a:t>
            </a:r>
            <a:r>
              <a:rPr lang="en-US" altLang="zh-TW" dirty="0" smtClean="0"/>
              <a:t>Y(labels)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rgbClr val="FF0000"/>
                </a:solidFill>
              </a:rPr>
              <a:t>Generative models</a:t>
            </a:r>
            <a:r>
              <a:rPr lang="en-US" altLang="zh-TW" dirty="0" smtClean="0"/>
              <a:t>: </a:t>
            </a:r>
          </a:p>
          <a:p>
            <a:pPr lvl="1"/>
            <a:r>
              <a:rPr lang="en-US" altLang="zh-TW" dirty="0" smtClean="0"/>
              <a:t>to learn joint distribution P(</a:t>
            </a:r>
            <a:r>
              <a:rPr lang="en-US" altLang="zh-TW" dirty="0" err="1" smtClean="0"/>
              <a:t>x,y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Mixtures of Gaussian or experts, HMM, Bayesian network, Markov network, etc.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Discriminant models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 smtClean="0"/>
              <a:t> to learn conditional probability P(</a:t>
            </a:r>
            <a:r>
              <a:rPr lang="en-US" altLang="zh-TW" dirty="0" err="1" smtClean="0"/>
              <a:t>y|x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logistic </a:t>
            </a:r>
            <a:r>
              <a:rPr lang="en-US" altLang="zh-TW" dirty="0" smtClean="0"/>
              <a:t>regression, SVM, LDA, etc.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070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Naïve </a:t>
            </a:r>
            <a:r>
              <a:rPr lang="en-US" altLang="zh-TW" dirty="0" err="1" smtClean="0"/>
              <a:t>Baye’s</a:t>
            </a:r>
            <a:r>
              <a:rPr lang="en-US" altLang="zh-TW" dirty="0" smtClean="0"/>
              <a:t> classifier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Goal is to predict single class variable y </a:t>
                </a:r>
              </a:p>
              <a:p>
                <a:r>
                  <a:rPr lang="en-US" altLang="zh-TW" dirty="0" smtClean="0"/>
                  <a:t>given </a:t>
                </a:r>
                <a:r>
                  <a:rPr lang="en-US" altLang="zh-TW" dirty="0"/>
                  <a:t>a vector of features x=(</a:t>
                </a:r>
                <a:r>
                  <a:rPr lang="en-US" altLang="zh-TW" dirty="0" smtClean="0"/>
                  <a:t>x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,…,</a:t>
                </a:r>
                <a:r>
                  <a:rPr lang="en-US" altLang="zh-TW" dirty="0" err="1" smtClean="0"/>
                  <a:t>x</a:t>
                </a:r>
                <a:r>
                  <a:rPr lang="en-US" altLang="zh-TW" baseline="-25000" dirty="0" err="1" smtClean="0"/>
                  <a:t>M</a:t>
                </a:r>
                <a:r>
                  <a:rPr lang="en-US" altLang="zh-TW" dirty="0" smtClean="0"/>
                  <a:t>)</a:t>
                </a:r>
              </a:p>
              <a:p>
                <a:r>
                  <a:rPr lang="en-US" altLang="zh-TW" dirty="0"/>
                  <a:t>Assume that once class labels are known </a:t>
                </a:r>
                <a:r>
                  <a:rPr lang="en-US" altLang="zh-TW" dirty="0" smtClean="0"/>
                  <a:t>the </a:t>
                </a:r>
                <a:r>
                  <a:rPr lang="en-US" altLang="zh-TW" dirty="0"/>
                  <a:t>features are </a:t>
                </a:r>
                <a:r>
                  <a:rPr lang="en-US" altLang="zh-TW" dirty="0" smtClean="0"/>
                  <a:t>independent  </a:t>
                </a:r>
                <a:r>
                  <a:rPr lang="en-US" altLang="zh-TW" dirty="0"/>
                  <a:t>Joint probability model has the </a:t>
                </a:r>
                <a:r>
                  <a:rPr lang="en-US" altLang="zh-TW" dirty="0" smtClean="0"/>
                  <a:t>form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𝑝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𝑦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  <m:nary>
                      <m:naryPr>
                        <m:chr m:val="∏"/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𝑀</m:t>
                        </m:r>
                      </m:sup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</m:d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e>
                    </m:nary>
                  </m:oMath>
                </a14:m>
                <a:endParaRPr lang="en-US" altLang="zh-TW" dirty="0" smtClean="0">
                  <a:solidFill>
                    <a:srgbClr val="FF0000"/>
                  </a:solidFill>
                </a:endParaRPr>
              </a:p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rgbClr val="FF0000"/>
                        </a:solidFill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𝑦</m:t>
                        </m:r>
                      </m:e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𝑝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𝑦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𝑝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altLang="zh-TW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2"/>
          <a:stretch/>
        </p:blipFill>
        <p:spPr bwMode="auto">
          <a:xfrm>
            <a:off x="6066263" y="4149080"/>
            <a:ext cx="2556516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90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Bayesian (belief) network (BN)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556792"/>
            <a:ext cx="5735150" cy="32403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79512" y="4869160"/>
                <a:ext cx="885698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𝐺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, 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𝑆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, 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𝑅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𝑅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𝑅</m:t>
                          </m:r>
                        </m:e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𝑆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𝐺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|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𝑆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altLang="zh-TW" sz="2400" dirty="0" smtClean="0"/>
              </a:p>
              <a:p>
                <a:r>
                  <a:rPr lang="en-US" altLang="zh-TW" sz="2400" b="1" dirty="0" smtClean="0"/>
                  <a:t>Note: </a:t>
                </a:r>
              </a:p>
              <a:p>
                <a:pPr algn="ctr"/>
                <a:r>
                  <a:rPr lang="en-US" altLang="zh-TW" sz="2400" dirty="0">
                    <a:solidFill>
                      <a:srgbClr val="FF0000"/>
                    </a:solidFill>
                  </a:rPr>
                  <a:t>Exact inference 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(</a:t>
                </a:r>
                <a:r>
                  <a:rPr lang="en-US" altLang="zh-TW" sz="2400" dirty="0" err="1" smtClean="0">
                    <a:solidFill>
                      <a:srgbClr val="FF0000"/>
                    </a:solidFill>
                  </a:rPr>
                  <a:t>e.g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 P(G=T, R=T, S=F) or P(R=T|G=T) etc.)in 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Bayesian networks is </a:t>
                </a:r>
                <a:r>
                  <a:rPr lang="en-US" altLang="zh-TW" sz="2400" b="1" dirty="0" smtClean="0">
                    <a:solidFill>
                      <a:srgbClr val="FF0000"/>
                    </a:solidFill>
                  </a:rPr>
                  <a:t>NP-hard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!!</a:t>
                </a:r>
              </a:p>
              <a:p>
                <a:pPr algn="ctr"/>
                <a:r>
                  <a:rPr lang="en-US" altLang="zh-TW" sz="2400" dirty="0" smtClean="0">
                    <a:solidFill>
                      <a:srgbClr val="FF0000"/>
                    </a:solidFill>
                  </a:rPr>
                  <a:t>Solution: MCMC, Belief propagation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, Variable-Elimination</a:t>
                </a:r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869160"/>
                <a:ext cx="8856984" cy="1938992"/>
              </a:xfrm>
              <a:prstGeom prst="rect">
                <a:avLst/>
              </a:prstGeom>
              <a:blipFill rotWithShape="1">
                <a:blip r:embed="rId3"/>
                <a:stretch>
                  <a:fillRect l="-1032" b="-6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179512" y="1844824"/>
            <a:ext cx="3600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TW" sz="2400" dirty="0" smtClean="0"/>
              <a:t>Directed acyclic graph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400" dirty="0" smtClean="0"/>
              <a:t>Inference problem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400" dirty="0" smtClean="0">
                <a:solidFill>
                  <a:srgbClr val="FF0000"/>
                </a:solidFill>
              </a:rPr>
              <a:t>Parameter learning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400" dirty="0" smtClean="0"/>
              <a:t>Structure learning</a:t>
            </a:r>
          </a:p>
          <a:p>
            <a:endParaRPr lang="en-US" altLang="zh-TW" sz="2400" dirty="0" smtClean="0"/>
          </a:p>
          <a:p>
            <a:endParaRPr lang="zh-TW" altLang="en-US" sz="240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43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4" t="20911" r="24356" b="47736"/>
          <a:stretch/>
        </p:blipFill>
        <p:spPr bwMode="auto">
          <a:xfrm>
            <a:off x="417591" y="2348880"/>
            <a:ext cx="8720254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755576" y="1340768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hlinkClick r:id="rId3"/>
              </a:rPr>
              <a:t>http://</a:t>
            </a:r>
            <a:r>
              <a:rPr lang="en-US" altLang="zh-TW" dirty="0" smtClean="0">
                <a:hlinkClick r:id="rId3"/>
              </a:rPr>
              <a:t>en.wikipedia.org/wiki/Bayesian_network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of inference of BN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568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Markov random field (MRF)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815626" y="1480365"/>
            <a:ext cx="7802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undirected graphical model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, 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即無法確定是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A-&gt;B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或是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B-&gt;A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時，以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A-B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表示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8" r="32935"/>
          <a:stretch/>
        </p:blipFill>
        <p:spPr bwMode="auto">
          <a:xfrm>
            <a:off x="0" y="3070781"/>
            <a:ext cx="4669017" cy="3787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圓角矩形圖說文字 5"/>
          <p:cNvSpPr/>
          <p:nvPr/>
        </p:nvSpPr>
        <p:spPr>
          <a:xfrm>
            <a:off x="214652" y="2060848"/>
            <a:ext cx="1008112" cy="288032"/>
          </a:xfrm>
          <a:prstGeom prst="wedgeRoundRectCallout">
            <a:avLst>
              <a:gd name="adj1" fmla="val 3750"/>
              <a:gd name="adj2" fmla="val 23215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factor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4427984" y="2253294"/>
                <a:ext cx="3352421" cy="1175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0" i="1" dirty="0" smtClean="0">
                    <a:solidFill>
                      <a:srgbClr val="FF0000"/>
                    </a:solidFill>
                    <a:latin typeface="Cambria Math"/>
                  </a:rPr>
                  <a:t>Gibbs distribution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𝐷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𝐴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𝐵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𝐶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4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𝐷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zh-TW" b="0" i="1" smtClean="0">
                              <a:latin typeface="Cambria Math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2253294"/>
                <a:ext cx="3352421" cy="1175706"/>
              </a:xfrm>
              <a:prstGeom prst="rect">
                <a:avLst/>
              </a:prstGeom>
              <a:blipFill rotWithShape="1">
                <a:blip r:embed="rId3"/>
                <a:stretch>
                  <a:fillRect l="-1455" t="-3109" r="-39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5431505" y="4077072"/>
                <a:ext cx="3140988" cy="24370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FF0000"/>
                    </a:solidFill>
                    <a:latin typeface="Cambria Math"/>
                  </a:rPr>
                  <a:t>If  all factor s are positive 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altLang="zh-TW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∏"/>
                              <m:supHide m:val="on"/>
                              <m:ctrlPr>
                                <a:rPr lang="en-US" altLang="zh-TW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𝒄</m:t>
                              </m:r>
                              <m:r>
                                <a:rPr lang="en-US" altLang="zh-TW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∈</m:t>
                              </m:r>
                              <m:r>
                                <a:rPr lang="en-US" altLang="zh-TW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𝑪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TW" b="1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𝒄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b="1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TW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𝒄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𝒁</m:t>
                          </m:r>
                        </m:den>
                      </m:f>
                    </m:oMath>
                  </m:oMathPara>
                </a14:m>
                <a:endParaRPr lang="en-US" altLang="zh-TW" b="1" i="1" dirty="0" smtClean="0">
                  <a:solidFill>
                    <a:srgbClr val="0070C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𝒁</m:t>
                          </m:r>
                        </m:den>
                      </m:f>
                      <m:func>
                        <m:funcPr>
                          <m:ctrlP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a:rPr lang="en-US" altLang="zh-TW" b="1" i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b="1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b="1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𝒄</m:t>
                                  </m:r>
                                  <m:r>
                                    <a:rPr lang="en-US" altLang="zh-TW" b="1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∈</m:t>
                                  </m:r>
                                  <m:r>
                                    <a:rPr lang="en-US" altLang="zh-TW" b="1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𝑪</m:t>
                                  </m:r>
                                </m:sub>
                                <m:sup/>
                                <m:e>
                                  <m:func>
                                    <m:funcPr>
                                      <m:ctrlPr>
                                        <a:rPr lang="en-US" altLang="zh-TW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altLang="zh-TW" b="1" i="0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𝐥𝐨𝐠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b="1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1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</a:rPr>
                                            <m:t>𝝓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1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</a:rPr>
                                            <m:t>𝒄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TW" b="1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b="1" i="1" smtClean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b="1" i="1" smtClean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b="1" i="1" smtClean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/>
                                                </a:rPr>
                                                <m:t>𝒄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altLang="zh-TW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altLang="zh-TW" b="1" i="1" dirty="0" smtClean="0">
                  <a:solidFill>
                    <a:srgbClr val="0070C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𝒁</m:t>
                          </m:r>
                        </m:den>
                      </m:f>
                      <m:sSup>
                        <m:sSupPr>
                          <m:ctrlP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𝑬</m:t>
                          </m:r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altLang="zh-TW" b="1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r>
                  <a:rPr lang="en-US" altLang="zh-TW" b="1" i="1" dirty="0" smtClean="0">
                    <a:solidFill>
                      <a:srgbClr val="FF0000"/>
                    </a:solidFill>
                    <a:latin typeface="Cambria Math"/>
                  </a:rPr>
                  <a:t>E(.): </a:t>
                </a:r>
                <a:r>
                  <a:rPr lang="en-US" altLang="zh-TW" b="1" dirty="0" smtClean="0">
                    <a:solidFill>
                      <a:srgbClr val="FF0000"/>
                    </a:solidFill>
                    <a:latin typeface="Cambria Math"/>
                  </a:rPr>
                  <a:t>energy function</a:t>
                </a:r>
                <a:endParaRPr lang="en-US" altLang="zh-TW" b="1" dirty="0">
                  <a:solidFill>
                    <a:srgbClr val="FF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505" y="4077072"/>
                <a:ext cx="3140988" cy="2437014"/>
              </a:xfrm>
              <a:prstGeom prst="rect">
                <a:avLst/>
              </a:prstGeom>
              <a:blipFill rotWithShape="1">
                <a:blip r:embed="rId4"/>
                <a:stretch>
                  <a:fillRect l="-1748" t="-1500" r="-971" b="-2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56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68" y="692696"/>
            <a:ext cx="8797420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997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Boltzmann machine (BM)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932406"/>
            <a:ext cx="3593288" cy="3410719"/>
          </a:xfr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356992"/>
            <a:ext cx="5523263" cy="2183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4071496" y="2068105"/>
            <a:ext cx="5112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Hidden variables and observed variables are dependent, hence the model is hard to learn.</a:t>
            </a:r>
            <a:endParaRPr lang="zh-TW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323528" y="1309220"/>
            <a:ext cx="8280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/>
              <a:t>Ackley, D. H., Hinton, G. E., and </a:t>
            </a:r>
            <a:r>
              <a:rPr lang="en-US" altLang="zh-TW" sz="1600" dirty="0" err="1"/>
              <a:t>Sejnowski</a:t>
            </a:r>
            <a:r>
              <a:rPr lang="en-US" altLang="zh-TW" sz="1600" dirty="0"/>
              <a:t>, T. J. </a:t>
            </a:r>
            <a:r>
              <a:rPr lang="en-US" altLang="zh-TW" sz="1600" dirty="0" smtClean="0"/>
              <a:t> “</a:t>
            </a:r>
            <a:r>
              <a:rPr lang="en-US" altLang="zh-TW" sz="1600" b="1" dirty="0" smtClean="0"/>
              <a:t>A </a:t>
            </a:r>
            <a:r>
              <a:rPr lang="en-US" altLang="zh-TW" sz="1600" b="1" dirty="0"/>
              <a:t>learning algorithm for Boltzmann </a:t>
            </a:r>
            <a:r>
              <a:rPr lang="en-US" altLang="zh-TW" sz="1600" b="1" dirty="0" smtClean="0"/>
              <a:t>machines,”</a:t>
            </a:r>
            <a:r>
              <a:rPr lang="en-US" altLang="zh-TW" sz="1600" b="1" dirty="0"/>
              <a:t> </a:t>
            </a:r>
            <a:r>
              <a:rPr lang="en-US" altLang="zh-TW" sz="1600" b="1" dirty="0" smtClean="0"/>
              <a:t> </a:t>
            </a:r>
            <a:r>
              <a:rPr lang="en-US" altLang="zh-TW" sz="1600" i="1" dirty="0" smtClean="0"/>
              <a:t>Cognitive </a:t>
            </a:r>
            <a:r>
              <a:rPr lang="en-US" altLang="zh-TW" sz="1600" i="1" dirty="0"/>
              <a:t>Science</a:t>
            </a:r>
            <a:r>
              <a:rPr lang="en-US" altLang="zh-TW" sz="1600" dirty="0"/>
              <a:t>, </a:t>
            </a:r>
            <a:r>
              <a:rPr lang="en-US" altLang="zh-TW" sz="1600" dirty="0" smtClean="0"/>
              <a:t> Vol. 9</a:t>
            </a:r>
            <a:r>
              <a:rPr lang="en-US" altLang="zh-TW" sz="1600" dirty="0"/>
              <a:t>, </a:t>
            </a:r>
            <a:r>
              <a:rPr lang="en-US" altLang="zh-TW" sz="1600" dirty="0" smtClean="0"/>
              <a:t>pp. 147-169, 1985.</a:t>
            </a:r>
            <a:endParaRPr lang="zh-TW" altLang="en-US" sz="16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71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Restricted Boltzmann machine (RBM)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467544" y="281145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b="1" dirty="0">
                <a:solidFill>
                  <a:srgbClr val="0070C0"/>
                </a:solidFill>
              </a:rPr>
              <a:t>each hidden unit is conditionally </a:t>
            </a:r>
          </a:p>
          <a:p>
            <a:r>
              <a:rPr lang="en-US" altLang="zh-TW" b="1" dirty="0">
                <a:solidFill>
                  <a:srgbClr val="0070C0"/>
                </a:solidFill>
              </a:rPr>
              <a:t>independent given the data</a:t>
            </a:r>
            <a:endParaRPr lang="zh-TW" altLang="en-US" b="1" dirty="0">
              <a:solidFill>
                <a:srgbClr val="0070C0"/>
              </a:solidFill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54636" y="3501008"/>
            <a:ext cx="5365104" cy="2149971"/>
            <a:chOff x="323528" y="2471396"/>
            <a:chExt cx="5616624" cy="2320577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2471396"/>
              <a:ext cx="5616624" cy="2320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矩形 8"/>
            <p:cNvSpPr/>
            <p:nvPr/>
          </p:nvSpPr>
          <p:spPr>
            <a:xfrm>
              <a:off x="3733621" y="3944099"/>
              <a:ext cx="1153414" cy="3060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b: bias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735578" y="3178857"/>
              <a:ext cx="1151457" cy="3060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r>
                <a:rPr lang="en-US" altLang="zh-TW" dirty="0" smtClean="0">
                  <a:solidFill>
                    <a:schemeClr val="tx1"/>
                  </a:solidFill>
                </a:rPr>
                <a:t>: bias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89"/>
          <a:stretch/>
        </p:blipFill>
        <p:spPr bwMode="auto">
          <a:xfrm>
            <a:off x="4727004" y="2924944"/>
            <a:ext cx="4381500" cy="1693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902337" y="1340768"/>
            <a:ext cx="71287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/>
              <a:t>Hinton, G. E. </a:t>
            </a:r>
            <a:r>
              <a:rPr lang="en-US" altLang="zh-TW" sz="1600" dirty="0" smtClean="0"/>
              <a:t>,”</a:t>
            </a:r>
            <a:r>
              <a:rPr lang="en-US" altLang="zh-TW" sz="1600" b="1" dirty="0" smtClean="0"/>
              <a:t>Training </a:t>
            </a:r>
            <a:r>
              <a:rPr lang="en-US" altLang="zh-TW" sz="1600" b="1" dirty="0"/>
              <a:t>Products of Experts by Minimizing Contrastive </a:t>
            </a:r>
            <a:r>
              <a:rPr lang="en-US" altLang="zh-TW" sz="1600" b="1" dirty="0" smtClean="0"/>
              <a:t>Divergence,” </a:t>
            </a:r>
            <a:r>
              <a:rPr lang="en-US" altLang="zh-TW" sz="1600" i="1" dirty="0" smtClean="0"/>
              <a:t>Neural </a:t>
            </a:r>
            <a:r>
              <a:rPr lang="en-US" altLang="zh-TW" sz="1600" i="1" dirty="0"/>
              <a:t>Computation</a:t>
            </a:r>
            <a:r>
              <a:rPr lang="en-US" altLang="zh-TW" sz="1600" dirty="0"/>
              <a:t>, </a:t>
            </a:r>
            <a:r>
              <a:rPr lang="en-US" altLang="zh-TW" sz="1600" dirty="0" smtClean="0"/>
              <a:t>Vol. 14</a:t>
            </a:r>
            <a:r>
              <a:rPr lang="en-US" altLang="zh-TW" sz="1600" dirty="0"/>
              <a:t>, </a:t>
            </a:r>
            <a:r>
              <a:rPr lang="en-US" altLang="zh-TW" sz="1600" dirty="0" smtClean="0"/>
              <a:t>pp. 1771-1800, 2002.</a:t>
            </a:r>
            <a:r>
              <a:rPr lang="en-US" altLang="zh-TW" sz="1600" dirty="0"/>
              <a:t> </a:t>
            </a:r>
            <a:endParaRPr lang="zh-TW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2336787" y="193663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Product of Experts (</a:t>
            </a:r>
            <a:r>
              <a:rPr lang="en-US" altLang="zh-TW" dirty="0" err="1">
                <a:solidFill>
                  <a:srgbClr val="FF0000"/>
                </a:solidFill>
              </a:rPr>
              <a:t>PoE</a:t>
            </a:r>
            <a:r>
              <a:rPr lang="en-US" altLang="zh-TW" dirty="0">
                <a:solidFill>
                  <a:srgbClr val="FF0000"/>
                </a:solidFill>
              </a:rPr>
              <a:t>) + Boltzmann machine (BM)= Restricted Boltzmann machine (RBM)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15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4943028" y="4826888"/>
                <a:ext cx="3949452" cy="740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TW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zh-TW" sz="2000" b="0" i="1" smtClean="0">
                                          <a:latin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∈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𝑣𝑖𝑠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TW" sz="2000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0" i="1" smtClean="0">
                                              <a:latin typeface="Cambria Math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0" i="1" smtClean="0">
                                              <a:latin typeface="Cambria Math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028" y="4826888"/>
                <a:ext cx="3949452" cy="7407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16908" y="5661248"/>
                <a:ext cx="5040560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𝒗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𝒉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=−</m:t>
                      </m:r>
                      <m:sSup>
                        <m:s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𝒃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𝑻</m:t>
                          </m:r>
                        </m:sup>
                      </m:sSup>
                      <m:r>
                        <a:rPr lang="en-US" altLang="zh-TW" b="1" i="1" smtClean="0">
                          <a:latin typeface="Cambria Math"/>
                        </a:rPr>
                        <m:t>𝒗</m:t>
                      </m:r>
                      <m:r>
                        <a:rPr lang="en-US" altLang="zh-TW" b="0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𝒄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𝑻</m:t>
                          </m:r>
                        </m:sup>
                      </m:sSup>
                      <m:r>
                        <a:rPr lang="en-US" altLang="zh-TW" b="1" i="1" smtClean="0">
                          <a:latin typeface="Cambria Math"/>
                        </a:rPr>
                        <m:t>𝒉</m:t>
                      </m:r>
                      <m:r>
                        <a:rPr lang="en-US" altLang="zh-TW" b="1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𝒉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𝑻</m:t>
                          </m:r>
                        </m:sup>
                      </m:sSup>
                      <m:r>
                        <a:rPr lang="en-US" altLang="zh-TW" b="1" i="1" smtClean="0">
                          <a:latin typeface="Cambria Math"/>
                        </a:rPr>
                        <m:t>𝑾𝒗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08" y="5661248"/>
                <a:ext cx="5040560" cy="3742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16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Entropy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79925"/>
            <a:ext cx="8677670" cy="69694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636912"/>
            <a:ext cx="3934235" cy="3792602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4257764" y="3023841"/>
            <a:ext cx="46347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A coin X, </a:t>
            </a:r>
          </a:p>
          <a:p>
            <a:r>
              <a:rPr lang="en-US" altLang="zh-TW" sz="2800" dirty="0" smtClean="0"/>
              <a:t>P(X=head) = 0.5, P(X=tail)=0.5</a:t>
            </a:r>
          </a:p>
          <a:p>
            <a:r>
              <a:rPr lang="en-US" altLang="zh-TW" sz="2800" dirty="0" smtClean="0"/>
              <a:t>H(X)=-(0.5*log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(0.5)+</a:t>
            </a:r>
            <a:br>
              <a:rPr lang="en-US" altLang="zh-TW" sz="2800" dirty="0" smtClean="0"/>
            </a:br>
            <a:r>
              <a:rPr lang="en-US" altLang="zh-TW" sz="2800" dirty="0" smtClean="0"/>
              <a:t>             0.5*log</a:t>
            </a:r>
            <a:r>
              <a:rPr lang="en-US" altLang="zh-TW" sz="2800" baseline="-25000" dirty="0" smtClean="0"/>
              <a:t>2</a:t>
            </a:r>
            <a:r>
              <a:rPr lang="en-US" altLang="zh-TW" sz="2800" dirty="0" smtClean="0"/>
              <a:t>(0.5))=1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329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 smtClean="0"/>
              <a:t>Kullback</a:t>
            </a:r>
            <a:r>
              <a:rPr lang="en-US" altLang="zh-TW" dirty="0" smtClean="0"/>
              <a:t>–</a:t>
            </a:r>
            <a:r>
              <a:rPr lang="en-US" altLang="zh-TW" dirty="0" err="1" smtClean="0"/>
              <a:t>Leibler</a:t>
            </a:r>
            <a:r>
              <a:rPr lang="en-US" altLang="zh-TW" dirty="0" smtClean="0"/>
              <a:t> divergence</a:t>
            </a:r>
            <a:br>
              <a:rPr lang="en-US" altLang="zh-TW" dirty="0" smtClean="0"/>
            </a:br>
            <a:r>
              <a:rPr lang="en-US" altLang="zh-TW" dirty="0" smtClean="0"/>
              <a:t>(Relative entropy)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14" y="2311038"/>
            <a:ext cx="4356484" cy="792088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611560" y="1700808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The KL-divergence from P to Q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622255" y="3103126"/>
                <a:ext cx="8064896" cy="3754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>
                    <a:solidFill>
                      <a:srgbClr val="FF0000"/>
                    </a:solidFill>
                  </a:rPr>
                  <a:t>Properties: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</a:rPr>
                          <m:t>𝑝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∥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</m:d>
                    <m:r>
                      <a:rPr lang="en-US" altLang="zh-TW" sz="2000" i="1">
                        <a:latin typeface="Cambria Math"/>
                      </a:rPr>
                      <m:t>≥0</m:t>
                    </m:r>
                  </m:oMath>
                </a14:m>
                <a:endParaRPr lang="en-US" altLang="zh-TW" sz="20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</a:rPr>
                          <m:t>𝑝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∥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</m:d>
                    <m:r>
                      <a:rPr lang="en-US" altLang="zh-TW" sz="2000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TW" sz="2000" i="1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</a:rPr>
                          <m:t>𝑞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∥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altLang="zh-TW" sz="2000" dirty="0">
                    <a:ea typeface="Cambria Math"/>
                  </a:rPr>
                  <a:t> (not symmetric)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</a:rPr>
                          <m:t>𝑝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∥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</m:d>
                    <m:r>
                      <a:rPr lang="en-US" altLang="zh-TW" sz="2000" i="1">
                        <a:latin typeface="Cambria Math"/>
                        <a:ea typeface="Cambria Math"/>
                      </a:rPr>
                      <m:t>≰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</a:rPr>
                          <m:t>𝑝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∥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</m:d>
                    <m:r>
                      <a:rPr lang="en-US" altLang="zh-TW" sz="2000" i="1">
                        <a:latin typeface="Cambria Math"/>
                        <a:ea typeface="Cambria Math"/>
                      </a:rPr>
                      <m:t>+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</a:rPr>
                          <m:t>𝑟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∥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</m:d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(not satisfied triangle inequality)</a:t>
                </a:r>
              </a:p>
              <a:p>
                <a:pPr marL="342900" indent="-342900">
                  <a:buAutoNum type="arabicPeriod"/>
                </a:pPr>
                <a:endParaRPr lang="en-US" altLang="zh-TW" dirty="0"/>
              </a:p>
              <a:p>
                <a:r>
                  <a:rPr lang="en-US" altLang="zh-TW" sz="2400" b="1" dirty="0" smtClean="0">
                    <a:solidFill>
                      <a:srgbClr val="FF0000"/>
                    </a:solidFill>
                  </a:rPr>
                  <a:t>Note: maximize likelihood estimation (MLE) = </a:t>
                </a:r>
              </a:p>
              <a:p>
                <a:r>
                  <a:rPr lang="en-US" altLang="zh-TW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400" b="1" dirty="0" smtClean="0">
                    <a:solidFill>
                      <a:srgbClr val="FF0000"/>
                    </a:solidFill>
                  </a:rPr>
                  <a:t>          minimize KL distance  !!</a:t>
                </a:r>
                <a:br>
                  <a:rPr lang="en-US" altLang="zh-TW" sz="2400" b="1" dirty="0" smtClean="0">
                    <a:solidFill>
                      <a:srgbClr val="FF0000"/>
                    </a:solidFill>
                  </a:rPr>
                </a:br>
                <a:r>
                  <a:rPr lang="en-US" altLang="zh-TW" sz="2400" b="1" dirty="0" smtClean="0">
                    <a:solidFill>
                      <a:srgbClr val="FF0000"/>
                    </a:solidFill>
                  </a:rPr>
                  <a:t>    (Q(x) is the model distribution, P(x) the is real distribution)</a:t>
                </a:r>
              </a:p>
              <a:p>
                <a:pPr lvl="1"/>
                <a:r>
                  <a:rPr lang="en-US" altLang="zh-TW" sz="2000" dirty="0" smtClean="0">
                    <a:hlinkClick r:id="rId3"/>
                  </a:rPr>
                  <a:t>http</a:t>
                </a:r>
                <a:r>
                  <a:rPr lang="en-US" altLang="zh-TW" sz="2000" dirty="0">
                    <a:hlinkClick r:id="rId3"/>
                  </a:rPr>
                  <a:t>://www.hongliangjie.com/2012/07/12/maximum-likelihood-as-minimize-kl-divergence/</a:t>
                </a:r>
                <a:endParaRPr lang="en-US" altLang="zh-TW" sz="2000" dirty="0"/>
              </a:p>
              <a:p>
                <a:endParaRPr lang="zh-TW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55" y="3103126"/>
                <a:ext cx="8064896" cy="3754874"/>
              </a:xfrm>
              <a:prstGeom prst="rect">
                <a:avLst/>
              </a:prstGeom>
              <a:blipFill rotWithShape="1">
                <a:blip r:embed="rId4"/>
                <a:stretch>
                  <a:fillRect l="-1134" t="-1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524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Maximum likelihood estimation (MLE)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340768"/>
                <a:ext cx="8856984" cy="5328592"/>
              </a:xfrm>
            </p:spPr>
            <p:txBody>
              <a:bodyPr>
                <a:noAutofit/>
              </a:bodyPr>
              <a:lstStyle/>
              <a:p>
                <a:pPr marL="285750" indent="-285750">
                  <a:lnSpc>
                    <a:spcPct val="130000"/>
                  </a:lnSpc>
                </a:pPr>
                <a:r>
                  <a:rPr lang="en-US" altLang="zh-TW" sz="2400" dirty="0" smtClean="0"/>
                  <a:t>a method of estimating the parameters of a statistical model</a:t>
                </a:r>
              </a:p>
              <a:p>
                <a:pPr marL="285750" indent="-285750">
                  <a:lnSpc>
                    <a:spcPct val="130000"/>
                  </a:lnSpc>
                </a:pPr>
                <a:r>
                  <a:rPr lang="en-US" altLang="zh-TW" sz="2000" dirty="0" smtClean="0"/>
                  <a:t>E.g.</a:t>
                </a:r>
                <a:endParaRPr lang="en-US" altLang="zh-TW" sz="2000" dirty="0"/>
              </a:p>
              <a:p>
                <a:pPr lvl="1">
                  <a:lnSpc>
                    <a:spcPct val="130000"/>
                  </a:lnSpc>
                  <a:buFont typeface="Arial" pitchFamily="34" charset="0"/>
                  <a:buChar char="•"/>
                </a:pPr>
                <a:r>
                  <a:rPr lang="en-US" altLang="zh-TW" sz="2000" dirty="0" smtClean="0"/>
                  <a:t>There is a </a:t>
                </a:r>
                <a:r>
                  <a:rPr lang="en-US" altLang="zh-TW" sz="2000" dirty="0"/>
                  <a:t>coin but its </a:t>
                </a:r>
                <a:r>
                  <a:rPr lang="en-US" altLang="zh-TW" sz="2000" i="1" dirty="0"/>
                  <a:t>p</a:t>
                </a:r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(head) is unknown.</a:t>
                </a:r>
                <a:endParaRPr lang="en-US" altLang="zh-TW" sz="2000" dirty="0"/>
              </a:p>
              <a:p>
                <a:pPr lvl="1">
                  <a:lnSpc>
                    <a:spcPct val="130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zh-TW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000" i="1">
                        <a:latin typeface="Cambria Math"/>
                      </a:rPr>
                      <m:t>~</m:t>
                    </m:r>
                    <m:r>
                      <a:rPr lang="en-US" altLang="zh-TW" sz="2000" i="1">
                        <a:latin typeface="Cambria Math"/>
                      </a:rPr>
                      <m:t>𝐵𝑖𝑛𝑜𝑚𝑖𝑎𝑙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</a:rPr>
                          <m:t>𝑛</m:t>
                        </m:r>
                        <m:r>
                          <a:rPr lang="en-US" altLang="zh-TW" sz="2000" i="1">
                            <a:latin typeface="Cambria Math"/>
                          </a:rPr>
                          <m:t>, </m:t>
                        </m:r>
                        <m:r>
                          <a:rPr lang="en-US" altLang="zh-TW" sz="2000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en-US" altLang="zh-TW" sz="20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i="1">
                                  <a:latin typeface="Cambria Math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zh-TW" sz="2000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altLang="zh-TW" sz="2000" i="1">
                            <a:latin typeface="Cambria Math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TW" sz="2000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/>
                              </a:rPr>
                              <m:t>1−</m:t>
                            </m:r>
                            <m:r>
                              <a:rPr lang="en-US" altLang="zh-TW" sz="2000" i="1">
                                <a:latin typeface="Cambria Math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altLang="zh-TW" sz="2000" i="1">
                            <a:latin typeface="Cambria Math"/>
                          </a:rPr>
                          <m:t>𝑛</m:t>
                        </m:r>
                        <m:r>
                          <a:rPr lang="en-US" altLang="zh-TW" sz="2000" i="1">
                            <a:latin typeface="Cambria Math"/>
                          </a:rPr>
                          <m:t>−</m:t>
                        </m:r>
                        <m:r>
                          <a:rPr lang="en-US" altLang="zh-TW" sz="2000" i="1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endParaRPr lang="en-US" altLang="zh-TW" sz="2000" dirty="0"/>
              </a:p>
              <a:p>
                <a:pPr lvl="1">
                  <a:lnSpc>
                    <a:spcPct val="130000"/>
                  </a:lnSpc>
                  <a:buFont typeface="Arial" pitchFamily="34" charset="0"/>
                  <a:buChar char="•"/>
                </a:pPr>
                <a:r>
                  <a:rPr lang="en-US" altLang="zh-TW" sz="2000" dirty="0"/>
                  <a:t>We toss the coin 80 times, and it shows </a:t>
                </a:r>
                <a:r>
                  <a:rPr lang="en-US" altLang="zh-TW" sz="2000" dirty="0" smtClean="0"/>
                  <a:t>head 49 times.</a:t>
                </a:r>
                <a:endParaRPr lang="en-US" altLang="zh-TW" sz="2000" dirty="0"/>
              </a:p>
              <a:p>
                <a:pPr lvl="1">
                  <a:lnSpc>
                    <a:spcPct val="130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i="1" smtClean="0">
                        <a:solidFill>
                          <a:srgbClr val="FF0000"/>
                        </a:solidFill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𝐻</m:t>
                        </m:r>
                        <m: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=49|</m:t>
                        </m:r>
                        <m: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en-US" altLang="zh-TW" sz="20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8</m:t>
                              </m:r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49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𝑝</m:t>
                        </m:r>
                      </m:e>
                      <m:sup>
                        <m: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49</m:t>
                        </m:r>
                      </m:sup>
                    </m:sSup>
                    <m:sSup>
                      <m:sSupPr>
                        <m:ctrlP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1−</m:t>
                            </m:r>
                            <m:r>
                              <a:rPr lang="en-US" altLang="zh-TW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altLang="zh-TW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31</m:t>
                        </m:r>
                      </m:sup>
                    </m:sSup>
                  </m:oMath>
                </a14:m>
                <a:endParaRPr lang="en-US" altLang="zh-TW" sz="2000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30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/>
                          </a:rPr>
                          <m:t>𝜕</m:t>
                        </m:r>
                        <m:r>
                          <a:rPr lang="en-US" altLang="zh-TW" sz="2000" i="1">
                            <a:latin typeface="Cambria Math"/>
                          </a:rPr>
                          <m:t>𝐿</m:t>
                        </m:r>
                      </m:num>
                      <m:den>
                        <m:r>
                          <a:rPr lang="en-US" altLang="zh-TW" sz="2000" i="1">
                            <a:latin typeface="Cambria Math"/>
                          </a:rPr>
                          <m:t>𝜕</m:t>
                        </m:r>
                        <m:r>
                          <a:rPr lang="en-US" altLang="zh-TW" sz="2000" i="1">
                            <a:latin typeface="Cambria Math"/>
                          </a:rPr>
                          <m:t>𝑝</m:t>
                        </m:r>
                      </m:den>
                    </m:f>
                    <m:r>
                      <a:rPr lang="en-US" altLang="zh-TW" sz="2000" i="1">
                        <a:latin typeface="Cambria Math"/>
                        <a:ea typeface="Cambria Math"/>
                      </a:rPr>
                      <m:t>∝49</m:t>
                    </m:r>
                    <m:sSup>
                      <m:sSupPr>
                        <m:ctrlPr>
                          <a:rPr lang="en-US" altLang="zh-TW" sz="2000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p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48</m:t>
                        </m:r>
                      </m:sup>
                    </m:sSup>
                    <m:sSup>
                      <m:sSupPr>
                        <m:ctrlPr>
                          <a:rPr lang="en-US" altLang="zh-TW" sz="2000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000" i="1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/>
                                <a:ea typeface="Cambria Math"/>
                              </a:rPr>
                              <m:t>1−</m:t>
                            </m:r>
                            <m:r>
                              <a:rPr lang="en-US" altLang="zh-TW" sz="2000" i="1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31</m:t>
                        </m:r>
                      </m:sup>
                    </m:sSup>
                    <m:r>
                      <a:rPr lang="en-US" altLang="zh-TW" sz="2000" i="1">
                        <a:latin typeface="Cambria Math"/>
                        <a:ea typeface="Cambria Math"/>
                      </a:rPr>
                      <m:t>−31</m:t>
                    </m:r>
                    <m:sSup>
                      <m:sSupPr>
                        <m:ctrlPr>
                          <a:rPr lang="en-US" altLang="zh-TW" sz="2000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p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49</m:t>
                        </m:r>
                      </m:sup>
                    </m:sSup>
                    <m:sSup>
                      <m:sSupPr>
                        <m:ctrlPr>
                          <a:rPr lang="en-US" altLang="zh-TW" sz="2000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000" i="1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/>
                                <a:ea typeface="Cambria Math"/>
                              </a:rPr>
                              <m:t>1−</m:t>
                            </m:r>
                            <m:r>
                              <a:rPr lang="en-US" altLang="zh-TW" sz="2000" i="1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30</m:t>
                        </m:r>
                      </m:sup>
                    </m:sSup>
                    <m:r>
                      <a:rPr lang="en-US" altLang="zh-TW" sz="2000" i="1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altLang="zh-TW" sz="2000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p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48</m:t>
                        </m:r>
                      </m:sup>
                    </m:sSup>
                    <m:sSup>
                      <m:sSupPr>
                        <m:ctrlPr>
                          <a:rPr lang="en-US" altLang="zh-TW" sz="2000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000" i="1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/>
                                <a:ea typeface="Cambria Math"/>
                              </a:rPr>
                              <m:t>1−</m:t>
                            </m:r>
                            <m:r>
                              <a:rPr lang="en-US" altLang="zh-TW" sz="2000" i="1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30</m:t>
                        </m:r>
                      </m:sup>
                    </m:sSup>
                    <m:d>
                      <m:dPr>
                        <m:ctrlPr>
                          <a:rPr lang="en-US" altLang="zh-TW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49−80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altLang="zh-TW" sz="2000" dirty="0"/>
                  <a:t> </a:t>
                </a:r>
              </a:p>
              <a:p>
                <a:pPr lvl="1">
                  <a:lnSpc>
                    <a:spcPct val="130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/>
                      </a:rPr>
                      <m:t>∴</m:t>
                    </m:r>
                    <m:r>
                      <a:rPr lang="en-US" altLang="zh-TW" sz="2000" i="1">
                        <a:latin typeface="Cambria Math"/>
                      </a:rPr>
                      <m:t>𝑝</m:t>
                    </m:r>
                    <m:r>
                      <a:rPr lang="en-US" altLang="zh-TW" sz="2000" i="1">
                        <a:latin typeface="Cambria Math"/>
                      </a:rPr>
                      <m:t>=0, 1, </m:t>
                    </m:r>
                    <m:r>
                      <a:rPr lang="en-US" altLang="zh-TW" sz="2000" i="1">
                        <a:latin typeface="Cambria Math"/>
                      </a:rPr>
                      <m:t>𝑜𝑟</m:t>
                    </m:r>
                    <m:f>
                      <m:fPr>
                        <m:ctrlPr>
                          <a:rPr lang="en-US" altLang="zh-TW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/>
                          </a:rPr>
                          <m:t>49</m:t>
                        </m:r>
                      </m:num>
                      <m:den>
                        <m:r>
                          <a:rPr lang="en-US" altLang="zh-TW" sz="2000" i="1">
                            <a:latin typeface="Cambria Math"/>
                          </a:rPr>
                          <m:t>80</m:t>
                        </m:r>
                      </m:den>
                    </m:f>
                  </m:oMath>
                </a14:m>
                <a:endParaRPr lang="en-US" altLang="zh-TW" sz="2000" dirty="0"/>
              </a:p>
              <a:p>
                <a:pPr lvl="1">
                  <a:lnSpc>
                    <a:spcPct val="130000"/>
                  </a:lnSpc>
                  <a:buFont typeface="Arial" pitchFamily="34" charset="0"/>
                  <a:buChar char="•"/>
                </a:pPr>
                <a:r>
                  <a:rPr lang="en-US" altLang="zh-TW" sz="2000" dirty="0">
                    <a:solidFill>
                      <a:srgbClr val="FF0000"/>
                    </a:solidFill>
                  </a:rPr>
                  <a:t>MLE for p is 49/80</a:t>
                </a:r>
                <a:endParaRPr lang="zh-TW" altLang="en-US" sz="2000" dirty="0">
                  <a:solidFill>
                    <a:srgbClr val="FF0000"/>
                  </a:solidFill>
                </a:endParaRPr>
              </a:p>
              <a:p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340768"/>
                <a:ext cx="8856984" cy="5328592"/>
              </a:xfrm>
              <a:blipFill rotWithShape="1">
                <a:blip r:embed="rId2"/>
                <a:stretch>
                  <a:fillRect l="-9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170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Gibbs sampling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0808"/>
          </a:xfrm>
        </p:spPr>
        <p:txBody>
          <a:bodyPr/>
          <a:lstStyle/>
          <a:p>
            <a:r>
              <a:rPr lang="en-US" altLang="zh-TW" dirty="0"/>
              <a:t>A special case of MCMC (Monte Carlo Markov Chain)</a:t>
            </a:r>
          </a:p>
          <a:p>
            <a:r>
              <a:rPr lang="en-US" altLang="zh-TW" dirty="0"/>
              <a:t>To get </a:t>
            </a:r>
            <a:r>
              <a:rPr lang="en-US" altLang="zh-TW" dirty="0">
                <a:solidFill>
                  <a:srgbClr val="FF0000"/>
                </a:solidFill>
              </a:rPr>
              <a:t>joint distribution</a:t>
            </a:r>
            <a:r>
              <a:rPr lang="en-US" altLang="zh-TW" dirty="0"/>
              <a:t> of (X</a:t>
            </a:r>
            <a:r>
              <a:rPr lang="en-US" altLang="zh-TW" baseline="-25000" dirty="0"/>
              <a:t>1</a:t>
            </a:r>
            <a:r>
              <a:rPr lang="en-US" altLang="zh-TW" dirty="0"/>
              <a:t>,…,</a:t>
            </a:r>
            <a:r>
              <a:rPr lang="en-US" altLang="zh-TW" dirty="0" err="1"/>
              <a:t>X</a:t>
            </a:r>
            <a:r>
              <a:rPr lang="en-US" altLang="zh-TW" baseline="-25000" dirty="0" err="1"/>
              <a:t>k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544" y="3717032"/>
            <a:ext cx="84969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2400" dirty="0">
                <a:solidFill>
                  <a:srgbClr val="FF0000"/>
                </a:solidFill>
              </a:rPr>
              <a:t>Algorithm </a:t>
            </a:r>
            <a:r>
              <a:rPr lang="en-US" altLang="zh-TW" sz="2400" dirty="0" err="1">
                <a:solidFill>
                  <a:srgbClr val="FF0000"/>
                </a:solidFill>
              </a:rPr>
              <a:t>GibbsSampling</a:t>
            </a:r>
            <a:r>
              <a:rPr lang="en-US" altLang="zh-TW" sz="2400" dirty="0">
                <a:solidFill>
                  <a:srgbClr val="FF0000"/>
                </a:solidFill>
              </a:rPr>
              <a:t>(X</a:t>
            </a:r>
            <a:r>
              <a:rPr lang="en-US" altLang="zh-TW" sz="2400" baseline="-25000" dirty="0">
                <a:solidFill>
                  <a:srgbClr val="FF0000"/>
                </a:solidFill>
              </a:rPr>
              <a:t>1</a:t>
            </a:r>
            <a:r>
              <a:rPr lang="en-US" altLang="zh-TW" sz="2400" dirty="0">
                <a:solidFill>
                  <a:srgbClr val="FF0000"/>
                </a:solidFill>
              </a:rPr>
              <a:t>,...,</a:t>
            </a:r>
            <a:r>
              <a:rPr lang="en-US" altLang="zh-TW" sz="2400" dirty="0" err="1">
                <a:solidFill>
                  <a:srgbClr val="FF0000"/>
                </a:solidFill>
              </a:rPr>
              <a:t>X</a:t>
            </a:r>
            <a:r>
              <a:rPr lang="en-US" altLang="zh-TW" sz="2400" baseline="-25000" dirty="0" err="1">
                <a:solidFill>
                  <a:srgbClr val="FF0000"/>
                </a:solidFill>
              </a:rPr>
              <a:t>k</a:t>
            </a:r>
            <a:r>
              <a:rPr lang="en-US" altLang="zh-TW" sz="2400" dirty="0">
                <a:solidFill>
                  <a:srgbClr val="FF0000"/>
                </a:solidFill>
              </a:rPr>
              <a:t>)</a:t>
            </a:r>
            <a:br>
              <a:rPr lang="en-US" altLang="zh-TW" sz="2400" dirty="0">
                <a:solidFill>
                  <a:srgbClr val="FF0000"/>
                </a:solidFill>
              </a:rPr>
            </a:br>
            <a:r>
              <a:rPr lang="zh-TW" altLang="en-US" sz="2400" dirty="0"/>
              <a:t>　</a:t>
            </a:r>
            <a:r>
              <a:rPr lang="en-US" altLang="zh-TW" sz="2400" dirty="0" smtClean="0"/>
              <a:t>for </a:t>
            </a:r>
            <a:r>
              <a:rPr lang="en-US" altLang="zh-TW" sz="2400" dirty="0" err="1"/>
              <a:t>i</a:t>
            </a:r>
            <a:r>
              <a:rPr lang="en-US" altLang="zh-TW" sz="2400" dirty="0"/>
              <a:t> = 1 to </a:t>
            </a:r>
            <a:r>
              <a:rPr lang="en-US" altLang="zh-TW" sz="2400" dirty="0" smtClean="0"/>
              <a:t>N   #num. of examples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zh-TW" altLang="en-US" sz="2400" dirty="0"/>
              <a:t>　　</a:t>
            </a:r>
            <a:r>
              <a:rPr lang="en-US" altLang="zh-TW" sz="2400" dirty="0"/>
              <a:t>for j = 1 to K</a:t>
            </a:r>
            <a:br>
              <a:rPr lang="en-US" altLang="zh-TW" sz="2400" dirty="0"/>
            </a:br>
            <a:r>
              <a:rPr lang="zh-TW" altLang="en-US" sz="2400" dirty="0"/>
              <a:t>　　</a:t>
            </a:r>
            <a:r>
              <a:rPr lang="en-US" altLang="zh-TW" sz="2400" dirty="0" err="1"/>
              <a:t>X</a:t>
            </a:r>
            <a:r>
              <a:rPr lang="en-US" altLang="zh-TW" sz="2400" baseline="-25000" dirty="0" err="1"/>
              <a:t>j</a:t>
            </a:r>
            <a:r>
              <a:rPr lang="en-US" altLang="zh-TW" sz="2400" dirty="0"/>
              <a:t> = generate sample from P(X</a:t>
            </a:r>
            <a:r>
              <a:rPr lang="en-US" altLang="zh-TW" sz="2400" baseline="-25000" dirty="0"/>
              <a:t>i</a:t>
            </a:r>
            <a:r>
              <a:rPr lang="en-US" altLang="zh-TW" sz="2400" dirty="0"/>
              <a:t>|X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,...,X</a:t>
            </a:r>
            <a:r>
              <a:rPr lang="en-US" altLang="zh-TW" sz="2400" baseline="-25000" dirty="0"/>
              <a:t>j−1</a:t>
            </a:r>
            <a:r>
              <a:rPr lang="en-US" altLang="zh-TW" sz="2400" dirty="0"/>
              <a:t>,X</a:t>
            </a:r>
            <a:r>
              <a:rPr lang="en-US" altLang="zh-TW" sz="2400" baseline="-25000" dirty="0"/>
              <a:t>j+1</a:t>
            </a:r>
            <a:r>
              <a:rPr lang="en-US" altLang="zh-TW" sz="2400" dirty="0"/>
              <a:t>,...,</a:t>
            </a:r>
            <a:r>
              <a:rPr lang="en-US" altLang="zh-TW" sz="2400" dirty="0" err="1"/>
              <a:t>X</a:t>
            </a:r>
            <a:r>
              <a:rPr lang="en-US" altLang="zh-TW" sz="2400" baseline="-25000" dirty="0" err="1"/>
              <a:t>k</a:t>
            </a:r>
            <a:r>
              <a:rPr lang="en-US" altLang="zh-TW" sz="2400" dirty="0"/>
              <a:t>)</a:t>
            </a:r>
            <a:br>
              <a:rPr lang="en-US" altLang="zh-TW" sz="2400" dirty="0"/>
            </a:br>
            <a:r>
              <a:rPr lang="zh-TW" altLang="en-US" sz="2400" dirty="0"/>
              <a:t>　</a:t>
            </a:r>
            <a:r>
              <a:rPr lang="en-US" altLang="zh-TW" sz="2400" dirty="0"/>
              <a:t>calculate P(X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,...,</a:t>
            </a:r>
            <a:r>
              <a:rPr lang="en-US" altLang="zh-TW" sz="2400" dirty="0" err="1"/>
              <a:t>X</a:t>
            </a:r>
            <a:r>
              <a:rPr lang="en-US" altLang="zh-TW" sz="2400" baseline="-25000" dirty="0" err="1"/>
              <a:t>k</a:t>
            </a:r>
            <a:r>
              <a:rPr lang="en-US" altLang="zh-TW" sz="2400" dirty="0"/>
              <a:t>)</a:t>
            </a:r>
            <a:br>
              <a:rPr lang="en-US" altLang="zh-TW" sz="2400" dirty="0"/>
            </a:br>
            <a:r>
              <a:rPr lang="en-US" altLang="zh-TW" sz="2400" dirty="0"/>
              <a:t>End Algorithms</a:t>
            </a:r>
            <a:endParaRPr lang="zh-TW" altLang="en-US" sz="2400" dirty="0"/>
          </a:p>
          <a:p>
            <a:endParaRPr lang="zh-TW" altLang="en-US" sz="24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467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A223B-E5EE-41A4-B4BC-B70967D07105}" type="slidenum">
              <a:rPr lang="zh-TW" altLang="en-US" smtClean="0"/>
              <a:t>20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67544" y="404664"/>
                <a:ext cx="8352928" cy="2099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𝑘</m:t>
                      </m:r>
                      <m:sSup>
                        <m:sSupPr>
                          <m:ctrlP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altLang="zh-TW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+2</m:t>
                              </m:r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−4</m:t>
                              </m:r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, 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&gt;0 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∈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ℝ</m:t>
                      </m:r>
                    </m:oMath>
                  </m:oMathPara>
                </a14:m>
                <a:endParaRPr lang="en-US" altLang="zh-TW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𝑥</m:t>
                      </m:r>
                      <m:r>
                        <a:rPr lang="en-US" altLang="zh-TW" b="0" i="1" smtClean="0">
                          <a:latin typeface="Cambria Math"/>
                        </a:rPr>
                        <m:t>|</m:t>
                      </m:r>
                      <m:r>
                        <a:rPr lang="en-US" altLang="zh-TW" b="0" i="1" smtClean="0">
                          <a:latin typeface="Cambria Math"/>
                        </a:rPr>
                        <m:t>𝑦</m:t>
                      </m:r>
                      <m:r>
                        <a:rPr lang="en-US" altLang="zh-TW" b="0" i="1" smtClean="0">
                          <a:latin typeface="Cambria Math"/>
                        </a:rPr>
                        <m:t>~</m:t>
                      </m:r>
                      <m:r>
                        <a:rPr lang="en-US" altLang="zh-TW" b="0" i="1" smtClean="0">
                          <a:latin typeface="Cambria Math"/>
                        </a:rPr>
                        <m:t>𝐺𝑎𝑚𝑚𝑎</m:t>
                      </m:r>
                      <m:r>
                        <a:rPr lang="en-US" altLang="zh-TW" b="0" i="1" smtClean="0">
                          <a:latin typeface="Cambria Math"/>
                        </a:rPr>
                        <m:t>(3, 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/>
                        </a:rPr>
                        <m:t>+4)</m:t>
                      </m:r>
                    </m:oMath>
                  </m:oMathPara>
                </a14:m>
                <a:endParaRPr lang="en-US" altLang="zh-TW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𝑦</m:t>
                      </m:r>
                      <m:r>
                        <a:rPr lang="en-US" altLang="zh-TW" b="0" i="1" smtClean="0">
                          <a:latin typeface="Cambria Math"/>
                        </a:rPr>
                        <m:t>|</m:t>
                      </m:r>
                      <m:r>
                        <a:rPr lang="en-US" altLang="zh-TW" b="0" i="1" smtClean="0">
                          <a:latin typeface="Cambria Math"/>
                        </a:rPr>
                        <m:t>𝑥</m:t>
                      </m:r>
                      <m:r>
                        <a:rPr lang="en-US" altLang="zh-TW" b="0" i="1" smtClean="0">
                          <a:latin typeface="Cambria Math"/>
                        </a:rPr>
                        <m:t>~</m:t>
                      </m:r>
                      <m:r>
                        <a:rPr lang="en-US" altLang="zh-TW" b="0" i="1" smtClean="0"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b="0" i="1" smtClean="0">
                                  <a:latin typeface="Cambria Math"/>
                                </a:rPr>
                                <m:t>1+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b="0" i="1" smtClean="0">
                                  <a:latin typeface="Cambria Math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1+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r>
                  <a:rPr lang="en-US" altLang="zh-TW" dirty="0"/>
                  <a:t>We will run a Gibbs sampler with a thin of 1000 and obtain a final sample of 50000</a:t>
                </a:r>
                <a:r>
                  <a:rPr lang="en-US" altLang="zh-TW" dirty="0" smtClean="0"/>
                  <a:t>.</a:t>
                </a:r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04664"/>
                <a:ext cx="8352928" cy="2099677"/>
              </a:xfrm>
              <a:prstGeom prst="rect">
                <a:avLst/>
              </a:prstGeom>
              <a:blipFill rotWithShape="1">
                <a:blip r:embed="rId2"/>
                <a:stretch>
                  <a:fillRect l="-6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1321" y="1931156"/>
            <a:ext cx="8639151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矩形 18"/>
          <p:cNvSpPr/>
          <p:nvPr/>
        </p:nvSpPr>
        <p:spPr>
          <a:xfrm>
            <a:off x="247345" y="6241093"/>
            <a:ext cx="88924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4"/>
              </a:rPr>
              <a:t>http://darrenjw.wordpress.com/2011/07/16/gibbs-sampler-in-various-languages-revisited</a:t>
            </a:r>
            <a:r>
              <a:rPr lang="en-US" altLang="zh-TW" dirty="0" smtClean="0">
                <a:hlinkClick r:id="rId4"/>
              </a:rPr>
              <a:t>/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471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Contrastive divergence (CD-k)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902337" y="1340768"/>
            <a:ext cx="71287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/>
              <a:t>Hinton, G. E. </a:t>
            </a:r>
            <a:r>
              <a:rPr lang="en-US" altLang="zh-TW" sz="1400" dirty="0" smtClean="0"/>
              <a:t>,”</a:t>
            </a:r>
            <a:r>
              <a:rPr lang="en-US" altLang="zh-TW" sz="1400" b="1" dirty="0" smtClean="0"/>
              <a:t>Training </a:t>
            </a:r>
            <a:r>
              <a:rPr lang="en-US" altLang="zh-TW" sz="1400" b="1" dirty="0"/>
              <a:t>Products of Experts by Minimizing Contrastive </a:t>
            </a:r>
            <a:r>
              <a:rPr lang="en-US" altLang="zh-TW" sz="1400" b="1" dirty="0" smtClean="0"/>
              <a:t>Divergence,” </a:t>
            </a:r>
            <a:r>
              <a:rPr lang="en-US" altLang="zh-TW" sz="1400" dirty="0" smtClean="0"/>
              <a:t>Neural </a:t>
            </a:r>
            <a:r>
              <a:rPr lang="en-US" altLang="zh-TW" sz="1400" dirty="0"/>
              <a:t>Computation, </a:t>
            </a:r>
            <a:r>
              <a:rPr lang="en-US" altLang="zh-TW" sz="1400" dirty="0" smtClean="0"/>
              <a:t>Vol. 14</a:t>
            </a:r>
            <a:r>
              <a:rPr lang="en-US" altLang="zh-TW" sz="1400" dirty="0"/>
              <a:t>, </a:t>
            </a:r>
            <a:r>
              <a:rPr lang="en-US" altLang="zh-TW" sz="1400" dirty="0" smtClean="0"/>
              <a:t>pp. 1771-1800, 2002.</a:t>
            </a:r>
            <a:r>
              <a:rPr lang="en-US" altLang="zh-TW" sz="1400" dirty="0"/>
              <a:t> </a:t>
            </a:r>
            <a:endParaRPr lang="zh-TW" altLang="en-US" sz="1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217"/>
          <a:stretch/>
        </p:blipFill>
        <p:spPr bwMode="auto">
          <a:xfrm>
            <a:off x="85233" y="2204864"/>
            <a:ext cx="4381500" cy="164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924944"/>
            <a:ext cx="4081091" cy="784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4355976" y="2060848"/>
            <a:ext cx="36751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有</a:t>
            </a:r>
            <a:r>
              <a:rPr lang="en-US" altLang="zh-TW" i="1" dirty="0" smtClean="0"/>
              <a:t>n</a:t>
            </a:r>
            <a:r>
              <a:rPr lang="zh-TW" altLang="en-US" dirty="0" smtClean="0"/>
              <a:t>個</a:t>
            </a:r>
            <a:r>
              <a:rPr lang="en-US" altLang="zh-TW" dirty="0" smtClean="0"/>
              <a:t>experts (hidden units)</a:t>
            </a:r>
            <a:r>
              <a:rPr lang="zh-TW" altLang="en-US" dirty="0" smtClean="0"/>
              <a:t>，第 </a:t>
            </a:r>
            <a:r>
              <a:rPr lang="en-US" altLang="zh-TW" i="1" dirty="0" err="1" smtClean="0"/>
              <a:t>i</a:t>
            </a:r>
            <a:r>
              <a:rPr lang="zh-TW" altLang="en-US" dirty="0" smtClean="0"/>
              <a:t>個</a:t>
            </a:r>
            <a:r>
              <a:rPr lang="en-US" altLang="zh-TW" dirty="0" smtClean="0"/>
              <a:t>pert</a:t>
            </a:r>
            <a:r>
              <a:rPr lang="zh-TW" altLang="en-US" dirty="0" smtClean="0"/>
              <a:t>的參數為</a:t>
            </a:r>
            <a:r>
              <a:rPr lang="az-Cyrl-AZ" altLang="zh-TW" i="1" dirty="0" smtClean="0">
                <a:latin typeface="Times New Roman"/>
                <a:cs typeface="Times New Roman"/>
              </a:rPr>
              <a:t>Ө</a:t>
            </a:r>
            <a:r>
              <a:rPr lang="en-US" altLang="zh-TW" i="1" baseline="-25000" dirty="0" err="1" smtClean="0">
                <a:latin typeface="Times New Roman"/>
                <a:cs typeface="Times New Roman"/>
              </a:rPr>
              <a:t>i</a:t>
            </a:r>
            <a:r>
              <a:rPr lang="en-US" altLang="zh-TW" dirty="0" smtClean="0">
                <a:latin typeface="Times New Roman"/>
                <a:cs typeface="Times New Roman"/>
              </a:rPr>
              <a:t>. c</a:t>
            </a:r>
            <a:r>
              <a:rPr lang="zh-TW" altLang="en-US" dirty="0" smtClean="0">
                <a:latin typeface="Times New Roman"/>
                <a:cs typeface="Times New Roman"/>
              </a:rPr>
              <a:t>為在</a:t>
            </a:r>
            <a:r>
              <a:rPr lang="en-US" altLang="zh-TW" dirty="0" smtClean="0">
                <a:latin typeface="Times New Roman"/>
                <a:cs typeface="Times New Roman"/>
              </a:rPr>
              <a:t>data space</a:t>
            </a:r>
            <a:r>
              <a:rPr lang="zh-TW" altLang="en-US" dirty="0" smtClean="0">
                <a:latin typeface="Times New Roman"/>
                <a:cs typeface="Times New Roman"/>
              </a:rPr>
              <a:t>中所有的組合。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25347" y="4196986"/>
            <a:ext cx="76057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Log-likelihood for </a:t>
            </a:r>
            <a:r>
              <a:rPr lang="en-US" altLang="zh-TW" sz="2400" dirty="0" err="1" smtClean="0"/>
              <a:t>i.i.d</a:t>
            </a:r>
            <a:r>
              <a:rPr lang="en-US" altLang="zh-TW" sz="2400" dirty="0" smtClean="0"/>
              <a:t>. observed data vector </a:t>
            </a:r>
            <a:r>
              <a:rPr lang="en-US" altLang="zh-TW" sz="2400" b="1" i="1" dirty="0" smtClean="0"/>
              <a:t>d</a:t>
            </a:r>
            <a:r>
              <a:rPr lang="en-US" altLang="zh-TW" sz="2400" dirty="0" smtClean="0"/>
              <a:t>:</a:t>
            </a:r>
          </a:p>
          <a:p>
            <a:endParaRPr lang="zh-TW" altLang="en-US" sz="24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11" y="4797152"/>
            <a:ext cx="8024444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3563888" y="4797152"/>
            <a:ext cx="2088232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4385630" y="5661248"/>
            <a:ext cx="2010891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圖說文字 8"/>
          <p:cNvSpPr/>
          <p:nvPr/>
        </p:nvSpPr>
        <p:spPr>
          <a:xfrm>
            <a:off x="6482957" y="4196986"/>
            <a:ext cx="2553539" cy="576064"/>
          </a:xfrm>
          <a:prstGeom prst="wedgeRoundRectCallout">
            <a:avLst>
              <a:gd name="adj1" fmla="val -74827"/>
              <a:gd name="adj2" fmla="val 87516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Easily get from energy function</a:t>
            </a:r>
            <a:endParaRPr lang="zh-TW" altLang="en-US" sz="2000" dirty="0"/>
          </a:p>
        </p:txBody>
      </p:sp>
      <p:sp>
        <p:nvSpPr>
          <p:cNvPr id="14" name="圓角矩形圖說文字 13"/>
          <p:cNvSpPr/>
          <p:nvPr/>
        </p:nvSpPr>
        <p:spPr>
          <a:xfrm>
            <a:off x="323528" y="5662777"/>
            <a:ext cx="2850509" cy="936104"/>
          </a:xfrm>
          <a:prstGeom prst="wedgeRoundRectCallout">
            <a:avLst>
              <a:gd name="adj1" fmla="val 87952"/>
              <a:gd name="adj2" fmla="val -4366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Unknown, but we can get it by Gibbs sampling.</a:t>
            </a:r>
            <a:endParaRPr lang="zh-TW" altLang="en-US" sz="2000" dirty="0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535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MLE = minimize KL divergence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628800"/>
            <a:ext cx="5462064" cy="1266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241331"/>
            <a:ext cx="2527124" cy="459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27584" y="2945032"/>
                <a:ext cx="8064896" cy="1204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US" altLang="zh-TW" b="0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the distribution of observed data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𝜃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∞</m:t>
                        </m:r>
                      </m:sup>
                    </m:sSubSup>
                    <m:r>
                      <a:rPr lang="en-US" altLang="zh-TW" b="0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the real distribution of data, get from Gibbs sampling,</a:t>
                </a:r>
              </a:p>
              <a:p>
                <a:pPr marL="285750" indent="-285750" algn="ctr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𝜃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∞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altLang="zh-TW" i="1">
                        <a:latin typeface="Cambria Math"/>
                      </a:rPr>
                      <m:t>≔</m:t>
                    </m:r>
                    <m:r>
                      <a:rPr lang="en-US" altLang="zh-TW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𝑑</m:t>
                        </m:r>
                        <m:r>
                          <a:rPr lang="en-US" altLang="zh-TW" i="1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 smtClean="0"/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⋅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en-US" altLang="zh-TW" dirty="0" smtClean="0"/>
                  <a:t>expected value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945032"/>
                <a:ext cx="8064896" cy="1204048"/>
              </a:xfrm>
              <a:prstGeom prst="rect">
                <a:avLst/>
              </a:prstGeom>
              <a:blipFill rotWithShape="1">
                <a:blip r:embed="rId4"/>
                <a:stretch>
                  <a:fillRect l="-529" t="-2525" b="-70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761" y="4446703"/>
            <a:ext cx="4906807" cy="1048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308" y="5526115"/>
            <a:ext cx="6276950" cy="1061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向右箭號 6"/>
          <p:cNvSpPr/>
          <p:nvPr/>
        </p:nvSpPr>
        <p:spPr>
          <a:xfrm>
            <a:off x="764892" y="5874150"/>
            <a:ext cx="792088" cy="3656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39552" y="4971021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Expectation is linear operator.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87824" y="2492896"/>
            <a:ext cx="792088" cy="402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圖說文字 12"/>
          <p:cNvSpPr/>
          <p:nvPr/>
        </p:nvSpPr>
        <p:spPr>
          <a:xfrm>
            <a:off x="358920" y="2261855"/>
            <a:ext cx="2124848" cy="683177"/>
          </a:xfrm>
          <a:prstGeom prst="wedgeRectCallout">
            <a:avLst>
              <a:gd name="adj1" fmla="val 67113"/>
              <a:gd name="adj2" fmla="val -254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latin typeface="Times New Roman"/>
                <a:cs typeface="Times New Roman"/>
              </a:rPr>
              <a:t>與</a:t>
            </a:r>
            <a:r>
              <a:rPr lang="az-Cyrl-AZ" altLang="zh-TW" dirty="0" smtClean="0">
                <a:latin typeface="Times New Roman"/>
                <a:cs typeface="Times New Roman"/>
              </a:rPr>
              <a:t>Ө</a:t>
            </a:r>
            <a:r>
              <a:rPr lang="zh-TW" altLang="en-US" dirty="0" smtClean="0">
                <a:latin typeface="Times New Roman"/>
                <a:cs typeface="Times New Roman"/>
              </a:rPr>
              <a:t>無關，最佳化時不需考慮</a:t>
            </a:r>
            <a:r>
              <a:rPr lang="en-US" altLang="zh-TW" dirty="0" smtClean="0">
                <a:latin typeface="Times New Roman"/>
                <a:cs typeface="Times New Roman"/>
              </a:rPr>
              <a:t>entropy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300192" y="4444070"/>
                <a:ext cx="23109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𝜃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altLang="zh-TW" i="1">
                          <a:latin typeface="Cambria Math"/>
                        </a:rPr>
                        <m:t> ≔</m:t>
                      </m:r>
                      <m:r>
                        <a:rPr lang="en-US" altLang="zh-TW" i="1">
                          <a:latin typeface="Cambria Math"/>
                        </a:rPr>
                        <m:t>𝑙𝑜𝑔</m:t>
                      </m:r>
                      <m:sSub>
                        <m:sSub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/>
                            </a:rPr>
                            <m:t>𝐷</m:t>
                          </m:r>
                          <m:r>
                            <a:rPr lang="en-US" altLang="zh-TW" i="1">
                              <a:latin typeface="Cambria Math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4444070"/>
                <a:ext cx="2310954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83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88640"/>
            <a:ext cx="5484862" cy="927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1475656" y="254430"/>
            <a:ext cx="2016224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圖說文字 6"/>
          <p:cNvSpPr/>
          <p:nvPr/>
        </p:nvSpPr>
        <p:spPr>
          <a:xfrm>
            <a:off x="971600" y="1484783"/>
            <a:ext cx="2304256" cy="1053005"/>
          </a:xfrm>
          <a:prstGeom prst="wedgeRectCallout">
            <a:avLst>
              <a:gd name="adj1" fmla="val 20205"/>
              <a:gd name="adj2" fmla="val -6397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資料</a:t>
            </a:r>
            <a:r>
              <a:rPr lang="en-US" altLang="zh-TW" dirty="0" smtClean="0"/>
              <a:t>D</a:t>
            </a:r>
            <a:r>
              <a:rPr lang="zh-TW" altLang="en-US" dirty="0"/>
              <a:t>之</a:t>
            </a:r>
            <a:r>
              <a:rPr lang="zh-TW" altLang="en-US" dirty="0" smtClean="0"/>
              <a:t>分佈的</a:t>
            </a:r>
            <a:r>
              <a:rPr lang="en-US" altLang="zh-TW" dirty="0" smtClean="0"/>
              <a:t>Log-likelihood</a:t>
            </a:r>
            <a:r>
              <a:rPr lang="zh-TW" altLang="en-US" dirty="0" smtClean="0"/>
              <a:t>對參數</a:t>
            </a:r>
            <a:r>
              <a:rPr lang="az-Cyrl-AZ" altLang="zh-TW" dirty="0" smtClean="0">
                <a:latin typeface="Times New Roman"/>
                <a:cs typeface="Times New Roman"/>
              </a:rPr>
              <a:t>Ө</a:t>
            </a:r>
            <a:r>
              <a:rPr lang="en-US" altLang="zh-TW" baseline="-25000" dirty="0" smtClean="0">
                <a:latin typeface="Times New Roman"/>
                <a:cs typeface="Times New Roman"/>
              </a:rPr>
              <a:t>m</a:t>
            </a:r>
            <a:r>
              <a:rPr lang="en-US" altLang="zh-TW" dirty="0" smtClean="0">
                <a:latin typeface="Times New Roman"/>
                <a:cs typeface="Times New Roman"/>
              </a:rPr>
              <a:t> </a:t>
            </a:r>
            <a:r>
              <a:rPr lang="zh-TW" altLang="en-US" dirty="0" smtClean="0">
                <a:latin typeface="Times New Roman"/>
                <a:cs typeface="Times New Roman"/>
              </a:rPr>
              <a:t>的期望變化量</a:t>
            </a:r>
            <a:endParaRPr lang="zh-TW" altLang="en-US" dirty="0"/>
          </a:p>
        </p:txBody>
      </p:sp>
      <p:sp>
        <p:nvSpPr>
          <p:cNvPr id="8" name="矩形圖說文字 7"/>
          <p:cNvSpPr/>
          <p:nvPr/>
        </p:nvSpPr>
        <p:spPr>
          <a:xfrm>
            <a:off x="3851920" y="1565155"/>
            <a:ext cx="2376264" cy="1143765"/>
          </a:xfrm>
          <a:prstGeom prst="wedgeRectCallout">
            <a:avLst>
              <a:gd name="adj1" fmla="val -30167"/>
              <a:gd name="adj2" fmla="val -81974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資料</a:t>
            </a:r>
            <a:r>
              <a:rPr lang="en-US" altLang="zh-TW" dirty="0"/>
              <a:t>D</a:t>
            </a:r>
            <a:r>
              <a:rPr lang="zh-TW" altLang="en-US" dirty="0" smtClean="0"/>
              <a:t>之在第</a:t>
            </a:r>
            <a:r>
              <a:rPr lang="en-US" altLang="zh-TW" dirty="0" smtClean="0"/>
              <a:t>m</a:t>
            </a:r>
            <a:r>
              <a:rPr lang="zh-TW" altLang="en-US" dirty="0" smtClean="0"/>
              <a:t>個模型使用參數</a:t>
            </a:r>
            <a:r>
              <a:rPr lang="az-Cyrl-AZ" altLang="zh-TW" dirty="0">
                <a:latin typeface="Times New Roman"/>
                <a:cs typeface="Times New Roman"/>
              </a:rPr>
              <a:t>Ө</a:t>
            </a:r>
            <a:r>
              <a:rPr lang="en-US" altLang="zh-TW" baseline="-25000" dirty="0">
                <a:latin typeface="Times New Roman"/>
                <a:cs typeface="Times New Roman"/>
              </a:rPr>
              <a:t>m</a:t>
            </a:r>
            <a:r>
              <a:rPr lang="en-US" altLang="zh-TW" dirty="0">
                <a:latin typeface="Times New Roman"/>
                <a:cs typeface="Times New Roman"/>
              </a:rPr>
              <a:t> </a:t>
            </a:r>
            <a:r>
              <a:rPr lang="zh-TW" altLang="en-US" dirty="0" smtClean="0">
                <a:latin typeface="Times New Roman"/>
                <a:cs typeface="Times New Roman"/>
              </a:rPr>
              <a:t>時之</a:t>
            </a:r>
            <a:r>
              <a:rPr lang="en-US" altLang="zh-TW" dirty="0" smtClean="0">
                <a:latin typeface="Times New Roman"/>
                <a:cs typeface="Times New Roman"/>
              </a:rPr>
              <a:t>log-likelihood </a:t>
            </a:r>
            <a:r>
              <a:rPr lang="zh-TW" altLang="en-US" dirty="0" smtClean="0">
                <a:latin typeface="Times New Roman"/>
                <a:cs typeface="Times New Roman"/>
              </a:rPr>
              <a:t>對</a:t>
            </a:r>
            <a:r>
              <a:rPr lang="zh-TW" altLang="en-US" dirty="0"/>
              <a:t>參數</a:t>
            </a:r>
            <a:r>
              <a:rPr lang="az-Cyrl-AZ" altLang="zh-TW" dirty="0">
                <a:latin typeface="Times New Roman"/>
                <a:cs typeface="Times New Roman"/>
              </a:rPr>
              <a:t>Ө</a:t>
            </a:r>
            <a:r>
              <a:rPr lang="en-US" altLang="zh-TW" baseline="-25000" dirty="0">
                <a:latin typeface="Times New Roman"/>
                <a:cs typeface="Times New Roman"/>
              </a:rPr>
              <a:t>m</a:t>
            </a:r>
            <a:r>
              <a:rPr lang="zh-TW" altLang="en-US" dirty="0" smtClean="0">
                <a:latin typeface="Times New Roman"/>
                <a:cs typeface="Times New Roman"/>
              </a:rPr>
              <a:t>的</a:t>
            </a:r>
            <a:r>
              <a:rPr lang="en-US" altLang="zh-TW" dirty="0" smtClean="0">
                <a:latin typeface="Times New Roman"/>
                <a:cs typeface="Times New Roman"/>
              </a:rPr>
              <a:t>(empirical)</a:t>
            </a:r>
            <a:r>
              <a:rPr lang="zh-TW" altLang="en-US" dirty="0" smtClean="0">
                <a:latin typeface="Times New Roman"/>
                <a:cs typeface="Times New Roman"/>
              </a:rPr>
              <a:t>期望</a:t>
            </a:r>
            <a:r>
              <a:rPr lang="zh-TW" altLang="en-US" dirty="0">
                <a:latin typeface="Times New Roman"/>
                <a:cs typeface="Times New Roman"/>
              </a:rPr>
              <a:t>變化量</a:t>
            </a:r>
            <a:endParaRPr lang="zh-TW" altLang="en-US" dirty="0"/>
          </a:p>
        </p:txBody>
      </p:sp>
      <p:sp>
        <p:nvSpPr>
          <p:cNvPr id="9" name="矩形圖說文字 8"/>
          <p:cNvSpPr/>
          <p:nvPr/>
        </p:nvSpPr>
        <p:spPr>
          <a:xfrm>
            <a:off x="6588224" y="1565155"/>
            <a:ext cx="2376264" cy="1143765"/>
          </a:xfrm>
          <a:prstGeom prst="wedgeRectCallout">
            <a:avLst>
              <a:gd name="adj1" fmla="val -65832"/>
              <a:gd name="adj2" fmla="val -8587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資料</a:t>
            </a:r>
            <a:r>
              <a:rPr lang="en-US" altLang="zh-TW" dirty="0"/>
              <a:t>D</a:t>
            </a:r>
            <a:r>
              <a:rPr lang="zh-TW" altLang="en-US" dirty="0" smtClean="0"/>
              <a:t>之在第</a:t>
            </a:r>
            <a:r>
              <a:rPr lang="en-US" altLang="zh-TW" dirty="0" smtClean="0"/>
              <a:t>m</a:t>
            </a:r>
            <a:r>
              <a:rPr lang="zh-TW" altLang="en-US" dirty="0" smtClean="0"/>
              <a:t>個模型使用參數</a:t>
            </a:r>
            <a:r>
              <a:rPr lang="az-Cyrl-AZ" altLang="zh-TW" dirty="0">
                <a:latin typeface="Times New Roman"/>
                <a:cs typeface="Times New Roman"/>
              </a:rPr>
              <a:t>Ө</a:t>
            </a:r>
            <a:r>
              <a:rPr lang="en-US" altLang="zh-TW" baseline="-25000" dirty="0">
                <a:latin typeface="Times New Roman"/>
                <a:cs typeface="Times New Roman"/>
              </a:rPr>
              <a:t>m</a:t>
            </a:r>
            <a:r>
              <a:rPr lang="en-US" altLang="zh-TW" dirty="0">
                <a:latin typeface="Times New Roman"/>
                <a:cs typeface="Times New Roman"/>
              </a:rPr>
              <a:t> </a:t>
            </a:r>
            <a:r>
              <a:rPr lang="zh-TW" altLang="en-US" dirty="0" smtClean="0">
                <a:latin typeface="Times New Roman"/>
                <a:cs typeface="Times New Roman"/>
              </a:rPr>
              <a:t>時之</a:t>
            </a:r>
            <a:r>
              <a:rPr lang="en-US" altLang="zh-TW" dirty="0" smtClean="0">
                <a:latin typeface="Times New Roman"/>
                <a:cs typeface="Times New Roman"/>
              </a:rPr>
              <a:t>log-likelihood </a:t>
            </a:r>
            <a:r>
              <a:rPr lang="zh-TW" altLang="en-US" dirty="0" smtClean="0">
                <a:latin typeface="Times New Roman"/>
                <a:cs typeface="Times New Roman"/>
              </a:rPr>
              <a:t>對</a:t>
            </a:r>
            <a:r>
              <a:rPr lang="zh-TW" altLang="en-US" dirty="0"/>
              <a:t>參數</a:t>
            </a:r>
            <a:r>
              <a:rPr lang="az-Cyrl-AZ" altLang="zh-TW" dirty="0">
                <a:latin typeface="Times New Roman"/>
                <a:cs typeface="Times New Roman"/>
              </a:rPr>
              <a:t>Ө</a:t>
            </a:r>
            <a:r>
              <a:rPr lang="en-US" altLang="zh-TW" baseline="-25000" dirty="0">
                <a:latin typeface="Times New Roman"/>
                <a:cs typeface="Times New Roman"/>
              </a:rPr>
              <a:t>m</a:t>
            </a:r>
            <a:r>
              <a:rPr lang="zh-TW" altLang="en-US" dirty="0" smtClean="0">
                <a:latin typeface="Times New Roman"/>
                <a:cs typeface="Times New Roman"/>
              </a:rPr>
              <a:t>的</a:t>
            </a:r>
            <a:r>
              <a:rPr lang="en-US" altLang="zh-TW" dirty="0" smtClean="0">
                <a:latin typeface="Times New Roman"/>
                <a:cs typeface="Times New Roman"/>
              </a:rPr>
              <a:t>(real)</a:t>
            </a:r>
            <a:r>
              <a:rPr lang="zh-TW" altLang="en-US" dirty="0" smtClean="0">
                <a:latin typeface="Times New Roman"/>
                <a:cs typeface="Times New Roman"/>
              </a:rPr>
              <a:t>期望</a:t>
            </a:r>
            <a:r>
              <a:rPr lang="zh-TW" altLang="en-US" dirty="0">
                <a:latin typeface="Times New Roman"/>
                <a:cs typeface="Times New Roman"/>
              </a:rPr>
              <a:t>變化量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539552" y="2852936"/>
                <a:ext cx="8352928" cy="3214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:r>
                  <a:rPr lang="en-US" altLang="zh-TW" b="1" dirty="0" smtClean="0">
                    <a:solidFill>
                      <a:srgbClr val="FF0000"/>
                    </a:solidFill>
                    <a:latin typeface="標楷體" pitchFamily="65" charset="-120"/>
                    <a:ea typeface="標楷體" pitchFamily="65" charset="-120"/>
                  </a:rPr>
                  <a:t>Goal</a:t>
                </a:r>
                <a:r>
                  <a:rPr lang="en-US" altLang="zh-TW" dirty="0" smtClean="0">
                    <a:latin typeface="標楷體" pitchFamily="65" charset="-120"/>
                    <a:ea typeface="標楷體" pitchFamily="65" charset="-120"/>
                  </a:rPr>
                  <a:t>: </a:t>
                </a:r>
                <a:r>
                  <a:rPr lang="zh-TW" altLang="en-US" dirty="0" smtClean="0">
                    <a:latin typeface="標楷體" pitchFamily="65" charset="-120"/>
                    <a:ea typeface="標楷體" pitchFamily="65" charset="-120"/>
                  </a:rPr>
                  <a:t>調整參數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TW" altLang="en-US" dirty="0" smtClean="0">
                    <a:latin typeface="標楷體" pitchFamily="65" charset="-120"/>
                    <a:ea typeface="標楷體" pitchFamily="65" charset="-120"/>
                  </a:rPr>
                  <a:t>，使得上式右側第一項之值儘可能的接近上式右側第二項</a:t>
                </a:r>
                <a:endParaRPr lang="en-US" altLang="zh-TW" dirty="0" smtClean="0">
                  <a:latin typeface="標楷體" pitchFamily="65" charset="-120"/>
                  <a:ea typeface="標楷體" pitchFamily="65" charset="-120"/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𝜃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zh-TW" altLang="en-US" dirty="0" smtClean="0">
                    <a:latin typeface="標楷體" pitchFamily="65" charset="-120"/>
                    <a:ea typeface="標楷體" pitchFamily="65" charset="-120"/>
                  </a:rPr>
                  <a:t>可由</a:t>
                </a:r>
                <a:r>
                  <a:rPr lang="en-US" altLang="zh-TW" dirty="0" smtClean="0">
                    <a:latin typeface="標楷體" pitchFamily="65" charset="-120"/>
                    <a:ea typeface="標楷體" pitchFamily="65" charset="-120"/>
                  </a:rPr>
                  <a:t>Gibbs sampling</a:t>
                </a:r>
                <a:r>
                  <a:rPr lang="zh-TW" altLang="en-US" dirty="0" smtClean="0">
                    <a:latin typeface="標楷體" pitchFamily="65" charset="-120"/>
                    <a:ea typeface="標楷體" pitchFamily="65" charset="-120"/>
                  </a:rPr>
                  <a:t>執行相當多次後得到，但相當耗時間。</a:t>
                </a:r>
                <a:endParaRPr lang="en-US" altLang="zh-TW" dirty="0" smtClean="0">
                  <a:latin typeface="標楷體" pitchFamily="65" charset="-120"/>
                  <a:ea typeface="標楷體" pitchFamily="65" charset="-120"/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altLang="zh-TW" dirty="0" smtClean="0">
                    <a:latin typeface="標楷體" pitchFamily="65" charset="-120"/>
                    <a:ea typeface="標楷體" pitchFamily="65" charset="-120"/>
                  </a:rPr>
                  <a:t>Original : minimize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∥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/>
                            <a:ea typeface="Cambria Math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</m:sSubSup>
                  </m:oMath>
                </a14:m>
                <a:endParaRPr lang="en-US" altLang="zh-TW" dirty="0" smtClean="0">
                  <a:latin typeface="標楷體" pitchFamily="65" charset="-120"/>
                  <a:ea typeface="標楷體" pitchFamily="65" charset="-120"/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altLang="zh-TW" dirty="0" smtClean="0">
                    <a:solidFill>
                      <a:srgbClr val="FF0000"/>
                    </a:solidFill>
                    <a:latin typeface="標楷體" pitchFamily="65" charset="-120"/>
                    <a:ea typeface="標楷體" pitchFamily="65" charset="-120"/>
                  </a:rPr>
                  <a:t>Alternative: minimize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p>
                        </m:sSup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∥</m:t>
                        </m:r>
                        <m:sSubSup>
                          <m:sSubSupPr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sub>
                          <m:sup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∞</m:t>
                            </m:r>
                          </m:sup>
                        </m:sSubSup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SupPr>
                          <m:e>
                            <m:r>
                              <a:rPr lang="en-US" altLang="zh-TW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𝜃</m:t>
                            </m:r>
                          </m:sub>
                          <m:sup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∥</m:t>
                        </m:r>
                        <m:sSubSup>
                          <m:sSubSupPr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sub>
                          <m:sup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∞</m:t>
                            </m:r>
                          </m:sup>
                        </m:sSubSup>
                      </m:e>
                    </m:d>
                  </m:oMath>
                </a14:m>
                <a:endParaRPr lang="en-US" altLang="zh-TW" dirty="0" smtClean="0">
                  <a:solidFill>
                    <a:srgbClr val="FF0000"/>
                  </a:solidFill>
                  <a:latin typeface="標楷體" pitchFamily="65" charset="-120"/>
                  <a:ea typeface="標楷體" pitchFamily="65" charset="-120"/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latin typeface="Cambria Math"/>
                            <a:ea typeface="標楷體" pitchFamily="65" charset="-12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/>
                            <a:ea typeface="標楷體" pitchFamily="65" charset="-12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  <a:ea typeface="標楷體" pitchFamily="65" charset="-120"/>
                          </a:rPr>
                          <m:t>𝜃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  <a:ea typeface="標楷體" pitchFamily="65" charset="-12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TW" dirty="0" smtClean="0">
                    <a:latin typeface="標楷體" pitchFamily="65" charset="-120"/>
                    <a:ea typeface="標楷體" pitchFamily="65" charset="-120"/>
                  </a:rPr>
                  <a:t>:</a:t>
                </a:r>
                <a:r>
                  <a:rPr lang="zh-TW" altLang="en-US" dirty="0" smtClean="0">
                    <a:latin typeface="標楷體" pitchFamily="65" charset="-120"/>
                    <a:ea typeface="標楷體" pitchFamily="65" charset="-120"/>
                  </a:rPr>
                  <a:t>為執行一次</a:t>
                </a:r>
                <a:r>
                  <a:rPr lang="en-US" altLang="zh-TW" dirty="0" smtClean="0">
                    <a:latin typeface="標楷體" pitchFamily="65" charset="-120"/>
                    <a:ea typeface="標楷體" pitchFamily="65" charset="-120"/>
                  </a:rPr>
                  <a:t>Gibbs sampling</a:t>
                </a:r>
                <a:r>
                  <a:rPr lang="zh-TW" altLang="en-US" dirty="0" smtClean="0">
                    <a:latin typeface="標楷體" pitchFamily="65" charset="-120"/>
                    <a:ea typeface="標楷體" pitchFamily="65" charset="-120"/>
                  </a:rPr>
                  <a:t>之後所得到的資料</a:t>
                </a:r>
                <a:endParaRPr lang="en-US" altLang="zh-TW" dirty="0" smtClean="0">
                  <a:latin typeface="標楷體" pitchFamily="65" charset="-120"/>
                  <a:ea typeface="標楷體" pitchFamily="65" charset="-120"/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zh-TW" altLang="en-US" dirty="0" smtClean="0">
                    <a:latin typeface="標楷體" pitchFamily="65" charset="-120"/>
                    <a:ea typeface="標楷體" pitchFamily="65" charset="-120"/>
                  </a:rPr>
                  <a:t>因為</a:t>
                </a:r>
                <a:r>
                  <a:rPr lang="en-US" altLang="zh-TW" dirty="0" smtClean="0">
                    <a:latin typeface="標楷體" pitchFamily="65" charset="-120"/>
                    <a:ea typeface="標楷體" pitchFamily="65" charset="-120"/>
                  </a:rPr>
                  <a:t>KL divergence &gt;=0,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zh-TW" altLang="en-US" dirty="0" smtClean="0">
                    <a:latin typeface="標楷體" pitchFamily="65" charset="-120"/>
                    <a:ea typeface="標楷體" pitchFamily="65" charset="-120"/>
                  </a:rPr>
                  <a:t>而且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𝜃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p>
                    </m:sSubSup>
                    <m:r>
                      <a:rPr lang="en-US" altLang="zh-TW" i="1">
                        <a:latin typeface="Cambria Math"/>
                        <a:ea typeface="Cambria Math"/>
                      </a:rPr>
                      <m:t>∥</m:t>
                    </m:r>
                    <m:sSubSup>
                      <m:sSubSupPr>
                        <m:ctrlPr>
                          <a:rPr lang="en-US" altLang="zh-TW" i="1">
                            <a:latin typeface="Cambria Math"/>
                            <a:ea typeface="Cambria Math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  <a:ea typeface="Cambria Math"/>
                          </a:rPr>
                          <m:t>𝜃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</m:sSubSup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≤</m:t>
                    </m:r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US" altLang="zh-TW" i="1">
                        <a:latin typeface="Cambria Math"/>
                        <a:ea typeface="Cambria Math"/>
                      </a:rPr>
                      <m:t>∥</m:t>
                    </m:r>
                    <m:sSubSup>
                      <m:sSubSupPr>
                        <m:ctrlPr>
                          <a:rPr lang="en-US" altLang="zh-TW" i="1">
                            <a:latin typeface="Cambria Math"/>
                            <a:ea typeface="Cambria Math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  <a:ea typeface="Cambria Math"/>
                          </a:rPr>
                          <m:t>𝜃</m:t>
                        </m:r>
                      </m:sub>
                      <m:sup>
                        <m:r>
                          <a:rPr lang="en-US" altLang="zh-TW" i="1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US" altLang="zh-TW" dirty="0" smtClean="0">
                    <a:latin typeface="標楷體" pitchFamily="65" charset="-120"/>
                    <a:ea typeface="標楷體" pitchFamily="65" charset="-120"/>
                  </a:rPr>
                  <a:t>(</a:t>
                </a:r>
                <a:r>
                  <a:rPr lang="zh-TW" altLang="en-US" dirty="0" smtClean="0">
                    <a:latin typeface="標楷體" pitchFamily="65" charset="-120"/>
                    <a:ea typeface="標楷體" pitchFamily="65" charset="-120"/>
                  </a:rPr>
                  <a:t>因為抽樣後的分配會更接近真實的分配，等號成立於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/>
                            <a:ea typeface="標楷體" pitchFamily="65" charset="-12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  <a:ea typeface="標楷體" pitchFamily="65" charset="-120"/>
                          </a:rPr>
                          <m:t>𝑃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  <a:ea typeface="標楷體" pitchFamily="65" charset="-120"/>
                          </a:rPr>
                          <m:t>0</m:t>
                        </m:r>
                      </m:sup>
                    </m:sSup>
                    <m:r>
                      <a:rPr lang="en-US" altLang="zh-TW" b="0" i="1" smtClean="0">
                        <a:latin typeface="Cambria Math"/>
                        <a:ea typeface="標楷體" pitchFamily="65" charset="-120"/>
                      </a:rPr>
                      <m:t>=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/>
                            <a:ea typeface="標楷體" pitchFamily="65" charset="-12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/>
                            <a:ea typeface="標楷體" pitchFamily="65" charset="-12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  <a:ea typeface="標楷體" pitchFamily="65" charset="-120"/>
                          </a:rPr>
                          <m:t>𝜃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  <a:ea typeface="標楷體" pitchFamily="65" charset="-120"/>
                          </a:rPr>
                          <m:t>1</m:t>
                        </m:r>
                      </m:sup>
                    </m:sSubSup>
                    <m:r>
                      <a:rPr lang="en-US" altLang="zh-TW" b="0" i="1" smtClean="0">
                        <a:latin typeface="Cambria Math"/>
                        <a:ea typeface="標楷體" pitchFamily="65" charset="-120"/>
                      </a:rPr>
                      <m:t>, </m:t>
                    </m:r>
                  </m:oMath>
                </a14:m>
                <a:r>
                  <a:rPr lang="zh-TW" altLang="en-US" dirty="0" smtClean="0">
                    <a:latin typeface="標楷體" pitchFamily="65" charset="-120"/>
                    <a:ea typeface="標楷體" pitchFamily="65" charset="-120"/>
                  </a:rPr>
                  <a:t>此時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dirty="0" smtClean="0">
                            <a:latin typeface="Cambria Math"/>
                            <a:ea typeface="標楷體" pitchFamily="65" charset="-120"/>
                          </a:rPr>
                        </m:ctrlPr>
                      </m:sSubSupPr>
                      <m:e>
                        <m:r>
                          <a:rPr lang="en-US" altLang="zh-TW" b="0" i="1" dirty="0" smtClean="0">
                            <a:latin typeface="Cambria Math"/>
                            <a:ea typeface="標楷體" pitchFamily="65" charset="-120"/>
                          </a:rPr>
                          <m:t>𝑃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  <a:ea typeface="標楷體" pitchFamily="65" charset="-120"/>
                          </a:rPr>
                          <m:t>𝜃</m:t>
                        </m:r>
                      </m:sub>
                      <m:sup>
                        <m:r>
                          <a:rPr lang="en-US" altLang="zh-TW" b="0" i="1" dirty="0" smtClean="0">
                            <a:latin typeface="Cambria Math"/>
                            <a:ea typeface="標楷體" pitchFamily="65" charset="-120"/>
                          </a:rPr>
                          <m:t>1</m:t>
                        </m:r>
                      </m:sup>
                    </m:sSubSup>
                    <m:r>
                      <a:rPr lang="en-US" altLang="zh-TW" b="0" i="1" dirty="0" smtClean="0">
                        <a:latin typeface="Cambria Math"/>
                        <a:ea typeface="標楷體" pitchFamily="65" charset="-120"/>
                      </a:rPr>
                      <m:t>=</m:t>
                    </m:r>
                    <m:sSubSup>
                      <m:sSubSupPr>
                        <m:ctrlPr>
                          <a:rPr lang="en-US" altLang="zh-TW" b="0" i="1" dirty="0" smtClean="0">
                            <a:latin typeface="Cambria Math"/>
                            <a:ea typeface="標楷體" pitchFamily="65" charset="-120"/>
                          </a:rPr>
                        </m:ctrlPr>
                      </m:sSubSupPr>
                      <m:e>
                        <m:r>
                          <a:rPr lang="en-US" altLang="zh-TW" b="0" i="1" dirty="0" smtClean="0">
                            <a:latin typeface="Cambria Math"/>
                            <a:ea typeface="標楷體" pitchFamily="65" charset="-120"/>
                          </a:rPr>
                          <m:t>𝑃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  <a:ea typeface="標楷體" pitchFamily="65" charset="-120"/>
                          </a:rPr>
                          <m:t>𝜃</m:t>
                        </m:r>
                      </m:sub>
                      <m:sup>
                        <m:r>
                          <a:rPr lang="en-US" altLang="zh-TW" b="0" i="1" dirty="0" smtClean="0">
                            <a:latin typeface="Cambria Math"/>
                            <a:ea typeface="標楷體" pitchFamily="65" charset="-12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US" altLang="zh-TW" dirty="0" smtClean="0">
                    <a:latin typeface="標楷體" pitchFamily="65" charset="-120"/>
                    <a:ea typeface="標楷體" pitchFamily="65" charset="-120"/>
                  </a:rPr>
                  <a:t>)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altLang="zh-TW" dirty="0" smtClean="0">
                  <a:latin typeface="標楷體" pitchFamily="65" charset="-120"/>
                  <a:ea typeface="標楷體" pitchFamily="65" charset="-120"/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altLang="zh-TW" dirty="0" smtClean="0">
                  <a:latin typeface="標楷體" pitchFamily="65" charset="-120"/>
                  <a:ea typeface="標楷體" pitchFamily="65" charset="-120"/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:endParaRPr lang="zh-TW" altLang="en-US" dirty="0">
                  <a:latin typeface="標楷體" pitchFamily="65" charset="-120"/>
                  <a:ea typeface="標楷體" pitchFamily="65" charset="-120"/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852936"/>
                <a:ext cx="8352928" cy="3214726"/>
              </a:xfrm>
              <a:prstGeom prst="rect">
                <a:avLst/>
              </a:prstGeom>
              <a:blipFill rotWithShape="1">
                <a:blip r:embed="rId3"/>
                <a:stretch>
                  <a:fillRect l="-511" t="-7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851"/>
          <a:stretch/>
        </p:blipFill>
        <p:spPr bwMode="auto">
          <a:xfrm>
            <a:off x="1217640" y="5157192"/>
            <a:ext cx="6234680" cy="152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107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60648"/>
            <a:ext cx="7968977" cy="207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11910" y="323188"/>
            <a:ext cx="7776513" cy="1089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圖說文字 4"/>
          <p:cNvSpPr/>
          <p:nvPr/>
        </p:nvSpPr>
        <p:spPr>
          <a:xfrm>
            <a:off x="2483768" y="1593079"/>
            <a:ext cx="1748243" cy="667632"/>
          </a:xfrm>
          <a:prstGeom prst="wedgeRectCallout">
            <a:avLst>
              <a:gd name="adj1" fmla="val 90582"/>
              <a:gd name="adj2" fmla="val -3139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此項之值相當小，可忽略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11560" y="3645024"/>
                <a:ext cx="7508648" cy="663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dirty="0" smtClean="0"/>
                  <a:t>the following procedure </a:t>
                </a:r>
                <a:r>
                  <a:rPr lang="en-US" altLang="zh-TW" dirty="0"/>
                  <a:t>produces an unbiased sample from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𝜃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TW" i="1" dirty="0" smtClean="0"/>
                  <a:t> </a:t>
                </a:r>
                <a:r>
                  <a:rPr lang="en-US" altLang="zh-TW" dirty="0" smtClean="0"/>
                  <a:t>: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645024"/>
                <a:ext cx="7508648" cy="663964"/>
              </a:xfrm>
              <a:prstGeom prst="rect">
                <a:avLst/>
              </a:prstGeom>
              <a:blipFill rotWithShape="1">
                <a:blip r:embed="rId3"/>
                <a:stretch>
                  <a:fillRect l="-649" t="-18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438629" y="3933056"/>
            <a:ext cx="838184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sz="2000" dirty="0"/>
              <a:t>Pick a data vector, </a:t>
            </a:r>
            <a:r>
              <a:rPr lang="en-US" altLang="zh-TW" sz="2000" b="1" dirty="0"/>
              <a:t>d</a:t>
            </a:r>
            <a:r>
              <a:rPr lang="en-US" altLang="zh-TW" sz="2000" dirty="0"/>
              <a:t>, from the distribution of the data </a:t>
            </a:r>
            <a:r>
              <a:rPr lang="en-US" altLang="zh-TW" sz="2000" i="1" dirty="0"/>
              <a:t>P</a:t>
            </a:r>
            <a:r>
              <a:rPr lang="en-US" altLang="zh-TW" sz="2000" baseline="-25000" dirty="0"/>
              <a:t>0</a:t>
            </a:r>
            <a:r>
              <a:rPr lang="en-US" altLang="zh-TW" sz="20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2000" dirty="0" smtClean="0"/>
              <a:t>Compute</a:t>
            </a:r>
            <a:r>
              <a:rPr lang="en-US" altLang="zh-TW" sz="2000" dirty="0"/>
              <a:t>, for each expert separately, the posterior probability </a:t>
            </a:r>
            <a:r>
              <a:rPr lang="en-US" altLang="zh-TW" sz="2000" dirty="0" smtClean="0"/>
              <a:t>distribution over </a:t>
            </a:r>
            <a:r>
              <a:rPr lang="en-US" altLang="zh-TW" sz="2000" dirty="0"/>
              <a:t>its latent (i.e., hidden) variables given the data </a:t>
            </a:r>
            <a:r>
              <a:rPr lang="en-US" altLang="zh-TW" sz="2000" dirty="0" smtClean="0"/>
              <a:t>vector, </a:t>
            </a:r>
            <a:r>
              <a:rPr lang="en-US" altLang="zh-TW" sz="2000" b="1" dirty="0" smtClean="0"/>
              <a:t>d</a:t>
            </a:r>
            <a:r>
              <a:rPr lang="en-US" altLang="zh-TW" sz="20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2000" dirty="0" smtClean="0"/>
              <a:t>Pick </a:t>
            </a:r>
            <a:r>
              <a:rPr lang="en-US" altLang="zh-TW" sz="2000" dirty="0"/>
              <a:t>a value for each latent variable from its posterior distribution.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2000" dirty="0" smtClean="0"/>
              <a:t>Given </a:t>
            </a:r>
            <a:r>
              <a:rPr lang="en-US" altLang="zh-TW" sz="2000" dirty="0"/>
              <a:t>the chosen values of all the latent variables, compute the </a:t>
            </a:r>
            <a:r>
              <a:rPr lang="en-US" altLang="zh-TW" sz="2000" dirty="0" smtClean="0"/>
              <a:t>conditional distribution </a:t>
            </a:r>
            <a:r>
              <a:rPr lang="en-US" altLang="zh-TW" sz="2000" dirty="0"/>
              <a:t>over all the visible variables by multiplying </a:t>
            </a:r>
            <a:r>
              <a:rPr lang="en-US" altLang="zh-TW" sz="2000" dirty="0" smtClean="0"/>
              <a:t>together the </a:t>
            </a:r>
            <a:r>
              <a:rPr lang="en-US" altLang="zh-TW" sz="2000" dirty="0"/>
              <a:t>conditional distributions </a:t>
            </a:r>
            <a:r>
              <a:rPr lang="en-US" altLang="zh-TW" sz="2000" dirty="0" smtClean="0"/>
              <a:t>specified </a:t>
            </a:r>
            <a:r>
              <a:rPr lang="en-US" altLang="zh-TW" sz="2000" dirty="0"/>
              <a:t>by each expert and renormalizing.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2000" dirty="0" smtClean="0"/>
              <a:t>Pick a </a:t>
            </a:r>
            <a:r>
              <a:rPr lang="en-US" altLang="zh-TW" sz="2000" dirty="0"/>
              <a:t>value for each visible variable </a:t>
            </a:r>
            <a:r>
              <a:rPr lang="en-US" altLang="zh-TW" sz="2000" dirty="0" smtClean="0"/>
              <a:t>from the </a:t>
            </a:r>
            <a:r>
              <a:rPr lang="en-US" altLang="zh-TW" sz="2000" dirty="0"/>
              <a:t>conditional </a:t>
            </a:r>
            <a:r>
              <a:rPr lang="en-US" altLang="zh-TW" sz="2000" dirty="0" smtClean="0"/>
              <a:t>distribution. These </a:t>
            </a:r>
            <a:r>
              <a:rPr lang="en-US" altLang="zh-TW" sz="2000" dirty="0"/>
              <a:t>values constitute the reconstructed data vector, </a:t>
            </a:r>
            <a:r>
              <a:rPr lang="en-US" altLang="zh-TW" sz="2000" b="1" dirty="0"/>
              <a:t>ˆd</a:t>
            </a:r>
            <a:r>
              <a:rPr lang="en-US" altLang="zh-TW" sz="2000" dirty="0"/>
              <a:t>.</a:t>
            </a:r>
            <a:endParaRPr lang="zh-TW" altLang="en-US" sz="20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155" y="2348880"/>
            <a:ext cx="4817712" cy="11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965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CD-k (k=1) on RBM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778978" y="1268760"/>
            <a:ext cx="77048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Separate initialization of the experts seems like a sensible idea, </a:t>
            </a:r>
            <a:r>
              <a:rPr lang="en-US" altLang="zh-TW" dirty="0">
                <a:solidFill>
                  <a:srgbClr val="FF0000"/>
                </a:solidFill>
              </a:rPr>
              <a:t>but simulations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indicate that the </a:t>
            </a:r>
            <a:r>
              <a:rPr lang="en-US" altLang="zh-TW" dirty="0" err="1">
                <a:solidFill>
                  <a:srgbClr val="FF0000"/>
                </a:solidFill>
              </a:rPr>
              <a:t>PoE</a:t>
            </a:r>
            <a:r>
              <a:rPr lang="en-US" altLang="zh-TW" dirty="0">
                <a:solidFill>
                  <a:srgbClr val="FF0000"/>
                </a:solidFill>
              </a:rPr>
              <a:t> is far more likely to become trapped in poor local optima </a:t>
            </a:r>
            <a:r>
              <a:rPr lang="en-US" altLang="zh-TW" dirty="0"/>
              <a:t>if the experts are allowed to specialize separately.</a:t>
            </a:r>
          </a:p>
          <a:p>
            <a:endParaRPr lang="en-US" altLang="zh-TW" dirty="0"/>
          </a:p>
          <a:p>
            <a:r>
              <a:rPr lang="en-US" altLang="zh-TW" b="1" dirty="0">
                <a:solidFill>
                  <a:srgbClr val="FF0000"/>
                </a:solidFill>
              </a:rPr>
              <a:t>Better solution:</a:t>
            </a:r>
          </a:p>
          <a:p>
            <a:r>
              <a:rPr lang="en-US" altLang="zh-TW" b="1" dirty="0">
                <a:solidFill>
                  <a:srgbClr val="0070C0"/>
                </a:solidFill>
              </a:rPr>
              <a:t>simply initializing the experts randomly with very vague distributions</a:t>
            </a:r>
            <a:endParaRPr lang="zh-TW" altLang="en-US" b="1" dirty="0">
              <a:solidFill>
                <a:srgbClr val="0070C0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" t="11683" r="7061" b="5849"/>
          <a:stretch/>
        </p:blipFill>
        <p:spPr bwMode="auto">
          <a:xfrm>
            <a:off x="107502" y="3129837"/>
            <a:ext cx="5643235" cy="2074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793662" y="5373216"/>
                <a:ext cx="7128792" cy="405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/>
                            </a:rPr>
                            <m:t>𝒗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𝒉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/>
                        </a:rPr>
                        <m:t>=−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/>
                            </a:rPr>
                            <m:t>𝑻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/>
                        </a:rPr>
                        <m:t>𝒗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/>
                            </a:rPr>
                            <m:t>𝒄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/>
                            </a:rPr>
                            <m:t>𝑻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/>
                        </a:rPr>
                        <m:t>𝒉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/>
                            </a:rPr>
                            <m:t>𝑻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/>
                        </a:rPr>
                        <m:t>𝑾𝒗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,  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𝜽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0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/>
                            </a:rPr>
                            <m:t>𝒃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𝒄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𝑾</m:t>
                          </m:r>
                        </m:e>
                      </m:d>
                    </m:oMath>
                  </m:oMathPara>
                </a14:m>
                <a:endParaRPr lang="en-US" altLang="zh-TW" sz="2000" dirty="0" smtClean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62" y="5373216"/>
                <a:ext cx="7128792" cy="40562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508104" y="3396321"/>
                <a:ext cx="3312368" cy="1472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𝒗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|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𝒉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0" i="1" smtClean="0">
                              <a:latin typeface="Cambria Math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|</m:t>
                              </m:r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𝒉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TW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𝒉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|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𝒗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|</m:t>
                              </m:r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𝒗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3396321"/>
                <a:ext cx="3312368" cy="147283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323528" y="5949280"/>
            <a:ext cx="86409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Fischer, </a:t>
            </a:r>
            <a:r>
              <a:rPr lang="en-US" altLang="zh-TW" dirty="0" err="1"/>
              <a:t>Asja</a:t>
            </a:r>
            <a:r>
              <a:rPr lang="en-US" altLang="zh-TW" dirty="0"/>
              <a:t>, and Christian </a:t>
            </a:r>
            <a:r>
              <a:rPr lang="en-US" altLang="zh-TW" dirty="0" err="1"/>
              <a:t>Igel</a:t>
            </a:r>
            <a:r>
              <a:rPr lang="en-US" altLang="zh-TW" dirty="0"/>
              <a:t>. "An Introduction to Restricted Boltzmann </a:t>
            </a:r>
            <a:r>
              <a:rPr lang="en-US" altLang="zh-TW" dirty="0" smtClean="0"/>
              <a:t>Machines,"</a:t>
            </a:r>
            <a:r>
              <a:rPr lang="en-US" altLang="zh-TW" dirty="0"/>
              <a:t> </a:t>
            </a:r>
            <a:r>
              <a:rPr lang="en-US" altLang="zh-TW" i="1" dirty="0"/>
              <a:t>Progress in Pattern Recognition, Image Analysis, Computer Vision, and </a:t>
            </a:r>
            <a:r>
              <a:rPr lang="en-US" altLang="zh-TW" i="1" dirty="0" smtClean="0"/>
              <a:t>Applications</a:t>
            </a:r>
            <a:r>
              <a:rPr lang="en-US" altLang="zh-TW" dirty="0" smtClean="0"/>
              <a:t>, pp. 14-36, 2012.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1892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16"/>
          <a:stretch/>
        </p:blipFill>
        <p:spPr bwMode="auto">
          <a:xfrm>
            <a:off x="5669009" y="260648"/>
            <a:ext cx="3425711" cy="2059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92" y="44624"/>
            <a:ext cx="4817712" cy="11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67544" y="1484784"/>
                <a:ext cx="4744504" cy="3742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𝒗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b="1" i="1">
                              <a:latin typeface="Cambria Math"/>
                            </a:rPr>
                            <m:t>𝒉</m:t>
                          </m:r>
                        </m:e>
                      </m:d>
                      <m:r>
                        <a:rPr lang="en-US" altLang="zh-TW" i="1">
                          <a:latin typeface="Cambria Math"/>
                        </a:rPr>
                        <m:t>=−</m:t>
                      </m:r>
                      <m:sSup>
                        <m:sSupPr>
                          <m:ctrlPr>
                            <a:rPr lang="en-US" altLang="zh-TW" b="1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𝒃</m:t>
                          </m:r>
                        </m:e>
                        <m:sup>
                          <m:r>
                            <a:rPr lang="en-US" altLang="zh-TW" b="1" i="1">
                              <a:latin typeface="Cambria Math"/>
                            </a:rPr>
                            <m:t>𝑻</m:t>
                          </m:r>
                        </m:sup>
                      </m:sSup>
                      <m:r>
                        <a:rPr lang="en-US" altLang="zh-TW" b="1" i="1">
                          <a:latin typeface="Cambria Math"/>
                        </a:rPr>
                        <m:t>𝒗</m:t>
                      </m:r>
                      <m:r>
                        <a:rPr lang="en-US" altLang="zh-TW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TW" b="1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𝒄</m:t>
                          </m:r>
                        </m:e>
                        <m:sup>
                          <m:r>
                            <a:rPr lang="en-US" altLang="zh-TW" b="1" i="1">
                              <a:latin typeface="Cambria Math"/>
                            </a:rPr>
                            <m:t>𝑻</m:t>
                          </m:r>
                        </m:sup>
                      </m:sSup>
                      <m:r>
                        <a:rPr lang="en-US" altLang="zh-TW" b="1" i="1">
                          <a:latin typeface="Cambria Math"/>
                        </a:rPr>
                        <m:t>𝒉</m:t>
                      </m:r>
                      <m:r>
                        <a:rPr lang="en-US" altLang="zh-TW" b="1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TW" b="1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𝒉</m:t>
                          </m:r>
                        </m:e>
                        <m:sup>
                          <m:r>
                            <a:rPr lang="en-US" altLang="zh-TW" b="1" i="1">
                              <a:latin typeface="Cambria Math"/>
                            </a:rPr>
                            <m:t>𝑻</m:t>
                          </m:r>
                        </m:sup>
                      </m:sSup>
                      <m:r>
                        <a:rPr lang="en-US" altLang="zh-TW" b="1" i="1">
                          <a:latin typeface="Cambria Math"/>
                        </a:rPr>
                        <m:t>𝑾𝒗</m:t>
                      </m:r>
                      <m:r>
                        <a:rPr lang="en-US" altLang="zh-TW" b="1" i="1" smtClean="0">
                          <a:latin typeface="Cambria Math"/>
                        </a:rPr>
                        <m:t>, </m:t>
                      </m:r>
                      <m:r>
                        <a:rPr lang="en-US" altLang="zh-TW" b="1" i="1">
                          <a:latin typeface="Cambria Math"/>
                        </a:rPr>
                        <m:t>𝜽</m:t>
                      </m:r>
                      <m:r>
                        <a:rPr lang="en-US" altLang="zh-TW" b="1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𝒃</m:t>
                          </m:r>
                          <m:r>
                            <a:rPr lang="en-US" altLang="zh-TW" b="1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b="1" i="1">
                              <a:latin typeface="Cambria Math"/>
                            </a:rPr>
                            <m:t>𝒄</m:t>
                          </m:r>
                          <m:r>
                            <a:rPr lang="en-US" altLang="zh-TW" b="1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b="1" i="1">
                              <a:latin typeface="Cambria Math"/>
                            </a:rPr>
                            <m:t>𝑾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484784"/>
                <a:ext cx="4744504" cy="3742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323528" y="2060848"/>
                <a:ext cx="50405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b="1" dirty="0" smtClean="0">
                    <a:solidFill>
                      <a:srgbClr val="FF0000"/>
                    </a:solidFill>
                  </a:rPr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𝜽</m:t>
                        </m:r>
                      </m:e>
                      <m:sub>
                        <m:r>
                          <a:rPr lang="en-US" altLang="zh-TW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𝑾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 (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𝒘𝒆𝒊𝒈𝒉𝒕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𝒎𝒂𝒕𝒓𝒊𝒙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zh-TW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060848"/>
                <a:ext cx="5040560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1209" t="-7576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365999" y="2374678"/>
                <a:ext cx="8454473" cy="14143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𝒗</m:t>
                              </m:r>
                              <m:r>
                                <a:rPr lang="en-US" altLang="zh-TW" b="1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1" i="1">
                                  <a:latin typeface="Cambria Math"/>
                                </a:rPr>
                                <m:t>𝒉</m:t>
                              </m:r>
                            </m:e>
                          </m:d>
                        </m:num>
                        <m:den>
                          <m:r>
                            <a:rPr lang="en-US" altLang="zh-TW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b="1" i="1">
                              <a:latin typeface="Cambria Math"/>
                            </a:rPr>
                            <m:t>𝑾</m:t>
                          </m:r>
                        </m:den>
                      </m:f>
                      <m:r>
                        <a:rPr lang="en-US" altLang="zh-TW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TW" b="1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b="1" i="1">
                              <a:latin typeface="Cambria Math"/>
                            </a:rPr>
                            <m:t>−</m:t>
                          </m:r>
                          <m:r>
                            <a:rPr lang="en-US" altLang="zh-TW" b="1" i="1">
                              <a:latin typeface="Cambria Math"/>
                            </a:rPr>
                            <m:t>𝒉</m:t>
                          </m:r>
                        </m:e>
                        <m:sup>
                          <m:r>
                            <a:rPr lang="en-US" altLang="zh-TW" b="1" i="1">
                              <a:latin typeface="Cambria Math"/>
                            </a:rPr>
                            <m:t>𝑻</m:t>
                          </m:r>
                        </m:sup>
                      </m:sSup>
                      <m:r>
                        <a:rPr lang="en-US" altLang="zh-TW" b="1" i="1">
                          <a:latin typeface="Cambria Math"/>
                        </a:rPr>
                        <m:t>𝒗</m:t>
                      </m:r>
                      <m:r>
                        <a:rPr lang="en-US" altLang="zh-TW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∆</m:t>
                      </m:r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𝜖</m:t>
                      </m:r>
                      <m:d>
                        <m:dPr>
                          <m:ctrlPr>
                            <a:rPr lang="en-US" altLang="zh-TW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TW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𝑑𝑎𝑡𝑎</m:t>
                              </m:r>
                            </m:sup>
                          </m:sSup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TW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𝑟𝑒𝑐</m:t>
                              </m:r>
                            </m:sup>
                          </m:sSup>
                        </m:e>
                      </m:d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𝜖</m:t>
                      </m:r>
                      <m:nary>
                        <m:naryPr>
                          <m:chr m:val="∑"/>
                          <m:ctrlP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𝑑</m:t>
                          </m:r>
                        </m:sup>
                        <m:e>
                          <m:d>
                            <m:dPr>
                              <m:ctrlPr>
                                <a:rPr lang="en-US" altLang="zh-TW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𝒗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𝑑𝑎𝑡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d>
                              <m:sSubSup>
                                <m:sSubSupPr>
                                  <m:ctrlP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𝑑𝑎𝑡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𝐿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US" altLang="zh-TW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altLang="zh-TW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=1|</m:t>
                                  </m:r>
                                  <m:sSup>
                                    <m:sSupPr>
                                      <m:ctrlP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𝒗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𝑟𝑒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d>
                              <m:sSubSup>
                                <m:sSubSupPr>
                                  <m:ctrlP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𝑟𝑒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𝐿</m:t>
                                      </m:r>
                                    </m:sub>
                                  </m:sSub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99" y="2374678"/>
                <a:ext cx="8454473" cy="141436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68880" y="3717032"/>
                <a:ext cx="57872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b="1" dirty="0" smtClean="0">
                    <a:solidFill>
                      <a:srgbClr val="FF0000"/>
                    </a:solidFill>
                  </a:rPr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𝜽</m:t>
                        </m:r>
                      </m:e>
                      <m:sub>
                        <m:r>
                          <a:rPr lang="en-US" altLang="zh-TW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𝒃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 (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𝒃𝒊𝒂𝒔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𝒗𝒆𝒄𝒕𝒐𝒓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𝒐𝒇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𝒕𝒉𝒆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𝒗𝒊𝒔𝒖𝒂𝒍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𝒖𝒏𝒊𝒕𝒔</m:t>
                    </m:r>
                    <m:r>
                      <a:rPr lang="en-US" altLang="zh-TW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zh-TW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80" y="3717032"/>
                <a:ext cx="5787296" cy="400110"/>
              </a:xfrm>
              <a:prstGeom prst="rect">
                <a:avLst/>
              </a:prstGeom>
              <a:blipFill rotWithShape="1">
                <a:blip r:embed="rId8"/>
                <a:stretch>
                  <a:fillRect l="-1159" t="-7692" b="-2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350184" y="4901098"/>
                <a:ext cx="494189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b="1" dirty="0" smtClean="0">
                    <a:solidFill>
                      <a:srgbClr val="FF0000"/>
                    </a:solidFill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𝜽</m:t>
                        </m:r>
                      </m:e>
                      <m:sub>
                        <m:r>
                          <a:rPr lang="en-US" altLang="zh-TW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en-US" altLang="zh-TW" sz="20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sz="2000" b="1" i="1">
                        <a:solidFill>
                          <a:srgbClr val="FF0000"/>
                        </a:solidFill>
                        <a:latin typeface="Cambria Math"/>
                      </a:rPr>
                      <m:t>𝒄</m:t>
                    </m:r>
                    <m:r>
                      <a:rPr lang="en-US" altLang="zh-TW" sz="20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altLang="zh-TW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bias</m:t>
                    </m:r>
                    <m:r>
                      <m:rPr>
                        <m:nor/>
                      </m:rPr>
                      <a:rPr lang="en-US" altLang="zh-TW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vector</m:t>
                    </m:r>
                    <m:r>
                      <m:rPr>
                        <m:nor/>
                      </m:rPr>
                      <a:rPr lang="en-US" altLang="zh-TW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of</m:t>
                    </m:r>
                    <m:r>
                      <m:rPr>
                        <m:nor/>
                      </m:rPr>
                      <a:rPr lang="en-US" altLang="zh-TW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the</m:t>
                    </m:r>
                    <m:r>
                      <m:rPr>
                        <m:nor/>
                      </m:rPr>
                      <a:rPr lang="en-US" altLang="zh-TW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hidden</m:t>
                    </m:r>
                    <m:r>
                      <m:rPr>
                        <m:nor/>
                      </m:rPr>
                      <a:rPr lang="en-US" altLang="zh-TW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units</m:t>
                    </m:r>
                    <m:r>
                      <m:rPr>
                        <m:nor/>
                      </m:rPr>
                      <a:rPr lang="en-US" altLang="zh-TW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zh-TW" altLang="en-US" sz="2000" b="1" i="1" dirty="0">
                  <a:solidFill>
                    <a:srgbClr val="FF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84" y="4901098"/>
                <a:ext cx="4941896" cy="400110"/>
              </a:xfrm>
              <a:prstGeom prst="rect">
                <a:avLst/>
              </a:prstGeom>
              <a:blipFill rotWithShape="1">
                <a:blip r:embed="rId9"/>
                <a:stretch>
                  <a:fillRect l="-1233" t="-7576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153743" y="4005064"/>
                <a:ext cx="7050135" cy="8753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𝒗</m:t>
                              </m:r>
                              <m:r>
                                <a:rPr lang="en-US" altLang="zh-TW" b="1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1" i="1">
                                  <a:latin typeface="Cambria Math"/>
                                </a:rPr>
                                <m:t>𝒉</m:t>
                              </m:r>
                            </m:e>
                          </m:d>
                        </m:num>
                        <m:den>
                          <m:r>
                            <a:rPr lang="en-US" altLang="zh-TW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b="1" i="1">
                              <a:latin typeface="Cambria Math"/>
                            </a:rPr>
                            <m:t>𝒃</m:t>
                          </m:r>
                        </m:den>
                      </m:f>
                      <m:r>
                        <a:rPr lang="en-US" altLang="zh-TW" i="1">
                          <a:latin typeface="Cambria Math"/>
                        </a:rPr>
                        <m:t>=−</m:t>
                      </m:r>
                      <m:r>
                        <a:rPr lang="en-US" altLang="zh-TW" b="1" i="1" smtClean="0">
                          <a:latin typeface="Cambria Math"/>
                        </a:rPr>
                        <m:t>𝒗</m:t>
                      </m:r>
                      <m:r>
                        <a:rPr lang="en-US" altLang="zh-TW" b="1" i="1" smtClean="0">
                          <a:latin typeface="Cambria Math"/>
                        </a:rPr>
                        <m:t>⇒ 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∆</m:t>
                      </m:r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𝑗</m:t>
                          </m:r>
                        </m:sub>
                      </m:sSub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𝜖</m:t>
                      </m:r>
                      <m:d>
                        <m:dPr>
                          <m:ctrlPr>
                            <a:rPr lang="en-US" altLang="zh-TW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TW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𝑑𝑎𝑡𝑎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𝑟𝑒𝑐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𝜖</m:t>
                      </m:r>
                      <m:nary>
                        <m:naryPr>
                          <m:chr m:val="∑"/>
                          <m:ctrlP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𝑑</m:t>
                          </m:r>
                        </m:sup>
                        <m:e>
                          <m:d>
                            <m:dPr>
                              <m:ctrlPr>
                                <a:rPr lang="en-US" altLang="zh-TW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𝑑𝑎𝑡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𝐿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US" altLang="zh-TW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𝑟𝑒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𝐿</m:t>
                                      </m:r>
                                    </m:sub>
                                  </m:sSub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43" y="4005064"/>
                <a:ext cx="7050135" cy="875368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107504" y="5301208"/>
                <a:ext cx="8794844" cy="14205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𝒗</m:t>
                              </m:r>
                              <m:r>
                                <a:rPr lang="en-US" altLang="zh-TW" b="1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1" i="1">
                                  <a:latin typeface="Cambria Math"/>
                                </a:rPr>
                                <m:t>𝒉</m:t>
                              </m:r>
                            </m:e>
                          </m:d>
                        </m:num>
                        <m:den>
                          <m:r>
                            <a:rPr lang="en-US" altLang="zh-TW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b="1" i="1">
                              <a:latin typeface="Cambria Math"/>
                            </a:rPr>
                            <m:t>𝒄</m:t>
                          </m:r>
                        </m:den>
                      </m:f>
                      <m:r>
                        <a:rPr lang="en-US" altLang="zh-TW" i="1">
                          <a:latin typeface="Cambria Math"/>
                        </a:rPr>
                        <m:t>=−</m:t>
                      </m:r>
                      <m:r>
                        <a:rPr lang="en-US" altLang="zh-TW" b="1" i="1">
                          <a:latin typeface="Cambria Math"/>
                        </a:rPr>
                        <m:t>𝒉</m:t>
                      </m:r>
                      <m:r>
                        <a:rPr lang="en-US" altLang="zh-TW" b="1" i="1" smtClean="0">
                          <a:latin typeface="Cambria Math"/>
                        </a:rPr>
                        <m:t>⇒</m:t>
                      </m:r>
                      <m:r>
                        <a:rPr lang="en-US" altLang="zh-TW" b="1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∆</m:t>
                      </m:r>
                      <m:sSub>
                        <m:sSubPr>
                          <m:ctrlP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𝒄</m:t>
                          </m:r>
                        </m:e>
                        <m:sub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𝒊</m:t>
                          </m:r>
                        </m:sub>
                      </m:sSub>
                      <m:r>
                        <a:rPr lang="en-US" altLang="zh-TW" i="1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n-US" altLang="zh-TW" b="1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𝝐</m:t>
                      </m:r>
                      <m:d>
                        <m:dPr>
                          <m:ctrlP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TW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𝑑𝑎𝑡𝑎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TW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𝑟𝑒𝑐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d>
                      <m:r>
                        <a:rPr lang="en-US" altLang="zh-TW" b="1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𝜖</m:t>
                      </m:r>
                      <m:d>
                        <m:dPr>
                          <m:ctrlP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TW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=1</m:t>
                              </m:r>
                              <m:r>
                                <a:rPr lang="en-US" altLang="zh-TW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altLang="zh-TW" b="1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1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TW" b="1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𝒅𝒂𝒕𝒂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TW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TW" b="1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=1</m:t>
                              </m:r>
                              <m:r>
                                <a:rPr lang="en-US" altLang="zh-TW" b="1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altLang="zh-TW" b="1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𝑟𝑒𝑐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zh-TW" b="1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altLang="zh-TW" b="1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𝝐</m:t>
                      </m:r>
                      <m:nary>
                        <m:naryPr>
                          <m:chr m:val="∑"/>
                          <m:ctrlP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𝑳</m:t>
                          </m:r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TW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𝒅</m:t>
                          </m:r>
                        </m:sup>
                        <m:e>
                          <m:d>
                            <m:dPr>
                              <m:ctrlPr>
                                <a:rPr lang="en-US" altLang="zh-TW" b="1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TW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=1</m:t>
                                  </m:r>
                                  <m:r>
                                    <a:rPr lang="en-US" altLang="zh-TW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|</m:t>
                                  </m:r>
                                  <m:sSup>
                                    <m:sSupPr>
                                      <m:ctrlPr>
                                        <a:rPr lang="en-US" altLang="zh-TW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𝒗</m:t>
                                      </m:r>
                                    </m:e>
                                    <m:sup>
                                      <m:r>
                                        <a:rPr lang="en-US" altLang="zh-TW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𝒅𝒂𝒕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b="1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1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1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𝑳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d>
                              <m:r>
                                <a:rPr lang="en-US" altLang="zh-TW" b="1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altLang="zh-TW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TW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=1</m:t>
                                  </m:r>
                                  <m:r>
                                    <a:rPr lang="en-US" altLang="zh-TW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|</m:t>
                                  </m:r>
                                  <m:sSup>
                                    <m:sSupPr>
                                      <m:ctrlPr>
                                        <a:rPr lang="en-US" altLang="zh-TW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𝒗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𝑟𝑒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b="1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5301208"/>
                <a:ext cx="8794844" cy="142058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35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Example of CD-1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27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107504" y="4869160"/>
                <a:ext cx="5040560" cy="1820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/>
                        </a:rPr>
                        <m:t>training</m:t>
                      </m:r>
                      <m:r>
                        <a:rPr lang="en-US" altLang="zh-TW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/>
                        </a:rPr>
                        <m:t>vectors</m:t>
                      </m:r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</a:rPr>
                        <m:t>𝑑</m:t>
                      </m:r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altLang="zh-TW" b="0" i="1" smtClean="0"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5×1</m:t>
                          </m:r>
                        </m:sup>
                      </m:sSup>
                    </m:oMath>
                  </m:oMathPara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h𝑖𝑑𝑑𝑒𝑛</m:t>
                    </m:r>
                    <m:r>
                      <a:rPr lang="en-US" altLang="zh-TW" b="0" i="1" smtClean="0">
                        <a:latin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</a:rPr>
                      <m:t>𝑢𝑛𝑖𝑡𝑠</m:t>
                    </m:r>
                    <m:r>
                      <a:rPr lang="en-US" altLang="zh-TW" b="0" i="1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b="0" i="1" smtClean="0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3×1</m:t>
                        </m:r>
                      </m:sup>
                    </m:sSup>
                  </m:oMath>
                </a14:m>
                <a:r>
                  <a:rPr lang="en-US" altLang="zh-TW" dirty="0" smtClean="0"/>
                  <a:t> 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(</a:t>
                </a:r>
                <a:r>
                  <a:rPr lang="zh-TW" altLang="en-US" dirty="0" smtClean="0"/>
                  <a:t>個數由使用者自行決定</a:t>
                </a:r>
                <a:r>
                  <a:rPr lang="en-US" altLang="zh-TW" dirty="0" smtClean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𝑤𝑒𝑖𝑔h𝑡</m:t>
                      </m:r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</a:rPr>
                        <m:t>𝑚𝑎𝑡𝑟𝑖𝑥</m:t>
                      </m:r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5×3</m:t>
                          </m:r>
                        </m:sup>
                      </m:sSup>
                    </m:oMath>
                  </m:oMathPara>
                </a14:m>
                <a:endParaRPr lang="en-US" altLang="zh-TW" dirty="0" smtClean="0"/>
              </a:p>
              <a:p>
                <a:r>
                  <a:rPr lang="en-US" altLang="zh-TW" dirty="0" smtClean="0"/>
                  <a:t>Visible bias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5×1</m:t>
                        </m:r>
                      </m:sup>
                    </m:sSup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Hidden bias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3×1</m:t>
                        </m:r>
                      </m:sup>
                    </m:sSup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869160"/>
                <a:ext cx="5040560" cy="1820050"/>
              </a:xfrm>
              <a:prstGeom prst="rect">
                <a:avLst/>
              </a:prstGeom>
              <a:blipFill rotWithShape="1">
                <a:blip r:embed="rId2"/>
                <a:stretch>
                  <a:fillRect l="-1090" b="-36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4107333" cy="3124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222715"/>
              </p:ext>
            </p:extLst>
          </p:nvPr>
        </p:nvGraphicFramePr>
        <p:xfrm>
          <a:off x="4896034" y="1124744"/>
          <a:ext cx="309634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58"/>
                <a:gridCol w="516058"/>
                <a:gridCol w="516058"/>
                <a:gridCol w="516058"/>
                <a:gridCol w="516058"/>
                <a:gridCol w="516058"/>
              </a:tblGrid>
              <a:tr h="31289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Idx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v5</a:t>
                      </a:r>
                      <a:endParaRPr lang="zh-TW" altLang="en-US" dirty="0"/>
                    </a:p>
                  </a:txBody>
                  <a:tcPr/>
                </a:tc>
              </a:tr>
              <a:tr h="31289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1289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1289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355976" y="2975054"/>
                <a:ext cx="4896544" cy="3722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b="1" dirty="0" smtClean="0">
                    <a:solidFill>
                      <a:srgbClr val="FF0000"/>
                    </a:solidFill>
                  </a:rPr>
                  <a:t>Sampling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1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𝒉</m:t>
                        </m:r>
                      </m:e>
                      <m:sub>
                        <m:r>
                          <a:rPr lang="en-US" altLang="zh-TW" sz="1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TW" sz="1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𝒅𝒂𝒕𝒂</m:t>
                        </m:r>
                      </m:sup>
                    </m:sSubSup>
                  </m:oMath>
                </a14:m>
                <a:r>
                  <a:rPr lang="en-US" altLang="zh-TW" sz="1600" b="1" dirty="0" smtClean="0">
                    <a:solidFill>
                      <a:srgbClr val="FF0000"/>
                    </a:solidFill>
                  </a:rPr>
                  <a:t> of D1</a:t>
                </a:r>
                <a:r>
                  <a:rPr lang="en-US" altLang="zh-TW" sz="1600" dirty="0" smtClean="0"/>
                  <a:t>:</a:t>
                </a:r>
                <a:endParaRPr lang="en-US" altLang="zh-TW" sz="1600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TW" sz="16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1600" b="0" i="1" smtClean="0">
                              <a:latin typeface="Cambria Math"/>
                            </a:rPr>
                            <m:t>=1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TW" sz="16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1600" b="0" i="1" smtClean="0">
                          <a:latin typeface="Cambria Math"/>
                        </a:rPr>
                        <m:t>=</m:t>
                      </m:r>
                      <m:r>
                        <a:rPr lang="en-US" altLang="zh-TW" sz="1600" b="0" i="1" smtClean="0">
                          <a:latin typeface="Cambria Math"/>
                        </a:rPr>
                        <m:t>𝜎</m:t>
                      </m:r>
                      <m:d>
                        <m:dPr>
                          <m:ctrlPr>
                            <a:rPr lang="en-US" altLang="zh-TW" sz="1600" b="0" i="1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TW" sz="16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altLang="zh-TW" sz="1600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sz="1600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1600" i="1">
                                  <a:latin typeface="Cambria Math"/>
                                </a:rPr>
                                <m:t>5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TW" sz="1600" b="0" i="1" smtClean="0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𝑑𝑎𝑡𝑎</m:t>
                                  </m:r>
                                </m:sup>
                              </m:sSubSup>
                              <m:r>
                                <a:rPr lang="en-US" altLang="zh-TW" sz="16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TW" sz="1600" b="0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16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1600" b="0" i="1" smtClean="0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TW" sz="1600" b="0" i="1" smtClean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600" b="0" i="1" smtClean="0">
                              <a:latin typeface="Cambria Math"/>
                            </a:rPr>
                            <m:t>𝑑𝑎𝑡𝑎</m:t>
                          </m:r>
                        </m:sup>
                      </m:sSubSup>
                    </m:oMath>
                  </m:oMathPara>
                </a14:m>
                <a:endParaRPr lang="en-US" altLang="zh-TW" sz="1600" b="0" dirty="0" smtClean="0"/>
              </a:p>
              <a:p>
                <a:r>
                  <a:rPr lang="en-US" altLang="zh-TW" sz="1600" b="1" dirty="0" smtClean="0">
                    <a:solidFill>
                      <a:srgbClr val="FF0000"/>
                    </a:solidFill>
                  </a:rPr>
                  <a:t>Sampling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1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altLang="zh-TW" sz="1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TW" sz="1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𝒓𝒆𝒄</m:t>
                        </m:r>
                      </m:sup>
                    </m:sSubSup>
                  </m:oMath>
                </a14:m>
                <a:r>
                  <a:rPr lang="en-US" altLang="zh-TW" sz="1600" b="1" dirty="0" smtClean="0">
                    <a:solidFill>
                      <a:srgbClr val="FF0000"/>
                    </a:solidFill>
                  </a:rPr>
                  <a:t> of D1:</a:t>
                </a:r>
                <a:endParaRPr lang="en-US" altLang="zh-TW" sz="1600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TW" sz="1600" b="0" i="1" smtClean="0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600" b="0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𝑟𝑒𝑐</m:t>
                              </m:r>
                            </m:sup>
                          </m:sSubSup>
                          <m:r>
                            <a:rPr lang="en-US" altLang="zh-TW" sz="1600" b="0" i="1" smtClean="0">
                              <a:latin typeface="Cambria Math"/>
                            </a:rPr>
                            <m:t>=1</m:t>
                          </m:r>
                        </m:e>
                        <m:e>
                          <m:sSup>
                            <m:sSupPr>
                              <m:ctrlPr>
                                <a:rPr lang="en-US" altLang="zh-TW" sz="1600" b="1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1600" b="1" i="1" smtClean="0">
                                  <a:latin typeface="Cambria Math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altLang="zh-TW" sz="1600" b="1" i="1" smtClean="0">
                                  <a:latin typeface="Cambria Math"/>
                                </a:rPr>
                                <m:t>𝒅𝒂𝒕𝒂</m:t>
                              </m:r>
                            </m:sup>
                          </m:sSup>
                        </m:e>
                      </m:d>
                      <m:r>
                        <a:rPr lang="en-US" altLang="zh-TW" sz="1600" b="0" i="1" smtClean="0">
                          <a:latin typeface="Cambria Math"/>
                        </a:rPr>
                        <m:t>=</m:t>
                      </m:r>
                      <m:r>
                        <a:rPr lang="en-US" altLang="zh-TW" sz="1600" b="0" i="1" smtClean="0">
                          <a:latin typeface="Cambria Math"/>
                        </a:rPr>
                        <m:t>𝜎</m:t>
                      </m:r>
                      <m:d>
                        <m:dPr>
                          <m:ctrlPr>
                            <a:rPr lang="en-US" altLang="zh-TW" sz="1600" b="0" i="1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TW" sz="16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16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6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altLang="zh-TW" sz="1600" b="0" dirty="0" smtClean="0"/>
              </a:p>
              <a:p>
                <a:r>
                  <a:rPr lang="en-US" altLang="zh-TW" sz="1600" b="1" i="1" dirty="0" smtClean="0">
                    <a:solidFill>
                      <a:srgbClr val="FF0000"/>
                    </a:solidFill>
                    <a:latin typeface="Cambria Math"/>
                  </a:rPr>
                  <a:t>Sampling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1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𝒉</m:t>
                        </m:r>
                      </m:e>
                      <m:sub>
                        <m:r>
                          <a:rPr lang="en-US" altLang="zh-TW" sz="1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TW" sz="1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𝒓𝒆𝒄</m:t>
                        </m:r>
                      </m:sup>
                    </m:sSubSup>
                    <m:r>
                      <a:rPr lang="en-US" altLang="zh-TW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𝒐𝒇</m:t>
                    </m:r>
                    <m:r>
                      <a:rPr lang="en-US" altLang="zh-TW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TW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𝑫</m:t>
                    </m:r>
                    <m:r>
                      <a:rPr lang="en-US" altLang="zh-TW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r>
                      <a:rPr lang="en-US" altLang="zh-TW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:</m:t>
                    </m:r>
                  </m:oMath>
                </a14:m>
                <a:endParaRPr lang="en-US" altLang="zh-TW" sz="1600" b="1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TW" sz="1600" b="0" i="1" smtClean="0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600" b="0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𝑟𝑒𝑐</m:t>
                              </m:r>
                            </m:sup>
                          </m:sSubSup>
                          <m:r>
                            <a:rPr lang="en-US" altLang="zh-TW" sz="1600" b="0" i="1" smtClean="0">
                              <a:latin typeface="Cambria Math"/>
                            </a:rPr>
                            <m:t>=1|</m:t>
                          </m:r>
                          <m:sSup>
                            <m:sSupPr>
                              <m:ctrlPr>
                                <a:rPr lang="en-US" altLang="zh-TW" sz="16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𝑟𝑒𝑐</m:t>
                              </m:r>
                            </m:sup>
                          </m:sSup>
                        </m:e>
                      </m:d>
                      <m:r>
                        <a:rPr lang="en-US" altLang="zh-TW" sz="1600" b="0" i="1" smtClean="0">
                          <a:latin typeface="Cambria Math"/>
                        </a:rPr>
                        <m:t>=</m:t>
                      </m:r>
                      <m:r>
                        <a:rPr lang="en-US" altLang="zh-TW" sz="1600" b="0" i="1" smtClean="0">
                          <a:latin typeface="Cambria Math"/>
                        </a:rPr>
                        <m:t>𝜎</m:t>
                      </m:r>
                      <m:d>
                        <m:dPr>
                          <m:ctrlPr>
                            <a:rPr lang="en-US" altLang="zh-TW" sz="1600" b="0" i="1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TW" sz="16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altLang="zh-TW" sz="1600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sz="1600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1600" i="1">
                                  <a:latin typeface="Cambria Math"/>
                                </a:rPr>
                                <m:t>5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TW" sz="16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𝑟𝑒𝑐</m:t>
                                  </m:r>
                                </m:sup>
                              </m:sSubSup>
                              <m:r>
                                <a:rPr lang="en-US" altLang="zh-TW" sz="16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altLang="zh-TW" sz="1600" i="1" dirty="0">
                  <a:latin typeface="Cambria Math"/>
                </a:endParaRPr>
              </a:p>
              <a:p>
                <a:endParaRPr lang="en-US" altLang="zh-TW" sz="1600" dirty="0" smtClean="0"/>
              </a:p>
              <a:p>
                <a:endParaRPr lang="zh-TW" altLang="en-US" sz="16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2975054"/>
                <a:ext cx="4896544" cy="3722429"/>
              </a:xfrm>
              <a:prstGeom prst="rect">
                <a:avLst/>
              </a:prstGeom>
              <a:blipFill rotWithShape="1">
                <a:blip r:embed="rId4"/>
                <a:stretch>
                  <a:fillRect l="-7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21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Deep belief </a:t>
            </a:r>
            <a:r>
              <a:rPr lang="en-US" altLang="zh-TW" dirty="0" smtClean="0"/>
              <a:t>net, layer-wise pre-training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6" name="流程圖: 程序 5"/>
          <p:cNvSpPr/>
          <p:nvPr/>
        </p:nvSpPr>
        <p:spPr>
          <a:xfrm>
            <a:off x="683568" y="1988840"/>
            <a:ext cx="1656184" cy="504056"/>
          </a:xfrm>
          <a:prstGeom prst="flowChartProces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500 units</a:t>
            </a:r>
            <a:endParaRPr lang="zh-TW" altLang="en-US" dirty="0"/>
          </a:p>
        </p:txBody>
      </p:sp>
      <p:sp>
        <p:nvSpPr>
          <p:cNvPr id="7" name="流程圖: 程序 6"/>
          <p:cNvSpPr/>
          <p:nvPr/>
        </p:nvSpPr>
        <p:spPr>
          <a:xfrm>
            <a:off x="539552" y="2941155"/>
            <a:ext cx="1944216" cy="50405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28*28 units (input)</a:t>
            </a:r>
            <a:endParaRPr lang="zh-TW" altLang="en-US" dirty="0"/>
          </a:p>
        </p:txBody>
      </p:sp>
      <p:sp>
        <p:nvSpPr>
          <p:cNvPr id="8" name="上-下雙向箭號 7"/>
          <p:cNvSpPr/>
          <p:nvPr/>
        </p:nvSpPr>
        <p:spPr>
          <a:xfrm>
            <a:off x="1331640" y="2507911"/>
            <a:ext cx="360040" cy="433244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251520" y="1452944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1. RBM for first layer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51720" y="256490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W</a:t>
            </a:r>
            <a:r>
              <a:rPr lang="en-US" altLang="zh-TW" baseline="-25000" dirty="0" smtClean="0"/>
              <a:t>1</a:t>
            </a:r>
            <a:endParaRPr lang="zh-TW" altLang="en-US" baseline="-25000" dirty="0"/>
          </a:p>
        </p:txBody>
      </p:sp>
      <p:sp>
        <p:nvSpPr>
          <p:cNvPr id="13" name="流程圖: 程序 12"/>
          <p:cNvSpPr/>
          <p:nvPr/>
        </p:nvSpPr>
        <p:spPr>
          <a:xfrm>
            <a:off x="705023" y="5237603"/>
            <a:ext cx="1656184" cy="504056"/>
          </a:xfrm>
          <a:prstGeom prst="flowChartProces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500 units</a:t>
            </a:r>
            <a:endParaRPr lang="zh-TW" altLang="en-US" dirty="0"/>
          </a:p>
        </p:txBody>
      </p:sp>
      <p:sp>
        <p:nvSpPr>
          <p:cNvPr id="14" name="流程圖: 程序 13"/>
          <p:cNvSpPr/>
          <p:nvPr/>
        </p:nvSpPr>
        <p:spPr>
          <a:xfrm>
            <a:off x="561007" y="6189918"/>
            <a:ext cx="1944216" cy="50405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28*28 units (input)</a:t>
            </a:r>
            <a:endParaRPr lang="zh-TW" altLang="en-US" dirty="0"/>
          </a:p>
        </p:txBody>
      </p:sp>
      <p:sp>
        <p:nvSpPr>
          <p:cNvPr id="15" name="上-下雙向箭號 14"/>
          <p:cNvSpPr/>
          <p:nvPr/>
        </p:nvSpPr>
        <p:spPr>
          <a:xfrm>
            <a:off x="1353095" y="5756674"/>
            <a:ext cx="360040" cy="433244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073174" y="5770527"/>
            <a:ext cx="120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W</a:t>
            </a:r>
            <a:r>
              <a:rPr lang="en-US" altLang="zh-TW" baseline="-25000" dirty="0" smtClean="0"/>
              <a:t>1 </a:t>
            </a:r>
            <a:r>
              <a:rPr lang="en-US" altLang="zh-TW" dirty="0" smtClean="0"/>
              <a:t>freeze</a:t>
            </a:r>
            <a:endParaRPr lang="zh-TW" altLang="en-US" dirty="0"/>
          </a:p>
        </p:txBody>
      </p:sp>
      <p:sp>
        <p:nvSpPr>
          <p:cNvPr id="17" name="流程圖: 程序 16"/>
          <p:cNvSpPr/>
          <p:nvPr/>
        </p:nvSpPr>
        <p:spPr>
          <a:xfrm>
            <a:off x="683568" y="4293096"/>
            <a:ext cx="1656184" cy="504056"/>
          </a:xfrm>
          <a:prstGeom prst="flowChartProces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500 units</a:t>
            </a:r>
            <a:endParaRPr lang="zh-TW" altLang="en-US" dirty="0"/>
          </a:p>
        </p:txBody>
      </p:sp>
      <p:sp>
        <p:nvSpPr>
          <p:cNvPr id="18" name="上-下雙向箭號 17"/>
          <p:cNvSpPr/>
          <p:nvPr/>
        </p:nvSpPr>
        <p:spPr>
          <a:xfrm>
            <a:off x="1331640" y="4797152"/>
            <a:ext cx="360040" cy="433244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2051720" y="48598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W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2</a:t>
            </a:r>
            <a:endParaRPr lang="zh-TW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72974" y="3645024"/>
            <a:ext cx="350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2</a:t>
            </a:r>
            <a:r>
              <a:rPr lang="en-US" altLang="zh-TW" sz="2400" dirty="0" smtClean="0">
                <a:solidFill>
                  <a:srgbClr val="FF0000"/>
                </a:solidFill>
              </a:rPr>
              <a:t>. RBM for second layer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812360" y="493187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W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freeze</a:t>
            </a:r>
            <a:r>
              <a:rPr lang="en-US" altLang="zh-TW" baseline="-25000" dirty="0" smtClean="0"/>
              <a:t> </a:t>
            </a:r>
            <a:endParaRPr lang="zh-TW" altLang="en-US" baseline="-250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618731" y="1544169"/>
            <a:ext cx="350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3. RBM for top layer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892752" y="4076164"/>
            <a:ext cx="1431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W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freeze</a:t>
            </a:r>
            <a:endParaRPr lang="zh-TW" alt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4148008" y="2497542"/>
            <a:ext cx="4333879" cy="3379730"/>
            <a:chOff x="4148008" y="2497542"/>
            <a:chExt cx="4333879" cy="3379730"/>
          </a:xfrm>
        </p:grpSpPr>
        <p:sp>
          <p:nvSpPr>
            <p:cNvPr id="22" name="流程圖: 程序 21"/>
            <p:cNvSpPr/>
            <p:nvPr/>
          </p:nvSpPr>
          <p:spPr>
            <a:xfrm>
              <a:off x="6393655" y="4420901"/>
              <a:ext cx="1656184" cy="504056"/>
            </a:xfrm>
            <a:prstGeom prst="flowChart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500 units</a:t>
              </a:r>
              <a:endParaRPr lang="zh-TW" altLang="en-US" dirty="0"/>
            </a:p>
          </p:txBody>
        </p:sp>
        <p:sp>
          <p:nvSpPr>
            <p:cNvPr id="23" name="流程圖: 程序 22"/>
            <p:cNvSpPr/>
            <p:nvPr/>
          </p:nvSpPr>
          <p:spPr>
            <a:xfrm>
              <a:off x="6249639" y="5373216"/>
              <a:ext cx="1944216" cy="504056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28*28 units (input)</a:t>
              </a:r>
              <a:endParaRPr lang="zh-TW" altLang="en-US" dirty="0"/>
            </a:p>
          </p:txBody>
        </p:sp>
        <p:sp>
          <p:nvSpPr>
            <p:cNvPr id="24" name="上-下雙向箭號 23"/>
            <p:cNvSpPr/>
            <p:nvPr/>
          </p:nvSpPr>
          <p:spPr>
            <a:xfrm>
              <a:off x="7041727" y="4939972"/>
              <a:ext cx="360040" cy="433244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流程圖: 程序 25"/>
            <p:cNvSpPr/>
            <p:nvPr/>
          </p:nvSpPr>
          <p:spPr>
            <a:xfrm>
              <a:off x="6372200" y="3476394"/>
              <a:ext cx="1656184" cy="504056"/>
            </a:xfrm>
            <a:prstGeom prst="flowChartProcess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500 units</a:t>
              </a:r>
              <a:endParaRPr lang="zh-TW" altLang="en-US" dirty="0"/>
            </a:p>
          </p:txBody>
        </p:sp>
        <p:sp>
          <p:nvSpPr>
            <p:cNvPr id="27" name="上-下雙向箭號 26"/>
            <p:cNvSpPr/>
            <p:nvPr/>
          </p:nvSpPr>
          <p:spPr>
            <a:xfrm>
              <a:off x="7020272" y="3980450"/>
              <a:ext cx="360040" cy="433244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5508104" y="305966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W</a:t>
              </a:r>
              <a:r>
                <a:rPr lang="en-US" altLang="zh-TW" baseline="-25000" dirty="0" smtClean="0">
                  <a:solidFill>
                    <a:srgbClr val="FF0000"/>
                  </a:solidFill>
                </a:rPr>
                <a:t>4</a:t>
              </a:r>
              <a:endParaRPr lang="zh-TW" altLang="en-US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30" name="流程圖: 程序 29"/>
            <p:cNvSpPr/>
            <p:nvPr/>
          </p:nvSpPr>
          <p:spPr>
            <a:xfrm>
              <a:off x="4211960" y="3476394"/>
              <a:ext cx="1656184" cy="504056"/>
            </a:xfrm>
            <a:prstGeom prst="flowChartProcess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10 label units</a:t>
              </a:r>
              <a:endParaRPr lang="zh-TW" altLang="en-US" dirty="0"/>
            </a:p>
          </p:txBody>
        </p:sp>
        <p:sp>
          <p:nvSpPr>
            <p:cNvPr id="31" name="流程圖: 程序 30"/>
            <p:cNvSpPr/>
            <p:nvPr/>
          </p:nvSpPr>
          <p:spPr>
            <a:xfrm>
              <a:off x="4148008" y="2497542"/>
              <a:ext cx="4053903" cy="504056"/>
            </a:xfrm>
            <a:prstGeom prst="flowChartProcess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2000 units</a:t>
              </a:r>
              <a:endParaRPr lang="zh-TW" altLang="en-US" dirty="0"/>
            </a:p>
          </p:txBody>
        </p:sp>
        <p:sp>
          <p:nvSpPr>
            <p:cNvPr id="32" name="上-下雙向箭號 31"/>
            <p:cNvSpPr/>
            <p:nvPr/>
          </p:nvSpPr>
          <p:spPr>
            <a:xfrm>
              <a:off x="5040052" y="3043150"/>
              <a:ext cx="360040" cy="433244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上-下雙向箭號 32"/>
            <p:cNvSpPr/>
            <p:nvPr/>
          </p:nvSpPr>
          <p:spPr>
            <a:xfrm>
              <a:off x="7000141" y="3043150"/>
              <a:ext cx="360040" cy="433244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7617791" y="3075879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W</a:t>
              </a:r>
              <a:r>
                <a:rPr lang="en-US" altLang="zh-TW" baseline="-25000" dirty="0" smtClean="0">
                  <a:solidFill>
                    <a:srgbClr val="FF0000"/>
                  </a:solidFill>
                </a:rPr>
                <a:t>3</a:t>
              </a:r>
              <a:endParaRPr lang="zh-TW" altLang="en-US" baseline="-25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Deep belief net, </a:t>
            </a:r>
            <a:r>
              <a:rPr lang="en-US" altLang="zh-TW" dirty="0" smtClean="0"/>
              <a:t>fine tuning</a:t>
            </a:r>
            <a:br>
              <a:rPr lang="en-US" altLang="zh-TW" dirty="0" smtClean="0"/>
            </a:br>
            <a:r>
              <a:rPr lang="en-US" altLang="zh-TW" dirty="0" smtClean="0"/>
              <a:t>(wake sleeping algorithm)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467544" y="1628800"/>
            <a:ext cx="80648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Hinton, G. E., Dayan, P., Frey, B. J. and Neal, R</a:t>
            </a:r>
            <a:r>
              <a:rPr lang="en-US" altLang="zh-TW" dirty="0" smtClean="0"/>
              <a:t>. “</a:t>
            </a:r>
            <a:r>
              <a:rPr lang="en-US" altLang="zh-TW" b="1" dirty="0" smtClean="0"/>
              <a:t>The </a:t>
            </a:r>
            <a:r>
              <a:rPr lang="en-US" altLang="zh-TW" b="1" dirty="0"/>
              <a:t>wake-sleep algorithm for unsupervised Neural </a:t>
            </a:r>
            <a:r>
              <a:rPr lang="en-US" altLang="zh-TW" b="1" dirty="0" smtClean="0"/>
              <a:t>Networks,” </a:t>
            </a:r>
            <a:r>
              <a:rPr lang="en-US" altLang="zh-TW" i="1" dirty="0" smtClean="0"/>
              <a:t>Science</a:t>
            </a:r>
            <a:r>
              <a:rPr lang="en-US" altLang="zh-TW" dirty="0" smtClean="0"/>
              <a:t>, Vol. </a:t>
            </a:r>
            <a:r>
              <a:rPr lang="en-US" altLang="zh-TW" dirty="0"/>
              <a:t>268, </a:t>
            </a:r>
            <a:r>
              <a:rPr lang="en-US" altLang="zh-TW" dirty="0" smtClean="0"/>
              <a:t> pp. 1158-1161, 1995.</a:t>
            </a:r>
            <a:endParaRPr lang="zh-TW" altLang="en-US" dirty="0"/>
          </a:p>
        </p:txBody>
      </p:sp>
      <p:grpSp>
        <p:nvGrpSpPr>
          <p:cNvPr id="36" name="群組 35"/>
          <p:cNvGrpSpPr/>
          <p:nvPr/>
        </p:nvGrpSpPr>
        <p:grpSpPr>
          <a:xfrm>
            <a:off x="4932040" y="2636912"/>
            <a:ext cx="4176464" cy="3007214"/>
            <a:chOff x="4148008" y="2497542"/>
            <a:chExt cx="4710040" cy="3379730"/>
          </a:xfrm>
        </p:grpSpPr>
        <p:sp>
          <p:nvSpPr>
            <p:cNvPr id="6" name="流程圖: 程序 5"/>
            <p:cNvSpPr/>
            <p:nvPr/>
          </p:nvSpPr>
          <p:spPr>
            <a:xfrm>
              <a:off x="6393655" y="4420901"/>
              <a:ext cx="1656184" cy="504056"/>
            </a:xfrm>
            <a:prstGeom prst="flowChart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500 units</a:t>
              </a:r>
              <a:endParaRPr lang="zh-TW" altLang="en-US" dirty="0"/>
            </a:p>
          </p:txBody>
        </p:sp>
        <p:sp>
          <p:nvSpPr>
            <p:cNvPr id="7" name="流程圖: 程序 6"/>
            <p:cNvSpPr/>
            <p:nvPr/>
          </p:nvSpPr>
          <p:spPr>
            <a:xfrm>
              <a:off x="6249639" y="5373216"/>
              <a:ext cx="1944216" cy="504056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28*28 units (input)</a:t>
              </a:r>
              <a:endParaRPr lang="zh-TW" altLang="en-US" dirty="0"/>
            </a:p>
          </p:txBody>
        </p:sp>
        <p:sp>
          <p:nvSpPr>
            <p:cNvPr id="9" name="流程圖: 程序 8"/>
            <p:cNvSpPr/>
            <p:nvPr/>
          </p:nvSpPr>
          <p:spPr>
            <a:xfrm>
              <a:off x="6372200" y="3476394"/>
              <a:ext cx="1656184" cy="504056"/>
            </a:xfrm>
            <a:prstGeom prst="flowChartProcess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500 units</a:t>
              </a:r>
              <a:endParaRPr lang="zh-TW" altLang="en-US" dirty="0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5508104" y="305966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W</a:t>
              </a:r>
              <a:r>
                <a:rPr lang="en-US" altLang="zh-TW" baseline="-25000" dirty="0" smtClean="0">
                  <a:solidFill>
                    <a:srgbClr val="FF0000"/>
                  </a:solidFill>
                </a:rPr>
                <a:t>4</a:t>
              </a:r>
              <a:r>
                <a:rPr lang="en-US" altLang="zh-TW" baseline="30000" dirty="0" smtClean="0">
                  <a:solidFill>
                    <a:srgbClr val="FF0000"/>
                  </a:solidFill>
                </a:rPr>
                <a:t>’</a:t>
              </a:r>
              <a:endParaRPr lang="zh-TW" altLang="en-US" baseline="30000" dirty="0">
                <a:solidFill>
                  <a:srgbClr val="FF0000"/>
                </a:solidFill>
              </a:endParaRPr>
            </a:p>
          </p:txBody>
        </p:sp>
        <p:sp>
          <p:nvSpPr>
            <p:cNvPr id="12" name="流程圖: 程序 11"/>
            <p:cNvSpPr/>
            <p:nvPr/>
          </p:nvSpPr>
          <p:spPr>
            <a:xfrm>
              <a:off x="4211960" y="3476394"/>
              <a:ext cx="1656184" cy="504056"/>
            </a:xfrm>
            <a:prstGeom prst="flowChartProcess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10 label units</a:t>
              </a:r>
              <a:endParaRPr lang="zh-TW" altLang="en-US" dirty="0"/>
            </a:p>
          </p:txBody>
        </p:sp>
        <p:sp>
          <p:nvSpPr>
            <p:cNvPr id="13" name="流程圖: 程序 12"/>
            <p:cNvSpPr/>
            <p:nvPr/>
          </p:nvSpPr>
          <p:spPr>
            <a:xfrm>
              <a:off x="4148008" y="2497542"/>
              <a:ext cx="4053903" cy="504056"/>
            </a:xfrm>
            <a:prstGeom prst="flowChartProcess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2000 units</a:t>
              </a:r>
              <a:endParaRPr lang="zh-TW" altLang="en-US" dirty="0"/>
            </a:p>
          </p:txBody>
        </p:sp>
        <p:sp>
          <p:nvSpPr>
            <p:cNvPr id="14" name="上-下雙向箭號 13"/>
            <p:cNvSpPr/>
            <p:nvPr/>
          </p:nvSpPr>
          <p:spPr>
            <a:xfrm>
              <a:off x="5040052" y="3043150"/>
              <a:ext cx="360040" cy="433244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上-下雙向箭號 14"/>
            <p:cNvSpPr/>
            <p:nvPr/>
          </p:nvSpPr>
          <p:spPr>
            <a:xfrm>
              <a:off x="7000141" y="3043150"/>
              <a:ext cx="360040" cy="433244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7617791" y="3075879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W</a:t>
              </a:r>
              <a:r>
                <a:rPr lang="en-US" altLang="zh-TW" baseline="-25000" dirty="0" smtClean="0">
                  <a:solidFill>
                    <a:srgbClr val="FF0000"/>
                  </a:solidFill>
                </a:rPr>
                <a:t>3</a:t>
              </a:r>
              <a:r>
                <a:rPr lang="en-US" altLang="zh-TW" baseline="30000" dirty="0" smtClean="0">
                  <a:solidFill>
                    <a:srgbClr val="FF0000"/>
                  </a:solidFill>
                </a:rPr>
                <a:t>’</a:t>
              </a:r>
              <a:endParaRPr lang="zh-TW" altLang="en-US" baseline="30000" dirty="0">
                <a:solidFill>
                  <a:srgbClr val="FF0000"/>
                </a:solidFill>
              </a:endParaRPr>
            </a:p>
          </p:txBody>
        </p:sp>
        <p:sp>
          <p:nvSpPr>
            <p:cNvPr id="3" name="向下箭號 2"/>
            <p:cNvSpPr/>
            <p:nvPr/>
          </p:nvSpPr>
          <p:spPr>
            <a:xfrm>
              <a:off x="6660232" y="3980450"/>
              <a:ext cx="339909" cy="440451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向下箭號 17"/>
            <p:cNvSpPr/>
            <p:nvPr/>
          </p:nvSpPr>
          <p:spPr>
            <a:xfrm>
              <a:off x="6660232" y="4924957"/>
              <a:ext cx="339909" cy="440451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向下箭號 18"/>
            <p:cNvSpPr/>
            <p:nvPr/>
          </p:nvSpPr>
          <p:spPr>
            <a:xfrm rot="10800000">
              <a:off x="7455013" y="3980449"/>
              <a:ext cx="339909" cy="440451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向下箭號 19"/>
            <p:cNvSpPr/>
            <p:nvPr/>
          </p:nvSpPr>
          <p:spPr>
            <a:xfrm rot="10800000">
              <a:off x="7455013" y="4959087"/>
              <a:ext cx="339909" cy="440451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5760101" y="5004379"/>
              <a:ext cx="11046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 smtClean="0">
                  <a:solidFill>
                    <a:srgbClr val="FF0000"/>
                  </a:solidFill>
                </a:rPr>
                <a:t>W</a:t>
              </a:r>
              <a:r>
                <a:rPr lang="en-US" altLang="zh-TW" sz="2000" baseline="-25000" dirty="0" smtClean="0">
                  <a:solidFill>
                    <a:srgbClr val="FF0000"/>
                  </a:solidFill>
                </a:rPr>
                <a:t>1</a:t>
              </a:r>
              <a:r>
                <a:rPr lang="en-US" altLang="zh-TW" sz="2000" baseline="30000" dirty="0" smtClean="0">
                  <a:solidFill>
                    <a:srgbClr val="FF0000"/>
                  </a:solidFill>
                </a:rPr>
                <a:t>recon</a:t>
              </a:r>
              <a:endParaRPr lang="zh-TW" altLang="en-US" sz="2000" baseline="30000" dirty="0">
                <a:solidFill>
                  <a:srgbClr val="FF0000"/>
                </a:solidFill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5760101" y="4051569"/>
              <a:ext cx="89114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 smtClean="0">
                  <a:solidFill>
                    <a:srgbClr val="FF0000"/>
                  </a:solidFill>
                </a:rPr>
                <a:t>W</a:t>
              </a:r>
              <a:r>
                <a:rPr lang="en-US" altLang="zh-TW" sz="2000" baseline="-25000" dirty="0" smtClean="0">
                  <a:solidFill>
                    <a:srgbClr val="FF0000"/>
                  </a:solidFill>
                </a:rPr>
                <a:t>2</a:t>
              </a:r>
              <a:r>
                <a:rPr lang="en-US" altLang="zh-TW" sz="2000" baseline="30000" dirty="0" smtClean="0">
                  <a:solidFill>
                    <a:srgbClr val="FF0000"/>
                  </a:solidFill>
                </a:rPr>
                <a:t>recon</a:t>
              </a:r>
              <a:endParaRPr lang="zh-TW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8028384" y="4041609"/>
              <a:ext cx="75232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 smtClean="0">
                  <a:solidFill>
                    <a:srgbClr val="FF0000"/>
                  </a:solidFill>
                </a:rPr>
                <a:t>W</a:t>
              </a:r>
              <a:r>
                <a:rPr lang="en-US" altLang="zh-TW" sz="2000" baseline="-25000" dirty="0" smtClean="0">
                  <a:solidFill>
                    <a:srgbClr val="FF0000"/>
                  </a:solidFill>
                </a:rPr>
                <a:t>2</a:t>
              </a:r>
              <a:r>
                <a:rPr lang="en-US" altLang="zh-TW" sz="2000" baseline="30000" dirty="0" smtClean="0">
                  <a:solidFill>
                    <a:srgbClr val="FF0000"/>
                  </a:solidFill>
                </a:rPr>
                <a:t>gen</a:t>
              </a:r>
              <a:endParaRPr lang="zh-TW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105726" y="5004379"/>
              <a:ext cx="75232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dirty="0" smtClean="0">
                  <a:solidFill>
                    <a:srgbClr val="FF0000"/>
                  </a:solidFill>
                </a:rPr>
                <a:t>W</a:t>
              </a:r>
              <a:r>
                <a:rPr lang="en-US" altLang="zh-TW" sz="2000" baseline="-25000" dirty="0" smtClean="0">
                  <a:solidFill>
                    <a:srgbClr val="FF0000"/>
                  </a:solidFill>
                </a:rPr>
                <a:t>1</a:t>
              </a:r>
              <a:r>
                <a:rPr lang="en-US" altLang="zh-TW" sz="2000" baseline="30000" dirty="0" smtClean="0">
                  <a:solidFill>
                    <a:srgbClr val="FF0000"/>
                  </a:solidFill>
                </a:rPr>
                <a:t>gen</a:t>
              </a:r>
              <a:endParaRPr lang="zh-TW" alt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199421" y="2636824"/>
            <a:ext cx="3748444" cy="3127702"/>
            <a:chOff x="4148008" y="2497542"/>
            <a:chExt cx="4333879" cy="3379730"/>
          </a:xfrm>
        </p:grpSpPr>
        <p:sp>
          <p:nvSpPr>
            <p:cNvPr id="38" name="流程圖: 程序 37"/>
            <p:cNvSpPr/>
            <p:nvPr/>
          </p:nvSpPr>
          <p:spPr>
            <a:xfrm>
              <a:off x="6393655" y="4420901"/>
              <a:ext cx="1656184" cy="504056"/>
            </a:xfrm>
            <a:prstGeom prst="flowChartProcess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500 units</a:t>
              </a:r>
              <a:endParaRPr lang="zh-TW" altLang="en-US" dirty="0"/>
            </a:p>
          </p:txBody>
        </p:sp>
        <p:sp>
          <p:nvSpPr>
            <p:cNvPr id="39" name="流程圖: 程序 38"/>
            <p:cNvSpPr/>
            <p:nvPr/>
          </p:nvSpPr>
          <p:spPr>
            <a:xfrm>
              <a:off x="6249639" y="5373216"/>
              <a:ext cx="1944216" cy="504056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28*28 units (input)</a:t>
              </a:r>
              <a:endParaRPr lang="zh-TW" altLang="en-US" dirty="0"/>
            </a:p>
          </p:txBody>
        </p:sp>
        <p:sp>
          <p:nvSpPr>
            <p:cNvPr id="40" name="上-下雙向箭號 39"/>
            <p:cNvSpPr/>
            <p:nvPr/>
          </p:nvSpPr>
          <p:spPr>
            <a:xfrm>
              <a:off x="7041727" y="4939972"/>
              <a:ext cx="360040" cy="433244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流程圖: 程序 40"/>
            <p:cNvSpPr/>
            <p:nvPr/>
          </p:nvSpPr>
          <p:spPr>
            <a:xfrm>
              <a:off x="6372200" y="3476394"/>
              <a:ext cx="1656184" cy="504056"/>
            </a:xfrm>
            <a:prstGeom prst="flowChartProcess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500 units</a:t>
              </a:r>
              <a:endParaRPr lang="zh-TW" altLang="en-US" dirty="0"/>
            </a:p>
          </p:txBody>
        </p:sp>
        <p:sp>
          <p:nvSpPr>
            <p:cNvPr id="42" name="上-下雙向箭號 41"/>
            <p:cNvSpPr/>
            <p:nvPr/>
          </p:nvSpPr>
          <p:spPr>
            <a:xfrm>
              <a:off x="7020272" y="3980450"/>
              <a:ext cx="360040" cy="433244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5508104" y="305966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W</a:t>
              </a:r>
              <a:r>
                <a:rPr lang="en-US" altLang="zh-TW" baseline="-25000" dirty="0" smtClean="0">
                  <a:solidFill>
                    <a:srgbClr val="FF0000"/>
                  </a:solidFill>
                </a:rPr>
                <a:t>4</a:t>
              </a:r>
              <a:endParaRPr lang="zh-TW" altLang="en-US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44" name="流程圖: 程序 43"/>
            <p:cNvSpPr/>
            <p:nvPr/>
          </p:nvSpPr>
          <p:spPr>
            <a:xfrm>
              <a:off x="4211960" y="3476394"/>
              <a:ext cx="1656184" cy="504056"/>
            </a:xfrm>
            <a:prstGeom prst="flowChartProcess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10 label units</a:t>
              </a:r>
              <a:endParaRPr lang="zh-TW" altLang="en-US" dirty="0"/>
            </a:p>
          </p:txBody>
        </p:sp>
        <p:sp>
          <p:nvSpPr>
            <p:cNvPr id="45" name="流程圖: 程序 44"/>
            <p:cNvSpPr/>
            <p:nvPr/>
          </p:nvSpPr>
          <p:spPr>
            <a:xfrm>
              <a:off x="4148008" y="2497542"/>
              <a:ext cx="4053903" cy="504056"/>
            </a:xfrm>
            <a:prstGeom prst="flowChartProcess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2000 units</a:t>
              </a:r>
              <a:endParaRPr lang="zh-TW" altLang="en-US" dirty="0"/>
            </a:p>
          </p:txBody>
        </p:sp>
        <p:sp>
          <p:nvSpPr>
            <p:cNvPr id="46" name="上-下雙向箭號 45"/>
            <p:cNvSpPr/>
            <p:nvPr/>
          </p:nvSpPr>
          <p:spPr>
            <a:xfrm>
              <a:off x="5040052" y="3043150"/>
              <a:ext cx="360040" cy="433244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上-下雙向箭號 46"/>
            <p:cNvSpPr/>
            <p:nvPr/>
          </p:nvSpPr>
          <p:spPr>
            <a:xfrm>
              <a:off x="7000141" y="3043150"/>
              <a:ext cx="360040" cy="433244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7617791" y="3075879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rgbClr val="FF0000"/>
                  </a:solidFill>
                </a:rPr>
                <a:t>W</a:t>
              </a:r>
              <a:r>
                <a:rPr lang="en-US" altLang="zh-TW" baseline="-25000" dirty="0" smtClean="0">
                  <a:solidFill>
                    <a:srgbClr val="FF0000"/>
                  </a:solidFill>
                </a:rPr>
                <a:t>3</a:t>
              </a:r>
              <a:endParaRPr lang="zh-TW" altLang="en-US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49" name="向右箭號 48"/>
          <p:cNvSpPr/>
          <p:nvPr/>
        </p:nvSpPr>
        <p:spPr>
          <a:xfrm>
            <a:off x="3888335" y="3734735"/>
            <a:ext cx="936104" cy="6408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977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Wake-sleeping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589136"/>
            <a:ext cx="6264696" cy="4864200"/>
          </a:xfrm>
        </p:spPr>
        <p:txBody>
          <a:bodyPr>
            <a:normAutofit/>
          </a:bodyPr>
          <a:lstStyle/>
          <a:p>
            <a:r>
              <a:rPr lang="en-US" altLang="zh-TW" sz="2000" dirty="0" smtClean="0"/>
              <a:t>unsupervised </a:t>
            </a:r>
            <a:r>
              <a:rPr lang="en-US" altLang="zh-TW" sz="2000" dirty="0"/>
              <a:t>learning for multilayer neural </a:t>
            </a:r>
            <a:r>
              <a:rPr lang="en-US" altLang="zh-TW" sz="2000" dirty="0" smtClean="0"/>
              <a:t>networks</a:t>
            </a:r>
          </a:p>
          <a:p>
            <a:pPr marL="285750" indent="-285750"/>
            <a:r>
              <a:rPr lang="en-US" altLang="zh-TW" sz="2000" b="1" dirty="0">
                <a:solidFill>
                  <a:srgbClr val="0070C0"/>
                </a:solidFill>
              </a:rPr>
              <a:t>Wake phase: 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685800" lvl="1"/>
            <a:r>
              <a:rPr lang="en-US" altLang="zh-TW" sz="2000" dirty="0" smtClean="0"/>
              <a:t>Use </a:t>
            </a:r>
            <a:r>
              <a:rPr lang="en-US" altLang="zh-TW" sz="2000" b="1" dirty="0">
                <a:solidFill>
                  <a:srgbClr val="FF0000"/>
                </a:solidFill>
              </a:rPr>
              <a:t>recognition weights  </a:t>
            </a:r>
            <a:r>
              <a:rPr lang="en-US" altLang="zh-TW" sz="2000" dirty="0"/>
              <a:t>to perform a bottom-up pass.  </a:t>
            </a:r>
            <a:endParaRPr lang="en-US" altLang="zh-TW" sz="2000" dirty="0" smtClean="0"/>
          </a:p>
          <a:p>
            <a:pPr marL="685800" lvl="1"/>
            <a:r>
              <a:rPr lang="en-US" altLang="zh-TW" sz="2000" dirty="0" smtClean="0"/>
              <a:t>Train </a:t>
            </a:r>
            <a:r>
              <a:rPr lang="en-US" altLang="zh-TW" sz="2000" dirty="0"/>
              <a:t>the generative weights to  reconstruct activities in each layer from the layer above. </a:t>
            </a:r>
          </a:p>
          <a:p>
            <a:pPr marL="285750" indent="-285750"/>
            <a:r>
              <a:rPr lang="en-US" altLang="zh-TW" sz="2000" b="1" dirty="0">
                <a:solidFill>
                  <a:srgbClr val="0070C0"/>
                </a:solidFill>
              </a:rPr>
              <a:t> Sleep phase: </a:t>
            </a:r>
            <a:endParaRPr lang="en-US" altLang="zh-TW" sz="2000" b="1" dirty="0" smtClean="0">
              <a:solidFill>
                <a:srgbClr val="0070C0"/>
              </a:solidFill>
            </a:endParaRPr>
          </a:p>
          <a:p>
            <a:pPr marL="685800" lvl="1"/>
            <a:r>
              <a:rPr lang="en-US" altLang="zh-TW" sz="2000" dirty="0" smtClean="0"/>
              <a:t>Use </a:t>
            </a:r>
            <a:r>
              <a:rPr lang="en-US" altLang="zh-TW" sz="2000" b="1" dirty="0">
                <a:solidFill>
                  <a:srgbClr val="92D050"/>
                </a:solidFill>
              </a:rPr>
              <a:t>generative weights </a:t>
            </a:r>
            <a:r>
              <a:rPr lang="en-US" altLang="zh-TW" sz="2000" dirty="0"/>
              <a:t>to generate samples from the model.  </a:t>
            </a:r>
            <a:endParaRPr lang="en-US" altLang="zh-TW" sz="2000" dirty="0" smtClean="0"/>
          </a:p>
          <a:p>
            <a:pPr marL="685800" lvl="1"/>
            <a:r>
              <a:rPr lang="en-US" altLang="zh-TW" sz="2000" dirty="0" smtClean="0"/>
              <a:t>Train </a:t>
            </a:r>
            <a:r>
              <a:rPr lang="en-US" altLang="zh-TW" sz="2000" dirty="0"/>
              <a:t>the recognition weights to  reconstruct activities in each layer from the layer below. </a:t>
            </a:r>
            <a:endParaRPr lang="zh-TW" altLang="en-US" sz="2000" dirty="0"/>
          </a:p>
          <a:p>
            <a:endParaRPr lang="en-US" altLang="zh-TW" sz="2000" dirty="0" smtClean="0"/>
          </a:p>
          <a:p>
            <a:endParaRPr lang="zh-TW" alt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850" y="2066638"/>
            <a:ext cx="3105150" cy="343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009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45125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sz="3600" dirty="0" smtClean="0"/>
              <a:t>Wake phase (bottom up)</a:t>
            </a:r>
            <a:endParaRPr lang="zh-TW" altLang="en-US" sz="3600" dirty="0"/>
          </a:p>
        </p:txBody>
      </p:sp>
      <p:sp>
        <p:nvSpPr>
          <p:cNvPr id="8" name="流程圖: 替代處理程序 7"/>
          <p:cNvSpPr/>
          <p:nvPr/>
        </p:nvSpPr>
        <p:spPr>
          <a:xfrm>
            <a:off x="3505120" y="1268760"/>
            <a:ext cx="1224000" cy="360000"/>
          </a:xfrm>
          <a:prstGeom prst="flowChartAlternateProces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top</a:t>
            </a:r>
            <a:endParaRPr lang="zh-TW" altLang="en-US" sz="2800" dirty="0"/>
          </a:p>
        </p:txBody>
      </p:sp>
      <p:sp>
        <p:nvSpPr>
          <p:cNvPr id="9" name="流程圖: 替代處理程序 8"/>
          <p:cNvSpPr/>
          <p:nvPr/>
        </p:nvSpPr>
        <p:spPr>
          <a:xfrm>
            <a:off x="5364224" y="2564944"/>
            <a:ext cx="1224000" cy="360000"/>
          </a:xfrm>
          <a:prstGeom prst="flowChartAlternate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pen</a:t>
            </a:r>
            <a:endParaRPr lang="zh-TW" altLang="en-US" sz="2800" dirty="0"/>
          </a:p>
        </p:txBody>
      </p:sp>
      <p:sp>
        <p:nvSpPr>
          <p:cNvPr id="10" name="流程圖: 替代處理程序 9"/>
          <p:cNvSpPr/>
          <p:nvPr/>
        </p:nvSpPr>
        <p:spPr>
          <a:xfrm>
            <a:off x="5364224" y="4401148"/>
            <a:ext cx="1224000" cy="360000"/>
          </a:xfrm>
          <a:prstGeom prst="flowChartAlternateProces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hid</a:t>
            </a:r>
            <a:endParaRPr lang="zh-TW" altLang="en-US" sz="2800" dirty="0"/>
          </a:p>
        </p:txBody>
      </p:sp>
      <p:sp>
        <p:nvSpPr>
          <p:cNvPr id="11" name="流程圖: 替代處理程序 10"/>
          <p:cNvSpPr/>
          <p:nvPr/>
        </p:nvSpPr>
        <p:spPr>
          <a:xfrm>
            <a:off x="5364224" y="6237352"/>
            <a:ext cx="1224000" cy="360000"/>
          </a:xfrm>
          <a:prstGeom prst="flowChartAlternateProces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err="1" smtClean="0"/>
              <a:t>vis</a:t>
            </a:r>
            <a:endParaRPr lang="zh-TW" altLang="en-US" sz="2800" dirty="0"/>
          </a:p>
        </p:txBody>
      </p:sp>
      <p:sp>
        <p:nvSpPr>
          <p:cNvPr id="12" name="流程圖: 替代處理程序 11"/>
          <p:cNvSpPr/>
          <p:nvPr/>
        </p:nvSpPr>
        <p:spPr>
          <a:xfrm>
            <a:off x="1646016" y="2564944"/>
            <a:ext cx="1224000" cy="3600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lab</a:t>
            </a:r>
            <a:endParaRPr lang="zh-TW" altLang="en-US" sz="2800" dirty="0"/>
          </a:p>
        </p:txBody>
      </p:sp>
      <p:sp>
        <p:nvSpPr>
          <p:cNvPr id="18" name="向右箭號 17"/>
          <p:cNvSpPr/>
          <p:nvPr/>
        </p:nvSpPr>
        <p:spPr>
          <a:xfrm rot="16200000">
            <a:off x="5071902" y="5434608"/>
            <a:ext cx="1094891" cy="1080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右箭號 18"/>
          <p:cNvSpPr/>
          <p:nvPr/>
        </p:nvSpPr>
        <p:spPr>
          <a:xfrm rot="16200000">
            <a:off x="5071902" y="3634407"/>
            <a:ext cx="1094891" cy="1080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右箭號 19"/>
          <p:cNvSpPr/>
          <p:nvPr/>
        </p:nvSpPr>
        <p:spPr>
          <a:xfrm rot="5400000">
            <a:off x="5791982" y="3634406"/>
            <a:ext cx="1094891" cy="1080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向右箭號 20"/>
          <p:cNvSpPr/>
          <p:nvPr/>
        </p:nvSpPr>
        <p:spPr>
          <a:xfrm rot="5400000">
            <a:off x="5755977" y="5434608"/>
            <a:ext cx="1094891" cy="1080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上-下雙向箭號 22"/>
          <p:cNvSpPr/>
          <p:nvPr/>
        </p:nvSpPr>
        <p:spPr>
          <a:xfrm rot="2400000">
            <a:off x="3150194" y="1636074"/>
            <a:ext cx="180000" cy="10800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上-下雙向箭號 23"/>
          <p:cNvSpPr/>
          <p:nvPr/>
        </p:nvSpPr>
        <p:spPr>
          <a:xfrm rot="-2400000">
            <a:off x="4915275" y="1625397"/>
            <a:ext cx="180000" cy="10800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圖說文字 24"/>
          <p:cNvSpPr/>
          <p:nvPr/>
        </p:nvSpPr>
        <p:spPr>
          <a:xfrm>
            <a:off x="3635816" y="5509473"/>
            <a:ext cx="1080000" cy="288000"/>
          </a:xfrm>
          <a:prstGeom prst="wedgeRectCallout">
            <a:avLst>
              <a:gd name="adj1" fmla="val 78781"/>
              <a:gd name="adj2" fmla="val -50774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2000" dirty="0" err="1" smtClean="0"/>
              <a:t>vishid</a:t>
            </a:r>
            <a:endParaRPr lang="zh-TW" altLang="en-US" sz="2000" dirty="0"/>
          </a:p>
        </p:txBody>
      </p:sp>
      <p:sp>
        <p:nvSpPr>
          <p:cNvPr id="26" name="矩形圖說文字 25"/>
          <p:cNvSpPr/>
          <p:nvPr/>
        </p:nvSpPr>
        <p:spPr>
          <a:xfrm>
            <a:off x="2915816" y="6323629"/>
            <a:ext cx="1800000" cy="360000"/>
          </a:xfrm>
          <a:prstGeom prst="wedgeRectCallout">
            <a:avLst>
              <a:gd name="adj1" fmla="val 80757"/>
              <a:gd name="adj2" fmla="val -2805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>
                <a:solidFill>
                  <a:schemeClr val="tx1"/>
                </a:solidFill>
              </a:rPr>
              <a:t>1.data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27" name="矩形圖說文字 26"/>
          <p:cNvSpPr/>
          <p:nvPr/>
        </p:nvSpPr>
        <p:spPr>
          <a:xfrm>
            <a:off x="2915816" y="4623397"/>
            <a:ext cx="1800000" cy="360000"/>
          </a:xfrm>
          <a:prstGeom prst="wedgeRectCallout">
            <a:avLst>
              <a:gd name="adj1" fmla="val 78781"/>
              <a:gd name="adj2" fmla="val -5077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rgbClr val="FF0000"/>
                </a:solidFill>
              </a:rPr>
              <a:t>2.wakeHidStates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8" name="矩形圖說文字 27"/>
          <p:cNvSpPr/>
          <p:nvPr/>
        </p:nvSpPr>
        <p:spPr>
          <a:xfrm>
            <a:off x="3635816" y="3773280"/>
            <a:ext cx="1080000" cy="288000"/>
          </a:xfrm>
          <a:prstGeom prst="wedgeRectCallout">
            <a:avLst>
              <a:gd name="adj1" fmla="val 99218"/>
              <a:gd name="adj2" fmla="val -6172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2000" dirty="0" err="1" smtClean="0"/>
              <a:t>hidpen</a:t>
            </a:r>
            <a:endParaRPr lang="zh-TW" altLang="en-US" sz="2000" dirty="0"/>
          </a:p>
        </p:txBody>
      </p:sp>
      <p:sp>
        <p:nvSpPr>
          <p:cNvPr id="29" name="矩形圖說文字 28"/>
          <p:cNvSpPr/>
          <p:nvPr/>
        </p:nvSpPr>
        <p:spPr>
          <a:xfrm>
            <a:off x="2915816" y="2979987"/>
            <a:ext cx="1800000" cy="360000"/>
          </a:xfrm>
          <a:prstGeom prst="wedgeRectCallout">
            <a:avLst>
              <a:gd name="adj1" fmla="val 78781"/>
              <a:gd name="adj2" fmla="val -5077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rgbClr val="FF0000"/>
                </a:solidFill>
              </a:rPr>
              <a:t>3.wakePenStates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0" name="矩形圖說文字 29"/>
          <p:cNvSpPr/>
          <p:nvPr/>
        </p:nvSpPr>
        <p:spPr>
          <a:xfrm>
            <a:off x="-51283" y="2979987"/>
            <a:ext cx="1800000" cy="360000"/>
          </a:xfrm>
          <a:prstGeom prst="wedgeRectCallout">
            <a:avLst>
              <a:gd name="adj1" fmla="val 56593"/>
              <a:gd name="adj2" fmla="val -8580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smtClean="0"/>
              <a:t>3.targets</a:t>
            </a:r>
            <a:endParaRPr lang="zh-TW" altLang="en-US" dirty="0"/>
          </a:p>
        </p:txBody>
      </p:sp>
      <p:sp>
        <p:nvSpPr>
          <p:cNvPr id="31" name="矩形圖說文字 30"/>
          <p:cNvSpPr/>
          <p:nvPr/>
        </p:nvSpPr>
        <p:spPr>
          <a:xfrm>
            <a:off x="1693624" y="2039549"/>
            <a:ext cx="1080000" cy="288000"/>
          </a:xfrm>
          <a:prstGeom prst="wedgeRectCallout">
            <a:avLst>
              <a:gd name="adj1" fmla="val 72359"/>
              <a:gd name="adj2" fmla="val 1637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err="1" smtClean="0"/>
              <a:t>labtop</a:t>
            </a:r>
            <a:endParaRPr lang="zh-TW" altLang="en-US" dirty="0"/>
          </a:p>
        </p:txBody>
      </p:sp>
      <p:sp>
        <p:nvSpPr>
          <p:cNvPr id="32" name="矩形圖說文字 31"/>
          <p:cNvSpPr/>
          <p:nvPr/>
        </p:nvSpPr>
        <p:spPr>
          <a:xfrm>
            <a:off x="3635816" y="2039549"/>
            <a:ext cx="1080000" cy="288000"/>
          </a:xfrm>
          <a:prstGeom prst="wedgeRectCallout">
            <a:avLst>
              <a:gd name="adj1" fmla="val 74244"/>
              <a:gd name="adj2" fmla="val -2885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err="1" smtClean="0"/>
              <a:t>pentop</a:t>
            </a:r>
            <a:endParaRPr lang="zh-TW" altLang="en-US" dirty="0"/>
          </a:p>
        </p:txBody>
      </p:sp>
      <p:sp>
        <p:nvSpPr>
          <p:cNvPr id="33" name="矩形圖說文字 32"/>
          <p:cNvSpPr/>
          <p:nvPr/>
        </p:nvSpPr>
        <p:spPr>
          <a:xfrm>
            <a:off x="1115816" y="1268760"/>
            <a:ext cx="1800000" cy="360000"/>
          </a:xfrm>
          <a:prstGeom prst="wedgeRectCallout">
            <a:avLst>
              <a:gd name="adj1" fmla="val 78198"/>
              <a:gd name="adj2" fmla="val 177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rgbClr val="FF0000"/>
                </a:solidFill>
              </a:rPr>
              <a:t>4.wakeTopStates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178389" y="6356350"/>
            <a:ext cx="2133600" cy="365125"/>
          </a:xfrm>
        </p:spPr>
        <p:txBody>
          <a:bodyPr/>
          <a:lstStyle/>
          <a:p>
            <a:fld id="{A8036B6D-04F5-43F5-9597-836641C3EBE8}" type="slidenum">
              <a:rPr lang="zh-TW" altLang="en-US" smtClean="0"/>
              <a:t>31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-252536" y="5105355"/>
                <a:ext cx="3168352" cy="808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/>
                            </a:rPr>
                            <m:t>=1|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𝒗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r>
                        <a:rPr lang="en-US" altLang="zh-TW" b="0" i="1" smtClean="0">
                          <a:latin typeface="Cambria Math"/>
                        </a:rPr>
                        <m:t>𝜎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536" y="5105355"/>
                <a:ext cx="3168352" cy="8082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圖說文字 33"/>
          <p:cNvSpPr/>
          <p:nvPr/>
        </p:nvSpPr>
        <p:spPr>
          <a:xfrm>
            <a:off x="6709727" y="4774181"/>
            <a:ext cx="2400081" cy="1274912"/>
          </a:xfrm>
          <a:prstGeom prst="wedgeRectCallout">
            <a:avLst>
              <a:gd name="adj1" fmla="val -61501"/>
              <a:gd name="adj2" fmla="val -99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2000" dirty="0" smtClean="0">
                <a:solidFill>
                  <a:schemeClr val="tx1"/>
                </a:solidFill>
              </a:rPr>
              <a:t>6.Hidvis+=</a:t>
            </a:r>
            <a:r>
              <a:rPr lang="el-GR" altLang="zh-TW" sz="2000" dirty="0" smtClean="0">
                <a:solidFill>
                  <a:schemeClr val="tx1"/>
                </a:solidFill>
              </a:rPr>
              <a:t>ε</a:t>
            </a:r>
            <a:r>
              <a:rPr lang="en-US" altLang="zh-TW" sz="2000" dirty="0" smtClean="0">
                <a:solidFill>
                  <a:schemeClr val="tx1"/>
                </a:solidFill>
              </a:rPr>
              <a:t>(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wakeHidStates</a:t>
            </a:r>
            <a:r>
              <a:rPr lang="en-US" altLang="zh-TW" sz="2000" baseline="30000" dirty="0" err="1" smtClean="0">
                <a:solidFill>
                  <a:schemeClr val="tx1"/>
                </a:solidFill>
              </a:rPr>
              <a:t>T</a:t>
            </a:r>
            <a:r>
              <a:rPr lang="en-US" altLang="zh-TW" sz="2000" dirty="0" smtClean="0">
                <a:solidFill>
                  <a:schemeClr val="tx1"/>
                </a:solidFill>
              </a:rPr>
              <a:t>*(data-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wakeReconVisProbs</a:t>
            </a:r>
            <a:r>
              <a:rPr lang="en-US" altLang="zh-TW" sz="2000" dirty="0" smtClean="0">
                <a:solidFill>
                  <a:schemeClr val="tx1"/>
                </a:solidFill>
              </a:rPr>
              <a:t>))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36" name="矩形圖說文字 35"/>
          <p:cNvSpPr/>
          <p:nvPr/>
        </p:nvSpPr>
        <p:spPr>
          <a:xfrm>
            <a:off x="6588224" y="2979987"/>
            <a:ext cx="2520797" cy="1351052"/>
          </a:xfrm>
          <a:prstGeom prst="wedgeRectCallout">
            <a:avLst>
              <a:gd name="adj1" fmla="val -56582"/>
              <a:gd name="adj2" fmla="val 72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2000" dirty="0" smtClean="0">
                <a:solidFill>
                  <a:schemeClr val="tx1"/>
                </a:solidFill>
              </a:rPr>
              <a:t>5.Penhid+=</a:t>
            </a:r>
            <a:r>
              <a:rPr lang="el-GR" altLang="zh-TW" sz="2000" dirty="0">
                <a:solidFill>
                  <a:schemeClr val="tx1"/>
                </a:solidFill>
              </a:rPr>
              <a:t> ε</a:t>
            </a:r>
            <a:r>
              <a:rPr lang="en-US" altLang="zh-TW" sz="2000" dirty="0" smtClean="0">
                <a:solidFill>
                  <a:schemeClr val="tx1"/>
                </a:solidFill>
              </a:rPr>
              <a:t>(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wakePenStates</a:t>
            </a:r>
            <a:r>
              <a:rPr lang="en-US" altLang="zh-TW" sz="2000" baseline="30000" dirty="0" err="1" smtClean="0">
                <a:solidFill>
                  <a:schemeClr val="tx1"/>
                </a:solidFill>
              </a:rPr>
              <a:t>T</a:t>
            </a:r>
            <a:r>
              <a:rPr lang="en-US" altLang="zh-TW" sz="2000" dirty="0" smtClean="0">
                <a:solidFill>
                  <a:schemeClr val="tx1"/>
                </a:solidFill>
              </a:rPr>
              <a:t>*(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wakehidStates-wakeReconHidProbs</a:t>
            </a:r>
            <a:r>
              <a:rPr lang="en-US" altLang="zh-TW" sz="2000" dirty="0" smtClean="0">
                <a:solidFill>
                  <a:schemeClr val="tx1"/>
                </a:solidFill>
              </a:rPr>
              <a:t>))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59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Contrastive divergence on top layer(CD-1)</a:t>
            </a:r>
            <a:endParaRPr lang="zh-TW" altLang="en-US" sz="3600" dirty="0"/>
          </a:p>
        </p:txBody>
      </p:sp>
      <p:sp>
        <p:nvSpPr>
          <p:cNvPr id="4" name="流程圖: 替代處理程序 3"/>
          <p:cNvSpPr/>
          <p:nvPr/>
        </p:nvSpPr>
        <p:spPr>
          <a:xfrm>
            <a:off x="4225200" y="3075875"/>
            <a:ext cx="1224000" cy="360000"/>
          </a:xfrm>
          <a:prstGeom prst="flowChartAlternateProces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top</a:t>
            </a:r>
            <a:endParaRPr lang="zh-TW" altLang="en-US" sz="2800" dirty="0"/>
          </a:p>
        </p:txBody>
      </p:sp>
      <p:sp>
        <p:nvSpPr>
          <p:cNvPr id="5" name="流程圖: 替代處理程序 4"/>
          <p:cNvSpPr/>
          <p:nvPr/>
        </p:nvSpPr>
        <p:spPr>
          <a:xfrm>
            <a:off x="6084304" y="4372059"/>
            <a:ext cx="1224000" cy="360000"/>
          </a:xfrm>
          <a:prstGeom prst="flowChartAlternate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pen</a:t>
            </a:r>
            <a:endParaRPr lang="zh-TW" altLang="en-US" sz="2800" dirty="0"/>
          </a:p>
        </p:txBody>
      </p:sp>
      <p:sp>
        <p:nvSpPr>
          <p:cNvPr id="8" name="流程圖: 替代處理程序 7"/>
          <p:cNvSpPr/>
          <p:nvPr/>
        </p:nvSpPr>
        <p:spPr>
          <a:xfrm>
            <a:off x="2366096" y="4372059"/>
            <a:ext cx="1224000" cy="3600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lab</a:t>
            </a:r>
            <a:endParaRPr lang="zh-TW" altLang="en-US" sz="2800" dirty="0"/>
          </a:p>
        </p:txBody>
      </p:sp>
      <p:sp>
        <p:nvSpPr>
          <p:cNvPr id="13" name="上-下雙向箭號 12"/>
          <p:cNvSpPr/>
          <p:nvPr/>
        </p:nvSpPr>
        <p:spPr>
          <a:xfrm rot="2400000">
            <a:off x="3870274" y="3443189"/>
            <a:ext cx="180000" cy="10800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上-下雙向箭號 13"/>
          <p:cNvSpPr/>
          <p:nvPr/>
        </p:nvSpPr>
        <p:spPr>
          <a:xfrm rot="-2400000">
            <a:off x="5635355" y="3432512"/>
            <a:ext cx="180000" cy="10800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圖說文字 19"/>
          <p:cNvSpPr/>
          <p:nvPr/>
        </p:nvSpPr>
        <p:spPr>
          <a:xfrm>
            <a:off x="250999" y="2080083"/>
            <a:ext cx="2160000" cy="1529213"/>
          </a:xfrm>
          <a:prstGeom prst="wedgeRectCallout">
            <a:avLst>
              <a:gd name="adj1" fmla="val 119959"/>
              <a:gd name="adj2" fmla="val 5605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1600" dirty="0" smtClean="0"/>
              <a:t>1.posLabTopStatistics = </a:t>
            </a:r>
            <a:br>
              <a:rPr lang="en-US" altLang="zh-TW" sz="1600" dirty="0" smtClean="0"/>
            </a:br>
            <a:r>
              <a:rPr lang="en-US" altLang="zh-TW" sz="1600" dirty="0" smtClean="0"/>
              <a:t>    </a:t>
            </a:r>
            <a:r>
              <a:rPr lang="en-US" altLang="zh-TW" sz="1600" dirty="0" err="1" smtClean="0"/>
              <a:t>target.T</a:t>
            </a:r>
            <a:r>
              <a:rPr lang="en-US" altLang="zh-TW" sz="1600" dirty="0" smtClean="0"/>
              <a:t>*</a:t>
            </a:r>
            <a:br>
              <a:rPr lang="en-US" altLang="zh-TW" sz="1600" dirty="0" smtClean="0"/>
            </a:br>
            <a:r>
              <a:rPr lang="en-US" altLang="zh-TW" sz="1600" dirty="0" smtClean="0"/>
              <a:t>    </a:t>
            </a:r>
            <a:r>
              <a:rPr lang="en-US" altLang="zh-TW" sz="1600" dirty="0" err="1" smtClean="0"/>
              <a:t>wakeTopStates</a:t>
            </a:r>
            <a:endParaRPr lang="en-US" altLang="zh-TW" sz="1600" dirty="0" smtClean="0"/>
          </a:p>
          <a:p>
            <a:r>
              <a:rPr lang="en-US" altLang="zh-TW" sz="1600" dirty="0" smtClean="0"/>
              <a:t>5.negLabTopStatistics=</a:t>
            </a:r>
            <a:br>
              <a:rPr lang="en-US" altLang="zh-TW" sz="1600" dirty="0" smtClean="0"/>
            </a:br>
            <a:r>
              <a:rPr lang="en-US" altLang="zh-TW" sz="1600" dirty="0" smtClean="0"/>
              <a:t>    </a:t>
            </a:r>
            <a:r>
              <a:rPr lang="en-US" altLang="zh-TW" sz="1600" dirty="0" err="1" smtClean="0"/>
              <a:t>negLabProbs.T</a:t>
            </a:r>
            <a:r>
              <a:rPr lang="en-US" altLang="zh-TW" sz="1600" dirty="0" smtClean="0"/>
              <a:t> *</a:t>
            </a:r>
            <a:br>
              <a:rPr lang="en-US" altLang="zh-TW" sz="1600" dirty="0" smtClean="0"/>
            </a:br>
            <a:r>
              <a:rPr lang="en-US" altLang="zh-TW" sz="1600" dirty="0" smtClean="0"/>
              <a:t>    </a:t>
            </a:r>
            <a:r>
              <a:rPr lang="en-US" altLang="zh-TW" sz="1600" dirty="0" err="1" smtClean="0"/>
              <a:t>negTopStates</a:t>
            </a:r>
            <a:endParaRPr lang="zh-TW" altLang="en-US" sz="1600" dirty="0"/>
          </a:p>
        </p:txBody>
      </p:sp>
      <p:sp>
        <p:nvSpPr>
          <p:cNvPr id="24" name="矩形圖說文字 23"/>
          <p:cNvSpPr/>
          <p:nvPr/>
        </p:nvSpPr>
        <p:spPr>
          <a:xfrm>
            <a:off x="1466096" y="5075094"/>
            <a:ext cx="900000" cy="360000"/>
          </a:xfrm>
          <a:prstGeom prst="wedgeRectCallout">
            <a:avLst>
              <a:gd name="adj1" fmla="val 78198"/>
              <a:gd name="adj2" fmla="val -10332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smtClean="0"/>
              <a:t>targets</a:t>
            </a:r>
            <a:endParaRPr lang="zh-TW" altLang="en-US" dirty="0"/>
          </a:p>
        </p:txBody>
      </p:sp>
      <p:sp>
        <p:nvSpPr>
          <p:cNvPr id="25" name="矩形圖說文字 24"/>
          <p:cNvSpPr/>
          <p:nvPr/>
        </p:nvSpPr>
        <p:spPr>
          <a:xfrm>
            <a:off x="6540474" y="1933937"/>
            <a:ext cx="2323135" cy="1372512"/>
          </a:xfrm>
          <a:prstGeom prst="wedgeRectCallout">
            <a:avLst>
              <a:gd name="adj1" fmla="val -75908"/>
              <a:gd name="adj2" fmla="val 80015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1600" dirty="0" smtClean="0"/>
              <a:t>1.posPenTopStatistics =   </a:t>
            </a:r>
            <a:br>
              <a:rPr lang="en-US" altLang="zh-TW" sz="1600" dirty="0" smtClean="0"/>
            </a:br>
            <a:r>
              <a:rPr lang="en-US" altLang="zh-TW" sz="1600" dirty="0" smtClean="0"/>
              <a:t>    </a:t>
            </a:r>
            <a:r>
              <a:rPr lang="en-US" altLang="zh-TW" sz="1600" dirty="0" err="1" smtClean="0"/>
              <a:t>wakePenStates.T</a:t>
            </a:r>
            <a:r>
              <a:rPr lang="en-US" altLang="zh-TW" sz="1600" dirty="0" smtClean="0"/>
              <a:t>*</a:t>
            </a:r>
            <a:br>
              <a:rPr lang="en-US" altLang="zh-TW" sz="1600" dirty="0" smtClean="0"/>
            </a:br>
            <a:r>
              <a:rPr lang="en-US" altLang="zh-TW" sz="1600" dirty="0" smtClean="0"/>
              <a:t>    </a:t>
            </a:r>
            <a:r>
              <a:rPr lang="en-US" altLang="zh-TW" sz="1600" dirty="0" err="1" smtClean="0"/>
              <a:t>wakeTopStates</a:t>
            </a:r>
            <a:endParaRPr lang="en-US" altLang="zh-TW" sz="1600" dirty="0" smtClean="0"/>
          </a:p>
          <a:p>
            <a:r>
              <a:rPr lang="en-US" altLang="zh-TW" sz="1600" dirty="0" smtClean="0"/>
              <a:t>5. </a:t>
            </a:r>
            <a:r>
              <a:rPr lang="en-US" altLang="zh-TW" sz="1600" dirty="0" err="1" smtClean="0"/>
              <a:t>negPenTopStatistics</a:t>
            </a:r>
            <a:r>
              <a:rPr lang="en-US" altLang="zh-TW" sz="1600" dirty="0" smtClean="0"/>
              <a:t>  = </a:t>
            </a:r>
            <a:br>
              <a:rPr lang="en-US" altLang="zh-TW" sz="1600" dirty="0" smtClean="0"/>
            </a:br>
            <a:r>
              <a:rPr lang="en-US" altLang="zh-TW" sz="1600" dirty="0" smtClean="0"/>
              <a:t>    </a:t>
            </a:r>
            <a:r>
              <a:rPr lang="en-US" altLang="zh-TW" sz="1600" dirty="0" err="1" smtClean="0"/>
              <a:t>negPenStates.T</a:t>
            </a:r>
            <a:r>
              <a:rPr lang="en-US" altLang="zh-TW" sz="1600" dirty="0" smtClean="0"/>
              <a:t> *</a:t>
            </a:r>
            <a:br>
              <a:rPr lang="en-US" altLang="zh-TW" sz="1600" dirty="0" smtClean="0"/>
            </a:br>
            <a:r>
              <a:rPr lang="en-US" altLang="zh-TW" sz="1600" dirty="0" smtClean="0"/>
              <a:t>    </a:t>
            </a:r>
            <a:r>
              <a:rPr lang="en-US" altLang="zh-TW" sz="1600" dirty="0" err="1" smtClean="0"/>
              <a:t>negTopStates</a:t>
            </a:r>
            <a:endParaRPr lang="zh-TW" altLang="en-US" sz="1600" dirty="0"/>
          </a:p>
        </p:txBody>
      </p:sp>
      <p:sp>
        <p:nvSpPr>
          <p:cNvPr id="26" name="矩形圖說文字 25"/>
          <p:cNvSpPr/>
          <p:nvPr/>
        </p:nvSpPr>
        <p:spPr>
          <a:xfrm>
            <a:off x="5309305" y="5085224"/>
            <a:ext cx="1800000" cy="360000"/>
          </a:xfrm>
          <a:prstGeom prst="wedgeRectCallout">
            <a:avLst>
              <a:gd name="adj1" fmla="val 19807"/>
              <a:gd name="adj2" fmla="val -10624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err="1" smtClean="0"/>
              <a:t>wakePenStates</a:t>
            </a:r>
            <a:endParaRPr lang="zh-TW" altLang="en-US" dirty="0"/>
          </a:p>
        </p:txBody>
      </p:sp>
      <p:sp>
        <p:nvSpPr>
          <p:cNvPr id="28" name="矩形圖說文字 27"/>
          <p:cNvSpPr/>
          <p:nvPr/>
        </p:nvSpPr>
        <p:spPr>
          <a:xfrm>
            <a:off x="2434132" y="1268760"/>
            <a:ext cx="3240000" cy="576024"/>
          </a:xfrm>
          <a:prstGeom prst="wedgeRectCallout">
            <a:avLst>
              <a:gd name="adj1" fmla="val 28534"/>
              <a:gd name="adj2" fmla="val 214095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smtClean="0"/>
              <a:t>2.negTopStates = </a:t>
            </a:r>
            <a:r>
              <a:rPr lang="en-US" altLang="zh-TW" dirty="0" err="1" smtClean="0"/>
              <a:t>wakeTopStates</a:t>
            </a:r>
            <a:endParaRPr lang="en-US" altLang="zh-TW" dirty="0" smtClean="0"/>
          </a:p>
          <a:p>
            <a:r>
              <a:rPr lang="en-US" altLang="zh-TW" dirty="0" smtClean="0"/>
              <a:t>4.negTopStates</a:t>
            </a:r>
            <a:endParaRPr lang="zh-TW" altLang="en-US" dirty="0"/>
          </a:p>
        </p:txBody>
      </p:sp>
      <p:sp>
        <p:nvSpPr>
          <p:cNvPr id="29" name="矩形圖說文字 28"/>
          <p:cNvSpPr/>
          <p:nvPr/>
        </p:nvSpPr>
        <p:spPr>
          <a:xfrm>
            <a:off x="7235946" y="5085224"/>
            <a:ext cx="1620000" cy="360000"/>
          </a:xfrm>
          <a:prstGeom prst="wedgeRectCallout">
            <a:avLst>
              <a:gd name="adj1" fmla="val -54868"/>
              <a:gd name="adj2" fmla="val -12960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smtClean="0"/>
              <a:t>3.negPenStates </a:t>
            </a:r>
            <a:endParaRPr lang="zh-TW" altLang="en-US" dirty="0"/>
          </a:p>
        </p:txBody>
      </p:sp>
      <p:sp>
        <p:nvSpPr>
          <p:cNvPr id="30" name="矩形圖說文字 29"/>
          <p:cNvSpPr/>
          <p:nvPr/>
        </p:nvSpPr>
        <p:spPr>
          <a:xfrm>
            <a:off x="2756324" y="5075094"/>
            <a:ext cx="1620000" cy="360000"/>
          </a:xfrm>
          <a:prstGeom prst="wedgeRectCallout">
            <a:avLst>
              <a:gd name="adj1" fmla="val -30214"/>
              <a:gd name="adj2" fmla="val -12960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smtClean="0"/>
              <a:t>3.negLabProbs 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16" name="矩形圖說文字 15"/>
          <p:cNvSpPr/>
          <p:nvPr/>
        </p:nvSpPr>
        <p:spPr>
          <a:xfrm>
            <a:off x="2339752" y="3933056"/>
            <a:ext cx="1080000" cy="288000"/>
          </a:xfrm>
          <a:prstGeom prst="wedgeRectCallout">
            <a:avLst>
              <a:gd name="adj1" fmla="val 72359"/>
              <a:gd name="adj2" fmla="val 1637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err="1" smtClean="0"/>
              <a:t>labtop</a:t>
            </a:r>
            <a:endParaRPr lang="zh-TW" altLang="en-US" dirty="0"/>
          </a:p>
        </p:txBody>
      </p:sp>
      <p:sp>
        <p:nvSpPr>
          <p:cNvPr id="17" name="矩形圖說文字 16"/>
          <p:cNvSpPr/>
          <p:nvPr/>
        </p:nvSpPr>
        <p:spPr>
          <a:xfrm>
            <a:off x="4376324" y="4005096"/>
            <a:ext cx="1080000" cy="288000"/>
          </a:xfrm>
          <a:prstGeom prst="wedgeRectCallout">
            <a:avLst>
              <a:gd name="adj1" fmla="val 74244"/>
              <a:gd name="adj2" fmla="val -288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err="1" smtClean="0"/>
              <a:t>pentop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0999" y="5949280"/>
            <a:ext cx="8612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Weight matrices </a:t>
            </a:r>
            <a:r>
              <a:rPr lang="en-US" altLang="zh-TW" sz="2400" dirty="0" err="1" smtClean="0">
                <a:solidFill>
                  <a:srgbClr val="FF0000"/>
                </a:solidFill>
              </a:rPr>
              <a:t>labtop</a:t>
            </a:r>
            <a:r>
              <a:rPr lang="en-US" altLang="zh-TW" sz="2400" dirty="0" smtClean="0">
                <a:solidFill>
                  <a:srgbClr val="FF0000"/>
                </a:solidFill>
              </a:rPr>
              <a:t> and </a:t>
            </a:r>
            <a:r>
              <a:rPr lang="en-US" altLang="zh-TW" sz="2400" dirty="0" err="1" smtClean="0">
                <a:solidFill>
                  <a:srgbClr val="FF0000"/>
                </a:solidFill>
              </a:rPr>
              <a:t>pentop</a:t>
            </a:r>
            <a:r>
              <a:rPr lang="en-US" altLang="zh-TW" sz="2400" dirty="0" smtClean="0">
                <a:solidFill>
                  <a:srgbClr val="FF0000"/>
                </a:solidFill>
              </a:rPr>
              <a:t> are updated according to CD-1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996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Sleeping phase (top-down)</a:t>
            </a:r>
            <a:endParaRPr lang="zh-TW" altLang="en-US" dirty="0"/>
          </a:p>
        </p:txBody>
      </p:sp>
      <p:sp>
        <p:nvSpPr>
          <p:cNvPr id="4" name="流程圖: 替代處理程序 3"/>
          <p:cNvSpPr/>
          <p:nvPr/>
        </p:nvSpPr>
        <p:spPr>
          <a:xfrm>
            <a:off x="2857048" y="1268760"/>
            <a:ext cx="1224000" cy="360000"/>
          </a:xfrm>
          <a:prstGeom prst="flowChartAlternateProces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top</a:t>
            </a:r>
            <a:endParaRPr lang="zh-TW" altLang="en-US" sz="2800" dirty="0"/>
          </a:p>
        </p:txBody>
      </p:sp>
      <p:sp>
        <p:nvSpPr>
          <p:cNvPr id="5" name="流程圖: 替代處理程序 4"/>
          <p:cNvSpPr/>
          <p:nvPr/>
        </p:nvSpPr>
        <p:spPr>
          <a:xfrm>
            <a:off x="4716152" y="2564944"/>
            <a:ext cx="1224000" cy="360000"/>
          </a:xfrm>
          <a:prstGeom prst="flowChartAlternate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pen</a:t>
            </a:r>
            <a:endParaRPr lang="zh-TW" altLang="en-US" sz="2800" dirty="0"/>
          </a:p>
        </p:txBody>
      </p:sp>
      <p:sp>
        <p:nvSpPr>
          <p:cNvPr id="6" name="流程圖: 替代處理程序 5"/>
          <p:cNvSpPr/>
          <p:nvPr/>
        </p:nvSpPr>
        <p:spPr>
          <a:xfrm>
            <a:off x="4716152" y="4401148"/>
            <a:ext cx="1224000" cy="360000"/>
          </a:xfrm>
          <a:prstGeom prst="flowChartAlternateProces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hid</a:t>
            </a:r>
            <a:endParaRPr lang="zh-TW" altLang="en-US" sz="2800" dirty="0"/>
          </a:p>
        </p:txBody>
      </p:sp>
      <p:sp>
        <p:nvSpPr>
          <p:cNvPr id="7" name="流程圖: 替代處理程序 6"/>
          <p:cNvSpPr/>
          <p:nvPr/>
        </p:nvSpPr>
        <p:spPr>
          <a:xfrm>
            <a:off x="4716152" y="6237352"/>
            <a:ext cx="1224000" cy="360000"/>
          </a:xfrm>
          <a:prstGeom prst="flowChartAlternateProces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err="1" smtClean="0"/>
              <a:t>vis</a:t>
            </a:r>
            <a:endParaRPr lang="zh-TW" altLang="en-US" sz="2800" dirty="0"/>
          </a:p>
        </p:txBody>
      </p:sp>
      <p:sp>
        <p:nvSpPr>
          <p:cNvPr id="8" name="流程圖: 替代處理程序 7"/>
          <p:cNvSpPr/>
          <p:nvPr/>
        </p:nvSpPr>
        <p:spPr>
          <a:xfrm>
            <a:off x="997944" y="2564944"/>
            <a:ext cx="1224000" cy="3600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/>
              <a:t>lab</a:t>
            </a:r>
            <a:endParaRPr lang="zh-TW" altLang="en-US" sz="2800" dirty="0"/>
          </a:p>
        </p:txBody>
      </p:sp>
      <p:sp>
        <p:nvSpPr>
          <p:cNvPr id="9" name="向右箭號 8"/>
          <p:cNvSpPr/>
          <p:nvPr/>
        </p:nvSpPr>
        <p:spPr>
          <a:xfrm rot="16200000">
            <a:off x="4423830" y="5434608"/>
            <a:ext cx="1094891" cy="1080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向右箭號 9"/>
          <p:cNvSpPr/>
          <p:nvPr/>
        </p:nvSpPr>
        <p:spPr>
          <a:xfrm rot="16200000">
            <a:off x="4423830" y="3634407"/>
            <a:ext cx="1094891" cy="1080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向右箭號 10"/>
          <p:cNvSpPr/>
          <p:nvPr/>
        </p:nvSpPr>
        <p:spPr>
          <a:xfrm rot="5400000">
            <a:off x="5143910" y="3634406"/>
            <a:ext cx="1094891" cy="1080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右箭號 11"/>
          <p:cNvSpPr/>
          <p:nvPr/>
        </p:nvSpPr>
        <p:spPr>
          <a:xfrm rot="5400000">
            <a:off x="5107905" y="5434608"/>
            <a:ext cx="1094891" cy="1080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上-下雙向箭號 12"/>
          <p:cNvSpPr/>
          <p:nvPr/>
        </p:nvSpPr>
        <p:spPr>
          <a:xfrm rot="2400000">
            <a:off x="2502122" y="1636074"/>
            <a:ext cx="180000" cy="10800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上-下雙向箭號 13"/>
          <p:cNvSpPr/>
          <p:nvPr/>
        </p:nvSpPr>
        <p:spPr>
          <a:xfrm rot="-2400000">
            <a:off x="4267203" y="1625397"/>
            <a:ext cx="180000" cy="10800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圖說文字 14"/>
          <p:cNvSpPr/>
          <p:nvPr/>
        </p:nvSpPr>
        <p:spPr>
          <a:xfrm>
            <a:off x="6432594" y="6237352"/>
            <a:ext cx="1950553" cy="288000"/>
          </a:xfrm>
          <a:prstGeom prst="wedgeRectCallout">
            <a:avLst>
              <a:gd name="adj1" fmla="val -69329"/>
              <a:gd name="adj2" fmla="val 912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2000" b="1" dirty="0" smtClean="0">
                <a:solidFill>
                  <a:srgbClr val="FF0000"/>
                </a:solidFill>
              </a:rPr>
              <a:t>2. </a:t>
            </a:r>
            <a:r>
              <a:rPr lang="en-US" altLang="zh-TW" sz="2000" b="1" dirty="0" err="1" smtClean="0">
                <a:solidFill>
                  <a:srgbClr val="FF0000"/>
                </a:solidFill>
              </a:rPr>
              <a:t>sleepVisProbs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17" name="矩形圖說文字 16"/>
          <p:cNvSpPr/>
          <p:nvPr/>
        </p:nvSpPr>
        <p:spPr>
          <a:xfrm>
            <a:off x="6377476" y="4437148"/>
            <a:ext cx="2005671" cy="288000"/>
          </a:xfrm>
          <a:prstGeom prst="wedgeRectCallout">
            <a:avLst>
              <a:gd name="adj1" fmla="val -60579"/>
              <a:gd name="adj2" fmla="val -6345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2000" b="1" dirty="0" smtClean="0">
                <a:solidFill>
                  <a:srgbClr val="FF0000"/>
                </a:solidFill>
              </a:rPr>
              <a:t>1.sleepHidStates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20" name="矩形圖說文字 19"/>
          <p:cNvSpPr/>
          <p:nvPr/>
        </p:nvSpPr>
        <p:spPr>
          <a:xfrm>
            <a:off x="4362373" y="1582019"/>
            <a:ext cx="3017939" cy="491481"/>
          </a:xfrm>
          <a:prstGeom prst="wedgeRectCallout">
            <a:avLst>
              <a:gd name="adj1" fmla="val -25438"/>
              <a:gd name="adj2" fmla="val 145146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err="1" smtClean="0"/>
              <a:t>sleepPenStates</a:t>
            </a:r>
            <a:r>
              <a:rPr lang="en-US" altLang="zh-TW" dirty="0" smtClean="0"/>
              <a:t>=</a:t>
            </a:r>
            <a:r>
              <a:rPr lang="en-US" altLang="zh-TW" dirty="0" err="1" smtClean="0"/>
              <a:t>negPenStates</a:t>
            </a:r>
            <a:endParaRPr lang="zh-TW" altLang="en-US" dirty="0"/>
          </a:p>
        </p:txBody>
      </p:sp>
      <p:sp>
        <p:nvSpPr>
          <p:cNvPr id="23" name="矩形圖說文字 22"/>
          <p:cNvSpPr/>
          <p:nvPr/>
        </p:nvSpPr>
        <p:spPr>
          <a:xfrm>
            <a:off x="6084168" y="3586783"/>
            <a:ext cx="1080000" cy="288000"/>
          </a:xfrm>
          <a:prstGeom prst="wedgeRectCallout">
            <a:avLst>
              <a:gd name="adj1" fmla="val -77991"/>
              <a:gd name="adj2" fmla="val -634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2000" dirty="0" err="1" smtClean="0"/>
              <a:t>penhid</a:t>
            </a:r>
            <a:endParaRPr lang="zh-TW" altLang="en-US" sz="2000" dirty="0"/>
          </a:p>
        </p:txBody>
      </p:sp>
      <p:sp>
        <p:nvSpPr>
          <p:cNvPr id="24" name="矩形圖說文字 23"/>
          <p:cNvSpPr/>
          <p:nvPr/>
        </p:nvSpPr>
        <p:spPr>
          <a:xfrm>
            <a:off x="6112702" y="5217996"/>
            <a:ext cx="1080000" cy="288000"/>
          </a:xfrm>
          <a:prstGeom prst="wedgeRectCallout">
            <a:avLst>
              <a:gd name="adj1" fmla="val -77991"/>
              <a:gd name="adj2" fmla="val -634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2000" dirty="0" err="1" smtClean="0"/>
              <a:t>hidvis</a:t>
            </a:r>
            <a:endParaRPr lang="zh-TW" altLang="en-US" sz="2000" dirty="0"/>
          </a:p>
        </p:txBody>
      </p:sp>
      <p:sp>
        <p:nvSpPr>
          <p:cNvPr id="25" name="矩形圖說文字 24"/>
          <p:cNvSpPr/>
          <p:nvPr/>
        </p:nvSpPr>
        <p:spPr>
          <a:xfrm>
            <a:off x="506978" y="4941169"/>
            <a:ext cx="3815874" cy="1296183"/>
          </a:xfrm>
          <a:prstGeom prst="wedgeRectCallout">
            <a:avLst>
              <a:gd name="adj1" fmla="val 59883"/>
              <a:gd name="adj2" fmla="val -330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2000" dirty="0" smtClean="0"/>
              <a:t>3.vishid+=</a:t>
            </a:r>
            <a:r>
              <a:rPr lang="el-GR" altLang="zh-TW" sz="2000" dirty="0">
                <a:solidFill>
                  <a:schemeClr val="tx1"/>
                </a:solidFill>
              </a:rPr>
              <a:t>ε</a:t>
            </a:r>
            <a:r>
              <a:rPr lang="en-US" altLang="zh-TW" sz="2000" dirty="0" smtClean="0">
                <a:solidFill>
                  <a:schemeClr val="tx1"/>
                </a:solidFill>
              </a:rPr>
              <a:t>((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sleepVisProbs</a:t>
            </a:r>
            <a:r>
              <a:rPr lang="en-US" altLang="zh-TW" sz="2000" baseline="30000" dirty="0" err="1" smtClean="0">
                <a:solidFill>
                  <a:schemeClr val="tx1"/>
                </a:solidFill>
              </a:rPr>
              <a:t>T</a:t>
            </a:r>
            <a:r>
              <a:rPr lang="en-US" altLang="zh-TW" sz="2000" dirty="0" smtClean="0">
                <a:solidFill>
                  <a:schemeClr val="tx1"/>
                </a:solidFill>
              </a:rPr>
              <a:t>*(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sleepHidStates-sleepReconHidProbs</a:t>
            </a:r>
            <a:r>
              <a:rPr lang="en-US" altLang="zh-TW" sz="2000" dirty="0" smtClean="0">
                <a:solidFill>
                  <a:schemeClr val="tx1"/>
                </a:solidFill>
              </a:rPr>
              <a:t>))</a:t>
            </a:r>
            <a:endParaRPr lang="zh-TW" altLang="en-US" sz="2000" dirty="0"/>
          </a:p>
        </p:txBody>
      </p:sp>
      <p:sp>
        <p:nvSpPr>
          <p:cNvPr id="26" name="矩形圖說文字 25"/>
          <p:cNvSpPr/>
          <p:nvPr/>
        </p:nvSpPr>
        <p:spPr>
          <a:xfrm>
            <a:off x="506978" y="3284985"/>
            <a:ext cx="3024335" cy="1296163"/>
          </a:xfrm>
          <a:prstGeom prst="wedgeRectCallout">
            <a:avLst>
              <a:gd name="adj1" fmla="val 91546"/>
              <a:gd name="adj2" fmla="val -2171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2000" dirty="0" smtClean="0"/>
              <a:t>4.Hidpen+=</a:t>
            </a:r>
            <a:r>
              <a:rPr lang="el-GR" altLang="zh-TW" sz="2000" dirty="0">
                <a:solidFill>
                  <a:schemeClr val="tx1"/>
                </a:solidFill>
              </a:rPr>
              <a:t> </a:t>
            </a:r>
            <a:r>
              <a:rPr lang="el-GR" altLang="zh-TW" sz="2000" dirty="0" smtClean="0">
                <a:solidFill>
                  <a:schemeClr val="tx1"/>
                </a:solidFill>
              </a:rPr>
              <a:t>ε</a:t>
            </a:r>
            <a:r>
              <a:rPr lang="en-US" altLang="zh-TW" sz="2000" dirty="0" smtClean="0">
                <a:solidFill>
                  <a:schemeClr val="tx1"/>
                </a:solidFill>
              </a:rPr>
              <a:t>(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sleepHidStates</a:t>
            </a:r>
            <a:r>
              <a:rPr lang="en-US" altLang="zh-TW" sz="2000" baseline="30000" dirty="0" err="1" smtClean="0">
                <a:solidFill>
                  <a:schemeClr val="tx1"/>
                </a:solidFill>
              </a:rPr>
              <a:t>T</a:t>
            </a:r>
            <a:r>
              <a:rPr lang="en-US" altLang="zh-TW" sz="2000" dirty="0" smtClean="0">
                <a:solidFill>
                  <a:schemeClr val="tx1"/>
                </a:solidFill>
              </a:rPr>
              <a:t>*(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sleepPenStates-sleepReconPenProbs</a:t>
            </a:r>
            <a:r>
              <a:rPr lang="en-US" altLang="zh-TW" sz="2000" dirty="0" smtClean="0">
                <a:solidFill>
                  <a:schemeClr val="tx1"/>
                </a:solidFill>
              </a:rPr>
              <a:t>))</a:t>
            </a:r>
            <a:endParaRPr lang="zh-TW" altLang="en-US" sz="20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658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Why DBN works?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980728"/>
                <a:ext cx="8784976" cy="561662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altLang="zh-TW" sz="2800" b="0" dirty="0" smtClean="0"/>
                  <a:t>Model </a:t>
                </a:r>
                <a:r>
                  <a:rPr lang="en-US" altLang="zh-TW" sz="2800" dirty="0" smtClean="0"/>
                  <a:t>distribution (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𝑥</m:t>
                    </m:r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sz="2800" dirty="0" smtClean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𝑥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zh-TW" sz="2800" b="0" i="1" smtClean="0">
                                <a:latin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en-US" altLang="zh-TW" sz="2800" b="0" i="1" smtClean="0">
                            <a:latin typeface="Cambria Math"/>
                          </a:rPr>
                          <m:t>,⋯</m:t>
                        </m:r>
                        <m:sSup>
                          <m:sSup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𝑙</m:t>
                            </m:r>
                          </m:sup>
                        </m:sSup>
                      </m:e>
                    </m:d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zh-TW" sz="2800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800" i="1">
                            <a:latin typeface="Cambria Math"/>
                          </a:rPr>
                          <m:t>𝑘</m:t>
                        </m:r>
                        <m:r>
                          <a:rPr lang="en-US" altLang="zh-TW" sz="2800" i="1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altLang="zh-TW" sz="2800" i="1">
                            <a:latin typeface="Cambria Math"/>
                          </a:rPr>
                          <m:t>𝑙</m:t>
                        </m:r>
                        <m:r>
                          <a:rPr lang="en-US" altLang="zh-TW" sz="2800" i="1">
                            <a:latin typeface="Cambria Math"/>
                          </a:rPr>
                          <m:t>−2</m:t>
                        </m:r>
                      </m:sup>
                      <m:e>
                        <m:r>
                          <a:rPr lang="en-US" altLang="zh-TW" sz="2800" i="1">
                            <a:latin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en-US" altLang="zh-TW" sz="2800" i="1">
                                <a:latin typeface="Cambria Math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8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altLang="zh-TW" sz="2800" i="1">
                                <a:latin typeface="Cambria Math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altLang="zh-TW" sz="28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US" altLang="zh-TW" sz="28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𝑙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TW" sz="2800" b="0" i="1" smtClean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𝑙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sz="2800" b="0" dirty="0" smtClean="0"/>
              </a:p>
              <a:p>
                <a:r>
                  <a:rPr lang="en-US" altLang="zh-TW" sz="2800" dirty="0" smtClean="0"/>
                  <a:t>Chosen arbitrary distribution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h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|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sz="2800" b="0" i="1" smtClean="0">
                        <a:latin typeface="Cambria Math"/>
                      </a:rPr>
                      <m:t> </m:t>
                    </m:r>
                    <m:r>
                      <a:rPr lang="en-US" altLang="zh-TW" sz="2800" b="0" i="1" smtClean="0">
                        <a:latin typeface="Cambria Math"/>
                      </a:rPr>
                      <m:t>𝑡h𝑒𝑛</m:t>
                    </m:r>
                    <m:r>
                      <a:rPr lang="en-US" altLang="zh-TW" sz="2800" b="0" i="1" smtClean="0">
                        <a:latin typeface="Cambria Math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2800" b="0" i="1" smtClean="0">
                            <a:latin typeface="Cambria Math"/>
                          </a:rPr>
                          <m:t>h</m:t>
                        </m:r>
                      </m:sub>
                      <m:sup/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𝑄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h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/>
                          </a:rPr>
                          <m:t>=1</m:t>
                        </m:r>
                      </m:e>
                    </m:nary>
                  </m:oMath>
                </a14:m>
                <a:endParaRPr lang="en-US" altLang="zh-TW" sz="28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∴</m:t>
                    </m:r>
                    <m:func>
                      <m:func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2800" i="1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TW" sz="2800" i="1">
                            <a:latin typeface="Cambria Math"/>
                          </a:rPr>
                          <m:t>h</m:t>
                        </m:r>
                      </m:sub>
                      <m:sup/>
                      <m:e>
                        <m:r>
                          <a:rPr lang="en-US" altLang="zh-TW" sz="2800" i="1">
                            <a:latin typeface="Cambria Math"/>
                          </a:rPr>
                          <m:t>𝑄</m:t>
                        </m:r>
                        <m:d>
                          <m:dPr>
                            <m:ctrlPr>
                              <a:rPr lang="en-US" altLang="zh-TW" sz="2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h</m:t>
                            </m:r>
                            <m:r>
                              <a:rPr lang="en-US" altLang="zh-TW" sz="2800" i="1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TW" sz="2800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nary>
                    <m:func>
                      <m:func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TW" sz="2800" b="0" i="1" dirty="0" smtClean="0">
                    <a:latin typeface="Cambria Math"/>
                  </a:rPr>
                  <a:t/>
                </a:r>
                <a:br>
                  <a:rPr lang="en-US" altLang="zh-TW" sz="2800" b="0" i="1" dirty="0" smtClean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h</m:t>
                        </m:r>
                      </m:sub>
                      <m:sup/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𝑄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h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|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𝑥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)</m:t>
                        </m:r>
                      </m:e>
                    </m:nary>
                    <m:func>
                      <m:func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800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zh-TW" sz="28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zh-TW" sz="28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|</m:t>
                                    </m:r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zh-TW" sz="2800" b="0" i="1" dirty="0" smtClean="0">
                    <a:latin typeface="Cambria Math"/>
                  </a:rPr>
                  <a:t/>
                </a:r>
                <a:br>
                  <a:rPr lang="en-US" altLang="zh-TW" sz="2800" b="0" i="1" dirty="0" smtClean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h</m:t>
                        </m:r>
                      </m:sub>
                      <m:sup/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𝑄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h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nary>
                    <m:func>
                      <m:func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800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zh-TW" sz="28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zh-TW" sz="28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|</m:t>
                                    </m:r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  <m:f>
                              <m:fPr>
                                <m:ctrlPr>
                                  <a:rPr lang="en-US" altLang="zh-TW" sz="2800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altLang="zh-TW" sz="28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b="0" i="1" smtClean="0"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en-US" altLang="zh-TW" sz="2800" b="0" i="1" smtClean="0">
                                        <a:latin typeface="Cambria Math"/>
                                      </a:rPr>
                                      <m:t>|</m:t>
                                    </m:r>
                                    <m:r>
                                      <a:rPr lang="en-US" altLang="zh-TW" sz="28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altLang="zh-TW" sz="28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|</m:t>
                                    </m:r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h</m:t>
                        </m:r>
                      </m:sub>
                      <m:sup/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𝑄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h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func>
                          <m:func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800" b="0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28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28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800" b="0" i="1" smtClean="0">
                                        <a:latin typeface="Cambria Math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altLang="zh-TW" sz="2800" b="0" i="1" smtClean="0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smtClean="0">
                                            <a:latin typeface="Cambria Math"/>
                                          </a:rPr>
                                          <m:t>h</m:t>
                                        </m:r>
                                        <m:r>
                                          <a:rPr lang="en-US" altLang="zh-TW" sz="2800" b="0" i="1" smtClean="0">
                                            <a:latin typeface="Cambria Math"/>
                                          </a:rPr>
                                          <m:t>|</m:t>
                                        </m:r>
                                        <m:r>
                                          <a:rPr lang="en-US" altLang="zh-TW" sz="2800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d>
                            <m:r>
                              <a:rPr lang="en-US" altLang="zh-TW" sz="2800" b="0" i="1" smtClean="0">
                                <a:latin typeface="Cambria Math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altLang="zh-TW" sz="2800" i="1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h</m:t>
                                </m:r>
                              </m:sub>
                              <m:sup/>
                              <m:e>
                                <m:r>
                                  <a:rPr lang="en-US" altLang="zh-TW" sz="2800" i="1">
                                    <a:latin typeface="Cambria Math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altLang="zh-TW" sz="28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|</m:t>
                                    </m:r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  <m:f>
                                  <m:fPr>
                                    <m:ctrlPr>
                                      <a:rPr lang="en-US" altLang="zh-TW" sz="28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altLang="zh-TW" sz="28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i="1">
                                            <a:latin typeface="Cambria Math"/>
                                          </a:rPr>
                                          <m:t>h</m:t>
                                        </m:r>
                                        <m:r>
                                          <a:rPr lang="en-US" altLang="zh-TW" sz="2800" i="1">
                                            <a:latin typeface="Cambria Math"/>
                                          </a:rPr>
                                          <m:t>|</m:t>
                                        </m:r>
                                        <m:r>
                                          <a:rPr lang="en-US" altLang="zh-TW" sz="28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TW" sz="2800" i="1">
                                        <a:latin typeface="Cambria Math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altLang="zh-TW" sz="28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i="1">
                                            <a:latin typeface="Cambria Math"/>
                                          </a:rPr>
                                          <m:t>h</m:t>
                                        </m:r>
                                        <m:r>
                                          <a:rPr lang="en-US" altLang="zh-TW" sz="2800" i="1">
                                            <a:latin typeface="Cambria Math"/>
                                          </a:rPr>
                                          <m:t>|</m:t>
                                        </m:r>
                                        <m:r>
                                          <a:rPr lang="en-US" altLang="zh-TW" sz="28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nary>
                            <m:r>
                              <a:rPr lang="en-US" altLang="zh-TW" sz="2800" b="0" i="1" smtClean="0">
                                <a:latin typeface="Cambria Math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altLang="zh-TW" sz="2800" b="0" i="1" smtClean="0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h</m:t>
                                </m:r>
                              </m:sub>
                              <m:sup/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altLang="zh-TW" sz="2800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b="0" i="1" smtClean="0"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en-US" altLang="zh-TW" sz="2800" b="0" i="1" smtClean="0">
                                        <a:latin typeface="Cambria Math"/>
                                      </a:rPr>
                                      <m:t>|</m:t>
                                    </m:r>
                                    <m:r>
                                      <a:rPr lang="en-US" altLang="zh-TW" sz="28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  <m:func>
                                  <m:funcPr>
                                    <m:ctrlPr>
                                      <a:rPr lang="en-US" altLang="zh-TW" sz="2800" b="0" i="1" smtClean="0">
                                        <a:latin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800" b="0" i="0" smtClean="0">
                                        <a:latin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TW" sz="2800" b="0" i="1" smtClean="0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smtClean="0">
                                            <a:latin typeface="Cambria Math"/>
                                          </a:rPr>
                                          <m:t>𝑃</m:t>
                                        </m:r>
                                        <m:r>
                                          <a:rPr lang="en-US" altLang="zh-TW" sz="2800" b="0" i="1" smtClean="0">
                                            <a:latin typeface="Cambria Math"/>
                                          </a:rPr>
                                          <m:t>(</m:t>
                                        </m:r>
                                        <m:r>
                                          <a:rPr lang="en-US" altLang="zh-TW" sz="2800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TW" sz="2800" b="0" i="1" smtClean="0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2800" b="0" i="1" smtClean="0">
                                            <a:latin typeface="Cambria Math"/>
                                          </a:rPr>
                                          <m:t>h</m:t>
                                        </m:r>
                                        <m:r>
                                          <a:rPr lang="en-US" altLang="zh-TW" sz="2800" b="0" i="1" smtClean="0">
                                            <a:latin typeface="Cambria Math"/>
                                          </a:rPr>
                                          <m:t>)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nary>
                          </m:e>
                        </m:func>
                      </m:e>
                    </m:nary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𝑄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h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+</m:t>
                    </m:r>
                    <m:r>
                      <a:rPr lang="en-US" altLang="zh-TW" sz="2800" b="0" i="1" smtClean="0">
                        <a:latin typeface="Cambria Math"/>
                      </a:rPr>
                      <m:t>𝐾𝐿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𝑄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h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  <m:t>∥</m:t>
                        </m:r>
                        <m: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|</m:t>
                            </m:r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TW" sz="2800" b="0" i="1" smtClean="0">
                        <a:latin typeface="Cambria Math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2800" i="1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TW" sz="2800" i="1">
                            <a:latin typeface="Cambria Math"/>
                          </a:rPr>
                          <m:t>h</m:t>
                        </m:r>
                      </m:sub>
                      <m:sup/>
                      <m:e>
                        <m:r>
                          <a:rPr lang="en-US" altLang="zh-TW" sz="2800" i="1">
                            <a:latin typeface="Cambria Math"/>
                          </a:rPr>
                          <m:t>𝑄</m:t>
                        </m:r>
                        <m:d>
                          <m:dPr>
                            <m:ctrlPr>
                              <a:rPr lang="en-US" altLang="zh-TW" sz="2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h</m:t>
                            </m:r>
                            <m:r>
                              <a:rPr lang="en-US" altLang="zh-TW" sz="2800" i="1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TW" sz="2800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TW" sz="2800" b="0" i="1" smtClean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800" b="0" i="0" smtClean="0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altLang="zh-TW" sz="2800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800" b="0" i="1" smtClean="0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altLang="zh-TW" sz="2800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𝑙𝑜𝑔𝑃</m:t>
                            </m:r>
                            <m:d>
                              <m:dPr>
                                <m:ctrlPr>
                                  <a:rPr lang="en-US" altLang="zh-TW" sz="28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|</m:t>
                                </m:r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h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-US" altLang="zh-TW" sz="2800" b="0" i="1" dirty="0" smtClean="0">
                    <a:latin typeface="Cambria Math"/>
                  </a:rPr>
                  <a:t/>
                </a:r>
                <a:br>
                  <a:rPr lang="en-US" altLang="zh-TW" sz="2800" b="0" i="1" dirty="0" smtClean="0">
                    <a:latin typeface="Cambria Math"/>
                  </a:rPr>
                </a:br>
                <a:endParaRPr lang="en-US" altLang="zh-TW" sz="280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980728"/>
                <a:ext cx="8784976" cy="5616624"/>
              </a:xfrm>
              <a:blipFill rotWithShape="1">
                <a:blip r:embed="rId2"/>
                <a:stretch>
                  <a:fillRect l="-833" t="-3149" r="-34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829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35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107504" y="1052736"/>
                <a:ext cx="8784976" cy="35521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/>
                        </a:rPr>
                        <m:t>∵</m:t>
                      </m:r>
                      <m:r>
                        <a:rPr lang="en-US" altLang="zh-TW" sz="2000" i="1">
                          <a:latin typeface="Cambria Math"/>
                        </a:rPr>
                        <m:t>𝐾𝐿</m:t>
                      </m:r>
                      <m:r>
                        <a:rPr lang="en-US" altLang="zh-TW" sz="2000" i="1">
                          <a:latin typeface="Cambria Math"/>
                        </a:rPr>
                        <m:t>≥0</m:t>
                      </m:r>
                    </m:oMath>
                    <m:oMath xmlns:m="http://schemas.openxmlformats.org/officeDocument/2006/math">
                      <m:r>
                        <a:rPr lang="en-US" altLang="zh-TW" sz="2000" i="1">
                          <a:latin typeface="Cambria Math"/>
                        </a:rPr>
                        <m:t>∴</m:t>
                      </m:r>
                      <m:r>
                        <a:rPr lang="en-US" altLang="zh-TW" sz="2000" i="1">
                          <a:latin typeface="Cambria Math"/>
                        </a:rPr>
                        <m:t>𝑙𝑜𝑔𝑃</m:t>
                      </m:r>
                      <m:d>
                        <m:dPr>
                          <m:ctrlPr>
                            <a:rPr lang="en-US" altLang="zh-TW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zh-TW" sz="2000" i="1">
                          <a:latin typeface="Cambria Math"/>
                        </a:rPr>
                        <m:t>≥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000" i="1">
                              <a:latin typeface="Cambria Math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TW" sz="2000" i="1">
                                  <a:latin typeface="Cambria Math"/>
                                </a:rPr>
                                <m:t>|</m:t>
                              </m:r>
                              <m:r>
                                <a:rPr lang="en-US" altLang="zh-TW" sz="20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altLang="zh-TW" sz="2000" i="1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latin typeface="Cambria Math"/>
                            </a:rPr>
                            <m:t>h</m:t>
                          </m:r>
                        </m:sub>
                        <m:sup/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TW" sz="2000" i="1">
                                  <a:latin typeface="Cambria Math"/>
                                </a:rPr>
                                <m:t>|</m:t>
                              </m:r>
                              <m:r>
                                <a:rPr lang="en-US" altLang="zh-TW" sz="20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000" i="1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zh-TW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i="1">
                                          <a:latin typeface="Cambria Math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TW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i="1">
                                  <a:latin typeface="Cambria Math"/>
                                </a:rPr>
                                <m:t>𝑙𝑜𝑔𝑃</m:t>
                              </m:r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|</m:t>
                                  </m:r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altLang="zh-TW" sz="2000" dirty="0" smtClean="0">
                  <a:latin typeface="Cambria Math"/>
                </a:endParaRPr>
              </a:p>
              <a:p>
                <a:r>
                  <a:rPr lang="zh-TW" altLang="en-US" sz="2000" dirty="0" smtClean="0">
                    <a:latin typeface="Cambria Math"/>
                  </a:rPr>
                  <a:t>第</a:t>
                </a:r>
                <a:r>
                  <a:rPr lang="zh-TW" altLang="en-US" sz="2000" dirty="0" smtClean="0">
                    <a:latin typeface="Cambria Math"/>
                  </a:rPr>
                  <a:t>一層的</a:t>
                </a:r>
                <a:r>
                  <a:rPr lang="en-US" altLang="zh-TW" sz="2000" dirty="0" smtClean="0">
                    <a:latin typeface="Cambria Math"/>
                  </a:rPr>
                  <a:t>RBM</a:t>
                </a:r>
                <a:r>
                  <a:rPr lang="zh-TW" altLang="en-US" sz="2000" dirty="0" smtClean="0">
                    <a:latin typeface="Cambria Math"/>
                  </a:rPr>
                  <a:t>已訓練完成，</a:t>
                </a:r>
                <a:endParaRPr lang="en-US" altLang="zh-TW" sz="200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00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zh-TW" sz="2000" b="0" i="1" smtClean="0">
                          <a:latin typeface="Cambria Math"/>
                        </a:rPr>
                        <m:t>≥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000" i="1">
                              <a:latin typeface="Cambria Math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(1)</m:t>
                                  </m:r>
                                </m:sup>
                              </m:sSup>
                              <m:r>
                                <a:rPr lang="en-US" altLang="zh-TW" sz="2000" i="1">
                                  <a:latin typeface="Cambria Math"/>
                                </a:rPr>
                                <m:t>|</m:t>
                              </m:r>
                              <m:r>
                                <a:rPr lang="en-US" altLang="zh-TW" sz="20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altLang="zh-TW" sz="2000" i="1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latin typeface="Cambria Math"/>
                            </a:rPr>
                            <m:t>h</m:t>
                          </m:r>
                        </m:sub>
                        <m:sup/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(1)</m:t>
                                  </m:r>
                                </m:sup>
                              </m:sSup>
                              <m:r>
                                <a:rPr lang="en-US" altLang="zh-TW" sz="2000" i="1">
                                  <a:latin typeface="Cambria Math"/>
                                </a:rPr>
                                <m:t>|</m:t>
                              </m:r>
                              <m:r>
                                <a:rPr lang="en-US" altLang="zh-TW" sz="20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000" i="1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zh-TW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000" b="0" i="1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000" i="1">
                                              <a:latin typeface="Cambria Math"/>
                                            </a:rPr>
                                            <m:t>h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000" b="0" i="1" smtClean="0">
                                              <a:latin typeface="Cambria Math"/>
                                            </a:rPr>
                                            <m:t>(1)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  <m:r>
                                <a:rPr lang="en-US" altLang="zh-TW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i="1">
                                  <a:latin typeface="Cambria Math"/>
                                </a:rPr>
                                <m:t>𝑙𝑜𝑔𝑃</m:t>
                              </m:r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|</m:t>
                                  </m:r>
                                  <m:sSup>
                                    <m:sSupPr>
                                      <m:ctrlPr>
                                        <a:rPr lang="en-US" altLang="zh-TW" sz="20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latin typeface="Cambria Math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(1)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altLang="zh-TW" sz="2000" dirty="0" smtClean="0"/>
              </a:p>
              <a:p>
                <a:r>
                  <a:rPr lang="zh-TW" altLang="en-US" sz="2000" dirty="0">
                    <a:latin typeface="Cambria Math"/>
                  </a:rPr>
                  <a:t>現在準備</a:t>
                </a:r>
                <a:r>
                  <a:rPr lang="zh-TW" altLang="en-US" sz="2000" dirty="0" smtClean="0">
                    <a:latin typeface="Cambria Math"/>
                  </a:rPr>
                  <a:t>訓練第</a:t>
                </a:r>
                <a:r>
                  <a:rPr lang="zh-TW" altLang="en-US" sz="2000" dirty="0">
                    <a:latin typeface="Cambria Math"/>
                  </a:rPr>
                  <a:t>二層</a:t>
                </a:r>
                <a:r>
                  <a:rPr lang="en-US" altLang="zh-TW" sz="2000" dirty="0">
                    <a:latin typeface="Cambria Math"/>
                  </a:rPr>
                  <a:t>RBM</a:t>
                </a:r>
                <a:r>
                  <a:rPr lang="en-US" altLang="zh-TW" sz="2000" i="1" dirty="0">
                    <a:latin typeface="Cambria Math"/>
                  </a:rPr>
                  <a:t>, </a:t>
                </a:r>
                <a:r>
                  <a:rPr lang="zh-TW" altLang="en-US" sz="2000" i="1" dirty="0" smtClean="0">
                    <a:latin typeface="Cambria Math"/>
                  </a:rPr>
                  <a:t>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/>
                          </a:rPr>
                          <m:t>𝑊</m:t>
                        </m:r>
                      </m:e>
                      <m:sup>
                        <m:r>
                          <a:rPr lang="en-US" altLang="zh-TW" sz="2000" i="1">
                            <a:latin typeface="Cambria Math"/>
                          </a:rPr>
                          <m:t>(2)</m:t>
                        </m:r>
                      </m:sup>
                    </m:sSup>
                    <m:r>
                      <a:rPr lang="en-US" altLang="zh-TW" sz="20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TW" sz="2000" i="1">
                            <a:latin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TW" sz="20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000" i="1">
                                <a:latin typeface="Cambria Math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TW" sz="20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e>
                      <m:sup>
                        <m:r>
                          <a:rPr lang="en-US" altLang="zh-TW" sz="20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TW" sz="2000" b="0" i="1" smtClean="0">
                        <a:latin typeface="Cambria Math"/>
                      </a:rPr>
                      <m:t>,</m:t>
                    </m:r>
                    <m:r>
                      <a:rPr lang="en-US" altLang="zh-TW" sz="2000" i="1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altLang="zh-TW" sz="2000" i="1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zh-TW" sz="2000" b="0" i="1" smtClean="0">
                                <a:latin typeface="Cambria Math"/>
                              </a:rPr>
                              <m:t>(1)</m:t>
                            </m:r>
                          </m:sup>
                        </m:sSup>
                        <m:r>
                          <a:rPr lang="en-US" altLang="zh-TW" sz="2000" b="0" i="1" smtClean="0">
                            <a:latin typeface="Cambria Math"/>
                          </a:rPr>
                          <m:t>|</m:t>
                        </m:r>
                        <m:r>
                          <a:rPr lang="en-US" altLang="zh-TW" sz="20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sz="2000" b="0" i="1" smtClean="0">
                        <a:latin typeface="Cambria Math"/>
                      </a:rPr>
                      <m:t>=</m:t>
                    </m:r>
                    <m:r>
                      <a:rPr lang="en-US" altLang="zh-TW" sz="20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zh-TW" sz="2000" b="0" i="1" smtClean="0">
                                <a:latin typeface="Cambria Math"/>
                              </a:rPr>
                              <m:t>(1)</m:t>
                            </m:r>
                          </m:sup>
                        </m:sSup>
                        <m:r>
                          <a:rPr lang="en-US" altLang="zh-TW" sz="2000" b="0" i="1" smtClean="0">
                            <a:latin typeface="Cambria Math"/>
                          </a:rPr>
                          <m:t>|</m:t>
                        </m:r>
                        <m:r>
                          <a:rPr lang="en-US" altLang="zh-TW" sz="2000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sz="2000" dirty="0" smtClean="0"/>
              </a:p>
              <a:p>
                <a:r>
                  <a:rPr lang="zh-TW" altLang="en-US" sz="2000" dirty="0" smtClean="0"/>
                  <a:t>且固定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/>
                          </a:rPr>
                          <m:t>𝑊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TW" altLang="en-US" sz="2000" dirty="0" smtClean="0"/>
                  <a:t>，則在訓練第二層之後，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/>
                      </a:rPr>
                      <m:t>𝑙𝑜𝑔𝑃</m:t>
                    </m:r>
                    <m:r>
                      <a:rPr lang="en-US" altLang="zh-TW" sz="2000" b="0" i="1" smtClean="0">
                        <a:latin typeface="Cambria Math"/>
                      </a:rPr>
                      <m:t>(</m:t>
                    </m:r>
                    <m:r>
                      <a:rPr lang="en-US" altLang="zh-TW" sz="2000" b="0" i="1" smtClean="0">
                        <a:latin typeface="Cambria Math"/>
                      </a:rPr>
                      <m:t>𝑥</m:t>
                    </m:r>
                    <m:r>
                      <a:rPr lang="en-US" altLang="zh-TW" sz="20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sz="2000" dirty="0" smtClean="0"/>
                  <a:t>之值必定上升</a:t>
                </a:r>
                <a:endParaRPr lang="en-US" altLang="zh-TW" sz="2000" dirty="0" smtClean="0"/>
              </a:p>
              <a:p>
                <a:endParaRPr lang="en-US" altLang="zh-TW" sz="2000" dirty="0" smtClean="0"/>
              </a:p>
              <a:p>
                <a:endParaRPr lang="zh-TW" altLang="en-US" sz="2000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052736"/>
                <a:ext cx="8784976" cy="3552191"/>
              </a:xfrm>
              <a:prstGeom prst="rect">
                <a:avLst/>
              </a:prstGeom>
              <a:blipFill rotWithShape="1">
                <a:blip r:embed="rId2"/>
                <a:stretch>
                  <a:fillRect l="-7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95141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Dataset: MNIST (handwritten digits)</a:t>
            </a:r>
          </a:p>
          <a:p>
            <a:r>
              <a:rPr lang="en-US" altLang="zh-TW" dirty="0">
                <a:hlinkClick r:id="rId2"/>
              </a:rPr>
              <a:t>http://yann.lecun.com/exdb/mnist</a:t>
            </a:r>
            <a:r>
              <a:rPr lang="en-US" altLang="zh-TW" dirty="0" smtClean="0">
                <a:hlinkClick r:id="rId2"/>
              </a:rPr>
              <a:t>/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927141"/>
            <a:ext cx="5272962" cy="3604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26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3630"/>
            <a:ext cx="7524327" cy="6674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907704" y="332656"/>
            <a:ext cx="5256584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889447" y="3789040"/>
            <a:ext cx="5256584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770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Parameters for DBN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38</a:t>
            </a:fld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95536" y="1412776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Structure: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800" dirty="0" smtClean="0"/>
              <a:t>Num. of layers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800" dirty="0" smtClean="0"/>
              <a:t>Num. of units of each layer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800" dirty="0" smtClean="0"/>
              <a:t>Type of the RBM (standard, Gaussian, or others)</a:t>
            </a:r>
            <a:endParaRPr lang="en-US" altLang="zh-TW" sz="2800" dirty="0"/>
          </a:p>
          <a:p>
            <a:endParaRPr lang="en-US" altLang="zh-TW" sz="2800" dirty="0" smtClean="0"/>
          </a:p>
          <a:p>
            <a:r>
              <a:rPr lang="en-US" altLang="zh-TW" sz="2800" dirty="0" smtClean="0">
                <a:solidFill>
                  <a:srgbClr val="FF0000"/>
                </a:solidFill>
              </a:rPr>
              <a:t>Learning: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sz="2800" dirty="0" smtClean="0"/>
              <a:t>Num. of epoch (generation)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sz="2800" dirty="0" smtClean="0"/>
              <a:t>Size of mini-batch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sz="2800" dirty="0" smtClean="0"/>
              <a:t>Num. of Gibbs sampling (CD-</a:t>
            </a:r>
            <a:r>
              <a:rPr lang="en-US" altLang="zh-TW" sz="2800" i="1" dirty="0" smtClean="0"/>
              <a:t>k</a:t>
            </a:r>
            <a:r>
              <a:rPr lang="en-US" altLang="zh-TW" sz="2800" dirty="0" smtClean="0"/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sz="2800" dirty="0" smtClean="0"/>
              <a:t>Learning rate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sz="2800" dirty="0" smtClean="0"/>
              <a:t>Momentum</a:t>
            </a:r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5211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Related deep models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39</a:t>
            </a:fld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23528" y="1556792"/>
            <a:ext cx="864096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TW" sz="2400" b="1" dirty="0" smtClean="0">
                <a:solidFill>
                  <a:srgbClr val="FF0000"/>
                </a:solidFill>
              </a:rPr>
              <a:t>Stacked 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autoencoder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 smtClean="0"/>
              <a:t>Hinton</a:t>
            </a:r>
            <a:r>
              <a:rPr lang="en-US" altLang="zh-TW" sz="2400" dirty="0"/>
              <a:t>, G. E. and </a:t>
            </a:r>
            <a:r>
              <a:rPr lang="en-US" altLang="zh-TW" sz="2400" dirty="0" err="1"/>
              <a:t>Salakhutdinov</a:t>
            </a:r>
            <a:r>
              <a:rPr lang="en-US" altLang="zh-TW" sz="2400" dirty="0"/>
              <a:t>, R. R </a:t>
            </a:r>
            <a:r>
              <a:rPr lang="en-US" altLang="zh-TW" sz="2400" dirty="0" smtClean="0"/>
              <a:t>, “</a:t>
            </a:r>
            <a:r>
              <a:rPr lang="en-US" altLang="zh-TW" sz="2400" b="1" dirty="0" smtClean="0"/>
              <a:t>Reducing </a:t>
            </a:r>
            <a:r>
              <a:rPr lang="en-US" altLang="zh-TW" sz="2400" b="1" dirty="0"/>
              <a:t>the dimensionality of data with neural </a:t>
            </a:r>
            <a:r>
              <a:rPr lang="en-US" altLang="zh-TW" sz="2400" b="1" dirty="0" smtClean="0"/>
              <a:t>networks,” </a:t>
            </a:r>
            <a:r>
              <a:rPr lang="en-US" altLang="zh-TW" sz="2400" i="1" dirty="0" smtClean="0"/>
              <a:t>Science</a:t>
            </a:r>
            <a:r>
              <a:rPr lang="en-US" altLang="zh-TW" sz="2400" dirty="0"/>
              <a:t>, Vol. 313. no. 5786, pp. 504 - 507, 28 July 2006</a:t>
            </a:r>
            <a:r>
              <a:rPr lang="en-US" altLang="zh-TW" sz="2400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400" b="1" dirty="0" err="1" smtClean="0">
                <a:solidFill>
                  <a:srgbClr val="FF0000"/>
                </a:solidFill>
              </a:rPr>
              <a:t>Denoising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 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autoencoder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/>
            </a:r>
            <a:br>
              <a:rPr lang="en-US" altLang="zh-TW" sz="2400" b="1" dirty="0" smtClean="0">
                <a:solidFill>
                  <a:srgbClr val="FF0000"/>
                </a:solidFill>
              </a:rPr>
            </a:br>
            <a:r>
              <a:rPr lang="en-US" altLang="zh-TW" sz="2400" dirty="0"/>
              <a:t>Vincent, H. </a:t>
            </a:r>
            <a:r>
              <a:rPr lang="en-US" altLang="zh-TW" sz="2400" dirty="0" err="1"/>
              <a:t>Larochelle</a:t>
            </a:r>
            <a:r>
              <a:rPr lang="en-US" altLang="zh-TW" sz="2400" dirty="0"/>
              <a:t> Y. </a:t>
            </a:r>
            <a:r>
              <a:rPr lang="en-US" altLang="zh-TW" sz="2400" dirty="0" err="1"/>
              <a:t>Bengio</a:t>
            </a:r>
            <a:r>
              <a:rPr lang="en-US" altLang="zh-TW" sz="2400" dirty="0"/>
              <a:t> and P.A. </a:t>
            </a:r>
            <a:r>
              <a:rPr lang="en-US" altLang="zh-TW" sz="2400" dirty="0" err="1"/>
              <a:t>Manzagol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“</a:t>
            </a:r>
            <a:r>
              <a:rPr lang="en-US" altLang="zh-TW" sz="2400" b="1" dirty="0" smtClean="0"/>
              <a:t>Extracting </a:t>
            </a:r>
            <a:r>
              <a:rPr lang="en-US" altLang="zh-TW" sz="2400" b="1" dirty="0"/>
              <a:t>and Composing Robust Features with </a:t>
            </a:r>
            <a:r>
              <a:rPr lang="en-US" altLang="zh-TW" sz="2400" b="1" dirty="0" err="1"/>
              <a:t>Denoising</a:t>
            </a:r>
            <a:r>
              <a:rPr lang="en-US" altLang="zh-TW" sz="2400" b="1" dirty="0"/>
              <a:t> </a:t>
            </a:r>
            <a:r>
              <a:rPr lang="en-US" altLang="zh-TW" sz="2400" b="1" dirty="0" err="1"/>
              <a:t>Autoencoders</a:t>
            </a:r>
            <a:r>
              <a:rPr lang="en-US" altLang="zh-TW" sz="2400" b="1" dirty="0" smtClean="0"/>
              <a:t>,</a:t>
            </a:r>
            <a:r>
              <a:rPr lang="en-US" altLang="zh-TW" sz="2400" dirty="0" smtClean="0"/>
              <a:t>” </a:t>
            </a:r>
            <a:r>
              <a:rPr lang="en-US" altLang="zh-TW" sz="2400" i="1" dirty="0"/>
              <a:t>Proceedings of the Twenty-fifth International Conference on Machine Learning (ICML‘08)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pp. </a:t>
            </a:r>
            <a:r>
              <a:rPr lang="en-US" altLang="zh-TW" sz="2400" dirty="0"/>
              <a:t>1096 - 1103, ACM, 2008</a:t>
            </a:r>
            <a:r>
              <a:rPr lang="en-US" altLang="zh-TW" sz="2400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400" b="1" dirty="0" smtClean="0">
                <a:solidFill>
                  <a:srgbClr val="FF0000"/>
                </a:solidFill>
              </a:rPr>
              <a:t>Deep Boltzmann machine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400" dirty="0" err="1"/>
              <a:t>Salakhutdinov</a:t>
            </a:r>
            <a:r>
              <a:rPr lang="en-US" altLang="zh-TW" sz="2400" dirty="0"/>
              <a:t>, R. R. and Hinton, G. </a:t>
            </a:r>
            <a:r>
              <a:rPr lang="en-US" altLang="zh-TW" sz="2400" dirty="0" smtClean="0"/>
              <a:t>E., “</a:t>
            </a:r>
            <a:r>
              <a:rPr lang="en-US" altLang="zh-TW" sz="2400" b="1" dirty="0" smtClean="0"/>
              <a:t>An </a:t>
            </a:r>
            <a:r>
              <a:rPr lang="en-US" altLang="zh-TW" sz="2400" b="1" dirty="0"/>
              <a:t>Efficient Learning Procedure for Deep Boltzmann </a:t>
            </a:r>
            <a:r>
              <a:rPr lang="en-US" altLang="zh-TW" sz="2400" b="1" dirty="0" smtClean="0"/>
              <a:t>Machines,” </a:t>
            </a:r>
            <a:r>
              <a:rPr lang="en-US" altLang="zh-TW" sz="2400" i="1" dirty="0" smtClean="0"/>
              <a:t>Neural Computation, 2012</a:t>
            </a:r>
            <a:r>
              <a:rPr lang="en-US" altLang="zh-TW" sz="2400" dirty="0" smtClean="0"/>
              <a:t>.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405491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33" y="2566370"/>
            <a:ext cx="8727476" cy="3382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Application in time series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40</a:t>
            </a:fld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511096" y="1366041"/>
            <a:ext cx="83093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Geoffrey Hinton, Li Deng, Dong Yu, George Dahl, Abdel-</a:t>
            </a:r>
            <a:r>
              <a:rPr lang="en-US" altLang="zh-TW" dirty="0" err="1"/>
              <a:t>rahman</a:t>
            </a:r>
            <a:r>
              <a:rPr lang="en-US" altLang="zh-TW" dirty="0"/>
              <a:t> Mohamed, </a:t>
            </a:r>
            <a:r>
              <a:rPr lang="en-US" altLang="zh-TW" dirty="0" err="1"/>
              <a:t>Navdeep</a:t>
            </a:r>
            <a:r>
              <a:rPr lang="en-US" altLang="zh-TW" dirty="0"/>
              <a:t> </a:t>
            </a:r>
            <a:r>
              <a:rPr lang="en-US" altLang="zh-TW" dirty="0" err="1"/>
              <a:t>Jaitly</a:t>
            </a:r>
            <a:r>
              <a:rPr lang="en-US" altLang="zh-TW" dirty="0"/>
              <a:t>, Andrew Senior, Vincent </a:t>
            </a:r>
            <a:r>
              <a:rPr lang="en-US" altLang="zh-TW" dirty="0" err="1"/>
              <a:t>Vanhoucke</a:t>
            </a:r>
            <a:r>
              <a:rPr lang="en-US" altLang="zh-TW" dirty="0"/>
              <a:t>, Patrick Nguyen, Tara </a:t>
            </a:r>
            <a:r>
              <a:rPr lang="en-US" altLang="zh-TW" dirty="0" err="1"/>
              <a:t>Sainath</a:t>
            </a:r>
            <a:r>
              <a:rPr lang="en-US" altLang="zh-TW" dirty="0"/>
              <a:t>, and Brian </a:t>
            </a:r>
            <a:r>
              <a:rPr lang="en-US" altLang="zh-TW" dirty="0" smtClean="0"/>
              <a:t>Kingsbury, “</a:t>
            </a:r>
            <a:r>
              <a:rPr lang="en-US" altLang="zh-TW" b="1" dirty="0" smtClean="0"/>
              <a:t>Deep </a:t>
            </a:r>
            <a:r>
              <a:rPr lang="en-US" altLang="zh-TW" b="1" dirty="0"/>
              <a:t>Neural Networks for Acoustic Modeling in Speech </a:t>
            </a:r>
            <a:r>
              <a:rPr lang="en-US" altLang="zh-TW" b="1" dirty="0" smtClean="0"/>
              <a:t>Recognition,”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IEEE Signal Processing Magazine, November 2012 (in press)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283968" y="3501008"/>
            <a:ext cx="1080120" cy="2304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755576" y="6165304"/>
            <a:ext cx="4824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Experiment: word recognition from the voice</a:t>
            </a:r>
          </a:p>
          <a:p>
            <a:r>
              <a:rPr lang="en-US" altLang="zh-TW" dirty="0" smtClean="0"/>
              <a:t>WERs: word error rate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5819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6B6D-04F5-43F5-9597-836641C3EBE8}" type="slidenum">
              <a:rPr lang="zh-TW" altLang="en-US" smtClean="0"/>
              <a:t>41</a:t>
            </a:fld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251520" y="116632"/>
            <a:ext cx="86409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altLang="zh-TW" dirty="0"/>
              <a:t>Xianggao </a:t>
            </a:r>
            <a:r>
              <a:rPr lang="it-IT" altLang="zh-TW" dirty="0" smtClean="0"/>
              <a:t>Cai, </a:t>
            </a:r>
            <a:r>
              <a:rPr lang="it-IT" altLang="zh-TW" dirty="0"/>
              <a:t>Su </a:t>
            </a:r>
            <a:r>
              <a:rPr lang="it-IT" altLang="zh-TW" dirty="0" smtClean="0"/>
              <a:t>Hu, and Xiaola Lin,</a:t>
            </a:r>
            <a:r>
              <a:rPr lang="en-US" altLang="zh-TW" dirty="0"/>
              <a:t> </a:t>
            </a:r>
            <a:r>
              <a:rPr lang="en-US" altLang="zh-TW" dirty="0" smtClean="0"/>
              <a:t>”</a:t>
            </a:r>
            <a:r>
              <a:rPr lang="en-US" altLang="zh-TW" b="1" dirty="0" smtClean="0"/>
              <a:t>Feature </a:t>
            </a:r>
            <a:r>
              <a:rPr lang="en-US" altLang="zh-TW" b="1" dirty="0"/>
              <a:t>extraction using Restricted Boltzmann Machine for stock price </a:t>
            </a:r>
            <a:r>
              <a:rPr lang="en-US" altLang="zh-TW" b="1" dirty="0" smtClean="0"/>
              <a:t>prediction</a:t>
            </a:r>
            <a:r>
              <a:rPr lang="en-US" altLang="zh-TW" dirty="0"/>
              <a:t>, ” Computer Science and Automation Engineering (CSAE), 2012 IEEE International Conference </a:t>
            </a:r>
            <a:r>
              <a:rPr lang="en-US" altLang="zh-TW" dirty="0" smtClean="0"/>
              <a:t>on, pp. 80-82, 2012.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323528" y="1052736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Using DBN to do feature extraction for SVR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1" y="1484784"/>
            <a:ext cx="4566280" cy="3292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4932040" y="1087576"/>
            <a:ext cx="38884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S&amp;P500 daily close price prediction</a:t>
            </a:r>
          </a:p>
          <a:p>
            <a:r>
              <a:rPr lang="en-US" altLang="zh-TW" dirty="0" smtClean="0"/>
              <a:t>2000/1/3~2011/2/22 </a:t>
            </a:r>
          </a:p>
          <a:p>
            <a:r>
              <a:rPr lang="en-US" altLang="zh-TW" dirty="0" smtClean="0"/>
              <a:t>(2800 points, 2500 for training, 300 for testing)</a:t>
            </a:r>
          </a:p>
          <a:p>
            <a:endParaRPr lang="zh-TW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900749"/>
            <a:ext cx="4320555" cy="1912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5148064" y="2708920"/>
            <a:ext cx="3067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dirty="0" smtClean="0"/>
              <a:t>SVR for S&amp;P500 and f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~f</a:t>
            </a:r>
            <a:r>
              <a:rPr lang="en-US" altLang="zh-TW" baseline="-25000" dirty="0" smtClean="0"/>
              <a:t>20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dirty="0" smtClean="0"/>
              <a:t>SVR for S&amp;P500 with f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~f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 and 20 stocks with f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~f</a:t>
            </a:r>
            <a:r>
              <a:rPr lang="en-US" altLang="zh-TW" baseline="-25000" dirty="0" smtClean="0"/>
              <a:t>20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dirty="0" smtClean="0"/>
              <a:t>SVR </a:t>
            </a:r>
            <a:r>
              <a:rPr lang="en-US" altLang="zh-TW" dirty="0"/>
              <a:t>for S&amp;P500 with f</a:t>
            </a:r>
            <a:r>
              <a:rPr lang="en-US" altLang="zh-TW" baseline="-25000" dirty="0"/>
              <a:t>1</a:t>
            </a:r>
            <a:r>
              <a:rPr lang="en-US" altLang="zh-TW" dirty="0"/>
              <a:t>~f</a:t>
            </a:r>
            <a:r>
              <a:rPr lang="en-US" altLang="zh-TW" baseline="-25000" dirty="0"/>
              <a:t>4 </a:t>
            </a:r>
            <a:r>
              <a:rPr lang="en-US" altLang="zh-TW" dirty="0" smtClean="0"/>
              <a:t>and 20 stocks with trained (DBN) f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~f</a:t>
            </a:r>
            <a:r>
              <a:rPr lang="en-US" altLang="zh-TW" baseline="-25000" dirty="0" smtClean="0"/>
              <a:t>20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937" y="4985504"/>
            <a:ext cx="4257957" cy="1345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350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442758" y="431515"/>
            <a:ext cx="6192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600" dirty="0" smtClean="0"/>
              <a:t>Thank you!!</a:t>
            </a:r>
            <a:endParaRPr lang="zh-TW" altLang="en-US" sz="9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2D449-FE15-4C98-AE90-32963C8A7493}" type="slidenum">
              <a:rPr lang="zh-TW" altLang="en-US" smtClean="0"/>
              <a:t>42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162611"/>
            <a:ext cx="3967379" cy="396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83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</TotalTime>
  <Words>3347</Words>
  <Application>Microsoft Office PowerPoint</Application>
  <PresentationFormat>如螢幕大小 (4:3)</PresentationFormat>
  <Paragraphs>392</Paragraphs>
  <Slides>42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3" baseType="lpstr">
      <vt:lpstr>Office 佈景主題</vt:lpstr>
      <vt:lpstr>A fast learning algorithm for  deep belief nets </vt:lpstr>
      <vt:lpstr>Abstract (1/2)</vt:lpstr>
      <vt:lpstr>Abstract (2/2)</vt:lpstr>
      <vt:lpstr>Deep learning resources</vt:lpstr>
      <vt:lpstr>Deep belief net (DBN)</vt:lpstr>
      <vt:lpstr>Deep Networks</vt:lpstr>
      <vt:lpstr>Why it is usually very hard to learn  belief nets one layer at a time</vt:lpstr>
      <vt:lpstr>Generative v.s. discriminant models</vt:lpstr>
      <vt:lpstr>Naïve Baye’s classifier</vt:lpstr>
      <vt:lpstr>Bayesian (belief) network (BN)</vt:lpstr>
      <vt:lpstr>Example of inference of BN</vt:lpstr>
      <vt:lpstr>Markov random field (MRF)</vt:lpstr>
      <vt:lpstr>PowerPoint 簡報</vt:lpstr>
      <vt:lpstr>Boltzmann machine (BM)</vt:lpstr>
      <vt:lpstr>Restricted Boltzmann machine (RBM)</vt:lpstr>
      <vt:lpstr>Entropy</vt:lpstr>
      <vt:lpstr>Kullback–Leibler divergence (Relative entropy)</vt:lpstr>
      <vt:lpstr>Maximum likelihood estimation (MLE)</vt:lpstr>
      <vt:lpstr>Gibbs sampling</vt:lpstr>
      <vt:lpstr>PowerPoint 簡報</vt:lpstr>
      <vt:lpstr>Contrastive divergence (CD-k)</vt:lpstr>
      <vt:lpstr>MLE = minimize KL divergence</vt:lpstr>
      <vt:lpstr>PowerPoint 簡報</vt:lpstr>
      <vt:lpstr>PowerPoint 簡報</vt:lpstr>
      <vt:lpstr>CD-k (k=1) on RBM</vt:lpstr>
      <vt:lpstr>PowerPoint 簡報</vt:lpstr>
      <vt:lpstr>Example of CD-1</vt:lpstr>
      <vt:lpstr>Deep belief net, layer-wise pre-training</vt:lpstr>
      <vt:lpstr>Deep belief net, fine tuning (wake sleeping algorithm)</vt:lpstr>
      <vt:lpstr>Wake-sleeping algorithm</vt:lpstr>
      <vt:lpstr>Wake phase (bottom up)</vt:lpstr>
      <vt:lpstr>Contrastive divergence on top layer(CD-1)</vt:lpstr>
      <vt:lpstr>Sleeping phase (top-down)</vt:lpstr>
      <vt:lpstr>Why DBN works?</vt:lpstr>
      <vt:lpstr>PowerPoint 簡報</vt:lpstr>
      <vt:lpstr>Experiments</vt:lpstr>
      <vt:lpstr>PowerPoint 簡報</vt:lpstr>
      <vt:lpstr>Parameters for DBN</vt:lpstr>
      <vt:lpstr>Related deep models</vt:lpstr>
      <vt:lpstr>Application in time series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learning algorithm for deep belief nets ∗</dc:title>
  <dc:creator>par67vm</dc:creator>
  <cp:lastModifiedBy>par67vm</cp:lastModifiedBy>
  <cp:revision>233</cp:revision>
  <dcterms:created xsi:type="dcterms:W3CDTF">2013-02-01T08:48:29Z</dcterms:created>
  <dcterms:modified xsi:type="dcterms:W3CDTF">2013-02-05T06:38:49Z</dcterms:modified>
</cp:coreProperties>
</file>