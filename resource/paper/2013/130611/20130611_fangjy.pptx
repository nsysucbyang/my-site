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9" r:id="rId10"/>
    <p:sldId id="270" r:id="rId11"/>
    <p:sldId id="264" r:id="rId12"/>
    <p:sldId id="265" r:id="rId13"/>
    <p:sldId id="266" r:id="rId14"/>
    <p:sldId id="267" r:id="rId15"/>
    <p:sldId id="268" r:id="rId16"/>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576" y="-90"/>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7FEB9C12-AEE1-4DBD-870C-6305782D7B9D}" type="datetimeFigureOut">
              <a:rPr lang="zh-TW" altLang="en-US" smtClean="0"/>
              <a:pPr/>
              <a:t>2013/6/11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266F7D5-9809-4847-A650-6DB51C38899F}" type="slidenum">
              <a:rPr lang="zh-TW" altLang="en-US" smtClean="0"/>
              <a:pPr/>
              <a:t>‹#›</a:t>
            </a:fld>
            <a:endParaRPr lang="zh-TW" altLang="en-US"/>
          </a:p>
        </p:txBody>
      </p:sp>
    </p:spTree>
    <p:extLst>
      <p:ext uri="{BB962C8B-B14F-4D97-AF65-F5344CB8AC3E}">
        <p14:creationId xmlns:p14="http://schemas.microsoft.com/office/powerpoint/2010/main" xmlns="" val="656042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7FEB9C12-AEE1-4DBD-870C-6305782D7B9D}" type="datetimeFigureOut">
              <a:rPr lang="zh-TW" altLang="en-US" smtClean="0"/>
              <a:pPr/>
              <a:t>2013/6/11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266F7D5-9809-4847-A650-6DB51C38899F}" type="slidenum">
              <a:rPr lang="zh-TW" altLang="en-US" smtClean="0"/>
              <a:pPr/>
              <a:t>‹#›</a:t>
            </a:fld>
            <a:endParaRPr lang="zh-TW" altLang="en-US"/>
          </a:p>
        </p:txBody>
      </p:sp>
    </p:spTree>
    <p:extLst>
      <p:ext uri="{BB962C8B-B14F-4D97-AF65-F5344CB8AC3E}">
        <p14:creationId xmlns:p14="http://schemas.microsoft.com/office/powerpoint/2010/main" xmlns="" val="4011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7FEB9C12-AEE1-4DBD-870C-6305782D7B9D}" type="datetimeFigureOut">
              <a:rPr lang="zh-TW" altLang="en-US" smtClean="0"/>
              <a:pPr/>
              <a:t>2013/6/11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266F7D5-9809-4847-A650-6DB51C38899F}" type="slidenum">
              <a:rPr lang="zh-TW" altLang="en-US" smtClean="0"/>
              <a:pPr/>
              <a:t>‹#›</a:t>
            </a:fld>
            <a:endParaRPr lang="zh-TW" altLang="en-US"/>
          </a:p>
        </p:txBody>
      </p:sp>
    </p:spTree>
    <p:extLst>
      <p:ext uri="{BB962C8B-B14F-4D97-AF65-F5344CB8AC3E}">
        <p14:creationId xmlns:p14="http://schemas.microsoft.com/office/powerpoint/2010/main" xmlns="" val="2297559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7FEB9C12-AEE1-4DBD-870C-6305782D7B9D}" type="datetimeFigureOut">
              <a:rPr lang="zh-TW" altLang="en-US" smtClean="0"/>
              <a:pPr/>
              <a:t>2013/6/11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266F7D5-9809-4847-A650-6DB51C38899F}" type="slidenum">
              <a:rPr lang="zh-TW" altLang="en-US" smtClean="0"/>
              <a:pPr/>
              <a:t>‹#›</a:t>
            </a:fld>
            <a:endParaRPr lang="zh-TW" altLang="en-US"/>
          </a:p>
        </p:txBody>
      </p:sp>
    </p:spTree>
    <p:extLst>
      <p:ext uri="{BB962C8B-B14F-4D97-AF65-F5344CB8AC3E}">
        <p14:creationId xmlns:p14="http://schemas.microsoft.com/office/powerpoint/2010/main" xmlns="" val="3258896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7FEB9C12-AEE1-4DBD-870C-6305782D7B9D}" type="datetimeFigureOut">
              <a:rPr lang="zh-TW" altLang="en-US" smtClean="0"/>
              <a:pPr/>
              <a:t>2013/6/11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3266F7D5-9809-4847-A650-6DB51C38899F}" type="slidenum">
              <a:rPr lang="zh-TW" altLang="en-US" smtClean="0"/>
              <a:pPr/>
              <a:t>‹#›</a:t>
            </a:fld>
            <a:endParaRPr lang="zh-TW" altLang="en-US"/>
          </a:p>
        </p:txBody>
      </p:sp>
    </p:spTree>
    <p:extLst>
      <p:ext uri="{BB962C8B-B14F-4D97-AF65-F5344CB8AC3E}">
        <p14:creationId xmlns:p14="http://schemas.microsoft.com/office/powerpoint/2010/main" xmlns="" val="2412415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7FEB9C12-AEE1-4DBD-870C-6305782D7B9D}" type="datetimeFigureOut">
              <a:rPr lang="zh-TW" altLang="en-US" smtClean="0"/>
              <a:pPr/>
              <a:t>2013/6/11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3266F7D5-9809-4847-A650-6DB51C38899F}" type="slidenum">
              <a:rPr lang="zh-TW" altLang="en-US" smtClean="0"/>
              <a:pPr/>
              <a:t>‹#›</a:t>
            </a:fld>
            <a:endParaRPr lang="zh-TW" altLang="en-US"/>
          </a:p>
        </p:txBody>
      </p:sp>
    </p:spTree>
    <p:extLst>
      <p:ext uri="{BB962C8B-B14F-4D97-AF65-F5344CB8AC3E}">
        <p14:creationId xmlns:p14="http://schemas.microsoft.com/office/powerpoint/2010/main" xmlns="" val="3063821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7FEB9C12-AEE1-4DBD-870C-6305782D7B9D}" type="datetimeFigureOut">
              <a:rPr lang="zh-TW" altLang="en-US" smtClean="0"/>
              <a:pPr/>
              <a:t>2013/6/11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3266F7D5-9809-4847-A650-6DB51C38899F}" type="slidenum">
              <a:rPr lang="zh-TW" altLang="en-US" smtClean="0"/>
              <a:pPr/>
              <a:t>‹#›</a:t>
            </a:fld>
            <a:endParaRPr lang="zh-TW" altLang="en-US"/>
          </a:p>
        </p:txBody>
      </p:sp>
    </p:spTree>
    <p:extLst>
      <p:ext uri="{BB962C8B-B14F-4D97-AF65-F5344CB8AC3E}">
        <p14:creationId xmlns:p14="http://schemas.microsoft.com/office/powerpoint/2010/main" xmlns="" val="402024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7FEB9C12-AEE1-4DBD-870C-6305782D7B9D}" type="datetimeFigureOut">
              <a:rPr lang="zh-TW" altLang="en-US" smtClean="0"/>
              <a:pPr/>
              <a:t>2013/6/11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266F7D5-9809-4847-A650-6DB51C38899F}" type="slidenum">
              <a:rPr lang="zh-TW" altLang="en-US" smtClean="0"/>
              <a:pPr/>
              <a:t>‹#›</a:t>
            </a:fld>
            <a:endParaRPr lang="zh-TW" altLang="en-US"/>
          </a:p>
        </p:txBody>
      </p:sp>
    </p:spTree>
    <p:extLst>
      <p:ext uri="{BB962C8B-B14F-4D97-AF65-F5344CB8AC3E}">
        <p14:creationId xmlns:p14="http://schemas.microsoft.com/office/powerpoint/2010/main" xmlns="" val="1321945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7FEB9C12-AEE1-4DBD-870C-6305782D7B9D}" type="datetimeFigureOut">
              <a:rPr lang="zh-TW" altLang="en-US" smtClean="0"/>
              <a:pPr/>
              <a:t>2013/6/11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266F7D5-9809-4847-A650-6DB51C38899F}" type="slidenum">
              <a:rPr lang="zh-TW" altLang="en-US" smtClean="0"/>
              <a:pPr/>
              <a:t>‹#›</a:t>
            </a:fld>
            <a:endParaRPr lang="zh-TW" altLang="en-US"/>
          </a:p>
        </p:txBody>
      </p:sp>
    </p:spTree>
    <p:extLst>
      <p:ext uri="{BB962C8B-B14F-4D97-AF65-F5344CB8AC3E}">
        <p14:creationId xmlns:p14="http://schemas.microsoft.com/office/powerpoint/2010/main" xmlns="" val="2557591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7FEB9C12-AEE1-4DBD-870C-6305782D7B9D}" type="datetimeFigureOut">
              <a:rPr lang="zh-TW" altLang="en-US" smtClean="0"/>
              <a:pPr/>
              <a:t>2013/6/11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266F7D5-9809-4847-A650-6DB51C38899F}" type="slidenum">
              <a:rPr lang="zh-TW" altLang="en-US" smtClean="0"/>
              <a:pPr/>
              <a:t>‹#›</a:t>
            </a:fld>
            <a:endParaRPr lang="zh-TW" altLang="en-US"/>
          </a:p>
        </p:txBody>
      </p:sp>
    </p:spTree>
    <p:extLst>
      <p:ext uri="{BB962C8B-B14F-4D97-AF65-F5344CB8AC3E}">
        <p14:creationId xmlns:p14="http://schemas.microsoft.com/office/powerpoint/2010/main" xmlns="" val="3590867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7FEB9C12-AEE1-4DBD-870C-6305782D7B9D}" type="datetimeFigureOut">
              <a:rPr lang="zh-TW" altLang="en-US" smtClean="0"/>
              <a:pPr/>
              <a:t>2013/6/11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266F7D5-9809-4847-A650-6DB51C38899F}" type="slidenum">
              <a:rPr lang="zh-TW" altLang="en-US" smtClean="0"/>
              <a:pPr/>
              <a:t>‹#›</a:t>
            </a:fld>
            <a:endParaRPr lang="zh-TW" altLang="en-US"/>
          </a:p>
        </p:txBody>
      </p:sp>
    </p:spTree>
    <p:extLst>
      <p:ext uri="{BB962C8B-B14F-4D97-AF65-F5344CB8AC3E}">
        <p14:creationId xmlns:p14="http://schemas.microsoft.com/office/powerpoint/2010/main" xmlns="" val="1583673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EB9C12-AEE1-4DBD-870C-6305782D7B9D}" type="datetimeFigureOut">
              <a:rPr lang="zh-TW" altLang="en-US" smtClean="0"/>
              <a:pPr/>
              <a:t>2013/6/11</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66F7D5-9809-4847-A650-6DB51C38899F}" type="slidenum">
              <a:rPr lang="zh-TW" altLang="en-US" smtClean="0"/>
              <a:pPr/>
              <a:t>‹#›</a:t>
            </a:fld>
            <a:endParaRPr lang="zh-TW" altLang="en-US"/>
          </a:p>
        </p:txBody>
      </p:sp>
    </p:spTree>
    <p:extLst>
      <p:ext uri="{BB962C8B-B14F-4D97-AF65-F5344CB8AC3E}">
        <p14:creationId xmlns:p14="http://schemas.microsoft.com/office/powerpoint/2010/main" xmlns="" val="39284817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dirty="0" smtClean="0"/>
              <a:t>Improvement of the fast exact pairwise-nearest-neighbor algorithm</a:t>
            </a:r>
            <a:endParaRPr lang="zh-TW" altLang="en-US" dirty="0"/>
          </a:p>
        </p:txBody>
      </p:sp>
      <p:sp>
        <p:nvSpPr>
          <p:cNvPr id="3" name="副標題 2"/>
          <p:cNvSpPr>
            <a:spLocks noGrp="1"/>
          </p:cNvSpPr>
          <p:nvPr>
            <p:ph type="subTitle" idx="1"/>
          </p:nvPr>
        </p:nvSpPr>
        <p:spPr/>
        <p:txBody>
          <a:bodyPr>
            <a:normAutofit fontScale="70000" lnSpcReduction="20000"/>
          </a:bodyPr>
          <a:lstStyle/>
          <a:p>
            <a:r>
              <a:rPr lang="en-US" altLang="zh-TW" dirty="0" smtClean="0">
                <a:solidFill>
                  <a:schemeClr val="tx1"/>
                </a:solidFill>
              </a:rPr>
              <a:t>Yi-</a:t>
            </a:r>
            <a:r>
              <a:rPr lang="en-US" altLang="zh-TW" dirty="0" err="1" smtClean="0">
                <a:solidFill>
                  <a:schemeClr val="tx1"/>
                </a:solidFill>
              </a:rPr>
              <a:t>Ching</a:t>
            </a:r>
            <a:r>
              <a:rPr lang="en-US" altLang="zh-TW" dirty="0" smtClean="0">
                <a:solidFill>
                  <a:schemeClr val="tx1"/>
                </a:solidFill>
              </a:rPr>
              <a:t> </a:t>
            </a:r>
            <a:r>
              <a:rPr lang="en-US" altLang="zh-TW" dirty="0" err="1" smtClean="0">
                <a:solidFill>
                  <a:schemeClr val="tx1"/>
                </a:solidFill>
              </a:rPr>
              <a:t>Liaw</a:t>
            </a:r>
            <a:r>
              <a:rPr lang="zh-TW" altLang="en-US" dirty="0" smtClean="0">
                <a:solidFill>
                  <a:schemeClr val="tx1"/>
                </a:solidFill>
              </a:rPr>
              <a:t>南華大學 </a:t>
            </a:r>
            <a:r>
              <a:rPr lang="zh-TW" altLang="en-US" dirty="0" smtClean="0"/>
              <a:t>廖怡欽</a:t>
            </a:r>
            <a:endParaRPr lang="en-US" altLang="zh-TW" dirty="0" smtClean="0">
              <a:solidFill>
                <a:schemeClr val="tx1"/>
              </a:solidFill>
            </a:endParaRPr>
          </a:p>
          <a:p>
            <a:r>
              <a:rPr lang="en-US" altLang="zh-TW" dirty="0" smtClean="0">
                <a:solidFill>
                  <a:schemeClr val="tx1"/>
                </a:solidFill>
              </a:rPr>
              <a:t>Pattern Recognition </a:t>
            </a:r>
            <a:r>
              <a:rPr lang="en-US" altLang="zh-TW" smtClean="0">
                <a:solidFill>
                  <a:schemeClr val="tx1"/>
                </a:solidFill>
              </a:rPr>
              <a:t>42(2009) pp</a:t>
            </a:r>
            <a:r>
              <a:rPr lang="en-US" altLang="zh-TW" dirty="0" smtClean="0">
                <a:solidFill>
                  <a:schemeClr val="tx1"/>
                </a:solidFill>
              </a:rPr>
              <a:t>. </a:t>
            </a:r>
            <a:r>
              <a:rPr lang="en-US" altLang="zh-TW" dirty="0" smtClean="0">
                <a:solidFill>
                  <a:schemeClr val="tx1"/>
                </a:solidFill>
              </a:rPr>
              <a:t>867 -</a:t>
            </a:r>
            <a:r>
              <a:rPr lang="en-US" altLang="zh-TW" dirty="0" smtClean="0">
                <a:solidFill>
                  <a:schemeClr val="tx1"/>
                </a:solidFill>
              </a:rPr>
              <a:t>870 </a:t>
            </a:r>
            <a:endParaRPr lang="en-US" altLang="zh-TW" dirty="0" smtClean="0">
              <a:solidFill>
                <a:schemeClr val="tx1"/>
              </a:solidFill>
            </a:endParaRPr>
          </a:p>
          <a:p>
            <a:endParaRPr lang="en-US" altLang="zh-TW" dirty="0" smtClean="0">
              <a:solidFill>
                <a:schemeClr val="tx1"/>
              </a:solidFill>
            </a:endParaRPr>
          </a:p>
          <a:p>
            <a:r>
              <a:rPr lang="en-US" altLang="zh-TW" dirty="0" smtClean="0">
                <a:solidFill>
                  <a:schemeClr val="tx1"/>
                </a:solidFill>
              </a:rPr>
              <a:t>Presenter:</a:t>
            </a:r>
            <a:r>
              <a:rPr lang="zh-TW" altLang="en-US" dirty="0" smtClean="0">
                <a:solidFill>
                  <a:schemeClr val="tx1"/>
                </a:solidFill>
              </a:rPr>
              <a:t>方鈞毅</a:t>
            </a:r>
            <a:endParaRPr lang="en-US" altLang="zh-TW" dirty="0" smtClean="0">
              <a:solidFill>
                <a:schemeClr val="tx1"/>
              </a:solidFill>
            </a:endParaRPr>
          </a:p>
          <a:p>
            <a:r>
              <a:rPr lang="en-US" altLang="zh-TW" dirty="0" smtClean="0">
                <a:solidFill>
                  <a:schemeClr val="tx1"/>
                </a:solidFill>
              </a:rPr>
              <a:t>Date:2013/06/06 </a:t>
            </a:r>
            <a:endParaRPr lang="zh-TW" altLang="en-US" dirty="0">
              <a:solidFill>
                <a:schemeClr val="tx1"/>
              </a:solidFill>
            </a:endParaRPr>
          </a:p>
        </p:txBody>
      </p:sp>
    </p:spTree>
    <p:extLst>
      <p:ext uri="{BB962C8B-B14F-4D97-AF65-F5344CB8AC3E}">
        <p14:creationId xmlns:p14="http://schemas.microsoft.com/office/powerpoint/2010/main" xmlns="" val="10684518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a:t>
            </a:r>
            <a:r>
              <a:rPr lang="en-US" altLang="zh-TW" dirty="0" smtClean="0"/>
              <a:t>bstract</a:t>
            </a:r>
            <a:endParaRPr lang="zh-TW" altLang="en-US" dirty="0"/>
          </a:p>
        </p:txBody>
      </p:sp>
      <p:sp>
        <p:nvSpPr>
          <p:cNvPr id="3" name="內容版面配置區 2"/>
          <p:cNvSpPr>
            <a:spLocks noGrp="1"/>
          </p:cNvSpPr>
          <p:nvPr>
            <p:ph idx="1"/>
          </p:nvPr>
        </p:nvSpPr>
        <p:spPr>
          <a:xfrm>
            <a:off x="457200" y="1600200"/>
            <a:ext cx="8229600" cy="4709120"/>
          </a:xfrm>
        </p:spPr>
        <p:txBody>
          <a:bodyPr>
            <a:normAutofit fontScale="85000" lnSpcReduction="10000"/>
          </a:bodyPr>
          <a:lstStyle/>
          <a:p>
            <a:r>
              <a:rPr lang="en-US" altLang="zh-TW" dirty="0" smtClean="0"/>
              <a:t>Pairwise-nearest-neighbor (PNN) is an effective method of data clustering, which can always generate good clustering results, but with high computational complexity. Fast exact PNN (FPNN) algorithm proposed by </a:t>
            </a:r>
            <a:r>
              <a:rPr lang="en-US" altLang="zh-TW" dirty="0" err="1" smtClean="0"/>
              <a:t>Franti</a:t>
            </a:r>
            <a:r>
              <a:rPr lang="en-US" altLang="zh-TW" dirty="0" smtClean="0"/>
              <a:t> et al. is an effective method to speed up PNN and generates the same clustering results as those generated by PNN. In this paper, we present a novel method to improve the FPNN algorithm.</a:t>
            </a:r>
          </a:p>
          <a:p>
            <a:r>
              <a:rPr lang="en-US" altLang="zh-TW" dirty="0" smtClean="0"/>
              <a:t>Our algorithm uses the property that the cluster distance increases as the cluster merge process proceeds and adopts a fast search algorithm to reject impossible candidate clusters. </a:t>
            </a:r>
          </a:p>
        </p:txBody>
      </p:sp>
    </p:spTree>
    <p:extLst>
      <p:ext uri="{BB962C8B-B14F-4D97-AF65-F5344CB8AC3E}">
        <p14:creationId xmlns:p14="http://schemas.microsoft.com/office/powerpoint/2010/main" xmlns="" val="2673576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rmAutofit fontScale="92500" lnSpcReduction="10000"/>
          </a:bodyPr>
          <a:lstStyle/>
          <a:p>
            <a:r>
              <a:rPr lang="en-US" altLang="zh-TW" dirty="0" smtClean="0"/>
              <a:t>Experimental results show that our proposed method can effectively reduce the number of distance calculations and computation time of FPNN algorithm. Compared with FPNN, our proposed approach can reduce the computation time and number of distance calculations by a factor of 24.8 and 146.4, respectively, for the data set from three real images. It is noted that our method generates the same clustering results as those produced by PNN and FPNN.</a:t>
            </a:r>
            <a:endParaRPr lang="zh-TW" altLang="en-US" dirty="0" smtClean="0"/>
          </a:p>
          <a:p>
            <a:endParaRPr lang="zh-TW" altLang="en-US" dirty="0"/>
          </a:p>
        </p:txBody>
      </p:sp>
    </p:spTree>
    <p:extLst>
      <p:ext uri="{BB962C8B-B14F-4D97-AF65-F5344CB8AC3E}">
        <p14:creationId xmlns:p14="http://schemas.microsoft.com/office/powerpoint/2010/main" xmlns="" val="3678836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E</a:t>
            </a:r>
            <a:r>
              <a:rPr lang="en-US" altLang="zh-TW" dirty="0" smtClean="0"/>
              <a:t>xact pairwise-nearest-neighbor algorithm(PNN)</a:t>
            </a:r>
            <a:endParaRPr lang="zh-TW" altLang="en-US" dirty="0"/>
          </a:p>
        </p:txBody>
      </p:sp>
      <p:sp>
        <p:nvSpPr>
          <p:cNvPr id="3" name="內容版面配置區 2"/>
          <p:cNvSpPr>
            <a:spLocks noGrp="1"/>
          </p:cNvSpPr>
          <p:nvPr>
            <p:ph idx="1"/>
          </p:nvPr>
        </p:nvSpPr>
        <p:spPr/>
        <p:txBody>
          <a:bodyPr/>
          <a:lstStyle/>
          <a:p>
            <a:r>
              <a:rPr lang="zh-TW" altLang="en-US" dirty="0" smtClean="0"/>
              <a:t>一種分群的演算法。</a:t>
            </a:r>
            <a:endParaRPr lang="en-US" altLang="zh-TW" dirty="0" smtClean="0"/>
          </a:p>
          <a:p>
            <a:r>
              <a:rPr lang="en-US" altLang="zh-TW" dirty="0" smtClean="0"/>
              <a:t>Input  m (</a:t>
            </a:r>
            <a:r>
              <a:rPr lang="zh-TW" altLang="en-US" dirty="0" smtClean="0"/>
              <a:t>即最後希望分成幾群</a:t>
            </a:r>
            <a:r>
              <a:rPr lang="en-US" altLang="zh-TW" dirty="0" smtClean="0"/>
              <a:t>)</a:t>
            </a:r>
          </a:p>
          <a:p>
            <a:r>
              <a:rPr lang="zh-TW" altLang="en-US" dirty="0"/>
              <a:t>一</a:t>
            </a:r>
            <a:r>
              <a:rPr lang="zh-TW" altLang="en-US" dirty="0" smtClean="0"/>
              <a:t>開始 </a:t>
            </a:r>
            <a:r>
              <a:rPr lang="en-US" altLang="zh-TW" dirty="0" smtClean="0"/>
              <a:t>n</a:t>
            </a:r>
            <a:r>
              <a:rPr lang="zh-TW" altLang="en-US" dirty="0" smtClean="0"/>
              <a:t>筆資料</a:t>
            </a:r>
            <a:r>
              <a:rPr lang="zh-TW" altLang="en-US" dirty="0"/>
              <a:t>，視作</a:t>
            </a:r>
            <a:r>
              <a:rPr lang="en-US" altLang="zh-TW" dirty="0"/>
              <a:t>n</a:t>
            </a:r>
            <a:r>
              <a:rPr lang="zh-TW" altLang="en-US" dirty="0" smtClean="0"/>
              <a:t>群。</a:t>
            </a:r>
            <a:endParaRPr lang="en-US" altLang="zh-TW" dirty="0" smtClean="0"/>
          </a:p>
          <a:p>
            <a:r>
              <a:rPr lang="zh-TW" altLang="en-US" dirty="0"/>
              <a:t>在</a:t>
            </a:r>
            <a:r>
              <a:rPr lang="zh-TW" altLang="en-US" dirty="0" smtClean="0"/>
              <a:t>其中，找到距離</a:t>
            </a:r>
            <a:r>
              <a:rPr lang="zh-TW" altLang="en-US" dirty="0"/>
              <a:t>最小者，合併為</a:t>
            </a:r>
            <a:r>
              <a:rPr lang="zh-TW" altLang="en-US" dirty="0" smtClean="0"/>
              <a:t>一群，群數減一。</a:t>
            </a:r>
            <a:endParaRPr lang="en-US" altLang="zh-TW" dirty="0" smtClean="0"/>
          </a:p>
          <a:p>
            <a:r>
              <a:rPr lang="zh-TW" altLang="en-US" dirty="0"/>
              <a:t>重複上敘步驟</a:t>
            </a:r>
            <a:r>
              <a:rPr lang="zh-TW" altLang="en-US" dirty="0" smtClean="0"/>
              <a:t>直到群數為希望之群數</a:t>
            </a:r>
            <a:r>
              <a:rPr lang="en-US" altLang="zh-TW" dirty="0" smtClean="0"/>
              <a:t>m</a:t>
            </a:r>
            <a:r>
              <a:rPr lang="zh-TW" altLang="en-US" dirty="0" smtClean="0"/>
              <a:t>。</a:t>
            </a:r>
            <a:endParaRPr lang="en-US" altLang="zh-TW" dirty="0" smtClean="0"/>
          </a:p>
          <a:p>
            <a:endParaRPr lang="zh-TW" altLang="en-US" dirty="0"/>
          </a:p>
        </p:txBody>
      </p:sp>
    </p:spTree>
    <p:extLst>
      <p:ext uri="{BB962C8B-B14F-4D97-AF65-F5344CB8AC3E}">
        <p14:creationId xmlns:p14="http://schemas.microsoft.com/office/powerpoint/2010/main" xmlns="" val="35222031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E</a:t>
            </a:r>
            <a:r>
              <a:rPr lang="en-US" altLang="zh-TW" dirty="0" smtClean="0"/>
              <a:t>xact pairwise-nearest-neighbor algorithm(PNN)</a:t>
            </a:r>
            <a:endParaRPr lang="zh-TW" altLang="en-US" dirty="0"/>
          </a:p>
        </p:txBody>
      </p:sp>
      <p:sp>
        <p:nvSpPr>
          <p:cNvPr id="3" name="內容版面配置區 2"/>
          <p:cNvSpPr>
            <a:spLocks noGrp="1"/>
          </p:cNvSpPr>
          <p:nvPr>
            <p:ph idx="1"/>
          </p:nvPr>
        </p:nvSpPr>
        <p:spPr/>
        <p:txBody>
          <a:bodyPr>
            <a:normAutofit lnSpcReduction="10000"/>
          </a:bodyPr>
          <a:lstStyle/>
          <a:p>
            <a:r>
              <a:rPr lang="zh-TW" altLang="en-US" dirty="0" smtClean="0"/>
              <a:t>其中</a:t>
            </a:r>
            <a:endParaRPr lang="en-US" altLang="zh-TW" dirty="0" smtClean="0"/>
          </a:p>
          <a:p>
            <a:pPr lvl="1"/>
            <a:r>
              <a:rPr lang="en-US" altLang="zh-TW" dirty="0" smtClean="0"/>
              <a:t>D</a:t>
            </a:r>
            <a:r>
              <a:rPr lang="en-US" altLang="zh-TW" baseline="-25000" dirty="0" smtClean="0"/>
              <a:t>ab</a:t>
            </a:r>
            <a:r>
              <a:rPr lang="en-US" altLang="zh-TW" dirty="0" smtClean="0"/>
              <a:t> = </a:t>
            </a:r>
            <a:r>
              <a:rPr lang="en-US" altLang="zh-TW" dirty="0" err="1" smtClean="0"/>
              <a:t>n</a:t>
            </a:r>
            <a:r>
              <a:rPr lang="en-US" altLang="zh-TW" baseline="-25000" dirty="0" err="1" smtClean="0"/>
              <a:t>a</a:t>
            </a:r>
            <a:r>
              <a:rPr lang="en-US" altLang="zh-TW" baseline="-25000" dirty="0"/>
              <a:t> </a:t>
            </a:r>
            <a:r>
              <a:rPr lang="en-US" altLang="zh-TW" dirty="0" smtClean="0"/>
              <a:t>*</a:t>
            </a:r>
            <a:r>
              <a:rPr lang="en-US" altLang="zh-TW" dirty="0" err="1" smtClean="0"/>
              <a:t>n</a:t>
            </a:r>
            <a:r>
              <a:rPr lang="en-US" altLang="zh-TW" baseline="-25000" dirty="0" err="1" smtClean="0"/>
              <a:t>b</a:t>
            </a:r>
            <a:r>
              <a:rPr lang="en-US" altLang="zh-TW" baseline="-25000" dirty="0" smtClean="0"/>
              <a:t> </a:t>
            </a:r>
            <a:r>
              <a:rPr lang="en-US" altLang="zh-TW" dirty="0" smtClean="0"/>
              <a:t>/(</a:t>
            </a:r>
            <a:r>
              <a:rPr lang="en-US" altLang="zh-TW" dirty="0" err="1" smtClean="0"/>
              <a:t>n</a:t>
            </a:r>
            <a:r>
              <a:rPr lang="en-US" altLang="zh-TW" baseline="-25000" dirty="0" err="1" smtClean="0"/>
              <a:t>a</a:t>
            </a:r>
            <a:r>
              <a:rPr lang="en-US" altLang="zh-TW" baseline="-25000" dirty="0" smtClean="0"/>
              <a:t> </a:t>
            </a:r>
            <a:r>
              <a:rPr lang="en-US" altLang="zh-TW" dirty="0"/>
              <a:t>+</a:t>
            </a:r>
            <a:r>
              <a:rPr lang="en-US" altLang="zh-TW" dirty="0" err="1" smtClean="0"/>
              <a:t>n</a:t>
            </a:r>
            <a:r>
              <a:rPr lang="en-US" altLang="zh-TW" baseline="-25000" dirty="0" err="1" smtClean="0"/>
              <a:t>b</a:t>
            </a:r>
            <a:r>
              <a:rPr lang="en-US" altLang="zh-TW" dirty="0" smtClean="0"/>
              <a:t>) *d(</a:t>
            </a:r>
            <a:r>
              <a:rPr lang="en-US" altLang="zh-TW" dirty="0" err="1" smtClean="0"/>
              <a:t>C</a:t>
            </a:r>
            <a:r>
              <a:rPr lang="en-US" altLang="zh-TW" baseline="-25000" dirty="0" err="1" smtClean="0"/>
              <a:t>a</a:t>
            </a:r>
            <a:r>
              <a:rPr lang="en-US" altLang="zh-TW" dirty="0" smtClean="0"/>
              <a:t> ,</a:t>
            </a:r>
            <a:r>
              <a:rPr lang="en-US" altLang="zh-TW" dirty="0" err="1" smtClean="0"/>
              <a:t>C</a:t>
            </a:r>
            <a:r>
              <a:rPr lang="en-US" altLang="zh-TW" baseline="-25000" dirty="0" err="1" smtClean="0"/>
              <a:t>b</a:t>
            </a:r>
            <a:r>
              <a:rPr lang="en-US" altLang="zh-TW" dirty="0" smtClean="0"/>
              <a:t>) 	//</a:t>
            </a:r>
            <a:r>
              <a:rPr lang="zh-TW" altLang="en-US" dirty="0" smtClean="0"/>
              <a:t>加權的距離</a:t>
            </a:r>
            <a:endParaRPr lang="en-US" altLang="zh-TW" dirty="0" smtClean="0"/>
          </a:p>
          <a:p>
            <a:pPr lvl="1"/>
            <a:r>
              <a:rPr lang="en-US" altLang="zh-TW" dirty="0" smtClean="0"/>
              <a:t>C</a:t>
            </a:r>
            <a:r>
              <a:rPr lang="en-US" altLang="zh-TW" baseline="-25000" dirty="0" smtClean="0"/>
              <a:t>ab </a:t>
            </a:r>
            <a:r>
              <a:rPr lang="en-US" altLang="zh-TW" dirty="0" smtClean="0"/>
              <a:t>= (</a:t>
            </a:r>
            <a:r>
              <a:rPr lang="en-US" altLang="zh-TW" dirty="0" err="1" smtClean="0"/>
              <a:t>n</a:t>
            </a:r>
            <a:r>
              <a:rPr lang="en-US" altLang="zh-TW" baseline="-25000" dirty="0" err="1" smtClean="0"/>
              <a:t>a</a:t>
            </a:r>
            <a:r>
              <a:rPr lang="en-US" altLang="zh-TW" dirty="0" smtClean="0"/>
              <a:t>*</a:t>
            </a:r>
            <a:r>
              <a:rPr lang="en-US" altLang="zh-TW" dirty="0" err="1" smtClean="0"/>
              <a:t>C</a:t>
            </a:r>
            <a:r>
              <a:rPr lang="en-US" altLang="zh-TW" baseline="-25000" dirty="0" err="1" smtClean="0"/>
              <a:t>a</a:t>
            </a:r>
            <a:r>
              <a:rPr lang="en-US" altLang="zh-TW" dirty="0" smtClean="0"/>
              <a:t>+ </a:t>
            </a:r>
            <a:r>
              <a:rPr lang="en-US" altLang="zh-TW" dirty="0" err="1" smtClean="0"/>
              <a:t>n</a:t>
            </a:r>
            <a:r>
              <a:rPr lang="en-US" altLang="zh-TW" baseline="-25000" dirty="0" err="1" smtClean="0"/>
              <a:t>b</a:t>
            </a:r>
            <a:r>
              <a:rPr lang="en-US" altLang="zh-TW" dirty="0" smtClean="0"/>
              <a:t>*</a:t>
            </a:r>
            <a:r>
              <a:rPr lang="en-US" altLang="zh-TW" dirty="0" err="1" smtClean="0"/>
              <a:t>C</a:t>
            </a:r>
            <a:r>
              <a:rPr lang="en-US" altLang="zh-TW" baseline="-25000" dirty="0" err="1" smtClean="0"/>
              <a:t>b</a:t>
            </a:r>
            <a:r>
              <a:rPr lang="en-US" altLang="zh-TW" dirty="0" smtClean="0"/>
              <a:t>) /(</a:t>
            </a:r>
            <a:r>
              <a:rPr lang="en-US" altLang="zh-TW" dirty="0" err="1" smtClean="0"/>
              <a:t>n</a:t>
            </a:r>
            <a:r>
              <a:rPr lang="en-US" altLang="zh-TW" baseline="-25000" dirty="0" err="1" smtClean="0"/>
              <a:t>a</a:t>
            </a:r>
            <a:r>
              <a:rPr lang="en-US" altLang="zh-TW" baseline="-25000" dirty="0" smtClean="0"/>
              <a:t> </a:t>
            </a:r>
            <a:r>
              <a:rPr lang="en-US" altLang="zh-TW" dirty="0" smtClean="0"/>
              <a:t>+</a:t>
            </a:r>
            <a:r>
              <a:rPr lang="en-US" altLang="zh-TW" dirty="0" err="1" smtClean="0"/>
              <a:t>n</a:t>
            </a:r>
            <a:r>
              <a:rPr lang="en-US" altLang="zh-TW" baseline="-25000" dirty="0" err="1" smtClean="0"/>
              <a:t>b</a:t>
            </a:r>
            <a:r>
              <a:rPr lang="en-US" altLang="zh-TW" dirty="0" smtClean="0"/>
              <a:t>) 	//</a:t>
            </a:r>
            <a:r>
              <a:rPr lang="zh-TW" altLang="en-US" dirty="0" smtClean="0"/>
              <a:t>加權的中心</a:t>
            </a:r>
            <a:endParaRPr lang="en-US" altLang="zh-TW" dirty="0" smtClean="0"/>
          </a:p>
          <a:p>
            <a:pPr lvl="1"/>
            <a:r>
              <a:rPr lang="en-US" altLang="zh-TW" baseline="-25000" dirty="0" smtClean="0"/>
              <a:t> </a:t>
            </a:r>
            <a:r>
              <a:rPr lang="en-US" altLang="zh-TW" dirty="0" smtClean="0"/>
              <a:t>n</a:t>
            </a:r>
            <a:r>
              <a:rPr lang="en-US" altLang="zh-TW" baseline="-25000" dirty="0" smtClean="0"/>
              <a:t>ab</a:t>
            </a:r>
            <a:r>
              <a:rPr lang="en-US" altLang="zh-TW" dirty="0" smtClean="0"/>
              <a:t>= (</a:t>
            </a:r>
            <a:r>
              <a:rPr lang="en-US" altLang="zh-TW" dirty="0" err="1" smtClean="0"/>
              <a:t>n</a:t>
            </a:r>
            <a:r>
              <a:rPr lang="en-US" altLang="zh-TW" baseline="-25000" dirty="0" err="1" smtClean="0"/>
              <a:t>a</a:t>
            </a:r>
            <a:r>
              <a:rPr lang="en-US" altLang="zh-TW" baseline="-25000" dirty="0" smtClean="0"/>
              <a:t> </a:t>
            </a:r>
            <a:r>
              <a:rPr lang="en-US" altLang="zh-TW" dirty="0" smtClean="0"/>
              <a:t>+</a:t>
            </a:r>
            <a:r>
              <a:rPr lang="en-US" altLang="zh-TW" dirty="0" err="1" smtClean="0"/>
              <a:t>n</a:t>
            </a:r>
            <a:r>
              <a:rPr lang="en-US" altLang="zh-TW" baseline="-25000" dirty="0" err="1" smtClean="0"/>
              <a:t>b</a:t>
            </a:r>
            <a:r>
              <a:rPr lang="en-US" altLang="zh-TW" dirty="0" smtClean="0"/>
              <a:t>) 				</a:t>
            </a:r>
          </a:p>
          <a:p>
            <a:pPr lvl="2"/>
            <a:r>
              <a:rPr lang="en-US" altLang="zh-TW" dirty="0" smtClean="0"/>
              <a:t>D</a:t>
            </a:r>
            <a:r>
              <a:rPr lang="en-US" altLang="zh-TW" baseline="-25000" dirty="0" smtClean="0"/>
              <a:t>ab</a:t>
            </a:r>
            <a:r>
              <a:rPr lang="zh-TW" altLang="en-US" dirty="0" smtClean="0"/>
              <a:t>為</a:t>
            </a:r>
            <a:r>
              <a:rPr lang="en-US" altLang="zh-TW" dirty="0" err="1" smtClean="0"/>
              <a:t>a,b</a:t>
            </a:r>
            <a:r>
              <a:rPr lang="zh-TW" altLang="en-US" dirty="0" smtClean="0"/>
              <a:t>兩群的距離</a:t>
            </a:r>
            <a:endParaRPr lang="en-US" altLang="zh-TW" dirty="0" smtClean="0"/>
          </a:p>
          <a:p>
            <a:pPr lvl="2"/>
            <a:r>
              <a:rPr lang="en-US" altLang="zh-TW" dirty="0" err="1" smtClean="0"/>
              <a:t>C</a:t>
            </a:r>
            <a:r>
              <a:rPr lang="en-US" altLang="zh-TW" baseline="-25000" dirty="0" err="1" smtClean="0"/>
              <a:t>a</a:t>
            </a:r>
            <a:r>
              <a:rPr lang="zh-TW" altLang="en-US" dirty="0" smtClean="0"/>
              <a:t>為群</a:t>
            </a:r>
            <a:r>
              <a:rPr lang="en-US" altLang="zh-TW" dirty="0" smtClean="0"/>
              <a:t>a</a:t>
            </a:r>
            <a:r>
              <a:rPr lang="zh-TW" altLang="en-US" dirty="0" smtClean="0"/>
              <a:t>的中心點</a:t>
            </a:r>
            <a:endParaRPr lang="en-US" altLang="zh-TW" dirty="0" smtClean="0"/>
          </a:p>
          <a:p>
            <a:pPr lvl="2"/>
            <a:r>
              <a:rPr lang="en-US" altLang="zh-TW" dirty="0" err="1" smtClean="0"/>
              <a:t>n</a:t>
            </a:r>
            <a:r>
              <a:rPr lang="en-US" altLang="zh-TW" baseline="-25000" dirty="0" err="1" smtClean="0"/>
              <a:t>a</a:t>
            </a:r>
            <a:r>
              <a:rPr lang="zh-TW" altLang="en-US" dirty="0" smtClean="0"/>
              <a:t>為群</a:t>
            </a:r>
            <a:r>
              <a:rPr lang="en-US" altLang="zh-TW" dirty="0" smtClean="0"/>
              <a:t>a</a:t>
            </a:r>
            <a:r>
              <a:rPr lang="zh-TW" altLang="en-US" dirty="0" smtClean="0"/>
              <a:t>的點數</a:t>
            </a:r>
            <a:endParaRPr lang="en-US" altLang="zh-TW" dirty="0" smtClean="0"/>
          </a:p>
          <a:p>
            <a:pPr lvl="2"/>
            <a:r>
              <a:rPr lang="en-US" altLang="zh-TW" dirty="0" smtClean="0"/>
              <a:t>d(</a:t>
            </a:r>
            <a:r>
              <a:rPr lang="en-US" altLang="zh-TW" dirty="0" err="1" smtClean="0"/>
              <a:t>x,y</a:t>
            </a:r>
            <a:r>
              <a:rPr lang="en-US" altLang="zh-TW" dirty="0" smtClean="0"/>
              <a:t>)</a:t>
            </a:r>
            <a:r>
              <a:rPr lang="zh-TW" altLang="en-US" dirty="0" smtClean="0"/>
              <a:t>為歐氏距離</a:t>
            </a:r>
            <a:endParaRPr lang="en-US" altLang="zh-TW" dirty="0" smtClean="0"/>
          </a:p>
          <a:p>
            <a:pPr lvl="2"/>
            <a:r>
              <a:rPr lang="en-US" altLang="zh-TW" dirty="0" smtClean="0"/>
              <a:t>C</a:t>
            </a:r>
            <a:r>
              <a:rPr lang="en-US" altLang="zh-TW" baseline="-25000" dirty="0" smtClean="0"/>
              <a:t>ab </a:t>
            </a:r>
            <a:r>
              <a:rPr lang="en-US" altLang="zh-TW" baseline="30000" dirty="0" smtClean="0"/>
              <a:t>, </a:t>
            </a:r>
            <a:r>
              <a:rPr lang="en-US" altLang="zh-TW" dirty="0" smtClean="0"/>
              <a:t>n</a:t>
            </a:r>
            <a:r>
              <a:rPr lang="en-US" altLang="zh-TW" baseline="-25000" dirty="0" smtClean="0"/>
              <a:t>ab </a:t>
            </a:r>
            <a:r>
              <a:rPr lang="zh-TW" altLang="en-US" dirty="0" smtClean="0"/>
              <a:t>為合併後的中心點與點數</a:t>
            </a:r>
            <a:endParaRPr lang="en-US" altLang="zh-TW" dirty="0" smtClean="0"/>
          </a:p>
          <a:p>
            <a:pPr lvl="1"/>
            <a:r>
              <a:rPr lang="en-US" altLang="zh-TW" dirty="0" smtClean="0"/>
              <a:t>O(n</a:t>
            </a:r>
            <a:r>
              <a:rPr lang="en-US" altLang="zh-TW" baseline="30000" dirty="0" smtClean="0"/>
              <a:t>3</a:t>
            </a:r>
            <a:r>
              <a:rPr lang="en-US" altLang="zh-TW" dirty="0" smtClean="0"/>
              <a:t>)//</a:t>
            </a:r>
            <a:r>
              <a:rPr lang="zh-TW" altLang="en-US" dirty="0" smtClean="0"/>
              <a:t>時間主要</a:t>
            </a:r>
            <a:r>
              <a:rPr lang="zh-TW" altLang="en-US" dirty="0"/>
              <a:t>花在窮</a:t>
            </a:r>
            <a:r>
              <a:rPr lang="zh-TW" altLang="en-US" dirty="0" smtClean="0"/>
              <a:t>舉的一對一的比較</a:t>
            </a:r>
            <a:endParaRPr lang="en-US" altLang="zh-TW" dirty="0" smtClean="0"/>
          </a:p>
          <a:p>
            <a:pPr lvl="1"/>
            <a:endParaRPr lang="zh-TW" altLang="en-US" dirty="0"/>
          </a:p>
        </p:txBody>
      </p:sp>
    </p:spTree>
    <p:extLst>
      <p:ext uri="{BB962C8B-B14F-4D97-AF65-F5344CB8AC3E}">
        <p14:creationId xmlns:p14="http://schemas.microsoft.com/office/powerpoint/2010/main" xmlns="" val="16430835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F</a:t>
            </a:r>
            <a:r>
              <a:rPr lang="en-US" altLang="zh-TW" dirty="0" smtClean="0"/>
              <a:t>ast exact PNN(FPNN)</a:t>
            </a:r>
            <a:endParaRPr lang="zh-TW" altLang="en-US" dirty="0"/>
          </a:p>
        </p:txBody>
      </p:sp>
      <p:sp>
        <p:nvSpPr>
          <p:cNvPr id="3" name="內容版面配置區 2"/>
          <p:cNvSpPr>
            <a:spLocks noGrp="1"/>
          </p:cNvSpPr>
          <p:nvPr>
            <p:ph idx="1"/>
          </p:nvPr>
        </p:nvSpPr>
        <p:spPr/>
        <p:txBody>
          <a:bodyPr>
            <a:normAutofit lnSpcReduction="10000"/>
          </a:bodyPr>
          <a:lstStyle/>
          <a:p>
            <a:r>
              <a:rPr lang="zh-TW" altLang="en-US" dirty="0" smtClean="0"/>
              <a:t>使用</a:t>
            </a:r>
            <a:r>
              <a:rPr lang="en-US" altLang="zh-TW" dirty="0" smtClean="0"/>
              <a:t>nearest neighbor table(NN),</a:t>
            </a:r>
            <a:r>
              <a:rPr lang="zh-TW" altLang="en-US" dirty="0" smtClean="0"/>
              <a:t>與</a:t>
            </a:r>
            <a:r>
              <a:rPr lang="en-US" altLang="zh-TW" dirty="0" smtClean="0"/>
              <a:t>nearest distance table(ND)</a:t>
            </a:r>
            <a:r>
              <a:rPr lang="zh-TW" altLang="en-US" dirty="0" smtClean="0"/>
              <a:t>分別記錄，最接近的群與距離。</a:t>
            </a:r>
            <a:endParaRPr lang="en-US" altLang="zh-TW" dirty="0" smtClean="0"/>
          </a:p>
          <a:p>
            <a:r>
              <a:rPr lang="zh-TW" altLang="en-US" dirty="0" smtClean="0"/>
              <a:t>作法雷同</a:t>
            </a:r>
            <a:r>
              <a:rPr lang="en-US" altLang="zh-TW" dirty="0" smtClean="0"/>
              <a:t>PNN,</a:t>
            </a:r>
            <a:r>
              <a:rPr lang="zh-TW" altLang="en-US" dirty="0" smtClean="0"/>
              <a:t>但</a:t>
            </a:r>
            <a:r>
              <a:rPr lang="en-US" altLang="zh-TW" dirty="0" smtClean="0"/>
              <a:t>table</a:t>
            </a:r>
            <a:r>
              <a:rPr lang="zh-TW" altLang="en-US" dirty="0" smtClean="0"/>
              <a:t>需做更新，由於距離是嚴格遞增的，故在合併之後，新產生的群與其他群的距離只會增加，因此只須更新，其中</a:t>
            </a:r>
            <a:r>
              <a:rPr lang="en-US" altLang="zh-TW" dirty="0" smtClean="0"/>
              <a:t>NN</a:t>
            </a:r>
            <a:r>
              <a:rPr lang="zh-TW" altLang="en-US" dirty="0" smtClean="0"/>
              <a:t>內為合併前的兩群中其中一群的資料，與合併後的產生的新群即可。</a:t>
            </a:r>
            <a:endParaRPr lang="en-US" altLang="zh-TW" dirty="0" smtClean="0"/>
          </a:p>
          <a:p>
            <a:r>
              <a:rPr lang="en-US" altLang="zh-TW" dirty="0" smtClean="0"/>
              <a:t>O(kN</a:t>
            </a:r>
            <a:r>
              <a:rPr lang="en-US" altLang="zh-TW" baseline="30000" dirty="0"/>
              <a:t>2</a:t>
            </a:r>
            <a:r>
              <a:rPr lang="en-US" altLang="zh-TW" dirty="0" smtClean="0"/>
              <a:t>)</a:t>
            </a:r>
            <a:r>
              <a:rPr lang="zh-TW" altLang="en-US" dirty="0" smtClean="0"/>
              <a:t> </a:t>
            </a:r>
            <a:r>
              <a:rPr lang="en-US" altLang="zh-TW" dirty="0" smtClean="0"/>
              <a:t>k</a:t>
            </a:r>
            <a:r>
              <a:rPr lang="zh-TW" altLang="en-US" dirty="0" smtClean="0"/>
              <a:t>約略為</a:t>
            </a:r>
            <a:r>
              <a:rPr lang="en-US" altLang="zh-TW" dirty="0" smtClean="0"/>
              <a:t>4//</a:t>
            </a:r>
            <a:r>
              <a:rPr lang="zh-TW" altLang="en-US" dirty="0" smtClean="0"/>
              <a:t>不用逐一比較是否更新</a:t>
            </a:r>
            <a:endParaRPr lang="zh-TW" altLang="en-US" dirty="0"/>
          </a:p>
        </p:txBody>
      </p:sp>
    </p:spTree>
    <p:extLst>
      <p:ext uri="{BB962C8B-B14F-4D97-AF65-F5344CB8AC3E}">
        <p14:creationId xmlns:p14="http://schemas.microsoft.com/office/powerpoint/2010/main" xmlns="" val="2966959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Modified FPNN algorithm(MFPNN)</a:t>
            </a:r>
            <a:endParaRPr lang="zh-TW" altLang="en-US" dirty="0"/>
          </a:p>
        </p:txBody>
      </p:sp>
      <p:sp>
        <p:nvSpPr>
          <p:cNvPr id="3" name="內容版面配置區 2"/>
          <p:cNvSpPr>
            <a:spLocks noGrp="1"/>
          </p:cNvSpPr>
          <p:nvPr>
            <p:ph idx="1"/>
          </p:nvPr>
        </p:nvSpPr>
        <p:spPr/>
        <p:txBody>
          <a:bodyPr/>
          <a:lstStyle/>
          <a:p>
            <a:r>
              <a:rPr lang="zh-TW" altLang="en-US" dirty="0" smtClean="0"/>
              <a:t>與</a:t>
            </a:r>
            <a:r>
              <a:rPr lang="en-US" altLang="zh-TW" dirty="0" smtClean="0"/>
              <a:t>FPNN</a:t>
            </a:r>
            <a:r>
              <a:rPr lang="zh-TW" altLang="en-US" dirty="0"/>
              <a:t>的差別是</a:t>
            </a:r>
            <a:r>
              <a:rPr lang="zh-TW" altLang="en-US" dirty="0" smtClean="0"/>
              <a:t>在，更新</a:t>
            </a:r>
            <a:r>
              <a:rPr lang="zh-TW" altLang="en-US" dirty="0"/>
              <a:t>時多</a:t>
            </a:r>
            <a:r>
              <a:rPr lang="zh-TW" altLang="en-US" dirty="0" smtClean="0"/>
              <a:t>了以下的不等式</a:t>
            </a:r>
            <a:r>
              <a:rPr lang="zh-TW" altLang="en-US" dirty="0"/>
              <a:t>，可以事先略掉一些不可能</a:t>
            </a:r>
            <a:r>
              <a:rPr lang="zh-TW" altLang="en-US" dirty="0" smtClean="0"/>
              <a:t>的候選群，而不用實際去計算其距離。</a:t>
            </a:r>
            <a:endParaRPr lang="en-US" altLang="zh-TW" dirty="0" smtClean="0"/>
          </a:p>
          <a:p>
            <a:endParaRPr lang="en-US" altLang="zh-TW" dirty="0"/>
          </a:p>
          <a:p>
            <a:pPr marL="514350" indent="-514350">
              <a:buFont typeface="+mj-lt"/>
              <a:buAutoNum type="arabicPeriod"/>
            </a:pPr>
            <a:r>
              <a:rPr lang="en-US" altLang="zh-TW" dirty="0" smtClean="0"/>
              <a:t>ND[j] &gt; r  //</a:t>
            </a:r>
            <a:r>
              <a:rPr lang="zh-TW" altLang="en-US" dirty="0" smtClean="0"/>
              <a:t>其一，若群</a:t>
            </a:r>
            <a:r>
              <a:rPr lang="en-US" altLang="zh-TW" dirty="0" smtClean="0"/>
              <a:t>p</a:t>
            </a:r>
            <a:r>
              <a:rPr lang="zh-TW" altLang="en-US" dirty="0" smtClean="0"/>
              <a:t>在更新</a:t>
            </a:r>
            <a:r>
              <a:rPr lang="en-US" altLang="zh-TW" dirty="0" smtClean="0"/>
              <a:t>NN</a:t>
            </a:r>
            <a:r>
              <a:rPr lang="zh-TW" altLang="en-US" dirty="0" smtClean="0"/>
              <a:t>時，選定了一個候選群</a:t>
            </a:r>
            <a:r>
              <a:rPr lang="en-US" altLang="zh-TW" dirty="0" smtClean="0"/>
              <a:t>q,</a:t>
            </a:r>
            <a:r>
              <a:rPr lang="zh-TW" altLang="en-US" dirty="0" smtClean="0"/>
              <a:t>此時彼此間的距離為</a:t>
            </a:r>
            <a:r>
              <a:rPr lang="en-US" altLang="zh-TW" dirty="0" smtClean="0"/>
              <a:t>r ,</a:t>
            </a:r>
            <a:r>
              <a:rPr lang="zh-TW" altLang="en-US" dirty="0" smtClean="0"/>
              <a:t>若</a:t>
            </a:r>
            <a:r>
              <a:rPr lang="en-US" altLang="zh-TW" dirty="0" smtClean="0"/>
              <a:t>p</a:t>
            </a:r>
            <a:r>
              <a:rPr lang="zh-TW" altLang="en-US" dirty="0" smtClean="0"/>
              <a:t>在之後發現了</a:t>
            </a:r>
            <a:r>
              <a:rPr lang="en-US" altLang="zh-TW" dirty="0" smtClean="0"/>
              <a:t>j</a:t>
            </a:r>
            <a:r>
              <a:rPr lang="zh-TW" altLang="en-US" dirty="0" smtClean="0"/>
              <a:t>，</a:t>
            </a:r>
            <a:r>
              <a:rPr lang="en-US" altLang="zh-TW" dirty="0" smtClean="0"/>
              <a:t>j</a:t>
            </a:r>
            <a:r>
              <a:rPr lang="zh-TW" altLang="en-US" dirty="0" smtClean="0"/>
              <a:t>的</a:t>
            </a:r>
            <a:r>
              <a:rPr lang="en-US" altLang="zh-TW" dirty="0" smtClean="0"/>
              <a:t>ND&gt;r</a:t>
            </a:r>
            <a:r>
              <a:rPr lang="zh-TW" altLang="en-US" dirty="0" smtClean="0"/>
              <a:t>則</a:t>
            </a:r>
            <a:r>
              <a:rPr lang="en-US" altLang="zh-TW" dirty="0" smtClean="0"/>
              <a:t>j</a:t>
            </a:r>
            <a:r>
              <a:rPr lang="zh-TW" altLang="en-US" dirty="0" smtClean="0"/>
              <a:t>不可能為解，相對了若小於</a:t>
            </a:r>
            <a:r>
              <a:rPr lang="en-US" altLang="zh-TW" dirty="0" smtClean="0"/>
              <a:t>r</a:t>
            </a:r>
            <a:r>
              <a:rPr lang="zh-TW" altLang="en-US" dirty="0" smtClean="0"/>
              <a:t>則更新</a:t>
            </a:r>
            <a:r>
              <a:rPr lang="en-US" altLang="zh-TW" dirty="0" smtClean="0"/>
              <a:t>NN</a:t>
            </a:r>
            <a:r>
              <a:rPr lang="zh-TW" altLang="en-US" dirty="0" smtClean="0"/>
              <a:t>與</a:t>
            </a:r>
            <a:r>
              <a:rPr lang="en-US" altLang="zh-TW" dirty="0" smtClean="0"/>
              <a:t>TN</a:t>
            </a:r>
            <a:r>
              <a:rPr lang="zh-TW" altLang="en-US" dirty="0" smtClean="0"/>
              <a:t>。</a:t>
            </a:r>
            <a:endParaRPr lang="en-US" altLang="zh-TW" dirty="0" smtClean="0"/>
          </a:p>
          <a:p>
            <a:endParaRPr lang="zh-TW" altLang="en-US" dirty="0"/>
          </a:p>
        </p:txBody>
      </p:sp>
    </p:spTree>
    <p:extLst>
      <p:ext uri="{BB962C8B-B14F-4D97-AF65-F5344CB8AC3E}">
        <p14:creationId xmlns:p14="http://schemas.microsoft.com/office/powerpoint/2010/main" xmlns="" val="844143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MFPNN using fast search(MFPNN_FS)</a:t>
            </a:r>
            <a:endParaRPr lang="zh-TW" altLang="en-US" dirty="0"/>
          </a:p>
        </p:txBody>
      </p:sp>
      <p:sp>
        <p:nvSpPr>
          <p:cNvPr id="3" name="內容版面配置區 2"/>
          <p:cNvSpPr>
            <a:spLocks noGrp="1"/>
          </p:cNvSpPr>
          <p:nvPr>
            <p:ph idx="1"/>
          </p:nvPr>
        </p:nvSpPr>
        <p:spPr/>
        <p:txBody>
          <a:bodyPr>
            <a:normAutofit/>
          </a:bodyPr>
          <a:lstStyle/>
          <a:p>
            <a:r>
              <a:rPr lang="zh-TW" altLang="en-US" dirty="0" smtClean="0"/>
              <a:t>為提供一個方法在更新</a:t>
            </a:r>
            <a:r>
              <a:rPr lang="en-US" altLang="zh-TW" dirty="0" smtClean="0"/>
              <a:t>table</a:t>
            </a:r>
            <a:r>
              <a:rPr lang="zh-TW" altLang="en-US" dirty="0" smtClean="0"/>
              <a:t>時，可以快速地逼近答案，取代原本的</a:t>
            </a:r>
            <a:r>
              <a:rPr lang="en-US" altLang="zh-TW" dirty="0" smtClean="0"/>
              <a:t>for 1 to n</a:t>
            </a:r>
            <a:r>
              <a:rPr lang="zh-TW" altLang="en-US" dirty="0" smtClean="0"/>
              <a:t>。</a:t>
            </a:r>
            <a:endParaRPr lang="en-US" altLang="zh-TW" dirty="0" smtClean="0"/>
          </a:p>
          <a:p>
            <a:r>
              <a:rPr lang="zh-TW" altLang="en-US" dirty="0" smtClean="0"/>
              <a:t>這裡是希望快速的逼近</a:t>
            </a:r>
            <a:r>
              <a:rPr lang="en-US" altLang="zh-TW" dirty="0" smtClean="0"/>
              <a:t>r</a:t>
            </a:r>
            <a:r>
              <a:rPr lang="zh-TW" altLang="en-US" dirty="0" smtClean="0"/>
              <a:t>值，以省略之後的計算。</a:t>
            </a:r>
            <a:endParaRPr lang="en-US" altLang="zh-TW" dirty="0" smtClean="0"/>
          </a:p>
          <a:p>
            <a:endParaRPr lang="en-US" altLang="zh-TW" dirty="0" smtClean="0"/>
          </a:p>
        </p:txBody>
      </p:sp>
    </p:spTree>
    <p:extLst>
      <p:ext uri="{BB962C8B-B14F-4D97-AF65-F5344CB8AC3E}">
        <p14:creationId xmlns:p14="http://schemas.microsoft.com/office/powerpoint/2010/main" xmlns="" val="18082957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MFPNN_FS</a:t>
            </a:r>
            <a:endParaRPr lang="zh-TW" altLang="en-US" dirty="0"/>
          </a:p>
        </p:txBody>
      </p:sp>
      <p:sp>
        <p:nvSpPr>
          <p:cNvPr id="3" name="內容版面配置區 2"/>
          <p:cNvSpPr>
            <a:spLocks noGrp="1"/>
          </p:cNvSpPr>
          <p:nvPr>
            <p:ph idx="1"/>
          </p:nvPr>
        </p:nvSpPr>
        <p:spPr/>
        <p:txBody>
          <a:bodyPr/>
          <a:lstStyle/>
          <a:p>
            <a:r>
              <a:rPr lang="zh-TW" altLang="en-US" dirty="0"/>
              <a:t>作者提出以</a:t>
            </a:r>
            <a:r>
              <a:rPr lang="en-US" altLang="zh-TW" dirty="0"/>
              <a:t>data set </a:t>
            </a:r>
            <a:r>
              <a:rPr lang="zh-TW" altLang="en-US" dirty="0"/>
              <a:t>中最大的三個</a:t>
            </a:r>
            <a:r>
              <a:rPr lang="en-US" altLang="zh-TW" dirty="0" err="1"/>
              <a:t>eigenvlue</a:t>
            </a:r>
            <a:r>
              <a:rPr lang="zh-TW" altLang="en-US" dirty="0"/>
              <a:t>所對應到的</a:t>
            </a:r>
            <a:r>
              <a:rPr lang="en-US" altLang="zh-TW" dirty="0"/>
              <a:t>eigenvectors</a:t>
            </a:r>
            <a:r>
              <a:rPr lang="zh-TW" altLang="en-US" dirty="0"/>
              <a:t>，以其為基底。</a:t>
            </a:r>
            <a:endParaRPr lang="en-US" altLang="zh-TW" dirty="0"/>
          </a:p>
          <a:p>
            <a:r>
              <a:rPr lang="zh-TW" altLang="en-US" dirty="0"/>
              <a:t>在</a:t>
            </a:r>
            <a:r>
              <a:rPr lang="en-US" altLang="zh-TW" dirty="0"/>
              <a:t>Principal Component Analysis</a:t>
            </a:r>
            <a:r>
              <a:rPr lang="zh-TW" altLang="en-US" dirty="0"/>
              <a:t>應用上，最大</a:t>
            </a:r>
            <a:r>
              <a:rPr lang="en-US" altLang="zh-TW" dirty="0"/>
              <a:t>eigenvalue</a:t>
            </a:r>
            <a:r>
              <a:rPr lang="zh-TW" altLang="en-US" dirty="0"/>
              <a:t>對應的</a:t>
            </a:r>
            <a:r>
              <a:rPr lang="en-US" altLang="zh-TW" dirty="0"/>
              <a:t>eigenvector</a:t>
            </a:r>
            <a:r>
              <a:rPr lang="zh-TW" altLang="en-US" dirty="0"/>
              <a:t>就是分散程度最大的那個方向。</a:t>
            </a:r>
            <a:endParaRPr lang="en-US" altLang="zh-TW" dirty="0"/>
          </a:p>
          <a:p>
            <a:r>
              <a:rPr lang="en-US" altLang="zh-TW" dirty="0"/>
              <a:t>PCA </a:t>
            </a:r>
            <a:r>
              <a:rPr lang="zh-TW" altLang="en-US" dirty="0"/>
              <a:t>的概念是「將資料拉開」</a:t>
            </a:r>
            <a:endParaRPr lang="en-US" altLang="zh-TW" dirty="0"/>
          </a:p>
          <a:p>
            <a:endParaRPr lang="zh-TW" altLang="en-US" dirty="0"/>
          </a:p>
        </p:txBody>
      </p:sp>
    </p:spTree>
    <p:extLst>
      <p:ext uri="{BB962C8B-B14F-4D97-AF65-F5344CB8AC3E}">
        <p14:creationId xmlns:p14="http://schemas.microsoft.com/office/powerpoint/2010/main" xmlns="" val="2200920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Covariance matrix</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475656" y="1628800"/>
            <a:ext cx="6151192" cy="45365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267176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MFPNN_FS</a:t>
            </a:r>
            <a:endParaRPr lang="zh-TW" altLang="en-US" dirty="0"/>
          </a:p>
        </p:txBody>
      </p:sp>
      <p:sp>
        <p:nvSpPr>
          <p:cNvPr id="3" name="內容版面配置區 2"/>
          <p:cNvSpPr>
            <a:spLocks noGrp="1"/>
          </p:cNvSpPr>
          <p:nvPr>
            <p:ph idx="1"/>
          </p:nvPr>
        </p:nvSpPr>
        <p:spPr/>
        <p:txBody>
          <a:bodyPr>
            <a:normAutofit lnSpcReduction="10000"/>
          </a:bodyPr>
          <a:lstStyle/>
          <a:p>
            <a:r>
              <a:rPr lang="zh-TW" altLang="en-US" dirty="0" smtClean="0"/>
              <a:t>將所有的群的中心點，</a:t>
            </a:r>
            <a:r>
              <a:rPr lang="zh-TW" altLang="en-US" dirty="0"/>
              <a:t>投影到三個</a:t>
            </a:r>
            <a:r>
              <a:rPr lang="en-US" altLang="zh-TW" dirty="0"/>
              <a:t>eigenvector</a:t>
            </a:r>
            <a:r>
              <a:rPr lang="zh-TW" altLang="en-US" dirty="0"/>
              <a:t>上</a:t>
            </a:r>
            <a:r>
              <a:rPr lang="zh-TW" altLang="en-US" dirty="0" smtClean="0"/>
              <a:t>，在第一個軸上</a:t>
            </a:r>
            <a:r>
              <a:rPr lang="en-US" altLang="zh-TW" dirty="0" smtClean="0"/>
              <a:t>(</a:t>
            </a:r>
            <a:r>
              <a:rPr lang="zh-TW" altLang="en-US" dirty="0" smtClean="0"/>
              <a:t>最大</a:t>
            </a:r>
            <a:r>
              <a:rPr lang="en-US" altLang="zh-TW" dirty="0" smtClean="0"/>
              <a:t>eigenvalue</a:t>
            </a:r>
            <a:r>
              <a:rPr lang="zh-TW" altLang="en-US" dirty="0" smtClean="0"/>
              <a:t>所對應到的特徵向量</a:t>
            </a:r>
            <a:r>
              <a:rPr lang="en-US" altLang="zh-TW" dirty="0" smtClean="0"/>
              <a:t>)</a:t>
            </a:r>
            <a:r>
              <a:rPr lang="zh-TW" altLang="en-US" dirty="0" smtClean="0"/>
              <a:t>找尋與</a:t>
            </a:r>
            <a:r>
              <a:rPr lang="en-US" altLang="zh-TW" dirty="0" smtClean="0"/>
              <a:t>query</a:t>
            </a:r>
            <a:r>
              <a:rPr lang="zh-TW" altLang="en-US" dirty="0" smtClean="0"/>
              <a:t>的群距離最接近的點，做為下一個比較對象</a:t>
            </a:r>
            <a:endParaRPr lang="en-US" altLang="zh-TW" dirty="0" smtClean="0"/>
          </a:p>
          <a:p>
            <a:r>
              <a:rPr lang="zh-TW" altLang="en-US" dirty="0" smtClean="0"/>
              <a:t>選定了一個候選群</a:t>
            </a:r>
            <a:r>
              <a:rPr lang="en-US" altLang="zh-TW" dirty="0" smtClean="0"/>
              <a:t>q,</a:t>
            </a:r>
            <a:r>
              <a:rPr lang="zh-TW" altLang="en-US" dirty="0" smtClean="0"/>
              <a:t>此時彼此間的距離為</a:t>
            </a:r>
            <a:r>
              <a:rPr lang="en-US" altLang="zh-TW" dirty="0" err="1" smtClean="0"/>
              <a:t>d</a:t>
            </a:r>
            <a:r>
              <a:rPr lang="en-US" altLang="zh-TW" baseline="-25000" dirty="0" err="1" smtClean="0"/>
              <a:t>min</a:t>
            </a:r>
            <a:r>
              <a:rPr lang="en-US" altLang="zh-TW" dirty="0" smtClean="0"/>
              <a:t>,</a:t>
            </a:r>
            <a:r>
              <a:rPr lang="zh-TW" altLang="en-US" dirty="0" smtClean="0"/>
              <a:t>若</a:t>
            </a:r>
            <a:r>
              <a:rPr lang="en-US" altLang="zh-TW" dirty="0" smtClean="0"/>
              <a:t>p</a:t>
            </a:r>
            <a:r>
              <a:rPr lang="zh-TW" altLang="en-US" dirty="0" smtClean="0"/>
              <a:t>在之後發現了</a:t>
            </a:r>
            <a:r>
              <a:rPr lang="en-US" altLang="zh-TW" dirty="0" smtClean="0"/>
              <a:t>j</a:t>
            </a:r>
            <a:r>
              <a:rPr lang="zh-TW" altLang="en-US" dirty="0" smtClean="0"/>
              <a:t>，</a:t>
            </a:r>
            <a:r>
              <a:rPr lang="en-US" altLang="zh-TW" dirty="0" smtClean="0"/>
              <a:t>j</a:t>
            </a:r>
            <a:r>
              <a:rPr lang="zh-TW" altLang="en-US" dirty="0" smtClean="0"/>
              <a:t>不滿足以下不等式，所以</a:t>
            </a:r>
            <a:r>
              <a:rPr lang="en-US" altLang="zh-TW" dirty="0" smtClean="0"/>
              <a:t>j</a:t>
            </a:r>
            <a:r>
              <a:rPr lang="zh-TW" altLang="en-US" dirty="0" smtClean="0"/>
              <a:t>不可能為解，相對了若小於</a:t>
            </a:r>
            <a:r>
              <a:rPr lang="en-US" altLang="zh-TW" dirty="0" err="1" smtClean="0"/>
              <a:t>d</a:t>
            </a:r>
            <a:r>
              <a:rPr lang="en-US" altLang="zh-TW" baseline="-25000" dirty="0" err="1" smtClean="0"/>
              <a:t>min</a:t>
            </a:r>
            <a:r>
              <a:rPr lang="zh-TW" altLang="en-US" dirty="0" smtClean="0"/>
              <a:t>則更新</a:t>
            </a:r>
            <a:r>
              <a:rPr lang="en-US" altLang="zh-TW" dirty="0" smtClean="0"/>
              <a:t>NN</a:t>
            </a:r>
            <a:r>
              <a:rPr lang="zh-TW" altLang="en-US" dirty="0" smtClean="0"/>
              <a:t>與</a:t>
            </a:r>
            <a:r>
              <a:rPr lang="en-US" altLang="zh-TW" dirty="0" smtClean="0"/>
              <a:t>TN</a:t>
            </a:r>
            <a:r>
              <a:rPr lang="zh-TW" altLang="en-US" dirty="0" smtClean="0"/>
              <a:t>。</a:t>
            </a:r>
          </a:p>
          <a:p>
            <a:pPr marL="0" indent="0">
              <a:buNone/>
            </a:pPr>
            <a:endParaRPr lang="zh-TW" altLang="en-US" dirty="0"/>
          </a:p>
        </p:txBody>
      </p:sp>
    </p:spTree>
    <p:extLst>
      <p:ext uri="{BB962C8B-B14F-4D97-AF65-F5344CB8AC3E}">
        <p14:creationId xmlns:p14="http://schemas.microsoft.com/office/powerpoint/2010/main" xmlns="" val="2894918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539552" y="3814090"/>
            <a:ext cx="4035613" cy="21602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標題 1"/>
          <p:cNvSpPr>
            <a:spLocks noGrp="1"/>
          </p:cNvSpPr>
          <p:nvPr>
            <p:ph type="title"/>
          </p:nvPr>
        </p:nvSpPr>
        <p:spPr/>
        <p:txBody>
          <a:bodyPr/>
          <a:lstStyle/>
          <a:p>
            <a:r>
              <a:rPr lang="en-US" altLang="zh-TW" dirty="0" smtClean="0"/>
              <a:t>MFPNN_FS</a:t>
            </a:r>
            <a:endParaRPr lang="zh-TW" altLang="en-US" dirty="0"/>
          </a:p>
        </p:txBody>
      </p:sp>
      <p:sp>
        <p:nvSpPr>
          <p:cNvPr id="3" name="內容版面配置區 2"/>
          <p:cNvSpPr>
            <a:spLocks noGrp="1"/>
          </p:cNvSpPr>
          <p:nvPr>
            <p:ph idx="1"/>
          </p:nvPr>
        </p:nvSpPr>
        <p:spPr>
          <a:xfrm>
            <a:off x="3563888" y="1600200"/>
            <a:ext cx="5400600" cy="4525963"/>
          </a:xfrm>
        </p:spPr>
        <p:txBody>
          <a:bodyPr/>
          <a:lstStyle/>
          <a:p>
            <a:r>
              <a:rPr lang="en-US" altLang="zh-TW" sz="2400" dirty="0" smtClean="0"/>
              <a:t> q</a:t>
            </a:r>
            <a:r>
              <a:rPr lang="en-US" altLang="zh-TW" sz="2400" baseline="30000" dirty="0" smtClean="0"/>
              <a:t>’</a:t>
            </a:r>
            <a:r>
              <a:rPr lang="en-US" altLang="zh-TW" sz="2400" baseline="-25000" dirty="0" smtClean="0"/>
              <a:t>1</a:t>
            </a:r>
            <a:r>
              <a:rPr lang="zh-TW" altLang="en-US" sz="2400" dirty="0" smtClean="0"/>
              <a:t>為欲</a:t>
            </a:r>
            <a:r>
              <a:rPr lang="en-US" altLang="zh-TW" sz="2400" dirty="0" smtClean="0"/>
              <a:t>query</a:t>
            </a:r>
            <a:r>
              <a:rPr lang="zh-TW" altLang="en-US" sz="2400" dirty="0" smtClean="0"/>
              <a:t>的群其中心點投影到第一個</a:t>
            </a:r>
            <a:r>
              <a:rPr lang="en-US" altLang="zh-TW" sz="2400" dirty="0" smtClean="0"/>
              <a:t>eigenvector</a:t>
            </a:r>
            <a:r>
              <a:rPr lang="zh-TW" altLang="en-US" sz="2400" dirty="0" smtClean="0"/>
              <a:t>的座標。</a:t>
            </a:r>
            <a:endParaRPr lang="en-US" altLang="zh-TW" sz="2400" dirty="0" smtClean="0"/>
          </a:p>
          <a:p>
            <a:r>
              <a:rPr lang="en-US" altLang="zh-TW" sz="2400" dirty="0"/>
              <a:t> </a:t>
            </a:r>
            <a:r>
              <a:rPr lang="en-US" altLang="zh-TW" sz="2400" dirty="0" smtClean="0"/>
              <a:t>c</a:t>
            </a:r>
            <a:r>
              <a:rPr lang="en-US" altLang="zh-TW" sz="2400" baseline="30000" dirty="0" smtClean="0"/>
              <a:t>’</a:t>
            </a:r>
            <a:r>
              <a:rPr lang="en-US" altLang="zh-TW" sz="2400" baseline="-25000" dirty="0" smtClean="0"/>
              <a:t>i1</a:t>
            </a:r>
            <a:r>
              <a:rPr lang="zh-TW" altLang="en-US" sz="2400" dirty="0"/>
              <a:t>為路邊抓到的一個可能的候選群，其中心點投影</a:t>
            </a:r>
            <a:r>
              <a:rPr lang="zh-TW" altLang="en-US" sz="2400" dirty="0" smtClean="0"/>
              <a:t>到第一個</a:t>
            </a:r>
            <a:r>
              <a:rPr lang="en-US" altLang="zh-TW" sz="2400" dirty="0" smtClean="0"/>
              <a:t>eigenvector</a:t>
            </a:r>
            <a:r>
              <a:rPr lang="zh-TW" altLang="en-US" sz="2400" dirty="0" smtClean="0"/>
              <a:t>的座標。</a:t>
            </a:r>
            <a:endParaRPr lang="en-US" altLang="zh-TW" sz="2400" dirty="0" smtClean="0"/>
          </a:p>
          <a:p>
            <a:r>
              <a:rPr lang="en-US" altLang="zh-TW" sz="2400" dirty="0" smtClean="0"/>
              <a:t>0.5</a:t>
            </a:r>
            <a:r>
              <a:rPr lang="zh-TW" altLang="en-US" sz="2400" dirty="0" smtClean="0"/>
              <a:t>為</a:t>
            </a:r>
            <a:r>
              <a:rPr lang="en-US" altLang="zh-TW" sz="2400" dirty="0" err="1" smtClean="0"/>
              <a:t>n</a:t>
            </a:r>
            <a:r>
              <a:rPr lang="en-US" altLang="zh-TW" sz="2400" baseline="-25000" dirty="0" err="1" smtClean="0"/>
              <a:t>a</a:t>
            </a:r>
            <a:r>
              <a:rPr lang="en-US" altLang="zh-TW" sz="2400" baseline="-25000" dirty="0" smtClean="0"/>
              <a:t> </a:t>
            </a:r>
            <a:r>
              <a:rPr lang="en-US" altLang="zh-TW" sz="2400" dirty="0" smtClean="0"/>
              <a:t>*</a:t>
            </a:r>
            <a:r>
              <a:rPr lang="en-US" altLang="zh-TW" sz="2400" dirty="0" err="1" smtClean="0"/>
              <a:t>n</a:t>
            </a:r>
            <a:r>
              <a:rPr lang="en-US" altLang="zh-TW" sz="2400" baseline="-25000" dirty="0" err="1" smtClean="0"/>
              <a:t>b</a:t>
            </a:r>
            <a:r>
              <a:rPr lang="en-US" altLang="zh-TW" sz="2400" baseline="-25000" dirty="0" smtClean="0"/>
              <a:t> </a:t>
            </a:r>
            <a:r>
              <a:rPr lang="en-US" altLang="zh-TW" sz="2400" dirty="0" smtClean="0"/>
              <a:t>/(</a:t>
            </a:r>
            <a:r>
              <a:rPr lang="en-US" altLang="zh-TW" sz="2400" dirty="0" err="1" smtClean="0"/>
              <a:t>n</a:t>
            </a:r>
            <a:r>
              <a:rPr lang="en-US" altLang="zh-TW" sz="2400" baseline="-25000" dirty="0" err="1" smtClean="0"/>
              <a:t>a</a:t>
            </a:r>
            <a:r>
              <a:rPr lang="en-US" altLang="zh-TW" sz="2400" baseline="-25000" dirty="0" smtClean="0"/>
              <a:t> </a:t>
            </a:r>
            <a:r>
              <a:rPr lang="en-US" altLang="zh-TW" sz="2400" dirty="0" smtClean="0"/>
              <a:t>+</a:t>
            </a:r>
            <a:r>
              <a:rPr lang="en-US" altLang="zh-TW" sz="2400" dirty="0" err="1" smtClean="0"/>
              <a:t>n</a:t>
            </a:r>
            <a:r>
              <a:rPr lang="en-US" altLang="zh-TW" sz="2400" baseline="-25000" dirty="0" err="1" smtClean="0"/>
              <a:t>b</a:t>
            </a:r>
            <a:r>
              <a:rPr lang="en-US" altLang="zh-TW" sz="2400" dirty="0" smtClean="0"/>
              <a:t>)</a:t>
            </a:r>
            <a:r>
              <a:rPr lang="zh-TW" altLang="en-US" sz="2400" dirty="0" smtClean="0"/>
              <a:t>的最小值。</a:t>
            </a:r>
            <a:endParaRPr lang="en-US" altLang="zh-TW" sz="2400" dirty="0" smtClean="0"/>
          </a:p>
          <a:p>
            <a:r>
              <a:rPr lang="zh-TW" altLang="en-US" sz="2400" dirty="0"/>
              <a:t>其精神還是在距離，只是投影到新座標的距離</a:t>
            </a:r>
            <a:r>
              <a:rPr lang="zh-TW" altLang="en-US" sz="2400" dirty="0" smtClean="0"/>
              <a:t>。</a:t>
            </a:r>
            <a:endParaRPr lang="en-US" altLang="zh-TW" sz="2400" dirty="0" smtClean="0"/>
          </a:p>
          <a:p>
            <a:endParaRPr lang="en-US" altLang="zh-TW" sz="2400" dirty="0" smtClean="0"/>
          </a:p>
          <a:p>
            <a:r>
              <a:rPr lang="en-US" altLang="zh-TW" sz="2400" dirty="0" smtClean="0"/>
              <a:t>O(pkN</a:t>
            </a:r>
            <a:r>
              <a:rPr lang="en-US" altLang="zh-TW" sz="2400" baseline="30000" dirty="0" smtClean="0"/>
              <a:t>2</a:t>
            </a:r>
            <a:r>
              <a:rPr lang="en-US" altLang="zh-TW" sz="2400" dirty="0" smtClean="0"/>
              <a:t>)</a:t>
            </a:r>
            <a:r>
              <a:rPr lang="zh-TW" altLang="en-US" sz="2400" dirty="0" smtClean="0"/>
              <a:t>    </a:t>
            </a:r>
            <a:r>
              <a:rPr lang="en-US" altLang="zh-TW" sz="2400" dirty="0" smtClean="0"/>
              <a:t>p</a:t>
            </a:r>
            <a:r>
              <a:rPr lang="zh-TW" altLang="en-US" sz="2400" dirty="0" smtClean="0"/>
              <a:t>為</a:t>
            </a:r>
            <a:r>
              <a:rPr lang="en-US" altLang="zh-TW" sz="2400" dirty="0" smtClean="0"/>
              <a:t>(0.025-0.55),k</a:t>
            </a:r>
            <a:r>
              <a:rPr lang="zh-TW" altLang="en-US" sz="2400" dirty="0" smtClean="0"/>
              <a:t>約略為</a:t>
            </a:r>
            <a:r>
              <a:rPr lang="en-US" altLang="zh-TW" sz="2400" dirty="0" smtClean="0"/>
              <a:t>4</a:t>
            </a:r>
            <a:endParaRPr lang="zh-TW" altLang="en-US" sz="2400" dirty="0" smtClean="0"/>
          </a:p>
          <a:p>
            <a:pPr marL="0" indent="0">
              <a:buNone/>
            </a:pPr>
            <a:endParaRPr lang="en-US" altLang="zh-TW" sz="2400" dirty="0" smtClean="0"/>
          </a:p>
          <a:p>
            <a:endParaRPr lang="zh-TW" altLang="en-US"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725040" y="2276872"/>
            <a:ext cx="2562269" cy="15314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725040" y="1893249"/>
            <a:ext cx="1182664" cy="39914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071413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835696" y="1268760"/>
            <a:ext cx="5331807" cy="5358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標題 1"/>
          <p:cNvSpPr>
            <a:spLocks noGrp="1"/>
          </p:cNvSpPr>
          <p:nvPr>
            <p:ph type="title"/>
          </p:nvPr>
        </p:nvSpPr>
        <p:spPr>
          <a:xfrm>
            <a:off x="225292" y="-315416"/>
            <a:ext cx="8229600" cy="1143000"/>
          </a:xfrm>
        </p:spPr>
        <p:txBody>
          <a:bodyPr>
            <a:normAutofit/>
          </a:bodyPr>
          <a:lstStyle/>
          <a:p>
            <a:r>
              <a:rPr lang="en-US" altLang="zh-TW" dirty="0"/>
              <a:t>Experimental results </a:t>
            </a:r>
            <a:endParaRPr lang="zh-TW" altLang="en-US" dirty="0"/>
          </a:p>
        </p:txBody>
      </p:sp>
      <p:sp>
        <p:nvSpPr>
          <p:cNvPr id="3" name="內容版面配置區 2"/>
          <p:cNvSpPr>
            <a:spLocks noGrp="1"/>
          </p:cNvSpPr>
          <p:nvPr>
            <p:ph idx="1"/>
          </p:nvPr>
        </p:nvSpPr>
        <p:spPr>
          <a:xfrm>
            <a:off x="251520" y="620688"/>
            <a:ext cx="8435280" cy="5505475"/>
          </a:xfrm>
        </p:spPr>
        <p:txBody>
          <a:bodyPr>
            <a:normAutofit/>
          </a:bodyPr>
          <a:lstStyle/>
          <a:p>
            <a:r>
              <a:rPr lang="en-US" altLang="zh-TW" sz="1800" dirty="0"/>
              <a:t>S</a:t>
            </a:r>
            <a:r>
              <a:rPr lang="en-US" altLang="zh-TW" sz="1800" dirty="0" smtClean="0"/>
              <a:t>everal data sets with size 5,000 ,those centers are distributed over the hypercube [-1,1], and Gaussian distribution with </a:t>
            </a:r>
            <a:r>
              <a:rPr lang="el-GR" altLang="zh-TW" sz="1800" dirty="0" smtClean="0"/>
              <a:t> σ</a:t>
            </a:r>
            <a:r>
              <a:rPr lang="en-US" altLang="zh-TW" sz="1800" dirty="0" smtClean="0"/>
              <a:t> </a:t>
            </a:r>
            <a:r>
              <a:rPr lang="en-US" altLang="zh-TW" sz="1800" dirty="0"/>
              <a:t>= 0.05 </a:t>
            </a:r>
            <a:endParaRPr lang="zh-TW" altLang="en-US" sz="1800" dirty="0"/>
          </a:p>
        </p:txBody>
      </p:sp>
    </p:spTree>
    <p:extLst>
      <p:ext uri="{BB962C8B-B14F-4D97-AF65-F5344CB8AC3E}">
        <p14:creationId xmlns:p14="http://schemas.microsoft.com/office/powerpoint/2010/main" xmlns="" val="2197861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776314" y="1412776"/>
            <a:ext cx="7156276" cy="4897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430300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816888" y="3861048"/>
            <a:ext cx="7467600" cy="2495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831059" y="1323734"/>
            <a:ext cx="7477125" cy="24669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93268127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634</TotalTime>
  <Words>782</Words>
  <Application>Microsoft Office PowerPoint</Application>
  <PresentationFormat>如螢幕大小 (4:3)</PresentationFormat>
  <Paragraphs>56</Paragraphs>
  <Slides>15</Slides>
  <Notes>0</Notes>
  <HiddenSlides>0</HiddenSlides>
  <MMClips>0</MMClips>
  <ScaleCrop>false</ScaleCrop>
  <HeadingPairs>
    <vt:vector size="4" baseType="variant">
      <vt:variant>
        <vt:lpstr>佈景主題</vt:lpstr>
      </vt:variant>
      <vt:variant>
        <vt:i4>1</vt:i4>
      </vt:variant>
      <vt:variant>
        <vt:lpstr>投影片標題</vt:lpstr>
      </vt:variant>
      <vt:variant>
        <vt:i4>15</vt:i4>
      </vt:variant>
    </vt:vector>
  </HeadingPairs>
  <TitlesOfParts>
    <vt:vector size="16" baseType="lpstr">
      <vt:lpstr>Office 佈景主題</vt:lpstr>
      <vt:lpstr>Improvement of the fast exact pairwise-nearest-neighbor algorithm</vt:lpstr>
      <vt:lpstr>Abstract</vt:lpstr>
      <vt:lpstr>Abstract</vt:lpstr>
      <vt:lpstr>Exact pairwise-nearest-neighbor algorithm(PNN)</vt:lpstr>
      <vt:lpstr>Exact pairwise-nearest-neighbor algorithm(PNN)</vt:lpstr>
      <vt:lpstr>Fast exact PNN(FPNN)</vt:lpstr>
      <vt:lpstr>Modified FPNN algorithm(MFPNN)</vt:lpstr>
      <vt:lpstr>MFPNN using fast search(MFPNN_FS)</vt:lpstr>
      <vt:lpstr>MFPNN_FS</vt:lpstr>
      <vt:lpstr>Covariance matrix</vt:lpstr>
      <vt:lpstr>MFPNN_FS</vt:lpstr>
      <vt:lpstr>MFPNN_FS</vt:lpstr>
      <vt:lpstr>Experimental results </vt:lpstr>
      <vt:lpstr>投影片 14</vt:lpstr>
      <vt:lpstr>投影片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Improvement of the fast exact pairwise-nearest-neighbor algorithm</dc:title>
  <dc:creator>fjy</dc:creator>
  <cp:lastModifiedBy>admin</cp:lastModifiedBy>
  <cp:revision>18</cp:revision>
  <dcterms:created xsi:type="dcterms:W3CDTF">2013-06-09T05:36:53Z</dcterms:created>
  <dcterms:modified xsi:type="dcterms:W3CDTF">2013-06-11T10:47:37Z</dcterms:modified>
</cp:coreProperties>
</file>