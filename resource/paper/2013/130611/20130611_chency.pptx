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ichu" initials="P" lastIdx="1" clrIdx="0">
    <p:extLst>
      <p:ext uri="{19B8F6BF-5375-455C-9EA6-DF929625EA0E}">
        <p15:presenceInfo xmlns:p15="http://schemas.microsoft.com/office/powerpoint/2012/main" userId="6fb62661ff4a113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8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098677-A290-4069-8439-B707BCA93BDE}" type="datetimeFigureOut">
              <a:rPr lang="zh-TW" altLang="en-US" smtClean="0"/>
              <a:t>2013/6/11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0D53BE-49B5-437A-A79E-9097237357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5450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 smtClean="0"/>
              <a:t>Ruiqiang</a:t>
            </a:r>
            <a:r>
              <a:rPr lang="en-US" altLang="zh-TW" dirty="0" smtClean="0"/>
              <a:t> Li1,2,†, Chang Yu1,†, </a:t>
            </a:r>
            <a:r>
              <a:rPr lang="en-US" altLang="zh-TW" dirty="0" err="1" smtClean="0"/>
              <a:t>Yingrui</a:t>
            </a:r>
            <a:r>
              <a:rPr lang="en-US" altLang="zh-TW" dirty="0" smtClean="0"/>
              <a:t> Li1, </a:t>
            </a:r>
            <a:r>
              <a:rPr lang="en-US" altLang="zh-TW" dirty="0" err="1" smtClean="0"/>
              <a:t>Tak-Wah</a:t>
            </a:r>
            <a:r>
              <a:rPr lang="en-US" altLang="zh-TW" dirty="0" smtClean="0"/>
              <a:t> Lam3, Siu-Ming Yiu3,</a:t>
            </a:r>
          </a:p>
          <a:p>
            <a:r>
              <a:rPr lang="en-US" altLang="zh-TW" dirty="0" err="1" smtClean="0"/>
              <a:t>Karsten</a:t>
            </a:r>
            <a:r>
              <a:rPr lang="en-US" altLang="zh-TW" dirty="0" smtClean="0"/>
              <a:t> Kristiansen2 and Jun Wang1,2,∗</a:t>
            </a:r>
          </a:p>
          <a:p>
            <a:endParaRPr lang="en-US" altLang="zh-TW" dirty="0" smtClean="0"/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1Beijing Genomics Institute at Shenzhen, Shenzhen, 518083, China, 2Department of Biochemistry and Molecular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Biology, University of Southern Denmark, Odense M, DK-5230, Denmark and 3Department of Computer Science,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University of Hong Kong, Hong Kong, China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Received on January 23, 2009; revised on April 27, 2009; accepted on May 24, 2009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Advance Access publication June 3, 2009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Associate Editor: Joaquin 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Dopazo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D53BE-49B5-437A-A79E-909723735784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5057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kumimoji="0" lang="en-US" sz="7200" b="1" i="0" u="none" strike="noStrike" kern="1200" cap="all" spc="0" normalizeH="0" baseline="0" dirty="0">
                <a:ln w="15875">
                  <a:solidFill>
                    <a:sysClr val="window" lastClr="FFFFFF"/>
                  </a:solidFill>
                </a:ln>
                <a:solidFill>
                  <a:srgbClr val="DF5327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6/11/2013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6/11/2013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marL="0"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0" lang="en-US" sz="7200" b="1" i="0" u="none" strike="noStrike" kern="1200" cap="all" spc="0" normalizeH="0" baseline="0" dirty="0">
                <a:ln w="15875">
                  <a:solidFill>
                    <a:sysClr val="window" lastClr="FFFFFF"/>
                  </a:solidFill>
                </a:ln>
                <a:solidFill>
                  <a:srgbClr val="DF5327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Corbel" pitchFamily="34" charset="0"/>
                <a:ea typeface="+mn-ea"/>
                <a:cs typeface="+mn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6/11/2013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6/11/2013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6/11/2013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6/11/2013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6/11/2013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6/11/2013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6/11/2013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6/11/2013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6/11/2013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6/11/2013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SOAP2: an improved ultrafast tool for short read alignment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dirty="0" err="1"/>
              <a:t>Ruiqiang</a:t>
            </a:r>
            <a:r>
              <a:rPr lang="en-US" altLang="zh-TW" dirty="0"/>
              <a:t> </a:t>
            </a:r>
            <a:r>
              <a:rPr lang="en-US" altLang="zh-TW" dirty="0" smtClean="0"/>
              <a:t>Li(</a:t>
            </a:r>
            <a:r>
              <a:rPr lang="zh-TW" altLang="en-US" dirty="0" smtClean="0"/>
              <a:t>李瑞強</a:t>
            </a:r>
            <a:r>
              <a:rPr lang="en-US" altLang="zh-TW" dirty="0" smtClean="0"/>
              <a:t>), </a:t>
            </a:r>
            <a:r>
              <a:rPr lang="en-US" altLang="zh-TW" dirty="0"/>
              <a:t>Chang </a:t>
            </a:r>
            <a:r>
              <a:rPr lang="en-US" altLang="zh-TW" dirty="0" smtClean="0"/>
              <a:t>Yu(), </a:t>
            </a:r>
            <a:r>
              <a:rPr lang="en-US" altLang="zh-TW" dirty="0"/>
              <a:t> et. </a:t>
            </a:r>
            <a:r>
              <a:rPr lang="en-US" altLang="zh-TW" dirty="0" smtClean="0"/>
              <a:t>al.    Beijing </a:t>
            </a:r>
            <a:r>
              <a:rPr lang="en-US" altLang="zh-TW" dirty="0"/>
              <a:t>Genomics Institute at </a:t>
            </a:r>
            <a:r>
              <a:rPr lang="en-US" altLang="zh-TW" dirty="0" smtClean="0"/>
              <a:t>Shenzhen</a:t>
            </a:r>
          </a:p>
          <a:p>
            <a:r>
              <a:rPr lang="en-US" altLang="zh-TW" dirty="0"/>
              <a:t>Bioinformatics (2009) 25 (15): 1966-1967. </a:t>
            </a:r>
            <a:r>
              <a:rPr lang="en-US" altLang="zh-TW" dirty="0" smtClean="0"/>
              <a:t>	</a:t>
            </a:r>
          </a:p>
          <a:p>
            <a:endParaRPr lang="en-US" altLang="zh-TW" dirty="0"/>
          </a:p>
          <a:p>
            <a:r>
              <a:rPr lang="en-US" altLang="zh-TW" dirty="0" smtClean="0"/>
              <a:t>Reporter : </a:t>
            </a:r>
            <a:r>
              <a:rPr lang="zh-TW" altLang="en-US" dirty="0" smtClean="0"/>
              <a:t>陳慶耀 </a:t>
            </a:r>
            <a:r>
              <a:rPr lang="en-US" altLang="zh-TW" dirty="0" smtClean="0"/>
              <a:t>2013/6/13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5438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SOAP2 is a significantly improved version of the </a:t>
            </a:r>
            <a:r>
              <a:rPr lang="en-US" altLang="zh-TW" dirty="0" smtClean="0"/>
              <a:t>short oligonucleotide </a:t>
            </a:r>
            <a:r>
              <a:rPr lang="en-US" altLang="zh-TW" dirty="0"/>
              <a:t>alignment program that both reduces </a:t>
            </a:r>
            <a:r>
              <a:rPr lang="en-US" altLang="zh-TW" dirty="0" smtClean="0"/>
              <a:t>computer memory </a:t>
            </a:r>
            <a:r>
              <a:rPr lang="en-US" altLang="zh-TW" dirty="0"/>
              <a:t>usage and increases alignment speed at an </a:t>
            </a:r>
            <a:r>
              <a:rPr lang="en-US" altLang="zh-TW" dirty="0" smtClean="0"/>
              <a:t>unprecedented rate. We </a:t>
            </a:r>
            <a:r>
              <a:rPr lang="en-US" altLang="zh-TW" dirty="0"/>
              <a:t>used a Burrows Wheeler Transformation (BWT) </a:t>
            </a:r>
            <a:r>
              <a:rPr lang="en-US" altLang="zh-TW" dirty="0" smtClean="0"/>
              <a:t>compression index </a:t>
            </a:r>
            <a:r>
              <a:rPr lang="en-US" altLang="zh-TW" dirty="0"/>
              <a:t>to substitute the seed strategy for indexing the </a:t>
            </a:r>
            <a:r>
              <a:rPr lang="en-US" altLang="zh-TW" dirty="0" smtClean="0"/>
              <a:t>reference sequence </a:t>
            </a:r>
            <a:r>
              <a:rPr lang="en-US" altLang="zh-TW" dirty="0"/>
              <a:t>in the main memory. We tested it on the whole </a:t>
            </a:r>
            <a:r>
              <a:rPr lang="en-US" altLang="zh-TW" dirty="0" smtClean="0"/>
              <a:t>human genome </a:t>
            </a:r>
            <a:r>
              <a:rPr lang="en-US" altLang="zh-TW" dirty="0"/>
              <a:t>and found that this new algorithm reduced memory </a:t>
            </a:r>
            <a:r>
              <a:rPr lang="en-US" altLang="zh-TW" dirty="0" smtClean="0"/>
              <a:t>usage from </a:t>
            </a:r>
            <a:r>
              <a:rPr lang="en-US" altLang="zh-TW" dirty="0"/>
              <a:t>14.7 to 5.4GB and improved alignment speed by </a:t>
            </a:r>
            <a:r>
              <a:rPr lang="en-US" altLang="zh-TW" dirty="0" smtClean="0"/>
              <a:t>20–30 times</a:t>
            </a:r>
            <a:r>
              <a:rPr lang="en-US" altLang="zh-TW" dirty="0"/>
              <a:t>. SOAP2 is compatible with both single- and paired-end </a:t>
            </a:r>
            <a:r>
              <a:rPr lang="en-US" altLang="zh-TW" dirty="0" smtClean="0"/>
              <a:t>reads. Additionally</a:t>
            </a:r>
            <a:r>
              <a:rPr lang="en-US" altLang="zh-TW" dirty="0"/>
              <a:t>, this tool now supports multiple text and compressed </a:t>
            </a:r>
            <a:r>
              <a:rPr lang="en-US" altLang="zh-TW" dirty="0" smtClean="0"/>
              <a:t>file formats</a:t>
            </a:r>
            <a:r>
              <a:rPr lang="en-US" altLang="zh-TW" dirty="0"/>
              <a:t>. A consensus builder has also been developed for </a:t>
            </a:r>
            <a:r>
              <a:rPr lang="en-US" altLang="zh-TW" dirty="0" smtClean="0"/>
              <a:t>consensus assembly </a:t>
            </a:r>
            <a:r>
              <a:rPr lang="en-US" altLang="zh-TW" dirty="0"/>
              <a:t>and SNP detection from alignment of short reads on </a:t>
            </a:r>
            <a:r>
              <a:rPr lang="en-US" altLang="zh-TW" dirty="0" smtClean="0"/>
              <a:t>a reference </a:t>
            </a:r>
            <a:r>
              <a:rPr lang="en-US" altLang="zh-TW" dirty="0"/>
              <a:t>genome.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65321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BWT 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8713" y="2264898"/>
            <a:ext cx="10864094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39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BWT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52" y="2676647"/>
            <a:ext cx="2362936" cy="119077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389" y="2676648"/>
            <a:ext cx="3949152" cy="3083802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541" y="2676647"/>
            <a:ext cx="3866258" cy="308380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1494" y="5409111"/>
            <a:ext cx="244792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352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BWT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增加壓縮效率</a:t>
            </a:r>
            <a:endParaRPr lang="en-US" altLang="zh-TW" dirty="0" smtClean="0"/>
          </a:p>
          <a:p>
            <a:r>
              <a:rPr lang="en-US" altLang="zh-TW" dirty="0" smtClean="0"/>
              <a:t>14.7G </a:t>
            </a:r>
            <a:r>
              <a:rPr lang="en-US" altLang="zh-TW" dirty="0" smtClean="0">
                <a:sym typeface="Wingdings" panose="05000000000000000000" pitchFamily="2" charset="2"/>
              </a:rPr>
              <a:t> 5.4G  (</a:t>
            </a:r>
            <a:r>
              <a:rPr lang="zh-TW" altLang="en-US" dirty="0" smtClean="0">
                <a:sym typeface="Wingdings" panose="05000000000000000000" pitchFamily="2" charset="2"/>
              </a:rPr>
              <a:t>記憶體使用量</a:t>
            </a:r>
            <a:r>
              <a:rPr lang="en-US" altLang="zh-TW" dirty="0" smtClean="0">
                <a:sym typeface="Wingdings" panose="05000000000000000000" pitchFamily="2" charset="2"/>
              </a:rPr>
              <a:t>)</a:t>
            </a:r>
          </a:p>
          <a:p>
            <a:r>
              <a:rPr lang="en-US" altLang="zh-TW" dirty="0"/>
              <a:t>12 times slower than </a:t>
            </a:r>
            <a:r>
              <a:rPr lang="en-US" altLang="zh-TW" dirty="0" smtClean="0"/>
              <a:t>building the </a:t>
            </a:r>
            <a:r>
              <a:rPr lang="en-US" altLang="zh-TW" dirty="0"/>
              <a:t>seed index that was implemented in </a:t>
            </a:r>
            <a:r>
              <a:rPr lang="en-US" altLang="zh-TW" dirty="0" smtClean="0"/>
              <a:t>SOAP</a:t>
            </a:r>
          </a:p>
          <a:p>
            <a:r>
              <a:rPr lang="en-US" altLang="zh-TW" dirty="0" smtClean="0"/>
              <a:t>Prebuild the </a:t>
            </a:r>
            <a:r>
              <a:rPr lang="en-US" altLang="zh-TW" dirty="0"/>
              <a:t>index on a hard disk, and then load it into RAM directly </a:t>
            </a:r>
            <a:r>
              <a:rPr lang="en-US" altLang="zh-TW" dirty="0" smtClean="0"/>
              <a:t>when starting </a:t>
            </a:r>
            <a:r>
              <a:rPr lang="en-US" altLang="zh-TW" dirty="0"/>
              <a:t>a new alignment job for that genome</a:t>
            </a:r>
            <a:r>
              <a:rPr lang="en-US" altLang="zh-TW" dirty="0" smtClean="0"/>
              <a:t>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96722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292" y="1287780"/>
            <a:ext cx="10296286" cy="4272318"/>
          </a:xfrm>
          <a:prstGeom prst="rect">
            <a:avLst/>
          </a:prstGeom>
        </p:spPr>
      </p:pic>
      <p:sp>
        <p:nvSpPr>
          <p:cNvPr id="5" name="向左箭號圖說文字 4"/>
          <p:cNvSpPr/>
          <p:nvPr/>
        </p:nvSpPr>
        <p:spPr>
          <a:xfrm>
            <a:off x="9725291" y="3423939"/>
            <a:ext cx="1624084" cy="555578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50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BWT</a:t>
            </a:r>
            <a:endParaRPr lang="zh-TW" altLang="en-US" dirty="0"/>
          </a:p>
        </p:txBody>
      </p:sp>
      <p:sp>
        <p:nvSpPr>
          <p:cNvPr id="6" name="向左箭號圖說文字 5"/>
          <p:cNvSpPr/>
          <p:nvPr/>
        </p:nvSpPr>
        <p:spPr>
          <a:xfrm>
            <a:off x="9725291" y="4657697"/>
            <a:ext cx="1624084" cy="555578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50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BWT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30529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基礎">
  <a:themeElements>
    <a:clrScheme name="Basis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DF5327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63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446C221D-F63F-4DD8-B509-CFE168687BF2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TC103457444[[fn=基準]]</Template>
  <TotalTime>388</TotalTime>
  <Words>301</Words>
  <Application>Microsoft Office PowerPoint</Application>
  <PresentationFormat>寬螢幕</PresentationFormat>
  <Paragraphs>26</Paragraphs>
  <Slides>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新細明體</vt:lpstr>
      <vt:lpstr>Calibri</vt:lpstr>
      <vt:lpstr>Corbel</vt:lpstr>
      <vt:lpstr>Wingdings</vt:lpstr>
      <vt:lpstr>基礎</vt:lpstr>
      <vt:lpstr>SOAP2: an improved ultrafast tool for short read alignment</vt:lpstr>
      <vt:lpstr>ABSTRACT</vt:lpstr>
      <vt:lpstr>BWT </vt:lpstr>
      <vt:lpstr>BWT</vt:lpstr>
      <vt:lpstr>BWT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SOAP2: an improved ultrafast tool for short read alignment</dc:title>
  <dc:creator>Pichu</dc:creator>
  <cp:lastModifiedBy>Pichu</cp:lastModifiedBy>
  <cp:revision>7</cp:revision>
  <dcterms:created xsi:type="dcterms:W3CDTF">2013-06-11T02:30:31Z</dcterms:created>
  <dcterms:modified xsi:type="dcterms:W3CDTF">2013-06-11T10:49:57Z</dcterms:modified>
</cp:coreProperties>
</file>