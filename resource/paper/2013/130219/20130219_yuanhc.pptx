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handoutMasterIdLst>
    <p:handoutMasterId r:id="rId26"/>
  </p:handoutMasterIdLst>
  <p:sldIdLst>
    <p:sldId id="256" r:id="rId2"/>
    <p:sldId id="296" r:id="rId3"/>
    <p:sldId id="307" r:id="rId4"/>
    <p:sldId id="308" r:id="rId5"/>
    <p:sldId id="282" r:id="rId6"/>
    <p:sldId id="297" r:id="rId7"/>
    <p:sldId id="284" r:id="rId8"/>
    <p:sldId id="298" r:id="rId9"/>
    <p:sldId id="309" r:id="rId10"/>
    <p:sldId id="303" r:id="rId11"/>
    <p:sldId id="304" r:id="rId12"/>
    <p:sldId id="311" r:id="rId13"/>
    <p:sldId id="300" r:id="rId14"/>
    <p:sldId id="299" r:id="rId15"/>
    <p:sldId id="305" r:id="rId16"/>
    <p:sldId id="312" r:id="rId17"/>
    <p:sldId id="313" r:id="rId18"/>
    <p:sldId id="314" r:id="rId19"/>
    <p:sldId id="315" r:id="rId20"/>
    <p:sldId id="293" r:id="rId21"/>
    <p:sldId id="301" r:id="rId22"/>
    <p:sldId id="302" r:id="rId23"/>
    <p:sldId id="265" r:id="rId24"/>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93DF"/>
    <a:srgbClr val="6F84EB"/>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96825" autoAdjust="0"/>
  </p:normalViewPr>
  <p:slideViewPr>
    <p:cSldViewPr>
      <p:cViewPr>
        <p:scale>
          <a:sx n="75" d="100"/>
          <a:sy n="75" d="100"/>
        </p:scale>
        <p:origin x="-156" y="-8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t>2013/2/19</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t>‹#›</a:t>
            </a:fld>
            <a:endParaRPr lang="zh-TW" altLang="en-US"/>
          </a:p>
        </p:txBody>
      </p:sp>
    </p:spTree>
    <p:extLst>
      <p:ext uri="{BB962C8B-B14F-4D97-AF65-F5344CB8AC3E}">
        <p14:creationId xmlns:p14="http://schemas.microsoft.com/office/powerpoint/2010/main"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t>2013/2/19</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t>‹#›</a:t>
            </a:fld>
            <a:endParaRPr lang="zh-TW" altLang="en-US"/>
          </a:p>
        </p:txBody>
      </p:sp>
    </p:spTree>
    <p:extLst>
      <p:ext uri="{BB962C8B-B14F-4D97-AF65-F5344CB8AC3E}">
        <p14:creationId xmlns:p14="http://schemas.microsoft.com/office/powerpoint/2010/main"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08879042-3193-49F2-8086-409E581C9D3A}" type="slidenum">
              <a:rPr lang="zh-TW" altLang="en-US" smtClean="0"/>
              <a:t>7</a:t>
            </a:fld>
            <a:endParaRPr lang="zh-TW" altLang="en-US"/>
          </a:p>
        </p:txBody>
      </p:sp>
    </p:spTree>
    <p:extLst>
      <p:ext uri="{BB962C8B-B14F-4D97-AF65-F5344CB8AC3E}">
        <p14:creationId xmlns:p14="http://schemas.microsoft.com/office/powerpoint/2010/main" val="9684174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440160"/>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228979"/>
            <a:ext cx="6858000" cy="2200243"/>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r>
              <a:rPr lang="en-US" altLang="zh-TW" smtClean="0"/>
              <a:t>2013/1/10</a:t>
            </a:r>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t>‹#›</a:t>
            </a:fld>
            <a:endParaRPr lang="zh-TW" altLang="en-US"/>
          </a:p>
        </p:txBody>
      </p:sp>
      <p:sp>
        <p:nvSpPr>
          <p:cNvPr id="21" name="矩形 20"/>
          <p:cNvSpPr/>
          <p:nvPr/>
        </p:nvSpPr>
        <p:spPr>
          <a:xfrm>
            <a:off x="904875" y="980728"/>
            <a:ext cx="7315200" cy="2088232"/>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140968"/>
            <a:ext cx="7305675" cy="237626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088232"/>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140968"/>
            <a:ext cx="238125" cy="237626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mn-lt"/>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p>
            <a:r>
              <a:rPr lang="en-US" altLang="zh-TW" smtClean="0"/>
              <a:t>2013/1/10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r>
              <a:rPr lang="en-US" altLang="zh-TW" smtClean="0"/>
              <a:t>2013/1/10</a:t>
            </a:r>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r>
              <a:rPr lang="en-US" altLang="zh-TW" smtClean="0"/>
              <a:t>2013/1/10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r>
              <a:rPr lang="en-US" altLang="zh-TW" smtClean="0"/>
              <a:t>2013/1/10</a:t>
            </a:r>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r>
              <a:rPr lang="en-US" altLang="zh-TW" smtClean="0"/>
              <a:t>2013/1/10</a:t>
            </a:r>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2013/1/10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2013/1/10</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2013/1/10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2013/1/10</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ltLang="zh-TW" smtClean="0"/>
              <a:t>2013/1/10</a:t>
            </a:r>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6.png"/><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2.png"/><Relationship Id="rId7" Type="http://schemas.microsoft.com/office/2007/relationships/hdphoto" Target="../media/hdphoto5.wdp"/><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13.png"/><Relationship Id="rId5" Type="http://schemas.openxmlformats.org/officeDocument/2006/relationships/image" Target="../media/image11.w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42392" y="1052736"/>
            <a:ext cx="6858000" cy="1944216"/>
          </a:xfrm>
        </p:spPr>
        <p:txBody>
          <a:bodyPr>
            <a:noAutofit/>
          </a:bodyPr>
          <a:lstStyle/>
          <a:p>
            <a:pPr algn="l" fontAlgn="base"/>
            <a:r>
              <a:rPr lang="en-US" altLang="zh-TW" dirty="0"/>
              <a:t>Benchmarking Dynamic Time Warping for Music Retrieval</a:t>
            </a:r>
            <a:r>
              <a:rPr lang="en-US" altLang="zh-TW" sz="3600" dirty="0"/>
              <a:t/>
            </a:r>
            <a:br>
              <a:rPr lang="en-US" altLang="zh-TW" sz="3600" dirty="0"/>
            </a:br>
            <a:r>
              <a:rPr lang="en-US" altLang="zh-TW" sz="2000" b="0" dirty="0"/>
              <a:t>PETRA '10 Proceedings of the 3rd International Conference on </a:t>
            </a:r>
            <a:r>
              <a:rPr lang="en-US" altLang="zh-TW" sz="2000" b="0" dirty="0" err="1"/>
              <a:t>PErvasive</a:t>
            </a:r>
            <a:r>
              <a:rPr lang="en-US" altLang="zh-TW" sz="2000" b="0" dirty="0"/>
              <a:t> Technologies Related to Assistive Environments </a:t>
            </a:r>
            <a:r>
              <a:rPr lang="en-US" altLang="zh-TW" sz="2000" b="0" dirty="0" smtClean="0"/>
              <a:t/>
            </a:r>
            <a:br>
              <a:rPr lang="en-US" altLang="zh-TW" sz="2000" b="0" dirty="0" smtClean="0"/>
            </a:br>
            <a:r>
              <a:rPr lang="en-US" altLang="zh-TW" sz="2000" b="0" dirty="0" smtClean="0"/>
              <a:t>Article </a:t>
            </a:r>
            <a:r>
              <a:rPr lang="en-US" altLang="zh-TW" sz="2000" b="0" dirty="0"/>
              <a:t>No. 59</a:t>
            </a:r>
            <a:endParaRPr lang="zh-TW" altLang="en-US" sz="2000" dirty="0"/>
          </a:p>
        </p:txBody>
      </p:sp>
      <p:sp>
        <p:nvSpPr>
          <p:cNvPr id="3" name="副標題 2"/>
          <p:cNvSpPr>
            <a:spLocks noGrp="1"/>
          </p:cNvSpPr>
          <p:nvPr>
            <p:ph type="subTitle" idx="1"/>
          </p:nvPr>
        </p:nvSpPr>
        <p:spPr>
          <a:xfrm>
            <a:off x="1219200" y="3228979"/>
            <a:ext cx="6858000" cy="2144237"/>
          </a:xfrm>
        </p:spPr>
        <p:txBody>
          <a:bodyPr>
            <a:noAutofit/>
          </a:bodyPr>
          <a:lstStyle/>
          <a:p>
            <a:pPr algn="l"/>
            <a:r>
              <a:rPr lang="en-US" altLang="zh-TW" dirty="0" err="1"/>
              <a:t>Jefrey</a:t>
            </a:r>
            <a:r>
              <a:rPr lang="en-US" altLang="zh-TW" dirty="0"/>
              <a:t> </a:t>
            </a:r>
            <a:r>
              <a:rPr lang="en-US" altLang="zh-TW" dirty="0" err="1" smtClean="0"/>
              <a:t>Lijffijt</a:t>
            </a:r>
            <a:r>
              <a:rPr lang="en-US" altLang="zh-TW" dirty="0" smtClean="0"/>
              <a:t>, </a:t>
            </a:r>
            <a:r>
              <a:rPr lang="en-US" altLang="zh-TW" dirty="0" err="1"/>
              <a:t>Panagiotis</a:t>
            </a:r>
            <a:r>
              <a:rPr lang="en-US" altLang="zh-TW" dirty="0"/>
              <a:t> </a:t>
            </a:r>
            <a:r>
              <a:rPr lang="en-US" altLang="zh-TW" dirty="0" err="1" smtClean="0"/>
              <a:t>Papapetrou</a:t>
            </a:r>
            <a:r>
              <a:rPr lang="en-US" altLang="zh-TW" dirty="0" smtClean="0"/>
              <a:t>, </a:t>
            </a:r>
          </a:p>
          <a:p>
            <a:pPr algn="l"/>
            <a:r>
              <a:rPr lang="en-US" altLang="zh-TW" dirty="0" err="1" smtClean="0"/>
              <a:t>Jaakko</a:t>
            </a:r>
            <a:r>
              <a:rPr lang="en-US" altLang="zh-TW" dirty="0" smtClean="0"/>
              <a:t> </a:t>
            </a:r>
            <a:r>
              <a:rPr lang="en-US" altLang="zh-TW" dirty="0" err="1" smtClean="0"/>
              <a:t>Hollmen</a:t>
            </a:r>
            <a:r>
              <a:rPr lang="en-US" altLang="zh-TW" dirty="0" smtClean="0"/>
              <a:t>, </a:t>
            </a:r>
            <a:r>
              <a:rPr lang="en-US" altLang="zh-TW" dirty="0" err="1" smtClean="0"/>
              <a:t>Vassilis</a:t>
            </a:r>
            <a:r>
              <a:rPr lang="en-US" altLang="zh-TW" dirty="0" smtClean="0"/>
              <a:t> </a:t>
            </a:r>
            <a:r>
              <a:rPr lang="en-US" altLang="zh-TW" dirty="0" err="1" smtClean="0"/>
              <a:t>Athitsos</a:t>
            </a:r>
            <a:r>
              <a:rPr lang="en-US" altLang="zh-TW" sz="1800" dirty="0" smtClean="0">
                <a:solidFill>
                  <a:schemeClr val="tx1"/>
                </a:solidFill>
              </a:rPr>
              <a:t/>
            </a:r>
            <a:br>
              <a:rPr lang="en-US" altLang="zh-TW" sz="1800" dirty="0" smtClean="0">
                <a:solidFill>
                  <a:schemeClr val="tx1"/>
                </a:solidFill>
              </a:rPr>
            </a:br>
            <a:r>
              <a:rPr lang="en-US" altLang="zh-TW" sz="1800" dirty="0" smtClean="0"/>
              <a:t>Department </a:t>
            </a:r>
            <a:r>
              <a:rPr lang="en-US" altLang="zh-TW" sz="1800" dirty="0"/>
              <a:t>of Information and Computer Science, Aalto University School of Science and Technology, Finland</a:t>
            </a:r>
          </a:p>
          <a:p>
            <a:pPr algn="l"/>
            <a:r>
              <a:rPr lang="en-US" altLang="zh-TW" sz="1800" dirty="0" smtClean="0"/>
              <a:t>Helsinki </a:t>
            </a:r>
            <a:r>
              <a:rPr lang="en-US" altLang="zh-TW" sz="1800" dirty="0"/>
              <a:t>Institute for Information Technology, Finland</a:t>
            </a:r>
          </a:p>
          <a:p>
            <a:pPr algn="l"/>
            <a:r>
              <a:rPr lang="en-US" altLang="zh-TW" sz="1800" dirty="0" smtClean="0"/>
              <a:t>Computer </a:t>
            </a:r>
            <a:r>
              <a:rPr lang="en-US" altLang="zh-TW" sz="1800" dirty="0"/>
              <a:t>Science and Engineering Department, University of Texas at Arlington, USA</a:t>
            </a:r>
          </a:p>
        </p:txBody>
      </p:sp>
      <p:sp>
        <p:nvSpPr>
          <p:cNvPr id="5" name="日期版面配置區 4"/>
          <p:cNvSpPr>
            <a:spLocks noGrp="1"/>
          </p:cNvSpPr>
          <p:nvPr>
            <p:ph type="dt" sz="half" idx="10"/>
          </p:nvPr>
        </p:nvSpPr>
        <p:spPr/>
        <p:txBody>
          <a:bodyPr/>
          <a:lstStyle/>
          <a:p>
            <a:r>
              <a:rPr lang="en-US" altLang="zh-TW" smtClean="0"/>
              <a:t>2013/1/10</a:t>
            </a:r>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a:t>
            </a:fld>
            <a:endParaRPr lang="zh-TW" altLang="en-US" dirty="0"/>
          </a:p>
        </p:txBody>
      </p:sp>
      <p:sp>
        <p:nvSpPr>
          <p:cNvPr id="6" name="副標題 2"/>
          <p:cNvSpPr txBox="1">
            <a:spLocks/>
          </p:cNvSpPr>
          <p:nvPr/>
        </p:nvSpPr>
        <p:spPr>
          <a:xfrm>
            <a:off x="1259632" y="5649613"/>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err="1" smtClean="0">
                <a:solidFill>
                  <a:schemeClr val="tx1"/>
                </a:solidFill>
              </a:rPr>
              <a:t>Presentor</a:t>
            </a:r>
            <a:r>
              <a:rPr lang="zh-TW" altLang="en-US" sz="2400" dirty="0" smtClean="0">
                <a:solidFill>
                  <a:schemeClr val="tx1"/>
                </a:solidFill>
              </a:rPr>
              <a:t>：</a:t>
            </a:r>
            <a:r>
              <a:rPr lang="en-US" altLang="zh-TW" sz="2400" dirty="0" err="1" smtClean="0">
                <a:solidFill>
                  <a:schemeClr val="tx1"/>
                </a:solidFill>
              </a:rPr>
              <a:t>Hsin-Chuan</a:t>
            </a:r>
            <a:r>
              <a:rPr lang="en-US" altLang="zh-TW" sz="2400" dirty="0" smtClean="0">
                <a:solidFill>
                  <a:schemeClr val="tx1"/>
                </a:solidFill>
              </a:rPr>
              <a:t> Yuan</a:t>
            </a:r>
            <a:endParaRPr lang="zh-TW" altLang="en-US" sz="2400" dirty="0">
              <a:solidFill>
                <a:schemeClr val="tx1"/>
              </a:solidFill>
            </a:endParaRPr>
          </a:p>
        </p:txBody>
      </p:sp>
    </p:spTree>
    <p:extLst>
      <p:ext uri="{BB962C8B-B14F-4D97-AF65-F5344CB8AC3E}">
        <p14:creationId xmlns:p14="http://schemas.microsoft.com/office/powerpoint/2010/main" val="16631364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Content</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2</a:t>
            </a:fld>
            <a:endParaRPr lang="zh-TW" altLang="en-US"/>
          </a:p>
        </p:txBody>
      </p:sp>
      <p:sp>
        <p:nvSpPr>
          <p:cNvPr id="5" name="內容版面配置區 4"/>
          <p:cNvSpPr>
            <a:spLocks noGrp="1"/>
          </p:cNvSpPr>
          <p:nvPr>
            <p:ph sz="quarter" idx="1"/>
          </p:nvPr>
        </p:nvSpPr>
        <p:spPr/>
        <p:txBody>
          <a:bodyPr/>
          <a:lstStyle/>
          <a:p>
            <a:r>
              <a:rPr lang="en-US" altLang="ja-JP" dirty="0"/>
              <a:t>Introduction</a:t>
            </a:r>
            <a:endParaRPr lang="en-US" altLang="zh-TW" dirty="0" smtClean="0"/>
          </a:p>
          <a:p>
            <a:r>
              <a:rPr lang="en-US" altLang="zh-TW" dirty="0" smtClean="0"/>
              <a:t>Music Normalization</a:t>
            </a:r>
          </a:p>
          <a:p>
            <a:r>
              <a:rPr lang="en-US" altLang="zh-TW" dirty="0"/>
              <a:t>Dynamic Time Warping (DTW</a:t>
            </a:r>
            <a:r>
              <a:rPr lang="en-US" altLang="zh-TW" dirty="0" smtClean="0"/>
              <a:t>)</a:t>
            </a:r>
          </a:p>
          <a:p>
            <a:r>
              <a:rPr lang="en-US" altLang="zh-TW" dirty="0" smtClean="0"/>
              <a:t>Constrained </a:t>
            </a:r>
            <a:r>
              <a:rPr lang="en-US" altLang="zh-TW" dirty="0"/>
              <a:t>Dynamic </a:t>
            </a:r>
            <a:r>
              <a:rPr lang="en-US" altLang="zh-TW" dirty="0" smtClean="0"/>
              <a:t>Time Warping </a:t>
            </a:r>
            <a:r>
              <a:rPr lang="en-US" altLang="zh-TW" dirty="0"/>
              <a:t>(</a:t>
            </a:r>
            <a:r>
              <a:rPr lang="en-US" altLang="zh-TW" dirty="0" err="1"/>
              <a:t>cDTW</a:t>
            </a:r>
            <a:r>
              <a:rPr lang="en-US" altLang="zh-TW" dirty="0" smtClean="0"/>
              <a:t>)</a:t>
            </a:r>
          </a:p>
          <a:p>
            <a:r>
              <a:rPr lang="en-US" altLang="zh-TW" dirty="0" smtClean="0"/>
              <a:t>SPRING</a:t>
            </a:r>
          </a:p>
          <a:p>
            <a:r>
              <a:rPr lang="en-US" altLang="zh-TW" dirty="0" smtClean="0"/>
              <a:t>Experimental Evaluation</a:t>
            </a:r>
            <a:endParaRPr lang="zh-TW" altLang="en-US" dirty="0"/>
          </a:p>
        </p:txBody>
      </p:sp>
    </p:spTree>
    <p:extLst>
      <p:ext uri="{BB962C8B-B14F-4D97-AF65-F5344CB8AC3E}">
        <p14:creationId xmlns:p14="http://schemas.microsoft.com/office/powerpoint/2010/main" val="105597503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smtClean="0"/>
              <a:t>Abstract</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3</a:t>
            </a:fld>
            <a:endParaRPr lang="zh-TW" altLang="en-US"/>
          </a:p>
        </p:txBody>
      </p:sp>
      <p:sp>
        <p:nvSpPr>
          <p:cNvPr id="5" name="內容版面配置區 4"/>
          <p:cNvSpPr>
            <a:spLocks noGrp="1"/>
          </p:cNvSpPr>
          <p:nvPr>
            <p:ph sz="quarter" idx="1"/>
          </p:nvPr>
        </p:nvSpPr>
        <p:spPr/>
        <p:txBody>
          <a:bodyPr>
            <a:normAutofit fontScale="92500" lnSpcReduction="20000"/>
          </a:bodyPr>
          <a:lstStyle/>
          <a:p>
            <a:r>
              <a:rPr lang="en-US" altLang="zh-TW" dirty="0">
                <a:latin typeface="Arial" pitchFamily="34" charset="0"/>
                <a:ea typeface="+mj-ea"/>
                <a:cs typeface="Arial" pitchFamily="34" charset="0"/>
              </a:rPr>
              <a:t>We study the performance of three dynamic programming methods on music retrieval. The methods are designed for time series matching but can be directly applied to retrieval of music. Dynamic Time Warping (DTW) identifies an optimal alignment between two time series, and computes the matching cost corresponding to that alignment. Significant speed-ups can be achieved by constrained Dynamic Time Warping (</a:t>
            </a:r>
            <a:r>
              <a:rPr lang="en-US" altLang="zh-TW" dirty="0" err="1">
                <a:latin typeface="Arial" pitchFamily="34" charset="0"/>
                <a:ea typeface="+mj-ea"/>
                <a:cs typeface="Arial" pitchFamily="34" charset="0"/>
              </a:rPr>
              <a:t>cDTW</a:t>
            </a:r>
            <a:r>
              <a:rPr lang="en-US" altLang="zh-TW" dirty="0">
                <a:latin typeface="Arial" pitchFamily="34" charset="0"/>
                <a:ea typeface="+mj-ea"/>
                <a:cs typeface="Arial" pitchFamily="34" charset="0"/>
              </a:rPr>
              <a:t>), which narrows down the set of positions in one time series that can be matched with specific positions in the other time series. Both methods are designed for full sequence matching but can also be applied for subsequence matching, by using a sliding window over each database sequence to compute a matching score for each database subsequence.</a:t>
            </a:r>
            <a:endParaRPr lang="zh-TW" altLang="en-US" dirty="0">
              <a:latin typeface="Arial" pitchFamily="34" charset="0"/>
              <a:ea typeface="+mj-ea"/>
              <a:cs typeface="Arial" pitchFamily="34" charset="0"/>
            </a:endParaRPr>
          </a:p>
        </p:txBody>
      </p:sp>
    </p:spTree>
    <p:extLst>
      <p:ext uri="{BB962C8B-B14F-4D97-AF65-F5344CB8AC3E}">
        <p14:creationId xmlns:p14="http://schemas.microsoft.com/office/powerpoint/2010/main" val="720821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0" dirty="0" smtClean="0"/>
              <a:t>Abstract</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4</a:t>
            </a:fld>
            <a:endParaRPr lang="zh-TW" altLang="en-US"/>
          </a:p>
        </p:txBody>
      </p:sp>
      <p:sp>
        <p:nvSpPr>
          <p:cNvPr id="5" name="內容版面配置區 4"/>
          <p:cNvSpPr>
            <a:spLocks noGrp="1"/>
          </p:cNvSpPr>
          <p:nvPr>
            <p:ph sz="quarter" idx="1"/>
          </p:nvPr>
        </p:nvSpPr>
        <p:spPr/>
        <p:txBody>
          <a:bodyPr>
            <a:normAutofit fontScale="92500" lnSpcReduction="20000"/>
          </a:bodyPr>
          <a:lstStyle/>
          <a:p>
            <a:r>
              <a:rPr lang="en-US" altLang="zh-TW" dirty="0"/>
              <a:t> </a:t>
            </a:r>
            <a:r>
              <a:rPr lang="en-US" altLang="zh-TW" dirty="0">
                <a:latin typeface="Arial" pitchFamily="34" charset="0"/>
                <a:cs typeface="Arial" pitchFamily="34" charset="0"/>
              </a:rPr>
              <a:t>In addition, SPRING is a dynamic programming approach designed for subsequence matching, where the query is matched with a database subsequence without requiring the match length to be equal to the query length. SPRING has a lower computational cost than DTW and </a:t>
            </a:r>
            <a:r>
              <a:rPr lang="en-US" altLang="zh-TW" dirty="0" err="1">
                <a:latin typeface="Arial" pitchFamily="34" charset="0"/>
                <a:cs typeface="Arial" pitchFamily="34" charset="0"/>
              </a:rPr>
              <a:t>cDTW</a:t>
            </a:r>
            <a:r>
              <a:rPr lang="en-US" altLang="zh-TW" dirty="0">
                <a:latin typeface="Arial" pitchFamily="34" charset="0"/>
                <a:cs typeface="Arial" pitchFamily="34" charset="0"/>
              </a:rPr>
              <a:t>. Our database consists of a set of MIDI files taken from the web. Each MIDI file has been converted to a 2-dimensional time series, taking into account both note pitches and durations. We have used synthetic queries of fixed size and different noise levels. Surprisingly, when looking for the top-</a:t>
            </a:r>
            <a:r>
              <a:rPr lang="en-US" altLang="zh-TW" i="1" dirty="0">
                <a:latin typeface="Arial" pitchFamily="34" charset="0"/>
                <a:cs typeface="Arial" pitchFamily="34" charset="0"/>
              </a:rPr>
              <a:t>K</a:t>
            </a:r>
            <a:r>
              <a:rPr lang="en-US" altLang="zh-TW" dirty="0">
                <a:latin typeface="Arial" pitchFamily="34" charset="0"/>
                <a:cs typeface="Arial" pitchFamily="34" charset="0"/>
              </a:rPr>
              <a:t> best matches, all three approaches show similar behavior in terms of retrieval accuracy for small values of </a:t>
            </a:r>
            <a:r>
              <a:rPr lang="en-US" altLang="zh-TW" i="1" dirty="0">
                <a:latin typeface="Arial" pitchFamily="34" charset="0"/>
                <a:cs typeface="Arial" pitchFamily="34" charset="0"/>
              </a:rPr>
              <a:t>K.</a:t>
            </a:r>
            <a:r>
              <a:rPr lang="en-US" altLang="zh-TW" dirty="0">
                <a:latin typeface="Arial" pitchFamily="34" charset="0"/>
                <a:cs typeface="Arial" pitchFamily="34" charset="0"/>
              </a:rPr>
              <a:t> This suggests that for the specific application area, a computationally cheaper method, such as SPRING, is sufficient to retrieve the best top-</a:t>
            </a:r>
            <a:r>
              <a:rPr lang="en-US" altLang="zh-TW" i="1" dirty="0">
                <a:latin typeface="Arial" pitchFamily="34" charset="0"/>
                <a:cs typeface="Arial" pitchFamily="34" charset="0"/>
              </a:rPr>
              <a:t>K</a:t>
            </a:r>
            <a:r>
              <a:rPr lang="en-US" altLang="zh-TW" dirty="0">
                <a:latin typeface="Arial" pitchFamily="34" charset="0"/>
                <a:cs typeface="Arial" pitchFamily="34" charset="0"/>
              </a:rPr>
              <a:t> matches.</a:t>
            </a:r>
            <a:endParaRPr lang="zh-TW" altLang="en-US" dirty="0">
              <a:latin typeface="Arial" pitchFamily="34" charset="0"/>
              <a:cs typeface="Arial" pitchFamily="34" charset="0"/>
            </a:endParaRPr>
          </a:p>
        </p:txBody>
      </p:sp>
    </p:spTree>
    <p:extLst>
      <p:ext uri="{BB962C8B-B14F-4D97-AF65-F5344CB8AC3E}">
        <p14:creationId xmlns:p14="http://schemas.microsoft.com/office/powerpoint/2010/main" val="6039125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ja-JP" dirty="0"/>
              <a:t>Introduction</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5</a:t>
            </a:fld>
            <a:endParaRPr lang="zh-TW" altLang="en-US"/>
          </a:p>
        </p:txBody>
      </p:sp>
      <p:sp>
        <p:nvSpPr>
          <p:cNvPr id="11" name="內容版面配置區 10"/>
          <p:cNvSpPr>
            <a:spLocks noGrp="1"/>
          </p:cNvSpPr>
          <p:nvPr>
            <p:ph sz="quarter" idx="1"/>
          </p:nvPr>
        </p:nvSpPr>
        <p:spPr/>
        <p:txBody>
          <a:bodyPr/>
          <a:lstStyle/>
          <a:p>
            <a:r>
              <a:rPr lang="en-US" altLang="zh-TW" dirty="0"/>
              <a:t>We study the </a:t>
            </a:r>
            <a:r>
              <a:rPr lang="en-US" altLang="zh-TW" dirty="0">
                <a:solidFill>
                  <a:srgbClr val="C00000"/>
                </a:solidFill>
              </a:rPr>
              <a:t>performance </a:t>
            </a:r>
            <a:r>
              <a:rPr lang="en-US" altLang="zh-TW" dirty="0"/>
              <a:t>of three </a:t>
            </a:r>
            <a:r>
              <a:rPr lang="en-US" altLang="zh-TW" dirty="0">
                <a:solidFill>
                  <a:srgbClr val="C00000"/>
                </a:solidFill>
              </a:rPr>
              <a:t>dynamic</a:t>
            </a:r>
            <a:r>
              <a:rPr lang="en-US" altLang="zh-TW" dirty="0">
                <a:solidFill>
                  <a:srgbClr val="FF0000"/>
                </a:solidFill>
              </a:rPr>
              <a:t> </a:t>
            </a:r>
            <a:r>
              <a:rPr lang="en-US" altLang="zh-TW" dirty="0" smtClean="0">
                <a:solidFill>
                  <a:srgbClr val="C00000"/>
                </a:solidFill>
              </a:rPr>
              <a:t>programming </a:t>
            </a:r>
            <a:r>
              <a:rPr lang="en-US" altLang="zh-TW" dirty="0" smtClean="0"/>
              <a:t>methods </a:t>
            </a:r>
            <a:r>
              <a:rPr lang="en-US" altLang="zh-TW" dirty="0"/>
              <a:t>on music retrieval</a:t>
            </a:r>
            <a:r>
              <a:rPr lang="en-US" altLang="zh-TW" dirty="0" smtClean="0"/>
              <a:t>.</a:t>
            </a:r>
          </a:p>
          <a:p>
            <a:pPr lvl="1"/>
            <a:r>
              <a:rPr lang="en-US" altLang="zh-TW" dirty="0" smtClean="0"/>
              <a:t>DTW with Sliding Window</a:t>
            </a:r>
          </a:p>
          <a:p>
            <a:pPr lvl="1"/>
            <a:r>
              <a:rPr lang="en-US" altLang="zh-TW" dirty="0" err="1" smtClean="0"/>
              <a:t>cDTW</a:t>
            </a:r>
            <a:r>
              <a:rPr lang="en-US" altLang="zh-TW" dirty="0" smtClean="0"/>
              <a:t> </a:t>
            </a:r>
            <a:r>
              <a:rPr lang="en-US" altLang="zh-TW" dirty="0"/>
              <a:t>with Sliding </a:t>
            </a:r>
            <a:r>
              <a:rPr lang="en-US" altLang="zh-TW" dirty="0" smtClean="0"/>
              <a:t>Window</a:t>
            </a:r>
          </a:p>
          <a:p>
            <a:pPr lvl="1"/>
            <a:r>
              <a:rPr lang="en-US" altLang="zh-TW" dirty="0"/>
              <a:t>SPRING</a:t>
            </a:r>
          </a:p>
          <a:p>
            <a:r>
              <a:rPr lang="en-US" altLang="zh-TW" dirty="0" smtClean="0"/>
              <a:t>First, </a:t>
            </a:r>
            <a:r>
              <a:rPr lang="en-US" altLang="zh-TW" dirty="0"/>
              <a:t>we should </a:t>
            </a:r>
            <a:r>
              <a:rPr lang="en-US" altLang="zh-TW" dirty="0" smtClean="0">
                <a:solidFill>
                  <a:srgbClr val="C00000"/>
                </a:solidFill>
              </a:rPr>
              <a:t>transformed the audio </a:t>
            </a:r>
            <a:r>
              <a:rPr lang="en-US" altLang="zh-TW" dirty="0">
                <a:solidFill>
                  <a:srgbClr val="C00000"/>
                </a:solidFill>
              </a:rPr>
              <a:t>to a </a:t>
            </a:r>
            <a:r>
              <a:rPr lang="en-US" altLang="zh-TW" dirty="0" smtClean="0">
                <a:solidFill>
                  <a:srgbClr val="C00000"/>
                </a:solidFill>
              </a:rPr>
              <a:t/>
            </a:r>
            <a:br>
              <a:rPr lang="en-US" altLang="zh-TW" dirty="0" smtClean="0">
                <a:solidFill>
                  <a:srgbClr val="C00000"/>
                </a:solidFill>
              </a:rPr>
            </a:br>
            <a:r>
              <a:rPr lang="en-US" altLang="zh-TW" dirty="0" smtClean="0">
                <a:solidFill>
                  <a:srgbClr val="C00000"/>
                </a:solidFill>
              </a:rPr>
              <a:t>2-dimensional </a:t>
            </a:r>
            <a:r>
              <a:rPr lang="en-US" altLang="zh-TW" dirty="0">
                <a:solidFill>
                  <a:srgbClr val="C00000"/>
                </a:solidFill>
              </a:rPr>
              <a:t>time </a:t>
            </a:r>
            <a:r>
              <a:rPr lang="en-US" altLang="zh-TW" dirty="0" smtClean="0">
                <a:solidFill>
                  <a:srgbClr val="C00000"/>
                </a:solidFill>
              </a:rPr>
              <a:t>series</a:t>
            </a:r>
            <a:r>
              <a:rPr lang="en-US" altLang="zh-TW" dirty="0" smtClean="0"/>
              <a:t>.</a:t>
            </a:r>
          </a:p>
          <a:p>
            <a:r>
              <a:rPr lang="en-US" altLang="zh-TW" dirty="0" smtClean="0"/>
              <a:t>Then, </a:t>
            </a:r>
            <a:r>
              <a:rPr lang="en-US" altLang="zh-TW" dirty="0"/>
              <a:t>evaluated the performance of DTW, </a:t>
            </a:r>
            <a:r>
              <a:rPr lang="en-US" altLang="zh-TW" dirty="0" err="1"/>
              <a:t>cDTW</a:t>
            </a:r>
            <a:r>
              <a:rPr lang="en-US" altLang="zh-TW" dirty="0"/>
              <a:t>, and </a:t>
            </a:r>
            <a:r>
              <a:rPr lang="en-US" altLang="zh-TW" dirty="0" smtClean="0"/>
              <a:t>SPRING on </a:t>
            </a:r>
            <a:r>
              <a:rPr lang="en-US" altLang="zh-TW" dirty="0"/>
              <a:t>real music data.</a:t>
            </a:r>
            <a:endParaRPr lang="en-US" altLang="zh-TW" dirty="0" smtClean="0"/>
          </a:p>
          <a:p>
            <a:endParaRPr lang="en-US" altLang="zh-TW" dirty="0" smtClean="0"/>
          </a:p>
          <a:p>
            <a:endParaRPr lang="zh-TW" altLang="en-US" dirty="0"/>
          </a:p>
        </p:txBody>
      </p:sp>
    </p:spTree>
    <p:extLst>
      <p:ext uri="{BB962C8B-B14F-4D97-AF65-F5344CB8AC3E}">
        <p14:creationId xmlns:p14="http://schemas.microsoft.com/office/powerpoint/2010/main" val="8173382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Music Normalization</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6</a:t>
            </a:fld>
            <a:endParaRPr lang="zh-TW" altLang="en-US"/>
          </a:p>
        </p:txBody>
      </p:sp>
      <p:sp>
        <p:nvSpPr>
          <p:cNvPr id="11" name="內容版面配置區 10"/>
          <p:cNvSpPr>
            <a:spLocks noGrp="1"/>
          </p:cNvSpPr>
          <p:nvPr>
            <p:ph sz="quarter" idx="1"/>
          </p:nvPr>
        </p:nvSpPr>
        <p:spPr/>
        <p:txBody>
          <a:bodyPr/>
          <a:lstStyle/>
          <a:p>
            <a:r>
              <a:rPr lang="en-US" altLang="zh-TW" dirty="0" smtClean="0"/>
              <a:t>Music piece	</a:t>
            </a:r>
            <a:r>
              <a:rPr lang="it-IT" altLang="zh-TW" dirty="0" smtClean="0"/>
              <a:t>X = { (p</a:t>
            </a:r>
            <a:r>
              <a:rPr lang="it-IT" altLang="zh-TW" baseline="-25000" dirty="0" smtClean="0"/>
              <a:t>i</a:t>
            </a:r>
            <a:r>
              <a:rPr lang="it-IT" altLang="zh-TW" dirty="0" smtClean="0"/>
              <a:t>, </a:t>
            </a:r>
            <a:r>
              <a:rPr lang="it-IT" altLang="zh-TW" dirty="0"/>
              <a:t>d</a:t>
            </a:r>
            <a:r>
              <a:rPr lang="it-IT" altLang="zh-TW" baseline="-25000" dirty="0"/>
              <a:t>i</a:t>
            </a:r>
            <a:r>
              <a:rPr lang="it-IT" altLang="zh-TW" dirty="0" smtClean="0"/>
              <a:t>), </a:t>
            </a:r>
            <a:r>
              <a:rPr lang="it-IT" altLang="zh-TW" dirty="0"/>
              <a:t>i = </a:t>
            </a:r>
            <a:r>
              <a:rPr lang="it-IT" altLang="zh-TW" dirty="0" smtClean="0"/>
              <a:t>1,...,|X| }</a:t>
            </a:r>
            <a:endParaRPr lang="en-US" altLang="zh-TW" dirty="0" smtClean="0"/>
          </a:p>
          <a:p>
            <a:r>
              <a:rPr lang="en-US" altLang="zh-TW" dirty="0" smtClean="0"/>
              <a:t>Query		Q = </a:t>
            </a:r>
            <a:r>
              <a:rPr lang="it-IT" altLang="zh-TW" dirty="0" smtClean="0"/>
              <a:t>{ (p</a:t>
            </a:r>
            <a:r>
              <a:rPr lang="it-IT" altLang="zh-TW" baseline="-25000" dirty="0" smtClean="0"/>
              <a:t>j</a:t>
            </a:r>
            <a:r>
              <a:rPr lang="it-IT" altLang="zh-TW" dirty="0" smtClean="0"/>
              <a:t>, d</a:t>
            </a:r>
            <a:r>
              <a:rPr lang="it-IT" altLang="zh-TW" baseline="-25000" dirty="0" smtClean="0"/>
              <a:t>j</a:t>
            </a:r>
            <a:r>
              <a:rPr lang="it-IT" altLang="zh-TW" dirty="0" smtClean="0"/>
              <a:t>), j = 1,...,|Q| }</a:t>
            </a:r>
          </a:p>
          <a:p>
            <a:r>
              <a:rPr lang="it-IT" altLang="zh-TW" dirty="0" smtClean="0"/>
              <a:t>Pitch</a:t>
            </a:r>
            <a:r>
              <a:rPr lang="zh-TW" altLang="en-US" dirty="0" smtClean="0"/>
              <a:t> → </a:t>
            </a:r>
            <a:r>
              <a:rPr lang="en-US" altLang="zh-TW" dirty="0"/>
              <a:t>Relative </a:t>
            </a:r>
            <a:r>
              <a:rPr lang="en-US" altLang="zh-TW" dirty="0" smtClean="0"/>
              <a:t>Pitch</a:t>
            </a:r>
            <a:r>
              <a:rPr lang="en-US" altLang="zh-TW" dirty="0"/>
              <a:t>(RP)</a:t>
            </a:r>
            <a:endParaRPr lang="en-US" altLang="zh-TW" dirty="0" smtClean="0"/>
          </a:p>
          <a:p>
            <a:r>
              <a:rPr lang="it-IT" altLang="zh-TW" dirty="0" smtClean="0"/>
              <a:t>Duration</a:t>
            </a:r>
            <a:r>
              <a:rPr lang="zh-TW" altLang="en-US" dirty="0" smtClean="0"/>
              <a:t> → </a:t>
            </a:r>
            <a:r>
              <a:rPr lang="en-US" altLang="zh-TW" dirty="0"/>
              <a:t>Duration </a:t>
            </a:r>
            <a:r>
              <a:rPr lang="en-US" altLang="zh-TW" dirty="0" smtClean="0"/>
              <a:t>Ratio(DR)</a:t>
            </a:r>
            <a:endParaRPr lang="it-IT" altLang="zh-TW" dirty="0"/>
          </a:p>
          <a:p>
            <a:endParaRPr lang="it-IT" altLang="zh-TW" dirty="0" smtClean="0"/>
          </a:p>
          <a:p>
            <a:endParaRPr lang="en-US" altLang="zh-TW" dirty="0"/>
          </a:p>
        </p:txBody>
      </p:sp>
      <p:pic>
        <p:nvPicPr>
          <p:cNvPr id="2052"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5976" y="3452427"/>
            <a:ext cx="4644008" cy="3415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4"/>
          <p:cNvPicPr>
            <a:picLocks noChangeAspect="1" noChangeArrowheads="1"/>
          </p:cNvPicPr>
          <p:nvPr/>
        </p:nvPicPr>
        <p:blipFill rotWithShape="1">
          <a:blip r:embed="rId2">
            <a:duotone>
              <a:prstClr val="black"/>
              <a:schemeClr val="accent2">
                <a:tint val="45000"/>
                <a:satMod val="400000"/>
              </a:schemeClr>
            </a:duotone>
            <a:extLst>
              <a:ext uri="{28A0092B-C50C-407E-A947-70E740481C1C}">
                <a14:useLocalDpi xmlns:a14="http://schemas.microsoft.com/office/drawing/2010/main" val="0"/>
              </a:ext>
            </a:extLst>
          </a:blip>
          <a:srcRect l="40255" t="1" r="21292" b="59445"/>
          <a:stretch/>
        </p:blipFill>
        <p:spPr bwMode="auto">
          <a:xfrm>
            <a:off x="6372200" y="3452427"/>
            <a:ext cx="1785770" cy="1385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文字方塊 4"/>
          <p:cNvSpPr txBox="1"/>
          <p:nvPr/>
        </p:nvSpPr>
        <p:spPr>
          <a:xfrm>
            <a:off x="6100152" y="3047288"/>
            <a:ext cx="720080" cy="646331"/>
          </a:xfrm>
          <a:prstGeom prst="rect">
            <a:avLst/>
          </a:prstGeom>
          <a:noFill/>
        </p:spPr>
        <p:txBody>
          <a:bodyPr wrap="square" rtlCol="0">
            <a:spAutoFit/>
          </a:bodyPr>
          <a:lstStyle/>
          <a:p>
            <a:r>
              <a:rPr lang="en-US" altLang="zh-TW" sz="3600" dirty="0" smtClean="0">
                <a:solidFill>
                  <a:srgbClr val="C00000"/>
                </a:solidFill>
              </a:rPr>
              <a:t>Q</a:t>
            </a:r>
            <a:endParaRPr lang="zh-TW" altLang="en-US" sz="3600" dirty="0">
              <a:solidFill>
                <a:srgbClr val="C00000"/>
              </a:solidFill>
            </a:endParaRPr>
          </a:p>
        </p:txBody>
      </p:sp>
      <p:sp>
        <p:nvSpPr>
          <p:cNvPr id="12" name="文字方塊 11"/>
          <p:cNvSpPr txBox="1"/>
          <p:nvPr/>
        </p:nvSpPr>
        <p:spPr>
          <a:xfrm>
            <a:off x="4371960" y="3045547"/>
            <a:ext cx="720080" cy="646331"/>
          </a:xfrm>
          <a:prstGeom prst="rect">
            <a:avLst/>
          </a:prstGeom>
          <a:noFill/>
        </p:spPr>
        <p:txBody>
          <a:bodyPr wrap="square" rtlCol="0">
            <a:spAutoFit/>
          </a:bodyPr>
          <a:lstStyle/>
          <a:p>
            <a:r>
              <a:rPr lang="en-US" altLang="zh-TW" sz="3600" dirty="0" smtClean="0">
                <a:solidFill>
                  <a:srgbClr val="C00000"/>
                </a:solidFill>
              </a:rPr>
              <a:t>X</a:t>
            </a:r>
            <a:endParaRPr lang="zh-TW" altLang="en-US" sz="3600" dirty="0">
              <a:solidFill>
                <a:srgbClr val="C00000"/>
              </a:solidFill>
            </a:endParaRPr>
          </a:p>
        </p:txBody>
      </p:sp>
    </p:spTree>
    <p:extLst>
      <p:ext uri="{BB962C8B-B14F-4D97-AF65-F5344CB8AC3E}">
        <p14:creationId xmlns:p14="http://schemas.microsoft.com/office/powerpoint/2010/main" val="820220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9" name="Picture 4" descr="http://rsif.royalsocietypublishing.org/content/4/13/207/F11.large.jpg"/>
          <p:cNvPicPr>
            <a:picLocks noChangeAspect="1" noChangeArrowheads="1"/>
          </p:cNvPicPr>
          <p:nvPr/>
        </p:nvPicPr>
        <p:blipFill rotWithShape="1">
          <a:blip r:embed="rId3">
            <a:extLst>
              <a:ext uri="{BEBA8EAE-BF5A-486C-A8C5-ECC9F3942E4B}">
                <a14:imgProps xmlns:a14="http://schemas.microsoft.com/office/drawing/2010/main">
                  <a14:imgLayer r:embed="rId4">
                    <a14:imgEffect>
                      <a14:saturation sat="50000"/>
                    </a14:imgEffect>
                  </a14:imgLayer>
                </a14:imgProps>
              </a:ext>
              <a:ext uri="{28A0092B-C50C-407E-A947-70E740481C1C}">
                <a14:useLocalDpi xmlns:a14="http://schemas.microsoft.com/office/drawing/2010/main" val="0"/>
              </a:ext>
            </a:extLst>
          </a:blip>
          <a:srcRect t="43278" r="53176" b="13444"/>
          <a:stretch/>
        </p:blipFill>
        <p:spPr bwMode="auto">
          <a:xfrm>
            <a:off x="6300193" y="-27384"/>
            <a:ext cx="2872780" cy="1474366"/>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p:cNvSpPr>
            <a:spLocks noGrp="1"/>
          </p:cNvSpPr>
          <p:nvPr>
            <p:ph type="title"/>
          </p:nvPr>
        </p:nvSpPr>
        <p:spPr/>
        <p:txBody>
          <a:bodyPr>
            <a:normAutofit/>
          </a:bodyPr>
          <a:lstStyle/>
          <a:p>
            <a:r>
              <a:rPr lang="en-US" altLang="zh-TW" dirty="0"/>
              <a:t>Dynamic Time Warping (DTW</a:t>
            </a:r>
            <a:r>
              <a:rPr lang="en-US" altLang="zh-TW" dirty="0" smtClean="0"/>
              <a:t>)</a:t>
            </a:r>
            <a:r>
              <a:rPr lang="en-US" altLang="zh-TW" b="0" dirty="0"/>
              <a:t> </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7</a:t>
            </a:fld>
            <a:endParaRPr lang="zh-TW" altLang="en-US" dirty="0"/>
          </a:p>
        </p:txBody>
      </p:sp>
      <p:sp>
        <p:nvSpPr>
          <p:cNvPr id="5" name="內容版面配置區 4"/>
          <p:cNvSpPr>
            <a:spLocks noGrp="1"/>
          </p:cNvSpPr>
          <p:nvPr>
            <p:ph sz="quarter" idx="1"/>
          </p:nvPr>
        </p:nvSpPr>
        <p:spPr>
          <a:xfrm>
            <a:off x="0" y="1219200"/>
            <a:ext cx="9144000" cy="1273696"/>
          </a:xfrm>
        </p:spPr>
        <p:txBody>
          <a:bodyPr>
            <a:normAutofit/>
          </a:bodyPr>
          <a:lstStyle/>
          <a:p>
            <a:pPr>
              <a:lnSpc>
                <a:spcPct val="90000"/>
              </a:lnSpc>
            </a:pPr>
            <a:r>
              <a:rPr lang="en-US" altLang="ja-JP" dirty="0"/>
              <a:t>DTW is computed by dynamic programming</a:t>
            </a:r>
            <a:endParaRPr lang="ja-JP" altLang="en-US" dirty="0"/>
          </a:p>
          <a:p>
            <a:pPr lvl="1">
              <a:lnSpc>
                <a:spcPct val="90000"/>
              </a:lnSpc>
            </a:pPr>
            <a:r>
              <a:rPr lang="en-US" altLang="ja-JP" sz="2200" dirty="0"/>
              <a:t>Stretch sequences along the time axis to minimize the distance</a:t>
            </a:r>
          </a:p>
          <a:p>
            <a:pPr lvl="1">
              <a:lnSpc>
                <a:spcPct val="90000"/>
              </a:lnSpc>
            </a:pPr>
            <a:r>
              <a:rPr lang="en-US" altLang="ja-JP" sz="2200" dirty="0"/>
              <a:t>Warping path: set of grid cells in the time warping matrix</a:t>
            </a:r>
          </a:p>
          <a:p>
            <a:endParaRPr lang="zh-TW" altLang="en-US" dirty="0"/>
          </a:p>
        </p:txBody>
      </p:sp>
      <p:sp>
        <p:nvSpPr>
          <p:cNvPr id="37" name="Text Box 206"/>
          <p:cNvSpPr txBox="1">
            <a:spLocks noChangeArrowheads="1"/>
          </p:cNvSpPr>
          <p:nvPr/>
        </p:nvSpPr>
        <p:spPr bwMode="auto">
          <a:xfrm>
            <a:off x="4516993" y="6525344"/>
            <a:ext cx="47355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defPPr>
              <a:defRPr lang="en-US"/>
            </a:defPPr>
            <a:lvl1pPr algn="l" rtl="0" fontAlgn="base">
              <a:spcBef>
                <a:spcPct val="0"/>
              </a:spcBef>
              <a:spcAft>
                <a:spcPct val="0"/>
              </a:spcAft>
              <a:defRPr kumimoji="1" sz="1600" b="1" kern="1200">
                <a:solidFill>
                  <a:schemeClr val="tx1"/>
                </a:solidFill>
                <a:latin typeface="Arial" charset="0"/>
                <a:ea typeface="ＭＳ Ｐゴシック" pitchFamily="50" charset="-128"/>
                <a:cs typeface="+mn-cs"/>
              </a:defRPr>
            </a:lvl1pPr>
            <a:lvl2pPr marL="457200" algn="l" rtl="0" fontAlgn="base">
              <a:spcBef>
                <a:spcPct val="0"/>
              </a:spcBef>
              <a:spcAft>
                <a:spcPct val="0"/>
              </a:spcAft>
              <a:defRPr kumimoji="1" sz="1600" b="1" kern="1200">
                <a:solidFill>
                  <a:schemeClr val="tx1"/>
                </a:solidFill>
                <a:latin typeface="Arial" charset="0"/>
                <a:ea typeface="ＭＳ Ｐゴシック" pitchFamily="50" charset="-128"/>
                <a:cs typeface="+mn-cs"/>
              </a:defRPr>
            </a:lvl2pPr>
            <a:lvl3pPr marL="914400" algn="l" rtl="0" fontAlgn="base">
              <a:spcBef>
                <a:spcPct val="0"/>
              </a:spcBef>
              <a:spcAft>
                <a:spcPct val="0"/>
              </a:spcAft>
              <a:defRPr kumimoji="1" sz="1600" b="1" kern="1200">
                <a:solidFill>
                  <a:schemeClr val="tx1"/>
                </a:solidFill>
                <a:latin typeface="Arial" charset="0"/>
                <a:ea typeface="ＭＳ Ｐゴシック" pitchFamily="50" charset="-128"/>
                <a:cs typeface="+mn-cs"/>
              </a:defRPr>
            </a:lvl3pPr>
            <a:lvl4pPr marL="1371600" algn="l" rtl="0" fontAlgn="base">
              <a:spcBef>
                <a:spcPct val="0"/>
              </a:spcBef>
              <a:spcAft>
                <a:spcPct val="0"/>
              </a:spcAft>
              <a:defRPr kumimoji="1" sz="1600" b="1" kern="1200">
                <a:solidFill>
                  <a:schemeClr val="tx1"/>
                </a:solidFill>
                <a:latin typeface="Arial" charset="0"/>
                <a:ea typeface="ＭＳ Ｐゴシック" pitchFamily="50" charset="-128"/>
                <a:cs typeface="+mn-cs"/>
              </a:defRPr>
            </a:lvl4pPr>
            <a:lvl5pPr marL="1828800" algn="l" rtl="0" fontAlgn="base">
              <a:spcBef>
                <a:spcPct val="0"/>
              </a:spcBef>
              <a:spcAft>
                <a:spcPct val="0"/>
              </a:spcAft>
              <a:defRPr kumimoji="1" sz="1600" b="1" kern="1200">
                <a:solidFill>
                  <a:schemeClr val="tx1"/>
                </a:solidFill>
                <a:latin typeface="Arial" charset="0"/>
                <a:ea typeface="ＭＳ Ｐゴシック" pitchFamily="50" charset="-128"/>
                <a:cs typeface="+mn-cs"/>
              </a:defRPr>
            </a:lvl5pPr>
            <a:lvl6pPr marL="2286000" algn="l" defTabSz="914400" rtl="0" eaLnBrk="1" latinLnBrk="0" hangingPunct="1">
              <a:defRPr kumimoji="1" sz="1600" b="1" kern="1200">
                <a:solidFill>
                  <a:schemeClr val="tx1"/>
                </a:solidFill>
                <a:latin typeface="Arial" charset="0"/>
                <a:ea typeface="ＭＳ Ｐゴシック" pitchFamily="50" charset="-128"/>
                <a:cs typeface="+mn-cs"/>
              </a:defRPr>
            </a:lvl6pPr>
            <a:lvl7pPr marL="2743200" algn="l" defTabSz="914400" rtl="0" eaLnBrk="1" latinLnBrk="0" hangingPunct="1">
              <a:defRPr kumimoji="1" sz="1600" b="1" kern="1200">
                <a:solidFill>
                  <a:schemeClr val="tx1"/>
                </a:solidFill>
                <a:latin typeface="Arial" charset="0"/>
                <a:ea typeface="ＭＳ Ｐゴシック" pitchFamily="50" charset="-128"/>
                <a:cs typeface="+mn-cs"/>
              </a:defRPr>
            </a:lvl7pPr>
            <a:lvl8pPr marL="3200400" algn="l" defTabSz="914400" rtl="0" eaLnBrk="1" latinLnBrk="0" hangingPunct="1">
              <a:defRPr kumimoji="1" sz="1600" b="1" kern="1200">
                <a:solidFill>
                  <a:schemeClr val="tx1"/>
                </a:solidFill>
                <a:latin typeface="Arial" charset="0"/>
                <a:ea typeface="ＭＳ Ｐゴシック" pitchFamily="50" charset="-128"/>
                <a:cs typeface="+mn-cs"/>
              </a:defRPr>
            </a:lvl8pPr>
            <a:lvl9pPr marL="3657600" algn="l" defTabSz="914400" rtl="0" eaLnBrk="1" latinLnBrk="0" hangingPunct="1">
              <a:defRPr kumimoji="1" sz="1600" b="1" kern="1200">
                <a:solidFill>
                  <a:schemeClr val="tx1"/>
                </a:solidFill>
                <a:latin typeface="Arial" charset="0"/>
                <a:ea typeface="ＭＳ Ｐゴシック" pitchFamily="50" charset="-128"/>
                <a:cs typeface="+mn-cs"/>
              </a:defRPr>
            </a:lvl9pPr>
          </a:lstStyle>
          <a:p>
            <a:r>
              <a:rPr lang="en-US" altLang="ja-JP" sz="1800" b="0" dirty="0">
                <a:latin typeface="+mj-ea"/>
                <a:ea typeface="+mj-ea"/>
              </a:rPr>
              <a:t>Optimal warping </a:t>
            </a:r>
            <a:r>
              <a:rPr lang="en-US" altLang="ja-JP" sz="1800" b="0" dirty="0" smtClean="0">
                <a:latin typeface="+mj-ea"/>
                <a:ea typeface="+mj-ea"/>
              </a:rPr>
              <a:t>path(the </a:t>
            </a:r>
            <a:r>
              <a:rPr lang="en-US" altLang="ja-JP" sz="1800" b="0" dirty="0">
                <a:latin typeface="+mj-ea"/>
                <a:ea typeface="+mj-ea"/>
              </a:rPr>
              <a:t>best alignment)</a:t>
            </a:r>
          </a:p>
        </p:txBody>
      </p:sp>
      <p:sp>
        <p:nvSpPr>
          <p:cNvPr id="201" name="矩形 200"/>
          <p:cNvSpPr/>
          <p:nvPr/>
        </p:nvSpPr>
        <p:spPr>
          <a:xfrm>
            <a:off x="3222" y="5471692"/>
            <a:ext cx="3183051" cy="461665"/>
          </a:xfrm>
          <a:prstGeom prst="rect">
            <a:avLst/>
          </a:prstGeom>
        </p:spPr>
        <p:txBody>
          <a:bodyPr wrap="none">
            <a:spAutoFit/>
          </a:bodyPr>
          <a:lstStyle/>
          <a:p>
            <a:r>
              <a:rPr lang="en-US" altLang="zh-TW" sz="2400" dirty="0"/>
              <a:t>Time </a:t>
            </a:r>
            <a:r>
              <a:rPr lang="en-US" altLang="zh-TW" sz="2400" dirty="0" smtClean="0"/>
              <a:t>complexity:</a:t>
            </a:r>
            <a:r>
              <a:rPr lang="zh-TW" altLang="en-US" sz="2400" dirty="0" smtClean="0"/>
              <a:t> </a:t>
            </a:r>
            <a:r>
              <a:rPr lang="en-US" altLang="zh-TW" sz="2400" dirty="0" smtClean="0"/>
              <a:t>O(</a:t>
            </a:r>
            <a:r>
              <a:rPr lang="en-US" altLang="zh-TW" sz="2400" dirty="0" err="1" smtClean="0"/>
              <a:t>mn</a:t>
            </a:r>
            <a:r>
              <a:rPr lang="en-US" altLang="zh-TW" sz="2400" dirty="0" smtClean="0"/>
              <a:t>)</a:t>
            </a:r>
            <a:endParaRPr lang="en-US" altLang="zh-TW" sz="2400" dirty="0"/>
          </a:p>
        </p:txBody>
      </p:sp>
      <p:grpSp>
        <p:nvGrpSpPr>
          <p:cNvPr id="244" name="群組 243"/>
          <p:cNvGrpSpPr/>
          <p:nvPr/>
        </p:nvGrpSpPr>
        <p:grpSpPr>
          <a:xfrm>
            <a:off x="5586268" y="3530124"/>
            <a:ext cx="3590051" cy="3067228"/>
            <a:chOff x="5586268" y="3530124"/>
            <a:chExt cx="3590051" cy="3067228"/>
          </a:xfrm>
        </p:grpSpPr>
        <p:grpSp>
          <p:nvGrpSpPr>
            <p:cNvPr id="236" name="群組 235"/>
            <p:cNvGrpSpPr/>
            <p:nvPr/>
          </p:nvGrpSpPr>
          <p:grpSpPr>
            <a:xfrm>
              <a:off x="5586268" y="3530124"/>
              <a:ext cx="3590051" cy="3067228"/>
              <a:chOff x="5586268" y="3530124"/>
              <a:chExt cx="3590051" cy="3067228"/>
            </a:xfrm>
          </p:grpSpPr>
          <p:pic>
            <p:nvPicPr>
              <p:cNvPr id="237" name="Picture 2" descr="Full-size image (40 K)"/>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100000" l="0" r="100000">
                            <a14:foregroundMark x1="10680" y1="4167" x2="10032" y2="93561"/>
                            <a14:foregroundMark x1="5178" y1="93939" x2="93851" y2="97727"/>
                            <a14:foregroundMark x1="5502" y1="6818" x2="5502" y2="89773"/>
                            <a14:foregroundMark x1="12945" y1="3030" x2="99353" y2="3030"/>
                            <a14:foregroundMark x1="95793" y1="2652" x2="95469" y2="99621"/>
                            <a14:foregroundMark x1="93528" y1="14015" x2="16828" y2="12500"/>
                            <a14:foregroundMark x1="7767" y1="30303" x2="95146" y2="26136"/>
                            <a14:foregroundMark x1="95469" y1="42045" x2="7120" y2="37879"/>
                            <a14:foregroundMark x1="8091" y1="56061" x2="96117" y2="54545"/>
                            <a14:foregroundMark x1="93528" y1="70455" x2="5178" y2="60985"/>
                            <a14:foregroundMark x1="8091" y1="79545" x2="94498" y2="82197"/>
                            <a14:backgroundMark x1="47249" y1="60227" x2="47249" y2="60227"/>
                            <a14:backgroundMark x1="48220" y1="58712" x2="48220" y2="58712"/>
                            <a14:backgroundMark x1="59223" y1="45833" x2="59223" y2="45833"/>
                            <a14:backgroundMark x1="70550" y1="31439" x2="70550" y2="31439"/>
                            <a14:backgroundMark x1="81877" y1="16667" x2="81877" y2="16667"/>
                            <a14:backgroundMark x1="37864" y1="68561" x2="37864" y2="68561"/>
                            <a14:backgroundMark x1="36893" y1="67803" x2="36893" y2="67803"/>
                            <a14:backgroundMark x1="36570" y1="68939" x2="36570" y2="68939"/>
                            <a14:backgroundMark x1="35922" y1="66667" x2="35922" y2="66667"/>
                            <a14:backgroundMark x1="36246" y1="70076" x2="36246" y2="70076"/>
                          </a14:backgroundRemoval>
                        </a14:imgEffect>
                      </a14:imgLayer>
                    </a14:imgProps>
                  </a:ext>
                  <a:ext uri="{28A0092B-C50C-407E-A947-70E740481C1C}">
                    <a14:useLocalDpi xmlns:a14="http://schemas.microsoft.com/office/drawing/2010/main" val="0"/>
                  </a:ext>
                </a:extLst>
              </a:blip>
              <a:srcRect/>
              <a:stretch>
                <a:fillRect/>
              </a:stretch>
            </p:blipFill>
            <p:spPr bwMode="auto">
              <a:xfrm>
                <a:off x="5586268" y="3530124"/>
                <a:ext cx="3590051" cy="3067228"/>
              </a:xfrm>
              <a:prstGeom prst="rect">
                <a:avLst/>
              </a:prstGeom>
              <a:noFill/>
              <a:extLst>
                <a:ext uri="{909E8E84-426E-40DD-AFC4-6F175D3DCCD1}">
                  <a14:hiddenFill xmlns:a14="http://schemas.microsoft.com/office/drawing/2010/main">
                    <a:solidFill>
                      <a:srgbClr val="FFFFFF"/>
                    </a:solidFill>
                  </a14:hiddenFill>
                </a:ext>
              </a:extLst>
            </p:spPr>
          </p:pic>
          <p:sp>
            <p:nvSpPr>
              <p:cNvPr id="204" name="矩形 203"/>
              <p:cNvSpPr/>
              <p:nvPr/>
            </p:nvSpPr>
            <p:spPr>
              <a:xfrm>
                <a:off x="6851626" y="5550914"/>
                <a:ext cx="104282" cy="162446"/>
              </a:xfrm>
              <a:prstGeom prst="rect">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40" name="矩形 239"/>
              <p:cNvSpPr/>
              <p:nvPr/>
            </p:nvSpPr>
            <p:spPr>
              <a:xfrm>
                <a:off x="7233449" y="5225663"/>
                <a:ext cx="147844" cy="162446"/>
              </a:xfrm>
              <a:prstGeom prst="rect">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41" name="矩形 240"/>
              <p:cNvSpPr/>
              <p:nvPr/>
            </p:nvSpPr>
            <p:spPr>
              <a:xfrm>
                <a:off x="7654349" y="4797152"/>
                <a:ext cx="104282" cy="162446"/>
              </a:xfrm>
              <a:prstGeom prst="rect">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42" name="矩形 241"/>
              <p:cNvSpPr/>
              <p:nvPr/>
            </p:nvSpPr>
            <p:spPr>
              <a:xfrm>
                <a:off x="8069053" y="4365104"/>
                <a:ext cx="104282" cy="162446"/>
              </a:xfrm>
              <a:prstGeom prst="rect">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sp>
            <p:nvSpPr>
              <p:cNvPr id="243" name="矩形 242"/>
              <p:cNvSpPr/>
              <p:nvPr/>
            </p:nvSpPr>
            <p:spPr>
              <a:xfrm>
                <a:off x="8477782" y="3937819"/>
                <a:ext cx="104282" cy="162446"/>
              </a:xfrm>
              <a:prstGeom prst="rect">
                <a:avLst/>
              </a:prstGeom>
              <a:solidFill>
                <a:srgbClr val="FF000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zh-TW" altLang="en-US"/>
              </a:p>
            </p:txBody>
          </p:sp>
        </p:grpSp>
        <p:sp>
          <p:nvSpPr>
            <p:cNvPr id="239" name="矩形 238"/>
            <p:cNvSpPr/>
            <p:nvPr/>
          </p:nvSpPr>
          <p:spPr>
            <a:xfrm>
              <a:off x="5586268" y="4797152"/>
              <a:ext cx="209868" cy="1624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46" name="矩形 245"/>
            <p:cNvSpPr/>
            <p:nvPr/>
          </p:nvSpPr>
          <p:spPr>
            <a:xfrm>
              <a:off x="7170444" y="6309320"/>
              <a:ext cx="209868" cy="16244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grpSp>
      <p:pic>
        <p:nvPicPr>
          <p:cNvPr id="2050"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504" y="2402185"/>
            <a:ext cx="5372100" cy="246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0286831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Constrained Dynamic Time Warping (</a:t>
            </a:r>
            <a:r>
              <a:rPr lang="en-US" altLang="zh-TW" dirty="0" err="1"/>
              <a:t>cDTW</a:t>
            </a:r>
            <a:r>
              <a:rPr lang="en-US" altLang="zh-TW" dirty="0" smtClean="0"/>
              <a:t>)</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8</a:t>
            </a:fld>
            <a:endParaRPr lang="zh-TW" altLang="en-US"/>
          </a:p>
        </p:txBody>
      </p:sp>
      <p:sp>
        <p:nvSpPr>
          <p:cNvPr id="5" name="內容版面配置區 4"/>
          <p:cNvSpPr>
            <a:spLocks noGrp="1"/>
          </p:cNvSpPr>
          <p:nvPr>
            <p:ph sz="quarter" idx="1"/>
          </p:nvPr>
        </p:nvSpPr>
        <p:spPr/>
        <p:txBody>
          <a:bodyPr/>
          <a:lstStyle/>
          <a:p>
            <a:r>
              <a:rPr lang="en-US" altLang="zh-TW" dirty="0" smtClean="0"/>
              <a:t>is </a:t>
            </a:r>
            <a:r>
              <a:rPr lang="en-US" altLang="zh-TW" dirty="0"/>
              <a:t>obtained from DTW </a:t>
            </a:r>
            <a:r>
              <a:rPr lang="en-US" altLang="zh-TW" dirty="0" smtClean="0"/>
              <a:t>simply by </a:t>
            </a:r>
            <a:r>
              <a:rPr lang="en-US" altLang="zh-TW" dirty="0"/>
              <a:t>placing an additional constraint </a:t>
            </a:r>
            <a:r>
              <a:rPr lang="en-US" altLang="zh-TW" dirty="0" smtClean="0"/>
              <a:t>to </a:t>
            </a:r>
            <a:r>
              <a:rPr lang="en-US" altLang="zh-TW" dirty="0"/>
              <a:t>prevent pathological </a:t>
            </a:r>
            <a:r>
              <a:rPr lang="en-US" altLang="zh-TW" dirty="0" err="1"/>
              <a:t>warpings</a:t>
            </a:r>
            <a:r>
              <a:rPr lang="en-US" altLang="zh-TW" dirty="0" smtClean="0"/>
              <a:t> which defined as:</a:t>
            </a:r>
          </a:p>
          <a:p>
            <a:endParaRPr lang="en-US" altLang="zh-TW" dirty="0"/>
          </a:p>
          <a:p>
            <a:endParaRPr lang="en-US" altLang="zh-TW" dirty="0" smtClean="0"/>
          </a:p>
          <a:p>
            <a:endParaRPr lang="zh-TW" altLang="en-US" dirty="0"/>
          </a:p>
        </p:txBody>
      </p:sp>
      <p:pic>
        <p:nvPicPr>
          <p:cNvPr id="5122" name="Picture 2"/>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475655" y="2492896"/>
            <a:ext cx="4513359"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124" name="Picture 4" descr="http://rsif.royalsocietypublishing.org/content/4/13/207/F11.large.jpg"/>
          <p:cNvPicPr>
            <a:picLocks noChangeAspect="1" noChangeArrowheads="1"/>
          </p:cNvPicPr>
          <p:nvPr/>
        </p:nvPicPr>
        <p:blipFill rotWithShape="1">
          <a:blip r:embed="rId4">
            <a:extLst>
              <a:ext uri="{BEBA8EAE-BF5A-486C-A8C5-ECC9F3942E4B}">
                <a14:imgProps xmlns:a14="http://schemas.microsoft.com/office/drawing/2010/main">
                  <a14:imgLayer r:embed="rId5">
                    <a14:imgEffect>
                      <a14:saturation sat="50000"/>
                    </a14:imgEffect>
                  </a14:imgLayer>
                </a14:imgProps>
              </a:ext>
              <a:ext uri="{28A0092B-C50C-407E-A947-70E740481C1C}">
                <a14:useLocalDpi xmlns:a14="http://schemas.microsoft.com/office/drawing/2010/main" val="0"/>
              </a:ext>
            </a:extLst>
          </a:blip>
          <a:srcRect b="13444"/>
          <a:stretch/>
        </p:blipFill>
        <p:spPr bwMode="auto">
          <a:xfrm>
            <a:off x="1475655" y="3072557"/>
            <a:ext cx="5554947" cy="294873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4427984" y="5970240"/>
            <a:ext cx="2049920" cy="400110"/>
          </a:xfrm>
          <a:prstGeom prst="rect">
            <a:avLst/>
          </a:prstGeom>
        </p:spPr>
        <p:txBody>
          <a:bodyPr wrap="none">
            <a:spAutoFit/>
          </a:bodyPr>
          <a:lstStyle/>
          <a:p>
            <a:r>
              <a:rPr lang="en-US" altLang="zh-TW" sz="2000" dirty="0" err="1"/>
              <a:t>Sakoe</a:t>
            </a:r>
            <a:r>
              <a:rPr lang="en-US" altLang="zh-TW" sz="2000" dirty="0"/>
              <a:t>-Chiba band</a:t>
            </a:r>
            <a:endParaRPr lang="zh-TW" altLang="en-US" sz="2000" dirty="0"/>
          </a:p>
        </p:txBody>
      </p:sp>
    </p:spTree>
    <p:extLst>
      <p:ext uri="{BB962C8B-B14F-4D97-AF65-F5344CB8AC3E}">
        <p14:creationId xmlns:p14="http://schemas.microsoft.com/office/powerpoint/2010/main" val="205501022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日期版面配置區 3"/>
          <p:cNvSpPr>
            <a:spLocks noGrp="1"/>
          </p:cNvSpPr>
          <p:nvPr>
            <p:ph type="dt" sz="half" idx="10"/>
          </p:nvPr>
        </p:nvSpPr>
        <p:spPr/>
        <p:txBody>
          <a:bodyPr/>
          <a:lstStyle/>
          <a:p>
            <a:r>
              <a:rPr lang="ja-JP" altLang="en-US"/>
              <a:t>ICDE 2007</a:t>
            </a:r>
            <a:endParaRPr lang="en-US" altLang="ja-JP"/>
          </a:p>
        </p:txBody>
      </p:sp>
      <p:sp>
        <p:nvSpPr>
          <p:cNvPr id="6" name="頁尾版面配置區 4"/>
          <p:cNvSpPr>
            <a:spLocks noGrp="1"/>
          </p:cNvSpPr>
          <p:nvPr>
            <p:ph type="ftr" sz="quarter" idx="11"/>
          </p:nvPr>
        </p:nvSpPr>
        <p:spPr/>
        <p:txBody>
          <a:bodyPr/>
          <a:lstStyle/>
          <a:p>
            <a:r>
              <a:rPr lang="en-US" altLang="ja-JP"/>
              <a:t>Y. Sakurai et al</a:t>
            </a:r>
          </a:p>
        </p:txBody>
      </p:sp>
      <p:sp>
        <p:nvSpPr>
          <p:cNvPr id="7" name="投影片編號版面配置區 5"/>
          <p:cNvSpPr>
            <a:spLocks noGrp="1"/>
          </p:cNvSpPr>
          <p:nvPr>
            <p:ph type="sldNum" sz="quarter" idx="12"/>
          </p:nvPr>
        </p:nvSpPr>
        <p:spPr/>
        <p:txBody>
          <a:bodyPr/>
          <a:lstStyle/>
          <a:p>
            <a:fld id="{5FBE88DF-6985-497C-8EA6-EF0BB7728CEE}" type="slidenum">
              <a:rPr lang="en-US" altLang="ja-JP"/>
              <a:pPr/>
              <a:t>9</a:t>
            </a:fld>
            <a:endParaRPr lang="en-US" altLang="ja-JP"/>
          </a:p>
        </p:txBody>
      </p:sp>
      <p:sp>
        <p:nvSpPr>
          <p:cNvPr id="488450" name="Rectangle 2"/>
          <p:cNvSpPr>
            <a:spLocks noGrp="1" noChangeArrowheads="1"/>
          </p:cNvSpPr>
          <p:nvPr>
            <p:ph type="title"/>
          </p:nvPr>
        </p:nvSpPr>
        <p:spPr/>
        <p:txBody>
          <a:bodyPr>
            <a:normAutofit/>
          </a:bodyPr>
          <a:lstStyle/>
          <a:p>
            <a:r>
              <a:rPr lang="en-US" altLang="ja-JP" dirty="0"/>
              <a:t>Problem Definition</a:t>
            </a:r>
          </a:p>
        </p:txBody>
      </p:sp>
      <p:sp>
        <p:nvSpPr>
          <p:cNvPr id="488451" name="Rectangle 3"/>
          <p:cNvSpPr>
            <a:spLocks noGrp="1" noChangeArrowheads="1"/>
          </p:cNvSpPr>
          <p:nvPr>
            <p:ph type="body" idx="1"/>
          </p:nvPr>
        </p:nvSpPr>
        <p:spPr>
          <a:xfrm>
            <a:off x="457200" y="1223963"/>
            <a:ext cx="8524875" cy="4708525"/>
          </a:xfrm>
        </p:spPr>
        <p:txBody>
          <a:bodyPr/>
          <a:lstStyle/>
          <a:p>
            <a:r>
              <a:rPr lang="en-US" altLang="ja-JP" sz="2600" dirty="0"/>
              <a:t>Subsequence matching for data streams</a:t>
            </a:r>
            <a:endParaRPr lang="ja-JP" altLang="en-US" sz="2600" dirty="0"/>
          </a:p>
          <a:p>
            <a:pPr lvl="1"/>
            <a:r>
              <a:rPr lang="en-US" altLang="ja-JP" sz="2200" dirty="0"/>
              <a:t>(Fixed-length) query sequence</a:t>
            </a:r>
            <a:r>
              <a:rPr lang="ja-JP" altLang="en-US" sz="2200" dirty="0"/>
              <a:t> </a:t>
            </a:r>
            <a:r>
              <a:rPr lang="en-US" altLang="ja-JP" sz="2200" i="1" dirty="0">
                <a:latin typeface="Times New Roman" pitchFamily="18" charset="0"/>
              </a:rPr>
              <a:t>Y=</a:t>
            </a:r>
            <a:r>
              <a:rPr lang="en-US" altLang="ja-JP" sz="2200" dirty="0">
                <a:latin typeface="Times New Roman" pitchFamily="18" charset="0"/>
              </a:rPr>
              <a:t>(</a:t>
            </a:r>
            <a:r>
              <a:rPr lang="en-US" altLang="ja-JP" sz="2200" i="1" dirty="0">
                <a:latin typeface="Times New Roman" pitchFamily="18" charset="0"/>
              </a:rPr>
              <a:t>y</a:t>
            </a:r>
            <a:r>
              <a:rPr lang="en-US" altLang="ja-JP" sz="2200" i="1" baseline="-25000" dirty="0">
                <a:latin typeface="Times New Roman" pitchFamily="18" charset="0"/>
              </a:rPr>
              <a:t>1 </a:t>
            </a:r>
            <a:r>
              <a:rPr lang="en-US" altLang="ja-JP" sz="2200" i="1" dirty="0">
                <a:latin typeface="Times New Roman" pitchFamily="18" charset="0"/>
              </a:rPr>
              <a:t>, y</a:t>
            </a:r>
            <a:r>
              <a:rPr lang="en-US" altLang="ja-JP" sz="2200" i="1" baseline="-25000" dirty="0">
                <a:latin typeface="Times New Roman" pitchFamily="18" charset="0"/>
              </a:rPr>
              <a:t>2 </a:t>
            </a:r>
            <a:r>
              <a:rPr lang="en-US" altLang="ja-JP" sz="2200" i="1" dirty="0">
                <a:latin typeface="Times New Roman" pitchFamily="18" charset="0"/>
              </a:rPr>
              <a:t>,…, </a:t>
            </a:r>
            <a:r>
              <a:rPr lang="en-US" altLang="ja-JP" sz="2200" i="1" dirty="0" err="1">
                <a:latin typeface="Times New Roman" pitchFamily="18" charset="0"/>
              </a:rPr>
              <a:t>y</a:t>
            </a:r>
            <a:r>
              <a:rPr lang="en-US" altLang="ja-JP" sz="2200" i="1" baseline="-25000" dirty="0" err="1">
                <a:latin typeface="Times New Roman" pitchFamily="18" charset="0"/>
              </a:rPr>
              <a:t>m</a:t>
            </a:r>
            <a:r>
              <a:rPr lang="en-US" altLang="ja-JP" sz="2200" dirty="0">
                <a:latin typeface="Times New Roman" pitchFamily="18" charset="0"/>
              </a:rPr>
              <a:t>)</a:t>
            </a:r>
            <a:endParaRPr lang="ja-JP" altLang="en-US" sz="2200" dirty="0"/>
          </a:p>
          <a:p>
            <a:pPr lvl="1"/>
            <a:r>
              <a:rPr lang="en-US" altLang="ja-JP" sz="2200" dirty="0"/>
              <a:t>Sequence (data stream)</a:t>
            </a:r>
            <a:r>
              <a:rPr lang="ja-JP" altLang="en-US" sz="2200" dirty="0"/>
              <a:t> </a:t>
            </a:r>
            <a:r>
              <a:rPr lang="en-US" altLang="ja-JP" sz="2200" i="1" dirty="0">
                <a:latin typeface="Times New Roman" pitchFamily="18" charset="0"/>
              </a:rPr>
              <a:t>X=</a:t>
            </a:r>
            <a:r>
              <a:rPr lang="en-US" altLang="ja-JP" sz="2200" dirty="0">
                <a:latin typeface="Times New Roman" pitchFamily="18" charset="0"/>
              </a:rPr>
              <a:t>(</a:t>
            </a:r>
            <a:r>
              <a:rPr lang="en-US" altLang="ja-JP" sz="2200" i="1" dirty="0">
                <a:latin typeface="Times New Roman" pitchFamily="18" charset="0"/>
              </a:rPr>
              <a:t>x</a:t>
            </a:r>
            <a:r>
              <a:rPr lang="en-US" altLang="ja-JP" sz="2200" i="1" baseline="-25000" dirty="0">
                <a:latin typeface="Times New Roman" pitchFamily="18" charset="0"/>
              </a:rPr>
              <a:t>1 </a:t>
            </a:r>
            <a:r>
              <a:rPr lang="en-US" altLang="ja-JP" sz="2200" i="1" dirty="0">
                <a:latin typeface="Times New Roman" pitchFamily="18" charset="0"/>
              </a:rPr>
              <a:t>, x</a:t>
            </a:r>
            <a:r>
              <a:rPr lang="en-US" altLang="ja-JP" sz="2200" i="1" baseline="-25000" dirty="0">
                <a:latin typeface="Times New Roman" pitchFamily="18" charset="0"/>
              </a:rPr>
              <a:t>2 </a:t>
            </a:r>
            <a:r>
              <a:rPr lang="en-US" altLang="ja-JP" sz="2200" i="1" dirty="0">
                <a:latin typeface="Times New Roman" pitchFamily="18" charset="0"/>
              </a:rPr>
              <a:t>,…, </a:t>
            </a:r>
            <a:r>
              <a:rPr lang="en-US" altLang="ja-JP" sz="2200" i="1" dirty="0" err="1">
                <a:latin typeface="Times New Roman" pitchFamily="18" charset="0"/>
              </a:rPr>
              <a:t>x</a:t>
            </a:r>
            <a:r>
              <a:rPr lang="en-US" altLang="ja-JP" sz="2200" i="1" baseline="-25000" dirty="0" err="1">
                <a:latin typeface="Times New Roman" pitchFamily="18" charset="0"/>
              </a:rPr>
              <a:t>n</a:t>
            </a:r>
            <a:r>
              <a:rPr lang="en-US" altLang="ja-JP" sz="2200" dirty="0">
                <a:latin typeface="Times New Roman" pitchFamily="18" charset="0"/>
              </a:rPr>
              <a:t>)</a:t>
            </a:r>
            <a:endParaRPr lang="ja-JP" altLang="en-US" sz="2200" dirty="0"/>
          </a:p>
          <a:p>
            <a:pPr lvl="1"/>
            <a:r>
              <a:rPr lang="en-US" altLang="ja-JP" sz="2200" dirty="0"/>
              <a:t>Find all subsequences </a:t>
            </a:r>
            <a:r>
              <a:rPr lang="en-US" altLang="ja-JP" sz="2200" i="1" dirty="0">
                <a:latin typeface="Times New Roman" pitchFamily="18" charset="0"/>
              </a:rPr>
              <a:t>X</a:t>
            </a:r>
            <a:r>
              <a:rPr lang="en-US" altLang="ja-JP" sz="2200" dirty="0">
                <a:latin typeface="Times New Roman" pitchFamily="18" charset="0"/>
              </a:rPr>
              <a:t>[</a:t>
            </a:r>
            <a:r>
              <a:rPr lang="en-US" altLang="ja-JP" sz="2200" i="1" dirty="0" err="1">
                <a:latin typeface="Times New Roman" pitchFamily="18" charset="0"/>
              </a:rPr>
              <a:t>t</a:t>
            </a:r>
            <a:r>
              <a:rPr lang="en-US" altLang="ja-JP" sz="2200" i="1" baseline="-25000" dirty="0" err="1">
                <a:latin typeface="Times New Roman" pitchFamily="18" charset="0"/>
              </a:rPr>
              <a:t>s</a:t>
            </a:r>
            <a:r>
              <a:rPr lang="en-US" altLang="ja-JP" sz="2200" i="1" dirty="0" err="1">
                <a:latin typeface="Times New Roman" pitchFamily="18" charset="0"/>
              </a:rPr>
              <a:t>,t</a:t>
            </a:r>
            <a:r>
              <a:rPr lang="en-US" altLang="ja-JP" sz="2200" i="1" baseline="-25000" dirty="0" err="1">
                <a:latin typeface="Times New Roman" pitchFamily="18" charset="0"/>
              </a:rPr>
              <a:t>e</a:t>
            </a:r>
            <a:r>
              <a:rPr lang="en-US" altLang="ja-JP" sz="2200" dirty="0">
                <a:latin typeface="Times New Roman" pitchFamily="18" charset="0"/>
              </a:rPr>
              <a:t>]</a:t>
            </a:r>
            <a:r>
              <a:rPr lang="en-US" altLang="ja-JP" sz="2200" dirty="0"/>
              <a:t> such that </a:t>
            </a:r>
            <a:endParaRPr lang="ja-JP" altLang="en-US" sz="2200" dirty="0"/>
          </a:p>
        </p:txBody>
      </p:sp>
      <p:graphicFrame>
        <p:nvGraphicFramePr>
          <p:cNvPr id="488469" name="Object 21"/>
          <p:cNvGraphicFramePr>
            <a:graphicFrameLocks noChangeAspect="1"/>
          </p:cNvGraphicFramePr>
          <p:nvPr/>
        </p:nvGraphicFramePr>
        <p:xfrm>
          <a:off x="6122988" y="2463800"/>
          <a:ext cx="2635250" cy="515938"/>
        </p:xfrm>
        <a:graphic>
          <a:graphicData uri="http://schemas.openxmlformats.org/presentationml/2006/ole">
            <mc:AlternateContent xmlns:mc="http://schemas.openxmlformats.org/markup-compatibility/2006">
              <mc:Choice xmlns:v="urn:schemas-microsoft-com:vml" Requires="v">
                <p:oleObj spid="_x0000_s6148" name="数式" r:id="rId3" imgW="1168200" imgH="228600" progId="Equation.3">
                  <p:embed/>
                </p:oleObj>
              </mc:Choice>
              <mc:Fallback>
                <p:oleObj name="数式" r:id="rId3" imgW="1168200" imgH="2286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22988" y="2463800"/>
                        <a:ext cx="2635250"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93601864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Naïve Solution</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10</a:t>
            </a:fld>
            <a:endParaRPr lang="zh-TW" altLang="en-US"/>
          </a:p>
        </p:txBody>
      </p:sp>
      <p:sp>
        <p:nvSpPr>
          <p:cNvPr id="5" name="內容版面配置區 4"/>
          <p:cNvSpPr>
            <a:spLocks noGrp="1"/>
          </p:cNvSpPr>
          <p:nvPr>
            <p:ph sz="quarter" idx="1"/>
          </p:nvPr>
        </p:nvSpPr>
        <p:spPr/>
        <p:txBody>
          <a:bodyPr/>
          <a:lstStyle/>
          <a:p>
            <a:r>
              <a:rPr lang="en-US" altLang="zh-TW" b="1" dirty="0" smtClean="0"/>
              <a:t>Super-Naïve</a:t>
            </a:r>
            <a:r>
              <a:rPr lang="en-US" altLang="zh-TW" i="1" dirty="0" smtClean="0"/>
              <a:t> </a:t>
            </a:r>
            <a:r>
              <a:rPr lang="en-US" altLang="zh-TW" dirty="0" smtClean="0"/>
              <a:t>consider all </a:t>
            </a:r>
            <a:r>
              <a:rPr lang="en-US" altLang="zh-TW" dirty="0"/>
              <a:t>possible </a:t>
            </a:r>
            <a:r>
              <a:rPr lang="en-US" altLang="zh-TW" dirty="0" smtClean="0"/>
              <a:t>subsequences</a:t>
            </a:r>
          </a:p>
          <a:p>
            <a:endParaRPr lang="en-US" altLang="zh-TW" dirty="0" smtClean="0"/>
          </a:p>
          <a:p>
            <a:endParaRPr lang="en-US" altLang="zh-TW" dirty="0" smtClean="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679601"/>
            <a:ext cx="4824536" cy="5370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456410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Naïve Solution</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11</a:t>
            </a:fld>
            <a:endParaRPr lang="zh-TW" altLang="en-US"/>
          </a:p>
        </p:txBody>
      </p:sp>
      <p:sp>
        <p:nvSpPr>
          <p:cNvPr id="5" name="內容版面配置區 4"/>
          <p:cNvSpPr>
            <a:spLocks noGrp="1"/>
          </p:cNvSpPr>
          <p:nvPr>
            <p:ph sz="quarter" idx="1"/>
          </p:nvPr>
        </p:nvSpPr>
        <p:spPr/>
        <p:txBody>
          <a:bodyPr/>
          <a:lstStyle/>
          <a:p>
            <a:r>
              <a:rPr lang="en-US" altLang="zh-TW" b="1" dirty="0"/>
              <a:t>Naïve </a:t>
            </a:r>
            <a:endParaRPr lang="en-US" altLang="zh-TW" dirty="0"/>
          </a:p>
          <a:p>
            <a:endParaRPr lang="zh-TW" altLang="en-US" dirty="0"/>
          </a:p>
          <a:p>
            <a:endParaRPr lang="zh-TW" altLang="en-US" dirty="0"/>
          </a:p>
        </p:txBody>
      </p:sp>
      <p:pic>
        <p:nvPicPr>
          <p:cNvPr id="3074" name="Picture 2"/>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100000" l="0" r="100000">
                        <a14:foregroundMark x1="1059" y1="2008" x2="99244" y2="2008"/>
                        <a14:foregroundMark x1="908" y1="3614" x2="605" y2="95582"/>
                        <a14:foregroundMark x1="605" y1="94378" x2="98941" y2="98795"/>
                        <a14:foregroundMark x1="5144" y1="16466" x2="1059" y2="2811"/>
                        <a14:backgroundMark x1="97731" y1="32932" x2="96672" y2="58635"/>
                        <a14:backgroundMark x1="95613" y1="53414" x2="99546" y2="62249"/>
                        <a14:backgroundMark x1="95461" y1="38153" x2="99092" y2="35743"/>
                        <a14:backgroundMark x1="99244" y1="34137" x2="99849" y2="64659"/>
                        <a14:backgroundMark x1="99546" y1="34137" x2="99546" y2="67871"/>
                      </a14:backgroundRemoval>
                    </a14:imgEffect>
                  </a14:imgLayer>
                </a14:imgProps>
              </a:ext>
              <a:ext uri="{28A0092B-C50C-407E-A947-70E740481C1C}">
                <a14:useLocalDpi xmlns:a14="http://schemas.microsoft.com/office/drawing/2010/main" val="0"/>
              </a:ext>
            </a:extLst>
          </a:blip>
          <a:srcRect/>
          <a:stretch>
            <a:fillRect/>
          </a:stretch>
        </p:blipFill>
        <p:spPr bwMode="auto">
          <a:xfrm>
            <a:off x="467544" y="1772816"/>
            <a:ext cx="6296025" cy="23717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3" name="Group 137"/>
          <p:cNvGrpSpPr>
            <a:grpSpLocks/>
          </p:cNvGrpSpPr>
          <p:nvPr/>
        </p:nvGrpSpPr>
        <p:grpSpPr bwMode="auto">
          <a:xfrm>
            <a:off x="1511883" y="4183289"/>
            <a:ext cx="4553649" cy="2740635"/>
            <a:chOff x="1207" y="1375"/>
            <a:chExt cx="3235" cy="1947"/>
          </a:xfrm>
        </p:grpSpPr>
        <p:sp>
          <p:nvSpPr>
            <p:cNvPr id="44" name="Rectangle 2"/>
            <p:cNvSpPr>
              <a:spLocks noChangeArrowheads="1"/>
            </p:cNvSpPr>
            <p:nvPr/>
          </p:nvSpPr>
          <p:spPr bwMode="auto">
            <a:xfrm>
              <a:off x="1493" y="1379"/>
              <a:ext cx="2098" cy="113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5" name="Rectangle 3"/>
            <p:cNvSpPr>
              <a:spLocks noChangeArrowheads="1"/>
            </p:cNvSpPr>
            <p:nvPr/>
          </p:nvSpPr>
          <p:spPr bwMode="auto">
            <a:xfrm>
              <a:off x="1550" y="1436"/>
              <a:ext cx="2098" cy="1130"/>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46" name="Text Box 4"/>
            <p:cNvSpPr txBox="1">
              <a:spLocks noChangeArrowheads="1"/>
            </p:cNvSpPr>
            <p:nvPr/>
          </p:nvSpPr>
          <p:spPr bwMode="auto">
            <a:xfrm>
              <a:off x="1207" y="1772"/>
              <a:ext cx="258"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Y</a:t>
              </a:r>
            </a:p>
          </p:txBody>
        </p:sp>
        <p:sp>
          <p:nvSpPr>
            <p:cNvPr id="47" name="Text Box 5"/>
            <p:cNvSpPr txBox="1">
              <a:spLocks noChangeArrowheads="1"/>
            </p:cNvSpPr>
            <p:nvPr/>
          </p:nvSpPr>
          <p:spPr bwMode="auto">
            <a:xfrm>
              <a:off x="2793" y="2957"/>
              <a:ext cx="27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X</a:t>
              </a:r>
            </a:p>
          </p:txBody>
        </p:sp>
        <p:sp>
          <p:nvSpPr>
            <p:cNvPr id="48" name="Text Box 6"/>
            <p:cNvSpPr txBox="1">
              <a:spLocks noChangeArrowheads="1"/>
            </p:cNvSpPr>
            <p:nvPr/>
          </p:nvSpPr>
          <p:spPr bwMode="auto">
            <a:xfrm>
              <a:off x="1832" y="2850"/>
              <a:ext cx="34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x</a:t>
              </a:r>
              <a:r>
                <a:rPr lang="en-US" altLang="ja-JP" sz="3200" b="0" i="1" baseline="-25000">
                  <a:latin typeface="Times New Roman" pitchFamily="18" charset="0"/>
                </a:rPr>
                <a:t>t</a:t>
              </a:r>
              <a:r>
                <a:rPr lang="en-US" altLang="ja-JP" sz="3200" b="0" i="1" baseline="-36000">
                  <a:latin typeface="Times New Roman" pitchFamily="18" charset="0"/>
                </a:rPr>
                <a:t>s</a:t>
              </a:r>
            </a:p>
          </p:txBody>
        </p:sp>
        <p:grpSp>
          <p:nvGrpSpPr>
            <p:cNvPr id="49" name="Group 7"/>
            <p:cNvGrpSpPr>
              <a:grpSpLocks/>
            </p:cNvGrpSpPr>
            <p:nvPr/>
          </p:nvGrpSpPr>
          <p:grpSpPr bwMode="auto">
            <a:xfrm>
              <a:off x="1655" y="2665"/>
              <a:ext cx="142" cy="142"/>
              <a:chOff x="1774" y="2330"/>
              <a:chExt cx="142" cy="142"/>
            </a:xfrm>
          </p:grpSpPr>
          <p:sp>
            <p:nvSpPr>
              <p:cNvPr id="170" name="Oval 8"/>
              <p:cNvSpPr>
                <a:spLocks noChangeArrowheads="1"/>
              </p:cNvSpPr>
              <p:nvPr/>
            </p:nvSpPr>
            <p:spPr bwMode="auto">
              <a:xfrm>
                <a:off x="1774" y="2330"/>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71" name="Oval 9"/>
              <p:cNvSpPr>
                <a:spLocks noChangeArrowheads="1"/>
              </p:cNvSpPr>
              <p:nvPr/>
            </p:nvSpPr>
            <p:spPr bwMode="auto">
              <a:xfrm>
                <a:off x="1831" y="2387"/>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72" name="Oval 10"/>
              <p:cNvSpPr>
                <a:spLocks noChangeArrowheads="1"/>
              </p:cNvSpPr>
              <p:nvPr/>
            </p:nvSpPr>
            <p:spPr bwMode="auto">
              <a:xfrm>
                <a:off x="1888" y="244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50" name="Text Box 11"/>
            <p:cNvSpPr txBox="1">
              <a:spLocks noChangeArrowheads="1"/>
            </p:cNvSpPr>
            <p:nvPr/>
          </p:nvSpPr>
          <p:spPr bwMode="auto">
            <a:xfrm>
              <a:off x="3421" y="2849"/>
              <a:ext cx="352"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x</a:t>
              </a:r>
              <a:r>
                <a:rPr lang="en-US" altLang="ja-JP" sz="3200" b="0" i="1" baseline="-25000">
                  <a:latin typeface="Times New Roman" pitchFamily="18" charset="0"/>
                </a:rPr>
                <a:t>t</a:t>
              </a:r>
              <a:r>
                <a:rPr lang="en-US" altLang="ja-JP" sz="3200" b="0" baseline="-36000">
                  <a:latin typeface="Times New Roman" pitchFamily="18" charset="0"/>
                </a:rPr>
                <a:t>e</a:t>
              </a:r>
            </a:p>
          </p:txBody>
        </p:sp>
        <p:sp>
          <p:nvSpPr>
            <p:cNvPr id="51" name="Text Box 12"/>
            <p:cNvSpPr txBox="1">
              <a:spLocks noChangeArrowheads="1"/>
            </p:cNvSpPr>
            <p:nvPr/>
          </p:nvSpPr>
          <p:spPr bwMode="auto">
            <a:xfrm>
              <a:off x="1378" y="2484"/>
              <a:ext cx="314" cy="3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x</a:t>
              </a:r>
              <a:r>
                <a:rPr lang="en-US" altLang="ja-JP" sz="3200" b="0" baseline="-25000">
                  <a:latin typeface="Times New Roman" pitchFamily="18" charset="0"/>
                </a:rPr>
                <a:t>1</a:t>
              </a:r>
            </a:p>
          </p:txBody>
        </p:sp>
        <p:grpSp>
          <p:nvGrpSpPr>
            <p:cNvPr id="52" name="Group 13"/>
            <p:cNvGrpSpPr>
              <a:grpSpLocks/>
            </p:cNvGrpSpPr>
            <p:nvPr/>
          </p:nvGrpSpPr>
          <p:grpSpPr bwMode="auto">
            <a:xfrm>
              <a:off x="3676" y="1375"/>
              <a:ext cx="142" cy="28"/>
              <a:chOff x="4049" y="884"/>
              <a:chExt cx="142" cy="28"/>
            </a:xfrm>
          </p:grpSpPr>
          <p:sp>
            <p:nvSpPr>
              <p:cNvPr id="167" name="Oval 14"/>
              <p:cNvSpPr>
                <a:spLocks noChangeArrowheads="1"/>
              </p:cNvSpPr>
              <p:nvPr/>
            </p:nvSpPr>
            <p:spPr bwMode="auto">
              <a:xfrm>
                <a:off x="4049"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8" name="Oval 15"/>
              <p:cNvSpPr>
                <a:spLocks noChangeArrowheads="1"/>
              </p:cNvSpPr>
              <p:nvPr/>
            </p:nvSpPr>
            <p:spPr bwMode="auto">
              <a:xfrm>
                <a:off x="4106"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9" name="Oval 16"/>
              <p:cNvSpPr>
                <a:spLocks noChangeArrowheads="1"/>
              </p:cNvSpPr>
              <p:nvPr/>
            </p:nvSpPr>
            <p:spPr bwMode="auto">
              <a:xfrm>
                <a:off x="4163"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53" name="Group 17"/>
            <p:cNvGrpSpPr>
              <a:grpSpLocks/>
            </p:cNvGrpSpPr>
            <p:nvPr/>
          </p:nvGrpSpPr>
          <p:grpSpPr bwMode="auto">
            <a:xfrm>
              <a:off x="3733" y="1432"/>
              <a:ext cx="142" cy="28"/>
              <a:chOff x="4049" y="884"/>
              <a:chExt cx="142" cy="28"/>
            </a:xfrm>
          </p:grpSpPr>
          <p:sp>
            <p:nvSpPr>
              <p:cNvPr id="164" name="Oval 18"/>
              <p:cNvSpPr>
                <a:spLocks noChangeArrowheads="1"/>
              </p:cNvSpPr>
              <p:nvPr/>
            </p:nvSpPr>
            <p:spPr bwMode="auto">
              <a:xfrm>
                <a:off x="4049"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5" name="Oval 19"/>
              <p:cNvSpPr>
                <a:spLocks noChangeArrowheads="1"/>
              </p:cNvSpPr>
              <p:nvPr/>
            </p:nvSpPr>
            <p:spPr bwMode="auto">
              <a:xfrm>
                <a:off x="4106"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6" name="Oval 20"/>
              <p:cNvSpPr>
                <a:spLocks noChangeArrowheads="1"/>
              </p:cNvSpPr>
              <p:nvPr/>
            </p:nvSpPr>
            <p:spPr bwMode="auto">
              <a:xfrm>
                <a:off x="4163"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54" name="Group 21"/>
            <p:cNvGrpSpPr>
              <a:grpSpLocks/>
            </p:cNvGrpSpPr>
            <p:nvPr/>
          </p:nvGrpSpPr>
          <p:grpSpPr bwMode="auto">
            <a:xfrm>
              <a:off x="1600" y="1488"/>
              <a:ext cx="2303" cy="1135"/>
              <a:chOff x="458" y="2982"/>
              <a:chExt cx="2303" cy="1135"/>
            </a:xfrm>
          </p:grpSpPr>
          <p:sp>
            <p:nvSpPr>
              <p:cNvPr id="159" name="AutoShape 22"/>
              <p:cNvSpPr>
                <a:spLocks noChangeArrowheads="1"/>
              </p:cNvSpPr>
              <p:nvPr/>
            </p:nvSpPr>
            <p:spPr bwMode="auto">
              <a:xfrm rot="-5400000">
                <a:off x="1665" y="3022"/>
                <a:ext cx="1135" cy="1056"/>
              </a:xfrm>
              <a:prstGeom prst="flowChartDocumen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0" name="Rectangle 23"/>
              <p:cNvSpPr>
                <a:spLocks noChangeArrowheads="1"/>
              </p:cNvSpPr>
              <p:nvPr/>
            </p:nvSpPr>
            <p:spPr bwMode="auto">
              <a:xfrm>
                <a:off x="458" y="2982"/>
                <a:ext cx="1984" cy="113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1" name="Line 24"/>
              <p:cNvSpPr>
                <a:spLocks noChangeShapeType="1"/>
              </p:cNvSpPr>
              <p:nvPr/>
            </p:nvSpPr>
            <p:spPr bwMode="auto">
              <a:xfrm flipH="1">
                <a:off x="458" y="2982"/>
                <a:ext cx="19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62" name="Line 25"/>
              <p:cNvSpPr>
                <a:spLocks noChangeShapeType="1"/>
              </p:cNvSpPr>
              <p:nvPr/>
            </p:nvSpPr>
            <p:spPr bwMode="auto">
              <a:xfrm>
                <a:off x="458" y="2982"/>
                <a:ext cx="0" cy="11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63" name="Line 26"/>
              <p:cNvSpPr>
                <a:spLocks noChangeShapeType="1"/>
              </p:cNvSpPr>
              <p:nvPr/>
            </p:nvSpPr>
            <p:spPr bwMode="auto">
              <a:xfrm>
                <a:off x="458" y="4117"/>
                <a:ext cx="22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grpSp>
          <p:nvGrpSpPr>
            <p:cNvPr id="55" name="Group 27"/>
            <p:cNvGrpSpPr>
              <a:grpSpLocks/>
            </p:cNvGrpSpPr>
            <p:nvPr/>
          </p:nvGrpSpPr>
          <p:grpSpPr bwMode="auto">
            <a:xfrm>
              <a:off x="1656" y="1545"/>
              <a:ext cx="142" cy="142"/>
              <a:chOff x="1774" y="2330"/>
              <a:chExt cx="142" cy="142"/>
            </a:xfrm>
          </p:grpSpPr>
          <p:sp>
            <p:nvSpPr>
              <p:cNvPr id="156" name="Oval 28"/>
              <p:cNvSpPr>
                <a:spLocks noChangeArrowheads="1"/>
              </p:cNvSpPr>
              <p:nvPr/>
            </p:nvSpPr>
            <p:spPr bwMode="auto">
              <a:xfrm>
                <a:off x="1774" y="2330"/>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57" name="Oval 29"/>
              <p:cNvSpPr>
                <a:spLocks noChangeArrowheads="1"/>
              </p:cNvSpPr>
              <p:nvPr/>
            </p:nvSpPr>
            <p:spPr bwMode="auto">
              <a:xfrm>
                <a:off x="1831" y="2387"/>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58" name="Oval 30"/>
              <p:cNvSpPr>
                <a:spLocks noChangeArrowheads="1"/>
              </p:cNvSpPr>
              <p:nvPr/>
            </p:nvSpPr>
            <p:spPr bwMode="auto">
              <a:xfrm>
                <a:off x="1888" y="244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56" name="Rectangle 31"/>
            <p:cNvSpPr>
              <a:spLocks noChangeArrowheads="1"/>
            </p:cNvSpPr>
            <p:nvPr/>
          </p:nvSpPr>
          <p:spPr bwMode="auto">
            <a:xfrm>
              <a:off x="1834" y="1715"/>
              <a:ext cx="2098" cy="11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57" name="Rectangle 32"/>
            <p:cNvSpPr>
              <a:spLocks noChangeArrowheads="1"/>
            </p:cNvSpPr>
            <p:nvPr/>
          </p:nvSpPr>
          <p:spPr bwMode="auto">
            <a:xfrm>
              <a:off x="1890" y="1772"/>
              <a:ext cx="2098" cy="1135"/>
            </a:xfrm>
            <a:prstGeom prst="rect">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nvGrpSpPr>
            <p:cNvPr id="58" name="Group 33"/>
            <p:cNvGrpSpPr>
              <a:grpSpLocks/>
            </p:cNvGrpSpPr>
            <p:nvPr/>
          </p:nvGrpSpPr>
          <p:grpSpPr bwMode="auto">
            <a:xfrm>
              <a:off x="1940" y="1828"/>
              <a:ext cx="2303" cy="1135"/>
              <a:chOff x="2136" y="1252"/>
              <a:chExt cx="2303" cy="1135"/>
            </a:xfrm>
          </p:grpSpPr>
          <p:grpSp>
            <p:nvGrpSpPr>
              <p:cNvPr id="75" name="Group 34"/>
              <p:cNvGrpSpPr>
                <a:grpSpLocks/>
              </p:cNvGrpSpPr>
              <p:nvPr/>
            </p:nvGrpSpPr>
            <p:grpSpPr bwMode="auto">
              <a:xfrm>
                <a:off x="2136" y="1252"/>
                <a:ext cx="2303" cy="1135"/>
                <a:chOff x="2136" y="1252"/>
                <a:chExt cx="2303" cy="1135"/>
              </a:xfrm>
            </p:grpSpPr>
            <p:grpSp>
              <p:nvGrpSpPr>
                <p:cNvPr id="91" name="Group 35"/>
                <p:cNvGrpSpPr>
                  <a:grpSpLocks/>
                </p:cNvGrpSpPr>
                <p:nvPr/>
              </p:nvGrpSpPr>
              <p:grpSpPr bwMode="auto">
                <a:xfrm>
                  <a:off x="2136" y="1252"/>
                  <a:ext cx="2303" cy="1135"/>
                  <a:chOff x="1661" y="1026"/>
                  <a:chExt cx="2303" cy="1120"/>
                </a:xfrm>
              </p:grpSpPr>
              <p:sp>
                <p:nvSpPr>
                  <p:cNvPr id="151" name="AutoShape 36"/>
                  <p:cNvSpPr>
                    <a:spLocks noChangeArrowheads="1"/>
                  </p:cNvSpPr>
                  <p:nvPr/>
                </p:nvSpPr>
                <p:spPr bwMode="auto">
                  <a:xfrm rot="-5400000">
                    <a:off x="2876" y="1058"/>
                    <a:ext cx="1120" cy="1056"/>
                  </a:xfrm>
                  <a:prstGeom prst="flowChartDocumen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52" name="Rectangle 37"/>
                  <p:cNvSpPr>
                    <a:spLocks noChangeArrowheads="1"/>
                  </p:cNvSpPr>
                  <p:nvPr/>
                </p:nvSpPr>
                <p:spPr bwMode="auto">
                  <a:xfrm>
                    <a:off x="1661" y="1026"/>
                    <a:ext cx="1984" cy="112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53" name="Line 38"/>
                  <p:cNvSpPr>
                    <a:spLocks noChangeShapeType="1"/>
                  </p:cNvSpPr>
                  <p:nvPr/>
                </p:nvSpPr>
                <p:spPr bwMode="auto">
                  <a:xfrm flipH="1">
                    <a:off x="1661" y="1026"/>
                    <a:ext cx="19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54" name="Line 39"/>
                  <p:cNvSpPr>
                    <a:spLocks noChangeShapeType="1"/>
                  </p:cNvSpPr>
                  <p:nvPr/>
                </p:nvSpPr>
                <p:spPr bwMode="auto">
                  <a:xfrm>
                    <a:off x="1661" y="1026"/>
                    <a:ext cx="0" cy="1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55" name="Line 40"/>
                  <p:cNvSpPr>
                    <a:spLocks noChangeShapeType="1"/>
                  </p:cNvSpPr>
                  <p:nvPr/>
                </p:nvSpPr>
                <p:spPr bwMode="auto">
                  <a:xfrm>
                    <a:off x="1661" y="2146"/>
                    <a:ext cx="22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sp>
              <p:nvSpPr>
                <p:cNvPr id="92" name="Line 41"/>
                <p:cNvSpPr>
                  <a:spLocks noChangeShapeType="1"/>
                </p:cNvSpPr>
                <p:nvPr/>
              </p:nvSpPr>
              <p:spPr bwMode="auto">
                <a:xfrm>
                  <a:off x="2137" y="1310"/>
                  <a:ext cx="2097"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3" name="Line 42"/>
                <p:cNvSpPr>
                  <a:spLocks noChangeShapeType="1"/>
                </p:cNvSpPr>
                <p:nvPr/>
              </p:nvSpPr>
              <p:spPr bwMode="auto">
                <a:xfrm>
                  <a:off x="2137" y="1367"/>
                  <a:ext cx="2097"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4" name="Line 43"/>
                <p:cNvSpPr>
                  <a:spLocks noChangeShapeType="1"/>
                </p:cNvSpPr>
                <p:nvPr/>
              </p:nvSpPr>
              <p:spPr bwMode="auto">
                <a:xfrm>
                  <a:off x="2137" y="1423"/>
                  <a:ext cx="2097"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5" name="Line 44"/>
                <p:cNvSpPr>
                  <a:spLocks noChangeShapeType="1"/>
                </p:cNvSpPr>
                <p:nvPr/>
              </p:nvSpPr>
              <p:spPr bwMode="auto">
                <a:xfrm>
                  <a:off x="2137" y="1480"/>
                  <a:ext cx="2097"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6" name="Line 45"/>
                <p:cNvSpPr>
                  <a:spLocks noChangeShapeType="1"/>
                </p:cNvSpPr>
                <p:nvPr/>
              </p:nvSpPr>
              <p:spPr bwMode="auto">
                <a:xfrm>
                  <a:off x="2137" y="1537"/>
                  <a:ext cx="2126"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7" name="Line 46"/>
                <p:cNvSpPr>
                  <a:spLocks noChangeShapeType="1"/>
                </p:cNvSpPr>
                <p:nvPr/>
              </p:nvSpPr>
              <p:spPr bwMode="auto">
                <a:xfrm>
                  <a:off x="2137" y="1593"/>
                  <a:ext cx="2126"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8" name="Line 47"/>
                <p:cNvSpPr>
                  <a:spLocks noChangeShapeType="1"/>
                </p:cNvSpPr>
                <p:nvPr/>
              </p:nvSpPr>
              <p:spPr bwMode="auto">
                <a:xfrm>
                  <a:off x="2137" y="1650"/>
                  <a:ext cx="215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99" name="Line 48"/>
                <p:cNvSpPr>
                  <a:spLocks noChangeShapeType="1"/>
                </p:cNvSpPr>
                <p:nvPr/>
              </p:nvSpPr>
              <p:spPr bwMode="auto">
                <a:xfrm>
                  <a:off x="2137" y="1707"/>
                  <a:ext cx="2189"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0" name="Line 49"/>
                <p:cNvSpPr>
                  <a:spLocks noChangeShapeType="1"/>
                </p:cNvSpPr>
                <p:nvPr/>
              </p:nvSpPr>
              <p:spPr bwMode="auto">
                <a:xfrm>
                  <a:off x="2137" y="1764"/>
                  <a:ext cx="221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1" name="Line 50"/>
                <p:cNvSpPr>
                  <a:spLocks noChangeShapeType="1"/>
                </p:cNvSpPr>
                <p:nvPr/>
              </p:nvSpPr>
              <p:spPr bwMode="auto">
                <a:xfrm>
                  <a:off x="2137" y="1820"/>
                  <a:ext cx="221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2" name="Line 51"/>
                <p:cNvSpPr>
                  <a:spLocks noChangeShapeType="1"/>
                </p:cNvSpPr>
                <p:nvPr/>
              </p:nvSpPr>
              <p:spPr bwMode="auto">
                <a:xfrm>
                  <a:off x="2137" y="1877"/>
                  <a:ext cx="2268"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3" name="Line 52"/>
                <p:cNvSpPr>
                  <a:spLocks noChangeShapeType="1"/>
                </p:cNvSpPr>
                <p:nvPr/>
              </p:nvSpPr>
              <p:spPr bwMode="auto">
                <a:xfrm>
                  <a:off x="2137" y="1934"/>
                  <a:ext cx="2268"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4" name="Line 53"/>
                <p:cNvSpPr>
                  <a:spLocks noChangeShapeType="1"/>
                </p:cNvSpPr>
                <p:nvPr/>
              </p:nvSpPr>
              <p:spPr bwMode="auto">
                <a:xfrm>
                  <a:off x="2137" y="1990"/>
                  <a:ext cx="230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5" name="Line 54"/>
                <p:cNvSpPr>
                  <a:spLocks noChangeShapeType="1"/>
                </p:cNvSpPr>
                <p:nvPr/>
              </p:nvSpPr>
              <p:spPr bwMode="auto">
                <a:xfrm>
                  <a:off x="2137" y="2047"/>
                  <a:ext cx="230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6" name="Line 55"/>
                <p:cNvSpPr>
                  <a:spLocks noChangeShapeType="1"/>
                </p:cNvSpPr>
                <p:nvPr/>
              </p:nvSpPr>
              <p:spPr bwMode="auto">
                <a:xfrm>
                  <a:off x="2137" y="2104"/>
                  <a:ext cx="230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7" name="Line 56"/>
                <p:cNvSpPr>
                  <a:spLocks noChangeShapeType="1"/>
                </p:cNvSpPr>
                <p:nvPr/>
              </p:nvSpPr>
              <p:spPr bwMode="auto">
                <a:xfrm>
                  <a:off x="2137" y="2160"/>
                  <a:ext cx="230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8" name="Line 57"/>
                <p:cNvSpPr>
                  <a:spLocks noChangeShapeType="1"/>
                </p:cNvSpPr>
                <p:nvPr/>
              </p:nvSpPr>
              <p:spPr bwMode="auto">
                <a:xfrm>
                  <a:off x="2137" y="2217"/>
                  <a:ext cx="2268"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09" name="Line 58"/>
                <p:cNvSpPr>
                  <a:spLocks noChangeShapeType="1"/>
                </p:cNvSpPr>
                <p:nvPr/>
              </p:nvSpPr>
              <p:spPr bwMode="auto">
                <a:xfrm>
                  <a:off x="2137" y="2274"/>
                  <a:ext cx="2268"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0" name="Line 59"/>
                <p:cNvSpPr>
                  <a:spLocks noChangeShapeType="1"/>
                </p:cNvSpPr>
                <p:nvPr/>
              </p:nvSpPr>
              <p:spPr bwMode="auto">
                <a:xfrm>
                  <a:off x="2137" y="2330"/>
                  <a:ext cx="2268"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1" name="Line 60"/>
                <p:cNvSpPr>
                  <a:spLocks noChangeShapeType="1"/>
                </p:cNvSpPr>
                <p:nvPr/>
              </p:nvSpPr>
              <p:spPr bwMode="auto">
                <a:xfrm>
                  <a:off x="2194" y="1252"/>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2" name="Line 61"/>
                <p:cNvSpPr>
                  <a:spLocks noChangeShapeType="1"/>
                </p:cNvSpPr>
                <p:nvPr/>
              </p:nvSpPr>
              <p:spPr bwMode="auto">
                <a:xfrm>
                  <a:off x="225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3" name="Line 62"/>
                <p:cNvSpPr>
                  <a:spLocks noChangeShapeType="1"/>
                </p:cNvSpPr>
                <p:nvPr/>
              </p:nvSpPr>
              <p:spPr bwMode="auto">
                <a:xfrm>
                  <a:off x="2307"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4" name="Line 63"/>
                <p:cNvSpPr>
                  <a:spLocks noChangeShapeType="1"/>
                </p:cNvSpPr>
                <p:nvPr/>
              </p:nvSpPr>
              <p:spPr bwMode="auto">
                <a:xfrm>
                  <a:off x="2364"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5" name="Line 64"/>
                <p:cNvSpPr>
                  <a:spLocks noChangeShapeType="1"/>
                </p:cNvSpPr>
                <p:nvPr/>
              </p:nvSpPr>
              <p:spPr bwMode="auto">
                <a:xfrm>
                  <a:off x="242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6" name="Line 65"/>
                <p:cNvSpPr>
                  <a:spLocks noChangeShapeType="1"/>
                </p:cNvSpPr>
                <p:nvPr/>
              </p:nvSpPr>
              <p:spPr bwMode="auto">
                <a:xfrm>
                  <a:off x="2477"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7" name="Line 66"/>
                <p:cNvSpPr>
                  <a:spLocks noChangeShapeType="1"/>
                </p:cNvSpPr>
                <p:nvPr/>
              </p:nvSpPr>
              <p:spPr bwMode="auto">
                <a:xfrm>
                  <a:off x="2534"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8" name="Line 67"/>
                <p:cNvSpPr>
                  <a:spLocks noChangeShapeType="1"/>
                </p:cNvSpPr>
                <p:nvPr/>
              </p:nvSpPr>
              <p:spPr bwMode="auto">
                <a:xfrm>
                  <a:off x="259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19" name="Line 68"/>
                <p:cNvSpPr>
                  <a:spLocks noChangeShapeType="1"/>
                </p:cNvSpPr>
                <p:nvPr/>
              </p:nvSpPr>
              <p:spPr bwMode="auto">
                <a:xfrm>
                  <a:off x="2647"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0" name="Line 69"/>
                <p:cNvSpPr>
                  <a:spLocks noChangeShapeType="1"/>
                </p:cNvSpPr>
                <p:nvPr/>
              </p:nvSpPr>
              <p:spPr bwMode="auto">
                <a:xfrm>
                  <a:off x="2704"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1" name="Line 70"/>
                <p:cNvSpPr>
                  <a:spLocks noChangeShapeType="1"/>
                </p:cNvSpPr>
                <p:nvPr/>
              </p:nvSpPr>
              <p:spPr bwMode="auto">
                <a:xfrm>
                  <a:off x="276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2" name="Line 71"/>
                <p:cNvSpPr>
                  <a:spLocks noChangeShapeType="1"/>
                </p:cNvSpPr>
                <p:nvPr/>
              </p:nvSpPr>
              <p:spPr bwMode="auto">
                <a:xfrm>
                  <a:off x="2818"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3" name="Line 72"/>
                <p:cNvSpPr>
                  <a:spLocks noChangeShapeType="1"/>
                </p:cNvSpPr>
                <p:nvPr/>
              </p:nvSpPr>
              <p:spPr bwMode="auto">
                <a:xfrm>
                  <a:off x="2874"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4" name="Line 73"/>
                <p:cNvSpPr>
                  <a:spLocks noChangeShapeType="1"/>
                </p:cNvSpPr>
                <p:nvPr/>
              </p:nvSpPr>
              <p:spPr bwMode="auto">
                <a:xfrm>
                  <a:off x="293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5" name="Line 74"/>
                <p:cNvSpPr>
                  <a:spLocks noChangeShapeType="1"/>
                </p:cNvSpPr>
                <p:nvPr/>
              </p:nvSpPr>
              <p:spPr bwMode="auto">
                <a:xfrm>
                  <a:off x="2988"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6" name="Line 75"/>
                <p:cNvSpPr>
                  <a:spLocks noChangeShapeType="1"/>
                </p:cNvSpPr>
                <p:nvPr/>
              </p:nvSpPr>
              <p:spPr bwMode="auto">
                <a:xfrm>
                  <a:off x="3044"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7" name="Line 76"/>
                <p:cNvSpPr>
                  <a:spLocks noChangeShapeType="1"/>
                </p:cNvSpPr>
                <p:nvPr/>
              </p:nvSpPr>
              <p:spPr bwMode="auto">
                <a:xfrm>
                  <a:off x="310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8" name="Line 77"/>
                <p:cNvSpPr>
                  <a:spLocks noChangeShapeType="1"/>
                </p:cNvSpPr>
                <p:nvPr/>
              </p:nvSpPr>
              <p:spPr bwMode="auto">
                <a:xfrm>
                  <a:off x="3158"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29" name="Line 78"/>
                <p:cNvSpPr>
                  <a:spLocks noChangeShapeType="1"/>
                </p:cNvSpPr>
                <p:nvPr/>
              </p:nvSpPr>
              <p:spPr bwMode="auto">
                <a:xfrm>
                  <a:off x="3215"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0" name="Line 79"/>
                <p:cNvSpPr>
                  <a:spLocks noChangeShapeType="1"/>
                </p:cNvSpPr>
                <p:nvPr/>
              </p:nvSpPr>
              <p:spPr bwMode="auto">
                <a:xfrm>
                  <a:off x="327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1" name="Line 80"/>
                <p:cNvSpPr>
                  <a:spLocks noChangeShapeType="1"/>
                </p:cNvSpPr>
                <p:nvPr/>
              </p:nvSpPr>
              <p:spPr bwMode="auto">
                <a:xfrm>
                  <a:off x="3328"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2" name="Line 81"/>
                <p:cNvSpPr>
                  <a:spLocks noChangeShapeType="1"/>
                </p:cNvSpPr>
                <p:nvPr/>
              </p:nvSpPr>
              <p:spPr bwMode="auto">
                <a:xfrm>
                  <a:off x="3385"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3" name="Line 82"/>
                <p:cNvSpPr>
                  <a:spLocks noChangeShapeType="1"/>
                </p:cNvSpPr>
                <p:nvPr/>
              </p:nvSpPr>
              <p:spPr bwMode="auto">
                <a:xfrm>
                  <a:off x="3441"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4" name="Line 83"/>
                <p:cNvSpPr>
                  <a:spLocks noChangeShapeType="1"/>
                </p:cNvSpPr>
                <p:nvPr/>
              </p:nvSpPr>
              <p:spPr bwMode="auto">
                <a:xfrm>
                  <a:off x="3498"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5" name="Line 84"/>
                <p:cNvSpPr>
                  <a:spLocks noChangeShapeType="1"/>
                </p:cNvSpPr>
                <p:nvPr/>
              </p:nvSpPr>
              <p:spPr bwMode="auto">
                <a:xfrm>
                  <a:off x="3555"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6" name="Line 85"/>
                <p:cNvSpPr>
                  <a:spLocks noChangeShapeType="1"/>
                </p:cNvSpPr>
                <p:nvPr/>
              </p:nvSpPr>
              <p:spPr bwMode="auto">
                <a:xfrm>
                  <a:off x="3612"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7" name="Line 86"/>
                <p:cNvSpPr>
                  <a:spLocks noChangeShapeType="1"/>
                </p:cNvSpPr>
                <p:nvPr/>
              </p:nvSpPr>
              <p:spPr bwMode="auto">
                <a:xfrm>
                  <a:off x="3668"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8" name="Line 87"/>
                <p:cNvSpPr>
                  <a:spLocks noChangeShapeType="1"/>
                </p:cNvSpPr>
                <p:nvPr/>
              </p:nvSpPr>
              <p:spPr bwMode="auto">
                <a:xfrm>
                  <a:off x="3725"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39" name="Line 88"/>
                <p:cNvSpPr>
                  <a:spLocks noChangeShapeType="1"/>
                </p:cNvSpPr>
                <p:nvPr/>
              </p:nvSpPr>
              <p:spPr bwMode="auto">
                <a:xfrm>
                  <a:off x="3782"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0" name="Line 89"/>
                <p:cNvSpPr>
                  <a:spLocks noChangeShapeType="1"/>
                </p:cNvSpPr>
                <p:nvPr/>
              </p:nvSpPr>
              <p:spPr bwMode="auto">
                <a:xfrm>
                  <a:off x="3838"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1" name="Line 90"/>
                <p:cNvSpPr>
                  <a:spLocks noChangeShapeType="1"/>
                </p:cNvSpPr>
                <p:nvPr/>
              </p:nvSpPr>
              <p:spPr bwMode="auto">
                <a:xfrm>
                  <a:off x="3895"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2" name="Line 91"/>
                <p:cNvSpPr>
                  <a:spLocks noChangeShapeType="1"/>
                </p:cNvSpPr>
                <p:nvPr/>
              </p:nvSpPr>
              <p:spPr bwMode="auto">
                <a:xfrm>
                  <a:off x="3952"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3" name="Line 92"/>
                <p:cNvSpPr>
                  <a:spLocks noChangeShapeType="1"/>
                </p:cNvSpPr>
                <p:nvPr/>
              </p:nvSpPr>
              <p:spPr bwMode="auto">
                <a:xfrm>
                  <a:off x="4009"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4" name="Line 93"/>
                <p:cNvSpPr>
                  <a:spLocks noChangeShapeType="1"/>
                </p:cNvSpPr>
                <p:nvPr/>
              </p:nvSpPr>
              <p:spPr bwMode="auto">
                <a:xfrm>
                  <a:off x="4066"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5" name="Line 94"/>
                <p:cNvSpPr>
                  <a:spLocks noChangeShapeType="1"/>
                </p:cNvSpPr>
                <p:nvPr/>
              </p:nvSpPr>
              <p:spPr bwMode="auto">
                <a:xfrm>
                  <a:off x="4122"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6" name="Line 95"/>
                <p:cNvSpPr>
                  <a:spLocks noChangeShapeType="1"/>
                </p:cNvSpPr>
                <p:nvPr/>
              </p:nvSpPr>
              <p:spPr bwMode="auto">
                <a:xfrm>
                  <a:off x="4179"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7" name="Line 96"/>
                <p:cNvSpPr>
                  <a:spLocks noChangeShapeType="1"/>
                </p:cNvSpPr>
                <p:nvPr/>
              </p:nvSpPr>
              <p:spPr bwMode="auto">
                <a:xfrm>
                  <a:off x="4236" y="125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8" name="Line 97"/>
                <p:cNvSpPr>
                  <a:spLocks noChangeShapeType="1"/>
                </p:cNvSpPr>
                <p:nvPr/>
              </p:nvSpPr>
              <p:spPr bwMode="auto">
                <a:xfrm>
                  <a:off x="4292" y="1650"/>
                  <a:ext cx="0" cy="733"/>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49" name="Line 98"/>
                <p:cNvSpPr>
                  <a:spLocks noChangeShapeType="1"/>
                </p:cNvSpPr>
                <p:nvPr/>
              </p:nvSpPr>
              <p:spPr bwMode="auto">
                <a:xfrm>
                  <a:off x="4348" y="1764"/>
                  <a:ext cx="0" cy="619"/>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50" name="Line 99"/>
                <p:cNvSpPr>
                  <a:spLocks noChangeShapeType="1"/>
                </p:cNvSpPr>
                <p:nvPr/>
              </p:nvSpPr>
              <p:spPr bwMode="auto">
                <a:xfrm>
                  <a:off x="4405" y="1877"/>
                  <a:ext cx="0" cy="397"/>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sp>
            <p:nvSpPr>
              <p:cNvPr id="76" name="Rectangle 100"/>
              <p:cNvSpPr>
                <a:spLocks noChangeArrowheads="1"/>
              </p:cNvSpPr>
              <p:nvPr/>
            </p:nvSpPr>
            <p:spPr bwMode="auto">
              <a:xfrm>
                <a:off x="2136" y="2330"/>
                <a:ext cx="58" cy="57"/>
              </a:xfrm>
              <a:prstGeom prst="rect">
                <a:avLst/>
              </a:prstGeom>
              <a:solidFill>
                <a:schemeClr val="tx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7" name="Rectangle 101"/>
              <p:cNvSpPr>
                <a:spLocks noChangeArrowheads="1"/>
              </p:cNvSpPr>
              <p:nvPr/>
            </p:nvSpPr>
            <p:spPr bwMode="auto">
              <a:xfrm>
                <a:off x="2194" y="2273"/>
                <a:ext cx="170"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8" name="Rectangle 102"/>
              <p:cNvSpPr>
                <a:spLocks noChangeArrowheads="1"/>
              </p:cNvSpPr>
              <p:nvPr/>
            </p:nvSpPr>
            <p:spPr bwMode="auto">
              <a:xfrm>
                <a:off x="2364" y="2216"/>
                <a:ext cx="170"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9" name="Rectangle 103"/>
              <p:cNvSpPr>
                <a:spLocks noChangeArrowheads="1"/>
              </p:cNvSpPr>
              <p:nvPr/>
            </p:nvSpPr>
            <p:spPr bwMode="auto">
              <a:xfrm>
                <a:off x="2534" y="2160"/>
                <a:ext cx="227"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0" name="Rectangle 104"/>
              <p:cNvSpPr>
                <a:spLocks noChangeArrowheads="1"/>
              </p:cNvSpPr>
              <p:nvPr/>
            </p:nvSpPr>
            <p:spPr bwMode="auto">
              <a:xfrm>
                <a:off x="2761" y="2103"/>
                <a:ext cx="170"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1" name="Rectangle 105"/>
              <p:cNvSpPr>
                <a:spLocks noChangeArrowheads="1"/>
              </p:cNvSpPr>
              <p:nvPr/>
            </p:nvSpPr>
            <p:spPr bwMode="auto">
              <a:xfrm>
                <a:off x="2931" y="2047"/>
                <a:ext cx="58"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2" name="Rectangle 106"/>
              <p:cNvSpPr>
                <a:spLocks noChangeArrowheads="1"/>
              </p:cNvSpPr>
              <p:nvPr/>
            </p:nvSpPr>
            <p:spPr bwMode="auto">
              <a:xfrm>
                <a:off x="2988" y="1990"/>
                <a:ext cx="58"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3" name="Rectangle 107"/>
              <p:cNvSpPr>
                <a:spLocks noChangeArrowheads="1"/>
              </p:cNvSpPr>
              <p:nvPr/>
            </p:nvSpPr>
            <p:spPr bwMode="auto">
              <a:xfrm>
                <a:off x="3043" y="1877"/>
                <a:ext cx="58" cy="11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4" name="Rectangle 108"/>
              <p:cNvSpPr>
                <a:spLocks noChangeArrowheads="1"/>
              </p:cNvSpPr>
              <p:nvPr/>
            </p:nvSpPr>
            <p:spPr bwMode="auto">
              <a:xfrm>
                <a:off x="3100" y="1707"/>
                <a:ext cx="58" cy="173"/>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5" name="Rectangle 109"/>
              <p:cNvSpPr>
                <a:spLocks noChangeArrowheads="1"/>
              </p:cNvSpPr>
              <p:nvPr/>
            </p:nvSpPr>
            <p:spPr bwMode="auto">
              <a:xfrm>
                <a:off x="3158" y="1536"/>
                <a:ext cx="58" cy="170"/>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6" name="Rectangle 110"/>
              <p:cNvSpPr>
                <a:spLocks noChangeArrowheads="1"/>
              </p:cNvSpPr>
              <p:nvPr/>
            </p:nvSpPr>
            <p:spPr bwMode="auto">
              <a:xfrm>
                <a:off x="3213" y="1480"/>
                <a:ext cx="58"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7" name="Rectangle 111"/>
              <p:cNvSpPr>
                <a:spLocks noChangeArrowheads="1"/>
              </p:cNvSpPr>
              <p:nvPr/>
            </p:nvSpPr>
            <p:spPr bwMode="auto">
              <a:xfrm>
                <a:off x="3271" y="1423"/>
                <a:ext cx="112"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8" name="Rectangle 112"/>
              <p:cNvSpPr>
                <a:spLocks noChangeArrowheads="1"/>
              </p:cNvSpPr>
              <p:nvPr/>
            </p:nvSpPr>
            <p:spPr bwMode="auto">
              <a:xfrm>
                <a:off x="3386" y="1366"/>
                <a:ext cx="169"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89" name="Rectangle 113"/>
              <p:cNvSpPr>
                <a:spLocks noChangeArrowheads="1"/>
              </p:cNvSpPr>
              <p:nvPr/>
            </p:nvSpPr>
            <p:spPr bwMode="auto">
              <a:xfrm>
                <a:off x="3556" y="1310"/>
                <a:ext cx="169"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90" name="Rectangle 114"/>
              <p:cNvSpPr>
                <a:spLocks noChangeArrowheads="1"/>
              </p:cNvSpPr>
              <p:nvPr/>
            </p:nvSpPr>
            <p:spPr bwMode="auto">
              <a:xfrm>
                <a:off x="3725" y="1253"/>
                <a:ext cx="57" cy="57"/>
              </a:xfrm>
              <a:prstGeom prst="rect">
                <a:avLst/>
              </a:prstGeom>
              <a:solidFill>
                <a:schemeClr val="tx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59" name="Group 115"/>
            <p:cNvGrpSpPr>
              <a:grpSpLocks/>
            </p:cNvGrpSpPr>
            <p:nvPr/>
          </p:nvGrpSpPr>
          <p:grpSpPr bwMode="auto">
            <a:xfrm>
              <a:off x="3789" y="1489"/>
              <a:ext cx="142" cy="28"/>
              <a:chOff x="4049" y="884"/>
              <a:chExt cx="142" cy="28"/>
            </a:xfrm>
          </p:grpSpPr>
          <p:sp>
            <p:nvSpPr>
              <p:cNvPr id="72" name="Oval 116"/>
              <p:cNvSpPr>
                <a:spLocks noChangeArrowheads="1"/>
              </p:cNvSpPr>
              <p:nvPr/>
            </p:nvSpPr>
            <p:spPr bwMode="auto">
              <a:xfrm>
                <a:off x="4049"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3" name="Oval 117"/>
              <p:cNvSpPr>
                <a:spLocks noChangeArrowheads="1"/>
              </p:cNvSpPr>
              <p:nvPr/>
            </p:nvSpPr>
            <p:spPr bwMode="auto">
              <a:xfrm>
                <a:off x="4106"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4" name="Oval 118"/>
              <p:cNvSpPr>
                <a:spLocks noChangeArrowheads="1"/>
              </p:cNvSpPr>
              <p:nvPr/>
            </p:nvSpPr>
            <p:spPr bwMode="auto">
              <a:xfrm>
                <a:off x="4163"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60" name="Group 119"/>
            <p:cNvGrpSpPr>
              <a:grpSpLocks/>
            </p:cNvGrpSpPr>
            <p:nvPr/>
          </p:nvGrpSpPr>
          <p:grpSpPr bwMode="auto">
            <a:xfrm>
              <a:off x="3988" y="1715"/>
              <a:ext cx="142" cy="28"/>
              <a:chOff x="4049" y="884"/>
              <a:chExt cx="142" cy="28"/>
            </a:xfrm>
          </p:grpSpPr>
          <p:sp>
            <p:nvSpPr>
              <p:cNvPr id="69" name="Oval 120"/>
              <p:cNvSpPr>
                <a:spLocks noChangeArrowheads="1"/>
              </p:cNvSpPr>
              <p:nvPr/>
            </p:nvSpPr>
            <p:spPr bwMode="auto">
              <a:xfrm>
                <a:off x="4049"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0" name="Oval 121"/>
              <p:cNvSpPr>
                <a:spLocks noChangeArrowheads="1"/>
              </p:cNvSpPr>
              <p:nvPr/>
            </p:nvSpPr>
            <p:spPr bwMode="auto">
              <a:xfrm>
                <a:off x="4106"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71" name="Oval 122"/>
              <p:cNvSpPr>
                <a:spLocks noChangeArrowheads="1"/>
              </p:cNvSpPr>
              <p:nvPr/>
            </p:nvSpPr>
            <p:spPr bwMode="auto">
              <a:xfrm>
                <a:off x="4163"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61" name="Group 123"/>
            <p:cNvGrpSpPr>
              <a:grpSpLocks/>
            </p:cNvGrpSpPr>
            <p:nvPr/>
          </p:nvGrpSpPr>
          <p:grpSpPr bwMode="auto">
            <a:xfrm>
              <a:off x="4045" y="1772"/>
              <a:ext cx="142" cy="28"/>
              <a:chOff x="4049" y="884"/>
              <a:chExt cx="142" cy="28"/>
            </a:xfrm>
          </p:grpSpPr>
          <p:sp>
            <p:nvSpPr>
              <p:cNvPr id="66" name="Oval 124"/>
              <p:cNvSpPr>
                <a:spLocks noChangeArrowheads="1"/>
              </p:cNvSpPr>
              <p:nvPr/>
            </p:nvSpPr>
            <p:spPr bwMode="auto">
              <a:xfrm>
                <a:off x="4049"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7" name="Oval 125"/>
              <p:cNvSpPr>
                <a:spLocks noChangeArrowheads="1"/>
              </p:cNvSpPr>
              <p:nvPr/>
            </p:nvSpPr>
            <p:spPr bwMode="auto">
              <a:xfrm>
                <a:off x="4106"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8" name="Oval 126"/>
              <p:cNvSpPr>
                <a:spLocks noChangeArrowheads="1"/>
              </p:cNvSpPr>
              <p:nvPr/>
            </p:nvSpPr>
            <p:spPr bwMode="auto">
              <a:xfrm>
                <a:off x="4163"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nvGrpSpPr>
            <p:cNvPr id="62" name="Group 127"/>
            <p:cNvGrpSpPr>
              <a:grpSpLocks/>
            </p:cNvGrpSpPr>
            <p:nvPr/>
          </p:nvGrpSpPr>
          <p:grpSpPr bwMode="auto">
            <a:xfrm>
              <a:off x="4300" y="2367"/>
              <a:ext cx="142" cy="28"/>
              <a:chOff x="4049" y="884"/>
              <a:chExt cx="142" cy="28"/>
            </a:xfrm>
          </p:grpSpPr>
          <p:sp>
            <p:nvSpPr>
              <p:cNvPr id="63" name="Oval 128"/>
              <p:cNvSpPr>
                <a:spLocks noChangeArrowheads="1"/>
              </p:cNvSpPr>
              <p:nvPr/>
            </p:nvSpPr>
            <p:spPr bwMode="auto">
              <a:xfrm>
                <a:off x="4049"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4" name="Oval 129"/>
              <p:cNvSpPr>
                <a:spLocks noChangeArrowheads="1"/>
              </p:cNvSpPr>
              <p:nvPr/>
            </p:nvSpPr>
            <p:spPr bwMode="auto">
              <a:xfrm>
                <a:off x="4106"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65" name="Oval 130"/>
              <p:cNvSpPr>
                <a:spLocks noChangeArrowheads="1"/>
              </p:cNvSpPr>
              <p:nvPr/>
            </p:nvSpPr>
            <p:spPr bwMode="auto">
              <a:xfrm>
                <a:off x="4163" y="884"/>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grpSp>
    </p:spTree>
    <p:extLst>
      <p:ext uri="{BB962C8B-B14F-4D97-AF65-F5344CB8AC3E}">
        <p14:creationId xmlns:p14="http://schemas.microsoft.com/office/powerpoint/2010/main" val="29073270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ja-JP" dirty="0">
                <a:latin typeface="+mj-lt"/>
              </a:rPr>
              <a:t>Subsequence </a:t>
            </a:r>
            <a:r>
              <a:rPr lang="en-US" altLang="ja-JP" dirty="0" smtClean="0">
                <a:latin typeface="+mj-lt"/>
              </a:rPr>
              <a:t>Matching</a:t>
            </a:r>
            <a:endParaRPr lang="zh-TW" altLang="en-US" dirty="0">
              <a:latin typeface="+mj-lt"/>
            </a:endParaRPr>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12</a:t>
            </a:fld>
            <a:endParaRPr lang="zh-TW" altLang="en-US"/>
          </a:p>
        </p:txBody>
      </p:sp>
      <p:sp>
        <p:nvSpPr>
          <p:cNvPr id="5" name="內容版面配置區 4"/>
          <p:cNvSpPr>
            <a:spLocks noGrp="1"/>
          </p:cNvSpPr>
          <p:nvPr>
            <p:ph sz="quarter" idx="1"/>
          </p:nvPr>
        </p:nvSpPr>
        <p:spPr/>
        <p:txBody>
          <a:bodyPr/>
          <a:lstStyle/>
          <a:p>
            <a:endParaRPr lang="zh-TW" altLang="en-US" dirty="0"/>
          </a:p>
        </p:txBody>
      </p:sp>
      <p:grpSp>
        <p:nvGrpSpPr>
          <p:cNvPr id="38" name="Group 39"/>
          <p:cNvGrpSpPr>
            <a:grpSpLocks/>
          </p:cNvGrpSpPr>
          <p:nvPr/>
        </p:nvGrpSpPr>
        <p:grpSpPr bwMode="auto">
          <a:xfrm>
            <a:off x="671513" y="1219200"/>
            <a:ext cx="7419975" cy="3873500"/>
            <a:chOff x="423" y="856"/>
            <a:chExt cx="4674" cy="2440"/>
          </a:xfrm>
        </p:grpSpPr>
        <p:grpSp>
          <p:nvGrpSpPr>
            <p:cNvPr id="39" name="Group 40"/>
            <p:cNvGrpSpPr>
              <a:grpSpLocks/>
            </p:cNvGrpSpPr>
            <p:nvPr/>
          </p:nvGrpSpPr>
          <p:grpSpPr bwMode="auto">
            <a:xfrm>
              <a:off x="2112" y="856"/>
              <a:ext cx="1521" cy="1185"/>
              <a:chOff x="2058" y="289"/>
              <a:chExt cx="1560" cy="1185"/>
            </a:xfrm>
          </p:grpSpPr>
          <p:sp>
            <p:nvSpPr>
              <p:cNvPr id="62" name="Freeform 41"/>
              <p:cNvSpPr>
                <a:spLocks/>
              </p:cNvSpPr>
              <p:nvPr/>
            </p:nvSpPr>
            <p:spPr bwMode="auto">
              <a:xfrm>
                <a:off x="2058" y="344"/>
                <a:ext cx="879" cy="970"/>
              </a:xfrm>
              <a:custGeom>
                <a:avLst/>
                <a:gdLst>
                  <a:gd name="T0" fmla="*/ 0 w 879"/>
                  <a:gd name="T1" fmla="*/ 804 h 970"/>
                  <a:gd name="T2" fmla="*/ 199 w 879"/>
                  <a:gd name="T3" fmla="*/ 10 h 970"/>
                  <a:gd name="T4" fmla="*/ 426 w 879"/>
                  <a:gd name="T5" fmla="*/ 861 h 970"/>
                  <a:gd name="T6" fmla="*/ 567 w 879"/>
                  <a:gd name="T7" fmla="*/ 662 h 970"/>
                  <a:gd name="T8" fmla="*/ 681 w 879"/>
                  <a:gd name="T9" fmla="*/ 946 h 970"/>
                  <a:gd name="T10" fmla="*/ 794 w 879"/>
                  <a:gd name="T11" fmla="*/ 691 h 970"/>
                  <a:gd name="T12" fmla="*/ 879 w 879"/>
                  <a:gd name="T13" fmla="*/ 889 h 970"/>
                </a:gdLst>
                <a:ahLst/>
                <a:cxnLst>
                  <a:cxn ang="0">
                    <a:pos x="T0" y="T1"/>
                  </a:cxn>
                  <a:cxn ang="0">
                    <a:pos x="T2" y="T3"/>
                  </a:cxn>
                  <a:cxn ang="0">
                    <a:pos x="T4" y="T5"/>
                  </a:cxn>
                  <a:cxn ang="0">
                    <a:pos x="T6" y="T7"/>
                  </a:cxn>
                  <a:cxn ang="0">
                    <a:pos x="T8" y="T9"/>
                  </a:cxn>
                  <a:cxn ang="0">
                    <a:pos x="T10" y="T11"/>
                  </a:cxn>
                  <a:cxn ang="0">
                    <a:pos x="T12" y="T13"/>
                  </a:cxn>
                </a:cxnLst>
                <a:rect l="0" t="0" r="r" b="b"/>
                <a:pathLst>
                  <a:path w="879" h="970">
                    <a:moveTo>
                      <a:pt x="0" y="804"/>
                    </a:moveTo>
                    <a:cubicBezTo>
                      <a:pt x="64" y="402"/>
                      <a:pt x="128" y="0"/>
                      <a:pt x="199" y="10"/>
                    </a:cubicBezTo>
                    <a:cubicBezTo>
                      <a:pt x="270" y="20"/>
                      <a:pt x="365" y="752"/>
                      <a:pt x="426" y="861"/>
                    </a:cubicBezTo>
                    <a:cubicBezTo>
                      <a:pt x="487" y="970"/>
                      <a:pt x="525" y="648"/>
                      <a:pt x="567" y="662"/>
                    </a:cubicBezTo>
                    <a:cubicBezTo>
                      <a:pt x="609" y="676"/>
                      <a:pt x="643" y="941"/>
                      <a:pt x="681" y="946"/>
                    </a:cubicBezTo>
                    <a:cubicBezTo>
                      <a:pt x="719" y="951"/>
                      <a:pt x="761" y="701"/>
                      <a:pt x="794" y="691"/>
                    </a:cubicBezTo>
                    <a:cubicBezTo>
                      <a:pt x="827" y="681"/>
                      <a:pt x="853" y="785"/>
                      <a:pt x="879" y="889"/>
                    </a:cubicBezTo>
                  </a:path>
                </a:pathLst>
              </a:custGeom>
              <a:noFill/>
              <a:ln w="444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3" name="Freeform 42"/>
              <p:cNvSpPr>
                <a:spLocks/>
              </p:cNvSpPr>
              <p:nvPr/>
            </p:nvSpPr>
            <p:spPr bwMode="auto">
              <a:xfrm>
                <a:off x="2937" y="289"/>
                <a:ext cx="681" cy="1185"/>
              </a:xfrm>
              <a:custGeom>
                <a:avLst/>
                <a:gdLst>
                  <a:gd name="T0" fmla="*/ 0 w 681"/>
                  <a:gd name="T1" fmla="*/ 944 h 1185"/>
                  <a:gd name="T2" fmla="*/ 142 w 681"/>
                  <a:gd name="T3" fmla="*/ 1029 h 1185"/>
                  <a:gd name="T4" fmla="*/ 454 w 681"/>
                  <a:gd name="T5" fmla="*/ 9 h 1185"/>
                  <a:gd name="T6" fmla="*/ 681 w 681"/>
                  <a:gd name="T7" fmla="*/ 973 h 1185"/>
                </a:gdLst>
                <a:ahLst/>
                <a:cxnLst>
                  <a:cxn ang="0">
                    <a:pos x="T0" y="T1"/>
                  </a:cxn>
                  <a:cxn ang="0">
                    <a:pos x="T2" y="T3"/>
                  </a:cxn>
                  <a:cxn ang="0">
                    <a:pos x="T4" y="T5"/>
                  </a:cxn>
                  <a:cxn ang="0">
                    <a:pos x="T6" y="T7"/>
                  </a:cxn>
                </a:cxnLst>
                <a:rect l="0" t="0" r="r" b="b"/>
                <a:pathLst>
                  <a:path w="681" h="1185">
                    <a:moveTo>
                      <a:pt x="0" y="944"/>
                    </a:moveTo>
                    <a:cubicBezTo>
                      <a:pt x="33" y="1064"/>
                      <a:pt x="66" y="1185"/>
                      <a:pt x="142" y="1029"/>
                    </a:cubicBezTo>
                    <a:cubicBezTo>
                      <a:pt x="218" y="873"/>
                      <a:pt x="364" y="18"/>
                      <a:pt x="454" y="9"/>
                    </a:cubicBezTo>
                    <a:cubicBezTo>
                      <a:pt x="544" y="0"/>
                      <a:pt x="612" y="486"/>
                      <a:pt x="681" y="973"/>
                    </a:cubicBezTo>
                  </a:path>
                </a:pathLst>
              </a:custGeom>
              <a:noFill/>
              <a:ln w="444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sp>
          <p:nvSpPr>
            <p:cNvPr id="40" name="Line 43"/>
            <p:cNvSpPr>
              <a:spLocks noChangeShapeType="1"/>
            </p:cNvSpPr>
            <p:nvPr/>
          </p:nvSpPr>
          <p:spPr bwMode="auto">
            <a:xfrm flipH="1">
              <a:off x="1886" y="1650"/>
              <a:ext cx="227" cy="105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1" name="Line 44"/>
            <p:cNvSpPr>
              <a:spLocks noChangeShapeType="1"/>
            </p:cNvSpPr>
            <p:nvPr/>
          </p:nvSpPr>
          <p:spPr bwMode="auto">
            <a:xfrm flipH="1">
              <a:off x="2331" y="1229"/>
              <a:ext cx="72" cy="110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2" name="Line 45"/>
            <p:cNvSpPr>
              <a:spLocks noChangeShapeType="1"/>
            </p:cNvSpPr>
            <p:nvPr/>
          </p:nvSpPr>
          <p:spPr bwMode="auto">
            <a:xfrm>
              <a:off x="2543" y="1790"/>
              <a:ext cx="7" cy="103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3" name="Line 46"/>
            <p:cNvSpPr>
              <a:spLocks noChangeShapeType="1"/>
            </p:cNvSpPr>
            <p:nvPr/>
          </p:nvSpPr>
          <p:spPr bwMode="auto">
            <a:xfrm>
              <a:off x="2667" y="1571"/>
              <a:ext cx="116" cy="94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4" name="Line 47"/>
            <p:cNvSpPr>
              <a:spLocks noChangeShapeType="1"/>
            </p:cNvSpPr>
            <p:nvPr/>
          </p:nvSpPr>
          <p:spPr bwMode="auto">
            <a:xfrm>
              <a:off x="2782" y="1862"/>
              <a:ext cx="147" cy="97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5" name="Line 48"/>
            <p:cNvSpPr>
              <a:spLocks noChangeShapeType="1"/>
            </p:cNvSpPr>
            <p:nvPr/>
          </p:nvSpPr>
          <p:spPr bwMode="auto">
            <a:xfrm>
              <a:off x="2885" y="1607"/>
              <a:ext cx="212" cy="91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46" name="Text Box 49"/>
            <p:cNvSpPr txBox="1">
              <a:spLocks noChangeArrowheads="1"/>
            </p:cNvSpPr>
            <p:nvPr/>
          </p:nvSpPr>
          <p:spPr bwMode="auto">
            <a:xfrm>
              <a:off x="3733" y="2186"/>
              <a:ext cx="324"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20000"/>
                </a:spcBef>
              </a:pPr>
              <a:r>
                <a:rPr lang="en-US" altLang="ja-JP" sz="2800" b="0" i="1">
                  <a:latin typeface="Times New Roman" pitchFamily="18" charset="0"/>
                </a:rPr>
                <a:t>x</a:t>
              </a:r>
              <a:r>
                <a:rPr lang="en-US" altLang="ja-JP" sz="2800" b="0" i="1" baseline="-25000">
                  <a:latin typeface="Times New Roman" pitchFamily="18" charset="0"/>
                </a:rPr>
                <a:t>t</a:t>
              </a:r>
              <a:r>
                <a:rPr lang="en-US" altLang="ja-JP" sz="2800" b="0" baseline="-38000">
                  <a:latin typeface="Times New Roman" pitchFamily="18" charset="0"/>
                </a:rPr>
                <a:t>e</a:t>
              </a:r>
              <a:endParaRPr lang="ja-JP" altLang="en-US" sz="2800" b="0" baseline="-38000">
                <a:latin typeface="Times New Roman" pitchFamily="18" charset="0"/>
              </a:endParaRPr>
            </a:p>
          </p:txBody>
        </p:sp>
        <p:sp>
          <p:nvSpPr>
            <p:cNvPr id="47" name="Text Box 50"/>
            <p:cNvSpPr txBox="1">
              <a:spLocks noChangeArrowheads="1"/>
            </p:cNvSpPr>
            <p:nvPr/>
          </p:nvSpPr>
          <p:spPr bwMode="auto">
            <a:xfrm>
              <a:off x="1624" y="2231"/>
              <a:ext cx="316"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20000"/>
                </a:spcBef>
              </a:pPr>
              <a:r>
                <a:rPr lang="en-US" altLang="ja-JP" sz="2800" b="0" i="1">
                  <a:latin typeface="Times New Roman" pitchFamily="18" charset="0"/>
                </a:rPr>
                <a:t>x</a:t>
              </a:r>
              <a:r>
                <a:rPr lang="en-US" altLang="ja-JP" sz="2800" b="0" i="1" baseline="-25000">
                  <a:latin typeface="Times New Roman" pitchFamily="18" charset="0"/>
                </a:rPr>
                <a:t>t</a:t>
              </a:r>
              <a:r>
                <a:rPr lang="en-US" altLang="ja-JP" sz="2800" b="0" i="1" baseline="-38000">
                  <a:latin typeface="Times New Roman" pitchFamily="18" charset="0"/>
                </a:rPr>
                <a:t>s</a:t>
              </a:r>
            </a:p>
          </p:txBody>
        </p:sp>
        <p:sp>
          <p:nvSpPr>
            <p:cNvPr id="48" name="Line 51"/>
            <p:cNvSpPr>
              <a:spLocks noChangeShapeType="1"/>
            </p:cNvSpPr>
            <p:nvPr/>
          </p:nvSpPr>
          <p:spPr bwMode="auto">
            <a:xfrm>
              <a:off x="696" y="2703"/>
              <a:ext cx="4309" cy="4"/>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49" name="Text Box 52"/>
            <p:cNvSpPr txBox="1">
              <a:spLocks noChangeArrowheads="1"/>
            </p:cNvSpPr>
            <p:nvPr/>
          </p:nvSpPr>
          <p:spPr bwMode="auto">
            <a:xfrm>
              <a:off x="638" y="2215"/>
              <a:ext cx="2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20000"/>
                </a:spcBef>
              </a:pPr>
              <a:r>
                <a:rPr lang="en-US" altLang="ja-JP" sz="2800" b="0" i="1">
                  <a:latin typeface="Times New Roman" pitchFamily="18" charset="0"/>
                </a:rPr>
                <a:t>x</a:t>
              </a:r>
              <a:r>
                <a:rPr lang="en-US" altLang="ja-JP" sz="2800" b="0" baseline="-25000">
                  <a:latin typeface="Times New Roman" pitchFamily="18" charset="0"/>
                </a:rPr>
                <a:t>1</a:t>
              </a:r>
            </a:p>
          </p:txBody>
        </p:sp>
        <p:sp>
          <p:nvSpPr>
            <p:cNvPr id="50" name="Text Box 53"/>
            <p:cNvSpPr txBox="1">
              <a:spLocks noChangeArrowheads="1"/>
            </p:cNvSpPr>
            <p:nvPr/>
          </p:nvSpPr>
          <p:spPr bwMode="auto">
            <a:xfrm>
              <a:off x="4806" y="2252"/>
              <a:ext cx="2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20000"/>
                </a:spcBef>
              </a:pPr>
              <a:r>
                <a:rPr lang="en-US" altLang="ja-JP" sz="2800" b="0" i="1">
                  <a:latin typeface="Times New Roman" pitchFamily="18" charset="0"/>
                </a:rPr>
                <a:t>x</a:t>
              </a:r>
              <a:r>
                <a:rPr lang="en-US" altLang="ja-JP" sz="2800" b="0" i="1" baseline="-25000">
                  <a:latin typeface="Times New Roman" pitchFamily="18" charset="0"/>
                </a:rPr>
                <a:t>n</a:t>
              </a:r>
            </a:p>
          </p:txBody>
        </p:sp>
        <p:sp>
          <p:nvSpPr>
            <p:cNvPr id="51" name="Freeform 54"/>
            <p:cNvSpPr>
              <a:spLocks/>
            </p:cNvSpPr>
            <p:nvPr/>
          </p:nvSpPr>
          <p:spPr bwMode="auto">
            <a:xfrm>
              <a:off x="752" y="1917"/>
              <a:ext cx="4225" cy="1379"/>
            </a:xfrm>
            <a:custGeom>
              <a:avLst/>
              <a:gdLst>
                <a:gd name="T0" fmla="*/ 0 w 4225"/>
                <a:gd name="T1" fmla="*/ 605 h 1379"/>
                <a:gd name="T2" fmla="*/ 199 w 4225"/>
                <a:gd name="T3" fmla="*/ 945 h 1379"/>
                <a:gd name="T4" fmla="*/ 397 w 4225"/>
                <a:gd name="T5" fmla="*/ 633 h 1379"/>
                <a:gd name="T6" fmla="*/ 681 w 4225"/>
                <a:gd name="T7" fmla="*/ 945 h 1379"/>
                <a:gd name="T8" fmla="*/ 936 w 4225"/>
                <a:gd name="T9" fmla="*/ 661 h 1379"/>
                <a:gd name="T10" fmla="*/ 1078 w 4225"/>
                <a:gd name="T11" fmla="*/ 945 h 1379"/>
                <a:gd name="T12" fmla="*/ 1390 w 4225"/>
                <a:gd name="T13" fmla="*/ 9 h 1379"/>
                <a:gd name="T14" fmla="*/ 1758 w 4225"/>
                <a:gd name="T15" fmla="*/ 888 h 1379"/>
                <a:gd name="T16" fmla="*/ 2042 w 4225"/>
                <a:gd name="T17" fmla="*/ 605 h 1379"/>
                <a:gd name="T18" fmla="*/ 2183 w 4225"/>
                <a:gd name="T19" fmla="*/ 917 h 1379"/>
                <a:gd name="T20" fmla="*/ 2353 w 4225"/>
                <a:gd name="T21" fmla="*/ 605 h 1379"/>
                <a:gd name="T22" fmla="*/ 2524 w 4225"/>
                <a:gd name="T23" fmla="*/ 917 h 1379"/>
                <a:gd name="T24" fmla="*/ 2779 w 4225"/>
                <a:gd name="T25" fmla="*/ 9 h 1379"/>
                <a:gd name="T26" fmla="*/ 3091 w 4225"/>
                <a:gd name="T27" fmla="*/ 917 h 1379"/>
                <a:gd name="T28" fmla="*/ 3289 w 4225"/>
                <a:gd name="T29" fmla="*/ 661 h 1379"/>
                <a:gd name="T30" fmla="*/ 3487 w 4225"/>
                <a:gd name="T31" fmla="*/ 1313 h 1379"/>
                <a:gd name="T32" fmla="*/ 3572 w 4225"/>
                <a:gd name="T33" fmla="*/ 1058 h 1379"/>
                <a:gd name="T34" fmla="*/ 3686 w 4225"/>
                <a:gd name="T35" fmla="*/ 1285 h 1379"/>
                <a:gd name="T36" fmla="*/ 3771 w 4225"/>
                <a:gd name="T37" fmla="*/ 973 h 1379"/>
                <a:gd name="T38" fmla="*/ 3856 w 4225"/>
                <a:gd name="T39" fmla="*/ 1115 h 1379"/>
                <a:gd name="T40" fmla="*/ 4026 w 4225"/>
                <a:gd name="T41" fmla="*/ 576 h 1379"/>
                <a:gd name="T42" fmla="*/ 4225 w 4225"/>
                <a:gd name="T43" fmla="*/ 917 h 13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25" h="1379">
                  <a:moveTo>
                    <a:pt x="0" y="605"/>
                  </a:moveTo>
                  <a:cubicBezTo>
                    <a:pt x="66" y="772"/>
                    <a:pt x="133" y="940"/>
                    <a:pt x="199" y="945"/>
                  </a:cubicBezTo>
                  <a:cubicBezTo>
                    <a:pt x="265" y="950"/>
                    <a:pt x="317" y="633"/>
                    <a:pt x="397" y="633"/>
                  </a:cubicBezTo>
                  <a:cubicBezTo>
                    <a:pt x="477" y="633"/>
                    <a:pt x="591" y="940"/>
                    <a:pt x="681" y="945"/>
                  </a:cubicBezTo>
                  <a:cubicBezTo>
                    <a:pt x="771" y="950"/>
                    <a:pt x="870" y="661"/>
                    <a:pt x="936" y="661"/>
                  </a:cubicBezTo>
                  <a:cubicBezTo>
                    <a:pt x="1002" y="661"/>
                    <a:pt x="1002" y="1054"/>
                    <a:pt x="1078" y="945"/>
                  </a:cubicBezTo>
                  <a:cubicBezTo>
                    <a:pt x="1154" y="836"/>
                    <a:pt x="1277" y="18"/>
                    <a:pt x="1390" y="9"/>
                  </a:cubicBezTo>
                  <a:cubicBezTo>
                    <a:pt x="1503" y="0"/>
                    <a:pt x="1649" y="789"/>
                    <a:pt x="1758" y="888"/>
                  </a:cubicBezTo>
                  <a:cubicBezTo>
                    <a:pt x="1867" y="987"/>
                    <a:pt x="1971" y="600"/>
                    <a:pt x="2042" y="605"/>
                  </a:cubicBezTo>
                  <a:cubicBezTo>
                    <a:pt x="2113" y="610"/>
                    <a:pt x="2131" y="917"/>
                    <a:pt x="2183" y="917"/>
                  </a:cubicBezTo>
                  <a:cubicBezTo>
                    <a:pt x="2235" y="917"/>
                    <a:pt x="2296" y="605"/>
                    <a:pt x="2353" y="605"/>
                  </a:cubicBezTo>
                  <a:cubicBezTo>
                    <a:pt x="2410" y="605"/>
                    <a:pt x="2453" y="1016"/>
                    <a:pt x="2524" y="917"/>
                  </a:cubicBezTo>
                  <a:cubicBezTo>
                    <a:pt x="2595" y="818"/>
                    <a:pt x="2685" y="9"/>
                    <a:pt x="2779" y="9"/>
                  </a:cubicBezTo>
                  <a:cubicBezTo>
                    <a:pt x="2873" y="9"/>
                    <a:pt x="3006" y="808"/>
                    <a:pt x="3091" y="917"/>
                  </a:cubicBezTo>
                  <a:cubicBezTo>
                    <a:pt x="3176" y="1026"/>
                    <a:pt x="3223" y="595"/>
                    <a:pt x="3289" y="661"/>
                  </a:cubicBezTo>
                  <a:cubicBezTo>
                    <a:pt x="3355" y="727"/>
                    <a:pt x="3440" y="1247"/>
                    <a:pt x="3487" y="1313"/>
                  </a:cubicBezTo>
                  <a:cubicBezTo>
                    <a:pt x="3534" y="1379"/>
                    <a:pt x="3539" y="1063"/>
                    <a:pt x="3572" y="1058"/>
                  </a:cubicBezTo>
                  <a:cubicBezTo>
                    <a:pt x="3605" y="1053"/>
                    <a:pt x="3653" y="1299"/>
                    <a:pt x="3686" y="1285"/>
                  </a:cubicBezTo>
                  <a:cubicBezTo>
                    <a:pt x="3719" y="1271"/>
                    <a:pt x="3743" y="1001"/>
                    <a:pt x="3771" y="973"/>
                  </a:cubicBezTo>
                  <a:cubicBezTo>
                    <a:pt x="3799" y="945"/>
                    <a:pt x="3813" y="1181"/>
                    <a:pt x="3856" y="1115"/>
                  </a:cubicBezTo>
                  <a:cubicBezTo>
                    <a:pt x="3899" y="1049"/>
                    <a:pt x="3965" y="609"/>
                    <a:pt x="4026" y="576"/>
                  </a:cubicBezTo>
                  <a:cubicBezTo>
                    <a:pt x="4087" y="543"/>
                    <a:pt x="4156" y="730"/>
                    <a:pt x="4225" y="917"/>
                  </a:cubicBezTo>
                </a:path>
              </a:pathLst>
            </a:custGeom>
            <a:noFill/>
            <a:ln w="444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2" name="Text Box 55"/>
            <p:cNvSpPr txBox="1">
              <a:spLocks noChangeArrowheads="1"/>
            </p:cNvSpPr>
            <p:nvPr/>
          </p:nvSpPr>
          <p:spPr bwMode="auto">
            <a:xfrm>
              <a:off x="423" y="2526"/>
              <a:ext cx="273"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20000"/>
                </a:spcBef>
              </a:pPr>
              <a:r>
                <a:rPr lang="en-US" altLang="ja-JP" sz="2800" b="0" i="1">
                  <a:latin typeface="Times New Roman" pitchFamily="18" charset="0"/>
                </a:rPr>
                <a:t>X</a:t>
              </a:r>
              <a:endParaRPr lang="en-US" altLang="ja-JP" sz="2800" b="0" i="1" baseline="-25000">
                <a:latin typeface="Times New Roman" pitchFamily="18" charset="0"/>
              </a:endParaRPr>
            </a:p>
          </p:txBody>
        </p:sp>
        <p:sp>
          <p:nvSpPr>
            <p:cNvPr id="53" name="Line 56"/>
            <p:cNvSpPr>
              <a:spLocks noChangeShapeType="1"/>
            </p:cNvSpPr>
            <p:nvPr/>
          </p:nvSpPr>
          <p:spPr bwMode="auto">
            <a:xfrm>
              <a:off x="3047" y="1971"/>
              <a:ext cx="210" cy="86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4" name="Line 57"/>
            <p:cNvSpPr>
              <a:spLocks noChangeShapeType="1"/>
            </p:cNvSpPr>
            <p:nvPr/>
          </p:nvSpPr>
          <p:spPr bwMode="auto">
            <a:xfrm>
              <a:off x="3278" y="1228"/>
              <a:ext cx="118" cy="1094"/>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55" name="Text Box 58"/>
            <p:cNvSpPr txBox="1">
              <a:spLocks noChangeArrowheads="1"/>
            </p:cNvSpPr>
            <p:nvPr/>
          </p:nvSpPr>
          <p:spPr bwMode="auto">
            <a:xfrm>
              <a:off x="3633" y="1315"/>
              <a:ext cx="325"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20000"/>
                </a:spcBef>
              </a:pPr>
              <a:r>
                <a:rPr lang="en-US" altLang="ja-JP" sz="2800" b="0" i="1">
                  <a:latin typeface="Times New Roman" pitchFamily="18" charset="0"/>
                </a:rPr>
                <a:t>y</a:t>
              </a:r>
              <a:r>
                <a:rPr lang="en-US" altLang="ja-JP" sz="2800" b="0" i="1" baseline="-40000">
                  <a:latin typeface="Times New Roman" pitchFamily="18" charset="0"/>
                </a:rPr>
                <a:t>m</a:t>
              </a:r>
            </a:p>
          </p:txBody>
        </p:sp>
        <p:sp>
          <p:nvSpPr>
            <p:cNvPr id="56" name="Text Box 59"/>
            <p:cNvSpPr txBox="1">
              <a:spLocks noChangeArrowheads="1"/>
            </p:cNvSpPr>
            <p:nvPr/>
          </p:nvSpPr>
          <p:spPr bwMode="auto">
            <a:xfrm>
              <a:off x="1757" y="1535"/>
              <a:ext cx="30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spcBef>
                  <a:spcPct val="20000"/>
                </a:spcBef>
              </a:pPr>
              <a:r>
                <a:rPr lang="en-US" altLang="ja-JP" sz="2800" b="0" i="1">
                  <a:latin typeface="Times New Roman" pitchFamily="18" charset="0"/>
                </a:rPr>
                <a:t>Y</a:t>
              </a:r>
              <a:endParaRPr lang="en-US" altLang="ja-JP" sz="2800" b="0" i="1" baseline="-25000">
                <a:latin typeface="Times New Roman" pitchFamily="18" charset="0"/>
              </a:endParaRPr>
            </a:p>
          </p:txBody>
        </p:sp>
        <p:sp>
          <p:nvSpPr>
            <p:cNvPr id="57" name="Line 60"/>
            <p:cNvSpPr>
              <a:spLocks noChangeShapeType="1"/>
            </p:cNvSpPr>
            <p:nvPr/>
          </p:nvSpPr>
          <p:spPr bwMode="auto">
            <a:xfrm>
              <a:off x="1989" y="1699"/>
              <a:ext cx="1701" cy="0"/>
            </a:xfrm>
            <a:prstGeom prst="line">
              <a:avLst/>
            </a:prstGeom>
            <a:noFill/>
            <a:ln w="1905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TW" altLang="en-US"/>
            </a:p>
          </p:txBody>
        </p:sp>
        <p:sp>
          <p:nvSpPr>
            <p:cNvPr id="58" name="Text Box 61"/>
            <p:cNvSpPr txBox="1">
              <a:spLocks noChangeArrowheads="1"/>
            </p:cNvSpPr>
            <p:nvPr/>
          </p:nvSpPr>
          <p:spPr bwMode="auto">
            <a:xfrm>
              <a:off x="1858" y="1173"/>
              <a:ext cx="29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spcBef>
                  <a:spcPct val="20000"/>
                </a:spcBef>
              </a:pPr>
              <a:r>
                <a:rPr lang="en-US" altLang="ja-JP" sz="2800" b="0" i="1">
                  <a:latin typeface="Times New Roman" pitchFamily="18" charset="0"/>
                </a:rPr>
                <a:t>y</a:t>
              </a:r>
              <a:r>
                <a:rPr lang="en-US" altLang="ja-JP" sz="2800" b="0" i="1" baseline="-25000">
                  <a:latin typeface="Times New Roman" pitchFamily="18" charset="0"/>
                </a:rPr>
                <a:t>1</a:t>
              </a:r>
            </a:p>
          </p:txBody>
        </p:sp>
        <p:sp>
          <p:nvSpPr>
            <p:cNvPr id="59" name="Line 62"/>
            <p:cNvSpPr>
              <a:spLocks noChangeShapeType="1"/>
            </p:cNvSpPr>
            <p:nvPr/>
          </p:nvSpPr>
          <p:spPr bwMode="auto">
            <a:xfrm flipH="1">
              <a:off x="2142" y="911"/>
              <a:ext cx="169" cy="10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0" name="Line 63"/>
            <p:cNvSpPr>
              <a:spLocks noChangeShapeType="1"/>
            </p:cNvSpPr>
            <p:nvPr/>
          </p:nvSpPr>
          <p:spPr bwMode="auto">
            <a:xfrm>
              <a:off x="3418" y="868"/>
              <a:ext cx="117" cy="106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1" name="Line 64"/>
            <p:cNvSpPr>
              <a:spLocks noChangeShapeType="1"/>
            </p:cNvSpPr>
            <p:nvPr/>
          </p:nvSpPr>
          <p:spPr bwMode="auto">
            <a:xfrm>
              <a:off x="3633" y="1790"/>
              <a:ext cx="193" cy="100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grpSp>
        <p:nvGrpSpPr>
          <p:cNvPr id="64" name="Group 66"/>
          <p:cNvGrpSpPr>
            <a:grpSpLocks/>
          </p:cNvGrpSpPr>
          <p:nvPr/>
        </p:nvGrpSpPr>
        <p:grpSpPr bwMode="auto">
          <a:xfrm>
            <a:off x="250825" y="4508500"/>
            <a:ext cx="6324600" cy="1673225"/>
            <a:chOff x="158" y="2840"/>
            <a:chExt cx="3984" cy="1054"/>
          </a:xfrm>
        </p:grpSpPr>
        <p:sp>
          <p:nvSpPr>
            <p:cNvPr id="65" name="Line 34"/>
            <p:cNvSpPr>
              <a:spLocks noChangeShapeType="1"/>
            </p:cNvSpPr>
            <p:nvPr/>
          </p:nvSpPr>
          <p:spPr bwMode="auto">
            <a:xfrm>
              <a:off x="1570" y="3634"/>
              <a:ext cx="2572" cy="0"/>
            </a:xfrm>
            <a:prstGeom prst="line">
              <a:avLst/>
            </a:prstGeom>
            <a:noFill/>
            <a:ln w="3810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6" name="Line 36"/>
            <p:cNvSpPr>
              <a:spLocks noChangeShapeType="1"/>
            </p:cNvSpPr>
            <p:nvPr/>
          </p:nvSpPr>
          <p:spPr bwMode="auto">
            <a:xfrm>
              <a:off x="1888" y="3351"/>
              <a:ext cx="2246" cy="0"/>
            </a:xfrm>
            <a:prstGeom prst="line">
              <a:avLst/>
            </a:prstGeom>
            <a:noFill/>
            <a:ln w="3810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7" name="Text Box 37"/>
            <p:cNvSpPr txBox="1">
              <a:spLocks noChangeArrowheads="1"/>
            </p:cNvSpPr>
            <p:nvPr/>
          </p:nvSpPr>
          <p:spPr bwMode="auto">
            <a:xfrm>
              <a:off x="1944" y="3663"/>
              <a:ext cx="190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dirty="0"/>
                <a:t>Other similar subsequences</a:t>
              </a:r>
            </a:p>
          </p:txBody>
        </p:sp>
        <p:sp>
          <p:nvSpPr>
            <p:cNvPr id="68" name="Line 38"/>
            <p:cNvSpPr>
              <a:spLocks noChangeShapeType="1"/>
            </p:cNvSpPr>
            <p:nvPr/>
          </p:nvSpPr>
          <p:spPr bwMode="auto">
            <a:xfrm>
              <a:off x="1570" y="3492"/>
              <a:ext cx="2246" cy="0"/>
            </a:xfrm>
            <a:prstGeom prst="line">
              <a:avLst/>
            </a:prstGeom>
            <a:noFill/>
            <a:ln w="3810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69" name="AutoShape 65"/>
            <p:cNvSpPr>
              <a:spLocks noChangeArrowheads="1"/>
            </p:cNvSpPr>
            <p:nvPr/>
          </p:nvSpPr>
          <p:spPr bwMode="auto">
            <a:xfrm>
              <a:off x="158" y="2840"/>
              <a:ext cx="1415" cy="595"/>
            </a:xfrm>
            <a:prstGeom prst="wedgeRoundRectCallout">
              <a:avLst>
                <a:gd name="adj1" fmla="val 46042"/>
                <a:gd name="adj2" fmla="val 65296"/>
                <a:gd name="adj3" fmla="val 16667"/>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ja-JP" sz="1800" b="0"/>
                <a:t>Redundant, useless subsequences</a:t>
              </a:r>
            </a:p>
          </p:txBody>
        </p:sp>
      </p:grpSp>
    </p:spTree>
    <p:extLst>
      <p:ext uri="{BB962C8B-B14F-4D97-AF65-F5344CB8AC3E}">
        <p14:creationId xmlns:p14="http://schemas.microsoft.com/office/powerpoint/2010/main" val="249771452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Sliding Window</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13</a:t>
            </a:fld>
            <a:endParaRPr lang="zh-TW" altLang="en-US"/>
          </a:p>
        </p:txBody>
      </p:sp>
      <p:sp>
        <p:nvSpPr>
          <p:cNvPr id="5" name="內容版面配置區 4"/>
          <p:cNvSpPr>
            <a:spLocks noGrp="1"/>
          </p:cNvSpPr>
          <p:nvPr>
            <p:ph sz="quarter" idx="1"/>
          </p:nvPr>
        </p:nvSpPr>
        <p:spPr/>
        <p:txBody>
          <a:bodyPr/>
          <a:lstStyle/>
          <a:p>
            <a:r>
              <a:rPr lang="en-US" altLang="zh-TW" dirty="0"/>
              <a:t>Both methods are </a:t>
            </a:r>
            <a:r>
              <a:rPr lang="en-US" altLang="zh-TW" dirty="0" smtClean="0"/>
              <a:t>designed for </a:t>
            </a:r>
            <a:r>
              <a:rPr lang="en-US" altLang="zh-TW" dirty="0">
                <a:solidFill>
                  <a:srgbClr val="C00000"/>
                </a:solidFill>
              </a:rPr>
              <a:t>full sequence </a:t>
            </a:r>
            <a:r>
              <a:rPr lang="en-US" altLang="zh-TW" dirty="0" smtClean="0">
                <a:solidFill>
                  <a:srgbClr val="C00000"/>
                </a:solidFill>
              </a:rPr>
              <a:t>matching</a:t>
            </a:r>
            <a:r>
              <a:rPr lang="en-US" altLang="zh-TW" dirty="0" smtClean="0"/>
              <a:t>.</a:t>
            </a:r>
          </a:p>
          <a:p>
            <a:r>
              <a:rPr lang="en-US" altLang="zh-TW" dirty="0" smtClean="0"/>
              <a:t>Using </a:t>
            </a:r>
            <a:r>
              <a:rPr lang="en-US" altLang="zh-TW" dirty="0"/>
              <a:t>a </a:t>
            </a:r>
            <a:r>
              <a:rPr lang="en-US" altLang="zh-TW" dirty="0">
                <a:solidFill>
                  <a:srgbClr val="C00000"/>
                </a:solidFill>
              </a:rPr>
              <a:t>sliding window (</a:t>
            </a:r>
            <a:r>
              <a:rPr lang="en-US" altLang="zh-TW" dirty="0" smtClean="0">
                <a:solidFill>
                  <a:srgbClr val="C00000"/>
                </a:solidFill>
              </a:rPr>
              <a:t>length = |Q|)</a:t>
            </a:r>
            <a:r>
              <a:rPr lang="en-US" altLang="zh-TW" dirty="0" smtClean="0"/>
              <a:t> </a:t>
            </a:r>
            <a:r>
              <a:rPr lang="en-US" altLang="zh-TW" dirty="0"/>
              <a:t>over </a:t>
            </a:r>
            <a:r>
              <a:rPr lang="en-US" altLang="zh-TW" dirty="0" smtClean="0"/>
              <a:t>each database </a:t>
            </a:r>
            <a:r>
              <a:rPr lang="en-US" altLang="zh-TW" dirty="0"/>
              <a:t>sequence to compute a </a:t>
            </a:r>
            <a:r>
              <a:rPr lang="en-US" altLang="zh-TW" dirty="0" smtClean="0"/>
              <a:t>matching score </a:t>
            </a:r>
            <a:r>
              <a:rPr lang="en-US" altLang="zh-TW" dirty="0"/>
              <a:t>for </a:t>
            </a:r>
            <a:r>
              <a:rPr lang="en-US" altLang="zh-TW" dirty="0" smtClean="0"/>
              <a:t>each database </a:t>
            </a:r>
            <a:r>
              <a:rPr lang="en-US" altLang="zh-TW" dirty="0"/>
              <a:t>subsequence</a:t>
            </a:r>
            <a:r>
              <a:rPr lang="en-US" altLang="zh-TW" dirty="0" smtClean="0"/>
              <a:t>.</a:t>
            </a:r>
          </a:p>
          <a:p>
            <a:pPr marL="0" indent="0">
              <a:buNone/>
            </a:pPr>
            <a:endParaRPr lang="en-US" altLang="zh-TW" dirty="0"/>
          </a:p>
          <a:p>
            <a:endParaRPr lang="zh-TW"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106" y="3933056"/>
            <a:ext cx="9091894" cy="23634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23692073"/>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SPRING</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14</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222" y="1222833"/>
            <a:ext cx="5734192" cy="30255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51" name="群組 150"/>
          <p:cNvGrpSpPr/>
          <p:nvPr/>
        </p:nvGrpSpPr>
        <p:grpSpPr>
          <a:xfrm>
            <a:off x="2915816" y="2852936"/>
            <a:ext cx="6061629" cy="3929379"/>
            <a:chOff x="431800" y="822325"/>
            <a:chExt cx="7839075" cy="5081588"/>
          </a:xfrm>
        </p:grpSpPr>
        <p:sp>
          <p:nvSpPr>
            <p:cNvPr id="152" name="Text Box 2"/>
            <p:cNvSpPr txBox="1">
              <a:spLocks noChangeArrowheads="1"/>
            </p:cNvSpPr>
            <p:nvPr/>
          </p:nvSpPr>
          <p:spPr bwMode="auto">
            <a:xfrm>
              <a:off x="4662488" y="5324475"/>
              <a:ext cx="4318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X</a:t>
              </a:r>
            </a:p>
          </p:txBody>
        </p:sp>
        <p:sp>
          <p:nvSpPr>
            <p:cNvPr id="153" name="Text Box 3"/>
            <p:cNvSpPr txBox="1">
              <a:spLocks noChangeArrowheads="1"/>
            </p:cNvSpPr>
            <p:nvPr/>
          </p:nvSpPr>
          <p:spPr bwMode="auto">
            <a:xfrm>
              <a:off x="2592388" y="3986213"/>
              <a:ext cx="7874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t=t</a:t>
              </a:r>
              <a:r>
                <a:rPr lang="en-US" altLang="ja-JP" sz="3200" b="0" i="1" baseline="-25000">
                  <a:latin typeface="Times New Roman" pitchFamily="18" charset="0"/>
                </a:rPr>
                <a:t>s</a:t>
              </a:r>
            </a:p>
          </p:txBody>
        </p:sp>
        <p:sp>
          <p:nvSpPr>
            <p:cNvPr id="154" name="Text Box 4"/>
            <p:cNvSpPr txBox="1">
              <a:spLocks noChangeArrowheads="1"/>
            </p:cNvSpPr>
            <p:nvPr/>
          </p:nvSpPr>
          <p:spPr bwMode="auto">
            <a:xfrm>
              <a:off x="3633788" y="3986213"/>
              <a:ext cx="803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t=t</a:t>
              </a:r>
              <a:r>
                <a:rPr lang="en-US" altLang="ja-JP" sz="3200" b="0" i="1" baseline="-25000">
                  <a:latin typeface="Times New Roman" pitchFamily="18" charset="0"/>
                </a:rPr>
                <a:t>e</a:t>
              </a:r>
            </a:p>
          </p:txBody>
        </p:sp>
        <p:sp>
          <p:nvSpPr>
            <p:cNvPr id="155" name="Text Box 5"/>
            <p:cNvSpPr txBox="1">
              <a:spLocks noChangeArrowheads="1"/>
            </p:cNvSpPr>
            <p:nvPr/>
          </p:nvSpPr>
          <p:spPr bwMode="auto">
            <a:xfrm>
              <a:off x="3116263" y="1222375"/>
              <a:ext cx="19954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b="0"/>
                <a:t>Report </a:t>
              </a:r>
              <a:r>
                <a:rPr lang="en-US" altLang="ja-JP" sz="2400" b="0" i="1">
                  <a:latin typeface="Times New Roman" pitchFamily="18" charset="0"/>
                </a:rPr>
                <a:t>X</a:t>
              </a:r>
              <a:r>
                <a:rPr lang="en-US" altLang="ja-JP" sz="2400" b="0">
                  <a:latin typeface="Times New Roman" pitchFamily="18" charset="0"/>
                </a:rPr>
                <a:t>[</a:t>
              </a:r>
              <a:r>
                <a:rPr lang="en-US" altLang="ja-JP" sz="2400" b="0" i="1">
                  <a:latin typeface="Times New Roman" pitchFamily="18" charset="0"/>
                </a:rPr>
                <a:t>t</a:t>
              </a:r>
              <a:r>
                <a:rPr lang="en-US" altLang="ja-JP" sz="2400" b="0" i="1" baseline="-25000">
                  <a:latin typeface="Times New Roman" pitchFamily="18" charset="0"/>
                </a:rPr>
                <a:t>s</a:t>
              </a:r>
              <a:r>
                <a:rPr lang="en-US" altLang="ja-JP" sz="2400" b="0">
                  <a:latin typeface="Times New Roman" pitchFamily="18" charset="0"/>
                </a:rPr>
                <a:t>:</a:t>
              </a:r>
              <a:r>
                <a:rPr lang="en-US" altLang="ja-JP" sz="2400" b="0" i="1">
                  <a:latin typeface="Times New Roman" pitchFamily="18" charset="0"/>
                </a:rPr>
                <a:t>t</a:t>
              </a:r>
              <a:r>
                <a:rPr lang="en-US" altLang="ja-JP" sz="2400" b="0" i="1" baseline="-25000">
                  <a:latin typeface="Times New Roman" pitchFamily="18" charset="0"/>
                </a:rPr>
                <a:t>e</a:t>
              </a:r>
              <a:r>
                <a:rPr lang="en-US" altLang="ja-JP" sz="2400" b="0">
                  <a:latin typeface="Times New Roman" pitchFamily="18" charset="0"/>
                </a:rPr>
                <a:t>]</a:t>
              </a:r>
              <a:endParaRPr lang="ja-JP" altLang="en-US" sz="2400" b="0">
                <a:latin typeface="Times New Roman" pitchFamily="18" charset="0"/>
              </a:endParaRPr>
            </a:p>
          </p:txBody>
        </p:sp>
        <p:grpSp>
          <p:nvGrpSpPr>
            <p:cNvPr id="156" name="Group 6"/>
            <p:cNvGrpSpPr>
              <a:grpSpLocks/>
            </p:cNvGrpSpPr>
            <p:nvPr/>
          </p:nvGrpSpPr>
          <p:grpSpPr bwMode="auto">
            <a:xfrm>
              <a:off x="2052638" y="2281238"/>
              <a:ext cx="6218237" cy="1801812"/>
              <a:chOff x="1321" y="1288"/>
              <a:chExt cx="3917" cy="1135"/>
            </a:xfrm>
          </p:grpSpPr>
          <p:grpSp>
            <p:nvGrpSpPr>
              <p:cNvPr id="165" name="Group 7"/>
              <p:cNvGrpSpPr>
                <a:grpSpLocks/>
              </p:cNvGrpSpPr>
              <p:nvPr/>
            </p:nvGrpSpPr>
            <p:grpSpPr bwMode="auto">
              <a:xfrm>
                <a:off x="1321" y="1288"/>
                <a:ext cx="3775" cy="1135"/>
                <a:chOff x="1661" y="1026"/>
                <a:chExt cx="2303" cy="1120"/>
              </a:xfrm>
            </p:grpSpPr>
            <p:sp>
              <p:nvSpPr>
                <p:cNvPr id="282" name="AutoShape 8"/>
                <p:cNvSpPr>
                  <a:spLocks noChangeArrowheads="1"/>
                </p:cNvSpPr>
                <p:nvPr/>
              </p:nvSpPr>
              <p:spPr bwMode="auto">
                <a:xfrm rot="-5400000">
                  <a:off x="2876" y="1058"/>
                  <a:ext cx="1120" cy="1056"/>
                </a:xfrm>
                <a:prstGeom prst="flowChartDocumen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3" name="Rectangle 9"/>
                <p:cNvSpPr>
                  <a:spLocks noChangeArrowheads="1"/>
                </p:cNvSpPr>
                <p:nvPr/>
              </p:nvSpPr>
              <p:spPr bwMode="auto">
                <a:xfrm>
                  <a:off x="1661" y="1026"/>
                  <a:ext cx="1984" cy="1120"/>
                </a:xfrm>
                <a:prstGeom prst="rect">
                  <a:avLst/>
                </a:prstGeom>
                <a:solidFill>
                  <a:schemeClr val="accent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4" name="Line 10"/>
                <p:cNvSpPr>
                  <a:spLocks noChangeShapeType="1"/>
                </p:cNvSpPr>
                <p:nvPr/>
              </p:nvSpPr>
              <p:spPr bwMode="auto">
                <a:xfrm flipH="1">
                  <a:off x="1661" y="1026"/>
                  <a:ext cx="19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85" name="Line 11"/>
                <p:cNvSpPr>
                  <a:spLocks noChangeShapeType="1"/>
                </p:cNvSpPr>
                <p:nvPr/>
              </p:nvSpPr>
              <p:spPr bwMode="auto">
                <a:xfrm>
                  <a:off x="1661" y="1026"/>
                  <a:ext cx="0" cy="112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86" name="Line 12"/>
                <p:cNvSpPr>
                  <a:spLocks noChangeShapeType="1"/>
                </p:cNvSpPr>
                <p:nvPr/>
              </p:nvSpPr>
              <p:spPr bwMode="auto">
                <a:xfrm>
                  <a:off x="1661" y="2146"/>
                  <a:ext cx="221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pSp>
          <p:sp>
            <p:nvSpPr>
              <p:cNvPr id="166" name="Line 13"/>
              <p:cNvSpPr>
                <a:spLocks noChangeShapeType="1"/>
              </p:cNvSpPr>
              <p:nvPr/>
            </p:nvSpPr>
            <p:spPr bwMode="auto">
              <a:xfrm>
                <a:off x="1326" y="1346"/>
                <a:ext cx="343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67" name="Line 14"/>
              <p:cNvSpPr>
                <a:spLocks noChangeShapeType="1"/>
              </p:cNvSpPr>
              <p:nvPr/>
            </p:nvSpPr>
            <p:spPr bwMode="auto">
              <a:xfrm>
                <a:off x="1326" y="1403"/>
                <a:ext cx="343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68" name="Line 15"/>
              <p:cNvSpPr>
                <a:spLocks noChangeShapeType="1"/>
              </p:cNvSpPr>
              <p:nvPr/>
            </p:nvSpPr>
            <p:spPr bwMode="auto">
              <a:xfrm>
                <a:off x="1326" y="1459"/>
                <a:ext cx="343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69" name="Line 16"/>
              <p:cNvSpPr>
                <a:spLocks noChangeShapeType="1"/>
              </p:cNvSpPr>
              <p:nvPr/>
            </p:nvSpPr>
            <p:spPr bwMode="auto">
              <a:xfrm>
                <a:off x="1326" y="1516"/>
                <a:ext cx="3458"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0" name="Line 17"/>
              <p:cNvSpPr>
                <a:spLocks noChangeShapeType="1"/>
              </p:cNvSpPr>
              <p:nvPr/>
            </p:nvSpPr>
            <p:spPr bwMode="auto">
              <a:xfrm>
                <a:off x="1326" y="1573"/>
                <a:ext cx="348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1" name="Line 18"/>
              <p:cNvSpPr>
                <a:spLocks noChangeShapeType="1"/>
              </p:cNvSpPr>
              <p:nvPr/>
            </p:nvSpPr>
            <p:spPr bwMode="auto">
              <a:xfrm>
                <a:off x="1326" y="1629"/>
                <a:ext cx="351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2" name="Line 19"/>
              <p:cNvSpPr>
                <a:spLocks noChangeShapeType="1"/>
              </p:cNvSpPr>
              <p:nvPr/>
            </p:nvSpPr>
            <p:spPr bwMode="auto">
              <a:xfrm>
                <a:off x="1321" y="1686"/>
                <a:ext cx="357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3" name="Line 20"/>
              <p:cNvSpPr>
                <a:spLocks noChangeShapeType="1"/>
              </p:cNvSpPr>
              <p:nvPr/>
            </p:nvSpPr>
            <p:spPr bwMode="auto">
              <a:xfrm>
                <a:off x="1326" y="1743"/>
                <a:ext cx="358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4" name="Line 21"/>
              <p:cNvSpPr>
                <a:spLocks noChangeShapeType="1"/>
              </p:cNvSpPr>
              <p:nvPr/>
            </p:nvSpPr>
            <p:spPr bwMode="auto">
              <a:xfrm>
                <a:off x="1326" y="1800"/>
                <a:ext cx="3619"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5" name="Line 22"/>
              <p:cNvSpPr>
                <a:spLocks noChangeShapeType="1"/>
              </p:cNvSpPr>
              <p:nvPr/>
            </p:nvSpPr>
            <p:spPr bwMode="auto">
              <a:xfrm>
                <a:off x="1326" y="1856"/>
                <a:ext cx="3619"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6" name="Line 23"/>
              <p:cNvSpPr>
                <a:spLocks noChangeShapeType="1"/>
              </p:cNvSpPr>
              <p:nvPr/>
            </p:nvSpPr>
            <p:spPr bwMode="auto">
              <a:xfrm>
                <a:off x="1326" y="1913"/>
                <a:ext cx="371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7" name="Line 24"/>
              <p:cNvSpPr>
                <a:spLocks noChangeShapeType="1"/>
              </p:cNvSpPr>
              <p:nvPr/>
            </p:nvSpPr>
            <p:spPr bwMode="auto">
              <a:xfrm>
                <a:off x="1326" y="1970"/>
                <a:ext cx="374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8" name="Line 25"/>
              <p:cNvSpPr>
                <a:spLocks noChangeShapeType="1"/>
              </p:cNvSpPr>
              <p:nvPr/>
            </p:nvSpPr>
            <p:spPr bwMode="auto">
              <a:xfrm>
                <a:off x="1326" y="2026"/>
                <a:ext cx="374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79" name="Line 26"/>
              <p:cNvSpPr>
                <a:spLocks noChangeShapeType="1"/>
              </p:cNvSpPr>
              <p:nvPr/>
            </p:nvSpPr>
            <p:spPr bwMode="auto">
              <a:xfrm>
                <a:off x="1326" y="2083"/>
                <a:ext cx="377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0" name="Line 27"/>
              <p:cNvSpPr>
                <a:spLocks noChangeShapeType="1"/>
              </p:cNvSpPr>
              <p:nvPr/>
            </p:nvSpPr>
            <p:spPr bwMode="auto">
              <a:xfrm>
                <a:off x="1326" y="2140"/>
                <a:ext cx="3770"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1" name="Line 28"/>
              <p:cNvSpPr>
                <a:spLocks noChangeShapeType="1"/>
              </p:cNvSpPr>
              <p:nvPr/>
            </p:nvSpPr>
            <p:spPr bwMode="auto">
              <a:xfrm>
                <a:off x="1326" y="2196"/>
                <a:ext cx="3742"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2" name="Line 29"/>
              <p:cNvSpPr>
                <a:spLocks noChangeShapeType="1"/>
              </p:cNvSpPr>
              <p:nvPr/>
            </p:nvSpPr>
            <p:spPr bwMode="auto">
              <a:xfrm>
                <a:off x="1326" y="2253"/>
                <a:ext cx="371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3" name="Line 30"/>
              <p:cNvSpPr>
                <a:spLocks noChangeShapeType="1"/>
              </p:cNvSpPr>
              <p:nvPr/>
            </p:nvSpPr>
            <p:spPr bwMode="auto">
              <a:xfrm>
                <a:off x="1326" y="2310"/>
                <a:ext cx="3714"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4" name="Line 31"/>
              <p:cNvSpPr>
                <a:spLocks noChangeShapeType="1"/>
              </p:cNvSpPr>
              <p:nvPr/>
            </p:nvSpPr>
            <p:spPr bwMode="auto">
              <a:xfrm>
                <a:off x="1326" y="2366"/>
                <a:ext cx="3685" cy="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5" name="Oval 32"/>
              <p:cNvSpPr>
                <a:spLocks noChangeArrowheads="1"/>
              </p:cNvSpPr>
              <p:nvPr/>
            </p:nvSpPr>
            <p:spPr bwMode="auto">
              <a:xfrm>
                <a:off x="5096" y="1827"/>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86" name="Oval 33"/>
              <p:cNvSpPr>
                <a:spLocks noChangeArrowheads="1"/>
              </p:cNvSpPr>
              <p:nvPr/>
            </p:nvSpPr>
            <p:spPr bwMode="auto">
              <a:xfrm>
                <a:off x="5153" y="1827"/>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87" name="Oval 34"/>
              <p:cNvSpPr>
                <a:spLocks noChangeArrowheads="1"/>
              </p:cNvSpPr>
              <p:nvPr/>
            </p:nvSpPr>
            <p:spPr bwMode="auto">
              <a:xfrm>
                <a:off x="5210" y="1827"/>
                <a:ext cx="28" cy="28"/>
              </a:xfrm>
              <a:prstGeom prst="ellipse">
                <a:avLst/>
              </a:prstGeom>
              <a:solidFill>
                <a:srgbClr val="008000"/>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88" name="Line 35"/>
              <p:cNvSpPr>
                <a:spLocks noChangeShapeType="1"/>
              </p:cNvSpPr>
              <p:nvPr/>
            </p:nvSpPr>
            <p:spPr bwMode="auto">
              <a:xfrm>
                <a:off x="1382"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9" name="Line 36"/>
              <p:cNvSpPr>
                <a:spLocks noChangeShapeType="1"/>
              </p:cNvSpPr>
              <p:nvPr/>
            </p:nvSpPr>
            <p:spPr bwMode="auto">
              <a:xfrm>
                <a:off x="1439"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0" name="Line 37"/>
              <p:cNvSpPr>
                <a:spLocks noChangeShapeType="1"/>
              </p:cNvSpPr>
              <p:nvPr/>
            </p:nvSpPr>
            <p:spPr bwMode="auto">
              <a:xfrm>
                <a:off x="1496"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1" name="Line 38"/>
              <p:cNvSpPr>
                <a:spLocks noChangeShapeType="1"/>
              </p:cNvSpPr>
              <p:nvPr/>
            </p:nvSpPr>
            <p:spPr bwMode="auto">
              <a:xfrm>
                <a:off x="1552"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2" name="Line 39"/>
              <p:cNvSpPr>
                <a:spLocks noChangeShapeType="1"/>
              </p:cNvSpPr>
              <p:nvPr/>
            </p:nvSpPr>
            <p:spPr bwMode="auto">
              <a:xfrm>
                <a:off x="1609"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3" name="Line 40"/>
              <p:cNvSpPr>
                <a:spLocks noChangeShapeType="1"/>
              </p:cNvSpPr>
              <p:nvPr/>
            </p:nvSpPr>
            <p:spPr bwMode="auto">
              <a:xfrm>
                <a:off x="1666"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4" name="Line 41"/>
              <p:cNvSpPr>
                <a:spLocks noChangeShapeType="1"/>
              </p:cNvSpPr>
              <p:nvPr/>
            </p:nvSpPr>
            <p:spPr bwMode="auto">
              <a:xfrm>
                <a:off x="1722"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5" name="Line 42"/>
              <p:cNvSpPr>
                <a:spLocks noChangeShapeType="1"/>
              </p:cNvSpPr>
              <p:nvPr/>
            </p:nvSpPr>
            <p:spPr bwMode="auto">
              <a:xfrm>
                <a:off x="1779"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6" name="Line 43"/>
              <p:cNvSpPr>
                <a:spLocks noChangeShapeType="1"/>
              </p:cNvSpPr>
              <p:nvPr/>
            </p:nvSpPr>
            <p:spPr bwMode="auto">
              <a:xfrm>
                <a:off x="1836"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7" name="Line 44"/>
              <p:cNvSpPr>
                <a:spLocks noChangeShapeType="1"/>
              </p:cNvSpPr>
              <p:nvPr/>
            </p:nvSpPr>
            <p:spPr bwMode="auto">
              <a:xfrm>
                <a:off x="1893"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8" name="Line 45"/>
              <p:cNvSpPr>
                <a:spLocks noChangeShapeType="1"/>
              </p:cNvSpPr>
              <p:nvPr/>
            </p:nvSpPr>
            <p:spPr bwMode="auto">
              <a:xfrm>
                <a:off x="1949"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99" name="Line 46"/>
              <p:cNvSpPr>
                <a:spLocks noChangeShapeType="1"/>
              </p:cNvSpPr>
              <p:nvPr/>
            </p:nvSpPr>
            <p:spPr bwMode="auto">
              <a:xfrm>
                <a:off x="2006"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0" name="Line 47"/>
              <p:cNvSpPr>
                <a:spLocks noChangeShapeType="1"/>
              </p:cNvSpPr>
              <p:nvPr/>
            </p:nvSpPr>
            <p:spPr bwMode="auto">
              <a:xfrm>
                <a:off x="2063"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1" name="Line 48"/>
              <p:cNvSpPr>
                <a:spLocks noChangeShapeType="1"/>
              </p:cNvSpPr>
              <p:nvPr/>
            </p:nvSpPr>
            <p:spPr bwMode="auto">
              <a:xfrm>
                <a:off x="212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2" name="Line 49"/>
              <p:cNvSpPr>
                <a:spLocks noChangeShapeType="1"/>
              </p:cNvSpPr>
              <p:nvPr/>
            </p:nvSpPr>
            <p:spPr bwMode="auto">
              <a:xfrm>
                <a:off x="2177"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3" name="Line 50"/>
              <p:cNvSpPr>
                <a:spLocks noChangeShapeType="1"/>
              </p:cNvSpPr>
              <p:nvPr/>
            </p:nvSpPr>
            <p:spPr bwMode="auto">
              <a:xfrm>
                <a:off x="2233"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4" name="Line 51"/>
              <p:cNvSpPr>
                <a:spLocks noChangeShapeType="1"/>
              </p:cNvSpPr>
              <p:nvPr/>
            </p:nvSpPr>
            <p:spPr bwMode="auto">
              <a:xfrm>
                <a:off x="229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5" name="Line 52"/>
              <p:cNvSpPr>
                <a:spLocks noChangeShapeType="1"/>
              </p:cNvSpPr>
              <p:nvPr/>
            </p:nvSpPr>
            <p:spPr bwMode="auto">
              <a:xfrm>
                <a:off x="2347"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6" name="Line 53"/>
              <p:cNvSpPr>
                <a:spLocks noChangeShapeType="1"/>
              </p:cNvSpPr>
              <p:nvPr/>
            </p:nvSpPr>
            <p:spPr bwMode="auto">
              <a:xfrm>
                <a:off x="2403"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7" name="Line 54"/>
              <p:cNvSpPr>
                <a:spLocks noChangeShapeType="1"/>
              </p:cNvSpPr>
              <p:nvPr/>
            </p:nvSpPr>
            <p:spPr bwMode="auto">
              <a:xfrm>
                <a:off x="246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8" name="Line 55"/>
              <p:cNvSpPr>
                <a:spLocks noChangeShapeType="1"/>
              </p:cNvSpPr>
              <p:nvPr/>
            </p:nvSpPr>
            <p:spPr bwMode="auto">
              <a:xfrm>
                <a:off x="2517"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09" name="Line 56"/>
              <p:cNvSpPr>
                <a:spLocks noChangeShapeType="1"/>
              </p:cNvSpPr>
              <p:nvPr/>
            </p:nvSpPr>
            <p:spPr bwMode="auto">
              <a:xfrm>
                <a:off x="257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0" name="Line 57"/>
              <p:cNvSpPr>
                <a:spLocks noChangeShapeType="1"/>
              </p:cNvSpPr>
              <p:nvPr/>
            </p:nvSpPr>
            <p:spPr bwMode="auto">
              <a:xfrm>
                <a:off x="263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1" name="Line 58"/>
              <p:cNvSpPr>
                <a:spLocks noChangeShapeType="1"/>
              </p:cNvSpPr>
              <p:nvPr/>
            </p:nvSpPr>
            <p:spPr bwMode="auto">
              <a:xfrm>
                <a:off x="2687"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2" name="Line 59"/>
              <p:cNvSpPr>
                <a:spLocks noChangeShapeType="1"/>
              </p:cNvSpPr>
              <p:nvPr/>
            </p:nvSpPr>
            <p:spPr bwMode="auto">
              <a:xfrm>
                <a:off x="2743"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3" name="Line 60"/>
              <p:cNvSpPr>
                <a:spLocks noChangeShapeType="1"/>
              </p:cNvSpPr>
              <p:nvPr/>
            </p:nvSpPr>
            <p:spPr bwMode="auto">
              <a:xfrm>
                <a:off x="280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4" name="Line 61"/>
              <p:cNvSpPr>
                <a:spLocks noChangeShapeType="1"/>
              </p:cNvSpPr>
              <p:nvPr/>
            </p:nvSpPr>
            <p:spPr bwMode="auto">
              <a:xfrm>
                <a:off x="2857"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5" name="Line 62"/>
              <p:cNvSpPr>
                <a:spLocks noChangeShapeType="1"/>
              </p:cNvSpPr>
              <p:nvPr/>
            </p:nvSpPr>
            <p:spPr bwMode="auto">
              <a:xfrm>
                <a:off x="2913"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6" name="Line 63"/>
              <p:cNvSpPr>
                <a:spLocks noChangeShapeType="1"/>
              </p:cNvSpPr>
              <p:nvPr/>
            </p:nvSpPr>
            <p:spPr bwMode="auto">
              <a:xfrm>
                <a:off x="297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7" name="Line 64"/>
              <p:cNvSpPr>
                <a:spLocks noChangeShapeType="1"/>
              </p:cNvSpPr>
              <p:nvPr/>
            </p:nvSpPr>
            <p:spPr bwMode="auto">
              <a:xfrm>
                <a:off x="3027"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8" name="Line 65"/>
              <p:cNvSpPr>
                <a:spLocks noChangeShapeType="1"/>
              </p:cNvSpPr>
              <p:nvPr/>
            </p:nvSpPr>
            <p:spPr bwMode="auto">
              <a:xfrm>
                <a:off x="3083"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19" name="Line 66"/>
              <p:cNvSpPr>
                <a:spLocks noChangeShapeType="1"/>
              </p:cNvSpPr>
              <p:nvPr/>
            </p:nvSpPr>
            <p:spPr bwMode="auto">
              <a:xfrm>
                <a:off x="314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0" name="Line 67"/>
              <p:cNvSpPr>
                <a:spLocks noChangeShapeType="1"/>
              </p:cNvSpPr>
              <p:nvPr/>
            </p:nvSpPr>
            <p:spPr bwMode="auto">
              <a:xfrm>
                <a:off x="3197"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1" name="Line 68"/>
              <p:cNvSpPr>
                <a:spLocks noChangeShapeType="1"/>
              </p:cNvSpPr>
              <p:nvPr/>
            </p:nvSpPr>
            <p:spPr bwMode="auto">
              <a:xfrm>
                <a:off x="325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2" name="Line 69"/>
              <p:cNvSpPr>
                <a:spLocks noChangeShapeType="1"/>
              </p:cNvSpPr>
              <p:nvPr/>
            </p:nvSpPr>
            <p:spPr bwMode="auto">
              <a:xfrm>
                <a:off x="3310"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3" name="Line 70"/>
              <p:cNvSpPr>
                <a:spLocks noChangeShapeType="1"/>
              </p:cNvSpPr>
              <p:nvPr/>
            </p:nvSpPr>
            <p:spPr bwMode="auto">
              <a:xfrm>
                <a:off x="3379" y="1293"/>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4" name="Line 71"/>
              <p:cNvSpPr>
                <a:spLocks noChangeShapeType="1"/>
              </p:cNvSpPr>
              <p:nvPr/>
            </p:nvSpPr>
            <p:spPr bwMode="auto">
              <a:xfrm>
                <a:off x="342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5" name="Line 72"/>
              <p:cNvSpPr>
                <a:spLocks noChangeShapeType="1"/>
              </p:cNvSpPr>
              <p:nvPr/>
            </p:nvSpPr>
            <p:spPr bwMode="auto">
              <a:xfrm>
                <a:off x="348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6" name="Line 73"/>
              <p:cNvSpPr>
                <a:spLocks noChangeShapeType="1"/>
              </p:cNvSpPr>
              <p:nvPr/>
            </p:nvSpPr>
            <p:spPr bwMode="auto">
              <a:xfrm>
                <a:off x="353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7" name="Line 74"/>
              <p:cNvSpPr>
                <a:spLocks noChangeShapeType="1"/>
              </p:cNvSpPr>
              <p:nvPr/>
            </p:nvSpPr>
            <p:spPr bwMode="auto">
              <a:xfrm>
                <a:off x="359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8" name="Line 75"/>
              <p:cNvSpPr>
                <a:spLocks noChangeShapeType="1"/>
              </p:cNvSpPr>
              <p:nvPr/>
            </p:nvSpPr>
            <p:spPr bwMode="auto">
              <a:xfrm>
                <a:off x="365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29" name="Line 76"/>
              <p:cNvSpPr>
                <a:spLocks noChangeShapeType="1"/>
              </p:cNvSpPr>
              <p:nvPr/>
            </p:nvSpPr>
            <p:spPr bwMode="auto">
              <a:xfrm>
                <a:off x="370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0" name="Line 77"/>
              <p:cNvSpPr>
                <a:spLocks noChangeShapeType="1"/>
              </p:cNvSpPr>
              <p:nvPr/>
            </p:nvSpPr>
            <p:spPr bwMode="auto">
              <a:xfrm>
                <a:off x="376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1" name="Line 78"/>
              <p:cNvSpPr>
                <a:spLocks noChangeShapeType="1"/>
              </p:cNvSpPr>
              <p:nvPr/>
            </p:nvSpPr>
            <p:spPr bwMode="auto">
              <a:xfrm>
                <a:off x="382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2" name="Line 79"/>
              <p:cNvSpPr>
                <a:spLocks noChangeShapeType="1"/>
              </p:cNvSpPr>
              <p:nvPr/>
            </p:nvSpPr>
            <p:spPr bwMode="auto">
              <a:xfrm>
                <a:off x="387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3" name="Line 80"/>
              <p:cNvSpPr>
                <a:spLocks noChangeShapeType="1"/>
              </p:cNvSpPr>
              <p:nvPr/>
            </p:nvSpPr>
            <p:spPr bwMode="auto">
              <a:xfrm>
                <a:off x="3935"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4" name="Line 81"/>
              <p:cNvSpPr>
                <a:spLocks noChangeShapeType="1"/>
              </p:cNvSpPr>
              <p:nvPr/>
            </p:nvSpPr>
            <p:spPr bwMode="auto">
              <a:xfrm>
                <a:off x="399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5" name="Line 82"/>
              <p:cNvSpPr>
                <a:spLocks noChangeShapeType="1"/>
              </p:cNvSpPr>
              <p:nvPr/>
            </p:nvSpPr>
            <p:spPr bwMode="auto">
              <a:xfrm>
                <a:off x="404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6" name="Line 83"/>
              <p:cNvSpPr>
                <a:spLocks noChangeShapeType="1"/>
              </p:cNvSpPr>
              <p:nvPr/>
            </p:nvSpPr>
            <p:spPr bwMode="auto">
              <a:xfrm>
                <a:off x="410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7" name="Line 84"/>
              <p:cNvSpPr>
                <a:spLocks noChangeShapeType="1"/>
              </p:cNvSpPr>
              <p:nvPr/>
            </p:nvSpPr>
            <p:spPr bwMode="auto">
              <a:xfrm>
                <a:off x="416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8" name="Line 85"/>
              <p:cNvSpPr>
                <a:spLocks noChangeShapeType="1"/>
              </p:cNvSpPr>
              <p:nvPr/>
            </p:nvSpPr>
            <p:spPr bwMode="auto">
              <a:xfrm>
                <a:off x="421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39" name="Line 86"/>
              <p:cNvSpPr>
                <a:spLocks noChangeShapeType="1"/>
              </p:cNvSpPr>
              <p:nvPr/>
            </p:nvSpPr>
            <p:spPr bwMode="auto">
              <a:xfrm>
                <a:off x="427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0" name="Line 87"/>
              <p:cNvSpPr>
                <a:spLocks noChangeShapeType="1"/>
              </p:cNvSpPr>
              <p:nvPr/>
            </p:nvSpPr>
            <p:spPr bwMode="auto">
              <a:xfrm>
                <a:off x="433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1" name="Line 88"/>
              <p:cNvSpPr>
                <a:spLocks noChangeShapeType="1"/>
              </p:cNvSpPr>
              <p:nvPr/>
            </p:nvSpPr>
            <p:spPr bwMode="auto">
              <a:xfrm>
                <a:off x="438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2" name="Line 89"/>
              <p:cNvSpPr>
                <a:spLocks noChangeShapeType="1"/>
              </p:cNvSpPr>
              <p:nvPr/>
            </p:nvSpPr>
            <p:spPr bwMode="auto">
              <a:xfrm>
                <a:off x="4444"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3" name="Line 90"/>
              <p:cNvSpPr>
                <a:spLocks noChangeShapeType="1"/>
              </p:cNvSpPr>
              <p:nvPr/>
            </p:nvSpPr>
            <p:spPr bwMode="auto">
              <a:xfrm>
                <a:off x="450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4" name="Line 91"/>
              <p:cNvSpPr>
                <a:spLocks noChangeShapeType="1"/>
              </p:cNvSpPr>
              <p:nvPr/>
            </p:nvSpPr>
            <p:spPr bwMode="auto">
              <a:xfrm>
                <a:off x="455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5" name="Line 92"/>
              <p:cNvSpPr>
                <a:spLocks noChangeShapeType="1"/>
              </p:cNvSpPr>
              <p:nvPr/>
            </p:nvSpPr>
            <p:spPr bwMode="auto">
              <a:xfrm>
                <a:off x="4615"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6" name="Line 93"/>
              <p:cNvSpPr>
                <a:spLocks noChangeShapeType="1"/>
              </p:cNvSpPr>
              <p:nvPr/>
            </p:nvSpPr>
            <p:spPr bwMode="auto">
              <a:xfrm>
                <a:off x="4671"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7" name="Line 94"/>
              <p:cNvSpPr>
                <a:spLocks noChangeShapeType="1"/>
              </p:cNvSpPr>
              <p:nvPr/>
            </p:nvSpPr>
            <p:spPr bwMode="auto">
              <a:xfrm>
                <a:off x="4728" y="1289"/>
                <a:ext cx="0" cy="113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8" name="Line 95"/>
              <p:cNvSpPr>
                <a:spLocks noChangeShapeType="1"/>
              </p:cNvSpPr>
              <p:nvPr/>
            </p:nvSpPr>
            <p:spPr bwMode="auto">
              <a:xfrm>
                <a:off x="4784" y="1516"/>
                <a:ext cx="0" cy="903"/>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49" name="Line 96"/>
              <p:cNvSpPr>
                <a:spLocks noChangeShapeType="1"/>
              </p:cNvSpPr>
              <p:nvPr/>
            </p:nvSpPr>
            <p:spPr bwMode="auto">
              <a:xfrm>
                <a:off x="4841" y="1629"/>
                <a:ext cx="0" cy="79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0" name="Line 97"/>
              <p:cNvSpPr>
                <a:spLocks noChangeShapeType="1"/>
              </p:cNvSpPr>
              <p:nvPr/>
            </p:nvSpPr>
            <p:spPr bwMode="auto">
              <a:xfrm>
                <a:off x="4898" y="1714"/>
                <a:ext cx="0" cy="705"/>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1" name="Line 98"/>
              <p:cNvSpPr>
                <a:spLocks noChangeShapeType="1"/>
              </p:cNvSpPr>
              <p:nvPr/>
            </p:nvSpPr>
            <p:spPr bwMode="auto">
              <a:xfrm>
                <a:off x="4954" y="1799"/>
                <a:ext cx="0" cy="62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2" name="Line 99"/>
              <p:cNvSpPr>
                <a:spLocks noChangeShapeType="1"/>
              </p:cNvSpPr>
              <p:nvPr/>
            </p:nvSpPr>
            <p:spPr bwMode="auto">
              <a:xfrm>
                <a:off x="5011" y="1856"/>
                <a:ext cx="0" cy="510"/>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3" name="Line 100"/>
              <p:cNvSpPr>
                <a:spLocks noChangeShapeType="1"/>
              </p:cNvSpPr>
              <p:nvPr/>
            </p:nvSpPr>
            <p:spPr bwMode="auto">
              <a:xfrm>
                <a:off x="5068" y="1970"/>
                <a:ext cx="0" cy="283"/>
              </a:xfrm>
              <a:prstGeom prst="line">
                <a:avLst/>
              </a:prstGeom>
              <a:noFill/>
              <a:ln w="9525">
                <a:solidFill>
                  <a:schemeClr val="tx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254" name="Rectangle 101"/>
              <p:cNvSpPr>
                <a:spLocks noChangeArrowheads="1"/>
              </p:cNvSpPr>
              <p:nvPr/>
            </p:nvSpPr>
            <p:spPr bwMode="auto">
              <a:xfrm>
                <a:off x="1831" y="2366"/>
                <a:ext cx="57" cy="5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5" name="Rectangle 102"/>
              <p:cNvSpPr>
                <a:spLocks noChangeArrowheads="1"/>
              </p:cNvSpPr>
              <p:nvPr/>
            </p:nvSpPr>
            <p:spPr bwMode="auto">
              <a:xfrm>
                <a:off x="1888" y="2253"/>
                <a:ext cx="56"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6" name="Rectangle 103"/>
              <p:cNvSpPr>
                <a:spLocks noChangeArrowheads="1"/>
              </p:cNvSpPr>
              <p:nvPr/>
            </p:nvSpPr>
            <p:spPr bwMode="auto">
              <a:xfrm>
                <a:off x="1944" y="2140"/>
                <a:ext cx="54"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7" name="Rectangle 104"/>
              <p:cNvSpPr>
                <a:spLocks noChangeArrowheads="1"/>
              </p:cNvSpPr>
              <p:nvPr/>
            </p:nvSpPr>
            <p:spPr bwMode="auto">
              <a:xfrm>
                <a:off x="2001" y="2083"/>
                <a:ext cx="57" cy="5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8" name="Rectangle 105"/>
              <p:cNvSpPr>
                <a:spLocks noChangeArrowheads="1"/>
              </p:cNvSpPr>
              <p:nvPr/>
            </p:nvSpPr>
            <p:spPr bwMode="auto">
              <a:xfrm>
                <a:off x="2058" y="1969"/>
                <a:ext cx="57" cy="11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59" name="Rectangle 106"/>
              <p:cNvSpPr>
                <a:spLocks noChangeArrowheads="1"/>
              </p:cNvSpPr>
              <p:nvPr/>
            </p:nvSpPr>
            <p:spPr bwMode="auto">
              <a:xfrm>
                <a:off x="2115" y="1856"/>
                <a:ext cx="57" cy="11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0" name="Rectangle 107"/>
              <p:cNvSpPr>
                <a:spLocks noChangeArrowheads="1"/>
              </p:cNvSpPr>
              <p:nvPr/>
            </p:nvSpPr>
            <p:spPr bwMode="auto">
              <a:xfrm>
                <a:off x="2177" y="1799"/>
                <a:ext cx="51" cy="5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1" name="Rectangle 108"/>
              <p:cNvSpPr>
                <a:spLocks noChangeArrowheads="1"/>
              </p:cNvSpPr>
              <p:nvPr/>
            </p:nvSpPr>
            <p:spPr bwMode="auto">
              <a:xfrm>
                <a:off x="2228" y="1686"/>
                <a:ext cx="57" cy="11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2" name="Rectangle 109"/>
              <p:cNvSpPr>
                <a:spLocks noChangeArrowheads="1"/>
              </p:cNvSpPr>
              <p:nvPr/>
            </p:nvSpPr>
            <p:spPr bwMode="auto">
              <a:xfrm>
                <a:off x="2285" y="1629"/>
                <a:ext cx="57" cy="5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3" name="Rectangle 110"/>
              <p:cNvSpPr>
                <a:spLocks noChangeArrowheads="1"/>
              </p:cNvSpPr>
              <p:nvPr/>
            </p:nvSpPr>
            <p:spPr bwMode="auto">
              <a:xfrm>
                <a:off x="2398" y="1459"/>
                <a:ext cx="57" cy="5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4" name="Rectangle 111"/>
              <p:cNvSpPr>
                <a:spLocks noChangeArrowheads="1"/>
              </p:cNvSpPr>
              <p:nvPr/>
            </p:nvSpPr>
            <p:spPr bwMode="auto">
              <a:xfrm>
                <a:off x="2511" y="1289"/>
                <a:ext cx="57" cy="5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5" name="Rectangle 112"/>
              <p:cNvSpPr>
                <a:spLocks noChangeArrowheads="1"/>
              </p:cNvSpPr>
              <p:nvPr/>
            </p:nvSpPr>
            <p:spPr bwMode="auto">
              <a:xfrm>
                <a:off x="2455" y="1345"/>
                <a:ext cx="56" cy="114"/>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6" name="Rectangle 113"/>
              <p:cNvSpPr>
                <a:spLocks noChangeArrowheads="1"/>
              </p:cNvSpPr>
              <p:nvPr/>
            </p:nvSpPr>
            <p:spPr bwMode="auto">
              <a:xfrm>
                <a:off x="2347" y="1516"/>
                <a:ext cx="57"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7" name="Rectangle 114"/>
              <p:cNvSpPr>
                <a:spLocks noChangeArrowheads="1"/>
              </p:cNvSpPr>
              <p:nvPr/>
            </p:nvSpPr>
            <p:spPr bwMode="auto">
              <a:xfrm>
                <a:off x="3305" y="2366"/>
                <a:ext cx="57" cy="57"/>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8" name="Rectangle 115"/>
              <p:cNvSpPr>
                <a:spLocks noChangeArrowheads="1"/>
              </p:cNvSpPr>
              <p:nvPr/>
            </p:nvSpPr>
            <p:spPr bwMode="auto">
              <a:xfrm>
                <a:off x="3361" y="2253"/>
                <a:ext cx="57"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9" name="Rectangle 116"/>
              <p:cNvSpPr>
                <a:spLocks noChangeArrowheads="1"/>
              </p:cNvSpPr>
              <p:nvPr/>
            </p:nvSpPr>
            <p:spPr bwMode="auto">
              <a:xfrm>
                <a:off x="3417" y="2196"/>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0" name="Rectangle 117"/>
              <p:cNvSpPr>
                <a:spLocks noChangeArrowheads="1"/>
              </p:cNvSpPr>
              <p:nvPr/>
            </p:nvSpPr>
            <p:spPr bwMode="auto">
              <a:xfrm>
                <a:off x="3475" y="2139"/>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1" name="Rectangle 118"/>
              <p:cNvSpPr>
                <a:spLocks noChangeArrowheads="1"/>
              </p:cNvSpPr>
              <p:nvPr/>
            </p:nvSpPr>
            <p:spPr bwMode="auto">
              <a:xfrm>
                <a:off x="3537" y="2026"/>
                <a:ext cx="57"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2" name="Rectangle 119"/>
              <p:cNvSpPr>
                <a:spLocks noChangeArrowheads="1"/>
              </p:cNvSpPr>
              <p:nvPr/>
            </p:nvSpPr>
            <p:spPr bwMode="auto">
              <a:xfrm>
                <a:off x="3594" y="1969"/>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3" name="Rectangle 120"/>
              <p:cNvSpPr>
                <a:spLocks noChangeArrowheads="1"/>
              </p:cNvSpPr>
              <p:nvPr/>
            </p:nvSpPr>
            <p:spPr bwMode="auto">
              <a:xfrm>
                <a:off x="3650" y="1913"/>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4" name="Rectangle 121"/>
              <p:cNvSpPr>
                <a:spLocks noChangeArrowheads="1"/>
              </p:cNvSpPr>
              <p:nvPr/>
            </p:nvSpPr>
            <p:spPr bwMode="auto">
              <a:xfrm>
                <a:off x="3707" y="1800"/>
                <a:ext cx="57"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5" name="Rectangle 122"/>
              <p:cNvSpPr>
                <a:spLocks noChangeArrowheads="1"/>
              </p:cNvSpPr>
              <p:nvPr/>
            </p:nvSpPr>
            <p:spPr bwMode="auto">
              <a:xfrm>
                <a:off x="3764" y="1743"/>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6" name="Rectangle 123"/>
              <p:cNvSpPr>
                <a:spLocks noChangeArrowheads="1"/>
              </p:cNvSpPr>
              <p:nvPr/>
            </p:nvSpPr>
            <p:spPr bwMode="auto">
              <a:xfrm>
                <a:off x="3820" y="1687"/>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7" name="Rectangle 124"/>
              <p:cNvSpPr>
                <a:spLocks noChangeArrowheads="1"/>
              </p:cNvSpPr>
              <p:nvPr/>
            </p:nvSpPr>
            <p:spPr bwMode="auto">
              <a:xfrm>
                <a:off x="3877" y="1572"/>
                <a:ext cx="57"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8" name="Rectangle 125"/>
              <p:cNvSpPr>
                <a:spLocks noChangeArrowheads="1"/>
              </p:cNvSpPr>
              <p:nvPr/>
            </p:nvSpPr>
            <p:spPr bwMode="auto">
              <a:xfrm>
                <a:off x="3934" y="1516"/>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9" name="Rectangle 126"/>
              <p:cNvSpPr>
                <a:spLocks noChangeArrowheads="1"/>
              </p:cNvSpPr>
              <p:nvPr/>
            </p:nvSpPr>
            <p:spPr bwMode="auto">
              <a:xfrm>
                <a:off x="3990" y="1460"/>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0" name="Rectangle 127"/>
              <p:cNvSpPr>
                <a:spLocks noChangeArrowheads="1"/>
              </p:cNvSpPr>
              <p:nvPr/>
            </p:nvSpPr>
            <p:spPr bwMode="auto">
              <a:xfrm>
                <a:off x="4047" y="1347"/>
                <a:ext cx="57" cy="113"/>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1" name="Rectangle 128"/>
              <p:cNvSpPr>
                <a:spLocks noChangeArrowheads="1"/>
              </p:cNvSpPr>
              <p:nvPr/>
            </p:nvSpPr>
            <p:spPr bwMode="auto">
              <a:xfrm>
                <a:off x="4103" y="1291"/>
                <a:ext cx="57" cy="56"/>
              </a:xfrm>
              <a:prstGeom prst="rect">
                <a:avLst/>
              </a:prstGeom>
              <a:solidFill>
                <a:schemeClr val="tx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grpSp>
        <p:sp>
          <p:nvSpPr>
            <p:cNvPr id="157" name="Line 129"/>
            <p:cNvSpPr>
              <a:spLocks noChangeShapeType="1"/>
            </p:cNvSpPr>
            <p:nvPr/>
          </p:nvSpPr>
          <p:spPr bwMode="auto">
            <a:xfrm flipV="1">
              <a:off x="6688138" y="1639888"/>
              <a:ext cx="0" cy="557212"/>
            </a:xfrm>
            <a:prstGeom prst="line">
              <a:avLst/>
            </a:prstGeom>
            <a:noFill/>
            <a:ln w="444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58" name="Text Box 130"/>
            <p:cNvSpPr txBox="1">
              <a:spLocks noChangeArrowheads="1"/>
            </p:cNvSpPr>
            <p:nvPr/>
          </p:nvSpPr>
          <p:spPr bwMode="auto">
            <a:xfrm>
              <a:off x="5676900" y="822325"/>
              <a:ext cx="20002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2400" b="0"/>
                <a:t>Second </a:t>
              </a:r>
            </a:p>
            <a:p>
              <a:r>
                <a:rPr lang="en-US" altLang="ja-JP" sz="2400" b="0"/>
                <a:t>subsequence</a:t>
              </a:r>
              <a:endParaRPr lang="ja-JP" altLang="en-US" sz="2400" b="0"/>
            </a:p>
          </p:txBody>
        </p:sp>
        <p:sp>
          <p:nvSpPr>
            <p:cNvPr id="159" name="Text Box 131"/>
            <p:cNvSpPr txBox="1">
              <a:spLocks noChangeArrowheads="1"/>
            </p:cNvSpPr>
            <p:nvPr/>
          </p:nvSpPr>
          <p:spPr bwMode="auto">
            <a:xfrm>
              <a:off x="1682750" y="3986213"/>
              <a:ext cx="7747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3200" b="0" i="1">
                  <a:latin typeface="Times New Roman" pitchFamily="18" charset="0"/>
                </a:rPr>
                <a:t>t=</a:t>
              </a:r>
              <a:r>
                <a:rPr lang="en-US" altLang="ja-JP" sz="3200" b="0">
                  <a:latin typeface="Times New Roman" pitchFamily="18" charset="0"/>
                </a:rPr>
                <a:t>1</a:t>
              </a:r>
              <a:endParaRPr lang="en-US" altLang="ja-JP" sz="3200" b="0" baseline="-25000">
                <a:latin typeface="Times New Roman" pitchFamily="18" charset="0"/>
              </a:endParaRPr>
            </a:p>
          </p:txBody>
        </p:sp>
        <p:graphicFrame>
          <p:nvGraphicFramePr>
            <p:cNvPr id="160" name="Object 132"/>
            <p:cNvGraphicFramePr>
              <a:graphicFrameLocks noChangeAspect="1"/>
            </p:cNvGraphicFramePr>
            <p:nvPr>
              <p:extLst>
                <p:ext uri="{D42A27DB-BD31-4B8C-83A1-F6EECF244321}">
                  <p14:modId xmlns:p14="http://schemas.microsoft.com/office/powerpoint/2010/main" val="2059116830"/>
                </p:ext>
              </p:extLst>
            </p:nvPr>
          </p:nvGraphicFramePr>
          <p:xfrm>
            <a:off x="431800" y="2847975"/>
            <a:ext cx="492125" cy="457200"/>
          </p:xfrm>
          <a:graphic>
            <a:graphicData uri="http://schemas.openxmlformats.org/presentationml/2006/ole">
              <mc:AlternateContent xmlns:mc="http://schemas.openxmlformats.org/markup-compatibility/2006">
                <mc:Choice xmlns:v="urn:schemas-microsoft-com:vml" Requires="v">
                  <p:oleObj spid="_x0000_s7171" name="数式" r:id="rId4" imgW="177480" imgH="164880" progId="Equation.3">
                    <p:embed/>
                  </p:oleObj>
                </mc:Choice>
                <mc:Fallback>
                  <p:oleObj name="数式" r:id="rId4" imgW="177480" imgH="16488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1800" y="2847975"/>
                          <a:ext cx="4921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1" name="Line 133"/>
            <p:cNvSpPr>
              <a:spLocks noChangeShapeType="1"/>
            </p:cNvSpPr>
            <p:nvPr/>
          </p:nvSpPr>
          <p:spPr bwMode="auto">
            <a:xfrm flipV="1">
              <a:off x="4122738" y="1639888"/>
              <a:ext cx="0" cy="557212"/>
            </a:xfrm>
            <a:prstGeom prst="line">
              <a:avLst/>
            </a:prstGeom>
            <a:noFill/>
            <a:ln w="4445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pic>
          <p:nvPicPr>
            <p:cNvPr id="162" name="Picture 134" descr="query_maskedchirp"/>
            <p:cNvPicPr>
              <a:picLocks noChangeArrowheads="1"/>
            </p:cNvPicPr>
            <p:nvPr/>
          </p:nvPicPr>
          <p:blipFill>
            <a:blip r:embed="rId6">
              <a:lum bright="-40000" contrast="60000"/>
              <a:extLst>
                <a:ext uri="{BEBA8EAE-BF5A-486C-A8C5-ECC9F3942E4B}">
                  <a14:imgProps xmlns:a14="http://schemas.microsoft.com/office/drawing/2010/main">
                    <a14:imgLayer r:embed="rId7">
                      <a14:imgEffect>
                        <a14:backgroundRemoval t="0" b="99187" l="0" r="100000">
                          <a14:foregroundMark x1="50829" y1="76423" x2="74033" y2="69106"/>
                          <a14:foregroundMark x1="32597" y1="96748" x2="39779" y2="99187"/>
                        </a14:backgroundRemoval>
                      </a14:imgEffect>
                    </a14:imgLayer>
                  </a14:imgProps>
                </a:ext>
                <a:ext uri="{28A0092B-C50C-407E-A947-70E740481C1C}">
                  <a14:useLocalDpi xmlns:a14="http://schemas.microsoft.com/office/drawing/2010/main" val="0"/>
                </a:ext>
              </a:extLst>
            </a:blip>
            <a:srcRect/>
            <a:stretch>
              <a:fillRect/>
            </a:stretch>
          </p:blipFill>
          <p:spPr bwMode="auto">
            <a:xfrm>
              <a:off x="923925" y="2278063"/>
              <a:ext cx="911225" cy="1792287"/>
            </a:xfrm>
            <a:prstGeom prst="rect">
              <a:avLst/>
            </a:prstGeom>
            <a:noFill/>
            <a:extLst>
              <a:ext uri="{909E8E84-426E-40DD-AFC4-6F175D3DCCD1}">
                <a14:hiddenFill xmlns:a14="http://schemas.microsoft.com/office/drawing/2010/main">
                  <a:solidFill>
                    <a:srgbClr val="FFFFFF"/>
                  </a:solidFill>
                </a14:hiddenFill>
              </a:ext>
            </a:extLst>
          </p:spPr>
        </p:pic>
        <p:pic>
          <p:nvPicPr>
            <p:cNvPr id="163" name="Picture 135" descr="data_maskedchirp"/>
            <p:cNvPicPr>
              <a:picLocks noChangeArrowheads="1"/>
            </p:cNvPicPr>
            <p:nvPr/>
          </p:nvPicPr>
          <p:blipFill>
            <a:blip r:embed="rId8">
              <a:lum bright="-40000" contrast="60000"/>
              <a:extLst>
                <a:ext uri="{28A0092B-C50C-407E-A947-70E740481C1C}">
                  <a14:useLocalDpi xmlns:a14="http://schemas.microsoft.com/office/drawing/2010/main" val="0"/>
                </a:ext>
              </a:extLst>
            </a:blip>
            <a:srcRect/>
            <a:stretch>
              <a:fillRect/>
            </a:stretch>
          </p:blipFill>
          <p:spPr bwMode="auto">
            <a:xfrm>
              <a:off x="2052638" y="4565650"/>
              <a:ext cx="5895975" cy="889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359005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SPRING</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15</a:t>
            </a:fld>
            <a:endParaRPr lang="zh-TW" altLang="en-US"/>
          </a:p>
        </p:txBody>
      </p:sp>
      <p:sp>
        <p:nvSpPr>
          <p:cNvPr id="5" name="內容版面配置區 4"/>
          <p:cNvSpPr>
            <a:spLocks noGrp="1"/>
          </p:cNvSpPr>
          <p:nvPr>
            <p:ph sz="quarter" idx="1"/>
          </p:nvPr>
        </p:nvSpPr>
        <p:spPr/>
        <p:txBody>
          <a:bodyPr/>
          <a:lstStyle/>
          <a:p>
            <a:r>
              <a:rPr lang="en-US" altLang="ja-JP" sz="2400" dirty="0"/>
              <a:t>distance (upper number), starting position (number in parentheses)</a:t>
            </a:r>
          </a:p>
          <a:p>
            <a:r>
              <a:rPr lang="en-US" altLang="ja-JP" sz="2400" i="1" dirty="0">
                <a:latin typeface="Times New Roman" pitchFamily="18" charset="0"/>
              </a:rPr>
              <a:t>X</a:t>
            </a:r>
            <a:r>
              <a:rPr lang="en-US" altLang="ja-JP" sz="2400" dirty="0">
                <a:latin typeface="Times New Roman" pitchFamily="18" charset="0"/>
              </a:rPr>
              <a:t>=(5,12,6,10,6,5,13),</a:t>
            </a:r>
            <a:r>
              <a:rPr lang="ja-JP" altLang="en-US" sz="2400" dirty="0">
                <a:latin typeface="Times New Roman" pitchFamily="18" charset="0"/>
              </a:rPr>
              <a:t>  </a:t>
            </a:r>
            <a:r>
              <a:rPr lang="en-US" altLang="ja-JP" sz="2400" i="1" dirty="0">
                <a:latin typeface="Times New Roman" pitchFamily="18" charset="0"/>
              </a:rPr>
              <a:t>Y</a:t>
            </a:r>
            <a:r>
              <a:rPr lang="en-US" altLang="ja-JP" sz="2400" dirty="0">
                <a:latin typeface="Times New Roman" pitchFamily="18" charset="0"/>
              </a:rPr>
              <a:t>=(11,6,9,4),</a:t>
            </a:r>
            <a:r>
              <a:rPr lang="en-US" altLang="ja-JP" sz="2400" dirty="0"/>
              <a:t>  </a:t>
            </a:r>
            <a:r>
              <a:rPr lang="en-US" altLang="ja-JP" sz="2400" i="1" dirty="0">
                <a:latin typeface="Symbol" pitchFamily="18" charset="2"/>
              </a:rPr>
              <a:t>e </a:t>
            </a:r>
            <a:r>
              <a:rPr lang="en-US" altLang="ja-JP" sz="2400" dirty="0">
                <a:latin typeface="Times New Roman" pitchFamily="18" charset="0"/>
              </a:rPr>
              <a:t>= 20</a:t>
            </a:r>
          </a:p>
          <a:p>
            <a:endParaRPr lang="zh-TW" altLang="en-US" dirty="0"/>
          </a:p>
        </p:txBody>
      </p:sp>
      <p:sp>
        <p:nvSpPr>
          <p:cNvPr id="15" name="Rectangle 78"/>
          <p:cNvSpPr>
            <a:spLocks noChangeArrowheads="1"/>
          </p:cNvSpPr>
          <p:nvPr/>
        </p:nvSpPr>
        <p:spPr bwMode="auto">
          <a:xfrm>
            <a:off x="3819525" y="4643438"/>
            <a:ext cx="742950" cy="642937"/>
          </a:xfrm>
          <a:prstGeom prst="rect">
            <a:avLst/>
          </a:prstGeom>
          <a:solidFill>
            <a:schemeClr val="tx1">
              <a:alpha val="20000"/>
            </a:schemeClr>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6" name="Rectangle 2"/>
          <p:cNvSpPr>
            <a:spLocks noChangeArrowheads="1"/>
          </p:cNvSpPr>
          <p:nvPr/>
        </p:nvSpPr>
        <p:spPr bwMode="auto">
          <a:xfrm>
            <a:off x="4572000" y="3338513"/>
            <a:ext cx="765175" cy="630237"/>
          </a:xfrm>
          <a:prstGeom prst="rect">
            <a:avLst/>
          </a:prstGeom>
          <a:solidFill>
            <a:srgbClr val="0000FF">
              <a:alpha val="20000"/>
            </a:srgbClr>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17" name="Line 5"/>
          <p:cNvSpPr>
            <a:spLocks noChangeShapeType="1"/>
          </p:cNvSpPr>
          <p:nvPr/>
        </p:nvSpPr>
        <p:spPr bwMode="auto">
          <a:xfrm flipH="1">
            <a:off x="3040063" y="2643188"/>
            <a:ext cx="1587" cy="3351212"/>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sp>
        <p:nvSpPr>
          <p:cNvPr id="18" name="Line 6"/>
          <p:cNvSpPr>
            <a:spLocks noChangeShapeType="1"/>
          </p:cNvSpPr>
          <p:nvPr/>
        </p:nvSpPr>
        <p:spPr bwMode="auto">
          <a:xfrm>
            <a:off x="771525" y="5319713"/>
            <a:ext cx="7562850" cy="0"/>
          </a:xfrm>
          <a:prstGeom prst="line">
            <a:avLst/>
          </a:prstGeom>
          <a:noFill/>
          <a:ln w="317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TW" altLang="en-US"/>
          </a:p>
        </p:txBody>
      </p:sp>
      <p:graphicFrame>
        <p:nvGraphicFramePr>
          <p:cNvPr id="19" name="Group 88"/>
          <p:cNvGraphicFramePr>
            <a:graphicFrameLocks/>
          </p:cNvGraphicFramePr>
          <p:nvPr>
            <p:extLst>
              <p:ext uri="{D42A27DB-BD31-4B8C-83A1-F6EECF244321}">
                <p14:modId xmlns:p14="http://schemas.microsoft.com/office/powerpoint/2010/main" val="17479377"/>
              </p:ext>
            </p:extLst>
          </p:nvPr>
        </p:nvGraphicFramePr>
        <p:xfrm>
          <a:off x="792163" y="2662238"/>
          <a:ext cx="7561262" cy="3346704"/>
        </p:xfrm>
        <a:graphic>
          <a:graphicData uri="http://schemas.openxmlformats.org/drawingml/2006/table">
            <a:tbl>
              <a:tblPr/>
              <a:tblGrid>
                <a:gridCol w="2268537"/>
                <a:gridCol w="758825"/>
                <a:gridCol w="754063"/>
                <a:gridCol w="752475"/>
                <a:gridCol w="758825"/>
                <a:gridCol w="755650"/>
                <a:gridCol w="757237"/>
                <a:gridCol w="755650"/>
              </a:tblGrid>
              <a:tr h="647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1" u="none" strike="noStrike" cap="none" normalizeH="0" baseline="0" dirty="0" smtClean="0">
                          <a:ln>
                            <a:noFill/>
                          </a:ln>
                          <a:solidFill>
                            <a:schemeClr val="tx1"/>
                          </a:solidFill>
                          <a:effectLst/>
                          <a:latin typeface="Arial" charset="0"/>
                          <a:ea typeface="ＭＳ Ｐゴシック" pitchFamily="50" charset="-128"/>
                        </a:rPr>
                        <a:t>y</a:t>
                      </a:r>
                      <a:r>
                        <a:rPr kumimoji="1" lang="en-US" altLang="ja-JP" sz="1700" b="0" i="0" u="none" strike="noStrike" cap="none" normalizeH="0" baseline="-25000" dirty="0" smtClean="0">
                          <a:ln>
                            <a:noFill/>
                          </a:ln>
                          <a:solidFill>
                            <a:schemeClr val="tx1"/>
                          </a:solidFill>
                          <a:effectLst/>
                          <a:latin typeface="Arial" charset="0"/>
                          <a:ea typeface="ＭＳ Ｐゴシック" pitchFamily="50" charset="-128"/>
                        </a:rPr>
                        <a:t>4</a:t>
                      </a:r>
                      <a:r>
                        <a:rPr kumimoji="1" lang="en-US" altLang="ja-JP" sz="1700" b="0" i="0" u="none" strike="noStrike" cap="none" normalizeH="0" baseline="0" dirty="0" smtClean="0">
                          <a:ln>
                            <a:noFill/>
                          </a:ln>
                          <a:solidFill>
                            <a:schemeClr val="tx1"/>
                          </a:solidFill>
                          <a:effectLst/>
                          <a:latin typeface="Arial" charset="0"/>
                          <a:ea typeface="ＭＳ Ｐゴシック" pitchFamily="50" charset="-128"/>
                        </a:rPr>
                        <a:t> = 4</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54</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110</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14</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38</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rgbClr val="FF0000"/>
                          </a:solidFill>
                          <a:effectLst/>
                          <a:latin typeface="Arial" charset="0"/>
                          <a:ea typeface="ＭＳ Ｐゴシック" pitchFamily="50" charset="-128"/>
                        </a:rPr>
                        <a:t>6</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rgbClr val="FF0000"/>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7</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88</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928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1" u="none" strike="noStrike" cap="none" normalizeH="0" baseline="0" dirty="0" smtClean="0">
                          <a:ln>
                            <a:noFill/>
                          </a:ln>
                          <a:solidFill>
                            <a:schemeClr val="tx1"/>
                          </a:solidFill>
                          <a:effectLst/>
                          <a:latin typeface="Arial" charset="0"/>
                          <a:ea typeface="ＭＳ Ｐゴシック" pitchFamily="50" charset="-128"/>
                        </a:rPr>
                        <a:t>y</a:t>
                      </a:r>
                      <a:r>
                        <a:rPr kumimoji="1" lang="en-US" altLang="ja-JP" sz="1700" b="0" i="0" u="none" strike="noStrike" cap="none" normalizeH="0" baseline="-25000" dirty="0" smtClean="0">
                          <a:ln>
                            <a:noFill/>
                          </a:ln>
                          <a:solidFill>
                            <a:schemeClr val="tx1"/>
                          </a:solidFill>
                          <a:effectLst/>
                          <a:latin typeface="Arial" charset="0"/>
                          <a:ea typeface="ＭＳ Ｐゴシック" pitchFamily="50" charset="-128"/>
                        </a:rPr>
                        <a:t>3</a:t>
                      </a:r>
                      <a:r>
                        <a:rPr kumimoji="1" lang="en-US" altLang="ja-JP" sz="1700" b="0" i="0" u="none" strike="noStrike" cap="none" normalizeH="0" baseline="0" dirty="0" smtClean="0">
                          <a:ln>
                            <a:noFill/>
                          </a:ln>
                          <a:solidFill>
                            <a:schemeClr val="tx1"/>
                          </a:solidFill>
                          <a:effectLst/>
                          <a:latin typeface="Arial" charset="0"/>
                          <a:ea typeface="ＭＳ Ｐゴシック" pitchFamily="50" charset="-128"/>
                        </a:rPr>
                        <a:t> = 9</a:t>
                      </a:r>
                      <a:endParaRPr kumimoji="1" lang="ja-JP" altLang="en-US" sz="1700" b="0" i="0" u="none" strike="noStrike" cap="none" normalizeH="0" baseline="0" dirty="0" smtClean="0">
                        <a:ln>
                          <a:noFill/>
                        </a:ln>
                        <a:solidFill>
                          <a:schemeClr val="tx1"/>
                        </a:solidFill>
                        <a:effectLst/>
                        <a:latin typeface="Arial" charset="0"/>
                        <a:ea typeface="ＭＳ Ｐゴシック" pitchFamily="50"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53</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46</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10</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10</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17</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dirty="0" smtClean="0">
                          <a:ln>
                            <a:noFill/>
                          </a:ln>
                          <a:solidFill>
                            <a:schemeClr val="tx1"/>
                          </a:solidFill>
                          <a:effectLst/>
                          <a:latin typeface="Arial" charset="0"/>
                          <a:ea typeface="ＭＳ Ｐゴシック" pitchFamily="50" charset="-128"/>
                        </a:rPr>
                        <a:t>18</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dirty="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1" u="none" strike="noStrike" cap="none" normalizeH="0" baseline="0" smtClean="0">
                          <a:ln>
                            <a:noFill/>
                          </a:ln>
                          <a:solidFill>
                            <a:schemeClr val="tx1"/>
                          </a:solidFill>
                          <a:effectLst/>
                          <a:latin typeface="Arial" charset="0"/>
                          <a:ea typeface="ＭＳ Ｐゴシック" pitchFamily="50" charset="-128"/>
                        </a:rPr>
                        <a:t>y</a:t>
                      </a:r>
                      <a:r>
                        <a:rPr kumimoji="1" lang="en-US" altLang="ja-JP" sz="1700" b="0" i="0" u="none" strike="noStrike" cap="none" normalizeH="0" baseline="-25000" smtClean="0">
                          <a:ln>
                            <a:noFill/>
                          </a:ln>
                          <a:solidFill>
                            <a:schemeClr val="tx1"/>
                          </a:solidFill>
                          <a:effectLst/>
                          <a:latin typeface="Arial" charset="0"/>
                          <a:ea typeface="ＭＳ Ｐゴシック" pitchFamily="50" charset="-128"/>
                        </a:rPr>
                        <a:t>2</a:t>
                      </a:r>
                      <a:r>
                        <a:rPr kumimoji="1" lang="en-US" altLang="ja-JP" sz="1700" b="0" i="0" u="none" strike="noStrike" cap="none" normalizeH="0" baseline="0" smtClean="0">
                          <a:ln>
                            <a:noFill/>
                          </a:ln>
                          <a:solidFill>
                            <a:schemeClr val="tx1"/>
                          </a:solidFill>
                          <a:effectLst/>
                          <a:latin typeface="Arial" charset="0"/>
                          <a:ea typeface="ＭＳ Ｐゴシック" pitchFamily="50" charset="-128"/>
                        </a:rPr>
                        <a:t> = 6</a:t>
                      </a:r>
                      <a:endParaRPr kumimoji="1" lang="ja-JP" altLang="en-US" sz="1700" b="0" i="0" u="none" strike="noStrike" cap="none" normalizeH="0" baseline="0" smtClean="0">
                        <a:ln>
                          <a:noFill/>
                        </a:ln>
                        <a:solidFill>
                          <a:schemeClr val="tx1"/>
                        </a:solidFill>
                        <a:effectLst/>
                        <a:latin typeface="Arial" charset="0"/>
                        <a:ea typeface="ＭＳ Ｐゴシック" pitchFamily="50"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37</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37</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17</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51</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6477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1" u="none" strike="noStrike" cap="none" normalizeH="0" baseline="0" smtClean="0">
                          <a:ln>
                            <a:noFill/>
                          </a:ln>
                          <a:solidFill>
                            <a:schemeClr val="tx1"/>
                          </a:solidFill>
                          <a:effectLst/>
                          <a:latin typeface="Arial" charset="0"/>
                          <a:ea typeface="ＭＳ Ｐゴシック" pitchFamily="50" charset="-128"/>
                        </a:rPr>
                        <a:t>y</a:t>
                      </a:r>
                      <a:r>
                        <a:rPr kumimoji="1" lang="en-US" altLang="ja-JP" sz="1700" b="0" i="0" u="none" strike="noStrike" cap="none" normalizeH="0" baseline="-25000" smtClean="0">
                          <a:ln>
                            <a:noFill/>
                          </a:ln>
                          <a:solidFill>
                            <a:schemeClr val="tx1"/>
                          </a:solidFill>
                          <a:effectLst/>
                          <a:latin typeface="Arial" charset="0"/>
                          <a:ea typeface="ＭＳ Ｐゴシック" pitchFamily="50" charset="-128"/>
                        </a:rPr>
                        <a:t>1</a:t>
                      </a:r>
                      <a:r>
                        <a:rPr kumimoji="1" lang="en-US" altLang="ja-JP" sz="1700" b="0" i="0" u="none" strike="noStrike" cap="none" normalizeH="0" baseline="0" smtClean="0">
                          <a:ln>
                            <a:noFill/>
                          </a:ln>
                          <a:solidFill>
                            <a:schemeClr val="tx1"/>
                          </a:solidFill>
                          <a:effectLst/>
                          <a:latin typeface="Arial" charset="0"/>
                          <a:ea typeface="ＭＳ Ｐゴシック" pitchFamily="50" charset="-128"/>
                        </a:rPr>
                        <a:t> = 11</a:t>
                      </a:r>
                      <a:endParaRPr kumimoji="1" lang="ja-JP" altLang="en-US" sz="1700" b="0" i="0" u="none" strike="noStrike" cap="none" normalizeH="0" baseline="0" smtClean="0">
                        <a:ln>
                          <a:noFill/>
                        </a:ln>
                        <a:solidFill>
                          <a:schemeClr val="tx1"/>
                        </a:solidFill>
                        <a:effectLst/>
                        <a:latin typeface="Arial" charset="0"/>
                        <a:ea typeface="ＭＳ Ｐゴシック" pitchFamily="50"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36</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25</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25</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36</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8138">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1" u="none" strike="noStrike" cap="none" normalizeH="0" baseline="0" smtClean="0">
                          <a:ln>
                            <a:noFill/>
                          </a:ln>
                          <a:solidFill>
                            <a:schemeClr val="tx1"/>
                          </a:solidFill>
                          <a:effectLst/>
                          <a:latin typeface="Arial" charset="0"/>
                          <a:ea typeface="ＭＳ Ｐゴシック" pitchFamily="50" charset="-128"/>
                        </a:rPr>
                        <a:t>x</a:t>
                      </a:r>
                      <a:r>
                        <a:rPr kumimoji="1" lang="en-US" altLang="ja-JP" sz="1700" b="0" i="1" u="none" strike="noStrike" cap="none" normalizeH="0" baseline="-25000" smtClean="0">
                          <a:ln>
                            <a:noFill/>
                          </a:ln>
                          <a:solidFill>
                            <a:schemeClr val="tx1"/>
                          </a:solidFill>
                          <a:effectLst/>
                          <a:latin typeface="Arial" charset="0"/>
                          <a:ea typeface="ＭＳ Ｐゴシック" pitchFamily="50" charset="-128"/>
                        </a:rPr>
                        <a:t>t</a:t>
                      </a:r>
                      <a:endParaRPr kumimoji="1" lang="ja-JP" altLang="en-US" sz="1700" b="0" i="1" u="none" strike="noStrike" cap="none" normalizeH="0" baseline="0" smtClean="0">
                        <a:ln>
                          <a:noFill/>
                        </a:ln>
                        <a:solidFill>
                          <a:schemeClr val="tx1"/>
                        </a:solidFill>
                        <a:effectLst/>
                        <a:latin typeface="Arial" charset="0"/>
                        <a:ea typeface="ＭＳ Ｐゴシック" pitchFamily="50" charset="-128"/>
                      </a:endParaRP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3655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1" u="none" strike="noStrike" cap="none" normalizeH="0" baseline="0" smtClean="0">
                          <a:ln>
                            <a:noFill/>
                          </a:ln>
                          <a:solidFill>
                            <a:schemeClr val="tx1"/>
                          </a:solidFill>
                          <a:effectLst/>
                          <a:latin typeface="Arial" charset="0"/>
                          <a:ea typeface="ＭＳ Ｐゴシック" pitchFamily="50" charset="-128"/>
                        </a:rPr>
                        <a:t>t</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dirty="0" smtClean="0">
                          <a:ln>
                            <a:noFill/>
                          </a:ln>
                          <a:solidFill>
                            <a:schemeClr val="tx1"/>
                          </a:solidFill>
                          <a:effectLst/>
                          <a:latin typeface="Arial" charset="0"/>
                          <a:ea typeface="ＭＳ Ｐゴシック" pitchFamily="50" charset="-128"/>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smtClean="0">
                          <a:ln>
                            <a:noFill/>
                          </a:ln>
                          <a:solidFill>
                            <a:schemeClr val="tx1"/>
                          </a:solidFill>
                          <a:effectLst/>
                          <a:latin typeface="Arial" charset="0"/>
                          <a:ea typeface="ＭＳ Ｐゴシック" pitchFamily="50" charset="-128"/>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1" lang="en-US" altLang="ja-JP" sz="1700" b="0" i="0" u="none" strike="noStrike" cap="none" normalizeH="0" baseline="0" dirty="0" smtClean="0">
                          <a:ln>
                            <a:noFill/>
                          </a:ln>
                          <a:solidFill>
                            <a:schemeClr val="tx1"/>
                          </a:solidFill>
                          <a:effectLst/>
                          <a:latin typeface="Arial" charset="0"/>
                          <a:ea typeface="ＭＳ Ｐゴシック" pitchFamily="50" charset="-128"/>
                        </a:rPr>
                        <a:t>7</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20" name="Rectangle 72"/>
          <p:cNvSpPr>
            <a:spLocks noChangeArrowheads="1"/>
          </p:cNvSpPr>
          <p:nvPr/>
        </p:nvSpPr>
        <p:spPr bwMode="auto">
          <a:xfrm>
            <a:off x="4572000" y="2659063"/>
            <a:ext cx="765175" cy="679450"/>
          </a:xfrm>
          <a:prstGeom prst="rect">
            <a:avLst/>
          </a:prstGeom>
          <a:solidFill>
            <a:srgbClr val="0000FF">
              <a:alpha val="20000"/>
            </a:srgbClr>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1" name="Rectangle 73"/>
          <p:cNvSpPr>
            <a:spLocks noChangeArrowheads="1"/>
          </p:cNvSpPr>
          <p:nvPr/>
        </p:nvSpPr>
        <p:spPr bwMode="auto">
          <a:xfrm>
            <a:off x="4622800" y="4051300"/>
            <a:ext cx="625475" cy="547688"/>
          </a:xfrm>
          <a:prstGeom prst="rect">
            <a:avLst/>
          </a:prstGeom>
          <a:solidFill>
            <a:srgbClr val="0000FF">
              <a:alpha val="20000"/>
            </a:srgbClr>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2" name="Rectangle 74"/>
          <p:cNvSpPr>
            <a:spLocks noChangeArrowheads="1"/>
          </p:cNvSpPr>
          <p:nvPr/>
        </p:nvSpPr>
        <p:spPr bwMode="auto">
          <a:xfrm>
            <a:off x="3897313" y="4695825"/>
            <a:ext cx="593725" cy="582613"/>
          </a:xfrm>
          <a:prstGeom prst="rect">
            <a:avLst/>
          </a:prstGeom>
          <a:solidFill>
            <a:srgbClr val="0000FF">
              <a:alpha val="20000"/>
            </a:srgbClr>
          </a:solidFill>
          <a:ln w="38100">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6" name="Rectangle 79"/>
          <p:cNvSpPr>
            <a:spLocks noChangeArrowheads="1"/>
          </p:cNvSpPr>
          <p:nvPr/>
        </p:nvSpPr>
        <p:spPr bwMode="auto">
          <a:xfrm>
            <a:off x="4564063" y="3978275"/>
            <a:ext cx="762000" cy="665163"/>
          </a:xfrm>
          <a:prstGeom prst="rect">
            <a:avLst/>
          </a:prstGeom>
          <a:solidFill>
            <a:schemeClr val="tx1">
              <a:alpha val="20000"/>
            </a:schemeClr>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7" name="Rectangle 80"/>
          <p:cNvSpPr>
            <a:spLocks noChangeArrowheads="1"/>
          </p:cNvSpPr>
          <p:nvPr/>
        </p:nvSpPr>
        <p:spPr bwMode="auto">
          <a:xfrm>
            <a:off x="5337175" y="3338513"/>
            <a:ext cx="720725" cy="630237"/>
          </a:xfrm>
          <a:prstGeom prst="rect">
            <a:avLst/>
          </a:prstGeom>
          <a:solidFill>
            <a:schemeClr val="tx1">
              <a:alpha val="20000"/>
            </a:schemeClr>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
        <p:nvSpPr>
          <p:cNvPr id="28" name="Rectangle 81"/>
          <p:cNvSpPr>
            <a:spLocks noChangeArrowheads="1"/>
          </p:cNvSpPr>
          <p:nvPr/>
        </p:nvSpPr>
        <p:spPr bwMode="auto">
          <a:xfrm>
            <a:off x="6078538" y="2663825"/>
            <a:ext cx="742950" cy="674688"/>
          </a:xfrm>
          <a:prstGeom prst="rect">
            <a:avLst/>
          </a:prstGeom>
          <a:solidFill>
            <a:schemeClr val="tx1">
              <a:alpha val="20000"/>
            </a:schemeClr>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TW" altLang="en-US"/>
          </a:p>
        </p:txBody>
      </p:sp>
    </p:spTree>
    <p:extLst>
      <p:ext uri="{BB962C8B-B14F-4D97-AF65-F5344CB8AC3E}">
        <p14:creationId xmlns:p14="http://schemas.microsoft.com/office/powerpoint/2010/main" val="245626226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版面配置區 3"/>
          <p:cNvSpPr>
            <a:spLocks noGrp="1"/>
          </p:cNvSpPr>
          <p:nvPr>
            <p:ph type="dt" sz="half" idx="10"/>
          </p:nvPr>
        </p:nvSpPr>
        <p:spPr/>
        <p:txBody>
          <a:bodyPr/>
          <a:lstStyle/>
          <a:p>
            <a:r>
              <a:rPr lang="ja-JP" altLang="en-US"/>
              <a:t>ICDE 2007</a:t>
            </a:r>
            <a:endParaRPr lang="en-US" altLang="ja-JP"/>
          </a:p>
        </p:txBody>
      </p:sp>
      <p:sp>
        <p:nvSpPr>
          <p:cNvPr id="9" name="頁尾版面配置區 4"/>
          <p:cNvSpPr>
            <a:spLocks noGrp="1"/>
          </p:cNvSpPr>
          <p:nvPr>
            <p:ph type="ftr" sz="quarter" idx="11"/>
          </p:nvPr>
        </p:nvSpPr>
        <p:spPr/>
        <p:txBody>
          <a:bodyPr/>
          <a:lstStyle/>
          <a:p>
            <a:r>
              <a:rPr lang="en-US" altLang="ja-JP"/>
              <a:t>Y. Sakurai et al</a:t>
            </a:r>
          </a:p>
        </p:txBody>
      </p:sp>
      <p:sp>
        <p:nvSpPr>
          <p:cNvPr id="10" name="投影片編號版面配置區 5"/>
          <p:cNvSpPr>
            <a:spLocks noGrp="1"/>
          </p:cNvSpPr>
          <p:nvPr>
            <p:ph type="sldNum" sz="quarter" idx="12"/>
          </p:nvPr>
        </p:nvSpPr>
        <p:spPr/>
        <p:txBody>
          <a:bodyPr/>
          <a:lstStyle/>
          <a:p>
            <a:fld id="{44C2CFDF-2421-4B4E-B93F-2A71FDFB9EBE}" type="slidenum">
              <a:rPr lang="en-US" altLang="ja-JP"/>
              <a:pPr/>
              <a:t>16</a:t>
            </a:fld>
            <a:endParaRPr lang="en-US" altLang="ja-JP"/>
          </a:p>
        </p:txBody>
      </p:sp>
      <p:sp>
        <p:nvSpPr>
          <p:cNvPr id="304130" name="Rectangle 2"/>
          <p:cNvSpPr>
            <a:spLocks noGrp="1" noChangeArrowheads="1"/>
          </p:cNvSpPr>
          <p:nvPr>
            <p:ph type="title"/>
          </p:nvPr>
        </p:nvSpPr>
        <p:spPr/>
        <p:txBody>
          <a:bodyPr>
            <a:normAutofit/>
          </a:bodyPr>
          <a:lstStyle/>
          <a:p>
            <a:r>
              <a:rPr lang="en-US" altLang="ja-JP" dirty="0"/>
              <a:t>Pattern Discovery</a:t>
            </a:r>
            <a:endParaRPr lang="ja-JP" altLang="en-US" dirty="0"/>
          </a:p>
        </p:txBody>
      </p:sp>
      <p:sp>
        <p:nvSpPr>
          <p:cNvPr id="304131" name="Rectangle 3"/>
          <p:cNvSpPr>
            <a:spLocks noGrp="1" noChangeArrowheads="1"/>
          </p:cNvSpPr>
          <p:nvPr>
            <p:ph type="body" idx="1"/>
          </p:nvPr>
        </p:nvSpPr>
        <p:spPr/>
        <p:txBody>
          <a:bodyPr/>
          <a:lstStyle/>
          <a:p>
            <a:r>
              <a:rPr lang="en-US" altLang="ja-JP" i="1">
                <a:latin typeface="Times New Roman" pitchFamily="18" charset="0"/>
              </a:rPr>
              <a:t>MaskedChirp</a:t>
            </a:r>
          </a:p>
        </p:txBody>
      </p:sp>
      <p:sp>
        <p:nvSpPr>
          <p:cNvPr id="304132" name="Text Box 4"/>
          <p:cNvSpPr txBox="1">
            <a:spLocks noChangeArrowheads="1"/>
          </p:cNvSpPr>
          <p:nvPr/>
        </p:nvSpPr>
        <p:spPr bwMode="auto">
          <a:xfrm>
            <a:off x="596900" y="532130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Query sequence</a:t>
            </a:r>
          </a:p>
        </p:txBody>
      </p:sp>
      <p:sp>
        <p:nvSpPr>
          <p:cNvPr id="304133" name="Text Box 5"/>
          <p:cNvSpPr txBox="1">
            <a:spLocks noChangeArrowheads="1"/>
          </p:cNvSpPr>
          <p:nvPr/>
        </p:nvSpPr>
        <p:spPr bwMode="auto">
          <a:xfrm>
            <a:off x="5067300" y="5321300"/>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Data stream</a:t>
            </a:r>
          </a:p>
        </p:txBody>
      </p:sp>
      <p:pic>
        <p:nvPicPr>
          <p:cNvPr id="304134" name="Picture 6" descr="query_maskedchirp-color"/>
          <p:cNvPicPr>
            <a:picLocks noChangeAspect="1" noChangeArrowheads="1"/>
          </p:cNvPicPr>
          <p:nvPr/>
        </p:nvPicPr>
        <p:blipFill>
          <a:blip r:embed="rId2">
            <a:lum bright="-40000" contrast="60000"/>
            <a:extLst>
              <a:ext uri="{28A0092B-C50C-407E-A947-70E740481C1C}">
                <a14:useLocalDpi xmlns:a14="http://schemas.microsoft.com/office/drawing/2010/main" val="0"/>
              </a:ext>
            </a:extLst>
          </a:blip>
          <a:srcRect/>
          <a:stretch>
            <a:fillRect/>
          </a:stretch>
        </p:blipFill>
        <p:spPr bwMode="auto">
          <a:xfrm>
            <a:off x="431800" y="2743200"/>
            <a:ext cx="1951038" cy="2438400"/>
          </a:xfrm>
          <a:prstGeom prst="rect">
            <a:avLst/>
          </a:prstGeom>
          <a:noFill/>
          <a:extLst>
            <a:ext uri="{909E8E84-426E-40DD-AFC4-6F175D3DCCD1}">
              <a14:hiddenFill xmlns:a14="http://schemas.microsoft.com/office/drawing/2010/main">
                <a:solidFill>
                  <a:srgbClr val="FFFFFF"/>
                </a:solidFill>
              </a14:hiddenFill>
            </a:ext>
          </a:extLst>
        </p:spPr>
      </p:pic>
      <p:pic>
        <p:nvPicPr>
          <p:cNvPr id="304135" name="Picture 7" descr="data_maskedchirp-org-color"/>
          <p:cNvPicPr>
            <a:picLocks noChangeAspect="1" noChangeArrowheads="1"/>
          </p:cNvPicPr>
          <p:nvPr/>
        </p:nvPicPr>
        <p:blipFill>
          <a:blip r:embed="rId3">
            <a:lum bright="-40000" contrast="60000"/>
            <a:extLst>
              <a:ext uri="{28A0092B-C50C-407E-A947-70E740481C1C}">
                <a14:useLocalDpi xmlns:a14="http://schemas.microsoft.com/office/drawing/2010/main" val="0"/>
              </a:ext>
            </a:extLst>
          </a:blip>
          <a:srcRect/>
          <a:stretch>
            <a:fillRect/>
          </a:stretch>
        </p:blipFill>
        <p:spPr bwMode="auto">
          <a:xfrm>
            <a:off x="2339975" y="2744788"/>
            <a:ext cx="6507163" cy="2439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6951479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日期版面配置區 3"/>
          <p:cNvSpPr>
            <a:spLocks noGrp="1"/>
          </p:cNvSpPr>
          <p:nvPr>
            <p:ph type="dt" sz="half" idx="10"/>
          </p:nvPr>
        </p:nvSpPr>
        <p:spPr/>
        <p:txBody>
          <a:bodyPr/>
          <a:lstStyle/>
          <a:p>
            <a:r>
              <a:rPr lang="ja-JP" altLang="en-US"/>
              <a:t>ICDE 2007</a:t>
            </a:r>
            <a:endParaRPr lang="en-US" altLang="ja-JP"/>
          </a:p>
        </p:txBody>
      </p:sp>
      <p:sp>
        <p:nvSpPr>
          <p:cNvPr id="11" name="頁尾版面配置區 4"/>
          <p:cNvSpPr>
            <a:spLocks noGrp="1"/>
          </p:cNvSpPr>
          <p:nvPr>
            <p:ph type="ftr" sz="quarter" idx="11"/>
          </p:nvPr>
        </p:nvSpPr>
        <p:spPr/>
        <p:txBody>
          <a:bodyPr/>
          <a:lstStyle/>
          <a:p>
            <a:r>
              <a:rPr lang="en-US" altLang="ja-JP"/>
              <a:t>Y. Sakurai et al</a:t>
            </a:r>
          </a:p>
        </p:txBody>
      </p:sp>
      <p:sp>
        <p:nvSpPr>
          <p:cNvPr id="12" name="投影片編號版面配置區 5"/>
          <p:cNvSpPr>
            <a:spLocks noGrp="1"/>
          </p:cNvSpPr>
          <p:nvPr>
            <p:ph type="sldNum" sz="quarter" idx="12"/>
          </p:nvPr>
        </p:nvSpPr>
        <p:spPr/>
        <p:txBody>
          <a:bodyPr/>
          <a:lstStyle/>
          <a:p>
            <a:fld id="{794D2B33-D148-41C8-B076-1C88F6760E3E}" type="slidenum">
              <a:rPr lang="en-US" altLang="ja-JP"/>
              <a:pPr/>
              <a:t>17</a:t>
            </a:fld>
            <a:endParaRPr lang="en-US" altLang="ja-JP"/>
          </a:p>
        </p:txBody>
      </p:sp>
      <p:sp>
        <p:nvSpPr>
          <p:cNvPr id="305154" name="Rectangle 2"/>
          <p:cNvSpPr>
            <a:spLocks noGrp="1" noChangeArrowheads="1"/>
          </p:cNvSpPr>
          <p:nvPr>
            <p:ph type="title"/>
          </p:nvPr>
        </p:nvSpPr>
        <p:spPr/>
        <p:txBody>
          <a:bodyPr>
            <a:normAutofit/>
          </a:bodyPr>
          <a:lstStyle/>
          <a:p>
            <a:r>
              <a:rPr lang="en-US" altLang="ja-JP" dirty="0"/>
              <a:t>Pattern Discovery</a:t>
            </a:r>
            <a:endParaRPr lang="ja-JP" altLang="en-US" dirty="0"/>
          </a:p>
        </p:txBody>
      </p:sp>
      <p:sp>
        <p:nvSpPr>
          <p:cNvPr id="305155" name="Rectangle 3"/>
          <p:cNvSpPr>
            <a:spLocks noGrp="1" noChangeArrowheads="1"/>
          </p:cNvSpPr>
          <p:nvPr>
            <p:ph type="body" idx="1"/>
          </p:nvPr>
        </p:nvSpPr>
        <p:spPr/>
        <p:txBody>
          <a:bodyPr/>
          <a:lstStyle/>
          <a:p>
            <a:r>
              <a:rPr lang="en-US" altLang="ja-JP" i="1">
                <a:latin typeface="Times New Roman" pitchFamily="18" charset="0"/>
              </a:rPr>
              <a:t>MaskedChirp</a:t>
            </a:r>
            <a:endParaRPr lang="ja-JP" altLang="en-US" i="1">
              <a:latin typeface="Times New Roman" pitchFamily="18" charset="0"/>
            </a:endParaRPr>
          </a:p>
        </p:txBody>
      </p:sp>
      <p:pic>
        <p:nvPicPr>
          <p:cNvPr id="305158" name="Picture 6" descr="query_maskedchirp-color"/>
          <p:cNvPicPr>
            <a:picLocks noChangeAspect="1" noChangeArrowheads="1"/>
          </p:cNvPicPr>
          <p:nvPr/>
        </p:nvPicPr>
        <p:blipFill>
          <a:blip r:embed="rId2">
            <a:lum bright="-40000" contrast="60000"/>
            <a:extLst>
              <a:ext uri="{28A0092B-C50C-407E-A947-70E740481C1C}">
                <a14:useLocalDpi xmlns:a14="http://schemas.microsoft.com/office/drawing/2010/main" val="0"/>
              </a:ext>
            </a:extLst>
          </a:blip>
          <a:srcRect/>
          <a:stretch>
            <a:fillRect/>
          </a:stretch>
        </p:blipFill>
        <p:spPr bwMode="auto">
          <a:xfrm>
            <a:off x="431800" y="2743200"/>
            <a:ext cx="1951038" cy="2438400"/>
          </a:xfrm>
          <a:prstGeom prst="rect">
            <a:avLst/>
          </a:prstGeom>
          <a:noFill/>
          <a:extLst>
            <a:ext uri="{909E8E84-426E-40DD-AFC4-6F175D3DCCD1}">
              <a14:hiddenFill xmlns:a14="http://schemas.microsoft.com/office/drawing/2010/main">
                <a:solidFill>
                  <a:srgbClr val="FFFFFF"/>
                </a:solidFill>
              </a14:hiddenFill>
            </a:ext>
          </a:extLst>
        </p:spPr>
      </p:pic>
      <p:pic>
        <p:nvPicPr>
          <p:cNvPr id="305159" name="Picture 7" descr="data_maskedchirp-color"/>
          <p:cNvPicPr>
            <a:picLocks noChangeAspect="1" noChangeArrowheads="1"/>
          </p:cNvPicPr>
          <p:nvPr/>
        </p:nvPicPr>
        <p:blipFill>
          <a:blip r:embed="rId3">
            <a:lum bright="-40000" contrast="60000"/>
            <a:extLst>
              <a:ext uri="{28A0092B-C50C-407E-A947-70E740481C1C}">
                <a14:useLocalDpi xmlns:a14="http://schemas.microsoft.com/office/drawing/2010/main" val="0"/>
              </a:ext>
            </a:extLst>
          </a:blip>
          <a:srcRect/>
          <a:stretch>
            <a:fillRect/>
          </a:stretch>
        </p:blipFill>
        <p:spPr bwMode="auto">
          <a:xfrm>
            <a:off x="2339975" y="2741613"/>
            <a:ext cx="6507163" cy="2439987"/>
          </a:xfrm>
          <a:prstGeom prst="rect">
            <a:avLst/>
          </a:prstGeom>
          <a:noFill/>
          <a:extLst>
            <a:ext uri="{909E8E84-426E-40DD-AFC4-6F175D3DCCD1}">
              <a14:hiddenFill xmlns:a14="http://schemas.microsoft.com/office/drawing/2010/main">
                <a:solidFill>
                  <a:srgbClr val="FFFFFF"/>
                </a:solidFill>
              </a14:hiddenFill>
            </a:ext>
          </a:extLst>
        </p:spPr>
      </p:pic>
      <p:sp>
        <p:nvSpPr>
          <p:cNvPr id="305160" name="AutoShape 8"/>
          <p:cNvSpPr>
            <a:spLocks noChangeArrowheads="1"/>
          </p:cNvSpPr>
          <p:nvPr/>
        </p:nvSpPr>
        <p:spPr bwMode="auto">
          <a:xfrm>
            <a:off x="5427663" y="1719263"/>
            <a:ext cx="3548062" cy="765175"/>
          </a:xfrm>
          <a:prstGeom prst="wedgeRoundRectCallout">
            <a:avLst>
              <a:gd name="adj1" fmla="val -38546"/>
              <a:gd name="adj2" fmla="val 72199"/>
              <a:gd name="adj3" fmla="val 16667"/>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ja-JP" sz="1800" b="0"/>
              <a:t>SPRING identifies all sound parts with varying time periods</a:t>
            </a:r>
            <a:endParaRPr lang="ja-JP" altLang="en-US" sz="1800" b="0"/>
          </a:p>
        </p:txBody>
      </p:sp>
      <p:sp>
        <p:nvSpPr>
          <p:cNvPr id="305161" name="Text Box 9"/>
          <p:cNvSpPr txBox="1">
            <a:spLocks noChangeArrowheads="1"/>
          </p:cNvSpPr>
          <p:nvPr/>
        </p:nvSpPr>
        <p:spPr bwMode="auto">
          <a:xfrm>
            <a:off x="596900" y="532130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Query sequence</a:t>
            </a:r>
          </a:p>
        </p:txBody>
      </p:sp>
      <p:sp>
        <p:nvSpPr>
          <p:cNvPr id="305163" name="Text Box 11"/>
          <p:cNvSpPr txBox="1">
            <a:spLocks noChangeArrowheads="1"/>
          </p:cNvSpPr>
          <p:nvPr/>
        </p:nvSpPr>
        <p:spPr bwMode="auto">
          <a:xfrm>
            <a:off x="5067300" y="5321300"/>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Data stream</a:t>
            </a:r>
          </a:p>
        </p:txBody>
      </p:sp>
      <p:sp>
        <p:nvSpPr>
          <p:cNvPr id="305164" name="AutoShape 12"/>
          <p:cNvSpPr>
            <a:spLocks noChangeArrowheads="1"/>
          </p:cNvSpPr>
          <p:nvPr/>
        </p:nvSpPr>
        <p:spPr bwMode="auto">
          <a:xfrm>
            <a:off x="4487863" y="5273675"/>
            <a:ext cx="3863975" cy="944563"/>
          </a:xfrm>
          <a:prstGeom prst="wedgeRoundRectCallout">
            <a:avLst>
              <a:gd name="adj1" fmla="val -38005"/>
              <a:gd name="adj2" fmla="val -77898"/>
              <a:gd name="adj3" fmla="val 16667"/>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ja-JP" sz="1800" b="0"/>
              <a:t>The output time of each captured subsequence is very close to its end position</a:t>
            </a:r>
            <a:endParaRPr lang="ja-JP" altLang="en-US" sz="1800" b="0"/>
          </a:p>
        </p:txBody>
      </p:sp>
    </p:spTree>
    <p:extLst>
      <p:ext uri="{BB962C8B-B14F-4D97-AF65-F5344CB8AC3E}">
        <p14:creationId xmlns:p14="http://schemas.microsoft.com/office/powerpoint/2010/main" val="34843178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日期版面配置區 3"/>
          <p:cNvSpPr>
            <a:spLocks noGrp="1"/>
          </p:cNvSpPr>
          <p:nvPr>
            <p:ph type="dt" sz="half" idx="10"/>
          </p:nvPr>
        </p:nvSpPr>
        <p:spPr/>
        <p:txBody>
          <a:bodyPr/>
          <a:lstStyle/>
          <a:p>
            <a:r>
              <a:rPr lang="ja-JP" altLang="en-US"/>
              <a:t>ICDE 2007</a:t>
            </a:r>
            <a:endParaRPr lang="en-US" altLang="ja-JP"/>
          </a:p>
        </p:txBody>
      </p:sp>
      <p:sp>
        <p:nvSpPr>
          <p:cNvPr id="9" name="頁尾版面配置區 4"/>
          <p:cNvSpPr>
            <a:spLocks noGrp="1"/>
          </p:cNvSpPr>
          <p:nvPr>
            <p:ph type="ftr" sz="quarter" idx="11"/>
          </p:nvPr>
        </p:nvSpPr>
        <p:spPr/>
        <p:txBody>
          <a:bodyPr/>
          <a:lstStyle/>
          <a:p>
            <a:r>
              <a:rPr lang="en-US" altLang="ja-JP"/>
              <a:t>Y. Sakurai et al</a:t>
            </a:r>
          </a:p>
        </p:txBody>
      </p:sp>
      <p:sp>
        <p:nvSpPr>
          <p:cNvPr id="10" name="投影片編號版面配置區 5"/>
          <p:cNvSpPr>
            <a:spLocks noGrp="1"/>
          </p:cNvSpPr>
          <p:nvPr>
            <p:ph type="sldNum" sz="quarter" idx="12"/>
          </p:nvPr>
        </p:nvSpPr>
        <p:spPr/>
        <p:txBody>
          <a:bodyPr/>
          <a:lstStyle/>
          <a:p>
            <a:fld id="{765F9F3D-EE6A-4BF7-A27C-81A2A7A66C81}" type="slidenum">
              <a:rPr lang="en-US" altLang="ja-JP"/>
              <a:pPr/>
              <a:t>18</a:t>
            </a:fld>
            <a:endParaRPr lang="en-US" altLang="ja-JP"/>
          </a:p>
        </p:txBody>
      </p:sp>
      <p:sp>
        <p:nvSpPr>
          <p:cNvPr id="306178" name="Rectangle 2"/>
          <p:cNvSpPr>
            <a:spLocks noGrp="1" noChangeArrowheads="1"/>
          </p:cNvSpPr>
          <p:nvPr>
            <p:ph type="title"/>
          </p:nvPr>
        </p:nvSpPr>
        <p:spPr/>
        <p:txBody>
          <a:bodyPr>
            <a:normAutofit/>
          </a:bodyPr>
          <a:lstStyle/>
          <a:p>
            <a:r>
              <a:rPr lang="en-US" altLang="ja-JP" dirty="0"/>
              <a:t>Pattern Discovery</a:t>
            </a:r>
            <a:endParaRPr lang="ja-JP" altLang="en-US" dirty="0"/>
          </a:p>
        </p:txBody>
      </p:sp>
      <p:sp>
        <p:nvSpPr>
          <p:cNvPr id="306179" name="Rectangle 3"/>
          <p:cNvSpPr>
            <a:spLocks noGrp="1" noChangeArrowheads="1"/>
          </p:cNvSpPr>
          <p:nvPr>
            <p:ph type="body" idx="1"/>
          </p:nvPr>
        </p:nvSpPr>
        <p:spPr/>
        <p:txBody>
          <a:bodyPr/>
          <a:lstStyle/>
          <a:p>
            <a:r>
              <a:rPr lang="en-US" altLang="ja-JP" i="1">
                <a:latin typeface="Times New Roman" pitchFamily="18" charset="0"/>
              </a:rPr>
              <a:t>Temperature</a:t>
            </a:r>
            <a:endParaRPr lang="ja-JP" altLang="en-US" i="1">
              <a:latin typeface="Times New Roman" pitchFamily="18" charset="0"/>
            </a:endParaRPr>
          </a:p>
        </p:txBody>
      </p:sp>
      <p:pic>
        <p:nvPicPr>
          <p:cNvPr id="306180" name="Picture 4" descr="query_temp-color"/>
          <p:cNvPicPr>
            <a:picLocks noChangeAspect="1" noChangeArrowheads="1"/>
          </p:cNvPicPr>
          <p:nvPr/>
        </p:nvPicPr>
        <p:blipFill>
          <a:blip r:embed="rId2">
            <a:lum bright="-40000" contrast="60000"/>
            <a:extLst>
              <a:ext uri="{28A0092B-C50C-407E-A947-70E740481C1C}">
                <a14:useLocalDpi xmlns:a14="http://schemas.microsoft.com/office/drawing/2010/main" val="0"/>
              </a:ext>
            </a:extLst>
          </a:blip>
          <a:srcRect/>
          <a:stretch>
            <a:fillRect/>
          </a:stretch>
        </p:blipFill>
        <p:spPr bwMode="auto">
          <a:xfrm>
            <a:off x="412750" y="2743200"/>
            <a:ext cx="1954213" cy="2441575"/>
          </a:xfrm>
          <a:prstGeom prst="rect">
            <a:avLst/>
          </a:prstGeom>
          <a:noFill/>
          <a:extLst>
            <a:ext uri="{909E8E84-426E-40DD-AFC4-6F175D3DCCD1}">
              <a14:hiddenFill xmlns:a14="http://schemas.microsoft.com/office/drawing/2010/main">
                <a:solidFill>
                  <a:srgbClr val="FFFFFF"/>
                </a:solidFill>
              </a14:hiddenFill>
            </a:ext>
          </a:extLst>
        </p:spPr>
      </p:pic>
      <p:pic>
        <p:nvPicPr>
          <p:cNvPr id="306181" name="Picture 5" descr="data_temp-org-color"/>
          <p:cNvPicPr>
            <a:picLocks noChangeAspect="1" noChangeArrowheads="1"/>
          </p:cNvPicPr>
          <p:nvPr/>
        </p:nvPicPr>
        <p:blipFill>
          <a:blip r:embed="rId3">
            <a:lum bright="-40000" contrast="60000"/>
            <a:extLst>
              <a:ext uri="{28A0092B-C50C-407E-A947-70E740481C1C}">
                <a14:useLocalDpi xmlns:a14="http://schemas.microsoft.com/office/drawing/2010/main" val="0"/>
              </a:ext>
            </a:extLst>
          </a:blip>
          <a:srcRect/>
          <a:stretch>
            <a:fillRect/>
          </a:stretch>
        </p:blipFill>
        <p:spPr bwMode="auto">
          <a:xfrm>
            <a:off x="2322513" y="2744788"/>
            <a:ext cx="6507162" cy="2439987"/>
          </a:xfrm>
          <a:prstGeom prst="rect">
            <a:avLst/>
          </a:prstGeom>
          <a:noFill/>
          <a:extLst>
            <a:ext uri="{909E8E84-426E-40DD-AFC4-6F175D3DCCD1}">
              <a14:hiddenFill xmlns:a14="http://schemas.microsoft.com/office/drawing/2010/main">
                <a:solidFill>
                  <a:srgbClr val="FFFFFF"/>
                </a:solidFill>
              </a14:hiddenFill>
            </a:ext>
          </a:extLst>
        </p:spPr>
      </p:pic>
      <p:sp>
        <p:nvSpPr>
          <p:cNvPr id="306184" name="Text Box 8"/>
          <p:cNvSpPr txBox="1">
            <a:spLocks noChangeArrowheads="1"/>
          </p:cNvSpPr>
          <p:nvPr/>
        </p:nvSpPr>
        <p:spPr bwMode="auto">
          <a:xfrm>
            <a:off x="596900" y="532130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Query sequence</a:t>
            </a:r>
          </a:p>
        </p:txBody>
      </p:sp>
      <p:sp>
        <p:nvSpPr>
          <p:cNvPr id="306185" name="Text Box 9"/>
          <p:cNvSpPr txBox="1">
            <a:spLocks noChangeArrowheads="1"/>
          </p:cNvSpPr>
          <p:nvPr/>
        </p:nvSpPr>
        <p:spPr bwMode="auto">
          <a:xfrm>
            <a:off x="5067300" y="5321300"/>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Data stream</a:t>
            </a:r>
          </a:p>
        </p:txBody>
      </p:sp>
    </p:spTree>
    <p:extLst>
      <p:ext uri="{BB962C8B-B14F-4D97-AF65-F5344CB8AC3E}">
        <p14:creationId xmlns:p14="http://schemas.microsoft.com/office/powerpoint/2010/main" val="34041846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日期版面配置區 3"/>
          <p:cNvSpPr>
            <a:spLocks noGrp="1"/>
          </p:cNvSpPr>
          <p:nvPr>
            <p:ph type="dt" sz="half" idx="10"/>
          </p:nvPr>
        </p:nvSpPr>
        <p:spPr/>
        <p:txBody>
          <a:bodyPr/>
          <a:lstStyle/>
          <a:p>
            <a:r>
              <a:rPr lang="ja-JP" altLang="en-US"/>
              <a:t>ICDE 2007</a:t>
            </a:r>
            <a:endParaRPr lang="en-US" altLang="ja-JP"/>
          </a:p>
        </p:txBody>
      </p:sp>
      <p:sp>
        <p:nvSpPr>
          <p:cNvPr id="10" name="頁尾版面配置區 4"/>
          <p:cNvSpPr>
            <a:spLocks noGrp="1"/>
          </p:cNvSpPr>
          <p:nvPr>
            <p:ph type="ftr" sz="quarter" idx="11"/>
          </p:nvPr>
        </p:nvSpPr>
        <p:spPr/>
        <p:txBody>
          <a:bodyPr/>
          <a:lstStyle/>
          <a:p>
            <a:r>
              <a:rPr lang="en-US" altLang="ja-JP"/>
              <a:t>Y. Sakurai et al</a:t>
            </a:r>
          </a:p>
        </p:txBody>
      </p:sp>
      <p:sp>
        <p:nvSpPr>
          <p:cNvPr id="11" name="投影片編號版面配置區 5"/>
          <p:cNvSpPr>
            <a:spLocks noGrp="1"/>
          </p:cNvSpPr>
          <p:nvPr>
            <p:ph type="sldNum" sz="quarter" idx="12"/>
          </p:nvPr>
        </p:nvSpPr>
        <p:spPr/>
        <p:txBody>
          <a:bodyPr/>
          <a:lstStyle/>
          <a:p>
            <a:fld id="{9B8BCF9E-EC3C-4E86-9A6C-A6FE921EAEFE}" type="slidenum">
              <a:rPr lang="en-US" altLang="ja-JP"/>
              <a:pPr/>
              <a:t>19</a:t>
            </a:fld>
            <a:endParaRPr lang="en-US" altLang="ja-JP"/>
          </a:p>
        </p:txBody>
      </p:sp>
      <p:sp>
        <p:nvSpPr>
          <p:cNvPr id="307202" name="Rectangle 2"/>
          <p:cNvSpPr>
            <a:spLocks noGrp="1" noChangeArrowheads="1"/>
          </p:cNvSpPr>
          <p:nvPr>
            <p:ph type="title"/>
          </p:nvPr>
        </p:nvSpPr>
        <p:spPr/>
        <p:txBody>
          <a:bodyPr>
            <a:normAutofit/>
          </a:bodyPr>
          <a:lstStyle/>
          <a:p>
            <a:r>
              <a:rPr lang="en-US" altLang="ja-JP" dirty="0"/>
              <a:t>Pattern Discovery</a:t>
            </a:r>
            <a:endParaRPr lang="ja-JP" altLang="en-US" dirty="0"/>
          </a:p>
        </p:txBody>
      </p:sp>
      <p:sp>
        <p:nvSpPr>
          <p:cNvPr id="307203" name="Rectangle 3"/>
          <p:cNvSpPr>
            <a:spLocks noGrp="1" noChangeArrowheads="1"/>
          </p:cNvSpPr>
          <p:nvPr>
            <p:ph type="body" idx="1"/>
          </p:nvPr>
        </p:nvSpPr>
        <p:spPr/>
        <p:txBody>
          <a:bodyPr/>
          <a:lstStyle/>
          <a:p>
            <a:r>
              <a:rPr lang="en-US" altLang="ja-JP" i="1">
                <a:latin typeface="Times New Roman" pitchFamily="18" charset="0"/>
              </a:rPr>
              <a:t>Temperature</a:t>
            </a:r>
            <a:endParaRPr lang="ja-JP" altLang="en-US" i="1">
              <a:latin typeface="Times New Roman" pitchFamily="18" charset="0"/>
            </a:endParaRPr>
          </a:p>
        </p:txBody>
      </p:sp>
      <p:pic>
        <p:nvPicPr>
          <p:cNvPr id="307204" name="Picture 4" descr="query_temp-color"/>
          <p:cNvPicPr>
            <a:picLocks noChangeAspect="1" noChangeArrowheads="1"/>
          </p:cNvPicPr>
          <p:nvPr/>
        </p:nvPicPr>
        <p:blipFill>
          <a:blip r:embed="rId2">
            <a:lum bright="-40000" contrast="60000"/>
            <a:extLst>
              <a:ext uri="{28A0092B-C50C-407E-A947-70E740481C1C}">
                <a14:useLocalDpi xmlns:a14="http://schemas.microsoft.com/office/drawing/2010/main" val="0"/>
              </a:ext>
            </a:extLst>
          </a:blip>
          <a:srcRect/>
          <a:stretch>
            <a:fillRect/>
          </a:stretch>
        </p:blipFill>
        <p:spPr bwMode="auto">
          <a:xfrm>
            <a:off x="412750" y="2743200"/>
            <a:ext cx="1954213" cy="2441575"/>
          </a:xfrm>
          <a:prstGeom prst="rect">
            <a:avLst/>
          </a:prstGeom>
          <a:noFill/>
          <a:extLst>
            <a:ext uri="{909E8E84-426E-40DD-AFC4-6F175D3DCCD1}">
              <a14:hiddenFill xmlns:a14="http://schemas.microsoft.com/office/drawing/2010/main">
                <a:solidFill>
                  <a:srgbClr val="FFFFFF"/>
                </a:solidFill>
              </a14:hiddenFill>
            </a:ext>
          </a:extLst>
        </p:spPr>
      </p:pic>
      <p:pic>
        <p:nvPicPr>
          <p:cNvPr id="307207" name="Picture 7" descr="data_temp-color"/>
          <p:cNvPicPr>
            <a:picLocks noChangeAspect="1" noChangeArrowheads="1"/>
          </p:cNvPicPr>
          <p:nvPr/>
        </p:nvPicPr>
        <p:blipFill>
          <a:blip r:embed="rId3">
            <a:lum bright="-40000" contrast="60000"/>
            <a:extLst>
              <a:ext uri="{28A0092B-C50C-407E-A947-70E740481C1C}">
                <a14:useLocalDpi xmlns:a14="http://schemas.microsoft.com/office/drawing/2010/main" val="0"/>
              </a:ext>
            </a:extLst>
          </a:blip>
          <a:srcRect/>
          <a:stretch>
            <a:fillRect/>
          </a:stretch>
        </p:blipFill>
        <p:spPr bwMode="auto">
          <a:xfrm>
            <a:off x="2322513" y="2754313"/>
            <a:ext cx="6507162" cy="2439987"/>
          </a:xfrm>
          <a:prstGeom prst="rect">
            <a:avLst/>
          </a:prstGeom>
          <a:noFill/>
          <a:extLst>
            <a:ext uri="{909E8E84-426E-40DD-AFC4-6F175D3DCCD1}">
              <a14:hiddenFill xmlns:a14="http://schemas.microsoft.com/office/drawing/2010/main">
                <a:solidFill>
                  <a:srgbClr val="FFFFFF"/>
                </a:solidFill>
              </a14:hiddenFill>
            </a:ext>
          </a:extLst>
        </p:spPr>
      </p:pic>
      <p:sp>
        <p:nvSpPr>
          <p:cNvPr id="307210" name="Text Box 10"/>
          <p:cNvSpPr txBox="1">
            <a:spLocks noChangeArrowheads="1"/>
          </p:cNvSpPr>
          <p:nvPr/>
        </p:nvSpPr>
        <p:spPr bwMode="auto">
          <a:xfrm>
            <a:off x="596900" y="5321300"/>
            <a:ext cx="1860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Query sequence</a:t>
            </a:r>
          </a:p>
        </p:txBody>
      </p:sp>
      <p:sp>
        <p:nvSpPr>
          <p:cNvPr id="307211" name="Text Box 11"/>
          <p:cNvSpPr txBox="1">
            <a:spLocks noChangeArrowheads="1"/>
          </p:cNvSpPr>
          <p:nvPr/>
        </p:nvSpPr>
        <p:spPr bwMode="auto">
          <a:xfrm>
            <a:off x="5067300" y="5321300"/>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ja-JP" sz="1800" b="0"/>
              <a:t>Data stream</a:t>
            </a:r>
          </a:p>
        </p:txBody>
      </p:sp>
      <p:sp>
        <p:nvSpPr>
          <p:cNvPr id="307212" name="AutoShape 12"/>
          <p:cNvSpPr>
            <a:spLocks noChangeArrowheads="1"/>
          </p:cNvSpPr>
          <p:nvPr/>
        </p:nvSpPr>
        <p:spPr bwMode="auto">
          <a:xfrm>
            <a:off x="5427663" y="1493838"/>
            <a:ext cx="3548062" cy="990600"/>
          </a:xfrm>
          <a:prstGeom prst="wedgeRoundRectCallout">
            <a:avLst>
              <a:gd name="adj1" fmla="val -38546"/>
              <a:gd name="adj2" fmla="val 67148"/>
              <a:gd name="adj3" fmla="val 16667"/>
            </a:avLst>
          </a:prstGeom>
          <a:solidFill>
            <a:srgbClr val="339966"/>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a:r>
              <a:rPr lang="en-US" altLang="ja-JP" sz="1800" b="0"/>
              <a:t>SPRING finds the days when the temperature fluctuates from cool to hot</a:t>
            </a:r>
            <a:endParaRPr lang="ja-JP" altLang="en-US" sz="1800" b="0"/>
          </a:p>
        </p:txBody>
      </p:sp>
    </p:spTree>
    <p:extLst>
      <p:ext uri="{BB962C8B-B14F-4D97-AF65-F5344CB8AC3E}">
        <p14:creationId xmlns:p14="http://schemas.microsoft.com/office/powerpoint/2010/main" val="11700469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Experimental Evaluation</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20</a:t>
            </a:fld>
            <a:endParaRPr lang="zh-TW" altLang="en-US"/>
          </a:p>
        </p:txBody>
      </p:sp>
      <p:sp>
        <p:nvSpPr>
          <p:cNvPr id="5" name="內容版面配置區 4"/>
          <p:cNvSpPr>
            <a:spLocks noGrp="1"/>
          </p:cNvSpPr>
          <p:nvPr>
            <p:ph sz="quarter" idx="1"/>
          </p:nvPr>
        </p:nvSpPr>
        <p:spPr/>
        <p:txBody>
          <a:bodyPr>
            <a:normAutofit/>
          </a:bodyPr>
          <a:lstStyle/>
          <a:p>
            <a:r>
              <a:rPr lang="en-US" altLang="zh-TW" dirty="0"/>
              <a:t>We created a database of </a:t>
            </a:r>
            <a:r>
              <a:rPr lang="en-US" altLang="zh-TW" dirty="0" smtClean="0">
                <a:solidFill>
                  <a:srgbClr val="C00000"/>
                </a:solidFill>
              </a:rPr>
              <a:t>5,641 </a:t>
            </a:r>
            <a:r>
              <a:rPr lang="en-US" altLang="zh-TW" dirty="0">
                <a:solidFill>
                  <a:srgbClr val="C00000"/>
                </a:solidFill>
              </a:rPr>
              <a:t>MIDI</a:t>
            </a:r>
            <a:r>
              <a:rPr lang="en-US" altLang="zh-TW" dirty="0"/>
              <a:t> files </a:t>
            </a:r>
            <a:r>
              <a:rPr lang="en-US" altLang="zh-TW" dirty="0" smtClean="0"/>
              <a:t>covering many </a:t>
            </a:r>
            <a:r>
              <a:rPr lang="en-US" altLang="zh-TW" dirty="0"/>
              <a:t>music genres</a:t>
            </a:r>
            <a:r>
              <a:rPr lang="en-US" altLang="zh-TW" dirty="0" smtClean="0"/>
              <a:t>.</a:t>
            </a:r>
          </a:p>
          <a:p>
            <a:r>
              <a:rPr lang="en-US" altLang="zh-TW" dirty="0"/>
              <a:t>E</a:t>
            </a:r>
            <a:r>
              <a:rPr lang="en-US" altLang="zh-TW" dirty="0" smtClean="0"/>
              <a:t>xtracted </a:t>
            </a:r>
            <a:r>
              <a:rPr lang="en-US" altLang="zh-TW" dirty="0"/>
              <a:t>for all channels (a MIDI file consists of at</a:t>
            </a:r>
          </a:p>
          <a:p>
            <a:r>
              <a:rPr lang="en-US" altLang="zh-TW" dirty="0"/>
              <a:t>most 16 channels) the </a:t>
            </a:r>
            <a:r>
              <a:rPr lang="en-US" altLang="zh-TW" dirty="0">
                <a:solidFill>
                  <a:srgbClr val="C00000"/>
                </a:solidFill>
              </a:rPr>
              <a:t>highest pitch </a:t>
            </a:r>
            <a:r>
              <a:rPr lang="en-US" altLang="zh-TW" dirty="0"/>
              <a:t>at every time click</a:t>
            </a:r>
            <a:r>
              <a:rPr lang="en-US" altLang="zh-TW" dirty="0" smtClean="0"/>
              <a:t>.</a:t>
            </a:r>
          </a:p>
          <a:p>
            <a:r>
              <a:rPr lang="en-US" altLang="zh-TW" dirty="0" smtClean="0"/>
              <a:t>resulted </a:t>
            </a:r>
            <a:r>
              <a:rPr lang="en-US" altLang="zh-TW" dirty="0"/>
              <a:t>in a music database consisting of a total of </a:t>
            </a:r>
            <a:r>
              <a:rPr lang="en-US" altLang="zh-TW" dirty="0" smtClean="0">
                <a:solidFill>
                  <a:srgbClr val="C00000"/>
                </a:solidFill>
              </a:rPr>
              <a:t>10</a:t>
            </a:r>
            <a:r>
              <a:rPr lang="en-US" altLang="zh-TW" i="1" dirty="0" smtClean="0">
                <a:solidFill>
                  <a:srgbClr val="C00000"/>
                </a:solidFill>
              </a:rPr>
              <a:t>,</a:t>
            </a:r>
            <a:r>
              <a:rPr lang="en-US" altLang="zh-TW" dirty="0" smtClean="0">
                <a:solidFill>
                  <a:srgbClr val="C00000"/>
                </a:solidFill>
              </a:rPr>
              <a:t>749 time </a:t>
            </a:r>
            <a:r>
              <a:rPr lang="en-US" altLang="zh-TW" dirty="0">
                <a:solidFill>
                  <a:srgbClr val="C00000"/>
                </a:solidFill>
              </a:rPr>
              <a:t>series </a:t>
            </a:r>
            <a:r>
              <a:rPr lang="en-US" altLang="zh-TW" dirty="0"/>
              <a:t>with length at least 200</a:t>
            </a:r>
            <a:r>
              <a:rPr lang="en-US" altLang="zh-TW" dirty="0" smtClean="0"/>
              <a:t>.</a:t>
            </a:r>
          </a:p>
          <a:p>
            <a:r>
              <a:rPr lang="en-US" altLang="zh-TW" dirty="0" smtClean="0"/>
              <a:t>Selected 200 random </a:t>
            </a:r>
            <a:r>
              <a:rPr lang="en-US" altLang="zh-TW" dirty="0"/>
              <a:t>subsequences in the </a:t>
            </a:r>
            <a:r>
              <a:rPr lang="en-US" altLang="zh-TW" dirty="0" smtClean="0"/>
              <a:t>database as </a:t>
            </a:r>
            <a:r>
              <a:rPr lang="en-US" altLang="zh-TW" dirty="0"/>
              <a:t>queries</a:t>
            </a:r>
            <a:r>
              <a:rPr lang="en-US" altLang="zh-TW" dirty="0" smtClean="0"/>
              <a:t> and </a:t>
            </a:r>
            <a:r>
              <a:rPr lang="en-US" altLang="zh-TW" dirty="0" smtClean="0">
                <a:solidFill>
                  <a:srgbClr val="C00000"/>
                </a:solidFill>
              </a:rPr>
              <a:t>added </a:t>
            </a:r>
            <a:r>
              <a:rPr lang="en-US" altLang="zh-TW" dirty="0" smtClean="0">
                <a:solidFill>
                  <a:srgbClr val="C00000"/>
                </a:solidFill>
              </a:rPr>
              <a:t>noise</a:t>
            </a:r>
            <a:r>
              <a:rPr lang="en-US" altLang="zh-TW" dirty="0" smtClean="0">
                <a:solidFill>
                  <a:srgbClr val="C00000"/>
                </a:solidFill>
              </a:rPr>
              <a:t> by replace 5</a:t>
            </a:r>
            <a:r>
              <a:rPr lang="en-US" altLang="zh-TW" dirty="0">
                <a:solidFill>
                  <a:srgbClr val="C00000"/>
                </a:solidFill>
              </a:rPr>
              <a:t>, 10, 15, 20, 25, </a:t>
            </a:r>
            <a:r>
              <a:rPr lang="en-US" altLang="zh-TW" dirty="0" smtClean="0">
                <a:solidFill>
                  <a:srgbClr val="C00000"/>
                </a:solidFill>
              </a:rPr>
              <a:t>30</a:t>
            </a:r>
            <a:r>
              <a:rPr lang="en-US" altLang="zh-TW" dirty="0">
                <a:solidFill>
                  <a:srgbClr val="C00000"/>
                </a:solidFill>
              </a:rPr>
              <a:t>% </a:t>
            </a:r>
            <a:r>
              <a:rPr lang="en-US" altLang="zh-TW" dirty="0">
                <a:solidFill>
                  <a:srgbClr val="C00000"/>
                </a:solidFill>
              </a:rPr>
              <a:t>of </a:t>
            </a:r>
            <a:r>
              <a:rPr lang="en-US" altLang="zh-TW" dirty="0" smtClean="0">
                <a:solidFill>
                  <a:srgbClr val="C00000"/>
                </a:solidFill>
              </a:rPr>
              <a:t>signal</a:t>
            </a:r>
            <a:r>
              <a:rPr lang="en-US" altLang="zh-TW" dirty="0" smtClean="0"/>
              <a:t>.</a:t>
            </a:r>
            <a:endParaRPr lang="zh-TW" altLang="en-US" dirty="0"/>
          </a:p>
        </p:txBody>
      </p:sp>
    </p:spTree>
    <p:extLst>
      <p:ext uri="{BB962C8B-B14F-4D97-AF65-F5344CB8AC3E}">
        <p14:creationId xmlns:p14="http://schemas.microsoft.com/office/powerpoint/2010/main" val="50567450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21</a:t>
            </a:fld>
            <a:endParaRPr lang="zh-TW" altLang="en-US"/>
          </a:p>
        </p:txBody>
      </p:sp>
      <p:sp>
        <p:nvSpPr>
          <p:cNvPr id="5" name="內容版面配置區 4"/>
          <p:cNvSpPr>
            <a:spLocks noGrp="1"/>
          </p:cNvSpPr>
          <p:nvPr>
            <p:ph sz="quarter" idx="1"/>
          </p:nvPr>
        </p:nvSpPr>
        <p:spPr/>
        <p:txBody>
          <a:bodyPr/>
          <a:lstStyle/>
          <a:p>
            <a:endParaRPr lang="zh-TW" altLang="en-US"/>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00" y="1252789"/>
            <a:ext cx="8043073" cy="5643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066102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Evaluation</a:t>
            </a:r>
            <a:endParaRPr lang="zh-TW" altLang="en-US" dirty="0"/>
          </a:p>
        </p:txBody>
      </p:sp>
      <p:sp>
        <p:nvSpPr>
          <p:cNvPr id="3" name="日期版面配置區 2"/>
          <p:cNvSpPr>
            <a:spLocks noGrp="1"/>
          </p:cNvSpPr>
          <p:nvPr>
            <p:ph type="dt" sz="half" idx="10"/>
          </p:nvPr>
        </p:nvSpPr>
        <p:spPr/>
        <p:txBody>
          <a:bodyPr/>
          <a:lstStyle/>
          <a:p>
            <a:r>
              <a:rPr lang="en-US" altLang="zh-TW" smtClean="0"/>
              <a:t>2013/1/10</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22</a:t>
            </a:fld>
            <a:endParaRPr lang="zh-TW" altLang="en-US"/>
          </a:p>
        </p:txBody>
      </p:sp>
      <p:sp>
        <p:nvSpPr>
          <p:cNvPr id="5" name="內容版面配置區 4"/>
          <p:cNvSpPr>
            <a:spLocks noGrp="1"/>
          </p:cNvSpPr>
          <p:nvPr>
            <p:ph sz="quarter" idx="1"/>
          </p:nvPr>
        </p:nvSpPr>
        <p:spPr/>
        <p:txBody>
          <a:bodyPr/>
          <a:lstStyle/>
          <a:p>
            <a:endParaRPr lang="zh-TW"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258890"/>
            <a:ext cx="7816666" cy="55951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598688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 &amp; Future Works</a:t>
            </a:r>
            <a:endParaRPr lang="zh-TW" altLang="en-US" dirty="0"/>
          </a:p>
        </p:txBody>
      </p:sp>
      <p:sp>
        <p:nvSpPr>
          <p:cNvPr id="5" name="日期版面配置區 4"/>
          <p:cNvSpPr>
            <a:spLocks noGrp="1"/>
          </p:cNvSpPr>
          <p:nvPr>
            <p:ph type="dt" sz="half" idx="10"/>
          </p:nvPr>
        </p:nvSpPr>
        <p:spPr/>
        <p:txBody>
          <a:bodyPr/>
          <a:lstStyle/>
          <a:p>
            <a:r>
              <a:rPr lang="en-US" altLang="zh-TW" smtClean="0"/>
              <a:t>2013/1/10</a:t>
            </a:r>
            <a:endParaRPr lang="zh-TW" altLang="en-US"/>
          </a:p>
        </p:txBody>
      </p:sp>
      <p:sp>
        <p:nvSpPr>
          <p:cNvPr id="3" name="投影片編號版面配置區 2"/>
          <p:cNvSpPr>
            <a:spLocks noGrp="1"/>
          </p:cNvSpPr>
          <p:nvPr>
            <p:ph type="sldNum" sz="quarter" idx="12"/>
          </p:nvPr>
        </p:nvSpPr>
        <p:spPr/>
        <p:txBody>
          <a:bodyPr/>
          <a:lstStyle/>
          <a:p>
            <a:fld id="{61A04B93-F247-42E5-95CE-B8478AD23DB7}" type="slidenum">
              <a:rPr lang="zh-TW" altLang="en-US" smtClean="0"/>
              <a:t>23</a:t>
            </a:fld>
            <a:endParaRPr lang="zh-TW" altLang="en-US"/>
          </a:p>
        </p:txBody>
      </p:sp>
      <p:sp>
        <p:nvSpPr>
          <p:cNvPr id="4" name="內容版面配置區 3"/>
          <p:cNvSpPr>
            <a:spLocks noGrp="1"/>
          </p:cNvSpPr>
          <p:nvPr>
            <p:ph sz="quarter" idx="1"/>
          </p:nvPr>
        </p:nvSpPr>
        <p:spPr/>
        <p:txBody>
          <a:bodyPr>
            <a:normAutofit/>
          </a:bodyPr>
          <a:lstStyle/>
          <a:p>
            <a:r>
              <a:rPr lang="en-US" altLang="zh-TW" dirty="0"/>
              <a:t>In terms of retrieval runtime, </a:t>
            </a:r>
            <a:r>
              <a:rPr lang="en-US" altLang="zh-TW" dirty="0">
                <a:solidFill>
                  <a:srgbClr val="C00000"/>
                </a:solidFill>
              </a:rPr>
              <a:t>SPRING is in turn </a:t>
            </a:r>
            <a:r>
              <a:rPr lang="en-US" altLang="zh-TW" dirty="0" smtClean="0">
                <a:solidFill>
                  <a:srgbClr val="C00000"/>
                </a:solidFill>
              </a:rPr>
              <a:t>faster</a:t>
            </a:r>
            <a:r>
              <a:rPr lang="en-US" altLang="zh-TW" dirty="0" smtClean="0"/>
              <a:t> than </a:t>
            </a:r>
            <a:r>
              <a:rPr lang="en-US" altLang="zh-TW" dirty="0" err="1"/>
              <a:t>cDTW</a:t>
            </a:r>
            <a:r>
              <a:rPr lang="en-US" altLang="zh-TW" dirty="0"/>
              <a:t> over a sliding window.</a:t>
            </a:r>
          </a:p>
          <a:p>
            <a:r>
              <a:rPr lang="en-US" altLang="zh-TW" dirty="0" smtClean="0"/>
              <a:t>For noise </a:t>
            </a:r>
            <a:r>
              <a:rPr lang="en-US" altLang="zh-TW" dirty="0"/>
              <a:t>such as </a:t>
            </a:r>
            <a:r>
              <a:rPr lang="en-US" altLang="zh-TW" dirty="0" smtClean="0">
                <a:solidFill>
                  <a:srgbClr val="C00000"/>
                </a:solidFill>
              </a:rPr>
              <a:t>relatively </a:t>
            </a:r>
            <a:r>
              <a:rPr lang="en-US" altLang="zh-TW" dirty="0">
                <a:solidFill>
                  <a:srgbClr val="C00000"/>
                </a:solidFill>
              </a:rPr>
              <a:t>higher </a:t>
            </a:r>
            <a:r>
              <a:rPr lang="en-US" altLang="zh-TW" dirty="0" smtClean="0"/>
              <a:t>or </a:t>
            </a:r>
            <a:r>
              <a:rPr lang="en-US" altLang="zh-TW" dirty="0">
                <a:solidFill>
                  <a:srgbClr val="C00000"/>
                </a:solidFill>
              </a:rPr>
              <a:t>durations with respect to the </a:t>
            </a:r>
            <a:r>
              <a:rPr lang="en-US" altLang="zh-TW" dirty="0" smtClean="0">
                <a:solidFill>
                  <a:srgbClr val="C00000"/>
                </a:solidFill>
              </a:rPr>
              <a:t>target </a:t>
            </a:r>
            <a:r>
              <a:rPr lang="en-US" altLang="zh-TW" dirty="0" smtClean="0"/>
              <a:t>sequence</a:t>
            </a:r>
            <a:r>
              <a:rPr lang="en-US" altLang="zh-TW" dirty="0" smtClean="0">
                <a:solidFill>
                  <a:srgbClr val="C00000"/>
                </a:solidFill>
              </a:rPr>
              <a:t> </a:t>
            </a:r>
            <a:r>
              <a:rPr lang="en-US" altLang="zh-TW" dirty="0"/>
              <a:t>are still a bottle-neck </a:t>
            </a:r>
            <a:r>
              <a:rPr lang="en-US" altLang="zh-TW" dirty="0" smtClean="0"/>
              <a:t>for this </a:t>
            </a:r>
            <a:r>
              <a:rPr lang="en-US" altLang="zh-TW" dirty="0"/>
              <a:t>paper</a:t>
            </a:r>
            <a:r>
              <a:rPr lang="en-US" altLang="zh-TW" dirty="0" smtClean="0"/>
              <a:t>.</a:t>
            </a:r>
          </a:p>
          <a:p>
            <a:r>
              <a:rPr lang="en-US" altLang="zh-TW" dirty="0"/>
              <a:t>Significant speed-ups could be achieved by </a:t>
            </a:r>
            <a:r>
              <a:rPr lang="en-US" altLang="zh-TW" dirty="0" smtClean="0"/>
              <a:t>using </a:t>
            </a:r>
            <a:r>
              <a:rPr lang="en-US" altLang="zh-TW" dirty="0" smtClean="0">
                <a:solidFill>
                  <a:srgbClr val="C00000"/>
                </a:solidFill>
              </a:rPr>
              <a:t>LB Keogh</a:t>
            </a:r>
            <a:r>
              <a:rPr lang="en-US" altLang="zh-TW" dirty="0" smtClean="0"/>
              <a:t> </a:t>
            </a:r>
            <a:r>
              <a:rPr lang="en-US" altLang="zh-TW" dirty="0"/>
              <a:t>and </a:t>
            </a:r>
            <a:r>
              <a:rPr lang="en-US" altLang="zh-TW" dirty="0" smtClean="0">
                <a:solidFill>
                  <a:srgbClr val="C00000"/>
                </a:solidFill>
              </a:rPr>
              <a:t>Embedding-based subsequence </a:t>
            </a:r>
            <a:r>
              <a:rPr lang="en-US" altLang="zh-TW" dirty="0">
                <a:solidFill>
                  <a:srgbClr val="C00000"/>
                </a:solidFill>
              </a:rPr>
              <a:t>matching </a:t>
            </a:r>
            <a:r>
              <a:rPr lang="en-US" altLang="zh-TW" dirty="0" smtClean="0">
                <a:solidFill>
                  <a:srgbClr val="C00000"/>
                </a:solidFill>
              </a:rPr>
              <a:t>(EBSM)</a:t>
            </a:r>
            <a:r>
              <a:rPr lang="en-US" altLang="zh-TW" dirty="0" smtClean="0"/>
              <a:t> for </a:t>
            </a:r>
            <a:r>
              <a:rPr lang="en-US" altLang="zh-TW" dirty="0" err="1"/>
              <a:t>cDTW</a:t>
            </a:r>
            <a:r>
              <a:rPr lang="en-US" altLang="zh-TW" dirty="0"/>
              <a:t> and </a:t>
            </a:r>
            <a:r>
              <a:rPr lang="en-US" altLang="zh-TW" dirty="0" smtClean="0"/>
              <a:t>SPRING respectively</a:t>
            </a:r>
            <a:r>
              <a:rPr lang="en-US" altLang="zh-TW" dirty="0"/>
              <a:t>.</a:t>
            </a:r>
            <a:endParaRPr lang="zh-TW" altLang="en-US" dirty="0"/>
          </a:p>
        </p:txBody>
      </p:sp>
    </p:spTree>
    <p:extLst>
      <p:ext uri="{BB962C8B-B14F-4D97-AF65-F5344CB8AC3E}">
        <p14:creationId xmlns:p14="http://schemas.microsoft.com/office/powerpoint/2010/main" val="22663142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1">
      <a:majorFont>
        <a:latin typeface="Calibri"/>
        <a:ea typeface="微軟正黑體"/>
        <a:cs typeface=""/>
      </a:majorFont>
      <a:minorFont>
        <a:latin typeface="Calibri"/>
        <a:ea typeface="微軟正黑體"/>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3199</TotalTime>
  <Words>854</Words>
  <Application>Microsoft Office PowerPoint</Application>
  <PresentationFormat>如螢幕大小 (4:3)</PresentationFormat>
  <Paragraphs>239</Paragraphs>
  <Slides>23</Slides>
  <Notes>1</Notes>
  <HiddenSlides>2</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23</vt:i4>
      </vt:variant>
    </vt:vector>
  </HeadingPairs>
  <TitlesOfParts>
    <vt:vector size="25" baseType="lpstr">
      <vt:lpstr>原創</vt:lpstr>
      <vt:lpstr>Microsoft 数式 3.0</vt:lpstr>
      <vt:lpstr>Benchmarking Dynamic Time Warping for Music Retrieval PETRA '10 Proceedings of the 3rd International Conference on PErvasive Technologies Related to Assistive Environments  Article No. 59</vt:lpstr>
      <vt:lpstr>Content</vt:lpstr>
      <vt:lpstr>Abstract</vt:lpstr>
      <vt:lpstr>Abstract</vt:lpstr>
      <vt:lpstr>Introduction</vt:lpstr>
      <vt:lpstr>Music Normalization</vt:lpstr>
      <vt:lpstr>Dynamic Time Warping (DTW) </vt:lpstr>
      <vt:lpstr>Constrained Dynamic Time Warping (cDTW)</vt:lpstr>
      <vt:lpstr>Problem Definition</vt:lpstr>
      <vt:lpstr>Naïve Solution</vt:lpstr>
      <vt:lpstr>Naïve Solution</vt:lpstr>
      <vt:lpstr>Subsequence Matching</vt:lpstr>
      <vt:lpstr>Sliding Window</vt:lpstr>
      <vt:lpstr>SPRING</vt:lpstr>
      <vt:lpstr>SPRING</vt:lpstr>
      <vt:lpstr>Pattern Discovery</vt:lpstr>
      <vt:lpstr>Pattern Discovery</vt:lpstr>
      <vt:lpstr>Pattern Discovery</vt:lpstr>
      <vt:lpstr>Pattern Discovery</vt:lpstr>
      <vt:lpstr>Experimental Evaluation</vt:lpstr>
      <vt:lpstr>Experimental Evaluation</vt:lpstr>
      <vt:lpstr>Experimental Evaluation</vt:lpstr>
      <vt:lpstr>Conclusions &amp; Future Works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Chuan</cp:lastModifiedBy>
  <cp:revision>167</cp:revision>
  <cp:lastPrinted>2012-09-10T21:31:19Z</cp:lastPrinted>
  <dcterms:created xsi:type="dcterms:W3CDTF">2012-09-10T08:29:10Z</dcterms:created>
  <dcterms:modified xsi:type="dcterms:W3CDTF">2013-02-19T10:22:02Z</dcterms:modified>
</cp:coreProperties>
</file>