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66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126" y="-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B0A1D-255B-4977-BBC6-75EE5000C81D}" type="datetimeFigureOut">
              <a:rPr lang="zh-TW" altLang="en-US" smtClean="0"/>
              <a:pPr/>
              <a:t>2013/2/19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2FA4-46F2-4C6E-8317-BBDFE1F1529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672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162FA4-46F2-4C6E-8317-BBDFE1F1529E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60868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C. Architecture model</a:t>
            </a:r>
          </a:p>
          <a:p>
            <a:r>
              <a:rPr lang="en-US" altLang="zh-TW" dirty="0" smtClean="0"/>
              <a:t>A computer system is modeled by the parameters (p, </a:t>
            </a:r>
            <a:r>
              <a:rPr lang="en-US" altLang="zh-TW" dirty="0" err="1" smtClean="0"/>
              <a:t>pstage</a:t>
            </a:r>
            <a:r>
              <a:rPr lang="en-US" altLang="zh-TW" dirty="0" smtClean="0"/>
              <a:t>,</a:t>
            </a:r>
          </a:p>
          <a:p>
            <a:r>
              <a:rPr lang="en-US" altLang="zh-TW" dirty="0" err="1" smtClean="0"/>
              <a:t>nregf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ile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nstr</a:t>
            </a:r>
            <a:r>
              <a:rPr lang="en-US" altLang="zh-TW" dirty="0" smtClean="0"/>
              <a:t>) where p is the number of pipelines in the</a:t>
            </a:r>
          </a:p>
          <a:p>
            <a:r>
              <a:rPr lang="en-US" altLang="zh-TW" dirty="0" smtClean="0"/>
              <a:t>system, </a:t>
            </a:r>
            <a:r>
              <a:rPr lang="en-US" altLang="zh-TW" dirty="0" err="1" smtClean="0"/>
              <a:t>pstage</a:t>
            </a:r>
            <a:r>
              <a:rPr lang="en-US" altLang="zh-TW" dirty="0" smtClean="0"/>
              <a:t> is the number of stages in each pipeline,</a:t>
            </a:r>
          </a:p>
          <a:p>
            <a:r>
              <a:rPr lang="en-US" altLang="zh-TW" dirty="0" err="1" smtClean="0"/>
              <a:t>nregf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ile</a:t>
            </a:r>
            <a:r>
              <a:rPr lang="en-US" altLang="zh-TW" dirty="0" smtClean="0"/>
              <a:t> is the number of registers, and </a:t>
            </a:r>
            <a:r>
              <a:rPr lang="en-US" altLang="zh-TW" dirty="0" err="1" smtClean="0"/>
              <a:t>nstr</a:t>
            </a:r>
            <a:r>
              <a:rPr lang="en-US" altLang="zh-TW" dirty="0" smtClean="0"/>
              <a:t> is the number</a:t>
            </a:r>
          </a:p>
          <a:p>
            <a:r>
              <a:rPr lang="en-US" altLang="zh-TW" dirty="0" smtClean="0"/>
              <a:t>of stalls to resolve a pipeline hazard. It is assumed it takes the</a:t>
            </a:r>
          </a:p>
          <a:p>
            <a:r>
              <a:rPr lang="en-US" altLang="zh-TW" dirty="0" smtClean="0"/>
              <a:t>same number of stalls to resolve all kinds of hazards (control</a:t>
            </a:r>
          </a:p>
          <a:p>
            <a:r>
              <a:rPr lang="en-US" altLang="zh-TW" dirty="0" smtClean="0"/>
              <a:t>or data hazard). Other architectural features such as ALU</a:t>
            </a:r>
          </a:p>
          <a:p>
            <a:r>
              <a:rPr lang="en-US" altLang="zh-TW" dirty="0" smtClean="0"/>
              <a:t>arithmetic as well as memory and cache access latencies have</a:t>
            </a:r>
          </a:p>
          <a:p>
            <a:r>
              <a:rPr lang="en-US" altLang="zh-TW" dirty="0" smtClean="0"/>
              <a:t>been abstracted away to simplify our calculations. They will</a:t>
            </a:r>
          </a:p>
          <a:p>
            <a:r>
              <a:rPr lang="en-US" altLang="zh-TW" dirty="0" smtClean="0"/>
              <a:t>be considered in future research. Clearly, the total execution</a:t>
            </a:r>
          </a:p>
          <a:p>
            <a:r>
              <a:rPr lang="en-US" altLang="zh-TW" dirty="0" smtClean="0"/>
              <a:t>time of an algorithm is also a function of the architecture</a:t>
            </a:r>
          </a:p>
          <a:p>
            <a:r>
              <a:rPr lang="en-US" altLang="zh-TW" dirty="0" smtClean="0"/>
              <a:t>parameters.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162FA4-46F2-4C6E-8317-BBDFE1F1529E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47703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162FA4-46F2-4C6E-8317-BBDFE1F1529E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66269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162FA4-46F2-4C6E-8317-BBDFE1F1529E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87927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On Optimizing The Longest Common Subsequence</a:t>
            </a:r>
            <a:br>
              <a:rPr lang="en-US" altLang="zh-TW" dirty="0"/>
            </a:br>
            <a:r>
              <a:rPr lang="en-US" altLang="zh-TW" dirty="0"/>
              <a:t>Problem by Loop Unrolling Along </a:t>
            </a:r>
            <a:r>
              <a:rPr lang="en-US" altLang="zh-TW" dirty="0" err="1"/>
              <a:t>Wavefronts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/>
              <a:t>Johann </a:t>
            </a:r>
            <a:r>
              <a:rPr lang="en-US" altLang="zh-TW" dirty="0" err="1"/>
              <a:t>Steinbrecher</a:t>
            </a:r>
            <a:r>
              <a:rPr lang="en-US" altLang="zh-TW" dirty="0"/>
              <a:t> and </a:t>
            </a:r>
            <a:r>
              <a:rPr lang="en-US" altLang="zh-TW" dirty="0" err="1"/>
              <a:t>Weijia</a:t>
            </a:r>
            <a:r>
              <a:rPr lang="en-US" altLang="zh-TW" dirty="0"/>
              <a:t> Shang</a:t>
            </a:r>
          </a:p>
          <a:p>
            <a:r>
              <a:rPr lang="en-US" altLang="zh-TW" dirty="0" smtClean="0"/>
              <a:t>2012 20</a:t>
            </a:r>
            <a:r>
              <a:rPr lang="en-US" altLang="zh-TW" baseline="30000" dirty="0" smtClean="0"/>
              <a:t>th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Euromicro</a:t>
            </a:r>
            <a:r>
              <a:rPr lang="en-US" altLang="zh-TW" dirty="0" smtClean="0"/>
              <a:t> International Conference on Parallel, Distributed and Network-based Processing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Presenter</a:t>
            </a:r>
            <a:r>
              <a:rPr lang="en-US" altLang="zh-TW" dirty="0" smtClean="0"/>
              <a:t>: </a:t>
            </a:r>
            <a:r>
              <a:rPr lang="en-US" altLang="zh-TW" dirty="0" err="1" smtClean="0"/>
              <a:t>Cing</a:t>
            </a:r>
            <a:r>
              <a:rPr lang="en-US" altLang="zh-TW" dirty="0" smtClean="0"/>
              <a:t>-Yao Chen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1023226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dirty="0"/>
              <a:t>Loop unrolling is a loop transformation where a </a:t>
            </a:r>
            <a:r>
              <a:rPr lang="en-US" altLang="zh-TW" dirty="0" smtClean="0"/>
              <a:t>few loop </a:t>
            </a:r>
            <a:r>
              <a:rPr lang="en-US" altLang="zh-TW" dirty="0"/>
              <a:t>iterations are grouped as a super iteration for exploring </a:t>
            </a:r>
            <a:r>
              <a:rPr lang="en-US" altLang="zh-TW" dirty="0" smtClean="0"/>
              <a:t>more independent </a:t>
            </a:r>
            <a:r>
              <a:rPr lang="en-US" altLang="zh-TW" dirty="0"/>
              <a:t>instructions and to decrease the total loop overhead</a:t>
            </a:r>
            <a:r>
              <a:rPr lang="en-US" altLang="zh-TW" dirty="0" smtClean="0"/>
              <a:t>.</a:t>
            </a:r>
          </a:p>
          <a:p>
            <a:pPr algn="just"/>
            <a:r>
              <a:rPr lang="en-US" altLang="zh-TW" dirty="0" smtClean="0"/>
              <a:t>This paper characterizes loop unrolling by the unrolling factor, the number of iterations in a super iteration and the unrolling direction, the choice of iterations to be grouped to form the super iteration. We use loop unrolling for maximizing </a:t>
            </a:r>
            <a:r>
              <a:rPr lang="en-US" altLang="zh-TW" dirty="0" err="1" smtClean="0"/>
              <a:t>instructionlevel</a:t>
            </a:r>
            <a:r>
              <a:rPr lang="en-US" altLang="zh-TW" dirty="0" smtClean="0"/>
              <a:t> parallelism in the longest common subsequence problem.</a:t>
            </a:r>
          </a:p>
          <a:p>
            <a:pPr algn="just"/>
            <a:r>
              <a:rPr lang="en-US" altLang="zh-TW" dirty="0" smtClean="0"/>
              <a:t>To increase the number of independent instructions in the super</a:t>
            </a:r>
            <a:r>
              <a:rPr lang="en-US" altLang="zh-TW" dirty="0"/>
              <a:t> iteration, we use a linear schedule to group iterations on the </a:t>
            </a:r>
            <a:r>
              <a:rPr lang="en-US" altLang="zh-TW" dirty="0" smtClean="0"/>
              <a:t>same </a:t>
            </a:r>
            <a:r>
              <a:rPr lang="en-US" altLang="zh-TW" dirty="0" err="1" smtClean="0"/>
              <a:t>wavefront</a:t>
            </a:r>
            <a:r>
              <a:rPr lang="en-US" altLang="zh-TW" dirty="0"/>
              <a:t>, a </a:t>
            </a:r>
            <a:r>
              <a:rPr lang="en-US" altLang="zh-TW" dirty="0" err="1"/>
              <a:t>hyperplane</a:t>
            </a:r>
            <a:r>
              <a:rPr lang="en-US" altLang="zh-TW" dirty="0"/>
              <a:t> in the loop iteration space.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xmlns="" val="77166875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dirty="0" smtClean="0"/>
              <a:t>Then</a:t>
            </a:r>
            <a:r>
              <a:rPr lang="en-US" altLang="zh-TW" dirty="0"/>
              <a:t>, the </a:t>
            </a:r>
            <a:r>
              <a:rPr lang="en-US" altLang="zh-TW" dirty="0" smtClean="0"/>
              <a:t>loop is </a:t>
            </a:r>
            <a:r>
              <a:rPr lang="en-US" altLang="zh-TW" dirty="0"/>
              <a:t>unrolled along the </a:t>
            </a:r>
            <a:r>
              <a:rPr lang="en-US" altLang="zh-TW" dirty="0" err="1"/>
              <a:t>wavefront</a:t>
            </a:r>
            <a:r>
              <a:rPr lang="en-US" altLang="zh-TW" dirty="0"/>
              <a:t> which guarantees all </a:t>
            </a:r>
            <a:r>
              <a:rPr lang="en-US" altLang="zh-TW" dirty="0" smtClean="0"/>
              <a:t>iterations in </a:t>
            </a:r>
            <a:r>
              <a:rPr lang="en-US" altLang="zh-TW" dirty="0"/>
              <a:t>the same super iteration are independent</a:t>
            </a:r>
            <a:r>
              <a:rPr lang="en-US" altLang="zh-TW" dirty="0" smtClean="0"/>
              <a:t>.</a:t>
            </a:r>
          </a:p>
          <a:p>
            <a:pPr algn="just"/>
            <a:r>
              <a:rPr lang="en-US" altLang="zh-TW" dirty="0" smtClean="0"/>
              <a:t>The </a:t>
            </a:r>
            <a:r>
              <a:rPr lang="en-US" altLang="zh-TW" dirty="0"/>
              <a:t>selection of </a:t>
            </a:r>
            <a:r>
              <a:rPr lang="en-US" altLang="zh-TW" dirty="0" smtClean="0"/>
              <a:t>the optimal </a:t>
            </a:r>
            <a:r>
              <a:rPr lang="en-US" altLang="zh-TW" dirty="0"/>
              <a:t>unrolling factor is based on the assumption that if all </a:t>
            </a:r>
            <a:r>
              <a:rPr lang="en-US" altLang="zh-TW" dirty="0" smtClean="0"/>
              <a:t>the pipelines </a:t>
            </a:r>
            <a:r>
              <a:rPr lang="en-US" altLang="zh-TW" dirty="0"/>
              <a:t>are saturated, the performance should not be bad</a:t>
            </a:r>
            <a:r>
              <a:rPr lang="en-US" altLang="zh-TW" dirty="0" smtClean="0"/>
              <a:t>.</a:t>
            </a:r>
          </a:p>
          <a:p>
            <a:pPr algn="just"/>
            <a:r>
              <a:rPr lang="en-US" altLang="zh-TW" dirty="0" smtClean="0"/>
              <a:t>Two necessary </a:t>
            </a:r>
            <a:r>
              <a:rPr lang="en-US" altLang="zh-TW" dirty="0"/>
              <a:t>conditions and a sufﬁcient condition for optimality </a:t>
            </a:r>
            <a:r>
              <a:rPr lang="en-US" altLang="zh-TW" dirty="0" smtClean="0"/>
              <a:t>are presented </a:t>
            </a:r>
            <a:r>
              <a:rPr lang="en-US" altLang="zh-TW" dirty="0"/>
              <a:t>and used to ﬁnd the optimal unrolling factor</a:t>
            </a:r>
            <a:r>
              <a:rPr lang="en-US" altLang="zh-TW" dirty="0" smtClean="0"/>
              <a:t>.</a:t>
            </a:r>
          </a:p>
          <a:p>
            <a:pPr algn="just"/>
            <a:r>
              <a:rPr lang="en-US" altLang="zh-TW" dirty="0" smtClean="0"/>
              <a:t>The total execution </a:t>
            </a:r>
            <a:r>
              <a:rPr lang="en-US" altLang="zh-TW" dirty="0"/>
              <a:t>time is expressed as a function of algorithm </a:t>
            </a:r>
            <a:r>
              <a:rPr lang="en-US" altLang="zh-TW" dirty="0" smtClean="0"/>
              <a:t>parameters, architecture </a:t>
            </a:r>
            <a:r>
              <a:rPr lang="en-US" altLang="zh-TW" dirty="0"/>
              <a:t>parameters and the unrolling factor</a:t>
            </a:r>
            <a:r>
              <a:rPr lang="en-US" altLang="zh-TW" dirty="0" smtClean="0"/>
              <a:t>.</a:t>
            </a:r>
          </a:p>
          <a:p>
            <a:pPr algn="just"/>
            <a:r>
              <a:rPr lang="en-US" altLang="zh-TW" dirty="0" smtClean="0"/>
              <a:t>A </a:t>
            </a:r>
            <a:r>
              <a:rPr lang="en-US" altLang="zh-TW" dirty="0"/>
              <a:t>benchmark </a:t>
            </a:r>
            <a:r>
              <a:rPr lang="en-US" altLang="zh-TW" dirty="0" smtClean="0"/>
              <a:t>of the </a:t>
            </a:r>
            <a:r>
              <a:rPr lang="en-US" altLang="zh-TW" dirty="0"/>
              <a:t>technique scores a 1.475 speed-up over traditional methods.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3389623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LCS: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da-DK" altLang="zh-TW" dirty="0"/>
              <a:t>for (i=0; i &lt;= M; i++) {</a:t>
            </a:r>
          </a:p>
          <a:p>
            <a:pPr marL="0" indent="0">
              <a:buNone/>
            </a:pPr>
            <a:r>
              <a:rPr lang="da-DK" altLang="zh-TW" dirty="0" smtClean="0"/>
              <a:t>	for </a:t>
            </a:r>
            <a:r>
              <a:rPr lang="da-DK" altLang="zh-TW" dirty="0"/>
              <a:t>(j=0; j &lt;= N; j++) {</a:t>
            </a:r>
          </a:p>
          <a:p>
            <a:pPr marL="0" indent="0">
              <a:buNone/>
            </a:pPr>
            <a:r>
              <a:rPr lang="da-DK" altLang="zh-TW" dirty="0" smtClean="0"/>
              <a:t>		if </a:t>
            </a:r>
            <a:r>
              <a:rPr lang="da-DK" altLang="zh-TW" dirty="0"/>
              <a:t>(i == 0 || j == 0)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0;</a:t>
            </a:r>
          </a:p>
          <a:p>
            <a:pPr marL="0" indent="0">
              <a:buNone/>
            </a:pPr>
            <a:r>
              <a:rPr lang="da-DK" altLang="zh-TW" dirty="0" smtClean="0"/>
              <a:t>		else </a:t>
            </a:r>
            <a:r>
              <a:rPr lang="da-DK" altLang="zh-TW" dirty="0"/>
              <a:t>if (x[i] == y[j])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c[i-1][j-1] + 1;</a:t>
            </a:r>
          </a:p>
          <a:p>
            <a:pPr marL="0" indent="0">
              <a:buNone/>
            </a:pPr>
            <a:r>
              <a:rPr lang="da-DK" altLang="zh-TW" dirty="0" smtClean="0"/>
              <a:t>		else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max(c[i][j-1], c[i-1][j]);</a:t>
            </a:r>
          </a:p>
          <a:p>
            <a:pPr marL="0" indent="0">
              <a:buNone/>
            </a:pPr>
            <a:r>
              <a:rPr lang="da-DK" altLang="zh-TW" dirty="0" smtClean="0"/>
              <a:t>	}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/>
              <a:t>}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endParaRPr lang="en-US" altLang="zh-TW" dirty="0" smtClean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46912" y="2193244"/>
            <a:ext cx="5340742" cy="37179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920233" y="1752927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zh-TW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8571903" y="1752927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zh-TW" altLang="en-US" sz="2800" dirty="0"/>
          </a:p>
        </p:txBody>
      </p:sp>
      <p:sp>
        <p:nvSpPr>
          <p:cNvPr id="13" name="矩形 12"/>
          <p:cNvSpPr/>
          <p:nvPr/>
        </p:nvSpPr>
        <p:spPr>
          <a:xfrm>
            <a:off x="9223573" y="1757690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T</a:t>
            </a:r>
            <a:endParaRPr lang="zh-TW" altLang="en-US" sz="2800" dirty="0"/>
          </a:p>
        </p:txBody>
      </p:sp>
      <p:sp>
        <p:nvSpPr>
          <p:cNvPr id="14" name="矩形 13"/>
          <p:cNvSpPr/>
          <p:nvPr/>
        </p:nvSpPr>
        <p:spPr>
          <a:xfrm>
            <a:off x="9875243" y="1757690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zh-TW" altLang="en-US" sz="2800" dirty="0"/>
          </a:p>
        </p:txBody>
      </p:sp>
      <p:sp>
        <p:nvSpPr>
          <p:cNvPr id="15" name="矩形 14"/>
          <p:cNvSpPr/>
          <p:nvPr/>
        </p:nvSpPr>
        <p:spPr>
          <a:xfrm>
            <a:off x="10526913" y="1757690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zh-TW" altLang="en-US" sz="2800" dirty="0"/>
          </a:p>
        </p:txBody>
      </p:sp>
      <p:sp>
        <p:nvSpPr>
          <p:cNvPr id="16" name="矩形 15"/>
          <p:cNvSpPr/>
          <p:nvPr/>
        </p:nvSpPr>
        <p:spPr>
          <a:xfrm>
            <a:off x="11178583" y="1757690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zh-TW" altLang="en-US" sz="2800" dirty="0"/>
          </a:p>
        </p:txBody>
      </p:sp>
      <p:sp>
        <p:nvSpPr>
          <p:cNvPr id="23" name="矩形 22"/>
          <p:cNvSpPr/>
          <p:nvPr/>
        </p:nvSpPr>
        <p:spPr>
          <a:xfrm>
            <a:off x="6965949" y="2659969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zh-TW" altLang="en-US" sz="2800" dirty="0"/>
          </a:p>
        </p:txBody>
      </p:sp>
      <p:sp>
        <p:nvSpPr>
          <p:cNvPr id="24" name="矩形 23"/>
          <p:cNvSpPr/>
          <p:nvPr/>
        </p:nvSpPr>
        <p:spPr>
          <a:xfrm>
            <a:off x="6965949" y="3150179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zh-TW" altLang="en-US" sz="2800" dirty="0"/>
          </a:p>
        </p:txBody>
      </p:sp>
      <p:sp>
        <p:nvSpPr>
          <p:cNvPr id="25" name="矩形 24"/>
          <p:cNvSpPr/>
          <p:nvPr/>
        </p:nvSpPr>
        <p:spPr>
          <a:xfrm>
            <a:off x="6965949" y="3670148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T</a:t>
            </a:r>
            <a:endParaRPr lang="zh-TW" altLang="en-US" sz="2800" dirty="0"/>
          </a:p>
        </p:txBody>
      </p:sp>
      <p:sp>
        <p:nvSpPr>
          <p:cNvPr id="26" name="矩形 25"/>
          <p:cNvSpPr/>
          <p:nvPr/>
        </p:nvSpPr>
        <p:spPr>
          <a:xfrm>
            <a:off x="6965949" y="4163609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zh-TW" altLang="en-US" sz="2800" dirty="0"/>
          </a:p>
        </p:txBody>
      </p:sp>
      <p:sp>
        <p:nvSpPr>
          <p:cNvPr id="27" name="矩形 26"/>
          <p:cNvSpPr/>
          <p:nvPr/>
        </p:nvSpPr>
        <p:spPr>
          <a:xfrm>
            <a:off x="6965949" y="4680327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zh-TW" altLang="en-US" sz="2800" dirty="0"/>
          </a:p>
        </p:txBody>
      </p:sp>
      <p:sp>
        <p:nvSpPr>
          <p:cNvPr id="28" name="矩形 27"/>
          <p:cNvSpPr/>
          <p:nvPr/>
        </p:nvSpPr>
        <p:spPr>
          <a:xfrm>
            <a:off x="6965949" y="5203547"/>
            <a:ext cx="395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72853558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One iteration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LCS: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da-DK" altLang="zh-TW" dirty="0"/>
              <a:t>for (i=0; i &lt;= M; i++) {</a:t>
            </a:r>
          </a:p>
          <a:p>
            <a:pPr marL="0" indent="0">
              <a:buNone/>
            </a:pPr>
            <a:r>
              <a:rPr lang="da-DK" altLang="zh-TW" dirty="0" smtClean="0"/>
              <a:t>	for </a:t>
            </a:r>
            <a:r>
              <a:rPr lang="da-DK" altLang="zh-TW" dirty="0"/>
              <a:t>(j=0; j &lt;= N; j++) {</a:t>
            </a:r>
          </a:p>
          <a:p>
            <a:pPr marL="0" indent="0">
              <a:buNone/>
            </a:pPr>
            <a:r>
              <a:rPr lang="da-DK" altLang="zh-TW" dirty="0" smtClean="0"/>
              <a:t>		if </a:t>
            </a:r>
            <a:r>
              <a:rPr lang="da-DK" altLang="zh-TW" dirty="0"/>
              <a:t>(i == 0 || j == 0)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0;</a:t>
            </a:r>
          </a:p>
          <a:p>
            <a:pPr marL="0" indent="0">
              <a:buNone/>
            </a:pPr>
            <a:r>
              <a:rPr lang="da-DK" altLang="zh-TW" dirty="0" smtClean="0"/>
              <a:t>		else </a:t>
            </a:r>
            <a:r>
              <a:rPr lang="da-DK" altLang="zh-TW" dirty="0"/>
              <a:t>if (x[i] == y[j])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c[i-1][j-1] + 1;</a:t>
            </a:r>
          </a:p>
          <a:p>
            <a:pPr marL="0" indent="0">
              <a:buNone/>
            </a:pPr>
            <a:r>
              <a:rPr lang="da-DK" altLang="zh-TW" dirty="0" smtClean="0"/>
              <a:t>		else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max(c[i][j-1], c[i-1][j]);</a:t>
            </a:r>
          </a:p>
          <a:p>
            <a:pPr marL="0" indent="0">
              <a:buNone/>
            </a:pPr>
            <a:r>
              <a:rPr lang="da-DK" altLang="zh-TW" dirty="0" smtClean="0"/>
              <a:t>	}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/>
              <a:t>}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endParaRPr lang="en-US" altLang="zh-TW" dirty="0" smtClean="0"/>
          </a:p>
        </p:txBody>
      </p:sp>
      <p:sp>
        <p:nvSpPr>
          <p:cNvPr id="4" name="文字方塊 3"/>
          <p:cNvSpPr txBox="1"/>
          <p:nvPr/>
        </p:nvSpPr>
        <p:spPr>
          <a:xfrm>
            <a:off x="7652084" y="2518610"/>
            <a:ext cx="38525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TW" sz="2800" dirty="0"/>
              <a:t>I1: load x[i], R1</a:t>
            </a:r>
          </a:p>
          <a:p>
            <a:r>
              <a:rPr lang="pt-BR" altLang="zh-TW" sz="2800" dirty="0"/>
              <a:t>I2: load y[j], R2</a:t>
            </a:r>
          </a:p>
          <a:p>
            <a:r>
              <a:rPr lang="pt-BR" altLang="zh-TW" sz="2800" dirty="0"/>
              <a:t>I3: cmp R1, R2</a:t>
            </a:r>
          </a:p>
          <a:p>
            <a:r>
              <a:rPr lang="pt-BR" altLang="zh-TW" sz="2800" dirty="0"/>
              <a:t>I4: load c[i][j-1], R3</a:t>
            </a:r>
          </a:p>
          <a:p>
            <a:r>
              <a:rPr lang="pt-BR" altLang="zh-TW" sz="2800" dirty="0"/>
              <a:t>I5: load c[i-1][j], R4</a:t>
            </a:r>
          </a:p>
          <a:p>
            <a:r>
              <a:rPr lang="pt-BR" altLang="zh-TW" sz="2800" dirty="0"/>
              <a:t>I6: max R5, R3, R4</a:t>
            </a:r>
          </a:p>
          <a:p>
            <a:r>
              <a:rPr lang="pt-BR" altLang="zh-TW" sz="2800" dirty="0"/>
              <a:t>I7: store c[i][j], R5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2634944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One iteration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LCS:</a:t>
            </a:r>
          </a:p>
          <a:p>
            <a:endParaRPr lang="en-US" altLang="zh-TW" dirty="0" smtClean="0"/>
          </a:p>
        </p:txBody>
      </p:sp>
      <p:sp>
        <p:nvSpPr>
          <p:cNvPr id="4" name="文字方塊 3"/>
          <p:cNvSpPr txBox="1"/>
          <p:nvPr/>
        </p:nvSpPr>
        <p:spPr>
          <a:xfrm>
            <a:off x="7652084" y="2518610"/>
            <a:ext cx="38525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TW" sz="2800" dirty="0"/>
              <a:t>I1: load x[i], R1</a:t>
            </a:r>
          </a:p>
          <a:p>
            <a:r>
              <a:rPr lang="pt-BR" altLang="zh-TW" sz="2800" dirty="0"/>
              <a:t>I2: load y[j], R2</a:t>
            </a:r>
          </a:p>
          <a:p>
            <a:r>
              <a:rPr lang="pt-BR" altLang="zh-TW" sz="2800" dirty="0"/>
              <a:t>I3: cmp R1, R2</a:t>
            </a:r>
          </a:p>
          <a:p>
            <a:r>
              <a:rPr lang="pt-BR" altLang="zh-TW" sz="2800" dirty="0"/>
              <a:t>I4: load c[i][j-1], R3</a:t>
            </a:r>
          </a:p>
          <a:p>
            <a:r>
              <a:rPr lang="pt-BR" altLang="zh-TW" sz="2800" dirty="0"/>
              <a:t>I5: load c[i-1][j], R4</a:t>
            </a:r>
          </a:p>
          <a:p>
            <a:r>
              <a:rPr lang="pt-BR" altLang="zh-TW" sz="2800" dirty="0"/>
              <a:t>I6: max R5, R3, R4</a:t>
            </a:r>
          </a:p>
          <a:p>
            <a:r>
              <a:rPr lang="pt-BR" altLang="zh-TW" sz="2800" dirty="0"/>
              <a:t>I7: store c[i][j], R5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2518609"/>
            <a:ext cx="3490746" cy="351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0624562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idea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92925" y="1905000"/>
            <a:ext cx="4433517" cy="356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273390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Loop unrolling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zh-TW" dirty="0" smtClean="0"/>
              <a:t>LCS:</a:t>
            </a:r>
          </a:p>
          <a:p>
            <a:pPr marL="0" indent="0">
              <a:buNone/>
            </a:pPr>
            <a:r>
              <a:rPr lang="da-DK" altLang="zh-TW" dirty="0" smtClean="0"/>
              <a:t>for </a:t>
            </a:r>
            <a:r>
              <a:rPr lang="da-DK" altLang="zh-TW" dirty="0"/>
              <a:t>(i=0; i&lt;=M; i++) {</a:t>
            </a:r>
          </a:p>
          <a:p>
            <a:pPr marL="0" indent="0">
              <a:buNone/>
            </a:pPr>
            <a:r>
              <a:rPr lang="da-DK" altLang="zh-TW" dirty="0" smtClean="0"/>
              <a:t>	for </a:t>
            </a:r>
            <a:r>
              <a:rPr lang="da-DK" altLang="zh-TW" dirty="0"/>
              <a:t>(j=0; j&lt;N; j+=2) {</a:t>
            </a:r>
          </a:p>
          <a:p>
            <a:pPr marL="0" indent="0">
              <a:buNone/>
            </a:pPr>
            <a:r>
              <a:rPr lang="da-DK" altLang="zh-TW" dirty="0" smtClean="0"/>
              <a:t>		if </a:t>
            </a:r>
            <a:r>
              <a:rPr lang="da-DK" altLang="zh-TW" dirty="0"/>
              <a:t>(i == 0 || j == 0)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0;</a:t>
            </a:r>
          </a:p>
          <a:p>
            <a:pPr marL="0" indent="0">
              <a:buNone/>
            </a:pPr>
            <a:r>
              <a:rPr lang="da-DK" altLang="zh-TW" dirty="0" smtClean="0"/>
              <a:t>		else </a:t>
            </a:r>
            <a:r>
              <a:rPr lang="da-DK" altLang="zh-TW" dirty="0"/>
              <a:t>if (x[i] == y[j])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c[i-1][j-1] + 1;</a:t>
            </a:r>
          </a:p>
          <a:p>
            <a:pPr marL="0" indent="0">
              <a:buNone/>
            </a:pPr>
            <a:r>
              <a:rPr lang="da-DK" altLang="zh-TW" dirty="0" smtClean="0"/>
              <a:t>		else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max(c[i][j-1],c[i-1][j]);</a:t>
            </a:r>
          </a:p>
          <a:p>
            <a:pPr marL="0" indent="0">
              <a:buNone/>
            </a:pPr>
            <a:r>
              <a:rPr lang="da-DK" altLang="zh-TW" dirty="0" smtClean="0"/>
              <a:t>		if </a:t>
            </a:r>
            <a:r>
              <a:rPr lang="da-DK" altLang="zh-TW" dirty="0"/>
              <a:t>(i == 0 || j+1 == 0)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][j+1] = 0;</a:t>
            </a:r>
          </a:p>
          <a:p>
            <a:pPr marL="0" indent="0">
              <a:buNone/>
            </a:pPr>
            <a:r>
              <a:rPr lang="da-DK" altLang="zh-TW" dirty="0" smtClean="0"/>
              <a:t>		else </a:t>
            </a:r>
            <a:r>
              <a:rPr lang="da-DK" altLang="zh-TW" dirty="0"/>
              <a:t>if (x[i] == y[j+1])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][j+1] = c[i-1][j] + 1;</a:t>
            </a:r>
          </a:p>
          <a:p>
            <a:pPr marL="0" indent="0">
              <a:buNone/>
            </a:pPr>
            <a:r>
              <a:rPr lang="da-DK" altLang="zh-TW" dirty="0" smtClean="0"/>
              <a:t>		else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][j+1] = max(c[i][j],c[i-1][j+1]);</a:t>
            </a:r>
          </a:p>
          <a:p>
            <a:pPr marL="0" indent="0">
              <a:buNone/>
            </a:pPr>
            <a:r>
              <a:rPr lang="da-DK" altLang="zh-TW" dirty="0" smtClean="0"/>
              <a:t>	}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 smtClean="0"/>
              <a:t>}</a:t>
            </a:r>
            <a:endParaRPr lang="en-US" altLang="zh-TW" dirty="0"/>
          </a:p>
          <a:p>
            <a:endParaRPr lang="en-US" altLang="zh-TW" dirty="0" smtClean="0"/>
          </a:p>
        </p:txBody>
      </p:sp>
      <p:pic>
        <p:nvPicPr>
          <p:cNvPr id="17" name="內容版面配置區 3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64875" y="1905000"/>
            <a:ext cx="4433517" cy="356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3161890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Loop unrolling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zh-TW" dirty="0" smtClean="0"/>
              <a:t>LCS:</a:t>
            </a:r>
          </a:p>
          <a:p>
            <a:pPr marL="0" indent="0">
              <a:buNone/>
            </a:pPr>
            <a:r>
              <a:rPr lang="da-DK" altLang="zh-TW" dirty="0" smtClean="0"/>
              <a:t>for </a:t>
            </a:r>
            <a:r>
              <a:rPr lang="da-DK" altLang="zh-TW" dirty="0"/>
              <a:t>(i=0; i&lt;=M; i++) {</a:t>
            </a:r>
          </a:p>
          <a:p>
            <a:pPr marL="0" indent="0">
              <a:buNone/>
            </a:pPr>
            <a:r>
              <a:rPr lang="da-DK" altLang="zh-TW" dirty="0" smtClean="0"/>
              <a:t>	for </a:t>
            </a:r>
            <a:r>
              <a:rPr lang="da-DK" altLang="zh-TW" dirty="0"/>
              <a:t>(j=0; j&lt;N; j+=2) {</a:t>
            </a:r>
          </a:p>
          <a:p>
            <a:pPr marL="0" indent="0">
              <a:buNone/>
            </a:pPr>
            <a:r>
              <a:rPr lang="da-DK" altLang="zh-TW" dirty="0" smtClean="0"/>
              <a:t>		if </a:t>
            </a:r>
            <a:r>
              <a:rPr lang="da-DK" altLang="zh-TW" dirty="0"/>
              <a:t>(i == 0 || j == 0)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0;</a:t>
            </a:r>
          </a:p>
          <a:p>
            <a:pPr marL="0" indent="0">
              <a:buNone/>
            </a:pPr>
            <a:r>
              <a:rPr lang="da-DK" altLang="zh-TW" dirty="0" smtClean="0"/>
              <a:t>		else </a:t>
            </a:r>
            <a:r>
              <a:rPr lang="da-DK" altLang="zh-TW" dirty="0"/>
              <a:t>if (x[i] == y[j])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c[i-1][j-1] + 1;</a:t>
            </a:r>
          </a:p>
          <a:p>
            <a:pPr marL="0" indent="0">
              <a:buNone/>
            </a:pPr>
            <a:r>
              <a:rPr lang="da-DK" altLang="zh-TW" dirty="0" smtClean="0"/>
              <a:t>		else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max(c[i][j-1],c[i-1][j]);</a:t>
            </a:r>
          </a:p>
          <a:p>
            <a:pPr marL="0" indent="0">
              <a:buNone/>
            </a:pPr>
            <a:r>
              <a:rPr lang="da-DK" altLang="zh-TW" dirty="0" smtClean="0"/>
              <a:t>		if </a:t>
            </a:r>
            <a:r>
              <a:rPr lang="da-DK" altLang="zh-TW" dirty="0"/>
              <a:t>(i == 0 || j+1 == 0)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][j+1] = 0;</a:t>
            </a:r>
          </a:p>
          <a:p>
            <a:pPr marL="0" indent="0">
              <a:buNone/>
            </a:pPr>
            <a:r>
              <a:rPr lang="da-DK" altLang="zh-TW" dirty="0" smtClean="0"/>
              <a:t>		else </a:t>
            </a:r>
            <a:r>
              <a:rPr lang="da-DK" altLang="zh-TW" dirty="0"/>
              <a:t>if (x[i] == y[j+1])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][j+1] = c[i-1][j] + 1;</a:t>
            </a:r>
          </a:p>
          <a:p>
            <a:pPr marL="0" indent="0">
              <a:buNone/>
            </a:pPr>
            <a:r>
              <a:rPr lang="da-DK" altLang="zh-TW" dirty="0" smtClean="0"/>
              <a:t>		else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][j+1] = max(c[i][j],c[i-1][j+1]);</a:t>
            </a:r>
          </a:p>
          <a:p>
            <a:pPr marL="0" indent="0">
              <a:buNone/>
            </a:pPr>
            <a:r>
              <a:rPr lang="da-DK" altLang="zh-TW" dirty="0" smtClean="0"/>
              <a:t>	}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 smtClean="0"/>
              <a:t>}</a:t>
            </a:r>
            <a:endParaRPr lang="en-US" altLang="zh-TW" dirty="0"/>
          </a:p>
          <a:p>
            <a:endParaRPr lang="en-US" altLang="zh-TW" dirty="0" smtClean="0"/>
          </a:p>
        </p:txBody>
      </p:sp>
      <p:sp>
        <p:nvSpPr>
          <p:cNvPr id="6" name="橢圓 5"/>
          <p:cNvSpPr/>
          <p:nvPr/>
        </p:nvSpPr>
        <p:spPr>
          <a:xfrm>
            <a:off x="3642360" y="2529840"/>
            <a:ext cx="217386" cy="2133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右大括弧 6"/>
          <p:cNvSpPr/>
          <p:nvPr/>
        </p:nvSpPr>
        <p:spPr>
          <a:xfrm>
            <a:off x="5770517" y="2743200"/>
            <a:ext cx="853440" cy="12573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右大括弧 8"/>
          <p:cNvSpPr/>
          <p:nvPr/>
        </p:nvSpPr>
        <p:spPr>
          <a:xfrm>
            <a:off x="5770517" y="4084320"/>
            <a:ext cx="853440" cy="12573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弧形接點 9"/>
          <p:cNvCxnSpPr/>
          <p:nvPr/>
        </p:nvCxnSpPr>
        <p:spPr>
          <a:xfrm rot="5400000" flipH="1" flipV="1">
            <a:off x="5037790" y="516804"/>
            <a:ext cx="862913" cy="32190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7049572" y="1003617"/>
            <a:ext cx="1836782" cy="18027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7046912" y="1443334"/>
            <a:ext cx="17411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J+=2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623957" y="3481639"/>
            <a:ext cx="555793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相同，</a:t>
            </a:r>
            <a:endParaRPr lang="en-US" altLang="zh-TW" sz="54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但下面的 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多加一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5486637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Loop </a:t>
            </a:r>
            <a:r>
              <a:rPr lang="en-US" altLang="zh-TW" dirty="0" err="1" smtClean="0"/>
              <a:t>unrolling</a:t>
            </a:r>
            <a:r>
              <a:rPr lang="en-US" altLang="zh-TW" dirty="0" err="1" smtClean="0">
                <a:sym typeface="Wingdings" panose="05000000000000000000" pitchFamily="2" charset="2"/>
              </a:rPr>
              <a:t>Result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>
            <a:off x="2592925" y="1905000"/>
            <a:ext cx="7799304" cy="45583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019320" y="5540047"/>
            <a:ext cx="18582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1.38x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227359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Loop unrolling </a:t>
            </a:r>
            <a:r>
              <a:rPr lang="en-US" altLang="zh-TW" dirty="0" smtClean="0">
                <a:sym typeface="Wingdings" panose="05000000000000000000" pitchFamily="2" charset="2"/>
              </a:rPr>
              <a:t> One iteration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zh-TW" dirty="0" smtClean="0"/>
              <a:t>LCS:</a:t>
            </a:r>
          </a:p>
          <a:p>
            <a:pPr marL="0" indent="0">
              <a:buNone/>
            </a:pPr>
            <a:r>
              <a:rPr lang="da-DK" altLang="zh-TW" dirty="0" smtClean="0"/>
              <a:t>for </a:t>
            </a:r>
            <a:r>
              <a:rPr lang="da-DK" altLang="zh-TW" dirty="0"/>
              <a:t>(i=0; i&lt;=M; i++) {</a:t>
            </a:r>
          </a:p>
          <a:p>
            <a:pPr marL="0" indent="0">
              <a:buNone/>
            </a:pPr>
            <a:r>
              <a:rPr lang="da-DK" altLang="zh-TW" dirty="0" smtClean="0"/>
              <a:t>	for </a:t>
            </a:r>
            <a:r>
              <a:rPr lang="da-DK" altLang="zh-TW" dirty="0"/>
              <a:t>(j=0; j&lt;N; j+=2) {</a:t>
            </a:r>
          </a:p>
          <a:p>
            <a:pPr marL="0" indent="0">
              <a:buNone/>
            </a:pPr>
            <a:r>
              <a:rPr lang="da-DK" altLang="zh-TW" dirty="0" smtClean="0"/>
              <a:t>		if </a:t>
            </a:r>
            <a:r>
              <a:rPr lang="da-DK" altLang="zh-TW" dirty="0"/>
              <a:t>(i == 0 || j == 0)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0;</a:t>
            </a:r>
          </a:p>
          <a:p>
            <a:pPr marL="0" indent="0">
              <a:buNone/>
            </a:pPr>
            <a:r>
              <a:rPr lang="da-DK" altLang="zh-TW" dirty="0" smtClean="0"/>
              <a:t>		else </a:t>
            </a:r>
            <a:r>
              <a:rPr lang="da-DK" altLang="zh-TW" dirty="0"/>
              <a:t>if (x[i] == y[j])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c[i-1][j-1] + 1;</a:t>
            </a:r>
          </a:p>
          <a:p>
            <a:pPr marL="0" indent="0">
              <a:buNone/>
            </a:pPr>
            <a:r>
              <a:rPr lang="da-DK" altLang="zh-TW" dirty="0" smtClean="0"/>
              <a:t>		else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][j] = max(c[i][j-1],c[i-1][j]);</a:t>
            </a:r>
          </a:p>
          <a:p>
            <a:pPr marL="0" indent="0">
              <a:buNone/>
            </a:pPr>
            <a:r>
              <a:rPr lang="da-DK" altLang="zh-TW" dirty="0" smtClean="0"/>
              <a:t>		if </a:t>
            </a:r>
            <a:r>
              <a:rPr lang="da-DK" altLang="zh-TW" dirty="0"/>
              <a:t>(i == 0 || j+1 == 0)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][j+1] = 0;</a:t>
            </a:r>
          </a:p>
          <a:p>
            <a:pPr marL="0" indent="0">
              <a:buNone/>
            </a:pPr>
            <a:r>
              <a:rPr lang="da-DK" altLang="zh-TW" dirty="0" smtClean="0"/>
              <a:t>		else </a:t>
            </a:r>
            <a:r>
              <a:rPr lang="da-DK" altLang="zh-TW" dirty="0"/>
              <a:t>if (x[i] == y[j+1])</a:t>
            </a:r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][j+1] = c[i-1][j] + 1;</a:t>
            </a:r>
          </a:p>
          <a:p>
            <a:pPr marL="0" indent="0">
              <a:buNone/>
            </a:pPr>
            <a:r>
              <a:rPr lang="da-DK" altLang="zh-TW" dirty="0" smtClean="0"/>
              <a:t>		else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 smtClean="0"/>
              <a:t>			c[i</a:t>
            </a:r>
            <a:r>
              <a:rPr lang="da-DK" altLang="zh-TW" dirty="0"/>
              <a:t>][j+1] = max(c[i][j],c[i-1][j+1]);</a:t>
            </a:r>
          </a:p>
          <a:p>
            <a:pPr marL="0" indent="0">
              <a:buNone/>
            </a:pPr>
            <a:r>
              <a:rPr lang="da-DK" altLang="zh-TW" dirty="0" smtClean="0"/>
              <a:t>	}</a:t>
            </a:r>
            <a:endParaRPr lang="da-DK" altLang="zh-TW" dirty="0"/>
          </a:p>
          <a:p>
            <a:pPr marL="0" indent="0">
              <a:buNone/>
            </a:pPr>
            <a:r>
              <a:rPr lang="da-DK" altLang="zh-TW" dirty="0" smtClean="0"/>
              <a:t>}</a:t>
            </a:r>
            <a:endParaRPr lang="en-US" altLang="zh-TW" dirty="0"/>
          </a:p>
          <a:p>
            <a:endParaRPr lang="en-US" altLang="zh-TW" dirty="0" smtClean="0"/>
          </a:p>
        </p:txBody>
      </p:sp>
      <p:sp>
        <p:nvSpPr>
          <p:cNvPr id="4" name="矩形 3"/>
          <p:cNvSpPr/>
          <p:nvPr/>
        </p:nvSpPr>
        <p:spPr>
          <a:xfrm>
            <a:off x="6444342" y="213360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/>
              <a:t>I1: load x[i], R1</a:t>
            </a:r>
          </a:p>
          <a:p>
            <a:r>
              <a:rPr lang="zh-TW" altLang="en-US" dirty="0"/>
              <a:t>I2: load y[j], R2</a:t>
            </a:r>
          </a:p>
          <a:p>
            <a:r>
              <a:rPr lang="zh-TW" altLang="en-US" dirty="0"/>
              <a:t>I3: cmp R1, R2</a:t>
            </a:r>
          </a:p>
          <a:p>
            <a:r>
              <a:rPr lang="zh-TW" altLang="en-US" dirty="0"/>
              <a:t>I4: load c[i][j-1], R3</a:t>
            </a:r>
          </a:p>
          <a:p>
            <a:r>
              <a:rPr lang="zh-TW" altLang="en-US" dirty="0"/>
              <a:t>I5: load c[i-1][j], R4</a:t>
            </a:r>
          </a:p>
          <a:p>
            <a:r>
              <a:rPr lang="zh-TW" altLang="en-US" dirty="0"/>
              <a:t>I6: max R5, R3, R4</a:t>
            </a:r>
          </a:p>
          <a:p>
            <a:r>
              <a:rPr lang="zh-TW" altLang="en-US" dirty="0"/>
              <a:t>I7: store c[i][j], R5</a:t>
            </a:r>
          </a:p>
          <a:p>
            <a:r>
              <a:rPr lang="zh-TW" altLang="en-US" dirty="0"/>
              <a:t>I8: load y[j+1], R6</a:t>
            </a:r>
          </a:p>
          <a:p>
            <a:r>
              <a:rPr lang="zh-TW" altLang="en-US" dirty="0"/>
              <a:t>I9: cmp R1, R6</a:t>
            </a:r>
          </a:p>
          <a:p>
            <a:r>
              <a:rPr lang="zh-TW" altLang="en-US" dirty="0"/>
              <a:t>I10: load c[i-1][j+1], R7</a:t>
            </a:r>
          </a:p>
          <a:p>
            <a:r>
              <a:rPr lang="zh-TW" altLang="en-US" dirty="0"/>
              <a:t>I11: max R7, R7, R5</a:t>
            </a:r>
          </a:p>
          <a:p>
            <a:r>
              <a:rPr lang="zh-TW" altLang="en-US" dirty="0"/>
              <a:t>I12: store c[i][j+1], R7</a:t>
            </a:r>
          </a:p>
        </p:txBody>
      </p:sp>
    </p:spTree>
    <p:extLst>
      <p:ext uri="{BB962C8B-B14F-4D97-AF65-F5344CB8AC3E}">
        <p14:creationId xmlns:p14="http://schemas.microsoft.com/office/powerpoint/2010/main" xmlns="" val="293154446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Loop unrolling </a:t>
            </a:r>
            <a:r>
              <a:rPr lang="en-US" altLang="zh-TW" dirty="0" smtClean="0">
                <a:sym typeface="Wingdings" panose="05000000000000000000" pitchFamily="2" charset="2"/>
              </a:rPr>
              <a:t> One iteration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LCS:</a:t>
            </a:r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 smtClean="0"/>
          </a:p>
        </p:txBody>
      </p:sp>
      <p:sp>
        <p:nvSpPr>
          <p:cNvPr id="4" name="矩形 3"/>
          <p:cNvSpPr/>
          <p:nvPr/>
        </p:nvSpPr>
        <p:spPr>
          <a:xfrm>
            <a:off x="6444342" y="213360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/>
              <a:t>I1: load x[i], R1</a:t>
            </a:r>
          </a:p>
          <a:p>
            <a:r>
              <a:rPr lang="zh-TW" altLang="en-US" dirty="0"/>
              <a:t>I2: load y[j], R2</a:t>
            </a:r>
          </a:p>
          <a:p>
            <a:r>
              <a:rPr lang="zh-TW" altLang="en-US" dirty="0"/>
              <a:t>I3: cmp R1, R2</a:t>
            </a:r>
          </a:p>
          <a:p>
            <a:r>
              <a:rPr lang="zh-TW" altLang="en-US" dirty="0"/>
              <a:t>I4: load c[i][j-1], R3</a:t>
            </a:r>
          </a:p>
          <a:p>
            <a:r>
              <a:rPr lang="zh-TW" altLang="en-US" dirty="0"/>
              <a:t>I5: load c[i-1][j], R4</a:t>
            </a:r>
          </a:p>
          <a:p>
            <a:r>
              <a:rPr lang="zh-TW" altLang="en-US" dirty="0"/>
              <a:t>I6: max R5, R3, R4</a:t>
            </a:r>
          </a:p>
          <a:p>
            <a:r>
              <a:rPr lang="zh-TW" altLang="en-US" dirty="0"/>
              <a:t>I7: store c[i][j], R5</a:t>
            </a:r>
          </a:p>
          <a:p>
            <a:r>
              <a:rPr lang="zh-TW" altLang="en-US" dirty="0"/>
              <a:t>I8: load y[j+1], R6</a:t>
            </a:r>
          </a:p>
          <a:p>
            <a:r>
              <a:rPr lang="zh-TW" altLang="en-US" dirty="0"/>
              <a:t>I9: cmp R1, R6</a:t>
            </a:r>
          </a:p>
          <a:p>
            <a:r>
              <a:rPr lang="zh-TW" altLang="en-US" dirty="0"/>
              <a:t>I10: load c[i-1][j+1], R7</a:t>
            </a:r>
          </a:p>
          <a:p>
            <a:r>
              <a:rPr lang="zh-TW" altLang="en-US" dirty="0"/>
              <a:t>I11: max R7, R7, R5</a:t>
            </a:r>
          </a:p>
          <a:p>
            <a:r>
              <a:rPr lang="zh-TW" altLang="en-US" dirty="0"/>
              <a:t>I12: store c[i][j+1], R7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2525259"/>
            <a:ext cx="3584166" cy="338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9786503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LCS:</a:t>
            </a:r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 smtClean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2525259"/>
            <a:ext cx="3584166" cy="338596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83840" y="2462415"/>
            <a:ext cx="3490746" cy="351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7503908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Wavefront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2133600"/>
            <a:ext cx="4433517" cy="356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857240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Wavefront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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2133600"/>
            <a:ext cx="4433517" cy="356105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71587" y="2133600"/>
            <a:ext cx="3584166" cy="338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2000036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Wavefront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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71587" y="2133600"/>
            <a:ext cx="3584166" cy="3385963"/>
          </a:xfrm>
          <a:prstGeom prst="rect">
            <a:avLst/>
          </a:prstGeom>
        </p:spPr>
      </p:pic>
      <p:cxnSp>
        <p:nvCxnSpPr>
          <p:cNvPr id="7" name="弧形接點 6"/>
          <p:cNvCxnSpPr>
            <a:endCxn id="8" idx="0"/>
          </p:cNvCxnSpPr>
          <p:nvPr/>
        </p:nvCxnSpPr>
        <p:spPr>
          <a:xfrm rot="10800000" flipV="1">
            <a:off x="4078517" y="2641597"/>
            <a:ext cx="4064000" cy="150251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951171" y="4144109"/>
            <a:ext cx="42546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255372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Wavefront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71587" y="2133600"/>
            <a:ext cx="3584166" cy="338596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2133600"/>
            <a:ext cx="4448505" cy="307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7520813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Wavefront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71587" y="2133600"/>
            <a:ext cx="3584166" cy="338596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2133600"/>
            <a:ext cx="4448505" cy="3077029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94537" y="5519563"/>
            <a:ext cx="4410075" cy="79057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5494756"/>
            <a:ext cx="38766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6776684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Wavefront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2188220"/>
            <a:ext cx="1382752" cy="130628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4204799"/>
            <a:ext cx="1699664" cy="117565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88876" y="2160910"/>
            <a:ext cx="7591560" cy="136090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88875" y="4204798"/>
            <a:ext cx="6756495" cy="1344659"/>
          </a:xfrm>
          <a:prstGeom prst="rect">
            <a:avLst/>
          </a:prstGeom>
        </p:spPr>
      </p:pic>
      <p:sp>
        <p:nvSpPr>
          <p:cNvPr id="8" name="橢圓 7"/>
          <p:cNvSpPr/>
          <p:nvPr/>
        </p:nvSpPr>
        <p:spPr>
          <a:xfrm>
            <a:off x="6299200" y="4204797"/>
            <a:ext cx="217714" cy="2075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8345036" y="4204796"/>
            <a:ext cx="217714" cy="2075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10355360" y="4204796"/>
            <a:ext cx="217714" cy="2075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299200" y="3570182"/>
            <a:ext cx="217714" cy="2075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8345036" y="3570181"/>
            <a:ext cx="217714" cy="2075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10355360" y="3570181"/>
            <a:ext cx="217714" cy="2075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5854697" y="3621054"/>
            <a:ext cx="5677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422673" y="3628833"/>
            <a:ext cx="9509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373766" y="3621054"/>
            <a:ext cx="9509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1533806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key </a:t>
            </a:r>
            <a:r>
              <a:rPr lang="en-US" altLang="zh-TW" dirty="0"/>
              <a:t>reason for this improvement is that the length of </a:t>
            </a:r>
            <a:r>
              <a:rPr lang="en-US" altLang="zh-TW" dirty="0" smtClean="0"/>
              <a:t>the critical </a:t>
            </a:r>
            <a:r>
              <a:rPr lang="en-US" altLang="zh-TW" dirty="0"/>
              <a:t>path does not increase with the unrolling factor </a:t>
            </a:r>
            <a:r>
              <a:rPr lang="en-US" altLang="zh-TW" dirty="0" smtClean="0"/>
              <a:t>in the </a:t>
            </a:r>
            <a:r>
              <a:rPr lang="en-US" altLang="zh-TW" dirty="0"/>
              <a:t>latter case and the completion time can not be </a:t>
            </a:r>
            <a:r>
              <a:rPr lang="en-US" altLang="zh-TW" dirty="0" smtClean="0"/>
              <a:t>shorter than </a:t>
            </a:r>
            <a:r>
              <a:rPr lang="en-US" altLang="zh-TW" dirty="0"/>
              <a:t>the critical path length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Therefore, it is possible to </a:t>
            </a:r>
            <a:r>
              <a:rPr lang="en-US" altLang="zh-TW" dirty="0" smtClean="0"/>
              <a:t>cut more </a:t>
            </a:r>
            <a:r>
              <a:rPr lang="en-US" altLang="zh-TW" dirty="0"/>
              <a:t>and more loop overhead with increasing unrolling </a:t>
            </a:r>
            <a:r>
              <a:rPr lang="en-US" altLang="zh-TW" dirty="0" smtClean="0"/>
              <a:t>factors without </a:t>
            </a:r>
            <a:r>
              <a:rPr lang="en-US" altLang="zh-TW" dirty="0"/>
              <a:t>increasing the critical path length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In contradiction by </a:t>
            </a:r>
            <a:r>
              <a:rPr lang="en-US" altLang="zh-TW" dirty="0"/>
              <a:t>unrolling along the inner loop the critical path </a:t>
            </a:r>
            <a:r>
              <a:rPr lang="en-US" altLang="zh-TW" dirty="0" smtClean="0"/>
              <a:t>length increases </a:t>
            </a:r>
            <a:r>
              <a:rPr lang="en-US" altLang="zh-TW" dirty="0"/>
              <a:t>with the unrolling factor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This causes the </a:t>
            </a:r>
            <a:r>
              <a:rPr lang="en-US" altLang="zh-TW" dirty="0" smtClean="0"/>
              <a:t>execution time </a:t>
            </a:r>
            <a:r>
              <a:rPr lang="en-US" altLang="zh-TW" dirty="0"/>
              <a:t>to increase independent of any architectural parameters</a:t>
            </a:r>
            <a:r>
              <a:rPr lang="en-US" altLang="zh-TW" dirty="0" smtClean="0"/>
              <a:t>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7747786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Loop unrolling along </a:t>
            </a:r>
            <a:r>
              <a:rPr lang="en-US" altLang="zh-TW" dirty="0" err="1" smtClean="0"/>
              <a:t>wavefronts</a:t>
            </a:r>
            <a:r>
              <a:rPr lang="en-US" altLang="zh-TW" dirty="0" smtClean="0"/>
              <a:t> can </a:t>
            </a:r>
            <a:r>
              <a:rPr lang="en-US" altLang="zh-TW" dirty="0"/>
              <a:t>saturate massively parallel systems without increasing </a:t>
            </a:r>
            <a:r>
              <a:rPr lang="en-US" altLang="zh-TW" dirty="0" smtClean="0"/>
              <a:t>the critical </a:t>
            </a:r>
            <a:r>
              <a:rPr lang="en-US" altLang="zh-TW" dirty="0"/>
              <a:t>path length of its super </a:t>
            </a:r>
            <a:r>
              <a:rPr lang="en-US" altLang="zh-TW" dirty="0" smtClean="0"/>
              <a:t>iterations.</a:t>
            </a:r>
          </a:p>
          <a:p>
            <a:endParaRPr lang="en-US" altLang="zh-TW" dirty="0" smtClean="0"/>
          </a:p>
          <a:p>
            <a:r>
              <a:rPr lang="en-US" altLang="zh-TW" dirty="0"/>
              <a:t>One observation is that u = 2 may not be the </a:t>
            </a:r>
            <a:r>
              <a:rPr lang="en-US" altLang="zh-TW" dirty="0" smtClean="0"/>
              <a:t>optimal unrolling </a:t>
            </a:r>
            <a:r>
              <a:rPr lang="en-US" altLang="zh-TW" dirty="0"/>
              <a:t>factor because many cycles are unused as </a:t>
            </a:r>
            <a:r>
              <a:rPr lang="en-US" altLang="zh-TW" dirty="0" smtClean="0"/>
              <a:t>indicated by </a:t>
            </a:r>
            <a:r>
              <a:rPr lang="en-US" altLang="zh-TW" dirty="0"/>
              <a:t>ﬁgure 14.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97103" y="4022411"/>
            <a:ext cx="6756495" cy="134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0855173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493858" y="2133600"/>
            <a:ext cx="3010755" cy="3778250"/>
          </a:xfrm>
        </p:spPr>
        <p:txBody>
          <a:bodyPr/>
          <a:lstStyle/>
          <a:p>
            <a:r>
              <a:rPr lang="en-US" altLang="zh-TW">
                <a:latin typeface="微軟正黑體"/>
                <a:ea typeface="微軟正黑體"/>
              </a:rPr>
              <a:t>P=3</a:t>
            </a:r>
          </a:p>
          <a:p>
            <a:r>
              <a:rPr lang="en-US" altLang="zh-TW">
                <a:latin typeface="微軟正黑體"/>
                <a:ea typeface="微軟正黑體"/>
              </a:rPr>
              <a:t>n</a:t>
            </a:r>
            <a:r>
              <a:rPr lang="en-US" altLang="zh-TW" sz="1200">
                <a:latin typeface="微軟正黑體"/>
                <a:ea typeface="微軟正黑體"/>
              </a:rPr>
              <a:t>str</a:t>
            </a:r>
            <a:r>
              <a:rPr lang="en-US" altLang="zh-TW">
                <a:latin typeface="微軟正黑體"/>
                <a:ea typeface="微軟正黑體"/>
              </a:rPr>
              <a:t>=2</a:t>
            </a:r>
          </a:p>
          <a:p>
            <a:r>
              <a:rPr lang="en-US" altLang="zh-TW">
                <a:latin typeface="微軟正黑體"/>
                <a:ea typeface="微軟正黑體"/>
              </a:rPr>
              <a:t>P</a:t>
            </a:r>
            <a:r>
              <a:rPr lang="en-US" altLang="zh-TW" sz="1200">
                <a:latin typeface="微軟正黑體"/>
                <a:ea typeface="微軟正黑體"/>
              </a:rPr>
              <a:t>stage</a:t>
            </a:r>
            <a:r>
              <a:rPr lang="en-US" altLang="zh-TW">
                <a:latin typeface="微軟正黑體"/>
                <a:ea typeface="微軟正黑體"/>
              </a:rPr>
              <a:t>=5</a:t>
            </a:r>
          </a:p>
          <a:p>
            <a:endParaRPr lang="en-US" altLang="zh-TW">
              <a:latin typeface="微軟正黑體"/>
              <a:ea typeface="微軟正黑體"/>
            </a:endParaRPr>
          </a:p>
          <a:p>
            <a:r>
              <a:rPr lang="en-US" altLang="zh-TW">
                <a:latin typeface="微軟正黑體"/>
                <a:ea typeface="微軟正黑體"/>
              </a:rPr>
              <a:t>==&gt;u=9</a:t>
            </a:r>
            <a:endParaRPr lang="zh-TW" altLang="en-US">
              <a:latin typeface="微軟正黑體"/>
              <a:ea typeface="微軟正黑體"/>
            </a:endParaRPr>
          </a:p>
          <a:p>
            <a:endParaRPr lang="zh-TW" altLang="en-US">
              <a:latin typeface="微軟正黑體"/>
              <a:ea typeface="微軟正黑體"/>
            </a:endParaRPr>
          </a:p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2133600"/>
            <a:ext cx="6025772" cy="79828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3251792"/>
            <a:ext cx="6035877" cy="79769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9212" y="4658596"/>
            <a:ext cx="6063849" cy="125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4882645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Banchmark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92925" y="1384375"/>
            <a:ext cx="8495989" cy="5032657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8814597" y="6105041"/>
            <a:ext cx="2743200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algn="ctr"/>
            <a:r>
              <a:rPr lang="en-US" altLang="zh-TW">
                <a:latin typeface="微軟正黑體"/>
                <a:ea typeface="微軟正黑體"/>
              </a:rPr>
              <a:t>1.475x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323642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221</TotalTime>
  <Words>1041</Words>
  <Application>Microsoft Office PowerPoint</Application>
  <PresentationFormat>自訂</PresentationFormat>
  <Paragraphs>201</Paragraphs>
  <Slides>23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4" baseType="lpstr">
      <vt:lpstr>絲縷</vt:lpstr>
      <vt:lpstr>On Optimizing The Longest Common Subsequence Problem by Loop Unrolling Along Wavefronts</vt:lpstr>
      <vt:lpstr>Abstract</vt:lpstr>
      <vt:lpstr>Abstract</vt:lpstr>
      <vt:lpstr>Introduction</vt:lpstr>
      <vt:lpstr>One iteration</vt:lpstr>
      <vt:lpstr>One iteration</vt:lpstr>
      <vt:lpstr>Basic idea</vt:lpstr>
      <vt:lpstr>Loop unrolling</vt:lpstr>
      <vt:lpstr>Loop unrolling</vt:lpstr>
      <vt:lpstr>Loop unrollingResult</vt:lpstr>
      <vt:lpstr>Loop unrolling  One iteration</vt:lpstr>
      <vt:lpstr>Loop unrolling  One iteration</vt:lpstr>
      <vt:lpstr>Compare</vt:lpstr>
      <vt:lpstr>Wavefront</vt:lpstr>
      <vt:lpstr>Wavefront  Problem</vt:lpstr>
      <vt:lpstr>Wavefront  Problem</vt:lpstr>
      <vt:lpstr>Wavefront</vt:lpstr>
      <vt:lpstr>Wavefront</vt:lpstr>
      <vt:lpstr>Wavefront</vt:lpstr>
      <vt:lpstr>Discussion</vt:lpstr>
      <vt:lpstr>Discussion</vt:lpstr>
      <vt:lpstr>Discussion</vt:lpstr>
      <vt:lpstr>Banchmark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Optimizing The Longest Common Subsequence Problem by Loop Unrolling Along Wavefronts</dc:title>
  <dc:creator>Pichu</dc:creator>
  <cp:lastModifiedBy>admin</cp:lastModifiedBy>
  <cp:revision>19</cp:revision>
  <dcterms:created xsi:type="dcterms:W3CDTF">2013-02-19T07:37:39Z</dcterms:created>
  <dcterms:modified xsi:type="dcterms:W3CDTF">2013-02-19T13:15:46Z</dcterms:modified>
</cp:coreProperties>
</file>