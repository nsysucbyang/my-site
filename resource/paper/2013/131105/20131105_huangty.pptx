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4"/>
  </p:notesMasterIdLst>
  <p:sldIdLst>
    <p:sldId id="256" r:id="rId2"/>
    <p:sldId id="257" r:id="rId3"/>
    <p:sldId id="274" r:id="rId4"/>
    <p:sldId id="275" r:id="rId5"/>
    <p:sldId id="259" r:id="rId6"/>
    <p:sldId id="260" r:id="rId7"/>
    <p:sldId id="276" r:id="rId8"/>
    <p:sldId id="262" r:id="rId9"/>
    <p:sldId id="263" r:id="rId10"/>
    <p:sldId id="264" r:id="rId11"/>
    <p:sldId id="278" r:id="rId12"/>
    <p:sldId id="277" r:id="rId13"/>
    <p:sldId id="279" r:id="rId14"/>
    <p:sldId id="280" r:id="rId15"/>
    <p:sldId id="265" r:id="rId16"/>
    <p:sldId id="266" r:id="rId17"/>
    <p:sldId id="270" r:id="rId18"/>
    <p:sldId id="269" r:id="rId19"/>
    <p:sldId id="267" r:id="rId20"/>
    <p:sldId id="272" r:id="rId21"/>
    <p:sldId id="273" r:id="rId22"/>
    <p:sldId id="268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80" autoAdjust="0"/>
  </p:normalViewPr>
  <p:slideViewPr>
    <p:cSldViewPr>
      <p:cViewPr varScale="1">
        <p:scale>
          <a:sx n="63" d="100"/>
          <a:sy n="63" d="100"/>
        </p:scale>
        <p:origin x="-64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ED2F1-7AD2-46CE-9793-987CE3FA85A8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912FB-1B68-499F-9E29-D54C9D39D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06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912FB-1B68-499F-9E29-D54C9D39D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166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912FB-1B68-499F-9E29-D54C9D39D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42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發現別人比自己更好，就會參考並學習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912FB-1B68-499F-9E29-D54C9D39D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79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912FB-1B68-499F-9E29-D54C9D39D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3059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3065-6F7B-47FD-BCC6-D3728D3523CF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5F72-D42C-4CD7-B568-B7B511A17593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0746-FEBE-4B68-9808-C1E590674D6C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5CA0-DCC8-4A31-A9CB-BEC84ECF5A4D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A36F6-64E6-437D-B201-06236EB051DB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1A2-7A0E-4162-A8E2-3CD4937ABB8C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5464-E60C-4013-BBD7-A54225317380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F61F-A97F-48B4-A3B0-5A9C11AE48C4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B4B1-4B98-4E16-8D58-B7C7B78592B4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8C2B-4541-465E-B896-BDA4F5A8708A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0AA2-1E18-4A9F-BBEE-D73784CAC05C}" type="datetime1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498E6337-7A81-493E-9117-BA34FB8F404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C477E93-7626-4A19-A26E-3E36249F034B}" type="datetime1">
              <a:rPr lang="zh-TW" altLang="en-US" smtClean="0"/>
              <a:t>2013/11/5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dotblogs.com.tw/dragon229/archive/2013/01/03/86692.aspx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548680"/>
            <a:ext cx="8820472" cy="3312368"/>
          </a:xfrm>
        </p:spPr>
        <p:txBody>
          <a:bodyPr>
            <a:noAutofit/>
          </a:bodyPr>
          <a:lstStyle/>
          <a:p>
            <a:pPr algn="l"/>
            <a:r>
              <a:rPr lang="en-US" altLang="zh-TW" sz="3600" b="1" dirty="0" smtClean="0"/>
              <a:t>Application of</a:t>
            </a:r>
            <a:br>
              <a:rPr lang="en-US" altLang="zh-TW" sz="3600" b="1" dirty="0" smtClean="0"/>
            </a:br>
            <a:r>
              <a:rPr lang="en-US" altLang="zh-TW" sz="3600" b="1" dirty="0" smtClean="0"/>
              <a:t>a hybrid of genetic algorithm and particle swarm optimization algorithm </a:t>
            </a:r>
            <a:br>
              <a:rPr lang="en-US" altLang="zh-TW" sz="3600" b="1" dirty="0" smtClean="0"/>
            </a:br>
            <a:r>
              <a:rPr lang="en-US" altLang="zh-TW" sz="3600" b="1" dirty="0" smtClean="0"/>
              <a:t>for order clustering</a:t>
            </a:r>
            <a:endParaRPr lang="zh-TW" altLang="en-US" sz="3600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11560" y="4581128"/>
            <a:ext cx="7772400" cy="914400"/>
          </a:xfrm>
        </p:spPr>
        <p:txBody>
          <a:bodyPr>
            <a:noAutofit/>
          </a:bodyPr>
          <a:lstStyle/>
          <a:p>
            <a:pPr algn="r"/>
            <a:r>
              <a:rPr lang="en-US" altLang="zh-TW" sz="1800" dirty="0"/>
              <a:t>R.J. </a:t>
            </a:r>
            <a:r>
              <a:rPr lang="en-US" altLang="zh-TW" sz="1800" dirty="0" smtClean="0"/>
              <a:t>Kuo , </a:t>
            </a:r>
            <a:r>
              <a:rPr lang="en-US" altLang="zh-TW" sz="1800" dirty="0"/>
              <a:t>L.M. </a:t>
            </a:r>
            <a:r>
              <a:rPr lang="en-US" altLang="zh-TW" sz="1800" dirty="0" smtClean="0"/>
              <a:t>Lin</a:t>
            </a:r>
          </a:p>
          <a:p>
            <a:pPr algn="r"/>
            <a:r>
              <a:rPr lang="en-US" altLang="zh-TW" sz="1800" dirty="0"/>
              <a:t>Decision Support Systems 49 (2010) 451–462</a:t>
            </a:r>
            <a:endParaRPr lang="en-US" altLang="zh-TW" sz="1800" dirty="0" smtClean="0"/>
          </a:p>
          <a:p>
            <a:pPr algn="r"/>
            <a:r>
              <a:rPr lang="en-US" altLang="zh-TW" sz="1800" dirty="0" smtClean="0"/>
              <a:t>Presenter : Huang Ting-Yao</a:t>
            </a:r>
          </a:p>
          <a:p>
            <a:pPr algn="r"/>
            <a:r>
              <a:rPr lang="en-US" altLang="zh-TW" sz="1800" dirty="0" smtClean="0"/>
              <a:t>2013-11-05</a:t>
            </a:r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13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This study proposes an evolutionary-based clustering algorithm based on a hybrid of genetic algorithm (</a:t>
            </a:r>
            <a:r>
              <a:rPr lang="en-US" altLang="zh-TW" dirty="0" smtClean="0"/>
              <a:t>GA) and </a:t>
            </a:r>
            <a:r>
              <a:rPr lang="en-US" altLang="zh-TW" dirty="0"/>
              <a:t>particle swarm optimization algorithm (PSOA) for order clustering in order to reduce surface </a:t>
            </a:r>
            <a:r>
              <a:rPr lang="en-US" altLang="zh-TW" dirty="0" smtClean="0"/>
              <a:t>mount technology </a:t>
            </a:r>
            <a:r>
              <a:rPr lang="en-US" altLang="zh-TW" dirty="0"/>
              <a:t>(SMT) setup </a:t>
            </a:r>
            <a:r>
              <a:rPr lang="en-US" altLang="zh-TW" dirty="0" smtClean="0"/>
              <a:t>time.</a:t>
            </a:r>
          </a:p>
          <a:p>
            <a:pPr marL="114300" indent="0">
              <a:buNone/>
            </a:pPr>
            <a:endParaRPr lang="en-US" altLang="zh-TW" dirty="0" smtClean="0"/>
          </a:p>
          <a:p>
            <a:r>
              <a:rPr lang="en-US" altLang="zh-TW" dirty="0" err="1" smtClean="0"/>
              <a:t>Simulational</a:t>
            </a:r>
            <a:r>
              <a:rPr lang="en-US" altLang="zh-TW" dirty="0" smtClean="0"/>
              <a:t> </a:t>
            </a:r>
            <a:r>
              <a:rPr lang="en-US" altLang="zh-TW" dirty="0"/>
              <a:t>results via Iris, Glass, Vowel and Wine benchmark data </a:t>
            </a:r>
            <a:r>
              <a:rPr lang="en-US" altLang="zh-TW" dirty="0" smtClean="0"/>
              <a:t>sets indicate </a:t>
            </a:r>
            <a:r>
              <a:rPr lang="en-US" altLang="zh-TW" dirty="0"/>
              <a:t>that the proposed evolutionary-based clustering algorithm is more accurate than the GA-based </a:t>
            </a:r>
            <a:r>
              <a:rPr lang="en-US" altLang="zh-TW" dirty="0" smtClean="0"/>
              <a:t>and PSOA-based </a:t>
            </a:r>
            <a:r>
              <a:rPr lang="en-US" altLang="zh-TW" dirty="0"/>
              <a:t>clustering algorithms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71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addition, the model evaluation results which use order information provided by an international industrial personal computer (PC) manufacturer show that the proposed algorithm is also superior to GA-based and PSOA-based clustering algorithms. </a:t>
            </a:r>
          </a:p>
          <a:p>
            <a:pPr marL="114300" indent="0">
              <a:buNone/>
            </a:pPr>
            <a:endParaRPr lang="en-US" altLang="zh-TW" dirty="0"/>
          </a:p>
          <a:p>
            <a:r>
              <a:rPr lang="en-US" altLang="zh-TW" dirty="0"/>
              <a:t>Through order clustering, scheduling orders that belong to the same cluster together can reduce production time as well as machine idle time.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75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620000" cy="1143000"/>
          </a:xfrm>
        </p:spPr>
        <p:txBody>
          <a:bodyPr/>
          <a:lstStyle/>
          <a:p>
            <a:r>
              <a:rPr lang="en-US" altLang="zh-TW" b="1" dirty="0"/>
              <a:t>Genetic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731111" y="1648830"/>
            <a:ext cx="1960040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隨機產生初始族群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31111" y="2914813"/>
            <a:ext cx="1988241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計算</a:t>
            </a:r>
            <a:r>
              <a:rPr lang="zh-TW" altLang="en-US" dirty="0"/>
              <a:t>適應函數</a:t>
            </a:r>
          </a:p>
        </p:txBody>
      </p:sp>
      <p:sp>
        <p:nvSpPr>
          <p:cNvPr id="7" name="矩形 6"/>
          <p:cNvSpPr/>
          <p:nvPr/>
        </p:nvSpPr>
        <p:spPr>
          <a:xfrm>
            <a:off x="6234916" y="3436698"/>
            <a:ext cx="1361419" cy="4111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選擇、複製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34917" y="3948313"/>
            <a:ext cx="1361418" cy="444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交配</a:t>
            </a:r>
            <a:endParaRPr lang="zh-TW" altLang="en-US" dirty="0"/>
          </a:p>
        </p:txBody>
      </p:sp>
      <p:cxnSp>
        <p:nvCxnSpPr>
          <p:cNvPr id="9" name="直線單箭頭接點 8"/>
          <p:cNvCxnSpPr>
            <a:stCxn id="5" idx="2"/>
            <a:endCxn id="6" idx="0"/>
          </p:cNvCxnSpPr>
          <p:nvPr/>
        </p:nvCxnSpPr>
        <p:spPr>
          <a:xfrm>
            <a:off x="4711131" y="2152886"/>
            <a:ext cx="14101" cy="7619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2"/>
            <a:endCxn id="8" idx="0"/>
          </p:cNvCxnSpPr>
          <p:nvPr/>
        </p:nvCxnSpPr>
        <p:spPr>
          <a:xfrm>
            <a:off x="6915626" y="3847859"/>
            <a:ext cx="0" cy="1004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212323" y="4491703"/>
            <a:ext cx="1384011" cy="3688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突變</a:t>
            </a:r>
            <a:endParaRPr lang="zh-TW" altLang="en-US" dirty="0"/>
          </a:p>
        </p:txBody>
      </p:sp>
      <p:cxnSp>
        <p:nvCxnSpPr>
          <p:cNvPr id="13" name="直線單箭頭接點 12"/>
          <p:cNvCxnSpPr>
            <a:stCxn id="8" idx="2"/>
            <a:endCxn id="11" idx="0"/>
          </p:cNvCxnSpPr>
          <p:nvPr/>
        </p:nvCxnSpPr>
        <p:spPr>
          <a:xfrm flipH="1">
            <a:off x="6904329" y="4392521"/>
            <a:ext cx="11297" cy="99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菱形 13"/>
          <p:cNvSpPr/>
          <p:nvPr/>
        </p:nvSpPr>
        <p:spPr>
          <a:xfrm>
            <a:off x="3731111" y="4106275"/>
            <a:ext cx="1960040" cy="64807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終止條件</a:t>
            </a:r>
            <a:endParaRPr lang="zh-TW" altLang="en-US" dirty="0"/>
          </a:p>
        </p:txBody>
      </p:sp>
      <p:cxnSp>
        <p:nvCxnSpPr>
          <p:cNvPr id="15" name="直線單箭頭接點 14"/>
          <p:cNvCxnSpPr>
            <a:stCxn id="14" idx="2"/>
            <a:endCxn id="16" idx="0"/>
          </p:cNvCxnSpPr>
          <p:nvPr/>
        </p:nvCxnSpPr>
        <p:spPr>
          <a:xfrm flipH="1">
            <a:off x="4697030" y="4754347"/>
            <a:ext cx="14101" cy="11219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702909" y="5876270"/>
            <a:ext cx="1988242" cy="396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收斂得解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636260" y="456968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否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969728" y="528529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是</a:t>
            </a:r>
            <a:endParaRPr lang="zh-TW" altLang="en-US" dirty="0"/>
          </a:p>
        </p:txBody>
      </p:sp>
      <p:cxnSp>
        <p:nvCxnSpPr>
          <p:cNvPr id="19" name="直線單箭頭接點 18"/>
          <p:cNvCxnSpPr>
            <a:stCxn id="6" idx="2"/>
            <a:endCxn id="14" idx="0"/>
          </p:cNvCxnSpPr>
          <p:nvPr/>
        </p:nvCxnSpPr>
        <p:spPr>
          <a:xfrm flipH="1">
            <a:off x="4711131" y="3418869"/>
            <a:ext cx="14101" cy="687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接點 20"/>
          <p:cNvCxnSpPr>
            <a:stCxn id="14" idx="3"/>
            <a:endCxn id="7" idx="1"/>
          </p:cNvCxnSpPr>
          <p:nvPr/>
        </p:nvCxnSpPr>
        <p:spPr>
          <a:xfrm flipV="1">
            <a:off x="5691151" y="3642279"/>
            <a:ext cx="543765" cy="7880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395536" y="1454248"/>
            <a:ext cx="31804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基因演算法是人類依照生物學中「適者生存，不適者淘汰」的觀念所發展出來的一種演算法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利用</a:t>
            </a:r>
            <a:r>
              <a:rPr lang="zh-TW" altLang="en-US" b="1" dirty="0"/>
              <a:t>「選擇、複製」</a:t>
            </a:r>
            <a:r>
              <a:rPr lang="zh-TW" altLang="en-US" dirty="0"/>
              <a:t>、</a:t>
            </a:r>
            <a:r>
              <a:rPr lang="zh-TW" altLang="en-US" b="1" dirty="0"/>
              <a:t>「交配」</a:t>
            </a:r>
            <a:r>
              <a:rPr lang="zh-TW" altLang="en-US" dirty="0"/>
              <a:t>、</a:t>
            </a:r>
            <a:r>
              <a:rPr lang="zh-TW" altLang="en-US" b="1" dirty="0"/>
              <a:t>「突變」</a:t>
            </a:r>
            <a:r>
              <a:rPr lang="zh-TW" altLang="en-US" dirty="0"/>
              <a:t>等步驟去尋找最適合環境的</a:t>
            </a:r>
            <a:r>
              <a:rPr lang="zh-TW" altLang="en-US" dirty="0" smtClean="0"/>
              <a:t>基因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基本上「基因演算法」就是一個解決最佳化問題的工具</a:t>
            </a:r>
          </a:p>
          <a:p>
            <a:endParaRPr lang="zh-TW" altLang="en-US" dirty="0"/>
          </a:p>
        </p:txBody>
      </p:sp>
      <p:cxnSp>
        <p:nvCxnSpPr>
          <p:cNvPr id="45" name="肘形接點 44"/>
          <p:cNvCxnSpPr>
            <a:stCxn id="11" idx="2"/>
            <a:endCxn id="6" idx="3"/>
          </p:cNvCxnSpPr>
          <p:nvPr/>
        </p:nvCxnSpPr>
        <p:spPr>
          <a:xfrm rot="5400000" flipH="1">
            <a:off x="5464975" y="3421219"/>
            <a:ext cx="1693731" cy="1184977"/>
          </a:xfrm>
          <a:prstGeom prst="bentConnector4">
            <a:avLst>
              <a:gd name="adj1" fmla="val -13497"/>
              <a:gd name="adj2" fmla="val -8719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3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6637" y="81235"/>
            <a:ext cx="7620000" cy="1143000"/>
          </a:xfrm>
        </p:spPr>
        <p:txBody>
          <a:bodyPr/>
          <a:lstStyle/>
          <a:p>
            <a:r>
              <a:rPr lang="en-US" altLang="zh-TW" b="1" dirty="0"/>
              <a:t>Genetic Algorithm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66637" y="1412776"/>
            <a:ext cx="1960040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隨機產生初始族群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66637" y="2678759"/>
            <a:ext cx="1988241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計算</a:t>
            </a:r>
            <a:r>
              <a:rPr lang="zh-TW" altLang="en-US" dirty="0"/>
              <a:t>適應函數</a:t>
            </a:r>
          </a:p>
        </p:txBody>
      </p:sp>
      <p:sp>
        <p:nvSpPr>
          <p:cNvPr id="10" name="矩形 9"/>
          <p:cNvSpPr/>
          <p:nvPr/>
        </p:nvSpPr>
        <p:spPr>
          <a:xfrm>
            <a:off x="2970442" y="3200644"/>
            <a:ext cx="1457541" cy="4111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選擇、複製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970443" y="3712259"/>
            <a:ext cx="1457540" cy="444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交配</a:t>
            </a:r>
            <a:endParaRPr lang="zh-TW" altLang="en-US" dirty="0"/>
          </a:p>
        </p:txBody>
      </p:sp>
      <p:cxnSp>
        <p:nvCxnSpPr>
          <p:cNvPr id="15" name="直線單箭頭接點 14"/>
          <p:cNvCxnSpPr>
            <a:stCxn id="6" idx="2"/>
            <a:endCxn id="7" idx="0"/>
          </p:cNvCxnSpPr>
          <p:nvPr/>
        </p:nvCxnSpPr>
        <p:spPr>
          <a:xfrm>
            <a:off x="1446657" y="1916832"/>
            <a:ext cx="14101" cy="7619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2"/>
            <a:endCxn id="12" idx="0"/>
          </p:cNvCxnSpPr>
          <p:nvPr/>
        </p:nvCxnSpPr>
        <p:spPr>
          <a:xfrm>
            <a:off x="3699213" y="3611805"/>
            <a:ext cx="0" cy="1004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947849" y="4255649"/>
            <a:ext cx="1480133" cy="3688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突變</a:t>
            </a:r>
            <a:endParaRPr lang="zh-TW" altLang="en-US" dirty="0"/>
          </a:p>
        </p:txBody>
      </p:sp>
      <p:cxnSp>
        <p:nvCxnSpPr>
          <p:cNvPr id="25" name="直線單箭頭接點 24"/>
          <p:cNvCxnSpPr>
            <a:stCxn id="12" idx="2"/>
            <a:endCxn id="22" idx="0"/>
          </p:cNvCxnSpPr>
          <p:nvPr/>
        </p:nvCxnSpPr>
        <p:spPr>
          <a:xfrm flipH="1">
            <a:off x="3687916" y="4156467"/>
            <a:ext cx="11297" cy="99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菱形 27"/>
          <p:cNvSpPr/>
          <p:nvPr/>
        </p:nvSpPr>
        <p:spPr>
          <a:xfrm>
            <a:off x="466637" y="3870221"/>
            <a:ext cx="1960040" cy="64807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終止條件</a:t>
            </a:r>
            <a:endParaRPr lang="zh-TW" altLang="en-US" dirty="0"/>
          </a:p>
        </p:txBody>
      </p:sp>
      <p:cxnSp>
        <p:nvCxnSpPr>
          <p:cNvPr id="34" name="直線單箭頭接點 33"/>
          <p:cNvCxnSpPr>
            <a:stCxn id="28" idx="2"/>
            <a:endCxn id="35" idx="0"/>
          </p:cNvCxnSpPr>
          <p:nvPr/>
        </p:nvCxnSpPr>
        <p:spPr>
          <a:xfrm flipH="1">
            <a:off x="1432556" y="4518293"/>
            <a:ext cx="14101" cy="11219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38435" y="5640216"/>
            <a:ext cx="1988242" cy="396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收斂得解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2371786" y="433362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否</a:t>
            </a:r>
            <a:endParaRPr lang="zh-TW" altLang="en-US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705254" y="5049243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是</a:t>
            </a:r>
            <a:endParaRPr lang="zh-TW" altLang="en-US" dirty="0"/>
          </a:p>
        </p:txBody>
      </p:sp>
      <p:cxnSp>
        <p:nvCxnSpPr>
          <p:cNvPr id="52" name="直線單箭頭接點 51"/>
          <p:cNvCxnSpPr>
            <a:stCxn id="7" idx="2"/>
            <a:endCxn id="28" idx="0"/>
          </p:cNvCxnSpPr>
          <p:nvPr/>
        </p:nvCxnSpPr>
        <p:spPr>
          <a:xfrm flipH="1">
            <a:off x="1446657" y="3182815"/>
            <a:ext cx="14101" cy="687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接點 92"/>
          <p:cNvCxnSpPr>
            <a:stCxn id="28" idx="3"/>
            <a:endCxn id="10" idx="1"/>
          </p:cNvCxnSpPr>
          <p:nvPr/>
        </p:nvCxnSpPr>
        <p:spPr>
          <a:xfrm flipV="1">
            <a:off x="2426677" y="3406225"/>
            <a:ext cx="543765" cy="7880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699" y="1078494"/>
            <a:ext cx="3209925" cy="845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663" y="1959857"/>
            <a:ext cx="38576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476" y="2784560"/>
            <a:ext cx="3600450" cy="83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59" y="3661936"/>
            <a:ext cx="3246684" cy="1585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392" y="5340349"/>
            <a:ext cx="3216651" cy="1391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肘形接點 8"/>
          <p:cNvCxnSpPr>
            <a:stCxn id="22" idx="2"/>
            <a:endCxn id="7" idx="3"/>
          </p:cNvCxnSpPr>
          <p:nvPr/>
        </p:nvCxnSpPr>
        <p:spPr>
          <a:xfrm rot="5400000" flipH="1">
            <a:off x="2224531" y="3161134"/>
            <a:ext cx="1693731" cy="1233038"/>
          </a:xfrm>
          <a:prstGeom prst="bentConnector4">
            <a:avLst>
              <a:gd name="adj1" fmla="val -13497"/>
              <a:gd name="adj2" fmla="val -775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80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22" grpId="0" animBg="1"/>
      <p:bldP spid="28" grpId="0" animBg="1"/>
      <p:bldP spid="35" grpId="0" animBg="1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620000" cy="1143000"/>
          </a:xfrm>
        </p:spPr>
        <p:txBody>
          <a:bodyPr/>
          <a:lstStyle/>
          <a:p>
            <a:r>
              <a:rPr lang="en-US" altLang="zh-TW" sz="3200" b="1" dirty="0"/>
              <a:t>Particle swarm optimization </a:t>
            </a:r>
            <a:r>
              <a:rPr lang="en-US" altLang="zh-TW" sz="3200" b="1" dirty="0" smtClean="0"/>
              <a:t>algorithm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106306"/>
            <a:ext cx="3505200" cy="4651682"/>
          </a:xfrm>
        </p:spPr>
        <p:txBody>
          <a:bodyPr/>
          <a:lstStyle/>
          <a:p>
            <a:pPr marL="114300" indent="0">
              <a:buNone/>
            </a:pPr>
            <a:endParaRPr lang="en-US" altLang="zh-TW" dirty="0" smtClean="0"/>
          </a:p>
          <a:p>
            <a:r>
              <a:rPr lang="zh-TW" altLang="en-US" dirty="0" smtClean="0"/>
              <a:t>各個</a:t>
            </a:r>
            <a:r>
              <a:rPr lang="zh-TW" altLang="en-US" dirty="0"/>
              <a:t>粒子具有「記憶性」並會參考其它粒子的「訊息」來決定移動的</a:t>
            </a:r>
            <a:r>
              <a:rPr lang="zh-TW" altLang="en-US" dirty="0" smtClean="0"/>
              <a:t>方向進而找到全域最佳解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和</a:t>
            </a:r>
            <a:r>
              <a:rPr lang="zh-TW" altLang="en-US" dirty="0">
                <a:hlinkClick r:id="rId2"/>
              </a:rPr>
              <a:t>「基因演算法」</a:t>
            </a:r>
            <a:r>
              <a:rPr lang="zh-TW" altLang="en-US" dirty="0"/>
              <a:t>一樣「粒子群演算法」同樣是拿來解決最佳化問題的工具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181750" y="2314654"/>
            <a:ext cx="2035986" cy="3942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適應度評估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172403" y="1628800"/>
            <a:ext cx="2869305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隨機產生初</a:t>
            </a:r>
            <a:r>
              <a:rPr lang="zh-TW" altLang="en-US" dirty="0" smtClean="0"/>
              <a:t>始</a:t>
            </a:r>
            <a:r>
              <a:rPr lang="zh-TW" altLang="en-US" dirty="0" smtClean="0"/>
              <a:t>速度</a:t>
            </a:r>
            <a:r>
              <a:rPr lang="en-US" altLang="zh-TW" dirty="0" smtClean="0"/>
              <a:t>(Vid)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181750" y="5157192"/>
            <a:ext cx="2035986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輸出</a:t>
            </a:r>
            <a:r>
              <a:rPr lang="zh-TW" altLang="en-US" smtClean="0"/>
              <a:t>群體最佳位置</a:t>
            </a:r>
            <a:endParaRPr lang="en-US" altLang="zh-TW" smtClean="0"/>
          </a:p>
        </p:txBody>
      </p:sp>
      <p:sp>
        <p:nvSpPr>
          <p:cNvPr id="9" name="矩形 8"/>
          <p:cNvSpPr/>
          <p:nvPr/>
        </p:nvSpPr>
        <p:spPr>
          <a:xfrm>
            <a:off x="6654012" y="3049873"/>
            <a:ext cx="1512168" cy="4074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移動粒子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158485" y="2973385"/>
            <a:ext cx="2059251" cy="5603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最佳經驗之</a:t>
            </a:r>
            <a:endParaRPr lang="en-US" altLang="zh-TW" dirty="0" smtClean="0"/>
          </a:p>
          <a:p>
            <a:pPr algn="ctr"/>
            <a:r>
              <a:rPr lang="zh-TW" altLang="en-US" dirty="0" smtClean="0"/>
              <a:t>更新</a:t>
            </a:r>
            <a:endParaRPr lang="zh-TW" altLang="en-US" dirty="0"/>
          </a:p>
        </p:txBody>
      </p:sp>
      <p:sp>
        <p:nvSpPr>
          <p:cNvPr id="13" name="菱形 12"/>
          <p:cNvSpPr/>
          <p:nvPr/>
        </p:nvSpPr>
        <p:spPr>
          <a:xfrm>
            <a:off x="4158485" y="4149080"/>
            <a:ext cx="2059251" cy="64807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滿足結束準則</a:t>
            </a:r>
            <a:endParaRPr lang="zh-TW" altLang="en-US" dirty="0"/>
          </a:p>
        </p:txBody>
      </p:sp>
      <p:cxnSp>
        <p:nvCxnSpPr>
          <p:cNvPr id="15" name="直線單箭頭接點 14"/>
          <p:cNvCxnSpPr>
            <a:stCxn id="6" idx="2"/>
            <a:endCxn id="5" idx="0"/>
          </p:cNvCxnSpPr>
          <p:nvPr/>
        </p:nvCxnSpPr>
        <p:spPr>
          <a:xfrm flipH="1">
            <a:off x="5199743" y="2132856"/>
            <a:ext cx="407313" cy="1817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5" idx="2"/>
            <a:endCxn id="10" idx="0"/>
          </p:cNvCxnSpPr>
          <p:nvPr/>
        </p:nvCxnSpPr>
        <p:spPr>
          <a:xfrm flipH="1">
            <a:off x="5188111" y="2708920"/>
            <a:ext cx="11632" cy="264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2"/>
            <a:endCxn id="13" idx="0"/>
          </p:cNvCxnSpPr>
          <p:nvPr/>
        </p:nvCxnSpPr>
        <p:spPr>
          <a:xfrm>
            <a:off x="5188111" y="3533763"/>
            <a:ext cx="0" cy="6153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3" idx="2"/>
            <a:endCxn id="7" idx="0"/>
          </p:cNvCxnSpPr>
          <p:nvPr/>
        </p:nvCxnSpPr>
        <p:spPr>
          <a:xfrm>
            <a:off x="5188111" y="4797152"/>
            <a:ext cx="116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stCxn id="13" idx="3"/>
          </p:cNvCxnSpPr>
          <p:nvPr/>
        </p:nvCxnSpPr>
        <p:spPr>
          <a:xfrm flipV="1">
            <a:off x="6217736" y="3432147"/>
            <a:ext cx="1192360" cy="104096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endCxn id="5" idx="3"/>
          </p:cNvCxnSpPr>
          <p:nvPr/>
        </p:nvCxnSpPr>
        <p:spPr>
          <a:xfrm rot="16200000" flipV="1">
            <a:off x="6557437" y="2172086"/>
            <a:ext cx="512958" cy="119236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6465645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否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354638" y="47971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是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282" y="1239990"/>
            <a:ext cx="4559126" cy="5202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135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b="1" dirty="0"/>
              <a:t>Particle swarm optimization algorithm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7476" y="1628800"/>
            <a:ext cx="4186808" cy="4800600"/>
          </a:xfrm>
        </p:spPr>
        <p:txBody>
          <a:bodyPr/>
          <a:lstStyle/>
          <a:p>
            <a:pPr marL="114300" indent="0">
              <a:buNone/>
            </a:pPr>
            <a:r>
              <a:rPr lang="zh-TW" altLang="en-US" dirty="0"/>
              <a:t>「粒子群演算法</a:t>
            </a:r>
            <a:r>
              <a:rPr lang="zh-TW" altLang="en-US" dirty="0" smtClean="0"/>
              <a:t>」</a:t>
            </a:r>
            <a:endParaRPr lang="en-US" altLang="zh-TW" dirty="0" smtClean="0"/>
          </a:p>
          <a:p>
            <a:pPr marL="114300" indent="0">
              <a:buNone/>
            </a:pPr>
            <a:r>
              <a:rPr lang="zh-TW" altLang="en-US" dirty="0" smtClean="0"/>
              <a:t>主要</a:t>
            </a:r>
            <a:r>
              <a:rPr lang="zh-TW" altLang="en-US" dirty="0"/>
              <a:t>採用了下列兩個觀念</a:t>
            </a:r>
          </a:p>
          <a:p>
            <a:pPr lvl="1"/>
            <a:r>
              <a:rPr lang="zh-TW" altLang="en-US" sz="1800" dirty="0" smtClean="0"/>
              <a:t>依自身</a:t>
            </a:r>
            <a:r>
              <a:rPr lang="zh-TW" altLang="en-US" sz="1800" dirty="0"/>
              <a:t>經驗決定飛行方向</a:t>
            </a:r>
          </a:p>
          <a:p>
            <a:pPr lvl="1"/>
            <a:r>
              <a:rPr lang="zh-TW" altLang="en-US" sz="1800" dirty="0"/>
              <a:t>參考別人的經驗決定飛行方向</a:t>
            </a:r>
          </a:p>
          <a:p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573016"/>
            <a:ext cx="3719935" cy="109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935" y="1268760"/>
            <a:ext cx="4686300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框架 5"/>
          <p:cNvSpPr/>
          <p:nvPr/>
        </p:nvSpPr>
        <p:spPr>
          <a:xfrm>
            <a:off x="827584" y="3573016"/>
            <a:ext cx="1512168" cy="546149"/>
          </a:xfrm>
          <a:prstGeom prst="fra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框架 6"/>
          <p:cNvSpPr/>
          <p:nvPr/>
        </p:nvSpPr>
        <p:spPr>
          <a:xfrm>
            <a:off x="2339752" y="3573016"/>
            <a:ext cx="1380182" cy="546149"/>
          </a:xfrm>
          <a:prstGeom prst="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55" y="3271837"/>
            <a:ext cx="1266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718" y="3219450"/>
            <a:ext cx="12382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" y="4867423"/>
            <a:ext cx="28860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3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Order clustering system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0" y="2564904"/>
            <a:ext cx="78105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994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HGAPSOA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15" y="2204864"/>
            <a:ext cx="799147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42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08104" y="1600200"/>
            <a:ext cx="2569096" cy="48006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0"/>
            <a:ext cx="5328592" cy="684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21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63538"/>
            <a:ext cx="4751065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301208"/>
            <a:ext cx="2663564" cy="103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31" y="49200"/>
            <a:ext cx="5915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31" y="4579391"/>
            <a:ext cx="59626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122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idx="1"/>
          </p:nvPr>
        </p:nvSpPr>
        <p:spPr>
          <a:xfrm>
            <a:off x="5896256" y="5157192"/>
            <a:ext cx="2137048" cy="1344216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057337"/>
            <a:ext cx="3869045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070" y="5565621"/>
            <a:ext cx="2664296" cy="49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70" y="2709862"/>
            <a:ext cx="933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1" y="116632"/>
            <a:ext cx="59340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64" y="2492896"/>
            <a:ext cx="5943600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056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466929"/>
            <a:ext cx="7071967" cy="54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795" y="2512542"/>
            <a:ext cx="9144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76997"/>
            <a:ext cx="5040561" cy="3289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26" y="4077072"/>
            <a:ext cx="5072534" cy="2631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830" y="4996764"/>
            <a:ext cx="1796976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341" y="4009855"/>
            <a:ext cx="2250153" cy="986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74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0"/>
            <a:ext cx="5328592" cy="684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1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5" y="269776"/>
            <a:ext cx="7620000" cy="1143000"/>
          </a:xfrm>
        </p:spPr>
        <p:txBody>
          <a:bodyPr/>
          <a:lstStyle/>
          <a:p>
            <a:r>
              <a:rPr lang="en-US" altLang="zh-TW" sz="4000" b="1" dirty="0" smtClean="0"/>
              <a:t>Result analysis  </a:t>
            </a:r>
            <a:r>
              <a:rPr lang="en-US" altLang="zh-TW" sz="3200" dirty="0" smtClean="0"/>
              <a:t>(converged speed)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                                                        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0685"/>
            <a:ext cx="465772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152934"/>
            <a:ext cx="4383410" cy="252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412776"/>
            <a:ext cx="3389915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12" y="1944070"/>
            <a:ext cx="32480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624" y="1613435"/>
            <a:ext cx="21336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267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Result </a:t>
            </a:r>
            <a:r>
              <a:rPr lang="en-US" altLang="zh-TW" sz="4000" b="1" dirty="0" smtClean="0"/>
              <a:t>analysis    </a:t>
            </a:r>
            <a:r>
              <a:rPr lang="en-US" altLang="zh-TW" sz="3200" dirty="0" smtClean="0"/>
              <a:t>(converged </a:t>
            </a:r>
            <a:r>
              <a:rPr lang="en-US" altLang="zh-TW" sz="3200" dirty="0"/>
              <a:t>speed)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68759"/>
            <a:ext cx="505777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005064"/>
            <a:ext cx="4688336" cy="272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325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Result </a:t>
            </a:r>
            <a:r>
              <a:rPr lang="en-US" altLang="zh-TW" sz="4000" b="1" dirty="0" smtClean="0"/>
              <a:t>analysis   </a:t>
            </a:r>
            <a:r>
              <a:rPr lang="en-US" altLang="zh-TW" sz="3200" dirty="0" smtClean="0"/>
              <a:t>(accuracy)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3075" name="Picture 3" descr="C:\Users\Calvin\Desktop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628800"/>
            <a:ext cx="5760640" cy="211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Calvin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0" y="4048823"/>
            <a:ext cx="7507357" cy="174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36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實證分析</a:t>
            </a:r>
            <a:r>
              <a:rPr lang="en-US" altLang="zh-TW" dirty="0" smtClean="0"/>
              <a:t>(</a:t>
            </a:r>
            <a:r>
              <a:rPr lang="en-US" altLang="zh-TW" sz="2000" dirty="0" smtClean="0"/>
              <a:t>Determination </a:t>
            </a:r>
            <a:r>
              <a:rPr lang="en-US" altLang="zh-TW" sz="2000" dirty="0"/>
              <a:t>of cluster number</a:t>
            </a:r>
            <a:r>
              <a:rPr lang="en-US" altLang="zh-TW" dirty="0" smtClean="0"/>
              <a:t>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3063613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68960"/>
            <a:ext cx="7324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3910756" y="1758553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組內變異以及總變異的比例，判定哪個是最好的分群區間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689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620000" cy="1143000"/>
          </a:xfrm>
        </p:spPr>
        <p:txBody>
          <a:bodyPr/>
          <a:lstStyle/>
          <a:p>
            <a:r>
              <a:rPr lang="zh-TW" altLang="en-US" sz="4000" b="1" dirty="0"/>
              <a:t>實證分析</a:t>
            </a:r>
            <a:r>
              <a:rPr lang="en-US" altLang="zh-TW" sz="4000" dirty="0" smtClean="0"/>
              <a:t>(</a:t>
            </a:r>
            <a:r>
              <a:rPr lang="en-US" altLang="zh-TW" sz="4000" dirty="0" err="1" smtClean="0"/>
              <a:t>comparsion</a:t>
            </a:r>
            <a:r>
              <a:rPr lang="en-US" altLang="zh-TW" sz="4000" dirty="0" smtClean="0"/>
              <a:t>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5" y="1628800"/>
            <a:ext cx="8244408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84984"/>
            <a:ext cx="507206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20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b="1" dirty="0"/>
              <a:t>Performance evaluation for production line-changes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6264696" cy="5284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6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Model evaluation results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89" y="2636912"/>
            <a:ext cx="7579246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51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Conclusions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This study has proposed a two-stage clustering algorithm, </a:t>
            </a:r>
            <a:r>
              <a:rPr lang="en-US" altLang="zh-TW" dirty="0" smtClean="0"/>
              <a:t>ART2+HGAPSOA</a:t>
            </a:r>
            <a:r>
              <a:rPr lang="en-US" altLang="zh-TW" dirty="0"/>
              <a:t>, for clustering analysis. The simulation results have </a:t>
            </a:r>
            <a:r>
              <a:rPr lang="en-US" altLang="zh-TW" dirty="0" smtClean="0"/>
              <a:t>shown that </a:t>
            </a:r>
            <a:r>
              <a:rPr lang="en-US" altLang="zh-TW" dirty="0"/>
              <a:t>HGAPSOA outperforms GA, GKA, PSO, PSKO, GA-PSO and </a:t>
            </a:r>
            <a:r>
              <a:rPr lang="en-US" altLang="zh-TW" dirty="0" smtClean="0"/>
              <a:t>GAPSKO algorithms </a:t>
            </a:r>
            <a:r>
              <a:rPr lang="en-US" altLang="zh-TW" dirty="0"/>
              <a:t>in four data sets.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6337-7A81-493E-9117-BA34FB8F404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6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相鄰">
  <a:themeElements>
    <a:clrScheme name="相鄰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相鄰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1835</TotalTime>
  <Words>503</Words>
  <Application>Microsoft Office PowerPoint</Application>
  <PresentationFormat>如螢幕大小 (4:3)</PresentationFormat>
  <Paragraphs>97</Paragraphs>
  <Slides>22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相鄰</vt:lpstr>
      <vt:lpstr>Application of a hybrid of genetic algorithm and particle swarm optimization algorithm  for order clustering</vt:lpstr>
      <vt:lpstr>Abstract</vt:lpstr>
      <vt:lpstr>Abstract</vt:lpstr>
      <vt:lpstr>Genetic Algorithm</vt:lpstr>
      <vt:lpstr>Genetic Algorithm</vt:lpstr>
      <vt:lpstr>Particle swarm optimization algorithm</vt:lpstr>
      <vt:lpstr>Particle swarm optimization algorithm</vt:lpstr>
      <vt:lpstr>Order clustering system</vt:lpstr>
      <vt:lpstr>HGAPSOA</vt:lpstr>
      <vt:lpstr>PowerPoint 簡報</vt:lpstr>
      <vt:lpstr>PowerPoint 簡報</vt:lpstr>
      <vt:lpstr>PowerPoint 簡報</vt:lpstr>
      <vt:lpstr>PowerPoint 簡報</vt:lpstr>
      <vt:lpstr>PowerPoint 簡報</vt:lpstr>
      <vt:lpstr>Result analysis  (converged speed)</vt:lpstr>
      <vt:lpstr>Result analysis    (converged speed)</vt:lpstr>
      <vt:lpstr>Result analysis   (accuracy)</vt:lpstr>
      <vt:lpstr>實證分析(Determination of cluster number)</vt:lpstr>
      <vt:lpstr>實證分析(comparsion)</vt:lpstr>
      <vt:lpstr>Performance evaluation for production line-changes</vt:lpstr>
      <vt:lpstr>Model evaluation results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 a hybrid of genetic algorithm and  particle swarm optimization algorithm  for order clustering</dc:title>
  <dc:creator>Calvin</dc:creator>
  <cp:lastModifiedBy>Calvin</cp:lastModifiedBy>
  <cp:revision>130</cp:revision>
  <dcterms:created xsi:type="dcterms:W3CDTF">2013-10-29T17:07:53Z</dcterms:created>
  <dcterms:modified xsi:type="dcterms:W3CDTF">2013-11-05T08:44:21Z</dcterms:modified>
</cp:coreProperties>
</file>