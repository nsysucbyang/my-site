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Default Extension="gif" ContentType="image/gi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24"/>
  </p:notesMasterIdLst>
  <p:sldIdLst>
    <p:sldId id="256" r:id="rId2"/>
    <p:sldId id="257" r:id="rId3"/>
    <p:sldId id="278" r:id="rId4"/>
    <p:sldId id="279" r:id="rId5"/>
    <p:sldId id="261" r:id="rId6"/>
    <p:sldId id="262" r:id="rId7"/>
    <p:sldId id="265" r:id="rId8"/>
    <p:sldId id="263" r:id="rId9"/>
    <p:sldId id="264" r:id="rId10"/>
    <p:sldId id="258" r:id="rId11"/>
    <p:sldId id="259" r:id="rId12"/>
    <p:sldId id="267" r:id="rId13"/>
    <p:sldId id="268" r:id="rId14"/>
    <p:sldId id="269" r:id="rId15"/>
    <p:sldId id="270" r:id="rId16"/>
    <p:sldId id="271" r:id="rId17"/>
    <p:sldId id="272" r:id="rId18"/>
    <p:sldId id="273" r:id="rId19"/>
    <p:sldId id="274" r:id="rId20"/>
    <p:sldId id="275" r:id="rId21"/>
    <p:sldId id="276" r:id="rId22"/>
    <p:sldId id="277" r:id="rId23"/>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中等深淺樣式 2 - 輔色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7DF18680-E054-41AD-8BC1-D1AEF772440D}" styleName="中等深淺樣式 2 - 輔色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97" d="100"/>
          <a:sy n="97" d="100"/>
        </p:scale>
        <p:origin x="-1098" y="-90"/>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A07C319-864A-4A12-976F-FAADF3B9F46A}" type="datetimeFigureOut">
              <a:rPr lang="zh-TW" altLang="en-US" smtClean="0"/>
              <a:t>2013/11/4</a:t>
            </a:fld>
            <a:endParaRPr lang="zh-TW" altLang="en-US"/>
          </a:p>
        </p:txBody>
      </p:sp>
      <p:sp>
        <p:nvSpPr>
          <p:cNvPr id="4" name="投影片圖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33B9DD5-AA7E-430B-BBC3-52D8203443B2}" type="slidenum">
              <a:rPr lang="zh-TW" altLang="en-US" smtClean="0"/>
              <a:t>‹#›</a:t>
            </a:fld>
            <a:endParaRPr lang="zh-TW" altLang="en-US"/>
          </a:p>
        </p:txBody>
      </p:sp>
    </p:spTree>
    <p:extLst>
      <p:ext uri="{BB962C8B-B14F-4D97-AF65-F5344CB8AC3E}">
        <p14:creationId xmlns:p14="http://schemas.microsoft.com/office/powerpoint/2010/main" val="33841365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10"/>
          </p:nvPr>
        </p:nvSpPr>
        <p:spPr/>
        <p:txBody>
          <a:bodyPr/>
          <a:lstStyle/>
          <a:p>
            <a:fld id="{233B9DD5-AA7E-430B-BBC3-52D8203443B2}" type="slidenum">
              <a:rPr lang="zh-TW" altLang="en-US" smtClean="0"/>
              <a:t>2</a:t>
            </a:fld>
            <a:endParaRPr lang="zh-TW" altLang="en-US"/>
          </a:p>
        </p:txBody>
      </p:sp>
    </p:spTree>
    <p:extLst>
      <p:ext uri="{BB962C8B-B14F-4D97-AF65-F5344CB8AC3E}">
        <p14:creationId xmlns:p14="http://schemas.microsoft.com/office/powerpoint/2010/main" val="96101465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1524000" y="1122363"/>
            <a:ext cx="9144000" cy="2387600"/>
          </a:xfrm>
        </p:spPr>
        <p:txBody>
          <a:bodyPr anchor="b"/>
          <a:lstStyle>
            <a:lvl1pPr algn="ctr">
              <a:defRPr sz="6000"/>
            </a:lvl1pPr>
          </a:lstStyle>
          <a:p>
            <a:r>
              <a:rPr lang="zh-TW" altLang="en-US" smtClean="0"/>
              <a:t>按一下以編輯母片標題樣式</a:t>
            </a:r>
            <a:endParaRPr lang="zh-TW" altLang="en-US"/>
          </a:p>
        </p:txBody>
      </p:sp>
      <p:sp>
        <p:nvSpPr>
          <p:cNvPr id="3" name="副標題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smtClean="0"/>
              <a:t>按一下以編輯母片副標題樣式</a:t>
            </a:r>
            <a:endParaRPr lang="zh-TW" altLang="en-US"/>
          </a:p>
        </p:txBody>
      </p:sp>
      <p:sp>
        <p:nvSpPr>
          <p:cNvPr id="4" name="日期版面配置區 3"/>
          <p:cNvSpPr>
            <a:spLocks noGrp="1"/>
          </p:cNvSpPr>
          <p:nvPr>
            <p:ph type="dt" sz="half" idx="10"/>
          </p:nvPr>
        </p:nvSpPr>
        <p:spPr/>
        <p:txBody>
          <a:bodyPr/>
          <a:lstStyle/>
          <a:p>
            <a:fld id="{D927B414-77D0-4143-9593-475C3FA1AD93}" type="datetime1">
              <a:rPr lang="zh-TW" altLang="en-US" smtClean="0"/>
              <a:t>2013/11/4</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8E7C9034-9CD7-4E81-904A-4E7DCAD21B02}" type="slidenum">
              <a:rPr lang="zh-TW" altLang="en-US" smtClean="0"/>
              <a:t>‹#›</a:t>
            </a:fld>
            <a:endParaRPr lang="zh-TW" altLang="en-US"/>
          </a:p>
        </p:txBody>
      </p:sp>
    </p:spTree>
    <p:extLst>
      <p:ext uri="{BB962C8B-B14F-4D97-AF65-F5344CB8AC3E}">
        <p14:creationId xmlns:p14="http://schemas.microsoft.com/office/powerpoint/2010/main" val="20193925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idx="1"/>
          </p:nvPr>
        </p:nvSpPr>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DBA240C7-D342-44B7-8C58-071E8274941C}" type="datetime1">
              <a:rPr lang="zh-TW" altLang="en-US" smtClean="0"/>
              <a:t>2013/11/4</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8E7C9034-9CD7-4E81-904A-4E7DCAD21B02}" type="slidenum">
              <a:rPr lang="zh-TW" altLang="en-US" smtClean="0"/>
              <a:t>‹#›</a:t>
            </a:fld>
            <a:endParaRPr lang="zh-TW" altLang="en-US"/>
          </a:p>
        </p:txBody>
      </p:sp>
    </p:spTree>
    <p:extLst>
      <p:ext uri="{BB962C8B-B14F-4D97-AF65-F5344CB8AC3E}">
        <p14:creationId xmlns:p14="http://schemas.microsoft.com/office/powerpoint/2010/main" val="37771805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p:cNvSpPr>
            <a:spLocks noGrp="1"/>
          </p:cNvSpPr>
          <p:nvPr>
            <p:ph type="title"/>
          </p:nvPr>
        </p:nvSpPr>
        <p:spPr>
          <a:xfrm>
            <a:off x="831850" y="1709738"/>
            <a:ext cx="10515600" cy="2852737"/>
          </a:xfrm>
        </p:spPr>
        <p:txBody>
          <a:bodyPr anchor="b"/>
          <a:lstStyle>
            <a:lvl1pPr>
              <a:defRPr sz="6000"/>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smtClean="0"/>
              <a:t>按一下以編輯母片文字樣式</a:t>
            </a:r>
          </a:p>
        </p:txBody>
      </p:sp>
      <p:sp>
        <p:nvSpPr>
          <p:cNvPr id="4" name="日期版面配置區 3"/>
          <p:cNvSpPr>
            <a:spLocks noGrp="1"/>
          </p:cNvSpPr>
          <p:nvPr>
            <p:ph type="dt" sz="half" idx="10"/>
          </p:nvPr>
        </p:nvSpPr>
        <p:spPr/>
        <p:txBody>
          <a:bodyPr/>
          <a:lstStyle/>
          <a:p>
            <a:fld id="{EE2AD1CF-DE59-474A-87C5-CA61D16F2840}" type="datetime1">
              <a:rPr lang="zh-TW" altLang="en-US" smtClean="0"/>
              <a:t>2013/11/4</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8E7C9034-9CD7-4E81-904A-4E7DCAD21B02}" type="slidenum">
              <a:rPr lang="zh-TW" altLang="en-US" smtClean="0"/>
              <a:t>‹#›</a:t>
            </a:fld>
            <a:endParaRPr lang="zh-TW" altLang="en-US"/>
          </a:p>
        </p:txBody>
      </p:sp>
    </p:spTree>
    <p:extLst>
      <p:ext uri="{BB962C8B-B14F-4D97-AF65-F5344CB8AC3E}">
        <p14:creationId xmlns:p14="http://schemas.microsoft.com/office/powerpoint/2010/main" val="10847372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sz="half" idx="1"/>
          </p:nvPr>
        </p:nvSpPr>
        <p:spPr>
          <a:xfrm>
            <a:off x="838200" y="1825625"/>
            <a:ext cx="5181600" cy="4351338"/>
          </a:xfrm>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內容版面配置區 3"/>
          <p:cNvSpPr>
            <a:spLocks noGrp="1"/>
          </p:cNvSpPr>
          <p:nvPr>
            <p:ph sz="half" idx="2"/>
          </p:nvPr>
        </p:nvSpPr>
        <p:spPr>
          <a:xfrm>
            <a:off x="6172200" y="1825625"/>
            <a:ext cx="5181600" cy="4351338"/>
          </a:xfrm>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日期版面配置區 4"/>
          <p:cNvSpPr>
            <a:spLocks noGrp="1"/>
          </p:cNvSpPr>
          <p:nvPr>
            <p:ph type="dt" sz="half" idx="10"/>
          </p:nvPr>
        </p:nvSpPr>
        <p:spPr/>
        <p:txBody>
          <a:bodyPr/>
          <a:lstStyle/>
          <a:p>
            <a:fld id="{1EDC4D96-339A-4AF5-AEE5-8C1A5514609D}" type="datetime1">
              <a:rPr lang="zh-TW" altLang="en-US" smtClean="0"/>
              <a:t>2013/11/4</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8E7C9034-9CD7-4E81-904A-4E7DCAD21B02}" type="slidenum">
              <a:rPr lang="zh-TW" altLang="en-US" smtClean="0"/>
              <a:t>‹#›</a:t>
            </a:fld>
            <a:endParaRPr lang="zh-TW" altLang="en-US"/>
          </a:p>
        </p:txBody>
      </p:sp>
    </p:spTree>
    <p:extLst>
      <p:ext uri="{BB962C8B-B14F-4D97-AF65-F5344CB8AC3E}">
        <p14:creationId xmlns:p14="http://schemas.microsoft.com/office/powerpoint/2010/main" val="30664328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a:xfrm>
            <a:off x="839788" y="365125"/>
            <a:ext cx="10515600" cy="1325563"/>
          </a:xfrm>
        </p:spPr>
        <p:txBody>
          <a:body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4" name="內容版面配置區 3"/>
          <p:cNvSpPr>
            <a:spLocks noGrp="1"/>
          </p:cNvSpPr>
          <p:nvPr>
            <p:ph sz="half" idx="2"/>
          </p:nvPr>
        </p:nvSpPr>
        <p:spPr>
          <a:xfrm>
            <a:off x="839788" y="2505075"/>
            <a:ext cx="5157787" cy="3684588"/>
          </a:xfrm>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文字版面配置區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6" name="內容版面配置區 5"/>
          <p:cNvSpPr>
            <a:spLocks noGrp="1"/>
          </p:cNvSpPr>
          <p:nvPr>
            <p:ph sz="quarter" idx="4"/>
          </p:nvPr>
        </p:nvSpPr>
        <p:spPr>
          <a:xfrm>
            <a:off x="6172200" y="2505075"/>
            <a:ext cx="5183188" cy="3684588"/>
          </a:xfrm>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7" name="日期版面配置區 6"/>
          <p:cNvSpPr>
            <a:spLocks noGrp="1"/>
          </p:cNvSpPr>
          <p:nvPr>
            <p:ph type="dt" sz="half" idx="10"/>
          </p:nvPr>
        </p:nvSpPr>
        <p:spPr/>
        <p:txBody>
          <a:bodyPr/>
          <a:lstStyle/>
          <a:p>
            <a:fld id="{DCABDF9C-1C41-4AC8-B479-5E26FF49C80B}" type="datetime1">
              <a:rPr lang="zh-TW" altLang="en-US" smtClean="0"/>
              <a:t>2013/11/4</a:t>
            </a:fld>
            <a:endParaRPr lang="zh-TW" altLang="en-US"/>
          </a:p>
        </p:txBody>
      </p:sp>
      <p:sp>
        <p:nvSpPr>
          <p:cNvPr id="8" name="頁尾版面配置區 7"/>
          <p:cNvSpPr>
            <a:spLocks noGrp="1"/>
          </p:cNvSpPr>
          <p:nvPr>
            <p:ph type="ftr" sz="quarter" idx="11"/>
          </p:nvPr>
        </p:nvSpPr>
        <p:spPr/>
        <p:txBody>
          <a:bodyPr/>
          <a:lstStyle/>
          <a:p>
            <a:endParaRPr lang="zh-TW" altLang="en-US"/>
          </a:p>
        </p:txBody>
      </p:sp>
      <p:sp>
        <p:nvSpPr>
          <p:cNvPr id="9" name="投影片編號版面配置區 8"/>
          <p:cNvSpPr>
            <a:spLocks noGrp="1"/>
          </p:cNvSpPr>
          <p:nvPr>
            <p:ph type="sldNum" sz="quarter" idx="12"/>
          </p:nvPr>
        </p:nvSpPr>
        <p:spPr/>
        <p:txBody>
          <a:bodyPr/>
          <a:lstStyle/>
          <a:p>
            <a:fld id="{8E7C9034-9CD7-4E81-904A-4E7DCAD21B02}" type="slidenum">
              <a:rPr lang="zh-TW" altLang="en-US" smtClean="0"/>
              <a:t>‹#›</a:t>
            </a:fld>
            <a:endParaRPr lang="zh-TW" altLang="en-US"/>
          </a:p>
        </p:txBody>
      </p:sp>
    </p:spTree>
    <p:extLst>
      <p:ext uri="{BB962C8B-B14F-4D97-AF65-F5344CB8AC3E}">
        <p14:creationId xmlns:p14="http://schemas.microsoft.com/office/powerpoint/2010/main" val="36359365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日期版面配置區 2"/>
          <p:cNvSpPr>
            <a:spLocks noGrp="1"/>
          </p:cNvSpPr>
          <p:nvPr>
            <p:ph type="dt" sz="half" idx="10"/>
          </p:nvPr>
        </p:nvSpPr>
        <p:spPr/>
        <p:txBody>
          <a:bodyPr/>
          <a:lstStyle/>
          <a:p>
            <a:fld id="{8DD8AD72-E5C7-468A-8122-1822C29E9E55}" type="datetime1">
              <a:rPr lang="zh-TW" altLang="en-US" smtClean="0"/>
              <a:t>2013/11/4</a:t>
            </a:fld>
            <a:endParaRPr lang="zh-TW" altLang="en-US"/>
          </a:p>
        </p:txBody>
      </p:sp>
      <p:sp>
        <p:nvSpPr>
          <p:cNvPr id="4" name="頁尾版面配置區 3"/>
          <p:cNvSpPr>
            <a:spLocks noGrp="1"/>
          </p:cNvSpPr>
          <p:nvPr>
            <p:ph type="ftr" sz="quarter" idx="11"/>
          </p:nvPr>
        </p:nvSpPr>
        <p:spPr/>
        <p:txBody>
          <a:bodyPr/>
          <a:lstStyle/>
          <a:p>
            <a:endParaRPr lang="zh-TW" altLang="en-US"/>
          </a:p>
        </p:txBody>
      </p:sp>
      <p:sp>
        <p:nvSpPr>
          <p:cNvPr id="5" name="投影片編號版面配置區 4"/>
          <p:cNvSpPr>
            <a:spLocks noGrp="1"/>
          </p:cNvSpPr>
          <p:nvPr>
            <p:ph type="sldNum" sz="quarter" idx="12"/>
          </p:nvPr>
        </p:nvSpPr>
        <p:spPr/>
        <p:txBody>
          <a:bodyPr/>
          <a:lstStyle/>
          <a:p>
            <a:fld id="{8E7C9034-9CD7-4E81-904A-4E7DCAD21B02}" type="slidenum">
              <a:rPr lang="zh-TW" altLang="en-US" smtClean="0"/>
              <a:t>‹#›</a:t>
            </a:fld>
            <a:endParaRPr lang="zh-TW" altLang="en-US"/>
          </a:p>
        </p:txBody>
      </p:sp>
    </p:spTree>
    <p:extLst>
      <p:ext uri="{BB962C8B-B14F-4D97-AF65-F5344CB8AC3E}">
        <p14:creationId xmlns:p14="http://schemas.microsoft.com/office/powerpoint/2010/main" val="3571373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p:cNvSpPr>
            <a:spLocks noGrp="1"/>
          </p:cNvSpPr>
          <p:nvPr>
            <p:ph type="dt" sz="half" idx="10"/>
          </p:nvPr>
        </p:nvSpPr>
        <p:spPr/>
        <p:txBody>
          <a:bodyPr/>
          <a:lstStyle/>
          <a:p>
            <a:fld id="{B9A80EAB-01BE-4F36-9748-82414F67CD66}" type="datetime1">
              <a:rPr lang="zh-TW" altLang="en-US" smtClean="0"/>
              <a:t>2013/11/4</a:t>
            </a:fld>
            <a:endParaRPr lang="zh-TW" altLang="en-US"/>
          </a:p>
        </p:txBody>
      </p:sp>
      <p:sp>
        <p:nvSpPr>
          <p:cNvPr id="3" name="頁尾版面配置區 2"/>
          <p:cNvSpPr>
            <a:spLocks noGrp="1"/>
          </p:cNvSpPr>
          <p:nvPr>
            <p:ph type="ftr" sz="quarter" idx="1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8E7C9034-9CD7-4E81-904A-4E7DCAD21B02}" type="slidenum">
              <a:rPr lang="zh-TW" altLang="en-US" smtClean="0"/>
              <a:t>‹#›</a:t>
            </a:fld>
            <a:endParaRPr lang="zh-TW" altLang="en-US"/>
          </a:p>
        </p:txBody>
      </p:sp>
    </p:spTree>
    <p:extLst>
      <p:ext uri="{BB962C8B-B14F-4D97-AF65-F5344CB8AC3E}">
        <p14:creationId xmlns:p14="http://schemas.microsoft.com/office/powerpoint/2010/main" val="33310735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839788" y="457200"/>
            <a:ext cx="3932237" cy="1600200"/>
          </a:xfrm>
        </p:spPr>
        <p:txBody>
          <a:bodyPr anchor="b"/>
          <a:lstStyle>
            <a:lvl1pPr>
              <a:defRPr sz="3200"/>
            </a:lvl1pPr>
          </a:lstStyle>
          <a:p>
            <a:r>
              <a:rPr lang="zh-TW" altLang="en-US" smtClean="0"/>
              <a:t>按一下以編輯母片標題樣式</a:t>
            </a:r>
            <a:endParaRPr lang="zh-TW" altLang="en-US"/>
          </a:p>
        </p:txBody>
      </p:sp>
      <p:sp>
        <p:nvSpPr>
          <p:cNvPr id="3" name="內容版面配置區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文字版面配置區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smtClean="0"/>
              <a:t>按一下以編輯母片文字樣式</a:t>
            </a:r>
          </a:p>
        </p:txBody>
      </p:sp>
      <p:sp>
        <p:nvSpPr>
          <p:cNvPr id="5" name="日期版面配置區 4"/>
          <p:cNvSpPr>
            <a:spLocks noGrp="1"/>
          </p:cNvSpPr>
          <p:nvPr>
            <p:ph type="dt" sz="half" idx="10"/>
          </p:nvPr>
        </p:nvSpPr>
        <p:spPr/>
        <p:txBody>
          <a:bodyPr/>
          <a:lstStyle/>
          <a:p>
            <a:fld id="{7C3F7FFE-72BF-4F2B-98F0-E71E27A13AC9}" type="datetime1">
              <a:rPr lang="zh-TW" altLang="en-US" smtClean="0"/>
              <a:t>2013/11/4</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8E7C9034-9CD7-4E81-904A-4E7DCAD21B02}" type="slidenum">
              <a:rPr lang="zh-TW" altLang="en-US" smtClean="0"/>
              <a:t>‹#›</a:t>
            </a:fld>
            <a:endParaRPr lang="zh-TW" altLang="en-US"/>
          </a:p>
        </p:txBody>
      </p:sp>
    </p:spTree>
    <p:extLst>
      <p:ext uri="{BB962C8B-B14F-4D97-AF65-F5344CB8AC3E}">
        <p14:creationId xmlns:p14="http://schemas.microsoft.com/office/powerpoint/2010/main" val="3203453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839788" y="457200"/>
            <a:ext cx="3932237" cy="1600200"/>
          </a:xfrm>
        </p:spPr>
        <p:txBody>
          <a:bodyPr anchor="b"/>
          <a:lstStyle>
            <a:lvl1pPr>
              <a:defRPr sz="3200"/>
            </a:lvl1pPr>
          </a:lstStyle>
          <a:p>
            <a:r>
              <a:rPr lang="zh-TW" altLang="en-US" smtClean="0"/>
              <a:t>按一下以編輯母片標題樣式</a:t>
            </a:r>
            <a:endParaRPr lang="zh-TW" altLang="en-US"/>
          </a:p>
        </p:txBody>
      </p:sp>
      <p:sp>
        <p:nvSpPr>
          <p:cNvPr id="3" name="圖片版面配置區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smtClean="0"/>
              <a:t>按一下以編輯母片文字樣式</a:t>
            </a:r>
          </a:p>
        </p:txBody>
      </p:sp>
      <p:sp>
        <p:nvSpPr>
          <p:cNvPr id="5" name="日期版面配置區 4"/>
          <p:cNvSpPr>
            <a:spLocks noGrp="1"/>
          </p:cNvSpPr>
          <p:nvPr>
            <p:ph type="dt" sz="half" idx="10"/>
          </p:nvPr>
        </p:nvSpPr>
        <p:spPr/>
        <p:txBody>
          <a:bodyPr/>
          <a:lstStyle/>
          <a:p>
            <a:fld id="{7F1B5E2D-B1D2-4028-96C2-1932E445B853}" type="datetime1">
              <a:rPr lang="zh-TW" altLang="en-US" smtClean="0"/>
              <a:t>2013/11/4</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8E7C9034-9CD7-4E81-904A-4E7DCAD21B02}" type="slidenum">
              <a:rPr lang="zh-TW" altLang="en-US" smtClean="0"/>
              <a:t>‹#›</a:t>
            </a:fld>
            <a:endParaRPr lang="zh-TW" altLang="en-US"/>
          </a:p>
        </p:txBody>
      </p:sp>
    </p:spTree>
    <p:extLst>
      <p:ext uri="{BB962C8B-B14F-4D97-AF65-F5344CB8AC3E}">
        <p14:creationId xmlns:p14="http://schemas.microsoft.com/office/powerpoint/2010/main" val="41560743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330424C8-C7EA-4F7B-BEF0-155DAF7A80C2}" type="datetime1">
              <a:rPr lang="zh-TW" altLang="en-US" smtClean="0"/>
              <a:t>2013/11/4</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8E7C9034-9CD7-4E81-904A-4E7DCAD21B02}" type="slidenum">
              <a:rPr lang="zh-TW" altLang="en-US" smtClean="0"/>
              <a:t>‹#›</a:t>
            </a:fld>
            <a:endParaRPr lang="zh-TW" altLang="en-US"/>
          </a:p>
        </p:txBody>
      </p:sp>
    </p:spTree>
    <p:extLst>
      <p:ext uri="{BB962C8B-B14F-4D97-AF65-F5344CB8AC3E}">
        <p14:creationId xmlns:p14="http://schemas.microsoft.com/office/powerpoint/2010/main" val="24299671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8724900" y="365125"/>
            <a:ext cx="2628900" cy="5811838"/>
          </a:xfrm>
        </p:spPr>
        <p:txBody>
          <a:bodyPr vert="eaVert"/>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a:xfrm>
            <a:off x="838200" y="365125"/>
            <a:ext cx="7734300" cy="5811838"/>
          </a:xfrm>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2C710A56-2397-47B1-AC46-AAAD66AF668C}" type="datetime1">
              <a:rPr lang="zh-TW" altLang="en-US" smtClean="0"/>
              <a:t>2013/11/4</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8E7C9034-9CD7-4E81-904A-4E7DCAD21B02}" type="slidenum">
              <a:rPr lang="zh-TW" altLang="en-US" smtClean="0"/>
              <a:t>‹#›</a:t>
            </a:fld>
            <a:endParaRPr lang="zh-TW" altLang="en-US"/>
          </a:p>
        </p:txBody>
      </p:sp>
    </p:spTree>
    <p:extLst>
      <p:ext uri="{BB962C8B-B14F-4D97-AF65-F5344CB8AC3E}">
        <p14:creationId xmlns:p14="http://schemas.microsoft.com/office/powerpoint/2010/main" val="27918321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305FD6D-D87F-43EC-B9E1-E02368CFBC4C}" type="datetime1">
              <a:rPr lang="zh-TW" altLang="en-US" smtClean="0"/>
              <a:t>2013/11/4</a:t>
            </a:fld>
            <a:endParaRPr lang="zh-TW" altLang="en-US"/>
          </a:p>
        </p:txBody>
      </p:sp>
      <p:sp>
        <p:nvSpPr>
          <p:cNvPr id="5" name="頁尾版面配置區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E7C9034-9CD7-4E81-904A-4E7DCAD21B02}" type="slidenum">
              <a:rPr lang="zh-TW" altLang="en-US" smtClean="0"/>
              <a:t>‹#›</a:t>
            </a:fld>
            <a:endParaRPr lang="zh-TW" altLang="en-US"/>
          </a:p>
        </p:txBody>
      </p:sp>
    </p:spTree>
    <p:extLst>
      <p:ext uri="{BB962C8B-B14F-4D97-AF65-F5344CB8AC3E}">
        <p14:creationId xmlns:p14="http://schemas.microsoft.com/office/powerpoint/2010/main" val="201171297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5.emf"/><Relationship Id="rId1" Type="http://schemas.openxmlformats.org/officeDocument/2006/relationships/slideLayout" Target="../slideLayouts/slideLayout7.xml"/><Relationship Id="rId4" Type="http://schemas.openxmlformats.org/officeDocument/2006/relationships/image" Target="../media/image6.emf"/></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6.xml"/><Relationship Id="rId4" Type="http://schemas.openxmlformats.org/officeDocument/2006/relationships/image" Target="../media/image15.png"/></Relationships>
</file>

<file path=ppt/slides/_rels/slide1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a:xfrm>
            <a:off x="1343696" y="207963"/>
            <a:ext cx="9144000" cy="2387600"/>
          </a:xfrm>
        </p:spPr>
        <p:txBody>
          <a:bodyPr/>
          <a:lstStyle/>
          <a:p>
            <a:r>
              <a:rPr lang="en-US" altLang="zh-TW" dirty="0" smtClean="0"/>
              <a:t>The Model Confidence Set</a:t>
            </a:r>
            <a:endParaRPr lang="zh-TW" altLang="en-US" dirty="0"/>
          </a:p>
        </p:txBody>
      </p:sp>
      <p:sp>
        <p:nvSpPr>
          <p:cNvPr id="3" name="副標題 2"/>
          <p:cNvSpPr>
            <a:spLocks noGrp="1"/>
          </p:cNvSpPr>
          <p:nvPr>
            <p:ph type="subTitle" idx="1"/>
          </p:nvPr>
        </p:nvSpPr>
        <p:spPr>
          <a:xfrm>
            <a:off x="1433848" y="3144838"/>
            <a:ext cx="9144000" cy="1655762"/>
          </a:xfrm>
        </p:spPr>
        <p:txBody>
          <a:bodyPr/>
          <a:lstStyle/>
          <a:p>
            <a:r>
              <a:rPr lang="en-US" altLang="zh-TW" dirty="0" smtClean="0"/>
              <a:t>Peter R. Hansen, </a:t>
            </a:r>
            <a:r>
              <a:rPr lang="en-US" altLang="zh-TW" dirty="0" err="1" smtClean="0"/>
              <a:t>Asger</a:t>
            </a:r>
            <a:r>
              <a:rPr lang="en-US" altLang="zh-TW" dirty="0" smtClean="0"/>
              <a:t> </a:t>
            </a:r>
            <a:r>
              <a:rPr lang="en-US" altLang="zh-TW" dirty="0" err="1" smtClean="0"/>
              <a:t>Lunde</a:t>
            </a:r>
            <a:r>
              <a:rPr lang="en-US" altLang="zh-TW" dirty="0" smtClean="0"/>
              <a:t>, and James M. </a:t>
            </a:r>
            <a:r>
              <a:rPr lang="en-US" altLang="zh-TW" dirty="0" err="1" smtClean="0"/>
              <a:t>Nason</a:t>
            </a:r>
            <a:endParaRPr lang="en-US" altLang="zh-TW" dirty="0" smtClean="0"/>
          </a:p>
          <a:p>
            <a:r>
              <a:rPr lang="en-US" altLang="zh-TW" dirty="0" err="1" smtClean="0"/>
              <a:t>Econometrica</a:t>
            </a:r>
            <a:r>
              <a:rPr lang="en-US" altLang="zh-TW" dirty="0" smtClean="0"/>
              <a:t>, Vol. 79, No.2, pp. 453-497, 2011</a:t>
            </a:r>
            <a:endParaRPr lang="zh-TW" altLang="en-US" dirty="0"/>
          </a:p>
        </p:txBody>
      </p:sp>
      <p:sp>
        <p:nvSpPr>
          <p:cNvPr id="4" name="文字方塊 3"/>
          <p:cNvSpPr txBox="1"/>
          <p:nvPr/>
        </p:nvSpPr>
        <p:spPr>
          <a:xfrm>
            <a:off x="4713669" y="5349875"/>
            <a:ext cx="6606862" cy="954107"/>
          </a:xfrm>
          <a:prstGeom prst="rect">
            <a:avLst/>
          </a:prstGeom>
          <a:noFill/>
        </p:spPr>
        <p:txBody>
          <a:bodyPr wrap="square" rtlCol="0">
            <a:spAutoFit/>
          </a:bodyPr>
          <a:lstStyle/>
          <a:p>
            <a:r>
              <a:rPr lang="en-US" altLang="zh-TW" sz="2800" dirty="0" smtClean="0"/>
              <a:t>Presenter: Hung-</a:t>
            </a:r>
            <a:r>
              <a:rPr lang="en-US" altLang="zh-TW" sz="2800" dirty="0" err="1" smtClean="0"/>
              <a:t>Hsin</a:t>
            </a:r>
            <a:r>
              <a:rPr lang="en-US" altLang="zh-TW" sz="2800" dirty="0" smtClean="0"/>
              <a:t> Chen (</a:t>
            </a:r>
            <a:r>
              <a:rPr lang="zh-TW" altLang="en-US" sz="2800" dirty="0" smtClean="0"/>
              <a:t>陳紘昕</a:t>
            </a:r>
            <a:r>
              <a:rPr lang="en-US" altLang="zh-TW" sz="2800" dirty="0" smtClean="0"/>
              <a:t>)</a:t>
            </a:r>
          </a:p>
          <a:p>
            <a:r>
              <a:rPr lang="en-US" altLang="zh-TW" sz="2800" dirty="0" smtClean="0"/>
              <a:t>Date: Nov. 5, 2013</a:t>
            </a:r>
            <a:endParaRPr lang="zh-TW" altLang="en-US" sz="2800" dirty="0"/>
          </a:p>
        </p:txBody>
      </p:sp>
      <p:pic>
        <p:nvPicPr>
          <p:cNvPr id="5" name="圖片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18504" y="4338945"/>
            <a:ext cx="3075069" cy="2021859"/>
          </a:xfrm>
          <a:prstGeom prst="rect">
            <a:avLst/>
          </a:prstGeom>
        </p:spPr>
      </p:pic>
    </p:spTree>
    <p:extLst>
      <p:ext uri="{BB962C8B-B14F-4D97-AF65-F5344CB8AC3E}">
        <p14:creationId xmlns:p14="http://schemas.microsoft.com/office/powerpoint/2010/main" val="48810768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Abstract</a:t>
            </a:r>
            <a:endParaRPr lang="zh-TW" altLang="en-US" dirty="0"/>
          </a:p>
        </p:txBody>
      </p:sp>
      <p:sp>
        <p:nvSpPr>
          <p:cNvPr id="3" name="內容版面配置區 2"/>
          <p:cNvSpPr>
            <a:spLocks noGrp="1"/>
          </p:cNvSpPr>
          <p:nvPr>
            <p:ph idx="1"/>
          </p:nvPr>
        </p:nvSpPr>
        <p:spPr>
          <a:xfrm>
            <a:off x="360608" y="1825625"/>
            <a:ext cx="11384924" cy="4351338"/>
          </a:xfrm>
        </p:spPr>
        <p:txBody>
          <a:bodyPr>
            <a:normAutofit fontScale="92500" lnSpcReduction="10000"/>
          </a:bodyPr>
          <a:lstStyle/>
          <a:p>
            <a:pPr marL="0" indent="0" algn="just">
              <a:buNone/>
            </a:pPr>
            <a:r>
              <a:rPr lang="en-US" altLang="zh-TW" dirty="0"/>
              <a:t>This paper introduces the model confidence set (MCS) and applies it to the </a:t>
            </a:r>
            <a:r>
              <a:rPr lang="en-US" altLang="zh-TW" dirty="0" smtClean="0"/>
              <a:t>selection of </a:t>
            </a:r>
            <a:r>
              <a:rPr lang="en-US" altLang="zh-TW" dirty="0"/>
              <a:t>models. </a:t>
            </a:r>
            <a:r>
              <a:rPr lang="en-US" altLang="zh-TW" dirty="0">
                <a:solidFill>
                  <a:srgbClr val="FF0000"/>
                </a:solidFill>
              </a:rPr>
              <a:t>A MCS is a set of models that is constructed such that it will contain </a:t>
            </a:r>
            <a:r>
              <a:rPr lang="en-US" altLang="zh-TW" dirty="0" smtClean="0">
                <a:solidFill>
                  <a:srgbClr val="FF0000"/>
                </a:solidFill>
              </a:rPr>
              <a:t>the best </a:t>
            </a:r>
            <a:r>
              <a:rPr lang="en-US" altLang="zh-TW" dirty="0">
                <a:solidFill>
                  <a:srgbClr val="FF0000"/>
                </a:solidFill>
              </a:rPr>
              <a:t>model with a given level of confidence.</a:t>
            </a:r>
            <a:r>
              <a:rPr lang="en-US" altLang="zh-TW" dirty="0"/>
              <a:t> The MCS is in this sense analogous </a:t>
            </a:r>
            <a:r>
              <a:rPr lang="en-US" altLang="zh-TW" dirty="0" smtClean="0"/>
              <a:t>to a </a:t>
            </a:r>
            <a:r>
              <a:rPr lang="en-US" altLang="zh-TW" dirty="0"/>
              <a:t>confidence interval for a parameter. The MCS acknowledges the limitations of </a:t>
            </a:r>
            <a:r>
              <a:rPr lang="en-US" altLang="zh-TW" dirty="0" smtClean="0"/>
              <a:t>the data</a:t>
            </a:r>
            <a:r>
              <a:rPr lang="en-US" altLang="zh-TW" dirty="0"/>
              <a:t>, such that uninformative data yield a MCS with many models, whereas </a:t>
            </a:r>
            <a:r>
              <a:rPr lang="en-US" altLang="zh-TW" dirty="0" smtClean="0"/>
              <a:t>informative data </a:t>
            </a:r>
            <a:r>
              <a:rPr lang="en-US" altLang="zh-TW" dirty="0"/>
              <a:t>yield a MCS with only a few models. </a:t>
            </a:r>
            <a:r>
              <a:rPr lang="en-US" altLang="zh-TW" dirty="0">
                <a:solidFill>
                  <a:srgbClr val="00B0F0"/>
                </a:solidFill>
              </a:rPr>
              <a:t>The MCS procedure does not assume that </a:t>
            </a:r>
            <a:r>
              <a:rPr lang="en-US" altLang="zh-TW" dirty="0" smtClean="0">
                <a:solidFill>
                  <a:srgbClr val="00B0F0"/>
                </a:solidFill>
              </a:rPr>
              <a:t>a particular </a:t>
            </a:r>
            <a:r>
              <a:rPr lang="en-US" altLang="zh-TW" dirty="0">
                <a:solidFill>
                  <a:srgbClr val="00B0F0"/>
                </a:solidFill>
              </a:rPr>
              <a:t>model is the true model;</a:t>
            </a:r>
            <a:r>
              <a:rPr lang="en-US" altLang="zh-TW" dirty="0"/>
              <a:t> in fact, the MCS procedure can be used to </a:t>
            </a:r>
            <a:r>
              <a:rPr lang="en-US" altLang="zh-TW" dirty="0" smtClean="0"/>
              <a:t>compare more </a:t>
            </a:r>
            <a:r>
              <a:rPr lang="en-US" altLang="zh-TW" dirty="0"/>
              <a:t>general objects, beyond the comparison of models</a:t>
            </a:r>
            <a:r>
              <a:rPr lang="en-US" altLang="zh-TW" dirty="0" smtClean="0"/>
              <a:t>. We </a:t>
            </a:r>
            <a:r>
              <a:rPr lang="en-US" altLang="zh-TW" dirty="0"/>
              <a:t>apply the MCS </a:t>
            </a:r>
            <a:r>
              <a:rPr lang="en-US" altLang="zh-TW" dirty="0" smtClean="0"/>
              <a:t>procedure to </a:t>
            </a:r>
            <a:r>
              <a:rPr lang="en-US" altLang="zh-TW" dirty="0"/>
              <a:t>two empirical problems. First, we revisit the inflation forecasting problem posed </a:t>
            </a:r>
            <a:r>
              <a:rPr lang="en-US" altLang="zh-TW" dirty="0" smtClean="0"/>
              <a:t>by Stock </a:t>
            </a:r>
            <a:r>
              <a:rPr lang="en-US" altLang="zh-TW" dirty="0"/>
              <a:t>and Watson (1999), and compute the MCS for their set of inflation forecasts</a:t>
            </a:r>
            <a:r>
              <a:rPr lang="en-US" altLang="zh-TW" dirty="0" smtClean="0"/>
              <a:t>. Second</a:t>
            </a:r>
            <a:r>
              <a:rPr lang="en-US" altLang="zh-TW" dirty="0"/>
              <a:t>, we compare a number of Taylor rule regressions and determine the MCS </a:t>
            </a:r>
            <a:r>
              <a:rPr lang="en-US" altLang="zh-TW" dirty="0" smtClean="0"/>
              <a:t>of the </a:t>
            </a:r>
            <a:r>
              <a:rPr lang="en-US" altLang="zh-TW" dirty="0"/>
              <a:t>best regression in terms of in-sample likelihood criteria.</a:t>
            </a:r>
            <a:endParaRPr lang="zh-TW" altLang="en-US" dirty="0"/>
          </a:p>
        </p:txBody>
      </p:sp>
      <p:sp>
        <p:nvSpPr>
          <p:cNvPr id="4" name="投影片編號版面配置區 3"/>
          <p:cNvSpPr>
            <a:spLocks noGrp="1"/>
          </p:cNvSpPr>
          <p:nvPr>
            <p:ph type="sldNum" sz="quarter" idx="12"/>
          </p:nvPr>
        </p:nvSpPr>
        <p:spPr/>
        <p:txBody>
          <a:bodyPr/>
          <a:lstStyle/>
          <a:p>
            <a:fld id="{8E7C9034-9CD7-4E81-904A-4E7DCAD21B02}" type="slidenum">
              <a:rPr lang="zh-TW" altLang="en-US" smtClean="0"/>
              <a:t>2</a:t>
            </a:fld>
            <a:endParaRPr lang="zh-TW" altLang="en-US"/>
          </a:p>
        </p:txBody>
      </p:sp>
    </p:spTree>
    <p:extLst>
      <p:ext uri="{BB962C8B-B14F-4D97-AF65-F5344CB8AC3E}">
        <p14:creationId xmlns:p14="http://schemas.microsoft.com/office/powerpoint/2010/main" val="207652036"/>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圓角矩形 3"/>
          <p:cNvSpPr/>
          <p:nvPr/>
        </p:nvSpPr>
        <p:spPr>
          <a:xfrm>
            <a:off x="1684330" y="1667452"/>
            <a:ext cx="3705515" cy="857076"/>
          </a:xfrm>
          <a:prstGeom prst="round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TW" sz="2800" dirty="0"/>
              <a:t>Reality Check (RC</a:t>
            </a:r>
            <a:r>
              <a:rPr lang="en-US" altLang="zh-TW" sz="2800" dirty="0" smtClean="0"/>
              <a:t>) [Whit00]</a:t>
            </a:r>
            <a:endParaRPr lang="zh-TW" altLang="en-US" sz="2800" dirty="0"/>
          </a:p>
        </p:txBody>
      </p:sp>
      <p:sp>
        <p:nvSpPr>
          <p:cNvPr id="7" name="圓角矩形 6"/>
          <p:cNvSpPr/>
          <p:nvPr/>
        </p:nvSpPr>
        <p:spPr>
          <a:xfrm>
            <a:off x="5981412" y="1717749"/>
            <a:ext cx="3148940" cy="783308"/>
          </a:xfrm>
          <a:prstGeom prst="round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altLang="zh-TW" sz="2800" dirty="0" smtClean="0"/>
              <a:t>Stepwise-RC [Roma05]</a:t>
            </a:r>
            <a:endParaRPr lang="zh-TW" altLang="en-US" sz="2800" baseline="30000" dirty="0"/>
          </a:p>
        </p:txBody>
      </p:sp>
      <p:sp>
        <p:nvSpPr>
          <p:cNvPr id="8" name="圓角矩形 7"/>
          <p:cNvSpPr/>
          <p:nvPr/>
        </p:nvSpPr>
        <p:spPr>
          <a:xfrm>
            <a:off x="1684330" y="3151598"/>
            <a:ext cx="3705515" cy="792088"/>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altLang="zh-TW" sz="2800" dirty="0"/>
              <a:t>Superior Predictive Ability (SPA)</a:t>
            </a:r>
            <a:r>
              <a:rPr lang="en-US" altLang="zh-TW" sz="2800" baseline="30000" dirty="0"/>
              <a:t> </a:t>
            </a:r>
            <a:r>
              <a:rPr lang="en-US" altLang="zh-TW" sz="2800" dirty="0" smtClean="0"/>
              <a:t>[Hans05]</a:t>
            </a:r>
            <a:endParaRPr lang="zh-TW" altLang="en-US" sz="2800" dirty="0"/>
          </a:p>
        </p:txBody>
      </p:sp>
      <p:sp>
        <p:nvSpPr>
          <p:cNvPr id="9" name="圓角矩形 8"/>
          <p:cNvSpPr/>
          <p:nvPr/>
        </p:nvSpPr>
        <p:spPr>
          <a:xfrm>
            <a:off x="5981412" y="3151598"/>
            <a:ext cx="3148940" cy="792088"/>
          </a:xfrm>
          <a:prstGeom prst="round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altLang="zh-TW" sz="2800" dirty="0"/>
              <a:t>Stepwise-SPA</a:t>
            </a:r>
            <a:r>
              <a:rPr lang="en-US" altLang="zh-TW" sz="2800" baseline="30000" dirty="0"/>
              <a:t> </a:t>
            </a:r>
            <a:r>
              <a:rPr lang="en-US" altLang="zh-TW" sz="2800" dirty="0" smtClean="0"/>
              <a:t>[Hsu10]</a:t>
            </a:r>
            <a:endParaRPr lang="zh-TW" altLang="en-US" sz="2800" dirty="0"/>
          </a:p>
        </p:txBody>
      </p:sp>
      <p:cxnSp>
        <p:nvCxnSpPr>
          <p:cNvPr id="11" name="直線單箭頭接點 10"/>
          <p:cNvCxnSpPr>
            <a:stCxn id="4" idx="3"/>
            <a:endCxn id="7" idx="1"/>
          </p:cNvCxnSpPr>
          <p:nvPr/>
        </p:nvCxnSpPr>
        <p:spPr>
          <a:xfrm>
            <a:off x="5389845" y="2095990"/>
            <a:ext cx="591567" cy="13413"/>
          </a:xfrm>
          <a:prstGeom prst="straightConnector1">
            <a:avLst/>
          </a:prstGeom>
          <a:ln w="25400">
            <a:tailEnd type="arrow"/>
          </a:ln>
        </p:spPr>
        <p:style>
          <a:lnRef idx="1">
            <a:schemeClr val="accent1"/>
          </a:lnRef>
          <a:fillRef idx="0">
            <a:schemeClr val="accent1"/>
          </a:fillRef>
          <a:effectRef idx="0">
            <a:schemeClr val="accent1"/>
          </a:effectRef>
          <a:fontRef idx="minor">
            <a:schemeClr val="tx1"/>
          </a:fontRef>
        </p:style>
      </p:cxnSp>
      <p:cxnSp>
        <p:nvCxnSpPr>
          <p:cNvPr id="16" name="直線單箭頭接點 15"/>
          <p:cNvCxnSpPr>
            <a:stCxn id="4" idx="2"/>
            <a:endCxn id="8" idx="0"/>
          </p:cNvCxnSpPr>
          <p:nvPr/>
        </p:nvCxnSpPr>
        <p:spPr>
          <a:xfrm>
            <a:off x="3537088" y="2524528"/>
            <a:ext cx="0" cy="627070"/>
          </a:xfrm>
          <a:prstGeom prst="straightConnector1">
            <a:avLst/>
          </a:prstGeom>
          <a:ln w="25400">
            <a:tailEnd type="arrow"/>
          </a:ln>
        </p:spPr>
        <p:style>
          <a:lnRef idx="1">
            <a:schemeClr val="accent1"/>
          </a:lnRef>
          <a:fillRef idx="0">
            <a:schemeClr val="accent1"/>
          </a:fillRef>
          <a:effectRef idx="0">
            <a:schemeClr val="accent1"/>
          </a:effectRef>
          <a:fontRef idx="minor">
            <a:schemeClr val="tx1"/>
          </a:fontRef>
        </p:style>
      </p:cxnSp>
      <p:cxnSp>
        <p:nvCxnSpPr>
          <p:cNvPr id="18" name="直線單箭頭接點 17"/>
          <p:cNvCxnSpPr>
            <a:stCxn id="8" idx="3"/>
            <a:endCxn id="9" idx="1"/>
          </p:cNvCxnSpPr>
          <p:nvPr/>
        </p:nvCxnSpPr>
        <p:spPr>
          <a:xfrm>
            <a:off x="5389845" y="3547642"/>
            <a:ext cx="591567" cy="0"/>
          </a:xfrm>
          <a:prstGeom prst="straightConnector1">
            <a:avLst/>
          </a:prstGeom>
          <a:ln w="25400">
            <a:tailEnd type="arrow"/>
          </a:ln>
        </p:spPr>
        <p:style>
          <a:lnRef idx="1">
            <a:schemeClr val="accent1"/>
          </a:lnRef>
          <a:fillRef idx="0">
            <a:schemeClr val="accent1"/>
          </a:fillRef>
          <a:effectRef idx="0">
            <a:schemeClr val="accent1"/>
          </a:effectRef>
          <a:fontRef idx="minor">
            <a:schemeClr val="tx1"/>
          </a:fontRef>
        </p:style>
      </p:cxnSp>
      <p:sp>
        <p:nvSpPr>
          <p:cNvPr id="3" name="投影片編號版面配置區 2"/>
          <p:cNvSpPr>
            <a:spLocks noGrp="1"/>
          </p:cNvSpPr>
          <p:nvPr>
            <p:ph type="sldNum" sz="quarter" idx="12"/>
          </p:nvPr>
        </p:nvSpPr>
        <p:spPr>
          <a:xfrm>
            <a:off x="9403725" y="6309321"/>
            <a:ext cx="2133600" cy="365125"/>
          </a:xfrm>
        </p:spPr>
        <p:txBody>
          <a:bodyPr/>
          <a:lstStyle/>
          <a:p>
            <a:fld id="{ECE2D449-FE15-4C98-AE90-32963C8A7493}" type="slidenum">
              <a:rPr lang="zh-TW" altLang="en-US" smtClean="0"/>
              <a:t>3</a:t>
            </a:fld>
            <a:endParaRPr lang="zh-TW" altLang="en-US" dirty="0"/>
          </a:p>
        </p:txBody>
      </p:sp>
      <p:cxnSp>
        <p:nvCxnSpPr>
          <p:cNvPr id="25" name="直線單箭頭接點 24"/>
          <p:cNvCxnSpPr/>
          <p:nvPr/>
        </p:nvCxnSpPr>
        <p:spPr>
          <a:xfrm>
            <a:off x="7527890" y="2503527"/>
            <a:ext cx="0" cy="608737"/>
          </a:xfrm>
          <a:prstGeom prst="straightConnector1">
            <a:avLst/>
          </a:prstGeom>
          <a:ln w="25400">
            <a:tailEnd type="arrow"/>
          </a:ln>
        </p:spPr>
        <p:style>
          <a:lnRef idx="1">
            <a:schemeClr val="accent1"/>
          </a:lnRef>
          <a:fillRef idx="0">
            <a:schemeClr val="accent1"/>
          </a:fillRef>
          <a:effectRef idx="0">
            <a:schemeClr val="accent1"/>
          </a:effectRef>
          <a:fontRef idx="minor">
            <a:schemeClr val="tx1"/>
          </a:fontRef>
        </p:style>
      </p:cxnSp>
      <p:sp>
        <p:nvSpPr>
          <p:cNvPr id="32" name="圓角矩形 31"/>
          <p:cNvSpPr/>
          <p:nvPr/>
        </p:nvSpPr>
        <p:spPr>
          <a:xfrm>
            <a:off x="1684330" y="299693"/>
            <a:ext cx="3655774" cy="857076"/>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altLang="zh-TW" sz="2800" dirty="0" smtClean="0"/>
              <a:t>equal predictive ability (EPA) [Diei95]</a:t>
            </a:r>
            <a:endParaRPr lang="zh-TW" altLang="en-US" sz="2800" baseline="30000" dirty="0"/>
          </a:p>
        </p:txBody>
      </p:sp>
      <p:sp>
        <p:nvSpPr>
          <p:cNvPr id="33" name="圓角矩形 32"/>
          <p:cNvSpPr/>
          <p:nvPr/>
        </p:nvSpPr>
        <p:spPr>
          <a:xfrm>
            <a:off x="5917303" y="299693"/>
            <a:ext cx="3168352" cy="857076"/>
          </a:xfrm>
          <a:prstGeom prst="round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altLang="zh-TW" sz="2800" dirty="0" smtClean="0"/>
              <a:t>predictive ability properties [West96]</a:t>
            </a:r>
            <a:endParaRPr lang="zh-TW" altLang="en-US" sz="2800" baseline="30000" dirty="0"/>
          </a:p>
        </p:txBody>
      </p:sp>
      <p:cxnSp>
        <p:nvCxnSpPr>
          <p:cNvPr id="34" name="直線單箭頭接點 33"/>
          <p:cNvCxnSpPr>
            <a:stCxn id="32" idx="3"/>
            <a:endCxn id="33" idx="1"/>
          </p:cNvCxnSpPr>
          <p:nvPr/>
        </p:nvCxnSpPr>
        <p:spPr>
          <a:xfrm>
            <a:off x="5340104" y="728231"/>
            <a:ext cx="577199" cy="0"/>
          </a:xfrm>
          <a:prstGeom prst="straightConnector1">
            <a:avLst/>
          </a:prstGeom>
          <a:ln w="25400">
            <a:tailEnd type="arrow"/>
          </a:ln>
        </p:spPr>
        <p:style>
          <a:lnRef idx="1">
            <a:schemeClr val="accent1"/>
          </a:lnRef>
          <a:fillRef idx="0">
            <a:schemeClr val="accent1"/>
          </a:fillRef>
          <a:effectRef idx="0">
            <a:schemeClr val="accent1"/>
          </a:effectRef>
          <a:fontRef idx="minor">
            <a:schemeClr val="tx1"/>
          </a:fontRef>
        </p:style>
      </p:cxnSp>
      <p:cxnSp>
        <p:nvCxnSpPr>
          <p:cNvPr id="36" name="直線單箭頭接點 35"/>
          <p:cNvCxnSpPr>
            <a:stCxn id="32" idx="2"/>
            <a:endCxn id="4" idx="0"/>
          </p:cNvCxnSpPr>
          <p:nvPr/>
        </p:nvCxnSpPr>
        <p:spPr>
          <a:xfrm>
            <a:off x="3512217" y="1156769"/>
            <a:ext cx="24871" cy="510683"/>
          </a:xfrm>
          <a:prstGeom prst="straightConnector1">
            <a:avLst/>
          </a:prstGeom>
          <a:ln w="25400">
            <a:tailEnd type="arrow"/>
          </a:ln>
        </p:spPr>
        <p:style>
          <a:lnRef idx="1">
            <a:schemeClr val="accent1"/>
          </a:lnRef>
          <a:fillRef idx="0">
            <a:schemeClr val="accent1"/>
          </a:fillRef>
          <a:effectRef idx="0">
            <a:schemeClr val="accent1"/>
          </a:effectRef>
          <a:fontRef idx="minor">
            <a:schemeClr val="tx1"/>
          </a:fontRef>
        </p:style>
      </p:cxnSp>
      <p:cxnSp>
        <p:nvCxnSpPr>
          <p:cNvPr id="39" name="直線單箭頭接點 38"/>
          <p:cNvCxnSpPr>
            <a:stCxn id="33" idx="2"/>
            <a:endCxn id="4" idx="0"/>
          </p:cNvCxnSpPr>
          <p:nvPr/>
        </p:nvCxnSpPr>
        <p:spPr>
          <a:xfrm flipH="1">
            <a:off x="3537088" y="1156769"/>
            <a:ext cx="3964391" cy="510683"/>
          </a:xfrm>
          <a:prstGeom prst="straightConnector1">
            <a:avLst/>
          </a:prstGeom>
          <a:ln w="25400">
            <a:tailEnd type="arrow"/>
          </a:ln>
        </p:spPr>
        <p:style>
          <a:lnRef idx="1">
            <a:schemeClr val="accent1"/>
          </a:lnRef>
          <a:fillRef idx="0">
            <a:schemeClr val="accent1"/>
          </a:fillRef>
          <a:effectRef idx="0">
            <a:schemeClr val="accent1"/>
          </a:effectRef>
          <a:fontRef idx="minor">
            <a:schemeClr val="tx1"/>
          </a:fontRef>
        </p:style>
      </p:cxnSp>
      <p:sp>
        <p:nvSpPr>
          <p:cNvPr id="42" name="圓角矩形 41"/>
          <p:cNvSpPr/>
          <p:nvPr/>
        </p:nvSpPr>
        <p:spPr>
          <a:xfrm>
            <a:off x="1684330" y="4591999"/>
            <a:ext cx="3655774" cy="857076"/>
          </a:xfrm>
          <a:prstGeom prst="round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TW" sz="2800" dirty="0" smtClean="0"/>
              <a:t>Model confidence set(MCS) [Hans11]</a:t>
            </a:r>
            <a:endParaRPr lang="zh-TW" altLang="en-US" sz="2800" dirty="0"/>
          </a:p>
        </p:txBody>
      </p:sp>
      <p:cxnSp>
        <p:nvCxnSpPr>
          <p:cNvPr id="47" name="直線單箭頭接點 46"/>
          <p:cNvCxnSpPr/>
          <p:nvPr/>
        </p:nvCxnSpPr>
        <p:spPr>
          <a:xfrm>
            <a:off x="3505467" y="3964929"/>
            <a:ext cx="0" cy="627070"/>
          </a:xfrm>
          <a:prstGeom prst="straightConnector1">
            <a:avLst/>
          </a:prstGeom>
          <a:ln w="25400">
            <a:tailEnd type="arrow"/>
          </a:ln>
        </p:spPr>
        <p:style>
          <a:lnRef idx="1">
            <a:schemeClr val="accent1"/>
          </a:lnRef>
          <a:fillRef idx="0">
            <a:schemeClr val="accent1"/>
          </a:fillRef>
          <a:effectRef idx="0">
            <a:schemeClr val="accent1"/>
          </a:effectRef>
          <a:fontRef idx="minor">
            <a:schemeClr val="tx1"/>
          </a:fontRef>
        </p:style>
      </p:cxnSp>
      <p:sp>
        <p:nvSpPr>
          <p:cNvPr id="48" name="圓角矩形 47"/>
          <p:cNvSpPr/>
          <p:nvPr/>
        </p:nvSpPr>
        <p:spPr>
          <a:xfrm>
            <a:off x="1634589" y="5880783"/>
            <a:ext cx="3705515" cy="857076"/>
          </a:xfrm>
          <a:prstGeom prst="round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TW" sz="2800" dirty="0" smtClean="0"/>
              <a:t>RC for nested model</a:t>
            </a:r>
            <a:br>
              <a:rPr lang="en-US" altLang="zh-TW" sz="2800" dirty="0" smtClean="0"/>
            </a:br>
            <a:r>
              <a:rPr lang="en-US" altLang="zh-TW" sz="2800" dirty="0" smtClean="0"/>
              <a:t>[Clar12]</a:t>
            </a:r>
            <a:endParaRPr lang="zh-TW" altLang="en-US" sz="2800" dirty="0"/>
          </a:p>
        </p:txBody>
      </p:sp>
      <p:sp>
        <p:nvSpPr>
          <p:cNvPr id="49" name="圓角矩形 48"/>
          <p:cNvSpPr/>
          <p:nvPr/>
        </p:nvSpPr>
        <p:spPr>
          <a:xfrm>
            <a:off x="5917303" y="4599119"/>
            <a:ext cx="4051231" cy="857076"/>
          </a:xfrm>
          <a:prstGeom prst="round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TW" sz="2800" dirty="0" smtClean="0"/>
              <a:t>EPA for multiple models</a:t>
            </a:r>
            <a:br>
              <a:rPr lang="en-US" altLang="zh-TW" sz="2800" dirty="0" smtClean="0"/>
            </a:br>
            <a:r>
              <a:rPr lang="en-US" altLang="zh-TW" sz="2800" dirty="0" smtClean="0"/>
              <a:t>[Mari12]</a:t>
            </a:r>
            <a:endParaRPr lang="zh-TW" altLang="en-US" sz="2800" dirty="0"/>
          </a:p>
        </p:txBody>
      </p:sp>
      <p:sp>
        <p:nvSpPr>
          <p:cNvPr id="2" name="圓角矩形 1"/>
          <p:cNvSpPr/>
          <p:nvPr/>
        </p:nvSpPr>
        <p:spPr>
          <a:xfrm>
            <a:off x="1337187" y="1412110"/>
            <a:ext cx="8200103" cy="2866354"/>
          </a:xfrm>
          <a:prstGeom prst="round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408818268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Reference</a:t>
            </a:r>
            <a:endParaRPr lang="zh-TW" altLang="en-US" dirty="0"/>
          </a:p>
        </p:txBody>
      </p:sp>
      <p:sp>
        <p:nvSpPr>
          <p:cNvPr id="3" name="內容版面配置區 2"/>
          <p:cNvSpPr>
            <a:spLocks noGrp="1"/>
          </p:cNvSpPr>
          <p:nvPr>
            <p:ph idx="1"/>
          </p:nvPr>
        </p:nvSpPr>
        <p:spPr>
          <a:xfrm>
            <a:off x="838200" y="1339403"/>
            <a:ext cx="10515600" cy="4837560"/>
          </a:xfrm>
        </p:spPr>
        <p:txBody>
          <a:bodyPr>
            <a:normAutofit fontScale="62500" lnSpcReduction="20000"/>
          </a:bodyPr>
          <a:lstStyle/>
          <a:p>
            <a:pPr marL="0" indent="0">
              <a:buNone/>
            </a:pPr>
            <a:r>
              <a:rPr lang="en-US" altLang="zh-TW" dirty="0" smtClean="0"/>
              <a:t>[Dieb95] F. X. Diebold and R. S. Mariano, "Comparing predictive accuracy," Journal of Business &amp; economic statistics, vol. 20, 1995.</a:t>
            </a:r>
          </a:p>
          <a:p>
            <a:pPr marL="0" indent="0">
              <a:buNone/>
            </a:pPr>
            <a:r>
              <a:rPr lang="en-US" altLang="zh-TW" dirty="0" smtClean="0"/>
              <a:t>[West96] K. D. West, "Asymptotic inference about predictive ability," </a:t>
            </a:r>
            <a:r>
              <a:rPr lang="en-US" altLang="zh-TW" dirty="0" err="1" smtClean="0"/>
              <a:t>Econometrica</a:t>
            </a:r>
            <a:r>
              <a:rPr lang="en-US" altLang="zh-TW" dirty="0" smtClean="0"/>
              <a:t>: Journal of the Econometric Society, pp. 1067-1084, 1996.</a:t>
            </a:r>
          </a:p>
          <a:p>
            <a:pPr marL="0" indent="0">
              <a:buNone/>
            </a:pPr>
            <a:r>
              <a:rPr lang="en-US" altLang="zh-TW" dirty="0" smtClean="0"/>
              <a:t>[Whit00] </a:t>
            </a:r>
            <a:r>
              <a:rPr lang="en-US" altLang="zh-TW" dirty="0" err="1" smtClean="0"/>
              <a:t>Halbert</a:t>
            </a:r>
            <a:r>
              <a:rPr lang="en-US" altLang="zh-TW" dirty="0" smtClean="0"/>
              <a:t> White,  “A REALITY CHECK FOR DATA SNOOPING,” </a:t>
            </a:r>
            <a:r>
              <a:rPr lang="en-US" altLang="zh-TW" i="1" dirty="0" err="1" smtClean="0"/>
              <a:t>Econometrica</a:t>
            </a:r>
            <a:r>
              <a:rPr lang="en-US" altLang="zh-TW" dirty="0" smtClean="0"/>
              <a:t>, Vol. 68, No. 5, pp. 1097-1126, 2000</a:t>
            </a:r>
          </a:p>
          <a:p>
            <a:pPr marL="0" indent="0">
              <a:buNone/>
            </a:pPr>
            <a:r>
              <a:rPr lang="en-US" altLang="zh-TW" dirty="0" smtClean="0"/>
              <a:t>[Roma05] Romano, J. P. and M. Wolf,.  “Stepwise multiple testing as formalized data snooping,” </a:t>
            </a:r>
            <a:r>
              <a:rPr lang="en-US" altLang="zh-TW" i="1" dirty="0" err="1" smtClean="0"/>
              <a:t>Econometrica</a:t>
            </a:r>
            <a:r>
              <a:rPr lang="en-US" altLang="zh-TW" dirty="0" smtClean="0"/>
              <a:t>, </a:t>
            </a:r>
            <a:r>
              <a:rPr lang="en-US" altLang="zh-TW" dirty="0" err="1" smtClean="0"/>
              <a:t>Vol</a:t>
            </a:r>
            <a:r>
              <a:rPr lang="en-US" altLang="zh-TW" dirty="0" smtClean="0"/>
              <a:t> . 73, pp. 1237–1282, 2005.</a:t>
            </a:r>
          </a:p>
          <a:p>
            <a:pPr marL="0" indent="0">
              <a:buNone/>
            </a:pPr>
            <a:r>
              <a:rPr lang="en-US" altLang="zh-TW" dirty="0" smtClean="0"/>
              <a:t>[Hans05] P.R. Hansen,  “A test for superior predictive ability, ” Journal of Business and Economic Statistics, Vol. 23, No. 4, pp. 365-380, 2005.</a:t>
            </a:r>
          </a:p>
          <a:p>
            <a:pPr marL="0" indent="0">
              <a:buNone/>
            </a:pPr>
            <a:r>
              <a:rPr lang="en-US" altLang="zh-TW" dirty="0" smtClean="0"/>
              <a:t>[Hans11] P</a:t>
            </a:r>
            <a:r>
              <a:rPr lang="en-US" altLang="zh-TW" dirty="0"/>
              <a:t>. R. Hansen, A. </a:t>
            </a:r>
            <a:r>
              <a:rPr lang="en-US" altLang="zh-TW" dirty="0" err="1"/>
              <a:t>Lunde</a:t>
            </a:r>
            <a:r>
              <a:rPr lang="en-US" altLang="zh-TW" dirty="0"/>
              <a:t>, and J. M. </a:t>
            </a:r>
            <a:r>
              <a:rPr lang="en-US" altLang="zh-TW" dirty="0" err="1"/>
              <a:t>Nason</a:t>
            </a:r>
            <a:r>
              <a:rPr lang="en-US" altLang="zh-TW" dirty="0"/>
              <a:t>, "The Model Confidence Set," </a:t>
            </a:r>
            <a:r>
              <a:rPr lang="en-US" altLang="zh-TW" i="1" dirty="0" err="1"/>
              <a:t>Econometrica</a:t>
            </a:r>
            <a:r>
              <a:rPr lang="en-US" altLang="zh-TW" i="1" dirty="0"/>
              <a:t>, </a:t>
            </a:r>
            <a:r>
              <a:rPr lang="en-US" altLang="zh-TW" dirty="0"/>
              <a:t>vol. 79, pp. 453-497, 2011</a:t>
            </a:r>
            <a:r>
              <a:rPr lang="en-US" altLang="zh-TW" dirty="0" smtClean="0"/>
              <a:t>.</a:t>
            </a:r>
          </a:p>
          <a:p>
            <a:pPr marL="0" indent="0">
              <a:buNone/>
            </a:pPr>
            <a:r>
              <a:rPr lang="en-US" altLang="zh-TW" dirty="0" smtClean="0"/>
              <a:t>[Hsu10] Po-</a:t>
            </a:r>
            <a:r>
              <a:rPr lang="en-US" altLang="zh-TW" dirty="0" err="1" smtClean="0"/>
              <a:t>Hsuan</a:t>
            </a:r>
            <a:r>
              <a:rPr lang="en-US" altLang="zh-TW" dirty="0" smtClean="0"/>
              <a:t> Hsu , Yu-Chin </a:t>
            </a:r>
            <a:r>
              <a:rPr lang="en-US" altLang="zh-TW" dirty="0" err="1" smtClean="0"/>
              <a:t>Hsub</a:t>
            </a:r>
            <a:r>
              <a:rPr lang="en-US" altLang="zh-TW" dirty="0" smtClean="0"/>
              <a:t>, Chung-Ming </a:t>
            </a:r>
            <a:r>
              <a:rPr lang="en-US" altLang="zh-TW" dirty="0" err="1" smtClean="0"/>
              <a:t>Kuan</a:t>
            </a:r>
            <a:r>
              <a:rPr lang="en-US" altLang="zh-TW" dirty="0" smtClean="0"/>
              <a:t>, “Testing the predictive ability of technical analysis using a new stepwise test without data snooping bias,” </a:t>
            </a:r>
            <a:r>
              <a:rPr lang="en-US" altLang="zh-TW" i="1" dirty="0" smtClean="0"/>
              <a:t>Journal of Empirical Finance</a:t>
            </a:r>
            <a:r>
              <a:rPr lang="en-US" altLang="zh-TW" dirty="0" smtClean="0"/>
              <a:t>, Vol. 17, pp. 471-484, 2010.</a:t>
            </a:r>
          </a:p>
          <a:p>
            <a:pPr marL="0" indent="0">
              <a:buNone/>
            </a:pPr>
            <a:r>
              <a:rPr lang="en-US" altLang="zh-TW" dirty="0" smtClean="0"/>
              <a:t>[Clar12] T</a:t>
            </a:r>
            <a:r>
              <a:rPr lang="en-US" altLang="zh-TW" dirty="0"/>
              <a:t>. E. Clark and M. W. McCracken, "Reality checks and comparisons of nested predictive models," </a:t>
            </a:r>
            <a:r>
              <a:rPr lang="en-US" altLang="zh-TW" i="1" dirty="0"/>
              <a:t>Journal of Business &amp; Economic Statistics, </a:t>
            </a:r>
            <a:r>
              <a:rPr lang="en-US" altLang="zh-TW" dirty="0"/>
              <a:t>vol. 30, 2012</a:t>
            </a:r>
            <a:r>
              <a:rPr lang="en-US" altLang="zh-TW" dirty="0" smtClean="0"/>
              <a:t>.</a:t>
            </a:r>
          </a:p>
          <a:p>
            <a:pPr marL="0" indent="0">
              <a:buNone/>
            </a:pPr>
            <a:r>
              <a:rPr lang="en-US" altLang="zh-TW" dirty="0" smtClean="0"/>
              <a:t>[Mari12] R</a:t>
            </a:r>
            <a:r>
              <a:rPr lang="en-US" altLang="zh-TW" dirty="0"/>
              <a:t>. S. Mariano and D. </a:t>
            </a:r>
            <a:r>
              <a:rPr lang="en-US" altLang="zh-TW" dirty="0" err="1"/>
              <a:t>Preve</a:t>
            </a:r>
            <a:r>
              <a:rPr lang="en-US" altLang="zh-TW" dirty="0"/>
              <a:t>, "Statistical tests for multiple forecast comparison," </a:t>
            </a:r>
            <a:r>
              <a:rPr lang="en-US" altLang="zh-TW" i="1" dirty="0"/>
              <a:t>Journal of Econometrics, </a:t>
            </a:r>
            <a:r>
              <a:rPr lang="en-US" altLang="zh-TW" dirty="0"/>
              <a:t>vol. 169, pp. 123-130, 7// 2012.</a:t>
            </a:r>
            <a:endParaRPr lang="zh-TW" altLang="zh-TW" dirty="0"/>
          </a:p>
          <a:p>
            <a:pPr marL="0" indent="0">
              <a:buNone/>
            </a:pPr>
            <a:endParaRPr lang="zh-TW" altLang="zh-TW" dirty="0"/>
          </a:p>
          <a:p>
            <a:pPr marL="0" indent="0">
              <a:buNone/>
            </a:pPr>
            <a:endParaRPr lang="en-US" altLang="zh-TW" dirty="0" smtClean="0"/>
          </a:p>
          <a:p>
            <a:pPr marL="0" indent="0">
              <a:buNone/>
            </a:pPr>
            <a:endParaRPr lang="en-US" altLang="zh-TW" dirty="0" smtClean="0">
              <a:solidFill>
                <a:srgbClr val="FF0000"/>
              </a:solidFill>
            </a:endParaRPr>
          </a:p>
        </p:txBody>
      </p:sp>
    </p:spTree>
    <p:extLst>
      <p:ext uri="{BB962C8B-B14F-4D97-AF65-F5344CB8AC3E}">
        <p14:creationId xmlns:p14="http://schemas.microsoft.com/office/powerpoint/2010/main" val="14666689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Data snooping bias</a:t>
            </a:r>
            <a:endParaRPr lang="zh-TW" altLang="en-US" dirty="0"/>
          </a:p>
        </p:txBody>
      </p:sp>
      <p:sp>
        <p:nvSpPr>
          <p:cNvPr id="3" name="內容版面配置區 2"/>
          <p:cNvSpPr>
            <a:spLocks noGrp="1"/>
          </p:cNvSpPr>
          <p:nvPr>
            <p:ph idx="1"/>
          </p:nvPr>
        </p:nvSpPr>
        <p:spPr/>
        <p:txBody>
          <a:bodyPr/>
          <a:lstStyle/>
          <a:p>
            <a:pPr marL="0" indent="0">
              <a:buNone/>
            </a:pPr>
            <a:r>
              <a:rPr lang="en-US" altLang="zh-TW" u="sng" dirty="0" smtClean="0">
                <a:solidFill>
                  <a:srgbClr val="FF0000"/>
                </a:solidFill>
              </a:rPr>
              <a:t>Data snooping </a:t>
            </a:r>
            <a:r>
              <a:rPr lang="en-US" altLang="zh-TW" dirty="0" smtClean="0">
                <a:solidFill>
                  <a:srgbClr val="FF0000"/>
                </a:solidFill>
              </a:rPr>
              <a:t>occurs when a given set of data is used more than once for purposes of inference or model selection.</a:t>
            </a:r>
            <a:r>
              <a:rPr lang="en-US" altLang="zh-TW" dirty="0" smtClean="0"/>
              <a:t> When such data reuse occurs, there is always the possibility that any satisfactory results obtained may simply be due to chance rather than to any merit inherent in the method yielding the results.</a:t>
            </a:r>
            <a:endParaRPr lang="zh-TW" altLang="en-US" dirty="0" smtClean="0"/>
          </a:p>
        </p:txBody>
      </p:sp>
      <p:sp>
        <p:nvSpPr>
          <p:cNvPr id="4" name="投影片編號版面配置區 3"/>
          <p:cNvSpPr>
            <a:spLocks noGrp="1"/>
          </p:cNvSpPr>
          <p:nvPr>
            <p:ph type="sldNum" sz="quarter" idx="12"/>
          </p:nvPr>
        </p:nvSpPr>
        <p:spPr/>
        <p:txBody>
          <a:bodyPr/>
          <a:lstStyle/>
          <a:p>
            <a:fld id="{ECE2D449-FE15-4C98-AE90-32963C8A7493}" type="slidenum">
              <a:rPr lang="zh-TW" altLang="en-US" smtClean="0"/>
              <a:t>5</a:t>
            </a:fld>
            <a:endParaRPr lang="zh-TW" altLang="en-US"/>
          </a:p>
        </p:txBody>
      </p:sp>
    </p:spTree>
    <p:extLst>
      <p:ext uri="{BB962C8B-B14F-4D97-AF65-F5344CB8AC3E}">
        <p14:creationId xmlns:p14="http://schemas.microsoft.com/office/powerpoint/2010/main" val="623301415"/>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Data snooping bias</a:t>
            </a:r>
            <a:endParaRPr lang="zh-TW" altLang="en-US" dirty="0"/>
          </a:p>
        </p:txBody>
      </p:sp>
      <p:sp>
        <p:nvSpPr>
          <p:cNvPr id="4" name="內容版面配置區 2"/>
          <p:cNvSpPr>
            <a:spLocks noGrp="1"/>
          </p:cNvSpPr>
          <p:nvPr>
            <p:ph idx="1"/>
          </p:nvPr>
        </p:nvSpPr>
        <p:spPr/>
        <p:txBody>
          <a:bodyPr>
            <a:normAutofit/>
          </a:bodyPr>
          <a:lstStyle/>
          <a:p>
            <a:pPr>
              <a:buSzPts val="2800"/>
              <a:buFont typeface="Arial"/>
              <a:buChar char="•"/>
            </a:pPr>
            <a:r>
              <a:rPr lang="zh-TW" altLang="en-US" dirty="0">
                <a:solidFill>
                  <a:srgbClr val="000000"/>
                </a:solidFill>
                <a:latin typeface="微軟正黑體"/>
                <a:ea typeface="微軟正黑體"/>
              </a:rPr>
              <a:t>由於財務資料難以重複實驗的侷限性，個別的研究者通常利用相同的資料進行研究，卻忽略了將這種重複利用相同資料進行研究，所產生對資料的過度推論或是推論錯誤，稱為 資料窺探</a:t>
            </a:r>
            <a:r>
              <a:rPr lang="en-US" altLang="zh-TW" dirty="0">
                <a:solidFill>
                  <a:srgbClr val="000000"/>
                </a:solidFill>
                <a:latin typeface="微軟正黑體"/>
                <a:ea typeface="微軟正黑體"/>
              </a:rPr>
              <a:t>(data </a:t>
            </a:r>
            <a:r>
              <a:rPr lang="en-US" altLang="zh-TW" dirty="0" err="1">
                <a:solidFill>
                  <a:srgbClr val="000000"/>
                </a:solidFill>
                <a:latin typeface="微軟正黑體"/>
                <a:ea typeface="微軟正黑體"/>
              </a:rPr>
              <a:t>snopping</a:t>
            </a:r>
            <a:r>
              <a:rPr lang="en-US" altLang="zh-TW" dirty="0">
                <a:solidFill>
                  <a:srgbClr val="000000"/>
                </a:solidFill>
                <a:latin typeface="微軟正黑體"/>
                <a:ea typeface="微軟正黑體"/>
              </a:rPr>
              <a:t>)</a:t>
            </a:r>
            <a:r>
              <a:rPr lang="zh-TW" altLang="en-US" dirty="0">
                <a:solidFill>
                  <a:srgbClr val="000000"/>
                </a:solidFill>
                <a:latin typeface="微軟正黑體"/>
                <a:ea typeface="微軟正黑體"/>
              </a:rPr>
              <a:t>問題。</a:t>
            </a:r>
          </a:p>
          <a:p>
            <a:endParaRPr lang="zh-TW" altLang="en-US" dirty="0">
              <a:solidFill>
                <a:srgbClr val="000000"/>
              </a:solidFill>
              <a:latin typeface="微軟正黑體"/>
              <a:ea typeface="微軟正黑體"/>
            </a:endParaRPr>
          </a:p>
          <a:p>
            <a:pPr>
              <a:buSzPts val="2800"/>
              <a:buFont typeface="Arial"/>
              <a:buChar char="•"/>
            </a:pPr>
            <a:r>
              <a:rPr lang="zh-TW" altLang="en-US" dirty="0">
                <a:solidFill>
                  <a:srgbClr val="000000"/>
                </a:solidFill>
                <a:latin typeface="微軟正黑體"/>
                <a:ea typeface="微軟正黑體"/>
              </a:rPr>
              <a:t>當模型</a:t>
            </a:r>
            <a:r>
              <a:rPr lang="en-US" altLang="zh-TW" dirty="0">
                <a:solidFill>
                  <a:srgbClr val="000000"/>
                </a:solidFill>
                <a:latin typeface="微軟正黑體"/>
                <a:ea typeface="微軟正黑體"/>
              </a:rPr>
              <a:t>(</a:t>
            </a:r>
            <a:r>
              <a:rPr lang="zh-TW" altLang="en-US" dirty="0" smtClean="0">
                <a:solidFill>
                  <a:srgbClr val="000000"/>
                </a:solidFill>
                <a:latin typeface="微軟正黑體"/>
                <a:ea typeface="微軟正黑體"/>
              </a:rPr>
              <a:t>基金、股票或</a:t>
            </a:r>
            <a:r>
              <a:rPr lang="zh-TW" altLang="en-US" dirty="0">
                <a:solidFill>
                  <a:srgbClr val="000000"/>
                </a:solidFill>
                <a:latin typeface="微軟正黑體"/>
                <a:ea typeface="微軟正黑體"/>
              </a:rPr>
              <a:t>交易</a:t>
            </a:r>
            <a:r>
              <a:rPr lang="zh-TW" altLang="en-US" dirty="0" smtClean="0">
                <a:solidFill>
                  <a:srgbClr val="000000"/>
                </a:solidFill>
                <a:latin typeface="微軟正黑體"/>
                <a:ea typeface="微軟正黑體"/>
              </a:rPr>
              <a:t>策略或是預測模型</a:t>
            </a:r>
            <a:r>
              <a:rPr lang="en-US" altLang="zh-TW" dirty="0" smtClean="0">
                <a:solidFill>
                  <a:srgbClr val="000000"/>
                </a:solidFill>
                <a:latin typeface="微軟正黑體"/>
                <a:ea typeface="微軟正黑體"/>
              </a:rPr>
              <a:t>)</a:t>
            </a:r>
            <a:r>
              <a:rPr lang="zh-TW" altLang="en-US" dirty="0">
                <a:solidFill>
                  <a:srgbClr val="000000"/>
                </a:solidFill>
                <a:latin typeface="微軟正黑體"/>
                <a:ea typeface="微軟正黑體"/>
              </a:rPr>
              <a:t>數目眾多時，因</a:t>
            </a:r>
            <a:r>
              <a:rPr lang="en-US" altLang="zh-TW" dirty="0">
                <a:solidFill>
                  <a:srgbClr val="000000"/>
                </a:solidFill>
                <a:latin typeface="微軟正黑體"/>
                <a:ea typeface="微軟正黑體"/>
              </a:rPr>
              <a:t>data</a:t>
            </a:r>
            <a:r>
              <a:rPr lang="zh-TW" altLang="en-US" dirty="0">
                <a:solidFill>
                  <a:srgbClr val="000000"/>
                </a:solidFill>
                <a:latin typeface="微軟正黑體"/>
                <a:ea typeface="微軟正黑體"/>
              </a:rPr>
              <a:t> </a:t>
            </a:r>
            <a:r>
              <a:rPr lang="en-US" altLang="zh-TW" dirty="0">
                <a:solidFill>
                  <a:srgbClr val="000000"/>
                </a:solidFill>
                <a:latin typeface="微軟正黑體"/>
                <a:ea typeface="微軟正黑體"/>
              </a:rPr>
              <a:t>snooping</a:t>
            </a:r>
            <a:r>
              <a:rPr lang="zh-TW" altLang="en-US" dirty="0">
                <a:solidFill>
                  <a:srgbClr val="000000"/>
                </a:solidFill>
                <a:latin typeface="微軟正黑體"/>
                <a:ea typeface="微軟正黑體"/>
              </a:rPr>
              <a:t>而產生的偏誤會更加嚴重</a:t>
            </a:r>
            <a:endParaRPr lang="zh-TW" altLang="en-US" dirty="0"/>
          </a:p>
        </p:txBody>
      </p:sp>
      <p:sp>
        <p:nvSpPr>
          <p:cNvPr id="5" name="投影片編號版面配置區 4"/>
          <p:cNvSpPr>
            <a:spLocks noGrp="1"/>
          </p:cNvSpPr>
          <p:nvPr>
            <p:ph type="sldNum" sz="quarter" idx="12"/>
          </p:nvPr>
        </p:nvSpPr>
        <p:spPr/>
        <p:txBody>
          <a:bodyPr/>
          <a:lstStyle/>
          <a:p>
            <a:fld id="{ECE2D449-FE15-4C98-AE90-32963C8A7493}" type="slidenum">
              <a:rPr lang="zh-TW" altLang="en-US" smtClean="0"/>
              <a:t>6</a:t>
            </a:fld>
            <a:endParaRPr lang="zh-TW" altLang="en-US"/>
          </a:p>
        </p:txBody>
      </p:sp>
    </p:spTree>
    <p:extLst>
      <p:ext uri="{BB962C8B-B14F-4D97-AF65-F5344CB8AC3E}">
        <p14:creationId xmlns:p14="http://schemas.microsoft.com/office/powerpoint/2010/main" val="2257846567"/>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ea typeface="微軟正黑體" pitchFamily="34" charset="-120"/>
              </a:rPr>
              <a:t>Hypothesis test</a:t>
            </a:r>
            <a:endParaRPr lang="zh-TW" altLang="en-US" dirty="0">
              <a:ea typeface="微軟正黑體" pitchFamily="34" charset="-120"/>
            </a:endParaRPr>
          </a:p>
        </p:txBody>
      </p:sp>
      <mc:AlternateContent xmlns:mc="http://schemas.openxmlformats.org/markup-compatibility/2006" xmlns:a14="http://schemas.microsoft.com/office/drawing/2010/main">
        <mc:Choice Requires="a14">
          <p:sp>
            <p:nvSpPr>
              <p:cNvPr id="7" name="矩形 6"/>
              <p:cNvSpPr/>
              <p:nvPr/>
            </p:nvSpPr>
            <p:spPr>
              <a:xfrm>
                <a:off x="2791245" y="1788687"/>
                <a:ext cx="6192688" cy="1169551"/>
              </a:xfrm>
              <a:prstGeom prst="rect">
                <a:avLst/>
              </a:prstGeom>
            </p:spPr>
            <p:txBody>
              <a:bodyPr wrap="square">
                <a:spAutoFit/>
              </a:bodyPr>
              <a:lstStyle/>
              <a:p>
                <a:pPr algn="ctr">
                  <a:lnSpc>
                    <a:spcPct val="125000"/>
                  </a:lnSpc>
                </a:pPr>
                <a14:m>
                  <m:oMathPara xmlns:m="http://schemas.openxmlformats.org/officeDocument/2006/math">
                    <m:oMathParaPr>
                      <m:jc m:val="centerGroup"/>
                    </m:oMathParaPr>
                    <m:oMath xmlns:m="http://schemas.openxmlformats.org/officeDocument/2006/math">
                      <m:sSub>
                        <m:sSubPr>
                          <m:ctrlPr>
                            <a:rPr lang="zh-TW" altLang="zh-TW" sz="2800" i="1">
                              <a:latin typeface="Cambria Math"/>
                            </a:rPr>
                          </m:ctrlPr>
                        </m:sSubPr>
                        <m:e>
                          <m:r>
                            <a:rPr lang="en-US" altLang="zh-TW" sz="2800" i="1">
                              <a:latin typeface="Cambria Math"/>
                            </a:rPr>
                            <m:t>𝐻</m:t>
                          </m:r>
                        </m:e>
                        <m:sub>
                          <m:r>
                            <a:rPr lang="en-US" altLang="zh-TW" sz="2800" i="1">
                              <a:latin typeface="Cambria Math"/>
                            </a:rPr>
                            <m:t>0</m:t>
                          </m:r>
                        </m:sub>
                      </m:sSub>
                      <m:r>
                        <a:rPr lang="en-US" altLang="zh-TW" sz="2800" i="1">
                          <a:latin typeface="Cambria Math"/>
                        </a:rPr>
                        <m:t>:</m:t>
                      </m:r>
                      <m:sSub>
                        <m:sSubPr>
                          <m:ctrlPr>
                            <a:rPr lang="en-US" altLang="zh-TW" sz="2800" i="1">
                              <a:latin typeface="Cambria Math"/>
                            </a:rPr>
                          </m:ctrlPr>
                        </m:sSubPr>
                        <m:e>
                          <m:r>
                            <a:rPr lang="en-US" altLang="zh-TW" sz="2800" i="1">
                              <a:latin typeface="Cambria Math"/>
                            </a:rPr>
                            <m:t>𝜇</m:t>
                          </m:r>
                        </m:e>
                        <m:sub>
                          <m:r>
                            <a:rPr lang="en-US" altLang="zh-TW" sz="2800" i="1">
                              <a:latin typeface="Cambria Math"/>
                            </a:rPr>
                            <m:t>𝐷</m:t>
                          </m:r>
                        </m:sub>
                      </m:sSub>
                      <m:r>
                        <a:rPr lang="en-US" altLang="zh-TW" sz="2800" i="1">
                          <a:latin typeface="Cambria Math"/>
                        </a:rPr>
                        <m:t>=</m:t>
                      </m:r>
                      <m:r>
                        <a:rPr lang="en-US" altLang="zh-TW" sz="2800" i="1">
                          <a:latin typeface="Cambria Math"/>
                        </a:rPr>
                        <m:t>𝐷</m:t>
                      </m:r>
                      <m:r>
                        <a:rPr lang="en-US" altLang="zh-TW" sz="2800">
                          <a:latin typeface="Cambria Math"/>
                        </a:rPr>
                        <m:t> (</m:t>
                      </m:r>
                      <m:r>
                        <m:rPr>
                          <m:sty m:val="p"/>
                        </m:rPr>
                        <a:rPr lang="en-US" altLang="zh-TW" sz="2800">
                          <a:latin typeface="Cambria Math"/>
                        </a:rPr>
                        <m:t>or</m:t>
                      </m:r>
                      <m:r>
                        <a:rPr lang="en-US" altLang="zh-TW" sz="2800">
                          <a:latin typeface="Cambria Math"/>
                        </a:rPr>
                        <m:t> </m:t>
                      </m:r>
                      <m:sSub>
                        <m:sSubPr>
                          <m:ctrlPr>
                            <a:rPr lang="en-US" altLang="zh-TW" sz="2800" i="1">
                              <a:latin typeface="Cambria Math"/>
                            </a:rPr>
                          </m:ctrlPr>
                        </m:sSubPr>
                        <m:e>
                          <m:r>
                            <a:rPr lang="en-US" altLang="zh-TW" sz="2800" i="1">
                              <a:latin typeface="Cambria Math"/>
                            </a:rPr>
                            <m:t>𝜇</m:t>
                          </m:r>
                        </m:e>
                        <m:sub>
                          <m:r>
                            <a:rPr lang="en-US" altLang="zh-TW" sz="2800" i="1">
                              <a:latin typeface="Cambria Math"/>
                            </a:rPr>
                            <m:t>𝐷</m:t>
                          </m:r>
                        </m:sub>
                      </m:sSub>
                      <m:r>
                        <a:rPr lang="en-US" altLang="zh-TW" sz="2800" i="1">
                          <a:latin typeface="Cambria Math"/>
                        </a:rPr>
                        <m:t>≥0</m:t>
                      </m:r>
                      <m:r>
                        <a:rPr lang="en-US" altLang="zh-TW" sz="2800">
                          <a:latin typeface="Cambria Math"/>
                        </a:rPr>
                        <m:t>, </m:t>
                      </m:r>
                      <m:sSub>
                        <m:sSubPr>
                          <m:ctrlPr>
                            <a:rPr lang="en-US" altLang="zh-TW" sz="2800" i="1">
                              <a:latin typeface="Cambria Math"/>
                            </a:rPr>
                          </m:ctrlPr>
                        </m:sSubPr>
                        <m:e>
                          <m:r>
                            <a:rPr lang="en-US" altLang="zh-TW" sz="2800" i="1">
                              <a:latin typeface="Cambria Math"/>
                            </a:rPr>
                            <m:t>𝜇</m:t>
                          </m:r>
                        </m:e>
                        <m:sub>
                          <m:r>
                            <a:rPr lang="en-US" altLang="zh-TW" sz="2800" i="1">
                              <a:latin typeface="Cambria Math"/>
                            </a:rPr>
                            <m:t>𝐷</m:t>
                          </m:r>
                        </m:sub>
                      </m:sSub>
                      <m:r>
                        <a:rPr lang="en-US" altLang="zh-TW" sz="2800" i="1">
                          <a:latin typeface="Cambria Math"/>
                        </a:rPr>
                        <m:t>≤0)</m:t>
                      </m:r>
                    </m:oMath>
                  </m:oMathPara>
                </a14:m>
                <a:endParaRPr lang="zh-TW" altLang="zh-TW" sz="2800" dirty="0"/>
              </a:p>
              <a:p>
                <a:pPr algn="ctr">
                  <a:lnSpc>
                    <a:spcPct val="125000"/>
                  </a:lnSpc>
                </a:pPr>
                <a14:m>
                  <m:oMathPara xmlns:m="http://schemas.openxmlformats.org/officeDocument/2006/math">
                    <m:oMathParaPr>
                      <m:jc m:val="centerGroup"/>
                    </m:oMathParaPr>
                    <m:oMath xmlns:m="http://schemas.openxmlformats.org/officeDocument/2006/math">
                      <m:sSub>
                        <m:sSubPr>
                          <m:ctrlPr>
                            <a:rPr lang="en-US" altLang="zh-TW" sz="2800" i="1">
                              <a:latin typeface="Cambria Math"/>
                            </a:rPr>
                          </m:ctrlPr>
                        </m:sSubPr>
                        <m:e>
                          <m:r>
                            <a:rPr lang="en-US" altLang="zh-TW" sz="2800" i="1">
                              <a:latin typeface="Cambria Math"/>
                            </a:rPr>
                            <m:t>𝐻</m:t>
                          </m:r>
                        </m:e>
                        <m:sub>
                          <m:r>
                            <a:rPr lang="en-US" altLang="zh-TW" sz="2800" i="1">
                              <a:latin typeface="Cambria Math"/>
                            </a:rPr>
                            <m:t>1</m:t>
                          </m:r>
                        </m:sub>
                      </m:sSub>
                      <m:r>
                        <a:rPr lang="en-US" altLang="zh-TW" sz="2800" i="1">
                          <a:latin typeface="Cambria Math"/>
                        </a:rPr>
                        <m:t>:</m:t>
                      </m:r>
                      <m:sSub>
                        <m:sSubPr>
                          <m:ctrlPr>
                            <a:rPr lang="en-US" altLang="zh-TW" sz="2800" i="1">
                              <a:latin typeface="Cambria Math"/>
                            </a:rPr>
                          </m:ctrlPr>
                        </m:sSubPr>
                        <m:e>
                          <m:r>
                            <a:rPr lang="en-US" altLang="zh-TW" sz="2800" i="1">
                              <a:latin typeface="Cambria Math"/>
                            </a:rPr>
                            <m:t>𝜇</m:t>
                          </m:r>
                        </m:e>
                        <m:sub>
                          <m:r>
                            <a:rPr lang="en-US" altLang="zh-TW" sz="2800" i="1">
                              <a:latin typeface="Cambria Math"/>
                            </a:rPr>
                            <m:t>𝐷</m:t>
                          </m:r>
                        </m:sub>
                      </m:sSub>
                      <m:r>
                        <a:rPr lang="en-US" altLang="zh-TW" sz="2800" i="1">
                          <a:latin typeface="Cambria Math"/>
                        </a:rPr>
                        <m:t>≠</m:t>
                      </m:r>
                      <m:r>
                        <a:rPr lang="en-US" altLang="zh-TW" sz="2800" i="1">
                          <a:latin typeface="Cambria Math"/>
                        </a:rPr>
                        <m:t>𝐷</m:t>
                      </m:r>
                      <m:r>
                        <a:rPr lang="en-US" altLang="zh-TW" sz="2800" i="1">
                          <a:latin typeface="Cambria Math"/>
                        </a:rPr>
                        <m:t> (</m:t>
                      </m:r>
                      <m:r>
                        <a:rPr lang="en-US" altLang="zh-TW" sz="2800" i="1">
                          <a:latin typeface="Cambria Math"/>
                        </a:rPr>
                        <m:t>𝑜𝑟</m:t>
                      </m:r>
                      <m:r>
                        <a:rPr lang="en-US" altLang="zh-TW" sz="2800" i="1">
                          <a:latin typeface="Cambria Math"/>
                        </a:rPr>
                        <m:t> </m:t>
                      </m:r>
                      <m:sSub>
                        <m:sSubPr>
                          <m:ctrlPr>
                            <a:rPr lang="en-US" altLang="zh-TW" sz="2800" i="1">
                              <a:latin typeface="Cambria Math"/>
                            </a:rPr>
                          </m:ctrlPr>
                        </m:sSubPr>
                        <m:e>
                          <m:r>
                            <a:rPr lang="en-US" altLang="zh-TW" sz="2800" i="1">
                              <a:latin typeface="Cambria Math"/>
                            </a:rPr>
                            <m:t>𝑢</m:t>
                          </m:r>
                        </m:e>
                        <m:sub>
                          <m:r>
                            <a:rPr lang="en-US" altLang="zh-TW" sz="2800" i="1">
                              <a:latin typeface="Cambria Math"/>
                            </a:rPr>
                            <m:t>𝐷</m:t>
                          </m:r>
                        </m:sub>
                      </m:sSub>
                      <m:r>
                        <a:rPr lang="en-US" altLang="zh-TW" sz="2800" i="1">
                          <a:latin typeface="Cambria Math"/>
                        </a:rPr>
                        <m:t>&lt;0, </m:t>
                      </m:r>
                      <m:sSub>
                        <m:sSubPr>
                          <m:ctrlPr>
                            <a:rPr lang="en-US" altLang="zh-TW" sz="2800" i="1">
                              <a:latin typeface="Cambria Math"/>
                            </a:rPr>
                          </m:ctrlPr>
                        </m:sSubPr>
                        <m:e>
                          <m:r>
                            <a:rPr lang="en-US" altLang="zh-TW" sz="2800" i="1">
                              <a:latin typeface="Cambria Math"/>
                            </a:rPr>
                            <m:t>𝜇</m:t>
                          </m:r>
                        </m:e>
                        <m:sub>
                          <m:r>
                            <a:rPr lang="en-US" altLang="zh-TW" sz="2800" i="1">
                              <a:latin typeface="Cambria Math"/>
                            </a:rPr>
                            <m:t>𝐷</m:t>
                          </m:r>
                        </m:sub>
                      </m:sSub>
                      <m:r>
                        <a:rPr lang="en-US" altLang="zh-TW" sz="2800" i="1">
                          <a:latin typeface="Cambria Math"/>
                        </a:rPr>
                        <m:t>&gt;0)</m:t>
                      </m:r>
                    </m:oMath>
                  </m:oMathPara>
                </a14:m>
                <a:endParaRPr lang="zh-TW" altLang="en-US" sz="2800" dirty="0"/>
              </a:p>
            </p:txBody>
          </p:sp>
        </mc:Choice>
        <mc:Fallback xmlns="">
          <p:sp>
            <p:nvSpPr>
              <p:cNvPr id="7" name="矩形 6"/>
              <p:cNvSpPr>
                <a:spLocks noRot="1" noChangeAspect="1" noMove="1" noResize="1" noEditPoints="1" noAdjustHandles="1" noChangeArrowheads="1" noChangeShapeType="1" noTextEdit="1"/>
              </p:cNvSpPr>
              <p:nvPr/>
            </p:nvSpPr>
            <p:spPr>
              <a:xfrm>
                <a:off x="2791245" y="1788687"/>
                <a:ext cx="6192688" cy="1169551"/>
              </a:xfrm>
              <a:prstGeom prst="rect">
                <a:avLst/>
              </a:prstGeom>
              <a:blipFill rotWithShape="0">
                <a:blip r:embed="rId2"/>
                <a:stretch>
                  <a:fillRect/>
                </a:stretch>
              </a:blipFill>
            </p:spPr>
            <p:txBody>
              <a:bodyPr/>
              <a:lstStyle/>
              <a:p>
                <a:r>
                  <a:rPr lang="zh-TW" altLang="en-US">
                    <a:noFill/>
                  </a:rPr>
                  <a:t> </a:t>
                </a:r>
              </a:p>
            </p:txBody>
          </p:sp>
        </mc:Fallback>
      </mc:AlternateContent>
      <p:pic>
        <p:nvPicPr>
          <p:cNvPr id="5" name="圖片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152990" y="3195041"/>
            <a:ext cx="5707674" cy="3565534"/>
          </a:xfrm>
          <a:prstGeom prst="rect">
            <a:avLst/>
          </a:prstGeom>
        </p:spPr>
      </p:pic>
    </p:spTree>
    <p:extLst>
      <p:ext uri="{BB962C8B-B14F-4D97-AF65-F5344CB8AC3E}">
        <p14:creationId xmlns:p14="http://schemas.microsoft.com/office/powerpoint/2010/main" val="760404715"/>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p:nvPr>
        </p:nvSpPr>
        <p:spPr>
          <a:xfrm>
            <a:off x="1981199" y="116632"/>
            <a:ext cx="8229600" cy="1143000"/>
          </a:xfrm>
        </p:spPr>
        <p:txBody>
          <a:bodyPr>
            <a:normAutofit/>
          </a:bodyPr>
          <a:lstStyle/>
          <a:p>
            <a:r>
              <a:rPr lang="en-US" altLang="zh-TW" kern="150" dirty="0"/>
              <a:t>Hypothesis </a:t>
            </a:r>
            <a:r>
              <a:rPr lang="en-US" altLang="zh-TW" kern="150" dirty="0" smtClean="0"/>
              <a:t>test</a:t>
            </a:r>
            <a:endParaRPr lang="zh-TW" altLang="en-US" dirty="0"/>
          </a:p>
        </p:txBody>
      </p:sp>
      <p:sp>
        <p:nvSpPr>
          <p:cNvPr id="2" name="投影片編號版面配置區 1"/>
          <p:cNvSpPr>
            <a:spLocks noGrp="1"/>
          </p:cNvSpPr>
          <p:nvPr>
            <p:ph type="sldNum" sz="quarter" idx="12"/>
          </p:nvPr>
        </p:nvSpPr>
        <p:spPr/>
        <p:txBody>
          <a:bodyPr/>
          <a:lstStyle/>
          <a:p>
            <a:fld id="{ECE2D449-FE15-4C98-AE90-32963C8A7493}" type="slidenum">
              <a:rPr lang="zh-TW" altLang="en-US" smtClean="0"/>
              <a:t>8</a:t>
            </a:fld>
            <a:endParaRPr lang="zh-TW" altLang="en-US"/>
          </a:p>
        </p:txBody>
      </p:sp>
      <p:graphicFrame>
        <p:nvGraphicFramePr>
          <p:cNvPr id="3" name="表格 2"/>
          <p:cNvGraphicFramePr>
            <a:graphicFrameLocks noGrp="1"/>
          </p:cNvGraphicFramePr>
          <p:nvPr>
            <p:extLst>
              <p:ext uri="{D42A27DB-BD31-4B8C-83A1-F6EECF244321}">
                <p14:modId xmlns:p14="http://schemas.microsoft.com/office/powerpoint/2010/main" val="3822524768"/>
              </p:ext>
            </p:extLst>
          </p:nvPr>
        </p:nvGraphicFramePr>
        <p:xfrm>
          <a:off x="669701" y="2202903"/>
          <a:ext cx="10856892" cy="4083304"/>
        </p:xfrm>
        <a:graphic>
          <a:graphicData uri="http://schemas.openxmlformats.org/drawingml/2006/table">
            <a:tbl>
              <a:tblPr>
                <a:tableStyleId>{775DCB02-9BB8-47FD-8907-85C794F793BA}</a:tableStyleId>
              </a:tblPr>
              <a:tblGrid>
                <a:gridCol w="2279916"/>
                <a:gridCol w="1628587"/>
                <a:gridCol w="3406226"/>
                <a:gridCol w="3542163"/>
              </a:tblGrid>
              <a:tr h="396875">
                <a:tc rowSpan="2" gridSpan="2">
                  <a:txBody>
                    <a:bodyPr/>
                    <a:lstStyle/>
                    <a:p>
                      <a:pPr algn="ctr">
                        <a:lnSpc>
                          <a:spcPct val="130000"/>
                        </a:lnSpc>
                        <a:spcAft>
                          <a:spcPts val="0"/>
                        </a:spcAft>
                      </a:pPr>
                      <a:endParaRPr lang="zh-TW" sz="2400" kern="150" dirty="0">
                        <a:effectLst/>
                        <a:latin typeface="微軟正黑體" pitchFamily="34" charset="-120"/>
                        <a:ea typeface="微軟正黑體" pitchFamily="34" charset="-120"/>
                        <a:cs typeface="Lohit Hindi"/>
                      </a:endParaRPr>
                    </a:p>
                  </a:txBody>
                  <a:tcPr marL="34925" marR="34925" marT="34925" marB="34925" anchor="ctr"/>
                </a:tc>
                <a:tc rowSpan="2" hMerge="1">
                  <a:txBody>
                    <a:bodyPr/>
                    <a:lstStyle/>
                    <a:p>
                      <a:endParaRPr lang="zh-TW" altLang="en-US"/>
                    </a:p>
                  </a:txBody>
                  <a:tcPr/>
                </a:tc>
                <a:tc gridSpan="2">
                  <a:txBody>
                    <a:bodyPr/>
                    <a:lstStyle/>
                    <a:p>
                      <a:pPr algn="ctr">
                        <a:lnSpc>
                          <a:spcPct val="130000"/>
                        </a:lnSpc>
                        <a:spcAft>
                          <a:spcPts val="0"/>
                        </a:spcAft>
                      </a:pPr>
                      <a:r>
                        <a:rPr lang="en-US" sz="2400" kern="150" dirty="0">
                          <a:solidFill>
                            <a:srgbClr val="FF0000"/>
                          </a:solidFill>
                          <a:effectLst/>
                          <a:latin typeface="微軟正黑體" pitchFamily="34" charset="-120"/>
                          <a:ea typeface="微軟正黑體" pitchFamily="34" charset="-120"/>
                        </a:rPr>
                        <a:t>Null Hypothesis H</a:t>
                      </a:r>
                      <a:r>
                        <a:rPr lang="en-US" sz="2400" kern="150" baseline="-25000" dirty="0">
                          <a:solidFill>
                            <a:srgbClr val="FF0000"/>
                          </a:solidFill>
                          <a:effectLst/>
                          <a:latin typeface="微軟正黑體" pitchFamily="34" charset="-120"/>
                          <a:ea typeface="微軟正黑體" pitchFamily="34" charset="-120"/>
                        </a:rPr>
                        <a:t>0</a:t>
                      </a:r>
                      <a:r>
                        <a:rPr lang="en-US" sz="2400" kern="150" dirty="0">
                          <a:solidFill>
                            <a:srgbClr val="FF0000"/>
                          </a:solidFill>
                          <a:effectLst/>
                          <a:latin typeface="微軟正黑體" pitchFamily="34" charset="-120"/>
                          <a:ea typeface="微軟正黑體" pitchFamily="34" charset="-120"/>
                        </a:rPr>
                        <a:t> (</a:t>
                      </a:r>
                      <a:r>
                        <a:rPr lang="zh-TW" sz="2400" kern="150" dirty="0">
                          <a:solidFill>
                            <a:srgbClr val="FF0000"/>
                          </a:solidFill>
                          <a:effectLst/>
                          <a:latin typeface="微軟正黑體" pitchFamily="34" charset="-120"/>
                          <a:ea typeface="微軟正黑體" pitchFamily="34" charset="-120"/>
                        </a:rPr>
                        <a:t>虛無假設</a:t>
                      </a:r>
                      <a:r>
                        <a:rPr lang="en-US" sz="2400" kern="150" dirty="0">
                          <a:effectLst/>
                          <a:latin typeface="微軟正黑體" pitchFamily="34" charset="-120"/>
                          <a:ea typeface="微軟正黑體" pitchFamily="34" charset="-120"/>
                        </a:rPr>
                        <a:t>)</a:t>
                      </a:r>
                      <a:endParaRPr lang="zh-TW" sz="2400" kern="150" dirty="0">
                        <a:effectLst/>
                        <a:latin typeface="微軟正黑體" pitchFamily="34" charset="-120"/>
                        <a:ea typeface="微軟正黑體" pitchFamily="34" charset="-120"/>
                        <a:cs typeface="Lohit Hindi"/>
                      </a:endParaRPr>
                    </a:p>
                  </a:txBody>
                  <a:tcPr marL="34925" marR="34925" marT="34925" marB="34925" anchor="ctr">
                    <a:solidFill>
                      <a:schemeClr val="accent5">
                        <a:lumMod val="40000"/>
                        <a:lumOff val="60000"/>
                      </a:schemeClr>
                    </a:solidFill>
                  </a:tcPr>
                </a:tc>
                <a:tc hMerge="1">
                  <a:txBody>
                    <a:bodyPr/>
                    <a:lstStyle/>
                    <a:p>
                      <a:endParaRPr lang="zh-TW" altLang="en-US"/>
                    </a:p>
                  </a:txBody>
                  <a:tcPr/>
                </a:tc>
              </a:tr>
              <a:tr h="0">
                <a:tc gridSpan="2" vMerge="1">
                  <a:txBody>
                    <a:bodyPr/>
                    <a:lstStyle/>
                    <a:p>
                      <a:endParaRPr lang="zh-TW" altLang="en-US"/>
                    </a:p>
                  </a:txBody>
                  <a:tcPr/>
                </a:tc>
                <a:tc hMerge="1" vMerge="1">
                  <a:txBody>
                    <a:bodyPr/>
                    <a:lstStyle/>
                    <a:p>
                      <a:endParaRPr lang="zh-TW" altLang="en-US"/>
                    </a:p>
                  </a:txBody>
                  <a:tcPr/>
                </a:tc>
                <a:tc>
                  <a:txBody>
                    <a:bodyPr/>
                    <a:lstStyle/>
                    <a:p>
                      <a:pPr algn="ctr">
                        <a:lnSpc>
                          <a:spcPct val="130000"/>
                        </a:lnSpc>
                        <a:spcAft>
                          <a:spcPts val="0"/>
                        </a:spcAft>
                      </a:pPr>
                      <a:r>
                        <a:rPr lang="en-US" sz="2400" kern="150" dirty="0">
                          <a:effectLst/>
                          <a:latin typeface="微軟正黑體" pitchFamily="34" charset="-120"/>
                          <a:ea typeface="微軟正黑體" pitchFamily="34" charset="-120"/>
                        </a:rPr>
                        <a:t>H</a:t>
                      </a:r>
                      <a:r>
                        <a:rPr lang="en-US" sz="2400" kern="150" baseline="-25000" dirty="0">
                          <a:effectLst/>
                          <a:latin typeface="微軟正黑體" pitchFamily="34" charset="-120"/>
                          <a:ea typeface="微軟正黑體" pitchFamily="34" charset="-120"/>
                        </a:rPr>
                        <a:t>0</a:t>
                      </a:r>
                      <a:r>
                        <a:rPr lang="en-US" sz="2400" kern="150" dirty="0">
                          <a:effectLst/>
                          <a:latin typeface="微軟正黑體" pitchFamily="34" charset="-120"/>
                          <a:ea typeface="微軟正黑體" pitchFamily="34" charset="-120"/>
                        </a:rPr>
                        <a:t> is true</a:t>
                      </a:r>
                      <a:br>
                        <a:rPr lang="en-US" sz="2400" kern="150" dirty="0">
                          <a:effectLst/>
                          <a:latin typeface="微軟正黑體" pitchFamily="34" charset="-120"/>
                          <a:ea typeface="微軟正黑體" pitchFamily="34" charset="-120"/>
                        </a:rPr>
                      </a:br>
                      <a:r>
                        <a:rPr lang="en-US" sz="2400" kern="150" dirty="0">
                          <a:effectLst/>
                          <a:latin typeface="微軟正黑體" pitchFamily="34" charset="-120"/>
                          <a:ea typeface="微軟正黑體" pitchFamily="34" charset="-120"/>
                        </a:rPr>
                        <a:t>(H</a:t>
                      </a:r>
                      <a:r>
                        <a:rPr lang="en-US" sz="2400" kern="150" baseline="-25000" dirty="0">
                          <a:effectLst/>
                          <a:latin typeface="微軟正黑體" pitchFamily="34" charset="-120"/>
                          <a:ea typeface="微軟正黑體" pitchFamily="34" charset="-120"/>
                        </a:rPr>
                        <a:t>1</a:t>
                      </a:r>
                      <a:r>
                        <a:rPr lang="en-US" sz="2400" kern="150" dirty="0">
                          <a:effectLst/>
                          <a:latin typeface="微軟正黑體" pitchFamily="34" charset="-120"/>
                          <a:ea typeface="微軟正黑體" pitchFamily="34" charset="-120"/>
                        </a:rPr>
                        <a:t> is False)</a:t>
                      </a:r>
                      <a:endParaRPr lang="zh-TW" sz="2400" kern="150" dirty="0">
                        <a:effectLst/>
                        <a:latin typeface="微軟正黑體" pitchFamily="34" charset="-120"/>
                        <a:ea typeface="微軟正黑體" pitchFamily="34" charset="-120"/>
                        <a:cs typeface="Lohit Hindi"/>
                      </a:endParaRPr>
                    </a:p>
                  </a:txBody>
                  <a:tcPr marL="34925" marR="34925" marT="34925" marB="34925" anchor="ctr">
                    <a:solidFill>
                      <a:schemeClr val="accent5">
                        <a:lumMod val="40000"/>
                        <a:lumOff val="60000"/>
                      </a:schemeClr>
                    </a:solidFill>
                  </a:tcPr>
                </a:tc>
                <a:tc>
                  <a:txBody>
                    <a:bodyPr/>
                    <a:lstStyle/>
                    <a:p>
                      <a:pPr algn="ctr">
                        <a:lnSpc>
                          <a:spcPct val="130000"/>
                        </a:lnSpc>
                        <a:spcAft>
                          <a:spcPts val="0"/>
                        </a:spcAft>
                      </a:pPr>
                      <a:r>
                        <a:rPr lang="en-US" sz="2400" kern="150" dirty="0">
                          <a:effectLst/>
                          <a:latin typeface="微軟正黑體" pitchFamily="34" charset="-120"/>
                          <a:ea typeface="微軟正黑體" pitchFamily="34" charset="-120"/>
                        </a:rPr>
                        <a:t>H</a:t>
                      </a:r>
                      <a:r>
                        <a:rPr lang="en-US" sz="2400" kern="150" baseline="-25000" dirty="0">
                          <a:effectLst/>
                          <a:latin typeface="微軟正黑體" pitchFamily="34" charset="-120"/>
                          <a:ea typeface="微軟正黑體" pitchFamily="34" charset="-120"/>
                        </a:rPr>
                        <a:t>0</a:t>
                      </a:r>
                      <a:r>
                        <a:rPr lang="en-US" sz="2400" kern="150" dirty="0">
                          <a:effectLst/>
                          <a:latin typeface="微軟正黑體" pitchFamily="34" charset="-120"/>
                          <a:ea typeface="微軟正黑體" pitchFamily="34" charset="-120"/>
                        </a:rPr>
                        <a:t> is false </a:t>
                      </a:r>
                      <a:br>
                        <a:rPr lang="en-US" sz="2400" kern="150" dirty="0">
                          <a:effectLst/>
                          <a:latin typeface="微軟正黑體" pitchFamily="34" charset="-120"/>
                          <a:ea typeface="微軟正黑體" pitchFamily="34" charset="-120"/>
                        </a:rPr>
                      </a:br>
                      <a:r>
                        <a:rPr lang="en-US" sz="2400" kern="150" dirty="0">
                          <a:effectLst/>
                          <a:latin typeface="微軟正黑體" pitchFamily="34" charset="-120"/>
                          <a:ea typeface="微軟正黑體" pitchFamily="34" charset="-120"/>
                        </a:rPr>
                        <a:t>(H</a:t>
                      </a:r>
                      <a:r>
                        <a:rPr lang="en-US" sz="2400" kern="150" baseline="-25000" dirty="0">
                          <a:effectLst/>
                          <a:latin typeface="微軟正黑體" pitchFamily="34" charset="-120"/>
                          <a:ea typeface="微軟正黑體" pitchFamily="34" charset="-120"/>
                        </a:rPr>
                        <a:t>1 </a:t>
                      </a:r>
                      <a:r>
                        <a:rPr lang="en-US" sz="2400" kern="150" dirty="0">
                          <a:effectLst/>
                          <a:latin typeface="微軟正黑體" pitchFamily="34" charset="-120"/>
                          <a:ea typeface="微軟正黑體" pitchFamily="34" charset="-120"/>
                        </a:rPr>
                        <a:t>is True)</a:t>
                      </a:r>
                      <a:endParaRPr lang="zh-TW" sz="2400" kern="150" dirty="0">
                        <a:effectLst/>
                        <a:latin typeface="微軟正黑體" pitchFamily="34" charset="-120"/>
                        <a:ea typeface="微軟正黑體" pitchFamily="34" charset="-120"/>
                        <a:cs typeface="Lohit Hindi"/>
                      </a:endParaRPr>
                    </a:p>
                  </a:txBody>
                  <a:tcPr marL="34925" marR="34925" marT="34925" marB="34925" anchor="ctr">
                    <a:solidFill>
                      <a:schemeClr val="accent5">
                        <a:lumMod val="40000"/>
                        <a:lumOff val="60000"/>
                      </a:schemeClr>
                    </a:solidFill>
                  </a:tcPr>
                </a:tc>
              </a:tr>
              <a:tr h="0">
                <a:tc rowSpan="2">
                  <a:txBody>
                    <a:bodyPr/>
                    <a:lstStyle/>
                    <a:p>
                      <a:pPr algn="ctr">
                        <a:lnSpc>
                          <a:spcPct val="130000"/>
                        </a:lnSpc>
                        <a:spcAft>
                          <a:spcPts val="0"/>
                        </a:spcAft>
                      </a:pPr>
                      <a:r>
                        <a:rPr lang="en-US" sz="2400" kern="150" dirty="0">
                          <a:solidFill>
                            <a:srgbClr val="FF0000"/>
                          </a:solidFill>
                          <a:effectLst/>
                          <a:latin typeface="微軟正黑體" pitchFamily="34" charset="-120"/>
                          <a:ea typeface="微軟正黑體" pitchFamily="34" charset="-120"/>
                        </a:rPr>
                        <a:t>Alternative hypothesis </a:t>
                      </a:r>
                      <a:r>
                        <a:rPr lang="en-US" sz="2400" kern="150" dirty="0" smtClean="0">
                          <a:solidFill>
                            <a:srgbClr val="FF0000"/>
                          </a:solidFill>
                          <a:effectLst/>
                          <a:latin typeface="微軟正黑體" pitchFamily="34" charset="-120"/>
                          <a:ea typeface="微軟正黑體" pitchFamily="34" charset="-120"/>
                        </a:rPr>
                        <a:t>H</a:t>
                      </a:r>
                      <a:r>
                        <a:rPr lang="en-US" sz="2400" kern="150" baseline="-25000" dirty="0" smtClean="0">
                          <a:solidFill>
                            <a:srgbClr val="FF0000"/>
                          </a:solidFill>
                          <a:effectLst/>
                          <a:latin typeface="微軟正黑體" pitchFamily="34" charset="-120"/>
                          <a:ea typeface="微軟正黑體" pitchFamily="34" charset="-120"/>
                        </a:rPr>
                        <a:t>1</a:t>
                      </a:r>
                      <a:br>
                        <a:rPr lang="en-US" sz="2400" kern="150" baseline="-25000" dirty="0" smtClean="0">
                          <a:solidFill>
                            <a:srgbClr val="FF0000"/>
                          </a:solidFill>
                          <a:effectLst/>
                          <a:latin typeface="微軟正黑體" pitchFamily="34" charset="-120"/>
                          <a:ea typeface="微軟正黑體" pitchFamily="34" charset="-120"/>
                        </a:rPr>
                      </a:br>
                      <a:r>
                        <a:rPr lang="zh-TW" sz="2400" kern="150" dirty="0" smtClean="0">
                          <a:solidFill>
                            <a:srgbClr val="FF0000"/>
                          </a:solidFill>
                          <a:effectLst/>
                          <a:latin typeface="微軟正黑體" pitchFamily="34" charset="-120"/>
                          <a:ea typeface="微軟正黑體" pitchFamily="34" charset="-120"/>
                        </a:rPr>
                        <a:t>（對立</a:t>
                      </a:r>
                      <a:r>
                        <a:rPr lang="zh-TW" sz="2400" kern="150" dirty="0">
                          <a:solidFill>
                            <a:srgbClr val="FF0000"/>
                          </a:solidFill>
                          <a:effectLst/>
                          <a:latin typeface="微軟正黑體" pitchFamily="34" charset="-120"/>
                          <a:ea typeface="微軟正黑體" pitchFamily="34" charset="-120"/>
                        </a:rPr>
                        <a:t>假設）</a:t>
                      </a:r>
                      <a:endParaRPr lang="zh-TW" sz="2400" kern="150" dirty="0">
                        <a:solidFill>
                          <a:srgbClr val="FF0000"/>
                        </a:solidFill>
                        <a:effectLst/>
                        <a:latin typeface="微軟正黑體" pitchFamily="34" charset="-120"/>
                        <a:ea typeface="微軟正黑體" pitchFamily="34" charset="-120"/>
                        <a:cs typeface="Lohit Hindi"/>
                      </a:endParaRPr>
                    </a:p>
                  </a:txBody>
                  <a:tcPr marL="34925" marR="34925" marT="34925" marB="34925" anchor="ctr">
                    <a:solidFill>
                      <a:schemeClr val="accent6">
                        <a:lumMod val="60000"/>
                        <a:lumOff val="40000"/>
                      </a:schemeClr>
                    </a:solidFill>
                  </a:tcPr>
                </a:tc>
                <a:tc>
                  <a:txBody>
                    <a:bodyPr/>
                    <a:lstStyle/>
                    <a:p>
                      <a:pPr algn="ctr">
                        <a:lnSpc>
                          <a:spcPct val="130000"/>
                        </a:lnSpc>
                        <a:spcAft>
                          <a:spcPts val="0"/>
                        </a:spcAft>
                      </a:pPr>
                      <a:r>
                        <a:rPr lang="en-US" sz="2400" kern="150" dirty="0">
                          <a:effectLst/>
                          <a:latin typeface="微軟正黑體" pitchFamily="34" charset="-120"/>
                          <a:ea typeface="微軟正黑體" pitchFamily="34" charset="-120"/>
                        </a:rPr>
                        <a:t>Reject</a:t>
                      </a:r>
                      <a:endParaRPr lang="zh-TW" sz="2400" kern="150" dirty="0">
                        <a:effectLst/>
                        <a:latin typeface="微軟正黑體" pitchFamily="34" charset="-120"/>
                        <a:ea typeface="微軟正黑體" pitchFamily="34" charset="-120"/>
                        <a:cs typeface="Lohit Hindi"/>
                      </a:endParaRPr>
                    </a:p>
                  </a:txBody>
                  <a:tcPr marL="34925" marR="34925" marT="34925" marB="34925" anchor="ctr">
                    <a:solidFill>
                      <a:schemeClr val="accent6">
                        <a:lumMod val="60000"/>
                        <a:lumOff val="40000"/>
                      </a:schemeClr>
                    </a:solidFill>
                  </a:tcPr>
                </a:tc>
                <a:tc>
                  <a:txBody>
                    <a:bodyPr/>
                    <a:lstStyle/>
                    <a:p>
                      <a:pPr algn="ctr">
                        <a:lnSpc>
                          <a:spcPct val="130000"/>
                        </a:lnSpc>
                        <a:spcAft>
                          <a:spcPts val="0"/>
                        </a:spcAft>
                      </a:pPr>
                      <a:r>
                        <a:rPr lang="en-US" sz="2400" kern="150" dirty="0">
                          <a:solidFill>
                            <a:srgbClr val="FF0000"/>
                          </a:solidFill>
                          <a:effectLst/>
                          <a:latin typeface="微軟正黑體" pitchFamily="34" charset="-120"/>
                          <a:ea typeface="微軟正黑體" pitchFamily="34" charset="-120"/>
                        </a:rPr>
                        <a:t>Type I error</a:t>
                      </a:r>
                      <a:r>
                        <a:rPr lang="en-US" sz="2400" kern="150" dirty="0">
                          <a:effectLst/>
                          <a:latin typeface="微軟正黑體" pitchFamily="34" charset="-120"/>
                          <a:ea typeface="微軟正黑體" pitchFamily="34" charset="-120"/>
                        </a:rPr>
                        <a:t/>
                      </a:r>
                      <a:br>
                        <a:rPr lang="en-US" sz="2400" kern="150" dirty="0">
                          <a:effectLst/>
                          <a:latin typeface="微軟正黑體" pitchFamily="34" charset="-120"/>
                          <a:ea typeface="微軟正黑體" pitchFamily="34" charset="-120"/>
                        </a:rPr>
                      </a:br>
                      <a:r>
                        <a:rPr lang="en-US" sz="2400" kern="150" dirty="0">
                          <a:effectLst/>
                          <a:latin typeface="微軟正黑體" pitchFamily="34" charset="-120"/>
                          <a:ea typeface="微軟正黑體" pitchFamily="34" charset="-120"/>
                        </a:rPr>
                        <a:t>(False </a:t>
                      </a:r>
                      <a:r>
                        <a:rPr lang="en-US" sz="2400" kern="150" dirty="0" smtClean="0">
                          <a:effectLst/>
                          <a:latin typeface="微軟正黑體" pitchFamily="34" charset="-120"/>
                          <a:ea typeface="微軟正黑體" pitchFamily="34" charset="-120"/>
                        </a:rPr>
                        <a:t>Positive, </a:t>
                      </a:r>
                      <a:r>
                        <a:rPr lang="el-GR" sz="2400" kern="150" dirty="0" smtClean="0">
                          <a:effectLst/>
                          <a:latin typeface="微軟正黑體" pitchFamily="34" charset="-120"/>
                          <a:ea typeface="微軟正黑體" pitchFamily="34" charset="-120"/>
                        </a:rPr>
                        <a:t>α</a:t>
                      </a:r>
                      <a:r>
                        <a:rPr lang="en-US" sz="2400" kern="150" dirty="0" smtClean="0">
                          <a:effectLst/>
                          <a:latin typeface="微軟正黑體" pitchFamily="34" charset="-120"/>
                          <a:ea typeface="微軟正黑體" pitchFamily="34" charset="-120"/>
                        </a:rPr>
                        <a:t>)</a:t>
                      </a:r>
                      <a:endParaRPr lang="zh-TW" sz="2400" kern="150" dirty="0">
                        <a:effectLst/>
                        <a:latin typeface="微軟正黑體" pitchFamily="34" charset="-120"/>
                        <a:ea typeface="微軟正黑體" pitchFamily="34" charset="-120"/>
                        <a:cs typeface="Lohit Hindi"/>
                      </a:endParaRPr>
                    </a:p>
                  </a:txBody>
                  <a:tcPr marL="34925" marR="34925" marT="34925" marB="34925" anchor="ctr"/>
                </a:tc>
                <a:tc>
                  <a:txBody>
                    <a:bodyPr/>
                    <a:lstStyle/>
                    <a:p>
                      <a:pPr algn="ctr">
                        <a:lnSpc>
                          <a:spcPct val="130000"/>
                        </a:lnSpc>
                        <a:spcAft>
                          <a:spcPts val="0"/>
                        </a:spcAft>
                      </a:pPr>
                      <a:r>
                        <a:rPr lang="en-US" sz="2400" kern="150" dirty="0">
                          <a:effectLst/>
                          <a:latin typeface="微軟正黑體" pitchFamily="34" charset="-120"/>
                          <a:ea typeface="微軟正黑體" pitchFamily="34" charset="-120"/>
                        </a:rPr>
                        <a:t>Correct </a:t>
                      </a:r>
                      <a:br>
                        <a:rPr lang="en-US" sz="2400" kern="150" dirty="0">
                          <a:effectLst/>
                          <a:latin typeface="微軟正黑體" pitchFamily="34" charset="-120"/>
                          <a:ea typeface="微軟正黑體" pitchFamily="34" charset="-120"/>
                        </a:rPr>
                      </a:br>
                      <a:r>
                        <a:rPr lang="en-US" sz="2400" kern="150" dirty="0">
                          <a:effectLst/>
                          <a:latin typeface="微軟正黑體" pitchFamily="34" charset="-120"/>
                          <a:ea typeface="微軟正黑體" pitchFamily="34" charset="-120"/>
                        </a:rPr>
                        <a:t>(True </a:t>
                      </a:r>
                      <a:r>
                        <a:rPr lang="en-US" sz="2400" kern="150" dirty="0" smtClean="0">
                          <a:effectLst/>
                          <a:latin typeface="微軟正黑體" pitchFamily="34" charset="-120"/>
                          <a:ea typeface="微軟正黑體" pitchFamily="34" charset="-120"/>
                        </a:rPr>
                        <a:t>Positive, 1-</a:t>
                      </a:r>
                      <a:r>
                        <a:rPr lang="el-GR" altLang="zh-TW" sz="2400" kern="150" dirty="0" smtClean="0">
                          <a:effectLst/>
                          <a:latin typeface="微軟正黑體" pitchFamily="34" charset="-120"/>
                          <a:ea typeface="微軟正黑體" pitchFamily="34" charset="-120"/>
                        </a:rPr>
                        <a:t>α</a:t>
                      </a:r>
                      <a:r>
                        <a:rPr lang="en-US" sz="2400" kern="150" dirty="0" smtClean="0">
                          <a:effectLst/>
                          <a:latin typeface="微軟正黑體" pitchFamily="34" charset="-120"/>
                          <a:ea typeface="微軟正黑體" pitchFamily="34" charset="-120"/>
                        </a:rPr>
                        <a:t>)</a:t>
                      </a:r>
                      <a:endParaRPr lang="zh-TW" sz="2400" kern="150" dirty="0">
                        <a:effectLst/>
                        <a:latin typeface="微軟正黑體" pitchFamily="34" charset="-120"/>
                        <a:ea typeface="微軟正黑體" pitchFamily="34" charset="-120"/>
                        <a:cs typeface="Lohit Hindi"/>
                      </a:endParaRPr>
                    </a:p>
                  </a:txBody>
                  <a:tcPr marL="34925" marR="34925" marT="34925" marB="34925" anchor="ctr"/>
                </a:tc>
              </a:tr>
              <a:tr h="214630">
                <a:tc vMerge="1">
                  <a:txBody>
                    <a:bodyPr/>
                    <a:lstStyle/>
                    <a:p>
                      <a:endParaRPr lang="zh-TW" altLang="en-US"/>
                    </a:p>
                  </a:txBody>
                  <a:tcPr/>
                </a:tc>
                <a:tc>
                  <a:txBody>
                    <a:bodyPr/>
                    <a:lstStyle/>
                    <a:p>
                      <a:pPr algn="ctr">
                        <a:lnSpc>
                          <a:spcPct val="130000"/>
                        </a:lnSpc>
                        <a:spcAft>
                          <a:spcPts val="0"/>
                        </a:spcAft>
                      </a:pPr>
                      <a:r>
                        <a:rPr lang="en-US" sz="2400" kern="150" dirty="0">
                          <a:effectLst/>
                          <a:latin typeface="微軟正黑體" pitchFamily="34" charset="-120"/>
                          <a:ea typeface="微軟正黑體" pitchFamily="34" charset="-120"/>
                        </a:rPr>
                        <a:t>Fail to reject</a:t>
                      </a:r>
                      <a:endParaRPr lang="zh-TW" sz="2400" kern="150" dirty="0">
                        <a:effectLst/>
                        <a:latin typeface="微軟正黑體" pitchFamily="34" charset="-120"/>
                        <a:ea typeface="微軟正黑體" pitchFamily="34" charset="-120"/>
                        <a:cs typeface="Lohit Hindi"/>
                      </a:endParaRPr>
                    </a:p>
                  </a:txBody>
                  <a:tcPr marL="34925" marR="34925" marT="34925" marB="34925" anchor="ctr">
                    <a:solidFill>
                      <a:schemeClr val="accent6">
                        <a:lumMod val="60000"/>
                        <a:lumOff val="40000"/>
                      </a:schemeClr>
                    </a:solidFill>
                  </a:tcPr>
                </a:tc>
                <a:tc>
                  <a:txBody>
                    <a:bodyPr/>
                    <a:lstStyle/>
                    <a:p>
                      <a:pPr algn="ctr">
                        <a:lnSpc>
                          <a:spcPct val="130000"/>
                        </a:lnSpc>
                        <a:spcAft>
                          <a:spcPts val="0"/>
                        </a:spcAft>
                      </a:pPr>
                      <a:r>
                        <a:rPr lang="en-US" sz="2400" kern="150" dirty="0">
                          <a:effectLst/>
                          <a:latin typeface="微軟正黑體" pitchFamily="34" charset="-120"/>
                          <a:ea typeface="微軟正黑體" pitchFamily="34" charset="-120"/>
                        </a:rPr>
                        <a:t>Correct</a:t>
                      </a:r>
                      <a:br>
                        <a:rPr lang="en-US" sz="2400" kern="150" dirty="0">
                          <a:effectLst/>
                          <a:latin typeface="微軟正黑體" pitchFamily="34" charset="-120"/>
                          <a:ea typeface="微軟正黑體" pitchFamily="34" charset="-120"/>
                        </a:rPr>
                      </a:br>
                      <a:r>
                        <a:rPr lang="en-US" sz="2400" kern="150" dirty="0">
                          <a:effectLst/>
                          <a:latin typeface="微軟正黑體" pitchFamily="34" charset="-120"/>
                          <a:ea typeface="微軟正黑體" pitchFamily="34" charset="-120"/>
                        </a:rPr>
                        <a:t>(True </a:t>
                      </a:r>
                      <a:r>
                        <a:rPr lang="en-US" sz="2400" kern="150" dirty="0" smtClean="0">
                          <a:effectLst/>
                          <a:latin typeface="微軟正黑體" pitchFamily="34" charset="-120"/>
                          <a:ea typeface="微軟正黑體" pitchFamily="34" charset="-120"/>
                        </a:rPr>
                        <a:t>Negative, </a:t>
                      </a:r>
                      <a:br>
                        <a:rPr lang="en-US" sz="2400" kern="150" dirty="0" smtClean="0">
                          <a:effectLst/>
                          <a:latin typeface="微軟正黑體" pitchFamily="34" charset="-120"/>
                          <a:ea typeface="微軟正黑體" pitchFamily="34" charset="-120"/>
                        </a:rPr>
                      </a:br>
                      <a:r>
                        <a:rPr lang="en-US" sz="2400" kern="150" dirty="0" smtClean="0">
                          <a:effectLst/>
                          <a:latin typeface="微軟正黑體" pitchFamily="34" charset="-120"/>
                          <a:ea typeface="微軟正黑體" pitchFamily="34" charset="-120"/>
                        </a:rPr>
                        <a:t>1-</a:t>
                      </a:r>
                      <a:r>
                        <a:rPr lang="el-GR" altLang="zh-TW" sz="2400" kern="150" dirty="0" smtClean="0">
                          <a:effectLst/>
                          <a:latin typeface="微軟正黑體" pitchFamily="34" charset="-120"/>
                          <a:ea typeface="微軟正黑體" pitchFamily="34" charset="-120"/>
                        </a:rPr>
                        <a:t>β</a:t>
                      </a:r>
                      <a:r>
                        <a:rPr lang="en-US" sz="2400" kern="150" dirty="0" smtClean="0">
                          <a:effectLst/>
                          <a:latin typeface="微軟正黑體" pitchFamily="34" charset="-120"/>
                          <a:ea typeface="微軟正黑體" pitchFamily="34" charset="-120"/>
                        </a:rPr>
                        <a:t>)</a:t>
                      </a:r>
                      <a:endParaRPr lang="zh-TW" sz="2400" kern="150" dirty="0">
                        <a:effectLst/>
                        <a:latin typeface="微軟正黑體" pitchFamily="34" charset="-120"/>
                        <a:ea typeface="微軟正黑體" pitchFamily="34" charset="-120"/>
                        <a:cs typeface="Lohit Hindi"/>
                      </a:endParaRPr>
                    </a:p>
                  </a:txBody>
                  <a:tcPr marL="34925" marR="34925" marT="34925" marB="34925" anchor="ctr"/>
                </a:tc>
                <a:tc>
                  <a:txBody>
                    <a:bodyPr/>
                    <a:lstStyle/>
                    <a:p>
                      <a:pPr algn="ctr">
                        <a:lnSpc>
                          <a:spcPct val="130000"/>
                        </a:lnSpc>
                        <a:spcAft>
                          <a:spcPts val="0"/>
                        </a:spcAft>
                      </a:pPr>
                      <a:r>
                        <a:rPr lang="en-US" sz="2400" kern="150" dirty="0">
                          <a:solidFill>
                            <a:srgbClr val="FF0000"/>
                          </a:solidFill>
                          <a:effectLst/>
                          <a:latin typeface="微軟正黑體" pitchFamily="34" charset="-120"/>
                          <a:ea typeface="微軟正黑體" pitchFamily="34" charset="-120"/>
                        </a:rPr>
                        <a:t>Type II error</a:t>
                      </a:r>
                      <a:r>
                        <a:rPr lang="en-US" sz="2400" kern="150" dirty="0">
                          <a:effectLst/>
                          <a:latin typeface="微軟正黑體" pitchFamily="34" charset="-120"/>
                          <a:ea typeface="微軟正黑體" pitchFamily="34" charset="-120"/>
                        </a:rPr>
                        <a:t/>
                      </a:r>
                      <a:br>
                        <a:rPr lang="en-US" sz="2400" kern="150" dirty="0">
                          <a:effectLst/>
                          <a:latin typeface="微軟正黑體" pitchFamily="34" charset="-120"/>
                          <a:ea typeface="微軟正黑體" pitchFamily="34" charset="-120"/>
                        </a:rPr>
                      </a:br>
                      <a:r>
                        <a:rPr lang="en-US" sz="2400" kern="150" dirty="0">
                          <a:effectLst/>
                          <a:latin typeface="微軟正黑體" pitchFamily="34" charset="-120"/>
                          <a:ea typeface="微軟正黑體" pitchFamily="34" charset="-120"/>
                        </a:rPr>
                        <a:t>(False </a:t>
                      </a:r>
                      <a:r>
                        <a:rPr lang="en-US" sz="2400" kern="150" dirty="0" smtClean="0">
                          <a:effectLst/>
                          <a:latin typeface="微軟正黑體" pitchFamily="34" charset="-120"/>
                          <a:ea typeface="微軟正黑體" pitchFamily="34" charset="-120"/>
                        </a:rPr>
                        <a:t>Negative, </a:t>
                      </a:r>
                      <a:r>
                        <a:rPr lang="el-GR" sz="2400" kern="150" dirty="0" smtClean="0">
                          <a:effectLst/>
                          <a:latin typeface="微軟正黑體" pitchFamily="34" charset="-120"/>
                          <a:ea typeface="微軟正黑體" pitchFamily="34" charset="-120"/>
                        </a:rPr>
                        <a:t>β</a:t>
                      </a:r>
                      <a:r>
                        <a:rPr lang="en-US" sz="2400" kern="150" dirty="0" smtClean="0">
                          <a:effectLst/>
                          <a:latin typeface="微軟正黑體" pitchFamily="34" charset="-120"/>
                          <a:ea typeface="微軟正黑體" pitchFamily="34" charset="-120"/>
                        </a:rPr>
                        <a:t>)</a:t>
                      </a:r>
                      <a:endParaRPr lang="zh-TW" sz="2400" kern="150" dirty="0">
                        <a:effectLst/>
                        <a:latin typeface="微軟正黑體" pitchFamily="34" charset="-120"/>
                        <a:ea typeface="微軟正黑體" pitchFamily="34" charset="-120"/>
                        <a:cs typeface="Lohit Hindi"/>
                      </a:endParaRPr>
                    </a:p>
                  </a:txBody>
                  <a:tcPr marL="34925" marR="34925" marT="34925" marB="34925" anchor="ctr"/>
                </a:tc>
              </a:tr>
            </a:tbl>
          </a:graphicData>
        </a:graphic>
      </p:graphicFrame>
      <p:pic>
        <p:nvPicPr>
          <p:cNvPr id="5" name="圖片 4"/>
          <p:cNvPicPr/>
          <p:nvPr/>
        </p:nvPicPr>
        <p:blipFill rotWithShape="1">
          <a:blip r:embed="rId2">
            <a:extLst>
              <a:ext uri="{28A0092B-C50C-407E-A947-70E740481C1C}">
                <a14:useLocalDpi xmlns:a14="http://schemas.microsoft.com/office/drawing/2010/main" val="0"/>
              </a:ext>
            </a:extLst>
          </a:blip>
          <a:srcRect l="-4993" t="18453" r="4993" b="5177"/>
          <a:stretch/>
        </p:blipFill>
        <p:spPr bwMode="auto">
          <a:xfrm>
            <a:off x="429072" y="1503735"/>
            <a:ext cx="3635896" cy="2304256"/>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2541260685"/>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77591" y="87213"/>
            <a:ext cx="10515600" cy="1325563"/>
          </a:xfrm>
        </p:spPr>
        <p:txBody>
          <a:bodyPr/>
          <a:lstStyle/>
          <a:p>
            <a:r>
              <a:rPr lang="en-US" altLang="zh-TW" dirty="0" smtClean="0"/>
              <a:t>Multiple comparison</a:t>
            </a:r>
            <a:endParaRPr lang="zh-TW" altLang="en-US" dirty="0"/>
          </a:p>
        </p:txBody>
      </p:sp>
      <p:sp>
        <p:nvSpPr>
          <p:cNvPr id="3" name="內容版面配置區 2"/>
          <p:cNvSpPr>
            <a:spLocks noGrp="1"/>
          </p:cNvSpPr>
          <p:nvPr>
            <p:ph idx="1"/>
          </p:nvPr>
        </p:nvSpPr>
        <p:spPr>
          <a:xfrm>
            <a:off x="1991544" y="1412776"/>
            <a:ext cx="8229600" cy="1036712"/>
          </a:xfrm>
        </p:spPr>
        <p:txBody>
          <a:bodyPr/>
          <a:lstStyle/>
          <a:p>
            <a:r>
              <a:rPr lang="en-US" altLang="zh-TW" dirty="0" smtClean="0"/>
              <a:t>AIDS</a:t>
            </a:r>
            <a:r>
              <a:rPr lang="zh-TW" altLang="en-US" dirty="0" smtClean="0"/>
              <a:t>檢驗、肝癌、肺癌檢驗正確性如下表</a:t>
            </a:r>
            <a:r>
              <a:rPr lang="en-US" altLang="zh-TW" dirty="0" smtClean="0"/>
              <a:t> </a:t>
            </a:r>
          </a:p>
          <a:p>
            <a:pPr marL="0" indent="0">
              <a:buNone/>
            </a:pPr>
            <a:endParaRPr lang="en-US" altLang="zh-TW" dirty="0" smtClean="0"/>
          </a:p>
          <a:p>
            <a:pPr marL="0" indent="0">
              <a:buNone/>
            </a:pPr>
            <a:endParaRPr lang="en-US" altLang="zh-TW" dirty="0" smtClean="0"/>
          </a:p>
          <a:p>
            <a:endParaRPr lang="en-US" altLang="zh-TW" dirty="0" smtClean="0"/>
          </a:p>
          <a:p>
            <a:endParaRPr lang="zh-TW" altLang="en-US" dirty="0"/>
          </a:p>
        </p:txBody>
      </p:sp>
      <p:graphicFrame>
        <p:nvGraphicFramePr>
          <p:cNvPr id="4" name="表格 3"/>
          <p:cNvGraphicFramePr>
            <a:graphicFrameLocks noGrp="1"/>
          </p:cNvGraphicFramePr>
          <p:nvPr>
            <p:extLst/>
          </p:nvPr>
        </p:nvGraphicFramePr>
        <p:xfrm>
          <a:off x="2171564" y="2132856"/>
          <a:ext cx="7920881" cy="1371600"/>
        </p:xfrm>
        <a:graphic>
          <a:graphicData uri="http://schemas.openxmlformats.org/drawingml/2006/table">
            <a:tbl>
              <a:tblPr firstRow="1" bandRow="1">
                <a:tableStyleId>{5C22544A-7EE6-4342-B048-85BDC9FD1C3A}</a:tableStyleId>
              </a:tblPr>
              <a:tblGrid>
                <a:gridCol w="1520169"/>
                <a:gridCol w="3040339"/>
                <a:gridCol w="3360373"/>
              </a:tblGrid>
              <a:tr h="370840">
                <a:tc>
                  <a:txBody>
                    <a:bodyPr/>
                    <a:lstStyle/>
                    <a:p>
                      <a:r>
                        <a:rPr lang="en-US" altLang="zh-TW" sz="2400" dirty="0" smtClean="0"/>
                        <a:t>Test\real</a:t>
                      </a:r>
                      <a:endParaRPr lang="zh-TW" altLang="en-US" sz="2400" dirty="0"/>
                    </a:p>
                  </a:txBody>
                  <a:tcPr/>
                </a:tc>
                <a:tc>
                  <a:txBody>
                    <a:bodyPr/>
                    <a:lstStyle/>
                    <a:p>
                      <a:r>
                        <a:rPr lang="zh-TW" altLang="en-US" sz="2400" dirty="0" smtClean="0"/>
                        <a:t>沒生病</a:t>
                      </a:r>
                      <a:endParaRPr lang="zh-TW" altLang="en-US" sz="2400" dirty="0"/>
                    </a:p>
                  </a:txBody>
                  <a:tcPr/>
                </a:tc>
                <a:tc>
                  <a:txBody>
                    <a:bodyPr/>
                    <a:lstStyle/>
                    <a:p>
                      <a:r>
                        <a:rPr lang="zh-TW" altLang="en-US" sz="2400" dirty="0" smtClean="0"/>
                        <a:t>生病</a:t>
                      </a:r>
                      <a:endParaRPr lang="zh-TW" altLang="en-US" sz="2400" dirty="0"/>
                    </a:p>
                  </a:txBody>
                  <a:tcPr/>
                </a:tc>
              </a:tr>
              <a:tr h="370840">
                <a:tc>
                  <a:txBody>
                    <a:bodyPr/>
                    <a:lstStyle/>
                    <a:p>
                      <a:r>
                        <a:rPr lang="zh-TW" altLang="en-US" sz="2400" dirty="0" smtClean="0"/>
                        <a:t>陽性</a:t>
                      </a:r>
                      <a:endParaRPr lang="zh-TW" altLang="en-US" sz="2400" dirty="0"/>
                    </a:p>
                  </a:txBody>
                  <a:tcPr/>
                </a:tc>
                <a:tc>
                  <a:txBody>
                    <a:bodyPr/>
                    <a:lstStyle/>
                    <a:p>
                      <a:r>
                        <a:rPr lang="en-US" altLang="zh-TW" sz="2400" dirty="0" smtClean="0"/>
                        <a:t>FP, 1% (type I error, </a:t>
                      </a:r>
                      <a:r>
                        <a:rPr lang="el-GR" altLang="zh-TW" sz="2400" dirty="0" smtClean="0"/>
                        <a:t>α</a:t>
                      </a:r>
                      <a:r>
                        <a:rPr lang="en-US" altLang="zh-TW" sz="2400" dirty="0" smtClean="0"/>
                        <a:t>)</a:t>
                      </a:r>
                      <a:endParaRPr lang="zh-TW" altLang="en-US" sz="2400" dirty="0"/>
                    </a:p>
                  </a:txBody>
                  <a:tcPr/>
                </a:tc>
                <a:tc>
                  <a:txBody>
                    <a:bodyPr/>
                    <a:lstStyle/>
                    <a:p>
                      <a:r>
                        <a:rPr lang="en-US" altLang="zh-TW" sz="2400" dirty="0" smtClean="0"/>
                        <a:t>TP, 99%</a:t>
                      </a:r>
                      <a:endParaRPr lang="zh-TW" altLang="en-US" sz="2400" dirty="0"/>
                    </a:p>
                  </a:txBody>
                  <a:tcPr/>
                </a:tc>
              </a:tr>
              <a:tr h="370840">
                <a:tc>
                  <a:txBody>
                    <a:bodyPr/>
                    <a:lstStyle/>
                    <a:p>
                      <a:r>
                        <a:rPr lang="zh-TW" altLang="en-US" sz="2400" dirty="0" smtClean="0"/>
                        <a:t>陰性</a:t>
                      </a:r>
                      <a:endParaRPr lang="zh-TW" altLang="en-US" sz="2400" dirty="0"/>
                    </a:p>
                  </a:txBody>
                  <a:tcPr/>
                </a:tc>
                <a:tc>
                  <a:txBody>
                    <a:bodyPr/>
                    <a:lstStyle/>
                    <a:p>
                      <a:r>
                        <a:rPr lang="en-US" altLang="zh-TW" sz="2400" dirty="0" smtClean="0"/>
                        <a:t>TN, 98%</a:t>
                      </a:r>
                      <a:endParaRPr lang="zh-TW" altLang="en-US" sz="2400" dirty="0"/>
                    </a:p>
                  </a:txBody>
                  <a:tcPr/>
                </a:tc>
                <a:tc>
                  <a:txBody>
                    <a:bodyPr/>
                    <a:lstStyle/>
                    <a:p>
                      <a:r>
                        <a:rPr lang="en-US" altLang="zh-TW" sz="2400" dirty="0" smtClean="0"/>
                        <a:t>FN, 2% (type II error, </a:t>
                      </a:r>
                      <a:r>
                        <a:rPr lang="el-GR" altLang="zh-TW" sz="2400" dirty="0" smtClean="0"/>
                        <a:t>β</a:t>
                      </a:r>
                      <a:r>
                        <a:rPr lang="en-US" altLang="zh-TW" sz="2400" dirty="0" smtClean="0"/>
                        <a:t>)</a:t>
                      </a:r>
                      <a:endParaRPr lang="zh-TW" altLang="en-US" sz="2400" dirty="0"/>
                    </a:p>
                  </a:txBody>
                  <a:tcPr/>
                </a:tc>
              </a:tr>
            </a:tbl>
          </a:graphicData>
        </a:graphic>
      </p:graphicFrame>
      <p:sp>
        <p:nvSpPr>
          <p:cNvPr id="5" name="矩形 4"/>
          <p:cNvSpPr/>
          <p:nvPr/>
        </p:nvSpPr>
        <p:spPr>
          <a:xfrm>
            <a:off x="695459" y="3789041"/>
            <a:ext cx="10431887" cy="2246769"/>
          </a:xfrm>
          <a:prstGeom prst="rect">
            <a:avLst/>
          </a:prstGeom>
        </p:spPr>
        <p:txBody>
          <a:bodyPr wrap="square">
            <a:spAutoFit/>
          </a:bodyPr>
          <a:lstStyle/>
          <a:p>
            <a:r>
              <a:rPr lang="zh-TW" altLang="en-US" sz="2800" dirty="0">
                <a:latin typeface="微軟正黑體" pitchFamily="34" charset="-120"/>
                <a:ea typeface="微軟正黑體" pitchFamily="34" charset="-120"/>
              </a:rPr>
              <a:t>三種檢驗各自</a:t>
            </a:r>
            <a:r>
              <a:rPr lang="zh-TW" altLang="en-US" sz="2800" dirty="0" smtClean="0">
                <a:latin typeface="微軟正黑體" pitchFamily="34" charset="-120"/>
                <a:ea typeface="微軟正黑體" pitchFamily="34" charset="-120"/>
              </a:rPr>
              <a:t>獨立互不影響，</a:t>
            </a:r>
            <a:endParaRPr lang="en-US" altLang="zh-TW" sz="2800" dirty="0">
              <a:latin typeface="微軟正黑體" pitchFamily="34" charset="-120"/>
              <a:ea typeface="微軟正黑體" pitchFamily="34" charset="-120"/>
            </a:endParaRPr>
          </a:p>
          <a:p>
            <a:r>
              <a:rPr lang="zh-TW" altLang="en-US" sz="2800" dirty="0" smtClean="0">
                <a:latin typeface="微軟正黑體" pitchFamily="34" charset="-120"/>
                <a:ea typeface="微軟正黑體" pitchFamily="34" charset="-120"/>
              </a:rPr>
              <a:t>小明做</a:t>
            </a:r>
            <a:r>
              <a:rPr lang="zh-TW" altLang="en-US" sz="2800" dirty="0">
                <a:latin typeface="微軟正黑體" pitchFamily="34" charset="-120"/>
                <a:ea typeface="微軟正黑體" pitchFamily="34" charset="-120"/>
              </a:rPr>
              <a:t>上述三種檢驗後，若檢驗結果均為陽性</a:t>
            </a:r>
            <a:r>
              <a:rPr lang="zh-TW" altLang="en-US" sz="2800" dirty="0" smtClean="0">
                <a:latin typeface="微軟正黑體" pitchFamily="34" charset="-120"/>
                <a:ea typeface="微軟正黑體" pitchFamily="34" charset="-120"/>
              </a:rPr>
              <a:t>，</a:t>
            </a:r>
            <a:endParaRPr lang="en-US" altLang="zh-TW" sz="2800" dirty="0" smtClean="0">
              <a:latin typeface="微軟正黑體" pitchFamily="34" charset="-120"/>
              <a:ea typeface="微軟正黑體" pitchFamily="34" charset="-120"/>
            </a:endParaRPr>
          </a:p>
          <a:p>
            <a:r>
              <a:rPr lang="zh-TW" altLang="en-US" sz="2800" dirty="0" smtClean="0">
                <a:latin typeface="微軟正黑體" pitchFamily="34" charset="-120"/>
                <a:ea typeface="微軟正黑體" pitchFamily="34" charset="-120"/>
              </a:rPr>
              <a:t>則小明真的同時得到</a:t>
            </a:r>
            <a:r>
              <a:rPr lang="en-US" altLang="zh-TW" sz="2800" dirty="0" smtClean="0">
                <a:latin typeface="微軟正黑體" pitchFamily="34" charset="-120"/>
                <a:ea typeface="微軟正黑體" pitchFamily="34" charset="-120"/>
              </a:rPr>
              <a:t>AIDS, </a:t>
            </a:r>
            <a:r>
              <a:rPr lang="zh-TW" altLang="en-US" sz="2800" dirty="0" smtClean="0">
                <a:latin typeface="微軟正黑體" pitchFamily="34" charset="-120"/>
                <a:ea typeface="微軟正黑體" pitchFamily="34" charset="-120"/>
              </a:rPr>
              <a:t>肝癌與肺癌的</a:t>
            </a:r>
            <a:r>
              <a:rPr lang="zh-TW" altLang="en-US" sz="2800" dirty="0">
                <a:latin typeface="微軟正黑體" pitchFamily="34" charset="-120"/>
                <a:ea typeface="微軟正黑體" pitchFamily="34" charset="-120"/>
              </a:rPr>
              <a:t>機率為：</a:t>
            </a:r>
            <a:endParaRPr lang="en-US" altLang="zh-TW" sz="2800" dirty="0">
              <a:latin typeface="微軟正黑體" pitchFamily="34" charset="-120"/>
              <a:ea typeface="微軟正黑體" pitchFamily="34" charset="-120"/>
            </a:endParaRPr>
          </a:p>
          <a:p>
            <a:pPr algn="ctr"/>
            <a:r>
              <a:rPr lang="en-US" altLang="zh-TW" sz="2800" dirty="0">
                <a:latin typeface="微軟正黑體" pitchFamily="34" charset="-120"/>
                <a:ea typeface="微軟正黑體" pitchFamily="34" charset="-120"/>
              </a:rPr>
              <a:t>99%*99%*99%=97.03%</a:t>
            </a:r>
          </a:p>
          <a:p>
            <a:r>
              <a:rPr lang="en-US" altLang="zh-TW" sz="2800" dirty="0">
                <a:latin typeface="微軟正黑體" pitchFamily="34" charset="-120"/>
                <a:ea typeface="微軟正黑體" pitchFamily="34" charset="-120"/>
              </a:rPr>
              <a:t>type I error (FP)</a:t>
            </a:r>
            <a:r>
              <a:rPr lang="zh-TW" altLang="en-US" sz="2800" dirty="0">
                <a:latin typeface="微軟正黑體" pitchFamily="34" charset="-120"/>
                <a:ea typeface="微軟正黑體" pitchFamily="34" charset="-120"/>
              </a:rPr>
              <a:t>的機率</a:t>
            </a:r>
            <a:r>
              <a:rPr lang="el-GR" altLang="zh-TW" sz="2800" dirty="0"/>
              <a:t>α</a:t>
            </a:r>
            <a:r>
              <a:rPr lang="en-US" altLang="zh-TW" sz="2800" dirty="0"/>
              <a:t>=</a:t>
            </a:r>
            <a:r>
              <a:rPr lang="en-US" altLang="zh-TW" sz="2800" dirty="0">
                <a:latin typeface="微軟正黑體" pitchFamily="34" charset="-120"/>
                <a:ea typeface="微軟正黑體" pitchFamily="34" charset="-120"/>
              </a:rPr>
              <a:t>2.97%</a:t>
            </a:r>
          </a:p>
        </p:txBody>
      </p:sp>
    </p:spTree>
    <p:extLst>
      <p:ext uri="{BB962C8B-B14F-4D97-AF65-F5344CB8AC3E}">
        <p14:creationId xmlns:p14="http://schemas.microsoft.com/office/powerpoint/2010/main" val="3322550030"/>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Introduction</a:t>
            </a:r>
            <a:endParaRPr lang="zh-TW" altLang="en-US" dirty="0"/>
          </a:p>
        </p:txBody>
      </p:sp>
      <mc:AlternateContent xmlns:mc="http://schemas.openxmlformats.org/markup-compatibility/2006" xmlns:a14="http://schemas.microsoft.com/office/drawing/2010/main">
        <mc:Choice Requires="a14">
          <p:sp>
            <p:nvSpPr>
              <p:cNvPr id="3" name="內容版面配置區 2"/>
              <p:cNvSpPr>
                <a:spLocks noGrp="1"/>
              </p:cNvSpPr>
              <p:nvPr>
                <p:ph idx="1"/>
              </p:nvPr>
            </p:nvSpPr>
            <p:spPr>
              <a:xfrm>
                <a:off x="476518" y="1825625"/>
                <a:ext cx="10877282" cy="4351338"/>
              </a:xfrm>
            </p:spPr>
            <p:txBody>
              <a:bodyPr/>
              <a:lstStyle/>
              <a:p>
                <a:r>
                  <a:rPr lang="en-US" altLang="zh-TW" dirty="0" smtClean="0"/>
                  <a:t>Many applications will not yield a single model that significantly dominates all competitors because the data are not sufficiently informative to give an unequivocal answer to this question.</a:t>
                </a:r>
              </a:p>
              <a:p>
                <a:endParaRPr lang="en-US" altLang="zh-TW" dirty="0"/>
              </a:p>
              <a:p>
                <a:r>
                  <a:rPr lang="en-US" altLang="zh-TW" dirty="0" smtClean="0"/>
                  <a:t>MCS procedure:</a:t>
                </a:r>
              </a:p>
              <a:p>
                <a:pPr lvl="1"/>
                <a:r>
                  <a:rPr lang="en-US" altLang="zh-TW" dirty="0" smtClean="0"/>
                  <a:t>To determine the set of models, </a:t>
                </a:r>
                <a14:m>
                  <m:oMath xmlns:m="http://schemas.openxmlformats.org/officeDocument/2006/math">
                    <m:sSup>
                      <m:sSupPr>
                        <m:ctrlPr>
                          <a:rPr lang="en-US" altLang="zh-TW" b="0" i="1" smtClean="0">
                            <a:solidFill>
                              <a:srgbClr val="FF0000"/>
                            </a:solidFill>
                            <a:latin typeface="Cambria Math"/>
                          </a:rPr>
                        </m:ctrlPr>
                      </m:sSupPr>
                      <m:e>
                        <m:r>
                          <a:rPr lang="en-US" altLang="zh-TW" b="0" i="1" smtClean="0">
                            <a:solidFill>
                              <a:srgbClr val="FF0000"/>
                            </a:solidFill>
                            <a:latin typeface="Cambria Math" panose="02040503050406030204" pitchFamily="18" charset="0"/>
                          </a:rPr>
                          <m:t>𝑀</m:t>
                        </m:r>
                      </m:e>
                      <m:sup>
                        <m:r>
                          <a:rPr lang="en-US" altLang="zh-TW" b="0" i="1" smtClean="0">
                            <a:solidFill>
                              <a:srgbClr val="FF0000"/>
                            </a:solidFill>
                            <a:latin typeface="Cambria Math" panose="02040503050406030204" pitchFamily="18" charset="0"/>
                          </a:rPr>
                          <m:t>∗</m:t>
                        </m:r>
                      </m:sup>
                    </m:sSup>
                  </m:oMath>
                </a14:m>
                <a:r>
                  <a:rPr lang="en-US" altLang="zh-TW" dirty="0" smtClean="0"/>
                  <a:t>, that consists of the </a:t>
                </a:r>
                <a:r>
                  <a:rPr lang="en-US" altLang="zh-TW" dirty="0" smtClean="0">
                    <a:solidFill>
                      <a:srgbClr val="0070C0"/>
                    </a:solidFill>
                  </a:rPr>
                  <a:t>best models </a:t>
                </a:r>
                <a:r>
                  <a:rPr lang="en-US" altLang="zh-TW" dirty="0" smtClean="0"/>
                  <a:t>from a collection of models, </a:t>
                </a:r>
                <a14:m>
                  <m:oMath xmlns:m="http://schemas.openxmlformats.org/officeDocument/2006/math">
                    <m:sSup>
                      <m:sSupPr>
                        <m:ctrlPr>
                          <a:rPr lang="en-US" altLang="zh-TW" b="0" i="1" smtClean="0">
                            <a:solidFill>
                              <a:srgbClr val="FF0000"/>
                            </a:solidFill>
                            <a:latin typeface="Cambria Math"/>
                          </a:rPr>
                        </m:ctrlPr>
                      </m:sSupPr>
                      <m:e>
                        <m:r>
                          <a:rPr lang="en-US" altLang="zh-TW" b="0" i="1" smtClean="0">
                            <a:solidFill>
                              <a:srgbClr val="FF0000"/>
                            </a:solidFill>
                            <a:latin typeface="Cambria Math" panose="02040503050406030204" pitchFamily="18" charset="0"/>
                          </a:rPr>
                          <m:t>𝑀</m:t>
                        </m:r>
                      </m:e>
                      <m:sup>
                        <m:r>
                          <a:rPr lang="en-US" altLang="zh-TW" b="0" i="1" smtClean="0">
                            <a:solidFill>
                              <a:srgbClr val="FF0000"/>
                            </a:solidFill>
                            <a:latin typeface="Cambria Math" panose="02040503050406030204" pitchFamily="18" charset="0"/>
                          </a:rPr>
                          <m:t>0</m:t>
                        </m:r>
                      </m:sup>
                    </m:sSup>
                  </m:oMath>
                </a14:m>
                <a:r>
                  <a:rPr lang="en-US" altLang="zh-TW" dirty="0" smtClean="0"/>
                  <a:t>.</a:t>
                </a:r>
              </a:p>
              <a:p>
                <a:pPr lvl="1"/>
                <a:r>
                  <a:rPr lang="en-US" altLang="zh-TW" dirty="0" smtClean="0"/>
                  <a:t>The </a:t>
                </a:r>
                <a:r>
                  <a:rPr lang="en-US" altLang="zh-TW" dirty="0" smtClean="0">
                    <a:solidFill>
                      <a:srgbClr val="0070C0"/>
                    </a:solidFill>
                  </a:rPr>
                  <a:t>best</a:t>
                </a:r>
                <a:r>
                  <a:rPr lang="en-US" altLang="zh-TW" dirty="0" smtClean="0"/>
                  <a:t> is defined in terms of a criterion that is user-specified.</a:t>
                </a:r>
              </a:p>
              <a:p>
                <a:pPr lvl="1"/>
                <a:r>
                  <a:rPr lang="en-US" altLang="zh-TW" dirty="0" smtClean="0"/>
                  <a:t>The MCS yields a model confidence set, </a:t>
                </a:r>
                <a14:m>
                  <m:oMath xmlns:m="http://schemas.openxmlformats.org/officeDocument/2006/math">
                    <m:sSup>
                      <m:sSupPr>
                        <m:ctrlPr>
                          <a:rPr lang="en-US" altLang="zh-TW" b="0" i="1" dirty="0" smtClean="0">
                            <a:solidFill>
                              <a:srgbClr val="FF0000"/>
                            </a:solidFill>
                            <a:latin typeface="Cambria Math"/>
                          </a:rPr>
                        </m:ctrlPr>
                      </m:sSupPr>
                      <m:e>
                        <m:acc>
                          <m:accPr>
                            <m:chr m:val="̂"/>
                            <m:ctrlPr>
                              <a:rPr lang="en-US" altLang="zh-TW" b="0" i="1" smtClean="0">
                                <a:solidFill>
                                  <a:srgbClr val="FF0000"/>
                                </a:solidFill>
                                <a:latin typeface="Cambria Math"/>
                              </a:rPr>
                            </m:ctrlPr>
                          </m:accPr>
                          <m:e>
                            <m:r>
                              <a:rPr lang="en-US" altLang="zh-TW" b="0" i="1" smtClean="0">
                                <a:solidFill>
                                  <a:srgbClr val="FF0000"/>
                                </a:solidFill>
                                <a:latin typeface="Cambria Math" panose="02040503050406030204" pitchFamily="18" charset="0"/>
                              </a:rPr>
                              <m:t>𝑀</m:t>
                            </m:r>
                          </m:e>
                        </m:acc>
                      </m:e>
                      <m:sup>
                        <m:r>
                          <a:rPr lang="en-US" altLang="zh-TW" b="0" i="1" dirty="0" smtClean="0">
                            <a:solidFill>
                              <a:srgbClr val="FF0000"/>
                            </a:solidFill>
                            <a:latin typeface="Cambria Math" panose="02040503050406030204" pitchFamily="18" charset="0"/>
                          </a:rPr>
                          <m:t>∗</m:t>
                        </m:r>
                      </m:sup>
                    </m:sSup>
                  </m:oMath>
                </a14:m>
                <a:r>
                  <a:rPr lang="en-US" altLang="zh-TW" dirty="0" smtClean="0"/>
                  <a:t>, is a collection of models built to contain the best models with a given level of confidence.</a:t>
                </a:r>
              </a:p>
              <a:p>
                <a:pPr marL="914400" lvl="1" indent="-457200">
                  <a:buFont typeface="+mj-lt"/>
                  <a:buAutoNum type="arabicPeriod"/>
                </a:pPr>
                <a:endParaRPr lang="zh-TW" altLang="en-US" dirty="0"/>
              </a:p>
            </p:txBody>
          </p:sp>
        </mc:Choice>
        <mc:Fallback xmlns="">
          <p:sp>
            <p:nvSpPr>
              <p:cNvPr id="3" name="內容版面配置區 2"/>
              <p:cNvSpPr>
                <a:spLocks noGrp="1" noRot="1" noChangeAspect="1" noMove="1" noResize="1" noEditPoints="1" noAdjustHandles="1" noChangeArrowheads="1" noChangeShapeType="1" noTextEdit="1"/>
              </p:cNvSpPr>
              <p:nvPr>
                <p:ph idx="1"/>
              </p:nvPr>
            </p:nvSpPr>
            <p:spPr>
              <a:xfrm>
                <a:off x="476518" y="1825625"/>
                <a:ext cx="10877282" cy="4351338"/>
              </a:xfrm>
              <a:blipFill rotWithShape="0">
                <a:blip r:embed="rId2"/>
                <a:stretch>
                  <a:fillRect l="-1008" t="-2241"/>
                </a:stretch>
              </a:blipFill>
            </p:spPr>
            <p:txBody>
              <a:bodyPr/>
              <a:lstStyle/>
              <a:p>
                <a:r>
                  <a:rPr lang="zh-TW" altLang="en-US">
                    <a:noFill/>
                  </a:rPr>
                  <a:t> </a:t>
                </a:r>
              </a:p>
            </p:txBody>
          </p:sp>
        </mc:Fallback>
      </mc:AlternateContent>
      <p:sp>
        <p:nvSpPr>
          <p:cNvPr id="4" name="投影片編號版面配置區 3"/>
          <p:cNvSpPr>
            <a:spLocks noGrp="1"/>
          </p:cNvSpPr>
          <p:nvPr>
            <p:ph type="sldNum" sz="quarter" idx="12"/>
          </p:nvPr>
        </p:nvSpPr>
        <p:spPr/>
        <p:txBody>
          <a:bodyPr/>
          <a:lstStyle/>
          <a:p>
            <a:fld id="{8E7C9034-9CD7-4E81-904A-4E7DCAD21B02}" type="slidenum">
              <a:rPr lang="zh-TW" altLang="en-US" smtClean="0"/>
              <a:t>10</a:t>
            </a:fld>
            <a:endParaRPr lang="zh-TW" altLang="en-US"/>
          </a:p>
        </p:txBody>
      </p:sp>
    </p:spTree>
    <p:extLst>
      <p:ext uri="{BB962C8B-B14F-4D97-AF65-F5344CB8AC3E}">
        <p14:creationId xmlns:p14="http://schemas.microsoft.com/office/powerpoint/2010/main" val="2051150112"/>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Theory of MCS</a:t>
            </a:r>
            <a:endParaRPr lang="zh-TW" altLang="en-US" dirty="0"/>
          </a:p>
        </p:txBody>
      </p:sp>
      <mc:AlternateContent xmlns:mc="http://schemas.openxmlformats.org/markup-compatibility/2006" xmlns:a14="http://schemas.microsoft.com/office/drawing/2010/main">
        <mc:Choice Requires="a14">
          <p:sp>
            <p:nvSpPr>
              <p:cNvPr id="3" name="內容版面配置區 2"/>
              <p:cNvSpPr>
                <a:spLocks noGrp="1"/>
              </p:cNvSpPr>
              <p:nvPr>
                <p:ph idx="1"/>
              </p:nvPr>
            </p:nvSpPr>
            <p:spPr/>
            <p:txBody>
              <a:bodyPr/>
              <a:lstStyle/>
              <a:p>
                <a:r>
                  <a:rPr lang="en-US" altLang="zh-TW" dirty="0" smtClean="0">
                    <a:solidFill>
                      <a:srgbClr val="0070C0"/>
                    </a:solidFill>
                  </a:rPr>
                  <a:t>A model can be a econometric models, competing forecasts, or alternatives that need not involve any modelling of data such as trading rules.</a:t>
                </a:r>
              </a:p>
              <a:p>
                <a:r>
                  <a:rPr lang="en-US" altLang="zh-TW" dirty="0" smtClean="0">
                    <a:solidFill>
                      <a:srgbClr val="FF0000"/>
                    </a:solidFill>
                  </a:rPr>
                  <a:t>MCS = </a:t>
                </a:r>
              </a:p>
              <a:p>
                <a:pPr lvl="1"/>
                <a:r>
                  <a:rPr lang="en-US" altLang="zh-TW" dirty="0" smtClean="0">
                    <a:solidFill>
                      <a:srgbClr val="FF0000"/>
                    </a:solidFill>
                  </a:rPr>
                  <a:t>competing objects </a:t>
                </a:r>
                <a14:m>
                  <m:oMath xmlns:m="http://schemas.openxmlformats.org/officeDocument/2006/math">
                    <m:sSup>
                      <m:sSupPr>
                        <m:ctrlPr>
                          <a:rPr lang="en-US" altLang="zh-TW" b="0" i="1" smtClean="0">
                            <a:solidFill>
                              <a:srgbClr val="FF0000"/>
                            </a:solidFill>
                            <a:latin typeface="Cambria Math"/>
                          </a:rPr>
                        </m:ctrlPr>
                      </m:sSupPr>
                      <m:e>
                        <m:r>
                          <a:rPr lang="en-US" altLang="zh-TW" b="0" i="1" smtClean="0">
                            <a:solidFill>
                              <a:srgbClr val="FF0000"/>
                            </a:solidFill>
                            <a:latin typeface="Cambria Math" panose="02040503050406030204" pitchFamily="18" charset="0"/>
                          </a:rPr>
                          <m:t>𝑀</m:t>
                        </m:r>
                      </m:e>
                      <m:sup>
                        <m:r>
                          <a:rPr lang="en-US" altLang="zh-TW" b="0" i="1" smtClean="0">
                            <a:solidFill>
                              <a:srgbClr val="FF0000"/>
                            </a:solidFill>
                            <a:latin typeface="Cambria Math" panose="02040503050406030204" pitchFamily="18" charset="0"/>
                          </a:rPr>
                          <m:t>0</m:t>
                        </m:r>
                      </m:sup>
                    </m:sSup>
                  </m:oMath>
                </a14:m>
                <a:endParaRPr lang="en-US" altLang="zh-TW" dirty="0" smtClean="0">
                  <a:solidFill>
                    <a:srgbClr val="FF0000"/>
                  </a:solidFill>
                </a:endParaRPr>
              </a:p>
              <a:p>
                <a:pPr lvl="1"/>
                <a:r>
                  <a:rPr lang="en-US" altLang="zh-TW" dirty="0" smtClean="0">
                    <a:solidFill>
                      <a:srgbClr val="FF0000"/>
                    </a:solidFill>
                  </a:rPr>
                  <a:t>equivalence test </a:t>
                </a:r>
                <a14:m>
                  <m:oMath xmlns:m="http://schemas.openxmlformats.org/officeDocument/2006/math">
                    <m:sSub>
                      <m:sSubPr>
                        <m:ctrlPr>
                          <a:rPr lang="en-US" altLang="zh-TW" b="0" i="1" smtClean="0">
                            <a:solidFill>
                              <a:srgbClr val="FF0000"/>
                            </a:solidFill>
                            <a:latin typeface="Cambria Math"/>
                          </a:rPr>
                        </m:ctrlPr>
                      </m:sSubPr>
                      <m:e>
                        <m:r>
                          <a:rPr lang="en-US" altLang="zh-TW" b="0" i="1" smtClean="0">
                            <a:solidFill>
                              <a:srgbClr val="FF0000"/>
                            </a:solidFill>
                            <a:latin typeface="Cambria Math" panose="02040503050406030204" pitchFamily="18" charset="0"/>
                          </a:rPr>
                          <m:t>𝛿</m:t>
                        </m:r>
                      </m:e>
                      <m:sub>
                        <m:r>
                          <a:rPr lang="en-US" altLang="zh-TW" b="0" i="1" smtClean="0">
                            <a:solidFill>
                              <a:srgbClr val="FF0000"/>
                            </a:solidFill>
                            <a:latin typeface="Cambria Math" panose="02040503050406030204" pitchFamily="18" charset="0"/>
                          </a:rPr>
                          <m:t>𝑀</m:t>
                        </m:r>
                      </m:sub>
                    </m:sSub>
                  </m:oMath>
                </a14:m>
                <a:endParaRPr lang="en-US" altLang="zh-TW" dirty="0" smtClean="0">
                  <a:solidFill>
                    <a:srgbClr val="FF0000"/>
                  </a:solidFill>
                </a:endParaRPr>
              </a:p>
              <a:p>
                <a:pPr lvl="1"/>
                <a:r>
                  <a:rPr lang="en-US" altLang="zh-TW" dirty="0" smtClean="0">
                    <a:solidFill>
                      <a:srgbClr val="FF0000"/>
                    </a:solidFill>
                  </a:rPr>
                  <a:t>elimination rule </a:t>
                </a:r>
                <a14:m>
                  <m:oMath xmlns:m="http://schemas.openxmlformats.org/officeDocument/2006/math">
                    <m:sSub>
                      <m:sSubPr>
                        <m:ctrlPr>
                          <a:rPr lang="en-US" altLang="zh-TW" b="0" i="1" smtClean="0">
                            <a:solidFill>
                              <a:srgbClr val="FF0000"/>
                            </a:solidFill>
                            <a:latin typeface="Cambria Math"/>
                          </a:rPr>
                        </m:ctrlPr>
                      </m:sSubPr>
                      <m:e>
                        <m:r>
                          <a:rPr lang="en-US" altLang="zh-TW" b="0" i="1" smtClean="0">
                            <a:solidFill>
                              <a:srgbClr val="FF0000"/>
                            </a:solidFill>
                            <a:latin typeface="Cambria Math" panose="02040503050406030204" pitchFamily="18" charset="0"/>
                          </a:rPr>
                          <m:t>𝑒</m:t>
                        </m:r>
                      </m:e>
                      <m:sub>
                        <m:r>
                          <a:rPr lang="en-US" altLang="zh-TW" b="0" i="1" smtClean="0">
                            <a:solidFill>
                              <a:srgbClr val="FF0000"/>
                            </a:solidFill>
                            <a:latin typeface="Cambria Math" panose="02040503050406030204" pitchFamily="18" charset="0"/>
                          </a:rPr>
                          <m:t>𝑀</m:t>
                        </m:r>
                      </m:sub>
                    </m:sSub>
                  </m:oMath>
                </a14:m>
                <a:endParaRPr lang="en-US" altLang="zh-TW" dirty="0" smtClean="0">
                  <a:solidFill>
                    <a:srgbClr val="0070C0"/>
                  </a:solidFill>
                </a:endParaRPr>
              </a:p>
              <a:p>
                <a:pPr marL="0" indent="0">
                  <a:buNone/>
                </a:pPr>
                <a:endParaRPr lang="zh-TW" altLang="en-US" dirty="0"/>
              </a:p>
            </p:txBody>
          </p:sp>
        </mc:Choice>
        <mc:Fallback xmlns="">
          <p:sp>
            <p:nvSpPr>
              <p:cNvPr id="3" name="內容版面配置區 2"/>
              <p:cNvSpPr>
                <a:spLocks noGrp="1" noRot="1" noChangeAspect="1" noMove="1" noResize="1" noEditPoints="1" noAdjustHandles="1" noChangeArrowheads="1" noChangeShapeType="1" noTextEdit="1"/>
              </p:cNvSpPr>
              <p:nvPr>
                <p:ph idx="1"/>
              </p:nvPr>
            </p:nvSpPr>
            <p:spPr>
              <a:blipFill rotWithShape="0">
                <a:blip r:embed="rId2"/>
                <a:stretch>
                  <a:fillRect l="-1043" t="-2241"/>
                </a:stretch>
              </a:blipFill>
            </p:spPr>
            <p:txBody>
              <a:bodyPr/>
              <a:lstStyle/>
              <a:p>
                <a:r>
                  <a:rPr lang="zh-TW" altLang="en-US">
                    <a:noFill/>
                  </a:rPr>
                  <a:t> </a:t>
                </a:r>
              </a:p>
            </p:txBody>
          </p:sp>
        </mc:Fallback>
      </mc:AlternateContent>
      <p:sp>
        <p:nvSpPr>
          <p:cNvPr id="4" name="投影片編號版面配置區 3"/>
          <p:cNvSpPr>
            <a:spLocks noGrp="1"/>
          </p:cNvSpPr>
          <p:nvPr>
            <p:ph type="sldNum" sz="quarter" idx="12"/>
          </p:nvPr>
        </p:nvSpPr>
        <p:spPr/>
        <p:txBody>
          <a:bodyPr/>
          <a:lstStyle/>
          <a:p>
            <a:fld id="{8E7C9034-9CD7-4E81-904A-4E7DCAD21B02}" type="slidenum">
              <a:rPr lang="zh-TW" altLang="en-US" smtClean="0"/>
              <a:t>11</a:t>
            </a:fld>
            <a:endParaRPr lang="zh-TW" altLang="en-US"/>
          </a:p>
        </p:txBody>
      </p:sp>
    </p:spTree>
    <p:extLst>
      <p:ext uri="{BB962C8B-B14F-4D97-AF65-F5344CB8AC3E}">
        <p14:creationId xmlns:p14="http://schemas.microsoft.com/office/powerpoint/2010/main" val="1556837726"/>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MCS procedure</a:t>
            </a:r>
            <a:endParaRPr lang="zh-TW" altLang="en-US" dirty="0"/>
          </a:p>
        </p:txBody>
      </p:sp>
      <mc:AlternateContent xmlns:mc="http://schemas.openxmlformats.org/markup-compatibility/2006" xmlns:a14="http://schemas.microsoft.com/office/drawing/2010/main">
        <mc:Choice Requires="a14">
          <p:sp>
            <p:nvSpPr>
              <p:cNvPr id="3" name="內容版面配置區 2"/>
              <p:cNvSpPr>
                <a:spLocks noGrp="1"/>
              </p:cNvSpPr>
              <p:nvPr>
                <p:ph idx="1"/>
              </p:nvPr>
            </p:nvSpPr>
            <p:spPr/>
            <p:txBody>
              <a:bodyPr/>
              <a:lstStyle/>
              <a:p>
                <a:pPr marL="514350" indent="-514350">
                  <a:lnSpc>
                    <a:spcPct val="120000"/>
                  </a:lnSpc>
                  <a:buFont typeface="+mj-lt"/>
                  <a:buAutoNum type="arabicPeriod"/>
                </a:pPr>
                <a:r>
                  <a:rPr lang="en-US" altLang="zh-TW" dirty="0" smtClean="0"/>
                  <a:t>Initially set </a:t>
                </a:r>
                <a14:m>
                  <m:oMath xmlns:m="http://schemas.openxmlformats.org/officeDocument/2006/math">
                    <m:r>
                      <a:rPr lang="en-US" altLang="zh-TW" b="0" i="1" smtClean="0">
                        <a:latin typeface="Cambria Math" panose="02040503050406030204" pitchFamily="18" charset="0"/>
                      </a:rPr>
                      <m:t>𝑀</m:t>
                    </m:r>
                    <m:r>
                      <a:rPr lang="en-US" altLang="zh-TW" b="0" i="1" smtClean="0">
                        <a:latin typeface="Cambria Math" panose="02040503050406030204" pitchFamily="18" charset="0"/>
                      </a:rPr>
                      <m:t>=</m:t>
                    </m:r>
                    <m:sSup>
                      <m:sSupPr>
                        <m:ctrlPr>
                          <a:rPr lang="en-US" altLang="zh-TW" b="0" i="1" smtClean="0">
                            <a:latin typeface="Cambria Math"/>
                          </a:rPr>
                        </m:ctrlPr>
                      </m:sSupPr>
                      <m:e>
                        <m:r>
                          <a:rPr lang="en-US" altLang="zh-TW" b="0" i="1" smtClean="0">
                            <a:latin typeface="Cambria Math" panose="02040503050406030204" pitchFamily="18" charset="0"/>
                          </a:rPr>
                          <m:t>𝑀</m:t>
                        </m:r>
                      </m:e>
                      <m:sup>
                        <m:r>
                          <a:rPr lang="en-US" altLang="zh-TW" b="0" i="1" smtClean="0">
                            <a:latin typeface="Cambria Math" panose="02040503050406030204" pitchFamily="18" charset="0"/>
                          </a:rPr>
                          <m:t>0</m:t>
                        </m:r>
                      </m:sup>
                    </m:sSup>
                  </m:oMath>
                </a14:m>
                <a:endParaRPr lang="en-US" altLang="zh-TW" dirty="0" smtClean="0"/>
              </a:p>
              <a:p>
                <a:pPr marL="514350" indent="-514350">
                  <a:lnSpc>
                    <a:spcPct val="120000"/>
                  </a:lnSpc>
                  <a:buFont typeface="+mj-lt"/>
                  <a:buAutoNum type="arabicPeriod"/>
                </a:pPr>
                <a:r>
                  <a:rPr lang="en-US" altLang="zh-TW" dirty="0" smtClean="0"/>
                  <a:t>Test </a:t>
                </a:r>
                <a14:m>
                  <m:oMath xmlns:m="http://schemas.openxmlformats.org/officeDocument/2006/math">
                    <m:sSub>
                      <m:sSubPr>
                        <m:ctrlPr>
                          <a:rPr lang="en-US" altLang="zh-TW" b="0" i="1" smtClean="0">
                            <a:latin typeface="Cambria Math"/>
                          </a:rPr>
                        </m:ctrlPr>
                      </m:sSubPr>
                      <m:e>
                        <m:r>
                          <a:rPr lang="en-US" altLang="zh-TW" b="0" i="1" smtClean="0">
                            <a:latin typeface="Cambria Math" panose="02040503050406030204" pitchFamily="18" charset="0"/>
                          </a:rPr>
                          <m:t>𝐻</m:t>
                        </m:r>
                      </m:e>
                      <m:sub>
                        <m:r>
                          <a:rPr lang="en-US" altLang="zh-TW" b="0" i="1" smtClean="0">
                            <a:latin typeface="Cambria Math" panose="02040503050406030204" pitchFamily="18" charset="0"/>
                          </a:rPr>
                          <m:t>0,</m:t>
                        </m:r>
                        <m:r>
                          <a:rPr lang="en-US" altLang="zh-TW" b="0" i="1" smtClean="0">
                            <a:latin typeface="Cambria Math" panose="02040503050406030204" pitchFamily="18" charset="0"/>
                          </a:rPr>
                          <m:t>𝑀</m:t>
                        </m:r>
                      </m:sub>
                    </m:sSub>
                  </m:oMath>
                </a14:m>
                <a:r>
                  <a:rPr lang="zh-TW" altLang="en-US" dirty="0" smtClean="0"/>
                  <a:t> </a:t>
                </a:r>
                <a:r>
                  <a:rPr lang="en-US" altLang="zh-TW" dirty="0" smtClean="0"/>
                  <a:t>using </a:t>
                </a:r>
                <a14:m>
                  <m:oMath xmlns:m="http://schemas.openxmlformats.org/officeDocument/2006/math">
                    <m:sSub>
                      <m:sSubPr>
                        <m:ctrlPr>
                          <a:rPr lang="en-US" altLang="zh-TW" b="0" i="1" smtClean="0">
                            <a:latin typeface="Cambria Math"/>
                          </a:rPr>
                        </m:ctrlPr>
                      </m:sSubPr>
                      <m:e>
                        <m:r>
                          <a:rPr lang="en-US" altLang="zh-TW" b="0" i="1" smtClean="0">
                            <a:latin typeface="Cambria Math" panose="02040503050406030204" pitchFamily="18" charset="0"/>
                          </a:rPr>
                          <m:t>𝛿</m:t>
                        </m:r>
                      </m:e>
                      <m:sub>
                        <m:r>
                          <a:rPr lang="en-US" altLang="zh-TW" b="0" i="1" smtClean="0">
                            <a:latin typeface="Cambria Math" panose="02040503050406030204" pitchFamily="18" charset="0"/>
                          </a:rPr>
                          <m:t>𝑀</m:t>
                        </m:r>
                      </m:sub>
                    </m:sSub>
                  </m:oMath>
                </a14:m>
                <a:r>
                  <a:rPr lang="zh-TW" altLang="en-US" dirty="0" smtClean="0"/>
                  <a:t> </a:t>
                </a:r>
                <a:r>
                  <a:rPr lang="en-US" altLang="zh-TW" dirty="0" smtClean="0"/>
                  <a:t>at level </a:t>
                </a:r>
                <a14:m>
                  <m:oMath xmlns:m="http://schemas.openxmlformats.org/officeDocument/2006/math">
                    <m:r>
                      <a:rPr lang="en-US" altLang="zh-TW" b="0" i="1" smtClean="0">
                        <a:latin typeface="Cambria Math" panose="02040503050406030204" pitchFamily="18" charset="0"/>
                      </a:rPr>
                      <m:t>𝛼</m:t>
                    </m:r>
                  </m:oMath>
                </a14:m>
                <a:endParaRPr lang="en-US" altLang="zh-TW" dirty="0" smtClean="0"/>
              </a:p>
              <a:p>
                <a:pPr marL="514350" indent="-514350">
                  <a:lnSpc>
                    <a:spcPct val="120000"/>
                  </a:lnSpc>
                  <a:buFont typeface="+mj-lt"/>
                  <a:buAutoNum type="arabicPeriod"/>
                </a:pPr>
                <a:r>
                  <a:rPr lang="en-US" altLang="zh-TW" dirty="0" smtClean="0"/>
                  <a:t>If </a:t>
                </a:r>
                <a14:m>
                  <m:oMath xmlns:m="http://schemas.openxmlformats.org/officeDocument/2006/math">
                    <m:sSub>
                      <m:sSubPr>
                        <m:ctrlPr>
                          <a:rPr lang="en-US" altLang="zh-TW" b="0" i="1" smtClean="0">
                            <a:latin typeface="Cambria Math"/>
                          </a:rPr>
                        </m:ctrlPr>
                      </m:sSubPr>
                      <m:e>
                        <m:r>
                          <a:rPr lang="en-US" altLang="zh-TW" b="0" i="1" smtClean="0">
                            <a:latin typeface="Cambria Math" panose="02040503050406030204" pitchFamily="18" charset="0"/>
                          </a:rPr>
                          <m:t>𝐻</m:t>
                        </m:r>
                      </m:e>
                      <m:sub>
                        <m:r>
                          <a:rPr lang="en-US" altLang="zh-TW" b="0" i="1" smtClean="0">
                            <a:latin typeface="Cambria Math" panose="02040503050406030204" pitchFamily="18" charset="0"/>
                          </a:rPr>
                          <m:t>0,</m:t>
                        </m:r>
                        <m:r>
                          <a:rPr lang="en-US" altLang="zh-TW" b="0" i="1" smtClean="0">
                            <a:latin typeface="Cambria Math" panose="02040503050406030204" pitchFamily="18" charset="0"/>
                          </a:rPr>
                          <m:t>𝑀</m:t>
                        </m:r>
                      </m:sub>
                    </m:sSub>
                  </m:oMath>
                </a14:m>
                <a:r>
                  <a:rPr lang="zh-TW" altLang="en-US" dirty="0" smtClean="0"/>
                  <a:t> </a:t>
                </a:r>
                <a:r>
                  <a:rPr lang="en-US" altLang="zh-TW" dirty="0" smtClean="0"/>
                  <a:t>is accepted, define </a:t>
                </a:r>
                <a14:m>
                  <m:oMath xmlns:m="http://schemas.openxmlformats.org/officeDocument/2006/math">
                    <m:sSubSup>
                      <m:sSubSupPr>
                        <m:ctrlPr>
                          <a:rPr lang="en-US" altLang="zh-TW" b="0" i="1" dirty="0" smtClean="0">
                            <a:latin typeface="Cambria Math"/>
                          </a:rPr>
                        </m:ctrlPr>
                      </m:sSubSupPr>
                      <m:e>
                        <m:acc>
                          <m:accPr>
                            <m:chr m:val="̂"/>
                            <m:ctrlPr>
                              <a:rPr lang="en-US" altLang="zh-TW" b="0" i="1" smtClean="0">
                                <a:latin typeface="Cambria Math"/>
                              </a:rPr>
                            </m:ctrlPr>
                          </m:accPr>
                          <m:e>
                            <m:r>
                              <a:rPr lang="en-US" altLang="zh-TW" b="0" i="1" smtClean="0">
                                <a:latin typeface="Cambria Math" panose="02040503050406030204" pitchFamily="18" charset="0"/>
                              </a:rPr>
                              <m:t>𝑀</m:t>
                            </m:r>
                          </m:e>
                        </m:acc>
                      </m:e>
                      <m:sub>
                        <m:r>
                          <a:rPr lang="en-US" altLang="zh-TW" b="0" i="1" dirty="0" smtClean="0">
                            <a:latin typeface="Cambria Math" panose="02040503050406030204" pitchFamily="18" charset="0"/>
                          </a:rPr>
                          <m:t>1−</m:t>
                        </m:r>
                        <m:r>
                          <a:rPr lang="en-US" altLang="zh-TW" b="0" i="1" dirty="0" smtClean="0">
                            <a:latin typeface="Cambria Math" panose="02040503050406030204" pitchFamily="18" charset="0"/>
                          </a:rPr>
                          <m:t>𝛼</m:t>
                        </m:r>
                      </m:sub>
                      <m:sup>
                        <m:r>
                          <a:rPr lang="en-US" altLang="zh-TW" b="0" i="1" dirty="0" smtClean="0">
                            <a:latin typeface="Cambria Math" panose="02040503050406030204" pitchFamily="18" charset="0"/>
                          </a:rPr>
                          <m:t>∗</m:t>
                        </m:r>
                      </m:sup>
                    </m:sSubSup>
                    <m:r>
                      <a:rPr lang="en-US" altLang="zh-TW" b="0" i="1" dirty="0" smtClean="0">
                        <a:latin typeface="Cambria Math" panose="02040503050406030204" pitchFamily="18" charset="0"/>
                      </a:rPr>
                      <m:t>=</m:t>
                    </m:r>
                    <m:r>
                      <a:rPr lang="en-US" altLang="zh-TW" b="0" i="1" dirty="0" smtClean="0">
                        <a:latin typeface="Cambria Math" panose="02040503050406030204" pitchFamily="18" charset="0"/>
                      </a:rPr>
                      <m:t>𝑀</m:t>
                    </m:r>
                  </m:oMath>
                </a14:m>
                <a:r>
                  <a:rPr lang="en-US" altLang="zh-TW" dirty="0" smtClean="0"/>
                  <a:t/>
                </a:r>
                <a:br>
                  <a:rPr lang="en-US" altLang="zh-TW" dirty="0" smtClean="0"/>
                </a:br>
                <a:r>
                  <a:rPr lang="en-US" altLang="zh-TW" dirty="0" smtClean="0"/>
                  <a:t>otherwise use </a:t>
                </a:r>
                <a14:m>
                  <m:oMath xmlns:m="http://schemas.openxmlformats.org/officeDocument/2006/math">
                    <m:sSub>
                      <m:sSubPr>
                        <m:ctrlPr>
                          <a:rPr lang="en-US" altLang="zh-TW" b="0" i="1" smtClean="0">
                            <a:latin typeface="Cambria Math"/>
                          </a:rPr>
                        </m:ctrlPr>
                      </m:sSubPr>
                      <m:e>
                        <m:r>
                          <a:rPr lang="en-US" altLang="zh-TW" b="0" i="1" smtClean="0">
                            <a:latin typeface="Cambria Math" panose="02040503050406030204" pitchFamily="18" charset="0"/>
                          </a:rPr>
                          <m:t>𝑒</m:t>
                        </m:r>
                      </m:e>
                      <m:sub>
                        <m:r>
                          <a:rPr lang="en-US" altLang="zh-TW" b="0" i="1" smtClean="0">
                            <a:latin typeface="Cambria Math" panose="02040503050406030204" pitchFamily="18" charset="0"/>
                          </a:rPr>
                          <m:t>𝑀</m:t>
                        </m:r>
                      </m:sub>
                    </m:sSub>
                  </m:oMath>
                </a14:m>
                <a:r>
                  <a:rPr lang="zh-TW" altLang="en-US" dirty="0" smtClean="0"/>
                  <a:t> </a:t>
                </a:r>
                <a:r>
                  <a:rPr lang="en-US" altLang="zh-TW" dirty="0" smtClean="0"/>
                  <a:t>to eliminate an object from M,</a:t>
                </a:r>
                <a:br>
                  <a:rPr lang="en-US" altLang="zh-TW" dirty="0" smtClean="0"/>
                </a:br>
                <a:r>
                  <a:rPr lang="en-US" altLang="zh-TW" dirty="0" smtClean="0"/>
                  <a:t>and repeat the procedure from step 2.</a:t>
                </a:r>
                <a:endParaRPr lang="zh-TW" altLang="en-US" dirty="0"/>
              </a:p>
            </p:txBody>
          </p:sp>
        </mc:Choice>
        <mc:Fallback xmlns="">
          <p:sp>
            <p:nvSpPr>
              <p:cNvPr id="3" name="內容版面配置區 2"/>
              <p:cNvSpPr>
                <a:spLocks noGrp="1" noRot="1" noChangeAspect="1" noMove="1" noResize="1" noEditPoints="1" noAdjustHandles="1" noChangeArrowheads="1" noChangeShapeType="1" noTextEdit="1"/>
              </p:cNvSpPr>
              <p:nvPr>
                <p:ph idx="1"/>
              </p:nvPr>
            </p:nvSpPr>
            <p:spPr>
              <a:blipFill rotWithShape="0">
                <a:blip r:embed="rId2"/>
                <a:stretch>
                  <a:fillRect l="-1217" t="-280"/>
                </a:stretch>
              </a:blipFill>
            </p:spPr>
            <p:txBody>
              <a:bodyPr/>
              <a:lstStyle/>
              <a:p>
                <a:r>
                  <a:rPr lang="zh-TW" altLang="en-US">
                    <a:noFill/>
                  </a:rPr>
                  <a:t> </a:t>
                </a:r>
              </a:p>
            </p:txBody>
          </p:sp>
        </mc:Fallback>
      </mc:AlternateContent>
      <p:sp>
        <p:nvSpPr>
          <p:cNvPr id="4" name="投影片編號版面配置區 3"/>
          <p:cNvSpPr>
            <a:spLocks noGrp="1"/>
          </p:cNvSpPr>
          <p:nvPr>
            <p:ph type="sldNum" sz="quarter" idx="12"/>
          </p:nvPr>
        </p:nvSpPr>
        <p:spPr/>
        <p:txBody>
          <a:bodyPr/>
          <a:lstStyle/>
          <a:p>
            <a:fld id="{8E7C9034-9CD7-4E81-904A-4E7DCAD21B02}" type="slidenum">
              <a:rPr lang="zh-TW" altLang="en-US" smtClean="0"/>
              <a:t>12</a:t>
            </a:fld>
            <a:endParaRPr lang="zh-TW" altLang="en-US"/>
          </a:p>
        </p:txBody>
      </p:sp>
    </p:spTree>
    <p:extLst>
      <p:ext uri="{BB962C8B-B14F-4D97-AF65-F5344CB8AC3E}">
        <p14:creationId xmlns:p14="http://schemas.microsoft.com/office/powerpoint/2010/main" val="3376534058"/>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Example: </a:t>
            </a:r>
            <a:r>
              <a:rPr lang="zh-TW" altLang="en-US" dirty="0" smtClean="0"/>
              <a:t>檢定指數報酬率</a:t>
            </a:r>
            <a:endParaRPr lang="zh-TW" altLang="en-US" dirty="0"/>
          </a:p>
        </p:txBody>
      </p:sp>
      <p:sp>
        <p:nvSpPr>
          <p:cNvPr id="4" name="投影片編號版面配置區 3"/>
          <p:cNvSpPr>
            <a:spLocks noGrp="1"/>
          </p:cNvSpPr>
          <p:nvPr>
            <p:ph type="sldNum" sz="quarter" idx="12"/>
          </p:nvPr>
        </p:nvSpPr>
        <p:spPr/>
        <p:txBody>
          <a:bodyPr/>
          <a:lstStyle/>
          <a:p>
            <a:fld id="{8E7C9034-9CD7-4E81-904A-4E7DCAD21B02}" type="slidenum">
              <a:rPr lang="zh-TW" altLang="en-US" smtClean="0"/>
              <a:t>13</a:t>
            </a:fld>
            <a:endParaRPr lang="zh-TW" altLang="en-US"/>
          </a:p>
        </p:txBody>
      </p:sp>
      <p:graphicFrame>
        <p:nvGraphicFramePr>
          <p:cNvPr id="7" name="表格 6"/>
          <p:cNvGraphicFramePr>
            <a:graphicFrameLocks noGrp="1"/>
          </p:cNvGraphicFramePr>
          <p:nvPr>
            <p:extLst>
              <p:ext uri="{D42A27DB-BD31-4B8C-83A1-F6EECF244321}">
                <p14:modId xmlns:p14="http://schemas.microsoft.com/office/powerpoint/2010/main" val="4292138200"/>
              </p:ext>
            </p:extLst>
          </p:nvPr>
        </p:nvGraphicFramePr>
        <p:xfrm>
          <a:off x="193184" y="2029362"/>
          <a:ext cx="11745528" cy="2001725"/>
        </p:xfrm>
        <a:graphic>
          <a:graphicData uri="http://schemas.openxmlformats.org/drawingml/2006/table">
            <a:tbl>
              <a:tblPr>
                <a:tableStyleId>{7DF18680-E054-41AD-8BC1-D1AEF772440D}</a:tableStyleId>
              </a:tblPr>
              <a:tblGrid>
                <a:gridCol w="1264092"/>
                <a:gridCol w="1164604"/>
                <a:gridCol w="1164604"/>
                <a:gridCol w="1164604"/>
                <a:gridCol w="1164604"/>
                <a:gridCol w="1164604"/>
                <a:gridCol w="1164604"/>
                <a:gridCol w="1164604"/>
                <a:gridCol w="1164604"/>
                <a:gridCol w="1164604"/>
              </a:tblGrid>
              <a:tr h="400345">
                <a:tc>
                  <a:txBody>
                    <a:bodyPr/>
                    <a:lstStyle/>
                    <a:p>
                      <a:pPr algn="l" fontAlgn="ctr"/>
                      <a:r>
                        <a:rPr lang="en-US" altLang="zh-TW" sz="2400" u="none" strike="noStrike" dirty="0" smtClean="0">
                          <a:effectLst/>
                        </a:rPr>
                        <a:t>ROI(%)</a:t>
                      </a:r>
                      <a:endParaRPr lang="zh-TW" altLang="en-US" sz="24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525" marR="9525" marT="9525" marB="0" anchor="ctr"/>
                </a:tc>
                <a:tc>
                  <a:txBody>
                    <a:bodyPr/>
                    <a:lstStyle/>
                    <a:p>
                      <a:pPr algn="r" fontAlgn="ctr"/>
                      <a:r>
                        <a:rPr lang="en-US" altLang="zh-TW" sz="1600" u="none" strike="noStrike" dirty="0">
                          <a:effectLst/>
                        </a:rPr>
                        <a:t>2012/11/20</a:t>
                      </a:r>
                      <a:endParaRPr lang="en-US" altLang="zh-TW" sz="16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525" marR="9525" marT="9525" marB="0" anchor="ctr"/>
                </a:tc>
                <a:tc>
                  <a:txBody>
                    <a:bodyPr/>
                    <a:lstStyle/>
                    <a:p>
                      <a:pPr algn="r" fontAlgn="ctr"/>
                      <a:r>
                        <a:rPr lang="en-US" altLang="zh-TW" sz="1600" u="none" strike="noStrike" dirty="0">
                          <a:effectLst/>
                        </a:rPr>
                        <a:t>2012/11/21</a:t>
                      </a:r>
                      <a:endParaRPr lang="en-US" altLang="zh-TW" sz="16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525" marR="9525" marT="9525" marB="0" anchor="ctr"/>
                </a:tc>
                <a:tc>
                  <a:txBody>
                    <a:bodyPr/>
                    <a:lstStyle/>
                    <a:p>
                      <a:pPr algn="r" fontAlgn="ctr"/>
                      <a:r>
                        <a:rPr lang="en-US" altLang="zh-TW" sz="1600" u="none" strike="noStrike" dirty="0">
                          <a:effectLst/>
                        </a:rPr>
                        <a:t>2012/11/22</a:t>
                      </a:r>
                      <a:endParaRPr lang="en-US" altLang="zh-TW" sz="16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525" marR="9525" marT="9525" marB="0" anchor="ctr"/>
                </a:tc>
                <a:tc>
                  <a:txBody>
                    <a:bodyPr/>
                    <a:lstStyle/>
                    <a:p>
                      <a:pPr algn="r" fontAlgn="ctr"/>
                      <a:r>
                        <a:rPr lang="en-US" altLang="zh-TW" sz="1600" u="none" strike="noStrike" dirty="0">
                          <a:effectLst/>
                        </a:rPr>
                        <a:t>2012/11/23</a:t>
                      </a:r>
                      <a:endParaRPr lang="en-US" altLang="zh-TW" sz="16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525" marR="9525" marT="9525" marB="0" anchor="ctr"/>
                </a:tc>
                <a:tc>
                  <a:txBody>
                    <a:bodyPr/>
                    <a:lstStyle/>
                    <a:p>
                      <a:pPr algn="r" fontAlgn="ctr"/>
                      <a:r>
                        <a:rPr lang="en-US" altLang="zh-TW" sz="1600" u="none" strike="noStrike" dirty="0">
                          <a:effectLst/>
                        </a:rPr>
                        <a:t>2012/11/26</a:t>
                      </a:r>
                      <a:endParaRPr lang="en-US" altLang="zh-TW" sz="16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525" marR="9525" marT="9525" marB="0" anchor="ctr"/>
                </a:tc>
                <a:tc>
                  <a:txBody>
                    <a:bodyPr/>
                    <a:lstStyle/>
                    <a:p>
                      <a:pPr algn="r" fontAlgn="ctr"/>
                      <a:r>
                        <a:rPr lang="en-US" altLang="zh-TW" sz="1600" u="none" strike="noStrike" dirty="0">
                          <a:effectLst/>
                        </a:rPr>
                        <a:t>2012/11/27</a:t>
                      </a:r>
                      <a:endParaRPr lang="en-US" altLang="zh-TW" sz="16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525" marR="9525" marT="9525" marB="0" anchor="ctr"/>
                </a:tc>
                <a:tc>
                  <a:txBody>
                    <a:bodyPr/>
                    <a:lstStyle/>
                    <a:p>
                      <a:pPr algn="r" fontAlgn="ctr"/>
                      <a:r>
                        <a:rPr lang="en-US" altLang="zh-TW" sz="1600" u="none" strike="noStrike" dirty="0">
                          <a:effectLst/>
                        </a:rPr>
                        <a:t>2012/11/28</a:t>
                      </a:r>
                      <a:endParaRPr lang="en-US" altLang="zh-TW" sz="16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525" marR="9525" marT="9525" marB="0" anchor="ctr"/>
                </a:tc>
                <a:tc>
                  <a:txBody>
                    <a:bodyPr/>
                    <a:lstStyle/>
                    <a:p>
                      <a:pPr algn="r" fontAlgn="ctr"/>
                      <a:r>
                        <a:rPr lang="en-US" altLang="zh-TW" sz="1600" u="none" strike="noStrike" dirty="0">
                          <a:effectLst/>
                        </a:rPr>
                        <a:t>2012/11/29</a:t>
                      </a:r>
                      <a:endParaRPr lang="en-US" altLang="zh-TW" sz="16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525" marR="9525" marT="9525" marB="0" anchor="ctr"/>
                </a:tc>
                <a:tc>
                  <a:txBody>
                    <a:bodyPr/>
                    <a:lstStyle/>
                    <a:p>
                      <a:pPr algn="r" fontAlgn="ctr"/>
                      <a:r>
                        <a:rPr lang="en-US" altLang="zh-TW" sz="1600" u="none" strike="noStrike" dirty="0">
                          <a:effectLst/>
                        </a:rPr>
                        <a:t>2012/11/30</a:t>
                      </a:r>
                      <a:endParaRPr lang="en-US" altLang="zh-TW" sz="16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525" marR="9525" marT="9525" marB="0" anchor="ctr"/>
                </a:tc>
              </a:tr>
              <a:tr h="400345">
                <a:tc>
                  <a:txBody>
                    <a:bodyPr/>
                    <a:lstStyle/>
                    <a:p>
                      <a:pPr marL="0" indent="0" algn="l" fontAlgn="ctr">
                        <a:buFont typeface="+mj-lt"/>
                        <a:buNone/>
                      </a:pPr>
                      <a:r>
                        <a:rPr lang="en-US" sz="1800" u="none" strike="noStrike" dirty="0" smtClean="0">
                          <a:effectLst/>
                        </a:rPr>
                        <a:t>1.TAIEX </a:t>
                      </a:r>
                      <a:endParaRPr lang="en-US" sz="18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525" marR="9525" marT="9525" marB="0" anchor="ctr"/>
                </a:tc>
                <a:tc>
                  <a:txBody>
                    <a:bodyPr/>
                    <a:lstStyle/>
                    <a:p>
                      <a:pPr algn="r" fontAlgn="ctr"/>
                      <a:r>
                        <a:rPr lang="en-US" altLang="zh-TW" sz="2400" u="none" strike="noStrike">
                          <a:effectLst/>
                        </a:rPr>
                        <a:t>0.2347 </a:t>
                      </a:r>
                      <a:endParaRPr lang="en-US" altLang="zh-TW" sz="2400" b="0" i="0" u="none" strike="noStrike">
                        <a:solidFill>
                          <a:srgbClr val="000000"/>
                        </a:solidFill>
                        <a:effectLst/>
                        <a:latin typeface="新細明體" panose="02020500000000000000" pitchFamily="18" charset="-120"/>
                        <a:ea typeface="新細明體" panose="02020500000000000000" pitchFamily="18" charset="-120"/>
                      </a:endParaRPr>
                    </a:p>
                  </a:txBody>
                  <a:tcPr marL="9525" marR="9525" marT="9525" marB="0" anchor="ctr"/>
                </a:tc>
                <a:tc>
                  <a:txBody>
                    <a:bodyPr/>
                    <a:lstStyle/>
                    <a:p>
                      <a:pPr algn="r" fontAlgn="ctr"/>
                      <a:r>
                        <a:rPr lang="en-US" altLang="zh-TW" sz="2400" u="none" strike="noStrike" dirty="0">
                          <a:effectLst/>
                        </a:rPr>
                        <a:t>-0.8016 </a:t>
                      </a:r>
                      <a:endParaRPr lang="en-US" altLang="zh-TW" sz="24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525" marR="9525" marT="9525" marB="0" anchor="ctr"/>
                </a:tc>
                <a:tc>
                  <a:txBody>
                    <a:bodyPr/>
                    <a:lstStyle/>
                    <a:p>
                      <a:pPr algn="r" fontAlgn="ctr"/>
                      <a:r>
                        <a:rPr lang="en-US" altLang="zh-TW" sz="2400" u="none" strike="noStrike">
                          <a:effectLst/>
                        </a:rPr>
                        <a:t>0.2436 </a:t>
                      </a:r>
                      <a:endParaRPr lang="en-US" altLang="zh-TW" sz="2400" b="0" i="0" u="none" strike="noStrike">
                        <a:solidFill>
                          <a:srgbClr val="000000"/>
                        </a:solidFill>
                        <a:effectLst/>
                        <a:latin typeface="新細明體" panose="02020500000000000000" pitchFamily="18" charset="-120"/>
                        <a:ea typeface="新細明體" panose="02020500000000000000" pitchFamily="18" charset="-120"/>
                      </a:endParaRPr>
                    </a:p>
                  </a:txBody>
                  <a:tcPr marL="9525" marR="9525" marT="9525" marB="0" anchor="ctr"/>
                </a:tc>
                <a:tc>
                  <a:txBody>
                    <a:bodyPr/>
                    <a:lstStyle/>
                    <a:p>
                      <a:pPr algn="r" fontAlgn="ctr"/>
                      <a:r>
                        <a:rPr lang="en-US" altLang="zh-TW" sz="2400" u="none" strike="noStrike">
                          <a:effectLst/>
                        </a:rPr>
                        <a:t>3.0996 </a:t>
                      </a:r>
                      <a:endParaRPr lang="en-US" altLang="zh-TW" sz="2400" b="0" i="0" u="none" strike="noStrike">
                        <a:solidFill>
                          <a:srgbClr val="000000"/>
                        </a:solidFill>
                        <a:effectLst/>
                        <a:latin typeface="新細明體" panose="02020500000000000000" pitchFamily="18" charset="-120"/>
                        <a:ea typeface="新細明體" panose="02020500000000000000" pitchFamily="18" charset="-120"/>
                      </a:endParaRPr>
                    </a:p>
                  </a:txBody>
                  <a:tcPr marL="9525" marR="9525" marT="9525" marB="0" anchor="ctr"/>
                </a:tc>
                <a:tc>
                  <a:txBody>
                    <a:bodyPr/>
                    <a:lstStyle/>
                    <a:p>
                      <a:pPr algn="r" fontAlgn="ctr"/>
                      <a:r>
                        <a:rPr lang="en-US" altLang="zh-TW" sz="2400" u="none" strike="noStrike">
                          <a:effectLst/>
                        </a:rPr>
                        <a:t>1.1106 </a:t>
                      </a:r>
                      <a:endParaRPr lang="en-US" altLang="zh-TW" sz="2400" b="0" i="0" u="none" strike="noStrike">
                        <a:solidFill>
                          <a:srgbClr val="000000"/>
                        </a:solidFill>
                        <a:effectLst/>
                        <a:latin typeface="新細明體" panose="02020500000000000000" pitchFamily="18" charset="-120"/>
                        <a:ea typeface="新細明體" panose="02020500000000000000" pitchFamily="18" charset="-120"/>
                      </a:endParaRPr>
                    </a:p>
                  </a:txBody>
                  <a:tcPr marL="9525" marR="9525" marT="9525" marB="0" anchor="ctr"/>
                </a:tc>
                <a:tc>
                  <a:txBody>
                    <a:bodyPr/>
                    <a:lstStyle/>
                    <a:p>
                      <a:pPr algn="r" fontAlgn="ctr"/>
                      <a:r>
                        <a:rPr lang="en-US" altLang="zh-TW" sz="2400" u="none" strike="noStrike">
                          <a:effectLst/>
                        </a:rPr>
                        <a:t>0.3082 </a:t>
                      </a:r>
                      <a:endParaRPr lang="en-US" altLang="zh-TW" sz="2400" b="0" i="0" u="none" strike="noStrike">
                        <a:solidFill>
                          <a:srgbClr val="000000"/>
                        </a:solidFill>
                        <a:effectLst/>
                        <a:latin typeface="新細明體" panose="02020500000000000000" pitchFamily="18" charset="-120"/>
                        <a:ea typeface="新細明體" panose="02020500000000000000" pitchFamily="18" charset="-120"/>
                      </a:endParaRPr>
                    </a:p>
                  </a:txBody>
                  <a:tcPr marL="9525" marR="9525" marT="9525" marB="0" anchor="ctr"/>
                </a:tc>
                <a:tc>
                  <a:txBody>
                    <a:bodyPr/>
                    <a:lstStyle/>
                    <a:p>
                      <a:pPr algn="r" fontAlgn="ctr"/>
                      <a:r>
                        <a:rPr lang="en-US" altLang="zh-TW" sz="2400" u="none" strike="noStrike">
                          <a:effectLst/>
                        </a:rPr>
                        <a:t>0.0637 </a:t>
                      </a:r>
                      <a:endParaRPr lang="en-US" altLang="zh-TW" sz="2400" b="0" i="0" u="none" strike="noStrike">
                        <a:solidFill>
                          <a:srgbClr val="000000"/>
                        </a:solidFill>
                        <a:effectLst/>
                        <a:latin typeface="新細明體" panose="02020500000000000000" pitchFamily="18" charset="-120"/>
                        <a:ea typeface="新細明體" panose="02020500000000000000" pitchFamily="18" charset="-120"/>
                      </a:endParaRPr>
                    </a:p>
                  </a:txBody>
                  <a:tcPr marL="9525" marR="9525" marT="9525" marB="0" anchor="ctr"/>
                </a:tc>
                <a:tc>
                  <a:txBody>
                    <a:bodyPr/>
                    <a:lstStyle/>
                    <a:p>
                      <a:pPr algn="r" fontAlgn="ctr"/>
                      <a:r>
                        <a:rPr lang="en-US" altLang="zh-TW" sz="2400" u="none" strike="noStrike">
                          <a:effectLst/>
                        </a:rPr>
                        <a:t>0.9229 </a:t>
                      </a:r>
                      <a:endParaRPr lang="en-US" altLang="zh-TW" sz="2400" b="0" i="0" u="none" strike="noStrike">
                        <a:solidFill>
                          <a:srgbClr val="000000"/>
                        </a:solidFill>
                        <a:effectLst/>
                        <a:latin typeface="新細明體" panose="02020500000000000000" pitchFamily="18" charset="-120"/>
                        <a:ea typeface="新細明體" panose="02020500000000000000" pitchFamily="18" charset="-120"/>
                      </a:endParaRPr>
                    </a:p>
                  </a:txBody>
                  <a:tcPr marL="9525" marR="9525" marT="9525" marB="0" anchor="ctr"/>
                </a:tc>
                <a:tc>
                  <a:txBody>
                    <a:bodyPr/>
                    <a:lstStyle/>
                    <a:p>
                      <a:pPr algn="r" fontAlgn="ctr"/>
                      <a:r>
                        <a:rPr lang="en-US" altLang="zh-TW" sz="2400" u="none" strike="noStrike">
                          <a:effectLst/>
                        </a:rPr>
                        <a:t>1.0211 </a:t>
                      </a:r>
                      <a:endParaRPr lang="en-US" altLang="zh-TW" sz="2400" b="0" i="0" u="none" strike="noStrike">
                        <a:solidFill>
                          <a:srgbClr val="000000"/>
                        </a:solidFill>
                        <a:effectLst/>
                        <a:latin typeface="新細明體" panose="02020500000000000000" pitchFamily="18" charset="-120"/>
                        <a:ea typeface="新細明體" panose="02020500000000000000" pitchFamily="18" charset="-120"/>
                      </a:endParaRPr>
                    </a:p>
                  </a:txBody>
                  <a:tcPr marL="9525" marR="9525" marT="9525" marB="0" anchor="ctr"/>
                </a:tc>
              </a:tr>
              <a:tr h="400345">
                <a:tc>
                  <a:txBody>
                    <a:bodyPr/>
                    <a:lstStyle/>
                    <a:p>
                      <a:pPr marL="0" indent="0" algn="l" fontAlgn="ctr">
                        <a:buFont typeface="+mj-lt"/>
                        <a:buNone/>
                      </a:pPr>
                      <a:r>
                        <a:rPr lang="en-US" sz="1800" u="none" strike="noStrike" dirty="0" smtClean="0">
                          <a:effectLst/>
                        </a:rPr>
                        <a:t>2.HIS</a:t>
                      </a:r>
                      <a:endParaRPr lang="en-US" sz="18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525" marR="9525" marT="9525" marB="0" anchor="ctr"/>
                </a:tc>
                <a:tc>
                  <a:txBody>
                    <a:bodyPr/>
                    <a:lstStyle/>
                    <a:p>
                      <a:pPr algn="r" fontAlgn="ctr"/>
                      <a:r>
                        <a:rPr lang="en-US" altLang="zh-TW" sz="2400" u="none" strike="noStrike">
                          <a:effectLst/>
                        </a:rPr>
                        <a:t>-0.1589 </a:t>
                      </a:r>
                      <a:endParaRPr lang="en-US" altLang="zh-TW" sz="2400" b="0" i="0" u="none" strike="noStrike">
                        <a:solidFill>
                          <a:srgbClr val="000000"/>
                        </a:solidFill>
                        <a:effectLst/>
                        <a:latin typeface="新細明體" panose="02020500000000000000" pitchFamily="18" charset="-120"/>
                        <a:ea typeface="新細明體" panose="02020500000000000000" pitchFamily="18" charset="-120"/>
                      </a:endParaRPr>
                    </a:p>
                  </a:txBody>
                  <a:tcPr marL="9525" marR="9525" marT="9525" marB="0" anchor="ctr"/>
                </a:tc>
                <a:tc>
                  <a:txBody>
                    <a:bodyPr/>
                    <a:lstStyle/>
                    <a:p>
                      <a:pPr algn="r" fontAlgn="ctr"/>
                      <a:r>
                        <a:rPr lang="en-US" altLang="zh-TW" sz="2400" u="none" strike="noStrike" dirty="0">
                          <a:effectLst/>
                        </a:rPr>
                        <a:t>1.3947 </a:t>
                      </a:r>
                      <a:endParaRPr lang="en-US" altLang="zh-TW" sz="24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525" marR="9525" marT="9525" marB="0" anchor="ctr"/>
                </a:tc>
                <a:tc>
                  <a:txBody>
                    <a:bodyPr/>
                    <a:lstStyle/>
                    <a:p>
                      <a:pPr algn="r" fontAlgn="ctr"/>
                      <a:r>
                        <a:rPr lang="en-US" altLang="zh-TW" sz="2400" u="none" strike="noStrike" dirty="0">
                          <a:effectLst/>
                        </a:rPr>
                        <a:t>1.0167 </a:t>
                      </a:r>
                      <a:endParaRPr lang="en-US" altLang="zh-TW" sz="24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525" marR="9525" marT="9525" marB="0" anchor="ctr"/>
                </a:tc>
                <a:tc>
                  <a:txBody>
                    <a:bodyPr/>
                    <a:lstStyle/>
                    <a:p>
                      <a:pPr algn="r" fontAlgn="ctr"/>
                      <a:r>
                        <a:rPr lang="en-US" altLang="zh-TW" sz="2400" u="none" strike="noStrike" dirty="0">
                          <a:effectLst/>
                        </a:rPr>
                        <a:t>0.7854 </a:t>
                      </a:r>
                      <a:endParaRPr lang="en-US" altLang="zh-TW" sz="24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525" marR="9525" marT="9525" marB="0" anchor="ctr"/>
                </a:tc>
                <a:tc>
                  <a:txBody>
                    <a:bodyPr/>
                    <a:lstStyle/>
                    <a:p>
                      <a:pPr algn="r" fontAlgn="ctr"/>
                      <a:r>
                        <a:rPr lang="en-US" altLang="zh-TW" sz="2400" u="none" strike="noStrike">
                          <a:effectLst/>
                        </a:rPr>
                        <a:t>-0.2381 </a:t>
                      </a:r>
                      <a:endParaRPr lang="en-US" altLang="zh-TW" sz="2400" b="0" i="0" u="none" strike="noStrike">
                        <a:solidFill>
                          <a:srgbClr val="000000"/>
                        </a:solidFill>
                        <a:effectLst/>
                        <a:latin typeface="新細明體" panose="02020500000000000000" pitchFamily="18" charset="-120"/>
                        <a:ea typeface="新細明體" panose="02020500000000000000" pitchFamily="18" charset="-120"/>
                      </a:endParaRPr>
                    </a:p>
                  </a:txBody>
                  <a:tcPr marL="9525" marR="9525" marT="9525" marB="0" anchor="ctr"/>
                </a:tc>
                <a:tc>
                  <a:txBody>
                    <a:bodyPr/>
                    <a:lstStyle/>
                    <a:p>
                      <a:pPr algn="r" fontAlgn="ctr"/>
                      <a:r>
                        <a:rPr lang="en-US" altLang="zh-TW" sz="2400" u="none" strike="noStrike">
                          <a:effectLst/>
                        </a:rPr>
                        <a:t>-0.0813 </a:t>
                      </a:r>
                      <a:endParaRPr lang="en-US" altLang="zh-TW" sz="2400" b="0" i="0" u="none" strike="noStrike">
                        <a:solidFill>
                          <a:srgbClr val="000000"/>
                        </a:solidFill>
                        <a:effectLst/>
                        <a:latin typeface="新細明體" panose="02020500000000000000" pitchFamily="18" charset="-120"/>
                        <a:ea typeface="新細明體" panose="02020500000000000000" pitchFamily="18" charset="-120"/>
                      </a:endParaRPr>
                    </a:p>
                  </a:txBody>
                  <a:tcPr marL="9525" marR="9525" marT="9525" marB="0" anchor="ctr"/>
                </a:tc>
                <a:tc>
                  <a:txBody>
                    <a:bodyPr/>
                    <a:lstStyle/>
                    <a:p>
                      <a:pPr algn="r" fontAlgn="ctr"/>
                      <a:r>
                        <a:rPr lang="en-US" altLang="zh-TW" sz="2400" u="none" strike="noStrike">
                          <a:effectLst/>
                        </a:rPr>
                        <a:t>-0.6182 </a:t>
                      </a:r>
                      <a:endParaRPr lang="en-US" altLang="zh-TW" sz="2400" b="0" i="0" u="none" strike="noStrike">
                        <a:solidFill>
                          <a:srgbClr val="000000"/>
                        </a:solidFill>
                        <a:effectLst/>
                        <a:latin typeface="新細明體" panose="02020500000000000000" pitchFamily="18" charset="-120"/>
                        <a:ea typeface="新細明體" panose="02020500000000000000" pitchFamily="18" charset="-120"/>
                      </a:endParaRPr>
                    </a:p>
                  </a:txBody>
                  <a:tcPr marL="9525" marR="9525" marT="9525" marB="0" anchor="ctr"/>
                </a:tc>
                <a:tc>
                  <a:txBody>
                    <a:bodyPr/>
                    <a:lstStyle/>
                    <a:p>
                      <a:pPr algn="r" fontAlgn="ctr"/>
                      <a:r>
                        <a:rPr lang="en-US" altLang="zh-TW" sz="2400" u="none" strike="noStrike">
                          <a:effectLst/>
                        </a:rPr>
                        <a:t>0.9854 </a:t>
                      </a:r>
                      <a:endParaRPr lang="en-US" altLang="zh-TW" sz="2400" b="0" i="0" u="none" strike="noStrike">
                        <a:solidFill>
                          <a:srgbClr val="000000"/>
                        </a:solidFill>
                        <a:effectLst/>
                        <a:latin typeface="新細明體" panose="02020500000000000000" pitchFamily="18" charset="-120"/>
                        <a:ea typeface="新細明體" panose="02020500000000000000" pitchFamily="18" charset="-120"/>
                      </a:endParaRPr>
                    </a:p>
                  </a:txBody>
                  <a:tcPr marL="9525" marR="9525" marT="9525" marB="0" anchor="ctr"/>
                </a:tc>
                <a:tc>
                  <a:txBody>
                    <a:bodyPr/>
                    <a:lstStyle/>
                    <a:p>
                      <a:pPr algn="r" fontAlgn="ctr"/>
                      <a:r>
                        <a:rPr lang="en-US" altLang="zh-TW" sz="2400" u="none" strike="noStrike">
                          <a:effectLst/>
                        </a:rPr>
                        <a:t>0.4904 </a:t>
                      </a:r>
                      <a:endParaRPr lang="en-US" altLang="zh-TW" sz="2400" b="0" i="0" u="none" strike="noStrike">
                        <a:solidFill>
                          <a:srgbClr val="000000"/>
                        </a:solidFill>
                        <a:effectLst/>
                        <a:latin typeface="新細明體" panose="02020500000000000000" pitchFamily="18" charset="-120"/>
                        <a:ea typeface="新細明體" panose="02020500000000000000" pitchFamily="18" charset="-120"/>
                      </a:endParaRPr>
                    </a:p>
                  </a:txBody>
                  <a:tcPr marL="9525" marR="9525" marT="9525" marB="0" anchor="ctr"/>
                </a:tc>
              </a:tr>
              <a:tr h="400345">
                <a:tc>
                  <a:txBody>
                    <a:bodyPr/>
                    <a:lstStyle/>
                    <a:p>
                      <a:pPr algn="l" fontAlgn="ctr"/>
                      <a:r>
                        <a:rPr lang="en-US" sz="1800" u="none" strike="noStrike" dirty="0" smtClean="0">
                          <a:effectLst/>
                        </a:rPr>
                        <a:t>3.S&amp;P500</a:t>
                      </a:r>
                      <a:endParaRPr lang="en-US" sz="18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525" marR="9525" marT="9525" marB="0" anchor="ctr"/>
                </a:tc>
                <a:tc>
                  <a:txBody>
                    <a:bodyPr/>
                    <a:lstStyle/>
                    <a:p>
                      <a:pPr algn="r" fontAlgn="ctr"/>
                      <a:r>
                        <a:rPr lang="en-US" altLang="zh-TW" sz="2400" u="none" strike="noStrike" dirty="0">
                          <a:effectLst/>
                        </a:rPr>
                        <a:t>0.0663 </a:t>
                      </a:r>
                      <a:endParaRPr lang="en-US" altLang="zh-TW" sz="24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525" marR="9525" marT="9525" marB="0" anchor="ctr"/>
                </a:tc>
                <a:tc>
                  <a:txBody>
                    <a:bodyPr/>
                    <a:lstStyle/>
                    <a:p>
                      <a:pPr algn="r" fontAlgn="ctr"/>
                      <a:r>
                        <a:rPr lang="en-US" altLang="zh-TW" sz="2400" u="none" strike="noStrike">
                          <a:effectLst/>
                        </a:rPr>
                        <a:t>0.2320 </a:t>
                      </a:r>
                      <a:endParaRPr lang="en-US" altLang="zh-TW" sz="2400" b="0" i="0" u="none" strike="noStrike">
                        <a:solidFill>
                          <a:srgbClr val="000000"/>
                        </a:solidFill>
                        <a:effectLst/>
                        <a:latin typeface="新細明體" panose="02020500000000000000" pitchFamily="18" charset="-120"/>
                        <a:ea typeface="新細明體" panose="02020500000000000000" pitchFamily="18" charset="-120"/>
                      </a:endParaRPr>
                    </a:p>
                  </a:txBody>
                  <a:tcPr marL="9525" marR="9525" marT="9525" marB="0" anchor="ctr"/>
                </a:tc>
                <a:tc>
                  <a:txBody>
                    <a:bodyPr/>
                    <a:lstStyle/>
                    <a:p>
                      <a:pPr algn="r" fontAlgn="ctr"/>
                      <a:r>
                        <a:rPr lang="en-US" altLang="zh-TW" sz="2400" u="none" strike="noStrike" dirty="0">
                          <a:effectLst/>
                        </a:rPr>
                        <a:t>0.0000 </a:t>
                      </a:r>
                      <a:endParaRPr lang="en-US" altLang="zh-TW" sz="24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525" marR="9525" marT="9525" marB="0" anchor="ctr"/>
                </a:tc>
                <a:tc>
                  <a:txBody>
                    <a:bodyPr/>
                    <a:lstStyle/>
                    <a:p>
                      <a:pPr algn="r" fontAlgn="ctr"/>
                      <a:r>
                        <a:rPr lang="en-US" altLang="zh-TW" sz="2400" u="none" strike="noStrike" dirty="0">
                          <a:effectLst/>
                        </a:rPr>
                        <a:t>1.3026 </a:t>
                      </a:r>
                      <a:endParaRPr lang="en-US" altLang="zh-TW" sz="24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525" marR="9525" marT="9525" marB="0" anchor="ctr"/>
                </a:tc>
                <a:tc>
                  <a:txBody>
                    <a:bodyPr/>
                    <a:lstStyle/>
                    <a:p>
                      <a:pPr algn="r" fontAlgn="ctr"/>
                      <a:r>
                        <a:rPr lang="en-US" altLang="zh-TW" sz="2400" u="none" strike="noStrike" dirty="0">
                          <a:effectLst/>
                        </a:rPr>
                        <a:t>-0.2030 </a:t>
                      </a:r>
                      <a:endParaRPr lang="en-US" altLang="zh-TW" sz="24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525" marR="9525" marT="9525" marB="0" anchor="ctr"/>
                </a:tc>
                <a:tc>
                  <a:txBody>
                    <a:bodyPr/>
                    <a:lstStyle/>
                    <a:p>
                      <a:pPr algn="r" fontAlgn="ctr"/>
                      <a:r>
                        <a:rPr lang="en-US" altLang="zh-TW" sz="2400" u="none" strike="noStrike">
                          <a:effectLst/>
                        </a:rPr>
                        <a:t>-0.5227 </a:t>
                      </a:r>
                      <a:endParaRPr lang="en-US" altLang="zh-TW" sz="2400" b="0" i="0" u="none" strike="noStrike">
                        <a:solidFill>
                          <a:srgbClr val="000000"/>
                        </a:solidFill>
                        <a:effectLst/>
                        <a:latin typeface="新細明體" panose="02020500000000000000" pitchFamily="18" charset="-120"/>
                        <a:ea typeface="新細明體" panose="02020500000000000000" pitchFamily="18" charset="-120"/>
                      </a:endParaRPr>
                    </a:p>
                  </a:txBody>
                  <a:tcPr marL="9525" marR="9525" marT="9525" marB="0" anchor="ctr"/>
                </a:tc>
                <a:tc>
                  <a:txBody>
                    <a:bodyPr/>
                    <a:lstStyle/>
                    <a:p>
                      <a:pPr algn="r" fontAlgn="ctr"/>
                      <a:r>
                        <a:rPr lang="en-US" altLang="zh-TW" sz="2400" u="none" strike="noStrike">
                          <a:effectLst/>
                        </a:rPr>
                        <a:t>0.7856 </a:t>
                      </a:r>
                      <a:endParaRPr lang="en-US" altLang="zh-TW" sz="2400" b="0" i="0" u="none" strike="noStrike">
                        <a:solidFill>
                          <a:srgbClr val="000000"/>
                        </a:solidFill>
                        <a:effectLst/>
                        <a:latin typeface="新細明體" panose="02020500000000000000" pitchFamily="18" charset="-120"/>
                        <a:ea typeface="新細明體" panose="02020500000000000000" pitchFamily="18" charset="-120"/>
                      </a:endParaRPr>
                    </a:p>
                  </a:txBody>
                  <a:tcPr marL="9525" marR="9525" marT="9525" marB="0" anchor="ctr"/>
                </a:tc>
                <a:tc>
                  <a:txBody>
                    <a:bodyPr/>
                    <a:lstStyle/>
                    <a:p>
                      <a:pPr algn="r" fontAlgn="ctr"/>
                      <a:r>
                        <a:rPr lang="en-US" altLang="zh-TW" sz="2400" u="none" strike="noStrike">
                          <a:effectLst/>
                        </a:rPr>
                        <a:t>0.4270 </a:t>
                      </a:r>
                      <a:endParaRPr lang="en-US" altLang="zh-TW" sz="2400" b="0" i="0" u="none" strike="noStrike">
                        <a:solidFill>
                          <a:srgbClr val="000000"/>
                        </a:solidFill>
                        <a:effectLst/>
                        <a:latin typeface="新細明體" panose="02020500000000000000" pitchFamily="18" charset="-120"/>
                        <a:ea typeface="新細明體" panose="02020500000000000000" pitchFamily="18" charset="-120"/>
                      </a:endParaRPr>
                    </a:p>
                  </a:txBody>
                  <a:tcPr marL="9525" marR="9525" marT="9525" marB="0" anchor="ctr"/>
                </a:tc>
                <a:tc>
                  <a:txBody>
                    <a:bodyPr/>
                    <a:lstStyle/>
                    <a:p>
                      <a:pPr algn="r" fontAlgn="ctr"/>
                      <a:r>
                        <a:rPr lang="en-US" altLang="zh-TW" sz="2400" u="none" strike="noStrike">
                          <a:effectLst/>
                        </a:rPr>
                        <a:t>0.0162 </a:t>
                      </a:r>
                      <a:endParaRPr lang="en-US" altLang="zh-TW" sz="2400" b="0" i="0" u="none" strike="noStrike">
                        <a:solidFill>
                          <a:srgbClr val="000000"/>
                        </a:solidFill>
                        <a:effectLst/>
                        <a:latin typeface="新細明體" panose="02020500000000000000" pitchFamily="18" charset="-120"/>
                        <a:ea typeface="新細明體" panose="02020500000000000000" pitchFamily="18" charset="-120"/>
                      </a:endParaRPr>
                    </a:p>
                  </a:txBody>
                  <a:tcPr marL="9525" marR="9525" marT="9525" marB="0" anchor="ctr"/>
                </a:tc>
              </a:tr>
              <a:tr h="400345">
                <a:tc>
                  <a:txBody>
                    <a:bodyPr/>
                    <a:lstStyle/>
                    <a:p>
                      <a:pPr algn="l" fontAlgn="ctr"/>
                      <a:r>
                        <a:rPr lang="en-US" sz="1800" u="none" strike="noStrike" dirty="0" smtClean="0">
                          <a:effectLst/>
                        </a:rPr>
                        <a:t>4.Nikkei225</a:t>
                      </a:r>
                      <a:endParaRPr lang="en-US" sz="18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525" marR="9525" marT="9525" marB="0" anchor="ctr"/>
                </a:tc>
                <a:tc>
                  <a:txBody>
                    <a:bodyPr/>
                    <a:lstStyle/>
                    <a:p>
                      <a:pPr algn="r" fontAlgn="ctr"/>
                      <a:r>
                        <a:rPr lang="en-US" altLang="zh-TW" sz="2400" u="none" strike="noStrike" dirty="0">
                          <a:effectLst/>
                        </a:rPr>
                        <a:t>-0.1154 </a:t>
                      </a:r>
                      <a:endParaRPr lang="en-US" altLang="zh-TW" sz="24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525" marR="9525" marT="9525" marB="0" anchor="ctr"/>
                </a:tc>
                <a:tc>
                  <a:txBody>
                    <a:bodyPr/>
                    <a:lstStyle/>
                    <a:p>
                      <a:pPr algn="r" fontAlgn="ctr"/>
                      <a:r>
                        <a:rPr lang="en-US" altLang="zh-TW" sz="2400" u="none" strike="noStrike">
                          <a:effectLst/>
                        </a:rPr>
                        <a:t>0.8737 </a:t>
                      </a:r>
                      <a:endParaRPr lang="en-US" altLang="zh-TW" sz="2400" b="0" i="0" u="none" strike="noStrike">
                        <a:solidFill>
                          <a:srgbClr val="000000"/>
                        </a:solidFill>
                        <a:effectLst/>
                        <a:latin typeface="新細明體" panose="02020500000000000000" pitchFamily="18" charset="-120"/>
                        <a:ea typeface="新細明體" panose="02020500000000000000" pitchFamily="18" charset="-120"/>
                      </a:endParaRPr>
                    </a:p>
                  </a:txBody>
                  <a:tcPr marL="9525" marR="9525" marT="9525" marB="0" anchor="ctr"/>
                </a:tc>
                <a:tc>
                  <a:txBody>
                    <a:bodyPr/>
                    <a:lstStyle/>
                    <a:p>
                      <a:pPr algn="r" fontAlgn="ctr"/>
                      <a:r>
                        <a:rPr lang="en-US" altLang="zh-TW" sz="2400" u="none" strike="noStrike">
                          <a:effectLst/>
                        </a:rPr>
                        <a:t>1.5644 </a:t>
                      </a:r>
                      <a:endParaRPr lang="en-US" altLang="zh-TW" sz="2400" b="0" i="0" u="none" strike="noStrike">
                        <a:solidFill>
                          <a:srgbClr val="000000"/>
                        </a:solidFill>
                        <a:effectLst/>
                        <a:latin typeface="新細明體" panose="02020500000000000000" pitchFamily="18" charset="-120"/>
                        <a:ea typeface="新細明體" panose="02020500000000000000" pitchFamily="18" charset="-120"/>
                      </a:endParaRPr>
                    </a:p>
                  </a:txBody>
                  <a:tcPr marL="9525" marR="9525" marT="9525" marB="0" anchor="ctr"/>
                </a:tc>
                <a:tc>
                  <a:txBody>
                    <a:bodyPr/>
                    <a:lstStyle/>
                    <a:p>
                      <a:pPr algn="r" fontAlgn="ctr"/>
                      <a:r>
                        <a:rPr lang="en-US" altLang="zh-TW" sz="2400" u="none" strike="noStrike" dirty="0">
                          <a:effectLst/>
                        </a:rPr>
                        <a:t>0.0000 </a:t>
                      </a:r>
                      <a:endParaRPr lang="en-US" altLang="zh-TW" sz="24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525" marR="9525" marT="9525" marB="0" anchor="ctr"/>
                </a:tc>
                <a:tc>
                  <a:txBody>
                    <a:bodyPr/>
                    <a:lstStyle/>
                    <a:p>
                      <a:pPr algn="r" fontAlgn="ctr"/>
                      <a:r>
                        <a:rPr lang="en-US" altLang="zh-TW" sz="2400" u="none" strike="noStrike" dirty="0">
                          <a:effectLst/>
                        </a:rPr>
                        <a:t>0.2364 </a:t>
                      </a:r>
                      <a:endParaRPr lang="en-US" altLang="zh-TW" sz="24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525" marR="9525" marT="9525" marB="0" anchor="ctr"/>
                </a:tc>
                <a:tc>
                  <a:txBody>
                    <a:bodyPr/>
                    <a:lstStyle/>
                    <a:p>
                      <a:pPr algn="r" fontAlgn="ctr"/>
                      <a:r>
                        <a:rPr lang="en-US" altLang="zh-TW" sz="2400" u="none" strike="noStrike" dirty="0">
                          <a:effectLst/>
                        </a:rPr>
                        <a:t>0.3660 </a:t>
                      </a:r>
                      <a:endParaRPr lang="en-US" altLang="zh-TW" sz="24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525" marR="9525" marT="9525" marB="0" anchor="ctr"/>
                </a:tc>
                <a:tc>
                  <a:txBody>
                    <a:bodyPr/>
                    <a:lstStyle/>
                    <a:p>
                      <a:pPr algn="r" fontAlgn="ctr"/>
                      <a:r>
                        <a:rPr lang="en-US" altLang="zh-TW" sz="2400" u="none" strike="noStrike" dirty="0">
                          <a:effectLst/>
                        </a:rPr>
                        <a:t>-1.2198 </a:t>
                      </a:r>
                      <a:endParaRPr lang="en-US" altLang="zh-TW" sz="24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525" marR="9525" marT="9525" marB="0" anchor="ctr"/>
                </a:tc>
                <a:tc>
                  <a:txBody>
                    <a:bodyPr/>
                    <a:lstStyle/>
                    <a:p>
                      <a:pPr algn="r" fontAlgn="ctr"/>
                      <a:r>
                        <a:rPr lang="en-US" altLang="zh-TW" sz="2400" u="none" strike="noStrike" dirty="0">
                          <a:effectLst/>
                        </a:rPr>
                        <a:t>0.9941 </a:t>
                      </a:r>
                      <a:endParaRPr lang="en-US" altLang="zh-TW" sz="24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525" marR="9525" marT="9525" marB="0" anchor="ctr"/>
                </a:tc>
                <a:tc>
                  <a:txBody>
                    <a:bodyPr/>
                    <a:lstStyle/>
                    <a:p>
                      <a:pPr algn="r" fontAlgn="ctr"/>
                      <a:r>
                        <a:rPr lang="en-US" altLang="zh-TW" sz="2400" u="none" strike="noStrike" dirty="0">
                          <a:effectLst/>
                        </a:rPr>
                        <a:t>0.4801 </a:t>
                      </a:r>
                      <a:endParaRPr lang="en-US" altLang="zh-TW" sz="24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525" marR="9525" marT="9525" marB="0" anchor="ctr"/>
                </a:tc>
              </a:tr>
            </a:tbl>
          </a:graphicData>
        </a:graphic>
      </p:graphicFrame>
      <mc:AlternateContent xmlns:mc="http://schemas.openxmlformats.org/markup-compatibility/2006" xmlns:a14="http://schemas.microsoft.com/office/drawing/2010/main">
        <mc:Choice Requires="a14">
          <p:sp>
            <p:nvSpPr>
              <p:cNvPr id="8" name="文字方塊 7"/>
              <p:cNvSpPr txBox="1"/>
              <p:nvPr/>
            </p:nvSpPr>
            <p:spPr>
              <a:xfrm>
                <a:off x="579549" y="4464690"/>
                <a:ext cx="11449318" cy="2074222"/>
              </a:xfrm>
              <a:prstGeom prst="rect">
                <a:avLst/>
              </a:prstGeom>
              <a:noFill/>
            </p:spPr>
            <p:txBody>
              <a:bodyPr wrap="square" rtlCol="0">
                <a:spAutoFit/>
              </a:bodyPr>
              <a:lstStyle/>
              <a:p>
                <a:pPr marL="342900" indent="-342900">
                  <a:buFont typeface="Arial" panose="020B0604020202020204" pitchFamily="34" charset="0"/>
                  <a:buChar char="•"/>
                </a:pPr>
                <a:r>
                  <a:rPr lang="en-US" altLang="zh-TW" sz="2400" dirty="0" smtClean="0"/>
                  <a:t>Loss function: </a:t>
                </a:r>
                <a14:m>
                  <m:oMath xmlns:m="http://schemas.openxmlformats.org/officeDocument/2006/math">
                    <m:sSub>
                      <m:sSubPr>
                        <m:ctrlPr>
                          <a:rPr lang="en-US" altLang="zh-TW" sz="2400" b="0" i="1" smtClean="0">
                            <a:latin typeface="Cambria Math"/>
                          </a:rPr>
                        </m:ctrlPr>
                      </m:sSubPr>
                      <m:e>
                        <m:r>
                          <a:rPr lang="en-US" altLang="zh-TW" sz="2400" b="0" i="1" smtClean="0">
                            <a:latin typeface="Cambria Math" panose="02040503050406030204" pitchFamily="18" charset="0"/>
                          </a:rPr>
                          <m:t>𝐿</m:t>
                        </m:r>
                      </m:e>
                      <m:sub>
                        <m:r>
                          <a:rPr lang="en-US" altLang="zh-TW" sz="2400" b="0" i="1" smtClean="0">
                            <a:latin typeface="Cambria Math" panose="02040503050406030204" pitchFamily="18" charset="0"/>
                          </a:rPr>
                          <m:t>𝑖</m:t>
                        </m:r>
                        <m:r>
                          <a:rPr lang="en-US" altLang="zh-TW" sz="2400" b="0" i="1" smtClean="0">
                            <a:latin typeface="Cambria Math" panose="02040503050406030204" pitchFamily="18" charset="0"/>
                          </a:rPr>
                          <m:t>,</m:t>
                        </m:r>
                        <m:r>
                          <a:rPr lang="en-US" altLang="zh-TW" sz="2400" b="0" i="1" smtClean="0">
                            <a:latin typeface="Cambria Math" panose="02040503050406030204" pitchFamily="18" charset="0"/>
                          </a:rPr>
                          <m:t>𝑡</m:t>
                        </m:r>
                      </m:sub>
                    </m:sSub>
                    <m:r>
                      <a:rPr lang="en-US" altLang="zh-TW" sz="2400" b="0" i="1" smtClean="0">
                        <a:latin typeface="Cambria Math" panose="02040503050406030204" pitchFamily="18" charset="0"/>
                      </a:rPr>
                      <m:t>=−</m:t>
                    </m:r>
                    <m:sSub>
                      <m:sSubPr>
                        <m:ctrlPr>
                          <a:rPr lang="en-US" altLang="zh-TW" sz="2400" b="0" i="1" smtClean="0">
                            <a:latin typeface="Cambria Math"/>
                          </a:rPr>
                        </m:ctrlPr>
                      </m:sSubPr>
                      <m:e>
                        <m:r>
                          <a:rPr lang="en-US" altLang="zh-TW" sz="2400" b="0" i="1" smtClean="0">
                            <a:latin typeface="Cambria Math" panose="02040503050406030204" pitchFamily="18" charset="0"/>
                          </a:rPr>
                          <m:t>𝑟</m:t>
                        </m:r>
                      </m:e>
                      <m:sub>
                        <m:r>
                          <a:rPr lang="en-US" altLang="zh-TW" sz="2400" b="0" i="1" smtClean="0">
                            <a:latin typeface="Cambria Math" panose="02040503050406030204" pitchFamily="18" charset="0"/>
                          </a:rPr>
                          <m:t>𝑖</m:t>
                        </m:r>
                        <m:r>
                          <a:rPr lang="en-US" altLang="zh-TW" sz="2400" b="0" i="1" smtClean="0">
                            <a:latin typeface="Cambria Math" panose="02040503050406030204" pitchFamily="18" charset="0"/>
                          </a:rPr>
                          <m:t>,</m:t>
                        </m:r>
                        <m:r>
                          <a:rPr lang="en-US" altLang="zh-TW" sz="2400" b="0" i="1" smtClean="0">
                            <a:latin typeface="Cambria Math" panose="02040503050406030204" pitchFamily="18" charset="0"/>
                          </a:rPr>
                          <m:t>𝑡</m:t>
                        </m:r>
                      </m:sub>
                    </m:sSub>
                  </m:oMath>
                </a14:m>
                <a:r>
                  <a:rPr lang="zh-TW" altLang="en-US" sz="2400" dirty="0" smtClean="0"/>
                  <a:t> </a:t>
                </a:r>
                <a:r>
                  <a:rPr lang="en-US" altLang="zh-TW" sz="2400" dirty="0" smtClean="0"/>
                  <a:t>(</a:t>
                </a:r>
                <a:r>
                  <a:rPr lang="zh-TW" altLang="en-US" sz="2400" dirty="0" smtClean="0"/>
                  <a:t>只需</a:t>
                </a:r>
                <a:r>
                  <a:rPr lang="en-US" altLang="zh-TW" sz="2400" dirty="0" smtClean="0"/>
                  <a:t>loss value</a:t>
                </a:r>
                <a:r>
                  <a:rPr lang="zh-TW" altLang="en-US" sz="2400" dirty="0" smtClean="0"/>
                  <a:t>越小，</a:t>
                </a:r>
                <a:r>
                  <a:rPr lang="en-US" altLang="zh-TW" sz="2400" dirty="0" smtClean="0"/>
                  <a:t>model </a:t>
                </a:r>
                <a:r>
                  <a:rPr lang="en-US" altLang="zh-TW" sz="2400" dirty="0" err="1" smtClean="0"/>
                  <a:t>i</a:t>
                </a:r>
                <a:r>
                  <a:rPr lang="zh-TW" altLang="en-US" sz="2400" dirty="0" smtClean="0"/>
                  <a:t>表現越佳的特性即可</a:t>
                </a:r>
                <a:r>
                  <a:rPr lang="en-US" altLang="zh-TW" sz="2400" dirty="0" smtClean="0"/>
                  <a:t>)</a:t>
                </a:r>
              </a:p>
              <a:p>
                <a:pPr marL="342900" indent="-342900">
                  <a:buFont typeface="Arial" panose="020B0604020202020204" pitchFamily="34" charset="0"/>
                  <a:buChar char="•"/>
                </a:pPr>
                <a:r>
                  <a:rPr lang="en-US" altLang="zh-TW" sz="2400" dirty="0" smtClean="0"/>
                  <a:t>Relative performance: </a:t>
                </a:r>
                <a14:m>
                  <m:oMath xmlns:m="http://schemas.openxmlformats.org/officeDocument/2006/math">
                    <m:sSub>
                      <m:sSubPr>
                        <m:ctrlPr>
                          <a:rPr lang="en-US" altLang="zh-TW" sz="2400" b="0" i="1" smtClean="0">
                            <a:latin typeface="Cambria Math"/>
                          </a:rPr>
                        </m:ctrlPr>
                      </m:sSubPr>
                      <m:e>
                        <m:r>
                          <a:rPr lang="en-US" altLang="zh-TW" sz="2400" b="0" i="1" smtClean="0">
                            <a:latin typeface="Cambria Math" panose="02040503050406030204" pitchFamily="18" charset="0"/>
                          </a:rPr>
                          <m:t>𝑑</m:t>
                        </m:r>
                      </m:e>
                      <m:sub>
                        <m:r>
                          <a:rPr lang="en-US" altLang="zh-TW" sz="2400" b="0" i="1" smtClean="0">
                            <a:latin typeface="Cambria Math" panose="02040503050406030204" pitchFamily="18" charset="0"/>
                          </a:rPr>
                          <m:t>𝑖𝑗</m:t>
                        </m:r>
                        <m:r>
                          <a:rPr lang="en-US" altLang="zh-TW" sz="2400" b="0" i="1" smtClean="0">
                            <a:latin typeface="Cambria Math" panose="02040503050406030204" pitchFamily="18" charset="0"/>
                          </a:rPr>
                          <m:t>,</m:t>
                        </m:r>
                        <m:r>
                          <a:rPr lang="en-US" altLang="zh-TW" sz="2400" b="0" i="1" smtClean="0">
                            <a:latin typeface="Cambria Math" panose="02040503050406030204" pitchFamily="18" charset="0"/>
                          </a:rPr>
                          <m:t>𝑡</m:t>
                        </m:r>
                      </m:sub>
                    </m:sSub>
                    <m:r>
                      <a:rPr lang="en-US" altLang="zh-TW" sz="2400" b="0" i="1" smtClean="0">
                        <a:latin typeface="Cambria Math" panose="02040503050406030204" pitchFamily="18" charset="0"/>
                      </a:rPr>
                      <m:t>=</m:t>
                    </m:r>
                    <m:sSub>
                      <m:sSubPr>
                        <m:ctrlPr>
                          <a:rPr lang="en-US" altLang="zh-TW" sz="2400" b="0" i="1" smtClean="0">
                            <a:latin typeface="Cambria Math"/>
                          </a:rPr>
                        </m:ctrlPr>
                      </m:sSubPr>
                      <m:e>
                        <m:r>
                          <a:rPr lang="en-US" altLang="zh-TW" sz="2400" b="0" i="1" smtClean="0">
                            <a:latin typeface="Cambria Math" panose="02040503050406030204" pitchFamily="18" charset="0"/>
                          </a:rPr>
                          <m:t>𝐿</m:t>
                        </m:r>
                      </m:e>
                      <m:sub>
                        <m:r>
                          <a:rPr lang="en-US" altLang="zh-TW" sz="2400" b="0" i="1" smtClean="0">
                            <a:latin typeface="Cambria Math" panose="02040503050406030204" pitchFamily="18" charset="0"/>
                          </a:rPr>
                          <m:t>𝑖</m:t>
                        </m:r>
                        <m:r>
                          <a:rPr lang="en-US" altLang="zh-TW" sz="2400" b="0" i="1" smtClean="0">
                            <a:latin typeface="Cambria Math" panose="02040503050406030204" pitchFamily="18" charset="0"/>
                          </a:rPr>
                          <m:t>,</m:t>
                        </m:r>
                        <m:r>
                          <a:rPr lang="en-US" altLang="zh-TW" sz="2400" b="0" i="1" smtClean="0">
                            <a:latin typeface="Cambria Math" panose="02040503050406030204" pitchFamily="18" charset="0"/>
                          </a:rPr>
                          <m:t>𝑡</m:t>
                        </m:r>
                      </m:sub>
                    </m:sSub>
                    <m:r>
                      <a:rPr lang="en-US" altLang="zh-TW" sz="2400" b="0" i="1" smtClean="0">
                        <a:latin typeface="Cambria Math" panose="02040503050406030204" pitchFamily="18" charset="0"/>
                      </a:rPr>
                      <m:t>−</m:t>
                    </m:r>
                    <m:sSub>
                      <m:sSubPr>
                        <m:ctrlPr>
                          <a:rPr lang="en-US" altLang="zh-TW" sz="2400" b="0" i="1" smtClean="0">
                            <a:latin typeface="Cambria Math"/>
                          </a:rPr>
                        </m:ctrlPr>
                      </m:sSubPr>
                      <m:e>
                        <m:r>
                          <a:rPr lang="en-US" altLang="zh-TW" sz="2400" b="0" i="1" smtClean="0">
                            <a:latin typeface="Cambria Math" panose="02040503050406030204" pitchFamily="18" charset="0"/>
                          </a:rPr>
                          <m:t>𝐿</m:t>
                        </m:r>
                      </m:e>
                      <m:sub>
                        <m:r>
                          <a:rPr lang="en-US" altLang="zh-TW" sz="2400" b="0" i="1" smtClean="0">
                            <a:latin typeface="Cambria Math" panose="02040503050406030204" pitchFamily="18" charset="0"/>
                          </a:rPr>
                          <m:t>𝑗</m:t>
                        </m:r>
                        <m:r>
                          <a:rPr lang="en-US" altLang="zh-TW" sz="2400" b="0" i="1" smtClean="0">
                            <a:latin typeface="Cambria Math" panose="02040503050406030204" pitchFamily="18" charset="0"/>
                          </a:rPr>
                          <m:t>,</m:t>
                        </m:r>
                        <m:r>
                          <a:rPr lang="en-US" altLang="zh-TW" sz="2400" b="0" i="1" smtClean="0">
                            <a:latin typeface="Cambria Math" panose="02040503050406030204" pitchFamily="18" charset="0"/>
                          </a:rPr>
                          <m:t>𝑡</m:t>
                        </m:r>
                      </m:sub>
                    </m:sSub>
                  </m:oMath>
                </a14:m>
                <a:endParaRPr lang="en-US" altLang="zh-TW" sz="2400" dirty="0" smtClean="0"/>
              </a:p>
              <a:p>
                <a:pPr marL="800100" lvl="1" indent="-342900">
                  <a:buFont typeface="Arial" panose="020B0604020202020204" pitchFamily="34" charset="0"/>
                  <a:buChar char="•"/>
                </a:pPr>
                <a14:m>
                  <m:oMath xmlns:m="http://schemas.openxmlformats.org/officeDocument/2006/math">
                    <m:sSub>
                      <m:sSubPr>
                        <m:ctrlPr>
                          <a:rPr lang="en-US" altLang="zh-TW" sz="2400" b="0" i="1" smtClean="0">
                            <a:latin typeface="Cambria Math"/>
                          </a:rPr>
                        </m:ctrlPr>
                      </m:sSubPr>
                      <m:e>
                        <m:r>
                          <a:rPr lang="en-US" altLang="zh-TW" sz="2400" b="0" i="1" smtClean="0">
                            <a:latin typeface="Cambria Math" panose="02040503050406030204" pitchFamily="18" charset="0"/>
                          </a:rPr>
                          <m:t>𝑑</m:t>
                        </m:r>
                      </m:e>
                      <m:sub>
                        <m:r>
                          <a:rPr lang="en-US" altLang="zh-TW" sz="2400" b="0" i="1" smtClean="0">
                            <a:latin typeface="Cambria Math" panose="02040503050406030204" pitchFamily="18" charset="0"/>
                          </a:rPr>
                          <m:t>𝑖𝑗</m:t>
                        </m:r>
                        <m:r>
                          <a:rPr lang="en-US" altLang="zh-TW" sz="2400" b="0" i="1" smtClean="0">
                            <a:latin typeface="Cambria Math" panose="02040503050406030204" pitchFamily="18" charset="0"/>
                          </a:rPr>
                          <m:t>,</m:t>
                        </m:r>
                        <m:r>
                          <a:rPr lang="en-US" altLang="zh-TW" sz="2400" b="0" i="1" smtClean="0">
                            <a:latin typeface="Cambria Math" panose="02040503050406030204" pitchFamily="18" charset="0"/>
                          </a:rPr>
                          <m:t>𝑡</m:t>
                        </m:r>
                      </m:sub>
                    </m:sSub>
                    <m:r>
                      <a:rPr lang="en-US" altLang="zh-TW" sz="2400" b="0" i="1" smtClean="0">
                        <a:latin typeface="Cambria Math" panose="02040503050406030204" pitchFamily="18" charset="0"/>
                      </a:rPr>
                      <m:t>&lt;0</m:t>
                    </m:r>
                  </m:oMath>
                </a14:m>
                <a:r>
                  <a:rPr lang="en-US" altLang="zh-TW" sz="2400" dirty="0" smtClean="0"/>
                  <a:t>, model </a:t>
                </a:r>
                <a:r>
                  <a:rPr lang="en-US" altLang="zh-TW" sz="2400" dirty="0" err="1" smtClean="0"/>
                  <a:t>i</a:t>
                </a:r>
                <a:r>
                  <a:rPr lang="zh-TW" altLang="en-US" sz="2400" dirty="0" smtClean="0"/>
                  <a:t>損失比</a:t>
                </a:r>
                <a:r>
                  <a:rPr lang="en-US" altLang="zh-TW" sz="2400" dirty="0" smtClean="0"/>
                  <a:t>model j</a:t>
                </a:r>
                <a:r>
                  <a:rPr lang="zh-TW" altLang="en-US" sz="2400" dirty="0" smtClean="0"/>
                  <a:t>小 </a:t>
                </a:r>
                <a:r>
                  <a:rPr lang="en-US" altLang="zh-TW" sz="2400" dirty="0" smtClean="0"/>
                  <a:t>(model </a:t>
                </a:r>
                <a:r>
                  <a:rPr lang="en-US" altLang="zh-TW" sz="2400" dirty="0" err="1" smtClean="0"/>
                  <a:t>i</a:t>
                </a:r>
                <a:r>
                  <a:rPr lang="zh-TW" altLang="en-US" sz="2400" dirty="0" smtClean="0"/>
                  <a:t>較佳</a:t>
                </a:r>
                <a:r>
                  <a:rPr lang="en-US" altLang="zh-TW" sz="2400" dirty="0" smtClean="0"/>
                  <a:t>)</a:t>
                </a:r>
              </a:p>
              <a:p>
                <a:pPr marL="800100" lvl="1" indent="-342900">
                  <a:buFont typeface="Arial" panose="020B0604020202020204" pitchFamily="34" charset="0"/>
                  <a:buChar char="•"/>
                </a:pPr>
                <a14:m>
                  <m:oMath xmlns:m="http://schemas.openxmlformats.org/officeDocument/2006/math">
                    <m:sSub>
                      <m:sSubPr>
                        <m:ctrlPr>
                          <a:rPr lang="en-US" altLang="zh-TW" sz="2400" b="0" i="1" smtClean="0">
                            <a:latin typeface="Cambria Math"/>
                          </a:rPr>
                        </m:ctrlPr>
                      </m:sSubPr>
                      <m:e>
                        <m:r>
                          <a:rPr lang="en-US" altLang="zh-TW" sz="2400" b="0" i="1" smtClean="0">
                            <a:latin typeface="Cambria Math" panose="02040503050406030204" pitchFamily="18" charset="0"/>
                          </a:rPr>
                          <m:t>𝑑</m:t>
                        </m:r>
                      </m:e>
                      <m:sub>
                        <m:r>
                          <a:rPr lang="en-US" altLang="zh-TW" sz="2400" b="0" i="1" smtClean="0">
                            <a:latin typeface="Cambria Math" panose="02040503050406030204" pitchFamily="18" charset="0"/>
                          </a:rPr>
                          <m:t>𝑖𝑗</m:t>
                        </m:r>
                        <m:r>
                          <a:rPr lang="en-US" altLang="zh-TW" sz="2400" b="0" i="1" smtClean="0">
                            <a:latin typeface="Cambria Math" panose="02040503050406030204" pitchFamily="18" charset="0"/>
                          </a:rPr>
                          <m:t>,</m:t>
                        </m:r>
                        <m:r>
                          <a:rPr lang="en-US" altLang="zh-TW" sz="2400" b="0" i="1" smtClean="0">
                            <a:latin typeface="Cambria Math" panose="02040503050406030204" pitchFamily="18" charset="0"/>
                          </a:rPr>
                          <m:t>𝑡</m:t>
                        </m:r>
                      </m:sub>
                    </m:sSub>
                    <m:r>
                      <a:rPr lang="en-US" altLang="zh-TW" sz="2400" b="0" i="1" smtClean="0">
                        <a:latin typeface="Cambria Math" panose="02040503050406030204" pitchFamily="18" charset="0"/>
                      </a:rPr>
                      <m:t>&gt;0</m:t>
                    </m:r>
                  </m:oMath>
                </a14:m>
                <a:r>
                  <a:rPr lang="en-US" altLang="zh-TW" sz="2400" dirty="0" smtClean="0"/>
                  <a:t>, model </a:t>
                </a:r>
                <a:r>
                  <a:rPr lang="en-US" altLang="zh-TW" sz="2400" dirty="0" err="1" smtClean="0"/>
                  <a:t>i</a:t>
                </a:r>
                <a:r>
                  <a:rPr lang="zh-TW" altLang="en-US" sz="2400" dirty="0" smtClean="0"/>
                  <a:t>損失比</a:t>
                </a:r>
                <a:r>
                  <a:rPr lang="en-US" altLang="zh-TW" sz="2400" dirty="0" smtClean="0"/>
                  <a:t>model j</a:t>
                </a:r>
                <a:r>
                  <a:rPr lang="zh-TW" altLang="en-US" sz="2400" dirty="0" smtClean="0"/>
                  <a:t>大 </a:t>
                </a:r>
                <a:r>
                  <a:rPr lang="en-US" altLang="zh-TW" sz="2400" dirty="0" smtClean="0"/>
                  <a:t>(model j</a:t>
                </a:r>
                <a:r>
                  <a:rPr lang="zh-TW" altLang="en-US" sz="2400" dirty="0" smtClean="0"/>
                  <a:t>較佳</a:t>
                </a:r>
                <a:r>
                  <a:rPr lang="en-US" altLang="zh-TW" sz="2400" dirty="0" smtClean="0"/>
                  <a:t>)</a:t>
                </a:r>
              </a:p>
              <a:p>
                <a:pPr marL="800100" lvl="1" indent="-342900">
                  <a:buFont typeface="Arial" panose="020B0604020202020204" pitchFamily="34" charset="0"/>
                  <a:buChar char="•"/>
                </a:pPr>
                <a14:m>
                  <m:oMath xmlns:m="http://schemas.openxmlformats.org/officeDocument/2006/math">
                    <m:sSub>
                      <m:sSubPr>
                        <m:ctrlPr>
                          <a:rPr lang="en-US" altLang="zh-TW" sz="2400" b="0" i="1" smtClean="0">
                            <a:latin typeface="Cambria Math"/>
                          </a:rPr>
                        </m:ctrlPr>
                      </m:sSubPr>
                      <m:e>
                        <m:r>
                          <a:rPr lang="en-US" altLang="zh-TW" sz="2400" b="0" i="1" smtClean="0">
                            <a:latin typeface="Cambria Math" panose="02040503050406030204" pitchFamily="18" charset="0"/>
                          </a:rPr>
                          <m:t>𝑑</m:t>
                        </m:r>
                      </m:e>
                      <m:sub>
                        <m:r>
                          <a:rPr lang="en-US" altLang="zh-TW" sz="2400" b="0" i="1" smtClean="0">
                            <a:latin typeface="Cambria Math" panose="02040503050406030204" pitchFamily="18" charset="0"/>
                          </a:rPr>
                          <m:t>𝑖𝑗</m:t>
                        </m:r>
                        <m:r>
                          <a:rPr lang="en-US" altLang="zh-TW" sz="2400" b="0" i="1" smtClean="0">
                            <a:latin typeface="Cambria Math" panose="02040503050406030204" pitchFamily="18" charset="0"/>
                          </a:rPr>
                          <m:t>,</m:t>
                        </m:r>
                        <m:r>
                          <a:rPr lang="en-US" altLang="zh-TW" sz="2400" b="0" i="1" smtClean="0">
                            <a:latin typeface="Cambria Math" panose="02040503050406030204" pitchFamily="18" charset="0"/>
                          </a:rPr>
                          <m:t>𝑡</m:t>
                        </m:r>
                      </m:sub>
                    </m:sSub>
                    <m:r>
                      <a:rPr lang="en-US" altLang="zh-TW" sz="2400" b="0" i="1" smtClean="0">
                        <a:latin typeface="Cambria Math" panose="02040503050406030204" pitchFamily="18" charset="0"/>
                      </a:rPr>
                      <m:t>=0</m:t>
                    </m:r>
                  </m:oMath>
                </a14:m>
                <a:r>
                  <a:rPr lang="en-US" altLang="zh-TW" sz="2400" dirty="0" smtClean="0"/>
                  <a:t>, model </a:t>
                </a:r>
                <a:r>
                  <a:rPr lang="en-US" altLang="zh-TW" sz="2400" dirty="0" err="1" smtClean="0"/>
                  <a:t>i</a:t>
                </a:r>
                <a:r>
                  <a:rPr lang="zh-TW" altLang="en-US" sz="2400" dirty="0" smtClean="0"/>
                  <a:t>表現與</a:t>
                </a:r>
                <a:r>
                  <a:rPr lang="en-US" altLang="zh-TW" sz="2400" dirty="0" smtClean="0"/>
                  <a:t>model j</a:t>
                </a:r>
                <a:r>
                  <a:rPr lang="zh-TW" altLang="en-US" sz="2400" dirty="0" smtClean="0"/>
                  <a:t>一樣好</a:t>
                </a:r>
                <a:endParaRPr lang="zh-TW" altLang="en-US" sz="2400" dirty="0"/>
              </a:p>
            </p:txBody>
          </p:sp>
        </mc:Choice>
        <mc:Fallback xmlns="">
          <p:sp>
            <p:nvSpPr>
              <p:cNvPr id="8" name="文字方塊 7"/>
              <p:cNvSpPr txBox="1">
                <a:spLocks noRot="1" noChangeAspect="1" noMove="1" noResize="1" noEditPoints="1" noAdjustHandles="1" noChangeArrowheads="1" noChangeShapeType="1" noTextEdit="1"/>
              </p:cNvSpPr>
              <p:nvPr/>
            </p:nvSpPr>
            <p:spPr>
              <a:xfrm>
                <a:off x="579549" y="4464690"/>
                <a:ext cx="11449318" cy="2074222"/>
              </a:xfrm>
              <a:prstGeom prst="rect">
                <a:avLst/>
              </a:prstGeom>
              <a:blipFill rotWithShape="0">
                <a:blip r:embed="rId2"/>
                <a:stretch>
                  <a:fillRect l="-692" t="-2346" b="-4399"/>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1614200139"/>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p:cNvSpPr>
            <a:spLocks noGrp="1"/>
          </p:cNvSpPr>
          <p:nvPr>
            <p:ph type="sldNum" sz="quarter" idx="12"/>
          </p:nvPr>
        </p:nvSpPr>
        <p:spPr/>
        <p:txBody>
          <a:bodyPr/>
          <a:lstStyle/>
          <a:p>
            <a:fld id="{8E7C9034-9CD7-4E81-904A-4E7DCAD21B02}" type="slidenum">
              <a:rPr lang="zh-TW" altLang="en-US" smtClean="0"/>
              <a:t>14</a:t>
            </a:fld>
            <a:endParaRPr lang="zh-TW" altLang="en-US"/>
          </a:p>
        </p:txBody>
      </p:sp>
      <mc:AlternateContent xmlns:mc="http://schemas.openxmlformats.org/markup-compatibility/2006" xmlns:a14="http://schemas.microsoft.com/office/drawing/2010/main">
        <mc:Choice Requires="a14">
          <p:graphicFrame>
            <p:nvGraphicFramePr>
              <p:cNvPr id="5" name="表格 4"/>
              <p:cNvGraphicFramePr>
                <a:graphicFrameLocks noGrp="1"/>
              </p:cNvGraphicFramePr>
              <p:nvPr>
                <p:extLst>
                  <p:ext uri="{D42A27DB-BD31-4B8C-83A1-F6EECF244321}">
                    <p14:modId xmlns:p14="http://schemas.microsoft.com/office/powerpoint/2010/main" val="2042197308"/>
                  </p:ext>
                </p:extLst>
              </p:nvPr>
            </p:nvGraphicFramePr>
            <p:xfrm>
              <a:off x="103029" y="850543"/>
              <a:ext cx="11951595" cy="1986244"/>
            </p:xfrm>
            <a:graphic>
              <a:graphicData uri="http://schemas.openxmlformats.org/drawingml/2006/table">
                <a:tbl>
                  <a:tblPr>
                    <a:tableStyleId>{5C22544A-7EE6-4342-B048-85BDC9FD1C3A}</a:tableStyleId>
                  </a:tblPr>
                  <a:tblGrid>
                    <a:gridCol w="1242975"/>
                    <a:gridCol w="1070862"/>
                    <a:gridCol w="1070862"/>
                    <a:gridCol w="1070862"/>
                    <a:gridCol w="1070862"/>
                    <a:gridCol w="1070862"/>
                    <a:gridCol w="1070862"/>
                    <a:gridCol w="1070862"/>
                    <a:gridCol w="1070862"/>
                    <a:gridCol w="1070862"/>
                    <a:gridCol w="1070862"/>
                  </a:tblGrid>
                  <a:tr h="207049">
                    <a:tc>
                      <a:txBody>
                        <a:bodyPr/>
                        <a:lstStyle/>
                        <a:p>
                          <a:pPr algn="l" fontAlgn="ctr"/>
                          <a14:m>
                            <m:oMathPara xmlns:m="http://schemas.openxmlformats.org/officeDocument/2006/math">
                              <m:oMathParaPr>
                                <m:jc m:val="centerGroup"/>
                              </m:oMathParaPr>
                              <m:oMath xmlns:m="http://schemas.openxmlformats.org/officeDocument/2006/math">
                                <m:sSub>
                                  <m:sSubPr>
                                    <m:ctrlPr>
                                      <a:rPr lang="en-US" altLang="zh-TW" sz="1200" b="0" i="1" smtClean="0">
                                        <a:latin typeface="Cambria Math"/>
                                      </a:rPr>
                                    </m:ctrlPr>
                                  </m:sSubPr>
                                  <m:e>
                                    <m:r>
                                      <a:rPr lang="en-US" altLang="zh-TW" sz="1200" b="0" i="1" smtClean="0">
                                        <a:latin typeface="Cambria Math" panose="02040503050406030204" pitchFamily="18" charset="0"/>
                                      </a:rPr>
                                      <m:t>𝑑</m:t>
                                    </m:r>
                                  </m:e>
                                  <m:sub>
                                    <m:r>
                                      <a:rPr lang="en-US" altLang="zh-TW" sz="1200" b="0" i="1" smtClean="0">
                                        <a:latin typeface="Cambria Math" panose="02040503050406030204" pitchFamily="18" charset="0"/>
                                      </a:rPr>
                                      <m:t>𝑖𝑗</m:t>
                                    </m:r>
                                    <m:r>
                                      <a:rPr lang="en-US" altLang="zh-TW" sz="1200" b="0" i="1" smtClean="0">
                                        <a:latin typeface="Cambria Math" panose="02040503050406030204" pitchFamily="18" charset="0"/>
                                      </a:rPr>
                                      <m:t>,</m:t>
                                    </m:r>
                                    <m:r>
                                      <a:rPr lang="en-US" altLang="zh-TW" sz="1200" b="0" i="1" smtClean="0">
                                        <a:latin typeface="Cambria Math" panose="02040503050406030204" pitchFamily="18" charset="0"/>
                                      </a:rPr>
                                      <m:t>𝑡</m:t>
                                    </m:r>
                                  </m:sub>
                                </m:sSub>
                                <m:r>
                                  <a:rPr lang="en-US" altLang="zh-TW" sz="1200" b="0" i="1" smtClean="0">
                                    <a:latin typeface="Cambria Math" panose="02040503050406030204" pitchFamily="18" charset="0"/>
                                  </a:rPr>
                                  <m:t>=</m:t>
                                </m:r>
                                <m:sSub>
                                  <m:sSubPr>
                                    <m:ctrlPr>
                                      <a:rPr lang="en-US" altLang="zh-TW" sz="1200" b="0" i="1" smtClean="0">
                                        <a:latin typeface="Cambria Math"/>
                                      </a:rPr>
                                    </m:ctrlPr>
                                  </m:sSubPr>
                                  <m:e>
                                    <m:r>
                                      <a:rPr lang="en-US" altLang="zh-TW" sz="1200" b="0" i="1" smtClean="0">
                                        <a:latin typeface="Cambria Math" panose="02040503050406030204" pitchFamily="18" charset="0"/>
                                      </a:rPr>
                                      <m:t>𝐿</m:t>
                                    </m:r>
                                  </m:e>
                                  <m:sub>
                                    <m:r>
                                      <a:rPr lang="en-US" altLang="zh-TW" sz="1200" b="0" i="1" smtClean="0">
                                        <a:latin typeface="Cambria Math" panose="02040503050406030204" pitchFamily="18" charset="0"/>
                                      </a:rPr>
                                      <m:t>𝑖</m:t>
                                    </m:r>
                                    <m:r>
                                      <a:rPr lang="en-US" altLang="zh-TW" sz="1200" b="0" i="1" smtClean="0">
                                        <a:latin typeface="Cambria Math" panose="02040503050406030204" pitchFamily="18" charset="0"/>
                                      </a:rPr>
                                      <m:t>,</m:t>
                                    </m:r>
                                    <m:r>
                                      <a:rPr lang="en-US" altLang="zh-TW" sz="1200" b="0" i="1" smtClean="0">
                                        <a:latin typeface="Cambria Math" panose="02040503050406030204" pitchFamily="18" charset="0"/>
                                      </a:rPr>
                                      <m:t>𝑡</m:t>
                                    </m:r>
                                  </m:sub>
                                </m:sSub>
                                <m:r>
                                  <a:rPr lang="en-US" altLang="zh-TW" sz="1200" b="0" i="1" smtClean="0">
                                    <a:latin typeface="Cambria Math" panose="02040503050406030204" pitchFamily="18" charset="0"/>
                                  </a:rPr>
                                  <m:t>−</m:t>
                                </m:r>
                                <m:sSub>
                                  <m:sSubPr>
                                    <m:ctrlPr>
                                      <a:rPr lang="en-US" altLang="zh-TW" sz="1200" b="0" i="1" smtClean="0">
                                        <a:latin typeface="Cambria Math"/>
                                      </a:rPr>
                                    </m:ctrlPr>
                                  </m:sSubPr>
                                  <m:e>
                                    <m:r>
                                      <a:rPr lang="en-US" altLang="zh-TW" sz="1200" b="0" i="1" smtClean="0">
                                        <a:latin typeface="Cambria Math" panose="02040503050406030204" pitchFamily="18" charset="0"/>
                                      </a:rPr>
                                      <m:t>𝐿</m:t>
                                    </m:r>
                                  </m:e>
                                  <m:sub>
                                    <m:r>
                                      <a:rPr lang="en-US" altLang="zh-TW" sz="1200" b="0" i="1" smtClean="0">
                                        <a:latin typeface="Cambria Math" panose="02040503050406030204" pitchFamily="18" charset="0"/>
                                      </a:rPr>
                                      <m:t>𝑗</m:t>
                                    </m:r>
                                    <m:r>
                                      <a:rPr lang="en-US" altLang="zh-TW" sz="1200" b="0" i="1" smtClean="0">
                                        <a:latin typeface="Cambria Math" panose="02040503050406030204" pitchFamily="18" charset="0"/>
                                      </a:rPr>
                                      <m:t>,</m:t>
                                    </m:r>
                                    <m:r>
                                      <a:rPr lang="en-US" altLang="zh-TW" sz="1200" b="0" i="1" smtClean="0">
                                        <a:latin typeface="Cambria Math" panose="02040503050406030204" pitchFamily="18" charset="0"/>
                                      </a:rPr>
                                      <m:t>𝑡</m:t>
                                    </m:r>
                                  </m:sub>
                                </m:sSub>
                              </m:oMath>
                            </m:oMathPara>
                          </a14:m>
                          <a:endParaRPr lang="zh-TW" altLang="en-US" sz="12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ctr" fontAlgn="ctr"/>
                          <a:r>
                            <a:rPr lang="en-US" altLang="zh-TW" sz="1600" u="none" strike="noStrike" dirty="0">
                              <a:effectLst/>
                            </a:rPr>
                            <a:t>2012/11/20</a:t>
                          </a:r>
                          <a:endParaRPr lang="en-US" altLang="zh-TW" sz="16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ctr" fontAlgn="ctr"/>
                          <a:r>
                            <a:rPr lang="en-US" altLang="zh-TW" sz="1600" u="none" strike="noStrike" dirty="0">
                              <a:effectLst/>
                            </a:rPr>
                            <a:t>2012/11/21</a:t>
                          </a:r>
                          <a:endParaRPr lang="en-US" altLang="zh-TW" sz="16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ctr" fontAlgn="ctr"/>
                          <a:r>
                            <a:rPr lang="en-US" altLang="zh-TW" sz="1600" u="none" strike="noStrike" dirty="0">
                              <a:effectLst/>
                            </a:rPr>
                            <a:t>2012/11/22</a:t>
                          </a:r>
                          <a:endParaRPr lang="en-US" altLang="zh-TW" sz="16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ctr" fontAlgn="ctr"/>
                          <a:r>
                            <a:rPr lang="en-US" altLang="zh-TW" sz="1600" u="none" strike="noStrike" dirty="0">
                              <a:effectLst/>
                            </a:rPr>
                            <a:t>2012/11/23</a:t>
                          </a:r>
                          <a:endParaRPr lang="en-US" altLang="zh-TW" sz="16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ctr" fontAlgn="ctr"/>
                          <a:r>
                            <a:rPr lang="en-US" altLang="zh-TW" sz="1600" u="none" strike="noStrike" dirty="0">
                              <a:effectLst/>
                            </a:rPr>
                            <a:t>2012/11/26</a:t>
                          </a:r>
                          <a:endParaRPr lang="en-US" altLang="zh-TW" sz="16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ctr" fontAlgn="ctr"/>
                          <a:r>
                            <a:rPr lang="en-US" altLang="zh-TW" sz="1600" u="none" strike="noStrike" dirty="0">
                              <a:effectLst/>
                            </a:rPr>
                            <a:t>2012/11/27</a:t>
                          </a:r>
                          <a:endParaRPr lang="en-US" altLang="zh-TW" sz="16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ctr" fontAlgn="ctr"/>
                          <a:r>
                            <a:rPr lang="en-US" altLang="zh-TW" sz="1600" u="none" strike="noStrike" dirty="0">
                              <a:effectLst/>
                            </a:rPr>
                            <a:t>2012/11/28</a:t>
                          </a:r>
                          <a:endParaRPr lang="en-US" altLang="zh-TW" sz="16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ctr" fontAlgn="ctr"/>
                          <a:r>
                            <a:rPr lang="en-US" altLang="zh-TW" sz="1600" u="none" strike="noStrike" dirty="0">
                              <a:effectLst/>
                            </a:rPr>
                            <a:t>2012/11/29</a:t>
                          </a:r>
                          <a:endParaRPr lang="en-US" altLang="zh-TW" sz="16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ctr" fontAlgn="ctr"/>
                          <a:r>
                            <a:rPr lang="en-US" altLang="zh-TW" sz="1600" u="none" strike="noStrike" dirty="0">
                              <a:effectLst/>
                            </a:rPr>
                            <a:t>2012/11/30</a:t>
                          </a:r>
                          <a:endParaRPr lang="en-US" altLang="zh-TW" sz="16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ctr" fontAlgn="ctr"/>
                          <a14:m>
                            <m:oMath xmlns:m="http://schemas.openxmlformats.org/officeDocument/2006/math">
                              <m:sSub>
                                <m:sSubPr>
                                  <m:ctrlPr>
                                    <a:rPr lang="en-US" sz="1600" b="0" i="1" u="none" strike="noStrike" smtClean="0">
                                      <a:solidFill>
                                        <a:srgbClr val="000000"/>
                                      </a:solidFill>
                                      <a:effectLst/>
                                      <a:latin typeface="Cambria Math"/>
                                      <a:ea typeface="新細明體" panose="02020500000000000000" pitchFamily="18" charset="-120"/>
                                    </a:rPr>
                                  </m:ctrlPr>
                                </m:sSubPr>
                                <m:e>
                                  <m:r>
                                    <a:rPr lang="en-US" sz="1600" b="0" i="1" u="none" strike="noStrike" smtClean="0">
                                      <a:solidFill>
                                        <a:srgbClr val="000000"/>
                                      </a:solidFill>
                                      <a:effectLst/>
                                      <a:latin typeface="Cambria Math" panose="02040503050406030204" pitchFamily="18" charset="0"/>
                                      <a:ea typeface="新細明體" panose="02020500000000000000" pitchFamily="18" charset="-120"/>
                                    </a:rPr>
                                    <m:t>𝑢</m:t>
                                  </m:r>
                                </m:e>
                                <m:sub>
                                  <m:r>
                                    <a:rPr lang="en-US" sz="1600" b="0" i="1" u="none" strike="noStrike" smtClean="0">
                                      <a:solidFill>
                                        <a:srgbClr val="000000"/>
                                      </a:solidFill>
                                      <a:effectLst/>
                                      <a:latin typeface="Cambria Math" panose="02040503050406030204" pitchFamily="18" charset="0"/>
                                      <a:ea typeface="新細明體" panose="02020500000000000000" pitchFamily="18" charset="-120"/>
                                    </a:rPr>
                                    <m:t>𝑖𝑗</m:t>
                                  </m:r>
                                </m:sub>
                              </m:sSub>
                            </m:oMath>
                          </a14:m>
                          <a:r>
                            <a:rPr lang="en-US" sz="1600" b="0" i="0" u="none" strike="noStrike" dirty="0" smtClean="0">
                              <a:solidFill>
                                <a:srgbClr val="000000"/>
                              </a:solidFill>
                              <a:effectLst/>
                              <a:latin typeface="新細明體" panose="02020500000000000000" pitchFamily="18" charset="-120"/>
                              <a:ea typeface="新細明體" panose="02020500000000000000" pitchFamily="18" charset="-120"/>
                            </a:rPr>
                            <a:t> (</a:t>
                          </a:r>
                          <a14:m>
                            <m:oMath xmlns:m="http://schemas.openxmlformats.org/officeDocument/2006/math">
                              <m:sSub>
                                <m:sSubPr>
                                  <m:ctrlPr>
                                    <a:rPr lang="en-US" sz="1600" b="0" i="1" u="none" strike="noStrike" smtClean="0">
                                      <a:solidFill>
                                        <a:srgbClr val="000000"/>
                                      </a:solidFill>
                                      <a:effectLst/>
                                      <a:latin typeface="Cambria Math"/>
                                      <a:ea typeface="新細明體" panose="02020500000000000000" pitchFamily="18" charset="-120"/>
                                    </a:rPr>
                                  </m:ctrlPr>
                                </m:sSubPr>
                                <m:e>
                                  <m:acc>
                                    <m:accPr>
                                      <m:chr m:val="̅"/>
                                      <m:ctrlPr>
                                        <a:rPr lang="en-US" sz="1600" b="0" i="1" u="none" strike="noStrike" dirty="0" smtClean="0">
                                          <a:solidFill>
                                            <a:srgbClr val="000000"/>
                                          </a:solidFill>
                                          <a:effectLst/>
                                          <a:latin typeface="Cambria Math"/>
                                          <a:ea typeface="新細明體" panose="02020500000000000000" pitchFamily="18" charset="-120"/>
                                        </a:rPr>
                                      </m:ctrlPr>
                                    </m:accPr>
                                    <m:e>
                                      <m:r>
                                        <a:rPr lang="en-US" sz="1600" b="0" i="1" u="none" strike="noStrike" dirty="0" smtClean="0">
                                          <a:solidFill>
                                            <a:srgbClr val="000000"/>
                                          </a:solidFill>
                                          <a:effectLst/>
                                          <a:latin typeface="Cambria Math" panose="02040503050406030204" pitchFamily="18" charset="0"/>
                                          <a:ea typeface="新細明體" panose="02020500000000000000" pitchFamily="18" charset="-120"/>
                                        </a:rPr>
                                        <m:t>𝑑</m:t>
                                      </m:r>
                                    </m:e>
                                  </m:acc>
                                </m:e>
                                <m:sub>
                                  <m:r>
                                    <a:rPr lang="en-US" sz="1600" b="0" i="1" u="none" strike="noStrike" smtClean="0">
                                      <a:solidFill>
                                        <a:srgbClr val="000000"/>
                                      </a:solidFill>
                                      <a:effectLst/>
                                      <a:latin typeface="Cambria Math" panose="02040503050406030204" pitchFamily="18" charset="0"/>
                                      <a:ea typeface="新細明體" panose="02020500000000000000" pitchFamily="18" charset="-120"/>
                                    </a:rPr>
                                    <m:t>𝑖𝑗</m:t>
                                  </m:r>
                                </m:sub>
                              </m:sSub>
                            </m:oMath>
                          </a14:m>
                          <a:r>
                            <a:rPr lang="en-US" sz="1600" b="0" i="0" u="none" strike="noStrike" dirty="0" smtClean="0">
                              <a:solidFill>
                                <a:srgbClr val="000000"/>
                              </a:solidFill>
                              <a:effectLst/>
                              <a:latin typeface="新細明體" panose="02020500000000000000" pitchFamily="18" charset="-120"/>
                              <a:ea typeface="新細明體" panose="02020500000000000000" pitchFamily="18" charset="-120"/>
                            </a:rPr>
                            <a:t>)</a:t>
                          </a:r>
                          <a:endParaRPr lang="en-US" sz="16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r>
                  <a:tr h="207049">
                    <a:tc>
                      <a:txBody>
                        <a:bodyPr/>
                        <a:lstStyle/>
                        <a:p>
                          <a:pPr algn="ctr" fontAlgn="ctr"/>
                          <a:r>
                            <a:rPr lang="en-US" sz="1800" u="none" strike="noStrike" dirty="0">
                              <a:effectLst/>
                            </a:rPr>
                            <a:t>d12</a:t>
                          </a:r>
                          <a:endParaRPr lang="en-US" sz="18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dirty="0">
                              <a:effectLst/>
                            </a:rPr>
                            <a:t>-0.3936 </a:t>
                          </a:r>
                          <a:endParaRPr lang="en-US" altLang="zh-TW" sz="18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dirty="0">
                              <a:effectLst/>
                            </a:rPr>
                            <a:t>2.1963 </a:t>
                          </a:r>
                          <a:endParaRPr lang="en-US" altLang="zh-TW" sz="18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dirty="0">
                              <a:effectLst/>
                            </a:rPr>
                            <a:t>0.7731 </a:t>
                          </a:r>
                          <a:endParaRPr lang="en-US" altLang="zh-TW" sz="18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dirty="0">
                              <a:effectLst/>
                            </a:rPr>
                            <a:t>-2.3142 </a:t>
                          </a:r>
                          <a:endParaRPr lang="en-US" altLang="zh-TW" sz="18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dirty="0">
                              <a:effectLst/>
                            </a:rPr>
                            <a:t>-1.3487 </a:t>
                          </a:r>
                          <a:endParaRPr lang="en-US" altLang="zh-TW" sz="18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dirty="0">
                              <a:effectLst/>
                            </a:rPr>
                            <a:t>-0.3895 </a:t>
                          </a:r>
                          <a:endParaRPr lang="en-US" altLang="zh-TW" sz="18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dirty="0">
                              <a:effectLst/>
                            </a:rPr>
                            <a:t>-0.6819 </a:t>
                          </a:r>
                          <a:endParaRPr lang="en-US" altLang="zh-TW" sz="18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a:effectLst/>
                            </a:rPr>
                            <a:t>0.0625 </a:t>
                          </a:r>
                          <a:endParaRPr lang="en-US" altLang="zh-TW" sz="1800" b="0" i="0" u="none" strike="noStrike">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a:effectLst/>
                            </a:rPr>
                            <a:t>-0.5307 </a:t>
                          </a:r>
                          <a:endParaRPr lang="en-US" altLang="zh-TW" sz="1800" b="0" i="0" u="none" strike="noStrike">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a:effectLst/>
                            </a:rPr>
                            <a:t>-0.2919 </a:t>
                          </a:r>
                          <a:endParaRPr lang="en-US" altLang="zh-TW" sz="1800" b="0" i="0" u="none" strike="noStrike">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r>
                  <a:tr h="207049">
                    <a:tc>
                      <a:txBody>
                        <a:bodyPr/>
                        <a:lstStyle/>
                        <a:p>
                          <a:pPr algn="ctr" fontAlgn="ctr"/>
                          <a:r>
                            <a:rPr lang="en-US" sz="1800" u="none" strike="noStrike" dirty="0">
                              <a:effectLst/>
                            </a:rPr>
                            <a:t>d13</a:t>
                          </a:r>
                          <a:endParaRPr lang="en-US" sz="18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a:effectLst/>
                            </a:rPr>
                            <a:t>-0.1684 </a:t>
                          </a:r>
                          <a:endParaRPr lang="en-US" altLang="zh-TW" sz="1800" b="0" i="0" u="none" strike="noStrike">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a:effectLst/>
                            </a:rPr>
                            <a:t>1.0336 </a:t>
                          </a:r>
                          <a:endParaRPr lang="en-US" altLang="zh-TW" sz="1800" b="0" i="0" u="none" strike="noStrike">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dirty="0">
                              <a:effectLst/>
                            </a:rPr>
                            <a:t>-0.2436 </a:t>
                          </a:r>
                          <a:endParaRPr lang="en-US" altLang="zh-TW" sz="18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dirty="0">
                              <a:effectLst/>
                            </a:rPr>
                            <a:t>-1.7970 </a:t>
                          </a:r>
                          <a:endParaRPr lang="en-US" altLang="zh-TW" sz="18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a:effectLst/>
                            </a:rPr>
                            <a:t>-1.3136 </a:t>
                          </a:r>
                          <a:endParaRPr lang="en-US" altLang="zh-TW" sz="1800" b="0" i="0" u="none" strike="noStrike">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a:effectLst/>
                            </a:rPr>
                            <a:t>-0.8309 </a:t>
                          </a:r>
                          <a:endParaRPr lang="en-US" altLang="zh-TW" sz="1800" b="0" i="0" u="none" strike="noStrike">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a:effectLst/>
                            </a:rPr>
                            <a:t>0.7219 </a:t>
                          </a:r>
                          <a:endParaRPr lang="en-US" altLang="zh-TW" sz="1800" b="0" i="0" u="none" strike="noStrike">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a:effectLst/>
                            </a:rPr>
                            <a:t>-0.4959 </a:t>
                          </a:r>
                          <a:endParaRPr lang="en-US" altLang="zh-TW" sz="1800" b="0" i="0" u="none" strike="noStrike">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a:effectLst/>
                            </a:rPr>
                            <a:t>-1.0049 </a:t>
                          </a:r>
                          <a:endParaRPr lang="en-US" altLang="zh-TW" sz="1800" b="0" i="0" u="none" strike="noStrike">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a:effectLst/>
                            </a:rPr>
                            <a:t>-0.4554 </a:t>
                          </a:r>
                          <a:endParaRPr lang="en-US" altLang="zh-TW" sz="1800" b="0" i="0" u="none" strike="noStrike">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r>
                  <a:tr h="207049">
                    <a:tc>
                      <a:txBody>
                        <a:bodyPr/>
                        <a:lstStyle/>
                        <a:p>
                          <a:pPr algn="ctr" fontAlgn="ctr"/>
                          <a:r>
                            <a:rPr lang="en-US" sz="1800" u="none" strike="noStrike" dirty="0">
                              <a:effectLst/>
                            </a:rPr>
                            <a:t>d14</a:t>
                          </a:r>
                          <a:endParaRPr lang="en-US" sz="18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dirty="0">
                              <a:effectLst/>
                            </a:rPr>
                            <a:t>-0.3501 </a:t>
                          </a:r>
                          <a:endParaRPr lang="en-US" altLang="zh-TW" sz="18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a:effectLst/>
                            </a:rPr>
                            <a:t>1.6753 </a:t>
                          </a:r>
                          <a:endParaRPr lang="en-US" altLang="zh-TW" sz="1800" b="0" i="0" u="none" strike="noStrike">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a:effectLst/>
                            </a:rPr>
                            <a:t>1.3208 </a:t>
                          </a:r>
                          <a:endParaRPr lang="en-US" altLang="zh-TW" sz="1800" b="0" i="0" u="none" strike="noStrike">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dirty="0">
                              <a:effectLst/>
                            </a:rPr>
                            <a:t>-3.0996 </a:t>
                          </a:r>
                          <a:endParaRPr lang="en-US" altLang="zh-TW" sz="18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dirty="0">
                              <a:effectLst/>
                            </a:rPr>
                            <a:t>-0.8742 </a:t>
                          </a:r>
                          <a:endParaRPr lang="en-US" altLang="zh-TW" sz="18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dirty="0">
                              <a:effectLst/>
                            </a:rPr>
                            <a:t>0.0578 </a:t>
                          </a:r>
                          <a:endParaRPr lang="en-US" altLang="zh-TW" sz="18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dirty="0">
                              <a:effectLst/>
                            </a:rPr>
                            <a:t>-1.2835 </a:t>
                          </a:r>
                          <a:endParaRPr lang="en-US" altLang="zh-TW" sz="18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dirty="0">
                              <a:effectLst/>
                            </a:rPr>
                            <a:t>0.0712 </a:t>
                          </a:r>
                          <a:endParaRPr lang="en-US" altLang="zh-TW" sz="18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dirty="0">
                              <a:effectLst/>
                            </a:rPr>
                            <a:t>-0.5410 </a:t>
                          </a:r>
                          <a:endParaRPr lang="en-US" altLang="zh-TW" sz="18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a:effectLst/>
                            </a:rPr>
                            <a:t>-0.3359 </a:t>
                          </a:r>
                          <a:endParaRPr lang="en-US" altLang="zh-TW" sz="1800" b="0" i="0" u="none" strike="noStrike">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r>
                  <a:tr h="207049">
                    <a:tc>
                      <a:txBody>
                        <a:bodyPr/>
                        <a:lstStyle/>
                        <a:p>
                          <a:pPr algn="ctr" fontAlgn="ctr"/>
                          <a:r>
                            <a:rPr lang="en-US" sz="1800" u="none" strike="noStrike" dirty="0">
                              <a:effectLst/>
                            </a:rPr>
                            <a:t>d23</a:t>
                          </a:r>
                          <a:endParaRPr lang="en-US" sz="18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a:effectLst/>
                            </a:rPr>
                            <a:t>0.2252 </a:t>
                          </a:r>
                          <a:endParaRPr lang="en-US" altLang="zh-TW" sz="1800" b="0" i="0" u="none" strike="noStrike">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a:effectLst/>
                            </a:rPr>
                            <a:t>-1.1627 </a:t>
                          </a:r>
                          <a:endParaRPr lang="en-US" altLang="zh-TW" sz="1800" b="0" i="0" u="none" strike="noStrike">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a:effectLst/>
                            </a:rPr>
                            <a:t>-1.0167 </a:t>
                          </a:r>
                          <a:endParaRPr lang="en-US" altLang="zh-TW" sz="1800" b="0" i="0" u="none" strike="noStrike">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a:effectLst/>
                            </a:rPr>
                            <a:t>0.5172 </a:t>
                          </a:r>
                          <a:endParaRPr lang="en-US" altLang="zh-TW" sz="1800" b="0" i="0" u="none" strike="noStrike">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a:effectLst/>
                            </a:rPr>
                            <a:t>0.0351 </a:t>
                          </a:r>
                          <a:endParaRPr lang="en-US" altLang="zh-TW" sz="1800" b="0" i="0" u="none" strike="noStrike">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a:effectLst/>
                            </a:rPr>
                            <a:t>-0.4413 </a:t>
                          </a:r>
                          <a:endParaRPr lang="en-US" altLang="zh-TW" sz="1800" b="0" i="0" u="none" strike="noStrike">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a:effectLst/>
                            </a:rPr>
                            <a:t>1.4038 </a:t>
                          </a:r>
                          <a:endParaRPr lang="en-US" altLang="zh-TW" sz="1800" b="0" i="0" u="none" strike="noStrike">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a:effectLst/>
                            </a:rPr>
                            <a:t>-0.5584 </a:t>
                          </a:r>
                          <a:endParaRPr lang="en-US" altLang="zh-TW" sz="1800" b="0" i="0" u="none" strike="noStrike">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dirty="0">
                              <a:effectLst/>
                            </a:rPr>
                            <a:t>-0.4741 </a:t>
                          </a:r>
                          <a:endParaRPr lang="en-US" altLang="zh-TW" sz="18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dirty="0">
                              <a:effectLst/>
                            </a:rPr>
                            <a:t>-0.1635 </a:t>
                          </a:r>
                          <a:endParaRPr lang="en-US" altLang="zh-TW" sz="18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r>
                  <a:tr h="207049">
                    <a:tc>
                      <a:txBody>
                        <a:bodyPr/>
                        <a:lstStyle/>
                        <a:p>
                          <a:pPr algn="ctr" fontAlgn="ctr"/>
                          <a:r>
                            <a:rPr lang="en-US" sz="1800" u="none" strike="noStrike" dirty="0">
                              <a:effectLst/>
                            </a:rPr>
                            <a:t>d24</a:t>
                          </a:r>
                          <a:endParaRPr lang="en-US" sz="18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a:effectLst/>
                            </a:rPr>
                            <a:t>0.0435 </a:t>
                          </a:r>
                          <a:endParaRPr lang="en-US" altLang="zh-TW" sz="1800" b="0" i="0" u="none" strike="noStrike">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a:effectLst/>
                            </a:rPr>
                            <a:t>-0.5210 </a:t>
                          </a:r>
                          <a:endParaRPr lang="en-US" altLang="zh-TW" sz="1800" b="0" i="0" u="none" strike="noStrike">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a:effectLst/>
                            </a:rPr>
                            <a:t>0.5477 </a:t>
                          </a:r>
                          <a:endParaRPr lang="en-US" altLang="zh-TW" sz="1800" b="0" i="0" u="none" strike="noStrike">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a:effectLst/>
                            </a:rPr>
                            <a:t>-0.7854 </a:t>
                          </a:r>
                          <a:endParaRPr lang="en-US" altLang="zh-TW" sz="1800" b="0" i="0" u="none" strike="noStrike">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a:effectLst/>
                            </a:rPr>
                            <a:t>0.4744 </a:t>
                          </a:r>
                          <a:endParaRPr lang="en-US" altLang="zh-TW" sz="1800" b="0" i="0" u="none" strike="noStrike">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a:effectLst/>
                            </a:rPr>
                            <a:t>0.4473 </a:t>
                          </a:r>
                          <a:endParaRPr lang="en-US" altLang="zh-TW" sz="1800" b="0" i="0" u="none" strike="noStrike">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dirty="0">
                              <a:effectLst/>
                            </a:rPr>
                            <a:t>-0.6016 </a:t>
                          </a:r>
                          <a:endParaRPr lang="en-US" altLang="zh-TW" sz="18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a:effectLst/>
                            </a:rPr>
                            <a:t>0.0087 </a:t>
                          </a:r>
                          <a:endParaRPr lang="en-US" altLang="zh-TW" sz="1800" b="0" i="0" u="none" strike="noStrike">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a:effectLst/>
                            </a:rPr>
                            <a:t>-0.0103 </a:t>
                          </a:r>
                          <a:endParaRPr lang="en-US" altLang="zh-TW" sz="1800" b="0" i="0" u="none" strike="noStrike">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dirty="0">
                              <a:effectLst/>
                            </a:rPr>
                            <a:t>-0.0441 </a:t>
                          </a:r>
                          <a:endParaRPr lang="en-US" altLang="zh-TW" sz="18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r>
                  <a:tr h="207049">
                    <a:tc>
                      <a:txBody>
                        <a:bodyPr/>
                        <a:lstStyle/>
                        <a:p>
                          <a:pPr algn="ctr" fontAlgn="ctr"/>
                          <a:r>
                            <a:rPr lang="en-US" sz="1800" u="none" strike="noStrike" dirty="0">
                              <a:effectLst/>
                            </a:rPr>
                            <a:t>d34</a:t>
                          </a:r>
                          <a:endParaRPr lang="en-US" sz="18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a:effectLst/>
                            </a:rPr>
                            <a:t>-0.1817 </a:t>
                          </a:r>
                          <a:endParaRPr lang="en-US" altLang="zh-TW" sz="1800" b="0" i="0" u="none" strike="noStrike">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a:effectLst/>
                            </a:rPr>
                            <a:t>0.6417 </a:t>
                          </a:r>
                          <a:endParaRPr lang="en-US" altLang="zh-TW" sz="1800" b="0" i="0" u="none" strike="noStrike">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a:effectLst/>
                            </a:rPr>
                            <a:t>1.5644 </a:t>
                          </a:r>
                          <a:endParaRPr lang="en-US" altLang="zh-TW" sz="1800" b="0" i="0" u="none" strike="noStrike">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a:effectLst/>
                            </a:rPr>
                            <a:t>-1.3026 </a:t>
                          </a:r>
                          <a:endParaRPr lang="en-US" altLang="zh-TW" sz="1800" b="0" i="0" u="none" strike="noStrike">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a:effectLst/>
                            </a:rPr>
                            <a:t>0.4393 </a:t>
                          </a:r>
                          <a:endParaRPr lang="en-US" altLang="zh-TW" sz="1800" b="0" i="0" u="none" strike="noStrike">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a:effectLst/>
                            </a:rPr>
                            <a:t>0.8886 </a:t>
                          </a:r>
                          <a:endParaRPr lang="en-US" altLang="zh-TW" sz="1800" b="0" i="0" u="none" strike="noStrike">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a:effectLst/>
                            </a:rPr>
                            <a:t>-2.0054 </a:t>
                          </a:r>
                          <a:endParaRPr lang="en-US" altLang="zh-TW" sz="1800" b="0" i="0" u="none" strike="noStrike">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a:effectLst/>
                            </a:rPr>
                            <a:t>0.5671 </a:t>
                          </a:r>
                          <a:endParaRPr lang="en-US" altLang="zh-TW" sz="1800" b="0" i="0" u="none" strike="noStrike">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dirty="0">
                              <a:effectLst/>
                            </a:rPr>
                            <a:t>0.4638 </a:t>
                          </a:r>
                          <a:endParaRPr lang="en-US" altLang="zh-TW" sz="18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dirty="0">
                              <a:effectLst/>
                            </a:rPr>
                            <a:t>0.1195 </a:t>
                          </a:r>
                          <a:endParaRPr lang="en-US" altLang="zh-TW" sz="18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r>
                </a:tbl>
              </a:graphicData>
            </a:graphic>
          </p:graphicFrame>
        </mc:Choice>
        <mc:Fallback xmlns="">
          <p:graphicFrame>
            <p:nvGraphicFramePr>
              <p:cNvPr id="5" name="表格 4"/>
              <p:cNvGraphicFramePr>
                <a:graphicFrameLocks noGrp="1"/>
              </p:cNvGraphicFramePr>
              <p:nvPr>
                <p:extLst>
                  <p:ext uri="{D42A27DB-BD31-4B8C-83A1-F6EECF244321}">
                    <p14:modId xmlns:p14="http://schemas.microsoft.com/office/powerpoint/2010/main" val="2042197308"/>
                  </p:ext>
                </p:extLst>
              </p:nvPr>
            </p:nvGraphicFramePr>
            <p:xfrm>
              <a:off x="103029" y="850543"/>
              <a:ext cx="11951595" cy="1986244"/>
            </p:xfrm>
            <a:graphic>
              <a:graphicData uri="http://schemas.openxmlformats.org/drawingml/2006/table">
                <a:tbl>
                  <a:tblPr>
                    <a:tableStyleId>{5C22544A-7EE6-4342-B048-85BDC9FD1C3A}</a:tableStyleId>
                  </a:tblPr>
                  <a:tblGrid>
                    <a:gridCol w="1242975"/>
                    <a:gridCol w="1070862"/>
                    <a:gridCol w="1070862"/>
                    <a:gridCol w="1070862"/>
                    <a:gridCol w="1070862"/>
                    <a:gridCol w="1070862"/>
                    <a:gridCol w="1070862"/>
                    <a:gridCol w="1070862"/>
                    <a:gridCol w="1070862"/>
                    <a:gridCol w="1070862"/>
                    <a:gridCol w="1070862"/>
                  </a:tblGrid>
                  <a:tr h="283858">
                    <a:tc>
                      <a:txBody>
                        <a:bodyPr/>
                        <a:lstStyle/>
                        <a:p>
                          <a:endParaRPr lang="zh-TW"/>
                        </a:p>
                      </a:txBody>
                      <a:tcPr marL="9411" marR="9411" marT="9411" marB="0" anchor="ctr">
                        <a:blipFill rotWithShape="0">
                          <a:blip r:embed="rId2"/>
                          <a:stretch>
                            <a:fillRect l="-490" t="-12766" r="-862745" b="-646809"/>
                          </a:stretch>
                        </a:blipFill>
                      </a:tcPr>
                    </a:tc>
                    <a:tc>
                      <a:txBody>
                        <a:bodyPr/>
                        <a:lstStyle/>
                        <a:p>
                          <a:pPr algn="ctr" fontAlgn="ctr"/>
                          <a:r>
                            <a:rPr lang="en-US" altLang="zh-TW" sz="1600" u="none" strike="noStrike" dirty="0">
                              <a:effectLst/>
                            </a:rPr>
                            <a:t>2012/11/20</a:t>
                          </a:r>
                          <a:endParaRPr lang="en-US" altLang="zh-TW" sz="16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ctr" fontAlgn="ctr"/>
                          <a:r>
                            <a:rPr lang="en-US" altLang="zh-TW" sz="1600" u="none" strike="noStrike" dirty="0">
                              <a:effectLst/>
                            </a:rPr>
                            <a:t>2012/11/21</a:t>
                          </a:r>
                          <a:endParaRPr lang="en-US" altLang="zh-TW" sz="16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ctr" fontAlgn="ctr"/>
                          <a:r>
                            <a:rPr lang="en-US" altLang="zh-TW" sz="1600" u="none" strike="noStrike" dirty="0">
                              <a:effectLst/>
                            </a:rPr>
                            <a:t>2012/11/22</a:t>
                          </a:r>
                          <a:endParaRPr lang="en-US" altLang="zh-TW" sz="16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ctr" fontAlgn="ctr"/>
                          <a:r>
                            <a:rPr lang="en-US" altLang="zh-TW" sz="1600" u="none" strike="noStrike" dirty="0">
                              <a:effectLst/>
                            </a:rPr>
                            <a:t>2012/11/23</a:t>
                          </a:r>
                          <a:endParaRPr lang="en-US" altLang="zh-TW" sz="16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ctr" fontAlgn="ctr"/>
                          <a:r>
                            <a:rPr lang="en-US" altLang="zh-TW" sz="1600" u="none" strike="noStrike" dirty="0">
                              <a:effectLst/>
                            </a:rPr>
                            <a:t>2012/11/26</a:t>
                          </a:r>
                          <a:endParaRPr lang="en-US" altLang="zh-TW" sz="16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ctr" fontAlgn="ctr"/>
                          <a:r>
                            <a:rPr lang="en-US" altLang="zh-TW" sz="1600" u="none" strike="noStrike" dirty="0">
                              <a:effectLst/>
                            </a:rPr>
                            <a:t>2012/11/27</a:t>
                          </a:r>
                          <a:endParaRPr lang="en-US" altLang="zh-TW" sz="16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ctr" fontAlgn="ctr"/>
                          <a:r>
                            <a:rPr lang="en-US" altLang="zh-TW" sz="1600" u="none" strike="noStrike" dirty="0">
                              <a:effectLst/>
                            </a:rPr>
                            <a:t>2012/11/28</a:t>
                          </a:r>
                          <a:endParaRPr lang="en-US" altLang="zh-TW" sz="16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ctr" fontAlgn="ctr"/>
                          <a:r>
                            <a:rPr lang="en-US" altLang="zh-TW" sz="1600" u="none" strike="noStrike" dirty="0">
                              <a:effectLst/>
                            </a:rPr>
                            <a:t>2012/11/29</a:t>
                          </a:r>
                          <a:endParaRPr lang="en-US" altLang="zh-TW" sz="16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ctr" fontAlgn="ctr"/>
                          <a:r>
                            <a:rPr lang="en-US" altLang="zh-TW" sz="1600" u="none" strike="noStrike" dirty="0">
                              <a:effectLst/>
                            </a:rPr>
                            <a:t>2012/11/30</a:t>
                          </a:r>
                          <a:endParaRPr lang="en-US" altLang="zh-TW" sz="16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endParaRPr lang="zh-TW"/>
                        </a:p>
                      </a:txBody>
                      <a:tcPr marL="9411" marR="9411" marT="9411" marB="0" anchor="ctr">
                        <a:blipFill rotWithShape="0">
                          <a:blip r:embed="rId2"/>
                          <a:stretch>
                            <a:fillRect l="-1015341" t="-12766" r="-1136" b="-646809"/>
                          </a:stretch>
                        </a:blipFill>
                      </a:tcPr>
                    </a:tc>
                  </a:tr>
                  <a:tr h="283731">
                    <a:tc>
                      <a:txBody>
                        <a:bodyPr/>
                        <a:lstStyle/>
                        <a:p>
                          <a:pPr algn="ctr" fontAlgn="ctr"/>
                          <a:r>
                            <a:rPr lang="en-US" sz="1800" u="none" strike="noStrike" dirty="0">
                              <a:effectLst/>
                            </a:rPr>
                            <a:t>d12</a:t>
                          </a:r>
                          <a:endParaRPr lang="en-US" sz="18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dirty="0">
                              <a:effectLst/>
                            </a:rPr>
                            <a:t>-0.3936 </a:t>
                          </a:r>
                          <a:endParaRPr lang="en-US" altLang="zh-TW" sz="18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dirty="0">
                              <a:effectLst/>
                            </a:rPr>
                            <a:t>2.1963 </a:t>
                          </a:r>
                          <a:endParaRPr lang="en-US" altLang="zh-TW" sz="18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dirty="0">
                              <a:effectLst/>
                            </a:rPr>
                            <a:t>0.7731 </a:t>
                          </a:r>
                          <a:endParaRPr lang="en-US" altLang="zh-TW" sz="18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dirty="0">
                              <a:effectLst/>
                            </a:rPr>
                            <a:t>-2.3142 </a:t>
                          </a:r>
                          <a:endParaRPr lang="en-US" altLang="zh-TW" sz="18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dirty="0">
                              <a:effectLst/>
                            </a:rPr>
                            <a:t>-1.3487 </a:t>
                          </a:r>
                          <a:endParaRPr lang="en-US" altLang="zh-TW" sz="18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dirty="0">
                              <a:effectLst/>
                            </a:rPr>
                            <a:t>-0.3895 </a:t>
                          </a:r>
                          <a:endParaRPr lang="en-US" altLang="zh-TW" sz="18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dirty="0">
                              <a:effectLst/>
                            </a:rPr>
                            <a:t>-0.6819 </a:t>
                          </a:r>
                          <a:endParaRPr lang="en-US" altLang="zh-TW" sz="18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a:effectLst/>
                            </a:rPr>
                            <a:t>0.0625 </a:t>
                          </a:r>
                          <a:endParaRPr lang="en-US" altLang="zh-TW" sz="1800" b="0" i="0" u="none" strike="noStrike">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a:effectLst/>
                            </a:rPr>
                            <a:t>-0.5307 </a:t>
                          </a:r>
                          <a:endParaRPr lang="en-US" altLang="zh-TW" sz="1800" b="0" i="0" u="none" strike="noStrike">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a:effectLst/>
                            </a:rPr>
                            <a:t>-0.2919 </a:t>
                          </a:r>
                          <a:endParaRPr lang="en-US" altLang="zh-TW" sz="1800" b="0" i="0" u="none" strike="noStrike">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r>
                  <a:tr h="283731">
                    <a:tc>
                      <a:txBody>
                        <a:bodyPr/>
                        <a:lstStyle/>
                        <a:p>
                          <a:pPr algn="ctr" fontAlgn="ctr"/>
                          <a:r>
                            <a:rPr lang="en-US" sz="1800" u="none" strike="noStrike" dirty="0">
                              <a:effectLst/>
                            </a:rPr>
                            <a:t>d13</a:t>
                          </a:r>
                          <a:endParaRPr lang="en-US" sz="18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a:effectLst/>
                            </a:rPr>
                            <a:t>-0.1684 </a:t>
                          </a:r>
                          <a:endParaRPr lang="en-US" altLang="zh-TW" sz="1800" b="0" i="0" u="none" strike="noStrike">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a:effectLst/>
                            </a:rPr>
                            <a:t>1.0336 </a:t>
                          </a:r>
                          <a:endParaRPr lang="en-US" altLang="zh-TW" sz="1800" b="0" i="0" u="none" strike="noStrike">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dirty="0">
                              <a:effectLst/>
                            </a:rPr>
                            <a:t>-0.2436 </a:t>
                          </a:r>
                          <a:endParaRPr lang="en-US" altLang="zh-TW" sz="18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dirty="0">
                              <a:effectLst/>
                            </a:rPr>
                            <a:t>-1.7970 </a:t>
                          </a:r>
                          <a:endParaRPr lang="en-US" altLang="zh-TW" sz="18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a:effectLst/>
                            </a:rPr>
                            <a:t>-1.3136 </a:t>
                          </a:r>
                          <a:endParaRPr lang="en-US" altLang="zh-TW" sz="1800" b="0" i="0" u="none" strike="noStrike">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a:effectLst/>
                            </a:rPr>
                            <a:t>-0.8309 </a:t>
                          </a:r>
                          <a:endParaRPr lang="en-US" altLang="zh-TW" sz="1800" b="0" i="0" u="none" strike="noStrike">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a:effectLst/>
                            </a:rPr>
                            <a:t>0.7219 </a:t>
                          </a:r>
                          <a:endParaRPr lang="en-US" altLang="zh-TW" sz="1800" b="0" i="0" u="none" strike="noStrike">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a:effectLst/>
                            </a:rPr>
                            <a:t>-0.4959 </a:t>
                          </a:r>
                          <a:endParaRPr lang="en-US" altLang="zh-TW" sz="1800" b="0" i="0" u="none" strike="noStrike">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a:effectLst/>
                            </a:rPr>
                            <a:t>-1.0049 </a:t>
                          </a:r>
                          <a:endParaRPr lang="en-US" altLang="zh-TW" sz="1800" b="0" i="0" u="none" strike="noStrike">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a:effectLst/>
                            </a:rPr>
                            <a:t>-0.4554 </a:t>
                          </a:r>
                          <a:endParaRPr lang="en-US" altLang="zh-TW" sz="1800" b="0" i="0" u="none" strike="noStrike">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r>
                  <a:tr h="283731">
                    <a:tc>
                      <a:txBody>
                        <a:bodyPr/>
                        <a:lstStyle/>
                        <a:p>
                          <a:pPr algn="ctr" fontAlgn="ctr"/>
                          <a:r>
                            <a:rPr lang="en-US" sz="1800" u="none" strike="noStrike" dirty="0">
                              <a:effectLst/>
                            </a:rPr>
                            <a:t>d14</a:t>
                          </a:r>
                          <a:endParaRPr lang="en-US" sz="18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dirty="0">
                              <a:effectLst/>
                            </a:rPr>
                            <a:t>-0.3501 </a:t>
                          </a:r>
                          <a:endParaRPr lang="en-US" altLang="zh-TW" sz="18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a:effectLst/>
                            </a:rPr>
                            <a:t>1.6753 </a:t>
                          </a:r>
                          <a:endParaRPr lang="en-US" altLang="zh-TW" sz="1800" b="0" i="0" u="none" strike="noStrike">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a:effectLst/>
                            </a:rPr>
                            <a:t>1.3208 </a:t>
                          </a:r>
                          <a:endParaRPr lang="en-US" altLang="zh-TW" sz="1800" b="0" i="0" u="none" strike="noStrike">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dirty="0">
                              <a:effectLst/>
                            </a:rPr>
                            <a:t>-3.0996 </a:t>
                          </a:r>
                          <a:endParaRPr lang="en-US" altLang="zh-TW" sz="18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dirty="0">
                              <a:effectLst/>
                            </a:rPr>
                            <a:t>-0.8742 </a:t>
                          </a:r>
                          <a:endParaRPr lang="en-US" altLang="zh-TW" sz="18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dirty="0">
                              <a:effectLst/>
                            </a:rPr>
                            <a:t>0.0578 </a:t>
                          </a:r>
                          <a:endParaRPr lang="en-US" altLang="zh-TW" sz="18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dirty="0">
                              <a:effectLst/>
                            </a:rPr>
                            <a:t>-1.2835 </a:t>
                          </a:r>
                          <a:endParaRPr lang="en-US" altLang="zh-TW" sz="18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dirty="0">
                              <a:effectLst/>
                            </a:rPr>
                            <a:t>0.0712 </a:t>
                          </a:r>
                          <a:endParaRPr lang="en-US" altLang="zh-TW" sz="18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dirty="0">
                              <a:effectLst/>
                            </a:rPr>
                            <a:t>-0.5410 </a:t>
                          </a:r>
                          <a:endParaRPr lang="en-US" altLang="zh-TW" sz="18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a:effectLst/>
                            </a:rPr>
                            <a:t>-0.3359 </a:t>
                          </a:r>
                          <a:endParaRPr lang="en-US" altLang="zh-TW" sz="1800" b="0" i="0" u="none" strike="noStrike">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r>
                  <a:tr h="283731">
                    <a:tc>
                      <a:txBody>
                        <a:bodyPr/>
                        <a:lstStyle/>
                        <a:p>
                          <a:pPr algn="ctr" fontAlgn="ctr"/>
                          <a:r>
                            <a:rPr lang="en-US" sz="1800" u="none" strike="noStrike" dirty="0">
                              <a:effectLst/>
                            </a:rPr>
                            <a:t>d23</a:t>
                          </a:r>
                          <a:endParaRPr lang="en-US" sz="18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a:effectLst/>
                            </a:rPr>
                            <a:t>0.2252 </a:t>
                          </a:r>
                          <a:endParaRPr lang="en-US" altLang="zh-TW" sz="1800" b="0" i="0" u="none" strike="noStrike">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a:effectLst/>
                            </a:rPr>
                            <a:t>-1.1627 </a:t>
                          </a:r>
                          <a:endParaRPr lang="en-US" altLang="zh-TW" sz="1800" b="0" i="0" u="none" strike="noStrike">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a:effectLst/>
                            </a:rPr>
                            <a:t>-1.0167 </a:t>
                          </a:r>
                          <a:endParaRPr lang="en-US" altLang="zh-TW" sz="1800" b="0" i="0" u="none" strike="noStrike">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a:effectLst/>
                            </a:rPr>
                            <a:t>0.5172 </a:t>
                          </a:r>
                          <a:endParaRPr lang="en-US" altLang="zh-TW" sz="1800" b="0" i="0" u="none" strike="noStrike">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a:effectLst/>
                            </a:rPr>
                            <a:t>0.0351 </a:t>
                          </a:r>
                          <a:endParaRPr lang="en-US" altLang="zh-TW" sz="1800" b="0" i="0" u="none" strike="noStrike">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a:effectLst/>
                            </a:rPr>
                            <a:t>-0.4413 </a:t>
                          </a:r>
                          <a:endParaRPr lang="en-US" altLang="zh-TW" sz="1800" b="0" i="0" u="none" strike="noStrike">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a:effectLst/>
                            </a:rPr>
                            <a:t>1.4038 </a:t>
                          </a:r>
                          <a:endParaRPr lang="en-US" altLang="zh-TW" sz="1800" b="0" i="0" u="none" strike="noStrike">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a:effectLst/>
                            </a:rPr>
                            <a:t>-0.5584 </a:t>
                          </a:r>
                          <a:endParaRPr lang="en-US" altLang="zh-TW" sz="1800" b="0" i="0" u="none" strike="noStrike">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dirty="0">
                              <a:effectLst/>
                            </a:rPr>
                            <a:t>-0.4741 </a:t>
                          </a:r>
                          <a:endParaRPr lang="en-US" altLang="zh-TW" sz="18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dirty="0">
                              <a:effectLst/>
                            </a:rPr>
                            <a:t>-0.1635 </a:t>
                          </a:r>
                          <a:endParaRPr lang="en-US" altLang="zh-TW" sz="18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r>
                  <a:tr h="283731">
                    <a:tc>
                      <a:txBody>
                        <a:bodyPr/>
                        <a:lstStyle/>
                        <a:p>
                          <a:pPr algn="ctr" fontAlgn="ctr"/>
                          <a:r>
                            <a:rPr lang="en-US" sz="1800" u="none" strike="noStrike" dirty="0">
                              <a:effectLst/>
                            </a:rPr>
                            <a:t>d24</a:t>
                          </a:r>
                          <a:endParaRPr lang="en-US" sz="18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a:effectLst/>
                            </a:rPr>
                            <a:t>0.0435 </a:t>
                          </a:r>
                          <a:endParaRPr lang="en-US" altLang="zh-TW" sz="1800" b="0" i="0" u="none" strike="noStrike">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a:effectLst/>
                            </a:rPr>
                            <a:t>-0.5210 </a:t>
                          </a:r>
                          <a:endParaRPr lang="en-US" altLang="zh-TW" sz="1800" b="0" i="0" u="none" strike="noStrike">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a:effectLst/>
                            </a:rPr>
                            <a:t>0.5477 </a:t>
                          </a:r>
                          <a:endParaRPr lang="en-US" altLang="zh-TW" sz="1800" b="0" i="0" u="none" strike="noStrike">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a:effectLst/>
                            </a:rPr>
                            <a:t>-0.7854 </a:t>
                          </a:r>
                          <a:endParaRPr lang="en-US" altLang="zh-TW" sz="1800" b="0" i="0" u="none" strike="noStrike">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a:effectLst/>
                            </a:rPr>
                            <a:t>0.4744 </a:t>
                          </a:r>
                          <a:endParaRPr lang="en-US" altLang="zh-TW" sz="1800" b="0" i="0" u="none" strike="noStrike">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a:effectLst/>
                            </a:rPr>
                            <a:t>0.4473 </a:t>
                          </a:r>
                          <a:endParaRPr lang="en-US" altLang="zh-TW" sz="1800" b="0" i="0" u="none" strike="noStrike">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a:effectLst/>
                            </a:rPr>
                            <a:t>-0.6016 </a:t>
                          </a:r>
                          <a:endParaRPr lang="en-US" altLang="zh-TW" sz="1800" b="0" i="0" u="none" strike="noStrike">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a:effectLst/>
                            </a:rPr>
                            <a:t>0.0087 </a:t>
                          </a:r>
                          <a:endParaRPr lang="en-US" altLang="zh-TW" sz="1800" b="0" i="0" u="none" strike="noStrike">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a:effectLst/>
                            </a:rPr>
                            <a:t>-0.0103 </a:t>
                          </a:r>
                          <a:endParaRPr lang="en-US" altLang="zh-TW" sz="1800" b="0" i="0" u="none" strike="noStrike">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dirty="0">
                              <a:effectLst/>
                            </a:rPr>
                            <a:t>-0.0441 </a:t>
                          </a:r>
                          <a:endParaRPr lang="en-US" altLang="zh-TW" sz="18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r>
                  <a:tr h="283731">
                    <a:tc>
                      <a:txBody>
                        <a:bodyPr/>
                        <a:lstStyle/>
                        <a:p>
                          <a:pPr algn="ctr" fontAlgn="ctr"/>
                          <a:r>
                            <a:rPr lang="en-US" sz="1800" u="none" strike="noStrike" dirty="0">
                              <a:effectLst/>
                            </a:rPr>
                            <a:t>d34</a:t>
                          </a:r>
                          <a:endParaRPr lang="en-US" sz="18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a:effectLst/>
                            </a:rPr>
                            <a:t>-0.1817 </a:t>
                          </a:r>
                          <a:endParaRPr lang="en-US" altLang="zh-TW" sz="1800" b="0" i="0" u="none" strike="noStrike">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a:effectLst/>
                            </a:rPr>
                            <a:t>0.6417 </a:t>
                          </a:r>
                          <a:endParaRPr lang="en-US" altLang="zh-TW" sz="1800" b="0" i="0" u="none" strike="noStrike">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a:effectLst/>
                            </a:rPr>
                            <a:t>1.5644 </a:t>
                          </a:r>
                          <a:endParaRPr lang="en-US" altLang="zh-TW" sz="1800" b="0" i="0" u="none" strike="noStrike">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a:effectLst/>
                            </a:rPr>
                            <a:t>-1.3026 </a:t>
                          </a:r>
                          <a:endParaRPr lang="en-US" altLang="zh-TW" sz="1800" b="0" i="0" u="none" strike="noStrike">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a:effectLst/>
                            </a:rPr>
                            <a:t>0.4393 </a:t>
                          </a:r>
                          <a:endParaRPr lang="en-US" altLang="zh-TW" sz="1800" b="0" i="0" u="none" strike="noStrike">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a:effectLst/>
                            </a:rPr>
                            <a:t>0.8886 </a:t>
                          </a:r>
                          <a:endParaRPr lang="en-US" altLang="zh-TW" sz="1800" b="0" i="0" u="none" strike="noStrike">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a:effectLst/>
                            </a:rPr>
                            <a:t>-2.0054 </a:t>
                          </a:r>
                          <a:endParaRPr lang="en-US" altLang="zh-TW" sz="1800" b="0" i="0" u="none" strike="noStrike">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a:effectLst/>
                            </a:rPr>
                            <a:t>0.5671 </a:t>
                          </a:r>
                          <a:endParaRPr lang="en-US" altLang="zh-TW" sz="1800" b="0" i="0" u="none" strike="noStrike">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a:effectLst/>
                            </a:rPr>
                            <a:t>0.4638 </a:t>
                          </a:r>
                          <a:endParaRPr lang="en-US" altLang="zh-TW" sz="1800" b="0" i="0" u="none" strike="noStrike">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dirty="0">
                              <a:effectLst/>
                            </a:rPr>
                            <a:t>0.1195 </a:t>
                          </a:r>
                          <a:endParaRPr lang="en-US" altLang="zh-TW" sz="18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r>
                </a:tbl>
              </a:graphicData>
            </a:graphic>
          </p:graphicFrame>
        </mc:Fallback>
      </mc:AlternateContent>
      <p:sp>
        <p:nvSpPr>
          <p:cNvPr id="6" name="文字方塊 5"/>
          <p:cNvSpPr txBox="1"/>
          <p:nvPr/>
        </p:nvSpPr>
        <p:spPr>
          <a:xfrm>
            <a:off x="425003" y="257577"/>
            <a:ext cx="3618963" cy="461665"/>
          </a:xfrm>
          <a:prstGeom prst="rect">
            <a:avLst/>
          </a:prstGeom>
          <a:noFill/>
        </p:spPr>
        <p:txBody>
          <a:bodyPr wrap="square" rtlCol="0">
            <a:spAutoFit/>
          </a:bodyPr>
          <a:lstStyle/>
          <a:p>
            <a:r>
              <a:rPr lang="en-US" altLang="zh-TW" sz="2400" dirty="0" smtClean="0">
                <a:solidFill>
                  <a:srgbClr val="FF0000"/>
                </a:solidFill>
              </a:rPr>
              <a:t>Difference matrix:</a:t>
            </a:r>
            <a:endParaRPr lang="zh-TW" altLang="en-US" sz="2400" dirty="0">
              <a:solidFill>
                <a:srgbClr val="FF0000"/>
              </a:solidFill>
            </a:endParaRPr>
          </a:p>
        </p:txBody>
      </p:sp>
      <mc:AlternateContent xmlns:mc="http://schemas.openxmlformats.org/markup-compatibility/2006" xmlns:a14="http://schemas.microsoft.com/office/drawing/2010/main">
        <mc:Choice Requires="a14">
          <p:sp>
            <p:nvSpPr>
              <p:cNvPr id="7" name="文字方塊 6"/>
              <p:cNvSpPr txBox="1"/>
              <p:nvPr/>
            </p:nvSpPr>
            <p:spPr>
              <a:xfrm>
                <a:off x="425003" y="3322749"/>
                <a:ext cx="11500834" cy="988797"/>
              </a:xfrm>
              <a:prstGeom prst="rect">
                <a:avLst/>
              </a:prstGeom>
              <a:noFill/>
            </p:spPr>
            <p:txBody>
              <a:bodyPr wrap="square" rtlCol="0">
                <a:spAutoFit/>
              </a:bodyPr>
              <a:lstStyle/>
              <a:p>
                <a:r>
                  <a:rPr lang="en-US" altLang="zh-TW" sz="2800" dirty="0" smtClean="0"/>
                  <a:t>Null hypothesis:</a:t>
                </a:r>
              </a:p>
              <a:p>
                <a:pPr algn="ctr"/>
                <a14:m>
                  <m:oMath xmlns:m="http://schemas.openxmlformats.org/officeDocument/2006/math">
                    <m:sSub>
                      <m:sSubPr>
                        <m:ctrlPr>
                          <a:rPr lang="en-US" altLang="zh-TW" sz="2800" b="0" i="1" smtClean="0">
                            <a:latin typeface="Cambria Math"/>
                          </a:rPr>
                        </m:ctrlPr>
                      </m:sSubPr>
                      <m:e>
                        <m:r>
                          <a:rPr lang="en-US" altLang="zh-TW" sz="2800" b="0" i="1" smtClean="0">
                            <a:latin typeface="Cambria Math" panose="02040503050406030204" pitchFamily="18" charset="0"/>
                          </a:rPr>
                          <m:t>𝐻</m:t>
                        </m:r>
                      </m:e>
                      <m:sub>
                        <m:r>
                          <a:rPr lang="en-US" altLang="zh-TW" sz="2800" b="0" i="1" smtClean="0">
                            <a:latin typeface="Cambria Math" panose="02040503050406030204" pitchFamily="18" charset="0"/>
                          </a:rPr>
                          <m:t>0,</m:t>
                        </m:r>
                        <m:r>
                          <a:rPr lang="en-US" altLang="zh-TW" sz="2800" b="0" i="1" smtClean="0">
                            <a:latin typeface="Cambria Math" panose="02040503050406030204" pitchFamily="18" charset="0"/>
                          </a:rPr>
                          <m:t>𝑀</m:t>
                        </m:r>
                      </m:sub>
                    </m:sSub>
                    <m:r>
                      <a:rPr lang="en-US" altLang="zh-TW" sz="2800" b="0" i="1" smtClean="0">
                        <a:latin typeface="Cambria Math" panose="02040503050406030204" pitchFamily="18" charset="0"/>
                      </a:rPr>
                      <m:t>:</m:t>
                    </m:r>
                    <m:sSub>
                      <m:sSubPr>
                        <m:ctrlPr>
                          <a:rPr lang="en-US" altLang="zh-TW" sz="2800" b="0" i="1" smtClean="0">
                            <a:latin typeface="Cambria Math"/>
                          </a:rPr>
                        </m:ctrlPr>
                      </m:sSubPr>
                      <m:e>
                        <m:r>
                          <a:rPr lang="en-US" altLang="zh-TW" sz="2800" b="0" i="1" smtClean="0">
                            <a:latin typeface="Cambria Math" panose="02040503050406030204" pitchFamily="18" charset="0"/>
                          </a:rPr>
                          <m:t>𝑢</m:t>
                        </m:r>
                      </m:e>
                      <m:sub>
                        <m:r>
                          <a:rPr lang="en-US" altLang="zh-TW" sz="2800" b="0" i="1" smtClean="0">
                            <a:latin typeface="Cambria Math" panose="02040503050406030204" pitchFamily="18" charset="0"/>
                          </a:rPr>
                          <m:t>𝑖𝑗</m:t>
                        </m:r>
                      </m:sub>
                    </m:sSub>
                    <m:r>
                      <a:rPr lang="en-US" altLang="zh-TW" sz="2800" b="0" i="1" smtClean="0">
                        <a:latin typeface="Cambria Math" panose="02040503050406030204" pitchFamily="18" charset="0"/>
                      </a:rPr>
                      <m:t>=0, ∀</m:t>
                    </m:r>
                    <m:r>
                      <a:rPr lang="en-US" altLang="zh-TW" sz="2800" b="0" i="1" smtClean="0">
                        <a:latin typeface="Cambria Math" panose="02040503050406030204" pitchFamily="18" charset="0"/>
                      </a:rPr>
                      <m:t>𝑖</m:t>
                    </m:r>
                    <m:r>
                      <a:rPr lang="en-US" altLang="zh-TW" sz="2800" b="0" i="1" smtClean="0">
                        <a:latin typeface="Cambria Math" panose="02040503050406030204" pitchFamily="18" charset="0"/>
                      </a:rPr>
                      <m:t>,</m:t>
                    </m:r>
                    <m:r>
                      <a:rPr lang="en-US" altLang="zh-TW" sz="2800" b="0" i="1" smtClean="0">
                        <a:latin typeface="Cambria Math" panose="02040503050406030204" pitchFamily="18" charset="0"/>
                      </a:rPr>
                      <m:t>𝑗</m:t>
                    </m:r>
                    <m:r>
                      <a:rPr lang="en-US" altLang="zh-TW" sz="2800" b="0" i="1" smtClean="0">
                        <a:latin typeface="Cambria Math" panose="02040503050406030204" pitchFamily="18" charset="0"/>
                      </a:rPr>
                      <m:t>∈</m:t>
                    </m:r>
                    <m:r>
                      <a:rPr lang="en-US" altLang="zh-TW" sz="2800" b="0" i="1" smtClean="0">
                        <a:latin typeface="Cambria Math" panose="02040503050406030204" pitchFamily="18" charset="0"/>
                      </a:rPr>
                      <m:t>𝑀</m:t>
                    </m:r>
                  </m:oMath>
                </a14:m>
                <a:r>
                  <a:rPr lang="zh-TW" altLang="en-US" sz="2800" dirty="0" smtClean="0"/>
                  <a:t> </a:t>
                </a:r>
                <a:r>
                  <a:rPr lang="en-US" altLang="zh-TW" sz="2800" dirty="0" smtClean="0"/>
                  <a:t>(</a:t>
                </a:r>
                <a:r>
                  <a:rPr lang="zh-TW" altLang="en-US" sz="2800" dirty="0" smtClean="0"/>
                  <a:t>所有</a:t>
                </a:r>
                <a:r>
                  <a:rPr lang="en-US" altLang="zh-TW" sz="2800" dirty="0" smtClean="0"/>
                  <a:t>model</a:t>
                </a:r>
                <a:r>
                  <a:rPr lang="zh-TW" altLang="en-US" sz="2800" dirty="0" smtClean="0"/>
                  <a:t>表現一樣好</a:t>
                </a:r>
                <a:r>
                  <a:rPr lang="en-US" altLang="zh-TW" sz="2800" dirty="0" smtClean="0"/>
                  <a:t>),Where </a:t>
                </a:r>
                <a14:m>
                  <m:oMath xmlns:m="http://schemas.openxmlformats.org/officeDocument/2006/math">
                    <m:r>
                      <a:rPr lang="en-US" altLang="zh-TW" sz="2800" b="0" i="1" smtClean="0">
                        <a:latin typeface="Cambria Math" panose="02040503050406030204" pitchFamily="18" charset="0"/>
                      </a:rPr>
                      <m:t>𝑀</m:t>
                    </m:r>
                    <m:r>
                      <a:rPr lang="en-US" altLang="zh-TW" sz="2800" b="0" i="1" smtClean="0">
                        <a:latin typeface="Cambria Math" panose="02040503050406030204" pitchFamily="18" charset="0"/>
                      </a:rPr>
                      <m:t>⊂</m:t>
                    </m:r>
                    <m:sSup>
                      <m:sSupPr>
                        <m:ctrlPr>
                          <a:rPr lang="en-US" altLang="zh-TW" sz="2800" b="0" i="1" smtClean="0">
                            <a:latin typeface="Cambria Math"/>
                          </a:rPr>
                        </m:ctrlPr>
                      </m:sSupPr>
                      <m:e>
                        <m:r>
                          <a:rPr lang="en-US" altLang="zh-TW" sz="2800" b="0" i="1" smtClean="0">
                            <a:latin typeface="Cambria Math" panose="02040503050406030204" pitchFamily="18" charset="0"/>
                          </a:rPr>
                          <m:t>𝑀</m:t>
                        </m:r>
                      </m:e>
                      <m:sup>
                        <m:r>
                          <a:rPr lang="en-US" altLang="zh-TW" sz="2800" b="0" i="1" smtClean="0">
                            <a:latin typeface="Cambria Math" panose="02040503050406030204" pitchFamily="18" charset="0"/>
                          </a:rPr>
                          <m:t>0</m:t>
                        </m:r>
                      </m:sup>
                    </m:sSup>
                  </m:oMath>
                </a14:m>
                <a:endParaRPr lang="en-US" altLang="zh-TW" sz="2800" dirty="0" smtClean="0"/>
              </a:p>
            </p:txBody>
          </p:sp>
        </mc:Choice>
        <mc:Fallback xmlns="">
          <p:sp>
            <p:nvSpPr>
              <p:cNvPr id="7" name="文字方塊 6"/>
              <p:cNvSpPr txBox="1">
                <a:spLocks noRot="1" noChangeAspect="1" noMove="1" noResize="1" noEditPoints="1" noAdjustHandles="1" noChangeArrowheads="1" noChangeShapeType="1" noTextEdit="1"/>
              </p:cNvSpPr>
              <p:nvPr/>
            </p:nvSpPr>
            <p:spPr>
              <a:xfrm>
                <a:off x="425003" y="3322749"/>
                <a:ext cx="11500834" cy="988797"/>
              </a:xfrm>
              <a:prstGeom prst="rect">
                <a:avLst/>
              </a:prstGeom>
              <a:blipFill rotWithShape="0">
                <a:blip r:embed="rId3"/>
                <a:stretch>
                  <a:fillRect l="-1113" t="-5556" b="-14198"/>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2240172479"/>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內容版面配置區 3"/>
              <p:cNvSpPr>
                <a:spLocks noGrp="1"/>
              </p:cNvSpPr>
              <p:nvPr>
                <p:ph idx="1"/>
              </p:nvPr>
            </p:nvSpPr>
            <p:spPr>
              <a:xfrm>
                <a:off x="323046" y="808194"/>
                <a:ext cx="11030754" cy="2888043"/>
              </a:xfrm>
            </p:spPr>
            <p:txBody>
              <a:bodyPr/>
              <a:lstStyle/>
              <a:p>
                <a14:m>
                  <m:oMath xmlns:m="http://schemas.openxmlformats.org/officeDocument/2006/math">
                    <m:sSup>
                      <m:sSupPr>
                        <m:ctrlPr>
                          <a:rPr lang="en-US" altLang="zh-TW" b="0" i="1" smtClean="0">
                            <a:latin typeface="Cambria Math"/>
                          </a:rPr>
                        </m:ctrlPr>
                      </m:sSupPr>
                      <m:e>
                        <m:r>
                          <a:rPr lang="en-US" altLang="zh-TW" b="0" i="1" smtClean="0">
                            <a:latin typeface="Cambria Math" panose="02040503050406030204" pitchFamily="18" charset="0"/>
                          </a:rPr>
                          <m:t>𝑀</m:t>
                        </m:r>
                      </m:e>
                      <m:sup>
                        <m:r>
                          <a:rPr lang="en-US" altLang="zh-TW" b="0" i="1" smtClean="0">
                            <a:latin typeface="Cambria Math" panose="02040503050406030204" pitchFamily="18" charset="0"/>
                          </a:rPr>
                          <m:t>0</m:t>
                        </m:r>
                      </m:sup>
                    </m:sSup>
                    <m:r>
                      <a:rPr lang="en-US" altLang="zh-TW" b="0" i="1" smtClean="0">
                        <a:latin typeface="Cambria Math" panose="02040503050406030204" pitchFamily="18" charset="0"/>
                      </a:rPr>
                      <m:t>=</m:t>
                    </m:r>
                    <m:d>
                      <m:dPr>
                        <m:begChr m:val="{"/>
                        <m:endChr m:val="}"/>
                        <m:ctrlPr>
                          <a:rPr lang="en-US" altLang="zh-TW" b="0" i="1" smtClean="0">
                            <a:latin typeface="Cambria Math"/>
                          </a:rPr>
                        </m:ctrlPr>
                      </m:dPr>
                      <m:e>
                        <m:r>
                          <a:rPr lang="en-US" altLang="zh-TW" b="0" i="1" smtClean="0">
                            <a:latin typeface="Cambria Math" panose="02040503050406030204" pitchFamily="18" charset="0"/>
                          </a:rPr>
                          <m:t>1,2,⋯,</m:t>
                        </m:r>
                        <m:r>
                          <a:rPr lang="en-US" altLang="zh-TW" b="0" i="1" smtClean="0">
                            <a:latin typeface="Cambria Math" panose="02040503050406030204" pitchFamily="18" charset="0"/>
                          </a:rPr>
                          <m:t>𝑚</m:t>
                        </m:r>
                        <m:r>
                          <a:rPr lang="en-US" altLang="zh-TW" b="0" i="1" smtClean="0">
                            <a:latin typeface="Cambria Math" panose="02040503050406030204" pitchFamily="18" charset="0"/>
                          </a:rPr>
                          <m:t> </m:t>
                        </m:r>
                      </m:e>
                    </m:d>
                  </m:oMath>
                </a14:m>
                <a:endParaRPr lang="en-US" altLang="zh-TW" dirty="0" smtClean="0"/>
              </a:p>
              <a:p>
                <a:r>
                  <a:rPr lang="en-US" altLang="zh-TW" dirty="0" smtClean="0"/>
                  <a:t>Loss vector at time t: </a:t>
                </a:r>
                <a14:m>
                  <m:oMath xmlns:m="http://schemas.openxmlformats.org/officeDocument/2006/math">
                    <m:sSub>
                      <m:sSubPr>
                        <m:ctrlPr>
                          <a:rPr lang="en-US" altLang="zh-TW" b="0" i="1" smtClean="0">
                            <a:latin typeface="Cambria Math"/>
                          </a:rPr>
                        </m:ctrlPr>
                      </m:sSubPr>
                      <m:e>
                        <m:r>
                          <a:rPr lang="en-US" altLang="zh-TW" b="0" i="1" smtClean="0">
                            <a:latin typeface="Cambria Math" panose="02040503050406030204" pitchFamily="18" charset="0"/>
                          </a:rPr>
                          <m:t>𝐿</m:t>
                        </m:r>
                      </m:e>
                      <m:sub>
                        <m:r>
                          <a:rPr lang="en-US" altLang="zh-TW" b="0" i="1" smtClean="0">
                            <a:latin typeface="Cambria Math" panose="02040503050406030204" pitchFamily="18" charset="0"/>
                          </a:rPr>
                          <m:t>𝑡</m:t>
                        </m:r>
                      </m:sub>
                    </m:sSub>
                    <m:r>
                      <a:rPr lang="en-US" altLang="zh-TW" b="0" i="0" smtClean="0">
                        <a:latin typeface="Cambria Math" panose="02040503050406030204" pitchFamily="18" charset="0"/>
                      </a:rPr>
                      <m:t>=</m:t>
                    </m:r>
                    <m:sSup>
                      <m:sSupPr>
                        <m:ctrlPr>
                          <a:rPr lang="en-US" altLang="zh-TW" b="0" i="1" smtClean="0">
                            <a:latin typeface="Cambria Math"/>
                          </a:rPr>
                        </m:ctrlPr>
                      </m:sSupPr>
                      <m:e>
                        <m:d>
                          <m:dPr>
                            <m:ctrlPr>
                              <a:rPr lang="en-US" altLang="zh-TW" b="0" i="1" smtClean="0">
                                <a:latin typeface="Cambria Math"/>
                              </a:rPr>
                            </m:ctrlPr>
                          </m:dPr>
                          <m:e>
                            <m:sSub>
                              <m:sSubPr>
                                <m:ctrlPr>
                                  <a:rPr lang="en-US" altLang="zh-TW" b="0" i="1" smtClean="0">
                                    <a:latin typeface="Cambria Math"/>
                                  </a:rPr>
                                </m:ctrlPr>
                              </m:sSubPr>
                              <m:e>
                                <m:r>
                                  <a:rPr lang="en-US" altLang="zh-TW" b="0" i="1" smtClean="0">
                                    <a:latin typeface="Cambria Math" panose="02040503050406030204" pitchFamily="18" charset="0"/>
                                  </a:rPr>
                                  <m:t>𝐿</m:t>
                                </m:r>
                              </m:e>
                              <m:sub>
                                <m:r>
                                  <a:rPr lang="en-US" altLang="zh-TW" b="0" i="1" smtClean="0">
                                    <a:latin typeface="Cambria Math" panose="02040503050406030204" pitchFamily="18" charset="0"/>
                                  </a:rPr>
                                  <m:t>1,</m:t>
                                </m:r>
                                <m:r>
                                  <a:rPr lang="en-US" altLang="zh-TW" b="0" i="1" smtClean="0">
                                    <a:latin typeface="Cambria Math" panose="02040503050406030204" pitchFamily="18" charset="0"/>
                                  </a:rPr>
                                  <m:t>𝑡</m:t>
                                </m:r>
                              </m:sub>
                            </m:sSub>
                            <m:r>
                              <a:rPr lang="en-US" altLang="zh-TW" b="0" i="1" smtClean="0">
                                <a:latin typeface="Cambria Math" panose="02040503050406030204" pitchFamily="18" charset="0"/>
                              </a:rPr>
                              <m:t>,</m:t>
                            </m:r>
                            <m:sSub>
                              <m:sSubPr>
                                <m:ctrlPr>
                                  <a:rPr lang="en-US" altLang="zh-TW" i="1">
                                    <a:latin typeface="Cambria Math"/>
                                  </a:rPr>
                                </m:ctrlPr>
                              </m:sSubPr>
                              <m:e>
                                <m:r>
                                  <a:rPr lang="en-US" altLang="zh-TW" i="1">
                                    <a:latin typeface="Cambria Math" panose="02040503050406030204" pitchFamily="18" charset="0"/>
                                  </a:rPr>
                                  <m:t>𝐿</m:t>
                                </m:r>
                              </m:e>
                              <m:sub>
                                <m:r>
                                  <a:rPr lang="en-US" altLang="zh-TW" b="0" i="1" smtClean="0">
                                    <a:latin typeface="Cambria Math" panose="02040503050406030204" pitchFamily="18" charset="0"/>
                                  </a:rPr>
                                  <m:t>2</m:t>
                                </m:r>
                                <m:r>
                                  <a:rPr lang="en-US" altLang="zh-TW" i="1">
                                    <a:latin typeface="Cambria Math" panose="02040503050406030204" pitchFamily="18" charset="0"/>
                                  </a:rPr>
                                  <m:t>,</m:t>
                                </m:r>
                                <m:r>
                                  <a:rPr lang="en-US" altLang="zh-TW" i="1">
                                    <a:latin typeface="Cambria Math" panose="02040503050406030204" pitchFamily="18" charset="0"/>
                                  </a:rPr>
                                  <m:t>𝑡</m:t>
                                </m:r>
                              </m:sub>
                            </m:sSub>
                            <m:r>
                              <a:rPr lang="en-US" altLang="zh-TW" b="0" i="1" smtClean="0">
                                <a:latin typeface="Cambria Math" panose="02040503050406030204" pitchFamily="18" charset="0"/>
                              </a:rPr>
                              <m:t>,⋯,</m:t>
                            </m:r>
                            <m:sSub>
                              <m:sSubPr>
                                <m:ctrlPr>
                                  <a:rPr lang="en-US" altLang="zh-TW" i="1">
                                    <a:latin typeface="Cambria Math"/>
                                  </a:rPr>
                                </m:ctrlPr>
                              </m:sSubPr>
                              <m:e>
                                <m:r>
                                  <a:rPr lang="en-US" altLang="zh-TW" i="1">
                                    <a:latin typeface="Cambria Math" panose="02040503050406030204" pitchFamily="18" charset="0"/>
                                  </a:rPr>
                                  <m:t>𝐿</m:t>
                                </m:r>
                              </m:e>
                              <m:sub>
                                <m:r>
                                  <a:rPr lang="en-US" altLang="zh-TW" b="0" i="1" smtClean="0">
                                    <a:latin typeface="Cambria Math" panose="02040503050406030204" pitchFamily="18" charset="0"/>
                                  </a:rPr>
                                  <m:t>𝑚</m:t>
                                </m:r>
                                <m:r>
                                  <a:rPr lang="en-US" altLang="zh-TW" i="1">
                                    <a:latin typeface="Cambria Math" panose="02040503050406030204" pitchFamily="18" charset="0"/>
                                  </a:rPr>
                                  <m:t>,</m:t>
                                </m:r>
                                <m:r>
                                  <a:rPr lang="en-US" altLang="zh-TW" i="1">
                                    <a:latin typeface="Cambria Math" panose="02040503050406030204" pitchFamily="18" charset="0"/>
                                  </a:rPr>
                                  <m:t>𝑡</m:t>
                                </m:r>
                              </m:sub>
                            </m:sSub>
                          </m:e>
                        </m:d>
                      </m:e>
                      <m:sup>
                        <m:r>
                          <a:rPr lang="en-US" altLang="zh-TW" b="0" i="1" smtClean="0">
                            <a:latin typeface="Cambria Math" panose="02040503050406030204" pitchFamily="18" charset="0"/>
                          </a:rPr>
                          <m:t>𝑇</m:t>
                        </m:r>
                      </m:sup>
                    </m:sSup>
                    <m:r>
                      <a:rPr lang="en-US" altLang="zh-TW" b="0" i="1" smtClean="0">
                        <a:latin typeface="Cambria Math" panose="02040503050406030204" pitchFamily="18" charset="0"/>
                      </a:rPr>
                      <m:t>, </m:t>
                    </m:r>
                    <m:r>
                      <a:rPr lang="en-US" altLang="zh-TW" b="0" i="1" smtClean="0">
                        <a:latin typeface="Cambria Math" panose="02040503050406030204" pitchFamily="18" charset="0"/>
                      </a:rPr>
                      <m:t>𝑡</m:t>
                    </m:r>
                    <m:r>
                      <a:rPr lang="en-US" altLang="zh-TW" b="0" i="1" smtClean="0">
                        <a:latin typeface="Cambria Math" panose="02040503050406030204" pitchFamily="18" charset="0"/>
                      </a:rPr>
                      <m:t>=1,2,⋯,</m:t>
                    </m:r>
                    <m:r>
                      <a:rPr lang="en-US" altLang="zh-TW" b="0" i="1" smtClean="0">
                        <a:latin typeface="Cambria Math" panose="02040503050406030204" pitchFamily="18" charset="0"/>
                      </a:rPr>
                      <m:t>𝑛</m:t>
                    </m:r>
                  </m:oMath>
                </a14:m>
                <a:endParaRPr lang="en-US" altLang="zh-TW" b="0" dirty="0" smtClean="0"/>
              </a:p>
              <a:p>
                <a14:m>
                  <m:oMath xmlns:m="http://schemas.openxmlformats.org/officeDocument/2006/math">
                    <m:acc>
                      <m:accPr>
                        <m:chr m:val="̅"/>
                        <m:ctrlPr>
                          <a:rPr lang="en-US" altLang="zh-TW" b="0" i="1" smtClean="0">
                            <a:latin typeface="Cambria Math"/>
                          </a:rPr>
                        </m:ctrlPr>
                      </m:accPr>
                      <m:e>
                        <m:r>
                          <a:rPr lang="en-US" altLang="zh-TW" b="0" i="1" smtClean="0">
                            <a:latin typeface="Cambria Math" panose="02040503050406030204" pitchFamily="18" charset="0"/>
                          </a:rPr>
                          <m:t>𝐿</m:t>
                        </m:r>
                      </m:e>
                    </m:acc>
                    <m:r>
                      <a:rPr lang="en-US" altLang="zh-TW" b="0" i="1" smtClean="0">
                        <a:latin typeface="Cambria Math" panose="02040503050406030204" pitchFamily="18" charset="0"/>
                      </a:rPr>
                      <m:t>=</m:t>
                    </m:r>
                    <m:sSup>
                      <m:sSupPr>
                        <m:ctrlPr>
                          <a:rPr lang="en-US" altLang="zh-TW" b="0" i="1" smtClean="0">
                            <a:latin typeface="Cambria Math"/>
                          </a:rPr>
                        </m:ctrlPr>
                      </m:sSupPr>
                      <m:e>
                        <m:r>
                          <a:rPr lang="en-US" altLang="zh-TW" b="0" i="1" smtClean="0">
                            <a:latin typeface="Cambria Math" panose="02040503050406030204" pitchFamily="18" charset="0"/>
                          </a:rPr>
                          <m:t>𝑛</m:t>
                        </m:r>
                      </m:e>
                      <m:sup>
                        <m:r>
                          <a:rPr lang="en-US" altLang="zh-TW" b="0" i="1" smtClean="0">
                            <a:latin typeface="Cambria Math" panose="02040503050406030204" pitchFamily="18" charset="0"/>
                          </a:rPr>
                          <m:t>−1</m:t>
                        </m:r>
                      </m:sup>
                    </m:sSup>
                    <m:nary>
                      <m:naryPr>
                        <m:chr m:val="∑"/>
                        <m:ctrlPr>
                          <a:rPr lang="en-US" altLang="zh-TW" b="0" i="1" smtClean="0">
                            <a:latin typeface="Cambria Math"/>
                          </a:rPr>
                        </m:ctrlPr>
                      </m:naryPr>
                      <m:sub>
                        <m:r>
                          <a:rPr lang="en-US" altLang="zh-TW" b="0" i="1" smtClean="0">
                            <a:latin typeface="Cambria Math" panose="02040503050406030204" pitchFamily="18" charset="0"/>
                          </a:rPr>
                          <m:t>𝑡</m:t>
                        </m:r>
                        <m:r>
                          <a:rPr lang="en-US" altLang="zh-TW" b="0" i="1" smtClean="0">
                            <a:latin typeface="Cambria Math" panose="02040503050406030204" pitchFamily="18" charset="0"/>
                          </a:rPr>
                          <m:t>=1</m:t>
                        </m:r>
                      </m:sub>
                      <m:sup>
                        <m:r>
                          <a:rPr lang="en-US" altLang="zh-TW" b="0" i="1" smtClean="0">
                            <a:latin typeface="Cambria Math" panose="02040503050406030204" pitchFamily="18" charset="0"/>
                          </a:rPr>
                          <m:t>𝑛</m:t>
                        </m:r>
                      </m:sup>
                      <m:e>
                        <m:sSub>
                          <m:sSubPr>
                            <m:ctrlPr>
                              <a:rPr lang="en-US" altLang="zh-TW" b="0" i="1" smtClean="0">
                                <a:latin typeface="Cambria Math"/>
                              </a:rPr>
                            </m:ctrlPr>
                          </m:sSubPr>
                          <m:e>
                            <m:r>
                              <a:rPr lang="en-US" altLang="zh-TW" b="0" i="1" smtClean="0">
                                <a:latin typeface="Cambria Math" panose="02040503050406030204" pitchFamily="18" charset="0"/>
                              </a:rPr>
                              <m:t>𝐿</m:t>
                            </m:r>
                          </m:e>
                          <m:sub>
                            <m:r>
                              <a:rPr lang="en-US" altLang="zh-TW" b="0" i="1" smtClean="0">
                                <a:latin typeface="Cambria Math" panose="02040503050406030204" pitchFamily="18" charset="0"/>
                              </a:rPr>
                              <m:t>𝑡</m:t>
                            </m:r>
                          </m:sub>
                        </m:sSub>
                      </m:e>
                    </m:nary>
                  </m:oMath>
                </a14:m>
                <a:endParaRPr lang="en-US" altLang="zh-TW" dirty="0" smtClean="0"/>
              </a:p>
              <a:p>
                <a14:m>
                  <m:oMath xmlns:m="http://schemas.openxmlformats.org/officeDocument/2006/math">
                    <m:r>
                      <a:rPr lang="en-US" altLang="zh-TW" b="0" i="1" smtClean="0">
                        <a:latin typeface="Cambria Math" panose="02040503050406030204" pitchFamily="18" charset="0"/>
                      </a:rPr>
                      <m:t>𝑙</m:t>
                    </m:r>
                    <m:r>
                      <a:rPr lang="en-US" altLang="zh-TW" b="0" i="1" smtClean="0">
                        <a:latin typeface="Cambria Math" panose="02040503050406030204" pitchFamily="18" charset="0"/>
                      </a:rPr>
                      <m:t>=</m:t>
                    </m:r>
                    <m:sSup>
                      <m:sSupPr>
                        <m:ctrlPr>
                          <a:rPr lang="en-US" altLang="zh-TW" b="0" i="1" smtClean="0">
                            <a:latin typeface="Cambria Math"/>
                          </a:rPr>
                        </m:ctrlPr>
                      </m:sSupPr>
                      <m:e>
                        <m:d>
                          <m:dPr>
                            <m:ctrlPr>
                              <a:rPr lang="en-US" altLang="zh-TW" b="0" i="1" smtClean="0">
                                <a:latin typeface="Cambria Math"/>
                              </a:rPr>
                            </m:ctrlPr>
                          </m:dPr>
                          <m:e>
                            <m:r>
                              <a:rPr lang="en-US" altLang="zh-TW" b="0" i="1" smtClean="0">
                                <a:latin typeface="Cambria Math" panose="02040503050406030204" pitchFamily="18" charset="0"/>
                              </a:rPr>
                              <m:t>1,⋯,1</m:t>
                            </m:r>
                          </m:e>
                        </m:d>
                      </m:e>
                      <m:sup>
                        <m:r>
                          <a:rPr lang="en-US" altLang="zh-TW" b="0" i="1" smtClean="0">
                            <a:latin typeface="Cambria Math" panose="02040503050406030204" pitchFamily="18" charset="0"/>
                          </a:rPr>
                          <m:t>𝑇</m:t>
                        </m:r>
                      </m:sup>
                    </m:sSup>
                    <m:r>
                      <a:rPr lang="en-US" altLang="zh-TW" b="0" i="1" smtClean="0">
                        <a:latin typeface="Cambria Math" panose="02040503050406030204" pitchFamily="18" charset="0"/>
                      </a:rPr>
                      <m:t>∈</m:t>
                    </m:r>
                    <m:sSup>
                      <m:sSupPr>
                        <m:ctrlPr>
                          <a:rPr lang="en-US" altLang="zh-TW" b="0" i="1" smtClean="0">
                            <a:latin typeface="Cambria Math"/>
                          </a:rPr>
                        </m:ctrlPr>
                      </m:sSupPr>
                      <m:e>
                        <m:r>
                          <a:rPr lang="en-US" altLang="zh-TW" b="0" i="1" smtClean="0">
                            <a:latin typeface="Cambria Math" panose="02040503050406030204" pitchFamily="18" charset="0"/>
                          </a:rPr>
                          <m:t>ℝ</m:t>
                        </m:r>
                      </m:e>
                      <m:sup>
                        <m:r>
                          <a:rPr lang="en-US" altLang="zh-TW" b="0" i="1" smtClean="0">
                            <a:latin typeface="Cambria Math" panose="02040503050406030204" pitchFamily="18" charset="0"/>
                          </a:rPr>
                          <m:t>𝑚</m:t>
                        </m:r>
                        <m:r>
                          <a:rPr lang="en-US" altLang="zh-TW" b="0" i="1" smtClean="0">
                            <a:latin typeface="Cambria Math" panose="02040503050406030204" pitchFamily="18" charset="0"/>
                          </a:rPr>
                          <m:t>∗1</m:t>
                        </m:r>
                      </m:sup>
                    </m:sSup>
                    <m:r>
                      <a:rPr lang="en-US" altLang="zh-TW" b="0" i="1" smtClean="0">
                        <a:latin typeface="Cambria Math" panose="02040503050406030204" pitchFamily="18" charset="0"/>
                      </a:rPr>
                      <m:t>, </m:t>
                    </m:r>
                    <m:sSub>
                      <m:sSubPr>
                        <m:ctrlPr>
                          <a:rPr lang="en-US" altLang="zh-TW" b="0" i="1" smtClean="0">
                            <a:latin typeface="Cambria Math"/>
                          </a:rPr>
                        </m:ctrlPr>
                      </m:sSubPr>
                      <m:e>
                        <m:r>
                          <a:rPr lang="en-US" altLang="zh-TW" b="0" i="1" smtClean="0">
                            <a:latin typeface="Cambria Math" panose="02040503050406030204" pitchFamily="18" charset="0"/>
                          </a:rPr>
                          <m:t>𝑙</m:t>
                        </m:r>
                      </m:e>
                      <m:sub>
                        <m:r>
                          <a:rPr lang="en-US" altLang="zh-TW" b="0" i="1" smtClean="0">
                            <a:latin typeface="Cambria Math" panose="02040503050406030204" pitchFamily="18" charset="0"/>
                            <a:ea typeface="Cambria Math" panose="02040503050406030204" pitchFamily="18" charset="0"/>
                          </a:rPr>
                          <m:t>⊥</m:t>
                        </m:r>
                      </m:sub>
                    </m:sSub>
                    <m:r>
                      <a:rPr lang="en-US" altLang="zh-TW" b="0" i="1" smtClean="0">
                        <a:latin typeface="Cambria Math" panose="02040503050406030204" pitchFamily="18" charset="0"/>
                      </a:rPr>
                      <m:t>∈</m:t>
                    </m:r>
                    <m:sSup>
                      <m:sSupPr>
                        <m:ctrlPr>
                          <a:rPr lang="en-US" altLang="zh-TW" b="0" i="1" smtClean="0">
                            <a:latin typeface="Cambria Math"/>
                          </a:rPr>
                        </m:ctrlPr>
                      </m:sSupPr>
                      <m:e>
                        <m:r>
                          <a:rPr lang="en-US" altLang="zh-TW" b="0" i="1" smtClean="0">
                            <a:latin typeface="Cambria Math" panose="02040503050406030204" pitchFamily="18" charset="0"/>
                          </a:rPr>
                          <m:t>ℝ</m:t>
                        </m:r>
                      </m:e>
                      <m:sup>
                        <m:r>
                          <a:rPr lang="en-US" altLang="zh-TW" b="0" i="1" smtClean="0">
                            <a:latin typeface="Cambria Math" panose="02040503050406030204" pitchFamily="18" charset="0"/>
                          </a:rPr>
                          <m:t>𝑚</m:t>
                        </m:r>
                        <m:r>
                          <a:rPr lang="en-US" altLang="zh-TW" b="0" i="1" smtClean="0">
                            <a:latin typeface="Cambria Math" panose="02040503050406030204" pitchFamily="18" charset="0"/>
                          </a:rPr>
                          <m:t>∗</m:t>
                        </m:r>
                        <m:d>
                          <m:dPr>
                            <m:ctrlPr>
                              <a:rPr lang="en-US" altLang="zh-TW" b="0" i="1" smtClean="0">
                                <a:latin typeface="Cambria Math"/>
                              </a:rPr>
                            </m:ctrlPr>
                          </m:dPr>
                          <m:e>
                            <m:r>
                              <a:rPr lang="en-US" altLang="zh-TW" b="0" i="1" smtClean="0">
                                <a:latin typeface="Cambria Math" panose="02040503050406030204" pitchFamily="18" charset="0"/>
                              </a:rPr>
                              <m:t>𝑚</m:t>
                            </m:r>
                            <m:r>
                              <a:rPr lang="en-US" altLang="zh-TW" b="0" i="1" smtClean="0">
                                <a:latin typeface="Cambria Math" panose="02040503050406030204" pitchFamily="18" charset="0"/>
                              </a:rPr>
                              <m:t>−1</m:t>
                            </m:r>
                          </m:e>
                        </m:d>
                      </m:sup>
                    </m:sSup>
                    <m:r>
                      <a:rPr lang="en-US" altLang="zh-TW" b="0" i="1" smtClean="0">
                        <a:latin typeface="Cambria Math" panose="02040503050406030204" pitchFamily="18" charset="0"/>
                      </a:rPr>
                      <m:t> </m:t>
                    </m:r>
                    <m:r>
                      <a:rPr lang="en-US" altLang="zh-TW" b="0" i="1" smtClean="0">
                        <a:latin typeface="Cambria Math" panose="02040503050406030204" pitchFamily="18" charset="0"/>
                      </a:rPr>
                      <m:t>𝑜𝑟𝑡h𝑜𝑔𝑜𝑛𝑎𝑙</m:t>
                    </m:r>
                    <m:r>
                      <a:rPr lang="en-US" altLang="zh-TW" b="0" i="1" smtClean="0">
                        <a:latin typeface="Cambria Math" panose="02040503050406030204" pitchFamily="18" charset="0"/>
                      </a:rPr>
                      <m:t> </m:t>
                    </m:r>
                    <m:r>
                      <a:rPr lang="en-US" altLang="zh-TW" b="0" i="1" smtClean="0">
                        <a:latin typeface="Cambria Math" panose="02040503050406030204" pitchFamily="18" charset="0"/>
                      </a:rPr>
                      <m:t>𝑐𝑜𝑚𝑝𝑜𝑛𝑒𝑛𝑡</m:t>
                    </m:r>
                    <m:r>
                      <a:rPr lang="en-US" altLang="zh-TW" b="0" i="1" smtClean="0">
                        <a:latin typeface="Cambria Math" panose="02040503050406030204" pitchFamily="18" charset="0"/>
                      </a:rPr>
                      <m:t> ,</m:t>
                    </m:r>
                  </m:oMath>
                </a14:m>
                <a:r>
                  <a:rPr lang="en-US" altLang="zh-TW" b="0" dirty="0" smtClean="0"/>
                  <a:t/>
                </a:r>
                <a:br>
                  <a:rPr lang="en-US" altLang="zh-TW" b="0" dirty="0" smtClean="0"/>
                </a:br>
                <a14:m>
                  <m:oMath xmlns:m="http://schemas.openxmlformats.org/officeDocument/2006/math">
                    <m:sSup>
                      <m:sSupPr>
                        <m:ctrlPr>
                          <a:rPr lang="en-US" altLang="zh-TW" b="0" i="1" smtClean="0">
                            <a:latin typeface="Cambria Math"/>
                          </a:rPr>
                        </m:ctrlPr>
                      </m:sSupPr>
                      <m:e>
                        <m:d>
                          <m:dPr>
                            <m:ctrlPr>
                              <a:rPr lang="en-US" altLang="zh-TW" b="0" i="1" smtClean="0">
                                <a:latin typeface="Cambria Math"/>
                              </a:rPr>
                            </m:ctrlPr>
                          </m:dPr>
                          <m:e>
                            <m:sSub>
                              <m:sSubPr>
                                <m:ctrlPr>
                                  <a:rPr lang="en-US" altLang="zh-TW" i="1">
                                    <a:latin typeface="Cambria Math"/>
                                  </a:rPr>
                                </m:ctrlPr>
                              </m:sSubPr>
                              <m:e>
                                <m:r>
                                  <a:rPr lang="en-US" altLang="zh-TW" i="1">
                                    <a:latin typeface="Cambria Math" panose="02040503050406030204" pitchFamily="18" charset="0"/>
                                  </a:rPr>
                                  <m:t>𝑙</m:t>
                                </m:r>
                              </m:e>
                              <m:sub>
                                <m:r>
                                  <a:rPr lang="en-US" altLang="zh-TW" i="1">
                                    <a:latin typeface="Cambria Math" panose="02040503050406030204" pitchFamily="18" charset="0"/>
                                    <a:ea typeface="Cambria Math" panose="02040503050406030204" pitchFamily="18" charset="0"/>
                                  </a:rPr>
                                  <m:t>⊥</m:t>
                                </m:r>
                              </m:sub>
                            </m:sSub>
                          </m:e>
                        </m:d>
                      </m:e>
                      <m:sup>
                        <m:r>
                          <a:rPr lang="en-US" altLang="zh-TW" b="0" i="1" smtClean="0">
                            <a:latin typeface="Cambria Math" panose="02040503050406030204" pitchFamily="18" charset="0"/>
                          </a:rPr>
                          <m:t>𝑇</m:t>
                        </m:r>
                      </m:sup>
                    </m:sSup>
                    <m:r>
                      <a:rPr lang="en-US" altLang="zh-TW" b="0" i="1" smtClean="0">
                        <a:latin typeface="Cambria Math" panose="02040503050406030204" pitchFamily="18" charset="0"/>
                      </a:rPr>
                      <m:t>𝑙</m:t>
                    </m:r>
                    <m:r>
                      <a:rPr lang="en-US" altLang="zh-TW" b="0" i="1" smtClean="0">
                        <a:latin typeface="Cambria Math" panose="02040503050406030204" pitchFamily="18" charset="0"/>
                      </a:rPr>
                      <m:t>=0</m:t>
                    </m:r>
                  </m:oMath>
                </a14:m>
                <a:endParaRPr lang="zh-TW" altLang="en-US" dirty="0"/>
              </a:p>
            </p:txBody>
          </p:sp>
        </mc:Choice>
        <mc:Fallback xmlns="">
          <p:sp>
            <p:nvSpPr>
              <p:cNvPr id="4" name="內容版面配置區 3"/>
              <p:cNvSpPr>
                <a:spLocks noGrp="1" noRot="1" noChangeAspect="1" noMove="1" noResize="1" noEditPoints="1" noAdjustHandles="1" noChangeArrowheads="1" noChangeShapeType="1" noTextEdit="1"/>
              </p:cNvSpPr>
              <p:nvPr>
                <p:ph idx="1"/>
              </p:nvPr>
            </p:nvSpPr>
            <p:spPr>
              <a:xfrm>
                <a:off x="323046" y="808194"/>
                <a:ext cx="11030754" cy="2888043"/>
              </a:xfrm>
              <a:blipFill rotWithShape="0">
                <a:blip r:embed="rId2"/>
                <a:stretch>
                  <a:fillRect l="-994"/>
                </a:stretch>
              </a:blipFill>
            </p:spPr>
            <p:txBody>
              <a:bodyPr/>
              <a:lstStyle/>
              <a:p>
                <a:r>
                  <a:rPr lang="zh-TW" altLang="en-US">
                    <a:noFill/>
                  </a:rPr>
                  <a:t> </a:t>
                </a:r>
              </a:p>
            </p:txBody>
          </p:sp>
        </mc:Fallback>
      </mc:AlternateContent>
      <p:sp>
        <p:nvSpPr>
          <p:cNvPr id="2" name="投影片編號版面配置區 1"/>
          <p:cNvSpPr>
            <a:spLocks noGrp="1"/>
          </p:cNvSpPr>
          <p:nvPr>
            <p:ph type="sldNum" sz="quarter" idx="12"/>
          </p:nvPr>
        </p:nvSpPr>
        <p:spPr/>
        <p:txBody>
          <a:bodyPr/>
          <a:lstStyle/>
          <a:p>
            <a:fld id="{8E7C9034-9CD7-4E81-904A-4E7DCAD21B02}" type="slidenum">
              <a:rPr lang="zh-TW" altLang="en-US" smtClean="0"/>
              <a:t>15</a:t>
            </a:fld>
            <a:endParaRPr lang="zh-TW" altLang="en-US"/>
          </a:p>
        </p:txBody>
      </p:sp>
      <p:pic>
        <p:nvPicPr>
          <p:cNvPr id="6" name="圖片 5"/>
          <p:cNvPicPr>
            <a:picLocks noChangeAspect="1"/>
          </p:cNvPicPr>
          <p:nvPr/>
        </p:nvPicPr>
        <p:blipFill>
          <a:blip r:embed="rId3"/>
          <a:stretch>
            <a:fillRect/>
          </a:stretch>
        </p:blipFill>
        <p:spPr>
          <a:xfrm>
            <a:off x="103031" y="4334906"/>
            <a:ext cx="11895675" cy="1551822"/>
          </a:xfrm>
          <a:prstGeom prst="rect">
            <a:avLst/>
          </a:prstGeom>
        </p:spPr>
      </p:pic>
    </p:spTree>
    <p:extLst>
      <p:ext uri="{BB962C8B-B14F-4D97-AF65-F5344CB8AC3E}">
        <p14:creationId xmlns:p14="http://schemas.microsoft.com/office/powerpoint/2010/main" val="614452306"/>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p:cNvSpPr>
            <a:spLocks noGrp="1"/>
          </p:cNvSpPr>
          <p:nvPr>
            <p:ph type="sldNum" sz="quarter" idx="12"/>
          </p:nvPr>
        </p:nvSpPr>
        <p:spPr/>
        <p:txBody>
          <a:bodyPr/>
          <a:lstStyle/>
          <a:p>
            <a:fld id="{8E7C9034-9CD7-4E81-904A-4E7DCAD21B02}" type="slidenum">
              <a:rPr lang="zh-TW" altLang="en-US" smtClean="0"/>
              <a:t>16</a:t>
            </a:fld>
            <a:endParaRPr lang="zh-TW" altLang="en-US"/>
          </a:p>
        </p:txBody>
      </p:sp>
      <p:pic>
        <p:nvPicPr>
          <p:cNvPr id="5" name="圖片 4"/>
          <p:cNvPicPr>
            <a:picLocks noChangeAspect="1"/>
          </p:cNvPicPr>
          <p:nvPr/>
        </p:nvPicPr>
        <p:blipFill>
          <a:blip r:embed="rId2"/>
          <a:stretch>
            <a:fillRect/>
          </a:stretch>
        </p:blipFill>
        <p:spPr>
          <a:xfrm>
            <a:off x="192109" y="500729"/>
            <a:ext cx="10703418" cy="1447113"/>
          </a:xfrm>
          <a:prstGeom prst="rect">
            <a:avLst/>
          </a:prstGeom>
        </p:spPr>
      </p:pic>
      <mc:AlternateContent xmlns:mc="http://schemas.openxmlformats.org/markup-compatibility/2006" xmlns:a14="http://schemas.microsoft.com/office/drawing/2010/main">
        <mc:Choice Requires="a14">
          <p:sp>
            <p:nvSpPr>
              <p:cNvPr id="6" name="文字方塊 5"/>
              <p:cNvSpPr txBox="1"/>
              <p:nvPr/>
            </p:nvSpPr>
            <p:spPr>
              <a:xfrm>
                <a:off x="192109" y="4971355"/>
                <a:ext cx="11682212" cy="1384995"/>
              </a:xfrm>
              <a:prstGeom prst="rect">
                <a:avLst/>
              </a:prstGeom>
              <a:noFill/>
            </p:spPr>
            <p:txBody>
              <a:bodyPr wrap="square" rtlCol="0">
                <a:spAutoFit/>
              </a:bodyPr>
              <a:lstStyle/>
              <a:p>
                <a:pPr marL="457200" indent="-457200">
                  <a:buFont typeface="Arial" panose="020B0604020202020204" pitchFamily="34" charset="0"/>
                  <a:buChar char="•"/>
                </a:pPr>
                <a:r>
                  <a:rPr lang="en-US" altLang="zh-TW" sz="2800" dirty="0" smtClean="0"/>
                  <a:t>Difference matrix</a:t>
                </a:r>
                <a:r>
                  <a:rPr lang="zh-TW" altLang="en-US" sz="2800" dirty="0" smtClean="0"/>
                  <a:t>在</a:t>
                </a:r>
                <a:r>
                  <a:rPr lang="en-US" altLang="zh-TW" sz="2800" dirty="0" smtClean="0"/>
                  <a:t>null hypothesis</a:t>
                </a:r>
                <a:r>
                  <a:rPr lang="zh-TW" altLang="en-US" sz="2800" dirty="0" smtClean="0"/>
                  <a:t>下，當</a:t>
                </a:r>
                <a:r>
                  <a:rPr lang="en-US" altLang="zh-TW" sz="2800" dirty="0" smtClean="0"/>
                  <a:t>n</a:t>
                </a:r>
                <a:r>
                  <a:rPr lang="zh-TW" altLang="en-US" sz="2800" dirty="0" smtClean="0"/>
                  <a:t>趨近無窮大時，會分配收斂至常態分佈</a:t>
                </a:r>
                <a:endParaRPr lang="en-US" altLang="zh-TW" sz="2800" dirty="0"/>
              </a:p>
              <a:p>
                <a:pPr marL="457200" indent="-457200">
                  <a:buFont typeface="Arial" panose="020B0604020202020204" pitchFamily="34" charset="0"/>
                  <a:buChar char="•"/>
                </a:pPr>
                <a:r>
                  <a:rPr lang="en-US" altLang="zh-TW" sz="2800" dirty="0" smtClean="0"/>
                  <a:t>But it is difficult to estimate covariance matrix </a:t>
                </a:r>
                <a14:m>
                  <m:oMath xmlns:m="http://schemas.openxmlformats.org/officeDocument/2006/math">
                    <m:r>
                      <m:rPr>
                        <m:sty m:val="p"/>
                      </m:rPr>
                      <a:rPr lang="en-US" altLang="zh-TW" sz="2800" b="0" i="0" smtClean="0">
                        <a:latin typeface="Cambria Math" panose="02040503050406030204" pitchFamily="18" charset="0"/>
                      </a:rPr>
                      <m:t>Σ</m:t>
                    </m:r>
                    <m:r>
                      <a:rPr lang="en-US" altLang="zh-TW" sz="2800" b="0" i="1" smtClean="0">
                        <a:latin typeface="Cambria Math" panose="02040503050406030204" pitchFamily="18" charset="0"/>
                      </a:rPr>
                      <m:t>∈</m:t>
                    </m:r>
                    <m:sSup>
                      <m:sSupPr>
                        <m:ctrlPr>
                          <a:rPr lang="en-US" altLang="zh-TW" sz="2800" b="0" i="1" smtClean="0">
                            <a:latin typeface="Cambria Math"/>
                          </a:rPr>
                        </m:ctrlPr>
                      </m:sSupPr>
                      <m:e>
                        <m:r>
                          <a:rPr lang="en-US" altLang="zh-TW" sz="2800" b="0" i="1" smtClean="0">
                            <a:latin typeface="Cambria Math" panose="02040503050406030204" pitchFamily="18" charset="0"/>
                          </a:rPr>
                          <m:t>ℝ</m:t>
                        </m:r>
                      </m:e>
                      <m:sup>
                        <m:r>
                          <a:rPr lang="en-US" altLang="zh-TW" sz="2800" b="0" i="1" smtClean="0">
                            <a:latin typeface="Cambria Math" panose="02040503050406030204" pitchFamily="18" charset="0"/>
                          </a:rPr>
                          <m:t>𝑚</m:t>
                        </m:r>
                        <m:r>
                          <a:rPr lang="en-US" altLang="zh-TW" sz="2800" b="0" i="1" smtClean="0">
                            <a:latin typeface="Cambria Math" panose="02040503050406030204" pitchFamily="18" charset="0"/>
                          </a:rPr>
                          <m:t>∗</m:t>
                        </m:r>
                        <m:r>
                          <a:rPr lang="en-US" altLang="zh-TW" sz="2800" b="0" i="1" smtClean="0">
                            <a:latin typeface="Cambria Math" panose="02040503050406030204" pitchFamily="18" charset="0"/>
                          </a:rPr>
                          <m:t>𝑚</m:t>
                        </m:r>
                      </m:sup>
                    </m:sSup>
                  </m:oMath>
                </a14:m>
                <a:endParaRPr lang="zh-TW" altLang="en-US" sz="2800" dirty="0"/>
              </a:p>
            </p:txBody>
          </p:sp>
        </mc:Choice>
        <mc:Fallback xmlns="">
          <p:sp>
            <p:nvSpPr>
              <p:cNvPr id="6" name="文字方塊 5"/>
              <p:cNvSpPr txBox="1">
                <a:spLocks noRot="1" noChangeAspect="1" noMove="1" noResize="1" noEditPoints="1" noAdjustHandles="1" noChangeArrowheads="1" noChangeShapeType="1" noTextEdit="1"/>
              </p:cNvSpPr>
              <p:nvPr/>
            </p:nvSpPr>
            <p:spPr>
              <a:xfrm>
                <a:off x="192109" y="4971355"/>
                <a:ext cx="11682212" cy="1384995"/>
              </a:xfrm>
              <a:prstGeom prst="rect">
                <a:avLst/>
              </a:prstGeom>
              <a:blipFill rotWithShape="0">
                <a:blip r:embed="rId3"/>
                <a:stretch>
                  <a:fillRect l="-939" t="-5286" b="-11894"/>
                </a:stretch>
              </a:blipFill>
            </p:spPr>
            <p:txBody>
              <a:bodyPr/>
              <a:lstStyle/>
              <a:p>
                <a:r>
                  <a:rPr lang="zh-TW" altLang="en-US">
                    <a:noFill/>
                  </a:rPr>
                  <a:t> </a:t>
                </a:r>
              </a:p>
            </p:txBody>
          </p:sp>
        </mc:Fallback>
      </mc:AlternateContent>
      <p:pic>
        <p:nvPicPr>
          <p:cNvPr id="2" name="圖片 1"/>
          <p:cNvPicPr>
            <a:picLocks noChangeAspect="1"/>
          </p:cNvPicPr>
          <p:nvPr/>
        </p:nvPicPr>
        <p:blipFill>
          <a:blip r:embed="rId4"/>
          <a:stretch>
            <a:fillRect/>
          </a:stretch>
        </p:blipFill>
        <p:spPr>
          <a:xfrm>
            <a:off x="739588" y="2406190"/>
            <a:ext cx="9821592" cy="2308774"/>
          </a:xfrm>
          <a:prstGeom prst="rect">
            <a:avLst/>
          </a:prstGeom>
        </p:spPr>
      </p:pic>
    </p:spTree>
    <p:extLst>
      <p:ext uri="{BB962C8B-B14F-4D97-AF65-F5344CB8AC3E}">
        <p14:creationId xmlns:p14="http://schemas.microsoft.com/office/powerpoint/2010/main" val="3173608558"/>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標題 2"/>
          <p:cNvSpPr>
            <a:spLocks noGrp="1"/>
          </p:cNvSpPr>
          <p:nvPr>
            <p:ph type="title"/>
          </p:nvPr>
        </p:nvSpPr>
        <p:spPr>
          <a:xfrm>
            <a:off x="735169" y="171942"/>
            <a:ext cx="10515600" cy="1325563"/>
          </a:xfrm>
        </p:spPr>
        <p:txBody>
          <a:bodyPr/>
          <a:lstStyle/>
          <a:p>
            <a:r>
              <a:rPr lang="en-US" altLang="zh-TW" dirty="0" smtClean="0"/>
              <a:t>Construct statistic</a:t>
            </a:r>
            <a:endParaRPr lang="zh-TW" altLang="en-US" dirty="0"/>
          </a:p>
        </p:txBody>
      </p:sp>
      <p:sp>
        <p:nvSpPr>
          <p:cNvPr id="2" name="投影片編號版面配置區 1"/>
          <p:cNvSpPr>
            <a:spLocks noGrp="1"/>
          </p:cNvSpPr>
          <p:nvPr>
            <p:ph type="sldNum" sz="quarter" idx="12"/>
          </p:nvPr>
        </p:nvSpPr>
        <p:spPr/>
        <p:txBody>
          <a:bodyPr/>
          <a:lstStyle/>
          <a:p>
            <a:fld id="{8E7C9034-9CD7-4E81-904A-4E7DCAD21B02}" type="slidenum">
              <a:rPr lang="zh-TW" altLang="en-US" smtClean="0"/>
              <a:t>17</a:t>
            </a:fld>
            <a:endParaRPr lang="zh-TW" altLang="en-US"/>
          </a:p>
        </p:txBody>
      </p:sp>
      <mc:AlternateContent xmlns:mc="http://schemas.openxmlformats.org/markup-compatibility/2006" xmlns:a14="http://schemas.microsoft.com/office/drawing/2010/main">
        <mc:Choice Requires="a14">
          <p:graphicFrame>
            <p:nvGraphicFramePr>
              <p:cNvPr id="4" name="表格 3"/>
              <p:cNvGraphicFramePr>
                <a:graphicFrameLocks noGrp="1"/>
              </p:cNvGraphicFramePr>
              <p:nvPr>
                <p:extLst>
                  <p:ext uri="{D42A27DB-BD31-4B8C-83A1-F6EECF244321}">
                    <p14:modId xmlns:p14="http://schemas.microsoft.com/office/powerpoint/2010/main" val="1151851113"/>
                  </p:ext>
                </p:extLst>
              </p:nvPr>
            </p:nvGraphicFramePr>
            <p:xfrm>
              <a:off x="124494" y="1236909"/>
              <a:ext cx="11951595" cy="1986244"/>
            </p:xfrm>
            <a:graphic>
              <a:graphicData uri="http://schemas.openxmlformats.org/drawingml/2006/table">
                <a:tbl>
                  <a:tblPr>
                    <a:tableStyleId>{5C22544A-7EE6-4342-B048-85BDC9FD1C3A}</a:tableStyleId>
                  </a:tblPr>
                  <a:tblGrid>
                    <a:gridCol w="1242975"/>
                    <a:gridCol w="1070862"/>
                    <a:gridCol w="1070862"/>
                    <a:gridCol w="1070862"/>
                    <a:gridCol w="1070862"/>
                    <a:gridCol w="1070862"/>
                    <a:gridCol w="1070862"/>
                    <a:gridCol w="1070862"/>
                    <a:gridCol w="1070862"/>
                    <a:gridCol w="1070862"/>
                    <a:gridCol w="1070862"/>
                  </a:tblGrid>
                  <a:tr h="207049">
                    <a:tc>
                      <a:txBody>
                        <a:bodyPr/>
                        <a:lstStyle/>
                        <a:p>
                          <a:pPr algn="l" fontAlgn="ctr"/>
                          <a14:m>
                            <m:oMathPara xmlns:m="http://schemas.openxmlformats.org/officeDocument/2006/math">
                              <m:oMathParaPr>
                                <m:jc m:val="centerGroup"/>
                              </m:oMathParaPr>
                              <m:oMath xmlns:m="http://schemas.openxmlformats.org/officeDocument/2006/math">
                                <m:sSub>
                                  <m:sSubPr>
                                    <m:ctrlPr>
                                      <a:rPr lang="en-US" altLang="zh-TW" sz="1200" b="0" i="1" smtClean="0">
                                        <a:latin typeface="Cambria Math"/>
                                      </a:rPr>
                                    </m:ctrlPr>
                                  </m:sSubPr>
                                  <m:e>
                                    <m:r>
                                      <a:rPr lang="en-US" altLang="zh-TW" sz="1200" b="0" i="1" smtClean="0">
                                        <a:latin typeface="Cambria Math" panose="02040503050406030204" pitchFamily="18" charset="0"/>
                                      </a:rPr>
                                      <m:t>𝑑</m:t>
                                    </m:r>
                                  </m:e>
                                  <m:sub>
                                    <m:r>
                                      <a:rPr lang="en-US" altLang="zh-TW" sz="1200" b="0" i="1" smtClean="0">
                                        <a:latin typeface="Cambria Math" panose="02040503050406030204" pitchFamily="18" charset="0"/>
                                      </a:rPr>
                                      <m:t>𝑖𝑗</m:t>
                                    </m:r>
                                    <m:r>
                                      <a:rPr lang="en-US" altLang="zh-TW" sz="1200" b="0" i="1" smtClean="0">
                                        <a:latin typeface="Cambria Math" panose="02040503050406030204" pitchFamily="18" charset="0"/>
                                      </a:rPr>
                                      <m:t>,</m:t>
                                    </m:r>
                                    <m:r>
                                      <a:rPr lang="en-US" altLang="zh-TW" sz="1200" b="0" i="1" smtClean="0">
                                        <a:latin typeface="Cambria Math" panose="02040503050406030204" pitchFamily="18" charset="0"/>
                                      </a:rPr>
                                      <m:t>𝑡</m:t>
                                    </m:r>
                                  </m:sub>
                                </m:sSub>
                                <m:r>
                                  <a:rPr lang="en-US" altLang="zh-TW" sz="1200" b="0" i="1" smtClean="0">
                                    <a:latin typeface="Cambria Math" panose="02040503050406030204" pitchFamily="18" charset="0"/>
                                  </a:rPr>
                                  <m:t>=</m:t>
                                </m:r>
                                <m:sSub>
                                  <m:sSubPr>
                                    <m:ctrlPr>
                                      <a:rPr lang="en-US" altLang="zh-TW" sz="1200" b="0" i="1" smtClean="0">
                                        <a:latin typeface="Cambria Math"/>
                                      </a:rPr>
                                    </m:ctrlPr>
                                  </m:sSubPr>
                                  <m:e>
                                    <m:r>
                                      <a:rPr lang="en-US" altLang="zh-TW" sz="1200" b="0" i="1" smtClean="0">
                                        <a:latin typeface="Cambria Math" panose="02040503050406030204" pitchFamily="18" charset="0"/>
                                      </a:rPr>
                                      <m:t>𝐿</m:t>
                                    </m:r>
                                  </m:e>
                                  <m:sub>
                                    <m:r>
                                      <a:rPr lang="en-US" altLang="zh-TW" sz="1200" b="0" i="1" smtClean="0">
                                        <a:latin typeface="Cambria Math" panose="02040503050406030204" pitchFamily="18" charset="0"/>
                                      </a:rPr>
                                      <m:t>𝑖</m:t>
                                    </m:r>
                                    <m:r>
                                      <a:rPr lang="en-US" altLang="zh-TW" sz="1200" b="0" i="1" smtClean="0">
                                        <a:latin typeface="Cambria Math" panose="02040503050406030204" pitchFamily="18" charset="0"/>
                                      </a:rPr>
                                      <m:t>,</m:t>
                                    </m:r>
                                    <m:r>
                                      <a:rPr lang="en-US" altLang="zh-TW" sz="1200" b="0" i="1" smtClean="0">
                                        <a:latin typeface="Cambria Math" panose="02040503050406030204" pitchFamily="18" charset="0"/>
                                      </a:rPr>
                                      <m:t>𝑡</m:t>
                                    </m:r>
                                  </m:sub>
                                </m:sSub>
                                <m:r>
                                  <a:rPr lang="en-US" altLang="zh-TW" sz="1200" b="0" i="1" smtClean="0">
                                    <a:latin typeface="Cambria Math" panose="02040503050406030204" pitchFamily="18" charset="0"/>
                                  </a:rPr>
                                  <m:t>−</m:t>
                                </m:r>
                                <m:sSub>
                                  <m:sSubPr>
                                    <m:ctrlPr>
                                      <a:rPr lang="en-US" altLang="zh-TW" sz="1200" b="0" i="1" smtClean="0">
                                        <a:latin typeface="Cambria Math"/>
                                      </a:rPr>
                                    </m:ctrlPr>
                                  </m:sSubPr>
                                  <m:e>
                                    <m:r>
                                      <a:rPr lang="en-US" altLang="zh-TW" sz="1200" b="0" i="1" smtClean="0">
                                        <a:latin typeface="Cambria Math" panose="02040503050406030204" pitchFamily="18" charset="0"/>
                                      </a:rPr>
                                      <m:t>𝐿</m:t>
                                    </m:r>
                                  </m:e>
                                  <m:sub>
                                    <m:r>
                                      <a:rPr lang="en-US" altLang="zh-TW" sz="1200" b="0" i="1" smtClean="0">
                                        <a:latin typeface="Cambria Math" panose="02040503050406030204" pitchFamily="18" charset="0"/>
                                      </a:rPr>
                                      <m:t>𝑗</m:t>
                                    </m:r>
                                    <m:r>
                                      <a:rPr lang="en-US" altLang="zh-TW" sz="1200" b="0" i="1" smtClean="0">
                                        <a:latin typeface="Cambria Math" panose="02040503050406030204" pitchFamily="18" charset="0"/>
                                      </a:rPr>
                                      <m:t>,</m:t>
                                    </m:r>
                                    <m:r>
                                      <a:rPr lang="en-US" altLang="zh-TW" sz="1200" b="0" i="1" smtClean="0">
                                        <a:latin typeface="Cambria Math" panose="02040503050406030204" pitchFamily="18" charset="0"/>
                                      </a:rPr>
                                      <m:t>𝑡</m:t>
                                    </m:r>
                                  </m:sub>
                                </m:sSub>
                              </m:oMath>
                            </m:oMathPara>
                          </a14:m>
                          <a:endParaRPr lang="zh-TW" altLang="en-US" sz="12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ctr" fontAlgn="ctr"/>
                          <a:r>
                            <a:rPr lang="en-US" altLang="zh-TW" sz="1600" u="none" strike="noStrike" dirty="0">
                              <a:effectLst/>
                            </a:rPr>
                            <a:t>2012/11/20</a:t>
                          </a:r>
                          <a:endParaRPr lang="en-US" altLang="zh-TW" sz="16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ctr" fontAlgn="ctr"/>
                          <a:r>
                            <a:rPr lang="en-US" altLang="zh-TW" sz="1600" u="none" strike="noStrike" dirty="0">
                              <a:effectLst/>
                            </a:rPr>
                            <a:t>2012/11/21</a:t>
                          </a:r>
                          <a:endParaRPr lang="en-US" altLang="zh-TW" sz="16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ctr" fontAlgn="ctr"/>
                          <a:r>
                            <a:rPr lang="en-US" altLang="zh-TW" sz="1600" u="none" strike="noStrike" dirty="0">
                              <a:effectLst/>
                            </a:rPr>
                            <a:t>2012/11/22</a:t>
                          </a:r>
                          <a:endParaRPr lang="en-US" altLang="zh-TW" sz="16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ctr" fontAlgn="ctr"/>
                          <a:r>
                            <a:rPr lang="en-US" altLang="zh-TW" sz="1600" u="none" strike="noStrike" dirty="0">
                              <a:effectLst/>
                            </a:rPr>
                            <a:t>2012/11/23</a:t>
                          </a:r>
                          <a:endParaRPr lang="en-US" altLang="zh-TW" sz="16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ctr" fontAlgn="ctr"/>
                          <a:r>
                            <a:rPr lang="en-US" altLang="zh-TW" sz="1600" u="none" strike="noStrike" dirty="0">
                              <a:effectLst/>
                            </a:rPr>
                            <a:t>2012/11/26</a:t>
                          </a:r>
                          <a:endParaRPr lang="en-US" altLang="zh-TW" sz="16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ctr" fontAlgn="ctr"/>
                          <a:r>
                            <a:rPr lang="en-US" altLang="zh-TW" sz="1600" u="none" strike="noStrike" dirty="0">
                              <a:effectLst/>
                            </a:rPr>
                            <a:t>2012/11/27</a:t>
                          </a:r>
                          <a:endParaRPr lang="en-US" altLang="zh-TW" sz="16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ctr" fontAlgn="ctr"/>
                          <a:r>
                            <a:rPr lang="en-US" altLang="zh-TW" sz="1600" u="none" strike="noStrike" dirty="0">
                              <a:effectLst/>
                            </a:rPr>
                            <a:t>2012/11/28</a:t>
                          </a:r>
                          <a:endParaRPr lang="en-US" altLang="zh-TW" sz="16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ctr" fontAlgn="ctr"/>
                          <a:r>
                            <a:rPr lang="en-US" altLang="zh-TW" sz="1600" u="none" strike="noStrike" dirty="0">
                              <a:effectLst/>
                            </a:rPr>
                            <a:t>2012/11/29</a:t>
                          </a:r>
                          <a:endParaRPr lang="en-US" altLang="zh-TW" sz="16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ctr" fontAlgn="ctr"/>
                          <a:r>
                            <a:rPr lang="en-US" altLang="zh-TW" sz="1600" u="none" strike="noStrike" dirty="0">
                              <a:effectLst/>
                            </a:rPr>
                            <a:t>2012/11/30</a:t>
                          </a:r>
                          <a:endParaRPr lang="en-US" altLang="zh-TW" sz="16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ctr" fontAlgn="ctr"/>
                          <a14:m>
                            <m:oMath xmlns:m="http://schemas.openxmlformats.org/officeDocument/2006/math">
                              <m:sSub>
                                <m:sSubPr>
                                  <m:ctrlPr>
                                    <a:rPr lang="en-US" sz="1600" b="0" i="1" u="none" strike="noStrike" smtClean="0">
                                      <a:solidFill>
                                        <a:srgbClr val="FF0000"/>
                                      </a:solidFill>
                                      <a:effectLst/>
                                      <a:latin typeface="Cambria Math"/>
                                      <a:ea typeface="新細明體" panose="02020500000000000000" pitchFamily="18" charset="-120"/>
                                    </a:rPr>
                                  </m:ctrlPr>
                                </m:sSubPr>
                                <m:e>
                                  <m:r>
                                    <a:rPr lang="en-US" sz="1600" b="0" i="1" u="none" strike="noStrike" smtClean="0">
                                      <a:solidFill>
                                        <a:srgbClr val="FF0000"/>
                                      </a:solidFill>
                                      <a:effectLst/>
                                      <a:latin typeface="Cambria Math" panose="02040503050406030204" pitchFamily="18" charset="0"/>
                                      <a:ea typeface="新細明體" panose="02020500000000000000" pitchFamily="18" charset="-120"/>
                                    </a:rPr>
                                    <m:t>𝑢</m:t>
                                  </m:r>
                                </m:e>
                                <m:sub>
                                  <m:r>
                                    <a:rPr lang="en-US" sz="1600" b="0" i="1" u="none" strike="noStrike" smtClean="0">
                                      <a:solidFill>
                                        <a:srgbClr val="FF0000"/>
                                      </a:solidFill>
                                      <a:effectLst/>
                                      <a:latin typeface="Cambria Math" panose="02040503050406030204" pitchFamily="18" charset="0"/>
                                      <a:ea typeface="新細明體" panose="02020500000000000000" pitchFamily="18" charset="-120"/>
                                    </a:rPr>
                                    <m:t>𝑖𝑗</m:t>
                                  </m:r>
                                </m:sub>
                              </m:sSub>
                            </m:oMath>
                          </a14:m>
                          <a:r>
                            <a:rPr lang="en-US" sz="1600" b="0" i="0" u="none" strike="noStrike" dirty="0" smtClean="0">
                              <a:solidFill>
                                <a:srgbClr val="FF0000"/>
                              </a:solidFill>
                              <a:effectLst/>
                              <a:latin typeface="新細明體" panose="02020500000000000000" pitchFamily="18" charset="-120"/>
                              <a:ea typeface="新細明體" panose="02020500000000000000" pitchFamily="18" charset="-120"/>
                            </a:rPr>
                            <a:t> (</a:t>
                          </a:r>
                          <a14:m>
                            <m:oMath xmlns:m="http://schemas.openxmlformats.org/officeDocument/2006/math">
                              <m:sSub>
                                <m:sSubPr>
                                  <m:ctrlPr>
                                    <a:rPr lang="en-US" sz="1600" b="0" i="1" u="none" strike="noStrike" smtClean="0">
                                      <a:solidFill>
                                        <a:srgbClr val="FF0000"/>
                                      </a:solidFill>
                                      <a:effectLst/>
                                      <a:latin typeface="Cambria Math"/>
                                      <a:ea typeface="新細明體" panose="02020500000000000000" pitchFamily="18" charset="-120"/>
                                    </a:rPr>
                                  </m:ctrlPr>
                                </m:sSubPr>
                                <m:e>
                                  <m:acc>
                                    <m:accPr>
                                      <m:chr m:val="̅"/>
                                      <m:ctrlPr>
                                        <a:rPr lang="en-US" sz="1600" b="0" i="1" u="none" strike="noStrike" dirty="0" smtClean="0">
                                          <a:solidFill>
                                            <a:srgbClr val="FF0000"/>
                                          </a:solidFill>
                                          <a:effectLst/>
                                          <a:latin typeface="Cambria Math"/>
                                          <a:ea typeface="新細明體" panose="02020500000000000000" pitchFamily="18" charset="-120"/>
                                        </a:rPr>
                                      </m:ctrlPr>
                                    </m:accPr>
                                    <m:e>
                                      <m:r>
                                        <a:rPr lang="en-US" sz="1600" b="0" i="1" u="none" strike="noStrike" dirty="0" smtClean="0">
                                          <a:solidFill>
                                            <a:srgbClr val="FF0000"/>
                                          </a:solidFill>
                                          <a:effectLst/>
                                          <a:latin typeface="Cambria Math" panose="02040503050406030204" pitchFamily="18" charset="0"/>
                                          <a:ea typeface="新細明體" panose="02020500000000000000" pitchFamily="18" charset="-120"/>
                                        </a:rPr>
                                        <m:t>𝑑</m:t>
                                      </m:r>
                                    </m:e>
                                  </m:acc>
                                </m:e>
                                <m:sub>
                                  <m:r>
                                    <a:rPr lang="en-US" sz="1600" b="0" i="1" u="none" strike="noStrike" smtClean="0">
                                      <a:solidFill>
                                        <a:srgbClr val="FF0000"/>
                                      </a:solidFill>
                                      <a:effectLst/>
                                      <a:latin typeface="Cambria Math" panose="02040503050406030204" pitchFamily="18" charset="0"/>
                                      <a:ea typeface="新細明體" panose="02020500000000000000" pitchFamily="18" charset="-120"/>
                                    </a:rPr>
                                    <m:t>𝑖𝑗</m:t>
                                  </m:r>
                                </m:sub>
                              </m:sSub>
                            </m:oMath>
                          </a14:m>
                          <a:r>
                            <a:rPr lang="en-US" sz="1600" b="0" i="0" u="none" strike="noStrike" dirty="0" smtClean="0">
                              <a:solidFill>
                                <a:srgbClr val="FF0000"/>
                              </a:solidFill>
                              <a:effectLst/>
                              <a:latin typeface="新細明體" panose="02020500000000000000" pitchFamily="18" charset="-120"/>
                              <a:ea typeface="新細明體" panose="02020500000000000000" pitchFamily="18" charset="-120"/>
                            </a:rPr>
                            <a:t>)</a:t>
                          </a:r>
                          <a:endParaRPr lang="en-US" sz="1600" b="0" i="0" u="none" strike="noStrike" dirty="0">
                            <a:solidFill>
                              <a:srgbClr val="FF0000"/>
                            </a:solidFill>
                            <a:effectLst/>
                            <a:latin typeface="新細明體" panose="02020500000000000000" pitchFamily="18" charset="-120"/>
                            <a:ea typeface="新細明體" panose="02020500000000000000" pitchFamily="18" charset="-120"/>
                          </a:endParaRPr>
                        </a:p>
                      </a:txBody>
                      <a:tcPr marL="9411" marR="9411" marT="9411" marB="0" anchor="ctr"/>
                    </a:tc>
                  </a:tr>
                  <a:tr h="207049">
                    <a:tc>
                      <a:txBody>
                        <a:bodyPr/>
                        <a:lstStyle/>
                        <a:p>
                          <a:pPr algn="ctr" fontAlgn="ctr"/>
                          <a:r>
                            <a:rPr lang="en-US" sz="1800" u="none" strike="noStrike" dirty="0">
                              <a:effectLst/>
                            </a:rPr>
                            <a:t>d12</a:t>
                          </a:r>
                          <a:endParaRPr lang="en-US" sz="18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dirty="0">
                              <a:effectLst/>
                            </a:rPr>
                            <a:t>-0.3936 </a:t>
                          </a:r>
                          <a:endParaRPr lang="en-US" altLang="zh-TW" sz="18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dirty="0">
                              <a:effectLst/>
                            </a:rPr>
                            <a:t>2.1963 </a:t>
                          </a:r>
                          <a:endParaRPr lang="en-US" altLang="zh-TW" sz="18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dirty="0">
                              <a:effectLst/>
                            </a:rPr>
                            <a:t>0.7731 </a:t>
                          </a:r>
                          <a:endParaRPr lang="en-US" altLang="zh-TW" sz="18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dirty="0">
                              <a:effectLst/>
                            </a:rPr>
                            <a:t>-2.3142 </a:t>
                          </a:r>
                          <a:endParaRPr lang="en-US" altLang="zh-TW" sz="18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dirty="0">
                              <a:effectLst/>
                            </a:rPr>
                            <a:t>-1.3487 </a:t>
                          </a:r>
                          <a:endParaRPr lang="en-US" altLang="zh-TW" sz="18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dirty="0">
                              <a:effectLst/>
                            </a:rPr>
                            <a:t>-0.3895 </a:t>
                          </a:r>
                          <a:endParaRPr lang="en-US" altLang="zh-TW" sz="18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dirty="0">
                              <a:effectLst/>
                            </a:rPr>
                            <a:t>-0.6819 </a:t>
                          </a:r>
                          <a:endParaRPr lang="en-US" altLang="zh-TW" sz="18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a:effectLst/>
                            </a:rPr>
                            <a:t>0.0625 </a:t>
                          </a:r>
                          <a:endParaRPr lang="en-US" altLang="zh-TW" sz="1800" b="0" i="0" u="none" strike="noStrike">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a:effectLst/>
                            </a:rPr>
                            <a:t>-0.5307 </a:t>
                          </a:r>
                          <a:endParaRPr lang="en-US" altLang="zh-TW" sz="1800" b="0" i="0" u="none" strike="noStrike">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a:solidFill>
                                <a:srgbClr val="FF0000"/>
                              </a:solidFill>
                              <a:effectLst/>
                            </a:rPr>
                            <a:t>-0.2919 </a:t>
                          </a:r>
                          <a:endParaRPr lang="en-US" altLang="zh-TW" sz="1800" b="0" i="0" u="none" strike="noStrike">
                            <a:solidFill>
                              <a:srgbClr val="FF0000"/>
                            </a:solidFill>
                            <a:effectLst/>
                            <a:latin typeface="新細明體" panose="02020500000000000000" pitchFamily="18" charset="-120"/>
                            <a:ea typeface="新細明體" panose="02020500000000000000" pitchFamily="18" charset="-120"/>
                          </a:endParaRPr>
                        </a:p>
                      </a:txBody>
                      <a:tcPr marL="9411" marR="9411" marT="9411" marB="0" anchor="ctr"/>
                    </a:tc>
                  </a:tr>
                  <a:tr h="207049">
                    <a:tc>
                      <a:txBody>
                        <a:bodyPr/>
                        <a:lstStyle/>
                        <a:p>
                          <a:pPr algn="ctr" fontAlgn="ctr"/>
                          <a:r>
                            <a:rPr lang="en-US" sz="1800" u="none" strike="noStrike" dirty="0">
                              <a:effectLst/>
                            </a:rPr>
                            <a:t>d13</a:t>
                          </a:r>
                          <a:endParaRPr lang="en-US" sz="18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a:effectLst/>
                            </a:rPr>
                            <a:t>-0.1684 </a:t>
                          </a:r>
                          <a:endParaRPr lang="en-US" altLang="zh-TW" sz="1800" b="0" i="0" u="none" strike="noStrike">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a:effectLst/>
                            </a:rPr>
                            <a:t>1.0336 </a:t>
                          </a:r>
                          <a:endParaRPr lang="en-US" altLang="zh-TW" sz="1800" b="0" i="0" u="none" strike="noStrike">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dirty="0">
                              <a:effectLst/>
                            </a:rPr>
                            <a:t>-0.2436 </a:t>
                          </a:r>
                          <a:endParaRPr lang="en-US" altLang="zh-TW" sz="18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dirty="0">
                              <a:effectLst/>
                            </a:rPr>
                            <a:t>-1.7970 </a:t>
                          </a:r>
                          <a:endParaRPr lang="en-US" altLang="zh-TW" sz="18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a:effectLst/>
                            </a:rPr>
                            <a:t>-1.3136 </a:t>
                          </a:r>
                          <a:endParaRPr lang="en-US" altLang="zh-TW" sz="1800" b="0" i="0" u="none" strike="noStrike">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a:effectLst/>
                            </a:rPr>
                            <a:t>-0.8309 </a:t>
                          </a:r>
                          <a:endParaRPr lang="en-US" altLang="zh-TW" sz="1800" b="0" i="0" u="none" strike="noStrike">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a:effectLst/>
                            </a:rPr>
                            <a:t>0.7219 </a:t>
                          </a:r>
                          <a:endParaRPr lang="en-US" altLang="zh-TW" sz="1800" b="0" i="0" u="none" strike="noStrike">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a:effectLst/>
                            </a:rPr>
                            <a:t>-0.4959 </a:t>
                          </a:r>
                          <a:endParaRPr lang="en-US" altLang="zh-TW" sz="1800" b="0" i="0" u="none" strike="noStrike">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a:effectLst/>
                            </a:rPr>
                            <a:t>-1.0049 </a:t>
                          </a:r>
                          <a:endParaRPr lang="en-US" altLang="zh-TW" sz="1800" b="0" i="0" u="none" strike="noStrike">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a:solidFill>
                                <a:srgbClr val="FF0000"/>
                              </a:solidFill>
                              <a:effectLst/>
                            </a:rPr>
                            <a:t>-0.4554 </a:t>
                          </a:r>
                          <a:endParaRPr lang="en-US" altLang="zh-TW" sz="1800" b="0" i="0" u="none" strike="noStrike">
                            <a:solidFill>
                              <a:srgbClr val="FF0000"/>
                            </a:solidFill>
                            <a:effectLst/>
                            <a:latin typeface="新細明體" panose="02020500000000000000" pitchFamily="18" charset="-120"/>
                            <a:ea typeface="新細明體" panose="02020500000000000000" pitchFamily="18" charset="-120"/>
                          </a:endParaRPr>
                        </a:p>
                      </a:txBody>
                      <a:tcPr marL="9411" marR="9411" marT="9411" marB="0" anchor="ctr"/>
                    </a:tc>
                  </a:tr>
                  <a:tr h="207049">
                    <a:tc>
                      <a:txBody>
                        <a:bodyPr/>
                        <a:lstStyle/>
                        <a:p>
                          <a:pPr algn="ctr" fontAlgn="ctr"/>
                          <a:r>
                            <a:rPr lang="en-US" sz="1800" u="none" strike="noStrike" dirty="0">
                              <a:effectLst/>
                            </a:rPr>
                            <a:t>d14</a:t>
                          </a:r>
                          <a:endParaRPr lang="en-US" sz="18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dirty="0">
                              <a:effectLst/>
                            </a:rPr>
                            <a:t>-0.3501 </a:t>
                          </a:r>
                          <a:endParaRPr lang="en-US" altLang="zh-TW" sz="18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a:effectLst/>
                            </a:rPr>
                            <a:t>1.6753 </a:t>
                          </a:r>
                          <a:endParaRPr lang="en-US" altLang="zh-TW" sz="1800" b="0" i="0" u="none" strike="noStrike">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a:effectLst/>
                            </a:rPr>
                            <a:t>1.3208 </a:t>
                          </a:r>
                          <a:endParaRPr lang="en-US" altLang="zh-TW" sz="1800" b="0" i="0" u="none" strike="noStrike">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dirty="0">
                              <a:effectLst/>
                            </a:rPr>
                            <a:t>-3.0996 </a:t>
                          </a:r>
                          <a:endParaRPr lang="en-US" altLang="zh-TW" sz="18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dirty="0">
                              <a:effectLst/>
                            </a:rPr>
                            <a:t>-0.8742 </a:t>
                          </a:r>
                          <a:endParaRPr lang="en-US" altLang="zh-TW" sz="18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dirty="0">
                              <a:effectLst/>
                            </a:rPr>
                            <a:t>0.0578 </a:t>
                          </a:r>
                          <a:endParaRPr lang="en-US" altLang="zh-TW" sz="18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dirty="0">
                              <a:effectLst/>
                            </a:rPr>
                            <a:t>-1.2835 </a:t>
                          </a:r>
                          <a:endParaRPr lang="en-US" altLang="zh-TW" sz="18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dirty="0">
                              <a:effectLst/>
                            </a:rPr>
                            <a:t>0.0712 </a:t>
                          </a:r>
                          <a:endParaRPr lang="en-US" altLang="zh-TW" sz="18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dirty="0">
                              <a:effectLst/>
                            </a:rPr>
                            <a:t>-0.5410 </a:t>
                          </a:r>
                          <a:endParaRPr lang="en-US" altLang="zh-TW" sz="18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dirty="0">
                              <a:solidFill>
                                <a:srgbClr val="FF0000"/>
                              </a:solidFill>
                              <a:effectLst/>
                            </a:rPr>
                            <a:t>-0.3359 </a:t>
                          </a:r>
                          <a:endParaRPr lang="en-US" altLang="zh-TW" sz="1800" b="0" i="0" u="none" strike="noStrike" dirty="0">
                            <a:solidFill>
                              <a:srgbClr val="FF0000"/>
                            </a:solidFill>
                            <a:effectLst/>
                            <a:latin typeface="新細明體" panose="02020500000000000000" pitchFamily="18" charset="-120"/>
                            <a:ea typeface="新細明體" panose="02020500000000000000" pitchFamily="18" charset="-120"/>
                          </a:endParaRPr>
                        </a:p>
                      </a:txBody>
                      <a:tcPr marL="9411" marR="9411" marT="9411" marB="0" anchor="ctr"/>
                    </a:tc>
                  </a:tr>
                  <a:tr h="207049">
                    <a:tc>
                      <a:txBody>
                        <a:bodyPr/>
                        <a:lstStyle/>
                        <a:p>
                          <a:pPr algn="ctr" fontAlgn="ctr"/>
                          <a:r>
                            <a:rPr lang="en-US" sz="1800" u="none" strike="noStrike" dirty="0">
                              <a:effectLst/>
                            </a:rPr>
                            <a:t>d23</a:t>
                          </a:r>
                          <a:endParaRPr lang="en-US" sz="18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a:effectLst/>
                            </a:rPr>
                            <a:t>0.2252 </a:t>
                          </a:r>
                          <a:endParaRPr lang="en-US" altLang="zh-TW" sz="1800" b="0" i="0" u="none" strike="noStrike">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a:effectLst/>
                            </a:rPr>
                            <a:t>-1.1627 </a:t>
                          </a:r>
                          <a:endParaRPr lang="en-US" altLang="zh-TW" sz="1800" b="0" i="0" u="none" strike="noStrike">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a:effectLst/>
                            </a:rPr>
                            <a:t>-1.0167 </a:t>
                          </a:r>
                          <a:endParaRPr lang="en-US" altLang="zh-TW" sz="1800" b="0" i="0" u="none" strike="noStrike">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a:effectLst/>
                            </a:rPr>
                            <a:t>0.5172 </a:t>
                          </a:r>
                          <a:endParaRPr lang="en-US" altLang="zh-TW" sz="1800" b="0" i="0" u="none" strike="noStrike">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a:effectLst/>
                            </a:rPr>
                            <a:t>0.0351 </a:t>
                          </a:r>
                          <a:endParaRPr lang="en-US" altLang="zh-TW" sz="1800" b="0" i="0" u="none" strike="noStrike">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a:effectLst/>
                            </a:rPr>
                            <a:t>-0.4413 </a:t>
                          </a:r>
                          <a:endParaRPr lang="en-US" altLang="zh-TW" sz="1800" b="0" i="0" u="none" strike="noStrike">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a:effectLst/>
                            </a:rPr>
                            <a:t>1.4038 </a:t>
                          </a:r>
                          <a:endParaRPr lang="en-US" altLang="zh-TW" sz="1800" b="0" i="0" u="none" strike="noStrike">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a:effectLst/>
                            </a:rPr>
                            <a:t>-0.5584 </a:t>
                          </a:r>
                          <a:endParaRPr lang="en-US" altLang="zh-TW" sz="1800" b="0" i="0" u="none" strike="noStrike">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dirty="0">
                              <a:effectLst/>
                            </a:rPr>
                            <a:t>-0.4741 </a:t>
                          </a:r>
                          <a:endParaRPr lang="en-US" altLang="zh-TW" sz="18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dirty="0">
                              <a:solidFill>
                                <a:srgbClr val="FF0000"/>
                              </a:solidFill>
                              <a:effectLst/>
                            </a:rPr>
                            <a:t>-0.1635 </a:t>
                          </a:r>
                          <a:endParaRPr lang="en-US" altLang="zh-TW" sz="1800" b="0" i="0" u="none" strike="noStrike" dirty="0">
                            <a:solidFill>
                              <a:srgbClr val="FF0000"/>
                            </a:solidFill>
                            <a:effectLst/>
                            <a:latin typeface="新細明體" panose="02020500000000000000" pitchFamily="18" charset="-120"/>
                            <a:ea typeface="新細明體" panose="02020500000000000000" pitchFamily="18" charset="-120"/>
                          </a:endParaRPr>
                        </a:p>
                      </a:txBody>
                      <a:tcPr marL="9411" marR="9411" marT="9411" marB="0" anchor="ctr"/>
                    </a:tc>
                  </a:tr>
                  <a:tr h="207049">
                    <a:tc>
                      <a:txBody>
                        <a:bodyPr/>
                        <a:lstStyle/>
                        <a:p>
                          <a:pPr algn="ctr" fontAlgn="ctr"/>
                          <a:r>
                            <a:rPr lang="en-US" sz="1800" u="none" strike="noStrike" dirty="0">
                              <a:effectLst/>
                            </a:rPr>
                            <a:t>d24</a:t>
                          </a:r>
                          <a:endParaRPr lang="en-US" sz="18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a:effectLst/>
                            </a:rPr>
                            <a:t>0.0435 </a:t>
                          </a:r>
                          <a:endParaRPr lang="en-US" altLang="zh-TW" sz="1800" b="0" i="0" u="none" strike="noStrike">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a:effectLst/>
                            </a:rPr>
                            <a:t>-0.5210 </a:t>
                          </a:r>
                          <a:endParaRPr lang="en-US" altLang="zh-TW" sz="1800" b="0" i="0" u="none" strike="noStrike">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a:effectLst/>
                            </a:rPr>
                            <a:t>0.5477 </a:t>
                          </a:r>
                          <a:endParaRPr lang="en-US" altLang="zh-TW" sz="1800" b="0" i="0" u="none" strike="noStrike">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dirty="0">
                              <a:effectLst/>
                            </a:rPr>
                            <a:t>-0.7854 </a:t>
                          </a:r>
                          <a:endParaRPr lang="en-US" altLang="zh-TW" sz="18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a:effectLst/>
                            </a:rPr>
                            <a:t>0.4744 </a:t>
                          </a:r>
                          <a:endParaRPr lang="en-US" altLang="zh-TW" sz="1800" b="0" i="0" u="none" strike="noStrike">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a:effectLst/>
                            </a:rPr>
                            <a:t>0.4473 </a:t>
                          </a:r>
                          <a:endParaRPr lang="en-US" altLang="zh-TW" sz="1800" b="0" i="0" u="none" strike="noStrike">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a:effectLst/>
                            </a:rPr>
                            <a:t>-0.6016 </a:t>
                          </a:r>
                          <a:endParaRPr lang="en-US" altLang="zh-TW" sz="1800" b="0" i="0" u="none" strike="noStrike">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a:effectLst/>
                            </a:rPr>
                            <a:t>0.0087 </a:t>
                          </a:r>
                          <a:endParaRPr lang="en-US" altLang="zh-TW" sz="1800" b="0" i="0" u="none" strike="noStrike">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a:effectLst/>
                            </a:rPr>
                            <a:t>-0.0103 </a:t>
                          </a:r>
                          <a:endParaRPr lang="en-US" altLang="zh-TW" sz="1800" b="0" i="0" u="none" strike="noStrike">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dirty="0">
                              <a:solidFill>
                                <a:srgbClr val="FF0000"/>
                              </a:solidFill>
                              <a:effectLst/>
                            </a:rPr>
                            <a:t>-0.0441 </a:t>
                          </a:r>
                          <a:endParaRPr lang="en-US" altLang="zh-TW" sz="1800" b="0" i="0" u="none" strike="noStrike" dirty="0">
                            <a:solidFill>
                              <a:srgbClr val="FF0000"/>
                            </a:solidFill>
                            <a:effectLst/>
                            <a:latin typeface="新細明體" panose="02020500000000000000" pitchFamily="18" charset="-120"/>
                            <a:ea typeface="新細明體" panose="02020500000000000000" pitchFamily="18" charset="-120"/>
                          </a:endParaRPr>
                        </a:p>
                      </a:txBody>
                      <a:tcPr marL="9411" marR="9411" marT="9411" marB="0" anchor="ctr"/>
                    </a:tc>
                  </a:tr>
                  <a:tr h="207049">
                    <a:tc>
                      <a:txBody>
                        <a:bodyPr/>
                        <a:lstStyle/>
                        <a:p>
                          <a:pPr algn="ctr" fontAlgn="ctr"/>
                          <a:r>
                            <a:rPr lang="en-US" sz="1800" u="none" strike="noStrike" dirty="0">
                              <a:effectLst/>
                            </a:rPr>
                            <a:t>d34</a:t>
                          </a:r>
                          <a:endParaRPr lang="en-US" sz="18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a:effectLst/>
                            </a:rPr>
                            <a:t>-0.1817 </a:t>
                          </a:r>
                          <a:endParaRPr lang="en-US" altLang="zh-TW" sz="1800" b="0" i="0" u="none" strike="noStrike">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a:effectLst/>
                            </a:rPr>
                            <a:t>0.6417 </a:t>
                          </a:r>
                          <a:endParaRPr lang="en-US" altLang="zh-TW" sz="1800" b="0" i="0" u="none" strike="noStrike">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a:effectLst/>
                            </a:rPr>
                            <a:t>1.5644 </a:t>
                          </a:r>
                          <a:endParaRPr lang="en-US" altLang="zh-TW" sz="1800" b="0" i="0" u="none" strike="noStrike">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dirty="0">
                              <a:effectLst/>
                            </a:rPr>
                            <a:t>-1.3026 </a:t>
                          </a:r>
                          <a:endParaRPr lang="en-US" altLang="zh-TW" sz="18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dirty="0">
                              <a:effectLst/>
                            </a:rPr>
                            <a:t>0.4393 </a:t>
                          </a:r>
                          <a:endParaRPr lang="en-US" altLang="zh-TW" sz="18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dirty="0">
                              <a:effectLst/>
                            </a:rPr>
                            <a:t>0.8886 </a:t>
                          </a:r>
                          <a:endParaRPr lang="en-US" altLang="zh-TW" sz="18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dirty="0">
                              <a:effectLst/>
                            </a:rPr>
                            <a:t>-2.0054 </a:t>
                          </a:r>
                          <a:endParaRPr lang="en-US" altLang="zh-TW" sz="18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dirty="0">
                              <a:effectLst/>
                            </a:rPr>
                            <a:t>0.5671 </a:t>
                          </a:r>
                          <a:endParaRPr lang="en-US" altLang="zh-TW" sz="18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dirty="0">
                              <a:effectLst/>
                            </a:rPr>
                            <a:t>0.4638 </a:t>
                          </a:r>
                          <a:endParaRPr lang="en-US" altLang="zh-TW" sz="18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dirty="0">
                              <a:solidFill>
                                <a:srgbClr val="FF0000"/>
                              </a:solidFill>
                              <a:effectLst/>
                            </a:rPr>
                            <a:t>0.1195 </a:t>
                          </a:r>
                          <a:endParaRPr lang="en-US" altLang="zh-TW" sz="1800" b="0" i="0" u="none" strike="noStrike" dirty="0">
                            <a:solidFill>
                              <a:srgbClr val="FF0000"/>
                            </a:solidFill>
                            <a:effectLst/>
                            <a:latin typeface="新細明體" panose="02020500000000000000" pitchFamily="18" charset="-120"/>
                            <a:ea typeface="新細明體" panose="02020500000000000000" pitchFamily="18" charset="-120"/>
                          </a:endParaRPr>
                        </a:p>
                      </a:txBody>
                      <a:tcPr marL="9411" marR="9411" marT="9411" marB="0" anchor="ctr"/>
                    </a:tc>
                  </a:tr>
                </a:tbl>
              </a:graphicData>
            </a:graphic>
          </p:graphicFrame>
        </mc:Choice>
        <mc:Fallback xmlns="">
          <p:graphicFrame>
            <p:nvGraphicFramePr>
              <p:cNvPr id="4" name="表格 3"/>
              <p:cNvGraphicFramePr>
                <a:graphicFrameLocks noGrp="1"/>
              </p:cNvGraphicFramePr>
              <p:nvPr>
                <p:extLst>
                  <p:ext uri="{D42A27DB-BD31-4B8C-83A1-F6EECF244321}">
                    <p14:modId xmlns:p14="http://schemas.microsoft.com/office/powerpoint/2010/main" val="1151851113"/>
                  </p:ext>
                </p:extLst>
              </p:nvPr>
            </p:nvGraphicFramePr>
            <p:xfrm>
              <a:off x="124494" y="1236909"/>
              <a:ext cx="11951595" cy="1986244"/>
            </p:xfrm>
            <a:graphic>
              <a:graphicData uri="http://schemas.openxmlformats.org/drawingml/2006/table">
                <a:tbl>
                  <a:tblPr>
                    <a:tableStyleId>{5C22544A-7EE6-4342-B048-85BDC9FD1C3A}</a:tableStyleId>
                  </a:tblPr>
                  <a:tblGrid>
                    <a:gridCol w="1242975"/>
                    <a:gridCol w="1070862"/>
                    <a:gridCol w="1070862"/>
                    <a:gridCol w="1070862"/>
                    <a:gridCol w="1070862"/>
                    <a:gridCol w="1070862"/>
                    <a:gridCol w="1070862"/>
                    <a:gridCol w="1070862"/>
                    <a:gridCol w="1070862"/>
                    <a:gridCol w="1070862"/>
                    <a:gridCol w="1070862"/>
                  </a:tblGrid>
                  <a:tr h="283858">
                    <a:tc>
                      <a:txBody>
                        <a:bodyPr/>
                        <a:lstStyle/>
                        <a:p>
                          <a:endParaRPr lang="zh-TW"/>
                        </a:p>
                      </a:txBody>
                      <a:tcPr marL="9411" marR="9411" marT="9411" marB="0" anchor="ctr">
                        <a:blipFill rotWithShape="0">
                          <a:blip r:embed="rId2"/>
                          <a:stretch>
                            <a:fillRect l="-490" t="-12766" r="-862745" b="-646809"/>
                          </a:stretch>
                        </a:blipFill>
                      </a:tcPr>
                    </a:tc>
                    <a:tc>
                      <a:txBody>
                        <a:bodyPr/>
                        <a:lstStyle/>
                        <a:p>
                          <a:pPr algn="ctr" fontAlgn="ctr"/>
                          <a:r>
                            <a:rPr lang="en-US" altLang="zh-TW" sz="1600" u="none" strike="noStrike" dirty="0">
                              <a:effectLst/>
                            </a:rPr>
                            <a:t>2012/11/20</a:t>
                          </a:r>
                          <a:endParaRPr lang="en-US" altLang="zh-TW" sz="16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ctr" fontAlgn="ctr"/>
                          <a:r>
                            <a:rPr lang="en-US" altLang="zh-TW" sz="1600" u="none" strike="noStrike" dirty="0">
                              <a:effectLst/>
                            </a:rPr>
                            <a:t>2012/11/21</a:t>
                          </a:r>
                          <a:endParaRPr lang="en-US" altLang="zh-TW" sz="16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ctr" fontAlgn="ctr"/>
                          <a:r>
                            <a:rPr lang="en-US" altLang="zh-TW" sz="1600" u="none" strike="noStrike" dirty="0">
                              <a:effectLst/>
                            </a:rPr>
                            <a:t>2012/11/22</a:t>
                          </a:r>
                          <a:endParaRPr lang="en-US" altLang="zh-TW" sz="16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ctr" fontAlgn="ctr"/>
                          <a:r>
                            <a:rPr lang="en-US" altLang="zh-TW" sz="1600" u="none" strike="noStrike" dirty="0">
                              <a:effectLst/>
                            </a:rPr>
                            <a:t>2012/11/23</a:t>
                          </a:r>
                          <a:endParaRPr lang="en-US" altLang="zh-TW" sz="16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ctr" fontAlgn="ctr"/>
                          <a:r>
                            <a:rPr lang="en-US" altLang="zh-TW" sz="1600" u="none" strike="noStrike" dirty="0">
                              <a:effectLst/>
                            </a:rPr>
                            <a:t>2012/11/26</a:t>
                          </a:r>
                          <a:endParaRPr lang="en-US" altLang="zh-TW" sz="16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ctr" fontAlgn="ctr"/>
                          <a:r>
                            <a:rPr lang="en-US" altLang="zh-TW" sz="1600" u="none" strike="noStrike" dirty="0">
                              <a:effectLst/>
                            </a:rPr>
                            <a:t>2012/11/27</a:t>
                          </a:r>
                          <a:endParaRPr lang="en-US" altLang="zh-TW" sz="16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ctr" fontAlgn="ctr"/>
                          <a:r>
                            <a:rPr lang="en-US" altLang="zh-TW" sz="1600" u="none" strike="noStrike" dirty="0">
                              <a:effectLst/>
                            </a:rPr>
                            <a:t>2012/11/28</a:t>
                          </a:r>
                          <a:endParaRPr lang="en-US" altLang="zh-TW" sz="16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ctr" fontAlgn="ctr"/>
                          <a:r>
                            <a:rPr lang="en-US" altLang="zh-TW" sz="1600" u="none" strike="noStrike" dirty="0">
                              <a:effectLst/>
                            </a:rPr>
                            <a:t>2012/11/29</a:t>
                          </a:r>
                          <a:endParaRPr lang="en-US" altLang="zh-TW" sz="16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ctr" fontAlgn="ctr"/>
                          <a:r>
                            <a:rPr lang="en-US" altLang="zh-TW" sz="1600" u="none" strike="noStrike" dirty="0">
                              <a:effectLst/>
                            </a:rPr>
                            <a:t>2012/11/30</a:t>
                          </a:r>
                          <a:endParaRPr lang="en-US" altLang="zh-TW" sz="16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endParaRPr lang="zh-TW"/>
                        </a:p>
                      </a:txBody>
                      <a:tcPr marL="9411" marR="9411" marT="9411" marB="0" anchor="ctr">
                        <a:blipFill rotWithShape="0">
                          <a:blip r:embed="rId2"/>
                          <a:stretch>
                            <a:fillRect l="-1014773" t="-12766" r="-1705" b="-646809"/>
                          </a:stretch>
                        </a:blipFill>
                      </a:tcPr>
                    </a:tc>
                  </a:tr>
                  <a:tr h="283731">
                    <a:tc>
                      <a:txBody>
                        <a:bodyPr/>
                        <a:lstStyle/>
                        <a:p>
                          <a:pPr algn="ctr" fontAlgn="ctr"/>
                          <a:r>
                            <a:rPr lang="en-US" sz="1800" u="none" strike="noStrike" dirty="0">
                              <a:effectLst/>
                            </a:rPr>
                            <a:t>d12</a:t>
                          </a:r>
                          <a:endParaRPr lang="en-US" sz="18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dirty="0">
                              <a:effectLst/>
                            </a:rPr>
                            <a:t>-0.3936 </a:t>
                          </a:r>
                          <a:endParaRPr lang="en-US" altLang="zh-TW" sz="18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dirty="0">
                              <a:effectLst/>
                            </a:rPr>
                            <a:t>2.1963 </a:t>
                          </a:r>
                          <a:endParaRPr lang="en-US" altLang="zh-TW" sz="18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dirty="0">
                              <a:effectLst/>
                            </a:rPr>
                            <a:t>0.7731 </a:t>
                          </a:r>
                          <a:endParaRPr lang="en-US" altLang="zh-TW" sz="18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dirty="0">
                              <a:effectLst/>
                            </a:rPr>
                            <a:t>-2.3142 </a:t>
                          </a:r>
                          <a:endParaRPr lang="en-US" altLang="zh-TW" sz="18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dirty="0">
                              <a:effectLst/>
                            </a:rPr>
                            <a:t>-1.3487 </a:t>
                          </a:r>
                          <a:endParaRPr lang="en-US" altLang="zh-TW" sz="18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dirty="0">
                              <a:effectLst/>
                            </a:rPr>
                            <a:t>-0.3895 </a:t>
                          </a:r>
                          <a:endParaRPr lang="en-US" altLang="zh-TW" sz="18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dirty="0">
                              <a:effectLst/>
                            </a:rPr>
                            <a:t>-0.6819 </a:t>
                          </a:r>
                          <a:endParaRPr lang="en-US" altLang="zh-TW" sz="18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a:effectLst/>
                            </a:rPr>
                            <a:t>0.0625 </a:t>
                          </a:r>
                          <a:endParaRPr lang="en-US" altLang="zh-TW" sz="1800" b="0" i="0" u="none" strike="noStrike">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a:effectLst/>
                            </a:rPr>
                            <a:t>-0.5307 </a:t>
                          </a:r>
                          <a:endParaRPr lang="en-US" altLang="zh-TW" sz="1800" b="0" i="0" u="none" strike="noStrike">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a:solidFill>
                                <a:srgbClr val="FF0000"/>
                              </a:solidFill>
                              <a:effectLst/>
                            </a:rPr>
                            <a:t>-0.2919 </a:t>
                          </a:r>
                          <a:endParaRPr lang="en-US" altLang="zh-TW" sz="1800" b="0" i="0" u="none" strike="noStrike">
                            <a:solidFill>
                              <a:srgbClr val="FF0000"/>
                            </a:solidFill>
                            <a:effectLst/>
                            <a:latin typeface="新細明體" panose="02020500000000000000" pitchFamily="18" charset="-120"/>
                            <a:ea typeface="新細明體" panose="02020500000000000000" pitchFamily="18" charset="-120"/>
                          </a:endParaRPr>
                        </a:p>
                      </a:txBody>
                      <a:tcPr marL="9411" marR="9411" marT="9411" marB="0" anchor="ctr"/>
                    </a:tc>
                  </a:tr>
                  <a:tr h="283731">
                    <a:tc>
                      <a:txBody>
                        <a:bodyPr/>
                        <a:lstStyle/>
                        <a:p>
                          <a:pPr algn="ctr" fontAlgn="ctr"/>
                          <a:r>
                            <a:rPr lang="en-US" sz="1800" u="none" strike="noStrike" dirty="0">
                              <a:effectLst/>
                            </a:rPr>
                            <a:t>d13</a:t>
                          </a:r>
                          <a:endParaRPr lang="en-US" sz="18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a:effectLst/>
                            </a:rPr>
                            <a:t>-0.1684 </a:t>
                          </a:r>
                          <a:endParaRPr lang="en-US" altLang="zh-TW" sz="1800" b="0" i="0" u="none" strike="noStrike">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a:effectLst/>
                            </a:rPr>
                            <a:t>1.0336 </a:t>
                          </a:r>
                          <a:endParaRPr lang="en-US" altLang="zh-TW" sz="1800" b="0" i="0" u="none" strike="noStrike">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dirty="0">
                              <a:effectLst/>
                            </a:rPr>
                            <a:t>-0.2436 </a:t>
                          </a:r>
                          <a:endParaRPr lang="en-US" altLang="zh-TW" sz="18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dirty="0">
                              <a:effectLst/>
                            </a:rPr>
                            <a:t>-1.7970 </a:t>
                          </a:r>
                          <a:endParaRPr lang="en-US" altLang="zh-TW" sz="18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a:effectLst/>
                            </a:rPr>
                            <a:t>-1.3136 </a:t>
                          </a:r>
                          <a:endParaRPr lang="en-US" altLang="zh-TW" sz="1800" b="0" i="0" u="none" strike="noStrike">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a:effectLst/>
                            </a:rPr>
                            <a:t>-0.8309 </a:t>
                          </a:r>
                          <a:endParaRPr lang="en-US" altLang="zh-TW" sz="1800" b="0" i="0" u="none" strike="noStrike">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a:effectLst/>
                            </a:rPr>
                            <a:t>0.7219 </a:t>
                          </a:r>
                          <a:endParaRPr lang="en-US" altLang="zh-TW" sz="1800" b="0" i="0" u="none" strike="noStrike">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a:effectLst/>
                            </a:rPr>
                            <a:t>-0.4959 </a:t>
                          </a:r>
                          <a:endParaRPr lang="en-US" altLang="zh-TW" sz="1800" b="0" i="0" u="none" strike="noStrike">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a:effectLst/>
                            </a:rPr>
                            <a:t>-1.0049 </a:t>
                          </a:r>
                          <a:endParaRPr lang="en-US" altLang="zh-TW" sz="1800" b="0" i="0" u="none" strike="noStrike">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a:solidFill>
                                <a:srgbClr val="FF0000"/>
                              </a:solidFill>
                              <a:effectLst/>
                            </a:rPr>
                            <a:t>-0.4554 </a:t>
                          </a:r>
                          <a:endParaRPr lang="en-US" altLang="zh-TW" sz="1800" b="0" i="0" u="none" strike="noStrike">
                            <a:solidFill>
                              <a:srgbClr val="FF0000"/>
                            </a:solidFill>
                            <a:effectLst/>
                            <a:latin typeface="新細明體" panose="02020500000000000000" pitchFamily="18" charset="-120"/>
                            <a:ea typeface="新細明體" panose="02020500000000000000" pitchFamily="18" charset="-120"/>
                          </a:endParaRPr>
                        </a:p>
                      </a:txBody>
                      <a:tcPr marL="9411" marR="9411" marT="9411" marB="0" anchor="ctr"/>
                    </a:tc>
                  </a:tr>
                  <a:tr h="283731">
                    <a:tc>
                      <a:txBody>
                        <a:bodyPr/>
                        <a:lstStyle/>
                        <a:p>
                          <a:pPr algn="ctr" fontAlgn="ctr"/>
                          <a:r>
                            <a:rPr lang="en-US" sz="1800" u="none" strike="noStrike" dirty="0">
                              <a:effectLst/>
                            </a:rPr>
                            <a:t>d14</a:t>
                          </a:r>
                          <a:endParaRPr lang="en-US" sz="18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dirty="0">
                              <a:effectLst/>
                            </a:rPr>
                            <a:t>-0.3501 </a:t>
                          </a:r>
                          <a:endParaRPr lang="en-US" altLang="zh-TW" sz="18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a:effectLst/>
                            </a:rPr>
                            <a:t>1.6753 </a:t>
                          </a:r>
                          <a:endParaRPr lang="en-US" altLang="zh-TW" sz="1800" b="0" i="0" u="none" strike="noStrike">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a:effectLst/>
                            </a:rPr>
                            <a:t>1.3208 </a:t>
                          </a:r>
                          <a:endParaRPr lang="en-US" altLang="zh-TW" sz="1800" b="0" i="0" u="none" strike="noStrike">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dirty="0">
                              <a:effectLst/>
                            </a:rPr>
                            <a:t>-3.0996 </a:t>
                          </a:r>
                          <a:endParaRPr lang="en-US" altLang="zh-TW" sz="18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dirty="0">
                              <a:effectLst/>
                            </a:rPr>
                            <a:t>-0.8742 </a:t>
                          </a:r>
                          <a:endParaRPr lang="en-US" altLang="zh-TW" sz="18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dirty="0">
                              <a:effectLst/>
                            </a:rPr>
                            <a:t>0.0578 </a:t>
                          </a:r>
                          <a:endParaRPr lang="en-US" altLang="zh-TW" sz="18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dirty="0">
                              <a:effectLst/>
                            </a:rPr>
                            <a:t>-1.2835 </a:t>
                          </a:r>
                          <a:endParaRPr lang="en-US" altLang="zh-TW" sz="18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dirty="0">
                              <a:effectLst/>
                            </a:rPr>
                            <a:t>0.0712 </a:t>
                          </a:r>
                          <a:endParaRPr lang="en-US" altLang="zh-TW" sz="18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dirty="0">
                              <a:effectLst/>
                            </a:rPr>
                            <a:t>-0.5410 </a:t>
                          </a:r>
                          <a:endParaRPr lang="en-US" altLang="zh-TW" sz="18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dirty="0">
                              <a:solidFill>
                                <a:srgbClr val="FF0000"/>
                              </a:solidFill>
                              <a:effectLst/>
                            </a:rPr>
                            <a:t>-0.3359 </a:t>
                          </a:r>
                          <a:endParaRPr lang="en-US" altLang="zh-TW" sz="1800" b="0" i="0" u="none" strike="noStrike" dirty="0">
                            <a:solidFill>
                              <a:srgbClr val="FF0000"/>
                            </a:solidFill>
                            <a:effectLst/>
                            <a:latin typeface="新細明體" panose="02020500000000000000" pitchFamily="18" charset="-120"/>
                            <a:ea typeface="新細明體" panose="02020500000000000000" pitchFamily="18" charset="-120"/>
                          </a:endParaRPr>
                        </a:p>
                      </a:txBody>
                      <a:tcPr marL="9411" marR="9411" marT="9411" marB="0" anchor="ctr"/>
                    </a:tc>
                  </a:tr>
                  <a:tr h="283731">
                    <a:tc>
                      <a:txBody>
                        <a:bodyPr/>
                        <a:lstStyle/>
                        <a:p>
                          <a:pPr algn="ctr" fontAlgn="ctr"/>
                          <a:r>
                            <a:rPr lang="en-US" sz="1800" u="none" strike="noStrike" dirty="0">
                              <a:effectLst/>
                            </a:rPr>
                            <a:t>d23</a:t>
                          </a:r>
                          <a:endParaRPr lang="en-US" sz="18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a:effectLst/>
                            </a:rPr>
                            <a:t>0.2252 </a:t>
                          </a:r>
                          <a:endParaRPr lang="en-US" altLang="zh-TW" sz="1800" b="0" i="0" u="none" strike="noStrike">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a:effectLst/>
                            </a:rPr>
                            <a:t>-1.1627 </a:t>
                          </a:r>
                          <a:endParaRPr lang="en-US" altLang="zh-TW" sz="1800" b="0" i="0" u="none" strike="noStrike">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a:effectLst/>
                            </a:rPr>
                            <a:t>-1.0167 </a:t>
                          </a:r>
                          <a:endParaRPr lang="en-US" altLang="zh-TW" sz="1800" b="0" i="0" u="none" strike="noStrike">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a:effectLst/>
                            </a:rPr>
                            <a:t>0.5172 </a:t>
                          </a:r>
                          <a:endParaRPr lang="en-US" altLang="zh-TW" sz="1800" b="0" i="0" u="none" strike="noStrike">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a:effectLst/>
                            </a:rPr>
                            <a:t>0.0351 </a:t>
                          </a:r>
                          <a:endParaRPr lang="en-US" altLang="zh-TW" sz="1800" b="0" i="0" u="none" strike="noStrike">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a:effectLst/>
                            </a:rPr>
                            <a:t>-0.4413 </a:t>
                          </a:r>
                          <a:endParaRPr lang="en-US" altLang="zh-TW" sz="1800" b="0" i="0" u="none" strike="noStrike">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a:effectLst/>
                            </a:rPr>
                            <a:t>1.4038 </a:t>
                          </a:r>
                          <a:endParaRPr lang="en-US" altLang="zh-TW" sz="1800" b="0" i="0" u="none" strike="noStrike">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a:effectLst/>
                            </a:rPr>
                            <a:t>-0.5584 </a:t>
                          </a:r>
                          <a:endParaRPr lang="en-US" altLang="zh-TW" sz="1800" b="0" i="0" u="none" strike="noStrike">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dirty="0">
                              <a:effectLst/>
                            </a:rPr>
                            <a:t>-0.4741 </a:t>
                          </a:r>
                          <a:endParaRPr lang="en-US" altLang="zh-TW" sz="18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dirty="0">
                              <a:solidFill>
                                <a:srgbClr val="FF0000"/>
                              </a:solidFill>
                              <a:effectLst/>
                            </a:rPr>
                            <a:t>-0.1635 </a:t>
                          </a:r>
                          <a:endParaRPr lang="en-US" altLang="zh-TW" sz="1800" b="0" i="0" u="none" strike="noStrike" dirty="0">
                            <a:solidFill>
                              <a:srgbClr val="FF0000"/>
                            </a:solidFill>
                            <a:effectLst/>
                            <a:latin typeface="新細明體" panose="02020500000000000000" pitchFamily="18" charset="-120"/>
                            <a:ea typeface="新細明體" panose="02020500000000000000" pitchFamily="18" charset="-120"/>
                          </a:endParaRPr>
                        </a:p>
                      </a:txBody>
                      <a:tcPr marL="9411" marR="9411" marT="9411" marB="0" anchor="ctr"/>
                    </a:tc>
                  </a:tr>
                  <a:tr h="283731">
                    <a:tc>
                      <a:txBody>
                        <a:bodyPr/>
                        <a:lstStyle/>
                        <a:p>
                          <a:pPr algn="ctr" fontAlgn="ctr"/>
                          <a:r>
                            <a:rPr lang="en-US" sz="1800" u="none" strike="noStrike" dirty="0">
                              <a:effectLst/>
                            </a:rPr>
                            <a:t>d24</a:t>
                          </a:r>
                          <a:endParaRPr lang="en-US" sz="18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a:effectLst/>
                            </a:rPr>
                            <a:t>0.0435 </a:t>
                          </a:r>
                          <a:endParaRPr lang="en-US" altLang="zh-TW" sz="1800" b="0" i="0" u="none" strike="noStrike">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a:effectLst/>
                            </a:rPr>
                            <a:t>-0.5210 </a:t>
                          </a:r>
                          <a:endParaRPr lang="en-US" altLang="zh-TW" sz="1800" b="0" i="0" u="none" strike="noStrike">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a:effectLst/>
                            </a:rPr>
                            <a:t>0.5477 </a:t>
                          </a:r>
                          <a:endParaRPr lang="en-US" altLang="zh-TW" sz="1800" b="0" i="0" u="none" strike="noStrike">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dirty="0">
                              <a:effectLst/>
                            </a:rPr>
                            <a:t>-0.7854 </a:t>
                          </a:r>
                          <a:endParaRPr lang="en-US" altLang="zh-TW" sz="18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a:effectLst/>
                            </a:rPr>
                            <a:t>0.4744 </a:t>
                          </a:r>
                          <a:endParaRPr lang="en-US" altLang="zh-TW" sz="1800" b="0" i="0" u="none" strike="noStrike">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a:effectLst/>
                            </a:rPr>
                            <a:t>0.4473 </a:t>
                          </a:r>
                          <a:endParaRPr lang="en-US" altLang="zh-TW" sz="1800" b="0" i="0" u="none" strike="noStrike">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a:effectLst/>
                            </a:rPr>
                            <a:t>-0.6016 </a:t>
                          </a:r>
                          <a:endParaRPr lang="en-US" altLang="zh-TW" sz="1800" b="0" i="0" u="none" strike="noStrike">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a:effectLst/>
                            </a:rPr>
                            <a:t>0.0087 </a:t>
                          </a:r>
                          <a:endParaRPr lang="en-US" altLang="zh-TW" sz="1800" b="0" i="0" u="none" strike="noStrike">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a:effectLst/>
                            </a:rPr>
                            <a:t>-0.0103 </a:t>
                          </a:r>
                          <a:endParaRPr lang="en-US" altLang="zh-TW" sz="1800" b="0" i="0" u="none" strike="noStrike">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dirty="0">
                              <a:solidFill>
                                <a:srgbClr val="FF0000"/>
                              </a:solidFill>
                              <a:effectLst/>
                            </a:rPr>
                            <a:t>-0.0441 </a:t>
                          </a:r>
                          <a:endParaRPr lang="en-US" altLang="zh-TW" sz="1800" b="0" i="0" u="none" strike="noStrike" dirty="0">
                            <a:solidFill>
                              <a:srgbClr val="FF0000"/>
                            </a:solidFill>
                            <a:effectLst/>
                            <a:latin typeface="新細明體" panose="02020500000000000000" pitchFamily="18" charset="-120"/>
                            <a:ea typeface="新細明體" panose="02020500000000000000" pitchFamily="18" charset="-120"/>
                          </a:endParaRPr>
                        </a:p>
                      </a:txBody>
                      <a:tcPr marL="9411" marR="9411" marT="9411" marB="0" anchor="ctr"/>
                    </a:tc>
                  </a:tr>
                  <a:tr h="283731">
                    <a:tc>
                      <a:txBody>
                        <a:bodyPr/>
                        <a:lstStyle/>
                        <a:p>
                          <a:pPr algn="ctr" fontAlgn="ctr"/>
                          <a:r>
                            <a:rPr lang="en-US" sz="1800" u="none" strike="noStrike" dirty="0">
                              <a:effectLst/>
                            </a:rPr>
                            <a:t>d34</a:t>
                          </a:r>
                          <a:endParaRPr lang="en-US" sz="18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a:effectLst/>
                            </a:rPr>
                            <a:t>-0.1817 </a:t>
                          </a:r>
                          <a:endParaRPr lang="en-US" altLang="zh-TW" sz="1800" b="0" i="0" u="none" strike="noStrike">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a:effectLst/>
                            </a:rPr>
                            <a:t>0.6417 </a:t>
                          </a:r>
                          <a:endParaRPr lang="en-US" altLang="zh-TW" sz="1800" b="0" i="0" u="none" strike="noStrike">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a:effectLst/>
                            </a:rPr>
                            <a:t>1.5644 </a:t>
                          </a:r>
                          <a:endParaRPr lang="en-US" altLang="zh-TW" sz="1800" b="0" i="0" u="none" strike="noStrike">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dirty="0">
                              <a:effectLst/>
                            </a:rPr>
                            <a:t>-1.3026 </a:t>
                          </a:r>
                          <a:endParaRPr lang="en-US" altLang="zh-TW" sz="18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dirty="0">
                              <a:effectLst/>
                            </a:rPr>
                            <a:t>0.4393 </a:t>
                          </a:r>
                          <a:endParaRPr lang="en-US" altLang="zh-TW" sz="18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dirty="0">
                              <a:effectLst/>
                            </a:rPr>
                            <a:t>0.8886 </a:t>
                          </a:r>
                          <a:endParaRPr lang="en-US" altLang="zh-TW" sz="18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dirty="0">
                              <a:effectLst/>
                            </a:rPr>
                            <a:t>-2.0054 </a:t>
                          </a:r>
                          <a:endParaRPr lang="en-US" altLang="zh-TW" sz="18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dirty="0">
                              <a:effectLst/>
                            </a:rPr>
                            <a:t>0.5671 </a:t>
                          </a:r>
                          <a:endParaRPr lang="en-US" altLang="zh-TW" sz="18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dirty="0">
                              <a:effectLst/>
                            </a:rPr>
                            <a:t>0.4638 </a:t>
                          </a:r>
                          <a:endParaRPr lang="en-US" altLang="zh-TW" sz="18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dirty="0">
                              <a:solidFill>
                                <a:srgbClr val="FF0000"/>
                              </a:solidFill>
                              <a:effectLst/>
                            </a:rPr>
                            <a:t>0.1195 </a:t>
                          </a:r>
                          <a:endParaRPr lang="en-US" altLang="zh-TW" sz="1800" b="0" i="0" u="none" strike="noStrike" dirty="0">
                            <a:solidFill>
                              <a:srgbClr val="FF0000"/>
                            </a:solidFill>
                            <a:effectLst/>
                            <a:latin typeface="新細明體" panose="02020500000000000000" pitchFamily="18" charset="-120"/>
                            <a:ea typeface="新細明體" panose="02020500000000000000" pitchFamily="18" charset="-120"/>
                          </a:endParaRPr>
                        </a:p>
                      </a:txBody>
                      <a:tcPr marL="9411" marR="9411" marT="9411" marB="0" anchor="ctr"/>
                    </a:tc>
                  </a:tr>
                </a:tbl>
              </a:graphicData>
            </a:graphic>
          </p:graphicFrame>
        </mc:Fallback>
      </mc:AlternateContent>
      <mc:AlternateContent xmlns:mc="http://schemas.openxmlformats.org/markup-compatibility/2006" xmlns:a14="http://schemas.microsoft.com/office/drawing/2010/main">
        <mc:Choice Requires="a14">
          <p:sp>
            <p:nvSpPr>
              <p:cNvPr id="5" name="文字方塊 4"/>
              <p:cNvSpPr txBox="1"/>
              <p:nvPr/>
            </p:nvSpPr>
            <p:spPr>
              <a:xfrm>
                <a:off x="-1" y="3400023"/>
                <a:ext cx="6774287" cy="87985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TW" b="0" i="1" smtClean="0">
                              <a:latin typeface="Cambria Math"/>
                            </a:rPr>
                          </m:ctrlPr>
                        </m:sSubPr>
                        <m:e>
                          <m:acc>
                            <m:accPr>
                              <m:chr m:val="̅"/>
                              <m:ctrlPr>
                                <a:rPr lang="en-US" altLang="zh-TW" b="0" i="1" smtClean="0">
                                  <a:latin typeface="Cambria Math"/>
                                </a:rPr>
                              </m:ctrlPr>
                            </m:accPr>
                            <m:e>
                              <m:r>
                                <a:rPr lang="en-US" altLang="zh-TW" b="0" i="1" smtClean="0">
                                  <a:latin typeface="Cambria Math" panose="02040503050406030204" pitchFamily="18" charset="0"/>
                                </a:rPr>
                                <m:t>𝑑</m:t>
                              </m:r>
                            </m:e>
                          </m:acc>
                        </m:e>
                        <m:sub>
                          <m:r>
                            <a:rPr lang="en-US" altLang="zh-TW" b="0" i="1" smtClean="0">
                              <a:latin typeface="Cambria Math" panose="02040503050406030204" pitchFamily="18" charset="0"/>
                            </a:rPr>
                            <m:t>𝑖𝑗</m:t>
                          </m:r>
                        </m:sub>
                      </m:sSub>
                      <m:r>
                        <a:rPr lang="en-US" altLang="zh-TW" b="0" i="1" smtClean="0">
                          <a:latin typeface="Cambria Math" panose="02040503050406030204" pitchFamily="18" charset="0"/>
                          <a:ea typeface="Cambria Math" panose="02040503050406030204" pitchFamily="18" charset="0"/>
                        </a:rPr>
                        <m:t>≡</m:t>
                      </m:r>
                      <m:sSup>
                        <m:sSupPr>
                          <m:ctrlPr>
                            <a:rPr lang="en-US" altLang="zh-TW" b="0" i="1" smtClean="0">
                              <a:latin typeface="Cambria Math"/>
                            </a:rPr>
                          </m:ctrlPr>
                        </m:sSupPr>
                        <m:e>
                          <m:r>
                            <a:rPr lang="en-US" altLang="zh-TW" b="0" i="1" smtClean="0">
                              <a:latin typeface="Cambria Math" panose="02040503050406030204" pitchFamily="18" charset="0"/>
                            </a:rPr>
                            <m:t>𝑛</m:t>
                          </m:r>
                        </m:e>
                        <m:sup>
                          <m:r>
                            <a:rPr lang="en-US" altLang="zh-TW" b="0" i="1" smtClean="0">
                              <a:latin typeface="Cambria Math" panose="02040503050406030204" pitchFamily="18" charset="0"/>
                            </a:rPr>
                            <m:t>−1</m:t>
                          </m:r>
                        </m:sup>
                      </m:sSup>
                      <m:nary>
                        <m:naryPr>
                          <m:chr m:val="∑"/>
                          <m:ctrlPr>
                            <a:rPr lang="en-US" altLang="zh-TW" b="0" i="1" smtClean="0">
                              <a:latin typeface="Cambria Math"/>
                            </a:rPr>
                          </m:ctrlPr>
                        </m:naryPr>
                        <m:sub>
                          <m:r>
                            <a:rPr lang="en-US" altLang="zh-TW" b="0" i="1" smtClean="0">
                              <a:latin typeface="Cambria Math" panose="02040503050406030204" pitchFamily="18" charset="0"/>
                            </a:rPr>
                            <m:t>𝑡</m:t>
                          </m:r>
                          <m:r>
                            <a:rPr lang="en-US" altLang="zh-TW" b="0" i="1" smtClean="0">
                              <a:latin typeface="Cambria Math" panose="02040503050406030204" pitchFamily="18" charset="0"/>
                            </a:rPr>
                            <m:t>=1</m:t>
                          </m:r>
                        </m:sub>
                        <m:sup>
                          <m:r>
                            <a:rPr lang="en-US" altLang="zh-TW" b="0" i="1" smtClean="0">
                              <a:latin typeface="Cambria Math" panose="02040503050406030204" pitchFamily="18" charset="0"/>
                            </a:rPr>
                            <m:t>𝑛</m:t>
                          </m:r>
                        </m:sup>
                        <m:e>
                          <m:sSub>
                            <m:sSubPr>
                              <m:ctrlPr>
                                <a:rPr lang="en-US" altLang="zh-TW" b="0" i="1" smtClean="0">
                                  <a:latin typeface="Cambria Math"/>
                                </a:rPr>
                              </m:ctrlPr>
                            </m:sSubPr>
                            <m:e>
                              <m:r>
                                <a:rPr lang="en-US" altLang="zh-TW" b="0" i="1" smtClean="0">
                                  <a:latin typeface="Cambria Math" panose="02040503050406030204" pitchFamily="18" charset="0"/>
                                </a:rPr>
                                <m:t>𝑑</m:t>
                              </m:r>
                            </m:e>
                            <m:sub>
                              <m:r>
                                <a:rPr lang="en-US" altLang="zh-TW" b="0" i="1" smtClean="0">
                                  <a:latin typeface="Cambria Math" panose="02040503050406030204" pitchFamily="18" charset="0"/>
                                </a:rPr>
                                <m:t>𝑖𝑗</m:t>
                              </m:r>
                              <m:r>
                                <a:rPr lang="en-US" altLang="zh-TW" b="0" i="1" smtClean="0">
                                  <a:latin typeface="Cambria Math" panose="02040503050406030204" pitchFamily="18" charset="0"/>
                                </a:rPr>
                                <m:t>,</m:t>
                              </m:r>
                              <m:r>
                                <a:rPr lang="en-US" altLang="zh-TW" b="0" i="1" smtClean="0">
                                  <a:latin typeface="Cambria Math" panose="02040503050406030204" pitchFamily="18" charset="0"/>
                                </a:rPr>
                                <m:t>𝑡</m:t>
                              </m:r>
                            </m:sub>
                          </m:sSub>
                        </m:e>
                      </m:nary>
                      <m:r>
                        <a:rPr lang="en-US" altLang="zh-TW" b="0" i="0" smtClean="0">
                          <a:latin typeface="Cambria Math" panose="02040503050406030204" pitchFamily="18" charset="0"/>
                        </a:rPr>
                        <m:t>,  </m:t>
                      </m:r>
                      <m:sSub>
                        <m:sSubPr>
                          <m:ctrlPr>
                            <a:rPr lang="en-US" altLang="zh-TW" b="0" i="1" smtClean="0">
                              <a:latin typeface="Cambria Math"/>
                            </a:rPr>
                          </m:ctrlPr>
                        </m:sSubPr>
                        <m:e>
                          <m:acc>
                            <m:accPr>
                              <m:chr m:val="̅"/>
                              <m:ctrlPr>
                                <a:rPr lang="en-US" altLang="zh-TW" b="0" i="1" smtClean="0">
                                  <a:latin typeface="Cambria Math"/>
                                </a:rPr>
                              </m:ctrlPr>
                            </m:accPr>
                            <m:e>
                              <m:r>
                                <a:rPr lang="en-US" altLang="zh-TW" b="0" i="1" smtClean="0">
                                  <a:latin typeface="Cambria Math" panose="02040503050406030204" pitchFamily="18" charset="0"/>
                                </a:rPr>
                                <m:t>𝑑</m:t>
                              </m:r>
                            </m:e>
                          </m:acc>
                        </m:e>
                        <m:sub>
                          <m:r>
                            <a:rPr lang="en-US" altLang="zh-TW" b="0" i="1" smtClean="0">
                              <a:latin typeface="Cambria Math" panose="02040503050406030204" pitchFamily="18" charset="0"/>
                            </a:rPr>
                            <m:t>𝑖</m:t>
                          </m:r>
                          <m:r>
                            <a:rPr lang="en-US" altLang="zh-TW" b="0" i="1" smtClean="0">
                              <a:latin typeface="Cambria Math" panose="02040503050406030204" pitchFamily="18" charset="0"/>
                            </a:rPr>
                            <m:t>.</m:t>
                          </m:r>
                        </m:sub>
                      </m:sSub>
                      <m:r>
                        <a:rPr lang="en-US" altLang="zh-TW" i="1">
                          <a:latin typeface="Cambria Math" panose="02040503050406030204" pitchFamily="18" charset="0"/>
                          <a:ea typeface="Cambria Math" panose="02040503050406030204" pitchFamily="18" charset="0"/>
                        </a:rPr>
                        <m:t>≡</m:t>
                      </m:r>
                      <m:sSup>
                        <m:sSupPr>
                          <m:ctrlPr>
                            <a:rPr lang="en-US" altLang="zh-TW" b="0" i="1" smtClean="0">
                              <a:latin typeface="Cambria Math"/>
                              <a:ea typeface="Cambria Math" panose="02040503050406030204" pitchFamily="18" charset="0"/>
                            </a:rPr>
                          </m:ctrlPr>
                        </m:sSupPr>
                        <m:e>
                          <m:r>
                            <a:rPr lang="en-US" altLang="zh-TW" b="0" i="1" smtClean="0">
                              <a:latin typeface="Cambria Math" panose="02040503050406030204" pitchFamily="18" charset="0"/>
                              <a:ea typeface="Cambria Math" panose="02040503050406030204" pitchFamily="18" charset="0"/>
                            </a:rPr>
                            <m:t>𝑚</m:t>
                          </m:r>
                        </m:e>
                        <m:sup>
                          <m:r>
                            <a:rPr lang="en-US" altLang="zh-TW" b="0" i="1" smtClean="0">
                              <a:latin typeface="Cambria Math" panose="02040503050406030204" pitchFamily="18" charset="0"/>
                              <a:ea typeface="Cambria Math" panose="02040503050406030204" pitchFamily="18" charset="0"/>
                            </a:rPr>
                            <m:t>−1</m:t>
                          </m:r>
                        </m:sup>
                      </m:sSup>
                      <m:nary>
                        <m:naryPr>
                          <m:chr m:val="∑"/>
                          <m:supHide m:val="on"/>
                          <m:ctrlPr>
                            <a:rPr lang="en-US" altLang="zh-TW" b="0" i="1" smtClean="0">
                              <a:latin typeface="Cambria Math"/>
                              <a:ea typeface="Cambria Math" panose="02040503050406030204" pitchFamily="18" charset="0"/>
                            </a:rPr>
                          </m:ctrlPr>
                        </m:naryPr>
                        <m:sub>
                          <m:r>
                            <a:rPr lang="en-US" altLang="zh-TW" b="0" i="1" smtClean="0">
                              <a:latin typeface="Cambria Math" panose="02040503050406030204" pitchFamily="18" charset="0"/>
                              <a:ea typeface="Cambria Math" panose="02040503050406030204" pitchFamily="18" charset="0"/>
                            </a:rPr>
                            <m:t>𝑗</m:t>
                          </m:r>
                          <m:r>
                            <a:rPr lang="en-US" altLang="zh-TW" b="0" i="1" smtClean="0">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𝑀</m:t>
                          </m:r>
                        </m:sub>
                        <m:sup/>
                        <m:e>
                          <m:sSub>
                            <m:sSubPr>
                              <m:ctrlPr>
                                <a:rPr lang="en-US" altLang="zh-TW" b="0" i="1" smtClean="0">
                                  <a:latin typeface="Cambria Math"/>
                                  <a:ea typeface="Cambria Math" panose="02040503050406030204" pitchFamily="18" charset="0"/>
                                </a:rPr>
                              </m:ctrlPr>
                            </m:sSubPr>
                            <m:e>
                              <m:acc>
                                <m:accPr>
                                  <m:chr m:val="̅"/>
                                  <m:ctrlPr>
                                    <a:rPr lang="en-US" altLang="zh-TW" b="0" i="1" smtClean="0">
                                      <a:latin typeface="Cambria Math"/>
                                      <a:ea typeface="Cambria Math" panose="02040503050406030204" pitchFamily="18" charset="0"/>
                                    </a:rPr>
                                  </m:ctrlPr>
                                </m:accPr>
                                <m:e>
                                  <m:r>
                                    <a:rPr lang="en-US" altLang="zh-TW" b="0" i="1" smtClean="0">
                                      <a:latin typeface="Cambria Math" panose="02040503050406030204" pitchFamily="18" charset="0"/>
                                      <a:ea typeface="Cambria Math" panose="02040503050406030204" pitchFamily="18" charset="0"/>
                                    </a:rPr>
                                    <m:t>𝑑</m:t>
                                  </m:r>
                                </m:e>
                              </m:acc>
                            </m:e>
                            <m:sub>
                              <m:r>
                                <a:rPr lang="en-US" altLang="zh-TW" b="0" i="1" smtClean="0">
                                  <a:latin typeface="Cambria Math" panose="02040503050406030204" pitchFamily="18" charset="0"/>
                                </a:rPr>
                                <m:t>𝑖𝑗</m:t>
                              </m:r>
                            </m:sub>
                          </m:sSub>
                        </m:e>
                      </m:nary>
                    </m:oMath>
                  </m:oMathPara>
                </a14:m>
                <a:endParaRPr lang="zh-TW" altLang="en-US" dirty="0"/>
              </a:p>
            </p:txBody>
          </p:sp>
        </mc:Choice>
        <mc:Fallback xmlns="">
          <p:sp>
            <p:nvSpPr>
              <p:cNvPr id="5" name="文字方塊 4"/>
              <p:cNvSpPr txBox="1">
                <a:spLocks noRot="1" noChangeAspect="1" noMove="1" noResize="1" noEditPoints="1" noAdjustHandles="1" noChangeArrowheads="1" noChangeShapeType="1" noTextEdit="1"/>
              </p:cNvSpPr>
              <p:nvPr/>
            </p:nvSpPr>
            <p:spPr>
              <a:xfrm>
                <a:off x="-1" y="3400023"/>
                <a:ext cx="6774287" cy="879856"/>
              </a:xfrm>
              <a:prstGeom prst="rect">
                <a:avLst/>
              </a:prstGeom>
              <a:blipFill rotWithShape="0">
                <a:blip r:embed="rId3"/>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graphicFrame>
            <p:nvGraphicFramePr>
              <p:cNvPr id="6" name="表格 5"/>
              <p:cNvGraphicFramePr>
                <a:graphicFrameLocks noGrp="1"/>
              </p:cNvGraphicFramePr>
              <p:nvPr>
                <p:extLst>
                  <p:ext uri="{D42A27DB-BD31-4B8C-83A1-F6EECF244321}">
                    <p14:modId xmlns:p14="http://schemas.microsoft.com/office/powerpoint/2010/main" val="2683273100"/>
                  </p:ext>
                </p:extLst>
              </p:nvPr>
            </p:nvGraphicFramePr>
            <p:xfrm>
              <a:off x="1127974" y="4618016"/>
              <a:ext cx="8814514" cy="1671160"/>
            </p:xfrm>
            <a:graphic>
              <a:graphicData uri="http://schemas.openxmlformats.org/drawingml/2006/table">
                <a:tbl>
                  <a:tblPr>
                    <a:tableStyleId>{5C22544A-7EE6-4342-B048-85BDC9FD1C3A}</a:tableStyleId>
                  </a:tblPr>
                  <a:tblGrid>
                    <a:gridCol w="1186569"/>
                    <a:gridCol w="1525589"/>
                    <a:gridCol w="1525589"/>
                    <a:gridCol w="1525589"/>
                    <a:gridCol w="1525589"/>
                    <a:gridCol w="1525589"/>
                  </a:tblGrid>
                  <a:tr h="329636">
                    <a:tc>
                      <a:txBody>
                        <a:bodyPr/>
                        <a:lstStyle/>
                        <a:p>
                          <a:pPr algn="l" fontAlgn="ctr"/>
                          <a14:m>
                            <m:oMathPara xmlns:m="http://schemas.openxmlformats.org/officeDocument/2006/math">
                              <m:oMathParaPr>
                                <m:jc m:val="centerGroup"/>
                              </m:oMathParaPr>
                              <m:oMath xmlns:m="http://schemas.openxmlformats.org/officeDocument/2006/math">
                                <m:sSub>
                                  <m:sSubPr>
                                    <m:ctrlPr>
                                      <a:rPr lang="en-US" altLang="zh-TW" sz="2000" b="0" i="1" u="none" strike="noStrike" smtClean="0">
                                        <a:solidFill>
                                          <a:srgbClr val="000000"/>
                                        </a:solidFill>
                                        <a:effectLst/>
                                        <a:latin typeface="Cambria Math"/>
                                        <a:ea typeface="+mn-ea"/>
                                      </a:rPr>
                                    </m:ctrlPr>
                                  </m:sSubPr>
                                  <m:e>
                                    <m:acc>
                                      <m:accPr>
                                        <m:chr m:val="̅"/>
                                        <m:ctrlPr>
                                          <a:rPr lang="en-US" altLang="zh-TW" sz="2000" b="0" i="1" u="none" strike="noStrike" dirty="0" smtClean="0">
                                            <a:solidFill>
                                              <a:srgbClr val="000000"/>
                                            </a:solidFill>
                                            <a:effectLst/>
                                            <a:latin typeface="Cambria Math"/>
                                            <a:ea typeface="+mn-ea"/>
                                          </a:rPr>
                                        </m:ctrlPr>
                                      </m:accPr>
                                      <m:e>
                                        <m:r>
                                          <a:rPr lang="en-US" altLang="zh-TW" sz="2000" b="0" i="1" u="none" strike="noStrike" dirty="0" smtClean="0">
                                            <a:solidFill>
                                              <a:srgbClr val="000000"/>
                                            </a:solidFill>
                                            <a:effectLst/>
                                            <a:latin typeface="Cambria Math" panose="02040503050406030204" pitchFamily="18" charset="0"/>
                                            <a:ea typeface="+mn-ea"/>
                                          </a:rPr>
                                          <m:t>𝑑</m:t>
                                        </m:r>
                                      </m:e>
                                    </m:acc>
                                  </m:e>
                                  <m:sub>
                                    <m:r>
                                      <a:rPr lang="en-US" altLang="zh-TW" sz="2000" b="0" i="1" u="none" strike="noStrike" smtClean="0">
                                        <a:solidFill>
                                          <a:srgbClr val="000000"/>
                                        </a:solidFill>
                                        <a:effectLst/>
                                        <a:latin typeface="Cambria Math" panose="02040503050406030204" pitchFamily="18" charset="0"/>
                                        <a:ea typeface="+mn-ea"/>
                                      </a:rPr>
                                      <m:t>𝑖𝑗</m:t>
                                    </m:r>
                                  </m:sub>
                                </m:sSub>
                              </m:oMath>
                            </m:oMathPara>
                          </a14:m>
                          <a:endParaRPr lang="zh-TW" altLang="en-US" sz="20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525" marR="9525" marT="9525" marB="0" anchor="ctr"/>
                    </a:tc>
                    <a:tc>
                      <a:txBody>
                        <a:bodyPr/>
                        <a:lstStyle/>
                        <a:p>
                          <a:pPr algn="r" fontAlgn="ctr"/>
                          <a:r>
                            <a:rPr lang="en-US" altLang="zh-TW" sz="2000" u="none" strike="noStrike" dirty="0">
                              <a:effectLst/>
                            </a:rPr>
                            <a:t>1</a:t>
                          </a:r>
                          <a:endParaRPr lang="en-US" altLang="zh-TW" sz="20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525" marR="9525" marT="9525" marB="0" anchor="ctr"/>
                    </a:tc>
                    <a:tc>
                      <a:txBody>
                        <a:bodyPr/>
                        <a:lstStyle/>
                        <a:p>
                          <a:pPr algn="r" fontAlgn="ctr"/>
                          <a:r>
                            <a:rPr lang="en-US" altLang="zh-TW" sz="2000" u="none" strike="noStrike">
                              <a:effectLst/>
                            </a:rPr>
                            <a:t>2</a:t>
                          </a:r>
                          <a:endParaRPr lang="en-US" altLang="zh-TW" sz="2000" b="0" i="0" u="none" strike="noStrike">
                            <a:solidFill>
                              <a:srgbClr val="000000"/>
                            </a:solidFill>
                            <a:effectLst/>
                            <a:latin typeface="新細明體" panose="02020500000000000000" pitchFamily="18" charset="-120"/>
                            <a:ea typeface="新細明體" panose="02020500000000000000" pitchFamily="18" charset="-120"/>
                          </a:endParaRPr>
                        </a:p>
                      </a:txBody>
                      <a:tcPr marL="9525" marR="9525" marT="9525" marB="0" anchor="ctr"/>
                    </a:tc>
                    <a:tc>
                      <a:txBody>
                        <a:bodyPr/>
                        <a:lstStyle/>
                        <a:p>
                          <a:pPr algn="r" fontAlgn="ctr"/>
                          <a:r>
                            <a:rPr lang="en-US" altLang="zh-TW" sz="2000" u="none" strike="noStrike">
                              <a:effectLst/>
                            </a:rPr>
                            <a:t>3</a:t>
                          </a:r>
                          <a:endParaRPr lang="en-US" altLang="zh-TW" sz="2000" b="0" i="0" u="none" strike="noStrike">
                            <a:solidFill>
                              <a:srgbClr val="000000"/>
                            </a:solidFill>
                            <a:effectLst/>
                            <a:latin typeface="新細明體" panose="02020500000000000000" pitchFamily="18" charset="-120"/>
                            <a:ea typeface="新細明體" panose="02020500000000000000" pitchFamily="18" charset="-120"/>
                          </a:endParaRPr>
                        </a:p>
                      </a:txBody>
                      <a:tcPr marL="9525" marR="9525" marT="9525" marB="0" anchor="ctr"/>
                    </a:tc>
                    <a:tc>
                      <a:txBody>
                        <a:bodyPr/>
                        <a:lstStyle/>
                        <a:p>
                          <a:pPr algn="r" fontAlgn="ctr"/>
                          <a:r>
                            <a:rPr lang="en-US" altLang="zh-TW" sz="2000" u="none" strike="noStrike">
                              <a:effectLst/>
                            </a:rPr>
                            <a:t>4</a:t>
                          </a:r>
                          <a:endParaRPr lang="en-US" altLang="zh-TW" sz="2000" b="0" i="0" u="none" strike="noStrike">
                            <a:solidFill>
                              <a:srgbClr val="000000"/>
                            </a:solidFill>
                            <a:effectLst/>
                            <a:latin typeface="新細明體" panose="02020500000000000000" pitchFamily="18" charset="-120"/>
                            <a:ea typeface="新細明體" panose="02020500000000000000" pitchFamily="18" charset="-120"/>
                          </a:endParaRPr>
                        </a:p>
                      </a:txBody>
                      <a:tcPr marL="9525" marR="9525" marT="9525" marB="0" anchor="ctr"/>
                    </a:tc>
                    <a:tc>
                      <a:txBody>
                        <a:bodyPr/>
                        <a:lstStyle/>
                        <a:p>
                          <a:pPr algn="l" fontAlgn="ctr"/>
                          <a14:m>
                            <m:oMathPara xmlns:m="http://schemas.openxmlformats.org/officeDocument/2006/math">
                              <m:oMathParaPr>
                                <m:jc m:val="centerGroup"/>
                              </m:oMathParaPr>
                              <m:oMath xmlns:m="http://schemas.openxmlformats.org/officeDocument/2006/math">
                                <m:sSub>
                                  <m:sSubPr>
                                    <m:ctrlPr>
                                      <a:rPr lang="en-US" altLang="zh-TW" sz="2000" b="0" i="1" u="none" strike="noStrike" smtClean="0">
                                        <a:solidFill>
                                          <a:srgbClr val="FF0000"/>
                                        </a:solidFill>
                                        <a:effectLst/>
                                        <a:latin typeface="Cambria Math"/>
                                        <a:ea typeface="新細明體" panose="02020500000000000000" pitchFamily="18" charset="-120"/>
                                      </a:rPr>
                                    </m:ctrlPr>
                                  </m:sSubPr>
                                  <m:e>
                                    <m:acc>
                                      <m:accPr>
                                        <m:chr m:val="̅"/>
                                        <m:ctrlPr>
                                          <a:rPr lang="en-US" altLang="zh-TW" sz="2000" b="0" i="1" u="none" strike="noStrike" smtClean="0">
                                            <a:solidFill>
                                              <a:srgbClr val="FF0000"/>
                                            </a:solidFill>
                                            <a:effectLst/>
                                            <a:latin typeface="Cambria Math"/>
                                            <a:ea typeface="新細明體" panose="02020500000000000000" pitchFamily="18" charset="-120"/>
                                          </a:rPr>
                                        </m:ctrlPr>
                                      </m:accPr>
                                      <m:e>
                                        <m:r>
                                          <a:rPr lang="en-US" altLang="zh-TW" sz="2000" b="0" i="1" u="none" strike="noStrike" smtClean="0">
                                            <a:solidFill>
                                              <a:srgbClr val="FF0000"/>
                                            </a:solidFill>
                                            <a:effectLst/>
                                            <a:latin typeface="Cambria Math" panose="02040503050406030204" pitchFamily="18" charset="0"/>
                                            <a:ea typeface="新細明體" panose="02020500000000000000" pitchFamily="18" charset="-120"/>
                                          </a:rPr>
                                          <m:t>𝑑</m:t>
                                        </m:r>
                                      </m:e>
                                    </m:acc>
                                  </m:e>
                                  <m:sub>
                                    <m:r>
                                      <a:rPr lang="en-US" altLang="zh-TW" sz="2000" b="0" i="1" u="none" strike="noStrike" smtClean="0">
                                        <a:solidFill>
                                          <a:srgbClr val="FF0000"/>
                                        </a:solidFill>
                                        <a:effectLst/>
                                        <a:latin typeface="Cambria Math" panose="02040503050406030204" pitchFamily="18" charset="0"/>
                                        <a:ea typeface="新細明體" panose="02020500000000000000" pitchFamily="18" charset="-120"/>
                                      </a:rPr>
                                      <m:t>𝑖</m:t>
                                    </m:r>
                                  </m:sub>
                                </m:sSub>
                                <m:r>
                                  <a:rPr lang="en-US" altLang="zh-TW" sz="2000" b="0" i="1" u="none" strike="noStrike" smtClean="0">
                                    <a:solidFill>
                                      <a:srgbClr val="FF0000"/>
                                    </a:solidFill>
                                    <a:effectLst/>
                                    <a:latin typeface="Cambria Math" panose="02040503050406030204" pitchFamily="18" charset="0"/>
                                    <a:ea typeface="新細明體" panose="02020500000000000000" pitchFamily="18" charset="-120"/>
                                  </a:rPr>
                                  <m:t>.</m:t>
                                </m:r>
                              </m:oMath>
                            </m:oMathPara>
                          </a14:m>
                          <a:endParaRPr lang="zh-TW" altLang="en-US" sz="2000" b="0" i="0" u="none" strike="noStrike" dirty="0">
                            <a:solidFill>
                              <a:srgbClr val="FF0000"/>
                            </a:solidFill>
                            <a:effectLst/>
                            <a:latin typeface="新細明體" panose="02020500000000000000" pitchFamily="18" charset="-120"/>
                            <a:ea typeface="新細明體" panose="02020500000000000000" pitchFamily="18" charset="-120"/>
                          </a:endParaRPr>
                        </a:p>
                      </a:txBody>
                      <a:tcPr marL="9525" marR="9525" marT="9525" marB="0" anchor="ctr"/>
                    </a:tc>
                  </a:tr>
                  <a:tr h="329636">
                    <a:tc>
                      <a:txBody>
                        <a:bodyPr/>
                        <a:lstStyle/>
                        <a:p>
                          <a:pPr algn="l" fontAlgn="ctr"/>
                          <a:r>
                            <a:rPr lang="en-US" sz="2000" u="none" strike="noStrike" dirty="0">
                              <a:effectLst/>
                            </a:rPr>
                            <a:t>d1.</a:t>
                          </a:r>
                          <a:endParaRPr lang="en-US" sz="20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525" marR="9525" marT="9525" marB="0" anchor="ctr"/>
                    </a:tc>
                    <a:tc>
                      <a:txBody>
                        <a:bodyPr/>
                        <a:lstStyle/>
                        <a:p>
                          <a:pPr algn="r" fontAlgn="ctr"/>
                          <a:r>
                            <a:rPr lang="en-US" altLang="zh-TW" sz="2000" u="none" strike="noStrike">
                              <a:effectLst/>
                            </a:rPr>
                            <a:t>0.0000 </a:t>
                          </a:r>
                          <a:endParaRPr lang="en-US" altLang="zh-TW" sz="2000" b="0" i="0" u="none" strike="noStrike">
                            <a:solidFill>
                              <a:srgbClr val="000000"/>
                            </a:solidFill>
                            <a:effectLst/>
                            <a:latin typeface="新細明體" panose="02020500000000000000" pitchFamily="18" charset="-120"/>
                            <a:ea typeface="新細明體" panose="02020500000000000000" pitchFamily="18" charset="-120"/>
                          </a:endParaRPr>
                        </a:p>
                      </a:txBody>
                      <a:tcPr marL="9525" marR="9525" marT="9525" marB="0" anchor="ctr"/>
                    </a:tc>
                    <a:tc>
                      <a:txBody>
                        <a:bodyPr/>
                        <a:lstStyle/>
                        <a:p>
                          <a:pPr algn="r" fontAlgn="ctr"/>
                          <a:r>
                            <a:rPr lang="en-US" altLang="zh-TW" sz="2000" u="none" strike="noStrike" dirty="0">
                              <a:effectLst/>
                            </a:rPr>
                            <a:t>-0.291857459</a:t>
                          </a:r>
                          <a:endParaRPr lang="en-US" altLang="zh-TW" sz="20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525" marR="9525" marT="9525" marB="0" anchor="ctr"/>
                    </a:tc>
                    <a:tc>
                      <a:txBody>
                        <a:bodyPr/>
                        <a:lstStyle/>
                        <a:p>
                          <a:pPr algn="r" fontAlgn="ctr"/>
                          <a:r>
                            <a:rPr lang="en-US" altLang="zh-TW" sz="2000" u="none" strike="noStrike">
                              <a:effectLst/>
                            </a:rPr>
                            <a:t>-0.45540151</a:t>
                          </a:r>
                          <a:endParaRPr lang="en-US" altLang="zh-TW" sz="2000" b="0" i="0" u="none" strike="noStrike">
                            <a:solidFill>
                              <a:srgbClr val="000000"/>
                            </a:solidFill>
                            <a:effectLst/>
                            <a:latin typeface="新細明體" panose="02020500000000000000" pitchFamily="18" charset="-120"/>
                            <a:ea typeface="新細明體" panose="02020500000000000000" pitchFamily="18" charset="-120"/>
                          </a:endParaRPr>
                        </a:p>
                      </a:txBody>
                      <a:tcPr marL="9525" marR="9525" marT="9525" marB="0" anchor="ctr"/>
                    </a:tc>
                    <a:tc>
                      <a:txBody>
                        <a:bodyPr/>
                        <a:lstStyle/>
                        <a:p>
                          <a:pPr algn="r" fontAlgn="ctr"/>
                          <a:r>
                            <a:rPr lang="en-US" altLang="zh-TW" sz="2000" u="none" strike="noStrike">
                              <a:effectLst/>
                            </a:rPr>
                            <a:t>-0.33593712</a:t>
                          </a:r>
                          <a:endParaRPr lang="en-US" altLang="zh-TW" sz="2000" b="0" i="0" u="none" strike="noStrike">
                            <a:solidFill>
                              <a:srgbClr val="000000"/>
                            </a:solidFill>
                            <a:effectLst/>
                            <a:latin typeface="新細明體" panose="02020500000000000000" pitchFamily="18" charset="-120"/>
                            <a:ea typeface="新細明體" panose="02020500000000000000" pitchFamily="18" charset="-120"/>
                          </a:endParaRPr>
                        </a:p>
                      </a:txBody>
                      <a:tcPr marL="9525" marR="9525" marT="9525" marB="0" anchor="ctr"/>
                    </a:tc>
                    <a:tc>
                      <a:txBody>
                        <a:bodyPr/>
                        <a:lstStyle/>
                        <a:p>
                          <a:pPr algn="r" fontAlgn="ctr"/>
                          <a:r>
                            <a:rPr lang="en-US" altLang="zh-TW" sz="2000" u="none" strike="noStrike" dirty="0">
                              <a:solidFill>
                                <a:srgbClr val="FF0000"/>
                              </a:solidFill>
                              <a:effectLst/>
                            </a:rPr>
                            <a:t>-0.2708 </a:t>
                          </a:r>
                          <a:endParaRPr lang="en-US" altLang="zh-TW" sz="2000" b="0" i="0" u="none" strike="noStrike" dirty="0">
                            <a:solidFill>
                              <a:srgbClr val="FF0000"/>
                            </a:solidFill>
                            <a:effectLst/>
                            <a:latin typeface="新細明體" panose="02020500000000000000" pitchFamily="18" charset="-120"/>
                            <a:ea typeface="新細明體" panose="02020500000000000000" pitchFamily="18" charset="-120"/>
                          </a:endParaRPr>
                        </a:p>
                      </a:txBody>
                      <a:tcPr marL="9525" marR="9525" marT="9525" marB="0" anchor="ctr"/>
                    </a:tc>
                  </a:tr>
                  <a:tr h="329636">
                    <a:tc>
                      <a:txBody>
                        <a:bodyPr/>
                        <a:lstStyle/>
                        <a:p>
                          <a:pPr algn="l" fontAlgn="ctr"/>
                          <a:r>
                            <a:rPr lang="en-US" sz="2000" u="none" strike="noStrike">
                              <a:effectLst/>
                            </a:rPr>
                            <a:t>d2.</a:t>
                          </a:r>
                          <a:endParaRPr lang="en-US" sz="2000" b="0" i="0" u="none" strike="noStrike">
                            <a:solidFill>
                              <a:srgbClr val="000000"/>
                            </a:solidFill>
                            <a:effectLst/>
                            <a:latin typeface="新細明體" panose="02020500000000000000" pitchFamily="18" charset="-120"/>
                            <a:ea typeface="新細明體" panose="02020500000000000000" pitchFamily="18" charset="-120"/>
                          </a:endParaRPr>
                        </a:p>
                      </a:txBody>
                      <a:tcPr marL="9525" marR="9525" marT="9525" marB="0" anchor="ctr"/>
                    </a:tc>
                    <a:tc>
                      <a:txBody>
                        <a:bodyPr/>
                        <a:lstStyle/>
                        <a:p>
                          <a:pPr algn="r" fontAlgn="ctr"/>
                          <a:r>
                            <a:rPr lang="en-US" altLang="zh-TW" sz="2000" u="none" strike="noStrike">
                              <a:effectLst/>
                            </a:rPr>
                            <a:t>-0.291857459</a:t>
                          </a:r>
                          <a:endParaRPr lang="en-US" altLang="zh-TW" sz="2000" b="0" i="0" u="none" strike="noStrike">
                            <a:solidFill>
                              <a:srgbClr val="000000"/>
                            </a:solidFill>
                            <a:effectLst/>
                            <a:latin typeface="新細明體" panose="02020500000000000000" pitchFamily="18" charset="-120"/>
                            <a:ea typeface="新細明體" panose="02020500000000000000" pitchFamily="18" charset="-120"/>
                          </a:endParaRPr>
                        </a:p>
                      </a:txBody>
                      <a:tcPr marL="9525" marR="9525" marT="9525" marB="0" anchor="ctr"/>
                    </a:tc>
                    <a:tc>
                      <a:txBody>
                        <a:bodyPr/>
                        <a:lstStyle/>
                        <a:p>
                          <a:pPr algn="r" fontAlgn="ctr"/>
                          <a:r>
                            <a:rPr lang="en-US" altLang="zh-TW" sz="2000" u="none" strike="noStrike">
                              <a:effectLst/>
                            </a:rPr>
                            <a:t>0</a:t>
                          </a:r>
                          <a:endParaRPr lang="en-US" altLang="zh-TW" sz="2000" b="0" i="0" u="none" strike="noStrike">
                            <a:solidFill>
                              <a:srgbClr val="000000"/>
                            </a:solidFill>
                            <a:effectLst/>
                            <a:latin typeface="新細明體" panose="02020500000000000000" pitchFamily="18" charset="-120"/>
                            <a:ea typeface="新細明體" panose="02020500000000000000" pitchFamily="18" charset="-120"/>
                          </a:endParaRPr>
                        </a:p>
                      </a:txBody>
                      <a:tcPr marL="9525" marR="9525" marT="9525" marB="0" anchor="ctr"/>
                    </a:tc>
                    <a:tc>
                      <a:txBody>
                        <a:bodyPr/>
                        <a:lstStyle/>
                        <a:p>
                          <a:pPr algn="r" fontAlgn="ctr"/>
                          <a:r>
                            <a:rPr lang="en-US" altLang="zh-TW" sz="2000" u="none" strike="noStrike">
                              <a:effectLst/>
                            </a:rPr>
                            <a:t>-0.163544051</a:t>
                          </a:r>
                          <a:endParaRPr lang="en-US" altLang="zh-TW" sz="2000" b="0" i="0" u="none" strike="noStrike">
                            <a:solidFill>
                              <a:srgbClr val="000000"/>
                            </a:solidFill>
                            <a:effectLst/>
                            <a:latin typeface="新細明體" panose="02020500000000000000" pitchFamily="18" charset="-120"/>
                            <a:ea typeface="新細明體" panose="02020500000000000000" pitchFamily="18" charset="-120"/>
                          </a:endParaRPr>
                        </a:p>
                      </a:txBody>
                      <a:tcPr marL="9525" marR="9525" marT="9525" marB="0" anchor="ctr"/>
                    </a:tc>
                    <a:tc>
                      <a:txBody>
                        <a:bodyPr/>
                        <a:lstStyle/>
                        <a:p>
                          <a:pPr algn="r" fontAlgn="ctr"/>
                          <a:r>
                            <a:rPr lang="en-US" altLang="zh-TW" sz="2000" u="none" strike="noStrike">
                              <a:effectLst/>
                            </a:rPr>
                            <a:t>-0.044079661</a:t>
                          </a:r>
                          <a:endParaRPr lang="en-US" altLang="zh-TW" sz="2000" b="0" i="0" u="none" strike="noStrike">
                            <a:solidFill>
                              <a:srgbClr val="000000"/>
                            </a:solidFill>
                            <a:effectLst/>
                            <a:latin typeface="新細明體" panose="02020500000000000000" pitchFamily="18" charset="-120"/>
                            <a:ea typeface="新細明體" panose="02020500000000000000" pitchFamily="18" charset="-120"/>
                          </a:endParaRPr>
                        </a:p>
                      </a:txBody>
                      <a:tcPr marL="9525" marR="9525" marT="9525" marB="0" anchor="ctr"/>
                    </a:tc>
                    <a:tc>
                      <a:txBody>
                        <a:bodyPr/>
                        <a:lstStyle/>
                        <a:p>
                          <a:pPr algn="r" fontAlgn="ctr"/>
                          <a:r>
                            <a:rPr lang="en-US" altLang="zh-TW" sz="2000" u="none" strike="noStrike" dirty="0">
                              <a:solidFill>
                                <a:srgbClr val="FF0000"/>
                              </a:solidFill>
                              <a:effectLst/>
                            </a:rPr>
                            <a:t>-0.1249 </a:t>
                          </a:r>
                          <a:endParaRPr lang="en-US" altLang="zh-TW" sz="2000" b="0" i="0" u="none" strike="noStrike" dirty="0">
                            <a:solidFill>
                              <a:srgbClr val="FF0000"/>
                            </a:solidFill>
                            <a:effectLst/>
                            <a:latin typeface="新細明體" panose="02020500000000000000" pitchFamily="18" charset="-120"/>
                            <a:ea typeface="新細明體" panose="02020500000000000000" pitchFamily="18" charset="-120"/>
                          </a:endParaRPr>
                        </a:p>
                      </a:txBody>
                      <a:tcPr marL="9525" marR="9525" marT="9525" marB="0" anchor="ctr"/>
                    </a:tc>
                  </a:tr>
                  <a:tr h="329636">
                    <a:tc>
                      <a:txBody>
                        <a:bodyPr/>
                        <a:lstStyle/>
                        <a:p>
                          <a:pPr algn="l" fontAlgn="ctr"/>
                          <a:r>
                            <a:rPr lang="en-US" sz="2000" u="none" strike="noStrike">
                              <a:effectLst/>
                            </a:rPr>
                            <a:t>d3.</a:t>
                          </a:r>
                          <a:endParaRPr lang="en-US" sz="2000" b="0" i="0" u="none" strike="noStrike">
                            <a:solidFill>
                              <a:srgbClr val="000000"/>
                            </a:solidFill>
                            <a:effectLst/>
                            <a:latin typeface="新細明體" panose="02020500000000000000" pitchFamily="18" charset="-120"/>
                            <a:ea typeface="新細明體" panose="02020500000000000000" pitchFamily="18" charset="-120"/>
                          </a:endParaRPr>
                        </a:p>
                      </a:txBody>
                      <a:tcPr marL="9525" marR="9525" marT="9525" marB="0" anchor="ctr"/>
                    </a:tc>
                    <a:tc>
                      <a:txBody>
                        <a:bodyPr/>
                        <a:lstStyle/>
                        <a:p>
                          <a:pPr algn="r" fontAlgn="ctr"/>
                          <a:r>
                            <a:rPr lang="en-US" altLang="zh-TW" sz="2000" u="none" strike="noStrike">
                              <a:effectLst/>
                            </a:rPr>
                            <a:t>-0.45540151</a:t>
                          </a:r>
                          <a:endParaRPr lang="en-US" altLang="zh-TW" sz="2000" b="0" i="0" u="none" strike="noStrike">
                            <a:solidFill>
                              <a:srgbClr val="000000"/>
                            </a:solidFill>
                            <a:effectLst/>
                            <a:latin typeface="新細明體" panose="02020500000000000000" pitchFamily="18" charset="-120"/>
                            <a:ea typeface="新細明體" panose="02020500000000000000" pitchFamily="18" charset="-120"/>
                          </a:endParaRPr>
                        </a:p>
                      </a:txBody>
                      <a:tcPr marL="9525" marR="9525" marT="9525" marB="0" anchor="ctr"/>
                    </a:tc>
                    <a:tc>
                      <a:txBody>
                        <a:bodyPr/>
                        <a:lstStyle/>
                        <a:p>
                          <a:pPr algn="r" fontAlgn="ctr"/>
                          <a:r>
                            <a:rPr lang="en-US" altLang="zh-TW" sz="2000" u="none" strike="noStrike">
                              <a:effectLst/>
                            </a:rPr>
                            <a:t>-0.163544051</a:t>
                          </a:r>
                          <a:endParaRPr lang="en-US" altLang="zh-TW" sz="2000" b="0" i="0" u="none" strike="noStrike">
                            <a:solidFill>
                              <a:srgbClr val="000000"/>
                            </a:solidFill>
                            <a:effectLst/>
                            <a:latin typeface="新細明體" panose="02020500000000000000" pitchFamily="18" charset="-120"/>
                            <a:ea typeface="新細明體" panose="02020500000000000000" pitchFamily="18" charset="-120"/>
                          </a:endParaRPr>
                        </a:p>
                      </a:txBody>
                      <a:tcPr marL="9525" marR="9525" marT="9525" marB="0" anchor="ctr"/>
                    </a:tc>
                    <a:tc>
                      <a:txBody>
                        <a:bodyPr/>
                        <a:lstStyle/>
                        <a:p>
                          <a:pPr algn="r" fontAlgn="ctr"/>
                          <a:r>
                            <a:rPr lang="en-US" altLang="zh-TW" sz="2000" u="none" strike="noStrike">
                              <a:effectLst/>
                            </a:rPr>
                            <a:t>0</a:t>
                          </a:r>
                          <a:endParaRPr lang="en-US" altLang="zh-TW" sz="2000" b="0" i="0" u="none" strike="noStrike">
                            <a:solidFill>
                              <a:srgbClr val="000000"/>
                            </a:solidFill>
                            <a:effectLst/>
                            <a:latin typeface="新細明體" panose="02020500000000000000" pitchFamily="18" charset="-120"/>
                            <a:ea typeface="新細明體" panose="02020500000000000000" pitchFamily="18" charset="-120"/>
                          </a:endParaRPr>
                        </a:p>
                      </a:txBody>
                      <a:tcPr marL="9525" marR="9525" marT="9525" marB="0" anchor="ctr"/>
                    </a:tc>
                    <a:tc>
                      <a:txBody>
                        <a:bodyPr/>
                        <a:lstStyle/>
                        <a:p>
                          <a:pPr algn="r" fontAlgn="ctr"/>
                          <a:r>
                            <a:rPr lang="en-US" altLang="zh-TW" sz="2000" u="none" strike="noStrike">
                              <a:effectLst/>
                            </a:rPr>
                            <a:t>0.11946439</a:t>
                          </a:r>
                          <a:endParaRPr lang="en-US" altLang="zh-TW" sz="2000" b="0" i="0" u="none" strike="noStrike">
                            <a:solidFill>
                              <a:srgbClr val="000000"/>
                            </a:solidFill>
                            <a:effectLst/>
                            <a:latin typeface="新細明體" panose="02020500000000000000" pitchFamily="18" charset="-120"/>
                            <a:ea typeface="新細明體" panose="02020500000000000000" pitchFamily="18" charset="-120"/>
                          </a:endParaRPr>
                        </a:p>
                      </a:txBody>
                      <a:tcPr marL="9525" marR="9525" marT="9525" marB="0" anchor="ctr"/>
                    </a:tc>
                    <a:tc>
                      <a:txBody>
                        <a:bodyPr/>
                        <a:lstStyle/>
                        <a:p>
                          <a:pPr algn="r" fontAlgn="ctr"/>
                          <a:r>
                            <a:rPr lang="en-US" altLang="zh-TW" sz="2000" u="none" strike="noStrike" dirty="0">
                              <a:solidFill>
                                <a:srgbClr val="FF0000"/>
                              </a:solidFill>
                              <a:effectLst/>
                            </a:rPr>
                            <a:t>-0.1249 </a:t>
                          </a:r>
                          <a:endParaRPr lang="en-US" altLang="zh-TW" sz="2000" b="0" i="0" u="none" strike="noStrike" dirty="0">
                            <a:solidFill>
                              <a:srgbClr val="FF0000"/>
                            </a:solidFill>
                            <a:effectLst/>
                            <a:latin typeface="新細明體" panose="02020500000000000000" pitchFamily="18" charset="-120"/>
                            <a:ea typeface="新細明體" panose="02020500000000000000" pitchFamily="18" charset="-120"/>
                          </a:endParaRPr>
                        </a:p>
                      </a:txBody>
                      <a:tcPr marL="9525" marR="9525" marT="9525" marB="0" anchor="ctr"/>
                    </a:tc>
                  </a:tr>
                  <a:tr h="329636">
                    <a:tc>
                      <a:txBody>
                        <a:bodyPr/>
                        <a:lstStyle/>
                        <a:p>
                          <a:pPr algn="l" fontAlgn="ctr"/>
                          <a:r>
                            <a:rPr lang="en-US" sz="2000" u="none" strike="noStrike">
                              <a:effectLst/>
                            </a:rPr>
                            <a:t>d4.</a:t>
                          </a:r>
                          <a:endParaRPr lang="en-US" sz="2000" b="0" i="0" u="none" strike="noStrike">
                            <a:solidFill>
                              <a:srgbClr val="000000"/>
                            </a:solidFill>
                            <a:effectLst/>
                            <a:latin typeface="新細明體" panose="02020500000000000000" pitchFamily="18" charset="-120"/>
                            <a:ea typeface="新細明體" panose="02020500000000000000" pitchFamily="18" charset="-120"/>
                          </a:endParaRPr>
                        </a:p>
                      </a:txBody>
                      <a:tcPr marL="9525" marR="9525" marT="9525" marB="0" anchor="ctr"/>
                    </a:tc>
                    <a:tc>
                      <a:txBody>
                        <a:bodyPr/>
                        <a:lstStyle/>
                        <a:p>
                          <a:pPr algn="r" fontAlgn="ctr"/>
                          <a:r>
                            <a:rPr lang="en-US" altLang="zh-TW" sz="2000" u="none" strike="noStrike">
                              <a:effectLst/>
                            </a:rPr>
                            <a:t>-0.33593712</a:t>
                          </a:r>
                          <a:endParaRPr lang="en-US" altLang="zh-TW" sz="2000" b="0" i="0" u="none" strike="noStrike">
                            <a:solidFill>
                              <a:srgbClr val="000000"/>
                            </a:solidFill>
                            <a:effectLst/>
                            <a:latin typeface="新細明體" panose="02020500000000000000" pitchFamily="18" charset="-120"/>
                            <a:ea typeface="新細明體" panose="02020500000000000000" pitchFamily="18" charset="-120"/>
                          </a:endParaRPr>
                        </a:p>
                      </a:txBody>
                      <a:tcPr marL="9525" marR="9525" marT="9525" marB="0" anchor="ctr"/>
                    </a:tc>
                    <a:tc>
                      <a:txBody>
                        <a:bodyPr/>
                        <a:lstStyle/>
                        <a:p>
                          <a:pPr algn="r" fontAlgn="ctr"/>
                          <a:r>
                            <a:rPr lang="en-US" altLang="zh-TW" sz="2000" u="none" strike="noStrike">
                              <a:effectLst/>
                            </a:rPr>
                            <a:t>-0.044079661</a:t>
                          </a:r>
                          <a:endParaRPr lang="en-US" altLang="zh-TW" sz="2000" b="0" i="0" u="none" strike="noStrike">
                            <a:solidFill>
                              <a:srgbClr val="000000"/>
                            </a:solidFill>
                            <a:effectLst/>
                            <a:latin typeface="新細明體" panose="02020500000000000000" pitchFamily="18" charset="-120"/>
                            <a:ea typeface="新細明體" panose="02020500000000000000" pitchFamily="18" charset="-120"/>
                          </a:endParaRPr>
                        </a:p>
                      </a:txBody>
                      <a:tcPr marL="9525" marR="9525" marT="9525" marB="0" anchor="ctr"/>
                    </a:tc>
                    <a:tc>
                      <a:txBody>
                        <a:bodyPr/>
                        <a:lstStyle/>
                        <a:p>
                          <a:pPr algn="r" fontAlgn="ctr"/>
                          <a:r>
                            <a:rPr lang="en-US" altLang="zh-TW" sz="2000" u="none" strike="noStrike">
                              <a:effectLst/>
                            </a:rPr>
                            <a:t>0.11946439</a:t>
                          </a:r>
                          <a:endParaRPr lang="en-US" altLang="zh-TW" sz="2000" b="0" i="0" u="none" strike="noStrike">
                            <a:solidFill>
                              <a:srgbClr val="000000"/>
                            </a:solidFill>
                            <a:effectLst/>
                            <a:latin typeface="新細明體" panose="02020500000000000000" pitchFamily="18" charset="-120"/>
                            <a:ea typeface="新細明體" panose="02020500000000000000" pitchFamily="18" charset="-120"/>
                          </a:endParaRPr>
                        </a:p>
                      </a:txBody>
                      <a:tcPr marL="9525" marR="9525" marT="9525" marB="0" anchor="ctr"/>
                    </a:tc>
                    <a:tc>
                      <a:txBody>
                        <a:bodyPr/>
                        <a:lstStyle/>
                        <a:p>
                          <a:pPr algn="r" fontAlgn="ctr"/>
                          <a:r>
                            <a:rPr lang="en-US" altLang="zh-TW" sz="2000" u="none" strike="noStrike">
                              <a:effectLst/>
                            </a:rPr>
                            <a:t>0</a:t>
                          </a:r>
                          <a:endParaRPr lang="en-US" altLang="zh-TW" sz="2000" b="0" i="0" u="none" strike="noStrike">
                            <a:solidFill>
                              <a:srgbClr val="000000"/>
                            </a:solidFill>
                            <a:effectLst/>
                            <a:latin typeface="新細明體" panose="02020500000000000000" pitchFamily="18" charset="-120"/>
                            <a:ea typeface="新細明體" panose="02020500000000000000" pitchFamily="18" charset="-120"/>
                          </a:endParaRPr>
                        </a:p>
                      </a:txBody>
                      <a:tcPr marL="9525" marR="9525" marT="9525" marB="0" anchor="ctr"/>
                    </a:tc>
                    <a:tc>
                      <a:txBody>
                        <a:bodyPr/>
                        <a:lstStyle/>
                        <a:p>
                          <a:pPr algn="r" fontAlgn="ctr"/>
                          <a:r>
                            <a:rPr lang="en-US" altLang="zh-TW" sz="2000" u="none" strike="noStrike" dirty="0">
                              <a:solidFill>
                                <a:srgbClr val="FF0000"/>
                              </a:solidFill>
                              <a:effectLst/>
                            </a:rPr>
                            <a:t>-0.0651 </a:t>
                          </a:r>
                          <a:endParaRPr lang="en-US" altLang="zh-TW" sz="2000" b="0" i="0" u="none" strike="noStrike" dirty="0">
                            <a:solidFill>
                              <a:srgbClr val="FF0000"/>
                            </a:solidFill>
                            <a:effectLst/>
                            <a:latin typeface="新細明體" panose="02020500000000000000" pitchFamily="18" charset="-120"/>
                            <a:ea typeface="新細明體" panose="02020500000000000000" pitchFamily="18" charset="-120"/>
                          </a:endParaRPr>
                        </a:p>
                      </a:txBody>
                      <a:tcPr marL="9525" marR="9525" marT="9525" marB="0" anchor="ctr"/>
                    </a:tc>
                  </a:tr>
                </a:tbl>
              </a:graphicData>
            </a:graphic>
          </p:graphicFrame>
        </mc:Choice>
        <mc:Fallback xmlns="">
          <p:graphicFrame>
            <p:nvGraphicFramePr>
              <p:cNvPr id="6" name="表格 5"/>
              <p:cNvGraphicFramePr>
                <a:graphicFrameLocks noGrp="1"/>
              </p:cNvGraphicFramePr>
              <p:nvPr>
                <p:extLst>
                  <p:ext uri="{D42A27DB-BD31-4B8C-83A1-F6EECF244321}">
                    <p14:modId xmlns:p14="http://schemas.microsoft.com/office/powerpoint/2010/main" val="2683273100"/>
                  </p:ext>
                </p:extLst>
              </p:nvPr>
            </p:nvGraphicFramePr>
            <p:xfrm>
              <a:off x="1127974" y="4618016"/>
              <a:ext cx="8814514" cy="1671160"/>
            </p:xfrm>
            <a:graphic>
              <a:graphicData uri="http://schemas.openxmlformats.org/drawingml/2006/table">
                <a:tbl>
                  <a:tblPr>
                    <a:tableStyleId>{5C22544A-7EE6-4342-B048-85BDC9FD1C3A}</a:tableStyleId>
                  </a:tblPr>
                  <a:tblGrid>
                    <a:gridCol w="1186569"/>
                    <a:gridCol w="1525589"/>
                    <a:gridCol w="1525589"/>
                    <a:gridCol w="1525589"/>
                    <a:gridCol w="1525589"/>
                    <a:gridCol w="1525589"/>
                  </a:tblGrid>
                  <a:tr h="352616">
                    <a:tc>
                      <a:txBody>
                        <a:bodyPr/>
                        <a:lstStyle/>
                        <a:p>
                          <a:endParaRPr lang="zh-TW"/>
                        </a:p>
                      </a:txBody>
                      <a:tcPr marL="9525" marR="9525" marT="9525" marB="0" anchor="ctr">
                        <a:blipFill rotWithShape="0">
                          <a:blip r:embed="rId4"/>
                          <a:stretch>
                            <a:fillRect l="-1026" t="-13793" r="-643077" b="-415517"/>
                          </a:stretch>
                        </a:blipFill>
                      </a:tcPr>
                    </a:tc>
                    <a:tc>
                      <a:txBody>
                        <a:bodyPr/>
                        <a:lstStyle/>
                        <a:p>
                          <a:pPr algn="r" fontAlgn="ctr"/>
                          <a:r>
                            <a:rPr lang="en-US" altLang="zh-TW" sz="2000" u="none" strike="noStrike" dirty="0">
                              <a:effectLst/>
                            </a:rPr>
                            <a:t>1</a:t>
                          </a:r>
                          <a:endParaRPr lang="en-US" altLang="zh-TW" sz="20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525" marR="9525" marT="9525" marB="0" anchor="ctr"/>
                    </a:tc>
                    <a:tc>
                      <a:txBody>
                        <a:bodyPr/>
                        <a:lstStyle/>
                        <a:p>
                          <a:pPr algn="r" fontAlgn="ctr"/>
                          <a:r>
                            <a:rPr lang="en-US" altLang="zh-TW" sz="2000" u="none" strike="noStrike">
                              <a:effectLst/>
                            </a:rPr>
                            <a:t>2</a:t>
                          </a:r>
                          <a:endParaRPr lang="en-US" altLang="zh-TW" sz="2000" b="0" i="0" u="none" strike="noStrike">
                            <a:solidFill>
                              <a:srgbClr val="000000"/>
                            </a:solidFill>
                            <a:effectLst/>
                            <a:latin typeface="新細明體" panose="02020500000000000000" pitchFamily="18" charset="-120"/>
                            <a:ea typeface="新細明體" panose="02020500000000000000" pitchFamily="18" charset="-120"/>
                          </a:endParaRPr>
                        </a:p>
                      </a:txBody>
                      <a:tcPr marL="9525" marR="9525" marT="9525" marB="0" anchor="ctr"/>
                    </a:tc>
                    <a:tc>
                      <a:txBody>
                        <a:bodyPr/>
                        <a:lstStyle/>
                        <a:p>
                          <a:pPr algn="r" fontAlgn="ctr"/>
                          <a:r>
                            <a:rPr lang="en-US" altLang="zh-TW" sz="2000" u="none" strike="noStrike">
                              <a:effectLst/>
                            </a:rPr>
                            <a:t>3</a:t>
                          </a:r>
                          <a:endParaRPr lang="en-US" altLang="zh-TW" sz="2000" b="0" i="0" u="none" strike="noStrike">
                            <a:solidFill>
                              <a:srgbClr val="000000"/>
                            </a:solidFill>
                            <a:effectLst/>
                            <a:latin typeface="新細明體" panose="02020500000000000000" pitchFamily="18" charset="-120"/>
                            <a:ea typeface="新細明體" panose="02020500000000000000" pitchFamily="18" charset="-120"/>
                          </a:endParaRPr>
                        </a:p>
                      </a:txBody>
                      <a:tcPr marL="9525" marR="9525" marT="9525" marB="0" anchor="ctr"/>
                    </a:tc>
                    <a:tc>
                      <a:txBody>
                        <a:bodyPr/>
                        <a:lstStyle/>
                        <a:p>
                          <a:pPr algn="r" fontAlgn="ctr"/>
                          <a:r>
                            <a:rPr lang="en-US" altLang="zh-TW" sz="2000" u="none" strike="noStrike">
                              <a:effectLst/>
                            </a:rPr>
                            <a:t>4</a:t>
                          </a:r>
                          <a:endParaRPr lang="en-US" altLang="zh-TW" sz="2000" b="0" i="0" u="none" strike="noStrike">
                            <a:solidFill>
                              <a:srgbClr val="000000"/>
                            </a:solidFill>
                            <a:effectLst/>
                            <a:latin typeface="新細明體" panose="02020500000000000000" pitchFamily="18" charset="-120"/>
                            <a:ea typeface="新細明體" panose="02020500000000000000" pitchFamily="18" charset="-120"/>
                          </a:endParaRPr>
                        </a:p>
                      </a:txBody>
                      <a:tcPr marL="9525" marR="9525" marT="9525" marB="0" anchor="ctr"/>
                    </a:tc>
                    <a:tc>
                      <a:txBody>
                        <a:bodyPr/>
                        <a:lstStyle/>
                        <a:p>
                          <a:endParaRPr lang="zh-TW"/>
                        </a:p>
                      </a:txBody>
                      <a:tcPr marL="9525" marR="9525" marT="9525" marB="0" anchor="ctr">
                        <a:blipFill rotWithShape="0">
                          <a:blip r:embed="rId4"/>
                          <a:stretch>
                            <a:fillRect l="-479200" t="-13793" r="-1200" b="-415517"/>
                          </a:stretch>
                        </a:blipFill>
                      </a:tcPr>
                    </a:tc>
                  </a:tr>
                  <a:tr h="329636">
                    <a:tc>
                      <a:txBody>
                        <a:bodyPr/>
                        <a:lstStyle/>
                        <a:p>
                          <a:pPr algn="l" fontAlgn="ctr"/>
                          <a:r>
                            <a:rPr lang="en-US" sz="2000" u="none" strike="noStrike" dirty="0">
                              <a:effectLst/>
                            </a:rPr>
                            <a:t>d1.</a:t>
                          </a:r>
                          <a:endParaRPr lang="en-US" sz="20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525" marR="9525" marT="9525" marB="0" anchor="ctr"/>
                    </a:tc>
                    <a:tc>
                      <a:txBody>
                        <a:bodyPr/>
                        <a:lstStyle/>
                        <a:p>
                          <a:pPr algn="r" fontAlgn="ctr"/>
                          <a:r>
                            <a:rPr lang="en-US" altLang="zh-TW" sz="2000" u="none" strike="noStrike">
                              <a:effectLst/>
                            </a:rPr>
                            <a:t>0.0000 </a:t>
                          </a:r>
                          <a:endParaRPr lang="en-US" altLang="zh-TW" sz="2000" b="0" i="0" u="none" strike="noStrike">
                            <a:solidFill>
                              <a:srgbClr val="000000"/>
                            </a:solidFill>
                            <a:effectLst/>
                            <a:latin typeface="新細明體" panose="02020500000000000000" pitchFamily="18" charset="-120"/>
                            <a:ea typeface="新細明體" panose="02020500000000000000" pitchFamily="18" charset="-120"/>
                          </a:endParaRPr>
                        </a:p>
                      </a:txBody>
                      <a:tcPr marL="9525" marR="9525" marT="9525" marB="0" anchor="ctr"/>
                    </a:tc>
                    <a:tc>
                      <a:txBody>
                        <a:bodyPr/>
                        <a:lstStyle/>
                        <a:p>
                          <a:pPr algn="r" fontAlgn="ctr"/>
                          <a:r>
                            <a:rPr lang="en-US" altLang="zh-TW" sz="2000" u="none" strike="noStrike" dirty="0">
                              <a:effectLst/>
                            </a:rPr>
                            <a:t>-0.291857459</a:t>
                          </a:r>
                          <a:endParaRPr lang="en-US" altLang="zh-TW" sz="20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525" marR="9525" marT="9525" marB="0" anchor="ctr"/>
                    </a:tc>
                    <a:tc>
                      <a:txBody>
                        <a:bodyPr/>
                        <a:lstStyle/>
                        <a:p>
                          <a:pPr algn="r" fontAlgn="ctr"/>
                          <a:r>
                            <a:rPr lang="en-US" altLang="zh-TW" sz="2000" u="none" strike="noStrike">
                              <a:effectLst/>
                            </a:rPr>
                            <a:t>-0.45540151</a:t>
                          </a:r>
                          <a:endParaRPr lang="en-US" altLang="zh-TW" sz="2000" b="0" i="0" u="none" strike="noStrike">
                            <a:solidFill>
                              <a:srgbClr val="000000"/>
                            </a:solidFill>
                            <a:effectLst/>
                            <a:latin typeface="新細明體" panose="02020500000000000000" pitchFamily="18" charset="-120"/>
                            <a:ea typeface="新細明體" panose="02020500000000000000" pitchFamily="18" charset="-120"/>
                          </a:endParaRPr>
                        </a:p>
                      </a:txBody>
                      <a:tcPr marL="9525" marR="9525" marT="9525" marB="0" anchor="ctr"/>
                    </a:tc>
                    <a:tc>
                      <a:txBody>
                        <a:bodyPr/>
                        <a:lstStyle/>
                        <a:p>
                          <a:pPr algn="r" fontAlgn="ctr"/>
                          <a:r>
                            <a:rPr lang="en-US" altLang="zh-TW" sz="2000" u="none" strike="noStrike">
                              <a:effectLst/>
                            </a:rPr>
                            <a:t>-0.33593712</a:t>
                          </a:r>
                          <a:endParaRPr lang="en-US" altLang="zh-TW" sz="2000" b="0" i="0" u="none" strike="noStrike">
                            <a:solidFill>
                              <a:srgbClr val="000000"/>
                            </a:solidFill>
                            <a:effectLst/>
                            <a:latin typeface="新細明體" panose="02020500000000000000" pitchFamily="18" charset="-120"/>
                            <a:ea typeface="新細明體" panose="02020500000000000000" pitchFamily="18" charset="-120"/>
                          </a:endParaRPr>
                        </a:p>
                      </a:txBody>
                      <a:tcPr marL="9525" marR="9525" marT="9525" marB="0" anchor="ctr"/>
                    </a:tc>
                    <a:tc>
                      <a:txBody>
                        <a:bodyPr/>
                        <a:lstStyle/>
                        <a:p>
                          <a:pPr algn="r" fontAlgn="ctr"/>
                          <a:r>
                            <a:rPr lang="en-US" altLang="zh-TW" sz="2000" u="none" strike="noStrike" dirty="0">
                              <a:solidFill>
                                <a:srgbClr val="FF0000"/>
                              </a:solidFill>
                              <a:effectLst/>
                            </a:rPr>
                            <a:t>-0.2708 </a:t>
                          </a:r>
                          <a:endParaRPr lang="en-US" altLang="zh-TW" sz="2000" b="0" i="0" u="none" strike="noStrike" dirty="0">
                            <a:solidFill>
                              <a:srgbClr val="FF0000"/>
                            </a:solidFill>
                            <a:effectLst/>
                            <a:latin typeface="新細明體" panose="02020500000000000000" pitchFamily="18" charset="-120"/>
                            <a:ea typeface="新細明體" panose="02020500000000000000" pitchFamily="18" charset="-120"/>
                          </a:endParaRPr>
                        </a:p>
                      </a:txBody>
                      <a:tcPr marL="9525" marR="9525" marT="9525" marB="0" anchor="ctr"/>
                    </a:tc>
                  </a:tr>
                  <a:tr h="329636">
                    <a:tc>
                      <a:txBody>
                        <a:bodyPr/>
                        <a:lstStyle/>
                        <a:p>
                          <a:pPr algn="l" fontAlgn="ctr"/>
                          <a:r>
                            <a:rPr lang="en-US" sz="2000" u="none" strike="noStrike">
                              <a:effectLst/>
                            </a:rPr>
                            <a:t>d2.</a:t>
                          </a:r>
                          <a:endParaRPr lang="en-US" sz="2000" b="0" i="0" u="none" strike="noStrike">
                            <a:solidFill>
                              <a:srgbClr val="000000"/>
                            </a:solidFill>
                            <a:effectLst/>
                            <a:latin typeface="新細明體" panose="02020500000000000000" pitchFamily="18" charset="-120"/>
                            <a:ea typeface="新細明體" panose="02020500000000000000" pitchFamily="18" charset="-120"/>
                          </a:endParaRPr>
                        </a:p>
                      </a:txBody>
                      <a:tcPr marL="9525" marR="9525" marT="9525" marB="0" anchor="ctr"/>
                    </a:tc>
                    <a:tc>
                      <a:txBody>
                        <a:bodyPr/>
                        <a:lstStyle/>
                        <a:p>
                          <a:pPr algn="r" fontAlgn="ctr"/>
                          <a:r>
                            <a:rPr lang="en-US" altLang="zh-TW" sz="2000" u="none" strike="noStrike">
                              <a:effectLst/>
                            </a:rPr>
                            <a:t>-0.291857459</a:t>
                          </a:r>
                          <a:endParaRPr lang="en-US" altLang="zh-TW" sz="2000" b="0" i="0" u="none" strike="noStrike">
                            <a:solidFill>
                              <a:srgbClr val="000000"/>
                            </a:solidFill>
                            <a:effectLst/>
                            <a:latin typeface="新細明體" panose="02020500000000000000" pitchFamily="18" charset="-120"/>
                            <a:ea typeface="新細明體" panose="02020500000000000000" pitchFamily="18" charset="-120"/>
                          </a:endParaRPr>
                        </a:p>
                      </a:txBody>
                      <a:tcPr marL="9525" marR="9525" marT="9525" marB="0" anchor="ctr"/>
                    </a:tc>
                    <a:tc>
                      <a:txBody>
                        <a:bodyPr/>
                        <a:lstStyle/>
                        <a:p>
                          <a:pPr algn="r" fontAlgn="ctr"/>
                          <a:r>
                            <a:rPr lang="en-US" altLang="zh-TW" sz="2000" u="none" strike="noStrike">
                              <a:effectLst/>
                            </a:rPr>
                            <a:t>0</a:t>
                          </a:r>
                          <a:endParaRPr lang="en-US" altLang="zh-TW" sz="2000" b="0" i="0" u="none" strike="noStrike">
                            <a:solidFill>
                              <a:srgbClr val="000000"/>
                            </a:solidFill>
                            <a:effectLst/>
                            <a:latin typeface="新細明體" panose="02020500000000000000" pitchFamily="18" charset="-120"/>
                            <a:ea typeface="新細明體" panose="02020500000000000000" pitchFamily="18" charset="-120"/>
                          </a:endParaRPr>
                        </a:p>
                      </a:txBody>
                      <a:tcPr marL="9525" marR="9525" marT="9525" marB="0" anchor="ctr"/>
                    </a:tc>
                    <a:tc>
                      <a:txBody>
                        <a:bodyPr/>
                        <a:lstStyle/>
                        <a:p>
                          <a:pPr algn="r" fontAlgn="ctr"/>
                          <a:r>
                            <a:rPr lang="en-US" altLang="zh-TW" sz="2000" u="none" strike="noStrike">
                              <a:effectLst/>
                            </a:rPr>
                            <a:t>-0.163544051</a:t>
                          </a:r>
                          <a:endParaRPr lang="en-US" altLang="zh-TW" sz="2000" b="0" i="0" u="none" strike="noStrike">
                            <a:solidFill>
                              <a:srgbClr val="000000"/>
                            </a:solidFill>
                            <a:effectLst/>
                            <a:latin typeface="新細明體" panose="02020500000000000000" pitchFamily="18" charset="-120"/>
                            <a:ea typeface="新細明體" panose="02020500000000000000" pitchFamily="18" charset="-120"/>
                          </a:endParaRPr>
                        </a:p>
                      </a:txBody>
                      <a:tcPr marL="9525" marR="9525" marT="9525" marB="0" anchor="ctr"/>
                    </a:tc>
                    <a:tc>
                      <a:txBody>
                        <a:bodyPr/>
                        <a:lstStyle/>
                        <a:p>
                          <a:pPr algn="r" fontAlgn="ctr"/>
                          <a:r>
                            <a:rPr lang="en-US" altLang="zh-TW" sz="2000" u="none" strike="noStrike">
                              <a:effectLst/>
                            </a:rPr>
                            <a:t>-0.044079661</a:t>
                          </a:r>
                          <a:endParaRPr lang="en-US" altLang="zh-TW" sz="2000" b="0" i="0" u="none" strike="noStrike">
                            <a:solidFill>
                              <a:srgbClr val="000000"/>
                            </a:solidFill>
                            <a:effectLst/>
                            <a:latin typeface="新細明體" panose="02020500000000000000" pitchFamily="18" charset="-120"/>
                            <a:ea typeface="新細明體" panose="02020500000000000000" pitchFamily="18" charset="-120"/>
                          </a:endParaRPr>
                        </a:p>
                      </a:txBody>
                      <a:tcPr marL="9525" marR="9525" marT="9525" marB="0" anchor="ctr"/>
                    </a:tc>
                    <a:tc>
                      <a:txBody>
                        <a:bodyPr/>
                        <a:lstStyle/>
                        <a:p>
                          <a:pPr algn="r" fontAlgn="ctr"/>
                          <a:r>
                            <a:rPr lang="en-US" altLang="zh-TW" sz="2000" u="none" strike="noStrike" dirty="0">
                              <a:solidFill>
                                <a:srgbClr val="FF0000"/>
                              </a:solidFill>
                              <a:effectLst/>
                            </a:rPr>
                            <a:t>-0.1249 </a:t>
                          </a:r>
                          <a:endParaRPr lang="en-US" altLang="zh-TW" sz="2000" b="0" i="0" u="none" strike="noStrike" dirty="0">
                            <a:solidFill>
                              <a:srgbClr val="FF0000"/>
                            </a:solidFill>
                            <a:effectLst/>
                            <a:latin typeface="新細明體" panose="02020500000000000000" pitchFamily="18" charset="-120"/>
                            <a:ea typeface="新細明體" panose="02020500000000000000" pitchFamily="18" charset="-120"/>
                          </a:endParaRPr>
                        </a:p>
                      </a:txBody>
                      <a:tcPr marL="9525" marR="9525" marT="9525" marB="0" anchor="ctr"/>
                    </a:tc>
                  </a:tr>
                  <a:tr h="329636">
                    <a:tc>
                      <a:txBody>
                        <a:bodyPr/>
                        <a:lstStyle/>
                        <a:p>
                          <a:pPr algn="l" fontAlgn="ctr"/>
                          <a:r>
                            <a:rPr lang="en-US" sz="2000" u="none" strike="noStrike">
                              <a:effectLst/>
                            </a:rPr>
                            <a:t>d3.</a:t>
                          </a:r>
                          <a:endParaRPr lang="en-US" sz="2000" b="0" i="0" u="none" strike="noStrike">
                            <a:solidFill>
                              <a:srgbClr val="000000"/>
                            </a:solidFill>
                            <a:effectLst/>
                            <a:latin typeface="新細明體" panose="02020500000000000000" pitchFamily="18" charset="-120"/>
                            <a:ea typeface="新細明體" panose="02020500000000000000" pitchFamily="18" charset="-120"/>
                          </a:endParaRPr>
                        </a:p>
                      </a:txBody>
                      <a:tcPr marL="9525" marR="9525" marT="9525" marB="0" anchor="ctr"/>
                    </a:tc>
                    <a:tc>
                      <a:txBody>
                        <a:bodyPr/>
                        <a:lstStyle/>
                        <a:p>
                          <a:pPr algn="r" fontAlgn="ctr"/>
                          <a:r>
                            <a:rPr lang="en-US" altLang="zh-TW" sz="2000" u="none" strike="noStrike">
                              <a:effectLst/>
                            </a:rPr>
                            <a:t>-0.45540151</a:t>
                          </a:r>
                          <a:endParaRPr lang="en-US" altLang="zh-TW" sz="2000" b="0" i="0" u="none" strike="noStrike">
                            <a:solidFill>
                              <a:srgbClr val="000000"/>
                            </a:solidFill>
                            <a:effectLst/>
                            <a:latin typeface="新細明體" panose="02020500000000000000" pitchFamily="18" charset="-120"/>
                            <a:ea typeface="新細明體" panose="02020500000000000000" pitchFamily="18" charset="-120"/>
                          </a:endParaRPr>
                        </a:p>
                      </a:txBody>
                      <a:tcPr marL="9525" marR="9525" marT="9525" marB="0" anchor="ctr"/>
                    </a:tc>
                    <a:tc>
                      <a:txBody>
                        <a:bodyPr/>
                        <a:lstStyle/>
                        <a:p>
                          <a:pPr algn="r" fontAlgn="ctr"/>
                          <a:r>
                            <a:rPr lang="en-US" altLang="zh-TW" sz="2000" u="none" strike="noStrike">
                              <a:effectLst/>
                            </a:rPr>
                            <a:t>-0.163544051</a:t>
                          </a:r>
                          <a:endParaRPr lang="en-US" altLang="zh-TW" sz="2000" b="0" i="0" u="none" strike="noStrike">
                            <a:solidFill>
                              <a:srgbClr val="000000"/>
                            </a:solidFill>
                            <a:effectLst/>
                            <a:latin typeface="新細明體" panose="02020500000000000000" pitchFamily="18" charset="-120"/>
                            <a:ea typeface="新細明體" panose="02020500000000000000" pitchFamily="18" charset="-120"/>
                          </a:endParaRPr>
                        </a:p>
                      </a:txBody>
                      <a:tcPr marL="9525" marR="9525" marT="9525" marB="0" anchor="ctr"/>
                    </a:tc>
                    <a:tc>
                      <a:txBody>
                        <a:bodyPr/>
                        <a:lstStyle/>
                        <a:p>
                          <a:pPr algn="r" fontAlgn="ctr"/>
                          <a:r>
                            <a:rPr lang="en-US" altLang="zh-TW" sz="2000" u="none" strike="noStrike">
                              <a:effectLst/>
                            </a:rPr>
                            <a:t>0</a:t>
                          </a:r>
                          <a:endParaRPr lang="en-US" altLang="zh-TW" sz="2000" b="0" i="0" u="none" strike="noStrike">
                            <a:solidFill>
                              <a:srgbClr val="000000"/>
                            </a:solidFill>
                            <a:effectLst/>
                            <a:latin typeface="新細明體" panose="02020500000000000000" pitchFamily="18" charset="-120"/>
                            <a:ea typeface="新細明體" panose="02020500000000000000" pitchFamily="18" charset="-120"/>
                          </a:endParaRPr>
                        </a:p>
                      </a:txBody>
                      <a:tcPr marL="9525" marR="9525" marT="9525" marB="0" anchor="ctr"/>
                    </a:tc>
                    <a:tc>
                      <a:txBody>
                        <a:bodyPr/>
                        <a:lstStyle/>
                        <a:p>
                          <a:pPr algn="r" fontAlgn="ctr"/>
                          <a:r>
                            <a:rPr lang="en-US" altLang="zh-TW" sz="2000" u="none" strike="noStrike">
                              <a:effectLst/>
                            </a:rPr>
                            <a:t>0.11946439</a:t>
                          </a:r>
                          <a:endParaRPr lang="en-US" altLang="zh-TW" sz="2000" b="0" i="0" u="none" strike="noStrike">
                            <a:solidFill>
                              <a:srgbClr val="000000"/>
                            </a:solidFill>
                            <a:effectLst/>
                            <a:latin typeface="新細明體" panose="02020500000000000000" pitchFamily="18" charset="-120"/>
                            <a:ea typeface="新細明體" panose="02020500000000000000" pitchFamily="18" charset="-120"/>
                          </a:endParaRPr>
                        </a:p>
                      </a:txBody>
                      <a:tcPr marL="9525" marR="9525" marT="9525" marB="0" anchor="ctr"/>
                    </a:tc>
                    <a:tc>
                      <a:txBody>
                        <a:bodyPr/>
                        <a:lstStyle/>
                        <a:p>
                          <a:pPr algn="r" fontAlgn="ctr"/>
                          <a:r>
                            <a:rPr lang="en-US" altLang="zh-TW" sz="2000" u="none" strike="noStrike" dirty="0">
                              <a:solidFill>
                                <a:srgbClr val="FF0000"/>
                              </a:solidFill>
                              <a:effectLst/>
                            </a:rPr>
                            <a:t>-0.1249 </a:t>
                          </a:r>
                          <a:endParaRPr lang="en-US" altLang="zh-TW" sz="2000" b="0" i="0" u="none" strike="noStrike" dirty="0">
                            <a:solidFill>
                              <a:srgbClr val="FF0000"/>
                            </a:solidFill>
                            <a:effectLst/>
                            <a:latin typeface="新細明體" panose="02020500000000000000" pitchFamily="18" charset="-120"/>
                            <a:ea typeface="新細明體" panose="02020500000000000000" pitchFamily="18" charset="-120"/>
                          </a:endParaRPr>
                        </a:p>
                      </a:txBody>
                      <a:tcPr marL="9525" marR="9525" marT="9525" marB="0" anchor="ctr"/>
                    </a:tc>
                  </a:tr>
                  <a:tr h="329636">
                    <a:tc>
                      <a:txBody>
                        <a:bodyPr/>
                        <a:lstStyle/>
                        <a:p>
                          <a:pPr algn="l" fontAlgn="ctr"/>
                          <a:r>
                            <a:rPr lang="en-US" sz="2000" u="none" strike="noStrike">
                              <a:effectLst/>
                            </a:rPr>
                            <a:t>d4.</a:t>
                          </a:r>
                          <a:endParaRPr lang="en-US" sz="2000" b="0" i="0" u="none" strike="noStrike">
                            <a:solidFill>
                              <a:srgbClr val="000000"/>
                            </a:solidFill>
                            <a:effectLst/>
                            <a:latin typeface="新細明體" panose="02020500000000000000" pitchFamily="18" charset="-120"/>
                            <a:ea typeface="新細明體" panose="02020500000000000000" pitchFamily="18" charset="-120"/>
                          </a:endParaRPr>
                        </a:p>
                      </a:txBody>
                      <a:tcPr marL="9525" marR="9525" marT="9525" marB="0" anchor="ctr"/>
                    </a:tc>
                    <a:tc>
                      <a:txBody>
                        <a:bodyPr/>
                        <a:lstStyle/>
                        <a:p>
                          <a:pPr algn="r" fontAlgn="ctr"/>
                          <a:r>
                            <a:rPr lang="en-US" altLang="zh-TW" sz="2000" u="none" strike="noStrike">
                              <a:effectLst/>
                            </a:rPr>
                            <a:t>-0.33593712</a:t>
                          </a:r>
                          <a:endParaRPr lang="en-US" altLang="zh-TW" sz="2000" b="0" i="0" u="none" strike="noStrike">
                            <a:solidFill>
                              <a:srgbClr val="000000"/>
                            </a:solidFill>
                            <a:effectLst/>
                            <a:latin typeface="新細明體" panose="02020500000000000000" pitchFamily="18" charset="-120"/>
                            <a:ea typeface="新細明體" panose="02020500000000000000" pitchFamily="18" charset="-120"/>
                          </a:endParaRPr>
                        </a:p>
                      </a:txBody>
                      <a:tcPr marL="9525" marR="9525" marT="9525" marB="0" anchor="ctr"/>
                    </a:tc>
                    <a:tc>
                      <a:txBody>
                        <a:bodyPr/>
                        <a:lstStyle/>
                        <a:p>
                          <a:pPr algn="r" fontAlgn="ctr"/>
                          <a:r>
                            <a:rPr lang="en-US" altLang="zh-TW" sz="2000" u="none" strike="noStrike">
                              <a:effectLst/>
                            </a:rPr>
                            <a:t>-0.044079661</a:t>
                          </a:r>
                          <a:endParaRPr lang="en-US" altLang="zh-TW" sz="2000" b="0" i="0" u="none" strike="noStrike">
                            <a:solidFill>
                              <a:srgbClr val="000000"/>
                            </a:solidFill>
                            <a:effectLst/>
                            <a:latin typeface="新細明體" panose="02020500000000000000" pitchFamily="18" charset="-120"/>
                            <a:ea typeface="新細明體" panose="02020500000000000000" pitchFamily="18" charset="-120"/>
                          </a:endParaRPr>
                        </a:p>
                      </a:txBody>
                      <a:tcPr marL="9525" marR="9525" marT="9525" marB="0" anchor="ctr"/>
                    </a:tc>
                    <a:tc>
                      <a:txBody>
                        <a:bodyPr/>
                        <a:lstStyle/>
                        <a:p>
                          <a:pPr algn="r" fontAlgn="ctr"/>
                          <a:r>
                            <a:rPr lang="en-US" altLang="zh-TW" sz="2000" u="none" strike="noStrike">
                              <a:effectLst/>
                            </a:rPr>
                            <a:t>0.11946439</a:t>
                          </a:r>
                          <a:endParaRPr lang="en-US" altLang="zh-TW" sz="2000" b="0" i="0" u="none" strike="noStrike">
                            <a:solidFill>
                              <a:srgbClr val="000000"/>
                            </a:solidFill>
                            <a:effectLst/>
                            <a:latin typeface="新細明體" panose="02020500000000000000" pitchFamily="18" charset="-120"/>
                            <a:ea typeface="新細明體" panose="02020500000000000000" pitchFamily="18" charset="-120"/>
                          </a:endParaRPr>
                        </a:p>
                      </a:txBody>
                      <a:tcPr marL="9525" marR="9525" marT="9525" marB="0" anchor="ctr"/>
                    </a:tc>
                    <a:tc>
                      <a:txBody>
                        <a:bodyPr/>
                        <a:lstStyle/>
                        <a:p>
                          <a:pPr algn="r" fontAlgn="ctr"/>
                          <a:r>
                            <a:rPr lang="en-US" altLang="zh-TW" sz="2000" u="none" strike="noStrike">
                              <a:effectLst/>
                            </a:rPr>
                            <a:t>0</a:t>
                          </a:r>
                          <a:endParaRPr lang="en-US" altLang="zh-TW" sz="2000" b="0" i="0" u="none" strike="noStrike">
                            <a:solidFill>
                              <a:srgbClr val="000000"/>
                            </a:solidFill>
                            <a:effectLst/>
                            <a:latin typeface="新細明體" panose="02020500000000000000" pitchFamily="18" charset="-120"/>
                            <a:ea typeface="新細明體" panose="02020500000000000000" pitchFamily="18" charset="-120"/>
                          </a:endParaRPr>
                        </a:p>
                      </a:txBody>
                      <a:tcPr marL="9525" marR="9525" marT="9525" marB="0" anchor="ctr"/>
                    </a:tc>
                    <a:tc>
                      <a:txBody>
                        <a:bodyPr/>
                        <a:lstStyle/>
                        <a:p>
                          <a:pPr algn="r" fontAlgn="ctr"/>
                          <a:r>
                            <a:rPr lang="en-US" altLang="zh-TW" sz="2000" u="none" strike="noStrike" dirty="0">
                              <a:solidFill>
                                <a:srgbClr val="FF0000"/>
                              </a:solidFill>
                              <a:effectLst/>
                            </a:rPr>
                            <a:t>-0.0651 </a:t>
                          </a:r>
                          <a:endParaRPr lang="en-US" altLang="zh-TW" sz="2000" b="0" i="0" u="none" strike="noStrike" dirty="0">
                            <a:solidFill>
                              <a:srgbClr val="FF0000"/>
                            </a:solidFill>
                            <a:effectLst/>
                            <a:latin typeface="新細明體" panose="02020500000000000000" pitchFamily="18" charset="-120"/>
                            <a:ea typeface="新細明體" panose="02020500000000000000" pitchFamily="18" charset="-120"/>
                          </a:endParaRPr>
                        </a:p>
                      </a:txBody>
                      <a:tcPr marL="9525" marR="9525" marT="9525" marB="0" anchor="ctr"/>
                    </a:tc>
                  </a:tr>
                </a:tbl>
              </a:graphicData>
            </a:graphic>
          </p:graphicFrame>
        </mc:Fallback>
      </mc:AlternateContent>
    </p:spTree>
    <p:extLst>
      <p:ext uri="{BB962C8B-B14F-4D97-AF65-F5344CB8AC3E}">
        <p14:creationId xmlns:p14="http://schemas.microsoft.com/office/powerpoint/2010/main" val="3904239517"/>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Constructing statistics</a:t>
            </a:r>
            <a:endParaRPr lang="zh-TW" altLang="en-US" dirty="0"/>
          </a:p>
        </p:txBody>
      </p:sp>
      <p:sp>
        <p:nvSpPr>
          <p:cNvPr id="3" name="投影片編號版面配置區 2"/>
          <p:cNvSpPr>
            <a:spLocks noGrp="1"/>
          </p:cNvSpPr>
          <p:nvPr>
            <p:ph type="sldNum" sz="quarter" idx="12"/>
          </p:nvPr>
        </p:nvSpPr>
        <p:spPr/>
        <p:txBody>
          <a:bodyPr/>
          <a:lstStyle/>
          <a:p>
            <a:fld id="{8E7C9034-9CD7-4E81-904A-4E7DCAD21B02}" type="slidenum">
              <a:rPr lang="zh-TW" altLang="en-US" smtClean="0"/>
              <a:t>18</a:t>
            </a:fld>
            <a:endParaRPr lang="zh-TW" altLang="en-US"/>
          </a:p>
        </p:txBody>
      </p:sp>
      <mc:AlternateContent xmlns:mc="http://schemas.openxmlformats.org/markup-compatibility/2006" xmlns:a14="http://schemas.microsoft.com/office/drawing/2010/main">
        <mc:Choice Requires="a14">
          <p:sp>
            <p:nvSpPr>
              <p:cNvPr id="4" name="文字方塊 3"/>
              <p:cNvSpPr txBox="1"/>
              <p:nvPr/>
            </p:nvSpPr>
            <p:spPr>
              <a:xfrm>
                <a:off x="463640" y="1558344"/>
                <a:ext cx="9800823" cy="1947008"/>
              </a:xfrm>
              <a:prstGeom prst="rect">
                <a:avLst/>
              </a:prstGeom>
              <a:noFill/>
            </p:spPr>
            <p:txBody>
              <a:bodyPr wrap="square" rtlCol="0">
                <a:spAutoFit/>
              </a:bodyPr>
              <a:lstStyle/>
              <a:p>
                <a:r>
                  <a:rPr lang="en-US" altLang="zh-TW" sz="2800" dirty="0" smtClean="0"/>
                  <a:t>t-statistics:</a:t>
                </a:r>
              </a:p>
              <a:p>
                <a:pPr/>
                <a14:m>
                  <m:oMathPara xmlns:m="http://schemas.openxmlformats.org/officeDocument/2006/math">
                    <m:oMathParaPr>
                      <m:jc m:val="centerGroup"/>
                    </m:oMathParaPr>
                    <m:oMath xmlns:m="http://schemas.openxmlformats.org/officeDocument/2006/math">
                      <m:sSub>
                        <m:sSubPr>
                          <m:ctrlPr>
                            <a:rPr lang="en-US" altLang="zh-TW" sz="2800" b="0" i="1" smtClean="0">
                              <a:latin typeface="Cambria Math"/>
                            </a:rPr>
                          </m:ctrlPr>
                        </m:sSubPr>
                        <m:e>
                          <m:r>
                            <a:rPr lang="en-US" altLang="zh-TW" sz="2800" b="0" i="1" smtClean="0">
                              <a:latin typeface="Cambria Math" panose="02040503050406030204" pitchFamily="18" charset="0"/>
                            </a:rPr>
                            <m:t>𝑡</m:t>
                          </m:r>
                        </m:e>
                        <m:sub>
                          <m:r>
                            <a:rPr lang="en-US" altLang="zh-TW" sz="2800" b="0" i="1" smtClean="0">
                              <a:latin typeface="Cambria Math" panose="02040503050406030204" pitchFamily="18" charset="0"/>
                            </a:rPr>
                            <m:t>𝑖𝑗</m:t>
                          </m:r>
                        </m:sub>
                      </m:sSub>
                      <m:r>
                        <a:rPr lang="en-US" altLang="zh-TW" sz="2800" b="0" i="1" smtClean="0">
                          <a:latin typeface="Cambria Math" panose="02040503050406030204" pitchFamily="18" charset="0"/>
                        </a:rPr>
                        <m:t>=</m:t>
                      </m:r>
                      <m:f>
                        <m:fPr>
                          <m:ctrlPr>
                            <a:rPr lang="en-US" altLang="zh-TW" sz="2800" b="0" i="1" smtClean="0">
                              <a:latin typeface="Cambria Math"/>
                            </a:rPr>
                          </m:ctrlPr>
                        </m:fPr>
                        <m:num>
                          <m:sSub>
                            <m:sSubPr>
                              <m:ctrlPr>
                                <a:rPr lang="en-US" altLang="zh-TW" sz="2800" b="0" i="1" dirty="0" smtClean="0">
                                  <a:latin typeface="Cambria Math"/>
                                </a:rPr>
                              </m:ctrlPr>
                            </m:sSubPr>
                            <m:e>
                              <m:acc>
                                <m:accPr>
                                  <m:chr m:val="̅"/>
                                  <m:ctrlPr>
                                    <a:rPr lang="en-US" altLang="zh-TW" sz="2800" b="0" i="1" smtClean="0">
                                      <a:latin typeface="Cambria Math"/>
                                    </a:rPr>
                                  </m:ctrlPr>
                                </m:accPr>
                                <m:e>
                                  <m:r>
                                    <a:rPr lang="en-US" altLang="zh-TW" sz="2800" b="0" i="1" smtClean="0">
                                      <a:latin typeface="Cambria Math" panose="02040503050406030204" pitchFamily="18" charset="0"/>
                                    </a:rPr>
                                    <m:t>𝑑</m:t>
                                  </m:r>
                                </m:e>
                              </m:acc>
                            </m:e>
                            <m:sub>
                              <m:r>
                                <a:rPr lang="en-US" altLang="zh-TW" sz="2800" b="0" i="1" dirty="0" smtClean="0">
                                  <a:latin typeface="Cambria Math" panose="02040503050406030204" pitchFamily="18" charset="0"/>
                                </a:rPr>
                                <m:t>𝑖𝑗</m:t>
                              </m:r>
                            </m:sub>
                          </m:sSub>
                        </m:num>
                        <m:den>
                          <m:r>
                            <a:rPr lang="en-US" altLang="zh-TW" sz="2800" b="0" i="1" smtClean="0">
                              <a:latin typeface="Cambria Math" panose="02040503050406030204" pitchFamily="18" charset="0"/>
                            </a:rPr>
                            <m:t>√</m:t>
                          </m:r>
                          <m:acc>
                            <m:accPr>
                              <m:chr m:val="̂"/>
                              <m:ctrlPr>
                                <a:rPr lang="en-US" altLang="zh-TW" sz="2800" b="0" i="1" smtClean="0">
                                  <a:solidFill>
                                    <a:srgbClr val="FF0000"/>
                                  </a:solidFill>
                                  <a:latin typeface="Cambria Math"/>
                                </a:rPr>
                              </m:ctrlPr>
                            </m:accPr>
                            <m:e>
                              <m:r>
                                <a:rPr lang="en-US" altLang="zh-TW" sz="2800" b="0" i="1" smtClean="0">
                                  <a:solidFill>
                                    <a:srgbClr val="FF0000"/>
                                  </a:solidFill>
                                  <a:latin typeface="Cambria Math" panose="02040503050406030204" pitchFamily="18" charset="0"/>
                                </a:rPr>
                                <m:t>𝑣𝑎𝑟</m:t>
                              </m:r>
                              <m:r>
                                <a:rPr lang="en-US" altLang="zh-TW" sz="2800" b="0" i="1" smtClean="0">
                                  <a:solidFill>
                                    <a:srgbClr val="FF0000"/>
                                  </a:solidFill>
                                  <a:latin typeface="Cambria Math" panose="02040503050406030204" pitchFamily="18" charset="0"/>
                                </a:rPr>
                                <m:t> </m:t>
                              </m:r>
                              <m:d>
                                <m:dPr>
                                  <m:ctrlPr>
                                    <a:rPr lang="en-US" altLang="zh-TW" sz="2800" b="0" i="1" smtClean="0">
                                      <a:solidFill>
                                        <a:srgbClr val="FF0000"/>
                                      </a:solidFill>
                                      <a:latin typeface="Cambria Math"/>
                                    </a:rPr>
                                  </m:ctrlPr>
                                </m:dPr>
                                <m:e>
                                  <m:sSub>
                                    <m:sSubPr>
                                      <m:ctrlPr>
                                        <a:rPr lang="en-US" altLang="zh-TW" sz="2800" b="0" i="1" dirty="0" smtClean="0">
                                          <a:solidFill>
                                            <a:srgbClr val="FF0000"/>
                                          </a:solidFill>
                                          <a:latin typeface="Cambria Math"/>
                                        </a:rPr>
                                      </m:ctrlPr>
                                    </m:sSubPr>
                                    <m:e>
                                      <m:acc>
                                        <m:accPr>
                                          <m:chr m:val="̅"/>
                                          <m:ctrlPr>
                                            <a:rPr lang="en-US" altLang="zh-TW" sz="2800" b="0" i="1" smtClean="0">
                                              <a:solidFill>
                                                <a:srgbClr val="FF0000"/>
                                              </a:solidFill>
                                              <a:latin typeface="Cambria Math"/>
                                            </a:rPr>
                                          </m:ctrlPr>
                                        </m:accPr>
                                        <m:e>
                                          <m:r>
                                            <a:rPr lang="en-US" altLang="zh-TW" sz="2800" b="0" i="1" smtClean="0">
                                              <a:solidFill>
                                                <a:srgbClr val="FF0000"/>
                                              </a:solidFill>
                                              <a:latin typeface="Cambria Math" panose="02040503050406030204" pitchFamily="18" charset="0"/>
                                            </a:rPr>
                                            <m:t>𝑑</m:t>
                                          </m:r>
                                        </m:e>
                                      </m:acc>
                                    </m:e>
                                    <m:sub>
                                      <m:r>
                                        <a:rPr lang="en-US" altLang="zh-TW" sz="2800" b="0" i="1" dirty="0" smtClean="0">
                                          <a:solidFill>
                                            <a:srgbClr val="FF0000"/>
                                          </a:solidFill>
                                          <a:latin typeface="Cambria Math" panose="02040503050406030204" pitchFamily="18" charset="0"/>
                                        </a:rPr>
                                        <m:t>𝑖𝑗</m:t>
                                      </m:r>
                                    </m:sub>
                                  </m:sSub>
                                </m:e>
                              </m:d>
                            </m:e>
                          </m:acc>
                        </m:den>
                      </m:f>
                      <m:r>
                        <a:rPr lang="en-US" altLang="zh-TW" sz="2800" b="0" i="1" smtClean="0">
                          <a:latin typeface="Cambria Math" panose="02040503050406030204" pitchFamily="18" charset="0"/>
                        </a:rPr>
                        <m:t> </m:t>
                      </m:r>
                      <m:r>
                        <a:rPr lang="en-US" altLang="zh-TW" sz="2800" b="0" i="1" smtClean="0">
                          <a:latin typeface="Cambria Math" panose="02040503050406030204" pitchFamily="18" charset="0"/>
                        </a:rPr>
                        <m:t>𝑎𝑛𝑑</m:t>
                      </m:r>
                      <m:r>
                        <a:rPr lang="en-US" altLang="zh-TW" sz="2800" b="0" i="1" smtClean="0">
                          <a:latin typeface="Cambria Math" panose="02040503050406030204" pitchFamily="18" charset="0"/>
                        </a:rPr>
                        <m:t> </m:t>
                      </m:r>
                      <m:sSub>
                        <m:sSubPr>
                          <m:ctrlPr>
                            <a:rPr lang="en-US" altLang="zh-TW" sz="2800" b="0" i="1" smtClean="0">
                              <a:latin typeface="Cambria Math"/>
                            </a:rPr>
                          </m:ctrlPr>
                        </m:sSubPr>
                        <m:e>
                          <m:r>
                            <a:rPr lang="en-US" altLang="zh-TW" sz="2800" b="0" i="1" smtClean="0">
                              <a:latin typeface="Cambria Math" panose="02040503050406030204" pitchFamily="18" charset="0"/>
                            </a:rPr>
                            <m:t>𝑡</m:t>
                          </m:r>
                        </m:e>
                        <m:sub>
                          <m:r>
                            <a:rPr lang="en-US" altLang="zh-TW" sz="2800" b="0" i="1" smtClean="0">
                              <a:latin typeface="Cambria Math" panose="02040503050406030204" pitchFamily="18" charset="0"/>
                            </a:rPr>
                            <m:t>𝑖</m:t>
                          </m:r>
                          <m:r>
                            <a:rPr lang="en-US" altLang="zh-TW" sz="2800" b="0" i="1" smtClean="0">
                              <a:latin typeface="Cambria Math" panose="02040503050406030204" pitchFamily="18" charset="0"/>
                            </a:rPr>
                            <m:t>,</m:t>
                          </m:r>
                        </m:sub>
                      </m:sSub>
                      <m:r>
                        <a:rPr lang="en-US" altLang="zh-TW" sz="2800" b="0" i="1" smtClean="0">
                          <a:latin typeface="Cambria Math" panose="02040503050406030204" pitchFamily="18" charset="0"/>
                        </a:rPr>
                        <m:t>=</m:t>
                      </m:r>
                      <m:f>
                        <m:fPr>
                          <m:ctrlPr>
                            <a:rPr lang="en-US" altLang="zh-TW" sz="2800" b="0" i="1" smtClean="0">
                              <a:latin typeface="Cambria Math"/>
                            </a:rPr>
                          </m:ctrlPr>
                        </m:fPr>
                        <m:num>
                          <m:sSub>
                            <m:sSubPr>
                              <m:ctrlPr>
                                <a:rPr lang="en-US" altLang="zh-TW" sz="2800" b="0" i="1" dirty="0" smtClean="0">
                                  <a:latin typeface="Cambria Math"/>
                                </a:rPr>
                              </m:ctrlPr>
                            </m:sSubPr>
                            <m:e>
                              <m:acc>
                                <m:accPr>
                                  <m:chr m:val="̅"/>
                                  <m:ctrlPr>
                                    <a:rPr lang="en-US" altLang="zh-TW" sz="2800" b="0" i="1" smtClean="0">
                                      <a:latin typeface="Cambria Math"/>
                                    </a:rPr>
                                  </m:ctrlPr>
                                </m:accPr>
                                <m:e>
                                  <m:r>
                                    <a:rPr lang="en-US" altLang="zh-TW" sz="2800" b="0" i="1" smtClean="0">
                                      <a:latin typeface="Cambria Math" panose="02040503050406030204" pitchFamily="18" charset="0"/>
                                    </a:rPr>
                                    <m:t>𝑑</m:t>
                                  </m:r>
                                </m:e>
                              </m:acc>
                            </m:e>
                            <m:sub>
                              <m:r>
                                <a:rPr lang="en-US" altLang="zh-TW" sz="2800" b="0" i="1" dirty="0" smtClean="0">
                                  <a:latin typeface="Cambria Math" panose="02040503050406030204" pitchFamily="18" charset="0"/>
                                </a:rPr>
                                <m:t>𝑖</m:t>
                              </m:r>
                              <m:r>
                                <a:rPr lang="en-US" altLang="zh-TW" sz="2800" b="0" i="1" dirty="0" smtClean="0">
                                  <a:latin typeface="Cambria Math" panose="02040503050406030204" pitchFamily="18" charset="0"/>
                                </a:rPr>
                                <m:t>.</m:t>
                              </m:r>
                            </m:sub>
                          </m:sSub>
                        </m:num>
                        <m:den>
                          <m:rad>
                            <m:radPr>
                              <m:degHide m:val="on"/>
                              <m:ctrlPr>
                                <a:rPr lang="en-US" altLang="zh-TW" sz="2800" b="0" i="1" smtClean="0">
                                  <a:latin typeface="Cambria Math"/>
                                </a:rPr>
                              </m:ctrlPr>
                            </m:radPr>
                            <m:deg/>
                            <m:e>
                              <m:acc>
                                <m:accPr>
                                  <m:chr m:val="̂"/>
                                  <m:ctrlPr>
                                    <a:rPr lang="en-US" altLang="zh-TW" sz="2800" b="0" i="1" smtClean="0">
                                      <a:latin typeface="Cambria Math"/>
                                    </a:rPr>
                                  </m:ctrlPr>
                                </m:accPr>
                                <m:e>
                                  <m:r>
                                    <a:rPr lang="en-US" altLang="zh-TW" sz="2800" b="0" i="1" smtClean="0">
                                      <a:solidFill>
                                        <a:srgbClr val="FF0000"/>
                                      </a:solidFill>
                                      <a:latin typeface="Cambria Math" panose="02040503050406030204" pitchFamily="18" charset="0"/>
                                    </a:rPr>
                                    <m:t>𝑣𝑎𝑟</m:t>
                                  </m:r>
                                  <m:r>
                                    <a:rPr lang="en-US" altLang="zh-TW" sz="2800" b="0" i="1" smtClean="0">
                                      <a:solidFill>
                                        <a:srgbClr val="FF0000"/>
                                      </a:solidFill>
                                      <a:latin typeface="Cambria Math" panose="02040503050406030204" pitchFamily="18" charset="0"/>
                                    </a:rPr>
                                    <m:t> </m:t>
                                  </m:r>
                                  <m:d>
                                    <m:dPr>
                                      <m:ctrlPr>
                                        <a:rPr lang="en-US" altLang="zh-TW" sz="2800" b="0" i="1" smtClean="0">
                                          <a:solidFill>
                                            <a:srgbClr val="FF0000"/>
                                          </a:solidFill>
                                          <a:latin typeface="Cambria Math"/>
                                        </a:rPr>
                                      </m:ctrlPr>
                                    </m:dPr>
                                    <m:e>
                                      <m:acc>
                                        <m:accPr>
                                          <m:chr m:val="̅"/>
                                          <m:ctrlPr>
                                            <a:rPr lang="en-US" altLang="zh-TW" sz="2800" b="0" i="1" smtClean="0">
                                              <a:solidFill>
                                                <a:srgbClr val="FF0000"/>
                                              </a:solidFill>
                                              <a:latin typeface="Cambria Math"/>
                                            </a:rPr>
                                          </m:ctrlPr>
                                        </m:accPr>
                                        <m:e>
                                          <m:sSub>
                                            <m:sSubPr>
                                              <m:ctrlPr>
                                                <a:rPr lang="en-US" altLang="zh-TW" sz="2800" b="0" i="1" smtClean="0">
                                                  <a:solidFill>
                                                    <a:srgbClr val="FF0000"/>
                                                  </a:solidFill>
                                                  <a:latin typeface="Cambria Math"/>
                                                </a:rPr>
                                              </m:ctrlPr>
                                            </m:sSubPr>
                                            <m:e>
                                              <m:r>
                                                <a:rPr lang="en-US" altLang="zh-TW" sz="2800" b="0" i="1" smtClean="0">
                                                  <a:solidFill>
                                                    <a:srgbClr val="FF0000"/>
                                                  </a:solidFill>
                                                  <a:latin typeface="Cambria Math" panose="02040503050406030204" pitchFamily="18" charset="0"/>
                                                </a:rPr>
                                                <m:t>𝑑</m:t>
                                              </m:r>
                                            </m:e>
                                            <m:sub>
                                              <m:r>
                                                <a:rPr lang="en-US" altLang="zh-TW" sz="2800" b="0" i="1" smtClean="0">
                                                  <a:solidFill>
                                                    <a:srgbClr val="FF0000"/>
                                                  </a:solidFill>
                                                  <a:latin typeface="Cambria Math" panose="02040503050406030204" pitchFamily="18" charset="0"/>
                                                </a:rPr>
                                                <m:t>𝑖</m:t>
                                              </m:r>
                                              <m:r>
                                                <a:rPr lang="en-US" altLang="zh-TW" sz="2800" b="0" i="1" smtClean="0">
                                                  <a:solidFill>
                                                    <a:srgbClr val="FF0000"/>
                                                  </a:solidFill>
                                                  <a:latin typeface="Cambria Math" panose="02040503050406030204" pitchFamily="18" charset="0"/>
                                                </a:rPr>
                                                <m:t>.</m:t>
                                              </m:r>
                                            </m:sub>
                                          </m:sSub>
                                        </m:e>
                                      </m:acc>
                                    </m:e>
                                  </m:d>
                                </m:e>
                              </m:acc>
                            </m:e>
                          </m:rad>
                        </m:den>
                      </m:f>
                      <m:r>
                        <a:rPr lang="en-US" altLang="zh-TW" sz="2800" b="0" i="1" smtClean="0">
                          <a:latin typeface="Cambria Math" panose="02040503050406030204" pitchFamily="18" charset="0"/>
                        </a:rPr>
                        <m:t> ∀</m:t>
                      </m:r>
                      <m:r>
                        <a:rPr lang="en-US" altLang="zh-TW" sz="2800" b="0" i="1" smtClean="0">
                          <a:latin typeface="Cambria Math" panose="02040503050406030204" pitchFamily="18" charset="0"/>
                        </a:rPr>
                        <m:t>𝑖</m:t>
                      </m:r>
                      <m:r>
                        <a:rPr lang="en-US" altLang="zh-TW" sz="2800" b="0" i="1" smtClean="0">
                          <a:latin typeface="Cambria Math" panose="02040503050406030204" pitchFamily="18" charset="0"/>
                        </a:rPr>
                        <m:t>,</m:t>
                      </m:r>
                      <m:r>
                        <a:rPr lang="en-US" altLang="zh-TW" sz="2800" b="0" i="1" smtClean="0">
                          <a:latin typeface="Cambria Math" panose="02040503050406030204" pitchFamily="18" charset="0"/>
                        </a:rPr>
                        <m:t>𝑗</m:t>
                      </m:r>
                      <m:r>
                        <a:rPr lang="en-US" altLang="zh-TW" sz="2800" b="0" i="1" smtClean="0">
                          <a:latin typeface="Cambria Math" panose="02040503050406030204" pitchFamily="18" charset="0"/>
                        </a:rPr>
                        <m:t>∈</m:t>
                      </m:r>
                      <m:r>
                        <a:rPr lang="en-US" altLang="zh-TW" sz="2800" b="0" i="1" smtClean="0">
                          <a:latin typeface="Cambria Math" panose="02040503050406030204" pitchFamily="18" charset="0"/>
                        </a:rPr>
                        <m:t>𝑀</m:t>
                      </m:r>
                    </m:oMath>
                  </m:oMathPara>
                </a14:m>
                <a:endParaRPr lang="en-US" altLang="zh-TW" sz="2800" dirty="0" smtClean="0"/>
              </a:p>
            </p:txBody>
          </p:sp>
        </mc:Choice>
        <mc:Fallback xmlns="">
          <p:sp>
            <p:nvSpPr>
              <p:cNvPr id="4" name="文字方塊 3"/>
              <p:cNvSpPr txBox="1">
                <a:spLocks noRot="1" noChangeAspect="1" noMove="1" noResize="1" noEditPoints="1" noAdjustHandles="1" noChangeArrowheads="1" noChangeShapeType="1" noTextEdit="1"/>
              </p:cNvSpPr>
              <p:nvPr/>
            </p:nvSpPr>
            <p:spPr>
              <a:xfrm>
                <a:off x="463640" y="1558344"/>
                <a:ext cx="9800823" cy="1947008"/>
              </a:xfrm>
              <a:prstGeom prst="rect">
                <a:avLst/>
              </a:prstGeom>
              <a:blipFill rotWithShape="0">
                <a:blip r:embed="rId2"/>
                <a:stretch>
                  <a:fillRect l="-1244" t="-3135"/>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5" name="矩形 4"/>
              <p:cNvSpPr/>
              <p:nvPr/>
            </p:nvSpPr>
            <p:spPr>
              <a:xfrm>
                <a:off x="1193442" y="4335143"/>
                <a:ext cx="9714963" cy="1191416"/>
              </a:xfrm>
              <a:prstGeom prst="rect">
                <a:avLst/>
              </a:prstGeom>
            </p:spPr>
            <p:txBody>
              <a:bodyPr wrap="square">
                <a:spAutoFit/>
              </a:bodyPr>
              <a:lstStyle/>
              <a:p>
                <a14:m>
                  <m:oMath xmlns:m="http://schemas.openxmlformats.org/officeDocument/2006/math">
                    <m:r>
                      <a:rPr lang="en-US" altLang="zh-TW" sz="2400" i="1" smtClean="0">
                        <a:latin typeface="Cambria Math" panose="02040503050406030204" pitchFamily="18" charset="0"/>
                      </a:rPr>
                      <m:t>𝑀</m:t>
                    </m:r>
                    <m:r>
                      <a:rPr lang="en-US" altLang="zh-TW" sz="2400" i="1" smtClean="0">
                        <a:latin typeface="Cambria Math" panose="02040503050406030204" pitchFamily="18" charset="0"/>
                      </a:rPr>
                      <m:t>=</m:t>
                    </m:r>
                    <m:d>
                      <m:dPr>
                        <m:begChr m:val="{"/>
                        <m:endChr m:val="}"/>
                        <m:ctrlPr>
                          <a:rPr lang="en-US" altLang="zh-TW" sz="2400" i="1">
                            <a:latin typeface="Cambria Math"/>
                          </a:rPr>
                        </m:ctrlPr>
                      </m:dPr>
                      <m:e>
                        <m:r>
                          <a:rPr lang="en-US" altLang="zh-TW" sz="2400" i="1">
                            <a:latin typeface="Cambria Math" panose="02040503050406030204" pitchFamily="18" charset="0"/>
                          </a:rPr>
                          <m:t>1,2,⋯,</m:t>
                        </m:r>
                        <m:r>
                          <a:rPr lang="en-US" altLang="zh-TW" sz="2400" i="1">
                            <a:latin typeface="Cambria Math" panose="02040503050406030204" pitchFamily="18" charset="0"/>
                          </a:rPr>
                          <m:t>𝑚</m:t>
                        </m:r>
                      </m:e>
                    </m:d>
                  </m:oMath>
                </a14:m>
                <a:r>
                  <a:rPr lang="en-US" altLang="zh-TW" sz="2400" dirty="0"/>
                  <a:t>, the equivalence form :</a:t>
                </a:r>
              </a:p>
              <a:p>
                <a:pPr/>
                <a14:m>
                  <m:oMathPara xmlns:m="http://schemas.openxmlformats.org/officeDocument/2006/math">
                    <m:oMathParaPr>
                      <m:jc m:val="centerGroup"/>
                    </m:oMathParaPr>
                    <m:oMath xmlns:m="http://schemas.openxmlformats.org/officeDocument/2006/math">
                      <m:sSub>
                        <m:sSubPr>
                          <m:ctrlPr>
                            <a:rPr lang="en-US" altLang="zh-TW" sz="2400" i="1">
                              <a:latin typeface="Cambria Math"/>
                            </a:rPr>
                          </m:ctrlPr>
                        </m:sSubPr>
                        <m:e>
                          <m:r>
                            <a:rPr lang="en-US" altLang="zh-TW" sz="2400" i="1">
                              <a:latin typeface="Cambria Math" panose="02040503050406030204" pitchFamily="18" charset="0"/>
                            </a:rPr>
                            <m:t>𝑢</m:t>
                          </m:r>
                        </m:e>
                        <m:sub>
                          <m:r>
                            <a:rPr lang="en-US" altLang="zh-TW" sz="2400" i="1">
                              <a:latin typeface="Cambria Math" panose="02040503050406030204" pitchFamily="18" charset="0"/>
                            </a:rPr>
                            <m:t>1</m:t>
                          </m:r>
                        </m:sub>
                      </m:sSub>
                      <m:r>
                        <a:rPr lang="en-US" altLang="zh-TW" sz="2400" b="0" i="1" smtClean="0">
                          <a:latin typeface="Cambria Math" panose="02040503050406030204" pitchFamily="18" charset="0"/>
                        </a:rPr>
                        <m:t>=</m:t>
                      </m:r>
                      <m:sSub>
                        <m:sSubPr>
                          <m:ctrlPr>
                            <a:rPr lang="en-US" altLang="zh-TW" sz="2400" i="1">
                              <a:latin typeface="Cambria Math"/>
                            </a:rPr>
                          </m:ctrlPr>
                        </m:sSubPr>
                        <m:e>
                          <m:r>
                            <a:rPr lang="en-US" altLang="zh-TW" sz="2400" i="1">
                              <a:latin typeface="Cambria Math" panose="02040503050406030204" pitchFamily="18" charset="0"/>
                            </a:rPr>
                            <m:t>𝑢</m:t>
                          </m:r>
                        </m:e>
                        <m:sub>
                          <m:r>
                            <a:rPr lang="en-US" altLang="zh-TW" sz="2400" i="1">
                              <a:latin typeface="Cambria Math" panose="02040503050406030204" pitchFamily="18" charset="0"/>
                            </a:rPr>
                            <m:t>2</m:t>
                          </m:r>
                        </m:sub>
                      </m:sSub>
                      <m:r>
                        <a:rPr lang="en-US" altLang="zh-TW" sz="2400" b="0" i="1" smtClean="0">
                          <a:latin typeface="Cambria Math" panose="02040503050406030204" pitchFamily="18" charset="0"/>
                        </a:rPr>
                        <m:t>=</m:t>
                      </m:r>
                      <m:r>
                        <a:rPr lang="en-US" altLang="zh-TW" sz="2400" i="1">
                          <a:latin typeface="Cambria Math" panose="02040503050406030204" pitchFamily="18" charset="0"/>
                        </a:rPr>
                        <m:t>⋯</m:t>
                      </m:r>
                      <m:r>
                        <a:rPr lang="en-US" altLang="zh-TW" sz="2400" b="0" i="1" smtClean="0">
                          <a:latin typeface="Cambria Math" panose="02040503050406030204" pitchFamily="18" charset="0"/>
                        </a:rPr>
                        <m:t>=</m:t>
                      </m:r>
                      <m:sSub>
                        <m:sSubPr>
                          <m:ctrlPr>
                            <a:rPr lang="en-US" altLang="zh-TW" sz="2400" i="1">
                              <a:latin typeface="Cambria Math"/>
                            </a:rPr>
                          </m:ctrlPr>
                        </m:sSubPr>
                        <m:e>
                          <m:r>
                            <a:rPr lang="en-US" altLang="zh-TW" sz="2400" i="1">
                              <a:latin typeface="Cambria Math" panose="02040503050406030204" pitchFamily="18" charset="0"/>
                            </a:rPr>
                            <m:t>𝑢</m:t>
                          </m:r>
                        </m:e>
                        <m:sub>
                          <m:r>
                            <a:rPr lang="en-US" altLang="zh-TW" sz="2400" i="1">
                              <a:latin typeface="Cambria Math" panose="02040503050406030204" pitchFamily="18" charset="0"/>
                            </a:rPr>
                            <m:t>𝑚</m:t>
                          </m:r>
                        </m:sub>
                      </m:sSub>
                      <m:m>
                        <m:mPr>
                          <m:mcs>
                            <m:mc>
                              <m:mcPr>
                                <m:count m:val="2"/>
                                <m:mcJc m:val="center"/>
                              </m:mcPr>
                            </m:mc>
                          </m:mcs>
                          <m:ctrlPr>
                            <a:rPr lang="en-US" altLang="zh-TW" sz="2400" i="1">
                              <a:latin typeface="Cambria Math"/>
                            </a:rPr>
                          </m:ctrlPr>
                        </m:mPr>
                        <m:mr>
                          <m:e>
                            <m:r>
                              <m:rPr>
                                <m:brk m:alnAt="7"/>
                              </m:rPr>
                              <a:rPr lang="en-US" altLang="zh-TW" sz="2400" i="1">
                                <a:latin typeface="Cambria Math" panose="02040503050406030204" pitchFamily="18" charset="0"/>
                                <a:ea typeface="Cambria Math" panose="02040503050406030204" pitchFamily="18" charset="0"/>
                              </a:rPr>
                              <m:t>⟺</m:t>
                            </m:r>
                          </m:e>
                          <m:e>
                            <m:sSub>
                              <m:sSubPr>
                                <m:ctrlPr>
                                  <a:rPr lang="en-US" altLang="zh-TW" sz="2400" i="1">
                                    <a:latin typeface="Cambria Math"/>
                                  </a:rPr>
                                </m:ctrlPr>
                              </m:sSubPr>
                              <m:e>
                                <m:r>
                                  <a:rPr lang="en-US" altLang="zh-TW" sz="2400" i="1">
                                    <a:latin typeface="Cambria Math" panose="02040503050406030204" pitchFamily="18" charset="0"/>
                                  </a:rPr>
                                  <m:t>𝑢</m:t>
                                </m:r>
                              </m:e>
                              <m:sub>
                                <m:r>
                                  <a:rPr lang="en-US" altLang="zh-TW" sz="2400" i="1">
                                    <a:latin typeface="Cambria Math" panose="02040503050406030204" pitchFamily="18" charset="0"/>
                                  </a:rPr>
                                  <m:t>𝑖𝑗</m:t>
                                </m:r>
                              </m:sub>
                            </m:sSub>
                            <m:r>
                              <a:rPr lang="en-US" altLang="zh-TW" sz="2400" i="1">
                                <a:latin typeface="Cambria Math" panose="02040503050406030204" pitchFamily="18" charset="0"/>
                              </a:rPr>
                              <m:t>=0, ∀ </m:t>
                            </m:r>
                            <m:r>
                              <a:rPr lang="en-US" altLang="zh-TW" sz="2400" i="1">
                                <a:latin typeface="Cambria Math" panose="02040503050406030204" pitchFamily="18" charset="0"/>
                              </a:rPr>
                              <m:t>𝑖</m:t>
                            </m:r>
                            <m:r>
                              <a:rPr lang="en-US" altLang="zh-TW" sz="2400" i="1">
                                <a:latin typeface="Cambria Math" panose="02040503050406030204" pitchFamily="18" charset="0"/>
                              </a:rPr>
                              <m:t>, </m:t>
                            </m:r>
                            <m:r>
                              <a:rPr lang="en-US" altLang="zh-TW" sz="2400" i="1">
                                <a:latin typeface="Cambria Math" panose="02040503050406030204" pitchFamily="18" charset="0"/>
                              </a:rPr>
                              <m:t>𝑗</m:t>
                            </m:r>
                            <m:r>
                              <a:rPr lang="en-US" altLang="zh-TW" sz="2400" i="1">
                                <a:latin typeface="Cambria Math" panose="02040503050406030204" pitchFamily="18" charset="0"/>
                              </a:rPr>
                              <m:t>∈</m:t>
                            </m:r>
                            <m:r>
                              <a:rPr lang="en-US" altLang="zh-TW" sz="2400" i="1">
                                <a:latin typeface="Cambria Math" panose="02040503050406030204" pitchFamily="18" charset="0"/>
                              </a:rPr>
                              <m:t>𝑀</m:t>
                            </m:r>
                          </m:e>
                        </m:mr>
                        <m:mr>
                          <m:e>
                            <m:r>
                              <a:rPr lang="en-US" altLang="zh-TW" sz="2400" i="1">
                                <a:latin typeface="Cambria Math" panose="02040503050406030204" pitchFamily="18" charset="0"/>
                                <a:ea typeface="Cambria Math" panose="02040503050406030204" pitchFamily="18" charset="0"/>
                              </a:rPr>
                              <m:t>⟺</m:t>
                            </m:r>
                          </m:e>
                          <m:e>
                            <m:sSub>
                              <m:sSubPr>
                                <m:ctrlPr>
                                  <a:rPr lang="en-US" altLang="zh-TW" sz="2400" i="1">
                                    <a:latin typeface="Cambria Math"/>
                                  </a:rPr>
                                </m:ctrlPr>
                              </m:sSubPr>
                              <m:e>
                                <m:r>
                                  <a:rPr lang="en-US" altLang="zh-TW" sz="2400" i="1">
                                    <a:latin typeface="Cambria Math" panose="02040503050406030204" pitchFamily="18" charset="0"/>
                                  </a:rPr>
                                  <m:t>𝑢</m:t>
                                </m:r>
                              </m:e>
                              <m:sub>
                                <m:r>
                                  <a:rPr lang="en-US" altLang="zh-TW" sz="2400" i="1">
                                    <a:latin typeface="Cambria Math" panose="02040503050406030204" pitchFamily="18" charset="0"/>
                                  </a:rPr>
                                  <m:t>𝑖</m:t>
                                </m:r>
                                <m:r>
                                  <a:rPr lang="en-US" altLang="zh-TW" sz="2400" i="1">
                                    <a:latin typeface="Cambria Math" panose="02040503050406030204" pitchFamily="18" charset="0"/>
                                  </a:rPr>
                                  <m:t>.</m:t>
                                </m:r>
                              </m:sub>
                            </m:sSub>
                            <m:r>
                              <a:rPr lang="en-US" altLang="zh-TW" sz="2400" i="1">
                                <a:latin typeface="Cambria Math" panose="02040503050406030204" pitchFamily="18" charset="0"/>
                              </a:rPr>
                              <m:t>=0, ∀ </m:t>
                            </m:r>
                            <m:r>
                              <a:rPr lang="en-US" altLang="zh-TW" sz="2400" i="1">
                                <a:latin typeface="Cambria Math" panose="02040503050406030204" pitchFamily="18" charset="0"/>
                              </a:rPr>
                              <m:t>𝑖</m:t>
                            </m:r>
                            <m:r>
                              <a:rPr lang="en-US" altLang="zh-TW" sz="2400" i="1">
                                <a:latin typeface="Cambria Math" panose="02040503050406030204" pitchFamily="18" charset="0"/>
                              </a:rPr>
                              <m:t>∈</m:t>
                            </m:r>
                            <m:r>
                              <a:rPr lang="en-US" altLang="zh-TW" sz="2400" i="1">
                                <a:latin typeface="Cambria Math" panose="02040503050406030204" pitchFamily="18" charset="0"/>
                              </a:rPr>
                              <m:t>𝑀</m:t>
                            </m:r>
                          </m:e>
                        </m:mr>
                      </m:m>
                    </m:oMath>
                  </m:oMathPara>
                </a14:m>
                <a:endParaRPr lang="zh-TW" altLang="en-US" sz="2400" dirty="0"/>
              </a:p>
            </p:txBody>
          </p:sp>
        </mc:Choice>
        <mc:Fallback xmlns="">
          <p:sp>
            <p:nvSpPr>
              <p:cNvPr id="5" name="矩形 4"/>
              <p:cNvSpPr>
                <a:spLocks noRot="1" noChangeAspect="1" noMove="1" noResize="1" noEditPoints="1" noAdjustHandles="1" noChangeArrowheads="1" noChangeShapeType="1" noTextEdit="1"/>
              </p:cNvSpPr>
              <p:nvPr/>
            </p:nvSpPr>
            <p:spPr>
              <a:xfrm>
                <a:off x="1193442" y="4335143"/>
                <a:ext cx="9714963" cy="1191416"/>
              </a:xfrm>
              <a:prstGeom prst="rect">
                <a:avLst/>
              </a:prstGeom>
              <a:blipFill rotWithShape="0">
                <a:blip r:embed="rId3"/>
                <a:stretch>
                  <a:fillRect l="-188" t="-4082"/>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155484755"/>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Extending </a:t>
            </a:r>
            <a:r>
              <a:rPr lang="en-US" altLang="zh-TW" dirty="0" smtClean="0"/>
              <a:t>statistics</a:t>
            </a:r>
            <a:endParaRPr lang="zh-TW" altLang="en-US" dirty="0"/>
          </a:p>
        </p:txBody>
      </p:sp>
      <p:sp>
        <p:nvSpPr>
          <p:cNvPr id="3" name="投影片編號版面配置區 2"/>
          <p:cNvSpPr>
            <a:spLocks noGrp="1"/>
          </p:cNvSpPr>
          <p:nvPr>
            <p:ph type="sldNum" sz="quarter" idx="12"/>
          </p:nvPr>
        </p:nvSpPr>
        <p:spPr/>
        <p:txBody>
          <a:bodyPr/>
          <a:lstStyle/>
          <a:p>
            <a:fld id="{8E7C9034-9CD7-4E81-904A-4E7DCAD21B02}" type="slidenum">
              <a:rPr lang="zh-TW" altLang="en-US" smtClean="0"/>
              <a:t>19</a:t>
            </a:fld>
            <a:endParaRPr lang="zh-TW" altLang="en-US"/>
          </a:p>
        </p:txBody>
      </p:sp>
      <mc:AlternateContent xmlns:mc="http://schemas.openxmlformats.org/markup-compatibility/2006" xmlns:a14="http://schemas.microsoft.com/office/drawing/2010/main">
        <mc:Choice Requires="a14">
          <p:sp>
            <p:nvSpPr>
              <p:cNvPr id="4" name="矩形 3"/>
              <p:cNvSpPr/>
              <p:nvPr/>
            </p:nvSpPr>
            <p:spPr>
              <a:xfrm>
                <a:off x="1090411" y="1952551"/>
                <a:ext cx="10487507" cy="2907014"/>
              </a:xfrm>
              <a:prstGeom prst="rect">
                <a:avLst/>
              </a:prstGeom>
            </p:spPr>
            <p:txBody>
              <a:bodyPr wrap="square">
                <a:spAutoFit/>
              </a:bodyPr>
              <a:lstStyle/>
              <a:p>
                <a14:m>
                  <m:oMath xmlns:m="http://schemas.openxmlformats.org/officeDocument/2006/math">
                    <m:r>
                      <a:rPr lang="en-US" altLang="zh-TW" sz="2400" i="1" smtClean="0">
                        <a:latin typeface="Cambria Math" panose="02040503050406030204" pitchFamily="18" charset="0"/>
                      </a:rPr>
                      <m:t>𝑀</m:t>
                    </m:r>
                    <m:r>
                      <a:rPr lang="en-US" altLang="zh-TW" sz="2400" i="1" smtClean="0">
                        <a:latin typeface="Cambria Math" panose="02040503050406030204" pitchFamily="18" charset="0"/>
                      </a:rPr>
                      <m:t>=</m:t>
                    </m:r>
                    <m:d>
                      <m:dPr>
                        <m:begChr m:val="{"/>
                        <m:endChr m:val="}"/>
                        <m:ctrlPr>
                          <a:rPr lang="en-US" altLang="zh-TW" sz="2400" i="1">
                            <a:latin typeface="Cambria Math"/>
                          </a:rPr>
                        </m:ctrlPr>
                      </m:dPr>
                      <m:e>
                        <m:r>
                          <a:rPr lang="en-US" altLang="zh-TW" sz="2400" i="1">
                            <a:latin typeface="Cambria Math" panose="02040503050406030204" pitchFamily="18" charset="0"/>
                          </a:rPr>
                          <m:t>1,2,⋯,</m:t>
                        </m:r>
                        <m:r>
                          <a:rPr lang="en-US" altLang="zh-TW" sz="2400" i="1">
                            <a:latin typeface="Cambria Math" panose="02040503050406030204" pitchFamily="18" charset="0"/>
                          </a:rPr>
                          <m:t>𝑚</m:t>
                        </m:r>
                      </m:e>
                    </m:d>
                  </m:oMath>
                </a14:m>
                <a:r>
                  <a:rPr lang="en-US" altLang="zh-TW" sz="2400" dirty="0"/>
                  <a:t>, the equivalence form :</a:t>
                </a:r>
              </a:p>
              <a:p>
                <a:pPr/>
                <a14:m>
                  <m:oMathPara xmlns:m="http://schemas.openxmlformats.org/officeDocument/2006/math">
                    <m:oMathParaPr>
                      <m:jc m:val="centerGroup"/>
                    </m:oMathParaPr>
                    <m:oMath xmlns:m="http://schemas.openxmlformats.org/officeDocument/2006/math">
                      <m:sSub>
                        <m:sSubPr>
                          <m:ctrlPr>
                            <a:rPr lang="en-US" altLang="zh-TW" sz="2400" i="1">
                              <a:latin typeface="Cambria Math"/>
                            </a:rPr>
                          </m:ctrlPr>
                        </m:sSubPr>
                        <m:e>
                          <m:r>
                            <a:rPr lang="en-US" altLang="zh-TW" sz="2400" i="1">
                              <a:latin typeface="Cambria Math" panose="02040503050406030204" pitchFamily="18" charset="0"/>
                            </a:rPr>
                            <m:t>𝑢</m:t>
                          </m:r>
                        </m:e>
                        <m:sub>
                          <m:r>
                            <a:rPr lang="en-US" altLang="zh-TW" sz="2400" i="1">
                              <a:latin typeface="Cambria Math" panose="02040503050406030204" pitchFamily="18" charset="0"/>
                            </a:rPr>
                            <m:t>1</m:t>
                          </m:r>
                        </m:sub>
                      </m:sSub>
                      <m:r>
                        <a:rPr lang="en-US" altLang="zh-TW" sz="2400" b="0" i="1" smtClean="0">
                          <a:latin typeface="Cambria Math" panose="02040503050406030204" pitchFamily="18" charset="0"/>
                        </a:rPr>
                        <m:t>=</m:t>
                      </m:r>
                      <m:sSub>
                        <m:sSubPr>
                          <m:ctrlPr>
                            <a:rPr lang="en-US" altLang="zh-TW" sz="2400" i="1">
                              <a:latin typeface="Cambria Math"/>
                            </a:rPr>
                          </m:ctrlPr>
                        </m:sSubPr>
                        <m:e>
                          <m:r>
                            <a:rPr lang="en-US" altLang="zh-TW" sz="2400" i="1">
                              <a:latin typeface="Cambria Math" panose="02040503050406030204" pitchFamily="18" charset="0"/>
                            </a:rPr>
                            <m:t>𝑢</m:t>
                          </m:r>
                        </m:e>
                        <m:sub>
                          <m:r>
                            <a:rPr lang="en-US" altLang="zh-TW" sz="2400" i="1">
                              <a:latin typeface="Cambria Math" panose="02040503050406030204" pitchFamily="18" charset="0"/>
                            </a:rPr>
                            <m:t>2</m:t>
                          </m:r>
                        </m:sub>
                      </m:sSub>
                      <m:r>
                        <a:rPr lang="en-US" altLang="zh-TW" sz="2400" b="0" i="1" smtClean="0">
                          <a:latin typeface="Cambria Math" panose="02040503050406030204" pitchFamily="18" charset="0"/>
                        </a:rPr>
                        <m:t>=</m:t>
                      </m:r>
                      <m:r>
                        <a:rPr lang="en-US" altLang="zh-TW" sz="2400" i="1">
                          <a:latin typeface="Cambria Math" panose="02040503050406030204" pitchFamily="18" charset="0"/>
                        </a:rPr>
                        <m:t>⋯</m:t>
                      </m:r>
                      <m:r>
                        <a:rPr lang="en-US" altLang="zh-TW" sz="2400" b="0" i="1" smtClean="0">
                          <a:latin typeface="Cambria Math" panose="02040503050406030204" pitchFamily="18" charset="0"/>
                        </a:rPr>
                        <m:t>=</m:t>
                      </m:r>
                      <m:sSub>
                        <m:sSubPr>
                          <m:ctrlPr>
                            <a:rPr lang="en-US" altLang="zh-TW" sz="2400" i="1">
                              <a:latin typeface="Cambria Math"/>
                            </a:rPr>
                          </m:ctrlPr>
                        </m:sSubPr>
                        <m:e>
                          <m:r>
                            <a:rPr lang="en-US" altLang="zh-TW" sz="2400" i="1">
                              <a:latin typeface="Cambria Math" panose="02040503050406030204" pitchFamily="18" charset="0"/>
                            </a:rPr>
                            <m:t>𝑢</m:t>
                          </m:r>
                        </m:e>
                        <m:sub>
                          <m:r>
                            <a:rPr lang="en-US" altLang="zh-TW" sz="2400" i="1">
                              <a:latin typeface="Cambria Math" panose="02040503050406030204" pitchFamily="18" charset="0"/>
                            </a:rPr>
                            <m:t>𝑚</m:t>
                          </m:r>
                        </m:sub>
                      </m:sSub>
                      <m:m>
                        <m:mPr>
                          <m:mcs>
                            <m:mc>
                              <m:mcPr>
                                <m:count m:val="2"/>
                                <m:mcJc m:val="center"/>
                              </m:mcPr>
                            </m:mc>
                          </m:mcs>
                          <m:ctrlPr>
                            <a:rPr lang="en-US" altLang="zh-TW" sz="2400" i="1">
                              <a:latin typeface="Cambria Math"/>
                            </a:rPr>
                          </m:ctrlPr>
                        </m:mPr>
                        <m:mr>
                          <m:e>
                            <m:r>
                              <m:rPr>
                                <m:brk m:alnAt="7"/>
                              </m:rPr>
                              <a:rPr lang="en-US" altLang="zh-TW" sz="2400" i="1">
                                <a:latin typeface="Cambria Math" panose="02040503050406030204" pitchFamily="18" charset="0"/>
                                <a:ea typeface="Cambria Math" panose="02040503050406030204" pitchFamily="18" charset="0"/>
                              </a:rPr>
                              <m:t>⟺</m:t>
                            </m:r>
                          </m:e>
                          <m:e>
                            <m:sSub>
                              <m:sSubPr>
                                <m:ctrlPr>
                                  <a:rPr lang="en-US" altLang="zh-TW" sz="2400" i="1">
                                    <a:latin typeface="Cambria Math"/>
                                  </a:rPr>
                                </m:ctrlPr>
                              </m:sSubPr>
                              <m:e>
                                <m:r>
                                  <a:rPr lang="en-US" altLang="zh-TW" sz="2400" i="1">
                                    <a:latin typeface="Cambria Math" panose="02040503050406030204" pitchFamily="18" charset="0"/>
                                  </a:rPr>
                                  <m:t>𝑢</m:t>
                                </m:r>
                              </m:e>
                              <m:sub>
                                <m:r>
                                  <a:rPr lang="en-US" altLang="zh-TW" sz="2400" i="1">
                                    <a:latin typeface="Cambria Math" panose="02040503050406030204" pitchFamily="18" charset="0"/>
                                  </a:rPr>
                                  <m:t>𝑖𝑗</m:t>
                                </m:r>
                              </m:sub>
                            </m:sSub>
                            <m:r>
                              <a:rPr lang="en-US" altLang="zh-TW" sz="2400" i="1">
                                <a:latin typeface="Cambria Math" panose="02040503050406030204" pitchFamily="18" charset="0"/>
                              </a:rPr>
                              <m:t>=0, ∀ </m:t>
                            </m:r>
                            <m:r>
                              <a:rPr lang="en-US" altLang="zh-TW" sz="2400" i="1">
                                <a:latin typeface="Cambria Math" panose="02040503050406030204" pitchFamily="18" charset="0"/>
                              </a:rPr>
                              <m:t>𝑖</m:t>
                            </m:r>
                            <m:r>
                              <a:rPr lang="en-US" altLang="zh-TW" sz="2400" i="1">
                                <a:latin typeface="Cambria Math" panose="02040503050406030204" pitchFamily="18" charset="0"/>
                              </a:rPr>
                              <m:t>, </m:t>
                            </m:r>
                            <m:r>
                              <a:rPr lang="en-US" altLang="zh-TW" sz="2400" i="1">
                                <a:latin typeface="Cambria Math" panose="02040503050406030204" pitchFamily="18" charset="0"/>
                              </a:rPr>
                              <m:t>𝑗</m:t>
                            </m:r>
                            <m:r>
                              <a:rPr lang="en-US" altLang="zh-TW" sz="2400" i="1">
                                <a:latin typeface="Cambria Math" panose="02040503050406030204" pitchFamily="18" charset="0"/>
                              </a:rPr>
                              <m:t>∈</m:t>
                            </m:r>
                            <m:r>
                              <a:rPr lang="en-US" altLang="zh-TW" sz="2400" i="1">
                                <a:latin typeface="Cambria Math" panose="02040503050406030204" pitchFamily="18" charset="0"/>
                              </a:rPr>
                              <m:t>𝑀</m:t>
                            </m:r>
                          </m:e>
                        </m:mr>
                        <m:mr>
                          <m:e>
                            <m:r>
                              <a:rPr lang="en-US" altLang="zh-TW" sz="2400" i="1">
                                <a:latin typeface="Cambria Math" panose="02040503050406030204" pitchFamily="18" charset="0"/>
                                <a:ea typeface="Cambria Math" panose="02040503050406030204" pitchFamily="18" charset="0"/>
                              </a:rPr>
                              <m:t>⟺</m:t>
                            </m:r>
                          </m:e>
                          <m:e>
                            <m:sSub>
                              <m:sSubPr>
                                <m:ctrlPr>
                                  <a:rPr lang="en-US" altLang="zh-TW" sz="2400" i="1">
                                    <a:latin typeface="Cambria Math"/>
                                  </a:rPr>
                                </m:ctrlPr>
                              </m:sSubPr>
                              <m:e>
                                <m:r>
                                  <a:rPr lang="en-US" altLang="zh-TW" sz="2400" i="1">
                                    <a:latin typeface="Cambria Math" panose="02040503050406030204" pitchFamily="18" charset="0"/>
                                  </a:rPr>
                                  <m:t>𝑢</m:t>
                                </m:r>
                              </m:e>
                              <m:sub>
                                <m:r>
                                  <a:rPr lang="en-US" altLang="zh-TW" sz="2400" i="1">
                                    <a:latin typeface="Cambria Math" panose="02040503050406030204" pitchFamily="18" charset="0"/>
                                  </a:rPr>
                                  <m:t>𝑖</m:t>
                                </m:r>
                                <m:r>
                                  <a:rPr lang="en-US" altLang="zh-TW" sz="2400" i="1">
                                    <a:latin typeface="Cambria Math" panose="02040503050406030204" pitchFamily="18" charset="0"/>
                                  </a:rPr>
                                  <m:t>.</m:t>
                                </m:r>
                              </m:sub>
                            </m:sSub>
                            <m:r>
                              <a:rPr lang="en-US" altLang="zh-TW" sz="2400" i="1">
                                <a:latin typeface="Cambria Math" panose="02040503050406030204" pitchFamily="18" charset="0"/>
                              </a:rPr>
                              <m:t>=0, ∀ </m:t>
                            </m:r>
                            <m:r>
                              <a:rPr lang="en-US" altLang="zh-TW" sz="2400" i="1">
                                <a:latin typeface="Cambria Math" panose="02040503050406030204" pitchFamily="18" charset="0"/>
                              </a:rPr>
                              <m:t>𝑖</m:t>
                            </m:r>
                            <m:r>
                              <a:rPr lang="en-US" altLang="zh-TW" sz="2400" i="1">
                                <a:latin typeface="Cambria Math" panose="02040503050406030204" pitchFamily="18" charset="0"/>
                              </a:rPr>
                              <m:t>∈</m:t>
                            </m:r>
                            <m:r>
                              <a:rPr lang="en-US" altLang="zh-TW" sz="2400" i="1">
                                <a:latin typeface="Cambria Math" panose="02040503050406030204" pitchFamily="18" charset="0"/>
                              </a:rPr>
                              <m:t>𝑀</m:t>
                            </m:r>
                          </m:e>
                        </m:mr>
                      </m:m>
                    </m:oMath>
                  </m:oMathPara>
                </a14:m>
                <a:endParaRPr lang="en-US" altLang="zh-TW" sz="2400" dirty="0" smtClean="0"/>
              </a:p>
              <a:p>
                <a:endParaRPr lang="en-US" altLang="zh-TW" sz="2400" dirty="0"/>
              </a:p>
              <a:p>
                <a:r>
                  <a:rPr lang="en-US" altLang="zh-TW" sz="2400" dirty="0" smtClean="0"/>
                  <a:t>Extending statistics</a:t>
                </a:r>
              </a:p>
              <a:p>
                <a:pPr/>
                <a14:m>
                  <m:oMathPara xmlns:m="http://schemas.openxmlformats.org/officeDocument/2006/math">
                    <m:oMathParaPr>
                      <m:jc m:val="centerGroup"/>
                    </m:oMathParaPr>
                    <m:oMath xmlns:m="http://schemas.openxmlformats.org/officeDocument/2006/math">
                      <m:d>
                        <m:dPr>
                          <m:begChr m:val="{"/>
                          <m:endChr m:val="}"/>
                          <m:ctrlPr>
                            <a:rPr lang="en-US" altLang="zh-TW" sz="2400" b="0" i="1" smtClean="0">
                              <a:latin typeface="Cambria Math"/>
                            </a:rPr>
                          </m:ctrlPr>
                        </m:dPr>
                        <m:e>
                          <m:sSub>
                            <m:sSubPr>
                              <m:ctrlPr>
                                <a:rPr lang="en-US" altLang="zh-TW" sz="2400" i="1">
                                  <a:latin typeface="Cambria Math"/>
                                </a:rPr>
                              </m:ctrlPr>
                            </m:sSubPr>
                            <m:e>
                              <m:r>
                                <a:rPr lang="en-US" altLang="zh-TW" sz="2400" i="1">
                                  <a:latin typeface="Cambria Math" panose="02040503050406030204" pitchFamily="18" charset="0"/>
                                </a:rPr>
                                <m:t>𝑢</m:t>
                              </m:r>
                            </m:e>
                            <m:sub>
                              <m:r>
                                <a:rPr lang="en-US" altLang="zh-TW" sz="2400" i="1">
                                  <a:latin typeface="Cambria Math" panose="02040503050406030204" pitchFamily="18" charset="0"/>
                                </a:rPr>
                                <m:t>𝑖</m:t>
                              </m:r>
                              <m:r>
                                <a:rPr lang="en-US" altLang="zh-TW" sz="2400" i="1">
                                  <a:latin typeface="Cambria Math" panose="02040503050406030204" pitchFamily="18" charset="0"/>
                                </a:rPr>
                                <m:t>.</m:t>
                              </m:r>
                            </m:sub>
                          </m:sSub>
                          <m:r>
                            <a:rPr lang="en-US" altLang="zh-TW" sz="2400" b="0" i="1" smtClean="0">
                              <a:latin typeface="Cambria Math" panose="02040503050406030204" pitchFamily="18" charset="0"/>
                            </a:rPr>
                            <m:t>≤</m:t>
                          </m:r>
                          <m:r>
                            <a:rPr lang="en-US" altLang="zh-TW" sz="2400" i="1">
                              <a:latin typeface="Cambria Math" panose="02040503050406030204" pitchFamily="18" charset="0"/>
                            </a:rPr>
                            <m:t>0, ∀ </m:t>
                          </m:r>
                          <m:r>
                            <a:rPr lang="en-US" altLang="zh-TW" sz="2400" i="1">
                              <a:latin typeface="Cambria Math" panose="02040503050406030204" pitchFamily="18" charset="0"/>
                            </a:rPr>
                            <m:t>𝑖</m:t>
                          </m:r>
                          <m:r>
                            <a:rPr lang="en-US" altLang="zh-TW" sz="2400" i="1">
                              <a:latin typeface="Cambria Math" panose="02040503050406030204" pitchFamily="18" charset="0"/>
                            </a:rPr>
                            <m:t>∈</m:t>
                          </m:r>
                          <m:r>
                            <a:rPr lang="en-US" altLang="zh-TW" sz="2400" i="1">
                              <a:latin typeface="Cambria Math" panose="02040503050406030204" pitchFamily="18" charset="0"/>
                            </a:rPr>
                            <m:t>𝑀</m:t>
                          </m:r>
                        </m:e>
                      </m:d>
                      <m:r>
                        <a:rPr lang="en-US" altLang="zh-TW" sz="2400" b="0" i="1" smtClean="0">
                          <a:latin typeface="Cambria Math" panose="02040503050406030204" pitchFamily="18" charset="0"/>
                        </a:rPr>
                        <m:t> </m:t>
                      </m:r>
                      <m:r>
                        <a:rPr lang="en-US" altLang="zh-TW" sz="2400" b="0" i="1" smtClean="0">
                          <a:latin typeface="Cambria Math" panose="02040503050406030204" pitchFamily="18" charset="0"/>
                        </a:rPr>
                        <m:t>𝑎𝑛𝑑</m:t>
                      </m:r>
                      <m:d>
                        <m:dPr>
                          <m:begChr m:val="{"/>
                          <m:endChr m:val="}"/>
                          <m:ctrlPr>
                            <a:rPr lang="en-US" altLang="zh-TW" sz="2400" i="1">
                              <a:latin typeface="Cambria Math"/>
                            </a:rPr>
                          </m:ctrlPr>
                        </m:dPr>
                        <m:e>
                          <m:d>
                            <m:dPr>
                              <m:begChr m:val="|"/>
                              <m:endChr m:val="|"/>
                              <m:ctrlPr>
                                <a:rPr lang="en-US" altLang="zh-TW" sz="2400" b="0" i="1" smtClean="0">
                                  <a:latin typeface="Cambria Math"/>
                                </a:rPr>
                              </m:ctrlPr>
                            </m:dPr>
                            <m:e>
                              <m:sSub>
                                <m:sSubPr>
                                  <m:ctrlPr>
                                    <a:rPr lang="en-US" altLang="zh-TW" sz="2400" b="0" i="1" smtClean="0">
                                      <a:latin typeface="Cambria Math"/>
                                    </a:rPr>
                                  </m:ctrlPr>
                                </m:sSubPr>
                                <m:e>
                                  <m:r>
                                    <a:rPr lang="en-US" altLang="zh-TW" sz="2400" b="0" i="1" smtClean="0">
                                      <a:latin typeface="Cambria Math" panose="02040503050406030204" pitchFamily="18" charset="0"/>
                                    </a:rPr>
                                    <m:t>𝑢</m:t>
                                  </m:r>
                                </m:e>
                                <m:sub>
                                  <m:r>
                                    <a:rPr lang="en-US" altLang="zh-TW" sz="2400" b="0" i="1" smtClean="0">
                                      <a:latin typeface="Cambria Math" panose="02040503050406030204" pitchFamily="18" charset="0"/>
                                    </a:rPr>
                                    <m:t>𝑖𝑗</m:t>
                                  </m:r>
                                </m:sub>
                              </m:sSub>
                            </m:e>
                          </m:d>
                          <m:r>
                            <a:rPr lang="en-US" altLang="zh-TW" sz="2400" i="1">
                              <a:latin typeface="Cambria Math" panose="02040503050406030204" pitchFamily="18" charset="0"/>
                            </a:rPr>
                            <m:t>≤0, ∀ </m:t>
                          </m:r>
                          <m:r>
                            <a:rPr lang="en-US" altLang="zh-TW" sz="2400" i="1">
                              <a:latin typeface="Cambria Math" panose="02040503050406030204" pitchFamily="18" charset="0"/>
                            </a:rPr>
                            <m:t>𝑖</m:t>
                          </m:r>
                          <m:r>
                            <a:rPr lang="en-US" altLang="zh-TW" sz="2400" b="0" i="1" smtClean="0">
                              <a:latin typeface="Cambria Math" panose="02040503050406030204" pitchFamily="18" charset="0"/>
                            </a:rPr>
                            <m:t>,</m:t>
                          </m:r>
                          <m:r>
                            <a:rPr lang="en-US" altLang="zh-TW" sz="2400" b="0" i="1" smtClean="0">
                              <a:latin typeface="Cambria Math" panose="02040503050406030204" pitchFamily="18" charset="0"/>
                            </a:rPr>
                            <m:t>𝑗</m:t>
                          </m:r>
                          <m:r>
                            <a:rPr lang="en-US" altLang="zh-TW" sz="2400" i="1">
                              <a:latin typeface="Cambria Math" panose="02040503050406030204" pitchFamily="18" charset="0"/>
                            </a:rPr>
                            <m:t>∈</m:t>
                          </m:r>
                          <m:r>
                            <a:rPr lang="en-US" altLang="zh-TW" sz="2400" i="1">
                              <a:latin typeface="Cambria Math" panose="02040503050406030204" pitchFamily="18" charset="0"/>
                            </a:rPr>
                            <m:t>𝑀</m:t>
                          </m:r>
                        </m:e>
                      </m:d>
                    </m:oMath>
                  </m:oMathPara>
                </a14:m>
                <a:endParaRPr lang="en-US" altLang="zh-TW" sz="2400" dirty="0" smtClean="0"/>
              </a:p>
              <a:p>
                <a:pPr/>
                <a14:m>
                  <m:oMathPara xmlns:m="http://schemas.openxmlformats.org/officeDocument/2006/math">
                    <m:oMathParaPr>
                      <m:jc m:val="centerGroup"/>
                    </m:oMathParaPr>
                    <m:oMath xmlns:m="http://schemas.openxmlformats.org/officeDocument/2006/math">
                      <m:sSub>
                        <m:sSubPr>
                          <m:ctrlPr>
                            <a:rPr lang="en-US" altLang="zh-TW" sz="2400" b="0" i="1" smtClean="0">
                              <a:latin typeface="Cambria Math"/>
                            </a:rPr>
                          </m:ctrlPr>
                        </m:sSubPr>
                        <m:e>
                          <m:r>
                            <a:rPr lang="en-US" altLang="zh-TW" sz="2400" b="0" i="1" smtClean="0">
                              <a:latin typeface="Cambria Math" panose="02040503050406030204" pitchFamily="18" charset="0"/>
                            </a:rPr>
                            <m:t>𝑇</m:t>
                          </m:r>
                        </m:e>
                        <m:sub>
                          <m:r>
                            <a:rPr lang="en-US" altLang="zh-TW" sz="2400" b="0" i="1" smtClean="0">
                              <a:latin typeface="Cambria Math" panose="02040503050406030204" pitchFamily="18" charset="0"/>
                            </a:rPr>
                            <m:t>𝑚𝑎𝑥</m:t>
                          </m:r>
                          <m:r>
                            <a:rPr lang="en-US" altLang="zh-TW" sz="2400" b="0" i="1" smtClean="0">
                              <a:latin typeface="Cambria Math" panose="02040503050406030204" pitchFamily="18" charset="0"/>
                            </a:rPr>
                            <m:t>,</m:t>
                          </m:r>
                          <m:r>
                            <a:rPr lang="en-US" altLang="zh-TW" sz="2400" b="0" i="1" smtClean="0">
                              <a:latin typeface="Cambria Math" panose="02040503050406030204" pitchFamily="18" charset="0"/>
                            </a:rPr>
                            <m:t>𝑀</m:t>
                          </m:r>
                        </m:sub>
                      </m:sSub>
                      <m:r>
                        <a:rPr lang="en-US" altLang="zh-TW" sz="2400" b="0" i="1" smtClean="0">
                          <a:latin typeface="Cambria Math" panose="02040503050406030204" pitchFamily="18" charset="0"/>
                        </a:rPr>
                        <m:t>=</m:t>
                      </m:r>
                      <m:func>
                        <m:funcPr>
                          <m:ctrlPr>
                            <a:rPr lang="en-US" altLang="zh-TW" sz="2400" b="0" i="1" smtClean="0">
                              <a:latin typeface="Cambria Math"/>
                            </a:rPr>
                          </m:ctrlPr>
                        </m:funcPr>
                        <m:fName>
                          <m:limLow>
                            <m:limLowPr>
                              <m:ctrlPr>
                                <a:rPr lang="en-US" altLang="zh-TW" sz="2400" b="0" i="1" smtClean="0">
                                  <a:latin typeface="Cambria Math"/>
                                </a:rPr>
                              </m:ctrlPr>
                            </m:limLowPr>
                            <m:e>
                              <m:r>
                                <m:rPr>
                                  <m:sty m:val="p"/>
                                </m:rPr>
                                <a:rPr lang="en-US" altLang="zh-TW" sz="2400" b="0" i="0" smtClean="0">
                                  <a:latin typeface="Cambria Math" panose="02040503050406030204" pitchFamily="18" charset="0"/>
                                </a:rPr>
                                <m:t>max</m:t>
                              </m:r>
                            </m:e>
                            <m:lim>
                              <m:r>
                                <a:rPr lang="en-US" altLang="zh-TW" sz="2400" b="0" i="1" smtClean="0">
                                  <a:latin typeface="Cambria Math" panose="02040503050406030204" pitchFamily="18" charset="0"/>
                                </a:rPr>
                                <m:t>𝑖</m:t>
                              </m:r>
                              <m:r>
                                <a:rPr lang="en-US" altLang="zh-TW" sz="2400" b="0" i="1" smtClean="0">
                                  <a:latin typeface="Cambria Math" panose="02040503050406030204" pitchFamily="18" charset="0"/>
                                </a:rPr>
                                <m:t>∈</m:t>
                              </m:r>
                              <m:r>
                                <a:rPr lang="en-US" altLang="zh-TW" sz="2400" b="0" i="1" smtClean="0">
                                  <a:latin typeface="Cambria Math" panose="02040503050406030204" pitchFamily="18" charset="0"/>
                                </a:rPr>
                                <m:t>𝑀</m:t>
                              </m:r>
                              <m:r>
                                <a:rPr lang="en-US" altLang="zh-TW" sz="2400" b="0" i="1" smtClean="0">
                                  <a:latin typeface="Cambria Math" panose="02040503050406030204" pitchFamily="18" charset="0"/>
                                </a:rPr>
                                <m:t> </m:t>
                              </m:r>
                            </m:lim>
                          </m:limLow>
                        </m:fName>
                        <m:e>
                          <m:sSub>
                            <m:sSubPr>
                              <m:ctrlPr>
                                <a:rPr lang="en-US" altLang="zh-TW" sz="2400" b="0" i="1" smtClean="0">
                                  <a:latin typeface="Cambria Math"/>
                                </a:rPr>
                              </m:ctrlPr>
                            </m:sSubPr>
                            <m:e>
                              <m:r>
                                <a:rPr lang="en-US" altLang="zh-TW" sz="2400" b="0" i="1" smtClean="0">
                                  <a:latin typeface="Cambria Math" panose="02040503050406030204" pitchFamily="18" charset="0"/>
                                </a:rPr>
                                <m:t>𝑡</m:t>
                              </m:r>
                            </m:e>
                            <m:sub>
                              <m:r>
                                <a:rPr lang="en-US" altLang="zh-TW" sz="2400" b="0" i="1" smtClean="0">
                                  <a:latin typeface="Cambria Math" panose="02040503050406030204" pitchFamily="18" charset="0"/>
                                </a:rPr>
                                <m:t>𝑖</m:t>
                              </m:r>
                              <m:r>
                                <a:rPr lang="en-US" altLang="zh-TW" sz="2400" b="0" i="1" smtClean="0">
                                  <a:latin typeface="Cambria Math" panose="02040503050406030204" pitchFamily="18" charset="0"/>
                                </a:rPr>
                                <m:t>.</m:t>
                              </m:r>
                            </m:sub>
                          </m:sSub>
                        </m:e>
                      </m:func>
                      <m:r>
                        <a:rPr lang="en-US" altLang="zh-TW" sz="2400" b="0" i="1" smtClean="0">
                          <a:latin typeface="Cambria Math" panose="02040503050406030204" pitchFamily="18" charset="0"/>
                        </a:rPr>
                        <m:t> </m:t>
                      </m:r>
                      <m:r>
                        <a:rPr lang="en-US" altLang="zh-TW" sz="2400" b="0" i="1" smtClean="0">
                          <a:latin typeface="Cambria Math" panose="02040503050406030204" pitchFamily="18" charset="0"/>
                        </a:rPr>
                        <m:t>𝑎𝑛𝑑</m:t>
                      </m:r>
                      <m:r>
                        <a:rPr lang="en-US" altLang="zh-TW" sz="2400" b="0" i="1" smtClean="0">
                          <a:latin typeface="Cambria Math" panose="02040503050406030204" pitchFamily="18" charset="0"/>
                        </a:rPr>
                        <m:t> </m:t>
                      </m:r>
                      <m:sSub>
                        <m:sSubPr>
                          <m:ctrlPr>
                            <a:rPr lang="en-US" altLang="zh-TW" sz="2400" i="1">
                              <a:latin typeface="Cambria Math"/>
                            </a:rPr>
                          </m:ctrlPr>
                        </m:sSubPr>
                        <m:e>
                          <m:r>
                            <a:rPr lang="en-US" altLang="zh-TW" sz="2400" i="1">
                              <a:latin typeface="Cambria Math" panose="02040503050406030204" pitchFamily="18" charset="0"/>
                            </a:rPr>
                            <m:t>𝑇</m:t>
                          </m:r>
                        </m:e>
                        <m:sub>
                          <m:r>
                            <a:rPr lang="en-US" altLang="zh-TW" sz="2400" b="0" i="1" smtClean="0">
                              <a:latin typeface="Cambria Math" panose="02040503050406030204" pitchFamily="18" charset="0"/>
                            </a:rPr>
                            <m:t>𝑅</m:t>
                          </m:r>
                          <m:r>
                            <a:rPr lang="en-US" altLang="zh-TW" sz="2400" i="1">
                              <a:latin typeface="Cambria Math" panose="02040503050406030204" pitchFamily="18" charset="0"/>
                            </a:rPr>
                            <m:t>,</m:t>
                          </m:r>
                          <m:r>
                            <a:rPr lang="en-US" altLang="zh-TW" sz="2400" i="1">
                              <a:latin typeface="Cambria Math" panose="02040503050406030204" pitchFamily="18" charset="0"/>
                            </a:rPr>
                            <m:t>𝑀</m:t>
                          </m:r>
                        </m:sub>
                      </m:sSub>
                      <m:r>
                        <a:rPr lang="en-US" altLang="zh-TW" sz="2400" i="1">
                          <a:latin typeface="Cambria Math" panose="02040503050406030204" pitchFamily="18" charset="0"/>
                        </a:rPr>
                        <m:t>=</m:t>
                      </m:r>
                      <m:func>
                        <m:funcPr>
                          <m:ctrlPr>
                            <a:rPr lang="en-US" altLang="zh-TW" sz="2400" i="1">
                              <a:latin typeface="Cambria Math"/>
                            </a:rPr>
                          </m:ctrlPr>
                        </m:funcPr>
                        <m:fName>
                          <m:limLow>
                            <m:limLowPr>
                              <m:ctrlPr>
                                <a:rPr lang="en-US" altLang="zh-TW" sz="2400" i="1">
                                  <a:latin typeface="Cambria Math"/>
                                </a:rPr>
                              </m:ctrlPr>
                            </m:limLowPr>
                            <m:e>
                              <m:r>
                                <m:rPr>
                                  <m:sty m:val="p"/>
                                </m:rPr>
                                <a:rPr lang="en-US" altLang="zh-TW" sz="2400">
                                  <a:latin typeface="Cambria Math" panose="02040503050406030204" pitchFamily="18" charset="0"/>
                                </a:rPr>
                                <m:t>max</m:t>
                              </m:r>
                            </m:e>
                            <m:lim>
                              <m:r>
                                <a:rPr lang="en-US" altLang="zh-TW" sz="2400" i="1">
                                  <a:latin typeface="Cambria Math" panose="02040503050406030204" pitchFamily="18" charset="0"/>
                                </a:rPr>
                                <m:t>𝑖</m:t>
                              </m:r>
                              <m:r>
                                <a:rPr lang="en-US" altLang="zh-TW" sz="2400" b="0" i="1" smtClean="0">
                                  <a:latin typeface="Cambria Math" panose="02040503050406030204" pitchFamily="18" charset="0"/>
                                </a:rPr>
                                <m:t>,</m:t>
                              </m:r>
                              <m:r>
                                <a:rPr lang="en-US" altLang="zh-TW" sz="2400" b="0" i="1" smtClean="0">
                                  <a:latin typeface="Cambria Math" panose="02040503050406030204" pitchFamily="18" charset="0"/>
                                </a:rPr>
                                <m:t>𝑗</m:t>
                              </m:r>
                              <m:r>
                                <a:rPr lang="en-US" altLang="zh-TW" sz="2400" i="1">
                                  <a:latin typeface="Cambria Math" panose="02040503050406030204" pitchFamily="18" charset="0"/>
                                </a:rPr>
                                <m:t>∈</m:t>
                              </m:r>
                              <m:r>
                                <a:rPr lang="en-US" altLang="zh-TW" sz="2400" i="1">
                                  <a:latin typeface="Cambria Math" panose="02040503050406030204" pitchFamily="18" charset="0"/>
                                </a:rPr>
                                <m:t>𝑀</m:t>
                              </m:r>
                              <m:r>
                                <a:rPr lang="en-US" altLang="zh-TW" sz="2400" i="1">
                                  <a:latin typeface="Cambria Math" panose="02040503050406030204" pitchFamily="18" charset="0"/>
                                </a:rPr>
                                <m:t> </m:t>
                              </m:r>
                            </m:lim>
                          </m:limLow>
                        </m:fName>
                        <m:e>
                          <m:d>
                            <m:dPr>
                              <m:begChr m:val="|"/>
                              <m:endChr m:val="|"/>
                              <m:ctrlPr>
                                <a:rPr lang="en-US" altLang="zh-TW" sz="2400" b="0" i="1" smtClean="0">
                                  <a:latin typeface="Cambria Math"/>
                                </a:rPr>
                              </m:ctrlPr>
                            </m:dPr>
                            <m:e>
                              <m:sSub>
                                <m:sSubPr>
                                  <m:ctrlPr>
                                    <a:rPr lang="en-US" altLang="zh-TW" sz="2400" b="0" i="1" smtClean="0">
                                      <a:latin typeface="Cambria Math"/>
                                    </a:rPr>
                                  </m:ctrlPr>
                                </m:sSubPr>
                                <m:e>
                                  <m:r>
                                    <a:rPr lang="en-US" altLang="zh-TW" sz="2400" b="0" i="1" smtClean="0">
                                      <a:latin typeface="Cambria Math" panose="02040503050406030204" pitchFamily="18" charset="0"/>
                                    </a:rPr>
                                    <m:t>𝑡</m:t>
                                  </m:r>
                                </m:e>
                                <m:sub>
                                  <m:r>
                                    <a:rPr lang="en-US" altLang="zh-TW" sz="2400" b="0" i="1" smtClean="0">
                                      <a:latin typeface="Cambria Math" panose="02040503050406030204" pitchFamily="18" charset="0"/>
                                    </a:rPr>
                                    <m:t>𝑖𝑗</m:t>
                                  </m:r>
                                </m:sub>
                              </m:sSub>
                            </m:e>
                          </m:d>
                        </m:e>
                      </m:func>
                    </m:oMath>
                  </m:oMathPara>
                </a14:m>
                <a:endParaRPr lang="zh-TW" altLang="en-US" sz="2400" dirty="0"/>
              </a:p>
            </p:txBody>
          </p:sp>
        </mc:Choice>
        <mc:Fallback xmlns="">
          <p:sp>
            <p:nvSpPr>
              <p:cNvPr id="4" name="矩形 3"/>
              <p:cNvSpPr>
                <a:spLocks noRot="1" noChangeAspect="1" noMove="1" noResize="1" noEditPoints="1" noAdjustHandles="1" noChangeArrowheads="1" noChangeShapeType="1" noTextEdit="1"/>
              </p:cNvSpPr>
              <p:nvPr/>
            </p:nvSpPr>
            <p:spPr>
              <a:xfrm>
                <a:off x="1090411" y="1952551"/>
                <a:ext cx="10487507" cy="2907014"/>
              </a:xfrm>
              <a:prstGeom prst="rect">
                <a:avLst/>
              </a:prstGeom>
              <a:blipFill rotWithShape="1">
                <a:blip r:embed="rId2"/>
                <a:stretch>
                  <a:fillRect l="-930" t="-1677"/>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1468209693"/>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70647" y="365125"/>
            <a:ext cx="10883153" cy="1325563"/>
          </a:xfrm>
        </p:spPr>
        <p:txBody>
          <a:bodyPr/>
          <a:lstStyle/>
          <a:p>
            <a:r>
              <a:rPr lang="en-US" altLang="zh-TW" dirty="0" smtClean="0"/>
              <a:t>Block bootstrap with length l=3 (for time series)</a:t>
            </a:r>
            <a:endParaRPr lang="zh-TW" altLang="en-US" dirty="0"/>
          </a:p>
        </p:txBody>
      </p:sp>
      <p:sp>
        <p:nvSpPr>
          <p:cNvPr id="3" name="投影片編號版面配置區 2"/>
          <p:cNvSpPr>
            <a:spLocks noGrp="1"/>
          </p:cNvSpPr>
          <p:nvPr>
            <p:ph type="sldNum" sz="quarter" idx="12"/>
          </p:nvPr>
        </p:nvSpPr>
        <p:spPr/>
        <p:txBody>
          <a:bodyPr/>
          <a:lstStyle/>
          <a:p>
            <a:fld id="{8E7C9034-9CD7-4E81-904A-4E7DCAD21B02}" type="slidenum">
              <a:rPr lang="zh-TW" altLang="en-US" smtClean="0"/>
              <a:t>20</a:t>
            </a:fld>
            <a:endParaRPr lang="zh-TW" altLang="en-US"/>
          </a:p>
        </p:txBody>
      </p:sp>
      <mc:AlternateContent xmlns:mc="http://schemas.openxmlformats.org/markup-compatibility/2006" xmlns:a14="http://schemas.microsoft.com/office/drawing/2010/main">
        <mc:Choice Requires="a14">
          <p:graphicFrame>
            <p:nvGraphicFramePr>
              <p:cNvPr id="4" name="表格 3"/>
              <p:cNvGraphicFramePr>
                <a:graphicFrameLocks noGrp="1"/>
              </p:cNvGraphicFramePr>
              <p:nvPr>
                <p:extLst>
                  <p:ext uri="{D42A27DB-BD31-4B8C-83A1-F6EECF244321}">
                    <p14:modId xmlns:p14="http://schemas.microsoft.com/office/powerpoint/2010/main" val="1207038619"/>
                  </p:ext>
                </p:extLst>
              </p:nvPr>
            </p:nvGraphicFramePr>
            <p:xfrm>
              <a:off x="0" y="1896503"/>
              <a:ext cx="11951595" cy="2239495"/>
            </p:xfrm>
            <a:graphic>
              <a:graphicData uri="http://schemas.openxmlformats.org/drawingml/2006/table">
                <a:tbl>
                  <a:tblPr>
                    <a:tableStyleId>{5C22544A-7EE6-4342-B048-85BDC9FD1C3A}</a:tableStyleId>
                  </a:tblPr>
                  <a:tblGrid>
                    <a:gridCol w="1242975"/>
                    <a:gridCol w="1070862"/>
                    <a:gridCol w="1070862"/>
                    <a:gridCol w="1070862"/>
                    <a:gridCol w="1070862"/>
                    <a:gridCol w="1070862"/>
                    <a:gridCol w="1070862"/>
                    <a:gridCol w="1070862"/>
                    <a:gridCol w="1070862"/>
                    <a:gridCol w="1070862"/>
                    <a:gridCol w="1070862"/>
                  </a:tblGrid>
                  <a:tr h="207049">
                    <a:tc>
                      <a:txBody>
                        <a:bodyPr/>
                        <a:lstStyle/>
                        <a:p>
                          <a:pPr algn="l" fontAlgn="ctr"/>
                          <a14:m>
                            <m:oMathPara xmlns:m="http://schemas.openxmlformats.org/officeDocument/2006/math">
                              <m:oMathParaPr>
                                <m:jc m:val="centerGroup"/>
                              </m:oMathParaPr>
                              <m:oMath xmlns:m="http://schemas.openxmlformats.org/officeDocument/2006/math">
                                <m:sSub>
                                  <m:sSubPr>
                                    <m:ctrlPr>
                                      <a:rPr lang="en-US" altLang="zh-TW" sz="1200" b="0" i="1" smtClean="0">
                                        <a:latin typeface="Cambria Math"/>
                                      </a:rPr>
                                    </m:ctrlPr>
                                  </m:sSubPr>
                                  <m:e>
                                    <m:r>
                                      <a:rPr lang="en-US" altLang="zh-TW" sz="1200" b="0" i="1" smtClean="0">
                                        <a:latin typeface="Cambria Math" panose="02040503050406030204" pitchFamily="18" charset="0"/>
                                      </a:rPr>
                                      <m:t>𝑑</m:t>
                                    </m:r>
                                  </m:e>
                                  <m:sub>
                                    <m:r>
                                      <a:rPr lang="en-US" altLang="zh-TW" sz="1200" b="0" i="1" smtClean="0">
                                        <a:latin typeface="Cambria Math" panose="02040503050406030204" pitchFamily="18" charset="0"/>
                                      </a:rPr>
                                      <m:t>𝑖𝑗</m:t>
                                    </m:r>
                                    <m:r>
                                      <a:rPr lang="en-US" altLang="zh-TW" sz="1200" b="0" i="1" smtClean="0">
                                        <a:latin typeface="Cambria Math" panose="02040503050406030204" pitchFamily="18" charset="0"/>
                                      </a:rPr>
                                      <m:t>,</m:t>
                                    </m:r>
                                    <m:r>
                                      <a:rPr lang="en-US" altLang="zh-TW" sz="1200" b="0" i="1" smtClean="0">
                                        <a:latin typeface="Cambria Math" panose="02040503050406030204" pitchFamily="18" charset="0"/>
                                      </a:rPr>
                                      <m:t>𝑡</m:t>
                                    </m:r>
                                  </m:sub>
                                </m:sSub>
                                <m:r>
                                  <a:rPr lang="en-US" altLang="zh-TW" sz="1200" b="0" i="1" smtClean="0">
                                    <a:latin typeface="Cambria Math" panose="02040503050406030204" pitchFamily="18" charset="0"/>
                                  </a:rPr>
                                  <m:t>=</m:t>
                                </m:r>
                                <m:sSub>
                                  <m:sSubPr>
                                    <m:ctrlPr>
                                      <a:rPr lang="en-US" altLang="zh-TW" sz="1200" b="0" i="1" smtClean="0">
                                        <a:latin typeface="Cambria Math"/>
                                      </a:rPr>
                                    </m:ctrlPr>
                                  </m:sSubPr>
                                  <m:e>
                                    <m:r>
                                      <a:rPr lang="en-US" altLang="zh-TW" sz="1200" b="0" i="1" smtClean="0">
                                        <a:latin typeface="Cambria Math" panose="02040503050406030204" pitchFamily="18" charset="0"/>
                                      </a:rPr>
                                      <m:t>𝐿</m:t>
                                    </m:r>
                                  </m:e>
                                  <m:sub>
                                    <m:r>
                                      <a:rPr lang="en-US" altLang="zh-TW" sz="1200" b="0" i="1" smtClean="0">
                                        <a:latin typeface="Cambria Math" panose="02040503050406030204" pitchFamily="18" charset="0"/>
                                      </a:rPr>
                                      <m:t>𝑖</m:t>
                                    </m:r>
                                    <m:r>
                                      <a:rPr lang="en-US" altLang="zh-TW" sz="1200" b="0" i="1" smtClean="0">
                                        <a:latin typeface="Cambria Math" panose="02040503050406030204" pitchFamily="18" charset="0"/>
                                      </a:rPr>
                                      <m:t>,</m:t>
                                    </m:r>
                                    <m:r>
                                      <a:rPr lang="en-US" altLang="zh-TW" sz="1200" b="0" i="1" smtClean="0">
                                        <a:latin typeface="Cambria Math" panose="02040503050406030204" pitchFamily="18" charset="0"/>
                                      </a:rPr>
                                      <m:t>𝑡</m:t>
                                    </m:r>
                                  </m:sub>
                                </m:sSub>
                                <m:r>
                                  <a:rPr lang="en-US" altLang="zh-TW" sz="1200" b="0" i="1" smtClean="0">
                                    <a:latin typeface="Cambria Math" panose="02040503050406030204" pitchFamily="18" charset="0"/>
                                  </a:rPr>
                                  <m:t>−</m:t>
                                </m:r>
                                <m:sSub>
                                  <m:sSubPr>
                                    <m:ctrlPr>
                                      <a:rPr lang="en-US" altLang="zh-TW" sz="1200" b="0" i="1" smtClean="0">
                                        <a:latin typeface="Cambria Math"/>
                                      </a:rPr>
                                    </m:ctrlPr>
                                  </m:sSubPr>
                                  <m:e>
                                    <m:r>
                                      <a:rPr lang="en-US" altLang="zh-TW" sz="1200" b="0" i="1" smtClean="0">
                                        <a:latin typeface="Cambria Math" panose="02040503050406030204" pitchFamily="18" charset="0"/>
                                      </a:rPr>
                                      <m:t>𝐿</m:t>
                                    </m:r>
                                  </m:e>
                                  <m:sub>
                                    <m:r>
                                      <a:rPr lang="en-US" altLang="zh-TW" sz="1200" b="0" i="1" smtClean="0">
                                        <a:latin typeface="Cambria Math" panose="02040503050406030204" pitchFamily="18" charset="0"/>
                                      </a:rPr>
                                      <m:t>𝑗</m:t>
                                    </m:r>
                                    <m:r>
                                      <a:rPr lang="en-US" altLang="zh-TW" sz="1200" b="0" i="1" smtClean="0">
                                        <a:latin typeface="Cambria Math" panose="02040503050406030204" pitchFamily="18" charset="0"/>
                                      </a:rPr>
                                      <m:t>,</m:t>
                                    </m:r>
                                    <m:r>
                                      <a:rPr lang="en-US" altLang="zh-TW" sz="1200" b="0" i="1" smtClean="0">
                                        <a:latin typeface="Cambria Math" panose="02040503050406030204" pitchFamily="18" charset="0"/>
                                      </a:rPr>
                                      <m:t>𝑡</m:t>
                                    </m:r>
                                  </m:sub>
                                </m:sSub>
                              </m:oMath>
                            </m:oMathPara>
                          </a14:m>
                          <a:endParaRPr lang="zh-TW" altLang="en-US" sz="12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ctr" fontAlgn="ctr"/>
                          <a:r>
                            <a:rPr lang="en-US" altLang="zh-TW" sz="1600" b="0" i="0" u="none" strike="noStrike" dirty="0" smtClean="0">
                              <a:solidFill>
                                <a:srgbClr val="000000"/>
                              </a:solidFill>
                              <a:effectLst/>
                              <a:latin typeface="新細明體" panose="02020500000000000000" pitchFamily="18" charset="-120"/>
                              <a:ea typeface="新細明體" panose="02020500000000000000" pitchFamily="18" charset="-120"/>
                            </a:rPr>
                            <a:t>1</a:t>
                          </a:r>
                          <a:endParaRPr lang="en-US" altLang="zh-TW" sz="16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ctr" fontAlgn="ctr"/>
                          <a:r>
                            <a:rPr lang="en-US" altLang="zh-TW" sz="1600" b="0" i="0" u="none" strike="noStrike" dirty="0" smtClean="0">
                              <a:solidFill>
                                <a:srgbClr val="000000"/>
                              </a:solidFill>
                              <a:effectLst/>
                              <a:latin typeface="新細明體" panose="02020500000000000000" pitchFamily="18" charset="-120"/>
                              <a:ea typeface="新細明體" panose="02020500000000000000" pitchFamily="18" charset="-120"/>
                            </a:rPr>
                            <a:t>2</a:t>
                          </a:r>
                          <a:endParaRPr lang="en-US" altLang="zh-TW" sz="16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ctr" fontAlgn="ctr"/>
                          <a:r>
                            <a:rPr lang="en-US" altLang="zh-TW" sz="1600" b="0" i="0" u="none" strike="noStrike" dirty="0" smtClean="0">
                              <a:solidFill>
                                <a:srgbClr val="000000"/>
                              </a:solidFill>
                              <a:effectLst/>
                              <a:latin typeface="新細明體" panose="02020500000000000000" pitchFamily="18" charset="-120"/>
                              <a:ea typeface="新細明體" panose="02020500000000000000" pitchFamily="18" charset="-120"/>
                            </a:rPr>
                            <a:t>3</a:t>
                          </a:r>
                          <a:endParaRPr lang="en-US" altLang="zh-TW" sz="16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ctr" fontAlgn="ctr"/>
                          <a:r>
                            <a:rPr lang="en-US" altLang="zh-TW" sz="1600" b="0" i="0" u="none" strike="noStrike" dirty="0" smtClean="0">
                              <a:solidFill>
                                <a:srgbClr val="000000"/>
                              </a:solidFill>
                              <a:effectLst/>
                              <a:latin typeface="新細明體" panose="02020500000000000000" pitchFamily="18" charset="-120"/>
                              <a:ea typeface="新細明體" panose="02020500000000000000" pitchFamily="18" charset="-120"/>
                            </a:rPr>
                            <a:t>4</a:t>
                          </a:r>
                          <a:endParaRPr lang="en-US" altLang="zh-TW" sz="16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ctr" fontAlgn="ctr"/>
                          <a:r>
                            <a:rPr lang="en-US" altLang="zh-TW" sz="1600" b="0" i="0" u="none" strike="noStrike" dirty="0" smtClean="0">
                              <a:solidFill>
                                <a:srgbClr val="000000"/>
                              </a:solidFill>
                              <a:effectLst/>
                              <a:latin typeface="新細明體" panose="02020500000000000000" pitchFamily="18" charset="-120"/>
                              <a:ea typeface="新細明體" panose="02020500000000000000" pitchFamily="18" charset="-120"/>
                            </a:rPr>
                            <a:t>5</a:t>
                          </a:r>
                          <a:endParaRPr lang="en-US" altLang="zh-TW" sz="16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ctr" fontAlgn="ctr"/>
                          <a:r>
                            <a:rPr lang="en-US" altLang="zh-TW" sz="1600" b="0" i="0" u="none" strike="noStrike" dirty="0" smtClean="0">
                              <a:solidFill>
                                <a:srgbClr val="000000"/>
                              </a:solidFill>
                              <a:effectLst/>
                              <a:latin typeface="新細明體" panose="02020500000000000000" pitchFamily="18" charset="-120"/>
                              <a:ea typeface="新細明體" panose="02020500000000000000" pitchFamily="18" charset="-120"/>
                            </a:rPr>
                            <a:t>6</a:t>
                          </a:r>
                          <a:endParaRPr lang="en-US" altLang="zh-TW" sz="16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ctr" fontAlgn="ctr"/>
                          <a:r>
                            <a:rPr lang="en-US" altLang="zh-TW" sz="1600" b="0" i="0" u="none" strike="noStrike" dirty="0" smtClean="0">
                              <a:solidFill>
                                <a:srgbClr val="000000"/>
                              </a:solidFill>
                              <a:effectLst/>
                              <a:latin typeface="新細明體" panose="02020500000000000000" pitchFamily="18" charset="-120"/>
                              <a:ea typeface="新細明體" panose="02020500000000000000" pitchFamily="18" charset="-120"/>
                            </a:rPr>
                            <a:t>7</a:t>
                          </a:r>
                          <a:endParaRPr lang="en-US" altLang="zh-TW" sz="16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ctr" fontAlgn="ctr"/>
                          <a:r>
                            <a:rPr lang="en-US" altLang="zh-TW" sz="1600" b="0" i="0" u="none" strike="noStrike" dirty="0" smtClean="0">
                              <a:solidFill>
                                <a:srgbClr val="000000"/>
                              </a:solidFill>
                              <a:effectLst/>
                              <a:latin typeface="新細明體" panose="02020500000000000000" pitchFamily="18" charset="-120"/>
                              <a:ea typeface="新細明體" panose="02020500000000000000" pitchFamily="18" charset="-120"/>
                            </a:rPr>
                            <a:t>8</a:t>
                          </a:r>
                          <a:endParaRPr lang="en-US" altLang="zh-TW" sz="16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ctr" fontAlgn="ctr"/>
                          <a:r>
                            <a:rPr lang="en-US" altLang="zh-TW" sz="1600" b="0" i="0" u="none" strike="noStrike" dirty="0" smtClean="0">
                              <a:solidFill>
                                <a:srgbClr val="000000"/>
                              </a:solidFill>
                              <a:effectLst/>
                              <a:latin typeface="新細明體" panose="02020500000000000000" pitchFamily="18" charset="-120"/>
                              <a:ea typeface="新細明體" panose="02020500000000000000" pitchFamily="18" charset="-120"/>
                            </a:rPr>
                            <a:t>9</a:t>
                          </a:r>
                          <a:endParaRPr lang="en-US" altLang="zh-TW" sz="16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ctr" fontAlgn="ctr"/>
                          <a:endParaRPr lang="en-US" sz="1600" b="0" i="0" u="none" strike="noStrike" dirty="0">
                            <a:solidFill>
                              <a:srgbClr val="FF0000"/>
                            </a:solidFill>
                            <a:effectLst/>
                            <a:latin typeface="新細明體" panose="02020500000000000000" pitchFamily="18" charset="-120"/>
                            <a:ea typeface="新細明體" panose="02020500000000000000" pitchFamily="18" charset="-120"/>
                          </a:endParaRPr>
                        </a:p>
                      </a:txBody>
                      <a:tcPr marL="9411" marR="9411" marT="9411" marB="0" anchor="ctr"/>
                    </a:tc>
                  </a:tr>
                  <a:tr h="207049">
                    <a:tc>
                      <a:txBody>
                        <a:bodyPr/>
                        <a:lstStyle/>
                        <a:p>
                          <a:pPr algn="l" fontAlgn="ctr"/>
                          <a:endParaRPr lang="zh-TW" altLang="en-US" sz="12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ctr" fontAlgn="ctr"/>
                          <a:r>
                            <a:rPr lang="en-US" altLang="zh-TW" sz="1600" u="none" strike="noStrike" dirty="0">
                              <a:effectLst/>
                            </a:rPr>
                            <a:t>2012/11/20</a:t>
                          </a:r>
                          <a:endParaRPr lang="en-US" altLang="zh-TW" sz="16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ctr" fontAlgn="ctr"/>
                          <a:r>
                            <a:rPr lang="en-US" altLang="zh-TW" sz="1600" u="none" strike="noStrike" dirty="0">
                              <a:effectLst/>
                            </a:rPr>
                            <a:t>2012/11/21</a:t>
                          </a:r>
                          <a:endParaRPr lang="en-US" altLang="zh-TW" sz="16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ctr" fontAlgn="ctr"/>
                          <a:r>
                            <a:rPr lang="en-US" altLang="zh-TW" sz="1600" u="none" strike="noStrike" dirty="0">
                              <a:effectLst/>
                            </a:rPr>
                            <a:t>2012/11/22</a:t>
                          </a:r>
                          <a:endParaRPr lang="en-US" altLang="zh-TW" sz="16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ctr" fontAlgn="ctr"/>
                          <a:r>
                            <a:rPr lang="en-US" altLang="zh-TW" sz="1600" u="none" strike="noStrike" dirty="0">
                              <a:effectLst/>
                            </a:rPr>
                            <a:t>2012/11/23</a:t>
                          </a:r>
                          <a:endParaRPr lang="en-US" altLang="zh-TW" sz="16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ctr" fontAlgn="ctr"/>
                          <a:r>
                            <a:rPr lang="en-US" altLang="zh-TW" sz="1600" u="none" strike="noStrike" dirty="0">
                              <a:effectLst/>
                            </a:rPr>
                            <a:t>2012/11/26</a:t>
                          </a:r>
                          <a:endParaRPr lang="en-US" altLang="zh-TW" sz="16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ctr" fontAlgn="ctr"/>
                          <a:r>
                            <a:rPr lang="en-US" altLang="zh-TW" sz="1600" u="none" strike="noStrike" dirty="0">
                              <a:effectLst/>
                            </a:rPr>
                            <a:t>2012/11/27</a:t>
                          </a:r>
                          <a:endParaRPr lang="en-US" altLang="zh-TW" sz="16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ctr" fontAlgn="ctr"/>
                          <a:r>
                            <a:rPr lang="en-US" altLang="zh-TW" sz="1600" u="none" strike="noStrike" dirty="0">
                              <a:effectLst/>
                            </a:rPr>
                            <a:t>2012/11/28</a:t>
                          </a:r>
                          <a:endParaRPr lang="en-US" altLang="zh-TW" sz="16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ctr" fontAlgn="ctr"/>
                          <a:r>
                            <a:rPr lang="en-US" altLang="zh-TW" sz="1600" u="none" strike="noStrike" dirty="0">
                              <a:effectLst/>
                            </a:rPr>
                            <a:t>2012/11/29</a:t>
                          </a:r>
                          <a:endParaRPr lang="en-US" altLang="zh-TW" sz="16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ctr" fontAlgn="ctr"/>
                          <a:r>
                            <a:rPr lang="en-US" altLang="zh-TW" sz="1600" u="none" strike="noStrike" dirty="0">
                              <a:effectLst/>
                            </a:rPr>
                            <a:t>2012/11/30</a:t>
                          </a:r>
                          <a:endParaRPr lang="en-US" altLang="zh-TW" sz="16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ctr" fontAlgn="ctr"/>
                          <a14:m>
                            <m:oMath xmlns:m="http://schemas.openxmlformats.org/officeDocument/2006/math">
                              <m:sSub>
                                <m:sSubPr>
                                  <m:ctrlPr>
                                    <a:rPr lang="en-US" sz="1600" b="0" i="1" u="none" strike="noStrike" smtClean="0">
                                      <a:solidFill>
                                        <a:srgbClr val="FF0000"/>
                                      </a:solidFill>
                                      <a:effectLst/>
                                      <a:latin typeface="Cambria Math"/>
                                      <a:ea typeface="新細明體" panose="02020500000000000000" pitchFamily="18" charset="-120"/>
                                    </a:rPr>
                                  </m:ctrlPr>
                                </m:sSubPr>
                                <m:e>
                                  <m:r>
                                    <a:rPr lang="en-US" sz="1600" b="0" i="1" u="none" strike="noStrike" smtClean="0">
                                      <a:solidFill>
                                        <a:srgbClr val="FF0000"/>
                                      </a:solidFill>
                                      <a:effectLst/>
                                      <a:latin typeface="Cambria Math" panose="02040503050406030204" pitchFamily="18" charset="0"/>
                                      <a:ea typeface="新細明體" panose="02020500000000000000" pitchFamily="18" charset="-120"/>
                                    </a:rPr>
                                    <m:t>𝑢</m:t>
                                  </m:r>
                                </m:e>
                                <m:sub>
                                  <m:r>
                                    <a:rPr lang="en-US" sz="1600" b="0" i="1" u="none" strike="noStrike" smtClean="0">
                                      <a:solidFill>
                                        <a:srgbClr val="FF0000"/>
                                      </a:solidFill>
                                      <a:effectLst/>
                                      <a:latin typeface="Cambria Math" panose="02040503050406030204" pitchFamily="18" charset="0"/>
                                      <a:ea typeface="新細明體" panose="02020500000000000000" pitchFamily="18" charset="-120"/>
                                    </a:rPr>
                                    <m:t>𝑖𝑗</m:t>
                                  </m:r>
                                </m:sub>
                              </m:sSub>
                            </m:oMath>
                          </a14:m>
                          <a:r>
                            <a:rPr lang="en-US" sz="1600" b="0" i="0" u="none" strike="noStrike" dirty="0" smtClean="0">
                              <a:solidFill>
                                <a:srgbClr val="FF0000"/>
                              </a:solidFill>
                              <a:effectLst/>
                              <a:latin typeface="新細明體" panose="02020500000000000000" pitchFamily="18" charset="-120"/>
                              <a:ea typeface="新細明體" panose="02020500000000000000" pitchFamily="18" charset="-120"/>
                            </a:rPr>
                            <a:t> (</a:t>
                          </a:r>
                          <a14:m>
                            <m:oMath xmlns:m="http://schemas.openxmlformats.org/officeDocument/2006/math">
                              <m:sSub>
                                <m:sSubPr>
                                  <m:ctrlPr>
                                    <a:rPr lang="en-US" sz="1600" b="0" i="1" u="none" strike="noStrike" smtClean="0">
                                      <a:solidFill>
                                        <a:srgbClr val="FF0000"/>
                                      </a:solidFill>
                                      <a:effectLst/>
                                      <a:latin typeface="Cambria Math"/>
                                      <a:ea typeface="新細明體" panose="02020500000000000000" pitchFamily="18" charset="-120"/>
                                    </a:rPr>
                                  </m:ctrlPr>
                                </m:sSubPr>
                                <m:e>
                                  <m:acc>
                                    <m:accPr>
                                      <m:chr m:val="̅"/>
                                      <m:ctrlPr>
                                        <a:rPr lang="en-US" sz="1600" b="0" i="1" u="none" strike="noStrike" dirty="0" smtClean="0">
                                          <a:solidFill>
                                            <a:srgbClr val="FF0000"/>
                                          </a:solidFill>
                                          <a:effectLst/>
                                          <a:latin typeface="Cambria Math"/>
                                          <a:ea typeface="新細明體" panose="02020500000000000000" pitchFamily="18" charset="-120"/>
                                        </a:rPr>
                                      </m:ctrlPr>
                                    </m:accPr>
                                    <m:e>
                                      <m:r>
                                        <a:rPr lang="en-US" sz="1600" b="0" i="1" u="none" strike="noStrike" dirty="0" smtClean="0">
                                          <a:solidFill>
                                            <a:srgbClr val="FF0000"/>
                                          </a:solidFill>
                                          <a:effectLst/>
                                          <a:latin typeface="Cambria Math" panose="02040503050406030204" pitchFamily="18" charset="0"/>
                                          <a:ea typeface="新細明體" panose="02020500000000000000" pitchFamily="18" charset="-120"/>
                                        </a:rPr>
                                        <m:t>𝑑</m:t>
                                      </m:r>
                                    </m:e>
                                  </m:acc>
                                </m:e>
                                <m:sub>
                                  <m:r>
                                    <a:rPr lang="en-US" sz="1600" b="0" i="1" u="none" strike="noStrike" smtClean="0">
                                      <a:solidFill>
                                        <a:srgbClr val="FF0000"/>
                                      </a:solidFill>
                                      <a:effectLst/>
                                      <a:latin typeface="Cambria Math" panose="02040503050406030204" pitchFamily="18" charset="0"/>
                                      <a:ea typeface="新細明體" panose="02020500000000000000" pitchFamily="18" charset="-120"/>
                                    </a:rPr>
                                    <m:t>𝑖𝑗</m:t>
                                  </m:r>
                                </m:sub>
                              </m:sSub>
                            </m:oMath>
                          </a14:m>
                          <a:r>
                            <a:rPr lang="en-US" sz="1600" b="0" i="0" u="none" strike="noStrike" dirty="0" smtClean="0">
                              <a:solidFill>
                                <a:srgbClr val="FF0000"/>
                              </a:solidFill>
                              <a:effectLst/>
                              <a:latin typeface="新細明體" panose="02020500000000000000" pitchFamily="18" charset="-120"/>
                              <a:ea typeface="新細明體" panose="02020500000000000000" pitchFamily="18" charset="-120"/>
                            </a:rPr>
                            <a:t>)</a:t>
                          </a:r>
                          <a:endParaRPr lang="en-US" sz="1600" b="0" i="0" u="none" strike="noStrike" dirty="0">
                            <a:solidFill>
                              <a:srgbClr val="FF0000"/>
                            </a:solidFill>
                            <a:effectLst/>
                            <a:latin typeface="新細明體" panose="02020500000000000000" pitchFamily="18" charset="-120"/>
                            <a:ea typeface="新細明體" panose="02020500000000000000" pitchFamily="18" charset="-120"/>
                          </a:endParaRPr>
                        </a:p>
                      </a:txBody>
                      <a:tcPr marL="9411" marR="9411" marT="9411" marB="0" anchor="ctr"/>
                    </a:tc>
                  </a:tr>
                  <a:tr h="207049">
                    <a:tc>
                      <a:txBody>
                        <a:bodyPr/>
                        <a:lstStyle/>
                        <a:p>
                          <a:pPr algn="ctr" fontAlgn="ctr"/>
                          <a:r>
                            <a:rPr lang="en-US" sz="1800" u="none" strike="noStrike" dirty="0">
                              <a:effectLst/>
                            </a:rPr>
                            <a:t>d12</a:t>
                          </a:r>
                          <a:endParaRPr lang="en-US" sz="18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dirty="0">
                              <a:effectLst/>
                            </a:rPr>
                            <a:t>-0.3936 </a:t>
                          </a:r>
                          <a:endParaRPr lang="en-US" altLang="zh-TW" sz="18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dirty="0">
                              <a:effectLst/>
                            </a:rPr>
                            <a:t>2.1963 </a:t>
                          </a:r>
                          <a:endParaRPr lang="en-US" altLang="zh-TW" sz="18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dirty="0">
                              <a:effectLst/>
                            </a:rPr>
                            <a:t>0.7731 </a:t>
                          </a:r>
                          <a:endParaRPr lang="en-US" altLang="zh-TW" sz="18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dirty="0">
                              <a:effectLst/>
                            </a:rPr>
                            <a:t>-2.3142 </a:t>
                          </a:r>
                          <a:endParaRPr lang="en-US" altLang="zh-TW" sz="18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dirty="0">
                              <a:effectLst/>
                            </a:rPr>
                            <a:t>-1.3487 </a:t>
                          </a:r>
                          <a:endParaRPr lang="en-US" altLang="zh-TW" sz="18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dirty="0">
                              <a:effectLst/>
                            </a:rPr>
                            <a:t>-0.3895 </a:t>
                          </a:r>
                          <a:endParaRPr lang="en-US" altLang="zh-TW" sz="18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dirty="0">
                              <a:effectLst/>
                            </a:rPr>
                            <a:t>-0.6819 </a:t>
                          </a:r>
                          <a:endParaRPr lang="en-US" altLang="zh-TW" sz="18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a:effectLst/>
                            </a:rPr>
                            <a:t>0.0625 </a:t>
                          </a:r>
                          <a:endParaRPr lang="en-US" altLang="zh-TW" sz="1800" b="0" i="0" u="none" strike="noStrike">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a:effectLst/>
                            </a:rPr>
                            <a:t>-0.5307 </a:t>
                          </a:r>
                          <a:endParaRPr lang="en-US" altLang="zh-TW" sz="1800" b="0" i="0" u="none" strike="noStrike">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dirty="0">
                              <a:solidFill>
                                <a:srgbClr val="FF0000"/>
                              </a:solidFill>
                              <a:effectLst/>
                            </a:rPr>
                            <a:t>-0.2919 </a:t>
                          </a:r>
                          <a:endParaRPr lang="en-US" altLang="zh-TW" sz="1800" b="0" i="0" u="none" strike="noStrike" dirty="0">
                            <a:solidFill>
                              <a:srgbClr val="FF0000"/>
                            </a:solidFill>
                            <a:effectLst/>
                            <a:latin typeface="新細明體" panose="02020500000000000000" pitchFamily="18" charset="-120"/>
                            <a:ea typeface="新細明體" panose="02020500000000000000" pitchFamily="18" charset="-120"/>
                          </a:endParaRPr>
                        </a:p>
                      </a:txBody>
                      <a:tcPr marL="9411" marR="9411" marT="9411" marB="0" anchor="ctr"/>
                    </a:tc>
                  </a:tr>
                  <a:tr h="207049">
                    <a:tc>
                      <a:txBody>
                        <a:bodyPr/>
                        <a:lstStyle/>
                        <a:p>
                          <a:pPr algn="ctr" fontAlgn="ctr"/>
                          <a:r>
                            <a:rPr lang="en-US" sz="1800" u="none" strike="noStrike" dirty="0">
                              <a:effectLst/>
                            </a:rPr>
                            <a:t>d13</a:t>
                          </a:r>
                          <a:endParaRPr lang="en-US" sz="18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a:effectLst/>
                            </a:rPr>
                            <a:t>-0.1684 </a:t>
                          </a:r>
                          <a:endParaRPr lang="en-US" altLang="zh-TW" sz="1800" b="0" i="0" u="none" strike="noStrike">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a:effectLst/>
                            </a:rPr>
                            <a:t>1.0336 </a:t>
                          </a:r>
                          <a:endParaRPr lang="en-US" altLang="zh-TW" sz="1800" b="0" i="0" u="none" strike="noStrike">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dirty="0">
                              <a:effectLst/>
                            </a:rPr>
                            <a:t>-0.2436 </a:t>
                          </a:r>
                          <a:endParaRPr lang="en-US" altLang="zh-TW" sz="18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dirty="0">
                              <a:effectLst/>
                            </a:rPr>
                            <a:t>-1.7970 </a:t>
                          </a:r>
                          <a:endParaRPr lang="en-US" altLang="zh-TW" sz="18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a:effectLst/>
                            </a:rPr>
                            <a:t>-1.3136 </a:t>
                          </a:r>
                          <a:endParaRPr lang="en-US" altLang="zh-TW" sz="1800" b="0" i="0" u="none" strike="noStrike">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a:effectLst/>
                            </a:rPr>
                            <a:t>-0.8309 </a:t>
                          </a:r>
                          <a:endParaRPr lang="en-US" altLang="zh-TW" sz="1800" b="0" i="0" u="none" strike="noStrike">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a:effectLst/>
                            </a:rPr>
                            <a:t>0.7219 </a:t>
                          </a:r>
                          <a:endParaRPr lang="en-US" altLang="zh-TW" sz="1800" b="0" i="0" u="none" strike="noStrike">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a:effectLst/>
                            </a:rPr>
                            <a:t>-0.4959 </a:t>
                          </a:r>
                          <a:endParaRPr lang="en-US" altLang="zh-TW" sz="1800" b="0" i="0" u="none" strike="noStrike">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a:effectLst/>
                            </a:rPr>
                            <a:t>-1.0049 </a:t>
                          </a:r>
                          <a:endParaRPr lang="en-US" altLang="zh-TW" sz="1800" b="0" i="0" u="none" strike="noStrike">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dirty="0">
                              <a:solidFill>
                                <a:srgbClr val="FF0000"/>
                              </a:solidFill>
                              <a:effectLst/>
                            </a:rPr>
                            <a:t>-0.4554 </a:t>
                          </a:r>
                          <a:endParaRPr lang="en-US" altLang="zh-TW" sz="1800" b="0" i="0" u="none" strike="noStrike" dirty="0">
                            <a:solidFill>
                              <a:srgbClr val="FF0000"/>
                            </a:solidFill>
                            <a:effectLst/>
                            <a:latin typeface="新細明體" panose="02020500000000000000" pitchFamily="18" charset="-120"/>
                            <a:ea typeface="新細明體" panose="02020500000000000000" pitchFamily="18" charset="-120"/>
                          </a:endParaRPr>
                        </a:p>
                      </a:txBody>
                      <a:tcPr marL="9411" marR="9411" marT="9411" marB="0" anchor="ctr"/>
                    </a:tc>
                  </a:tr>
                  <a:tr h="207049">
                    <a:tc>
                      <a:txBody>
                        <a:bodyPr/>
                        <a:lstStyle/>
                        <a:p>
                          <a:pPr algn="ctr" fontAlgn="ctr"/>
                          <a:r>
                            <a:rPr lang="en-US" sz="1800" u="none" strike="noStrike" dirty="0">
                              <a:effectLst/>
                            </a:rPr>
                            <a:t>d14</a:t>
                          </a:r>
                          <a:endParaRPr lang="en-US" sz="18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dirty="0">
                              <a:effectLst/>
                            </a:rPr>
                            <a:t>-0.3501 </a:t>
                          </a:r>
                          <a:endParaRPr lang="en-US" altLang="zh-TW" sz="18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a:effectLst/>
                            </a:rPr>
                            <a:t>1.6753 </a:t>
                          </a:r>
                          <a:endParaRPr lang="en-US" altLang="zh-TW" sz="1800" b="0" i="0" u="none" strike="noStrike">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a:effectLst/>
                            </a:rPr>
                            <a:t>1.3208 </a:t>
                          </a:r>
                          <a:endParaRPr lang="en-US" altLang="zh-TW" sz="1800" b="0" i="0" u="none" strike="noStrike">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dirty="0">
                              <a:effectLst/>
                            </a:rPr>
                            <a:t>-3.0996 </a:t>
                          </a:r>
                          <a:endParaRPr lang="en-US" altLang="zh-TW" sz="18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dirty="0">
                              <a:effectLst/>
                            </a:rPr>
                            <a:t>-0.8742 </a:t>
                          </a:r>
                          <a:endParaRPr lang="en-US" altLang="zh-TW" sz="18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dirty="0">
                              <a:effectLst/>
                            </a:rPr>
                            <a:t>0.0578 </a:t>
                          </a:r>
                          <a:endParaRPr lang="en-US" altLang="zh-TW" sz="18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dirty="0">
                              <a:effectLst/>
                            </a:rPr>
                            <a:t>-1.2835 </a:t>
                          </a:r>
                          <a:endParaRPr lang="en-US" altLang="zh-TW" sz="18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dirty="0">
                              <a:effectLst/>
                            </a:rPr>
                            <a:t>0.0712 </a:t>
                          </a:r>
                          <a:endParaRPr lang="en-US" altLang="zh-TW" sz="18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dirty="0">
                              <a:effectLst/>
                            </a:rPr>
                            <a:t>-0.5410 </a:t>
                          </a:r>
                          <a:endParaRPr lang="en-US" altLang="zh-TW" sz="18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dirty="0">
                              <a:solidFill>
                                <a:srgbClr val="FF0000"/>
                              </a:solidFill>
                              <a:effectLst/>
                            </a:rPr>
                            <a:t>-0.3359 </a:t>
                          </a:r>
                          <a:endParaRPr lang="en-US" altLang="zh-TW" sz="1800" b="0" i="0" u="none" strike="noStrike" dirty="0">
                            <a:solidFill>
                              <a:srgbClr val="FF0000"/>
                            </a:solidFill>
                            <a:effectLst/>
                            <a:latin typeface="新細明體" panose="02020500000000000000" pitchFamily="18" charset="-120"/>
                            <a:ea typeface="新細明體" panose="02020500000000000000" pitchFamily="18" charset="-120"/>
                          </a:endParaRPr>
                        </a:p>
                      </a:txBody>
                      <a:tcPr marL="9411" marR="9411" marT="9411" marB="0" anchor="ctr"/>
                    </a:tc>
                  </a:tr>
                  <a:tr h="207049">
                    <a:tc>
                      <a:txBody>
                        <a:bodyPr/>
                        <a:lstStyle/>
                        <a:p>
                          <a:pPr algn="ctr" fontAlgn="ctr"/>
                          <a:r>
                            <a:rPr lang="en-US" sz="1800" u="none" strike="noStrike" dirty="0">
                              <a:effectLst/>
                            </a:rPr>
                            <a:t>d23</a:t>
                          </a:r>
                          <a:endParaRPr lang="en-US" sz="18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a:effectLst/>
                            </a:rPr>
                            <a:t>0.2252 </a:t>
                          </a:r>
                          <a:endParaRPr lang="en-US" altLang="zh-TW" sz="1800" b="0" i="0" u="none" strike="noStrike">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a:effectLst/>
                            </a:rPr>
                            <a:t>-1.1627 </a:t>
                          </a:r>
                          <a:endParaRPr lang="en-US" altLang="zh-TW" sz="1800" b="0" i="0" u="none" strike="noStrike">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a:effectLst/>
                            </a:rPr>
                            <a:t>-1.0167 </a:t>
                          </a:r>
                          <a:endParaRPr lang="en-US" altLang="zh-TW" sz="1800" b="0" i="0" u="none" strike="noStrike">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a:effectLst/>
                            </a:rPr>
                            <a:t>0.5172 </a:t>
                          </a:r>
                          <a:endParaRPr lang="en-US" altLang="zh-TW" sz="1800" b="0" i="0" u="none" strike="noStrike">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a:effectLst/>
                            </a:rPr>
                            <a:t>0.0351 </a:t>
                          </a:r>
                          <a:endParaRPr lang="en-US" altLang="zh-TW" sz="1800" b="0" i="0" u="none" strike="noStrike">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a:effectLst/>
                            </a:rPr>
                            <a:t>-0.4413 </a:t>
                          </a:r>
                          <a:endParaRPr lang="en-US" altLang="zh-TW" sz="1800" b="0" i="0" u="none" strike="noStrike">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a:effectLst/>
                            </a:rPr>
                            <a:t>1.4038 </a:t>
                          </a:r>
                          <a:endParaRPr lang="en-US" altLang="zh-TW" sz="1800" b="0" i="0" u="none" strike="noStrike">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a:effectLst/>
                            </a:rPr>
                            <a:t>-0.5584 </a:t>
                          </a:r>
                          <a:endParaRPr lang="en-US" altLang="zh-TW" sz="1800" b="0" i="0" u="none" strike="noStrike">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dirty="0">
                              <a:effectLst/>
                            </a:rPr>
                            <a:t>-0.4741 </a:t>
                          </a:r>
                          <a:endParaRPr lang="en-US" altLang="zh-TW" sz="18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dirty="0">
                              <a:solidFill>
                                <a:srgbClr val="FF0000"/>
                              </a:solidFill>
                              <a:effectLst/>
                            </a:rPr>
                            <a:t>-0.1635 </a:t>
                          </a:r>
                          <a:endParaRPr lang="en-US" altLang="zh-TW" sz="1800" b="0" i="0" u="none" strike="noStrike" dirty="0">
                            <a:solidFill>
                              <a:srgbClr val="FF0000"/>
                            </a:solidFill>
                            <a:effectLst/>
                            <a:latin typeface="新細明體" panose="02020500000000000000" pitchFamily="18" charset="-120"/>
                            <a:ea typeface="新細明體" panose="02020500000000000000" pitchFamily="18" charset="-120"/>
                          </a:endParaRPr>
                        </a:p>
                      </a:txBody>
                      <a:tcPr marL="9411" marR="9411" marT="9411" marB="0" anchor="ctr"/>
                    </a:tc>
                  </a:tr>
                  <a:tr h="207049">
                    <a:tc>
                      <a:txBody>
                        <a:bodyPr/>
                        <a:lstStyle/>
                        <a:p>
                          <a:pPr algn="ctr" fontAlgn="ctr"/>
                          <a:r>
                            <a:rPr lang="en-US" sz="1800" u="none" strike="noStrike" dirty="0">
                              <a:effectLst/>
                            </a:rPr>
                            <a:t>d24</a:t>
                          </a:r>
                          <a:endParaRPr lang="en-US" sz="18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a:effectLst/>
                            </a:rPr>
                            <a:t>0.0435 </a:t>
                          </a:r>
                          <a:endParaRPr lang="en-US" altLang="zh-TW" sz="1800" b="0" i="0" u="none" strike="noStrike">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a:effectLst/>
                            </a:rPr>
                            <a:t>-0.5210 </a:t>
                          </a:r>
                          <a:endParaRPr lang="en-US" altLang="zh-TW" sz="1800" b="0" i="0" u="none" strike="noStrike">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a:effectLst/>
                            </a:rPr>
                            <a:t>0.5477 </a:t>
                          </a:r>
                          <a:endParaRPr lang="en-US" altLang="zh-TW" sz="1800" b="0" i="0" u="none" strike="noStrike">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dirty="0">
                              <a:effectLst/>
                            </a:rPr>
                            <a:t>-0.7854 </a:t>
                          </a:r>
                          <a:endParaRPr lang="en-US" altLang="zh-TW" sz="18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a:effectLst/>
                            </a:rPr>
                            <a:t>0.4744 </a:t>
                          </a:r>
                          <a:endParaRPr lang="en-US" altLang="zh-TW" sz="1800" b="0" i="0" u="none" strike="noStrike">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a:effectLst/>
                            </a:rPr>
                            <a:t>0.4473 </a:t>
                          </a:r>
                          <a:endParaRPr lang="en-US" altLang="zh-TW" sz="1800" b="0" i="0" u="none" strike="noStrike">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a:effectLst/>
                            </a:rPr>
                            <a:t>-0.6016 </a:t>
                          </a:r>
                          <a:endParaRPr lang="en-US" altLang="zh-TW" sz="1800" b="0" i="0" u="none" strike="noStrike">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a:effectLst/>
                            </a:rPr>
                            <a:t>0.0087 </a:t>
                          </a:r>
                          <a:endParaRPr lang="en-US" altLang="zh-TW" sz="1800" b="0" i="0" u="none" strike="noStrike">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a:effectLst/>
                            </a:rPr>
                            <a:t>-0.0103 </a:t>
                          </a:r>
                          <a:endParaRPr lang="en-US" altLang="zh-TW" sz="1800" b="0" i="0" u="none" strike="noStrike">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dirty="0">
                              <a:solidFill>
                                <a:srgbClr val="FF0000"/>
                              </a:solidFill>
                              <a:effectLst/>
                            </a:rPr>
                            <a:t>-0.0441 </a:t>
                          </a:r>
                          <a:endParaRPr lang="en-US" altLang="zh-TW" sz="1800" b="0" i="0" u="none" strike="noStrike" dirty="0">
                            <a:solidFill>
                              <a:srgbClr val="FF0000"/>
                            </a:solidFill>
                            <a:effectLst/>
                            <a:latin typeface="新細明體" panose="02020500000000000000" pitchFamily="18" charset="-120"/>
                            <a:ea typeface="新細明體" panose="02020500000000000000" pitchFamily="18" charset="-120"/>
                          </a:endParaRPr>
                        </a:p>
                      </a:txBody>
                      <a:tcPr marL="9411" marR="9411" marT="9411" marB="0" anchor="ctr"/>
                    </a:tc>
                  </a:tr>
                  <a:tr h="207049">
                    <a:tc>
                      <a:txBody>
                        <a:bodyPr/>
                        <a:lstStyle/>
                        <a:p>
                          <a:pPr algn="ctr" fontAlgn="ctr"/>
                          <a:r>
                            <a:rPr lang="en-US" sz="1800" u="none" strike="noStrike" dirty="0">
                              <a:effectLst/>
                            </a:rPr>
                            <a:t>d34</a:t>
                          </a:r>
                          <a:endParaRPr lang="en-US" sz="18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dirty="0">
                              <a:effectLst/>
                            </a:rPr>
                            <a:t>-0.1817 </a:t>
                          </a:r>
                          <a:endParaRPr lang="en-US" altLang="zh-TW" sz="18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a:effectLst/>
                            </a:rPr>
                            <a:t>0.6417 </a:t>
                          </a:r>
                          <a:endParaRPr lang="en-US" altLang="zh-TW" sz="1800" b="0" i="0" u="none" strike="noStrike">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a:effectLst/>
                            </a:rPr>
                            <a:t>1.5644 </a:t>
                          </a:r>
                          <a:endParaRPr lang="en-US" altLang="zh-TW" sz="1800" b="0" i="0" u="none" strike="noStrike">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dirty="0">
                              <a:effectLst/>
                            </a:rPr>
                            <a:t>-1.3026 </a:t>
                          </a:r>
                          <a:endParaRPr lang="en-US" altLang="zh-TW" sz="18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dirty="0">
                              <a:effectLst/>
                            </a:rPr>
                            <a:t>0.4393 </a:t>
                          </a:r>
                          <a:endParaRPr lang="en-US" altLang="zh-TW" sz="18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dirty="0">
                              <a:effectLst/>
                            </a:rPr>
                            <a:t>0.8886 </a:t>
                          </a:r>
                          <a:endParaRPr lang="en-US" altLang="zh-TW" sz="18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dirty="0">
                              <a:effectLst/>
                            </a:rPr>
                            <a:t>-2.0054 </a:t>
                          </a:r>
                          <a:endParaRPr lang="en-US" altLang="zh-TW" sz="18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dirty="0">
                              <a:effectLst/>
                            </a:rPr>
                            <a:t>0.5671 </a:t>
                          </a:r>
                          <a:endParaRPr lang="en-US" altLang="zh-TW" sz="18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dirty="0">
                              <a:effectLst/>
                            </a:rPr>
                            <a:t>0.4638 </a:t>
                          </a:r>
                          <a:endParaRPr lang="en-US" altLang="zh-TW" sz="18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dirty="0">
                              <a:solidFill>
                                <a:srgbClr val="FF0000"/>
                              </a:solidFill>
                              <a:effectLst/>
                            </a:rPr>
                            <a:t>0.1195 </a:t>
                          </a:r>
                          <a:endParaRPr lang="en-US" altLang="zh-TW" sz="1800" b="0" i="0" u="none" strike="noStrike" dirty="0">
                            <a:solidFill>
                              <a:srgbClr val="FF0000"/>
                            </a:solidFill>
                            <a:effectLst/>
                            <a:latin typeface="新細明體" panose="02020500000000000000" pitchFamily="18" charset="-120"/>
                            <a:ea typeface="新細明體" panose="02020500000000000000" pitchFamily="18" charset="-120"/>
                          </a:endParaRPr>
                        </a:p>
                      </a:txBody>
                      <a:tcPr marL="9411" marR="9411" marT="9411" marB="0" anchor="ctr"/>
                    </a:tc>
                  </a:tr>
                </a:tbl>
              </a:graphicData>
            </a:graphic>
          </p:graphicFrame>
        </mc:Choice>
        <mc:Fallback xmlns="">
          <p:graphicFrame>
            <p:nvGraphicFramePr>
              <p:cNvPr id="4" name="表格 3"/>
              <p:cNvGraphicFramePr>
                <a:graphicFrameLocks noGrp="1"/>
              </p:cNvGraphicFramePr>
              <p:nvPr>
                <p:extLst>
                  <p:ext uri="{D42A27DB-BD31-4B8C-83A1-F6EECF244321}">
                    <p14:modId xmlns:p14="http://schemas.microsoft.com/office/powerpoint/2010/main" val="1207038619"/>
                  </p:ext>
                </p:extLst>
              </p:nvPr>
            </p:nvGraphicFramePr>
            <p:xfrm>
              <a:off x="0" y="1896503"/>
              <a:ext cx="11951595" cy="2239495"/>
            </p:xfrm>
            <a:graphic>
              <a:graphicData uri="http://schemas.openxmlformats.org/drawingml/2006/table">
                <a:tbl>
                  <a:tblPr>
                    <a:tableStyleId>{5C22544A-7EE6-4342-B048-85BDC9FD1C3A}</a:tableStyleId>
                  </a:tblPr>
                  <a:tblGrid>
                    <a:gridCol w="1242975"/>
                    <a:gridCol w="1070862"/>
                    <a:gridCol w="1070862"/>
                    <a:gridCol w="1070862"/>
                    <a:gridCol w="1070862"/>
                    <a:gridCol w="1070862"/>
                    <a:gridCol w="1070862"/>
                    <a:gridCol w="1070862"/>
                    <a:gridCol w="1070862"/>
                    <a:gridCol w="1070862"/>
                    <a:gridCol w="1070862"/>
                  </a:tblGrid>
                  <a:tr h="253251">
                    <a:tc>
                      <a:txBody>
                        <a:bodyPr/>
                        <a:lstStyle/>
                        <a:p>
                          <a:endParaRPr lang="zh-TW"/>
                        </a:p>
                      </a:txBody>
                      <a:tcPr marL="9411" marR="9411" marT="9411" marB="0" anchor="ctr">
                        <a:blipFill rotWithShape="0">
                          <a:blip r:embed="rId2"/>
                          <a:stretch>
                            <a:fillRect l="-980" t="-23810" r="-862255" b="-833333"/>
                          </a:stretch>
                        </a:blipFill>
                      </a:tcPr>
                    </a:tc>
                    <a:tc>
                      <a:txBody>
                        <a:bodyPr/>
                        <a:lstStyle/>
                        <a:p>
                          <a:pPr algn="ctr" fontAlgn="ctr"/>
                          <a:r>
                            <a:rPr lang="en-US" altLang="zh-TW" sz="1600" b="0" i="0" u="none" strike="noStrike" dirty="0" smtClean="0">
                              <a:solidFill>
                                <a:srgbClr val="000000"/>
                              </a:solidFill>
                              <a:effectLst/>
                              <a:latin typeface="新細明體" panose="02020500000000000000" pitchFamily="18" charset="-120"/>
                              <a:ea typeface="新細明體" panose="02020500000000000000" pitchFamily="18" charset="-120"/>
                            </a:rPr>
                            <a:t>1</a:t>
                          </a:r>
                          <a:endParaRPr lang="en-US" altLang="zh-TW" sz="16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ctr" fontAlgn="ctr"/>
                          <a:r>
                            <a:rPr lang="en-US" altLang="zh-TW" sz="1600" b="0" i="0" u="none" strike="noStrike" dirty="0" smtClean="0">
                              <a:solidFill>
                                <a:srgbClr val="000000"/>
                              </a:solidFill>
                              <a:effectLst/>
                              <a:latin typeface="新細明體" panose="02020500000000000000" pitchFamily="18" charset="-120"/>
                              <a:ea typeface="新細明體" panose="02020500000000000000" pitchFamily="18" charset="-120"/>
                            </a:rPr>
                            <a:t>2</a:t>
                          </a:r>
                          <a:endParaRPr lang="en-US" altLang="zh-TW" sz="16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ctr" fontAlgn="ctr"/>
                          <a:r>
                            <a:rPr lang="en-US" altLang="zh-TW" sz="1600" b="0" i="0" u="none" strike="noStrike" dirty="0" smtClean="0">
                              <a:solidFill>
                                <a:srgbClr val="000000"/>
                              </a:solidFill>
                              <a:effectLst/>
                              <a:latin typeface="新細明體" panose="02020500000000000000" pitchFamily="18" charset="-120"/>
                              <a:ea typeface="新細明體" panose="02020500000000000000" pitchFamily="18" charset="-120"/>
                            </a:rPr>
                            <a:t>3</a:t>
                          </a:r>
                          <a:endParaRPr lang="en-US" altLang="zh-TW" sz="16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ctr" fontAlgn="ctr"/>
                          <a:r>
                            <a:rPr lang="en-US" altLang="zh-TW" sz="1600" b="0" i="0" u="none" strike="noStrike" dirty="0" smtClean="0">
                              <a:solidFill>
                                <a:srgbClr val="000000"/>
                              </a:solidFill>
                              <a:effectLst/>
                              <a:latin typeface="新細明體" panose="02020500000000000000" pitchFamily="18" charset="-120"/>
                              <a:ea typeface="新細明體" panose="02020500000000000000" pitchFamily="18" charset="-120"/>
                            </a:rPr>
                            <a:t>4</a:t>
                          </a:r>
                          <a:endParaRPr lang="en-US" altLang="zh-TW" sz="16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ctr" fontAlgn="ctr"/>
                          <a:r>
                            <a:rPr lang="en-US" altLang="zh-TW" sz="1600" b="0" i="0" u="none" strike="noStrike" dirty="0" smtClean="0">
                              <a:solidFill>
                                <a:srgbClr val="000000"/>
                              </a:solidFill>
                              <a:effectLst/>
                              <a:latin typeface="新細明體" panose="02020500000000000000" pitchFamily="18" charset="-120"/>
                              <a:ea typeface="新細明體" panose="02020500000000000000" pitchFamily="18" charset="-120"/>
                            </a:rPr>
                            <a:t>5</a:t>
                          </a:r>
                          <a:endParaRPr lang="en-US" altLang="zh-TW" sz="16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ctr" fontAlgn="ctr"/>
                          <a:r>
                            <a:rPr lang="en-US" altLang="zh-TW" sz="1600" b="0" i="0" u="none" strike="noStrike" dirty="0" smtClean="0">
                              <a:solidFill>
                                <a:srgbClr val="000000"/>
                              </a:solidFill>
                              <a:effectLst/>
                              <a:latin typeface="新細明體" panose="02020500000000000000" pitchFamily="18" charset="-120"/>
                              <a:ea typeface="新細明體" panose="02020500000000000000" pitchFamily="18" charset="-120"/>
                            </a:rPr>
                            <a:t>6</a:t>
                          </a:r>
                          <a:endParaRPr lang="en-US" altLang="zh-TW" sz="16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ctr" fontAlgn="ctr"/>
                          <a:r>
                            <a:rPr lang="en-US" altLang="zh-TW" sz="1600" b="0" i="0" u="none" strike="noStrike" dirty="0" smtClean="0">
                              <a:solidFill>
                                <a:srgbClr val="000000"/>
                              </a:solidFill>
                              <a:effectLst/>
                              <a:latin typeface="新細明體" panose="02020500000000000000" pitchFamily="18" charset="-120"/>
                              <a:ea typeface="新細明體" panose="02020500000000000000" pitchFamily="18" charset="-120"/>
                            </a:rPr>
                            <a:t>7</a:t>
                          </a:r>
                          <a:endParaRPr lang="en-US" altLang="zh-TW" sz="16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ctr" fontAlgn="ctr"/>
                          <a:r>
                            <a:rPr lang="en-US" altLang="zh-TW" sz="1600" b="0" i="0" u="none" strike="noStrike" dirty="0" smtClean="0">
                              <a:solidFill>
                                <a:srgbClr val="000000"/>
                              </a:solidFill>
                              <a:effectLst/>
                              <a:latin typeface="新細明體" panose="02020500000000000000" pitchFamily="18" charset="-120"/>
                              <a:ea typeface="新細明體" panose="02020500000000000000" pitchFamily="18" charset="-120"/>
                            </a:rPr>
                            <a:t>8</a:t>
                          </a:r>
                          <a:endParaRPr lang="en-US" altLang="zh-TW" sz="16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ctr" fontAlgn="ctr"/>
                          <a:r>
                            <a:rPr lang="en-US" altLang="zh-TW" sz="1600" b="0" i="0" u="none" strike="noStrike" dirty="0" smtClean="0">
                              <a:solidFill>
                                <a:srgbClr val="000000"/>
                              </a:solidFill>
                              <a:effectLst/>
                              <a:latin typeface="新細明體" panose="02020500000000000000" pitchFamily="18" charset="-120"/>
                              <a:ea typeface="新細明體" panose="02020500000000000000" pitchFamily="18" charset="-120"/>
                            </a:rPr>
                            <a:t>9</a:t>
                          </a:r>
                          <a:endParaRPr lang="en-US" altLang="zh-TW" sz="16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ctr" fontAlgn="ctr"/>
                          <a:endParaRPr lang="en-US" sz="1600" b="0" i="0" u="none" strike="noStrike" dirty="0">
                            <a:solidFill>
                              <a:srgbClr val="FF0000"/>
                            </a:solidFill>
                            <a:effectLst/>
                            <a:latin typeface="新細明體" panose="02020500000000000000" pitchFamily="18" charset="-120"/>
                            <a:ea typeface="新細明體" panose="02020500000000000000" pitchFamily="18" charset="-120"/>
                          </a:endParaRPr>
                        </a:p>
                      </a:txBody>
                      <a:tcPr marL="9411" marR="9411" marT="9411" marB="0" anchor="ctr"/>
                    </a:tc>
                  </a:tr>
                  <a:tr h="283858">
                    <a:tc>
                      <a:txBody>
                        <a:bodyPr/>
                        <a:lstStyle/>
                        <a:p>
                          <a:pPr algn="l" fontAlgn="ctr"/>
                          <a:endParaRPr lang="zh-TW" altLang="en-US" sz="12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ctr" fontAlgn="ctr"/>
                          <a:r>
                            <a:rPr lang="en-US" altLang="zh-TW" sz="1600" u="none" strike="noStrike" dirty="0">
                              <a:effectLst/>
                            </a:rPr>
                            <a:t>2012/11/20</a:t>
                          </a:r>
                          <a:endParaRPr lang="en-US" altLang="zh-TW" sz="16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ctr" fontAlgn="ctr"/>
                          <a:r>
                            <a:rPr lang="en-US" altLang="zh-TW" sz="1600" u="none" strike="noStrike" dirty="0">
                              <a:effectLst/>
                            </a:rPr>
                            <a:t>2012/11/21</a:t>
                          </a:r>
                          <a:endParaRPr lang="en-US" altLang="zh-TW" sz="16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ctr" fontAlgn="ctr"/>
                          <a:r>
                            <a:rPr lang="en-US" altLang="zh-TW" sz="1600" u="none" strike="noStrike" dirty="0">
                              <a:effectLst/>
                            </a:rPr>
                            <a:t>2012/11/22</a:t>
                          </a:r>
                          <a:endParaRPr lang="en-US" altLang="zh-TW" sz="16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ctr" fontAlgn="ctr"/>
                          <a:r>
                            <a:rPr lang="en-US" altLang="zh-TW" sz="1600" u="none" strike="noStrike" dirty="0">
                              <a:effectLst/>
                            </a:rPr>
                            <a:t>2012/11/23</a:t>
                          </a:r>
                          <a:endParaRPr lang="en-US" altLang="zh-TW" sz="16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ctr" fontAlgn="ctr"/>
                          <a:r>
                            <a:rPr lang="en-US" altLang="zh-TW" sz="1600" u="none" strike="noStrike" dirty="0">
                              <a:effectLst/>
                            </a:rPr>
                            <a:t>2012/11/26</a:t>
                          </a:r>
                          <a:endParaRPr lang="en-US" altLang="zh-TW" sz="16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ctr" fontAlgn="ctr"/>
                          <a:r>
                            <a:rPr lang="en-US" altLang="zh-TW" sz="1600" u="none" strike="noStrike" dirty="0">
                              <a:effectLst/>
                            </a:rPr>
                            <a:t>2012/11/27</a:t>
                          </a:r>
                          <a:endParaRPr lang="en-US" altLang="zh-TW" sz="16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ctr" fontAlgn="ctr"/>
                          <a:r>
                            <a:rPr lang="en-US" altLang="zh-TW" sz="1600" u="none" strike="noStrike" dirty="0">
                              <a:effectLst/>
                            </a:rPr>
                            <a:t>2012/11/28</a:t>
                          </a:r>
                          <a:endParaRPr lang="en-US" altLang="zh-TW" sz="16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ctr" fontAlgn="ctr"/>
                          <a:r>
                            <a:rPr lang="en-US" altLang="zh-TW" sz="1600" u="none" strike="noStrike" dirty="0">
                              <a:effectLst/>
                            </a:rPr>
                            <a:t>2012/11/29</a:t>
                          </a:r>
                          <a:endParaRPr lang="en-US" altLang="zh-TW" sz="16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ctr" fontAlgn="ctr"/>
                          <a:r>
                            <a:rPr lang="en-US" altLang="zh-TW" sz="1600" u="none" strike="noStrike" dirty="0">
                              <a:effectLst/>
                            </a:rPr>
                            <a:t>2012/11/30</a:t>
                          </a:r>
                          <a:endParaRPr lang="en-US" altLang="zh-TW" sz="16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endParaRPr lang="zh-TW"/>
                        </a:p>
                      </a:txBody>
                      <a:tcPr marL="9411" marR="9411" marT="9411" marB="0" anchor="ctr">
                        <a:blipFill rotWithShape="0">
                          <a:blip r:embed="rId2"/>
                          <a:stretch>
                            <a:fillRect l="-1015341" t="-113043" r="-1136" b="-660870"/>
                          </a:stretch>
                        </a:blipFill>
                      </a:tcPr>
                    </a:tc>
                  </a:tr>
                  <a:tr h="283731">
                    <a:tc>
                      <a:txBody>
                        <a:bodyPr/>
                        <a:lstStyle/>
                        <a:p>
                          <a:pPr algn="ctr" fontAlgn="ctr"/>
                          <a:r>
                            <a:rPr lang="en-US" sz="1800" u="none" strike="noStrike" dirty="0">
                              <a:effectLst/>
                            </a:rPr>
                            <a:t>d12</a:t>
                          </a:r>
                          <a:endParaRPr lang="en-US" sz="18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dirty="0">
                              <a:effectLst/>
                            </a:rPr>
                            <a:t>-0.3936 </a:t>
                          </a:r>
                          <a:endParaRPr lang="en-US" altLang="zh-TW" sz="18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dirty="0">
                              <a:effectLst/>
                            </a:rPr>
                            <a:t>2.1963 </a:t>
                          </a:r>
                          <a:endParaRPr lang="en-US" altLang="zh-TW" sz="18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dirty="0">
                              <a:effectLst/>
                            </a:rPr>
                            <a:t>0.7731 </a:t>
                          </a:r>
                          <a:endParaRPr lang="en-US" altLang="zh-TW" sz="18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dirty="0">
                              <a:effectLst/>
                            </a:rPr>
                            <a:t>-2.3142 </a:t>
                          </a:r>
                          <a:endParaRPr lang="en-US" altLang="zh-TW" sz="18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dirty="0">
                              <a:effectLst/>
                            </a:rPr>
                            <a:t>-1.3487 </a:t>
                          </a:r>
                          <a:endParaRPr lang="en-US" altLang="zh-TW" sz="18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dirty="0">
                              <a:effectLst/>
                            </a:rPr>
                            <a:t>-0.3895 </a:t>
                          </a:r>
                          <a:endParaRPr lang="en-US" altLang="zh-TW" sz="18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dirty="0">
                              <a:effectLst/>
                            </a:rPr>
                            <a:t>-0.6819 </a:t>
                          </a:r>
                          <a:endParaRPr lang="en-US" altLang="zh-TW" sz="18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a:effectLst/>
                            </a:rPr>
                            <a:t>0.0625 </a:t>
                          </a:r>
                          <a:endParaRPr lang="en-US" altLang="zh-TW" sz="1800" b="0" i="0" u="none" strike="noStrike">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a:effectLst/>
                            </a:rPr>
                            <a:t>-0.5307 </a:t>
                          </a:r>
                          <a:endParaRPr lang="en-US" altLang="zh-TW" sz="1800" b="0" i="0" u="none" strike="noStrike">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dirty="0">
                              <a:solidFill>
                                <a:srgbClr val="FF0000"/>
                              </a:solidFill>
                              <a:effectLst/>
                            </a:rPr>
                            <a:t>-0.2919 </a:t>
                          </a:r>
                          <a:endParaRPr lang="en-US" altLang="zh-TW" sz="1800" b="0" i="0" u="none" strike="noStrike" dirty="0">
                            <a:solidFill>
                              <a:srgbClr val="FF0000"/>
                            </a:solidFill>
                            <a:effectLst/>
                            <a:latin typeface="新細明體" panose="02020500000000000000" pitchFamily="18" charset="-120"/>
                            <a:ea typeface="新細明體" panose="02020500000000000000" pitchFamily="18" charset="-120"/>
                          </a:endParaRPr>
                        </a:p>
                      </a:txBody>
                      <a:tcPr marL="9411" marR="9411" marT="9411" marB="0" anchor="ctr"/>
                    </a:tc>
                  </a:tr>
                  <a:tr h="283731">
                    <a:tc>
                      <a:txBody>
                        <a:bodyPr/>
                        <a:lstStyle/>
                        <a:p>
                          <a:pPr algn="ctr" fontAlgn="ctr"/>
                          <a:r>
                            <a:rPr lang="en-US" sz="1800" u="none" strike="noStrike" dirty="0">
                              <a:effectLst/>
                            </a:rPr>
                            <a:t>d13</a:t>
                          </a:r>
                          <a:endParaRPr lang="en-US" sz="18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a:effectLst/>
                            </a:rPr>
                            <a:t>-0.1684 </a:t>
                          </a:r>
                          <a:endParaRPr lang="en-US" altLang="zh-TW" sz="1800" b="0" i="0" u="none" strike="noStrike">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a:effectLst/>
                            </a:rPr>
                            <a:t>1.0336 </a:t>
                          </a:r>
                          <a:endParaRPr lang="en-US" altLang="zh-TW" sz="1800" b="0" i="0" u="none" strike="noStrike">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dirty="0">
                              <a:effectLst/>
                            </a:rPr>
                            <a:t>-0.2436 </a:t>
                          </a:r>
                          <a:endParaRPr lang="en-US" altLang="zh-TW" sz="18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dirty="0">
                              <a:effectLst/>
                            </a:rPr>
                            <a:t>-1.7970 </a:t>
                          </a:r>
                          <a:endParaRPr lang="en-US" altLang="zh-TW" sz="18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a:effectLst/>
                            </a:rPr>
                            <a:t>-1.3136 </a:t>
                          </a:r>
                          <a:endParaRPr lang="en-US" altLang="zh-TW" sz="1800" b="0" i="0" u="none" strike="noStrike">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a:effectLst/>
                            </a:rPr>
                            <a:t>-0.8309 </a:t>
                          </a:r>
                          <a:endParaRPr lang="en-US" altLang="zh-TW" sz="1800" b="0" i="0" u="none" strike="noStrike">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a:effectLst/>
                            </a:rPr>
                            <a:t>0.7219 </a:t>
                          </a:r>
                          <a:endParaRPr lang="en-US" altLang="zh-TW" sz="1800" b="0" i="0" u="none" strike="noStrike">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a:effectLst/>
                            </a:rPr>
                            <a:t>-0.4959 </a:t>
                          </a:r>
                          <a:endParaRPr lang="en-US" altLang="zh-TW" sz="1800" b="0" i="0" u="none" strike="noStrike">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a:effectLst/>
                            </a:rPr>
                            <a:t>-1.0049 </a:t>
                          </a:r>
                          <a:endParaRPr lang="en-US" altLang="zh-TW" sz="1800" b="0" i="0" u="none" strike="noStrike">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dirty="0">
                              <a:solidFill>
                                <a:srgbClr val="FF0000"/>
                              </a:solidFill>
                              <a:effectLst/>
                            </a:rPr>
                            <a:t>-0.4554 </a:t>
                          </a:r>
                          <a:endParaRPr lang="en-US" altLang="zh-TW" sz="1800" b="0" i="0" u="none" strike="noStrike" dirty="0">
                            <a:solidFill>
                              <a:srgbClr val="FF0000"/>
                            </a:solidFill>
                            <a:effectLst/>
                            <a:latin typeface="新細明體" panose="02020500000000000000" pitchFamily="18" charset="-120"/>
                            <a:ea typeface="新細明體" panose="02020500000000000000" pitchFamily="18" charset="-120"/>
                          </a:endParaRPr>
                        </a:p>
                      </a:txBody>
                      <a:tcPr marL="9411" marR="9411" marT="9411" marB="0" anchor="ctr"/>
                    </a:tc>
                  </a:tr>
                  <a:tr h="283731">
                    <a:tc>
                      <a:txBody>
                        <a:bodyPr/>
                        <a:lstStyle/>
                        <a:p>
                          <a:pPr algn="ctr" fontAlgn="ctr"/>
                          <a:r>
                            <a:rPr lang="en-US" sz="1800" u="none" strike="noStrike" dirty="0">
                              <a:effectLst/>
                            </a:rPr>
                            <a:t>d14</a:t>
                          </a:r>
                          <a:endParaRPr lang="en-US" sz="18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dirty="0">
                              <a:effectLst/>
                            </a:rPr>
                            <a:t>-0.3501 </a:t>
                          </a:r>
                          <a:endParaRPr lang="en-US" altLang="zh-TW" sz="18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a:effectLst/>
                            </a:rPr>
                            <a:t>1.6753 </a:t>
                          </a:r>
                          <a:endParaRPr lang="en-US" altLang="zh-TW" sz="1800" b="0" i="0" u="none" strike="noStrike">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a:effectLst/>
                            </a:rPr>
                            <a:t>1.3208 </a:t>
                          </a:r>
                          <a:endParaRPr lang="en-US" altLang="zh-TW" sz="1800" b="0" i="0" u="none" strike="noStrike">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dirty="0">
                              <a:effectLst/>
                            </a:rPr>
                            <a:t>-3.0996 </a:t>
                          </a:r>
                          <a:endParaRPr lang="en-US" altLang="zh-TW" sz="18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dirty="0">
                              <a:effectLst/>
                            </a:rPr>
                            <a:t>-0.8742 </a:t>
                          </a:r>
                          <a:endParaRPr lang="en-US" altLang="zh-TW" sz="18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dirty="0">
                              <a:effectLst/>
                            </a:rPr>
                            <a:t>0.0578 </a:t>
                          </a:r>
                          <a:endParaRPr lang="en-US" altLang="zh-TW" sz="18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dirty="0">
                              <a:effectLst/>
                            </a:rPr>
                            <a:t>-1.2835 </a:t>
                          </a:r>
                          <a:endParaRPr lang="en-US" altLang="zh-TW" sz="18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dirty="0">
                              <a:effectLst/>
                            </a:rPr>
                            <a:t>0.0712 </a:t>
                          </a:r>
                          <a:endParaRPr lang="en-US" altLang="zh-TW" sz="18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dirty="0">
                              <a:effectLst/>
                            </a:rPr>
                            <a:t>-0.5410 </a:t>
                          </a:r>
                          <a:endParaRPr lang="en-US" altLang="zh-TW" sz="18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dirty="0">
                              <a:solidFill>
                                <a:srgbClr val="FF0000"/>
                              </a:solidFill>
                              <a:effectLst/>
                            </a:rPr>
                            <a:t>-0.3359 </a:t>
                          </a:r>
                          <a:endParaRPr lang="en-US" altLang="zh-TW" sz="1800" b="0" i="0" u="none" strike="noStrike" dirty="0">
                            <a:solidFill>
                              <a:srgbClr val="FF0000"/>
                            </a:solidFill>
                            <a:effectLst/>
                            <a:latin typeface="新細明體" panose="02020500000000000000" pitchFamily="18" charset="-120"/>
                            <a:ea typeface="新細明體" panose="02020500000000000000" pitchFamily="18" charset="-120"/>
                          </a:endParaRPr>
                        </a:p>
                      </a:txBody>
                      <a:tcPr marL="9411" marR="9411" marT="9411" marB="0" anchor="ctr"/>
                    </a:tc>
                  </a:tr>
                  <a:tr h="283731">
                    <a:tc>
                      <a:txBody>
                        <a:bodyPr/>
                        <a:lstStyle/>
                        <a:p>
                          <a:pPr algn="ctr" fontAlgn="ctr"/>
                          <a:r>
                            <a:rPr lang="en-US" sz="1800" u="none" strike="noStrike" dirty="0">
                              <a:effectLst/>
                            </a:rPr>
                            <a:t>d23</a:t>
                          </a:r>
                          <a:endParaRPr lang="en-US" sz="18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a:effectLst/>
                            </a:rPr>
                            <a:t>0.2252 </a:t>
                          </a:r>
                          <a:endParaRPr lang="en-US" altLang="zh-TW" sz="1800" b="0" i="0" u="none" strike="noStrike">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a:effectLst/>
                            </a:rPr>
                            <a:t>-1.1627 </a:t>
                          </a:r>
                          <a:endParaRPr lang="en-US" altLang="zh-TW" sz="1800" b="0" i="0" u="none" strike="noStrike">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a:effectLst/>
                            </a:rPr>
                            <a:t>-1.0167 </a:t>
                          </a:r>
                          <a:endParaRPr lang="en-US" altLang="zh-TW" sz="1800" b="0" i="0" u="none" strike="noStrike">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a:effectLst/>
                            </a:rPr>
                            <a:t>0.5172 </a:t>
                          </a:r>
                          <a:endParaRPr lang="en-US" altLang="zh-TW" sz="1800" b="0" i="0" u="none" strike="noStrike">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a:effectLst/>
                            </a:rPr>
                            <a:t>0.0351 </a:t>
                          </a:r>
                          <a:endParaRPr lang="en-US" altLang="zh-TW" sz="1800" b="0" i="0" u="none" strike="noStrike">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a:effectLst/>
                            </a:rPr>
                            <a:t>-0.4413 </a:t>
                          </a:r>
                          <a:endParaRPr lang="en-US" altLang="zh-TW" sz="1800" b="0" i="0" u="none" strike="noStrike">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a:effectLst/>
                            </a:rPr>
                            <a:t>1.4038 </a:t>
                          </a:r>
                          <a:endParaRPr lang="en-US" altLang="zh-TW" sz="1800" b="0" i="0" u="none" strike="noStrike">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a:effectLst/>
                            </a:rPr>
                            <a:t>-0.5584 </a:t>
                          </a:r>
                          <a:endParaRPr lang="en-US" altLang="zh-TW" sz="1800" b="0" i="0" u="none" strike="noStrike">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dirty="0">
                              <a:effectLst/>
                            </a:rPr>
                            <a:t>-0.4741 </a:t>
                          </a:r>
                          <a:endParaRPr lang="en-US" altLang="zh-TW" sz="18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dirty="0">
                              <a:solidFill>
                                <a:srgbClr val="FF0000"/>
                              </a:solidFill>
                              <a:effectLst/>
                            </a:rPr>
                            <a:t>-0.1635 </a:t>
                          </a:r>
                          <a:endParaRPr lang="en-US" altLang="zh-TW" sz="1800" b="0" i="0" u="none" strike="noStrike" dirty="0">
                            <a:solidFill>
                              <a:srgbClr val="FF0000"/>
                            </a:solidFill>
                            <a:effectLst/>
                            <a:latin typeface="新細明體" panose="02020500000000000000" pitchFamily="18" charset="-120"/>
                            <a:ea typeface="新細明體" panose="02020500000000000000" pitchFamily="18" charset="-120"/>
                          </a:endParaRPr>
                        </a:p>
                      </a:txBody>
                      <a:tcPr marL="9411" marR="9411" marT="9411" marB="0" anchor="ctr"/>
                    </a:tc>
                  </a:tr>
                  <a:tr h="283731">
                    <a:tc>
                      <a:txBody>
                        <a:bodyPr/>
                        <a:lstStyle/>
                        <a:p>
                          <a:pPr algn="ctr" fontAlgn="ctr"/>
                          <a:r>
                            <a:rPr lang="en-US" sz="1800" u="none" strike="noStrike" dirty="0">
                              <a:effectLst/>
                            </a:rPr>
                            <a:t>d24</a:t>
                          </a:r>
                          <a:endParaRPr lang="en-US" sz="18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a:effectLst/>
                            </a:rPr>
                            <a:t>0.0435 </a:t>
                          </a:r>
                          <a:endParaRPr lang="en-US" altLang="zh-TW" sz="1800" b="0" i="0" u="none" strike="noStrike">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a:effectLst/>
                            </a:rPr>
                            <a:t>-0.5210 </a:t>
                          </a:r>
                          <a:endParaRPr lang="en-US" altLang="zh-TW" sz="1800" b="0" i="0" u="none" strike="noStrike">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a:effectLst/>
                            </a:rPr>
                            <a:t>0.5477 </a:t>
                          </a:r>
                          <a:endParaRPr lang="en-US" altLang="zh-TW" sz="1800" b="0" i="0" u="none" strike="noStrike">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dirty="0">
                              <a:effectLst/>
                            </a:rPr>
                            <a:t>-0.7854 </a:t>
                          </a:r>
                          <a:endParaRPr lang="en-US" altLang="zh-TW" sz="18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a:effectLst/>
                            </a:rPr>
                            <a:t>0.4744 </a:t>
                          </a:r>
                          <a:endParaRPr lang="en-US" altLang="zh-TW" sz="1800" b="0" i="0" u="none" strike="noStrike">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a:effectLst/>
                            </a:rPr>
                            <a:t>0.4473 </a:t>
                          </a:r>
                          <a:endParaRPr lang="en-US" altLang="zh-TW" sz="1800" b="0" i="0" u="none" strike="noStrike">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a:effectLst/>
                            </a:rPr>
                            <a:t>-0.6016 </a:t>
                          </a:r>
                          <a:endParaRPr lang="en-US" altLang="zh-TW" sz="1800" b="0" i="0" u="none" strike="noStrike">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a:effectLst/>
                            </a:rPr>
                            <a:t>0.0087 </a:t>
                          </a:r>
                          <a:endParaRPr lang="en-US" altLang="zh-TW" sz="1800" b="0" i="0" u="none" strike="noStrike">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a:effectLst/>
                            </a:rPr>
                            <a:t>-0.0103 </a:t>
                          </a:r>
                          <a:endParaRPr lang="en-US" altLang="zh-TW" sz="1800" b="0" i="0" u="none" strike="noStrike">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dirty="0">
                              <a:solidFill>
                                <a:srgbClr val="FF0000"/>
                              </a:solidFill>
                              <a:effectLst/>
                            </a:rPr>
                            <a:t>-0.0441 </a:t>
                          </a:r>
                          <a:endParaRPr lang="en-US" altLang="zh-TW" sz="1800" b="0" i="0" u="none" strike="noStrike" dirty="0">
                            <a:solidFill>
                              <a:srgbClr val="FF0000"/>
                            </a:solidFill>
                            <a:effectLst/>
                            <a:latin typeface="新細明體" panose="02020500000000000000" pitchFamily="18" charset="-120"/>
                            <a:ea typeface="新細明體" panose="02020500000000000000" pitchFamily="18" charset="-120"/>
                          </a:endParaRPr>
                        </a:p>
                      </a:txBody>
                      <a:tcPr marL="9411" marR="9411" marT="9411" marB="0" anchor="ctr"/>
                    </a:tc>
                  </a:tr>
                  <a:tr h="283731">
                    <a:tc>
                      <a:txBody>
                        <a:bodyPr/>
                        <a:lstStyle/>
                        <a:p>
                          <a:pPr algn="ctr" fontAlgn="ctr"/>
                          <a:r>
                            <a:rPr lang="en-US" sz="1800" u="none" strike="noStrike" dirty="0">
                              <a:effectLst/>
                            </a:rPr>
                            <a:t>d34</a:t>
                          </a:r>
                          <a:endParaRPr lang="en-US" sz="18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dirty="0">
                              <a:effectLst/>
                            </a:rPr>
                            <a:t>-0.1817 </a:t>
                          </a:r>
                          <a:endParaRPr lang="en-US" altLang="zh-TW" sz="18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a:effectLst/>
                            </a:rPr>
                            <a:t>0.6417 </a:t>
                          </a:r>
                          <a:endParaRPr lang="en-US" altLang="zh-TW" sz="1800" b="0" i="0" u="none" strike="noStrike">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a:effectLst/>
                            </a:rPr>
                            <a:t>1.5644 </a:t>
                          </a:r>
                          <a:endParaRPr lang="en-US" altLang="zh-TW" sz="1800" b="0" i="0" u="none" strike="noStrike">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dirty="0">
                              <a:effectLst/>
                            </a:rPr>
                            <a:t>-1.3026 </a:t>
                          </a:r>
                          <a:endParaRPr lang="en-US" altLang="zh-TW" sz="18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dirty="0">
                              <a:effectLst/>
                            </a:rPr>
                            <a:t>0.4393 </a:t>
                          </a:r>
                          <a:endParaRPr lang="en-US" altLang="zh-TW" sz="18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dirty="0">
                              <a:effectLst/>
                            </a:rPr>
                            <a:t>0.8886 </a:t>
                          </a:r>
                          <a:endParaRPr lang="en-US" altLang="zh-TW" sz="18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dirty="0">
                              <a:effectLst/>
                            </a:rPr>
                            <a:t>-2.0054 </a:t>
                          </a:r>
                          <a:endParaRPr lang="en-US" altLang="zh-TW" sz="18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dirty="0">
                              <a:effectLst/>
                            </a:rPr>
                            <a:t>0.5671 </a:t>
                          </a:r>
                          <a:endParaRPr lang="en-US" altLang="zh-TW" sz="18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dirty="0">
                              <a:effectLst/>
                            </a:rPr>
                            <a:t>0.4638 </a:t>
                          </a:r>
                          <a:endParaRPr lang="en-US" altLang="zh-TW" sz="18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r" fontAlgn="ctr"/>
                          <a:r>
                            <a:rPr lang="en-US" altLang="zh-TW" sz="1800" u="none" strike="noStrike" dirty="0">
                              <a:solidFill>
                                <a:srgbClr val="FF0000"/>
                              </a:solidFill>
                              <a:effectLst/>
                            </a:rPr>
                            <a:t>0.1195 </a:t>
                          </a:r>
                          <a:endParaRPr lang="en-US" altLang="zh-TW" sz="1800" b="0" i="0" u="none" strike="noStrike" dirty="0">
                            <a:solidFill>
                              <a:srgbClr val="FF0000"/>
                            </a:solidFill>
                            <a:effectLst/>
                            <a:latin typeface="新細明體" panose="02020500000000000000" pitchFamily="18" charset="-120"/>
                            <a:ea typeface="新細明體" panose="02020500000000000000" pitchFamily="18" charset="-120"/>
                          </a:endParaRPr>
                        </a:p>
                      </a:txBody>
                      <a:tcPr marL="9411" marR="9411" marT="9411" marB="0" anchor="ctr"/>
                    </a:tc>
                  </a:tr>
                </a:tbl>
              </a:graphicData>
            </a:graphic>
          </p:graphicFrame>
        </mc:Fallback>
      </mc:AlternateContent>
      <p:sp>
        <p:nvSpPr>
          <p:cNvPr id="5" name="文字方塊 4"/>
          <p:cNvSpPr txBox="1"/>
          <p:nvPr/>
        </p:nvSpPr>
        <p:spPr>
          <a:xfrm>
            <a:off x="336176" y="1506022"/>
            <a:ext cx="3146612" cy="369332"/>
          </a:xfrm>
          <a:prstGeom prst="rect">
            <a:avLst/>
          </a:prstGeom>
          <a:noFill/>
        </p:spPr>
        <p:txBody>
          <a:bodyPr wrap="square" rtlCol="0">
            <a:spAutoFit/>
          </a:bodyPr>
          <a:lstStyle/>
          <a:p>
            <a:r>
              <a:rPr lang="en-US" altLang="zh-TW" dirty="0" smtClean="0"/>
              <a:t>original</a:t>
            </a:r>
            <a:endParaRPr lang="zh-TW" altLang="en-US" dirty="0"/>
          </a:p>
        </p:txBody>
      </p:sp>
      <mc:AlternateContent xmlns:mc="http://schemas.openxmlformats.org/markup-compatibility/2006" xmlns:a14="http://schemas.microsoft.com/office/drawing/2010/main">
        <mc:Choice Requires="a14">
          <p:graphicFrame>
            <p:nvGraphicFramePr>
              <p:cNvPr id="6" name="表格 5"/>
              <p:cNvGraphicFramePr>
                <a:graphicFrameLocks noGrp="1"/>
              </p:cNvGraphicFramePr>
              <p:nvPr>
                <p:extLst>
                  <p:ext uri="{D42A27DB-BD31-4B8C-83A1-F6EECF244321}">
                    <p14:modId xmlns:p14="http://schemas.microsoft.com/office/powerpoint/2010/main" val="1388106964"/>
                  </p:ext>
                </p:extLst>
              </p:nvPr>
            </p:nvGraphicFramePr>
            <p:xfrm>
              <a:off x="336176" y="4370705"/>
              <a:ext cx="11537579" cy="1985645"/>
            </p:xfrm>
            <a:graphic>
              <a:graphicData uri="http://schemas.openxmlformats.org/drawingml/2006/table">
                <a:tbl>
                  <a:tblPr firstRow="1" bandRow="1">
                    <a:tableStyleId>{5C22544A-7EE6-4342-B048-85BDC9FD1C3A}</a:tableStyleId>
                  </a:tblPr>
                  <a:tblGrid>
                    <a:gridCol w="1286869"/>
                    <a:gridCol w="753464"/>
                    <a:gridCol w="753464"/>
                    <a:gridCol w="753464"/>
                    <a:gridCol w="753464"/>
                    <a:gridCol w="753464"/>
                    <a:gridCol w="753464"/>
                    <a:gridCol w="753464"/>
                    <a:gridCol w="753464"/>
                    <a:gridCol w="753464"/>
                    <a:gridCol w="1734767"/>
                    <a:gridCol w="1734767"/>
                  </a:tblGrid>
                  <a:tr h="370840">
                    <a:tc>
                      <a:txBody>
                        <a:bodyPr/>
                        <a:lstStyle/>
                        <a:p>
                          <a:r>
                            <a:rPr lang="en-US" altLang="zh-TW" dirty="0" smtClean="0"/>
                            <a:t>Bootstrap</a:t>
                          </a:r>
                          <a:endParaRPr lang="zh-TW" altLang="en-US" dirty="0"/>
                        </a:p>
                      </a:txBody>
                      <a:tcPr/>
                    </a:tc>
                    <a:tc>
                      <a:txBody>
                        <a:bodyPr/>
                        <a:lstStyle/>
                        <a:p>
                          <a:r>
                            <a:rPr lang="en-US" altLang="zh-TW" dirty="0" smtClean="0"/>
                            <a:t>1</a:t>
                          </a:r>
                          <a:endParaRPr lang="zh-TW" altLang="en-US" dirty="0"/>
                        </a:p>
                      </a:txBody>
                      <a:tcPr/>
                    </a:tc>
                    <a:tc>
                      <a:txBody>
                        <a:bodyPr/>
                        <a:lstStyle/>
                        <a:p>
                          <a:r>
                            <a:rPr lang="en-US" altLang="zh-TW" dirty="0" smtClean="0"/>
                            <a:t>2</a:t>
                          </a:r>
                          <a:endParaRPr lang="zh-TW" altLang="en-US" dirty="0"/>
                        </a:p>
                      </a:txBody>
                      <a:tcPr/>
                    </a:tc>
                    <a:tc>
                      <a:txBody>
                        <a:bodyPr/>
                        <a:lstStyle/>
                        <a:p>
                          <a:r>
                            <a:rPr lang="en-US" altLang="zh-TW" dirty="0" smtClean="0"/>
                            <a:t>3</a:t>
                          </a:r>
                          <a:endParaRPr lang="zh-TW" altLang="en-US" dirty="0"/>
                        </a:p>
                      </a:txBody>
                      <a:tcPr/>
                    </a:tc>
                    <a:tc>
                      <a:txBody>
                        <a:bodyPr/>
                        <a:lstStyle/>
                        <a:p>
                          <a:r>
                            <a:rPr lang="en-US" altLang="zh-TW" dirty="0" smtClean="0"/>
                            <a:t>4</a:t>
                          </a:r>
                          <a:endParaRPr lang="zh-TW" altLang="en-US" dirty="0"/>
                        </a:p>
                      </a:txBody>
                      <a:tcPr/>
                    </a:tc>
                    <a:tc>
                      <a:txBody>
                        <a:bodyPr/>
                        <a:lstStyle/>
                        <a:p>
                          <a:r>
                            <a:rPr lang="en-US" altLang="zh-TW" dirty="0" smtClean="0"/>
                            <a:t>5</a:t>
                          </a:r>
                          <a:endParaRPr lang="zh-TW" altLang="en-US" dirty="0"/>
                        </a:p>
                      </a:txBody>
                      <a:tcPr/>
                    </a:tc>
                    <a:tc>
                      <a:txBody>
                        <a:bodyPr/>
                        <a:lstStyle/>
                        <a:p>
                          <a:r>
                            <a:rPr lang="en-US" altLang="zh-TW" dirty="0" smtClean="0"/>
                            <a:t>6</a:t>
                          </a:r>
                          <a:endParaRPr lang="zh-TW" altLang="en-US" dirty="0"/>
                        </a:p>
                      </a:txBody>
                      <a:tcPr/>
                    </a:tc>
                    <a:tc>
                      <a:txBody>
                        <a:bodyPr/>
                        <a:lstStyle/>
                        <a:p>
                          <a:r>
                            <a:rPr lang="en-US" altLang="zh-TW" dirty="0" smtClean="0"/>
                            <a:t>7</a:t>
                          </a:r>
                          <a:endParaRPr lang="zh-TW" altLang="en-US" dirty="0"/>
                        </a:p>
                      </a:txBody>
                      <a:tcPr/>
                    </a:tc>
                    <a:tc>
                      <a:txBody>
                        <a:bodyPr/>
                        <a:lstStyle/>
                        <a:p>
                          <a:r>
                            <a:rPr lang="en-US" altLang="zh-TW" dirty="0" smtClean="0"/>
                            <a:t>8</a:t>
                          </a:r>
                          <a:endParaRPr lang="zh-TW" altLang="en-US" dirty="0"/>
                        </a:p>
                      </a:txBody>
                      <a:tcPr/>
                    </a:tc>
                    <a:tc>
                      <a:txBody>
                        <a:bodyPr/>
                        <a:lstStyle/>
                        <a:p>
                          <a:r>
                            <a:rPr lang="en-US" altLang="zh-TW" dirty="0" smtClean="0"/>
                            <a:t>9</a:t>
                          </a:r>
                          <a:endParaRPr lang="zh-TW" altLang="en-US" dirty="0"/>
                        </a:p>
                      </a:txBody>
                      <a:tcPr/>
                    </a:tc>
                    <a:tc>
                      <a:txBody>
                        <a:bodyPr/>
                        <a:lstStyle/>
                        <a:p>
                          <a:endParaRPr lang="zh-TW" altLang="en-US" dirty="0"/>
                        </a:p>
                      </a:txBody>
                      <a:tcPr/>
                    </a:tc>
                    <a:tc>
                      <a:txBody>
                        <a:bodyPr/>
                        <a:lstStyle/>
                        <a:p>
                          <a:r>
                            <a:rPr lang="en-US" altLang="zh-TW" dirty="0" smtClean="0"/>
                            <a:t>Variance</a:t>
                          </a:r>
                          <a:endParaRPr lang="zh-TW" altLang="en-US" dirty="0"/>
                        </a:p>
                      </a:txBody>
                      <a:tcPr/>
                    </a:tc>
                  </a:tr>
                  <a:tr h="370840">
                    <a:tc>
                      <a:txBody>
                        <a:bodyPr/>
                        <a:lstStyle/>
                        <a:p>
                          <a:r>
                            <a:rPr lang="en-US" altLang="zh-TW" dirty="0" smtClean="0"/>
                            <a:t>1</a:t>
                          </a:r>
                          <a:endParaRPr lang="zh-TW" altLang="en-US" dirty="0"/>
                        </a:p>
                      </a:txBody>
                      <a:tcPr/>
                    </a:tc>
                    <a:tc>
                      <a:txBody>
                        <a:bodyPr/>
                        <a:lstStyle/>
                        <a:p>
                          <a:r>
                            <a:rPr lang="en-US" altLang="zh-TW" dirty="0" smtClean="0">
                              <a:solidFill>
                                <a:srgbClr val="FF0000"/>
                              </a:solidFill>
                            </a:rPr>
                            <a:t>5</a:t>
                          </a:r>
                          <a:endParaRPr lang="zh-TW" altLang="en-US" dirty="0">
                            <a:solidFill>
                              <a:srgbClr val="FF0000"/>
                            </a:solidFill>
                          </a:endParaRPr>
                        </a:p>
                      </a:txBody>
                      <a:tcPr/>
                    </a:tc>
                    <a:tc>
                      <a:txBody>
                        <a:bodyPr/>
                        <a:lstStyle/>
                        <a:p>
                          <a:r>
                            <a:rPr lang="en-US" altLang="zh-TW" dirty="0" smtClean="0"/>
                            <a:t>6</a:t>
                          </a:r>
                          <a:endParaRPr lang="zh-TW" altLang="en-US" dirty="0"/>
                        </a:p>
                      </a:txBody>
                      <a:tcPr/>
                    </a:tc>
                    <a:tc>
                      <a:txBody>
                        <a:bodyPr/>
                        <a:lstStyle/>
                        <a:p>
                          <a:r>
                            <a:rPr lang="en-US" altLang="zh-TW" dirty="0" smtClean="0"/>
                            <a:t>7</a:t>
                          </a:r>
                          <a:endParaRPr lang="zh-TW" altLang="en-US" dirty="0"/>
                        </a:p>
                      </a:txBody>
                      <a:tcPr/>
                    </a:tc>
                    <a:tc>
                      <a:txBody>
                        <a:bodyPr/>
                        <a:lstStyle/>
                        <a:p>
                          <a:r>
                            <a:rPr lang="en-US" altLang="zh-TW" dirty="0" smtClean="0">
                              <a:solidFill>
                                <a:srgbClr val="FF0000"/>
                              </a:solidFill>
                            </a:rPr>
                            <a:t>1</a:t>
                          </a:r>
                          <a:endParaRPr lang="zh-TW" altLang="en-US" dirty="0">
                            <a:solidFill>
                              <a:srgbClr val="FF0000"/>
                            </a:solidFill>
                          </a:endParaRPr>
                        </a:p>
                      </a:txBody>
                      <a:tcPr/>
                    </a:tc>
                    <a:tc>
                      <a:txBody>
                        <a:bodyPr/>
                        <a:lstStyle/>
                        <a:p>
                          <a:r>
                            <a:rPr lang="en-US" altLang="zh-TW" dirty="0" smtClean="0"/>
                            <a:t>2</a:t>
                          </a:r>
                          <a:endParaRPr lang="zh-TW" altLang="en-US" dirty="0"/>
                        </a:p>
                      </a:txBody>
                      <a:tcPr/>
                    </a:tc>
                    <a:tc>
                      <a:txBody>
                        <a:bodyPr/>
                        <a:lstStyle/>
                        <a:p>
                          <a:r>
                            <a:rPr lang="en-US" altLang="zh-TW" dirty="0" smtClean="0"/>
                            <a:t>3</a:t>
                          </a:r>
                          <a:endParaRPr lang="zh-TW" altLang="en-US" dirty="0"/>
                        </a:p>
                      </a:txBody>
                      <a:tcPr/>
                    </a:tc>
                    <a:tc>
                      <a:txBody>
                        <a:bodyPr/>
                        <a:lstStyle/>
                        <a:p>
                          <a:r>
                            <a:rPr lang="en-US" altLang="zh-TW" dirty="0" smtClean="0">
                              <a:solidFill>
                                <a:srgbClr val="FF0000"/>
                              </a:solidFill>
                            </a:rPr>
                            <a:t>1</a:t>
                          </a:r>
                          <a:endParaRPr lang="zh-TW" altLang="en-US" dirty="0">
                            <a:solidFill>
                              <a:srgbClr val="FF0000"/>
                            </a:solidFill>
                          </a:endParaRPr>
                        </a:p>
                      </a:txBody>
                      <a:tcPr/>
                    </a:tc>
                    <a:tc>
                      <a:txBody>
                        <a:bodyPr/>
                        <a:lstStyle/>
                        <a:p>
                          <a:r>
                            <a:rPr lang="en-US" altLang="zh-TW" dirty="0" smtClean="0"/>
                            <a:t>2</a:t>
                          </a:r>
                          <a:endParaRPr lang="zh-TW" altLang="en-US" dirty="0"/>
                        </a:p>
                      </a:txBody>
                      <a:tcPr/>
                    </a:tc>
                    <a:tc>
                      <a:txBody>
                        <a:bodyPr/>
                        <a:lstStyle/>
                        <a:p>
                          <a:r>
                            <a:rPr lang="en-US" altLang="zh-TW" dirty="0" smtClean="0"/>
                            <a:t>3</a:t>
                          </a:r>
                          <a:endParaRPr lang="zh-TW" altLang="en-US" dirty="0"/>
                        </a:p>
                      </a:txBody>
                      <a:tcPr/>
                    </a:tc>
                    <a:tc>
                      <a:txBody>
                        <a:bodyPr/>
                        <a:lstStyle/>
                        <a:p>
                          <a:pPr/>
                          <a14:m>
                            <m:oMathPara xmlns:m="http://schemas.openxmlformats.org/officeDocument/2006/math">
                              <m:oMathParaPr>
                                <m:jc m:val="centerGroup"/>
                              </m:oMathParaPr>
                              <m:oMath xmlns:m="http://schemas.openxmlformats.org/officeDocument/2006/math">
                                <m:sSubSup>
                                  <m:sSubSupPr>
                                    <m:ctrlPr>
                                      <a:rPr lang="en-US" altLang="zh-TW" b="0" i="1" smtClean="0">
                                        <a:latin typeface="Cambria Math"/>
                                      </a:rPr>
                                    </m:ctrlPr>
                                  </m:sSubSupPr>
                                  <m:e>
                                    <m:acc>
                                      <m:accPr>
                                        <m:chr m:val="̅"/>
                                        <m:ctrlPr>
                                          <a:rPr lang="en-US" altLang="zh-TW" b="0" i="1" smtClean="0">
                                            <a:latin typeface="Cambria Math"/>
                                          </a:rPr>
                                        </m:ctrlPr>
                                      </m:accPr>
                                      <m:e>
                                        <m:r>
                                          <a:rPr lang="en-US" altLang="zh-TW" b="0" i="1" smtClean="0">
                                            <a:latin typeface="Cambria Math" panose="02040503050406030204" pitchFamily="18" charset="0"/>
                                          </a:rPr>
                                          <m:t>𝑑</m:t>
                                        </m:r>
                                      </m:e>
                                    </m:acc>
                                  </m:e>
                                  <m:sub>
                                    <m:r>
                                      <a:rPr lang="en-US" altLang="zh-TW" b="0" i="1" smtClean="0">
                                        <a:latin typeface="Cambria Math" panose="02040503050406030204" pitchFamily="18" charset="0"/>
                                      </a:rPr>
                                      <m:t>𝑖𝑗</m:t>
                                    </m:r>
                                  </m:sub>
                                  <m:sup>
                                    <m:r>
                                      <a:rPr lang="en-US" altLang="zh-TW" b="0" i="1" smtClean="0">
                                        <a:latin typeface="Cambria Math" panose="02040503050406030204" pitchFamily="18" charset="0"/>
                                      </a:rPr>
                                      <m:t>1</m:t>
                                    </m:r>
                                  </m:sup>
                                </m:sSubSup>
                                <m:r>
                                  <a:rPr lang="en-US" altLang="zh-TW" b="0" i="1" smtClean="0">
                                    <a:latin typeface="Cambria Math" panose="02040503050406030204" pitchFamily="18" charset="0"/>
                                  </a:rPr>
                                  <m:t>∈</m:t>
                                </m:r>
                                <m:sSup>
                                  <m:sSupPr>
                                    <m:ctrlPr>
                                      <a:rPr lang="en-US" altLang="zh-TW" b="0" i="1" smtClean="0">
                                        <a:latin typeface="Cambria Math"/>
                                      </a:rPr>
                                    </m:ctrlPr>
                                  </m:sSupPr>
                                  <m:e>
                                    <m:r>
                                      <a:rPr lang="en-US" altLang="zh-TW" b="0" i="1" smtClean="0">
                                        <a:latin typeface="Cambria Math" panose="02040503050406030204" pitchFamily="18" charset="0"/>
                                      </a:rPr>
                                      <m:t>ℝ</m:t>
                                    </m:r>
                                  </m:e>
                                  <m:sup>
                                    <m:r>
                                      <a:rPr lang="en-US" altLang="zh-TW" b="0" i="1" smtClean="0">
                                        <a:latin typeface="Cambria Math" panose="02040503050406030204" pitchFamily="18" charset="0"/>
                                      </a:rPr>
                                      <m:t>𝑚</m:t>
                                    </m:r>
                                    <m:r>
                                      <a:rPr lang="en-US" altLang="zh-TW" b="0" i="1" smtClean="0">
                                        <a:latin typeface="Cambria Math" panose="02040503050406030204" pitchFamily="18" charset="0"/>
                                      </a:rPr>
                                      <m:t>∗(</m:t>
                                    </m:r>
                                    <m:r>
                                      <a:rPr lang="en-US" altLang="zh-TW" b="0" i="1" smtClean="0">
                                        <a:latin typeface="Cambria Math" panose="02040503050406030204" pitchFamily="18" charset="0"/>
                                      </a:rPr>
                                      <m:t>𝑚</m:t>
                                    </m:r>
                                    <m:r>
                                      <a:rPr lang="en-US" altLang="zh-TW" b="0" i="1" smtClean="0">
                                        <a:latin typeface="Cambria Math" panose="02040503050406030204" pitchFamily="18" charset="0"/>
                                      </a:rPr>
                                      <m:t>−1)</m:t>
                                    </m:r>
                                  </m:sup>
                                </m:sSup>
                              </m:oMath>
                            </m:oMathPara>
                          </a14:m>
                          <a:endParaRPr lang="zh-TW" altLang="en-US" dirty="0"/>
                        </a:p>
                      </a:txBody>
                      <a:tcPr/>
                    </a:tc>
                    <a:tc rowSpan="4">
                      <a:txBody>
                        <a:bodyPr/>
                        <a:lstStyle/>
                        <a:p>
                          <a:pPr/>
                          <a14:m>
                            <m:oMathPara xmlns:m="http://schemas.openxmlformats.org/officeDocument/2006/math">
                              <m:oMathParaPr>
                                <m:jc m:val="centerGroup"/>
                              </m:oMathParaPr>
                              <m:oMath xmlns:m="http://schemas.openxmlformats.org/officeDocument/2006/math">
                                <m:acc>
                                  <m:accPr>
                                    <m:chr m:val="̂"/>
                                    <m:ctrlPr>
                                      <a:rPr lang="en-US" altLang="zh-TW" b="0" i="1" smtClean="0">
                                        <a:latin typeface="Cambria Math"/>
                                      </a:rPr>
                                    </m:ctrlPr>
                                  </m:accPr>
                                  <m:e>
                                    <m:r>
                                      <a:rPr lang="en-US" altLang="zh-TW" b="0" i="1" smtClean="0">
                                        <a:latin typeface="Cambria Math" panose="02040503050406030204" pitchFamily="18" charset="0"/>
                                      </a:rPr>
                                      <m:t>𝑣𝑎𝑟</m:t>
                                    </m:r>
                                  </m:e>
                                </m:acc>
                                <m:d>
                                  <m:dPr>
                                    <m:ctrlPr>
                                      <a:rPr lang="en-US" altLang="zh-TW" b="0" i="1" smtClean="0">
                                        <a:latin typeface="Cambria Math"/>
                                      </a:rPr>
                                    </m:ctrlPr>
                                  </m:dPr>
                                  <m:e>
                                    <m:sSub>
                                      <m:sSubPr>
                                        <m:ctrlPr>
                                          <a:rPr lang="en-US" altLang="zh-TW" b="0" i="1" smtClean="0">
                                            <a:latin typeface="Cambria Math"/>
                                          </a:rPr>
                                        </m:ctrlPr>
                                      </m:sSubPr>
                                      <m:e>
                                        <m:acc>
                                          <m:accPr>
                                            <m:chr m:val="̅"/>
                                            <m:ctrlPr>
                                              <a:rPr lang="en-US" altLang="zh-TW" b="0" i="1" smtClean="0">
                                                <a:latin typeface="Cambria Math"/>
                                              </a:rPr>
                                            </m:ctrlPr>
                                          </m:accPr>
                                          <m:e>
                                            <m:r>
                                              <a:rPr lang="en-US" altLang="zh-TW" b="0" i="1" smtClean="0">
                                                <a:latin typeface="Cambria Math" panose="02040503050406030204" pitchFamily="18" charset="0"/>
                                              </a:rPr>
                                              <m:t>𝑑</m:t>
                                            </m:r>
                                          </m:e>
                                        </m:acc>
                                      </m:e>
                                      <m:sub>
                                        <m:r>
                                          <a:rPr lang="en-US" altLang="zh-TW" b="0" i="1" smtClean="0">
                                            <a:latin typeface="Cambria Math" panose="02040503050406030204" pitchFamily="18" charset="0"/>
                                          </a:rPr>
                                          <m:t>𝑖</m:t>
                                        </m:r>
                                      </m:sub>
                                    </m:sSub>
                                    <m:r>
                                      <a:rPr lang="en-US" altLang="zh-TW" b="0" i="1" smtClean="0">
                                        <a:latin typeface="Cambria Math" panose="02040503050406030204" pitchFamily="18" charset="0"/>
                                      </a:rPr>
                                      <m:t>.</m:t>
                                    </m:r>
                                  </m:e>
                                </m:d>
                                <m:r>
                                  <a:rPr lang="en-US" altLang="zh-TW" b="0" i="1" smtClean="0">
                                    <a:latin typeface="Cambria Math" panose="02040503050406030204" pitchFamily="18" charset="0"/>
                                  </a:rPr>
                                  <m:t>=</m:t>
                                </m:r>
                                <m:f>
                                  <m:fPr>
                                    <m:ctrlPr>
                                      <a:rPr lang="en-US" altLang="zh-TW" b="0" i="1" smtClean="0">
                                        <a:latin typeface="Cambria Math"/>
                                      </a:rPr>
                                    </m:ctrlPr>
                                  </m:fPr>
                                  <m:num>
                                    <m:r>
                                      <a:rPr lang="en-US" altLang="zh-TW" b="0" i="1" smtClean="0">
                                        <a:latin typeface="Cambria Math" panose="02040503050406030204" pitchFamily="18" charset="0"/>
                                      </a:rPr>
                                      <m:t>1</m:t>
                                    </m:r>
                                  </m:num>
                                  <m:den>
                                    <m:r>
                                      <a:rPr lang="en-US" altLang="zh-TW" b="0" i="1" smtClean="0">
                                        <a:latin typeface="Cambria Math" panose="02040503050406030204" pitchFamily="18" charset="0"/>
                                      </a:rPr>
                                      <m:t>𝐵</m:t>
                                    </m:r>
                                  </m:den>
                                </m:f>
                                <m:nary>
                                  <m:naryPr>
                                    <m:chr m:val="∑"/>
                                    <m:ctrlPr>
                                      <a:rPr lang="en-US" altLang="zh-TW" b="0" i="1" smtClean="0">
                                        <a:latin typeface="Cambria Math"/>
                                      </a:rPr>
                                    </m:ctrlPr>
                                  </m:naryPr>
                                  <m:sub>
                                    <m:r>
                                      <a:rPr lang="en-US" altLang="zh-TW" b="0" i="1" smtClean="0">
                                        <a:latin typeface="Cambria Math" panose="02040503050406030204" pitchFamily="18" charset="0"/>
                                      </a:rPr>
                                      <m:t>𝑏</m:t>
                                    </m:r>
                                    <m:r>
                                      <a:rPr lang="en-US" altLang="zh-TW" b="0" i="1" smtClean="0">
                                        <a:latin typeface="Cambria Math" panose="02040503050406030204" pitchFamily="18" charset="0"/>
                                      </a:rPr>
                                      <m:t>=1</m:t>
                                    </m:r>
                                  </m:sub>
                                  <m:sup>
                                    <m:r>
                                      <a:rPr lang="en-US" altLang="zh-TW" b="0" i="1" smtClean="0">
                                        <a:latin typeface="Cambria Math" panose="02040503050406030204" pitchFamily="18" charset="0"/>
                                      </a:rPr>
                                      <m:t>𝐵</m:t>
                                    </m:r>
                                  </m:sup>
                                  <m:e>
                                    <m:d>
                                      <m:dPr>
                                        <m:ctrlPr>
                                          <a:rPr lang="en-US" altLang="zh-TW" b="0" i="1" smtClean="0">
                                            <a:latin typeface="Cambria Math"/>
                                          </a:rPr>
                                        </m:ctrlPr>
                                      </m:dPr>
                                      <m:e>
                                        <m:sSubSup>
                                          <m:sSubSupPr>
                                            <m:ctrlPr>
                                              <a:rPr lang="en-US" altLang="zh-TW" b="0" i="1" smtClean="0">
                                                <a:latin typeface="Cambria Math"/>
                                              </a:rPr>
                                            </m:ctrlPr>
                                          </m:sSubSupPr>
                                          <m:e>
                                            <m:acc>
                                              <m:accPr>
                                                <m:chr m:val="̅"/>
                                                <m:ctrlPr>
                                                  <a:rPr lang="en-US" altLang="zh-TW" b="0" i="1" smtClean="0">
                                                    <a:latin typeface="Cambria Math"/>
                                                  </a:rPr>
                                                </m:ctrlPr>
                                              </m:accPr>
                                              <m:e>
                                                <m:r>
                                                  <a:rPr lang="en-US" altLang="zh-TW" b="0" i="1" smtClean="0">
                                                    <a:latin typeface="Cambria Math" panose="02040503050406030204" pitchFamily="18" charset="0"/>
                                                  </a:rPr>
                                                  <m:t>𝑑</m:t>
                                                </m:r>
                                              </m:e>
                                            </m:acc>
                                          </m:e>
                                          <m:sub>
                                            <m:r>
                                              <a:rPr lang="en-US" altLang="zh-TW" b="0" i="1" smtClean="0">
                                                <a:latin typeface="Cambria Math" panose="02040503050406030204" pitchFamily="18" charset="0"/>
                                              </a:rPr>
                                              <m:t>𝑖𝑗</m:t>
                                            </m:r>
                                          </m:sub>
                                          <m:sup>
                                            <m:r>
                                              <a:rPr lang="en-US" altLang="zh-TW" b="0" i="1" smtClean="0">
                                                <a:latin typeface="Cambria Math" panose="02040503050406030204" pitchFamily="18" charset="0"/>
                                              </a:rPr>
                                              <m:t>𝑏</m:t>
                                            </m:r>
                                          </m:sup>
                                        </m:sSubSup>
                                        <m:r>
                                          <a:rPr lang="en-US" altLang="zh-TW" b="0" i="1" smtClean="0">
                                            <a:latin typeface="Cambria Math" panose="02040503050406030204" pitchFamily="18" charset="0"/>
                                          </a:rPr>
                                          <m:t>−</m:t>
                                        </m:r>
                                        <m:acc>
                                          <m:accPr>
                                            <m:chr m:val="̅"/>
                                            <m:ctrlPr>
                                              <a:rPr lang="en-US" altLang="zh-TW" b="0" i="1" smtClean="0">
                                                <a:latin typeface="Cambria Math"/>
                                              </a:rPr>
                                            </m:ctrlPr>
                                          </m:accPr>
                                          <m:e>
                                            <m:sSub>
                                              <m:sSubPr>
                                                <m:ctrlPr>
                                                  <a:rPr lang="en-US" altLang="zh-TW" b="0" i="1" smtClean="0">
                                                    <a:latin typeface="Cambria Math"/>
                                                  </a:rPr>
                                                </m:ctrlPr>
                                              </m:sSubPr>
                                              <m:e>
                                                <m:acc>
                                                  <m:accPr>
                                                    <m:chr m:val="̅"/>
                                                    <m:ctrlPr>
                                                      <a:rPr lang="en-US" altLang="zh-TW" b="0" i="1" smtClean="0">
                                                        <a:latin typeface="Cambria Math"/>
                                                      </a:rPr>
                                                    </m:ctrlPr>
                                                  </m:accPr>
                                                  <m:e>
                                                    <m:r>
                                                      <a:rPr lang="en-US" altLang="zh-TW" b="0" i="1" smtClean="0">
                                                        <a:latin typeface="Cambria Math" panose="02040503050406030204" pitchFamily="18" charset="0"/>
                                                      </a:rPr>
                                                      <m:t>𝑑</m:t>
                                                    </m:r>
                                                  </m:e>
                                                </m:acc>
                                              </m:e>
                                              <m:sub>
                                                <m:r>
                                                  <a:rPr lang="en-US" altLang="zh-TW" b="0" i="1" smtClean="0">
                                                    <a:latin typeface="Cambria Math" panose="02040503050406030204" pitchFamily="18" charset="0"/>
                                                  </a:rPr>
                                                  <m:t>𝑖𝑗</m:t>
                                                </m:r>
                                              </m:sub>
                                            </m:sSub>
                                          </m:e>
                                        </m:acc>
                                      </m:e>
                                    </m:d>
                                  </m:e>
                                </m:nary>
                              </m:oMath>
                            </m:oMathPara>
                          </a14:m>
                          <a:endParaRPr lang="zh-TW" altLang="en-US" dirty="0"/>
                        </a:p>
                      </a:txBody>
                      <a:tcPr/>
                    </a:tc>
                  </a:tr>
                  <a:tr h="370840">
                    <a:tc>
                      <a:txBody>
                        <a:bodyPr/>
                        <a:lstStyle/>
                        <a:p>
                          <a:r>
                            <a:rPr lang="en-US" altLang="zh-TW" dirty="0" smtClean="0"/>
                            <a:t>2</a:t>
                          </a:r>
                          <a:endParaRPr lang="zh-TW" altLang="en-US" dirty="0"/>
                        </a:p>
                      </a:txBody>
                      <a:tcPr/>
                    </a:tc>
                    <a:tc>
                      <a:txBody>
                        <a:bodyPr/>
                        <a:lstStyle/>
                        <a:p>
                          <a:r>
                            <a:rPr lang="en-US" altLang="zh-TW" dirty="0" smtClean="0">
                              <a:solidFill>
                                <a:srgbClr val="FF0000"/>
                              </a:solidFill>
                            </a:rPr>
                            <a:t>2</a:t>
                          </a:r>
                          <a:endParaRPr lang="zh-TW" altLang="en-US" dirty="0">
                            <a:solidFill>
                              <a:srgbClr val="FF0000"/>
                            </a:solidFill>
                          </a:endParaRPr>
                        </a:p>
                      </a:txBody>
                      <a:tcPr/>
                    </a:tc>
                    <a:tc>
                      <a:txBody>
                        <a:bodyPr/>
                        <a:lstStyle/>
                        <a:p>
                          <a:r>
                            <a:rPr lang="en-US" altLang="zh-TW" dirty="0" smtClean="0"/>
                            <a:t>3</a:t>
                          </a:r>
                          <a:endParaRPr lang="zh-TW" altLang="en-US" dirty="0"/>
                        </a:p>
                      </a:txBody>
                      <a:tcPr/>
                    </a:tc>
                    <a:tc>
                      <a:txBody>
                        <a:bodyPr/>
                        <a:lstStyle/>
                        <a:p>
                          <a:r>
                            <a:rPr lang="en-US" altLang="zh-TW" dirty="0" smtClean="0"/>
                            <a:t>4</a:t>
                          </a:r>
                          <a:endParaRPr lang="zh-TW" altLang="en-US" dirty="0"/>
                        </a:p>
                      </a:txBody>
                      <a:tcPr/>
                    </a:tc>
                    <a:tc>
                      <a:txBody>
                        <a:bodyPr/>
                        <a:lstStyle/>
                        <a:p>
                          <a:r>
                            <a:rPr lang="en-US" altLang="zh-TW" dirty="0" smtClean="0">
                              <a:solidFill>
                                <a:srgbClr val="FF0000"/>
                              </a:solidFill>
                            </a:rPr>
                            <a:t>4</a:t>
                          </a:r>
                          <a:endParaRPr lang="zh-TW" altLang="en-US" dirty="0">
                            <a:solidFill>
                              <a:srgbClr val="FF0000"/>
                            </a:solidFill>
                          </a:endParaRPr>
                        </a:p>
                      </a:txBody>
                      <a:tcPr/>
                    </a:tc>
                    <a:tc>
                      <a:txBody>
                        <a:bodyPr/>
                        <a:lstStyle/>
                        <a:p>
                          <a:r>
                            <a:rPr lang="en-US" altLang="zh-TW" dirty="0" smtClean="0"/>
                            <a:t>5</a:t>
                          </a:r>
                          <a:endParaRPr lang="zh-TW" altLang="en-US" dirty="0"/>
                        </a:p>
                      </a:txBody>
                      <a:tcPr/>
                    </a:tc>
                    <a:tc>
                      <a:txBody>
                        <a:bodyPr/>
                        <a:lstStyle/>
                        <a:p>
                          <a:r>
                            <a:rPr lang="en-US" altLang="zh-TW" dirty="0" smtClean="0"/>
                            <a:t>6</a:t>
                          </a:r>
                          <a:endParaRPr lang="zh-TW" altLang="en-US" dirty="0"/>
                        </a:p>
                      </a:txBody>
                      <a:tcPr/>
                    </a:tc>
                    <a:tc>
                      <a:txBody>
                        <a:bodyPr/>
                        <a:lstStyle/>
                        <a:p>
                          <a:r>
                            <a:rPr lang="en-US" altLang="zh-TW" dirty="0" smtClean="0">
                              <a:solidFill>
                                <a:srgbClr val="FF0000"/>
                              </a:solidFill>
                            </a:rPr>
                            <a:t>4</a:t>
                          </a:r>
                          <a:endParaRPr lang="zh-TW" altLang="en-US" dirty="0">
                            <a:solidFill>
                              <a:srgbClr val="FF0000"/>
                            </a:solidFill>
                          </a:endParaRPr>
                        </a:p>
                      </a:txBody>
                      <a:tcPr/>
                    </a:tc>
                    <a:tc>
                      <a:txBody>
                        <a:bodyPr/>
                        <a:lstStyle/>
                        <a:p>
                          <a:r>
                            <a:rPr lang="en-US" altLang="zh-TW" dirty="0" smtClean="0"/>
                            <a:t>5</a:t>
                          </a:r>
                          <a:endParaRPr lang="zh-TW" altLang="en-US" dirty="0"/>
                        </a:p>
                      </a:txBody>
                      <a:tcPr/>
                    </a:tc>
                    <a:tc>
                      <a:txBody>
                        <a:bodyPr/>
                        <a:lstStyle/>
                        <a:p>
                          <a:r>
                            <a:rPr lang="en-US" altLang="zh-TW" dirty="0" smtClean="0"/>
                            <a:t>6</a:t>
                          </a:r>
                          <a:endParaRPr lang="zh-TW" altLang="en-US" dirty="0"/>
                        </a:p>
                      </a:txBody>
                      <a:tcPr/>
                    </a:tc>
                    <a:tc>
                      <a:txBody>
                        <a:bodyPr/>
                        <a:lstStyle/>
                        <a:p>
                          <a:pPr/>
                          <a14:m>
                            <m:oMathPara xmlns:m="http://schemas.openxmlformats.org/officeDocument/2006/math">
                              <m:oMathParaPr>
                                <m:jc m:val="centerGroup"/>
                              </m:oMathParaPr>
                              <m:oMath xmlns:m="http://schemas.openxmlformats.org/officeDocument/2006/math">
                                <m:sSubSup>
                                  <m:sSubSupPr>
                                    <m:ctrlPr>
                                      <a:rPr lang="en-US" altLang="zh-TW" b="0" i="1" smtClean="0">
                                        <a:latin typeface="Cambria Math"/>
                                      </a:rPr>
                                    </m:ctrlPr>
                                  </m:sSubSupPr>
                                  <m:e>
                                    <m:acc>
                                      <m:accPr>
                                        <m:chr m:val="̅"/>
                                        <m:ctrlPr>
                                          <a:rPr lang="en-US" altLang="zh-TW" b="0" i="1" smtClean="0">
                                            <a:latin typeface="Cambria Math"/>
                                          </a:rPr>
                                        </m:ctrlPr>
                                      </m:accPr>
                                      <m:e>
                                        <m:r>
                                          <a:rPr lang="en-US" altLang="zh-TW" b="0" i="1" smtClean="0">
                                            <a:latin typeface="Cambria Math" panose="02040503050406030204" pitchFamily="18" charset="0"/>
                                          </a:rPr>
                                          <m:t>𝑑</m:t>
                                        </m:r>
                                      </m:e>
                                    </m:acc>
                                  </m:e>
                                  <m:sub>
                                    <m:r>
                                      <a:rPr lang="en-US" altLang="zh-TW" b="0" i="1" smtClean="0">
                                        <a:latin typeface="Cambria Math" panose="02040503050406030204" pitchFamily="18" charset="0"/>
                                      </a:rPr>
                                      <m:t>𝑖𝑗</m:t>
                                    </m:r>
                                  </m:sub>
                                  <m:sup>
                                    <m:r>
                                      <a:rPr lang="en-US" altLang="zh-TW" b="0" i="1" smtClean="0">
                                        <a:latin typeface="Cambria Math" panose="02040503050406030204" pitchFamily="18" charset="0"/>
                                      </a:rPr>
                                      <m:t>2</m:t>
                                    </m:r>
                                  </m:sup>
                                </m:sSubSup>
                                <m:r>
                                  <a:rPr lang="en-US" altLang="zh-TW" b="0" i="1" smtClean="0">
                                    <a:latin typeface="Cambria Math" panose="02040503050406030204" pitchFamily="18" charset="0"/>
                                  </a:rPr>
                                  <m:t>∈</m:t>
                                </m:r>
                                <m:sSup>
                                  <m:sSupPr>
                                    <m:ctrlPr>
                                      <a:rPr lang="en-US" altLang="zh-TW" b="0" i="1" smtClean="0">
                                        <a:latin typeface="Cambria Math"/>
                                      </a:rPr>
                                    </m:ctrlPr>
                                  </m:sSupPr>
                                  <m:e>
                                    <m:r>
                                      <a:rPr lang="en-US" altLang="zh-TW" b="0" i="1" smtClean="0">
                                        <a:latin typeface="Cambria Math" panose="02040503050406030204" pitchFamily="18" charset="0"/>
                                      </a:rPr>
                                      <m:t>ℝ</m:t>
                                    </m:r>
                                  </m:e>
                                  <m:sup>
                                    <m:r>
                                      <a:rPr lang="en-US" altLang="zh-TW" b="0" i="1" smtClean="0">
                                        <a:latin typeface="Cambria Math" panose="02040503050406030204" pitchFamily="18" charset="0"/>
                                      </a:rPr>
                                      <m:t>𝑚</m:t>
                                    </m:r>
                                    <m:r>
                                      <a:rPr lang="en-US" altLang="zh-TW" b="0" i="1" smtClean="0">
                                        <a:latin typeface="Cambria Math" panose="02040503050406030204" pitchFamily="18" charset="0"/>
                                      </a:rPr>
                                      <m:t>∗(</m:t>
                                    </m:r>
                                    <m:r>
                                      <a:rPr lang="en-US" altLang="zh-TW" b="0" i="1" smtClean="0">
                                        <a:latin typeface="Cambria Math" panose="02040503050406030204" pitchFamily="18" charset="0"/>
                                      </a:rPr>
                                      <m:t>𝑚</m:t>
                                    </m:r>
                                    <m:r>
                                      <a:rPr lang="en-US" altLang="zh-TW" b="0" i="1" smtClean="0">
                                        <a:latin typeface="Cambria Math" panose="02040503050406030204" pitchFamily="18" charset="0"/>
                                      </a:rPr>
                                      <m:t>−1)</m:t>
                                    </m:r>
                                  </m:sup>
                                </m:sSup>
                              </m:oMath>
                            </m:oMathPara>
                          </a14:m>
                          <a:endParaRPr lang="zh-TW" altLang="en-US" dirty="0"/>
                        </a:p>
                      </a:txBody>
                      <a:tcPr/>
                    </a:tc>
                    <a:tc vMerge="1">
                      <a:txBody>
                        <a:bodyPr/>
                        <a:lstStyle/>
                        <a:p>
                          <a:endParaRPr lang="zh-TW" altLang="en-US" dirty="0"/>
                        </a:p>
                      </a:txBody>
                      <a:tcPr/>
                    </a:tc>
                  </a:tr>
                  <a:tr h="370840">
                    <a:tc>
                      <a:txBody>
                        <a:bodyPr/>
                        <a:lstStyle/>
                        <a:p>
                          <a:r>
                            <a:rPr lang="en-US" altLang="zh-TW" dirty="0" smtClean="0"/>
                            <a:t>…</a:t>
                          </a:r>
                          <a:endParaRPr lang="zh-TW" altLang="en-US" dirty="0"/>
                        </a:p>
                      </a:txBody>
                      <a:tcPr/>
                    </a:tc>
                    <a:tc>
                      <a:txBody>
                        <a:bodyPr/>
                        <a:lstStyle/>
                        <a:p>
                          <a:endParaRPr lang="zh-TW" altLang="en-US"/>
                        </a:p>
                      </a:txBody>
                      <a:tcPr/>
                    </a:tc>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tc vMerge="1">
                      <a:txBody>
                        <a:bodyPr/>
                        <a:lstStyle/>
                        <a:p>
                          <a:endParaRPr lang="zh-TW" altLang="en-US" dirty="0"/>
                        </a:p>
                      </a:txBody>
                      <a:tcPr/>
                    </a:tc>
                  </a:tr>
                  <a:tr h="370840">
                    <a:tc>
                      <a:txBody>
                        <a:bodyPr/>
                        <a:lstStyle/>
                        <a:p>
                          <a:r>
                            <a:rPr lang="en-US" altLang="zh-TW" dirty="0" smtClean="0"/>
                            <a:t>B</a:t>
                          </a:r>
                          <a:endParaRPr lang="zh-TW" altLang="en-US" dirty="0"/>
                        </a:p>
                      </a:txBody>
                      <a:tcPr/>
                    </a:tc>
                    <a:tc>
                      <a:txBody>
                        <a:bodyPr/>
                        <a:lstStyle/>
                        <a:p>
                          <a:r>
                            <a:rPr lang="en-US" altLang="zh-TW" dirty="0" smtClean="0">
                              <a:solidFill>
                                <a:srgbClr val="FF0000"/>
                              </a:solidFill>
                            </a:rPr>
                            <a:t>9</a:t>
                          </a:r>
                          <a:endParaRPr lang="zh-TW" altLang="en-US" dirty="0">
                            <a:solidFill>
                              <a:srgbClr val="FF0000"/>
                            </a:solidFill>
                          </a:endParaRPr>
                        </a:p>
                      </a:txBody>
                      <a:tcPr/>
                    </a:tc>
                    <a:tc>
                      <a:txBody>
                        <a:bodyPr/>
                        <a:lstStyle/>
                        <a:p>
                          <a:r>
                            <a:rPr lang="en-US" altLang="zh-TW" dirty="0" smtClean="0"/>
                            <a:t>1</a:t>
                          </a:r>
                          <a:endParaRPr lang="zh-TW" altLang="en-US" dirty="0"/>
                        </a:p>
                      </a:txBody>
                      <a:tcPr/>
                    </a:tc>
                    <a:tc>
                      <a:txBody>
                        <a:bodyPr/>
                        <a:lstStyle/>
                        <a:p>
                          <a:r>
                            <a:rPr lang="en-US" altLang="zh-TW" dirty="0" smtClean="0"/>
                            <a:t>2</a:t>
                          </a:r>
                          <a:endParaRPr lang="zh-TW" altLang="en-US" dirty="0"/>
                        </a:p>
                      </a:txBody>
                      <a:tcPr/>
                    </a:tc>
                    <a:tc>
                      <a:txBody>
                        <a:bodyPr/>
                        <a:lstStyle/>
                        <a:p>
                          <a:r>
                            <a:rPr lang="en-US" altLang="zh-TW" dirty="0" smtClean="0">
                              <a:solidFill>
                                <a:srgbClr val="FF0000"/>
                              </a:solidFill>
                            </a:rPr>
                            <a:t>5</a:t>
                          </a:r>
                          <a:endParaRPr lang="zh-TW" altLang="en-US" dirty="0">
                            <a:solidFill>
                              <a:srgbClr val="FF0000"/>
                            </a:solidFill>
                          </a:endParaRPr>
                        </a:p>
                      </a:txBody>
                      <a:tcPr/>
                    </a:tc>
                    <a:tc>
                      <a:txBody>
                        <a:bodyPr/>
                        <a:lstStyle/>
                        <a:p>
                          <a:r>
                            <a:rPr lang="en-US" altLang="zh-TW" dirty="0" smtClean="0"/>
                            <a:t>6</a:t>
                          </a:r>
                          <a:endParaRPr lang="zh-TW" altLang="en-US" dirty="0"/>
                        </a:p>
                      </a:txBody>
                      <a:tcPr/>
                    </a:tc>
                    <a:tc>
                      <a:txBody>
                        <a:bodyPr/>
                        <a:lstStyle/>
                        <a:p>
                          <a:r>
                            <a:rPr lang="en-US" altLang="zh-TW" dirty="0" smtClean="0"/>
                            <a:t>7</a:t>
                          </a:r>
                          <a:endParaRPr lang="zh-TW" altLang="en-US" dirty="0"/>
                        </a:p>
                      </a:txBody>
                      <a:tcPr/>
                    </a:tc>
                    <a:tc>
                      <a:txBody>
                        <a:bodyPr/>
                        <a:lstStyle/>
                        <a:p>
                          <a:r>
                            <a:rPr lang="en-US" altLang="zh-TW" dirty="0" smtClean="0">
                              <a:solidFill>
                                <a:srgbClr val="FF0000"/>
                              </a:solidFill>
                            </a:rPr>
                            <a:t>7</a:t>
                          </a:r>
                          <a:endParaRPr lang="zh-TW" altLang="en-US" dirty="0">
                            <a:solidFill>
                              <a:srgbClr val="FF0000"/>
                            </a:solidFill>
                          </a:endParaRPr>
                        </a:p>
                      </a:txBody>
                      <a:tcPr/>
                    </a:tc>
                    <a:tc>
                      <a:txBody>
                        <a:bodyPr/>
                        <a:lstStyle/>
                        <a:p>
                          <a:r>
                            <a:rPr lang="en-US" altLang="zh-TW" dirty="0" smtClean="0"/>
                            <a:t>8</a:t>
                          </a:r>
                          <a:endParaRPr lang="zh-TW" altLang="en-US" dirty="0"/>
                        </a:p>
                      </a:txBody>
                      <a:tcPr/>
                    </a:tc>
                    <a:tc>
                      <a:txBody>
                        <a:bodyPr/>
                        <a:lstStyle/>
                        <a:p>
                          <a:r>
                            <a:rPr lang="en-US" altLang="zh-TW" dirty="0" smtClean="0"/>
                            <a:t>9</a:t>
                          </a:r>
                          <a:endParaRPr lang="zh-TW" altLang="en-US" dirty="0"/>
                        </a:p>
                      </a:txBody>
                      <a:tcPr/>
                    </a:tc>
                    <a:tc>
                      <a:txBody>
                        <a:bodyPr/>
                        <a:lstStyle/>
                        <a:p>
                          <a:pPr/>
                          <a14:m>
                            <m:oMathPara xmlns:m="http://schemas.openxmlformats.org/officeDocument/2006/math">
                              <m:oMathParaPr>
                                <m:jc m:val="centerGroup"/>
                              </m:oMathParaPr>
                              <m:oMath xmlns:m="http://schemas.openxmlformats.org/officeDocument/2006/math">
                                <m:sSubSup>
                                  <m:sSubSupPr>
                                    <m:ctrlPr>
                                      <a:rPr lang="en-US" altLang="zh-TW" b="0" i="1" smtClean="0">
                                        <a:latin typeface="Cambria Math"/>
                                      </a:rPr>
                                    </m:ctrlPr>
                                  </m:sSubSupPr>
                                  <m:e>
                                    <m:acc>
                                      <m:accPr>
                                        <m:chr m:val="̅"/>
                                        <m:ctrlPr>
                                          <a:rPr lang="en-US" altLang="zh-TW" b="0" i="1" smtClean="0">
                                            <a:latin typeface="Cambria Math"/>
                                          </a:rPr>
                                        </m:ctrlPr>
                                      </m:accPr>
                                      <m:e>
                                        <m:r>
                                          <a:rPr lang="en-US" altLang="zh-TW" b="0" i="1" smtClean="0">
                                            <a:latin typeface="Cambria Math" panose="02040503050406030204" pitchFamily="18" charset="0"/>
                                          </a:rPr>
                                          <m:t>𝑑</m:t>
                                        </m:r>
                                      </m:e>
                                    </m:acc>
                                  </m:e>
                                  <m:sub>
                                    <m:r>
                                      <a:rPr lang="en-US" altLang="zh-TW" b="0" i="1" smtClean="0">
                                        <a:latin typeface="Cambria Math" panose="02040503050406030204" pitchFamily="18" charset="0"/>
                                      </a:rPr>
                                      <m:t>𝑖𝑗</m:t>
                                    </m:r>
                                  </m:sub>
                                  <m:sup>
                                    <m:r>
                                      <a:rPr lang="en-US" altLang="zh-TW" b="0" i="1" smtClean="0">
                                        <a:latin typeface="Cambria Math" panose="02040503050406030204" pitchFamily="18" charset="0"/>
                                      </a:rPr>
                                      <m:t>𝐵</m:t>
                                    </m:r>
                                  </m:sup>
                                </m:sSubSup>
                                <m:r>
                                  <a:rPr lang="en-US" altLang="zh-TW" b="0" i="1" smtClean="0">
                                    <a:latin typeface="Cambria Math" panose="02040503050406030204" pitchFamily="18" charset="0"/>
                                  </a:rPr>
                                  <m:t>∈</m:t>
                                </m:r>
                                <m:sSup>
                                  <m:sSupPr>
                                    <m:ctrlPr>
                                      <a:rPr lang="en-US" altLang="zh-TW" b="0" i="1" smtClean="0">
                                        <a:latin typeface="Cambria Math"/>
                                      </a:rPr>
                                    </m:ctrlPr>
                                  </m:sSupPr>
                                  <m:e>
                                    <m:r>
                                      <a:rPr lang="en-US" altLang="zh-TW" b="0" i="1" smtClean="0">
                                        <a:latin typeface="Cambria Math" panose="02040503050406030204" pitchFamily="18" charset="0"/>
                                      </a:rPr>
                                      <m:t>ℝ</m:t>
                                    </m:r>
                                  </m:e>
                                  <m:sup>
                                    <m:r>
                                      <a:rPr lang="en-US" altLang="zh-TW" b="0" i="1" smtClean="0">
                                        <a:latin typeface="Cambria Math" panose="02040503050406030204" pitchFamily="18" charset="0"/>
                                      </a:rPr>
                                      <m:t>𝑚</m:t>
                                    </m:r>
                                    <m:r>
                                      <a:rPr lang="en-US" altLang="zh-TW" b="0" i="1" smtClean="0">
                                        <a:latin typeface="Cambria Math" panose="02040503050406030204" pitchFamily="18" charset="0"/>
                                      </a:rPr>
                                      <m:t>∗(</m:t>
                                    </m:r>
                                    <m:r>
                                      <a:rPr lang="en-US" altLang="zh-TW" b="0" i="1" smtClean="0">
                                        <a:latin typeface="Cambria Math" panose="02040503050406030204" pitchFamily="18" charset="0"/>
                                      </a:rPr>
                                      <m:t>𝑚</m:t>
                                    </m:r>
                                    <m:r>
                                      <a:rPr lang="en-US" altLang="zh-TW" b="0" i="1" smtClean="0">
                                        <a:latin typeface="Cambria Math" panose="02040503050406030204" pitchFamily="18" charset="0"/>
                                      </a:rPr>
                                      <m:t>−1)</m:t>
                                    </m:r>
                                  </m:sup>
                                </m:sSup>
                              </m:oMath>
                            </m:oMathPara>
                          </a14:m>
                          <a:endParaRPr lang="zh-TW" altLang="en-US" dirty="0"/>
                        </a:p>
                      </a:txBody>
                      <a:tcPr/>
                    </a:tc>
                    <a:tc vMerge="1">
                      <a:txBody>
                        <a:bodyPr/>
                        <a:lstStyle/>
                        <a:p>
                          <a:endParaRPr lang="zh-TW" altLang="en-US" dirty="0"/>
                        </a:p>
                      </a:txBody>
                      <a:tcPr/>
                    </a:tc>
                  </a:tr>
                </a:tbl>
              </a:graphicData>
            </a:graphic>
          </p:graphicFrame>
        </mc:Choice>
        <mc:Fallback xmlns="">
          <p:graphicFrame>
            <p:nvGraphicFramePr>
              <p:cNvPr id="6" name="表格 5"/>
              <p:cNvGraphicFramePr>
                <a:graphicFrameLocks noGrp="1"/>
              </p:cNvGraphicFramePr>
              <p:nvPr>
                <p:extLst>
                  <p:ext uri="{D42A27DB-BD31-4B8C-83A1-F6EECF244321}">
                    <p14:modId xmlns:p14="http://schemas.microsoft.com/office/powerpoint/2010/main" val="1388106964"/>
                  </p:ext>
                </p:extLst>
              </p:nvPr>
            </p:nvGraphicFramePr>
            <p:xfrm>
              <a:off x="336176" y="4370705"/>
              <a:ext cx="11537579" cy="1985645"/>
            </p:xfrm>
            <a:graphic>
              <a:graphicData uri="http://schemas.openxmlformats.org/drawingml/2006/table">
                <a:tbl>
                  <a:tblPr firstRow="1" bandRow="1">
                    <a:tableStyleId>{5C22544A-7EE6-4342-B048-85BDC9FD1C3A}</a:tableStyleId>
                  </a:tblPr>
                  <a:tblGrid>
                    <a:gridCol w="1286869"/>
                    <a:gridCol w="753464"/>
                    <a:gridCol w="753464"/>
                    <a:gridCol w="753464"/>
                    <a:gridCol w="753464"/>
                    <a:gridCol w="753464"/>
                    <a:gridCol w="753464"/>
                    <a:gridCol w="753464"/>
                    <a:gridCol w="753464"/>
                    <a:gridCol w="753464"/>
                    <a:gridCol w="1734767"/>
                    <a:gridCol w="1734767"/>
                  </a:tblGrid>
                  <a:tr h="370840">
                    <a:tc>
                      <a:txBody>
                        <a:bodyPr/>
                        <a:lstStyle/>
                        <a:p>
                          <a:r>
                            <a:rPr lang="en-US" altLang="zh-TW" dirty="0" smtClean="0"/>
                            <a:t>Bootstrap</a:t>
                          </a:r>
                          <a:endParaRPr lang="zh-TW" altLang="en-US" dirty="0"/>
                        </a:p>
                      </a:txBody>
                      <a:tcPr/>
                    </a:tc>
                    <a:tc>
                      <a:txBody>
                        <a:bodyPr/>
                        <a:lstStyle/>
                        <a:p>
                          <a:r>
                            <a:rPr lang="en-US" altLang="zh-TW" dirty="0" smtClean="0"/>
                            <a:t>1</a:t>
                          </a:r>
                          <a:endParaRPr lang="zh-TW" altLang="en-US" dirty="0"/>
                        </a:p>
                      </a:txBody>
                      <a:tcPr/>
                    </a:tc>
                    <a:tc>
                      <a:txBody>
                        <a:bodyPr/>
                        <a:lstStyle/>
                        <a:p>
                          <a:r>
                            <a:rPr lang="en-US" altLang="zh-TW" dirty="0" smtClean="0"/>
                            <a:t>2</a:t>
                          </a:r>
                          <a:endParaRPr lang="zh-TW" altLang="en-US" dirty="0"/>
                        </a:p>
                      </a:txBody>
                      <a:tcPr/>
                    </a:tc>
                    <a:tc>
                      <a:txBody>
                        <a:bodyPr/>
                        <a:lstStyle/>
                        <a:p>
                          <a:r>
                            <a:rPr lang="en-US" altLang="zh-TW" dirty="0" smtClean="0"/>
                            <a:t>3</a:t>
                          </a:r>
                          <a:endParaRPr lang="zh-TW" altLang="en-US" dirty="0"/>
                        </a:p>
                      </a:txBody>
                      <a:tcPr/>
                    </a:tc>
                    <a:tc>
                      <a:txBody>
                        <a:bodyPr/>
                        <a:lstStyle/>
                        <a:p>
                          <a:r>
                            <a:rPr lang="en-US" altLang="zh-TW" dirty="0" smtClean="0"/>
                            <a:t>4</a:t>
                          </a:r>
                          <a:endParaRPr lang="zh-TW" altLang="en-US" dirty="0"/>
                        </a:p>
                      </a:txBody>
                      <a:tcPr/>
                    </a:tc>
                    <a:tc>
                      <a:txBody>
                        <a:bodyPr/>
                        <a:lstStyle/>
                        <a:p>
                          <a:r>
                            <a:rPr lang="en-US" altLang="zh-TW" dirty="0" smtClean="0"/>
                            <a:t>5</a:t>
                          </a:r>
                          <a:endParaRPr lang="zh-TW" altLang="en-US" dirty="0"/>
                        </a:p>
                      </a:txBody>
                      <a:tcPr/>
                    </a:tc>
                    <a:tc>
                      <a:txBody>
                        <a:bodyPr/>
                        <a:lstStyle/>
                        <a:p>
                          <a:r>
                            <a:rPr lang="en-US" altLang="zh-TW" dirty="0" smtClean="0"/>
                            <a:t>6</a:t>
                          </a:r>
                          <a:endParaRPr lang="zh-TW" altLang="en-US" dirty="0"/>
                        </a:p>
                      </a:txBody>
                      <a:tcPr/>
                    </a:tc>
                    <a:tc>
                      <a:txBody>
                        <a:bodyPr/>
                        <a:lstStyle/>
                        <a:p>
                          <a:r>
                            <a:rPr lang="en-US" altLang="zh-TW" dirty="0" smtClean="0"/>
                            <a:t>7</a:t>
                          </a:r>
                          <a:endParaRPr lang="zh-TW" altLang="en-US" dirty="0"/>
                        </a:p>
                      </a:txBody>
                      <a:tcPr/>
                    </a:tc>
                    <a:tc>
                      <a:txBody>
                        <a:bodyPr/>
                        <a:lstStyle/>
                        <a:p>
                          <a:r>
                            <a:rPr lang="en-US" altLang="zh-TW" dirty="0" smtClean="0"/>
                            <a:t>8</a:t>
                          </a:r>
                          <a:endParaRPr lang="zh-TW" altLang="en-US" dirty="0"/>
                        </a:p>
                      </a:txBody>
                      <a:tcPr/>
                    </a:tc>
                    <a:tc>
                      <a:txBody>
                        <a:bodyPr/>
                        <a:lstStyle/>
                        <a:p>
                          <a:r>
                            <a:rPr lang="en-US" altLang="zh-TW" dirty="0" smtClean="0"/>
                            <a:t>9</a:t>
                          </a:r>
                          <a:endParaRPr lang="zh-TW" altLang="en-US" dirty="0"/>
                        </a:p>
                      </a:txBody>
                      <a:tcPr/>
                    </a:tc>
                    <a:tc>
                      <a:txBody>
                        <a:bodyPr/>
                        <a:lstStyle/>
                        <a:p>
                          <a:endParaRPr lang="zh-TW" altLang="en-US" dirty="0"/>
                        </a:p>
                      </a:txBody>
                      <a:tcPr/>
                    </a:tc>
                    <a:tc>
                      <a:txBody>
                        <a:bodyPr/>
                        <a:lstStyle/>
                        <a:p>
                          <a:r>
                            <a:rPr lang="en-US" altLang="zh-TW" dirty="0" smtClean="0"/>
                            <a:t>Variance</a:t>
                          </a:r>
                          <a:endParaRPr lang="zh-TW" altLang="en-US" dirty="0"/>
                        </a:p>
                      </a:txBody>
                      <a:tcPr/>
                    </a:tc>
                  </a:tr>
                  <a:tr h="414655">
                    <a:tc>
                      <a:txBody>
                        <a:bodyPr/>
                        <a:lstStyle/>
                        <a:p>
                          <a:r>
                            <a:rPr lang="en-US" altLang="zh-TW" dirty="0" smtClean="0"/>
                            <a:t>1</a:t>
                          </a:r>
                          <a:endParaRPr lang="zh-TW" altLang="en-US" dirty="0"/>
                        </a:p>
                      </a:txBody>
                      <a:tcPr/>
                    </a:tc>
                    <a:tc>
                      <a:txBody>
                        <a:bodyPr/>
                        <a:lstStyle/>
                        <a:p>
                          <a:r>
                            <a:rPr lang="en-US" altLang="zh-TW" dirty="0" smtClean="0">
                              <a:solidFill>
                                <a:srgbClr val="FF0000"/>
                              </a:solidFill>
                            </a:rPr>
                            <a:t>5</a:t>
                          </a:r>
                          <a:endParaRPr lang="zh-TW" altLang="en-US" dirty="0">
                            <a:solidFill>
                              <a:srgbClr val="FF0000"/>
                            </a:solidFill>
                          </a:endParaRPr>
                        </a:p>
                      </a:txBody>
                      <a:tcPr/>
                    </a:tc>
                    <a:tc>
                      <a:txBody>
                        <a:bodyPr/>
                        <a:lstStyle/>
                        <a:p>
                          <a:r>
                            <a:rPr lang="en-US" altLang="zh-TW" dirty="0" smtClean="0"/>
                            <a:t>6</a:t>
                          </a:r>
                          <a:endParaRPr lang="zh-TW" altLang="en-US" dirty="0"/>
                        </a:p>
                      </a:txBody>
                      <a:tcPr/>
                    </a:tc>
                    <a:tc>
                      <a:txBody>
                        <a:bodyPr/>
                        <a:lstStyle/>
                        <a:p>
                          <a:r>
                            <a:rPr lang="en-US" altLang="zh-TW" dirty="0" smtClean="0"/>
                            <a:t>7</a:t>
                          </a:r>
                          <a:endParaRPr lang="zh-TW" altLang="en-US" dirty="0"/>
                        </a:p>
                      </a:txBody>
                      <a:tcPr/>
                    </a:tc>
                    <a:tc>
                      <a:txBody>
                        <a:bodyPr/>
                        <a:lstStyle/>
                        <a:p>
                          <a:r>
                            <a:rPr lang="en-US" altLang="zh-TW" dirty="0" smtClean="0">
                              <a:solidFill>
                                <a:srgbClr val="FF0000"/>
                              </a:solidFill>
                            </a:rPr>
                            <a:t>1</a:t>
                          </a:r>
                          <a:endParaRPr lang="zh-TW" altLang="en-US" dirty="0">
                            <a:solidFill>
                              <a:srgbClr val="FF0000"/>
                            </a:solidFill>
                          </a:endParaRPr>
                        </a:p>
                      </a:txBody>
                      <a:tcPr/>
                    </a:tc>
                    <a:tc>
                      <a:txBody>
                        <a:bodyPr/>
                        <a:lstStyle/>
                        <a:p>
                          <a:r>
                            <a:rPr lang="en-US" altLang="zh-TW" dirty="0" smtClean="0"/>
                            <a:t>2</a:t>
                          </a:r>
                          <a:endParaRPr lang="zh-TW" altLang="en-US" dirty="0"/>
                        </a:p>
                      </a:txBody>
                      <a:tcPr/>
                    </a:tc>
                    <a:tc>
                      <a:txBody>
                        <a:bodyPr/>
                        <a:lstStyle/>
                        <a:p>
                          <a:r>
                            <a:rPr lang="en-US" altLang="zh-TW" dirty="0" smtClean="0"/>
                            <a:t>3</a:t>
                          </a:r>
                          <a:endParaRPr lang="zh-TW" altLang="en-US" dirty="0"/>
                        </a:p>
                      </a:txBody>
                      <a:tcPr/>
                    </a:tc>
                    <a:tc>
                      <a:txBody>
                        <a:bodyPr/>
                        <a:lstStyle/>
                        <a:p>
                          <a:r>
                            <a:rPr lang="en-US" altLang="zh-TW" dirty="0" smtClean="0">
                              <a:solidFill>
                                <a:srgbClr val="FF0000"/>
                              </a:solidFill>
                            </a:rPr>
                            <a:t>1</a:t>
                          </a:r>
                          <a:endParaRPr lang="zh-TW" altLang="en-US" dirty="0">
                            <a:solidFill>
                              <a:srgbClr val="FF0000"/>
                            </a:solidFill>
                          </a:endParaRPr>
                        </a:p>
                      </a:txBody>
                      <a:tcPr/>
                    </a:tc>
                    <a:tc>
                      <a:txBody>
                        <a:bodyPr/>
                        <a:lstStyle/>
                        <a:p>
                          <a:r>
                            <a:rPr lang="en-US" altLang="zh-TW" dirty="0" smtClean="0"/>
                            <a:t>2</a:t>
                          </a:r>
                          <a:endParaRPr lang="zh-TW" altLang="en-US" dirty="0"/>
                        </a:p>
                      </a:txBody>
                      <a:tcPr/>
                    </a:tc>
                    <a:tc>
                      <a:txBody>
                        <a:bodyPr/>
                        <a:lstStyle/>
                        <a:p>
                          <a:r>
                            <a:rPr lang="en-US" altLang="zh-TW" dirty="0" smtClean="0"/>
                            <a:t>3</a:t>
                          </a:r>
                          <a:endParaRPr lang="zh-TW" altLang="en-US" dirty="0"/>
                        </a:p>
                      </a:txBody>
                      <a:tcPr/>
                    </a:tc>
                    <a:tc>
                      <a:txBody>
                        <a:bodyPr/>
                        <a:lstStyle/>
                        <a:p>
                          <a:endParaRPr lang="zh-TW"/>
                        </a:p>
                      </a:txBody>
                      <a:tcPr>
                        <a:blipFill rotWithShape="0">
                          <a:blip r:embed="rId3"/>
                          <a:stretch>
                            <a:fillRect l="-466549" t="-97059" r="-101761" b="-492647"/>
                          </a:stretch>
                        </a:blipFill>
                      </a:tcPr>
                    </a:tc>
                    <a:tc rowSpan="4">
                      <a:txBody>
                        <a:bodyPr/>
                        <a:lstStyle/>
                        <a:p>
                          <a:endParaRPr lang="zh-TW"/>
                        </a:p>
                      </a:txBody>
                      <a:tcPr>
                        <a:blipFill rotWithShape="0">
                          <a:blip r:embed="rId3"/>
                          <a:stretch>
                            <a:fillRect l="-564561" t="-24812" r="-1404" b="-51504"/>
                          </a:stretch>
                        </a:blipFill>
                      </a:tcPr>
                    </a:tc>
                  </a:tr>
                  <a:tr h="414655">
                    <a:tc>
                      <a:txBody>
                        <a:bodyPr/>
                        <a:lstStyle/>
                        <a:p>
                          <a:r>
                            <a:rPr lang="en-US" altLang="zh-TW" dirty="0" smtClean="0"/>
                            <a:t>2</a:t>
                          </a:r>
                          <a:endParaRPr lang="zh-TW" altLang="en-US" dirty="0"/>
                        </a:p>
                      </a:txBody>
                      <a:tcPr/>
                    </a:tc>
                    <a:tc>
                      <a:txBody>
                        <a:bodyPr/>
                        <a:lstStyle/>
                        <a:p>
                          <a:r>
                            <a:rPr lang="en-US" altLang="zh-TW" dirty="0" smtClean="0">
                              <a:solidFill>
                                <a:srgbClr val="FF0000"/>
                              </a:solidFill>
                            </a:rPr>
                            <a:t>2</a:t>
                          </a:r>
                          <a:endParaRPr lang="zh-TW" altLang="en-US" dirty="0">
                            <a:solidFill>
                              <a:srgbClr val="FF0000"/>
                            </a:solidFill>
                          </a:endParaRPr>
                        </a:p>
                      </a:txBody>
                      <a:tcPr/>
                    </a:tc>
                    <a:tc>
                      <a:txBody>
                        <a:bodyPr/>
                        <a:lstStyle/>
                        <a:p>
                          <a:r>
                            <a:rPr lang="en-US" altLang="zh-TW" dirty="0" smtClean="0"/>
                            <a:t>3</a:t>
                          </a:r>
                          <a:endParaRPr lang="zh-TW" altLang="en-US" dirty="0"/>
                        </a:p>
                      </a:txBody>
                      <a:tcPr/>
                    </a:tc>
                    <a:tc>
                      <a:txBody>
                        <a:bodyPr/>
                        <a:lstStyle/>
                        <a:p>
                          <a:r>
                            <a:rPr lang="en-US" altLang="zh-TW" dirty="0" smtClean="0"/>
                            <a:t>4</a:t>
                          </a:r>
                          <a:endParaRPr lang="zh-TW" altLang="en-US" dirty="0"/>
                        </a:p>
                      </a:txBody>
                      <a:tcPr/>
                    </a:tc>
                    <a:tc>
                      <a:txBody>
                        <a:bodyPr/>
                        <a:lstStyle/>
                        <a:p>
                          <a:r>
                            <a:rPr lang="en-US" altLang="zh-TW" dirty="0" smtClean="0">
                              <a:solidFill>
                                <a:srgbClr val="FF0000"/>
                              </a:solidFill>
                            </a:rPr>
                            <a:t>4</a:t>
                          </a:r>
                          <a:endParaRPr lang="zh-TW" altLang="en-US" dirty="0">
                            <a:solidFill>
                              <a:srgbClr val="FF0000"/>
                            </a:solidFill>
                          </a:endParaRPr>
                        </a:p>
                      </a:txBody>
                      <a:tcPr/>
                    </a:tc>
                    <a:tc>
                      <a:txBody>
                        <a:bodyPr/>
                        <a:lstStyle/>
                        <a:p>
                          <a:r>
                            <a:rPr lang="en-US" altLang="zh-TW" dirty="0" smtClean="0"/>
                            <a:t>5</a:t>
                          </a:r>
                          <a:endParaRPr lang="zh-TW" altLang="en-US" dirty="0"/>
                        </a:p>
                      </a:txBody>
                      <a:tcPr/>
                    </a:tc>
                    <a:tc>
                      <a:txBody>
                        <a:bodyPr/>
                        <a:lstStyle/>
                        <a:p>
                          <a:r>
                            <a:rPr lang="en-US" altLang="zh-TW" dirty="0" smtClean="0"/>
                            <a:t>6</a:t>
                          </a:r>
                          <a:endParaRPr lang="zh-TW" altLang="en-US" dirty="0"/>
                        </a:p>
                      </a:txBody>
                      <a:tcPr/>
                    </a:tc>
                    <a:tc>
                      <a:txBody>
                        <a:bodyPr/>
                        <a:lstStyle/>
                        <a:p>
                          <a:r>
                            <a:rPr lang="en-US" altLang="zh-TW" dirty="0" smtClean="0">
                              <a:solidFill>
                                <a:srgbClr val="FF0000"/>
                              </a:solidFill>
                            </a:rPr>
                            <a:t>4</a:t>
                          </a:r>
                          <a:endParaRPr lang="zh-TW" altLang="en-US" dirty="0">
                            <a:solidFill>
                              <a:srgbClr val="FF0000"/>
                            </a:solidFill>
                          </a:endParaRPr>
                        </a:p>
                      </a:txBody>
                      <a:tcPr/>
                    </a:tc>
                    <a:tc>
                      <a:txBody>
                        <a:bodyPr/>
                        <a:lstStyle/>
                        <a:p>
                          <a:r>
                            <a:rPr lang="en-US" altLang="zh-TW" dirty="0" smtClean="0"/>
                            <a:t>5</a:t>
                          </a:r>
                          <a:endParaRPr lang="zh-TW" altLang="en-US" dirty="0"/>
                        </a:p>
                      </a:txBody>
                      <a:tcPr/>
                    </a:tc>
                    <a:tc>
                      <a:txBody>
                        <a:bodyPr/>
                        <a:lstStyle/>
                        <a:p>
                          <a:r>
                            <a:rPr lang="en-US" altLang="zh-TW" dirty="0" smtClean="0"/>
                            <a:t>6</a:t>
                          </a:r>
                          <a:endParaRPr lang="zh-TW" altLang="en-US" dirty="0"/>
                        </a:p>
                      </a:txBody>
                      <a:tcPr/>
                    </a:tc>
                    <a:tc>
                      <a:txBody>
                        <a:bodyPr/>
                        <a:lstStyle/>
                        <a:p>
                          <a:endParaRPr lang="zh-TW"/>
                        </a:p>
                      </a:txBody>
                      <a:tcPr>
                        <a:blipFill rotWithShape="0">
                          <a:blip r:embed="rId3"/>
                          <a:stretch>
                            <a:fillRect l="-466549" t="-194203" r="-101761" b="-385507"/>
                          </a:stretch>
                        </a:blipFill>
                      </a:tcPr>
                    </a:tc>
                    <a:tc vMerge="1">
                      <a:txBody>
                        <a:bodyPr/>
                        <a:lstStyle/>
                        <a:p>
                          <a:endParaRPr lang="zh-TW" altLang="en-US" dirty="0"/>
                        </a:p>
                      </a:txBody>
                      <a:tcPr/>
                    </a:tc>
                  </a:tr>
                  <a:tr h="370840">
                    <a:tc>
                      <a:txBody>
                        <a:bodyPr/>
                        <a:lstStyle/>
                        <a:p>
                          <a:r>
                            <a:rPr lang="en-US" altLang="zh-TW" dirty="0" smtClean="0"/>
                            <a:t>…</a:t>
                          </a:r>
                          <a:endParaRPr lang="zh-TW" altLang="en-US" dirty="0"/>
                        </a:p>
                      </a:txBody>
                      <a:tcPr/>
                    </a:tc>
                    <a:tc>
                      <a:txBody>
                        <a:bodyPr/>
                        <a:lstStyle/>
                        <a:p>
                          <a:endParaRPr lang="zh-TW" altLang="en-US"/>
                        </a:p>
                      </a:txBody>
                      <a:tcPr/>
                    </a:tc>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tc vMerge="1">
                      <a:txBody>
                        <a:bodyPr/>
                        <a:lstStyle/>
                        <a:p>
                          <a:endParaRPr lang="zh-TW" altLang="en-US" dirty="0"/>
                        </a:p>
                      </a:txBody>
                      <a:tcPr/>
                    </a:tc>
                  </a:tr>
                  <a:tr h="414655">
                    <a:tc>
                      <a:txBody>
                        <a:bodyPr/>
                        <a:lstStyle/>
                        <a:p>
                          <a:r>
                            <a:rPr lang="en-US" altLang="zh-TW" dirty="0" smtClean="0"/>
                            <a:t>B</a:t>
                          </a:r>
                          <a:endParaRPr lang="zh-TW" altLang="en-US" dirty="0"/>
                        </a:p>
                      </a:txBody>
                      <a:tcPr/>
                    </a:tc>
                    <a:tc>
                      <a:txBody>
                        <a:bodyPr/>
                        <a:lstStyle/>
                        <a:p>
                          <a:r>
                            <a:rPr lang="en-US" altLang="zh-TW" dirty="0" smtClean="0">
                              <a:solidFill>
                                <a:srgbClr val="FF0000"/>
                              </a:solidFill>
                            </a:rPr>
                            <a:t>9</a:t>
                          </a:r>
                          <a:endParaRPr lang="zh-TW" altLang="en-US" dirty="0">
                            <a:solidFill>
                              <a:srgbClr val="FF0000"/>
                            </a:solidFill>
                          </a:endParaRPr>
                        </a:p>
                      </a:txBody>
                      <a:tcPr/>
                    </a:tc>
                    <a:tc>
                      <a:txBody>
                        <a:bodyPr/>
                        <a:lstStyle/>
                        <a:p>
                          <a:r>
                            <a:rPr lang="en-US" altLang="zh-TW" dirty="0" smtClean="0"/>
                            <a:t>1</a:t>
                          </a:r>
                          <a:endParaRPr lang="zh-TW" altLang="en-US" dirty="0"/>
                        </a:p>
                      </a:txBody>
                      <a:tcPr/>
                    </a:tc>
                    <a:tc>
                      <a:txBody>
                        <a:bodyPr/>
                        <a:lstStyle/>
                        <a:p>
                          <a:r>
                            <a:rPr lang="en-US" altLang="zh-TW" dirty="0" smtClean="0"/>
                            <a:t>2</a:t>
                          </a:r>
                          <a:endParaRPr lang="zh-TW" altLang="en-US" dirty="0"/>
                        </a:p>
                      </a:txBody>
                      <a:tcPr/>
                    </a:tc>
                    <a:tc>
                      <a:txBody>
                        <a:bodyPr/>
                        <a:lstStyle/>
                        <a:p>
                          <a:r>
                            <a:rPr lang="en-US" altLang="zh-TW" dirty="0" smtClean="0">
                              <a:solidFill>
                                <a:srgbClr val="FF0000"/>
                              </a:solidFill>
                            </a:rPr>
                            <a:t>5</a:t>
                          </a:r>
                          <a:endParaRPr lang="zh-TW" altLang="en-US" dirty="0">
                            <a:solidFill>
                              <a:srgbClr val="FF0000"/>
                            </a:solidFill>
                          </a:endParaRPr>
                        </a:p>
                      </a:txBody>
                      <a:tcPr/>
                    </a:tc>
                    <a:tc>
                      <a:txBody>
                        <a:bodyPr/>
                        <a:lstStyle/>
                        <a:p>
                          <a:r>
                            <a:rPr lang="en-US" altLang="zh-TW" dirty="0" smtClean="0"/>
                            <a:t>6</a:t>
                          </a:r>
                          <a:endParaRPr lang="zh-TW" altLang="en-US" dirty="0"/>
                        </a:p>
                      </a:txBody>
                      <a:tcPr/>
                    </a:tc>
                    <a:tc>
                      <a:txBody>
                        <a:bodyPr/>
                        <a:lstStyle/>
                        <a:p>
                          <a:r>
                            <a:rPr lang="en-US" altLang="zh-TW" dirty="0" smtClean="0"/>
                            <a:t>7</a:t>
                          </a:r>
                          <a:endParaRPr lang="zh-TW" altLang="en-US" dirty="0"/>
                        </a:p>
                      </a:txBody>
                      <a:tcPr/>
                    </a:tc>
                    <a:tc>
                      <a:txBody>
                        <a:bodyPr/>
                        <a:lstStyle/>
                        <a:p>
                          <a:r>
                            <a:rPr lang="en-US" altLang="zh-TW" dirty="0" smtClean="0">
                              <a:solidFill>
                                <a:srgbClr val="FF0000"/>
                              </a:solidFill>
                            </a:rPr>
                            <a:t>7</a:t>
                          </a:r>
                          <a:endParaRPr lang="zh-TW" altLang="en-US" dirty="0">
                            <a:solidFill>
                              <a:srgbClr val="FF0000"/>
                            </a:solidFill>
                          </a:endParaRPr>
                        </a:p>
                      </a:txBody>
                      <a:tcPr/>
                    </a:tc>
                    <a:tc>
                      <a:txBody>
                        <a:bodyPr/>
                        <a:lstStyle/>
                        <a:p>
                          <a:r>
                            <a:rPr lang="en-US" altLang="zh-TW" dirty="0" smtClean="0"/>
                            <a:t>8</a:t>
                          </a:r>
                          <a:endParaRPr lang="zh-TW" altLang="en-US" dirty="0"/>
                        </a:p>
                      </a:txBody>
                      <a:tcPr/>
                    </a:tc>
                    <a:tc>
                      <a:txBody>
                        <a:bodyPr/>
                        <a:lstStyle/>
                        <a:p>
                          <a:r>
                            <a:rPr lang="en-US" altLang="zh-TW" dirty="0" smtClean="0"/>
                            <a:t>9</a:t>
                          </a:r>
                          <a:endParaRPr lang="zh-TW" altLang="en-US" dirty="0"/>
                        </a:p>
                      </a:txBody>
                      <a:tcPr/>
                    </a:tc>
                    <a:tc>
                      <a:txBody>
                        <a:bodyPr/>
                        <a:lstStyle/>
                        <a:p>
                          <a:endParaRPr lang="zh-TW"/>
                        </a:p>
                      </a:txBody>
                      <a:tcPr>
                        <a:blipFill rotWithShape="0">
                          <a:blip r:embed="rId3"/>
                          <a:stretch>
                            <a:fillRect l="-466549" t="-388235" r="-101761" b="-201471"/>
                          </a:stretch>
                        </a:blipFill>
                      </a:tcPr>
                    </a:tc>
                    <a:tc vMerge="1">
                      <a:txBody>
                        <a:bodyPr/>
                        <a:lstStyle/>
                        <a:p>
                          <a:endParaRPr lang="zh-TW" altLang="en-US" dirty="0"/>
                        </a:p>
                      </a:txBody>
                      <a:tcPr/>
                    </a:tc>
                  </a:tr>
                </a:tbl>
              </a:graphicData>
            </a:graphic>
          </p:graphicFrame>
        </mc:Fallback>
      </mc:AlternateContent>
    </p:spTree>
    <p:extLst>
      <p:ext uri="{BB962C8B-B14F-4D97-AF65-F5344CB8AC3E}">
        <p14:creationId xmlns:p14="http://schemas.microsoft.com/office/powerpoint/2010/main" val="2740644222"/>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Sequential testing</a:t>
            </a:r>
            <a:endParaRPr lang="zh-TW" altLang="en-US" dirty="0"/>
          </a:p>
        </p:txBody>
      </p:sp>
      <p:sp>
        <p:nvSpPr>
          <p:cNvPr id="3" name="投影片編號版面配置區 2"/>
          <p:cNvSpPr>
            <a:spLocks noGrp="1"/>
          </p:cNvSpPr>
          <p:nvPr>
            <p:ph type="sldNum" sz="quarter" idx="12"/>
          </p:nvPr>
        </p:nvSpPr>
        <p:spPr/>
        <p:txBody>
          <a:bodyPr/>
          <a:lstStyle/>
          <a:p>
            <a:fld id="{8E7C9034-9CD7-4E81-904A-4E7DCAD21B02}" type="slidenum">
              <a:rPr lang="zh-TW" altLang="en-US" smtClean="0"/>
              <a:t>21</a:t>
            </a:fld>
            <a:endParaRPr lang="zh-TW" altLang="en-US"/>
          </a:p>
        </p:txBody>
      </p:sp>
      <p:sp>
        <p:nvSpPr>
          <p:cNvPr id="4" name="文字方塊 3"/>
          <p:cNvSpPr txBox="1"/>
          <p:nvPr/>
        </p:nvSpPr>
        <p:spPr>
          <a:xfrm>
            <a:off x="699247" y="1748938"/>
            <a:ext cx="7449670" cy="2353235"/>
          </a:xfrm>
          <a:prstGeom prst="rect">
            <a:avLst/>
          </a:prstGeom>
          <a:noFill/>
        </p:spPr>
        <p:txBody>
          <a:bodyPr wrap="square" rtlCol="0">
            <a:spAutoFit/>
          </a:bodyPr>
          <a:lstStyle/>
          <a:p>
            <a:endParaRPr lang="zh-TW" altLang="en-US" dirty="0"/>
          </a:p>
        </p:txBody>
      </p:sp>
      <mc:AlternateContent xmlns:mc="http://schemas.openxmlformats.org/markup-compatibility/2006" xmlns:a14="http://schemas.microsoft.com/office/drawing/2010/main">
        <mc:Choice Requires="a14">
          <p:sp>
            <p:nvSpPr>
              <p:cNvPr id="6" name="矩形 5"/>
              <p:cNvSpPr/>
              <p:nvPr/>
            </p:nvSpPr>
            <p:spPr>
              <a:xfrm>
                <a:off x="699248" y="1748938"/>
                <a:ext cx="10945334" cy="4483407"/>
              </a:xfrm>
              <a:prstGeom prst="rect">
                <a:avLst/>
              </a:prstGeom>
            </p:spPr>
            <p:txBody>
              <a:bodyPr wrap="square">
                <a:spAutoFit/>
              </a:bodyPr>
              <a:lstStyle/>
              <a:p>
                <a:pPr marL="342900" indent="-342900">
                  <a:buFont typeface="+mj-lt"/>
                  <a:buAutoNum type="arabicPeriod"/>
                </a:pPr>
                <a:r>
                  <a:rPr lang="en-US" altLang="zh-TW" sz="2800" dirty="0" smtClean="0"/>
                  <a:t>Data statistics </a:t>
                </a:r>
                <a14:m>
                  <m:oMath xmlns:m="http://schemas.openxmlformats.org/officeDocument/2006/math">
                    <m:sSub>
                      <m:sSubPr>
                        <m:ctrlPr>
                          <a:rPr lang="en-US" altLang="zh-TW" sz="2800" i="1" smtClean="0">
                            <a:latin typeface="Cambria Math"/>
                          </a:rPr>
                        </m:ctrlPr>
                      </m:sSubPr>
                      <m:e>
                        <m:r>
                          <a:rPr lang="en-US" altLang="zh-TW" sz="2800" i="1">
                            <a:latin typeface="Cambria Math" panose="02040503050406030204" pitchFamily="18" charset="0"/>
                          </a:rPr>
                          <m:t>𝑇</m:t>
                        </m:r>
                      </m:e>
                      <m:sub>
                        <m:r>
                          <a:rPr lang="en-US" altLang="zh-TW" sz="2800" i="1">
                            <a:latin typeface="Cambria Math" panose="02040503050406030204" pitchFamily="18" charset="0"/>
                          </a:rPr>
                          <m:t>𝑚𝑎𝑥</m:t>
                        </m:r>
                      </m:sub>
                    </m:sSub>
                    <m:r>
                      <a:rPr lang="en-US" altLang="zh-TW" sz="2800" i="1">
                        <a:latin typeface="Cambria Math" panose="02040503050406030204" pitchFamily="18" charset="0"/>
                      </a:rPr>
                      <m:t>=</m:t>
                    </m:r>
                    <m:func>
                      <m:funcPr>
                        <m:ctrlPr>
                          <a:rPr lang="en-US" altLang="zh-TW" sz="2800" i="1">
                            <a:latin typeface="Cambria Math"/>
                          </a:rPr>
                        </m:ctrlPr>
                      </m:funcPr>
                      <m:fName>
                        <m:limLow>
                          <m:limLowPr>
                            <m:ctrlPr>
                              <a:rPr lang="en-US" altLang="zh-TW" sz="2800" i="1">
                                <a:latin typeface="Cambria Math"/>
                              </a:rPr>
                            </m:ctrlPr>
                          </m:limLowPr>
                          <m:e>
                            <m:r>
                              <m:rPr>
                                <m:sty m:val="p"/>
                              </m:rPr>
                              <a:rPr lang="en-US" altLang="zh-TW" sz="2800">
                                <a:latin typeface="Cambria Math" panose="02040503050406030204" pitchFamily="18" charset="0"/>
                              </a:rPr>
                              <m:t>max</m:t>
                            </m:r>
                          </m:e>
                          <m:lim>
                            <m:r>
                              <a:rPr lang="en-US" altLang="zh-TW" sz="2800" i="1">
                                <a:latin typeface="Cambria Math" panose="02040503050406030204" pitchFamily="18" charset="0"/>
                              </a:rPr>
                              <m:t>𝑖</m:t>
                            </m:r>
                            <m:r>
                              <a:rPr lang="en-US" altLang="zh-TW" sz="2800" i="1">
                                <a:latin typeface="Cambria Math" panose="02040503050406030204" pitchFamily="18" charset="0"/>
                              </a:rPr>
                              <m:t>∈</m:t>
                            </m:r>
                            <m:r>
                              <a:rPr lang="en-US" altLang="zh-TW" sz="2800" i="1">
                                <a:latin typeface="Cambria Math" panose="02040503050406030204" pitchFamily="18" charset="0"/>
                              </a:rPr>
                              <m:t>𝑀</m:t>
                            </m:r>
                            <m:r>
                              <a:rPr lang="en-US" altLang="zh-TW" sz="2800" i="1">
                                <a:latin typeface="Cambria Math" panose="02040503050406030204" pitchFamily="18" charset="0"/>
                              </a:rPr>
                              <m:t> </m:t>
                            </m:r>
                          </m:lim>
                        </m:limLow>
                      </m:fName>
                      <m:e>
                        <m:sSub>
                          <m:sSubPr>
                            <m:ctrlPr>
                              <a:rPr lang="en-US" altLang="zh-TW" sz="2800" i="1">
                                <a:latin typeface="Cambria Math"/>
                              </a:rPr>
                            </m:ctrlPr>
                          </m:sSubPr>
                          <m:e>
                            <m:r>
                              <a:rPr lang="en-US" altLang="zh-TW" sz="2800" i="1">
                                <a:latin typeface="Cambria Math" panose="02040503050406030204" pitchFamily="18" charset="0"/>
                              </a:rPr>
                              <m:t>𝑡</m:t>
                            </m:r>
                          </m:e>
                          <m:sub>
                            <m:r>
                              <a:rPr lang="en-US" altLang="zh-TW" sz="2800" i="1">
                                <a:latin typeface="Cambria Math" panose="02040503050406030204" pitchFamily="18" charset="0"/>
                              </a:rPr>
                              <m:t>𝑖</m:t>
                            </m:r>
                            <m:r>
                              <a:rPr lang="en-US" altLang="zh-TW" sz="2800" i="1">
                                <a:latin typeface="Cambria Math" panose="02040503050406030204" pitchFamily="18" charset="0"/>
                              </a:rPr>
                              <m:t>.</m:t>
                            </m:r>
                          </m:sub>
                        </m:sSub>
                      </m:e>
                    </m:func>
                    <m:r>
                      <a:rPr lang="en-US" altLang="zh-TW" sz="2800" b="0" i="1" smtClean="0">
                        <a:latin typeface="Cambria Math" panose="02040503050406030204" pitchFamily="18" charset="0"/>
                      </a:rPr>
                      <m:t>=</m:t>
                    </m:r>
                    <m:f>
                      <m:fPr>
                        <m:ctrlPr>
                          <a:rPr lang="en-US" altLang="zh-TW" sz="2800" i="1">
                            <a:latin typeface="Cambria Math"/>
                          </a:rPr>
                        </m:ctrlPr>
                      </m:fPr>
                      <m:num>
                        <m:sSub>
                          <m:sSubPr>
                            <m:ctrlPr>
                              <a:rPr lang="en-US" altLang="zh-TW" sz="2800" i="1" dirty="0">
                                <a:latin typeface="Cambria Math"/>
                              </a:rPr>
                            </m:ctrlPr>
                          </m:sSubPr>
                          <m:e>
                            <m:acc>
                              <m:accPr>
                                <m:chr m:val="̅"/>
                                <m:ctrlPr>
                                  <a:rPr lang="en-US" altLang="zh-TW" sz="2800" i="1">
                                    <a:latin typeface="Cambria Math"/>
                                  </a:rPr>
                                </m:ctrlPr>
                              </m:accPr>
                              <m:e>
                                <m:r>
                                  <a:rPr lang="en-US" altLang="zh-TW" sz="2800" i="1">
                                    <a:latin typeface="Cambria Math" panose="02040503050406030204" pitchFamily="18" charset="0"/>
                                  </a:rPr>
                                  <m:t>𝑑</m:t>
                                </m:r>
                              </m:e>
                            </m:acc>
                          </m:e>
                          <m:sub>
                            <m:r>
                              <a:rPr lang="en-US" altLang="zh-TW" sz="2800" i="1" dirty="0">
                                <a:latin typeface="Cambria Math" panose="02040503050406030204" pitchFamily="18" charset="0"/>
                              </a:rPr>
                              <m:t>𝑖</m:t>
                            </m:r>
                            <m:r>
                              <a:rPr lang="en-US" altLang="zh-TW" sz="2800" i="1" dirty="0">
                                <a:latin typeface="Cambria Math" panose="02040503050406030204" pitchFamily="18" charset="0"/>
                              </a:rPr>
                              <m:t>.</m:t>
                            </m:r>
                          </m:sub>
                        </m:sSub>
                      </m:num>
                      <m:den>
                        <m:rad>
                          <m:radPr>
                            <m:degHide m:val="on"/>
                            <m:ctrlPr>
                              <a:rPr lang="en-US" altLang="zh-TW" sz="2800" i="1">
                                <a:latin typeface="Cambria Math"/>
                              </a:rPr>
                            </m:ctrlPr>
                          </m:radPr>
                          <m:deg/>
                          <m:e>
                            <m:acc>
                              <m:accPr>
                                <m:chr m:val="̂"/>
                                <m:ctrlPr>
                                  <a:rPr lang="en-US" altLang="zh-TW" sz="2800" i="1">
                                    <a:latin typeface="Cambria Math"/>
                                  </a:rPr>
                                </m:ctrlPr>
                              </m:accPr>
                              <m:e>
                                <m:r>
                                  <a:rPr lang="en-US" altLang="zh-TW" sz="2800" i="1">
                                    <a:solidFill>
                                      <a:srgbClr val="FF0000"/>
                                    </a:solidFill>
                                    <a:latin typeface="Cambria Math" panose="02040503050406030204" pitchFamily="18" charset="0"/>
                                  </a:rPr>
                                  <m:t>𝑣𝑎𝑟</m:t>
                                </m:r>
                                <m:r>
                                  <a:rPr lang="en-US" altLang="zh-TW" sz="2800" i="1">
                                    <a:solidFill>
                                      <a:srgbClr val="FF0000"/>
                                    </a:solidFill>
                                    <a:latin typeface="Cambria Math" panose="02040503050406030204" pitchFamily="18" charset="0"/>
                                  </a:rPr>
                                  <m:t> </m:t>
                                </m:r>
                                <m:d>
                                  <m:dPr>
                                    <m:ctrlPr>
                                      <a:rPr lang="en-US" altLang="zh-TW" sz="2800" i="1">
                                        <a:solidFill>
                                          <a:srgbClr val="FF0000"/>
                                        </a:solidFill>
                                        <a:latin typeface="Cambria Math"/>
                                      </a:rPr>
                                    </m:ctrlPr>
                                  </m:dPr>
                                  <m:e>
                                    <m:acc>
                                      <m:accPr>
                                        <m:chr m:val="̅"/>
                                        <m:ctrlPr>
                                          <a:rPr lang="en-US" altLang="zh-TW" sz="2800" i="1">
                                            <a:solidFill>
                                              <a:srgbClr val="FF0000"/>
                                            </a:solidFill>
                                            <a:latin typeface="Cambria Math"/>
                                          </a:rPr>
                                        </m:ctrlPr>
                                      </m:accPr>
                                      <m:e>
                                        <m:sSub>
                                          <m:sSubPr>
                                            <m:ctrlPr>
                                              <a:rPr lang="en-US" altLang="zh-TW" sz="2800" i="1">
                                                <a:solidFill>
                                                  <a:srgbClr val="FF0000"/>
                                                </a:solidFill>
                                                <a:latin typeface="Cambria Math"/>
                                              </a:rPr>
                                            </m:ctrlPr>
                                          </m:sSubPr>
                                          <m:e>
                                            <m:r>
                                              <a:rPr lang="en-US" altLang="zh-TW" sz="2800" i="1">
                                                <a:solidFill>
                                                  <a:srgbClr val="FF0000"/>
                                                </a:solidFill>
                                                <a:latin typeface="Cambria Math" panose="02040503050406030204" pitchFamily="18" charset="0"/>
                                              </a:rPr>
                                              <m:t>𝑑</m:t>
                                            </m:r>
                                          </m:e>
                                          <m:sub>
                                            <m:r>
                                              <a:rPr lang="en-US" altLang="zh-TW" sz="2800" i="1">
                                                <a:solidFill>
                                                  <a:srgbClr val="FF0000"/>
                                                </a:solidFill>
                                                <a:latin typeface="Cambria Math" panose="02040503050406030204" pitchFamily="18" charset="0"/>
                                              </a:rPr>
                                              <m:t>𝑖</m:t>
                                            </m:r>
                                            <m:r>
                                              <a:rPr lang="en-US" altLang="zh-TW" sz="2800" i="1">
                                                <a:solidFill>
                                                  <a:srgbClr val="FF0000"/>
                                                </a:solidFill>
                                                <a:latin typeface="Cambria Math" panose="02040503050406030204" pitchFamily="18" charset="0"/>
                                              </a:rPr>
                                              <m:t>.</m:t>
                                            </m:r>
                                          </m:sub>
                                        </m:sSub>
                                      </m:e>
                                    </m:acc>
                                  </m:e>
                                </m:d>
                              </m:e>
                            </m:acc>
                          </m:e>
                        </m:rad>
                      </m:den>
                    </m:f>
                  </m:oMath>
                </a14:m>
                <a:endParaRPr lang="en-US" altLang="zh-TW" sz="2800" dirty="0" smtClean="0"/>
              </a:p>
              <a:p>
                <a:pPr marL="342900" indent="-342900">
                  <a:buFont typeface="+mj-lt"/>
                  <a:buAutoNum type="arabicPeriod"/>
                </a:pPr>
                <a:r>
                  <a:rPr lang="en-US" altLang="zh-TW" sz="2800" dirty="0" smtClean="0"/>
                  <a:t>Bootstrap statistics </a:t>
                </a:r>
                <a14:m>
                  <m:oMath xmlns:m="http://schemas.openxmlformats.org/officeDocument/2006/math">
                    <m:sSub>
                      <m:sSubPr>
                        <m:ctrlPr>
                          <a:rPr lang="en-US" altLang="zh-TW" sz="2800" i="1">
                            <a:latin typeface="Cambria Math"/>
                          </a:rPr>
                        </m:ctrlPr>
                      </m:sSubPr>
                      <m:e>
                        <m:r>
                          <a:rPr lang="en-US" altLang="zh-TW" sz="2800" i="1">
                            <a:latin typeface="Cambria Math" panose="02040503050406030204" pitchFamily="18" charset="0"/>
                          </a:rPr>
                          <m:t>𝑇</m:t>
                        </m:r>
                      </m:e>
                      <m:sub>
                        <m:r>
                          <a:rPr lang="en-US" altLang="zh-TW" sz="2800" b="0" i="1" smtClean="0">
                            <a:latin typeface="Cambria Math" panose="02040503050406030204" pitchFamily="18" charset="0"/>
                          </a:rPr>
                          <m:t>𝑏</m:t>
                        </m:r>
                        <m:r>
                          <a:rPr lang="en-US" altLang="zh-TW" sz="2800" b="0" i="1" smtClean="0">
                            <a:latin typeface="Cambria Math" panose="02040503050406030204" pitchFamily="18" charset="0"/>
                          </a:rPr>
                          <m:t>,</m:t>
                        </m:r>
                        <m:r>
                          <a:rPr lang="en-US" altLang="zh-TW" sz="2800" i="1">
                            <a:latin typeface="Cambria Math" panose="02040503050406030204" pitchFamily="18" charset="0"/>
                          </a:rPr>
                          <m:t>𝑚𝑎𝑥</m:t>
                        </m:r>
                      </m:sub>
                    </m:sSub>
                    <m:r>
                      <a:rPr lang="en-US" altLang="zh-TW" sz="2800" i="1">
                        <a:latin typeface="Cambria Math" panose="02040503050406030204" pitchFamily="18" charset="0"/>
                      </a:rPr>
                      <m:t>=</m:t>
                    </m:r>
                    <m:func>
                      <m:funcPr>
                        <m:ctrlPr>
                          <a:rPr lang="en-US" altLang="zh-TW" sz="2800" i="1">
                            <a:latin typeface="Cambria Math"/>
                          </a:rPr>
                        </m:ctrlPr>
                      </m:funcPr>
                      <m:fName>
                        <m:limLow>
                          <m:limLowPr>
                            <m:ctrlPr>
                              <a:rPr lang="en-US" altLang="zh-TW" sz="2800" i="1">
                                <a:latin typeface="Cambria Math"/>
                              </a:rPr>
                            </m:ctrlPr>
                          </m:limLowPr>
                          <m:e>
                            <m:r>
                              <m:rPr>
                                <m:sty m:val="p"/>
                              </m:rPr>
                              <a:rPr lang="en-US" altLang="zh-TW" sz="2800">
                                <a:latin typeface="Cambria Math" panose="02040503050406030204" pitchFamily="18" charset="0"/>
                              </a:rPr>
                              <m:t>max</m:t>
                            </m:r>
                          </m:e>
                          <m:lim>
                            <m:r>
                              <a:rPr lang="en-US" altLang="zh-TW" sz="2800" i="1">
                                <a:latin typeface="Cambria Math" panose="02040503050406030204" pitchFamily="18" charset="0"/>
                              </a:rPr>
                              <m:t>𝑖</m:t>
                            </m:r>
                            <m:r>
                              <a:rPr lang="en-US" altLang="zh-TW" sz="2800" i="1">
                                <a:latin typeface="Cambria Math" panose="02040503050406030204" pitchFamily="18" charset="0"/>
                              </a:rPr>
                              <m:t>∈</m:t>
                            </m:r>
                            <m:r>
                              <a:rPr lang="en-US" altLang="zh-TW" sz="2800" i="1">
                                <a:latin typeface="Cambria Math" panose="02040503050406030204" pitchFamily="18" charset="0"/>
                              </a:rPr>
                              <m:t>𝑀</m:t>
                            </m:r>
                            <m:r>
                              <a:rPr lang="en-US" altLang="zh-TW" sz="2800" i="1">
                                <a:latin typeface="Cambria Math" panose="02040503050406030204" pitchFamily="18" charset="0"/>
                              </a:rPr>
                              <m:t> </m:t>
                            </m:r>
                          </m:lim>
                        </m:limLow>
                      </m:fName>
                      <m:e>
                        <m:sSub>
                          <m:sSubPr>
                            <m:ctrlPr>
                              <a:rPr lang="en-US" altLang="zh-TW" sz="2800" i="1">
                                <a:latin typeface="Cambria Math"/>
                              </a:rPr>
                            </m:ctrlPr>
                          </m:sSubPr>
                          <m:e>
                            <m:r>
                              <a:rPr lang="en-US" altLang="zh-TW" sz="2800" i="1">
                                <a:latin typeface="Cambria Math" panose="02040503050406030204" pitchFamily="18" charset="0"/>
                              </a:rPr>
                              <m:t>𝑡</m:t>
                            </m:r>
                          </m:e>
                          <m:sub>
                            <m:r>
                              <a:rPr lang="en-US" altLang="zh-TW" sz="2800" b="0" i="1" smtClean="0">
                                <a:latin typeface="Cambria Math" panose="02040503050406030204" pitchFamily="18" charset="0"/>
                              </a:rPr>
                              <m:t>𝑏</m:t>
                            </m:r>
                            <m:r>
                              <a:rPr lang="en-US" altLang="zh-TW" sz="2800" b="0" i="1" smtClean="0">
                                <a:latin typeface="Cambria Math" panose="02040503050406030204" pitchFamily="18" charset="0"/>
                              </a:rPr>
                              <m:t>,</m:t>
                            </m:r>
                            <m:r>
                              <a:rPr lang="en-US" altLang="zh-TW" sz="2800" i="1">
                                <a:latin typeface="Cambria Math" panose="02040503050406030204" pitchFamily="18" charset="0"/>
                              </a:rPr>
                              <m:t>𝑖</m:t>
                            </m:r>
                            <m:r>
                              <a:rPr lang="en-US" altLang="zh-TW" sz="2800" i="1">
                                <a:latin typeface="Cambria Math" panose="02040503050406030204" pitchFamily="18" charset="0"/>
                              </a:rPr>
                              <m:t>.</m:t>
                            </m:r>
                          </m:sub>
                        </m:sSub>
                      </m:e>
                    </m:func>
                    <m:r>
                      <a:rPr lang="en-US" altLang="zh-TW" sz="2800" i="1">
                        <a:latin typeface="Cambria Math" panose="02040503050406030204" pitchFamily="18" charset="0"/>
                      </a:rPr>
                      <m:t>=</m:t>
                    </m:r>
                    <m:f>
                      <m:fPr>
                        <m:ctrlPr>
                          <a:rPr lang="en-US" altLang="zh-TW" sz="2800" i="1">
                            <a:latin typeface="Cambria Math"/>
                          </a:rPr>
                        </m:ctrlPr>
                      </m:fPr>
                      <m:num>
                        <m:sSub>
                          <m:sSubPr>
                            <m:ctrlPr>
                              <a:rPr lang="en-US" altLang="zh-TW" sz="2800" i="1" dirty="0">
                                <a:latin typeface="Cambria Math"/>
                              </a:rPr>
                            </m:ctrlPr>
                          </m:sSubPr>
                          <m:e>
                            <m:acc>
                              <m:accPr>
                                <m:chr m:val="̅"/>
                                <m:ctrlPr>
                                  <a:rPr lang="en-US" altLang="zh-TW" sz="2800" i="1">
                                    <a:latin typeface="Cambria Math"/>
                                  </a:rPr>
                                </m:ctrlPr>
                              </m:accPr>
                              <m:e>
                                <m:r>
                                  <a:rPr lang="en-US" altLang="zh-TW" sz="2800" i="1">
                                    <a:latin typeface="Cambria Math" panose="02040503050406030204" pitchFamily="18" charset="0"/>
                                  </a:rPr>
                                  <m:t>𝑑</m:t>
                                </m:r>
                              </m:e>
                            </m:acc>
                          </m:e>
                          <m:sub>
                            <m:r>
                              <a:rPr lang="en-US" altLang="zh-TW" sz="2800" b="0" i="1" smtClean="0">
                                <a:latin typeface="Cambria Math" panose="02040503050406030204" pitchFamily="18" charset="0"/>
                              </a:rPr>
                              <m:t>𝑏</m:t>
                            </m:r>
                            <m:r>
                              <a:rPr lang="en-US" altLang="zh-TW" sz="2800" b="0" i="1" smtClean="0">
                                <a:latin typeface="Cambria Math" panose="02040503050406030204" pitchFamily="18" charset="0"/>
                              </a:rPr>
                              <m:t>,</m:t>
                            </m:r>
                            <m:r>
                              <a:rPr lang="en-US" altLang="zh-TW" sz="2800" i="1" dirty="0">
                                <a:latin typeface="Cambria Math" panose="02040503050406030204" pitchFamily="18" charset="0"/>
                              </a:rPr>
                              <m:t>𝑖</m:t>
                            </m:r>
                            <m:r>
                              <a:rPr lang="en-US" altLang="zh-TW" sz="2800" i="1" dirty="0">
                                <a:latin typeface="Cambria Math" panose="02040503050406030204" pitchFamily="18" charset="0"/>
                              </a:rPr>
                              <m:t>.</m:t>
                            </m:r>
                          </m:sub>
                        </m:sSub>
                      </m:num>
                      <m:den>
                        <m:rad>
                          <m:radPr>
                            <m:degHide m:val="on"/>
                            <m:ctrlPr>
                              <a:rPr lang="en-US" altLang="zh-TW" sz="2800" i="1">
                                <a:latin typeface="Cambria Math"/>
                              </a:rPr>
                            </m:ctrlPr>
                          </m:radPr>
                          <m:deg/>
                          <m:e>
                            <m:acc>
                              <m:accPr>
                                <m:chr m:val="̂"/>
                                <m:ctrlPr>
                                  <a:rPr lang="en-US" altLang="zh-TW" sz="2800" i="1">
                                    <a:latin typeface="Cambria Math"/>
                                  </a:rPr>
                                </m:ctrlPr>
                              </m:accPr>
                              <m:e>
                                <m:r>
                                  <a:rPr lang="en-US" altLang="zh-TW" sz="2800" i="1">
                                    <a:solidFill>
                                      <a:srgbClr val="FF0000"/>
                                    </a:solidFill>
                                    <a:latin typeface="Cambria Math" panose="02040503050406030204" pitchFamily="18" charset="0"/>
                                  </a:rPr>
                                  <m:t>𝑣𝑎𝑟</m:t>
                                </m:r>
                                <m:r>
                                  <a:rPr lang="en-US" altLang="zh-TW" sz="2800" i="1">
                                    <a:solidFill>
                                      <a:srgbClr val="FF0000"/>
                                    </a:solidFill>
                                    <a:latin typeface="Cambria Math" panose="02040503050406030204" pitchFamily="18" charset="0"/>
                                  </a:rPr>
                                  <m:t> </m:t>
                                </m:r>
                                <m:d>
                                  <m:dPr>
                                    <m:ctrlPr>
                                      <a:rPr lang="en-US" altLang="zh-TW" sz="2800" i="1">
                                        <a:solidFill>
                                          <a:srgbClr val="FF0000"/>
                                        </a:solidFill>
                                        <a:latin typeface="Cambria Math"/>
                                      </a:rPr>
                                    </m:ctrlPr>
                                  </m:dPr>
                                  <m:e>
                                    <m:acc>
                                      <m:accPr>
                                        <m:chr m:val="̅"/>
                                        <m:ctrlPr>
                                          <a:rPr lang="en-US" altLang="zh-TW" sz="2800" i="1">
                                            <a:solidFill>
                                              <a:srgbClr val="FF0000"/>
                                            </a:solidFill>
                                            <a:latin typeface="Cambria Math"/>
                                          </a:rPr>
                                        </m:ctrlPr>
                                      </m:accPr>
                                      <m:e>
                                        <m:sSub>
                                          <m:sSubPr>
                                            <m:ctrlPr>
                                              <a:rPr lang="en-US" altLang="zh-TW" sz="2800" i="1">
                                                <a:solidFill>
                                                  <a:srgbClr val="FF0000"/>
                                                </a:solidFill>
                                                <a:latin typeface="Cambria Math"/>
                                              </a:rPr>
                                            </m:ctrlPr>
                                          </m:sSubPr>
                                          <m:e>
                                            <m:r>
                                              <a:rPr lang="en-US" altLang="zh-TW" sz="2800" i="1">
                                                <a:solidFill>
                                                  <a:srgbClr val="FF0000"/>
                                                </a:solidFill>
                                                <a:latin typeface="Cambria Math" panose="02040503050406030204" pitchFamily="18" charset="0"/>
                                              </a:rPr>
                                              <m:t>𝑑</m:t>
                                            </m:r>
                                          </m:e>
                                          <m:sub>
                                            <m:r>
                                              <a:rPr lang="en-US" altLang="zh-TW" sz="2800" b="0" i="1" smtClean="0">
                                                <a:solidFill>
                                                  <a:srgbClr val="FF0000"/>
                                                </a:solidFill>
                                                <a:latin typeface="Cambria Math" panose="02040503050406030204" pitchFamily="18" charset="0"/>
                                              </a:rPr>
                                              <m:t>𝑏</m:t>
                                            </m:r>
                                            <m:r>
                                              <a:rPr lang="en-US" altLang="zh-TW" sz="2800" b="0" i="1" smtClean="0">
                                                <a:solidFill>
                                                  <a:srgbClr val="FF0000"/>
                                                </a:solidFill>
                                                <a:latin typeface="Cambria Math" panose="02040503050406030204" pitchFamily="18" charset="0"/>
                                              </a:rPr>
                                              <m:t>,</m:t>
                                            </m:r>
                                            <m:r>
                                              <a:rPr lang="en-US" altLang="zh-TW" sz="2800" i="1">
                                                <a:solidFill>
                                                  <a:srgbClr val="FF0000"/>
                                                </a:solidFill>
                                                <a:latin typeface="Cambria Math" panose="02040503050406030204" pitchFamily="18" charset="0"/>
                                              </a:rPr>
                                              <m:t>𝑖</m:t>
                                            </m:r>
                                            <m:r>
                                              <a:rPr lang="en-US" altLang="zh-TW" sz="2800" i="1">
                                                <a:solidFill>
                                                  <a:srgbClr val="FF0000"/>
                                                </a:solidFill>
                                                <a:latin typeface="Cambria Math" panose="02040503050406030204" pitchFamily="18" charset="0"/>
                                              </a:rPr>
                                              <m:t>.</m:t>
                                            </m:r>
                                          </m:sub>
                                        </m:sSub>
                                      </m:e>
                                    </m:acc>
                                  </m:e>
                                </m:d>
                              </m:e>
                            </m:acc>
                          </m:e>
                        </m:rad>
                      </m:den>
                    </m:f>
                  </m:oMath>
                </a14:m>
                <a:endParaRPr lang="en-US" altLang="zh-TW" sz="2800" dirty="0" smtClean="0"/>
              </a:p>
              <a:p>
                <a:pPr marL="342900" indent="-342900">
                  <a:buFont typeface="+mj-lt"/>
                  <a:buAutoNum type="arabicPeriod"/>
                </a:pPr>
                <a:r>
                  <a:rPr lang="en-US" altLang="zh-TW" sz="2800" dirty="0" smtClean="0"/>
                  <a:t>P-value of </a:t>
                </a:r>
                <a14:m>
                  <m:oMath xmlns:m="http://schemas.openxmlformats.org/officeDocument/2006/math">
                    <m:sSub>
                      <m:sSubPr>
                        <m:ctrlPr>
                          <a:rPr lang="en-US" altLang="zh-TW" sz="2800" b="0" i="1" smtClean="0">
                            <a:latin typeface="Cambria Math"/>
                          </a:rPr>
                        </m:ctrlPr>
                      </m:sSubPr>
                      <m:e>
                        <m:r>
                          <a:rPr lang="en-US" altLang="zh-TW" sz="2800" b="0" i="1" smtClean="0">
                            <a:latin typeface="Cambria Math" panose="02040503050406030204" pitchFamily="18" charset="0"/>
                          </a:rPr>
                          <m:t>𝐻</m:t>
                        </m:r>
                      </m:e>
                      <m:sub>
                        <m:r>
                          <a:rPr lang="en-US" altLang="zh-TW" sz="2800" b="0" i="1" smtClean="0">
                            <a:latin typeface="Cambria Math" panose="02040503050406030204" pitchFamily="18" charset="0"/>
                          </a:rPr>
                          <m:t>0,</m:t>
                        </m:r>
                        <m:r>
                          <a:rPr lang="en-US" altLang="zh-TW" sz="2800" b="0" i="1" smtClean="0">
                            <a:latin typeface="Cambria Math" panose="02040503050406030204" pitchFamily="18" charset="0"/>
                          </a:rPr>
                          <m:t>𝑀</m:t>
                        </m:r>
                      </m:sub>
                    </m:sSub>
                    <m:r>
                      <a:rPr lang="en-US" altLang="zh-TW" sz="2800" b="0" i="0" smtClean="0">
                        <a:latin typeface="Cambria Math" panose="02040503050406030204" pitchFamily="18" charset="0"/>
                      </a:rPr>
                      <m:t>, </m:t>
                    </m:r>
                    <m:r>
                      <m:rPr>
                        <m:sty m:val="p"/>
                      </m:rPr>
                      <a:rPr lang="en-US" altLang="zh-TW" sz="2800" b="0" i="0" smtClean="0">
                        <a:latin typeface="Cambria Math" panose="02040503050406030204" pitchFamily="18" charset="0"/>
                      </a:rPr>
                      <m:t>p</m:t>
                    </m:r>
                    <m:r>
                      <a:rPr lang="en-US" altLang="zh-TW" sz="2800" b="0" i="0" smtClean="0">
                        <a:latin typeface="Cambria Math" panose="02040503050406030204" pitchFamily="18" charset="0"/>
                      </a:rPr>
                      <m:t>=</m:t>
                    </m:r>
                    <m:f>
                      <m:fPr>
                        <m:ctrlPr>
                          <a:rPr lang="en-US" altLang="zh-TW" sz="2800" b="0" i="1" smtClean="0">
                            <a:latin typeface="Cambria Math"/>
                          </a:rPr>
                        </m:ctrlPr>
                      </m:fPr>
                      <m:num>
                        <m:r>
                          <a:rPr lang="en-US" altLang="zh-TW" sz="2800" b="0" i="0" smtClean="0">
                            <a:latin typeface="Cambria Math" panose="02040503050406030204" pitchFamily="18" charset="0"/>
                          </a:rPr>
                          <m:t>1</m:t>
                        </m:r>
                      </m:num>
                      <m:den>
                        <m:r>
                          <m:rPr>
                            <m:sty m:val="p"/>
                          </m:rPr>
                          <a:rPr lang="en-US" altLang="zh-TW" sz="2800" b="0" i="0" smtClean="0">
                            <a:latin typeface="Cambria Math" panose="02040503050406030204" pitchFamily="18" charset="0"/>
                          </a:rPr>
                          <m:t>B</m:t>
                        </m:r>
                      </m:den>
                    </m:f>
                    <m:nary>
                      <m:naryPr>
                        <m:chr m:val="∑"/>
                        <m:ctrlPr>
                          <a:rPr lang="en-US" altLang="zh-TW" sz="2800" b="0" i="1" smtClean="0">
                            <a:latin typeface="Cambria Math"/>
                          </a:rPr>
                        </m:ctrlPr>
                      </m:naryPr>
                      <m:sub>
                        <m:r>
                          <a:rPr lang="en-US" altLang="zh-TW" sz="2800" b="0" i="1" smtClean="0">
                            <a:latin typeface="Cambria Math" panose="02040503050406030204" pitchFamily="18" charset="0"/>
                          </a:rPr>
                          <m:t>𝑏</m:t>
                        </m:r>
                        <m:r>
                          <a:rPr lang="en-US" altLang="zh-TW" sz="2800" b="0" i="1" smtClean="0">
                            <a:latin typeface="Cambria Math" panose="02040503050406030204" pitchFamily="18" charset="0"/>
                          </a:rPr>
                          <m:t>=1</m:t>
                        </m:r>
                      </m:sub>
                      <m:sup>
                        <m:r>
                          <a:rPr lang="en-US" altLang="zh-TW" sz="2800" b="0" i="1" smtClean="0">
                            <a:latin typeface="Cambria Math" panose="02040503050406030204" pitchFamily="18" charset="0"/>
                          </a:rPr>
                          <m:t>𝐵</m:t>
                        </m:r>
                      </m:sup>
                      <m:e>
                        <m:r>
                          <a:rPr lang="en-US" altLang="zh-TW" sz="2800" b="0" i="1" smtClean="0">
                            <a:latin typeface="Cambria Math" panose="02040503050406030204" pitchFamily="18" charset="0"/>
                          </a:rPr>
                          <m:t>1</m:t>
                        </m:r>
                        <m:d>
                          <m:dPr>
                            <m:begChr m:val="{"/>
                            <m:endChr m:val="}"/>
                            <m:ctrlPr>
                              <a:rPr lang="en-US" altLang="zh-TW" sz="2800" b="0" i="1" smtClean="0">
                                <a:latin typeface="Cambria Math"/>
                              </a:rPr>
                            </m:ctrlPr>
                          </m:dPr>
                          <m:e>
                            <m:sSub>
                              <m:sSubPr>
                                <m:ctrlPr>
                                  <a:rPr lang="en-US" altLang="zh-TW" sz="2800" b="0" i="1" smtClean="0">
                                    <a:latin typeface="Cambria Math"/>
                                  </a:rPr>
                                </m:ctrlPr>
                              </m:sSubPr>
                              <m:e>
                                <m:r>
                                  <a:rPr lang="en-US" altLang="zh-TW" sz="2800" b="0" i="1" smtClean="0">
                                    <a:latin typeface="Cambria Math" panose="02040503050406030204" pitchFamily="18" charset="0"/>
                                  </a:rPr>
                                  <m:t>𝑇</m:t>
                                </m:r>
                              </m:e>
                              <m:sub>
                                <m:r>
                                  <a:rPr lang="en-US" altLang="zh-TW" sz="2800" b="0" i="1" smtClean="0">
                                    <a:latin typeface="Cambria Math" panose="02040503050406030204" pitchFamily="18" charset="0"/>
                                  </a:rPr>
                                  <m:t>𝑚𝑎𝑥</m:t>
                                </m:r>
                              </m:sub>
                            </m:sSub>
                            <m:r>
                              <a:rPr lang="en-US" altLang="zh-TW" sz="2800" b="0" i="1" smtClean="0">
                                <a:latin typeface="Cambria Math" panose="02040503050406030204" pitchFamily="18" charset="0"/>
                              </a:rPr>
                              <m:t>&gt;</m:t>
                            </m:r>
                            <m:sSub>
                              <m:sSubPr>
                                <m:ctrlPr>
                                  <a:rPr lang="en-US" altLang="zh-TW" sz="2800" i="1">
                                    <a:latin typeface="Cambria Math"/>
                                  </a:rPr>
                                </m:ctrlPr>
                              </m:sSubPr>
                              <m:e>
                                <m:r>
                                  <a:rPr lang="en-US" altLang="zh-TW" sz="2800" i="1">
                                    <a:latin typeface="Cambria Math" panose="02040503050406030204" pitchFamily="18" charset="0"/>
                                  </a:rPr>
                                  <m:t>𝑇</m:t>
                                </m:r>
                              </m:e>
                              <m:sub>
                                <m:r>
                                  <a:rPr lang="en-US" altLang="zh-TW" sz="2800" i="1">
                                    <a:latin typeface="Cambria Math" panose="02040503050406030204" pitchFamily="18" charset="0"/>
                                  </a:rPr>
                                  <m:t>𝑏</m:t>
                                </m:r>
                                <m:r>
                                  <a:rPr lang="en-US" altLang="zh-TW" sz="2800" i="1">
                                    <a:latin typeface="Cambria Math" panose="02040503050406030204" pitchFamily="18" charset="0"/>
                                  </a:rPr>
                                  <m:t>,</m:t>
                                </m:r>
                                <m:r>
                                  <a:rPr lang="en-US" altLang="zh-TW" sz="2800" i="1">
                                    <a:latin typeface="Cambria Math" panose="02040503050406030204" pitchFamily="18" charset="0"/>
                                  </a:rPr>
                                  <m:t>𝑚𝑎𝑥</m:t>
                                </m:r>
                              </m:sub>
                            </m:sSub>
                          </m:e>
                        </m:d>
                      </m:e>
                    </m:nary>
                  </m:oMath>
                </a14:m>
                <a:endParaRPr lang="en-US" altLang="zh-TW" sz="2800" dirty="0" smtClean="0"/>
              </a:p>
              <a:p>
                <a:pPr marL="342900" indent="-342900">
                  <a:buFont typeface="+mj-lt"/>
                  <a:buAutoNum type="arabicPeriod"/>
                </a:pPr>
                <a:r>
                  <a:rPr lang="en-US" altLang="zh-TW" sz="2800" dirty="0" smtClean="0"/>
                  <a:t>If </a:t>
                </a:r>
                <a14:m>
                  <m:oMath xmlns:m="http://schemas.openxmlformats.org/officeDocument/2006/math">
                    <m:r>
                      <a:rPr lang="en-US" altLang="zh-TW" sz="2800" b="0" i="1" smtClean="0">
                        <a:latin typeface="Cambria Math" panose="02040503050406030204" pitchFamily="18" charset="0"/>
                      </a:rPr>
                      <m:t>𝑝</m:t>
                    </m:r>
                    <m:r>
                      <a:rPr lang="en-US" altLang="zh-TW" sz="2800" b="0" i="1" smtClean="0">
                        <a:latin typeface="Cambria Math" panose="02040503050406030204" pitchFamily="18" charset="0"/>
                      </a:rPr>
                      <m:t>&lt;</m:t>
                    </m:r>
                    <m:r>
                      <a:rPr lang="en-US" altLang="zh-TW" sz="2800" b="0" i="1" smtClean="0">
                        <a:latin typeface="Cambria Math" panose="02040503050406030204" pitchFamily="18" charset="0"/>
                      </a:rPr>
                      <m:t>𝛼</m:t>
                    </m:r>
                  </m:oMath>
                </a14:m>
                <a:r>
                  <a:rPr lang="en-US" altLang="zh-TW" sz="2800" dirty="0" smtClean="0"/>
                  <a:t>, reject </a:t>
                </a:r>
                <a14:m>
                  <m:oMath xmlns:m="http://schemas.openxmlformats.org/officeDocument/2006/math">
                    <m:sSub>
                      <m:sSubPr>
                        <m:ctrlPr>
                          <a:rPr lang="en-US" altLang="zh-TW" sz="2800" b="0" i="1" smtClean="0">
                            <a:latin typeface="Cambria Math"/>
                          </a:rPr>
                        </m:ctrlPr>
                      </m:sSubPr>
                      <m:e>
                        <m:r>
                          <a:rPr lang="en-US" altLang="zh-TW" sz="2800" b="0" i="1" smtClean="0">
                            <a:latin typeface="Cambria Math" panose="02040503050406030204" pitchFamily="18" charset="0"/>
                          </a:rPr>
                          <m:t>𝐻</m:t>
                        </m:r>
                      </m:e>
                      <m:sub>
                        <m:r>
                          <a:rPr lang="en-US" altLang="zh-TW" sz="2800" b="0" i="1" smtClean="0">
                            <a:latin typeface="Cambria Math" panose="02040503050406030204" pitchFamily="18" charset="0"/>
                          </a:rPr>
                          <m:t>0,</m:t>
                        </m:r>
                        <m:r>
                          <a:rPr lang="en-US" altLang="zh-TW" sz="2800" b="0" i="1" smtClean="0">
                            <a:latin typeface="Cambria Math" panose="02040503050406030204" pitchFamily="18" charset="0"/>
                          </a:rPr>
                          <m:t>𝑀</m:t>
                        </m:r>
                      </m:sub>
                    </m:sSub>
                    <m:r>
                      <a:rPr lang="en-US" altLang="zh-TW" sz="2800" b="0" i="1" smtClean="0">
                        <a:latin typeface="Cambria Math" panose="02040503050406030204" pitchFamily="18" charset="0"/>
                      </a:rPr>
                      <m:t> </m:t>
                    </m:r>
                    <m:r>
                      <a:rPr lang="en-US" altLang="zh-TW" sz="2800" b="0" i="1" smtClean="0">
                        <a:latin typeface="Cambria Math" panose="02040503050406030204" pitchFamily="18" charset="0"/>
                      </a:rPr>
                      <m:t>𝑎𝑛𝑑</m:t>
                    </m:r>
                    <m:r>
                      <a:rPr lang="en-US" altLang="zh-TW" sz="2800" b="0" i="1" smtClean="0">
                        <a:latin typeface="Cambria Math" panose="02040503050406030204" pitchFamily="18" charset="0"/>
                      </a:rPr>
                      <m:t> </m:t>
                    </m:r>
                    <m:sSub>
                      <m:sSubPr>
                        <m:ctrlPr>
                          <a:rPr lang="en-US" altLang="zh-TW" sz="2800" b="0" i="1" smtClean="0">
                            <a:latin typeface="Cambria Math"/>
                          </a:rPr>
                        </m:ctrlPr>
                      </m:sSubPr>
                      <m:e>
                        <m:r>
                          <a:rPr lang="en-US" altLang="zh-TW" sz="2800" b="0" i="1" smtClean="0">
                            <a:latin typeface="Cambria Math" panose="02040503050406030204" pitchFamily="18" charset="0"/>
                          </a:rPr>
                          <m:t>𝑒</m:t>
                        </m:r>
                      </m:e>
                      <m:sub>
                        <m:r>
                          <a:rPr lang="en-US" altLang="zh-TW" sz="2800" b="0" i="1" smtClean="0">
                            <a:latin typeface="Cambria Math" panose="02040503050406030204" pitchFamily="18" charset="0"/>
                          </a:rPr>
                          <m:t>𝑀</m:t>
                        </m:r>
                      </m:sub>
                    </m:sSub>
                    <m:r>
                      <a:rPr lang="en-US" altLang="zh-TW" sz="2800" b="0" i="1" smtClean="0">
                        <a:latin typeface="Cambria Math" panose="02040503050406030204" pitchFamily="18" charset="0"/>
                      </a:rPr>
                      <m:t>=</m:t>
                    </m:r>
                    <m:r>
                      <a:rPr lang="en-US" altLang="zh-TW" sz="2800" b="0" i="1" smtClean="0">
                        <a:latin typeface="Cambria Math" panose="02040503050406030204" pitchFamily="18" charset="0"/>
                      </a:rPr>
                      <m:t>𝑎𝑟𝑔</m:t>
                    </m:r>
                    <m:func>
                      <m:funcPr>
                        <m:ctrlPr>
                          <a:rPr lang="en-US" altLang="zh-TW" sz="2800" b="0" i="1" smtClean="0">
                            <a:latin typeface="Cambria Math"/>
                          </a:rPr>
                        </m:ctrlPr>
                      </m:funcPr>
                      <m:fName>
                        <m:limLow>
                          <m:limLowPr>
                            <m:ctrlPr>
                              <a:rPr lang="en-US" altLang="zh-TW" sz="2800" b="0" i="1" smtClean="0">
                                <a:latin typeface="Cambria Math"/>
                              </a:rPr>
                            </m:ctrlPr>
                          </m:limLowPr>
                          <m:e>
                            <m:r>
                              <m:rPr>
                                <m:sty m:val="p"/>
                              </m:rPr>
                              <a:rPr lang="en-US" altLang="zh-TW" sz="2800" b="0" i="0" smtClean="0">
                                <a:latin typeface="Cambria Math" panose="02040503050406030204" pitchFamily="18" charset="0"/>
                              </a:rPr>
                              <m:t>max</m:t>
                            </m:r>
                          </m:e>
                          <m:lim>
                            <m:r>
                              <a:rPr lang="en-US" altLang="zh-TW" sz="2800" b="0" i="1" smtClean="0">
                                <a:latin typeface="Cambria Math" panose="02040503050406030204" pitchFamily="18" charset="0"/>
                              </a:rPr>
                              <m:t>𝑖</m:t>
                            </m:r>
                          </m:lim>
                        </m:limLow>
                      </m:fName>
                      <m:e>
                        <m:sSub>
                          <m:sSubPr>
                            <m:ctrlPr>
                              <a:rPr lang="en-US" altLang="zh-TW" sz="2800" b="0" i="1" smtClean="0">
                                <a:latin typeface="Cambria Math"/>
                              </a:rPr>
                            </m:ctrlPr>
                          </m:sSubPr>
                          <m:e>
                            <m:r>
                              <a:rPr lang="en-US" altLang="zh-TW" sz="2800" b="0" i="1" smtClean="0">
                                <a:latin typeface="Cambria Math" panose="02040503050406030204" pitchFamily="18" charset="0"/>
                              </a:rPr>
                              <m:t>𝑡</m:t>
                            </m:r>
                          </m:e>
                          <m:sub>
                            <m:r>
                              <a:rPr lang="en-US" altLang="zh-TW" sz="2800" b="0" i="1" smtClean="0">
                                <a:latin typeface="Cambria Math" panose="02040503050406030204" pitchFamily="18" charset="0"/>
                              </a:rPr>
                              <m:t>𝑖</m:t>
                            </m:r>
                            <m:r>
                              <a:rPr lang="en-US" altLang="zh-TW" sz="2800" b="0" i="1" smtClean="0">
                                <a:latin typeface="Cambria Math" panose="02040503050406030204" pitchFamily="18" charset="0"/>
                              </a:rPr>
                              <m:t>.</m:t>
                            </m:r>
                          </m:sub>
                        </m:sSub>
                      </m:e>
                    </m:func>
                  </m:oMath>
                </a14:m>
                <a:r>
                  <a:rPr lang="en-US" altLang="zh-TW" sz="2800" dirty="0" smtClean="0"/>
                  <a:t> is eliminated from M</a:t>
                </a:r>
              </a:p>
              <a:p>
                <a:pPr marL="342900" indent="-342900">
                  <a:buFont typeface="+mj-lt"/>
                  <a:buAutoNum type="arabicPeriod"/>
                </a:pPr>
                <a:r>
                  <a:rPr lang="en-US" altLang="zh-TW" sz="2800" dirty="0" smtClean="0"/>
                  <a:t>Repeat steps 2-4 until first acceptance.</a:t>
                </a:r>
              </a:p>
              <a:p>
                <a:pPr marL="342900" indent="-342900">
                  <a:buFont typeface="+mj-lt"/>
                  <a:buAutoNum type="arabicPeriod"/>
                </a:pPr>
                <a:endParaRPr lang="zh-TW" altLang="en-US" sz="2800" dirty="0"/>
              </a:p>
              <a:p>
                <a:pPr marL="342900" indent="-342900">
                  <a:buFont typeface="+mj-lt"/>
                  <a:buAutoNum type="arabicPeriod"/>
                </a:pPr>
                <a:endParaRPr lang="zh-TW" altLang="en-US" sz="2800" dirty="0"/>
              </a:p>
            </p:txBody>
          </p:sp>
        </mc:Choice>
        <mc:Fallback xmlns="">
          <p:sp>
            <p:nvSpPr>
              <p:cNvPr id="6" name="矩形 5"/>
              <p:cNvSpPr>
                <a:spLocks noRot="1" noChangeAspect="1" noMove="1" noResize="1" noEditPoints="1" noAdjustHandles="1" noChangeArrowheads="1" noChangeShapeType="1" noTextEdit="1"/>
              </p:cNvSpPr>
              <p:nvPr/>
            </p:nvSpPr>
            <p:spPr>
              <a:xfrm>
                <a:off x="699248" y="1748938"/>
                <a:ext cx="10945334" cy="4483407"/>
              </a:xfrm>
              <a:prstGeom prst="rect">
                <a:avLst/>
              </a:prstGeom>
              <a:blipFill rotWithShape="0">
                <a:blip r:embed="rId2"/>
                <a:stretch>
                  <a:fillRect l="-1170"/>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4055521041"/>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p:nvPr>
        </p:nvSpPr>
        <p:spPr/>
        <p:txBody>
          <a:bodyPr/>
          <a:lstStyle/>
          <a:p>
            <a:pPr algn="ctr"/>
            <a:r>
              <a:rPr lang="en-US" altLang="zh-TW" dirty="0" smtClean="0"/>
              <a:t>Thanks for your listening!</a:t>
            </a:r>
            <a:endParaRPr lang="zh-TW" altLang="en-US" dirty="0"/>
          </a:p>
        </p:txBody>
      </p:sp>
      <p:sp>
        <p:nvSpPr>
          <p:cNvPr id="3" name="投影片編號版面配置區 2"/>
          <p:cNvSpPr>
            <a:spLocks noGrp="1"/>
          </p:cNvSpPr>
          <p:nvPr>
            <p:ph type="sldNum" sz="quarter" idx="12"/>
          </p:nvPr>
        </p:nvSpPr>
        <p:spPr/>
        <p:txBody>
          <a:bodyPr/>
          <a:lstStyle/>
          <a:p>
            <a:fld id="{EDBC11D7-B428-46C8-AE33-EA48ADD530EC}" type="slidenum">
              <a:rPr lang="zh-TW" altLang="en-US" smtClean="0"/>
              <a:t>22</a:t>
            </a:fld>
            <a:endParaRPr lang="zh-TW" altLang="en-US"/>
          </a:p>
        </p:txBody>
      </p:sp>
      <p:pic>
        <p:nvPicPr>
          <p:cNvPr id="2" name="圖片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06876" y="1553496"/>
            <a:ext cx="4999703" cy="4999703"/>
          </a:xfrm>
          <a:prstGeom prst="rect">
            <a:avLst/>
          </a:prstGeom>
        </p:spPr>
      </p:pic>
    </p:spTree>
    <p:extLst>
      <p:ext uri="{BB962C8B-B14F-4D97-AF65-F5344CB8AC3E}">
        <p14:creationId xmlns:p14="http://schemas.microsoft.com/office/powerpoint/2010/main" val="1164724193"/>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185</TotalTime>
  <Words>2584</Words>
  <Application>Microsoft Office PowerPoint</Application>
  <PresentationFormat>自訂</PresentationFormat>
  <Paragraphs>505</Paragraphs>
  <Slides>22</Slides>
  <Notes>1</Notes>
  <HiddenSlides>0</HiddenSlides>
  <MMClips>0</MMClips>
  <ScaleCrop>false</ScaleCrop>
  <HeadingPairs>
    <vt:vector size="4" baseType="variant">
      <vt:variant>
        <vt:lpstr>佈景主題</vt:lpstr>
      </vt:variant>
      <vt:variant>
        <vt:i4>1</vt:i4>
      </vt:variant>
      <vt:variant>
        <vt:lpstr>投影片標題</vt:lpstr>
      </vt:variant>
      <vt:variant>
        <vt:i4>22</vt:i4>
      </vt:variant>
    </vt:vector>
  </HeadingPairs>
  <TitlesOfParts>
    <vt:vector size="23" baseType="lpstr">
      <vt:lpstr>Office 佈景主題</vt:lpstr>
      <vt:lpstr>The Model Confidence Set</vt:lpstr>
      <vt:lpstr>Abstract</vt:lpstr>
      <vt:lpstr>PowerPoint 簡報</vt:lpstr>
      <vt:lpstr>Reference</vt:lpstr>
      <vt:lpstr>Data snooping bias</vt:lpstr>
      <vt:lpstr>Data snooping bias</vt:lpstr>
      <vt:lpstr>Hypothesis test</vt:lpstr>
      <vt:lpstr>Hypothesis test</vt:lpstr>
      <vt:lpstr>Multiple comparison</vt:lpstr>
      <vt:lpstr>Introduction</vt:lpstr>
      <vt:lpstr>Theory of MCS</vt:lpstr>
      <vt:lpstr>MCS procedure</vt:lpstr>
      <vt:lpstr>Example: 檢定指數報酬率</vt:lpstr>
      <vt:lpstr>PowerPoint 簡報</vt:lpstr>
      <vt:lpstr>PowerPoint 簡報</vt:lpstr>
      <vt:lpstr>PowerPoint 簡報</vt:lpstr>
      <vt:lpstr>Construct statistic</vt:lpstr>
      <vt:lpstr>Constructing statistics</vt:lpstr>
      <vt:lpstr>Extending statistics</vt:lpstr>
      <vt:lpstr>Block bootstrap with length l=3 (for time series)</vt:lpstr>
      <vt:lpstr>Sequential testing</vt:lpstr>
      <vt:lpstr>Thanks for your listening!</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Model Confidence Set</dc:title>
  <dc:creator>陳紘昕</dc:creator>
  <cp:lastModifiedBy>chenhh</cp:lastModifiedBy>
  <cp:revision>59</cp:revision>
  <dcterms:created xsi:type="dcterms:W3CDTF">2013-04-30T10:44:23Z</dcterms:created>
  <dcterms:modified xsi:type="dcterms:W3CDTF">2013-11-04T14:53:15Z</dcterms:modified>
</cp:coreProperties>
</file>