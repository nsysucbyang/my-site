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8"/>
  </p:notesMasterIdLst>
  <p:handoutMasterIdLst>
    <p:handoutMasterId r:id="rId9"/>
  </p:handoutMasterIdLst>
  <p:sldIdLst>
    <p:sldId id="256" r:id="rId2"/>
    <p:sldId id="307" r:id="rId3"/>
    <p:sldId id="319" r:id="rId4"/>
    <p:sldId id="320" r:id="rId5"/>
    <p:sldId id="321" r:id="rId6"/>
    <p:sldId id="265" r:id="rId7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00"/>
    <a:srgbClr val="FFFFFF"/>
    <a:srgbClr val="0000FF"/>
    <a:srgbClr val="7B93DF"/>
    <a:srgbClr val="6F84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中等深淺樣式 4 - 輔色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08FB837D-C827-4EFA-A057-4D05807E0F7C}" styleName="佈景主題樣式 1 - 輔色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69012ECD-51FC-41F1-AA8D-1B2483CD663E}" styleName="淺色樣式 2 - 輔色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中等深淺樣式 1 - 輔色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3B4B98B0-60AC-42C2-AFA5-B58CD77FA1E5}" styleName="淺色樣式 1 - 輔色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中等深淺樣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中等深淺樣式 2 - 輔色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中等深淺樣式 2 - 輔色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D7AC3CCA-C797-4891-BE02-D94E43425B78}" styleName="中等深淺樣式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042" autoAdjust="0"/>
    <p:restoredTop sz="96793" autoAdjust="0"/>
  </p:normalViewPr>
  <p:slideViewPr>
    <p:cSldViewPr>
      <p:cViewPr>
        <p:scale>
          <a:sx n="100" d="100"/>
          <a:sy n="100" d="100"/>
        </p:scale>
        <p:origin x="738" y="33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966"/>
    </p:cViewPr>
    <p:sldLst>
      <p:sld r:id="rId1" collapse="1"/>
    </p:sldLst>
  </p:outlin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88" d="100"/>
          <a:sy n="88" d="100"/>
        </p:scale>
        <p:origin x="3822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A1E9FC-490C-4865-A082-2CA8BB7D5A91}" type="datetimeFigureOut">
              <a:rPr lang="zh-TW" altLang="en-US" smtClean="0"/>
              <a:t>2013/12/18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BA81C7-1ECC-4CF7-ABF1-426C762021B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9105039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2458AF-C11A-4B8D-B5DF-F124E30CB17B}" type="datetimeFigureOut">
              <a:rPr lang="zh-TW" altLang="en-US" smtClean="0"/>
              <a:t>2013/12/18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879042-3193-49F2-8086-409E581C9D3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135172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879042-3193-49F2-8086-409E581C9D3A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979989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879042-3193-49F2-8086-409E581C9D3A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050032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879042-3193-49F2-8086-409E581C9D3A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761553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CD66B7D-5F5A-44C5-9E0E-13AE8EE426AB}" type="slidenum">
              <a:rPr lang="en-US" altLang="zh-TW"/>
              <a:pPr/>
              <a:t>4</a:t>
            </a:fld>
            <a:endParaRPr lang="en-US" altLang="zh-TW"/>
          </a:p>
        </p:txBody>
      </p:sp>
      <p:sp>
        <p:nvSpPr>
          <p:cNvPr id="1126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TW" altLang="zh-TW"/>
          </a:p>
        </p:txBody>
      </p:sp>
    </p:spTree>
    <p:extLst>
      <p:ext uri="{BB962C8B-B14F-4D97-AF65-F5344CB8AC3E}">
        <p14:creationId xmlns:p14="http://schemas.microsoft.com/office/powerpoint/2010/main" val="30680879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標題 7"/>
          <p:cNvSpPr>
            <a:spLocks noGrp="1"/>
          </p:cNvSpPr>
          <p:nvPr>
            <p:ph type="ctrTitle"/>
          </p:nvPr>
        </p:nvSpPr>
        <p:spPr>
          <a:xfrm>
            <a:off x="1242392" y="1556792"/>
            <a:ext cx="6858000" cy="1440160"/>
          </a:xfrm>
        </p:spPr>
        <p:txBody>
          <a:bodyPr anchor="t" anchorCtr="0"/>
          <a:lstStyle>
            <a:lvl1pPr algn="r">
              <a:defRPr sz="3200" b="1">
                <a:solidFill>
                  <a:schemeClr val="tx1"/>
                </a:solidFill>
              </a:defRPr>
            </a:lvl1pPr>
          </a:lstStyle>
          <a:p>
            <a:r>
              <a:rPr kumimoji="0" lang="zh-TW" altLang="en-US" dirty="0" smtClean="0"/>
              <a:t>按一下以編輯母片標題樣式</a:t>
            </a:r>
            <a:endParaRPr kumimoji="0" lang="en-US" dirty="0"/>
          </a:p>
        </p:txBody>
      </p:sp>
      <p:sp>
        <p:nvSpPr>
          <p:cNvPr id="9" name="副標題 8"/>
          <p:cNvSpPr>
            <a:spLocks noGrp="1"/>
          </p:cNvSpPr>
          <p:nvPr>
            <p:ph type="subTitle" idx="1"/>
          </p:nvPr>
        </p:nvSpPr>
        <p:spPr>
          <a:xfrm>
            <a:off x="1219200" y="3228979"/>
            <a:ext cx="6858000" cy="2200243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zh-TW" altLang="en-US" dirty="0" smtClean="0"/>
              <a:t>按一下以編輯母片副標題樣式</a:t>
            </a:r>
            <a:endParaRPr kumimoji="0" lang="en-US" dirty="0"/>
          </a:p>
        </p:txBody>
      </p:sp>
      <p:sp>
        <p:nvSpPr>
          <p:cNvPr id="28" name="日期版面配置區 27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>
            <a:lvl1pPr>
              <a:defRPr sz="1400"/>
            </a:lvl1pPr>
          </a:lstStyle>
          <a:p>
            <a:fld id="{02FAF027-24DB-42AC-AD90-4EF2BD666E8A}" type="datetime1">
              <a:rPr lang="zh-TW" altLang="en-US" smtClean="0"/>
              <a:t>2013/12/18</a:t>
            </a:fld>
            <a:endParaRPr lang="zh-TW" altLang="en-US"/>
          </a:p>
        </p:txBody>
      </p:sp>
      <p:sp>
        <p:nvSpPr>
          <p:cNvPr id="17" name="頁尾版面配置區 16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29" name="投影片編號版面配置區 28"/>
          <p:cNvSpPr>
            <a:spLocks noGrp="1"/>
          </p:cNvSpPr>
          <p:nvPr>
            <p:ph type="sldNum" sz="quarter" idx="12"/>
          </p:nvPr>
        </p:nvSpPr>
        <p:spPr>
          <a:xfrm>
            <a:off x="1216152" y="6355080"/>
            <a:ext cx="1219200" cy="365760"/>
          </a:xfrm>
        </p:spPr>
        <p:txBody>
          <a:bodyPr/>
          <a:lstStyle/>
          <a:p>
            <a:fld id="{61A04B93-F247-42E5-95CE-B8478AD23DB7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21" name="矩形 20"/>
          <p:cNvSpPr/>
          <p:nvPr/>
        </p:nvSpPr>
        <p:spPr>
          <a:xfrm>
            <a:off x="904875" y="980728"/>
            <a:ext cx="7315200" cy="2088232"/>
          </a:xfrm>
          <a:prstGeom prst="rect">
            <a:avLst/>
          </a:prstGeom>
          <a:noFill/>
          <a:ln w="6350" cap="rnd" cmpd="sng" algn="ctr">
            <a:solidFill>
              <a:schemeClr val="accent1">
                <a:lumMod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3" name="矩形 32"/>
          <p:cNvSpPr/>
          <p:nvPr/>
        </p:nvSpPr>
        <p:spPr>
          <a:xfrm>
            <a:off x="914400" y="3140968"/>
            <a:ext cx="7305675" cy="2376264"/>
          </a:xfrm>
          <a:prstGeom prst="rect">
            <a:avLst/>
          </a:prstGeom>
          <a:noFill/>
          <a:ln w="6350" cap="rnd" cmpd="sng" algn="ctr">
            <a:solidFill>
              <a:schemeClr val="accent3">
                <a:lumMod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矩形 21"/>
          <p:cNvSpPr/>
          <p:nvPr/>
        </p:nvSpPr>
        <p:spPr>
          <a:xfrm>
            <a:off x="904875" y="980728"/>
            <a:ext cx="228600" cy="208823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矩形 31"/>
          <p:cNvSpPr/>
          <p:nvPr/>
        </p:nvSpPr>
        <p:spPr>
          <a:xfrm>
            <a:off x="904875" y="3140968"/>
            <a:ext cx="238125" cy="2376264"/>
          </a:xfrm>
          <a:prstGeom prst="rect">
            <a:avLst/>
          </a:prstGeom>
          <a:solidFill>
            <a:schemeClr val="accent3">
              <a:lumMod val="75000"/>
            </a:schemeClr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kumimoji="0" lang="zh-TW" altLang="en-US" dirty="0" smtClean="0"/>
              <a:t>按一下以編輯母片標題樣式</a:t>
            </a:r>
            <a:endParaRPr kumimoji="0" 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3C239628-E1A2-473A-AEA1-80DF86971952}" type="datetime1">
              <a:rPr lang="zh-TW" altLang="en-US" smtClean="0"/>
              <a:t>2013/12/18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61A04B93-F247-42E5-95CE-B8478AD23DB7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8" name="內容版面配置區 7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>
            <a:lvl1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2pPr>
            <a:lvl3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3pPr>
            <a:lvl4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4pPr>
            <a:lvl5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5pPr>
          </a:lstStyle>
          <a:p>
            <a:pPr lvl="0" eaLnBrk="1" latinLnBrk="0" hangingPunct="1"/>
            <a:r>
              <a:rPr lang="zh-TW" altLang="en-US" dirty="0" smtClean="0"/>
              <a:t>按一下以編輯母片文字樣式</a:t>
            </a:r>
          </a:p>
          <a:p>
            <a:pPr lvl="1" eaLnBrk="1" latinLnBrk="0" hangingPunct="1"/>
            <a:r>
              <a:rPr lang="zh-TW" altLang="en-US" dirty="0" smtClean="0"/>
              <a:t>第二層</a:t>
            </a:r>
          </a:p>
          <a:p>
            <a:pPr lvl="2" eaLnBrk="1" latinLnBrk="0" hangingPunct="1"/>
            <a:r>
              <a:rPr lang="zh-TW" altLang="en-US" dirty="0" smtClean="0"/>
              <a:t>第三層</a:t>
            </a:r>
          </a:p>
          <a:p>
            <a:pPr lvl="3" eaLnBrk="1" latinLnBrk="0" hangingPunct="1"/>
            <a:r>
              <a:rPr lang="zh-TW" altLang="en-US" dirty="0" smtClean="0"/>
              <a:t>第四層</a:t>
            </a:r>
          </a:p>
          <a:p>
            <a:pPr lvl="4" eaLnBrk="1" latinLnBrk="0" hangingPunct="1"/>
            <a:r>
              <a:rPr lang="zh-TW" altLang="en-US" dirty="0" smtClean="0"/>
              <a:t>第五層</a:t>
            </a:r>
            <a:endParaRPr kumimoji="0"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章節標題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219200" y="2971800"/>
            <a:ext cx="6858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1295400" y="4267200"/>
            <a:ext cx="67818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/>
          <a:p>
            <a:fld id="{B2C796F8-D8EE-470F-BBF3-0E6EDFFC1FFF}" type="datetime1">
              <a:rPr lang="zh-TW" altLang="en-US" smtClean="0"/>
              <a:t>2013/12/18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1069848" y="6355080"/>
            <a:ext cx="1520952" cy="365760"/>
          </a:xfrm>
        </p:spPr>
        <p:txBody>
          <a:bodyPr/>
          <a:lstStyle/>
          <a:p>
            <a:fld id="{61A04B93-F247-42E5-95CE-B8478AD23DB7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7" name="矩形 6"/>
          <p:cNvSpPr/>
          <p:nvPr/>
        </p:nvSpPr>
        <p:spPr>
          <a:xfrm>
            <a:off x="914400" y="2819400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矩形 7"/>
          <p:cNvSpPr/>
          <p:nvPr/>
        </p:nvSpPr>
        <p:spPr>
          <a:xfrm>
            <a:off x="914400" y="2819400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BB7C8-1450-4259-9649-AA3DCE6A5FA5}" type="datetime1">
              <a:rPr lang="zh-TW" altLang="en-US" smtClean="0"/>
              <a:t>2013/12/18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04B93-F247-42E5-95CE-B8478AD23DB7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9" name="內容版面配置區 8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11" name="內容版面配置區 10"/>
          <p:cNvSpPr>
            <a:spLocks noGrp="1"/>
          </p:cNvSpPr>
          <p:nvPr>
            <p:ph sz="quarter" idx="2"/>
          </p:nvPr>
        </p:nvSpPr>
        <p:spPr>
          <a:xfrm>
            <a:off x="4632198" y="1216152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285875"/>
            <a:ext cx="4040188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TW" altLang="en-US" smtClean="0"/>
              <a:t>按一下以編輯母片文字樣式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3"/>
          </p:nvPr>
        </p:nvSpPr>
        <p:spPr>
          <a:xfrm>
            <a:off x="4648200" y="1295400"/>
            <a:ext cx="4041775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TW" altLang="en-US" smtClean="0"/>
              <a:t>按一下以編輯母片文字樣式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69AE8-C12D-4192-9F13-833B00779F20}" type="datetime1">
              <a:rPr lang="zh-TW" altLang="en-US" smtClean="0"/>
              <a:t>2013/12/18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04B93-F247-42E5-95CE-B8478AD23DB7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11" name="內容版面配置區 10"/>
          <p:cNvSpPr>
            <a:spLocks noGrp="1"/>
          </p:cNvSpPr>
          <p:nvPr>
            <p:ph sz="quarter" idx="2"/>
          </p:nvPr>
        </p:nvSpPr>
        <p:spPr>
          <a:xfrm>
            <a:off x="457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13" name="內容版面配置區 12"/>
          <p:cNvSpPr>
            <a:spLocks noGrp="1"/>
          </p:cNvSpPr>
          <p:nvPr>
            <p:ph sz="quarter" idx="4"/>
          </p:nvPr>
        </p:nvSpPr>
        <p:spPr>
          <a:xfrm>
            <a:off x="4648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7ED50B-141B-4C94-8ABC-8637D35F5F5F}" type="datetime1">
              <a:rPr lang="zh-TW" altLang="en-US" smtClean="0"/>
              <a:t>2013/12/18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04B93-F247-42E5-95CE-B8478AD23DB7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6" name="等腰三角形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C4EC7-279A-4A57-BA0C-4DC5DC0E45CF}" type="datetime1">
              <a:rPr lang="zh-TW" altLang="en-US" smtClean="0"/>
              <a:t>2013/12/18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04B93-F247-42E5-95CE-B8478AD23DB7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5" name="直線接點 4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等腰三角形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324600" y="304800"/>
            <a:ext cx="25146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2"/>
          </p:nvPr>
        </p:nvSpPr>
        <p:spPr>
          <a:xfrm>
            <a:off x="6324600" y="1219200"/>
            <a:ext cx="25146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214D1F-CA49-4661-9806-D4AD0FA86BBF}" type="datetime1">
              <a:rPr lang="zh-TW" altLang="en-US" smtClean="0"/>
              <a:t>2013/12/18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04B93-F247-42E5-95CE-B8478AD23DB7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8" name="直線接點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直線接點 9"/>
          <p:cNvSpPr>
            <a:spLocks noChangeShapeType="1"/>
          </p:cNvSpPr>
          <p:nvPr/>
        </p:nvSpPr>
        <p:spPr bwMode="auto">
          <a:xfrm rot="5400000">
            <a:off x="3160645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等腰三角形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內容版面配置區 11"/>
          <p:cNvSpPr>
            <a:spLocks noGrp="1"/>
          </p:cNvSpPr>
          <p:nvPr>
            <p:ph sz="quarter" idx="1"/>
          </p:nvPr>
        </p:nvSpPr>
        <p:spPr>
          <a:xfrm>
            <a:off x="304800" y="304800"/>
            <a:ext cx="5715000" cy="5715000"/>
          </a:xfrm>
        </p:spPr>
        <p:txBody>
          <a:bodyPr/>
          <a:lstStyle/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含標題的圖片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500856"/>
            <a:ext cx="82296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457200" y="1905000"/>
            <a:ext cx="82296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zh-TW" altLang="en-US" smtClean="0"/>
              <a:t>按一下圖示以新增圖片</a:t>
            </a:r>
            <a:endParaRPr kumimoji="0"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219200"/>
            <a:ext cx="82296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49C74-3454-4D0B-A0C4-78082754CBD2}" type="datetime1">
              <a:rPr lang="zh-TW" altLang="en-US" smtClean="0"/>
              <a:t>2013/12/18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04B93-F247-42E5-95CE-B8478AD23DB7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8" name="直線接點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等腰三角形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矩形 9"/>
          <p:cNvSpPr/>
          <p:nvPr/>
        </p:nvSpPr>
        <p:spPr>
          <a:xfrm>
            <a:off x="457200" y="500856"/>
            <a:ext cx="18288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15DC05-7974-45DA-9712-7E5C29DD560A}" type="datetime1">
              <a:rPr lang="zh-TW" altLang="en-US" smtClean="0"/>
              <a:t>2013/12/18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04B93-F247-42E5-95CE-B8478AD23DB7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3A8334-330B-4F2D-9D4F-FEE887CB7C51}" type="datetime1">
              <a:rPr lang="zh-TW" altLang="en-US" smtClean="0"/>
              <a:t>2013/12/18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04B93-F247-42E5-95CE-B8478AD23DB7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7" name="直線接點 6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等腰三角形 7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直線接點 8"/>
          <p:cNvSpPr>
            <a:spLocks noChangeShapeType="1"/>
          </p:cNvSpPr>
          <p:nvPr/>
        </p:nvSpPr>
        <p:spPr bwMode="auto">
          <a:xfrm rot="5400000">
            <a:off x="3629607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標題及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62000" y="533400"/>
            <a:ext cx="7620000" cy="769938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表格版面配置區 2"/>
          <p:cNvSpPr>
            <a:spLocks noGrp="1"/>
          </p:cNvSpPr>
          <p:nvPr>
            <p:ph type="tbl" idx="1"/>
          </p:nvPr>
        </p:nvSpPr>
        <p:spPr>
          <a:xfrm>
            <a:off x="762000" y="1524000"/>
            <a:ext cx="7772400" cy="411480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>
          <a:xfrm>
            <a:off x="914400" y="63246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2A894D7C-E28C-48F2-9F85-3004D28D7881}" type="datetime1">
              <a:rPr lang="zh-TW" altLang="en-US" smtClean="0"/>
              <a:t>2013/12/18</a:t>
            </a:fld>
            <a:endParaRPr lang="en-US" alt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>
          <a:xfrm>
            <a:off x="2362200" y="6324600"/>
            <a:ext cx="4876800" cy="457200"/>
          </a:xfrm>
        </p:spPr>
        <p:txBody>
          <a:bodyPr/>
          <a:lstStyle>
            <a:lvl1pPr>
              <a:defRPr/>
            </a:lvl1pPr>
          </a:lstStyle>
          <a:p>
            <a:endParaRPr lang="zh-TW" alt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6781800" y="63246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TW" dirty="0"/>
              <a:t>4 </a:t>
            </a:r>
            <a:r>
              <a:rPr lang="en-US" altLang="zh-TW" dirty="0" smtClean="0"/>
              <a:t> </a:t>
            </a:r>
            <a:fld id="{D006B8F7-737D-4A54-86E7-4A80C1E61F93}" type="slidenum">
              <a:rPr lang="en-US" altLang="zh-TW" smtClean="0"/>
              <a:pPr/>
              <a:t>‹#›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20173615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標題版面配置區 2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zh-TW" altLang="en-US" dirty="0" smtClean="0"/>
              <a:t>按一下以編輯母片標題樣式</a:t>
            </a:r>
            <a:endParaRPr kumimoji="0" lang="en-US" dirty="0"/>
          </a:p>
        </p:txBody>
      </p:sp>
      <p:sp>
        <p:nvSpPr>
          <p:cNvPr id="13" name="文字版面配置區 12"/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zh-TW" altLang="en-US" dirty="0" smtClean="0"/>
              <a:t>按一下以編輯母片文字樣式</a:t>
            </a:r>
          </a:p>
          <a:p>
            <a:pPr lvl="1" eaLnBrk="1" latinLnBrk="0" hangingPunct="1"/>
            <a:r>
              <a:rPr kumimoji="0" lang="zh-TW" altLang="en-US" dirty="0" smtClean="0"/>
              <a:t>第二層</a:t>
            </a:r>
          </a:p>
          <a:p>
            <a:pPr lvl="2" eaLnBrk="1" latinLnBrk="0" hangingPunct="1"/>
            <a:r>
              <a:rPr kumimoji="0" lang="zh-TW" altLang="en-US" dirty="0" smtClean="0"/>
              <a:t>第三層</a:t>
            </a:r>
          </a:p>
          <a:p>
            <a:pPr lvl="3" eaLnBrk="1" latinLnBrk="0" hangingPunct="1"/>
            <a:r>
              <a:rPr kumimoji="0" lang="zh-TW" altLang="en-US" dirty="0" smtClean="0"/>
              <a:t>第四層</a:t>
            </a:r>
          </a:p>
          <a:p>
            <a:pPr lvl="4" eaLnBrk="1" latinLnBrk="0" hangingPunct="1"/>
            <a:r>
              <a:rPr kumimoji="0" lang="zh-TW" altLang="en-US" dirty="0" smtClean="0"/>
              <a:t>第五層</a:t>
            </a:r>
            <a:endParaRPr kumimoji="0" lang="en-US" dirty="0"/>
          </a:p>
        </p:txBody>
      </p:sp>
      <p:sp>
        <p:nvSpPr>
          <p:cNvPr id="14" name="日期版面配置區 13"/>
          <p:cNvSpPr>
            <a:spLocks noGrp="1"/>
          </p:cNvSpPr>
          <p:nvPr>
            <p:ph type="dt" sz="half" idx="2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6B6DEB7E-76E3-4273-95E6-E83A24C25253}" type="datetime1">
              <a:rPr lang="zh-TW" altLang="en-US" smtClean="0"/>
              <a:t>2013/12/18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3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23" name="投影片編號版面配置區 22"/>
          <p:cNvSpPr>
            <a:spLocks noGrp="1"/>
          </p:cNvSpPr>
          <p:nvPr>
            <p:ph type="sldNum" sz="quarter" idx="4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61A04B93-F247-42E5-95CE-B8478AD23DB7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28" name="直線接點 2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9" name="直線接點 28"/>
          <p:cNvSpPr>
            <a:spLocks noChangeShapeType="1"/>
          </p:cNvSpPr>
          <p:nvPr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等腰三角形 9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iming>
    <p:tnLst>
      <p:par>
        <p:cTn id="1" dur="indefinite" restart="never" nodeType="tmRoot"/>
      </p:par>
    </p:tnLst>
  </p:timing>
  <p:hf hdr="0" ftr="0"/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242392" y="1052736"/>
            <a:ext cx="6858000" cy="1944216"/>
          </a:xfrm>
        </p:spPr>
        <p:txBody>
          <a:bodyPr>
            <a:noAutofit/>
          </a:bodyPr>
          <a:lstStyle/>
          <a:p>
            <a:pPr algn="l"/>
            <a:r>
              <a:rPr lang="en-US" altLang="zh-TW" dirty="0" smtClean="0">
                <a:ea typeface="微軟正黑體" pitchFamily="34" charset="-120"/>
              </a:rPr>
              <a:t>Identification of Common Molecular Subsequences</a:t>
            </a:r>
            <a:br>
              <a:rPr lang="en-US" altLang="zh-TW" dirty="0" smtClean="0">
                <a:ea typeface="微軟正黑體" pitchFamily="34" charset="-120"/>
              </a:rPr>
            </a:br>
            <a:r>
              <a:rPr lang="en-US" altLang="zh-TW" sz="2400" b="0" dirty="0"/>
              <a:t>Journal of Molecular Biology</a:t>
            </a:r>
            <a:r>
              <a:rPr lang="en-US" altLang="zh-TW" sz="2400" b="0" dirty="0" smtClean="0">
                <a:ea typeface="微軟正黑體" pitchFamily="34" charset="-120"/>
              </a:rPr>
              <a:t/>
            </a:r>
            <a:br>
              <a:rPr lang="en-US" altLang="zh-TW" sz="2400" b="0" dirty="0" smtClean="0">
                <a:ea typeface="微軟正黑體" pitchFamily="34" charset="-120"/>
              </a:rPr>
            </a:br>
            <a:r>
              <a:rPr lang="en-US" altLang="zh-TW" sz="2400" b="0" dirty="0" smtClean="0">
                <a:ea typeface="微軟正黑體" pitchFamily="34" charset="-120"/>
              </a:rPr>
              <a:t>	vol.</a:t>
            </a:r>
            <a:r>
              <a:rPr lang="zh-TW" altLang="en-US" sz="2400" b="0" dirty="0" smtClean="0">
                <a:ea typeface="微軟正黑體" pitchFamily="34" charset="-120"/>
              </a:rPr>
              <a:t> </a:t>
            </a:r>
            <a:r>
              <a:rPr lang="en-US" altLang="zh-TW" sz="2400" b="0" dirty="0"/>
              <a:t>147</a:t>
            </a:r>
            <a:r>
              <a:rPr lang="zh-TW" altLang="en-US" sz="2400" b="0" dirty="0" smtClean="0">
                <a:ea typeface="微軟正黑體" pitchFamily="34" charset="-120"/>
              </a:rPr>
              <a:t> </a:t>
            </a:r>
            <a:r>
              <a:rPr lang="en-US" altLang="zh-TW" sz="2400" b="0" dirty="0" smtClean="0">
                <a:ea typeface="微軟正黑體" pitchFamily="34" charset="-120"/>
              </a:rPr>
              <a:t>pp.</a:t>
            </a:r>
            <a:r>
              <a:rPr lang="zh-TW" altLang="en-US" sz="2400" b="0" dirty="0"/>
              <a:t> </a:t>
            </a:r>
            <a:r>
              <a:rPr lang="en-US" altLang="zh-TW" sz="2400" b="0" dirty="0" smtClean="0"/>
              <a:t>195</a:t>
            </a:r>
            <a:r>
              <a:rPr lang="en-US" altLang="zh-TW" sz="2400" b="0" dirty="0" smtClean="0">
                <a:ea typeface="微軟正黑體" pitchFamily="34" charset="-120"/>
              </a:rPr>
              <a:t>-197</a:t>
            </a:r>
            <a:r>
              <a:rPr lang="zh-TW" altLang="en-US" sz="2400" b="0" dirty="0" smtClean="0">
                <a:ea typeface="微軟正黑體" pitchFamily="34" charset="-120"/>
              </a:rPr>
              <a:t> </a:t>
            </a:r>
            <a:r>
              <a:rPr lang="en-US" altLang="zh-TW" sz="2400" b="0" dirty="0" smtClean="0">
                <a:ea typeface="微軟正黑體" pitchFamily="34" charset="-120"/>
              </a:rPr>
              <a:t>(</a:t>
            </a:r>
            <a:r>
              <a:rPr lang="en-US" altLang="zh-TW" sz="2400" b="0" dirty="0"/>
              <a:t>1981</a:t>
            </a:r>
            <a:r>
              <a:rPr lang="en-US" altLang="zh-TW" sz="2400" b="0" dirty="0" smtClean="0">
                <a:ea typeface="微軟正黑體" pitchFamily="34" charset="-120"/>
              </a:rPr>
              <a:t>) </a:t>
            </a:r>
            <a:endParaRPr lang="zh-TW" altLang="en-US" sz="2000" dirty="0">
              <a:ea typeface="微軟正黑體" pitchFamily="34" charset="-120"/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219200" y="3228979"/>
            <a:ext cx="6858000" cy="2144237"/>
          </a:xfrm>
        </p:spPr>
        <p:txBody>
          <a:bodyPr>
            <a:noAutofit/>
          </a:bodyPr>
          <a:lstStyle/>
          <a:p>
            <a:pPr algn="l" fontAlgn="base"/>
            <a:r>
              <a:rPr lang="en-US" altLang="zh-TW" sz="2400" dirty="0">
                <a:solidFill>
                  <a:schemeClr val="tx1"/>
                </a:solidFill>
              </a:rPr>
              <a:t>T.F. Smith</a:t>
            </a:r>
          </a:p>
          <a:p>
            <a:pPr algn="l" fontAlgn="base"/>
            <a:r>
              <a:rPr lang="en-US" altLang="zh-TW" sz="2400" dirty="0" smtClean="0">
                <a:solidFill>
                  <a:schemeClr val="tx1"/>
                </a:solidFill>
              </a:rPr>
              <a:t>	Northern </a:t>
            </a:r>
            <a:r>
              <a:rPr lang="en-US" altLang="zh-TW" sz="2400" dirty="0">
                <a:solidFill>
                  <a:schemeClr val="tx1"/>
                </a:solidFill>
              </a:rPr>
              <a:t>Michigan University U.S.A.</a:t>
            </a:r>
          </a:p>
          <a:p>
            <a:pPr algn="l" fontAlgn="base"/>
            <a:r>
              <a:rPr lang="en-US" altLang="zh-TW" sz="2400" dirty="0">
                <a:solidFill>
                  <a:schemeClr val="tx1"/>
                </a:solidFill>
              </a:rPr>
              <a:t>M.S. Waterman</a:t>
            </a:r>
          </a:p>
          <a:p>
            <a:pPr algn="l" fontAlgn="base"/>
            <a:r>
              <a:rPr lang="en-US" altLang="zh-TW" sz="2400" dirty="0" smtClean="0">
                <a:solidFill>
                  <a:schemeClr val="tx1"/>
                </a:solidFill>
              </a:rPr>
              <a:t>	Los </a:t>
            </a:r>
            <a:r>
              <a:rPr lang="en-US" altLang="zh-TW" sz="2400" dirty="0">
                <a:solidFill>
                  <a:schemeClr val="tx1"/>
                </a:solidFill>
              </a:rPr>
              <a:t>Alamos Scientific </a:t>
            </a:r>
            <a:r>
              <a:rPr lang="en-US" altLang="zh-TW" sz="2400" dirty="0" smtClean="0">
                <a:solidFill>
                  <a:schemeClr val="tx1"/>
                </a:solidFill>
              </a:rPr>
              <a:t>Laboratory</a:t>
            </a:r>
            <a:endParaRPr lang="en-US" altLang="zh-TW" sz="2400" dirty="0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>
                <a:latin typeface="+mj-ea"/>
                <a:ea typeface="+mj-ea"/>
              </a:rPr>
              <a:t>2013/12/18</a:t>
            </a:r>
            <a:endParaRPr lang="zh-TW" altLang="en-US" dirty="0">
              <a:latin typeface="+mj-ea"/>
              <a:ea typeface="+mj-ea"/>
            </a:endParaRPr>
          </a:p>
        </p:txBody>
      </p:sp>
      <p:sp>
        <p:nvSpPr>
          <p:cNvPr id="6" name="副標題 2"/>
          <p:cNvSpPr txBox="1">
            <a:spLocks/>
          </p:cNvSpPr>
          <p:nvPr/>
        </p:nvSpPr>
        <p:spPr>
          <a:xfrm>
            <a:off x="1259632" y="5649613"/>
            <a:ext cx="6817568" cy="413196"/>
          </a:xfrm>
          <a:prstGeom prst="rect">
            <a:avLst/>
          </a:prstGeom>
        </p:spPr>
        <p:txBody>
          <a:bodyPr vert="horz">
            <a:noAutofit/>
          </a:bodyPr>
          <a:lstStyle>
            <a:lvl1pPr marL="0" indent="0" algn="r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None/>
              <a:defRPr kumimoji="0" sz="2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None/>
              <a:defRPr kumimoji="0" sz="23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None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None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None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None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None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None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zh-TW" sz="2400" dirty="0" smtClean="0">
                <a:solidFill>
                  <a:schemeClr val="tx1"/>
                </a:solidFill>
              </a:rPr>
              <a:t>Presentor</a:t>
            </a:r>
            <a:r>
              <a:rPr lang="zh-TW" altLang="en-US" sz="2400" dirty="0" smtClean="0">
                <a:solidFill>
                  <a:schemeClr val="tx1"/>
                </a:solidFill>
              </a:rPr>
              <a:t>：</a:t>
            </a:r>
            <a:r>
              <a:rPr lang="en-US" altLang="zh-TW" sz="2400" dirty="0" smtClean="0">
                <a:solidFill>
                  <a:schemeClr val="tx1"/>
                </a:solidFill>
              </a:rPr>
              <a:t>Hsin-Chuan </a:t>
            </a:r>
            <a:r>
              <a:rPr lang="en-US" altLang="zh-TW" sz="2400" dirty="0" smtClean="0">
                <a:solidFill>
                  <a:schemeClr val="tx1"/>
                </a:solidFill>
              </a:rPr>
              <a:t>Yuan</a:t>
            </a:r>
            <a:endParaRPr lang="zh-TW" altLang="en-US" sz="2400" dirty="0">
              <a:solidFill>
                <a:schemeClr val="tx1"/>
              </a:solidFill>
            </a:endParaRPr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04B93-F247-42E5-95CE-B8478AD23DB7}" type="slidenum">
              <a:rPr lang="zh-TW" altLang="en-US" smtClean="0"/>
              <a:t>1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6631364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+mj-lt"/>
                <a:ea typeface="微軟正黑體" pitchFamily="34" charset="-120"/>
              </a:rPr>
              <a:t>Abstract</a:t>
            </a:r>
            <a:endParaRPr lang="zh-TW" altLang="en-US" dirty="0">
              <a:latin typeface="+mj-lt"/>
              <a:ea typeface="微軟正黑體" pitchFamily="34" charset="-120"/>
            </a:endParaRP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C10312-A3AA-4902-8C92-42F3238C444B}" type="datetime1">
              <a:rPr lang="zh-TW" altLang="en-US" smtClean="0"/>
              <a:t>2013/12/18</a:t>
            </a:fld>
            <a:endParaRPr lang="zh-TW" altLang="en-US" dirty="0"/>
          </a:p>
        </p:txBody>
      </p:sp>
      <p:sp>
        <p:nvSpPr>
          <p:cNvPr id="5" name="內容版面配置區 4"/>
          <p:cNvSpPr>
            <a:spLocks noGrp="1"/>
          </p:cNvSpPr>
          <p:nvPr>
            <p:ph sz="quarter" idx="1"/>
          </p:nvPr>
        </p:nvSpPr>
        <p:spPr/>
        <p:txBody>
          <a:bodyPr>
            <a:noAutofit/>
          </a:bodyPr>
          <a:lstStyle/>
          <a:p>
            <a:r>
              <a:rPr lang="en-US" altLang="zh-TW" dirty="0">
                <a:latin typeface="+mn-lt"/>
              </a:rPr>
              <a:t>The identification of maximally homologous </a:t>
            </a:r>
            <a:r>
              <a:rPr lang="en-US" altLang="zh-TW" dirty="0" smtClean="0">
                <a:latin typeface="+mn-lt"/>
              </a:rPr>
              <a:t>subsequences </a:t>
            </a:r>
            <a:r>
              <a:rPr lang="en-US" altLang="zh-TW" dirty="0">
                <a:latin typeface="+mn-lt"/>
              </a:rPr>
              <a:t>among sets of </a:t>
            </a:r>
            <a:r>
              <a:rPr lang="en-US" altLang="zh-TW" dirty="0" smtClean="0">
                <a:latin typeface="+mn-lt"/>
              </a:rPr>
              <a:t>long sequences </a:t>
            </a:r>
            <a:r>
              <a:rPr lang="en-US" altLang="zh-TW" dirty="0">
                <a:latin typeface="+mn-lt"/>
              </a:rPr>
              <a:t>is an </a:t>
            </a:r>
            <a:r>
              <a:rPr lang="en-US" altLang="zh-TW" dirty="0" smtClean="0">
                <a:latin typeface="+mn-lt"/>
              </a:rPr>
              <a:t>important </a:t>
            </a:r>
            <a:r>
              <a:rPr lang="en-US" altLang="zh-TW" dirty="0">
                <a:latin typeface="+mn-lt"/>
              </a:rPr>
              <a:t>problem in molecular sequence analysis. The problem </a:t>
            </a:r>
            <a:r>
              <a:rPr lang="en-US" altLang="zh-TW" dirty="0" smtClean="0">
                <a:latin typeface="+mn-lt"/>
              </a:rPr>
              <a:t>is straightforward </a:t>
            </a:r>
            <a:r>
              <a:rPr lang="en-US" altLang="zh-TW" dirty="0">
                <a:latin typeface="+mn-lt"/>
              </a:rPr>
              <a:t>only if one restricts consideration to contiguous </a:t>
            </a:r>
            <a:r>
              <a:rPr lang="en-US" altLang="zh-TW" dirty="0" smtClean="0">
                <a:latin typeface="+mn-lt"/>
              </a:rPr>
              <a:t>subsequences (segments</a:t>
            </a:r>
            <a:r>
              <a:rPr lang="en-US" altLang="zh-TW" dirty="0">
                <a:latin typeface="+mn-lt"/>
              </a:rPr>
              <a:t>) containing no internal deletions or insertions. The </a:t>
            </a:r>
            <a:r>
              <a:rPr lang="en-US" altLang="zh-TW" dirty="0" smtClean="0">
                <a:latin typeface="+mn-lt"/>
              </a:rPr>
              <a:t>more </a:t>
            </a:r>
            <a:r>
              <a:rPr lang="en-US" altLang="zh-TW" dirty="0">
                <a:latin typeface="+mn-lt"/>
              </a:rPr>
              <a:t>general </a:t>
            </a:r>
            <a:r>
              <a:rPr lang="en-US" altLang="zh-TW" dirty="0" smtClean="0">
                <a:latin typeface="+mn-lt"/>
              </a:rPr>
              <a:t>problem has </a:t>
            </a:r>
            <a:r>
              <a:rPr lang="en-US" altLang="zh-TW" dirty="0">
                <a:latin typeface="+mn-lt"/>
              </a:rPr>
              <a:t>its solution in an extension of sequence metrics </a:t>
            </a:r>
            <a:r>
              <a:rPr lang="en-US" altLang="zh-TW" dirty="0" smtClean="0">
                <a:latin typeface="+mn-lt"/>
              </a:rPr>
              <a:t>developed </a:t>
            </a:r>
            <a:r>
              <a:rPr lang="en-US" altLang="zh-TW" dirty="0">
                <a:latin typeface="+mn-lt"/>
              </a:rPr>
              <a:t>to measure the minimum number of “events” required to </a:t>
            </a:r>
            <a:r>
              <a:rPr lang="en-US" altLang="zh-TW" dirty="0" smtClean="0">
                <a:latin typeface="+mn-lt"/>
              </a:rPr>
              <a:t>convert one </a:t>
            </a:r>
            <a:r>
              <a:rPr lang="en-US" altLang="zh-TW" dirty="0">
                <a:latin typeface="+mn-lt"/>
              </a:rPr>
              <a:t>sequence into another</a:t>
            </a:r>
            <a:r>
              <a:rPr lang="en-US" altLang="zh-TW" dirty="0" smtClean="0">
                <a:latin typeface="+mn-lt"/>
              </a:rPr>
              <a:t>.</a:t>
            </a:r>
            <a:endParaRPr lang="en-US" altLang="zh-TW" dirty="0" smtClean="0">
              <a:latin typeface="+mn-lt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04B93-F247-42E5-95CE-B8478AD23DB7}" type="slidenum">
              <a:rPr lang="zh-TW" altLang="en-US" smtClean="0"/>
              <a:pPr/>
              <a:t>2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7208216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+mj-lt"/>
                <a:ea typeface="微軟正黑體" pitchFamily="34" charset="-120"/>
              </a:rPr>
              <a:t>Abstract</a:t>
            </a:r>
            <a:endParaRPr lang="zh-TW" altLang="en-US" dirty="0">
              <a:latin typeface="+mj-lt"/>
              <a:ea typeface="微軟正黑體" pitchFamily="34" charset="-120"/>
            </a:endParaRP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BC835-5296-4B1D-8A63-988F440A8A80}" type="datetime1">
              <a:rPr lang="zh-TW" altLang="en-US" smtClean="0"/>
              <a:t>2013/12/18</a:t>
            </a:fld>
            <a:endParaRPr lang="zh-TW" altLang="en-US" dirty="0"/>
          </a:p>
        </p:txBody>
      </p:sp>
      <p:sp>
        <p:nvSpPr>
          <p:cNvPr id="5" name="內容版面配置區 4"/>
          <p:cNvSpPr>
            <a:spLocks noGrp="1"/>
          </p:cNvSpPr>
          <p:nvPr>
            <p:ph sz="quarter" idx="1"/>
          </p:nvPr>
        </p:nvSpPr>
        <p:spPr/>
        <p:txBody>
          <a:bodyPr>
            <a:noAutofit/>
          </a:bodyPr>
          <a:lstStyle/>
          <a:p>
            <a:r>
              <a:rPr lang="en-US" altLang="zh-TW" dirty="0" smtClean="0">
                <a:latin typeface="+mj-lt"/>
              </a:rPr>
              <a:t>In </a:t>
            </a:r>
            <a:r>
              <a:rPr lang="en-US" altLang="zh-TW" dirty="0">
                <a:latin typeface="+mj-lt"/>
              </a:rPr>
              <a:t>this letter we extend the above ideas to find a pair of segments, one from each of </a:t>
            </a:r>
            <a:r>
              <a:rPr lang="en-US" altLang="zh-TW" dirty="0" smtClean="0">
                <a:latin typeface="+mj-lt"/>
              </a:rPr>
              <a:t>two </a:t>
            </a:r>
            <a:r>
              <a:rPr lang="en-US" altLang="zh-TW" dirty="0">
                <a:latin typeface="+mj-lt"/>
              </a:rPr>
              <a:t>long sequences, such that there is no other pair of segments with greater </a:t>
            </a:r>
            <a:r>
              <a:rPr lang="en-US" altLang="zh-TW" dirty="0" smtClean="0">
                <a:latin typeface="+mj-lt"/>
              </a:rPr>
              <a:t>similarity </a:t>
            </a:r>
            <a:r>
              <a:rPr lang="en-US" altLang="zh-TW" dirty="0">
                <a:latin typeface="+mj-lt"/>
              </a:rPr>
              <a:t>(homology). The similarity measure used here allows for arbitrary length </a:t>
            </a:r>
            <a:r>
              <a:rPr lang="en-US" altLang="zh-TW" dirty="0" smtClean="0">
                <a:latin typeface="+mj-lt"/>
              </a:rPr>
              <a:t>deletions </a:t>
            </a:r>
            <a:r>
              <a:rPr lang="en-US" altLang="zh-TW" dirty="0">
                <a:latin typeface="+mj-lt"/>
              </a:rPr>
              <a:t>and insertions.</a:t>
            </a: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04B93-F247-42E5-95CE-B8478AD23DB7}" type="slidenum">
              <a:rPr lang="zh-TW" altLang="en-US" smtClean="0"/>
              <a:pPr/>
              <a:t>3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3064384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zh-TW" dirty="0" smtClean="0">
                <a:latin typeface="+mn-lt"/>
              </a:rPr>
              <a:t>Algorithm</a:t>
            </a:r>
            <a:endParaRPr lang="en-US" altLang="zh-TW" dirty="0">
              <a:latin typeface="+mn-lt"/>
            </a:endParaRPr>
          </a:p>
        </p:txBody>
      </p:sp>
      <p:sp>
        <p:nvSpPr>
          <p:cNvPr id="83971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endParaRPr lang="en-US" altLang="zh-TW" sz="2700" dirty="0">
              <a:latin typeface="+mn-lt"/>
            </a:endParaRPr>
          </a:p>
          <a:p>
            <a:pPr>
              <a:lnSpc>
                <a:spcPct val="80000"/>
              </a:lnSpc>
            </a:pPr>
            <a:endParaRPr lang="en-US" altLang="zh-TW" sz="2700" dirty="0">
              <a:latin typeface="+mn-lt"/>
            </a:endParaRPr>
          </a:p>
        </p:txBody>
      </p:sp>
      <p:sp>
        <p:nvSpPr>
          <p:cNvPr id="9" name="日期版面配置區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1118DA-47D8-4AE9-A71A-E9762CDE3FDD}" type="datetime1">
              <a:rPr lang="zh-TW" altLang="en-US" smtClean="0"/>
              <a:t>2013/12/18</a:t>
            </a:fld>
            <a:endParaRPr lang="zh-TW" altLang="en-US"/>
          </a:p>
        </p:txBody>
      </p:sp>
      <p:sp>
        <p:nvSpPr>
          <p:cNvPr id="10" name="投影片編號版面配置區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04B93-F247-42E5-95CE-B8478AD23DB7}" type="slidenum">
              <a:rPr lang="zh-TW" altLang="en-US" smtClean="0"/>
              <a:pPr/>
              <a:t>4</a:t>
            </a:fld>
            <a:endParaRPr lang="zh-TW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" name="表格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17742363"/>
                  </p:ext>
                </p:extLst>
              </p:nvPr>
            </p:nvGraphicFramePr>
            <p:xfrm>
              <a:off x="3158136" y="3573016"/>
              <a:ext cx="5528664" cy="2471548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691083"/>
                    <a:gridCol w="691083"/>
                    <a:gridCol w="691083"/>
                    <a:gridCol w="691083"/>
                    <a:gridCol w="691083"/>
                    <a:gridCol w="691083"/>
                    <a:gridCol w="691083"/>
                    <a:gridCol w="691083"/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1" dirty="0" smtClean="0"/>
                            <a:t>B</a:t>
                          </a:r>
                          <a:endParaRPr lang="zh-TW" altLang="en-US" sz="24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1" dirty="0" smtClean="0"/>
                            <a:t>C</a:t>
                          </a:r>
                          <a:endParaRPr lang="zh-TW" altLang="en-US" sz="24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1" dirty="0" smtClean="0"/>
                            <a:t>C</a:t>
                          </a:r>
                          <a:endParaRPr lang="zh-TW" altLang="en-US" sz="24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1" dirty="0" smtClean="0"/>
                            <a:t>A</a:t>
                          </a:r>
                          <a:endParaRPr lang="zh-TW" altLang="en-US" sz="24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1" dirty="0" smtClean="0"/>
                            <a:t>A</a:t>
                          </a:r>
                          <a:endParaRPr lang="zh-TW" altLang="en-US" sz="24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1" dirty="0" smtClean="0"/>
                            <a:t>D</a:t>
                          </a:r>
                          <a:endParaRPr lang="zh-TW" altLang="en-US" sz="24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1" dirty="0" smtClean="0"/>
                            <a:t>D</a:t>
                          </a:r>
                          <a:endParaRPr lang="zh-TW" altLang="en-US" sz="24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1" dirty="0" smtClean="0"/>
                            <a:t>B</a:t>
                          </a:r>
                          <a:endParaRPr lang="zh-TW" altLang="en-US" sz="2400" b="1" dirty="0"/>
                        </a:p>
                      </a:txBody>
                      <a:tcPr anchor="ctr"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1" dirty="0" smtClean="0"/>
                            <a:t>B</a:t>
                          </a:r>
                          <a:endParaRPr lang="zh-TW" altLang="en-US" sz="2400" b="1" dirty="0"/>
                        </a:p>
                      </a:txBody>
                      <a:tcPr anchor="ctr"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1" dirty="0" smtClean="0"/>
                            <a:t>C</a:t>
                          </a:r>
                          <a:endParaRPr lang="zh-TW" altLang="en-US" sz="2400" b="1" dirty="0"/>
                        </a:p>
                      </a:txBody>
                      <a:tcPr anchor="ctr"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1" dirty="0" smtClean="0"/>
                            <a:t>C</a:t>
                          </a:r>
                          <a:endParaRPr lang="zh-TW" altLang="en-US" sz="2400" b="1" dirty="0"/>
                        </a:p>
                      </a:txBody>
                      <a:tcPr anchor="ctr"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1" dirty="0" smtClean="0"/>
                            <a:t>-</a:t>
                          </a:r>
                          <a:endParaRPr lang="zh-TW" altLang="en-US" sz="2400" b="1" dirty="0"/>
                        </a:p>
                      </a:txBody>
                      <a:tcPr anchor="ctr"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1" dirty="0" smtClean="0"/>
                            <a:t>-</a:t>
                          </a:r>
                          <a:endParaRPr lang="zh-TW" altLang="en-US" sz="2400" b="1" dirty="0"/>
                        </a:p>
                      </a:txBody>
                      <a:tcPr anchor="ctr"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1" dirty="0" smtClean="0"/>
                            <a:t>D</a:t>
                          </a:r>
                          <a:endParaRPr lang="zh-TW" altLang="en-US" sz="2400" b="1" dirty="0"/>
                        </a:p>
                      </a:txBody>
                      <a:tcPr anchor="ctr"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1" dirty="0" smtClean="0"/>
                            <a:t>C</a:t>
                          </a:r>
                          <a:endParaRPr lang="zh-TW" altLang="en-US" sz="2400" b="1" dirty="0"/>
                        </a:p>
                      </a:txBody>
                      <a:tcPr anchor="ctr"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1" dirty="0" smtClean="0"/>
                            <a:t>B</a:t>
                          </a:r>
                          <a:endParaRPr lang="zh-TW" altLang="en-US" sz="2400" b="1" dirty="0"/>
                        </a:p>
                      </a:txBody>
                      <a:tcPr anchor="ctr"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1" dirty="0" smtClean="0"/>
                            <a:t>+1</a:t>
                          </a:r>
                          <a:endParaRPr lang="zh-TW" altLang="en-US" sz="2400" b="1" dirty="0"/>
                        </a:p>
                      </a:txBody>
                      <a:tcPr anchor="ctr"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1" dirty="0" smtClean="0"/>
                            <a:t>+1</a:t>
                          </a:r>
                          <a:endParaRPr lang="zh-TW" altLang="en-US" sz="2400" b="1" dirty="0"/>
                        </a:p>
                      </a:txBody>
                      <a:tcPr anchor="ctr"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1" dirty="0" smtClean="0"/>
                            <a:t>+1</a:t>
                          </a:r>
                          <a:endParaRPr lang="zh-TW" altLang="en-US" sz="2400" b="1" dirty="0"/>
                        </a:p>
                      </a:txBody>
                      <a:tcPr anchor="ctr"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400" b="1" i="1" dirty="0" smtClean="0">
                                    <a:latin typeface="Cambria Math" panose="02040503050406030204" pitchFamily="18" charset="0"/>
                                  </a:rPr>
                                  <m:t>-</m:t>
                                </m:r>
                                <m:r>
                                  <a:rPr lang="en-US" altLang="zh-TW" sz="2400" b="1" i="1" dirty="0" smtClean="0"/>
                                  <m:t>𝟏</m:t>
                                </m:r>
                                <m:f>
                                  <m:fPr>
                                    <m:ctrlPr>
                                      <a:rPr lang="en-US" altLang="zh-TW" sz="2400" b="1" smtClean="0"/>
                                    </m:ctrlPr>
                                  </m:fPr>
                                  <m:num>
                                    <m:r>
                                      <a:rPr lang="en-US" altLang="zh-TW" sz="2400" b="1" i="1" smtClean="0"/>
                                      <m:t>𝟏</m:t>
                                    </m:r>
                                  </m:num>
                                  <m:den>
                                    <m:r>
                                      <a:rPr lang="en-US" altLang="zh-TW" sz="2400" b="1" i="1" smtClean="0"/>
                                      <m:t>𝟑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altLang="zh-TW" sz="2400" b="1" dirty="0" smtClean="0"/>
                        </a:p>
                      </a:txBody>
                      <a:tcPr anchor="ctr"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400" b="1" i="1" dirty="0" smtClean="0">
                                    <a:latin typeface="Cambria Math" panose="02040503050406030204" pitchFamily="18" charset="0"/>
                                  </a:rPr>
                                  <m:t>-</m:t>
                                </m:r>
                                <m:f>
                                  <m:fPr>
                                    <m:ctrlPr>
                                      <a:rPr lang="en-US" altLang="zh-TW" sz="2400" b="1" smtClean="0"/>
                                    </m:ctrlPr>
                                  </m:fPr>
                                  <m:num>
                                    <m:r>
                                      <a:rPr lang="en-US" altLang="zh-TW" sz="2400" b="1" i="1" smtClean="0"/>
                                      <m:t>𝟏</m:t>
                                    </m:r>
                                  </m:num>
                                  <m:den>
                                    <m:r>
                                      <a:rPr lang="en-US" altLang="zh-TW" sz="2400" b="1" i="1" smtClean="0"/>
                                      <m:t>𝟑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zh-TW" altLang="en-US" sz="2400" b="1" dirty="0"/>
                        </a:p>
                      </a:txBody>
                      <a:tcPr anchor="ctr"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1" dirty="0" smtClean="0"/>
                            <a:t>+1</a:t>
                          </a:r>
                          <a:endParaRPr lang="zh-TW" altLang="en-US" sz="2400" b="1" dirty="0"/>
                        </a:p>
                      </a:txBody>
                      <a:tcPr anchor="ctr"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400" b="1" i="1" dirty="0" smtClean="0">
                                    <a:latin typeface="Cambria Math" panose="02040503050406030204" pitchFamily="18" charset="0"/>
                                  </a:rPr>
                                  <m:t>-</m:t>
                                </m:r>
                                <m:f>
                                  <m:fPr>
                                    <m:ctrlPr>
                                      <a:rPr lang="en-US" altLang="zh-TW" sz="2400" b="1" smtClean="0"/>
                                    </m:ctrlPr>
                                  </m:fPr>
                                  <m:num>
                                    <m:r>
                                      <a:rPr lang="en-US" altLang="zh-TW" sz="2400" b="1" i="1" smtClean="0"/>
                                      <m:t>𝟏</m:t>
                                    </m:r>
                                  </m:num>
                                  <m:den>
                                    <m:r>
                                      <a:rPr lang="en-US" altLang="zh-TW" sz="2400" b="1" i="1" smtClean="0"/>
                                      <m:t>𝟑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zh-TW" altLang="en-US" sz="2400" b="1" dirty="0"/>
                        </a:p>
                      </a:txBody>
                      <a:tcPr anchor="ctr"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1" dirty="0" smtClean="0"/>
                            <a:t>+1</a:t>
                          </a:r>
                          <a:endParaRPr lang="zh-TW" altLang="en-US" sz="2400" b="1" dirty="0"/>
                        </a:p>
                      </a:txBody>
                      <a:tcPr anchor="ctr"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1" dirty="0" smtClean="0"/>
                            <a:t>1</a:t>
                          </a:r>
                          <a:endParaRPr lang="zh-TW" altLang="en-US" sz="2400" b="1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1" dirty="0" smtClean="0"/>
                            <a:t>2</a:t>
                          </a:r>
                          <a:endParaRPr lang="zh-TW" altLang="en-US" sz="2400" b="1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1" dirty="0" smtClean="0"/>
                            <a:t>3</a:t>
                          </a:r>
                          <a:endParaRPr lang="zh-TW" altLang="en-US" sz="2400" b="1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400" b="1" i="1" dirty="0" smtClean="0"/>
                                  <m:t>𝟏</m:t>
                                </m:r>
                                <m:f>
                                  <m:fPr>
                                    <m:ctrlPr>
                                      <a:rPr lang="en-US" altLang="zh-TW" sz="2400" b="1" smtClean="0"/>
                                    </m:ctrlPr>
                                  </m:fPr>
                                  <m:num>
                                    <m:r>
                                      <a:rPr lang="en-US" altLang="zh-TW" sz="2400" b="1" i="1" smtClean="0"/>
                                      <m:t>𝟐</m:t>
                                    </m:r>
                                  </m:num>
                                  <m:den>
                                    <m:r>
                                      <a:rPr lang="en-US" altLang="zh-TW" sz="2400" b="1" i="1" smtClean="0"/>
                                      <m:t>𝟑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zh-TW" altLang="en-US" sz="2400" b="1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400" b="1" i="1" dirty="0" smtClean="0"/>
                                  <m:t>𝟏</m:t>
                                </m:r>
                                <m:f>
                                  <m:fPr>
                                    <m:ctrlPr>
                                      <a:rPr lang="en-US" altLang="zh-TW" sz="2400" b="1" smtClean="0"/>
                                    </m:ctrlPr>
                                  </m:fPr>
                                  <m:num>
                                    <m:r>
                                      <a:rPr lang="en-US" altLang="zh-TW" sz="2400" b="1" i="1" smtClean="0"/>
                                      <m:t>𝟏</m:t>
                                    </m:r>
                                  </m:num>
                                  <m:den>
                                    <m:r>
                                      <a:rPr lang="en-US" altLang="zh-TW" sz="2400" b="1" i="1" smtClean="0"/>
                                      <m:t>𝟑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zh-TW" altLang="en-US" sz="2400" b="1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400" b="1" i="1" dirty="0" smtClean="0"/>
                                  <m:t>𝟐</m:t>
                                </m:r>
                                <m:f>
                                  <m:fPr>
                                    <m:ctrlPr>
                                      <a:rPr lang="en-US" altLang="zh-TW" sz="2400" b="1" smtClean="0"/>
                                    </m:ctrlPr>
                                  </m:fPr>
                                  <m:num>
                                    <m:r>
                                      <a:rPr lang="en-US" altLang="zh-TW" sz="2400" b="1" i="1" smtClean="0"/>
                                      <m:t>𝟏</m:t>
                                    </m:r>
                                  </m:num>
                                  <m:den>
                                    <m:r>
                                      <a:rPr lang="en-US" altLang="zh-TW" sz="2400" b="1" i="1" smtClean="0"/>
                                      <m:t>𝟑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zh-TW" altLang="en-US" sz="2400" b="1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1" dirty="0" smtClean="0"/>
                            <a:t>2</a:t>
                          </a:r>
                          <a:endParaRPr lang="zh-TW" altLang="en-US" sz="2400" b="1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1" dirty="0" smtClean="0"/>
                            <a:t>3</a:t>
                          </a:r>
                          <a:endParaRPr lang="zh-TW" altLang="en-US" sz="2400" b="1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</a:tr>
                </a:tbl>
              </a:graphicData>
            </a:graphic>
          </p:graphicFrame>
        </mc:Choice>
        <mc:Fallback>
          <p:graphicFrame>
            <p:nvGraphicFramePr>
              <p:cNvPr id="2" name="表格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17742363"/>
                  </p:ext>
                </p:extLst>
              </p:nvPr>
            </p:nvGraphicFramePr>
            <p:xfrm>
              <a:off x="3158136" y="3573016"/>
              <a:ext cx="5528664" cy="2471548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691083"/>
                    <a:gridCol w="691083"/>
                    <a:gridCol w="691083"/>
                    <a:gridCol w="691083"/>
                    <a:gridCol w="691083"/>
                    <a:gridCol w="691083"/>
                    <a:gridCol w="691083"/>
                    <a:gridCol w="691083"/>
                  </a:tblGrid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1" dirty="0" smtClean="0"/>
                            <a:t>B</a:t>
                          </a:r>
                          <a:endParaRPr lang="zh-TW" altLang="en-US" sz="24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1" dirty="0" smtClean="0"/>
                            <a:t>C</a:t>
                          </a:r>
                          <a:endParaRPr lang="zh-TW" altLang="en-US" sz="24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1" dirty="0" smtClean="0"/>
                            <a:t>C</a:t>
                          </a:r>
                          <a:endParaRPr lang="zh-TW" altLang="en-US" sz="24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1" dirty="0" smtClean="0"/>
                            <a:t>A</a:t>
                          </a:r>
                          <a:endParaRPr lang="zh-TW" altLang="en-US" sz="24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1" dirty="0" smtClean="0"/>
                            <a:t>A</a:t>
                          </a:r>
                          <a:endParaRPr lang="zh-TW" altLang="en-US" sz="24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1" dirty="0" smtClean="0"/>
                            <a:t>D</a:t>
                          </a:r>
                          <a:endParaRPr lang="zh-TW" altLang="en-US" sz="24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1" dirty="0" smtClean="0"/>
                            <a:t>D</a:t>
                          </a:r>
                          <a:endParaRPr lang="zh-TW" altLang="en-US" sz="24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1" dirty="0" smtClean="0"/>
                            <a:t>B</a:t>
                          </a:r>
                          <a:endParaRPr lang="zh-TW" altLang="en-US" sz="2400" b="1" dirty="0"/>
                        </a:p>
                      </a:txBody>
                      <a:tcPr anchor="ctr"/>
                    </a:tc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1" dirty="0" smtClean="0"/>
                            <a:t>B</a:t>
                          </a:r>
                          <a:endParaRPr lang="zh-TW" altLang="en-US" sz="2400" b="1" dirty="0"/>
                        </a:p>
                      </a:txBody>
                      <a:tcPr anchor="ctr"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1" dirty="0" smtClean="0"/>
                            <a:t>C</a:t>
                          </a:r>
                          <a:endParaRPr lang="zh-TW" altLang="en-US" sz="2400" b="1" dirty="0"/>
                        </a:p>
                      </a:txBody>
                      <a:tcPr anchor="ctr"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1" dirty="0" smtClean="0"/>
                            <a:t>C</a:t>
                          </a:r>
                          <a:endParaRPr lang="zh-TW" altLang="en-US" sz="2400" b="1" dirty="0"/>
                        </a:p>
                      </a:txBody>
                      <a:tcPr anchor="ctr"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1" dirty="0" smtClean="0"/>
                            <a:t>-</a:t>
                          </a:r>
                          <a:endParaRPr lang="zh-TW" altLang="en-US" sz="2400" b="1" dirty="0"/>
                        </a:p>
                      </a:txBody>
                      <a:tcPr anchor="ctr"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1" dirty="0" smtClean="0"/>
                            <a:t>-</a:t>
                          </a:r>
                          <a:endParaRPr lang="zh-TW" altLang="en-US" sz="2400" b="1" dirty="0"/>
                        </a:p>
                      </a:txBody>
                      <a:tcPr anchor="ctr"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1" dirty="0" smtClean="0"/>
                            <a:t>D</a:t>
                          </a:r>
                          <a:endParaRPr lang="zh-TW" altLang="en-US" sz="2400" b="1" dirty="0"/>
                        </a:p>
                      </a:txBody>
                      <a:tcPr anchor="ctr"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1" dirty="0" smtClean="0"/>
                            <a:t>C</a:t>
                          </a:r>
                          <a:endParaRPr lang="zh-TW" altLang="en-US" sz="2400" b="1" dirty="0"/>
                        </a:p>
                      </a:txBody>
                      <a:tcPr anchor="ctr"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1" dirty="0" smtClean="0"/>
                            <a:t>B</a:t>
                          </a:r>
                          <a:endParaRPr lang="zh-TW" altLang="en-US" sz="2400" b="1" dirty="0"/>
                        </a:p>
                      </a:txBody>
                      <a:tcPr anchor="ctr"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77857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1" dirty="0" smtClean="0"/>
                            <a:t>+1</a:t>
                          </a:r>
                          <a:endParaRPr lang="zh-TW" altLang="en-US" sz="2400" b="1" dirty="0"/>
                        </a:p>
                      </a:txBody>
                      <a:tcPr anchor="ctr"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1" dirty="0" smtClean="0"/>
                            <a:t>+1</a:t>
                          </a:r>
                          <a:endParaRPr lang="zh-TW" altLang="en-US" sz="2400" b="1" dirty="0"/>
                        </a:p>
                      </a:txBody>
                      <a:tcPr anchor="ctr"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1" dirty="0" smtClean="0"/>
                            <a:t>+1</a:t>
                          </a:r>
                          <a:endParaRPr lang="zh-TW" altLang="en-US" sz="2400" b="1" dirty="0"/>
                        </a:p>
                      </a:txBody>
                      <a:tcPr anchor="ctr"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3"/>
                          <a:stretch>
                            <a:fillRect l="-299123" t="-123438" r="-401754" b="-1015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3"/>
                          <a:stretch>
                            <a:fillRect l="-402655" t="-123438" r="-305310" b="-1015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1" dirty="0" smtClean="0"/>
                            <a:t>+1</a:t>
                          </a:r>
                          <a:endParaRPr lang="zh-TW" altLang="en-US" sz="2400" b="1" dirty="0"/>
                        </a:p>
                      </a:txBody>
                      <a:tcPr anchor="ctr"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3"/>
                          <a:stretch>
                            <a:fillRect l="-597368" t="-123438" r="-103509" b="-1015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1" dirty="0" smtClean="0"/>
                            <a:t>+1</a:t>
                          </a:r>
                          <a:endParaRPr lang="zh-TW" altLang="en-US" sz="2400" b="1" dirty="0"/>
                        </a:p>
                      </a:txBody>
                      <a:tcPr anchor="ctr"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77857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1" dirty="0" smtClean="0"/>
                            <a:t>1</a:t>
                          </a:r>
                          <a:endParaRPr lang="zh-TW" altLang="en-US" sz="2400" b="1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1" dirty="0" smtClean="0"/>
                            <a:t>2</a:t>
                          </a:r>
                          <a:endParaRPr lang="zh-TW" altLang="en-US" sz="2400" b="1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1" dirty="0" smtClean="0"/>
                            <a:t>3</a:t>
                          </a:r>
                          <a:endParaRPr lang="zh-TW" altLang="en-US" sz="2400" b="1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 rotWithShape="0">
                          <a:blip r:embed="rId3"/>
                          <a:stretch>
                            <a:fillRect l="-299123" t="-223438" r="-401754" b="-15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 rotWithShape="0">
                          <a:blip r:embed="rId3"/>
                          <a:stretch>
                            <a:fillRect l="-402655" t="-223438" r="-305310" b="-15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 rotWithShape="0">
                          <a:blip r:embed="rId3"/>
                          <a:stretch>
                            <a:fillRect l="-502655" t="-223438" r="-205310" b="-15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1" dirty="0" smtClean="0"/>
                            <a:t>2</a:t>
                          </a:r>
                          <a:endParaRPr lang="zh-TW" altLang="en-US" sz="2400" b="1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1" dirty="0" smtClean="0"/>
                            <a:t>3</a:t>
                          </a:r>
                          <a:endParaRPr lang="zh-TW" altLang="en-US" sz="2400" b="1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</a:tr>
                </a:tbl>
              </a:graphicData>
            </a:graphic>
          </p:graphicFrame>
        </mc:Fallback>
      </mc:AlternateContent>
      <p:pic>
        <p:nvPicPr>
          <p:cNvPr id="4" name="圖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261" y="1863695"/>
            <a:ext cx="2741539" cy="374964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496" y="1342391"/>
            <a:ext cx="9108504" cy="445104"/>
          </a:xfrm>
          <a:prstGeom prst="rect">
            <a:avLst/>
          </a:prstGeom>
        </p:spPr>
      </p:pic>
      <p:pic>
        <p:nvPicPr>
          <p:cNvPr id="6" name="圖片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322" y="3740723"/>
            <a:ext cx="1869381" cy="314475"/>
          </a:xfrm>
          <a:prstGeom prst="rect">
            <a:avLst/>
          </a:prstGeom>
        </p:spPr>
      </p:pic>
      <p:sp>
        <p:nvSpPr>
          <p:cNvPr id="7" name="文字方塊 6"/>
          <p:cNvSpPr txBox="1"/>
          <p:nvPr/>
        </p:nvSpPr>
        <p:spPr>
          <a:xfrm>
            <a:off x="0" y="2361043"/>
            <a:ext cx="255364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       1, match</a:t>
            </a:r>
          </a:p>
          <a:p>
            <a:r>
              <a:rPr lang="en-US" altLang="zh-TW" sz="2400" dirty="0" smtClean="0"/>
              <a:t>s={</a:t>
            </a:r>
          </a:p>
          <a:p>
            <a:r>
              <a:rPr lang="en-US" altLang="zh-TW" sz="2400" dirty="0"/>
              <a:t>       </a:t>
            </a:r>
            <a:r>
              <a:rPr lang="en-US" altLang="zh-TW" sz="2400" dirty="0" smtClean="0"/>
              <a:t>-1/3, mismatch</a:t>
            </a:r>
            <a:endParaRPr lang="en-US" altLang="zh-TW" sz="2400" dirty="0"/>
          </a:p>
        </p:txBody>
      </p:sp>
    </p:spTree>
    <p:extLst>
      <p:ext uri="{BB962C8B-B14F-4D97-AF65-F5344CB8AC3E}">
        <p14:creationId xmlns:p14="http://schemas.microsoft.com/office/powerpoint/2010/main" val="35376722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23528" y="152400"/>
            <a:ext cx="8229600" cy="990600"/>
          </a:xfrm>
        </p:spPr>
        <p:txBody>
          <a:bodyPr/>
          <a:lstStyle/>
          <a:p>
            <a:r>
              <a:rPr lang="en-US" altLang="zh-TW" dirty="0" smtClean="0">
                <a:latin typeface="+mj-lt"/>
              </a:rPr>
              <a:t>Example</a:t>
            </a:r>
            <a:endParaRPr lang="zh-TW" altLang="en-US" dirty="0">
              <a:latin typeface="+mj-lt"/>
            </a:endParaRP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5A04B-6D50-474B-9D3D-823496C060F8}" type="datetime1">
              <a:rPr lang="zh-TW" altLang="en-US" smtClean="0"/>
              <a:t>2013/12/18</a:t>
            </a:fld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04B93-F247-42E5-95CE-B8478AD23DB7}" type="slidenum">
              <a:rPr lang="zh-TW" altLang="en-US" smtClean="0"/>
              <a:pPr/>
              <a:t>5</a:t>
            </a:fld>
            <a:endParaRPr lang="zh-TW" altLang="en-US"/>
          </a:p>
        </p:txBody>
      </p:sp>
      <p:sp>
        <p:nvSpPr>
          <p:cNvPr id="5" name="內容版面配置區 4"/>
          <p:cNvSpPr>
            <a:spLocks noGrp="1"/>
          </p:cNvSpPr>
          <p:nvPr>
            <p:ph sz="quarter" idx="1"/>
          </p:nvPr>
        </p:nvSpPr>
        <p:spPr>
          <a:xfrm>
            <a:off x="0" y="1219200"/>
            <a:ext cx="8686800" cy="4937760"/>
          </a:xfrm>
        </p:spPr>
        <p:txBody>
          <a:bodyPr/>
          <a:lstStyle/>
          <a:p>
            <a:endParaRPr lang="en-US" altLang="zh-TW" sz="2000" dirty="0" smtClean="0">
              <a:latin typeface="+mj-lt"/>
            </a:endParaRPr>
          </a:p>
          <a:p>
            <a:endParaRPr lang="en-US" altLang="zh-TW" dirty="0">
              <a:latin typeface="+mj-lt"/>
            </a:endParaRPr>
          </a:p>
          <a:p>
            <a:endParaRPr lang="zh-TW" altLang="en-US" dirty="0"/>
          </a:p>
        </p:txBody>
      </p:sp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4483905"/>
              </p:ext>
            </p:extLst>
          </p:nvPr>
        </p:nvGraphicFramePr>
        <p:xfrm>
          <a:off x="1979711" y="44624"/>
          <a:ext cx="7121385" cy="58521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74759"/>
                <a:gridCol w="474759"/>
                <a:gridCol w="474759"/>
                <a:gridCol w="474759"/>
                <a:gridCol w="474759"/>
                <a:gridCol w="474759"/>
                <a:gridCol w="474759"/>
                <a:gridCol w="474759"/>
                <a:gridCol w="474759"/>
                <a:gridCol w="474759"/>
                <a:gridCol w="474759"/>
                <a:gridCol w="474759"/>
                <a:gridCol w="474759"/>
                <a:gridCol w="474759"/>
                <a:gridCol w="474759"/>
              </a:tblGrid>
              <a:tr h="270030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-</a:t>
                      </a:r>
                      <a:endParaRPr lang="zh-TW" altLang="en-US" dirty="0"/>
                    </a:p>
                  </a:txBody>
                  <a:tcPr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G</a:t>
                      </a:r>
                      <a:endParaRPr lang="zh-TW" altLang="en-US" dirty="0"/>
                    </a:p>
                  </a:txBody>
                  <a:tcPr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U</a:t>
                      </a:r>
                      <a:endParaRPr lang="zh-TW" altLang="en-US" dirty="0"/>
                    </a:p>
                  </a:txBody>
                  <a:tcPr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G</a:t>
                      </a:r>
                      <a:endParaRPr lang="zh-TW" altLang="en-US" dirty="0"/>
                    </a:p>
                  </a:txBody>
                  <a:tcPr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U</a:t>
                      </a:r>
                      <a:endParaRPr lang="zh-TW" altLang="en-US" dirty="0"/>
                    </a:p>
                  </a:txBody>
                  <a:tcPr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U</a:t>
                      </a:r>
                      <a:endParaRPr lang="zh-TW" altLang="en-US" dirty="0"/>
                    </a:p>
                  </a:txBody>
                  <a:tcPr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G</a:t>
                      </a:r>
                      <a:endParaRPr lang="zh-TW" altLang="en-US" dirty="0"/>
                    </a:p>
                  </a:txBody>
                  <a:tcPr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7003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-</a:t>
                      </a:r>
                      <a:endParaRPr lang="zh-TW" altLang="en-US" dirty="0"/>
                    </a:p>
                  </a:txBody>
                  <a:tcPr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</a:tr>
              <a:tr h="27003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27003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0.7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0.7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27003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U</a:t>
                      </a:r>
                      <a:endParaRPr lang="zh-TW" altLang="en-US" dirty="0"/>
                    </a:p>
                  </a:txBody>
                  <a:tcPr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0.7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0.3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0.7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27003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G</a:t>
                      </a:r>
                      <a:endParaRPr lang="zh-TW" altLang="en-US" dirty="0"/>
                    </a:p>
                  </a:txBody>
                  <a:tcPr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0.3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0.7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0.7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0.7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27003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1.3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0.3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0.3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0.7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0.3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0.3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0.3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27003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0.7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1.7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1.3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1.3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1.7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0.3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27003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0.7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0.3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1.7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2.7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1.3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0.7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1.3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1.3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27003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U</a:t>
                      </a:r>
                      <a:endParaRPr lang="zh-TW" altLang="en-US" dirty="0"/>
                    </a:p>
                  </a:txBody>
                  <a:tcPr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0.7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1.7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0.3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1.3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2.7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2.3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0.7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1.7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27003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U</a:t>
                      </a:r>
                      <a:endParaRPr lang="zh-TW" altLang="en-US" dirty="0"/>
                    </a:p>
                  </a:txBody>
                  <a:tcPr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0.3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0.3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1.3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2.3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2.3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0.7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1.7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2.7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1.7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27003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G</a:t>
                      </a:r>
                      <a:endParaRPr lang="zh-TW" altLang="en-US" dirty="0"/>
                    </a:p>
                  </a:txBody>
                  <a:tcPr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1.3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3.3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1.7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1.3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2.3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2.7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27003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0.3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0.7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0.7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1.7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1.3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2.3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27003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0.7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0.7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1.7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1.7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2.7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1.3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27003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G</a:t>
                      </a:r>
                      <a:endParaRPr lang="zh-TW" altLang="en-US" dirty="0"/>
                    </a:p>
                  </a:txBody>
                  <a:tcPr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0.7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0.3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0.7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1.7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0.3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2.7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1.7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2.7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2.3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27003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G</a:t>
                      </a:r>
                      <a:endParaRPr lang="zh-TW" altLang="en-US" dirty="0"/>
                    </a:p>
                  </a:txBody>
                  <a:tcPr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1.7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0.7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0.3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0.3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1.3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1.3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2.3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1.3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2.3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9" name="矩形 8"/>
          <p:cNvSpPr/>
          <p:nvPr/>
        </p:nvSpPr>
        <p:spPr>
          <a:xfrm>
            <a:off x="107504" y="5425658"/>
            <a:ext cx="233975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400" dirty="0" smtClean="0">
                <a:latin typeface="+mj-lt"/>
              </a:rPr>
              <a:t>GCCAUUG</a:t>
            </a:r>
            <a:endParaRPr lang="en-US" altLang="zh-TW" sz="2400" dirty="0">
              <a:latin typeface="+mj-lt"/>
            </a:endParaRPr>
          </a:p>
          <a:p>
            <a:r>
              <a:rPr lang="en-US" altLang="zh-TW" sz="2400" dirty="0" smtClean="0">
                <a:latin typeface="+mj-lt"/>
              </a:rPr>
              <a:t>GCC--UCG</a:t>
            </a:r>
            <a:endParaRPr lang="zh-TW" altLang="en-US" sz="24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0822229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+mn-lt"/>
                <a:ea typeface="微軟正黑體" pitchFamily="34" charset="-120"/>
              </a:rPr>
              <a:t>Conclusions</a:t>
            </a:r>
            <a:endParaRPr lang="zh-TW" altLang="en-US" dirty="0">
              <a:latin typeface="+mn-lt"/>
              <a:ea typeface="微軟正黑體" pitchFamily="34" charset="-120"/>
            </a:endParaRP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886944-877C-41F9-A0E8-D75F43CB53F1}" type="datetime1">
              <a:rPr lang="zh-TW" altLang="en-US" smtClean="0"/>
              <a:t>2013/12/18</a:t>
            </a:fld>
            <a:endParaRPr lang="zh-TW" altLang="en-US"/>
          </a:p>
        </p:txBody>
      </p:sp>
      <p:sp>
        <p:nvSpPr>
          <p:cNvPr id="7" name="內容版面配置區 6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altLang="zh-TW" dirty="0">
                <a:latin typeface="+mj-lt"/>
              </a:rPr>
              <a:t>This algorithm not only puts the search for pairs of maximally similar </a:t>
            </a:r>
            <a:r>
              <a:rPr lang="en-US" altLang="zh-TW" dirty="0" smtClean="0">
                <a:latin typeface="+mj-lt"/>
              </a:rPr>
              <a:t>segments on </a:t>
            </a:r>
            <a:r>
              <a:rPr lang="en-US" altLang="zh-TW" dirty="0">
                <a:latin typeface="+mj-lt"/>
              </a:rPr>
              <a:t>a mathematically rigorous basis but it can be efficiently and simply </a:t>
            </a:r>
            <a:r>
              <a:rPr lang="en-US" altLang="zh-TW" dirty="0" smtClean="0">
                <a:latin typeface="+mj-lt"/>
              </a:rPr>
              <a:t>programmed on </a:t>
            </a:r>
            <a:r>
              <a:rPr lang="en-US" altLang="zh-TW" dirty="0">
                <a:latin typeface="+mj-lt"/>
              </a:rPr>
              <a:t>a computer.</a:t>
            </a:r>
            <a:endParaRPr lang="zh-TW" altLang="en-US" dirty="0">
              <a:latin typeface="+mj-lt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04B93-F247-42E5-95CE-B8478AD23DB7}" type="slidenum">
              <a:rPr lang="zh-TW" altLang="en-US" smtClean="0"/>
              <a:pPr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6631422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NULL"/></Relationships>
</file>

<file path=ppt/theme/theme1.xml><?xml version="1.0" encoding="utf-8"?>
<a:theme xmlns:a="http://schemas.openxmlformats.org/drawingml/2006/main" name="原創">
  <a:themeElements>
    <a:clrScheme name="自訂 3">
      <a:dk1>
        <a:sysClr val="windowText" lastClr="000000"/>
      </a:dk1>
      <a:lt1>
        <a:sysClr val="window" lastClr="FFFFFF"/>
      </a:lt1>
      <a:dk2>
        <a:srgbClr val="000000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0000"/>
      </a:hlink>
      <a:folHlink>
        <a:srgbClr val="0000FF"/>
      </a:folHlink>
    </a:clrScheme>
    <a:fontScheme name="自訂 2">
      <a:majorFont>
        <a:latin typeface="Calibri"/>
        <a:ea typeface="Calibri"/>
        <a:cs typeface=""/>
      </a:majorFont>
      <a:minorFont>
        <a:latin typeface="Calibri"/>
        <a:ea typeface="Calibri"/>
        <a:cs typeface=""/>
      </a:minorFont>
    </a:fontScheme>
    <a:fmtScheme name="原創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Origin</Template>
  <TotalTime>9228</TotalTime>
  <Words>483</Words>
  <Application>Microsoft Office PowerPoint</Application>
  <PresentationFormat>如螢幕大小 (4:3)</PresentationFormat>
  <Paragraphs>307</Paragraphs>
  <Slides>6</Slides>
  <Notes>4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6</vt:i4>
      </vt:variant>
    </vt:vector>
  </HeadingPairs>
  <TitlesOfParts>
    <vt:vector size="13" baseType="lpstr">
      <vt:lpstr>微軟正黑體</vt:lpstr>
      <vt:lpstr>新細明體</vt:lpstr>
      <vt:lpstr>Calibri</vt:lpstr>
      <vt:lpstr>Cambria Math</vt:lpstr>
      <vt:lpstr>Wingdings</vt:lpstr>
      <vt:lpstr>Wingdings 3</vt:lpstr>
      <vt:lpstr>原創</vt:lpstr>
      <vt:lpstr>Identification of Common Molecular Subsequences Journal of Molecular Biology  vol. 147 pp. 195-197 (1981) </vt:lpstr>
      <vt:lpstr>Abstract</vt:lpstr>
      <vt:lpstr>Abstract</vt:lpstr>
      <vt:lpstr>Algorithm</vt:lpstr>
      <vt:lpstr>Example</vt:lpstr>
      <vt:lpstr>Conclusions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Quadratic-time algorithm for a string constrained LCS problem</dc:title>
  <dc:creator>Robert</dc:creator>
  <cp:lastModifiedBy>Chuan Yuan</cp:lastModifiedBy>
  <cp:revision>457</cp:revision>
  <cp:lastPrinted>2012-09-10T21:31:19Z</cp:lastPrinted>
  <dcterms:created xsi:type="dcterms:W3CDTF">2012-09-10T08:29:10Z</dcterms:created>
  <dcterms:modified xsi:type="dcterms:W3CDTF">2013-12-18T10:26:28Z</dcterms:modified>
</cp:coreProperties>
</file>