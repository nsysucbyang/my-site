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2" r:id="rId1"/>
  </p:sldMasterIdLst>
  <p:notesMasterIdLst>
    <p:notesMasterId r:id="rId30"/>
  </p:notesMasterIdLst>
  <p:sldIdLst>
    <p:sldId id="256" r:id="rId2"/>
    <p:sldId id="257" r:id="rId3"/>
    <p:sldId id="275" r:id="rId4"/>
    <p:sldId id="265" r:id="rId5"/>
    <p:sldId id="266" r:id="rId6"/>
    <p:sldId id="259" r:id="rId7"/>
    <p:sldId id="268" r:id="rId8"/>
    <p:sldId id="284" r:id="rId9"/>
    <p:sldId id="272" r:id="rId10"/>
    <p:sldId id="273" r:id="rId11"/>
    <p:sldId id="285" r:id="rId12"/>
    <p:sldId id="286" r:id="rId13"/>
    <p:sldId id="299" r:id="rId14"/>
    <p:sldId id="300" r:id="rId15"/>
    <p:sldId id="301" r:id="rId16"/>
    <p:sldId id="260" r:id="rId17"/>
    <p:sldId id="270" r:id="rId18"/>
    <p:sldId id="271" r:id="rId19"/>
    <p:sldId id="261" r:id="rId20"/>
    <p:sldId id="289" r:id="rId21"/>
    <p:sldId id="293" r:id="rId22"/>
    <p:sldId id="294" r:id="rId23"/>
    <p:sldId id="295" r:id="rId24"/>
    <p:sldId id="297" r:id="rId25"/>
    <p:sldId id="296" r:id="rId26"/>
    <p:sldId id="298" r:id="rId27"/>
    <p:sldId id="280" r:id="rId28"/>
    <p:sldId id="281" r:id="rId2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06799F8-075E-4A3A-A7F6-7FBC6576F1A4}" styleName="佈景主題樣式 2 - 輔色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237" autoAdjust="0"/>
  </p:normalViewPr>
  <p:slideViewPr>
    <p:cSldViewPr snapToGrid="0">
      <p:cViewPr>
        <p:scale>
          <a:sx n="70" d="100"/>
          <a:sy n="70" d="100"/>
        </p:scale>
        <p:origin x="75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2AC2BC-E47E-42FE-87F7-D397EF0C2C5B}" type="datetimeFigureOut">
              <a:rPr lang="zh-TW" altLang="en-US" smtClean="0"/>
              <a:t>2013/12/18</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D4855-1C41-43D4-90E2-4FC762E039CE}" type="slidenum">
              <a:rPr lang="zh-TW" altLang="en-US" smtClean="0"/>
              <a:t>‹#›</a:t>
            </a:fld>
            <a:endParaRPr lang="zh-TW" altLang="en-US"/>
          </a:p>
        </p:txBody>
      </p:sp>
    </p:spTree>
    <p:extLst>
      <p:ext uri="{BB962C8B-B14F-4D97-AF65-F5344CB8AC3E}">
        <p14:creationId xmlns:p14="http://schemas.microsoft.com/office/powerpoint/2010/main" val="288786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兩個點有連線必存在對應關係</a:t>
            </a:r>
            <a:endParaRPr lang="zh-TW" altLang="en-US" dirty="0"/>
          </a:p>
        </p:txBody>
      </p:sp>
      <p:sp>
        <p:nvSpPr>
          <p:cNvPr id="4" name="投影片編號版面配置區 3"/>
          <p:cNvSpPr>
            <a:spLocks noGrp="1"/>
          </p:cNvSpPr>
          <p:nvPr>
            <p:ph type="sldNum" sz="quarter" idx="10"/>
          </p:nvPr>
        </p:nvSpPr>
        <p:spPr/>
        <p:txBody>
          <a:bodyPr/>
          <a:lstStyle/>
          <a:p>
            <a:fld id="{C9DD4855-1C41-43D4-90E2-4FC762E039CE}" type="slidenum">
              <a:rPr lang="zh-TW" altLang="en-US" smtClean="0"/>
              <a:t>6</a:t>
            </a:fld>
            <a:endParaRPr lang="zh-TW" altLang="en-US"/>
          </a:p>
        </p:txBody>
      </p:sp>
    </p:spTree>
    <p:extLst>
      <p:ext uri="{BB962C8B-B14F-4D97-AF65-F5344CB8AC3E}">
        <p14:creationId xmlns:p14="http://schemas.microsoft.com/office/powerpoint/2010/main" val="664791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9DD4855-1C41-43D4-90E2-4FC762E039CE}" type="slidenum">
              <a:rPr lang="zh-TW" altLang="en-US" smtClean="0"/>
              <a:t>7</a:t>
            </a:fld>
            <a:endParaRPr lang="zh-TW" altLang="en-US"/>
          </a:p>
        </p:txBody>
      </p:sp>
    </p:spTree>
    <p:extLst>
      <p:ext uri="{BB962C8B-B14F-4D97-AF65-F5344CB8AC3E}">
        <p14:creationId xmlns:p14="http://schemas.microsoft.com/office/powerpoint/2010/main" val="984049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9DD4855-1C41-43D4-90E2-4FC762E039CE}" type="slidenum">
              <a:rPr lang="zh-TW" altLang="en-US" smtClean="0"/>
              <a:t>10</a:t>
            </a:fld>
            <a:endParaRPr lang="zh-TW" altLang="en-US"/>
          </a:p>
        </p:txBody>
      </p:sp>
    </p:spTree>
    <p:extLst>
      <p:ext uri="{BB962C8B-B14F-4D97-AF65-F5344CB8AC3E}">
        <p14:creationId xmlns:p14="http://schemas.microsoft.com/office/powerpoint/2010/main" val="58304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108789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3639398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2114263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3698069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2072241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2194844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2002271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1476071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3993923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2401051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8A763711-00B6-43D3-A7A2-519D47454CFD}" type="slidenum">
              <a:rPr lang="zh-TW" altLang="en-US" smtClean="0"/>
              <a:t>‹#›</a:t>
            </a:fld>
            <a:endParaRPr lang="zh-TW" alt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70435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zh-TW" altLang="en-US" smtClean="0"/>
              <a:t>按一下以編輯母片標題樣式</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4285519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A763711-00B6-43D3-A7A2-519D47454CFD}" type="slidenum">
              <a:rPr lang="zh-TW" altLang="en-US" smtClean="0"/>
              <a:t>‹#›</a:t>
            </a:fld>
            <a:endParaRPr lang="zh-TW" alt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26500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3556288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3113905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2106984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5BBDB22-19C2-46E1-BB19-EE28B3AA3DC3}" type="datetimeFigureOut">
              <a:rPr lang="zh-TW" altLang="en-US" smtClean="0"/>
              <a:t>2013/12/18</a:t>
            </a:fld>
            <a:endParaRPr lang="zh-TW" alt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8A763711-00B6-43D3-A7A2-519D47454CFD}" type="slidenum">
              <a:rPr lang="zh-TW" altLang="en-US" smtClean="0"/>
              <a:t>‹#›</a:t>
            </a:fld>
            <a:endParaRPr lang="zh-TW" altLang="en-US"/>
          </a:p>
        </p:txBody>
      </p:sp>
    </p:spTree>
    <p:extLst>
      <p:ext uri="{BB962C8B-B14F-4D97-AF65-F5344CB8AC3E}">
        <p14:creationId xmlns:p14="http://schemas.microsoft.com/office/powerpoint/2010/main" val="417513537"/>
      </p:ext>
    </p:extLst>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 id="2147483996" r:id="rId14"/>
    <p:sldLayoutId id="2147483997" r:id="rId15"/>
    <p:sldLayoutId id="214748399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61704" y="874707"/>
            <a:ext cx="6858000" cy="2932107"/>
          </a:xfrm>
        </p:spPr>
        <p:txBody>
          <a:bodyPr>
            <a:normAutofit/>
          </a:bodyPr>
          <a:lstStyle/>
          <a:p>
            <a:pPr algn="ctr"/>
            <a:r>
              <a:rPr lang="en-US" altLang="zh-TW" sz="4500" b="1" dirty="0">
                <a:solidFill>
                  <a:schemeClr val="accent2">
                    <a:lumMod val="75000"/>
                  </a:schemeClr>
                </a:solidFill>
                <a:latin typeface="+mn-ea"/>
                <a:ea typeface="+mn-ea"/>
              </a:rPr>
              <a:t>Minimal Mutation Trees of Sequences</a:t>
            </a:r>
            <a:endParaRPr lang="zh-TW" altLang="en-US" sz="4500" b="1" dirty="0">
              <a:solidFill>
                <a:schemeClr val="accent2">
                  <a:lumMod val="75000"/>
                </a:schemeClr>
              </a:solidFill>
              <a:latin typeface="+mn-ea"/>
              <a:ea typeface="+mn-ea"/>
            </a:endParaRPr>
          </a:p>
        </p:txBody>
      </p:sp>
      <p:sp>
        <p:nvSpPr>
          <p:cNvPr id="3" name="副標題 2"/>
          <p:cNvSpPr>
            <a:spLocks noGrp="1"/>
          </p:cNvSpPr>
          <p:nvPr>
            <p:ph type="subTitle" idx="1"/>
          </p:nvPr>
        </p:nvSpPr>
        <p:spPr>
          <a:xfrm>
            <a:off x="1761778" y="4401589"/>
            <a:ext cx="6239222" cy="1227284"/>
          </a:xfrm>
        </p:spPr>
        <p:txBody>
          <a:bodyPr>
            <a:normAutofit fontScale="55000" lnSpcReduction="20000"/>
          </a:bodyPr>
          <a:lstStyle/>
          <a:p>
            <a:pPr algn="r"/>
            <a:r>
              <a:rPr lang="en-US" altLang="zh-TW" b="1" dirty="0" smtClean="0">
                <a:latin typeface="微軟正黑體" panose="020B0604030504040204" pitchFamily="34" charset="-120"/>
                <a:ea typeface="微軟正黑體" panose="020B0604030504040204" pitchFamily="34" charset="-120"/>
              </a:rPr>
              <a:t>Author(s</a:t>
            </a:r>
            <a:r>
              <a:rPr lang="en-US" altLang="zh-TW" b="1" dirty="0">
                <a:latin typeface="微軟正黑體" panose="020B0604030504040204" pitchFamily="34" charset="-120"/>
                <a:ea typeface="微軟正黑體" panose="020B0604030504040204" pitchFamily="34" charset="-120"/>
              </a:rPr>
              <a:t>): David </a:t>
            </a:r>
            <a:r>
              <a:rPr lang="en-US" altLang="zh-TW" b="1" dirty="0" err="1" smtClean="0">
                <a:latin typeface="微軟正黑體" panose="020B0604030504040204" pitchFamily="34" charset="-120"/>
                <a:ea typeface="微軟正黑體" panose="020B0604030504040204" pitchFamily="34" charset="-120"/>
              </a:rPr>
              <a:t>Sankoff</a:t>
            </a:r>
            <a:endParaRPr lang="en-US" altLang="zh-TW" b="1" dirty="0" smtClean="0">
              <a:latin typeface="微軟正黑體" panose="020B0604030504040204" pitchFamily="34" charset="-120"/>
              <a:ea typeface="微軟正黑體" panose="020B0604030504040204" pitchFamily="34" charset="-120"/>
            </a:endParaRPr>
          </a:p>
          <a:p>
            <a:pPr algn="r"/>
            <a:r>
              <a:rPr lang="en-US" altLang="zh-TW" b="1" dirty="0" smtClean="0">
                <a:latin typeface="微軟正黑體" panose="020B0604030504040204" pitchFamily="34" charset="-120"/>
                <a:ea typeface="微軟正黑體" panose="020B0604030504040204" pitchFamily="34" charset="-120"/>
              </a:rPr>
              <a:t>Source</a:t>
            </a:r>
            <a:r>
              <a:rPr lang="en-US" altLang="zh-TW" b="1" dirty="0">
                <a:latin typeface="微軟正黑體" panose="020B0604030504040204" pitchFamily="34" charset="-120"/>
                <a:ea typeface="微軟正黑體" panose="020B0604030504040204" pitchFamily="34" charset="-120"/>
              </a:rPr>
              <a:t>: </a:t>
            </a:r>
            <a:r>
              <a:rPr lang="en-US" altLang="zh-TW" b="1" dirty="0" smtClean="0">
                <a:latin typeface="微軟正黑體" panose="020B0604030504040204" pitchFamily="34" charset="-120"/>
                <a:ea typeface="微軟正黑體" panose="020B0604030504040204" pitchFamily="34" charset="-120"/>
              </a:rPr>
              <a:t>SIAM </a:t>
            </a:r>
            <a:r>
              <a:rPr lang="en-US" altLang="zh-TW" b="1" dirty="0">
                <a:latin typeface="微軟正黑體" panose="020B0604030504040204" pitchFamily="34" charset="-120"/>
                <a:ea typeface="微軟正黑體" panose="020B0604030504040204" pitchFamily="34" charset="-120"/>
              </a:rPr>
              <a:t>Journal on Applied Mathematics, </a:t>
            </a:r>
            <a:endParaRPr lang="en-US" altLang="zh-TW" b="1" dirty="0" smtClean="0">
              <a:latin typeface="微軟正黑體" panose="020B0604030504040204" pitchFamily="34" charset="-120"/>
              <a:ea typeface="微軟正黑體" panose="020B0604030504040204" pitchFamily="34" charset="-120"/>
            </a:endParaRPr>
          </a:p>
          <a:p>
            <a:pPr algn="r"/>
            <a:r>
              <a:rPr lang="en-US" altLang="zh-TW" b="1" dirty="0" smtClean="0">
                <a:latin typeface="微軟正黑體" panose="020B0604030504040204" pitchFamily="34" charset="-120"/>
                <a:ea typeface="微軟正黑體" panose="020B0604030504040204" pitchFamily="34" charset="-120"/>
              </a:rPr>
              <a:t>Vol</a:t>
            </a:r>
            <a:r>
              <a:rPr lang="en-US" altLang="zh-TW" b="1" dirty="0">
                <a:latin typeface="微軟正黑體" panose="020B0604030504040204" pitchFamily="34" charset="-120"/>
                <a:ea typeface="微軟正黑體" panose="020B0604030504040204" pitchFamily="34" charset="-120"/>
              </a:rPr>
              <a:t>. 28, No. 1 (Jan., 1975), pp. </a:t>
            </a:r>
            <a:r>
              <a:rPr lang="en-US" altLang="zh-TW" b="1" dirty="0" smtClean="0">
                <a:latin typeface="微軟正黑體" panose="020B0604030504040204" pitchFamily="34" charset="-120"/>
                <a:ea typeface="微軟正黑體" panose="020B0604030504040204" pitchFamily="34" charset="-120"/>
              </a:rPr>
              <a:t>35-42</a:t>
            </a:r>
          </a:p>
          <a:p>
            <a:pPr algn="r"/>
            <a:r>
              <a:rPr lang="en-US" altLang="zh-TW" b="1" dirty="0" smtClean="0">
                <a:latin typeface="微軟正黑體" panose="020B0604030504040204" pitchFamily="34" charset="-120"/>
                <a:ea typeface="微軟正黑體" panose="020B0604030504040204" pitchFamily="34" charset="-120"/>
              </a:rPr>
              <a:t>PRESRNTER: Ding-Yao Huang</a:t>
            </a:r>
          </a:p>
          <a:p>
            <a:pPr algn="r"/>
            <a:r>
              <a:rPr lang="en-US" altLang="zh-TW" b="1" dirty="0" smtClean="0">
                <a:latin typeface="微軟正黑體" panose="020B0604030504040204" pitchFamily="34" charset="-120"/>
                <a:ea typeface="微軟正黑體" panose="020B0604030504040204" pitchFamily="34" charset="-120"/>
              </a:rPr>
              <a:t>DATE:2013/12/18</a:t>
            </a:r>
            <a:endParaRPr lang="zh-TW" altLang="en-US"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925564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solidFill>
                  <a:schemeClr val="accent2">
                    <a:lumMod val="75000"/>
                  </a:schemeClr>
                </a:solidFill>
                <a:latin typeface="微軟正黑體" panose="020B0604030504040204" pitchFamily="34" charset="-120"/>
                <a:ea typeface="微軟正黑體" panose="020B0604030504040204" pitchFamily="34" charset="-120"/>
              </a:rPr>
              <a:t>Abstrac</a:t>
            </a:r>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a:t>
            </a:r>
            <a:endParaRPr lang="zh-TW" altLang="en-US" b="1" dirty="0">
              <a:solidFill>
                <a:schemeClr val="accent2">
                  <a:lumMod val="75000"/>
                </a:schemeClr>
              </a:solidFill>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a:xfrm>
            <a:off x="449705" y="2083633"/>
            <a:ext cx="8574373" cy="3702570"/>
          </a:xfrm>
        </p:spPr>
        <p:txBody>
          <a:bodyPr>
            <a:noAutofit/>
          </a:bodyPr>
          <a:lstStyle/>
          <a:p>
            <a:r>
              <a:rPr lang="en-US" altLang="zh-TW" sz="2800" b="1" dirty="0"/>
              <a:t>Given a finite tree, some of whose vertices are identified with given finite sequences, we show how to construct sequences for all the remaining vertices simultaneously, so as to minimize the total edge-length of the tree.</a:t>
            </a:r>
          </a:p>
          <a:p>
            <a:endParaRPr lang="en-US" altLang="zh-TW" sz="2800" b="1" dirty="0"/>
          </a:p>
          <a:p>
            <a:r>
              <a:rPr lang="en-US" altLang="zh-TW" sz="2800" b="1" dirty="0"/>
              <a:t>Edge-length is calculated by a metric whose biological significance is the mutational distance between two sequences</a:t>
            </a:r>
            <a:r>
              <a:rPr lang="en-US" altLang="zh-TW" sz="2400" b="1" dirty="0"/>
              <a:t>. </a:t>
            </a:r>
            <a:endParaRPr lang="zh-TW" altLang="en-US" sz="2400" b="1" dirty="0"/>
          </a:p>
        </p:txBody>
      </p:sp>
    </p:spTree>
    <p:extLst>
      <p:ext uri="{BB962C8B-B14F-4D97-AF65-F5344CB8AC3E}">
        <p14:creationId xmlns:p14="http://schemas.microsoft.com/office/powerpoint/2010/main" val="36941133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01735" y="669419"/>
            <a:ext cx="6589199" cy="1280890"/>
          </a:xfrm>
        </p:spPr>
        <p:txBody>
          <a:bodyPr/>
          <a:lstStyle/>
          <a:p>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Abstract</a:t>
            </a:r>
            <a:endParaRPr lang="zh-TW" altLang="en-US" dirty="0"/>
          </a:p>
        </p:txBody>
      </p:sp>
      <p:sp>
        <p:nvSpPr>
          <p:cNvPr id="50" name="文字方塊 49"/>
          <p:cNvSpPr txBox="1"/>
          <p:nvPr/>
        </p:nvSpPr>
        <p:spPr>
          <a:xfrm>
            <a:off x="6115387" y="5512110"/>
            <a:ext cx="3048000" cy="707886"/>
          </a:xfrm>
          <a:prstGeom prst="rect">
            <a:avLst/>
          </a:prstGeom>
          <a:noFill/>
        </p:spPr>
        <p:txBody>
          <a:bodyPr wrap="square" rtlCol="0">
            <a:spAutoFit/>
          </a:bodyPr>
          <a:lstStyle/>
          <a:p>
            <a:r>
              <a:rPr lang="zh-TW" altLang="en-US" sz="2000" dirty="0" smtClean="0"/>
              <a:t>目的在於要讓</a:t>
            </a:r>
            <a:r>
              <a:rPr lang="en-US" altLang="zh-TW" sz="2000" dirty="0" smtClean="0"/>
              <a:t>total edge distance</a:t>
            </a:r>
            <a:r>
              <a:rPr lang="zh-TW" altLang="en-US" sz="2000" dirty="0" smtClean="0"/>
              <a:t> 最小</a:t>
            </a:r>
            <a:endParaRPr lang="zh-TW" altLang="en-US" sz="2000" dirty="0"/>
          </a:p>
        </p:txBody>
      </p:sp>
      <p:sp>
        <p:nvSpPr>
          <p:cNvPr id="17" name="橢圓 16"/>
          <p:cNvSpPr/>
          <p:nvPr/>
        </p:nvSpPr>
        <p:spPr>
          <a:xfrm>
            <a:off x="860492" y="2872997"/>
            <a:ext cx="103567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a:solidFill>
                  <a:srgbClr val="FF0000"/>
                </a:solidFill>
              </a:rPr>
              <a:t>a</a:t>
            </a:r>
            <a:r>
              <a:rPr lang="en-US" altLang="zh-TW" b="1" dirty="0" err="1"/>
              <a:t>b</a:t>
            </a:r>
            <a:r>
              <a:rPr lang="en-US" altLang="zh-TW" b="1" dirty="0" err="1">
                <a:solidFill>
                  <a:srgbClr val="00B0F0"/>
                </a:solidFill>
              </a:rPr>
              <a:t>c</a:t>
            </a:r>
            <a:endParaRPr lang="zh-TW" altLang="en-US" b="1" dirty="0">
              <a:solidFill>
                <a:srgbClr val="00B0F0"/>
              </a:solidFill>
            </a:endParaRPr>
          </a:p>
        </p:txBody>
      </p:sp>
      <p:sp>
        <p:nvSpPr>
          <p:cNvPr id="18" name="橢圓 17"/>
          <p:cNvSpPr/>
          <p:nvPr/>
        </p:nvSpPr>
        <p:spPr>
          <a:xfrm>
            <a:off x="2572224" y="3851862"/>
            <a:ext cx="769885"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19" name="橢圓 18"/>
          <p:cNvSpPr/>
          <p:nvPr/>
        </p:nvSpPr>
        <p:spPr>
          <a:xfrm>
            <a:off x="3536244" y="2926840"/>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20" name="橢圓 19"/>
          <p:cNvSpPr/>
          <p:nvPr/>
        </p:nvSpPr>
        <p:spPr>
          <a:xfrm>
            <a:off x="860492" y="4938520"/>
            <a:ext cx="91638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sp>
        <p:nvSpPr>
          <p:cNvPr id="21" name="橢圓 20"/>
          <p:cNvSpPr/>
          <p:nvPr/>
        </p:nvSpPr>
        <p:spPr>
          <a:xfrm>
            <a:off x="4814845" y="3616465"/>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22" name="橢圓 21"/>
          <p:cNvSpPr/>
          <p:nvPr/>
        </p:nvSpPr>
        <p:spPr>
          <a:xfrm>
            <a:off x="4724648" y="1590570"/>
            <a:ext cx="921203" cy="5708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7030A0"/>
                </a:solidFill>
              </a:rPr>
              <a:t>g</a:t>
            </a:r>
            <a:r>
              <a:rPr lang="en-US" altLang="zh-TW" b="1" dirty="0" err="1" smtClean="0">
                <a:solidFill>
                  <a:srgbClr val="FFC000"/>
                </a:solidFill>
              </a:rPr>
              <a:t>d</a:t>
            </a:r>
            <a:r>
              <a:rPr lang="en-US" altLang="zh-TW" b="1" dirty="0" err="1" smtClean="0">
                <a:solidFill>
                  <a:srgbClr val="00B0F0"/>
                </a:solidFill>
              </a:rPr>
              <a:t>c</a:t>
            </a:r>
            <a:endParaRPr lang="zh-TW" altLang="en-US" b="1" dirty="0">
              <a:solidFill>
                <a:srgbClr val="00B0F0"/>
              </a:solidFill>
            </a:endParaRPr>
          </a:p>
        </p:txBody>
      </p:sp>
      <p:sp>
        <p:nvSpPr>
          <p:cNvPr id="23" name="橢圓 22"/>
          <p:cNvSpPr/>
          <p:nvPr/>
        </p:nvSpPr>
        <p:spPr>
          <a:xfrm>
            <a:off x="5829199" y="2903746"/>
            <a:ext cx="959652"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smtClean="0">
                <a:solidFill>
                  <a:srgbClr val="7030A0"/>
                </a:solidFill>
              </a:rPr>
              <a:t>g</a:t>
            </a:r>
            <a:r>
              <a:rPr lang="en-US" altLang="zh-TW" b="1" dirty="0" smtClean="0">
                <a:solidFill>
                  <a:srgbClr val="FF0000"/>
                </a:solidFill>
              </a:rPr>
              <a:t>a</a:t>
            </a:r>
            <a:r>
              <a:rPr lang="en-US" altLang="zh-TW" b="1" dirty="0" smtClean="0">
                <a:solidFill>
                  <a:srgbClr val="FFC000"/>
                </a:solidFill>
              </a:rPr>
              <a:t>d</a:t>
            </a:r>
            <a:endParaRPr lang="zh-TW" altLang="en-US" b="1" dirty="0">
              <a:solidFill>
                <a:srgbClr val="FFC000"/>
              </a:solidFill>
            </a:endParaRPr>
          </a:p>
        </p:txBody>
      </p:sp>
      <p:sp>
        <p:nvSpPr>
          <p:cNvPr id="24" name="橢圓 23"/>
          <p:cNvSpPr/>
          <p:nvPr/>
        </p:nvSpPr>
        <p:spPr>
          <a:xfrm>
            <a:off x="3771424" y="4938520"/>
            <a:ext cx="70437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25" name="直線接點 24"/>
          <p:cNvCxnSpPr>
            <a:stCxn id="17" idx="5"/>
            <a:endCxn id="18" idx="1"/>
          </p:cNvCxnSpPr>
          <p:nvPr/>
        </p:nvCxnSpPr>
        <p:spPr>
          <a:xfrm>
            <a:off x="1744492" y="3362587"/>
            <a:ext cx="94047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線接點 25"/>
          <p:cNvCxnSpPr>
            <a:stCxn id="20" idx="7"/>
            <a:endCxn id="18" idx="3"/>
          </p:cNvCxnSpPr>
          <p:nvPr/>
        </p:nvCxnSpPr>
        <p:spPr>
          <a:xfrm flipV="1">
            <a:off x="1642672" y="4341452"/>
            <a:ext cx="104229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線接點 26"/>
          <p:cNvCxnSpPr>
            <a:stCxn id="18" idx="5"/>
            <a:endCxn id="24" idx="1"/>
          </p:cNvCxnSpPr>
          <p:nvPr/>
        </p:nvCxnSpPr>
        <p:spPr>
          <a:xfrm>
            <a:off x="3229362" y="4341452"/>
            <a:ext cx="645215"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接點 27"/>
          <p:cNvCxnSpPr>
            <a:stCxn id="24" idx="7"/>
          </p:cNvCxnSpPr>
          <p:nvPr/>
        </p:nvCxnSpPr>
        <p:spPr>
          <a:xfrm flipV="1">
            <a:off x="4372645" y="4171667"/>
            <a:ext cx="640567" cy="85085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線接點 28"/>
          <p:cNvCxnSpPr>
            <a:stCxn id="19" idx="5"/>
            <a:endCxn id="21" idx="1"/>
          </p:cNvCxnSpPr>
          <p:nvPr/>
        </p:nvCxnSpPr>
        <p:spPr>
          <a:xfrm>
            <a:off x="4338204" y="3416430"/>
            <a:ext cx="605470" cy="28403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線接點 29"/>
          <p:cNvCxnSpPr>
            <a:stCxn id="19" idx="6"/>
            <a:endCxn id="23" idx="2"/>
          </p:cNvCxnSpPr>
          <p:nvPr/>
        </p:nvCxnSpPr>
        <p:spPr>
          <a:xfrm flipV="1">
            <a:off x="4475798" y="3190541"/>
            <a:ext cx="1353401" cy="23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線接點 30"/>
          <p:cNvCxnSpPr>
            <a:stCxn id="19" idx="0"/>
            <a:endCxn id="22" idx="3"/>
          </p:cNvCxnSpPr>
          <p:nvPr/>
        </p:nvCxnSpPr>
        <p:spPr>
          <a:xfrm flipV="1">
            <a:off x="4006021" y="2077804"/>
            <a:ext cx="853534" cy="849036"/>
          </a:xfrm>
          <a:prstGeom prst="line">
            <a:avLst/>
          </a:prstGeom>
        </p:spPr>
        <p:style>
          <a:lnRef idx="1">
            <a:schemeClr val="accent1"/>
          </a:lnRef>
          <a:fillRef idx="0">
            <a:schemeClr val="accent1"/>
          </a:fillRef>
          <a:effectRef idx="0">
            <a:schemeClr val="accent1"/>
          </a:effectRef>
          <a:fontRef idx="minor">
            <a:schemeClr val="tx1"/>
          </a:fontRef>
        </p:style>
      </p:cxnSp>
      <p:sp>
        <p:nvSpPr>
          <p:cNvPr id="32" name="橢圓 31"/>
          <p:cNvSpPr/>
          <p:nvPr/>
        </p:nvSpPr>
        <p:spPr>
          <a:xfrm>
            <a:off x="3225021" y="5988884"/>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33" name="橢圓 32"/>
          <p:cNvSpPr/>
          <p:nvPr/>
        </p:nvSpPr>
        <p:spPr>
          <a:xfrm>
            <a:off x="4903308" y="5970812"/>
            <a:ext cx="9658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r>
              <a:rPr lang="en-US" altLang="zh-TW" b="1">
                <a:solidFill>
                  <a:srgbClr val="00B050"/>
                </a:solidFill>
              </a:rPr>
              <a:t>b</a:t>
            </a:r>
            <a:r>
              <a:rPr lang="en-US" altLang="zh-TW" b="1">
                <a:solidFill>
                  <a:srgbClr val="00B0F0"/>
                </a:solidFill>
              </a:rPr>
              <a:t>c</a:t>
            </a:r>
            <a:r>
              <a:rPr lang="en-US" altLang="zh-TW" b="1">
                <a:solidFill>
                  <a:srgbClr val="FFC000"/>
                </a:solidFill>
              </a:rPr>
              <a:t>d</a:t>
            </a:r>
            <a:endParaRPr lang="zh-TW" altLang="en-US" b="1" dirty="0">
              <a:solidFill>
                <a:srgbClr val="FFC000"/>
              </a:solidFill>
            </a:endParaRPr>
          </a:p>
        </p:txBody>
      </p:sp>
      <p:cxnSp>
        <p:nvCxnSpPr>
          <p:cNvPr id="34" name="直線接點 33"/>
          <p:cNvCxnSpPr>
            <a:stCxn id="24" idx="3"/>
            <a:endCxn id="32" idx="0"/>
          </p:cNvCxnSpPr>
          <p:nvPr/>
        </p:nvCxnSpPr>
        <p:spPr>
          <a:xfrm flipH="1">
            <a:off x="3609135" y="5428110"/>
            <a:ext cx="265442"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線接點 34"/>
          <p:cNvCxnSpPr>
            <a:stCxn id="32" idx="6"/>
            <a:endCxn id="33" idx="1"/>
          </p:cNvCxnSpPr>
          <p:nvPr/>
        </p:nvCxnSpPr>
        <p:spPr>
          <a:xfrm flipV="1">
            <a:off x="3993249" y="6054812"/>
            <a:ext cx="1051500" cy="22086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775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74165" y="624110"/>
            <a:ext cx="7260236" cy="1280890"/>
          </a:xfrm>
        </p:spPr>
        <p:txBody>
          <a:bodyPr/>
          <a:lstStyle/>
          <a:p>
            <a:r>
              <a:rPr lang="en-US" altLang="zh-TW" b="1" dirty="0">
                <a:solidFill>
                  <a:schemeClr val="accent2">
                    <a:lumMod val="75000"/>
                  </a:schemeClr>
                </a:solidFill>
                <a:latin typeface="+mj-ea"/>
              </a:rPr>
              <a:t>Introduction-mutation distance</a:t>
            </a:r>
            <a:endParaRPr lang="zh-TW" altLang="en-US" dirty="0"/>
          </a:p>
        </p:txBody>
      </p:sp>
      <p:sp>
        <p:nvSpPr>
          <p:cNvPr id="3" name="內容版面配置區 2"/>
          <p:cNvSpPr>
            <a:spLocks noGrp="1"/>
          </p:cNvSpPr>
          <p:nvPr>
            <p:ph idx="1"/>
          </p:nvPr>
        </p:nvSpPr>
        <p:spPr>
          <a:xfrm>
            <a:off x="1498303" y="3928056"/>
            <a:ext cx="6193114" cy="3402345"/>
          </a:xfrm>
        </p:spPr>
        <p:txBody>
          <a:bodyPr>
            <a:normAutofit/>
          </a:bodyPr>
          <a:lstStyle/>
          <a:p>
            <a:r>
              <a:rPr lang="en-US" altLang="zh-TW" sz="3200" b="1" dirty="0"/>
              <a:t>Ex: </a:t>
            </a:r>
            <a:r>
              <a:rPr lang="en-US" altLang="zh-TW" sz="3200" dirty="0" smtClean="0"/>
              <a:t>λ= 4</a:t>
            </a:r>
            <a:endParaRPr lang="en-US" altLang="zh-TW" sz="3200" b="1" dirty="0" smtClean="0"/>
          </a:p>
          <a:p>
            <a:r>
              <a:rPr lang="en-US" altLang="zh-TW" sz="3200" b="1" dirty="0" smtClean="0"/>
              <a:t>x=(</a:t>
            </a:r>
            <a:r>
              <a:rPr lang="en-US" altLang="zh-TW" sz="3200" b="1" dirty="0" smtClean="0">
                <a:solidFill>
                  <a:srgbClr val="FF0000"/>
                </a:solidFill>
              </a:rPr>
              <a:t>A</a:t>
            </a:r>
            <a:r>
              <a:rPr lang="en-US" altLang="zh-TW" sz="3200" b="1" dirty="0" smtClean="0"/>
              <a:t>,</a:t>
            </a:r>
            <a:r>
              <a:rPr lang="en-US" altLang="zh-TW" sz="3200" b="1" dirty="0" smtClean="0">
                <a:solidFill>
                  <a:srgbClr val="7030A0"/>
                </a:solidFill>
              </a:rPr>
              <a:t>A</a:t>
            </a:r>
            <a:r>
              <a:rPr lang="en-US" altLang="zh-TW" sz="3200" b="1" dirty="0" smtClean="0"/>
              <a:t>,</a:t>
            </a:r>
            <a:r>
              <a:rPr lang="en-US" altLang="zh-TW" sz="3200" b="1" dirty="0" smtClean="0">
                <a:solidFill>
                  <a:srgbClr val="00B050"/>
                </a:solidFill>
              </a:rPr>
              <a:t>G</a:t>
            </a:r>
            <a:r>
              <a:rPr lang="en-US" altLang="zh-TW" sz="3200" b="1" dirty="0" smtClean="0"/>
              <a:t>,</a:t>
            </a:r>
            <a:r>
              <a:rPr lang="en-US" altLang="zh-TW" sz="3200" b="1" dirty="0" smtClean="0">
                <a:solidFill>
                  <a:srgbClr val="00B0F0"/>
                </a:solidFill>
              </a:rPr>
              <a:t>C</a:t>
            </a:r>
            <a:r>
              <a:rPr lang="en-US" altLang="zh-TW" sz="3200" b="1" dirty="0" smtClean="0"/>
              <a:t>),</a:t>
            </a:r>
            <a:r>
              <a:rPr lang="en-US" altLang="zh-TW" sz="3200" b="1" dirty="0"/>
              <a:t>y</a:t>
            </a:r>
            <a:r>
              <a:rPr lang="en-US" altLang="zh-TW" sz="3200" b="1" dirty="0" smtClean="0"/>
              <a:t>=(</a:t>
            </a:r>
            <a:r>
              <a:rPr lang="en-US" altLang="zh-TW" sz="3200" b="1" dirty="0" smtClean="0">
                <a:solidFill>
                  <a:srgbClr val="FF0000"/>
                </a:solidFill>
              </a:rPr>
              <a:t>A</a:t>
            </a:r>
            <a:r>
              <a:rPr lang="en-US" altLang="zh-TW" sz="3200" b="1" dirty="0" smtClean="0"/>
              <a:t>,</a:t>
            </a:r>
            <a:r>
              <a:rPr lang="en-US" altLang="zh-TW" sz="3200" b="1" dirty="0">
                <a:solidFill>
                  <a:srgbClr val="7030A0"/>
                </a:solidFill>
              </a:rPr>
              <a:t>G</a:t>
            </a:r>
            <a:r>
              <a:rPr lang="en-US" altLang="zh-TW" sz="3200" b="1" dirty="0" smtClean="0"/>
              <a:t>,</a:t>
            </a:r>
            <a:r>
              <a:rPr lang="en-US" altLang="zh-TW" sz="3200" b="1" dirty="0" smtClean="0">
                <a:solidFill>
                  <a:srgbClr val="00B050"/>
                </a:solidFill>
              </a:rPr>
              <a:t>G</a:t>
            </a:r>
            <a:r>
              <a:rPr lang="en-US" altLang="zh-TW" sz="3200" b="1" dirty="0" smtClean="0"/>
              <a:t>,A,</a:t>
            </a:r>
            <a:r>
              <a:rPr lang="en-US" altLang="zh-TW" sz="3200" b="1" dirty="0" smtClean="0">
                <a:solidFill>
                  <a:srgbClr val="00B0F0"/>
                </a:solidFill>
              </a:rPr>
              <a:t>C</a:t>
            </a:r>
            <a:r>
              <a:rPr lang="en-US" altLang="zh-TW" sz="3200" b="1" dirty="0" smtClean="0"/>
              <a:t>)</a:t>
            </a:r>
            <a:endParaRPr lang="en-US" altLang="zh-TW" sz="3200" b="1" dirty="0"/>
          </a:p>
          <a:p>
            <a:r>
              <a:rPr lang="en-US" altLang="zh-TW" sz="3200" b="1" dirty="0"/>
              <a:t>d(x,y)=</a:t>
            </a:r>
            <a:r>
              <a:rPr lang="en-US" altLang="zh-TW" sz="3200" b="1" dirty="0" smtClean="0"/>
              <a:t>4+5-max(</a:t>
            </a:r>
            <a:r>
              <a:rPr lang="en-US" altLang="zh-TW" sz="3200" b="1" dirty="0" smtClean="0">
                <a:solidFill>
                  <a:srgbClr val="FF0000"/>
                </a:solidFill>
              </a:rPr>
              <a:t>2</a:t>
            </a:r>
            <a:r>
              <a:rPr lang="en-US" altLang="zh-TW" sz="3200" b="1" dirty="0" smtClean="0"/>
              <a:t>+</a:t>
            </a:r>
            <a:r>
              <a:rPr lang="en-US" altLang="zh-TW" sz="3200" b="1" dirty="0" smtClean="0">
                <a:solidFill>
                  <a:srgbClr val="7030A0"/>
                </a:solidFill>
              </a:rPr>
              <a:t>1</a:t>
            </a:r>
            <a:r>
              <a:rPr lang="en-US" altLang="zh-TW" sz="3200" b="1" dirty="0" smtClean="0"/>
              <a:t>+</a:t>
            </a:r>
            <a:r>
              <a:rPr lang="en-US" altLang="zh-TW" sz="3200" b="1" dirty="0" smtClean="0">
                <a:solidFill>
                  <a:srgbClr val="00B050"/>
                </a:solidFill>
              </a:rPr>
              <a:t>2</a:t>
            </a:r>
            <a:r>
              <a:rPr lang="en-US" altLang="zh-TW" sz="3200" b="1" dirty="0" smtClean="0"/>
              <a:t>+</a:t>
            </a:r>
            <a:r>
              <a:rPr lang="en-US" altLang="zh-TW" sz="3200" b="1" dirty="0" smtClean="0">
                <a:solidFill>
                  <a:srgbClr val="00B0F0"/>
                </a:solidFill>
              </a:rPr>
              <a:t>2</a:t>
            </a:r>
            <a:r>
              <a:rPr lang="en-US" altLang="zh-TW" sz="3200" b="1" dirty="0"/>
              <a:t>)=2</a:t>
            </a:r>
            <a:endParaRPr lang="zh-TW" altLang="en-US" sz="3200" b="1" dirty="0"/>
          </a:p>
        </p:txBody>
      </p:sp>
      <p:pic>
        <p:nvPicPr>
          <p:cNvPr id="4" name="圖片 3"/>
          <p:cNvPicPr>
            <a:picLocks noChangeAspect="1"/>
          </p:cNvPicPr>
          <p:nvPr/>
        </p:nvPicPr>
        <p:blipFill>
          <a:blip r:embed="rId2"/>
          <a:stretch>
            <a:fillRect/>
          </a:stretch>
        </p:blipFill>
        <p:spPr>
          <a:xfrm>
            <a:off x="552504" y="1981941"/>
            <a:ext cx="8087774" cy="1855963"/>
          </a:xfrm>
          <a:prstGeom prst="rect">
            <a:avLst/>
          </a:prstGeom>
        </p:spPr>
      </p:pic>
      <p:cxnSp>
        <p:nvCxnSpPr>
          <p:cNvPr id="6" name="直線單箭頭接點 5"/>
          <p:cNvCxnSpPr/>
          <p:nvPr/>
        </p:nvCxnSpPr>
        <p:spPr>
          <a:xfrm>
            <a:off x="3132944" y="4437088"/>
            <a:ext cx="0" cy="22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5653790" y="4437088"/>
            <a:ext cx="14990" cy="254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13311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00165" y="552464"/>
            <a:ext cx="7543800" cy="1450757"/>
          </a:xfrm>
        </p:spPr>
        <p:txBody>
          <a:bodyPr/>
          <a:lstStyle/>
          <a:p>
            <a:r>
              <a:rPr lang="en-US" altLang="zh-TW" b="1" dirty="0" smtClean="0">
                <a:solidFill>
                  <a:schemeClr val="accent2">
                    <a:lumMod val="75000"/>
                  </a:schemeClr>
                </a:solidFill>
                <a:latin typeface="+mj-ea"/>
              </a:rPr>
              <a:t>Introduction-mutation distance</a:t>
            </a:r>
            <a:endParaRPr lang="zh-TW" altLang="en-US" dirty="0"/>
          </a:p>
        </p:txBody>
      </p:sp>
      <p:graphicFrame>
        <p:nvGraphicFramePr>
          <p:cNvPr id="8" name="內容版面配置區 7"/>
          <p:cNvGraphicFramePr>
            <a:graphicFrameLocks noGrp="1"/>
          </p:cNvGraphicFramePr>
          <p:nvPr>
            <p:ph idx="1"/>
            <p:extLst>
              <p:ext uri="{D42A27DB-BD31-4B8C-83A1-F6EECF244321}">
                <p14:modId xmlns:p14="http://schemas.microsoft.com/office/powerpoint/2010/main" val="4121047509"/>
              </p:ext>
            </p:extLst>
          </p:nvPr>
        </p:nvGraphicFramePr>
        <p:xfrm>
          <a:off x="1835000" y="3581132"/>
          <a:ext cx="4950539" cy="2289220"/>
        </p:xfrm>
        <a:graphic>
          <a:graphicData uri="http://schemas.openxmlformats.org/drawingml/2006/table">
            <a:tbl>
              <a:tblPr firstRow="1" firstCol="1" bandRow="1">
                <a:tableStyleId>{93296810-A885-4BE3-A3E7-6D5BEEA58F35}</a:tableStyleId>
              </a:tblPr>
              <a:tblGrid>
                <a:gridCol w="1067765"/>
                <a:gridCol w="647129"/>
                <a:gridCol w="647129"/>
                <a:gridCol w="647129"/>
                <a:gridCol w="647129"/>
                <a:gridCol w="647129"/>
                <a:gridCol w="647129"/>
              </a:tblGrid>
              <a:tr h="386898">
                <a:tc>
                  <a:txBody>
                    <a:bodyPr/>
                    <a:lstStyle/>
                    <a:p>
                      <a:pPr algn="r">
                        <a:spcAft>
                          <a:spcPts val="0"/>
                        </a:spcAft>
                      </a:pPr>
                      <a:r>
                        <a:rPr lang="en-US" sz="1800" kern="100" dirty="0">
                          <a:effectLst/>
                        </a:rPr>
                        <a:t>Row/Col</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86898">
                <a:tc>
                  <a:txBody>
                    <a:bodyPr/>
                    <a:lstStyle/>
                    <a:p>
                      <a:pPr algn="r">
                        <a:spcAft>
                          <a:spcPts val="0"/>
                        </a:spcAft>
                      </a:pPr>
                      <a:r>
                        <a:rPr lang="en-US" sz="1800" kern="100">
                          <a:effectLst/>
                        </a:rPr>
                        <a:t>0</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0</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dirty="0">
                          <a:effectLst/>
                        </a:rPr>
                        <a:t>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5</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86898">
                <a:tc>
                  <a:txBody>
                    <a:bodyPr/>
                    <a:lstStyle/>
                    <a:p>
                      <a:pPr algn="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1</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70814">
                <a:tc>
                  <a:txBody>
                    <a:bodyPr/>
                    <a:lstStyle/>
                    <a:p>
                      <a:pPr algn="r">
                        <a:spcAft>
                          <a:spcPts val="0"/>
                        </a:spcAft>
                      </a:pPr>
                      <a:r>
                        <a:rPr lang="en-US" sz="1800" kern="100" dirty="0">
                          <a:effectLst/>
                        </a:rPr>
                        <a:t>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2</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86898">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3</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r h="370814">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r>
                        <a:rPr lang="en-US" sz="1800" kern="100">
                          <a:effectLst/>
                        </a:rPr>
                        <a:t>4</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c>
                  <a:txBody>
                    <a:bodyPr/>
                    <a:lstStyle/>
                    <a:p>
                      <a:pPr algn="r">
                        <a:spcAft>
                          <a:spcPts val="0"/>
                        </a:spcAft>
                      </a:pP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51435" marR="51435" marT="0" marB="0"/>
                </a:tc>
              </a:tr>
            </a:tbl>
          </a:graphicData>
        </a:graphic>
      </p:graphicFrame>
      <p:pic>
        <p:nvPicPr>
          <p:cNvPr id="7" name="圖片 6"/>
          <p:cNvPicPr>
            <a:picLocks noChangeAspect="1"/>
          </p:cNvPicPr>
          <p:nvPr/>
        </p:nvPicPr>
        <p:blipFill>
          <a:blip r:embed="rId2"/>
          <a:stretch>
            <a:fillRect/>
          </a:stretch>
        </p:blipFill>
        <p:spPr>
          <a:xfrm>
            <a:off x="1682864" y="2047715"/>
            <a:ext cx="5823992" cy="990788"/>
          </a:xfrm>
          <a:prstGeom prst="rect">
            <a:avLst/>
          </a:prstGeom>
        </p:spPr>
      </p:pic>
      <p:graphicFrame>
        <p:nvGraphicFramePr>
          <p:cNvPr id="3" name="表格 2"/>
          <p:cNvGraphicFramePr>
            <a:graphicFrameLocks noGrp="1"/>
          </p:cNvGraphicFramePr>
          <p:nvPr>
            <p:extLst>
              <p:ext uri="{D42A27DB-BD31-4B8C-83A1-F6EECF244321}">
                <p14:modId xmlns:p14="http://schemas.microsoft.com/office/powerpoint/2010/main" val="1576854254"/>
              </p:ext>
            </p:extLst>
          </p:nvPr>
        </p:nvGraphicFramePr>
        <p:xfrm>
          <a:off x="3541688" y="3197988"/>
          <a:ext cx="3243853" cy="370840"/>
        </p:xfrm>
        <a:graphic>
          <a:graphicData uri="http://schemas.openxmlformats.org/drawingml/2006/table">
            <a:tbl>
              <a:tblPr firstRow="1" bandRow="1">
                <a:tableStyleId>{306799F8-075E-4A3A-A7F6-7FBC6576F1A4}</a:tableStyleId>
              </a:tblPr>
              <a:tblGrid>
                <a:gridCol w="677204"/>
                <a:gridCol w="610684"/>
                <a:gridCol w="643943"/>
                <a:gridCol w="643944"/>
                <a:gridCol w="668078"/>
              </a:tblGrid>
              <a:tr h="370840">
                <a:tc>
                  <a:txBody>
                    <a:bodyPr/>
                    <a:lstStyle/>
                    <a:p>
                      <a:pPr algn="r"/>
                      <a:r>
                        <a:rPr lang="en-US" altLang="zh-TW" dirty="0" smtClean="0"/>
                        <a:t>A</a:t>
                      </a:r>
                      <a:endParaRPr lang="zh-TW" altLang="en-US" dirty="0"/>
                    </a:p>
                  </a:txBody>
                  <a:tcPr/>
                </a:tc>
                <a:tc>
                  <a:txBody>
                    <a:bodyPr/>
                    <a:lstStyle/>
                    <a:p>
                      <a:pPr algn="r"/>
                      <a:r>
                        <a:rPr lang="en-US" altLang="zh-TW" dirty="0" smtClean="0"/>
                        <a:t>G</a:t>
                      </a:r>
                      <a:endParaRPr lang="zh-TW" altLang="en-US" dirty="0"/>
                    </a:p>
                  </a:txBody>
                  <a:tcPr/>
                </a:tc>
                <a:tc>
                  <a:txBody>
                    <a:bodyPr/>
                    <a:lstStyle/>
                    <a:p>
                      <a:pPr algn="r"/>
                      <a:r>
                        <a:rPr lang="en-US" altLang="zh-TW" dirty="0" smtClean="0"/>
                        <a:t>G</a:t>
                      </a:r>
                      <a:endParaRPr lang="zh-TW" altLang="en-US" dirty="0"/>
                    </a:p>
                  </a:txBody>
                  <a:tcPr/>
                </a:tc>
                <a:tc>
                  <a:txBody>
                    <a:bodyPr/>
                    <a:lstStyle/>
                    <a:p>
                      <a:pPr algn="r"/>
                      <a:r>
                        <a:rPr lang="en-US" altLang="zh-TW" dirty="0" smtClean="0"/>
                        <a:t>A</a:t>
                      </a:r>
                      <a:endParaRPr lang="zh-TW" altLang="en-US" dirty="0"/>
                    </a:p>
                  </a:txBody>
                  <a:tcPr/>
                </a:tc>
                <a:tc>
                  <a:txBody>
                    <a:bodyPr/>
                    <a:lstStyle/>
                    <a:p>
                      <a:pPr algn="r"/>
                      <a:r>
                        <a:rPr lang="en-US" altLang="zh-TW" dirty="0" smtClean="0"/>
                        <a:t>C</a:t>
                      </a:r>
                      <a:endParaRPr lang="zh-TW" altLang="en-US" dirty="0"/>
                    </a:p>
                  </a:txBody>
                  <a:tcPr/>
                </a:tc>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2635758013"/>
              </p:ext>
            </p:extLst>
          </p:nvPr>
        </p:nvGraphicFramePr>
        <p:xfrm>
          <a:off x="1068946" y="4375242"/>
          <a:ext cx="592427" cy="1483360"/>
        </p:xfrm>
        <a:graphic>
          <a:graphicData uri="http://schemas.openxmlformats.org/drawingml/2006/table">
            <a:tbl>
              <a:tblPr firstRow="1" bandRow="1">
                <a:tableStyleId>{306799F8-075E-4A3A-A7F6-7FBC6576F1A4}</a:tableStyleId>
              </a:tblPr>
              <a:tblGrid>
                <a:gridCol w="592427"/>
              </a:tblGrid>
              <a:tr h="370840">
                <a:tc>
                  <a:txBody>
                    <a:bodyPr/>
                    <a:lstStyle/>
                    <a:p>
                      <a:pPr algn="r"/>
                      <a:r>
                        <a:rPr lang="en-US" altLang="zh-TW" dirty="0" smtClean="0"/>
                        <a:t>A</a:t>
                      </a:r>
                      <a:endParaRPr lang="zh-TW" altLang="en-US" dirty="0"/>
                    </a:p>
                  </a:txBody>
                  <a:tcPr/>
                </a:tc>
              </a:tr>
              <a:tr h="370840">
                <a:tc>
                  <a:txBody>
                    <a:bodyPr/>
                    <a:lstStyle/>
                    <a:p>
                      <a:pPr algn="r"/>
                      <a:r>
                        <a:rPr lang="en-US" altLang="zh-TW" dirty="0" smtClean="0"/>
                        <a:t>A</a:t>
                      </a:r>
                      <a:endParaRPr lang="zh-TW" altLang="en-US" dirty="0"/>
                    </a:p>
                  </a:txBody>
                  <a:tcPr/>
                </a:tc>
              </a:tr>
              <a:tr h="370840">
                <a:tc>
                  <a:txBody>
                    <a:bodyPr/>
                    <a:lstStyle/>
                    <a:p>
                      <a:pPr algn="r"/>
                      <a:r>
                        <a:rPr lang="en-US" altLang="zh-TW" dirty="0" smtClean="0"/>
                        <a:t>G</a:t>
                      </a:r>
                      <a:endParaRPr lang="zh-TW" altLang="en-US" dirty="0"/>
                    </a:p>
                  </a:txBody>
                  <a:tcPr/>
                </a:tc>
              </a:tr>
              <a:tr h="370840">
                <a:tc>
                  <a:txBody>
                    <a:bodyPr/>
                    <a:lstStyle/>
                    <a:p>
                      <a:pPr algn="r"/>
                      <a:r>
                        <a:rPr lang="en-US" altLang="zh-TW" dirty="0" smtClean="0"/>
                        <a:t>C</a:t>
                      </a:r>
                      <a:endParaRPr lang="zh-TW" altLang="en-US" dirty="0"/>
                    </a:p>
                  </a:txBody>
                  <a:tcPr/>
                </a:tc>
              </a:tr>
            </a:tbl>
          </a:graphicData>
        </a:graphic>
      </p:graphicFrame>
      <p:sp>
        <p:nvSpPr>
          <p:cNvPr id="19" name="框架 18"/>
          <p:cNvSpPr/>
          <p:nvPr/>
        </p:nvSpPr>
        <p:spPr>
          <a:xfrm>
            <a:off x="3512937" y="3136758"/>
            <a:ext cx="772732" cy="424197"/>
          </a:xfrm>
          <a:prstGeom prst="frame">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zh-TW" altLang="en-US">
              <a:solidFill>
                <a:schemeClr val="tx1"/>
              </a:solidFill>
            </a:endParaRPr>
          </a:p>
        </p:txBody>
      </p:sp>
      <p:sp>
        <p:nvSpPr>
          <p:cNvPr id="20" name="框架 19"/>
          <p:cNvSpPr/>
          <p:nvPr/>
        </p:nvSpPr>
        <p:spPr>
          <a:xfrm>
            <a:off x="1056068" y="4329988"/>
            <a:ext cx="688194" cy="424197"/>
          </a:xfrm>
          <a:prstGeom prst="frame">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zh-TW" altLang="en-US">
              <a:solidFill>
                <a:schemeClr val="tx1"/>
              </a:solidFill>
            </a:endParaRPr>
          </a:p>
        </p:txBody>
      </p:sp>
      <p:cxnSp>
        <p:nvCxnSpPr>
          <p:cNvPr id="25" name="直線單箭頭接點 24"/>
          <p:cNvCxnSpPr/>
          <p:nvPr/>
        </p:nvCxnSpPr>
        <p:spPr>
          <a:xfrm flipH="1" flipV="1">
            <a:off x="3512937" y="4251371"/>
            <a:ext cx="183748" cy="157233"/>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28" name="直線單箭頭接點 27"/>
          <p:cNvCxnSpPr/>
          <p:nvPr/>
        </p:nvCxnSpPr>
        <p:spPr>
          <a:xfrm flipV="1">
            <a:off x="3899303" y="4198514"/>
            <a:ext cx="0" cy="21009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直線單箭頭接點 30"/>
          <p:cNvCxnSpPr/>
          <p:nvPr/>
        </p:nvCxnSpPr>
        <p:spPr>
          <a:xfrm flipH="1">
            <a:off x="3512937" y="4542086"/>
            <a:ext cx="18374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2" name="文字方塊 31"/>
          <p:cNvSpPr txBox="1"/>
          <p:nvPr/>
        </p:nvSpPr>
        <p:spPr>
          <a:xfrm>
            <a:off x="6838682" y="3402786"/>
            <a:ext cx="2305318" cy="646331"/>
          </a:xfrm>
          <a:prstGeom prst="rect">
            <a:avLst/>
          </a:prstGeom>
          <a:noFill/>
        </p:spPr>
        <p:txBody>
          <a:bodyPr wrap="square" rtlCol="0">
            <a:spAutoFit/>
          </a:bodyPr>
          <a:lstStyle/>
          <a:p>
            <a:r>
              <a:rPr lang="en-US" altLang="zh-TW" dirty="0" smtClean="0"/>
              <a:t>d(1,1)=1+min(1,0-1,1) =0</a:t>
            </a:r>
            <a:endParaRPr lang="zh-TW" altLang="en-US" dirty="0"/>
          </a:p>
        </p:txBody>
      </p:sp>
      <p:graphicFrame>
        <p:nvGraphicFramePr>
          <p:cNvPr id="33" name="表格 32"/>
          <p:cNvGraphicFramePr>
            <a:graphicFrameLocks noGrp="1"/>
          </p:cNvGraphicFramePr>
          <p:nvPr>
            <p:extLst>
              <p:ext uri="{D42A27DB-BD31-4B8C-83A1-F6EECF244321}">
                <p14:modId xmlns:p14="http://schemas.microsoft.com/office/powerpoint/2010/main" val="3911022799"/>
              </p:ext>
            </p:extLst>
          </p:nvPr>
        </p:nvGraphicFramePr>
        <p:xfrm>
          <a:off x="3558461" y="4359206"/>
          <a:ext cx="626772" cy="365760"/>
        </p:xfrm>
        <a:graphic>
          <a:graphicData uri="http://schemas.openxmlformats.org/drawingml/2006/table">
            <a:tbl>
              <a:tblPr firstRow="1" bandRow="1">
                <a:tableStyleId>{5C22544A-7EE6-4342-B048-85BDC9FD1C3A}</a:tableStyleId>
              </a:tblPr>
              <a:tblGrid>
                <a:gridCol w="626772"/>
              </a:tblGrid>
              <a:tr h="283676">
                <a:tc>
                  <a:txBody>
                    <a:bodyPr/>
                    <a:lstStyle/>
                    <a:p>
                      <a:pPr algn="r"/>
                      <a:r>
                        <a:rPr lang="en-US" altLang="zh-TW" dirty="0" smtClean="0"/>
                        <a:t>0</a:t>
                      </a:r>
                      <a:endParaRPr lang="zh-TW" altLang="en-US" dirty="0"/>
                    </a:p>
                  </a:txBody>
                  <a:tcPr/>
                </a:tc>
              </a:tr>
            </a:tbl>
          </a:graphicData>
        </a:graphic>
      </p:graphicFrame>
      <p:cxnSp>
        <p:nvCxnSpPr>
          <p:cNvPr id="14" name="直線單箭頭接點 13"/>
          <p:cNvCxnSpPr/>
          <p:nvPr/>
        </p:nvCxnSpPr>
        <p:spPr>
          <a:xfrm flipH="1" flipV="1">
            <a:off x="4101921" y="4251371"/>
            <a:ext cx="183748" cy="157233"/>
          </a:xfrm>
          <a:prstGeom prst="straightConnector1">
            <a:avLst/>
          </a:prstGeom>
          <a:ln>
            <a:solidFill>
              <a:schemeClr val="accent1">
                <a:lumMod val="75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15" name="直線單箭頭接點 14"/>
          <p:cNvCxnSpPr/>
          <p:nvPr/>
        </p:nvCxnSpPr>
        <p:spPr>
          <a:xfrm flipV="1">
            <a:off x="4411014" y="4146326"/>
            <a:ext cx="0" cy="21009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直線單箭頭接點 15"/>
          <p:cNvCxnSpPr/>
          <p:nvPr/>
        </p:nvCxnSpPr>
        <p:spPr>
          <a:xfrm flipH="1">
            <a:off x="4101921" y="4542086"/>
            <a:ext cx="183748" cy="0"/>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17" name="框架 16"/>
          <p:cNvSpPr/>
          <p:nvPr/>
        </p:nvSpPr>
        <p:spPr>
          <a:xfrm>
            <a:off x="4232442" y="3143993"/>
            <a:ext cx="610014" cy="424197"/>
          </a:xfrm>
          <a:prstGeom prst="frame">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zh-TW" altLang="en-US">
              <a:solidFill>
                <a:schemeClr val="tx1"/>
              </a:solidFill>
            </a:endParaRPr>
          </a:p>
        </p:txBody>
      </p:sp>
      <p:sp>
        <p:nvSpPr>
          <p:cNvPr id="21" name="框架 20"/>
          <p:cNvSpPr/>
          <p:nvPr/>
        </p:nvSpPr>
        <p:spPr>
          <a:xfrm>
            <a:off x="1056068" y="4329988"/>
            <a:ext cx="688194" cy="424197"/>
          </a:xfrm>
          <a:prstGeom prst="frame">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zh-TW" altLang="en-US">
              <a:solidFill>
                <a:schemeClr val="tx1"/>
              </a:solidFill>
            </a:endParaRPr>
          </a:p>
        </p:txBody>
      </p:sp>
      <p:sp>
        <p:nvSpPr>
          <p:cNvPr id="22" name="框架 21"/>
          <p:cNvSpPr/>
          <p:nvPr/>
        </p:nvSpPr>
        <p:spPr>
          <a:xfrm>
            <a:off x="6119177" y="3161956"/>
            <a:ext cx="719505" cy="424197"/>
          </a:xfrm>
          <a:prstGeom prst="frame">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zh-TW" altLang="en-US">
              <a:solidFill>
                <a:schemeClr val="tx1"/>
              </a:solidFill>
            </a:endParaRPr>
          </a:p>
        </p:txBody>
      </p:sp>
      <p:sp>
        <p:nvSpPr>
          <p:cNvPr id="23" name="框架 22"/>
          <p:cNvSpPr/>
          <p:nvPr/>
        </p:nvSpPr>
        <p:spPr>
          <a:xfrm>
            <a:off x="1001993" y="5419031"/>
            <a:ext cx="742269" cy="424197"/>
          </a:xfrm>
          <a:prstGeom prst="frame">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lang="zh-TW" altLang="en-US">
              <a:solidFill>
                <a:schemeClr val="tx1"/>
              </a:solidFill>
            </a:endParaRPr>
          </a:p>
        </p:txBody>
      </p:sp>
      <p:graphicFrame>
        <p:nvGraphicFramePr>
          <p:cNvPr id="24" name="表格 23"/>
          <p:cNvGraphicFramePr>
            <a:graphicFrameLocks noGrp="1"/>
          </p:cNvGraphicFramePr>
          <p:nvPr>
            <p:extLst>
              <p:ext uri="{D42A27DB-BD31-4B8C-83A1-F6EECF244321}">
                <p14:modId xmlns:p14="http://schemas.microsoft.com/office/powerpoint/2010/main" val="2381762121"/>
              </p:ext>
            </p:extLst>
          </p:nvPr>
        </p:nvGraphicFramePr>
        <p:xfrm>
          <a:off x="4215684" y="4359206"/>
          <a:ext cx="626772" cy="365760"/>
        </p:xfrm>
        <a:graphic>
          <a:graphicData uri="http://schemas.openxmlformats.org/drawingml/2006/table">
            <a:tbl>
              <a:tblPr firstRow="1" bandRow="1">
                <a:tableStyleId>{5C22544A-7EE6-4342-B048-85BDC9FD1C3A}</a:tableStyleId>
              </a:tblPr>
              <a:tblGrid>
                <a:gridCol w="626772"/>
              </a:tblGrid>
              <a:tr h="283676">
                <a:tc>
                  <a:txBody>
                    <a:bodyPr/>
                    <a:lstStyle/>
                    <a:p>
                      <a:pPr algn="r"/>
                      <a:r>
                        <a:rPr lang="en-US" altLang="zh-TW" dirty="0" smtClean="0"/>
                        <a:t>1</a:t>
                      </a:r>
                      <a:endParaRPr lang="zh-TW" altLang="en-US" dirty="0"/>
                    </a:p>
                  </a:txBody>
                  <a:tcPr/>
                </a:tc>
              </a:tr>
            </a:tbl>
          </a:graphicData>
        </a:graphic>
      </p:graphicFrame>
      <p:sp>
        <p:nvSpPr>
          <p:cNvPr id="26" name="文字方塊 25"/>
          <p:cNvSpPr txBox="1"/>
          <p:nvPr/>
        </p:nvSpPr>
        <p:spPr>
          <a:xfrm>
            <a:off x="6838682" y="3983242"/>
            <a:ext cx="2305318" cy="646331"/>
          </a:xfrm>
          <a:prstGeom prst="rect">
            <a:avLst/>
          </a:prstGeom>
          <a:noFill/>
        </p:spPr>
        <p:txBody>
          <a:bodyPr wrap="square" rtlCol="0">
            <a:spAutoFit/>
          </a:bodyPr>
          <a:lstStyle/>
          <a:p>
            <a:r>
              <a:rPr lang="en-US" altLang="zh-TW" dirty="0" smtClean="0"/>
              <a:t>d(1,2)=1+min(0,1,2)</a:t>
            </a:r>
          </a:p>
          <a:p>
            <a:r>
              <a:rPr lang="en-US" altLang="zh-TW" dirty="0"/>
              <a:t> </a:t>
            </a:r>
            <a:r>
              <a:rPr lang="en-US" altLang="zh-TW" dirty="0" smtClean="0"/>
              <a:t>         =1</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909640162"/>
              </p:ext>
            </p:extLst>
          </p:nvPr>
        </p:nvGraphicFramePr>
        <p:xfrm>
          <a:off x="3539139" y="4356416"/>
          <a:ext cx="3195485" cy="1483360"/>
        </p:xfrm>
        <a:graphic>
          <a:graphicData uri="http://schemas.openxmlformats.org/drawingml/2006/table">
            <a:tbl>
              <a:tblPr firstRow="1" bandRow="1">
                <a:tableStyleId>{5C22544A-7EE6-4342-B048-85BDC9FD1C3A}</a:tableStyleId>
              </a:tblPr>
              <a:tblGrid>
                <a:gridCol w="639097"/>
                <a:gridCol w="639097"/>
                <a:gridCol w="639097"/>
                <a:gridCol w="639097"/>
                <a:gridCol w="639097"/>
              </a:tblGrid>
              <a:tr h="370840">
                <a:tc>
                  <a:txBody>
                    <a:bodyPr/>
                    <a:lstStyle/>
                    <a:p>
                      <a:pPr algn="r"/>
                      <a:r>
                        <a:rPr lang="en-US" altLang="zh-TW" dirty="0" smtClean="0"/>
                        <a:t>0</a:t>
                      </a:r>
                      <a:endParaRPr lang="zh-TW" altLang="en-US" dirty="0"/>
                    </a:p>
                  </a:txBody>
                  <a:tcPr/>
                </a:tc>
                <a:tc>
                  <a:txBody>
                    <a:bodyPr/>
                    <a:lstStyle/>
                    <a:p>
                      <a:pPr algn="r"/>
                      <a:r>
                        <a:rPr lang="en-US" altLang="zh-TW" dirty="0" smtClean="0"/>
                        <a:t>1</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3</a:t>
                      </a:r>
                      <a:endParaRPr lang="zh-TW" altLang="en-US" dirty="0"/>
                    </a:p>
                  </a:txBody>
                  <a:tcPr/>
                </a:tc>
                <a:tc>
                  <a:txBody>
                    <a:bodyPr/>
                    <a:lstStyle/>
                    <a:p>
                      <a:pPr algn="r"/>
                      <a:r>
                        <a:rPr lang="en-US" altLang="zh-TW" dirty="0" smtClean="0"/>
                        <a:t>4</a:t>
                      </a:r>
                      <a:endParaRPr lang="zh-TW" altLang="en-US" dirty="0"/>
                    </a:p>
                  </a:txBody>
                  <a:tcPr/>
                </a:tc>
              </a:tr>
              <a:tr h="370840">
                <a:tc>
                  <a:txBody>
                    <a:bodyPr/>
                    <a:lstStyle/>
                    <a:p>
                      <a:pPr algn="r"/>
                      <a:r>
                        <a:rPr lang="en-US" altLang="zh-TW" dirty="0" smtClean="0"/>
                        <a:t>1</a:t>
                      </a:r>
                      <a:endParaRPr lang="zh-TW" altLang="en-US" dirty="0"/>
                    </a:p>
                  </a:txBody>
                  <a:tcPr/>
                </a:tc>
                <a:tc>
                  <a:txBody>
                    <a:bodyPr/>
                    <a:lstStyle/>
                    <a:p>
                      <a:pPr algn="r"/>
                      <a:r>
                        <a:rPr lang="en-US" altLang="zh-TW" dirty="0" smtClean="0"/>
                        <a:t>1</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3</a:t>
                      </a:r>
                      <a:endParaRPr lang="zh-TW" altLang="en-US" dirty="0"/>
                    </a:p>
                  </a:txBody>
                  <a:tcPr/>
                </a:tc>
              </a:tr>
              <a:tr h="370840">
                <a:tc>
                  <a:txBody>
                    <a:bodyPr/>
                    <a:lstStyle/>
                    <a:p>
                      <a:pPr algn="r"/>
                      <a:r>
                        <a:rPr lang="en-US" altLang="zh-TW" dirty="0" smtClean="0"/>
                        <a:t>2</a:t>
                      </a:r>
                      <a:endParaRPr lang="zh-TW" altLang="en-US" dirty="0"/>
                    </a:p>
                  </a:txBody>
                  <a:tcPr/>
                </a:tc>
                <a:tc>
                  <a:txBody>
                    <a:bodyPr/>
                    <a:lstStyle/>
                    <a:p>
                      <a:pPr algn="r"/>
                      <a:r>
                        <a:rPr lang="en-US" altLang="zh-TW" dirty="0" smtClean="0"/>
                        <a:t>1</a:t>
                      </a:r>
                      <a:endParaRPr lang="zh-TW" altLang="en-US" dirty="0"/>
                    </a:p>
                  </a:txBody>
                  <a:tcPr/>
                </a:tc>
                <a:tc>
                  <a:txBody>
                    <a:bodyPr/>
                    <a:lstStyle/>
                    <a:p>
                      <a:pPr algn="r"/>
                      <a:r>
                        <a:rPr lang="en-US" altLang="zh-TW" dirty="0" smtClean="0"/>
                        <a:t>1</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3</a:t>
                      </a:r>
                      <a:endParaRPr lang="zh-TW" altLang="en-US" dirty="0"/>
                    </a:p>
                  </a:txBody>
                  <a:tcPr/>
                </a:tc>
              </a:tr>
              <a:tr h="370840">
                <a:tc>
                  <a:txBody>
                    <a:bodyPr/>
                    <a:lstStyle/>
                    <a:p>
                      <a:pPr algn="r"/>
                      <a:r>
                        <a:rPr lang="en-US" altLang="zh-TW" dirty="0" smtClean="0"/>
                        <a:t>3</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2</a:t>
                      </a:r>
                      <a:endParaRPr lang="zh-TW" altLang="en-US" dirty="0"/>
                    </a:p>
                  </a:txBody>
                  <a:tcPr/>
                </a:tc>
                <a:tc>
                  <a:txBody>
                    <a:bodyPr/>
                    <a:lstStyle/>
                    <a:p>
                      <a:pPr algn="r"/>
                      <a:endParaRPr lang="zh-TW" altLang="en-US" dirty="0"/>
                    </a:p>
                  </a:txBody>
                  <a:tcPr/>
                </a:tc>
              </a:tr>
            </a:tbl>
          </a:graphicData>
        </a:graphic>
      </p:graphicFrame>
      <p:cxnSp>
        <p:nvCxnSpPr>
          <p:cNvPr id="27" name="直線單箭頭接點 26"/>
          <p:cNvCxnSpPr/>
          <p:nvPr/>
        </p:nvCxnSpPr>
        <p:spPr>
          <a:xfrm flipH="1" flipV="1">
            <a:off x="6090843" y="5355972"/>
            <a:ext cx="183748" cy="157233"/>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29" name="直線單箭頭接點 28"/>
          <p:cNvCxnSpPr/>
          <p:nvPr/>
        </p:nvCxnSpPr>
        <p:spPr>
          <a:xfrm flipV="1">
            <a:off x="6454884" y="5329544"/>
            <a:ext cx="0" cy="21009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直線單箭頭接點 29"/>
          <p:cNvCxnSpPr/>
          <p:nvPr/>
        </p:nvCxnSpPr>
        <p:spPr>
          <a:xfrm flipH="1">
            <a:off x="6056495" y="5594211"/>
            <a:ext cx="18374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文字方塊 33"/>
          <p:cNvSpPr txBox="1"/>
          <p:nvPr/>
        </p:nvSpPr>
        <p:spPr>
          <a:xfrm>
            <a:off x="6838682" y="4554062"/>
            <a:ext cx="2305318" cy="646331"/>
          </a:xfrm>
          <a:prstGeom prst="rect">
            <a:avLst/>
          </a:prstGeom>
          <a:noFill/>
        </p:spPr>
        <p:txBody>
          <a:bodyPr wrap="square" rtlCol="0">
            <a:spAutoFit/>
          </a:bodyPr>
          <a:lstStyle/>
          <a:p>
            <a:r>
              <a:rPr lang="en-US" altLang="zh-TW" dirty="0" smtClean="0"/>
              <a:t>d(4,5)=1+min(2,2-1,3) =2</a:t>
            </a:r>
            <a:endParaRPr lang="zh-TW" altLang="en-US" dirty="0"/>
          </a:p>
        </p:txBody>
      </p:sp>
      <p:graphicFrame>
        <p:nvGraphicFramePr>
          <p:cNvPr id="10" name="表格 9"/>
          <p:cNvGraphicFramePr>
            <a:graphicFrameLocks noGrp="1"/>
          </p:cNvGraphicFramePr>
          <p:nvPr>
            <p:extLst>
              <p:ext uri="{D42A27DB-BD31-4B8C-83A1-F6EECF244321}">
                <p14:modId xmlns:p14="http://schemas.microsoft.com/office/powerpoint/2010/main" val="1782358576"/>
              </p:ext>
            </p:extLst>
          </p:nvPr>
        </p:nvGraphicFramePr>
        <p:xfrm>
          <a:off x="6086475" y="5472388"/>
          <a:ext cx="616474" cy="370840"/>
        </p:xfrm>
        <a:graphic>
          <a:graphicData uri="http://schemas.openxmlformats.org/drawingml/2006/table">
            <a:tbl>
              <a:tblPr firstRow="1" bandRow="1">
                <a:tableStyleId>{5C22544A-7EE6-4342-B048-85BDC9FD1C3A}</a:tableStyleId>
              </a:tblPr>
              <a:tblGrid>
                <a:gridCol w="616474"/>
              </a:tblGrid>
              <a:tr h="370840">
                <a:tc>
                  <a:txBody>
                    <a:bodyPr/>
                    <a:lstStyle/>
                    <a:p>
                      <a:pPr algn="r"/>
                      <a:r>
                        <a:rPr lang="en-US" altLang="zh-TW" dirty="0" smtClean="0"/>
                        <a:t>2</a:t>
                      </a:r>
                      <a:endParaRPr lang="zh-TW" altLang="en-US" dirty="0"/>
                    </a:p>
                  </a:txBody>
                  <a:tcPr/>
                </a:tc>
              </a:tr>
            </a:tbl>
          </a:graphicData>
        </a:graphic>
      </p:graphicFrame>
    </p:spTree>
    <p:extLst>
      <p:ext uri="{BB962C8B-B14F-4D97-AF65-F5344CB8AC3E}">
        <p14:creationId xmlns:p14="http://schemas.microsoft.com/office/powerpoint/2010/main" val="318118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28"/>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1"/>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hidden"/>
                                      </p:to>
                                    </p:set>
                                  </p:childTnLst>
                                </p:cTn>
                              </p:par>
                            </p:childTnLst>
                          </p:cTn>
                        </p:par>
                        <p:par>
                          <p:cTn id="37" fill="hold">
                            <p:stCondLst>
                              <p:cond delay="0"/>
                            </p:stCondLst>
                            <p:childTnLst>
                              <p:par>
                                <p:cTn id="38" presetID="1" presetClass="exit" presetSubtype="0" fill="hold" grpId="1" nodeType="afterEffect">
                                  <p:stCondLst>
                                    <p:cond delay="0"/>
                                  </p:stCondLst>
                                  <p:childTnLst>
                                    <p:set>
                                      <p:cBhvr>
                                        <p:cTn id="39" dur="1" fill="hold">
                                          <p:stCondLst>
                                            <p:cond delay="0"/>
                                          </p:stCondLst>
                                        </p:cTn>
                                        <p:tgtEl>
                                          <p:spTgt spid="3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15"/>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14"/>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16"/>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24"/>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1" nodeType="clickEffect">
                                  <p:stCondLst>
                                    <p:cond delay="0"/>
                                  </p:stCondLst>
                                  <p:childTnLst>
                                    <p:set>
                                      <p:cBhvr>
                                        <p:cTn id="69" dur="1" fill="hold">
                                          <p:stCondLst>
                                            <p:cond delay="0"/>
                                          </p:stCondLst>
                                        </p:cTn>
                                        <p:tgtEl>
                                          <p:spTgt spid="21"/>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17"/>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24"/>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26"/>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4"/>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27"/>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nodeType="clickEffect">
                                  <p:stCondLst>
                                    <p:cond delay="0"/>
                                  </p:stCondLst>
                                  <p:childTnLst>
                                    <p:set>
                                      <p:cBhvr>
                                        <p:cTn id="95" dur="1" fill="hold">
                                          <p:stCondLst>
                                            <p:cond delay="0"/>
                                          </p:stCondLst>
                                        </p:cTn>
                                        <p:tgtEl>
                                          <p:spTgt spid="29"/>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27"/>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30"/>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4"/>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10"/>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34"/>
                                        </p:tgtEl>
                                        <p:attrNameLst>
                                          <p:attrName>style.visibility</p:attrName>
                                        </p:attrNameLst>
                                      </p:cBhvr>
                                      <p:to>
                                        <p:strVal val="hidden"/>
                                      </p:to>
                                    </p:set>
                                  </p:childTnLst>
                                </p:cTn>
                              </p:par>
                            </p:childTnLst>
                          </p:cTn>
                        </p:par>
                        <p:par>
                          <p:cTn id="110" fill="hold">
                            <p:stCondLst>
                              <p:cond delay="0"/>
                            </p:stCondLst>
                            <p:childTnLst>
                              <p:par>
                                <p:cTn id="111" presetID="1" presetClass="exit" presetSubtype="0" fill="hold" grpId="1" nodeType="afterEffect">
                                  <p:stCondLst>
                                    <p:cond delay="0"/>
                                  </p:stCondLst>
                                  <p:childTnLst>
                                    <p:set>
                                      <p:cBhvr>
                                        <p:cTn id="112" dur="1" fill="hold">
                                          <p:stCondLst>
                                            <p:cond delay="0"/>
                                          </p:stCondLst>
                                        </p:cTn>
                                        <p:tgtEl>
                                          <p:spTgt spid="22"/>
                                        </p:tgtEl>
                                        <p:attrNameLst>
                                          <p:attrName>style.visibility</p:attrName>
                                        </p:attrNameLst>
                                      </p:cBhvr>
                                      <p:to>
                                        <p:strVal val="hidden"/>
                                      </p:to>
                                    </p:set>
                                  </p:childTnLst>
                                </p:cTn>
                              </p:par>
                            </p:childTnLst>
                          </p:cTn>
                        </p:par>
                        <p:par>
                          <p:cTn id="113" fill="hold">
                            <p:stCondLst>
                              <p:cond delay="0"/>
                            </p:stCondLst>
                            <p:childTnLst>
                              <p:par>
                                <p:cTn id="114" presetID="1" presetClass="exit" presetSubtype="0" fill="hold" grpId="1" nodeType="afterEffect">
                                  <p:stCondLst>
                                    <p:cond delay="0"/>
                                  </p:stCondLst>
                                  <p:childTnLst>
                                    <p:set>
                                      <p:cBhvr>
                                        <p:cTn id="115"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P spid="20" grpId="1" animBg="1"/>
      <p:bldP spid="32" grpId="0"/>
      <p:bldP spid="32" grpId="1"/>
      <p:bldP spid="17" grpId="0" animBg="1"/>
      <p:bldP spid="17" grpId="1" animBg="1"/>
      <p:bldP spid="21" grpId="0" animBg="1"/>
      <p:bldP spid="21" grpId="1" animBg="1"/>
      <p:bldP spid="22" grpId="0" animBg="1"/>
      <p:bldP spid="22" grpId="1" animBg="1"/>
      <p:bldP spid="23" grpId="0" animBg="1"/>
      <p:bldP spid="23" grpId="1" animBg="1"/>
      <p:bldP spid="26" grpId="0"/>
      <p:bldP spid="26" grpId="1"/>
      <p:bldP spid="34" grpId="0"/>
      <p:bldP spid="3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solidFill>
                  <a:schemeClr val="accent2">
                    <a:lumMod val="75000"/>
                  </a:schemeClr>
                </a:solidFill>
                <a:latin typeface="+mj-ea"/>
              </a:rPr>
              <a:t>The frame sequence of a tree of sequences </a:t>
            </a:r>
            <a:endParaRPr lang="zh-TW" altLang="en-US" b="1" dirty="0">
              <a:solidFill>
                <a:schemeClr val="accent2">
                  <a:lumMod val="75000"/>
                </a:schemeClr>
              </a:solidFill>
              <a:latin typeface="+mj-ea"/>
            </a:endParaRPr>
          </a:p>
        </p:txBody>
      </p:sp>
      <p:sp>
        <p:nvSpPr>
          <p:cNvPr id="3" name="內容版面配置區 2"/>
          <p:cNvSpPr>
            <a:spLocks noGrp="1"/>
          </p:cNvSpPr>
          <p:nvPr>
            <p:ph idx="1"/>
          </p:nvPr>
        </p:nvSpPr>
        <p:spPr>
          <a:xfrm>
            <a:off x="1347488" y="2354963"/>
            <a:ext cx="7289443" cy="3949879"/>
          </a:xfrm>
        </p:spPr>
        <p:txBody>
          <a:bodyPr>
            <a:normAutofit/>
          </a:bodyPr>
          <a:lstStyle/>
          <a:p>
            <a:endParaRPr lang="en-US" altLang="zh-TW" dirty="0" smtClean="0"/>
          </a:p>
          <a:p>
            <a:endParaRPr lang="en-US" altLang="zh-TW" dirty="0"/>
          </a:p>
          <a:p>
            <a:pPr marL="27675" indent="0">
              <a:buNone/>
            </a:pPr>
            <a:endParaRPr lang="en-US" altLang="zh-TW" b="1" dirty="0" smtClean="0"/>
          </a:p>
          <a:p>
            <a:pPr marL="27675" indent="0">
              <a:buNone/>
            </a:pPr>
            <a:r>
              <a:rPr lang="en-US" altLang="zh-TW" sz="2100" b="1" dirty="0"/>
              <a:t>   </a:t>
            </a:r>
          </a:p>
          <a:p>
            <a:pPr marL="27675" indent="0">
              <a:buNone/>
            </a:pPr>
            <a:endParaRPr lang="en-US" altLang="zh-TW" sz="2100" b="1" dirty="0"/>
          </a:p>
          <a:p>
            <a:pPr marL="27675" indent="0">
              <a:buNone/>
            </a:pPr>
            <a:r>
              <a:rPr lang="en-US" altLang="zh-TW" sz="2100" b="1" dirty="0"/>
              <a:t>												  </a:t>
            </a:r>
          </a:p>
          <a:p>
            <a:pPr marL="27675" indent="0">
              <a:buNone/>
            </a:pPr>
            <a:endParaRPr lang="zh-TW" altLang="en-US" dirty="0"/>
          </a:p>
        </p:txBody>
      </p:sp>
      <p:pic>
        <p:nvPicPr>
          <p:cNvPr id="31" name="圖片 30"/>
          <p:cNvPicPr>
            <a:picLocks noChangeAspect="1"/>
          </p:cNvPicPr>
          <p:nvPr/>
        </p:nvPicPr>
        <p:blipFill>
          <a:blip r:embed="rId3"/>
          <a:stretch>
            <a:fillRect/>
          </a:stretch>
        </p:blipFill>
        <p:spPr>
          <a:xfrm>
            <a:off x="844779" y="1919727"/>
            <a:ext cx="7648575" cy="1314450"/>
          </a:xfrm>
          <a:prstGeom prst="rect">
            <a:avLst/>
          </a:prstGeom>
        </p:spPr>
      </p:pic>
      <p:sp>
        <p:nvSpPr>
          <p:cNvPr id="34" name="文字方塊 33"/>
          <p:cNvSpPr txBox="1"/>
          <p:nvPr/>
        </p:nvSpPr>
        <p:spPr>
          <a:xfrm>
            <a:off x="1945201" y="4242739"/>
            <a:ext cx="382245" cy="2062103"/>
          </a:xfrm>
          <a:prstGeom prst="rect">
            <a:avLst/>
          </a:prstGeom>
          <a:noFill/>
        </p:spPr>
        <p:txBody>
          <a:bodyPr wrap="square" rtlCol="0">
            <a:spAutoFit/>
          </a:bodyPr>
          <a:lstStyle/>
          <a:p>
            <a:r>
              <a:rPr lang="en-US" altLang="zh-TW" sz="3200" dirty="0" smtClean="0"/>
              <a:t>X</a:t>
            </a:r>
          </a:p>
          <a:p>
            <a:endParaRPr lang="en-US" altLang="zh-TW" sz="3200" dirty="0"/>
          </a:p>
          <a:p>
            <a:r>
              <a:rPr lang="en-US" altLang="zh-TW" sz="3200" dirty="0" smtClean="0"/>
              <a:t>Y</a:t>
            </a:r>
          </a:p>
          <a:p>
            <a:endParaRPr lang="en-US" altLang="zh-TW" sz="3200" dirty="0"/>
          </a:p>
        </p:txBody>
      </p:sp>
      <p:sp>
        <p:nvSpPr>
          <p:cNvPr id="35" name="橢圓 34"/>
          <p:cNvSpPr/>
          <p:nvPr/>
        </p:nvSpPr>
        <p:spPr>
          <a:xfrm>
            <a:off x="2908036" y="3532530"/>
            <a:ext cx="4028500" cy="96351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TW" altLang="en-US"/>
          </a:p>
        </p:txBody>
      </p:sp>
      <p:sp>
        <p:nvSpPr>
          <p:cNvPr id="36" name="橢圓 35"/>
          <p:cNvSpPr/>
          <p:nvPr/>
        </p:nvSpPr>
        <p:spPr>
          <a:xfrm>
            <a:off x="2379205" y="5131396"/>
            <a:ext cx="5019317" cy="894573"/>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TW" altLang="en-US"/>
          </a:p>
        </p:txBody>
      </p:sp>
      <p:sp>
        <p:nvSpPr>
          <p:cNvPr id="49" name="流程圖: 程序 48"/>
          <p:cNvSpPr/>
          <p:nvPr/>
        </p:nvSpPr>
        <p:spPr>
          <a:xfrm>
            <a:off x="2983421" y="5292852"/>
            <a:ext cx="538189" cy="57858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800" dirty="0" smtClean="0"/>
              <a:t>a</a:t>
            </a:r>
            <a:endParaRPr lang="zh-TW" altLang="en-US" sz="3200" dirty="0"/>
          </a:p>
        </p:txBody>
      </p:sp>
      <p:sp>
        <p:nvSpPr>
          <p:cNvPr id="50" name="流程圖: 接點 49"/>
          <p:cNvSpPr/>
          <p:nvPr/>
        </p:nvSpPr>
        <p:spPr>
          <a:xfrm>
            <a:off x="3379839" y="3644267"/>
            <a:ext cx="866617" cy="67365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3200" dirty="0" smtClean="0"/>
              <a:t>a</a:t>
            </a:r>
            <a:endParaRPr lang="zh-TW" altLang="en-US" sz="3200" dirty="0"/>
          </a:p>
        </p:txBody>
      </p:sp>
      <p:cxnSp>
        <p:nvCxnSpPr>
          <p:cNvPr id="51" name="直線接點 50"/>
          <p:cNvCxnSpPr>
            <a:stCxn id="54" idx="4"/>
            <a:endCxn id="56" idx="0"/>
          </p:cNvCxnSpPr>
          <p:nvPr/>
        </p:nvCxnSpPr>
        <p:spPr>
          <a:xfrm flipH="1">
            <a:off x="4328724" y="4345496"/>
            <a:ext cx="521983" cy="972566"/>
          </a:xfrm>
          <a:prstGeom prst="line">
            <a:avLst/>
          </a:prstGeom>
        </p:spPr>
        <p:style>
          <a:lnRef idx="3">
            <a:schemeClr val="accent5"/>
          </a:lnRef>
          <a:fillRef idx="0">
            <a:schemeClr val="accent5"/>
          </a:fillRef>
          <a:effectRef idx="2">
            <a:schemeClr val="accent5"/>
          </a:effectRef>
          <a:fontRef idx="minor">
            <a:schemeClr val="tx1"/>
          </a:fontRef>
        </p:style>
      </p:cxnSp>
      <p:cxnSp>
        <p:nvCxnSpPr>
          <p:cNvPr id="52" name="直線接點 51"/>
          <p:cNvCxnSpPr>
            <a:stCxn id="50" idx="4"/>
            <a:endCxn id="49" idx="0"/>
          </p:cNvCxnSpPr>
          <p:nvPr/>
        </p:nvCxnSpPr>
        <p:spPr>
          <a:xfrm flipH="1">
            <a:off x="3252516" y="4317918"/>
            <a:ext cx="560632" cy="974934"/>
          </a:xfrm>
          <a:prstGeom prst="line">
            <a:avLst/>
          </a:prstGeom>
        </p:spPr>
        <p:style>
          <a:lnRef idx="3">
            <a:schemeClr val="accent5"/>
          </a:lnRef>
          <a:fillRef idx="0">
            <a:schemeClr val="accent5"/>
          </a:fillRef>
          <a:effectRef idx="2">
            <a:schemeClr val="accent5"/>
          </a:effectRef>
          <a:fontRef idx="minor">
            <a:schemeClr val="tx1"/>
          </a:fontRef>
        </p:style>
      </p:cxnSp>
      <p:cxnSp>
        <p:nvCxnSpPr>
          <p:cNvPr id="53" name="直線接點 52"/>
          <p:cNvCxnSpPr>
            <a:stCxn id="55" idx="4"/>
            <a:endCxn id="57" idx="0"/>
          </p:cNvCxnSpPr>
          <p:nvPr/>
        </p:nvCxnSpPr>
        <p:spPr>
          <a:xfrm flipH="1">
            <a:off x="5355433" y="4345496"/>
            <a:ext cx="532832" cy="972566"/>
          </a:xfrm>
          <a:prstGeom prst="line">
            <a:avLst/>
          </a:prstGeom>
        </p:spPr>
        <p:style>
          <a:lnRef idx="3">
            <a:schemeClr val="accent5"/>
          </a:lnRef>
          <a:fillRef idx="0">
            <a:schemeClr val="accent5"/>
          </a:fillRef>
          <a:effectRef idx="2">
            <a:schemeClr val="accent5"/>
          </a:effectRef>
          <a:fontRef idx="minor">
            <a:schemeClr val="tx1"/>
          </a:fontRef>
        </p:style>
      </p:cxnSp>
      <p:sp>
        <p:nvSpPr>
          <p:cNvPr id="54" name="流程圖: 接點 53"/>
          <p:cNvSpPr/>
          <p:nvPr/>
        </p:nvSpPr>
        <p:spPr>
          <a:xfrm>
            <a:off x="4417398" y="3671845"/>
            <a:ext cx="866617" cy="67365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3200" dirty="0" smtClean="0"/>
              <a:t>b</a:t>
            </a:r>
            <a:endParaRPr lang="zh-TW" altLang="en-US" sz="3200" dirty="0"/>
          </a:p>
        </p:txBody>
      </p:sp>
      <p:sp>
        <p:nvSpPr>
          <p:cNvPr id="55" name="流程圖: 接點 54"/>
          <p:cNvSpPr/>
          <p:nvPr/>
        </p:nvSpPr>
        <p:spPr>
          <a:xfrm>
            <a:off x="5454956" y="3671845"/>
            <a:ext cx="866617" cy="67365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3200" dirty="0" smtClean="0"/>
              <a:t>c</a:t>
            </a:r>
            <a:endParaRPr lang="zh-TW" altLang="en-US" sz="3200" dirty="0"/>
          </a:p>
        </p:txBody>
      </p:sp>
      <p:sp>
        <p:nvSpPr>
          <p:cNvPr id="56" name="流程圖: 程序 55"/>
          <p:cNvSpPr/>
          <p:nvPr/>
        </p:nvSpPr>
        <p:spPr>
          <a:xfrm>
            <a:off x="4059629" y="5318062"/>
            <a:ext cx="538189" cy="57858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800" dirty="0" smtClean="0"/>
              <a:t>b</a:t>
            </a:r>
            <a:endParaRPr lang="zh-TW" altLang="en-US" sz="3200" dirty="0"/>
          </a:p>
        </p:txBody>
      </p:sp>
      <p:sp>
        <p:nvSpPr>
          <p:cNvPr id="57" name="流程圖: 程序 56"/>
          <p:cNvSpPr/>
          <p:nvPr/>
        </p:nvSpPr>
        <p:spPr>
          <a:xfrm>
            <a:off x="5086338" y="5318062"/>
            <a:ext cx="538189" cy="587578"/>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800" dirty="0" smtClean="0"/>
              <a:t>c</a:t>
            </a:r>
            <a:endParaRPr lang="zh-TW" altLang="en-US" sz="3200" dirty="0"/>
          </a:p>
        </p:txBody>
      </p:sp>
      <p:sp>
        <p:nvSpPr>
          <p:cNvPr id="58" name="流程圖: 程序 57"/>
          <p:cNvSpPr/>
          <p:nvPr/>
        </p:nvSpPr>
        <p:spPr>
          <a:xfrm>
            <a:off x="6052478" y="5292852"/>
            <a:ext cx="538189" cy="57858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3200" dirty="0" smtClean="0"/>
              <a:t>a</a:t>
            </a:r>
            <a:endParaRPr lang="zh-TW" altLang="en-US" sz="3200" dirty="0"/>
          </a:p>
        </p:txBody>
      </p:sp>
      <p:sp>
        <p:nvSpPr>
          <p:cNvPr id="60" name="文字方塊 59"/>
          <p:cNvSpPr txBox="1"/>
          <p:nvPr/>
        </p:nvSpPr>
        <p:spPr>
          <a:xfrm>
            <a:off x="2250598" y="6182669"/>
            <a:ext cx="6676628" cy="523220"/>
          </a:xfrm>
          <a:prstGeom prst="rect">
            <a:avLst/>
          </a:prstGeom>
          <a:noFill/>
        </p:spPr>
        <p:txBody>
          <a:bodyPr wrap="square" rtlCol="0">
            <a:spAutoFit/>
          </a:bodyPr>
          <a:lstStyle/>
          <a:p>
            <a:r>
              <a:rPr lang="en-US" altLang="zh-TW" sz="2800" dirty="0" smtClean="0"/>
              <a:t>M </a:t>
            </a:r>
            <a:r>
              <a:rPr lang="en-US" altLang="zh-TW" sz="2800" baseline="-25000" dirty="0" err="1" smtClean="0"/>
              <a:t>xy</a:t>
            </a:r>
            <a:r>
              <a:rPr lang="en-US" altLang="zh-TW" sz="2800" dirty="0" smtClean="0"/>
              <a:t>={(x</a:t>
            </a:r>
            <a:r>
              <a:rPr lang="en-US" altLang="zh-TW" sz="2800" baseline="-25000" dirty="0" smtClean="0"/>
              <a:t>1</a:t>
            </a:r>
            <a:r>
              <a:rPr lang="en-US" altLang="zh-TW" sz="2800" dirty="0" smtClean="0"/>
              <a:t>,</a:t>
            </a:r>
            <a:r>
              <a:rPr lang="en-US" altLang="zh-TW" sz="2800" dirty="0"/>
              <a:t> </a:t>
            </a:r>
            <a:r>
              <a:rPr lang="en-US" altLang="zh-TW" sz="2800" dirty="0" smtClean="0"/>
              <a:t>y</a:t>
            </a:r>
            <a:r>
              <a:rPr lang="en-US" altLang="zh-TW" sz="2800" baseline="-25000" dirty="0" smtClean="0"/>
              <a:t>1</a:t>
            </a:r>
            <a:r>
              <a:rPr lang="en-US" altLang="zh-TW" sz="2800" dirty="0" smtClean="0"/>
              <a:t>),(x</a:t>
            </a:r>
            <a:r>
              <a:rPr lang="en-US" altLang="zh-TW" sz="2800" baseline="-25000" dirty="0" smtClean="0"/>
              <a:t>2</a:t>
            </a:r>
            <a:r>
              <a:rPr lang="en-US" altLang="zh-TW" sz="2800" dirty="0" smtClean="0"/>
              <a:t>, y</a:t>
            </a:r>
            <a:r>
              <a:rPr lang="en-US" altLang="zh-TW" sz="2800" baseline="-25000" dirty="0" smtClean="0"/>
              <a:t>2</a:t>
            </a:r>
            <a:r>
              <a:rPr lang="en-US" altLang="zh-TW" sz="2800" dirty="0" smtClean="0"/>
              <a:t>),(x</a:t>
            </a:r>
            <a:r>
              <a:rPr lang="en-US" altLang="zh-TW" sz="2800" baseline="-25000" dirty="0" smtClean="0"/>
              <a:t>3</a:t>
            </a:r>
            <a:r>
              <a:rPr lang="en-US" altLang="zh-TW" sz="2800" dirty="0" smtClean="0"/>
              <a:t>, y</a:t>
            </a:r>
            <a:r>
              <a:rPr lang="en-US" altLang="zh-TW" sz="2800" baseline="-25000" dirty="0" smtClean="0"/>
              <a:t>3</a:t>
            </a:r>
            <a:r>
              <a:rPr lang="en-US" altLang="zh-TW" sz="2800" dirty="0" smtClean="0"/>
              <a:t>)}</a:t>
            </a:r>
            <a:endParaRPr lang="zh-TW" altLang="en-US" sz="2800" dirty="0"/>
          </a:p>
        </p:txBody>
      </p:sp>
    </p:spTree>
    <p:extLst>
      <p:ext uri="{BB962C8B-B14F-4D97-AF65-F5344CB8AC3E}">
        <p14:creationId xmlns:p14="http://schemas.microsoft.com/office/powerpoint/2010/main" val="142601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mj-ea"/>
              </a:rPr>
              <a:t>The frame sequence of a tree of sequences </a:t>
            </a:r>
            <a:endParaRPr lang="zh-TW" altLang="en-US" dirty="0"/>
          </a:p>
        </p:txBody>
      </p:sp>
      <p:sp>
        <p:nvSpPr>
          <p:cNvPr id="3" name="內容版面配置區 2"/>
          <p:cNvSpPr>
            <a:spLocks noGrp="1"/>
          </p:cNvSpPr>
          <p:nvPr>
            <p:ph idx="1"/>
          </p:nvPr>
        </p:nvSpPr>
        <p:spPr>
          <a:xfrm>
            <a:off x="620067" y="3685866"/>
            <a:ext cx="7543801" cy="4023360"/>
          </a:xfrm>
        </p:spPr>
        <p:txBody>
          <a:bodyPr/>
          <a:lstStyle/>
          <a:p>
            <a:endParaRPr lang="en-US" altLang="zh-TW" sz="2400" dirty="0" smtClean="0"/>
          </a:p>
          <a:p>
            <a:endParaRPr lang="en-US" altLang="zh-TW" sz="2400" dirty="0"/>
          </a:p>
          <a:p>
            <a:endParaRPr lang="en-US" altLang="zh-TW" sz="2400" dirty="0" smtClean="0"/>
          </a:p>
          <a:p>
            <a:endParaRPr lang="en-US" altLang="zh-TW" sz="2400" dirty="0"/>
          </a:p>
          <a:p>
            <a:endParaRPr lang="zh-TW" altLang="en-US" dirty="0"/>
          </a:p>
        </p:txBody>
      </p:sp>
      <p:sp>
        <p:nvSpPr>
          <p:cNvPr id="4" name="流程圖: 抽選 3"/>
          <p:cNvSpPr/>
          <p:nvPr/>
        </p:nvSpPr>
        <p:spPr>
          <a:xfrm>
            <a:off x="749550" y="5438556"/>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 name="流程圖: 程序 4"/>
          <p:cNvSpPr/>
          <p:nvPr/>
        </p:nvSpPr>
        <p:spPr>
          <a:xfrm>
            <a:off x="1758333" y="4676212"/>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dirty="0"/>
          </a:p>
        </p:txBody>
      </p:sp>
      <p:sp>
        <p:nvSpPr>
          <p:cNvPr id="6" name="流程圖: 接點 5"/>
          <p:cNvSpPr/>
          <p:nvPr/>
        </p:nvSpPr>
        <p:spPr>
          <a:xfrm>
            <a:off x="2231056" y="3888648"/>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350" dirty="0"/>
          </a:p>
        </p:txBody>
      </p:sp>
      <p:sp>
        <p:nvSpPr>
          <p:cNvPr id="7" name="流程圖: 抽選 6"/>
          <p:cNvSpPr/>
          <p:nvPr/>
        </p:nvSpPr>
        <p:spPr>
          <a:xfrm>
            <a:off x="1258852" y="5400192"/>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k</a:t>
            </a:r>
            <a:endParaRPr lang="zh-TW" altLang="en-US" sz="1350" dirty="0"/>
          </a:p>
        </p:txBody>
      </p:sp>
      <p:sp>
        <p:nvSpPr>
          <p:cNvPr id="8" name="流程圖: 抽選 7"/>
          <p:cNvSpPr/>
          <p:nvPr/>
        </p:nvSpPr>
        <p:spPr>
          <a:xfrm>
            <a:off x="1774352" y="5382818"/>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9" name="流程圖: 抽選 8"/>
          <p:cNvSpPr/>
          <p:nvPr/>
        </p:nvSpPr>
        <p:spPr>
          <a:xfrm>
            <a:off x="2222895" y="5374271"/>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0" name="流程圖: 抽選 9"/>
          <p:cNvSpPr/>
          <p:nvPr/>
        </p:nvSpPr>
        <p:spPr>
          <a:xfrm>
            <a:off x="2691753" y="5402791"/>
            <a:ext cx="317828" cy="314728"/>
          </a:xfrm>
          <a:prstGeom prst="flowChartExtra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1" name="流程圖: 程序 10"/>
          <p:cNvSpPr/>
          <p:nvPr/>
        </p:nvSpPr>
        <p:spPr>
          <a:xfrm>
            <a:off x="1273307" y="4676212"/>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350" dirty="0"/>
              <a:t>j</a:t>
            </a:r>
            <a:endParaRPr lang="zh-TW" altLang="en-US" sz="1350" dirty="0"/>
          </a:p>
        </p:txBody>
      </p:sp>
      <p:sp>
        <p:nvSpPr>
          <p:cNvPr id="12" name="流程圖: 程序 11"/>
          <p:cNvSpPr/>
          <p:nvPr/>
        </p:nvSpPr>
        <p:spPr>
          <a:xfrm>
            <a:off x="2234816" y="4676212"/>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dirty="0"/>
          </a:p>
        </p:txBody>
      </p:sp>
      <p:sp>
        <p:nvSpPr>
          <p:cNvPr id="13" name="流程圖: 程序 12"/>
          <p:cNvSpPr/>
          <p:nvPr/>
        </p:nvSpPr>
        <p:spPr>
          <a:xfrm>
            <a:off x="2691753" y="4686284"/>
            <a:ext cx="278454" cy="312514"/>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sz="1350" dirty="0"/>
          </a:p>
        </p:txBody>
      </p:sp>
      <p:sp>
        <p:nvSpPr>
          <p:cNvPr id="15" name="流程圖: 接點 14"/>
          <p:cNvSpPr/>
          <p:nvPr/>
        </p:nvSpPr>
        <p:spPr>
          <a:xfrm>
            <a:off x="1273307" y="3903982"/>
            <a:ext cx="322913" cy="31095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dirty="0" err="1" smtClean="0"/>
              <a:t>i</a:t>
            </a:r>
            <a:endParaRPr lang="zh-TW" altLang="en-US" sz="1350" dirty="0"/>
          </a:p>
        </p:txBody>
      </p:sp>
      <p:sp>
        <p:nvSpPr>
          <p:cNvPr id="16" name="流程圖: 接點 15"/>
          <p:cNvSpPr/>
          <p:nvPr/>
        </p:nvSpPr>
        <p:spPr>
          <a:xfrm>
            <a:off x="1783123" y="3873799"/>
            <a:ext cx="321020" cy="341141"/>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350" dirty="0"/>
          </a:p>
        </p:txBody>
      </p:sp>
      <p:sp>
        <p:nvSpPr>
          <p:cNvPr id="17" name="文字方塊 16"/>
          <p:cNvSpPr txBox="1"/>
          <p:nvPr/>
        </p:nvSpPr>
        <p:spPr>
          <a:xfrm>
            <a:off x="4028916" y="3934673"/>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r>
              <a:rPr lang="en-US" altLang="zh-TW" sz="1350" dirty="0"/>
              <a:t>z</a:t>
            </a:r>
            <a:endParaRPr lang="zh-TW" altLang="en-US" sz="1350" dirty="0"/>
          </a:p>
        </p:txBody>
      </p:sp>
      <p:pic>
        <p:nvPicPr>
          <p:cNvPr id="42" name="圖片 41"/>
          <p:cNvPicPr>
            <a:picLocks noChangeAspect="1"/>
          </p:cNvPicPr>
          <p:nvPr/>
        </p:nvPicPr>
        <p:blipFill>
          <a:blip r:embed="rId3"/>
          <a:stretch>
            <a:fillRect/>
          </a:stretch>
        </p:blipFill>
        <p:spPr>
          <a:xfrm>
            <a:off x="636957" y="1828149"/>
            <a:ext cx="8064936" cy="1352443"/>
          </a:xfrm>
          <a:prstGeom prst="rect">
            <a:avLst/>
          </a:prstGeom>
        </p:spPr>
      </p:pic>
      <p:pic>
        <p:nvPicPr>
          <p:cNvPr id="43" name="圖片 42"/>
          <p:cNvPicPr>
            <a:picLocks noChangeAspect="1"/>
          </p:cNvPicPr>
          <p:nvPr/>
        </p:nvPicPr>
        <p:blipFill>
          <a:blip r:embed="rId4"/>
          <a:stretch>
            <a:fillRect/>
          </a:stretch>
        </p:blipFill>
        <p:spPr>
          <a:xfrm>
            <a:off x="636957" y="3198929"/>
            <a:ext cx="8064936" cy="598414"/>
          </a:xfrm>
          <a:prstGeom prst="rect">
            <a:avLst/>
          </a:prstGeom>
        </p:spPr>
      </p:pic>
      <p:sp>
        <p:nvSpPr>
          <p:cNvPr id="44" name="文字方塊 43"/>
          <p:cNvSpPr txBox="1"/>
          <p:nvPr/>
        </p:nvSpPr>
        <p:spPr>
          <a:xfrm>
            <a:off x="4854522" y="3898318"/>
            <a:ext cx="3776056" cy="707886"/>
          </a:xfrm>
          <a:prstGeom prst="rect">
            <a:avLst/>
          </a:prstGeom>
          <a:noFill/>
        </p:spPr>
        <p:txBody>
          <a:bodyPr wrap="square" rtlCol="0">
            <a:spAutoFit/>
          </a:bodyPr>
          <a:lstStyle/>
          <a:p>
            <a:r>
              <a:rPr lang="zh-TW" altLang="en-US" sz="2000" dirty="0" smtClean="0"/>
              <a:t>我們可以兩點間有邊連線，可以畫出對應關係</a:t>
            </a:r>
            <a:endParaRPr lang="en-US" altLang="zh-TW" sz="2000" dirty="0" smtClean="0"/>
          </a:p>
        </p:txBody>
      </p:sp>
      <p:cxnSp>
        <p:nvCxnSpPr>
          <p:cNvPr id="46" name="直線接點 45"/>
          <p:cNvCxnSpPr>
            <a:stCxn id="15" idx="4"/>
            <a:endCxn id="11" idx="0"/>
          </p:cNvCxnSpPr>
          <p:nvPr/>
        </p:nvCxnSpPr>
        <p:spPr>
          <a:xfrm flipH="1">
            <a:off x="1412534" y="4214940"/>
            <a:ext cx="22230" cy="461272"/>
          </a:xfrm>
          <a:prstGeom prst="line">
            <a:avLst/>
          </a:prstGeom>
        </p:spPr>
        <p:style>
          <a:lnRef idx="3">
            <a:schemeClr val="dk1"/>
          </a:lnRef>
          <a:fillRef idx="0">
            <a:schemeClr val="dk1"/>
          </a:fillRef>
          <a:effectRef idx="2">
            <a:schemeClr val="dk1"/>
          </a:effectRef>
          <a:fontRef idx="minor">
            <a:schemeClr val="tx1"/>
          </a:fontRef>
        </p:style>
      </p:cxnSp>
      <p:cxnSp>
        <p:nvCxnSpPr>
          <p:cNvPr id="52" name="直線接點 51"/>
          <p:cNvCxnSpPr>
            <a:stCxn id="6" idx="4"/>
            <a:endCxn id="12" idx="0"/>
          </p:cNvCxnSpPr>
          <p:nvPr/>
        </p:nvCxnSpPr>
        <p:spPr>
          <a:xfrm flipH="1">
            <a:off x="2374043" y="4229789"/>
            <a:ext cx="17523" cy="446423"/>
          </a:xfrm>
          <a:prstGeom prst="line">
            <a:avLst/>
          </a:prstGeom>
        </p:spPr>
        <p:style>
          <a:lnRef idx="3">
            <a:schemeClr val="dk1"/>
          </a:lnRef>
          <a:fillRef idx="0">
            <a:schemeClr val="dk1"/>
          </a:fillRef>
          <a:effectRef idx="2">
            <a:schemeClr val="dk1"/>
          </a:effectRef>
          <a:fontRef idx="minor">
            <a:schemeClr val="tx1"/>
          </a:fontRef>
        </p:style>
      </p:cxnSp>
      <p:cxnSp>
        <p:nvCxnSpPr>
          <p:cNvPr id="54" name="直線接點 53"/>
          <p:cNvCxnSpPr>
            <a:stCxn id="11" idx="2"/>
            <a:endCxn id="7" idx="0"/>
          </p:cNvCxnSpPr>
          <p:nvPr/>
        </p:nvCxnSpPr>
        <p:spPr>
          <a:xfrm>
            <a:off x="1412534" y="4988726"/>
            <a:ext cx="5232" cy="411466"/>
          </a:xfrm>
          <a:prstGeom prst="line">
            <a:avLst/>
          </a:prstGeom>
        </p:spPr>
        <p:style>
          <a:lnRef idx="3">
            <a:schemeClr val="dk1"/>
          </a:lnRef>
          <a:fillRef idx="0">
            <a:schemeClr val="dk1"/>
          </a:fillRef>
          <a:effectRef idx="2">
            <a:schemeClr val="dk1"/>
          </a:effectRef>
          <a:fontRef idx="minor">
            <a:schemeClr val="tx1"/>
          </a:fontRef>
        </p:style>
      </p:cxnSp>
      <p:cxnSp>
        <p:nvCxnSpPr>
          <p:cNvPr id="57" name="直線接點 56"/>
          <p:cNvCxnSpPr>
            <a:stCxn id="5" idx="2"/>
            <a:endCxn id="8" idx="0"/>
          </p:cNvCxnSpPr>
          <p:nvPr/>
        </p:nvCxnSpPr>
        <p:spPr>
          <a:xfrm>
            <a:off x="1897560" y="4988726"/>
            <a:ext cx="35706" cy="394092"/>
          </a:xfrm>
          <a:prstGeom prst="line">
            <a:avLst/>
          </a:prstGeom>
        </p:spPr>
        <p:style>
          <a:lnRef idx="3">
            <a:schemeClr val="dk1"/>
          </a:lnRef>
          <a:fillRef idx="0">
            <a:schemeClr val="dk1"/>
          </a:fillRef>
          <a:effectRef idx="2">
            <a:schemeClr val="dk1"/>
          </a:effectRef>
          <a:fontRef idx="minor">
            <a:schemeClr val="tx1"/>
          </a:fontRef>
        </p:style>
      </p:cxnSp>
      <p:cxnSp>
        <p:nvCxnSpPr>
          <p:cNvPr id="58" name="直線接點 57"/>
          <p:cNvCxnSpPr>
            <a:stCxn id="12" idx="2"/>
            <a:endCxn id="9" idx="0"/>
          </p:cNvCxnSpPr>
          <p:nvPr/>
        </p:nvCxnSpPr>
        <p:spPr>
          <a:xfrm>
            <a:off x="2374043" y="4988726"/>
            <a:ext cx="7766" cy="385545"/>
          </a:xfrm>
          <a:prstGeom prst="line">
            <a:avLst/>
          </a:prstGeom>
        </p:spPr>
        <p:style>
          <a:lnRef idx="3">
            <a:schemeClr val="dk1"/>
          </a:lnRef>
          <a:fillRef idx="0">
            <a:schemeClr val="dk1"/>
          </a:fillRef>
          <a:effectRef idx="2">
            <a:schemeClr val="dk1"/>
          </a:effectRef>
          <a:fontRef idx="minor">
            <a:schemeClr val="tx1"/>
          </a:fontRef>
        </p:style>
      </p:cxnSp>
      <p:cxnSp>
        <p:nvCxnSpPr>
          <p:cNvPr id="60" name="直線接點 59"/>
          <p:cNvCxnSpPr>
            <a:stCxn id="13" idx="2"/>
            <a:endCxn id="10" idx="0"/>
          </p:cNvCxnSpPr>
          <p:nvPr/>
        </p:nvCxnSpPr>
        <p:spPr>
          <a:xfrm>
            <a:off x="2830980" y="4998798"/>
            <a:ext cx="19687" cy="403993"/>
          </a:xfrm>
          <a:prstGeom prst="line">
            <a:avLst/>
          </a:prstGeom>
        </p:spPr>
        <p:style>
          <a:lnRef idx="3">
            <a:schemeClr val="dk1"/>
          </a:lnRef>
          <a:fillRef idx="0">
            <a:schemeClr val="dk1"/>
          </a:fillRef>
          <a:effectRef idx="2">
            <a:schemeClr val="dk1"/>
          </a:effectRef>
          <a:fontRef idx="minor">
            <a:schemeClr val="tx1"/>
          </a:fontRef>
        </p:style>
      </p:cxnSp>
      <p:sp>
        <p:nvSpPr>
          <p:cNvPr id="93" name="框架 92"/>
          <p:cNvSpPr/>
          <p:nvPr/>
        </p:nvSpPr>
        <p:spPr>
          <a:xfrm>
            <a:off x="1190586" y="3815680"/>
            <a:ext cx="474936" cy="2135415"/>
          </a:xfrm>
          <a:prstGeom prst="fram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tx1"/>
              </a:solidFill>
            </a:endParaRPr>
          </a:p>
        </p:txBody>
      </p:sp>
      <p:sp>
        <p:nvSpPr>
          <p:cNvPr id="96" name="框架 95"/>
          <p:cNvSpPr/>
          <p:nvPr/>
        </p:nvSpPr>
        <p:spPr>
          <a:xfrm>
            <a:off x="1160641" y="3815680"/>
            <a:ext cx="474936" cy="1193799"/>
          </a:xfrm>
          <a:prstGeom prst="fram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tx1"/>
              </a:solidFill>
            </a:endParaRPr>
          </a:p>
        </p:txBody>
      </p:sp>
      <p:sp>
        <p:nvSpPr>
          <p:cNvPr id="100" name="框架 99"/>
          <p:cNvSpPr/>
          <p:nvPr/>
        </p:nvSpPr>
        <p:spPr>
          <a:xfrm>
            <a:off x="2155336" y="3848659"/>
            <a:ext cx="474936" cy="1252410"/>
          </a:xfrm>
          <a:prstGeom prst="fram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tx1"/>
              </a:solidFill>
            </a:endParaRPr>
          </a:p>
        </p:txBody>
      </p:sp>
      <p:sp>
        <p:nvSpPr>
          <p:cNvPr id="103" name="文字方塊 102"/>
          <p:cNvSpPr txBox="1"/>
          <p:nvPr/>
        </p:nvSpPr>
        <p:spPr>
          <a:xfrm>
            <a:off x="4893680" y="4772720"/>
            <a:ext cx="3727012" cy="923330"/>
          </a:xfrm>
          <a:prstGeom prst="rect">
            <a:avLst/>
          </a:prstGeom>
          <a:noFill/>
        </p:spPr>
        <p:txBody>
          <a:bodyPr wrap="square" rtlCol="0">
            <a:spAutoFit/>
          </a:bodyPr>
          <a:lstStyle/>
          <a:p>
            <a:r>
              <a:rPr lang="zh-TW" altLang="en-US" dirty="0"/>
              <a:t>由對應關係可以知道，</a:t>
            </a:r>
            <a:r>
              <a:rPr lang="en-US" altLang="zh-TW" dirty="0"/>
              <a:t>z(k)</a:t>
            </a:r>
            <a:r>
              <a:rPr lang="zh-TW" altLang="en-US" dirty="0"/>
              <a:t>屬於</a:t>
            </a:r>
            <a:endParaRPr lang="en-US" altLang="zh-TW" dirty="0"/>
          </a:p>
          <a:p>
            <a:r>
              <a:rPr lang="en-US" altLang="zh-TW" dirty="0"/>
              <a:t>Ω (x(</a:t>
            </a:r>
            <a:r>
              <a:rPr lang="en-US" altLang="zh-TW" dirty="0" err="1"/>
              <a:t>i</a:t>
            </a:r>
            <a:r>
              <a:rPr lang="en-US" altLang="zh-TW" dirty="0"/>
              <a:t>))</a:t>
            </a:r>
            <a:endParaRPr lang="zh-TW" altLang="en-US" dirty="0"/>
          </a:p>
          <a:p>
            <a:endParaRPr lang="zh-TW" altLang="en-US" dirty="0"/>
          </a:p>
        </p:txBody>
      </p:sp>
      <p:sp>
        <p:nvSpPr>
          <p:cNvPr id="38" name="文字方塊 37"/>
          <p:cNvSpPr txBox="1"/>
          <p:nvPr/>
        </p:nvSpPr>
        <p:spPr>
          <a:xfrm>
            <a:off x="4807388" y="5688999"/>
            <a:ext cx="3727012" cy="646331"/>
          </a:xfrm>
          <a:prstGeom prst="rect">
            <a:avLst/>
          </a:prstGeom>
          <a:noFill/>
        </p:spPr>
        <p:txBody>
          <a:bodyPr wrap="square" rtlCol="0">
            <a:spAutoFit/>
          </a:bodyPr>
          <a:lstStyle/>
          <a:p>
            <a:r>
              <a:rPr lang="en-US" altLang="zh-TW" dirty="0" smtClean="0"/>
              <a:t>Ω </a:t>
            </a:r>
            <a:r>
              <a:rPr lang="en-US" altLang="zh-TW" dirty="0"/>
              <a:t>(x(</a:t>
            </a:r>
            <a:r>
              <a:rPr lang="en-US" altLang="zh-TW" dirty="0" err="1"/>
              <a:t>i</a:t>
            </a:r>
            <a:r>
              <a:rPr lang="en-US" altLang="zh-TW" dirty="0" smtClean="0"/>
              <a:t>))={x(</a:t>
            </a:r>
            <a:r>
              <a:rPr lang="en-US" altLang="zh-TW" dirty="0" err="1" smtClean="0"/>
              <a:t>i</a:t>
            </a:r>
            <a:r>
              <a:rPr lang="en-US" altLang="zh-TW" dirty="0" smtClean="0"/>
              <a:t>),y(j),z(k)…}</a:t>
            </a:r>
            <a:endParaRPr lang="zh-TW" altLang="en-US" dirty="0"/>
          </a:p>
          <a:p>
            <a:endParaRPr lang="zh-TW" altLang="en-US" dirty="0"/>
          </a:p>
        </p:txBody>
      </p:sp>
    </p:spTree>
    <p:extLst>
      <p:ext uri="{BB962C8B-B14F-4D97-AF65-F5344CB8AC3E}">
        <p14:creationId xmlns:p14="http://schemas.microsoft.com/office/powerpoint/2010/main" val="427520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9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93" grpId="0" animBg="1"/>
      <p:bldP spid="96" grpId="0" animBg="1"/>
      <p:bldP spid="96" grpId="1" animBg="1"/>
      <p:bldP spid="100" grpId="0" animBg="1"/>
      <p:bldP spid="100" grpId="1" animBg="1"/>
      <p:bldP spid="103"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69167" y="214995"/>
            <a:ext cx="6975423" cy="1280890"/>
          </a:xfrm>
        </p:spPr>
        <p:txBody>
          <a:bodyPr/>
          <a:lstStyle/>
          <a:p>
            <a:r>
              <a:rPr lang="en-US" altLang="zh-TW" b="1" dirty="0">
                <a:solidFill>
                  <a:schemeClr val="accent2">
                    <a:lumMod val="75000"/>
                  </a:schemeClr>
                </a:solidFill>
                <a:latin typeface="+mj-ea"/>
              </a:rPr>
              <a:t>The frame sequence of a tree of sequences </a:t>
            </a:r>
            <a:endParaRPr lang="zh-TW" altLang="en-US" dirty="0"/>
          </a:p>
        </p:txBody>
      </p:sp>
      <p:sp>
        <p:nvSpPr>
          <p:cNvPr id="4" name="橢圓 3"/>
          <p:cNvSpPr/>
          <p:nvPr/>
        </p:nvSpPr>
        <p:spPr>
          <a:xfrm>
            <a:off x="2563317" y="2136098"/>
            <a:ext cx="98116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FF0000"/>
                </a:solidFill>
              </a:rPr>
              <a:t>a</a:t>
            </a:r>
            <a:r>
              <a:rPr lang="en-US" altLang="zh-TW" dirty="0" err="1" smtClean="0"/>
              <a:t>b</a:t>
            </a:r>
            <a:r>
              <a:rPr lang="en-US" altLang="zh-TW" dirty="0" err="1" smtClean="0">
                <a:solidFill>
                  <a:srgbClr val="00B0F0"/>
                </a:solidFill>
              </a:rPr>
              <a:t>c</a:t>
            </a:r>
            <a:endParaRPr lang="zh-TW" altLang="en-US" dirty="0">
              <a:solidFill>
                <a:srgbClr val="00B0F0"/>
              </a:solidFill>
            </a:endParaRPr>
          </a:p>
        </p:txBody>
      </p:sp>
      <p:sp>
        <p:nvSpPr>
          <p:cNvPr id="5" name="橢圓 4"/>
          <p:cNvSpPr/>
          <p:nvPr/>
        </p:nvSpPr>
        <p:spPr>
          <a:xfrm>
            <a:off x="1079290" y="4964243"/>
            <a:ext cx="959372"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FF0000"/>
                </a:solidFill>
              </a:rPr>
              <a:t>a</a:t>
            </a:r>
            <a:r>
              <a:rPr lang="en-US" altLang="zh-TW" dirty="0" err="1" smtClean="0"/>
              <a:t>d</a:t>
            </a:r>
            <a:r>
              <a:rPr lang="en-US" altLang="zh-TW" dirty="0" err="1" smtClean="0">
                <a:solidFill>
                  <a:srgbClr val="00B0F0"/>
                </a:solidFill>
              </a:rPr>
              <a:t>c</a:t>
            </a:r>
            <a:endParaRPr lang="zh-TW" altLang="en-US" dirty="0">
              <a:solidFill>
                <a:srgbClr val="00B0F0"/>
              </a:solidFill>
            </a:endParaRPr>
          </a:p>
        </p:txBody>
      </p:sp>
      <p:sp>
        <p:nvSpPr>
          <p:cNvPr id="6" name="橢圓 5"/>
          <p:cNvSpPr/>
          <p:nvPr/>
        </p:nvSpPr>
        <p:spPr>
          <a:xfrm>
            <a:off x="3612629" y="3187284"/>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t>b</a:t>
            </a:r>
            <a:r>
              <a:rPr lang="en-US" altLang="zh-TW" dirty="0" err="1" smtClean="0">
                <a:solidFill>
                  <a:srgbClr val="FF0000"/>
                </a:solidFill>
              </a:rPr>
              <a:t>a</a:t>
            </a:r>
            <a:r>
              <a:rPr lang="en-US" altLang="zh-TW" dirty="0" err="1" smtClean="0">
                <a:solidFill>
                  <a:srgbClr val="00B0F0"/>
                </a:solidFill>
              </a:rPr>
              <a:t>c</a:t>
            </a:r>
            <a:endParaRPr lang="zh-TW" altLang="en-US" dirty="0">
              <a:solidFill>
                <a:srgbClr val="00B0F0"/>
              </a:solidFill>
            </a:endParaRPr>
          </a:p>
        </p:txBody>
      </p:sp>
      <p:sp>
        <p:nvSpPr>
          <p:cNvPr id="8" name="橢圓 7"/>
          <p:cNvSpPr/>
          <p:nvPr/>
        </p:nvSpPr>
        <p:spPr>
          <a:xfrm>
            <a:off x="2921704" y="4024909"/>
            <a:ext cx="930768"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t>e</a:t>
            </a:r>
            <a:r>
              <a:rPr lang="en-US" altLang="zh-TW" dirty="0" err="1" smtClean="0">
                <a:solidFill>
                  <a:srgbClr val="FF0000"/>
                </a:solidFill>
              </a:rPr>
              <a:t>a</a:t>
            </a:r>
            <a:r>
              <a:rPr lang="en-US" altLang="zh-TW" dirty="0" err="1" smtClean="0"/>
              <a:t>d</a:t>
            </a:r>
            <a:endParaRPr lang="zh-TW" altLang="en-US" dirty="0"/>
          </a:p>
        </p:txBody>
      </p:sp>
      <p:cxnSp>
        <p:nvCxnSpPr>
          <p:cNvPr id="11" name="直線接點 10"/>
          <p:cNvCxnSpPr>
            <a:stCxn id="4" idx="3"/>
            <a:endCxn id="5" idx="0"/>
          </p:cNvCxnSpPr>
          <p:nvPr/>
        </p:nvCxnSpPr>
        <p:spPr>
          <a:xfrm flipH="1">
            <a:off x="1558976" y="2558330"/>
            <a:ext cx="1148029" cy="24059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4" idx="5"/>
          </p:cNvCxnSpPr>
          <p:nvPr/>
        </p:nvCxnSpPr>
        <p:spPr>
          <a:xfrm>
            <a:off x="3400795" y="2558330"/>
            <a:ext cx="474850" cy="6289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6" idx="3"/>
            <a:endCxn id="8" idx="0"/>
          </p:cNvCxnSpPr>
          <p:nvPr/>
        </p:nvCxnSpPr>
        <p:spPr>
          <a:xfrm flipH="1">
            <a:off x="3387088" y="3609516"/>
            <a:ext cx="365662" cy="415393"/>
          </a:xfrm>
          <a:prstGeom prst="line">
            <a:avLst/>
          </a:prstGeom>
        </p:spPr>
        <p:style>
          <a:lnRef idx="1">
            <a:schemeClr val="accent1"/>
          </a:lnRef>
          <a:fillRef idx="0">
            <a:schemeClr val="accent1"/>
          </a:fillRef>
          <a:effectRef idx="0">
            <a:schemeClr val="accent1"/>
          </a:effectRef>
          <a:fontRef idx="minor">
            <a:schemeClr val="tx1"/>
          </a:fontRef>
        </p:style>
      </p:cxnSp>
      <p:sp>
        <p:nvSpPr>
          <p:cNvPr id="32" name="橢圓 31"/>
          <p:cNvSpPr/>
          <p:nvPr/>
        </p:nvSpPr>
        <p:spPr>
          <a:xfrm>
            <a:off x="6940445" y="2149015"/>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33" name="橢圓 32"/>
          <p:cNvSpPr/>
          <p:nvPr/>
        </p:nvSpPr>
        <p:spPr>
          <a:xfrm>
            <a:off x="7362668" y="2149014"/>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d</a:t>
            </a:r>
            <a:endParaRPr lang="zh-TW" altLang="en-US" dirty="0"/>
          </a:p>
        </p:txBody>
      </p:sp>
      <p:sp>
        <p:nvSpPr>
          <p:cNvPr id="35" name="橢圓 34"/>
          <p:cNvSpPr/>
          <p:nvPr/>
        </p:nvSpPr>
        <p:spPr>
          <a:xfrm>
            <a:off x="7784891" y="2130275"/>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a:t>
            </a:r>
            <a:endParaRPr lang="zh-TW" altLang="en-US" dirty="0"/>
          </a:p>
        </p:txBody>
      </p:sp>
      <p:sp>
        <p:nvSpPr>
          <p:cNvPr id="36" name="橢圓 35"/>
          <p:cNvSpPr/>
          <p:nvPr/>
        </p:nvSpPr>
        <p:spPr>
          <a:xfrm>
            <a:off x="6922956" y="2718019"/>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37" name="橢圓 36"/>
          <p:cNvSpPr/>
          <p:nvPr/>
        </p:nvSpPr>
        <p:spPr>
          <a:xfrm>
            <a:off x="7345179" y="2718018"/>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b</a:t>
            </a:r>
            <a:endParaRPr lang="zh-TW" altLang="en-US" dirty="0"/>
          </a:p>
        </p:txBody>
      </p:sp>
      <p:sp>
        <p:nvSpPr>
          <p:cNvPr id="38" name="橢圓 37"/>
          <p:cNvSpPr/>
          <p:nvPr/>
        </p:nvSpPr>
        <p:spPr>
          <a:xfrm>
            <a:off x="7767402" y="2699279"/>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a:t>
            </a:r>
            <a:endParaRPr lang="zh-TW" altLang="en-US" dirty="0"/>
          </a:p>
        </p:txBody>
      </p:sp>
      <p:sp>
        <p:nvSpPr>
          <p:cNvPr id="39" name="橢圓 38"/>
          <p:cNvSpPr/>
          <p:nvPr/>
        </p:nvSpPr>
        <p:spPr>
          <a:xfrm>
            <a:off x="6922956" y="3358232"/>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b</a:t>
            </a:r>
            <a:endParaRPr lang="zh-TW" altLang="en-US" dirty="0"/>
          </a:p>
        </p:txBody>
      </p:sp>
      <p:sp>
        <p:nvSpPr>
          <p:cNvPr id="40" name="橢圓 39"/>
          <p:cNvSpPr/>
          <p:nvPr/>
        </p:nvSpPr>
        <p:spPr>
          <a:xfrm>
            <a:off x="7345179" y="3358231"/>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41" name="橢圓 40"/>
          <p:cNvSpPr/>
          <p:nvPr/>
        </p:nvSpPr>
        <p:spPr>
          <a:xfrm>
            <a:off x="7767402" y="3339492"/>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a:t>
            </a:r>
            <a:endParaRPr lang="zh-TW" altLang="en-US" dirty="0"/>
          </a:p>
        </p:txBody>
      </p:sp>
      <p:sp>
        <p:nvSpPr>
          <p:cNvPr id="42" name="橢圓 41"/>
          <p:cNvSpPr/>
          <p:nvPr/>
        </p:nvSpPr>
        <p:spPr>
          <a:xfrm>
            <a:off x="6937945" y="3929117"/>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e</a:t>
            </a:r>
            <a:endParaRPr lang="zh-TW" altLang="en-US" dirty="0"/>
          </a:p>
        </p:txBody>
      </p:sp>
      <p:sp>
        <p:nvSpPr>
          <p:cNvPr id="43" name="橢圓 42"/>
          <p:cNvSpPr/>
          <p:nvPr/>
        </p:nvSpPr>
        <p:spPr>
          <a:xfrm>
            <a:off x="7360168" y="3929116"/>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44" name="橢圓 43"/>
          <p:cNvSpPr/>
          <p:nvPr/>
        </p:nvSpPr>
        <p:spPr>
          <a:xfrm>
            <a:off x="7782391" y="3910377"/>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d</a:t>
            </a:r>
            <a:endParaRPr lang="zh-TW" altLang="en-US" dirty="0"/>
          </a:p>
        </p:txBody>
      </p:sp>
      <p:cxnSp>
        <p:nvCxnSpPr>
          <p:cNvPr id="46" name="直線接點 45"/>
          <p:cNvCxnSpPr>
            <a:stCxn id="32" idx="4"/>
            <a:endCxn id="36" idx="0"/>
          </p:cNvCxnSpPr>
          <p:nvPr/>
        </p:nvCxnSpPr>
        <p:spPr>
          <a:xfrm flipH="1">
            <a:off x="7057868" y="2396353"/>
            <a:ext cx="17489" cy="321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線接點 48"/>
          <p:cNvCxnSpPr>
            <a:stCxn id="35" idx="4"/>
            <a:endCxn id="38" idx="0"/>
          </p:cNvCxnSpPr>
          <p:nvPr/>
        </p:nvCxnSpPr>
        <p:spPr>
          <a:xfrm flipH="1">
            <a:off x="7902314" y="2377613"/>
            <a:ext cx="17489" cy="321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線接點 51"/>
          <p:cNvCxnSpPr>
            <a:stCxn id="36" idx="4"/>
            <a:endCxn id="40" idx="0"/>
          </p:cNvCxnSpPr>
          <p:nvPr/>
        </p:nvCxnSpPr>
        <p:spPr>
          <a:xfrm>
            <a:off x="7057868" y="2965357"/>
            <a:ext cx="422223" cy="392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線接點 53"/>
          <p:cNvCxnSpPr>
            <a:stCxn id="38" idx="4"/>
            <a:endCxn id="41" idx="0"/>
          </p:cNvCxnSpPr>
          <p:nvPr/>
        </p:nvCxnSpPr>
        <p:spPr>
          <a:xfrm>
            <a:off x="7902314" y="2946617"/>
            <a:ext cx="0" cy="39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線接點 55"/>
          <p:cNvCxnSpPr>
            <a:stCxn id="40" idx="4"/>
            <a:endCxn id="43" idx="0"/>
          </p:cNvCxnSpPr>
          <p:nvPr/>
        </p:nvCxnSpPr>
        <p:spPr>
          <a:xfrm>
            <a:off x="7480091" y="3605569"/>
            <a:ext cx="14989" cy="323547"/>
          </a:xfrm>
          <a:prstGeom prst="line">
            <a:avLst/>
          </a:prstGeom>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4445223" y="4713547"/>
            <a:ext cx="4275909" cy="369332"/>
          </a:xfrm>
          <a:prstGeom prst="rect">
            <a:avLst/>
          </a:prstGeom>
        </p:spPr>
        <p:txBody>
          <a:bodyPr wrap="square">
            <a:spAutoFit/>
          </a:bodyPr>
          <a:lstStyle/>
          <a:p>
            <a:r>
              <a:rPr lang="en-US" altLang="zh-TW" dirty="0"/>
              <a:t>Ω </a:t>
            </a:r>
            <a:r>
              <a:rPr lang="en-US" altLang="zh-TW" dirty="0" smtClean="0"/>
              <a:t>(x(1))={x(1),a(1),y(2),z(2)}</a:t>
            </a:r>
          </a:p>
        </p:txBody>
      </p:sp>
      <p:sp>
        <p:nvSpPr>
          <p:cNvPr id="58" name="文字方塊 57"/>
          <p:cNvSpPr txBox="1"/>
          <p:nvPr/>
        </p:nvSpPr>
        <p:spPr>
          <a:xfrm>
            <a:off x="2087379" y="2156918"/>
            <a:ext cx="717032" cy="369332"/>
          </a:xfrm>
          <a:prstGeom prst="rect">
            <a:avLst/>
          </a:prstGeom>
          <a:noFill/>
        </p:spPr>
        <p:txBody>
          <a:bodyPr wrap="square" rtlCol="0">
            <a:spAutoFit/>
          </a:bodyPr>
          <a:lstStyle/>
          <a:p>
            <a:r>
              <a:rPr lang="en-US" altLang="zh-TW" dirty="0" smtClean="0"/>
              <a:t>x</a:t>
            </a:r>
            <a:endParaRPr lang="zh-TW" altLang="en-US" dirty="0"/>
          </a:p>
        </p:txBody>
      </p:sp>
      <p:sp>
        <p:nvSpPr>
          <p:cNvPr id="59" name="文字方塊 58"/>
          <p:cNvSpPr txBox="1"/>
          <p:nvPr/>
        </p:nvSpPr>
        <p:spPr>
          <a:xfrm>
            <a:off x="720774" y="5026914"/>
            <a:ext cx="717032" cy="369332"/>
          </a:xfrm>
          <a:prstGeom prst="rect">
            <a:avLst/>
          </a:prstGeom>
          <a:noFill/>
        </p:spPr>
        <p:txBody>
          <a:bodyPr wrap="square" rtlCol="0">
            <a:spAutoFit/>
          </a:bodyPr>
          <a:lstStyle/>
          <a:p>
            <a:r>
              <a:rPr lang="en-US" altLang="zh-TW" dirty="0" smtClean="0"/>
              <a:t>a</a:t>
            </a:r>
            <a:endParaRPr lang="zh-TW" altLang="en-US" dirty="0"/>
          </a:p>
        </p:txBody>
      </p:sp>
      <p:sp>
        <p:nvSpPr>
          <p:cNvPr id="60" name="文字方塊 59"/>
          <p:cNvSpPr txBox="1"/>
          <p:nvPr/>
        </p:nvSpPr>
        <p:spPr>
          <a:xfrm>
            <a:off x="2500889" y="4111069"/>
            <a:ext cx="717032" cy="369332"/>
          </a:xfrm>
          <a:prstGeom prst="rect">
            <a:avLst/>
          </a:prstGeom>
          <a:noFill/>
        </p:spPr>
        <p:txBody>
          <a:bodyPr wrap="square" rtlCol="0">
            <a:spAutoFit/>
          </a:bodyPr>
          <a:lstStyle/>
          <a:p>
            <a:r>
              <a:rPr lang="en-US" altLang="zh-TW" dirty="0" smtClean="0"/>
              <a:t>z</a:t>
            </a:r>
            <a:endParaRPr lang="zh-TW" altLang="en-US" dirty="0"/>
          </a:p>
        </p:txBody>
      </p:sp>
      <p:sp>
        <p:nvSpPr>
          <p:cNvPr id="61" name="文字方塊 60"/>
          <p:cNvSpPr txBox="1"/>
          <p:nvPr/>
        </p:nvSpPr>
        <p:spPr>
          <a:xfrm>
            <a:off x="4535813" y="3240184"/>
            <a:ext cx="717032" cy="369332"/>
          </a:xfrm>
          <a:prstGeom prst="rect">
            <a:avLst/>
          </a:prstGeom>
          <a:noFill/>
        </p:spPr>
        <p:txBody>
          <a:bodyPr wrap="square" rtlCol="0">
            <a:spAutoFit/>
          </a:bodyPr>
          <a:lstStyle/>
          <a:p>
            <a:r>
              <a:rPr lang="en-US" altLang="zh-TW" dirty="0" smtClean="0"/>
              <a:t>y</a:t>
            </a:r>
            <a:endParaRPr lang="zh-TW" altLang="en-US" dirty="0"/>
          </a:p>
        </p:txBody>
      </p:sp>
      <p:sp>
        <p:nvSpPr>
          <p:cNvPr id="62" name="文字方塊 61"/>
          <p:cNvSpPr txBox="1"/>
          <p:nvPr/>
        </p:nvSpPr>
        <p:spPr>
          <a:xfrm>
            <a:off x="6922956" y="1766766"/>
            <a:ext cx="1321634" cy="369332"/>
          </a:xfrm>
          <a:prstGeom prst="rect">
            <a:avLst/>
          </a:prstGeom>
          <a:noFill/>
        </p:spPr>
        <p:txBody>
          <a:bodyPr wrap="square" rtlCol="0">
            <a:spAutoFit/>
          </a:bodyPr>
          <a:lstStyle/>
          <a:p>
            <a:r>
              <a:rPr lang="en-US" altLang="zh-TW" dirty="0" smtClean="0"/>
              <a:t>1     2     3</a:t>
            </a:r>
            <a:endParaRPr lang="zh-TW" altLang="en-US" dirty="0"/>
          </a:p>
        </p:txBody>
      </p:sp>
      <p:sp>
        <p:nvSpPr>
          <p:cNvPr id="63" name="文字方塊 62"/>
          <p:cNvSpPr txBox="1"/>
          <p:nvPr/>
        </p:nvSpPr>
        <p:spPr>
          <a:xfrm>
            <a:off x="6333064" y="2145129"/>
            <a:ext cx="605160" cy="2031325"/>
          </a:xfrm>
          <a:prstGeom prst="rect">
            <a:avLst/>
          </a:prstGeom>
          <a:noFill/>
        </p:spPr>
        <p:txBody>
          <a:bodyPr wrap="square" rtlCol="0">
            <a:spAutoFit/>
          </a:bodyPr>
          <a:lstStyle/>
          <a:p>
            <a:r>
              <a:rPr lang="en-US" altLang="zh-TW" dirty="0" smtClean="0"/>
              <a:t>a</a:t>
            </a:r>
          </a:p>
          <a:p>
            <a:endParaRPr lang="en-US" altLang="zh-TW" dirty="0"/>
          </a:p>
          <a:p>
            <a:r>
              <a:rPr lang="en-US" altLang="zh-TW" dirty="0" smtClean="0"/>
              <a:t>x</a:t>
            </a:r>
          </a:p>
          <a:p>
            <a:endParaRPr lang="en-US" altLang="zh-TW" dirty="0"/>
          </a:p>
          <a:p>
            <a:r>
              <a:rPr lang="en-US" altLang="zh-TW" dirty="0" smtClean="0"/>
              <a:t>y</a:t>
            </a:r>
          </a:p>
          <a:p>
            <a:endParaRPr lang="en-US" altLang="zh-TW" dirty="0"/>
          </a:p>
          <a:p>
            <a:r>
              <a:rPr lang="en-US" altLang="zh-TW" dirty="0" smtClean="0"/>
              <a:t>z</a:t>
            </a:r>
            <a:endParaRPr lang="zh-TW" altLang="en-US" dirty="0"/>
          </a:p>
        </p:txBody>
      </p:sp>
      <p:sp>
        <p:nvSpPr>
          <p:cNvPr id="64" name="矩形 63"/>
          <p:cNvSpPr/>
          <p:nvPr/>
        </p:nvSpPr>
        <p:spPr>
          <a:xfrm>
            <a:off x="4445222" y="5369150"/>
            <a:ext cx="4275909" cy="646331"/>
          </a:xfrm>
          <a:prstGeom prst="rect">
            <a:avLst/>
          </a:prstGeom>
        </p:spPr>
        <p:txBody>
          <a:bodyPr wrap="square">
            <a:spAutoFit/>
          </a:bodyPr>
          <a:lstStyle/>
          <a:p>
            <a:r>
              <a:rPr lang="en-US" altLang="zh-TW" dirty="0" smtClean="0"/>
              <a:t>Ω (x(3))={x(3),y(3),a(3)}</a:t>
            </a:r>
            <a:endParaRPr lang="zh-TW" altLang="en-US" dirty="0"/>
          </a:p>
          <a:p>
            <a:endParaRPr lang="zh-TW" altLang="en-US" dirty="0"/>
          </a:p>
        </p:txBody>
      </p:sp>
    </p:spTree>
    <p:extLst>
      <p:ext uri="{BB962C8B-B14F-4D97-AF65-F5344CB8AC3E}">
        <p14:creationId xmlns:p14="http://schemas.microsoft.com/office/powerpoint/2010/main" val="231884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09925" y="256771"/>
            <a:ext cx="6589199" cy="1280890"/>
          </a:xfrm>
        </p:spPr>
        <p:txBody>
          <a:bodyPr/>
          <a:lstStyle/>
          <a:p>
            <a:r>
              <a:rPr lang="en-US" altLang="zh-TW" b="1" dirty="0">
                <a:solidFill>
                  <a:schemeClr val="accent2">
                    <a:lumMod val="75000"/>
                  </a:schemeClr>
                </a:solidFill>
                <a:latin typeface="+mj-ea"/>
              </a:rPr>
              <a:t>The frame sequence of a tree of sequences </a:t>
            </a:r>
            <a:endParaRPr lang="zh-TW" altLang="en-US" dirty="0"/>
          </a:p>
        </p:txBody>
      </p:sp>
      <p:pic>
        <p:nvPicPr>
          <p:cNvPr id="4" name="圖片 3"/>
          <p:cNvPicPr>
            <a:picLocks noChangeAspect="1"/>
          </p:cNvPicPr>
          <p:nvPr/>
        </p:nvPicPr>
        <p:blipFill>
          <a:blip r:embed="rId2"/>
          <a:stretch>
            <a:fillRect/>
          </a:stretch>
        </p:blipFill>
        <p:spPr>
          <a:xfrm>
            <a:off x="333128" y="1395020"/>
            <a:ext cx="7913958" cy="1287210"/>
          </a:xfrm>
          <a:prstGeom prst="rect">
            <a:avLst/>
          </a:prstGeom>
        </p:spPr>
      </p:pic>
      <p:sp>
        <p:nvSpPr>
          <p:cNvPr id="75" name="橢圓 74"/>
          <p:cNvSpPr/>
          <p:nvPr/>
        </p:nvSpPr>
        <p:spPr>
          <a:xfrm>
            <a:off x="2132779" y="2927386"/>
            <a:ext cx="98116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FF0000"/>
                </a:solidFill>
              </a:rPr>
              <a:t>a</a:t>
            </a:r>
            <a:r>
              <a:rPr lang="en-US" altLang="zh-TW" dirty="0" err="1" smtClean="0"/>
              <a:t>b</a:t>
            </a:r>
            <a:r>
              <a:rPr lang="en-US" altLang="zh-TW" dirty="0" err="1" smtClean="0">
                <a:solidFill>
                  <a:srgbClr val="00B0F0"/>
                </a:solidFill>
              </a:rPr>
              <a:t>c</a:t>
            </a:r>
            <a:endParaRPr lang="zh-TW" altLang="en-US" dirty="0">
              <a:solidFill>
                <a:srgbClr val="00B0F0"/>
              </a:solidFill>
            </a:endParaRPr>
          </a:p>
        </p:txBody>
      </p:sp>
      <p:sp>
        <p:nvSpPr>
          <p:cNvPr id="76" name="橢圓 75"/>
          <p:cNvSpPr/>
          <p:nvPr/>
        </p:nvSpPr>
        <p:spPr>
          <a:xfrm>
            <a:off x="648752" y="5755531"/>
            <a:ext cx="959372"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FF0000"/>
                </a:solidFill>
              </a:rPr>
              <a:t>a</a:t>
            </a:r>
            <a:r>
              <a:rPr lang="en-US" altLang="zh-TW" dirty="0" err="1" smtClean="0"/>
              <a:t>d</a:t>
            </a:r>
            <a:r>
              <a:rPr lang="en-US" altLang="zh-TW" dirty="0" err="1" smtClean="0">
                <a:solidFill>
                  <a:srgbClr val="00B0F0"/>
                </a:solidFill>
              </a:rPr>
              <a:t>c</a:t>
            </a:r>
            <a:endParaRPr lang="zh-TW" altLang="en-US" dirty="0">
              <a:solidFill>
                <a:srgbClr val="00B0F0"/>
              </a:solidFill>
            </a:endParaRPr>
          </a:p>
        </p:txBody>
      </p:sp>
      <p:sp>
        <p:nvSpPr>
          <p:cNvPr id="77" name="橢圓 76"/>
          <p:cNvSpPr/>
          <p:nvPr/>
        </p:nvSpPr>
        <p:spPr>
          <a:xfrm>
            <a:off x="3182091" y="3978572"/>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t>b</a:t>
            </a:r>
            <a:r>
              <a:rPr lang="en-US" altLang="zh-TW" dirty="0" err="1" smtClean="0">
                <a:solidFill>
                  <a:srgbClr val="FF0000"/>
                </a:solidFill>
              </a:rPr>
              <a:t>a</a:t>
            </a:r>
            <a:r>
              <a:rPr lang="en-US" altLang="zh-TW" dirty="0" err="1" smtClean="0">
                <a:solidFill>
                  <a:srgbClr val="00B0F0"/>
                </a:solidFill>
              </a:rPr>
              <a:t>c</a:t>
            </a:r>
            <a:endParaRPr lang="zh-TW" altLang="en-US" dirty="0">
              <a:solidFill>
                <a:srgbClr val="00B0F0"/>
              </a:solidFill>
            </a:endParaRPr>
          </a:p>
        </p:txBody>
      </p:sp>
      <p:sp>
        <p:nvSpPr>
          <p:cNvPr id="78" name="橢圓 77"/>
          <p:cNvSpPr/>
          <p:nvPr/>
        </p:nvSpPr>
        <p:spPr>
          <a:xfrm>
            <a:off x="2491166" y="4816197"/>
            <a:ext cx="930768"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t>e</a:t>
            </a:r>
            <a:r>
              <a:rPr lang="en-US" altLang="zh-TW" dirty="0" err="1" smtClean="0">
                <a:solidFill>
                  <a:srgbClr val="FF0000"/>
                </a:solidFill>
              </a:rPr>
              <a:t>a</a:t>
            </a:r>
            <a:r>
              <a:rPr lang="en-US" altLang="zh-TW" dirty="0" err="1" smtClean="0"/>
              <a:t>d</a:t>
            </a:r>
            <a:endParaRPr lang="zh-TW" altLang="en-US" dirty="0"/>
          </a:p>
        </p:txBody>
      </p:sp>
      <p:cxnSp>
        <p:nvCxnSpPr>
          <p:cNvPr id="79" name="直線接點 78"/>
          <p:cNvCxnSpPr>
            <a:stCxn id="75" idx="3"/>
            <a:endCxn id="76" idx="0"/>
          </p:cNvCxnSpPr>
          <p:nvPr/>
        </p:nvCxnSpPr>
        <p:spPr>
          <a:xfrm flipH="1">
            <a:off x="1128438" y="3349618"/>
            <a:ext cx="1148029" cy="24059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線接點 79"/>
          <p:cNvCxnSpPr>
            <a:stCxn id="75" idx="5"/>
          </p:cNvCxnSpPr>
          <p:nvPr/>
        </p:nvCxnSpPr>
        <p:spPr>
          <a:xfrm>
            <a:off x="2970257" y="3349618"/>
            <a:ext cx="474850" cy="628954"/>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線接點 80"/>
          <p:cNvCxnSpPr>
            <a:stCxn id="77" idx="3"/>
            <a:endCxn id="78" idx="0"/>
          </p:cNvCxnSpPr>
          <p:nvPr/>
        </p:nvCxnSpPr>
        <p:spPr>
          <a:xfrm flipH="1">
            <a:off x="2956550" y="4400804"/>
            <a:ext cx="365662" cy="415393"/>
          </a:xfrm>
          <a:prstGeom prst="line">
            <a:avLst/>
          </a:prstGeom>
        </p:spPr>
        <p:style>
          <a:lnRef idx="1">
            <a:schemeClr val="accent1"/>
          </a:lnRef>
          <a:fillRef idx="0">
            <a:schemeClr val="accent1"/>
          </a:fillRef>
          <a:effectRef idx="0">
            <a:schemeClr val="accent1"/>
          </a:effectRef>
          <a:fontRef idx="minor">
            <a:schemeClr val="tx1"/>
          </a:fontRef>
        </p:style>
      </p:cxnSp>
      <p:sp>
        <p:nvSpPr>
          <p:cNvPr id="82" name="橢圓 81"/>
          <p:cNvSpPr/>
          <p:nvPr/>
        </p:nvSpPr>
        <p:spPr>
          <a:xfrm>
            <a:off x="7314893" y="2688827"/>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83" name="橢圓 82"/>
          <p:cNvSpPr/>
          <p:nvPr/>
        </p:nvSpPr>
        <p:spPr>
          <a:xfrm>
            <a:off x="7737116" y="2688826"/>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d</a:t>
            </a:r>
            <a:endParaRPr lang="zh-TW" altLang="en-US" dirty="0"/>
          </a:p>
        </p:txBody>
      </p:sp>
      <p:sp>
        <p:nvSpPr>
          <p:cNvPr id="84" name="橢圓 83"/>
          <p:cNvSpPr/>
          <p:nvPr/>
        </p:nvSpPr>
        <p:spPr>
          <a:xfrm>
            <a:off x="8159339" y="2670087"/>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a:t>
            </a:r>
            <a:endParaRPr lang="zh-TW" altLang="en-US" dirty="0"/>
          </a:p>
        </p:txBody>
      </p:sp>
      <p:sp>
        <p:nvSpPr>
          <p:cNvPr id="85" name="橢圓 84"/>
          <p:cNvSpPr/>
          <p:nvPr/>
        </p:nvSpPr>
        <p:spPr>
          <a:xfrm>
            <a:off x="7297404" y="3257831"/>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86" name="橢圓 85"/>
          <p:cNvSpPr/>
          <p:nvPr/>
        </p:nvSpPr>
        <p:spPr>
          <a:xfrm>
            <a:off x="7719627" y="3257830"/>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b</a:t>
            </a:r>
            <a:endParaRPr lang="zh-TW" altLang="en-US" dirty="0"/>
          </a:p>
        </p:txBody>
      </p:sp>
      <p:sp>
        <p:nvSpPr>
          <p:cNvPr id="87" name="橢圓 86"/>
          <p:cNvSpPr/>
          <p:nvPr/>
        </p:nvSpPr>
        <p:spPr>
          <a:xfrm>
            <a:off x="8141850" y="3239091"/>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a:t>
            </a:r>
            <a:endParaRPr lang="zh-TW" altLang="en-US" dirty="0"/>
          </a:p>
        </p:txBody>
      </p:sp>
      <p:sp>
        <p:nvSpPr>
          <p:cNvPr id="88" name="橢圓 87"/>
          <p:cNvSpPr/>
          <p:nvPr/>
        </p:nvSpPr>
        <p:spPr>
          <a:xfrm>
            <a:off x="7297404" y="3898044"/>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b</a:t>
            </a:r>
            <a:endParaRPr lang="zh-TW" altLang="en-US" dirty="0"/>
          </a:p>
        </p:txBody>
      </p:sp>
      <p:sp>
        <p:nvSpPr>
          <p:cNvPr id="89" name="橢圓 88"/>
          <p:cNvSpPr/>
          <p:nvPr/>
        </p:nvSpPr>
        <p:spPr>
          <a:xfrm>
            <a:off x="7719627" y="3898043"/>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90" name="橢圓 89"/>
          <p:cNvSpPr/>
          <p:nvPr/>
        </p:nvSpPr>
        <p:spPr>
          <a:xfrm>
            <a:off x="8141850" y="3879304"/>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a:t>
            </a:r>
            <a:endParaRPr lang="zh-TW" altLang="en-US" dirty="0"/>
          </a:p>
        </p:txBody>
      </p:sp>
      <p:sp>
        <p:nvSpPr>
          <p:cNvPr id="91" name="橢圓 90"/>
          <p:cNvSpPr/>
          <p:nvPr/>
        </p:nvSpPr>
        <p:spPr>
          <a:xfrm>
            <a:off x="7312393" y="4468929"/>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e</a:t>
            </a:r>
            <a:endParaRPr lang="zh-TW" altLang="en-US" dirty="0"/>
          </a:p>
        </p:txBody>
      </p:sp>
      <p:sp>
        <p:nvSpPr>
          <p:cNvPr id="92" name="橢圓 91"/>
          <p:cNvSpPr/>
          <p:nvPr/>
        </p:nvSpPr>
        <p:spPr>
          <a:xfrm>
            <a:off x="7734616" y="4468928"/>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a:t>
            </a:r>
            <a:endParaRPr lang="zh-TW" altLang="en-US" dirty="0"/>
          </a:p>
        </p:txBody>
      </p:sp>
      <p:sp>
        <p:nvSpPr>
          <p:cNvPr id="93" name="橢圓 92"/>
          <p:cNvSpPr/>
          <p:nvPr/>
        </p:nvSpPr>
        <p:spPr>
          <a:xfrm>
            <a:off x="8156839" y="4450189"/>
            <a:ext cx="269823" cy="24733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d</a:t>
            </a:r>
            <a:endParaRPr lang="zh-TW" altLang="en-US" dirty="0"/>
          </a:p>
        </p:txBody>
      </p:sp>
      <p:cxnSp>
        <p:nvCxnSpPr>
          <p:cNvPr id="94" name="直線接點 93"/>
          <p:cNvCxnSpPr>
            <a:stCxn id="82" idx="4"/>
            <a:endCxn id="85" idx="0"/>
          </p:cNvCxnSpPr>
          <p:nvPr/>
        </p:nvCxnSpPr>
        <p:spPr>
          <a:xfrm flipH="1">
            <a:off x="7432316" y="2936165"/>
            <a:ext cx="17489" cy="321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線接點 94"/>
          <p:cNvCxnSpPr>
            <a:stCxn id="84" idx="4"/>
            <a:endCxn id="87" idx="0"/>
          </p:cNvCxnSpPr>
          <p:nvPr/>
        </p:nvCxnSpPr>
        <p:spPr>
          <a:xfrm flipH="1">
            <a:off x="8276762" y="2917425"/>
            <a:ext cx="17489" cy="321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線接點 95"/>
          <p:cNvCxnSpPr>
            <a:stCxn id="85" idx="4"/>
            <a:endCxn id="89" idx="0"/>
          </p:cNvCxnSpPr>
          <p:nvPr/>
        </p:nvCxnSpPr>
        <p:spPr>
          <a:xfrm>
            <a:off x="7432316" y="3505169"/>
            <a:ext cx="422223" cy="392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線接點 96"/>
          <p:cNvCxnSpPr>
            <a:stCxn id="87" idx="4"/>
            <a:endCxn id="90" idx="0"/>
          </p:cNvCxnSpPr>
          <p:nvPr/>
        </p:nvCxnSpPr>
        <p:spPr>
          <a:xfrm>
            <a:off x="8276762" y="3486429"/>
            <a:ext cx="0" cy="39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直線接點 97"/>
          <p:cNvCxnSpPr>
            <a:stCxn id="89" idx="4"/>
            <a:endCxn id="92" idx="0"/>
          </p:cNvCxnSpPr>
          <p:nvPr/>
        </p:nvCxnSpPr>
        <p:spPr>
          <a:xfrm>
            <a:off x="7854539" y="4145381"/>
            <a:ext cx="14989" cy="323547"/>
          </a:xfrm>
          <a:prstGeom prst="line">
            <a:avLst/>
          </a:prstGeom>
        </p:spPr>
        <p:style>
          <a:lnRef idx="1">
            <a:schemeClr val="accent1"/>
          </a:lnRef>
          <a:fillRef idx="0">
            <a:schemeClr val="accent1"/>
          </a:fillRef>
          <a:effectRef idx="0">
            <a:schemeClr val="accent1"/>
          </a:effectRef>
          <a:fontRef idx="minor">
            <a:schemeClr val="tx1"/>
          </a:fontRef>
        </p:style>
      </p:cxnSp>
      <p:sp>
        <p:nvSpPr>
          <p:cNvPr id="99" name="文字方塊 98"/>
          <p:cNvSpPr txBox="1"/>
          <p:nvPr/>
        </p:nvSpPr>
        <p:spPr>
          <a:xfrm>
            <a:off x="1656841" y="2948206"/>
            <a:ext cx="717032" cy="369332"/>
          </a:xfrm>
          <a:prstGeom prst="rect">
            <a:avLst/>
          </a:prstGeom>
          <a:noFill/>
        </p:spPr>
        <p:txBody>
          <a:bodyPr wrap="square" rtlCol="0">
            <a:spAutoFit/>
          </a:bodyPr>
          <a:lstStyle/>
          <a:p>
            <a:r>
              <a:rPr lang="en-US" altLang="zh-TW" dirty="0" smtClean="0"/>
              <a:t>x</a:t>
            </a:r>
            <a:endParaRPr lang="zh-TW" altLang="en-US" dirty="0"/>
          </a:p>
        </p:txBody>
      </p:sp>
      <p:sp>
        <p:nvSpPr>
          <p:cNvPr id="100" name="文字方塊 99"/>
          <p:cNvSpPr txBox="1"/>
          <p:nvPr/>
        </p:nvSpPr>
        <p:spPr>
          <a:xfrm>
            <a:off x="1605848" y="5873468"/>
            <a:ext cx="717032" cy="369332"/>
          </a:xfrm>
          <a:prstGeom prst="rect">
            <a:avLst/>
          </a:prstGeom>
          <a:noFill/>
        </p:spPr>
        <p:txBody>
          <a:bodyPr wrap="square" rtlCol="0">
            <a:spAutoFit/>
          </a:bodyPr>
          <a:lstStyle/>
          <a:p>
            <a:r>
              <a:rPr lang="en-US" altLang="zh-TW" dirty="0" smtClean="0"/>
              <a:t>a</a:t>
            </a:r>
            <a:endParaRPr lang="zh-TW" altLang="en-US" dirty="0"/>
          </a:p>
        </p:txBody>
      </p:sp>
      <p:sp>
        <p:nvSpPr>
          <p:cNvPr id="101" name="文字方塊 100"/>
          <p:cNvSpPr txBox="1"/>
          <p:nvPr/>
        </p:nvSpPr>
        <p:spPr>
          <a:xfrm>
            <a:off x="3477502" y="4951323"/>
            <a:ext cx="717032" cy="369332"/>
          </a:xfrm>
          <a:prstGeom prst="rect">
            <a:avLst/>
          </a:prstGeom>
          <a:noFill/>
        </p:spPr>
        <p:txBody>
          <a:bodyPr wrap="square" rtlCol="0">
            <a:spAutoFit/>
          </a:bodyPr>
          <a:lstStyle/>
          <a:p>
            <a:r>
              <a:rPr lang="en-US" altLang="zh-TW" dirty="0" smtClean="0"/>
              <a:t>z</a:t>
            </a:r>
            <a:endParaRPr lang="zh-TW" altLang="en-US" dirty="0"/>
          </a:p>
        </p:txBody>
      </p:sp>
      <p:sp>
        <p:nvSpPr>
          <p:cNvPr id="102" name="文字方塊 101"/>
          <p:cNvSpPr txBox="1"/>
          <p:nvPr/>
        </p:nvSpPr>
        <p:spPr>
          <a:xfrm>
            <a:off x="7297404" y="2306578"/>
            <a:ext cx="1321634" cy="369332"/>
          </a:xfrm>
          <a:prstGeom prst="rect">
            <a:avLst/>
          </a:prstGeom>
          <a:noFill/>
        </p:spPr>
        <p:txBody>
          <a:bodyPr wrap="square" rtlCol="0">
            <a:spAutoFit/>
          </a:bodyPr>
          <a:lstStyle/>
          <a:p>
            <a:r>
              <a:rPr lang="en-US" altLang="zh-TW" dirty="0" smtClean="0"/>
              <a:t>1     2     3</a:t>
            </a:r>
            <a:endParaRPr lang="zh-TW" altLang="en-US" dirty="0"/>
          </a:p>
        </p:txBody>
      </p:sp>
      <p:sp>
        <p:nvSpPr>
          <p:cNvPr id="103" name="文字方塊 102"/>
          <p:cNvSpPr txBox="1"/>
          <p:nvPr/>
        </p:nvSpPr>
        <p:spPr>
          <a:xfrm>
            <a:off x="6707512" y="2684941"/>
            <a:ext cx="605160" cy="2031325"/>
          </a:xfrm>
          <a:prstGeom prst="rect">
            <a:avLst/>
          </a:prstGeom>
          <a:noFill/>
        </p:spPr>
        <p:txBody>
          <a:bodyPr wrap="square" rtlCol="0">
            <a:spAutoFit/>
          </a:bodyPr>
          <a:lstStyle/>
          <a:p>
            <a:r>
              <a:rPr lang="en-US" altLang="zh-TW" dirty="0" smtClean="0"/>
              <a:t>a</a:t>
            </a:r>
          </a:p>
          <a:p>
            <a:endParaRPr lang="en-US" altLang="zh-TW" dirty="0"/>
          </a:p>
          <a:p>
            <a:r>
              <a:rPr lang="en-US" altLang="zh-TW" dirty="0" smtClean="0"/>
              <a:t>x</a:t>
            </a:r>
          </a:p>
          <a:p>
            <a:endParaRPr lang="en-US" altLang="zh-TW" dirty="0"/>
          </a:p>
          <a:p>
            <a:r>
              <a:rPr lang="en-US" altLang="zh-TW" dirty="0" smtClean="0"/>
              <a:t>y</a:t>
            </a:r>
          </a:p>
          <a:p>
            <a:endParaRPr lang="en-US" altLang="zh-TW" dirty="0"/>
          </a:p>
          <a:p>
            <a:r>
              <a:rPr lang="en-US" altLang="zh-TW" dirty="0" smtClean="0"/>
              <a:t>z</a:t>
            </a:r>
            <a:endParaRPr lang="zh-TW" altLang="en-US" dirty="0"/>
          </a:p>
        </p:txBody>
      </p:sp>
      <p:sp>
        <p:nvSpPr>
          <p:cNvPr id="104" name="矩形 103"/>
          <p:cNvSpPr/>
          <p:nvPr/>
        </p:nvSpPr>
        <p:spPr>
          <a:xfrm>
            <a:off x="3263766" y="5303727"/>
            <a:ext cx="3157751" cy="369332"/>
          </a:xfrm>
          <a:prstGeom prst="rect">
            <a:avLst/>
          </a:prstGeom>
        </p:spPr>
        <p:txBody>
          <a:bodyPr wrap="square">
            <a:spAutoFit/>
          </a:bodyPr>
          <a:lstStyle/>
          <a:p>
            <a:r>
              <a:rPr lang="en-US" altLang="zh-TW" dirty="0"/>
              <a:t>Ω (x(1))={x(1),a(1),y(2),z(2)}</a:t>
            </a:r>
          </a:p>
        </p:txBody>
      </p:sp>
      <p:sp>
        <p:nvSpPr>
          <p:cNvPr id="105" name="矩形 104"/>
          <p:cNvSpPr/>
          <p:nvPr/>
        </p:nvSpPr>
        <p:spPr>
          <a:xfrm>
            <a:off x="3263766" y="5677423"/>
            <a:ext cx="3241404" cy="646331"/>
          </a:xfrm>
          <a:prstGeom prst="rect">
            <a:avLst/>
          </a:prstGeom>
        </p:spPr>
        <p:txBody>
          <a:bodyPr wrap="square">
            <a:spAutoFit/>
          </a:bodyPr>
          <a:lstStyle/>
          <a:p>
            <a:r>
              <a:rPr lang="en-US" altLang="zh-TW" dirty="0"/>
              <a:t>Ω </a:t>
            </a:r>
            <a:r>
              <a:rPr lang="en-US" altLang="zh-TW" dirty="0" smtClean="0"/>
              <a:t>(y(2</a:t>
            </a:r>
            <a:r>
              <a:rPr lang="en-US" altLang="zh-TW" dirty="0"/>
              <a:t>))={</a:t>
            </a:r>
            <a:r>
              <a:rPr lang="en-US" altLang="zh-TW" dirty="0" smtClean="0"/>
              <a:t>x(1</a:t>
            </a:r>
            <a:r>
              <a:rPr lang="en-US" altLang="zh-TW" dirty="0"/>
              <a:t>),a(1),y(2),</a:t>
            </a:r>
            <a:r>
              <a:rPr lang="en-US" altLang="zh-TW" dirty="0" smtClean="0"/>
              <a:t>z(2</a:t>
            </a:r>
            <a:r>
              <a:rPr lang="en-US" altLang="zh-TW" dirty="0"/>
              <a:t>)}</a:t>
            </a:r>
          </a:p>
          <a:p>
            <a:endParaRPr lang="en-US" altLang="zh-TW" dirty="0" smtClean="0"/>
          </a:p>
        </p:txBody>
      </p:sp>
      <p:sp>
        <p:nvSpPr>
          <p:cNvPr id="106" name="矩形 105"/>
          <p:cNvSpPr/>
          <p:nvPr/>
        </p:nvSpPr>
        <p:spPr>
          <a:xfrm>
            <a:off x="3275326" y="6046127"/>
            <a:ext cx="3146191" cy="369332"/>
          </a:xfrm>
          <a:prstGeom prst="rect">
            <a:avLst/>
          </a:prstGeom>
        </p:spPr>
        <p:txBody>
          <a:bodyPr wrap="square">
            <a:spAutoFit/>
          </a:bodyPr>
          <a:lstStyle/>
          <a:p>
            <a:r>
              <a:rPr lang="en-US" altLang="zh-TW" dirty="0"/>
              <a:t>Ω </a:t>
            </a:r>
            <a:r>
              <a:rPr lang="en-US" altLang="zh-TW" dirty="0" smtClean="0"/>
              <a:t>(x(1)),</a:t>
            </a:r>
            <a:r>
              <a:rPr lang="en-US" altLang="zh-TW" dirty="0"/>
              <a:t> Ω </a:t>
            </a:r>
            <a:r>
              <a:rPr lang="en-US" altLang="zh-TW" dirty="0" smtClean="0"/>
              <a:t>(y(1))=&gt;</a:t>
            </a:r>
            <a:r>
              <a:rPr lang="en-US" altLang="zh-TW" dirty="0" smtClean="0">
                <a:solidFill>
                  <a:srgbClr val="FF0000"/>
                </a:solidFill>
              </a:rPr>
              <a:t>Ω</a:t>
            </a:r>
            <a:r>
              <a:rPr lang="en-US" altLang="zh-TW" baseline="-25000" dirty="0" smtClean="0">
                <a:solidFill>
                  <a:srgbClr val="FF0000"/>
                </a:solidFill>
              </a:rPr>
              <a:t>1</a:t>
            </a:r>
            <a:endParaRPr lang="en-US" altLang="zh-TW" dirty="0">
              <a:solidFill>
                <a:srgbClr val="FF0000"/>
              </a:solidFill>
            </a:endParaRPr>
          </a:p>
        </p:txBody>
      </p:sp>
      <p:sp>
        <p:nvSpPr>
          <p:cNvPr id="110" name="矩形 109"/>
          <p:cNvSpPr/>
          <p:nvPr/>
        </p:nvSpPr>
        <p:spPr>
          <a:xfrm>
            <a:off x="6515167" y="5320655"/>
            <a:ext cx="3157750" cy="369332"/>
          </a:xfrm>
          <a:prstGeom prst="rect">
            <a:avLst/>
          </a:prstGeom>
        </p:spPr>
        <p:txBody>
          <a:bodyPr wrap="square">
            <a:spAutoFit/>
          </a:bodyPr>
          <a:lstStyle/>
          <a:p>
            <a:r>
              <a:rPr lang="en-US" altLang="zh-TW" dirty="0"/>
              <a:t>Ω </a:t>
            </a:r>
            <a:r>
              <a:rPr lang="en-US" altLang="zh-TW" dirty="0" smtClean="0"/>
              <a:t>(x(3))={x(3),y(3),a(3)}</a:t>
            </a:r>
          </a:p>
        </p:txBody>
      </p:sp>
      <p:sp>
        <p:nvSpPr>
          <p:cNvPr id="111" name="矩形 110"/>
          <p:cNvSpPr/>
          <p:nvPr/>
        </p:nvSpPr>
        <p:spPr>
          <a:xfrm>
            <a:off x="6505170" y="5707259"/>
            <a:ext cx="2723968" cy="369332"/>
          </a:xfrm>
          <a:prstGeom prst="rect">
            <a:avLst/>
          </a:prstGeom>
        </p:spPr>
        <p:txBody>
          <a:bodyPr wrap="square">
            <a:spAutoFit/>
          </a:bodyPr>
          <a:lstStyle/>
          <a:p>
            <a:r>
              <a:rPr lang="en-US" altLang="zh-TW" dirty="0"/>
              <a:t>Ω </a:t>
            </a:r>
            <a:r>
              <a:rPr lang="en-US" altLang="zh-TW" dirty="0" smtClean="0"/>
              <a:t>(y(3))={x(3),y(3),a(3)}</a:t>
            </a:r>
          </a:p>
        </p:txBody>
      </p:sp>
      <p:sp>
        <p:nvSpPr>
          <p:cNvPr id="112" name="矩形 111"/>
          <p:cNvSpPr/>
          <p:nvPr/>
        </p:nvSpPr>
        <p:spPr>
          <a:xfrm>
            <a:off x="6515166" y="6119966"/>
            <a:ext cx="2583127" cy="369332"/>
          </a:xfrm>
          <a:prstGeom prst="rect">
            <a:avLst/>
          </a:prstGeom>
        </p:spPr>
        <p:txBody>
          <a:bodyPr wrap="square">
            <a:spAutoFit/>
          </a:bodyPr>
          <a:lstStyle/>
          <a:p>
            <a:r>
              <a:rPr lang="en-US" altLang="zh-TW" dirty="0"/>
              <a:t>Ω </a:t>
            </a:r>
            <a:r>
              <a:rPr lang="en-US" altLang="zh-TW" dirty="0" smtClean="0"/>
              <a:t>(x(3)), </a:t>
            </a:r>
            <a:r>
              <a:rPr lang="en-US" altLang="zh-TW" dirty="0"/>
              <a:t>Ω </a:t>
            </a:r>
            <a:r>
              <a:rPr lang="en-US" altLang="zh-TW" dirty="0" smtClean="0"/>
              <a:t>(y(3))=&gt;</a:t>
            </a:r>
            <a:r>
              <a:rPr lang="en-US" altLang="zh-TW" dirty="0" smtClean="0">
                <a:solidFill>
                  <a:srgbClr val="00B0F0"/>
                </a:solidFill>
              </a:rPr>
              <a:t>Ω</a:t>
            </a:r>
            <a:r>
              <a:rPr lang="en-US" altLang="zh-TW" baseline="-25000" dirty="0">
                <a:solidFill>
                  <a:srgbClr val="00B0F0"/>
                </a:solidFill>
              </a:rPr>
              <a:t>2</a:t>
            </a:r>
            <a:endParaRPr lang="en-US" altLang="zh-TW" dirty="0">
              <a:solidFill>
                <a:srgbClr val="00B0F0"/>
              </a:solidFill>
            </a:endParaRPr>
          </a:p>
        </p:txBody>
      </p:sp>
      <p:sp>
        <p:nvSpPr>
          <p:cNvPr id="39" name="文字方塊 38"/>
          <p:cNvSpPr txBox="1"/>
          <p:nvPr/>
        </p:nvSpPr>
        <p:spPr>
          <a:xfrm>
            <a:off x="4234608" y="4041901"/>
            <a:ext cx="717032" cy="369332"/>
          </a:xfrm>
          <a:prstGeom prst="rect">
            <a:avLst/>
          </a:prstGeom>
          <a:noFill/>
        </p:spPr>
        <p:txBody>
          <a:bodyPr wrap="square" rtlCol="0">
            <a:spAutoFit/>
          </a:bodyPr>
          <a:lstStyle/>
          <a:p>
            <a:r>
              <a:rPr lang="en-US" altLang="zh-TW" dirty="0" smtClean="0"/>
              <a:t>y</a:t>
            </a:r>
            <a:endParaRPr lang="zh-TW" altLang="en-US" dirty="0"/>
          </a:p>
        </p:txBody>
      </p:sp>
    </p:spTree>
    <p:extLst>
      <p:ext uri="{BB962C8B-B14F-4D97-AF65-F5344CB8AC3E}">
        <p14:creationId xmlns:p14="http://schemas.microsoft.com/office/powerpoint/2010/main" val="134260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04"/>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05"/>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4" grpId="1"/>
      <p:bldP spid="105" grpId="0"/>
      <p:bldP spid="105" grpId="1"/>
      <p:bldP spid="106" grpId="0"/>
      <p:bldP spid="106" grpId="1"/>
      <p:bldP spid="110" grpId="0"/>
      <p:bldP spid="111" grpId="0"/>
      <p:bldP spid="1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The incremental function</a:t>
            </a:r>
            <a:endParaRPr lang="zh-TW" altLang="en-US" dirty="0"/>
          </a:p>
        </p:txBody>
      </p:sp>
      <p:pic>
        <p:nvPicPr>
          <p:cNvPr id="11" name="圖片 10"/>
          <p:cNvPicPr>
            <a:picLocks noChangeAspect="1"/>
          </p:cNvPicPr>
          <p:nvPr/>
        </p:nvPicPr>
        <p:blipFill>
          <a:blip r:embed="rId3"/>
          <a:stretch>
            <a:fillRect/>
          </a:stretch>
        </p:blipFill>
        <p:spPr>
          <a:xfrm>
            <a:off x="778227" y="1286000"/>
            <a:ext cx="7836225" cy="1799524"/>
          </a:xfrm>
          <a:prstGeom prst="rect">
            <a:avLst/>
          </a:prstGeom>
        </p:spPr>
      </p:pic>
      <p:sp>
        <p:nvSpPr>
          <p:cNvPr id="5" name="橢圓 4"/>
          <p:cNvSpPr/>
          <p:nvPr/>
        </p:nvSpPr>
        <p:spPr>
          <a:xfrm>
            <a:off x="3417085" y="3431867"/>
            <a:ext cx="98116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FF0000"/>
                </a:solidFill>
              </a:rPr>
              <a:t>a</a:t>
            </a:r>
            <a:r>
              <a:rPr lang="en-US" altLang="zh-TW" dirty="0" err="1" smtClean="0">
                <a:solidFill>
                  <a:srgbClr val="7030A0"/>
                </a:solidFill>
              </a:rPr>
              <a:t>b</a:t>
            </a:r>
            <a:r>
              <a:rPr lang="en-US" altLang="zh-TW" dirty="0" err="1" smtClean="0">
                <a:solidFill>
                  <a:srgbClr val="00B0F0"/>
                </a:solidFill>
              </a:rPr>
              <a:t>c</a:t>
            </a:r>
            <a:endParaRPr lang="zh-TW" altLang="en-US" dirty="0">
              <a:solidFill>
                <a:srgbClr val="00B0F0"/>
              </a:solidFill>
            </a:endParaRPr>
          </a:p>
        </p:txBody>
      </p:sp>
      <p:sp>
        <p:nvSpPr>
          <p:cNvPr id="6" name="橢圓 5"/>
          <p:cNvSpPr/>
          <p:nvPr/>
        </p:nvSpPr>
        <p:spPr>
          <a:xfrm>
            <a:off x="2182547" y="5869860"/>
            <a:ext cx="959372"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FF0000"/>
                </a:solidFill>
              </a:rPr>
              <a:t>a</a:t>
            </a:r>
            <a:r>
              <a:rPr lang="en-US" altLang="zh-TW" dirty="0" err="1" smtClean="0">
                <a:solidFill>
                  <a:schemeClr val="tx1"/>
                </a:solidFill>
              </a:rPr>
              <a:t>d</a:t>
            </a:r>
            <a:r>
              <a:rPr lang="en-US" altLang="zh-TW" dirty="0" err="1" smtClean="0">
                <a:solidFill>
                  <a:srgbClr val="00B0F0"/>
                </a:solidFill>
              </a:rPr>
              <a:t>c</a:t>
            </a:r>
            <a:endParaRPr lang="zh-TW" altLang="en-US" dirty="0">
              <a:solidFill>
                <a:srgbClr val="00B0F0"/>
              </a:solidFill>
            </a:endParaRPr>
          </a:p>
        </p:txBody>
      </p:sp>
      <p:sp>
        <p:nvSpPr>
          <p:cNvPr id="8" name="橢圓 7"/>
          <p:cNvSpPr/>
          <p:nvPr/>
        </p:nvSpPr>
        <p:spPr>
          <a:xfrm>
            <a:off x="4335775" y="4115325"/>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7030A0"/>
                </a:solidFill>
              </a:rPr>
              <a:t>b</a:t>
            </a:r>
            <a:r>
              <a:rPr lang="en-US" altLang="zh-TW" dirty="0" err="1" smtClean="0">
                <a:solidFill>
                  <a:srgbClr val="FF0000"/>
                </a:solidFill>
              </a:rPr>
              <a:t>a</a:t>
            </a:r>
            <a:r>
              <a:rPr lang="en-US" altLang="zh-TW" dirty="0" err="1" smtClean="0">
                <a:solidFill>
                  <a:srgbClr val="00B0F0"/>
                </a:solidFill>
              </a:rPr>
              <a:t>c</a:t>
            </a:r>
            <a:endParaRPr lang="zh-TW" altLang="en-US" dirty="0">
              <a:solidFill>
                <a:srgbClr val="00B0F0"/>
              </a:solidFill>
            </a:endParaRPr>
          </a:p>
        </p:txBody>
      </p:sp>
      <p:sp>
        <p:nvSpPr>
          <p:cNvPr id="9" name="橢圓 8"/>
          <p:cNvSpPr/>
          <p:nvPr/>
        </p:nvSpPr>
        <p:spPr>
          <a:xfrm>
            <a:off x="3890859" y="4945120"/>
            <a:ext cx="930768"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002060"/>
                </a:solidFill>
              </a:rPr>
              <a:t>e</a:t>
            </a:r>
            <a:r>
              <a:rPr lang="en-US" altLang="zh-TW" dirty="0" err="1" smtClean="0">
                <a:solidFill>
                  <a:srgbClr val="FF0000"/>
                </a:solidFill>
              </a:rPr>
              <a:t>a</a:t>
            </a:r>
            <a:r>
              <a:rPr lang="en-US" altLang="zh-TW" dirty="0" err="1" smtClean="0">
                <a:solidFill>
                  <a:srgbClr val="FFC000"/>
                </a:solidFill>
              </a:rPr>
              <a:t>d</a:t>
            </a:r>
            <a:endParaRPr lang="zh-TW" altLang="en-US" dirty="0">
              <a:solidFill>
                <a:srgbClr val="FFC000"/>
              </a:solidFill>
            </a:endParaRPr>
          </a:p>
        </p:txBody>
      </p:sp>
      <p:cxnSp>
        <p:nvCxnSpPr>
          <p:cNvPr id="10" name="直線接點 9"/>
          <p:cNvCxnSpPr>
            <a:stCxn id="5" idx="3"/>
            <a:endCxn id="6" idx="0"/>
          </p:cNvCxnSpPr>
          <p:nvPr/>
        </p:nvCxnSpPr>
        <p:spPr>
          <a:xfrm flipH="1">
            <a:off x="2662233" y="3854099"/>
            <a:ext cx="898540" cy="2015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線接點 11"/>
          <p:cNvCxnSpPr>
            <a:stCxn id="5" idx="5"/>
            <a:endCxn id="8" idx="0"/>
          </p:cNvCxnSpPr>
          <p:nvPr/>
        </p:nvCxnSpPr>
        <p:spPr>
          <a:xfrm>
            <a:off x="4254563" y="3854099"/>
            <a:ext cx="559615" cy="26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8" idx="3"/>
            <a:endCxn id="9" idx="0"/>
          </p:cNvCxnSpPr>
          <p:nvPr/>
        </p:nvCxnSpPr>
        <p:spPr>
          <a:xfrm flipH="1">
            <a:off x="4356243" y="4537557"/>
            <a:ext cx="119653" cy="407563"/>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3245630" y="3062535"/>
            <a:ext cx="717032" cy="369332"/>
          </a:xfrm>
          <a:prstGeom prst="rect">
            <a:avLst/>
          </a:prstGeom>
          <a:noFill/>
        </p:spPr>
        <p:txBody>
          <a:bodyPr wrap="square" rtlCol="0">
            <a:spAutoFit/>
          </a:bodyPr>
          <a:lstStyle/>
          <a:p>
            <a:r>
              <a:rPr lang="en-US" altLang="zh-TW" dirty="0" smtClean="0"/>
              <a:t>x</a:t>
            </a:r>
            <a:endParaRPr lang="zh-TW" altLang="en-US" dirty="0"/>
          </a:p>
        </p:txBody>
      </p:sp>
      <p:sp>
        <p:nvSpPr>
          <p:cNvPr id="15" name="文字方塊 14"/>
          <p:cNvSpPr txBox="1"/>
          <p:nvPr/>
        </p:nvSpPr>
        <p:spPr>
          <a:xfrm>
            <a:off x="1824031" y="5899847"/>
            <a:ext cx="717032" cy="369332"/>
          </a:xfrm>
          <a:prstGeom prst="rect">
            <a:avLst/>
          </a:prstGeom>
          <a:noFill/>
        </p:spPr>
        <p:txBody>
          <a:bodyPr wrap="square" rtlCol="0">
            <a:spAutoFit/>
          </a:bodyPr>
          <a:lstStyle/>
          <a:p>
            <a:r>
              <a:rPr lang="en-US" altLang="zh-TW" dirty="0" smtClean="0"/>
              <a:t>a</a:t>
            </a:r>
            <a:endParaRPr lang="zh-TW" altLang="en-US" dirty="0"/>
          </a:p>
        </p:txBody>
      </p:sp>
      <p:sp>
        <p:nvSpPr>
          <p:cNvPr id="16" name="文字方塊 15"/>
          <p:cNvSpPr txBox="1"/>
          <p:nvPr/>
        </p:nvSpPr>
        <p:spPr>
          <a:xfrm>
            <a:off x="3472005" y="5017302"/>
            <a:ext cx="717032" cy="369332"/>
          </a:xfrm>
          <a:prstGeom prst="rect">
            <a:avLst/>
          </a:prstGeom>
          <a:noFill/>
        </p:spPr>
        <p:txBody>
          <a:bodyPr wrap="square" rtlCol="0">
            <a:spAutoFit/>
          </a:bodyPr>
          <a:lstStyle/>
          <a:p>
            <a:r>
              <a:rPr lang="en-US" altLang="zh-TW" dirty="0" smtClean="0"/>
              <a:t>z</a:t>
            </a:r>
            <a:endParaRPr lang="zh-TW" altLang="en-US" dirty="0"/>
          </a:p>
        </p:txBody>
      </p:sp>
      <p:sp>
        <p:nvSpPr>
          <p:cNvPr id="17" name="文字方塊 16"/>
          <p:cNvSpPr txBox="1"/>
          <p:nvPr/>
        </p:nvSpPr>
        <p:spPr>
          <a:xfrm>
            <a:off x="5355057" y="4097676"/>
            <a:ext cx="717032" cy="369332"/>
          </a:xfrm>
          <a:prstGeom prst="rect">
            <a:avLst/>
          </a:prstGeom>
          <a:noFill/>
        </p:spPr>
        <p:txBody>
          <a:bodyPr wrap="square" rtlCol="0">
            <a:spAutoFit/>
          </a:bodyPr>
          <a:lstStyle/>
          <a:p>
            <a:r>
              <a:rPr lang="en-US" altLang="zh-TW" dirty="0" smtClean="0"/>
              <a:t>y</a:t>
            </a:r>
            <a:endParaRPr lang="zh-TW" altLang="en-US" dirty="0"/>
          </a:p>
        </p:txBody>
      </p:sp>
      <p:cxnSp>
        <p:nvCxnSpPr>
          <p:cNvPr id="18" name="直線接點 17"/>
          <p:cNvCxnSpPr>
            <a:stCxn id="8" idx="5"/>
            <a:endCxn id="20" idx="0"/>
          </p:cNvCxnSpPr>
          <p:nvPr/>
        </p:nvCxnSpPr>
        <p:spPr>
          <a:xfrm>
            <a:off x="5152460" y="4537557"/>
            <a:ext cx="654746" cy="363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a:endCxn id="21" idx="0"/>
          </p:cNvCxnSpPr>
          <p:nvPr/>
        </p:nvCxnSpPr>
        <p:spPr>
          <a:xfrm>
            <a:off x="4332800" y="5450400"/>
            <a:ext cx="543854" cy="571442"/>
          </a:xfrm>
          <a:prstGeom prst="line">
            <a:avLst/>
          </a:prstGeom>
        </p:spPr>
        <p:style>
          <a:lnRef idx="1">
            <a:schemeClr val="accent1"/>
          </a:lnRef>
          <a:fillRef idx="0">
            <a:schemeClr val="accent1"/>
          </a:fillRef>
          <a:effectRef idx="0">
            <a:schemeClr val="accent1"/>
          </a:effectRef>
          <a:fontRef idx="minor">
            <a:schemeClr val="tx1"/>
          </a:fontRef>
        </p:style>
      </p:cxnSp>
      <p:sp>
        <p:nvSpPr>
          <p:cNvPr id="20" name="橢圓 19"/>
          <p:cNvSpPr/>
          <p:nvPr/>
        </p:nvSpPr>
        <p:spPr>
          <a:xfrm>
            <a:off x="5328803" y="4901314"/>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chemeClr val="tx1"/>
                </a:solidFill>
              </a:rPr>
              <a:t>de</a:t>
            </a:r>
            <a:r>
              <a:rPr lang="en-US" altLang="zh-TW" dirty="0" err="1" smtClean="0">
                <a:solidFill>
                  <a:schemeClr val="tx1"/>
                </a:solidFill>
              </a:rPr>
              <a:t>f</a:t>
            </a:r>
            <a:endParaRPr lang="zh-TW" altLang="en-US" dirty="0">
              <a:solidFill>
                <a:schemeClr val="tx1"/>
              </a:solidFill>
            </a:endParaRPr>
          </a:p>
        </p:txBody>
      </p:sp>
      <p:sp>
        <p:nvSpPr>
          <p:cNvPr id="21" name="橢圓 20"/>
          <p:cNvSpPr/>
          <p:nvPr/>
        </p:nvSpPr>
        <p:spPr>
          <a:xfrm>
            <a:off x="4398251" y="6021842"/>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smtClean="0">
                <a:solidFill>
                  <a:srgbClr val="002060"/>
                </a:solidFill>
              </a:rPr>
              <a:t>e</a:t>
            </a:r>
            <a:r>
              <a:rPr lang="en-US" altLang="zh-TW" dirty="0" err="1">
                <a:solidFill>
                  <a:schemeClr val="tx1"/>
                </a:solidFill>
              </a:rPr>
              <a:t>g</a:t>
            </a:r>
            <a:r>
              <a:rPr lang="en-US" altLang="zh-TW" dirty="0" err="1" smtClean="0">
                <a:solidFill>
                  <a:srgbClr val="FFC000"/>
                </a:solidFill>
              </a:rPr>
              <a:t>d</a:t>
            </a:r>
            <a:endParaRPr lang="zh-TW" altLang="en-US" dirty="0">
              <a:solidFill>
                <a:schemeClr val="tx1"/>
              </a:solidFill>
            </a:endParaRPr>
          </a:p>
        </p:txBody>
      </p:sp>
      <p:sp>
        <p:nvSpPr>
          <p:cNvPr id="47" name="文字方塊 46"/>
          <p:cNvSpPr txBox="1"/>
          <p:nvPr/>
        </p:nvSpPr>
        <p:spPr>
          <a:xfrm>
            <a:off x="3754627" y="6110712"/>
            <a:ext cx="717032" cy="369332"/>
          </a:xfrm>
          <a:prstGeom prst="rect">
            <a:avLst/>
          </a:prstGeom>
          <a:noFill/>
        </p:spPr>
        <p:txBody>
          <a:bodyPr wrap="square" rtlCol="0">
            <a:spAutoFit/>
          </a:bodyPr>
          <a:lstStyle/>
          <a:p>
            <a:r>
              <a:rPr lang="en-US" altLang="zh-TW" dirty="0" smtClean="0"/>
              <a:t>c</a:t>
            </a:r>
            <a:endParaRPr lang="zh-TW" altLang="en-US" dirty="0"/>
          </a:p>
        </p:txBody>
      </p:sp>
      <p:sp>
        <p:nvSpPr>
          <p:cNvPr id="48" name="文字方塊 47"/>
          <p:cNvSpPr txBox="1"/>
          <p:nvPr/>
        </p:nvSpPr>
        <p:spPr>
          <a:xfrm>
            <a:off x="6389724" y="4945120"/>
            <a:ext cx="717032" cy="369332"/>
          </a:xfrm>
          <a:prstGeom prst="rect">
            <a:avLst/>
          </a:prstGeom>
          <a:noFill/>
        </p:spPr>
        <p:txBody>
          <a:bodyPr wrap="square" rtlCol="0">
            <a:spAutoFit/>
          </a:bodyPr>
          <a:lstStyle/>
          <a:p>
            <a:r>
              <a:rPr lang="en-US" altLang="zh-TW" dirty="0" smtClean="0"/>
              <a:t>b</a:t>
            </a:r>
            <a:endParaRPr lang="zh-TW" altLang="en-US" dirty="0"/>
          </a:p>
        </p:txBody>
      </p:sp>
      <p:sp>
        <p:nvSpPr>
          <p:cNvPr id="3" name="文字方塊 2"/>
          <p:cNvSpPr txBox="1"/>
          <p:nvPr/>
        </p:nvSpPr>
        <p:spPr>
          <a:xfrm>
            <a:off x="2182547" y="4746171"/>
            <a:ext cx="959372" cy="369332"/>
          </a:xfrm>
          <a:prstGeom prst="rect">
            <a:avLst/>
          </a:prstGeom>
          <a:noFill/>
        </p:spPr>
        <p:txBody>
          <a:bodyPr wrap="square" rtlCol="0">
            <a:spAutoFit/>
          </a:bodyPr>
          <a:lstStyle/>
          <a:p>
            <a:r>
              <a:rPr lang="en-US" altLang="zh-TW" dirty="0" smtClean="0"/>
              <a:t>1</a:t>
            </a:r>
            <a:endParaRPr lang="zh-TW" altLang="en-US" dirty="0"/>
          </a:p>
        </p:txBody>
      </p:sp>
      <p:sp>
        <p:nvSpPr>
          <p:cNvPr id="22" name="文字方塊 21"/>
          <p:cNvSpPr txBox="1"/>
          <p:nvPr/>
        </p:nvSpPr>
        <p:spPr>
          <a:xfrm>
            <a:off x="4569706" y="3634159"/>
            <a:ext cx="959372" cy="369332"/>
          </a:xfrm>
          <a:prstGeom prst="rect">
            <a:avLst/>
          </a:prstGeom>
          <a:noFill/>
        </p:spPr>
        <p:txBody>
          <a:bodyPr wrap="square" rtlCol="0">
            <a:spAutoFit/>
          </a:bodyPr>
          <a:lstStyle/>
          <a:p>
            <a:r>
              <a:rPr lang="en-US" altLang="zh-TW" dirty="0" smtClean="0"/>
              <a:t>2</a:t>
            </a:r>
            <a:endParaRPr lang="zh-TW" altLang="en-US" dirty="0"/>
          </a:p>
        </p:txBody>
      </p:sp>
      <p:sp>
        <p:nvSpPr>
          <p:cNvPr id="23" name="文字方塊 22"/>
          <p:cNvSpPr txBox="1"/>
          <p:nvPr/>
        </p:nvSpPr>
        <p:spPr>
          <a:xfrm>
            <a:off x="5587897" y="4425334"/>
            <a:ext cx="959372" cy="369332"/>
          </a:xfrm>
          <a:prstGeom prst="rect">
            <a:avLst/>
          </a:prstGeom>
          <a:noFill/>
        </p:spPr>
        <p:txBody>
          <a:bodyPr wrap="square" rtlCol="0">
            <a:spAutoFit/>
          </a:bodyPr>
          <a:lstStyle/>
          <a:p>
            <a:r>
              <a:rPr lang="en-US" altLang="zh-TW" dirty="0" smtClean="0"/>
              <a:t>3</a:t>
            </a:r>
            <a:endParaRPr lang="zh-TW" altLang="en-US" dirty="0"/>
          </a:p>
        </p:txBody>
      </p:sp>
      <p:sp>
        <p:nvSpPr>
          <p:cNvPr id="24" name="文字方塊 23"/>
          <p:cNvSpPr txBox="1"/>
          <p:nvPr/>
        </p:nvSpPr>
        <p:spPr>
          <a:xfrm>
            <a:off x="3791253" y="4520804"/>
            <a:ext cx="959372" cy="369332"/>
          </a:xfrm>
          <a:prstGeom prst="rect">
            <a:avLst/>
          </a:prstGeom>
          <a:noFill/>
        </p:spPr>
        <p:txBody>
          <a:bodyPr wrap="square" rtlCol="0">
            <a:spAutoFit/>
          </a:bodyPr>
          <a:lstStyle/>
          <a:p>
            <a:r>
              <a:rPr lang="en-US" altLang="zh-TW" dirty="0" smtClean="0"/>
              <a:t>2</a:t>
            </a:r>
            <a:endParaRPr lang="zh-TW" altLang="en-US" dirty="0"/>
          </a:p>
        </p:txBody>
      </p:sp>
      <p:sp>
        <p:nvSpPr>
          <p:cNvPr id="25" name="文字方塊 24"/>
          <p:cNvSpPr txBox="1"/>
          <p:nvPr/>
        </p:nvSpPr>
        <p:spPr>
          <a:xfrm>
            <a:off x="4155911" y="5741380"/>
            <a:ext cx="959372" cy="369332"/>
          </a:xfrm>
          <a:prstGeom prst="rect">
            <a:avLst/>
          </a:prstGeom>
          <a:noFill/>
        </p:spPr>
        <p:txBody>
          <a:bodyPr wrap="square" rtlCol="0">
            <a:spAutoFit/>
          </a:bodyPr>
          <a:lstStyle/>
          <a:p>
            <a:r>
              <a:rPr lang="en-US" altLang="zh-TW" dirty="0" smtClean="0"/>
              <a:t>1</a:t>
            </a:r>
            <a:endParaRPr lang="zh-TW" altLang="en-US" dirty="0"/>
          </a:p>
        </p:txBody>
      </p:sp>
    </p:spTree>
    <p:extLst>
      <p:ext uri="{BB962C8B-B14F-4D97-AF65-F5344CB8AC3E}">
        <p14:creationId xmlns:p14="http://schemas.microsoft.com/office/powerpoint/2010/main" val="39869863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84027" y="624110"/>
            <a:ext cx="7050374" cy="1280890"/>
          </a:xfrm>
        </p:spPr>
        <p:txBody>
          <a:bodyPr/>
          <a:lstStyle/>
          <a:p>
            <a:r>
              <a:rPr lang="en-US" altLang="zh-TW" b="1" dirty="0">
                <a:solidFill>
                  <a:schemeClr val="accent2">
                    <a:lumMod val="75000"/>
                  </a:schemeClr>
                </a:solidFill>
                <a:latin typeface="微軟正黑體" panose="020B0604030504040204" pitchFamily="34" charset="-120"/>
              </a:rPr>
              <a:t>The incremental function</a:t>
            </a:r>
            <a:endParaRPr lang="zh-TW" altLang="en-US" dirty="0"/>
          </a:p>
        </p:txBody>
      </p:sp>
      <p:sp>
        <p:nvSpPr>
          <p:cNvPr id="3" name="內容版面配置區 2"/>
          <p:cNvSpPr>
            <a:spLocks noGrp="1"/>
          </p:cNvSpPr>
          <p:nvPr>
            <p:ph idx="1"/>
          </p:nvPr>
        </p:nvSpPr>
        <p:spPr>
          <a:xfrm>
            <a:off x="5727982" y="2025587"/>
            <a:ext cx="3233137" cy="3777622"/>
          </a:xfrm>
        </p:spPr>
        <p:txBody>
          <a:bodyPr>
            <a:normAutofit/>
          </a:bodyPr>
          <a:lstStyle/>
          <a:p>
            <a:r>
              <a:rPr lang="zh-TW" altLang="en-US" sz="2400" b="1" dirty="0" smtClean="0">
                <a:solidFill>
                  <a:schemeClr val="tx1"/>
                </a:solidFill>
              </a:rPr>
              <a:t>先用</a:t>
            </a:r>
            <a:r>
              <a:rPr lang="en-US" altLang="zh-TW" sz="2400" b="1" dirty="0" smtClean="0">
                <a:solidFill>
                  <a:schemeClr val="tx1"/>
                </a:solidFill>
              </a:rPr>
              <a:t>Ω</a:t>
            </a:r>
            <a:r>
              <a:rPr lang="en-US" altLang="zh-TW" sz="2400" b="1" baseline="-25000" dirty="0" smtClean="0">
                <a:solidFill>
                  <a:schemeClr val="tx1"/>
                </a:solidFill>
              </a:rPr>
              <a:t>1</a:t>
            </a:r>
            <a:r>
              <a:rPr lang="en-US" altLang="zh-TW" sz="2400" b="1" dirty="0" smtClean="0">
                <a:solidFill>
                  <a:schemeClr val="tx1"/>
                </a:solidFill>
              </a:rPr>
              <a:t> </a:t>
            </a:r>
            <a:r>
              <a:rPr lang="zh-TW" altLang="en-US" sz="2400" b="1" dirty="0" smtClean="0">
                <a:solidFill>
                  <a:schemeClr val="tx1"/>
                </a:solidFill>
              </a:rPr>
              <a:t>來看，將有</a:t>
            </a:r>
            <a:r>
              <a:rPr lang="en-US" altLang="zh-TW" sz="2400" b="1" dirty="0" smtClean="0">
                <a:solidFill>
                  <a:schemeClr val="tx1"/>
                </a:solidFill>
              </a:rPr>
              <a:t>a</a:t>
            </a:r>
            <a:r>
              <a:rPr lang="zh-TW" altLang="en-US" sz="2400" b="1" dirty="0" smtClean="0">
                <a:solidFill>
                  <a:schemeClr val="tx1"/>
                </a:solidFill>
              </a:rPr>
              <a:t>的部分</a:t>
            </a:r>
            <a:r>
              <a:rPr lang="zh-TW" altLang="en-US" sz="2400" b="1" dirty="0">
                <a:solidFill>
                  <a:schemeClr val="tx1"/>
                </a:solidFill>
              </a:rPr>
              <a:t>塗</a:t>
            </a:r>
            <a:r>
              <a:rPr lang="zh-TW" altLang="en-US" sz="2400" b="1" dirty="0" smtClean="0">
                <a:solidFill>
                  <a:schemeClr val="tx1"/>
                </a:solidFill>
              </a:rPr>
              <a:t>上顏色，沒有的話填</a:t>
            </a:r>
            <a:r>
              <a:rPr lang="en-US" altLang="zh-TW" sz="2400" b="1" dirty="0" smtClean="0">
                <a:solidFill>
                  <a:schemeClr val="tx1"/>
                </a:solidFill>
              </a:rPr>
              <a:t>Φ</a:t>
            </a:r>
            <a:endParaRPr lang="en-US" altLang="zh-TW" sz="2400" b="1" dirty="0">
              <a:solidFill>
                <a:srgbClr val="FF0000"/>
              </a:solidFill>
            </a:endParaRPr>
          </a:p>
          <a:p>
            <a:endParaRPr lang="en-US" altLang="zh-TW" sz="2400" b="1" dirty="0" smtClean="0">
              <a:solidFill>
                <a:srgbClr val="FF0000"/>
              </a:solidFill>
            </a:endParaRPr>
          </a:p>
          <a:p>
            <a:r>
              <a:rPr lang="en-US" altLang="zh-TW" sz="2400" b="1" dirty="0" smtClean="0">
                <a:solidFill>
                  <a:schemeClr val="tx1"/>
                </a:solidFill>
              </a:rPr>
              <a:t>f(</a:t>
            </a:r>
            <a:r>
              <a:rPr lang="en-US" altLang="zh-TW" sz="2400" b="1" dirty="0" smtClean="0"/>
              <a:t>Ω</a:t>
            </a:r>
            <a:r>
              <a:rPr lang="en-US" altLang="zh-TW" sz="2400" b="1" baseline="-25000" dirty="0" smtClean="0"/>
              <a:t>1</a:t>
            </a:r>
            <a:r>
              <a:rPr lang="en-US" altLang="zh-TW" sz="2400" b="1" dirty="0" smtClean="0">
                <a:solidFill>
                  <a:schemeClr val="tx1"/>
                </a:solidFill>
              </a:rPr>
              <a:t>)</a:t>
            </a:r>
            <a:r>
              <a:rPr lang="zh-TW" altLang="en-US" sz="2400" b="1" dirty="0" smtClean="0">
                <a:solidFill>
                  <a:schemeClr val="tx1"/>
                </a:solidFill>
              </a:rPr>
              <a:t>就是指</a:t>
            </a:r>
            <a:r>
              <a:rPr lang="en-US" altLang="zh-TW" sz="2400" b="1" dirty="0" smtClean="0">
                <a:solidFill>
                  <a:schemeClr val="tx1"/>
                </a:solidFill>
              </a:rPr>
              <a:t>bicolor</a:t>
            </a:r>
            <a:r>
              <a:rPr lang="zh-TW" altLang="en-US" sz="2400" b="1" dirty="0" smtClean="0">
                <a:solidFill>
                  <a:schemeClr val="tx1"/>
                </a:solidFill>
              </a:rPr>
              <a:t> </a:t>
            </a:r>
            <a:r>
              <a:rPr lang="en-US" altLang="zh-TW" sz="2400" b="1" dirty="0" smtClean="0">
                <a:solidFill>
                  <a:schemeClr val="tx1"/>
                </a:solidFill>
              </a:rPr>
              <a:t>edge</a:t>
            </a:r>
            <a:r>
              <a:rPr lang="zh-TW" altLang="en-US" sz="2400" b="1" dirty="0" smtClean="0">
                <a:solidFill>
                  <a:schemeClr val="tx1"/>
                </a:solidFill>
              </a:rPr>
              <a:t>的數量</a:t>
            </a:r>
            <a:endParaRPr lang="zh-TW" altLang="en-US" sz="2400" b="1" dirty="0">
              <a:solidFill>
                <a:schemeClr val="tx1"/>
              </a:solidFill>
            </a:endParaRPr>
          </a:p>
        </p:txBody>
      </p:sp>
      <p:sp>
        <p:nvSpPr>
          <p:cNvPr id="4" name="文字方塊 3"/>
          <p:cNvSpPr txBox="1"/>
          <p:nvPr/>
        </p:nvSpPr>
        <p:spPr>
          <a:xfrm>
            <a:off x="1544137" y="2293763"/>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t>b</a:t>
            </a:r>
            <a:r>
              <a:rPr lang="en-US" altLang="zh-TW" b="1" dirty="0" err="1">
                <a:solidFill>
                  <a:srgbClr val="00B0F0"/>
                </a:solidFill>
              </a:rPr>
              <a:t>c</a:t>
            </a:r>
            <a:endParaRPr lang="zh-TW" altLang="en-US" b="1" dirty="0">
              <a:solidFill>
                <a:srgbClr val="00B0F0"/>
              </a:solidFill>
            </a:endParaRPr>
          </a:p>
        </p:txBody>
      </p:sp>
      <p:sp>
        <p:nvSpPr>
          <p:cNvPr id="5" name="橢圓 4"/>
          <p:cNvSpPr/>
          <p:nvPr/>
        </p:nvSpPr>
        <p:spPr>
          <a:xfrm>
            <a:off x="2318580" y="2386050"/>
            <a:ext cx="981166" cy="494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a</a:t>
            </a:r>
            <a:endParaRPr lang="zh-TW" altLang="en-US" dirty="0">
              <a:solidFill>
                <a:schemeClr val="bg1"/>
              </a:solidFill>
            </a:endParaRPr>
          </a:p>
        </p:txBody>
      </p:sp>
      <p:sp>
        <p:nvSpPr>
          <p:cNvPr id="6" name="橢圓 5"/>
          <p:cNvSpPr/>
          <p:nvPr/>
        </p:nvSpPr>
        <p:spPr>
          <a:xfrm>
            <a:off x="1084042" y="4824043"/>
            <a:ext cx="959372" cy="494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a</a:t>
            </a:r>
            <a:endParaRPr lang="zh-TW" altLang="en-US" dirty="0">
              <a:solidFill>
                <a:schemeClr val="bg1"/>
              </a:solidFill>
            </a:endParaRPr>
          </a:p>
        </p:txBody>
      </p:sp>
      <p:sp>
        <p:nvSpPr>
          <p:cNvPr id="7" name="橢圓 6"/>
          <p:cNvSpPr/>
          <p:nvPr/>
        </p:nvSpPr>
        <p:spPr>
          <a:xfrm>
            <a:off x="3237270" y="3069508"/>
            <a:ext cx="956806" cy="494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a</a:t>
            </a:r>
            <a:endParaRPr lang="zh-TW" altLang="en-US" dirty="0">
              <a:solidFill>
                <a:schemeClr val="bg1"/>
              </a:solidFill>
            </a:endParaRPr>
          </a:p>
        </p:txBody>
      </p:sp>
      <p:sp>
        <p:nvSpPr>
          <p:cNvPr id="8" name="橢圓 7"/>
          <p:cNvSpPr/>
          <p:nvPr/>
        </p:nvSpPr>
        <p:spPr>
          <a:xfrm>
            <a:off x="2792354" y="3899303"/>
            <a:ext cx="930768" cy="494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a</a:t>
            </a:r>
            <a:endParaRPr lang="zh-TW" altLang="en-US" dirty="0">
              <a:solidFill>
                <a:schemeClr val="bg1"/>
              </a:solidFill>
            </a:endParaRPr>
          </a:p>
        </p:txBody>
      </p:sp>
      <p:cxnSp>
        <p:nvCxnSpPr>
          <p:cNvPr id="9" name="直線接點 8"/>
          <p:cNvCxnSpPr>
            <a:stCxn id="5" idx="3"/>
            <a:endCxn id="6" idx="0"/>
          </p:cNvCxnSpPr>
          <p:nvPr/>
        </p:nvCxnSpPr>
        <p:spPr>
          <a:xfrm flipH="1">
            <a:off x="1563728" y="2808282"/>
            <a:ext cx="898540" cy="2015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p:cNvCxnSpPr>
            <a:stCxn id="5" idx="5"/>
            <a:endCxn id="7" idx="0"/>
          </p:cNvCxnSpPr>
          <p:nvPr/>
        </p:nvCxnSpPr>
        <p:spPr>
          <a:xfrm>
            <a:off x="3156058" y="2808282"/>
            <a:ext cx="559615" cy="26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接點 10"/>
          <p:cNvCxnSpPr>
            <a:stCxn id="7" idx="3"/>
            <a:endCxn id="8" idx="0"/>
          </p:cNvCxnSpPr>
          <p:nvPr/>
        </p:nvCxnSpPr>
        <p:spPr>
          <a:xfrm flipH="1">
            <a:off x="3257738" y="3491740"/>
            <a:ext cx="119653" cy="407563"/>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1745236" y="4505638"/>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t>d</a:t>
            </a:r>
            <a:r>
              <a:rPr lang="en-US" altLang="zh-TW" b="1" dirty="0" err="1">
                <a:solidFill>
                  <a:srgbClr val="00B0F0"/>
                </a:solidFill>
              </a:rPr>
              <a:t>c</a:t>
            </a:r>
            <a:endParaRPr lang="zh-TW" altLang="en-US" b="1" dirty="0">
              <a:solidFill>
                <a:srgbClr val="00B0F0"/>
              </a:solidFill>
            </a:endParaRPr>
          </a:p>
        </p:txBody>
      </p:sp>
      <p:sp>
        <p:nvSpPr>
          <p:cNvPr id="13" name="文字方塊 12"/>
          <p:cNvSpPr txBox="1"/>
          <p:nvPr/>
        </p:nvSpPr>
        <p:spPr>
          <a:xfrm>
            <a:off x="2599524" y="4440264"/>
            <a:ext cx="717032" cy="369332"/>
          </a:xfrm>
          <a:prstGeom prst="rect">
            <a:avLst/>
          </a:prstGeom>
          <a:noFill/>
        </p:spPr>
        <p:txBody>
          <a:bodyPr wrap="square" rtlCol="0">
            <a:spAutoFit/>
          </a:bodyPr>
          <a:lstStyle/>
          <a:p>
            <a:pPr algn="ctr"/>
            <a:r>
              <a:rPr lang="en-US" altLang="zh-TW" b="1" dirty="0" err="1">
                <a:solidFill>
                  <a:srgbClr val="002060"/>
                </a:solidFill>
              </a:rPr>
              <a:t>e</a:t>
            </a:r>
            <a:r>
              <a:rPr lang="en-US" altLang="zh-TW" b="1" dirty="0" err="1">
                <a:solidFill>
                  <a:srgbClr val="FF0000"/>
                </a:solidFill>
              </a:rPr>
              <a:t>a</a:t>
            </a:r>
            <a:r>
              <a:rPr lang="en-US" altLang="zh-TW" b="1" dirty="0" err="1">
                <a:solidFill>
                  <a:srgbClr val="FFC000"/>
                </a:solidFill>
              </a:rPr>
              <a:t>d</a:t>
            </a:r>
            <a:endParaRPr lang="zh-TW" altLang="en-US" b="1" dirty="0">
              <a:solidFill>
                <a:srgbClr val="FFC000"/>
              </a:solidFill>
            </a:endParaRPr>
          </a:p>
        </p:txBody>
      </p:sp>
      <p:sp>
        <p:nvSpPr>
          <p:cNvPr id="14" name="文字方塊 13"/>
          <p:cNvSpPr txBox="1"/>
          <p:nvPr/>
        </p:nvSpPr>
        <p:spPr>
          <a:xfrm>
            <a:off x="4256552" y="3051859"/>
            <a:ext cx="717032" cy="369332"/>
          </a:xfrm>
          <a:prstGeom prst="rect">
            <a:avLst/>
          </a:prstGeom>
          <a:noFill/>
        </p:spPr>
        <p:txBody>
          <a:bodyPr wrap="square" rtlCol="0">
            <a:spAutoFit/>
          </a:bodyPr>
          <a:lstStyle/>
          <a:p>
            <a:pPr algn="ctr"/>
            <a:r>
              <a:rPr lang="en-US" altLang="zh-TW" b="1" dirty="0" err="1"/>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cxnSp>
        <p:nvCxnSpPr>
          <p:cNvPr id="15" name="直線接點 14"/>
          <p:cNvCxnSpPr>
            <a:stCxn id="7" idx="5"/>
            <a:endCxn id="17" idx="0"/>
          </p:cNvCxnSpPr>
          <p:nvPr/>
        </p:nvCxnSpPr>
        <p:spPr>
          <a:xfrm>
            <a:off x="4053955" y="3491740"/>
            <a:ext cx="654746" cy="363757"/>
          </a:xfrm>
          <a:prstGeom prst="line">
            <a:avLst/>
          </a:prstGeom>
        </p:spPr>
        <p:style>
          <a:lnRef idx="3">
            <a:schemeClr val="dk1"/>
          </a:lnRef>
          <a:fillRef idx="0">
            <a:schemeClr val="dk1"/>
          </a:fillRef>
          <a:effectRef idx="2">
            <a:schemeClr val="dk1"/>
          </a:effectRef>
          <a:fontRef idx="minor">
            <a:schemeClr val="tx1"/>
          </a:fontRef>
        </p:style>
      </p:cxnSp>
      <p:cxnSp>
        <p:nvCxnSpPr>
          <p:cNvPr id="16" name="直線接點 15"/>
          <p:cNvCxnSpPr>
            <a:endCxn id="18" idx="0"/>
          </p:cNvCxnSpPr>
          <p:nvPr/>
        </p:nvCxnSpPr>
        <p:spPr>
          <a:xfrm>
            <a:off x="3234295" y="4404583"/>
            <a:ext cx="543854" cy="571442"/>
          </a:xfrm>
          <a:prstGeom prst="line">
            <a:avLst/>
          </a:prstGeom>
        </p:spPr>
        <p:style>
          <a:lnRef idx="3">
            <a:schemeClr val="dk1"/>
          </a:lnRef>
          <a:fillRef idx="0">
            <a:schemeClr val="dk1"/>
          </a:fillRef>
          <a:effectRef idx="2">
            <a:schemeClr val="dk1"/>
          </a:effectRef>
          <a:fontRef idx="minor">
            <a:schemeClr val="tx1"/>
          </a:fontRef>
        </p:style>
      </p:cxnSp>
      <p:sp>
        <p:nvSpPr>
          <p:cNvPr id="17" name="橢圓 16"/>
          <p:cNvSpPr/>
          <p:nvPr/>
        </p:nvSpPr>
        <p:spPr>
          <a:xfrm>
            <a:off x="4230298" y="3855497"/>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8" name="橢圓 17"/>
          <p:cNvSpPr/>
          <p:nvPr/>
        </p:nvSpPr>
        <p:spPr>
          <a:xfrm>
            <a:off x="3299746" y="4976025"/>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9" name="文字方塊 18"/>
          <p:cNvSpPr txBox="1"/>
          <p:nvPr/>
        </p:nvSpPr>
        <p:spPr>
          <a:xfrm>
            <a:off x="2656122" y="5064895"/>
            <a:ext cx="717032" cy="369332"/>
          </a:xfrm>
          <a:prstGeom prst="rect">
            <a:avLst/>
          </a:prstGeom>
          <a:noFill/>
        </p:spPr>
        <p:txBody>
          <a:bodyPr wrap="square" rtlCol="0">
            <a:spAutoFit/>
          </a:bodyPr>
          <a:lstStyle/>
          <a:p>
            <a:pPr algn="ctr"/>
            <a:r>
              <a:rPr lang="en-US" altLang="zh-TW" b="1" dirty="0" err="1" smtClean="0">
                <a:solidFill>
                  <a:srgbClr val="002060"/>
                </a:solidFill>
              </a:rPr>
              <a:t>e</a:t>
            </a:r>
            <a:r>
              <a:rPr lang="en-US" altLang="zh-TW" b="1" dirty="0" err="1" smtClean="0"/>
              <a:t>g</a:t>
            </a:r>
            <a:r>
              <a:rPr lang="en-US" altLang="zh-TW" b="1" dirty="0" err="1" smtClean="0">
                <a:solidFill>
                  <a:srgbClr val="FFC000"/>
                </a:solidFill>
              </a:rPr>
              <a:t>d</a:t>
            </a:r>
            <a:endParaRPr lang="zh-TW" altLang="en-US" b="1" dirty="0"/>
          </a:p>
        </p:txBody>
      </p:sp>
      <p:sp>
        <p:nvSpPr>
          <p:cNvPr id="20" name="文字方塊 19"/>
          <p:cNvSpPr txBox="1"/>
          <p:nvPr/>
        </p:nvSpPr>
        <p:spPr>
          <a:xfrm>
            <a:off x="5018399" y="4085457"/>
            <a:ext cx="717032" cy="369332"/>
          </a:xfrm>
          <a:prstGeom prst="rect">
            <a:avLst/>
          </a:prstGeom>
          <a:noFill/>
        </p:spPr>
        <p:txBody>
          <a:bodyPr wrap="square" rtlCol="0">
            <a:spAutoFit/>
          </a:bodyPr>
          <a:lstStyle/>
          <a:p>
            <a:pPr algn="ctr"/>
            <a:r>
              <a:rPr lang="en-US" altLang="zh-TW" b="1" dirty="0" err="1"/>
              <a:t>d</a:t>
            </a:r>
            <a:r>
              <a:rPr lang="en-US" altLang="zh-TW" b="1" dirty="0" err="1">
                <a:solidFill>
                  <a:schemeClr val="accent2">
                    <a:lumMod val="75000"/>
                  </a:schemeClr>
                </a:solidFill>
              </a:rPr>
              <a:t>e</a:t>
            </a:r>
            <a:r>
              <a:rPr lang="en-US" altLang="zh-TW" b="1" dirty="0" err="1"/>
              <a:t>f</a:t>
            </a:r>
            <a:endParaRPr lang="zh-TW" altLang="en-US" b="1" dirty="0"/>
          </a:p>
        </p:txBody>
      </p:sp>
    </p:spTree>
    <p:extLst>
      <p:ext uri="{BB962C8B-B14F-4D97-AF65-F5344CB8AC3E}">
        <p14:creationId xmlns:p14="http://schemas.microsoft.com/office/powerpoint/2010/main" val="24114975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84027" y="624110"/>
            <a:ext cx="7050374" cy="1280890"/>
          </a:xfrm>
        </p:spPr>
        <p:txBody>
          <a:bodyPr/>
          <a:lstStyle/>
          <a:p>
            <a:r>
              <a:rPr lang="en-US" altLang="zh-TW" b="1" dirty="0">
                <a:solidFill>
                  <a:schemeClr val="accent2">
                    <a:lumMod val="75000"/>
                  </a:schemeClr>
                </a:solidFill>
                <a:latin typeface="微軟正黑體" panose="020B0604030504040204" pitchFamily="34" charset="-120"/>
              </a:rPr>
              <a:t>The incremental function</a:t>
            </a:r>
            <a:endParaRPr lang="zh-TW" altLang="en-US" dirty="0"/>
          </a:p>
        </p:txBody>
      </p:sp>
      <p:sp>
        <p:nvSpPr>
          <p:cNvPr id="3" name="內容版面配置區 2"/>
          <p:cNvSpPr>
            <a:spLocks noGrp="1"/>
          </p:cNvSpPr>
          <p:nvPr>
            <p:ph idx="1"/>
          </p:nvPr>
        </p:nvSpPr>
        <p:spPr>
          <a:xfrm>
            <a:off x="5727982" y="2025587"/>
            <a:ext cx="3233137" cy="3777622"/>
          </a:xfrm>
        </p:spPr>
        <p:txBody>
          <a:bodyPr>
            <a:normAutofit/>
          </a:bodyPr>
          <a:lstStyle/>
          <a:p>
            <a:r>
              <a:rPr lang="zh-TW" altLang="en-US" sz="2400" b="1" dirty="0" smtClean="0">
                <a:solidFill>
                  <a:schemeClr val="tx1"/>
                </a:solidFill>
              </a:rPr>
              <a:t>先用</a:t>
            </a:r>
            <a:r>
              <a:rPr lang="en-US" altLang="zh-TW" sz="2400" b="1" dirty="0" smtClean="0">
                <a:solidFill>
                  <a:schemeClr val="tx1"/>
                </a:solidFill>
              </a:rPr>
              <a:t>Ω</a:t>
            </a:r>
            <a:r>
              <a:rPr lang="en-US" altLang="zh-TW" sz="2400" b="1" baseline="-25000" dirty="0" smtClean="0">
                <a:solidFill>
                  <a:schemeClr val="tx1"/>
                </a:solidFill>
              </a:rPr>
              <a:t>2</a:t>
            </a:r>
            <a:r>
              <a:rPr lang="en-US" altLang="zh-TW" sz="2400" b="1" dirty="0" smtClean="0">
                <a:solidFill>
                  <a:schemeClr val="tx1"/>
                </a:solidFill>
              </a:rPr>
              <a:t> </a:t>
            </a:r>
            <a:r>
              <a:rPr lang="zh-TW" altLang="en-US" sz="2400" b="1" dirty="0" smtClean="0">
                <a:solidFill>
                  <a:schemeClr val="tx1"/>
                </a:solidFill>
              </a:rPr>
              <a:t>來看，將有</a:t>
            </a:r>
            <a:r>
              <a:rPr lang="en-US" altLang="zh-TW" sz="2400" b="1" dirty="0" smtClean="0">
                <a:solidFill>
                  <a:schemeClr val="tx1"/>
                </a:solidFill>
              </a:rPr>
              <a:t>c</a:t>
            </a:r>
            <a:r>
              <a:rPr lang="zh-TW" altLang="en-US" sz="2400" b="1" dirty="0" smtClean="0">
                <a:solidFill>
                  <a:schemeClr val="tx1"/>
                </a:solidFill>
              </a:rPr>
              <a:t>的部分</a:t>
            </a:r>
            <a:r>
              <a:rPr lang="zh-TW" altLang="en-US" sz="2400" b="1" dirty="0">
                <a:solidFill>
                  <a:schemeClr val="tx1"/>
                </a:solidFill>
              </a:rPr>
              <a:t>塗</a:t>
            </a:r>
            <a:r>
              <a:rPr lang="zh-TW" altLang="en-US" sz="2400" b="1" dirty="0" smtClean="0">
                <a:solidFill>
                  <a:schemeClr val="tx1"/>
                </a:solidFill>
              </a:rPr>
              <a:t>上顏色，沒有的話填</a:t>
            </a:r>
            <a:r>
              <a:rPr lang="en-US" altLang="zh-TW" sz="2400" b="1" dirty="0" smtClean="0">
                <a:solidFill>
                  <a:schemeClr val="tx1"/>
                </a:solidFill>
              </a:rPr>
              <a:t>Φ</a:t>
            </a:r>
            <a:endParaRPr lang="en-US" altLang="zh-TW" sz="2400" b="1" dirty="0">
              <a:solidFill>
                <a:srgbClr val="FF0000"/>
              </a:solidFill>
            </a:endParaRPr>
          </a:p>
          <a:p>
            <a:endParaRPr lang="en-US" altLang="zh-TW" sz="2400" b="1" dirty="0" smtClean="0">
              <a:solidFill>
                <a:srgbClr val="FF0000"/>
              </a:solidFill>
            </a:endParaRPr>
          </a:p>
          <a:p>
            <a:r>
              <a:rPr lang="en-US" altLang="zh-TW" sz="2400" b="1" dirty="0" smtClean="0">
                <a:solidFill>
                  <a:schemeClr val="tx1"/>
                </a:solidFill>
              </a:rPr>
              <a:t>f(</a:t>
            </a:r>
            <a:r>
              <a:rPr lang="en-US" altLang="zh-TW" sz="2400" b="1" dirty="0" smtClean="0"/>
              <a:t>Ω</a:t>
            </a:r>
            <a:r>
              <a:rPr lang="en-US" altLang="zh-TW" sz="2400" b="1" baseline="-25000" dirty="0" smtClean="0"/>
              <a:t>2</a:t>
            </a:r>
            <a:r>
              <a:rPr lang="en-US" altLang="zh-TW" sz="2400" b="1" dirty="0" smtClean="0">
                <a:solidFill>
                  <a:schemeClr val="tx1"/>
                </a:solidFill>
              </a:rPr>
              <a:t>)</a:t>
            </a:r>
            <a:r>
              <a:rPr lang="zh-TW" altLang="en-US" sz="2400" b="1" dirty="0" smtClean="0">
                <a:solidFill>
                  <a:schemeClr val="tx1"/>
                </a:solidFill>
              </a:rPr>
              <a:t>就是指</a:t>
            </a:r>
            <a:r>
              <a:rPr lang="en-US" altLang="zh-TW" sz="2400" b="1" dirty="0" smtClean="0">
                <a:solidFill>
                  <a:schemeClr val="tx1"/>
                </a:solidFill>
              </a:rPr>
              <a:t>bicolor</a:t>
            </a:r>
            <a:r>
              <a:rPr lang="zh-TW" altLang="en-US" sz="2400" b="1" dirty="0" smtClean="0">
                <a:solidFill>
                  <a:schemeClr val="tx1"/>
                </a:solidFill>
              </a:rPr>
              <a:t> </a:t>
            </a:r>
            <a:r>
              <a:rPr lang="en-US" altLang="zh-TW" sz="2400" b="1" dirty="0" smtClean="0">
                <a:solidFill>
                  <a:schemeClr val="tx1"/>
                </a:solidFill>
              </a:rPr>
              <a:t>edge</a:t>
            </a:r>
            <a:r>
              <a:rPr lang="zh-TW" altLang="en-US" sz="2400" b="1" dirty="0" smtClean="0">
                <a:solidFill>
                  <a:schemeClr val="tx1"/>
                </a:solidFill>
              </a:rPr>
              <a:t>的數量</a:t>
            </a:r>
            <a:endParaRPr lang="zh-TW" altLang="en-US" sz="2400" b="1" dirty="0">
              <a:solidFill>
                <a:schemeClr val="tx1"/>
              </a:solidFill>
            </a:endParaRPr>
          </a:p>
        </p:txBody>
      </p:sp>
      <p:sp>
        <p:nvSpPr>
          <p:cNvPr id="4" name="文字方塊 3"/>
          <p:cNvSpPr txBox="1"/>
          <p:nvPr/>
        </p:nvSpPr>
        <p:spPr>
          <a:xfrm>
            <a:off x="1544137" y="2293763"/>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t>b</a:t>
            </a:r>
            <a:r>
              <a:rPr lang="en-US" altLang="zh-TW" b="1" dirty="0" err="1">
                <a:solidFill>
                  <a:srgbClr val="00B0F0"/>
                </a:solidFill>
              </a:rPr>
              <a:t>c</a:t>
            </a:r>
            <a:endParaRPr lang="zh-TW" altLang="en-US" b="1" dirty="0">
              <a:solidFill>
                <a:srgbClr val="00B0F0"/>
              </a:solidFill>
            </a:endParaRPr>
          </a:p>
        </p:txBody>
      </p:sp>
      <p:sp>
        <p:nvSpPr>
          <p:cNvPr id="5" name="橢圓 4"/>
          <p:cNvSpPr/>
          <p:nvPr/>
        </p:nvSpPr>
        <p:spPr>
          <a:xfrm>
            <a:off x="2318580" y="2386050"/>
            <a:ext cx="981166" cy="494675"/>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smtClean="0">
                <a:solidFill>
                  <a:schemeClr val="bg1"/>
                </a:solidFill>
              </a:rPr>
              <a:t>c</a:t>
            </a:r>
            <a:endParaRPr lang="zh-TW" altLang="en-US" dirty="0">
              <a:solidFill>
                <a:schemeClr val="bg1"/>
              </a:solidFill>
            </a:endParaRPr>
          </a:p>
        </p:txBody>
      </p:sp>
      <p:sp>
        <p:nvSpPr>
          <p:cNvPr id="6" name="橢圓 5"/>
          <p:cNvSpPr/>
          <p:nvPr/>
        </p:nvSpPr>
        <p:spPr>
          <a:xfrm>
            <a:off x="1084042" y="4824043"/>
            <a:ext cx="959372" cy="494675"/>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smtClean="0">
                <a:solidFill>
                  <a:schemeClr val="bg1"/>
                </a:solidFill>
              </a:rPr>
              <a:t>c</a:t>
            </a:r>
            <a:endParaRPr lang="zh-TW" altLang="en-US" dirty="0">
              <a:solidFill>
                <a:schemeClr val="bg1"/>
              </a:solidFill>
            </a:endParaRPr>
          </a:p>
        </p:txBody>
      </p:sp>
      <p:sp>
        <p:nvSpPr>
          <p:cNvPr id="7" name="橢圓 6"/>
          <p:cNvSpPr/>
          <p:nvPr/>
        </p:nvSpPr>
        <p:spPr>
          <a:xfrm>
            <a:off x="3237270" y="3069508"/>
            <a:ext cx="956806" cy="494675"/>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smtClean="0">
                <a:solidFill>
                  <a:schemeClr val="bg1"/>
                </a:solidFill>
              </a:rPr>
              <a:t>c</a:t>
            </a:r>
            <a:endParaRPr lang="zh-TW" altLang="en-US" dirty="0">
              <a:solidFill>
                <a:schemeClr val="bg1"/>
              </a:solidFill>
            </a:endParaRPr>
          </a:p>
        </p:txBody>
      </p:sp>
      <p:sp>
        <p:nvSpPr>
          <p:cNvPr id="8" name="橢圓 7"/>
          <p:cNvSpPr/>
          <p:nvPr/>
        </p:nvSpPr>
        <p:spPr>
          <a:xfrm>
            <a:off x="2789998" y="3914398"/>
            <a:ext cx="930768"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cxnSp>
        <p:nvCxnSpPr>
          <p:cNvPr id="9" name="直線接點 8"/>
          <p:cNvCxnSpPr>
            <a:stCxn id="5" idx="3"/>
            <a:endCxn id="6" idx="0"/>
          </p:cNvCxnSpPr>
          <p:nvPr/>
        </p:nvCxnSpPr>
        <p:spPr>
          <a:xfrm flipH="1">
            <a:off x="1563728" y="2808282"/>
            <a:ext cx="898540" cy="2015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p:cNvCxnSpPr>
            <a:stCxn id="5" idx="5"/>
            <a:endCxn id="7" idx="0"/>
          </p:cNvCxnSpPr>
          <p:nvPr/>
        </p:nvCxnSpPr>
        <p:spPr>
          <a:xfrm>
            <a:off x="3156058" y="2808282"/>
            <a:ext cx="559615" cy="26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接點 10"/>
          <p:cNvCxnSpPr>
            <a:stCxn id="7" idx="3"/>
            <a:endCxn id="8" idx="0"/>
          </p:cNvCxnSpPr>
          <p:nvPr/>
        </p:nvCxnSpPr>
        <p:spPr>
          <a:xfrm flipH="1">
            <a:off x="3255382" y="3491740"/>
            <a:ext cx="122009" cy="422658"/>
          </a:xfrm>
          <a:prstGeom prst="line">
            <a:avLst/>
          </a:prstGeom>
        </p:spPr>
        <p:style>
          <a:lnRef idx="3">
            <a:schemeClr val="dk1"/>
          </a:lnRef>
          <a:fillRef idx="0">
            <a:schemeClr val="dk1"/>
          </a:fillRef>
          <a:effectRef idx="2">
            <a:schemeClr val="dk1"/>
          </a:effectRef>
          <a:fontRef idx="minor">
            <a:schemeClr val="tx1"/>
          </a:fontRef>
        </p:style>
      </p:cxnSp>
      <p:sp>
        <p:nvSpPr>
          <p:cNvPr id="12" name="文字方塊 11"/>
          <p:cNvSpPr txBox="1"/>
          <p:nvPr/>
        </p:nvSpPr>
        <p:spPr>
          <a:xfrm>
            <a:off x="1745236" y="4505638"/>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t>d</a:t>
            </a:r>
            <a:r>
              <a:rPr lang="en-US" altLang="zh-TW" b="1" dirty="0" err="1">
                <a:solidFill>
                  <a:srgbClr val="00B0F0"/>
                </a:solidFill>
              </a:rPr>
              <a:t>c</a:t>
            </a:r>
            <a:endParaRPr lang="zh-TW" altLang="en-US" b="1" dirty="0">
              <a:solidFill>
                <a:srgbClr val="00B0F0"/>
              </a:solidFill>
            </a:endParaRPr>
          </a:p>
        </p:txBody>
      </p:sp>
      <p:sp>
        <p:nvSpPr>
          <p:cNvPr id="13" name="文字方塊 12"/>
          <p:cNvSpPr txBox="1"/>
          <p:nvPr/>
        </p:nvSpPr>
        <p:spPr>
          <a:xfrm>
            <a:off x="2599524" y="4440264"/>
            <a:ext cx="717032" cy="369332"/>
          </a:xfrm>
          <a:prstGeom prst="rect">
            <a:avLst/>
          </a:prstGeom>
          <a:noFill/>
        </p:spPr>
        <p:txBody>
          <a:bodyPr wrap="square" rtlCol="0">
            <a:spAutoFit/>
          </a:bodyPr>
          <a:lstStyle/>
          <a:p>
            <a:pPr algn="ctr"/>
            <a:r>
              <a:rPr lang="en-US" altLang="zh-TW" b="1" dirty="0" err="1">
                <a:solidFill>
                  <a:srgbClr val="002060"/>
                </a:solidFill>
              </a:rPr>
              <a:t>e</a:t>
            </a:r>
            <a:r>
              <a:rPr lang="en-US" altLang="zh-TW" b="1" dirty="0" err="1">
                <a:solidFill>
                  <a:srgbClr val="FF0000"/>
                </a:solidFill>
              </a:rPr>
              <a:t>a</a:t>
            </a:r>
            <a:r>
              <a:rPr lang="en-US" altLang="zh-TW" b="1" dirty="0" err="1">
                <a:solidFill>
                  <a:srgbClr val="FFC000"/>
                </a:solidFill>
              </a:rPr>
              <a:t>d</a:t>
            </a:r>
            <a:endParaRPr lang="zh-TW" altLang="en-US" b="1" dirty="0">
              <a:solidFill>
                <a:srgbClr val="FFC000"/>
              </a:solidFill>
            </a:endParaRPr>
          </a:p>
        </p:txBody>
      </p:sp>
      <p:sp>
        <p:nvSpPr>
          <p:cNvPr id="14" name="文字方塊 13"/>
          <p:cNvSpPr txBox="1"/>
          <p:nvPr/>
        </p:nvSpPr>
        <p:spPr>
          <a:xfrm>
            <a:off x="4256552" y="3051859"/>
            <a:ext cx="717032" cy="369332"/>
          </a:xfrm>
          <a:prstGeom prst="rect">
            <a:avLst/>
          </a:prstGeom>
          <a:noFill/>
        </p:spPr>
        <p:txBody>
          <a:bodyPr wrap="square" rtlCol="0">
            <a:spAutoFit/>
          </a:bodyPr>
          <a:lstStyle/>
          <a:p>
            <a:pPr algn="ctr"/>
            <a:r>
              <a:rPr lang="en-US" altLang="zh-TW" b="1" dirty="0" err="1"/>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cxnSp>
        <p:nvCxnSpPr>
          <p:cNvPr id="15" name="直線接點 14"/>
          <p:cNvCxnSpPr>
            <a:stCxn id="7" idx="5"/>
            <a:endCxn id="17" idx="0"/>
          </p:cNvCxnSpPr>
          <p:nvPr/>
        </p:nvCxnSpPr>
        <p:spPr>
          <a:xfrm>
            <a:off x="4053955" y="3491740"/>
            <a:ext cx="654746" cy="363757"/>
          </a:xfrm>
          <a:prstGeom prst="line">
            <a:avLst/>
          </a:prstGeom>
        </p:spPr>
        <p:style>
          <a:lnRef idx="3">
            <a:schemeClr val="dk1"/>
          </a:lnRef>
          <a:fillRef idx="0">
            <a:schemeClr val="dk1"/>
          </a:fillRef>
          <a:effectRef idx="2">
            <a:schemeClr val="dk1"/>
          </a:effectRef>
          <a:fontRef idx="minor">
            <a:schemeClr val="tx1"/>
          </a:fontRef>
        </p:style>
      </p:cxnSp>
      <p:cxnSp>
        <p:nvCxnSpPr>
          <p:cNvPr id="16" name="直線接點 15"/>
          <p:cNvCxnSpPr>
            <a:endCxn id="18" idx="0"/>
          </p:cNvCxnSpPr>
          <p:nvPr/>
        </p:nvCxnSpPr>
        <p:spPr>
          <a:xfrm>
            <a:off x="3234295" y="4404583"/>
            <a:ext cx="543854" cy="571442"/>
          </a:xfrm>
          <a:prstGeom prst="line">
            <a:avLst/>
          </a:prstGeom>
        </p:spPr>
        <p:style>
          <a:lnRef idx="1">
            <a:schemeClr val="accent1"/>
          </a:lnRef>
          <a:fillRef idx="0">
            <a:schemeClr val="accent1"/>
          </a:fillRef>
          <a:effectRef idx="0">
            <a:schemeClr val="accent1"/>
          </a:effectRef>
          <a:fontRef idx="minor">
            <a:schemeClr val="tx1"/>
          </a:fontRef>
        </p:style>
      </p:cxnSp>
      <p:sp>
        <p:nvSpPr>
          <p:cNvPr id="17" name="橢圓 16"/>
          <p:cNvSpPr/>
          <p:nvPr/>
        </p:nvSpPr>
        <p:spPr>
          <a:xfrm>
            <a:off x="4230298" y="3855497"/>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8" name="橢圓 17"/>
          <p:cNvSpPr/>
          <p:nvPr/>
        </p:nvSpPr>
        <p:spPr>
          <a:xfrm>
            <a:off x="3299746" y="4976025"/>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9" name="文字方塊 18"/>
          <p:cNvSpPr txBox="1"/>
          <p:nvPr/>
        </p:nvSpPr>
        <p:spPr>
          <a:xfrm>
            <a:off x="2656122" y="5064895"/>
            <a:ext cx="717032" cy="369332"/>
          </a:xfrm>
          <a:prstGeom prst="rect">
            <a:avLst/>
          </a:prstGeom>
          <a:noFill/>
        </p:spPr>
        <p:txBody>
          <a:bodyPr wrap="square" rtlCol="0">
            <a:spAutoFit/>
          </a:bodyPr>
          <a:lstStyle/>
          <a:p>
            <a:pPr algn="ctr"/>
            <a:r>
              <a:rPr lang="en-US" altLang="zh-TW" b="1" dirty="0" err="1" smtClean="0">
                <a:solidFill>
                  <a:srgbClr val="002060"/>
                </a:solidFill>
              </a:rPr>
              <a:t>e</a:t>
            </a:r>
            <a:r>
              <a:rPr lang="en-US" altLang="zh-TW" b="1" dirty="0" err="1" smtClean="0"/>
              <a:t>g</a:t>
            </a:r>
            <a:r>
              <a:rPr lang="en-US" altLang="zh-TW" b="1" dirty="0" err="1" smtClean="0">
                <a:solidFill>
                  <a:srgbClr val="FFC000"/>
                </a:solidFill>
              </a:rPr>
              <a:t>d</a:t>
            </a:r>
            <a:endParaRPr lang="zh-TW" altLang="en-US" b="1" dirty="0"/>
          </a:p>
        </p:txBody>
      </p:sp>
      <p:sp>
        <p:nvSpPr>
          <p:cNvPr id="20" name="文字方塊 19"/>
          <p:cNvSpPr txBox="1"/>
          <p:nvPr/>
        </p:nvSpPr>
        <p:spPr>
          <a:xfrm>
            <a:off x="5018399" y="4085457"/>
            <a:ext cx="717032" cy="369332"/>
          </a:xfrm>
          <a:prstGeom prst="rect">
            <a:avLst/>
          </a:prstGeom>
          <a:noFill/>
        </p:spPr>
        <p:txBody>
          <a:bodyPr wrap="square" rtlCol="0">
            <a:spAutoFit/>
          </a:bodyPr>
          <a:lstStyle/>
          <a:p>
            <a:pPr algn="ctr"/>
            <a:r>
              <a:rPr lang="en-US" altLang="zh-TW" b="1" dirty="0" err="1"/>
              <a:t>def</a:t>
            </a:r>
            <a:endParaRPr lang="zh-TW" altLang="en-US" b="1" dirty="0"/>
          </a:p>
        </p:txBody>
      </p:sp>
    </p:spTree>
    <p:extLst>
      <p:ext uri="{BB962C8B-B14F-4D97-AF65-F5344CB8AC3E}">
        <p14:creationId xmlns:p14="http://schemas.microsoft.com/office/powerpoint/2010/main" val="3330103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rPr>
              <a:t>The incremental function</a:t>
            </a:r>
            <a:endParaRPr lang="zh-TW" altLang="en-US" dirty="0"/>
          </a:p>
        </p:txBody>
      </p:sp>
      <p:sp>
        <p:nvSpPr>
          <p:cNvPr id="4" name="文字方塊 3"/>
          <p:cNvSpPr txBox="1"/>
          <p:nvPr/>
        </p:nvSpPr>
        <p:spPr>
          <a:xfrm>
            <a:off x="3154573" y="2362002"/>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p:txBody>
      </p:sp>
      <p:sp>
        <p:nvSpPr>
          <p:cNvPr id="5" name="橢圓 4"/>
          <p:cNvSpPr/>
          <p:nvPr/>
        </p:nvSpPr>
        <p:spPr>
          <a:xfrm>
            <a:off x="3929016" y="2454289"/>
            <a:ext cx="981166" cy="494675"/>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dirty="0" smtClean="0">
                <a:solidFill>
                  <a:schemeClr val="bg1"/>
                </a:solidFill>
              </a:rPr>
              <a:t>b</a:t>
            </a:r>
            <a:endParaRPr lang="zh-TW" altLang="en-US" dirty="0">
              <a:solidFill>
                <a:schemeClr val="bg1"/>
              </a:solidFill>
            </a:endParaRPr>
          </a:p>
        </p:txBody>
      </p:sp>
      <p:sp>
        <p:nvSpPr>
          <p:cNvPr id="6" name="橢圓 5"/>
          <p:cNvSpPr/>
          <p:nvPr/>
        </p:nvSpPr>
        <p:spPr>
          <a:xfrm>
            <a:off x="2694478" y="4892282"/>
            <a:ext cx="959372"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a:t>Φ</a:t>
            </a:r>
            <a:endParaRPr lang="zh-TW" altLang="en-US" dirty="0">
              <a:solidFill>
                <a:schemeClr val="tx1"/>
              </a:solidFill>
            </a:endParaRPr>
          </a:p>
        </p:txBody>
      </p:sp>
      <p:sp>
        <p:nvSpPr>
          <p:cNvPr id="7" name="橢圓 6"/>
          <p:cNvSpPr/>
          <p:nvPr/>
        </p:nvSpPr>
        <p:spPr>
          <a:xfrm>
            <a:off x="4847706" y="3137747"/>
            <a:ext cx="956806" cy="494675"/>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dirty="0" smtClean="0">
                <a:solidFill>
                  <a:schemeClr val="bg1"/>
                </a:solidFill>
              </a:rPr>
              <a:t>b</a:t>
            </a:r>
            <a:endParaRPr lang="zh-TW" altLang="en-US" dirty="0">
              <a:solidFill>
                <a:schemeClr val="bg1"/>
              </a:solidFill>
            </a:endParaRPr>
          </a:p>
        </p:txBody>
      </p:sp>
      <p:sp>
        <p:nvSpPr>
          <p:cNvPr id="8" name="橢圓 7"/>
          <p:cNvSpPr/>
          <p:nvPr/>
        </p:nvSpPr>
        <p:spPr>
          <a:xfrm>
            <a:off x="4400434" y="3982637"/>
            <a:ext cx="930768"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cxnSp>
        <p:nvCxnSpPr>
          <p:cNvPr id="9" name="直線接點 8"/>
          <p:cNvCxnSpPr>
            <a:stCxn id="5" idx="3"/>
            <a:endCxn id="6" idx="0"/>
          </p:cNvCxnSpPr>
          <p:nvPr/>
        </p:nvCxnSpPr>
        <p:spPr>
          <a:xfrm flipH="1">
            <a:off x="3174164" y="2876521"/>
            <a:ext cx="898540" cy="2015761"/>
          </a:xfrm>
          <a:prstGeom prst="line">
            <a:avLst/>
          </a:prstGeom>
        </p:spPr>
        <p:style>
          <a:lnRef idx="3">
            <a:schemeClr val="dk1"/>
          </a:lnRef>
          <a:fillRef idx="0">
            <a:schemeClr val="dk1"/>
          </a:fillRef>
          <a:effectRef idx="2">
            <a:schemeClr val="dk1"/>
          </a:effectRef>
          <a:fontRef idx="minor">
            <a:schemeClr val="tx1"/>
          </a:fontRef>
        </p:style>
      </p:cxnSp>
      <p:cxnSp>
        <p:nvCxnSpPr>
          <p:cNvPr id="10" name="直線接點 9"/>
          <p:cNvCxnSpPr>
            <a:stCxn id="5" idx="5"/>
            <a:endCxn id="7" idx="0"/>
          </p:cNvCxnSpPr>
          <p:nvPr/>
        </p:nvCxnSpPr>
        <p:spPr>
          <a:xfrm>
            <a:off x="4766494" y="2876521"/>
            <a:ext cx="559615" cy="26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接點 10"/>
          <p:cNvCxnSpPr>
            <a:stCxn id="7" idx="3"/>
            <a:endCxn id="8" idx="0"/>
          </p:cNvCxnSpPr>
          <p:nvPr/>
        </p:nvCxnSpPr>
        <p:spPr>
          <a:xfrm flipH="1">
            <a:off x="4865818" y="3559979"/>
            <a:ext cx="122009" cy="422658"/>
          </a:xfrm>
          <a:prstGeom prst="line">
            <a:avLst/>
          </a:prstGeom>
        </p:spPr>
        <p:style>
          <a:lnRef idx="3">
            <a:schemeClr val="dk1"/>
          </a:lnRef>
          <a:fillRef idx="0">
            <a:schemeClr val="dk1"/>
          </a:fillRef>
          <a:effectRef idx="2">
            <a:schemeClr val="dk1"/>
          </a:effectRef>
          <a:fontRef idx="minor">
            <a:schemeClr val="tx1"/>
          </a:fontRef>
        </p:style>
      </p:cxnSp>
      <p:sp>
        <p:nvSpPr>
          <p:cNvPr id="12" name="文字方塊 11"/>
          <p:cNvSpPr txBox="1"/>
          <p:nvPr/>
        </p:nvSpPr>
        <p:spPr>
          <a:xfrm>
            <a:off x="3355672" y="4573877"/>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t>d</a:t>
            </a:r>
            <a:r>
              <a:rPr lang="en-US" altLang="zh-TW" b="1" dirty="0" err="1">
                <a:solidFill>
                  <a:srgbClr val="00B0F0"/>
                </a:solidFill>
              </a:rPr>
              <a:t>c</a:t>
            </a:r>
            <a:endParaRPr lang="zh-TW" altLang="en-US" b="1" dirty="0">
              <a:solidFill>
                <a:srgbClr val="00B0F0"/>
              </a:solidFill>
            </a:endParaRPr>
          </a:p>
        </p:txBody>
      </p:sp>
      <p:sp>
        <p:nvSpPr>
          <p:cNvPr id="13" name="文字方塊 12"/>
          <p:cNvSpPr txBox="1"/>
          <p:nvPr/>
        </p:nvSpPr>
        <p:spPr>
          <a:xfrm>
            <a:off x="4209960" y="4508503"/>
            <a:ext cx="717032" cy="369332"/>
          </a:xfrm>
          <a:prstGeom prst="rect">
            <a:avLst/>
          </a:prstGeom>
          <a:noFill/>
        </p:spPr>
        <p:txBody>
          <a:bodyPr wrap="square" rtlCol="0">
            <a:spAutoFit/>
          </a:bodyPr>
          <a:lstStyle/>
          <a:p>
            <a:pPr algn="ctr"/>
            <a:r>
              <a:rPr lang="en-US" altLang="zh-TW" b="1" dirty="0" err="1">
                <a:solidFill>
                  <a:srgbClr val="002060"/>
                </a:solidFill>
              </a:rPr>
              <a:t>e</a:t>
            </a:r>
            <a:r>
              <a:rPr lang="en-US" altLang="zh-TW" b="1" dirty="0" err="1">
                <a:solidFill>
                  <a:srgbClr val="FF0000"/>
                </a:solidFill>
              </a:rPr>
              <a:t>a</a:t>
            </a:r>
            <a:r>
              <a:rPr lang="en-US" altLang="zh-TW" b="1" dirty="0" err="1">
                <a:solidFill>
                  <a:srgbClr val="FFC000"/>
                </a:solidFill>
              </a:rPr>
              <a:t>d</a:t>
            </a:r>
            <a:endParaRPr lang="zh-TW" altLang="en-US" b="1" dirty="0">
              <a:solidFill>
                <a:srgbClr val="FFC000"/>
              </a:solidFill>
            </a:endParaRPr>
          </a:p>
        </p:txBody>
      </p:sp>
      <p:sp>
        <p:nvSpPr>
          <p:cNvPr id="14" name="文字方塊 13"/>
          <p:cNvSpPr txBox="1"/>
          <p:nvPr/>
        </p:nvSpPr>
        <p:spPr>
          <a:xfrm>
            <a:off x="5866988" y="3120098"/>
            <a:ext cx="717032" cy="369332"/>
          </a:xfrm>
          <a:prstGeom prst="rect">
            <a:avLst/>
          </a:prstGeom>
          <a:noFill/>
        </p:spPr>
        <p:txBody>
          <a:bodyPr wrap="square" rtlCol="0">
            <a:spAutoFit/>
          </a:bodyPr>
          <a:lstStyle/>
          <a:p>
            <a:pPr algn="ctr"/>
            <a:r>
              <a:rPr lang="en-US" altLang="zh-TW" b="1" dirty="0" err="1">
                <a:solidFill>
                  <a:srgbClr val="00B050"/>
                </a:solidFill>
              </a:rPr>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cxnSp>
        <p:nvCxnSpPr>
          <p:cNvPr id="15" name="直線接點 14"/>
          <p:cNvCxnSpPr>
            <a:stCxn id="7" idx="5"/>
            <a:endCxn id="17" idx="0"/>
          </p:cNvCxnSpPr>
          <p:nvPr/>
        </p:nvCxnSpPr>
        <p:spPr>
          <a:xfrm>
            <a:off x="5664391" y="3559979"/>
            <a:ext cx="654746" cy="363757"/>
          </a:xfrm>
          <a:prstGeom prst="line">
            <a:avLst/>
          </a:prstGeom>
        </p:spPr>
        <p:style>
          <a:lnRef idx="3">
            <a:schemeClr val="dk1"/>
          </a:lnRef>
          <a:fillRef idx="0">
            <a:schemeClr val="dk1"/>
          </a:fillRef>
          <a:effectRef idx="2">
            <a:schemeClr val="dk1"/>
          </a:effectRef>
          <a:fontRef idx="minor">
            <a:schemeClr val="tx1"/>
          </a:fontRef>
        </p:style>
      </p:cxnSp>
      <p:cxnSp>
        <p:nvCxnSpPr>
          <p:cNvPr id="16" name="直線接點 15"/>
          <p:cNvCxnSpPr>
            <a:endCxn id="18" idx="0"/>
          </p:cNvCxnSpPr>
          <p:nvPr/>
        </p:nvCxnSpPr>
        <p:spPr>
          <a:xfrm>
            <a:off x="4844731" y="4472822"/>
            <a:ext cx="543854" cy="571442"/>
          </a:xfrm>
          <a:prstGeom prst="line">
            <a:avLst/>
          </a:prstGeom>
        </p:spPr>
        <p:style>
          <a:lnRef idx="1">
            <a:schemeClr val="accent1"/>
          </a:lnRef>
          <a:fillRef idx="0">
            <a:schemeClr val="accent1"/>
          </a:fillRef>
          <a:effectRef idx="0">
            <a:schemeClr val="accent1"/>
          </a:effectRef>
          <a:fontRef idx="minor">
            <a:schemeClr val="tx1"/>
          </a:fontRef>
        </p:style>
      </p:cxnSp>
      <p:sp>
        <p:nvSpPr>
          <p:cNvPr id="17" name="橢圓 16"/>
          <p:cNvSpPr/>
          <p:nvPr/>
        </p:nvSpPr>
        <p:spPr>
          <a:xfrm>
            <a:off x="5840734" y="3923736"/>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8" name="橢圓 17"/>
          <p:cNvSpPr/>
          <p:nvPr/>
        </p:nvSpPr>
        <p:spPr>
          <a:xfrm>
            <a:off x="4910182" y="5044264"/>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9" name="文字方塊 18"/>
          <p:cNvSpPr txBox="1"/>
          <p:nvPr/>
        </p:nvSpPr>
        <p:spPr>
          <a:xfrm>
            <a:off x="4266558" y="5133134"/>
            <a:ext cx="717032" cy="369332"/>
          </a:xfrm>
          <a:prstGeom prst="rect">
            <a:avLst/>
          </a:prstGeom>
          <a:noFill/>
        </p:spPr>
        <p:txBody>
          <a:bodyPr wrap="square" rtlCol="0">
            <a:spAutoFit/>
          </a:bodyPr>
          <a:lstStyle/>
          <a:p>
            <a:pPr algn="ctr"/>
            <a:r>
              <a:rPr lang="en-US" altLang="zh-TW" b="1" dirty="0" err="1" smtClean="0">
                <a:solidFill>
                  <a:srgbClr val="002060"/>
                </a:solidFill>
              </a:rPr>
              <a:t>e</a:t>
            </a:r>
            <a:r>
              <a:rPr lang="en-US" altLang="zh-TW" b="1" dirty="0" err="1" smtClean="0"/>
              <a:t>g</a:t>
            </a:r>
            <a:r>
              <a:rPr lang="en-US" altLang="zh-TW" b="1" dirty="0" err="1" smtClean="0">
                <a:solidFill>
                  <a:srgbClr val="FFC000"/>
                </a:solidFill>
              </a:rPr>
              <a:t>d</a:t>
            </a:r>
            <a:endParaRPr lang="zh-TW" altLang="en-US" b="1" dirty="0"/>
          </a:p>
        </p:txBody>
      </p:sp>
      <p:sp>
        <p:nvSpPr>
          <p:cNvPr id="20" name="文字方塊 19"/>
          <p:cNvSpPr txBox="1"/>
          <p:nvPr/>
        </p:nvSpPr>
        <p:spPr>
          <a:xfrm>
            <a:off x="6628835" y="4153696"/>
            <a:ext cx="717032" cy="369332"/>
          </a:xfrm>
          <a:prstGeom prst="rect">
            <a:avLst/>
          </a:prstGeom>
          <a:noFill/>
        </p:spPr>
        <p:txBody>
          <a:bodyPr wrap="square" rtlCol="0">
            <a:spAutoFit/>
          </a:bodyPr>
          <a:lstStyle/>
          <a:p>
            <a:pPr algn="ctr"/>
            <a:r>
              <a:rPr lang="en-US" altLang="zh-TW" b="1" dirty="0" err="1"/>
              <a:t>def</a:t>
            </a:r>
            <a:endParaRPr lang="zh-TW" altLang="en-US" b="1" dirty="0"/>
          </a:p>
        </p:txBody>
      </p:sp>
    </p:spTree>
    <p:extLst>
      <p:ext uri="{BB962C8B-B14F-4D97-AF65-F5344CB8AC3E}">
        <p14:creationId xmlns:p14="http://schemas.microsoft.com/office/powerpoint/2010/main" val="1603178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rPr>
              <a:t>The incremental function</a:t>
            </a:r>
            <a:endParaRPr lang="zh-TW" altLang="en-US" dirty="0"/>
          </a:p>
        </p:txBody>
      </p:sp>
      <p:sp>
        <p:nvSpPr>
          <p:cNvPr id="5" name="文字方塊 4"/>
          <p:cNvSpPr txBox="1"/>
          <p:nvPr/>
        </p:nvSpPr>
        <p:spPr>
          <a:xfrm>
            <a:off x="2676902" y="2471184"/>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p:txBody>
      </p:sp>
      <p:sp>
        <p:nvSpPr>
          <p:cNvPr id="6" name="橢圓 5"/>
          <p:cNvSpPr/>
          <p:nvPr/>
        </p:nvSpPr>
        <p:spPr>
          <a:xfrm>
            <a:off x="3451345" y="2563471"/>
            <a:ext cx="98116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solidFill>
                  <a:schemeClr val="bg1"/>
                </a:solidFill>
              </a:rPr>
              <a:t>B</a:t>
            </a:r>
          </a:p>
          <a:p>
            <a:pPr algn="ctr"/>
            <a:r>
              <a:rPr lang="en-US" altLang="zh-TW" dirty="0" smtClean="0"/>
              <a:t>Φ</a:t>
            </a:r>
            <a:endParaRPr lang="zh-TW" altLang="en-US" dirty="0">
              <a:solidFill>
                <a:schemeClr val="tx1"/>
              </a:solidFill>
            </a:endParaRPr>
          </a:p>
          <a:p>
            <a:pPr algn="ctr"/>
            <a:endParaRPr lang="zh-TW" altLang="en-US" dirty="0">
              <a:solidFill>
                <a:schemeClr val="bg1"/>
              </a:solidFill>
            </a:endParaRPr>
          </a:p>
        </p:txBody>
      </p:sp>
      <p:sp>
        <p:nvSpPr>
          <p:cNvPr id="7" name="橢圓 6"/>
          <p:cNvSpPr/>
          <p:nvPr/>
        </p:nvSpPr>
        <p:spPr>
          <a:xfrm>
            <a:off x="2216807" y="5001464"/>
            <a:ext cx="959372"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a:t>Φ</a:t>
            </a:r>
            <a:endParaRPr lang="zh-TW" altLang="en-US" dirty="0">
              <a:solidFill>
                <a:schemeClr val="tx1"/>
              </a:solidFill>
            </a:endParaRPr>
          </a:p>
        </p:txBody>
      </p:sp>
      <p:sp>
        <p:nvSpPr>
          <p:cNvPr id="8" name="橢圓 7"/>
          <p:cNvSpPr/>
          <p:nvPr/>
        </p:nvSpPr>
        <p:spPr>
          <a:xfrm>
            <a:off x="4370035" y="3246929"/>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tLang="zh-TW" dirty="0" smtClean="0"/>
          </a:p>
          <a:p>
            <a:pPr algn="ctr"/>
            <a:r>
              <a:rPr lang="en-US" altLang="zh-TW" dirty="0" smtClean="0"/>
              <a:t>Φ</a:t>
            </a:r>
            <a:endParaRPr lang="zh-TW" altLang="en-US" dirty="0">
              <a:solidFill>
                <a:schemeClr val="tx1"/>
              </a:solidFill>
            </a:endParaRPr>
          </a:p>
          <a:p>
            <a:pPr algn="ctr"/>
            <a:r>
              <a:rPr lang="en-US" altLang="zh-TW" dirty="0" smtClean="0">
                <a:solidFill>
                  <a:schemeClr val="bg1"/>
                </a:solidFill>
              </a:rPr>
              <a:t>b</a:t>
            </a:r>
            <a:endParaRPr lang="zh-TW" altLang="en-US" dirty="0">
              <a:solidFill>
                <a:schemeClr val="bg1"/>
              </a:solidFill>
            </a:endParaRPr>
          </a:p>
        </p:txBody>
      </p:sp>
      <p:sp>
        <p:nvSpPr>
          <p:cNvPr id="9" name="橢圓 8"/>
          <p:cNvSpPr/>
          <p:nvPr/>
        </p:nvSpPr>
        <p:spPr>
          <a:xfrm>
            <a:off x="3922763" y="4091819"/>
            <a:ext cx="930768" cy="49467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d</a:t>
            </a:r>
            <a:endParaRPr lang="zh-TW" altLang="en-US" dirty="0">
              <a:solidFill>
                <a:schemeClr val="tx1"/>
              </a:solidFill>
            </a:endParaRPr>
          </a:p>
        </p:txBody>
      </p:sp>
      <p:cxnSp>
        <p:nvCxnSpPr>
          <p:cNvPr id="10" name="直線接點 9"/>
          <p:cNvCxnSpPr>
            <a:stCxn id="6" idx="3"/>
            <a:endCxn id="7" idx="0"/>
          </p:cNvCxnSpPr>
          <p:nvPr/>
        </p:nvCxnSpPr>
        <p:spPr>
          <a:xfrm flipH="1">
            <a:off x="2696493" y="2985703"/>
            <a:ext cx="898540" cy="2015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接點 10"/>
          <p:cNvCxnSpPr>
            <a:stCxn id="6" idx="5"/>
            <a:endCxn id="8" idx="0"/>
          </p:cNvCxnSpPr>
          <p:nvPr/>
        </p:nvCxnSpPr>
        <p:spPr>
          <a:xfrm>
            <a:off x="4288823" y="2985703"/>
            <a:ext cx="559615" cy="26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線接點 11"/>
          <p:cNvCxnSpPr>
            <a:stCxn id="8" idx="3"/>
            <a:endCxn id="9" idx="0"/>
          </p:cNvCxnSpPr>
          <p:nvPr/>
        </p:nvCxnSpPr>
        <p:spPr>
          <a:xfrm flipH="1">
            <a:off x="4388147" y="3669161"/>
            <a:ext cx="122009" cy="422658"/>
          </a:xfrm>
          <a:prstGeom prst="line">
            <a:avLst/>
          </a:prstGeom>
        </p:spPr>
        <p:style>
          <a:lnRef idx="3">
            <a:schemeClr val="dk1"/>
          </a:lnRef>
          <a:fillRef idx="0">
            <a:schemeClr val="dk1"/>
          </a:fillRef>
          <a:effectRef idx="2">
            <a:schemeClr val="dk1"/>
          </a:effectRef>
          <a:fontRef idx="minor">
            <a:schemeClr val="tx1"/>
          </a:fontRef>
        </p:style>
      </p:cxnSp>
      <p:sp>
        <p:nvSpPr>
          <p:cNvPr id="13" name="文字方塊 12"/>
          <p:cNvSpPr txBox="1"/>
          <p:nvPr/>
        </p:nvSpPr>
        <p:spPr>
          <a:xfrm>
            <a:off x="2878001" y="4683059"/>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t>d</a:t>
            </a:r>
            <a:r>
              <a:rPr lang="en-US" altLang="zh-TW" b="1" dirty="0" err="1">
                <a:solidFill>
                  <a:srgbClr val="00B0F0"/>
                </a:solidFill>
              </a:rPr>
              <a:t>c</a:t>
            </a:r>
            <a:endParaRPr lang="zh-TW" altLang="en-US" b="1" dirty="0">
              <a:solidFill>
                <a:srgbClr val="00B0F0"/>
              </a:solidFill>
            </a:endParaRPr>
          </a:p>
        </p:txBody>
      </p:sp>
      <p:sp>
        <p:nvSpPr>
          <p:cNvPr id="14" name="文字方塊 13"/>
          <p:cNvSpPr txBox="1"/>
          <p:nvPr/>
        </p:nvSpPr>
        <p:spPr>
          <a:xfrm>
            <a:off x="3732289" y="4617685"/>
            <a:ext cx="717032" cy="369332"/>
          </a:xfrm>
          <a:prstGeom prst="rect">
            <a:avLst/>
          </a:prstGeom>
          <a:noFill/>
        </p:spPr>
        <p:txBody>
          <a:bodyPr wrap="square" rtlCol="0">
            <a:spAutoFit/>
          </a:bodyPr>
          <a:lstStyle/>
          <a:p>
            <a:pPr algn="ctr"/>
            <a:r>
              <a:rPr lang="en-US" altLang="zh-TW" b="1" dirty="0" err="1">
                <a:solidFill>
                  <a:srgbClr val="002060"/>
                </a:solidFill>
              </a:rPr>
              <a:t>e</a:t>
            </a:r>
            <a:r>
              <a:rPr lang="en-US" altLang="zh-TW" b="1" dirty="0" err="1">
                <a:solidFill>
                  <a:srgbClr val="FF0000"/>
                </a:solidFill>
              </a:rPr>
              <a:t>a</a:t>
            </a:r>
            <a:r>
              <a:rPr lang="en-US" altLang="zh-TW" b="1" dirty="0" err="1">
                <a:solidFill>
                  <a:srgbClr val="FFC000"/>
                </a:solidFill>
              </a:rPr>
              <a:t>d</a:t>
            </a:r>
            <a:endParaRPr lang="zh-TW" altLang="en-US" b="1" dirty="0">
              <a:solidFill>
                <a:srgbClr val="FFC000"/>
              </a:solidFill>
            </a:endParaRPr>
          </a:p>
        </p:txBody>
      </p:sp>
      <p:sp>
        <p:nvSpPr>
          <p:cNvPr id="15" name="文字方塊 14"/>
          <p:cNvSpPr txBox="1"/>
          <p:nvPr/>
        </p:nvSpPr>
        <p:spPr>
          <a:xfrm>
            <a:off x="5389317" y="3229280"/>
            <a:ext cx="717032" cy="369332"/>
          </a:xfrm>
          <a:prstGeom prst="rect">
            <a:avLst/>
          </a:prstGeom>
          <a:noFill/>
        </p:spPr>
        <p:txBody>
          <a:bodyPr wrap="square" rtlCol="0">
            <a:spAutoFit/>
          </a:bodyPr>
          <a:lstStyle/>
          <a:p>
            <a:pPr algn="ctr"/>
            <a:r>
              <a:rPr lang="en-US" altLang="zh-TW" b="1" dirty="0" err="1">
                <a:solidFill>
                  <a:srgbClr val="00B050"/>
                </a:solidFill>
              </a:rPr>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cxnSp>
        <p:nvCxnSpPr>
          <p:cNvPr id="16" name="直線接點 15"/>
          <p:cNvCxnSpPr>
            <a:stCxn id="8" idx="5"/>
            <a:endCxn id="18" idx="0"/>
          </p:cNvCxnSpPr>
          <p:nvPr/>
        </p:nvCxnSpPr>
        <p:spPr>
          <a:xfrm>
            <a:off x="5186720" y="3669161"/>
            <a:ext cx="654746" cy="363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endCxn id="19" idx="0"/>
          </p:cNvCxnSpPr>
          <p:nvPr/>
        </p:nvCxnSpPr>
        <p:spPr>
          <a:xfrm>
            <a:off x="4367060" y="4582004"/>
            <a:ext cx="543854" cy="571442"/>
          </a:xfrm>
          <a:prstGeom prst="line">
            <a:avLst/>
          </a:prstGeom>
        </p:spPr>
        <p:style>
          <a:lnRef idx="1">
            <a:schemeClr val="accent1"/>
          </a:lnRef>
          <a:fillRef idx="0">
            <a:schemeClr val="accent1"/>
          </a:fillRef>
          <a:effectRef idx="0">
            <a:schemeClr val="accent1"/>
          </a:effectRef>
          <a:fontRef idx="minor">
            <a:schemeClr val="tx1"/>
          </a:fontRef>
        </p:style>
      </p:cxnSp>
      <p:sp>
        <p:nvSpPr>
          <p:cNvPr id="18" name="橢圓 17"/>
          <p:cNvSpPr/>
          <p:nvPr/>
        </p:nvSpPr>
        <p:spPr>
          <a:xfrm>
            <a:off x="5363063" y="4032918"/>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9" name="橢圓 18"/>
          <p:cNvSpPr/>
          <p:nvPr/>
        </p:nvSpPr>
        <p:spPr>
          <a:xfrm>
            <a:off x="4432511" y="5153446"/>
            <a:ext cx="956806" cy="49467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d</a:t>
            </a:r>
            <a:endParaRPr lang="zh-TW" altLang="en-US" dirty="0">
              <a:solidFill>
                <a:schemeClr val="tx1"/>
              </a:solidFill>
            </a:endParaRPr>
          </a:p>
        </p:txBody>
      </p:sp>
      <p:sp>
        <p:nvSpPr>
          <p:cNvPr id="20" name="文字方塊 19"/>
          <p:cNvSpPr txBox="1"/>
          <p:nvPr/>
        </p:nvSpPr>
        <p:spPr>
          <a:xfrm>
            <a:off x="3788887" y="5242316"/>
            <a:ext cx="717032" cy="369332"/>
          </a:xfrm>
          <a:prstGeom prst="rect">
            <a:avLst/>
          </a:prstGeom>
          <a:noFill/>
        </p:spPr>
        <p:txBody>
          <a:bodyPr wrap="square" rtlCol="0">
            <a:spAutoFit/>
          </a:bodyPr>
          <a:lstStyle/>
          <a:p>
            <a:pPr algn="ctr"/>
            <a:r>
              <a:rPr lang="en-US" altLang="zh-TW" b="1" dirty="0" err="1" smtClean="0">
                <a:solidFill>
                  <a:srgbClr val="002060"/>
                </a:solidFill>
              </a:rPr>
              <a:t>e</a:t>
            </a:r>
            <a:r>
              <a:rPr lang="en-US" altLang="zh-TW" b="1" dirty="0" err="1" smtClean="0"/>
              <a:t>g</a:t>
            </a:r>
            <a:r>
              <a:rPr lang="en-US" altLang="zh-TW" b="1" dirty="0" err="1" smtClean="0">
                <a:solidFill>
                  <a:srgbClr val="FFC000"/>
                </a:solidFill>
              </a:rPr>
              <a:t>d</a:t>
            </a:r>
            <a:endParaRPr lang="zh-TW" altLang="en-US" b="1" dirty="0"/>
          </a:p>
        </p:txBody>
      </p:sp>
      <p:sp>
        <p:nvSpPr>
          <p:cNvPr id="21" name="文字方塊 20"/>
          <p:cNvSpPr txBox="1"/>
          <p:nvPr/>
        </p:nvSpPr>
        <p:spPr>
          <a:xfrm>
            <a:off x="6151164" y="4262878"/>
            <a:ext cx="717032" cy="369332"/>
          </a:xfrm>
          <a:prstGeom prst="rect">
            <a:avLst/>
          </a:prstGeom>
          <a:noFill/>
        </p:spPr>
        <p:txBody>
          <a:bodyPr wrap="square" rtlCol="0">
            <a:spAutoFit/>
          </a:bodyPr>
          <a:lstStyle/>
          <a:p>
            <a:pPr algn="ctr"/>
            <a:r>
              <a:rPr lang="en-US" altLang="zh-TW" b="1" dirty="0" err="1"/>
              <a:t>def</a:t>
            </a:r>
            <a:endParaRPr lang="zh-TW" altLang="en-US" b="1" dirty="0"/>
          </a:p>
        </p:txBody>
      </p:sp>
    </p:spTree>
    <p:extLst>
      <p:ext uri="{BB962C8B-B14F-4D97-AF65-F5344CB8AC3E}">
        <p14:creationId xmlns:p14="http://schemas.microsoft.com/office/powerpoint/2010/main" val="38505233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rPr>
              <a:t>The incremental function</a:t>
            </a:r>
            <a:endParaRPr lang="zh-TW" altLang="en-US" dirty="0"/>
          </a:p>
        </p:txBody>
      </p:sp>
      <p:sp>
        <p:nvSpPr>
          <p:cNvPr id="4" name="文字方塊 3"/>
          <p:cNvSpPr txBox="1"/>
          <p:nvPr/>
        </p:nvSpPr>
        <p:spPr>
          <a:xfrm>
            <a:off x="2676902" y="2471184"/>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p:txBody>
      </p:sp>
      <p:sp>
        <p:nvSpPr>
          <p:cNvPr id="5" name="橢圓 4"/>
          <p:cNvSpPr/>
          <p:nvPr/>
        </p:nvSpPr>
        <p:spPr>
          <a:xfrm>
            <a:off x="3451345" y="2563471"/>
            <a:ext cx="98116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solidFill>
                  <a:schemeClr val="bg1"/>
                </a:solidFill>
              </a:rPr>
              <a:t>B</a:t>
            </a:r>
          </a:p>
          <a:p>
            <a:pPr algn="ctr"/>
            <a:r>
              <a:rPr lang="en-US" altLang="zh-TW" dirty="0" smtClean="0"/>
              <a:t>Φ</a:t>
            </a:r>
            <a:endParaRPr lang="zh-TW" altLang="en-US" dirty="0">
              <a:solidFill>
                <a:schemeClr val="tx1"/>
              </a:solidFill>
            </a:endParaRPr>
          </a:p>
          <a:p>
            <a:pPr algn="ctr"/>
            <a:endParaRPr lang="zh-TW" altLang="en-US" dirty="0">
              <a:solidFill>
                <a:schemeClr val="bg1"/>
              </a:solidFill>
            </a:endParaRPr>
          </a:p>
        </p:txBody>
      </p:sp>
      <p:sp>
        <p:nvSpPr>
          <p:cNvPr id="6" name="橢圓 5"/>
          <p:cNvSpPr/>
          <p:nvPr/>
        </p:nvSpPr>
        <p:spPr>
          <a:xfrm>
            <a:off x="2216807" y="5001464"/>
            <a:ext cx="959372"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a:t>Φ</a:t>
            </a:r>
            <a:endParaRPr lang="zh-TW" altLang="en-US" dirty="0">
              <a:solidFill>
                <a:schemeClr val="tx1"/>
              </a:solidFill>
            </a:endParaRPr>
          </a:p>
        </p:txBody>
      </p:sp>
      <p:sp>
        <p:nvSpPr>
          <p:cNvPr id="7" name="橢圓 6"/>
          <p:cNvSpPr/>
          <p:nvPr/>
        </p:nvSpPr>
        <p:spPr>
          <a:xfrm>
            <a:off x="4370035" y="3246929"/>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tLang="zh-TW" dirty="0" smtClean="0"/>
          </a:p>
          <a:p>
            <a:pPr algn="ctr"/>
            <a:r>
              <a:rPr lang="en-US" altLang="zh-TW" dirty="0" smtClean="0"/>
              <a:t>Φ</a:t>
            </a:r>
            <a:endParaRPr lang="zh-TW" altLang="en-US" dirty="0">
              <a:solidFill>
                <a:schemeClr val="tx1"/>
              </a:solidFill>
            </a:endParaRPr>
          </a:p>
          <a:p>
            <a:pPr algn="ctr"/>
            <a:r>
              <a:rPr lang="en-US" altLang="zh-TW" dirty="0" smtClean="0">
                <a:solidFill>
                  <a:schemeClr val="bg1"/>
                </a:solidFill>
              </a:rPr>
              <a:t>b</a:t>
            </a:r>
            <a:endParaRPr lang="zh-TW" altLang="en-US" dirty="0">
              <a:solidFill>
                <a:schemeClr val="bg1"/>
              </a:solidFill>
            </a:endParaRPr>
          </a:p>
        </p:txBody>
      </p:sp>
      <p:sp>
        <p:nvSpPr>
          <p:cNvPr id="8" name="橢圓 7"/>
          <p:cNvSpPr/>
          <p:nvPr/>
        </p:nvSpPr>
        <p:spPr>
          <a:xfrm>
            <a:off x="3922763" y="4091819"/>
            <a:ext cx="930768" cy="494675"/>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altLang="zh-TW" dirty="0" smtClean="0"/>
              <a:t>e</a:t>
            </a:r>
            <a:endParaRPr lang="zh-TW" altLang="en-US" dirty="0">
              <a:solidFill>
                <a:schemeClr val="tx1"/>
              </a:solidFill>
            </a:endParaRPr>
          </a:p>
        </p:txBody>
      </p:sp>
      <p:cxnSp>
        <p:nvCxnSpPr>
          <p:cNvPr id="9" name="直線接點 8"/>
          <p:cNvCxnSpPr>
            <a:stCxn id="5" idx="3"/>
            <a:endCxn id="6" idx="0"/>
          </p:cNvCxnSpPr>
          <p:nvPr/>
        </p:nvCxnSpPr>
        <p:spPr>
          <a:xfrm flipH="1">
            <a:off x="2696493" y="2985703"/>
            <a:ext cx="898540" cy="2015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p:cNvCxnSpPr>
            <a:stCxn id="5" idx="5"/>
            <a:endCxn id="7" idx="0"/>
          </p:cNvCxnSpPr>
          <p:nvPr/>
        </p:nvCxnSpPr>
        <p:spPr>
          <a:xfrm>
            <a:off x="4288823" y="2985703"/>
            <a:ext cx="559615" cy="26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接點 10"/>
          <p:cNvCxnSpPr>
            <a:stCxn id="7" idx="3"/>
            <a:endCxn id="8" idx="0"/>
          </p:cNvCxnSpPr>
          <p:nvPr/>
        </p:nvCxnSpPr>
        <p:spPr>
          <a:xfrm flipH="1">
            <a:off x="4388147" y="3669161"/>
            <a:ext cx="122009" cy="422658"/>
          </a:xfrm>
          <a:prstGeom prst="line">
            <a:avLst/>
          </a:prstGeom>
        </p:spPr>
        <p:style>
          <a:lnRef idx="3">
            <a:schemeClr val="dk1"/>
          </a:lnRef>
          <a:fillRef idx="0">
            <a:schemeClr val="dk1"/>
          </a:fillRef>
          <a:effectRef idx="2">
            <a:schemeClr val="dk1"/>
          </a:effectRef>
          <a:fontRef idx="minor">
            <a:schemeClr val="tx1"/>
          </a:fontRef>
        </p:style>
      </p:cxnSp>
      <p:sp>
        <p:nvSpPr>
          <p:cNvPr id="12" name="文字方塊 11"/>
          <p:cNvSpPr txBox="1"/>
          <p:nvPr/>
        </p:nvSpPr>
        <p:spPr>
          <a:xfrm>
            <a:off x="2878001" y="4683059"/>
            <a:ext cx="717032" cy="369332"/>
          </a:xfrm>
          <a:prstGeom prst="rect">
            <a:avLst/>
          </a:prstGeom>
          <a:noFill/>
        </p:spPr>
        <p:txBody>
          <a:bodyPr wrap="square" rtlCol="0">
            <a:spAutoFit/>
          </a:bodyPr>
          <a:lstStyle/>
          <a:p>
            <a:pPr algn="ctr"/>
            <a:r>
              <a:rPr lang="en-US" altLang="zh-TW" b="1" dirty="0" err="1">
                <a:solidFill>
                  <a:srgbClr val="FF0000"/>
                </a:solidFill>
              </a:rPr>
              <a:t>a</a:t>
            </a:r>
            <a:r>
              <a:rPr lang="en-US" altLang="zh-TW" b="1" dirty="0" err="1"/>
              <a:t>d</a:t>
            </a:r>
            <a:r>
              <a:rPr lang="en-US" altLang="zh-TW" b="1" dirty="0" err="1">
                <a:solidFill>
                  <a:srgbClr val="00B0F0"/>
                </a:solidFill>
              </a:rPr>
              <a:t>c</a:t>
            </a:r>
            <a:endParaRPr lang="zh-TW" altLang="en-US" b="1" dirty="0">
              <a:solidFill>
                <a:srgbClr val="00B0F0"/>
              </a:solidFill>
            </a:endParaRPr>
          </a:p>
        </p:txBody>
      </p:sp>
      <p:sp>
        <p:nvSpPr>
          <p:cNvPr id="13" name="文字方塊 12"/>
          <p:cNvSpPr txBox="1"/>
          <p:nvPr/>
        </p:nvSpPr>
        <p:spPr>
          <a:xfrm>
            <a:off x="3732289" y="4617685"/>
            <a:ext cx="717032" cy="369332"/>
          </a:xfrm>
          <a:prstGeom prst="rect">
            <a:avLst/>
          </a:prstGeom>
          <a:noFill/>
        </p:spPr>
        <p:txBody>
          <a:bodyPr wrap="square" rtlCol="0">
            <a:spAutoFit/>
          </a:bodyPr>
          <a:lstStyle/>
          <a:p>
            <a:pPr algn="ctr"/>
            <a:r>
              <a:rPr lang="en-US" altLang="zh-TW" b="1" dirty="0" err="1">
                <a:solidFill>
                  <a:srgbClr val="002060"/>
                </a:solidFill>
              </a:rPr>
              <a:t>e</a:t>
            </a:r>
            <a:r>
              <a:rPr lang="en-US" altLang="zh-TW" b="1" dirty="0" err="1">
                <a:solidFill>
                  <a:srgbClr val="FF0000"/>
                </a:solidFill>
              </a:rPr>
              <a:t>a</a:t>
            </a:r>
            <a:r>
              <a:rPr lang="en-US" altLang="zh-TW" b="1" dirty="0" err="1">
                <a:solidFill>
                  <a:srgbClr val="FFC000"/>
                </a:solidFill>
              </a:rPr>
              <a:t>d</a:t>
            </a:r>
            <a:endParaRPr lang="zh-TW" altLang="en-US" b="1" dirty="0">
              <a:solidFill>
                <a:srgbClr val="FFC000"/>
              </a:solidFill>
            </a:endParaRPr>
          </a:p>
        </p:txBody>
      </p:sp>
      <p:sp>
        <p:nvSpPr>
          <p:cNvPr id="14" name="文字方塊 13"/>
          <p:cNvSpPr txBox="1"/>
          <p:nvPr/>
        </p:nvSpPr>
        <p:spPr>
          <a:xfrm>
            <a:off x="5389317" y="3229280"/>
            <a:ext cx="717032" cy="369332"/>
          </a:xfrm>
          <a:prstGeom prst="rect">
            <a:avLst/>
          </a:prstGeom>
          <a:noFill/>
        </p:spPr>
        <p:txBody>
          <a:bodyPr wrap="square" rtlCol="0">
            <a:spAutoFit/>
          </a:bodyPr>
          <a:lstStyle/>
          <a:p>
            <a:pPr algn="ctr"/>
            <a:r>
              <a:rPr lang="en-US" altLang="zh-TW" b="1" dirty="0" err="1">
                <a:solidFill>
                  <a:srgbClr val="00B050"/>
                </a:solidFill>
              </a:rPr>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cxnSp>
        <p:nvCxnSpPr>
          <p:cNvPr id="15" name="直線接點 14"/>
          <p:cNvCxnSpPr>
            <a:stCxn id="7" idx="5"/>
            <a:endCxn id="17" idx="0"/>
          </p:cNvCxnSpPr>
          <p:nvPr/>
        </p:nvCxnSpPr>
        <p:spPr>
          <a:xfrm>
            <a:off x="5186720" y="3669161"/>
            <a:ext cx="654746" cy="363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endCxn id="18" idx="0"/>
          </p:cNvCxnSpPr>
          <p:nvPr/>
        </p:nvCxnSpPr>
        <p:spPr>
          <a:xfrm>
            <a:off x="4367060" y="4582004"/>
            <a:ext cx="543854" cy="571442"/>
          </a:xfrm>
          <a:prstGeom prst="line">
            <a:avLst/>
          </a:prstGeom>
        </p:spPr>
        <p:style>
          <a:lnRef idx="1">
            <a:schemeClr val="accent1"/>
          </a:lnRef>
          <a:fillRef idx="0">
            <a:schemeClr val="accent1"/>
          </a:fillRef>
          <a:effectRef idx="0">
            <a:schemeClr val="accent1"/>
          </a:effectRef>
          <a:fontRef idx="minor">
            <a:schemeClr val="tx1"/>
          </a:fontRef>
        </p:style>
      </p:cxnSp>
      <p:sp>
        <p:nvSpPr>
          <p:cNvPr id="17" name="橢圓 16"/>
          <p:cNvSpPr/>
          <p:nvPr/>
        </p:nvSpPr>
        <p:spPr>
          <a:xfrm>
            <a:off x="5363063" y="4032918"/>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a:t>Φ</a:t>
            </a:r>
            <a:endParaRPr lang="zh-TW" altLang="en-US" dirty="0">
              <a:solidFill>
                <a:schemeClr val="tx1"/>
              </a:solidFill>
            </a:endParaRPr>
          </a:p>
        </p:txBody>
      </p:sp>
      <p:sp>
        <p:nvSpPr>
          <p:cNvPr id="18" name="橢圓 17"/>
          <p:cNvSpPr/>
          <p:nvPr/>
        </p:nvSpPr>
        <p:spPr>
          <a:xfrm>
            <a:off x="4432511" y="5153446"/>
            <a:ext cx="956806" cy="494675"/>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altLang="zh-TW" dirty="0" smtClean="0"/>
              <a:t>e</a:t>
            </a:r>
            <a:endParaRPr lang="zh-TW" altLang="en-US" dirty="0">
              <a:solidFill>
                <a:schemeClr val="tx1"/>
              </a:solidFill>
            </a:endParaRPr>
          </a:p>
        </p:txBody>
      </p:sp>
      <p:sp>
        <p:nvSpPr>
          <p:cNvPr id="19" name="文字方塊 18"/>
          <p:cNvSpPr txBox="1"/>
          <p:nvPr/>
        </p:nvSpPr>
        <p:spPr>
          <a:xfrm>
            <a:off x="3788887" y="5242316"/>
            <a:ext cx="717032" cy="369332"/>
          </a:xfrm>
          <a:prstGeom prst="rect">
            <a:avLst/>
          </a:prstGeom>
          <a:noFill/>
        </p:spPr>
        <p:txBody>
          <a:bodyPr wrap="square" rtlCol="0">
            <a:spAutoFit/>
          </a:bodyPr>
          <a:lstStyle/>
          <a:p>
            <a:pPr algn="ctr"/>
            <a:r>
              <a:rPr lang="en-US" altLang="zh-TW" b="1" dirty="0" err="1" smtClean="0">
                <a:solidFill>
                  <a:srgbClr val="002060"/>
                </a:solidFill>
              </a:rPr>
              <a:t>e</a:t>
            </a:r>
            <a:r>
              <a:rPr lang="en-US" altLang="zh-TW" b="1" dirty="0" err="1" smtClean="0"/>
              <a:t>g</a:t>
            </a:r>
            <a:r>
              <a:rPr lang="en-US" altLang="zh-TW" b="1" dirty="0" err="1" smtClean="0">
                <a:solidFill>
                  <a:srgbClr val="FFC000"/>
                </a:solidFill>
              </a:rPr>
              <a:t>d</a:t>
            </a:r>
            <a:endParaRPr lang="zh-TW" altLang="en-US" b="1" dirty="0"/>
          </a:p>
        </p:txBody>
      </p:sp>
      <p:sp>
        <p:nvSpPr>
          <p:cNvPr id="20" name="文字方塊 19"/>
          <p:cNvSpPr txBox="1"/>
          <p:nvPr/>
        </p:nvSpPr>
        <p:spPr>
          <a:xfrm>
            <a:off x="6151164" y="4262878"/>
            <a:ext cx="717032" cy="369332"/>
          </a:xfrm>
          <a:prstGeom prst="rect">
            <a:avLst/>
          </a:prstGeom>
          <a:noFill/>
        </p:spPr>
        <p:txBody>
          <a:bodyPr wrap="square" rtlCol="0">
            <a:spAutoFit/>
          </a:bodyPr>
          <a:lstStyle/>
          <a:p>
            <a:pPr algn="ctr"/>
            <a:r>
              <a:rPr lang="en-US" altLang="zh-TW" b="1" dirty="0" err="1"/>
              <a:t>def</a:t>
            </a:r>
            <a:endParaRPr lang="zh-TW" altLang="en-US" b="1" dirty="0"/>
          </a:p>
        </p:txBody>
      </p:sp>
    </p:spTree>
    <p:extLst>
      <p:ext uri="{BB962C8B-B14F-4D97-AF65-F5344CB8AC3E}">
        <p14:creationId xmlns:p14="http://schemas.microsoft.com/office/powerpoint/2010/main" val="9134677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47050" y="609519"/>
            <a:ext cx="7622861" cy="1088068"/>
          </a:xfrm>
        </p:spPr>
        <p:txBody>
          <a:bodyPr>
            <a:normAutofit/>
          </a:bodyPr>
          <a:lstStyle/>
          <a:p>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The incremental </a:t>
            </a:r>
            <a:r>
              <a:rPr lang="en-US" altLang="zh-TW" b="1" dirty="0" smtClean="0">
                <a:solidFill>
                  <a:schemeClr val="accent2">
                    <a:lumMod val="75000"/>
                  </a:schemeClr>
                </a:solidFill>
                <a:latin typeface="微軟正黑體" panose="020B0604030504040204" pitchFamily="34" charset="-120"/>
                <a:ea typeface="微軟正黑體" panose="020B0604030504040204" pitchFamily="34" charset="-120"/>
              </a:rPr>
              <a:t>functio</a:t>
            </a:r>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n</a:t>
            </a:r>
            <a:endParaRPr lang="zh-TW" altLang="en-US" b="1" dirty="0">
              <a:solidFill>
                <a:schemeClr val="accent2">
                  <a:lumMod val="75000"/>
                </a:schemeClr>
              </a:solidFill>
              <a:latin typeface="微軟正黑體" panose="020B0604030504040204" pitchFamily="34" charset="-120"/>
              <a:ea typeface="微軟正黑體" panose="020B0604030504040204" pitchFamily="34" charset="-120"/>
            </a:endParaRPr>
          </a:p>
        </p:txBody>
      </p:sp>
      <p:sp>
        <p:nvSpPr>
          <p:cNvPr id="197" name="文字方塊 196"/>
          <p:cNvSpPr txBox="1"/>
          <p:nvPr/>
        </p:nvSpPr>
        <p:spPr>
          <a:xfrm>
            <a:off x="4906245" y="4394152"/>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endParaRPr lang="zh-TW" altLang="en-US" sz="1350" dirty="0"/>
          </a:p>
        </p:txBody>
      </p:sp>
      <p:pic>
        <p:nvPicPr>
          <p:cNvPr id="4" name="圖片 3"/>
          <p:cNvPicPr>
            <a:picLocks noChangeAspect="1"/>
          </p:cNvPicPr>
          <p:nvPr/>
        </p:nvPicPr>
        <p:blipFill>
          <a:blip r:embed="rId2"/>
          <a:stretch>
            <a:fillRect/>
          </a:stretch>
        </p:blipFill>
        <p:spPr>
          <a:xfrm>
            <a:off x="470655" y="1516826"/>
            <a:ext cx="8159221" cy="1354777"/>
          </a:xfrm>
          <a:prstGeom prst="rect">
            <a:avLst/>
          </a:prstGeom>
        </p:spPr>
      </p:pic>
      <p:sp>
        <p:nvSpPr>
          <p:cNvPr id="31" name="文字方塊 30"/>
          <p:cNvSpPr txBox="1"/>
          <p:nvPr/>
        </p:nvSpPr>
        <p:spPr>
          <a:xfrm>
            <a:off x="5895886" y="4424915"/>
            <a:ext cx="2575073" cy="923330"/>
          </a:xfrm>
          <a:prstGeom prst="rect">
            <a:avLst/>
          </a:prstGeom>
          <a:noFill/>
        </p:spPr>
        <p:txBody>
          <a:bodyPr wrap="square" rtlCol="0">
            <a:spAutoFit/>
          </a:bodyPr>
          <a:lstStyle/>
          <a:p>
            <a:r>
              <a:rPr lang="en-US" altLang="zh-TW" dirty="0"/>
              <a:t>λ =4</a:t>
            </a:r>
            <a:endParaRPr lang="zh-TW" altLang="en-US" dirty="0"/>
          </a:p>
          <a:p>
            <a:r>
              <a:rPr lang="en-US" altLang="zh-TW" dirty="0" smtClean="0"/>
              <a:t>EX:</a:t>
            </a:r>
            <a:r>
              <a:rPr lang="en-US" altLang="zh-TW" dirty="0" smtClean="0">
                <a:sym typeface="Wingdings" panose="05000000000000000000" pitchFamily="2" charset="2"/>
              </a:rPr>
              <a:t>(</a:t>
            </a:r>
            <a:r>
              <a:rPr lang="en-US" altLang="zh-TW" dirty="0" smtClean="0">
                <a:sym typeface="Wingdings" panose="05000000000000000000" pitchFamily="2" charset="2"/>
              </a:rPr>
              <a:t>0+1+0+0)=</a:t>
            </a:r>
            <a:r>
              <a:rPr lang="en-US" altLang="zh-TW" dirty="0" smtClean="0">
                <a:sym typeface="Wingdings" panose="05000000000000000000" pitchFamily="2" charset="2"/>
              </a:rPr>
              <a:t>1</a:t>
            </a:r>
            <a:endParaRPr lang="en-US" altLang="zh-TW" dirty="0" smtClean="0"/>
          </a:p>
          <a:p>
            <a:endParaRPr lang="zh-TW" altLang="en-US" dirty="0"/>
          </a:p>
        </p:txBody>
      </p:sp>
      <p:sp>
        <p:nvSpPr>
          <p:cNvPr id="29" name="流程圖: 程序 28"/>
          <p:cNvSpPr/>
          <p:nvPr/>
        </p:nvSpPr>
        <p:spPr>
          <a:xfrm>
            <a:off x="1839848" y="5330882"/>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G</a:t>
            </a:r>
            <a:endParaRPr lang="zh-TW" altLang="en-US" sz="2000" dirty="0"/>
          </a:p>
        </p:txBody>
      </p:sp>
      <p:sp>
        <p:nvSpPr>
          <p:cNvPr id="30" name="流程圖: 接點 29"/>
          <p:cNvSpPr/>
          <p:nvPr/>
        </p:nvSpPr>
        <p:spPr>
          <a:xfrm>
            <a:off x="2903593" y="4394152"/>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G</a:t>
            </a:r>
            <a:endParaRPr lang="zh-TW" altLang="en-US" sz="2000" dirty="0"/>
          </a:p>
        </p:txBody>
      </p:sp>
      <p:sp>
        <p:nvSpPr>
          <p:cNvPr id="32" name="流程圖: 程序 31"/>
          <p:cNvSpPr/>
          <p:nvPr/>
        </p:nvSpPr>
        <p:spPr>
          <a:xfrm>
            <a:off x="1035596" y="5330281"/>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A</a:t>
            </a:r>
            <a:endParaRPr lang="zh-TW" altLang="en-US" sz="2000" dirty="0"/>
          </a:p>
        </p:txBody>
      </p:sp>
      <p:sp>
        <p:nvSpPr>
          <p:cNvPr id="33" name="流程圖: 程序 32"/>
          <p:cNvSpPr/>
          <p:nvPr/>
        </p:nvSpPr>
        <p:spPr>
          <a:xfrm>
            <a:off x="2468739" y="5330281"/>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G</a:t>
            </a:r>
            <a:endParaRPr lang="zh-TW" altLang="en-US" sz="2000" dirty="0"/>
          </a:p>
        </p:txBody>
      </p:sp>
      <p:sp>
        <p:nvSpPr>
          <p:cNvPr id="34" name="流程圖: 程序 33"/>
          <p:cNvSpPr/>
          <p:nvPr/>
        </p:nvSpPr>
        <p:spPr>
          <a:xfrm>
            <a:off x="3095953" y="5330280"/>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A</a:t>
            </a:r>
            <a:endParaRPr lang="zh-TW" altLang="en-US" sz="2000" dirty="0"/>
          </a:p>
        </p:txBody>
      </p:sp>
      <p:sp>
        <p:nvSpPr>
          <p:cNvPr id="35" name="流程圖: 接點 34"/>
          <p:cNvSpPr/>
          <p:nvPr/>
        </p:nvSpPr>
        <p:spPr>
          <a:xfrm>
            <a:off x="3609636" y="4394152"/>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C</a:t>
            </a:r>
            <a:endParaRPr lang="zh-TW" altLang="en-US" sz="2000" dirty="0"/>
          </a:p>
        </p:txBody>
      </p:sp>
      <p:sp>
        <p:nvSpPr>
          <p:cNvPr id="36" name="流程圖: 接點 35"/>
          <p:cNvSpPr/>
          <p:nvPr/>
        </p:nvSpPr>
        <p:spPr>
          <a:xfrm>
            <a:off x="1329219" y="4394152"/>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A</a:t>
            </a:r>
            <a:endParaRPr lang="zh-TW" altLang="en-US" sz="2000" dirty="0"/>
          </a:p>
        </p:txBody>
      </p:sp>
      <p:sp>
        <p:nvSpPr>
          <p:cNvPr id="37" name="流程圖: 接點 36"/>
          <p:cNvSpPr/>
          <p:nvPr/>
        </p:nvSpPr>
        <p:spPr>
          <a:xfrm>
            <a:off x="2138290" y="4399184"/>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A</a:t>
            </a:r>
            <a:endParaRPr lang="zh-TW" altLang="en-US" sz="2000" dirty="0"/>
          </a:p>
        </p:txBody>
      </p:sp>
      <p:sp>
        <p:nvSpPr>
          <p:cNvPr id="38" name="流程圖: 程序 37"/>
          <p:cNvSpPr/>
          <p:nvPr/>
        </p:nvSpPr>
        <p:spPr>
          <a:xfrm>
            <a:off x="3952199" y="5337037"/>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C</a:t>
            </a:r>
            <a:endParaRPr lang="zh-TW" altLang="en-US" sz="2000" dirty="0"/>
          </a:p>
        </p:txBody>
      </p:sp>
      <p:cxnSp>
        <p:nvCxnSpPr>
          <p:cNvPr id="39" name="直線接點 38"/>
          <p:cNvCxnSpPr>
            <a:stCxn id="36" idx="4"/>
          </p:cNvCxnSpPr>
          <p:nvPr/>
        </p:nvCxnSpPr>
        <p:spPr>
          <a:xfrm flipH="1">
            <a:off x="1329219" y="4890780"/>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40" name="直線接點 39"/>
          <p:cNvCxnSpPr/>
          <p:nvPr/>
        </p:nvCxnSpPr>
        <p:spPr>
          <a:xfrm flipH="1">
            <a:off x="2105501" y="4880361"/>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41" name="直線接點 40"/>
          <p:cNvCxnSpPr/>
          <p:nvPr/>
        </p:nvCxnSpPr>
        <p:spPr>
          <a:xfrm flipH="1">
            <a:off x="2807850" y="4877710"/>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42" name="直線接點 41"/>
          <p:cNvCxnSpPr>
            <a:stCxn id="35" idx="4"/>
            <a:endCxn id="38" idx="0"/>
          </p:cNvCxnSpPr>
          <p:nvPr/>
        </p:nvCxnSpPr>
        <p:spPr>
          <a:xfrm>
            <a:off x="3887077" y="4890780"/>
            <a:ext cx="305775" cy="446257"/>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2289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509298" y="1841679"/>
            <a:ext cx="2857462" cy="4095482"/>
          </a:xfrm>
        </p:spPr>
        <p:txBody>
          <a:bodyPr/>
          <a:lstStyle/>
          <a:p>
            <a:r>
              <a:rPr lang="en-US" altLang="zh-TW" dirty="0" smtClean="0"/>
              <a:t>EX:</a:t>
            </a:r>
          </a:p>
          <a:p>
            <a:r>
              <a:rPr lang="en-US" altLang="zh-TW" dirty="0" smtClean="0"/>
              <a:t>4-4=0 </a:t>
            </a:r>
            <a:r>
              <a:rPr lang="zh-TW" altLang="en-US" dirty="0" smtClean="0"/>
              <a:t>，</a:t>
            </a:r>
            <a:r>
              <a:rPr lang="en-US" altLang="zh-TW" dirty="0" smtClean="0"/>
              <a:t>X</a:t>
            </a:r>
            <a:r>
              <a:rPr lang="zh-TW" altLang="en-US" dirty="0" smtClean="0"/>
              <a:t>都對應</a:t>
            </a:r>
            <a:endParaRPr lang="en-US" altLang="zh-TW" dirty="0" smtClean="0"/>
          </a:p>
          <a:p>
            <a:endParaRPr lang="en-US" altLang="zh-TW" dirty="0"/>
          </a:p>
          <a:p>
            <a:endParaRPr lang="en-US" altLang="zh-TW" dirty="0" smtClean="0"/>
          </a:p>
          <a:p>
            <a:endParaRPr lang="en-US" altLang="zh-TW" dirty="0"/>
          </a:p>
          <a:p>
            <a:r>
              <a:rPr lang="en-US" altLang="zh-TW" dirty="0"/>
              <a:t>EX:</a:t>
            </a:r>
          </a:p>
          <a:p>
            <a:r>
              <a:rPr lang="en-US" altLang="zh-TW" dirty="0" smtClean="0"/>
              <a:t>5-4=1 </a:t>
            </a:r>
            <a:r>
              <a:rPr lang="zh-TW" altLang="en-US" dirty="0" smtClean="0"/>
              <a:t>，</a:t>
            </a:r>
            <a:r>
              <a:rPr lang="en-US" altLang="zh-TW" dirty="0" smtClean="0"/>
              <a:t>y</a:t>
            </a:r>
            <a:r>
              <a:rPr lang="zh-TW" altLang="en-US" dirty="0" smtClean="0"/>
              <a:t>有一個沒對應</a:t>
            </a:r>
            <a:endParaRPr lang="zh-TW" altLang="en-US" dirty="0"/>
          </a:p>
          <a:p>
            <a:endParaRPr lang="zh-TW" altLang="en-US" dirty="0"/>
          </a:p>
        </p:txBody>
      </p:sp>
      <p:pic>
        <p:nvPicPr>
          <p:cNvPr id="4" name="圖片 3"/>
          <p:cNvPicPr>
            <a:picLocks noChangeAspect="1"/>
          </p:cNvPicPr>
          <p:nvPr/>
        </p:nvPicPr>
        <p:blipFill>
          <a:blip r:embed="rId2"/>
          <a:stretch>
            <a:fillRect/>
          </a:stretch>
        </p:blipFill>
        <p:spPr>
          <a:xfrm>
            <a:off x="877082" y="630686"/>
            <a:ext cx="7185151" cy="717162"/>
          </a:xfrm>
          <a:prstGeom prst="rect">
            <a:avLst/>
          </a:prstGeom>
        </p:spPr>
      </p:pic>
      <p:pic>
        <p:nvPicPr>
          <p:cNvPr id="5" name="圖片 4"/>
          <p:cNvPicPr>
            <a:picLocks noChangeAspect="1"/>
          </p:cNvPicPr>
          <p:nvPr/>
        </p:nvPicPr>
        <p:blipFill>
          <a:blip r:embed="rId3"/>
          <a:stretch>
            <a:fillRect/>
          </a:stretch>
        </p:blipFill>
        <p:spPr>
          <a:xfrm>
            <a:off x="791350" y="3400937"/>
            <a:ext cx="7216760" cy="256663"/>
          </a:xfrm>
          <a:prstGeom prst="rect">
            <a:avLst/>
          </a:prstGeom>
        </p:spPr>
      </p:pic>
      <p:sp>
        <p:nvSpPr>
          <p:cNvPr id="14" name="文字方塊 13"/>
          <p:cNvSpPr txBox="1"/>
          <p:nvPr/>
        </p:nvSpPr>
        <p:spPr>
          <a:xfrm>
            <a:off x="4906245" y="4394152"/>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endParaRPr lang="zh-TW" altLang="en-US" sz="1350" dirty="0"/>
          </a:p>
        </p:txBody>
      </p:sp>
      <p:sp>
        <p:nvSpPr>
          <p:cNvPr id="28" name="文字方塊 27"/>
          <p:cNvSpPr txBox="1"/>
          <p:nvPr/>
        </p:nvSpPr>
        <p:spPr>
          <a:xfrm>
            <a:off x="4309148" y="1850772"/>
            <a:ext cx="382245" cy="1754326"/>
          </a:xfrm>
          <a:prstGeom prst="rect">
            <a:avLst/>
          </a:prstGeom>
          <a:noFill/>
        </p:spPr>
        <p:txBody>
          <a:bodyPr wrap="square" rtlCol="0">
            <a:spAutoFit/>
          </a:bodyPr>
          <a:lstStyle/>
          <a:p>
            <a:r>
              <a:rPr lang="en-US" altLang="zh-TW" sz="1350" dirty="0"/>
              <a:t>x</a:t>
            </a:r>
          </a:p>
          <a:p>
            <a:endParaRPr lang="en-US" altLang="zh-TW" sz="1350" dirty="0"/>
          </a:p>
          <a:p>
            <a:endParaRPr lang="en-US" altLang="zh-TW" sz="1350" dirty="0"/>
          </a:p>
          <a:p>
            <a:endParaRPr lang="en-US" altLang="zh-TW" sz="1350" dirty="0"/>
          </a:p>
          <a:p>
            <a:r>
              <a:rPr lang="en-US" altLang="zh-TW" sz="1350" dirty="0"/>
              <a:t>y</a:t>
            </a:r>
          </a:p>
          <a:p>
            <a:endParaRPr lang="en-US" altLang="zh-TW" sz="1350" dirty="0"/>
          </a:p>
          <a:p>
            <a:endParaRPr lang="en-US" altLang="zh-TW" sz="1350" dirty="0"/>
          </a:p>
          <a:p>
            <a:endParaRPr lang="zh-TW" altLang="en-US" sz="1350" dirty="0"/>
          </a:p>
        </p:txBody>
      </p:sp>
      <p:sp>
        <p:nvSpPr>
          <p:cNvPr id="34" name="流程圖: 程序 33"/>
          <p:cNvSpPr/>
          <p:nvPr/>
        </p:nvSpPr>
        <p:spPr>
          <a:xfrm>
            <a:off x="1643155" y="2719766"/>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G</a:t>
            </a:r>
            <a:endParaRPr lang="zh-TW" altLang="en-US" sz="2000" dirty="0"/>
          </a:p>
        </p:txBody>
      </p:sp>
      <p:sp>
        <p:nvSpPr>
          <p:cNvPr id="35" name="流程圖: 接點 34"/>
          <p:cNvSpPr/>
          <p:nvPr/>
        </p:nvSpPr>
        <p:spPr>
          <a:xfrm>
            <a:off x="2706900" y="1783036"/>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G</a:t>
            </a:r>
            <a:endParaRPr lang="zh-TW" altLang="en-US" sz="2000" dirty="0"/>
          </a:p>
        </p:txBody>
      </p:sp>
      <p:sp>
        <p:nvSpPr>
          <p:cNvPr id="36" name="流程圖: 程序 35"/>
          <p:cNvSpPr/>
          <p:nvPr/>
        </p:nvSpPr>
        <p:spPr>
          <a:xfrm>
            <a:off x="838903" y="2719165"/>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A</a:t>
            </a:r>
            <a:endParaRPr lang="zh-TW" altLang="en-US" sz="2000" dirty="0"/>
          </a:p>
        </p:txBody>
      </p:sp>
      <p:sp>
        <p:nvSpPr>
          <p:cNvPr id="37" name="流程圖: 程序 36"/>
          <p:cNvSpPr/>
          <p:nvPr/>
        </p:nvSpPr>
        <p:spPr>
          <a:xfrm>
            <a:off x="2272046" y="2719165"/>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G</a:t>
            </a:r>
            <a:endParaRPr lang="zh-TW" altLang="en-US" sz="2000" dirty="0"/>
          </a:p>
        </p:txBody>
      </p:sp>
      <p:sp>
        <p:nvSpPr>
          <p:cNvPr id="38" name="流程圖: 程序 37"/>
          <p:cNvSpPr/>
          <p:nvPr/>
        </p:nvSpPr>
        <p:spPr>
          <a:xfrm>
            <a:off x="2899260" y="2719164"/>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A</a:t>
            </a:r>
            <a:endParaRPr lang="zh-TW" altLang="en-US" sz="2000" dirty="0"/>
          </a:p>
        </p:txBody>
      </p:sp>
      <p:sp>
        <p:nvSpPr>
          <p:cNvPr id="39" name="流程圖: 接點 38"/>
          <p:cNvSpPr/>
          <p:nvPr/>
        </p:nvSpPr>
        <p:spPr>
          <a:xfrm>
            <a:off x="3412943" y="1783036"/>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C</a:t>
            </a:r>
            <a:endParaRPr lang="zh-TW" altLang="en-US" sz="2000" dirty="0"/>
          </a:p>
        </p:txBody>
      </p:sp>
      <p:sp>
        <p:nvSpPr>
          <p:cNvPr id="40" name="流程圖: 接點 39"/>
          <p:cNvSpPr/>
          <p:nvPr/>
        </p:nvSpPr>
        <p:spPr>
          <a:xfrm>
            <a:off x="1132526" y="1783036"/>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A</a:t>
            </a:r>
            <a:endParaRPr lang="zh-TW" altLang="en-US" sz="2000" dirty="0"/>
          </a:p>
        </p:txBody>
      </p:sp>
      <p:sp>
        <p:nvSpPr>
          <p:cNvPr id="41" name="流程圖: 接點 40"/>
          <p:cNvSpPr/>
          <p:nvPr/>
        </p:nvSpPr>
        <p:spPr>
          <a:xfrm>
            <a:off x="1941597" y="1788068"/>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A</a:t>
            </a:r>
            <a:endParaRPr lang="zh-TW" altLang="en-US" sz="2000" dirty="0"/>
          </a:p>
        </p:txBody>
      </p:sp>
      <p:sp>
        <p:nvSpPr>
          <p:cNvPr id="42" name="流程圖: 程序 41"/>
          <p:cNvSpPr/>
          <p:nvPr/>
        </p:nvSpPr>
        <p:spPr>
          <a:xfrm>
            <a:off x="3755506" y="2725921"/>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C</a:t>
            </a:r>
            <a:endParaRPr lang="zh-TW" altLang="en-US" sz="2000" dirty="0"/>
          </a:p>
        </p:txBody>
      </p:sp>
      <p:cxnSp>
        <p:nvCxnSpPr>
          <p:cNvPr id="43" name="直線接點 42"/>
          <p:cNvCxnSpPr>
            <a:stCxn id="40" idx="4"/>
          </p:cNvCxnSpPr>
          <p:nvPr/>
        </p:nvCxnSpPr>
        <p:spPr>
          <a:xfrm flipH="1">
            <a:off x="1132526" y="2279664"/>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44" name="直線接點 43"/>
          <p:cNvCxnSpPr/>
          <p:nvPr/>
        </p:nvCxnSpPr>
        <p:spPr>
          <a:xfrm flipH="1">
            <a:off x="1908808" y="2269245"/>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45" name="直線接點 44"/>
          <p:cNvCxnSpPr/>
          <p:nvPr/>
        </p:nvCxnSpPr>
        <p:spPr>
          <a:xfrm flipH="1">
            <a:off x="2611157" y="2266594"/>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47" name="直線接點 46"/>
          <p:cNvCxnSpPr>
            <a:stCxn id="39" idx="4"/>
            <a:endCxn id="42" idx="0"/>
          </p:cNvCxnSpPr>
          <p:nvPr/>
        </p:nvCxnSpPr>
        <p:spPr>
          <a:xfrm>
            <a:off x="3690384" y="2279664"/>
            <a:ext cx="305775" cy="446257"/>
          </a:xfrm>
          <a:prstGeom prst="line">
            <a:avLst/>
          </a:prstGeom>
        </p:spPr>
        <p:style>
          <a:lnRef idx="3">
            <a:schemeClr val="dk1"/>
          </a:lnRef>
          <a:fillRef idx="0">
            <a:schemeClr val="dk1"/>
          </a:fillRef>
          <a:effectRef idx="2">
            <a:schemeClr val="dk1"/>
          </a:effectRef>
          <a:fontRef idx="minor">
            <a:schemeClr val="tx1"/>
          </a:fontRef>
        </p:style>
      </p:cxnSp>
      <p:sp>
        <p:nvSpPr>
          <p:cNvPr id="48" name="流程圖: 程序 47"/>
          <p:cNvSpPr/>
          <p:nvPr/>
        </p:nvSpPr>
        <p:spPr>
          <a:xfrm>
            <a:off x="1761940" y="5164384"/>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G</a:t>
            </a:r>
            <a:endParaRPr lang="zh-TW" altLang="en-US" sz="2000" dirty="0"/>
          </a:p>
        </p:txBody>
      </p:sp>
      <p:sp>
        <p:nvSpPr>
          <p:cNvPr id="49" name="流程圖: 接點 48"/>
          <p:cNvSpPr/>
          <p:nvPr/>
        </p:nvSpPr>
        <p:spPr>
          <a:xfrm>
            <a:off x="2825685" y="4227654"/>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G</a:t>
            </a:r>
            <a:endParaRPr lang="zh-TW" altLang="en-US" sz="2000" dirty="0"/>
          </a:p>
        </p:txBody>
      </p:sp>
      <p:sp>
        <p:nvSpPr>
          <p:cNvPr id="50" name="流程圖: 程序 49"/>
          <p:cNvSpPr/>
          <p:nvPr/>
        </p:nvSpPr>
        <p:spPr>
          <a:xfrm>
            <a:off x="957688" y="5163783"/>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A</a:t>
            </a:r>
            <a:endParaRPr lang="zh-TW" altLang="en-US" sz="2000" dirty="0"/>
          </a:p>
        </p:txBody>
      </p:sp>
      <p:sp>
        <p:nvSpPr>
          <p:cNvPr id="51" name="流程圖: 程序 50"/>
          <p:cNvSpPr/>
          <p:nvPr/>
        </p:nvSpPr>
        <p:spPr>
          <a:xfrm>
            <a:off x="2390831" y="5163783"/>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G</a:t>
            </a:r>
            <a:endParaRPr lang="zh-TW" altLang="en-US" sz="2000" dirty="0"/>
          </a:p>
        </p:txBody>
      </p:sp>
      <p:sp>
        <p:nvSpPr>
          <p:cNvPr id="52" name="流程圖: 程序 51"/>
          <p:cNvSpPr/>
          <p:nvPr/>
        </p:nvSpPr>
        <p:spPr>
          <a:xfrm>
            <a:off x="3018045" y="5163782"/>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A</a:t>
            </a:r>
            <a:endParaRPr lang="zh-TW" altLang="en-US" sz="2000" dirty="0"/>
          </a:p>
        </p:txBody>
      </p:sp>
      <p:sp>
        <p:nvSpPr>
          <p:cNvPr id="53" name="流程圖: 接點 52"/>
          <p:cNvSpPr/>
          <p:nvPr/>
        </p:nvSpPr>
        <p:spPr>
          <a:xfrm>
            <a:off x="3531728" y="4227654"/>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C</a:t>
            </a:r>
            <a:endParaRPr lang="zh-TW" altLang="en-US" sz="2000" dirty="0"/>
          </a:p>
        </p:txBody>
      </p:sp>
      <p:sp>
        <p:nvSpPr>
          <p:cNvPr id="54" name="流程圖: 接點 53"/>
          <p:cNvSpPr/>
          <p:nvPr/>
        </p:nvSpPr>
        <p:spPr>
          <a:xfrm>
            <a:off x="1251311" y="4227654"/>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A</a:t>
            </a:r>
            <a:endParaRPr lang="zh-TW" altLang="en-US" sz="2000" dirty="0"/>
          </a:p>
        </p:txBody>
      </p:sp>
      <p:sp>
        <p:nvSpPr>
          <p:cNvPr id="55" name="流程圖: 接點 54"/>
          <p:cNvSpPr/>
          <p:nvPr/>
        </p:nvSpPr>
        <p:spPr>
          <a:xfrm>
            <a:off x="2060382" y="4232686"/>
            <a:ext cx="554881" cy="496628"/>
          </a:xfrm>
          <a:prstGeom prst="flowChartConnector">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000" dirty="0" smtClean="0"/>
              <a:t>A</a:t>
            </a:r>
            <a:endParaRPr lang="zh-TW" altLang="en-US" sz="2000" dirty="0"/>
          </a:p>
        </p:txBody>
      </p:sp>
      <p:sp>
        <p:nvSpPr>
          <p:cNvPr id="56" name="流程圖: 程序 55"/>
          <p:cNvSpPr/>
          <p:nvPr/>
        </p:nvSpPr>
        <p:spPr>
          <a:xfrm>
            <a:off x="3880124" y="5203234"/>
            <a:ext cx="481306" cy="454953"/>
          </a:xfrm>
          <a:prstGeom prst="flowChart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smtClean="0"/>
              <a:t>C</a:t>
            </a:r>
            <a:endParaRPr lang="zh-TW" altLang="en-US" sz="2000" dirty="0"/>
          </a:p>
        </p:txBody>
      </p:sp>
      <p:cxnSp>
        <p:nvCxnSpPr>
          <p:cNvPr id="57" name="直線接點 56"/>
          <p:cNvCxnSpPr>
            <a:stCxn id="54" idx="4"/>
          </p:cNvCxnSpPr>
          <p:nvPr/>
        </p:nvCxnSpPr>
        <p:spPr>
          <a:xfrm flipH="1">
            <a:off x="1251311" y="4724282"/>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58" name="直線接點 57"/>
          <p:cNvCxnSpPr/>
          <p:nvPr/>
        </p:nvCxnSpPr>
        <p:spPr>
          <a:xfrm flipH="1">
            <a:off x="2027593" y="4713863"/>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59" name="直線接點 58"/>
          <p:cNvCxnSpPr/>
          <p:nvPr/>
        </p:nvCxnSpPr>
        <p:spPr>
          <a:xfrm flipH="1">
            <a:off x="2729942" y="4711212"/>
            <a:ext cx="277441" cy="447539"/>
          </a:xfrm>
          <a:prstGeom prst="line">
            <a:avLst/>
          </a:prstGeom>
        </p:spPr>
        <p:style>
          <a:lnRef idx="3">
            <a:schemeClr val="dk1"/>
          </a:lnRef>
          <a:fillRef idx="0">
            <a:schemeClr val="dk1"/>
          </a:fillRef>
          <a:effectRef idx="2">
            <a:schemeClr val="dk1"/>
          </a:effectRef>
          <a:fontRef idx="minor">
            <a:schemeClr val="tx1"/>
          </a:fontRef>
        </p:style>
      </p:cxnSp>
      <p:cxnSp>
        <p:nvCxnSpPr>
          <p:cNvPr id="60" name="直線接點 59"/>
          <p:cNvCxnSpPr>
            <a:stCxn id="53" idx="4"/>
            <a:endCxn id="56" idx="0"/>
          </p:cNvCxnSpPr>
          <p:nvPr/>
        </p:nvCxnSpPr>
        <p:spPr>
          <a:xfrm>
            <a:off x="3809169" y="4724282"/>
            <a:ext cx="311608" cy="478952"/>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9547521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ea typeface="微軟正黑體" panose="020B0604030504040204" pitchFamily="34" charset="-120"/>
              </a:rPr>
              <a:t>The incremental function</a:t>
            </a:r>
            <a:endParaRPr lang="zh-TW" altLang="en-US" dirty="0"/>
          </a:p>
        </p:txBody>
      </p:sp>
      <p:sp>
        <p:nvSpPr>
          <p:cNvPr id="5" name="文字方塊 4"/>
          <p:cNvSpPr txBox="1"/>
          <p:nvPr/>
        </p:nvSpPr>
        <p:spPr>
          <a:xfrm>
            <a:off x="822961" y="2009104"/>
            <a:ext cx="6724060" cy="1200329"/>
          </a:xfrm>
          <a:prstGeom prst="rect">
            <a:avLst/>
          </a:prstGeom>
          <a:noFill/>
        </p:spPr>
        <p:txBody>
          <a:bodyPr wrap="square" rtlCol="0">
            <a:spAutoFit/>
          </a:bodyPr>
          <a:lstStyle/>
          <a:p>
            <a:r>
              <a:rPr lang="zh-TW" altLang="en-US" sz="2400" dirty="0" smtClean="0"/>
              <a:t>由前面三個例子，可以推出</a:t>
            </a:r>
            <a:r>
              <a:rPr lang="en-US" altLang="zh-TW" sz="2400" dirty="0" smtClean="0"/>
              <a:t>k=h,        </a:t>
            </a:r>
            <a:r>
              <a:rPr lang="zh-TW" altLang="en-US" sz="2400" dirty="0" smtClean="0"/>
              <a:t>和</a:t>
            </a:r>
            <a:r>
              <a:rPr lang="en-US" altLang="zh-TW" sz="2400" dirty="0" smtClean="0"/>
              <a:t>d(</a:t>
            </a:r>
            <a:r>
              <a:rPr lang="en-US" altLang="zh-TW" sz="2400" dirty="0" err="1" smtClean="0"/>
              <a:t>x,y</a:t>
            </a:r>
            <a:r>
              <a:rPr lang="en-US" altLang="zh-TW" sz="2400" dirty="0" smtClean="0"/>
              <a:t>)</a:t>
            </a:r>
            <a:r>
              <a:rPr lang="zh-TW" altLang="en-US" sz="2400" dirty="0" smtClean="0"/>
              <a:t>結果是一樣的，下面是近一步延伸成整個樹的兩兩</a:t>
            </a:r>
            <a:r>
              <a:rPr lang="en-US" altLang="zh-TW" sz="2400" dirty="0" smtClean="0"/>
              <a:t>sequence</a:t>
            </a:r>
            <a:r>
              <a:rPr lang="zh-TW" altLang="en-US" sz="2400" dirty="0" smtClean="0"/>
              <a:t>之間差異加總</a:t>
            </a:r>
            <a:endParaRPr lang="en-US" altLang="zh-TW" sz="2400" dirty="0" smtClean="0"/>
          </a:p>
        </p:txBody>
      </p:sp>
      <p:pic>
        <p:nvPicPr>
          <p:cNvPr id="6" name="圖片 5"/>
          <p:cNvPicPr>
            <a:picLocks noChangeAspect="1"/>
          </p:cNvPicPr>
          <p:nvPr/>
        </p:nvPicPr>
        <p:blipFill>
          <a:blip r:embed="rId2"/>
          <a:stretch>
            <a:fillRect/>
          </a:stretch>
        </p:blipFill>
        <p:spPr>
          <a:xfrm>
            <a:off x="5260337" y="2112687"/>
            <a:ext cx="291786" cy="324207"/>
          </a:xfrm>
          <a:prstGeom prst="rect">
            <a:avLst/>
          </a:prstGeom>
        </p:spPr>
      </p:pic>
      <p:pic>
        <p:nvPicPr>
          <p:cNvPr id="7" name="圖片 6"/>
          <p:cNvPicPr>
            <a:picLocks noChangeAspect="1"/>
          </p:cNvPicPr>
          <p:nvPr/>
        </p:nvPicPr>
        <p:blipFill>
          <a:blip r:embed="rId3"/>
          <a:stretch>
            <a:fillRect/>
          </a:stretch>
        </p:blipFill>
        <p:spPr>
          <a:xfrm>
            <a:off x="535797" y="3797430"/>
            <a:ext cx="7893672" cy="1808892"/>
          </a:xfrm>
          <a:prstGeom prst="rect">
            <a:avLst/>
          </a:prstGeom>
        </p:spPr>
      </p:pic>
    </p:spTree>
    <p:extLst>
      <p:ext uri="{BB962C8B-B14F-4D97-AF65-F5344CB8AC3E}">
        <p14:creationId xmlns:p14="http://schemas.microsoft.com/office/powerpoint/2010/main" val="15105336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solidFill>
                  <a:schemeClr val="accent2">
                    <a:lumMod val="75000"/>
                  </a:schemeClr>
                </a:solidFill>
                <a:latin typeface="微軟正黑體" panose="020B0604030504040204" pitchFamily="34" charset="-120"/>
                <a:ea typeface="微軟正黑體" panose="020B0604030504040204" pitchFamily="34" charset="-120"/>
              </a:rPr>
              <a:t>Minimizing f</a:t>
            </a:r>
            <a:endParaRPr lang="zh-TW" altLang="en-US" b="1" dirty="0">
              <a:solidFill>
                <a:schemeClr val="accent2">
                  <a:lumMod val="75000"/>
                </a:schemeClr>
              </a:solidFill>
              <a:latin typeface="微軟正黑體" panose="020B0604030504040204" pitchFamily="34" charset="-120"/>
              <a:ea typeface="微軟正黑體" panose="020B0604030504040204" pitchFamily="34" charset="-120"/>
            </a:endParaRPr>
          </a:p>
        </p:txBody>
      </p:sp>
      <p:sp>
        <p:nvSpPr>
          <p:cNvPr id="29" name="文字方塊 28"/>
          <p:cNvSpPr txBox="1"/>
          <p:nvPr/>
        </p:nvSpPr>
        <p:spPr>
          <a:xfrm>
            <a:off x="4068499" y="5564564"/>
            <a:ext cx="5075501" cy="830997"/>
          </a:xfrm>
          <a:prstGeom prst="rect">
            <a:avLst/>
          </a:prstGeom>
          <a:noFill/>
        </p:spPr>
        <p:txBody>
          <a:bodyPr wrap="square" rtlCol="0">
            <a:spAutoFit/>
          </a:bodyPr>
          <a:lstStyle/>
          <a:p>
            <a:r>
              <a:rPr lang="zh-TW" altLang="en-US" sz="2400" dirty="0"/>
              <a:t>快速分成</a:t>
            </a:r>
            <a:r>
              <a:rPr lang="en-US" altLang="zh-TW" sz="2400" dirty="0"/>
              <a:t>m</a:t>
            </a:r>
            <a:r>
              <a:rPr lang="zh-TW" altLang="en-US" sz="2400" dirty="0"/>
              <a:t>個</a:t>
            </a:r>
            <a:r>
              <a:rPr lang="en-US" altLang="zh-TW" sz="2400" dirty="0" err="1"/>
              <a:t>subtree</a:t>
            </a:r>
            <a:r>
              <a:rPr lang="en-US" altLang="zh-TW" sz="2400" dirty="0"/>
              <a:t>(m</a:t>
            </a:r>
            <a:r>
              <a:rPr lang="zh-TW" altLang="en-US" sz="2400" dirty="0"/>
              <a:t>為最小</a:t>
            </a:r>
            <a:r>
              <a:rPr lang="en-US" altLang="zh-TW" sz="2400" dirty="0"/>
              <a:t>)</a:t>
            </a:r>
            <a:r>
              <a:rPr lang="zh-TW" altLang="en-US" sz="2400" dirty="0"/>
              <a:t>，</a:t>
            </a:r>
            <a:r>
              <a:rPr lang="zh-TW" altLang="en-US" sz="2400" dirty="0" smtClean="0"/>
              <a:t>有助於</a:t>
            </a:r>
            <a:r>
              <a:rPr lang="en-US" altLang="zh-TW" sz="2400" dirty="0" smtClean="0"/>
              <a:t>incremental mutation </a:t>
            </a:r>
            <a:r>
              <a:rPr lang="en-US" altLang="zh-TW" sz="2400" dirty="0"/>
              <a:t>distance</a:t>
            </a:r>
            <a:endParaRPr lang="zh-TW" altLang="en-US" sz="2400" dirty="0"/>
          </a:p>
        </p:txBody>
      </p:sp>
      <p:sp>
        <p:nvSpPr>
          <p:cNvPr id="44" name="橢圓 43"/>
          <p:cNvSpPr/>
          <p:nvPr/>
        </p:nvSpPr>
        <p:spPr>
          <a:xfrm>
            <a:off x="2507266" y="2150355"/>
            <a:ext cx="98116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dirty="0">
              <a:solidFill>
                <a:schemeClr val="bg1"/>
              </a:solidFill>
            </a:endParaRPr>
          </a:p>
        </p:txBody>
      </p:sp>
      <p:sp>
        <p:nvSpPr>
          <p:cNvPr id="45" name="橢圓 44"/>
          <p:cNvSpPr/>
          <p:nvPr/>
        </p:nvSpPr>
        <p:spPr>
          <a:xfrm>
            <a:off x="1272728" y="4588348"/>
            <a:ext cx="959372" cy="494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bg1"/>
              </a:solidFill>
            </a:endParaRPr>
          </a:p>
        </p:txBody>
      </p:sp>
      <p:sp>
        <p:nvSpPr>
          <p:cNvPr id="56" name="橢圓 55"/>
          <p:cNvSpPr/>
          <p:nvPr/>
        </p:nvSpPr>
        <p:spPr>
          <a:xfrm>
            <a:off x="3425956" y="2833813"/>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dirty="0">
              <a:solidFill>
                <a:schemeClr val="bg1"/>
              </a:solidFill>
            </a:endParaRPr>
          </a:p>
        </p:txBody>
      </p:sp>
      <p:sp>
        <p:nvSpPr>
          <p:cNvPr id="62" name="橢圓 61"/>
          <p:cNvSpPr/>
          <p:nvPr/>
        </p:nvSpPr>
        <p:spPr>
          <a:xfrm>
            <a:off x="2981040" y="3663608"/>
            <a:ext cx="930768"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dirty="0">
              <a:solidFill>
                <a:schemeClr val="bg1"/>
              </a:solidFill>
            </a:endParaRPr>
          </a:p>
        </p:txBody>
      </p:sp>
      <p:cxnSp>
        <p:nvCxnSpPr>
          <p:cNvPr id="63" name="直線接點 62"/>
          <p:cNvCxnSpPr>
            <a:stCxn id="44" idx="3"/>
            <a:endCxn id="45" idx="0"/>
          </p:cNvCxnSpPr>
          <p:nvPr/>
        </p:nvCxnSpPr>
        <p:spPr>
          <a:xfrm flipH="1">
            <a:off x="1752414" y="2572587"/>
            <a:ext cx="898540" cy="2015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接點 65"/>
          <p:cNvCxnSpPr>
            <a:stCxn id="44" idx="5"/>
            <a:endCxn id="56" idx="0"/>
          </p:cNvCxnSpPr>
          <p:nvPr/>
        </p:nvCxnSpPr>
        <p:spPr>
          <a:xfrm>
            <a:off x="3344744" y="2572587"/>
            <a:ext cx="559615" cy="261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p:cNvCxnSpPr>
            <a:stCxn id="56" idx="3"/>
            <a:endCxn id="62" idx="0"/>
          </p:cNvCxnSpPr>
          <p:nvPr/>
        </p:nvCxnSpPr>
        <p:spPr>
          <a:xfrm flipH="1">
            <a:off x="3446424" y="3256045"/>
            <a:ext cx="119653" cy="407563"/>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p:cNvCxnSpPr>
            <a:stCxn id="56" idx="5"/>
            <a:endCxn id="72" idx="0"/>
          </p:cNvCxnSpPr>
          <p:nvPr/>
        </p:nvCxnSpPr>
        <p:spPr>
          <a:xfrm>
            <a:off x="4242641" y="3256045"/>
            <a:ext cx="654746" cy="363757"/>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直線接點 70"/>
          <p:cNvCxnSpPr>
            <a:endCxn id="73" idx="0"/>
          </p:cNvCxnSpPr>
          <p:nvPr/>
        </p:nvCxnSpPr>
        <p:spPr>
          <a:xfrm>
            <a:off x="3422981" y="4168888"/>
            <a:ext cx="543854" cy="571442"/>
          </a:xfrm>
          <a:prstGeom prst="line">
            <a:avLst/>
          </a:prstGeom>
        </p:spPr>
        <p:style>
          <a:lnRef idx="2">
            <a:schemeClr val="accent1"/>
          </a:lnRef>
          <a:fillRef idx="0">
            <a:schemeClr val="accent1"/>
          </a:fillRef>
          <a:effectRef idx="1">
            <a:schemeClr val="accent1"/>
          </a:effectRef>
          <a:fontRef idx="minor">
            <a:schemeClr val="tx1"/>
          </a:fontRef>
        </p:style>
      </p:cxnSp>
      <p:sp>
        <p:nvSpPr>
          <p:cNvPr id="72" name="橢圓 71"/>
          <p:cNvSpPr/>
          <p:nvPr/>
        </p:nvSpPr>
        <p:spPr>
          <a:xfrm>
            <a:off x="4418984" y="3619802"/>
            <a:ext cx="956806" cy="4946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dirty="0">
              <a:solidFill>
                <a:schemeClr val="tx1"/>
              </a:solidFill>
            </a:endParaRPr>
          </a:p>
        </p:txBody>
      </p:sp>
      <p:sp>
        <p:nvSpPr>
          <p:cNvPr id="73" name="橢圓 72"/>
          <p:cNvSpPr/>
          <p:nvPr/>
        </p:nvSpPr>
        <p:spPr>
          <a:xfrm>
            <a:off x="3488432" y="4740330"/>
            <a:ext cx="956806" cy="49467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dirty="0">
              <a:solidFill>
                <a:schemeClr val="tx1"/>
              </a:solidFill>
            </a:endParaRPr>
          </a:p>
        </p:txBody>
      </p:sp>
      <p:cxnSp>
        <p:nvCxnSpPr>
          <p:cNvPr id="76" name="直線接點 75"/>
          <p:cNvCxnSpPr>
            <a:stCxn id="72" idx="5"/>
            <a:endCxn id="77" idx="0"/>
          </p:cNvCxnSpPr>
          <p:nvPr/>
        </p:nvCxnSpPr>
        <p:spPr>
          <a:xfrm>
            <a:off x="5235669" y="4042034"/>
            <a:ext cx="506895" cy="477620"/>
          </a:xfrm>
          <a:prstGeom prst="line">
            <a:avLst/>
          </a:prstGeom>
        </p:spPr>
        <p:style>
          <a:lnRef idx="2">
            <a:schemeClr val="accent1"/>
          </a:lnRef>
          <a:fillRef idx="0">
            <a:schemeClr val="accent1"/>
          </a:fillRef>
          <a:effectRef idx="1">
            <a:schemeClr val="accent1"/>
          </a:effectRef>
          <a:fontRef idx="minor">
            <a:schemeClr val="tx1"/>
          </a:fontRef>
        </p:style>
      </p:cxnSp>
      <p:sp>
        <p:nvSpPr>
          <p:cNvPr id="77" name="橢圓 76"/>
          <p:cNvSpPr/>
          <p:nvPr/>
        </p:nvSpPr>
        <p:spPr>
          <a:xfrm>
            <a:off x="5264161" y="4519654"/>
            <a:ext cx="956806" cy="494675"/>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dirty="0">
              <a:solidFill>
                <a:schemeClr val="tx1"/>
              </a:solidFill>
            </a:endParaRPr>
          </a:p>
        </p:txBody>
      </p:sp>
      <p:sp>
        <p:nvSpPr>
          <p:cNvPr id="3" name="文字方塊 2"/>
          <p:cNvSpPr txBox="1"/>
          <p:nvPr/>
        </p:nvSpPr>
        <p:spPr>
          <a:xfrm>
            <a:off x="5375790" y="3328488"/>
            <a:ext cx="845177" cy="369332"/>
          </a:xfrm>
          <a:prstGeom prst="rect">
            <a:avLst/>
          </a:prstGeom>
          <a:noFill/>
        </p:spPr>
        <p:txBody>
          <a:bodyPr wrap="square" rtlCol="0">
            <a:spAutoFit/>
          </a:bodyPr>
          <a:lstStyle/>
          <a:p>
            <a:r>
              <a:rPr lang="en-US" altLang="zh-TW" dirty="0" smtClean="0"/>
              <a:t>1</a:t>
            </a:r>
            <a:endParaRPr lang="zh-TW" altLang="en-US" dirty="0"/>
          </a:p>
        </p:txBody>
      </p:sp>
      <p:sp>
        <p:nvSpPr>
          <p:cNvPr id="78" name="文字方塊 77"/>
          <p:cNvSpPr txBox="1"/>
          <p:nvPr/>
        </p:nvSpPr>
        <p:spPr>
          <a:xfrm>
            <a:off x="6374352" y="4644997"/>
            <a:ext cx="845177" cy="369332"/>
          </a:xfrm>
          <a:prstGeom prst="rect">
            <a:avLst/>
          </a:prstGeom>
          <a:noFill/>
        </p:spPr>
        <p:txBody>
          <a:bodyPr wrap="square" rtlCol="0">
            <a:spAutoFit/>
          </a:bodyPr>
          <a:lstStyle/>
          <a:p>
            <a:r>
              <a:rPr lang="en-US" altLang="zh-TW" dirty="0" smtClean="0"/>
              <a:t>0</a:t>
            </a:r>
            <a:endParaRPr lang="zh-TW" altLang="en-US" dirty="0"/>
          </a:p>
        </p:txBody>
      </p:sp>
      <p:sp>
        <p:nvSpPr>
          <p:cNvPr id="79" name="文字方塊 78"/>
          <p:cNvSpPr txBox="1"/>
          <p:nvPr/>
        </p:nvSpPr>
        <p:spPr>
          <a:xfrm>
            <a:off x="4445238" y="2611596"/>
            <a:ext cx="845177" cy="369332"/>
          </a:xfrm>
          <a:prstGeom prst="rect">
            <a:avLst/>
          </a:prstGeom>
          <a:noFill/>
        </p:spPr>
        <p:txBody>
          <a:bodyPr wrap="square" rtlCol="0">
            <a:spAutoFit/>
          </a:bodyPr>
          <a:lstStyle/>
          <a:p>
            <a:r>
              <a:rPr lang="en-US" altLang="zh-TW" dirty="0" smtClean="0"/>
              <a:t>2</a:t>
            </a:r>
            <a:endParaRPr lang="zh-TW" altLang="en-US" dirty="0"/>
          </a:p>
        </p:txBody>
      </p:sp>
      <p:sp>
        <p:nvSpPr>
          <p:cNvPr id="80" name="文字方塊 79"/>
          <p:cNvSpPr txBox="1"/>
          <p:nvPr/>
        </p:nvSpPr>
        <p:spPr>
          <a:xfrm>
            <a:off x="2240215" y="2000074"/>
            <a:ext cx="845177" cy="369332"/>
          </a:xfrm>
          <a:prstGeom prst="rect">
            <a:avLst/>
          </a:prstGeom>
          <a:noFill/>
        </p:spPr>
        <p:txBody>
          <a:bodyPr wrap="square" rtlCol="0">
            <a:spAutoFit/>
          </a:bodyPr>
          <a:lstStyle/>
          <a:p>
            <a:r>
              <a:rPr lang="en-US" altLang="zh-TW" dirty="0" smtClean="0"/>
              <a:t>1</a:t>
            </a:r>
            <a:endParaRPr lang="zh-TW" altLang="en-US" dirty="0"/>
          </a:p>
        </p:txBody>
      </p:sp>
      <p:sp>
        <p:nvSpPr>
          <p:cNvPr id="81" name="文字方塊 80"/>
          <p:cNvSpPr txBox="1"/>
          <p:nvPr/>
        </p:nvSpPr>
        <p:spPr>
          <a:xfrm>
            <a:off x="2735674" y="3423958"/>
            <a:ext cx="845177" cy="369332"/>
          </a:xfrm>
          <a:prstGeom prst="rect">
            <a:avLst/>
          </a:prstGeom>
          <a:noFill/>
        </p:spPr>
        <p:txBody>
          <a:bodyPr wrap="square" rtlCol="0">
            <a:spAutoFit/>
          </a:bodyPr>
          <a:lstStyle/>
          <a:p>
            <a:r>
              <a:rPr lang="en-US" altLang="zh-TW" dirty="0"/>
              <a:t>1</a:t>
            </a:r>
            <a:endParaRPr lang="zh-TW" altLang="en-US" dirty="0"/>
          </a:p>
        </p:txBody>
      </p:sp>
      <p:sp>
        <p:nvSpPr>
          <p:cNvPr id="82" name="文字方塊 81"/>
          <p:cNvSpPr txBox="1"/>
          <p:nvPr/>
        </p:nvSpPr>
        <p:spPr>
          <a:xfrm>
            <a:off x="2894866" y="4845787"/>
            <a:ext cx="845177" cy="369332"/>
          </a:xfrm>
          <a:prstGeom prst="rect">
            <a:avLst/>
          </a:prstGeom>
          <a:noFill/>
        </p:spPr>
        <p:txBody>
          <a:bodyPr wrap="square" rtlCol="0">
            <a:spAutoFit/>
          </a:bodyPr>
          <a:lstStyle/>
          <a:p>
            <a:r>
              <a:rPr lang="en-US" altLang="zh-TW" dirty="0" smtClean="0"/>
              <a:t>0</a:t>
            </a:r>
            <a:endParaRPr lang="zh-TW" altLang="en-US" dirty="0"/>
          </a:p>
        </p:txBody>
      </p:sp>
      <p:sp>
        <p:nvSpPr>
          <p:cNvPr id="83" name="橢圓 82"/>
          <p:cNvSpPr/>
          <p:nvPr/>
        </p:nvSpPr>
        <p:spPr>
          <a:xfrm>
            <a:off x="2955002" y="3636363"/>
            <a:ext cx="956806" cy="49467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dirty="0">
              <a:solidFill>
                <a:schemeClr val="tx1"/>
              </a:solidFill>
            </a:endParaRPr>
          </a:p>
        </p:txBody>
      </p:sp>
      <p:sp>
        <p:nvSpPr>
          <p:cNvPr id="84" name="橢圓 83"/>
          <p:cNvSpPr/>
          <p:nvPr/>
        </p:nvSpPr>
        <p:spPr>
          <a:xfrm>
            <a:off x="4426309" y="3583581"/>
            <a:ext cx="956806" cy="494675"/>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dirty="0">
              <a:solidFill>
                <a:schemeClr val="tx1"/>
              </a:solidFill>
            </a:endParaRPr>
          </a:p>
        </p:txBody>
      </p:sp>
      <p:sp>
        <p:nvSpPr>
          <p:cNvPr id="85" name="橢圓 84"/>
          <p:cNvSpPr/>
          <p:nvPr/>
        </p:nvSpPr>
        <p:spPr>
          <a:xfrm>
            <a:off x="2543941" y="2146309"/>
            <a:ext cx="959372" cy="494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bg1"/>
              </a:solidFill>
            </a:endParaRPr>
          </a:p>
        </p:txBody>
      </p:sp>
      <p:sp>
        <p:nvSpPr>
          <p:cNvPr id="86" name="橢圓 85"/>
          <p:cNvSpPr/>
          <p:nvPr/>
        </p:nvSpPr>
        <p:spPr>
          <a:xfrm>
            <a:off x="3422981" y="2793455"/>
            <a:ext cx="956806" cy="494675"/>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dirty="0">
              <a:solidFill>
                <a:schemeClr val="tx1"/>
              </a:solidFill>
            </a:endParaRPr>
          </a:p>
        </p:txBody>
      </p:sp>
    </p:spTree>
    <p:extLst>
      <p:ext uri="{BB962C8B-B14F-4D97-AF65-F5344CB8AC3E}">
        <p14:creationId xmlns:p14="http://schemas.microsoft.com/office/powerpoint/2010/main" val="116965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85" grpId="0" animBg="1"/>
      <p:bldP spid="8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lumMod val="75000"/>
                  </a:schemeClr>
                </a:solidFill>
                <a:latin typeface="微軟正黑體" panose="020B0604030504040204" pitchFamily="34" charset="-120"/>
              </a:rPr>
              <a:t>The main algorithm</a:t>
            </a:r>
            <a:endParaRPr lang="zh-TW" altLang="en-US" dirty="0"/>
          </a:p>
        </p:txBody>
      </p:sp>
      <p:sp>
        <p:nvSpPr>
          <p:cNvPr id="5" name="橢圓 4"/>
          <p:cNvSpPr/>
          <p:nvPr/>
        </p:nvSpPr>
        <p:spPr>
          <a:xfrm>
            <a:off x="1624767" y="2736519"/>
            <a:ext cx="103567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a:solidFill>
                  <a:srgbClr val="FF0000"/>
                </a:solidFill>
              </a:rPr>
              <a:t>a</a:t>
            </a:r>
            <a:r>
              <a:rPr lang="en-US" altLang="zh-TW" b="1" dirty="0" err="1"/>
              <a:t>b</a:t>
            </a:r>
            <a:r>
              <a:rPr lang="en-US" altLang="zh-TW" b="1" dirty="0" err="1">
                <a:solidFill>
                  <a:srgbClr val="00B0F0"/>
                </a:solidFill>
              </a:rPr>
              <a:t>c</a:t>
            </a:r>
            <a:endParaRPr lang="zh-TW" altLang="en-US" b="1" dirty="0">
              <a:solidFill>
                <a:srgbClr val="00B0F0"/>
              </a:solidFill>
            </a:endParaRPr>
          </a:p>
        </p:txBody>
      </p:sp>
      <p:sp>
        <p:nvSpPr>
          <p:cNvPr id="6" name="橢圓 5"/>
          <p:cNvSpPr/>
          <p:nvPr/>
        </p:nvSpPr>
        <p:spPr>
          <a:xfrm>
            <a:off x="3336499" y="3715384"/>
            <a:ext cx="769885"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7" name="橢圓 6"/>
          <p:cNvSpPr/>
          <p:nvPr/>
        </p:nvSpPr>
        <p:spPr>
          <a:xfrm>
            <a:off x="4300519" y="2790362"/>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8" name="橢圓 7"/>
          <p:cNvSpPr/>
          <p:nvPr/>
        </p:nvSpPr>
        <p:spPr>
          <a:xfrm>
            <a:off x="1624767" y="4802042"/>
            <a:ext cx="91638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sp>
        <p:nvSpPr>
          <p:cNvPr id="9" name="橢圓 8"/>
          <p:cNvSpPr/>
          <p:nvPr/>
        </p:nvSpPr>
        <p:spPr>
          <a:xfrm>
            <a:off x="5579120" y="3479987"/>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10" name="橢圓 9"/>
          <p:cNvSpPr/>
          <p:nvPr/>
        </p:nvSpPr>
        <p:spPr>
          <a:xfrm>
            <a:off x="5488923" y="1454092"/>
            <a:ext cx="921203" cy="5708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7030A0"/>
                </a:solidFill>
              </a:rPr>
              <a:t>g</a:t>
            </a:r>
            <a:r>
              <a:rPr lang="en-US" altLang="zh-TW" b="1" dirty="0" err="1" smtClean="0">
                <a:solidFill>
                  <a:srgbClr val="FFC000"/>
                </a:solidFill>
              </a:rPr>
              <a:t>d</a:t>
            </a:r>
            <a:r>
              <a:rPr lang="en-US" altLang="zh-TW" b="1" dirty="0" err="1" smtClean="0">
                <a:solidFill>
                  <a:srgbClr val="00B0F0"/>
                </a:solidFill>
              </a:rPr>
              <a:t>c</a:t>
            </a:r>
            <a:endParaRPr lang="zh-TW" altLang="en-US" b="1" dirty="0">
              <a:solidFill>
                <a:srgbClr val="00B0F0"/>
              </a:solidFill>
            </a:endParaRPr>
          </a:p>
        </p:txBody>
      </p:sp>
      <p:sp>
        <p:nvSpPr>
          <p:cNvPr id="11" name="橢圓 10"/>
          <p:cNvSpPr/>
          <p:nvPr/>
        </p:nvSpPr>
        <p:spPr>
          <a:xfrm>
            <a:off x="6593474" y="2767268"/>
            <a:ext cx="959652"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smtClean="0">
                <a:solidFill>
                  <a:srgbClr val="7030A0"/>
                </a:solidFill>
              </a:rPr>
              <a:t>g</a:t>
            </a:r>
            <a:r>
              <a:rPr lang="en-US" altLang="zh-TW" b="1" dirty="0" smtClean="0">
                <a:solidFill>
                  <a:srgbClr val="FF0000"/>
                </a:solidFill>
              </a:rPr>
              <a:t>a</a:t>
            </a:r>
            <a:r>
              <a:rPr lang="en-US" altLang="zh-TW" b="1" dirty="0" smtClean="0">
                <a:solidFill>
                  <a:srgbClr val="FFC000"/>
                </a:solidFill>
              </a:rPr>
              <a:t>d</a:t>
            </a:r>
            <a:endParaRPr lang="zh-TW" altLang="en-US" b="1" dirty="0">
              <a:solidFill>
                <a:srgbClr val="FFC000"/>
              </a:solidFill>
            </a:endParaRPr>
          </a:p>
        </p:txBody>
      </p:sp>
      <p:sp>
        <p:nvSpPr>
          <p:cNvPr id="12" name="橢圓 11"/>
          <p:cNvSpPr/>
          <p:nvPr/>
        </p:nvSpPr>
        <p:spPr>
          <a:xfrm>
            <a:off x="4535699" y="4802042"/>
            <a:ext cx="70437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13" name="直線接點 12"/>
          <p:cNvCxnSpPr>
            <a:stCxn id="5" idx="5"/>
            <a:endCxn id="6" idx="1"/>
          </p:cNvCxnSpPr>
          <p:nvPr/>
        </p:nvCxnSpPr>
        <p:spPr>
          <a:xfrm>
            <a:off x="2508767" y="3226109"/>
            <a:ext cx="94047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stCxn id="8" idx="7"/>
            <a:endCxn id="6" idx="3"/>
          </p:cNvCxnSpPr>
          <p:nvPr/>
        </p:nvCxnSpPr>
        <p:spPr>
          <a:xfrm flipV="1">
            <a:off x="2406947" y="4204974"/>
            <a:ext cx="104229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6" idx="5"/>
            <a:endCxn id="12" idx="1"/>
          </p:cNvCxnSpPr>
          <p:nvPr/>
        </p:nvCxnSpPr>
        <p:spPr>
          <a:xfrm>
            <a:off x="3993637" y="4204974"/>
            <a:ext cx="645215"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12" idx="7"/>
          </p:cNvCxnSpPr>
          <p:nvPr/>
        </p:nvCxnSpPr>
        <p:spPr>
          <a:xfrm flipV="1">
            <a:off x="5136920" y="4035189"/>
            <a:ext cx="640567" cy="8508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7" idx="5"/>
            <a:endCxn id="9" idx="1"/>
          </p:cNvCxnSpPr>
          <p:nvPr/>
        </p:nvCxnSpPr>
        <p:spPr>
          <a:xfrm>
            <a:off x="5102479" y="3279952"/>
            <a:ext cx="605470" cy="2840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7" idx="6"/>
            <a:endCxn id="11" idx="2"/>
          </p:cNvCxnSpPr>
          <p:nvPr/>
        </p:nvCxnSpPr>
        <p:spPr>
          <a:xfrm flipV="1">
            <a:off x="5240073" y="3054063"/>
            <a:ext cx="1353401" cy="23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a:stCxn id="7" idx="0"/>
            <a:endCxn id="10" idx="3"/>
          </p:cNvCxnSpPr>
          <p:nvPr/>
        </p:nvCxnSpPr>
        <p:spPr>
          <a:xfrm flipV="1">
            <a:off x="4770296" y="1941326"/>
            <a:ext cx="853534" cy="849036"/>
          </a:xfrm>
          <a:prstGeom prst="line">
            <a:avLst/>
          </a:prstGeom>
        </p:spPr>
        <p:style>
          <a:lnRef idx="1">
            <a:schemeClr val="accent1"/>
          </a:lnRef>
          <a:fillRef idx="0">
            <a:schemeClr val="accent1"/>
          </a:fillRef>
          <a:effectRef idx="0">
            <a:schemeClr val="accent1"/>
          </a:effectRef>
          <a:fontRef idx="minor">
            <a:schemeClr val="tx1"/>
          </a:fontRef>
        </p:style>
      </p:cxnSp>
      <p:sp>
        <p:nvSpPr>
          <p:cNvPr id="20" name="橢圓 19"/>
          <p:cNvSpPr/>
          <p:nvPr/>
        </p:nvSpPr>
        <p:spPr>
          <a:xfrm>
            <a:off x="3989296" y="5852406"/>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21" name="橢圓 20"/>
          <p:cNvSpPr/>
          <p:nvPr/>
        </p:nvSpPr>
        <p:spPr>
          <a:xfrm>
            <a:off x="5667583" y="5834334"/>
            <a:ext cx="9658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r>
              <a:rPr lang="en-US" altLang="zh-TW" b="1">
                <a:solidFill>
                  <a:srgbClr val="00B050"/>
                </a:solidFill>
              </a:rPr>
              <a:t>b</a:t>
            </a:r>
            <a:r>
              <a:rPr lang="en-US" altLang="zh-TW" b="1">
                <a:solidFill>
                  <a:srgbClr val="00B0F0"/>
                </a:solidFill>
              </a:rPr>
              <a:t>c</a:t>
            </a:r>
            <a:r>
              <a:rPr lang="en-US" altLang="zh-TW" b="1">
                <a:solidFill>
                  <a:srgbClr val="FFC000"/>
                </a:solidFill>
              </a:rPr>
              <a:t>d</a:t>
            </a:r>
            <a:endParaRPr lang="zh-TW" altLang="en-US" b="1" dirty="0">
              <a:solidFill>
                <a:srgbClr val="FFC000"/>
              </a:solidFill>
            </a:endParaRPr>
          </a:p>
        </p:txBody>
      </p:sp>
      <p:cxnSp>
        <p:nvCxnSpPr>
          <p:cNvPr id="22" name="直線接點 21"/>
          <p:cNvCxnSpPr>
            <a:stCxn id="12" idx="3"/>
            <a:endCxn id="20" idx="0"/>
          </p:cNvCxnSpPr>
          <p:nvPr/>
        </p:nvCxnSpPr>
        <p:spPr>
          <a:xfrm flipH="1">
            <a:off x="4373410" y="5291632"/>
            <a:ext cx="265442"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線接點 22"/>
          <p:cNvCxnSpPr>
            <a:stCxn id="20" idx="6"/>
            <a:endCxn id="21" idx="1"/>
          </p:cNvCxnSpPr>
          <p:nvPr/>
        </p:nvCxnSpPr>
        <p:spPr>
          <a:xfrm flipV="1">
            <a:off x="4757524" y="5918334"/>
            <a:ext cx="1051500" cy="22086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416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051561" y="2722871"/>
            <a:ext cx="1035670" cy="57359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00B0F0"/>
              </a:solidFill>
            </a:endParaRPr>
          </a:p>
        </p:txBody>
      </p:sp>
      <p:sp>
        <p:nvSpPr>
          <p:cNvPr id="5" name="橢圓 4"/>
          <p:cNvSpPr/>
          <p:nvPr/>
        </p:nvSpPr>
        <p:spPr>
          <a:xfrm>
            <a:off x="2763293" y="3701736"/>
            <a:ext cx="9640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6" name="橢圓 5"/>
          <p:cNvSpPr/>
          <p:nvPr/>
        </p:nvSpPr>
        <p:spPr>
          <a:xfrm>
            <a:off x="3727313" y="277671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7" name="橢圓 6"/>
          <p:cNvSpPr/>
          <p:nvPr/>
        </p:nvSpPr>
        <p:spPr>
          <a:xfrm>
            <a:off x="1051561" y="4788394"/>
            <a:ext cx="916381" cy="57359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00B0F0"/>
              </a:solidFill>
            </a:endParaRPr>
          </a:p>
        </p:txBody>
      </p:sp>
      <p:sp>
        <p:nvSpPr>
          <p:cNvPr id="8" name="橢圓 7"/>
          <p:cNvSpPr/>
          <p:nvPr/>
        </p:nvSpPr>
        <p:spPr>
          <a:xfrm>
            <a:off x="5005914" y="3466339"/>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9" name="橢圓 8"/>
          <p:cNvSpPr/>
          <p:nvPr/>
        </p:nvSpPr>
        <p:spPr>
          <a:xfrm>
            <a:off x="4915717" y="1440444"/>
            <a:ext cx="921203" cy="57083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10" name="橢圓 9"/>
          <p:cNvSpPr/>
          <p:nvPr/>
        </p:nvSpPr>
        <p:spPr>
          <a:xfrm>
            <a:off x="6020268" y="2753620"/>
            <a:ext cx="959652" cy="57359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FFC000"/>
              </a:solidFill>
            </a:endParaRPr>
          </a:p>
        </p:txBody>
      </p:sp>
      <p:sp>
        <p:nvSpPr>
          <p:cNvPr id="11" name="橢圓 10"/>
          <p:cNvSpPr/>
          <p:nvPr/>
        </p:nvSpPr>
        <p:spPr>
          <a:xfrm>
            <a:off x="3727313" y="478839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12" name="直線接點 11"/>
          <p:cNvCxnSpPr>
            <a:stCxn id="4" idx="5"/>
            <a:endCxn id="5" idx="1"/>
          </p:cNvCxnSpPr>
          <p:nvPr/>
        </p:nvCxnSpPr>
        <p:spPr>
          <a:xfrm>
            <a:off x="1935561" y="3212461"/>
            <a:ext cx="96890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7" idx="7"/>
            <a:endCxn id="5" idx="3"/>
          </p:cNvCxnSpPr>
          <p:nvPr/>
        </p:nvCxnSpPr>
        <p:spPr>
          <a:xfrm flipV="1">
            <a:off x="1833741" y="4191326"/>
            <a:ext cx="107072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stCxn id="5" idx="5"/>
            <a:endCxn id="11" idx="1"/>
          </p:cNvCxnSpPr>
          <p:nvPr/>
        </p:nvCxnSpPr>
        <p:spPr>
          <a:xfrm>
            <a:off x="3586136" y="4191326"/>
            <a:ext cx="278771"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11" idx="7"/>
          </p:cNvCxnSpPr>
          <p:nvPr/>
        </p:nvCxnSpPr>
        <p:spPr>
          <a:xfrm flipV="1">
            <a:off x="4529273" y="4021542"/>
            <a:ext cx="675008" cy="850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6" idx="5"/>
            <a:endCxn id="8" idx="1"/>
          </p:cNvCxnSpPr>
          <p:nvPr/>
        </p:nvCxnSpPr>
        <p:spPr>
          <a:xfrm>
            <a:off x="4529273" y="3266304"/>
            <a:ext cx="605470" cy="2840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6" idx="6"/>
            <a:endCxn id="10" idx="2"/>
          </p:cNvCxnSpPr>
          <p:nvPr/>
        </p:nvCxnSpPr>
        <p:spPr>
          <a:xfrm flipV="1">
            <a:off x="4666867" y="3040415"/>
            <a:ext cx="1353401" cy="23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6" idx="0"/>
            <a:endCxn id="9" idx="3"/>
          </p:cNvCxnSpPr>
          <p:nvPr/>
        </p:nvCxnSpPr>
        <p:spPr>
          <a:xfrm flipV="1">
            <a:off x="4197090" y="1927678"/>
            <a:ext cx="853534" cy="849036"/>
          </a:xfrm>
          <a:prstGeom prst="line">
            <a:avLst/>
          </a:prstGeom>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3416090" y="5838758"/>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20" name="橢圓 19"/>
          <p:cNvSpPr/>
          <p:nvPr/>
        </p:nvSpPr>
        <p:spPr>
          <a:xfrm>
            <a:off x="5094376" y="5820686"/>
            <a:ext cx="1060763"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cxnSp>
        <p:nvCxnSpPr>
          <p:cNvPr id="21" name="直線接點 20"/>
          <p:cNvCxnSpPr>
            <a:stCxn id="11" idx="3"/>
            <a:endCxn id="19" idx="0"/>
          </p:cNvCxnSpPr>
          <p:nvPr/>
        </p:nvCxnSpPr>
        <p:spPr>
          <a:xfrm flipH="1">
            <a:off x="3800204" y="5277984"/>
            <a:ext cx="64703"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19" idx="6"/>
            <a:endCxn id="20" idx="1"/>
          </p:cNvCxnSpPr>
          <p:nvPr/>
        </p:nvCxnSpPr>
        <p:spPr>
          <a:xfrm flipV="1">
            <a:off x="4184318" y="5904686"/>
            <a:ext cx="1065403" cy="220867"/>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1623111" y="2316802"/>
            <a:ext cx="805218" cy="646331"/>
          </a:xfrm>
          <a:prstGeom prst="rect">
            <a:avLst/>
          </a:prstGeom>
          <a:noFill/>
        </p:spPr>
        <p:txBody>
          <a:bodyPr wrap="square" rtlCol="0">
            <a:spAutoFit/>
          </a:bodyPr>
          <a:lstStyle/>
          <a:p>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4" name="文字方塊 23"/>
          <p:cNvSpPr txBox="1"/>
          <p:nvPr/>
        </p:nvSpPr>
        <p:spPr>
          <a:xfrm>
            <a:off x="2025720" y="5075189"/>
            <a:ext cx="948870" cy="369332"/>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FF0000"/>
                </a:solidFill>
              </a:rPr>
              <a:t>a</a:t>
            </a:r>
            <a:r>
              <a:rPr lang="en-US" altLang="zh-TW" b="1" dirty="0" err="1" smtClean="0">
                <a:solidFill>
                  <a:srgbClr val="00B0F0"/>
                </a:solidFill>
              </a:rPr>
              <a:t>c</a:t>
            </a:r>
            <a:endParaRPr lang="zh-TW" altLang="en-US" b="1" dirty="0">
              <a:solidFill>
                <a:srgbClr val="00B0F0"/>
              </a:solidFill>
            </a:endParaRPr>
          </a:p>
        </p:txBody>
      </p:sp>
      <p:sp>
        <p:nvSpPr>
          <p:cNvPr id="25" name="文字方塊 24"/>
          <p:cNvSpPr txBox="1"/>
          <p:nvPr/>
        </p:nvSpPr>
        <p:spPr>
          <a:xfrm>
            <a:off x="5624757" y="985428"/>
            <a:ext cx="1419367" cy="646331"/>
          </a:xfrm>
          <a:prstGeom prst="rect">
            <a:avLst/>
          </a:prstGeom>
          <a:noFill/>
        </p:spPr>
        <p:txBody>
          <a:bodyPr wrap="square" rtlCol="0">
            <a:spAutoFit/>
          </a:bodyPr>
          <a:lstStyle/>
          <a:p>
            <a:r>
              <a:rPr lang="en-US" altLang="zh-TW" b="1" dirty="0" err="1">
                <a:solidFill>
                  <a:srgbClr val="7030A0"/>
                </a:solidFill>
              </a:rPr>
              <a:t>g</a:t>
            </a:r>
            <a:r>
              <a:rPr lang="en-US" altLang="zh-TW" b="1" dirty="0" err="1">
                <a:solidFill>
                  <a:srgbClr val="FFC000"/>
                </a:solidFill>
              </a:rPr>
              <a:t>d</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6" name="文字方塊 25"/>
          <p:cNvSpPr txBox="1"/>
          <p:nvPr/>
        </p:nvSpPr>
        <p:spPr>
          <a:xfrm>
            <a:off x="7062460" y="2566130"/>
            <a:ext cx="887104" cy="646331"/>
          </a:xfrm>
          <a:prstGeom prst="rect">
            <a:avLst/>
          </a:prstGeom>
          <a:noFill/>
        </p:spPr>
        <p:txBody>
          <a:bodyPr wrap="square" rtlCol="0">
            <a:spAutoFit/>
          </a:bodyPr>
          <a:lstStyle/>
          <a:p>
            <a:r>
              <a:rPr lang="en-US" altLang="zh-TW" b="1" dirty="0">
                <a:solidFill>
                  <a:srgbClr val="7030A0"/>
                </a:solidFill>
              </a:rPr>
              <a:t>g</a:t>
            </a:r>
            <a:r>
              <a:rPr lang="en-US" altLang="zh-TW" b="1" dirty="0">
                <a:solidFill>
                  <a:srgbClr val="FF0000"/>
                </a:solidFill>
              </a:rPr>
              <a:t>a</a:t>
            </a:r>
            <a:r>
              <a:rPr lang="en-US" altLang="zh-TW" b="1" dirty="0">
                <a:solidFill>
                  <a:srgbClr val="FFC000"/>
                </a:solidFill>
              </a:rPr>
              <a:t>d</a:t>
            </a:r>
            <a:endParaRPr lang="zh-TW" altLang="en-US" b="1" dirty="0">
              <a:solidFill>
                <a:srgbClr val="FFC000"/>
              </a:solidFill>
            </a:endParaRPr>
          </a:p>
          <a:p>
            <a:endParaRPr lang="zh-TW" altLang="en-US" dirty="0"/>
          </a:p>
        </p:txBody>
      </p:sp>
      <p:sp>
        <p:nvSpPr>
          <p:cNvPr id="35" name="文字方塊 34"/>
          <p:cNvSpPr txBox="1"/>
          <p:nvPr/>
        </p:nvSpPr>
        <p:spPr>
          <a:xfrm>
            <a:off x="6479190" y="6015119"/>
            <a:ext cx="887104" cy="646331"/>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FFC000"/>
                </a:solidFill>
              </a:rPr>
              <a:t>d</a:t>
            </a:r>
            <a:endParaRPr lang="zh-TW" altLang="en-US" b="1" dirty="0">
              <a:solidFill>
                <a:srgbClr val="FFC000"/>
              </a:solidFill>
            </a:endParaRPr>
          </a:p>
          <a:p>
            <a:endParaRPr lang="zh-TW" altLang="en-US" dirty="0"/>
          </a:p>
        </p:txBody>
      </p:sp>
      <p:sp>
        <p:nvSpPr>
          <p:cNvPr id="36" name="橢圓 35"/>
          <p:cNvSpPr/>
          <p:nvPr/>
        </p:nvSpPr>
        <p:spPr>
          <a:xfrm>
            <a:off x="2760440" y="3695328"/>
            <a:ext cx="1035670" cy="57359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00B0F0"/>
              </a:solidFill>
            </a:endParaRPr>
          </a:p>
        </p:txBody>
      </p:sp>
      <p:sp>
        <p:nvSpPr>
          <p:cNvPr id="37" name="橢圓 36"/>
          <p:cNvSpPr/>
          <p:nvPr/>
        </p:nvSpPr>
        <p:spPr>
          <a:xfrm>
            <a:off x="3708467" y="4788123"/>
            <a:ext cx="1035670" cy="57359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00B0F0"/>
              </a:solidFill>
            </a:endParaRPr>
          </a:p>
        </p:txBody>
      </p:sp>
      <p:sp>
        <p:nvSpPr>
          <p:cNvPr id="38" name="橢圓 37"/>
          <p:cNvSpPr/>
          <p:nvPr/>
        </p:nvSpPr>
        <p:spPr>
          <a:xfrm>
            <a:off x="4915717" y="3457146"/>
            <a:ext cx="1035670" cy="57359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00B0F0"/>
              </a:solidFill>
            </a:endParaRPr>
          </a:p>
        </p:txBody>
      </p:sp>
      <p:sp>
        <p:nvSpPr>
          <p:cNvPr id="40" name="橢圓 39"/>
          <p:cNvSpPr/>
          <p:nvPr/>
        </p:nvSpPr>
        <p:spPr>
          <a:xfrm>
            <a:off x="3334525" y="5820508"/>
            <a:ext cx="1060763"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41" name="橢圓 40"/>
          <p:cNvSpPr/>
          <p:nvPr/>
        </p:nvSpPr>
        <p:spPr>
          <a:xfrm>
            <a:off x="3700417" y="2758035"/>
            <a:ext cx="959652" cy="57359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FFC000"/>
              </a:solidFill>
            </a:endParaRPr>
          </a:p>
        </p:txBody>
      </p:sp>
    </p:spTree>
    <p:extLst>
      <p:ext uri="{BB962C8B-B14F-4D97-AF65-F5344CB8AC3E}">
        <p14:creationId xmlns:p14="http://schemas.microsoft.com/office/powerpoint/2010/main" val="7049784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051561" y="2722871"/>
            <a:ext cx="1035670" cy="57359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dirty="0">
              <a:solidFill>
                <a:srgbClr val="00B0F0"/>
              </a:solidFill>
            </a:endParaRPr>
          </a:p>
        </p:txBody>
      </p:sp>
      <p:sp>
        <p:nvSpPr>
          <p:cNvPr id="5" name="橢圓 4"/>
          <p:cNvSpPr/>
          <p:nvPr/>
        </p:nvSpPr>
        <p:spPr>
          <a:xfrm>
            <a:off x="2763293" y="3701736"/>
            <a:ext cx="9640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6" name="橢圓 5"/>
          <p:cNvSpPr/>
          <p:nvPr/>
        </p:nvSpPr>
        <p:spPr>
          <a:xfrm>
            <a:off x="3727313" y="277671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7" name="橢圓 6"/>
          <p:cNvSpPr/>
          <p:nvPr/>
        </p:nvSpPr>
        <p:spPr>
          <a:xfrm>
            <a:off x="1051561" y="4788394"/>
            <a:ext cx="916381" cy="57359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dirty="0">
              <a:solidFill>
                <a:srgbClr val="00B0F0"/>
              </a:solidFill>
            </a:endParaRPr>
          </a:p>
        </p:txBody>
      </p:sp>
      <p:sp>
        <p:nvSpPr>
          <p:cNvPr id="8" name="橢圓 7"/>
          <p:cNvSpPr/>
          <p:nvPr/>
        </p:nvSpPr>
        <p:spPr>
          <a:xfrm>
            <a:off x="5005914" y="3466339"/>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9" name="橢圓 8"/>
          <p:cNvSpPr/>
          <p:nvPr/>
        </p:nvSpPr>
        <p:spPr>
          <a:xfrm>
            <a:off x="4915717" y="1440444"/>
            <a:ext cx="921203" cy="57083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10" name="橢圓 9"/>
          <p:cNvSpPr/>
          <p:nvPr/>
        </p:nvSpPr>
        <p:spPr>
          <a:xfrm>
            <a:off x="6020268" y="2753620"/>
            <a:ext cx="959652"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FFC000"/>
              </a:solidFill>
            </a:endParaRPr>
          </a:p>
        </p:txBody>
      </p:sp>
      <p:sp>
        <p:nvSpPr>
          <p:cNvPr id="11" name="橢圓 10"/>
          <p:cNvSpPr/>
          <p:nvPr/>
        </p:nvSpPr>
        <p:spPr>
          <a:xfrm>
            <a:off x="3727313" y="478839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12" name="直線接點 11"/>
          <p:cNvCxnSpPr>
            <a:stCxn id="4" idx="5"/>
            <a:endCxn id="5" idx="1"/>
          </p:cNvCxnSpPr>
          <p:nvPr/>
        </p:nvCxnSpPr>
        <p:spPr>
          <a:xfrm>
            <a:off x="1935561" y="3212461"/>
            <a:ext cx="96890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7" idx="7"/>
            <a:endCxn id="5" idx="3"/>
          </p:cNvCxnSpPr>
          <p:nvPr/>
        </p:nvCxnSpPr>
        <p:spPr>
          <a:xfrm flipV="1">
            <a:off x="1833741" y="4191326"/>
            <a:ext cx="107072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stCxn id="5" idx="5"/>
            <a:endCxn id="11" idx="1"/>
          </p:cNvCxnSpPr>
          <p:nvPr/>
        </p:nvCxnSpPr>
        <p:spPr>
          <a:xfrm>
            <a:off x="3586136" y="4191326"/>
            <a:ext cx="278771"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11" idx="7"/>
          </p:cNvCxnSpPr>
          <p:nvPr/>
        </p:nvCxnSpPr>
        <p:spPr>
          <a:xfrm flipV="1">
            <a:off x="4529273" y="4021542"/>
            <a:ext cx="675008" cy="850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6" idx="5"/>
            <a:endCxn id="8" idx="1"/>
          </p:cNvCxnSpPr>
          <p:nvPr/>
        </p:nvCxnSpPr>
        <p:spPr>
          <a:xfrm>
            <a:off x="4529273" y="3266304"/>
            <a:ext cx="605470" cy="2840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6" idx="6"/>
            <a:endCxn id="10" idx="2"/>
          </p:cNvCxnSpPr>
          <p:nvPr/>
        </p:nvCxnSpPr>
        <p:spPr>
          <a:xfrm flipV="1">
            <a:off x="4666867" y="3040415"/>
            <a:ext cx="1353401" cy="23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6" idx="0"/>
            <a:endCxn id="9" idx="3"/>
          </p:cNvCxnSpPr>
          <p:nvPr/>
        </p:nvCxnSpPr>
        <p:spPr>
          <a:xfrm flipV="1">
            <a:off x="4197090" y="1927678"/>
            <a:ext cx="853534" cy="849036"/>
          </a:xfrm>
          <a:prstGeom prst="line">
            <a:avLst/>
          </a:prstGeom>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3416090" y="5838758"/>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20" name="橢圓 19"/>
          <p:cNvSpPr/>
          <p:nvPr/>
        </p:nvSpPr>
        <p:spPr>
          <a:xfrm>
            <a:off x="5094376" y="5820686"/>
            <a:ext cx="1060763" cy="57359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dirty="0">
              <a:solidFill>
                <a:srgbClr val="00B0F0"/>
              </a:solidFill>
            </a:endParaRPr>
          </a:p>
        </p:txBody>
      </p:sp>
      <p:cxnSp>
        <p:nvCxnSpPr>
          <p:cNvPr id="21" name="直線接點 20"/>
          <p:cNvCxnSpPr>
            <a:stCxn id="11" idx="3"/>
            <a:endCxn id="19" idx="0"/>
          </p:cNvCxnSpPr>
          <p:nvPr/>
        </p:nvCxnSpPr>
        <p:spPr>
          <a:xfrm flipH="1">
            <a:off x="3800204" y="5277984"/>
            <a:ext cx="64703"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19" idx="6"/>
            <a:endCxn id="20" idx="1"/>
          </p:cNvCxnSpPr>
          <p:nvPr/>
        </p:nvCxnSpPr>
        <p:spPr>
          <a:xfrm flipV="1">
            <a:off x="4184318" y="5904686"/>
            <a:ext cx="1065403" cy="220867"/>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1623111" y="2316802"/>
            <a:ext cx="805218" cy="646331"/>
          </a:xfrm>
          <a:prstGeom prst="rect">
            <a:avLst/>
          </a:prstGeom>
          <a:noFill/>
        </p:spPr>
        <p:txBody>
          <a:bodyPr wrap="square" rtlCol="0">
            <a:spAutoFit/>
          </a:bodyPr>
          <a:lstStyle/>
          <a:p>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4" name="文字方塊 23"/>
          <p:cNvSpPr txBox="1"/>
          <p:nvPr/>
        </p:nvSpPr>
        <p:spPr>
          <a:xfrm>
            <a:off x="2025720" y="5075189"/>
            <a:ext cx="948870" cy="369332"/>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FF0000"/>
                </a:solidFill>
              </a:rPr>
              <a:t>a</a:t>
            </a:r>
            <a:r>
              <a:rPr lang="en-US" altLang="zh-TW" b="1" dirty="0" err="1" smtClean="0">
                <a:solidFill>
                  <a:srgbClr val="00B0F0"/>
                </a:solidFill>
              </a:rPr>
              <a:t>c</a:t>
            </a:r>
            <a:endParaRPr lang="zh-TW" altLang="en-US" b="1" dirty="0">
              <a:solidFill>
                <a:srgbClr val="00B0F0"/>
              </a:solidFill>
            </a:endParaRPr>
          </a:p>
        </p:txBody>
      </p:sp>
      <p:sp>
        <p:nvSpPr>
          <p:cNvPr id="25" name="文字方塊 24"/>
          <p:cNvSpPr txBox="1"/>
          <p:nvPr/>
        </p:nvSpPr>
        <p:spPr>
          <a:xfrm>
            <a:off x="5624757" y="985428"/>
            <a:ext cx="1419367" cy="646331"/>
          </a:xfrm>
          <a:prstGeom prst="rect">
            <a:avLst/>
          </a:prstGeom>
          <a:noFill/>
        </p:spPr>
        <p:txBody>
          <a:bodyPr wrap="square" rtlCol="0">
            <a:spAutoFit/>
          </a:bodyPr>
          <a:lstStyle/>
          <a:p>
            <a:r>
              <a:rPr lang="en-US" altLang="zh-TW" b="1" dirty="0" err="1">
                <a:solidFill>
                  <a:srgbClr val="7030A0"/>
                </a:solidFill>
              </a:rPr>
              <a:t>g</a:t>
            </a:r>
            <a:r>
              <a:rPr lang="en-US" altLang="zh-TW" b="1" dirty="0" err="1">
                <a:solidFill>
                  <a:srgbClr val="FFC000"/>
                </a:solidFill>
              </a:rPr>
              <a:t>d</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6" name="文字方塊 25"/>
          <p:cNvSpPr txBox="1"/>
          <p:nvPr/>
        </p:nvSpPr>
        <p:spPr>
          <a:xfrm>
            <a:off x="7062460" y="2566130"/>
            <a:ext cx="887104" cy="646331"/>
          </a:xfrm>
          <a:prstGeom prst="rect">
            <a:avLst/>
          </a:prstGeom>
          <a:noFill/>
        </p:spPr>
        <p:txBody>
          <a:bodyPr wrap="square" rtlCol="0">
            <a:spAutoFit/>
          </a:bodyPr>
          <a:lstStyle/>
          <a:p>
            <a:r>
              <a:rPr lang="en-US" altLang="zh-TW" b="1" dirty="0">
                <a:solidFill>
                  <a:srgbClr val="7030A0"/>
                </a:solidFill>
              </a:rPr>
              <a:t>g</a:t>
            </a:r>
            <a:r>
              <a:rPr lang="en-US" altLang="zh-TW" b="1" dirty="0">
                <a:solidFill>
                  <a:srgbClr val="FF0000"/>
                </a:solidFill>
              </a:rPr>
              <a:t>a</a:t>
            </a:r>
            <a:r>
              <a:rPr lang="en-US" altLang="zh-TW" b="1" dirty="0">
                <a:solidFill>
                  <a:srgbClr val="FFC000"/>
                </a:solidFill>
              </a:rPr>
              <a:t>d</a:t>
            </a:r>
            <a:endParaRPr lang="zh-TW" altLang="en-US" b="1" dirty="0">
              <a:solidFill>
                <a:srgbClr val="FFC000"/>
              </a:solidFill>
            </a:endParaRPr>
          </a:p>
          <a:p>
            <a:endParaRPr lang="zh-TW" altLang="en-US" dirty="0"/>
          </a:p>
        </p:txBody>
      </p:sp>
      <p:sp>
        <p:nvSpPr>
          <p:cNvPr id="27" name="文字方塊 26"/>
          <p:cNvSpPr txBox="1"/>
          <p:nvPr/>
        </p:nvSpPr>
        <p:spPr>
          <a:xfrm>
            <a:off x="6479190" y="6015119"/>
            <a:ext cx="887104" cy="646331"/>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FFC000"/>
                </a:solidFill>
              </a:rPr>
              <a:t>d</a:t>
            </a:r>
            <a:endParaRPr lang="zh-TW" altLang="en-US" b="1" dirty="0">
              <a:solidFill>
                <a:srgbClr val="FFC000"/>
              </a:solidFill>
            </a:endParaRPr>
          </a:p>
          <a:p>
            <a:endParaRPr lang="zh-TW" altLang="en-US" dirty="0"/>
          </a:p>
        </p:txBody>
      </p:sp>
      <p:sp>
        <p:nvSpPr>
          <p:cNvPr id="28" name="橢圓 27"/>
          <p:cNvSpPr/>
          <p:nvPr/>
        </p:nvSpPr>
        <p:spPr>
          <a:xfrm>
            <a:off x="2760440" y="3695328"/>
            <a:ext cx="1035670" cy="57359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dirty="0">
              <a:solidFill>
                <a:srgbClr val="00B0F0"/>
              </a:solidFill>
            </a:endParaRPr>
          </a:p>
        </p:txBody>
      </p:sp>
      <p:sp>
        <p:nvSpPr>
          <p:cNvPr id="29" name="橢圓 28"/>
          <p:cNvSpPr/>
          <p:nvPr/>
        </p:nvSpPr>
        <p:spPr>
          <a:xfrm>
            <a:off x="3708467" y="4788123"/>
            <a:ext cx="1035670" cy="57359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dirty="0">
              <a:solidFill>
                <a:srgbClr val="00B0F0"/>
              </a:solidFill>
            </a:endParaRPr>
          </a:p>
        </p:txBody>
      </p:sp>
      <p:sp>
        <p:nvSpPr>
          <p:cNvPr id="30" name="橢圓 29"/>
          <p:cNvSpPr/>
          <p:nvPr/>
        </p:nvSpPr>
        <p:spPr>
          <a:xfrm>
            <a:off x="4915717" y="3457146"/>
            <a:ext cx="1035670" cy="57359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dirty="0">
              <a:solidFill>
                <a:srgbClr val="00B0F0"/>
              </a:solidFill>
            </a:endParaRPr>
          </a:p>
        </p:txBody>
      </p:sp>
      <p:sp>
        <p:nvSpPr>
          <p:cNvPr id="31" name="橢圓 30"/>
          <p:cNvSpPr/>
          <p:nvPr/>
        </p:nvSpPr>
        <p:spPr>
          <a:xfrm>
            <a:off x="3334525" y="5820508"/>
            <a:ext cx="1060763" cy="57359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b="1" dirty="0">
              <a:solidFill>
                <a:srgbClr val="00B0F0"/>
              </a:solidFill>
            </a:endParaRPr>
          </a:p>
        </p:txBody>
      </p:sp>
      <p:sp>
        <p:nvSpPr>
          <p:cNvPr id="32" name="橢圓 31"/>
          <p:cNvSpPr/>
          <p:nvPr/>
        </p:nvSpPr>
        <p:spPr>
          <a:xfrm>
            <a:off x="3700417" y="2758035"/>
            <a:ext cx="959652"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FFC000"/>
              </a:solidFill>
            </a:endParaRPr>
          </a:p>
        </p:txBody>
      </p:sp>
    </p:spTree>
    <p:extLst>
      <p:ext uri="{BB962C8B-B14F-4D97-AF65-F5344CB8AC3E}">
        <p14:creationId xmlns:p14="http://schemas.microsoft.com/office/powerpoint/2010/main" val="15115431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051561" y="2722871"/>
            <a:ext cx="1035670"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sp>
        <p:nvSpPr>
          <p:cNvPr id="5" name="橢圓 4"/>
          <p:cNvSpPr/>
          <p:nvPr/>
        </p:nvSpPr>
        <p:spPr>
          <a:xfrm>
            <a:off x="2763293" y="3701736"/>
            <a:ext cx="9640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6" name="橢圓 5"/>
          <p:cNvSpPr/>
          <p:nvPr/>
        </p:nvSpPr>
        <p:spPr>
          <a:xfrm>
            <a:off x="3727313" y="277671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7" name="橢圓 6"/>
          <p:cNvSpPr/>
          <p:nvPr/>
        </p:nvSpPr>
        <p:spPr>
          <a:xfrm>
            <a:off x="1051561" y="4788394"/>
            <a:ext cx="916381"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sp>
        <p:nvSpPr>
          <p:cNvPr id="8" name="橢圓 7"/>
          <p:cNvSpPr/>
          <p:nvPr/>
        </p:nvSpPr>
        <p:spPr>
          <a:xfrm>
            <a:off x="5005914" y="3466339"/>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9" name="橢圓 8"/>
          <p:cNvSpPr/>
          <p:nvPr/>
        </p:nvSpPr>
        <p:spPr>
          <a:xfrm>
            <a:off x="4915717" y="1440444"/>
            <a:ext cx="921203" cy="57083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sp>
        <p:nvSpPr>
          <p:cNvPr id="10" name="橢圓 9"/>
          <p:cNvSpPr/>
          <p:nvPr/>
        </p:nvSpPr>
        <p:spPr>
          <a:xfrm>
            <a:off x="6020268" y="2753620"/>
            <a:ext cx="959652"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FFC000"/>
              </a:solidFill>
            </a:endParaRPr>
          </a:p>
        </p:txBody>
      </p:sp>
      <p:sp>
        <p:nvSpPr>
          <p:cNvPr id="11" name="橢圓 10"/>
          <p:cNvSpPr/>
          <p:nvPr/>
        </p:nvSpPr>
        <p:spPr>
          <a:xfrm>
            <a:off x="3727313" y="478839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12" name="直線接點 11"/>
          <p:cNvCxnSpPr>
            <a:stCxn id="4" idx="5"/>
            <a:endCxn id="5" idx="1"/>
          </p:cNvCxnSpPr>
          <p:nvPr/>
        </p:nvCxnSpPr>
        <p:spPr>
          <a:xfrm>
            <a:off x="1935561" y="3212461"/>
            <a:ext cx="96890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7" idx="7"/>
            <a:endCxn id="5" idx="3"/>
          </p:cNvCxnSpPr>
          <p:nvPr/>
        </p:nvCxnSpPr>
        <p:spPr>
          <a:xfrm flipV="1">
            <a:off x="1833741" y="4191326"/>
            <a:ext cx="107072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stCxn id="5" idx="5"/>
            <a:endCxn id="11" idx="1"/>
          </p:cNvCxnSpPr>
          <p:nvPr/>
        </p:nvCxnSpPr>
        <p:spPr>
          <a:xfrm>
            <a:off x="3586136" y="4191326"/>
            <a:ext cx="278771"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11" idx="7"/>
          </p:cNvCxnSpPr>
          <p:nvPr/>
        </p:nvCxnSpPr>
        <p:spPr>
          <a:xfrm flipV="1">
            <a:off x="4529273" y="4021542"/>
            <a:ext cx="675008" cy="850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6" idx="5"/>
            <a:endCxn id="8" idx="1"/>
          </p:cNvCxnSpPr>
          <p:nvPr/>
        </p:nvCxnSpPr>
        <p:spPr>
          <a:xfrm>
            <a:off x="4529273" y="3266304"/>
            <a:ext cx="605470" cy="2840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6" idx="6"/>
            <a:endCxn id="10" idx="2"/>
          </p:cNvCxnSpPr>
          <p:nvPr/>
        </p:nvCxnSpPr>
        <p:spPr>
          <a:xfrm flipV="1">
            <a:off x="4666867" y="3040415"/>
            <a:ext cx="1353401" cy="23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6" idx="0"/>
            <a:endCxn id="9" idx="3"/>
          </p:cNvCxnSpPr>
          <p:nvPr/>
        </p:nvCxnSpPr>
        <p:spPr>
          <a:xfrm flipV="1">
            <a:off x="4197090" y="1927678"/>
            <a:ext cx="853534" cy="849036"/>
          </a:xfrm>
          <a:prstGeom prst="line">
            <a:avLst/>
          </a:prstGeom>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3416090" y="5838758"/>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20" name="橢圓 19"/>
          <p:cNvSpPr/>
          <p:nvPr/>
        </p:nvSpPr>
        <p:spPr>
          <a:xfrm>
            <a:off x="5094376" y="5820686"/>
            <a:ext cx="1060763"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cxnSp>
        <p:nvCxnSpPr>
          <p:cNvPr id="21" name="直線接點 20"/>
          <p:cNvCxnSpPr>
            <a:stCxn id="11" idx="3"/>
            <a:endCxn id="19" idx="0"/>
          </p:cNvCxnSpPr>
          <p:nvPr/>
        </p:nvCxnSpPr>
        <p:spPr>
          <a:xfrm flipH="1">
            <a:off x="3800204" y="5277984"/>
            <a:ext cx="64703"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19" idx="6"/>
            <a:endCxn id="20" idx="1"/>
          </p:cNvCxnSpPr>
          <p:nvPr/>
        </p:nvCxnSpPr>
        <p:spPr>
          <a:xfrm flipV="1">
            <a:off x="4184318" y="5904686"/>
            <a:ext cx="1065403" cy="220867"/>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1623111" y="2316802"/>
            <a:ext cx="805218" cy="646331"/>
          </a:xfrm>
          <a:prstGeom prst="rect">
            <a:avLst/>
          </a:prstGeom>
          <a:noFill/>
        </p:spPr>
        <p:txBody>
          <a:bodyPr wrap="square" rtlCol="0">
            <a:spAutoFit/>
          </a:bodyPr>
          <a:lstStyle/>
          <a:p>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4" name="文字方塊 23"/>
          <p:cNvSpPr txBox="1"/>
          <p:nvPr/>
        </p:nvSpPr>
        <p:spPr>
          <a:xfrm>
            <a:off x="2025720" y="5075189"/>
            <a:ext cx="948870" cy="369332"/>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FF0000"/>
                </a:solidFill>
              </a:rPr>
              <a:t>a</a:t>
            </a:r>
            <a:r>
              <a:rPr lang="en-US" altLang="zh-TW" b="1" dirty="0" err="1" smtClean="0">
                <a:solidFill>
                  <a:srgbClr val="00B0F0"/>
                </a:solidFill>
              </a:rPr>
              <a:t>c</a:t>
            </a:r>
            <a:endParaRPr lang="zh-TW" altLang="en-US" b="1" dirty="0">
              <a:solidFill>
                <a:srgbClr val="00B0F0"/>
              </a:solidFill>
            </a:endParaRPr>
          </a:p>
        </p:txBody>
      </p:sp>
      <p:sp>
        <p:nvSpPr>
          <p:cNvPr id="25" name="文字方塊 24"/>
          <p:cNvSpPr txBox="1"/>
          <p:nvPr/>
        </p:nvSpPr>
        <p:spPr>
          <a:xfrm>
            <a:off x="5624757" y="985428"/>
            <a:ext cx="1419367" cy="646331"/>
          </a:xfrm>
          <a:prstGeom prst="rect">
            <a:avLst/>
          </a:prstGeom>
          <a:noFill/>
        </p:spPr>
        <p:txBody>
          <a:bodyPr wrap="square" rtlCol="0">
            <a:spAutoFit/>
          </a:bodyPr>
          <a:lstStyle/>
          <a:p>
            <a:r>
              <a:rPr lang="en-US" altLang="zh-TW" b="1" dirty="0" err="1">
                <a:solidFill>
                  <a:srgbClr val="7030A0"/>
                </a:solidFill>
              </a:rPr>
              <a:t>g</a:t>
            </a:r>
            <a:r>
              <a:rPr lang="en-US" altLang="zh-TW" b="1" dirty="0" err="1">
                <a:solidFill>
                  <a:srgbClr val="FFC000"/>
                </a:solidFill>
              </a:rPr>
              <a:t>d</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6" name="文字方塊 25"/>
          <p:cNvSpPr txBox="1"/>
          <p:nvPr/>
        </p:nvSpPr>
        <p:spPr>
          <a:xfrm>
            <a:off x="7062460" y="2566130"/>
            <a:ext cx="887104" cy="646331"/>
          </a:xfrm>
          <a:prstGeom prst="rect">
            <a:avLst/>
          </a:prstGeom>
          <a:noFill/>
        </p:spPr>
        <p:txBody>
          <a:bodyPr wrap="square" rtlCol="0">
            <a:spAutoFit/>
          </a:bodyPr>
          <a:lstStyle/>
          <a:p>
            <a:r>
              <a:rPr lang="en-US" altLang="zh-TW" b="1" dirty="0">
                <a:solidFill>
                  <a:srgbClr val="7030A0"/>
                </a:solidFill>
              </a:rPr>
              <a:t>g</a:t>
            </a:r>
            <a:r>
              <a:rPr lang="en-US" altLang="zh-TW" b="1" dirty="0">
                <a:solidFill>
                  <a:srgbClr val="FF0000"/>
                </a:solidFill>
              </a:rPr>
              <a:t>a</a:t>
            </a:r>
            <a:r>
              <a:rPr lang="en-US" altLang="zh-TW" b="1" dirty="0">
                <a:solidFill>
                  <a:srgbClr val="FFC000"/>
                </a:solidFill>
              </a:rPr>
              <a:t>d</a:t>
            </a:r>
            <a:endParaRPr lang="zh-TW" altLang="en-US" b="1" dirty="0">
              <a:solidFill>
                <a:srgbClr val="FFC000"/>
              </a:solidFill>
            </a:endParaRPr>
          </a:p>
          <a:p>
            <a:endParaRPr lang="zh-TW" altLang="en-US" dirty="0"/>
          </a:p>
        </p:txBody>
      </p:sp>
      <p:sp>
        <p:nvSpPr>
          <p:cNvPr id="27" name="文字方塊 26"/>
          <p:cNvSpPr txBox="1"/>
          <p:nvPr/>
        </p:nvSpPr>
        <p:spPr>
          <a:xfrm>
            <a:off x="6479190" y="6015119"/>
            <a:ext cx="887104" cy="646331"/>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FFC000"/>
                </a:solidFill>
              </a:rPr>
              <a:t>d</a:t>
            </a:r>
            <a:endParaRPr lang="zh-TW" altLang="en-US" b="1" dirty="0">
              <a:solidFill>
                <a:srgbClr val="FFC000"/>
              </a:solidFill>
            </a:endParaRPr>
          </a:p>
          <a:p>
            <a:endParaRPr lang="zh-TW" altLang="en-US" dirty="0"/>
          </a:p>
        </p:txBody>
      </p:sp>
      <p:sp>
        <p:nvSpPr>
          <p:cNvPr id="28" name="橢圓 27"/>
          <p:cNvSpPr/>
          <p:nvPr/>
        </p:nvSpPr>
        <p:spPr>
          <a:xfrm>
            <a:off x="2760440" y="3695328"/>
            <a:ext cx="1035670"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sp>
        <p:nvSpPr>
          <p:cNvPr id="29" name="橢圓 28"/>
          <p:cNvSpPr/>
          <p:nvPr/>
        </p:nvSpPr>
        <p:spPr>
          <a:xfrm>
            <a:off x="3708467" y="4788123"/>
            <a:ext cx="1035670"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sp>
        <p:nvSpPr>
          <p:cNvPr id="30" name="橢圓 29"/>
          <p:cNvSpPr/>
          <p:nvPr/>
        </p:nvSpPr>
        <p:spPr>
          <a:xfrm>
            <a:off x="4915717" y="3457146"/>
            <a:ext cx="1035670"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sp>
        <p:nvSpPr>
          <p:cNvPr id="31" name="橢圓 30"/>
          <p:cNvSpPr/>
          <p:nvPr/>
        </p:nvSpPr>
        <p:spPr>
          <a:xfrm>
            <a:off x="3334525" y="5820508"/>
            <a:ext cx="1060763"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00B0F0"/>
              </a:solidFill>
            </a:endParaRPr>
          </a:p>
        </p:txBody>
      </p:sp>
      <p:sp>
        <p:nvSpPr>
          <p:cNvPr id="32" name="橢圓 31"/>
          <p:cNvSpPr/>
          <p:nvPr/>
        </p:nvSpPr>
        <p:spPr>
          <a:xfrm>
            <a:off x="3700417" y="2758035"/>
            <a:ext cx="959652" cy="57359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b="1" dirty="0">
              <a:solidFill>
                <a:srgbClr val="FFC000"/>
              </a:solidFill>
            </a:endParaRPr>
          </a:p>
        </p:txBody>
      </p:sp>
    </p:spTree>
    <p:extLst>
      <p:ext uri="{BB962C8B-B14F-4D97-AF65-F5344CB8AC3E}">
        <p14:creationId xmlns:p14="http://schemas.microsoft.com/office/powerpoint/2010/main" val="25834811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051561" y="2722871"/>
            <a:ext cx="1035670"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5" name="橢圓 4"/>
          <p:cNvSpPr/>
          <p:nvPr/>
        </p:nvSpPr>
        <p:spPr>
          <a:xfrm>
            <a:off x="2763293" y="3701736"/>
            <a:ext cx="9640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6" name="橢圓 5"/>
          <p:cNvSpPr/>
          <p:nvPr/>
        </p:nvSpPr>
        <p:spPr>
          <a:xfrm>
            <a:off x="3727313" y="277671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7" name="橢圓 6"/>
          <p:cNvSpPr/>
          <p:nvPr/>
        </p:nvSpPr>
        <p:spPr>
          <a:xfrm>
            <a:off x="1051561" y="4788394"/>
            <a:ext cx="916381"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8" name="橢圓 7"/>
          <p:cNvSpPr/>
          <p:nvPr/>
        </p:nvSpPr>
        <p:spPr>
          <a:xfrm>
            <a:off x="5005914" y="3466339"/>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9" name="橢圓 8"/>
          <p:cNvSpPr/>
          <p:nvPr/>
        </p:nvSpPr>
        <p:spPr>
          <a:xfrm>
            <a:off x="4915717" y="1440444"/>
            <a:ext cx="921203" cy="570830"/>
          </a:xfrm>
          <a:prstGeom prst="ellipse">
            <a:avLst/>
          </a:prstGeom>
          <a:solidFill>
            <a:srgbClr val="7030A0"/>
          </a:solidFill>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10" name="橢圓 9"/>
          <p:cNvSpPr/>
          <p:nvPr/>
        </p:nvSpPr>
        <p:spPr>
          <a:xfrm>
            <a:off x="6020268" y="2753620"/>
            <a:ext cx="959652" cy="573590"/>
          </a:xfrm>
          <a:prstGeom prst="ellipse">
            <a:avLst/>
          </a:prstGeom>
          <a:solidFill>
            <a:srgbClr val="7030A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FFC000"/>
              </a:solidFill>
            </a:endParaRPr>
          </a:p>
        </p:txBody>
      </p:sp>
      <p:sp>
        <p:nvSpPr>
          <p:cNvPr id="11" name="橢圓 10"/>
          <p:cNvSpPr/>
          <p:nvPr/>
        </p:nvSpPr>
        <p:spPr>
          <a:xfrm>
            <a:off x="3727313" y="4788394"/>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12" name="直線接點 11"/>
          <p:cNvCxnSpPr>
            <a:stCxn id="4" idx="5"/>
            <a:endCxn id="5" idx="1"/>
          </p:cNvCxnSpPr>
          <p:nvPr/>
        </p:nvCxnSpPr>
        <p:spPr>
          <a:xfrm>
            <a:off x="1935561" y="3212461"/>
            <a:ext cx="96890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7" idx="7"/>
            <a:endCxn id="5" idx="3"/>
          </p:cNvCxnSpPr>
          <p:nvPr/>
        </p:nvCxnSpPr>
        <p:spPr>
          <a:xfrm flipV="1">
            <a:off x="1833741" y="4191326"/>
            <a:ext cx="107072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stCxn id="5" idx="5"/>
            <a:endCxn id="11" idx="1"/>
          </p:cNvCxnSpPr>
          <p:nvPr/>
        </p:nvCxnSpPr>
        <p:spPr>
          <a:xfrm>
            <a:off x="3586136" y="4191326"/>
            <a:ext cx="278771"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11" idx="7"/>
          </p:cNvCxnSpPr>
          <p:nvPr/>
        </p:nvCxnSpPr>
        <p:spPr>
          <a:xfrm flipV="1">
            <a:off x="4529273" y="4021542"/>
            <a:ext cx="675008" cy="850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6" idx="5"/>
            <a:endCxn id="8" idx="1"/>
          </p:cNvCxnSpPr>
          <p:nvPr/>
        </p:nvCxnSpPr>
        <p:spPr>
          <a:xfrm>
            <a:off x="4529273" y="3266304"/>
            <a:ext cx="605470" cy="2840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6" idx="6"/>
            <a:endCxn id="10" idx="2"/>
          </p:cNvCxnSpPr>
          <p:nvPr/>
        </p:nvCxnSpPr>
        <p:spPr>
          <a:xfrm flipV="1">
            <a:off x="4666867" y="3040415"/>
            <a:ext cx="1353401" cy="23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6" idx="0"/>
            <a:endCxn id="9" idx="3"/>
          </p:cNvCxnSpPr>
          <p:nvPr/>
        </p:nvCxnSpPr>
        <p:spPr>
          <a:xfrm flipV="1">
            <a:off x="4197090" y="1927678"/>
            <a:ext cx="853534" cy="849036"/>
          </a:xfrm>
          <a:prstGeom prst="line">
            <a:avLst/>
          </a:prstGeom>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3416090" y="5838758"/>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20" name="橢圓 19"/>
          <p:cNvSpPr/>
          <p:nvPr/>
        </p:nvSpPr>
        <p:spPr>
          <a:xfrm>
            <a:off x="5094376" y="5820686"/>
            <a:ext cx="1060763"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cxnSp>
        <p:nvCxnSpPr>
          <p:cNvPr id="21" name="直線接點 20"/>
          <p:cNvCxnSpPr>
            <a:stCxn id="11" idx="3"/>
            <a:endCxn id="19" idx="0"/>
          </p:cNvCxnSpPr>
          <p:nvPr/>
        </p:nvCxnSpPr>
        <p:spPr>
          <a:xfrm flipH="1">
            <a:off x="3800204" y="5277984"/>
            <a:ext cx="64703"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19" idx="6"/>
            <a:endCxn id="20" idx="1"/>
          </p:cNvCxnSpPr>
          <p:nvPr/>
        </p:nvCxnSpPr>
        <p:spPr>
          <a:xfrm flipV="1">
            <a:off x="4184318" y="5904686"/>
            <a:ext cx="1065403" cy="220867"/>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1623111" y="2316802"/>
            <a:ext cx="805218" cy="646331"/>
          </a:xfrm>
          <a:prstGeom prst="rect">
            <a:avLst/>
          </a:prstGeom>
          <a:noFill/>
        </p:spPr>
        <p:txBody>
          <a:bodyPr wrap="square" rtlCol="0">
            <a:spAutoFit/>
          </a:bodyPr>
          <a:lstStyle/>
          <a:p>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4" name="文字方塊 23"/>
          <p:cNvSpPr txBox="1"/>
          <p:nvPr/>
        </p:nvSpPr>
        <p:spPr>
          <a:xfrm>
            <a:off x="2025720" y="5075189"/>
            <a:ext cx="948870" cy="369332"/>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FF0000"/>
                </a:solidFill>
              </a:rPr>
              <a:t>a</a:t>
            </a:r>
            <a:r>
              <a:rPr lang="en-US" altLang="zh-TW" b="1" dirty="0" err="1" smtClean="0">
                <a:solidFill>
                  <a:srgbClr val="00B0F0"/>
                </a:solidFill>
              </a:rPr>
              <a:t>c</a:t>
            </a:r>
            <a:endParaRPr lang="zh-TW" altLang="en-US" b="1" dirty="0">
              <a:solidFill>
                <a:srgbClr val="00B0F0"/>
              </a:solidFill>
            </a:endParaRPr>
          </a:p>
        </p:txBody>
      </p:sp>
      <p:sp>
        <p:nvSpPr>
          <p:cNvPr id="25" name="文字方塊 24"/>
          <p:cNvSpPr txBox="1"/>
          <p:nvPr/>
        </p:nvSpPr>
        <p:spPr>
          <a:xfrm>
            <a:off x="5624757" y="985428"/>
            <a:ext cx="1419367" cy="646331"/>
          </a:xfrm>
          <a:prstGeom prst="rect">
            <a:avLst/>
          </a:prstGeom>
          <a:noFill/>
        </p:spPr>
        <p:txBody>
          <a:bodyPr wrap="square" rtlCol="0">
            <a:spAutoFit/>
          </a:bodyPr>
          <a:lstStyle/>
          <a:p>
            <a:r>
              <a:rPr lang="en-US" altLang="zh-TW" b="1" dirty="0" err="1">
                <a:solidFill>
                  <a:srgbClr val="7030A0"/>
                </a:solidFill>
              </a:rPr>
              <a:t>g</a:t>
            </a:r>
            <a:r>
              <a:rPr lang="en-US" altLang="zh-TW" b="1" dirty="0" err="1">
                <a:solidFill>
                  <a:srgbClr val="FFC000"/>
                </a:solidFill>
              </a:rPr>
              <a:t>d</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6" name="文字方塊 25"/>
          <p:cNvSpPr txBox="1"/>
          <p:nvPr/>
        </p:nvSpPr>
        <p:spPr>
          <a:xfrm>
            <a:off x="7062460" y="2566130"/>
            <a:ext cx="887104" cy="646331"/>
          </a:xfrm>
          <a:prstGeom prst="rect">
            <a:avLst/>
          </a:prstGeom>
          <a:noFill/>
        </p:spPr>
        <p:txBody>
          <a:bodyPr wrap="square" rtlCol="0">
            <a:spAutoFit/>
          </a:bodyPr>
          <a:lstStyle/>
          <a:p>
            <a:r>
              <a:rPr lang="en-US" altLang="zh-TW" b="1" dirty="0">
                <a:solidFill>
                  <a:srgbClr val="7030A0"/>
                </a:solidFill>
              </a:rPr>
              <a:t>g</a:t>
            </a:r>
            <a:r>
              <a:rPr lang="en-US" altLang="zh-TW" b="1" dirty="0">
                <a:solidFill>
                  <a:srgbClr val="FF0000"/>
                </a:solidFill>
              </a:rPr>
              <a:t>a</a:t>
            </a:r>
            <a:r>
              <a:rPr lang="en-US" altLang="zh-TW" b="1" dirty="0">
                <a:solidFill>
                  <a:srgbClr val="FFC000"/>
                </a:solidFill>
              </a:rPr>
              <a:t>d</a:t>
            </a:r>
            <a:endParaRPr lang="zh-TW" altLang="en-US" b="1" dirty="0">
              <a:solidFill>
                <a:srgbClr val="FFC000"/>
              </a:solidFill>
            </a:endParaRPr>
          </a:p>
          <a:p>
            <a:endParaRPr lang="zh-TW" altLang="en-US" dirty="0"/>
          </a:p>
        </p:txBody>
      </p:sp>
      <p:sp>
        <p:nvSpPr>
          <p:cNvPr id="27" name="文字方塊 26"/>
          <p:cNvSpPr txBox="1"/>
          <p:nvPr/>
        </p:nvSpPr>
        <p:spPr>
          <a:xfrm>
            <a:off x="6479190" y="6015119"/>
            <a:ext cx="887104" cy="646331"/>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FFC000"/>
                </a:solidFill>
              </a:rPr>
              <a:t>d</a:t>
            </a:r>
            <a:endParaRPr lang="zh-TW" altLang="en-US" b="1" dirty="0">
              <a:solidFill>
                <a:srgbClr val="FFC000"/>
              </a:solidFill>
            </a:endParaRPr>
          </a:p>
          <a:p>
            <a:endParaRPr lang="zh-TW" altLang="en-US" dirty="0"/>
          </a:p>
        </p:txBody>
      </p:sp>
      <p:sp>
        <p:nvSpPr>
          <p:cNvPr id="28" name="橢圓 27"/>
          <p:cNvSpPr/>
          <p:nvPr/>
        </p:nvSpPr>
        <p:spPr>
          <a:xfrm>
            <a:off x="2760440" y="3695328"/>
            <a:ext cx="1035670"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29" name="橢圓 28"/>
          <p:cNvSpPr/>
          <p:nvPr/>
        </p:nvSpPr>
        <p:spPr>
          <a:xfrm>
            <a:off x="3708467" y="4788123"/>
            <a:ext cx="1035670"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30" name="橢圓 29"/>
          <p:cNvSpPr/>
          <p:nvPr/>
        </p:nvSpPr>
        <p:spPr>
          <a:xfrm>
            <a:off x="4915717" y="3457146"/>
            <a:ext cx="1035670" cy="573590"/>
          </a:xfrm>
          <a:prstGeom prst="ellipse">
            <a:avLst/>
          </a:prstGeom>
          <a:solidFill>
            <a:srgbClr val="7030A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00B0F0"/>
              </a:solidFill>
            </a:endParaRPr>
          </a:p>
        </p:txBody>
      </p:sp>
      <p:sp>
        <p:nvSpPr>
          <p:cNvPr id="31" name="橢圓 30"/>
          <p:cNvSpPr/>
          <p:nvPr/>
        </p:nvSpPr>
        <p:spPr>
          <a:xfrm>
            <a:off x="3334525" y="5820508"/>
            <a:ext cx="1060763"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32" name="橢圓 31"/>
          <p:cNvSpPr/>
          <p:nvPr/>
        </p:nvSpPr>
        <p:spPr>
          <a:xfrm>
            <a:off x="3700417" y="2758035"/>
            <a:ext cx="959652" cy="573590"/>
          </a:xfrm>
          <a:prstGeom prst="ellipse">
            <a:avLst/>
          </a:prstGeom>
          <a:solidFill>
            <a:srgbClr val="7030A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b="1" dirty="0">
              <a:solidFill>
                <a:srgbClr val="FFC000"/>
              </a:solidFill>
            </a:endParaRPr>
          </a:p>
        </p:txBody>
      </p:sp>
    </p:spTree>
    <p:extLst>
      <p:ext uri="{BB962C8B-B14F-4D97-AF65-F5344CB8AC3E}">
        <p14:creationId xmlns:p14="http://schemas.microsoft.com/office/powerpoint/2010/main" val="13285104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406403" y="2695576"/>
            <a:ext cx="1035670"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5" name="橢圓 4"/>
          <p:cNvSpPr/>
          <p:nvPr/>
        </p:nvSpPr>
        <p:spPr>
          <a:xfrm>
            <a:off x="3118135" y="3674441"/>
            <a:ext cx="9640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6" name="橢圓 5"/>
          <p:cNvSpPr/>
          <p:nvPr/>
        </p:nvSpPr>
        <p:spPr>
          <a:xfrm>
            <a:off x="4082155" y="2749419"/>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7" name="橢圓 6"/>
          <p:cNvSpPr/>
          <p:nvPr/>
        </p:nvSpPr>
        <p:spPr>
          <a:xfrm>
            <a:off x="1406403" y="4761099"/>
            <a:ext cx="916381"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8" name="橢圓 7"/>
          <p:cNvSpPr/>
          <p:nvPr/>
        </p:nvSpPr>
        <p:spPr>
          <a:xfrm>
            <a:off x="5360756" y="3439044"/>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9" name="橢圓 8"/>
          <p:cNvSpPr/>
          <p:nvPr/>
        </p:nvSpPr>
        <p:spPr>
          <a:xfrm>
            <a:off x="5270559" y="1413149"/>
            <a:ext cx="921203" cy="57083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dirty="0">
              <a:solidFill>
                <a:srgbClr val="00B0F0"/>
              </a:solidFill>
            </a:endParaRPr>
          </a:p>
        </p:txBody>
      </p:sp>
      <p:sp>
        <p:nvSpPr>
          <p:cNvPr id="10" name="橢圓 9"/>
          <p:cNvSpPr/>
          <p:nvPr/>
        </p:nvSpPr>
        <p:spPr>
          <a:xfrm>
            <a:off x="6375110" y="2726325"/>
            <a:ext cx="959652" cy="57359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dirty="0">
              <a:solidFill>
                <a:srgbClr val="FFC000"/>
              </a:solidFill>
            </a:endParaRPr>
          </a:p>
        </p:txBody>
      </p:sp>
      <p:sp>
        <p:nvSpPr>
          <p:cNvPr id="11" name="橢圓 10"/>
          <p:cNvSpPr/>
          <p:nvPr/>
        </p:nvSpPr>
        <p:spPr>
          <a:xfrm>
            <a:off x="4082155" y="4761099"/>
            <a:ext cx="93955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12" name="直線接點 11"/>
          <p:cNvCxnSpPr>
            <a:stCxn id="4" idx="5"/>
            <a:endCxn id="5" idx="1"/>
          </p:cNvCxnSpPr>
          <p:nvPr/>
        </p:nvCxnSpPr>
        <p:spPr>
          <a:xfrm>
            <a:off x="2290403" y="3185166"/>
            <a:ext cx="96890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7" idx="7"/>
            <a:endCxn id="5" idx="3"/>
          </p:cNvCxnSpPr>
          <p:nvPr/>
        </p:nvCxnSpPr>
        <p:spPr>
          <a:xfrm flipV="1">
            <a:off x="2188583" y="4164031"/>
            <a:ext cx="107072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stCxn id="5" idx="5"/>
            <a:endCxn id="11" idx="1"/>
          </p:cNvCxnSpPr>
          <p:nvPr/>
        </p:nvCxnSpPr>
        <p:spPr>
          <a:xfrm>
            <a:off x="3940978" y="4164031"/>
            <a:ext cx="278771"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11" idx="7"/>
          </p:cNvCxnSpPr>
          <p:nvPr/>
        </p:nvCxnSpPr>
        <p:spPr>
          <a:xfrm flipV="1">
            <a:off x="4884115" y="3994247"/>
            <a:ext cx="675008" cy="850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6" idx="5"/>
            <a:endCxn id="8" idx="1"/>
          </p:cNvCxnSpPr>
          <p:nvPr/>
        </p:nvCxnSpPr>
        <p:spPr>
          <a:xfrm>
            <a:off x="4884115" y="3239009"/>
            <a:ext cx="605470" cy="2840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6" idx="6"/>
            <a:endCxn id="10" idx="2"/>
          </p:cNvCxnSpPr>
          <p:nvPr/>
        </p:nvCxnSpPr>
        <p:spPr>
          <a:xfrm flipV="1">
            <a:off x="5021709" y="3013120"/>
            <a:ext cx="1353401" cy="23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6" idx="0"/>
            <a:endCxn id="9" idx="3"/>
          </p:cNvCxnSpPr>
          <p:nvPr/>
        </p:nvCxnSpPr>
        <p:spPr>
          <a:xfrm flipV="1">
            <a:off x="4551932" y="1900383"/>
            <a:ext cx="853534" cy="849036"/>
          </a:xfrm>
          <a:prstGeom prst="line">
            <a:avLst/>
          </a:prstGeom>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3770932" y="5811463"/>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20" name="橢圓 19"/>
          <p:cNvSpPr/>
          <p:nvPr/>
        </p:nvSpPr>
        <p:spPr>
          <a:xfrm>
            <a:off x="5449218" y="5793391"/>
            <a:ext cx="1060763" cy="57359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dirty="0">
              <a:solidFill>
                <a:srgbClr val="00B0F0"/>
              </a:solidFill>
            </a:endParaRPr>
          </a:p>
        </p:txBody>
      </p:sp>
      <p:cxnSp>
        <p:nvCxnSpPr>
          <p:cNvPr id="21" name="直線接點 20"/>
          <p:cNvCxnSpPr>
            <a:stCxn id="11" idx="3"/>
            <a:endCxn id="19" idx="0"/>
          </p:cNvCxnSpPr>
          <p:nvPr/>
        </p:nvCxnSpPr>
        <p:spPr>
          <a:xfrm flipH="1">
            <a:off x="4155046" y="5250689"/>
            <a:ext cx="64703"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19" idx="6"/>
            <a:endCxn id="20" idx="1"/>
          </p:cNvCxnSpPr>
          <p:nvPr/>
        </p:nvCxnSpPr>
        <p:spPr>
          <a:xfrm flipV="1">
            <a:off x="4539160" y="5877391"/>
            <a:ext cx="1065403" cy="220867"/>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1977953" y="2289507"/>
            <a:ext cx="805218" cy="646331"/>
          </a:xfrm>
          <a:prstGeom prst="rect">
            <a:avLst/>
          </a:prstGeom>
          <a:noFill/>
        </p:spPr>
        <p:txBody>
          <a:bodyPr wrap="square" rtlCol="0">
            <a:spAutoFit/>
          </a:bodyPr>
          <a:lstStyle/>
          <a:p>
            <a:r>
              <a:rPr lang="en-US" altLang="zh-TW" b="1" dirty="0" err="1">
                <a:solidFill>
                  <a:srgbClr val="FF0000"/>
                </a:solidFill>
              </a:rPr>
              <a:t>a</a:t>
            </a:r>
            <a:r>
              <a:rPr lang="en-US" altLang="zh-TW" b="1" dirty="0" err="1">
                <a:solidFill>
                  <a:srgbClr val="00B050"/>
                </a:solidFill>
              </a:rPr>
              <a:t>b</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4" name="文字方塊 23"/>
          <p:cNvSpPr txBox="1"/>
          <p:nvPr/>
        </p:nvSpPr>
        <p:spPr>
          <a:xfrm>
            <a:off x="2380562" y="5047894"/>
            <a:ext cx="948870" cy="369332"/>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FF0000"/>
                </a:solidFill>
              </a:rPr>
              <a:t>a</a:t>
            </a:r>
            <a:r>
              <a:rPr lang="en-US" altLang="zh-TW" b="1" dirty="0" err="1" smtClean="0">
                <a:solidFill>
                  <a:srgbClr val="00B0F0"/>
                </a:solidFill>
              </a:rPr>
              <a:t>c</a:t>
            </a:r>
            <a:endParaRPr lang="zh-TW" altLang="en-US" b="1" dirty="0">
              <a:solidFill>
                <a:srgbClr val="00B0F0"/>
              </a:solidFill>
            </a:endParaRPr>
          </a:p>
        </p:txBody>
      </p:sp>
      <p:sp>
        <p:nvSpPr>
          <p:cNvPr id="25" name="文字方塊 24"/>
          <p:cNvSpPr txBox="1"/>
          <p:nvPr/>
        </p:nvSpPr>
        <p:spPr>
          <a:xfrm>
            <a:off x="5979599" y="958133"/>
            <a:ext cx="1419367" cy="646331"/>
          </a:xfrm>
          <a:prstGeom prst="rect">
            <a:avLst/>
          </a:prstGeom>
          <a:noFill/>
        </p:spPr>
        <p:txBody>
          <a:bodyPr wrap="square" rtlCol="0">
            <a:spAutoFit/>
          </a:bodyPr>
          <a:lstStyle/>
          <a:p>
            <a:r>
              <a:rPr lang="en-US" altLang="zh-TW" b="1" dirty="0" err="1">
                <a:solidFill>
                  <a:srgbClr val="7030A0"/>
                </a:solidFill>
              </a:rPr>
              <a:t>g</a:t>
            </a:r>
            <a:r>
              <a:rPr lang="en-US" altLang="zh-TW" b="1" dirty="0" err="1">
                <a:solidFill>
                  <a:srgbClr val="FFC000"/>
                </a:solidFill>
              </a:rPr>
              <a:t>d</a:t>
            </a:r>
            <a:r>
              <a:rPr lang="en-US" altLang="zh-TW" b="1" dirty="0" err="1">
                <a:solidFill>
                  <a:srgbClr val="00B0F0"/>
                </a:solidFill>
              </a:rPr>
              <a:t>c</a:t>
            </a:r>
            <a:endParaRPr lang="zh-TW" altLang="en-US" b="1" dirty="0">
              <a:solidFill>
                <a:srgbClr val="00B0F0"/>
              </a:solidFill>
            </a:endParaRPr>
          </a:p>
          <a:p>
            <a:endParaRPr lang="zh-TW" altLang="en-US" dirty="0"/>
          </a:p>
        </p:txBody>
      </p:sp>
      <p:sp>
        <p:nvSpPr>
          <p:cNvPr id="26" name="文字方塊 25"/>
          <p:cNvSpPr txBox="1"/>
          <p:nvPr/>
        </p:nvSpPr>
        <p:spPr>
          <a:xfrm>
            <a:off x="7417302" y="2538835"/>
            <a:ext cx="887104" cy="646331"/>
          </a:xfrm>
          <a:prstGeom prst="rect">
            <a:avLst/>
          </a:prstGeom>
          <a:noFill/>
        </p:spPr>
        <p:txBody>
          <a:bodyPr wrap="square" rtlCol="0">
            <a:spAutoFit/>
          </a:bodyPr>
          <a:lstStyle/>
          <a:p>
            <a:r>
              <a:rPr lang="en-US" altLang="zh-TW" b="1" dirty="0">
                <a:solidFill>
                  <a:srgbClr val="7030A0"/>
                </a:solidFill>
              </a:rPr>
              <a:t>g</a:t>
            </a:r>
            <a:r>
              <a:rPr lang="en-US" altLang="zh-TW" b="1" dirty="0">
                <a:solidFill>
                  <a:srgbClr val="FF0000"/>
                </a:solidFill>
              </a:rPr>
              <a:t>a</a:t>
            </a:r>
            <a:r>
              <a:rPr lang="en-US" altLang="zh-TW" b="1" dirty="0">
                <a:solidFill>
                  <a:srgbClr val="FFC000"/>
                </a:solidFill>
              </a:rPr>
              <a:t>d</a:t>
            </a:r>
            <a:endParaRPr lang="zh-TW" altLang="en-US" b="1" dirty="0">
              <a:solidFill>
                <a:srgbClr val="FFC000"/>
              </a:solidFill>
            </a:endParaRPr>
          </a:p>
          <a:p>
            <a:endParaRPr lang="zh-TW" altLang="en-US" dirty="0"/>
          </a:p>
        </p:txBody>
      </p:sp>
      <p:sp>
        <p:nvSpPr>
          <p:cNvPr id="27" name="文字方塊 26"/>
          <p:cNvSpPr txBox="1"/>
          <p:nvPr/>
        </p:nvSpPr>
        <p:spPr>
          <a:xfrm>
            <a:off x="6479190" y="6015119"/>
            <a:ext cx="887104" cy="646331"/>
          </a:xfrm>
          <a:prstGeom prst="rect">
            <a:avLst/>
          </a:prstGeom>
          <a:noFill/>
        </p:spPr>
        <p:txBody>
          <a:bodyPr wrap="square" rtlCol="0">
            <a:spAutoFit/>
          </a:bodyPr>
          <a:lstStyle/>
          <a:p>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FFC000"/>
                </a:solidFill>
              </a:rPr>
              <a:t>d</a:t>
            </a:r>
            <a:endParaRPr lang="zh-TW" altLang="en-US" b="1" dirty="0">
              <a:solidFill>
                <a:srgbClr val="FFC000"/>
              </a:solidFill>
            </a:endParaRPr>
          </a:p>
          <a:p>
            <a:endParaRPr lang="zh-TW" altLang="en-US" dirty="0"/>
          </a:p>
        </p:txBody>
      </p:sp>
      <p:sp>
        <p:nvSpPr>
          <p:cNvPr id="28" name="橢圓 27"/>
          <p:cNvSpPr/>
          <p:nvPr/>
        </p:nvSpPr>
        <p:spPr>
          <a:xfrm>
            <a:off x="3115282" y="3668033"/>
            <a:ext cx="1035670" cy="57359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TW" altLang="en-US" b="1" dirty="0">
              <a:solidFill>
                <a:srgbClr val="00B0F0"/>
              </a:solidFill>
            </a:endParaRPr>
          </a:p>
        </p:txBody>
      </p:sp>
      <p:sp>
        <p:nvSpPr>
          <p:cNvPr id="29" name="橢圓 28"/>
          <p:cNvSpPr/>
          <p:nvPr/>
        </p:nvSpPr>
        <p:spPr>
          <a:xfrm>
            <a:off x="4063309" y="4760828"/>
            <a:ext cx="1035670" cy="57359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dirty="0">
              <a:solidFill>
                <a:srgbClr val="00B0F0"/>
              </a:solidFill>
            </a:endParaRPr>
          </a:p>
        </p:txBody>
      </p:sp>
      <p:sp>
        <p:nvSpPr>
          <p:cNvPr id="30" name="橢圓 29"/>
          <p:cNvSpPr/>
          <p:nvPr/>
        </p:nvSpPr>
        <p:spPr>
          <a:xfrm>
            <a:off x="5270559" y="3429851"/>
            <a:ext cx="1035670" cy="57359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dirty="0">
              <a:solidFill>
                <a:srgbClr val="00B0F0"/>
              </a:solidFill>
            </a:endParaRPr>
          </a:p>
        </p:txBody>
      </p:sp>
      <p:sp>
        <p:nvSpPr>
          <p:cNvPr id="31" name="橢圓 30"/>
          <p:cNvSpPr/>
          <p:nvPr/>
        </p:nvSpPr>
        <p:spPr>
          <a:xfrm>
            <a:off x="3689367" y="5793213"/>
            <a:ext cx="1060763" cy="57359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dirty="0">
              <a:solidFill>
                <a:srgbClr val="00B0F0"/>
              </a:solidFill>
            </a:endParaRPr>
          </a:p>
        </p:txBody>
      </p:sp>
      <p:sp>
        <p:nvSpPr>
          <p:cNvPr id="32" name="橢圓 31"/>
          <p:cNvSpPr/>
          <p:nvPr/>
        </p:nvSpPr>
        <p:spPr>
          <a:xfrm>
            <a:off x="4055259" y="2730740"/>
            <a:ext cx="959652" cy="57359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b="1" dirty="0">
              <a:solidFill>
                <a:srgbClr val="FFC000"/>
              </a:solidFill>
            </a:endParaRPr>
          </a:p>
        </p:txBody>
      </p:sp>
    </p:spTree>
    <p:extLst>
      <p:ext uri="{BB962C8B-B14F-4D97-AF65-F5344CB8AC3E}">
        <p14:creationId xmlns:p14="http://schemas.microsoft.com/office/powerpoint/2010/main" val="28262718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2047847" y="2654632"/>
            <a:ext cx="103567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a:solidFill>
                  <a:srgbClr val="FF0000"/>
                </a:solidFill>
              </a:rPr>
              <a:t>a</a:t>
            </a:r>
            <a:r>
              <a:rPr lang="en-US" altLang="zh-TW" b="1" dirty="0" err="1"/>
              <a:t>b</a:t>
            </a:r>
            <a:r>
              <a:rPr lang="en-US" altLang="zh-TW" b="1" dirty="0" err="1">
                <a:solidFill>
                  <a:srgbClr val="00B0F0"/>
                </a:solidFill>
              </a:rPr>
              <a:t>c</a:t>
            </a:r>
            <a:endParaRPr lang="zh-TW" altLang="en-US" b="1" dirty="0">
              <a:solidFill>
                <a:srgbClr val="00B0F0"/>
              </a:solidFill>
            </a:endParaRPr>
          </a:p>
        </p:txBody>
      </p:sp>
      <p:sp>
        <p:nvSpPr>
          <p:cNvPr id="5" name="橢圓 4"/>
          <p:cNvSpPr/>
          <p:nvPr/>
        </p:nvSpPr>
        <p:spPr>
          <a:xfrm>
            <a:off x="3759579" y="3633497"/>
            <a:ext cx="769885"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6" name="橢圓 5"/>
          <p:cNvSpPr/>
          <p:nvPr/>
        </p:nvSpPr>
        <p:spPr>
          <a:xfrm>
            <a:off x="4572665" y="2696343"/>
            <a:ext cx="1133689"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7030A0"/>
              </a:solidFill>
            </a:endParaRPr>
          </a:p>
        </p:txBody>
      </p:sp>
      <p:sp>
        <p:nvSpPr>
          <p:cNvPr id="7" name="橢圓 6"/>
          <p:cNvSpPr/>
          <p:nvPr/>
        </p:nvSpPr>
        <p:spPr>
          <a:xfrm>
            <a:off x="2047847" y="4720155"/>
            <a:ext cx="91638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a:t>b</a:t>
            </a:r>
            <a:r>
              <a:rPr lang="en-US" altLang="zh-TW" b="1" dirty="0" err="1">
                <a:solidFill>
                  <a:srgbClr val="FF0000"/>
                </a:solidFill>
              </a:rPr>
              <a:t>a</a:t>
            </a:r>
            <a:r>
              <a:rPr lang="en-US" altLang="zh-TW" b="1" dirty="0" err="1">
                <a:solidFill>
                  <a:srgbClr val="00B0F0"/>
                </a:solidFill>
              </a:rPr>
              <a:t>c</a:t>
            </a:r>
            <a:endParaRPr lang="zh-TW" altLang="en-US" b="1" dirty="0">
              <a:solidFill>
                <a:srgbClr val="00B0F0"/>
              </a:solidFill>
            </a:endParaRPr>
          </a:p>
        </p:txBody>
      </p:sp>
      <p:sp>
        <p:nvSpPr>
          <p:cNvPr id="8" name="橢圓 7"/>
          <p:cNvSpPr/>
          <p:nvPr/>
        </p:nvSpPr>
        <p:spPr>
          <a:xfrm>
            <a:off x="6002200" y="3398100"/>
            <a:ext cx="879701"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FFC000"/>
              </a:solidFill>
            </a:endParaRPr>
          </a:p>
        </p:txBody>
      </p:sp>
      <p:sp>
        <p:nvSpPr>
          <p:cNvPr id="9" name="橢圓 8"/>
          <p:cNvSpPr/>
          <p:nvPr/>
        </p:nvSpPr>
        <p:spPr>
          <a:xfrm>
            <a:off x="5912003" y="1372205"/>
            <a:ext cx="921203" cy="57083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7030A0"/>
                </a:solidFill>
              </a:rPr>
              <a:t>g</a:t>
            </a:r>
            <a:r>
              <a:rPr lang="en-US" altLang="zh-TW" b="1" dirty="0" err="1" smtClean="0">
                <a:solidFill>
                  <a:srgbClr val="FFC000"/>
                </a:solidFill>
              </a:rPr>
              <a:t>d</a:t>
            </a:r>
            <a:r>
              <a:rPr lang="en-US" altLang="zh-TW" b="1" dirty="0" err="1" smtClean="0">
                <a:solidFill>
                  <a:srgbClr val="00B0F0"/>
                </a:solidFill>
              </a:rPr>
              <a:t>c</a:t>
            </a:r>
            <a:endParaRPr lang="zh-TW" altLang="en-US" b="1" dirty="0">
              <a:solidFill>
                <a:srgbClr val="00B0F0"/>
              </a:solidFill>
            </a:endParaRPr>
          </a:p>
        </p:txBody>
      </p:sp>
      <p:sp>
        <p:nvSpPr>
          <p:cNvPr id="10" name="橢圓 9"/>
          <p:cNvSpPr/>
          <p:nvPr/>
        </p:nvSpPr>
        <p:spPr>
          <a:xfrm>
            <a:off x="7016554" y="2685381"/>
            <a:ext cx="959652"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smtClean="0">
                <a:solidFill>
                  <a:srgbClr val="7030A0"/>
                </a:solidFill>
              </a:rPr>
              <a:t>g</a:t>
            </a:r>
            <a:r>
              <a:rPr lang="en-US" altLang="zh-TW" b="1" dirty="0" smtClean="0">
                <a:solidFill>
                  <a:srgbClr val="FF0000"/>
                </a:solidFill>
              </a:rPr>
              <a:t>a</a:t>
            </a:r>
            <a:r>
              <a:rPr lang="en-US" altLang="zh-TW" b="1" dirty="0" smtClean="0">
                <a:solidFill>
                  <a:srgbClr val="FFC000"/>
                </a:solidFill>
              </a:rPr>
              <a:t>d</a:t>
            </a:r>
            <a:endParaRPr lang="zh-TW" altLang="en-US" b="1" dirty="0">
              <a:solidFill>
                <a:srgbClr val="FFC000"/>
              </a:solidFill>
            </a:endParaRPr>
          </a:p>
        </p:txBody>
      </p:sp>
      <p:sp>
        <p:nvSpPr>
          <p:cNvPr id="11" name="橢圓 10"/>
          <p:cNvSpPr/>
          <p:nvPr/>
        </p:nvSpPr>
        <p:spPr>
          <a:xfrm>
            <a:off x="4958779" y="4720155"/>
            <a:ext cx="704374"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cxnSp>
        <p:nvCxnSpPr>
          <p:cNvPr id="12" name="直線接點 11"/>
          <p:cNvCxnSpPr>
            <a:stCxn id="4" idx="5"/>
            <a:endCxn id="5" idx="1"/>
          </p:cNvCxnSpPr>
          <p:nvPr/>
        </p:nvCxnSpPr>
        <p:spPr>
          <a:xfrm>
            <a:off x="2931847" y="3144222"/>
            <a:ext cx="940479" cy="573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stCxn id="7" idx="7"/>
            <a:endCxn id="5" idx="3"/>
          </p:cNvCxnSpPr>
          <p:nvPr/>
        </p:nvCxnSpPr>
        <p:spPr>
          <a:xfrm flipV="1">
            <a:off x="2830027" y="4123087"/>
            <a:ext cx="1042299"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stCxn id="5" idx="5"/>
            <a:endCxn id="11" idx="1"/>
          </p:cNvCxnSpPr>
          <p:nvPr/>
        </p:nvCxnSpPr>
        <p:spPr>
          <a:xfrm>
            <a:off x="4416717" y="4123087"/>
            <a:ext cx="645215" cy="681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stCxn id="11" idx="7"/>
          </p:cNvCxnSpPr>
          <p:nvPr/>
        </p:nvCxnSpPr>
        <p:spPr>
          <a:xfrm flipV="1">
            <a:off x="5560000" y="3953302"/>
            <a:ext cx="640567" cy="8508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6" idx="5"/>
            <a:endCxn id="8" idx="1"/>
          </p:cNvCxnSpPr>
          <p:nvPr/>
        </p:nvCxnSpPr>
        <p:spPr>
          <a:xfrm>
            <a:off x="5540329" y="3185933"/>
            <a:ext cx="590700" cy="2961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stCxn id="6" idx="6"/>
            <a:endCxn id="10" idx="2"/>
          </p:cNvCxnSpPr>
          <p:nvPr/>
        </p:nvCxnSpPr>
        <p:spPr>
          <a:xfrm flipV="1">
            <a:off x="5706354" y="2972176"/>
            <a:ext cx="1310200" cy="10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stCxn id="6" idx="0"/>
            <a:endCxn id="9" idx="3"/>
          </p:cNvCxnSpPr>
          <p:nvPr/>
        </p:nvCxnSpPr>
        <p:spPr>
          <a:xfrm flipV="1">
            <a:off x="5139510" y="1859439"/>
            <a:ext cx="907400" cy="836904"/>
          </a:xfrm>
          <a:prstGeom prst="line">
            <a:avLst/>
          </a:prstGeom>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4412376" y="5770519"/>
            <a:ext cx="768228"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dirty="0">
              <a:solidFill>
                <a:srgbClr val="00B0F0"/>
              </a:solidFill>
            </a:endParaRPr>
          </a:p>
        </p:txBody>
      </p:sp>
      <p:sp>
        <p:nvSpPr>
          <p:cNvPr id="20" name="橢圓 19"/>
          <p:cNvSpPr/>
          <p:nvPr/>
        </p:nvSpPr>
        <p:spPr>
          <a:xfrm>
            <a:off x="6090663" y="5752447"/>
            <a:ext cx="965820"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r>
              <a:rPr lang="en-US" altLang="zh-TW" b="1">
                <a:solidFill>
                  <a:srgbClr val="00B050"/>
                </a:solidFill>
              </a:rPr>
              <a:t>b</a:t>
            </a:r>
            <a:r>
              <a:rPr lang="en-US" altLang="zh-TW" b="1">
                <a:solidFill>
                  <a:srgbClr val="00B0F0"/>
                </a:solidFill>
              </a:rPr>
              <a:t>c</a:t>
            </a:r>
            <a:r>
              <a:rPr lang="en-US" altLang="zh-TW" b="1">
                <a:solidFill>
                  <a:srgbClr val="FFC000"/>
                </a:solidFill>
              </a:rPr>
              <a:t>d</a:t>
            </a:r>
            <a:endParaRPr lang="zh-TW" altLang="en-US" b="1" dirty="0">
              <a:solidFill>
                <a:srgbClr val="FFC000"/>
              </a:solidFill>
            </a:endParaRPr>
          </a:p>
        </p:txBody>
      </p:sp>
      <p:cxnSp>
        <p:nvCxnSpPr>
          <p:cNvPr id="21" name="直線接點 20"/>
          <p:cNvCxnSpPr>
            <a:stCxn id="11" idx="3"/>
            <a:endCxn id="19" idx="0"/>
          </p:cNvCxnSpPr>
          <p:nvPr/>
        </p:nvCxnSpPr>
        <p:spPr>
          <a:xfrm flipH="1">
            <a:off x="4796490" y="5209745"/>
            <a:ext cx="265442" cy="5607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19" idx="6"/>
            <a:endCxn id="20" idx="1"/>
          </p:cNvCxnSpPr>
          <p:nvPr/>
        </p:nvCxnSpPr>
        <p:spPr>
          <a:xfrm flipV="1">
            <a:off x="5180604" y="5836447"/>
            <a:ext cx="1051500" cy="220867"/>
          </a:xfrm>
          <a:prstGeom prst="line">
            <a:avLst/>
          </a:prstGeom>
        </p:spPr>
        <p:style>
          <a:lnRef idx="1">
            <a:schemeClr val="accent1"/>
          </a:lnRef>
          <a:fillRef idx="0">
            <a:schemeClr val="accent1"/>
          </a:fillRef>
          <a:effectRef idx="0">
            <a:schemeClr val="accent1"/>
          </a:effectRef>
          <a:fontRef idx="minor">
            <a:schemeClr val="tx1"/>
          </a:fontRef>
        </p:style>
      </p:cxnSp>
      <p:sp>
        <p:nvSpPr>
          <p:cNvPr id="26" name="橢圓 25"/>
          <p:cNvSpPr/>
          <p:nvPr/>
        </p:nvSpPr>
        <p:spPr>
          <a:xfrm>
            <a:off x="4572664" y="2696343"/>
            <a:ext cx="1133689"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FF0000"/>
                </a:solidFill>
              </a:rPr>
              <a:t>a</a:t>
            </a:r>
            <a:r>
              <a:rPr lang="en-US" altLang="zh-TW" b="1" dirty="0" err="1" smtClean="0">
                <a:solidFill>
                  <a:srgbClr val="00B0F0"/>
                </a:solidFill>
              </a:rPr>
              <a:t>c</a:t>
            </a:r>
            <a:r>
              <a:rPr lang="en-US" altLang="zh-TW" b="1" dirty="0" err="1" smtClean="0">
                <a:solidFill>
                  <a:srgbClr val="7030A0"/>
                </a:solidFill>
              </a:rPr>
              <a:t>g</a:t>
            </a:r>
            <a:r>
              <a:rPr lang="en-US" altLang="zh-TW" b="1" dirty="0" err="1" smtClean="0">
                <a:solidFill>
                  <a:srgbClr val="FFC000"/>
                </a:solidFill>
              </a:rPr>
              <a:t>d</a:t>
            </a:r>
            <a:endParaRPr lang="zh-TW" altLang="en-US" b="1" dirty="0">
              <a:solidFill>
                <a:srgbClr val="7030A0"/>
              </a:solidFill>
            </a:endParaRPr>
          </a:p>
        </p:txBody>
      </p:sp>
      <p:sp>
        <p:nvSpPr>
          <p:cNvPr id="33" name="橢圓 32"/>
          <p:cNvSpPr/>
          <p:nvPr/>
        </p:nvSpPr>
        <p:spPr>
          <a:xfrm>
            <a:off x="3605635" y="3637401"/>
            <a:ext cx="1133689"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FF0000"/>
                </a:solidFill>
              </a:rPr>
              <a:t>a</a:t>
            </a:r>
            <a:r>
              <a:rPr lang="en-US" altLang="zh-TW" b="1" dirty="0" err="1" smtClean="0">
                <a:solidFill>
                  <a:srgbClr val="00B050"/>
                </a:solidFill>
              </a:rPr>
              <a:t>b</a:t>
            </a:r>
            <a:r>
              <a:rPr lang="en-US" altLang="zh-TW" b="1" dirty="0" err="1" smtClean="0">
                <a:solidFill>
                  <a:srgbClr val="00B0F0"/>
                </a:solidFill>
              </a:rPr>
              <a:t>c</a:t>
            </a:r>
            <a:endParaRPr lang="zh-TW" altLang="en-US" b="1" dirty="0">
              <a:solidFill>
                <a:srgbClr val="00B0F0"/>
              </a:solidFill>
            </a:endParaRPr>
          </a:p>
        </p:txBody>
      </p:sp>
      <p:sp>
        <p:nvSpPr>
          <p:cNvPr id="34" name="橢圓 33"/>
          <p:cNvSpPr/>
          <p:nvPr/>
        </p:nvSpPr>
        <p:spPr>
          <a:xfrm>
            <a:off x="4191649" y="5779372"/>
            <a:ext cx="1133689"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FFC000"/>
                </a:solidFill>
              </a:rPr>
              <a:t>d</a:t>
            </a:r>
            <a:endParaRPr lang="zh-TW" altLang="en-US" b="1" dirty="0">
              <a:solidFill>
                <a:srgbClr val="FFC000"/>
              </a:solidFill>
            </a:endParaRPr>
          </a:p>
        </p:txBody>
      </p:sp>
      <p:sp>
        <p:nvSpPr>
          <p:cNvPr id="35" name="橢圓 34"/>
          <p:cNvSpPr/>
          <p:nvPr/>
        </p:nvSpPr>
        <p:spPr>
          <a:xfrm>
            <a:off x="5754809" y="3395156"/>
            <a:ext cx="1433775"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FF0000"/>
                </a:solidFill>
              </a:rPr>
              <a:t>a</a:t>
            </a:r>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7030A0"/>
                </a:solidFill>
              </a:rPr>
              <a:t>g</a:t>
            </a:r>
            <a:r>
              <a:rPr lang="en-US" altLang="zh-TW" b="1" dirty="0" err="1" smtClean="0">
                <a:solidFill>
                  <a:srgbClr val="FFC000"/>
                </a:solidFill>
              </a:rPr>
              <a:t>d</a:t>
            </a:r>
            <a:endParaRPr lang="zh-TW" altLang="en-US" b="1" dirty="0">
              <a:solidFill>
                <a:srgbClr val="FFC000"/>
              </a:solidFill>
            </a:endParaRPr>
          </a:p>
        </p:txBody>
      </p:sp>
      <p:sp>
        <p:nvSpPr>
          <p:cNvPr id="36" name="橢圓 35"/>
          <p:cNvSpPr/>
          <p:nvPr/>
        </p:nvSpPr>
        <p:spPr>
          <a:xfrm>
            <a:off x="4747843" y="4720155"/>
            <a:ext cx="1133689" cy="5735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b="1" dirty="0" err="1" smtClean="0">
                <a:solidFill>
                  <a:srgbClr val="FF0000"/>
                </a:solidFill>
              </a:rPr>
              <a:t>a</a:t>
            </a:r>
            <a:r>
              <a:rPr lang="en-US" altLang="zh-TW" b="1" dirty="0" err="1" smtClean="0">
                <a:solidFill>
                  <a:srgbClr val="00B050"/>
                </a:solidFill>
              </a:rPr>
              <a:t>b</a:t>
            </a:r>
            <a:r>
              <a:rPr lang="en-US" altLang="zh-TW" b="1" dirty="0" err="1" smtClean="0">
                <a:solidFill>
                  <a:srgbClr val="00B0F0"/>
                </a:solidFill>
              </a:rPr>
              <a:t>c</a:t>
            </a:r>
            <a:r>
              <a:rPr lang="en-US" altLang="zh-TW" b="1" dirty="0" err="1" smtClean="0">
                <a:solidFill>
                  <a:srgbClr val="FFC000"/>
                </a:solidFill>
              </a:rPr>
              <a:t>d</a:t>
            </a:r>
            <a:endParaRPr lang="zh-TW" altLang="en-US" b="1" dirty="0">
              <a:solidFill>
                <a:srgbClr val="FFC000"/>
              </a:solidFill>
            </a:endParaRPr>
          </a:p>
        </p:txBody>
      </p:sp>
    </p:spTree>
    <p:extLst>
      <p:ext uri="{BB962C8B-B14F-4D97-AF65-F5344CB8AC3E}">
        <p14:creationId xmlns:p14="http://schemas.microsoft.com/office/powerpoint/2010/main" val="19043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3" grpId="0" animBg="1"/>
      <p:bldP spid="34" grpId="0" animBg="1"/>
      <p:bldP spid="35" grpId="0" animBg="1"/>
      <p:bldP spid="3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solidFill>
                  <a:schemeClr val="accent2"/>
                </a:solidFill>
                <a:latin typeface="微軟正黑體" panose="020B0604030504040204" pitchFamily="34" charset="-120"/>
                <a:ea typeface="微軟正黑體" panose="020B0604030504040204" pitchFamily="34" charset="-120"/>
              </a:rPr>
              <a:t>Application </a:t>
            </a:r>
            <a:endParaRPr lang="zh-TW" altLang="en-US" b="1" dirty="0">
              <a:solidFill>
                <a:schemeClr val="accent2"/>
              </a:solidFill>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a:xfrm>
            <a:off x="152401" y="1845734"/>
            <a:ext cx="8214360" cy="4023360"/>
          </a:xfrm>
        </p:spPr>
        <p:txBody>
          <a:bodyPr>
            <a:noAutofit/>
          </a:bodyPr>
          <a:lstStyle/>
          <a:p>
            <a:r>
              <a:rPr lang="en-US" altLang="zh-TW" sz="2800" dirty="0">
                <a:latin typeface="+mj-ea"/>
                <a:ea typeface="+mj-ea"/>
              </a:rPr>
              <a:t>The construction we have developed has immediate </a:t>
            </a:r>
            <a:r>
              <a:rPr lang="en-US" altLang="zh-TW" sz="2800" dirty="0" smtClean="0">
                <a:latin typeface="+mj-ea"/>
                <a:ea typeface="+mj-ea"/>
              </a:rPr>
              <a:t>application </a:t>
            </a:r>
            <a:r>
              <a:rPr lang="en-US" altLang="zh-TW" sz="2800" dirty="0">
                <a:latin typeface="+mj-ea"/>
                <a:ea typeface="+mj-ea"/>
              </a:rPr>
              <a:t>to problems of macromolecular evolution. </a:t>
            </a:r>
            <a:endParaRPr lang="en-US" altLang="zh-TW" sz="2800" dirty="0" smtClean="0">
              <a:latin typeface="+mj-ea"/>
              <a:ea typeface="+mj-ea"/>
            </a:endParaRPr>
          </a:p>
          <a:p>
            <a:r>
              <a:rPr lang="en-US" altLang="zh-TW" sz="2800" dirty="0" smtClean="0">
                <a:latin typeface="+mj-ea"/>
                <a:ea typeface="+mj-ea"/>
              </a:rPr>
              <a:t>The </a:t>
            </a:r>
            <a:r>
              <a:rPr lang="en-US" altLang="zh-TW" sz="2800" dirty="0">
                <a:latin typeface="+mj-ea"/>
                <a:ea typeface="+mj-ea"/>
              </a:rPr>
              <a:t>given sequences are the nucleotide base sequences of homologous RNA or DNA molecules from different species, and T represents the phylogenetic (family tree) relationships of these species. </a:t>
            </a:r>
            <a:endParaRPr lang="en-US" altLang="zh-TW" sz="2800" dirty="0" smtClean="0">
              <a:latin typeface="+mj-ea"/>
              <a:ea typeface="+mj-ea"/>
            </a:endParaRPr>
          </a:p>
        </p:txBody>
      </p:sp>
    </p:spTree>
    <p:extLst>
      <p:ext uri="{BB962C8B-B14F-4D97-AF65-F5344CB8AC3E}">
        <p14:creationId xmlns:p14="http://schemas.microsoft.com/office/powerpoint/2010/main" val="34513410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54047" y="624110"/>
            <a:ext cx="7080354" cy="1280890"/>
          </a:xfrm>
        </p:spPr>
        <p:txBody>
          <a:bodyPr/>
          <a:lstStyle/>
          <a:p>
            <a:r>
              <a:rPr lang="en-US" altLang="zh-TW" b="1" dirty="0">
                <a:solidFill>
                  <a:schemeClr val="accent2"/>
                </a:solidFill>
                <a:latin typeface="微軟正黑體" panose="020B0604030504040204" pitchFamily="34" charset="-120"/>
              </a:rPr>
              <a:t>Application </a:t>
            </a:r>
            <a:endParaRPr lang="zh-TW" altLang="en-US" dirty="0"/>
          </a:p>
        </p:txBody>
      </p:sp>
      <p:sp>
        <p:nvSpPr>
          <p:cNvPr id="3" name="內容版面配置區 2"/>
          <p:cNvSpPr>
            <a:spLocks noGrp="1"/>
          </p:cNvSpPr>
          <p:nvPr>
            <p:ph idx="1"/>
          </p:nvPr>
        </p:nvSpPr>
        <p:spPr>
          <a:xfrm>
            <a:off x="479685" y="2133600"/>
            <a:ext cx="8054715" cy="3777622"/>
          </a:xfrm>
        </p:spPr>
        <p:txBody>
          <a:bodyPr/>
          <a:lstStyle/>
          <a:p>
            <a:r>
              <a:rPr lang="en-US" altLang="zh-TW" sz="2800" dirty="0">
                <a:latin typeface="+mj-ea"/>
                <a:ea typeface="+mj-ea"/>
              </a:rPr>
              <a:t>The variable vertices of T represent hypothetical ancestral species, so that the solution of the minimal mutation tree constitutes a probable </a:t>
            </a:r>
            <a:r>
              <a:rPr lang="en-US" altLang="zh-TW" sz="2800" dirty="0" smtClean="0">
                <a:latin typeface="+mj-ea"/>
                <a:ea typeface="+mj-ea"/>
              </a:rPr>
              <a:t>reconstruction </a:t>
            </a:r>
            <a:r>
              <a:rPr lang="en-US" altLang="zh-TW" sz="2800" dirty="0">
                <a:latin typeface="+mj-ea"/>
                <a:ea typeface="+mj-ea"/>
              </a:rPr>
              <a:t>of the RNA or DNA molecules of these ancestors </a:t>
            </a:r>
            <a:endParaRPr lang="zh-TW" altLang="en-US" sz="2800" dirty="0">
              <a:latin typeface="+mj-ea"/>
              <a:ea typeface="+mj-ea"/>
            </a:endParaRPr>
          </a:p>
          <a:p>
            <a:endParaRPr lang="zh-TW" altLang="en-US" dirty="0"/>
          </a:p>
        </p:txBody>
      </p:sp>
    </p:spTree>
    <p:extLst>
      <p:ext uri="{BB962C8B-B14F-4D97-AF65-F5344CB8AC3E}">
        <p14:creationId xmlns:p14="http://schemas.microsoft.com/office/powerpoint/2010/main" val="4007564174"/>
      </p:ext>
    </p:extLst>
  </p:cSld>
  <p:clrMapOvr>
    <a:masterClrMapping/>
  </p:clrMapOvr>
  <p:timing>
    <p:tnLst>
      <p:par>
        <p:cTn id="1" dur="indefinite" restart="never" nodeType="tmRoot"/>
      </p:par>
    </p:tnLst>
  </p:timing>
</p:sld>
</file>

<file path=ppt/theme/theme1.xml><?xml version="1.0" encoding="utf-8"?>
<a:theme xmlns:a="http://schemas.openxmlformats.org/drawingml/2006/main" name="絲縷">
  <a:themeElements>
    <a:clrScheme name="絲縷">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絲縷">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絲縷">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4302</TotalTime>
  <Words>843</Words>
  <Application>Microsoft Office PowerPoint</Application>
  <PresentationFormat>如螢幕大小 (4:3)</PresentationFormat>
  <Paragraphs>392</Paragraphs>
  <Slides>28</Slides>
  <Notes>3</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28</vt:i4>
      </vt:variant>
    </vt:vector>
  </HeadingPairs>
  <TitlesOfParts>
    <vt:vector size="37" baseType="lpstr">
      <vt:lpstr>微軟正黑體</vt:lpstr>
      <vt:lpstr>新細明體</vt:lpstr>
      <vt:lpstr>Arial</vt:lpstr>
      <vt:lpstr>Calibri</vt:lpstr>
      <vt:lpstr>Century Gothic</vt:lpstr>
      <vt:lpstr>Times New Roman</vt:lpstr>
      <vt:lpstr>Wingdings</vt:lpstr>
      <vt:lpstr>Wingdings 3</vt:lpstr>
      <vt:lpstr>絲縷</vt:lpstr>
      <vt:lpstr>Minimal Mutation Trees of Sequences</vt:lpstr>
      <vt:lpstr>Abstract</vt:lpstr>
      <vt:lpstr>Abstract</vt:lpstr>
      <vt:lpstr>Introduction-mutation distance</vt:lpstr>
      <vt:lpstr>Introduction-mutation distance</vt:lpstr>
      <vt:lpstr>The frame sequence of a tree of sequences </vt:lpstr>
      <vt:lpstr>The frame sequence of a tree of sequences </vt:lpstr>
      <vt:lpstr>The frame sequence of a tree of sequences </vt:lpstr>
      <vt:lpstr>The frame sequence of a tree of sequences </vt:lpstr>
      <vt:lpstr>The incremental function</vt:lpstr>
      <vt:lpstr>The incremental function</vt:lpstr>
      <vt:lpstr>The incremental function</vt:lpstr>
      <vt:lpstr>The incremental function</vt:lpstr>
      <vt:lpstr>The incremental function</vt:lpstr>
      <vt:lpstr>The incremental function</vt:lpstr>
      <vt:lpstr>The incremental function</vt:lpstr>
      <vt:lpstr>PowerPoint 簡報</vt:lpstr>
      <vt:lpstr>The incremental function</vt:lpstr>
      <vt:lpstr>Minimizing f</vt:lpstr>
      <vt:lpstr>The main algorithm</vt:lpstr>
      <vt:lpstr>PowerPoint 簡報</vt:lpstr>
      <vt:lpstr>PowerPoint 簡報</vt:lpstr>
      <vt:lpstr>PowerPoint 簡報</vt:lpstr>
      <vt:lpstr>PowerPoint 簡報</vt:lpstr>
      <vt:lpstr>PowerPoint 簡報</vt:lpstr>
      <vt:lpstr>PowerPoint 簡報</vt:lpstr>
      <vt:lpstr>Application </vt:lpstr>
      <vt:lpstr>Application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黃鼎耀</dc:creator>
  <cp:lastModifiedBy>黃鼎耀</cp:lastModifiedBy>
  <cp:revision>320</cp:revision>
  <dcterms:created xsi:type="dcterms:W3CDTF">2013-12-01T04:05:49Z</dcterms:created>
  <dcterms:modified xsi:type="dcterms:W3CDTF">2013-12-18T10:14:08Z</dcterms:modified>
</cp:coreProperties>
</file>