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3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>
        <p:scale>
          <a:sx n="125" d="100"/>
          <a:sy n="125" d="100"/>
        </p:scale>
        <p:origin x="1056" y="-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0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25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16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07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106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18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50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61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0347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69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76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431A0E-EA28-493E-8292-0216ADD02848}" type="datetimeFigureOut">
              <a:rPr lang="zh-TW" altLang="en-US" smtClean="0"/>
              <a:t>2013/12/4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889EB93-E7C6-4DFA-AED5-D53BEB3F01F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54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/>
              <a:t>A BIT-STRING LONGEST-COMMON-SUBSEQUENCE ALGORITHM</a:t>
            </a:r>
            <a:endParaRPr lang="zh-TW" altLang="en-US" sz="6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Lloyd ALLISON and Trevor I. DIX </a:t>
            </a:r>
          </a:p>
          <a:p>
            <a:r>
              <a:rPr lang="en-US" altLang="zh-TW" dirty="0"/>
              <a:t>Department of Computer Science, University of Western Australia. </a:t>
            </a:r>
            <a:r>
              <a:rPr lang="en-US" altLang="zh-TW" dirty="0" err="1"/>
              <a:t>Nedlands</a:t>
            </a:r>
            <a:r>
              <a:rPr lang="en-US" altLang="zh-TW" dirty="0"/>
              <a:t>, Western Australia </a:t>
            </a:r>
            <a:r>
              <a:rPr lang="en-US" altLang="zh-TW" dirty="0" smtClean="0"/>
              <a:t>600</a:t>
            </a:r>
          </a:p>
          <a:p>
            <a:r>
              <a:rPr lang="en-US" altLang="zh-TW" dirty="0" smtClean="0"/>
              <a:t>Reporter 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 Date:2013/12/4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456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A longest-common-subsequence algorithm is described which operates in terms of bit or bit-string operations. It offers a </a:t>
            </a:r>
            <a:r>
              <a:rPr lang="en-US" altLang="zh-TW" sz="4000" dirty="0" smtClean="0"/>
              <a:t>speedup </a:t>
            </a:r>
            <a:r>
              <a:rPr lang="en-US" altLang="zh-TW" sz="4000" dirty="0"/>
              <a:t>of the order of the word-length on a conventional computer. </a:t>
            </a:r>
          </a:p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021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49680" y="2103120"/>
            <a:ext cx="868680" cy="364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49680" y="2876126"/>
            <a:ext cx="2202180" cy="385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 Hunt and Szymanski</a:t>
            </a:r>
            <a:endParaRPr lang="zh-TW" altLang="en-US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1684020" y="2467188"/>
            <a:ext cx="0" cy="390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249680" y="3667123"/>
            <a:ext cx="2202180" cy="3852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Allison and Dix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249680" y="4458120"/>
            <a:ext cx="2202180" cy="385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CIPR</a:t>
            </a:r>
            <a:endParaRPr lang="zh-TW" altLang="en-US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684020" y="3261360"/>
            <a:ext cx="0" cy="390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1684020" y="4052357"/>
            <a:ext cx="0" cy="390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623310" y="260707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623310" y="3456516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1600" dirty="0" smtClean="0"/>
              <a:t>Lloyd Allison, Trevor I. Dix</a:t>
            </a:r>
          </a:p>
          <a:p>
            <a:r>
              <a:rPr lang="zh-TW" altLang="en-US" sz="1600" dirty="0" smtClean="0"/>
              <a:t>A bit-string longest-common-subsequence algorithm</a:t>
            </a:r>
          </a:p>
          <a:p>
            <a:r>
              <a:rPr lang="zh-TW" altLang="en-US" sz="1600" dirty="0" smtClean="0"/>
              <a:t>Information Processing Letters, Volume 23, Issue 5, 24 November 1986, Pages 305–310</a:t>
            </a:r>
            <a:endParaRPr lang="zh-TW" altLang="en-US" sz="1600" dirty="0"/>
          </a:p>
        </p:txBody>
      </p:sp>
      <p:sp>
        <p:nvSpPr>
          <p:cNvPr id="18" name="矩形 17"/>
          <p:cNvSpPr/>
          <p:nvPr/>
        </p:nvSpPr>
        <p:spPr>
          <a:xfrm>
            <a:off x="3623310" y="4533734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1600" dirty="0" smtClean="0"/>
              <a:t>Maxime Crochemore, Costas S. Iliopoulos, Yoan J. Pinzon, James F. Reid</a:t>
            </a:r>
          </a:p>
          <a:p>
            <a:r>
              <a:rPr lang="zh-TW" altLang="en-US" sz="1600" dirty="0" smtClean="0"/>
              <a:t>A fast and practical bit-vector algorithm for the Longest Common Subsequence problem</a:t>
            </a:r>
          </a:p>
          <a:p>
            <a:r>
              <a:rPr lang="zh-TW" altLang="en-US" sz="1600" dirty="0" smtClean="0"/>
              <a:t>Information Processing Letters, Volume 80, Issue 6, 31 December 2001, Pages 279–285</a:t>
            </a:r>
            <a:endParaRPr lang="zh-TW" altLang="en-US" sz="1600" dirty="0"/>
          </a:p>
        </p:txBody>
      </p:sp>
      <p:sp>
        <p:nvSpPr>
          <p:cNvPr id="19" name="矩形 18"/>
          <p:cNvSpPr/>
          <p:nvPr/>
        </p:nvSpPr>
        <p:spPr>
          <a:xfrm>
            <a:off x="3623310" y="2606423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1600" dirty="0" smtClean="0"/>
              <a:t>J.W.Hunt, T.G.Szymanski. A fast algorithm for computing longest common subsequences. CACM Vol.20 No.5 pp.350-353 1977.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9218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2959" y="3823336"/>
            <a:ext cx="7543801" cy="2045758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The rows and columns of </a:t>
            </a:r>
            <a:r>
              <a:rPr lang="en-US" altLang="zh-TW" sz="2800" dirty="0" err="1"/>
              <a:t>L</a:t>
            </a:r>
            <a:r>
              <a:rPr lang="en-US" altLang="zh-TW" sz="2800" baseline="-25000" dirty="0" err="1"/>
              <a:t>ij</a:t>
            </a:r>
            <a:r>
              <a:rPr lang="en-US" altLang="zh-TW" sz="2800" dirty="0"/>
              <a:t> contain ascending values for increasing </a:t>
            </a:r>
            <a:r>
              <a:rPr lang="en-US" altLang="zh-TW" sz="2800" dirty="0" err="1"/>
              <a:t>i</a:t>
            </a:r>
            <a:r>
              <a:rPr lang="en-US" altLang="zh-TW" sz="2800" dirty="0"/>
              <a:t> and j. This prompted </a:t>
            </a:r>
            <a:r>
              <a:rPr lang="en-US" altLang="zh-TW" sz="2800" dirty="0">
                <a:solidFill>
                  <a:srgbClr val="FF0000"/>
                </a:solidFill>
              </a:rPr>
              <a:t>Hunt and </a:t>
            </a:r>
            <a:r>
              <a:rPr lang="en-US" altLang="zh-TW" sz="2800" dirty="0" smtClean="0">
                <a:solidFill>
                  <a:srgbClr val="FF0000"/>
                </a:solidFill>
              </a:rPr>
              <a:t>Szymanski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and Hirschberg </a:t>
            </a:r>
            <a:r>
              <a:rPr lang="en-US" altLang="zh-TW" sz="2800" dirty="0" smtClean="0"/>
              <a:t>to </a:t>
            </a:r>
            <a:r>
              <a:rPr lang="en-US" altLang="zh-TW" sz="2800" dirty="0"/>
              <a:t>'contour' L and develop fast algorithms for special cases.</a:t>
            </a:r>
            <a:endParaRPr lang="zh-TW" altLang="en-US" sz="2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1737361"/>
            <a:ext cx="8763000" cy="18002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251836"/>
            <a:ext cx="62769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47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BIT-STRING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45734"/>
            <a:ext cx="3683138" cy="3262356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232358" y="5226982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Fig 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7481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BIT-STRING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45734"/>
            <a:ext cx="3683138" cy="326235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65" y="1854472"/>
            <a:ext cx="4167185" cy="253290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232358" y="5226982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Fig 1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976287" y="5108090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Fig 2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0725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BIT-STRING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1" y="1676400"/>
            <a:ext cx="85248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0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ALPHBET-STRINGS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2959" y="4369086"/>
            <a:ext cx="7543801" cy="1500007"/>
          </a:xfrm>
        </p:spPr>
        <p:txBody>
          <a:bodyPr>
            <a:noAutofit/>
          </a:bodyPr>
          <a:lstStyle/>
          <a:p>
            <a:r>
              <a:rPr lang="en-US" altLang="zh-TW" sz="2800" dirty="0" smtClean="0"/>
              <a:t>O(|alphabet| x ceil(|a|/w) + |a|)</a:t>
            </a:r>
          </a:p>
          <a:p>
            <a:r>
              <a:rPr lang="en-US" altLang="zh-TW" sz="2800" dirty="0" smtClean="0"/>
              <a:t>Fixed : O(|a|)</a:t>
            </a:r>
          </a:p>
          <a:p>
            <a:r>
              <a:rPr lang="en-US" altLang="zh-TW" sz="2800" dirty="0" err="1" smtClean="0"/>
              <a:t>Nonfixed</a:t>
            </a:r>
            <a:r>
              <a:rPr lang="en-US" altLang="zh-TW" sz="2800" dirty="0" smtClean="0"/>
              <a:t>: O(|a| X |b|)</a:t>
            </a:r>
            <a:endParaRPr lang="zh-TW" altLang="en-US" sz="2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08" y="1845734"/>
            <a:ext cx="8204501" cy="252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2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ROW</a:t>
            </a:r>
            <a:r>
              <a:rPr lang="en-US" altLang="zh-TW" baseline="-25000" dirty="0" smtClean="0"/>
              <a:t>10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ROW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11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b</a:t>
            </a:r>
            <a:r>
              <a:rPr lang="en-US" altLang="zh-TW" sz="2800" baseline="-25000" dirty="0" smtClean="0"/>
              <a:t>i</a:t>
            </a:r>
            <a:r>
              <a:rPr lang="en-US" altLang="zh-TW" sz="2800" dirty="0" smtClean="0"/>
              <a:t>-String  </a:t>
            </a:r>
            <a:r>
              <a:rPr lang="en-US" altLang="zh-TW" sz="2800" dirty="0" smtClean="0">
                <a:sym typeface="Wingdings" panose="05000000000000000000" pitchFamily="2" charset="2"/>
              </a:rPr>
              <a:t></a:t>
            </a:r>
            <a:r>
              <a:rPr lang="en-US" altLang="zh-TW" sz="2800" dirty="0"/>
              <a:t> v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 smtClean="0"/>
              <a:t>ROW</a:t>
            </a:r>
            <a:r>
              <a:rPr lang="en-US" altLang="zh-TW" sz="2800" baseline="-25000" dirty="0" smtClean="0"/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ym typeface="Wingdings" panose="05000000000000000000" pitchFamily="2" charset="2"/>
              </a:rPr>
              <a:t> </a:t>
            </a:r>
            <a:r>
              <a:rPr lang="en-US" altLang="zh-TW" sz="2800" dirty="0">
                <a:sym typeface="Wingdings" panose="05000000000000000000" pitchFamily="2" charset="2"/>
              </a:rPr>
              <a:t>- </a:t>
            </a:r>
            <a:r>
              <a:rPr lang="en-US" altLang="zh-TW" sz="2800" dirty="0" smtClean="0">
                <a:sym typeface="Wingdings" panose="05000000000000000000" pitchFamily="2" charset="2"/>
              </a:rPr>
              <a:t>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&lt;&lt; </a:t>
            </a:r>
            <a:r>
              <a:rPr lang="en-US" altLang="zh-TW" sz="2800" dirty="0" smtClean="0">
                <a:sym typeface="Wingdings" panose="05000000000000000000" pitchFamily="2" charset="2"/>
              </a:rPr>
              <a:t>1</a:t>
            </a:r>
            <a:r>
              <a:rPr lang="en-US" altLang="zh-TW" sz="2800" dirty="0">
                <a:sym typeface="Wingdings" panose="05000000000000000000" pitchFamily="2" charset="2"/>
              </a:rPr>
              <a:t> !=X</a:t>
            </a:r>
            <a:r>
              <a:rPr lang="en-US" altLang="zh-TW" sz="2800" dirty="0" smtClean="0">
                <a:sym typeface="Wingdings" panose="05000000000000000000" pitchFamily="2" charset="2"/>
              </a:rPr>
              <a:t>  </a:t>
            </a:r>
            <a:r>
              <a:rPr lang="en-US" altLang="zh-TW" sz="2800" dirty="0"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ym typeface="Wingdings" panose="05000000000000000000" pitchFamily="2" charset="2"/>
              </a:rPr>
              <a:t>^ X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9956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ROW</a:t>
            </a:r>
            <a:r>
              <a:rPr lang="en-US" altLang="zh-TW" baseline="-25000" dirty="0" smtClean="0"/>
              <a:t>10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ROW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11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b</a:t>
            </a:r>
            <a:r>
              <a:rPr lang="en-US" altLang="zh-TW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sz="2800" dirty="0" smtClean="0">
                <a:solidFill>
                  <a:srgbClr val="FF0000"/>
                </a:solidFill>
              </a:rPr>
              <a:t>-String</a:t>
            </a:r>
            <a:r>
              <a:rPr lang="en-US" altLang="zh-TW" sz="2800" dirty="0" smtClean="0"/>
              <a:t>  </a:t>
            </a:r>
            <a:r>
              <a:rPr lang="en-US" altLang="zh-TW" sz="2800" dirty="0" smtClean="0">
                <a:sym typeface="Wingdings" panose="05000000000000000000" pitchFamily="2" charset="2"/>
              </a:rPr>
              <a:t></a:t>
            </a:r>
            <a:r>
              <a:rPr lang="en-US" altLang="zh-TW" sz="2800" dirty="0"/>
              <a:t> v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 smtClean="0"/>
              <a:t>ROW</a:t>
            </a:r>
            <a:r>
              <a:rPr lang="en-US" altLang="zh-TW" sz="2800" baseline="-25000" dirty="0" smtClean="0"/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ym typeface="Wingdings" panose="05000000000000000000" pitchFamily="2" charset="2"/>
              </a:rPr>
              <a:t> </a:t>
            </a:r>
            <a:r>
              <a:rPr lang="en-US" altLang="zh-TW" sz="2800" dirty="0">
                <a:sym typeface="Wingdings" panose="05000000000000000000" pitchFamily="2" charset="2"/>
              </a:rPr>
              <a:t>- </a:t>
            </a:r>
            <a:r>
              <a:rPr lang="en-US" altLang="zh-TW" sz="2800" dirty="0" smtClean="0">
                <a:sym typeface="Wingdings" panose="05000000000000000000" pitchFamily="2" charset="2"/>
              </a:rPr>
              <a:t>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&lt;&lt; </a:t>
            </a:r>
            <a:r>
              <a:rPr lang="en-US" altLang="zh-TW" sz="2800" dirty="0" smtClean="0">
                <a:sym typeface="Wingdings" panose="05000000000000000000" pitchFamily="2" charset="2"/>
              </a:rPr>
              <a:t>1</a:t>
            </a:r>
            <a:r>
              <a:rPr lang="en-US" altLang="zh-TW" sz="2800" dirty="0">
                <a:sym typeface="Wingdings" panose="05000000000000000000" pitchFamily="2" charset="2"/>
              </a:rPr>
              <a:t> !=X</a:t>
            </a:r>
            <a:r>
              <a:rPr lang="en-US" altLang="zh-TW" sz="2800" dirty="0" smtClean="0">
                <a:sym typeface="Wingdings" panose="05000000000000000000" pitchFamily="2" charset="2"/>
              </a:rPr>
              <a:t>  </a:t>
            </a:r>
            <a:r>
              <a:rPr lang="en-US" altLang="zh-TW" sz="2800" dirty="0"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ym typeface="Wingdings" panose="05000000000000000000" pitchFamily="2" charset="2"/>
              </a:rPr>
              <a:t>^ X</a:t>
            </a:r>
            <a:endParaRPr lang="zh-TW" altLang="en-US" sz="2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32" y="2294881"/>
            <a:ext cx="323850" cy="4410075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>
            <a:off x="1241082" y="4044778"/>
            <a:ext cx="644868" cy="6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885950" y="3789690"/>
            <a:ext cx="1172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ROW</a:t>
            </a:r>
            <a:r>
              <a:rPr lang="en-US" altLang="zh-TW" sz="2800" baseline="-25000" dirty="0" smtClean="0"/>
              <a:t>10</a:t>
            </a:r>
            <a:endParaRPr lang="zh-TW" altLang="en-US" sz="28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885950" y="3467372"/>
            <a:ext cx="1172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ROW</a:t>
            </a:r>
            <a:r>
              <a:rPr lang="en-US" altLang="zh-TW" sz="2800" baseline="-25000" dirty="0" smtClean="0"/>
              <a:t>11</a:t>
            </a:r>
            <a:endParaRPr lang="zh-TW" altLang="en-US" sz="2800" baseline="-25000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241082" y="3768421"/>
            <a:ext cx="644868" cy="6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058707" y="3722460"/>
            <a:ext cx="644868" cy="6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75" y="2294881"/>
            <a:ext cx="3881463" cy="1193772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113" y="3630308"/>
            <a:ext cx="51530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6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ROW</a:t>
            </a:r>
            <a:r>
              <a:rPr lang="en-US" altLang="zh-TW" baseline="-25000" dirty="0" smtClean="0"/>
              <a:t>10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ROW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11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b</a:t>
            </a:r>
            <a:r>
              <a:rPr lang="en-US" altLang="zh-TW" sz="2800" baseline="-25000" dirty="0" smtClean="0"/>
              <a:t>i</a:t>
            </a:r>
            <a:r>
              <a:rPr lang="en-US" altLang="zh-TW" sz="2800" dirty="0" smtClean="0"/>
              <a:t>-String  </a:t>
            </a:r>
            <a:r>
              <a:rPr lang="en-US" altLang="zh-TW" sz="2800" dirty="0" smtClean="0">
                <a:sym typeface="Wingdings" panose="05000000000000000000" pitchFamily="2" charset="2"/>
              </a:rPr>
              <a:t></a:t>
            </a:r>
            <a:r>
              <a:rPr lang="en-US" altLang="zh-TW" sz="2800" dirty="0">
                <a:solidFill>
                  <a:srgbClr val="FF0000"/>
                </a:solidFill>
              </a:rPr>
              <a:t> v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ROW</a:t>
            </a:r>
            <a:r>
              <a:rPr lang="en-US" altLang="zh-TW" sz="2800" baseline="-25000" dirty="0" smtClean="0">
                <a:solidFill>
                  <a:srgbClr val="FF0000"/>
                </a:solidFill>
              </a:rPr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ym typeface="Wingdings" panose="05000000000000000000" pitchFamily="2" charset="2"/>
              </a:rPr>
              <a:t> </a:t>
            </a:r>
            <a:r>
              <a:rPr lang="en-US" altLang="zh-TW" sz="2800" dirty="0">
                <a:sym typeface="Wingdings" panose="05000000000000000000" pitchFamily="2" charset="2"/>
              </a:rPr>
              <a:t>- </a:t>
            </a:r>
            <a:r>
              <a:rPr lang="en-US" altLang="zh-TW" sz="2800" dirty="0" smtClean="0">
                <a:sym typeface="Wingdings" panose="05000000000000000000" pitchFamily="2" charset="2"/>
              </a:rPr>
              <a:t>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&lt;&lt; </a:t>
            </a:r>
            <a:r>
              <a:rPr lang="en-US" altLang="zh-TW" sz="2800" dirty="0" smtClean="0">
                <a:sym typeface="Wingdings" panose="05000000000000000000" pitchFamily="2" charset="2"/>
              </a:rPr>
              <a:t>1</a:t>
            </a:r>
            <a:r>
              <a:rPr lang="en-US" altLang="zh-TW" sz="2800" dirty="0">
                <a:sym typeface="Wingdings" panose="05000000000000000000" pitchFamily="2" charset="2"/>
              </a:rPr>
              <a:t> !=X</a:t>
            </a:r>
            <a:r>
              <a:rPr lang="en-US" altLang="zh-TW" sz="2800" dirty="0" smtClean="0">
                <a:sym typeface="Wingdings" panose="05000000000000000000" pitchFamily="2" charset="2"/>
              </a:rPr>
              <a:t>  </a:t>
            </a:r>
            <a:r>
              <a:rPr lang="en-US" altLang="zh-TW" sz="2800" dirty="0"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ym typeface="Wingdings" panose="05000000000000000000" pitchFamily="2" charset="2"/>
              </a:rPr>
              <a:t>^ X</a:t>
            </a:r>
            <a:endParaRPr lang="zh-TW" altLang="en-US" sz="28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2452806"/>
            <a:ext cx="5795475" cy="6028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450080"/>
            <a:ext cx="6315075" cy="1143000"/>
          </a:xfrm>
          <a:prstGeom prst="rect">
            <a:avLst/>
          </a:prstGeom>
        </p:spPr>
      </p:pic>
      <p:sp>
        <p:nvSpPr>
          <p:cNvPr id="7" name="弧形箭號 (左彎) 6"/>
          <p:cNvSpPr/>
          <p:nvPr/>
        </p:nvSpPr>
        <p:spPr>
          <a:xfrm>
            <a:off x="6817994" y="2587626"/>
            <a:ext cx="1348740" cy="269303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46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ROW</a:t>
            </a:r>
            <a:r>
              <a:rPr lang="en-US" altLang="zh-TW" baseline="-25000" dirty="0" smtClean="0"/>
              <a:t>10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ROW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11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b</a:t>
            </a:r>
            <a:r>
              <a:rPr lang="en-US" altLang="zh-TW" sz="2800" baseline="-25000" dirty="0" smtClean="0"/>
              <a:t>i</a:t>
            </a:r>
            <a:r>
              <a:rPr lang="en-US" altLang="zh-TW" sz="2800" dirty="0" smtClean="0"/>
              <a:t>-String  </a:t>
            </a:r>
            <a:r>
              <a:rPr lang="en-US" altLang="zh-TW" sz="2800" dirty="0" smtClean="0">
                <a:sym typeface="Wingdings" panose="05000000000000000000" pitchFamily="2" charset="2"/>
              </a:rPr>
              <a:t></a:t>
            </a:r>
            <a:r>
              <a:rPr lang="en-US" altLang="zh-TW" sz="2800" dirty="0">
                <a:solidFill>
                  <a:srgbClr val="FF0000"/>
                </a:solidFill>
              </a:rPr>
              <a:t> v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ROW</a:t>
            </a:r>
            <a:r>
              <a:rPr lang="en-US" altLang="zh-TW" sz="2800" baseline="-25000" dirty="0" smtClean="0">
                <a:solidFill>
                  <a:srgbClr val="FF0000"/>
                </a:solidFill>
              </a:rPr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ym typeface="Wingdings" panose="05000000000000000000" pitchFamily="2" charset="2"/>
              </a:rPr>
              <a:t> </a:t>
            </a:r>
            <a:r>
              <a:rPr lang="en-US" altLang="zh-TW" sz="2800" dirty="0">
                <a:sym typeface="Wingdings" panose="05000000000000000000" pitchFamily="2" charset="2"/>
              </a:rPr>
              <a:t>- </a:t>
            </a:r>
            <a:r>
              <a:rPr lang="en-US" altLang="zh-TW" sz="2800" dirty="0" smtClean="0">
                <a:sym typeface="Wingdings" panose="05000000000000000000" pitchFamily="2" charset="2"/>
              </a:rPr>
              <a:t>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&lt;&lt; </a:t>
            </a:r>
            <a:r>
              <a:rPr lang="en-US" altLang="zh-TW" sz="2800" dirty="0" smtClean="0">
                <a:sym typeface="Wingdings" panose="05000000000000000000" pitchFamily="2" charset="2"/>
              </a:rPr>
              <a:t>1!=X  </a:t>
            </a:r>
            <a:r>
              <a:rPr lang="en-US" altLang="zh-TW" sz="2800" dirty="0"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ym typeface="Wingdings" panose="05000000000000000000" pitchFamily="2" charset="2"/>
              </a:rPr>
              <a:t>^ X</a:t>
            </a:r>
            <a:endParaRPr lang="zh-TW" altLang="en-US" sz="28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2452806"/>
            <a:ext cx="5795475" cy="60281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822959" y="3401082"/>
            <a:ext cx="313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 = 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/>
              <a:t>v T-string</a:t>
            </a:r>
            <a:endParaRPr lang="zh-TW" altLang="en-US" sz="28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410921"/>
            <a:ext cx="6125268" cy="3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5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ROW</a:t>
            </a:r>
            <a:r>
              <a:rPr lang="en-US" altLang="zh-TW" baseline="-25000" dirty="0" smtClean="0"/>
              <a:t>10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ROW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11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b</a:t>
            </a:r>
            <a:r>
              <a:rPr lang="en-US" altLang="zh-TW" sz="2800" baseline="-25000" dirty="0" smtClean="0"/>
              <a:t>i</a:t>
            </a:r>
            <a:r>
              <a:rPr lang="en-US" altLang="zh-TW" sz="2800" dirty="0" smtClean="0"/>
              <a:t>-String  </a:t>
            </a:r>
            <a:r>
              <a:rPr lang="en-US" altLang="zh-TW" sz="2800" dirty="0" smtClean="0">
                <a:sym typeface="Wingdings" panose="05000000000000000000" pitchFamily="2" charset="2"/>
              </a:rPr>
              <a:t>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chemeClr val="tx1"/>
                </a:solidFill>
              </a:rPr>
              <a:t>v</a:t>
            </a:r>
            <a:r>
              <a:rPr lang="en-US" altLang="zh-TW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</a:rPr>
              <a:t>ROW</a:t>
            </a:r>
            <a:r>
              <a:rPr lang="en-US" altLang="zh-TW" sz="2800" baseline="-25000" dirty="0" smtClean="0">
                <a:solidFill>
                  <a:schemeClr val="tx1"/>
                </a:solidFill>
              </a:rPr>
              <a:t>10</a:t>
            </a:r>
            <a:r>
              <a:rPr lang="en-US" altLang="zh-TW" sz="2800" dirty="0" smtClean="0">
                <a:solidFill>
                  <a:schemeClr val="tx1"/>
                </a:solidFill>
              </a:rPr>
              <a:t> </a:t>
            </a:r>
            <a:r>
              <a:rPr lang="en-US" altLang="zh-TW" sz="2800" dirty="0" smtClean="0">
                <a:sym typeface="Wingdings" panose="05000000000000000000" pitchFamily="2" charset="2"/>
              </a:rPr>
              <a:t> 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- 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ROW</a:t>
            </a:r>
            <a:r>
              <a:rPr lang="en-US" altLang="zh-TW" sz="2800" baseline="-25000" dirty="0" smtClean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&lt;&lt; 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!=X  </a:t>
            </a:r>
            <a:r>
              <a:rPr lang="en-US" altLang="zh-TW" sz="2800" dirty="0"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ym typeface="Wingdings" panose="05000000000000000000" pitchFamily="2" charset="2"/>
              </a:rPr>
              <a:t>^ X</a:t>
            </a:r>
            <a:endParaRPr lang="zh-TW" altLang="en-US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2959" y="5345874"/>
            <a:ext cx="313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 = 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/>
              <a:t>v T-string</a:t>
            </a:r>
            <a:endParaRPr lang="zh-TW" altLang="en-US" sz="28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272453"/>
            <a:ext cx="6125268" cy="137699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302" y="3649451"/>
            <a:ext cx="5085398" cy="417026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7675602" y="3595804"/>
            <a:ext cx="793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418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ROW</a:t>
            </a:r>
            <a:r>
              <a:rPr lang="en-US" altLang="zh-TW" baseline="-25000" dirty="0" smtClean="0"/>
              <a:t>10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ROW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11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b</a:t>
            </a:r>
            <a:r>
              <a:rPr lang="en-US" altLang="zh-TW" sz="2800" baseline="-25000" dirty="0" smtClean="0"/>
              <a:t>i</a:t>
            </a:r>
            <a:r>
              <a:rPr lang="en-US" altLang="zh-TW" sz="2800" dirty="0" smtClean="0"/>
              <a:t>-String  </a:t>
            </a:r>
            <a:r>
              <a:rPr lang="en-US" altLang="zh-TW" sz="2800" dirty="0" smtClean="0">
                <a:sym typeface="Wingdings" panose="05000000000000000000" pitchFamily="2" charset="2"/>
              </a:rPr>
              <a:t></a:t>
            </a:r>
            <a:r>
              <a:rPr lang="en-US" altLang="zh-TW" sz="2800" dirty="0"/>
              <a:t> v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 smtClean="0"/>
              <a:t>ROW</a:t>
            </a:r>
            <a:r>
              <a:rPr lang="en-US" altLang="zh-TW" sz="2800" baseline="-25000" dirty="0" smtClean="0"/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ym typeface="Wingdings" panose="05000000000000000000" pitchFamily="2" charset="2"/>
              </a:rPr>
              <a:t> </a:t>
            </a:r>
            <a:r>
              <a:rPr lang="en-US" altLang="zh-TW" sz="2800" dirty="0">
                <a:sym typeface="Wingdings" panose="05000000000000000000" pitchFamily="2" charset="2"/>
              </a:rPr>
              <a:t>- </a:t>
            </a:r>
            <a:r>
              <a:rPr lang="en-US" altLang="zh-TW" sz="2800" dirty="0" smtClean="0">
                <a:sym typeface="Wingdings" panose="05000000000000000000" pitchFamily="2" charset="2"/>
              </a:rPr>
              <a:t>ROW</a:t>
            </a:r>
            <a:r>
              <a:rPr lang="en-US" altLang="zh-TW" sz="2800" baseline="-25000" dirty="0" smtClean="0">
                <a:sym typeface="Wingdings" panose="05000000000000000000" pitchFamily="2" charset="2"/>
              </a:rPr>
              <a:t>10</a:t>
            </a:r>
            <a:r>
              <a:rPr lang="en-US" altLang="zh-TW" sz="2800" dirty="0" smtClean="0"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&lt;&lt; </a:t>
            </a:r>
            <a:r>
              <a:rPr lang="en-US" altLang="zh-TW" sz="2800" dirty="0" smtClean="0">
                <a:sym typeface="Wingdings" panose="05000000000000000000" pitchFamily="2" charset="2"/>
              </a:rPr>
              <a:t>1</a:t>
            </a:r>
            <a:r>
              <a:rPr lang="en-US" altLang="zh-TW" sz="2800" dirty="0">
                <a:sym typeface="Wingdings" panose="05000000000000000000" pitchFamily="2" charset="2"/>
              </a:rPr>
              <a:t> !=X</a:t>
            </a:r>
            <a:r>
              <a:rPr lang="en-US" altLang="zh-TW" sz="2800" dirty="0" smtClean="0">
                <a:sym typeface="Wingdings" panose="05000000000000000000" pitchFamily="2" charset="2"/>
              </a:rPr>
              <a:t>  </a:t>
            </a:r>
            <a:r>
              <a:rPr lang="en-US" altLang="zh-TW" sz="2800" dirty="0"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^ X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02" y="3649451"/>
            <a:ext cx="5085398" cy="41702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450080"/>
            <a:ext cx="6315075" cy="11430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195" y="4066477"/>
            <a:ext cx="5719765" cy="35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0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SUMMARY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774" y="3100386"/>
            <a:ext cx="7690667" cy="144113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4" y="2132647"/>
            <a:ext cx="8752170" cy="57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8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A Fast and </a:t>
            </a:r>
            <a:r>
              <a:rPr lang="en-US" altLang="zh-TW" sz="4400" dirty="0" smtClean="0"/>
              <a:t>Practical Bit-Vector Algorithm for </a:t>
            </a:r>
            <a:r>
              <a:rPr lang="en-US" altLang="zh-TW" sz="4400" dirty="0"/>
              <a:t/>
            </a:r>
            <a:br>
              <a:rPr lang="en-US" altLang="zh-TW" sz="4400" dirty="0"/>
            </a:br>
            <a:r>
              <a:rPr lang="en-US" altLang="zh-TW" sz="4400" dirty="0"/>
              <a:t>the Longest Common </a:t>
            </a:r>
            <a:r>
              <a:rPr lang="en-US" altLang="zh-TW" sz="4400" dirty="0" smtClean="0"/>
              <a:t>Subsequence Problem</a:t>
            </a:r>
            <a:endParaRPr lang="zh-TW" altLang="en-US" sz="4400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altLang="zh-TW" dirty="0"/>
              <a:t>Maxime </a:t>
            </a:r>
            <a:r>
              <a:rPr lang="es-ES" altLang="zh-TW" dirty="0" smtClean="0"/>
              <a:t>Crochemore, </a:t>
            </a:r>
            <a:r>
              <a:rPr lang="es-ES" altLang="zh-TW" dirty="0"/>
              <a:t>Costas S. </a:t>
            </a:r>
            <a:r>
              <a:rPr lang="es-ES" altLang="zh-TW" dirty="0" smtClean="0"/>
              <a:t>Iliopoulos,</a:t>
            </a:r>
          </a:p>
          <a:p>
            <a:r>
              <a:rPr lang="es-ES" altLang="zh-TW" dirty="0" smtClean="0"/>
              <a:t>Yoan </a:t>
            </a:r>
            <a:r>
              <a:rPr lang="es-ES" altLang="zh-TW" dirty="0"/>
              <a:t>J. </a:t>
            </a:r>
            <a:r>
              <a:rPr lang="es-ES" altLang="zh-TW" dirty="0" smtClean="0"/>
              <a:t>Pinzon3, </a:t>
            </a:r>
            <a:r>
              <a:rPr lang="es-ES" altLang="zh-TW" dirty="0"/>
              <a:t>and James F. </a:t>
            </a:r>
            <a:r>
              <a:rPr lang="es-ES" altLang="zh-TW" dirty="0" smtClean="0"/>
              <a:t>Reid</a:t>
            </a:r>
            <a:endParaRPr lang="es-E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778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CONCULSION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28" y="1846263"/>
            <a:ext cx="636399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</TotalTime>
  <Words>427</Words>
  <Application>Microsoft Office PowerPoint</Application>
  <PresentationFormat>如螢幕大小 (4:3)</PresentationFormat>
  <Paragraphs>52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Wingdings</vt:lpstr>
      <vt:lpstr>回顧</vt:lpstr>
      <vt:lpstr>A BIT-STRING LONGEST-COMMON-SUBSEQUENCE ALGORITHM</vt:lpstr>
      <vt:lpstr>ABSTRACT</vt:lpstr>
      <vt:lpstr>BACKGROUND</vt:lpstr>
      <vt:lpstr>LCS</vt:lpstr>
      <vt:lpstr>BIT-STRING ALGORITHM</vt:lpstr>
      <vt:lpstr>BIT-STRING ALGORITHM</vt:lpstr>
      <vt:lpstr>BIT-STRING ALGORITHM</vt:lpstr>
      <vt:lpstr>ALPHBET-STRINGS</vt:lpstr>
      <vt:lpstr>ROW10  ROW11</vt:lpstr>
      <vt:lpstr>ROW10  ROW11</vt:lpstr>
      <vt:lpstr>ROW10  ROW11</vt:lpstr>
      <vt:lpstr>ROW10  ROW11</vt:lpstr>
      <vt:lpstr>ROW10  ROW11</vt:lpstr>
      <vt:lpstr>ROW10  ROW11</vt:lpstr>
      <vt:lpstr>IN SUMMARY</vt:lpstr>
      <vt:lpstr>A Fast and Practical Bit-Vector Algorithm for  the Longest Common Subsequence Problem</vt:lpstr>
      <vt:lpstr>CONCULSION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Pichu</dc:creator>
  <cp:lastModifiedBy>Pichu</cp:lastModifiedBy>
  <cp:revision>10</cp:revision>
  <dcterms:created xsi:type="dcterms:W3CDTF">2013-12-04T10:04:59Z</dcterms:created>
  <dcterms:modified xsi:type="dcterms:W3CDTF">2013-12-04T11:15:26Z</dcterms:modified>
</cp:coreProperties>
</file>