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60" r:id="rId3"/>
    <p:sldId id="261" r:id="rId4"/>
    <p:sldId id="259" r:id="rId5"/>
    <p:sldId id="262" r:id="rId6"/>
    <p:sldId id="265" r:id="rId7"/>
    <p:sldId id="263" r:id="rId8"/>
    <p:sldId id="264" r:id="rId9"/>
    <p:sldId id="266" r:id="rId10"/>
    <p:sldId id="267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3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90E18-5A5D-46CF-9C8D-1779522BBD00}" type="datetimeFigureOut">
              <a:rPr lang="zh-TW" altLang="en-US" smtClean="0"/>
              <a:pPr/>
              <a:t>2013/12/4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E603A-FF65-4728-B530-420E3BCFAEC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29759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53A25-F1CE-4459-9200-158B72A8A08E}" type="datetime1">
              <a:rPr lang="zh-TW" altLang="en-US" smtClean="0"/>
              <a:pPr/>
              <a:t>2013/12/4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86853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6DFD5-11A5-4E78-80D0-E75806A23E6A}" type="datetime1">
              <a:rPr lang="zh-TW" altLang="en-US" smtClean="0"/>
              <a:pPr/>
              <a:t>2013/12/4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87556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6420C-F33A-401A-905B-288BA1CC071A}" type="datetime1">
              <a:rPr lang="zh-TW" altLang="en-US" smtClean="0"/>
              <a:pPr/>
              <a:t>2013/12/4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90181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FF8E2-F511-4A33-B30F-C2AA4896980D}" type="datetime1">
              <a:rPr lang="zh-TW" altLang="en-US" smtClean="0"/>
              <a:pPr/>
              <a:t>2013/12/4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9125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D0ACF-BD7B-4B16-ADE8-DFB23EFB5974}" type="datetime1">
              <a:rPr lang="zh-TW" altLang="en-US" smtClean="0"/>
              <a:pPr/>
              <a:t>2013/12/4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6182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0B73A-3B25-4BA9-BA6D-CC0AF13D503F}" type="datetime1">
              <a:rPr lang="zh-TW" altLang="en-US" smtClean="0"/>
              <a:pPr/>
              <a:t>2013/12/4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78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5013B-5B84-41E0-B3BA-AC8FAA63BDED}" type="datetime1">
              <a:rPr lang="zh-TW" altLang="en-US" smtClean="0"/>
              <a:pPr/>
              <a:t>2013/12/4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45010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6F4E3-2A94-4A29-8718-C7301DC426B0}" type="datetime1">
              <a:rPr lang="zh-TW" altLang="en-US" smtClean="0"/>
              <a:pPr/>
              <a:t>2013/12/4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13100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BC6DD-7A13-4973-B870-BE8DBBBCD1A1}" type="datetime1">
              <a:rPr lang="zh-TW" altLang="en-US" smtClean="0"/>
              <a:pPr/>
              <a:t>2013/12/4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37805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7930C-91E3-4CE4-986F-D83B91A328CB}" type="datetime1">
              <a:rPr lang="zh-TW" altLang="en-US" smtClean="0"/>
              <a:pPr/>
              <a:t>2013/12/4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63764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FF1E9-5B07-43D2-9BFA-AE3EBAC42A05}" type="datetime1">
              <a:rPr lang="zh-TW" altLang="en-US" smtClean="0"/>
              <a:pPr/>
              <a:t>2013/12/4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80031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E9C67-E2F7-47E5-BBD8-F43FFCA5C519}" type="datetime1">
              <a:rPr lang="zh-TW" altLang="en-US" smtClean="0"/>
              <a:pPr/>
              <a:t>2013/12/4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99810-19B9-42C9-9478-C0B89A4E940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8793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3568" y="908720"/>
            <a:ext cx="7774632" cy="2187674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TW" dirty="0" smtClean="0"/>
              <a:t>Cd-hit: a fast program for clustering and comparing large sets</a:t>
            </a:r>
            <a:br>
              <a:rPr lang="en-US" altLang="zh-TW" dirty="0" smtClean="0"/>
            </a:br>
            <a:r>
              <a:rPr lang="en-US" altLang="zh-TW" dirty="0" smtClean="0"/>
              <a:t>of protein or nucleotide sequences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27584" y="3886200"/>
            <a:ext cx="6944816" cy="1415008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altLang="zh-TW" dirty="0" smtClean="0">
                <a:solidFill>
                  <a:schemeClr val="tx1"/>
                </a:solidFill>
              </a:rPr>
              <a:t>Author</a:t>
            </a:r>
            <a:r>
              <a:rPr lang="zh-TW" altLang="en-US" dirty="0" smtClean="0">
                <a:solidFill>
                  <a:schemeClr val="tx1"/>
                </a:solidFill>
              </a:rPr>
              <a:t>：</a:t>
            </a:r>
            <a:r>
              <a:rPr lang="en-US" altLang="zh-TW" dirty="0" err="1" smtClean="0">
                <a:solidFill>
                  <a:schemeClr val="tx1"/>
                </a:solidFill>
              </a:rPr>
              <a:t>Weizhong</a:t>
            </a:r>
            <a:r>
              <a:rPr lang="en-US" altLang="zh-TW" dirty="0" smtClean="0">
                <a:solidFill>
                  <a:schemeClr val="tx1"/>
                </a:solidFill>
              </a:rPr>
              <a:t> Li and Adam </a:t>
            </a:r>
            <a:r>
              <a:rPr lang="en-US" altLang="zh-TW" dirty="0" err="1" smtClean="0">
                <a:solidFill>
                  <a:schemeClr val="tx1"/>
                </a:solidFill>
              </a:rPr>
              <a:t>Godzik</a:t>
            </a:r>
            <a:r>
              <a:rPr lang="en-US" altLang="zh-TW" dirty="0" smtClean="0">
                <a:solidFill>
                  <a:schemeClr val="tx1"/>
                </a:solidFill>
              </a:rPr>
              <a:t/>
            </a:r>
            <a:br>
              <a:rPr lang="en-US" altLang="zh-TW" dirty="0" smtClean="0">
                <a:solidFill>
                  <a:schemeClr val="tx1"/>
                </a:solidFill>
              </a:rPr>
            </a:br>
            <a:r>
              <a:rPr lang="en-US" altLang="zh-TW" dirty="0" smtClean="0">
                <a:solidFill>
                  <a:schemeClr val="tx1"/>
                </a:solidFill>
              </a:rPr>
              <a:t>Source</a:t>
            </a:r>
            <a:r>
              <a:rPr lang="zh-TW" altLang="en-US" dirty="0" smtClean="0">
                <a:solidFill>
                  <a:schemeClr val="tx1"/>
                </a:solidFill>
              </a:rPr>
              <a:t>：</a:t>
            </a:r>
            <a:r>
              <a:rPr lang="en-US" altLang="zh-TW" dirty="0" smtClean="0">
                <a:solidFill>
                  <a:schemeClr val="tx1"/>
                </a:solidFill>
              </a:rPr>
              <a:t>BIOINFORMATICS APPLICATIONS </a:t>
            </a:r>
            <a:r>
              <a:rPr lang="en-US" altLang="zh-TW" dirty="0" smtClean="0">
                <a:solidFill>
                  <a:schemeClr val="tx1"/>
                </a:solidFill>
              </a:rPr>
              <a:t>NOTE,</a:t>
            </a:r>
            <a:r>
              <a:rPr lang="en-US" altLang="zh-TW" dirty="0" smtClean="0">
                <a:solidFill>
                  <a:schemeClr val="tx1"/>
                </a:solidFill>
              </a:rPr>
              <a:t/>
            </a:r>
            <a:br>
              <a:rPr lang="en-US" altLang="zh-TW" dirty="0" smtClean="0">
                <a:solidFill>
                  <a:schemeClr val="tx1"/>
                </a:solidFill>
              </a:rPr>
            </a:br>
            <a:r>
              <a:rPr lang="en-US" altLang="zh-TW" dirty="0" smtClean="0">
                <a:solidFill>
                  <a:schemeClr val="tx1"/>
                </a:solidFill>
              </a:rPr>
              <a:t>                 </a:t>
            </a:r>
            <a:r>
              <a:rPr lang="pt-BR" altLang="zh-TW" dirty="0" smtClean="0">
                <a:solidFill>
                  <a:schemeClr val="tx1"/>
                </a:solidFill>
              </a:rPr>
              <a:t>Vol. </a:t>
            </a:r>
            <a:r>
              <a:rPr lang="pt-BR" altLang="zh-TW" dirty="0" smtClean="0">
                <a:solidFill>
                  <a:schemeClr val="tx1"/>
                </a:solidFill>
              </a:rPr>
              <a:t>22, No</a:t>
            </a:r>
            <a:r>
              <a:rPr lang="pt-BR" altLang="zh-TW" dirty="0" smtClean="0">
                <a:solidFill>
                  <a:schemeClr val="tx1"/>
                </a:solidFill>
              </a:rPr>
              <a:t>. </a:t>
            </a:r>
            <a:r>
              <a:rPr lang="pt-BR" altLang="zh-TW" smtClean="0">
                <a:solidFill>
                  <a:schemeClr val="tx1"/>
                </a:solidFill>
              </a:rPr>
              <a:t>13, </a:t>
            </a:r>
            <a:r>
              <a:rPr lang="pt-BR" altLang="zh-TW" dirty="0" smtClean="0">
                <a:solidFill>
                  <a:schemeClr val="tx1"/>
                </a:solidFill>
              </a:rPr>
              <a:t>2006, pp. 1658–1659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4" name="副標題 2"/>
          <p:cNvSpPr txBox="1">
            <a:spLocks/>
          </p:cNvSpPr>
          <p:nvPr/>
        </p:nvSpPr>
        <p:spPr>
          <a:xfrm>
            <a:off x="4716016" y="5445224"/>
            <a:ext cx="4248472" cy="10576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Presenter</a:t>
            </a:r>
            <a:r>
              <a:rPr lang="zh-TW" altLang="en-US" sz="2800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：</a:t>
            </a:r>
            <a:r>
              <a:rPr lang="en-US" altLang="zh-TW" sz="2800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Guan-Cheng </a:t>
            </a:r>
            <a:r>
              <a:rPr lang="en-US" altLang="zh-TW" sz="2800" dirty="0" err="1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Guo</a:t>
            </a:r>
            <a:r>
              <a:rPr lang="en-US" altLang="zh-TW" sz="2800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/>
            </a:r>
            <a:br>
              <a:rPr lang="en-US" altLang="zh-TW" sz="2800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</a:br>
            <a:r>
              <a:rPr lang="en-US" altLang="zh-TW" sz="2800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Date</a:t>
            </a:r>
            <a:r>
              <a:rPr lang="zh-TW" altLang="en-US" sz="2800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：</a:t>
            </a:r>
            <a:r>
              <a:rPr lang="en-US" altLang="zh-TW" sz="2800" dirty="0" smtClean="0">
                <a:solidFill>
                  <a:schemeClr val="tx1"/>
                </a:solidFill>
                <a:latin typeface="+mj-lt"/>
                <a:ea typeface="標楷體" panose="03000509000000000000" pitchFamily="65" charset="-120"/>
              </a:rPr>
              <a:t>2013/12/4</a:t>
            </a:r>
            <a:endParaRPr lang="zh-TW" altLang="en-US" sz="2800" dirty="0">
              <a:solidFill>
                <a:schemeClr val="tx1"/>
              </a:solidFill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078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864096"/>
          </a:xfrm>
        </p:spPr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836712"/>
            <a:ext cx="8784976" cy="590465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    </a:t>
            </a:r>
            <a:r>
              <a:rPr lang="en-US" altLang="zh-TW" sz="4000" dirty="0" smtClean="0"/>
              <a:t>In </a:t>
            </a:r>
            <a:r>
              <a:rPr lang="en-US" altLang="zh-TW" sz="4000" dirty="0"/>
              <a:t>2001 and 2002, we published two </a:t>
            </a:r>
            <a:r>
              <a:rPr lang="en-US" altLang="zh-TW" sz="4000" dirty="0" smtClean="0"/>
              <a:t>papers (Bioinformatics</a:t>
            </a:r>
            <a:r>
              <a:rPr lang="en-US" altLang="zh-TW" sz="4000" dirty="0"/>
              <a:t>, 17, 282–283, Bioinformatics, 18, 77–82) </a:t>
            </a:r>
            <a:r>
              <a:rPr lang="en-US" altLang="zh-TW" sz="4000" dirty="0" smtClean="0"/>
              <a:t>describing an </a:t>
            </a:r>
            <a:r>
              <a:rPr lang="en-US" altLang="zh-TW" sz="4000" dirty="0"/>
              <a:t>ultrafast protein sequence clustering program called cd-hit. </a:t>
            </a:r>
            <a:r>
              <a:rPr lang="en-US" altLang="zh-TW" sz="4000" dirty="0" smtClean="0"/>
              <a:t>This program </a:t>
            </a:r>
            <a:r>
              <a:rPr lang="en-US" altLang="zh-TW" sz="4000" dirty="0"/>
              <a:t>can efficiently cluster a huge protein database with </a:t>
            </a:r>
            <a:r>
              <a:rPr lang="en-US" altLang="zh-TW" sz="4000" dirty="0" smtClean="0"/>
              <a:t>millions of </a:t>
            </a:r>
            <a:r>
              <a:rPr lang="en-US" altLang="zh-TW" sz="4000" dirty="0"/>
              <a:t>sequences. However, the applications of the underlying </a:t>
            </a:r>
            <a:r>
              <a:rPr lang="en-US" altLang="zh-TW" sz="4000" dirty="0" smtClean="0"/>
              <a:t>algorithm are </a:t>
            </a:r>
            <a:r>
              <a:rPr lang="en-US" altLang="zh-TW" sz="4000" dirty="0"/>
              <a:t>not limited to only protein sequences clustering, here we </a:t>
            </a:r>
            <a:r>
              <a:rPr lang="en-US" altLang="zh-TW" sz="4000" dirty="0" smtClean="0"/>
              <a:t>present several </a:t>
            </a:r>
            <a:r>
              <a:rPr lang="en-US" altLang="zh-TW" sz="4000" dirty="0"/>
              <a:t>new programs using the same algorithm including </a:t>
            </a:r>
            <a:r>
              <a:rPr lang="en-US" altLang="zh-TW" sz="4000" dirty="0" smtClean="0"/>
              <a:t>cd-hit-2d, cd-hit-</a:t>
            </a:r>
            <a:r>
              <a:rPr lang="en-US" altLang="zh-TW" sz="4000" dirty="0" err="1" smtClean="0"/>
              <a:t>est</a:t>
            </a:r>
            <a:r>
              <a:rPr lang="en-US" altLang="zh-TW" sz="4000" dirty="0" smtClean="0"/>
              <a:t> </a:t>
            </a:r>
            <a:r>
              <a:rPr lang="en-US" altLang="zh-TW" sz="4000" dirty="0"/>
              <a:t>and cd-hit-est-2d. Cd-hit-2d compares two protein </a:t>
            </a:r>
            <a:r>
              <a:rPr lang="en-US" altLang="zh-TW" sz="4000" dirty="0" smtClean="0"/>
              <a:t>datasets and </a:t>
            </a:r>
            <a:r>
              <a:rPr lang="en-US" altLang="zh-TW" sz="4000" dirty="0"/>
              <a:t>reports similar matches between them; cd-hit-</a:t>
            </a:r>
            <a:r>
              <a:rPr lang="en-US" altLang="zh-TW" sz="4000" dirty="0" err="1"/>
              <a:t>est</a:t>
            </a:r>
            <a:r>
              <a:rPr lang="en-US" altLang="zh-TW" sz="4000" dirty="0"/>
              <a:t> clusters a </a:t>
            </a:r>
            <a:r>
              <a:rPr lang="en-US" altLang="zh-TW" sz="4000" dirty="0" smtClean="0"/>
              <a:t>DNA/RNA </a:t>
            </a:r>
            <a:r>
              <a:rPr lang="en-US" altLang="zh-TW" sz="4000" dirty="0"/>
              <a:t>sequence database and cd-hit-est-2d compares two </a:t>
            </a:r>
            <a:r>
              <a:rPr lang="en-US" altLang="zh-TW" sz="4000" dirty="0" smtClean="0"/>
              <a:t>nucleotide datasets</a:t>
            </a:r>
            <a:r>
              <a:rPr lang="en-US" altLang="zh-TW" sz="4000" dirty="0"/>
              <a:t>. All these programs can handle huge datasets with millions </a:t>
            </a:r>
            <a:r>
              <a:rPr lang="en-US" altLang="zh-TW" sz="4000" dirty="0" smtClean="0"/>
              <a:t>of sequences </a:t>
            </a:r>
            <a:r>
              <a:rPr lang="en-US" altLang="zh-TW" sz="4000" dirty="0"/>
              <a:t>and can be hundreds of times faster than methods based </a:t>
            </a:r>
            <a:r>
              <a:rPr lang="en-US" altLang="zh-TW" sz="4000" dirty="0" smtClean="0"/>
              <a:t>on the </a:t>
            </a:r>
            <a:r>
              <a:rPr lang="en-US" altLang="zh-TW" sz="4000" dirty="0"/>
              <a:t>popular sequence comparison and database search tools, such </a:t>
            </a:r>
            <a:r>
              <a:rPr lang="en-US" altLang="zh-TW" sz="4000" dirty="0" smtClean="0"/>
              <a:t>as BLAST</a:t>
            </a:r>
            <a:r>
              <a:rPr lang="en-US" altLang="zh-TW" sz="4000" dirty="0"/>
              <a:t>.</a:t>
            </a:r>
            <a:endParaRPr lang="zh-TW" altLang="en-US" sz="4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9554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CD-HIT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r>
              <a:rPr lang="en-US" altLang="zh-TW" dirty="0"/>
              <a:t>CD-HIT stands for Cluster Database at High Identity with Tolerance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CD-HIT clusters a protein database.</a:t>
            </a:r>
          </a:p>
          <a:p>
            <a:r>
              <a:rPr lang="en-US" altLang="zh-TW" dirty="0" smtClean="0"/>
              <a:t>The </a:t>
            </a:r>
            <a:r>
              <a:rPr lang="en-US" altLang="zh-TW" dirty="0"/>
              <a:t>algorithm behind cd-hit is short word </a:t>
            </a:r>
            <a:r>
              <a:rPr lang="en-US" altLang="zh-TW" dirty="0" smtClean="0"/>
              <a:t>filtering.</a:t>
            </a:r>
          </a:p>
          <a:p>
            <a:r>
              <a:rPr lang="en-US" altLang="zh-TW" dirty="0" smtClean="0"/>
              <a:t>Short </a:t>
            </a:r>
            <a:r>
              <a:rPr lang="en-US" altLang="zh-TW" dirty="0"/>
              <a:t>word filtering</a:t>
            </a:r>
            <a:r>
              <a:rPr lang="en-US" altLang="zh-TW" dirty="0" smtClean="0"/>
              <a:t> can determine </a:t>
            </a:r>
            <a:r>
              <a:rPr lang="en-US" altLang="zh-TW" dirty="0"/>
              <a:t>that the similarity between two sequences is below </a:t>
            </a:r>
            <a:r>
              <a:rPr lang="en-US" altLang="zh-TW" dirty="0" smtClean="0"/>
              <a:t>a certain </a:t>
            </a:r>
            <a:r>
              <a:rPr lang="en-US" altLang="zh-TW" dirty="0"/>
              <a:t>value without performing an actual sequence alignment.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467548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Short </a:t>
            </a:r>
            <a:r>
              <a:rPr lang="en-US" altLang="zh-TW" dirty="0"/>
              <a:t>word filtering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69371"/>
          </a:xfrm>
        </p:spPr>
        <p:txBody>
          <a:bodyPr>
            <a:normAutofit/>
          </a:bodyPr>
          <a:lstStyle/>
          <a:p>
            <a:r>
              <a:rPr lang="en-US" altLang="zh-TW" dirty="0"/>
              <a:t> Two proteins with a certain sequence identity must have at least a specific number of identical </a:t>
            </a:r>
            <a:r>
              <a:rPr lang="en-US" altLang="zh-TW" dirty="0" smtClean="0"/>
              <a:t>dipeptides</a:t>
            </a:r>
            <a:r>
              <a:rPr lang="en-US" altLang="zh-TW" dirty="0"/>
              <a:t>, </a:t>
            </a:r>
            <a:r>
              <a:rPr lang="en-US" altLang="zh-TW" dirty="0" err="1"/>
              <a:t>tripeptides</a:t>
            </a:r>
            <a:r>
              <a:rPr lang="en-US" altLang="zh-TW" dirty="0"/>
              <a:t> and etc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We </a:t>
            </a:r>
            <a:r>
              <a:rPr lang="en-US" altLang="zh-TW" dirty="0"/>
              <a:t>can </a:t>
            </a:r>
            <a:r>
              <a:rPr lang="en-US" altLang="zh-TW" dirty="0" smtClean="0"/>
              <a:t>effectively estimate </a:t>
            </a:r>
            <a:r>
              <a:rPr lang="en-US" altLang="zh-TW" dirty="0"/>
              <a:t>that the similarity of two sequences is below a </a:t>
            </a:r>
            <a:r>
              <a:rPr lang="en-US" altLang="zh-TW" dirty="0" smtClean="0"/>
              <a:t>certain threshold </a:t>
            </a:r>
            <a:r>
              <a:rPr lang="en-US" altLang="zh-TW" dirty="0"/>
              <a:t>by simple word counting and without an actual </a:t>
            </a:r>
            <a:r>
              <a:rPr lang="en-US" altLang="zh-TW" dirty="0" smtClean="0"/>
              <a:t>sequence alignment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70506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Short </a:t>
            </a:r>
            <a:r>
              <a:rPr lang="en-US" altLang="zh-TW" dirty="0"/>
              <a:t>word filtering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40768"/>
                <a:ext cx="8229600" cy="5256584"/>
              </a:xfrm>
            </p:spPr>
            <p:txBody>
              <a:bodyPr/>
              <a:lstStyle/>
              <a:p>
                <a:r>
                  <a:rPr lang="en-US" altLang="zh-TW" dirty="0" smtClean="0"/>
                  <a:t>It can be implemented the idea using an index table.</a:t>
                </a:r>
              </a:p>
              <a:p>
                <a:r>
                  <a:rPr lang="en-US" altLang="zh-TW" dirty="0" smtClean="0"/>
                  <a:t>It </a:t>
                </a:r>
                <a:r>
                  <a:rPr lang="en-US" altLang="zh-TW" dirty="0"/>
                  <a:t>just use very short word with size </a:t>
                </a:r>
                <a:r>
                  <a:rPr lang="en-US" altLang="zh-TW" dirty="0" smtClean="0"/>
                  <a:t>2~5. </a:t>
                </a:r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r>
                  <a:rPr lang="en-US" altLang="zh-TW" dirty="0" smtClean="0"/>
                  <a:t>Ex: The </a:t>
                </a:r>
                <a:r>
                  <a:rPr lang="en-US" altLang="zh-TW" dirty="0" smtClean="0"/>
                  <a:t>total </a:t>
                </a:r>
                <a:r>
                  <a:rPr lang="en-US" altLang="zh-TW" dirty="0"/>
                  <a:t>number of possible </a:t>
                </a:r>
                <a:r>
                  <a:rPr lang="en-US" altLang="zh-TW" dirty="0" err="1"/>
                  <a:t>pentapeptides</a:t>
                </a:r>
                <a:r>
                  <a:rPr lang="en-US" altLang="zh-TW" dirty="0"/>
                  <a:t> is only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21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(each </a:t>
                </a:r>
                <a:r>
                  <a:rPr lang="en-US" altLang="zh-TW" dirty="0" smtClean="0"/>
                  <a:t>position has </a:t>
                </a:r>
                <a:r>
                  <a:rPr lang="en-US" altLang="zh-TW" dirty="0"/>
                  <a:t>21 possibilities, 20 amino acids plus ‘X’). </a:t>
                </a:r>
                <a:r>
                  <a:rPr lang="en-US" altLang="zh-TW" dirty="0" smtClean="0"/>
                  <a:t>The index table </a:t>
                </a:r>
                <a:r>
                  <a:rPr lang="en-US" altLang="zh-TW" dirty="0"/>
                  <a:t>requires only 4 million </a:t>
                </a:r>
                <a:r>
                  <a:rPr lang="en-US" altLang="zh-TW" dirty="0" smtClean="0"/>
                  <a:t>entries.</a:t>
                </a:r>
              </a:p>
              <a:p>
                <a:r>
                  <a:rPr lang="en-US" altLang="zh-TW" dirty="0"/>
                  <a:t> Index table makes the counting of short word very efficiently. And a longer word is more efficient than a shorter one.</a:t>
                </a:r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40768"/>
                <a:ext cx="8229600" cy="5256584"/>
              </a:xfrm>
              <a:blipFill rotWithShape="1">
                <a:blip r:embed="rId2" cstate="print"/>
                <a:stretch>
                  <a:fillRect l="-1630" t="-1508" r="-1926" b="-22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32185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Sequences are first </a:t>
            </a:r>
            <a:r>
              <a:rPr lang="en-US" altLang="zh-TW" dirty="0"/>
              <a:t>sorted in order of decreasing </a:t>
            </a:r>
            <a:r>
              <a:rPr lang="en-US" altLang="zh-TW" dirty="0" smtClean="0"/>
              <a:t>length.</a:t>
            </a:r>
            <a:endParaRPr lang="en-US" altLang="zh-TW" dirty="0"/>
          </a:p>
          <a:p>
            <a:r>
              <a:rPr lang="en-US" altLang="zh-TW" dirty="0"/>
              <a:t>The longest </a:t>
            </a:r>
            <a:r>
              <a:rPr lang="en-US" altLang="zh-TW" dirty="0" smtClean="0"/>
              <a:t>one becomes </a:t>
            </a:r>
            <a:r>
              <a:rPr lang="en-US" altLang="zh-TW" dirty="0"/>
              <a:t>the representative of the first </a:t>
            </a:r>
            <a:r>
              <a:rPr lang="en-US" altLang="zh-TW" dirty="0" smtClean="0"/>
              <a:t>cluster.</a:t>
            </a:r>
          </a:p>
          <a:p>
            <a:r>
              <a:rPr lang="en-US" altLang="zh-TW" dirty="0"/>
              <a:t>Then </a:t>
            </a:r>
            <a:r>
              <a:rPr lang="en-US" altLang="zh-TW" dirty="0" smtClean="0"/>
              <a:t>each remaining </a:t>
            </a:r>
            <a:r>
              <a:rPr lang="en-US" altLang="zh-TW" dirty="0"/>
              <a:t>sequence is compared to the existing representatives.</a:t>
            </a:r>
          </a:p>
          <a:p>
            <a:r>
              <a:rPr lang="en-US" altLang="zh-TW" dirty="0"/>
              <a:t>If the similarity with any representative is above </a:t>
            </a:r>
            <a:r>
              <a:rPr lang="en-US" altLang="zh-TW" dirty="0" smtClean="0"/>
              <a:t>a given </a:t>
            </a:r>
            <a:r>
              <a:rPr lang="en-US" altLang="zh-TW" dirty="0"/>
              <a:t>threshold, it is included into that cluster. </a:t>
            </a:r>
            <a:r>
              <a:rPr lang="en-US" altLang="zh-TW" dirty="0" smtClean="0"/>
              <a:t>Otherwise a </a:t>
            </a:r>
            <a:r>
              <a:rPr lang="en-US" altLang="zh-TW" dirty="0"/>
              <a:t>new cluster starts with it as representative.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18774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CD-HIT-</a:t>
            </a:r>
            <a:r>
              <a:rPr lang="en-US" altLang="zh-TW" dirty="0" err="1" smtClean="0"/>
              <a:t>est</a:t>
            </a:r>
            <a:r>
              <a:rPr lang="en-US" altLang="zh-TW" dirty="0" smtClean="0"/>
              <a:t> </a:t>
            </a:r>
            <a:r>
              <a:rPr lang="en-US" altLang="zh-TW" dirty="0"/>
              <a:t>clustering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968552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CD-HIT-</a:t>
            </a:r>
            <a:r>
              <a:rPr lang="en-US" altLang="zh-TW" dirty="0" err="1" smtClean="0"/>
              <a:t>est</a:t>
            </a:r>
            <a:r>
              <a:rPr lang="en-US" altLang="zh-TW" dirty="0" smtClean="0"/>
              <a:t> </a:t>
            </a:r>
            <a:r>
              <a:rPr lang="en-US" altLang="zh-TW" dirty="0"/>
              <a:t>clusters a DNA/RNA database. </a:t>
            </a:r>
            <a:r>
              <a:rPr lang="en-US" altLang="zh-TW" dirty="0" smtClean="0"/>
              <a:t>For eukaryotic genes, long introns can cause long gaps in sequence alignments. It </a:t>
            </a:r>
            <a:r>
              <a:rPr lang="en-US" altLang="zh-TW" dirty="0"/>
              <a:t>reduces the efficiency of short word </a:t>
            </a:r>
            <a:r>
              <a:rPr lang="en-US" altLang="zh-TW" dirty="0" smtClean="0"/>
              <a:t>filtering.</a:t>
            </a:r>
          </a:p>
          <a:p>
            <a:r>
              <a:rPr lang="en-US" altLang="zh-TW" dirty="0"/>
              <a:t>CD-HIT</a:t>
            </a:r>
            <a:r>
              <a:rPr lang="en-US" altLang="zh-TW" dirty="0" smtClean="0"/>
              <a:t>-</a:t>
            </a:r>
            <a:r>
              <a:rPr lang="en-US" altLang="zh-TW" dirty="0" err="1" smtClean="0"/>
              <a:t>est</a:t>
            </a:r>
            <a:r>
              <a:rPr lang="en-US" altLang="zh-TW" dirty="0" smtClean="0"/>
              <a:t> </a:t>
            </a:r>
            <a:r>
              <a:rPr lang="en-US" altLang="zh-TW" dirty="0"/>
              <a:t>can be applied only for </a:t>
            </a:r>
            <a:r>
              <a:rPr lang="en-US" altLang="zh-TW" dirty="0" smtClean="0"/>
              <a:t>non-intron-containing sequences</a:t>
            </a:r>
            <a:r>
              <a:rPr lang="en-US" altLang="zh-TW" dirty="0"/>
              <a:t>, such as </a:t>
            </a:r>
            <a:r>
              <a:rPr lang="en-US" altLang="zh-TW" dirty="0" smtClean="0"/>
              <a:t>ESTs.</a:t>
            </a:r>
          </a:p>
          <a:p>
            <a:r>
              <a:rPr lang="en-US" altLang="zh-TW" dirty="0"/>
              <a:t>Expressed sequence tag (EST) is a short sub-sequence of a </a:t>
            </a:r>
            <a:r>
              <a:rPr lang="en-US" altLang="zh-TW" dirty="0" err="1"/>
              <a:t>cDNA</a:t>
            </a:r>
            <a:r>
              <a:rPr lang="en-US" altLang="zh-TW" dirty="0"/>
              <a:t> sequence. They may be used to identify gene transcripts.</a:t>
            </a:r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79930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CD-HIT</a:t>
            </a:r>
            <a:r>
              <a:rPr lang="en-US" altLang="zh-TW" dirty="0" smtClean="0"/>
              <a:t>-2d </a:t>
            </a:r>
            <a:r>
              <a:rPr lang="en-US" altLang="zh-TW" dirty="0"/>
              <a:t>and </a:t>
            </a:r>
            <a:r>
              <a:rPr lang="en-US" altLang="zh-TW" dirty="0" smtClean="0"/>
              <a:t>CD-HIT-est-2d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r>
              <a:rPr lang="en-US" altLang="zh-TW" dirty="0"/>
              <a:t>Given two databases, db1 and db2. Sequences in db1 are first </a:t>
            </a:r>
            <a:r>
              <a:rPr lang="en-US" altLang="zh-TW" dirty="0" smtClean="0"/>
              <a:t>sorted in </a:t>
            </a:r>
            <a:r>
              <a:rPr lang="en-US" altLang="zh-TW" dirty="0"/>
              <a:t>order of decreasing length. </a:t>
            </a:r>
            <a:endParaRPr lang="en-US" altLang="zh-TW" dirty="0" smtClean="0"/>
          </a:p>
          <a:p>
            <a:r>
              <a:rPr lang="en-US" altLang="zh-TW" dirty="0" smtClean="0"/>
              <a:t>Each </a:t>
            </a:r>
            <a:r>
              <a:rPr lang="en-US" altLang="zh-TW" dirty="0"/>
              <a:t>sequence in db2 is </a:t>
            </a:r>
            <a:r>
              <a:rPr lang="en-US" altLang="zh-TW" dirty="0" smtClean="0"/>
              <a:t>compared </a:t>
            </a:r>
            <a:r>
              <a:rPr lang="en-US" altLang="zh-TW" dirty="0"/>
              <a:t>with db1 from the top (the longest one</a:t>
            </a:r>
            <a:r>
              <a:rPr lang="en-US" altLang="zh-TW" dirty="0" smtClean="0"/>
              <a:t>). </a:t>
            </a:r>
          </a:p>
          <a:p>
            <a:r>
              <a:rPr lang="en-US" altLang="zh-TW" dirty="0" smtClean="0"/>
              <a:t>If </a:t>
            </a:r>
            <a:r>
              <a:rPr lang="en-US" altLang="zh-TW" dirty="0"/>
              <a:t>the similarity </a:t>
            </a:r>
            <a:r>
              <a:rPr lang="en-US" altLang="zh-TW" dirty="0" smtClean="0"/>
              <a:t>to any </a:t>
            </a:r>
            <a:r>
              <a:rPr lang="en-US" altLang="zh-TW" dirty="0"/>
              <a:t>one in db1 is above the threshold, this sequence is attached </a:t>
            </a:r>
            <a:r>
              <a:rPr lang="en-US" altLang="zh-TW" dirty="0" smtClean="0"/>
              <a:t>to the </a:t>
            </a:r>
            <a:r>
              <a:rPr lang="en-US" altLang="zh-TW" dirty="0"/>
              <a:t>matched one in db1.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13667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0952" y="1196752"/>
            <a:ext cx="8229600" cy="471338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The CD-HIT was written in C++, and tested on Linux workstation with dual 3.0 GHz Xeon processors and 4GB RAM.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2051" name="Picture 3" descr="C:\Users\GC_GUO\Desktop\擷取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7504" y="2852936"/>
            <a:ext cx="8892480" cy="3490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919327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2780928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Thank you for your watching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99810-19B9-42C9-9478-C0B89A4E940A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23724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1089</TotalTime>
  <Words>500</Words>
  <Application>Microsoft Office PowerPoint</Application>
  <PresentationFormat>如螢幕大小 (4:3)</PresentationFormat>
  <Paragraphs>41</Paragraphs>
  <Slides>10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Office 佈景主題</vt:lpstr>
      <vt:lpstr>Cd-hit: a fast program for clustering and comparing large sets of protein or nucleotide sequences</vt:lpstr>
      <vt:lpstr>Abstract</vt:lpstr>
      <vt:lpstr>CD-HIT</vt:lpstr>
      <vt:lpstr>Short word filtering</vt:lpstr>
      <vt:lpstr>Short word filtering</vt:lpstr>
      <vt:lpstr>Algorithm</vt:lpstr>
      <vt:lpstr>CD-HIT-est clustering</vt:lpstr>
      <vt:lpstr>CD-HIT-2d and CD-HIT-est-2d</vt:lpstr>
      <vt:lpstr>Results</vt:lpstr>
      <vt:lpstr>Thank you for your watching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Cd-hit: a fast program for clustering and comparing large sets of protein or nucleotide sequences</dc:title>
  <dc:creator>GC_GUO</dc:creator>
  <cp:lastModifiedBy>Guest</cp:lastModifiedBy>
  <cp:revision>54</cp:revision>
  <dcterms:created xsi:type="dcterms:W3CDTF">2013-12-03T06:55:24Z</dcterms:created>
  <dcterms:modified xsi:type="dcterms:W3CDTF">2013-12-04T03:36:19Z</dcterms:modified>
</cp:coreProperties>
</file>