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Lst>
  <p:sldIdLst>
    <p:sldId id="256" r:id="rId2"/>
    <p:sldId id="257" r:id="rId3"/>
    <p:sldId id="269" r:id="rId4"/>
    <p:sldId id="265" r:id="rId5"/>
    <p:sldId id="266" r:id="rId6"/>
    <p:sldId id="259" r:id="rId7"/>
    <p:sldId id="268" r:id="rId8"/>
    <p:sldId id="260" r:id="rId9"/>
    <p:sldId id="270" r:id="rId10"/>
    <p:sldId id="271" r:id="rId11"/>
    <p:sldId id="261" r:id="rId12"/>
    <p:sldId id="262"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8" d="100"/>
          <a:sy n="108" d="100"/>
        </p:scale>
        <p:origin x="-78" y="-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A763711-00B6-43D3-A7A2-519D47454CFD}"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745602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4120625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A763711-00B6-43D3-A7A2-519D47454CFD}"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73060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110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822960" y="2582334"/>
            <a:ext cx="3703320" cy="3378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63440" y="2582334"/>
            <a:ext cx="3703320" cy="3378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4130899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2459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297396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5BBDB22-19C2-46E1-BB19-EE28B3AA3DC3}" type="datetimeFigureOut">
              <a:rPr lang="zh-TW" altLang="en-US" smtClean="0"/>
              <a:pPr/>
              <a:t>2013/12/4</a:t>
            </a:fld>
            <a:endParaRPr lang="zh-TW"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951745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144083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190003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398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A763711-00B6-43D3-A7A2-519D47454CFD}" type="slidenum">
              <a:rPr lang="zh-TW" altLang="en-US" smtClean="0"/>
              <a:pPr/>
              <a:t>‹#›</a:t>
            </a:fld>
            <a:endParaRPr lang="zh-TW" altLang="en-US"/>
          </a:p>
        </p:txBody>
      </p:sp>
    </p:spTree>
    <p:extLst>
      <p:ext uri="{BB962C8B-B14F-4D97-AF65-F5344CB8AC3E}">
        <p14:creationId xmlns:p14="http://schemas.microsoft.com/office/powerpoint/2010/main" xmlns="" val="233674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5BBDB22-19C2-46E1-BB19-EE28B3AA3DC3}" type="datetimeFigureOut">
              <a:rPr lang="zh-TW" altLang="en-US" smtClean="0"/>
              <a:pPr/>
              <a:t>2013/12/4</a:t>
            </a:fld>
            <a:endParaRPr lang="zh-TW"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8A763711-00B6-43D3-A7A2-519D47454CFD}" type="slidenum">
              <a:rPr lang="zh-TW" altLang="en-US" smtClean="0"/>
              <a:pPr/>
              <a:t>‹#›</a:t>
            </a:fld>
            <a:endParaRPr lang="zh-TW"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311793351"/>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61704" y="874707"/>
            <a:ext cx="6858000" cy="2932107"/>
          </a:xfrm>
        </p:spPr>
        <p:txBody>
          <a:bodyPr>
            <a:normAutofit/>
          </a:bodyPr>
          <a:lstStyle/>
          <a:p>
            <a:pPr algn="ctr"/>
            <a:r>
              <a:rPr lang="en-US" altLang="zh-TW" sz="4500" b="1" dirty="0">
                <a:solidFill>
                  <a:schemeClr val="accent2">
                    <a:lumMod val="75000"/>
                  </a:schemeClr>
                </a:solidFill>
                <a:latin typeface="+mn-ea"/>
                <a:ea typeface="+mn-ea"/>
              </a:rPr>
              <a:t>Minimal Mutation Trees of Sequences</a:t>
            </a:r>
            <a:endParaRPr lang="zh-TW" altLang="en-US" sz="4500" b="1" dirty="0">
              <a:solidFill>
                <a:schemeClr val="accent2">
                  <a:lumMod val="75000"/>
                </a:schemeClr>
              </a:solidFill>
              <a:latin typeface="+mn-ea"/>
              <a:ea typeface="+mn-ea"/>
            </a:endParaRPr>
          </a:p>
        </p:txBody>
      </p:sp>
      <p:sp>
        <p:nvSpPr>
          <p:cNvPr id="3" name="副標題 2"/>
          <p:cNvSpPr>
            <a:spLocks noGrp="1"/>
          </p:cNvSpPr>
          <p:nvPr>
            <p:ph type="subTitle" idx="1"/>
          </p:nvPr>
        </p:nvSpPr>
        <p:spPr>
          <a:xfrm>
            <a:off x="1761777" y="4401588"/>
            <a:ext cx="6274391" cy="1357373"/>
          </a:xfrm>
        </p:spPr>
        <p:txBody>
          <a:bodyPr>
            <a:normAutofit fontScale="25000" lnSpcReduction="20000"/>
          </a:bodyPr>
          <a:lstStyle/>
          <a:p>
            <a:pPr algn="r"/>
            <a:r>
              <a:rPr lang="en-US" altLang="zh-TW" sz="5600" b="1" dirty="0" smtClean="0">
                <a:latin typeface="微軟正黑體" panose="020B0604030504040204" pitchFamily="34" charset="-120"/>
                <a:ea typeface="微軟正黑體" panose="020B0604030504040204" pitchFamily="34" charset="-120"/>
              </a:rPr>
              <a:t>Author(s</a:t>
            </a:r>
            <a:r>
              <a:rPr lang="en-US" altLang="zh-TW" sz="5600" b="1" dirty="0">
                <a:latin typeface="微軟正黑體" panose="020B0604030504040204" pitchFamily="34" charset="-120"/>
                <a:ea typeface="微軟正黑體" panose="020B0604030504040204" pitchFamily="34" charset="-120"/>
              </a:rPr>
              <a:t>): David </a:t>
            </a:r>
            <a:r>
              <a:rPr lang="en-US" altLang="zh-TW" sz="5600" b="1" dirty="0" err="1" smtClean="0">
                <a:latin typeface="微軟正黑體" panose="020B0604030504040204" pitchFamily="34" charset="-120"/>
                <a:ea typeface="微軟正黑體" panose="020B0604030504040204" pitchFamily="34" charset="-120"/>
              </a:rPr>
              <a:t>Sankoff</a:t>
            </a:r>
            <a:endParaRPr lang="en-US" altLang="zh-TW" sz="5600" b="1" dirty="0" smtClean="0">
              <a:latin typeface="微軟正黑體" panose="020B0604030504040204" pitchFamily="34" charset="-120"/>
              <a:ea typeface="微軟正黑體" panose="020B0604030504040204" pitchFamily="34" charset="-120"/>
            </a:endParaRPr>
          </a:p>
          <a:p>
            <a:pPr algn="r"/>
            <a:r>
              <a:rPr lang="en-US" altLang="zh-TW" sz="5600" b="1" dirty="0" smtClean="0">
                <a:latin typeface="微軟正黑體" panose="020B0604030504040204" pitchFamily="34" charset="-120"/>
                <a:ea typeface="微軟正黑體" panose="020B0604030504040204" pitchFamily="34" charset="-120"/>
              </a:rPr>
              <a:t>Source</a:t>
            </a:r>
            <a:r>
              <a:rPr lang="en-US" altLang="zh-TW" sz="5600" b="1" dirty="0">
                <a:latin typeface="微軟正黑體" panose="020B0604030504040204" pitchFamily="34" charset="-120"/>
                <a:ea typeface="微軟正黑體" panose="020B0604030504040204" pitchFamily="34" charset="-120"/>
              </a:rPr>
              <a:t>: </a:t>
            </a:r>
            <a:r>
              <a:rPr lang="en-US" altLang="zh-TW" sz="5600" b="1" dirty="0" smtClean="0">
                <a:latin typeface="微軟正黑體" panose="020B0604030504040204" pitchFamily="34" charset="-120"/>
                <a:ea typeface="微軟正黑體" panose="020B0604030504040204" pitchFamily="34" charset="-120"/>
              </a:rPr>
              <a:t>SIAM </a:t>
            </a:r>
            <a:r>
              <a:rPr lang="en-US" altLang="zh-TW" sz="5600" b="1" dirty="0">
                <a:latin typeface="微軟正黑體" panose="020B0604030504040204" pitchFamily="34" charset="-120"/>
                <a:ea typeface="微軟正黑體" panose="020B0604030504040204" pitchFamily="34" charset="-120"/>
              </a:rPr>
              <a:t>Journal on Applied Mathematics, </a:t>
            </a:r>
            <a:endParaRPr lang="en-US" altLang="zh-TW" sz="5600" b="1" dirty="0" smtClean="0">
              <a:latin typeface="微軟正黑體" panose="020B0604030504040204" pitchFamily="34" charset="-120"/>
              <a:ea typeface="微軟正黑體" panose="020B0604030504040204" pitchFamily="34" charset="-120"/>
            </a:endParaRPr>
          </a:p>
          <a:p>
            <a:pPr algn="r"/>
            <a:r>
              <a:rPr lang="en-US" altLang="zh-TW" sz="5600" b="1" dirty="0" smtClean="0">
                <a:latin typeface="微軟正黑體" panose="020B0604030504040204" pitchFamily="34" charset="-120"/>
                <a:ea typeface="微軟正黑體" panose="020B0604030504040204" pitchFamily="34" charset="-120"/>
              </a:rPr>
              <a:t>Vol</a:t>
            </a:r>
            <a:r>
              <a:rPr lang="en-US" altLang="zh-TW" sz="5600" b="1" dirty="0">
                <a:latin typeface="微軟正黑體" panose="020B0604030504040204" pitchFamily="34" charset="-120"/>
                <a:ea typeface="微軟正黑體" panose="020B0604030504040204" pitchFamily="34" charset="-120"/>
              </a:rPr>
              <a:t>. 28, No. 1 (Jan., 1975), pp. </a:t>
            </a:r>
            <a:r>
              <a:rPr lang="en-US" altLang="zh-TW" sz="5600" b="1" dirty="0" smtClean="0">
                <a:latin typeface="微軟正黑體" panose="020B0604030504040204" pitchFamily="34" charset="-120"/>
                <a:ea typeface="微軟正黑體" panose="020B0604030504040204" pitchFamily="34" charset="-120"/>
              </a:rPr>
              <a:t>35-42</a:t>
            </a:r>
          </a:p>
          <a:p>
            <a:pPr algn="r"/>
            <a:r>
              <a:rPr lang="en-US" altLang="zh-TW" sz="5600" b="1" dirty="0" smtClean="0">
                <a:latin typeface="微軟正黑體" panose="020B0604030504040204" pitchFamily="34" charset="-120"/>
                <a:ea typeface="微軟正黑體" panose="020B0604030504040204" pitchFamily="34" charset="-120"/>
              </a:rPr>
              <a:t>presenter</a:t>
            </a:r>
            <a:r>
              <a:rPr lang="en-US" altLang="zh-TW" sz="5600" b="1" dirty="0" smtClean="0">
                <a:latin typeface="微軟正黑體" panose="020B0604030504040204" pitchFamily="34" charset="-120"/>
                <a:ea typeface="微軟正黑體" panose="020B0604030504040204" pitchFamily="34" charset="-120"/>
              </a:rPr>
              <a:t>: Ding-Yao , </a:t>
            </a:r>
            <a:r>
              <a:rPr lang="en-US" altLang="zh-TW" sz="5600" b="1" dirty="0" smtClean="0">
                <a:latin typeface="微軟正黑體" panose="020B0604030504040204" pitchFamily="34" charset="-120"/>
                <a:ea typeface="微軟正黑體" panose="020B0604030504040204" pitchFamily="34" charset="-120"/>
              </a:rPr>
              <a:t>Huang</a:t>
            </a:r>
          </a:p>
          <a:p>
            <a:pPr algn="r"/>
            <a:r>
              <a:rPr lang="en-US" altLang="zh-TW" sz="5600" b="1" dirty="0" smtClean="0">
                <a:latin typeface="微軟正黑體" panose="020B0604030504040204" pitchFamily="34" charset="-120"/>
                <a:ea typeface="微軟正黑體" panose="020B0604030504040204" pitchFamily="34" charset="-120"/>
              </a:rPr>
              <a:t>Date:2013/12/4</a:t>
            </a:r>
            <a:endParaRPr lang="en-US" altLang="zh-TW" sz="5600" b="1" dirty="0" smtClean="0">
              <a:latin typeface="微軟正黑體" panose="020B0604030504040204" pitchFamily="34" charset="-120"/>
              <a:ea typeface="微軟正黑體" panose="020B0604030504040204" pitchFamily="34" charset="-120"/>
            </a:endParaRPr>
          </a:p>
          <a:p>
            <a:pPr algn="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xmlns="" val="14925564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Abstrac</a:t>
            </a:r>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a:xfrm>
            <a:off x="1336184" y="2160271"/>
            <a:ext cx="6375043" cy="3040381"/>
          </a:xfrm>
        </p:spPr>
        <p:txBody>
          <a:bodyPr>
            <a:normAutofit/>
          </a:bodyPr>
          <a:lstStyle/>
          <a:p>
            <a:r>
              <a:rPr lang="en-US" altLang="zh-TW" sz="2100" b="1" dirty="0"/>
              <a:t>Given a finite tree, some of whose vertices are identified with given finite sequences, we show how to construct sequences for all the remaining vertices simultaneously, so as to minimize the total edge-length of the tree.</a:t>
            </a:r>
          </a:p>
          <a:p>
            <a:endParaRPr lang="en-US" altLang="zh-TW" sz="2100" b="1" dirty="0"/>
          </a:p>
          <a:p>
            <a:r>
              <a:rPr lang="en-US" altLang="zh-TW" sz="2100" b="1" dirty="0"/>
              <a:t>Edge-length is calculated by a metric whose biological significance is the mutational distance between two sequences</a:t>
            </a:r>
            <a:r>
              <a:rPr lang="en-US" altLang="zh-TW" sz="1800" b="1" dirty="0"/>
              <a:t>. </a:t>
            </a:r>
            <a:endParaRPr lang="zh-TW" altLang="en-US" sz="1800" b="1" dirty="0"/>
          </a:p>
        </p:txBody>
      </p:sp>
    </p:spTree>
    <p:extLst>
      <p:ext uri="{BB962C8B-B14F-4D97-AF65-F5344CB8AC3E}">
        <p14:creationId xmlns:p14="http://schemas.microsoft.com/office/powerpoint/2010/main" xmlns="" val="36941133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2883256" y="2006059"/>
            <a:ext cx="676590" cy="68538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800" dirty="0"/>
              <a:t>x</a:t>
            </a:r>
            <a:endParaRPr lang="zh-TW" altLang="en-US" sz="2800" dirty="0"/>
          </a:p>
        </p:txBody>
      </p:sp>
      <p:sp>
        <p:nvSpPr>
          <p:cNvPr id="5" name="橢圓 4"/>
          <p:cNvSpPr/>
          <p:nvPr/>
        </p:nvSpPr>
        <p:spPr>
          <a:xfrm>
            <a:off x="2260241" y="2897029"/>
            <a:ext cx="669703" cy="67527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800" dirty="0"/>
              <a:t>z</a:t>
            </a:r>
            <a:endParaRPr lang="zh-TW" altLang="en-US" sz="2800" dirty="0"/>
          </a:p>
        </p:txBody>
      </p:sp>
      <p:sp>
        <p:nvSpPr>
          <p:cNvPr id="6" name="橢圓 5"/>
          <p:cNvSpPr/>
          <p:nvPr/>
        </p:nvSpPr>
        <p:spPr>
          <a:xfrm>
            <a:off x="3593206" y="2897030"/>
            <a:ext cx="687035" cy="67527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800" dirty="0"/>
              <a:t>y</a:t>
            </a:r>
            <a:endParaRPr lang="zh-TW" altLang="en-US" sz="2800" dirty="0"/>
          </a:p>
        </p:txBody>
      </p:sp>
      <p:cxnSp>
        <p:nvCxnSpPr>
          <p:cNvPr id="11" name="直線接點 10"/>
          <p:cNvCxnSpPr>
            <a:stCxn id="4" idx="5"/>
            <a:endCxn id="6" idx="1"/>
          </p:cNvCxnSpPr>
          <p:nvPr/>
        </p:nvCxnSpPr>
        <p:spPr>
          <a:xfrm>
            <a:off x="3460762" y="2591073"/>
            <a:ext cx="233058" cy="404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接點 11"/>
          <p:cNvCxnSpPr>
            <a:endCxn id="5" idx="7"/>
          </p:cNvCxnSpPr>
          <p:nvPr/>
        </p:nvCxnSpPr>
        <p:spPr>
          <a:xfrm flipH="1">
            <a:off x="2831868" y="2644766"/>
            <a:ext cx="310556" cy="35115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3503855" y="2552946"/>
            <a:ext cx="378317" cy="300082"/>
          </a:xfrm>
          <a:prstGeom prst="rect">
            <a:avLst/>
          </a:prstGeom>
          <a:noFill/>
        </p:spPr>
        <p:txBody>
          <a:bodyPr wrap="square" rtlCol="0">
            <a:spAutoFit/>
          </a:bodyPr>
          <a:lstStyle/>
          <a:p>
            <a:r>
              <a:rPr lang="en-US" altLang="zh-TW" sz="1350" dirty="0"/>
              <a:t>2</a:t>
            </a:r>
            <a:endParaRPr lang="zh-TW" altLang="en-US" sz="1350" dirty="0"/>
          </a:p>
        </p:txBody>
      </p:sp>
      <p:cxnSp>
        <p:nvCxnSpPr>
          <p:cNvPr id="20" name="直線接點 19"/>
          <p:cNvCxnSpPr>
            <a:stCxn id="6" idx="3"/>
            <a:endCxn id="21" idx="7"/>
          </p:cNvCxnSpPr>
          <p:nvPr/>
        </p:nvCxnSpPr>
        <p:spPr>
          <a:xfrm flipH="1">
            <a:off x="3470320" y="3473412"/>
            <a:ext cx="223500" cy="538200"/>
          </a:xfrm>
          <a:prstGeom prst="line">
            <a:avLst/>
          </a:prstGeom>
        </p:spPr>
        <p:style>
          <a:lnRef idx="1">
            <a:schemeClr val="accent1"/>
          </a:lnRef>
          <a:fillRef idx="0">
            <a:schemeClr val="accent1"/>
          </a:fillRef>
          <a:effectRef idx="0">
            <a:schemeClr val="accent1"/>
          </a:effectRef>
          <a:fontRef idx="minor">
            <a:schemeClr val="tx1"/>
          </a:fontRef>
        </p:style>
      </p:cxnSp>
      <p:sp>
        <p:nvSpPr>
          <p:cNvPr id="21" name="橢圓 20"/>
          <p:cNvSpPr/>
          <p:nvPr/>
        </p:nvSpPr>
        <p:spPr>
          <a:xfrm>
            <a:off x="2883256" y="3920032"/>
            <a:ext cx="687788" cy="6253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800" dirty="0"/>
              <a:t>z</a:t>
            </a:r>
            <a:endParaRPr lang="zh-TW" altLang="en-US" sz="2800" dirty="0"/>
          </a:p>
        </p:txBody>
      </p:sp>
      <p:sp>
        <p:nvSpPr>
          <p:cNvPr id="26" name="文字方塊 25"/>
          <p:cNvSpPr txBox="1"/>
          <p:nvPr/>
        </p:nvSpPr>
        <p:spPr>
          <a:xfrm>
            <a:off x="3261569" y="3073063"/>
            <a:ext cx="242286" cy="300082"/>
          </a:xfrm>
          <a:prstGeom prst="rect">
            <a:avLst/>
          </a:prstGeom>
          <a:noFill/>
        </p:spPr>
        <p:txBody>
          <a:bodyPr wrap="square" rtlCol="0">
            <a:spAutoFit/>
          </a:bodyPr>
          <a:lstStyle/>
          <a:p>
            <a:r>
              <a:rPr lang="en-US" altLang="zh-TW" sz="1350" dirty="0"/>
              <a:t>2</a:t>
            </a:r>
            <a:endParaRPr lang="zh-TW" altLang="en-US" sz="1350" dirty="0"/>
          </a:p>
        </p:txBody>
      </p:sp>
      <p:sp>
        <p:nvSpPr>
          <p:cNvPr id="27" name="文字方塊 26"/>
          <p:cNvSpPr txBox="1"/>
          <p:nvPr/>
        </p:nvSpPr>
        <p:spPr>
          <a:xfrm>
            <a:off x="2788677" y="2552946"/>
            <a:ext cx="378317" cy="300082"/>
          </a:xfrm>
          <a:prstGeom prst="rect">
            <a:avLst/>
          </a:prstGeom>
          <a:noFill/>
        </p:spPr>
        <p:txBody>
          <a:bodyPr wrap="square" rtlCol="0">
            <a:spAutoFit/>
          </a:bodyPr>
          <a:lstStyle/>
          <a:p>
            <a:r>
              <a:rPr lang="en-US" altLang="zh-TW" sz="1350" dirty="0"/>
              <a:t>1</a:t>
            </a:r>
            <a:endParaRPr lang="zh-TW" altLang="en-US" sz="1350" dirty="0"/>
          </a:p>
        </p:txBody>
      </p:sp>
      <p:sp>
        <p:nvSpPr>
          <p:cNvPr id="29" name="文字方塊 28"/>
          <p:cNvSpPr txBox="1"/>
          <p:nvPr/>
        </p:nvSpPr>
        <p:spPr>
          <a:xfrm>
            <a:off x="5270727" y="2118956"/>
            <a:ext cx="3267966" cy="954107"/>
          </a:xfrm>
          <a:prstGeom prst="rect">
            <a:avLst/>
          </a:prstGeom>
          <a:noFill/>
        </p:spPr>
        <p:txBody>
          <a:bodyPr wrap="square" rtlCol="0">
            <a:spAutoFit/>
          </a:bodyPr>
          <a:lstStyle/>
          <a:p>
            <a:r>
              <a:rPr lang="zh-TW" altLang="en-US" sz="2800" dirty="0"/>
              <a:t>原本只有</a:t>
            </a:r>
            <a:r>
              <a:rPr lang="en-US" altLang="zh-TW" sz="2800" dirty="0" err="1"/>
              <a:t>x,y</a:t>
            </a:r>
            <a:r>
              <a:rPr lang="zh-TW" altLang="en-US" sz="2800" dirty="0"/>
              <a:t>兩個</a:t>
            </a:r>
            <a:r>
              <a:rPr lang="en-US" altLang="zh-TW" sz="2800" dirty="0"/>
              <a:t>sequence</a:t>
            </a:r>
            <a:r>
              <a:rPr lang="zh-TW" altLang="en-US" sz="2800" dirty="0"/>
              <a:t>，</a:t>
            </a:r>
            <a:r>
              <a:rPr lang="en-US" altLang="zh-TW" sz="2800" dirty="0"/>
              <a:t>d(</a:t>
            </a:r>
            <a:r>
              <a:rPr lang="en-US" altLang="zh-TW" sz="2800" dirty="0" err="1"/>
              <a:t>x,y</a:t>
            </a:r>
            <a:r>
              <a:rPr lang="en-US" altLang="zh-TW" sz="2800" dirty="0"/>
              <a:t>)=2</a:t>
            </a:r>
            <a:endParaRPr lang="zh-TW" altLang="en-US" sz="2800" dirty="0"/>
          </a:p>
        </p:txBody>
      </p:sp>
      <p:sp>
        <p:nvSpPr>
          <p:cNvPr id="30" name="文字方塊 29"/>
          <p:cNvSpPr txBox="1"/>
          <p:nvPr/>
        </p:nvSpPr>
        <p:spPr>
          <a:xfrm>
            <a:off x="5270727" y="3920032"/>
            <a:ext cx="3267966" cy="1384995"/>
          </a:xfrm>
          <a:prstGeom prst="rect">
            <a:avLst/>
          </a:prstGeom>
          <a:noFill/>
        </p:spPr>
        <p:txBody>
          <a:bodyPr wrap="square" rtlCol="0">
            <a:spAutoFit/>
          </a:bodyPr>
          <a:lstStyle/>
          <a:p>
            <a:r>
              <a:rPr lang="zh-TW" altLang="en-US" sz="2800" dirty="0"/>
              <a:t>從剩下的</a:t>
            </a:r>
            <a:r>
              <a:rPr lang="en-US" altLang="zh-TW" sz="2800" dirty="0"/>
              <a:t>sequence</a:t>
            </a:r>
            <a:r>
              <a:rPr lang="zh-TW" altLang="en-US" sz="2800" dirty="0"/>
              <a:t>挑</a:t>
            </a:r>
            <a:r>
              <a:rPr lang="en-US" altLang="zh-TW" sz="2800" dirty="0"/>
              <a:t>z</a:t>
            </a:r>
            <a:r>
              <a:rPr lang="zh-TW" altLang="en-US" sz="2800" dirty="0"/>
              <a:t>，再來決定放哪個位子好</a:t>
            </a:r>
          </a:p>
        </p:txBody>
      </p:sp>
    </p:spTree>
    <p:extLst>
      <p:ext uri="{BB962C8B-B14F-4D97-AF65-F5344CB8AC3E}">
        <p14:creationId xmlns:p14="http://schemas.microsoft.com/office/powerpoint/2010/main" xmlns="" val="407097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6"/>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P spid="21" grpId="1" animBg="1"/>
      <p:bldP spid="26" grpId="0"/>
      <p:bldP spid="26" grpId="1"/>
      <p:bldP spid="27"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mj-ea"/>
              </a:rPr>
              <a:t>Introduction</a:t>
            </a:r>
            <a:endParaRPr lang="zh-TW" altLang="en-US" dirty="0"/>
          </a:p>
        </p:txBody>
      </p:sp>
      <p:sp>
        <p:nvSpPr>
          <p:cNvPr id="3" name="內容版面配置區 2"/>
          <p:cNvSpPr>
            <a:spLocks noGrp="1"/>
          </p:cNvSpPr>
          <p:nvPr>
            <p:ph idx="1"/>
          </p:nvPr>
        </p:nvSpPr>
        <p:spPr>
          <a:xfrm>
            <a:off x="1657009" y="3743818"/>
            <a:ext cx="5823992" cy="3044063"/>
          </a:xfrm>
        </p:spPr>
        <p:txBody>
          <a:bodyPr>
            <a:normAutofit/>
          </a:bodyPr>
          <a:lstStyle/>
          <a:p>
            <a:r>
              <a:rPr lang="en-US" altLang="zh-TW" sz="2100" b="1" dirty="0"/>
              <a:t>Ex:  x=(</a:t>
            </a:r>
            <a:r>
              <a:rPr lang="en-US" altLang="zh-TW" sz="2100" b="1" dirty="0">
                <a:solidFill>
                  <a:srgbClr val="FF0000"/>
                </a:solidFill>
              </a:rPr>
              <a:t>1</a:t>
            </a:r>
            <a:r>
              <a:rPr lang="en-US" altLang="zh-TW" sz="2100" b="1" dirty="0"/>
              <a:t>,1,</a:t>
            </a:r>
            <a:r>
              <a:rPr lang="en-US" altLang="zh-TW" sz="2100" b="1" dirty="0">
                <a:solidFill>
                  <a:srgbClr val="00B050"/>
                </a:solidFill>
              </a:rPr>
              <a:t>0</a:t>
            </a:r>
            <a:r>
              <a:rPr lang="en-US" altLang="zh-TW" sz="2100" b="1" dirty="0"/>
              <a:t>,</a:t>
            </a:r>
            <a:r>
              <a:rPr lang="en-US" altLang="zh-TW" sz="2100" b="1" dirty="0">
                <a:solidFill>
                  <a:srgbClr val="00B0F0"/>
                </a:solidFill>
              </a:rPr>
              <a:t>1</a:t>
            </a:r>
            <a:r>
              <a:rPr lang="en-US" altLang="zh-TW" sz="2100" b="1" dirty="0"/>
              <a:t>),y=(</a:t>
            </a:r>
            <a:r>
              <a:rPr lang="en-US" altLang="zh-TW" sz="2100" b="1" dirty="0">
                <a:solidFill>
                  <a:srgbClr val="FF0000"/>
                </a:solidFill>
              </a:rPr>
              <a:t>1</a:t>
            </a:r>
            <a:r>
              <a:rPr lang="en-US" altLang="zh-TW" sz="2100" b="1" dirty="0"/>
              <a:t>,0,</a:t>
            </a:r>
            <a:r>
              <a:rPr lang="en-US" altLang="zh-TW" sz="2100" b="1" dirty="0">
                <a:solidFill>
                  <a:srgbClr val="00B050"/>
                </a:solidFill>
              </a:rPr>
              <a:t>0</a:t>
            </a:r>
            <a:r>
              <a:rPr lang="en-US" altLang="zh-TW" sz="2100" b="1" dirty="0"/>
              <a:t>,1,</a:t>
            </a:r>
            <a:r>
              <a:rPr lang="en-US" altLang="zh-TW" sz="2100" b="1" dirty="0">
                <a:solidFill>
                  <a:srgbClr val="00B0F0"/>
                </a:solidFill>
              </a:rPr>
              <a:t>1</a:t>
            </a:r>
            <a:r>
              <a:rPr lang="en-US" altLang="zh-TW" sz="2100" b="1" dirty="0"/>
              <a:t>)</a:t>
            </a:r>
          </a:p>
          <a:p>
            <a:r>
              <a:rPr lang="en-US" altLang="zh-TW" sz="2100" b="1" dirty="0"/>
              <a:t>d(x,y)=4+5-max(2+1+2+2)=2</a:t>
            </a:r>
            <a:endParaRPr lang="zh-TW" altLang="en-US" sz="2100" b="1" dirty="0"/>
          </a:p>
        </p:txBody>
      </p:sp>
      <p:pic>
        <p:nvPicPr>
          <p:cNvPr id="5" name="圖片 4"/>
          <p:cNvPicPr>
            <a:picLocks noChangeAspect="1"/>
          </p:cNvPicPr>
          <p:nvPr/>
        </p:nvPicPr>
        <p:blipFill>
          <a:blip r:embed="rId2" cstate="print"/>
          <a:stretch>
            <a:fillRect/>
          </a:stretch>
        </p:blipFill>
        <p:spPr>
          <a:xfrm>
            <a:off x="1657009" y="2170895"/>
            <a:ext cx="5823992" cy="977184"/>
          </a:xfrm>
          <a:prstGeom prst="rect">
            <a:avLst/>
          </a:prstGeom>
        </p:spPr>
      </p:pic>
      <p:pic>
        <p:nvPicPr>
          <p:cNvPr id="6" name="圖片 5"/>
          <p:cNvPicPr>
            <a:picLocks noChangeAspect="1"/>
          </p:cNvPicPr>
          <p:nvPr/>
        </p:nvPicPr>
        <p:blipFill>
          <a:blip r:embed="rId3" cstate="print"/>
          <a:stretch>
            <a:fillRect/>
          </a:stretch>
        </p:blipFill>
        <p:spPr>
          <a:xfrm>
            <a:off x="1657010" y="2170896"/>
            <a:ext cx="895254" cy="255787"/>
          </a:xfrm>
          <a:prstGeom prst="rect">
            <a:avLst/>
          </a:prstGeom>
        </p:spPr>
      </p:pic>
      <p:pic>
        <p:nvPicPr>
          <p:cNvPr id="7" name="圖片 6"/>
          <p:cNvPicPr>
            <a:picLocks noChangeAspect="1"/>
          </p:cNvPicPr>
          <p:nvPr/>
        </p:nvPicPr>
        <p:blipFill>
          <a:blip r:embed="rId4" cstate="print"/>
          <a:stretch>
            <a:fillRect/>
          </a:stretch>
        </p:blipFill>
        <p:spPr>
          <a:xfrm>
            <a:off x="1657009" y="3115876"/>
            <a:ext cx="5823992" cy="392906"/>
          </a:xfrm>
          <a:prstGeom prst="rect">
            <a:avLst/>
          </a:prstGeom>
        </p:spPr>
      </p:pic>
    </p:spTree>
    <p:extLst>
      <p:ext uri="{BB962C8B-B14F-4D97-AF65-F5344CB8AC3E}">
        <p14:creationId xmlns:p14="http://schemas.microsoft.com/office/powerpoint/2010/main" xmlns="" val="2321331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mj-ea"/>
              </a:rPr>
              <a:t>Introduction</a:t>
            </a:r>
            <a:endParaRPr lang="zh-TW" altLang="en-US" dirty="0"/>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xmlns="" val="437214081"/>
              </p:ext>
            </p:extLst>
          </p:nvPr>
        </p:nvGraphicFramePr>
        <p:xfrm>
          <a:off x="2530460" y="3590789"/>
          <a:ext cx="4950539" cy="2289220"/>
        </p:xfrm>
        <a:graphic>
          <a:graphicData uri="http://schemas.openxmlformats.org/drawingml/2006/table">
            <a:tbl>
              <a:tblPr firstRow="1" firstCol="1" bandRow="1">
                <a:tableStyleId>{5C22544A-7EE6-4342-B048-85BDC9FD1C3A}</a:tableStyleId>
              </a:tblPr>
              <a:tblGrid>
                <a:gridCol w="1067765"/>
                <a:gridCol w="647129"/>
                <a:gridCol w="647129"/>
                <a:gridCol w="647129"/>
                <a:gridCol w="647129"/>
                <a:gridCol w="647129"/>
                <a:gridCol w="647129"/>
              </a:tblGrid>
              <a:tr h="386898">
                <a:tc>
                  <a:txBody>
                    <a:bodyPr/>
                    <a:lstStyle/>
                    <a:p>
                      <a:pPr algn="r">
                        <a:spcAft>
                          <a:spcPts val="0"/>
                        </a:spcAft>
                      </a:pPr>
                      <a:r>
                        <a:rPr lang="en-US" sz="1800" kern="100" dirty="0">
                          <a:effectLst/>
                        </a:rPr>
                        <a:t>Row/Col</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70814">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70814">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bl>
          </a:graphicData>
        </a:graphic>
      </p:graphicFrame>
      <p:pic>
        <p:nvPicPr>
          <p:cNvPr id="7" name="圖片 6"/>
          <p:cNvPicPr>
            <a:picLocks noChangeAspect="1"/>
          </p:cNvPicPr>
          <p:nvPr/>
        </p:nvPicPr>
        <p:blipFill>
          <a:blip r:embed="rId2" cstate="print"/>
          <a:stretch>
            <a:fillRect/>
          </a:stretch>
        </p:blipFill>
        <p:spPr>
          <a:xfrm>
            <a:off x="1657009" y="2126705"/>
            <a:ext cx="5823992" cy="990788"/>
          </a:xfrm>
          <a:prstGeom prst="rect">
            <a:avLst/>
          </a:prstGeom>
        </p:spPr>
      </p:pic>
      <p:pic>
        <p:nvPicPr>
          <p:cNvPr id="9" name="圖片 8"/>
          <p:cNvPicPr/>
          <p:nvPr/>
        </p:nvPicPr>
        <p:blipFill>
          <a:blip r:embed="rId3" cstate="print">
            <a:extLst>
              <a:ext uri="{28A0092B-C50C-407E-A947-70E740481C1C}">
                <a14:useLocalDpi xmlns:a14="http://schemas.microsoft.com/office/drawing/2010/main" xmlns="" val="0"/>
              </a:ext>
            </a:extLst>
          </a:blip>
          <a:stretch>
            <a:fillRect/>
          </a:stretch>
        </p:blipFill>
        <p:spPr>
          <a:xfrm>
            <a:off x="4293694" y="3201908"/>
            <a:ext cx="3187308" cy="321269"/>
          </a:xfrm>
          <a:prstGeom prst="rect">
            <a:avLst/>
          </a:prstGeom>
        </p:spPr>
      </p:pic>
      <p:pic>
        <p:nvPicPr>
          <p:cNvPr id="10" name="圖片 9"/>
          <p:cNvPicPr/>
          <p:nvPr/>
        </p:nvPicPr>
        <p:blipFill>
          <a:blip r:embed="rId4" cstate="print">
            <a:extLst>
              <a:ext uri="{28A0092B-C50C-407E-A947-70E740481C1C}">
                <a14:useLocalDpi xmlns:a14="http://schemas.microsoft.com/office/drawing/2010/main" xmlns="" val="0"/>
              </a:ext>
            </a:extLst>
          </a:blip>
          <a:stretch>
            <a:fillRect/>
          </a:stretch>
        </p:blipFill>
        <p:spPr>
          <a:xfrm>
            <a:off x="1657011" y="4385205"/>
            <a:ext cx="710137" cy="1523783"/>
          </a:xfrm>
          <a:prstGeom prst="rect">
            <a:avLst/>
          </a:prstGeom>
        </p:spPr>
      </p:pic>
      <p:sp>
        <p:nvSpPr>
          <p:cNvPr id="4" name="框架 3"/>
          <p:cNvSpPr/>
          <p:nvPr/>
        </p:nvSpPr>
        <p:spPr>
          <a:xfrm>
            <a:off x="4293694" y="3201908"/>
            <a:ext cx="667328" cy="321269"/>
          </a:xfrm>
          <a:prstGeom prst="fram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solidFill>
                <a:schemeClr val="tx1"/>
              </a:solidFill>
            </a:endParaRPr>
          </a:p>
        </p:txBody>
      </p:sp>
      <p:sp>
        <p:nvSpPr>
          <p:cNvPr id="11" name="框架 10"/>
          <p:cNvSpPr/>
          <p:nvPr/>
        </p:nvSpPr>
        <p:spPr>
          <a:xfrm>
            <a:off x="1657010" y="4385205"/>
            <a:ext cx="710137" cy="384003"/>
          </a:xfrm>
          <a:prstGeom prst="fram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solidFill>
                <a:schemeClr val="tx1"/>
              </a:solidFill>
            </a:endParaRPr>
          </a:p>
        </p:txBody>
      </p:sp>
      <p:sp>
        <p:nvSpPr>
          <p:cNvPr id="12" name="框架 11"/>
          <p:cNvSpPr/>
          <p:nvPr/>
        </p:nvSpPr>
        <p:spPr>
          <a:xfrm>
            <a:off x="4293695" y="4348932"/>
            <a:ext cx="597058" cy="384003"/>
          </a:xfrm>
          <a:prstGeom prst="fram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solidFill>
                <a:schemeClr val="tx1"/>
              </a:solidFill>
            </a:endParaRPr>
          </a:p>
        </p:txBody>
      </p:sp>
      <p:sp>
        <p:nvSpPr>
          <p:cNvPr id="5" name="框架 4"/>
          <p:cNvSpPr/>
          <p:nvPr/>
        </p:nvSpPr>
        <p:spPr>
          <a:xfrm flipH="1">
            <a:off x="4961022" y="3217563"/>
            <a:ext cx="615531" cy="32126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6" name="框架 5"/>
          <p:cNvSpPr/>
          <p:nvPr/>
        </p:nvSpPr>
        <p:spPr>
          <a:xfrm>
            <a:off x="1657010" y="4769208"/>
            <a:ext cx="710137" cy="37789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3" name="框架 12"/>
          <p:cNvSpPr/>
          <p:nvPr/>
        </p:nvSpPr>
        <p:spPr>
          <a:xfrm>
            <a:off x="4890753" y="4764754"/>
            <a:ext cx="615530" cy="34773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4" name="框架 13"/>
          <p:cNvSpPr/>
          <p:nvPr/>
        </p:nvSpPr>
        <p:spPr>
          <a:xfrm>
            <a:off x="6851561" y="3201908"/>
            <a:ext cx="629440" cy="330204"/>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sz="1350">
              <a:solidFill>
                <a:schemeClr val="tx1"/>
              </a:solidFill>
            </a:endParaRPr>
          </a:p>
        </p:txBody>
      </p:sp>
      <p:sp>
        <p:nvSpPr>
          <p:cNvPr id="15" name="框架 14"/>
          <p:cNvSpPr/>
          <p:nvPr/>
        </p:nvSpPr>
        <p:spPr>
          <a:xfrm>
            <a:off x="1657008" y="5493644"/>
            <a:ext cx="710138" cy="415344"/>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sz="1350">
              <a:solidFill>
                <a:schemeClr val="tx1"/>
              </a:solidFill>
            </a:endParaRPr>
          </a:p>
        </p:txBody>
      </p:sp>
      <p:sp>
        <p:nvSpPr>
          <p:cNvPr id="16" name="框架 15"/>
          <p:cNvSpPr/>
          <p:nvPr/>
        </p:nvSpPr>
        <p:spPr>
          <a:xfrm>
            <a:off x="6851561" y="5493644"/>
            <a:ext cx="629440" cy="376707"/>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sz="1350">
              <a:solidFill>
                <a:schemeClr val="tx1"/>
              </a:solidFill>
            </a:endParaRPr>
          </a:p>
        </p:txBody>
      </p:sp>
    </p:spTree>
    <p:extLst>
      <p:ext uri="{BB962C8B-B14F-4D97-AF65-F5344CB8AC3E}">
        <p14:creationId xmlns:p14="http://schemas.microsoft.com/office/powerpoint/2010/main" xmlns="" val="318118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presetID="1" presetClass="exit" presetSubtype="0" fill="hold" grpId="1" nodeType="withEffect">
                                  <p:stCondLst>
                                    <p:cond delay="0"/>
                                  </p:stCondLst>
                                  <p:childTnLst>
                                    <p:set>
                                      <p:cBhvr>
                                        <p:cTn id="19" dur="1" fill="hold">
                                          <p:stCondLst>
                                            <p:cond delay="0"/>
                                          </p:stCondLst>
                                        </p:cTn>
                                        <p:tgtEl>
                                          <p:spTgt spid="12"/>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6"/>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1" grpId="0" animBg="1"/>
      <p:bldP spid="11" grpId="1" animBg="1"/>
      <p:bldP spid="12" grpId="0" animBg="1"/>
      <p:bldP spid="12" grpId="1" animBg="1"/>
      <p:bldP spid="5" grpId="0" animBg="1"/>
      <p:bldP spid="5" grpId="1" animBg="1"/>
      <p:bldP spid="6" grpId="0" animBg="1"/>
      <p:bldP spid="6" grpId="1" animBg="1"/>
      <p:bldP spid="13" grpId="0" animBg="1"/>
      <p:bldP spid="13" grpId="1"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solidFill>
                  <a:schemeClr val="accent2">
                    <a:lumMod val="75000"/>
                  </a:schemeClr>
                </a:solidFill>
                <a:latin typeface="+mj-ea"/>
              </a:rPr>
              <a:t>The frame sequence of a tree of sequences </a:t>
            </a:r>
            <a:endParaRPr lang="zh-TW" altLang="en-US" b="1" dirty="0">
              <a:solidFill>
                <a:schemeClr val="accent2">
                  <a:lumMod val="75000"/>
                </a:schemeClr>
              </a:solidFill>
              <a:latin typeface="+mj-ea"/>
            </a:endParaRPr>
          </a:p>
        </p:txBody>
      </p:sp>
      <p:sp>
        <p:nvSpPr>
          <p:cNvPr id="3" name="內容版面配置區 2"/>
          <p:cNvSpPr>
            <a:spLocks noGrp="1"/>
          </p:cNvSpPr>
          <p:nvPr>
            <p:ph idx="1"/>
          </p:nvPr>
        </p:nvSpPr>
        <p:spPr>
          <a:xfrm>
            <a:off x="1184856" y="1737361"/>
            <a:ext cx="7289443" cy="3949879"/>
          </a:xfrm>
        </p:spPr>
        <p:txBody>
          <a:bodyPr>
            <a:normAutofit/>
          </a:bodyPr>
          <a:lstStyle/>
          <a:p>
            <a:endParaRPr lang="en-US" altLang="zh-TW" dirty="0" smtClean="0"/>
          </a:p>
          <a:p>
            <a:endParaRPr lang="en-US" altLang="zh-TW" dirty="0"/>
          </a:p>
          <a:p>
            <a:pPr marL="27675" indent="0">
              <a:buNone/>
            </a:pPr>
            <a:endParaRPr lang="en-US" altLang="zh-TW" b="1" dirty="0" smtClean="0"/>
          </a:p>
          <a:p>
            <a:pPr marL="27675" indent="0">
              <a:buNone/>
            </a:pPr>
            <a:r>
              <a:rPr lang="en-US" altLang="zh-TW" sz="2100" b="1" dirty="0"/>
              <a:t>   </a:t>
            </a:r>
          </a:p>
          <a:p>
            <a:pPr marL="27675" indent="0">
              <a:buNone/>
            </a:pPr>
            <a:endParaRPr lang="en-US" altLang="zh-TW" sz="2100" b="1" dirty="0"/>
          </a:p>
          <a:p>
            <a:pPr marL="27675" indent="0">
              <a:buNone/>
            </a:pPr>
            <a:r>
              <a:rPr lang="en-US" altLang="zh-TW" sz="2100" b="1" dirty="0"/>
              <a:t>												  </a:t>
            </a:r>
          </a:p>
          <a:p>
            <a:pPr marL="27675" indent="0">
              <a:buNone/>
            </a:pPr>
            <a:endParaRPr lang="zh-TW" altLang="en-US" dirty="0"/>
          </a:p>
        </p:txBody>
      </p:sp>
      <p:pic>
        <p:nvPicPr>
          <p:cNvPr id="15" name="圖片 14"/>
          <p:cNvPicPr>
            <a:picLocks noChangeAspect="1"/>
          </p:cNvPicPr>
          <p:nvPr/>
        </p:nvPicPr>
        <p:blipFill>
          <a:blip r:embed="rId2" cstate="print"/>
          <a:stretch>
            <a:fillRect/>
          </a:stretch>
        </p:blipFill>
        <p:spPr>
          <a:xfrm>
            <a:off x="1387342" y="2598347"/>
            <a:ext cx="6792296" cy="772400"/>
          </a:xfrm>
          <a:prstGeom prst="rect">
            <a:avLst/>
          </a:prstGeom>
        </p:spPr>
      </p:pic>
      <p:sp>
        <p:nvSpPr>
          <p:cNvPr id="19" name="流程圖: 抽選 18"/>
          <p:cNvSpPr/>
          <p:nvPr/>
        </p:nvSpPr>
        <p:spPr>
          <a:xfrm>
            <a:off x="2178340" y="5192219"/>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6" name="流程圖: 程序 25"/>
          <p:cNvSpPr/>
          <p:nvPr/>
        </p:nvSpPr>
        <p:spPr>
          <a:xfrm>
            <a:off x="3159948" y="4623004"/>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p>
        </p:txBody>
      </p:sp>
      <p:sp>
        <p:nvSpPr>
          <p:cNvPr id="37" name="流程圖: 接點 36"/>
          <p:cNvSpPr/>
          <p:nvPr/>
        </p:nvSpPr>
        <p:spPr>
          <a:xfrm>
            <a:off x="4127498" y="3952672"/>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350"/>
          </a:p>
        </p:txBody>
      </p:sp>
      <p:sp>
        <p:nvSpPr>
          <p:cNvPr id="43" name="流程圖: 抽選 42"/>
          <p:cNvSpPr/>
          <p:nvPr/>
        </p:nvSpPr>
        <p:spPr>
          <a:xfrm>
            <a:off x="2735190" y="5183244"/>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smtClean="0"/>
              <a:t>k</a:t>
            </a:r>
            <a:endParaRPr lang="zh-TW" altLang="en-US" sz="1350" dirty="0"/>
          </a:p>
        </p:txBody>
      </p:sp>
      <p:sp>
        <p:nvSpPr>
          <p:cNvPr id="44" name="流程圖: 抽選 43"/>
          <p:cNvSpPr/>
          <p:nvPr/>
        </p:nvSpPr>
        <p:spPr>
          <a:xfrm>
            <a:off x="3267217" y="5183244"/>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 name="流程圖: 抽選 44"/>
          <p:cNvSpPr/>
          <p:nvPr/>
        </p:nvSpPr>
        <p:spPr>
          <a:xfrm>
            <a:off x="3758815" y="5183244"/>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 name="流程圖: 抽選 45"/>
          <p:cNvSpPr/>
          <p:nvPr/>
        </p:nvSpPr>
        <p:spPr>
          <a:xfrm>
            <a:off x="4258205" y="5183244"/>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 name="流程圖: 程序 46"/>
          <p:cNvSpPr/>
          <p:nvPr/>
        </p:nvSpPr>
        <p:spPr>
          <a:xfrm>
            <a:off x="2674922" y="4623004"/>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smtClean="0"/>
              <a:t>j</a:t>
            </a:r>
            <a:endParaRPr lang="zh-TW" altLang="en-US" sz="1350" dirty="0"/>
          </a:p>
        </p:txBody>
      </p:sp>
      <p:sp>
        <p:nvSpPr>
          <p:cNvPr id="48" name="流程圖: 程序 47"/>
          <p:cNvSpPr/>
          <p:nvPr/>
        </p:nvSpPr>
        <p:spPr>
          <a:xfrm>
            <a:off x="3636431" y="4623004"/>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p>
        </p:txBody>
      </p:sp>
      <p:sp>
        <p:nvSpPr>
          <p:cNvPr id="49" name="流程圖: 程序 48"/>
          <p:cNvSpPr/>
          <p:nvPr/>
        </p:nvSpPr>
        <p:spPr>
          <a:xfrm>
            <a:off x="4093368" y="463307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p>
        </p:txBody>
      </p:sp>
      <p:sp>
        <p:nvSpPr>
          <p:cNvPr id="52" name="流程圖: 接點 51"/>
          <p:cNvSpPr/>
          <p:nvPr/>
        </p:nvSpPr>
        <p:spPr>
          <a:xfrm>
            <a:off x="4583300" y="3952672"/>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350"/>
          </a:p>
        </p:txBody>
      </p:sp>
      <p:sp>
        <p:nvSpPr>
          <p:cNvPr id="53" name="流程圖: 接點 52"/>
          <p:cNvSpPr/>
          <p:nvPr/>
        </p:nvSpPr>
        <p:spPr>
          <a:xfrm>
            <a:off x="3106923" y="3948238"/>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err="1" smtClean="0"/>
              <a:t>i</a:t>
            </a:r>
            <a:endParaRPr lang="zh-TW" altLang="en-US" sz="1350" dirty="0"/>
          </a:p>
        </p:txBody>
      </p:sp>
      <p:sp>
        <p:nvSpPr>
          <p:cNvPr id="54" name="流程圖: 接點 53"/>
          <p:cNvSpPr/>
          <p:nvPr/>
        </p:nvSpPr>
        <p:spPr>
          <a:xfrm>
            <a:off x="3636430" y="3957213"/>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350"/>
          </a:p>
        </p:txBody>
      </p:sp>
      <p:sp>
        <p:nvSpPr>
          <p:cNvPr id="83" name="文字方塊 82"/>
          <p:cNvSpPr txBox="1"/>
          <p:nvPr/>
        </p:nvSpPr>
        <p:spPr>
          <a:xfrm>
            <a:off x="5440557" y="4380628"/>
            <a:ext cx="2531466" cy="707886"/>
          </a:xfrm>
          <a:prstGeom prst="rect">
            <a:avLst/>
          </a:prstGeom>
          <a:noFill/>
        </p:spPr>
        <p:txBody>
          <a:bodyPr wrap="square" rtlCol="0">
            <a:spAutoFit/>
          </a:bodyPr>
          <a:lstStyle/>
          <a:p>
            <a:r>
              <a:rPr lang="zh-TW" altLang="en-US" sz="2000" dirty="0"/>
              <a:t>由對應關係可以知道，</a:t>
            </a:r>
            <a:r>
              <a:rPr lang="en-US" altLang="zh-TW" sz="2000" dirty="0"/>
              <a:t>z(k)</a:t>
            </a:r>
            <a:r>
              <a:rPr lang="zh-TW" altLang="en-US" sz="2000" dirty="0"/>
              <a:t>屬於</a:t>
            </a:r>
            <a:r>
              <a:rPr lang="en-US" altLang="zh-TW" sz="2000" dirty="0"/>
              <a:t>omega(x(</a:t>
            </a:r>
            <a:r>
              <a:rPr lang="en-US" altLang="zh-TW" sz="2000" dirty="0" err="1"/>
              <a:t>i</a:t>
            </a:r>
            <a:r>
              <a:rPr lang="en-US" altLang="zh-TW" sz="2000" dirty="0"/>
              <a:t>))</a:t>
            </a:r>
            <a:endParaRPr lang="zh-TW" altLang="en-US" sz="2000" dirty="0"/>
          </a:p>
        </p:txBody>
      </p:sp>
      <p:sp>
        <p:nvSpPr>
          <p:cNvPr id="84" name="文字方塊 83"/>
          <p:cNvSpPr txBox="1"/>
          <p:nvPr/>
        </p:nvSpPr>
        <p:spPr>
          <a:xfrm>
            <a:off x="1377976" y="3802017"/>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r>
              <a:rPr lang="en-US" altLang="zh-TW" sz="1350" dirty="0"/>
              <a:t>z</a:t>
            </a:r>
            <a:endParaRPr lang="zh-TW" altLang="en-US" sz="1350" dirty="0"/>
          </a:p>
        </p:txBody>
      </p:sp>
      <p:cxnSp>
        <p:nvCxnSpPr>
          <p:cNvPr id="118" name="直線接點 117"/>
          <p:cNvCxnSpPr>
            <a:stCxn id="54" idx="4"/>
          </p:cNvCxnSpPr>
          <p:nvPr/>
        </p:nvCxnSpPr>
        <p:spPr>
          <a:xfrm flipH="1">
            <a:off x="3308852" y="4298353"/>
            <a:ext cx="488088" cy="324650"/>
          </a:xfrm>
          <a:prstGeom prst="line">
            <a:avLst/>
          </a:prstGeom>
        </p:spPr>
        <p:style>
          <a:lnRef idx="1">
            <a:schemeClr val="accent5"/>
          </a:lnRef>
          <a:fillRef idx="0">
            <a:schemeClr val="accent5"/>
          </a:fillRef>
          <a:effectRef idx="0">
            <a:schemeClr val="accent5"/>
          </a:effectRef>
          <a:fontRef idx="minor">
            <a:schemeClr val="tx1"/>
          </a:fontRef>
        </p:style>
      </p:cxnSp>
      <p:cxnSp>
        <p:nvCxnSpPr>
          <p:cNvPr id="120" name="直線接點 119"/>
          <p:cNvCxnSpPr>
            <a:stCxn id="37" idx="4"/>
            <a:endCxn id="48" idx="0"/>
          </p:cNvCxnSpPr>
          <p:nvPr/>
        </p:nvCxnSpPr>
        <p:spPr>
          <a:xfrm flipH="1">
            <a:off x="3775657" y="4293813"/>
            <a:ext cx="512351" cy="329190"/>
          </a:xfrm>
          <a:prstGeom prst="line">
            <a:avLst/>
          </a:prstGeom>
        </p:spPr>
        <p:style>
          <a:lnRef idx="1">
            <a:schemeClr val="accent5"/>
          </a:lnRef>
          <a:fillRef idx="0">
            <a:schemeClr val="accent5"/>
          </a:fillRef>
          <a:effectRef idx="0">
            <a:schemeClr val="accent5"/>
          </a:effectRef>
          <a:fontRef idx="minor">
            <a:schemeClr val="tx1"/>
          </a:fontRef>
        </p:style>
      </p:cxnSp>
      <p:cxnSp>
        <p:nvCxnSpPr>
          <p:cNvPr id="124" name="直線接點 123"/>
          <p:cNvCxnSpPr>
            <a:stCxn id="52" idx="4"/>
            <a:endCxn id="49" idx="0"/>
          </p:cNvCxnSpPr>
          <p:nvPr/>
        </p:nvCxnSpPr>
        <p:spPr>
          <a:xfrm flipH="1">
            <a:off x="4232595" y="4293814"/>
            <a:ext cx="511215" cy="339262"/>
          </a:xfrm>
          <a:prstGeom prst="line">
            <a:avLst/>
          </a:prstGeom>
        </p:spPr>
        <p:style>
          <a:lnRef idx="1">
            <a:schemeClr val="accent5"/>
          </a:lnRef>
          <a:fillRef idx="0">
            <a:schemeClr val="accent5"/>
          </a:fillRef>
          <a:effectRef idx="0">
            <a:schemeClr val="accent5"/>
          </a:effectRef>
          <a:fontRef idx="minor">
            <a:schemeClr val="tx1"/>
          </a:fontRef>
        </p:style>
      </p:cxnSp>
      <p:cxnSp>
        <p:nvCxnSpPr>
          <p:cNvPr id="128" name="直線接點 127"/>
          <p:cNvCxnSpPr>
            <a:stCxn id="53" idx="4"/>
            <a:endCxn id="47" idx="0"/>
          </p:cNvCxnSpPr>
          <p:nvPr/>
        </p:nvCxnSpPr>
        <p:spPr>
          <a:xfrm flipH="1">
            <a:off x="2814150" y="4289379"/>
            <a:ext cx="453284" cy="333625"/>
          </a:xfrm>
          <a:prstGeom prst="line">
            <a:avLst/>
          </a:prstGeom>
        </p:spPr>
        <p:style>
          <a:lnRef idx="1">
            <a:schemeClr val="accent5"/>
          </a:lnRef>
          <a:fillRef idx="0">
            <a:schemeClr val="accent5"/>
          </a:fillRef>
          <a:effectRef idx="0">
            <a:schemeClr val="accent5"/>
          </a:effectRef>
          <a:fontRef idx="minor">
            <a:schemeClr val="tx1"/>
          </a:fontRef>
        </p:style>
      </p:cxnSp>
      <p:cxnSp>
        <p:nvCxnSpPr>
          <p:cNvPr id="131" name="直線接點 130"/>
          <p:cNvCxnSpPr>
            <a:endCxn id="49" idx="0"/>
          </p:cNvCxnSpPr>
          <p:nvPr/>
        </p:nvCxnSpPr>
        <p:spPr>
          <a:xfrm>
            <a:off x="3265353" y="4329393"/>
            <a:ext cx="967242" cy="303683"/>
          </a:xfrm>
          <a:prstGeom prst="line">
            <a:avLst/>
          </a:prstGeom>
        </p:spPr>
        <p:style>
          <a:lnRef idx="1">
            <a:schemeClr val="accent5"/>
          </a:lnRef>
          <a:fillRef idx="0">
            <a:schemeClr val="accent5"/>
          </a:fillRef>
          <a:effectRef idx="0">
            <a:schemeClr val="accent5"/>
          </a:effectRef>
          <a:fontRef idx="minor">
            <a:schemeClr val="tx1"/>
          </a:fontRef>
        </p:style>
      </p:cxnSp>
      <p:cxnSp>
        <p:nvCxnSpPr>
          <p:cNvPr id="133" name="直線接點 132"/>
          <p:cNvCxnSpPr>
            <a:stCxn id="37" idx="4"/>
            <a:endCxn id="47" idx="0"/>
          </p:cNvCxnSpPr>
          <p:nvPr/>
        </p:nvCxnSpPr>
        <p:spPr>
          <a:xfrm flipH="1">
            <a:off x="2814148" y="4293813"/>
            <a:ext cx="1473860" cy="329190"/>
          </a:xfrm>
          <a:prstGeom prst="line">
            <a:avLst/>
          </a:prstGeom>
        </p:spPr>
        <p:style>
          <a:lnRef idx="1">
            <a:schemeClr val="accent5"/>
          </a:lnRef>
          <a:fillRef idx="0">
            <a:schemeClr val="accent5"/>
          </a:fillRef>
          <a:effectRef idx="0">
            <a:schemeClr val="accent5"/>
          </a:effectRef>
          <a:fontRef idx="minor">
            <a:schemeClr val="tx1"/>
          </a:fontRef>
        </p:style>
      </p:cxnSp>
      <p:sp>
        <p:nvSpPr>
          <p:cNvPr id="142" name="流程圖: 程序 141"/>
          <p:cNvSpPr/>
          <p:nvPr/>
        </p:nvSpPr>
        <p:spPr>
          <a:xfrm>
            <a:off x="4594703" y="4633075"/>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a:p>
        </p:txBody>
      </p:sp>
      <p:cxnSp>
        <p:nvCxnSpPr>
          <p:cNvPr id="146" name="直線接點 145"/>
          <p:cNvCxnSpPr/>
          <p:nvPr/>
        </p:nvCxnSpPr>
        <p:spPr>
          <a:xfrm flipH="1">
            <a:off x="2747840" y="4231553"/>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47" name="直線接點 146"/>
          <p:cNvCxnSpPr/>
          <p:nvPr/>
        </p:nvCxnSpPr>
        <p:spPr>
          <a:xfrm flipH="1">
            <a:off x="3287583" y="4231553"/>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48" name="直線接點 147"/>
          <p:cNvCxnSpPr>
            <a:endCxn id="48" idx="0"/>
          </p:cNvCxnSpPr>
          <p:nvPr/>
        </p:nvCxnSpPr>
        <p:spPr>
          <a:xfrm flipH="1">
            <a:off x="3775657" y="4259061"/>
            <a:ext cx="520409" cy="363943"/>
          </a:xfrm>
          <a:prstGeom prst="line">
            <a:avLst/>
          </a:prstGeom>
        </p:spPr>
        <p:style>
          <a:lnRef idx="3">
            <a:schemeClr val="accent2"/>
          </a:lnRef>
          <a:fillRef idx="0">
            <a:schemeClr val="accent2"/>
          </a:fillRef>
          <a:effectRef idx="2">
            <a:schemeClr val="accent2"/>
          </a:effectRef>
          <a:fontRef idx="minor">
            <a:schemeClr val="tx1"/>
          </a:fontRef>
        </p:style>
      </p:cxnSp>
      <p:cxnSp>
        <p:nvCxnSpPr>
          <p:cNvPr id="149" name="直線接點 148"/>
          <p:cNvCxnSpPr/>
          <p:nvPr/>
        </p:nvCxnSpPr>
        <p:spPr>
          <a:xfrm flipH="1">
            <a:off x="4185464" y="4254008"/>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52" name="直線接點 151"/>
          <p:cNvCxnSpPr>
            <a:stCxn id="47" idx="2"/>
            <a:endCxn id="43" idx="0"/>
          </p:cNvCxnSpPr>
          <p:nvPr/>
        </p:nvCxnSpPr>
        <p:spPr>
          <a:xfrm>
            <a:off x="2814148" y="4935518"/>
            <a:ext cx="79955" cy="247726"/>
          </a:xfrm>
          <a:prstGeom prst="line">
            <a:avLst/>
          </a:prstGeom>
        </p:spPr>
        <p:style>
          <a:lnRef idx="1">
            <a:schemeClr val="accent5"/>
          </a:lnRef>
          <a:fillRef idx="0">
            <a:schemeClr val="accent5"/>
          </a:fillRef>
          <a:effectRef idx="0">
            <a:schemeClr val="accent5"/>
          </a:effectRef>
          <a:fontRef idx="minor">
            <a:schemeClr val="tx1"/>
          </a:fontRef>
        </p:style>
      </p:cxnSp>
      <p:cxnSp>
        <p:nvCxnSpPr>
          <p:cNvPr id="153" name="直線接點 152"/>
          <p:cNvCxnSpPr/>
          <p:nvPr/>
        </p:nvCxnSpPr>
        <p:spPr>
          <a:xfrm flipH="1">
            <a:off x="2889043" y="4944279"/>
            <a:ext cx="476895" cy="256701"/>
          </a:xfrm>
          <a:prstGeom prst="line">
            <a:avLst/>
          </a:prstGeom>
        </p:spPr>
        <p:style>
          <a:lnRef idx="1">
            <a:schemeClr val="accent5"/>
          </a:lnRef>
          <a:fillRef idx="0">
            <a:schemeClr val="accent5"/>
          </a:fillRef>
          <a:effectRef idx="0">
            <a:schemeClr val="accent5"/>
          </a:effectRef>
          <a:fontRef idx="minor">
            <a:schemeClr val="tx1"/>
          </a:fontRef>
        </p:style>
      </p:cxnSp>
      <p:cxnSp>
        <p:nvCxnSpPr>
          <p:cNvPr id="154" name="直線接點 153"/>
          <p:cNvCxnSpPr>
            <a:stCxn id="48" idx="2"/>
          </p:cNvCxnSpPr>
          <p:nvPr/>
        </p:nvCxnSpPr>
        <p:spPr>
          <a:xfrm>
            <a:off x="3775658" y="4935518"/>
            <a:ext cx="139227" cy="247726"/>
          </a:xfrm>
          <a:prstGeom prst="line">
            <a:avLst/>
          </a:prstGeom>
        </p:spPr>
        <p:style>
          <a:lnRef idx="1">
            <a:schemeClr val="accent5"/>
          </a:lnRef>
          <a:fillRef idx="0">
            <a:schemeClr val="accent5"/>
          </a:fillRef>
          <a:effectRef idx="0">
            <a:schemeClr val="accent5"/>
          </a:effectRef>
          <a:fontRef idx="minor">
            <a:schemeClr val="tx1"/>
          </a:fontRef>
        </p:style>
      </p:cxnSp>
      <p:cxnSp>
        <p:nvCxnSpPr>
          <p:cNvPr id="155" name="直線接點 154"/>
          <p:cNvCxnSpPr>
            <a:stCxn id="49" idx="2"/>
          </p:cNvCxnSpPr>
          <p:nvPr/>
        </p:nvCxnSpPr>
        <p:spPr>
          <a:xfrm flipH="1">
            <a:off x="3909672" y="4945590"/>
            <a:ext cx="322924" cy="255307"/>
          </a:xfrm>
          <a:prstGeom prst="line">
            <a:avLst/>
          </a:prstGeom>
        </p:spPr>
        <p:style>
          <a:lnRef idx="1">
            <a:schemeClr val="accent5"/>
          </a:lnRef>
          <a:fillRef idx="0">
            <a:schemeClr val="accent5"/>
          </a:fillRef>
          <a:effectRef idx="0">
            <a:schemeClr val="accent5"/>
          </a:effectRef>
          <a:fontRef idx="minor">
            <a:schemeClr val="tx1"/>
          </a:fontRef>
        </p:style>
      </p:cxnSp>
      <p:cxnSp>
        <p:nvCxnSpPr>
          <p:cNvPr id="160" name="直線接點 159"/>
          <p:cNvCxnSpPr>
            <a:endCxn id="44" idx="0"/>
          </p:cNvCxnSpPr>
          <p:nvPr/>
        </p:nvCxnSpPr>
        <p:spPr>
          <a:xfrm>
            <a:off x="3365938" y="4941439"/>
            <a:ext cx="60192" cy="241805"/>
          </a:xfrm>
          <a:prstGeom prst="line">
            <a:avLst/>
          </a:prstGeom>
        </p:spPr>
        <p:style>
          <a:lnRef idx="1">
            <a:schemeClr val="accent5"/>
          </a:lnRef>
          <a:fillRef idx="0">
            <a:schemeClr val="accent5"/>
          </a:fillRef>
          <a:effectRef idx="0">
            <a:schemeClr val="accent5"/>
          </a:effectRef>
          <a:fontRef idx="minor">
            <a:schemeClr val="tx1"/>
          </a:fontRef>
        </p:style>
      </p:cxnSp>
      <p:cxnSp>
        <p:nvCxnSpPr>
          <p:cNvPr id="176" name="直線接點 175"/>
          <p:cNvCxnSpPr>
            <a:endCxn id="46" idx="0"/>
          </p:cNvCxnSpPr>
          <p:nvPr/>
        </p:nvCxnSpPr>
        <p:spPr>
          <a:xfrm>
            <a:off x="4250411" y="4962266"/>
            <a:ext cx="166707" cy="220978"/>
          </a:xfrm>
          <a:prstGeom prst="line">
            <a:avLst/>
          </a:prstGeom>
        </p:spPr>
        <p:style>
          <a:lnRef idx="1">
            <a:schemeClr val="accent5"/>
          </a:lnRef>
          <a:fillRef idx="0">
            <a:schemeClr val="accent5"/>
          </a:fillRef>
          <a:effectRef idx="0">
            <a:schemeClr val="accent5"/>
          </a:effectRef>
          <a:fontRef idx="minor">
            <a:schemeClr val="tx1"/>
          </a:fontRef>
        </p:style>
      </p:cxnSp>
      <p:cxnSp>
        <p:nvCxnSpPr>
          <p:cNvPr id="181" name="直線接點 180"/>
          <p:cNvCxnSpPr>
            <a:stCxn id="47" idx="2"/>
            <a:endCxn id="43" idx="0"/>
          </p:cNvCxnSpPr>
          <p:nvPr/>
        </p:nvCxnSpPr>
        <p:spPr>
          <a:xfrm>
            <a:off x="2814148" y="4935518"/>
            <a:ext cx="79955" cy="247726"/>
          </a:xfrm>
          <a:prstGeom prst="line">
            <a:avLst/>
          </a:prstGeom>
        </p:spPr>
        <p:style>
          <a:lnRef idx="3">
            <a:schemeClr val="accent2"/>
          </a:lnRef>
          <a:fillRef idx="0">
            <a:schemeClr val="accent2"/>
          </a:fillRef>
          <a:effectRef idx="2">
            <a:schemeClr val="accent2"/>
          </a:effectRef>
          <a:fontRef idx="minor">
            <a:schemeClr val="tx1"/>
          </a:fontRef>
        </p:style>
      </p:cxnSp>
      <p:cxnSp>
        <p:nvCxnSpPr>
          <p:cNvPr id="182" name="直線接點 181"/>
          <p:cNvCxnSpPr/>
          <p:nvPr/>
        </p:nvCxnSpPr>
        <p:spPr>
          <a:xfrm>
            <a:off x="3342805" y="4950667"/>
            <a:ext cx="79955" cy="220978"/>
          </a:xfrm>
          <a:prstGeom prst="line">
            <a:avLst/>
          </a:prstGeom>
        </p:spPr>
        <p:style>
          <a:lnRef idx="3">
            <a:schemeClr val="accent2"/>
          </a:lnRef>
          <a:fillRef idx="0">
            <a:schemeClr val="accent2"/>
          </a:fillRef>
          <a:effectRef idx="2">
            <a:schemeClr val="accent2"/>
          </a:effectRef>
          <a:fontRef idx="minor">
            <a:schemeClr val="tx1"/>
          </a:fontRef>
        </p:style>
      </p:cxnSp>
      <p:cxnSp>
        <p:nvCxnSpPr>
          <p:cNvPr id="183" name="直線接點 182"/>
          <p:cNvCxnSpPr>
            <a:endCxn id="45" idx="0"/>
          </p:cNvCxnSpPr>
          <p:nvPr/>
        </p:nvCxnSpPr>
        <p:spPr>
          <a:xfrm>
            <a:off x="3797795" y="4931166"/>
            <a:ext cx="119933" cy="252077"/>
          </a:xfrm>
          <a:prstGeom prst="line">
            <a:avLst/>
          </a:prstGeom>
        </p:spPr>
        <p:style>
          <a:lnRef idx="3">
            <a:schemeClr val="accent2"/>
          </a:lnRef>
          <a:fillRef idx="0">
            <a:schemeClr val="accent2"/>
          </a:fillRef>
          <a:effectRef idx="2">
            <a:schemeClr val="accent2"/>
          </a:effectRef>
          <a:fontRef idx="minor">
            <a:schemeClr val="tx1"/>
          </a:fontRef>
        </p:style>
      </p:cxnSp>
      <p:cxnSp>
        <p:nvCxnSpPr>
          <p:cNvPr id="184" name="直線接點 183"/>
          <p:cNvCxnSpPr>
            <a:stCxn id="49" idx="2"/>
            <a:endCxn id="46" idx="0"/>
          </p:cNvCxnSpPr>
          <p:nvPr/>
        </p:nvCxnSpPr>
        <p:spPr>
          <a:xfrm>
            <a:off x="4232596" y="4945589"/>
            <a:ext cx="184523" cy="237654"/>
          </a:xfrm>
          <a:prstGeom prst="line">
            <a:avLst/>
          </a:prstGeom>
        </p:spPr>
        <p:style>
          <a:lnRef idx="3">
            <a:schemeClr val="accent2"/>
          </a:lnRef>
          <a:fillRef idx="0">
            <a:schemeClr val="accent2"/>
          </a:fillRef>
          <a:effectRef idx="2">
            <a:schemeClr val="accent2"/>
          </a:effectRef>
          <a:fontRef idx="minor">
            <a:schemeClr val="tx1"/>
          </a:fontRef>
        </p:style>
      </p:cxnSp>
      <p:pic>
        <p:nvPicPr>
          <p:cNvPr id="4" name="圖片 3"/>
          <p:cNvPicPr>
            <a:picLocks noChangeAspect="1"/>
          </p:cNvPicPr>
          <p:nvPr/>
        </p:nvPicPr>
        <p:blipFill>
          <a:blip r:embed="rId3" cstate="print"/>
          <a:stretch>
            <a:fillRect/>
          </a:stretch>
        </p:blipFill>
        <p:spPr>
          <a:xfrm>
            <a:off x="1396708" y="3329877"/>
            <a:ext cx="6792296" cy="490166"/>
          </a:xfrm>
          <a:prstGeom prst="rect">
            <a:avLst/>
          </a:prstGeom>
        </p:spPr>
      </p:pic>
      <p:pic>
        <p:nvPicPr>
          <p:cNvPr id="6" name="圖片 5"/>
          <p:cNvPicPr>
            <a:picLocks noChangeAspect="1"/>
          </p:cNvPicPr>
          <p:nvPr/>
        </p:nvPicPr>
        <p:blipFill>
          <a:blip r:embed="rId4" cstate="print"/>
          <a:stretch>
            <a:fillRect/>
          </a:stretch>
        </p:blipFill>
        <p:spPr>
          <a:xfrm>
            <a:off x="1396708" y="2427225"/>
            <a:ext cx="6773564" cy="270078"/>
          </a:xfrm>
          <a:prstGeom prst="rect">
            <a:avLst/>
          </a:prstGeom>
        </p:spPr>
      </p:pic>
      <p:sp>
        <p:nvSpPr>
          <p:cNvPr id="10" name="向右箭號 9"/>
          <p:cNvSpPr/>
          <p:nvPr/>
        </p:nvSpPr>
        <p:spPr>
          <a:xfrm flipH="1">
            <a:off x="2443290" y="4019773"/>
            <a:ext cx="616279" cy="206938"/>
          </a:xfrm>
          <a:prstGeom prst="rightArrow">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11" name="文字方塊 10"/>
          <p:cNvSpPr txBox="1"/>
          <p:nvPr/>
        </p:nvSpPr>
        <p:spPr>
          <a:xfrm>
            <a:off x="1760221" y="4019773"/>
            <a:ext cx="577033" cy="421259"/>
          </a:xfrm>
          <a:prstGeom prst="rect">
            <a:avLst/>
          </a:prstGeom>
          <a:noFill/>
        </p:spPr>
        <p:txBody>
          <a:bodyPr wrap="square" rtlCol="0">
            <a:spAutoFit/>
          </a:bodyPr>
          <a:lstStyle/>
          <a:p>
            <a:endParaRPr lang="zh-TW" altLang="en-US" dirty="0"/>
          </a:p>
        </p:txBody>
      </p:sp>
      <p:pic>
        <p:nvPicPr>
          <p:cNvPr id="12" name="圖片 11"/>
          <p:cNvPicPr>
            <a:picLocks noChangeAspect="1"/>
          </p:cNvPicPr>
          <p:nvPr/>
        </p:nvPicPr>
        <p:blipFill>
          <a:blip r:embed="rId5" cstate="print"/>
          <a:stretch>
            <a:fillRect/>
          </a:stretch>
        </p:blipFill>
        <p:spPr>
          <a:xfrm>
            <a:off x="1688950" y="4013483"/>
            <a:ext cx="712731" cy="275896"/>
          </a:xfrm>
          <a:prstGeom prst="rect">
            <a:avLst/>
          </a:prstGeom>
        </p:spPr>
      </p:pic>
    </p:spTree>
    <p:extLst>
      <p:ext uri="{BB962C8B-B14F-4D97-AF65-F5344CB8AC3E}">
        <p14:creationId xmlns:p14="http://schemas.microsoft.com/office/powerpoint/2010/main" xmlns="" val="142601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81"/>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8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83"/>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mj-ea"/>
              </a:rPr>
              <a:t>The frame sequence of a tree of sequences </a:t>
            </a:r>
            <a:endParaRPr lang="zh-TW" altLang="en-US" dirty="0"/>
          </a:p>
        </p:txBody>
      </p:sp>
      <p:sp>
        <p:nvSpPr>
          <p:cNvPr id="3" name="內容版面配置區 2"/>
          <p:cNvSpPr>
            <a:spLocks noGrp="1"/>
          </p:cNvSpPr>
          <p:nvPr>
            <p:ph idx="1"/>
          </p:nvPr>
        </p:nvSpPr>
        <p:spPr/>
        <p:txBody>
          <a:bodyPr/>
          <a:lstStyle/>
          <a:p>
            <a:r>
              <a:rPr lang="en-US" altLang="zh-TW" sz="2400" dirty="0"/>
              <a:t>Ex:  1 1 0 1</a:t>
            </a:r>
          </a:p>
          <a:p>
            <a:r>
              <a:rPr lang="en-US" altLang="zh-TW" sz="2400" dirty="0"/>
              <a:t>       1 0 0 1 1</a:t>
            </a:r>
          </a:p>
          <a:p>
            <a:endParaRPr lang="en-US" altLang="zh-TW" sz="2400" dirty="0"/>
          </a:p>
          <a:p>
            <a:endParaRPr lang="zh-TW" altLang="en-US" dirty="0"/>
          </a:p>
        </p:txBody>
      </p:sp>
      <p:sp>
        <p:nvSpPr>
          <p:cNvPr id="4" name="流程圖: 抽選 3"/>
          <p:cNvSpPr/>
          <p:nvPr/>
        </p:nvSpPr>
        <p:spPr>
          <a:xfrm>
            <a:off x="3868693" y="3917211"/>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0</a:t>
            </a:r>
            <a:endParaRPr lang="zh-TW" altLang="en-US" sz="1350" dirty="0"/>
          </a:p>
        </p:txBody>
      </p:sp>
      <p:sp>
        <p:nvSpPr>
          <p:cNvPr id="5" name="流程圖: 程序 4"/>
          <p:cNvSpPr/>
          <p:nvPr/>
        </p:nvSpPr>
        <p:spPr>
          <a:xfrm>
            <a:off x="4850300" y="334799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6" name="流程圖: 接點 5"/>
          <p:cNvSpPr/>
          <p:nvPr/>
        </p:nvSpPr>
        <p:spPr>
          <a:xfrm>
            <a:off x="5817850" y="267766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0</a:t>
            </a:r>
            <a:endParaRPr lang="zh-TW" altLang="en-US" sz="1350" dirty="0"/>
          </a:p>
        </p:txBody>
      </p:sp>
      <p:sp>
        <p:nvSpPr>
          <p:cNvPr id="7" name="流程圖: 抽選 6"/>
          <p:cNvSpPr/>
          <p:nvPr/>
        </p:nvSpPr>
        <p:spPr>
          <a:xfrm>
            <a:off x="4425542" y="3908235"/>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smtClean="0"/>
              <a:t>1</a:t>
            </a:r>
            <a:endParaRPr lang="zh-TW" altLang="en-US" sz="1350" dirty="0"/>
          </a:p>
        </p:txBody>
      </p:sp>
      <p:sp>
        <p:nvSpPr>
          <p:cNvPr id="8" name="流程圖: 抽選 7"/>
          <p:cNvSpPr/>
          <p:nvPr/>
        </p:nvSpPr>
        <p:spPr>
          <a:xfrm>
            <a:off x="4957569" y="3908235"/>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smtClean="0"/>
              <a:t>0</a:t>
            </a:r>
            <a:endParaRPr lang="zh-TW" altLang="en-US" sz="1350" dirty="0"/>
          </a:p>
        </p:txBody>
      </p:sp>
      <p:sp>
        <p:nvSpPr>
          <p:cNvPr id="9" name="流程圖: 抽選 8"/>
          <p:cNvSpPr/>
          <p:nvPr/>
        </p:nvSpPr>
        <p:spPr>
          <a:xfrm>
            <a:off x="5449167" y="3908235"/>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smtClean="0"/>
              <a:t>1</a:t>
            </a:r>
            <a:endParaRPr lang="zh-TW" altLang="en-US" sz="1350" dirty="0"/>
          </a:p>
        </p:txBody>
      </p:sp>
      <p:sp>
        <p:nvSpPr>
          <p:cNvPr id="10" name="流程圖: 抽選 9"/>
          <p:cNvSpPr/>
          <p:nvPr/>
        </p:nvSpPr>
        <p:spPr>
          <a:xfrm>
            <a:off x="5948557" y="3908235"/>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smtClean="0"/>
              <a:t>0</a:t>
            </a:r>
            <a:endParaRPr lang="zh-TW" altLang="en-US" sz="1350" dirty="0"/>
          </a:p>
        </p:txBody>
      </p:sp>
      <p:sp>
        <p:nvSpPr>
          <p:cNvPr id="11" name="流程圖: 程序 10"/>
          <p:cNvSpPr/>
          <p:nvPr/>
        </p:nvSpPr>
        <p:spPr>
          <a:xfrm>
            <a:off x="4365274" y="334799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12" name="流程圖: 程序 11"/>
          <p:cNvSpPr/>
          <p:nvPr/>
        </p:nvSpPr>
        <p:spPr>
          <a:xfrm>
            <a:off x="5326783" y="334799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13" name="流程圖: 程序 12"/>
          <p:cNvSpPr/>
          <p:nvPr/>
        </p:nvSpPr>
        <p:spPr>
          <a:xfrm>
            <a:off x="5783720" y="3358068"/>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14" name="流程圖: 接點 13"/>
          <p:cNvSpPr/>
          <p:nvPr/>
        </p:nvSpPr>
        <p:spPr>
          <a:xfrm>
            <a:off x="6273652" y="267766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5" name="流程圖: 接點 14"/>
          <p:cNvSpPr/>
          <p:nvPr/>
        </p:nvSpPr>
        <p:spPr>
          <a:xfrm>
            <a:off x="4797275" y="267322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6" name="流程圖: 接點 15"/>
          <p:cNvSpPr/>
          <p:nvPr/>
        </p:nvSpPr>
        <p:spPr>
          <a:xfrm>
            <a:off x="5326783" y="2682205"/>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7" name="文字方塊 16"/>
          <p:cNvSpPr txBox="1"/>
          <p:nvPr/>
        </p:nvSpPr>
        <p:spPr>
          <a:xfrm>
            <a:off x="7031259" y="251774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r>
              <a:rPr lang="en-US" altLang="zh-TW" sz="1350" dirty="0"/>
              <a:t>z</a:t>
            </a:r>
            <a:endParaRPr lang="zh-TW" altLang="en-US" sz="1350" dirty="0"/>
          </a:p>
        </p:txBody>
      </p:sp>
      <p:cxnSp>
        <p:nvCxnSpPr>
          <p:cNvPr id="18" name="直線接點 17"/>
          <p:cNvCxnSpPr>
            <a:stCxn id="16" idx="4"/>
          </p:cNvCxnSpPr>
          <p:nvPr/>
        </p:nvCxnSpPr>
        <p:spPr>
          <a:xfrm flipH="1">
            <a:off x="4999205" y="3023345"/>
            <a:ext cx="488088" cy="324650"/>
          </a:xfrm>
          <a:prstGeom prst="line">
            <a:avLst/>
          </a:prstGeom>
        </p:spPr>
        <p:style>
          <a:lnRef idx="1">
            <a:schemeClr val="accent5"/>
          </a:lnRef>
          <a:fillRef idx="0">
            <a:schemeClr val="accent5"/>
          </a:fillRef>
          <a:effectRef idx="0">
            <a:schemeClr val="accent5"/>
          </a:effectRef>
          <a:fontRef idx="minor">
            <a:schemeClr val="tx1"/>
          </a:fontRef>
        </p:style>
      </p:cxnSp>
      <p:cxnSp>
        <p:nvCxnSpPr>
          <p:cNvPr id="19" name="直線接點 18"/>
          <p:cNvCxnSpPr>
            <a:stCxn id="6" idx="4"/>
            <a:endCxn id="12" idx="0"/>
          </p:cNvCxnSpPr>
          <p:nvPr/>
        </p:nvCxnSpPr>
        <p:spPr>
          <a:xfrm flipH="1">
            <a:off x="5466010" y="3018805"/>
            <a:ext cx="512351" cy="329190"/>
          </a:xfrm>
          <a:prstGeom prst="line">
            <a:avLst/>
          </a:prstGeom>
        </p:spPr>
        <p:style>
          <a:lnRef idx="1">
            <a:schemeClr val="accent5"/>
          </a:lnRef>
          <a:fillRef idx="0">
            <a:schemeClr val="accent5"/>
          </a:fillRef>
          <a:effectRef idx="0">
            <a:schemeClr val="accent5"/>
          </a:effectRef>
          <a:fontRef idx="minor">
            <a:schemeClr val="tx1"/>
          </a:fontRef>
        </p:style>
      </p:cxnSp>
      <p:cxnSp>
        <p:nvCxnSpPr>
          <p:cNvPr id="20" name="直線接點 19"/>
          <p:cNvCxnSpPr>
            <a:stCxn id="14" idx="4"/>
            <a:endCxn id="13" idx="0"/>
          </p:cNvCxnSpPr>
          <p:nvPr/>
        </p:nvCxnSpPr>
        <p:spPr>
          <a:xfrm flipH="1">
            <a:off x="5922947" y="3018806"/>
            <a:ext cx="511215" cy="339262"/>
          </a:xfrm>
          <a:prstGeom prst="line">
            <a:avLst/>
          </a:prstGeom>
        </p:spPr>
        <p:style>
          <a:lnRef idx="1">
            <a:schemeClr val="accent5"/>
          </a:lnRef>
          <a:fillRef idx="0">
            <a:schemeClr val="accent5"/>
          </a:fillRef>
          <a:effectRef idx="0">
            <a:schemeClr val="accent5"/>
          </a:effectRef>
          <a:fontRef idx="minor">
            <a:schemeClr val="tx1"/>
          </a:fontRef>
        </p:style>
      </p:cxnSp>
      <p:cxnSp>
        <p:nvCxnSpPr>
          <p:cNvPr id="21" name="直線接點 20"/>
          <p:cNvCxnSpPr>
            <a:stCxn id="15" idx="4"/>
            <a:endCxn id="11" idx="0"/>
          </p:cNvCxnSpPr>
          <p:nvPr/>
        </p:nvCxnSpPr>
        <p:spPr>
          <a:xfrm flipH="1">
            <a:off x="4504502" y="3014371"/>
            <a:ext cx="453284" cy="333625"/>
          </a:xfrm>
          <a:prstGeom prst="line">
            <a:avLst/>
          </a:prstGeom>
        </p:spPr>
        <p:style>
          <a:lnRef idx="1">
            <a:schemeClr val="accent5"/>
          </a:lnRef>
          <a:fillRef idx="0">
            <a:schemeClr val="accent5"/>
          </a:fillRef>
          <a:effectRef idx="0">
            <a:schemeClr val="accent5"/>
          </a:effectRef>
          <a:fontRef idx="minor">
            <a:schemeClr val="tx1"/>
          </a:fontRef>
        </p:style>
      </p:cxnSp>
      <p:cxnSp>
        <p:nvCxnSpPr>
          <p:cNvPr id="22" name="直線接點 21"/>
          <p:cNvCxnSpPr>
            <a:endCxn id="13" idx="0"/>
          </p:cNvCxnSpPr>
          <p:nvPr/>
        </p:nvCxnSpPr>
        <p:spPr>
          <a:xfrm>
            <a:off x="4955705" y="3054385"/>
            <a:ext cx="967242" cy="303683"/>
          </a:xfrm>
          <a:prstGeom prst="line">
            <a:avLst/>
          </a:prstGeom>
        </p:spPr>
        <p:style>
          <a:lnRef idx="1">
            <a:schemeClr val="accent5"/>
          </a:lnRef>
          <a:fillRef idx="0">
            <a:schemeClr val="accent5"/>
          </a:fillRef>
          <a:effectRef idx="0">
            <a:schemeClr val="accent5"/>
          </a:effectRef>
          <a:fontRef idx="minor">
            <a:schemeClr val="tx1"/>
          </a:fontRef>
        </p:style>
      </p:cxnSp>
      <p:cxnSp>
        <p:nvCxnSpPr>
          <p:cNvPr id="23" name="直線接點 22"/>
          <p:cNvCxnSpPr>
            <a:stCxn id="6" idx="4"/>
            <a:endCxn id="11" idx="0"/>
          </p:cNvCxnSpPr>
          <p:nvPr/>
        </p:nvCxnSpPr>
        <p:spPr>
          <a:xfrm flipH="1">
            <a:off x="4504501" y="3018805"/>
            <a:ext cx="1473860" cy="329190"/>
          </a:xfrm>
          <a:prstGeom prst="line">
            <a:avLst/>
          </a:prstGeom>
        </p:spPr>
        <p:style>
          <a:lnRef idx="1">
            <a:schemeClr val="accent5"/>
          </a:lnRef>
          <a:fillRef idx="0">
            <a:schemeClr val="accent5"/>
          </a:fillRef>
          <a:effectRef idx="0">
            <a:schemeClr val="accent5"/>
          </a:effectRef>
          <a:fontRef idx="minor">
            <a:schemeClr val="tx1"/>
          </a:fontRef>
        </p:style>
      </p:cxnSp>
      <p:sp>
        <p:nvSpPr>
          <p:cNvPr id="24" name="流程圖: 程序 23"/>
          <p:cNvSpPr/>
          <p:nvPr/>
        </p:nvSpPr>
        <p:spPr>
          <a:xfrm>
            <a:off x="6285056" y="3358067"/>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cxnSp>
        <p:nvCxnSpPr>
          <p:cNvPr id="25" name="直線接點 24"/>
          <p:cNvCxnSpPr/>
          <p:nvPr/>
        </p:nvCxnSpPr>
        <p:spPr>
          <a:xfrm flipH="1">
            <a:off x="4438193" y="2956544"/>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26" name="直線接點 25"/>
          <p:cNvCxnSpPr/>
          <p:nvPr/>
        </p:nvCxnSpPr>
        <p:spPr>
          <a:xfrm flipH="1">
            <a:off x="4977935" y="2956544"/>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27" name="直線接點 26"/>
          <p:cNvCxnSpPr>
            <a:endCxn id="12" idx="0"/>
          </p:cNvCxnSpPr>
          <p:nvPr/>
        </p:nvCxnSpPr>
        <p:spPr>
          <a:xfrm flipH="1">
            <a:off x="5466010" y="2984053"/>
            <a:ext cx="520409" cy="363943"/>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直線接點 27"/>
          <p:cNvCxnSpPr/>
          <p:nvPr/>
        </p:nvCxnSpPr>
        <p:spPr>
          <a:xfrm flipH="1">
            <a:off x="5875817" y="2979000"/>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線接點 28"/>
          <p:cNvCxnSpPr>
            <a:stCxn id="11" idx="2"/>
            <a:endCxn id="7" idx="0"/>
          </p:cNvCxnSpPr>
          <p:nvPr/>
        </p:nvCxnSpPr>
        <p:spPr>
          <a:xfrm>
            <a:off x="4504501" y="3660510"/>
            <a:ext cx="79955" cy="247726"/>
          </a:xfrm>
          <a:prstGeom prst="line">
            <a:avLst/>
          </a:prstGeom>
        </p:spPr>
        <p:style>
          <a:lnRef idx="1">
            <a:schemeClr val="accent5"/>
          </a:lnRef>
          <a:fillRef idx="0">
            <a:schemeClr val="accent5"/>
          </a:fillRef>
          <a:effectRef idx="0">
            <a:schemeClr val="accent5"/>
          </a:effectRef>
          <a:fontRef idx="minor">
            <a:schemeClr val="tx1"/>
          </a:fontRef>
        </p:style>
      </p:cxnSp>
      <p:cxnSp>
        <p:nvCxnSpPr>
          <p:cNvPr id="30" name="直線接點 29"/>
          <p:cNvCxnSpPr/>
          <p:nvPr/>
        </p:nvCxnSpPr>
        <p:spPr>
          <a:xfrm flipH="1">
            <a:off x="4579395" y="3669271"/>
            <a:ext cx="476895" cy="256701"/>
          </a:xfrm>
          <a:prstGeom prst="line">
            <a:avLst/>
          </a:prstGeom>
        </p:spPr>
        <p:style>
          <a:lnRef idx="1">
            <a:schemeClr val="accent5"/>
          </a:lnRef>
          <a:fillRef idx="0">
            <a:schemeClr val="accent5"/>
          </a:fillRef>
          <a:effectRef idx="0">
            <a:schemeClr val="accent5"/>
          </a:effectRef>
          <a:fontRef idx="minor">
            <a:schemeClr val="tx1"/>
          </a:fontRef>
        </p:style>
      </p:cxnSp>
      <p:cxnSp>
        <p:nvCxnSpPr>
          <p:cNvPr id="31" name="直線接點 30"/>
          <p:cNvCxnSpPr>
            <a:stCxn id="12" idx="2"/>
          </p:cNvCxnSpPr>
          <p:nvPr/>
        </p:nvCxnSpPr>
        <p:spPr>
          <a:xfrm>
            <a:off x="5466010" y="3660510"/>
            <a:ext cx="139227" cy="247726"/>
          </a:xfrm>
          <a:prstGeom prst="line">
            <a:avLst/>
          </a:prstGeom>
        </p:spPr>
        <p:style>
          <a:lnRef idx="1">
            <a:schemeClr val="accent5"/>
          </a:lnRef>
          <a:fillRef idx="0">
            <a:schemeClr val="accent5"/>
          </a:fillRef>
          <a:effectRef idx="0">
            <a:schemeClr val="accent5"/>
          </a:effectRef>
          <a:fontRef idx="minor">
            <a:schemeClr val="tx1"/>
          </a:fontRef>
        </p:style>
      </p:cxnSp>
      <p:cxnSp>
        <p:nvCxnSpPr>
          <p:cNvPr id="32" name="直線接點 31"/>
          <p:cNvCxnSpPr>
            <a:stCxn id="13" idx="2"/>
          </p:cNvCxnSpPr>
          <p:nvPr/>
        </p:nvCxnSpPr>
        <p:spPr>
          <a:xfrm flipH="1">
            <a:off x="5600025" y="3670581"/>
            <a:ext cx="322924" cy="255307"/>
          </a:xfrm>
          <a:prstGeom prst="line">
            <a:avLst/>
          </a:prstGeom>
        </p:spPr>
        <p:style>
          <a:lnRef idx="1">
            <a:schemeClr val="accent5"/>
          </a:lnRef>
          <a:fillRef idx="0">
            <a:schemeClr val="accent5"/>
          </a:fillRef>
          <a:effectRef idx="0">
            <a:schemeClr val="accent5"/>
          </a:effectRef>
          <a:fontRef idx="minor">
            <a:schemeClr val="tx1"/>
          </a:fontRef>
        </p:style>
      </p:cxnSp>
      <p:cxnSp>
        <p:nvCxnSpPr>
          <p:cNvPr id="33" name="直線接點 32"/>
          <p:cNvCxnSpPr>
            <a:endCxn id="8" idx="0"/>
          </p:cNvCxnSpPr>
          <p:nvPr/>
        </p:nvCxnSpPr>
        <p:spPr>
          <a:xfrm>
            <a:off x="5056290" y="3666430"/>
            <a:ext cx="60192" cy="241805"/>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線接點 33"/>
          <p:cNvCxnSpPr>
            <a:endCxn id="10" idx="0"/>
          </p:cNvCxnSpPr>
          <p:nvPr/>
        </p:nvCxnSpPr>
        <p:spPr>
          <a:xfrm>
            <a:off x="5940764" y="3687258"/>
            <a:ext cx="166707" cy="220978"/>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線接點 34"/>
          <p:cNvCxnSpPr>
            <a:stCxn id="11" idx="2"/>
            <a:endCxn id="7" idx="0"/>
          </p:cNvCxnSpPr>
          <p:nvPr/>
        </p:nvCxnSpPr>
        <p:spPr>
          <a:xfrm>
            <a:off x="4504501" y="3660510"/>
            <a:ext cx="79955" cy="247726"/>
          </a:xfrm>
          <a:prstGeom prst="line">
            <a:avLst/>
          </a:prstGeom>
        </p:spPr>
        <p:style>
          <a:lnRef idx="3">
            <a:schemeClr val="accent2"/>
          </a:lnRef>
          <a:fillRef idx="0">
            <a:schemeClr val="accent2"/>
          </a:fillRef>
          <a:effectRef idx="2">
            <a:schemeClr val="accent2"/>
          </a:effectRef>
          <a:fontRef idx="minor">
            <a:schemeClr val="tx1"/>
          </a:fontRef>
        </p:style>
      </p:cxnSp>
      <p:cxnSp>
        <p:nvCxnSpPr>
          <p:cNvPr id="36" name="直線接點 35"/>
          <p:cNvCxnSpPr/>
          <p:nvPr/>
        </p:nvCxnSpPr>
        <p:spPr>
          <a:xfrm>
            <a:off x="5033157" y="3675659"/>
            <a:ext cx="79955" cy="220978"/>
          </a:xfrm>
          <a:prstGeom prst="line">
            <a:avLst/>
          </a:prstGeom>
        </p:spPr>
        <p:style>
          <a:lnRef idx="3">
            <a:schemeClr val="accent2"/>
          </a:lnRef>
          <a:fillRef idx="0">
            <a:schemeClr val="accent2"/>
          </a:fillRef>
          <a:effectRef idx="2">
            <a:schemeClr val="accent2"/>
          </a:effectRef>
          <a:fontRef idx="minor">
            <a:schemeClr val="tx1"/>
          </a:fontRef>
        </p:style>
      </p:cxnSp>
      <p:cxnSp>
        <p:nvCxnSpPr>
          <p:cNvPr id="37" name="直線接點 36"/>
          <p:cNvCxnSpPr>
            <a:endCxn id="9" idx="0"/>
          </p:cNvCxnSpPr>
          <p:nvPr/>
        </p:nvCxnSpPr>
        <p:spPr>
          <a:xfrm>
            <a:off x="5488147" y="3656158"/>
            <a:ext cx="119933" cy="252077"/>
          </a:xfrm>
          <a:prstGeom prst="line">
            <a:avLst/>
          </a:prstGeom>
        </p:spPr>
        <p:style>
          <a:lnRef idx="3">
            <a:schemeClr val="accent2"/>
          </a:lnRef>
          <a:fillRef idx="0">
            <a:schemeClr val="accent2"/>
          </a:fillRef>
          <a:effectRef idx="2">
            <a:schemeClr val="accent2"/>
          </a:effectRef>
          <a:fontRef idx="minor">
            <a:schemeClr val="tx1"/>
          </a:fontRef>
        </p:style>
      </p:cxnSp>
      <p:cxnSp>
        <p:nvCxnSpPr>
          <p:cNvPr id="38" name="直線接點 37"/>
          <p:cNvCxnSpPr>
            <a:stCxn id="13" idx="2"/>
            <a:endCxn id="10" idx="0"/>
          </p:cNvCxnSpPr>
          <p:nvPr/>
        </p:nvCxnSpPr>
        <p:spPr>
          <a:xfrm>
            <a:off x="5922949" y="3670580"/>
            <a:ext cx="184523" cy="237654"/>
          </a:xfrm>
          <a:prstGeom prst="line">
            <a:avLst/>
          </a:prstGeom>
        </p:spPr>
        <p:style>
          <a:lnRef idx="3">
            <a:schemeClr val="accent2"/>
          </a:lnRef>
          <a:fillRef idx="0">
            <a:schemeClr val="accent2"/>
          </a:fillRef>
          <a:effectRef idx="2">
            <a:schemeClr val="accent2"/>
          </a:effectRef>
          <a:fontRef idx="minor">
            <a:schemeClr val="tx1"/>
          </a:fontRef>
        </p:style>
      </p:cxnSp>
      <p:sp>
        <p:nvSpPr>
          <p:cNvPr id="39" name="文字方塊 38"/>
          <p:cNvSpPr txBox="1"/>
          <p:nvPr/>
        </p:nvSpPr>
        <p:spPr>
          <a:xfrm>
            <a:off x="1468192" y="4623515"/>
            <a:ext cx="4639279" cy="523220"/>
          </a:xfrm>
          <a:prstGeom prst="rect">
            <a:avLst/>
          </a:prstGeom>
          <a:noFill/>
        </p:spPr>
        <p:txBody>
          <a:bodyPr wrap="square" rtlCol="0">
            <a:spAutoFit/>
          </a:bodyPr>
          <a:lstStyle/>
          <a:p>
            <a:r>
              <a:rPr lang="en-US" altLang="zh-TW" sz="2800" dirty="0" smtClean="0"/>
              <a:t>M </a:t>
            </a:r>
            <a:r>
              <a:rPr lang="en-US" altLang="zh-TW" sz="2800" baseline="-25000" dirty="0" err="1" smtClean="0"/>
              <a:t>xy</a:t>
            </a:r>
            <a:r>
              <a:rPr lang="en-US" altLang="zh-TW" sz="2800" dirty="0" smtClean="0"/>
              <a:t>={(1,1),(1,0),(0,0),(1,1)}</a:t>
            </a:r>
            <a:endParaRPr lang="zh-TW" altLang="en-US" sz="2800" dirty="0"/>
          </a:p>
        </p:txBody>
      </p:sp>
    </p:spTree>
    <p:extLst>
      <p:ext uri="{BB962C8B-B14F-4D97-AF65-F5344CB8AC3E}">
        <p14:creationId xmlns:p14="http://schemas.microsoft.com/office/powerpoint/2010/main" xmlns="" val="427520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74164" y="580895"/>
            <a:ext cx="7622861" cy="1088068"/>
          </a:xfrm>
        </p:spPr>
        <p:txBody>
          <a:bodyPr>
            <a:normAutofit/>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incremental </a:t>
            </a:r>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functio</a:t>
            </a:r>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n</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2" cstate="print"/>
          <a:stretch>
            <a:fillRect/>
          </a:stretch>
        </p:blipFill>
        <p:spPr>
          <a:xfrm>
            <a:off x="1137137" y="2255042"/>
            <a:ext cx="7312866" cy="1054139"/>
          </a:xfrm>
          <a:prstGeom prst="rect">
            <a:avLst/>
          </a:prstGeom>
        </p:spPr>
      </p:pic>
      <p:pic>
        <p:nvPicPr>
          <p:cNvPr id="3" name="圖片 2"/>
          <p:cNvPicPr>
            <a:picLocks noChangeAspect="1"/>
          </p:cNvPicPr>
          <p:nvPr/>
        </p:nvPicPr>
        <p:blipFill>
          <a:blip r:embed="rId3" cstate="print"/>
          <a:stretch>
            <a:fillRect/>
          </a:stretch>
        </p:blipFill>
        <p:spPr>
          <a:xfrm>
            <a:off x="1081191" y="3398748"/>
            <a:ext cx="7315834" cy="774455"/>
          </a:xfrm>
          <a:prstGeom prst="rect">
            <a:avLst/>
          </a:prstGeom>
        </p:spPr>
      </p:pic>
      <p:sp>
        <p:nvSpPr>
          <p:cNvPr id="185" name="流程圖: 程序 184"/>
          <p:cNvSpPr/>
          <p:nvPr/>
        </p:nvSpPr>
        <p:spPr>
          <a:xfrm>
            <a:off x="2725286"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186" name="流程圖: 接點 185"/>
          <p:cNvSpPr/>
          <p:nvPr/>
        </p:nvSpPr>
        <p:spPr>
          <a:xfrm>
            <a:off x="3692836" y="455407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0</a:t>
            </a:r>
            <a:endParaRPr lang="zh-TW" altLang="en-US" sz="1350" dirty="0"/>
          </a:p>
        </p:txBody>
      </p:sp>
      <p:sp>
        <p:nvSpPr>
          <p:cNvPr id="191" name="流程圖: 程序 190"/>
          <p:cNvSpPr/>
          <p:nvPr/>
        </p:nvSpPr>
        <p:spPr>
          <a:xfrm>
            <a:off x="2240260"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192" name="流程圖: 程序 191"/>
          <p:cNvSpPr/>
          <p:nvPr/>
        </p:nvSpPr>
        <p:spPr>
          <a:xfrm>
            <a:off x="3201769"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193" name="流程圖: 程序 192"/>
          <p:cNvSpPr/>
          <p:nvPr/>
        </p:nvSpPr>
        <p:spPr>
          <a:xfrm>
            <a:off x="3658706" y="5234478"/>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194" name="流程圖: 接點 193"/>
          <p:cNvSpPr/>
          <p:nvPr/>
        </p:nvSpPr>
        <p:spPr>
          <a:xfrm>
            <a:off x="4148638" y="455407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95" name="流程圖: 接點 194"/>
          <p:cNvSpPr/>
          <p:nvPr/>
        </p:nvSpPr>
        <p:spPr>
          <a:xfrm>
            <a:off x="2672261" y="454963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96" name="流程圖: 接點 195"/>
          <p:cNvSpPr/>
          <p:nvPr/>
        </p:nvSpPr>
        <p:spPr>
          <a:xfrm>
            <a:off x="3201769" y="4558615"/>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97" name="文字方塊 196"/>
          <p:cNvSpPr txBox="1"/>
          <p:nvPr/>
        </p:nvSpPr>
        <p:spPr>
          <a:xfrm>
            <a:off x="4906245" y="439415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sp>
        <p:nvSpPr>
          <p:cNvPr id="204" name="流程圖: 程序 203"/>
          <p:cNvSpPr/>
          <p:nvPr/>
        </p:nvSpPr>
        <p:spPr>
          <a:xfrm>
            <a:off x="4160042" y="5234477"/>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cxnSp>
        <p:nvCxnSpPr>
          <p:cNvPr id="205" name="直線接點 204"/>
          <p:cNvCxnSpPr/>
          <p:nvPr/>
        </p:nvCxnSpPr>
        <p:spPr>
          <a:xfrm flipH="1">
            <a:off x="2325406" y="4820042"/>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206" name="直線接點 205"/>
          <p:cNvCxnSpPr/>
          <p:nvPr/>
        </p:nvCxnSpPr>
        <p:spPr>
          <a:xfrm flipH="1">
            <a:off x="2891201" y="4845379"/>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207" name="直線接點 206"/>
          <p:cNvCxnSpPr/>
          <p:nvPr/>
        </p:nvCxnSpPr>
        <p:spPr>
          <a:xfrm flipH="1">
            <a:off x="3326422" y="4849375"/>
            <a:ext cx="520409" cy="363943"/>
          </a:xfrm>
          <a:prstGeom prst="line">
            <a:avLst/>
          </a:prstGeom>
        </p:spPr>
        <p:style>
          <a:lnRef idx="3">
            <a:schemeClr val="accent2"/>
          </a:lnRef>
          <a:fillRef idx="0">
            <a:schemeClr val="accent2"/>
          </a:fillRef>
          <a:effectRef idx="2">
            <a:schemeClr val="accent2"/>
          </a:effectRef>
          <a:fontRef idx="minor">
            <a:schemeClr val="tx1"/>
          </a:fontRef>
        </p:style>
      </p:cxnSp>
      <p:cxnSp>
        <p:nvCxnSpPr>
          <p:cNvPr id="208" name="直線接點 207"/>
          <p:cNvCxnSpPr/>
          <p:nvPr/>
        </p:nvCxnSpPr>
        <p:spPr>
          <a:xfrm flipH="1">
            <a:off x="3812747" y="4830113"/>
            <a:ext cx="544623" cy="404364"/>
          </a:xfrm>
          <a:prstGeom prst="line">
            <a:avLst/>
          </a:prstGeom>
        </p:spPr>
        <p:style>
          <a:lnRef idx="3">
            <a:schemeClr val="accent2"/>
          </a:lnRef>
          <a:fillRef idx="0">
            <a:schemeClr val="accent2"/>
          </a:fillRef>
          <a:effectRef idx="2">
            <a:schemeClr val="accent2"/>
          </a:effectRef>
          <a:fontRef idx="minor">
            <a:schemeClr val="tx1"/>
          </a:fontRef>
        </p:style>
      </p:cxnSp>
      <p:sp>
        <p:nvSpPr>
          <p:cNvPr id="219" name="文字方塊 218"/>
          <p:cNvSpPr txBox="1"/>
          <p:nvPr/>
        </p:nvSpPr>
        <p:spPr>
          <a:xfrm>
            <a:off x="5911403" y="4549639"/>
            <a:ext cx="2485622" cy="923330"/>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入</a:t>
            </a:r>
            <a:r>
              <a:rPr lang="en-US" altLang="zh-TW" dirty="0" smtClean="0"/>
              <a:t>=4</a:t>
            </a:r>
          </a:p>
          <a:p>
            <a:r>
              <a:rPr lang="en-US" altLang="zh-TW" dirty="0" smtClean="0"/>
              <a:t>EX:</a:t>
            </a:r>
            <a:r>
              <a:rPr lang="en-US" altLang="zh-TW" dirty="0" smtClean="0">
                <a:sym typeface="Wingdings" panose="05000000000000000000" pitchFamily="2" charset="2"/>
              </a:rPr>
              <a:t>(0+1+0+0)=1</a:t>
            </a:r>
            <a:endParaRPr lang="en-US" altLang="zh-TW" dirty="0" smtClean="0"/>
          </a:p>
          <a:p>
            <a:endParaRPr lang="zh-TW" altLang="en-US" dirty="0"/>
          </a:p>
        </p:txBody>
      </p:sp>
    </p:spTree>
    <p:extLst>
      <p:ext uri="{BB962C8B-B14F-4D97-AF65-F5344CB8AC3E}">
        <p14:creationId xmlns:p14="http://schemas.microsoft.com/office/powerpoint/2010/main" xmlns="" val="37228938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509298" y="1841679"/>
            <a:ext cx="2857462" cy="4095482"/>
          </a:xfrm>
        </p:spPr>
        <p:txBody>
          <a:bodyPr/>
          <a:lstStyle/>
          <a:p>
            <a:r>
              <a:rPr lang="en-US" altLang="zh-TW" dirty="0" smtClean="0"/>
              <a:t>EX:</a:t>
            </a:r>
          </a:p>
          <a:p>
            <a:r>
              <a:rPr lang="en-US" altLang="zh-TW" dirty="0" smtClean="0"/>
              <a:t>4-4=0 </a:t>
            </a:r>
            <a:r>
              <a:rPr lang="zh-TW" altLang="en-US" dirty="0" smtClean="0"/>
              <a:t>，</a:t>
            </a:r>
            <a:r>
              <a:rPr lang="en-US" altLang="zh-TW" dirty="0" smtClean="0"/>
              <a:t>X</a:t>
            </a:r>
            <a:r>
              <a:rPr lang="zh-TW" altLang="en-US" dirty="0" smtClean="0"/>
              <a:t>都對應</a:t>
            </a:r>
            <a:endParaRPr lang="en-US" altLang="zh-TW" dirty="0" smtClean="0"/>
          </a:p>
          <a:p>
            <a:endParaRPr lang="en-US" altLang="zh-TW" dirty="0"/>
          </a:p>
          <a:p>
            <a:endParaRPr lang="en-US" altLang="zh-TW" dirty="0" smtClean="0"/>
          </a:p>
          <a:p>
            <a:endParaRPr lang="en-US" altLang="zh-TW" dirty="0"/>
          </a:p>
          <a:p>
            <a:r>
              <a:rPr lang="en-US" altLang="zh-TW" dirty="0"/>
              <a:t>EX:</a:t>
            </a:r>
          </a:p>
          <a:p>
            <a:r>
              <a:rPr lang="en-US" altLang="zh-TW" dirty="0" smtClean="0"/>
              <a:t>5-4=1 </a:t>
            </a:r>
            <a:r>
              <a:rPr lang="zh-TW" altLang="en-US" dirty="0" smtClean="0"/>
              <a:t>，</a:t>
            </a:r>
            <a:r>
              <a:rPr lang="en-US" altLang="zh-TW" dirty="0" smtClean="0"/>
              <a:t>y</a:t>
            </a:r>
            <a:r>
              <a:rPr lang="zh-TW" altLang="en-US" dirty="0" smtClean="0"/>
              <a:t>有一個沒對應</a:t>
            </a:r>
            <a:endParaRPr lang="zh-TW" altLang="en-US" dirty="0"/>
          </a:p>
          <a:p>
            <a:endParaRPr lang="zh-TW" altLang="en-US" dirty="0"/>
          </a:p>
        </p:txBody>
      </p:sp>
      <p:pic>
        <p:nvPicPr>
          <p:cNvPr id="4" name="圖片 3"/>
          <p:cNvPicPr>
            <a:picLocks noChangeAspect="1"/>
          </p:cNvPicPr>
          <p:nvPr/>
        </p:nvPicPr>
        <p:blipFill>
          <a:blip r:embed="rId2" cstate="print"/>
          <a:stretch>
            <a:fillRect/>
          </a:stretch>
        </p:blipFill>
        <p:spPr>
          <a:xfrm>
            <a:off x="877082" y="630686"/>
            <a:ext cx="7185151" cy="717162"/>
          </a:xfrm>
          <a:prstGeom prst="rect">
            <a:avLst/>
          </a:prstGeom>
        </p:spPr>
      </p:pic>
      <p:pic>
        <p:nvPicPr>
          <p:cNvPr id="5" name="圖片 4"/>
          <p:cNvPicPr>
            <a:picLocks noChangeAspect="1"/>
          </p:cNvPicPr>
          <p:nvPr/>
        </p:nvPicPr>
        <p:blipFill>
          <a:blip r:embed="rId3" cstate="print"/>
          <a:stretch>
            <a:fillRect/>
          </a:stretch>
        </p:blipFill>
        <p:spPr>
          <a:xfrm>
            <a:off x="791350" y="3400937"/>
            <a:ext cx="7216760" cy="256663"/>
          </a:xfrm>
          <a:prstGeom prst="rect">
            <a:avLst/>
          </a:prstGeom>
        </p:spPr>
      </p:pic>
      <p:sp>
        <p:nvSpPr>
          <p:cNvPr id="6" name="流程圖: 程序 5"/>
          <p:cNvSpPr/>
          <p:nvPr/>
        </p:nvSpPr>
        <p:spPr>
          <a:xfrm>
            <a:off x="2725286"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7" name="流程圖: 接點 6"/>
          <p:cNvSpPr/>
          <p:nvPr/>
        </p:nvSpPr>
        <p:spPr>
          <a:xfrm>
            <a:off x="3692836" y="455407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0</a:t>
            </a:r>
            <a:endParaRPr lang="zh-TW" altLang="en-US" sz="1350" dirty="0"/>
          </a:p>
        </p:txBody>
      </p:sp>
      <p:sp>
        <p:nvSpPr>
          <p:cNvPr id="8" name="流程圖: 程序 7"/>
          <p:cNvSpPr/>
          <p:nvPr/>
        </p:nvSpPr>
        <p:spPr>
          <a:xfrm>
            <a:off x="2240260"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9" name="流程圖: 程序 8"/>
          <p:cNvSpPr/>
          <p:nvPr/>
        </p:nvSpPr>
        <p:spPr>
          <a:xfrm>
            <a:off x="3201769" y="5224406"/>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10" name="流程圖: 程序 9"/>
          <p:cNvSpPr/>
          <p:nvPr/>
        </p:nvSpPr>
        <p:spPr>
          <a:xfrm>
            <a:off x="3658706" y="5234478"/>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11" name="流程圖: 接點 10"/>
          <p:cNvSpPr/>
          <p:nvPr/>
        </p:nvSpPr>
        <p:spPr>
          <a:xfrm>
            <a:off x="4148638" y="455407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2" name="流程圖: 接點 11"/>
          <p:cNvSpPr/>
          <p:nvPr/>
        </p:nvSpPr>
        <p:spPr>
          <a:xfrm>
            <a:off x="2672261" y="454963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3" name="流程圖: 接點 12"/>
          <p:cNvSpPr/>
          <p:nvPr/>
        </p:nvSpPr>
        <p:spPr>
          <a:xfrm>
            <a:off x="3201769" y="4558615"/>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14" name="文字方塊 13"/>
          <p:cNvSpPr txBox="1"/>
          <p:nvPr/>
        </p:nvSpPr>
        <p:spPr>
          <a:xfrm>
            <a:off x="4906245" y="439415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sp>
        <p:nvSpPr>
          <p:cNvPr id="15" name="流程圖: 程序 14"/>
          <p:cNvSpPr/>
          <p:nvPr/>
        </p:nvSpPr>
        <p:spPr>
          <a:xfrm>
            <a:off x="4160042" y="5234477"/>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cxnSp>
        <p:nvCxnSpPr>
          <p:cNvPr id="16" name="直線接點 15"/>
          <p:cNvCxnSpPr/>
          <p:nvPr/>
        </p:nvCxnSpPr>
        <p:spPr>
          <a:xfrm flipH="1">
            <a:off x="2325406" y="4820042"/>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直線接點 16"/>
          <p:cNvCxnSpPr/>
          <p:nvPr/>
        </p:nvCxnSpPr>
        <p:spPr>
          <a:xfrm flipH="1">
            <a:off x="2891201" y="4845379"/>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8" name="直線接點 17"/>
          <p:cNvCxnSpPr/>
          <p:nvPr/>
        </p:nvCxnSpPr>
        <p:spPr>
          <a:xfrm flipH="1">
            <a:off x="3326422" y="4849375"/>
            <a:ext cx="520409" cy="363943"/>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直線接點 18"/>
          <p:cNvCxnSpPr/>
          <p:nvPr/>
        </p:nvCxnSpPr>
        <p:spPr>
          <a:xfrm flipH="1">
            <a:off x="3812747" y="4830113"/>
            <a:ext cx="544623" cy="404364"/>
          </a:xfrm>
          <a:prstGeom prst="line">
            <a:avLst/>
          </a:prstGeom>
        </p:spPr>
        <p:style>
          <a:lnRef idx="3">
            <a:schemeClr val="accent2"/>
          </a:lnRef>
          <a:fillRef idx="0">
            <a:schemeClr val="accent2"/>
          </a:fillRef>
          <a:effectRef idx="2">
            <a:schemeClr val="accent2"/>
          </a:effectRef>
          <a:fontRef idx="minor">
            <a:schemeClr val="tx1"/>
          </a:fontRef>
        </p:style>
      </p:cxnSp>
      <p:sp>
        <p:nvSpPr>
          <p:cNvPr id="20" name="流程圖: 程序 19"/>
          <p:cNvSpPr/>
          <p:nvPr/>
        </p:nvSpPr>
        <p:spPr>
          <a:xfrm>
            <a:off x="1928140" y="2539041"/>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21" name="流程圖: 接點 20"/>
          <p:cNvSpPr/>
          <p:nvPr/>
        </p:nvSpPr>
        <p:spPr>
          <a:xfrm>
            <a:off x="2895690" y="186870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0</a:t>
            </a:r>
            <a:endParaRPr lang="zh-TW" altLang="en-US" sz="1350" dirty="0"/>
          </a:p>
        </p:txBody>
      </p:sp>
      <p:sp>
        <p:nvSpPr>
          <p:cNvPr id="22" name="流程圖: 程序 21"/>
          <p:cNvSpPr/>
          <p:nvPr/>
        </p:nvSpPr>
        <p:spPr>
          <a:xfrm>
            <a:off x="1443114" y="2539041"/>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23" name="流程圖: 程序 22"/>
          <p:cNvSpPr/>
          <p:nvPr/>
        </p:nvSpPr>
        <p:spPr>
          <a:xfrm>
            <a:off x="2404623" y="2539041"/>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0</a:t>
            </a:r>
            <a:endParaRPr lang="zh-TW" altLang="en-US" sz="1350" dirty="0"/>
          </a:p>
        </p:txBody>
      </p:sp>
      <p:sp>
        <p:nvSpPr>
          <p:cNvPr id="24" name="流程圖: 程序 23"/>
          <p:cNvSpPr/>
          <p:nvPr/>
        </p:nvSpPr>
        <p:spPr>
          <a:xfrm>
            <a:off x="2861560" y="2549113"/>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sp>
        <p:nvSpPr>
          <p:cNvPr id="25" name="流程圖: 接點 24"/>
          <p:cNvSpPr/>
          <p:nvPr/>
        </p:nvSpPr>
        <p:spPr>
          <a:xfrm>
            <a:off x="3351492" y="186870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26" name="流程圖: 接點 25"/>
          <p:cNvSpPr/>
          <p:nvPr/>
        </p:nvSpPr>
        <p:spPr>
          <a:xfrm>
            <a:off x="1875115" y="1864274"/>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27" name="流程圖: 接點 26"/>
          <p:cNvSpPr/>
          <p:nvPr/>
        </p:nvSpPr>
        <p:spPr>
          <a:xfrm>
            <a:off x="2404623" y="1873250"/>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a:t>1</a:t>
            </a:r>
            <a:endParaRPr lang="zh-TW" altLang="en-US" sz="1350" dirty="0"/>
          </a:p>
        </p:txBody>
      </p:sp>
      <p:sp>
        <p:nvSpPr>
          <p:cNvPr id="28" name="文字方塊 27"/>
          <p:cNvSpPr txBox="1"/>
          <p:nvPr/>
        </p:nvSpPr>
        <p:spPr>
          <a:xfrm>
            <a:off x="4309148" y="185077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sp>
        <p:nvSpPr>
          <p:cNvPr id="29" name="流程圖: 程序 28"/>
          <p:cNvSpPr/>
          <p:nvPr/>
        </p:nvSpPr>
        <p:spPr>
          <a:xfrm>
            <a:off x="3362896" y="2549112"/>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1</a:t>
            </a:r>
            <a:endParaRPr lang="zh-TW" altLang="en-US" sz="1350" dirty="0"/>
          </a:p>
        </p:txBody>
      </p:sp>
      <p:cxnSp>
        <p:nvCxnSpPr>
          <p:cNvPr id="30" name="直線接點 29"/>
          <p:cNvCxnSpPr/>
          <p:nvPr/>
        </p:nvCxnSpPr>
        <p:spPr>
          <a:xfrm flipH="1">
            <a:off x="1528260" y="2134677"/>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31" name="直線接點 30"/>
          <p:cNvCxnSpPr/>
          <p:nvPr/>
        </p:nvCxnSpPr>
        <p:spPr>
          <a:xfrm flipH="1">
            <a:off x="2094055" y="2160014"/>
            <a:ext cx="544623" cy="404364"/>
          </a:xfrm>
          <a:prstGeom prst="line">
            <a:avLst/>
          </a:prstGeom>
        </p:spPr>
        <p:style>
          <a:lnRef idx="3">
            <a:schemeClr val="accent2"/>
          </a:lnRef>
          <a:fillRef idx="0">
            <a:schemeClr val="accent2"/>
          </a:fillRef>
          <a:effectRef idx="2">
            <a:schemeClr val="accent2"/>
          </a:effectRef>
          <a:fontRef idx="minor">
            <a:schemeClr val="tx1"/>
          </a:fontRef>
        </p:style>
      </p:cxnSp>
      <p:cxnSp>
        <p:nvCxnSpPr>
          <p:cNvPr id="32" name="直線接點 31"/>
          <p:cNvCxnSpPr/>
          <p:nvPr/>
        </p:nvCxnSpPr>
        <p:spPr>
          <a:xfrm flipH="1">
            <a:off x="2529276" y="2164010"/>
            <a:ext cx="520409" cy="363943"/>
          </a:xfrm>
          <a:prstGeom prst="line">
            <a:avLst/>
          </a:prstGeom>
        </p:spPr>
        <p:style>
          <a:lnRef idx="3">
            <a:schemeClr val="accent2"/>
          </a:lnRef>
          <a:fillRef idx="0">
            <a:schemeClr val="accent2"/>
          </a:fillRef>
          <a:effectRef idx="2">
            <a:schemeClr val="accent2"/>
          </a:effectRef>
          <a:fontRef idx="minor">
            <a:schemeClr val="tx1"/>
          </a:fontRef>
        </p:style>
      </p:cxnSp>
      <p:cxnSp>
        <p:nvCxnSpPr>
          <p:cNvPr id="33" name="直線接點 32"/>
          <p:cNvCxnSpPr/>
          <p:nvPr/>
        </p:nvCxnSpPr>
        <p:spPr>
          <a:xfrm flipH="1">
            <a:off x="3015601" y="2144748"/>
            <a:ext cx="544623" cy="404364"/>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xmlns="" val="19547521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incremental function</a:t>
            </a:r>
            <a:endParaRPr lang="zh-TW" altLang="en-US" dirty="0"/>
          </a:p>
        </p:txBody>
      </p:sp>
      <p:pic>
        <p:nvPicPr>
          <p:cNvPr id="4" name="內容版面配置區 3"/>
          <p:cNvPicPr>
            <a:picLocks noGrp="1" noChangeAspect="1"/>
          </p:cNvPicPr>
          <p:nvPr>
            <p:ph idx="1"/>
          </p:nvPr>
        </p:nvPicPr>
        <p:blipFill>
          <a:blip r:embed="rId2" cstate="print"/>
          <a:stretch>
            <a:fillRect/>
          </a:stretch>
        </p:blipFill>
        <p:spPr>
          <a:xfrm>
            <a:off x="426287" y="4031088"/>
            <a:ext cx="8337145" cy="803857"/>
          </a:xfrm>
          <a:prstGeom prst="rect">
            <a:avLst/>
          </a:prstGeom>
        </p:spPr>
      </p:pic>
      <p:sp>
        <p:nvSpPr>
          <p:cNvPr id="5" name="文字方塊 4"/>
          <p:cNvSpPr txBox="1"/>
          <p:nvPr/>
        </p:nvSpPr>
        <p:spPr>
          <a:xfrm>
            <a:off x="822961" y="2009104"/>
            <a:ext cx="6724060" cy="1200329"/>
          </a:xfrm>
          <a:prstGeom prst="rect">
            <a:avLst/>
          </a:prstGeom>
          <a:noFill/>
        </p:spPr>
        <p:txBody>
          <a:bodyPr wrap="square" rtlCol="0">
            <a:spAutoFit/>
          </a:bodyPr>
          <a:lstStyle/>
          <a:p>
            <a:r>
              <a:rPr lang="zh-TW" altLang="en-US" sz="2400" dirty="0" smtClean="0"/>
              <a:t>由前面三個例子，可以推出</a:t>
            </a:r>
            <a:r>
              <a:rPr lang="en-US" altLang="zh-TW" sz="2400" dirty="0" smtClean="0"/>
              <a:t>k=h,        </a:t>
            </a:r>
            <a:r>
              <a:rPr lang="zh-TW" altLang="en-US" sz="2400" dirty="0" smtClean="0"/>
              <a:t>和</a:t>
            </a:r>
            <a:r>
              <a:rPr lang="en-US" altLang="zh-TW" sz="2400" dirty="0" smtClean="0"/>
              <a:t>d(</a:t>
            </a:r>
            <a:r>
              <a:rPr lang="en-US" altLang="zh-TW" sz="2400" dirty="0" err="1" smtClean="0"/>
              <a:t>x,y</a:t>
            </a:r>
            <a:r>
              <a:rPr lang="en-US" altLang="zh-TW" sz="2400" dirty="0" smtClean="0"/>
              <a:t>)</a:t>
            </a:r>
            <a:r>
              <a:rPr lang="zh-TW" altLang="en-US" sz="2400" dirty="0" smtClean="0"/>
              <a:t>結果是一樣的，下面是近一步延伸成整個樹的兩兩</a:t>
            </a:r>
            <a:r>
              <a:rPr lang="en-US" altLang="zh-TW" sz="2400" dirty="0" smtClean="0"/>
              <a:t>sequence</a:t>
            </a:r>
            <a:r>
              <a:rPr lang="zh-TW" altLang="en-US" sz="2400" dirty="0" smtClean="0"/>
              <a:t>之間差異加總</a:t>
            </a:r>
            <a:endParaRPr lang="en-US" altLang="zh-TW" sz="2400" dirty="0" smtClean="0"/>
          </a:p>
        </p:txBody>
      </p:sp>
      <p:pic>
        <p:nvPicPr>
          <p:cNvPr id="6" name="圖片 5"/>
          <p:cNvPicPr>
            <a:picLocks noChangeAspect="1"/>
          </p:cNvPicPr>
          <p:nvPr/>
        </p:nvPicPr>
        <p:blipFill>
          <a:blip r:embed="rId3" cstate="print"/>
          <a:stretch>
            <a:fillRect/>
          </a:stretch>
        </p:blipFill>
        <p:spPr>
          <a:xfrm>
            <a:off x="5260337" y="2112687"/>
            <a:ext cx="291786" cy="324207"/>
          </a:xfrm>
          <a:prstGeom prst="rect">
            <a:avLst/>
          </a:prstGeom>
        </p:spPr>
      </p:pic>
    </p:spTree>
    <p:extLst>
      <p:ext uri="{BB962C8B-B14F-4D97-AF65-F5344CB8AC3E}">
        <p14:creationId xmlns:p14="http://schemas.microsoft.com/office/powerpoint/2010/main" xmlns="" val="15105336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Minimizin</a:t>
            </a:r>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g</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4" name="橢圓 3"/>
          <p:cNvSpPr/>
          <p:nvPr/>
        </p:nvSpPr>
        <p:spPr>
          <a:xfrm>
            <a:off x="3226157" y="2354886"/>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350" dirty="0"/>
              <a:t>x</a:t>
            </a:r>
            <a:endParaRPr lang="zh-TW" altLang="en-US" sz="1350" dirty="0"/>
          </a:p>
        </p:txBody>
      </p:sp>
      <p:sp>
        <p:nvSpPr>
          <p:cNvPr id="5" name="橢圓 4"/>
          <p:cNvSpPr/>
          <p:nvPr/>
        </p:nvSpPr>
        <p:spPr>
          <a:xfrm>
            <a:off x="2694904" y="2946835"/>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6" name="橢圓 5"/>
          <p:cNvSpPr/>
          <p:nvPr/>
        </p:nvSpPr>
        <p:spPr>
          <a:xfrm>
            <a:off x="3676919" y="2946835"/>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350" dirty="0"/>
              <a:t>y</a:t>
            </a:r>
            <a:endParaRPr lang="zh-TW" altLang="en-US" sz="1350" dirty="0"/>
          </a:p>
        </p:txBody>
      </p:sp>
      <p:sp>
        <p:nvSpPr>
          <p:cNvPr id="7" name="橢圓 6"/>
          <p:cNvSpPr/>
          <p:nvPr/>
        </p:nvSpPr>
        <p:spPr>
          <a:xfrm>
            <a:off x="4120676" y="3460537"/>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8" name="橢圓 7"/>
          <p:cNvSpPr/>
          <p:nvPr/>
        </p:nvSpPr>
        <p:spPr>
          <a:xfrm>
            <a:off x="3451538" y="4076443"/>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9" name="橢圓 8"/>
          <p:cNvSpPr/>
          <p:nvPr/>
        </p:nvSpPr>
        <p:spPr>
          <a:xfrm>
            <a:off x="4439429" y="3951205"/>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 name="橢圓 9"/>
          <p:cNvSpPr/>
          <p:nvPr/>
        </p:nvSpPr>
        <p:spPr>
          <a:xfrm>
            <a:off x="3066781" y="3460537"/>
            <a:ext cx="318753" cy="31875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cxnSp>
        <p:nvCxnSpPr>
          <p:cNvPr id="12" name="直線接點 11"/>
          <p:cNvCxnSpPr>
            <a:stCxn id="4" idx="5"/>
            <a:endCxn id="6" idx="1"/>
          </p:cNvCxnSpPr>
          <p:nvPr/>
        </p:nvCxnSpPr>
        <p:spPr>
          <a:xfrm>
            <a:off x="3498232" y="2626958"/>
            <a:ext cx="225368" cy="366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4" idx="3"/>
            <a:endCxn id="5" idx="7"/>
          </p:cNvCxnSpPr>
          <p:nvPr/>
        </p:nvCxnSpPr>
        <p:spPr>
          <a:xfrm flipH="1">
            <a:off x="2966977" y="2626958"/>
            <a:ext cx="305861" cy="366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5" idx="5"/>
            <a:endCxn id="10" idx="0"/>
          </p:cNvCxnSpPr>
          <p:nvPr/>
        </p:nvCxnSpPr>
        <p:spPr>
          <a:xfrm>
            <a:off x="2966977" y="3218908"/>
            <a:ext cx="259181" cy="241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6" idx="5"/>
            <a:endCxn id="7" idx="1"/>
          </p:cNvCxnSpPr>
          <p:nvPr/>
        </p:nvCxnSpPr>
        <p:spPr>
          <a:xfrm>
            <a:off x="3948992" y="3218908"/>
            <a:ext cx="218364" cy="288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a:stCxn id="10" idx="4"/>
            <a:endCxn id="8" idx="1"/>
          </p:cNvCxnSpPr>
          <p:nvPr/>
        </p:nvCxnSpPr>
        <p:spPr>
          <a:xfrm>
            <a:off x="3226159" y="3779290"/>
            <a:ext cx="272060" cy="3438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a:stCxn id="7" idx="5"/>
            <a:endCxn id="9" idx="0"/>
          </p:cNvCxnSpPr>
          <p:nvPr/>
        </p:nvCxnSpPr>
        <p:spPr>
          <a:xfrm>
            <a:off x="4392748" y="3732610"/>
            <a:ext cx="206057" cy="2185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5257800" y="3157691"/>
            <a:ext cx="3525592" cy="1200329"/>
          </a:xfrm>
          <a:prstGeom prst="rect">
            <a:avLst/>
          </a:prstGeom>
          <a:noFill/>
        </p:spPr>
        <p:txBody>
          <a:bodyPr wrap="square" rtlCol="0">
            <a:spAutoFit/>
          </a:bodyPr>
          <a:lstStyle/>
          <a:p>
            <a:r>
              <a:rPr lang="zh-TW" altLang="en-US" sz="2400" dirty="0"/>
              <a:t>快速分成</a:t>
            </a:r>
            <a:r>
              <a:rPr lang="en-US" altLang="zh-TW" sz="2400" dirty="0"/>
              <a:t>m</a:t>
            </a:r>
            <a:r>
              <a:rPr lang="zh-TW" altLang="en-US" sz="2400" dirty="0"/>
              <a:t>個</a:t>
            </a:r>
            <a:r>
              <a:rPr lang="en-US" altLang="zh-TW" sz="2400" dirty="0" err="1"/>
              <a:t>subtree</a:t>
            </a:r>
            <a:r>
              <a:rPr lang="en-US" altLang="zh-TW" sz="2400" dirty="0"/>
              <a:t>(m</a:t>
            </a:r>
            <a:r>
              <a:rPr lang="zh-TW" altLang="en-US" sz="2400" dirty="0"/>
              <a:t>為最小</a:t>
            </a:r>
            <a:r>
              <a:rPr lang="en-US" altLang="zh-TW" sz="2400" dirty="0"/>
              <a:t>)</a:t>
            </a:r>
            <a:r>
              <a:rPr lang="zh-TW" altLang="en-US" sz="2400" dirty="0"/>
              <a:t>，有助於遞增項運算</a:t>
            </a:r>
            <a:r>
              <a:rPr lang="en-US" altLang="zh-TW" sz="2400" dirty="0"/>
              <a:t>mutation distance</a:t>
            </a:r>
            <a:endParaRPr lang="zh-TW" altLang="en-US" sz="2400" dirty="0"/>
          </a:p>
        </p:txBody>
      </p:sp>
    </p:spTree>
    <p:extLst>
      <p:ext uri="{BB962C8B-B14F-4D97-AF65-F5344CB8AC3E}">
        <p14:creationId xmlns:p14="http://schemas.microsoft.com/office/powerpoint/2010/main" xmlns="" val="116965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main </a:t>
            </a:r>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algorithm</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pic>
        <p:nvPicPr>
          <p:cNvPr id="4" name="內容版面配置區 3"/>
          <p:cNvPicPr>
            <a:picLocks noGrp="1" noChangeAspect="1"/>
          </p:cNvPicPr>
          <p:nvPr>
            <p:ph idx="1"/>
          </p:nvPr>
        </p:nvPicPr>
        <p:blipFill>
          <a:blip r:embed="rId2" cstate="print"/>
          <a:stretch>
            <a:fillRect/>
          </a:stretch>
        </p:blipFill>
        <p:spPr>
          <a:xfrm>
            <a:off x="822960" y="2241098"/>
            <a:ext cx="4475273" cy="638658"/>
          </a:xfrm>
          <a:prstGeom prst="rect">
            <a:avLst/>
          </a:prstGeom>
        </p:spPr>
      </p:pic>
      <p:sp>
        <p:nvSpPr>
          <p:cNvPr id="5" name="文字方塊 4"/>
          <p:cNvSpPr txBox="1"/>
          <p:nvPr/>
        </p:nvSpPr>
        <p:spPr>
          <a:xfrm>
            <a:off x="822960" y="3169902"/>
            <a:ext cx="2636950" cy="400110"/>
          </a:xfrm>
          <a:prstGeom prst="rect">
            <a:avLst/>
          </a:prstGeom>
          <a:noFill/>
        </p:spPr>
        <p:txBody>
          <a:bodyPr wrap="square" rtlCol="0">
            <a:spAutoFit/>
          </a:bodyPr>
          <a:lstStyle/>
          <a:p>
            <a:r>
              <a:rPr lang="en-US" altLang="zh-TW" sz="2000" dirty="0"/>
              <a:t>Set d </a:t>
            </a:r>
            <a:r>
              <a:rPr lang="en-US" altLang="zh-TW" sz="2000" baseline="-25000" dirty="0"/>
              <a:t>T</a:t>
            </a:r>
            <a:r>
              <a:rPr lang="en-US" altLang="zh-TW" sz="2000" dirty="0"/>
              <a:t>(0)=0</a:t>
            </a:r>
            <a:endParaRPr lang="en-US" altLang="zh-TW" sz="2000" baseline="-25000" dirty="0"/>
          </a:p>
        </p:txBody>
      </p:sp>
      <p:pic>
        <p:nvPicPr>
          <p:cNvPr id="6" name="圖片 5"/>
          <p:cNvPicPr>
            <a:picLocks noChangeAspect="1"/>
          </p:cNvPicPr>
          <p:nvPr/>
        </p:nvPicPr>
        <p:blipFill>
          <a:blip r:embed="rId3" cstate="print"/>
          <a:stretch>
            <a:fillRect/>
          </a:stretch>
        </p:blipFill>
        <p:spPr>
          <a:xfrm>
            <a:off x="2454029" y="3120006"/>
            <a:ext cx="3330333" cy="399141"/>
          </a:xfrm>
          <a:prstGeom prst="rect">
            <a:avLst/>
          </a:prstGeom>
        </p:spPr>
      </p:pic>
      <p:pic>
        <p:nvPicPr>
          <p:cNvPr id="3" name="圖片 2"/>
          <p:cNvPicPr>
            <a:picLocks noChangeAspect="1"/>
          </p:cNvPicPr>
          <p:nvPr/>
        </p:nvPicPr>
        <p:blipFill>
          <a:blip r:embed="rId4" cstate="print"/>
          <a:stretch>
            <a:fillRect/>
          </a:stretch>
        </p:blipFill>
        <p:spPr>
          <a:xfrm>
            <a:off x="822960" y="3540562"/>
            <a:ext cx="7839075" cy="333375"/>
          </a:xfrm>
          <a:prstGeom prst="rect">
            <a:avLst/>
          </a:prstGeom>
        </p:spPr>
      </p:pic>
      <p:pic>
        <p:nvPicPr>
          <p:cNvPr id="7" name="圖片 6"/>
          <p:cNvPicPr>
            <a:picLocks noChangeAspect="1"/>
          </p:cNvPicPr>
          <p:nvPr/>
        </p:nvPicPr>
        <p:blipFill>
          <a:blip r:embed="rId5" cstate="print"/>
          <a:stretch>
            <a:fillRect/>
          </a:stretch>
        </p:blipFill>
        <p:spPr>
          <a:xfrm>
            <a:off x="822958" y="3995056"/>
            <a:ext cx="2743235" cy="369409"/>
          </a:xfrm>
          <a:prstGeom prst="rect">
            <a:avLst/>
          </a:prstGeom>
        </p:spPr>
      </p:pic>
      <p:pic>
        <p:nvPicPr>
          <p:cNvPr id="9" name="圖片 8"/>
          <p:cNvPicPr>
            <a:picLocks noChangeAspect="1"/>
          </p:cNvPicPr>
          <p:nvPr/>
        </p:nvPicPr>
        <p:blipFill>
          <a:blip r:embed="rId6" cstate="print"/>
          <a:stretch>
            <a:fillRect/>
          </a:stretch>
        </p:blipFill>
        <p:spPr>
          <a:xfrm>
            <a:off x="822960" y="1897703"/>
            <a:ext cx="2124075" cy="361950"/>
          </a:xfrm>
          <a:prstGeom prst="rect">
            <a:avLst/>
          </a:prstGeom>
        </p:spPr>
      </p:pic>
      <p:pic>
        <p:nvPicPr>
          <p:cNvPr id="10" name="圖片 9"/>
          <p:cNvPicPr>
            <a:picLocks noChangeAspect="1"/>
          </p:cNvPicPr>
          <p:nvPr/>
        </p:nvPicPr>
        <p:blipFill>
          <a:blip r:embed="rId7" cstate="print"/>
          <a:stretch>
            <a:fillRect/>
          </a:stretch>
        </p:blipFill>
        <p:spPr>
          <a:xfrm>
            <a:off x="822958" y="4615159"/>
            <a:ext cx="2743235" cy="449071"/>
          </a:xfrm>
          <a:prstGeom prst="rect">
            <a:avLst/>
          </a:prstGeom>
        </p:spPr>
      </p:pic>
    </p:spTree>
    <p:extLst>
      <p:ext uri="{BB962C8B-B14F-4D97-AF65-F5344CB8AC3E}">
        <p14:creationId xmlns:p14="http://schemas.microsoft.com/office/powerpoint/2010/main" xmlns="" val="2664425687"/>
      </p:ext>
    </p:extLst>
  </p:cSld>
  <p:clrMapOvr>
    <a:masterClrMapping/>
  </p:clrMapOvr>
  <p:timing>
    <p:tnLst>
      <p:par>
        <p:cTn id="1" dur="indefinite" restart="never" nodeType="tmRoot"/>
      </p:par>
    </p:tnLst>
  </p:timing>
</p:sld>
</file>

<file path=ppt/theme/theme1.xml><?xml version="1.0" encoding="utf-8"?>
<a:theme xmlns:a="http://schemas.openxmlformats.org/drawingml/2006/main" name="回顧">
  <a:themeElements>
    <a:clrScheme name="回顧">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回顧">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1733</TotalTime>
  <Words>382</Words>
  <Application>Microsoft Office PowerPoint</Application>
  <PresentationFormat>如螢幕大小 (4:3)</PresentationFormat>
  <Paragraphs>173</Paragraphs>
  <Slides>12</Slides>
  <Notes>0</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回顧</vt:lpstr>
      <vt:lpstr>Minimal Mutation Trees of Sequences</vt:lpstr>
      <vt:lpstr>Abstract</vt:lpstr>
      <vt:lpstr>投影片 3</vt:lpstr>
      <vt:lpstr>Introduction</vt:lpstr>
      <vt:lpstr>Introduction</vt:lpstr>
      <vt:lpstr>The frame sequence of a tree of sequences </vt:lpstr>
      <vt:lpstr>The frame sequence of a tree of sequences </vt:lpstr>
      <vt:lpstr>The incremental function</vt:lpstr>
      <vt:lpstr>投影片 9</vt:lpstr>
      <vt:lpstr>The incremental function</vt:lpstr>
      <vt:lpstr>Minimizing</vt:lpstr>
      <vt:lpstr>The main algorithm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黃鼎耀</dc:creator>
  <cp:lastModifiedBy>Guest</cp:lastModifiedBy>
  <cp:revision>74</cp:revision>
  <dcterms:created xsi:type="dcterms:W3CDTF">2013-12-01T04:05:49Z</dcterms:created>
  <dcterms:modified xsi:type="dcterms:W3CDTF">2013-12-04T03:26:33Z</dcterms:modified>
</cp:coreProperties>
</file>