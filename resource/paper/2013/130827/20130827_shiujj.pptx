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-126" y="-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2D136-19EF-4B3A-96C5-0FABE2611DB3}" type="datetimeFigureOut">
              <a:rPr lang="zh-TW" altLang="en-US" smtClean="0"/>
              <a:pPr/>
              <a:t>2013/8/27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EBB4B-D7D1-4BD0-9C75-AF63FA24B0F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95609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green.kyu.edu.tw/gt/file/file2/ef3b56dac5704f958fb77b6be3291f0c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EBB4B-D7D1-4BD0-9C75-AF63FA24B0FA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54343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3"/>
              </a:rPr>
              <a:t>http://green.kyu.edu.tw/gt/file/file2/ef3b56dac5704f958fb77b6be3291f0c.pdf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EBB4B-D7D1-4BD0-9C75-AF63FA24B0FA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75820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EBB4B-D7D1-4BD0-9C75-AF63FA24B0FA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61077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7D6BA-835F-4E9D-887A-EE95CC6B73D5}" type="datetimeFigureOut">
              <a:rPr lang="zh-TW" altLang="en-US" smtClean="0"/>
              <a:pPr/>
              <a:t>2013/8/27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54C8-36B4-409C-B249-24150D67C8A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87526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7D6BA-835F-4E9D-887A-EE95CC6B73D5}" type="datetimeFigureOut">
              <a:rPr lang="zh-TW" altLang="en-US" smtClean="0"/>
              <a:pPr/>
              <a:t>2013/8/27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54C8-36B4-409C-B249-24150D67C8A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153081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7D6BA-835F-4E9D-887A-EE95CC6B73D5}" type="datetimeFigureOut">
              <a:rPr lang="zh-TW" altLang="en-US" smtClean="0"/>
              <a:pPr/>
              <a:t>2013/8/27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54C8-36B4-409C-B249-24150D67C8A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63996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7D6BA-835F-4E9D-887A-EE95CC6B73D5}" type="datetimeFigureOut">
              <a:rPr lang="zh-TW" altLang="en-US" smtClean="0"/>
              <a:pPr/>
              <a:t>2013/8/27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54C8-36B4-409C-B249-24150D67C8A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75643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7D6BA-835F-4E9D-887A-EE95CC6B73D5}" type="datetimeFigureOut">
              <a:rPr lang="zh-TW" altLang="en-US" smtClean="0"/>
              <a:pPr/>
              <a:t>2013/8/27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54C8-36B4-409C-B249-24150D67C8A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86139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7D6BA-835F-4E9D-887A-EE95CC6B73D5}" type="datetimeFigureOut">
              <a:rPr lang="zh-TW" altLang="en-US" smtClean="0"/>
              <a:pPr/>
              <a:t>2013/8/27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54C8-36B4-409C-B249-24150D67C8A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90740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7D6BA-835F-4E9D-887A-EE95CC6B73D5}" type="datetimeFigureOut">
              <a:rPr lang="zh-TW" altLang="en-US" smtClean="0"/>
              <a:pPr/>
              <a:t>2013/8/27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54C8-36B4-409C-B249-24150D67C8A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62385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7D6BA-835F-4E9D-887A-EE95CC6B73D5}" type="datetimeFigureOut">
              <a:rPr lang="zh-TW" altLang="en-US" smtClean="0"/>
              <a:pPr/>
              <a:t>2013/8/27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54C8-36B4-409C-B249-24150D67C8A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3044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7D6BA-835F-4E9D-887A-EE95CC6B73D5}" type="datetimeFigureOut">
              <a:rPr lang="zh-TW" altLang="en-US" smtClean="0"/>
              <a:pPr/>
              <a:t>2013/8/27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54C8-36B4-409C-B249-24150D67C8A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1061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7D6BA-835F-4E9D-887A-EE95CC6B73D5}" type="datetimeFigureOut">
              <a:rPr lang="zh-TW" altLang="en-US" smtClean="0"/>
              <a:pPr/>
              <a:t>2013/8/27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54C8-36B4-409C-B249-24150D67C8A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80622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7D6BA-835F-4E9D-887A-EE95CC6B73D5}" type="datetimeFigureOut">
              <a:rPr lang="zh-TW" altLang="en-US" smtClean="0"/>
              <a:pPr/>
              <a:t>2013/8/27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F54C8-36B4-409C-B249-24150D67C8A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7394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7D6BA-835F-4E9D-887A-EE95CC6B73D5}" type="datetimeFigureOut">
              <a:rPr lang="zh-TW" altLang="en-US" smtClean="0"/>
              <a:pPr/>
              <a:t>2013/8/27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F54C8-36B4-409C-B249-24150D67C8A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2104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Forecasting Enrollment Model Based on</a:t>
            </a:r>
            <a:br>
              <a:rPr lang="en-US" altLang="zh-TW" dirty="0"/>
            </a:br>
            <a:r>
              <a:rPr lang="en-US" altLang="zh-TW" dirty="0"/>
              <a:t>First-Order Fuzzy Time Series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138362"/>
          </a:xfrm>
        </p:spPr>
        <p:txBody>
          <a:bodyPr>
            <a:normAutofit lnSpcReduction="10000"/>
          </a:bodyPr>
          <a:lstStyle/>
          <a:p>
            <a:r>
              <a:rPr lang="en-US" altLang="zh-TW" dirty="0" err="1"/>
              <a:t>Melike</a:t>
            </a:r>
            <a:r>
              <a:rPr lang="en-US" altLang="zh-TW" dirty="0"/>
              <a:t> </a:t>
            </a:r>
            <a:r>
              <a:rPr lang="en-US" altLang="zh-TW" dirty="0" err="1" smtClean="0"/>
              <a:t>Sah</a:t>
            </a:r>
            <a:r>
              <a:rPr lang="en-US" altLang="zh-TW" dirty="0" smtClean="0"/>
              <a:t> and </a:t>
            </a:r>
            <a:r>
              <a:rPr lang="en-US" altLang="zh-TW" dirty="0"/>
              <a:t>Konstantin </a:t>
            </a:r>
            <a:r>
              <a:rPr lang="en-US" altLang="zh-TW" dirty="0" err="1"/>
              <a:t>Y.Degtiarev</a:t>
            </a:r>
            <a:r>
              <a:rPr lang="en-US" altLang="zh-TW" dirty="0"/>
              <a:t>, </a:t>
            </a:r>
            <a:r>
              <a:rPr lang="en-US" altLang="zh-TW" i="1" dirty="0" smtClean="0"/>
              <a:t>MIEEE</a:t>
            </a:r>
          </a:p>
          <a:p>
            <a:r>
              <a:rPr lang="en-US" altLang="zh-TW" dirty="0"/>
              <a:t>World Academy of Science, Engineering and Technology 1 </a:t>
            </a:r>
            <a:r>
              <a:rPr lang="en-US" altLang="zh-TW" dirty="0" smtClean="0"/>
              <a:t>2007</a:t>
            </a:r>
          </a:p>
          <a:p>
            <a:endParaRPr lang="en-US" altLang="zh-TW" dirty="0"/>
          </a:p>
          <a:p>
            <a:r>
              <a:rPr lang="en-US" altLang="zh-TW" dirty="0" smtClean="0"/>
              <a:t>Date: Aug. 27, 2013</a:t>
            </a:r>
            <a:endParaRPr lang="en-US" altLang="zh-TW" dirty="0" smtClean="0"/>
          </a:p>
          <a:p>
            <a:r>
              <a:rPr lang="zh-TW" altLang="en-US" dirty="0" smtClean="0"/>
              <a:t>許竣傑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98786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700" dirty="0"/>
              <a:t>This paper proposes a novel improvement </a:t>
            </a:r>
            <a:r>
              <a:rPr lang="en-US" altLang="zh-TW" sz="2700" dirty="0" smtClean="0"/>
              <a:t>of forecasting </a:t>
            </a:r>
            <a:r>
              <a:rPr lang="en-US" altLang="zh-TW" sz="2700" dirty="0"/>
              <a:t>approach based on using time-invariant fuzzy time </a:t>
            </a:r>
            <a:r>
              <a:rPr lang="en-US" altLang="zh-TW" sz="2700" dirty="0" smtClean="0"/>
              <a:t>series. In </a:t>
            </a:r>
            <a:r>
              <a:rPr lang="en-US" altLang="zh-TW" sz="2700" dirty="0"/>
              <a:t>contrast to traditional forecasting methods, fuzzy time series </a:t>
            </a:r>
            <a:r>
              <a:rPr lang="en-US" altLang="zh-TW" sz="2700" dirty="0" smtClean="0"/>
              <a:t>can be </a:t>
            </a:r>
            <a:r>
              <a:rPr lang="en-US" altLang="zh-TW" sz="2700" dirty="0"/>
              <a:t>also applied to problems, in which historical data are </a:t>
            </a:r>
            <a:r>
              <a:rPr lang="en-US" altLang="zh-TW" sz="2700" dirty="0" smtClean="0"/>
              <a:t>linguistic values</a:t>
            </a:r>
            <a:r>
              <a:rPr lang="en-US" altLang="zh-TW" sz="2700" dirty="0"/>
              <a:t>. It is shown that proposed time-invariant method improves </a:t>
            </a:r>
            <a:r>
              <a:rPr lang="en-US" altLang="zh-TW" sz="2700" dirty="0" smtClean="0"/>
              <a:t>the performance </a:t>
            </a:r>
            <a:r>
              <a:rPr lang="en-US" altLang="zh-TW" sz="2700" dirty="0"/>
              <a:t>of forecasting process. Further, the effect of </a:t>
            </a:r>
            <a:r>
              <a:rPr lang="en-US" altLang="zh-TW" sz="2700" dirty="0" smtClean="0"/>
              <a:t>using different </a:t>
            </a:r>
            <a:r>
              <a:rPr lang="en-US" altLang="zh-TW" sz="2700" dirty="0"/>
              <a:t>number of fuzzy sets is tested as well. As with the most </a:t>
            </a:r>
            <a:r>
              <a:rPr lang="en-US" altLang="zh-TW" sz="2700" dirty="0" smtClean="0"/>
              <a:t>of cited </a:t>
            </a:r>
            <a:r>
              <a:rPr lang="en-US" altLang="zh-TW" sz="2700" dirty="0"/>
              <a:t>papers, historical enrollment of the University of Alabama </a:t>
            </a:r>
            <a:r>
              <a:rPr lang="en-US" altLang="zh-TW" sz="2700" dirty="0" smtClean="0"/>
              <a:t>is used </a:t>
            </a:r>
            <a:r>
              <a:rPr lang="en-US" altLang="zh-TW" sz="2700" dirty="0"/>
              <a:t>in this study to illustrate the forecasting process. </a:t>
            </a:r>
            <a:r>
              <a:rPr lang="en-US" altLang="zh-TW" sz="2700" dirty="0" smtClean="0"/>
              <a:t>Subsequently, the </a:t>
            </a:r>
            <a:r>
              <a:rPr lang="en-US" altLang="zh-TW" sz="2700" dirty="0"/>
              <a:t>performance of the proposed method is compared with </a:t>
            </a:r>
            <a:r>
              <a:rPr lang="en-US" altLang="zh-TW" sz="2700" dirty="0" smtClean="0"/>
              <a:t>existing fuzzy </a:t>
            </a:r>
            <a:r>
              <a:rPr lang="en-US" altLang="zh-TW" sz="2700" dirty="0"/>
              <a:t>time series time-invariant models based on </a:t>
            </a:r>
            <a:r>
              <a:rPr lang="en-US" altLang="zh-TW" sz="2700" dirty="0" smtClean="0"/>
              <a:t>forecasting accuracy</a:t>
            </a:r>
            <a:r>
              <a:rPr lang="en-US" altLang="zh-TW" sz="2700" dirty="0"/>
              <a:t>. It reveals a certain performance superiority of the </a:t>
            </a:r>
            <a:r>
              <a:rPr lang="en-US" altLang="zh-TW" sz="2700" dirty="0" smtClean="0"/>
              <a:t>proposed method </a:t>
            </a:r>
            <a:r>
              <a:rPr lang="en-US" altLang="zh-TW" sz="2700" dirty="0"/>
              <a:t>over methods described in the literature.</a:t>
            </a:r>
            <a:endParaRPr lang="zh-TW" altLang="en-US" sz="2700" dirty="0"/>
          </a:p>
        </p:txBody>
      </p:sp>
    </p:spTree>
    <p:extLst>
      <p:ext uri="{BB962C8B-B14F-4D97-AF65-F5344CB8AC3E}">
        <p14:creationId xmlns:p14="http://schemas.microsoft.com/office/powerpoint/2010/main" xmlns="" val="266635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Forecasting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54" y="1825625"/>
            <a:ext cx="7146855" cy="4351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矩形 4"/>
              <p:cNvSpPr/>
              <p:nvPr/>
            </p:nvSpPr>
            <p:spPr>
              <a:xfrm>
                <a:off x="7731054" y="1825625"/>
                <a:ext cx="33368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/>
                  <a:t>Step 1:  U=[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]</a:t>
                </a:r>
                <a:endParaRPr lang="zh-TW" altLang="en-US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054" y="1825625"/>
                <a:ext cx="3336876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460" t="-8197" r="-912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矩形 5"/>
              <p:cNvSpPr/>
              <p:nvPr/>
            </p:nvSpPr>
            <p:spPr>
              <a:xfrm>
                <a:off x="7731054" y="2577028"/>
                <a:ext cx="200465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=45,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=109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054" y="2577028"/>
                <a:ext cx="2004651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矩形 6"/>
              <p:cNvSpPr/>
              <p:nvPr/>
            </p:nvSpPr>
            <p:spPr>
              <a:xfrm>
                <a:off x="7731054" y="2201326"/>
                <a:ext cx="29156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=−955,</m:t>
                      </m:r>
                      <m:sSub>
                        <m:sSubPr>
                          <m:ctrlPr>
                            <a:rPr lang="en-US" altLang="zh-TW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=1291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054" y="2201326"/>
                <a:ext cx="2915606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矩形 7"/>
              <p:cNvSpPr/>
              <p:nvPr/>
            </p:nvSpPr>
            <p:spPr>
              <a:xfrm>
                <a:off x="7765909" y="2952730"/>
                <a:ext cx="18642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[</m:t>
                    </m:r>
                  </m:oMath>
                </a14:m>
                <a:r>
                  <a:rPr lang="en-US" altLang="zh-TW" dirty="0" smtClean="0"/>
                  <a:t>-1000,1400]</a:t>
                </a:r>
                <a:endParaRPr lang="zh-TW" altLang="en-US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909" y="2952730"/>
                <a:ext cx="1864293" cy="369332"/>
              </a:xfrm>
              <a:prstGeom prst="rect">
                <a:avLst/>
              </a:prstGeom>
              <a:blipFill rotWithShape="0">
                <a:blip r:embed="rId6"/>
                <a:stretch>
                  <a:fillRect t="-8197" r="-1634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518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Forecasting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Step 2</a:t>
                </a:r>
              </a:p>
              <a:p>
                <a:r>
                  <a:rPr lang="en-US" altLang="zh-TW" dirty="0" smtClean="0"/>
                  <a:t>U=[-1000,1400]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−1000,−600</m:t>
                        </m:r>
                      </m:e>
                    </m:d>
                  </m:oMath>
                </a14:m>
                <a:endParaRPr lang="en-US" altLang="zh-TW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−600,−200</m:t>
                        </m:r>
                      </m:e>
                    </m:d>
                  </m:oMath>
                </a14:m>
                <a:endParaRPr lang="en-US" altLang="zh-TW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−200,200</m:t>
                        </m:r>
                      </m:e>
                    </m:d>
                  </m:oMath>
                </a14:m>
                <a:endParaRPr lang="en-US" altLang="zh-TW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=[200,600]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600,1000</m:t>
                        </m:r>
                      </m:e>
                    </m:d>
                  </m:oMath>
                </a14:m>
                <a:endParaRPr lang="en-US" altLang="zh-TW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=[1000,1400]</m:t>
                    </m:r>
                  </m:oMath>
                </a14:m>
                <a:endParaRPr lang="zh-TW" altLang="en-US" dirty="0"/>
              </a:p>
              <a:p>
                <a:endParaRPr lang="zh-TW" altLang="en-US" dirty="0"/>
              </a:p>
              <a:p>
                <a:endParaRPr lang="zh-TW" altLang="en-US" dirty="0"/>
              </a:p>
              <a:p>
                <a:endParaRPr lang="zh-TW" altLang="en-US" dirty="0"/>
              </a:p>
              <a:p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648669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Forecasting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Step 3: Assume linguistic variable variations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𝑏𝑖𝑔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𝑑𝑒𝑐𝑟𝑒𝑎𝑠𝑒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={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𝑑𝑒𝑐𝑟𝑒𝑎𝑠𝑒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)={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TW" alt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𝑐h𝑎𝑛𝑔𝑒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={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𝑖𝑛𝑐𝑟𝑒𝑎𝑠𝑒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)={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TW" alt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𝑏𝑖𝑔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𝑖𝑛𝑐𝑟𝑒𝑎𝑠𝑒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)={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TW" alt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𝑡𝑜𝑜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𝑏𝑖𝑔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𝑖𝑛𝑐𝑟𝑒𝑎𝑠𝑒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)={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TW" altLang="en-US" dirty="0"/>
              </a:p>
              <a:p>
                <a:r>
                  <a:rPr lang="en-US" altLang="zh-TW" dirty="0" smtClean="0"/>
                  <a:t>Symbol “/” is the membership degree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16472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Forecasting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Step 4: find fuzzy set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263" y="1424245"/>
            <a:ext cx="7094537" cy="515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4279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Forecasting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Step 5: Determine first-order relation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032" y="2657476"/>
            <a:ext cx="6329768" cy="351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5929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Forecasting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Step 6: Combine fuzzy</a:t>
            </a:r>
          </a:p>
          <a:p>
            <a:pPr marL="0" indent="0">
              <a:buNone/>
            </a:pPr>
            <a:r>
              <a:rPr lang="en-US" altLang="zh-TW" dirty="0" smtClean="0"/>
              <a:t>relationships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086" y="3230563"/>
            <a:ext cx="6693713" cy="308133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085" y="222375"/>
            <a:ext cx="6604815" cy="300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8505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Forecasting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⋃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zh-TW" b="0" dirty="0" smtClean="0"/>
              </a:p>
              <a:p>
                <a:endParaRPr lang="en-US" altLang="zh-TW" b="0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723" y="3360738"/>
            <a:ext cx="5423841" cy="281622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023" y="666317"/>
            <a:ext cx="2435047" cy="2010209"/>
          </a:xfrm>
          <a:prstGeom prst="rect">
            <a:avLst/>
          </a:prstGeom>
        </p:spPr>
      </p:pic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68848764"/>
              </p:ext>
            </p:extLst>
          </p:nvPr>
        </p:nvGraphicFramePr>
        <p:xfrm>
          <a:off x="939800" y="2405327"/>
          <a:ext cx="508000" cy="2725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</a:tblGrid>
              <a:tr h="45424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424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424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424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424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424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5950768" y="3244334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F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0" name="矩形 9"/>
              <p:cNvSpPr/>
              <p:nvPr/>
            </p:nvSpPr>
            <p:spPr>
              <a:xfrm>
                <a:off x="1424263" y="3475038"/>
                <a:ext cx="4026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263" y="3475038"/>
                <a:ext cx="402674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60199005"/>
              </p:ext>
            </p:extLst>
          </p:nvPr>
        </p:nvGraphicFramePr>
        <p:xfrm>
          <a:off x="1826937" y="3475038"/>
          <a:ext cx="3183366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561"/>
                <a:gridCol w="530561"/>
                <a:gridCol w="530561"/>
                <a:gridCol w="530561"/>
                <a:gridCol w="530561"/>
                <a:gridCol w="530561"/>
              </a:tblGrid>
              <a:tr h="36933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82148092"/>
              </p:ext>
            </p:extLst>
          </p:nvPr>
        </p:nvGraphicFramePr>
        <p:xfrm>
          <a:off x="1619462" y="4394202"/>
          <a:ext cx="4621770" cy="2418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295"/>
                <a:gridCol w="770295"/>
                <a:gridCol w="770295"/>
                <a:gridCol w="770295"/>
                <a:gridCol w="770295"/>
                <a:gridCol w="770295"/>
              </a:tblGrid>
              <a:tr h="41063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13" name="矩形 12"/>
              <p:cNvSpPr/>
              <p:nvPr/>
            </p:nvSpPr>
            <p:spPr>
              <a:xfrm>
                <a:off x="1013573" y="5657334"/>
                <a:ext cx="4106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573" y="5657334"/>
                <a:ext cx="410690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79871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Forecasting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dirty="0" smtClean="0"/>
                  <a:t> =</a:t>
                </a:r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=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1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78409087"/>
              </p:ext>
            </p:extLst>
          </p:nvPr>
        </p:nvGraphicFramePr>
        <p:xfrm>
          <a:off x="2673562" y="1600203"/>
          <a:ext cx="3536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456"/>
                <a:gridCol w="589456"/>
                <a:gridCol w="589456"/>
                <a:gridCol w="589456"/>
                <a:gridCol w="589456"/>
                <a:gridCol w="589456"/>
              </a:tblGrid>
              <a:tr h="36219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261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219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219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219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2196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06103557"/>
              </p:ext>
            </p:extLst>
          </p:nvPr>
        </p:nvGraphicFramePr>
        <p:xfrm>
          <a:off x="1987762" y="4254503"/>
          <a:ext cx="2850936" cy="2239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156"/>
                <a:gridCol w="475156"/>
                <a:gridCol w="475156"/>
                <a:gridCol w="475156"/>
                <a:gridCol w="475156"/>
                <a:gridCol w="475156"/>
              </a:tblGrid>
              <a:tr h="4103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414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414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414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414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9414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矩形 7"/>
              <p:cNvSpPr/>
              <p:nvPr/>
            </p:nvSpPr>
            <p:spPr>
              <a:xfrm>
                <a:off x="4859551" y="5314434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551" y="5314434"/>
                <a:ext cx="415498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23695578"/>
              </p:ext>
            </p:extLst>
          </p:nvPr>
        </p:nvGraphicFramePr>
        <p:xfrm>
          <a:off x="5275049" y="4213450"/>
          <a:ext cx="2865654" cy="230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609"/>
                <a:gridCol w="477609"/>
                <a:gridCol w="477609"/>
                <a:gridCol w="477609"/>
                <a:gridCol w="477609"/>
                <a:gridCol w="477609"/>
              </a:tblGrid>
              <a:tr h="383608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3608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3608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3608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3608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3608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8164383" y="5314434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=</a:t>
            </a:r>
            <a:endParaRPr lang="zh-TW" alt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02928170"/>
              </p:ext>
            </p:extLst>
          </p:nvPr>
        </p:nvGraphicFramePr>
        <p:xfrm>
          <a:off x="8566152" y="4184127"/>
          <a:ext cx="3168648" cy="2419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108"/>
                <a:gridCol w="528108"/>
                <a:gridCol w="528108"/>
                <a:gridCol w="528108"/>
                <a:gridCol w="528108"/>
                <a:gridCol w="528108"/>
              </a:tblGrid>
              <a:tr h="40331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31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31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31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31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31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951668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Forecasting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Step 7: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446531"/>
            <a:ext cx="2654300" cy="37304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矩形 5"/>
              <p:cNvSpPr/>
              <p:nvPr/>
            </p:nvSpPr>
            <p:spPr>
              <a:xfrm>
                <a:off x="4009147" y="2446531"/>
                <a:ext cx="20868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(1993)=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147" y="2446531"/>
                <a:ext cx="2086853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/>
          <p:cNvSpPr/>
          <p:nvPr/>
        </p:nvSpPr>
        <p:spPr>
          <a:xfrm>
            <a:off x="647700" y="5719763"/>
            <a:ext cx="2717800" cy="59213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009147" y="295080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=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95401706"/>
              </p:ext>
            </p:extLst>
          </p:nvPr>
        </p:nvGraphicFramePr>
        <p:xfrm>
          <a:off x="4325858" y="2954372"/>
          <a:ext cx="29258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40"/>
                <a:gridCol w="487640"/>
                <a:gridCol w="487640"/>
                <a:gridCol w="487640"/>
                <a:gridCol w="487640"/>
                <a:gridCol w="48764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26680703"/>
              </p:ext>
            </p:extLst>
          </p:nvPr>
        </p:nvGraphicFramePr>
        <p:xfrm>
          <a:off x="7661435" y="1925530"/>
          <a:ext cx="3168648" cy="2419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108"/>
                <a:gridCol w="528108"/>
                <a:gridCol w="528108"/>
                <a:gridCol w="528108"/>
                <a:gridCol w="528108"/>
                <a:gridCol w="528108"/>
              </a:tblGrid>
              <a:tr h="40331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31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31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31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31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312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11" name="矩形 10"/>
              <p:cNvSpPr/>
              <p:nvPr/>
            </p:nvSpPr>
            <p:spPr>
              <a:xfrm>
                <a:off x="7321277" y="2950800"/>
                <a:ext cx="3401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277" y="2950800"/>
                <a:ext cx="340158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4043194" y="4563881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=</a:t>
            </a:r>
            <a:endParaRPr lang="zh-TW" altLang="en-US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21537207"/>
              </p:ext>
            </p:extLst>
          </p:nvPr>
        </p:nvGraphicFramePr>
        <p:xfrm>
          <a:off x="4343276" y="4563881"/>
          <a:ext cx="29258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40"/>
                <a:gridCol w="487640"/>
                <a:gridCol w="487640"/>
                <a:gridCol w="487640"/>
                <a:gridCol w="487640"/>
                <a:gridCol w="48764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0.5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49723673"/>
              </p:ext>
            </p:extLst>
          </p:nvPr>
        </p:nvGraphicFramePr>
        <p:xfrm>
          <a:off x="7962899" y="4748547"/>
          <a:ext cx="328537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672"/>
                <a:gridCol w="410672"/>
                <a:gridCol w="410672"/>
                <a:gridCol w="410672"/>
                <a:gridCol w="410672"/>
                <a:gridCol w="410672"/>
                <a:gridCol w="410672"/>
                <a:gridCol w="410672"/>
              </a:tblGrid>
              <a:tr h="35710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57104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5710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5710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8" name="直線接點 17"/>
          <p:cNvCxnSpPr/>
          <p:nvPr/>
        </p:nvCxnSpPr>
        <p:spPr>
          <a:xfrm>
            <a:off x="7962900" y="5512912"/>
            <a:ext cx="431800" cy="3671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8394700" y="5512912"/>
            <a:ext cx="419100" cy="3584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8813800" y="5504181"/>
            <a:ext cx="419100" cy="3372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6" idx="2"/>
          </p:cNvCxnSpPr>
          <p:nvPr/>
        </p:nvCxnSpPr>
        <p:spPr>
          <a:xfrm flipH="1" flipV="1">
            <a:off x="9232900" y="5841413"/>
            <a:ext cx="372687" cy="3701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6" idx="2"/>
          </p:cNvCxnSpPr>
          <p:nvPr/>
        </p:nvCxnSpPr>
        <p:spPr>
          <a:xfrm>
            <a:off x="9605587" y="6211587"/>
            <a:ext cx="4191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7537288" y="5656747"/>
            <a:ext cx="476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0.5</a:t>
            </a:r>
            <a:endParaRPr lang="zh-TW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7537288" y="5287415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4" name="矩形 33"/>
              <p:cNvSpPr/>
              <p:nvPr/>
            </p:nvSpPr>
            <p:spPr>
              <a:xfrm>
                <a:off x="7827696" y="6090076"/>
                <a:ext cx="4764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7696" y="6090076"/>
                <a:ext cx="476412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6" name="矩形 35"/>
              <p:cNvSpPr/>
              <p:nvPr/>
            </p:nvSpPr>
            <p:spPr>
              <a:xfrm>
                <a:off x="9815136" y="6127234"/>
                <a:ext cx="47795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5136" y="6127234"/>
                <a:ext cx="477951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 36"/>
          <p:cNvSpPr/>
          <p:nvPr/>
        </p:nvSpPr>
        <p:spPr>
          <a:xfrm>
            <a:off x="8813800" y="6127234"/>
            <a:ext cx="343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7762774" y="6454935"/>
            <a:ext cx="60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-800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8662957" y="6400185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9721559" y="6443756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1200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1395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Forecasting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Step 8: </a:t>
            </a:r>
            <a:r>
              <a:rPr lang="en-US" altLang="zh-TW" dirty="0" err="1" smtClean="0"/>
              <a:t>Defuzzification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44737"/>
            <a:ext cx="5257800" cy="43529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310296" y="1975405"/>
            <a:ext cx="17299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0" i="0" u="none" strike="noStrike" baseline="0" dirty="0" smtClean="0">
                <a:latin typeface="TimesNewRomanPSMT"/>
              </a:rPr>
              <a:t>centroid method: 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296" y="2377005"/>
            <a:ext cx="4215613" cy="245959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996" y="4836597"/>
            <a:ext cx="3595704" cy="190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6551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Discussion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487" y="3836645"/>
            <a:ext cx="5851569" cy="216057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487" y="1015659"/>
            <a:ext cx="5842044" cy="2820987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01" y="1851020"/>
            <a:ext cx="4720816" cy="351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290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195" y="2672896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 smtClean="0"/>
              <a:t>Thank you !!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14578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466</Words>
  <Application>Microsoft Office PowerPoint</Application>
  <PresentationFormat>自訂</PresentationFormat>
  <Paragraphs>296</Paragraphs>
  <Slides>14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5" baseType="lpstr">
      <vt:lpstr>Office 佈景主題</vt:lpstr>
      <vt:lpstr>Forecasting Enrollment Model Based on First-Order Fuzzy Time Series</vt:lpstr>
      <vt:lpstr>Abstract</vt:lpstr>
      <vt:lpstr>Forecasting</vt:lpstr>
      <vt:lpstr>Forecasting</vt:lpstr>
      <vt:lpstr>Forecasting</vt:lpstr>
      <vt:lpstr>Forecasting</vt:lpstr>
      <vt:lpstr>Forecasting</vt:lpstr>
      <vt:lpstr>Forecasting</vt:lpstr>
      <vt:lpstr>Forecasting</vt:lpstr>
      <vt:lpstr>Forecasting</vt:lpstr>
      <vt:lpstr>Forecasting</vt:lpstr>
      <vt:lpstr>Forecasting</vt:lpstr>
      <vt:lpstr>Discussion</vt:lpstr>
      <vt:lpstr>Thank you !!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Enrollment Model Based on First-Order Fuzzy Time Series</dc:title>
  <dc:creator>shiujj</dc:creator>
  <cp:lastModifiedBy>admin</cp:lastModifiedBy>
  <cp:revision>20</cp:revision>
  <dcterms:created xsi:type="dcterms:W3CDTF">2013-08-26T16:15:34Z</dcterms:created>
  <dcterms:modified xsi:type="dcterms:W3CDTF">2013-08-27T13:12:01Z</dcterms:modified>
</cp:coreProperties>
</file>