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70" r:id="rId9"/>
    <p:sldId id="264" r:id="rId10"/>
    <p:sldId id="269" r:id="rId11"/>
    <p:sldId id="268" r:id="rId12"/>
    <p:sldId id="265" r:id="rId13"/>
    <p:sldId id="266" r:id="rId14"/>
    <p:sldId id="267" r:id="rId15"/>
    <p:sldId id="271" r:id="rId16"/>
    <p:sldId id="273" r:id="rId17"/>
    <p:sldId id="272" r:id="rId18"/>
    <p:sldId id="274" r:id="rId19"/>
    <p:sldId id="275" r:id="rId20"/>
    <p:sldId id="276" r:id="rId2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96" y="-4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4130979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781653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3566741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1968882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126377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1407246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1325439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251759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1227226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3101648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00EF6C-3B03-49EA-BD5F-975843E3DDE0}" type="datetimeFigureOut">
              <a:rPr lang="zh-TW" altLang="en-US" smtClean="0"/>
              <a:t>2013/8/26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1981549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00EF6C-3B03-49EA-BD5F-975843E3DDE0}" type="datetimeFigureOut">
              <a:rPr lang="zh-TW" altLang="en-US" smtClean="0"/>
              <a:t>2013/8/26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254315-B95F-43F3-BDA8-020EDF7FC114}" type="slidenum">
              <a:rPr lang="zh-TW" altLang="en-US" smtClean="0"/>
              <a:t>‹#›</a:t>
            </a:fld>
            <a:endParaRPr lang="zh-TW" altLang="en-US"/>
          </a:p>
        </p:txBody>
      </p:sp>
    </p:spTree>
    <p:extLst>
      <p:ext uri="{BB962C8B-B14F-4D97-AF65-F5344CB8AC3E}">
        <p14:creationId xmlns:p14="http://schemas.microsoft.com/office/powerpoint/2010/main" val="2605903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Ant clustering algorithm with K-harmonic means clustering</a:t>
            </a:r>
            <a:endParaRPr lang="zh-TW" altLang="en-US" dirty="0"/>
          </a:p>
        </p:txBody>
      </p:sp>
      <p:sp>
        <p:nvSpPr>
          <p:cNvPr id="3" name="副標題 2"/>
          <p:cNvSpPr>
            <a:spLocks noGrp="1"/>
          </p:cNvSpPr>
          <p:nvPr>
            <p:ph type="subTitle" idx="1"/>
          </p:nvPr>
        </p:nvSpPr>
        <p:spPr/>
        <p:txBody>
          <a:bodyPr>
            <a:normAutofit fontScale="92500" lnSpcReduction="20000"/>
          </a:bodyPr>
          <a:lstStyle/>
          <a:p>
            <a:r>
              <a:rPr lang="en-US" altLang="zh-TW" dirty="0" smtClean="0"/>
              <a:t>Hua Jiang, Shenghe Yi,</a:t>
            </a:r>
          </a:p>
          <a:p>
            <a:r>
              <a:rPr lang="en-US" altLang="zh-TW" dirty="0" smtClean="0"/>
              <a:t> Jing Li, Fengqin Yang, Xin Hu</a:t>
            </a:r>
          </a:p>
          <a:p>
            <a:r>
              <a:rPr lang="en-US" altLang="zh-TW" dirty="0" smtClean="0"/>
              <a:t>Expert Systems with Applications 37 (2010) 8679–8684</a:t>
            </a:r>
            <a:endParaRPr lang="zh-TW" altLang="en-US" dirty="0"/>
          </a:p>
        </p:txBody>
      </p:sp>
      <p:sp>
        <p:nvSpPr>
          <p:cNvPr id="4" name="文字方塊 3"/>
          <p:cNvSpPr txBox="1"/>
          <p:nvPr/>
        </p:nvSpPr>
        <p:spPr>
          <a:xfrm>
            <a:off x="5940152" y="5877272"/>
            <a:ext cx="2376264" cy="646331"/>
          </a:xfrm>
          <a:prstGeom prst="rect">
            <a:avLst/>
          </a:prstGeom>
          <a:noFill/>
        </p:spPr>
        <p:txBody>
          <a:bodyPr wrap="square" rtlCol="0">
            <a:spAutoFit/>
          </a:bodyPr>
          <a:lstStyle/>
          <a:p>
            <a:r>
              <a:rPr lang="zh-TW" altLang="en-US" dirty="0"/>
              <a:t>報告者</a:t>
            </a:r>
            <a:r>
              <a:rPr lang="en-US" altLang="zh-TW" dirty="0"/>
              <a:t>:</a:t>
            </a:r>
            <a:r>
              <a:rPr lang="zh-TW" altLang="en-US" dirty="0"/>
              <a:t>方鈞</a:t>
            </a:r>
            <a:r>
              <a:rPr lang="zh-TW" altLang="en-US" dirty="0" smtClean="0"/>
              <a:t>毅</a:t>
            </a:r>
            <a:endParaRPr lang="en-US" altLang="zh-TW" dirty="0" smtClean="0"/>
          </a:p>
          <a:p>
            <a:r>
              <a:rPr lang="zh-TW" altLang="en-US" dirty="0"/>
              <a:t>日</a:t>
            </a:r>
            <a:r>
              <a:rPr lang="zh-TW" altLang="en-US" dirty="0" smtClean="0"/>
              <a:t>期</a:t>
            </a:r>
            <a:r>
              <a:rPr lang="en-US" altLang="zh-TW" dirty="0" smtClean="0"/>
              <a:t>:</a:t>
            </a:r>
            <a:r>
              <a:rPr lang="zh-TW" altLang="en-US" dirty="0" smtClean="0"/>
              <a:t> </a:t>
            </a:r>
            <a:r>
              <a:rPr lang="en-US" altLang="zh-TW" dirty="0" smtClean="0"/>
              <a:t>2013/08/26</a:t>
            </a:r>
            <a:endParaRPr lang="zh-TW" altLang="en-US" dirty="0"/>
          </a:p>
        </p:txBody>
      </p:sp>
    </p:spTree>
    <p:extLst>
      <p:ext uri="{BB962C8B-B14F-4D97-AF65-F5344CB8AC3E}">
        <p14:creationId xmlns:p14="http://schemas.microsoft.com/office/powerpoint/2010/main" val="1433795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t>Clustering is an unsupervised learning procedure and there is no a prior knowledge of data distribution. It organizes a set of objects/data into similar groups called clusters, and the objects within one cluster are highly similar and dissimilar with the objects in other clusters. The classic K-means algorithm (KM) is the most popular clustering algorithm for its easy implementation and fast working. But KM is very sensitive to initialization, the better centers we choose, the better results we get. Also, it is easily trapped in local optimal. </a:t>
            </a:r>
          </a:p>
        </p:txBody>
      </p:sp>
    </p:spTree>
    <p:extLst>
      <p:ext uri="{BB962C8B-B14F-4D97-AF65-F5344CB8AC3E}">
        <p14:creationId xmlns:p14="http://schemas.microsoft.com/office/powerpoint/2010/main" val="4010820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t>The K-harmonic means algorithm (KHM) is less sensitive to the initialization than the KM algorithm. The Ant clustering algorithm (ACA) can avoid trapping in local optimal solution. In this paper, we will propose a new clustering algorithm using the Ant clustering algorithm with K-harmonic means clustering (ACAKHM). The experiment results on three well-known data sets like Iris and two other artiﬁcial data sets indicate the superiority of the ACAKHM algorithm. At last the performance of the ACAKHM algorithm is compared with the ACA and the KHM algorithm.</a:t>
            </a:r>
            <a:endParaRPr lang="zh-TW" altLang="en-US" dirty="0" smtClean="0"/>
          </a:p>
          <a:p>
            <a:endParaRPr lang="zh-TW" altLang="en-US" dirty="0"/>
          </a:p>
        </p:txBody>
      </p:sp>
    </p:spTree>
    <p:extLst>
      <p:ext uri="{BB962C8B-B14F-4D97-AF65-F5344CB8AC3E}">
        <p14:creationId xmlns:p14="http://schemas.microsoft.com/office/powerpoint/2010/main" val="2706106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t>
            </a:r>
            <a:r>
              <a:rPr lang="en-US" altLang="zh-TW" dirty="0" smtClean="0"/>
              <a:t>lustering</a:t>
            </a:r>
            <a:endParaRPr lang="zh-TW" altLang="en-US" dirty="0"/>
          </a:p>
        </p:txBody>
      </p:sp>
      <p:sp>
        <p:nvSpPr>
          <p:cNvPr id="3" name="內容版面配置區 2"/>
          <p:cNvSpPr>
            <a:spLocks noGrp="1"/>
          </p:cNvSpPr>
          <p:nvPr>
            <p:ph idx="1"/>
          </p:nvPr>
        </p:nvSpPr>
        <p:spPr/>
        <p:txBody>
          <a:bodyPr>
            <a:normAutofit/>
          </a:bodyPr>
          <a:lstStyle/>
          <a:p>
            <a:r>
              <a:rPr lang="en-US" altLang="zh-TW" dirty="0" smtClean="0"/>
              <a:t>Clustering</a:t>
            </a:r>
            <a:r>
              <a:rPr lang="zh-TW" altLang="en-US" dirty="0" smtClean="0"/>
              <a:t>的分類，</a:t>
            </a:r>
            <a:r>
              <a:rPr lang="en-US" altLang="zh-TW" dirty="0" smtClean="0"/>
              <a:t>given n objects </a:t>
            </a:r>
          </a:p>
          <a:p>
            <a:pPr lvl="1"/>
            <a:r>
              <a:rPr lang="en-US" altLang="zh-TW" dirty="0" smtClean="0"/>
              <a:t>Hierarchical clustering</a:t>
            </a:r>
          </a:p>
          <a:p>
            <a:pPr lvl="2"/>
            <a:r>
              <a:rPr lang="zh-TW" altLang="en-US" dirty="0" smtClean="0"/>
              <a:t>初始的</a:t>
            </a:r>
            <a:r>
              <a:rPr lang="en-US" altLang="zh-TW" dirty="0" smtClean="0"/>
              <a:t>n</a:t>
            </a:r>
            <a:r>
              <a:rPr lang="zh-TW" altLang="en-US" dirty="0" smtClean="0"/>
              <a:t>個</a:t>
            </a:r>
            <a:r>
              <a:rPr lang="en-US" altLang="zh-TW" dirty="0" smtClean="0"/>
              <a:t>objects</a:t>
            </a:r>
            <a:r>
              <a:rPr lang="zh-TW" altLang="en-US" dirty="0" smtClean="0"/>
              <a:t>視為</a:t>
            </a:r>
            <a:r>
              <a:rPr lang="en-US" altLang="zh-TW" dirty="0" smtClean="0"/>
              <a:t>n</a:t>
            </a:r>
            <a:r>
              <a:rPr lang="zh-TW" altLang="en-US" dirty="0" smtClean="0"/>
              <a:t>個</a:t>
            </a:r>
            <a:r>
              <a:rPr lang="en-US" altLang="zh-TW" dirty="0" smtClean="0"/>
              <a:t>clustering</a:t>
            </a:r>
            <a:r>
              <a:rPr lang="zh-TW" altLang="en-US" dirty="0" smtClean="0"/>
              <a:t>作合併</a:t>
            </a:r>
            <a:r>
              <a:rPr lang="en-US" altLang="zh-TW" dirty="0" smtClean="0"/>
              <a:t>(</a:t>
            </a:r>
            <a:r>
              <a:rPr lang="zh-TW" altLang="en-US" dirty="0" smtClean="0"/>
              <a:t>由下往上</a:t>
            </a:r>
            <a:r>
              <a:rPr lang="en-US" altLang="zh-TW" dirty="0" smtClean="0"/>
              <a:t>)</a:t>
            </a:r>
          </a:p>
          <a:p>
            <a:pPr lvl="2"/>
            <a:r>
              <a:rPr lang="zh-TW" altLang="en-US" dirty="0"/>
              <a:t>由一開的宇集合作分</a:t>
            </a:r>
            <a:r>
              <a:rPr lang="zh-TW" altLang="en-US" dirty="0" smtClean="0"/>
              <a:t>裂</a:t>
            </a:r>
            <a:r>
              <a:rPr lang="en-US" altLang="zh-TW" dirty="0" smtClean="0"/>
              <a:t>(</a:t>
            </a:r>
            <a:r>
              <a:rPr lang="zh-TW" altLang="en-US" dirty="0" smtClean="0"/>
              <a:t>由上往下</a:t>
            </a:r>
            <a:r>
              <a:rPr lang="en-US" altLang="zh-TW" dirty="0" smtClean="0"/>
              <a:t>)</a:t>
            </a:r>
          </a:p>
          <a:p>
            <a:pPr marL="457200" lvl="1" indent="0">
              <a:buNone/>
            </a:pPr>
            <a:endParaRPr lang="en-US" altLang="zh-TW" dirty="0" smtClean="0"/>
          </a:p>
          <a:p>
            <a:pPr lvl="1"/>
            <a:r>
              <a:rPr lang="en-US" altLang="zh-TW" dirty="0" smtClean="0"/>
              <a:t>Partitional clustering</a:t>
            </a:r>
          </a:p>
          <a:p>
            <a:pPr lvl="2"/>
            <a:r>
              <a:rPr lang="zh-TW" altLang="en-US" dirty="0"/>
              <a:t>是先給予欲分群的群數</a:t>
            </a:r>
            <a:r>
              <a:rPr lang="en-US" altLang="zh-TW" dirty="0"/>
              <a:t>(k)</a:t>
            </a:r>
            <a:r>
              <a:rPr lang="zh-TW" altLang="en-US" dirty="0"/>
              <a:t>，利用疊代的方式直到所</a:t>
            </a:r>
            <a:r>
              <a:rPr lang="zh-TW" altLang="en-US" dirty="0" smtClean="0"/>
              <a:t>有物件都</a:t>
            </a:r>
            <a:r>
              <a:rPr lang="zh-TW" altLang="en-US" dirty="0"/>
              <a:t>被加</a:t>
            </a:r>
            <a:r>
              <a:rPr lang="zh-TW" altLang="en-US" dirty="0" smtClean="0"/>
              <a:t>入。</a:t>
            </a:r>
            <a:endParaRPr lang="en-US" altLang="zh-TW" dirty="0" smtClean="0"/>
          </a:p>
          <a:p>
            <a:pPr lvl="2"/>
            <a:endParaRPr lang="en-US" altLang="zh-TW" dirty="0" smtClean="0"/>
          </a:p>
          <a:p>
            <a:pPr lvl="2"/>
            <a:endParaRPr lang="zh-TW" altLang="en-US" dirty="0"/>
          </a:p>
        </p:txBody>
      </p:sp>
    </p:spTree>
    <p:extLst>
      <p:ext uri="{BB962C8B-B14F-4D97-AF65-F5344CB8AC3E}">
        <p14:creationId xmlns:p14="http://schemas.microsoft.com/office/powerpoint/2010/main" val="2878457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a:t>
            </a:r>
            <a:r>
              <a:rPr lang="en-US" altLang="zh-TW" dirty="0" smtClean="0"/>
              <a:t>ard </a:t>
            </a:r>
            <a:r>
              <a:rPr lang="en-US" altLang="zh-TW" dirty="0"/>
              <a:t>P</a:t>
            </a:r>
            <a:r>
              <a:rPr lang="en-US" altLang="zh-TW" dirty="0" smtClean="0"/>
              <a:t>artitional</a:t>
            </a:r>
            <a:endParaRPr lang="zh-TW" altLang="en-US" dirty="0"/>
          </a:p>
        </p:txBody>
      </p:sp>
      <p:sp>
        <p:nvSpPr>
          <p:cNvPr id="3" name="內容版面配置區 2"/>
          <p:cNvSpPr>
            <a:spLocks noGrp="1"/>
          </p:cNvSpPr>
          <p:nvPr>
            <p:ph idx="1"/>
          </p:nvPr>
        </p:nvSpPr>
        <p:spPr/>
        <p:txBody>
          <a:bodyPr/>
          <a:lstStyle/>
          <a:p>
            <a:r>
              <a:rPr lang="zh-TW" altLang="en-US" dirty="0" smtClean="0"/>
              <a:t>其中滿足</a:t>
            </a:r>
            <a:endParaRPr lang="en-US" altLang="zh-TW" dirty="0" smtClean="0"/>
          </a:p>
          <a:p>
            <a:pPr lvl="1"/>
            <a:r>
              <a:rPr lang="zh-TW" altLang="en-US" dirty="0" smtClean="0"/>
              <a:t>沒有空群</a:t>
            </a:r>
            <a:endParaRPr lang="en-US" altLang="zh-TW" dirty="0" smtClean="0"/>
          </a:p>
          <a:p>
            <a:pPr lvl="1"/>
            <a:r>
              <a:rPr lang="zh-TW" altLang="en-US" dirty="0" smtClean="0"/>
              <a:t>所有的物件都被加入</a:t>
            </a:r>
            <a:endParaRPr lang="en-US" altLang="zh-TW" dirty="0" smtClean="0"/>
          </a:p>
          <a:p>
            <a:pPr lvl="1"/>
            <a:r>
              <a:rPr lang="zh-TW" altLang="en-US" dirty="0" smtClean="0"/>
              <a:t>每個物件只屬於一種</a:t>
            </a:r>
            <a:r>
              <a:rPr lang="en-US" altLang="zh-TW" dirty="0" smtClean="0"/>
              <a:t>cluster</a:t>
            </a:r>
          </a:p>
          <a:p>
            <a:pPr lvl="2"/>
            <a:endParaRPr lang="en-US" altLang="zh-TW" dirty="0"/>
          </a:p>
          <a:p>
            <a:r>
              <a:rPr lang="zh-TW" altLang="en-US" dirty="0"/>
              <a:t>但實際上一個物件可能屬於多個</a:t>
            </a:r>
            <a:r>
              <a:rPr lang="en-US" altLang="zh-TW" dirty="0" smtClean="0"/>
              <a:t>cluster,</a:t>
            </a:r>
            <a:r>
              <a:rPr lang="zh-TW" altLang="en-US" dirty="0" smtClean="0"/>
              <a:t> 於是發展了</a:t>
            </a:r>
            <a:r>
              <a:rPr lang="en-US" altLang="zh-TW" dirty="0" smtClean="0"/>
              <a:t>Fuzzy Clustering</a:t>
            </a:r>
            <a:endParaRPr lang="en-US" altLang="zh-TW" dirty="0" smtClean="0"/>
          </a:p>
        </p:txBody>
      </p:sp>
    </p:spTree>
    <p:extLst>
      <p:ext uri="{BB962C8B-B14F-4D97-AF65-F5344CB8AC3E}">
        <p14:creationId xmlns:p14="http://schemas.microsoft.com/office/powerpoint/2010/main" val="2070868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Fuzzy Clustering</a:t>
            </a:r>
            <a:endParaRPr lang="zh-TW" altLang="en-US" dirty="0"/>
          </a:p>
        </p:txBody>
      </p:sp>
      <p:sp>
        <p:nvSpPr>
          <p:cNvPr id="3" name="內容版面配置區 2"/>
          <p:cNvSpPr>
            <a:spLocks noGrp="1"/>
          </p:cNvSpPr>
          <p:nvPr>
            <p:ph idx="1"/>
          </p:nvPr>
        </p:nvSpPr>
        <p:spPr/>
        <p:txBody>
          <a:bodyPr/>
          <a:lstStyle/>
          <a:p>
            <a:r>
              <a:rPr lang="zh-TW" altLang="en-US" dirty="0" smtClean="0"/>
              <a:t>與</a:t>
            </a:r>
            <a:r>
              <a:rPr lang="en-US" altLang="zh-TW" dirty="0" smtClean="0"/>
              <a:t>h</a:t>
            </a:r>
            <a:r>
              <a:rPr lang="en-US" altLang="zh-TW" dirty="0" smtClean="0"/>
              <a:t>ard partitional</a:t>
            </a:r>
            <a:r>
              <a:rPr lang="zh-TW" altLang="en-US" dirty="0" smtClean="0"/>
              <a:t>不同的是</a:t>
            </a:r>
            <a:endParaRPr lang="en-US" altLang="zh-TW" dirty="0" smtClean="0"/>
          </a:p>
          <a:p>
            <a:pPr lvl="1"/>
            <a:r>
              <a:rPr lang="en-US" altLang="zh-TW" dirty="0" smtClean="0"/>
              <a:t>An object belong to all clusters with a degree </a:t>
            </a:r>
          </a:p>
          <a:p>
            <a:pPr lvl="1"/>
            <a:r>
              <a:rPr lang="en-US" altLang="zh-TW" dirty="0" smtClean="0"/>
              <a:t>m(c</a:t>
            </a:r>
            <a:r>
              <a:rPr lang="en-US" altLang="zh-TW" baseline="-25000" dirty="0" smtClean="0"/>
              <a:t>j</a:t>
            </a:r>
            <a:r>
              <a:rPr lang="en-US" altLang="zh-TW" dirty="0" smtClean="0"/>
              <a:t> /x</a:t>
            </a:r>
            <a:r>
              <a:rPr lang="en-US" altLang="zh-TW" baseline="-25000" dirty="0" smtClean="0"/>
              <a:t>i</a:t>
            </a:r>
            <a:r>
              <a:rPr lang="en-US" altLang="zh-TW" dirty="0" smtClean="0"/>
              <a:t>)</a:t>
            </a:r>
          </a:p>
          <a:p>
            <a:pPr lvl="2"/>
            <a:r>
              <a:rPr lang="zh-TW" altLang="en-US" dirty="0" smtClean="0"/>
              <a:t>代表</a:t>
            </a:r>
            <a:r>
              <a:rPr lang="en-US" altLang="zh-TW" dirty="0" smtClean="0"/>
              <a:t>object  x</a:t>
            </a:r>
            <a:r>
              <a:rPr lang="en-US" altLang="zh-TW" baseline="-25000" dirty="0" smtClean="0"/>
              <a:t>i</a:t>
            </a:r>
            <a:r>
              <a:rPr lang="en-US" altLang="zh-TW" dirty="0" smtClean="0"/>
              <a:t> </a:t>
            </a:r>
            <a:r>
              <a:rPr lang="zh-TW" altLang="en-US" dirty="0" smtClean="0"/>
              <a:t>屬於</a:t>
            </a:r>
            <a:r>
              <a:rPr lang="en-US" altLang="zh-TW" dirty="0" smtClean="0"/>
              <a:t>cluster j</a:t>
            </a:r>
            <a:r>
              <a:rPr lang="zh-TW" altLang="en-US" dirty="0" smtClean="0"/>
              <a:t>的程度</a:t>
            </a:r>
            <a:endParaRPr lang="en-US" altLang="zh-TW" dirty="0" smtClean="0"/>
          </a:p>
          <a:p>
            <a:pPr lvl="2"/>
            <a:endParaRPr lang="en-US" altLang="zh-TW" dirty="0" smtClean="0"/>
          </a:p>
          <a:p>
            <a:pPr marL="342900" lvl="1" indent="-342900">
              <a:buFont typeface="Arial" pitchFamily="34" charset="0"/>
              <a:buChar char="•"/>
            </a:pPr>
            <a:r>
              <a:rPr lang="en-US" altLang="zh-TW" dirty="0" smtClean="0"/>
              <a:t>m(c</a:t>
            </a:r>
            <a:r>
              <a:rPr lang="en-US" altLang="zh-TW" baseline="-25000" dirty="0" smtClean="0"/>
              <a:t>j</a:t>
            </a:r>
            <a:r>
              <a:rPr lang="en-US" altLang="zh-TW" dirty="0" smtClean="0"/>
              <a:t> /x</a:t>
            </a:r>
            <a:r>
              <a:rPr lang="en-US" altLang="zh-TW" baseline="-25000" dirty="0" smtClean="0"/>
              <a:t>i</a:t>
            </a:r>
            <a:r>
              <a:rPr lang="en-US" altLang="zh-TW" dirty="0" smtClean="0"/>
              <a:t>)</a:t>
            </a:r>
            <a:r>
              <a:rPr lang="zh-TW" altLang="en-US" dirty="0" smtClean="0"/>
              <a:t>滿足</a:t>
            </a:r>
            <a:endParaRPr lang="zh-TW" alt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960257"/>
            <a:ext cx="4724400"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1043608" y="5085184"/>
            <a:ext cx="7200800" cy="830997"/>
          </a:xfrm>
          <a:prstGeom prst="rect">
            <a:avLst/>
          </a:prstGeom>
          <a:noFill/>
        </p:spPr>
        <p:txBody>
          <a:bodyPr wrap="square" rtlCol="0">
            <a:spAutoFit/>
          </a:bodyPr>
          <a:lstStyle/>
          <a:p>
            <a:r>
              <a:rPr lang="en-US" altLang="zh-TW" sz="2400" dirty="0" smtClean="0"/>
              <a:t>1.</a:t>
            </a:r>
            <a:r>
              <a:rPr lang="zh-TW" altLang="en-US" sz="2400" dirty="0" smtClean="0"/>
              <a:t>每個物件總共有</a:t>
            </a:r>
            <a:r>
              <a:rPr lang="en-US" altLang="zh-TW" sz="2400" dirty="0" smtClean="0"/>
              <a:t>1.0</a:t>
            </a:r>
            <a:r>
              <a:rPr lang="zh-TW" altLang="en-US" sz="2400" dirty="0" smtClean="0"/>
              <a:t>的分數去分給所有的</a:t>
            </a:r>
            <a:r>
              <a:rPr lang="en-US" altLang="zh-TW" sz="2400" dirty="0" smtClean="0"/>
              <a:t>clusters</a:t>
            </a:r>
            <a:r>
              <a:rPr lang="zh-TW" altLang="en-US" sz="2400" dirty="0" smtClean="0"/>
              <a:t>。</a:t>
            </a:r>
            <a:endParaRPr lang="en-US" altLang="zh-TW" sz="2400" dirty="0" smtClean="0"/>
          </a:p>
          <a:p>
            <a:r>
              <a:rPr lang="en-US" altLang="zh-TW" sz="2400" dirty="0" smtClean="0"/>
              <a:t>2.</a:t>
            </a:r>
            <a:r>
              <a:rPr lang="zh-TW" altLang="en-US" sz="2400" dirty="0" smtClean="0"/>
              <a:t>每個</a:t>
            </a:r>
            <a:r>
              <a:rPr lang="en-US" altLang="zh-TW" sz="2400" dirty="0" smtClean="0"/>
              <a:t>cluster</a:t>
            </a:r>
            <a:r>
              <a:rPr lang="zh-TW" altLang="en-US" sz="2400" dirty="0" smtClean="0"/>
              <a:t>所得到分數不能超過</a:t>
            </a:r>
            <a:r>
              <a:rPr lang="en-US" altLang="zh-TW" sz="2400" dirty="0" smtClean="0"/>
              <a:t>N </a:t>
            </a:r>
            <a:r>
              <a:rPr lang="zh-TW" altLang="en-US" sz="2400" dirty="0" smtClean="0"/>
              <a:t>。</a:t>
            </a:r>
            <a:endParaRPr lang="zh-TW" altLang="en-US" sz="2400" dirty="0"/>
          </a:p>
        </p:txBody>
      </p:sp>
    </p:spTree>
    <p:extLst>
      <p:ext uri="{BB962C8B-B14F-4D97-AF65-F5344CB8AC3E}">
        <p14:creationId xmlns:p14="http://schemas.microsoft.com/office/powerpoint/2010/main" val="3901413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K-means(KM)</a:t>
            </a:r>
            <a:endParaRPr lang="zh-TW" altLang="en-US" dirty="0"/>
          </a:p>
        </p:txBody>
      </p:sp>
      <p:sp>
        <p:nvSpPr>
          <p:cNvPr id="3" name="內容版面配置區 2"/>
          <p:cNvSpPr>
            <a:spLocks noGrp="1"/>
          </p:cNvSpPr>
          <p:nvPr>
            <p:ph idx="1"/>
          </p:nvPr>
        </p:nvSpPr>
        <p:spPr/>
        <p:txBody>
          <a:bodyPr/>
          <a:lstStyle/>
          <a:p>
            <a:r>
              <a:rPr lang="en-US" altLang="zh-TW" dirty="0" smtClean="0"/>
              <a:t>Steps:</a:t>
            </a:r>
          </a:p>
          <a:p>
            <a:pPr lvl="1"/>
            <a:r>
              <a:rPr lang="en-US" altLang="zh-TW" dirty="0" smtClean="0"/>
              <a:t>1.</a:t>
            </a:r>
            <a:r>
              <a:rPr lang="zh-TW" altLang="en-US" dirty="0" smtClean="0"/>
              <a:t>隨</a:t>
            </a:r>
            <a:r>
              <a:rPr lang="zh-TW" altLang="en-US" dirty="0"/>
              <a:t>機指</a:t>
            </a:r>
            <a:r>
              <a:rPr lang="zh-TW" altLang="en-US" dirty="0" smtClean="0"/>
              <a:t>派</a:t>
            </a:r>
            <a:r>
              <a:rPr lang="en-US" altLang="zh-TW" dirty="0" smtClean="0"/>
              <a:t>k</a:t>
            </a:r>
            <a:r>
              <a:rPr lang="zh-TW" altLang="en-US" dirty="0" smtClean="0"/>
              <a:t>筆資料為</a:t>
            </a:r>
            <a:r>
              <a:rPr lang="en-US" altLang="zh-TW" dirty="0" smtClean="0"/>
              <a:t>k</a:t>
            </a:r>
            <a:r>
              <a:rPr lang="zh-TW" altLang="en-US" dirty="0" smtClean="0"/>
              <a:t>個</a:t>
            </a:r>
            <a:r>
              <a:rPr lang="zh-TW" altLang="en-US" dirty="0" smtClean="0"/>
              <a:t>群</a:t>
            </a:r>
            <a:r>
              <a:rPr lang="zh-TW" altLang="en-US" dirty="0"/>
              <a:t>集中</a:t>
            </a:r>
            <a:r>
              <a:rPr lang="zh-TW" altLang="en-US" dirty="0" smtClean="0"/>
              <a:t>心。</a:t>
            </a:r>
            <a:endParaRPr lang="en-US" altLang="zh-TW" dirty="0" smtClean="0"/>
          </a:p>
          <a:p>
            <a:pPr lvl="1"/>
            <a:r>
              <a:rPr lang="en-US" altLang="zh-TW" dirty="0" smtClean="0"/>
              <a:t>2.</a:t>
            </a:r>
            <a:r>
              <a:rPr lang="zh-TW" altLang="en-US" dirty="0"/>
              <a:t>計算每個資</a:t>
            </a:r>
            <a:r>
              <a:rPr lang="zh-TW" altLang="en-US" dirty="0" smtClean="0"/>
              <a:t>料</a:t>
            </a:r>
            <a:r>
              <a:rPr lang="en-US" altLang="zh-TW" dirty="0" smtClean="0"/>
              <a:t> </a:t>
            </a:r>
            <a:r>
              <a:rPr lang="zh-TW" altLang="en-US" dirty="0"/>
              <a:t>對應到最短距離的群中</a:t>
            </a:r>
            <a:r>
              <a:rPr lang="zh-TW" altLang="en-US" dirty="0" smtClean="0"/>
              <a:t>心並將該點加入該群組</a:t>
            </a:r>
            <a:r>
              <a:rPr lang="zh-TW" altLang="en-US" dirty="0"/>
              <a:t>。</a:t>
            </a:r>
            <a:endParaRPr lang="en-US" altLang="zh-TW" dirty="0" smtClean="0"/>
          </a:p>
          <a:p>
            <a:pPr lvl="1"/>
            <a:r>
              <a:rPr lang="en-US" altLang="zh-TW" dirty="0" smtClean="0"/>
              <a:t>3.</a:t>
            </a:r>
            <a:r>
              <a:rPr lang="zh-TW" altLang="en-US" dirty="0" smtClean="0"/>
              <a:t>計算加入新資料點後的新的群集中心</a:t>
            </a:r>
            <a:r>
              <a:rPr lang="en-US" altLang="zh-TW" dirty="0" smtClean="0"/>
              <a:t>(</a:t>
            </a:r>
            <a:r>
              <a:rPr lang="zh-TW" altLang="en-US" dirty="0" smtClean="0"/>
              <a:t>重心</a:t>
            </a:r>
            <a:r>
              <a:rPr lang="en-US" altLang="zh-TW" dirty="0" smtClean="0"/>
              <a:t>)</a:t>
            </a:r>
            <a:r>
              <a:rPr lang="zh-TW" altLang="en-US" dirty="0" smtClean="0"/>
              <a:t>。</a:t>
            </a:r>
            <a:endParaRPr lang="en-US" altLang="zh-TW" dirty="0" smtClean="0"/>
          </a:p>
          <a:p>
            <a:pPr lvl="1"/>
            <a:r>
              <a:rPr lang="zh-TW" altLang="en-US" dirty="0"/>
              <a:t>重複</a:t>
            </a:r>
            <a:r>
              <a:rPr lang="en-US" altLang="zh-TW" dirty="0"/>
              <a:t>2.3.</a:t>
            </a:r>
            <a:r>
              <a:rPr lang="zh-TW" altLang="en-US" dirty="0"/>
              <a:t>直</a:t>
            </a:r>
            <a:r>
              <a:rPr lang="zh-TW" altLang="en-US" dirty="0" smtClean="0"/>
              <a:t>到</a:t>
            </a:r>
            <a:r>
              <a:rPr lang="zh-TW" altLang="en-US" dirty="0"/>
              <a:t>群集成員不再變</a:t>
            </a:r>
            <a:r>
              <a:rPr lang="zh-TW" altLang="en-US" dirty="0" smtClean="0"/>
              <a:t>動。</a:t>
            </a:r>
            <a:endParaRPr lang="en-US" altLang="zh-TW" dirty="0" smtClean="0"/>
          </a:p>
          <a:p>
            <a:endParaRPr lang="en-US" altLang="zh-TW" dirty="0"/>
          </a:p>
          <a:p>
            <a:endParaRPr lang="zh-TW" altLang="en-US" dirty="0"/>
          </a:p>
        </p:txBody>
      </p:sp>
    </p:spTree>
    <p:extLst>
      <p:ext uri="{BB962C8B-B14F-4D97-AF65-F5344CB8AC3E}">
        <p14:creationId xmlns:p14="http://schemas.microsoft.com/office/powerpoint/2010/main" val="130994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484784"/>
            <a:ext cx="615315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8024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K-harmonic Means(KHM)</a:t>
            </a:r>
            <a:endParaRPr lang="zh-TW" altLang="en-US" dirty="0"/>
          </a:p>
        </p:txBody>
      </p:sp>
      <p:sp>
        <p:nvSpPr>
          <p:cNvPr id="3" name="內容版面配置區 2"/>
          <p:cNvSpPr>
            <a:spLocks noGrp="1"/>
          </p:cNvSpPr>
          <p:nvPr>
            <p:ph idx="1"/>
          </p:nvPr>
        </p:nvSpPr>
        <p:spPr/>
        <p:txBody>
          <a:bodyPr/>
          <a:lstStyle/>
          <a:p>
            <a:r>
              <a:rPr lang="en-US" altLang="zh-TW" dirty="0" smtClean="0"/>
              <a:t>The difference between KM and</a:t>
            </a:r>
            <a:r>
              <a:rPr lang="zh-TW" altLang="en-US" dirty="0" smtClean="0"/>
              <a:t> </a:t>
            </a:r>
            <a:r>
              <a:rPr lang="en-US" altLang="zh-TW" dirty="0" smtClean="0"/>
              <a:t>KHM is that the KM algorithm gives equal weight to all of the data</a:t>
            </a:r>
            <a:r>
              <a:rPr lang="zh-TW" altLang="en-US" dirty="0" smtClean="0"/>
              <a:t> </a:t>
            </a:r>
            <a:r>
              <a:rPr lang="en-US" altLang="zh-TW" dirty="0" smtClean="0"/>
              <a:t>points and the KHM algorithm every time gives dynamic weight to</a:t>
            </a:r>
            <a:r>
              <a:rPr lang="zh-TW" altLang="en-US" dirty="0" smtClean="0"/>
              <a:t> </a:t>
            </a:r>
            <a:r>
              <a:rPr lang="en-US" altLang="zh-TW" dirty="0" smtClean="0"/>
              <a:t>each data point with a harmonic average.</a:t>
            </a:r>
          </a:p>
          <a:p>
            <a:endParaRPr lang="zh-TW" altLang="en-US" dirty="0"/>
          </a:p>
        </p:txBody>
      </p:sp>
    </p:spTree>
    <p:extLst>
      <p:ext uri="{BB962C8B-B14F-4D97-AF65-F5344CB8AC3E}">
        <p14:creationId xmlns:p14="http://schemas.microsoft.com/office/powerpoint/2010/main" val="183110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a:t>
            </a:r>
            <a:r>
              <a:rPr lang="en-US" altLang="zh-TW" dirty="0" smtClean="0"/>
              <a:t>armonic Means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75" y="2343150"/>
            <a:ext cx="748665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408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332656"/>
            <a:ext cx="8229600" cy="5793507"/>
          </a:xfrm>
        </p:spPr>
        <p:txBody>
          <a:bodyPr>
            <a:normAutofit/>
          </a:bodyPr>
          <a:lstStyle/>
          <a:p>
            <a:endParaRPr lang="zh-TW" altLang="en-US" sz="2000" dirty="0"/>
          </a:p>
        </p:txBody>
      </p:sp>
      <p:pic>
        <p:nvPicPr>
          <p:cNvPr id="205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9" y="0"/>
            <a:ext cx="685738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2833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Ant Clustering Algorithm(ACA)</a:t>
            </a:r>
            <a:endParaRPr lang="zh-TW" altLang="en-US" dirty="0"/>
          </a:p>
        </p:txBody>
      </p:sp>
      <p:sp>
        <p:nvSpPr>
          <p:cNvPr id="3" name="內容版面配置區 2"/>
          <p:cNvSpPr>
            <a:spLocks noGrp="1"/>
          </p:cNvSpPr>
          <p:nvPr>
            <p:ph idx="1"/>
          </p:nvPr>
        </p:nvSpPr>
        <p:spPr/>
        <p:txBody>
          <a:bodyPr>
            <a:normAutofit/>
          </a:bodyPr>
          <a:lstStyle/>
          <a:p>
            <a:r>
              <a:rPr lang="zh-TW" altLang="en-US" dirty="0" smtClean="0"/>
              <a:t>模擬螞蟻的行為</a:t>
            </a:r>
            <a:endParaRPr lang="en-US" altLang="zh-TW" dirty="0" smtClean="0"/>
          </a:p>
          <a:p>
            <a:pPr lvl="1"/>
            <a:r>
              <a:rPr lang="zh-TW" altLang="en-US" dirty="0" smtClean="0"/>
              <a:t>在圖上隨意的散布了一些物件。</a:t>
            </a:r>
            <a:endParaRPr lang="en-US" altLang="zh-TW" dirty="0" smtClean="0"/>
          </a:p>
          <a:p>
            <a:pPr lvl="1"/>
            <a:r>
              <a:rPr lang="zh-TW" altLang="en-US" dirty="0" smtClean="0"/>
              <a:t>初始給予數隻螞蟻</a:t>
            </a:r>
            <a:r>
              <a:rPr lang="en-US" altLang="zh-TW" dirty="0" smtClean="0"/>
              <a:t>(</a:t>
            </a:r>
            <a:r>
              <a:rPr lang="zh-TW" altLang="en-US" dirty="0" smtClean="0"/>
              <a:t>隨機分布</a:t>
            </a:r>
            <a:r>
              <a:rPr lang="en-US" altLang="zh-TW" dirty="0" smtClean="0"/>
              <a:t>)</a:t>
            </a:r>
            <a:r>
              <a:rPr lang="zh-TW" altLang="en-US" dirty="0" smtClean="0"/>
              <a:t>。</a:t>
            </a:r>
            <a:endParaRPr lang="en-US" altLang="zh-TW" dirty="0" smtClean="0"/>
          </a:p>
          <a:p>
            <a:pPr lvl="1"/>
            <a:r>
              <a:rPr lang="zh-TW" altLang="en-US" dirty="0" smtClean="0"/>
              <a:t>螞蟻會在圖上恣意奔跑。</a:t>
            </a:r>
            <a:endParaRPr lang="en-US" altLang="zh-TW" dirty="0" smtClean="0"/>
          </a:p>
          <a:p>
            <a:pPr lvl="2"/>
            <a:r>
              <a:rPr lang="zh-TW" altLang="en-US" dirty="0"/>
              <a:t>若螞蟻持有物件時</a:t>
            </a:r>
            <a:r>
              <a:rPr lang="zh-TW" altLang="en-US" dirty="0" smtClean="0"/>
              <a:t>，有一定的機率下物件</a:t>
            </a:r>
            <a:r>
              <a:rPr lang="en-US" altLang="zh-TW" dirty="0" smtClean="0"/>
              <a:t>(P</a:t>
            </a:r>
            <a:r>
              <a:rPr lang="en-US" altLang="zh-TW" baseline="-25000" dirty="0" smtClean="0"/>
              <a:t>drop</a:t>
            </a:r>
            <a:r>
              <a:rPr lang="en-US" altLang="zh-TW" dirty="0" smtClean="0"/>
              <a:t>)</a:t>
            </a:r>
          </a:p>
          <a:p>
            <a:pPr lvl="2"/>
            <a:r>
              <a:rPr lang="zh-TW" altLang="en-US" dirty="0"/>
              <a:t>若螞蟻沒有持有物件時，有一定的機率拾取物件</a:t>
            </a:r>
            <a:r>
              <a:rPr lang="en-US" altLang="zh-TW" dirty="0"/>
              <a:t>(</a:t>
            </a:r>
            <a:r>
              <a:rPr lang="en-US" altLang="zh-TW" dirty="0" smtClean="0"/>
              <a:t>P</a:t>
            </a:r>
            <a:r>
              <a:rPr lang="en-US" altLang="zh-TW" baseline="-25000" dirty="0" smtClean="0"/>
              <a:t>pick</a:t>
            </a:r>
            <a:r>
              <a:rPr lang="en-US" altLang="zh-TW" dirty="0" smtClean="0"/>
              <a:t>)</a:t>
            </a:r>
            <a:r>
              <a:rPr lang="zh-TW" altLang="en-US" dirty="0" smtClean="0"/>
              <a:t>。</a:t>
            </a:r>
            <a:endParaRPr lang="en-US" altLang="zh-TW" dirty="0" smtClean="0"/>
          </a:p>
          <a:p>
            <a:pPr lvl="2"/>
            <a:r>
              <a:rPr lang="zh-TW" altLang="en-US" dirty="0" smtClean="0"/>
              <a:t>持有</a:t>
            </a:r>
            <a:r>
              <a:rPr lang="en-US" altLang="zh-TW" dirty="0" smtClean="0"/>
              <a:t>(</a:t>
            </a:r>
            <a:r>
              <a:rPr lang="zh-TW" altLang="en-US" dirty="0" smtClean="0"/>
              <a:t>掉落</a:t>
            </a:r>
            <a:r>
              <a:rPr lang="en-US" altLang="zh-TW" dirty="0" smtClean="0"/>
              <a:t>)</a:t>
            </a:r>
            <a:r>
              <a:rPr lang="zh-TW" altLang="en-US" dirty="0" smtClean="0"/>
              <a:t>的機率與附近物件的密度成反比</a:t>
            </a:r>
            <a:r>
              <a:rPr lang="en-US" altLang="zh-TW" dirty="0" smtClean="0"/>
              <a:t>(</a:t>
            </a:r>
            <a:r>
              <a:rPr lang="zh-TW" altLang="en-US" dirty="0" smtClean="0"/>
              <a:t>正比</a:t>
            </a:r>
            <a:r>
              <a:rPr lang="en-US" altLang="zh-TW" dirty="0" smtClean="0"/>
              <a:t>)</a:t>
            </a:r>
          </a:p>
          <a:p>
            <a:pPr lvl="1"/>
            <a:r>
              <a:rPr lang="zh-TW" altLang="en-US" dirty="0"/>
              <a:t>計算堆疊的中心</a:t>
            </a:r>
            <a:r>
              <a:rPr lang="zh-TW" altLang="en-US" dirty="0" smtClean="0"/>
              <a:t>點。</a:t>
            </a:r>
            <a:endParaRPr lang="en-US" altLang="zh-TW" dirty="0"/>
          </a:p>
          <a:p>
            <a:pPr lvl="1"/>
            <a:endParaRPr lang="en-US" altLang="zh-TW" dirty="0" smtClean="0"/>
          </a:p>
          <a:p>
            <a:pPr lvl="1"/>
            <a:endParaRPr lang="en-US" altLang="zh-TW" dirty="0" smtClean="0"/>
          </a:p>
          <a:p>
            <a:pPr lvl="1"/>
            <a:endParaRPr lang="zh-TW" altLang="en-US" dirty="0"/>
          </a:p>
        </p:txBody>
      </p:sp>
    </p:spTree>
    <p:extLst>
      <p:ext uri="{BB962C8B-B14F-4D97-AF65-F5344CB8AC3E}">
        <p14:creationId xmlns:p14="http://schemas.microsoft.com/office/powerpoint/2010/main" val="331467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Ant Clustering Algorithm(ACA)</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132856"/>
            <a:ext cx="648652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7705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Ant clustering algorithm with K-harmonic means clustering</a:t>
            </a:r>
            <a:endParaRPr lang="zh-TW" altLang="en-US" dirty="0"/>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4013" y="1600200"/>
            <a:ext cx="6935974"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3507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sp>
        <p:nvSpPr>
          <p:cNvPr id="3" name="內容版面配置區 2"/>
          <p:cNvSpPr>
            <a:spLocks noGrp="1"/>
          </p:cNvSpPr>
          <p:nvPr>
            <p:ph idx="1"/>
          </p:nvPr>
        </p:nvSpPr>
        <p:spPr/>
        <p:txBody>
          <a:bodyPr>
            <a:normAutofit/>
          </a:bodyPr>
          <a:lstStyle/>
          <a:p>
            <a:r>
              <a:rPr lang="en-US" altLang="zh-TW" dirty="0" smtClean="0"/>
              <a:t>KM</a:t>
            </a:r>
            <a:r>
              <a:rPr lang="zh-TW" altLang="en-US" dirty="0" smtClean="0"/>
              <a:t>，</a:t>
            </a:r>
            <a:r>
              <a:rPr lang="en-US" altLang="zh-TW" dirty="0" smtClean="0"/>
              <a:t>KHM</a:t>
            </a:r>
            <a:r>
              <a:rPr lang="zh-TW" altLang="en-US" dirty="0" smtClean="0"/>
              <a:t>為</a:t>
            </a:r>
            <a:r>
              <a:rPr lang="en-US" altLang="zh-TW" dirty="0" smtClean="0"/>
              <a:t>objective function</a:t>
            </a:r>
            <a:r>
              <a:rPr lang="zh-TW" altLang="en-US" dirty="0" smtClean="0"/>
              <a:t>，其值愈小代表分群的品質愈佳。</a:t>
            </a:r>
            <a:endParaRPr lang="en-US" altLang="zh-TW" dirty="0" smtClean="0"/>
          </a:p>
          <a:p>
            <a:r>
              <a:rPr lang="en-US" altLang="zh-TW" dirty="0" smtClean="0"/>
              <a:t>F-Measure</a:t>
            </a:r>
            <a:r>
              <a:rPr lang="zh-TW" altLang="en-US" dirty="0" smtClean="0"/>
              <a:t>值愈大</a:t>
            </a:r>
            <a:r>
              <a:rPr lang="en-US" altLang="zh-TW" dirty="0" smtClean="0"/>
              <a:t>(</a:t>
            </a:r>
            <a:r>
              <a:rPr lang="zh-TW" altLang="en-US" dirty="0"/>
              <a:t> ≦ </a:t>
            </a:r>
            <a:r>
              <a:rPr lang="en-US" altLang="zh-TW" dirty="0" smtClean="0"/>
              <a:t>1)</a:t>
            </a:r>
            <a:r>
              <a:rPr lang="zh-TW" altLang="en-US" dirty="0" smtClean="0"/>
              <a:t>，代表分群的演算法愈佳。</a:t>
            </a:r>
            <a:endParaRPr lang="en-US" altLang="zh-TW" dirty="0" smtClean="0"/>
          </a:p>
          <a:p>
            <a:pPr lvl="1"/>
            <a:r>
              <a:rPr lang="zh-TW" altLang="en-US" dirty="0"/>
              <a:t>利用</a:t>
            </a:r>
            <a:r>
              <a:rPr lang="en-US" altLang="zh-TW" dirty="0"/>
              <a:t>precision p(i,j</a:t>
            </a:r>
            <a:r>
              <a:rPr lang="en-US" altLang="zh-TW" dirty="0" smtClean="0"/>
              <a:t>)</a:t>
            </a:r>
            <a:r>
              <a:rPr lang="zh-TW" altLang="en-US" dirty="0" smtClean="0"/>
              <a:t> </a:t>
            </a:r>
            <a:r>
              <a:rPr lang="en-US" altLang="zh-TW" dirty="0" smtClean="0"/>
              <a:t>=</a:t>
            </a:r>
            <a:r>
              <a:rPr lang="zh-TW" altLang="en-US" dirty="0" smtClean="0"/>
              <a:t> </a:t>
            </a:r>
            <a:r>
              <a:rPr lang="en-US" altLang="zh-TW" dirty="0" smtClean="0"/>
              <a:t>n</a:t>
            </a:r>
            <a:r>
              <a:rPr lang="en-US" altLang="zh-TW" baseline="-25000" dirty="0" smtClean="0"/>
              <a:t>ij</a:t>
            </a:r>
            <a:r>
              <a:rPr lang="zh-TW" altLang="en-US" dirty="0" smtClean="0"/>
              <a:t> </a:t>
            </a:r>
            <a:r>
              <a:rPr lang="en-US" altLang="zh-TW" dirty="0" smtClean="0"/>
              <a:t>/</a:t>
            </a:r>
            <a:r>
              <a:rPr lang="zh-TW" altLang="en-US" dirty="0" smtClean="0"/>
              <a:t> </a:t>
            </a:r>
            <a:r>
              <a:rPr lang="en-US" altLang="zh-TW" dirty="0" smtClean="0"/>
              <a:t>n</a:t>
            </a:r>
            <a:r>
              <a:rPr lang="en-US" altLang="zh-TW" baseline="-25000" dirty="0" smtClean="0"/>
              <a:t>j</a:t>
            </a:r>
          </a:p>
          <a:p>
            <a:pPr lvl="1"/>
            <a:r>
              <a:rPr lang="en-US" altLang="zh-TW" dirty="0" smtClean="0"/>
              <a:t>recall</a:t>
            </a:r>
            <a:r>
              <a:rPr lang="zh-TW" altLang="en-US" dirty="0" smtClean="0"/>
              <a:t> </a:t>
            </a:r>
            <a:r>
              <a:rPr lang="en-US" altLang="zh-TW" dirty="0" smtClean="0"/>
              <a:t>r(i,j)</a:t>
            </a:r>
            <a:r>
              <a:rPr lang="zh-TW" altLang="en-US" dirty="0" smtClean="0"/>
              <a:t> </a:t>
            </a:r>
            <a:r>
              <a:rPr lang="en-US" altLang="zh-TW" dirty="0" smtClean="0"/>
              <a:t>=</a:t>
            </a:r>
            <a:r>
              <a:rPr lang="zh-TW" altLang="en-US" dirty="0" smtClean="0"/>
              <a:t> </a:t>
            </a:r>
            <a:r>
              <a:rPr lang="en-US" altLang="zh-TW" dirty="0" smtClean="0"/>
              <a:t>n</a:t>
            </a:r>
            <a:r>
              <a:rPr lang="en-US" altLang="zh-TW" baseline="-25000" dirty="0" smtClean="0"/>
              <a:t>ij</a:t>
            </a:r>
            <a:r>
              <a:rPr lang="zh-TW" altLang="en-US" baseline="-25000" dirty="0" smtClean="0"/>
              <a:t> </a:t>
            </a:r>
            <a:r>
              <a:rPr lang="en-US" altLang="zh-TW" dirty="0" smtClean="0"/>
              <a:t>/</a:t>
            </a:r>
            <a:r>
              <a:rPr lang="zh-TW" altLang="en-US" dirty="0" smtClean="0"/>
              <a:t> </a:t>
            </a:r>
            <a:r>
              <a:rPr lang="en-US" altLang="zh-TW" dirty="0" smtClean="0"/>
              <a:t>n</a:t>
            </a:r>
            <a:r>
              <a:rPr lang="en-US" altLang="zh-TW" baseline="-25000" dirty="0" smtClean="0"/>
              <a:t>i</a:t>
            </a:r>
          </a:p>
          <a:p>
            <a:pPr lvl="2"/>
            <a:r>
              <a:rPr lang="zh-TW" altLang="en-US" dirty="0"/>
              <a:t>其</a:t>
            </a:r>
            <a:r>
              <a:rPr lang="zh-TW" altLang="en-US" dirty="0" smtClean="0"/>
              <a:t>中</a:t>
            </a:r>
            <a:r>
              <a:rPr lang="en-US" altLang="zh-TW" dirty="0" smtClean="0"/>
              <a:t>n</a:t>
            </a:r>
            <a:r>
              <a:rPr lang="en-US" altLang="zh-TW" baseline="-25000" dirty="0" smtClean="0"/>
              <a:t>ij</a:t>
            </a:r>
            <a:r>
              <a:rPr lang="zh-TW" altLang="en-US" dirty="0"/>
              <a:t>為</a:t>
            </a:r>
            <a:r>
              <a:rPr lang="zh-TW" altLang="en-US" dirty="0" smtClean="0"/>
              <a:t>屬於</a:t>
            </a:r>
            <a:r>
              <a:rPr lang="en-US" altLang="zh-TW" dirty="0" smtClean="0"/>
              <a:t>class i</a:t>
            </a:r>
            <a:r>
              <a:rPr lang="zh-TW" altLang="en-US" dirty="0" smtClean="0"/>
              <a:t> 而被分類到</a:t>
            </a:r>
            <a:r>
              <a:rPr lang="en-US" altLang="zh-TW" dirty="0" smtClean="0"/>
              <a:t>cluster j </a:t>
            </a:r>
            <a:r>
              <a:rPr lang="zh-TW" altLang="en-US" dirty="0" smtClean="0"/>
              <a:t>的筆數</a:t>
            </a:r>
            <a:endParaRPr lang="en-US" altLang="zh-TW" dirty="0" smtClean="0"/>
          </a:p>
          <a:p>
            <a:pPr lvl="2"/>
            <a:r>
              <a:rPr lang="en-US" altLang="zh-TW" dirty="0" smtClean="0"/>
              <a:t>n</a:t>
            </a:r>
            <a:r>
              <a:rPr lang="en-US" altLang="zh-TW" baseline="-25000" dirty="0" smtClean="0"/>
              <a:t>i</a:t>
            </a:r>
            <a:r>
              <a:rPr lang="en-US" altLang="zh-TW" dirty="0" smtClean="0"/>
              <a:t>  ,</a:t>
            </a:r>
            <a:r>
              <a:rPr lang="zh-TW" altLang="en-US" dirty="0" smtClean="0"/>
              <a:t> </a:t>
            </a:r>
            <a:r>
              <a:rPr lang="en-US" altLang="zh-TW" dirty="0" smtClean="0"/>
              <a:t>n</a:t>
            </a:r>
            <a:r>
              <a:rPr lang="en-US" altLang="zh-TW" baseline="-25000" dirty="0" smtClean="0"/>
              <a:t>j  </a:t>
            </a:r>
            <a:r>
              <a:rPr lang="zh-TW" altLang="en-US" dirty="0"/>
              <a:t>分別</a:t>
            </a:r>
            <a:r>
              <a:rPr lang="zh-TW" altLang="en-US" dirty="0" smtClean="0"/>
              <a:t>表示</a:t>
            </a:r>
            <a:r>
              <a:rPr lang="en-US" altLang="zh-TW" dirty="0" smtClean="0"/>
              <a:t>class</a:t>
            </a:r>
            <a:r>
              <a:rPr lang="zh-TW" altLang="en-US" dirty="0" smtClean="0"/>
              <a:t> </a:t>
            </a:r>
            <a:r>
              <a:rPr lang="en-US" altLang="zh-TW" dirty="0" smtClean="0"/>
              <a:t>i</a:t>
            </a:r>
            <a:r>
              <a:rPr lang="zh-TW" altLang="en-US" dirty="0" smtClean="0"/>
              <a:t> 與</a:t>
            </a:r>
            <a:r>
              <a:rPr lang="en-US" altLang="zh-TW" dirty="0" smtClean="0"/>
              <a:t>cluster j</a:t>
            </a:r>
            <a:r>
              <a:rPr lang="zh-TW" altLang="en-US" dirty="0" smtClean="0"/>
              <a:t>的資料筆數</a:t>
            </a:r>
            <a:r>
              <a:rPr lang="en-US" altLang="zh-TW" dirty="0" smtClean="0"/>
              <a:t> </a:t>
            </a:r>
            <a:endParaRPr lang="zh-TW" altLang="en-US" dirty="0"/>
          </a:p>
        </p:txBody>
      </p:sp>
    </p:spTree>
    <p:extLst>
      <p:ext uri="{BB962C8B-B14F-4D97-AF65-F5344CB8AC3E}">
        <p14:creationId xmlns:p14="http://schemas.microsoft.com/office/powerpoint/2010/main" val="755267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39552" y="1556792"/>
            <a:ext cx="8229600" cy="4387518"/>
          </a:xfrm>
        </p:spPr>
        <p:txBody>
          <a:bodyPr/>
          <a:lstStyle/>
          <a:p>
            <a:pPr marL="342900" lvl="1" indent="-342900">
              <a:buFont typeface="Arial" pitchFamily="34" charset="0"/>
              <a:buChar char="•"/>
            </a:pPr>
            <a:r>
              <a:rPr lang="en-US" altLang="zh-TW" dirty="0" smtClean="0"/>
              <a:t>p(i,j)</a:t>
            </a:r>
            <a:r>
              <a:rPr lang="zh-TW" altLang="en-US" dirty="0" smtClean="0"/>
              <a:t> </a:t>
            </a:r>
            <a:r>
              <a:rPr lang="en-US" altLang="zh-TW" dirty="0" smtClean="0"/>
              <a:t>=</a:t>
            </a:r>
            <a:r>
              <a:rPr lang="zh-TW" altLang="en-US" dirty="0" smtClean="0"/>
              <a:t> </a:t>
            </a:r>
            <a:r>
              <a:rPr lang="en-US" altLang="zh-TW" dirty="0" smtClean="0"/>
              <a:t>n</a:t>
            </a:r>
            <a:r>
              <a:rPr lang="en-US" altLang="zh-TW" baseline="-25000" dirty="0" smtClean="0"/>
              <a:t>ij</a:t>
            </a:r>
            <a:r>
              <a:rPr lang="zh-TW" altLang="en-US" dirty="0" smtClean="0"/>
              <a:t> </a:t>
            </a:r>
            <a:r>
              <a:rPr lang="en-US" altLang="zh-TW" dirty="0" smtClean="0"/>
              <a:t>/</a:t>
            </a:r>
            <a:r>
              <a:rPr lang="zh-TW" altLang="en-US" dirty="0" smtClean="0"/>
              <a:t> </a:t>
            </a:r>
            <a:r>
              <a:rPr lang="en-US" altLang="zh-TW" dirty="0" smtClean="0"/>
              <a:t>n</a:t>
            </a:r>
            <a:r>
              <a:rPr lang="en-US" altLang="zh-TW" baseline="-25000" dirty="0" smtClean="0"/>
              <a:t>j</a:t>
            </a:r>
          </a:p>
          <a:p>
            <a:pPr marL="342900" lvl="1" indent="-342900">
              <a:buFont typeface="Arial" pitchFamily="34" charset="0"/>
              <a:buChar char="•"/>
            </a:pPr>
            <a:r>
              <a:rPr lang="en-US" altLang="zh-TW" dirty="0" smtClean="0"/>
              <a:t>r(i,j) = n</a:t>
            </a:r>
            <a:r>
              <a:rPr lang="en-US" altLang="zh-TW" baseline="-25000" dirty="0" smtClean="0"/>
              <a:t>ij</a:t>
            </a:r>
            <a:r>
              <a:rPr lang="en-US" altLang="zh-TW" dirty="0" smtClean="0"/>
              <a:t> / n</a:t>
            </a:r>
            <a:r>
              <a:rPr lang="en-US" altLang="zh-TW" baseline="-25000" dirty="0" smtClean="0"/>
              <a:t>i</a:t>
            </a:r>
            <a:endParaRPr lang="en-US" altLang="zh-TW" dirty="0" smtClean="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445152"/>
            <a:ext cx="7271146" cy="337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9357" y="1124744"/>
            <a:ext cx="314325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標題 1"/>
          <p:cNvSpPr>
            <a:spLocks noGrp="1"/>
          </p:cNvSpPr>
          <p:nvPr>
            <p:ph type="title"/>
          </p:nvPr>
        </p:nvSpPr>
        <p:spPr>
          <a:xfrm>
            <a:off x="457200" y="274638"/>
            <a:ext cx="8229600" cy="1143000"/>
          </a:xfrm>
        </p:spPr>
        <p:txBody>
          <a:bodyPr/>
          <a:lstStyle/>
          <a:p>
            <a:r>
              <a:rPr lang="en-US" altLang="zh-TW" dirty="0" smtClean="0"/>
              <a:t> F-Measure</a:t>
            </a:r>
            <a:endParaRPr lang="zh-TW" altLang="en-US" dirty="0"/>
          </a:p>
        </p:txBody>
      </p:sp>
    </p:spTree>
    <p:extLst>
      <p:ext uri="{BB962C8B-B14F-4D97-AF65-F5344CB8AC3E}">
        <p14:creationId xmlns:p14="http://schemas.microsoft.com/office/powerpoint/2010/main" val="3496876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95536" y="1423828"/>
            <a:ext cx="8229600" cy="6192688"/>
          </a:xfrm>
        </p:spPr>
        <p:txBody>
          <a:bodyPr/>
          <a:lstStyle/>
          <a:p>
            <a:endParaRPr lang="en-US" altLang="zh-TW" dirty="0" smtClean="0"/>
          </a:p>
          <a:p>
            <a:endParaRPr lang="en-US" altLang="zh-TW" dirty="0"/>
          </a:p>
          <a:p>
            <a:endParaRPr lang="en-US" altLang="zh-TW" dirty="0" smtClean="0"/>
          </a:p>
          <a:p>
            <a:endParaRPr lang="en-US" altLang="zh-TW" dirty="0"/>
          </a:p>
          <a:p>
            <a:r>
              <a:rPr lang="en-US" altLang="zh-TW" dirty="0"/>
              <a:t>b</a:t>
            </a:r>
            <a:r>
              <a:rPr lang="en-US" altLang="zh-TW" dirty="0" smtClean="0"/>
              <a:t> = 1</a:t>
            </a:r>
            <a:r>
              <a:rPr lang="zh-TW" altLang="en-US" dirty="0" smtClean="0"/>
              <a:t>時，</a:t>
            </a:r>
            <a:r>
              <a:rPr lang="en-US" altLang="zh-TW" dirty="0" smtClean="0"/>
              <a:t>F(i,j) = 2p*r/(p+r) = 2/(r</a:t>
            </a:r>
            <a:r>
              <a:rPr lang="en-US" altLang="zh-TW" baseline="30000" dirty="0" smtClean="0"/>
              <a:t>-1 </a:t>
            </a:r>
            <a:r>
              <a:rPr lang="en-US" altLang="zh-TW" dirty="0" smtClean="0"/>
              <a:t>+p</a:t>
            </a:r>
            <a:r>
              <a:rPr lang="en-US" altLang="zh-TW" baseline="30000" dirty="0" smtClean="0"/>
              <a:t>-1</a:t>
            </a:r>
            <a:r>
              <a:rPr lang="en-US" altLang="zh-TW" dirty="0" smtClean="0"/>
              <a:t>)</a:t>
            </a:r>
            <a:r>
              <a:rPr lang="zh-TW" altLang="en-US" dirty="0" smtClean="0"/>
              <a:t> </a:t>
            </a:r>
            <a:r>
              <a:rPr lang="en-US" altLang="zh-TW" dirty="0" smtClean="0"/>
              <a:t>= </a:t>
            </a:r>
          </a:p>
          <a:p>
            <a:pPr marL="0" indent="0">
              <a:buNone/>
            </a:pPr>
            <a:r>
              <a:rPr lang="zh-TW" altLang="en-US" dirty="0"/>
              <a:t> </a:t>
            </a:r>
            <a:r>
              <a:rPr lang="zh-TW" altLang="en-US" dirty="0" smtClean="0"/>
              <a:t>   </a:t>
            </a:r>
            <a:r>
              <a:rPr lang="en-US" altLang="zh-TW" dirty="0" smtClean="0"/>
              <a:t>2n</a:t>
            </a:r>
            <a:r>
              <a:rPr lang="en-US" altLang="zh-TW" baseline="-25000" dirty="0" smtClean="0"/>
              <a:t>ij</a:t>
            </a:r>
            <a:r>
              <a:rPr lang="en-US" altLang="zh-TW" dirty="0" smtClean="0"/>
              <a:t> /(n</a:t>
            </a:r>
            <a:r>
              <a:rPr lang="en-US" altLang="zh-TW" baseline="-25000" dirty="0" smtClean="0"/>
              <a:t>i</a:t>
            </a:r>
            <a:r>
              <a:rPr lang="en-US" altLang="zh-TW" dirty="0" smtClean="0"/>
              <a:t> + n</a:t>
            </a:r>
            <a:r>
              <a:rPr lang="en-US" altLang="zh-TW" baseline="-25000" dirty="0" smtClean="0"/>
              <a:t>j</a:t>
            </a:r>
            <a:r>
              <a:rPr lang="en-US" altLang="zh-TW" dirty="0" smtClean="0"/>
              <a:t>)</a:t>
            </a:r>
          </a:p>
          <a:p>
            <a:r>
              <a:rPr lang="zh-TW" altLang="en-US" dirty="0"/>
              <a:t>又</a:t>
            </a:r>
            <a:r>
              <a:rPr lang="en-US" altLang="zh-TW" dirty="0" smtClean="0"/>
              <a:t>n</a:t>
            </a:r>
            <a:r>
              <a:rPr lang="en-US" altLang="zh-TW" baseline="-25000" dirty="0" smtClean="0"/>
              <a:t>i</a:t>
            </a:r>
            <a:r>
              <a:rPr lang="en-US" altLang="zh-TW" dirty="0" smtClean="0"/>
              <a:t> </a:t>
            </a:r>
            <a:r>
              <a:rPr lang="zh-TW" altLang="en-US" dirty="0" smtClean="0"/>
              <a:t>≧ </a:t>
            </a:r>
            <a:r>
              <a:rPr lang="en-US" altLang="zh-TW" dirty="0" smtClean="0"/>
              <a:t>n</a:t>
            </a:r>
            <a:r>
              <a:rPr lang="en-US" altLang="zh-TW" baseline="-25000" dirty="0" smtClean="0"/>
              <a:t>ij</a:t>
            </a:r>
            <a:r>
              <a:rPr lang="zh-TW" altLang="en-US" dirty="0"/>
              <a:t> </a:t>
            </a:r>
            <a:r>
              <a:rPr lang="en-US" altLang="zh-TW" dirty="0" smtClean="0"/>
              <a:t>,</a:t>
            </a:r>
            <a:r>
              <a:rPr lang="en-US" altLang="zh-TW" dirty="0" smtClean="0"/>
              <a:t> n</a:t>
            </a:r>
            <a:r>
              <a:rPr lang="en-US" altLang="zh-TW" baseline="-25000" dirty="0"/>
              <a:t>j</a:t>
            </a:r>
            <a:r>
              <a:rPr lang="en-US" altLang="zh-TW" dirty="0" smtClean="0"/>
              <a:t> </a:t>
            </a:r>
            <a:r>
              <a:rPr lang="zh-TW" altLang="en-US" dirty="0" smtClean="0"/>
              <a:t>≧ </a:t>
            </a:r>
            <a:r>
              <a:rPr lang="en-US" altLang="zh-TW" dirty="0" smtClean="0"/>
              <a:t>n</a:t>
            </a:r>
            <a:r>
              <a:rPr lang="en-US" altLang="zh-TW" baseline="-25000" dirty="0" smtClean="0"/>
              <a:t>ij</a:t>
            </a:r>
            <a:r>
              <a:rPr lang="zh-TW" altLang="en-US" dirty="0" smtClean="0"/>
              <a:t> </a:t>
            </a:r>
            <a:r>
              <a:rPr lang="en-US" altLang="zh-TW" dirty="0" smtClean="0"/>
              <a:t>  </a:t>
            </a:r>
          </a:p>
          <a:p>
            <a:r>
              <a:rPr lang="zh-TW" altLang="en-US" dirty="0"/>
              <a:t>所以</a:t>
            </a:r>
            <a:r>
              <a:rPr lang="en-US" altLang="zh-TW" dirty="0" smtClean="0"/>
              <a:t> </a:t>
            </a:r>
            <a:r>
              <a:rPr lang="en-US" altLang="zh-TW" dirty="0" smtClean="0"/>
              <a:t>2n</a:t>
            </a:r>
            <a:r>
              <a:rPr lang="en-US" altLang="zh-TW" baseline="-25000" dirty="0" smtClean="0"/>
              <a:t>ij</a:t>
            </a:r>
            <a:r>
              <a:rPr lang="en-US" altLang="zh-TW" dirty="0" smtClean="0"/>
              <a:t> /(</a:t>
            </a:r>
            <a:r>
              <a:rPr lang="zh-TW" altLang="en-US" dirty="0" smtClean="0"/>
              <a:t> </a:t>
            </a:r>
            <a:r>
              <a:rPr lang="en-US" altLang="zh-TW" dirty="0" smtClean="0"/>
              <a:t>n</a:t>
            </a:r>
            <a:r>
              <a:rPr lang="en-US" altLang="zh-TW" baseline="-25000" dirty="0" smtClean="0"/>
              <a:t>i</a:t>
            </a:r>
            <a:r>
              <a:rPr lang="en-US" altLang="zh-TW" dirty="0" smtClean="0"/>
              <a:t> + n</a:t>
            </a:r>
            <a:r>
              <a:rPr lang="en-US" altLang="zh-TW" baseline="-25000" dirty="0" smtClean="0"/>
              <a:t>j</a:t>
            </a:r>
            <a:r>
              <a:rPr lang="en-US" altLang="zh-TW" dirty="0" smtClean="0"/>
              <a:t> ) </a:t>
            </a:r>
            <a:r>
              <a:rPr lang="zh-TW" altLang="en-US" dirty="0" smtClean="0"/>
              <a:t>≦</a:t>
            </a:r>
            <a:r>
              <a:rPr lang="en-US" altLang="zh-TW" dirty="0" smtClean="0"/>
              <a:t> 2n</a:t>
            </a:r>
            <a:r>
              <a:rPr lang="en-US" altLang="zh-TW" baseline="-25000" dirty="0" smtClean="0"/>
              <a:t>ij</a:t>
            </a:r>
            <a:r>
              <a:rPr lang="en-US" altLang="zh-TW" dirty="0" smtClean="0"/>
              <a:t> /(</a:t>
            </a:r>
            <a:r>
              <a:rPr lang="zh-TW" altLang="en-US" dirty="0" smtClean="0"/>
              <a:t> </a:t>
            </a:r>
            <a:r>
              <a:rPr lang="en-US" altLang="zh-TW" dirty="0" smtClean="0"/>
              <a:t>n</a:t>
            </a:r>
            <a:r>
              <a:rPr lang="en-US" altLang="zh-TW" baseline="-25000" dirty="0" smtClean="0"/>
              <a:t>ij</a:t>
            </a:r>
            <a:r>
              <a:rPr lang="en-US" altLang="zh-TW" dirty="0" smtClean="0"/>
              <a:t> + n</a:t>
            </a:r>
            <a:r>
              <a:rPr lang="en-US" altLang="zh-TW" baseline="-25000" dirty="0" smtClean="0"/>
              <a:t>ij</a:t>
            </a:r>
            <a:r>
              <a:rPr lang="zh-TW" altLang="en-US" dirty="0" smtClean="0"/>
              <a:t> </a:t>
            </a:r>
            <a:r>
              <a:rPr lang="en-US" altLang="zh-TW" dirty="0" smtClean="0"/>
              <a:t>) = 1</a:t>
            </a:r>
          </a:p>
          <a:p>
            <a:r>
              <a:rPr lang="en-US" altLang="zh-TW" dirty="0" smtClean="0"/>
              <a:t>F(i,j)</a:t>
            </a:r>
            <a:r>
              <a:rPr lang="zh-TW" altLang="en-US" dirty="0" smtClean="0"/>
              <a:t> </a:t>
            </a:r>
            <a:r>
              <a:rPr lang="en-US" altLang="zh-TW" dirty="0" smtClean="0"/>
              <a:t>=</a:t>
            </a:r>
            <a:r>
              <a:rPr lang="zh-TW" altLang="en-US" dirty="0" smtClean="0"/>
              <a:t> </a:t>
            </a:r>
            <a:r>
              <a:rPr lang="en-US" altLang="zh-TW" dirty="0" smtClean="0"/>
              <a:t>1</a:t>
            </a:r>
            <a:r>
              <a:rPr lang="zh-TW" altLang="en-US" dirty="0" smtClean="0"/>
              <a:t>時表示</a:t>
            </a:r>
            <a:r>
              <a:rPr lang="en-US" altLang="zh-TW" dirty="0" smtClean="0"/>
              <a:t>,</a:t>
            </a:r>
            <a:r>
              <a:rPr lang="zh-TW" altLang="en-US" dirty="0" smtClean="0"/>
              <a:t>完全預測正確  </a:t>
            </a:r>
            <a:r>
              <a:rPr lang="en-US" altLang="zh-TW" dirty="0" smtClean="0"/>
              <a:t>n</a:t>
            </a:r>
            <a:r>
              <a:rPr lang="en-US" altLang="zh-TW" baseline="-25000" dirty="0" smtClean="0"/>
              <a:t>i</a:t>
            </a:r>
            <a:r>
              <a:rPr lang="en-US" altLang="zh-TW" dirty="0" smtClean="0"/>
              <a:t> </a:t>
            </a:r>
            <a:r>
              <a:rPr lang="en-US" altLang="zh-TW" dirty="0"/>
              <a:t>=</a:t>
            </a:r>
            <a:r>
              <a:rPr lang="zh-TW" altLang="en-US" dirty="0" smtClean="0"/>
              <a:t> </a:t>
            </a:r>
            <a:r>
              <a:rPr lang="en-US" altLang="zh-TW" dirty="0" smtClean="0"/>
              <a:t>n</a:t>
            </a:r>
            <a:r>
              <a:rPr lang="en-US" altLang="zh-TW" baseline="-25000" dirty="0" smtClean="0"/>
              <a:t>j </a:t>
            </a:r>
            <a:r>
              <a:rPr lang="zh-TW" altLang="en-US" baseline="-25000" dirty="0" smtClean="0"/>
              <a:t> </a:t>
            </a:r>
            <a:r>
              <a:rPr lang="en-US" altLang="zh-TW" dirty="0" smtClean="0"/>
              <a:t>=</a:t>
            </a:r>
            <a:r>
              <a:rPr lang="zh-TW" altLang="en-US" dirty="0" smtClean="0"/>
              <a:t> </a:t>
            </a:r>
            <a:r>
              <a:rPr lang="en-US" altLang="zh-TW" dirty="0" smtClean="0"/>
              <a:t>n</a:t>
            </a:r>
            <a:r>
              <a:rPr lang="en-US" altLang="zh-TW" baseline="-25000" dirty="0" smtClean="0"/>
              <a:t>ij</a:t>
            </a:r>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58" y="1412776"/>
            <a:ext cx="665797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標題 1"/>
          <p:cNvSpPr>
            <a:spLocks noGrp="1"/>
          </p:cNvSpPr>
          <p:nvPr>
            <p:ph type="title"/>
          </p:nvPr>
        </p:nvSpPr>
        <p:spPr/>
        <p:txBody>
          <a:bodyPr/>
          <a:lstStyle/>
          <a:p>
            <a:r>
              <a:rPr lang="en-US" altLang="zh-TW" dirty="0" smtClean="0"/>
              <a:t> F-Measure</a:t>
            </a:r>
            <a:endParaRPr lang="zh-TW" altLang="en-US" dirty="0"/>
          </a:p>
        </p:txBody>
      </p:sp>
    </p:spTree>
    <p:extLst>
      <p:ext uri="{BB962C8B-B14F-4D97-AF65-F5344CB8AC3E}">
        <p14:creationId xmlns:p14="http://schemas.microsoft.com/office/powerpoint/2010/main" val="17343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32429"/>
            <a:ext cx="8229600" cy="1143000"/>
          </a:xfrm>
        </p:spPr>
        <p:txBody>
          <a:bodyPr/>
          <a:lstStyle/>
          <a:p>
            <a:r>
              <a:rPr lang="en-US" altLang="zh-TW" dirty="0" smtClean="0"/>
              <a:t>Experimental Results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3974" y="1093563"/>
            <a:ext cx="6429375"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966792"/>
            <a:ext cx="4308919" cy="3780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6463" y="3356992"/>
            <a:ext cx="4189801" cy="330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3511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16632"/>
            <a:ext cx="8229600" cy="6552728"/>
          </a:xfrm>
        </p:spPr>
        <p:txBody>
          <a:bodyPr/>
          <a:lstStyle/>
          <a:p>
            <a:r>
              <a:rPr lang="en-US" altLang="zh-TW" dirty="0" smtClean="0"/>
              <a:t>10runs </a:t>
            </a:r>
            <a:r>
              <a:rPr lang="zh-TW" altLang="en-US" dirty="0" smtClean="0"/>
              <a:t>，括號內為十次數據的標準差</a:t>
            </a:r>
            <a:endParaRPr lang="zh-TW" alt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962" y="692696"/>
            <a:ext cx="6457950" cy="600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0208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557213"/>
            <a:ext cx="6438900" cy="574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490156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1385</TotalTime>
  <Words>853</Words>
  <Application>Microsoft Office PowerPoint</Application>
  <PresentationFormat>如螢幕大小 (4:3)</PresentationFormat>
  <Paragraphs>77</Paragraphs>
  <Slides>20</Slides>
  <Notes>0</Notes>
  <HiddenSlides>0</HiddenSlides>
  <MMClips>0</MMClips>
  <ScaleCrop>false</ScaleCrop>
  <HeadingPairs>
    <vt:vector size="4" baseType="variant">
      <vt:variant>
        <vt:lpstr>佈景主題</vt:lpstr>
      </vt:variant>
      <vt:variant>
        <vt:i4>1</vt:i4>
      </vt:variant>
      <vt:variant>
        <vt:lpstr>投影片標題</vt:lpstr>
      </vt:variant>
      <vt:variant>
        <vt:i4>20</vt:i4>
      </vt:variant>
    </vt:vector>
  </HeadingPairs>
  <TitlesOfParts>
    <vt:vector size="21" baseType="lpstr">
      <vt:lpstr>Office 佈景主題</vt:lpstr>
      <vt:lpstr>Ant clustering algorithm with K-harmonic means clustering</vt:lpstr>
      <vt:lpstr>Abstract</vt:lpstr>
      <vt:lpstr>Abstract</vt:lpstr>
      <vt:lpstr>Clustering</vt:lpstr>
      <vt:lpstr>Hard Partitional</vt:lpstr>
      <vt:lpstr>Fuzzy Clustering</vt:lpstr>
      <vt:lpstr>K-means(KM)</vt:lpstr>
      <vt:lpstr>PowerPoint 簡報</vt:lpstr>
      <vt:lpstr>K-harmonic Means(KHM)</vt:lpstr>
      <vt:lpstr>Harmonic Means</vt:lpstr>
      <vt:lpstr>PowerPoint 簡報</vt:lpstr>
      <vt:lpstr>Ant Clustering Algorithm(ACA)</vt:lpstr>
      <vt:lpstr>Ant Clustering Algorithm(ACA)</vt:lpstr>
      <vt:lpstr>Ant clustering algorithm with K-harmonic means clustering</vt:lpstr>
      <vt:lpstr>Experimental Results</vt:lpstr>
      <vt:lpstr> F-Measure</vt:lpstr>
      <vt:lpstr> F-Measure</vt:lpstr>
      <vt:lpstr>Experimental Results</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john</dc:creator>
  <cp:lastModifiedBy>john</cp:lastModifiedBy>
  <cp:revision>34</cp:revision>
  <dcterms:created xsi:type="dcterms:W3CDTF">2013-08-26T11:15:51Z</dcterms:created>
  <dcterms:modified xsi:type="dcterms:W3CDTF">2013-08-27T10:20:56Z</dcterms:modified>
</cp:coreProperties>
</file>