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80" r:id="rId19"/>
    <p:sldId id="282" r:id="rId20"/>
    <p:sldId id="273" r:id="rId21"/>
    <p:sldId id="274" r:id="rId22"/>
    <p:sldId id="275" r:id="rId23"/>
    <p:sldId id="276" r:id="rId24"/>
    <p:sldId id="283" r:id="rId25"/>
    <p:sldId id="277" r:id="rId26"/>
    <p:sldId id="278" r:id="rId27"/>
    <p:sldId id="279" r:id="rId28"/>
    <p:sldId id="281" r:id="rId2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294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2D36A4-399F-474D-8086-686A99097A08}" type="datetimeFigureOut">
              <a:rPr lang="zh-TW" altLang="en-US" smtClean="0"/>
              <a:pPr/>
              <a:t>2013/12/11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30995-B0DF-41BA-9A6F-10D075FF7AB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567EF-8548-4759-BC28-CA8F31822185}" type="datetime1">
              <a:rPr lang="zh-TW" altLang="en-US" smtClean="0"/>
              <a:pPr/>
              <a:t>2013/12/11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33537-EF71-48B4-80B3-A8A357B51B23}" type="datetime1">
              <a:rPr lang="zh-TW" altLang="en-US" smtClean="0"/>
              <a:pPr/>
              <a:t>2013/12/11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F2CC3-E1FD-4B6F-B91A-71F12DC0296C}" type="datetime1">
              <a:rPr lang="zh-TW" altLang="en-US" smtClean="0"/>
              <a:pPr/>
              <a:t>2013/12/11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A71A6-424C-4F6B-8E07-5F4BBAB53B32}" type="datetime1">
              <a:rPr lang="zh-TW" altLang="en-US" smtClean="0"/>
              <a:pPr/>
              <a:t>2013/12/11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01F1-EB23-4428-8D6A-F29181EC72A6}" type="datetime1">
              <a:rPr lang="zh-TW" altLang="en-US" smtClean="0"/>
              <a:pPr/>
              <a:t>2013/12/11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B571-510C-486F-9626-8E60E4D1E8E2}" type="datetime1">
              <a:rPr lang="zh-TW" altLang="en-US" smtClean="0"/>
              <a:pPr/>
              <a:t>2013/12/11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53504-8111-4339-AAE1-B77EDC514B11}" type="datetime1">
              <a:rPr lang="zh-TW" altLang="en-US" smtClean="0"/>
              <a:pPr/>
              <a:t>2013/12/11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8299A-AFC6-417C-9134-0884A8248784}" type="datetime1">
              <a:rPr lang="zh-TW" altLang="en-US" smtClean="0"/>
              <a:pPr/>
              <a:t>2013/12/11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57E55-5637-47D4-9C12-A63264C2EF35}" type="datetime1">
              <a:rPr lang="zh-TW" altLang="en-US" smtClean="0"/>
              <a:pPr/>
              <a:t>2013/12/11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424AD-A141-493A-8BAE-DBD914E5180B}" type="datetime1">
              <a:rPr lang="zh-TW" altLang="en-US" smtClean="0"/>
              <a:pPr/>
              <a:t>2013/12/11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06765-E491-45C4-9CEB-F37FB2B9E3E4}" type="datetime1">
              <a:rPr lang="zh-TW" altLang="en-US" smtClean="0"/>
              <a:pPr/>
              <a:t>2013/12/11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AC900B-00AF-43E7-ADF4-4DE743551561}" type="datetime1">
              <a:rPr lang="zh-TW" altLang="en-US" smtClean="0"/>
              <a:pPr/>
              <a:t>2013/12/11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714348" y="1571612"/>
            <a:ext cx="7772400" cy="1470025"/>
          </a:xfrm>
        </p:spPr>
        <p:txBody>
          <a:bodyPr/>
          <a:lstStyle/>
          <a:p>
            <a:r>
              <a:rPr lang="en-US" altLang="zh-TW" dirty="0" smtClean="0"/>
              <a:t>A Faster Algorithm Computing String Edit Distances*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2424114"/>
          </a:xfrm>
        </p:spPr>
        <p:txBody>
          <a:bodyPr>
            <a:normAutofit fontScale="55000" lnSpcReduction="20000"/>
          </a:bodyPr>
          <a:lstStyle/>
          <a:p>
            <a:r>
              <a:rPr lang="en-US" altLang="zh-TW" dirty="0" smtClean="0"/>
              <a:t>JOURNAL OF COMPUTER AND SYSTEM SCIENCES 20, 18+3,1 (1980)</a:t>
            </a:r>
          </a:p>
          <a:p>
            <a:r>
              <a:rPr lang="en-US" altLang="zh-TW" dirty="0" smtClean="0"/>
              <a:t>WILLIAM J. MASEK</a:t>
            </a:r>
          </a:p>
          <a:p>
            <a:r>
              <a:rPr lang="en-US" altLang="zh-TW" dirty="0" err="1" smtClean="0"/>
              <a:t>MITLaboratory</a:t>
            </a:r>
            <a:r>
              <a:rPr lang="en-US" altLang="zh-TW" dirty="0" smtClean="0"/>
              <a:t> for Computer Science, Cambridge, Massachusetts 02139</a:t>
            </a:r>
          </a:p>
          <a:p>
            <a:r>
              <a:rPr lang="en-US" altLang="zh-TW" dirty="0" smtClean="0"/>
              <a:t>AND</a:t>
            </a:r>
          </a:p>
          <a:p>
            <a:r>
              <a:rPr lang="en-US" altLang="zh-TW" dirty="0" smtClean="0"/>
              <a:t>MICHAEL S. PATESON</a:t>
            </a:r>
          </a:p>
          <a:p>
            <a:r>
              <a:rPr lang="en-US" altLang="zh-TW" dirty="0" smtClean="0"/>
              <a:t>School of Computer Science, University of Warwick, Coventry, </a:t>
            </a:r>
            <a:r>
              <a:rPr lang="en-US" altLang="zh-TW" dirty="0" err="1" smtClean="0"/>
              <a:t>Warwicks</a:t>
            </a:r>
            <a:r>
              <a:rPr lang="en-US" altLang="zh-TW" dirty="0" smtClean="0"/>
              <a:t>, United Kingdom</a:t>
            </a:r>
          </a:p>
          <a:p>
            <a:r>
              <a:rPr lang="en-US" altLang="zh-TW" dirty="0" smtClean="0"/>
              <a:t>Received September 25, 1978; revised August 6, 1979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6357950" y="5500702"/>
            <a:ext cx="25366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>
                <a:latin typeface="Calibri" pitchFamily="34" charset="0"/>
              </a:rPr>
              <a:t>Presenter:</a:t>
            </a:r>
            <a:r>
              <a:rPr lang="en-US" dirty="0" err="1" smtClean="0"/>
              <a:t>De-Sheng</a:t>
            </a:r>
            <a:r>
              <a:rPr lang="en-US" dirty="0" smtClean="0"/>
              <a:t> </a:t>
            </a:r>
            <a:r>
              <a:rPr lang="en-US" dirty="0" err="1" smtClean="0"/>
              <a:t>Jhan</a:t>
            </a:r>
            <a:endParaRPr lang="en-US" altLang="zh-TW" dirty="0" smtClean="0">
              <a:latin typeface="Calibri" pitchFamily="34" charset="0"/>
            </a:endParaRPr>
          </a:p>
          <a:p>
            <a:r>
              <a:rPr lang="en-US" altLang="zh-TW" dirty="0" smtClean="0">
                <a:latin typeface="Calibri" pitchFamily="34" charset="0"/>
              </a:rPr>
              <a:t>              2013/12/11</a:t>
            </a:r>
            <a:endParaRPr lang="zh-TW" altLang="en-US" dirty="0" smtClean="0">
              <a:latin typeface="Calibri" pitchFamily="34" charset="0"/>
            </a:endParaRPr>
          </a:p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264903" y="1428736"/>
            <a:ext cx="88790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The edit distance between two character strings can be defined as the minimum cost of a sequence of editing operations which transforms one string into the other. The operations we admit are deleting, inserting and replacing one symbol at a time, with possibly different costs for each of these operations. The problem of finding the longest common subsequence of two strings is a special case of the problem of computing edit distances. We describe an algorithm for computing the edit distance between two strings of length n and m, n &gt; m, which requires O(n * max( 1, m/log n)) steps whenever the costs of edit operations are integral multiples of a single positive real number and the alphabet for the strings is finite. These conditions are necessary for the algorithm to achieve the time bound.</a:t>
            </a:r>
            <a:endParaRPr lang="zh-TW" altLang="en-US" sz="2400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Edit Distance(1/3)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 </a:t>
            </a:r>
            <a:r>
              <a:rPr lang="zh-TW" altLang="en-US" dirty="0" smtClean="0"/>
              <a:t>將</a:t>
            </a:r>
            <a:r>
              <a:rPr lang="en-US" altLang="zh-TW" dirty="0" smtClean="0"/>
              <a:t>string A </a:t>
            </a:r>
            <a:r>
              <a:rPr lang="zh-TW" altLang="en-US" dirty="0" smtClean="0"/>
              <a:t>經由 </a:t>
            </a:r>
            <a:r>
              <a:rPr lang="en-US" dirty="0" err="1" smtClean="0"/>
              <a:t>Insertion、Deletion、Substitution</a:t>
            </a:r>
            <a:r>
              <a:rPr lang="zh-TW" altLang="en-US" dirty="0" smtClean="0"/>
              <a:t> 變成</a:t>
            </a:r>
            <a:r>
              <a:rPr lang="en-US" altLang="zh-TW" dirty="0" smtClean="0"/>
              <a:t>string B</a:t>
            </a:r>
            <a:r>
              <a:rPr lang="zh-TW" altLang="en-US" dirty="0" smtClean="0"/>
              <a:t> 花費的</a:t>
            </a:r>
            <a:r>
              <a:rPr lang="en-US" altLang="zh-TW" dirty="0" smtClean="0"/>
              <a:t>cost</a:t>
            </a:r>
            <a:r>
              <a:rPr lang="zh-TW" altLang="en-US" dirty="0" smtClean="0"/>
              <a:t> 。</a:t>
            </a:r>
            <a:endParaRPr lang="en-US" altLang="zh-TW" dirty="0" smtClean="0"/>
          </a:p>
          <a:p>
            <a:r>
              <a:rPr lang="en-US" altLang="zh-TW" dirty="0" smtClean="0"/>
              <a:t>Insertion cost = </a:t>
            </a:r>
            <a:r>
              <a:rPr lang="en-US" altLang="zh-TW" dirty="0" smtClean="0"/>
              <a:t>1</a:t>
            </a:r>
            <a:endParaRPr lang="en-US" altLang="zh-TW" dirty="0" smtClean="0"/>
          </a:p>
          <a:p>
            <a:r>
              <a:rPr lang="en-US" dirty="0" smtClean="0"/>
              <a:t>Deletion c</a:t>
            </a:r>
            <a:r>
              <a:rPr lang="en-US" altLang="zh-TW" dirty="0" smtClean="0"/>
              <a:t>ost = </a:t>
            </a:r>
            <a:r>
              <a:rPr lang="en-US" altLang="zh-TW" dirty="0" smtClean="0"/>
              <a:t>1</a:t>
            </a:r>
            <a:endParaRPr lang="en-US" altLang="zh-TW" dirty="0" smtClean="0"/>
          </a:p>
          <a:p>
            <a:r>
              <a:rPr lang="en-US" dirty="0" smtClean="0"/>
              <a:t>Substitution cost = </a:t>
            </a:r>
            <a:r>
              <a:rPr lang="en-US" dirty="0" smtClean="0"/>
              <a:t>2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Edit Distance(2/3)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Ex:</a:t>
            </a:r>
            <a:r>
              <a:rPr lang="zh-TW" altLang="en-US" dirty="0" smtClean="0"/>
              <a:t> </a:t>
            </a:r>
            <a:r>
              <a:rPr lang="en-US" altLang="zh-TW" dirty="0" smtClean="0"/>
              <a:t>A = “</a:t>
            </a:r>
            <a:r>
              <a:rPr lang="en-US" altLang="zh-TW" dirty="0" err="1" smtClean="0">
                <a:solidFill>
                  <a:schemeClr val="accent3">
                    <a:lumMod val="50000"/>
                  </a:schemeClr>
                </a:solidFill>
              </a:rPr>
              <a:t>bced</a:t>
            </a:r>
            <a:r>
              <a:rPr lang="en-US" altLang="zh-TW" dirty="0" smtClean="0"/>
              <a:t>” -&gt; B = “</a:t>
            </a:r>
            <a:r>
              <a:rPr lang="en-US" altLang="zh-TW" dirty="0" err="1" smtClean="0">
                <a:solidFill>
                  <a:schemeClr val="tx2">
                    <a:lumMod val="75000"/>
                  </a:schemeClr>
                </a:solidFill>
              </a:rPr>
              <a:t>acd</a:t>
            </a:r>
            <a:r>
              <a:rPr lang="en-US" altLang="zh-TW" dirty="0" smtClean="0"/>
              <a:t>”</a:t>
            </a:r>
          </a:p>
          <a:p>
            <a:r>
              <a:rPr lang="en-US" altLang="zh-TW" dirty="0" smtClean="0"/>
              <a:t>Case1: step1: </a:t>
            </a:r>
            <a:r>
              <a:rPr lang="en-US" dirty="0" smtClean="0"/>
              <a:t>Deletion</a:t>
            </a:r>
            <a:r>
              <a:rPr lang="zh-TW" altLang="en-US" dirty="0" smtClean="0"/>
              <a:t> </a:t>
            </a:r>
            <a:r>
              <a:rPr lang="en-US" altLang="zh-TW" dirty="0" smtClean="0"/>
              <a:t>b                -&gt;“</a:t>
            </a:r>
            <a:r>
              <a:rPr lang="en-US" altLang="zh-TW" dirty="0" err="1" smtClean="0"/>
              <a:t>ced</a:t>
            </a:r>
            <a:r>
              <a:rPr lang="en-US" altLang="zh-TW" dirty="0" smtClean="0"/>
              <a:t>”     </a:t>
            </a:r>
            <a:r>
              <a:rPr lang="en-US" altLang="zh-TW" dirty="0" smtClean="0">
                <a:solidFill>
                  <a:srgbClr val="FF0000"/>
                </a:solidFill>
              </a:rPr>
              <a:t>(1)</a:t>
            </a:r>
          </a:p>
          <a:p>
            <a:pPr>
              <a:buNone/>
            </a:pPr>
            <a:r>
              <a:rPr lang="en-US" altLang="zh-TW" dirty="0" smtClean="0"/>
              <a:t>                 step2: Insertion a               -&gt;”aced”   </a:t>
            </a:r>
            <a:r>
              <a:rPr lang="en-US" altLang="zh-TW" dirty="0" smtClean="0">
                <a:solidFill>
                  <a:srgbClr val="FF0000"/>
                </a:solidFill>
              </a:rPr>
              <a:t>(1)</a:t>
            </a:r>
          </a:p>
          <a:p>
            <a:pPr>
              <a:buNone/>
            </a:pPr>
            <a:r>
              <a:rPr lang="en-US" altLang="zh-TW" dirty="0" smtClean="0"/>
              <a:t>                 step3:</a:t>
            </a:r>
            <a:r>
              <a:rPr lang="en-US" dirty="0" smtClean="0"/>
              <a:t> Substitution (e-&gt;d) -&gt;“</a:t>
            </a:r>
            <a:r>
              <a:rPr lang="en-US" dirty="0" err="1" smtClean="0"/>
              <a:t>acdd</a:t>
            </a:r>
            <a:r>
              <a:rPr lang="en-US" dirty="0" smtClean="0"/>
              <a:t>”  </a:t>
            </a:r>
            <a:r>
              <a:rPr lang="en-US" dirty="0" smtClean="0">
                <a:solidFill>
                  <a:srgbClr val="FF0000"/>
                </a:solidFill>
              </a:rPr>
              <a:t>(2)</a:t>
            </a:r>
          </a:p>
          <a:p>
            <a:pPr>
              <a:buNone/>
            </a:pPr>
            <a:r>
              <a:rPr lang="en-US" altLang="zh-TW" dirty="0" smtClean="0"/>
              <a:t>                 step4: </a:t>
            </a:r>
            <a:r>
              <a:rPr lang="en-US" dirty="0" smtClean="0"/>
              <a:t>Deletion d                -&gt;”</a:t>
            </a:r>
            <a:r>
              <a:rPr lang="en-US" dirty="0" err="1" smtClean="0"/>
              <a:t>acd</a:t>
            </a:r>
            <a:r>
              <a:rPr lang="en-US" dirty="0" smtClean="0"/>
              <a:t>”     </a:t>
            </a:r>
            <a:r>
              <a:rPr lang="en-US" dirty="0" smtClean="0">
                <a:solidFill>
                  <a:srgbClr val="FF0000"/>
                </a:solidFill>
              </a:rPr>
              <a:t>(1)</a:t>
            </a:r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		       cost = 1 + 1 + 2 + 1 = </a:t>
            </a:r>
            <a:r>
              <a:rPr lang="en-US" altLang="zh-TW" dirty="0" smtClean="0">
                <a:solidFill>
                  <a:srgbClr val="FF0000"/>
                </a:solidFill>
              </a:rPr>
              <a:t>5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Edit Distance(3/3)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Ex:</a:t>
            </a:r>
            <a:r>
              <a:rPr lang="zh-TW" altLang="en-US" dirty="0" smtClean="0"/>
              <a:t> </a:t>
            </a:r>
            <a:r>
              <a:rPr lang="en-US" altLang="zh-TW" dirty="0" smtClean="0"/>
              <a:t>A = “</a:t>
            </a:r>
            <a:r>
              <a:rPr lang="en-US" altLang="zh-TW" dirty="0" err="1" smtClean="0">
                <a:solidFill>
                  <a:schemeClr val="accent3">
                    <a:lumMod val="50000"/>
                  </a:schemeClr>
                </a:solidFill>
              </a:rPr>
              <a:t>bced</a:t>
            </a:r>
            <a:r>
              <a:rPr lang="en-US" altLang="zh-TW" dirty="0" smtClean="0"/>
              <a:t>” -&gt; B = “</a:t>
            </a:r>
            <a:r>
              <a:rPr lang="en-US" altLang="zh-TW" dirty="0" err="1" smtClean="0">
                <a:solidFill>
                  <a:schemeClr val="tx2">
                    <a:lumMod val="75000"/>
                  </a:schemeClr>
                </a:solidFill>
              </a:rPr>
              <a:t>acd</a:t>
            </a:r>
            <a:r>
              <a:rPr lang="en-US" altLang="zh-TW" dirty="0" smtClean="0"/>
              <a:t>”</a:t>
            </a:r>
          </a:p>
          <a:p>
            <a:r>
              <a:rPr lang="en-US" altLang="zh-TW" dirty="0" smtClean="0"/>
              <a:t>Case2: step1: </a:t>
            </a:r>
            <a:r>
              <a:rPr lang="en-US" dirty="0" smtClean="0"/>
              <a:t>Substitution</a:t>
            </a:r>
            <a:r>
              <a:rPr lang="zh-TW" altLang="en-US" dirty="0" smtClean="0"/>
              <a:t> </a:t>
            </a:r>
            <a:r>
              <a:rPr lang="en-US" altLang="zh-TW" dirty="0" smtClean="0"/>
              <a:t>(b-&gt;a) -&gt;“aced”   </a:t>
            </a:r>
            <a:r>
              <a:rPr lang="en-US" altLang="zh-TW" dirty="0" smtClean="0">
                <a:solidFill>
                  <a:srgbClr val="FF0000"/>
                </a:solidFill>
              </a:rPr>
              <a:t>(2)</a:t>
            </a:r>
          </a:p>
          <a:p>
            <a:pPr>
              <a:buNone/>
            </a:pPr>
            <a:r>
              <a:rPr lang="en-US" altLang="zh-TW" dirty="0" smtClean="0"/>
              <a:t>                 step2: </a:t>
            </a:r>
            <a:r>
              <a:rPr lang="en-US" dirty="0" smtClean="0"/>
              <a:t>Deletion</a:t>
            </a:r>
            <a:r>
              <a:rPr lang="en-US" altLang="zh-TW" dirty="0" smtClean="0"/>
              <a:t> e                -&gt;”</a:t>
            </a:r>
            <a:r>
              <a:rPr lang="en-US" altLang="zh-TW" dirty="0" err="1" smtClean="0"/>
              <a:t>acd</a:t>
            </a:r>
            <a:r>
              <a:rPr lang="en-US" altLang="zh-TW" dirty="0" smtClean="0"/>
              <a:t>”     </a:t>
            </a:r>
            <a:r>
              <a:rPr lang="en-US" altLang="zh-TW" dirty="0" smtClean="0">
                <a:solidFill>
                  <a:srgbClr val="FF0000"/>
                </a:solidFill>
              </a:rPr>
              <a:t>(1)</a:t>
            </a:r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		       cost = 2 + 1 = </a:t>
            </a:r>
            <a:r>
              <a:rPr lang="en-US" altLang="zh-TW" dirty="0" smtClean="0">
                <a:solidFill>
                  <a:srgbClr val="FF0000"/>
                </a:solidFill>
              </a:rPr>
              <a:t>3</a:t>
            </a:r>
            <a:endParaRPr lang="zh-TW" altLang="en-US" dirty="0" smtClean="0">
              <a:solidFill>
                <a:srgbClr val="FF0000"/>
              </a:solidFill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2857496"/>
            <a:ext cx="8277225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Minimum </a:t>
            </a:r>
            <a:r>
              <a:rPr lang="en-US" altLang="zh-TW" dirty="0" smtClean="0"/>
              <a:t>Edit Distance(1/3)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將</a:t>
            </a:r>
            <a:r>
              <a:rPr lang="en-US" altLang="zh-TW" dirty="0" smtClean="0"/>
              <a:t>string A </a:t>
            </a:r>
            <a:r>
              <a:rPr lang="zh-TW" altLang="en-US" dirty="0" smtClean="0"/>
              <a:t>經由 </a:t>
            </a:r>
            <a:r>
              <a:rPr lang="en-US" dirty="0" err="1" smtClean="0"/>
              <a:t>Insertion、Deletion、Substitution</a:t>
            </a:r>
            <a:r>
              <a:rPr lang="zh-TW" altLang="en-US" dirty="0" smtClean="0"/>
              <a:t> 變成</a:t>
            </a:r>
            <a:r>
              <a:rPr lang="en-US" altLang="zh-TW" dirty="0" smtClean="0"/>
              <a:t>string B</a:t>
            </a:r>
            <a:r>
              <a:rPr lang="zh-TW" altLang="en-US" dirty="0" smtClean="0"/>
              <a:t> 花費的</a:t>
            </a:r>
            <a:r>
              <a:rPr lang="zh-TW" altLang="en-US" dirty="0" smtClean="0">
                <a:solidFill>
                  <a:srgbClr val="FF0000"/>
                </a:solidFill>
              </a:rPr>
              <a:t>最小</a:t>
            </a:r>
            <a:r>
              <a:rPr lang="en-US" altLang="zh-TW" dirty="0" smtClean="0"/>
              <a:t>cost</a:t>
            </a:r>
            <a:r>
              <a:rPr lang="zh-TW" altLang="en-US" dirty="0" smtClean="0"/>
              <a:t> 。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D(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, j ) = min( D( i–1 ,j-1) + (A[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]==B[j]?0:2),</a:t>
            </a:r>
          </a:p>
          <a:p>
            <a:pPr>
              <a:buNone/>
            </a:pPr>
            <a:r>
              <a:rPr lang="en-US" altLang="zh-TW" dirty="0" smtClean="0"/>
              <a:t>                              D(i-1,j) + (</a:t>
            </a:r>
            <a:r>
              <a:rPr lang="en-US" dirty="0" smtClean="0"/>
              <a:t>Deletion c</a:t>
            </a:r>
            <a:r>
              <a:rPr lang="en-US" altLang="zh-TW" dirty="0" smtClean="0"/>
              <a:t>ost),</a:t>
            </a:r>
          </a:p>
          <a:p>
            <a:pPr>
              <a:buNone/>
            </a:pPr>
            <a:r>
              <a:rPr lang="en-US" altLang="zh-TW" dirty="0" smtClean="0"/>
              <a:t>                              D(i,j-1) + (Insertion cost ))</a:t>
            </a:r>
          </a:p>
          <a:p>
            <a:endParaRPr lang="en-US" altLang="zh-TW" dirty="0" smtClean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500174"/>
            <a:ext cx="8201051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Minimum </a:t>
            </a:r>
            <a:r>
              <a:rPr lang="en-US" altLang="zh-TW" dirty="0" smtClean="0"/>
              <a:t>Edit Distance(2/3)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357290" y="3857628"/>
          <a:ext cx="6096000" cy="1874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|B|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.</a:t>
                      </a:r>
                    </a:p>
                    <a:p>
                      <a:pPr algn="ctr"/>
                      <a:r>
                        <a:rPr lang="en-US" altLang="zh-TW" sz="1100" dirty="0" smtClean="0"/>
                        <a:t>.</a:t>
                      </a:r>
                    </a:p>
                    <a:p>
                      <a:pPr algn="ctr"/>
                      <a:r>
                        <a:rPr lang="en-US" altLang="zh-TW" sz="1100" dirty="0" smtClean="0"/>
                        <a:t>.</a:t>
                      </a:r>
                    </a:p>
                    <a:p>
                      <a:pPr algn="ctr"/>
                      <a:r>
                        <a:rPr lang="en-US" altLang="zh-TW" sz="1100" dirty="0" smtClean="0"/>
                        <a:t>.</a:t>
                      </a:r>
                      <a:endParaRPr lang="zh-TW" altLang="en-US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|A|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Minimum </a:t>
            </a:r>
            <a:r>
              <a:rPr lang="en-US" altLang="zh-TW" dirty="0" smtClean="0"/>
              <a:t>Edit Distance(3/3)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Ex: A = “</a:t>
            </a:r>
            <a:r>
              <a:rPr lang="en-US" altLang="zh-TW" dirty="0" err="1" smtClean="0">
                <a:solidFill>
                  <a:schemeClr val="accent3">
                    <a:lumMod val="50000"/>
                  </a:schemeClr>
                </a:solidFill>
              </a:rPr>
              <a:t>bced</a:t>
            </a:r>
            <a:r>
              <a:rPr lang="en-US" altLang="zh-TW" dirty="0" smtClean="0"/>
              <a:t>” -&gt; B = “</a:t>
            </a:r>
            <a:r>
              <a:rPr lang="en-US" altLang="zh-TW" dirty="0" err="1" smtClean="0">
                <a:solidFill>
                  <a:schemeClr val="tx2">
                    <a:lumMod val="75000"/>
                  </a:schemeClr>
                </a:solidFill>
              </a:rPr>
              <a:t>acd</a:t>
            </a:r>
            <a:r>
              <a:rPr lang="en-US" altLang="zh-TW" dirty="0" smtClean="0"/>
              <a:t>”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85786" y="2285992"/>
          <a:ext cx="60960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d</a:t>
                      </a:r>
                      <a:endParaRPr lang="zh-TW" altLang="en-US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e</a:t>
                      </a:r>
                      <a:endParaRPr lang="zh-TW" altLang="en-U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d</a:t>
                      </a:r>
                      <a:endParaRPr lang="zh-TW" altLang="en-U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785786" y="4786322"/>
            <a:ext cx="614366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/>
              <a:t>D(</a:t>
            </a:r>
            <a:r>
              <a:rPr lang="en-US" altLang="zh-TW" sz="2800" dirty="0" err="1" smtClean="0"/>
              <a:t>i,j</a:t>
            </a:r>
            <a:r>
              <a:rPr lang="en-US" altLang="zh-TW" sz="2800" dirty="0" smtClean="0"/>
              <a:t>) = min(D(i-1,j-1) + (A[</a:t>
            </a:r>
            <a:r>
              <a:rPr lang="en-US" altLang="zh-TW" sz="2800" dirty="0" err="1" smtClean="0"/>
              <a:t>i</a:t>
            </a:r>
            <a:r>
              <a:rPr lang="en-US" altLang="zh-TW" sz="2800" dirty="0" smtClean="0"/>
              <a:t>]==B[</a:t>
            </a:r>
            <a:r>
              <a:rPr lang="en-US" altLang="zh-TW" sz="2800" dirty="0" err="1" smtClean="0"/>
              <a:t>i</a:t>
            </a:r>
            <a:r>
              <a:rPr lang="en-US" altLang="zh-TW" sz="2800" dirty="0" smtClean="0"/>
              <a:t>]?0:2),</a:t>
            </a:r>
          </a:p>
          <a:p>
            <a:pPr>
              <a:buNone/>
            </a:pPr>
            <a:r>
              <a:rPr lang="en-US" altLang="zh-TW" sz="2800" dirty="0" smtClean="0"/>
              <a:t>                     D(i-1, j)    +     1                     ,</a:t>
            </a:r>
          </a:p>
          <a:p>
            <a:pPr>
              <a:buNone/>
            </a:pPr>
            <a:r>
              <a:rPr lang="en-US" altLang="zh-TW" sz="2800" dirty="0" smtClean="0"/>
              <a:t>                     D(</a:t>
            </a:r>
            <a:r>
              <a:rPr lang="en-US" altLang="zh-TW" sz="2800" dirty="0" err="1" smtClean="0"/>
              <a:t>I,j</a:t>
            </a:r>
            <a:r>
              <a:rPr lang="en-US" altLang="zh-TW" sz="2800" dirty="0" smtClean="0"/>
              <a:t> -1)    +     1                       )</a:t>
            </a:r>
          </a:p>
          <a:p>
            <a:pPr>
              <a:buNone/>
            </a:pPr>
            <a:r>
              <a:rPr lang="en-US" altLang="zh-TW" sz="2800" dirty="0" smtClean="0"/>
              <a:t>O(|A||B|)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2500306"/>
            <a:ext cx="6267450" cy="316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Four-Russians Speedup 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214282" y="1357298"/>
            <a:ext cx="89297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The four Russians’ algorithm works faster by splitting the computation into many smaller computations </a:t>
            </a:r>
            <a:r>
              <a:rPr lang="zh-TW" altLang="en-US" sz="2400" dirty="0" smtClean="0"/>
              <a:t>。</a:t>
            </a:r>
            <a:endParaRPr lang="zh-TW" altLang="en-US" sz="2400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Faster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dirty="0" smtClean="0"/>
              <a:t>                              </a:t>
            </a:r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                             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3357554" y="2214554"/>
            <a:ext cx="2071702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Algorithm Y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3357554" y="3786190"/>
            <a:ext cx="2071702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Algorithm Z</a:t>
            </a:r>
            <a:endParaRPr lang="zh-TW" altLang="en-US" dirty="0"/>
          </a:p>
        </p:txBody>
      </p:sp>
      <p:cxnSp>
        <p:nvCxnSpPr>
          <p:cNvPr id="9" name="直線單箭頭接點 8"/>
          <p:cNvCxnSpPr>
            <a:stCxn id="6" idx="4"/>
            <a:endCxn id="7" idx="0"/>
          </p:cNvCxnSpPr>
          <p:nvPr/>
        </p:nvCxnSpPr>
        <p:spPr>
          <a:xfrm rot="5400000">
            <a:off x="4064787" y="3457572"/>
            <a:ext cx="65723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橢圓 10"/>
          <p:cNvSpPr/>
          <p:nvPr/>
        </p:nvSpPr>
        <p:spPr>
          <a:xfrm>
            <a:off x="3357554" y="5500702"/>
            <a:ext cx="2071702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Done</a:t>
            </a:r>
            <a:endParaRPr lang="zh-TW" altLang="en-US" dirty="0"/>
          </a:p>
        </p:txBody>
      </p:sp>
      <p:cxnSp>
        <p:nvCxnSpPr>
          <p:cNvPr id="14" name="直線單箭頭接點 13"/>
          <p:cNvCxnSpPr>
            <a:stCxn id="7" idx="4"/>
            <a:endCxn id="11" idx="0"/>
          </p:cNvCxnSpPr>
          <p:nvPr/>
        </p:nvCxnSpPr>
        <p:spPr>
          <a:xfrm rot="5400000">
            <a:off x="3993349" y="5100646"/>
            <a:ext cx="80011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投影片編號版面配置區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</a:t>
            </a:r>
            <a:r>
              <a:rPr lang="en-US" altLang="zh-TW" dirty="0" smtClean="0"/>
              <a:t>Y(1/6)</a:t>
            </a:r>
            <a:endParaRPr lang="zh-TW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142984"/>
            <a:ext cx="7248525" cy="5476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</a:t>
            </a:r>
            <a:r>
              <a:rPr lang="en-US" altLang="zh-TW" dirty="0" smtClean="0"/>
              <a:t>Y(2/6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Ex: A = “</a:t>
            </a:r>
            <a:r>
              <a:rPr lang="en-US" altLang="zh-TW" dirty="0" err="1" smtClean="0"/>
              <a:t>ababbb</a:t>
            </a:r>
            <a:r>
              <a:rPr lang="en-US" altLang="zh-TW" dirty="0" smtClean="0"/>
              <a:t>” -&gt;B =“</a:t>
            </a:r>
            <a:r>
              <a:rPr lang="en-US" altLang="zh-TW" dirty="0" err="1" smtClean="0"/>
              <a:t>babaaa</a:t>
            </a:r>
            <a:r>
              <a:rPr lang="en-US" altLang="zh-TW" dirty="0" smtClean="0"/>
              <a:t>”</a:t>
            </a: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000100" y="2428868"/>
          <a:ext cx="60960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</a:t>
            </a:r>
            <a:r>
              <a:rPr lang="en-US" altLang="zh-TW" dirty="0" smtClean="0"/>
              <a:t>Y(3/6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 = 3    </a:t>
            </a:r>
            <a:r>
              <a:rPr lang="en-US" altLang="zh-TW" dirty="0" err="1" smtClean="0"/>
              <a:t>submatrices</a:t>
            </a:r>
            <a:r>
              <a:rPr lang="en-US" altLang="zh-TW" dirty="0" smtClean="0"/>
              <a:t> </a:t>
            </a:r>
            <a:r>
              <a:rPr lang="zh-TW" altLang="en-US" dirty="0" smtClean="0"/>
              <a:t> </a:t>
            </a:r>
            <a:r>
              <a:rPr lang="en-US" altLang="zh-TW" dirty="0" smtClean="0"/>
              <a:t>size (m+1)*(m+1)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000100" y="2428868"/>
          <a:ext cx="60960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714348" y="2714620"/>
          <a:ext cx="3810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Preprocess Lookup </a:t>
            </a:r>
            <a:r>
              <a:rPr lang="en-US" altLang="zh-TW" dirty="0" smtClean="0"/>
              <a:t>Table(4/6) 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214282" y="1500174"/>
            <a:ext cx="69488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TW" altLang="en-US" dirty="0" smtClean="0"/>
              <a:t>   </a:t>
            </a:r>
            <a:r>
              <a:rPr lang="zh-TW" altLang="en-US" sz="2400" dirty="0" smtClean="0"/>
              <a:t>計算所有長度</a:t>
            </a:r>
            <a:r>
              <a:rPr lang="en-US" altLang="zh-TW" sz="2400" dirty="0" smtClean="0"/>
              <a:t>m</a:t>
            </a:r>
            <a:r>
              <a:rPr lang="zh-TW" altLang="en-US" sz="2400" dirty="0" smtClean="0"/>
              <a:t>之字串的 </a:t>
            </a:r>
            <a:r>
              <a:rPr lang="en-US" sz="2400" dirty="0" smtClean="0"/>
              <a:t>Minimum </a:t>
            </a:r>
            <a:r>
              <a:rPr lang="en-US" altLang="zh-TW" sz="2400" dirty="0" smtClean="0"/>
              <a:t>Edit Distance</a:t>
            </a:r>
            <a:r>
              <a:rPr lang="zh-TW" altLang="en-US" sz="2400" dirty="0" smtClean="0"/>
              <a:t>。</a:t>
            </a:r>
            <a:endParaRPr lang="en-US" altLang="zh-TW" sz="2400" dirty="0" smtClean="0"/>
          </a:p>
        </p:txBody>
      </p:sp>
      <p:sp>
        <p:nvSpPr>
          <p:cNvPr id="7" name="文字方塊 6"/>
          <p:cNvSpPr txBox="1"/>
          <p:nvPr/>
        </p:nvSpPr>
        <p:spPr>
          <a:xfrm>
            <a:off x="571472" y="2071678"/>
            <a:ext cx="5072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Ex: </a:t>
            </a:r>
            <a:r>
              <a:rPr lang="en-US" altLang="zh-TW" sz="2400" dirty="0" smtClean="0"/>
              <a:t>m = 3    </a:t>
            </a:r>
            <a:r>
              <a:rPr lang="zh-TW" altLang="en-US" sz="2400" dirty="0" smtClean="0"/>
              <a:t>假設 </a:t>
            </a:r>
            <a:r>
              <a:rPr lang="en-US" altLang="zh-TW" sz="2400" dirty="0" smtClean="0"/>
              <a:t>X != Y </a:t>
            </a:r>
            <a:endParaRPr lang="zh-TW" altLang="en-US" sz="24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0" y="5000636"/>
            <a:ext cx="502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Store</a:t>
            </a:r>
            <a:r>
              <a:rPr lang="en-US" altLang="zh-TW" dirty="0" smtClean="0">
                <a:sym typeface="Wingdings" pitchFamily="2" charset="2"/>
              </a:rPr>
              <a:t>:((</a:t>
            </a:r>
            <a:r>
              <a:rPr lang="en-US" altLang="zh-TW" dirty="0" smtClean="0">
                <a:solidFill>
                  <a:srgbClr val="0070C0"/>
                </a:solidFill>
                <a:sym typeface="Wingdings" pitchFamily="2" charset="2"/>
              </a:rPr>
              <a:t>5,4,3</a:t>
            </a:r>
            <a:r>
              <a:rPr lang="en-US" altLang="zh-TW" dirty="0" smtClean="0">
                <a:sym typeface="Wingdings" pitchFamily="2" charset="2"/>
              </a:rPr>
              <a:t>),(</a:t>
            </a:r>
            <a:r>
              <a:rPr lang="en-US" altLang="zh-TW" dirty="0" smtClean="0">
                <a:solidFill>
                  <a:srgbClr val="0070C0"/>
                </a:solidFill>
                <a:sym typeface="Wingdings" pitchFamily="2" charset="2"/>
              </a:rPr>
              <a:t>1,2,3</a:t>
            </a:r>
            <a:r>
              <a:rPr lang="en-US" altLang="zh-TW" dirty="0" smtClean="0">
                <a:sym typeface="Wingdings" pitchFamily="2" charset="2"/>
              </a:rPr>
              <a:t>),(</a:t>
            </a:r>
            <a:r>
              <a:rPr lang="en-US" altLang="zh-TW" dirty="0" smtClean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3,2,1,2</a:t>
            </a:r>
            <a:r>
              <a:rPr lang="en-US" altLang="zh-TW" dirty="0" smtClean="0">
                <a:sym typeface="Wingdings" pitchFamily="2" charset="2"/>
              </a:rPr>
              <a:t>),(</a:t>
            </a:r>
            <a:r>
              <a:rPr lang="en-US" altLang="zh-TW" dirty="0" smtClean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3,4,5,6</a:t>
            </a:r>
            <a:r>
              <a:rPr lang="en-US" altLang="zh-TW" dirty="0" smtClean="0">
                <a:sym typeface="Wingdings" pitchFamily="2" charset="2"/>
              </a:rPr>
              <a:t>)(</a:t>
            </a:r>
            <a:r>
              <a:rPr lang="en-US" altLang="zh-TW" dirty="0" smtClean="0">
                <a:solidFill>
                  <a:srgbClr val="00B050"/>
                </a:solidFill>
                <a:sym typeface="Wingdings" pitchFamily="2" charset="2"/>
              </a:rPr>
              <a:t>X,Y,X</a:t>
            </a:r>
            <a:r>
              <a:rPr lang="en-US" altLang="zh-TW" dirty="0" smtClean="0">
                <a:sym typeface="Wingdings" pitchFamily="2" charset="2"/>
              </a:rPr>
              <a:t>)(</a:t>
            </a:r>
            <a:r>
              <a:rPr lang="en-US" altLang="zh-TW" dirty="0" smtClean="0">
                <a:solidFill>
                  <a:srgbClr val="00B050"/>
                </a:solidFill>
                <a:sym typeface="Wingdings" pitchFamily="2" charset="2"/>
              </a:rPr>
              <a:t>X,X,X</a:t>
            </a:r>
            <a:r>
              <a:rPr lang="en-US" altLang="zh-TW" dirty="0" smtClean="0">
                <a:sym typeface="Wingdings" pitchFamily="2" charset="2"/>
              </a:rPr>
              <a:t>))</a:t>
            </a:r>
            <a:endParaRPr lang="zh-TW" altLang="en-US" dirty="0"/>
          </a:p>
        </p:txBody>
      </p:sp>
      <p:graphicFrame>
        <p:nvGraphicFramePr>
          <p:cNvPr id="9" name="內容版面配置區 3"/>
          <p:cNvGraphicFramePr>
            <a:graphicFrameLocks/>
          </p:cNvGraphicFramePr>
          <p:nvPr/>
        </p:nvGraphicFramePr>
        <p:xfrm>
          <a:off x="4786314" y="2714620"/>
          <a:ext cx="3810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4123330" y="5643578"/>
            <a:ext cx="51087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Store</a:t>
            </a:r>
            <a:r>
              <a:rPr lang="en-US" altLang="zh-TW" dirty="0" smtClean="0">
                <a:sym typeface="Wingdings" pitchFamily="2" charset="2"/>
              </a:rPr>
              <a:t>:((</a:t>
            </a:r>
            <a:r>
              <a:rPr lang="en-US" altLang="zh-TW" dirty="0" smtClean="0">
                <a:solidFill>
                  <a:srgbClr val="0070C0"/>
                </a:solidFill>
                <a:sym typeface="Wingdings" pitchFamily="2" charset="2"/>
              </a:rPr>
              <a:t>4,3,2</a:t>
            </a:r>
            <a:r>
              <a:rPr lang="en-US" altLang="zh-TW" dirty="0" smtClean="0">
                <a:sym typeface="Wingdings" pitchFamily="2" charset="2"/>
              </a:rPr>
              <a:t>),(</a:t>
            </a:r>
            <a:r>
              <a:rPr lang="en-US" altLang="zh-TW" dirty="0" smtClean="0">
                <a:solidFill>
                  <a:srgbClr val="0070C0"/>
                </a:solidFill>
                <a:sym typeface="Wingdings" pitchFamily="2" charset="2"/>
              </a:rPr>
              <a:t>0,1,2</a:t>
            </a:r>
            <a:r>
              <a:rPr lang="en-US" altLang="zh-TW" dirty="0" smtClean="0">
                <a:sym typeface="Wingdings" pitchFamily="2" charset="2"/>
              </a:rPr>
              <a:t>),(</a:t>
            </a:r>
            <a:r>
              <a:rPr lang="en-US" altLang="zh-TW" dirty="0" smtClean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2,1,0,1</a:t>
            </a:r>
            <a:r>
              <a:rPr lang="en-US" altLang="zh-TW" dirty="0" smtClean="0">
                <a:sym typeface="Wingdings" pitchFamily="2" charset="2"/>
              </a:rPr>
              <a:t>),(</a:t>
            </a:r>
            <a:r>
              <a:rPr lang="en-US" altLang="zh-TW" dirty="0" smtClean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2,3,4,5</a:t>
            </a:r>
            <a:r>
              <a:rPr lang="en-US" altLang="zh-TW" dirty="0" smtClean="0">
                <a:sym typeface="Wingdings" pitchFamily="2" charset="2"/>
              </a:rPr>
              <a:t>)(</a:t>
            </a:r>
            <a:r>
              <a:rPr lang="en-US" altLang="zh-TW" dirty="0" smtClean="0">
                <a:solidFill>
                  <a:srgbClr val="00B050"/>
                </a:solidFill>
                <a:sym typeface="Wingdings" pitchFamily="2" charset="2"/>
              </a:rPr>
              <a:t>C,G,C</a:t>
            </a:r>
            <a:r>
              <a:rPr lang="en-US" altLang="zh-TW" dirty="0" smtClean="0">
                <a:sym typeface="Wingdings" pitchFamily="2" charset="2"/>
              </a:rPr>
              <a:t>)(</a:t>
            </a:r>
            <a:r>
              <a:rPr lang="en-US" altLang="zh-TW" dirty="0" smtClean="0">
                <a:solidFill>
                  <a:srgbClr val="00B050"/>
                </a:solidFill>
                <a:sym typeface="Wingdings" pitchFamily="2" charset="2"/>
              </a:rPr>
              <a:t>C,C,C</a:t>
            </a:r>
            <a:r>
              <a:rPr lang="en-US" altLang="zh-TW" dirty="0" smtClean="0">
                <a:sym typeface="Wingdings" pitchFamily="2" charset="2"/>
              </a:rPr>
              <a:t>))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Reduce Lookup </a:t>
            </a:r>
            <a:r>
              <a:rPr lang="en-US" altLang="zh-TW" dirty="0" smtClean="0"/>
              <a:t>Table(5/6) </a:t>
            </a:r>
            <a:endParaRPr lang="zh-TW" altLang="en-US" dirty="0"/>
          </a:p>
        </p:txBody>
      </p:sp>
      <p:graphicFrame>
        <p:nvGraphicFramePr>
          <p:cNvPr id="5" name="內容版面配置區 3"/>
          <p:cNvGraphicFramePr>
            <a:graphicFrameLocks/>
          </p:cNvGraphicFramePr>
          <p:nvPr/>
        </p:nvGraphicFramePr>
        <p:xfrm>
          <a:off x="428596" y="1571612"/>
          <a:ext cx="3810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內容版面配置區 3"/>
          <p:cNvGraphicFramePr>
            <a:graphicFrameLocks/>
          </p:cNvGraphicFramePr>
          <p:nvPr/>
        </p:nvGraphicFramePr>
        <p:xfrm>
          <a:off x="5143504" y="1500174"/>
          <a:ext cx="3810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214414" y="3929066"/>
          <a:ext cx="30480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5214942" y="3929066"/>
          <a:ext cx="30480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1785918" y="35004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50"/>
                </a:solidFill>
              </a:rPr>
              <a:t>1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643174" y="35004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50"/>
                </a:solidFill>
              </a:rPr>
              <a:t>1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357554" y="35004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50"/>
                </a:solidFill>
              </a:rPr>
              <a:t>1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785786" y="407194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-1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85786" y="442913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-1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857224" y="4857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786446" y="35004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50"/>
                </a:solidFill>
              </a:rPr>
              <a:t>1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572264" y="35004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50"/>
                </a:solidFill>
              </a:rPr>
              <a:t>1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358082" y="35004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50"/>
                </a:solidFill>
              </a:rPr>
              <a:t>1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714876" y="407194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-1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714876" y="4500570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-1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786314" y="4857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785918" y="6215082"/>
            <a:ext cx="515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Store</a:t>
            </a:r>
            <a:r>
              <a:rPr lang="en-US" altLang="zh-TW" dirty="0" smtClean="0">
                <a:sym typeface="Wingdings" pitchFamily="2" charset="2"/>
              </a:rPr>
              <a:t>:((</a:t>
            </a:r>
            <a:r>
              <a:rPr lang="en-US" altLang="zh-TW" dirty="0" smtClean="0">
                <a:solidFill>
                  <a:srgbClr val="0070C0"/>
                </a:solidFill>
                <a:sym typeface="Wingdings" pitchFamily="2" charset="2"/>
              </a:rPr>
              <a:t>-1,-1,-1</a:t>
            </a:r>
            <a:r>
              <a:rPr lang="en-US" altLang="zh-TW" dirty="0" smtClean="0">
                <a:sym typeface="Wingdings" pitchFamily="2" charset="2"/>
              </a:rPr>
              <a:t>),(</a:t>
            </a:r>
            <a:r>
              <a:rPr lang="en-US" altLang="zh-TW" dirty="0" smtClean="0">
                <a:solidFill>
                  <a:schemeClr val="accent4">
                    <a:lumMod val="75000"/>
                  </a:schemeClr>
                </a:solidFill>
                <a:sym typeface="Wingdings" pitchFamily="2" charset="2"/>
              </a:rPr>
              <a:t>-1,1,1</a:t>
            </a:r>
            <a:r>
              <a:rPr lang="en-US" altLang="zh-TW" dirty="0" smtClean="0">
                <a:sym typeface="Wingdings" pitchFamily="2" charset="2"/>
              </a:rPr>
              <a:t>),(</a:t>
            </a:r>
            <a:r>
              <a:rPr lang="en-US" altLang="zh-TW" dirty="0" smtClean="0">
                <a:solidFill>
                  <a:srgbClr val="FF0000"/>
                </a:solidFill>
                <a:sym typeface="Wingdings" pitchFamily="2" charset="2"/>
              </a:rPr>
              <a:t>-1,-1,1</a:t>
            </a:r>
            <a:r>
              <a:rPr lang="en-US" altLang="zh-TW" dirty="0" smtClean="0">
                <a:sym typeface="Wingdings" pitchFamily="2" charset="2"/>
              </a:rPr>
              <a:t>),(</a:t>
            </a:r>
            <a:r>
              <a:rPr lang="en-US" altLang="zh-TW" dirty="0" smtClean="0">
                <a:solidFill>
                  <a:srgbClr val="00B050"/>
                </a:solidFill>
                <a:sym typeface="Wingdings" pitchFamily="2" charset="2"/>
              </a:rPr>
              <a:t>1,1,1</a:t>
            </a:r>
            <a:r>
              <a:rPr lang="en-US" altLang="zh-TW" dirty="0" smtClean="0">
                <a:sym typeface="Wingdings" pitchFamily="2" charset="2"/>
              </a:rPr>
              <a:t>),(R,T,R)(</a:t>
            </a:r>
            <a:r>
              <a:rPr lang="en-US" altLang="zh-TW" dirty="0" smtClean="0">
                <a:sym typeface="Wingdings" pitchFamily="2" charset="2"/>
              </a:rPr>
              <a:t>R</a:t>
            </a:r>
            <a:r>
              <a:rPr lang="en-US" altLang="zh-TW" dirty="0" smtClean="0">
                <a:sym typeface="Wingdings" pitchFamily="2" charset="2"/>
              </a:rPr>
              <a:t>,R,R))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4357686" y="4143380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70C0"/>
                </a:solidFill>
              </a:rPr>
              <a:t>-1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4357686" y="4500570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70C0"/>
                </a:solidFill>
              </a:rPr>
              <a:t>-1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357686" y="4857760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70C0"/>
                </a:solidFill>
              </a:rPr>
              <a:t>-1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1857356" y="5500702"/>
            <a:ext cx="1822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accent4">
                    <a:lumMod val="75000"/>
                  </a:schemeClr>
                </a:solidFill>
              </a:rPr>
              <a:t>-1          1             1</a:t>
            </a:r>
            <a:endParaRPr lang="zh-TW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4" name="投影片編號版面配置區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15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</a:t>
            </a:r>
            <a:r>
              <a:rPr lang="en-US" altLang="zh-TW" dirty="0" smtClean="0"/>
              <a:t>Y(6/6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428596" y="1571612"/>
          <a:ext cx="3810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572000" y="1571612"/>
          <a:ext cx="3810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0" y="6286520"/>
            <a:ext cx="6788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Store</a:t>
            </a:r>
            <a:r>
              <a:rPr lang="en-US" altLang="zh-TW" sz="2400" dirty="0" smtClean="0">
                <a:sym typeface="Wingdings" pitchFamily="2" charset="2"/>
              </a:rPr>
              <a:t>:(</a:t>
            </a:r>
            <a:r>
              <a:rPr lang="en-US" altLang="zh-TW" sz="2400" dirty="0" smtClean="0">
                <a:solidFill>
                  <a:srgbClr val="0070C0"/>
                </a:solidFill>
                <a:sym typeface="Wingdings" pitchFamily="2" charset="2"/>
              </a:rPr>
              <a:t>(-1,-1,-1)</a:t>
            </a:r>
            <a:r>
              <a:rPr lang="en-US" altLang="zh-TW" sz="2400" dirty="0" smtClean="0">
                <a:sym typeface="Wingdings" pitchFamily="2" charset="2"/>
              </a:rPr>
              <a:t>,</a:t>
            </a:r>
            <a:r>
              <a:rPr lang="en-US" altLang="zh-TW" sz="2400" dirty="0" smtClean="0">
                <a:solidFill>
                  <a:srgbClr val="FF0000"/>
                </a:solidFill>
                <a:sym typeface="Wingdings" pitchFamily="2" charset="2"/>
              </a:rPr>
              <a:t>(-1,1,1)</a:t>
            </a:r>
            <a:r>
              <a:rPr lang="en-US" altLang="zh-TW" sz="2400" dirty="0" smtClean="0">
                <a:sym typeface="Wingdings" pitchFamily="2" charset="2"/>
              </a:rPr>
              <a:t>,(-1,-1,1),(1,1,1</a:t>
            </a:r>
            <a:r>
              <a:rPr lang="en-US" altLang="zh-TW" sz="2400" dirty="0" smtClean="0">
                <a:sym typeface="Wingdings" pitchFamily="2" charset="2"/>
              </a:rPr>
              <a:t>),(R,T,R)(</a:t>
            </a:r>
            <a:r>
              <a:rPr lang="en-US" altLang="zh-TW" sz="2400" dirty="0" smtClean="0">
                <a:sym typeface="Wingdings" pitchFamily="2" charset="2"/>
              </a:rPr>
              <a:t>R</a:t>
            </a:r>
            <a:r>
              <a:rPr lang="en-US" altLang="zh-TW" sz="2400" dirty="0" smtClean="0">
                <a:sym typeface="Wingdings" pitchFamily="2" charset="2"/>
              </a:rPr>
              <a:t>,R,R))</a:t>
            </a:r>
            <a:endParaRPr lang="zh-TW" altLang="en-US" sz="2400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357818" y="3857628"/>
          <a:ext cx="30480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5929322" y="3500438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1              1            1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929190" y="400050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-1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929190" y="442913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-1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5000628" y="47863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2643174" y="5857892"/>
            <a:ext cx="4184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F((-1,-1,1),(1,1,1),(</a:t>
            </a:r>
            <a:r>
              <a:rPr lang="en-US" altLang="zh-TW" sz="2400" dirty="0" err="1" smtClean="0"/>
              <a:t>a,b,a</a:t>
            </a:r>
            <a:r>
              <a:rPr lang="en-US" altLang="zh-TW" sz="2400" dirty="0" smtClean="0"/>
              <a:t>)(</a:t>
            </a:r>
            <a:r>
              <a:rPr lang="en-US" altLang="zh-TW" sz="2400" dirty="0" err="1" smtClean="0"/>
              <a:t>a,a,a</a:t>
            </a:r>
            <a:r>
              <a:rPr lang="en-US" altLang="zh-TW" sz="2400" dirty="0" smtClean="0"/>
              <a:t>))</a:t>
            </a:r>
            <a:endParaRPr lang="zh-TW" altLang="en-US" sz="2400" dirty="0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428596" y="3714752"/>
          <a:ext cx="3810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0070C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6" name="投影片編號版面配置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</a:t>
            </a:r>
            <a:r>
              <a:rPr lang="en-US" altLang="zh-TW" dirty="0" smtClean="0"/>
              <a:t>Z(1/8)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62013" y="1466850"/>
            <a:ext cx="7419975" cy="4533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</a:t>
            </a:r>
            <a:r>
              <a:rPr lang="en-US" altLang="zh-TW" dirty="0" smtClean="0"/>
              <a:t>Z(2/8)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altLang="zh-TW" dirty="0" smtClean="0"/>
              <a:t>Ex: A = “</a:t>
            </a:r>
            <a:r>
              <a:rPr lang="en-US" altLang="zh-TW" dirty="0" err="1" smtClean="0"/>
              <a:t>ababbb</a:t>
            </a:r>
            <a:r>
              <a:rPr lang="en-US" altLang="zh-TW" dirty="0" smtClean="0"/>
              <a:t>” B =“</a:t>
            </a:r>
            <a:r>
              <a:rPr lang="en-US" altLang="zh-TW" dirty="0" err="1" smtClean="0"/>
              <a:t>babaaa</a:t>
            </a:r>
            <a:r>
              <a:rPr lang="en-US" altLang="zh-TW" dirty="0" smtClean="0"/>
              <a:t>”  m=3</a:t>
            </a:r>
            <a:endParaRPr lang="en-US" altLang="zh-TW" dirty="0" smtClean="0"/>
          </a:p>
          <a:p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000100" y="2428868"/>
          <a:ext cx="60960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</a:t>
            </a:r>
            <a:r>
              <a:rPr lang="en-US" altLang="zh-TW" dirty="0" smtClean="0"/>
              <a:t>Z(3/8)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Ex: A = “</a:t>
            </a:r>
            <a:r>
              <a:rPr lang="en-US" altLang="zh-TW" dirty="0" err="1" smtClean="0"/>
              <a:t>ababbb</a:t>
            </a:r>
            <a:r>
              <a:rPr lang="en-US" altLang="zh-TW" dirty="0" smtClean="0"/>
              <a:t>” B =“</a:t>
            </a:r>
            <a:r>
              <a:rPr lang="en-US" altLang="zh-TW" dirty="0" err="1" smtClean="0"/>
              <a:t>babaaa</a:t>
            </a:r>
            <a:r>
              <a:rPr lang="en-US" altLang="zh-TW" dirty="0" smtClean="0"/>
              <a:t>”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19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000100" y="2428868"/>
          <a:ext cx="60960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</a:t>
            </a:r>
            <a:r>
              <a:rPr lang="en-US" altLang="zh-TW" dirty="0" smtClean="0"/>
              <a:t>Z(4/8)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Ex: A = “</a:t>
            </a:r>
            <a:r>
              <a:rPr lang="en-US" altLang="zh-TW" dirty="0" err="1" smtClean="0"/>
              <a:t>ababbb</a:t>
            </a:r>
            <a:r>
              <a:rPr lang="en-US" altLang="zh-TW" dirty="0" smtClean="0"/>
              <a:t>” B =“</a:t>
            </a:r>
            <a:r>
              <a:rPr lang="en-US" altLang="zh-TW" dirty="0" err="1" smtClean="0"/>
              <a:t>babaaa</a:t>
            </a:r>
            <a:r>
              <a:rPr lang="en-US" altLang="zh-TW" dirty="0" smtClean="0"/>
              <a:t>”   M=3</a:t>
            </a: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71472" y="2500306"/>
          <a:ext cx="60960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57224" y="5929330"/>
            <a:ext cx="29145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F((1,1,1),(1,1,1)(</a:t>
            </a:r>
            <a:r>
              <a:rPr lang="en-US" altLang="zh-TW" dirty="0" err="1" smtClean="0"/>
              <a:t>a,b,a</a:t>
            </a:r>
            <a:r>
              <a:rPr lang="en-US" altLang="zh-TW" dirty="0" smtClean="0"/>
              <a:t>)(</a:t>
            </a:r>
            <a:r>
              <a:rPr lang="en-US" altLang="zh-TW" dirty="0" err="1" smtClean="0"/>
              <a:t>b,a,b</a:t>
            </a:r>
            <a:r>
              <a:rPr lang="en-US" altLang="zh-TW" dirty="0" smtClean="0"/>
              <a:t>))</a:t>
            </a:r>
          </a:p>
          <a:p>
            <a:r>
              <a:rPr lang="en-US" altLang="zh-TW" dirty="0" smtClean="0"/>
              <a:t>Return ((-1,-1,1),(-1,-1,1))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</a:t>
            </a:r>
            <a:r>
              <a:rPr lang="en-US" altLang="zh-TW" dirty="0" smtClean="0"/>
              <a:t>Z(5/8)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00034" y="1785926"/>
          <a:ext cx="60960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714348" y="550070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 smtClean="0"/>
              <a:t>F((-1,-1,1),(1,1,1)(</a:t>
            </a:r>
            <a:r>
              <a:rPr lang="en-US" altLang="zh-TW" dirty="0" err="1" smtClean="0"/>
              <a:t>a,b,a</a:t>
            </a:r>
            <a:r>
              <a:rPr lang="en-US" altLang="zh-TW" dirty="0" smtClean="0"/>
              <a:t>)(</a:t>
            </a:r>
            <a:r>
              <a:rPr lang="en-US" altLang="zh-TW" dirty="0" err="1" smtClean="0"/>
              <a:t>a,a,a</a:t>
            </a:r>
            <a:r>
              <a:rPr lang="en-US" altLang="zh-TW" dirty="0" smtClean="0"/>
              <a:t>))</a:t>
            </a:r>
          </a:p>
          <a:p>
            <a:r>
              <a:rPr lang="en-US" altLang="zh-TW" dirty="0" smtClean="0"/>
              <a:t>Return ((-1,-1,-1),(-1,1,1))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</a:t>
            </a:r>
            <a:r>
              <a:rPr lang="en-US" altLang="zh-TW" dirty="0" smtClean="0"/>
              <a:t>Z(6/8)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00034" y="1785926"/>
          <a:ext cx="60960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714348" y="550070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 smtClean="0"/>
              <a:t>F((1,1,1),(-1,-1,1)(</a:t>
            </a:r>
            <a:r>
              <a:rPr lang="en-US" altLang="zh-TW" dirty="0" err="1" smtClean="0"/>
              <a:t>b,b,b</a:t>
            </a:r>
            <a:r>
              <a:rPr lang="en-US" altLang="zh-TW" dirty="0" smtClean="0"/>
              <a:t>)(</a:t>
            </a:r>
            <a:r>
              <a:rPr lang="en-US" altLang="zh-TW" dirty="0" err="1" smtClean="0"/>
              <a:t>b,a,b</a:t>
            </a:r>
            <a:r>
              <a:rPr lang="en-US" altLang="zh-TW" dirty="0" smtClean="0"/>
              <a:t>))</a:t>
            </a:r>
          </a:p>
          <a:p>
            <a:r>
              <a:rPr lang="en-US" altLang="zh-TW" dirty="0" smtClean="0"/>
              <a:t>Return ((-1,1,1),(-1,-1,-1))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</a:t>
            </a:r>
            <a:r>
              <a:rPr lang="en-US" altLang="zh-TW" dirty="0" smtClean="0"/>
              <a:t>Z(7/8)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00034" y="1785926"/>
          <a:ext cx="60960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714348" y="550070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 smtClean="0"/>
              <a:t>F((-1,1,1),(-1,1,1)(</a:t>
            </a:r>
            <a:r>
              <a:rPr lang="en-US" altLang="zh-TW" dirty="0" err="1" smtClean="0"/>
              <a:t>b,b,b</a:t>
            </a:r>
            <a:r>
              <a:rPr lang="en-US" altLang="zh-TW" dirty="0" smtClean="0"/>
              <a:t>)(</a:t>
            </a:r>
            <a:r>
              <a:rPr lang="en-US" altLang="zh-TW" dirty="0" err="1" smtClean="0"/>
              <a:t>a,a,a</a:t>
            </a:r>
            <a:r>
              <a:rPr lang="en-US" altLang="zh-TW" dirty="0" smtClean="0"/>
              <a:t>))</a:t>
            </a:r>
          </a:p>
          <a:p>
            <a:r>
              <a:rPr lang="en-US" altLang="zh-TW" dirty="0" smtClean="0"/>
              <a:t>Return ((1,1,1),(1,1,1))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</a:t>
            </a:r>
            <a:r>
              <a:rPr lang="en-US" altLang="zh-TW" dirty="0" smtClean="0"/>
              <a:t>Z(8/8)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24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000100" y="2285992"/>
          <a:ext cx="60960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14282" y="214290"/>
          <a:ext cx="60960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14282" y="3429000"/>
          <a:ext cx="60960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6357950" y="1357298"/>
            <a:ext cx="2656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用</a:t>
            </a:r>
            <a:r>
              <a:rPr lang="en-US" altLang="zh-TW" dirty="0" smtClean="0"/>
              <a:t>faster algorithm 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6357950" y="4929198"/>
            <a:ext cx="2656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沒用</a:t>
            </a:r>
            <a:r>
              <a:rPr lang="en-US" altLang="zh-TW" dirty="0" smtClean="0"/>
              <a:t>faster algorithm </a:t>
            </a:r>
            <a:endParaRPr lang="zh-TW" altLang="en-US" dirty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Analysis Faster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Algorithm Y takes time O(m²log m) to calculate and store each </a:t>
            </a:r>
            <a:r>
              <a:rPr lang="en-US" altLang="zh-TW" dirty="0" err="1" smtClean="0"/>
              <a:t>submatrix,calculating</a:t>
            </a:r>
            <a:r>
              <a:rPr lang="en-US" altLang="zh-TW" dirty="0" smtClean="0"/>
              <a:t> all of the final step vectors takes total time</a:t>
            </a:r>
          </a:p>
          <a:p>
            <a:pPr>
              <a:buNone/>
            </a:pPr>
            <a:r>
              <a:rPr lang="en-US" altLang="zh-TW" dirty="0" smtClean="0"/>
              <a:t>                    =            , for some k depending only on the number of steps and</a:t>
            </a:r>
            <a:r>
              <a:rPr lang="el-GR" dirty="0" smtClean="0"/>
              <a:t> </a:t>
            </a:r>
            <a:r>
              <a:rPr lang="el-GR" dirty="0" smtClean="0">
                <a:latin typeface="+mj-lt"/>
              </a:rPr>
              <a:t>Σ</a:t>
            </a:r>
            <a:r>
              <a:rPr lang="en-US" altLang="zh-TW" dirty="0" smtClean="0"/>
              <a:t> , but not m.</a:t>
            </a:r>
            <a:endParaRPr lang="zh-TW" altLang="en-US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3143248"/>
            <a:ext cx="1528763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71736" y="3214686"/>
            <a:ext cx="1029548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158" y="1600200"/>
            <a:ext cx="8643998" cy="5114948"/>
          </a:xfrm>
        </p:spPr>
        <p:txBody>
          <a:bodyPr>
            <a:normAutofit lnSpcReduction="10000"/>
          </a:bodyPr>
          <a:lstStyle/>
          <a:p>
            <a:r>
              <a:rPr lang="en-US" altLang="zh-TW" dirty="0" err="1" smtClean="0"/>
              <a:t>Assume|A</a:t>
            </a:r>
            <a:r>
              <a:rPr lang="en-US" altLang="zh-TW" dirty="0" smtClean="0"/>
              <a:t>|</a:t>
            </a:r>
            <a:r>
              <a:rPr lang="zh-TW" altLang="en-US" dirty="0" smtClean="0"/>
              <a:t> ≥ </a:t>
            </a:r>
            <a:r>
              <a:rPr lang="en-US" altLang="zh-TW" dirty="0" smtClean="0"/>
              <a:t>|B|</a:t>
            </a:r>
          </a:p>
          <a:p>
            <a:r>
              <a:rPr lang="en-US" altLang="zh-TW" dirty="0" smtClean="0"/>
              <a:t>Blocks number (|A|/M)*(|B|/M) = O(|A||B|/M²)</a:t>
            </a:r>
          </a:p>
          <a:p>
            <a:r>
              <a:rPr lang="en-US" altLang="zh-TW" dirty="0" smtClean="0"/>
              <a:t>Each block need 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if m &gt;|</a:t>
            </a:r>
            <a:r>
              <a:rPr lang="en-US" altLang="zh-TW" dirty="0" err="1" smtClean="0"/>
              <a:t>B|,algorithm</a:t>
            </a:r>
            <a:r>
              <a:rPr lang="en-US" altLang="zh-TW" dirty="0" smtClean="0"/>
              <a:t> runs in time O(|A|)</a:t>
            </a:r>
            <a:endParaRPr lang="zh-TW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43306" y="2786058"/>
            <a:ext cx="1857388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3500438"/>
            <a:ext cx="3533775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472" y="4214818"/>
            <a:ext cx="3357586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596" y="5000636"/>
            <a:ext cx="7410450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                         Thank you for listening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1556</Words>
  <PresentationFormat>如螢幕大小 (4:3)</PresentationFormat>
  <Paragraphs>775</Paragraphs>
  <Slides>28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29" baseType="lpstr">
      <vt:lpstr>Office 佈景主題</vt:lpstr>
      <vt:lpstr>A Faster Algorithm Computing String Edit Distances*</vt:lpstr>
      <vt:lpstr>Abstract</vt:lpstr>
      <vt:lpstr>Edit Distance(1/3)</vt:lpstr>
      <vt:lpstr>Edit Distance(2/3)</vt:lpstr>
      <vt:lpstr>Edit Distance(3/3)</vt:lpstr>
      <vt:lpstr>Minimum Edit Distance(1/3)</vt:lpstr>
      <vt:lpstr>Minimum Edit Distance(2/3)</vt:lpstr>
      <vt:lpstr>Minimum Edit Distance(3/3)</vt:lpstr>
      <vt:lpstr>Four-Russians Speedup </vt:lpstr>
      <vt:lpstr>Faster Algorithm</vt:lpstr>
      <vt:lpstr>Algorithm Y(1/6)</vt:lpstr>
      <vt:lpstr>Algorithm Y(2/6)</vt:lpstr>
      <vt:lpstr>Algorithm Y(3/6)</vt:lpstr>
      <vt:lpstr>Preprocess Lookup Table(4/6) </vt:lpstr>
      <vt:lpstr>Reduce Lookup Table(5/6) </vt:lpstr>
      <vt:lpstr>Algorithm Y(6/6)</vt:lpstr>
      <vt:lpstr>Algorithm Z(1/8)</vt:lpstr>
      <vt:lpstr>Algorithm Z(2/8)</vt:lpstr>
      <vt:lpstr>Algorithm Z(3/8)</vt:lpstr>
      <vt:lpstr>Algorithm Z(4/8)</vt:lpstr>
      <vt:lpstr>Algorithm Z(5/8)</vt:lpstr>
      <vt:lpstr>Algorithm Z(6/8)</vt:lpstr>
      <vt:lpstr>Algorithm Z(7/8)</vt:lpstr>
      <vt:lpstr>Algorithm Z(8/8)</vt:lpstr>
      <vt:lpstr>投影片 25</vt:lpstr>
      <vt:lpstr>Analysis Faster Algorithm</vt:lpstr>
      <vt:lpstr>投影片 27</vt:lpstr>
      <vt:lpstr>投影片 28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Faster Algorithm Computing String Edit Distances*</dc:title>
  <cp:lastModifiedBy>user</cp:lastModifiedBy>
  <cp:revision>69</cp:revision>
  <dcterms:modified xsi:type="dcterms:W3CDTF">2013-12-11T06:42:09Z</dcterms:modified>
</cp:coreProperties>
</file>