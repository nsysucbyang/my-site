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96" y="-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D192A-76CC-4488-AA19-B903B9220720}" type="datetimeFigureOut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E2267-4BC3-4A2A-9741-451B6835A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448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C3D44-6BEE-4339-972F-31C00C526C51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28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F296-0B55-4943-B20D-73E99DC9978E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579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2215-7579-457E-9E7F-41BC28091D52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637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5CEC7-C072-49E4-8BA7-068A443DFB44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47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7063-4776-4E67-BDCE-CCF5C30BAFBB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216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B0F0-AFDA-448C-B668-2E022BF9B73E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68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413F-E7E1-43C3-BE7B-1E3742BCB5F8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426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2888E-91AB-48EF-86B6-E01B09B2B3EC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3652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A3A5-B911-49E1-848D-718DB36268AF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06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455D-6972-41D9-A572-D2E5CD90F340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610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8AC4-E9D9-4ABE-AA7B-69FEA392D719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628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6F852-67AC-4A58-8C5B-E18D4A35FEFA}" type="datetime1">
              <a:rPr lang="zh-TW" altLang="en-US" smtClean="0"/>
              <a:t>2013/10/15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1B0D1-175D-4FFC-B1B7-EE4345F324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85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51520" y="332656"/>
            <a:ext cx="8676456" cy="216024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/>
              <a:t>A Comparative Study on </a:t>
            </a:r>
            <a:r>
              <a:rPr lang="en-US" altLang="zh-TW" dirty="0" smtClean="0"/>
              <a:t>the Algorithms </a:t>
            </a:r>
            <a:r>
              <a:rPr lang="en-US" altLang="zh-TW" dirty="0"/>
              <a:t>for </a:t>
            </a:r>
            <a:r>
              <a:rPr lang="en-US" altLang="zh-TW" dirty="0" smtClean="0"/>
              <a:t>a Generalized </a:t>
            </a:r>
            <a:r>
              <a:rPr lang="en-US" altLang="zh-TW" dirty="0"/>
              <a:t>Josephus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508104" y="5301208"/>
            <a:ext cx="3456384" cy="1057672"/>
          </a:xfrm>
        </p:spPr>
        <p:txBody>
          <a:bodyPr>
            <a:normAutofit/>
          </a:bodyPr>
          <a:lstStyle/>
          <a:p>
            <a:pPr algn="l"/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Presenter</a:t>
            </a:r>
            <a:r>
              <a:rPr lang="zh-TW" altLang="en-US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：郭冠呈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/>
            </a:r>
            <a:br>
              <a:rPr lang="en-US" altLang="zh-TW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</a:b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Date</a:t>
            </a:r>
            <a:r>
              <a:rPr lang="zh-TW" altLang="en-US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：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2013/10/15</a:t>
            </a:r>
            <a:endParaRPr lang="zh-TW" altLang="en-US" sz="2800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539552" y="2708920"/>
            <a:ext cx="80648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Author</a:t>
            </a:r>
            <a:r>
              <a:rPr lang="zh-TW" altLang="en-US" sz="2800" dirty="0" smtClean="0"/>
              <a:t>：</a:t>
            </a:r>
            <a:r>
              <a:rPr lang="en-US" altLang="zh-TW" sz="2800" dirty="0" smtClean="0"/>
              <a:t>Lei Wang, </a:t>
            </a:r>
            <a:r>
              <a:rPr lang="en-US" altLang="zh-TW" sz="2800" dirty="0" err="1" smtClean="0"/>
              <a:t>Xiaodong</a:t>
            </a:r>
            <a:r>
              <a:rPr lang="en-US" altLang="zh-TW" sz="2800" dirty="0" smtClean="0"/>
              <a:t> Wang</a:t>
            </a:r>
            <a:br>
              <a:rPr lang="en-US" altLang="zh-TW" sz="2800" dirty="0" smtClean="0"/>
            </a:br>
            <a:r>
              <a:rPr lang="en-US" altLang="zh-TW" sz="2800" dirty="0" smtClean="0"/>
              <a:t>Source</a:t>
            </a:r>
            <a:r>
              <a:rPr lang="zh-TW" altLang="en-US" sz="2800" dirty="0" smtClean="0"/>
              <a:t>：</a:t>
            </a:r>
            <a:r>
              <a:rPr lang="en-US" altLang="zh-TW" sz="2800" dirty="0" smtClean="0"/>
              <a:t>Applied Mathematics &amp; Information Science;</a:t>
            </a:r>
            <a:br>
              <a:rPr lang="en-US" altLang="zh-TW" sz="2800" dirty="0" smtClean="0"/>
            </a:br>
            <a:r>
              <a:rPr lang="en-US" altLang="zh-TW" sz="2800" dirty="0" smtClean="0"/>
              <a:t>                 July 2013, Vol.7 Issue 4, p1451-1457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78627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TW" altLang="en-US" dirty="0" smtClean="0"/>
              <a:t>    </a:t>
            </a:r>
            <a:r>
              <a:rPr lang="en-US" altLang="zh-TW" dirty="0" smtClean="0"/>
              <a:t>The classic Josephus problem can be described as follows: There are n objects, consecutively numbered from 1 through n, arranged in a circle. We are given a positive integer k. Beginning with a designated first object, we proceed around the circle, removing every </a:t>
            </a:r>
            <a:r>
              <a:rPr lang="en-US" altLang="zh-TW" dirty="0" err="1" smtClean="0"/>
              <a:t>kth</a:t>
            </a:r>
            <a:r>
              <a:rPr lang="en-US" altLang="zh-TW" dirty="0" smtClean="0"/>
              <a:t> object. After each object is removed, counting continues around the circle that remains. This process continues until all n objects have been removed. In a generalized Josephus problem, a number of lives l is introduced for the problem. Each object has l lives. The object is removed only when it has been selected l times.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62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TW" altLang="en-US" dirty="0" smtClean="0"/>
              <a:t>    </a:t>
            </a:r>
            <a:r>
              <a:rPr lang="en-US" altLang="zh-TW" dirty="0" smtClean="0"/>
              <a:t>In this paper we present a fast algorithm for generating the Josephus permutation for the generalized Josephus problem. Our new algorithm can also be applied to a more general case of the generalized Josephus problem where the lives for all objects can be different. The time and space complexities of new algorithms are O(</a:t>
            </a:r>
            <a:r>
              <a:rPr lang="en-US" altLang="zh-TW" dirty="0" err="1" smtClean="0"/>
              <a:t>lnlogk</a:t>
            </a:r>
            <a:r>
              <a:rPr lang="en-US" altLang="zh-TW" dirty="0" smtClean="0"/>
              <a:t>) and O(n) respectively. The computational experiments demonstrate that the achieved results are not only of theoretical interest, but also that the techniques developed may actually lead to considerably faster algorithms.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829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Josephus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/>
          <a:lstStyle/>
          <a:p>
            <a:r>
              <a:rPr lang="zh-TW" altLang="en-US" dirty="0" smtClean="0">
                <a:ea typeface="標楷體" panose="03000509000000000000" pitchFamily="65" charset="-120"/>
              </a:rPr>
              <a:t>經典</a:t>
            </a:r>
            <a:r>
              <a:rPr lang="en-US" altLang="zh-TW" dirty="0" smtClean="0">
                <a:ea typeface="標楷體" panose="03000509000000000000" pitchFamily="65" charset="-120"/>
              </a:rPr>
              <a:t>Josephus problem</a:t>
            </a:r>
            <a:r>
              <a:rPr lang="zh-TW" altLang="en-US" dirty="0" smtClean="0">
                <a:ea typeface="標楷體" panose="03000509000000000000" pitchFamily="65" charset="-120"/>
              </a:rPr>
              <a:t>，有</a:t>
            </a:r>
            <a:r>
              <a:rPr lang="en-US" altLang="zh-TW" dirty="0" smtClean="0">
                <a:ea typeface="標楷體" panose="03000509000000000000" pitchFamily="65" charset="-120"/>
              </a:rPr>
              <a:t>n</a:t>
            </a:r>
            <a:r>
              <a:rPr lang="zh-TW" altLang="en-US" dirty="0" smtClean="0">
                <a:ea typeface="標楷體" panose="03000509000000000000" pitchFamily="65" charset="-120"/>
              </a:rPr>
              <a:t>個物件，將物件編號由</a:t>
            </a:r>
            <a:r>
              <a:rPr lang="en-US" altLang="zh-TW" dirty="0" smtClean="0">
                <a:ea typeface="標楷體" panose="03000509000000000000" pitchFamily="65" charset="-120"/>
              </a:rPr>
              <a:t>1~n</a:t>
            </a:r>
            <a:r>
              <a:rPr lang="zh-TW" altLang="en-US" dirty="0" smtClean="0">
                <a:ea typeface="標楷體" panose="03000509000000000000" pitchFamily="65" charset="-120"/>
              </a:rPr>
              <a:t>排列成一圈，給定一正整數</a:t>
            </a:r>
            <a:r>
              <a:rPr lang="en-US" altLang="zh-TW" dirty="0" smtClean="0">
                <a:ea typeface="標楷體" panose="03000509000000000000" pitchFamily="65" charset="-120"/>
              </a:rPr>
              <a:t>k</a:t>
            </a:r>
            <a:r>
              <a:rPr lang="zh-TW" altLang="en-US" dirty="0" smtClean="0">
                <a:ea typeface="標楷體" panose="03000509000000000000" pitchFamily="65" charset="-120"/>
              </a:rPr>
              <a:t>，從頭開始數起，數到</a:t>
            </a:r>
            <a:r>
              <a:rPr lang="en-US" altLang="zh-TW" dirty="0" smtClean="0">
                <a:ea typeface="標楷體" panose="03000509000000000000" pitchFamily="65" charset="-120"/>
              </a:rPr>
              <a:t>k</a:t>
            </a:r>
            <a:r>
              <a:rPr lang="zh-TW" altLang="en-US" dirty="0" smtClean="0">
                <a:ea typeface="標楷體" panose="03000509000000000000" pitchFamily="65" charset="-120"/>
              </a:rPr>
              <a:t>就移除該物件，接著重移除的物件之後開始數到</a:t>
            </a:r>
            <a:r>
              <a:rPr lang="en-US" altLang="zh-TW" dirty="0" smtClean="0">
                <a:ea typeface="標楷體" panose="03000509000000000000" pitchFamily="65" charset="-120"/>
              </a:rPr>
              <a:t>k</a:t>
            </a:r>
            <a:r>
              <a:rPr lang="zh-TW" altLang="en-US" dirty="0" smtClean="0">
                <a:ea typeface="標楷體" panose="03000509000000000000" pitchFamily="65" charset="-120"/>
              </a:rPr>
              <a:t>移除，以此類推，之後根據</a:t>
            </a:r>
            <a:r>
              <a:rPr lang="zh-TW" altLang="en-US" dirty="0">
                <a:ea typeface="標楷體" panose="03000509000000000000" pitchFamily="65" charset="-120"/>
              </a:rPr>
              <a:t>物件移除的順序可以生成</a:t>
            </a:r>
            <a:r>
              <a:rPr lang="en-US" altLang="zh-TW" dirty="0"/>
              <a:t>Josephus permutation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>
                <a:sym typeface="Wingdings" panose="05000000000000000000" pitchFamily="2" charset="2"/>
              </a:rPr>
              <a:t>Ex: (n, k) = (6, 4)</a:t>
            </a:r>
            <a:r>
              <a:rPr lang="en-US" altLang="zh-TW" dirty="0">
                <a:sym typeface="Wingdings" panose="05000000000000000000" pitchFamily="2" charset="2"/>
              </a:rPr>
              <a:t/>
            </a:r>
            <a:br>
              <a:rPr lang="en-US" altLang="zh-TW" dirty="0">
                <a:sym typeface="Wingdings" panose="05000000000000000000" pitchFamily="2" charset="2"/>
              </a:rPr>
            </a:br>
            <a:r>
              <a:rPr lang="en-US" altLang="zh-TW" dirty="0" smtClean="0">
                <a:sym typeface="Wingdings" panose="05000000000000000000" pitchFamily="2" charset="2"/>
              </a:rPr>
              <a:t>Josephus permutation = (4 2 1 3 6 5)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35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Variant of Josephus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ea typeface="標楷體" panose="03000509000000000000" pitchFamily="65" charset="-120"/>
              </a:rPr>
              <a:t>根據</a:t>
            </a:r>
            <a:r>
              <a:rPr lang="en-US" altLang="zh-TW" dirty="0" smtClean="0">
                <a:ea typeface="標楷體" panose="03000509000000000000" pitchFamily="65" charset="-120"/>
              </a:rPr>
              <a:t>Josephus problem</a:t>
            </a:r>
            <a:r>
              <a:rPr lang="zh-TW" altLang="en-US" dirty="0" smtClean="0">
                <a:ea typeface="標楷體" panose="03000509000000000000" pitchFamily="65" charset="-120"/>
              </a:rPr>
              <a:t>，賦予每個物件生命值</a:t>
            </a:r>
            <a:r>
              <a:rPr lang="en-US" altLang="zh-TW" dirty="0" smtClean="0">
                <a:ea typeface="標楷體" panose="03000509000000000000" pitchFamily="65" charset="-120"/>
              </a:rPr>
              <a:t>l</a:t>
            </a:r>
            <a:r>
              <a:rPr lang="zh-TW" altLang="en-US" dirty="0" smtClean="0">
                <a:ea typeface="標楷體" panose="03000509000000000000" pitchFamily="65" charset="-120"/>
              </a:rPr>
              <a:t>，每個物件被數到</a:t>
            </a:r>
            <a:r>
              <a:rPr lang="en-US" altLang="zh-TW" dirty="0" smtClean="0">
                <a:ea typeface="標楷體" panose="03000509000000000000" pitchFamily="65" charset="-120"/>
              </a:rPr>
              <a:t>l </a:t>
            </a:r>
            <a:r>
              <a:rPr lang="zh-TW" altLang="en-US" dirty="0" smtClean="0">
                <a:ea typeface="標楷體" panose="03000509000000000000" pitchFamily="65" charset="-120"/>
              </a:rPr>
              <a:t>次之後才會被移除。</a:t>
            </a:r>
            <a:endParaRPr lang="en-US" altLang="zh-TW" dirty="0" smtClean="0">
              <a:ea typeface="標楷體" panose="03000509000000000000" pitchFamily="65" charset="-120"/>
            </a:endParaRPr>
          </a:p>
          <a:p>
            <a:endParaRPr lang="en-US" altLang="zh-TW" dirty="0" smtClean="0">
              <a:ea typeface="標楷體" panose="03000509000000000000" pitchFamily="65" charset="-120"/>
            </a:endParaRPr>
          </a:p>
          <a:p>
            <a:r>
              <a:rPr lang="en-US" altLang="zh-TW" dirty="0" smtClean="0">
                <a:ea typeface="標楷體" panose="03000509000000000000" pitchFamily="65" charset="-120"/>
              </a:rPr>
              <a:t>Ex: (n, k, l) = (6, 4, 2)</a:t>
            </a:r>
            <a:r>
              <a:rPr lang="en-US" altLang="zh-TW" dirty="0">
                <a:ea typeface="標楷體" panose="03000509000000000000" pitchFamily="65" charset="-120"/>
              </a:rPr>
              <a:t/>
            </a:r>
            <a:br>
              <a:rPr lang="en-US" altLang="zh-TW" dirty="0">
                <a:ea typeface="標楷體" panose="03000509000000000000" pitchFamily="65" charset="-120"/>
              </a:rPr>
            </a:br>
            <a:r>
              <a:rPr lang="en-US" altLang="zh-TW" dirty="0" smtClean="0">
                <a:ea typeface="標楷體" panose="03000509000000000000" pitchFamily="65" charset="-120"/>
              </a:rPr>
              <a:t>Josephus permutation = (4 2 1 6 5 3)</a:t>
            </a:r>
          </a:p>
          <a:p>
            <a:endParaRPr lang="en-US" altLang="zh-TW" dirty="0">
              <a:ea typeface="標楷體" panose="03000509000000000000" pitchFamily="65" charset="-120"/>
            </a:endParaRPr>
          </a:p>
          <a:p>
            <a:r>
              <a:rPr lang="zh-TW" altLang="en-US" dirty="0" smtClean="0">
                <a:ea typeface="標楷體" panose="03000509000000000000" pitchFamily="65" charset="-120"/>
              </a:rPr>
              <a:t>經典</a:t>
            </a:r>
            <a:r>
              <a:rPr lang="en-US" altLang="zh-TW" dirty="0">
                <a:ea typeface="標楷體" panose="03000509000000000000" pitchFamily="65" charset="-120"/>
              </a:rPr>
              <a:t>Josephus </a:t>
            </a:r>
            <a:r>
              <a:rPr lang="en-US" altLang="zh-TW" dirty="0" smtClean="0">
                <a:ea typeface="標楷體" panose="03000509000000000000" pitchFamily="65" charset="-120"/>
              </a:rPr>
              <a:t>problem</a:t>
            </a:r>
            <a:r>
              <a:rPr lang="zh-TW" altLang="en-US" dirty="0" smtClean="0">
                <a:ea typeface="標楷體" panose="03000509000000000000" pitchFamily="65" charset="-120"/>
              </a:rPr>
              <a:t>可以看成生命值 </a:t>
            </a:r>
            <a:r>
              <a:rPr lang="en-US" altLang="zh-TW" dirty="0" smtClean="0">
                <a:ea typeface="標楷體" panose="03000509000000000000" pitchFamily="65" charset="-120"/>
              </a:rPr>
              <a:t>l = 1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90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</a:t>
            </a:r>
            <a:r>
              <a:rPr lang="en-US" altLang="zh-TW" dirty="0" smtClean="0"/>
              <a:t>Structure</a:t>
            </a:r>
            <a:r>
              <a:rPr lang="zh-TW" altLang="en-US" dirty="0" smtClean="0"/>
              <a:t> </a:t>
            </a:r>
            <a:r>
              <a:rPr lang="en-US" altLang="zh-TW" dirty="0" smtClean="0"/>
              <a:t>of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46856" y="1268760"/>
                <a:ext cx="8229600" cy="4857403"/>
              </a:xfrm>
            </p:spPr>
            <p:txBody>
              <a:bodyPr/>
              <a:lstStyle/>
              <a:p>
                <a:r>
                  <a:rPr lang="zh-TW" altLang="en-US" dirty="0" smtClean="0">
                    <a:ea typeface="標楷體" panose="03000509000000000000" pitchFamily="65" charset="-120"/>
                  </a:rPr>
                  <a:t>將序列分成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b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組，每組有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m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個物件，除了最後一組，</a:t>
                </a:r>
                <a:r>
                  <a:rPr lang="en-US" altLang="zh-TW" dirty="0">
                    <a:ea typeface="標楷體" panose="03000509000000000000" pitchFamily="65" charset="-120"/>
                  </a:rPr>
                  <a:t> m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e>
                      <m:sup>
                        <m:d>
                          <m:dPr>
                            <m:begChr m:val="⌈"/>
                            <m:endChr m:val="⌉"/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𝑙𝑜𝑔𝑘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zh-TW" dirty="0">
                    <a:ea typeface="標楷體" panose="03000509000000000000" pitchFamily="65" charset="-120"/>
                  </a:rPr>
                  <a:t> </a:t>
                </a:r>
                <a:r>
                  <a:rPr lang="zh-TW" altLang="en-US" dirty="0" smtClean="0">
                    <a:ea typeface="標楷體" panose="03000509000000000000" pitchFamily="65" charset="-120"/>
                  </a:rPr>
                  <a:t>，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 </a:t>
                </a:r>
                <a:r>
                  <a:rPr lang="en-US" altLang="zh-TW" dirty="0">
                    <a:ea typeface="標楷體" panose="03000509000000000000" pitchFamily="65" charset="-120"/>
                  </a:rPr>
                  <a:t>b 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TW" i="1" smtClean="0">
                            <a:latin typeface="Cambria Math"/>
                            <a:ea typeface="標楷體" panose="03000509000000000000" pitchFamily="65" charset="-12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標楷體" panose="03000509000000000000" pitchFamily="65" charset="-12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/>
                            <a:ea typeface="標楷體" panose="03000509000000000000" pitchFamily="65" charset="-120"/>
                          </a:rPr>
                          <m:t>/</m:t>
                        </m:r>
                        <m:r>
                          <a:rPr lang="en-US" altLang="zh-TW" b="0" i="1" smtClean="0">
                            <a:latin typeface="Cambria Math"/>
                            <a:ea typeface="標楷體" panose="03000509000000000000" pitchFamily="65" charset="-12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altLang="zh-TW" dirty="0" smtClean="0">
                    <a:ea typeface="標楷體" panose="03000509000000000000" pitchFamily="65" charset="-120"/>
                  </a:rPr>
                  <a:t>:</a:t>
                </a:r>
                <a:br>
                  <a:rPr lang="en-US" altLang="zh-TW" dirty="0" smtClean="0">
                    <a:ea typeface="標楷體" panose="03000509000000000000" pitchFamily="65" charset="-120"/>
                  </a:rPr>
                </a:br>
                <a:r>
                  <a:rPr lang="en-US" altLang="zh-TW" dirty="0" smtClean="0">
                    <a:ea typeface="標楷體" panose="03000509000000000000" pitchFamily="65" charset="-120"/>
                  </a:rPr>
                  <a:t/>
                </a:r>
                <a:br>
                  <a:rPr lang="en-US" altLang="zh-TW" dirty="0" smtClean="0">
                    <a:ea typeface="標楷體" panose="03000509000000000000" pitchFamily="65" charset="-120"/>
                  </a:rPr>
                </a:br>
                <a:r>
                  <a:rPr lang="en-US" altLang="zh-TW" dirty="0" smtClean="0">
                    <a:ea typeface="標楷體" panose="03000509000000000000" pitchFamily="65" charset="-120"/>
                  </a:rPr>
                  <a:t>{1, …, m},{m+1,…, 2m},…,{(b-1)m+1,…, n}</a:t>
                </a:r>
                <a:r>
                  <a:rPr lang="en-US" altLang="zh-TW" dirty="0">
                    <a:ea typeface="標楷體" panose="03000509000000000000" pitchFamily="65" charset="-120"/>
                  </a:rPr>
                  <a:t/>
                </a:r>
                <a:br>
                  <a:rPr lang="en-US" altLang="zh-TW" dirty="0">
                    <a:ea typeface="標楷體" panose="03000509000000000000" pitchFamily="65" charset="-120"/>
                  </a:rPr>
                </a:br>
                <a:endParaRPr lang="en-US" altLang="zh-TW" dirty="0" smtClean="0">
                  <a:ea typeface="標楷體" panose="03000509000000000000" pitchFamily="65" charset="-120"/>
                </a:endParaRPr>
              </a:p>
              <a:p>
                <a:r>
                  <a:rPr lang="zh-TW" altLang="en-US" dirty="0" smtClean="0">
                    <a:ea typeface="標楷體" panose="03000509000000000000" pitchFamily="65" charset="-120"/>
                  </a:rPr>
                  <a:t>將每個子集合建成</a:t>
                </a:r>
                <a:r>
                  <a:rPr lang="en-US" altLang="zh-TW" dirty="0" smtClean="0">
                    <a:ea typeface="標楷體" panose="03000509000000000000" pitchFamily="65" charset="-120"/>
                  </a:rPr>
                  <a:t>full binary tree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6856" y="1268760"/>
                <a:ext cx="8229600" cy="4857403"/>
              </a:xfrm>
              <a:blipFill rotWithShape="1">
                <a:blip r:embed="rId2"/>
                <a:stretch>
                  <a:fillRect l="-1630" t="-17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189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Structure</a:t>
            </a:r>
            <a:r>
              <a:rPr lang="zh-TW" altLang="en-US" dirty="0"/>
              <a:t> </a:t>
            </a:r>
            <a:r>
              <a:rPr lang="en-US" altLang="zh-TW" dirty="0"/>
              <a:t>of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r>
              <a:rPr lang="en-US" altLang="zh-TW" dirty="0" smtClean="0">
                <a:ea typeface="標楷體" panose="03000509000000000000" pitchFamily="65" charset="-120"/>
              </a:rPr>
              <a:t>Full binary tree </a:t>
            </a:r>
            <a:r>
              <a:rPr lang="zh-TW" altLang="en-US" dirty="0" smtClean="0">
                <a:ea typeface="標楷體" panose="03000509000000000000" pitchFamily="65" charset="-120"/>
              </a:rPr>
              <a:t>中，</a:t>
            </a:r>
            <a:r>
              <a:rPr lang="en-US" altLang="zh-TW" dirty="0" smtClean="0">
                <a:ea typeface="標楷體" panose="03000509000000000000" pitchFamily="65" charset="-120"/>
              </a:rPr>
              <a:t>leaf </a:t>
            </a:r>
            <a:r>
              <a:rPr lang="zh-TW" altLang="en-US" dirty="0">
                <a:ea typeface="標楷體" panose="03000509000000000000" pitchFamily="65" charset="-120"/>
              </a:rPr>
              <a:t>為</a:t>
            </a:r>
            <a:r>
              <a:rPr lang="zh-TW" altLang="en-US" dirty="0" smtClean="0">
                <a:ea typeface="標楷體" panose="03000509000000000000" pitchFamily="65" charset="-120"/>
              </a:rPr>
              <a:t>物件，</a:t>
            </a:r>
            <a:r>
              <a:rPr lang="en-US" altLang="zh-TW" dirty="0" smtClean="0">
                <a:ea typeface="標楷體" panose="03000509000000000000" pitchFamily="65" charset="-120"/>
              </a:rPr>
              <a:t>non-leaf</a:t>
            </a:r>
            <a:r>
              <a:rPr lang="zh-TW" altLang="en-US" dirty="0" smtClean="0">
                <a:ea typeface="標楷體" panose="03000509000000000000" pitchFamily="65" charset="-120"/>
              </a:rPr>
              <a:t>儲存該節點</a:t>
            </a:r>
            <a:r>
              <a:rPr lang="en-US" altLang="zh-TW" dirty="0" err="1" smtClean="0">
                <a:ea typeface="標楷體" panose="03000509000000000000" pitchFamily="65" charset="-120"/>
              </a:rPr>
              <a:t>subtree</a:t>
            </a:r>
            <a:r>
              <a:rPr lang="en-US" altLang="zh-TW" dirty="0" smtClean="0"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ea typeface="標楷體" panose="03000509000000000000" pitchFamily="65" charset="-120"/>
              </a:rPr>
              <a:t>中，沒有被移除的</a:t>
            </a:r>
            <a:r>
              <a:rPr lang="en-US" altLang="zh-TW" dirty="0" smtClean="0">
                <a:ea typeface="標楷體" panose="03000509000000000000" pitchFamily="65" charset="-120"/>
              </a:rPr>
              <a:t>leaf</a:t>
            </a:r>
            <a:r>
              <a:rPr lang="zh-TW" altLang="en-US" dirty="0" smtClean="0">
                <a:ea typeface="標楷體" panose="03000509000000000000" pitchFamily="65" charset="-120"/>
              </a:rPr>
              <a:t>數</a:t>
            </a:r>
            <a:r>
              <a:rPr lang="zh-TW" altLang="en-US" dirty="0">
                <a:ea typeface="標楷體" panose="03000509000000000000" pitchFamily="65" charset="-120"/>
              </a:rPr>
              <a:t>，</a:t>
            </a:r>
            <a:r>
              <a:rPr lang="zh-TW" altLang="en-US" dirty="0" smtClean="0">
                <a:ea typeface="標楷體" panose="03000509000000000000" pitchFamily="65" charset="-120"/>
              </a:rPr>
              <a:t>即</a:t>
            </a:r>
            <a:r>
              <a:rPr lang="en-US" altLang="zh-TW" dirty="0" smtClean="0">
                <a:ea typeface="標楷體" panose="03000509000000000000" pitchFamily="65" charset="-120"/>
              </a:rPr>
              <a:t>active leaf</a:t>
            </a:r>
            <a:r>
              <a:rPr lang="zh-TW" altLang="en-US" dirty="0" smtClean="0">
                <a:ea typeface="標楷體" panose="03000509000000000000" pitchFamily="65" charset="-120"/>
              </a:rPr>
              <a:t>，用負號區分是</a:t>
            </a:r>
            <a:r>
              <a:rPr lang="en-US" altLang="zh-TW" dirty="0" smtClean="0">
                <a:ea typeface="標楷體" panose="03000509000000000000" pitchFamily="65" charset="-120"/>
              </a:rPr>
              <a:t>leaf</a:t>
            </a:r>
            <a:r>
              <a:rPr lang="zh-TW" altLang="en-US" dirty="0" smtClean="0">
                <a:ea typeface="標楷體" panose="03000509000000000000" pitchFamily="65" charset="-120"/>
              </a:rPr>
              <a:t>或是</a:t>
            </a:r>
            <a:r>
              <a:rPr lang="en-US" altLang="zh-TW" dirty="0" smtClean="0">
                <a:ea typeface="標楷體" panose="03000509000000000000" pitchFamily="65" charset="-120"/>
              </a:rPr>
              <a:t>non-leaf</a:t>
            </a:r>
            <a:r>
              <a:rPr lang="zh-TW" altLang="en-US" dirty="0" smtClean="0">
                <a:ea typeface="標楷體" panose="03000509000000000000" pitchFamily="65" charset="-120"/>
              </a:rPr>
              <a:t>。</a:t>
            </a:r>
            <a:endParaRPr lang="en-US" altLang="zh-TW" dirty="0" smtClean="0">
              <a:ea typeface="標楷體" panose="03000509000000000000" pitchFamily="65" charset="-120"/>
            </a:endParaRPr>
          </a:p>
          <a:p>
            <a:r>
              <a:rPr lang="en-US" altLang="zh-TW" dirty="0" smtClean="0"/>
              <a:t>(</a:t>
            </a:r>
            <a:r>
              <a:rPr lang="en-US" altLang="zh-TW" dirty="0" err="1" smtClean="0"/>
              <a:t>n,k,l</a:t>
            </a:r>
            <a:r>
              <a:rPr lang="en-US" altLang="zh-TW" dirty="0" smtClean="0"/>
              <a:t>) = (6, 4, 1)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797227" y="5661248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1856426" y="5661248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820891" y="5661248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-3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3848598" y="5661248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-4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1310728" y="4714078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3268233" y="4714078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2331988" y="3964885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cxnSp>
        <p:nvCxnSpPr>
          <p:cNvPr id="12" name="直線接點 11"/>
          <p:cNvCxnSpPr>
            <a:stCxn id="8" idx="7"/>
            <a:endCxn id="10" idx="3"/>
          </p:cNvCxnSpPr>
          <p:nvPr/>
        </p:nvCxnSpPr>
        <p:spPr>
          <a:xfrm flipV="1">
            <a:off x="1863892" y="4518049"/>
            <a:ext cx="563004" cy="290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0" idx="5"/>
            <a:endCxn id="9" idx="1"/>
          </p:cNvCxnSpPr>
          <p:nvPr/>
        </p:nvCxnSpPr>
        <p:spPr>
          <a:xfrm>
            <a:off x="2885152" y="4518049"/>
            <a:ext cx="477989" cy="290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4" idx="0"/>
            <a:endCxn id="8" idx="3"/>
          </p:cNvCxnSpPr>
          <p:nvPr/>
        </p:nvCxnSpPr>
        <p:spPr>
          <a:xfrm flipV="1">
            <a:off x="1121263" y="5267242"/>
            <a:ext cx="284373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8" idx="5"/>
            <a:endCxn id="5" idx="0"/>
          </p:cNvCxnSpPr>
          <p:nvPr/>
        </p:nvCxnSpPr>
        <p:spPr>
          <a:xfrm>
            <a:off x="1863892" y="5267242"/>
            <a:ext cx="316570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6" idx="0"/>
            <a:endCxn id="9" idx="3"/>
          </p:cNvCxnSpPr>
          <p:nvPr/>
        </p:nvCxnSpPr>
        <p:spPr>
          <a:xfrm flipV="1">
            <a:off x="3144927" y="5267242"/>
            <a:ext cx="218214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7" idx="0"/>
            <a:endCxn id="9" idx="5"/>
          </p:cNvCxnSpPr>
          <p:nvPr/>
        </p:nvCxnSpPr>
        <p:spPr>
          <a:xfrm flipH="1" flipV="1">
            <a:off x="3821397" y="5267242"/>
            <a:ext cx="351237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77"/>
          <p:cNvSpPr/>
          <p:nvPr/>
        </p:nvSpPr>
        <p:spPr>
          <a:xfrm>
            <a:off x="7104441" y="4840202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-6</a:t>
            </a:r>
            <a:endParaRPr lang="zh-TW" altLang="en-US" dirty="0"/>
          </a:p>
        </p:txBody>
      </p:sp>
      <p:sp>
        <p:nvSpPr>
          <p:cNvPr id="80" name="橢圓 79"/>
          <p:cNvSpPr/>
          <p:nvPr/>
        </p:nvSpPr>
        <p:spPr>
          <a:xfrm>
            <a:off x="6279894" y="3964885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81" name="橢圓 80"/>
          <p:cNvSpPr/>
          <p:nvPr/>
        </p:nvSpPr>
        <p:spPr>
          <a:xfrm>
            <a:off x="5522811" y="4816173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-5</a:t>
            </a:r>
            <a:endParaRPr lang="zh-TW" altLang="en-US" dirty="0"/>
          </a:p>
        </p:txBody>
      </p:sp>
      <p:cxnSp>
        <p:nvCxnSpPr>
          <p:cNvPr id="85" name="直線接點 84"/>
          <p:cNvCxnSpPr>
            <a:stCxn id="80" idx="5"/>
            <a:endCxn id="78" idx="1"/>
          </p:cNvCxnSpPr>
          <p:nvPr/>
        </p:nvCxnSpPr>
        <p:spPr>
          <a:xfrm>
            <a:off x="6833058" y="4518049"/>
            <a:ext cx="366291" cy="417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>
            <a:stCxn id="80" idx="3"/>
            <a:endCxn id="81" idx="7"/>
          </p:cNvCxnSpPr>
          <p:nvPr/>
        </p:nvCxnSpPr>
        <p:spPr>
          <a:xfrm flipH="1">
            <a:off x="6075975" y="4518049"/>
            <a:ext cx="298827" cy="393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894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Structure</a:t>
            </a:r>
            <a:r>
              <a:rPr lang="zh-TW" altLang="en-US" dirty="0"/>
              <a:t> </a:t>
            </a:r>
            <a:r>
              <a:rPr lang="en-US" altLang="zh-TW" dirty="0"/>
              <a:t>of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ea typeface="標楷體" panose="03000509000000000000" pitchFamily="65" charset="-120"/>
              </a:rPr>
              <a:t>最後紀錄</a:t>
            </a:r>
            <a:r>
              <a:rPr lang="en-US" altLang="zh-TW" dirty="0" smtClean="0">
                <a:ea typeface="標楷體" panose="03000509000000000000" pitchFamily="65" charset="-120"/>
              </a:rPr>
              <a:t>full binary tree</a:t>
            </a:r>
            <a:r>
              <a:rPr lang="zh-TW" altLang="en-US" dirty="0" smtClean="0">
                <a:ea typeface="標楷體" panose="03000509000000000000" pitchFamily="65" charset="-120"/>
              </a:rPr>
              <a:t>之順序，</a:t>
            </a:r>
            <a:r>
              <a:rPr lang="en-US" altLang="zh-TW" dirty="0" smtClean="0">
                <a:ea typeface="標楷體" panose="03000509000000000000" pitchFamily="65" charset="-120"/>
              </a:rPr>
              <a:t>tree</a:t>
            </a:r>
            <a:r>
              <a:rPr lang="zh-TW" altLang="en-US" dirty="0" smtClean="0">
                <a:ea typeface="標楷體" panose="03000509000000000000" pitchFamily="65" charset="-120"/>
              </a:rPr>
              <a:t>連</a:t>
            </a:r>
            <a:r>
              <a:rPr lang="zh-TW" altLang="en-US" dirty="0">
                <a:ea typeface="標楷體" panose="03000509000000000000" pitchFamily="65" charset="-120"/>
              </a:rPr>
              <a:t>成</a:t>
            </a:r>
            <a:r>
              <a:rPr lang="en-US" altLang="zh-TW" dirty="0" smtClean="0">
                <a:ea typeface="標楷體" panose="03000509000000000000" pitchFamily="65" charset="-120"/>
              </a:rPr>
              <a:t>circle</a:t>
            </a:r>
            <a:r>
              <a:rPr lang="zh-TW" altLang="en-US" dirty="0" smtClean="0">
                <a:ea typeface="標楷體" panose="03000509000000000000" pitchFamily="65" charset="-120"/>
              </a:rPr>
              <a:t>。</a:t>
            </a:r>
            <a:endParaRPr lang="en-US" altLang="zh-TW" dirty="0" smtClean="0">
              <a:ea typeface="標楷體" panose="03000509000000000000" pitchFamily="65" charset="-12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017043"/>
            <a:ext cx="3724275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321" y="3429000"/>
            <a:ext cx="2255837" cy="154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2218534" y="5597169"/>
            <a:ext cx="834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ree: 1</a:t>
            </a:r>
            <a:br>
              <a:rPr lang="en-US" altLang="zh-TW" dirty="0" smtClean="0"/>
            </a:br>
            <a:r>
              <a:rPr lang="en-US" altLang="zh-TW" dirty="0" smtClean="0"/>
              <a:t>next: 1</a:t>
            </a:r>
            <a:br>
              <a:rPr lang="en-US" altLang="zh-TW" dirty="0" smtClean="0"/>
            </a:br>
            <a:r>
              <a:rPr lang="en-US" altLang="zh-TW" dirty="0" err="1" smtClean="0"/>
              <a:t>prev</a:t>
            </a:r>
            <a:r>
              <a:rPr lang="en-US" altLang="zh-TW" dirty="0" smtClean="0"/>
              <a:t>: 2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6261053" y="5587701"/>
            <a:ext cx="834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Tree: 2</a:t>
            </a:r>
            <a:br>
              <a:rPr lang="en-US" altLang="zh-TW" dirty="0" smtClean="0"/>
            </a:br>
            <a:r>
              <a:rPr lang="en-US" altLang="zh-TW" dirty="0" smtClean="0"/>
              <a:t>next: 1</a:t>
            </a:r>
            <a:br>
              <a:rPr lang="en-US" altLang="zh-TW" dirty="0" smtClean="0"/>
            </a:br>
            <a:r>
              <a:rPr lang="en-US" altLang="zh-TW" dirty="0" err="1" smtClean="0"/>
              <a:t>prev</a:t>
            </a:r>
            <a:r>
              <a:rPr lang="en-US" altLang="zh-TW" dirty="0" smtClean="0"/>
              <a:t>: 1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0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496944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Algorithm for Generating Hit Sequences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this paper, they generate the hit sequences</a:t>
            </a:r>
            <a:r>
              <a:rPr lang="zh-TW" altLang="en-US" dirty="0"/>
              <a:t> </a:t>
            </a:r>
            <a:r>
              <a:rPr lang="en-US" altLang="zh-TW" dirty="0" smtClean="0"/>
              <a:t>in three part.</a:t>
            </a:r>
          </a:p>
          <a:p>
            <a:endParaRPr lang="en-US" altLang="zh-TW" dirty="0"/>
          </a:p>
          <a:p>
            <a:r>
              <a:rPr lang="en-US" altLang="zh-TW" dirty="0" smtClean="0"/>
              <a:t>Build the data structure</a:t>
            </a:r>
          </a:p>
          <a:p>
            <a:r>
              <a:rPr lang="en-US" altLang="zh-TW" dirty="0" smtClean="0"/>
              <a:t>Find the hit object</a:t>
            </a:r>
          </a:p>
          <a:p>
            <a:r>
              <a:rPr lang="en-US" altLang="zh-TW" dirty="0"/>
              <a:t>A</a:t>
            </a:r>
            <a:r>
              <a:rPr lang="en-US" altLang="zh-TW" dirty="0" smtClean="0"/>
              <a:t>djust the tree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850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Build the Data Structure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According to the data structure to build the tree of object.</a:t>
            </a:r>
          </a:p>
          <a:p>
            <a:endParaRPr lang="en-US" altLang="zh-TW" dirty="0"/>
          </a:p>
          <a:p>
            <a:r>
              <a:rPr lang="en-US" altLang="zh-TW" dirty="0" smtClean="0"/>
              <a:t>Full binary tree can store easily in array.</a:t>
            </a:r>
          </a:p>
          <a:p>
            <a:endParaRPr lang="en-US" altLang="zh-TW" dirty="0"/>
          </a:p>
          <a:p>
            <a:r>
              <a:rPr lang="en-US" altLang="zh-TW" dirty="0" smtClean="0"/>
              <a:t>Count the number of active leaf.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017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Find </a:t>
            </a:r>
            <a:r>
              <a:rPr lang="en-US" altLang="zh-TW" dirty="0" smtClean="0"/>
              <a:t>the Hit Object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Use the variable r to record the number of active objects to the right of currently hit node in the full binary tree.</a:t>
            </a:r>
          </a:p>
          <a:p>
            <a:endParaRPr lang="en-US" altLang="zh-TW" dirty="0"/>
          </a:p>
          <a:p>
            <a:r>
              <a:rPr lang="en-US" altLang="zh-TW" dirty="0"/>
              <a:t>V</a:t>
            </a:r>
            <a:r>
              <a:rPr lang="en-US" altLang="zh-TW" dirty="0" smtClean="0"/>
              <a:t>ariable r is useful to find the next hit object.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880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Find the Hit Object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en-US" altLang="zh-TW" dirty="0" smtClean="0"/>
              <a:t>Ex: (n, k, l) = (6, 4, 1), position in tree 1, has 4 active objects, initial  r = 4.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82" y="3429000"/>
            <a:ext cx="3724275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257675"/>
            <a:ext cx="2255837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2051720" y="5797194"/>
            <a:ext cx="834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ree: 1</a:t>
            </a:r>
            <a:br>
              <a:rPr lang="en-US" altLang="zh-TW" dirty="0" smtClean="0"/>
            </a:br>
            <a:r>
              <a:rPr lang="en-US" altLang="zh-TW" dirty="0" smtClean="0"/>
              <a:t>next: 1</a:t>
            </a:r>
            <a:br>
              <a:rPr lang="en-US" altLang="zh-TW" dirty="0" smtClean="0"/>
            </a:br>
            <a:r>
              <a:rPr lang="en-US" altLang="zh-TW" dirty="0" err="1" smtClean="0"/>
              <a:t>prev</a:t>
            </a:r>
            <a:r>
              <a:rPr lang="en-US" altLang="zh-TW" dirty="0" smtClean="0"/>
              <a:t>: 2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261053" y="5797194"/>
            <a:ext cx="834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Tree: 2</a:t>
            </a:r>
            <a:br>
              <a:rPr lang="en-US" altLang="zh-TW" dirty="0" smtClean="0"/>
            </a:br>
            <a:r>
              <a:rPr lang="en-US" altLang="zh-TW" dirty="0" smtClean="0"/>
              <a:t>next: 1</a:t>
            </a:r>
            <a:br>
              <a:rPr lang="en-US" altLang="zh-TW" dirty="0" smtClean="0"/>
            </a:br>
            <a:r>
              <a:rPr lang="en-US" altLang="zh-TW" dirty="0" err="1" smtClean="0"/>
              <a:t>prev</a:t>
            </a:r>
            <a:r>
              <a:rPr lang="en-US" altLang="zh-TW" dirty="0" smtClean="0"/>
              <a:t>: 1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55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Find the Hit Object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1080120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To hit the object, using the method likes binary search. </a:t>
            </a:r>
            <a:endParaRPr lang="zh-TW" altLang="en-US" sz="2800" dirty="0"/>
          </a:p>
        </p:txBody>
      </p:sp>
      <p:sp>
        <p:nvSpPr>
          <p:cNvPr id="4" name="橢圓 3"/>
          <p:cNvSpPr/>
          <p:nvPr/>
        </p:nvSpPr>
        <p:spPr>
          <a:xfrm>
            <a:off x="2496363" y="5295694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3555562" y="5295694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4520027" y="5295694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-3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5547734" y="5295694"/>
            <a:ext cx="648072" cy="64807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-4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3009864" y="4348524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4967369" y="4348524"/>
            <a:ext cx="648072" cy="64807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4031124" y="3599331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</a:t>
            </a:r>
            <a:endParaRPr lang="zh-TW" altLang="en-US" dirty="0"/>
          </a:p>
        </p:txBody>
      </p:sp>
      <p:cxnSp>
        <p:nvCxnSpPr>
          <p:cNvPr id="11" name="直線接點 10"/>
          <p:cNvCxnSpPr>
            <a:stCxn id="8" idx="7"/>
          </p:cNvCxnSpPr>
          <p:nvPr/>
        </p:nvCxnSpPr>
        <p:spPr>
          <a:xfrm flipV="1">
            <a:off x="3563028" y="4152495"/>
            <a:ext cx="563004" cy="290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>
            <a:stCxn id="10" idx="5"/>
            <a:endCxn id="9" idx="1"/>
          </p:cNvCxnSpPr>
          <p:nvPr/>
        </p:nvCxnSpPr>
        <p:spPr>
          <a:xfrm>
            <a:off x="4584288" y="4152495"/>
            <a:ext cx="477989" cy="290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4" idx="0"/>
            <a:endCxn id="8" idx="3"/>
          </p:cNvCxnSpPr>
          <p:nvPr/>
        </p:nvCxnSpPr>
        <p:spPr>
          <a:xfrm flipV="1">
            <a:off x="2820399" y="4901688"/>
            <a:ext cx="284373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8" idx="5"/>
            <a:endCxn id="5" idx="0"/>
          </p:cNvCxnSpPr>
          <p:nvPr/>
        </p:nvCxnSpPr>
        <p:spPr>
          <a:xfrm>
            <a:off x="3563028" y="4901688"/>
            <a:ext cx="316570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6" idx="0"/>
            <a:endCxn id="9" idx="3"/>
          </p:cNvCxnSpPr>
          <p:nvPr/>
        </p:nvCxnSpPr>
        <p:spPr>
          <a:xfrm flipV="1">
            <a:off x="4844063" y="4901688"/>
            <a:ext cx="218214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7" idx="0"/>
            <a:endCxn id="9" idx="5"/>
          </p:cNvCxnSpPr>
          <p:nvPr/>
        </p:nvCxnSpPr>
        <p:spPr>
          <a:xfrm flipH="1" flipV="1">
            <a:off x="5520533" y="4901688"/>
            <a:ext cx="351237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382147" y="2276872"/>
            <a:ext cx="81770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ea typeface="標楷體" panose="03000509000000000000" pitchFamily="65" charset="-120"/>
              </a:rPr>
              <a:t>一開始</a:t>
            </a:r>
            <a:r>
              <a:rPr lang="en-US" altLang="zh-TW" dirty="0" smtClean="0">
                <a:ea typeface="標楷體" panose="03000509000000000000" pitchFamily="65" charset="-120"/>
              </a:rPr>
              <a:t> r = 0</a:t>
            </a:r>
            <a:r>
              <a:rPr lang="zh-TW" altLang="en-US" dirty="0" smtClean="0">
                <a:ea typeface="標楷體" panose="03000509000000000000" pitchFamily="65" charset="-120"/>
              </a:rPr>
              <a:t>，</a:t>
            </a:r>
            <a:r>
              <a:rPr lang="en-US" altLang="zh-TW" dirty="0" smtClean="0">
                <a:ea typeface="標楷體" panose="03000509000000000000" pitchFamily="65" charset="-120"/>
              </a:rPr>
              <a:t>k=4</a:t>
            </a:r>
            <a:r>
              <a:rPr lang="zh-TW" altLang="en-US" dirty="0" smtClean="0">
                <a:ea typeface="標楷體" panose="03000509000000000000" pitchFamily="65" charset="-120"/>
              </a:rPr>
              <a:t>，</a:t>
            </a:r>
            <a:r>
              <a:rPr lang="en-US" altLang="zh-TW" dirty="0" smtClean="0">
                <a:ea typeface="標楷體" panose="03000509000000000000" pitchFamily="65" charset="-120"/>
              </a:rPr>
              <a:t>r&lt;k</a:t>
            </a:r>
            <a:r>
              <a:rPr lang="zh-TW" altLang="en-US" dirty="0" smtClean="0">
                <a:ea typeface="標楷體" panose="03000509000000000000" pitchFamily="65" charset="-120"/>
              </a:rPr>
              <a:t>，將當前</a:t>
            </a:r>
            <a:r>
              <a:rPr lang="en-US" altLang="zh-TW" dirty="0" smtClean="0">
                <a:ea typeface="標楷體" panose="03000509000000000000" pitchFamily="65" charset="-120"/>
              </a:rPr>
              <a:t>tree</a:t>
            </a:r>
            <a:r>
              <a:rPr lang="zh-TW" altLang="en-US" dirty="0" smtClean="0">
                <a:ea typeface="標楷體" panose="03000509000000000000" pitchFamily="65" charset="-120"/>
              </a:rPr>
              <a:t>的</a:t>
            </a:r>
            <a:r>
              <a:rPr lang="en-US" altLang="zh-TW" dirty="0" smtClean="0">
                <a:ea typeface="標楷體" panose="03000509000000000000" pitchFamily="65" charset="-120"/>
              </a:rPr>
              <a:t>leaf</a:t>
            </a:r>
            <a:r>
              <a:rPr lang="zh-TW" altLang="en-US" dirty="0" smtClean="0">
                <a:ea typeface="標楷體" panose="03000509000000000000" pitchFamily="65" charset="-120"/>
              </a:rPr>
              <a:t>引入，</a:t>
            </a:r>
            <a:r>
              <a:rPr lang="zh-TW" altLang="en-US" dirty="0">
                <a:ea typeface="標楷體" panose="03000509000000000000" pitchFamily="65" charset="-120"/>
              </a:rPr>
              <a:t>使得</a:t>
            </a:r>
            <a:r>
              <a:rPr lang="en-US" altLang="zh-TW" dirty="0">
                <a:ea typeface="標楷體" panose="03000509000000000000" pitchFamily="65" charset="-120"/>
              </a:rPr>
              <a:t>r</a:t>
            </a:r>
            <a:r>
              <a:rPr lang="zh-TW" altLang="en-US" dirty="0">
                <a:ea typeface="標楷體" panose="03000509000000000000" pitchFamily="65" charset="-120"/>
              </a:rPr>
              <a:t>足夠數</a:t>
            </a:r>
            <a:r>
              <a:rPr lang="en-US" altLang="zh-TW" dirty="0">
                <a:ea typeface="標楷體" panose="03000509000000000000" pitchFamily="65" charset="-120"/>
              </a:rPr>
              <a:t>k</a:t>
            </a:r>
            <a:r>
              <a:rPr lang="zh-TW" altLang="en-US" dirty="0">
                <a:ea typeface="標楷體" panose="03000509000000000000" pitchFamily="65" charset="-120"/>
              </a:rPr>
              <a:t>次</a:t>
            </a:r>
            <a:r>
              <a:rPr lang="zh-TW" altLang="en-US" dirty="0" smtClean="0">
                <a:ea typeface="標楷體" panose="03000509000000000000" pitchFamily="65" charset="-120"/>
              </a:rPr>
              <a:t>，</a:t>
            </a:r>
            <a:r>
              <a:rPr lang="zh-TW" altLang="en-US" dirty="0">
                <a:ea typeface="標楷體" panose="03000509000000000000" pitchFamily="65" charset="-120"/>
              </a:rPr>
              <a:t>記錄數</a:t>
            </a:r>
            <a:r>
              <a:rPr lang="en-US" altLang="zh-TW" dirty="0">
                <a:ea typeface="標楷體" panose="03000509000000000000" pitchFamily="65" charset="-120"/>
              </a:rPr>
              <a:t>k</a:t>
            </a:r>
            <a:r>
              <a:rPr lang="zh-TW" altLang="en-US" dirty="0">
                <a:ea typeface="標楷體" panose="03000509000000000000" pitchFamily="65" charset="-120"/>
              </a:rPr>
              <a:t>次剩餘</a:t>
            </a:r>
            <a:r>
              <a:rPr lang="zh-TW" altLang="en-US" dirty="0" smtClean="0">
                <a:ea typeface="標楷體" panose="03000509000000000000" pitchFamily="65" charset="-120"/>
              </a:rPr>
              <a:t>的</a:t>
            </a:r>
            <a:r>
              <a:rPr lang="en-US" altLang="zh-TW" dirty="0" smtClean="0">
                <a:ea typeface="標楷體" panose="03000509000000000000" pitchFamily="65" charset="-120"/>
              </a:rPr>
              <a:t>active object number </a:t>
            </a:r>
            <a:r>
              <a:rPr lang="en-US" altLang="zh-TW" dirty="0" err="1" smtClean="0">
                <a:ea typeface="標楷體" panose="03000509000000000000" pitchFamily="65" charset="-120"/>
              </a:rPr>
              <a:t>next_r</a:t>
            </a:r>
            <a:r>
              <a:rPr lang="zh-TW" altLang="en-US" dirty="0" smtClean="0"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ea typeface="標楷體" panose="03000509000000000000" pitchFamily="65" charset="-120"/>
              </a:rPr>
              <a:t>= </a:t>
            </a:r>
            <a:r>
              <a:rPr lang="en-US" altLang="zh-TW" dirty="0">
                <a:ea typeface="標楷體" panose="03000509000000000000" pitchFamily="65" charset="-120"/>
              </a:rPr>
              <a:t>r-k</a:t>
            </a:r>
            <a:r>
              <a:rPr lang="zh-TW" altLang="en-US" dirty="0" smtClean="0">
                <a:ea typeface="標楷體" panose="03000509000000000000" pitchFamily="65" charset="-120"/>
              </a:rPr>
              <a:t>，</a:t>
            </a:r>
            <a:r>
              <a:rPr lang="zh-TW" altLang="en-US" dirty="0">
                <a:ea typeface="標楷體" panose="03000509000000000000" pitchFamily="65" charset="-120"/>
              </a:rPr>
              <a:t>藉</a:t>
            </a:r>
            <a:r>
              <a:rPr lang="zh-TW" altLang="en-US" dirty="0" smtClean="0">
                <a:ea typeface="標楷體" panose="03000509000000000000" pitchFamily="65" charset="-120"/>
              </a:rPr>
              <a:t>由</a:t>
            </a:r>
            <a:r>
              <a:rPr lang="en-US" altLang="zh-TW" dirty="0" smtClean="0">
                <a:ea typeface="標楷體" panose="03000509000000000000" pitchFamily="65" charset="-120"/>
              </a:rPr>
              <a:t>node</a:t>
            </a:r>
            <a:r>
              <a:rPr lang="zh-TW" altLang="en-US" dirty="0" smtClean="0">
                <a:ea typeface="標楷體" panose="03000509000000000000" pitchFamily="65" charset="-120"/>
              </a:rPr>
              <a:t>上的</a:t>
            </a:r>
            <a:r>
              <a:rPr lang="en-US" altLang="zh-TW" dirty="0" smtClean="0">
                <a:ea typeface="標楷體" panose="03000509000000000000" pitchFamily="65" charset="-120"/>
              </a:rPr>
              <a:t>active number</a:t>
            </a:r>
            <a:r>
              <a:rPr lang="zh-TW" altLang="en-US" dirty="0" smtClean="0">
                <a:ea typeface="標楷體" panose="03000509000000000000" pitchFamily="65" charset="-120"/>
              </a:rPr>
              <a:t>，從右邊</a:t>
            </a:r>
            <a:r>
              <a:rPr lang="en-US" altLang="zh-TW" dirty="0" smtClean="0">
                <a:ea typeface="標楷體" panose="03000509000000000000" pitchFamily="65" charset="-120"/>
              </a:rPr>
              <a:t>node</a:t>
            </a:r>
            <a:r>
              <a:rPr lang="zh-TW" altLang="en-US" dirty="0">
                <a:ea typeface="標楷體" panose="03000509000000000000" pitchFamily="65" charset="-120"/>
              </a:rPr>
              <a:t>開始找</a:t>
            </a:r>
            <a:r>
              <a:rPr lang="zh-TW" altLang="en-US" dirty="0" smtClean="0">
                <a:ea typeface="標楷體" panose="03000509000000000000" pitchFamily="65" charset="-120"/>
              </a:rPr>
              <a:t>，</a:t>
            </a:r>
            <a:r>
              <a:rPr lang="zh-TW" altLang="en-US" dirty="0">
                <a:ea typeface="標楷體" panose="03000509000000000000" pitchFamily="65" charset="-120"/>
              </a:rPr>
              <a:t>先</a:t>
            </a:r>
            <a:r>
              <a:rPr lang="zh-TW" altLang="en-US" dirty="0" smtClean="0">
                <a:ea typeface="標楷體" panose="03000509000000000000" pitchFamily="65" charset="-120"/>
              </a:rPr>
              <a:t>看</a:t>
            </a:r>
            <a:r>
              <a:rPr lang="en-US" altLang="zh-TW" dirty="0" smtClean="0">
                <a:ea typeface="標楷體" panose="03000509000000000000" pitchFamily="65" charset="-120"/>
              </a:rPr>
              <a:t>node(2)</a:t>
            </a:r>
            <a:r>
              <a:rPr lang="zh-TW" altLang="en-US" dirty="0" smtClean="0">
                <a:ea typeface="標楷體" panose="03000509000000000000" pitchFamily="65" charset="-120"/>
              </a:rPr>
              <a:t>，</a:t>
            </a:r>
            <a:r>
              <a:rPr lang="en-US" altLang="zh-TW" dirty="0" smtClean="0">
                <a:ea typeface="標楷體" panose="03000509000000000000" pitchFamily="65" charset="-120"/>
              </a:rPr>
              <a:t>active number = 2</a:t>
            </a:r>
            <a:r>
              <a:rPr lang="zh-TW" altLang="en-US" dirty="0" smtClean="0">
                <a:ea typeface="標楷體" panose="03000509000000000000" pitchFamily="65" charset="-120"/>
              </a:rPr>
              <a:t>，</a:t>
            </a:r>
            <a:r>
              <a:rPr lang="en-US" altLang="zh-TW" dirty="0" smtClean="0">
                <a:ea typeface="標楷體" panose="03000509000000000000" pitchFamily="65" charset="-120"/>
              </a:rPr>
              <a:t>r-2 &lt; k </a:t>
            </a:r>
            <a:r>
              <a:rPr lang="zh-TW" altLang="en-US" dirty="0" smtClean="0">
                <a:ea typeface="標楷體" panose="03000509000000000000" pitchFamily="65" charset="-120"/>
              </a:rPr>
              <a:t>表示減去</a:t>
            </a:r>
            <a:r>
              <a:rPr lang="en-US" altLang="zh-TW" dirty="0" smtClean="0">
                <a:ea typeface="標楷體" panose="03000509000000000000" pitchFamily="65" charset="-120"/>
              </a:rPr>
              <a:t>node(2)</a:t>
            </a:r>
            <a:r>
              <a:rPr lang="zh-TW" altLang="en-US" dirty="0" smtClean="0">
                <a:ea typeface="標楷體" panose="03000509000000000000" pitchFamily="65" charset="-120"/>
              </a:rPr>
              <a:t>的兩個</a:t>
            </a:r>
            <a:r>
              <a:rPr lang="en-US" altLang="zh-TW" dirty="0" smtClean="0">
                <a:ea typeface="標楷體" panose="03000509000000000000" pitchFamily="65" charset="-120"/>
              </a:rPr>
              <a:t>leaf </a:t>
            </a:r>
            <a:r>
              <a:rPr lang="zh-TW" altLang="en-US" dirty="0" smtClean="0">
                <a:ea typeface="標楷體" panose="03000509000000000000" pitchFamily="65" charset="-120"/>
              </a:rPr>
              <a:t>還不足以數完</a:t>
            </a:r>
            <a:r>
              <a:rPr lang="en-US" altLang="zh-TW" dirty="0" smtClean="0">
                <a:ea typeface="標楷體" panose="03000509000000000000" pitchFamily="65" charset="-120"/>
              </a:rPr>
              <a:t>k</a:t>
            </a:r>
            <a:r>
              <a:rPr lang="zh-TW" altLang="en-US" dirty="0" smtClean="0">
                <a:ea typeface="標楷體" panose="03000509000000000000" pitchFamily="65" charset="-120"/>
              </a:rPr>
              <a:t>次</a:t>
            </a:r>
            <a:r>
              <a:rPr lang="en-US" altLang="zh-TW" dirty="0" smtClean="0"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ea typeface="標楷體" panose="03000509000000000000" pitchFamily="65" charset="-120"/>
              </a:rPr>
              <a:t>，</a:t>
            </a:r>
            <a:r>
              <a:rPr lang="zh-TW" altLang="en-US" dirty="0">
                <a:ea typeface="標楷體" panose="03000509000000000000" pitchFamily="65" charset="-120"/>
              </a:rPr>
              <a:t>有</a:t>
            </a:r>
            <a:r>
              <a:rPr lang="en-US" altLang="zh-TW" dirty="0">
                <a:ea typeface="標楷體" panose="03000509000000000000" pitchFamily="65" charset="-120"/>
              </a:rPr>
              <a:t>hit </a:t>
            </a:r>
            <a:r>
              <a:rPr lang="en-US" altLang="zh-TW" dirty="0" smtClean="0">
                <a:ea typeface="標楷體" panose="03000509000000000000" pitchFamily="65" charset="-120"/>
              </a:rPr>
              <a:t>object</a:t>
            </a:r>
            <a:r>
              <a:rPr lang="zh-TW" altLang="en-US" dirty="0" smtClean="0">
                <a:ea typeface="標楷體" panose="03000509000000000000" pitchFamily="65" charset="-120"/>
              </a:rPr>
              <a:t>在</a:t>
            </a:r>
            <a:r>
              <a:rPr lang="en-US" altLang="zh-TW" dirty="0" smtClean="0">
                <a:ea typeface="標楷體" panose="03000509000000000000" pitchFamily="65" charset="-120"/>
              </a:rPr>
              <a:t> </a:t>
            </a:r>
            <a:r>
              <a:rPr lang="en-US" altLang="zh-TW" dirty="0" err="1" smtClean="0">
                <a:ea typeface="標楷體" panose="03000509000000000000" pitchFamily="65" charset="-120"/>
              </a:rPr>
              <a:t>subtree</a:t>
            </a:r>
            <a:r>
              <a:rPr lang="zh-TW" altLang="en-US" dirty="0" smtClean="0">
                <a:ea typeface="標楷體" panose="03000509000000000000" pitchFamily="65" charset="-120"/>
              </a:rPr>
              <a:t>中，以此類推，當遇到</a:t>
            </a:r>
            <a:r>
              <a:rPr lang="en-US" altLang="zh-TW" dirty="0" smtClean="0">
                <a:ea typeface="標楷體" panose="03000509000000000000" pitchFamily="65" charset="-120"/>
              </a:rPr>
              <a:t>leaf</a:t>
            </a:r>
            <a:r>
              <a:rPr lang="zh-TW" altLang="en-US" dirty="0" smtClean="0">
                <a:ea typeface="標楷體" panose="03000509000000000000" pitchFamily="65" charset="-120"/>
              </a:rPr>
              <a:t>表示找到</a:t>
            </a:r>
            <a:r>
              <a:rPr lang="en-US" altLang="zh-TW" dirty="0" smtClean="0">
                <a:ea typeface="標楷體" panose="03000509000000000000" pitchFamily="65" charset="-120"/>
              </a:rPr>
              <a:t>hit object</a:t>
            </a:r>
            <a:r>
              <a:rPr lang="zh-TW" altLang="en-US" dirty="0" smtClean="0">
                <a:ea typeface="標楷體" panose="03000509000000000000" pitchFamily="65" charset="-120"/>
              </a:rPr>
              <a:t>。</a:t>
            </a:r>
            <a:endParaRPr lang="en-US" altLang="zh-TW" dirty="0" smtClean="0">
              <a:ea typeface="標楷體" panose="03000509000000000000" pitchFamily="65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218341" y="422845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0</a:t>
            </a:r>
            <a:endParaRPr lang="zh-TW" altLang="en-US" sz="1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195881" y="499543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1</a:t>
            </a:r>
            <a:endParaRPr lang="zh-TW" altLang="en-US" sz="1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5153386" y="49879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2</a:t>
            </a:r>
            <a:endParaRPr lang="zh-TW" altLang="en-US" sz="1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2682380" y="593141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</a:t>
            </a:r>
            <a:endParaRPr lang="zh-TW" altLang="en-US" sz="1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3805381" y="593141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4</a:t>
            </a:r>
            <a:endParaRPr lang="zh-TW" altLang="en-US" sz="14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4728569" y="592553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5</a:t>
            </a:r>
            <a:endParaRPr lang="zh-TW" altLang="en-US" sz="14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5733751" y="592553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6</a:t>
            </a:r>
            <a:endParaRPr lang="zh-TW" altLang="en-US" sz="1400" dirty="0"/>
          </a:p>
        </p:txBody>
      </p:sp>
      <p:sp>
        <p:nvSpPr>
          <p:cNvPr id="36" name="投影片編號版面配置區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5871770" y="4443432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 – 2 = 2, 2 &lt; k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6293488" y="5315861"/>
            <a:ext cx="21452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 – 1 = 3, 3 &lt; k</a:t>
            </a:r>
            <a:br>
              <a:rPr lang="en-US" altLang="zh-TW" dirty="0" smtClean="0"/>
            </a:br>
            <a:r>
              <a:rPr lang="en-US" altLang="zh-TW" dirty="0" smtClean="0"/>
              <a:t>It’s leaf. </a:t>
            </a:r>
            <a:br>
              <a:rPr lang="en-US" altLang="zh-TW" dirty="0" smtClean="0"/>
            </a:br>
            <a:r>
              <a:rPr lang="en-US" altLang="zh-TW" dirty="0" smtClean="0"/>
              <a:t>Found the hit object.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931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Find the Hit Object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4015" y="1196753"/>
            <a:ext cx="8229600" cy="576064"/>
          </a:xfrm>
        </p:spPr>
        <p:txBody>
          <a:bodyPr>
            <a:noAutofit/>
          </a:bodyPr>
          <a:lstStyle/>
          <a:p>
            <a:r>
              <a:rPr lang="zh-TW" altLang="en-US" dirty="0" smtClean="0">
                <a:ea typeface="標楷體" panose="03000509000000000000" pitchFamily="65" charset="-120"/>
              </a:rPr>
              <a:t>當前的</a:t>
            </a:r>
            <a:r>
              <a:rPr lang="en-US" altLang="zh-TW" dirty="0" smtClean="0">
                <a:ea typeface="標楷體" panose="03000509000000000000" pitchFamily="65" charset="-120"/>
              </a:rPr>
              <a:t>tree</a:t>
            </a:r>
            <a:r>
              <a:rPr lang="zh-TW" altLang="en-US" dirty="0" smtClean="0">
                <a:ea typeface="標楷體" panose="03000509000000000000" pitchFamily="65" charset="-120"/>
              </a:rPr>
              <a:t>中的</a:t>
            </a:r>
            <a:r>
              <a:rPr lang="en-US" altLang="zh-TW" dirty="0" smtClean="0">
                <a:ea typeface="標楷體" panose="03000509000000000000" pitchFamily="65" charset="-120"/>
              </a:rPr>
              <a:t>leaf</a:t>
            </a:r>
            <a:r>
              <a:rPr lang="zh-TW" altLang="en-US" dirty="0" smtClean="0">
                <a:ea typeface="標楷體" panose="03000509000000000000" pitchFamily="65" charset="-120"/>
              </a:rPr>
              <a:t>不足</a:t>
            </a:r>
            <a:r>
              <a:rPr lang="en-US" altLang="zh-TW" dirty="0" smtClean="0">
                <a:ea typeface="標楷體" panose="03000509000000000000" pitchFamily="65" charset="-120"/>
              </a:rPr>
              <a:t>k</a:t>
            </a:r>
            <a:r>
              <a:rPr lang="zh-TW" altLang="en-US" dirty="0" smtClean="0">
                <a:ea typeface="標楷體" panose="03000509000000000000" pitchFamily="65" charset="-120"/>
              </a:rPr>
              <a:t>的情況</a:t>
            </a:r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4" name="橢圓 3"/>
          <p:cNvSpPr/>
          <p:nvPr/>
        </p:nvSpPr>
        <p:spPr>
          <a:xfrm>
            <a:off x="2044287" y="4778397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-6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1219740" y="3903080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462657" y="4754368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-5</a:t>
            </a:r>
            <a:endParaRPr lang="zh-TW" altLang="en-US" dirty="0"/>
          </a:p>
        </p:txBody>
      </p:sp>
      <p:cxnSp>
        <p:nvCxnSpPr>
          <p:cNvPr id="7" name="直線接點 6"/>
          <p:cNvCxnSpPr>
            <a:stCxn id="5" idx="5"/>
            <a:endCxn id="4" idx="1"/>
          </p:cNvCxnSpPr>
          <p:nvPr/>
        </p:nvCxnSpPr>
        <p:spPr>
          <a:xfrm>
            <a:off x="1772904" y="4456244"/>
            <a:ext cx="366291" cy="417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>
            <a:stCxn id="5" idx="3"/>
          </p:cNvCxnSpPr>
          <p:nvPr/>
        </p:nvCxnSpPr>
        <p:spPr>
          <a:xfrm flipH="1">
            <a:off x="1015821" y="4456244"/>
            <a:ext cx="298827" cy="393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1401104" y="455115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0</a:t>
            </a:r>
            <a:endParaRPr lang="zh-TW" altLang="en-US" sz="1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48674" y="542646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</a:t>
            </a:r>
            <a:endParaRPr lang="zh-TW" altLang="en-US" sz="1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2230304" y="542646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2</a:t>
            </a:r>
            <a:endParaRPr lang="zh-TW" altLang="en-US" sz="1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154404" y="5568377"/>
            <a:ext cx="834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Tree: 2</a:t>
            </a:r>
            <a:br>
              <a:rPr lang="en-US" altLang="zh-TW" dirty="0" smtClean="0"/>
            </a:br>
            <a:r>
              <a:rPr lang="en-US" altLang="zh-TW" dirty="0" smtClean="0"/>
              <a:t>next: 1</a:t>
            </a:r>
            <a:br>
              <a:rPr lang="en-US" altLang="zh-TW" dirty="0" smtClean="0"/>
            </a:br>
            <a:r>
              <a:rPr lang="en-US" altLang="zh-TW" dirty="0" err="1" smtClean="0"/>
              <a:t>prev</a:t>
            </a:r>
            <a:r>
              <a:rPr lang="en-US" altLang="zh-TW" dirty="0" smtClean="0"/>
              <a:t>: 1</a:t>
            </a:r>
            <a:endParaRPr lang="zh-TW" altLang="en-US" dirty="0"/>
          </a:p>
        </p:txBody>
      </p:sp>
      <p:sp>
        <p:nvSpPr>
          <p:cNvPr id="13" name="橢圓 12"/>
          <p:cNvSpPr/>
          <p:nvPr/>
        </p:nvSpPr>
        <p:spPr>
          <a:xfrm>
            <a:off x="3779017" y="4819255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14" name="橢圓 13"/>
          <p:cNvSpPr/>
          <p:nvPr/>
        </p:nvSpPr>
        <p:spPr>
          <a:xfrm>
            <a:off x="4838216" y="4819255"/>
            <a:ext cx="648072" cy="64807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-2</a:t>
            </a:r>
            <a:endParaRPr lang="zh-TW" altLang="en-US" dirty="0"/>
          </a:p>
        </p:txBody>
      </p:sp>
      <p:sp>
        <p:nvSpPr>
          <p:cNvPr id="15" name="橢圓 14"/>
          <p:cNvSpPr/>
          <p:nvPr/>
        </p:nvSpPr>
        <p:spPr>
          <a:xfrm>
            <a:off x="5802681" y="4819255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-3</a:t>
            </a:r>
            <a:endParaRPr lang="zh-TW" altLang="en-US" dirty="0"/>
          </a:p>
        </p:txBody>
      </p:sp>
      <p:sp>
        <p:nvSpPr>
          <p:cNvPr id="16" name="橢圓 15"/>
          <p:cNvSpPr/>
          <p:nvPr/>
        </p:nvSpPr>
        <p:spPr>
          <a:xfrm>
            <a:off x="6830388" y="4819255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17" name="橢圓 16"/>
          <p:cNvSpPr/>
          <p:nvPr/>
        </p:nvSpPr>
        <p:spPr>
          <a:xfrm>
            <a:off x="4292518" y="3872085"/>
            <a:ext cx="648072" cy="64807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8" name="橢圓 17"/>
          <p:cNvSpPr/>
          <p:nvPr/>
        </p:nvSpPr>
        <p:spPr>
          <a:xfrm>
            <a:off x="6250023" y="3872085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9" name="橢圓 18"/>
          <p:cNvSpPr/>
          <p:nvPr/>
        </p:nvSpPr>
        <p:spPr>
          <a:xfrm>
            <a:off x="5313778" y="3122892"/>
            <a:ext cx="648072" cy="64807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20" name="直線接點 19"/>
          <p:cNvCxnSpPr>
            <a:stCxn id="17" idx="7"/>
          </p:cNvCxnSpPr>
          <p:nvPr/>
        </p:nvCxnSpPr>
        <p:spPr>
          <a:xfrm flipV="1">
            <a:off x="4845682" y="3676056"/>
            <a:ext cx="563004" cy="290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9" idx="5"/>
            <a:endCxn id="18" idx="1"/>
          </p:cNvCxnSpPr>
          <p:nvPr/>
        </p:nvCxnSpPr>
        <p:spPr>
          <a:xfrm>
            <a:off x="5866942" y="3676056"/>
            <a:ext cx="477989" cy="290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3" idx="0"/>
            <a:endCxn id="17" idx="3"/>
          </p:cNvCxnSpPr>
          <p:nvPr/>
        </p:nvCxnSpPr>
        <p:spPr>
          <a:xfrm flipV="1">
            <a:off x="4103053" y="4425249"/>
            <a:ext cx="284373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7" idx="5"/>
            <a:endCxn id="14" idx="0"/>
          </p:cNvCxnSpPr>
          <p:nvPr/>
        </p:nvCxnSpPr>
        <p:spPr>
          <a:xfrm>
            <a:off x="4845682" y="4425249"/>
            <a:ext cx="316570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0"/>
            <a:endCxn id="18" idx="3"/>
          </p:cNvCxnSpPr>
          <p:nvPr/>
        </p:nvCxnSpPr>
        <p:spPr>
          <a:xfrm flipV="1">
            <a:off x="6126717" y="4425249"/>
            <a:ext cx="218214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6" idx="0"/>
            <a:endCxn id="18" idx="5"/>
          </p:cNvCxnSpPr>
          <p:nvPr/>
        </p:nvCxnSpPr>
        <p:spPr>
          <a:xfrm flipH="1" flipV="1">
            <a:off x="6803187" y="4425249"/>
            <a:ext cx="351237" cy="39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6235786" y="5580358"/>
            <a:ext cx="834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ree: 1</a:t>
            </a:r>
            <a:br>
              <a:rPr lang="en-US" altLang="zh-TW" dirty="0" smtClean="0"/>
            </a:br>
            <a:r>
              <a:rPr lang="en-US" altLang="zh-TW" dirty="0" smtClean="0"/>
              <a:t>next: 1</a:t>
            </a:r>
            <a:br>
              <a:rPr lang="en-US" altLang="zh-TW" dirty="0" smtClean="0"/>
            </a:br>
            <a:r>
              <a:rPr lang="en-US" altLang="zh-TW" dirty="0" err="1" smtClean="0"/>
              <a:t>prev</a:t>
            </a:r>
            <a:r>
              <a:rPr lang="en-US" altLang="zh-TW" dirty="0" smtClean="0"/>
              <a:t>: 2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5500995" y="375201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0</a:t>
            </a:r>
            <a:endParaRPr lang="zh-TW" altLang="en-US" sz="1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4478535" y="451899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1</a:t>
            </a:r>
            <a:endParaRPr lang="zh-TW" altLang="en-US" sz="1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6436040" y="451147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2</a:t>
            </a:r>
            <a:endParaRPr lang="zh-TW" altLang="en-US" sz="1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3965034" y="545497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3</a:t>
            </a:r>
            <a:endParaRPr lang="zh-TW" altLang="en-US" sz="14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5088035" y="545497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4</a:t>
            </a:r>
            <a:endParaRPr lang="zh-TW" altLang="en-US" sz="14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6011223" y="544909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5</a:t>
            </a:r>
            <a:endParaRPr lang="zh-TW" altLang="en-US" sz="14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7016405" y="54490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6</a:t>
            </a:r>
            <a:endParaRPr lang="zh-TW" altLang="en-US" sz="14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338293" y="1735583"/>
            <a:ext cx="83659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 smtClean="0">
                <a:ea typeface="標楷體" panose="03000509000000000000" pitchFamily="65" charset="-120"/>
              </a:rPr>
              <a:t>續前頁</a:t>
            </a:r>
            <a:r>
              <a:rPr lang="en-US" altLang="zh-TW" sz="2000" dirty="0" smtClean="0">
                <a:ea typeface="標楷體" panose="03000509000000000000" pitchFamily="65" charset="-120"/>
              </a:rPr>
              <a:t/>
            </a:r>
            <a:br>
              <a:rPr lang="en-US" altLang="zh-TW" sz="2000" dirty="0" smtClean="0">
                <a:ea typeface="標楷體" panose="03000509000000000000" pitchFamily="65" charset="-120"/>
              </a:rPr>
            </a:br>
            <a:r>
              <a:rPr lang="en-US" altLang="zh-TW" sz="2000" dirty="0" smtClean="0">
                <a:ea typeface="標楷體" panose="03000509000000000000" pitchFamily="65" charset="-120"/>
              </a:rPr>
              <a:t>r=2 &lt; k</a:t>
            </a:r>
            <a:r>
              <a:rPr lang="zh-TW" altLang="en-US" sz="2000" dirty="0" smtClean="0">
                <a:ea typeface="標楷體" panose="03000509000000000000" pitchFamily="65" charset="-120"/>
              </a:rPr>
              <a:t>，表示當前</a:t>
            </a:r>
            <a:r>
              <a:rPr lang="en-US" altLang="zh-TW" sz="2000" dirty="0" smtClean="0">
                <a:ea typeface="標楷體" panose="03000509000000000000" pitchFamily="65" charset="-120"/>
              </a:rPr>
              <a:t>tree</a:t>
            </a:r>
            <a:r>
              <a:rPr lang="zh-TW" altLang="en-US" sz="2000" dirty="0" smtClean="0">
                <a:ea typeface="標楷體" panose="03000509000000000000" pitchFamily="65" charset="-120"/>
              </a:rPr>
              <a:t>中沒有</a:t>
            </a:r>
            <a:r>
              <a:rPr lang="en-US" altLang="zh-TW" sz="2000" dirty="0" smtClean="0">
                <a:ea typeface="標楷體" panose="03000509000000000000" pitchFamily="65" charset="-120"/>
              </a:rPr>
              <a:t>hit object</a:t>
            </a:r>
            <a:r>
              <a:rPr lang="zh-TW" altLang="en-US" sz="2000" dirty="0" smtClean="0">
                <a:ea typeface="標楷體" panose="03000509000000000000" pitchFamily="65" charset="-120"/>
              </a:rPr>
              <a:t>，將下一個</a:t>
            </a:r>
            <a:r>
              <a:rPr lang="en-US" altLang="zh-TW" sz="2000" dirty="0" smtClean="0">
                <a:ea typeface="標楷體" panose="03000509000000000000" pitchFamily="65" charset="-120"/>
              </a:rPr>
              <a:t>tree</a:t>
            </a:r>
            <a:r>
              <a:rPr lang="zh-TW" altLang="en-US" sz="2000" dirty="0" smtClean="0">
                <a:ea typeface="標楷體" panose="03000509000000000000" pitchFamily="65" charset="-120"/>
              </a:rPr>
              <a:t>的</a:t>
            </a:r>
            <a:r>
              <a:rPr lang="en-US" altLang="zh-TW" sz="2000" dirty="0" smtClean="0">
                <a:ea typeface="標楷體" panose="03000509000000000000" pitchFamily="65" charset="-120"/>
              </a:rPr>
              <a:t>leaf</a:t>
            </a:r>
            <a:r>
              <a:rPr lang="zh-TW" altLang="en-US" sz="2000" dirty="0" smtClean="0">
                <a:ea typeface="標楷體" panose="03000509000000000000" pitchFamily="65" charset="-120"/>
              </a:rPr>
              <a:t>引入，</a:t>
            </a:r>
            <a:r>
              <a:rPr lang="en-US" altLang="zh-TW" sz="2000" dirty="0" smtClean="0">
                <a:ea typeface="標楷體" panose="03000509000000000000" pitchFamily="65" charset="-120"/>
              </a:rPr>
              <a:t>tree2 </a:t>
            </a:r>
            <a:r>
              <a:rPr lang="zh-TW" altLang="en-US" sz="2000" dirty="0" smtClean="0">
                <a:ea typeface="標楷體" panose="03000509000000000000" pitchFamily="65" charset="-120"/>
              </a:rPr>
              <a:t>的</a:t>
            </a:r>
            <a:endParaRPr lang="en-US" altLang="zh-TW" sz="2000" dirty="0" smtClean="0">
              <a:ea typeface="標楷體" panose="03000509000000000000" pitchFamily="65" charset="-120"/>
            </a:endParaRPr>
          </a:p>
          <a:p>
            <a:r>
              <a:rPr lang="zh-TW" altLang="en-US" sz="2000" dirty="0" smtClean="0">
                <a:ea typeface="標楷體" panose="03000509000000000000" pitchFamily="65" charset="-120"/>
              </a:rPr>
              <a:t>下一個是</a:t>
            </a:r>
            <a:r>
              <a:rPr lang="en-US" altLang="zh-TW" sz="2000" dirty="0" smtClean="0">
                <a:ea typeface="標楷體" panose="03000509000000000000" pitchFamily="65" charset="-120"/>
              </a:rPr>
              <a:t>tree1</a:t>
            </a:r>
            <a:r>
              <a:rPr lang="zh-TW" altLang="en-US" sz="2000" dirty="0" smtClean="0">
                <a:ea typeface="標楷體" panose="03000509000000000000" pitchFamily="65" charset="-120"/>
              </a:rPr>
              <a:t>，</a:t>
            </a:r>
            <a:r>
              <a:rPr lang="en-US" altLang="zh-TW" sz="2000" dirty="0" smtClean="0">
                <a:ea typeface="標楷體" panose="03000509000000000000" pitchFamily="65" charset="-120"/>
              </a:rPr>
              <a:t>r </a:t>
            </a:r>
            <a:r>
              <a:rPr lang="en-US" altLang="zh-TW" sz="2000" dirty="0">
                <a:ea typeface="標楷體" panose="03000509000000000000" pitchFamily="65" charset="-120"/>
              </a:rPr>
              <a:t>= </a:t>
            </a:r>
            <a:r>
              <a:rPr lang="en-US" altLang="zh-TW" sz="2000" dirty="0" smtClean="0">
                <a:ea typeface="標楷體" panose="03000509000000000000" pitchFamily="65" charset="-120"/>
              </a:rPr>
              <a:t>r+3 = 5</a:t>
            </a:r>
            <a:r>
              <a:rPr lang="zh-TW" altLang="en-US" sz="2000" dirty="0" smtClean="0">
                <a:ea typeface="標楷體" panose="03000509000000000000" pitchFamily="65" charset="-120"/>
              </a:rPr>
              <a:t>，</a:t>
            </a:r>
            <a:r>
              <a:rPr lang="en-US" altLang="zh-TW" sz="2000" dirty="0" smtClean="0">
                <a:ea typeface="標楷體" panose="03000509000000000000" pitchFamily="65" charset="-120"/>
              </a:rPr>
              <a:t>r &gt; k</a:t>
            </a:r>
            <a:r>
              <a:rPr lang="zh-TW" altLang="en-US" sz="2000" dirty="0" smtClean="0">
                <a:ea typeface="標楷體" panose="03000509000000000000" pitchFamily="65" charset="-120"/>
              </a:rPr>
              <a:t>，</a:t>
            </a:r>
            <a:r>
              <a:rPr lang="en-US" altLang="zh-TW" sz="2000" dirty="0" smtClean="0">
                <a:ea typeface="標楷體" panose="03000509000000000000" pitchFamily="65" charset="-120"/>
              </a:rPr>
              <a:t>hit</a:t>
            </a:r>
            <a:r>
              <a:rPr lang="zh-TW" altLang="en-US" sz="2000" dirty="0" smtClean="0">
                <a:ea typeface="標楷體" panose="03000509000000000000" pitchFamily="65" charset="-120"/>
              </a:rPr>
              <a:t> </a:t>
            </a:r>
            <a:r>
              <a:rPr lang="en-US" altLang="zh-TW" sz="2000" dirty="0" smtClean="0">
                <a:ea typeface="標楷體" panose="03000509000000000000" pitchFamily="65" charset="-120"/>
              </a:rPr>
              <a:t>object</a:t>
            </a:r>
            <a:r>
              <a:rPr lang="zh-TW" altLang="en-US" sz="2000" dirty="0" smtClean="0">
                <a:ea typeface="標楷體" panose="03000509000000000000" pitchFamily="65" charset="-120"/>
              </a:rPr>
              <a:t>在</a:t>
            </a:r>
            <a:r>
              <a:rPr lang="en-US" altLang="zh-TW" sz="2000" dirty="0" smtClean="0">
                <a:ea typeface="標楷體" panose="03000509000000000000" pitchFamily="65" charset="-120"/>
              </a:rPr>
              <a:t>tree1</a:t>
            </a:r>
            <a:r>
              <a:rPr lang="zh-TW" altLang="en-US" sz="2000" dirty="0" smtClean="0">
                <a:ea typeface="標楷體" panose="03000509000000000000" pitchFamily="65" charset="-120"/>
              </a:rPr>
              <a:t>中，重複之前步驟，</a:t>
            </a:r>
            <a:endParaRPr lang="en-US" altLang="zh-TW" sz="2000" dirty="0" smtClean="0">
              <a:ea typeface="標楷體" panose="03000509000000000000" pitchFamily="65" charset="-120"/>
            </a:endParaRPr>
          </a:p>
          <a:p>
            <a:r>
              <a:rPr lang="zh-TW" altLang="en-US" sz="2000" dirty="0" smtClean="0">
                <a:ea typeface="標楷體" panose="03000509000000000000" pitchFamily="65" charset="-120"/>
              </a:rPr>
              <a:t>找到</a:t>
            </a:r>
            <a:r>
              <a:rPr lang="en-US" altLang="zh-TW" sz="2000" dirty="0" smtClean="0">
                <a:ea typeface="標楷體" panose="03000509000000000000" pitchFamily="65" charset="-120"/>
              </a:rPr>
              <a:t>hit object</a:t>
            </a:r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36" name="投影片編號版面配置區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34" name="文字方塊 33"/>
          <p:cNvSpPr txBox="1"/>
          <p:nvPr/>
        </p:nvSpPr>
        <p:spPr>
          <a:xfrm>
            <a:off x="1015821" y="33826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不足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k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9" name="向右箭號 38"/>
          <p:cNvSpPr/>
          <p:nvPr/>
        </p:nvSpPr>
        <p:spPr>
          <a:xfrm>
            <a:off x="2843808" y="4551152"/>
            <a:ext cx="324036" cy="1673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5003967" y="275341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 = r+3 = 5</a:t>
            </a:r>
            <a:endParaRPr lang="zh-TW" altLang="en-US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154424" y="3770964"/>
            <a:ext cx="981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ea typeface="標楷體" panose="03000509000000000000" pitchFamily="65" charset="-120"/>
              </a:rPr>
              <a:t>r</a:t>
            </a:r>
            <a:r>
              <a:rPr lang="zh-TW" altLang="en-US" dirty="0" smtClean="0"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ea typeface="標楷體" panose="03000509000000000000" pitchFamily="65" charset="-120"/>
              </a:rPr>
              <a:t>– 1 = k</a:t>
            </a:r>
            <a:br>
              <a:rPr lang="en-US" altLang="zh-TW" dirty="0" smtClean="0">
                <a:ea typeface="標楷體" panose="03000509000000000000" pitchFamily="65" charset="-120"/>
              </a:rPr>
            </a:br>
            <a:r>
              <a:rPr lang="zh-TW" altLang="en-US" dirty="0">
                <a:ea typeface="標楷體" panose="03000509000000000000" pitchFamily="65" charset="-120"/>
              </a:rPr>
              <a:t>超過</a:t>
            </a:r>
            <a:r>
              <a:rPr lang="en-US" altLang="zh-TW" dirty="0" smtClean="0">
                <a:ea typeface="標楷體" panose="03000509000000000000" pitchFamily="65" charset="-120"/>
              </a:rPr>
              <a:t>k</a:t>
            </a:r>
            <a:r>
              <a:rPr lang="zh-TW" altLang="en-US" dirty="0" smtClean="0">
                <a:ea typeface="標楷體" panose="03000509000000000000" pitchFamily="65" charset="-120"/>
              </a:rPr>
              <a:t>次</a:t>
            </a:r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364059" y="3752012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 – 2 &lt; k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4699494" y="5573124"/>
            <a:ext cx="1077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Leaf</a:t>
            </a:r>
            <a:br>
              <a:rPr lang="en-US" altLang="zh-TW" dirty="0" smtClean="0"/>
            </a:br>
            <a:r>
              <a:rPr lang="en-US" altLang="zh-TW" dirty="0" smtClean="0"/>
              <a:t>hit object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4110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Adjust the </a:t>
            </a:r>
            <a:r>
              <a:rPr lang="en-US" altLang="zh-TW" dirty="0" smtClean="0"/>
              <a:t>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ea typeface="標楷體" panose="03000509000000000000" pitchFamily="65" charset="-120"/>
              </a:rPr>
              <a:t>在找到</a:t>
            </a:r>
            <a:r>
              <a:rPr lang="en-US" altLang="zh-TW" sz="2800" dirty="0">
                <a:ea typeface="標楷體" panose="03000509000000000000" pitchFamily="65" charset="-120"/>
              </a:rPr>
              <a:t>hit object</a:t>
            </a:r>
            <a:r>
              <a:rPr lang="zh-TW" altLang="en-US" sz="2800" dirty="0" smtClean="0">
                <a:ea typeface="標楷體" panose="03000509000000000000" pitchFamily="65" charset="-120"/>
              </a:rPr>
              <a:t>之後，將找到的</a:t>
            </a:r>
            <a:r>
              <a:rPr lang="en-US" altLang="zh-TW" sz="2800" dirty="0" smtClean="0">
                <a:ea typeface="標楷體" panose="03000509000000000000" pitchFamily="65" charset="-120"/>
              </a:rPr>
              <a:t>object</a:t>
            </a:r>
            <a:r>
              <a:rPr lang="zh-TW" altLang="en-US" sz="2800" dirty="0" smtClean="0">
                <a:ea typeface="標楷體" panose="03000509000000000000" pitchFamily="65" charset="-120"/>
              </a:rPr>
              <a:t>存入</a:t>
            </a:r>
            <a:r>
              <a:rPr lang="en-US" altLang="zh-TW" sz="2800" dirty="0" smtClean="0">
                <a:ea typeface="標楷體" panose="03000509000000000000" pitchFamily="65" charset="-120"/>
              </a:rPr>
              <a:t>hit sequence</a:t>
            </a:r>
            <a:r>
              <a:rPr lang="zh-TW" altLang="en-US" sz="2800" dirty="0" smtClean="0">
                <a:ea typeface="標楷體" panose="03000509000000000000" pitchFamily="65" charset="-120"/>
              </a:rPr>
              <a:t>中。</a:t>
            </a:r>
            <a:endParaRPr lang="en-US" altLang="zh-TW" sz="2800" dirty="0" smtClean="0">
              <a:ea typeface="標楷體" panose="03000509000000000000" pitchFamily="65" charset="-120"/>
            </a:endParaRPr>
          </a:p>
          <a:p>
            <a:endParaRPr lang="en-US" altLang="zh-TW" sz="2800" dirty="0" smtClean="0">
              <a:ea typeface="標楷體" panose="03000509000000000000" pitchFamily="65" charset="-120"/>
            </a:endParaRPr>
          </a:p>
          <a:p>
            <a:r>
              <a:rPr lang="zh-TW" altLang="en-US" sz="2800" dirty="0" smtClean="0">
                <a:ea typeface="標楷體" panose="03000509000000000000" pitchFamily="65" charset="-120"/>
              </a:rPr>
              <a:t>如果</a:t>
            </a:r>
            <a:r>
              <a:rPr lang="en-US" altLang="zh-TW" sz="2800" dirty="0" smtClean="0">
                <a:ea typeface="標楷體" panose="03000509000000000000" pitchFamily="65" charset="-120"/>
              </a:rPr>
              <a:t>hit object</a:t>
            </a:r>
            <a:r>
              <a:rPr lang="zh-TW" altLang="en-US" sz="2800" dirty="0" smtClean="0">
                <a:ea typeface="標楷體" panose="03000509000000000000" pitchFamily="65" charset="-120"/>
              </a:rPr>
              <a:t>的生命值沒了需要移除，要將</a:t>
            </a:r>
            <a:r>
              <a:rPr lang="en-US" altLang="zh-TW" sz="2800" dirty="0" smtClean="0">
                <a:ea typeface="標楷體" panose="03000509000000000000" pitchFamily="65" charset="-120"/>
              </a:rPr>
              <a:t>tree</a:t>
            </a:r>
            <a:r>
              <a:rPr lang="zh-TW" altLang="en-US" sz="2800" dirty="0" smtClean="0">
                <a:ea typeface="標楷體" panose="03000509000000000000" pitchFamily="65" charset="-120"/>
              </a:rPr>
              <a:t>的</a:t>
            </a:r>
            <a:r>
              <a:rPr lang="en-US" altLang="zh-TW" sz="2800" dirty="0" smtClean="0">
                <a:ea typeface="標楷體" panose="03000509000000000000" pitchFamily="65" charset="-120"/>
              </a:rPr>
              <a:t>active number</a:t>
            </a:r>
            <a:r>
              <a:rPr lang="zh-TW" altLang="en-US" sz="2800" dirty="0" smtClean="0">
                <a:ea typeface="標楷體" panose="03000509000000000000" pitchFamily="65" charset="-120"/>
              </a:rPr>
              <a:t>減去。</a:t>
            </a:r>
            <a:endParaRPr lang="en-US" altLang="zh-TW" sz="2800" dirty="0" smtClean="0">
              <a:ea typeface="標楷體" panose="03000509000000000000" pitchFamily="65" charset="-120"/>
            </a:endParaRPr>
          </a:p>
          <a:p>
            <a:endParaRPr lang="en-US" altLang="zh-TW" sz="2800" dirty="0" smtClean="0">
              <a:ea typeface="標楷體" panose="03000509000000000000" pitchFamily="65" charset="-120"/>
            </a:endParaRPr>
          </a:p>
          <a:p>
            <a:r>
              <a:rPr lang="zh-TW" altLang="en-US" sz="2800" dirty="0" smtClean="0">
                <a:ea typeface="標楷體" panose="03000509000000000000" pitchFamily="65" charset="-120"/>
              </a:rPr>
              <a:t>檢查當前</a:t>
            </a:r>
            <a:r>
              <a:rPr lang="en-US" altLang="zh-TW" sz="2800" dirty="0" smtClean="0">
                <a:ea typeface="標楷體" panose="03000509000000000000" pitchFamily="65" charset="-120"/>
              </a:rPr>
              <a:t>tree</a:t>
            </a:r>
            <a:r>
              <a:rPr lang="zh-TW" altLang="en-US" sz="2800" dirty="0" smtClean="0">
                <a:ea typeface="標楷體" panose="03000509000000000000" pitchFamily="65" charset="-120"/>
              </a:rPr>
              <a:t>前後的</a:t>
            </a:r>
            <a:r>
              <a:rPr lang="en-US" altLang="zh-TW" sz="2800" dirty="0" smtClean="0">
                <a:ea typeface="標楷體" panose="03000509000000000000" pitchFamily="65" charset="-120"/>
              </a:rPr>
              <a:t>tree</a:t>
            </a:r>
            <a:r>
              <a:rPr lang="zh-TW" altLang="en-US" sz="2800" dirty="0" smtClean="0">
                <a:ea typeface="標楷體" panose="03000509000000000000" pitchFamily="65" charset="-120"/>
              </a:rPr>
              <a:t>，剩餘的</a:t>
            </a:r>
            <a:r>
              <a:rPr lang="en-US" altLang="zh-TW" sz="2800" dirty="0" smtClean="0">
                <a:ea typeface="標楷體" panose="03000509000000000000" pitchFamily="65" charset="-120"/>
              </a:rPr>
              <a:t>active object </a:t>
            </a:r>
            <a:r>
              <a:rPr lang="zh-TW" altLang="en-US" sz="2800" dirty="0" smtClean="0">
                <a:ea typeface="標楷體" panose="03000509000000000000" pitchFamily="65" charset="-120"/>
              </a:rPr>
              <a:t>是否能和當前</a:t>
            </a:r>
            <a:r>
              <a:rPr lang="en-US" altLang="zh-TW" sz="2800" dirty="0" smtClean="0">
                <a:ea typeface="標楷體" panose="03000509000000000000" pitchFamily="65" charset="-120"/>
              </a:rPr>
              <a:t>tree</a:t>
            </a:r>
            <a:r>
              <a:rPr lang="zh-TW" altLang="en-US" sz="2800" dirty="0" smtClean="0">
                <a:ea typeface="標楷體" panose="03000509000000000000" pitchFamily="65" charset="-120"/>
              </a:rPr>
              <a:t>的</a:t>
            </a:r>
            <a:r>
              <a:rPr lang="en-US" altLang="zh-TW" sz="2800" dirty="0" smtClean="0">
                <a:ea typeface="標楷體" panose="03000509000000000000" pitchFamily="65" charset="-120"/>
              </a:rPr>
              <a:t>active object</a:t>
            </a:r>
            <a:r>
              <a:rPr lang="zh-TW" altLang="en-US" sz="2800" dirty="0" smtClean="0">
                <a:ea typeface="標楷體" panose="03000509000000000000" pitchFamily="65" charset="-120"/>
              </a:rPr>
              <a:t>合成</a:t>
            </a:r>
            <a:r>
              <a:rPr lang="en-US" altLang="zh-TW" sz="2800" dirty="0" smtClean="0">
                <a:ea typeface="標楷體" panose="03000509000000000000" pitchFamily="65" charset="-120"/>
              </a:rPr>
              <a:t>m</a:t>
            </a:r>
            <a:r>
              <a:rPr lang="zh-TW" altLang="en-US" sz="2800" dirty="0">
                <a:ea typeface="標楷體" panose="03000509000000000000" pitchFamily="65" charset="-120"/>
              </a:rPr>
              <a:t>個</a:t>
            </a:r>
            <a:r>
              <a:rPr lang="en-US" altLang="zh-TW" sz="2800" dirty="0">
                <a:ea typeface="標楷體" panose="03000509000000000000" pitchFamily="65" charset="-120"/>
              </a:rPr>
              <a:t>leaf</a:t>
            </a:r>
            <a:r>
              <a:rPr lang="zh-TW" altLang="en-US" sz="2800" dirty="0" smtClean="0">
                <a:ea typeface="標楷體" panose="03000509000000000000" pitchFamily="65" charset="-120"/>
              </a:rPr>
              <a:t>的</a:t>
            </a:r>
            <a:r>
              <a:rPr lang="en-US" altLang="zh-TW" sz="2800" dirty="0" smtClean="0">
                <a:ea typeface="標楷體" panose="03000509000000000000" pitchFamily="65" charset="-120"/>
              </a:rPr>
              <a:t>full binary tree</a:t>
            </a:r>
            <a:r>
              <a:rPr lang="zh-TW" altLang="en-US" sz="2800" dirty="0" smtClean="0">
                <a:ea typeface="標楷體" panose="03000509000000000000" pitchFamily="65" charset="-120"/>
              </a:rPr>
              <a:t>。</a:t>
            </a:r>
            <a:endParaRPr lang="en-US" altLang="zh-TW" sz="2800" dirty="0"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991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Improve the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760"/>
                <a:ext cx="8229600" cy="4857403"/>
              </a:xfrm>
            </p:spPr>
            <p:txBody>
              <a:bodyPr/>
              <a:lstStyle/>
              <a:p>
                <a:r>
                  <a:rPr lang="en-US" altLang="zh-TW" dirty="0" smtClean="0"/>
                  <a:t>Divide the hit sequence  into n segments by successively removed object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 smtClean="0"/>
                  <a:t>,…,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r>
                  <a:rPr lang="en-US" altLang="zh-TW" dirty="0" smtClean="0"/>
                  <a:t>The segment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is called round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hit sequence. The last object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is the </a:t>
                </a:r>
                <a:r>
                  <a:rPr lang="en-US" altLang="zh-TW" dirty="0" err="1" smtClean="0"/>
                  <a:t>ith</a:t>
                </a:r>
                <a:r>
                  <a:rPr lang="en-US" altLang="zh-TW" dirty="0" smtClean="0"/>
                  <a:t> removed object.</a:t>
                </a:r>
              </a:p>
              <a:p>
                <a:r>
                  <a:rPr lang="en-US" altLang="zh-TW" dirty="0" smtClean="0"/>
                  <a:t>Ex: (n, k, l) = (6, 4, 1)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{4}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      (n, k, l) = (6, 4, 2)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{4, 2, 6 ,4}</a:t>
                </a:r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760"/>
                <a:ext cx="8229600" cy="4857403"/>
              </a:xfrm>
              <a:blipFill rotWithShape="1">
                <a:blip r:embed="rId2"/>
                <a:stretch>
                  <a:fillRect l="-1630" t="-1631" r="-370" b="-5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3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Improve the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4785395"/>
              </a:xfrm>
            </p:spPr>
            <p:txBody>
              <a:bodyPr/>
              <a:lstStyle/>
              <a:p>
                <a:r>
                  <a:rPr lang="en-US" altLang="zh-TW" dirty="0" smtClean="0"/>
                  <a:t>For each fixed index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, 1≤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≤ n, the hit sequences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can be uniquely formulated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l-GR" altLang="zh-TW" i="1" smtClean="0"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TW" i="1">
                            <a:latin typeface="Cambria Math"/>
                          </a:rPr>
                          <m:t>α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l-GR" altLang="zh-TW" b="0" i="1" smtClean="0">
                        <a:latin typeface="Cambria Math"/>
                      </a:rPr>
                      <m:t>β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 where s is a positive integer, and both of the sequences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>
                        <a:latin typeface="Cambria Math"/>
                      </a:rPr>
                      <m:t>α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:r>
                  <a:rPr lang="el-GR" altLang="zh-TW" dirty="0" smtClean="0"/>
                  <a:t>β</a:t>
                </a:r>
                <a:r>
                  <a:rPr lang="en-US" altLang="zh-TW" dirty="0" smtClean="0"/>
                  <a:t> are sequences of unique elements of {1, 2, …, n}</a:t>
                </a:r>
              </a:p>
              <a:p>
                <a:endParaRPr lang="en-US" altLang="zh-TW" dirty="0"/>
              </a:p>
              <a:p>
                <a:r>
                  <a:rPr lang="en-US" altLang="zh-TW" dirty="0" smtClean="0"/>
                  <a:t>According to the above, we can shorten the time of generating hit sequences.</a:t>
                </a:r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4785395"/>
              </a:xfrm>
              <a:blipFill rotWithShape="1">
                <a:blip r:embed="rId2"/>
                <a:stretch>
                  <a:fillRect l="-1630" t="-1656" r="-2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91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C:\Users\yotsuki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8208912" cy="377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442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C:\Users\yotsuki\Desktop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7958957" cy="451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3938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 descr="C:\Users\yotsuki\Desktop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25" y="1608757"/>
            <a:ext cx="8164231" cy="470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2498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 descr="C:\Users\yotsuki\Desktop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42" y="1628800"/>
            <a:ext cx="8191614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311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Computational 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2" name="Picture 2" descr="C:\Users\yotsuki\Desktop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05" y="1628800"/>
            <a:ext cx="8166451" cy="3299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1B0D1-175D-4FFC-B1B7-EE4345F324F8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487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1453</TotalTime>
  <Words>1040</Words>
  <Application>Microsoft Office PowerPoint</Application>
  <PresentationFormat>如螢幕大小 (4:3)</PresentationFormat>
  <Paragraphs>149</Paragraphs>
  <Slides>22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3" baseType="lpstr">
      <vt:lpstr>Office 佈景主題</vt:lpstr>
      <vt:lpstr>A Comparative Study on the Algorithms for a Generalized Josephus Problem</vt:lpstr>
      <vt:lpstr>Abstract (1/2)</vt:lpstr>
      <vt:lpstr>Abstract (2/2)</vt:lpstr>
      <vt:lpstr>Josephus Problem</vt:lpstr>
      <vt:lpstr>Variant of Josephus Problem</vt:lpstr>
      <vt:lpstr>Data Structure of Algorithm</vt:lpstr>
      <vt:lpstr>Data Structure of Algorithm</vt:lpstr>
      <vt:lpstr>Data Structure of Algorithm</vt:lpstr>
      <vt:lpstr>Algorithm for Generating Hit Sequences</vt:lpstr>
      <vt:lpstr>Build the Data Structure</vt:lpstr>
      <vt:lpstr>Find the Hit Object</vt:lpstr>
      <vt:lpstr>Find the Hit Object</vt:lpstr>
      <vt:lpstr>Find the Hit Object</vt:lpstr>
      <vt:lpstr>Find the Hit Object</vt:lpstr>
      <vt:lpstr>Adjust the tree</vt:lpstr>
      <vt:lpstr>Improve the Algorithm</vt:lpstr>
      <vt:lpstr>Improve the Algorithm</vt:lpstr>
      <vt:lpstr>Computational Experiments</vt:lpstr>
      <vt:lpstr>Computational Experiments</vt:lpstr>
      <vt:lpstr>Computational Experiments</vt:lpstr>
      <vt:lpstr>Computational Experiments</vt:lpstr>
      <vt:lpstr>Computational Experiments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yotsuki</dc:creator>
  <cp:lastModifiedBy>GC_GUO</cp:lastModifiedBy>
  <cp:revision>113</cp:revision>
  <dcterms:created xsi:type="dcterms:W3CDTF">2013-10-13T02:31:23Z</dcterms:created>
  <dcterms:modified xsi:type="dcterms:W3CDTF">2013-10-15T08:36:27Z</dcterms:modified>
</cp:coreProperties>
</file>