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handoutMasterIdLst>
    <p:handoutMasterId r:id="rId25"/>
  </p:handoutMasterIdLst>
  <p:sldIdLst>
    <p:sldId id="256" r:id="rId2"/>
    <p:sldId id="307" r:id="rId3"/>
    <p:sldId id="331" r:id="rId4"/>
    <p:sldId id="332" r:id="rId5"/>
    <p:sldId id="333" r:id="rId6"/>
    <p:sldId id="309" r:id="rId7"/>
    <p:sldId id="335" r:id="rId8"/>
    <p:sldId id="334" r:id="rId9"/>
    <p:sldId id="310" r:id="rId10"/>
    <p:sldId id="336" r:id="rId11"/>
    <p:sldId id="337" r:id="rId12"/>
    <p:sldId id="338" r:id="rId13"/>
    <p:sldId id="349" r:id="rId14"/>
    <p:sldId id="340" r:id="rId15"/>
    <p:sldId id="341" r:id="rId16"/>
    <p:sldId id="342" r:id="rId17"/>
    <p:sldId id="343" r:id="rId18"/>
    <p:sldId id="344" r:id="rId19"/>
    <p:sldId id="345" r:id="rId20"/>
    <p:sldId id="346" r:id="rId21"/>
    <p:sldId id="347" r:id="rId22"/>
    <p:sldId id="265" r:id="rId2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93DF"/>
    <a:srgbClr val="6F84EB"/>
    <a:srgbClr val="0000FF"/>
    <a:srgbClr val="FF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042" autoAdjust="0"/>
    <p:restoredTop sz="96793" autoAdjust="0"/>
  </p:normalViewPr>
  <p:slideViewPr>
    <p:cSldViewPr>
      <p:cViewPr varScale="1">
        <p:scale>
          <a:sx n="70" d="100"/>
          <a:sy n="70" d="100"/>
        </p:scale>
        <p:origin x="-624" y="-108"/>
      </p:cViewPr>
      <p:guideLst>
        <p:guide orient="horz" pos="2160"/>
        <p:guide pos="2880"/>
      </p:guideLst>
    </p:cSldViewPr>
  </p:slideViewPr>
  <p:outlineViewPr>
    <p:cViewPr>
      <p:scale>
        <a:sx n="33" d="100"/>
        <a:sy n="33" d="100"/>
      </p:scale>
      <p:origin x="0" y="966"/>
    </p:cViewPr>
  </p:outlineViewPr>
  <p:notesTextViewPr>
    <p:cViewPr>
      <p:scale>
        <a:sx n="1" d="1"/>
        <a:sy n="1" d="1"/>
      </p:scale>
      <p:origin x="0" y="0"/>
    </p:cViewPr>
  </p:notesTextViewPr>
  <p:notesViewPr>
    <p:cSldViewPr>
      <p:cViewPr varScale="1">
        <p:scale>
          <a:sx n="88" d="100"/>
          <a:sy n="88" d="100"/>
        </p:scale>
        <p:origin x="3822" y="10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pPr/>
              <a:t>2013/8/13</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pPr/>
              <a:t>‹#›</a:t>
            </a:fld>
            <a:endParaRPr lang="zh-TW" altLang="en-US"/>
          </a:p>
        </p:txBody>
      </p:sp>
    </p:spTree>
    <p:extLst>
      <p:ext uri="{BB962C8B-B14F-4D97-AF65-F5344CB8AC3E}">
        <p14:creationId xmlns:p14="http://schemas.microsoft.com/office/powerpoint/2010/main" xmlns=""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pPr/>
              <a:t>2013/8/13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pPr/>
              <a:t>‹#›</a:t>
            </a:fld>
            <a:endParaRPr lang="zh-TW" altLang="en-US"/>
          </a:p>
        </p:txBody>
      </p:sp>
    </p:spTree>
    <p:extLst>
      <p:ext uri="{BB962C8B-B14F-4D97-AF65-F5344CB8AC3E}">
        <p14:creationId xmlns:p14="http://schemas.microsoft.com/office/powerpoint/2010/main" xmlns=""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8879042-3193-49F2-8086-409E581C9D3A}" type="slidenum">
              <a:rPr lang="zh-TW" altLang="en-US" smtClean="0"/>
              <a:pPr/>
              <a:t>1</a:t>
            </a:fld>
            <a:endParaRPr lang="zh-TW" altLang="en-US"/>
          </a:p>
        </p:txBody>
      </p:sp>
    </p:spTree>
    <p:extLst>
      <p:ext uri="{BB962C8B-B14F-4D97-AF65-F5344CB8AC3E}">
        <p14:creationId xmlns:p14="http://schemas.microsoft.com/office/powerpoint/2010/main" xmlns="" val="3297998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r>
              <a:rPr lang="en-US" altLang="zh-TW" smtClean="0"/>
              <a:t>2013/8/13</a:t>
            </a:r>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pPr/>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微軟正黑體" panose="020B0604030504040204" pitchFamily="34" charset="-120"/>
                <a:ea typeface="微軟正黑體" panose="020B0604030504040204" pitchFamily="34" charset="-120"/>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lvl1pPr>
              <a:defRPr>
                <a:latin typeface="微軟正黑體" panose="020B0604030504040204" pitchFamily="34" charset="-120"/>
                <a:ea typeface="微軟正黑體" panose="020B0604030504040204" pitchFamily="34" charset="-120"/>
              </a:defRPr>
            </a:lvl1pPr>
          </a:lstStyle>
          <a:p>
            <a:r>
              <a:rPr lang="en-US" altLang="zh-TW" smtClean="0"/>
              <a:t>2013/8/13</a:t>
            </a:r>
            <a:endParaRPr lang="zh-TW" altLang="en-US"/>
          </a:p>
        </p:txBody>
      </p:sp>
      <p:sp>
        <p:nvSpPr>
          <p:cNvPr id="5" name="頁尾版面配置區 4"/>
          <p:cNvSpPr>
            <a:spLocks noGrp="1"/>
          </p:cNvSpPr>
          <p:nvPr>
            <p:ph type="ftr" sz="quarter" idx="11"/>
          </p:nvPr>
        </p:nvSpPr>
        <p:spPr/>
        <p:txBody>
          <a:bodyPr/>
          <a:lstStyle>
            <a:lvl1pPr>
              <a:defRPr>
                <a:latin typeface="微軟正黑體" panose="020B0604030504040204" pitchFamily="34" charset="-120"/>
                <a:ea typeface="微軟正黑體" panose="020B0604030504040204" pitchFamily="34" charset="-120"/>
              </a:defRPr>
            </a:lvl1pPr>
          </a:lstStyle>
          <a:p>
            <a:endParaRPr lang="zh-TW" altLang="en-US"/>
          </a:p>
        </p:txBody>
      </p:sp>
      <p:sp>
        <p:nvSpPr>
          <p:cNvPr id="6" name="投影片編號版面配置區 5"/>
          <p:cNvSpPr>
            <a:spLocks noGrp="1"/>
          </p:cNvSpPr>
          <p:nvPr>
            <p:ph type="sldNum" sz="quarter" idx="12"/>
          </p:nvPr>
        </p:nvSpPr>
        <p:spPr/>
        <p:txBody>
          <a:bodyPr/>
          <a:lstStyle>
            <a:lvl1pPr>
              <a:defRPr>
                <a:latin typeface="微軟正黑體" panose="020B0604030504040204" pitchFamily="34" charset="-120"/>
                <a:ea typeface="微軟正黑體" panose="020B0604030504040204" pitchFamily="34" charset="-120"/>
              </a:defRPr>
            </a:lvl1pPr>
          </a:lstStyle>
          <a:p>
            <a:fld id="{61A04B93-F247-42E5-95CE-B8478AD23DB7}" type="slidenum">
              <a:rPr lang="zh-TW" altLang="en-US" smtClean="0"/>
              <a:pPr/>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微軟正黑體" panose="020B0604030504040204" pitchFamily="34" charset="-120"/>
                <a:ea typeface="微軟正黑體" panose="020B0604030504040204" pitchFamily="34" charset="-120"/>
              </a:defRPr>
            </a:lvl1pPr>
            <a:lvl2pPr>
              <a:defRPr>
                <a:latin typeface="微軟正黑體" panose="020B0604030504040204" pitchFamily="34" charset="-120"/>
                <a:ea typeface="微軟正黑體" panose="020B0604030504040204" pitchFamily="34" charset="-120"/>
              </a:defRPr>
            </a:lvl2pPr>
            <a:lvl3pPr>
              <a:defRPr>
                <a:latin typeface="微軟正黑體" panose="020B0604030504040204" pitchFamily="34" charset="-120"/>
                <a:ea typeface="微軟正黑體" panose="020B0604030504040204" pitchFamily="34" charset="-120"/>
              </a:defRPr>
            </a:lvl3pPr>
            <a:lvl4pPr>
              <a:defRPr>
                <a:latin typeface="微軟正黑體" panose="020B0604030504040204" pitchFamily="34" charset="-120"/>
                <a:ea typeface="微軟正黑體" panose="020B0604030504040204" pitchFamily="34" charset="-120"/>
              </a:defRPr>
            </a:lvl4pPr>
            <a:lvl5pPr>
              <a:defRPr>
                <a:latin typeface="微軟正黑體" panose="020B0604030504040204" pitchFamily="34" charset="-120"/>
                <a:ea typeface="微軟正黑體" panose="020B0604030504040204" pitchFamily="34" charset="-120"/>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r>
              <a:rPr lang="en-US" altLang="zh-TW" smtClean="0"/>
              <a:t>2013/8/13</a:t>
            </a:r>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pPr/>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r>
              <a:rPr lang="en-US" altLang="zh-TW" smtClean="0"/>
              <a:t>2013/8/13</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r>
              <a:rPr lang="en-US" altLang="zh-TW" smtClean="0"/>
              <a:t>2013/8/13</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smtClean="0"/>
              <a:t>2013/8/13</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2013/8/13</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2013/8/13</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2013/8/13</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2013/8/13</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ltLang="zh-TW" smtClean="0"/>
              <a:t>2013/8/13</a:t>
            </a:r>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pPr/>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a:r>
              <a:rPr lang="en-US" altLang="zh-TW" sz="2800" dirty="0" smtClean="0">
                <a:latin typeface="微軟正黑體" pitchFamily="34" charset="-120"/>
                <a:ea typeface="微軟正黑體" pitchFamily="34" charset="-120"/>
              </a:rPr>
              <a:t>Mining </a:t>
            </a:r>
            <a:r>
              <a:rPr lang="en-US" altLang="zh-TW" sz="2800" dirty="0">
                <a:latin typeface="微軟正黑體" pitchFamily="34" charset="-120"/>
                <a:ea typeface="微軟正黑體" pitchFamily="34" charset="-120"/>
              </a:rPr>
              <a:t>frequent patterns from network flows for monitoring network</a:t>
            </a:r>
            <a:r>
              <a:rPr lang="en-US" altLang="zh-TW" dirty="0" smtClean="0">
                <a:latin typeface="微軟正黑體" pitchFamily="34" charset="-120"/>
                <a:ea typeface="微軟正黑體" pitchFamily="34" charset="-120"/>
              </a:rPr>
              <a:t/>
            </a:r>
            <a:br>
              <a:rPr lang="en-US" altLang="zh-TW" dirty="0" smtClean="0">
                <a:latin typeface="微軟正黑體" pitchFamily="34" charset="-120"/>
                <a:ea typeface="微軟正黑體" pitchFamily="34" charset="-120"/>
              </a:rPr>
            </a:br>
            <a:r>
              <a:rPr lang="en-US" altLang="zh-TW" dirty="0">
                <a:latin typeface="微軟正黑體" pitchFamily="34" charset="-120"/>
                <a:ea typeface="微軟正黑體" pitchFamily="34" charset="-120"/>
              </a:rPr>
              <a:t/>
            </a:r>
            <a:br>
              <a:rPr lang="en-US" altLang="zh-TW" dirty="0">
                <a:latin typeface="微軟正黑體" pitchFamily="34" charset="-120"/>
                <a:ea typeface="微軟正黑體" pitchFamily="34" charset="-120"/>
              </a:rPr>
            </a:br>
            <a:r>
              <a:rPr lang="en-US" altLang="zh-TW" sz="2000" b="0" dirty="0" smtClean="0">
                <a:latin typeface="微軟正黑體" pitchFamily="34" charset="-120"/>
                <a:ea typeface="微軟正黑體" pitchFamily="34" charset="-120"/>
              </a:rPr>
              <a:t>Expert Systems with Applications </a:t>
            </a:r>
            <a:br>
              <a:rPr lang="en-US" altLang="zh-TW" sz="2000" b="0" dirty="0" smtClean="0">
                <a:latin typeface="微軟正黑體" pitchFamily="34" charset="-120"/>
                <a:ea typeface="微軟正黑體" pitchFamily="34" charset="-120"/>
              </a:rPr>
            </a:br>
            <a:r>
              <a:rPr lang="en-US" altLang="zh-TW" sz="2000" b="0" dirty="0">
                <a:latin typeface="微軟正黑體" pitchFamily="34" charset="-120"/>
                <a:ea typeface="微軟正黑體" pitchFamily="34" charset="-120"/>
              </a:rPr>
              <a:t>	</a:t>
            </a:r>
            <a:r>
              <a:rPr lang="en-US" altLang="zh-TW" sz="2000" b="0" dirty="0" smtClean="0">
                <a:latin typeface="微軟正黑體" pitchFamily="34" charset="-120"/>
                <a:ea typeface="微軟正黑體" pitchFamily="34" charset="-120"/>
              </a:rPr>
              <a:t>vol.37 (2010) pp.8850–8860</a:t>
            </a:r>
            <a:endParaRPr lang="zh-TW" altLang="en-US" sz="2000" dirty="0">
              <a:latin typeface="微軟正黑體" pitchFamily="34" charset="-120"/>
              <a:ea typeface="微軟正黑體" pitchFamily="34" charset="-120"/>
            </a:endParaRPr>
          </a:p>
        </p:txBody>
      </p:sp>
      <p:sp>
        <p:nvSpPr>
          <p:cNvPr id="3" name="副標題 2"/>
          <p:cNvSpPr>
            <a:spLocks noGrp="1"/>
          </p:cNvSpPr>
          <p:nvPr>
            <p:ph type="subTitle" idx="1"/>
          </p:nvPr>
        </p:nvSpPr>
        <p:spPr>
          <a:xfrm>
            <a:off x="1219200" y="3228979"/>
            <a:ext cx="6858000" cy="2144237"/>
          </a:xfrm>
        </p:spPr>
        <p:txBody>
          <a:bodyPr>
            <a:noAutofit/>
          </a:bodyPr>
          <a:lstStyle/>
          <a:p>
            <a:pPr algn="l"/>
            <a:r>
              <a:rPr lang="en-US" altLang="zh-TW" sz="1800" dirty="0" err="1">
                <a:latin typeface="微軟正黑體" pitchFamily="34" charset="-120"/>
                <a:ea typeface="微軟正黑體" pitchFamily="34" charset="-120"/>
              </a:rPr>
              <a:t>Xin</a:t>
            </a:r>
            <a:r>
              <a:rPr lang="en-US" altLang="zh-TW" sz="1800" dirty="0">
                <a:latin typeface="微軟正黑體" pitchFamily="34" charset="-120"/>
                <a:ea typeface="微軟正黑體" pitchFamily="34" charset="-120"/>
              </a:rPr>
              <a:t> Li, </a:t>
            </a:r>
            <a:r>
              <a:rPr lang="en-US" altLang="zh-TW" sz="1800" dirty="0" err="1">
                <a:latin typeface="微軟正黑體" pitchFamily="34" charset="-120"/>
                <a:ea typeface="微軟正黑體" pitchFamily="34" charset="-120"/>
              </a:rPr>
              <a:t>Zhi</a:t>
            </a:r>
            <a:r>
              <a:rPr lang="en-US" altLang="zh-TW" sz="1800" dirty="0">
                <a:latin typeface="微軟正黑體" pitchFamily="34" charset="-120"/>
                <a:ea typeface="微軟正黑體" pitchFamily="34" charset="-120"/>
              </a:rPr>
              <a:t>-Hong </a:t>
            </a:r>
            <a:r>
              <a:rPr lang="en-US" altLang="zh-TW" sz="1800" dirty="0" smtClean="0">
                <a:latin typeface="微軟正黑體" pitchFamily="34" charset="-120"/>
                <a:ea typeface="微軟正黑體" pitchFamily="34" charset="-120"/>
              </a:rPr>
              <a:t>Deng</a:t>
            </a:r>
          </a:p>
          <a:p>
            <a:pPr algn="l"/>
            <a:r>
              <a:rPr lang="en-US" altLang="zh-TW" sz="1800" dirty="0"/>
              <a:t>Peking University, Key Laboratory of Machine Perception (Ministry of Education), School of Electronic Engineering and Computer </a:t>
            </a:r>
            <a:r>
              <a:rPr lang="en-US" altLang="zh-TW" sz="1800" dirty="0" smtClean="0"/>
              <a:t>Science</a:t>
            </a:r>
            <a:endParaRPr lang="en-US" altLang="zh-TW" sz="1800" dirty="0">
              <a:latin typeface="微軟正黑體" pitchFamily="34" charset="-120"/>
              <a:ea typeface="微軟正黑體" pitchFamily="34" charset="-120"/>
            </a:endParaRPr>
          </a:p>
        </p:txBody>
      </p:sp>
      <p:sp>
        <p:nvSpPr>
          <p:cNvPr id="5" name="日期版面配置區 4"/>
          <p:cNvSpPr>
            <a:spLocks noGrp="1"/>
          </p:cNvSpPr>
          <p:nvPr>
            <p:ph type="dt" sz="half" idx="10"/>
          </p:nvPr>
        </p:nvSpPr>
        <p:spPr/>
        <p:txBody>
          <a:bodyPr/>
          <a:lstStyle/>
          <a:p>
            <a:r>
              <a:rPr lang="en-US" altLang="zh-TW" smtClean="0"/>
              <a:t>2013/8/13</a:t>
            </a:r>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a:t>
            </a:fld>
            <a:endParaRPr lang="zh-TW" altLang="en-US" dirty="0"/>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smtClean="0">
                <a:solidFill>
                  <a:schemeClr val="tx1"/>
                </a:solidFill>
              </a:rPr>
              <a:t>Presentor</a:t>
            </a:r>
            <a:r>
              <a:rPr lang="zh-TW" altLang="en-US" sz="2400" dirty="0" smtClean="0">
                <a:solidFill>
                  <a:schemeClr val="tx1"/>
                </a:solidFill>
              </a:rPr>
              <a:t>：</a:t>
            </a:r>
            <a:r>
              <a:rPr lang="en-US" altLang="zh-TW" sz="2400" dirty="0" smtClean="0">
                <a:solidFill>
                  <a:schemeClr val="tx1"/>
                </a:solidFill>
              </a:rPr>
              <a:t>Hsin-Chuan Yuan</a:t>
            </a:r>
            <a:endParaRPr lang="zh-TW" altLang="en-US" sz="2400" dirty="0">
              <a:solidFill>
                <a:schemeClr val="tx1"/>
              </a:solidFill>
            </a:endParaRPr>
          </a:p>
        </p:txBody>
      </p:sp>
    </p:spTree>
    <p:extLst>
      <p:ext uri="{BB962C8B-B14F-4D97-AF65-F5344CB8AC3E}">
        <p14:creationId xmlns:p14="http://schemas.microsoft.com/office/powerpoint/2010/main" xmlns="" val="16631364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Abstract</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a:t>
            </a:fld>
            <a:endParaRPr lang="zh-TW" altLang="en-US"/>
          </a:p>
        </p:txBody>
      </p:sp>
      <p:sp>
        <p:nvSpPr>
          <p:cNvPr id="5" name="內容版面配置區 4"/>
          <p:cNvSpPr>
            <a:spLocks noGrp="1"/>
          </p:cNvSpPr>
          <p:nvPr>
            <p:ph sz="quarter" idx="1"/>
          </p:nvPr>
        </p:nvSpPr>
        <p:spPr/>
        <p:txBody>
          <a:bodyPr>
            <a:noAutofit/>
          </a:bodyPr>
          <a:lstStyle/>
          <a:p>
            <a:r>
              <a:rPr lang="en-US" altLang="zh-TW" sz="2400" dirty="0"/>
              <a:t>Because of the varying and dynamic characteristics of network traffic, such as fast transfer, huge volume, shot-lived, inestimable and infinite, it is a serious challenge for network administrators to monitor network traffic in real time and judge whether the whole network works well. Currently, most of the existing techniques in this area are based on signature training, learning or matching, which may be too complicated to satisfy timely requirements. Other statistical methods including sampling, hashing or counting are all approximate methods and compute an incomplete set of results. Since the main objective of network monitoring is to discover and understand the active events that happen frequently and may influence or even ruin the total network. </a:t>
            </a:r>
            <a:endParaRPr lang="zh-TW" altLang="en-US" sz="2400" dirty="0">
              <a:latin typeface="微軟正黑體" pitchFamily="34" charset="-120"/>
              <a:ea typeface="微軟正黑體" pitchFamily="34" charset="-120"/>
              <a:cs typeface="Arial" pitchFamily="34" charset="0"/>
            </a:endParaRPr>
          </a:p>
        </p:txBody>
      </p:sp>
    </p:spTree>
    <p:extLst>
      <p:ext uri="{BB962C8B-B14F-4D97-AF65-F5344CB8AC3E}">
        <p14:creationId xmlns:p14="http://schemas.microsoft.com/office/powerpoint/2010/main" xmlns="" val="7208216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Abstract</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3</a:t>
            </a:fld>
            <a:endParaRPr lang="zh-TW" altLang="en-US"/>
          </a:p>
        </p:txBody>
      </p:sp>
      <p:sp>
        <p:nvSpPr>
          <p:cNvPr id="5" name="內容版面配置區 4"/>
          <p:cNvSpPr>
            <a:spLocks noGrp="1"/>
          </p:cNvSpPr>
          <p:nvPr>
            <p:ph sz="quarter" idx="1"/>
          </p:nvPr>
        </p:nvSpPr>
        <p:spPr/>
        <p:txBody>
          <a:bodyPr>
            <a:noAutofit/>
          </a:bodyPr>
          <a:lstStyle/>
          <a:p>
            <a:pPr fontAlgn="base"/>
            <a:r>
              <a:rPr lang="en-US" altLang="zh-TW" sz="2400" dirty="0"/>
              <a:t>So in the paper we aim to use the technique of frequent pattern mining to find out these events. We first design a sliding window model to make sure the mining result novel and integrated; then, under the consideration of the distribution and fluidity of network flows, we develop a powerful class of algorithms that contains vertical re-mining algorithm, multi-pattern re-mining algorithm, fast multi-pattern capturing algorithm and fast multi-pattern capturing supplement algorithm to deal with a series of problems when applying frequent pattern mining algorithm in network traffic analysis. </a:t>
            </a:r>
            <a:br>
              <a:rPr lang="en-US" altLang="zh-TW" sz="2400" dirty="0"/>
            </a:br>
            <a:endParaRPr lang="zh-TW" altLang="en-US" sz="2400" dirty="0">
              <a:latin typeface="微軟正黑體" pitchFamily="34" charset="-120"/>
              <a:ea typeface="微軟正黑體" pitchFamily="34" charset="-120"/>
              <a:cs typeface="Arial" pitchFamily="34" charset="0"/>
            </a:endParaRPr>
          </a:p>
        </p:txBody>
      </p:sp>
    </p:spTree>
    <p:extLst>
      <p:ext uri="{BB962C8B-B14F-4D97-AF65-F5344CB8AC3E}">
        <p14:creationId xmlns:p14="http://schemas.microsoft.com/office/powerpoint/2010/main" xmlns="" val="27352577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Abstract</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4</a:t>
            </a:fld>
            <a:endParaRPr lang="zh-TW" altLang="en-US"/>
          </a:p>
        </p:txBody>
      </p:sp>
      <p:sp>
        <p:nvSpPr>
          <p:cNvPr id="5" name="內容版面配置區 4"/>
          <p:cNvSpPr>
            <a:spLocks noGrp="1"/>
          </p:cNvSpPr>
          <p:nvPr>
            <p:ph sz="quarter" idx="1"/>
          </p:nvPr>
        </p:nvSpPr>
        <p:spPr/>
        <p:txBody>
          <a:bodyPr>
            <a:noAutofit/>
          </a:bodyPr>
          <a:lstStyle/>
          <a:p>
            <a:pPr fontAlgn="base"/>
            <a:r>
              <a:rPr lang="en-US" altLang="zh-TW" sz="2400" dirty="0"/>
              <a:t>Finally, we develop a monitoring system to evaluate our algorithms on real traces collected from the campus network of Peking University. The results show that some given algorithms are effective enough and our system can definitely identify a lot of potentially very valuable information in time which greatly help network administrators to understand regular applications and detect network anomalies. So the research in this paper not only provides a new application area for frequent pattern mining, but also provides a new technique for network monitoring.</a:t>
            </a:r>
            <a:br>
              <a:rPr lang="en-US" altLang="zh-TW" sz="2400" dirty="0"/>
            </a:br>
            <a:endParaRPr lang="zh-TW" altLang="en-US" sz="2400" dirty="0">
              <a:latin typeface="微軟正黑體" pitchFamily="34" charset="-120"/>
              <a:ea typeface="微軟正黑體" pitchFamily="34" charset="-120"/>
              <a:cs typeface="Arial" pitchFamily="34" charset="0"/>
            </a:endParaRPr>
          </a:p>
        </p:txBody>
      </p:sp>
    </p:spTree>
    <p:extLst>
      <p:ext uri="{BB962C8B-B14F-4D97-AF65-F5344CB8AC3E}">
        <p14:creationId xmlns:p14="http://schemas.microsoft.com/office/powerpoint/2010/main" xmlns="" val="39136969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微軟正黑體" pitchFamily="34" charset="-120"/>
                <a:ea typeface="微軟正黑體" pitchFamily="34" charset="-120"/>
              </a:rPr>
              <a:t>Model and framework</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5</a:t>
            </a:fld>
            <a:endParaRPr lang="zh-TW" altLang="en-US"/>
          </a:p>
        </p:txBody>
      </p:sp>
      <p:pic>
        <p:nvPicPr>
          <p:cNvPr id="6" name="內容版面配置區 5"/>
          <p:cNvPicPr>
            <a:picLocks noGrp="1" noChangeAspect="1"/>
          </p:cNvPicPr>
          <p:nvPr>
            <p:ph sz="quarter" idx="1"/>
          </p:nvPr>
        </p:nvPicPr>
        <p:blipFill rotWithShape="1">
          <a:blip r:embed="rId2"/>
          <a:srcRect b="13707"/>
          <a:stretch/>
        </p:blipFill>
        <p:spPr>
          <a:xfrm>
            <a:off x="539552" y="1162272"/>
            <a:ext cx="6419056" cy="2266728"/>
          </a:xfrm>
          <a:prstGeom prst="rect">
            <a:avLst/>
          </a:prstGeom>
        </p:spPr>
      </p:pic>
      <p:pic>
        <p:nvPicPr>
          <p:cNvPr id="7" name="圖片 6"/>
          <p:cNvPicPr>
            <a:picLocks noChangeAspect="1"/>
          </p:cNvPicPr>
          <p:nvPr/>
        </p:nvPicPr>
        <p:blipFill>
          <a:blip r:embed="rId3"/>
          <a:stretch>
            <a:fillRect/>
          </a:stretch>
        </p:blipFill>
        <p:spPr>
          <a:xfrm>
            <a:off x="323528" y="3645024"/>
            <a:ext cx="7342722" cy="3067714"/>
          </a:xfrm>
          <a:prstGeom prst="rect">
            <a:avLst/>
          </a:prstGeom>
        </p:spPr>
      </p:pic>
    </p:spTree>
    <p:extLst>
      <p:ext uri="{BB962C8B-B14F-4D97-AF65-F5344CB8AC3E}">
        <p14:creationId xmlns:p14="http://schemas.microsoft.com/office/powerpoint/2010/main" xmlns="" val="80158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Algorithms</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6</a:t>
            </a:fld>
            <a:endParaRPr lang="zh-TW" altLang="en-US"/>
          </a:p>
        </p:txBody>
      </p:sp>
      <p:sp>
        <p:nvSpPr>
          <p:cNvPr id="5" name="內容版面配置區 4"/>
          <p:cNvSpPr>
            <a:spLocks noGrp="1"/>
          </p:cNvSpPr>
          <p:nvPr>
            <p:ph sz="quarter" idx="1"/>
          </p:nvPr>
        </p:nvSpPr>
        <p:spPr/>
        <p:txBody>
          <a:bodyPr>
            <a:normAutofit/>
          </a:bodyPr>
          <a:lstStyle/>
          <a:p>
            <a:r>
              <a:rPr lang="en-US" altLang="zh-TW" sz="2800" dirty="0"/>
              <a:t>Vertical </a:t>
            </a:r>
            <a:r>
              <a:rPr lang="en-US" altLang="zh-TW" sz="2800" dirty="0" smtClean="0"/>
              <a:t>re-mining</a:t>
            </a:r>
          </a:p>
          <a:p>
            <a:r>
              <a:rPr lang="en-US" altLang="zh-TW" sz="2800" dirty="0"/>
              <a:t>Multi-pattern re-mining</a:t>
            </a:r>
          </a:p>
          <a:p>
            <a:r>
              <a:rPr lang="en-US" altLang="zh-TW" sz="2800" dirty="0"/>
              <a:t>Fast multi-pattern capturing</a:t>
            </a:r>
          </a:p>
          <a:p>
            <a:r>
              <a:rPr lang="en-US" altLang="zh-TW" sz="2800" dirty="0">
                <a:solidFill>
                  <a:schemeClr val="tx2"/>
                </a:solidFill>
              </a:rPr>
              <a:t>Fast multi-pattern capturing supplement</a:t>
            </a:r>
          </a:p>
        </p:txBody>
      </p:sp>
    </p:spTree>
    <p:extLst>
      <p:ext uri="{BB962C8B-B14F-4D97-AF65-F5344CB8AC3E}">
        <p14:creationId xmlns:p14="http://schemas.microsoft.com/office/powerpoint/2010/main" xmlns="" val="32398164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Vertical re-mining(</a:t>
            </a:r>
            <a:r>
              <a:rPr lang="en-US" altLang="zh-TW" dirty="0" err="1"/>
              <a:t>Apriori</a:t>
            </a:r>
            <a:r>
              <a:rPr lang="en-US" altLang="zh-TW" dirty="0"/>
              <a:t>)</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7</a:t>
            </a:fld>
            <a:endParaRPr lang="zh-TW" altLang="en-US"/>
          </a:p>
        </p:txBody>
      </p:sp>
      <p:pic>
        <p:nvPicPr>
          <p:cNvPr id="6" name="圖片 5"/>
          <p:cNvPicPr>
            <a:picLocks noChangeAspect="1"/>
          </p:cNvPicPr>
          <p:nvPr/>
        </p:nvPicPr>
        <p:blipFill>
          <a:blip r:embed="rId2"/>
          <a:stretch>
            <a:fillRect/>
          </a:stretch>
        </p:blipFill>
        <p:spPr>
          <a:xfrm>
            <a:off x="881062" y="1230585"/>
            <a:ext cx="7381875" cy="5438775"/>
          </a:xfrm>
          <a:prstGeom prst="rect">
            <a:avLst/>
          </a:prstGeom>
        </p:spPr>
      </p:pic>
    </p:spTree>
    <p:extLst>
      <p:ext uri="{BB962C8B-B14F-4D97-AF65-F5344CB8AC3E}">
        <p14:creationId xmlns:p14="http://schemas.microsoft.com/office/powerpoint/2010/main" xmlns="" val="39675148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Vertical </a:t>
            </a:r>
            <a:r>
              <a:rPr lang="en-US" altLang="zh-TW" dirty="0" smtClean="0"/>
              <a:t>re-mining(</a:t>
            </a:r>
            <a:r>
              <a:rPr lang="en-US" altLang="zh-TW" dirty="0" err="1" smtClean="0"/>
              <a:t>Apriori</a:t>
            </a:r>
            <a:r>
              <a:rPr lang="en-US" altLang="zh-TW" dirty="0" smtClean="0"/>
              <a:t>)</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8</a:t>
            </a:fld>
            <a:endParaRPr lang="zh-TW" altLang="en-US"/>
          </a:p>
        </p:txBody>
      </p:sp>
      <p:pic>
        <p:nvPicPr>
          <p:cNvPr id="6" name="內容版面配置區 8"/>
          <p:cNvPicPr>
            <a:picLocks noChangeAspect="1"/>
          </p:cNvPicPr>
          <p:nvPr/>
        </p:nvPicPr>
        <p:blipFill>
          <a:blip r:embed="rId2">
            <a:extLst>
              <a:ext uri="{BEBA8EAE-BF5A-486C-A8C5-ECC9F3942E4B}">
                <a14:imgProps xmlns:a14="http://schemas.microsoft.com/office/drawing/2010/main" xmlns="">
                  <a14:imgLayer r:embed="rId3">
                    <a14:imgEffect>
                      <a14:sharpenSoften amount="25000"/>
                    </a14:imgEffect>
                  </a14:imgLayer>
                </a14:imgProps>
              </a:ext>
            </a:extLst>
          </a:blip>
          <a:stretch>
            <a:fillRect/>
          </a:stretch>
        </p:blipFill>
        <p:spPr>
          <a:xfrm>
            <a:off x="107504" y="1484784"/>
            <a:ext cx="8964489" cy="5350897"/>
          </a:xfrm>
          <a:prstGeom prst="rect">
            <a:avLst/>
          </a:prstGeom>
        </p:spPr>
      </p:pic>
      <p:pic>
        <p:nvPicPr>
          <p:cNvPr id="7" name="圖片 6"/>
          <p:cNvPicPr>
            <a:picLocks noChangeAspect="1"/>
          </p:cNvPicPr>
          <p:nvPr/>
        </p:nvPicPr>
        <p:blipFill rotWithShape="1">
          <a:blip r:embed="rId4"/>
          <a:srcRect r="809"/>
          <a:stretch/>
        </p:blipFill>
        <p:spPr>
          <a:xfrm rot="-60000">
            <a:off x="5772415" y="149231"/>
            <a:ext cx="3752090" cy="1871614"/>
          </a:xfrm>
          <a:prstGeom prst="rect">
            <a:avLst/>
          </a:prstGeom>
        </p:spPr>
      </p:pic>
      <p:grpSp>
        <p:nvGrpSpPr>
          <p:cNvPr id="9" name="群組 8"/>
          <p:cNvGrpSpPr/>
          <p:nvPr/>
        </p:nvGrpSpPr>
        <p:grpSpPr>
          <a:xfrm>
            <a:off x="190255" y="4332756"/>
            <a:ext cx="1789457" cy="2497712"/>
            <a:chOff x="0" y="4481985"/>
            <a:chExt cx="1789457" cy="2497712"/>
          </a:xfrm>
        </p:grpSpPr>
        <p:pic>
          <p:nvPicPr>
            <p:cNvPr id="10" name="內容版面配置區 8"/>
            <p:cNvPicPr>
              <a:picLocks noChangeAspect="1"/>
            </p:cNvPicPr>
            <p:nvPr/>
          </p:nvPicPr>
          <p:blipFill rotWithShape="1">
            <a:blip r:embed="rId2">
              <a:extLst>
                <a:ext uri="{BEBA8EAE-BF5A-486C-A8C5-ECC9F3942E4B}">
                  <a14:imgProps xmlns:a14="http://schemas.microsoft.com/office/drawing/2010/main" xmlns="">
                    <a14:imgLayer r:embed="rId3">
                      <a14:imgEffect>
                        <a14:sharpenSoften amount="25000"/>
                      </a14:imgEffect>
                    </a14:imgLayer>
                  </a14:imgProps>
                </a:ext>
              </a:extLst>
            </a:blip>
            <a:srcRect l="68673" b="61202"/>
            <a:stretch/>
          </p:blipFill>
          <p:spPr>
            <a:xfrm>
              <a:off x="0" y="6165304"/>
              <a:ext cx="1789457" cy="814393"/>
            </a:xfrm>
            <a:prstGeom prst="rect">
              <a:avLst/>
            </a:prstGeom>
          </p:spPr>
        </p:pic>
        <p:pic>
          <p:nvPicPr>
            <p:cNvPr id="11" name="內容版面配置區 8"/>
            <p:cNvPicPr>
              <a:picLocks noChangeAspect="1"/>
            </p:cNvPicPr>
            <p:nvPr/>
          </p:nvPicPr>
          <p:blipFill rotWithShape="1">
            <a:blip r:embed="rId2"/>
            <a:srcRect l="68673" b="61202"/>
            <a:stretch/>
          </p:blipFill>
          <p:spPr>
            <a:xfrm>
              <a:off x="0" y="4481985"/>
              <a:ext cx="1259633" cy="2076034"/>
            </a:xfrm>
            <a:prstGeom prst="rect">
              <a:avLst/>
            </a:prstGeom>
          </p:spPr>
        </p:pic>
      </p:grpSp>
    </p:spTree>
    <p:extLst>
      <p:ext uri="{BB962C8B-B14F-4D97-AF65-F5344CB8AC3E}">
        <p14:creationId xmlns:p14="http://schemas.microsoft.com/office/powerpoint/2010/main" xmlns="" val="1938978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Fast update mining algorithm</a:t>
            </a:r>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9</a:t>
            </a:fld>
            <a:endParaRPr lang="zh-TW" altLang="en-US"/>
          </a:p>
        </p:txBody>
      </p:sp>
      <p:pic>
        <p:nvPicPr>
          <p:cNvPr id="7" name="內容版面配置區 6"/>
          <p:cNvPicPr>
            <a:picLocks noGrp="1" noChangeAspect="1"/>
          </p:cNvPicPr>
          <p:nvPr>
            <p:ph sz="quarter" idx="1"/>
          </p:nvPr>
        </p:nvPicPr>
        <p:blipFill>
          <a:blip r:embed="rId2"/>
          <a:stretch>
            <a:fillRect/>
          </a:stretch>
        </p:blipFill>
        <p:spPr>
          <a:xfrm>
            <a:off x="0" y="1093366"/>
            <a:ext cx="4466488" cy="2911698"/>
          </a:xfrm>
          <a:prstGeom prst="rect">
            <a:avLst/>
          </a:prstGeom>
        </p:spPr>
      </p:pic>
      <p:pic>
        <p:nvPicPr>
          <p:cNvPr id="9" name="圖片 8"/>
          <p:cNvPicPr>
            <a:picLocks noChangeAspect="1"/>
          </p:cNvPicPr>
          <p:nvPr/>
        </p:nvPicPr>
        <p:blipFill rotWithShape="1">
          <a:blip r:embed="rId3"/>
          <a:srcRect r="44535"/>
          <a:stretch/>
        </p:blipFill>
        <p:spPr>
          <a:xfrm>
            <a:off x="4788024" y="1156416"/>
            <a:ext cx="3960440" cy="3960490"/>
          </a:xfrm>
          <a:prstGeom prst="rect">
            <a:avLst/>
          </a:prstGeom>
        </p:spPr>
      </p:pic>
      <p:pic>
        <p:nvPicPr>
          <p:cNvPr id="10" name="圖片 9"/>
          <p:cNvPicPr>
            <a:picLocks noChangeAspect="1"/>
          </p:cNvPicPr>
          <p:nvPr/>
        </p:nvPicPr>
        <p:blipFill rotWithShape="1">
          <a:blip r:embed="rId3"/>
          <a:srcRect l="54457" b="27274"/>
          <a:stretch/>
        </p:blipFill>
        <p:spPr>
          <a:xfrm>
            <a:off x="671953" y="3985310"/>
            <a:ext cx="3251975" cy="2880320"/>
          </a:xfrm>
          <a:prstGeom prst="rect">
            <a:avLst/>
          </a:prstGeom>
        </p:spPr>
      </p:pic>
      <p:cxnSp>
        <p:nvCxnSpPr>
          <p:cNvPr id="12" name="直線單箭頭接點 11"/>
          <p:cNvCxnSpPr/>
          <p:nvPr/>
        </p:nvCxnSpPr>
        <p:spPr>
          <a:xfrm flipH="1">
            <a:off x="3995936" y="4509120"/>
            <a:ext cx="648072" cy="3600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xmlns="" val="12321438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a:t>
            </a:r>
            <a:r>
              <a:rPr lang="en-US" altLang="zh-TW" dirty="0" smtClean="0"/>
              <a:t>andidate </a:t>
            </a:r>
            <a:r>
              <a:rPr lang="en-US" altLang="zh-TW" dirty="0"/>
              <a:t>queue</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10</a:t>
            </a:fld>
            <a:endParaRPr lang="zh-TW" altLang="en-US"/>
          </a:p>
        </p:txBody>
      </p:sp>
      <p:graphicFrame>
        <p:nvGraphicFramePr>
          <p:cNvPr id="7" name="內容版面配置區 6"/>
          <p:cNvGraphicFramePr>
            <a:graphicFrameLocks noGrp="1"/>
          </p:cNvGraphicFramePr>
          <p:nvPr>
            <p:ph sz="quarter" idx="1"/>
            <p:extLst>
              <p:ext uri="{D42A27DB-BD31-4B8C-83A1-F6EECF244321}">
                <p14:modId xmlns:p14="http://schemas.microsoft.com/office/powerpoint/2010/main" xmlns="" val="305131305"/>
              </p:ext>
            </p:extLst>
          </p:nvPr>
        </p:nvGraphicFramePr>
        <p:xfrm>
          <a:off x="7020272" y="3879056"/>
          <a:ext cx="1244824" cy="1854200"/>
        </p:xfrm>
        <a:graphic>
          <a:graphicData uri="http://schemas.openxmlformats.org/drawingml/2006/table">
            <a:tbl>
              <a:tblPr firstRow="1" bandRow="1">
                <a:tableStyleId>{5940675A-B579-460E-94D1-54222C63F5DA}</a:tableStyleId>
              </a:tblPr>
              <a:tblGrid>
                <a:gridCol w="1244824"/>
              </a:tblGrid>
              <a:tr h="370840">
                <a:tc>
                  <a:txBody>
                    <a:bodyPr/>
                    <a:lstStyle/>
                    <a:p>
                      <a:endParaRPr lang="zh-TW" altLang="en-US" dirty="0"/>
                    </a:p>
                  </a:txBody>
                  <a:tcPr/>
                </a:tc>
              </a:tr>
              <a:tr h="370840">
                <a:tc>
                  <a:txBody>
                    <a:bodyPr/>
                    <a:lstStyle/>
                    <a:p>
                      <a:endParaRPr lang="zh-TW" altLang="en-US"/>
                    </a:p>
                  </a:txBody>
                  <a:tcPr/>
                </a:tc>
              </a:tr>
              <a:tr h="370840">
                <a:tc>
                  <a:txBody>
                    <a:bodyPr/>
                    <a:lstStyle/>
                    <a:p>
                      <a:endParaRPr lang="zh-TW" altLang="en-US"/>
                    </a:p>
                  </a:txBody>
                  <a:tcPr/>
                </a:tc>
              </a:tr>
              <a:tr h="370840">
                <a:tc>
                  <a:txBody>
                    <a:bodyPr/>
                    <a:lstStyle/>
                    <a:p>
                      <a:endParaRPr lang="zh-TW" altLang="en-US" dirty="0"/>
                    </a:p>
                  </a:txBody>
                  <a:tcPr/>
                </a:tc>
              </a:tr>
              <a:tr h="370840">
                <a:tc>
                  <a:txBody>
                    <a:bodyPr/>
                    <a:lstStyle/>
                    <a:p>
                      <a:endParaRPr lang="zh-TW" altLang="en-US" dirty="0"/>
                    </a:p>
                  </a:txBody>
                  <a:tcPr/>
                </a:tc>
              </a:tr>
            </a:tbl>
          </a:graphicData>
        </a:graphic>
      </p:graphicFrame>
      <p:pic>
        <p:nvPicPr>
          <p:cNvPr id="6" name="圖片 5"/>
          <p:cNvPicPr>
            <a:picLocks noChangeAspect="1"/>
          </p:cNvPicPr>
          <p:nvPr/>
        </p:nvPicPr>
        <p:blipFill>
          <a:blip r:embed="rId2"/>
          <a:stretch>
            <a:fillRect/>
          </a:stretch>
        </p:blipFill>
        <p:spPr>
          <a:xfrm>
            <a:off x="480080" y="1286258"/>
            <a:ext cx="7104881" cy="2142742"/>
          </a:xfrm>
          <a:prstGeom prst="rect">
            <a:avLst/>
          </a:prstGeom>
        </p:spPr>
      </p:pic>
      <p:sp>
        <p:nvSpPr>
          <p:cNvPr id="8" name="矩形 7"/>
          <p:cNvSpPr/>
          <p:nvPr/>
        </p:nvSpPr>
        <p:spPr>
          <a:xfrm>
            <a:off x="6444208" y="5733256"/>
            <a:ext cx="2376264" cy="369332"/>
          </a:xfrm>
          <a:prstGeom prst="rect">
            <a:avLst/>
          </a:prstGeom>
        </p:spPr>
        <p:txBody>
          <a:bodyPr wrap="square">
            <a:spAutoFit/>
          </a:bodyPr>
          <a:lstStyle/>
          <a:p>
            <a:r>
              <a:rPr lang="en-US" altLang="zh-TW" dirty="0"/>
              <a:t>Candidate </a:t>
            </a:r>
            <a:r>
              <a:rPr lang="en-US" altLang="zh-TW" dirty="0" smtClean="0"/>
              <a:t>queue for D</a:t>
            </a:r>
            <a:endParaRPr lang="zh-TW" altLang="en-US" dirty="0"/>
          </a:p>
        </p:txBody>
      </p:sp>
    </p:spTree>
    <p:extLst>
      <p:ext uri="{BB962C8B-B14F-4D97-AF65-F5344CB8AC3E}">
        <p14:creationId xmlns:p14="http://schemas.microsoft.com/office/powerpoint/2010/main" xmlns="" val="280682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Multi-pattern </a:t>
            </a:r>
            <a:r>
              <a:rPr lang="en-US" altLang="zh-TW" dirty="0"/>
              <a:t>re-mining algorithm</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11</a:t>
            </a:fld>
            <a:endParaRPr lang="zh-TW" altLang="en-US"/>
          </a:p>
        </p:txBody>
      </p:sp>
      <p:sp>
        <p:nvSpPr>
          <p:cNvPr id="5" name="內容版面配置區 4"/>
          <p:cNvSpPr>
            <a:spLocks noGrp="1"/>
          </p:cNvSpPr>
          <p:nvPr>
            <p:ph sz="quarter" idx="1"/>
          </p:nvPr>
        </p:nvSpPr>
        <p:spPr/>
        <p:txBody>
          <a:bodyPr>
            <a:normAutofit fontScale="92500" lnSpcReduction="10000"/>
          </a:bodyPr>
          <a:lstStyle/>
          <a:p>
            <a:r>
              <a:rPr lang="en-US" altLang="zh-TW" dirty="0"/>
              <a:t>(1) </a:t>
            </a:r>
            <a:r>
              <a:rPr lang="en-US" altLang="zh-TW" dirty="0">
                <a:solidFill>
                  <a:srgbClr val="FF0000"/>
                </a:solidFill>
              </a:rPr>
              <a:t>Scan the new incoming basic window BW to collect </a:t>
            </a:r>
            <a:r>
              <a:rPr lang="en-US" altLang="zh-TW" dirty="0" smtClean="0">
                <a:solidFill>
                  <a:srgbClr val="FF0000"/>
                </a:solidFill>
              </a:rPr>
              <a:t>1-patterns</a:t>
            </a:r>
            <a:r>
              <a:rPr lang="en-US" altLang="zh-TW" dirty="0" smtClean="0"/>
              <a:t> that </a:t>
            </a:r>
            <a:r>
              <a:rPr lang="en-US" altLang="zh-TW" dirty="0"/>
              <a:t>exist in pattern tree, or exist in candidate </a:t>
            </a:r>
            <a:r>
              <a:rPr lang="en-US" altLang="zh-TW" dirty="0" smtClean="0"/>
              <a:t>queue, or </a:t>
            </a:r>
            <a:r>
              <a:rPr lang="en-US" altLang="zh-TW" dirty="0"/>
              <a:t>appear frequent in BW with their </a:t>
            </a:r>
            <a:r>
              <a:rPr lang="en-US" altLang="zh-TW" dirty="0" err="1"/>
              <a:t>TidBW</a:t>
            </a:r>
            <a:r>
              <a:rPr lang="en-US" altLang="zh-TW" dirty="0"/>
              <a:t>-list.</a:t>
            </a:r>
          </a:p>
          <a:p>
            <a:r>
              <a:rPr lang="en-US" altLang="zh-TW" dirty="0"/>
              <a:t>(2) Use </a:t>
            </a:r>
            <a:r>
              <a:rPr lang="en-US" altLang="zh-TW" u="sng" dirty="0"/>
              <a:t>fast update mining algorithm</a:t>
            </a:r>
            <a:r>
              <a:rPr lang="en-US" altLang="zh-TW" dirty="0"/>
              <a:t> to calculate only </a:t>
            </a:r>
            <a:r>
              <a:rPr lang="en-US" altLang="zh-TW" dirty="0" smtClean="0">
                <a:solidFill>
                  <a:srgbClr val="FF0000"/>
                </a:solidFill>
              </a:rPr>
              <a:t>frequent 1-patterns</a:t>
            </a:r>
            <a:r>
              <a:rPr lang="en-US" altLang="zh-TW" dirty="0" smtClean="0"/>
              <a:t> </a:t>
            </a:r>
            <a:r>
              <a:rPr lang="en-US" altLang="zh-TW" dirty="0"/>
              <a:t>in pattern tree</a:t>
            </a:r>
            <a:r>
              <a:rPr lang="en-US" altLang="zh-TW" dirty="0" smtClean="0"/>
              <a:t>.</a:t>
            </a:r>
          </a:p>
          <a:p>
            <a:r>
              <a:rPr lang="en-US" altLang="zh-TW" dirty="0" smtClean="0"/>
              <a:t>(</a:t>
            </a:r>
            <a:r>
              <a:rPr lang="en-US" altLang="zh-TW" dirty="0"/>
              <a:t>3) </a:t>
            </a:r>
            <a:r>
              <a:rPr lang="en-US" altLang="zh-TW" dirty="0">
                <a:solidFill>
                  <a:srgbClr val="FF0000"/>
                </a:solidFill>
              </a:rPr>
              <a:t>Update candidate queue</a:t>
            </a:r>
            <a:r>
              <a:rPr lang="en-US" altLang="zh-TW" dirty="0"/>
              <a:t>: </a:t>
            </a:r>
            <a:endParaRPr lang="en-US" altLang="zh-TW" dirty="0" smtClean="0"/>
          </a:p>
          <a:p>
            <a:pPr lvl="1"/>
            <a:r>
              <a:rPr lang="en-US" altLang="zh-TW" dirty="0" smtClean="0"/>
              <a:t>(</a:t>
            </a:r>
            <a:r>
              <a:rPr lang="en-US" altLang="zh-TW" dirty="0"/>
              <a:t>a) add new 1-patterns into </a:t>
            </a:r>
            <a:r>
              <a:rPr lang="en-US" altLang="zh-TW" dirty="0" smtClean="0"/>
              <a:t>it</a:t>
            </a:r>
            <a:endParaRPr lang="en-US" altLang="zh-TW" dirty="0"/>
          </a:p>
          <a:p>
            <a:pPr lvl="1"/>
            <a:r>
              <a:rPr lang="en-US" altLang="zh-TW" dirty="0" smtClean="0"/>
              <a:t>(b) delete </a:t>
            </a:r>
            <a:r>
              <a:rPr lang="en-US" altLang="zh-TW" dirty="0"/>
              <a:t>unsatisfied </a:t>
            </a:r>
            <a:r>
              <a:rPr lang="en-US" altLang="zh-TW" dirty="0" smtClean="0"/>
              <a:t>ones</a:t>
            </a:r>
          </a:p>
          <a:p>
            <a:pPr lvl="1"/>
            <a:r>
              <a:rPr lang="en-US" altLang="zh-TW" dirty="0" smtClean="0"/>
              <a:t>(</a:t>
            </a:r>
            <a:r>
              <a:rPr lang="en-US" altLang="zh-TW" dirty="0"/>
              <a:t>c) for the ones that are </a:t>
            </a:r>
            <a:r>
              <a:rPr lang="en-US" altLang="zh-TW" dirty="0" smtClean="0"/>
              <a:t>frequent globally</a:t>
            </a:r>
            <a:r>
              <a:rPr lang="en-US" altLang="zh-TW" dirty="0"/>
              <a:t>, delete them as well and allocate new nodes in </a:t>
            </a:r>
            <a:r>
              <a:rPr lang="en-US" altLang="zh-TW" dirty="0" smtClean="0"/>
              <a:t>pattern tree </a:t>
            </a:r>
            <a:r>
              <a:rPr lang="en-US" altLang="zh-TW" dirty="0"/>
              <a:t>to denote </a:t>
            </a:r>
            <a:r>
              <a:rPr lang="en-US" altLang="zh-TW" dirty="0" smtClean="0"/>
              <a:t>them</a:t>
            </a:r>
            <a:endParaRPr lang="en-US" altLang="zh-TW" dirty="0"/>
          </a:p>
          <a:p>
            <a:r>
              <a:rPr lang="en-US" altLang="zh-TW" dirty="0"/>
              <a:t>(4) Calculate the support of </a:t>
            </a:r>
            <a:r>
              <a:rPr lang="en-US" altLang="zh-TW" dirty="0">
                <a:solidFill>
                  <a:srgbClr val="FF0000"/>
                </a:solidFill>
              </a:rPr>
              <a:t>frequent (k + 1)-patterns </a:t>
            </a:r>
            <a:r>
              <a:rPr lang="en-US" altLang="zh-TW" dirty="0"/>
              <a:t>using </a:t>
            </a:r>
            <a:r>
              <a:rPr lang="en-US" altLang="zh-TW" dirty="0" smtClean="0"/>
              <a:t>the </a:t>
            </a:r>
            <a:r>
              <a:rPr lang="en-US" altLang="zh-TW" dirty="0" err="1" smtClean="0"/>
              <a:t>Tid</a:t>
            </a:r>
            <a:r>
              <a:rPr lang="en-US" altLang="zh-TW" dirty="0" smtClean="0"/>
              <a:t>-lists </a:t>
            </a:r>
            <a:r>
              <a:rPr lang="en-US" altLang="zh-TW" dirty="0"/>
              <a:t>of frequent </a:t>
            </a:r>
            <a:r>
              <a:rPr lang="en-US" altLang="zh-TW" dirty="0" smtClean="0"/>
              <a:t>k-pattern.</a:t>
            </a:r>
            <a:endParaRPr lang="zh-TW" altLang="en-US" dirty="0"/>
          </a:p>
        </p:txBody>
      </p:sp>
    </p:spTree>
    <p:extLst>
      <p:ext uri="{BB962C8B-B14F-4D97-AF65-F5344CB8AC3E}">
        <p14:creationId xmlns:p14="http://schemas.microsoft.com/office/powerpoint/2010/main" xmlns="" val="3725359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Fast </a:t>
            </a:r>
            <a:r>
              <a:rPr lang="en-US" altLang="zh-TW" dirty="0"/>
              <a:t>multi-pattern </a:t>
            </a:r>
            <a:r>
              <a:rPr lang="en-US" altLang="zh-TW" dirty="0" smtClean="0"/>
              <a:t>capturing </a:t>
            </a:r>
            <a:r>
              <a:rPr lang="en-US" altLang="zh-TW" dirty="0"/>
              <a:t>algorithm</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12</a:t>
            </a:fld>
            <a:endParaRPr lang="zh-TW" altLang="en-US"/>
          </a:p>
        </p:txBody>
      </p:sp>
      <p:sp>
        <p:nvSpPr>
          <p:cNvPr id="5" name="內容版面配置區 4"/>
          <p:cNvSpPr>
            <a:spLocks noGrp="1"/>
          </p:cNvSpPr>
          <p:nvPr>
            <p:ph sz="quarter" idx="1"/>
          </p:nvPr>
        </p:nvSpPr>
        <p:spPr/>
        <p:txBody>
          <a:bodyPr/>
          <a:lstStyle/>
          <a:p>
            <a:r>
              <a:rPr lang="en-US" altLang="zh-TW" dirty="0" smtClean="0"/>
              <a:t>Usually </a:t>
            </a:r>
            <a:r>
              <a:rPr lang="en-US" altLang="zh-TW" dirty="0"/>
              <a:t>a server or a host that appears very active in the </a:t>
            </a:r>
            <a:r>
              <a:rPr lang="en-US" altLang="zh-TW" dirty="0" smtClean="0"/>
              <a:t>network almost </a:t>
            </a:r>
            <a:r>
              <a:rPr lang="en-US" altLang="zh-TW" dirty="0"/>
              <a:t>always is </a:t>
            </a:r>
            <a:r>
              <a:rPr lang="en-US" altLang="zh-TW" dirty="0">
                <a:solidFill>
                  <a:srgbClr val="FF0000"/>
                </a:solidFill>
              </a:rPr>
              <a:t>combined within a fixed pattern</a:t>
            </a:r>
            <a:r>
              <a:rPr lang="en-US" altLang="zh-TW" dirty="0"/>
              <a:t>.</a:t>
            </a:r>
            <a:endParaRPr lang="zh-TW" altLang="en-US" dirty="0"/>
          </a:p>
        </p:txBody>
      </p:sp>
      <p:pic>
        <p:nvPicPr>
          <p:cNvPr id="6" name="圖片 5"/>
          <p:cNvPicPr>
            <a:picLocks noChangeAspect="1"/>
          </p:cNvPicPr>
          <p:nvPr/>
        </p:nvPicPr>
        <p:blipFill>
          <a:blip r:embed="rId2"/>
          <a:srcRect r="52258"/>
          <a:stretch>
            <a:fillRect/>
          </a:stretch>
        </p:blipFill>
        <p:spPr>
          <a:xfrm>
            <a:off x="1603248" y="2794834"/>
            <a:ext cx="3040190" cy="3362126"/>
          </a:xfrm>
          <a:prstGeom prst="rect">
            <a:avLst/>
          </a:prstGeom>
        </p:spPr>
      </p:pic>
    </p:spTree>
    <p:extLst>
      <p:ext uri="{BB962C8B-B14F-4D97-AF65-F5344CB8AC3E}">
        <p14:creationId xmlns:p14="http://schemas.microsoft.com/office/powerpoint/2010/main" xmlns="" val="9119774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Fast multi-pattern capturing supplement</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13</a:t>
            </a:fld>
            <a:endParaRPr lang="zh-TW" altLang="en-US"/>
          </a:p>
        </p:txBody>
      </p:sp>
      <p:sp>
        <p:nvSpPr>
          <p:cNvPr id="5" name="內容版面配置區 4"/>
          <p:cNvSpPr>
            <a:spLocks noGrp="1"/>
          </p:cNvSpPr>
          <p:nvPr>
            <p:ph sz="quarter" idx="1"/>
          </p:nvPr>
        </p:nvSpPr>
        <p:spPr/>
        <p:txBody>
          <a:bodyPr/>
          <a:lstStyle/>
          <a:p>
            <a:r>
              <a:rPr lang="en-US" altLang="zh-TW" dirty="0" smtClean="0"/>
              <a:t>Usually </a:t>
            </a:r>
            <a:r>
              <a:rPr lang="en-US" altLang="zh-TW" dirty="0"/>
              <a:t>a server or a host that appears very active in the </a:t>
            </a:r>
            <a:r>
              <a:rPr lang="en-US" altLang="zh-TW" dirty="0" smtClean="0"/>
              <a:t>network almost </a:t>
            </a:r>
            <a:r>
              <a:rPr lang="en-US" altLang="zh-TW" dirty="0"/>
              <a:t>always is </a:t>
            </a:r>
            <a:r>
              <a:rPr lang="en-US" altLang="zh-TW" dirty="0">
                <a:solidFill>
                  <a:srgbClr val="FF0000"/>
                </a:solidFill>
              </a:rPr>
              <a:t>combined within a fixed pattern</a:t>
            </a:r>
            <a:r>
              <a:rPr lang="en-US" altLang="zh-TW" dirty="0"/>
              <a:t>.</a:t>
            </a:r>
            <a:endParaRPr lang="zh-TW" altLang="en-US" dirty="0"/>
          </a:p>
        </p:txBody>
      </p:sp>
      <p:pic>
        <p:nvPicPr>
          <p:cNvPr id="6" name="圖片 5"/>
          <p:cNvPicPr>
            <a:picLocks noChangeAspect="1"/>
          </p:cNvPicPr>
          <p:nvPr/>
        </p:nvPicPr>
        <p:blipFill>
          <a:blip r:embed="rId2"/>
          <a:stretch>
            <a:fillRect/>
          </a:stretch>
        </p:blipFill>
        <p:spPr>
          <a:xfrm>
            <a:off x="1603248" y="2794834"/>
            <a:ext cx="6367924" cy="3362126"/>
          </a:xfrm>
          <a:prstGeom prst="rect">
            <a:avLst/>
          </a:prstGeom>
        </p:spPr>
      </p:pic>
    </p:spTree>
    <p:extLst>
      <p:ext uri="{BB962C8B-B14F-4D97-AF65-F5344CB8AC3E}">
        <p14:creationId xmlns:p14="http://schemas.microsoft.com/office/powerpoint/2010/main" xmlns="" val="9119774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52400"/>
            <a:ext cx="8686800" cy="990600"/>
          </a:xfrm>
        </p:spPr>
        <p:txBody>
          <a:bodyPr>
            <a:normAutofit fontScale="90000"/>
          </a:bodyPr>
          <a:lstStyle/>
          <a:p>
            <a:r>
              <a:rPr lang="en-US" altLang="zh-TW" dirty="0" smtClean="0"/>
              <a:t>Summary </a:t>
            </a:r>
            <a:r>
              <a:rPr lang="en-US" altLang="zh-TW" dirty="0"/>
              <a:t>of frequent pattern mining algorithm</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14</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7" name="圖片 6"/>
          <p:cNvPicPr>
            <a:picLocks noChangeAspect="1"/>
          </p:cNvPicPr>
          <p:nvPr/>
        </p:nvPicPr>
        <p:blipFill rotWithShape="1">
          <a:blip r:embed="rId2"/>
          <a:srcRect l="58356"/>
          <a:stretch/>
        </p:blipFill>
        <p:spPr>
          <a:xfrm>
            <a:off x="3125838" y="3573016"/>
            <a:ext cx="5622626" cy="2808312"/>
          </a:xfrm>
          <a:prstGeom prst="rect">
            <a:avLst/>
          </a:prstGeom>
        </p:spPr>
      </p:pic>
      <p:pic>
        <p:nvPicPr>
          <p:cNvPr id="6" name="圖片 5"/>
          <p:cNvPicPr>
            <a:picLocks noChangeAspect="1"/>
          </p:cNvPicPr>
          <p:nvPr/>
        </p:nvPicPr>
        <p:blipFill rotWithShape="1">
          <a:blip r:embed="rId2"/>
          <a:srcRect t="7692" r="42515"/>
          <a:stretch/>
        </p:blipFill>
        <p:spPr>
          <a:xfrm>
            <a:off x="411088" y="1268760"/>
            <a:ext cx="7761312" cy="2592288"/>
          </a:xfrm>
          <a:prstGeom prst="rect">
            <a:avLst/>
          </a:prstGeom>
        </p:spPr>
      </p:pic>
    </p:spTree>
    <p:extLst>
      <p:ext uri="{BB962C8B-B14F-4D97-AF65-F5344CB8AC3E}">
        <p14:creationId xmlns:p14="http://schemas.microsoft.com/office/powerpoint/2010/main" xmlns="" val="14638461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15</a:t>
            </a:fld>
            <a:endParaRPr lang="zh-TW" altLang="en-US"/>
          </a:p>
        </p:txBody>
      </p:sp>
      <p:sp>
        <p:nvSpPr>
          <p:cNvPr id="5" name="內容版面配置區 4"/>
          <p:cNvSpPr>
            <a:spLocks noGrp="1"/>
          </p:cNvSpPr>
          <p:nvPr>
            <p:ph sz="quarter" idx="1"/>
          </p:nvPr>
        </p:nvSpPr>
        <p:spPr/>
        <p:txBody>
          <a:bodyPr/>
          <a:lstStyle/>
          <a:p>
            <a:r>
              <a:rPr lang="en-US" altLang="zh-TW" dirty="0" smtClean="0"/>
              <a:t>Gathering </a:t>
            </a:r>
            <a:r>
              <a:rPr lang="en-US" altLang="zh-TW" dirty="0"/>
              <a:t>network traces from the campus network of Peking </a:t>
            </a:r>
            <a:r>
              <a:rPr lang="en-US" altLang="zh-TW" dirty="0" smtClean="0"/>
              <a:t>University.</a:t>
            </a:r>
            <a:endParaRPr lang="zh-TW" altLang="en-US" dirty="0"/>
          </a:p>
        </p:txBody>
      </p:sp>
      <p:pic>
        <p:nvPicPr>
          <p:cNvPr id="6" name="內容版面配置區 5"/>
          <p:cNvPicPr>
            <a:picLocks noChangeAspect="1"/>
          </p:cNvPicPr>
          <p:nvPr/>
        </p:nvPicPr>
        <p:blipFill>
          <a:blip r:embed="rId2"/>
          <a:stretch>
            <a:fillRect/>
          </a:stretch>
        </p:blipFill>
        <p:spPr>
          <a:xfrm>
            <a:off x="35496" y="2348880"/>
            <a:ext cx="9195849" cy="1309643"/>
          </a:xfrm>
          <a:prstGeom prst="rect">
            <a:avLst/>
          </a:prstGeom>
        </p:spPr>
      </p:pic>
    </p:spTree>
    <p:extLst>
      <p:ext uri="{BB962C8B-B14F-4D97-AF65-F5344CB8AC3E}">
        <p14:creationId xmlns:p14="http://schemas.microsoft.com/office/powerpoint/2010/main" xmlns="" val="27507035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Experiments</a:t>
            </a:r>
            <a:br>
              <a:rPr lang="en-US" altLang="zh-TW" dirty="0" smtClean="0"/>
            </a:b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16</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6" name="圖片 5"/>
          <p:cNvPicPr>
            <a:picLocks noChangeAspect="1"/>
          </p:cNvPicPr>
          <p:nvPr/>
        </p:nvPicPr>
        <p:blipFill>
          <a:blip r:embed="rId2"/>
          <a:stretch>
            <a:fillRect/>
          </a:stretch>
        </p:blipFill>
        <p:spPr>
          <a:xfrm>
            <a:off x="2237060" y="703058"/>
            <a:ext cx="5400600" cy="2949725"/>
          </a:xfrm>
          <a:prstGeom prst="rect">
            <a:avLst/>
          </a:prstGeom>
        </p:spPr>
      </p:pic>
      <p:pic>
        <p:nvPicPr>
          <p:cNvPr id="7" name="圖片 6"/>
          <p:cNvPicPr>
            <a:picLocks noChangeAspect="1"/>
          </p:cNvPicPr>
          <p:nvPr/>
        </p:nvPicPr>
        <p:blipFill>
          <a:blip r:embed="rId3"/>
          <a:stretch>
            <a:fillRect/>
          </a:stretch>
        </p:blipFill>
        <p:spPr>
          <a:xfrm>
            <a:off x="2237060" y="3752478"/>
            <a:ext cx="5568811" cy="3078088"/>
          </a:xfrm>
          <a:prstGeom prst="rect">
            <a:avLst/>
          </a:prstGeom>
        </p:spPr>
      </p:pic>
    </p:spTree>
    <p:extLst>
      <p:ext uri="{BB962C8B-B14F-4D97-AF65-F5344CB8AC3E}">
        <p14:creationId xmlns:p14="http://schemas.microsoft.com/office/powerpoint/2010/main" xmlns="" val="27069772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Experiments</a:t>
            </a:r>
            <a:br>
              <a:rPr lang="en-US" altLang="zh-TW" dirty="0" smtClean="0"/>
            </a:b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17</a:t>
            </a:fld>
            <a:endParaRPr lang="zh-TW" altLang="en-US"/>
          </a:p>
        </p:txBody>
      </p:sp>
      <p:pic>
        <p:nvPicPr>
          <p:cNvPr id="6" name="內容版面配置區 5"/>
          <p:cNvPicPr>
            <a:picLocks noGrp="1" noChangeAspect="1"/>
          </p:cNvPicPr>
          <p:nvPr>
            <p:ph sz="quarter" idx="1"/>
          </p:nvPr>
        </p:nvPicPr>
        <p:blipFill>
          <a:blip r:embed="rId2"/>
          <a:stretch>
            <a:fillRect/>
          </a:stretch>
        </p:blipFill>
        <p:spPr>
          <a:xfrm>
            <a:off x="2182545" y="639395"/>
            <a:ext cx="5670857" cy="3149645"/>
          </a:xfrm>
          <a:prstGeom prst="rect">
            <a:avLst/>
          </a:prstGeom>
        </p:spPr>
      </p:pic>
      <p:pic>
        <p:nvPicPr>
          <p:cNvPr id="7" name="圖片 6"/>
          <p:cNvPicPr>
            <a:picLocks noChangeAspect="1"/>
          </p:cNvPicPr>
          <p:nvPr/>
        </p:nvPicPr>
        <p:blipFill>
          <a:blip r:embed="rId3"/>
          <a:stretch>
            <a:fillRect/>
          </a:stretch>
        </p:blipFill>
        <p:spPr>
          <a:xfrm>
            <a:off x="2292117" y="3759120"/>
            <a:ext cx="5153270" cy="3098879"/>
          </a:xfrm>
          <a:prstGeom prst="rect">
            <a:avLst/>
          </a:prstGeom>
        </p:spPr>
      </p:pic>
    </p:spTree>
    <p:extLst>
      <p:ext uri="{BB962C8B-B14F-4D97-AF65-F5344CB8AC3E}">
        <p14:creationId xmlns:p14="http://schemas.microsoft.com/office/powerpoint/2010/main" xmlns="" val="358269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Experiments</a:t>
            </a:r>
            <a:br>
              <a:rPr lang="en-US" altLang="zh-TW" dirty="0" smtClean="0"/>
            </a:b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18</a:t>
            </a:fld>
            <a:endParaRPr lang="zh-TW" altLang="en-US"/>
          </a:p>
        </p:txBody>
      </p:sp>
      <p:pic>
        <p:nvPicPr>
          <p:cNvPr id="6" name="內容版面配置區 5"/>
          <p:cNvPicPr>
            <a:picLocks noGrp="1" noChangeAspect="1"/>
          </p:cNvPicPr>
          <p:nvPr>
            <p:ph sz="quarter" idx="1"/>
          </p:nvPr>
        </p:nvPicPr>
        <p:blipFill>
          <a:blip r:embed="rId2"/>
          <a:stretch>
            <a:fillRect/>
          </a:stretch>
        </p:blipFill>
        <p:spPr>
          <a:xfrm>
            <a:off x="1762134" y="3770317"/>
            <a:ext cx="5704634" cy="3087683"/>
          </a:xfrm>
          <a:prstGeom prst="rect">
            <a:avLst/>
          </a:prstGeom>
        </p:spPr>
      </p:pic>
      <p:pic>
        <p:nvPicPr>
          <p:cNvPr id="7" name="圖片 6"/>
          <p:cNvPicPr>
            <a:picLocks noChangeAspect="1"/>
          </p:cNvPicPr>
          <p:nvPr/>
        </p:nvPicPr>
        <p:blipFill>
          <a:blip r:embed="rId3"/>
          <a:stretch>
            <a:fillRect/>
          </a:stretch>
        </p:blipFill>
        <p:spPr>
          <a:xfrm>
            <a:off x="1762134" y="588065"/>
            <a:ext cx="5885428" cy="3140968"/>
          </a:xfrm>
          <a:prstGeom prst="rect">
            <a:avLst/>
          </a:prstGeom>
        </p:spPr>
      </p:pic>
    </p:spTree>
    <p:extLst>
      <p:ext uri="{BB962C8B-B14F-4D97-AF65-F5344CB8AC3E}">
        <p14:creationId xmlns:p14="http://schemas.microsoft.com/office/powerpoint/2010/main" xmlns="" val="3895070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Experiments</a:t>
            </a:r>
            <a:br>
              <a:rPr lang="en-US" altLang="zh-TW" dirty="0" smtClean="0"/>
            </a:b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19</a:t>
            </a:fld>
            <a:endParaRPr lang="zh-TW" altLang="en-US"/>
          </a:p>
        </p:txBody>
      </p:sp>
      <p:sp>
        <p:nvSpPr>
          <p:cNvPr id="5" name="內容版面配置區 4"/>
          <p:cNvSpPr>
            <a:spLocks noGrp="1"/>
          </p:cNvSpPr>
          <p:nvPr>
            <p:ph sz="quarter" idx="1"/>
          </p:nvPr>
        </p:nvSpPr>
        <p:spPr/>
        <p:txBody>
          <a:bodyPr/>
          <a:lstStyle/>
          <a:p>
            <a:endParaRPr lang="zh-TW" altLang="en-US"/>
          </a:p>
        </p:txBody>
      </p:sp>
      <p:pic>
        <p:nvPicPr>
          <p:cNvPr id="8" name="圖片 7"/>
          <p:cNvPicPr>
            <a:picLocks noChangeAspect="1"/>
          </p:cNvPicPr>
          <p:nvPr/>
        </p:nvPicPr>
        <p:blipFill>
          <a:blip r:embed="rId2"/>
          <a:stretch>
            <a:fillRect/>
          </a:stretch>
        </p:blipFill>
        <p:spPr>
          <a:xfrm>
            <a:off x="1827150" y="573786"/>
            <a:ext cx="5659084" cy="3169087"/>
          </a:xfrm>
          <a:prstGeom prst="rect">
            <a:avLst/>
          </a:prstGeom>
        </p:spPr>
      </p:pic>
      <p:pic>
        <p:nvPicPr>
          <p:cNvPr id="10" name="圖片 9"/>
          <p:cNvPicPr>
            <a:picLocks noChangeAspect="1"/>
          </p:cNvPicPr>
          <p:nvPr/>
        </p:nvPicPr>
        <p:blipFill>
          <a:blip r:embed="rId3"/>
          <a:stretch>
            <a:fillRect/>
          </a:stretch>
        </p:blipFill>
        <p:spPr>
          <a:xfrm>
            <a:off x="1835696" y="3742873"/>
            <a:ext cx="5544615" cy="3137765"/>
          </a:xfrm>
          <a:prstGeom prst="rect">
            <a:avLst/>
          </a:prstGeom>
        </p:spPr>
      </p:pic>
    </p:spTree>
    <p:extLst>
      <p:ext uri="{BB962C8B-B14F-4D97-AF65-F5344CB8AC3E}">
        <p14:creationId xmlns:p14="http://schemas.microsoft.com/office/powerpoint/2010/main" xmlns="" val="1729478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Experiments</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20</a:t>
            </a:fld>
            <a:endParaRPr lang="zh-TW" altLang="en-US"/>
          </a:p>
        </p:txBody>
      </p:sp>
      <p:sp>
        <p:nvSpPr>
          <p:cNvPr id="5" name="內容版面配置區 4"/>
          <p:cNvSpPr>
            <a:spLocks noGrp="1"/>
          </p:cNvSpPr>
          <p:nvPr>
            <p:ph sz="quarter" idx="1"/>
          </p:nvPr>
        </p:nvSpPr>
        <p:spPr/>
        <p:txBody>
          <a:bodyPr/>
          <a:lstStyle/>
          <a:p>
            <a:endParaRPr lang="zh-TW" altLang="en-US"/>
          </a:p>
        </p:txBody>
      </p:sp>
      <p:pic>
        <p:nvPicPr>
          <p:cNvPr id="6" name="圖片 5"/>
          <p:cNvPicPr>
            <a:picLocks noChangeAspect="1"/>
          </p:cNvPicPr>
          <p:nvPr/>
        </p:nvPicPr>
        <p:blipFill>
          <a:blip r:embed="rId2"/>
          <a:stretch>
            <a:fillRect/>
          </a:stretch>
        </p:blipFill>
        <p:spPr>
          <a:xfrm>
            <a:off x="875079" y="1844824"/>
            <a:ext cx="7811721" cy="4060855"/>
          </a:xfrm>
          <a:prstGeom prst="rect">
            <a:avLst/>
          </a:prstGeom>
        </p:spPr>
      </p:pic>
    </p:spTree>
    <p:extLst>
      <p:ext uri="{BB962C8B-B14F-4D97-AF65-F5344CB8AC3E}">
        <p14:creationId xmlns:p14="http://schemas.microsoft.com/office/powerpoint/2010/main" xmlns="" val="2370302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Experiments</a:t>
            </a:r>
            <a:endParaRPr lang="zh-TW" altLang="en-US" dirty="0"/>
          </a:p>
        </p:txBody>
      </p:sp>
      <p:sp>
        <p:nvSpPr>
          <p:cNvPr id="3" name="日期版面配置區 2"/>
          <p:cNvSpPr>
            <a:spLocks noGrp="1"/>
          </p:cNvSpPr>
          <p:nvPr>
            <p:ph type="dt" sz="half" idx="10"/>
          </p:nvPr>
        </p:nvSpPr>
        <p:spPr/>
        <p:txBody>
          <a:bodyPr/>
          <a:lstStyle/>
          <a:p>
            <a:r>
              <a:rPr lang="en-US" altLang="zh-TW" smtClean="0"/>
              <a:t>2013/8/13</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21</a:t>
            </a:fld>
            <a:endParaRPr lang="zh-TW" altLang="en-US"/>
          </a:p>
        </p:txBody>
      </p:sp>
      <p:sp>
        <p:nvSpPr>
          <p:cNvPr id="5" name="內容版面配置區 4"/>
          <p:cNvSpPr>
            <a:spLocks noGrp="1"/>
          </p:cNvSpPr>
          <p:nvPr>
            <p:ph sz="quarter" idx="1"/>
          </p:nvPr>
        </p:nvSpPr>
        <p:spPr/>
        <p:txBody>
          <a:bodyPr/>
          <a:lstStyle/>
          <a:p>
            <a:endParaRPr lang="zh-TW" altLang="en-US"/>
          </a:p>
        </p:txBody>
      </p:sp>
      <p:pic>
        <p:nvPicPr>
          <p:cNvPr id="7" name="圖片 6"/>
          <p:cNvPicPr>
            <a:picLocks noChangeAspect="1"/>
          </p:cNvPicPr>
          <p:nvPr/>
        </p:nvPicPr>
        <p:blipFill>
          <a:blip r:embed="rId2"/>
          <a:stretch>
            <a:fillRect/>
          </a:stretch>
        </p:blipFill>
        <p:spPr>
          <a:xfrm>
            <a:off x="827584" y="1682750"/>
            <a:ext cx="7143750" cy="4133850"/>
          </a:xfrm>
          <a:prstGeom prst="rect">
            <a:avLst/>
          </a:prstGeom>
        </p:spPr>
      </p:pic>
    </p:spTree>
    <p:extLst>
      <p:ext uri="{BB962C8B-B14F-4D97-AF65-F5344CB8AC3E}">
        <p14:creationId xmlns:p14="http://schemas.microsoft.com/office/powerpoint/2010/main" xmlns="" val="3495796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Conclusions</a:t>
            </a:r>
            <a:endParaRPr lang="zh-TW" altLang="en-US" dirty="0">
              <a:latin typeface="微軟正黑體" pitchFamily="34" charset="-120"/>
              <a:ea typeface="微軟正黑體" pitchFamily="34" charset="-120"/>
            </a:endParaRPr>
          </a:p>
        </p:txBody>
      </p:sp>
      <p:sp>
        <p:nvSpPr>
          <p:cNvPr id="5" name="日期版面配置區 4"/>
          <p:cNvSpPr>
            <a:spLocks noGrp="1"/>
          </p:cNvSpPr>
          <p:nvPr>
            <p:ph type="dt" sz="half" idx="10"/>
          </p:nvPr>
        </p:nvSpPr>
        <p:spPr/>
        <p:txBody>
          <a:bodyPr/>
          <a:lstStyle/>
          <a:p>
            <a:r>
              <a:rPr lang="en-US" altLang="zh-TW" smtClean="0"/>
              <a:t>2013/8/13</a:t>
            </a:r>
            <a:endParaRPr lang="zh-TW" altLang="en-US"/>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pPr/>
              <a:t>22</a:t>
            </a:fld>
            <a:endParaRPr lang="zh-TW" altLang="en-US"/>
          </a:p>
        </p:txBody>
      </p:sp>
      <p:sp>
        <p:nvSpPr>
          <p:cNvPr id="7" name="內容版面配置區 6"/>
          <p:cNvSpPr>
            <a:spLocks noGrp="1"/>
          </p:cNvSpPr>
          <p:nvPr>
            <p:ph sz="quarter" idx="1"/>
          </p:nvPr>
        </p:nvSpPr>
        <p:spPr/>
        <p:txBody>
          <a:bodyPr/>
          <a:lstStyle/>
          <a:p>
            <a:r>
              <a:rPr lang="en-US" altLang="zh-TW" dirty="0" smtClean="0"/>
              <a:t>We </a:t>
            </a:r>
            <a:r>
              <a:rPr lang="en-US" altLang="zh-TW" dirty="0"/>
              <a:t>plan to improve this work </a:t>
            </a:r>
            <a:r>
              <a:rPr lang="en-US" altLang="zh-TW" dirty="0" smtClean="0"/>
              <a:t>by applying algorithms </a:t>
            </a:r>
            <a:r>
              <a:rPr lang="en-US" altLang="zh-TW" dirty="0"/>
              <a:t>of closed-pattern mining, </a:t>
            </a:r>
            <a:r>
              <a:rPr lang="en-US" altLang="zh-TW" dirty="0" smtClean="0"/>
              <a:t>top-k pattern </a:t>
            </a:r>
            <a:r>
              <a:rPr lang="en-US" altLang="zh-TW" dirty="0"/>
              <a:t>mining, or </a:t>
            </a:r>
            <a:r>
              <a:rPr lang="en-US" altLang="zh-TW" dirty="0" smtClean="0"/>
              <a:t>maximal mining </a:t>
            </a:r>
            <a:r>
              <a:rPr lang="en-US" altLang="zh-TW" dirty="0"/>
              <a:t>to condense the mount of frequent </a:t>
            </a:r>
            <a:r>
              <a:rPr lang="en-US" altLang="zh-TW" dirty="0" smtClean="0"/>
              <a:t>patterns.</a:t>
            </a:r>
          </a:p>
          <a:p>
            <a:r>
              <a:rPr lang="en-US" altLang="zh-TW" dirty="0" smtClean="0"/>
              <a:t>Exploiting </a:t>
            </a:r>
            <a:r>
              <a:rPr lang="en-US" altLang="zh-TW" dirty="0"/>
              <a:t>a </a:t>
            </a:r>
            <a:r>
              <a:rPr lang="en-US" altLang="zh-TW" dirty="0" smtClean="0"/>
              <a:t>system interface </a:t>
            </a:r>
            <a:r>
              <a:rPr lang="en-US" altLang="zh-TW" dirty="0"/>
              <a:t>to automatically reveal the patterns with which </a:t>
            </a:r>
            <a:r>
              <a:rPr lang="en-US" altLang="zh-TW" dirty="0" smtClean="0"/>
              <a:t>the administrator </a:t>
            </a:r>
            <a:r>
              <a:rPr lang="en-US" altLang="zh-TW" dirty="0"/>
              <a:t>may be </a:t>
            </a:r>
            <a:r>
              <a:rPr lang="en-US" altLang="zh-TW" dirty="0" smtClean="0"/>
              <a:t>interested.</a:t>
            </a:r>
          </a:p>
          <a:p>
            <a:r>
              <a:rPr lang="en-US" altLang="zh-TW" dirty="0" smtClean="0"/>
              <a:t>Designing </a:t>
            </a:r>
            <a:r>
              <a:rPr lang="en-US" altLang="zh-TW" dirty="0"/>
              <a:t>a self-learning </a:t>
            </a:r>
            <a:r>
              <a:rPr lang="en-US" altLang="zh-TW" dirty="0" smtClean="0"/>
              <a:t>model that </a:t>
            </a:r>
            <a:r>
              <a:rPr lang="en-US" altLang="zh-TW" dirty="0"/>
              <a:t>can identify normal and anomaly actions </a:t>
            </a:r>
            <a:r>
              <a:rPr lang="en-US" altLang="zh-TW" dirty="0" smtClean="0"/>
              <a:t>automatically.</a:t>
            </a:r>
            <a:endParaRPr lang="zh-TW" altLang="en-US" dirty="0"/>
          </a:p>
        </p:txBody>
      </p:sp>
    </p:spTree>
    <p:extLst>
      <p:ext uri="{BB962C8B-B14F-4D97-AF65-F5344CB8AC3E}">
        <p14:creationId xmlns:p14="http://schemas.microsoft.com/office/powerpoint/2010/main" xmlns="" val="22663142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2">
      <a:majorFont>
        <a:latin typeface="Calibri"/>
        <a:ea typeface="Calibri"/>
        <a:cs typeface=""/>
      </a:majorFont>
      <a:minorFont>
        <a:latin typeface="Calibri"/>
        <a:ea typeface="Calibri"/>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7074</TotalTime>
  <Words>687</Words>
  <Application>Microsoft Office PowerPoint</Application>
  <PresentationFormat>如螢幕大小 (4:3)</PresentationFormat>
  <Paragraphs>91</Paragraphs>
  <Slides>22</Slides>
  <Notes>1</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原創</vt:lpstr>
      <vt:lpstr>Mining frequent patterns from network flows for monitoring network  Expert Systems with Applications   vol.37 (2010) pp.8850–8860</vt:lpstr>
      <vt:lpstr>Abstract</vt:lpstr>
      <vt:lpstr>Abstract</vt:lpstr>
      <vt:lpstr>Abstract</vt:lpstr>
      <vt:lpstr>Model and framework</vt:lpstr>
      <vt:lpstr>Algorithms</vt:lpstr>
      <vt:lpstr>Vertical re-mining(Apriori)</vt:lpstr>
      <vt:lpstr>Vertical re-mining(Apriori)</vt:lpstr>
      <vt:lpstr>Fast update mining algorithm</vt:lpstr>
      <vt:lpstr>Candidate queue</vt:lpstr>
      <vt:lpstr>Multi-pattern re-mining algorithm</vt:lpstr>
      <vt:lpstr>Fast multi-pattern capturing algorithm</vt:lpstr>
      <vt:lpstr>Fast multi-pattern capturing supplement</vt:lpstr>
      <vt:lpstr>Summary of frequent pattern mining algorithm</vt:lpstr>
      <vt:lpstr>Experiments</vt:lpstr>
      <vt:lpstr>Experiments </vt:lpstr>
      <vt:lpstr>Experiments </vt:lpstr>
      <vt:lpstr>Experiments </vt:lpstr>
      <vt:lpstr>Experiments </vt:lpstr>
      <vt:lpstr>Experiments</vt:lpstr>
      <vt:lpstr>Experiments</vt:lpstr>
      <vt:lpstr>Conclusions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admin</cp:lastModifiedBy>
  <cp:revision>286</cp:revision>
  <cp:lastPrinted>2012-09-10T21:31:19Z</cp:lastPrinted>
  <dcterms:created xsi:type="dcterms:W3CDTF">2012-09-10T08:29:10Z</dcterms:created>
  <dcterms:modified xsi:type="dcterms:W3CDTF">2013-08-13T11:28:15Z</dcterms:modified>
</cp:coreProperties>
</file>