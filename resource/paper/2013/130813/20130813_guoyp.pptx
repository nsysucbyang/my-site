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8" r:id="rId3"/>
    <p:sldId id="259" r:id="rId4"/>
    <p:sldId id="260" r:id="rId5"/>
    <p:sldId id="261" r:id="rId6"/>
    <p:sldId id="262" r:id="rId7"/>
    <p:sldId id="265" r:id="rId8"/>
    <p:sldId id="267" r:id="rId9"/>
    <p:sldId id="264" r:id="rId10"/>
    <p:sldId id="263" r:id="rId11"/>
    <p:sldId id="269" r:id="rId1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23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80F444E-32A8-40B0-8D33-E405963D8D08}" type="datetimeFigureOut">
              <a:rPr lang="zh-TW" altLang="en-US" smtClean="0"/>
              <a:t>2013/8/13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AABB11-8EEB-4987-AB1B-79BF277BB753}" type="slidenum">
              <a:rPr lang="zh-TW" altLang="en-US" smtClean="0"/>
              <a:t>‹#›</a:t>
            </a:fld>
            <a:endParaRPr lang="zh-TW" altLang="en-US"/>
          </a:p>
        </p:txBody>
      </p:sp>
    </p:spTree>
    <p:extLst>
      <p:ext uri="{BB962C8B-B14F-4D97-AF65-F5344CB8AC3E}">
        <p14:creationId xmlns:p14="http://schemas.microsoft.com/office/powerpoint/2010/main" val="61272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關鍵詞？</a:t>
            </a:r>
            <a:r>
              <a:rPr lang="en-US" altLang="zh-TW" dirty="0" smtClean="0"/>
              <a:t>http://en.wikipedia.org/wiki/Wordfilter</a:t>
            </a:r>
          </a:p>
        </p:txBody>
      </p:sp>
      <p:sp>
        <p:nvSpPr>
          <p:cNvPr id="4" name="投影片編號版面配置區 3"/>
          <p:cNvSpPr>
            <a:spLocks noGrp="1"/>
          </p:cNvSpPr>
          <p:nvPr>
            <p:ph type="sldNum" sz="quarter" idx="10"/>
          </p:nvPr>
        </p:nvSpPr>
        <p:spPr/>
        <p:txBody>
          <a:bodyPr/>
          <a:lstStyle/>
          <a:p>
            <a:fld id="{73AABB11-8EEB-4987-AB1B-79BF277BB753}" type="slidenum">
              <a:rPr lang="zh-TW" altLang="en-US" smtClean="0"/>
              <a:t>6</a:t>
            </a:fld>
            <a:endParaRPr lang="zh-TW" altLang="en-US"/>
          </a:p>
        </p:txBody>
      </p:sp>
    </p:spTree>
    <p:extLst>
      <p:ext uri="{BB962C8B-B14F-4D97-AF65-F5344CB8AC3E}">
        <p14:creationId xmlns:p14="http://schemas.microsoft.com/office/powerpoint/2010/main" val="2034677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3833696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2456055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2065715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72316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182512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2798834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3212393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859420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3065348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2131576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1F9913-ED05-4FB7-ABB5-4D3AF41A2641}" type="datetimeFigureOut">
              <a:rPr lang="zh-TW" altLang="en-US" smtClean="0"/>
              <a:t>2013/8/13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2261686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1F9913-ED05-4FB7-ABB5-4D3AF41A2641}" type="datetimeFigureOut">
              <a:rPr lang="zh-TW" altLang="en-US" smtClean="0"/>
              <a:t>2013/8/13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178A83-01DD-404C-A961-931684EC20CE}" type="slidenum">
              <a:rPr lang="zh-TW" altLang="en-US" smtClean="0"/>
              <a:t>‹#›</a:t>
            </a:fld>
            <a:endParaRPr lang="zh-TW" altLang="en-US"/>
          </a:p>
        </p:txBody>
      </p:sp>
    </p:spTree>
    <p:extLst>
      <p:ext uri="{BB962C8B-B14F-4D97-AF65-F5344CB8AC3E}">
        <p14:creationId xmlns:p14="http://schemas.microsoft.com/office/powerpoint/2010/main" val="6117974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2000" y="2130425"/>
            <a:ext cx="9000000" cy="1470025"/>
          </a:xfrm>
        </p:spPr>
        <p:txBody>
          <a:bodyPr>
            <a:normAutofit fontScale="90000"/>
          </a:bodyPr>
          <a:lstStyle/>
          <a:p>
            <a:r>
              <a:rPr lang="en-US" altLang="zh-TW" dirty="0" smtClean="0"/>
              <a:t>Acceleration of sequence clustering using longest common subsequence filtering</a:t>
            </a:r>
            <a:endParaRPr lang="zh-TW" altLang="en-US" dirty="0"/>
          </a:p>
        </p:txBody>
      </p:sp>
      <p:sp>
        <p:nvSpPr>
          <p:cNvPr id="3" name="副標題 2"/>
          <p:cNvSpPr>
            <a:spLocks noGrp="1"/>
          </p:cNvSpPr>
          <p:nvPr>
            <p:ph type="subTitle" idx="1"/>
          </p:nvPr>
        </p:nvSpPr>
        <p:spPr/>
        <p:txBody>
          <a:bodyPr>
            <a:normAutofit/>
          </a:bodyPr>
          <a:lstStyle/>
          <a:p>
            <a:r>
              <a:rPr lang="en-US" altLang="zh-TW" sz="2000" dirty="0" err="1" smtClean="0">
                <a:solidFill>
                  <a:schemeClr val="tx1"/>
                </a:solidFill>
              </a:rPr>
              <a:t>Youhei</a:t>
            </a:r>
            <a:r>
              <a:rPr lang="en-US" altLang="zh-TW" sz="2000" dirty="0" smtClean="0">
                <a:solidFill>
                  <a:schemeClr val="tx1"/>
                </a:solidFill>
              </a:rPr>
              <a:t> </a:t>
            </a:r>
            <a:r>
              <a:rPr lang="en-US" altLang="zh-TW" sz="2000" dirty="0" err="1" smtClean="0">
                <a:solidFill>
                  <a:schemeClr val="tx1"/>
                </a:solidFill>
              </a:rPr>
              <a:t>Namiki</a:t>
            </a:r>
            <a:r>
              <a:rPr lang="en-US" altLang="zh-TW" sz="2000" dirty="0" smtClean="0">
                <a:solidFill>
                  <a:schemeClr val="tx1"/>
                </a:solidFill>
              </a:rPr>
              <a:t>, Takashi Ishida, Yutaka Akiyama</a:t>
            </a:r>
            <a:br>
              <a:rPr lang="en-US" altLang="zh-TW" sz="2000" dirty="0" smtClean="0">
                <a:solidFill>
                  <a:schemeClr val="tx1"/>
                </a:solidFill>
              </a:rPr>
            </a:br>
            <a:r>
              <a:rPr lang="en-US" altLang="zh-TW" sz="2000" dirty="0" smtClean="0">
                <a:solidFill>
                  <a:schemeClr val="tx1"/>
                </a:solidFill>
              </a:rPr>
              <a:t>The 2012 International Conference on Intelligent Computing</a:t>
            </a:r>
            <a:br>
              <a:rPr lang="en-US" altLang="zh-TW" sz="2000" dirty="0" smtClean="0">
                <a:solidFill>
                  <a:schemeClr val="tx1"/>
                </a:solidFill>
              </a:rPr>
            </a:br>
            <a:r>
              <a:rPr lang="en-US" altLang="zh-TW" sz="2000" dirty="0" err="1" smtClean="0">
                <a:solidFill>
                  <a:schemeClr val="tx1"/>
                </a:solidFill>
              </a:rPr>
              <a:t>Huangshan</a:t>
            </a:r>
            <a:r>
              <a:rPr lang="en-US" altLang="zh-TW" sz="2000" dirty="0" smtClean="0">
                <a:solidFill>
                  <a:schemeClr val="tx1"/>
                </a:solidFill>
              </a:rPr>
              <a:t>, China. 25-29 July 2012</a:t>
            </a:r>
          </a:p>
          <a:p>
            <a:r>
              <a:rPr lang="en-US" altLang="zh-TW" sz="2000" dirty="0" smtClean="0">
                <a:solidFill>
                  <a:schemeClr val="tx1"/>
                </a:solidFill>
              </a:rPr>
              <a:t>Presenter: </a:t>
            </a:r>
            <a:r>
              <a:rPr lang="en-US" altLang="zh-TW" sz="2000" dirty="0" err="1" smtClean="0">
                <a:solidFill>
                  <a:schemeClr val="tx1"/>
                </a:solidFill>
              </a:rPr>
              <a:t>Guo</a:t>
            </a:r>
            <a:r>
              <a:rPr lang="en-US" altLang="zh-TW" sz="2000" dirty="0" smtClean="0">
                <a:solidFill>
                  <a:schemeClr val="tx1"/>
                </a:solidFill>
              </a:rPr>
              <a:t> Yi-</a:t>
            </a:r>
            <a:r>
              <a:rPr lang="en-US" altLang="zh-TW" sz="2000" dirty="0" err="1" smtClean="0">
                <a:solidFill>
                  <a:schemeClr val="tx1"/>
                </a:solidFill>
              </a:rPr>
              <a:t>Pu</a:t>
            </a:r>
            <a:r>
              <a:rPr lang="en-US" altLang="zh-TW" sz="2000" dirty="0" smtClean="0">
                <a:solidFill>
                  <a:schemeClr val="tx1"/>
                </a:solidFill>
              </a:rPr>
              <a:t/>
            </a:r>
            <a:br>
              <a:rPr lang="en-US" altLang="zh-TW" sz="2000" dirty="0" smtClean="0">
                <a:solidFill>
                  <a:schemeClr val="tx1"/>
                </a:solidFill>
              </a:rPr>
            </a:br>
            <a:r>
              <a:rPr lang="en-US" altLang="zh-TW" sz="2000" dirty="0" smtClean="0">
                <a:solidFill>
                  <a:schemeClr val="tx1"/>
                </a:solidFill>
              </a:rPr>
              <a:t>2013-08-13</a:t>
            </a:r>
          </a:p>
        </p:txBody>
      </p:sp>
    </p:spTree>
    <p:extLst>
      <p:ext uri="{BB962C8B-B14F-4D97-AF65-F5344CB8AC3E}">
        <p14:creationId xmlns:p14="http://schemas.microsoft.com/office/powerpoint/2010/main" val="38229482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(1/2)</a:t>
            </a:r>
            <a:endParaRPr lang="zh-TW" altLang="en-US" dirty="0"/>
          </a:p>
        </p:txBody>
      </p:sp>
      <p:sp>
        <p:nvSpPr>
          <p:cNvPr id="3" name="內容版面配置區 2"/>
          <p:cNvSpPr>
            <a:spLocks noGrp="1"/>
          </p:cNvSpPr>
          <p:nvPr>
            <p:ph idx="1"/>
          </p:nvPr>
        </p:nvSpPr>
        <p:spPr/>
        <p:txBody>
          <a:bodyPr>
            <a:normAutofit/>
          </a:bodyPr>
          <a:lstStyle/>
          <a:p>
            <a:pPr marL="0" indent="457200" algn="just">
              <a:lnSpc>
                <a:spcPct val="150000"/>
              </a:lnSpc>
              <a:buNone/>
            </a:pPr>
            <a:r>
              <a:rPr lang="en-US" altLang="zh-TW" sz="2000" b="1" dirty="0" smtClean="0"/>
              <a:t>Background:</a:t>
            </a:r>
            <a:r>
              <a:rPr lang="en-US" altLang="zh-TW" sz="2000" dirty="0" smtClean="0"/>
              <a:t> Huge numbers of genomes can now be sequenced rapidly with recent improvements in sequencing throughput. However, data analysis methods have not kept up, making it difficult to process the vast amounts of available sequence data. This increased processing time is especially critical in DNA sequence clustering because of the intrinsic difficulty in parallelization. Thus, there is a strong demand for a faster clustering algorithm.</a:t>
            </a:r>
          </a:p>
          <a:p>
            <a:pPr marL="0" indent="457200" algn="just">
              <a:lnSpc>
                <a:spcPct val="150000"/>
              </a:lnSpc>
              <a:buNone/>
            </a:pPr>
            <a:r>
              <a:rPr lang="en-US" altLang="zh-TW" sz="2000" b="1" dirty="0" smtClean="0"/>
              <a:t>Results:</a:t>
            </a:r>
            <a:r>
              <a:rPr lang="en-US" altLang="zh-TW" sz="2000" dirty="0" smtClean="0"/>
              <a:t> We developed a new fast DNA sequence clustering method called LCS-HIT, based on the popular CD-HIT program. The proposed method uses a novel filtering technique based on the longest common subsequence</a:t>
            </a:r>
            <a:endParaRPr lang="zh-TW" altLang="en-US" sz="2000" dirty="0"/>
          </a:p>
        </p:txBody>
      </p:sp>
    </p:spTree>
    <p:extLst>
      <p:ext uri="{BB962C8B-B14F-4D97-AF65-F5344CB8AC3E}">
        <p14:creationId xmlns:p14="http://schemas.microsoft.com/office/powerpoint/2010/main" val="31371136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(2/2)</a:t>
            </a:r>
            <a:endParaRPr lang="zh-TW" altLang="en-US" dirty="0"/>
          </a:p>
        </p:txBody>
      </p:sp>
      <p:sp>
        <p:nvSpPr>
          <p:cNvPr id="3" name="內容版面配置區 2"/>
          <p:cNvSpPr>
            <a:spLocks noGrp="1"/>
          </p:cNvSpPr>
          <p:nvPr>
            <p:ph idx="1"/>
          </p:nvPr>
        </p:nvSpPr>
        <p:spPr/>
        <p:txBody>
          <a:bodyPr>
            <a:normAutofit/>
          </a:bodyPr>
          <a:lstStyle/>
          <a:p>
            <a:pPr marL="0" indent="0" algn="just">
              <a:lnSpc>
                <a:spcPct val="150000"/>
              </a:lnSpc>
              <a:buNone/>
            </a:pPr>
            <a:r>
              <a:rPr lang="en-US" altLang="zh-TW" sz="2000" dirty="0" smtClean="0"/>
              <a:t>to identify similar sequence pairs. This filtering technique makes the LCS-HIT considerably faster than CD-HIT, without loss of sensitivity. For a dataset of two million DNA sequences, our method was approximately 7.1, 4.4, and 2.2 times faster than CD-HIT for 100, 150, and 400 bases, respectively.</a:t>
            </a:r>
          </a:p>
          <a:p>
            <a:pPr marL="0" indent="457200" algn="just">
              <a:lnSpc>
                <a:spcPct val="150000"/>
              </a:lnSpc>
              <a:buNone/>
            </a:pPr>
            <a:r>
              <a:rPr lang="en-US" altLang="zh-TW" sz="2000" b="1" dirty="0" smtClean="0"/>
              <a:t>Conclusions:</a:t>
            </a:r>
            <a:r>
              <a:rPr lang="en-US" altLang="zh-TW" sz="2000" dirty="0" smtClean="0"/>
              <a:t> The LCS-HIT clustering program, using a novel filtering technique based on the longest common subsequence, is significantly faster than CD-HIT without compromising clustering accuracy. Moreover, the filtering technique itself is independent from the CD-HIT algorithm. Thus, this technique can be applied to similar clustering algorithms.</a:t>
            </a:r>
            <a:endParaRPr lang="zh-TW" altLang="en-US" sz="2000" dirty="0"/>
          </a:p>
        </p:txBody>
      </p:sp>
    </p:spTree>
    <p:extLst>
      <p:ext uri="{BB962C8B-B14F-4D97-AF65-F5344CB8AC3E}">
        <p14:creationId xmlns:p14="http://schemas.microsoft.com/office/powerpoint/2010/main" val="17892587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Problem to Solve: Clustering</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marL="0" indent="0">
                  <a:lnSpc>
                    <a:spcPct val="150000"/>
                  </a:lnSpc>
                  <a:buNone/>
                </a:pPr>
                <a:r>
                  <a:rPr lang="zh-TW" altLang="en-US" sz="2400" dirty="0" smtClean="0"/>
                  <a:t>前言：</a:t>
                </a:r>
                <a:r>
                  <a:rPr lang="en-US" altLang="zh-TW" sz="2400" dirty="0" smtClean="0"/>
                  <a:t>DNA sequencing </a:t>
                </a:r>
                <a:r>
                  <a:rPr lang="zh-TW" altLang="en-US" sz="2400" dirty="0" smtClean="0"/>
                  <a:t>速度很</a:t>
                </a:r>
                <a:r>
                  <a:rPr lang="zh-TW" altLang="en-US" sz="2400" dirty="0" smtClean="0"/>
                  <a:t>快了，但後續的分析跟不上。</a:t>
                </a:r>
                <a:endParaRPr lang="en-US" altLang="zh-TW" sz="2400" dirty="0" smtClean="0"/>
              </a:p>
              <a:p>
                <a:pPr marL="0" indent="0">
                  <a:lnSpc>
                    <a:spcPct val="150000"/>
                  </a:lnSpc>
                  <a:buNone/>
                </a:pPr>
                <a:endParaRPr lang="en-US" altLang="zh-TW" sz="2400" dirty="0"/>
              </a:p>
              <a:p>
                <a:pPr>
                  <a:lnSpc>
                    <a:spcPct val="150000"/>
                  </a:lnSpc>
                </a:pPr>
                <a:r>
                  <a:rPr lang="en-US" altLang="zh-TW" sz="2400" dirty="0" smtClean="0"/>
                  <a:t>Input: </a:t>
                </a:r>
                <a14:m>
                  <m:oMath xmlns:m="http://schemas.openxmlformats.org/officeDocument/2006/math">
                    <m:r>
                      <a:rPr lang="en-US" altLang="zh-TW" sz="2400" dirty="0" smtClean="0">
                        <a:latin typeface="Cambria Math"/>
                      </a:rPr>
                      <m:t>𝑄</m:t>
                    </m:r>
                  </m:oMath>
                </a14:m>
                <a:r>
                  <a:rPr lang="zh-TW" altLang="en-US" sz="2400" dirty="0" smtClean="0"/>
                  <a:t> </a:t>
                </a:r>
                <a:r>
                  <a:rPr lang="en-US" altLang="zh-TW" sz="2400" dirty="0" smtClean="0"/>
                  <a:t>is the set of sequences to be clustered.</a:t>
                </a:r>
              </a:p>
              <a:p>
                <a:pPr>
                  <a:lnSpc>
                    <a:spcPct val="150000"/>
                  </a:lnSpc>
                </a:pPr>
                <a:r>
                  <a:rPr lang="en-US" altLang="zh-TW" sz="2400" dirty="0" smtClean="0"/>
                  <a:t>Clusters: </a:t>
                </a:r>
                <a14:m>
                  <m:oMath xmlns:m="http://schemas.openxmlformats.org/officeDocument/2006/math">
                    <m:r>
                      <a:rPr lang="en-US" altLang="zh-TW" sz="2400" dirty="0" smtClean="0">
                        <a:latin typeface="Cambria Math"/>
                      </a:rPr>
                      <m:t>𝑅</m:t>
                    </m:r>
                    <m:r>
                      <a:rPr lang="en-US" altLang="zh-TW" sz="2400" dirty="0" smtClean="0">
                        <a:latin typeface="Cambria Math"/>
                      </a:rPr>
                      <m:t>=</m:t>
                    </m:r>
                    <m:d>
                      <m:dPr>
                        <m:begChr m:val="{"/>
                        <m:endChr m:val="}"/>
                        <m:ctrlPr>
                          <a:rPr lang="en-US" altLang="zh-TW" sz="2400" i="1" dirty="0" smtClean="0">
                            <a:latin typeface="Cambria Math"/>
                          </a:rPr>
                        </m:ctrlPr>
                      </m:dPr>
                      <m:e>
                        <m:r>
                          <a:rPr lang="en-US" altLang="zh-TW" sz="2400" dirty="0" smtClean="0">
                            <a:latin typeface="Cambria Math"/>
                          </a:rPr>
                          <m:t>∅</m:t>
                        </m:r>
                      </m:e>
                    </m:d>
                  </m:oMath>
                </a14:m>
                <a:endParaRPr lang="en-US" altLang="zh-TW" sz="2400" dirty="0" smtClean="0"/>
              </a:p>
              <a:p>
                <a:pPr>
                  <a:lnSpc>
                    <a:spcPct val="150000"/>
                  </a:lnSpc>
                </a:pPr>
                <a:r>
                  <a:rPr lang="zh-TW" altLang="en-US" sz="2400" dirty="0" smtClean="0"/>
                  <a:t>分做不固定多類，由  </a:t>
                </a:r>
                <a:r>
                  <a:rPr lang="en-US" altLang="zh-TW" sz="2400" dirty="0" smtClean="0"/>
                  <a:t>threshold </a:t>
                </a:r>
                <a:r>
                  <a:rPr lang="zh-TW" altLang="en-US" sz="2400" dirty="0" smtClean="0"/>
                  <a:t>調整。</a:t>
                </a:r>
                <a:endParaRPr lang="en-US" altLang="zh-TW" sz="2400"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1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552166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Algorithm</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zh-TW" altLang="en-US" sz="2400" dirty="0" smtClean="0"/>
              <a:t>逐一比對 </a:t>
            </a:r>
            <a:r>
              <a:rPr lang="en-US" altLang="zh-TW" sz="2400" dirty="0" smtClean="0"/>
              <a:t>LCS </a:t>
            </a:r>
            <a:r>
              <a:rPr lang="zh-TW" altLang="en-US" sz="2400" dirty="0" smtClean="0"/>
              <a:t>十分耗時。</a:t>
            </a:r>
            <a:endParaRPr lang="en-US" altLang="zh-TW" sz="2400" dirty="0" smtClean="0"/>
          </a:p>
          <a:p>
            <a:pPr>
              <a:lnSpc>
                <a:spcPct val="150000"/>
              </a:lnSpc>
            </a:pPr>
            <a:r>
              <a:rPr lang="zh-TW" altLang="en-US" sz="2400" dirty="0" smtClean="0"/>
              <a:t>基於 </a:t>
            </a:r>
            <a:r>
              <a:rPr lang="en-US" altLang="zh-TW" sz="2400" dirty="0" smtClean="0"/>
              <a:t>CD-HIT</a:t>
            </a:r>
          </a:p>
          <a:p>
            <a:pPr>
              <a:lnSpc>
                <a:spcPct val="150000"/>
              </a:lnSpc>
            </a:pPr>
            <a:r>
              <a:rPr lang="zh-TW" altLang="en-US" sz="2400" dirty="0" smtClean="0"/>
              <a:t>先做過濾，有可能的才進一步計算。</a:t>
            </a:r>
            <a:endParaRPr lang="en-US" altLang="zh-TW" sz="2400" dirty="0" smtClean="0"/>
          </a:p>
          <a:p>
            <a:pPr>
              <a:lnSpc>
                <a:spcPct val="150000"/>
              </a:lnSpc>
            </a:pPr>
            <a:r>
              <a:rPr lang="zh-TW" altLang="en-US" sz="2400" dirty="0" smtClean="0"/>
              <a:t>增加了 </a:t>
            </a:r>
            <a:r>
              <a:rPr lang="en-US" altLang="zh-TW" sz="2400" dirty="0" smtClean="0"/>
              <a:t>LCS filtering</a:t>
            </a:r>
            <a:r>
              <a:rPr lang="zh-TW" altLang="en-US" sz="2400" dirty="0" smtClean="0"/>
              <a:t>。</a:t>
            </a:r>
            <a:endParaRPr lang="en-US" altLang="zh-TW" sz="2400" dirty="0" smtClean="0"/>
          </a:p>
        </p:txBody>
      </p:sp>
    </p:spTree>
    <p:extLst>
      <p:ext uri="{BB962C8B-B14F-4D97-AF65-F5344CB8AC3E}">
        <p14:creationId xmlns:p14="http://schemas.microsoft.com/office/powerpoint/2010/main" val="11367902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4921" y="85258"/>
            <a:ext cx="6714158" cy="6687484"/>
          </a:xfrm>
          <a:prstGeom prst="rect">
            <a:avLst/>
          </a:prstGeom>
        </p:spPr>
      </p:pic>
      <mc:AlternateContent xmlns:mc="http://schemas.openxmlformats.org/markup-compatibility/2006" xmlns:a14="http://schemas.microsoft.com/office/drawing/2010/main">
        <mc:Choice Requires="a14">
          <p:sp>
            <p:nvSpPr>
              <p:cNvPr id="3" name="文字方塊 2"/>
              <p:cNvSpPr txBox="1"/>
              <p:nvPr/>
            </p:nvSpPr>
            <p:spPr>
              <a:xfrm>
                <a:off x="539552" y="980728"/>
                <a:ext cx="1607491" cy="369332"/>
              </a:xfrm>
              <a:prstGeom prst="rect">
                <a:avLst/>
              </a:prstGeom>
              <a:noFill/>
            </p:spPr>
            <p:txBody>
              <a:bodyPr wrap="none" rtlCol="0">
                <a:spAutoFit/>
              </a:bodyPr>
              <a:lstStyle/>
              <a:p>
                <a:r>
                  <a:rPr lang="en-US" altLang="zh-TW" b="0" dirty="0" smtClean="0"/>
                  <a:t>For each </a:t>
                </a:r>
                <a14:m>
                  <m:oMath xmlns:m="http://schemas.openxmlformats.org/officeDocument/2006/math">
                    <m:r>
                      <a:rPr lang="en-US" altLang="zh-TW" b="0" i="1" smtClean="0">
                        <a:latin typeface="Cambria Math"/>
                      </a:rPr>
                      <m:t>𝑞</m:t>
                    </m:r>
                    <m:r>
                      <a:rPr lang="en-US" altLang="zh-TW" b="0" i="1" smtClean="0">
                        <a:latin typeface="Cambria Math"/>
                        <a:ea typeface="Cambria Math"/>
                      </a:rPr>
                      <m:t>∈</m:t>
                    </m:r>
                    <m:r>
                      <a:rPr lang="en-US" altLang="zh-TW" b="0" i="1" smtClean="0">
                        <a:latin typeface="Cambria Math"/>
                        <a:ea typeface="Cambria Math"/>
                      </a:rPr>
                      <m:t>𝑄</m:t>
                    </m:r>
                  </m:oMath>
                </a14:m>
                <a:endParaRPr lang="zh-TW" altLang="en-US"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539552" y="980728"/>
                <a:ext cx="1607491" cy="369332"/>
              </a:xfrm>
              <a:prstGeom prst="rect">
                <a:avLst/>
              </a:prstGeom>
              <a:blipFill rotWithShape="1">
                <a:blip r:embed="rId4"/>
                <a:stretch>
                  <a:fillRect l="-3422" t="-8333"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4585733" y="476672"/>
                <a:ext cx="7783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a:rPr>
                        <m:t>𝑟</m:t>
                      </m:r>
                      <m:r>
                        <a:rPr lang="en-US" altLang="zh-TW" b="0" i="1" smtClean="0">
                          <a:latin typeface="Cambria Math"/>
                          <a:ea typeface="Cambria Math"/>
                        </a:rPr>
                        <m:t>∈</m:t>
                      </m:r>
                      <m:r>
                        <a:rPr lang="en-US" altLang="zh-TW" b="0" i="1" smtClean="0">
                          <a:latin typeface="Cambria Math"/>
                          <a:ea typeface="Cambria Math"/>
                        </a:rPr>
                        <m:t>𝑅</m:t>
                      </m:r>
                    </m:oMath>
                  </m:oMathPara>
                </a14:m>
                <a:endParaRPr lang="zh-TW" altLang="en-US"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4585733" y="476672"/>
                <a:ext cx="778355" cy="369332"/>
              </a:xfrm>
              <a:prstGeom prst="rect">
                <a:avLst/>
              </a:prstGeom>
              <a:blipFill rotWithShape="1">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251520" y="6237312"/>
                <a:ext cx="4286751" cy="369332"/>
              </a:xfrm>
              <a:prstGeom prst="rect">
                <a:avLst/>
              </a:prstGeom>
              <a:noFill/>
            </p:spPr>
            <p:txBody>
              <a:bodyPr wrap="none" rtlCol="0">
                <a:spAutoFit/>
              </a:bodyPr>
              <a:lstStyle/>
              <a:p>
                <a:r>
                  <a:rPr lang="zh-TW" altLang="en-US" dirty="0" smtClean="0"/>
                  <a:t>若沒有任何相似的類，則增添一類至 </a:t>
                </a:r>
                <a14:m>
                  <m:oMath xmlns:m="http://schemas.openxmlformats.org/officeDocument/2006/math">
                    <m:r>
                      <a:rPr lang="en-US" altLang="zh-TW" i="1" dirty="0" smtClean="0">
                        <a:latin typeface="Cambria Math"/>
                      </a:rPr>
                      <m:t>𝑅</m:t>
                    </m:r>
                  </m:oMath>
                </a14:m>
                <a:r>
                  <a:rPr lang="zh-TW" altLang="en-US" dirty="0" smtClean="0"/>
                  <a:t>。</a:t>
                </a:r>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251520" y="6237312"/>
                <a:ext cx="4286751" cy="369332"/>
              </a:xfrm>
              <a:prstGeom prst="rect">
                <a:avLst/>
              </a:prstGeom>
              <a:blipFill rotWithShape="1">
                <a:blip r:embed="rId6"/>
                <a:stretch>
                  <a:fillRect l="-1138" t="-9836" r="-1138" b="-22951"/>
                </a:stretch>
              </a:blipFill>
            </p:spPr>
            <p:txBody>
              <a:bodyPr/>
              <a:lstStyle/>
              <a:p>
                <a:r>
                  <a:rPr lang="zh-TW" altLang="en-US">
                    <a:noFill/>
                  </a:rPr>
                  <a:t> </a:t>
                </a:r>
              </a:p>
            </p:txBody>
          </p:sp>
        </mc:Fallback>
      </mc:AlternateContent>
      <p:sp>
        <p:nvSpPr>
          <p:cNvPr id="6" name="文字方塊 5"/>
          <p:cNvSpPr txBox="1"/>
          <p:nvPr/>
        </p:nvSpPr>
        <p:spPr>
          <a:xfrm>
            <a:off x="7308304" y="2293138"/>
            <a:ext cx="1569660" cy="369332"/>
          </a:xfrm>
          <a:prstGeom prst="rect">
            <a:avLst/>
          </a:prstGeom>
          <a:noFill/>
        </p:spPr>
        <p:txBody>
          <a:bodyPr wrap="none" rtlCol="0">
            <a:spAutoFit/>
          </a:bodyPr>
          <a:lstStyle/>
          <a:p>
            <a:r>
              <a:rPr lang="zh-TW" altLang="en-US" dirty="0" smtClean="0"/>
              <a:t>很粗糙的過濾</a:t>
            </a:r>
            <a:endParaRPr lang="zh-TW" altLang="en-US" dirty="0"/>
          </a:p>
        </p:txBody>
      </p:sp>
      <p:sp>
        <p:nvSpPr>
          <p:cNvPr id="7" name="文字方塊 6"/>
          <p:cNvSpPr txBox="1"/>
          <p:nvPr/>
        </p:nvSpPr>
        <p:spPr>
          <a:xfrm>
            <a:off x="6930216" y="4365104"/>
            <a:ext cx="1997726" cy="369332"/>
          </a:xfrm>
          <a:prstGeom prst="rect">
            <a:avLst/>
          </a:prstGeom>
          <a:noFill/>
        </p:spPr>
        <p:txBody>
          <a:bodyPr wrap="none" rtlCol="0">
            <a:spAutoFit/>
          </a:bodyPr>
          <a:lstStyle/>
          <a:p>
            <a:r>
              <a:rPr lang="zh-TW" altLang="en-US" dirty="0" smtClean="0"/>
              <a:t>以 </a:t>
            </a:r>
            <a:r>
              <a:rPr lang="en-US" altLang="zh-TW" dirty="0" smtClean="0"/>
              <a:t>bit-parallel </a:t>
            </a:r>
            <a:r>
              <a:rPr lang="zh-TW" altLang="en-US" dirty="0" smtClean="0"/>
              <a:t>加速</a:t>
            </a:r>
            <a:endParaRPr lang="zh-TW" altLang="en-US" dirty="0"/>
          </a:p>
        </p:txBody>
      </p:sp>
      <p:sp>
        <p:nvSpPr>
          <p:cNvPr id="8" name="文字方塊 7"/>
          <p:cNvSpPr txBox="1"/>
          <p:nvPr/>
        </p:nvSpPr>
        <p:spPr>
          <a:xfrm>
            <a:off x="6300192" y="6237312"/>
            <a:ext cx="2768835" cy="369332"/>
          </a:xfrm>
          <a:prstGeom prst="rect">
            <a:avLst/>
          </a:prstGeom>
          <a:noFill/>
        </p:spPr>
        <p:txBody>
          <a:bodyPr wrap="none" rtlCol="0">
            <a:spAutoFit/>
          </a:bodyPr>
          <a:lstStyle/>
          <a:p>
            <a:r>
              <a:rPr lang="zh-TW" altLang="en-US" dirty="0" smtClean="0"/>
              <a:t>這裡用 </a:t>
            </a:r>
            <a:r>
              <a:rPr lang="en-US" altLang="zh-TW" dirty="0" smtClean="0"/>
              <a:t>affine gap penalties</a:t>
            </a:r>
            <a:endParaRPr lang="zh-TW" altLang="en-US" dirty="0"/>
          </a:p>
        </p:txBody>
      </p:sp>
    </p:spTree>
    <p:extLst>
      <p:ext uri="{BB962C8B-B14F-4D97-AF65-F5344CB8AC3E}">
        <p14:creationId xmlns:p14="http://schemas.microsoft.com/office/powerpoint/2010/main" val="3860247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Partial Exact Matching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a:lnSpc>
                    <a:spcPct val="150000"/>
                  </a:lnSpc>
                </a:pPr>
                <a:r>
                  <a:rPr lang="en-US" altLang="zh-TW" sz="2400" dirty="0" smtClean="0"/>
                  <a:t>Divide P into (k+1) non-overlapping pieces,</a:t>
                </a:r>
              </a:p>
              <a:p>
                <a:pPr>
                  <a:lnSpc>
                    <a:spcPct val="150000"/>
                  </a:lnSpc>
                </a:pPr>
                <a:r>
                  <a:rPr lang="en-US" altLang="zh-TW" sz="2400" dirty="0" smtClean="0"/>
                  <a:t>then at least one of the pieces must appear in the string S,</a:t>
                </a:r>
              </a:p>
              <a:p>
                <a:pPr>
                  <a:lnSpc>
                    <a:spcPct val="150000"/>
                  </a:lnSpc>
                </a:pPr>
                <a:r>
                  <a:rPr lang="en-US" altLang="zh-TW" sz="2400" dirty="0" smtClean="0"/>
                  <a:t>where S is a substring of T and </a:t>
                </a:r>
                <a14:m>
                  <m:oMath xmlns:m="http://schemas.openxmlformats.org/officeDocument/2006/math">
                    <m:r>
                      <a:rPr lang="en-US" altLang="zh-TW" sz="2400" smtClean="0">
                        <a:latin typeface="Cambria Math"/>
                      </a:rPr>
                      <m:t>𝐸𝐷</m:t>
                    </m:r>
                    <m:r>
                      <a:rPr lang="en-US" altLang="zh-TW" sz="2400" smtClean="0">
                        <a:latin typeface="Cambria Math"/>
                      </a:rPr>
                      <m:t>(</m:t>
                    </m:r>
                    <m:r>
                      <a:rPr lang="en-US" altLang="zh-TW" sz="2400" smtClean="0">
                        <a:latin typeface="Cambria Math"/>
                      </a:rPr>
                      <m:t>𝑆</m:t>
                    </m:r>
                    <m:r>
                      <a:rPr lang="en-US" altLang="zh-TW" sz="2400" smtClean="0">
                        <a:latin typeface="Cambria Math"/>
                      </a:rPr>
                      <m:t>,</m:t>
                    </m:r>
                    <m:r>
                      <a:rPr lang="en-US" altLang="zh-TW" sz="2400" smtClean="0">
                        <a:latin typeface="Cambria Math"/>
                      </a:rPr>
                      <m:t>𝑃</m:t>
                    </m:r>
                    <m:r>
                      <a:rPr lang="en-US" altLang="zh-TW" sz="2400" smtClean="0">
                        <a:latin typeface="Cambria Math"/>
                      </a:rPr>
                      <m:t>)≤</m:t>
                    </m:r>
                    <m:r>
                      <a:rPr lang="en-US" altLang="zh-TW" sz="2400" smtClean="0">
                        <a:latin typeface="Cambria Math"/>
                      </a:rPr>
                      <m:t>𝑘</m:t>
                    </m:r>
                  </m:oMath>
                </a14:m>
                <a:r>
                  <a:rPr lang="en-US" altLang="zh-TW" sz="2400" dirty="0" smtClean="0"/>
                  <a:t>.</a:t>
                </a:r>
              </a:p>
              <a:p>
                <a:pPr marL="0" indent="0">
                  <a:lnSpc>
                    <a:spcPct val="150000"/>
                  </a:lnSpc>
                  <a:buNone/>
                </a:pPr>
                <a:endParaRPr lang="en-US" altLang="zh-TW" sz="2400" dirty="0"/>
              </a:p>
              <a:p>
                <a:pPr marL="0" indent="0">
                  <a:lnSpc>
                    <a:spcPct val="150000"/>
                  </a:lnSpc>
                  <a:buNone/>
                </a:pPr>
                <a:r>
                  <a:rPr lang="en-US" altLang="zh-TW" sz="2400" dirty="0" smtClean="0"/>
                  <a:t>P: </a:t>
                </a:r>
                <a:r>
                  <a:rPr lang="en-US" altLang="zh-TW" sz="2400" dirty="0" err="1" smtClean="0">
                    <a:latin typeface="Courier New" pitchFamily="49" charset="0"/>
                    <a:cs typeface="Courier New" pitchFamily="49" charset="0"/>
                  </a:rPr>
                  <a:t>abbcbabac</a:t>
                </a:r>
                <a:r>
                  <a:rPr lang="en-US" altLang="zh-TW" sz="2400" dirty="0" smtClean="0"/>
                  <a:t> (k=2)</a:t>
                </a:r>
              </a:p>
              <a:p>
                <a:pPr marL="0" indent="0">
                  <a:lnSpc>
                    <a:spcPct val="150000"/>
                  </a:lnSpc>
                  <a:buNone/>
                </a:pPr>
                <a:r>
                  <a:rPr lang="en-US" altLang="zh-TW" sz="2400" dirty="0" smtClean="0"/>
                  <a:t>Pieces of P: </a:t>
                </a:r>
                <a:r>
                  <a:rPr lang="en-US" altLang="zh-TW" sz="2400" dirty="0" err="1" smtClean="0">
                    <a:latin typeface="Courier New" pitchFamily="49" charset="0"/>
                    <a:cs typeface="Courier New" pitchFamily="49" charset="0"/>
                  </a:rPr>
                  <a:t>abb</a:t>
                </a:r>
                <a:r>
                  <a:rPr lang="en-US" altLang="zh-TW" sz="2400" dirty="0" smtClean="0">
                    <a:latin typeface="Courier New" pitchFamily="49" charset="0"/>
                    <a:cs typeface="Courier New" pitchFamily="49" charset="0"/>
                  </a:rPr>
                  <a:t> </a:t>
                </a:r>
                <a:r>
                  <a:rPr lang="en-US" altLang="zh-TW" sz="2400" dirty="0" err="1">
                    <a:latin typeface="Courier New" pitchFamily="49" charset="0"/>
                    <a:cs typeface="Courier New" pitchFamily="49" charset="0"/>
                  </a:rPr>
                  <a:t>cba</a:t>
                </a:r>
                <a:r>
                  <a:rPr lang="en-US" altLang="zh-TW" sz="2400" dirty="0">
                    <a:latin typeface="Courier New" pitchFamily="49" charset="0"/>
                    <a:cs typeface="Courier New" pitchFamily="49" charset="0"/>
                  </a:rPr>
                  <a:t> </a:t>
                </a:r>
                <a:r>
                  <a:rPr lang="en-US" altLang="zh-TW" sz="2400" dirty="0" err="1" smtClean="0">
                    <a:latin typeface="Courier New" pitchFamily="49" charset="0"/>
                    <a:cs typeface="Courier New" pitchFamily="49" charset="0"/>
                  </a:rPr>
                  <a:t>bac</a:t>
                </a:r>
                <a:r>
                  <a:rPr lang="en-US" altLang="zh-TW" sz="2400" dirty="0" smtClean="0"/>
                  <a:t> (k+1=3)</a:t>
                </a:r>
                <a:endParaRPr lang="en-US" altLang="zh-TW" sz="2400" dirty="0"/>
              </a:p>
              <a:p>
                <a:pPr marL="0" indent="0">
                  <a:lnSpc>
                    <a:spcPct val="150000"/>
                  </a:lnSpc>
                  <a:buNone/>
                </a:pPr>
                <a:r>
                  <a:rPr lang="en-US" altLang="zh-TW" sz="2400" dirty="0" smtClean="0"/>
                  <a:t>S: </a:t>
                </a:r>
                <a:r>
                  <a:rPr lang="en-US" altLang="zh-TW" sz="2400" dirty="0" err="1" smtClean="0">
                    <a:solidFill>
                      <a:srgbClr val="0070C0"/>
                    </a:solidFill>
                    <a:latin typeface="Courier New" pitchFamily="49" charset="0"/>
                    <a:cs typeface="Courier New" pitchFamily="49" charset="0"/>
                  </a:rPr>
                  <a:t>abb</a:t>
                </a:r>
                <a:r>
                  <a:rPr lang="en-US" altLang="zh-TW" sz="2400" dirty="0" err="1" smtClean="0">
                    <a:solidFill>
                      <a:srgbClr val="FF0000"/>
                    </a:solidFill>
                    <a:latin typeface="Courier New" pitchFamily="49" charset="0"/>
                    <a:cs typeface="Courier New" pitchFamily="49" charset="0"/>
                  </a:rPr>
                  <a:t>d</a:t>
                </a:r>
                <a:r>
                  <a:rPr lang="en-US" altLang="zh-TW" sz="2400" dirty="0" err="1" smtClean="0">
                    <a:latin typeface="Courier New" pitchFamily="49" charset="0"/>
                    <a:cs typeface="Courier New" pitchFamily="49" charset="0"/>
                  </a:rPr>
                  <a:t>ba</a:t>
                </a:r>
                <a:r>
                  <a:rPr lang="en-US" altLang="zh-TW" sz="2400" dirty="0" err="1" smtClean="0">
                    <a:solidFill>
                      <a:srgbClr val="FF0000"/>
                    </a:solidFill>
                    <a:latin typeface="Courier New" pitchFamily="49" charset="0"/>
                    <a:cs typeface="Courier New" pitchFamily="49" charset="0"/>
                  </a:rPr>
                  <a:t>e</a:t>
                </a:r>
                <a:r>
                  <a:rPr lang="en-US" altLang="zh-TW" sz="2400" dirty="0" err="1" smtClean="0">
                    <a:latin typeface="Courier New" pitchFamily="49" charset="0"/>
                    <a:cs typeface="Courier New" pitchFamily="49" charset="0"/>
                  </a:rPr>
                  <a:t>ac</a:t>
                </a:r>
                <a:endParaRPr lang="en-US" altLang="zh-TW" sz="2400" dirty="0" smtClean="0">
                  <a:latin typeface="Courier New" pitchFamily="49" charset="0"/>
                  <a:cs typeface="Courier New" pitchFamily="49"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1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238340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Short Word Table</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400" dirty="0" smtClean="0"/>
              <a:t>CD-HIT</a:t>
            </a:r>
          </a:p>
          <a:p>
            <a:pPr lvl="1">
              <a:lnSpc>
                <a:spcPct val="150000"/>
              </a:lnSpc>
            </a:pPr>
            <a:r>
              <a:rPr lang="en-US" altLang="zh-TW" sz="2400" dirty="0" smtClean="0"/>
              <a:t>All the k-</a:t>
            </a:r>
            <a:r>
              <a:rPr lang="en-US" altLang="zh-TW" sz="2400" dirty="0" err="1" smtClean="0"/>
              <a:t>mers</a:t>
            </a:r>
            <a:endParaRPr lang="en-US" altLang="zh-TW" sz="2400" dirty="0" smtClean="0"/>
          </a:p>
          <a:p>
            <a:pPr lvl="1">
              <a:lnSpc>
                <a:spcPct val="150000"/>
              </a:lnSpc>
            </a:pPr>
            <a:r>
              <a:rPr lang="en-US" altLang="zh-TW" sz="2400" dirty="0" smtClean="0"/>
              <a:t># common k-</a:t>
            </a:r>
            <a:r>
              <a:rPr lang="en-US" altLang="zh-TW" sz="2400" dirty="0" err="1" smtClean="0"/>
              <a:t>mer</a:t>
            </a:r>
            <a:r>
              <a:rPr lang="en-US" altLang="zh-TW" sz="2400" dirty="0" smtClean="0"/>
              <a:t> &gt; t’</a:t>
            </a:r>
          </a:p>
          <a:p>
            <a:pPr>
              <a:lnSpc>
                <a:spcPct val="150000"/>
              </a:lnSpc>
            </a:pPr>
            <a:r>
              <a:rPr lang="en-US" altLang="zh-TW" sz="2400" dirty="0" smtClean="0"/>
              <a:t>This paper</a:t>
            </a:r>
          </a:p>
          <a:p>
            <a:pPr lvl="1">
              <a:lnSpc>
                <a:spcPct val="150000"/>
              </a:lnSpc>
            </a:pPr>
            <a:r>
              <a:rPr lang="en-US" altLang="zh-TW" sz="2400" dirty="0" smtClean="0"/>
              <a:t>Every </a:t>
            </a:r>
            <a:r>
              <a:rPr lang="en-US" altLang="zh-TW" sz="2400" dirty="0" err="1" smtClean="0"/>
              <a:t>kth</a:t>
            </a:r>
            <a:r>
              <a:rPr lang="en-US" altLang="zh-TW" sz="2400" dirty="0" smtClean="0"/>
              <a:t> k-</a:t>
            </a:r>
            <a:r>
              <a:rPr lang="en-US" altLang="zh-TW" sz="2400" dirty="0" err="1" smtClean="0"/>
              <a:t>mer</a:t>
            </a:r>
            <a:endParaRPr lang="en-US" altLang="zh-TW" sz="2400" dirty="0" smtClean="0"/>
          </a:p>
          <a:p>
            <a:pPr lvl="1">
              <a:lnSpc>
                <a:spcPct val="150000"/>
              </a:lnSpc>
            </a:pPr>
            <a:r>
              <a:rPr lang="en-US" altLang="zh-TW" sz="2400" dirty="0" err="1" smtClean="0"/>
              <a:t>aatcg</a:t>
            </a:r>
            <a:r>
              <a:rPr lang="en-US" altLang="zh-TW" sz="2400" dirty="0" smtClean="0"/>
              <a:t> </a:t>
            </a:r>
            <a:r>
              <a:rPr lang="en-US" altLang="zh-TW" sz="2400" dirty="0" err="1" smtClean="0"/>
              <a:t>cacgc</a:t>
            </a:r>
            <a:r>
              <a:rPr lang="en-US" altLang="zh-TW" sz="2400" dirty="0" smtClean="0"/>
              <a:t> </a:t>
            </a:r>
            <a:r>
              <a:rPr lang="en-US" altLang="zh-TW" sz="2400" dirty="0" err="1" smtClean="0"/>
              <a:t>tacgg</a:t>
            </a:r>
            <a:r>
              <a:rPr lang="en-US" altLang="zh-TW" sz="2400" dirty="0" smtClean="0"/>
              <a:t> </a:t>
            </a:r>
            <a:r>
              <a:rPr lang="en-US" altLang="zh-TW" sz="2400" dirty="0" err="1" smtClean="0"/>
              <a:t>tacga</a:t>
            </a:r>
            <a:r>
              <a:rPr lang="en-US" altLang="zh-TW" sz="2400" dirty="0" smtClean="0"/>
              <a:t> (ex: k=5)</a:t>
            </a:r>
          </a:p>
          <a:p>
            <a:pPr lvl="1">
              <a:lnSpc>
                <a:spcPct val="150000"/>
              </a:lnSpc>
            </a:pPr>
            <a:r>
              <a:rPr lang="en-US" altLang="zh-TW" sz="2400" dirty="0" smtClean="0"/>
              <a:t># common k-</a:t>
            </a:r>
            <a:r>
              <a:rPr lang="en-US" altLang="zh-TW" sz="2400" dirty="0" err="1" smtClean="0"/>
              <a:t>mer</a:t>
            </a:r>
            <a:r>
              <a:rPr lang="en-US" altLang="zh-TW" sz="2400" dirty="0" smtClean="0"/>
              <a:t> &gt; t’/k</a:t>
            </a:r>
          </a:p>
        </p:txBody>
      </p:sp>
      <p:sp>
        <p:nvSpPr>
          <p:cNvPr id="15" name="文字方塊 14"/>
          <p:cNvSpPr txBox="1"/>
          <p:nvPr/>
        </p:nvSpPr>
        <p:spPr>
          <a:xfrm>
            <a:off x="6156176" y="1628800"/>
            <a:ext cx="873957" cy="1754326"/>
          </a:xfrm>
          <a:prstGeom prst="rect">
            <a:avLst/>
          </a:prstGeom>
          <a:noFill/>
        </p:spPr>
        <p:txBody>
          <a:bodyPr wrap="none" rtlCol="0">
            <a:spAutoFit/>
          </a:bodyPr>
          <a:lstStyle/>
          <a:p>
            <a:r>
              <a:rPr lang="en-US" altLang="zh-TW" dirty="0" err="1" smtClean="0">
                <a:latin typeface="Courier New" pitchFamily="49" charset="0"/>
                <a:cs typeface="Courier New" pitchFamily="49" charset="0"/>
              </a:rPr>
              <a:t>aatcg</a:t>
            </a:r>
            <a:endParaRPr lang="en-US" altLang="zh-TW" dirty="0" smtClean="0">
              <a:latin typeface="Courier New" pitchFamily="49" charset="0"/>
              <a:cs typeface="Courier New" pitchFamily="49" charset="0"/>
            </a:endParaRPr>
          </a:p>
          <a:p>
            <a:r>
              <a:rPr lang="en-US" altLang="zh-TW" dirty="0" err="1" smtClean="0">
                <a:latin typeface="Courier New" pitchFamily="49" charset="0"/>
                <a:cs typeface="Courier New" pitchFamily="49" charset="0"/>
              </a:rPr>
              <a:t>ccata</a:t>
            </a:r>
            <a:endParaRPr lang="en-US" altLang="zh-TW" dirty="0" smtClean="0">
              <a:latin typeface="Courier New" pitchFamily="49" charset="0"/>
              <a:cs typeface="Courier New" pitchFamily="49" charset="0"/>
            </a:endParaRPr>
          </a:p>
          <a:p>
            <a:r>
              <a:rPr lang="en-US" altLang="zh-TW" dirty="0" err="1" smtClean="0">
                <a:latin typeface="Courier New" pitchFamily="49" charset="0"/>
                <a:cs typeface="Courier New" pitchFamily="49" charset="0"/>
              </a:rPr>
              <a:t>cacgc</a:t>
            </a:r>
            <a:endParaRPr lang="en-US" altLang="zh-TW" dirty="0" smtClean="0">
              <a:latin typeface="Courier New" pitchFamily="49" charset="0"/>
              <a:cs typeface="Courier New" pitchFamily="49" charset="0"/>
            </a:endParaRPr>
          </a:p>
          <a:p>
            <a:r>
              <a:rPr lang="en-US" altLang="zh-TW" dirty="0" err="1" smtClean="0">
                <a:latin typeface="Courier New" pitchFamily="49" charset="0"/>
                <a:cs typeface="Courier New" pitchFamily="49" charset="0"/>
              </a:rPr>
              <a:t>tacgg</a:t>
            </a:r>
            <a:endParaRPr lang="en-US" altLang="zh-TW" dirty="0" smtClean="0">
              <a:latin typeface="Courier New" pitchFamily="49" charset="0"/>
              <a:cs typeface="Courier New" pitchFamily="49" charset="0"/>
            </a:endParaRPr>
          </a:p>
          <a:p>
            <a:r>
              <a:rPr lang="en-US" altLang="zh-TW" dirty="0" err="1" smtClean="0">
                <a:latin typeface="Courier New" pitchFamily="49" charset="0"/>
                <a:cs typeface="Courier New" pitchFamily="49" charset="0"/>
              </a:rPr>
              <a:t>tacga</a:t>
            </a:r>
            <a:endParaRPr lang="en-US" altLang="zh-TW" dirty="0" smtClean="0">
              <a:latin typeface="Courier New" pitchFamily="49" charset="0"/>
              <a:cs typeface="Courier New" pitchFamily="49" charset="0"/>
            </a:endParaRPr>
          </a:p>
          <a:p>
            <a:r>
              <a:rPr lang="en-US" altLang="zh-TW" dirty="0" smtClean="0">
                <a:latin typeface="Courier New" pitchFamily="49" charset="0"/>
                <a:cs typeface="Courier New" pitchFamily="49" charset="0"/>
              </a:rPr>
              <a:t>...</a:t>
            </a:r>
            <a:endParaRPr lang="zh-TW" altLang="en-US" dirty="0">
              <a:latin typeface="Courier New" pitchFamily="49" charset="0"/>
              <a:cs typeface="Courier New" pitchFamily="49" charset="0"/>
            </a:endParaRPr>
          </a:p>
        </p:txBody>
      </p:sp>
      <p:sp>
        <p:nvSpPr>
          <p:cNvPr id="16" name="文字方塊 15"/>
          <p:cNvSpPr txBox="1"/>
          <p:nvPr/>
        </p:nvSpPr>
        <p:spPr>
          <a:xfrm>
            <a:off x="6444208" y="3717032"/>
            <a:ext cx="1382110" cy="369332"/>
          </a:xfrm>
          <a:prstGeom prst="rect">
            <a:avLst/>
          </a:prstGeom>
          <a:noFill/>
        </p:spPr>
        <p:txBody>
          <a:bodyPr wrap="none" rtlCol="0">
            <a:spAutoFit/>
          </a:bodyPr>
          <a:lstStyle/>
          <a:p>
            <a:r>
              <a:rPr lang="zh-TW" altLang="en-US" dirty="0" smtClean="0"/>
              <a:t>空間最多 </a:t>
            </a:r>
            <a:r>
              <a:rPr lang="en-US" altLang="zh-TW" dirty="0" smtClean="0"/>
              <a:t>4</a:t>
            </a:r>
            <a:r>
              <a:rPr lang="en-US" altLang="zh-TW" baseline="30000" dirty="0" smtClean="0"/>
              <a:t>k</a:t>
            </a:r>
            <a:endParaRPr lang="zh-TW" altLang="en-US" baseline="30000" dirty="0"/>
          </a:p>
        </p:txBody>
      </p:sp>
    </p:spTree>
    <p:extLst>
      <p:ext uri="{BB962C8B-B14F-4D97-AF65-F5344CB8AC3E}">
        <p14:creationId xmlns:p14="http://schemas.microsoft.com/office/powerpoint/2010/main" val="12350353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Bit-parallel Algorithm</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sz="2400" dirty="0" smtClean="0"/>
              <a:t>Example: LCS(</a:t>
            </a:r>
            <a:r>
              <a:rPr lang="en-US" altLang="zh-TW" sz="2400" dirty="0" err="1" smtClean="0"/>
              <a:t>tgtca</a:t>
            </a:r>
            <a:r>
              <a:rPr lang="en-US" altLang="zh-TW" sz="2400" dirty="0" smtClean="0"/>
              <a:t>, </a:t>
            </a:r>
            <a:r>
              <a:rPr lang="en-US" altLang="zh-TW" sz="2400" dirty="0" err="1" smtClean="0"/>
              <a:t>tgac</a:t>
            </a:r>
            <a:r>
              <a:rPr lang="en-US" altLang="zh-TW" sz="2400" dirty="0" smtClean="0"/>
              <a:t>)</a:t>
            </a:r>
            <a:endParaRPr lang="zh-TW" altLang="en-US" sz="2400" dirty="0"/>
          </a:p>
        </p:txBody>
      </p:sp>
      <p:graphicFrame>
        <p:nvGraphicFramePr>
          <p:cNvPr id="10" name="表格 9"/>
          <p:cNvGraphicFramePr>
            <a:graphicFrameLocks noGrp="1"/>
          </p:cNvGraphicFramePr>
          <p:nvPr>
            <p:extLst>
              <p:ext uri="{D42A27DB-BD31-4B8C-83A1-F6EECF244321}">
                <p14:modId xmlns:p14="http://schemas.microsoft.com/office/powerpoint/2010/main" val="539150691"/>
              </p:ext>
            </p:extLst>
          </p:nvPr>
        </p:nvGraphicFramePr>
        <p:xfrm>
          <a:off x="1691680" y="2132856"/>
          <a:ext cx="1728000" cy="2592000"/>
        </p:xfrm>
        <a:graphic>
          <a:graphicData uri="http://schemas.openxmlformats.org/drawingml/2006/table">
            <a:tbl>
              <a:tblPr firstRow="1">
                <a:tableStyleId>{5940675A-B579-460E-94D1-54222C63F5DA}</a:tableStyleId>
              </a:tblPr>
              <a:tblGrid>
                <a:gridCol w="648000"/>
                <a:gridCol w="216000"/>
                <a:gridCol w="216000"/>
                <a:gridCol w="216000"/>
                <a:gridCol w="216000"/>
                <a:gridCol w="216000"/>
              </a:tblGrid>
              <a:tr h="432000">
                <a:tc>
                  <a:txBody>
                    <a:bodyPr/>
                    <a:lstStyle/>
                    <a:p>
                      <a:pPr algn="r"/>
                      <a:r>
                        <a:rPr lang="en-US" altLang="zh-TW" dirty="0" smtClean="0"/>
                        <a:t>X:</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t</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dirty="0" smtClean="0"/>
                        <a:t>g</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dirty="0" smtClean="0"/>
                        <a:t>t</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dirty="0" smtClean="0"/>
                        <a:t>c</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dirty="0" smtClean="0"/>
                        <a:t>a</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2000">
                <a:tc>
                  <a:txBody>
                    <a:bodyPr/>
                    <a:lstStyle/>
                    <a:p>
                      <a:r>
                        <a:rPr lang="en-US" altLang="zh-TW" dirty="0" err="1" smtClean="0"/>
                        <a:t>PMa</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TW" dirty="0" smtClean="0"/>
                        <a:t>1</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432000">
                <a:tc>
                  <a:txBody>
                    <a:bodyPr/>
                    <a:lstStyle/>
                    <a:p>
                      <a:r>
                        <a:rPr lang="en-US" altLang="zh-TW" dirty="0" err="1" smtClean="0"/>
                        <a:t>PMt</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1</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1</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432000">
                <a:tc>
                  <a:txBody>
                    <a:bodyPr/>
                    <a:lstStyle/>
                    <a:p>
                      <a:r>
                        <a:rPr lang="en-US" altLang="zh-TW" dirty="0" err="1" smtClean="0"/>
                        <a:t>PMc</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1</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r>
              <a:tr h="432000">
                <a:tc>
                  <a:txBody>
                    <a:bodyPr/>
                    <a:lstStyle/>
                    <a:p>
                      <a:r>
                        <a:rPr lang="en-US" altLang="zh-TW" dirty="0" err="1" smtClean="0"/>
                        <a:t>PMg</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dirty="0" smtClean="0"/>
                        <a:t>1</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2000">
                <a:tc>
                  <a:txBody>
                    <a:bodyPr/>
                    <a:lstStyle/>
                    <a:p>
                      <a:pPr algn="r"/>
                      <a:r>
                        <a:rPr lang="en-US" altLang="zh-TW" dirty="0" smtClean="0"/>
                        <a:t>2</a:t>
                      </a:r>
                      <a:r>
                        <a:rPr lang="en-US" altLang="zh-TW" baseline="30000" dirty="0" smtClean="0"/>
                        <a:t>k</a:t>
                      </a:r>
                      <a:endParaRPr lang="zh-TW" altLang="en-US" baseline="30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altLang="zh-TW" dirty="0" smtClean="0"/>
                        <a:t>0</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TW" dirty="0" smtClean="0"/>
                        <a:t>1</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TW" dirty="0" smtClean="0"/>
                        <a:t>2</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TW" dirty="0" smtClean="0"/>
                        <a:t>3</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altLang="zh-TW" dirty="0" smtClean="0"/>
                        <a:t>4</a:t>
                      </a:r>
                      <a:endParaRPr lang="zh-TW"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bl>
          </a:graphicData>
        </a:graphic>
      </p:graphicFrame>
      <p:pic>
        <p:nvPicPr>
          <p:cNvPr id="49" name="圖片 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745" y="4581128"/>
            <a:ext cx="3951522" cy="1992908"/>
          </a:xfrm>
          <a:prstGeom prst="rect">
            <a:avLst/>
          </a:prstGeom>
        </p:spPr>
      </p:pic>
      <p:sp>
        <p:nvSpPr>
          <p:cNvPr id="69" name="文字方塊 68"/>
          <p:cNvSpPr txBox="1"/>
          <p:nvPr/>
        </p:nvSpPr>
        <p:spPr>
          <a:xfrm>
            <a:off x="4736944" y="1700808"/>
            <a:ext cx="1563248" cy="3693319"/>
          </a:xfrm>
          <a:prstGeom prst="rect">
            <a:avLst/>
          </a:prstGeom>
          <a:noFill/>
        </p:spPr>
        <p:txBody>
          <a:bodyPr wrap="none" rtlCol="0">
            <a:spAutoFit/>
          </a:bodyPr>
          <a:lstStyle/>
          <a:p>
            <a:r>
              <a:rPr lang="en-US" altLang="zh-TW" dirty="0" smtClean="0">
                <a:latin typeface="Courier New" pitchFamily="49" charset="0"/>
                <a:cs typeface="Courier New" pitchFamily="49" charset="0"/>
              </a:rPr>
              <a:t> v’</a:t>
            </a:r>
            <a:r>
              <a:rPr lang="pl-PL" altLang="zh-TW" dirty="0" smtClean="0">
                <a:latin typeface="Courier New" pitchFamily="49" charset="0"/>
                <a:cs typeface="Courier New" pitchFamily="49" charset="0"/>
              </a:rPr>
              <a:t>: 11111</a:t>
            </a:r>
          </a:p>
          <a:p>
            <a:endParaRPr lang="pl-PL" altLang="zh-TW" dirty="0" smtClean="0">
              <a:latin typeface="Courier New" pitchFamily="49" charset="0"/>
              <a:cs typeface="Courier New" pitchFamily="49" charset="0"/>
            </a:endParaRPr>
          </a:p>
          <a:p>
            <a:r>
              <a:rPr lang="pl-PL" altLang="zh-TW" dirty="0" smtClean="0">
                <a:latin typeface="Courier New" pitchFamily="49" charset="0"/>
                <a:cs typeface="Courier New" pitchFamily="49" charset="0"/>
              </a:rPr>
              <a:t>PMt: </a:t>
            </a:r>
            <a:r>
              <a:rPr lang="pl-PL" altLang="zh-TW" dirty="0" smtClean="0">
                <a:solidFill>
                  <a:srgbClr val="0070C0"/>
                </a:solidFill>
                <a:latin typeface="Courier New" pitchFamily="49" charset="0"/>
                <a:cs typeface="Courier New" pitchFamily="49" charset="0"/>
              </a:rPr>
              <a:t>00101</a:t>
            </a:r>
          </a:p>
          <a:p>
            <a:r>
              <a:rPr lang="pl-PL" altLang="zh-TW" dirty="0" smtClean="0">
                <a:latin typeface="Courier New" pitchFamily="49" charset="0"/>
                <a:cs typeface="Courier New" pitchFamily="49" charset="0"/>
              </a:rPr>
              <a:t>  u: 00101</a:t>
            </a:r>
          </a:p>
          <a:p>
            <a:r>
              <a:rPr lang="pl-PL" altLang="zh-TW" dirty="0" smtClean="0">
                <a:latin typeface="Courier New" pitchFamily="49" charset="0"/>
                <a:cs typeface="Courier New" pitchFamily="49" charset="0"/>
              </a:rPr>
              <a:t>v+u: 00100</a:t>
            </a:r>
          </a:p>
          <a:p>
            <a:r>
              <a:rPr lang="pl-PL" altLang="zh-TW" dirty="0" smtClean="0">
                <a:latin typeface="Courier New" pitchFamily="49" charset="0"/>
                <a:cs typeface="Courier New" pitchFamily="49" charset="0"/>
              </a:rPr>
              <a:t>v-u: 11010</a:t>
            </a:r>
          </a:p>
          <a:p>
            <a:r>
              <a:rPr lang="pl-PL" altLang="zh-TW" dirty="0" smtClean="0">
                <a:latin typeface="Courier New" pitchFamily="49" charset="0"/>
                <a:cs typeface="Courier New" pitchFamily="49" charset="0"/>
              </a:rPr>
              <a:t> v</a:t>
            </a:r>
            <a:r>
              <a:rPr lang="en-US" altLang="zh-TW" dirty="0" smtClean="0">
                <a:latin typeface="Courier New" pitchFamily="49" charset="0"/>
                <a:cs typeface="Courier New" pitchFamily="49" charset="0"/>
              </a:rPr>
              <a:t>’</a:t>
            </a:r>
            <a:r>
              <a:rPr lang="pl-PL" altLang="zh-TW" dirty="0" smtClean="0">
                <a:latin typeface="Courier New" pitchFamily="49" charset="0"/>
                <a:cs typeface="Courier New" pitchFamily="49" charset="0"/>
              </a:rPr>
              <a:t>: 1111</a:t>
            </a:r>
            <a:r>
              <a:rPr lang="pl-PL" altLang="zh-TW" dirty="0" smtClean="0">
                <a:solidFill>
                  <a:srgbClr val="FF0000"/>
                </a:solidFill>
                <a:latin typeface="Courier New" pitchFamily="49" charset="0"/>
                <a:cs typeface="Courier New" pitchFamily="49" charset="0"/>
              </a:rPr>
              <a:t>0</a:t>
            </a:r>
          </a:p>
          <a:p>
            <a:endParaRPr lang="pl-PL" altLang="zh-TW" dirty="0" smtClean="0">
              <a:latin typeface="Courier New" pitchFamily="49" charset="0"/>
              <a:cs typeface="Courier New" pitchFamily="49" charset="0"/>
            </a:endParaRPr>
          </a:p>
          <a:p>
            <a:r>
              <a:rPr lang="pl-PL" altLang="zh-TW" dirty="0" smtClean="0">
                <a:latin typeface="Courier New" pitchFamily="49" charset="0"/>
                <a:cs typeface="Courier New" pitchFamily="49" charset="0"/>
              </a:rPr>
              <a:t>PMg: </a:t>
            </a:r>
            <a:r>
              <a:rPr lang="pl-PL" altLang="zh-TW" dirty="0" smtClean="0">
                <a:solidFill>
                  <a:srgbClr val="0070C0"/>
                </a:solidFill>
                <a:latin typeface="Courier New" pitchFamily="49" charset="0"/>
                <a:cs typeface="Courier New" pitchFamily="49" charset="0"/>
              </a:rPr>
              <a:t>00010</a:t>
            </a:r>
          </a:p>
          <a:p>
            <a:r>
              <a:rPr lang="pl-PL" altLang="zh-TW" dirty="0" smtClean="0">
                <a:latin typeface="Courier New" pitchFamily="49" charset="0"/>
                <a:cs typeface="Courier New" pitchFamily="49" charset="0"/>
              </a:rPr>
              <a:t>  u: 00010</a:t>
            </a:r>
          </a:p>
          <a:p>
            <a:r>
              <a:rPr lang="pl-PL" altLang="zh-TW" dirty="0" smtClean="0">
                <a:latin typeface="Courier New" pitchFamily="49" charset="0"/>
                <a:cs typeface="Courier New" pitchFamily="49" charset="0"/>
              </a:rPr>
              <a:t>v+u: 00000</a:t>
            </a:r>
          </a:p>
          <a:p>
            <a:r>
              <a:rPr lang="pl-PL" altLang="zh-TW" dirty="0" smtClean="0">
                <a:latin typeface="Courier New" pitchFamily="49" charset="0"/>
                <a:cs typeface="Courier New" pitchFamily="49" charset="0"/>
              </a:rPr>
              <a:t>v-u: 11100</a:t>
            </a:r>
          </a:p>
          <a:p>
            <a:r>
              <a:rPr lang="pl-PL" altLang="zh-TW" dirty="0" smtClean="0">
                <a:latin typeface="Courier New" pitchFamily="49" charset="0"/>
                <a:cs typeface="Courier New" pitchFamily="49" charset="0"/>
              </a:rPr>
              <a:t> v</a:t>
            </a:r>
            <a:r>
              <a:rPr lang="en-US" altLang="zh-TW" dirty="0" smtClean="0">
                <a:latin typeface="Courier New" pitchFamily="49" charset="0"/>
                <a:cs typeface="Courier New" pitchFamily="49" charset="0"/>
              </a:rPr>
              <a:t>’</a:t>
            </a:r>
            <a:r>
              <a:rPr lang="pl-PL" altLang="zh-TW" dirty="0" smtClean="0">
                <a:latin typeface="Courier New" pitchFamily="49" charset="0"/>
                <a:cs typeface="Courier New" pitchFamily="49" charset="0"/>
              </a:rPr>
              <a:t>: 111</a:t>
            </a:r>
            <a:r>
              <a:rPr lang="pl-PL" altLang="zh-TW" dirty="0" smtClean="0">
                <a:solidFill>
                  <a:srgbClr val="FF0000"/>
                </a:solidFill>
                <a:latin typeface="Courier New" pitchFamily="49" charset="0"/>
                <a:cs typeface="Courier New" pitchFamily="49" charset="0"/>
              </a:rPr>
              <a:t>00</a:t>
            </a:r>
            <a:endParaRPr lang="zh-TW" altLang="en-US" dirty="0">
              <a:solidFill>
                <a:srgbClr val="FF0000"/>
              </a:solidFill>
              <a:latin typeface="Courier New" pitchFamily="49" charset="0"/>
              <a:cs typeface="Courier New" pitchFamily="49" charset="0"/>
            </a:endParaRPr>
          </a:p>
        </p:txBody>
      </p:sp>
      <p:sp>
        <p:nvSpPr>
          <p:cNvPr id="70" name="文字方塊 69"/>
          <p:cNvSpPr txBox="1"/>
          <p:nvPr/>
        </p:nvSpPr>
        <p:spPr>
          <a:xfrm>
            <a:off x="6804248" y="3284984"/>
            <a:ext cx="1563248" cy="3139321"/>
          </a:xfrm>
          <a:prstGeom prst="rect">
            <a:avLst/>
          </a:prstGeom>
          <a:noFill/>
        </p:spPr>
        <p:txBody>
          <a:bodyPr wrap="none" rtlCol="0">
            <a:spAutoFit/>
          </a:bodyPr>
          <a:lstStyle/>
          <a:p>
            <a:r>
              <a:rPr lang="pl-PL" altLang="zh-TW" dirty="0" smtClean="0">
                <a:latin typeface="Courier New" pitchFamily="49" charset="0"/>
                <a:cs typeface="Courier New" pitchFamily="49" charset="0"/>
              </a:rPr>
              <a:t>PMa: </a:t>
            </a:r>
            <a:r>
              <a:rPr lang="pl-PL" altLang="zh-TW" dirty="0" smtClean="0">
                <a:solidFill>
                  <a:srgbClr val="0070C0"/>
                </a:solidFill>
                <a:latin typeface="Courier New" pitchFamily="49" charset="0"/>
                <a:cs typeface="Courier New" pitchFamily="49" charset="0"/>
              </a:rPr>
              <a:t>10000</a:t>
            </a:r>
          </a:p>
          <a:p>
            <a:r>
              <a:rPr lang="pl-PL" altLang="zh-TW" dirty="0" smtClean="0">
                <a:latin typeface="Courier New" pitchFamily="49" charset="0"/>
                <a:cs typeface="Courier New" pitchFamily="49" charset="0"/>
              </a:rPr>
              <a:t>  u: 10000</a:t>
            </a:r>
          </a:p>
          <a:p>
            <a:r>
              <a:rPr lang="pl-PL" altLang="zh-TW" dirty="0" smtClean="0">
                <a:latin typeface="Courier New" pitchFamily="49" charset="0"/>
                <a:cs typeface="Courier New" pitchFamily="49" charset="0"/>
              </a:rPr>
              <a:t>v+u: 01100</a:t>
            </a:r>
          </a:p>
          <a:p>
            <a:r>
              <a:rPr lang="pl-PL" altLang="zh-TW" dirty="0" smtClean="0">
                <a:latin typeface="Courier New" pitchFamily="49" charset="0"/>
                <a:cs typeface="Courier New" pitchFamily="49" charset="0"/>
              </a:rPr>
              <a:t>v-u: 01100</a:t>
            </a:r>
          </a:p>
          <a:p>
            <a:r>
              <a:rPr lang="pl-PL" altLang="zh-TW" dirty="0" smtClean="0">
                <a:latin typeface="Courier New" pitchFamily="49" charset="0"/>
                <a:cs typeface="Courier New" pitchFamily="49" charset="0"/>
              </a:rPr>
              <a:t> v</a:t>
            </a:r>
            <a:r>
              <a:rPr lang="en-US" altLang="zh-TW" dirty="0" smtClean="0">
                <a:latin typeface="Courier New" pitchFamily="49" charset="0"/>
                <a:cs typeface="Courier New" pitchFamily="49" charset="0"/>
              </a:rPr>
              <a:t>’</a:t>
            </a:r>
            <a:r>
              <a:rPr lang="pl-PL" altLang="zh-TW" dirty="0" smtClean="0">
                <a:latin typeface="Courier New" pitchFamily="49" charset="0"/>
                <a:cs typeface="Courier New" pitchFamily="49" charset="0"/>
              </a:rPr>
              <a:t>: </a:t>
            </a:r>
            <a:r>
              <a:rPr lang="pl-PL" altLang="zh-TW" dirty="0" smtClean="0">
                <a:solidFill>
                  <a:srgbClr val="FF0000"/>
                </a:solidFill>
                <a:latin typeface="Courier New" pitchFamily="49" charset="0"/>
                <a:cs typeface="Courier New" pitchFamily="49" charset="0"/>
              </a:rPr>
              <a:t>0</a:t>
            </a:r>
            <a:r>
              <a:rPr lang="pl-PL" altLang="zh-TW" dirty="0" smtClean="0">
                <a:latin typeface="Courier New" pitchFamily="49" charset="0"/>
                <a:cs typeface="Courier New" pitchFamily="49" charset="0"/>
              </a:rPr>
              <a:t>11</a:t>
            </a:r>
            <a:r>
              <a:rPr lang="pl-PL" altLang="zh-TW" dirty="0" smtClean="0">
                <a:solidFill>
                  <a:srgbClr val="FF0000"/>
                </a:solidFill>
                <a:latin typeface="Courier New" pitchFamily="49" charset="0"/>
                <a:cs typeface="Courier New" pitchFamily="49" charset="0"/>
              </a:rPr>
              <a:t>00</a:t>
            </a:r>
          </a:p>
          <a:p>
            <a:endParaRPr lang="pl-PL" altLang="zh-TW" dirty="0" smtClean="0">
              <a:latin typeface="Courier New" pitchFamily="49" charset="0"/>
              <a:cs typeface="Courier New" pitchFamily="49" charset="0"/>
            </a:endParaRPr>
          </a:p>
          <a:p>
            <a:r>
              <a:rPr lang="pl-PL" altLang="zh-TW" dirty="0" smtClean="0">
                <a:latin typeface="Courier New" pitchFamily="49" charset="0"/>
                <a:cs typeface="Courier New" pitchFamily="49" charset="0"/>
              </a:rPr>
              <a:t>PMc: </a:t>
            </a:r>
            <a:r>
              <a:rPr lang="pl-PL" altLang="zh-TW" dirty="0" smtClean="0">
                <a:solidFill>
                  <a:srgbClr val="0070C0"/>
                </a:solidFill>
                <a:latin typeface="Courier New" pitchFamily="49" charset="0"/>
                <a:cs typeface="Courier New" pitchFamily="49" charset="0"/>
              </a:rPr>
              <a:t>01000</a:t>
            </a:r>
          </a:p>
          <a:p>
            <a:r>
              <a:rPr lang="pl-PL" altLang="zh-TW" dirty="0" smtClean="0">
                <a:latin typeface="Courier New" pitchFamily="49" charset="0"/>
                <a:cs typeface="Courier New" pitchFamily="49" charset="0"/>
              </a:rPr>
              <a:t>  u: 01000</a:t>
            </a:r>
          </a:p>
          <a:p>
            <a:r>
              <a:rPr lang="pl-PL" altLang="zh-TW" dirty="0" smtClean="0">
                <a:latin typeface="Courier New" pitchFamily="49" charset="0"/>
                <a:cs typeface="Courier New" pitchFamily="49" charset="0"/>
              </a:rPr>
              <a:t>v+u: 10100</a:t>
            </a:r>
          </a:p>
          <a:p>
            <a:r>
              <a:rPr lang="pl-PL" altLang="zh-TW" dirty="0" smtClean="0">
                <a:latin typeface="Courier New" pitchFamily="49" charset="0"/>
                <a:cs typeface="Courier New" pitchFamily="49" charset="0"/>
              </a:rPr>
              <a:t>v-u: 00100</a:t>
            </a:r>
          </a:p>
          <a:p>
            <a:r>
              <a:rPr lang="pl-PL" altLang="zh-TW" dirty="0" smtClean="0">
                <a:latin typeface="Courier New" pitchFamily="49" charset="0"/>
                <a:cs typeface="Courier New" pitchFamily="49" charset="0"/>
              </a:rPr>
              <a:t> v</a:t>
            </a:r>
            <a:r>
              <a:rPr lang="en-US" altLang="zh-TW" dirty="0" smtClean="0">
                <a:latin typeface="Courier New" pitchFamily="49" charset="0"/>
                <a:cs typeface="Courier New" pitchFamily="49" charset="0"/>
              </a:rPr>
              <a:t>’</a:t>
            </a:r>
            <a:r>
              <a:rPr lang="pl-PL" altLang="zh-TW" dirty="0" smtClean="0">
                <a:latin typeface="Courier New" pitchFamily="49" charset="0"/>
                <a:cs typeface="Courier New" pitchFamily="49" charset="0"/>
              </a:rPr>
              <a:t>: 1</a:t>
            </a:r>
            <a:r>
              <a:rPr lang="pl-PL" altLang="zh-TW" dirty="0" smtClean="0">
                <a:solidFill>
                  <a:srgbClr val="FF0000"/>
                </a:solidFill>
                <a:latin typeface="Courier New" pitchFamily="49" charset="0"/>
                <a:cs typeface="Courier New" pitchFamily="49" charset="0"/>
              </a:rPr>
              <a:t>0</a:t>
            </a:r>
            <a:r>
              <a:rPr lang="pl-PL" altLang="zh-TW" dirty="0" smtClean="0">
                <a:latin typeface="Courier New" pitchFamily="49" charset="0"/>
                <a:cs typeface="Courier New" pitchFamily="49" charset="0"/>
              </a:rPr>
              <a:t>1</a:t>
            </a:r>
            <a:r>
              <a:rPr lang="pl-PL" altLang="zh-TW" dirty="0" smtClean="0">
                <a:solidFill>
                  <a:srgbClr val="FF0000"/>
                </a:solidFill>
                <a:latin typeface="Courier New" pitchFamily="49" charset="0"/>
                <a:cs typeface="Courier New" pitchFamily="49" charset="0"/>
              </a:rPr>
              <a:t>00</a:t>
            </a:r>
            <a:endParaRPr lang="zh-TW" altLang="en-US" dirty="0">
              <a:solidFill>
                <a:srgbClr val="FF0000"/>
              </a:solidFill>
              <a:latin typeface="Courier New" pitchFamily="49" charset="0"/>
              <a:cs typeface="Courier New" pitchFamily="49" charset="0"/>
            </a:endParaRPr>
          </a:p>
        </p:txBody>
      </p:sp>
    </p:spTree>
    <p:extLst>
      <p:ext uri="{BB962C8B-B14F-4D97-AF65-F5344CB8AC3E}">
        <p14:creationId xmlns:p14="http://schemas.microsoft.com/office/powerpoint/2010/main" val="11655436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Experiment</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a:lnSpc>
                    <a:spcPct val="150000"/>
                  </a:lnSpc>
                </a:pPr>
                <a:r>
                  <a:rPr lang="en-US" altLang="zh-TW" sz="2400" dirty="0" smtClean="0"/>
                  <a:t>Sequence identity </a:t>
                </a:r>
                <a14:m>
                  <m:oMath xmlns:m="http://schemas.openxmlformats.org/officeDocument/2006/math">
                    <m:r>
                      <a:rPr lang="en-US" altLang="zh-TW" sz="2400" dirty="0" smtClean="0">
                        <a:latin typeface="Cambria Math"/>
                      </a:rPr>
                      <m:t>𝑠</m:t>
                    </m:r>
                  </m:oMath>
                </a14:m>
                <a:r>
                  <a:rPr lang="en-US" altLang="zh-TW" sz="2400" dirty="0" smtClean="0"/>
                  <a:t> = 0.9</a:t>
                </a:r>
              </a:p>
              <a:p>
                <a:pPr>
                  <a:lnSpc>
                    <a:spcPct val="150000"/>
                  </a:lnSpc>
                </a:pPr>
                <a:r>
                  <a:rPr lang="en-US" altLang="zh-TW" sz="2400" dirty="0" smtClean="0"/>
                  <a:t>Length of short word = 9</a:t>
                </a:r>
              </a:p>
              <a:p>
                <a:pPr>
                  <a:lnSpc>
                    <a:spcPct val="150000"/>
                  </a:lnSpc>
                </a:pPr>
                <a:r>
                  <a:rPr lang="en-US" altLang="zh-TW" sz="2400" dirty="0" smtClean="0"/>
                  <a:t># common k-</a:t>
                </a:r>
                <a:r>
                  <a:rPr lang="en-US" altLang="zh-TW" sz="2400" dirty="0" err="1" smtClean="0"/>
                  <a:t>mer</a:t>
                </a:r>
                <a:endParaRPr lang="en-US" altLang="zh-TW" sz="2400" dirty="0" smtClean="0"/>
              </a:p>
              <a:p>
                <a:pPr lvl="1">
                  <a:lnSpc>
                    <a:spcPct val="150000"/>
                  </a:lnSpc>
                </a:pPr>
                <a:r>
                  <a:rPr lang="en-US" altLang="zh-TW" sz="2400" dirty="0" smtClean="0"/>
                  <a:t>For 100~150 bases: 1</a:t>
                </a:r>
              </a:p>
              <a:p>
                <a:pPr lvl="1">
                  <a:lnSpc>
                    <a:spcPct val="150000"/>
                  </a:lnSpc>
                </a:pPr>
                <a:r>
                  <a:rPr lang="en-US" altLang="zh-TW" sz="2400" dirty="0" smtClean="0"/>
                  <a:t>For 400~ bases: 4</a:t>
                </a:r>
                <a:endParaRPr lang="zh-TW" altLang="en-US" sz="24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883376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5" y="1003432"/>
            <a:ext cx="3048426" cy="952633"/>
          </a:xfrm>
          <a:prstGeom prst="rect">
            <a:avLst/>
          </a:prstGeom>
        </p:spPr>
      </p:pic>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5" y="2279960"/>
            <a:ext cx="3048426" cy="952633"/>
          </a:xfrm>
          <a:prstGeom prst="rect">
            <a:avLst/>
          </a:prstGeom>
        </p:spPr>
      </p:pic>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505" y="3556487"/>
            <a:ext cx="3048426" cy="952633"/>
          </a:xfrm>
          <a:prstGeom prst="rect">
            <a:avLst/>
          </a:prstGeom>
        </p:spPr>
      </p:pic>
      <p:pic>
        <p:nvPicPr>
          <p:cNvPr id="5" name="圖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67653" y="1219455"/>
            <a:ext cx="5252819" cy="3200847"/>
          </a:xfrm>
          <a:prstGeom prst="rect">
            <a:avLst/>
          </a:prstGeom>
        </p:spPr>
      </p:pic>
      <p:pic>
        <p:nvPicPr>
          <p:cNvPr id="6" name="圖片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 y="4880370"/>
            <a:ext cx="4572638" cy="1428950"/>
          </a:xfrm>
          <a:prstGeom prst="rect">
            <a:avLst/>
          </a:prstGeom>
        </p:spPr>
      </p:pic>
      <p:pic>
        <p:nvPicPr>
          <p:cNvPr id="7" name="圖片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2000" y="4869160"/>
            <a:ext cx="4572638" cy="1428950"/>
          </a:xfrm>
          <a:prstGeom prst="rect">
            <a:avLst/>
          </a:prstGeom>
        </p:spPr>
      </p:pic>
    </p:spTree>
    <p:extLst>
      <p:ext uri="{BB962C8B-B14F-4D97-AF65-F5344CB8AC3E}">
        <p14:creationId xmlns:p14="http://schemas.microsoft.com/office/powerpoint/2010/main" val="13581381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1245</TotalTime>
  <Words>612</Words>
  <Application>Microsoft Office PowerPoint</Application>
  <PresentationFormat>如螢幕大小 (4:3)</PresentationFormat>
  <Paragraphs>119</Paragraphs>
  <Slides>11</Slides>
  <Notes>1</Notes>
  <HiddenSlides>0</HiddenSlides>
  <MMClips>0</MMClips>
  <ScaleCrop>false</ScaleCrop>
  <HeadingPairs>
    <vt:vector size="4" baseType="variant">
      <vt:variant>
        <vt:lpstr>佈景主題</vt:lpstr>
      </vt:variant>
      <vt:variant>
        <vt:i4>1</vt:i4>
      </vt:variant>
      <vt:variant>
        <vt:lpstr>投影片標題</vt:lpstr>
      </vt:variant>
      <vt:variant>
        <vt:i4>11</vt:i4>
      </vt:variant>
    </vt:vector>
  </HeadingPairs>
  <TitlesOfParts>
    <vt:vector size="12" baseType="lpstr">
      <vt:lpstr>Office 佈景主題</vt:lpstr>
      <vt:lpstr>Acceleration of sequence clustering using longest common subsequence filtering</vt:lpstr>
      <vt:lpstr>Abstract (1/2)</vt:lpstr>
      <vt:lpstr>Abstract (2/2)</vt:lpstr>
      <vt:lpstr>Problem to Solve: Clustering</vt:lpstr>
      <vt:lpstr>Algorithm</vt:lpstr>
      <vt:lpstr>PowerPoint 簡報</vt:lpstr>
      <vt:lpstr>The Partial Exact Matching</vt:lpstr>
      <vt:lpstr>Short Word Table</vt:lpstr>
      <vt:lpstr>Bit-parallel Algorithm</vt:lpstr>
      <vt:lpstr>Experiment</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Acceleration of sequence clustering using longest common subsequence filtering</dc:title>
  <dc:creator>YiPo</dc:creator>
  <cp:lastModifiedBy>YiPo</cp:lastModifiedBy>
  <cp:revision>31</cp:revision>
  <dcterms:created xsi:type="dcterms:W3CDTF">2013-08-12T12:30:33Z</dcterms:created>
  <dcterms:modified xsi:type="dcterms:W3CDTF">2013-08-13T09:16:47Z</dcterms:modified>
</cp:coreProperties>
</file>