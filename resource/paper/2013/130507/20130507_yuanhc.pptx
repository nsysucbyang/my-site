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307" r:id="rId3"/>
    <p:sldId id="308" r:id="rId4"/>
    <p:sldId id="309" r:id="rId5"/>
    <p:sldId id="310" r:id="rId6"/>
    <p:sldId id="311" r:id="rId7"/>
    <p:sldId id="312" r:id="rId8"/>
    <p:sldId id="313" r:id="rId9"/>
    <p:sldId id="314" r:id="rId10"/>
    <p:sldId id="316" r:id="rId11"/>
    <p:sldId id="315" r:id="rId12"/>
    <p:sldId id="317" r:id="rId13"/>
    <p:sldId id="318" r:id="rId14"/>
    <p:sldId id="319" r:id="rId15"/>
    <p:sldId id="321" r:id="rId16"/>
    <p:sldId id="320" r:id="rId17"/>
    <p:sldId id="265"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7B93DF"/>
    <a:srgbClr val="6F84EB"/>
    <a:srgbClr val="0000FF"/>
    <a:srgbClr val="FF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047" autoAdjust="0"/>
    <p:restoredTop sz="96825" autoAdjust="0"/>
  </p:normalViewPr>
  <p:slideViewPr>
    <p:cSldViewPr>
      <p:cViewPr>
        <p:scale>
          <a:sx n="75" d="100"/>
          <a:sy n="75" d="100"/>
        </p:scale>
        <p:origin x="-474" y="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pPr/>
              <a:t>2013/5/7</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pPr/>
              <a:t>‹#›</a:t>
            </a:fld>
            <a:endParaRPr lang="zh-TW" altLang="en-US"/>
          </a:p>
        </p:txBody>
      </p:sp>
    </p:spTree>
    <p:extLst>
      <p:ext uri="{BB962C8B-B14F-4D97-AF65-F5344CB8AC3E}">
        <p14:creationId xmlns:p14="http://schemas.microsoft.com/office/powerpoint/2010/main" xmlns=""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pPr/>
              <a:t>2013/5/7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pPr/>
              <a:t>‹#›</a:t>
            </a:fld>
            <a:endParaRPr lang="zh-TW" altLang="en-US"/>
          </a:p>
        </p:txBody>
      </p:sp>
    </p:spTree>
    <p:extLst>
      <p:ext uri="{BB962C8B-B14F-4D97-AF65-F5344CB8AC3E}">
        <p14:creationId xmlns:p14="http://schemas.microsoft.com/office/powerpoint/2010/main" xmlns=""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2013/4/30</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pPr/>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mn-lt"/>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p>
            <a:r>
              <a:rPr lang="en-US" altLang="zh-TW" smtClean="0"/>
              <a:t>2013/4/30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2013/4/30</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pPr/>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2013/4/30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2013/4/30</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2013/4/30</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2013/4/30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2013/4/30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2013/4/30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2013/4/30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2013/4/30</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pPr/>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a:r>
              <a:rPr lang="en-US" altLang="zh-TW" dirty="0"/>
              <a:t>Quadratic Time Algorithms </a:t>
            </a:r>
            <a:r>
              <a:rPr lang="en-US" altLang="zh-TW" dirty="0" smtClean="0"/>
              <a:t/>
            </a:r>
            <a:br>
              <a:rPr lang="en-US" altLang="zh-TW" dirty="0" smtClean="0"/>
            </a:br>
            <a:r>
              <a:rPr lang="en-US" altLang="zh-TW" smtClean="0"/>
              <a:t>for Finding Common </a:t>
            </a:r>
            <a:r>
              <a:rPr lang="en-US" altLang="zh-TW" dirty="0"/>
              <a:t>Intervals </a:t>
            </a:r>
            <a:r>
              <a:rPr lang="en-US" altLang="zh-TW" dirty="0" smtClean="0"/>
              <a:t/>
            </a:r>
            <a:br>
              <a:rPr lang="en-US" altLang="zh-TW" dirty="0" smtClean="0"/>
            </a:br>
            <a:r>
              <a:rPr lang="en-US" altLang="zh-TW" dirty="0" smtClean="0"/>
              <a:t>in </a:t>
            </a:r>
            <a:r>
              <a:rPr lang="en-US" altLang="zh-TW" dirty="0"/>
              <a:t>Two and </a:t>
            </a:r>
            <a:r>
              <a:rPr lang="en-US" altLang="zh-TW" dirty="0" smtClean="0"/>
              <a:t>More Sequences</a:t>
            </a:r>
            <a:r>
              <a:rPr lang="en-US" altLang="zh-TW" dirty="0" smtClean="0"/>
              <a:t/>
            </a:r>
            <a:br>
              <a:rPr lang="en-US" altLang="zh-TW" dirty="0" smtClean="0"/>
            </a:br>
            <a:r>
              <a:rPr lang="en-US" altLang="zh-TW" dirty="0" smtClean="0"/>
              <a:t/>
            </a:r>
            <a:br>
              <a:rPr lang="en-US" altLang="zh-TW" dirty="0" smtClean="0"/>
            </a:br>
            <a:r>
              <a:rPr lang="en-US" altLang="zh-TW" sz="2000" b="0" dirty="0"/>
              <a:t>Lecture Notes in Computer Science </a:t>
            </a:r>
            <a:r>
              <a:rPr lang="en-US" altLang="zh-TW" sz="2000" b="0" dirty="0" smtClean="0"/>
              <a:t>vol.3109,  pp.</a:t>
            </a:r>
            <a:r>
              <a:rPr lang="zh-TW" altLang="en-US" sz="2000" b="0" dirty="0" smtClean="0"/>
              <a:t> </a:t>
            </a:r>
            <a:r>
              <a:rPr lang="en-US" altLang="zh-TW" sz="2000" b="0" dirty="0" smtClean="0"/>
              <a:t>347-358, 2004</a:t>
            </a:r>
            <a:endParaRPr lang="zh-TW" altLang="en-US" sz="2000" dirty="0"/>
          </a:p>
        </p:txBody>
      </p:sp>
      <p:sp>
        <p:nvSpPr>
          <p:cNvPr id="3" name="副標題 2"/>
          <p:cNvSpPr>
            <a:spLocks noGrp="1"/>
          </p:cNvSpPr>
          <p:nvPr>
            <p:ph type="subTitle" idx="1"/>
          </p:nvPr>
        </p:nvSpPr>
        <p:spPr>
          <a:xfrm>
            <a:off x="1219200" y="3228979"/>
            <a:ext cx="6858000" cy="2144237"/>
          </a:xfrm>
        </p:spPr>
        <p:txBody>
          <a:bodyPr>
            <a:noAutofit/>
          </a:bodyPr>
          <a:lstStyle/>
          <a:p>
            <a:pPr algn="l" fontAlgn="base"/>
            <a:r>
              <a:rPr lang="en-US" altLang="zh-TW" dirty="0" smtClean="0"/>
              <a:t>Thomas </a:t>
            </a:r>
            <a:r>
              <a:rPr lang="en-US" altLang="zh-TW" dirty="0" err="1" smtClean="0"/>
              <a:t>Schmidt</a:t>
            </a:r>
            <a:r>
              <a:rPr lang="en-US" altLang="zh-TW" baseline="30000" dirty="0" err="1" smtClean="0"/>
              <a:t>a</a:t>
            </a:r>
            <a:r>
              <a:rPr lang="en-US" altLang="zh-TW" dirty="0" smtClean="0"/>
              <a:t>,</a:t>
            </a:r>
            <a:r>
              <a:rPr lang="zh-TW" altLang="en-US" dirty="0" smtClean="0"/>
              <a:t> </a:t>
            </a:r>
            <a:r>
              <a:rPr lang="en-US" altLang="zh-TW" dirty="0" smtClean="0"/>
              <a:t>and Jens </a:t>
            </a:r>
            <a:r>
              <a:rPr lang="en-US" altLang="zh-TW" dirty="0" err="1" smtClean="0"/>
              <a:t>Stoye</a:t>
            </a:r>
            <a:r>
              <a:rPr lang="en-US" altLang="zh-TW" baseline="30000" dirty="0" err="1" smtClean="0"/>
              <a:t>b</a:t>
            </a:r>
            <a:r>
              <a:rPr lang="en-US" altLang="zh-TW" baseline="30000" dirty="0" smtClean="0"/>
              <a:t/>
            </a:r>
            <a:br>
              <a:rPr lang="en-US" altLang="zh-TW" baseline="30000" dirty="0" smtClean="0"/>
            </a:br>
            <a:r>
              <a:rPr lang="zh-TW" altLang="en-US" sz="900" baseline="30000" dirty="0" smtClean="0"/>
              <a:t> </a:t>
            </a:r>
            <a:r>
              <a:rPr lang="en-US" altLang="zh-TW" sz="1800" dirty="0" smtClean="0">
                <a:solidFill>
                  <a:schemeClr val="tx1"/>
                </a:solidFill>
              </a:rPr>
              <a:t/>
            </a:r>
            <a:br>
              <a:rPr lang="en-US" altLang="zh-TW" sz="1800" dirty="0" smtClean="0">
                <a:solidFill>
                  <a:schemeClr val="tx1"/>
                </a:solidFill>
              </a:rPr>
            </a:br>
            <a:r>
              <a:rPr lang="en-US" altLang="zh-TW" sz="1600" baseline="30000" dirty="0" smtClean="0"/>
              <a:t>a</a:t>
            </a:r>
            <a:r>
              <a:rPr lang="en-US" altLang="zh-TW" sz="1600" dirty="0" smtClean="0"/>
              <a:t> </a:t>
            </a:r>
            <a:r>
              <a:rPr lang="en-US" altLang="zh-TW" sz="1800" dirty="0"/>
              <a:t>International NRW Graduate School in Bioinformatics and Genome Research, Center of Biotechnology, </a:t>
            </a:r>
            <a:r>
              <a:rPr lang="de-DE" altLang="zh-TW" sz="1800" dirty="0"/>
              <a:t>Universitat </a:t>
            </a:r>
            <a:r>
              <a:rPr lang="en-US" altLang="zh-TW" sz="1800" dirty="0" smtClean="0"/>
              <a:t>Bielefeld</a:t>
            </a:r>
            <a:r>
              <a:rPr lang="en-US" altLang="zh-TW" sz="1800" dirty="0"/>
              <a:t>, 33594 Bielefeld, </a:t>
            </a:r>
            <a:r>
              <a:rPr lang="en-US" altLang="zh-TW" sz="1800" dirty="0" smtClean="0"/>
              <a:t>Germany</a:t>
            </a:r>
          </a:p>
          <a:p>
            <a:pPr algn="l" fontAlgn="base"/>
            <a:r>
              <a:rPr lang="en-US" altLang="zh-TW" sz="1800" baseline="30000" dirty="0" smtClean="0"/>
              <a:t>b</a:t>
            </a:r>
            <a:r>
              <a:rPr lang="en-US" altLang="zh-TW" sz="1800" dirty="0" smtClean="0"/>
              <a:t> </a:t>
            </a:r>
            <a:r>
              <a:rPr lang="de-DE" altLang="zh-TW" sz="1800" dirty="0"/>
              <a:t>Technische </a:t>
            </a:r>
            <a:r>
              <a:rPr lang="de-DE" altLang="zh-TW" sz="1800" dirty="0" smtClean="0"/>
              <a:t>Fakultat</a:t>
            </a:r>
            <a:r>
              <a:rPr lang="de-DE" altLang="zh-TW" sz="1800" dirty="0"/>
              <a:t>, </a:t>
            </a:r>
            <a:r>
              <a:rPr lang="de-DE" altLang="zh-TW" sz="1800" dirty="0" smtClean="0"/>
              <a:t>Universitat </a:t>
            </a:r>
            <a:r>
              <a:rPr lang="de-DE" altLang="zh-TW" sz="1800" dirty="0"/>
              <a:t>Bielefeld, 33594 Bielefeld, Germany</a:t>
            </a:r>
            <a:endParaRPr lang="en-US" altLang="zh-TW" sz="1800" dirty="0"/>
          </a:p>
        </p:txBody>
      </p:sp>
      <p:sp>
        <p:nvSpPr>
          <p:cNvPr id="5" name="日期版面配置區 4"/>
          <p:cNvSpPr>
            <a:spLocks noGrp="1"/>
          </p:cNvSpPr>
          <p:nvPr>
            <p:ph type="dt" sz="half" idx="10"/>
          </p:nvPr>
        </p:nvSpPr>
        <p:spPr/>
        <p:txBody>
          <a:bodyPr/>
          <a:lstStyle/>
          <a:p>
            <a:r>
              <a:rPr lang="en-US" altLang="zh-TW" smtClean="0"/>
              <a:t>2013/4/30</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err="1" smtClean="0">
                <a:solidFill>
                  <a:schemeClr val="tx1"/>
                </a:solidFill>
              </a:rPr>
              <a:t>Presentor</a:t>
            </a:r>
            <a:r>
              <a:rPr lang="zh-TW" altLang="en-US" sz="2400" dirty="0" smtClean="0">
                <a:solidFill>
                  <a:schemeClr val="tx1"/>
                </a:solidFill>
              </a:rPr>
              <a:t>：</a:t>
            </a:r>
            <a:r>
              <a:rPr lang="en-US" altLang="zh-TW" sz="2400" dirty="0" err="1" smtClean="0">
                <a:solidFill>
                  <a:schemeClr val="tx1"/>
                </a:solidFill>
              </a:rPr>
              <a:t>Hsin-Chuan</a:t>
            </a:r>
            <a:r>
              <a:rPr lang="en-US" altLang="zh-TW" sz="2400" dirty="0" smtClean="0">
                <a:solidFill>
                  <a:schemeClr val="tx1"/>
                </a:solidFill>
              </a:rPr>
              <a:t> Yuan</a:t>
            </a:r>
            <a:endParaRPr lang="zh-TW" altLang="en-US" sz="2400" dirty="0">
              <a:solidFill>
                <a:schemeClr val="tx1"/>
              </a:solidFill>
            </a:endParaRPr>
          </a:p>
        </p:txBody>
      </p:sp>
    </p:spTree>
    <p:extLst>
      <p:ext uri="{BB962C8B-B14F-4D97-AF65-F5344CB8AC3E}">
        <p14:creationId xmlns:p14="http://schemas.microsoft.com/office/powerpoint/2010/main" xmlns="" val="166313647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a:t>
            </a:fld>
            <a:endParaRPr lang="zh-TW" altLang="en-US"/>
          </a:p>
        </p:txBody>
      </p:sp>
      <p:sp>
        <p:nvSpPr>
          <p:cNvPr id="5" name="內容版面配置區 4"/>
          <p:cNvSpPr>
            <a:spLocks noGrp="1"/>
          </p:cNvSpPr>
          <p:nvPr>
            <p:ph sz="quarter" idx="1"/>
          </p:nvPr>
        </p:nvSpPr>
        <p:spPr/>
        <p:txBody>
          <a:bodyPr>
            <a:noAutofit/>
          </a:bodyPr>
          <a:lstStyle/>
          <a:p>
            <a:r>
              <a:rPr lang="en-US" altLang="zh-TW" sz="2400" dirty="0"/>
              <a:t>A popular approach in comparative genomics is to locate groups or clusters of orthologous genes in multiple genomes and to postulate functional association between the genes contained in such clusters. To this end, genomes are often represented as permutations of their genes, and common intervals, i.e. intervals containing the same set of genes, are interpreted as gene clusters. A disadvantage of </a:t>
            </a:r>
            <a:r>
              <a:rPr lang="en-US" altLang="zh-TW" sz="2400" dirty="0" err="1"/>
              <a:t>modelling</a:t>
            </a:r>
            <a:r>
              <a:rPr lang="en-US" altLang="zh-TW" sz="2400" dirty="0"/>
              <a:t> genomes as permutations is that </a:t>
            </a:r>
            <a:r>
              <a:rPr lang="en-US" altLang="zh-TW" sz="2400" dirty="0" err="1"/>
              <a:t>paralogous</a:t>
            </a:r>
            <a:r>
              <a:rPr lang="en-US" altLang="zh-TW" sz="2400" dirty="0"/>
              <a:t> copies of the same gene inside one genome can not be </a:t>
            </a:r>
            <a:r>
              <a:rPr lang="en-US" altLang="zh-TW" sz="2400" dirty="0" err="1"/>
              <a:t>modelled</a:t>
            </a:r>
            <a:r>
              <a:rPr lang="en-US" altLang="zh-TW" sz="2400" dirty="0"/>
              <a:t>.</a:t>
            </a:r>
            <a:endParaRPr lang="zh-TW" altLang="en-US" sz="2400" dirty="0">
              <a:latin typeface="+mj-lt"/>
              <a:ea typeface="+mj-ea"/>
              <a:cs typeface="Arial" pitchFamily="34" charset="0"/>
            </a:endParaRPr>
          </a:p>
        </p:txBody>
      </p:sp>
    </p:spTree>
    <p:extLst>
      <p:ext uri="{BB962C8B-B14F-4D97-AF65-F5344CB8AC3E}">
        <p14:creationId xmlns:p14="http://schemas.microsoft.com/office/powerpoint/2010/main" xmlns="" val="720821653"/>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3</a:t>
            </a:fld>
            <a:endParaRPr lang="zh-TW" altLang="en-US"/>
          </a:p>
        </p:txBody>
      </p:sp>
      <p:sp>
        <p:nvSpPr>
          <p:cNvPr id="5" name="內容版面配置區 4"/>
          <p:cNvSpPr>
            <a:spLocks noGrp="1"/>
          </p:cNvSpPr>
          <p:nvPr>
            <p:ph sz="quarter" idx="1"/>
          </p:nvPr>
        </p:nvSpPr>
        <p:spPr/>
        <p:txBody>
          <a:bodyPr>
            <a:noAutofit/>
          </a:bodyPr>
          <a:lstStyle/>
          <a:p>
            <a:r>
              <a:rPr lang="en-US" altLang="zh-TW" sz="2400" dirty="0"/>
              <a:t>In this paper we consider a slightly modified model that allows </a:t>
            </a:r>
            <a:r>
              <a:rPr lang="en-US" altLang="zh-TW" sz="2400" dirty="0" err="1"/>
              <a:t>paralogs</a:t>
            </a:r>
            <a:r>
              <a:rPr lang="en-US" altLang="zh-TW" sz="2400" dirty="0"/>
              <a:t>, simply by representing genomes as sequences rather than permutations of genes. We define common intervals based on this model, and we present a simple algorithm that finds all common intervals of two sequences in Θ(</a:t>
            </a:r>
            <a:r>
              <a:rPr lang="en-US" altLang="zh-TW" sz="2400" i="1" dirty="0"/>
              <a:t>n</a:t>
            </a:r>
            <a:r>
              <a:rPr lang="en-US" altLang="zh-TW" sz="2400" dirty="0"/>
              <a:t> </a:t>
            </a:r>
            <a:r>
              <a:rPr lang="en-US" altLang="zh-TW" sz="2400" baseline="30000" dirty="0"/>
              <a:t>2</a:t>
            </a:r>
            <a:r>
              <a:rPr lang="en-US" altLang="zh-TW" sz="2400" dirty="0"/>
              <a:t>) time using Θ(</a:t>
            </a:r>
            <a:r>
              <a:rPr lang="en-US" altLang="zh-TW" sz="2400" i="1" dirty="0"/>
              <a:t>n</a:t>
            </a:r>
            <a:r>
              <a:rPr lang="en-US" altLang="zh-TW" sz="2400" dirty="0"/>
              <a:t> </a:t>
            </a:r>
            <a:r>
              <a:rPr lang="en-US" altLang="zh-TW" sz="2400" baseline="30000" dirty="0"/>
              <a:t>2</a:t>
            </a:r>
            <a:r>
              <a:rPr lang="en-US" altLang="zh-TW" sz="2400" dirty="0"/>
              <a:t>) space. Another, more complicated algorithm runs in </a:t>
            </a:r>
            <a:r>
              <a:rPr lang="en-US" altLang="zh-TW" sz="2400" i="1" dirty="0"/>
              <a:t>O</a:t>
            </a:r>
            <a:r>
              <a:rPr lang="en-US" altLang="zh-TW" sz="2400" dirty="0"/>
              <a:t>(</a:t>
            </a:r>
            <a:r>
              <a:rPr lang="en-US" altLang="zh-TW" sz="2400" i="1" dirty="0"/>
              <a:t>n</a:t>
            </a:r>
            <a:r>
              <a:rPr lang="en-US" altLang="zh-TW" sz="2400" dirty="0"/>
              <a:t> </a:t>
            </a:r>
            <a:r>
              <a:rPr lang="en-US" altLang="zh-TW" sz="2400" baseline="30000" dirty="0"/>
              <a:t>2</a:t>
            </a:r>
            <a:r>
              <a:rPr lang="en-US" altLang="zh-TW" sz="2400" dirty="0"/>
              <a:t>) time and uses only linear space. We also show how to extend the simple algorithm to more than two genomes, and we present results from the application of our algorithms to real data.</a:t>
            </a:r>
            <a:endParaRPr lang="zh-TW" altLang="en-US" sz="2400" dirty="0">
              <a:latin typeface="+mn-lt"/>
              <a:cs typeface="Arial" pitchFamily="34" charset="0"/>
            </a:endParaRPr>
          </a:p>
        </p:txBody>
      </p:sp>
    </p:spTree>
    <p:extLst>
      <p:ext uri="{BB962C8B-B14F-4D97-AF65-F5344CB8AC3E}">
        <p14:creationId xmlns:p14="http://schemas.microsoft.com/office/powerpoint/2010/main" xmlns="" val="603912563"/>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Basic </a:t>
            </a:r>
            <a:r>
              <a:rPr lang="en-US" altLang="zh-TW" dirty="0" smtClean="0"/>
              <a:t>Definitions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4</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normAutofit/>
              </a:bodyPr>
              <a:lstStyle/>
              <a:p>
                <a:r>
                  <a:rPr lang="en-US" altLang="zh-TW" b="1" dirty="0" smtClean="0"/>
                  <a:t>Character set</a:t>
                </a:r>
              </a:p>
              <a:p>
                <a:pPr lvl="1"/>
                <a:r>
                  <a:rPr lang="en-US" altLang="zh-TW" sz="2500" dirty="0"/>
                  <a:t>Given a string S, the character set of a </a:t>
                </a:r>
                <a:r>
                  <a:rPr lang="en-US" altLang="zh-TW" sz="2500" dirty="0" smtClean="0"/>
                  <a:t>sub-string S[</a:t>
                </a:r>
                <a:r>
                  <a:rPr lang="en-US" altLang="zh-TW" sz="2500" dirty="0" err="1" smtClean="0"/>
                  <a:t>i</a:t>
                </a:r>
                <a:r>
                  <a:rPr lang="en-US" altLang="zh-TW" sz="2500" dirty="0" smtClean="0"/>
                  <a:t>, </a:t>
                </a:r>
                <a:r>
                  <a:rPr lang="en-US" altLang="zh-TW" sz="2500" dirty="0"/>
                  <a:t>j] is </a:t>
                </a:r>
                <a:r>
                  <a:rPr lang="en-US" altLang="zh-TW" sz="2500" dirty="0" smtClean="0"/>
                  <a:t>defined by</a:t>
                </a:r>
              </a:p>
              <a:p>
                <a:pPr lvl="1"/>
                <a:r>
                  <a:rPr lang="en-US" altLang="zh-TW" sz="2500" dirty="0">
                    <a:solidFill>
                      <a:schemeClr val="accent1">
                        <a:lumMod val="75000"/>
                      </a:schemeClr>
                    </a:solidFill>
                  </a:rPr>
                  <a:t>e</a:t>
                </a:r>
                <a:r>
                  <a:rPr lang="en-US" altLang="zh-TW" sz="2500" dirty="0" smtClean="0">
                    <a:solidFill>
                      <a:schemeClr val="accent1">
                        <a:lumMod val="75000"/>
                      </a:schemeClr>
                    </a:solidFill>
                  </a:rPr>
                  <a:t>.g. S = 4 </a:t>
                </a:r>
                <a:r>
                  <a:rPr lang="en-US" altLang="zh-TW" sz="2500" dirty="0" smtClean="0">
                    <a:solidFill>
                      <a:schemeClr val="accent1">
                        <a:lumMod val="50000"/>
                      </a:schemeClr>
                    </a:solidFill>
                    <a:effectLst>
                      <a:outerShdw blurRad="38100" dist="38100" dir="2700000" algn="tl">
                        <a:srgbClr val="000000">
                          <a:alpha val="43137"/>
                        </a:srgbClr>
                      </a:outerShdw>
                    </a:effectLst>
                  </a:rPr>
                  <a:t>3 5 5 5 1 </a:t>
                </a:r>
                <a:r>
                  <a:rPr lang="en-US" altLang="zh-TW" sz="2500" dirty="0" smtClean="0">
                    <a:solidFill>
                      <a:schemeClr val="accent1">
                        <a:lumMod val="75000"/>
                      </a:schemeClr>
                    </a:solidFill>
                  </a:rPr>
                  <a:t>4 2 2		CS(S[2,6])={1, 3, 5}</a:t>
                </a:r>
              </a:p>
              <a:p>
                <a:r>
                  <a:rPr lang="en-US" altLang="zh-TW" b="1" dirty="0" smtClean="0"/>
                  <a:t>CS-location, maximal</a:t>
                </a:r>
              </a:p>
              <a:p>
                <a:pPr lvl="1"/>
                <a:r>
                  <a:rPr lang="en-US" altLang="zh-TW" sz="2500" dirty="0"/>
                  <a:t>Given a string S over an alphabet </a:t>
                </a:r>
                <a:r>
                  <a:rPr lang="el-GR" altLang="zh-TW" sz="2500" dirty="0" smtClean="0"/>
                  <a:t>Σ</a:t>
                </a:r>
                <a:r>
                  <a:rPr lang="en-US" altLang="zh-TW" sz="2500" dirty="0" smtClean="0"/>
                  <a:t> and </a:t>
                </a:r>
                <a:r>
                  <a:rPr lang="en-US" altLang="zh-TW" sz="2500" dirty="0"/>
                  <a:t>a subset C </a:t>
                </a:r>
                <a14:m>
                  <m:oMath xmlns:m="http://schemas.openxmlformats.org/officeDocument/2006/math">
                    <m:r>
                      <a:rPr lang="en-US" altLang="zh-TW" sz="2500" i="0" smtClean="0">
                        <a:latin typeface="Cambria Math"/>
                        <a:ea typeface="Cambria Math"/>
                      </a:rPr>
                      <m:t>⊆</m:t>
                    </m:r>
                  </m:oMath>
                </a14:m>
                <a:r>
                  <a:rPr lang="el-GR" altLang="zh-TW" sz="2500" dirty="0"/>
                  <a:t> Σ</a:t>
                </a:r>
                <a:r>
                  <a:rPr lang="en-US" altLang="zh-TW" sz="2500" dirty="0" smtClean="0"/>
                  <a:t>, </a:t>
                </a:r>
                <a:r>
                  <a:rPr lang="en-US" altLang="zh-TW" sz="2500" dirty="0"/>
                  <a:t>the pair </a:t>
                </a:r>
                <a:r>
                  <a:rPr lang="en-US" altLang="zh-TW" sz="2500" dirty="0" smtClean="0"/>
                  <a:t>(</a:t>
                </a:r>
                <a:r>
                  <a:rPr lang="en-US" altLang="zh-TW" sz="2500" dirty="0" err="1" smtClean="0"/>
                  <a:t>i</a:t>
                </a:r>
                <a:r>
                  <a:rPr lang="en-US" altLang="zh-TW" sz="2500" dirty="0" smtClean="0"/>
                  <a:t>, </a:t>
                </a:r>
                <a:r>
                  <a:rPr lang="en-US" altLang="zh-TW" sz="2500" dirty="0"/>
                  <a:t>j) is a CS-location of C in S if and only </a:t>
                </a:r>
                <a:r>
                  <a:rPr lang="en-US" altLang="zh-TW" sz="2500" dirty="0" smtClean="0"/>
                  <a:t>if CS(S[</a:t>
                </a:r>
                <a:r>
                  <a:rPr lang="en-US" altLang="zh-TW" sz="2500" dirty="0" err="1" smtClean="0"/>
                  <a:t>i</a:t>
                </a:r>
                <a:r>
                  <a:rPr lang="en-US" altLang="zh-TW" sz="2500" dirty="0" smtClean="0"/>
                  <a:t>, </a:t>
                </a:r>
                <a:r>
                  <a:rPr lang="en-US" altLang="zh-TW" sz="2500" dirty="0"/>
                  <a:t>j</a:t>
                </a:r>
                <a:r>
                  <a:rPr lang="en-US" altLang="zh-TW" sz="2500" dirty="0" smtClean="0"/>
                  <a:t>])=C.</a:t>
                </a:r>
                <a:br>
                  <a:rPr lang="en-US" altLang="zh-TW" sz="2500" dirty="0" smtClean="0"/>
                </a:br>
                <a:r>
                  <a:rPr lang="en-US" altLang="zh-TW" sz="2500" dirty="0">
                    <a:solidFill>
                      <a:srgbClr val="C00000"/>
                    </a:solidFill>
                  </a:rPr>
                  <a:t>left-maximal</a:t>
                </a:r>
                <a:r>
                  <a:rPr lang="en-US" altLang="zh-TW" sz="2500" dirty="0"/>
                  <a:t> if S[</a:t>
                </a:r>
                <a:r>
                  <a:rPr lang="en-US" altLang="zh-TW" sz="2500" dirty="0" err="1"/>
                  <a:t>i</a:t>
                </a:r>
                <a:r>
                  <a:rPr lang="en-US" altLang="zh-TW" sz="2500" dirty="0"/>
                  <a:t>, 1]</a:t>
                </a:r>
                <a:r>
                  <a:rPr lang="en-US" altLang="zh-TW" sz="2500" dirty="0" smtClean="0"/>
                  <a:t/>
                </a:r>
                <a14:m>
                  <m:oMath xmlns:m="http://schemas.openxmlformats.org/officeDocument/2006/math">
                    <m:r>
                      <a:rPr lang="en-US" altLang="zh-TW" sz="2500">
                        <a:latin typeface="Cambria Math"/>
                      </a:rPr>
                      <m:t>∉</m:t>
                    </m:r>
                  </m:oMath>
                </a14:m>
                <a:r>
                  <a:rPr lang="en-US" altLang="zh-TW" sz="2500" dirty="0" smtClean="0"/>
                  <a:t/>
                </a:r>
                <a:r>
                  <a:rPr lang="en-US" altLang="zh-TW" sz="2500" dirty="0"/>
                  <a:t>C, </a:t>
                </a:r>
                <a:r>
                  <a:rPr lang="en-US" altLang="zh-TW" sz="2500" dirty="0">
                    <a:solidFill>
                      <a:srgbClr val="C00000"/>
                    </a:solidFill>
                  </a:rPr>
                  <a:t>right-maximal</a:t>
                </a:r>
                <a:r>
                  <a:rPr lang="en-US" altLang="zh-TW" sz="2500" dirty="0"/>
                  <a:t> if S[j + 1]</a:t>
                </a:r>
                <a14:m>
                  <m:oMath xmlns:m="http://schemas.openxmlformats.org/officeDocument/2006/math">
                    <m:r>
                      <a:rPr lang="en-US" altLang="zh-TW" sz="2500" b="0" i="0" smtClean="0">
                        <a:latin typeface="Cambria Math"/>
                      </a:rPr>
                      <m:t> </m:t>
                    </m:r>
                    <m:r>
                      <a:rPr lang="en-US" altLang="zh-TW" sz="2500">
                        <a:latin typeface="Cambria Math"/>
                      </a:rPr>
                      <m:t>∉</m:t>
                    </m:r>
                  </m:oMath>
                </a14:m>
                <a:r>
                  <a:rPr lang="en-US" altLang="zh-TW" sz="2500" dirty="0" smtClean="0"/>
                  <a:t/>
                </a:r>
                <a:r>
                  <a:rPr lang="en-US" altLang="zh-TW" sz="2500" dirty="0"/>
                  <a:t>C,</a:t>
                </a:r>
                <a:br>
                  <a:rPr lang="en-US" altLang="zh-TW" sz="2500" dirty="0"/>
                </a:br>
                <a:r>
                  <a:rPr lang="en-US" altLang="zh-TW" sz="2500" dirty="0">
                    <a:solidFill>
                      <a:srgbClr val="C00000"/>
                    </a:solidFill>
                  </a:rPr>
                  <a:t>maximal</a:t>
                </a:r>
                <a:r>
                  <a:rPr lang="en-US" altLang="zh-TW" sz="2500" dirty="0"/>
                  <a:t> if it is both left-maximal and right-maximal.</a:t>
                </a:r>
              </a:p>
              <a:p>
                <a:pPr lvl="1"/>
                <a:r>
                  <a:rPr lang="en-US" altLang="zh-TW" sz="2500" dirty="0" smtClean="0">
                    <a:solidFill>
                      <a:schemeClr val="accent1">
                        <a:lumMod val="75000"/>
                      </a:schemeClr>
                    </a:solidFill>
                  </a:rPr>
                  <a:t>e.g</a:t>
                </a:r>
                <a:r>
                  <a:rPr lang="en-US" altLang="zh-TW" sz="2500" dirty="0">
                    <a:solidFill>
                      <a:schemeClr val="accent1">
                        <a:lumMod val="75000"/>
                      </a:schemeClr>
                    </a:solidFill>
                  </a:rPr>
                  <a:t>. S = 4 </a:t>
                </a:r>
                <a:r>
                  <a:rPr lang="en-US" altLang="zh-TW" sz="2500" dirty="0">
                    <a:solidFill>
                      <a:schemeClr val="accent1">
                        <a:lumMod val="50000"/>
                      </a:schemeClr>
                    </a:solidFill>
                    <a:effectLst>
                      <a:outerShdw blurRad="38100" dist="38100" dir="2700000" algn="tl">
                        <a:srgbClr val="000000">
                          <a:alpha val="43137"/>
                        </a:srgbClr>
                      </a:outerShdw>
                    </a:effectLst>
                  </a:rPr>
                  <a:t>3 5 5 5</a:t>
                </a:r>
                <a:r>
                  <a:rPr lang="en-US" altLang="zh-TW" sz="2500" dirty="0">
                    <a:solidFill>
                      <a:schemeClr val="accent1">
                        <a:lumMod val="75000"/>
                      </a:schemeClr>
                    </a:solidFill>
                    <a:effectLst>
                      <a:outerShdw blurRad="38100" dist="38100" dir="2700000" algn="tl">
                        <a:srgbClr val="000000">
                          <a:alpha val="43137"/>
                        </a:srgbClr>
                      </a:outerShdw>
                    </a:effectLst>
                  </a:rPr>
                  <a:t/>
                </a:r>
                <a:r>
                  <a:rPr lang="en-US" altLang="zh-TW" sz="2500" dirty="0">
                    <a:solidFill>
                      <a:schemeClr val="accent1">
                        <a:lumMod val="75000"/>
                      </a:schemeClr>
                    </a:solidFill>
                  </a:rPr>
                  <a:t>1 4 2 2 </a:t>
                </a:r>
                <a:r>
                  <a:rPr lang="en-US" altLang="zh-TW" sz="2500" dirty="0" smtClean="0">
                    <a:solidFill>
                      <a:schemeClr val="accent1">
                        <a:lumMod val="75000"/>
                      </a:schemeClr>
                    </a:solidFill>
                  </a:rPr>
                  <a:t>		C={3, 5}</a:t>
                </a:r>
                <a:br>
                  <a:rPr lang="en-US" altLang="zh-TW" sz="2500" dirty="0" smtClean="0">
                    <a:solidFill>
                      <a:schemeClr val="accent1">
                        <a:lumMod val="75000"/>
                      </a:schemeClr>
                    </a:solidFill>
                  </a:rPr>
                </a:br>
                <a:r>
                  <a:rPr lang="en-US" altLang="zh-TW" sz="2500" dirty="0" smtClean="0">
                    <a:solidFill>
                      <a:schemeClr val="accent1">
                        <a:lumMod val="75000"/>
                      </a:schemeClr>
                    </a:solidFill>
                  </a:rPr>
                  <a:t>CS-location: (2,3),(2,4),(2,5)	(2,5) is maximal</a:t>
                </a:r>
                <a:endParaRPr lang="zh-TW" altLang="en-US" sz="2500" dirty="0">
                  <a:solidFill>
                    <a:schemeClr val="accent1">
                      <a:lumMod val="75000"/>
                    </a:schemeClr>
                  </a:solidFill>
                </a:endParaRPr>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593" t="-988" r="-2000"/>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699793" y="2086248"/>
            <a:ext cx="5463024" cy="40905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39816414"/>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Basic </a:t>
            </a:r>
            <a:r>
              <a:rPr lang="en-US" altLang="zh-TW" dirty="0" smtClean="0"/>
              <a:t>Definitions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5</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normAutofit/>
              </a:bodyPr>
              <a:lstStyle/>
              <a:p>
                <a:r>
                  <a:rPr lang="en-US" altLang="zh-TW" b="1" dirty="0" smtClean="0"/>
                  <a:t>Common </a:t>
                </a:r>
                <a:r>
                  <a:rPr lang="en-US" altLang="zh-TW" b="1" i="1" dirty="0"/>
                  <a:t>CS</a:t>
                </a:r>
                <a:r>
                  <a:rPr lang="en-US" altLang="zh-TW" b="1" dirty="0"/>
                  <a:t>-factor of </a:t>
                </a:r>
                <a:r>
                  <a:rPr lang="en-US" altLang="zh-TW" b="1" i="1" dirty="0"/>
                  <a:t>k </a:t>
                </a:r>
                <a:r>
                  <a:rPr lang="en-US" altLang="zh-TW" b="1" dirty="0" smtClean="0"/>
                  <a:t>strings</a:t>
                </a:r>
              </a:p>
              <a:p>
                <a:pPr lvl="1"/>
                <a:r>
                  <a:rPr lang="en-US" altLang="zh-TW" sz="2500" dirty="0"/>
                  <a:t>Given a collection of </a:t>
                </a:r>
                <a:r>
                  <a:rPr lang="en-US" altLang="zh-TW" sz="2500" dirty="0" smtClean="0"/>
                  <a:t>k strings </a:t>
                </a:r>
                <a:r>
                  <a:rPr lang="en-US" altLang="zh-TW" sz="2500" dirty="0"/>
                  <a:t>S = (</a:t>
                </a:r>
                <a:r>
                  <a:rPr lang="en-US" altLang="zh-TW" sz="2500" dirty="0" smtClean="0"/>
                  <a:t>S1, S2, …, </a:t>
                </a:r>
                <a:r>
                  <a:rPr lang="en-US" altLang="zh-TW" sz="2500" dirty="0" err="1" smtClean="0"/>
                  <a:t>Sk</a:t>
                </a:r>
                <a:r>
                  <a:rPr lang="en-US" altLang="zh-TW" sz="2500" dirty="0" smtClean="0"/>
                  <a:t>) </a:t>
                </a:r>
                <a:r>
                  <a:rPr lang="en-US" altLang="zh-TW" sz="2500" dirty="0"/>
                  <a:t>over an alphabet </a:t>
                </a:r>
                <a:r>
                  <a:rPr lang="el-GR" altLang="zh-TW" sz="2500" dirty="0" smtClean="0"/>
                  <a:t>Σ</a:t>
                </a:r>
                <a:r>
                  <a:rPr lang="en-US" altLang="zh-TW" sz="2500" dirty="0" smtClean="0"/>
                  <a:t>, </a:t>
                </a:r>
                <a:r>
                  <a:rPr lang="en-US" altLang="zh-TW" sz="2500" dirty="0"/>
                  <a:t>a subset C </a:t>
                </a:r>
                <a14:m>
                  <m:oMath xmlns:m="http://schemas.openxmlformats.org/officeDocument/2006/math">
                    <m:r>
                      <a:rPr lang="en-US" altLang="zh-TW" sz="2500">
                        <a:latin typeface="Cambria Math"/>
                        <a:ea typeface="Cambria Math"/>
                      </a:rPr>
                      <m:t>⊆</m:t>
                    </m:r>
                  </m:oMath>
                </a14:m>
                <a:r>
                  <a:rPr lang="el-GR" altLang="zh-TW" sz="2500" dirty="0"/>
                  <a:t> Σ </a:t>
                </a:r>
                <a:r>
                  <a:rPr lang="en-US" altLang="zh-TW" sz="2500" dirty="0"/>
                  <a:t>is a </a:t>
                </a:r>
                <a:r>
                  <a:rPr lang="en-US" altLang="zh-TW" sz="2500" dirty="0" smtClean="0"/>
                  <a:t>common CS-factor </a:t>
                </a:r>
                <a:r>
                  <a:rPr lang="en-US" altLang="zh-TW" sz="2500" dirty="0"/>
                  <a:t>of S if and only if C has a CS-location in each Sm, 1 </a:t>
                </a:r>
                <a14:m>
                  <m:oMath xmlns:m="http://schemas.openxmlformats.org/officeDocument/2006/math">
                    <m:r>
                      <a:rPr lang="en-US" altLang="zh-TW" sz="2500">
                        <a:latin typeface="Cambria Math"/>
                      </a:rPr>
                      <m:t>≤</m:t>
                    </m:r>
                  </m:oMath>
                </a14:m>
                <a:r>
                  <a:rPr lang="en-US" altLang="zh-TW" sz="2500" dirty="0" smtClean="0"/>
                  <a:t/>
                </a:r>
                <a:r>
                  <a:rPr lang="en-US" altLang="zh-TW" sz="2500" dirty="0"/>
                  <a:t>m </a:t>
                </a:r>
                <a14:m>
                  <m:oMath xmlns:m="http://schemas.openxmlformats.org/officeDocument/2006/math">
                    <m:r>
                      <a:rPr lang="en-US" altLang="zh-TW" sz="2500" dirty="0">
                        <a:latin typeface="Cambria Math"/>
                      </a:rPr>
                      <m:t>≤</m:t>
                    </m:r>
                  </m:oMath>
                </a14:m>
                <a:r>
                  <a:rPr lang="en-US" altLang="zh-TW" sz="2500" dirty="0"/>
                  <a:t> k.</a:t>
                </a:r>
              </a:p>
              <a:p>
                <a:pPr lvl="1"/>
                <a:r>
                  <a:rPr lang="en-US" altLang="zh-TW" sz="2500" dirty="0">
                    <a:solidFill>
                      <a:schemeClr val="accent1">
                        <a:lumMod val="75000"/>
                      </a:schemeClr>
                    </a:solidFill>
                  </a:rPr>
                  <a:t>e.g</a:t>
                </a:r>
                <a:r>
                  <a:rPr lang="en-US" altLang="zh-TW" sz="2500" dirty="0" smtClean="0">
                    <a:solidFill>
                      <a:schemeClr val="accent1">
                        <a:lumMod val="75000"/>
                      </a:schemeClr>
                    </a:solidFill>
                  </a:rPr>
                  <a:t>. 4 </a:t>
                </a:r>
                <a:r>
                  <a:rPr lang="en-US" altLang="zh-TW" sz="2500" u="sng" dirty="0" smtClean="0">
                    <a:solidFill>
                      <a:schemeClr val="accent1">
                        <a:lumMod val="75000"/>
                      </a:schemeClr>
                    </a:solidFill>
                  </a:rPr>
                  <a:t>3 5 5 5 1</a:t>
                </a:r>
                <a:r>
                  <a:rPr lang="en-US" altLang="zh-TW" sz="2500" dirty="0" smtClean="0">
                    <a:solidFill>
                      <a:schemeClr val="accent1">
                        <a:lumMod val="75000"/>
                      </a:schemeClr>
                    </a:solidFill>
                  </a:rPr>
                  <a:t> 4 2 2 	3 1 2 </a:t>
                </a:r>
                <a:r>
                  <a:rPr lang="en-US" altLang="zh-TW" sz="2500" u="sng" dirty="0" smtClean="0">
                    <a:solidFill>
                      <a:schemeClr val="accent1">
                        <a:lumMod val="75000"/>
                      </a:schemeClr>
                    </a:solidFill>
                  </a:rPr>
                  <a:t>3 1 5</a:t>
                </a:r>
                <a:r>
                  <a:rPr lang="en-US" altLang="zh-TW" sz="2500" dirty="0" smtClean="0">
                    <a:solidFill>
                      <a:schemeClr val="accent1">
                        <a:lumMod val="75000"/>
                      </a:schemeClr>
                    </a:solidFill>
                  </a:rPr>
                  <a:t> 2 6</a:t>
                </a:r>
              </a:p>
              <a:p>
                <a:pPr lvl="1"/>
                <a:endParaRPr lang="en-US" altLang="zh-TW" sz="2500" dirty="0" smtClean="0"/>
              </a:p>
              <a:p>
                <a:r>
                  <a:rPr lang="en-US" altLang="zh-TW" sz="2500" i="1" dirty="0"/>
                  <a:t>Problem 1. </a:t>
                </a:r>
                <a:r>
                  <a:rPr lang="en-US" altLang="zh-TW" sz="2500" dirty="0" smtClean="0"/>
                  <a:t>Given </a:t>
                </a:r>
                <a:r>
                  <a:rPr lang="en-US" altLang="zh-TW" sz="2500" dirty="0"/>
                  <a:t>a collection of </a:t>
                </a:r>
                <a:r>
                  <a:rPr lang="en-US" altLang="zh-TW" sz="2500" i="1" dirty="0"/>
                  <a:t>k </a:t>
                </a:r>
                <a:r>
                  <a:rPr lang="en-US" altLang="zh-TW" sz="2500" dirty="0"/>
                  <a:t>strings </a:t>
                </a:r>
                <a:r>
                  <a:rPr lang="en-US" altLang="zh-TW" sz="2500" i="1" dirty="0"/>
                  <a:t>S </a:t>
                </a:r>
                <a:r>
                  <a:rPr lang="en-US" altLang="zh-TW" sz="2500" dirty="0" smtClean="0"/>
                  <a:t>= </a:t>
                </a:r>
                <a:r>
                  <a:rPr lang="en-US" altLang="zh-TW" sz="2500" dirty="0"/>
                  <a:t>(S1, S2, …, </a:t>
                </a:r>
                <a:r>
                  <a:rPr lang="en-US" altLang="zh-TW" sz="2500" dirty="0" err="1"/>
                  <a:t>Sk</a:t>
                </a:r>
                <a:r>
                  <a:rPr lang="en-US" altLang="zh-TW" sz="2500" dirty="0"/>
                  <a:t>)</a:t>
                </a:r>
                <a:r>
                  <a:rPr lang="en-US" altLang="zh-TW" sz="2500" dirty="0" smtClean="0"/>
                  <a:t>, </a:t>
                </a:r>
                <a:r>
                  <a:rPr lang="en-US" altLang="zh-TW" sz="2500" dirty="0" smtClean="0">
                    <a:solidFill>
                      <a:srgbClr val="C00000"/>
                    </a:solidFill>
                  </a:rPr>
                  <a:t>find </a:t>
                </a:r>
                <a:r>
                  <a:rPr lang="en-US" altLang="zh-TW" sz="2500" dirty="0">
                    <a:solidFill>
                      <a:srgbClr val="C00000"/>
                    </a:solidFill>
                  </a:rPr>
                  <a:t>all its </a:t>
                </a:r>
                <a:r>
                  <a:rPr lang="en-US" altLang="zh-TW" sz="2500" dirty="0" smtClean="0">
                    <a:solidFill>
                      <a:srgbClr val="C00000"/>
                    </a:solidFill>
                  </a:rPr>
                  <a:t>common </a:t>
                </a:r>
                <a:r>
                  <a:rPr lang="en-US" altLang="zh-TW" sz="2500" i="1" dirty="0">
                    <a:solidFill>
                      <a:srgbClr val="C00000"/>
                    </a:solidFill>
                  </a:rPr>
                  <a:t>CS</a:t>
                </a:r>
                <a:r>
                  <a:rPr lang="en-US" altLang="zh-TW" sz="2500" dirty="0">
                    <a:solidFill>
                      <a:srgbClr val="C00000"/>
                    </a:solidFill>
                  </a:rPr>
                  <a:t>-factors</a:t>
                </a:r>
                <a:r>
                  <a:rPr lang="en-US" altLang="zh-TW" sz="2500" dirty="0" smtClean="0"/>
                  <a:t>.</a:t>
                </a:r>
              </a:p>
              <a:p>
                <a:r>
                  <a:rPr lang="en-US" altLang="zh-TW" sz="2500" i="1" dirty="0"/>
                  <a:t>Problem 2. </a:t>
                </a:r>
                <a:r>
                  <a:rPr lang="en-US" altLang="zh-TW" sz="2500" dirty="0"/>
                  <a:t>For each common CS-factor of S, </a:t>
                </a:r>
                <a:r>
                  <a:rPr lang="en-US" altLang="zh-TW" sz="2500" dirty="0" smtClean="0">
                    <a:solidFill>
                      <a:srgbClr val="C00000"/>
                    </a:solidFill>
                  </a:rPr>
                  <a:t>find </a:t>
                </a:r>
                <a:r>
                  <a:rPr lang="en-US" altLang="zh-TW" sz="2500" dirty="0">
                    <a:solidFill>
                      <a:srgbClr val="C00000"/>
                    </a:solidFill>
                  </a:rPr>
                  <a:t>all its maximal </a:t>
                </a:r>
                <a:r>
                  <a:rPr lang="en-US" altLang="zh-TW" sz="2500" dirty="0" smtClean="0">
                    <a:solidFill>
                      <a:srgbClr val="C00000"/>
                    </a:solidFill>
                  </a:rPr>
                  <a:t>CS-</a:t>
                </a:r>
                <a:r>
                  <a:rPr lang="en-US" altLang="zh-TW" sz="2500" dirty="0" err="1" smtClean="0">
                    <a:solidFill>
                      <a:srgbClr val="C00000"/>
                    </a:solidFill>
                  </a:rPr>
                  <a:t>locationsin</a:t>
                </a:r>
                <a:r>
                  <a:rPr lang="en-US" altLang="zh-TW" sz="2500" dirty="0" smtClean="0">
                    <a:solidFill>
                      <a:srgbClr val="C00000"/>
                    </a:solidFill>
                  </a:rPr>
                  <a:t/>
                </a:r>
                <a:r>
                  <a:rPr lang="en-US" altLang="zh-TW" sz="2500" dirty="0"/>
                  <a:t>each of the </a:t>
                </a:r>
                <a:r>
                  <a:rPr lang="en-US" altLang="zh-TW" sz="2500" dirty="0" err="1" smtClean="0"/>
                  <a:t>Sm</a:t>
                </a:r>
                <a:r>
                  <a:rPr lang="en-US" altLang="zh-TW" sz="2500" dirty="0" smtClean="0"/>
                  <a:t>, </a:t>
                </a:r>
                <a:r>
                  <a:rPr lang="en-US" altLang="zh-TW" sz="2500" dirty="0"/>
                  <a:t>1 </a:t>
                </a:r>
                <a14:m>
                  <m:oMath xmlns:m="http://schemas.openxmlformats.org/officeDocument/2006/math">
                    <m:r>
                      <a:rPr lang="en-US" altLang="zh-TW" sz="2500" b="0" i="0" smtClean="0">
                        <a:latin typeface="Cambria Math"/>
                        <a:ea typeface="Cambria Math"/>
                      </a:rPr>
                      <m:t>≤</m:t>
                    </m:r>
                  </m:oMath>
                </a14:m>
                <a:r>
                  <a:rPr lang="en-US" altLang="zh-TW" sz="2500" dirty="0" smtClean="0"/>
                  <a:t> m </a:t>
                </a:r>
                <a14:m>
                  <m:oMath xmlns:m="http://schemas.openxmlformats.org/officeDocument/2006/math">
                    <m:r>
                      <a:rPr lang="en-US" altLang="zh-TW" sz="2500" b="0" i="0" dirty="0" smtClean="0">
                        <a:latin typeface="Cambria Math"/>
                        <a:ea typeface="Cambria Math"/>
                      </a:rPr>
                      <m:t>≤</m:t>
                    </m:r>
                  </m:oMath>
                </a14:m>
                <a:r>
                  <a:rPr lang="en-US" altLang="zh-TW" sz="2500" dirty="0"/>
                  <a:t> k.</a:t>
                </a:r>
                <a:endParaRPr lang="zh-TW" altLang="en-US" sz="2500" dirty="0">
                  <a:solidFill>
                    <a:schemeClr val="accent1">
                      <a:lumMod val="75000"/>
                    </a:schemeClr>
                  </a:solidFill>
                </a:endParaRPr>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593" t="-9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232143899"/>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Pre-processing Step of Connecting Intervals</a:t>
            </a:r>
            <a:r>
              <a:rPr lang="en-US" altLang="zh-TW" dirty="0"/>
              <a:t> </a:t>
            </a:r>
            <a:r>
              <a:rPr lang="en-US" altLang="zh-TW" dirty="0" smtClean="0"/>
              <a:t>(CI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6</a:t>
            </a:fld>
            <a:endParaRPr lang="zh-TW" altLang="en-US"/>
          </a:p>
        </p:txBody>
      </p:sp>
      <p:sp>
        <p:nvSpPr>
          <p:cNvPr id="5" name="內容版面配置區 4"/>
          <p:cNvSpPr>
            <a:spLocks noGrp="1"/>
          </p:cNvSpPr>
          <p:nvPr>
            <p:ph sz="quarter" idx="1"/>
          </p:nvPr>
        </p:nvSpPr>
        <p:spPr/>
        <p:txBody>
          <a:bodyPr/>
          <a:lstStyle/>
          <a:p>
            <a:r>
              <a:rPr lang="en-US" altLang="zh-TW" dirty="0" smtClean="0"/>
              <a:t>A </a:t>
            </a:r>
            <a:r>
              <a:rPr lang="en-US" altLang="zh-TW" dirty="0"/>
              <a:t>list POS[c] that holds the positions of occurrence of c in </a:t>
            </a:r>
            <a:r>
              <a:rPr lang="en-US" altLang="zh-TW" dirty="0" smtClean="0"/>
              <a:t>sequence S1 </a:t>
            </a:r>
            <a:r>
              <a:rPr lang="en-US" altLang="zh-TW" dirty="0"/>
              <a:t>in ascending </a:t>
            </a:r>
            <a:r>
              <a:rPr lang="en-US" altLang="zh-TW" dirty="0" smtClean="0"/>
              <a:t>order.</a:t>
            </a:r>
          </a:p>
          <a:p>
            <a:endParaRPr lang="en-US" altLang="zh-TW" i="1" dirty="0" smtClean="0"/>
          </a:p>
          <a:p>
            <a:pPr marL="0" indent="0">
              <a:buNone/>
            </a:pPr>
            <a:r>
              <a:rPr lang="en-US" altLang="zh-TW" dirty="0" smtClean="0"/>
              <a:t>S1 </a:t>
            </a:r>
            <a:r>
              <a:rPr lang="en-US" altLang="zh-TW" dirty="0"/>
              <a:t>= (</a:t>
            </a:r>
            <a:r>
              <a:rPr lang="en-US" altLang="zh-TW" dirty="0" smtClean="0"/>
              <a:t>3, 1, 2, 3, 1, 5, 2, </a:t>
            </a:r>
            <a:r>
              <a:rPr lang="en-US" altLang="zh-TW" dirty="0"/>
              <a:t>6) with </a:t>
            </a:r>
            <a:r>
              <a:rPr lang="el-GR" altLang="zh-TW" sz="2800" dirty="0"/>
              <a:t>Σ</a:t>
            </a:r>
            <a:r>
              <a:rPr lang="en-US" altLang="zh-TW" dirty="0" smtClean="0"/>
              <a:t> </a:t>
            </a:r>
            <a:r>
              <a:rPr lang="en-US" altLang="zh-TW" dirty="0"/>
              <a:t>= {</a:t>
            </a:r>
            <a:r>
              <a:rPr lang="en-US" altLang="zh-TW" dirty="0" smtClean="0"/>
              <a:t>1, . . . , 6</a:t>
            </a:r>
            <a:r>
              <a:rPr lang="en-US" altLang="zh-TW" dirty="0"/>
              <a:t>}</a:t>
            </a:r>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3284984"/>
            <a:ext cx="2626048" cy="247527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86046694"/>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Pre-processing Step of Connecting Intervals</a:t>
            </a:r>
            <a:r>
              <a:rPr lang="en-US" altLang="zh-TW" dirty="0"/>
              <a:t> </a:t>
            </a:r>
            <a:r>
              <a:rPr lang="en-US" altLang="zh-TW" dirty="0" smtClean="0"/>
              <a:t>(CI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7</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lstStyle/>
              <a:p>
                <a:r>
                  <a:rPr lang="en-US" altLang="zh-TW" dirty="0" smtClean="0"/>
                  <a:t>NUM(</a:t>
                </a:r>
                <a:r>
                  <a:rPr lang="en-US" altLang="zh-TW" dirty="0" err="1" smtClean="0"/>
                  <a:t>i</a:t>
                </a:r>
                <a:r>
                  <a:rPr lang="en-US" altLang="zh-TW" dirty="0" smtClean="0"/>
                  <a:t>, </a:t>
                </a:r>
                <a:r>
                  <a:rPr lang="en-US" altLang="zh-TW" dirty="0"/>
                  <a:t>j) contains the number </a:t>
                </a:r>
                <a:r>
                  <a:rPr lang="en-US" altLang="zh-TW" dirty="0" smtClean="0"/>
                  <a:t>|CS(S1[</a:t>
                </a:r>
                <a:r>
                  <a:rPr lang="en-US" altLang="zh-TW" dirty="0" err="1" smtClean="0"/>
                  <a:t>i</a:t>
                </a:r>
                <a:r>
                  <a:rPr lang="en-US" altLang="zh-TW" dirty="0" smtClean="0"/>
                  <a:t>, </a:t>
                </a:r>
                <a:r>
                  <a:rPr lang="en-US" altLang="zh-TW" dirty="0"/>
                  <a:t>j</a:t>
                </a:r>
                <a:r>
                  <a:rPr lang="en-US" altLang="zh-TW" dirty="0" smtClean="0"/>
                  <a:t>])|of </a:t>
                </a:r>
                <a:r>
                  <a:rPr lang="en-US" altLang="zh-TW" dirty="0" smtClean="0"/>
                  <a:t>different </a:t>
                </a:r>
                <a:r>
                  <a:rPr lang="en-US" altLang="zh-TW" dirty="0"/>
                  <a:t>characters in the interval </a:t>
                </a:r>
                <a:r>
                  <a:rPr lang="en-US" altLang="zh-TW" dirty="0" smtClean="0"/>
                  <a:t>S1[I, </a:t>
                </a:r>
                <a:r>
                  <a:rPr lang="en-US" altLang="zh-TW" dirty="0"/>
                  <a:t>j] for each 1 </a:t>
                </a:r>
                <a14:m>
                  <m:oMath xmlns:m="http://schemas.openxmlformats.org/officeDocument/2006/math">
                    <m:r>
                      <a:rPr lang="en-US" altLang="zh-TW" sz="2800">
                        <a:latin typeface="Cambria Math"/>
                      </a:rPr>
                      <m:t>≤</m:t>
                    </m:r>
                  </m:oMath>
                </a14:m>
                <a:r>
                  <a:rPr lang="en-US" altLang="zh-TW" dirty="0"/>
                  <a:t/>
                </a:r>
                <a:r>
                  <a:rPr lang="en-US" altLang="zh-TW" dirty="0" err="1"/>
                  <a:t>i</a:t>
                </a:r>
                <a:r>
                  <a:rPr lang="en-US" altLang="zh-TW" dirty="0"/>
                  <a:t/>
                </a:r>
                <a14:m>
                  <m:oMath xmlns:m="http://schemas.openxmlformats.org/officeDocument/2006/math">
                    <m:r>
                      <a:rPr lang="en-US" altLang="zh-TW" sz="2800">
                        <a:latin typeface="Cambria Math"/>
                      </a:rPr>
                      <m:t>≤</m:t>
                    </m:r>
                  </m:oMath>
                </a14:m>
                <a:r>
                  <a:rPr lang="en-US" altLang="zh-TW" dirty="0"/>
                  <a:t> j </a:t>
                </a:r>
                <a14:m>
                  <m:oMath xmlns:m="http://schemas.openxmlformats.org/officeDocument/2006/math">
                    <m:r>
                      <a:rPr lang="en-US" altLang="zh-TW" sz="2800">
                        <a:latin typeface="Cambria Math"/>
                      </a:rPr>
                      <m:t>≤</m:t>
                    </m:r>
                    <m:r>
                      <a:rPr lang="en-US" altLang="zh-TW" sz="2800" i="1">
                        <a:latin typeface="Cambria Math"/>
                      </a:rPr>
                      <m:t> </m:t>
                    </m:r>
                  </m:oMath>
                </a14:m>
                <a:r>
                  <a:rPr lang="en-US" altLang="zh-TW" dirty="0" smtClean="0"/>
                  <a:t>|S1|.</a:t>
                </a:r>
              </a:p>
              <a:p>
                <a:pPr marL="0" indent="0">
                  <a:buNone/>
                </a:pPr>
                <a:r>
                  <a:rPr lang="en-US" altLang="zh-TW" dirty="0"/>
                  <a:t>S1 = (3, 1, 2, 3, 1, 5, 2, 6) with </a:t>
                </a:r>
                <a:r>
                  <a:rPr lang="el-GR" altLang="zh-TW" sz="2800" dirty="0"/>
                  <a:t>Σ</a:t>
                </a:r>
                <a:r>
                  <a:rPr lang="en-US" altLang="zh-TW" dirty="0"/>
                  <a:t> = {1, . . . , 6}</a:t>
                </a:r>
                <a:endParaRPr lang="zh-TW" altLang="en-US" dirty="0"/>
              </a:p>
              <a:p>
                <a:endParaRPr lang="zh-TW" altLang="en-US" dirty="0"/>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1259" t="-988" r="-1333"/>
                </a:stretch>
              </a:blipFill>
            </p:spPr>
            <p:txBody>
              <a:bodyPr/>
              <a:lstStyle/>
              <a:p>
                <a:r>
                  <a:rPr lang="zh-TW" altLang="en-US">
                    <a:noFill/>
                  </a:rPr>
                  <a:t> </a:t>
                </a:r>
              </a:p>
            </p:txBody>
          </p:sp>
        </mc:Fallback>
      </mc:AlternateContent>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62063" y="2636912"/>
            <a:ext cx="6490257" cy="395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214468753"/>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Connecting Intervals</a:t>
            </a:r>
            <a:r>
              <a:rPr lang="en-US" altLang="zh-TW" dirty="0"/>
              <a:t> </a:t>
            </a:r>
            <a:r>
              <a:rPr lang="en-US" altLang="zh-TW" dirty="0" smtClean="0"/>
              <a:t>(CI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8</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392" y="-1984"/>
            <a:ext cx="9040323" cy="644408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91837992"/>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Connecting Intervals</a:t>
            </a:r>
            <a:r>
              <a:rPr lang="en-US" altLang="zh-TW" dirty="0"/>
              <a:t> </a:t>
            </a:r>
            <a:r>
              <a:rPr lang="en-US" altLang="zh-TW" dirty="0" smtClean="0"/>
              <a:t>(CI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9</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9196" y="332656"/>
            <a:ext cx="8877300" cy="60293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159434656"/>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Connecting Intervals</a:t>
            </a:r>
            <a:r>
              <a:rPr lang="en-US" altLang="zh-TW" dirty="0"/>
              <a:t> </a:t>
            </a:r>
            <a:r>
              <a:rPr lang="en-US" altLang="zh-TW" dirty="0" smtClean="0"/>
              <a:t>(CI</a:t>
            </a:r>
            <a:r>
              <a:rPr lang="en-US" altLang="zh-TW" dirty="0"/>
              <a: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10</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lstStyle/>
              <a:p>
                <a:r>
                  <a:rPr lang="en-US" altLang="zh-TW" dirty="0" smtClean="0"/>
                  <a:t>The </a:t>
                </a:r>
                <a:r>
                  <a:rPr lang="en-US" altLang="zh-TW" dirty="0"/>
                  <a:t>price for </a:t>
                </a:r>
                <a:r>
                  <a:rPr lang="en-US" altLang="zh-TW" dirty="0" smtClean="0"/>
                  <a:t>this simplicity </a:t>
                </a:r>
                <a:r>
                  <a:rPr lang="en-US" altLang="zh-TW" dirty="0"/>
                  <a:t>is paid in space consumption</a:t>
                </a:r>
                <a:r>
                  <a:rPr lang="en-US" altLang="zh-TW" dirty="0" smtClean="0"/>
                  <a:t>.</a:t>
                </a:r>
              </a:p>
              <a:p>
                <a:r>
                  <a:rPr lang="en-US" altLang="zh-TW" dirty="0" smtClean="0"/>
                  <a:t>the </a:t>
                </a:r>
                <a:r>
                  <a:rPr lang="en-US" altLang="zh-TW" dirty="0" smtClean="0"/>
                  <a:t>pre-processing step </a:t>
                </a:r>
                <a:r>
                  <a:rPr lang="en-US" altLang="zh-TW" dirty="0"/>
                  <a:t>consumes </a:t>
                </a:r>
                <a:r>
                  <a:rPr lang="el-GR" altLang="zh-TW" dirty="0"/>
                  <a:t>θ</a:t>
                </a:r>
                <a:r>
                  <a:rPr lang="en-US" altLang="zh-TW" dirty="0" smtClean="0"/>
                  <a:t>(</a:t>
                </a:r>
                <a14:m>
                  <m:oMath xmlns:m="http://schemas.openxmlformats.org/officeDocument/2006/math">
                    <m:sSup>
                      <m:sSupPr>
                        <m:ctrlPr>
                          <a:rPr lang="en-US" altLang="zh-TW" i="1">
                            <a:latin typeface="Cambria Math"/>
                          </a:rPr>
                        </m:ctrlPr>
                      </m:sSupPr>
                      <m:e>
                        <m:r>
                          <a:rPr lang="en-US" altLang="zh-TW" i="1">
                            <a:latin typeface="Cambria Math"/>
                          </a:rPr>
                          <m:t>𝑛</m:t>
                        </m:r>
                      </m:e>
                      <m:sup>
                        <m:r>
                          <a:rPr lang="en-US" altLang="zh-TW" i="1">
                            <a:latin typeface="Cambria Math"/>
                          </a:rPr>
                          <m:t>2</m:t>
                        </m:r>
                      </m:sup>
                    </m:sSup>
                  </m:oMath>
                </a14:m>
                <a:r>
                  <a:rPr lang="en-US" altLang="zh-TW" dirty="0"/>
                  <a:t>) </a:t>
                </a:r>
                <a:r>
                  <a:rPr lang="en-US" altLang="zh-TW" dirty="0" smtClean="0"/>
                  <a:t>space and </a:t>
                </a:r>
                <a:r>
                  <a:rPr lang="en-US" altLang="zh-TW" dirty="0" smtClean="0"/>
                  <a:t>time.</a:t>
                </a:r>
              </a:p>
              <a:p>
                <a:r>
                  <a:rPr lang="en-US" altLang="zh-TW" dirty="0" smtClean="0"/>
                  <a:t>Overall </a:t>
                </a:r>
                <a:r>
                  <a:rPr lang="en-US" altLang="zh-TW" dirty="0"/>
                  <a:t>time and space complexity: </a:t>
                </a:r>
                <a:r>
                  <a:rPr lang="el-GR" altLang="zh-TW" dirty="0"/>
                  <a:t>θ</a:t>
                </a:r>
                <a:r>
                  <a:rPr lang="en-US" altLang="zh-TW" dirty="0"/>
                  <a:t>(</a:t>
                </a:r>
                <a14:m>
                  <m:oMath xmlns:m="http://schemas.openxmlformats.org/officeDocument/2006/math">
                    <m:sSup>
                      <m:sSupPr>
                        <m:ctrlPr>
                          <a:rPr lang="en-US" altLang="zh-TW" i="1">
                            <a:latin typeface="Cambria Math"/>
                          </a:rPr>
                        </m:ctrlPr>
                      </m:sSupPr>
                      <m:e>
                        <m:r>
                          <a:rPr lang="en-US" altLang="zh-TW" i="1">
                            <a:latin typeface="Cambria Math"/>
                          </a:rPr>
                          <m:t>𝑛</m:t>
                        </m:r>
                      </m:e>
                      <m:sup>
                        <m:r>
                          <a:rPr lang="en-US" altLang="zh-TW" i="1">
                            <a:latin typeface="Cambria Math"/>
                          </a:rPr>
                          <m:t>2</m:t>
                        </m:r>
                      </m:sup>
                    </m:sSup>
                  </m:oMath>
                </a14:m>
                <a:r>
                  <a:rPr lang="en-US" altLang="zh-TW" dirty="0"/>
                  <a:t>)</a:t>
                </a:r>
              </a:p>
              <a:p>
                <a:endParaRPr lang="zh-TW" altLang="en-US" dirty="0"/>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593" t="-9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014597716"/>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Generating Non-redundant Output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11</a:t>
            </a:fld>
            <a:endParaRPr lang="zh-TW" altLang="en-US"/>
          </a:p>
        </p:txBody>
      </p:sp>
      <p:sp>
        <p:nvSpPr>
          <p:cNvPr id="5" name="內容版面配置區 4"/>
          <p:cNvSpPr>
            <a:spLocks noGrp="1"/>
          </p:cNvSpPr>
          <p:nvPr>
            <p:ph sz="quarter" idx="1"/>
          </p:nvPr>
        </p:nvSpPr>
        <p:spPr/>
        <p:txBody>
          <a:bodyPr/>
          <a:lstStyle/>
          <a:p>
            <a:r>
              <a:rPr lang="en-US" altLang="zh-TW" i="1" dirty="0"/>
              <a:t>S</a:t>
            </a:r>
            <a:r>
              <a:rPr lang="en-US" altLang="zh-TW" dirty="0"/>
              <a:t>1 = (</a:t>
            </a:r>
            <a:r>
              <a:rPr lang="en-US" altLang="zh-TW" dirty="0" smtClean="0"/>
              <a:t>1</a:t>
            </a:r>
            <a:r>
              <a:rPr lang="en-US" altLang="zh-TW" i="1" dirty="0" smtClean="0"/>
              <a:t>, </a:t>
            </a:r>
            <a:r>
              <a:rPr lang="en-US" altLang="zh-TW" dirty="0" smtClean="0"/>
              <a:t>2</a:t>
            </a:r>
            <a:r>
              <a:rPr lang="en-US" altLang="zh-TW" i="1" dirty="0" smtClean="0"/>
              <a:t>, </a:t>
            </a:r>
            <a:r>
              <a:rPr lang="en-US" altLang="zh-TW" dirty="0" smtClean="0"/>
              <a:t>3</a:t>
            </a:r>
            <a:r>
              <a:rPr lang="en-US" altLang="zh-TW" i="1" dirty="0" smtClean="0"/>
              <a:t>, </a:t>
            </a:r>
            <a:r>
              <a:rPr lang="en-US" altLang="zh-TW" dirty="0" smtClean="0"/>
              <a:t>1</a:t>
            </a:r>
            <a:r>
              <a:rPr lang="en-US" altLang="zh-TW" i="1" dirty="0" smtClean="0"/>
              <a:t>, </a:t>
            </a:r>
            <a:r>
              <a:rPr lang="en-US" altLang="zh-TW" dirty="0" smtClean="0"/>
              <a:t>2), </a:t>
            </a:r>
            <a:r>
              <a:rPr lang="en-US" altLang="zh-TW" i="1" dirty="0" smtClean="0"/>
              <a:t>S</a:t>
            </a:r>
            <a:r>
              <a:rPr lang="en-US" altLang="zh-TW" dirty="0" smtClean="0"/>
              <a:t>2 </a:t>
            </a:r>
            <a:r>
              <a:rPr lang="en-US" altLang="zh-TW" dirty="0"/>
              <a:t>= (</a:t>
            </a:r>
            <a:r>
              <a:rPr lang="en-US" altLang="zh-TW" dirty="0" smtClean="0"/>
              <a:t>1</a:t>
            </a:r>
            <a:r>
              <a:rPr lang="en-US" altLang="zh-TW" i="1" dirty="0" smtClean="0"/>
              <a:t>, </a:t>
            </a:r>
            <a:r>
              <a:rPr lang="en-US" altLang="zh-TW" dirty="0" smtClean="0"/>
              <a:t>2</a:t>
            </a:r>
            <a:r>
              <a:rPr lang="en-US" altLang="zh-TW" i="1" dirty="0" smtClean="0"/>
              <a:t>, </a:t>
            </a:r>
            <a:r>
              <a:rPr lang="en-US" altLang="zh-TW" dirty="0" smtClean="0"/>
              <a:t>4</a:t>
            </a:r>
            <a:r>
              <a:rPr lang="en-US" altLang="zh-TW" i="1" dirty="0" smtClean="0"/>
              <a:t>, </a:t>
            </a:r>
            <a:r>
              <a:rPr lang="en-US" altLang="zh-TW" dirty="0" smtClean="0"/>
              <a:t>1</a:t>
            </a:r>
            <a:r>
              <a:rPr lang="en-US" altLang="zh-TW" i="1" dirty="0" smtClean="0"/>
              <a:t>, </a:t>
            </a:r>
            <a:r>
              <a:rPr lang="en-US" altLang="zh-TW" dirty="0" smtClean="0"/>
              <a:t>2</a:t>
            </a:r>
            <a:r>
              <a:rPr lang="en-US" altLang="zh-TW" i="1" dirty="0" smtClean="0"/>
              <a:t>, </a:t>
            </a:r>
            <a:r>
              <a:rPr lang="en-US" altLang="zh-TW" dirty="0" smtClean="0"/>
              <a:t>5</a:t>
            </a:r>
            <a:r>
              <a:rPr lang="en-US" altLang="zh-TW" i="1" dirty="0" smtClean="0"/>
              <a:t>, </a:t>
            </a:r>
            <a:r>
              <a:rPr lang="en-US" altLang="zh-TW" dirty="0" smtClean="0"/>
              <a:t>1</a:t>
            </a:r>
            <a:r>
              <a:rPr lang="en-US" altLang="zh-TW" i="1" dirty="0" smtClean="0"/>
              <a:t>, </a:t>
            </a:r>
            <a:r>
              <a:rPr lang="en-US" altLang="zh-TW" dirty="0"/>
              <a:t>2</a:t>
            </a:r>
            <a:r>
              <a:rPr lang="en-US" altLang="zh-TW" dirty="0" smtClean="0"/>
              <a:t>)</a:t>
            </a:r>
          </a:p>
          <a:p>
            <a:r>
              <a:rPr lang="en-US" altLang="zh-TW" dirty="0" smtClean="0"/>
              <a:t>The original algorithm outputs :</a:t>
            </a:r>
          </a:p>
          <a:p>
            <a:pPr lvl="1"/>
            <a:r>
              <a:rPr lang="en-US" altLang="zh-TW" dirty="0">
                <a:solidFill>
                  <a:schemeClr val="accent1">
                    <a:lumMod val="75000"/>
                  </a:schemeClr>
                </a:solidFill>
              </a:rPr>
              <a:t>((</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7</a:t>
            </a:r>
            <a:r>
              <a:rPr lang="en-US" altLang="zh-TW" i="1" dirty="0" smtClean="0">
                <a:solidFill>
                  <a:schemeClr val="accent1">
                    <a:lumMod val="75000"/>
                  </a:schemeClr>
                </a:solidFill>
              </a:rPr>
              <a:t>, </a:t>
            </a:r>
            <a:r>
              <a:rPr lang="en-US" altLang="zh-TW" dirty="0">
                <a:solidFill>
                  <a:schemeClr val="accent1">
                    <a:lumMod val="75000"/>
                  </a:schemeClr>
                </a:solidFill>
              </a:rPr>
              <a:t>8</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7</a:t>
            </a:r>
            <a:r>
              <a:rPr lang="en-US" altLang="zh-TW" i="1" dirty="0" smtClean="0">
                <a:solidFill>
                  <a:schemeClr val="accent1">
                    <a:lumMod val="75000"/>
                  </a:schemeClr>
                </a:solidFill>
              </a:rPr>
              <a:t>, </a:t>
            </a:r>
            <a:r>
              <a:rPr lang="en-US" altLang="zh-TW" dirty="0">
                <a:solidFill>
                  <a:schemeClr val="accent1">
                    <a:lumMod val="75000"/>
                  </a:schemeClr>
                </a:solidFill>
              </a:rPr>
              <a:t>8</a:t>
            </a:r>
            <a:r>
              <a:rPr lang="en-US" altLang="zh-TW" dirty="0" smtClean="0">
                <a:solidFill>
                  <a:schemeClr val="accent1">
                    <a:lumMod val="75000"/>
                  </a:schemeClr>
                </a:solidFill>
              </a:rPr>
              <a:t>))</a:t>
            </a:r>
          </a:p>
          <a:p>
            <a:r>
              <a:rPr lang="en-US" altLang="zh-TW" dirty="0"/>
              <a:t>A non-redundant </a:t>
            </a:r>
            <a:r>
              <a:rPr lang="en-US" altLang="zh-TW" dirty="0" smtClean="0"/>
              <a:t>output :</a:t>
            </a:r>
          </a:p>
          <a:p>
            <a:pPr lvl="1"/>
            <a:r>
              <a:rPr lang="en-US" altLang="zh-TW" i="1" dirty="0" smtClean="0">
                <a:solidFill>
                  <a:schemeClr val="accent1">
                    <a:lumMod val="75000"/>
                  </a:schemeClr>
                </a:solidFill>
              </a:rPr>
              <a:t>S</a:t>
            </a:r>
            <a:r>
              <a:rPr lang="en-US" altLang="zh-TW" dirty="0" smtClean="0">
                <a:solidFill>
                  <a:schemeClr val="accent1">
                    <a:lumMod val="75000"/>
                  </a:schemeClr>
                </a:solidFill>
              </a:rPr>
              <a:t>1 </a:t>
            </a:r>
            <a:r>
              <a:rPr lang="en-US" altLang="zh-TW" dirty="0">
                <a:solidFill>
                  <a:schemeClr val="accent1">
                    <a:lumMod val="75000"/>
                  </a:schemeClr>
                </a:solidFill>
              </a:rPr>
              <a:t>: (</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     -     </a:t>
            </a:r>
            <a:r>
              <a:rPr lang="en-US" altLang="zh-TW" i="1" dirty="0" smtClean="0">
                <a:solidFill>
                  <a:schemeClr val="accent1">
                    <a:lumMod val="75000"/>
                  </a:schemeClr>
                </a:solidFill>
              </a:rPr>
              <a:t>S</a:t>
            </a:r>
            <a:r>
              <a:rPr lang="en-US" altLang="zh-TW" dirty="0" smtClean="0">
                <a:solidFill>
                  <a:schemeClr val="accent1">
                    <a:lumMod val="75000"/>
                  </a:schemeClr>
                </a:solidFill>
              </a:rPr>
              <a:t>2 </a:t>
            </a:r>
            <a:r>
              <a:rPr lang="en-US" altLang="zh-TW" dirty="0">
                <a:solidFill>
                  <a:schemeClr val="accent1">
                    <a:lumMod val="75000"/>
                  </a:schemeClr>
                </a:solidFill>
              </a:rPr>
              <a:t>: (</a:t>
            </a:r>
            <a:r>
              <a:rPr lang="en-US" altLang="zh-TW" dirty="0" smtClean="0">
                <a:solidFill>
                  <a:schemeClr val="accent1">
                    <a:lumMod val="75000"/>
                  </a:schemeClr>
                </a:solidFill>
              </a:rPr>
              <a:t>1</a:t>
            </a:r>
            <a:r>
              <a:rPr lang="en-US" altLang="zh-TW" i="1" dirty="0" smtClean="0">
                <a:solidFill>
                  <a:schemeClr val="accent1">
                    <a:lumMod val="75000"/>
                  </a:schemeClr>
                </a:solidFill>
              </a:rPr>
              <a:t>, </a:t>
            </a:r>
            <a:r>
              <a:rPr lang="en-US" altLang="zh-TW" dirty="0">
                <a:solidFill>
                  <a:schemeClr val="accent1">
                    <a:lumMod val="75000"/>
                  </a:schemeClr>
                </a:solidFill>
              </a:rPr>
              <a:t>2</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4</a:t>
            </a:r>
            <a:r>
              <a:rPr lang="en-US" altLang="zh-TW" i="1" dirty="0" smtClean="0">
                <a:solidFill>
                  <a:schemeClr val="accent1">
                    <a:lumMod val="75000"/>
                  </a:schemeClr>
                </a:solidFill>
              </a:rPr>
              <a:t>, </a:t>
            </a:r>
            <a:r>
              <a:rPr lang="en-US" altLang="zh-TW" dirty="0">
                <a:solidFill>
                  <a:schemeClr val="accent1">
                    <a:lumMod val="75000"/>
                  </a:schemeClr>
                </a:solidFill>
              </a:rPr>
              <a:t>5</a:t>
            </a:r>
            <a:r>
              <a:rPr lang="en-US" altLang="zh-TW" dirty="0" smtClean="0">
                <a:solidFill>
                  <a:schemeClr val="accent1">
                    <a:lumMod val="75000"/>
                  </a:schemeClr>
                </a:solidFill>
              </a:rPr>
              <a:t>)</a:t>
            </a:r>
            <a:r>
              <a:rPr lang="en-US" altLang="zh-TW" i="1" dirty="0" smtClean="0">
                <a:solidFill>
                  <a:schemeClr val="accent1">
                    <a:lumMod val="75000"/>
                  </a:schemeClr>
                </a:solidFill>
              </a:rPr>
              <a:t>, </a:t>
            </a:r>
            <a:r>
              <a:rPr lang="en-US" altLang="zh-TW" dirty="0">
                <a:solidFill>
                  <a:schemeClr val="accent1">
                    <a:lumMod val="75000"/>
                  </a:schemeClr>
                </a:solidFill>
              </a:rPr>
              <a:t>(</a:t>
            </a:r>
            <a:r>
              <a:rPr lang="en-US" altLang="zh-TW" dirty="0" smtClean="0">
                <a:solidFill>
                  <a:schemeClr val="accent1">
                    <a:lumMod val="75000"/>
                  </a:schemeClr>
                </a:solidFill>
              </a:rPr>
              <a:t>7</a:t>
            </a:r>
            <a:r>
              <a:rPr lang="en-US" altLang="zh-TW" i="1" dirty="0" smtClean="0">
                <a:solidFill>
                  <a:schemeClr val="accent1">
                    <a:lumMod val="75000"/>
                  </a:schemeClr>
                </a:solidFill>
              </a:rPr>
              <a:t>, </a:t>
            </a:r>
            <a:r>
              <a:rPr lang="en-US" altLang="zh-TW" dirty="0">
                <a:solidFill>
                  <a:schemeClr val="accent1">
                    <a:lumMod val="75000"/>
                  </a:schemeClr>
                </a:solidFill>
              </a:rPr>
              <a:t>8</a:t>
            </a:r>
            <a:r>
              <a:rPr lang="en-US" altLang="zh-TW" dirty="0" smtClean="0">
                <a:solidFill>
                  <a:schemeClr val="accent1">
                    <a:lumMod val="75000"/>
                  </a:schemeClr>
                </a:solidFill>
              </a:rPr>
              <a:t>)</a:t>
            </a:r>
          </a:p>
          <a:p>
            <a:r>
              <a:rPr lang="en-US" altLang="zh-TW" dirty="0"/>
              <a:t>Two additional tables </a:t>
            </a:r>
            <a:r>
              <a:rPr lang="en-US" altLang="zh-TW" dirty="0">
                <a:solidFill>
                  <a:srgbClr val="C00000"/>
                </a:solidFill>
              </a:rPr>
              <a:t>LOC</a:t>
            </a:r>
            <a:r>
              <a:rPr lang="en-US" altLang="zh-TW" baseline="-25000" dirty="0">
                <a:solidFill>
                  <a:srgbClr val="C00000"/>
                </a:solidFill>
              </a:rPr>
              <a:t>1</a:t>
            </a:r>
            <a:r>
              <a:rPr lang="en-US" altLang="zh-TW" dirty="0">
                <a:solidFill>
                  <a:srgbClr val="C00000"/>
                </a:solidFill>
              </a:rPr>
              <a:t> </a:t>
            </a:r>
            <a:r>
              <a:rPr lang="en-US" altLang="zh-TW" dirty="0"/>
              <a:t>and </a:t>
            </a:r>
            <a:r>
              <a:rPr lang="en-US" altLang="zh-TW" dirty="0">
                <a:solidFill>
                  <a:srgbClr val="C00000"/>
                </a:solidFill>
              </a:rPr>
              <a:t>LOC</a:t>
            </a:r>
            <a:r>
              <a:rPr lang="en-US" altLang="zh-TW" baseline="-25000" dirty="0">
                <a:solidFill>
                  <a:srgbClr val="C00000"/>
                </a:solidFill>
              </a:rPr>
              <a:t>2</a:t>
            </a:r>
            <a:r>
              <a:rPr lang="en-US" altLang="zh-TW" dirty="0"/>
              <a:t>, each of size |</a:t>
            </a:r>
            <a:r>
              <a:rPr lang="en-US" altLang="zh-TW" dirty="0" smtClean="0"/>
              <a:t>S1|</a:t>
            </a:r>
            <a:r>
              <a:rPr lang="en-US" altLang="zh-TW" dirty="0"/>
              <a:t>x</a:t>
            </a:r>
            <a:r>
              <a:rPr lang="en-US" altLang="zh-TW" dirty="0" smtClean="0"/>
              <a:t>|S1|, are used </a:t>
            </a:r>
            <a:r>
              <a:rPr lang="en-US" altLang="zh-TW" dirty="0"/>
              <a:t>to store lists of intervals</a:t>
            </a:r>
            <a:r>
              <a:rPr lang="en-US" altLang="zh-TW" dirty="0" smtClean="0"/>
              <a:t>.</a:t>
            </a:r>
          </a:p>
          <a:p>
            <a:endParaRPr lang="zh-TW" altLang="en-US" dirty="0"/>
          </a:p>
        </p:txBody>
      </p:sp>
    </p:spTree>
    <p:extLst>
      <p:ext uri="{BB962C8B-B14F-4D97-AF65-F5344CB8AC3E}">
        <p14:creationId xmlns:p14="http://schemas.microsoft.com/office/powerpoint/2010/main" xmlns="" val="1054229424"/>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Generating Non-redundant Output</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12</a:t>
            </a:fld>
            <a:endParaRPr lang="zh-TW" altLang="en-US"/>
          </a:p>
        </p:txBody>
      </p:sp>
      <p:sp>
        <p:nvSpPr>
          <p:cNvPr id="5" name="內容版面配置區 4"/>
          <p:cNvSpPr>
            <a:spLocks noGrp="1"/>
          </p:cNvSpPr>
          <p:nvPr>
            <p:ph sz="quarter" idx="1"/>
          </p:nvPr>
        </p:nvSpPr>
        <p:spPr>
          <a:xfrm>
            <a:off x="457200" y="1219200"/>
            <a:ext cx="8579296" cy="4937760"/>
          </a:xfrm>
        </p:spPr>
        <p:txBody>
          <a:bodyPr>
            <a:normAutofit lnSpcReduction="10000"/>
          </a:bodyPr>
          <a:lstStyle/>
          <a:p>
            <a:r>
              <a:rPr lang="en-US" altLang="zh-TW" dirty="0" smtClean="0"/>
              <a:t>Algorithm </a:t>
            </a:r>
            <a:r>
              <a:rPr lang="en-US" altLang="zh-TW" dirty="0"/>
              <a:t>CI is applied to </a:t>
            </a:r>
            <a:r>
              <a:rPr lang="en-US" altLang="zh-TW" dirty="0">
                <a:solidFill>
                  <a:srgbClr val="C00000"/>
                </a:solidFill>
              </a:rPr>
              <a:t>S1 as f</a:t>
            </a:r>
            <a:r>
              <a:rPr lang="en-US" altLang="zh-TW" dirty="0" smtClean="0">
                <a:solidFill>
                  <a:srgbClr val="C00000"/>
                </a:solidFill>
              </a:rPr>
              <a:t>irst </a:t>
            </a:r>
            <a:r>
              <a:rPr lang="en-US" altLang="zh-TW" dirty="0">
                <a:solidFill>
                  <a:srgbClr val="C00000"/>
                </a:solidFill>
              </a:rPr>
              <a:t>and second input</a:t>
            </a:r>
            <a:r>
              <a:rPr lang="en-US" altLang="zh-TW" dirty="0"/>
              <a:t> </a:t>
            </a:r>
            <a:r>
              <a:rPr lang="en-US" altLang="zh-TW" dirty="0" smtClean="0"/>
              <a:t>sequence.</a:t>
            </a:r>
          </a:p>
          <a:p>
            <a:pPr lvl="1"/>
            <a:r>
              <a:rPr lang="en-US" altLang="zh-TW" sz="2500" dirty="0" smtClean="0">
                <a:solidFill>
                  <a:schemeClr val="accent1">
                    <a:lumMod val="75000"/>
                  </a:schemeClr>
                </a:solidFill>
              </a:rPr>
              <a:t>e.g. For S1 </a:t>
            </a:r>
            <a:r>
              <a:rPr lang="en-US" altLang="zh-TW" sz="2500" dirty="0">
                <a:solidFill>
                  <a:schemeClr val="accent1">
                    <a:lumMod val="75000"/>
                  </a:schemeClr>
                </a:solidFill>
              </a:rPr>
              <a:t>= (1, 2, 3, 1, </a:t>
            </a:r>
            <a:r>
              <a:rPr lang="en-US" altLang="zh-TW" sz="2500" dirty="0" smtClean="0">
                <a:solidFill>
                  <a:schemeClr val="accent1">
                    <a:lumMod val="75000"/>
                  </a:schemeClr>
                </a:solidFill>
              </a:rPr>
              <a:t>2), CI </a:t>
            </a:r>
            <a:r>
              <a:rPr lang="en-US" altLang="zh-TW" sz="2500" dirty="0">
                <a:solidFill>
                  <a:schemeClr val="accent1">
                    <a:lumMod val="75000"/>
                  </a:schemeClr>
                </a:solidFill>
              </a:rPr>
              <a:t>yields common </a:t>
            </a:r>
            <a:r>
              <a:rPr lang="en-US" altLang="zh-TW" sz="2500" dirty="0" smtClean="0">
                <a:solidFill>
                  <a:schemeClr val="accent1">
                    <a:lumMod val="75000"/>
                  </a:schemeClr>
                </a:solidFill>
              </a:rPr>
              <a:t>CS-factor ((</a:t>
            </a:r>
            <a:r>
              <a:rPr lang="en-US" altLang="zh-TW" sz="2500" dirty="0">
                <a:solidFill>
                  <a:schemeClr val="accent1">
                    <a:lumMod val="75000"/>
                  </a:schemeClr>
                </a:solidFill>
              </a:rPr>
              <a:t>1,2),(4,5</a:t>
            </a:r>
            <a:r>
              <a:rPr lang="en-US" altLang="zh-TW" sz="2500" dirty="0" smtClean="0">
                <a:solidFill>
                  <a:schemeClr val="accent1">
                    <a:lumMod val="75000"/>
                  </a:schemeClr>
                </a:solidFill>
              </a:rPr>
              <a:t>)), then </a:t>
            </a:r>
            <a:r>
              <a:rPr lang="en-US" altLang="zh-TW" sz="2500" dirty="0">
                <a:solidFill>
                  <a:schemeClr val="accent1">
                    <a:lumMod val="75000"/>
                  </a:schemeClr>
                </a:solidFill>
              </a:rPr>
              <a:t>the CS-location </a:t>
            </a:r>
            <a:r>
              <a:rPr lang="en-US" altLang="zh-TW" sz="2500" dirty="0" smtClean="0">
                <a:solidFill>
                  <a:schemeClr val="accent1">
                    <a:lumMod val="75000"/>
                  </a:schemeClr>
                </a:solidFill>
              </a:rPr>
              <a:t>(4,5) </a:t>
            </a:r>
            <a:r>
              <a:rPr lang="en-US" altLang="zh-TW" sz="2500" dirty="0">
                <a:solidFill>
                  <a:schemeClr val="accent1">
                    <a:lumMod val="75000"/>
                  </a:schemeClr>
                </a:solidFill>
              </a:rPr>
              <a:t>is appended to the list in </a:t>
            </a:r>
            <a:r>
              <a:rPr lang="en-US" altLang="zh-TW" sz="2500" dirty="0" smtClean="0">
                <a:solidFill>
                  <a:schemeClr val="accent1">
                    <a:lumMod val="75000"/>
                  </a:schemeClr>
                </a:solidFill>
              </a:rPr>
              <a:t>LOC</a:t>
            </a:r>
            <a:r>
              <a:rPr lang="en-US" altLang="zh-TW" sz="2500" baseline="-25000" dirty="0" smtClean="0">
                <a:solidFill>
                  <a:schemeClr val="accent1">
                    <a:lumMod val="75000"/>
                  </a:schemeClr>
                </a:solidFill>
              </a:rPr>
              <a:t>1</a:t>
            </a:r>
            <a:r>
              <a:rPr lang="en-US" altLang="zh-TW" sz="2500" dirty="0" smtClean="0">
                <a:solidFill>
                  <a:schemeClr val="accent1">
                    <a:lumMod val="75000"/>
                  </a:schemeClr>
                </a:solidFill>
              </a:rPr>
              <a:t>(1,2).</a:t>
            </a:r>
          </a:p>
          <a:p>
            <a:r>
              <a:rPr lang="en-US" altLang="zh-TW" dirty="0"/>
              <a:t>Algorithm CI is applied to </a:t>
            </a:r>
            <a:r>
              <a:rPr lang="en-US" altLang="zh-TW" i="1" dirty="0">
                <a:solidFill>
                  <a:srgbClr val="C00000"/>
                </a:solidFill>
              </a:rPr>
              <a:t>S</a:t>
            </a:r>
            <a:r>
              <a:rPr lang="en-US" altLang="zh-TW" dirty="0">
                <a:solidFill>
                  <a:srgbClr val="C00000"/>
                </a:solidFill>
              </a:rPr>
              <a:t>1 and </a:t>
            </a:r>
            <a:r>
              <a:rPr lang="en-US" altLang="zh-TW" i="1" dirty="0">
                <a:solidFill>
                  <a:srgbClr val="C00000"/>
                </a:solidFill>
              </a:rPr>
              <a:t>S</a:t>
            </a:r>
            <a:r>
              <a:rPr lang="en-US" altLang="zh-TW" dirty="0">
                <a:solidFill>
                  <a:srgbClr val="C00000"/>
                </a:solidFill>
              </a:rPr>
              <a:t>2</a:t>
            </a:r>
            <a:r>
              <a:rPr lang="en-US" altLang="zh-TW" dirty="0"/>
              <a:t>, detecting </a:t>
            </a:r>
            <a:r>
              <a:rPr lang="en-US" altLang="zh-TW" dirty="0" smtClean="0"/>
              <a:t>the</a:t>
            </a:r>
            <a:br>
              <a:rPr lang="en-US" altLang="zh-TW" dirty="0" smtClean="0"/>
            </a:br>
            <a:r>
              <a:rPr lang="en-US" altLang="zh-TW" dirty="0" smtClean="0"/>
              <a:t>orthologous </a:t>
            </a:r>
            <a:r>
              <a:rPr lang="en-US" altLang="zh-TW" dirty="0"/>
              <a:t>gene </a:t>
            </a:r>
            <a:r>
              <a:rPr lang="en-US" altLang="zh-TW" dirty="0" smtClean="0"/>
              <a:t>clusters.</a:t>
            </a:r>
          </a:p>
          <a:p>
            <a:r>
              <a:rPr lang="en-US" altLang="zh-TW" sz="2500" dirty="0">
                <a:solidFill>
                  <a:schemeClr val="accent1">
                    <a:lumMod val="75000"/>
                  </a:schemeClr>
                </a:solidFill>
              </a:rPr>
              <a:t>e.g. For S2 = (1, 2, 4, 1, 2, 5, 1, 2), CI yields common CS-factors ((1,2),(1,2)), ((1,2),(4,5)), ((1,2),(7,8)), then the </a:t>
            </a:r>
            <a:r>
              <a:rPr lang="en-US" altLang="zh-TW" sz="2500" dirty="0" smtClean="0">
                <a:solidFill>
                  <a:schemeClr val="accent1">
                    <a:lumMod val="75000"/>
                  </a:schemeClr>
                </a:solidFill>
              </a:rPr>
              <a:t>CS-location </a:t>
            </a:r>
            <a:r>
              <a:rPr lang="en-US" altLang="zh-TW" sz="2500" dirty="0">
                <a:solidFill>
                  <a:schemeClr val="accent1">
                    <a:lumMod val="75000"/>
                  </a:schemeClr>
                </a:solidFill>
              </a:rPr>
              <a:t>(1,2),(4,5),(7,8) is appended to LOC</a:t>
            </a:r>
            <a:r>
              <a:rPr lang="en-US" altLang="zh-TW" sz="2500" baseline="-25000" dirty="0">
                <a:solidFill>
                  <a:schemeClr val="accent1">
                    <a:lumMod val="75000"/>
                  </a:schemeClr>
                </a:solidFill>
              </a:rPr>
              <a:t>2</a:t>
            </a:r>
            <a:r>
              <a:rPr lang="en-US" altLang="zh-TW" sz="2500" dirty="0">
                <a:solidFill>
                  <a:schemeClr val="accent1">
                    <a:lumMod val="75000"/>
                  </a:schemeClr>
                </a:solidFill>
              </a:rPr>
              <a:t>(1,2).</a:t>
            </a:r>
          </a:p>
          <a:p>
            <a:r>
              <a:rPr lang="en-US" altLang="zh-TW" sz="2800" dirty="0"/>
              <a:t>Finally</a:t>
            </a:r>
            <a:r>
              <a:rPr lang="en-US" altLang="zh-TW" sz="2800" dirty="0" smtClean="0"/>
              <a:t>, the </a:t>
            </a:r>
            <a:r>
              <a:rPr lang="en-US" altLang="zh-TW" sz="2800" dirty="0"/>
              <a:t>output for each </a:t>
            </a:r>
            <a:r>
              <a:rPr lang="en-US" altLang="zh-TW" sz="2800" dirty="0" smtClean="0"/>
              <a:t>non-empty entry </a:t>
            </a:r>
            <a:r>
              <a:rPr lang="en-US" altLang="zh-TW" sz="2800" i="1" dirty="0" smtClean="0"/>
              <a:t>LOC</a:t>
            </a:r>
            <a:r>
              <a:rPr lang="en-US" altLang="zh-TW" sz="2800" i="1" baseline="-25000" dirty="0" smtClean="0"/>
              <a:t>2</a:t>
            </a:r>
            <a:r>
              <a:rPr lang="en-US" altLang="zh-TW" sz="2800" dirty="0" smtClean="0"/>
              <a:t>(1,2) is:	</a:t>
            </a:r>
            <a:r>
              <a:rPr lang="pl-PL" altLang="zh-TW" i="1" dirty="0" smtClean="0"/>
              <a:t>S</a:t>
            </a:r>
            <a:r>
              <a:rPr lang="pl-PL" altLang="zh-TW" dirty="0" smtClean="0"/>
              <a:t>1 </a:t>
            </a:r>
            <a:r>
              <a:rPr lang="pl-PL" altLang="zh-TW" dirty="0"/>
              <a:t>: </a:t>
            </a:r>
            <a:r>
              <a:rPr lang="pl-PL" altLang="zh-TW" dirty="0" smtClean="0"/>
              <a:t>(</a:t>
            </a:r>
            <a:r>
              <a:rPr lang="en-US" altLang="zh-TW" i="1" dirty="0" smtClean="0"/>
              <a:t>1,2</a:t>
            </a:r>
            <a:r>
              <a:rPr lang="pl-PL" altLang="zh-TW" dirty="0" smtClean="0"/>
              <a:t>)</a:t>
            </a:r>
            <a:r>
              <a:rPr lang="en-US" altLang="zh-TW" i="1" dirty="0"/>
              <a:t>,</a:t>
            </a:r>
            <a:r>
              <a:rPr lang="pl-PL" altLang="zh-TW" i="1" dirty="0" smtClean="0"/>
              <a:t>LOC</a:t>
            </a:r>
            <a:r>
              <a:rPr lang="pl-PL" altLang="zh-TW" baseline="-25000" dirty="0" smtClean="0"/>
              <a:t>1</a:t>
            </a:r>
            <a:r>
              <a:rPr lang="pl-PL" altLang="zh-TW" dirty="0" smtClean="0"/>
              <a:t>(</a:t>
            </a:r>
            <a:r>
              <a:rPr lang="en-US" altLang="zh-TW" i="1" dirty="0" smtClean="0"/>
              <a:t>1,2</a:t>
            </a:r>
            <a:r>
              <a:rPr lang="pl-PL" altLang="zh-TW" dirty="0" smtClean="0"/>
              <a:t>)</a:t>
            </a:r>
            <a:r>
              <a:rPr lang="en-US" altLang="zh-TW" dirty="0" smtClean="0"/>
              <a:t>     </a:t>
            </a:r>
            <a:r>
              <a:rPr lang="en-US" altLang="zh-TW" i="1" dirty="0" smtClean="0"/>
              <a:t>-     </a:t>
            </a:r>
            <a:r>
              <a:rPr lang="pl-PL" altLang="zh-TW" i="1" dirty="0" smtClean="0"/>
              <a:t>S</a:t>
            </a:r>
            <a:r>
              <a:rPr lang="pl-PL" altLang="zh-TW" dirty="0" smtClean="0"/>
              <a:t>2 </a:t>
            </a:r>
            <a:r>
              <a:rPr lang="pl-PL" altLang="zh-TW" dirty="0"/>
              <a:t>: </a:t>
            </a:r>
            <a:r>
              <a:rPr lang="pl-PL" altLang="zh-TW" i="1" dirty="0" smtClean="0"/>
              <a:t>LOC</a:t>
            </a:r>
            <a:r>
              <a:rPr lang="pl-PL" altLang="zh-TW" baseline="-25000" dirty="0" smtClean="0"/>
              <a:t>2</a:t>
            </a:r>
            <a:r>
              <a:rPr lang="pl-PL" altLang="zh-TW" dirty="0" smtClean="0"/>
              <a:t>(</a:t>
            </a:r>
            <a:r>
              <a:rPr lang="en-US" altLang="zh-TW" i="1" dirty="0" smtClean="0"/>
              <a:t>1,2</a:t>
            </a:r>
            <a:r>
              <a:rPr lang="pl-PL" altLang="zh-TW" dirty="0" smtClean="0"/>
              <a:t>)</a:t>
            </a:r>
            <a:r>
              <a:rPr lang="en-US" altLang="zh-TW" i="1" dirty="0"/>
              <a:t>.</a:t>
            </a:r>
            <a:endParaRPr lang="en-US" altLang="zh-TW" dirty="0"/>
          </a:p>
          <a:p>
            <a:pPr lvl="1"/>
            <a:endParaRPr lang="en-US" altLang="zh-TW" dirty="0" smtClean="0"/>
          </a:p>
          <a:p>
            <a:pPr lvl="1"/>
            <a:endParaRPr lang="en-US" altLang="zh-TW" dirty="0" smtClean="0"/>
          </a:p>
          <a:p>
            <a:pPr lvl="1"/>
            <a:endParaRPr lang="en-US" altLang="zh-TW" dirty="0"/>
          </a:p>
          <a:p>
            <a:endParaRPr lang="zh-TW" altLang="en-US" dirty="0"/>
          </a:p>
        </p:txBody>
      </p:sp>
    </p:spTree>
    <p:extLst>
      <p:ext uri="{BB962C8B-B14F-4D97-AF65-F5344CB8AC3E}">
        <p14:creationId xmlns:p14="http://schemas.microsoft.com/office/powerpoint/2010/main" xmlns="" val="4203336388"/>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Multiple Genomes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13</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normAutofit lnSpcReduction="10000"/>
              </a:bodyPr>
              <a:lstStyle/>
              <a:p>
                <a:r>
                  <a:rPr lang="en-US" altLang="zh-TW" dirty="0" smtClean="0"/>
                  <a:t>S = (S1</a:t>
                </a:r>
                <a:r>
                  <a:rPr lang="en-US" altLang="zh-TW" dirty="0"/>
                  <a:t>,</a:t>
                </a:r>
                <a:r>
                  <a:rPr lang="en-US" altLang="zh-TW" dirty="0" smtClean="0"/>
                  <a:t> …. </a:t>
                </a:r>
                <a:r>
                  <a:rPr lang="en-US" altLang="zh-TW" dirty="0"/>
                  <a:t>,</a:t>
                </a:r>
                <a:r>
                  <a:rPr lang="en-US" altLang="zh-TW" dirty="0" smtClean="0"/>
                  <a:t/>
                </a:r>
                <a:r>
                  <a:rPr lang="en-US" altLang="zh-TW" dirty="0" err="1" smtClean="0"/>
                  <a:t>Sk</a:t>
                </a:r>
                <a:r>
                  <a:rPr lang="en-US" altLang="zh-TW" dirty="0" smtClean="0"/>
                  <a:t>)</a:t>
                </a:r>
              </a:p>
              <a:p>
                <a:r>
                  <a:rPr lang="en-US" altLang="zh-TW" dirty="0" smtClean="0"/>
                  <a:t>Algorithm </a:t>
                </a:r>
                <a:r>
                  <a:rPr lang="en-US" altLang="zh-TW" dirty="0"/>
                  <a:t>CI is applied to </a:t>
                </a:r>
                <a:r>
                  <a:rPr lang="en-US" altLang="zh-TW" dirty="0">
                    <a:solidFill>
                      <a:srgbClr val="C00000"/>
                    </a:solidFill>
                  </a:rPr>
                  <a:t>each pair of input strings (</a:t>
                </a:r>
                <a:r>
                  <a:rPr lang="en-US" altLang="zh-TW" i="1" dirty="0" smtClean="0">
                    <a:solidFill>
                      <a:srgbClr val="C00000"/>
                    </a:solidFill>
                  </a:rPr>
                  <a:t>S</a:t>
                </a:r>
                <a:r>
                  <a:rPr lang="en-US" altLang="zh-TW" dirty="0" smtClean="0">
                    <a:solidFill>
                      <a:srgbClr val="C00000"/>
                    </a:solidFill>
                  </a:rPr>
                  <a:t>1</a:t>
                </a:r>
                <a:r>
                  <a:rPr lang="en-US" altLang="zh-TW" i="1" dirty="0">
                    <a:solidFill>
                      <a:srgbClr val="C00000"/>
                    </a:solidFill>
                  </a:rPr>
                  <a:t>,</a:t>
                </a:r>
                <a:r>
                  <a:rPr lang="en-US" altLang="zh-TW" i="1" dirty="0" smtClean="0">
                    <a:solidFill>
                      <a:srgbClr val="C00000"/>
                    </a:solidFill>
                  </a:rPr>
                  <a:t/>
                </a:r>
                <a:r>
                  <a:rPr lang="en-US" altLang="zh-TW" i="1" dirty="0" err="1">
                    <a:solidFill>
                      <a:srgbClr val="C00000"/>
                    </a:solidFill>
                  </a:rPr>
                  <a:t>Sr</a:t>
                </a:r>
                <a:r>
                  <a:rPr lang="en-US" altLang="zh-TW" dirty="0">
                    <a:solidFill>
                      <a:srgbClr val="C00000"/>
                    </a:solidFill>
                  </a:rPr>
                  <a:t>) </a:t>
                </a:r>
                <a:r>
                  <a:rPr lang="en-US" altLang="zh-TW" dirty="0" smtClean="0"/>
                  <a:t>with </a:t>
                </a:r>
                <a:r>
                  <a:rPr lang="en-US" altLang="zh-TW" i="1" dirty="0" err="1" smtClean="0"/>
                  <a:t>Sr</a:t>
                </a:r>
                <a:r>
                  <a:rPr lang="en-US" altLang="zh-TW" i="1" dirty="0" smtClean="0"/>
                  <a:t/>
                </a:r>
                <a14:m>
                  <m:oMath xmlns:m="http://schemas.openxmlformats.org/officeDocument/2006/math">
                    <m:r>
                      <a:rPr lang="en-US" altLang="zh-TW" i="1" smtClean="0">
                        <a:latin typeface="Cambria Math"/>
                        <a:ea typeface="Cambria Math"/>
                      </a:rPr>
                      <m:t>∈</m:t>
                    </m:r>
                  </m:oMath>
                </a14:m>
                <a:r>
                  <a:rPr lang="en-US" altLang="zh-TW" i="1" dirty="0" smtClean="0"/>
                  <a:t/>
                </a:r>
                <a:r>
                  <a:rPr lang="en-US" altLang="zh-TW" i="1" dirty="0"/>
                  <a:t>S </a:t>
                </a:r>
                <a:r>
                  <a:rPr lang="en-US" altLang="zh-TW" dirty="0"/>
                  <a:t>and 1 </a:t>
                </a:r>
                <a14:m>
                  <m:oMath xmlns:m="http://schemas.openxmlformats.org/officeDocument/2006/math">
                    <m:r>
                      <a:rPr lang="en-US" altLang="zh-TW" sz="2800">
                        <a:latin typeface="Cambria Math"/>
                      </a:rPr>
                      <m:t>≤</m:t>
                    </m:r>
                  </m:oMath>
                </a14:m>
                <a:r>
                  <a:rPr lang="en-US" altLang="zh-TW" i="1" dirty="0"/>
                  <a:t> r </a:t>
                </a:r>
                <a14:m>
                  <m:oMath xmlns:m="http://schemas.openxmlformats.org/officeDocument/2006/math">
                    <m:r>
                      <a:rPr lang="en-US" altLang="zh-TW" sz="2800">
                        <a:latin typeface="Cambria Math"/>
                      </a:rPr>
                      <m:t>≤</m:t>
                    </m:r>
                  </m:oMath>
                </a14:m>
                <a:r>
                  <a:rPr lang="en-US" altLang="zh-TW" i="1" dirty="0"/>
                  <a:t> k</a:t>
                </a:r>
                <a:r>
                  <a:rPr lang="en-US" altLang="zh-TW" dirty="0"/>
                  <a:t>. </a:t>
                </a:r>
                <a:endParaRPr lang="en-US" altLang="zh-TW" dirty="0"/>
              </a:p>
              <a:p>
                <a:r>
                  <a:rPr lang="en-US" altLang="zh-TW" dirty="0" smtClean="0"/>
                  <a:t>The </a:t>
                </a:r>
                <a:r>
                  <a:rPr lang="en-US" altLang="zh-TW" dirty="0">
                    <a:solidFill>
                      <a:srgbClr val="C00000"/>
                    </a:solidFill>
                  </a:rPr>
                  <a:t>c</a:t>
                </a:r>
                <a:r>
                  <a:rPr lang="en-US" altLang="zh-TW" dirty="0" smtClean="0">
                    <a:solidFill>
                      <a:srgbClr val="C00000"/>
                    </a:solidFill>
                  </a:rPr>
                  <a:t>ommon CS-factor</a:t>
                </a:r>
                <a:r>
                  <a:rPr lang="en-US" altLang="zh-TW" dirty="0" smtClean="0"/>
                  <a:t> will be the </a:t>
                </a:r>
                <a:r>
                  <a:rPr lang="en-US" altLang="zh-TW" dirty="0" smtClean="0">
                    <a:solidFill>
                      <a:srgbClr val="C00000"/>
                    </a:solidFill>
                  </a:rPr>
                  <a:t>common interval</a:t>
                </a:r>
                <a:r>
                  <a:rPr lang="en-US" altLang="zh-TW" dirty="0" smtClean="0"/>
                  <a:t>.</a:t>
                </a:r>
                <a:endParaRPr lang="en-US" altLang="zh-TW" dirty="0" smtClean="0"/>
              </a:p>
              <a:p>
                <a:r>
                  <a:rPr lang="en-US" altLang="zh-TW" dirty="0" smtClean="0"/>
                  <a:t>Since </a:t>
                </a:r>
                <a:r>
                  <a:rPr lang="en-US" altLang="zh-TW" dirty="0"/>
                  <a:t>the </a:t>
                </a:r>
                <a:r>
                  <a:rPr lang="en-US" altLang="zh-TW" dirty="0" smtClean="0"/>
                  <a:t>first </a:t>
                </a:r>
                <a:r>
                  <a:rPr lang="en-US" altLang="zh-TW" dirty="0"/>
                  <a:t>input string is always </a:t>
                </a:r>
                <a:r>
                  <a:rPr lang="en-US" altLang="zh-TW" i="1" dirty="0"/>
                  <a:t>S</a:t>
                </a:r>
                <a:r>
                  <a:rPr lang="en-US" altLang="zh-TW" dirty="0"/>
                  <a:t>1, the </a:t>
                </a:r>
                <a:r>
                  <a:rPr lang="en-US" altLang="zh-TW" dirty="0" smtClean="0"/>
                  <a:t>pre-processing step </a:t>
                </a:r>
                <a:r>
                  <a:rPr lang="en-US" altLang="zh-TW" dirty="0"/>
                  <a:t>has to be performed only once</a:t>
                </a:r>
                <a:r>
                  <a:rPr lang="en-US" altLang="zh-TW" dirty="0" smtClean="0"/>
                  <a:t>.</a:t>
                </a:r>
              </a:p>
              <a:p>
                <a:r>
                  <a:rPr lang="en-US" altLang="zh-TW" dirty="0" smtClean="0"/>
                  <a:t>Time </a:t>
                </a:r>
                <a:r>
                  <a:rPr lang="en-US" altLang="zh-TW" dirty="0"/>
                  <a:t>and space complexity of </a:t>
                </a:r>
                <a:r>
                  <a:rPr lang="en-US" altLang="zh-TW" i="1" dirty="0" smtClean="0"/>
                  <a:t>O</a:t>
                </a:r>
                <a:r>
                  <a:rPr lang="en-US" altLang="zh-TW" dirty="0" smtClean="0"/>
                  <a:t>(</a:t>
                </a:r>
                <a14:m>
                  <m:oMath xmlns:m="http://schemas.openxmlformats.org/officeDocument/2006/math">
                    <m:sSup>
                      <m:sSupPr>
                        <m:ctrlPr>
                          <a:rPr lang="en-US" altLang="zh-TW" i="1" smtClean="0">
                            <a:latin typeface="Cambria Math"/>
                          </a:rPr>
                        </m:ctrlPr>
                      </m:sSupPr>
                      <m:e>
                        <m:r>
                          <a:rPr lang="en-US" altLang="zh-TW" b="0" i="1" smtClean="0">
                            <a:latin typeface="Cambria Math"/>
                          </a:rPr>
                          <m:t>𝑘𝑛</m:t>
                        </m:r>
                      </m:e>
                      <m:sup>
                        <m:r>
                          <a:rPr lang="en-US" altLang="zh-TW" b="0" i="1" smtClean="0">
                            <a:latin typeface="Cambria Math"/>
                          </a:rPr>
                          <m:t>2</m:t>
                        </m:r>
                      </m:sup>
                    </m:sSup>
                  </m:oMath>
                </a14:m>
                <a:r>
                  <a:rPr lang="en-US" altLang="zh-TW" dirty="0" smtClean="0"/>
                  <a:t>).</a:t>
                </a:r>
              </a:p>
              <a:p>
                <a:endParaRPr lang="en-US" altLang="zh-TW" dirty="0"/>
              </a:p>
              <a:p>
                <a:r>
                  <a:rPr lang="en-US" altLang="zh-TW" dirty="0"/>
                  <a:t>T</a:t>
                </a:r>
                <a:r>
                  <a:rPr lang="en-US" altLang="zh-TW" dirty="0" smtClean="0"/>
                  <a:t>o find </a:t>
                </a:r>
                <a:r>
                  <a:rPr lang="en-US" altLang="zh-TW" dirty="0"/>
                  <a:t>gene clusters </a:t>
                </a:r>
                <a:r>
                  <a:rPr lang="en-US" altLang="zh-TW" dirty="0" smtClean="0"/>
                  <a:t>which appear </a:t>
                </a:r>
                <a:r>
                  <a:rPr lang="en-US" altLang="zh-TW" dirty="0"/>
                  <a:t>in only a subset of at least </a:t>
                </a:r>
                <a:r>
                  <a:rPr lang="en-US" altLang="zh-TW" i="1" dirty="0" smtClean="0"/>
                  <a:t>k’ </a:t>
                </a:r>
                <a:r>
                  <a:rPr lang="en-US" altLang="zh-TW" dirty="0"/>
                  <a:t>out of </a:t>
                </a:r>
                <a:r>
                  <a:rPr lang="en-US" altLang="zh-TW" i="1" dirty="0"/>
                  <a:t>k </a:t>
                </a:r>
                <a:r>
                  <a:rPr lang="en-US" altLang="zh-TW" dirty="0" smtClean="0"/>
                  <a:t>g</a:t>
                </a:r>
                <a:r>
                  <a:rPr lang="en-US" altLang="zh-TW" dirty="0"/>
                  <a:t>iven genomes</a:t>
                </a:r>
                <a:r>
                  <a:rPr lang="en-US" altLang="zh-TW" dirty="0" smtClean="0"/>
                  <a:t>.</a:t>
                </a:r>
              </a:p>
              <a:p>
                <a:r>
                  <a:rPr lang="en-US" altLang="zh-TW" dirty="0" smtClean="0"/>
                  <a:t>The time </a:t>
                </a:r>
                <a:r>
                  <a:rPr lang="en-US" altLang="zh-TW" dirty="0"/>
                  <a:t>complexity </a:t>
                </a:r>
                <a:r>
                  <a:rPr lang="en-US" altLang="zh-TW" dirty="0" smtClean="0"/>
                  <a:t>is </a:t>
                </a:r>
                <a:r>
                  <a:rPr lang="en-US" altLang="zh-TW" i="1" dirty="0"/>
                  <a:t>O</a:t>
                </a:r>
                <a:r>
                  <a:rPr lang="en-US" altLang="zh-TW" dirty="0"/>
                  <a:t>(</a:t>
                </a:r>
                <a14:m>
                  <m:oMath xmlns:m="http://schemas.openxmlformats.org/officeDocument/2006/math">
                    <m:sSup>
                      <m:sSupPr>
                        <m:ctrlPr>
                          <a:rPr lang="en-US" altLang="zh-TW" i="1">
                            <a:latin typeface="Cambria Math"/>
                          </a:rPr>
                        </m:ctrlPr>
                      </m:sSupPr>
                      <m:e>
                        <m:r>
                          <a:rPr lang="en-US" altLang="zh-TW" b="0" i="1" smtClean="0">
                            <a:latin typeface="Cambria Math"/>
                          </a:rPr>
                          <m:t>𝑘</m:t>
                        </m:r>
                        <m:d>
                          <m:dPr>
                            <m:ctrlPr>
                              <a:rPr lang="en-US" altLang="zh-TW" b="0" i="1" smtClean="0">
                                <a:latin typeface="Cambria Math"/>
                              </a:rPr>
                            </m:ctrlPr>
                          </m:dPr>
                          <m:e>
                            <m:r>
                              <a:rPr lang="en-US" altLang="zh-TW" b="0" i="1" smtClean="0">
                                <a:latin typeface="Cambria Math"/>
                              </a:rPr>
                              <m:t>1+</m:t>
                            </m:r>
                            <m:r>
                              <a:rPr lang="en-US" altLang="zh-TW" b="0" i="1" smtClean="0">
                                <a:latin typeface="Cambria Math"/>
                              </a:rPr>
                              <m:t>𝑘</m:t>
                            </m:r>
                            <m:r>
                              <a:rPr lang="en-US" altLang="zh-TW" b="0" i="1" smtClean="0">
                                <a:latin typeface="Cambria Math"/>
                              </a:rPr>
                              <m:t>−</m:t>
                            </m:r>
                            <m:r>
                              <a:rPr lang="en-US" altLang="zh-TW" b="0" i="1" smtClean="0">
                                <a:latin typeface="Cambria Math"/>
                              </a:rPr>
                              <m:t>𝑘</m:t>
                            </m:r>
                            <m:r>
                              <a:rPr lang="en-US" altLang="zh-TW" b="0" i="1" smtClean="0">
                                <a:latin typeface="Cambria Math"/>
                              </a:rPr>
                              <m:t>′</m:t>
                            </m:r>
                          </m:e>
                        </m:d>
                        <m:r>
                          <a:rPr lang="en-US" altLang="zh-TW" i="1">
                            <a:latin typeface="Cambria Math"/>
                          </a:rPr>
                          <m:t>𝑛</m:t>
                        </m:r>
                      </m:e>
                      <m:sup>
                        <m:r>
                          <a:rPr lang="en-US" altLang="zh-TW" i="1">
                            <a:latin typeface="Cambria Math"/>
                          </a:rPr>
                          <m:t>2</m:t>
                        </m:r>
                      </m:sup>
                    </m:sSup>
                  </m:oMath>
                </a14:m>
                <a:r>
                  <a:rPr lang="en-US" altLang="zh-TW" dirty="0"/>
                  <a:t>). The space complexity is </a:t>
                </a:r>
                <a:r>
                  <a:rPr lang="en-US" altLang="zh-TW" i="1" dirty="0" smtClean="0"/>
                  <a:t>O</a:t>
                </a:r>
                <a:r>
                  <a:rPr lang="en-US" altLang="zh-TW" dirty="0" smtClean="0"/>
                  <a:t>(</a:t>
                </a:r>
                <a14:m>
                  <m:oMath xmlns:m="http://schemas.openxmlformats.org/officeDocument/2006/math">
                    <m:sSup>
                      <m:sSupPr>
                        <m:ctrlPr>
                          <a:rPr lang="en-US" altLang="zh-TW" i="1">
                            <a:latin typeface="Cambria Math"/>
                          </a:rPr>
                        </m:ctrlPr>
                      </m:sSupPr>
                      <m:e>
                        <m:r>
                          <a:rPr lang="en-US" altLang="zh-TW" i="1">
                            <a:latin typeface="Cambria Math"/>
                          </a:rPr>
                          <m:t>𝑘𝑛</m:t>
                        </m:r>
                      </m:e>
                      <m:sup>
                        <m:r>
                          <a:rPr lang="en-US" altLang="zh-TW" i="1">
                            <a:latin typeface="Cambria Math"/>
                          </a:rPr>
                          <m:t>2</m:t>
                        </m:r>
                      </m:sup>
                    </m:sSup>
                  </m:oMath>
                </a14:m>
                <a:r>
                  <a:rPr lang="en-US" altLang="zh-TW" dirty="0" smtClean="0"/>
                  <a:t>).</a:t>
                </a:r>
                <a:endParaRPr lang="zh-TW" altLang="en-US" dirty="0"/>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1">
                <a:blip r:embed="rId2"/>
                <a:stretch>
                  <a:fillRect l="-593" t="-1852" r="-2296" b="-2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240099221"/>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14</a:t>
            </a:fld>
            <a:endParaRPr lang="zh-TW" altLang="en-US"/>
          </a:p>
        </p:txBody>
      </p:sp>
      <p:sp>
        <p:nvSpPr>
          <p:cNvPr id="5" name="內容版面配置區 4"/>
          <p:cNvSpPr>
            <a:spLocks noGrp="1"/>
          </p:cNvSpPr>
          <p:nvPr>
            <p:ph sz="quarter" idx="1"/>
          </p:nvPr>
        </p:nvSpPr>
        <p:spPr/>
        <p:txBody>
          <a:bodyPr>
            <a:normAutofit/>
          </a:bodyPr>
          <a:lstStyle/>
          <a:p>
            <a:r>
              <a:rPr lang="en-US" altLang="zh-TW" dirty="0" smtClean="0"/>
              <a:t>We applied </a:t>
            </a:r>
            <a:r>
              <a:rPr lang="en-US" altLang="zh-TW" dirty="0"/>
              <a:t>our algorithms to </a:t>
            </a:r>
            <a:r>
              <a:rPr lang="en-US" altLang="zh-TW" dirty="0" smtClean="0"/>
              <a:t>5 </a:t>
            </a:r>
            <a:r>
              <a:rPr lang="en-US" altLang="zh-TW" dirty="0"/>
              <a:t>bacterial </a:t>
            </a:r>
            <a:r>
              <a:rPr lang="en-US" altLang="zh-TW" dirty="0" smtClean="0"/>
              <a:t>genomes.</a:t>
            </a:r>
          </a:p>
          <a:p>
            <a:r>
              <a:rPr lang="en-US" altLang="zh-TW" dirty="0"/>
              <a:t>Algorithm CI reported 3428 gene </a:t>
            </a:r>
            <a:r>
              <a:rPr lang="en-US" altLang="zh-TW" dirty="0" smtClean="0"/>
              <a:t>clusters </a:t>
            </a:r>
            <a:r>
              <a:rPr lang="en-US" altLang="zh-TW" dirty="0" smtClean="0">
                <a:solidFill>
                  <a:schemeClr val="tx1">
                    <a:lumMod val="50000"/>
                    <a:lumOff val="50000"/>
                  </a:schemeClr>
                </a:solidFill>
              </a:rPr>
              <a:t>(which contains </a:t>
            </a:r>
            <a:r>
              <a:rPr lang="en-US" altLang="zh-TW" dirty="0">
                <a:solidFill>
                  <a:schemeClr val="tx1">
                    <a:lumMod val="50000"/>
                    <a:lumOff val="50000"/>
                  </a:schemeClr>
                </a:solidFill>
              </a:rPr>
              <a:t>at least two </a:t>
            </a:r>
            <a:r>
              <a:rPr lang="en-US" altLang="zh-TW" dirty="0" smtClean="0">
                <a:solidFill>
                  <a:schemeClr val="tx1">
                    <a:lumMod val="50000"/>
                    <a:lumOff val="50000"/>
                  </a:schemeClr>
                </a:solidFill>
              </a:rPr>
              <a:t>different genes </a:t>
            </a:r>
            <a:r>
              <a:rPr lang="en-US" altLang="zh-TW" dirty="0">
                <a:solidFill>
                  <a:schemeClr val="tx1">
                    <a:lumMod val="50000"/>
                    <a:lumOff val="50000"/>
                  </a:schemeClr>
                </a:solidFill>
              </a:rPr>
              <a:t>and has a </a:t>
            </a:r>
            <a:r>
              <a:rPr lang="en-US" altLang="zh-TW" i="1" dirty="0">
                <a:solidFill>
                  <a:schemeClr val="tx1">
                    <a:lumMod val="50000"/>
                    <a:lumOff val="50000"/>
                  </a:schemeClr>
                </a:solidFill>
              </a:rPr>
              <a:t>CS</a:t>
            </a:r>
            <a:r>
              <a:rPr lang="en-US" altLang="zh-TW" dirty="0">
                <a:solidFill>
                  <a:schemeClr val="tx1">
                    <a:lumMod val="50000"/>
                    <a:lumOff val="50000"/>
                  </a:schemeClr>
                </a:solidFill>
              </a:rPr>
              <a:t>-location in at least two </a:t>
            </a:r>
            <a:r>
              <a:rPr lang="en-US" altLang="zh-TW" dirty="0" smtClean="0">
                <a:solidFill>
                  <a:schemeClr val="tx1">
                    <a:lumMod val="50000"/>
                    <a:lumOff val="50000"/>
                  </a:schemeClr>
                </a:solidFill>
              </a:rPr>
              <a:t>sequences)</a:t>
            </a:r>
            <a:r>
              <a:rPr lang="en-US" altLang="zh-TW" dirty="0" smtClean="0"/>
              <a:t>.</a:t>
            </a:r>
            <a:endParaRPr lang="zh-TW" altLang="en-US" dirty="0"/>
          </a:p>
        </p:txBody>
      </p:sp>
      <p:pic>
        <p:nvPicPr>
          <p:cNvPr id="5122" name="Picture 2"/>
          <p:cNvPicPr>
            <a:picLocks noChangeAspect="1" noChangeArrowheads="1"/>
          </p:cNvPicPr>
          <p:nvPr/>
        </p:nvPicPr>
        <p:blipFill rotWithShape="1">
          <a:blip r:embed="rId2">
            <a:extLst>
              <a:ext uri="{BEBA8EAE-BF5A-486C-A8C5-ECC9F3942E4B}">
                <a14:imgProps xmlns:a14="http://schemas.microsoft.com/office/drawing/2010/main" xmlns="">
                  <a14:imgLayer r:embed="rId3">
                    <a14:imgEffect>
                      <a14:backgroundRemoval t="0" b="100000" l="0" r="39076">
                        <a14:foregroundMark x1="5545" y1="8803" x2="25545" y2="78521"/>
                        <a14:foregroundMark x1="1122" y1="29577" x2="28053" y2="29577"/>
                        <a14:foregroundMark x1="858" y1="33275" x2="21122" y2="79930"/>
                        <a14:foregroundMark x1="3630" y1="17254" x2="27525" y2="16549"/>
                        <a14:backgroundMark x1="34059" y1="6162" x2="39076" y2="4754"/>
                        <a14:backgroundMark x1="33795" y1="3521" x2="39736" y2="12148"/>
                      </a14:backgroundRemoval>
                    </a14:imgEffect>
                  </a14:imgLayer>
                </a14:imgProps>
              </a:ext>
              <a:ext uri="{28A0092B-C50C-407E-A947-70E740481C1C}">
                <a14:useLocalDpi xmlns:a14="http://schemas.microsoft.com/office/drawing/2010/main" xmlns="" val="0"/>
              </a:ext>
            </a:extLst>
          </a:blip>
          <a:srcRect l="1" r="60947"/>
          <a:stretch/>
        </p:blipFill>
        <p:spPr bwMode="auto">
          <a:xfrm>
            <a:off x="211211" y="3027229"/>
            <a:ext cx="3568701" cy="34261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矩形 5"/>
          <p:cNvSpPr/>
          <p:nvPr/>
        </p:nvSpPr>
        <p:spPr>
          <a:xfrm>
            <a:off x="2627784" y="3040891"/>
            <a:ext cx="4572000" cy="461665"/>
          </a:xfrm>
          <a:prstGeom prst="rect">
            <a:avLst/>
          </a:prstGeom>
        </p:spPr>
        <p:txBody>
          <a:bodyPr>
            <a:spAutoFit/>
          </a:bodyPr>
          <a:lstStyle/>
          <a:p>
            <a:r>
              <a:rPr lang="en-US" altLang="zh-TW" sz="2400" dirty="0"/>
              <a:t>(a) distribution </a:t>
            </a:r>
            <a:r>
              <a:rPr lang="en-US" altLang="zh-TW" sz="2400" dirty="0" smtClean="0"/>
              <a:t>of cluster type.</a:t>
            </a:r>
            <a:endParaRPr lang="zh-TW" altLang="en-US" sz="2400" dirty="0"/>
          </a:p>
        </p:txBody>
      </p:sp>
    </p:spTree>
    <p:extLst>
      <p:ext uri="{BB962C8B-B14F-4D97-AF65-F5344CB8AC3E}">
        <p14:creationId xmlns:p14="http://schemas.microsoft.com/office/powerpoint/2010/main" xmlns="" val="3942265079"/>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15</a:t>
            </a:fld>
            <a:endParaRPr lang="zh-TW" altLang="en-US"/>
          </a:p>
        </p:txBody>
      </p:sp>
      <p:sp>
        <p:nvSpPr>
          <p:cNvPr id="5" name="內容版面配置區 4"/>
          <p:cNvSpPr>
            <a:spLocks noGrp="1"/>
          </p:cNvSpPr>
          <p:nvPr>
            <p:ph sz="quarter" idx="1"/>
          </p:nvPr>
        </p:nvSpPr>
        <p:spPr/>
        <p:txBody>
          <a:bodyPr>
            <a:normAutofit/>
          </a:bodyPr>
          <a:lstStyle/>
          <a:p>
            <a:r>
              <a:rPr lang="en-US" altLang="zh-TW" dirty="0" smtClean="0"/>
              <a:t>We applied </a:t>
            </a:r>
            <a:r>
              <a:rPr lang="en-US" altLang="zh-TW" dirty="0"/>
              <a:t>our algorithms to </a:t>
            </a:r>
            <a:r>
              <a:rPr lang="en-US" altLang="zh-TW" dirty="0" smtClean="0"/>
              <a:t>five </a:t>
            </a:r>
            <a:r>
              <a:rPr lang="en-US" altLang="zh-TW" dirty="0"/>
              <a:t>bacterial </a:t>
            </a:r>
            <a:r>
              <a:rPr lang="en-US" altLang="zh-TW" dirty="0" smtClean="0"/>
              <a:t>genomes.</a:t>
            </a:r>
          </a:p>
          <a:p>
            <a:r>
              <a:rPr lang="en-US" altLang="zh-TW" dirty="0"/>
              <a:t>Algorithm CI reported 3428 gene </a:t>
            </a:r>
            <a:r>
              <a:rPr lang="en-US" altLang="zh-TW" dirty="0" smtClean="0"/>
              <a:t>clusters </a:t>
            </a:r>
            <a:r>
              <a:rPr lang="en-US" altLang="zh-TW" dirty="0" smtClean="0">
                <a:solidFill>
                  <a:schemeClr val="tx1">
                    <a:lumMod val="50000"/>
                    <a:lumOff val="50000"/>
                  </a:schemeClr>
                </a:solidFill>
              </a:rPr>
              <a:t>(which contains </a:t>
            </a:r>
            <a:r>
              <a:rPr lang="en-US" altLang="zh-TW" dirty="0">
                <a:solidFill>
                  <a:schemeClr val="tx1">
                    <a:lumMod val="50000"/>
                    <a:lumOff val="50000"/>
                  </a:schemeClr>
                </a:solidFill>
              </a:rPr>
              <a:t>at least two </a:t>
            </a:r>
            <a:r>
              <a:rPr lang="en-US" altLang="zh-TW" dirty="0" smtClean="0">
                <a:solidFill>
                  <a:schemeClr val="tx1">
                    <a:lumMod val="50000"/>
                    <a:lumOff val="50000"/>
                  </a:schemeClr>
                </a:solidFill>
              </a:rPr>
              <a:t>different genes </a:t>
            </a:r>
            <a:r>
              <a:rPr lang="en-US" altLang="zh-TW" dirty="0">
                <a:solidFill>
                  <a:schemeClr val="tx1">
                    <a:lumMod val="50000"/>
                    <a:lumOff val="50000"/>
                  </a:schemeClr>
                </a:solidFill>
              </a:rPr>
              <a:t>and has a </a:t>
            </a:r>
            <a:r>
              <a:rPr lang="en-US" altLang="zh-TW" i="1" dirty="0">
                <a:solidFill>
                  <a:schemeClr val="tx1">
                    <a:lumMod val="50000"/>
                    <a:lumOff val="50000"/>
                  </a:schemeClr>
                </a:solidFill>
              </a:rPr>
              <a:t>CS</a:t>
            </a:r>
            <a:r>
              <a:rPr lang="en-US" altLang="zh-TW" dirty="0">
                <a:solidFill>
                  <a:schemeClr val="tx1">
                    <a:lumMod val="50000"/>
                    <a:lumOff val="50000"/>
                  </a:schemeClr>
                </a:solidFill>
              </a:rPr>
              <a:t>-location in at least two </a:t>
            </a:r>
            <a:r>
              <a:rPr lang="en-US" altLang="zh-TW" dirty="0" smtClean="0">
                <a:solidFill>
                  <a:schemeClr val="tx1">
                    <a:lumMod val="50000"/>
                    <a:lumOff val="50000"/>
                  </a:schemeClr>
                </a:solidFill>
              </a:rPr>
              <a:t>sequences)</a:t>
            </a:r>
            <a:r>
              <a:rPr lang="en-US" altLang="zh-TW" dirty="0" smtClean="0"/>
              <a:t>.</a:t>
            </a:r>
            <a:endParaRPr lang="zh-TW" altLang="en-US" dirty="0"/>
          </a:p>
        </p:txBody>
      </p:sp>
      <p:pic>
        <p:nvPicPr>
          <p:cNvPr id="5122" name="Picture 2"/>
          <p:cNvPicPr>
            <a:picLocks noChangeAspect="1" noChangeArrowheads="1"/>
          </p:cNvPicPr>
          <p:nvPr/>
        </p:nvPicPr>
        <p:blipFill rotWithShape="1">
          <a:blip r:embed="rId2">
            <a:extLst>
              <a:ext uri="{BEBA8EAE-BF5A-486C-A8C5-ECC9F3942E4B}">
                <a14:imgProps xmlns:a14="http://schemas.microsoft.com/office/drawing/2010/main" xmlns="">
                  <a14:imgLayer r:embed="rId3">
                    <a14:imgEffect>
                      <a14:backgroundRemoval t="0" b="100000" l="23036" r="72013">
                        <a14:foregroundMark x1="36832" y1="29577" x2="55446" y2="29577"/>
                        <a14:foregroundMark x1="38614" y1="52465" x2="53795" y2="53169"/>
                        <a14:foregroundMark x1="38482" y1="61444" x2="53531" y2="61092"/>
                        <a14:foregroundMark x1="41980" y1="20951" x2="54587" y2="19190"/>
                        <a14:foregroundMark x1="38218" y1="8451" x2="59736" y2="11796"/>
                        <a14:backgroundMark x1="67261" y1="77993" x2="76436" y2="76937"/>
                        <a14:backgroundMark x1="67261" y1="76937" x2="74917" y2="75880"/>
                        <a14:backgroundMark x1="65875" y1="5106" x2="73267" y2="4225"/>
                        <a14:backgroundMark x1="66601" y1="8099" x2="74653" y2="8803"/>
                        <a14:backgroundMark x1="39208" y1="87676" x2="30561" y2="87324"/>
                        <a14:backgroundMark x1="38944" y1="90669" x2="31155" y2="90669"/>
                        <a14:backgroundMark x1="38944" y1="86972" x2="30297" y2="83979"/>
                      </a14:backgroundRemoval>
                    </a14:imgEffect>
                  </a14:imgLayer>
                </a14:imgProps>
              </a:ext>
              <a:ext uri="{28A0092B-C50C-407E-A947-70E740481C1C}">
                <a14:useLocalDpi xmlns:a14="http://schemas.microsoft.com/office/drawing/2010/main" xmlns="" val="0"/>
              </a:ext>
            </a:extLst>
          </a:blip>
          <a:srcRect l="34051" r="31623"/>
          <a:stretch/>
        </p:blipFill>
        <p:spPr bwMode="auto">
          <a:xfrm>
            <a:off x="251520" y="3027229"/>
            <a:ext cx="3136900" cy="34261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矩形 5"/>
          <p:cNvSpPr/>
          <p:nvPr/>
        </p:nvSpPr>
        <p:spPr>
          <a:xfrm>
            <a:off x="2555776" y="3027229"/>
            <a:ext cx="6120680" cy="461665"/>
          </a:xfrm>
          <a:prstGeom prst="rect">
            <a:avLst/>
          </a:prstGeom>
        </p:spPr>
        <p:txBody>
          <a:bodyPr wrap="square">
            <a:spAutoFit/>
          </a:bodyPr>
          <a:lstStyle/>
          <a:p>
            <a:r>
              <a:rPr lang="en-US" altLang="zh-TW" sz="2400" dirty="0"/>
              <a:t>(b) number of genomes where a cluster is </a:t>
            </a:r>
            <a:r>
              <a:rPr lang="en-US" altLang="zh-TW" sz="2400" dirty="0" smtClean="0"/>
              <a:t>found.</a:t>
            </a:r>
            <a:endParaRPr lang="zh-TW" altLang="en-US" sz="2400" dirty="0"/>
          </a:p>
        </p:txBody>
      </p:sp>
    </p:spTree>
    <p:extLst>
      <p:ext uri="{BB962C8B-B14F-4D97-AF65-F5344CB8AC3E}">
        <p14:creationId xmlns:p14="http://schemas.microsoft.com/office/powerpoint/2010/main" xmlns="" val="1430868461"/>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2013/4/30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16</a:t>
            </a:fld>
            <a:endParaRPr lang="zh-TW" altLang="en-US"/>
          </a:p>
        </p:txBody>
      </p:sp>
      <p:sp>
        <p:nvSpPr>
          <p:cNvPr id="5" name="內容版面配置區 4"/>
          <p:cNvSpPr>
            <a:spLocks noGrp="1"/>
          </p:cNvSpPr>
          <p:nvPr>
            <p:ph sz="quarter" idx="1"/>
          </p:nvPr>
        </p:nvSpPr>
        <p:spPr/>
        <p:txBody>
          <a:bodyPr>
            <a:normAutofit/>
          </a:bodyPr>
          <a:lstStyle/>
          <a:p>
            <a:r>
              <a:rPr lang="en-US" altLang="zh-TW" dirty="0" smtClean="0"/>
              <a:t>We applied </a:t>
            </a:r>
            <a:r>
              <a:rPr lang="en-US" altLang="zh-TW" dirty="0"/>
              <a:t>our algorithms to </a:t>
            </a:r>
            <a:r>
              <a:rPr lang="en-US" altLang="zh-TW" dirty="0" smtClean="0"/>
              <a:t>five </a:t>
            </a:r>
            <a:r>
              <a:rPr lang="en-US" altLang="zh-TW" dirty="0"/>
              <a:t>bacterial </a:t>
            </a:r>
            <a:r>
              <a:rPr lang="en-US" altLang="zh-TW" dirty="0" smtClean="0"/>
              <a:t>genomes.</a:t>
            </a:r>
          </a:p>
          <a:p>
            <a:r>
              <a:rPr lang="en-US" altLang="zh-TW" dirty="0"/>
              <a:t>Algorithm CI reported 3428 gene </a:t>
            </a:r>
            <a:r>
              <a:rPr lang="en-US" altLang="zh-TW" dirty="0" smtClean="0"/>
              <a:t>clusters </a:t>
            </a:r>
            <a:r>
              <a:rPr lang="en-US" altLang="zh-TW" dirty="0" smtClean="0">
                <a:solidFill>
                  <a:schemeClr val="tx1">
                    <a:lumMod val="50000"/>
                    <a:lumOff val="50000"/>
                  </a:schemeClr>
                </a:solidFill>
              </a:rPr>
              <a:t>(which contains </a:t>
            </a:r>
            <a:r>
              <a:rPr lang="en-US" altLang="zh-TW" dirty="0">
                <a:solidFill>
                  <a:schemeClr val="tx1">
                    <a:lumMod val="50000"/>
                    <a:lumOff val="50000"/>
                  </a:schemeClr>
                </a:solidFill>
              </a:rPr>
              <a:t>at least two </a:t>
            </a:r>
            <a:r>
              <a:rPr lang="en-US" altLang="zh-TW" dirty="0" smtClean="0">
                <a:solidFill>
                  <a:schemeClr val="tx1">
                    <a:lumMod val="50000"/>
                    <a:lumOff val="50000"/>
                  </a:schemeClr>
                </a:solidFill>
              </a:rPr>
              <a:t>different genes </a:t>
            </a:r>
            <a:r>
              <a:rPr lang="en-US" altLang="zh-TW" dirty="0">
                <a:solidFill>
                  <a:schemeClr val="tx1">
                    <a:lumMod val="50000"/>
                    <a:lumOff val="50000"/>
                  </a:schemeClr>
                </a:solidFill>
              </a:rPr>
              <a:t>and has a </a:t>
            </a:r>
            <a:r>
              <a:rPr lang="en-US" altLang="zh-TW" i="1" dirty="0">
                <a:solidFill>
                  <a:schemeClr val="tx1">
                    <a:lumMod val="50000"/>
                    <a:lumOff val="50000"/>
                  </a:schemeClr>
                </a:solidFill>
              </a:rPr>
              <a:t>CS</a:t>
            </a:r>
            <a:r>
              <a:rPr lang="en-US" altLang="zh-TW" dirty="0">
                <a:solidFill>
                  <a:schemeClr val="tx1">
                    <a:lumMod val="50000"/>
                    <a:lumOff val="50000"/>
                  </a:schemeClr>
                </a:solidFill>
              </a:rPr>
              <a:t>-location in at least two </a:t>
            </a:r>
            <a:r>
              <a:rPr lang="en-US" altLang="zh-TW" dirty="0" smtClean="0">
                <a:solidFill>
                  <a:schemeClr val="tx1">
                    <a:lumMod val="50000"/>
                    <a:lumOff val="50000"/>
                  </a:schemeClr>
                </a:solidFill>
              </a:rPr>
              <a:t>sequences)</a:t>
            </a:r>
            <a:r>
              <a:rPr lang="en-US" altLang="zh-TW" dirty="0" smtClean="0"/>
              <a:t>.</a:t>
            </a:r>
            <a:endParaRPr lang="zh-TW" altLang="en-US" dirty="0"/>
          </a:p>
        </p:txBody>
      </p:sp>
      <p:pic>
        <p:nvPicPr>
          <p:cNvPr id="5122" name="Picture 2"/>
          <p:cNvPicPr>
            <a:picLocks noChangeAspect="1" noChangeArrowheads="1"/>
          </p:cNvPicPr>
          <p:nvPr/>
        </p:nvPicPr>
        <p:blipFill rotWithShape="1">
          <a:blip r:embed="rId2">
            <a:extLst>
              <a:ext uri="{BEBA8EAE-BF5A-486C-A8C5-ECC9F3942E4B}">
                <a14:imgProps xmlns:a14="http://schemas.microsoft.com/office/drawing/2010/main" xmlns="">
                  <a14:imgLayer r:embed="rId3">
                    <a14:imgEffect>
                      <a14:backgroundRemoval t="0" b="100000" l="65479" r="100000">
                        <a14:foregroundMark x1="71881" y1="10915" x2="95050" y2="40669"/>
                        <a14:foregroundMark x1="91617" y1="13556" x2="69241" y2="63204"/>
                        <a14:foregroundMark x1="95182" y1="59155" x2="67789" y2="57746"/>
                        <a14:foregroundMark x1="95446" y1="44014" x2="74917" y2="72183"/>
                        <a14:foregroundMark x1="96568" y1="85915" x2="72541" y2="86268"/>
                        <a14:foregroundMark x1="99340" y1="55458" x2="88911" y2="95423"/>
                        <a14:foregroundMark x1="70033" y1="75176" x2="83498" y2="98768"/>
                        <a14:foregroundMark x1="68383" y1="77993" x2="75908" y2="79225"/>
                        <a14:foregroundMark x1="74917" y1="76937" x2="66271" y2="77289"/>
                        <a14:foregroundMark x1="81584" y1="16549" x2="65479" y2="4225"/>
                        <a14:foregroundMark x1="94917" y1="8099" x2="67657" y2="6162"/>
                        <a14:foregroundMark x1="71551" y1="98415" x2="69901" y2="2113"/>
                        <a14:foregroundMark x1="69241" y1="9155" x2="68779" y2="99296"/>
                        <a14:foregroundMark x1="67987" y1="12852" x2="68119" y2="59507"/>
                        <a14:foregroundMark x1="67657" y1="4225" x2="67657" y2="60211"/>
                        <a14:foregroundMark x1="67129" y1="75880" x2="67393" y2="99648"/>
                        <a14:backgroundMark x1="62376" y1="68134" x2="68251" y2="68486"/>
                      </a14:backgroundRemoval>
                    </a14:imgEffect>
                  </a14:imgLayer>
                </a14:imgProps>
              </a:ext>
              <a:ext uri="{28A0092B-C50C-407E-A947-70E740481C1C}">
                <a14:useLocalDpi xmlns:a14="http://schemas.microsoft.com/office/drawing/2010/main" xmlns="" val="0"/>
              </a:ext>
            </a:extLst>
          </a:blip>
          <a:srcRect l="67264" r="-62"/>
          <a:stretch/>
        </p:blipFill>
        <p:spPr bwMode="auto">
          <a:xfrm>
            <a:off x="179512" y="3023657"/>
            <a:ext cx="2997200" cy="34261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矩形 5"/>
          <p:cNvSpPr/>
          <p:nvPr/>
        </p:nvSpPr>
        <p:spPr>
          <a:xfrm>
            <a:off x="2592288" y="3039343"/>
            <a:ext cx="4572000" cy="461665"/>
          </a:xfrm>
          <a:prstGeom prst="rect">
            <a:avLst/>
          </a:prstGeom>
        </p:spPr>
        <p:txBody>
          <a:bodyPr>
            <a:spAutoFit/>
          </a:bodyPr>
          <a:lstStyle/>
          <a:p>
            <a:r>
              <a:rPr lang="en-US" altLang="zh-TW" sz="2400" dirty="0"/>
              <a:t>(c) distribution of </a:t>
            </a:r>
            <a:r>
              <a:rPr lang="en-US" altLang="zh-TW" sz="2400" dirty="0" smtClean="0"/>
              <a:t>cluster sizes.</a:t>
            </a:r>
            <a:endParaRPr lang="zh-TW" altLang="en-US" sz="2400" dirty="0"/>
          </a:p>
        </p:txBody>
      </p:sp>
    </p:spTree>
    <p:extLst>
      <p:ext uri="{BB962C8B-B14F-4D97-AF65-F5344CB8AC3E}">
        <p14:creationId xmlns:p14="http://schemas.microsoft.com/office/powerpoint/2010/main" xmlns="" val="526164811"/>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a:t>
            </a:r>
            <a:endParaRPr lang="zh-TW" altLang="en-US" dirty="0"/>
          </a:p>
        </p:txBody>
      </p:sp>
      <p:sp>
        <p:nvSpPr>
          <p:cNvPr id="5" name="日期版面配置區 4"/>
          <p:cNvSpPr>
            <a:spLocks noGrp="1"/>
          </p:cNvSpPr>
          <p:nvPr>
            <p:ph type="dt" sz="half" idx="10"/>
          </p:nvPr>
        </p:nvSpPr>
        <p:spPr/>
        <p:txBody>
          <a:bodyPr/>
          <a:lstStyle/>
          <a:p>
            <a:r>
              <a:rPr lang="en-US" altLang="zh-TW" smtClean="0"/>
              <a:t>2013/4/30</a:t>
            </a:r>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pPr/>
              <a:t>17</a:t>
            </a:fld>
            <a:endParaRPr lang="zh-TW" altLang="en-US"/>
          </a:p>
        </p:txBody>
      </p:sp>
      <p:sp>
        <p:nvSpPr>
          <p:cNvPr id="4" name="內容版面配置區 3"/>
          <p:cNvSpPr>
            <a:spLocks noGrp="1"/>
          </p:cNvSpPr>
          <p:nvPr>
            <p:ph sz="quarter" idx="1"/>
          </p:nvPr>
        </p:nvSpPr>
        <p:spPr/>
        <p:txBody>
          <a:bodyPr>
            <a:normAutofit/>
          </a:bodyPr>
          <a:lstStyle/>
          <a:p>
            <a:r>
              <a:rPr lang="en-US" altLang="zh-TW" dirty="0"/>
              <a:t>To use gene clusters </a:t>
            </a:r>
            <a:r>
              <a:rPr lang="en-US" altLang="zh-TW" dirty="0" smtClean="0"/>
              <a:t>for functional </a:t>
            </a:r>
            <a:r>
              <a:rPr lang="en-US" altLang="zh-TW" dirty="0"/>
              <a:t>prediction, it is necessary to use genomes with </a:t>
            </a:r>
            <a:r>
              <a:rPr lang="en-US" altLang="zh-TW"/>
              <a:t>a </a:t>
            </a:r>
            <a:r>
              <a:rPr lang="en-US" altLang="zh-TW" smtClean="0"/>
              <a:t>sufficient </a:t>
            </a:r>
            <a:r>
              <a:rPr lang="en-US" altLang="zh-TW" dirty="0" smtClean="0"/>
              <a:t>evolutionary distance </a:t>
            </a:r>
            <a:r>
              <a:rPr lang="en-US" altLang="zh-TW" dirty="0"/>
              <a:t>to avoid </a:t>
            </a:r>
            <a:r>
              <a:rPr lang="en-US" altLang="zh-TW" dirty="0" smtClean="0"/>
              <a:t>finding </a:t>
            </a:r>
            <a:r>
              <a:rPr lang="en-US" altLang="zh-TW" dirty="0"/>
              <a:t>gene clusters that did not have enough time to diverge</a:t>
            </a:r>
            <a:r>
              <a:rPr lang="en-US" altLang="zh-TW" dirty="0" smtClean="0"/>
              <a:t>.</a:t>
            </a:r>
          </a:p>
          <a:p>
            <a:r>
              <a:rPr lang="en-US" altLang="zh-TW" dirty="0"/>
              <a:t>The evaluation of the cluster size provides the opportunity to reduce the </a:t>
            </a:r>
            <a:r>
              <a:rPr lang="en-US" altLang="zh-TW" dirty="0" smtClean="0"/>
              <a:t>time complexity </a:t>
            </a:r>
            <a:r>
              <a:rPr lang="en-US" altLang="zh-TW" dirty="0"/>
              <a:t>to linear by setting a </a:t>
            </a:r>
            <a:r>
              <a:rPr lang="en-US" altLang="zh-TW" dirty="0" smtClean="0"/>
              <a:t>fixed </a:t>
            </a:r>
            <a:r>
              <a:rPr lang="en-US" altLang="zh-TW" dirty="0"/>
              <a:t>maximum cluster size.</a:t>
            </a:r>
            <a:endParaRPr lang="zh-TW" altLang="en-US" dirty="0">
              <a:latin typeface="+mj-lt"/>
            </a:endParaRPr>
          </a:p>
        </p:txBody>
      </p:sp>
    </p:spTree>
    <p:extLst>
      <p:ext uri="{BB962C8B-B14F-4D97-AF65-F5344CB8AC3E}">
        <p14:creationId xmlns:p14="http://schemas.microsoft.com/office/powerpoint/2010/main" xmlns="" val="2266314224"/>
      </p:ext>
    </p:extLst>
  </p:cSld>
  <p:clrMapOvr>
    <a:masterClrMapping/>
  </p:clrMapOvr>
  <p:transition>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2">
      <a:majorFont>
        <a:latin typeface="Calibri"/>
        <a:ea typeface="Calibri"/>
        <a:cs typeface=""/>
      </a:majorFont>
      <a:minorFont>
        <a:latin typeface="Calibri"/>
        <a:ea typeface="Calibri"/>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6814</TotalTime>
  <Words>686</Words>
  <Application>Microsoft Office PowerPoint</Application>
  <PresentationFormat>如螢幕大小 (4:3)</PresentationFormat>
  <Paragraphs>88</Paragraphs>
  <Slides>17</Slides>
  <Notes>0</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原創</vt:lpstr>
      <vt:lpstr>Quadratic Time Algorithms  for Finding Common Intervals  in Two and More Sequences  Lecture Notes in Computer Science vol.3109,  pp. 347-358, 2004</vt:lpstr>
      <vt:lpstr>Abstract</vt:lpstr>
      <vt:lpstr>Abstract</vt:lpstr>
      <vt:lpstr>Basic Definitions</vt:lpstr>
      <vt:lpstr>Basic Definitions</vt:lpstr>
      <vt:lpstr>Pre-processing Step of Connecting Intervals (CI)</vt:lpstr>
      <vt:lpstr>Pre-processing Step of Connecting Intervals (CI)</vt:lpstr>
      <vt:lpstr>Connecting Intervals (CI)</vt:lpstr>
      <vt:lpstr>Connecting Intervals (CI)</vt:lpstr>
      <vt:lpstr>Connecting Intervals (CI)</vt:lpstr>
      <vt:lpstr>Generating Non-redundant Output</vt:lpstr>
      <vt:lpstr>Generating Non-redundant Output</vt:lpstr>
      <vt:lpstr>Multiple Genomes</vt:lpstr>
      <vt:lpstr>Experimental Results</vt:lpstr>
      <vt:lpstr>Experimental Results</vt:lpstr>
      <vt:lpstr>Experimental Results</vt:lpstr>
      <vt:lpstr>Conclusions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admin</cp:lastModifiedBy>
  <cp:revision>251</cp:revision>
  <cp:lastPrinted>2012-09-10T21:31:19Z</cp:lastPrinted>
  <dcterms:created xsi:type="dcterms:W3CDTF">2012-09-10T08:29:10Z</dcterms:created>
  <dcterms:modified xsi:type="dcterms:W3CDTF">2013-05-07T11:26:13Z</dcterms:modified>
</cp:coreProperties>
</file>