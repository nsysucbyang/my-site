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BA2CCC6-1621-43AA-80E1-9C918F862AC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8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56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798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6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0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68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685800" y="518815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4000" b="1" dirty="0"/>
              <a:t>Genome assembly reborn: </a:t>
            </a:r>
            <a:r>
              <a:rPr lang="en-US" altLang="zh-TW" sz="4000" b="1" dirty="0" smtClean="0"/>
              <a:t>recent computational </a:t>
            </a:r>
            <a:r>
              <a:rPr lang="en-US" altLang="zh-TW" sz="4000" b="1" dirty="0"/>
              <a:t>challenges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1411560" y="2394847"/>
            <a:ext cx="6400800" cy="3554433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Mihai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Pop</a:t>
            </a:r>
          </a:p>
          <a:p>
            <a:r>
              <a:rPr lang="en-US" altLang="zh-TW" sz="2800" dirty="0"/>
              <a:t>Briefings in </a:t>
            </a:r>
            <a:r>
              <a:rPr lang="en-US" altLang="zh-TW" sz="2800" dirty="0" smtClean="0"/>
              <a:t>Bioinformatics, Volume </a:t>
            </a:r>
            <a:r>
              <a:rPr lang="en-US" altLang="zh-TW" sz="2800" dirty="0"/>
              <a:t>10, Issue </a:t>
            </a:r>
            <a:r>
              <a:rPr lang="en-US" altLang="zh-TW" sz="2800" dirty="0" smtClean="0"/>
              <a:t>4, Pp</a:t>
            </a:r>
            <a:r>
              <a:rPr lang="en-US" altLang="zh-TW" sz="2800" dirty="0"/>
              <a:t>. </a:t>
            </a:r>
            <a:r>
              <a:rPr lang="en-US" altLang="zh-TW" sz="2800" dirty="0" smtClean="0"/>
              <a:t>354-366, 2009</a:t>
            </a:r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323528" y="5425298"/>
            <a:ext cx="6400800" cy="12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Presenter: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Che-Jui</a:t>
            </a:r>
            <a:r>
              <a:rPr lang="en-US" altLang="zh-TW" sz="2800" dirty="0" smtClean="0">
                <a:solidFill>
                  <a:schemeClr val="tx1"/>
                </a:solidFill>
              </a:rPr>
              <a:t> Hsu(</a:t>
            </a:r>
            <a:r>
              <a:rPr lang="zh-TW" altLang="en-US" sz="2800" dirty="0" smtClean="0">
                <a:solidFill>
                  <a:schemeClr val="tx1"/>
                </a:solidFill>
              </a:rPr>
              <a:t>許哲睿</a:t>
            </a:r>
            <a:r>
              <a:rPr lang="en-US" altLang="zh-TW" sz="28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Date: </a:t>
            </a:r>
            <a:fld id="{3DC95CE2-72FD-4627-B4FE-7CBC89963158}" type="datetime1">
              <a:rPr lang="zh-TW" altLang="en-US" sz="2800" smtClean="0">
                <a:solidFill>
                  <a:schemeClr val="tx1"/>
                </a:solidFill>
              </a:rPr>
              <a:t>2013/5/7</a:t>
            </a:fld>
            <a:endParaRPr lang="en-US" altLang="zh-TW" sz="2800" dirty="0" smtClean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457200" algn="just">
              <a:buNone/>
            </a:pPr>
            <a:r>
              <a:rPr lang="en-US" altLang="zh-TW" dirty="0"/>
              <a:t>Research into genome assembly algorithms has experienced a resurgence due to new challenges created by </a:t>
            </a:r>
            <a:r>
              <a:rPr lang="en-US" altLang="zh-TW" dirty="0" smtClean="0"/>
              <a:t>the development </a:t>
            </a:r>
            <a:r>
              <a:rPr lang="en-US" altLang="zh-TW" dirty="0"/>
              <a:t>of next generation sequencing technologies. Several genome assemblers have been published </a:t>
            </a:r>
            <a:r>
              <a:rPr lang="en-US" altLang="zh-TW" dirty="0" smtClean="0"/>
              <a:t>in recent </a:t>
            </a:r>
            <a:r>
              <a:rPr lang="en-US" altLang="zh-TW" dirty="0"/>
              <a:t>years specifically targeted at the new sequence data; however, the ever-changing technological </a:t>
            </a:r>
            <a:r>
              <a:rPr lang="en-US" altLang="zh-TW" dirty="0" smtClean="0"/>
              <a:t>landscape leads </a:t>
            </a:r>
            <a:r>
              <a:rPr lang="en-US" altLang="zh-TW" dirty="0"/>
              <a:t>to the need for continued research. In addition, the low cost of next generation sequencing data has </a:t>
            </a:r>
            <a:r>
              <a:rPr lang="en-US" altLang="zh-TW" dirty="0" smtClean="0"/>
              <a:t>led to </a:t>
            </a:r>
            <a:r>
              <a:rPr lang="en-US" altLang="zh-TW" dirty="0"/>
              <a:t>an increased use of sequencing in new settings. For example, the new field of </a:t>
            </a:r>
            <a:r>
              <a:rPr lang="en-US" altLang="zh-TW" dirty="0" err="1"/>
              <a:t>metagenomics</a:t>
            </a:r>
            <a:r>
              <a:rPr lang="en-US" altLang="zh-TW" dirty="0"/>
              <a:t> relies on </a:t>
            </a:r>
            <a:r>
              <a:rPr lang="en-US" altLang="zh-TW" dirty="0" smtClean="0"/>
              <a:t>large-scale sequencing </a:t>
            </a:r>
            <a:r>
              <a:rPr lang="en-US" altLang="zh-TW" dirty="0"/>
              <a:t>of entire microbial communities instead of isolate genomes, leading to new </a:t>
            </a:r>
            <a:r>
              <a:rPr lang="en-US" altLang="zh-TW" dirty="0" smtClean="0"/>
              <a:t>computational challenges</a:t>
            </a:r>
            <a:r>
              <a:rPr lang="en-US" altLang="zh-TW" dirty="0"/>
              <a:t>. In this article, we outline the major algorithmic approaches for genome assembly and describe </a:t>
            </a:r>
            <a:r>
              <a:rPr lang="en-US" altLang="zh-TW" dirty="0" smtClean="0"/>
              <a:t>recent developments </a:t>
            </a:r>
            <a:r>
              <a:rPr lang="en-US" altLang="zh-TW" dirty="0"/>
              <a:t>in this domain.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Genome assembly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Genome assembly: </a:t>
            </a:r>
            <a:r>
              <a:rPr lang="zh-TW" altLang="en-US" dirty="0" smtClean="0"/>
              <a:t>將</a:t>
            </a:r>
            <a:r>
              <a:rPr lang="zh-TW" altLang="en-US" dirty="0"/>
              <a:t>數</a:t>
            </a:r>
            <a:r>
              <a:rPr lang="zh-TW" altLang="en-US" dirty="0" smtClean="0"/>
              <a:t>個</a:t>
            </a:r>
            <a:r>
              <a:rPr lang="en-US" altLang="zh-TW" dirty="0" smtClean="0"/>
              <a:t>DNA</a:t>
            </a:r>
            <a:r>
              <a:rPr lang="zh-TW" altLang="en-US" dirty="0" smtClean="0"/>
              <a:t> </a:t>
            </a:r>
            <a:r>
              <a:rPr lang="en-US" altLang="zh-TW" dirty="0" smtClean="0"/>
              <a:t>segments</a:t>
            </a:r>
            <a:r>
              <a:rPr lang="zh-TW" altLang="en-US" dirty="0" smtClean="0"/>
              <a:t>重新</a:t>
            </a:r>
            <a:r>
              <a:rPr lang="zh-TW" altLang="en-US" dirty="0"/>
              <a:t>組合</a:t>
            </a:r>
            <a:r>
              <a:rPr lang="zh-TW" altLang="en-US" dirty="0" smtClean="0"/>
              <a:t>回原本的</a:t>
            </a:r>
            <a:r>
              <a:rPr lang="en-US" altLang="zh-TW" dirty="0" smtClean="0"/>
              <a:t>genome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827584" y="2924944"/>
            <a:ext cx="7848872" cy="584775"/>
            <a:chOff x="827584" y="2924944"/>
            <a:chExt cx="7848872" cy="584775"/>
          </a:xfrm>
        </p:grpSpPr>
        <p:cxnSp>
          <p:nvCxnSpPr>
            <p:cNvPr id="8" name="直線接點 7"/>
            <p:cNvCxnSpPr/>
            <p:nvPr/>
          </p:nvCxnSpPr>
          <p:spPr>
            <a:xfrm>
              <a:off x="827584" y="3501008"/>
              <a:ext cx="78488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3779912" y="2924944"/>
              <a:ext cx="15121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200" dirty="0" smtClean="0"/>
                <a:t>Original</a:t>
              </a:r>
              <a:endParaRPr lang="zh-TW" altLang="en-US" sz="3200" dirty="0"/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827584" y="3852337"/>
            <a:ext cx="2088232" cy="584775"/>
            <a:chOff x="827584" y="3852337"/>
            <a:chExt cx="2088232" cy="584775"/>
          </a:xfrm>
        </p:grpSpPr>
        <p:cxnSp>
          <p:nvCxnSpPr>
            <p:cNvPr id="13" name="直線接點 12"/>
            <p:cNvCxnSpPr/>
            <p:nvPr/>
          </p:nvCxnSpPr>
          <p:spPr>
            <a:xfrm>
              <a:off x="827584" y="3933056"/>
              <a:ext cx="208823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115616" y="3852337"/>
              <a:ext cx="15121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 smtClean="0">
                  <a:solidFill>
                    <a:srgbClr val="C00000"/>
                  </a:solidFill>
                </a:rPr>
                <a:t>A</a:t>
              </a:r>
              <a:endParaRPr lang="zh-TW" altLang="en-US" sz="32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123728" y="3996353"/>
            <a:ext cx="3168352" cy="584775"/>
            <a:chOff x="2123728" y="3996353"/>
            <a:chExt cx="3168352" cy="584775"/>
          </a:xfrm>
        </p:grpSpPr>
        <p:cxnSp>
          <p:nvCxnSpPr>
            <p:cNvPr id="20" name="直線接點 19"/>
            <p:cNvCxnSpPr/>
            <p:nvPr/>
          </p:nvCxnSpPr>
          <p:spPr>
            <a:xfrm>
              <a:off x="2123728" y="4077072"/>
              <a:ext cx="31683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3059832" y="3996353"/>
              <a:ext cx="15121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 smtClean="0">
                  <a:solidFill>
                    <a:srgbClr val="0070C0"/>
                  </a:solidFill>
                </a:rPr>
                <a:t>B</a:t>
              </a:r>
              <a:endParaRPr lang="zh-TW" altLang="en-US" sz="32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5076056" y="3856189"/>
            <a:ext cx="1512168" cy="584775"/>
            <a:chOff x="5076056" y="3856189"/>
            <a:chExt cx="1512168" cy="584775"/>
          </a:xfrm>
        </p:grpSpPr>
        <p:cxnSp>
          <p:nvCxnSpPr>
            <p:cNvPr id="25" name="直線接點 24"/>
            <p:cNvCxnSpPr/>
            <p:nvPr/>
          </p:nvCxnSpPr>
          <p:spPr>
            <a:xfrm>
              <a:off x="5076056" y="3936908"/>
              <a:ext cx="1440160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5076056" y="3856189"/>
              <a:ext cx="15121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 smtClean="0">
                  <a:solidFill>
                    <a:schemeClr val="accent6">
                      <a:lumMod val="75000"/>
                    </a:schemeClr>
                  </a:solidFill>
                </a:rPr>
                <a:t>C</a:t>
              </a:r>
              <a:endParaRPr lang="zh-TW" altLang="en-US" sz="32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6012160" y="3996353"/>
            <a:ext cx="2664296" cy="584775"/>
            <a:chOff x="6012160" y="3996353"/>
            <a:chExt cx="2664296" cy="584775"/>
          </a:xfrm>
        </p:grpSpPr>
        <p:cxnSp>
          <p:nvCxnSpPr>
            <p:cNvPr id="30" name="直線接點 29"/>
            <p:cNvCxnSpPr/>
            <p:nvPr/>
          </p:nvCxnSpPr>
          <p:spPr>
            <a:xfrm>
              <a:off x="6012160" y="4077072"/>
              <a:ext cx="2664296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6588224" y="3996353"/>
              <a:ext cx="15121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 smtClean="0">
                  <a:solidFill>
                    <a:srgbClr val="7030A0"/>
                  </a:solidFill>
                </a:rPr>
                <a:t>D</a:t>
              </a:r>
              <a:endParaRPr lang="zh-TW" altLang="en-US" sz="3200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03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Greedy (1/3)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Greedy: </a:t>
            </a:r>
            <a:r>
              <a:rPr lang="en-US" altLang="zh-TW" dirty="0" smtClean="0"/>
              <a:t>Individual reads </a:t>
            </a:r>
            <a:r>
              <a:rPr lang="en-US" altLang="zh-TW" dirty="0"/>
              <a:t>are joined together into </a:t>
            </a:r>
            <a:r>
              <a:rPr lang="en-US" altLang="zh-TW" dirty="0" err="1"/>
              <a:t>contigs</a:t>
            </a:r>
            <a:r>
              <a:rPr lang="en-US" altLang="zh-TW" dirty="0"/>
              <a:t> in an </a:t>
            </a:r>
            <a:r>
              <a:rPr lang="en-US" altLang="zh-TW" dirty="0" smtClean="0"/>
              <a:t>iterative fashion</a:t>
            </a:r>
            <a:r>
              <a:rPr lang="en-US" altLang="zh-TW" dirty="0"/>
              <a:t>, starting with the reads that overlap best, </a:t>
            </a:r>
            <a:r>
              <a:rPr lang="en-US" altLang="zh-TW" dirty="0" smtClean="0"/>
              <a:t>and ending </a:t>
            </a:r>
            <a:r>
              <a:rPr lang="en-US" altLang="zh-TW" dirty="0"/>
              <a:t>once no more reads or </a:t>
            </a:r>
            <a:r>
              <a:rPr lang="en-US" altLang="zh-TW" dirty="0" err="1"/>
              <a:t>contigs</a:t>
            </a:r>
            <a:r>
              <a:rPr lang="en-US" altLang="zh-TW" dirty="0"/>
              <a:t> can </a:t>
            </a:r>
            <a:r>
              <a:rPr lang="en-US" altLang="zh-TW" dirty="0" smtClean="0"/>
              <a:t>be joined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3904456"/>
            <a:ext cx="56959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277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Greedy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03" y="1896492"/>
            <a:ext cx="8551069" cy="3764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3099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574624"/>
            <a:ext cx="5052060" cy="195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Greedy </a:t>
            </a:r>
            <a:r>
              <a:rPr lang="en-US" altLang="zh-TW" b="1" dirty="0" smtClean="0"/>
              <a:t>(3/3)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Variant: An unassembled read is chosen </a:t>
            </a:r>
            <a:r>
              <a:rPr lang="en-US" altLang="zh-TW" dirty="0" smtClean="0"/>
              <a:t>to start </a:t>
            </a:r>
            <a:r>
              <a:rPr lang="en-US" altLang="zh-TW" dirty="0"/>
              <a:t>a </a:t>
            </a:r>
            <a:r>
              <a:rPr lang="en-US" altLang="zh-TW" dirty="0" err="1"/>
              <a:t>contig</a:t>
            </a:r>
            <a:r>
              <a:rPr lang="en-US" altLang="zh-TW" dirty="0"/>
              <a:t>, which is then repeatedly </a:t>
            </a:r>
            <a:r>
              <a:rPr lang="en-US" altLang="zh-TW" dirty="0" smtClean="0"/>
              <a:t>extended by </a:t>
            </a:r>
            <a:r>
              <a:rPr lang="en-US" altLang="zh-TW" dirty="0"/>
              <a:t>identifying reads that overlap the </a:t>
            </a:r>
            <a:r>
              <a:rPr lang="en-US" altLang="zh-TW" dirty="0" err="1"/>
              <a:t>contig</a:t>
            </a:r>
            <a:r>
              <a:rPr lang="en-US" altLang="zh-TW" dirty="0"/>
              <a:t> on </a:t>
            </a:r>
            <a:r>
              <a:rPr lang="en-US" altLang="zh-TW" dirty="0" smtClean="0"/>
              <a:t>its 3’ </a:t>
            </a:r>
            <a:r>
              <a:rPr lang="en-US" altLang="zh-TW" dirty="0"/>
              <a:t>end until no more extensions are possible. </a:t>
            </a:r>
            <a:r>
              <a:rPr lang="en-US" altLang="zh-TW" dirty="0" smtClean="0"/>
              <a:t>The process </a:t>
            </a:r>
            <a:r>
              <a:rPr lang="en-US" altLang="zh-TW" dirty="0"/>
              <a:t>is repeated in the </a:t>
            </a:r>
            <a:r>
              <a:rPr lang="en-US" altLang="zh-TW" dirty="0" smtClean="0"/>
              <a:t>5’ </a:t>
            </a:r>
            <a:r>
              <a:rPr lang="en-US" altLang="zh-TW" dirty="0"/>
              <a:t>direction </a:t>
            </a:r>
            <a:r>
              <a:rPr lang="en-US" altLang="zh-TW" dirty="0" smtClean="0"/>
              <a:t>using the </a:t>
            </a:r>
            <a:r>
              <a:rPr lang="en-US" altLang="zh-TW" dirty="0"/>
              <a:t>reverse complement of the </a:t>
            </a:r>
            <a:r>
              <a:rPr lang="en-US" altLang="zh-TW" dirty="0" err="1"/>
              <a:t>contig</a:t>
            </a:r>
            <a:r>
              <a:rPr lang="en-US" altLang="zh-TW" dirty="0"/>
              <a:t> sequence.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337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Overlap-layout-consensus (OLC</a:t>
            </a:r>
            <a:r>
              <a:rPr lang="en-US" altLang="zh-TW" b="1" dirty="0" smtClean="0"/>
              <a:t>) (1/2)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The </a:t>
            </a:r>
            <a:r>
              <a:rPr lang="en-US" altLang="zh-TW" dirty="0"/>
              <a:t>reads are compared to </a:t>
            </a:r>
            <a:r>
              <a:rPr lang="en-US" altLang="zh-TW" dirty="0" smtClean="0"/>
              <a:t>each other </a:t>
            </a:r>
            <a:r>
              <a:rPr lang="en-US" altLang="zh-TW" dirty="0"/>
              <a:t>to construct a list of pair-wise overlaps</a:t>
            </a:r>
            <a:r>
              <a:rPr lang="en-US" altLang="zh-TW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Construct </a:t>
            </a:r>
            <a:r>
              <a:rPr lang="en-US" altLang="zh-TW" dirty="0"/>
              <a:t>an </a:t>
            </a:r>
            <a:r>
              <a:rPr lang="en-US" altLang="zh-TW" dirty="0" smtClean="0"/>
              <a:t>overlap graph: a </a:t>
            </a:r>
            <a:r>
              <a:rPr lang="en-US" altLang="zh-TW" dirty="0"/>
              <a:t>graph containing each read as a </a:t>
            </a:r>
            <a:r>
              <a:rPr lang="en-US" altLang="zh-TW" dirty="0" smtClean="0"/>
              <a:t>node, and </a:t>
            </a:r>
            <a:r>
              <a:rPr lang="en-US" altLang="zh-TW" dirty="0"/>
              <a:t>an edge connects two nodes if an overlap </a:t>
            </a:r>
            <a:r>
              <a:rPr lang="en-US" altLang="zh-TW" dirty="0" smtClean="0"/>
              <a:t>was identified </a:t>
            </a:r>
            <a:r>
              <a:rPr lang="en-US" altLang="zh-TW" dirty="0"/>
              <a:t>between the corresponding </a:t>
            </a:r>
            <a:r>
              <a:rPr lang="en-US" altLang="zh-TW" dirty="0" smtClean="0"/>
              <a:t>reads.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Find a </a:t>
            </a:r>
            <a:r>
              <a:rPr lang="en-US" altLang="zh-TW" dirty="0"/>
              <a:t>single path that </a:t>
            </a:r>
            <a:r>
              <a:rPr lang="en-US" altLang="zh-TW" dirty="0" smtClean="0"/>
              <a:t>traverses each </a:t>
            </a:r>
            <a:r>
              <a:rPr lang="en-US" altLang="zh-TW" dirty="0"/>
              <a:t>node in the overlap graph exactly </a:t>
            </a:r>
            <a:r>
              <a:rPr lang="en-US" altLang="zh-TW" dirty="0" smtClean="0"/>
              <a:t>once. (</a:t>
            </a:r>
            <a:r>
              <a:rPr lang="en-US" altLang="zh-TW" dirty="0"/>
              <a:t>Hamiltonian path</a:t>
            </a:r>
            <a:r>
              <a:rPr lang="en-US" altLang="zh-TW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Determining the </a:t>
            </a:r>
            <a:r>
              <a:rPr lang="en-US" altLang="zh-TW" dirty="0"/>
              <a:t>DNA sequence that is implied by the </a:t>
            </a:r>
            <a:r>
              <a:rPr lang="en-US" altLang="zh-TW" dirty="0" smtClean="0"/>
              <a:t>arrangement of </a:t>
            </a:r>
            <a:r>
              <a:rPr lang="en-US" altLang="zh-TW" dirty="0"/>
              <a:t>reads along the chosen path through </a:t>
            </a:r>
            <a:r>
              <a:rPr lang="en-US" altLang="zh-TW" dirty="0" smtClean="0"/>
              <a:t>the graph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1324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Overlap-layout-consensus (OLC</a:t>
            </a:r>
            <a:r>
              <a:rPr lang="en-US" altLang="zh-TW" b="1" dirty="0" smtClean="0"/>
              <a:t>) (2/2)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755576" y="5157192"/>
            <a:ext cx="7410926" cy="1631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群組 19"/>
          <p:cNvGrpSpPr>
            <a:grpSpLocks noChangeAspect="1"/>
          </p:cNvGrpSpPr>
          <p:nvPr/>
        </p:nvGrpSpPr>
        <p:grpSpPr>
          <a:xfrm>
            <a:off x="2411760" y="1405325"/>
            <a:ext cx="4104456" cy="3679859"/>
            <a:chOff x="2267744" y="2060848"/>
            <a:chExt cx="4176464" cy="3744416"/>
          </a:xfrm>
        </p:grpSpPr>
        <p:sp>
          <p:nvSpPr>
            <p:cNvPr id="6" name="橢圓 5"/>
            <p:cNvSpPr/>
            <p:nvPr/>
          </p:nvSpPr>
          <p:spPr>
            <a:xfrm>
              <a:off x="2267744" y="2060848"/>
              <a:ext cx="1008112" cy="100811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 smtClean="0">
                  <a:solidFill>
                    <a:schemeClr val="tx1"/>
                  </a:solidFill>
                </a:rPr>
                <a:t>A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/>
            <p:cNvSpPr/>
            <p:nvPr/>
          </p:nvSpPr>
          <p:spPr>
            <a:xfrm>
              <a:off x="2267744" y="4797152"/>
              <a:ext cx="1008112" cy="100811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 smtClean="0">
                  <a:solidFill>
                    <a:schemeClr val="tx1"/>
                  </a:solidFill>
                </a:rPr>
                <a:t>B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/>
            <p:cNvSpPr/>
            <p:nvPr/>
          </p:nvSpPr>
          <p:spPr>
            <a:xfrm>
              <a:off x="5436096" y="2060848"/>
              <a:ext cx="1008112" cy="100811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 smtClean="0">
                  <a:solidFill>
                    <a:schemeClr val="tx1"/>
                  </a:solidFill>
                </a:rPr>
                <a:t>D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/>
            <p:cNvSpPr/>
            <p:nvPr/>
          </p:nvSpPr>
          <p:spPr>
            <a:xfrm>
              <a:off x="5436096" y="4797152"/>
              <a:ext cx="1008112" cy="100811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 smtClean="0">
                  <a:solidFill>
                    <a:schemeClr val="tx1"/>
                  </a:solidFill>
                </a:rPr>
                <a:t>C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線接點 10"/>
            <p:cNvCxnSpPr>
              <a:stCxn id="6" idx="6"/>
              <a:endCxn id="8" idx="2"/>
            </p:cNvCxnSpPr>
            <p:nvPr/>
          </p:nvCxnSpPr>
          <p:spPr>
            <a:xfrm>
              <a:off x="3275856" y="2564904"/>
              <a:ext cx="21602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>
              <a:stCxn id="7" idx="6"/>
              <a:endCxn id="9" idx="2"/>
            </p:cNvCxnSpPr>
            <p:nvPr/>
          </p:nvCxnSpPr>
          <p:spPr>
            <a:xfrm>
              <a:off x="3275856" y="5301208"/>
              <a:ext cx="21602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stCxn id="6" idx="4"/>
              <a:endCxn id="7" idx="0"/>
            </p:cNvCxnSpPr>
            <p:nvPr/>
          </p:nvCxnSpPr>
          <p:spPr>
            <a:xfrm>
              <a:off x="2771800" y="3068960"/>
              <a:ext cx="0" cy="17281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8" idx="4"/>
              <a:endCxn id="9" idx="0"/>
            </p:cNvCxnSpPr>
            <p:nvPr/>
          </p:nvCxnSpPr>
          <p:spPr>
            <a:xfrm>
              <a:off x="5940152" y="3068960"/>
              <a:ext cx="0" cy="17281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4204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OLC V.S Greedy</a:t>
            </a:r>
            <a:endParaRPr lang="zh-TW" altLang="en-US" b="1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OLC: ABCBD</a:t>
            </a:r>
          </a:p>
          <a:p>
            <a:r>
              <a:rPr lang="en-US" altLang="zh-TW" dirty="0" smtClean="0"/>
              <a:t>Greedy: (ABC, D) or (ABD, C) or …..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90" y="2919566"/>
            <a:ext cx="8781098" cy="3173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827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Eulerian</a:t>
            </a:r>
            <a:r>
              <a:rPr lang="en-US" altLang="zh-TW" b="1" dirty="0"/>
              <a:t> </a:t>
            </a:r>
            <a:r>
              <a:rPr lang="en-US" altLang="zh-TW" b="1" dirty="0" smtClean="0"/>
              <a:t>path (1/3)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Get </a:t>
                </a:r>
                <a:r>
                  <a:rPr lang="en-US" altLang="zh-TW" dirty="0"/>
                  <a:t>the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en-US" altLang="zh-TW" dirty="0" err="1"/>
                  <a:t>mer</a:t>
                </a:r>
                <a:r>
                  <a:rPr lang="en-US" altLang="zh-TW" dirty="0"/>
                  <a:t> spectrum: a list of </a:t>
                </a:r>
                <a:r>
                  <a:rPr lang="en-US" altLang="zh-TW" dirty="0" smtClean="0"/>
                  <a:t>all oligomers </a:t>
                </a:r>
                <a:r>
                  <a:rPr lang="en-US" altLang="zh-TW" dirty="0"/>
                  <a:t>of a given length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 present in </a:t>
                </a:r>
                <a:r>
                  <a:rPr lang="en-US" altLang="zh-TW" dirty="0" smtClean="0"/>
                  <a:t>the genome.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926" t="-20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140968"/>
            <a:ext cx="7255830" cy="359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76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Eulerian</a:t>
            </a:r>
            <a:r>
              <a:rPr lang="en-US" altLang="zh-TW" b="1" dirty="0"/>
              <a:t> path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zh-TW" dirty="0" smtClean="0"/>
                  <a:t>Construct </a:t>
                </a:r>
                <a:r>
                  <a:rPr lang="en-US" altLang="zh-TW" dirty="0"/>
                  <a:t>a </a:t>
                </a:r>
                <a:r>
                  <a:rPr lang="en-US" altLang="zh-TW" dirty="0" err="1" smtClean="0"/>
                  <a:t>deBruijn</a:t>
                </a:r>
                <a:r>
                  <a:rPr lang="en-US" altLang="zh-TW" dirty="0" smtClean="0"/>
                  <a:t> graph</a:t>
                </a:r>
                <a:r>
                  <a:rPr lang="en-US" altLang="zh-TW" dirty="0"/>
                  <a:t>: a graph </a:t>
                </a:r>
                <a:r>
                  <a:rPr lang="en-US" altLang="zh-TW" dirty="0" err="1" smtClean="0"/>
                  <a:t>ontaining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as nodes the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length prefixes and suffixes of the original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en-US" altLang="zh-TW" dirty="0" err="1" smtClean="0"/>
                  <a:t>mers</a:t>
                </a:r>
                <a:r>
                  <a:rPr lang="en-US" altLang="zh-TW" dirty="0" smtClean="0"/>
                  <a:t>, two </a:t>
                </a:r>
                <a:r>
                  <a:rPr lang="en-US" altLang="zh-TW" dirty="0"/>
                  <a:t>nodes being linked by an edge if the </a:t>
                </a:r>
                <a:r>
                  <a:rPr lang="en-US" altLang="zh-TW" dirty="0" smtClean="0"/>
                  <a:t>adjacent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dirty="0"/>
                  <a:t> -mers have an exact overlap of length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altLang="zh-TW" dirty="0" smtClean="0"/>
                  <a:t>.</a:t>
                </a:r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926" t="-2156" r="-1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b="6395"/>
          <a:stretch/>
        </p:blipFill>
        <p:spPr>
          <a:xfrm>
            <a:off x="107504" y="4149080"/>
            <a:ext cx="8891949" cy="227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17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Eulerian</a:t>
            </a:r>
            <a:r>
              <a:rPr lang="en-US" altLang="zh-TW" b="1" dirty="0"/>
              <a:t> path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zh-TW" dirty="0"/>
              <a:t>F</a:t>
            </a:r>
            <a:r>
              <a:rPr lang="en-US" altLang="zh-TW" dirty="0" smtClean="0"/>
              <a:t>inding </a:t>
            </a:r>
            <a:r>
              <a:rPr lang="en-US" altLang="zh-TW" dirty="0"/>
              <a:t>a path through </a:t>
            </a:r>
            <a:r>
              <a:rPr lang="en-US" altLang="zh-TW" dirty="0" smtClean="0"/>
              <a:t>this graph </a:t>
            </a:r>
            <a:r>
              <a:rPr lang="en-US" altLang="zh-TW" dirty="0"/>
              <a:t>that uses every edge in the </a:t>
            </a:r>
            <a:r>
              <a:rPr lang="en-US" altLang="zh-TW" dirty="0" smtClean="0"/>
              <a:t>graph. (</a:t>
            </a:r>
            <a:r>
              <a:rPr lang="en-US" altLang="zh-TW" dirty="0" err="1" smtClean="0"/>
              <a:t>Eulerian</a:t>
            </a:r>
            <a:r>
              <a:rPr lang="en-US" altLang="zh-TW" dirty="0" smtClean="0"/>
              <a:t> path)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645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Eulerian</a:t>
            </a:r>
            <a:r>
              <a:rPr lang="en-US" altLang="zh-TW" b="1" dirty="0"/>
              <a:t> </a:t>
            </a:r>
            <a:r>
              <a:rPr lang="en-US" altLang="zh-TW" b="1" dirty="0" smtClean="0"/>
              <a:t>path V.S OLC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Advantage: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/>
              <a:t>OLC</a:t>
            </a:r>
            <a:r>
              <a:rPr lang="zh-TW" altLang="en-US" dirty="0" smtClean="0"/>
              <a:t>不會記住</a:t>
            </a:r>
            <a:r>
              <a:rPr lang="en-US" altLang="zh-TW" dirty="0" smtClean="0"/>
              <a:t>overlaps</a:t>
            </a:r>
            <a:r>
              <a:rPr lang="zh-TW" altLang="en-US" dirty="0" smtClean="0"/>
              <a:t>的大小而</a:t>
            </a:r>
            <a:r>
              <a:rPr lang="en-US" altLang="zh-TW" dirty="0" err="1" smtClean="0"/>
              <a:t>Eulerian</a:t>
            </a:r>
            <a:r>
              <a:rPr lang="en-US" altLang="zh-TW" dirty="0" smtClean="0"/>
              <a:t> path</a:t>
            </a:r>
            <a:r>
              <a:rPr lang="zh-TW" altLang="en-US" dirty="0" smtClean="0"/>
              <a:t>會</a:t>
            </a:r>
            <a:endParaRPr lang="en-US" altLang="zh-TW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err="1" smtClean="0"/>
              <a:t>Eulerian</a:t>
            </a:r>
            <a:r>
              <a:rPr lang="en-US" altLang="zh-TW" dirty="0" smtClean="0"/>
              <a:t> path</a:t>
            </a:r>
            <a:r>
              <a:rPr lang="zh-TW" altLang="en-US" dirty="0" smtClean="0"/>
              <a:t>比</a:t>
            </a:r>
            <a:r>
              <a:rPr lang="en-US" altLang="zh-TW" dirty="0"/>
              <a:t>Hamiltonian </a:t>
            </a:r>
            <a:r>
              <a:rPr lang="en-US" altLang="zh-TW" dirty="0" smtClean="0"/>
              <a:t>path</a:t>
            </a:r>
            <a:r>
              <a:rPr lang="zh-TW" altLang="en-US" dirty="0" smtClean="0"/>
              <a:t>好解</a:t>
            </a:r>
            <a:endParaRPr lang="en-US" altLang="zh-TW" dirty="0" smtClean="0"/>
          </a:p>
          <a:p>
            <a:r>
              <a:rPr lang="en-US" altLang="zh-TW" dirty="0" smtClean="0"/>
              <a:t>Disadvantage: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err="1" smtClean="0"/>
              <a:t>Eulerian</a:t>
            </a:r>
            <a:r>
              <a:rPr lang="en-US" altLang="zh-TW" dirty="0" smtClean="0"/>
              <a:t> path</a:t>
            </a:r>
            <a:r>
              <a:rPr lang="zh-TW" altLang="en-US" dirty="0" smtClean="0"/>
              <a:t>求出來的解不一定唯一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1816" r="683"/>
          <a:stretch/>
        </p:blipFill>
        <p:spPr>
          <a:xfrm>
            <a:off x="1072430" y="4293096"/>
            <a:ext cx="6811938" cy="243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85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558</Words>
  <Application>Microsoft Office PowerPoint</Application>
  <PresentationFormat>如螢幕大小 (4:3)</PresentationFormat>
  <Paragraphs>58</Paragraphs>
  <Slides>13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Genome assembly reborn: recent computational challenges</vt:lpstr>
      <vt:lpstr>Abstract</vt:lpstr>
      <vt:lpstr>Genome assembly</vt:lpstr>
      <vt:lpstr>Greedy (1/3)</vt:lpstr>
      <vt:lpstr>Greedy (2/3)</vt:lpstr>
      <vt:lpstr>Greedy (3/3)</vt:lpstr>
      <vt:lpstr>Overlap-layout-consensus (OLC) (1/2)</vt:lpstr>
      <vt:lpstr>Overlap-layout-consensus (OLC) (2/2)</vt:lpstr>
      <vt:lpstr>OLC V.S Greedy</vt:lpstr>
      <vt:lpstr>Eulerian path (1/3)</vt:lpstr>
      <vt:lpstr>Eulerian path (2/3)</vt:lpstr>
      <vt:lpstr>Eulerian path (3/3)</vt:lpstr>
      <vt:lpstr>Eulerian path V.S OLC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473</cp:revision>
  <dcterms:created xsi:type="dcterms:W3CDTF">2012-09-09T09:37:21Z</dcterms:created>
  <dcterms:modified xsi:type="dcterms:W3CDTF">2013-05-07T06:49:14Z</dcterms:modified>
</cp:coreProperties>
</file>