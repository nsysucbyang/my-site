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2" r:id="rId6"/>
    <p:sldId id="264" r:id="rId7"/>
    <p:sldId id="265" r:id="rId8"/>
    <p:sldId id="260" r:id="rId9"/>
    <p:sldId id="266" r:id="rId10"/>
    <p:sldId id="268" r:id="rId11"/>
    <p:sldId id="267" r:id="rId12"/>
    <p:sldId id="269" r:id="rId13"/>
    <p:sldId id="270" r:id="rId14"/>
    <p:sldId id="271" r:id="rId15"/>
    <p:sldId id="272" r:id="rId16"/>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432" autoAdjust="0"/>
  </p:normalViewPr>
  <p:slideViewPr>
    <p:cSldViewPr>
      <p:cViewPr varScale="1">
        <p:scale>
          <a:sx n="100" d="100"/>
          <a:sy n="100" d="100"/>
        </p:scale>
        <p:origin x="-294"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00F87F7-8FDB-4371-AA63-07A2C0A134A5}" type="datetimeFigureOut">
              <a:rPr lang="zh-TW" altLang="en-US" smtClean="0"/>
              <a:t>2013/5/7</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74D4C25-E493-4225-8139-B0A7160F6E36}" type="slidenum">
              <a:rPr lang="zh-TW" altLang="en-US" smtClean="0"/>
              <a:t>‹#›</a:t>
            </a:fld>
            <a:endParaRPr lang="zh-TW" altLang="en-US"/>
          </a:p>
        </p:txBody>
      </p:sp>
    </p:spTree>
    <p:extLst>
      <p:ext uri="{BB962C8B-B14F-4D97-AF65-F5344CB8AC3E}">
        <p14:creationId xmlns:p14="http://schemas.microsoft.com/office/powerpoint/2010/main" val="1973007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http://www.454.com/</a:t>
            </a:r>
          </a:p>
        </p:txBody>
      </p:sp>
      <p:sp>
        <p:nvSpPr>
          <p:cNvPr id="4" name="投影片編號版面配置區 3"/>
          <p:cNvSpPr>
            <a:spLocks noGrp="1"/>
          </p:cNvSpPr>
          <p:nvPr>
            <p:ph type="sldNum" sz="quarter" idx="10"/>
          </p:nvPr>
        </p:nvSpPr>
        <p:spPr/>
        <p:txBody>
          <a:bodyPr/>
          <a:lstStyle/>
          <a:p>
            <a:fld id="{C74D4C25-E493-4225-8139-B0A7160F6E36}" type="slidenum">
              <a:rPr lang="zh-TW" altLang="en-US" smtClean="0"/>
              <a:t>4</a:t>
            </a:fld>
            <a:endParaRPr lang="zh-TW" altLang="en-US"/>
          </a:p>
        </p:txBody>
      </p:sp>
    </p:spTree>
    <p:extLst>
      <p:ext uri="{BB962C8B-B14F-4D97-AF65-F5344CB8AC3E}">
        <p14:creationId xmlns:p14="http://schemas.microsoft.com/office/powerpoint/2010/main" val="248632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pairwise overlap detection;</a:t>
            </a:r>
          </a:p>
          <a:p>
            <a:r>
              <a:rPr lang="en-US" altLang="zh-TW" dirty="0" smtClean="0"/>
              <a:t>initial ungapped multiple sequence alignments called </a:t>
            </a:r>
            <a:r>
              <a:rPr lang="en-US" altLang="zh-TW" b="1" dirty="0" smtClean="0"/>
              <a:t>unitigs</a:t>
            </a:r>
            <a:r>
              <a:rPr lang="en-US" altLang="zh-TW" dirty="0" smtClean="0"/>
              <a:t>;</a:t>
            </a:r>
          </a:p>
          <a:p>
            <a:r>
              <a:rPr lang="en-US" altLang="zh-TW" dirty="0" smtClean="0"/>
              <a:t>unitig consensus calculation;</a:t>
            </a:r>
          </a:p>
          <a:p>
            <a:r>
              <a:rPr lang="en-US" altLang="zh-TW" dirty="0" smtClean="0"/>
              <a:t>combination of unitigs with mate constraints to form </a:t>
            </a:r>
            <a:r>
              <a:rPr lang="en-US" altLang="zh-TW" b="1" dirty="0" smtClean="0"/>
              <a:t>contigs</a:t>
            </a:r>
            <a:r>
              <a:rPr lang="en-US" altLang="zh-TW" dirty="0" smtClean="0"/>
              <a:t> and </a:t>
            </a:r>
            <a:r>
              <a:rPr lang="en-US" altLang="zh-TW" b="1" dirty="0" smtClean="0"/>
              <a:t>scaffolds</a:t>
            </a:r>
            <a:r>
              <a:rPr lang="en-US" altLang="zh-TW" dirty="0" smtClean="0"/>
              <a:t>, which are ungapped and gapped multiple sequence alignments, respectively;</a:t>
            </a:r>
          </a:p>
          <a:p>
            <a:r>
              <a:rPr lang="en-US" altLang="zh-TW" dirty="0" smtClean="0"/>
              <a:t>and finally, scaffold consensus determination.</a:t>
            </a:r>
            <a:endParaRPr lang="zh-TW" altLang="en-US" dirty="0"/>
          </a:p>
        </p:txBody>
      </p:sp>
      <p:sp>
        <p:nvSpPr>
          <p:cNvPr id="4" name="投影片編號版面配置區 3"/>
          <p:cNvSpPr>
            <a:spLocks noGrp="1"/>
          </p:cNvSpPr>
          <p:nvPr>
            <p:ph type="sldNum" sz="quarter" idx="10"/>
          </p:nvPr>
        </p:nvSpPr>
        <p:spPr/>
        <p:txBody>
          <a:bodyPr/>
          <a:lstStyle/>
          <a:p>
            <a:fld id="{C74D4C25-E493-4225-8139-B0A7160F6E36}" type="slidenum">
              <a:rPr lang="zh-TW" altLang="en-US" smtClean="0"/>
              <a:t>6</a:t>
            </a:fld>
            <a:endParaRPr lang="zh-TW" altLang="en-US"/>
          </a:p>
        </p:txBody>
      </p:sp>
    </p:spTree>
    <p:extLst>
      <p:ext uri="{BB962C8B-B14F-4D97-AF65-F5344CB8AC3E}">
        <p14:creationId xmlns:p14="http://schemas.microsoft.com/office/powerpoint/2010/main" val="2773166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C74D4C25-E493-4225-8139-B0A7160F6E36}" type="slidenum">
              <a:rPr lang="zh-TW" altLang="en-US" smtClean="0"/>
              <a:t>9</a:t>
            </a:fld>
            <a:endParaRPr lang="zh-TW" altLang="en-US"/>
          </a:p>
        </p:txBody>
      </p:sp>
    </p:spTree>
    <p:extLst>
      <p:ext uri="{BB962C8B-B14F-4D97-AF65-F5344CB8AC3E}">
        <p14:creationId xmlns:p14="http://schemas.microsoft.com/office/powerpoint/2010/main" val="33828679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B984B0E2-9BAE-450E-A6AB-B324EAE7B8CA}" type="datetimeFigureOut">
              <a:rPr lang="zh-TW" altLang="en-US" smtClean="0"/>
              <a:t>2013/5/7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91A3C64C-464B-44CA-9660-823CD8548E34}" type="slidenum">
              <a:rPr lang="zh-TW" altLang="en-US" smtClean="0"/>
              <a:t>‹#›</a:t>
            </a:fld>
            <a:endParaRPr lang="zh-TW" altLang="en-US"/>
          </a:p>
        </p:txBody>
      </p:sp>
    </p:spTree>
    <p:extLst>
      <p:ext uri="{BB962C8B-B14F-4D97-AF65-F5344CB8AC3E}">
        <p14:creationId xmlns:p14="http://schemas.microsoft.com/office/powerpoint/2010/main" val="2169874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B984B0E2-9BAE-450E-A6AB-B324EAE7B8CA}" type="datetimeFigureOut">
              <a:rPr lang="zh-TW" altLang="en-US" smtClean="0"/>
              <a:t>2013/5/7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91A3C64C-464B-44CA-9660-823CD8548E34}" type="slidenum">
              <a:rPr lang="zh-TW" altLang="en-US" smtClean="0"/>
              <a:t>‹#›</a:t>
            </a:fld>
            <a:endParaRPr lang="zh-TW" altLang="en-US"/>
          </a:p>
        </p:txBody>
      </p:sp>
    </p:spTree>
    <p:extLst>
      <p:ext uri="{BB962C8B-B14F-4D97-AF65-F5344CB8AC3E}">
        <p14:creationId xmlns:p14="http://schemas.microsoft.com/office/powerpoint/2010/main" val="337720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B984B0E2-9BAE-450E-A6AB-B324EAE7B8CA}" type="datetimeFigureOut">
              <a:rPr lang="zh-TW" altLang="en-US" smtClean="0"/>
              <a:t>2013/5/7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91A3C64C-464B-44CA-9660-823CD8548E34}" type="slidenum">
              <a:rPr lang="zh-TW" altLang="en-US" smtClean="0"/>
              <a:t>‹#›</a:t>
            </a:fld>
            <a:endParaRPr lang="zh-TW" altLang="en-US"/>
          </a:p>
        </p:txBody>
      </p:sp>
    </p:spTree>
    <p:extLst>
      <p:ext uri="{BB962C8B-B14F-4D97-AF65-F5344CB8AC3E}">
        <p14:creationId xmlns:p14="http://schemas.microsoft.com/office/powerpoint/2010/main" val="892133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B984B0E2-9BAE-450E-A6AB-B324EAE7B8CA}" type="datetimeFigureOut">
              <a:rPr lang="zh-TW" altLang="en-US" smtClean="0"/>
              <a:t>2013/5/7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91A3C64C-464B-44CA-9660-823CD8548E34}" type="slidenum">
              <a:rPr lang="zh-TW" altLang="en-US" smtClean="0"/>
              <a:t>‹#›</a:t>
            </a:fld>
            <a:endParaRPr lang="zh-TW" altLang="en-US"/>
          </a:p>
        </p:txBody>
      </p:sp>
    </p:spTree>
    <p:extLst>
      <p:ext uri="{BB962C8B-B14F-4D97-AF65-F5344CB8AC3E}">
        <p14:creationId xmlns:p14="http://schemas.microsoft.com/office/powerpoint/2010/main" val="1771709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B984B0E2-9BAE-450E-A6AB-B324EAE7B8CA}" type="datetimeFigureOut">
              <a:rPr lang="zh-TW" altLang="en-US" smtClean="0"/>
              <a:t>2013/5/7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91A3C64C-464B-44CA-9660-823CD8548E34}" type="slidenum">
              <a:rPr lang="zh-TW" altLang="en-US" smtClean="0"/>
              <a:t>‹#›</a:t>
            </a:fld>
            <a:endParaRPr lang="zh-TW" altLang="en-US"/>
          </a:p>
        </p:txBody>
      </p:sp>
    </p:spTree>
    <p:extLst>
      <p:ext uri="{BB962C8B-B14F-4D97-AF65-F5344CB8AC3E}">
        <p14:creationId xmlns:p14="http://schemas.microsoft.com/office/powerpoint/2010/main" val="4161480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B984B0E2-9BAE-450E-A6AB-B324EAE7B8CA}" type="datetimeFigureOut">
              <a:rPr lang="zh-TW" altLang="en-US" smtClean="0"/>
              <a:t>2013/5/7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91A3C64C-464B-44CA-9660-823CD8548E34}" type="slidenum">
              <a:rPr lang="zh-TW" altLang="en-US" smtClean="0"/>
              <a:t>‹#›</a:t>
            </a:fld>
            <a:endParaRPr lang="zh-TW" altLang="en-US"/>
          </a:p>
        </p:txBody>
      </p:sp>
    </p:spTree>
    <p:extLst>
      <p:ext uri="{BB962C8B-B14F-4D97-AF65-F5344CB8AC3E}">
        <p14:creationId xmlns:p14="http://schemas.microsoft.com/office/powerpoint/2010/main" val="2700878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B984B0E2-9BAE-450E-A6AB-B324EAE7B8CA}" type="datetimeFigureOut">
              <a:rPr lang="zh-TW" altLang="en-US" smtClean="0"/>
              <a:t>2013/5/7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91A3C64C-464B-44CA-9660-823CD8548E34}" type="slidenum">
              <a:rPr lang="zh-TW" altLang="en-US" smtClean="0"/>
              <a:t>‹#›</a:t>
            </a:fld>
            <a:endParaRPr lang="zh-TW" altLang="en-US"/>
          </a:p>
        </p:txBody>
      </p:sp>
    </p:spTree>
    <p:extLst>
      <p:ext uri="{BB962C8B-B14F-4D97-AF65-F5344CB8AC3E}">
        <p14:creationId xmlns:p14="http://schemas.microsoft.com/office/powerpoint/2010/main" val="2021175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B984B0E2-9BAE-450E-A6AB-B324EAE7B8CA}" type="datetimeFigureOut">
              <a:rPr lang="zh-TW" altLang="en-US" smtClean="0"/>
              <a:t>2013/5/7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91A3C64C-464B-44CA-9660-823CD8548E34}" type="slidenum">
              <a:rPr lang="zh-TW" altLang="en-US" smtClean="0"/>
              <a:t>‹#›</a:t>
            </a:fld>
            <a:endParaRPr lang="zh-TW" altLang="en-US"/>
          </a:p>
        </p:txBody>
      </p:sp>
    </p:spTree>
    <p:extLst>
      <p:ext uri="{BB962C8B-B14F-4D97-AF65-F5344CB8AC3E}">
        <p14:creationId xmlns:p14="http://schemas.microsoft.com/office/powerpoint/2010/main" val="9325258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B984B0E2-9BAE-450E-A6AB-B324EAE7B8CA}" type="datetimeFigureOut">
              <a:rPr lang="zh-TW" altLang="en-US" smtClean="0"/>
              <a:t>2013/5/7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91A3C64C-464B-44CA-9660-823CD8548E34}" type="slidenum">
              <a:rPr lang="zh-TW" altLang="en-US" smtClean="0"/>
              <a:t>‹#›</a:t>
            </a:fld>
            <a:endParaRPr lang="zh-TW" altLang="en-US"/>
          </a:p>
        </p:txBody>
      </p:sp>
    </p:spTree>
    <p:extLst>
      <p:ext uri="{BB962C8B-B14F-4D97-AF65-F5344CB8AC3E}">
        <p14:creationId xmlns:p14="http://schemas.microsoft.com/office/powerpoint/2010/main" val="2684863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B984B0E2-9BAE-450E-A6AB-B324EAE7B8CA}" type="datetimeFigureOut">
              <a:rPr lang="zh-TW" altLang="en-US" smtClean="0"/>
              <a:t>2013/5/7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91A3C64C-464B-44CA-9660-823CD8548E34}" type="slidenum">
              <a:rPr lang="zh-TW" altLang="en-US" smtClean="0"/>
              <a:t>‹#›</a:t>
            </a:fld>
            <a:endParaRPr lang="zh-TW" altLang="en-US"/>
          </a:p>
        </p:txBody>
      </p:sp>
    </p:spTree>
    <p:extLst>
      <p:ext uri="{BB962C8B-B14F-4D97-AF65-F5344CB8AC3E}">
        <p14:creationId xmlns:p14="http://schemas.microsoft.com/office/powerpoint/2010/main" val="1901679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B984B0E2-9BAE-450E-A6AB-B324EAE7B8CA}" type="datetimeFigureOut">
              <a:rPr lang="zh-TW" altLang="en-US" smtClean="0"/>
              <a:t>2013/5/7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91A3C64C-464B-44CA-9660-823CD8548E34}" type="slidenum">
              <a:rPr lang="zh-TW" altLang="en-US" smtClean="0"/>
              <a:t>‹#›</a:t>
            </a:fld>
            <a:endParaRPr lang="zh-TW" altLang="en-US"/>
          </a:p>
        </p:txBody>
      </p:sp>
    </p:spTree>
    <p:extLst>
      <p:ext uri="{BB962C8B-B14F-4D97-AF65-F5344CB8AC3E}">
        <p14:creationId xmlns:p14="http://schemas.microsoft.com/office/powerpoint/2010/main" val="38489901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84B0E2-9BAE-450E-A6AB-B324EAE7B8CA}" type="datetimeFigureOut">
              <a:rPr lang="zh-TW" altLang="en-US" smtClean="0"/>
              <a:t>2013/5/7</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A3C64C-464B-44CA-9660-823CD8548E34}" type="slidenum">
              <a:rPr lang="zh-TW" altLang="en-US" smtClean="0"/>
              <a:t>‹#›</a:t>
            </a:fld>
            <a:endParaRPr lang="zh-TW" altLang="en-US"/>
          </a:p>
        </p:txBody>
      </p:sp>
    </p:spTree>
    <p:extLst>
      <p:ext uri="{BB962C8B-B14F-4D97-AF65-F5344CB8AC3E}">
        <p14:creationId xmlns:p14="http://schemas.microsoft.com/office/powerpoint/2010/main" val="32997642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a:bodyPr>
          <a:lstStyle/>
          <a:p>
            <a:r>
              <a:rPr lang="en-US" altLang="zh-TW" sz="3600" dirty="0" smtClean="0"/>
              <a:t>Aggressive Assembly of</a:t>
            </a:r>
            <a:br>
              <a:rPr lang="en-US" altLang="zh-TW" sz="3600" dirty="0" smtClean="0"/>
            </a:br>
            <a:r>
              <a:rPr lang="en-US" altLang="zh-TW" sz="3600" dirty="0" smtClean="0"/>
              <a:t>Pyrosequencing Reads with Mates</a:t>
            </a:r>
            <a:endParaRPr lang="zh-TW" altLang="en-US" sz="3600" dirty="0"/>
          </a:p>
        </p:txBody>
      </p:sp>
      <p:sp>
        <p:nvSpPr>
          <p:cNvPr id="3" name="副標題 2"/>
          <p:cNvSpPr>
            <a:spLocks noGrp="1"/>
          </p:cNvSpPr>
          <p:nvPr>
            <p:ph type="subTitle" idx="1"/>
          </p:nvPr>
        </p:nvSpPr>
        <p:spPr>
          <a:xfrm>
            <a:off x="972000" y="3886200"/>
            <a:ext cx="7200000" cy="1752600"/>
          </a:xfrm>
        </p:spPr>
        <p:txBody>
          <a:bodyPr>
            <a:normAutofit/>
          </a:bodyPr>
          <a:lstStyle/>
          <a:p>
            <a:r>
              <a:rPr lang="en-US" altLang="zh-TW" sz="1600" dirty="0" smtClean="0">
                <a:solidFill>
                  <a:schemeClr val="tx1"/>
                </a:solidFill>
              </a:rPr>
              <a:t>Jason R. Miller, Arthur L. Delcher, Sergey Koren, Eli Venter, Brian P. Walenz, Anushka Brownley, Justin Johnson, Kelvin Li, Clark Mobarry and Granger Sutton</a:t>
            </a:r>
            <a:br>
              <a:rPr lang="en-US" altLang="zh-TW" sz="1600" dirty="0" smtClean="0">
                <a:solidFill>
                  <a:schemeClr val="tx1"/>
                </a:solidFill>
              </a:rPr>
            </a:br>
            <a:r>
              <a:rPr lang="pt-BR" altLang="zh-TW" sz="1600" dirty="0" smtClean="0">
                <a:solidFill>
                  <a:schemeClr val="tx1"/>
                </a:solidFill>
              </a:rPr>
              <a:t>Bioinformatics vol. 24 no. 24 2008, pages 2818–2824</a:t>
            </a:r>
          </a:p>
          <a:p>
            <a:r>
              <a:rPr lang="pt-BR" altLang="zh-TW" sz="1600" dirty="0" smtClean="0">
                <a:solidFill>
                  <a:schemeClr val="tx1"/>
                </a:solidFill>
              </a:rPr>
              <a:t>Presentor: Yi-Pu Guo</a:t>
            </a:r>
          </a:p>
          <a:p>
            <a:r>
              <a:rPr lang="pt-BR" altLang="zh-TW" sz="1600" dirty="0" smtClean="0">
                <a:solidFill>
                  <a:schemeClr val="tx1"/>
                </a:solidFill>
              </a:rPr>
              <a:t>2013-05-07</a:t>
            </a:r>
            <a:endParaRPr lang="zh-TW" altLang="en-US" sz="1600" dirty="0">
              <a:solidFill>
                <a:schemeClr val="tx1"/>
              </a:solidFill>
            </a:endParaRPr>
          </a:p>
        </p:txBody>
      </p:sp>
    </p:spTree>
    <p:extLst>
      <p:ext uri="{BB962C8B-B14F-4D97-AF65-F5344CB8AC3E}">
        <p14:creationId xmlns:p14="http://schemas.microsoft.com/office/powerpoint/2010/main" val="2239472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 (1/2)</a:t>
            </a:r>
            <a:endParaRPr lang="zh-TW" altLang="en-US" dirty="0"/>
          </a:p>
        </p:txBody>
      </p:sp>
      <p:sp>
        <p:nvSpPr>
          <p:cNvPr id="3" name="內容版面配置區 2"/>
          <p:cNvSpPr>
            <a:spLocks noGrp="1"/>
          </p:cNvSpPr>
          <p:nvPr>
            <p:ph idx="1"/>
          </p:nvPr>
        </p:nvSpPr>
        <p:spPr/>
        <p:txBody>
          <a:bodyPr>
            <a:normAutofit/>
          </a:bodyPr>
          <a:lstStyle/>
          <a:p>
            <a:pPr marL="0" indent="0" algn="just">
              <a:lnSpc>
                <a:spcPct val="150000"/>
              </a:lnSpc>
              <a:buNone/>
            </a:pPr>
            <a:r>
              <a:rPr lang="en-US" altLang="zh-TW" sz="2000" b="1" dirty="0" smtClean="0"/>
              <a:t>Motivation:</a:t>
            </a:r>
            <a:r>
              <a:rPr lang="en-US" altLang="zh-TW" sz="2000" dirty="0" smtClean="0"/>
              <a:t> DNA sequence reads from Sanger and pyrosequencing platforms differ in cost, accuracy, typical coverage, average read length and the variety of available paired-end protocols. Both read types can complement one another in a ‘hybrid’ approach to wholegenome shotgun sequencing projects, but assembly software must be modified to accommodate their different characteristics. This is true even of pyrosequencing mated and unmated read combinations. Without special modifications, assemblers tuned for homogeneous sequence data may perform poorly on hybrid data.</a:t>
            </a:r>
            <a:endParaRPr lang="zh-TW" altLang="en-US" sz="2000" dirty="0"/>
          </a:p>
        </p:txBody>
      </p:sp>
    </p:spTree>
    <p:extLst>
      <p:ext uri="{BB962C8B-B14F-4D97-AF65-F5344CB8AC3E}">
        <p14:creationId xmlns:p14="http://schemas.microsoft.com/office/powerpoint/2010/main" val="15355762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 (2/2)</a:t>
            </a:r>
            <a:endParaRPr lang="zh-TW" altLang="en-US" dirty="0"/>
          </a:p>
        </p:txBody>
      </p:sp>
      <p:sp>
        <p:nvSpPr>
          <p:cNvPr id="3" name="內容版面配置區 2"/>
          <p:cNvSpPr>
            <a:spLocks noGrp="1"/>
          </p:cNvSpPr>
          <p:nvPr>
            <p:ph idx="1"/>
          </p:nvPr>
        </p:nvSpPr>
        <p:spPr/>
        <p:txBody>
          <a:bodyPr>
            <a:noAutofit/>
          </a:bodyPr>
          <a:lstStyle/>
          <a:p>
            <a:pPr marL="0" indent="0" algn="just">
              <a:lnSpc>
                <a:spcPct val="150000"/>
              </a:lnSpc>
              <a:buNone/>
            </a:pPr>
            <a:r>
              <a:rPr lang="en-US" altLang="zh-TW" sz="2000" b="1" dirty="0" smtClean="0"/>
              <a:t>Results:</a:t>
            </a:r>
            <a:r>
              <a:rPr lang="en-US" altLang="zh-TW" sz="2000" dirty="0" smtClean="0"/>
              <a:t> Celera Assembler was modified for combinations of ABI 3730 and 454 FLX reads. The revised pipeline called CABOG (Celera Assembler with the Best Overlap Graph) is robust to homopolymer run length uncertainty, high read coverage and heterogeneous read lengths. In tests on four genomes, it generated the longest contigs among all assemblers tested. It exploited the mate constraints provided by paired-end reads from either platform to build larger contigs and scaffolds, which were validated by comparison to a finished reference sequence. A low rate of contig mis-assembly was detected in some CABOG assemblies, but this was reduced in the presence of sufficient mate pair data.</a:t>
            </a:r>
            <a:endParaRPr lang="zh-TW" altLang="en-US" sz="2000" dirty="0"/>
          </a:p>
        </p:txBody>
      </p:sp>
    </p:spTree>
    <p:extLst>
      <p:ext uri="{BB962C8B-B14F-4D97-AF65-F5344CB8AC3E}">
        <p14:creationId xmlns:p14="http://schemas.microsoft.com/office/powerpoint/2010/main" val="364001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標題 9"/>
          <p:cNvSpPr>
            <a:spLocks noGrp="1"/>
          </p:cNvSpPr>
          <p:nvPr>
            <p:ph type="title"/>
          </p:nvPr>
        </p:nvSpPr>
        <p:spPr/>
        <p:txBody>
          <a:bodyPr/>
          <a:lstStyle/>
          <a:p>
            <a:r>
              <a:rPr lang="en-US" altLang="zh-TW" dirty="0" smtClean="0"/>
              <a:t>DNA Sequencing Methods</a:t>
            </a:r>
            <a:endParaRPr lang="zh-TW" altLang="en-US" dirty="0"/>
          </a:p>
        </p:txBody>
      </p:sp>
      <p:sp>
        <p:nvSpPr>
          <p:cNvPr id="13" name="內容版面配置區 12"/>
          <p:cNvSpPr>
            <a:spLocks noGrp="1"/>
          </p:cNvSpPr>
          <p:nvPr>
            <p:ph idx="1"/>
          </p:nvPr>
        </p:nvSpPr>
        <p:spPr/>
        <p:txBody>
          <a:bodyPr>
            <a:normAutofit/>
          </a:bodyPr>
          <a:lstStyle/>
          <a:p>
            <a:pPr>
              <a:lnSpc>
                <a:spcPct val="150000"/>
              </a:lnSpc>
            </a:pPr>
            <a:r>
              <a:rPr lang="en-US" altLang="zh-TW" sz="2400" dirty="0" smtClean="0"/>
              <a:t>Dideoxy chain-termination method</a:t>
            </a:r>
          </a:p>
          <a:p>
            <a:pPr lvl="1">
              <a:lnSpc>
                <a:spcPct val="150000"/>
              </a:lnSpc>
            </a:pPr>
            <a:r>
              <a:rPr lang="en-US" altLang="zh-TW" sz="2400" dirty="0" smtClean="0"/>
              <a:t>Sanger method (</a:t>
            </a:r>
            <a:r>
              <a:rPr lang="zh-TW" altLang="en-US" sz="2400" dirty="0" smtClean="0"/>
              <a:t>桑格法</a:t>
            </a:r>
            <a:r>
              <a:rPr lang="en-US" altLang="zh-TW" sz="2400" dirty="0" smtClean="0"/>
              <a:t>)</a:t>
            </a:r>
          </a:p>
          <a:p>
            <a:pPr>
              <a:lnSpc>
                <a:spcPct val="150000"/>
              </a:lnSpc>
            </a:pPr>
            <a:r>
              <a:rPr lang="en-US" altLang="zh-TW" sz="2400" dirty="0" smtClean="0"/>
              <a:t>454 pyrosequencing</a:t>
            </a:r>
          </a:p>
          <a:p>
            <a:pPr lvl="1">
              <a:lnSpc>
                <a:spcPct val="150000"/>
              </a:lnSpc>
            </a:pPr>
            <a:r>
              <a:rPr lang="en-US" altLang="zh-TW" sz="2400" dirty="0" smtClean="0"/>
              <a:t>454 Life Sciences Company</a:t>
            </a:r>
          </a:p>
          <a:p>
            <a:pPr>
              <a:lnSpc>
                <a:spcPct val="150000"/>
              </a:lnSpc>
            </a:pPr>
            <a:r>
              <a:rPr lang="en-US" altLang="zh-TW" sz="2400" dirty="0" smtClean="0"/>
              <a:t>Shotgun sequencing</a:t>
            </a:r>
          </a:p>
          <a:p>
            <a:pPr>
              <a:lnSpc>
                <a:spcPct val="150000"/>
              </a:lnSpc>
            </a:pPr>
            <a:r>
              <a:rPr lang="zh-TW" altLang="en-US" sz="2400" dirty="0" smtClean="0"/>
              <a:t>等等</a:t>
            </a:r>
            <a:endParaRPr lang="zh-TW" altLang="en-US" sz="2400" dirty="0"/>
          </a:p>
        </p:txBody>
      </p:sp>
      <p:pic>
        <p:nvPicPr>
          <p:cNvPr id="36" name="圖片 3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64288" y="3757776"/>
            <a:ext cx="1402080" cy="1615440"/>
          </a:xfrm>
          <a:prstGeom prst="rect">
            <a:avLst/>
          </a:prstGeom>
        </p:spPr>
      </p:pic>
      <p:sp>
        <p:nvSpPr>
          <p:cNvPr id="37" name="文字方塊 36"/>
          <p:cNvSpPr txBox="1"/>
          <p:nvPr/>
        </p:nvSpPr>
        <p:spPr>
          <a:xfrm>
            <a:off x="7001061" y="5564781"/>
            <a:ext cx="1675395" cy="923330"/>
          </a:xfrm>
          <a:prstGeom prst="rect">
            <a:avLst/>
          </a:prstGeom>
          <a:noFill/>
        </p:spPr>
        <p:txBody>
          <a:bodyPr wrap="none" rtlCol="0">
            <a:spAutoFit/>
          </a:bodyPr>
          <a:lstStyle/>
          <a:p>
            <a:pPr algn="ctr"/>
            <a:r>
              <a:rPr lang="en-US" altLang="zh-TW" dirty="0"/>
              <a:t>454 </a:t>
            </a:r>
            <a:r>
              <a:rPr lang="en-US" altLang="zh-TW" dirty="0" smtClean="0"/>
              <a:t>FLX</a:t>
            </a:r>
            <a:br>
              <a:rPr lang="en-US" altLang="zh-TW" dirty="0" smtClean="0"/>
            </a:br>
            <a:r>
              <a:rPr lang="en-US" altLang="zh-TW" dirty="0" smtClean="0"/>
              <a:t>pyrosequencing</a:t>
            </a:r>
            <a:br>
              <a:rPr lang="en-US" altLang="zh-TW" dirty="0" smtClean="0"/>
            </a:br>
            <a:r>
              <a:rPr lang="en-US" altLang="zh-TW" dirty="0" smtClean="0"/>
              <a:t>machine</a:t>
            </a:r>
            <a:endParaRPr lang="zh-TW" altLang="en-US" dirty="0"/>
          </a:p>
        </p:txBody>
      </p:sp>
      <p:pic>
        <p:nvPicPr>
          <p:cNvPr id="40" name="圖片 3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48264" y="1556792"/>
            <a:ext cx="1619250" cy="1476375"/>
          </a:xfrm>
          <a:prstGeom prst="rect">
            <a:avLst/>
          </a:prstGeom>
        </p:spPr>
      </p:pic>
      <p:sp>
        <p:nvSpPr>
          <p:cNvPr id="41" name="文字方塊 40"/>
          <p:cNvSpPr txBox="1"/>
          <p:nvPr/>
        </p:nvSpPr>
        <p:spPr>
          <a:xfrm>
            <a:off x="6876256" y="3068960"/>
            <a:ext cx="1760482" cy="646331"/>
          </a:xfrm>
          <a:prstGeom prst="rect">
            <a:avLst/>
          </a:prstGeom>
          <a:noFill/>
        </p:spPr>
        <p:txBody>
          <a:bodyPr wrap="none" rtlCol="0">
            <a:spAutoFit/>
          </a:bodyPr>
          <a:lstStyle/>
          <a:p>
            <a:pPr algn="ctr"/>
            <a:r>
              <a:rPr lang="en-US" altLang="zh-TW" dirty="0" smtClean="0"/>
              <a:t>ABI 3730</a:t>
            </a:r>
            <a:br>
              <a:rPr lang="en-US" altLang="zh-TW" dirty="0" smtClean="0"/>
            </a:br>
            <a:r>
              <a:rPr lang="en-US" altLang="zh-TW" dirty="0" smtClean="0"/>
              <a:t>(Sanger method)</a:t>
            </a:r>
          </a:p>
        </p:txBody>
      </p:sp>
    </p:spTree>
    <p:extLst>
      <p:ext uri="{BB962C8B-B14F-4D97-AF65-F5344CB8AC3E}">
        <p14:creationId xmlns:p14="http://schemas.microsoft.com/office/powerpoint/2010/main" val="2740161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257" y="332656"/>
            <a:ext cx="7773486" cy="3353268"/>
          </a:xfrm>
          <a:prstGeom prst="rect">
            <a:avLst/>
          </a:prstGeom>
        </p:spPr>
      </p:pic>
      <p:pic>
        <p:nvPicPr>
          <p:cNvPr id="3" name="圖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064" y="3717032"/>
            <a:ext cx="4608000" cy="2818558"/>
          </a:xfrm>
          <a:prstGeom prst="rect">
            <a:avLst/>
          </a:prstGeom>
        </p:spPr>
      </p:pic>
      <p:sp>
        <p:nvSpPr>
          <p:cNvPr id="4" name="文字方塊 3"/>
          <p:cNvSpPr txBox="1"/>
          <p:nvPr/>
        </p:nvSpPr>
        <p:spPr>
          <a:xfrm>
            <a:off x="6012160" y="4221088"/>
            <a:ext cx="2207079" cy="369332"/>
          </a:xfrm>
          <a:prstGeom prst="rect">
            <a:avLst/>
          </a:prstGeom>
          <a:noFill/>
        </p:spPr>
        <p:txBody>
          <a:bodyPr wrap="none" rtlCol="0">
            <a:spAutoFit/>
          </a:bodyPr>
          <a:lstStyle/>
          <a:p>
            <a:r>
              <a:rPr lang="en-US" altLang="zh-TW" dirty="0"/>
              <a:t>sequencing platforms</a:t>
            </a:r>
            <a:endParaRPr lang="zh-TW" altLang="en-US" dirty="0"/>
          </a:p>
        </p:txBody>
      </p:sp>
      <p:sp>
        <p:nvSpPr>
          <p:cNvPr id="5" name="文字方塊 4"/>
          <p:cNvSpPr txBox="1"/>
          <p:nvPr/>
        </p:nvSpPr>
        <p:spPr>
          <a:xfrm>
            <a:off x="6150114" y="5157192"/>
            <a:ext cx="1931170" cy="369332"/>
          </a:xfrm>
          <a:prstGeom prst="rect">
            <a:avLst/>
          </a:prstGeom>
          <a:noFill/>
        </p:spPr>
        <p:txBody>
          <a:bodyPr wrap="none" rtlCol="0">
            <a:spAutoFit/>
          </a:bodyPr>
          <a:lstStyle/>
          <a:p>
            <a:r>
              <a:rPr lang="en-US" altLang="zh-TW" dirty="0"/>
              <a:t>assembly software</a:t>
            </a:r>
            <a:endParaRPr lang="zh-TW" altLang="en-US" dirty="0"/>
          </a:p>
        </p:txBody>
      </p:sp>
      <p:sp>
        <p:nvSpPr>
          <p:cNvPr id="6" name="文字方塊 5"/>
          <p:cNvSpPr txBox="1"/>
          <p:nvPr/>
        </p:nvSpPr>
        <p:spPr>
          <a:xfrm>
            <a:off x="6922707" y="4701736"/>
            <a:ext cx="960712" cy="369332"/>
          </a:xfrm>
          <a:prstGeom prst="rect">
            <a:avLst/>
          </a:prstGeom>
          <a:noFill/>
        </p:spPr>
        <p:txBody>
          <a:bodyPr wrap="none" rtlCol="0">
            <a:spAutoFit/>
          </a:bodyPr>
          <a:lstStyle/>
          <a:p>
            <a:r>
              <a:rPr lang="zh-TW" altLang="en-US" dirty="0" smtClean="0"/>
              <a:t>↓ </a:t>
            </a:r>
            <a:r>
              <a:rPr lang="en-US" altLang="zh-TW" dirty="0" smtClean="0"/>
              <a:t>reads</a:t>
            </a:r>
            <a:endParaRPr lang="zh-TW" altLang="en-US" dirty="0"/>
          </a:p>
        </p:txBody>
      </p:sp>
      <p:sp>
        <p:nvSpPr>
          <p:cNvPr id="7" name="文字方塊 6"/>
          <p:cNvSpPr txBox="1"/>
          <p:nvPr/>
        </p:nvSpPr>
        <p:spPr>
          <a:xfrm>
            <a:off x="6258733" y="5661248"/>
            <a:ext cx="1713931" cy="646331"/>
          </a:xfrm>
          <a:prstGeom prst="rect">
            <a:avLst/>
          </a:prstGeom>
          <a:noFill/>
        </p:spPr>
        <p:txBody>
          <a:bodyPr wrap="none" rtlCol="0">
            <a:spAutoFit/>
          </a:bodyPr>
          <a:lstStyle/>
          <a:p>
            <a:pPr algn="ctr"/>
            <a:r>
              <a:rPr lang="zh-TW" altLang="en-US" dirty="0" smtClean="0"/>
              <a:t>↓</a:t>
            </a:r>
            <a:r>
              <a:rPr lang="en-US" altLang="zh-TW" dirty="0" smtClean="0"/>
              <a:t/>
            </a:r>
            <a:br>
              <a:rPr lang="en-US" altLang="zh-TW" dirty="0" smtClean="0"/>
            </a:br>
            <a:r>
              <a:rPr lang="en-US" altLang="zh-TW" dirty="0" smtClean="0"/>
              <a:t>whole sequence</a:t>
            </a:r>
            <a:endParaRPr lang="zh-TW" altLang="en-US" dirty="0"/>
          </a:p>
        </p:txBody>
      </p:sp>
      <p:sp>
        <p:nvSpPr>
          <p:cNvPr id="8" name="文字方塊 7"/>
          <p:cNvSpPr txBox="1"/>
          <p:nvPr/>
        </p:nvSpPr>
        <p:spPr>
          <a:xfrm>
            <a:off x="7524328" y="0"/>
            <a:ext cx="1540806" cy="369332"/>
          </a:xfrm>
          <a:prstGeom prst="rect">
            <a:avLst/>
          </a:prstGeom>
          <a:noFill/>
        </p:spPr>
        <p:txBody>
          <a:bodyPr wrap="none" rtlCol="0">
            <a:spAutoFit/>
          </a:bodyPr>
          <a:lstStyle/>
          <a:p>
            <a:r>
              <a:rPr lang="en-US" altLang="zh-TW" dirty="0" smtClean="0"/>
              <a:t>bp </a:t>
            </a:r>
            <a:r>
              <a:rPr lang="en-US" altLang="zh-TW" dirty="0" smtClean="0"/>
              <a:t>= base pair</a:t>
            </a:r>
            <a:endParaRPr lang="zh-TW" altLang="en-US" dirty="0"/>
          </a:p>
        </p:txBody>
      </p:sp>
    </p:spTree>
    <p:extLst>
      <p:ext uri="{BB962C8B-B14F-4D97-AF65-F5344CB8AC3E}">
        <p14:creationId xmlns:p14="http://schemas.microsoft.com/office/powerpoint/2010/main" val="2314706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Introduction</a:t>
            </a:r>
            <a:endParaRPr lang="zh-TW" altLang="en-US" dirty="0"/>
          </a:p>
        </p:txBody>
      </p:sp>
      <p:sp>
        <p:nvSpPr>
          <p:cNvPr id="3" name="內容版面配置區 2"/>
          <p:cNvSpPr>
            <a:spLocks noGrp="1"/>
          </p:cNvSpPr>
          <p:nvPr>
            <p:ph idx="1"/>
          </p:nvPr>
        </p:nvSpPr>
        <p:spPr/>
        <p:txBody>
          <a:bodyPr>
            <a:normAutofit/>
          </a:bodyPr>
          <a:lstStyle/>
          <a:p>
            <a:pPr>
              <a:lnSpc>
                <a:spcPct val="150000"/>
              </a:lnSpc>
            </a:pPr>
            <a:r>
              <a:rPr lang="en-US" altLang="zh-TW" sz="2400" dirty="0" smtClean="0"/>
              <a:t>Hybrid sequencing</a:t>
            </a:r>
          </a:p>
          <a:p>
            <a:pPr lvl="1">
              <a:lnSpc>
                <a:spcPct val="150000"/>
              </a:lnSpc>
            </a:pPr>
            <a:r>
              <a:rPr lang="en-US" altLang="zh-TW" sz="2400" dirty="0" smtClean="0"/>
              <a:t>two or more sequencing platforms.</a:t>
            </a:r>
          </a:p>
          <a:p>
            <a:pPr lvl="1">
              <a:lnSpc>
                <a:spcPct val="150000"/>
              </a:lnSpc>
            </a:pPr>
            <a:r>
              <a:rPr lang="en-US" altLang="zh-TW" sz="2400" dirty="0" smtClean="0"/>
              <a:t>may require assembly software tuned for specific-read type combinations.</a:t>
            </a:r>
            <a:endParaRPr lang="en-US" altLang="zh-TW" sz="2400" dirty="0" smtClean="0"/>
          </a:p>
          <a:p>
            <a:pPr>
              <a:lnSpc>
                <a:spcPct val="150000"/>
              </a:lnSpc>
            </a:pPr>
            <a:r>
              <a:rPr lang="en-US" altLang="zh-TW" sz="2400" dirty="0" smtClean="0"/>
              <a:t>Modified Celera Assembler</a:t>
            </a:r>
          </a:p>
          <a:p>
            <a:pPr lvl="1">
              <a:lnSpc>
                <a:spcPct val="150000"/>
              </a:lnSpc>
            </a:pPr>
            <a:r>
              <a:rPr lang="en-US" altLang="zh-TW" sz="2400" dirty="0" smtClean="0"/>
              <a:t>CABOG (Celera Assembler with the Best Overlap Graph)</a:t>
            </a:r>
            <a:endParaRPr lang="zh-TW" altLang="en-US" sz="2400" dirty="0"/>
          </a:p>
        </p:txBody>
      </p:sp>
    </p:spTree>
    <p:extLst>
      <p:ext uri="{BB962C8B-B14F-4D97-AF65-F5344CB8AC3E}">
        <p14:creationId xmlns:p14="http://schemas.microsoft.com/office/powerpoint/2010/main" val="2252867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a:t>
            </a:r>
            <a:endParaRPr lang="zh-TW" altLang="en-US" dirty="0"/>
          </a:p>
        </p:txBody>
      </p:sp>
      <p:sp>
        <p:nvSpPr>
          <p:cNvPr id="3" name="內容版面配置區 2"/>
          <p:cNvSpPr>
            <a:spLocks noGrp="1"/>
          </p:cNvSpPr>
          <p:nvPr>
            <p:ph idx="1"/>
          </p:nvPr>
        </p:nvSpPr>
        <p:spPr/>
        <p:txBody>
          <a:bodyPr>
            <a:normAutofit/>
          </a:bodyPr>
          <a:lstStyle/>
          <a:p>
            <a:pPr marL="457200" indent="-457200">
              <a:buFont typeface="+mj-lt"/>
              <a:buAutoNum type="arabicPeriod"/>
            </a:pPr>
            <a:r>
              <a:rPr lang="en-US" altLang="zh-TW" sz="2400" dirty="0" smtClean="0"/>
              <a:t>Overlap-based trimming</a:t>
            </a:r>
          </a:p>
          <a:p>
            <a:pPr lvl="1">
              <a:lnSpc>
                <a:spcPct val="150000"/>
              </a:lnSpc>
            </a:pPr>
            <a:r>
              <a:rPr lang="en-US" altLang="zh-TW" sz="2000" dirty="0" smtClean="0"/>
              <a:t>Compute for all read pairs local alignments, or partial overlaps that may not span the end of either read.</a:t>
            </a:r>
          </a:p>
          <a:p>
            <a:pPr marL="457200" indent="-457200">
              <a:buFont typeface="+mj-lt"/>
              <a:buAutoNum type="arabicPeriod"/>
            </a:pPr>
            <a:r>
              <a:rPr lang="en-US" altLang="zh-TW" sz="2400" dirty="0" smtClean="0"/>
              <a:t>Anchors and overlaps</a:t>
            </a:r>
          </a:p>
          <a:p>
            <a:pPr lvl="1">
              <a:lnSpc>
                <a:spcPct val="150000"/>
              </a:lnSpc>
            </a:pPr>
            <a:r>
              <a:rPr lang="en-US" altLang="zh-TW" sz="2000" dirty="0" smtClean="0"/>
              <a:t>uses exact-match seeds to detect possibly overlapping reads quickly.</a:t>
            </a:r>
          </a:p>
          <a:p>
            <a:pPr lvl="1">
              <a:lnSpc>
                <a:spcPct val="150000"/>
              </a:lnSpc>
            </a:pPr>
            <a:r>
              <a:rPr lang="en-US" altLang="zh-TW" sz="2000" dirty="0" smtClean="0"/>
              <a:t>finds these seed matches in compressed sequence where consecutive instances of the same base are reduced to one base.</a:t>
            </a:r>
            <a:endParaRPr lang="zh-TW" altLang="en-US" sz="2000" dirty="0"/>
          </a:p>
        </p:txBody>
      </p:sp>
    </p:spTree>
    <p:extLst>
      <p:ext uri="{BB962C8B-B14F-4D97-AF65-F5344CB8AC3E}">
        <p14:creationId xmlns:p14="http://schemas.microsoft.com/office/powerpoint/2010/main" val="359782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3. Best Overlap Graph (BOG)</a:t>
            </a:r>
            <a:endParaRPr lang="zh-TW" altLang="en-US" dirty="0"/>
          </a:p>
        </p:txBody>
      </p:sp>
      <p:pic>
        <p:nvPicPr>
          <p:cNvPr id="6" name="內容版面配置區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1782" y="1600200"/>
            <a:ext cx="7920435" cy="4525963"/>
          </a:xfrm>
        </p:spPr>
      </p:pic>
      <p:sp>
        <p:nvSpPr>
          <p:cNvPr id="7" name="文字方塊 6"/>
          <p:cNvSpPr txBox="1"/>
          <p:nvPr/>
        </p:nvSpPr>
        <p:spPr>
          <a:xfrm>
            <a:off x="150775" y="2492896"/>
            <a:ext cx="2833020" cy="2031325"/>
          </a:xfrm>
          <a:prstGeom prst="rect">
            <a:avLst/>
          </a:prstGeom>
          <a:noFill/>
        </p:spPr>
        <p:txBody>
          <a:bodyPr wrap="none" rtlCol="0">
            <a:spAutoFit/>
          </a:bodyPr>
          <a:lstStyle/>
          <a:p>
            <a:r>
              <a:rPr lang="en-US" altLang="zh-TW" dirty="0" smtClean="0"/>
              <a:t>multi-graph</a:t>
            </a:r>
          </a:p>
          <a:p>
            <a:r>
              <a:rPr lang="en-US" altLang="zh-TW" dirty="0" smtClean="0"/>
              <a:t>one read has 2 ends (nodes)</a:t>
            </a:r>
          </a:p>
          <a:p>
            <a:r>
              <a:rPr lang="en-US" altLang="zh-TW" dirty="0"/>
              <a:t>u</a:t>
            </a:r>
            <a:r>
              <a:rPr lang="en-US" altLang="zh-TW" dirty="0" smtClean="0"/>
              <a:t>ndirected: best overlap</a:t>
            </a:r>
          </a:p>
          <a:p>
            <a:r>
              <a:rPr lang="en-US" altLang="zh-TW" dirty="0" smtClean="0"/>
              <a:t>(in length, only one)</a:t>
            </a:r>
          </a:p>
          <a:p>
            <a:r>
              <a:rPr lang="en-US" altLang="zh-TW" dirty="0" smtClean="0"/>
              <a:t>directed:</a:t>
            </a:r>
          </a:p>
          <a:p>
            <a:r>
              <a:rPr lang="en-US" altLang="zh-TW" dirty="0" smtClean="0"/>
              <a:t>&lt; 1.5</a:t>
            </a:r>
            <a:r>
              <a:rPr lang="en-US" altLang="zh-TW" dirty="0"/>
              <a:t>% alignment </a:t>
            </a:r>
            <a:r>
              <a:rPr lang="en-US" altLang="zh-TW" dirty="0" smtClean="0"/>
              <a:t>error</a:t>
            </a:r>
            <a:br>
              <a:rPr lang="en-US" altLang="zh-TW" dirty="0" smtClean="0"/>
            </a:br>
            <a:r>
              <a:rPr lang="en-US" altLang="zh-TW" dirty="0" smtClean="0"/>
              <a:t>&gt; </a:t>
            </a:r>
            <a:r>
              <a:rPr lang="en-US" altLang="zh-TW" dirty="0"/>
              <a:t>40 bp spanned</a:t>
            </a:r>
            <a:endParaRPr lang="zh-TW" altLang="en-US" dirty="0"/>
          </a:p>
        </p:txBody>
      </p:sp>
    </p:spTree>
    <p:extLst>
      <p:ext uri="{BB962C8B-B14F-4D97-AF65-F5344CB8AC3E}">
        <p14:creationId xmlns:p14="http://schemas.microsoft.com/office/powerpoint/2010/main" val="6009697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4. Unitig Construction</a:t>
            </a:r>
            <a:endParaRPr lang="zh-TW" altLang="en-US" dirty="0"/>
          </a:p>
        </p:txBody>
      </p:sp>
      <p:sp>
        <p:nvSpPr>
          <p:cNvPr id="3" name="內容版面配置區 2"/>
          <p:cNvSpPr>
            <a:spLocks noGrp="1"/>
          </p:cNvSpPr>
          <p:nvPr>
            <p:ph idx="1"/>
          </p:nvPr>
        </p:nvSpPr>
        <p:spPr/>
        <p:txBody>
          <a:bodyPr>
            <a:normAutofit/>
          </a:bodyPr>
          <a:lstStyle/>
          <a:p>
            <a:pPr marL="457200" indent="-457200">
              <a:lnSpc>
                <a:spcPct val="150000"/>
              </a:lnSpc>
              <a:buFont typeface="+mj-lt"/>
              <a:buAutoNum type="arabicParenR"/>
            </a:pPr>
            <a:r>
              <a:rPr lang="en-US" altLang="zh-TW" sz="2400" dirty="0" smtClean="0"/>
              <a:t>Score each read.</a:t>
            </a:r>
          </a:p>
          <a:p>
            <a:pPr lvl="1">
              <a:lnSpc>
                <a:spcPct val="150000"/>
              </a:lnSpc>
            </a:pPr>
            <a:r>
              <a:rPr lang="en-US" altLang="zh-TW" sz="2000" dirty="0" smtClean="0"/>
              <a:t>the number of other reads reachable from it along BOG paths.</a:t>
            </a:r>
          </a:p>
          <a:p>
            <a:pPr marL="457200" indent="-457200">
              <a:lnSpc>
                <a:spcPct val="150000"/>
              </a:lnSpc>
              <a:buFont typeface="+mj-lt"/>
              <a:buAutoNum type="arabicParenR"/>
            </a:pPr>
            <a:r>
              <a:rPr lang="en-US" altLang="zh-TW" sz="2400" dirty="0" smtClean="0"/>
              <a:t>Sort the reads by score.</a:t>
            </a:r>
          </a:p>
          <a:p>
            <a:pPr marL="457200" indent="-457200">
              <a:lnSpc>
                <a:spcPct val="150000"/>
              </a:lnSpc>
              <a:buFont typeface="+mj-lt"/>
              <a:buAutoNum type="arabicParenR"/>
            </a:pPr>
            <a:r>
              <a:rPr lang="en-US" altLang="zh-TW" sz="2400" dirty="0" smtClean="0"/>
              <a:t>Start at the next-highest scoring read R.</a:t>
            </a:r>
          </a:p>
          <a:p>
            <a:pPr lvl="1">
              <a:lnSpc>
                <a:spcPct val="150000"/>
              </a:lnSpc>
            </a:pPr>
            <a:r>
              <a:rPr lang="en-US" altLang="zh-TW" sz="2000" dirty="0" smtClean="0"/>
              <a:t>Follow paths and build a unitig from each path.</a:t>
            </a:r>
          </a:p>
          <a:p>
            <a:pPr lvl="1">
              <a:lnSpc>
                <a:spcPct val="150000"/>
              </a:lnSpc>
            </a:pPr>
            <a:r>
              <a:rPr lang="en-US" altLang="zh-TW" sz="2000" dirty="0" smtClean="0"/>
              <a:t>Skip R if R is already in a unitig.</a:t>
            </a:r>
            <a:endParaRPr lang="zh-TW" altLang="en-US" sz="2000" dirty="0"/>
          </a:p>
        </p:txBody>
      </p:sp>
      <p:pic>
        <p:nvPicPr>
          <p:cNvPr id="14" name="圖片 13"/>
          <p:cNvPicPr>
            <a:picLocks noChangeAspect="1"/>
          </p:cNvPicPr>
          <p:nvPr/>
        </p:nvPicPr>
        <p:blipFill rotWithShape="1">
          <a:blip r:embed="rId3" cstate="print">
            <a:extLst>
              <a:ext uri="{28A0092B-C50C-407E-A947-70E740481C1C}">
                <a14:useLocalDpi xmlns:a14="http://schemas.microsoft.com/office/drawing/2010/main" val="0"/>
              </a:ext>
            </a:extLst>
          </a:blip>
          <a:srcRect t="62411"/>
          <a:stretch/>
        </p:blipFill>
        <p:spPr>
          <a:xfrm>
            <a:off x="1904628" y="5373216"/>
            <a:ext cx="5334745" cy="1145873"/>
          </a:xfrm>
          <a:prstGeom prst="rect">
            <a:avLst/>
          </a:prstGeom>
          <a:noFill/>
          <a:ln>
            <a:noFill/>
          </a:ln>
        </p:spPr>
      </p:pic>
      <p:sp>
        <p:nvSpPr>
          <p:cNvPr id="15" name="文字方塊 14"/>
          <p:cNvSpPr txBox="1"/>
          <p:nvPr/>
        </p:nvSpPr>
        <p:spPr>
          <a:xfrm>
            <a:off x="2857462" y="5188550"/>
            <a:ext cx="301686" cy="369332"/>
          </a:xfrm>
          <a:prstGeom prst="rect">
            <a:avLst/>
          </a:prstGeom>
          <a:noFill/>
        </p:spPr>
        <p:txBody>
          <a:bodyPr wrap="none" rtlCol="0">
            <a:spAutoFit/>
          </a:bodyPr>
          <a:lstStyle/>
          <a:p>
            <a:r>
              <a:rPr lang="en-US" altLang="zh-TW" dirty="0">
                <a:solidFill>
                  <a:schemeClr val="accent2"/>
                </a:solidFill>
              </a:rPr>
              <a:t>4</a:t>
            </a:r>
            <a:endParaRPr lang="zh-TW" altLang="en-US" dirty="0">
              <a:solidFill>
                <a:schemeClr val="accent2"/>
              </a:solidFill>
            </a:endParaRPr>
          </a:p>
        </p:txBody>
      </p:sp>
      <p:sp>
        <p:nvSpPr>
          <p:cNvPr id="16" name="文字方塊 15"/>
          <p:cNvSpPr txBox="1"/>
          <p:nvPr/>
        </p:nvSpPr>
        <p:spPr>
          <a:xfrm>
            <a:off x="5796136" y="6237312"/>
            <a:ext cx="301686" cy="369332"/>
          </a:xfrm>
          <a:prstGeom prst="rect">
            <a:avLst/>
          </a:prstGeom>
          <a:noFill/>
        </p:spPr>
        <p:txBody>
          <a:bodyPr wrap="none" rtlCol="0">
            <a:spAutoFit/>
          </a:bodyPr>
          <a:lstStyle/>
          <a:p>
            <a:r>
              <a:rPr lang="en-US" altLang="zh-TW" dirty="0" smtClean="0">
                <a:solidFill>
                  <a:schemeClr val="accent2"/>
                </a:solidFill>
              </a:rPr>
              <a:t>3</a:t>
            </a:r>
            <a:endParaRPr lang="zh-TW" altLang="en-US" dirty="0">
              <a:solidFill>
                <a:schemeClr val="accent2"/>
              </a:solidFill>
            </a:endParaRPr>
          </a:p>
        </p:txBody>
      </p:sp>
      <p:sp>
        <p:nvSpPr>
          <p:cNvPr id="17" name="文字方塊 16"/>
          <p:cNvSpPr txBox="1"/>
          <p:nvPr/>
        </p:nvSpPr>
        <p:spPr>
          <a:xfrm>
            <a:off x="3995936" y="5201720"/>
            <a:ext cx="301686" cy="369332"/>
          </a:xfrm>
          <a:prstGeom prst="rect">
            <a:avLst/>
          </a:prstGeom>
          <a:noFill/>
        </p:spPr>
        <p:txBody>
          <a:bodyPr wrap="none" rtlCol="0">
            <a:spAutoFit/>
          </a:bodyPr>
          <a:lstStyle/>
          <a:p>
            <a:r>
              <a:rPr lang="en-US" altLang="zh-TW" dirty="0">
                <a:solidFill>
                  <a:schemeClr val="accent2"/>
                </a:solidFill>
              </a:rPr>
              <a:t>4</a:t>
            </a:r>
            <a:endParaRPr lang="zh-TW" altLang="en-US" dirty="0">
              <a:solidFill>
                <a:schemeClr val="accent2"/>
              </a:solidFill>
            </a:endParaRPr>
          </a:p>
        </p:txBody>
      </p:sp>
      <p:sp>
        <p:nvSpPr>
          <p:cNvPr id="18" name="文字方塊 17"/>
          <p:cNvSpPr txBox="1"/>
          <p:nvPr/>
        </p:nvSpPr>
        <p:spPr>
          <a:xfrm>
            <a:off x="5220072" y="5201720"/>
            <a:ext cx="301686" cy="369332"/>
          </a:xfrm>
          <a:prstGeom prst="rect">
            <a:avLst/>
          </a:prstGeom>
          <a:noFill/>
        </p:spPr>
        <p:txBody>
          <a:bodyPr wrap="none" rtlCol="0">
            <a:spAutoFit/>
          </a:bodyPr>
          <a:lstStyle/>
          <a:p>
            <a:r>
              <a:rPr lang="en-US" altLang="zh-TW" dirty="0">
                <a:solidFill>
                  <a:schemeClr val="accent2"/>
                </a:solidFill>
              </a:rPr>
              <a:t>4</a:t>
            </a:r>
            <a:endParaRPr lang="zh-TW" altLang="en-US" dirty="0">
              <a:solidFill>
                <a:schemeClr val="accent2"/>
              </a:solidFill>
            </a:endParaRPr>
          </a:p>
        </p:txBody>
      </p:sp>
      <p:sp>
        <p:nvSpPr>
          <p:cNvPr id="19" name="文字方塊 18"/>
          <p:cNvSpPr txBox="1"/>
          <p:nvPr/>
        </p:nvSpPr>
        <p:spPr>
          <a:xfrm>
            <a:off x="6444208" y="5188550"/>
            <a:ext cx="301686" cy="369332"/>
          </a:xfrm>
          <a:prstGeom prst="rect">
            <a:avLst/>
          </a:prstGeom>
          <a:noFill/>
        </p:spPr>
        <p:txBody>
          <a:bodyPr wrap="none" rtlCol="0">
            <a:spAutoFit/>
          </a:bodyPr>
          <a:lstStyle/>
          <a:p>
            <a:r>
              <a:rPr lang="en-US" altLang="zh-TW" dirty="0">
                <a:solidFill>
                  <a:schemeClr val="accent2"/>
                </a:solidFill>
              </a:rPr>
              <a:t>4</a:t>
            </a:r>
            <a:endParaRPr lang="zh-TW" altLang="en-US" dirty="0">
              <a:solidFill>
                <a:schemeClr val="accent2"/>
              </a:solidFill>
            </a:endParaRPr>
          </a:p>
        </p:txBody>
      </p:sp>
    </p:spTree>
    <p:extLst>
      <p:ext uri="{BB962C8B-B14F-4D97-AF65-F5344CB8AC3E}">
        <p14:creationId xmlns:p14="http://schemas.microsoft.com/office/powerpoint/2010/main" val="1233354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Dataset</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04628" y="1340768"/>
            <a:ext cx="5334745" cy="5334745"/>
          </a:xfrm>
        </p:spPr>
      </p:pic>
    </p:spTree>
    <p:extLst>
      <p:ext uri="{BB962C8B-B14F-4D97-AF65-F5344CB8AC3E}">
        <p14:creationId xmlns:p14="http://schemas.microsoft.com/office/powerpoint/2010/main" val="2125976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Results</a:t>
            </a:r>
            <a:endParaRPr lang="zh-TW" altLang="en-US" dirty="0"/>
          </a:p>
        </p:txBody>
      </p:sp>
      <p:sp>
        <p:nvSpPr>
          <p:cNvPr id="7" name="內容版面配置區 6"/>
          <p:cNvSpPr>
            <a:spLocks noGrp="1"/>
          </p:cNvSpPr>
          <p:nvPr>
            <p:ph idx="1"/>
          </p:nvPr>
        </p:nvSpPr>
        <p:spPr/>
        <p:txBody>
          <a:bodyPr>
            <a:normAutofit/>
          </a:bodyPr>
          <a:lstStyle/>
          <a:p>
            <a:pPr>
              <a:lnSpc>
                <a:spcPct val="150000"/>
              </a:lnSpc>
            </a:pPr>
            <a:r>
              <a:rPr lang="en-US" altLang="zh-TW" sz="2400" dirty="0" smtClean="0"/>
              <a:t>Compared with </a:t>
            </a:r>
            <a:r>
              <a:rPr lang="en-US" altLang="zh-TW" sz="2400" dirty="0" err="1" smtClean="0"/>
              <a:t>Newbler</a:t>
            </a:r>
            <a:r>
              <a:rPr lang="en-US" altLang="zh-TW" sz="2400" dirty="0" smtClean="0"/>
              <a:t>.</a:t>
            </a:r>
          </a:p>
          <a:p>
            <a:pPr>
              <a:lnSpc>
                <a:spcPct val="150000"/>
              </a:lnSpc>
            </a:pPr>
            <a:r>
              <a:rPr lang="en-US" altLang="zh-TW" sz="2400" dirty="0" err="1" smtClean="0"/>
              <a:t>Contig</a:t>
            </a:r>
            <a:r>
              <a:rPr lang="en-US" altLang="zh-TW" sz="2400" dirty="0" smtClean="0"/>
              <a:t> analysis</a:t>
            </a:r>
          </a:p>
          <a:p>
            <a:pPr lvl="1">
              <a:lnSpc>
                <a:spcPct val="150000"/>
              </a:lnSpc>
            </a:pPr>
            <a:r>
              <a:rPr lang="en-US" altLang="zh-TW" sz="2400" dirty="0" smtClean="0"/>
              <a:t>Table 2, 3</a:t>
            </a:r>
          </a:p>
          <a:p>
            <a:pPr>
              <a:lnSpc>
                <a:spcPct val="150000"/>
              </a:lnSpc>
            </a:pPr>
            <a:r>
              <a:rPr lang="en-US" altLang="zh-TW" sz="2400" dirty="0" smtClean="0"/>
              <a:t>Scaffold analysis</a:t>
            </a:r>
          </a:p>
          <a:p>
            <a:pPr lvl="1">
              <a:lnSpc>
                <a:spcPct val="150000"/>
              </a:lnSpc>
            </a:pPr>
            <a:r>
              <a:rPr lang="en-US" altLang="zh-TW" sz="2400" dirty="0" smtClean="0"/>
              <a:t>Table 4</a:t>
            </a:r>
          </a:p>
          <a:p>
            <a:pPr>
              <a:lnSpc>
                <a:spcPct val="150000"/>
              </a:lnSpc>
            </a:pPr>
            <a:r>
              <a:rPr lang="en-US" altLang="zh-TW" sz="2400" dirty="0" smtClean="0"/>
              <a:t>Assembly correctness</a:t>
            </a:r>
          </a:p>
          <a:p>
            <a:pPr lvl="1">
              <a:lnSpc>
                <a:spcPct val="150000"/>
              </a:lnSpc>
            </a:pPr>
            <a:r>
              <a:rPr lang="en-US" altLang="zh-TW" sz="2400" dirty="0" smtClean="0"/>
              <a:t>Table 5</a:t>
            </a:r>
            <a:endParaRPr lang="zh-TW" altLang="en-US" sz="2400" dirty="0"/>
          </a:p>
        </p:txBody>
      </p:sp>
    </p:spTree>
    <p:extLst>
      <p:ext uri="{BB962C8B-B14F-4D97-AF65-F5344CB8AC3E}">
        <p14:creationId xmlns:p14="http://schemas.microsoft.com/office/powerpoint/2010/main" val="2265431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1625" y="0"/>
            <a:ext cx="6000750" cy="6858000"/>
          </a:xfrm>
          <a:prstGeom prst="rect">
            <a:avLst/>
          </a:prstGeom>
        </p:spPr>
      </p:pic>
    </p:spTree>
    <p:extLst>
      <p:ext uri="{BB962C8B-B14F-4D97-AF65-F5344CB8AC3E}">
        <p14:creationId xmlns:p14="http://schemas.microsoft.com/office/powerpoint/2010/main" val="29648271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7784" y="1333207"/>
            <a:ext cx="6668431" cy="4191585"/>
          </a:xfrm>
          <a:prstGeom prst="rect">
            <a:avLst/>
          </a:prstGeom>
        </p:spPr>
      </p:pic>
    </p:spTree>
    <p:extLst>
      <p:ext uri="{BB962C8B-B14F-4D97-AF65-F5344CB8AC3E}">
        <p14:creationId xmlns:p14="http://schemas.microsoft.com/office/powerpoint/2010/main" val="10504867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7784" y="571101"/>
            <a:ext cx="6668431" cy="5715798"/>
          </a:xfrm>
          <a:prstGeom prst="rect">
            <a:avLst/>
          </a:prstGeom>
        </p:spPr>
      </p:pic>
    </p:spTree>
    <p:extLst>
      <p:ext uri="{BB962C8B-B14F-4D97-AF65-F5344CB8AC3E}">
        <p14:creationId xmlns:p14="http://schemas.microsoft.com/office/powerpoint/2010/main" val="18278307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7784" y="952154"/>
            <a:ext cx="6668431" cy="4953692"/>
          </a:xfrm>
          <a:prstGeom prst="rect">
            <a:avLst/>
          </a:prstGeom>
        </p:spPr>
      </p:pic>
    </p:spTree>
    <p:extLst>
      <p:ext uri="{BB962C8B-B14F-4D97-AF65-F5344CB8AC3E}">
        <p14:creationId xmlns:p14="http://schemas.microsoft.com/office/powerpoint/2010/main" val="535915017"/>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279</TotalTime>
  <Words>547</Words>
  <Application>Microsoft Office PowerPoint</Application>
  <PresentationFormat>如螢幕大小 (4:3)</PresentationFormat>
  <Paragraphs>71</Paragraphs>
  <Slides>15</Slides>
  <Notes>3</Notes>
  <HiddenSlides>0</HiddenSlides>
  <MMClips>0</MMClips>
  <ScaleCrop>false</ScaleCrop>
  <HeadingPairs>
    <vt:vector size="4" baseType="variant">
      <vt:variant>
        <vt:lpstr>佈景主題</vt:lpstr>
      </vt:variant>
      <vt:variant>
        <vt:i4>1</vt:i4>
      </vt:variant>
      <vt:variant>
        <vt:lpstr>投影片標題</vt:lpstr>
      </vt:variant>
      <vt:variant>
        <vt:i4>15</vt:i4>
      </vt:variant>
    </vt:vector>
  </HeadingPairs>
  <TitlesOfParts>
    <vt:vector size="16" baseType="lpstr">
      <vt:lpstr>Office 佈景主題</vt:lpstr>
      <vt:lpstr>Aggressive Assembly of Pyrosequencing Reads with Mates</vt:lpstr>
      <vt:lpstr>Abstract (1/2)</vt:lpstr>
      <vt:lpstr>Abstract (2/2)</vt:lpstr>
      <vt:lpstr>DNA Sequencing Methods</vt:lpstr>
      <vt:lpstr>PowerPoint 簡報</vt:lpstr>
      <vt:lpstr>Introduction</vt:lpstr>
      <vt:lpstr>Algorithm</vt:lpstr>
      <vt:lpstr>3. Best Overlap Graph (BOG)</vt:lpstr>
      <vt:lpstr>4. Unitig Construction</vt:lpstr>
      <vt:lpstr>Dataset</vt:lpstr>
      <vt:lpstr>Results</vt:lpstr>
      <vt:lpstr>PowerPoint 簡報</vt:lpstr>
      <vt:lpstr>PowerPoint 簡報</vt:lpstr>
      <vt:lpstr>PowerPoint 簡報</vt:lpstr>
      <vt:lpstr>PowerPoint 簡報</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Aggressive Assembly of Pyrosequencing Reads with Mates</dc:title>
  <dc:creator>YiPo</dc:creator>
  <cp:lastModifiedBy>YiPo</cp:lastModifiedBy>
  <cp:revision>28</cp:revision>
  <dcterms:created xsi:type="dcterms:W3CDTF">2013-05-06T16:34:18Z</dcterms:created>
  <dcterms:modified xsi:type="dcterms:W3CDTF">2013-05-07T10:26:20Z</dcterms:modified>
</cp:coreProperties>
</file>