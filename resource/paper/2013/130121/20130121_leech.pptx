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1" r:id="rId4"/>
    <p:sldId id="259" r:id="rId5"/>
    <p:sldId id="265" r:id="rId6"/>
    <p:sldId id="258" r:id="rId7"/>
    <p:sldId id="260" r:id="rId8"/>
    <p:sldId id="262" r:id="rId9"/>
    <p:sldId id="263" r:id="rId10"/>
    <p:sldId id="264" r:id="rId1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E7A94E-ADC9-4D19-BBD0-F2A4D742D35C}" type="datetimeFigureOut">
              <a:rPr lang="zh-TW" altLang="en-US" smtClean="0"/>
              <a:t>2013/1/21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302794-CD1B-4291-AA39-8220AEAC6DF1}" type="slidenum">
              <a:rPr lang="zh-TW" altLang="en-US" smtClean="0"/>
              <a:t>‹#›</a:t>
            </a:fld>
            <a:endParaRPr lang="zh-TW" altLang="en-US"/>
          </a:p>
        </p:txBody>
      </p:sp>
    </p:spTree>
    <p:extLst>
      <p:ext uri="{BB962C8B-B14F-4D97-AF65-F5344CB8AC3E}">
        <p14:creationId xmlns:p14="http://schemas.microsoft.com/office/powerpoint/2010/main" val="2554274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1.http://fund.cnyes.com/Detail/intro/A13030.html</a:t>
            </a:r>
          </a:p>
          <a:p>
            <a:endParaRPr lang="zh-TW" altLang="en-US" dirty="0"/>
          </a:p>
        </p:txBody>
      </p:sp>
      <p:sp>
        <p:nvSpPr>
          <p:cNvPr id="4" name="投影片編號版面配置區 3"/>
          <p:cNvSpPr>
            <a:spLocks noGrp="1"/>
          </p:cNvSpPr>
          <p:nvPr>
            <p:ph type="sldNum" sz="quarter" idx="10"/>
          </p:nvPr>
        </p:nvSpPr>
        <p:spPr/>
        <p:txBody>
          <a:bodyPr/>
          <a:lstStyle/>
          <a:p>
            <a:fld id="{84302794-CD1B-4291-AA39-8220AEAC6DF1}" type="slidenum">
              <a:rPr lang="zh-TW" altLang="en-US" smtClean="0"/>
              <a:t>8</a:t>
            </a:fld>
            <a:endParaRPr lang="zh-TW" altLang="en-US"/>
          </a:p>
        </p:txBody>
      </p:sp>
    </p:spTree>
    <p:extLst>
      <p:ext uri="{BB962C8B-B14F-4D97-AF65-F5344CB8AC3E}">
        <p14:creationId xmlns:p14="http://schemas.microsoft.com/office/powerpoint/2010/main" val="1496311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3442613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1791689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995657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4290039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12365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4162119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1532534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2593531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2963338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1497140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F2C4C92-DBD0-4D07-94E5-3E7A7AA2AA45}" type="datetimeFigureOut">
              <a:rPr lang="zh-TW" altLang="en-US" smtClean="0"/>
              <a:t>2013/1/21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3777256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2C4C92-DBD0-4D07-94E5-3E7A7AA2AA45}" type="datetimeFigureOut">
              <a:rPr lang="zh-TW" altLang="en-US" smtClean="0"/>
              <a:t>2013/1/21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A51FA5-6D50-43AB-82D8-791356F4A734}" type="slidenum">
              <a:rPr lang="zh-TW" altLang="en-US" smtClean="0"/>
              <a:t>‹#›</a:t>
            </a:fld>
            <a:endParaRPr lang="zh-TW" altLang="en-US"/>
          </a:p>
        </p:txBody>
      </p:sp>
    </p:spTree>
    <p:extLst>
      <p:ext uri="{BB962C8B-B14F-4D97-AF65-F5344CB8AC3E}">
        <p14:creationId xmlns:p14="http://schemas.microsoft.com/office/powerpoint/2010/main" val="4076310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Mutual funds trading strategy based on particle swarm optimization</a:t>
            </a:r>
            <a:endParaRPr lang="zh-TW" altLang="en-US" dirty="0"/>
          </a:p>
        </p:txBody>
      </p:sp>
      <p:sp>
        <p:nvSpPr>
          <p:cNvPr id="3" name="副標題 2"/>
          <p:cNvSpPr>
            <a:spLocks noGrp="1"/>
          </p:cNvSpPr>
          <p:nvPr>
            <p:ph type="subTitle" idx="1"/>
          </p:nvPr>
        </p:nvSpPr>
        <p:spPr>
          <a:xfrm>
            <a:off x="1043608" y="3886200"/>
            <a:ext cx="7056784" cy="1343000"/>
          </a:xfrm>
        </p:spPr>
        <p:txBody>
          <a:bodyPr>
            <a:normAutofit fontScale="70000" lnSpcReduction="20000"/>
          </a:bodyPr>
          <a:lstStyle/>
          <a:p>
            <a:r>
              <a:rPr lang="en-US" altLang="zh-TW" dirty="0" smtClean="0"/>
              <a:t>Ling-Yuan Hsu, Shi-Jinn </a:t>
            </a:r>
            <a:r>
              <a:rPr lang="en-US" altLang="zh-TW" dirty="0" err="1" smtClean="0"/>
              <a:t>Horng</a:t>
            </a:r>
            <a:r>
              <a:rPr lang="en-US" altLang="zh-TW" dirty="0" smtClean="0"/>
              <a:t>, </a:t>
            </a:r>
            <a:r>
              <a:rPr lang="en-US" altLang="zh-TW" dirty="0" err="1" smtClean="0"/>
              <a:t>Mingxing</a:t>
            </a:r>
            <a:r>
              <a:rPr lang="en-US" altLang="zh-TW" dirty="0" smtClean="0"/>
              <a:t> He, </a:t>
            </a:r>
            <a:r>
              <a:rPr lang="en-US" altLang="zh-TW" dirty="0" err="1" smtClean="0"/>
              <a:t>Pingzhi</a:t>
            </a:r>
            <a:r>
              <a:rPr lang="en-US" altLang="zh-TW" dirty="0" smtClean="0"/>
              <a:t> Fan, </a:t>
            </a:r>
            <a:r>
              <a:rPr lang="en-US" altLang="zh-TW" dirty="0" err="1" smtClean="0"/>
              <a:t>Tzong-Wann</a:t>
            </a:r>
            <a:r>
              <a:rPr lang="en-US" altLang="zh-TW" dirty="0" smtClean="0"/>
              <a:t> </a:t>
            </a:r>
            <a:r>
              <a:rPr lang="en-US" altLang="zh-TW" dirty="0" err="1" smtClean="0"/>
              <a:t>Kao,Muhammad</a:t>
            </a:r>
            <a:r>
              <a:rPr lang="en-US" altLang="zh-TW" dirty="0" smtClean="0"/>
              <a:t> </a:t>
            </a:r>
            <a:r>
              <a:rPr lang="en-US" altLang="zh-TW" dirty="0" err="1" smtClean="0"/>
              <a:t>Khurram</a:t>
            </a:r>
            <a:r>
              <a:rPr lang="en-US" altLang="zh-TW" dirty="0" smtClean="0"/>
              <a:t> Khan, Ray-Shine Run, </a:t>
            </a:r>
            <a:r>
              <a:rPr lang="en-US" altLang="zh-TW" dirty="0" err="1" smtClean="0"/>
              <a:t>Jui</a:t>
            </a:r>
            <a:r>
              <a:rPr lang="en-US" altLang="zh-TW" dirty="0" smtClean="0"/>
              <a:t>-Lin Lai, </a:t>
            </a:r>
            <a:r>
              <a:rPr lang="en-US" altLang="zh-TW" dirty="0" err="1" smtClean="0"/>
              <a:t>Rong-Jian</a:t>
            </a:r>
            <a:r>
              <a:rPr lang="en-US" altLang="zh-TW" dirty="0" smtClean="0"/>
              <a:t> Chen,</a:t>
            </a:r>
          </a:p>
          <a:p>
            <a:r>
              <a:rPr lang="en-US" altLang="zh-TW" dirty="0" smtClean="0"/>
              <a:t>Expert Systems with Applications 38 (2011) 7582–7602</a:t>
            </a:r>
            <a:endParaRPr lang="zh-TW" altLang="en-US" dirty="0"/>
          </a:p>
        </p:txBody>
      </p:sp>
      <p:sp>
        <p:nvSpPr>
          <p:cNvPr id="4" name="文字方塊 3"/>
          <p:cNvSpPr txBox="1"/>
          <p:nvPr/>
        </p:nvSpPr>
        <p:spPr>
          <a:xfrm>
            <a:off x="5580112" y="5373216"/>
            <a:ext cx="2664296" cy="646331"/>
          </a:xfrm>
          <a:prstGeom prst="rect">
            <a:avLst/>
          </a:prstGeom>
          <a:noFill/>
        </p:spPr>
        <p:txBody>
          <a:bodyPr wrap="square" rtlCol="0">
            <a:spAutoFit/>
          </a:bodyPr>
          <a:lstStyle/>
          <a:p>
            <a:r>
              <a:rPr lang="en-US" altLang="zh-TW" dirty="0" smtClean="0"/>
              <a:t>Presenter: Cheng-Han Lee</a:t>
            </a:r>
          </a:p>
          <a:p>
            <a:r>
              <a:rPr lang="en-US" altLang="zh-TW" dirty="0" smtClean="0"/>
              <a:t>Date:2013/01/15</a:t>
            </a:r>
            <a:endParaRPr lang="zh-TW" altLang="en-US" dirty="0"/>
          </a:p>
        </p:txBody>
      </p:sp>
    </p:spTree>
    <p:extLst>
      <p:ext uri="{BB962C8B-B14F-4D97-AF65-F5344CB8AC3E}">
        <p14:creationId xmlns:p14="http://schemas.microsoft.com/office/powerpoint/2010/main" val="333982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62500" lnSpcReduction="20000"/>
          </a:bodyPr>
          <a:lstStyle/>
          <a:p>
            <a:pPr marL="0" indent="0" algn="just">
              <a:buNone/>
            </a:pPr>
            <a:r>
              <a:rPr lang="en-US" altLang="zh-TW" dirty="0" smtClean="0"/>
              <a:t>Mutual funds have become the most popular products for diversity of investment, since they are able to disperse investment risks to the smallest degree. In selecting mutual funds, the past performance of funds plays a central role in the expectations of the future performance of funds. In 2008, the U.S. sub-prime broke out; numerous investors lost more than half of the capitals donated. Therefore, a good trading strategy is necessary. In this paper, a new funds trading strategy that combines turbulent particle swarm optimization (named TPSO) and mixed moving average techniques is presented and used to find the proper content of technical indicator parameters to achieve high profit and low risk on a mutual fund. The time interval of moving average of the proposed method is adjustable and the trading model could avoid and reduce loss by providing several good buy and sell </a:t>
            </a:r>
            <a:r>
              <a:rPr lang="en-US" altLang="zh-TW" err="1" smtClean="0"/>
              <a:t>points</a:t>
            </a:r>
            <a:r>
              <a:rPr lang="en-US" altLang="zh-TW" smtClean="0"/>
              <a:t>. </a:t>
            </a:r>
            <a:r>
              <a:rPr lang="en-US" altLang="zh-TW" dirty="0" smtClean="0"/>
              <a:t>We tested the proposed model using the historical prices of last 10 years and the experimental results show that the performance of the proposed model is far better than the best original performance.</a:t>
            </a:r>
            <a:endParaRPr lang="zh-TW" altLang="en-US" dirty="0"/>
          </a:p>
        </p:txBody>
      </p:sp>
    </p:spTree>
    <p:extLst>
      <p:ext uri="{BB962C8B-B14F-4D97-AF65-F5344CB8AC3E}">
        <p14:creationId xmlns:p14="http://schemas.microsoft.com/office/powerpoint/2010/main" val="14758731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Indicators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14:m>
                  <m:oMath xmlns:m="http://schemas.openxmlformats.org/officeDocument/2006/math">
                    <m:sSubSup>
                      <m:sSubSupPr>
                        <m:ctrlPr>
                          <a:rPr lang="en-US" altLang="zh-TW" b="0" i="1" smtClean="0">
                            <a:latin typeface="Cambria Math"/>
                          </a:rPr>
                        </m:ctrlPr>
                      </m:sSubSupPr>
                      <m:e>
                        <m:r>
                          <a:rPr lang="en-US" altLang="zh-TW" b="0" i="1" smtClean="0">
                            <a:latin typeface="Cambria Math"/>
                          </a:rPr>
                          <m:t>𝑆𝑀𝐴</m:t>
                        </m:r>
                      </m:e>
                      <m:sub>
                        <m:r>
                          <a:rPr lang="en-US" altLang="zh-TW" b="0" i="1" smtClean="0">
                            <a:latin typeface="Cambria Math"/>
                          </a:rPr>
                          <m:t>𝑘</m:t>
                        </m:r>
                      </m:sub>
                      <m:sup>
                        <m:r>
                          <a:rPr lang="en-US" altLang="zh-TW" b="0" i="1" smtClean="0">
                            <a:latin typeface="Cambria Math"/>
                          </a:rPr>
                          <m:t>𝑇</m:t>
                        </m:r>
                      </m:sup>
                    </m:sSubSup>
                    <m:r>
                      <a:rPr lang="en-US" altLang="zh-TW" b="0" i="1" smtClean="0">
                        <a:latin typeface="Cambria Math"/>
                      </a:rPr>
                      <m:t> =</m:t>
                    </m:r>
                    <m:f>
                      <m:fPr>
                        <m:ctrlPr>
                          <a:rPr lang="en-US" altLang="zh-TW" b="0" i="1" smtClean="0">
                            <a:latin typeface="Cambria Math"/>
                          </a:rPr>
                        </m:ctrlPr>
                      </m:fPr>
                      <m:num>
                        <m:r>
                          <a:rPr lang="en-US" altLang="zh-TW" b="0" i="1" smtClean="0">
                            <a:latin typeface="Cambria Math"/>
                          </a:rPr>
                          <m:t>1</m:t>
                        </m:r>
                      </m:num>
                      <m:den>
                        <m:r>
                          <a:rPr lang="en-US" altLang="zh-TW" b="0" i="1" smtClean="0">
                            <a:latin typeface="Cambria Math"/>
                          </a:rPr>
                          <m:t>𝑇</m:t>
                        </m:r>
                      </m:den>
                    </m:f>
                    <m:nary>
                      <m:naryPr>
                        <m:chr m:val="∑"/>
                        <m:ctrlPr>
                          <a:rPr lang="en-US" altLang="zh-TW" b="0" i="1" smtClean="0">
                            <a:latin typeface="Cambria Math"/>
                          </a:rPr>
                        </m:ctrlPr>
                      </m:naryPr>
                      <m:sub>
                        <m:r>
                          <m:rPr>
                            <m:brk m:alnAt="23"/>
                          </m:rPr>
                          <a:rPr lang="en-US" altLang="zh-TW" b="0" i="1" smtClean="0">
                            <a:latin typeface="Cambria Math"/>
                          </a:rPr>
                          <m:t>𝑘</m:t>
                        </m:r>
                        <m:r>
                          <a:rPr lang="en-US" altLang="zh-TW" b="0" i="1" smtClean="0">
                            <a:latin typeface="Cambria Math"/>
                          </a:rPr>
                          <m:t>−</m:t>
                        </m:r>
                        <m:r>
                          <a:rPr lang="en-US" altLang="zh-TW" b="0" i="1" smtClean="0">
                            <a:latin typeface="Cambria Math"/>
                          </a:rPr>
                          <m:t>𝑇</m:t>
                        </m:r>
                        <m:r>
                          <a:rPr lang="en-US" altLang="zh-TW" b="0" i="1" smtClean="0">
                            <a:latin typeface="Cambria Math"/>
                          </a:rPr>
                          <m:t>+1</m:t>
                        </m:r>
                      </m:sub>
                      <m:sup>
                        <m:r>
                          <a:rPr lang="en-US" altLang="zh-TW" b="0" i="1" smtClean="0">
                            <a:latin typeface="Cambria Math"/>
                          </a:rPr>
                          <m:t>𝑘</m:t>
                        </m:r>
                      </m:sup>
                      <m:e>
                        <m:sSub>
                          <m:sSubPr>
                            <m:ctrlPr>
                              <a:rPr lang="en-US" altLang="zh-TW" b="0" i="1" smtClean="0">
                                <a:latin typeface="Cambria Math"/>
                              </a:rPr>
                            </m:ctrlPr>
                          </m:sSubPr>
                          <m:e>
                            <m:r>
                              <a:rPr lang="en-US" altLang="zh-TW" b="0" i="1" smtClean="0">
                                <a:latin typeface="Cambria Math"/>
                              </a:rPr>
                              <m:t>𝑃𝑟𝑖𝑐𝑒</m:t>
                            </m:r>
                          </m:e>
                          <m:sub>
                            <m:r>
                              <a:rPr lang="en-US" altLang="zh-TW" b="0" i="1" smtClean="0">
                                <a:latin typeface="Cambria Math"/>
                              </a:rPr>
                              <m:t>𝑡</m:t>
                            </m:r>
                          </m:sub>
                        </m:sSub>
                      </m:e>
                    </m:nary>
                  </m:oMath>
                </a14:m>
                <a:endParaRPr lang="en-US" altLang="zh-TW" dirty="0" smtClean="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TW" altLang="en-US">
                    <a:noFill/>
                  </a:rPr>
                  <a:t> </a:t>
                </a:r>
              </a:p>
            </p:txBody>
          </p:sp>
        </mc:Fallback>
      </mc:AlternateContent>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456" y="2492896"/>
            <a:ext cx="6624736" cy="3964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3304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Trading strategy</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628800"/>
            <a:ext cx="51244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2571" y="3429000"/>
            <a:ext cx="3609975"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99410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Particle Swarm Optimization</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14:m>
                  <m:oMath xmlns:m="http://schemas.openxmlformats.org/officeDocument/2006/math">
                    <m:sSub>
                      <m:sSubPr>
                        <m:ctrlPr>
                          <a:rPr lang="en-US" altLang="zh-TW" b="0" i="1" smtClean="0">
                            <a:latin typeface="Cambria Math"/>
                          </a:rPr>
                        </m:ctrlPr>
                      </m:sSubPr>
                      <m:e>
                        <m:r>
                          <a:rPr lang="en-US" altLang="zh-TW" b="0" i="1" smtClean="0">
                            <a:latin typeface="Cambria Math"/>
                          </a:rPr>
                          <m:t>𝑣</m:t>
                        </m:r>
                      </m:e>
                      <m:sub>
                        <m:r>
                          <a:rPr lang="en-US" altLang="zh-TW" b="0" i="1" smtClean="0">
                            <a:latin typeface="Cambria Math"/>
                          </a:rPr>
                          <m:t>𝑖𝑑</m:t>
                        </m:r>
                      </m:sub>
                    </m:sSub>
                    <m:r>
                      <a:rPr lang="en-US" altLang="zh-TW" b="0" i="1" smtClean="0">
                        <a:latin typeface="Cambria Math"/>
                      </a:rPr>
                      <m:t>=</m:t>
                    </m:r>
                    <m:r>
                      <a:rPr lang="en-US" altLang="zh-TW" b="0" i="1" smtClean="0">
                        <a:latin typeface="Cambria Math"/>
                      </a:rPr>
                      <m:t>𝑤</m:t>
                    </m:r>
                    <m:r>
                      <a:rPr lang="en-US" altLang="zh-TW" b="0" i="1" smtClean="0">
                        <a:latin typeface="Cambria Math"/>
                      </a:rPr>
                      <m:t>∗</m:t>
                    </m:r>
                    <m:sSub>
                      <m:sSubPr>
                        <m:ctrlPr>
                          <a:rPr lang="en-US" altLang="zh-TW" i="1">
                            <a:latin typeface="Cambria Math"/>
                          </a:rPr>
                        </m:ctrlPr>
                      </m:sSubPr>
                      <m:e>
                        <m:r>
                          <a:rPr lang="en-US" altLang="zh-TW" i="1">
                            <a:latin typeface="Cambria Math"/>
                          </a:rPr>
                          <m:t>𝑣</m:t>
                        </m:r>
                      </m:e>
                      <m:sub>
                        <m:r>
                          <a:rPr lang="en-US" altLang="zh-TW" i="1">
                            <a:latin typeface="Cambria Math"/>
                          </a:rPr>
                          <m:t>𝑖𝑑</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𝑐</m:t>
                        </m:r>
                      </m:e>
                      <m:sub>
                        <m:r>
                          <a:rPr lang="en-US" altLang="zh-TW" b="0" i="1" smtClean="0">
                            <a:latin typeface="Cambria Math"/>
                          </a:rPr>
                          <m:t>1</m:t>
                        </m:r>
                      </m:sub>
                    </m:sSub>
                    <m:r>
                      <a:rPr lang="en-US" altLang="zh-TW" b="0" i="1" smtClean="0">
                        <a:latin typeface="Cambria Math"/>
                      </a:rPr>
                      <m:t>∗</m:t>
                    </m:r>
                    <m:r>
                      <a:rPr lang="en-US" altLang="zh-TW" b="0" i="1" smtClean="0">
                        <a:latin typeface="Cambria Math"/>
                      </a:rPr>
                      <m:t>𝑟𝑎𝑛𝑑</m:t>
                    </m:r>
                    <m:r>
                      <a:rPr lang="en-US" altLang="zh-TW" b="0" i="1" smtClean="0">
                        <a:latin typeface="Cambria Math"/>
                      </a:rPr>
                      <m:t>∗</m:t>
                    </m:r>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𝑝</m:t>
                            </m:r>
                          </m:e>
                          <m:sub>
                            <m:r>
                              <a:rPr lang="en-US" altLang="zh-TW" b="0" i="1" smtClean="0">
                                <a:latin typeface="Cambria Math"/>
                              </a:rPr>
                              <m:t>𝑖𝑑</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𝑖𝑑</m:t>
                            </m:r>
                          </m:sub>
                        </m:sSub>
                      </m:e>
                    </m:d>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𝑐</m:t>
                        </m:r>
                      </m:e>
                      <m:sub>
                        <m:r>
                          <a:rPr lang="en-US" altLang="zh-TW" b="0" i="1" smtClean="0">
                            <a:latin typeface="Cambria Math"/>
                          </a:rPr>
                          <m:t>2</m:t>
                        </m:r>
                      </m:sub>
                    </m:sSub>
                    <m:r>
                      <a:rPr lang="en-US" altLang="zh-TW" b="0" i="1" smtClean="0">
                        <a:latin typeface="Cambria Math"/>
                      </a:rPr>
                      <m:t>∗</m:t>
                    </m:r>
                    <m:r>
                      <a:rPr lang="en-US" altLang="zh-TW" b="0" i="1" smtClean="0">
                        <a:latin typeface="Cambria Math"/>
                      </a:rPr>
                      <m:t>𝑅𝑎𝑛𝑑</m:t>
                    </m:r>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𝑝</m:t>
                        </m:r>
                      </m:e>
                      <m:sub>
                        <m:r>
                          <a:rPr lang="en-US" altLang="zh-TW" b="0" i="1" smtClean="0">
                            <a:latin typeface="Cambria Math"/>
                          </a:rPr>
                          <m:t>𝑔𝑑</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𝑥</m:t>
                        </m:r>
                      </m:e>
                      <m:sub>
                        <m:r>
                          <a:rPr lang="en-US" altLang="zh-TW" b="0" i="1" smtClean="0">
                            <a:latin typeface="Cambria Math"/>
                          </a:rPr>
                          <m:t>𝑖𝑑</m:t>
                        </m:r>
                      </m:sub>
                    </m:sSub>
                    <m:r>
                      <a:rPr lang="en-US" altLang="zh-TW" b="0" i="1" smtClean="0">
                        <a:latin typeface="Cambria Math"/>
                      </a:rPr>
                      <m:t>)</m:t>
                    </m:r>
                  </m:oMath>
                </a14:m>
                <a:endParaRPr lang="en-US" altLang="zh-TW" dirty="0" smtClean="0"/>
              </a:p>
              <a:p>
                <a14:m>
                  <m:oMath xmlns:m="http://schemas.openxmlformats.org/officeDocument/2006/math">
                    <m:sSub>
                      <m:sSubPr>
                        <m:ctrlPr>
                          <a:rPr lang="en-US" altLang="zh-TW" i="1">
                            <a:latin typeface="Cambria Math"/>
                          </a:rPr>
                        </m:ctrlPr>
                      </m:sSubPr>
                      <m:e>
                        <m:r>
                          <a:rPr lang="en-US" altLang="zh-TW" i="1">
                            <a:latin typeface="Cambria Math"/>
                          </a:rPr>
                          <m:t>𝑥</m:t>
                        </m:r>
                      </m:e>
                      <m:sub>
                        <m:r>
                          <a:rPr lang="en-US" altLang="zh-TW" i="1">
                            <a:latin typeface="Cambria Math"/>
                          </a:rPr>
                          <m:t>𝑖𝑑</m:t>
                        </m:r>
                      </m:sub>
                    </m:sSub>
                    <m:r>
                      <a:rPr lang="en-US" altLang="zh-TW" b="0" i="1" smtClean="0">
                        <a:latin typeface="Cambria Math"/>
                      </a:rPr>
                      <m:t>=</m:t>
                    </m:r>
                    <m:sSub>
                      <m:sSubPr>
                        <m:ctrlPr>
                          <a:rPr lang="en-US" altLang="zh-TW" i="1">
                            <a:latin typeface="Cambria Math"/>
                          </a:rPr>
                        </m:ctrlPr>
                      </m:sSubPr>
                      <m:e>
                        <m:r>
                          <a:rPr lang="en-US" altLang="zh-TW" i="1">
                            <a:latin typeface="Cambria Math"/>
                          </a:rPr>
                          <m:t>𝑥</m:t>
                        </m:r>
                      </m:e>
                      <m:sub>
                        <m:r>
                          <a:rPr lang="en-US" altLang="zh-TW" i="1">
                            <a:latin typeface="Cambria Math"/>
                          </a:rPr>
                          <m:t>𝑖𝑑</m:t>
                        </m:r>
                      </m:sub>
                    </m:sSub>
                    <m:r>
                      <a:rPr lang="en-US" altLang="zh-TW" b="0" i="1" smtClean="0">
                        <a:latin typeface="Cambria Math"/>
                      </a:rPr>
                      <m:t>+</m:t>
                    </m:r>
                    <m:sSub>
                      <m:sSubPr>
                        <m:ctrlPr>
                          <a:rPr lang="en-US" altLang="zh-TW" i="1">
                            <a:latin typeface="Cambria Math"/>
                          </a:rPr>
                        </m:ctrlPr>
                      </m:sSubPr>
                      <m:e>
                        <m:r>
                          <a:rPr lang="en-US" altLang="zh-TW" i="1">
                            <a:latin typeface="Cambria Math"/>
                          </a:rPr>
                          <m:t>𝑣</m:t>
                        </m:r>
                      </m:e>
                      <m:sub>
                        <m:r>
                          <a:rPr lang="en-US" altLang="zh-TW" i="1">
                            <a:latin typeface="Cambria Math"/>
                          </a:rPr>
                          <m:t>𝑖𝑑</m:t>
                        </m:r>
                      </m:sub>
                    </m:sSub>
                  </m:oMath>
                </a14:m>
                <a:endParaRPr lang="en-US" altLang="zh-TW" dirty="0" smtClean="0"/>
              </a:p>
              <a:p>
                <a:endParaRPr lang="en-US" altLang="zh-TW" dirty="0" smtClean="0"/>
              </a:p>
              <a:p>
                <a14:m>
                  <m:oMath xmlns:m="http://schemas.openxmlformats.org/officeDocument/2006/math">
                    <m:r>
                      <a:rPr lang="en-US" altLang="zh-TW" i="1">
                        <a:latin typeface="Cambria Math"/>
                      </a:rPr>
                      <m:t>𝑖</m:t>
                    </m:r>
                    <m:r>
                      <a:rPr lang="en-US" altLang="zh-TW" b="0" i="1" smtClean="0">
                        <a:latin typeface="Cambria Math"/>
                      </a:rPr>
                      <m:t>:</m:t>
                    </m:r>
                    <m:r>
                      <a:rPr lang="zh-TW" altLang="en-US" b="0" i="1" smtClean="0">
                        <a:latin typeface="Cambria Math"/>
                      </a:rPr>
                      <m:t>第</m:t>
                    </m:r>
                    <m:r>
                      <a:rPr lang="en-US" altLang="zh-TW" i="1">
                        <a:latin typeface="Cambria Math"/>
                      </a:rPr>
                      <m:t>𝑖</m:t>
                    </m:r>
                    <m:r>
                      <a:rPr lang="zh-TW" altLang="en-US" i="1" smtClean="0">
                        <a:latin typeface="Cambria Math"/>
                      </a:rPr>
                      <m:t>個點</m:t>
                    </m:r>
                    <m:r>
                      <a:rPr lang="en-US" altLang="zh-TW" b="0" i="1" smtClean="0">
                        <a:latin typeface="Cambria Math"/>
                      </a:rPr>
                      <m:t>,</m:t>
                    </m:r>
                    <m:r>
                      <a:rPr lang="en-US" altLang="zh-TW" i="1">
                        <a:latin typeface="Cambria Math"/>
                      </a:rPr>
                      <m:t>𝑑</m:t>
                    </m:r>
                    <m:r>
                      <a:rPr lang="en-US" altLang="zh-TW" b="0" i="1" smtClean="0">
                        <a:latin typeface="Cambria Math"/>
                      </a:rPr>
                      <m:t>:</m:t>
                    </m:r>
                    <m:r>
                      <a:rPr lang="zh-TW" altLang="en-US" b="0" i="1" smtClean="0">
                        <a:latin typeface="Cambria Math"/>
                      </a:rPr>
                      <m:t>第</m:t>
                    </m:r>
                    <m:r>
                      <a:rPr lang="en-US" altLang="zh-TW" b="0" i="1" smtClean="0">
                        <a:latin typeface="Cambria Math"/>
                      </a:rPr>
                      <m:t>𝑑</m:t>
                    </m:r>
                    <m:r>
                      <a:rPr lang="zh-TW" altLang="en-US" i="1">
                        <a:latin typeface="Cambria Math"/>
                      </a:rPr>
                      <m:t>維度</m:t>
                    </m:r>
                  </m:oMath>
                </a14:m>
                <a:endParaRPr lang="en-US" altLang="zh-TW" dirty="0" smtClean="0"/>
              </a:p>
              <a:p>
                <a14:m>
                  <m:oMath xmlns:m="http://schemas.openxmlformats.org/officeDocument/2006/math">
                    <m:r>
                      <a:rPr lang="en-US" altLang="zh-TW" i="1">
                        <a:latin typeface="Cambria Math"/>
                      </a:rPr>
                      <m:t>𝑤</m:t>
                    </m:r>
                    <m:r>
                      <a:rPr lang="en-US" altLang="zh-TW" b="0" i="1" smtClean="0">
                        <a:latin typeface="Cambria Math"/>
                      </a:rPr>
                      <m:t>,</m:t>
                    </m:r>
                    <m:sSub>
                      <m:sSubPr>
                        <m:ctrlPr>
                          <a:rPr lang="en-US" altLang="zh-TW" i="1">
                            <a:latin typeface="Cambria Math"/>
                          </a:rPr>
                        </m:ctrlPr>
                      </m:sSubPr>
                      <m:e>
                        <m:r>
                          <a:rPr lang="en-US" altLang="zh-TW" i="1">
                            <a:latin typeface="Cambria Math"/>
                          </a:rPr>
                          <m:t>𝑐</m:t>
                        </m:r>
                      </m:e>
                      <m:sub>
                        <m:r>
                          <a:rPr lang="en-US" altLang="zh-TW" i="1">
                            <a:latin typeface="Cambria Math"/>
                          </a:rPr>
                          <m:t>1</m:t>
                        </m:r>
                      </m:sub>
                    </m:sSub>
                    <m:r>
                      <a:rPr lang="en-US" altLang="zh-TW" b="0" i="1" smtClean="0">
                        <a:latin typeface="Cambria Math"/>
                      </a:rPr>
                      <m:t>,</m:t>
                    </m:r>
                    <m:sSub>
                      <m:sSubPr>
                        <m:ctrlPr>
                          <a:rPr lang="en-US" altLang="zh-TW" i="1">
                            <a:latin typeface="Cambria Math"/>
                          </a:rPr>
                        </m:ctrlPr>
                      </m:sSubPr>
                      <m:e>
                        <m:r>
                          <a:rPr lang="en-US" altLang="zh-TW" i="1">
                            <a:latin typeface="Cambria Math"/>
                          </a:rPr>
                          <m:t>𝑐</m:t>
                        </m:r>
                      </m:e>
                      <m:sub>
                        <m:r>
                          <a:rPr lang="en-US" altLang="zh-TW" b="0" i="1" smtClean="0">
                            <a:latin typeface="Cambria Math"/>
                          </a:rPr>
                          <m:t>2</m:t>
                        </m:r>
                      </m:sub>
                    </m:sSub>
                    <m:r>
                      <a:rPr lang="en-US" altLang="zh-TW" b="0" i="1" smtClean="0">
                        <a:latin typeface="Cambria Math"/>
                      </a:rPr>
                      <m:t>:</m:t>
                    </m:r>
                    <m:r>
                      <a:rPr lang="zh-TW" altLang="en-US" i="1">
                        <a:latin typeface="Cambria Math"/>
                      </a:rPr>
                      <m:t>常數</m:t>
                    </m:r>
                    <m:r>
                      <a:rPr lang="zh-TW" altLang="en-US" b="0" i="1" smtClean="0">
                        <a:latin typeface="Cambria Math"/>
                      </a:rPr>
                      <m:t> </m:t>
                    </m:r>
                  </m:oMath>
                </a14:m>
                <a:endParaRPr lang="en-US" altLang="zh-TW" dirty="0" smtClean="0"/>
              </a:p>
              <a:p>
                <a14:m>
                  <m:oMath xmlns:m="http://schemas.openxmlformats.org/officeDocument/2006/math">
                    <m:sSub>
                      <m:sSubPr>
                        <m:ctrlPr>
                          <a:rPr lang="en-US" altLang="zh-TW" i="1">
                            <a:latin typeface="Cambria Math"/>
                          </a:rPr>
                        </m:ctrlPr>
                      </m:sSubPr>
                      <m:e>
                        <m:r>
                          <a:rPr lang="en-US" altLang="zh-TW" i="1">
                            <a:latin typeface="Cambria Math"/>
                          </a:rPr>
                          <m:t>𝑝</m:t>
                        </m:r>
                      </m:e>
                      <m:sub>
                        <m:r>
                          <a:rPr lang="en-US" altLang="zh-TW" i="1">
                            <a:latin typeface="Cambria Math"/>
                          </a:rPr>
                          <m:t>𝑔𝑑</m:t>
                        </m:r>
                      </m:sub>
                    </m:sSub>
                    <m:r>
                      <a:rPr lang="en-US" altLang="zh-TW" b="0" i="1" smtClean="0">
                        <a:latin typeface="Cambria Math"/>
                      </a:rPr>
                      <m:t>:</m:t>
                    </m:r>
                    <m:r>
                      <a:rPr lang="zh-TW" altLang="en-US" b="0" i="1" smtClean="0">
                        <a:latin typeface="Cambria Math"/>
                      </a:rPr>
                      <m:t> </m:t>
                    </m:r>
                    <m:r>
                      <a:rPr lang="zh-TW" altLang="en-US" i="1">
                        <a:latin typeface="Cambria Math"/>
                      </a:rPr>
                      <m:t>目前</m:t>
                    </m:r>
                    <m:r>
                      <a:rPr lang="zh-TW" altLang="en-US" i="1" smtClean="0">
                        <a:latin typeface="Cambria Math"/>
                      </a:rPr>
                      <m:t>的最佳解</m:t>
                    </m:r>
                  </m:oMath>
                </a14:m>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3013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TPSO (Turbulent PSO)</a:t>
            </a:r>
          </a:p>
        </p:txBody>
      </p:sp>
      <p:sp>
        <p:nvSpPr>
          <p:cNvPr id="3" name="內容版面配置區 2"/>
          <p:cNvSpPr>
            <a:spLocks noGrp="1"/>
          </p:cNvSpPr>
          <p:nvPr>
            <p:ph idx="1"/>
          </p:nvPr>
        </p:nvSpPr>
        <p:spPr/>
        <p:txBody>
          <a:bodyPr/>
          <a:lstStyle/>
          <a:p>
            <a:r>
              <a:rPr lang="en-US" altLang="zh-TW" dirty="0" smtClean="0"/>
              <a:t>TPSO (Turbulent PSO)</a:t>
            </a:r>
          </a:p>
          <a:p>
            <a:endParaRPr lang="zh-TW" alt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725" y="2426957"/>
            <a:ext cx="4276725"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16860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905000"/>
            <a:ext cx="8892480" cy="237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82163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1600200"/>
            <a:ext cx="8219256" cy="5069160"/>
          </a:xfrm>
        </p:spPr>
        <p:txBody>
          <a:bodyPr>
            <a:normAutofit fontScale="92500" lnSpcReduction="10000"/>
          </a:bodyPr>
          <a:lstStyle/>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en-US" altLang="zh-TW" dirty="0"/>
          </a:p>
          <a:p>
            <a:endParaRPr lang="en-US" altLang="zh-TW" dirty="0" smtClean="0"/>
          </a:p>
          <a:p>
            <a:pPr marL="0" indent="0" algn="ctr">
              <a:buNone/>
            </a:pPr>
            <a:r>
              <a:rPr lang="en-US" altLang="zh-TW" dirty="0" smtClean="0"/>
              <a:t>‧</a:t>
            </a:r>
          </a:p>
          <a:p>
            <a:pPr marL="0" indent="0" algn="ctr">
              <a:buNone/>
            </a:pPr>
            <a:r>
              <a:rPr lang="en-US" altLang="zh-TW" dirty="0" smtClean="0"/>
              <a:t>‧</a:t>
            </a:r>
          </a:p>
          <a:p>
            <a:pPr marL="0" indent="0" algn="ctr">
              <a:buNone/>
            </a:pPr>
            <a:r>
              <a:rPr lang="en-US" altLang="zh-TW" dirty="0" smtClean="0"/>
              <a:t>‧</a:t>
            </a:r>
            <a:endParaRPr lang="zh-TW" altLang="en-US" dirty="0" smtClean="0"/>
          </a:p>
          <a:p>
            <a:pPr marL="0" indent="0" algn="ctr">
              <a:buNone/>
            </a:pPr>
            <a:endParaRPr lang="zh-TW" altLang="en-US" dirty="0" smtClean="0"/>
          </a:p>
          <a:p>
            <a:pPr marL="0" indent="0" algn="ctr">
              <a:buNone/>
            </a:pPr>
            <a:endParaRPr lang="zh-TW" alt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836712"/>
            <a:ext cx="8457410"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77638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04960"/>
            <a:ext cx="8892480" cy="214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0321" y="2420888"/>
            <a:ext cx="5514975"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687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2852936"/>
            <a:ext cx="8229600" cy="3273227"/>
          </a:xfrm>
        </p:spPr>
        <p:txBody>
          <a:bodyPr>
            <a:normAutofit/>
          </a:bodyPr>
          <a:lstStyle/>
          <a:p>
            <a:pPr marL="0" indent="0" algn="ctr">
              <a:buNone/>
            </a:pPr>
            <a:r>
              <a:rPr lang="en-US" altLang="zh-TW" sz="6400" b="1" dirty="0" smtClean="0">
                <a:latin typeface="Bradley Hand ITC" pitchFamily="66" charset="0"/>
              </a:rPr>
              <a:t>THE</a:t>
            </a:r>
            <a:r>
              <a:rPr lang="zh-TW" altLang="en-US" sz="6400" b="1" dirty="0" smtClean="0">
                <a:latin typeface="Bradley Hand ITC" pitchFamily="66" charset="0"/>
              </a:rPr>
              <a:t> </a:t>
            </a:r>
            <a:r>
              <a:rPr lang="en-US" altLang="zh-TW" sz="6400" b="1" dirty="0" smtClean="0">
                <a:latin typeface="Bradley Hand ITC" pitchFamily="66" charset="0"/>
              </a:rPr>
              <a:t>END</a:t>
            </a:r>
            <a:endParaRPr lang="zh-TW" altLang="en-US" sz="6400" b="1" dirty="0">
              <a:latin typeface="Bradley Hand ITC" pitchFamily="66" charset="0"/>
            </a:endParaRPr>
          </a:p>
        </p:txBody>
      </p:sp>
    </p:spTree>
    <p:extLst>
      <p:ext uri="{BB962C8B-B14F-4D97-AF65-F5344CB8AC3E}">
        <p14:creationId xmlns:p14="http://schemas.microsoft.com/office/powerpoint/2010/main" val="24701165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TotalTime>
  <Words>388</Words>
  <Application>Microsoft Office PowerPoint</Application>
  <PresentationFormat>如螢幕大小 (4:3)</PresentationFormat>
  <Paragraphs>33</Paragraphs>
  <Slides>10</Slides>
  <Notes>1</Notes>
  <HiddenSlides>0</HiddenSlides>
  <MMClips>0</MMClips>
  <ScaleCrop>false</ScaleCrop>
  <HeadingPairs>
    <vt:vector size="4" baseType="variant">
      <vt:variant>
        <vt:lpstr>佈景主題</vt:lpstr>
      </vt:variant>
      <vt:variant>
        <vt:i4>1</vt:i4>
      </vt:variant>
      <vt:variant>
        <vt:lpstr>投影片標題</vt:lpstr>
      </vt:variant>
      <vt:variant>
        <vt:i4>10</vt:i4>
      </vt:variant>
    </vt:vector>
  </HeadingPairs>
  <TitlesOfParts>
    <vt:vector size="11" baseType="lpstr">
      <vt:lpstr>Office 佈景主題</vt:lpstr>
      <vt:lpstr>Mutual funds trading strategy based on particle swarm optimization</vt:lpstr>
      <vt:lpstr>Abstract</vt:lpstr>
      <vt:lpstr>Indicators</vt:lpstr>
      <vt:lpstr>Trading strategy</vt:lpstr>
      <vt:lpstr>Particle Swarm Optimization</vt:lpstr>
      <vt:lpstr>TPSO (Turbulent PSO)</vt:lpstr>
      <vt:lpstr>Experimental results</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Mutual funds trading strategy based on particle swarm optimization</dc:title>
  <dc:creator>LCH</dc:creator>
  <cp:lastModifiedBy>LCH</cp:lastModifiedBy>
  <cp:revision>17</cp:revision>
  <dcterms:created xsi:type="dcterms:W3CDTF">2013-01-15T08:59:40Z</dcterms:created>
  <dcterms:modified xsi:type="dcterms:W3CDTF">2013-01-21T10:18:17Z</dcterms:modified>
</cp:coreProperties>
</file>