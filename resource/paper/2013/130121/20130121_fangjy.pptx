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0" r:id="rId4"/>
    <p:sldId id="271" r:id="rId5"/>
    <p:sldId id="277" r:id="rId6"/>
    <p:sldId id="272" r:id="rId7"/>
    <p:sldId id="273" r:id="rId8"/>
    <p:sldId id="274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04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21" autoAdjust="0"/>
    <p:restoredTop sz="94660"/>
  </p:normalViewPr>
  <p:slideViewPr>
    <p:cSldViewPr>
      <p:cViewPr>
        <p:scale>
          <a:sx n="99" d="100"/>
          <a:sy n="99" d="100"/>
        </p:scale>
        <p:origin x="-2418" y="-3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9647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1216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97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572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355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93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2501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61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11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9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090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B3296-705A-4264-BF48-F2AACB631E85}" type="datetimeFigureOut">
              <a:rPr lang="zh-TW" altLang="en-US" smtClean="0"/>
              <a:pPr/>
              <a:t>2013/1/21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7C5CA-F8C8-4844-A36B-1FC3AC1326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14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16288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A combined approach for clustering based on K-means and gravitational</a:t>
            </a:r>
            <a:br>
              <a:rPr lang="en-US" altLang="zh-TW" b="1" dirty="0"/>
            </a:br>
            <a:r>
              <a:rPr lang="en-US" altLang="zh-TW" b="1" dirty="0"/>
              <a:t>search algorithms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3568" y="3501008"/>
            <a:ext cx="7704856" cy="2304256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 err="1">
                <a:solidFill>
                  <a:schemeClr val="tx1"/>
                </a:solidFill>
              </a:rPr>
              <a:t>Abdolreza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dirty="0" err="1" smtClean="0">
                <a:solidFill>
                  <a:schemeClr val="tx1"/>
                </a:solidFill>
              </a:rPr>
              <a:t>Hatamlou</a:t>
            </a:r>
            <a:r>
              <a:rPr lang="en-US" altLang="zh-TW" dirty="0" smtClean="0">
                <a:solidFill>
                  <a:schemeClr val="tx1"/>
                </a:solidFill>
              </a:rPr>
              <a:t>, </a:t>
            </a:r>
            <a:r>
              <a:rPr lang="en-US" altLang="zh-TW" dirty="0" err="1">
                <a:solidFill>
                  <a:schemeClr val="tx1"/>
                </a:solidFill>
              </a:rPr>
              <a:t>Salwani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</a:rPr>
              <a:t>Abdullah, </a:t>
            </a:r>
            <a:r>
              <a:rPr lang="en-US" altLang="zh-TW" dirty="0" err="1">
                <a:solidFill>
                  <a:schemeClr val="tx1"/>
                </a:solidFill>
              </a:rPr>
              <a:t>Hossein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dirty="0" err="1" smtClean="0">
                <a:solidFill>
                  <a:schemeClr val="tx1"/>
                </a:solidFill>
              </a:rPr>
              <a:t>Nezamabadi</a:t>
            </a:r>
            <a:r>
              <a:rPr lang="en-US" altLang="zh-TW" dirty="0" smtClean="0">
                <a:solidFill>
                  <a:schemeClr val="tx1"/>
                </a:solidFill>
              </a:rPr>
              <a:t>-pour</a:t>
            </a:r>
          </a:p>
          <a:p>
            <a:endParaRPr lang="en-US" altLang="zh-TW" dirty="0" smtClean="0">
              <a:solidFill>
                <a:schemeClr val="tx1"/>
              </a:solidFill>
              <a:effectLst/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Swarm and Evolutionary Computation 6 (2012) </a:t>
            </a:r>
            <a:r>
              <a:rPr lang="en-US" altLang="zh-TW" dirty="0" smtClean="0">
                <a:solidFill>
                  <a:schemeClr val="tx1"/>
                </a:solidFill>
              </a:rPr>
              <a:t>47–52</a:t>
            </a:r>
          </a:p>
          <a:p>
            <a:endParaRPr lang="en-US" altLang="zh-TW" dirty="0" smtClean="0">
              <a:solidFill>
                <a:schemeClr val="tx1"/>
              </a:solidFill>
              <a:effectLst/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Department of Electrical Engineering, </a:t>
            </a:r>
            <a:r>
              <a:rPr lang="en-US" altLang="zh-TW" dirty="0" err="1">
                <a:solidFill>
                  <a:schemeClr val="tx1"/>
                </a:solidFill>
              </a:rPr>
              <a:t>Shahid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dirty="0" err="1">
                <a:solidFill>
                  <a:schemeClr val="tx1"/>
                </a:solidFill>
              </a:rPr>
              <a:t>Bahonar</a:t>
            </a:r>
            <a:r>
              <a:rPr lang="en-US" altLang="zh-TW" dirty="0">
                <a:solidFill>
                  <a:schemeClr val="tx1"/>
                </a:solidFill>
              </a:rPr>
              <a:t> University of Kerman, Kerman, Iran</a:t>
            </a:r>
            <a:endParaRPr lang="en-US" altLang="zh-TW" dirty="0" smtClean="0">
              <a:effectLst/>
            </a:endParaRP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796136" y="6021288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64088" y="5805264"/>
            <a:ext cx="3600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zh-TW" dirty="0">
                <a:latin typeface="Times New Roman" pitchFamily="18" charset="0"/>
              </a:rPr>
              <a:t>Presenter: </a:t>
            </a:r>
            <a:r>
              <a:rPr lang="zh-TW" altLang="en-US" dirty="0">
                <a:latin typeface="Times New Roman" pitchFamily="18" charset="0"/>
              </a:rPr>
              <a:t>方鈞毅</a:t>
            </a:r>
            <a:endParaRPr kumimoji="0" lang="en-US" altLang="zh-TW" dirty="0">
              <a:latin typeface="Times New Roman" pitchFamily="18" charset="0"/>
            </a:endParaRPr>
          </a:p>
          <a:p>
            <a:r>
              <a:rPr kumimoji="0" lang="en-US" altLang="zh-TW" dirty="0">
                <a:latin typeface="Times New Roman" pitchFamily="18" charset="0"/>
              </a:rPr>
              <a:t>Date: </a:t>
            </a:r>
            <a:r>
              <a:rPr lang="en-US" altLang="zh-TW" dirty="0" smtClean="0">
                <a:latin typeface="Times New Roman" pitchFamily="18" charset="0"/>
              </a:rPr>
              <a:t>Jun</a:t>
            </a:r>
            <a:r>
              <a:rPr kumimoji="0" lang="en-US" altLang="zh-TW" dirty="0" smtClean="0">
                <a:latin typeface="Times New Roman" pitchFamily="18" charset="0"/>
              </a:rPr>
              <a:t>. </a:t>
            </a:r>
            <a:r>
              <a:rPr lang="en-US" altLang="zh-TW" dirty="0" smtClean="0">
                <a:latin typeface="Times New Roman" pitchFamily="18" charset="0"/>
              </a:rPr>
              <a:t>21</a:t>
            </a:r>
            <a:r>
              <a:rPr kumimoji="0" lang="en-US" altLang="zh-TW" dirty="0" smtClean="0">
                <a:latin typeface="Times New Roman" pitchFamily="18" charset="0"/>
              </a:rPr>
              <a:t>, 2013</a:t>
            </a:r>
            <a:endParaRPr kumimoji="0" lang="en-US" altLang="zh-TW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75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altLang="zh-TW" i="1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/>
              <a:t>Clustering is an attractive and important task in data mining that is used in many applications. </a:t>
            </a:r>
            <a:r>
              <a:rPr lang="en-US" altLang="zh-TW" dirty="0" smtClean="0"/>
              <a:t>Clustering refers </a:t>
            </a:r>
            <a:r>
              <a:rPr lang="en-US" altLang="zh-TW" dirty="0"/>
              <a:t>to grouping together data objects so that objects within a cluster are similar to one another, </a:t>
            </a:r>
            <a:r>
              <a:rPr lang="en-US" altLang="zh-TW" dirty="0" smtClean="0"/>
              <a:t>while objects </a:t>
            </a:r>
            <a:r>
              <a:rPr lang="en-US" altLang="zh-TW" dirty="0"/>
              <a:t>in different clusters are dissimilar. </a:t>
            </a:r>
            <a:endParaRPr lang="en-US" altLang="zh-TW" dirty="0" smtClean="0"/>
          </a:p>
          <a:p>
            <a:r>
              <a:rPr lang="en-US" altLang="zh-TW" dirty="0" smtClean="0"/>
              <a:t>K-means </a:t>
            </a:r>
            <a:r>
              <a:rPr lang="en-US" altLang="zh-TW" dirty="0"/>
              <a:t>is a simple and efﬁcient algorithm that is widely </a:t>
            </a:r>
            <a:r>
              <a:rPr lang="en-US" altLang="zh-TW" dirty="0" smtClean="0"/>
              <a:t>used for </a:t>
            </a:r>
            <a:r>
              <a:rPr lang="en-US" altLang="zh-TW" dirty="0"/>
              <a:t>data clustering. However, its performance depends on the initial state of centroids and may trap in </a:t>
            </a:r>
            <a:r>
              <a:rPr lang="en-US" altLang="zh-TW" dirty="0" smtClean="0"/>
              <a:t>local optima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gravitational search algorithm (GSA) is one effective method for searching problem space </a:t>
            </a:r>
            <a:r>
              <a:rPr lang="en-US" altLang="zh-TW" dirty="0" smtClean="0"/>
              <a:t>to ﬁnd </a:t>
            </a:r>
            <a:r>
              <a:rPr lang="en-US" altLang="zh-TW" dirty="0"/>
              <a:t>a near optimal solution. </a:t>
            </a:r>
            <a:endParaRPr lang="en-US" altLang="zh-TW" dirty="0" smtClean="0"/>
          </a:p>
          <a:p>
            <a:r>
              <a:rPr lang="en-US" altLang="zh-TW" dirty="0" smtClean="0"/>
              <a:t>In </a:t>
            </a:r>
            <a:r>
              <a:rPr lang="en-US" altLang="zh-TW" dirty="0"/>
              <a:t>this paper, we present a hybrid data clustering algorithm based on GSA </a:t>
            </a:r>
            <a:r>
              <a:rPr lang="en-US" altLang="zh-TW" dirty="0" smtClean="0"/>
              <a:t>and k-means </a:t>
            </a:r>
            <a:r>
              <a:rPr lang="en-US" altLang="zh-TW" dirty="0"/>
              <a:t>(GSA-KM), which uses the advantages of both algorithms. </a:t>
            </a:r>
            <a:endParaRPr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val="112807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TW" i="1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The GSA-KM algorithm helps the </a:t>
            </a:r>
            <a:r>
              <a:rPr lang="en-US" altLang="zh-TW" dirty="0" smtClean="0"/>
              <a:t>k-means </a:t>
            </a:r>
            <a:r>
              <a:rPr lang="en-US" altLang="zh-TW" dirty="0"/>
              <a:t>algorithm to escape from local optima and also increases the convergence speed of the </a:t>
            </a:r>
            <a:r>
              <a:rPr lang="en-US" altLang="zh-TW" dirty="0" smtClean="0"/>
              <a:t>GSA algorithm.</a:t>
            </a:r>
          </a:p>
          <a:p>
            <a:r>
              <a:rPr lang="en-US" altLang="zh-TW" dirty="0" smtClean="0"/>
              <a:t> </a:t>
            </a:r>
            <a:r>
              <a:rPr lang="en-US" altLang="zh-TW" dirty="0"/>
              <a:t>We compared the performance of GSA-KM with other well-known algorithms, including </a:t>
            </a:r>
            <a:r>
              <a:rPr lang="en-US" altLang="zh-TW" dirty="0" smtClean="0"/>
              <a:t>k-means</a:t>
            </a:r>
            <a:r>
              <a:rPr lang="en-US" altLang="zh-TW" dirty="0"/>
              <a:t>, genetic algorithm (GA), simulated annealing (SA), ant colony optimization (ACO), honey bee </a:t>
            </a:r>
            <a:r>
              <a:rPr lang="en-US" altLang="zh-TW" dirty="0" smtClean="0"/>
              <a:t>mating optimization </a:t>
            </a:r>
            <a:r>
              <a:rPr lang="en-US" altLang="zh-TW" dirty="0"/>
              <a:t>(HBMO), particle swarm optimization (PSO) and gravitational search algorithm (GSA). </a:t>
            </a:r>
            <a:r>
              <a:rPr lang="en-US" altLang="zh-TW" dirty="0" smtClean="0"/>
              <a:t>Five real </a:t>
            </a:r>
            <a:r>
              <a:rPr lang="en-US" altLang="zh-TW" dirty="0"/>
              <a:t>and standard datasets from the UCI repository have been used to demonstrate the results of </a:t>
            </a:r>
            <a:r>
              <a:rPr lang="en-US" altLang="zh-TW" dirty="0" smtClean="0"/>
              <a:t>the algorithms.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experimental results are encouraging in terms of the quality of the solutions and </a:t>
            </a:r>
            <a:r>
              <a:rPr lang="en-US" altLang="zh-TW" dirty="0" smtClean="0"/>
              <a:t>the convergence </a:t>
            </a:r>
            <a:r>
              <a:rPr lang="en-US" altLang="zh-TW" dirty="0"/>
              <a:t>speed of the proposed algorithm.</a:t>
            </a:r>
            <a:endParaRPr lang="zh-TW" altLang="en-US" i="1" dirty="0"/>
          </a:p>
          <a:p>
            <a:pPr>
              <a:buNone/>
            </a:pP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>
              <a:buNone/>
            </a:pPr>
            <a:endParaRPr lang="en-US" altLang="zh-TW" dirty="0" smtClean="0">
              <a:sym typeface="Wingdings" pitchFamily="2" charset="2"/>
            </a:endParaRPr>
          </a:p>
          <a:p>
            <a:pPr>
              <a:buNone/>
            </a:pPr>
            <a:endParaRPr lang="en-US" altLang="zh-TW" dirty="0" smtClean="0"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K-means Local Optima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K-means</a:t>
            </a:r>
            <a:r>
              <a:rPr lang="zh-TW" altLang="en-US" dirty="0" smtClean="0"/>
              <a:t>有可能會因為，起始點的選擇不佳，而產生局部最佳而非全域最佳的情況。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852935"/>
            <a:ext cx="7869638" cy="2697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435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Gravitational Search Algorithm (GSA)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利用牛頓第一跟第二運動所得到的</a:t>
            </a:r>
            <a:r>
              <a:rPr lang="zh-TW" altLang="en-US" dirty="0" smtClean="0"/>
              <a:t>啟發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Fitness function </a:t>
            </a:r>
            <a:r>
              <a:rPr lang="en-US" altLang="zh-TW" dirty="0" smtClean="0"/>
              <a:t>–</a:t>
            </a:r>
            <a:r>
              <a:rPr lang="en-US" altLang="zh-TW" dirty="0" smtClean="0"/>
              <a:t>quality of </a:t>
            </a:r>
            <a:r>
              <a:rPr lang="en-US" altLang="zh-TW" dirty="0"/>
              <a:t>the </a:t>
            </a:r>
            <a:r>
              <a:rPr lang="en-US" altLang="zh-TW" dirty="0" smtClean="0"/>
              <a:t>cluster</a:t>
            </a:r>
          </a:p>
          <a:p>
            <a:pPr marL="400050" lvl="1" indent="0">
              <a:buNone/>
            </a:pPr>
            <a:r>
              <a:rPr lang="en-US" altLang="zh-TW" dirty="0" smtClean="0"/>
              <a:t>(</a:t>
            </a:r>
            <a:r>
              <a:rPr lang="en-US" altLang="zh-TW" dirty="0"/>
              <a:t>total </a:t>
            </a:r>
            <a:r>
              <a:rPr lang="en-US" altLang="zh-TW" dirty="0" smtClean="0"/>
              <a:t>mean-square </a:t>
            </a:r>
            <a:r>
              <a:rPr lang="en-US" altLang="zh-TW" dirty="0" err="1" smtClean="0"/>
              <a:t>quantisation</a:t>
            </a:r>
            <a:r>
              <a:rPr lang="en-US" altLang="zh-TW" dirty="0" smtClean="0"/>
              <a:t> error </a:t>
            </a:r>
            <a:r>
              <a:rPr lang="en-US" altLang="zh-TW" dirty="0"/>
              <a:t>(MSE</a:t>
            </a:r>
            <a:r>
              <a:rPr lang="en-US" altLang="zh-TW" dirty="0" smtClean="0"/>
              <a:t>))</a:t>
            </a:r>
          </a:p>
          <a:p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168154"/>
            <a:ext cx="189547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965" y="2215778"/>
            <a:ext cx="88582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653136"/>
            <a:ext cx="30670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562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562" y="-9026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Gravitational Search Algorithm </a:t>
            </a:r>
            <a:r>
              <a:rPr lang="en-US" altLang="zh-TW" dirty="0"/>
              <a:t>(GSA)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37" y="1052736"/>
            <a:ext cx="77152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37" y="2852961"/>
            <a:ext cx="77152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37" y="3367311"/>
            <a:ext cx="767715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73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GSA-KM</a:t>
            </a:r>
            <a:r>
              <a:rPr lang="zh-TW" altLang="en-US" dirty="0" smtClean="0"/>
              <a:t> </a:t>
            </a:r>
            <a:r>
              <a:rPr lang="en-US" altLang="zh-TW" dirty="0" smtClean="0"/>
              <a:t>steps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Full-size image (85 K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1315"/>
            <a:ext cx="6502127" cy="449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93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</a:t>
            </a:r>
            <a:r>
              <a:rPr lang="en-US" altLang="zh-TW" dirty="0" smtClean="0"/>
              <a:t>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8606884" cy="4181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142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366</Words>
  <Application>Microsoft Office PowerPoint</Application>
  <PresentationFormat>如螢幕大小 (4:3)</PresentationFormat>
  <Paragraphs>31</Paragraphs>
  <Slides>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A combined approach for clustering based on K-means and gravitational search algorithms</vt:lpstr>
      <vt:lpstr>Abstract</vt:lpstr>
      <vt:lpstr>Abstract</vt:lpstr>
      <vt:lpstr>K-means Local Optima</vt:lpstr>
      <vt:lpstr>Gravitational Search Algorithm (GSA)</vt:lpstr>
      <vt:lpstr>Gravitational Search Algorithm (GSA)</vt:lpstr>
      <vt:lpstr>GSA-KM steps</vt:lpstr>
      <vt:lpstr>Experimental Results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Improved algorithms for the K overlapping maximum convex sum problem</dc:title>
  <dc:creator>fjy</dc:creator>
  <cp:lastModifiedBy>fjy</cp:lastModifiedBy>
  <cp:revision>54</cp:revision>
  <dcterms:created xsi:type="dcterms:W3CDTF">2012-11-13T04:44:07Z</dcterms:created>
  <dcterms:modified xsi:type="dcterms:W3CDTF">2013-01-21T10:32:44Z</dcterms:modified>
</cp:coreProperties>
</file>