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58" r:id="rId3"/>
    <p:sldId id="285" r:id="rId4"/>
    <p:sldId id="295" r:id="rId5"/>
    <p:sldId id="296" r:id="rId6"/>
    <p:sldId id="297" r:id="rId7"/>
    <p:sldId id="298" r:id="rId8"/>
    <p:sldId id="299" r:id="rId9"/>
    <p:sldId id="300" r:id="rId10"/>
    <p:sldId id="302" r:id="rId11"/>
    <p:sldId id="301" r:id="rId12"/>
    <p:sldId id="303" r:id="rId13"/>
    <p:sldId id="304" r:id="rId14"/>
    <p:sldId id="305" r:id="rId15"/>
    <p:sldId id="306" r:id="rId16"/>
    <p:sldId id="307" r:id="rId17"/>
    <p:sldId id="274" r:id="rId1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522"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AAB5FB0-B2ED-4E2F-A013-0D3834BF9D53}" type="datetimeFigureOut">
              <a:rPr lang="zh-TW" altLang="en-US" smtClean="0"/>
              <a:t>2013/8/6</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2BEB50-B6E3-41E8-9C6B-A4F8CEE232D3}" type="slidenum">
              <a:rPr lang="zh-TW" altLang="en-US" smtClean="0"/>
              <a:t>‹#›</a:t>
            </a:fld>
            <a:endParaRPr lang="zh-TW" altLang="en-US"/>
          </a:p>
        </p:txBody>
      </p:sp>
    </p:spTree>
    <p:extLst>
      <p:ext uri="{BB962C8B-B14F-4D97-AF65-F5344CB8AC3E}">
        <p14:creationId xmlns:p14="http://schemas.microsoft.com/office/powerpoint/2010/main" val="3390206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D598B1FC-FDBC-4A60-9939-D6110C3C3CB7}" type="datetime1">
              <a:rPr lang="zh-TW" altLang="en-US" smtClean="0"/>
              <a:t>2013/8/6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CF35AA8-C17B-49C4-9F55-79A4DAFC847E}" type="datetime1">
              <a:rPr lang="zh-TW" altLang="en-US" smtClean="0"/>
              <a:t>2013/8/6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3A96A96A-FC63-4C61-823C-3BD62C2E28B8}" type="datetime1">
              <a:rPr lang="zh-TW" altLang="en-US" smtClean="0"/>
              <a:t>2013/8/6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F8B2E92E-2B9A-487F-B01B-5FE56D55C6C1}" type="datetime1">
              <a:rPr lang="zh-TW" altLang="en-US" smtClean="0"/>
              <a:t>2013/8/6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8156AAC1-9B63-4666-BB23-344CDF124E62}" type="datetime1">
              <a:rPr lang="zh-TW" altLang="en-US" smtClean="0"/>
              <a:t>2013/8/6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5E4E3BB-9CDE-4D13-BBDA-DD98F9CE892D}" type="datetime1">
              <a:rPr lang="zh-TW" altLang="en-US" smtClean="0"/>
              <a:t>2013/8/6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3F152AD6-3F5F-4500-A699-DD6F81763D72}" type="datetime1">
              <a:rPr lang="zh-TW" altLang="en-US" smtClean="0"/>
              <a:t>2013/8/6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B846736-A346-4BC7-ADE5-4A3C96BA101E}" type="datetime1">
              <a:rPr lang="zh-TW" altLang="en-US" smtClean="0"/>
              <a:t>2013/8/6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DA39B9C-E24F-4392-968F-01188351DEFA}" type="datetime1">
              <a:rPr lang="zh-TW" altLang="en-US" smtClean="0"/>
              <a:t>2013/8/6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9F35204-8C53-4A42-8B7A-D264FC744199}" type="datetime1">
              <a:rPr lang="zh-TW" altLang="en-US" smtClean="0"/>
              <a:t>2013/8/6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2242D6C-28E0-4D29-AD77-CD7D08B3F689}" type="datetime1">
              <a:rPr lang="zh-TW" altLang="en-US" smtClean="0"/>
              <a:t>2013/8/6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5B5500-5665-4D2C-81B6-CB06C0A843FE}" type="datetime1">
              <a:rPr lang="zh-TW" altLang="en-US" smtClean="0"/>
              <a:t>2013/8/6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1700808"/>
            <a:ext cx="7772400" cy="1470025"/>
          </a:xfrm>
        </p:spPr>
        <p:txBody>
          <a:bodyPr>
            <a:normAutofit fontScale="90000"/>
          </a:bodyPr>
          <a:lstStyle/>
          <a:p>
            <a:r>
              <a:rPr lang="en-US" altLang="zh-TW" dirty="0"/>
              <a:t>A genetic clustering algorithm using a message-based similarity measure</a:t>
            </a:r>
            <a:endParaRPr lang="zh-TW" altLang="en-US" dirty="0"/>
          </a:p>
        </p:txBody>
      </p:sp>
      <p:sp>
        <p:nvSpPr>
          <p:cNvPr id="3" name="副標題 2"/>
          <p:cNvSpPr>
            <a:spLocks noGrp="1"/>
          </p:cNvSpPr>
          <p:nvPr>
            <p:ph type="subTitle" idx="1"/>
          </p:nvPr>
        </p:nvSpPr>
        <p:spPr>
          <a:xfrm>
            <a:off x="1403648" y="3501008"/>
            <a:ext cx="6400800" cy="1752600"/>
          </a:xfrm>
        </p:spPr>
        <p:txBody>
          <a:bodyPr>
            <a:normAutofit/>
          </a:bodyPr>
          <a:lstStyle/>
          <a:p>
            <a:r>
              <a:rPr lang="en-US" altLang="zh-TW" sz="1800" dirty="0" err="1" smtClean="0">
                <a:solidFill>
                  <a:schemeClr val="tx1"/>
                </a:solidFill>
                <a:latin typeface="標楷體" pitchFamily="65" charset="-120"/>
                <a:ea typeface="標楷體" pitchFamily="65" charset="-120"/>
              </a:rPr>
              <a:t>Dongxia</a:t>
            </a:r>
            <a:r>
              <a:rPr lang="en-US" altLang="zh-TW" sz="1800" dirty="0" smtClean="0">
                <a:solidFill>
                  <a:schemeClr val="tx1"/>
                </a:solidFill>
                <a:latin typeface="標楷體" pitchFamily="65" charset="-120"/>
                <a:ea typeface="標楷體" pitchFamily="65" charset="-120"/>
              </a:rPr>
              <a:t> Chang(</a:t>
            </a:r>
            <a:r>
              <a:rPr lang="zh-TW" altLang="en-US" sz="1800" dirty="0" smtClean="0">
                <a:solidFill>
                  <a:schemeClr val="tx1"/>
                </a:solidFill>
                <a:latin typeface="標楷體" pitchFamily="65" charset="-120"/>
                <a:ea typeface="標楷體" pitchFamily="65" charset="-120"/>
              </a:rPr>
              <a:t>常冬霞</a:t>
            </a:r>
            <a:r>
              <a:rPr lang="en-US" altLang="zh-TW" sz="1800" dirty="0" smtClean="0">
                <a:solidFill>
                  <a:schemeClr val="tx1"/>
                </a:solidFill>
                <a:latin typeface="標楷體" pitchFamily="65" charset="-120"/>
                <a:ea typeface="標楷體" pitchFamily="65" charset="-120"/>
              </a:rPr>
              <a:t>), Yao Zhao(</a:t>
            </a:r>
            <a:r>
              <a:rPr lang="zh-TW" altLang="en-US" sz="1800" dirty="0" smtClean="0">
                <a:solidFill>
                  <a:schemeClr val="tx1"/>
                </a:solidFill>
                <a:latin typeface="標楷體" pitchFamily="65" charset="-120"/>
                <a:ea typeface="標楷體" pitchFamily="65" charset="-120"/>
              </a:rPr>
              <a:t>趙耀</a:t>
            </a:r>
            <a:r>
              <a:rPr lang="en-US" altLang="zh-TW" sz="1800" dirty="0" smtClean="0">
                <a:solidFill>
                  <a:schemeClr val="tx1"/>
                </a:solidFill>
                <a:latin typeface="標楷體" pitchFamily="65" charset="-120"/>
                <a:ea typeface="標楷體" pitchFamily="65" charset="-120"/>
              </a:rPr>
              <a:t>), </a:t>
            </a:r>
            <a:r>
              <a:rPr lang="en-US" altLang="zh-TW" sz="1800" dirty="0" err="1" smtClean="0">
                <a:solidFill>
                  <a:schemeClr val="tx1"/>
                </a:solidFill>
                <a:latin typeface="標楷體" pitchFamily="65" charset="-120"/>
                <a:ea typeface="標楷體" pitchFamily="65" charset="-120"/>
              </a:rPr>
              <a:t>Changwen</a:t>
            </a:r>
            <a:r>
              <a:rPr lang="en-US" altLang="zh-TW" sz="1800" dirty="0" smtClean="0">
                <a:solidFill>
                  <a:schemeClr val="tx1"/>
                </a:solidFill>
                <a:latin typeface="標楷體" pitchFamily="65" charset="-120"/>
                <a:ea typeface="標楷體" pitchFamily="65" charset="-120"/>
              </a:rPr>
              <a:t> </a:t>
            </a:r>
            <a:r>
              <a:rPr lang="en-US" altLang="zh-TW" sz="1800" dirty="0" err="1" smtClean="0">
                <a:solidFill>
                  <a:schemeClr val="tx1"/>
                </a:solidFill>
                <a:latin typeface="標楷體" pitchFamily="65" charset="-120"/>
                <a:ea typeface="標楷體" pitchFamily="65" charset="-120"/>
              </a:rPr>
              <a:t>Zheng</a:t>
            </a:r>
            <a:r>
              <a:rPr lang="en-US" altLang="zh-TW" sz="1800" dirty="0" smtClean="0">
                <a:solidFill>
                  <a:schemeClr val="tx1"/>
                </a:solidFill>
                <a:latin typeface="標楷體" pitchFamily="65" charset="-120"/>
                <a:ea typeface="標楷體" pitchFamily="65" charset="-120"/>
              </a:rPr>
              <a:t>(</a:t>
            </a:r>
            <a:r>
              <a:rPr lang="zh-TW" altLang="en-US" sz="1800" dirty="0" smtClean="0">
                <a:solidFill>
                  <a:schemeClr val="tx1"/>
                </a:solidFill>
                <a:latin typeface="標楷體" pitchFamily="65" charset="-120"/>
                <a:ea typeface="標楷體" pitchFamily="65" charset="-120"/>
              </a:rPr>
              <a:t>鄭昌文</a:t>
            </a:r>
            <a:r>
              <a:rPr lang="en-US" altLang="zh-TW" sz="1800" dirty="0" smtClean="0">
                <a:solidFill>
                  <a:schemeClr val="tx1"/>
                </a:solidFill>
                <a:latin typeface="標楷體" pitchFamily="65" charset="-120"/>
                <a:ea typeface="標楷體" pitchFamily="65" charset="-120"/>
              </a:rPr>
              <a:t>), </a:t>
            </a:r>
            <a:r>
              <a:rPr lang="en-US" altLang="zh-TW" sz="1800" dirty="0" err="1" smtClean="0">
                <a:solidFill>
                  <a:schemeClr val="tx1"/>
                </a:solidFill>
                <a:latin typeface="標楷體" pitchFamily="65" charset="-120"/>
                <a:ea typeface="標楷體" pitchFamily="65" charset="-120"/>
              </a:rPr>
              <a:t>Xianda</a:t>
            </a:r>
            <a:r>
              <a:rPr lang="en-US" altLang="zh-TW" sz="1800" dirty="0" smtClean="0">
                <a:solidFill>
                  <a:schemeClr val="tx1"/>
                </a:solidFill>
                <a:latin typeface="標楷體" pitchFamily="65" charset="-120"/>
                <a:ea typeface="標楷體" pitchFamily="65" charset="-120"/>
              </a:rPr>
              <a:t> Zhang</a:t>
            </a:r>
            <a:endParaRPr lang="en-US" altLang="zh-TW" sz="1800" baseline="30000" dirty="0" smtClean="0">
              <a:solidFill>
                <a:schemeClr val="tx1"/>
              </a:solidFill>
              <a:latin typeface="標楷體" pitchFamily="65" charset="-120"/>
              <a:ea typeface="標楷體" pitchFamily="65" charset="-120"/>
            </a:endParaRPr>
          </a:p>
          <a:p>
            <a:r>
              <a:rPr lang="en-US" altLang="zh-TW" sz="1800" dirty="0" smtClean="0">
                <a:solidFill>
                  <a:schemeClr val="tx1"/>
                </a:solidFill>
              </a:rPr>
              <a:t>Expert </a:t>
            </a:r>
            <a:r>
              <a:rPr lang="en-US" altLang="zh-TW" sz="1800" dirty="0">
                <a:solidFill>
                  <a:schemeClr val="tx1"/>
                </a:solidFill>
              </a:rPr>
              <a:t>Systems with Applications 39 (2012) </a:t>
            </a:r>
            <a:r>
              <a:rPr lang="en-US" altLang="zh-TW" sz="1800" dirty="0" smtClean="0">
                <a:solidFill>
                  <a:schemeClr val="tx1"/>
                </a:solidFill>
              </a:rPr>
              <a:t>2194–2202</a:t>
            </a:r>
          </a:p>
          <a:p>
            <a:r>
              <a:rPr lang="fr-FR" altLang="zh-TW" sz="1800" dirty="0" smtClean="0">
                <a:solidFill>
                  <a:schemeClr val="tx1"/>
                </a:solidFill>
                <a:latin typeface="標楷體" pitchFamily="65" charset="-120"/>
                <a:ea typeface="標楷體" pitchFamily="65" charset="-120"/>
              </a:rPr>
              <a:t>Presenter</a:t>
            </a:r>
            <a:r>
              <a:rPr lang="fr-FR" altLang="zh-TW" sz="1800" dirty="0">
                <a:solidFill>
                  <a:schemeClr val="tx1"/>
                </a:solidFill>
                <a:latin typeface="標楷體" pitchFamily="65" charset="-120"/>
                <a:ea typeface="標楷體" pitchFamily="65" charset="-120"/>
              </a:rPr>
              <a:t>: </a:t>
            </a:r>
            <a:r>
              <a:rPr lang="zh-TW" altLang="en-US" sz="1800" dirty="0">
                <a:solidFill>
                  <a:schemeClr val="tx1"/>
                </a:solidFill>
                <a:latin typeface="標楷體" pitchFamily="65" charset="-120"/>
                <a:ea typeface="標楷體" pitchFamily="65" charset="-120"/>
              </a:rPr>
              <a:t>許竣傑</a:t>
            </a:r>
            <a:endParaRPr lang="en-US" altLang="zh-TW" sz="1800" dirty="0">
              <a:solidFill>
                <a:schemeClr val="tx1"/>
              </a:solidFill>
              <a:latin typeface="標楷體" pitchFamily="65" charset="-120"/>
              <a:ea typeface="標楷體" pitchFamily="65" charset="-120"/>
            </a:endParaRPr>
          </a:p>
          <a:p>
            <a:r>
              <a:rPr lang="fr-FR" altLang="zh-TW" sz="1800" dirty="0" smtClean="0">
                <a:solidFill>
                  <a:schemeClr val="tx1"/>
                </a:solidFill>
                <a:latin typeface="標楷體" pitchFamily="65" charset="-120"/>
                <a:ea typeface="標楷體" pitchFamily="65" charset="-120"/>
              </a:rPr>
              <a:t>2013/8/6</a:t>
            </a:r>
            <a:endParaRPr lang="it-IT" altLang="zh-TW" sz="1800" dirty="0" smtClean="0">
              <a:latin typeface="標楷體" pitchFamily="65" charset="-120"/>
              <a:ea typeface="標楷體" pitchFamily="65" charset="-120"/>
            </a:endParaRPr>
          </a:p>
          <a:p>
            <a:endParaRPr lang="it-IT" altLang="zh-TW" sz="1800" dirty="0">
              <a:latin typeface="標楷體" pitchFamily="65" charset="-120"/>
              <a:ea typeface="標楷體" pitchFamily="65" charset="-120"/>
            </a:endParaRPr>
          </a:p>
          <a:p>
            <a:endParaRPr lang="zh-TW" altLang="en-US" sz="1800" dirty="0">
              <a:latin typeface="標楷體" pitchFamily="65" charset="-120"/>
              <a:ea typeface="標楷體" pitchFamily="65" charset="-120"/>
            </a:endParaRPr>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1</a:t>
            </a:fld>
            <a:endParaRPr lang="zh-TW" altLang="en-US"/>
          </a:p>
        </p:txBody>
      </p:sp>
    </p:spTree>
    <p:extLst>
      <p:ext uri="{BB962C8B-B14F-4D97-AF65-F5344CB8AC3E}">
        <p14:creationId xmlns:p14="http://schemas.microsoft.com/office/powerpoint/2010/main" val="14560279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Abstract</a:t>
            </a:r>
            <a:endParaRPr lang="zh-TW" altLang="en-US" b="1" dirty="0"/>
          </a:p>
        </p:txBody>
      </p:sp>
      <p:sp>
        <p:nvSpPr>
          <p:cNvPr id="3" name="內容版面配置區 2"/>
          <p:cNvSpPr>
            <a:spLocks noGrp="1"/>
          </p:cNvSpPr>
          <p:nvPr>
            <p:ph idx="1"/>
          </p:nvPr>
        </p:nvSpPr>
        <p:spPr/>
        <p:txBody>
          <a:bodyPr>
            <a:normAutofit/>
          </a:bodyPr>
          <a:lstStyle/>
          <a:p>
            <a:pPr marL="0" indent="0">
              <a:buNone/>
            </a:pPr>
            <a:r>
              <a:rPr lang="en-US" altLang="zh-TW" dirty="0" smtClean="0"/>
              <a:t>  In </a:t>
            </a:r>
            <a:r>
              <a:rPr lang="en-US" altLang="zh-TW" dirty="0"/>
              <a:t>this paper, a genetic clustering algorithm is described that uses a new similarity measure based message passing between data points and the candidate centers described by the chromosome. In the new algorithm, a variable-length real-value chromosome representation and a set of problem-specific evolutionary operators are used. </a:t>
            </a:r>
            <a:endParaRPr lang="zh-TW" altLang="en-US" dirty="0"/>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t>2</a:t>
            </a:fld>
            <a:endParaRPr lang="zh-TW" altLang="en-US"/>
          </a:p>
        </p:txBody>
      </p:sp>
    </p:spTree>
    <p:extLst>
      <p:ext uri="{BB962C8B-B14F-4D97-AF65-F5344CB8AC3E}">
        <p14:creationId xmlns:p14="http://schemas.microsoft.com/office/powerpoint/2010/main" val="23892609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Abstract</a:t>
            </a:r>
            <a:endParaRPr lang="zh-TW" altLang="en-US" dirty="0"/>
          </a:p>
        </p:txBody>
      </p:sp>
      <p:sp>
        <p:nvSpPr>
          <p:cNvPr id="3" name="內容版面配置區 2"/>
          <p:cNvSpPr>
            <a:spLocks noGrp="1"/>
          </p:cNvSpPr>
          <p:nvPr>
            <p:ph idx="1"/>
          </p:nvPr>
        </p:nvSpPr>
        <p:spPr/>
        <p:txBody>
          <a:bodyPr>
            <a:normAutofit lnSpcReduction="10000"/>
          </a:bodyPr>
          <a:lstStyle/>
          <a:p>
            <a:pPr marL="0" indent="0">
              <a:buNone/>
            </a:pPr>
            <a:r>
              <a:rPr lang="en-US" altLang="zh-TW" dirty="0"/>
              <a:t> </a:t>
            </a:r>
            <a:r>
              <a:rPr lang="en-US" altLang="zh-TW" dirty="0" smtClean="0"/>
              <a:t> Therefore</a:t>
            </a:r>
            <a:r>
              <a:rPr lang="en-US" altLang="zh-TW" dirty="0"/>
              <a:t>, the proposed GA with message-based similarity (GAMS) clustering algorithm is able to automatically evolve and find the optimal number of clusters as well as proper clusters of the data set. Effectiveness of GAMS clustering algorithm is demonstrated for both artificial and real-life data set. Experiment results demonstrated that the GAMS clustering algorithm has high performance, effectiveness and flexibility.</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3</a:t>
            </a:fld>
            <a:endParaRPr lang="zh-TW" altLang="en-US"/>
          </a:p>
        </p:txBody>
      </p:sp>
    </p:spTree>
    <p:extLst>
      <p:ext uri="{BB962C8B-B14F-4D97-AF65-F5344CB8AC3E}">
        <p14:creationId xmlns:p14="http://schemas.microsoft.com/office/powerpoint/2010/main" val="36799913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Message-based similarity</a:t>
            </a:r>
            <a:endParaRPr lang="zh-TW" altLang="en-US" dirty="0"/>
          </a:p>
        </p:txBody>
      </p:sp>
      <p:sp>
        <p:nvSpPr>
          <p:cNvPr id="3" name="內容版面配置區 2"/>
          <p:cNvSpPr>
            <a:spLocks noGrp="1"/>
          </p:cNvSpPr>
          <p:nvPr>
            <p:ph idx="1"/>
          </p:nvPr>
        </p:nvSpPr>
        <p:spPr/>
        <p:txBody>
          <a:bodyPr/>
          <a:lstStyle/>
          <a:p>
            <a:r>
              <a:rPr lang="en-US" altLang="zh-TW" dirty="0" smtClean="0"/>
              <a:t>Responsibility </a:t>
            </a:r>
            <a:r>
              <a:rPr lang="en-US" altLang="zh-TW" dirty="0"/>
              <a:t>r(</a:t>
            </a:r>
            <a:r>
              <a:rPr lang="en-US" altLang="zh-TW" dirty="0" err="1"/>
              <a:t>i,k</a:t>
            </a:r>
            <a:r>
              <a:rPr lang="en-US" altLang="zh-TW" dirty="0"/>
              <a:t>)</a:t>
            </a:r>
            <a:endParaRPr lang="en-US" altLang="zh-TW" dirty="0" smtClean="0"/>
          </a:p>
          <a:p>
            <a:r>
              <a:rPr lang="en-US" altLang="zh-TW" dirty="0" smtClean="0"/>
              <a:t>Availability a(</a:t>
            </a:r>
            <a:r>
              <a:rPr lang="en-US" altLang="zh-TW" dirty="0" err="1"/>
              <a:t>i</a:t>
            </a:r>
            <a:r>
              <a:rPr lang="en-US" altLang="zh-TW" dirty="0" err="1" smtClean="0"/>
              <a:t>,k</a:t>
            </a:r>
            <a:r>
              <a:rPr lang="en-US" altLang="zh-TW" dirty="0" smtClean="0"/>
              <a:t>)</a:t>
            </a:r>
          </a:p>
          <a:p>
            <a:r>
              <a:rPr lang="de-DE" altLang="zh-TW" dirty="0" smtClean="0"/>
              <a:t>S(i,j)=</a:t>
            </a:r>
            <a:r>
              <a:rPr lang="en-US" altLang="zh-TW" dirty="0"/>
              <a:t> r(</a:t>
            </a:r>
            <a:r>
              <a:rPr lang="en-US" altLang="zh-TW" dirty="0" err="1"/>
              <a:t>i,k</a:t>
            </a:r>
            <a:r>
              <a:rPr lang="en-US" altLang="zh-TW" dirty="0" smtClean="0"/>
              <a:t>)+</a:t>
            </a:r>
            <a:r>
              <a:rPr lang="en-US" altLang="zh-TW" dirty="0"/>
              <a:t> a(</a:t>
            </a:r>
            <a:r>
              <a:rPr lang="en-US" altLang="zh-TW" dirty="0" err="1"/>
              <a:t>i,k</a:t>
            </a:r>
            <a:r>
              <a:rPr lang="en-US" altLang="zh-TW" dirty="0" smtClean="0"/>
              <a:t>)  j=1,2,3,…,k</a:t>
            </a:r>
          </a:p>
          <a:p>
            <a:r>
              <a:rPr lang="en-US" altLang="zh-TW" dirty="0" smtClean="0"/>
              <a:t>X</a:t>
            </a:r>
            <a:r>
              <a:rPr lang="en-US" altLang="zh-TW" baseline="-25000" dirty="0" smtClean="0"/>
              <a:t>i</a:t>
            </a:r>
            <a:r>
              <a:rPr lang="en-US" altLang="zh-TW" dirty="0" smtClean="0"/>
              <a:t> will be assign to the cluster with the maximum similarity</a:t>
            </a:r>
            <a:endParaRPr lang="en-US" altLang="zh-TW" baseline="-25000"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4</a:t>
            </a:fld>
            <a:endParaRPr lang="zh-TW" altLang="en-US"/>
          </a:p>
        </p:txBody>
      </p:sp>
    </p:spTree>
    <p:extLst>
      <p:ext uri="{BB962C8B-B14F-4D97-AF65-F5344CB8AC3E}">
        <p14:creationId xmlns:p14="http://schemas.microsoft.com/office/powerpoint/2010/main" val="8052011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Message-based similarity</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dirty="0" smtClean="0"/>
                  <a:t>Responsibility r(</a:t>
                </a:r>
                <a:r>
                  <a:rPr lang="en-US" altLang="zh-TW" dirty="0" err="1"/>
                  <a:t>i,k</a:t>
                </a:r>
                <a:r>
                  <a:rPr lang="en-US" altLang="zh-TW" dirty="0"/>
                  <a:t>)</a:t>
                </a:r>
              </a:p>
              <a:p>
                <a14:m>
                  <m:oMath xmlns:m="http://schemas.openxmlformats.org/officeDocument/2006/math">
                    <m:r>
                      <a:rPr lang="en-US" altLang="zh-TW" b="0" i="1" smtClean="0">
                        <a:latin typeface="Cambria Math"/>
                      </a:rPr>
                      <m:t>𝑟</m:t>
                    </m:r>
                    <m:d>
                      <m:dPr>
                        <m:ctrlPr>
                          <a:rPr lang="en-US" altLang="zh-TW" b="0" i="1" smtClean="0">
                            <a:latin typeface="Cambria Math"/>
                          </a:rPr>
                        </m:ctrlPr>
                      </m:dPr>
                      <m:e>
                        <m:r>
                          <a:rPr lang="en-US" altLang="zh-TW" b="0" i="1" smtClean="0">
                            <a:latin typeface="Cambria Math"/>
                          </a:rPr>
                          <m:t>𝑖</m:t>
                        </m:r>
                        <m:r>
                          <a:rPr lang="en-US" altLang="zh-TW" b="0" i="1" smtClean="0">
                            <a:latin typeface="Cambria Math"/>
                          </a:rPr>
                          <m:t>,</m:t>
                        </m:r>
                        <m:r>
                          <a:rPr lang="en-US" altLang="zh-TW" b="0" i="1" smtClean="0">
                            <a:latin typeface="Cambria Math"/>
                          </a:rPr>
                          <m:t>𝑘</m:t>
                        </m:r>
                      </m:e>
                    </m:d>
                    <m:r>
                      <a:rPr lang="en-US" altLang="zh-TW" b="0" i="1" smtClean="0">
                        <a:latin typeface="Cambria Math"/>
                      </a:rPr>
                      <m:t>=</m:t>
                    </m:r>
                    <m:r>
                      <a:rPr lang="en-US" altLang="zh-TW" b="0" i="1" smtClean="0">
                        <a:latin typeface="Cambria Math"/>
                      </a:rPr>
                      <m:t>𝑑</m:t>
                    </m:r>
                    <m:d>
                      <m:dPr>
                        <m:ctrlPr>
                          <a:rPr lang="en-US" altLang="zh-TW" b="0" i="1" smtClean="0">
                            <a:latin typeface="Cambria Math"/>
                          </a:rPr>
                        </m:ctrlPr>
                      </m:dPr>
                      <m:e>
                        <m:r>
                          <a:rPr lang="en-US" altLang="zh-TW" b="0" i="1" smtClean="0">
                            <a:latin typeface="Cambria Math"/>
                          </a:rPr>
                          <m:t>𝑖</m:t>
                        </m:r>
                        <m:r>
                          <a:rPr lang="en-US" altLang="zh-TW" b="0" i="1" smtClean="0">
                            <a:latin typeface="Cambria Math"/>
                          </a:rPr>
                          <m:t>,</m:t>
                        </m:r>
                        <m:r>
                          <a:rPr lang="en-US" altLang="zh-TW" b="0" i="1" smtClean="0">
                            <a:latin typeface="Cambria Math"/>
                          </a:rPr>
                          <m:t>𝑘</m:t>
                        </m:r>
                      </m:e>
                    </m:d>
                    <m:r>
                      <a:rPr lang="en-US" altLang="zh-TW" b="0" i="1" smtClean="0">
                        <a:latin typeface="Cambria Math"/>
                      </a:rPr>
                      <m:t>−</m:t>
                    </m:r>
                    <m:func>
                      <m:funcPr>
                        <m:ctrlPr>
                          <a:rPr lang="en-US" altLang="zh-TW" b="0" i="1" smtClean="0">
                            <a:latin typeface="Cambria Math"/>
                          </a:rPr>
                        </m:ctrlPr>
                      </m:funcPr>
                      <m:fName>
                        <m:r>
                          <m:rPr>
                            <m:sty m:val="p"/>
                          </m:rPr>
                          <a:rPr lang="en-US" altLang="zh-TW" b="0" i="0" smtClean="0">
                            <a:latin typeface="Cambria Math"/>
                          </a:rPr>
                          <m:t>max</m:t>
                        </m:r>
                      </m:fName>
                      <m:e>
                        <m:d>
                          <m:dPr>
                            <m:begChr m:val="{"/>
                            <m:endChr m:val="}"/>
                            <m:ctrlPr>
                              <a:rPr lang="en-US" altLang="zh-TW" b="0" i="1" smtClean="0">
                                <a:latin typeface="Cambria Math"/>
                              </a:rPr>
                            </m:ctrlPr>
                          </m:dPr>
                          <m:e>
                            <m:r>
                              <a:rPr lang="en-US" altLang="zh-TW" b="0" i="1" smtClean="0">
                                <a:latin typeface="Cambria Math"/>
                              </a:rPr>
                              <m:t>𝑑</m:t>
                            </m:r>
                            <m:d>
                              <m:dPr>
                                <m:ctrlPr>
                                  <a:rPr lang="en-US" altLang="zh-TW" b="0" i="1" smtClean="0">
                                    <a:latin typeface="Cambria Math"/>
                                  </a:rPr>
                                </m:ctrlPr>
                              </m:dPr>
                              <m:e>
                                <m:r>
                                  <a:rPr lang="en-US" altLang="zh-TW" b="0" i="1" smtClean="0">
                                    <a:latin typeface="Cambria Math"/>
                                  </a:rPr>
                                  <m:t>𝑖</m:t>
                                </m:r>
                                <m:r>
                                  <a:rPr lang="en-US" altLang="zh-TW" b="0" i="1" smtClean="0">
                                    <a:latin typeface="Cambria Math"/>
                                  </a:rPr>
                                  <m:t>,</m:t>
                                </m:r>
                                <m:sSup>
                                  <m:sSupPr>
                                    <m:ctrlPr>
                                      <a:rPr lang="en-US" altLang="zh-TW" b="0" i="1" smtClean="0">
                                        <a:latin typeface="Cambria Math"/>
                                      </a:rPr>
                                    </m:ctrlPr>
                                  </m:sSupPr>
                                  <m:e>
                                    <m:r>
                                      <a:rPr lang="en-US" altLang="zh-TW" b="0" i="1" smtClean="0">
                                        <a:latin typeface="Cambria Math"/>
                                      </a:rPr>
                                      <m:t>𝑘</m:t>
                                    </m:r>
                                  </m:e>
                                  <m:sup>
                                    <m:r>
                                      <a:rPr lang="en-US" altLang="zh-TW" b="0" i="1" smtClean="0">
                                        <a:latin typeface="Cambria Math"/>
                                      </a:rPr>
                                      <m:t>′</m:t>
                                    </m:r>
                                  </m:sup>
                                </m:sSup>
                              </m:e>
                            </m:d>
                          </m:e>
                        </m:d>
                      </m:e>
                    </m:func>
                    <m:r>
                      <a:rPr lang="en-US" altLang="zh-TW" b="0" i="1" smtClean="0">
                        <a:latin typeface="Cambria Math"/>
                      </a:rPr>
                      <m:t>  </m:t>
                    </m:r>
                  </m:oMath>
                </a14:m>
                <a:endParaRPr lang="en-US" altLang="zh-TW" b="0" i="1" dirty="0" smtClean="0">
                  <a:latin typeface="Cambria Math"/>
                </a:endParaRPr>
              </a:p>
              <a:p>
                <a14:m>
                  <m:oMath xmlns:m="http://schemas.openxmlformats.org/officeDocument/2006/math">
                    <m:r>
                      <a:rPr lang="en-US" altLang="zh-TW" b="0" i="1" smtClean="0">
                        <a:latin typeface="Cambria Math"/>
                      </a:rPr>
                      <m:t>𝑖</m:t>
                    </m:r>
                    <m:r>
                      <a:rPr lang="en-US" altLang="zh-TW" b="0" i="1" smtClean="0">
                        <a:latin typeface="Cambria Math"/>
                      </a:rPr>
                      <m:t>=1,2,…,</m:t>
                    </m:r>
                    <m:r>
                      <a:rPr lang="en-US" altLang="zh-TW" b="0" i="1" smtClean="0">
                        <a:latin typeface="Cambria Math"/>
                      </a:rPr>
                      <m:t>𝑛</m:t>
                    </m:r>
                    <m:r>
                      <a:rPr lang="en-US" altLang="zh-TW" b="0" i="1" smtClean="0">
                        <a:latin typeface="Cambria Math"/>
                      </a:rPr>
                      <m:t>   </m:t>
                    </m:r>
                    <m:r>
                      <a:rPr lang="en-US" altLang="zh-TW" b="0" i="1" smtClean="0">
                        <a:latin typeface="Cambria Math"/>
                      </a:rPr>
                      <m:t>𝑘</m:t>
                    </m:r>
                    <m:r>
                      <a:rPr lang="en-US" altLang="zh-TW" b="0" i="1" smtClean="0">
                        <a:latin typeface="Cambria Math"/>
                      </a:rPr>
                      <m:t>=1,2,…,</m:t>
                    </m:r>
                    <m:r>
                      <a:rPr lang="en-US" altLang="zh-TW" b="0" i="1" smtClean="0">
                        <a:latin typeface="Cambria Math"/>
                      </a:rPr>
                      <m:t>𝑘</m:t>
                    </m:r>
                  </m:oMath>
                </a14:m>
                <a:endParaRPr lang="en-US" altLang="zh-TW" dirty="0" smtClean="0"/>
              </a:p>
              <a:p>
                <a:r>
                  <a:rPr lang="en-US" altLang="zh-TW" dirty="0"/>
                  <a:t>d</a:t>
                </a:r>
                <a:r>
                  <a:rPr lang="en-US" altLang="zh-TW" dirty="0" smtClean="0"/>
                  <a:t>(</a:t>
                </a:r>
                <a:r>
                  <a:rPr lang="en-US" altLang="zh-TW" dirty="0" err="1" smtClean="0"/>
                  <a:t>i,k</a:t>
                </a:r>
                <a:r>
                  <a:rPr lang="en-US" altLang="zh-TW" dirty="0" smtClean="0"/>
                  <a:t>)=-|x</a:t>
                </a:r>
                <a:r>
                  <a:rPr lang="en-US" altLang="zh-TW" baseline="-25000" dirty="0" smtClean="0"/>
                  <a:t>i</a:t>
                </a:r>
                <a:r>
                  <a:rPr lang="en-US" altLang="zh-TW" dirty="0" smtClean="0"/>
                  <a:t>-c</a:t>
                </a:r>
                <a:r>
                  <a:rPr lang="en-US" altLang="zh-TW" baseline="-25000" dirty="0" smtClean="0"/>
                  <a:t>k</a:t>
                </a:r>
                <a:r>
                  <a:rPr lang="en-US" altLang="zh-TW" dirty="0" smtClean="0"/>
                  <a:t>|</a:t>
                </a:r>
                <a:r>
                  <a:rPr lang="en-US" altLang="zh-TW" baseline="30000" dirty="0" smtClean="0"/>
                  <a:t>2</a:t>
                </a:r>
                <a:endParaRPr lang="zh-TW" altLang="en-US" baseline="300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3DA0BB7-265A-403C-9275-D587AB510EDC}" type="slidenum">
              <a:rPr lang="zh-TW" altLang="en-US" smtClean="0"/>
              <a:t>5</a:t>
            </a:fld>
            <a:endParaRPr lang="zh-TW" altLang="en-US"/>
          </a:p>
        </p:txBody>
      </p:sp>
      <p:sp>
        <p:nvSpPr>
          <p:cNvPr id="5" name="橢圓 4"/>
          <p:cNvSpPr/>
          <p:nvPr/>
        </p:nvSpPr>
        <p:spPr>
          <a:xfrm>
            <a:off x="2588382" y="4834435"/>
            <a:ext cx="192596" cy="180020"/>
          </a:xfrm>
          <a:prstGeom prst="ellipse">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dirty="0" smtClean="0">
              <a:solidFill>
                <a:schemeClr val="tx1"/>
              </a:solidFill>
            </a:endParaRPr>
          </a:p>
          <a:p>
            <a:pPr algn="ctr"/>
            <a:endParaRPr lang="zh-TW" altLang="en-US" dirty="0">
              <a:solidFill>
                <a:schemeClr val="tx1"/>
              </a:solidFill>
            </a:endParaRPr>
          </a:p>
        </p:txBody>
      </p:sp>
      <p:sp>
        <p:nvSpPr>
          <p:cNvPr id="6" name="橢圓 5"/>
          <p:cNvSpPr/>
          <p:nvPr/>
        </p:nvSpPr>
        <p:spPr>
          <a:xfrm>
            <a:off x="4728308" y="4063368"/>
            <a:ext cx="192596" cy="180020"/>
          </a:xfrm>
          <a:prstGeom prst="ellipse">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dirty="0" smtClean="0">
              <a:solidFill>
                <a:schemeClr val="tx1"/>
              </a:solidFill>
            </a:endParaRPr>
          </a:p>
          <a:p>
            <a:pPr algn="ctr"/>
            <a:endParaRPr lang="zh-TW" altLang="en-US" dirty="0">
              <a:solidFill>
                <a:schemeClr val="tx1"/>
              </a:solidFill>
            </a:endParaRPr>
          </a:p>
        </p:txBody>
      </p:sp>
      <p:sp>
        <p:nvSpPr>
          <p:cNvPr id="7" name="橢圓 6"/>
          <p:cNvSpPr/>
          <p:nvPr/>
        </p:nvSpPr>
        <p:spPr>
          <a:xfrm>
            <a:off x="3839658" y="5445224"/>
            <a:ext cx="192596" cy="180020"/>
          </a:xfrm>
          <a:prstGeom prst="ellipse">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dirty="0" smtClean="0">
              <a:solidFill>
                <a:schemeClr val="tx1"/>
              </a:solidFill>
            </a:endParaRPr>
          </a:p>
          <a:p>
            <a:pPr algn="ctr"/>
            <a:endParaRPr lang="zh-TW" altLang="en-US" dirty="0">
              <a:solidFill>
                <a:schemeClr val="tx1"/>
              </a:solidFill>
            </a:endParaRPr>
          </a:p>
        </p:txBody>
      </p:sp>
      <p:sp>
        <p:nvSpPr>
          <p:cNvPr id="8" name="橢圓 7"/>
          <p:cNvSpPr/>
          <p:nvPr/>
        </p:nvSpPr>
        <p:spPr>
          <a:xfrm>
            <a:off x="3672314" y="5024476"/>
            <a:ext cx="192596" cy="180020"/>
          </a:xfrm>
          <a:prstGeom prst="ellipse">
            <a:avLst/>
          </a:prstGeom>
          <a:solidFill>
            <a:schemeClr val="accent6">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dirty="0" smtClean="0">
              <a:solidFill>
                <a:schemeClr val="tx1"/>
              </a:solidFill>
            </a:endParaRPr>
          </a:p>
          <a:p>
            <a:pPr algn="ctr"/>
            <a:endParaRPr lang="zh-TW" altLang="en-US" dirty="0">
              <a:solidFill>
                <a:schemeClr val="tx1"/>
              </a:solidFill>
            </a:endParaRPr>
          </a:p>
        </p:txBody>
      </p:sp>
      <p:cxnSp>
        <p:nvCxnSpPr>
          <p:cNvPr id="10" name="直線接點 9"/>
          <p:cNvCxnSpPr>
            <a:stCxn id="5" idx="5"/>
            <a:endCxn id="8" idx="2"/>
          </p:cNvCxnSpPr>
          <p:nvPr/>
        </p:nvCxnSpPr>
        <p:spPr>
          <a:xfrm>
            <a:off x="2752773" y="4988092"/>
            <a:ext cx="919541" cy="1263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線接點 15"/>
          <p:cNvCxnSpPr>
            <a:stCxn id="7" idx="0"/>
            <a:endCxn id="8" idx="4"/>
          </p:cNvCxnSpPr>
          <p:nvPr/>
        </p:nvCxnSpPr>
        <p:spPr>
          <a:xfrm flipH="1" flipV="1">
            <a:off x="3768612" y="5204496"/>
            <a:ext cx="167344" cy="2407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線接點 18"/>
          <p:cNvCxnSpPr>
            <a:stCxn id="6" idx="3"/>
            <a:endCxn id="8" idx="7"/>
          </p:cNvCxnSpPr>
          <p:nvPr/>
        </p:nvCxnSpPr>
        <p:spPr>
          <a:xfrm flipH="1">
            <a:off x="3836705" y="4217025"/>
            <a:ext cx="919808" cy="833814"/>
          </a:xfrm>
          <a:prstGeom prst="line">
            <a:avLst/>
          </a:prstGeom>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4032254" y="5535234"/>
            <a:ext cx="378630" cy="369332"/>
          </a:xfrm>
          <a:prstGeom prst="rect">
            <a:avLst/>
          </a:prstGeom>
        </p:spPr>
        <p:txBody>
          <a:bodyPr wrap="none">
            <a:spAutoFit/>
          </a:bodyPr>
          <a:lstStyle/>
          <a:p>
            <a:r>
              <a:rPr lang="en-US" altLang="zh-TW" dirty="0" err="1" smtClean="0"/>
              <a:t>C</a:t>
            </a:r>
            <a:r>
              <a:rPr lang="en-US" altLang="zh-TW" baseline="-25000" dirty="0" err="1" smtClean="0"/>
              <a:t>k</a:t>
            </a:r>
            <a:endParaRPr lang="zh-TW" altLang="en-US" dirty="0"/>
          </a:p>
        </p:txBody>
      </p:sp>
      <p:sp>
        <p:nvSpPr>
          <p:cNvPr id="24" name="矩形 23"/>
          <p:cNvSpPr/>
          <p:nvPr/>
        </p:nvSpPr>
        <p:spPr>
          <a:xfrm>
            <a:off x="3645939" y="4687755"/>
            <a:ext cx="319318" cy="369332"/>
          </a:xfrm>
          <a:prstGeom prst="rect">
            <a:avLst/>
          </a:prstGeom>
        </p:spPr>
        <p:txBody>
          <a:bodyPr wrap="none">
            <a:spAutoFit/>
          </a:bodyPr>
          <a:lstStyle/>
          <a:p>
            <a:r>
              <a:rPr lang="en-US" altLang="zh-TW" dirty="0" smtClean="0"/>
              <a:t>x</a:t>
            </a:r>
            <a:r>
              <a:rPr lang="en-US" altLang="zh-TW" baseline="-25000" dirty="0" smtClean="0"/>
              <a:t>i</a:t>
            </a:r>
            <a:endParaRPr lang="zh-TW" altLang="en-US" dirty="0"/>
          </a:p>
        </p:txBody>
      </p:sp>
      <p:sp>
        <p:nvSpPr>
          <p:cNvPr id="25" name="矩形 24"/>
          <p:cNvSpPr/>
          <p:nvPr/>
        </p:nvSpPr>
        <p:spPr>
          <a:xfrm>
            <a:off x="3805598" y="5093056"/>
            <a:ext cx="372218" cy="369332"/>
          </a:xfrm>
          <a:prstGeom prst="rect">
            <a:avLst/>
          </a:prstGeom>
        </p:spPr>
        <p:txBody>
          <a:bodyPr wrap="none">
            <a:spAutoFit/>
          </a:bodyPr>
          <a:lstStyle/>
          <a:p>
            <a:r>
              <a:rPr lang="en-US" altLang="zh-TW" dirty="0" smtClean="0"/>
              <a:t>-1</a:t>
            </a:r>
            <a:endParaRPr lang="zh-TW" altLang="en-US" dirty="0"/>
          </a:p>
        </p:txBody>
      </p:sp>
      <p:sp>
        <p:nvSpPr>
          <p:cNvPr id="26" name="矩形 25"/>
          <p:cNvSpPr/>
          <p:nvPr/>
        </p:nvSpPr>
        <p:spPr>
          <a:xfrm>
            <a:off x="3220310" y="4625538"/>
            <a:ext cx="372218" cy="369332"/>
          </a:xfrm>
          <a:prstGeom prst="rect">
            <a:avLst/>
          </a:prstGeom>
        </p:spPr>
        <p:txBody>
          <a:bodyPr wrap="none">
            <a:spAutoFit/>
          </a:bodyPr>
          <a:lstStyle/>
          <a:p>
            <a:r>
              <a:rPr lang="en-US" altLang="zh-TW" dirty="0" smtClean="0"/>
              <a:t>-3</a:t>
            </a:r>
            <a:endParaRPr lang="zh-TW" altLang="en-US" dirty="0"/>
          </a:p>
        </p:txBody>
      </p:sp>
      <p:sp>
        <p:nvSpPr>
          <p:cNvPr id="29" name="矩形 28"/>
          <p:cNvSpPr/>
          <p:nvPr/>
        </p:nvSpPr>
        <p:spPr>
          <a:xfrm>
            <a:off x="4296609" y="4537035"/>
            <a:ext cx="372218" cy="369332"/>
          </a:xfrm>
          <a:prstGeom prst="rect">
            <a:avLst/>
          </a:prstGeom>
        </p:spPr>
        <p:txBody>
          <a:bodyPr wrap="none">
            <a:spAutoFit/>
          </a:bodyPr>
          <a:lstStyle/>
          <a:p>
            <a:r>
              <a:rPr lang="en-US" altLang="zh-TW" dirty="0" smtClean="0"/>
              <a:t>-4</a:t>
            </a:r>
            <a:endParaRPr lang="zh-TW" altLang="en-US" dirty="0"/>
          </a:p>
        </p:txBody>
      </p:sp>
      <p:sp>
        <p:nvSpPr>
          <p:cNvPr id="30" name="矩形 29"/>
          <p:cNvSpPr/>
          <p:nvPr/>
        </p:nvSpPr>
        <p:spPr>
          <a:xfrm>
            <a:off x="2375824" y="4394737"/>
            <a:ext cx="386644" cy="369332"/>
          </a:xfrm>
          <a:prstGeom prst="rect">
            <a:avLst/>
          </a:prstGeom>
        </p:spPr>
        <p:txBody>
          <a:bodyPr wrap="none">
            <a:spAutoFit/>
          </a:bodyPr>
          <a:lstStyle/>
          <a:p>
            <a:r>
              <a:rPr lang="en-US" altLang="zh-TW" dirty="0" smtClean="0"/>
              <a:t>C</a:t>
            </a:r>
            <a:r>
              <a:rPr lang="en-US" altLang="zh-TW" baseline="-25000" dirty="0" smtClean="0"/>
              <a:t>1</a:t>
            </a:r>
            <a:endParaRPr lang="zh-TW" altLang="en-US" baseline="-25000" dirty="0"/>
          </a:p>
        </p:txBody>
      </p:sp>
      <p:sp>
        <p:nvSpPr>
          <p:cNvPr id="31" name="矩形 30"/>
          <p:cNvSpPr/>
          <p:nvPr/>
        </p:nvSpPr>
        <p:spPr>
          <a:xfrm>
            <a:off x="4920904" y="3713468"/>
            <a:ext cx="386644" cy="369332"/>
          </a:xfrm>
          <a:prstGeom prst="rect">
            <a:avLst/>
          </a:prstGeom>
        </p:spPr>
        <p:txBody>
          <a:bodyPr wrap="none">
            <a:spAutoFit/>
          </a:bodyPr>
          <a:lstStyle/>
          <a:p>
            <a:r>
              <a:rPr lang="en-US" altLang="zh-TW" dirty="0" smtClean="0"/>
              <a:t>C</a:t>
            </a:r>
            <a:r>
              <a:rPr lang="en-US" altLang="zh-TW" baseline="-25000" dirty="0" smtClean="0"/>
              <a:t>2</a:t>
            </a:r>
            <a:endParaRPr lang="zh-TW" altLang="en-US" baseline="-25000" dirty="0"/>
          </a:p>
        </p:txBody>
      </p:sp>
      <p:sp>
        <p:nvSpPr>
          <p:cNvPr id="32" name="矩形 31"/>
          <p:cNvSpPr/>
          <p:nvPr/>
        </p:nvSpPr>
        <p:spPr>
          <a:xfrm>
            <a:off x="4824606" y="5462388"/>
            <a:ext cx="1555234" cy="369332"/>
          </a:xfrm>
          <a:prstGeom prst="rect">
            <a:avLst/>
          </a:prstGeom>
        </p:spPr>
        <p:txBody>
          <a:bodyPr wrap="none">
            <a:spAutoFit/>
          </a:bodyPr>
          <a:lstStyle/>
          <a:p>
            <a:r>
              <a:rPr lang="en-US" altLang="zh-TW" dirty="0"/>
              <a:t>r</a:t>
            </a:r>
            <a:r>
              <a:rPr lang="en-US" altLang="zh-TW" dirty="0" smtClean="0"/>
              <a:t>(</a:t>
            </a:r>
            <a:r>
              <a:rPr lang="en-US" altLang="zh-TW" dirty="0" err="1" smtClean="0"/>
              <a:t>i,k</a:t>
            </a:r>
            <a:r>
              <a:rPr lang="en-US" altLang="zh-TW" dirty="0" smtClean="0"/>
              <a:t>)=-1-(-3)=2</a:t>
            </a:r>
            <a:endParaRPr lang="zh-TW" altLang="en-US" dirty="0"/>
          </a:p>
        </p:txBody>
      </p:sp>
    </p:spTree>
    <p:extLst>
      <p:ext uri="{BB962C8B-B14F-4D97-AF65-F5344CB8AC3E}">
        <p14:creationId xmlns:p14="http://schemas.microsoft.com/office/powerpoint/2010/main" val="21060048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Message-based similarity</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dirty="0" smtClean="0"/>
                  <a:t>Availability a(</a:t>
                </a:r>
                <a:r>
                  <a:rPr lang="en-US" altLang="zh-TW" dirty="0" err="1"/>
                  <a:t>i,k</a:t>
                </a:r>
                <a:r>
                  <a:rPr lang="en-US" altLang="zh-TW" dirty="0"/>
                  <a:t>)</a:t>
                </a:r>
              </a:p>
              <a:p>
                <a14:m>
                  <m:oMath xmlns:m="http://schemas.openxmlformats.org/officeDocument/2006/math">
                    <m:r>
                      <a:rPr lang="en-US" altLang="zh-TW" b="0" i="1" smtClean="0">
                        <a:latin typeface="Cambria Math"/>
                      </a:rPr>
                      <m:t>𝑎</m:t>
                    </m:r>
                    <m:d>
                      <m:dPr>
                        <m:ctrlPr>
                          <a:rPr lang="en-US" altLang="zh-TW" b="0" i="1" smtClean="0">
                            <a:latin typeface="Cambria Math"/>
                          </a:rPr>
                        </m:ctrlPr>
                      </m:dPr>
                      <m:e>
                        <m:r>
                          <a:rPr lang="en-US" altLang="zh-TW" b="0" i="1" smtClean="0">
                            <a:latin typeface="Cambria Math"/>
                          </a:rPr>
                          <m:t>𝑖</m:t>
                        </m:r>
                        <m:r>
                          <a:rPr lang="en-US" altLang="zh-TW" b="0" i="1" smtClean="0">
                            <a:latin typeface="Cambria Math"/>
                          </a:rPr>
                          <m:t>,</m:t>
                        </m:r>
                        <m:r>
                          <a:rPr lang="en-US" altLang="zh-TW" b="0" i="1" smtClean="0">
                            <a:latin typeface="Cambria Math"/>
                          </a:rPr>
                          <m:t>𝑘</m:t>
                        </m:r>
                      </m:e>
                    </m:d>
                    <m:r>
                      <a:rPr lang="en-US" altLang="zh-TW" b="0" i="1" smtClean="0">
                        <a:latin typeface="Cambria Math"/>
                      </a:rPr>
                      <m:t>=</m:t>
                    </m:r>
                    <m:r>
                      <m:rPr>
                        <m:sty m:val="p"/>
                      </m:rPr>
                      <a:rPr lang="en-US" altLang="zh-TW" b="0" i="0" smtClean="0">
                        <a:latin typeface="Cambria Math"/>
                      </a:rPr>
                      <m:t>min</m:t>
                    </m:r>
                    <m:r>
                      <a:rPr lang="en-US" altLang="zh-TW" b="0" i="1" smtClean="0">
                        <a:latin typeface="Cambria Math"/>
                      </a:rPr>
                      <m:t>⁡{0,</m:t>
                    </m:r>
                    <m:r>
                      <a:rPr lang="en-US" altLang="zh-TW" b="0" i="1" smtClean="0">
                        <a:latin typeface="Cambria Math"/>
                      </a:rPr>
                      <m:t>𝑅</m:t>
                    </m:r>
                    <m:d>
                      <m:dPr>
                        <m:ctrlPr>
                          <a:rPr lang="en-US" altLang="zh-TW" b="0" i="1" smtClean="0">
                            <a:latin typeface="Cambria Math"/>
                          </a:rPr>
                        </m:ctrlPr>
                      </m:dPr>
                      <m:e>
                        <m:r>
                          <a:rPr lang="en-US" altLang="zh-TW" b="0" i="1" smtClean="0">
                            <a:latin typeface="Cambria Math"/>
                          </a:rPr>
                          <m:t>𝑘</m:t>
                        </m:r>
                      </m:e>
                    </m:d>
                    <m:r>
                      <a:rPr lang="en-US" altLang="zh-TW" b="0" i="1" smtClean="0">
                        <a:latin typeface="Cambria Math"/>
                      </a:rPr>
                      <m:t>+</m:t>
                    </m:r>
                    <m:nary>
                      <m:naryPr>
                        <m:chr m:val="∑"/>
                        <m:subHide m:val="on"/>
                        <m:supHide m:val="on"/>
                        <m:ctrlPr>
                          <a:rPr lang="en-US" altLang="zh-TW" b="0" i="1" smtClean="0">
                            <a:latin typeface="Cambria Math"/>
                          </a:rPr>
                        </m:ctrlPr>
                      </m:naryPr>
                      <m:sub/>
                      <m:sup/>
                      <m:e>
                        <m:r>
                          <m:rPr>
                            <m:sty m:val="p"/>
                          </m:rPr>
                          <a:rPr lang="en-US" altLang="zh-TW" b="0" i="0" smtClean="0">
                            <a:latin typeface="Cambria Math"/>
                          </a:rPr>
                          <m:t>max</m:t>
                        </m:r>
                        <m:r>
                          <a:rPr lang="en-US" altLang="zh-TW" b="0" i="1" smtClean="0">
                            <a:latin typeface="Cambria Math"/>
                          </a:rPr>
                          <m:t>⁡{0,</m:t>
                        </m:r>
                        <m:r>
                          <a:rPr lang="en-US" altLang="zh-TW" b="0" i="1" smtClean="0">
                            <a:latin typeface="Cambria Math"/>
                          </a:rPr>
                          <m:t>𝑟</m:t>
                        </m:r>
                        <m:r>
                          <a:rPr lang="en-US" altLang="zh-TW" b="0" i="1" smtClean="0">
                            <a:latin typeface="Cambria Math"/>
                          </a:rPr>
                          <m:t>(</m:t>
                        </m:r>
                        <m:sSup>
                          <m:sSupPr>
                            <m:ctrlPr>
                              <a:rPr lang="en-US" altLang="zh-TW" b="0" i="1" smtClean="0">
                                <a:latin typeface="Cambria Math"/>
                              </a:rPr>
                            </m:ctrlPr>
                          </m:sSupPr>
                          <m:e>
                            <m:r>
                              <a:rPr lang="en-US" altLang="zh-TW" b="0" i="1" smtClean="0">
                                <a:latin typeface="Cambria Math"/>
                              </a:rPr>
                              <m:t>𝑖</m:t>
                            </m:r>
                          </m:e>
                          <m:sup>
                            <m:r>
                              <a:rPr lang="en-US" altLang="zh-TW" b="0" i="1" smtClean="0">
                                <a:latin typeface="Cambria Math"/>
                              </a:rPr>
                              <m:t>′</m:t>
                            </m:r>
                          </m:sup>
                        </m:sSup>
                        <m:r>
                          <a:rPr lang="en-US" altLang="zh-TW" b="0" i="1" smtClean="0">
                            <a:latin typeface="Cambria Math"/>
                          </a:rPr>
                          <m:t>,</m:t>
                        </m:r>
                        <m:r>
                          <a:rPr lang="en-US" altLang="zh-TW" b="0" i="1" smtClean="0">
                            <a:latin typeface="Cambria Math"/>
                          </a:rPr>
                          <m:t>𝑘</m:t>
                        </m:r>
                        <m:r>
                          <a:rPr lang="en-US" altLang="zh-TW" b="0" i="1" smtClean="0">
                            <a:latin typeface="Cambria Math"/>
                          </a:rPr>
                          <m:t>)}</m:t>
                        </m:r>
                      </m:e>
                    </m:nary>
                  </m:oMath>
                </a14:m>
                <a:endParaRPr lang="en-US" altLang="zh-TW" dirty="0" smtClean="0"/>
              </a:p>
              <a:p>
                <a14:m>
                  <m:oMath xmlns:m="http://schemas.openxmlformats.org/officeDocument/2006/math">
                    <m:r>
                      <a:rPr lang="en-US" altLang="zh-TW" b="0" i="1" smtClean="0">
                        <a:latin typeface="Cambria Math"/>
                      </a:rPr>
                      <m:t>𝑅</m:t>
                    </m:r>
                    <m:d>
                      <m:dPr>
                        <m:ctrlPr>
                          <a:rPr lang="en-US" altLang="zh-TW" b="0" i="1" smtClean="0">
                            <a:latin typeface="Cambria Math"/>
                          </a:rPr>
                        </m:ctrlPr>
                      </m:dPr>
                      <m:e>
                        <m:r>
                          <a:rPr lang="en-US" altLang="zh-TW" b="0" i="1" smtClean="0">
                            <a:latin typeface="Cambria Math"/>
                          </a:rPr>
                          <m:t>𝑘</m:t>
                        </m:r>
                      </m:e>
                    </m:d>
                    <m:r>
                      <a:rPr lang="en-US" altLang="zh-TW" b="0" i="1" smtClean="0">
                        <a:latin typeface="Cambria Math"/>
                      </a:rPr>
                      <m:t>=</m:t>
                    </m:r>
                    <m:r>
                      <a:rPr lang="en-US" altLang="zh-TW" b="0" i="1" smtClean="0">
                        <a:latin typeface="Cambria Math"/>
                      </a:rPr>
                      <m:t>𝐼𝑃</m:t>
                    </m:r>
                    <m:d>
                      <m:dPr>
                        <m:ctrlPr>
                          <a:rPr lang="en-US" altLang="zh-TW" b="0" i="1" smtClean="0">
                            <a:latin typeface="Cambria Math"/>
                          </a:rPr>
                        </m:ctrlPr>
                      </m:dPr>
                      <m:e>
                        <m:r>
                          <a:rPr lang="en-US" altLang="zh-TW" b="0" i="1" smtClean="0">
                            <a:latin typeface="Cambria Math"/>
                          </a:rPr>
                          <m:t>𝑘</m:t>
                        </m:r>
                      </m:e>
                    </m:d>
                    <m:r>
                      <a:rPr lang="en-US" altLang="zh-TW" b="0" i="1" smtClean="0">
                        <a:latin typeface="Cambria Math"/>
                      </a:rPr>
                      <m:t>−</m:t>
                    </m:r>
                    <m:r>
                      <m:rPr>
                        <m:sty m:val="p"/>
                      </m:rPr>
                      <a:rPr lang="en-US" altLang="zh-TW" b="0" i="0" smtClean="0">
                        <a:latin typeface="Cambria Math"/>
                      </a:rPr>
                      <m:t>max</m:t>
                    </m:r>
                    <m:r>
                      <a:rPr lang="en-US" altLang="zh-TW" b="0" i="1" smtClean="0">
                        <a:latin typeface="Cambria Math"/>
                      </a:rPr>
                      <m:t>⁡{</m:t>
                    </m:r>
                    <m:r>
                      <a:rPr lang="en-US" altLang="zh-TW" b="0" i="1" smtClean="0">
                        <a:latin typeface="Cambria Math"/>
                      </a:rPr>
                      <m:t>𝑑</m:t>
                    </m:r>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𝑐</m:t>
                        </m:r>
                      </m:e>
                      <m:sub>
                        <m:r>
                          <a:rPr lang="en-US" altLang="zh-TW" b="0" i="1" smtClean="0">
                            <a:latin typeface="Cambria Math"/>
                          </a:rPr>
                          <m:t>𝑘</m:t>
                        </m:r>
                      </m:sub>
                    </m:sSub>
                    <m:r>
                      <a:rPr lang="en-US" altLang="zh-TW" b="0" i="1" smtClean="0">
                        <a:latin typeface="Cambria Math"/>
                      </a:rPr>
                      <m:t>,</m:t>
                    </m:r>
                    <m:sSub>
                      <m:sSubPr>
                        <m:ctrlPr>
                          <a:rPr lang="en-US" altLang="zh-TW" b="0" i="1" smtClean="0">
                            <a:latin typeface="Cambria Math"/>
                          </a:rPr>
                        </m:ctrlPr>
                      </m:sSubPr>
                      <m:e>
                        <m:r>
                          <a:rPr lang="en-US" altLang="zh-TW" b="0" i="1" smtClean="0">
                            <a:latin typeface="Cambria Math"/>
                          </a:rPr>
                          <m:t>𝑐</m:t>
                        </m:r>
                      </m:e>
                      <m:sub>
                        <m:r>
                          <a:rPr lang="en-US" altLang="zh-TW" b="0" i="1" smtClean="0">
                            <a:latin typeface="Cambria Math"/>
                          </a:rPr>
                          <m:t>𝑘</m:t>
                        </m:r>
                        <m:r>
                          <a:rPr lang="en-US" altLang="zh-TW" b="0" i="1" smtClean="0">
                            <a:latin typeface="Cambria Math"/>
                          </a:rPr>
                          <m:t>′</m:t>
                        </m:r>
                      </m:sub>
                    </m:sSub>
                    <m:r>
                      <a:rPr lang="en-US" altLang="zh-TW" b="0" i="1" smtClean="0">
                        <a:latin typeface="Cambria Math"/>
                      </a:rPr>
                      <m:t>)}</m:t>
                    </m:r>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3DA0BB7-265A-403C-9275-D587AB510EDC}" type="slidenum">
              <a:rPr lang="zh-TW" altLang="en-US" smtClean="0"/>
              <a:t>6</a:t>
            </a:fld>
            <a:endParaRPr lang="zh-TW" altLang="en-US"/>
          </a:p>
        </p:txBody>
      </p:sp>
      <p:sp>
        <p:nvSpPr>
          <p:cNvPr id="5" name="橢圓 4"/>
          <p:cNvSpPr/>
          <p:nvPr/>
        </p:nvSpPr>
        <p:spPr>
          <a:xfrm>
            <a:off x="3382180" y="4509120"/>
            <a:ext cx="1512168" cy="14401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p:cNvSpPr/>
          <p:nvPr/>
        </p:nvSpPr>
        <p:spPr>
          <a:xfrm>
            <a:off x="3851789" y="4792603"/>
            <a:ext cx="378630" cy="369332"/>
          </a:xfrm>
          <a:prstGeom prst="rect">
            <a:avLst/>
          </a:prstGeom>
        </p:spPr>
        <p:txBody>
          <a:bodyPr wrap="none">
            <a:spAutoFit/>
          </a:bodyPr>
          <a:lstStyle/>
          <a:p>
            <a:r>
              <a:rPr lang="en-US" altLang="zh-TW" dirty="0" err="1" smtClean="0"/>
              <a:t>C</a:t>
            </a:r>
            <a:r>
              <a:rPr lang="en-US" altLang="zh-TW" baseline="-25000" dirty="0" err="1" smtClean="0"/>
              <a:t>k</a:t>
            </a:r>
            <a:endParaRPr lang="zh-TW" altLang="en-US" dirty="0"/>
          </a:p>
        </p:txBody>
      </p:sp>
      <p:sp>
        <p:nvSpPr>
          <p:cNvPr id="8" name="橢圓 7"/>
          <p:cNvSpPr/>
          <p:nvPr/>
        </p:nvSpPr>
        <p:spPr>
          <a:xfrm>
            <a:off x="4041104" y="5132040"/>
            <a:ext cx="194320" cy="194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2718251" y="4675200"/>
            <a:ext cx="194320" cy="194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5580112" y="3501008"/>
            <a:ext cx="194320" cy="1943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p:cNvSpPr/>
          <p:nvPr/>
        </p:nvSpPr>
        <p:spPr>
          <a:xfrm>
            <a:off x="2526319" y="4324454"/>
            <a:ext cx="386644" cy="369332"/>
          </a:xfrm>
          <a:prstGeom prst="rect">
            <a:avLst/>
          </a:prstGeom>
        </p:spPr>
        <p:txBody>
          <a:bodyPr wrap="none">
            <a:spAutoFit/>
          </a:bodyPr>
          <a:lstStyle/>
          <a:p>
            <a:r>
              <a:rPr lang="en-US" altLang="zh-TW" dirty="0" smtClean="0"/>
              <a:t>C</a:t>
            </a:r>
            <a:r>
              <a:rPr lang="en-US" altLang="zh-TW" baseline="-25000" dirty="0" smtClean="0"/>
              <a:t>1</a:t>
            </a:r>
            <a:endParaRPr lang="zh-TW" altLang="en-US" baseline="-25000" dirty="0"/>
          </a:p>
        </p:txBody>
      </p:sp>
      <p:sp>
        <p:nvSpPr>
          <p:cNvPr id="12" name="矩形 11"/>
          <p:cNvSpPr/>
          <p:nvPr/>
        </p:nvSpPr>
        <p:spPr>
          <a:xfrm>
            <a:off x="5774432" y="3413502"/>
            <a:ext cx="386644" cy="369332"/>
          </a:xfrm>
          <a:prstGeom prst="rect">
            <a:avLst/>
          </a:prstGeom>
        </p:spPr>
        <p:txBody>
          <a:bodyPr wrap="none">
            <a:spAutoFit/>
          </a:bodyPr>
          <a:lstStyle/>
          <a:p>
            <a:r>
              <a:rPr lang="en-US" altLang="zh-TW" dirty="0" smtClean="0"/>
              <a:t>C</a:t>
            </a:r>
            <a:r>
              <a:rPr lang="en-US" altLang="zh-TW" baseline="-25000" dirty="0" smtClean="0"/>
              <a:t>2</a:t>
            </a:r>
            <a:endParaRPr lang="zh-TW" altLang="en-US" baseline="-25000" dirty="0"/>
          </a:p>
        </p:txBody>
      </p:sp>
      <p:cxnSp>
        <p:nvCxnSpPr>
          <p:cNvPr id="14" name="直線接點 13"/>
          <p:cNvCxnSpPr>
            <a:stCxn id="9" idx="5"/>
            <a:endCxn id="8" idx="2"/>
          </p:cNvCxnSpPr>
          <p:nvPr/>
        </p:nvCxnSpPr>
        <p:spPr>
          <a:xfrm>
            <a:off x="2884113" y="4841062"/>
            <a:ext cx="1156991" cy="3881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線接點 18"/>
          <p:cNvCxnSpPr>
            <a:stCxn id="10" idx="3"/>
            <a:endCxn id="8" idx="7"/>
          </p:cNvCxnSpPr>
          <p:nvPr/>
        </p:nvCxnSpPr>
        <p:spPr>
          <a:xfrm flipH="1">
            <a:off x="4206966" y="3666870"/>
            <a:ext cx="1401604" cy="14936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線接點 21"/>
          <p:cNvCxnSpPr>
            <a:stCxn id="5" idx="4"/>
            <a:endCxn id="8" idx="4"/>
          </p:cNvCxnSpPr>
          <p:nvPr/>
        </p:nvCxnSpPr>
        <p:spPr>
          <a:xfrm flipV="1">
            <a:off x="4138264" y="5326360"/>
            <a:ext cx="0" cy="622920"/>
          </a:xfrm>
          <a:prstGeom prst="line">
            <a:avLst/>
          </a:prstGeom>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4138264" y="5481131"/>
            <a:ext cx="372218" cy="369332"/>
          </a:xfrm>
          <a:prstGeom prst="rect">
            <a:avLst/>
          </a:prstGeom>
        </p:spPr>
        <p:txBody>
          <a:bodyPr wrap="none">
            <a:spAutoFit/>
          </a:bodyPr>
          <a:lstStyle/>
          <a:p>
            <a:r>
              <a:rPr lang="en-US" altLang="zh-TW" dirty="0" smtClean="0"/>
              <a:t>-2</a:t>
            </a:r>
            <a:endParaRPr lang="zh-TW" altLang="en-US" dirty="0"/>
          </a:p>
        </p:txBody>
      </p:sp>
      <p:sp>
        <p:nvSpPr>
          <p:cNvPr id="27" name="矩形 26"/>
          <p:cNvSpPr/>
          <p:nvPr/>
        </p:nvSpPr>
        <p:spPr>
          <a:xfrm>
            <a:off x="4805120" y="4278933"/>
            <a:ext cx="372218" cy="369332"/>
          </a:xfrm>
          <a:prstGeom prst="rect">
            <a:avLst/>
          </a:prstGeom>
        </p:spPr>
        <p:txBody>
          <a:bodyPr wrap="none">
            <a:spAutoFit/>
          </a:bodyPr>
          <a:lstStyle/>
          <a:p>
            <a:r>
              <a:rPr lang="en-US" altLang="zh-TW" dirty="0" smtClean="0"/>
              <a:t>-6</a:t>
            </a:r>
            <a:endParaRPr lang="zh-TW" altLang="en-US" dirty="0"/>
          </a:p>
        </p:txBody>
      </p:sp>
      <p:sp>
        <p:nvSpPr>
          <p:cNvPr id="29" name="矩形 28"/>
          <p:cNvSpPr/>
          <p:nvPr/>
        </p:nvSpPr>
        <p:spPr>
          <a:xfrm>
            <a:off x="3089759" y="4667999"/>
            <a:ext cx="372218" cy="369332"/>
          </a:xfrm>
          <a:prstGeom prst="rect">
            <a:avLst/>
          </a:prstGeom>
        </p:spPr>
        <p:txBody>
          <a:bodyPr wrap="none">
            <a:spAutoFit/>
          </a:bodyPr>
          <a:lstStyle/>
          <a:p>
            <a:r>
              <a:rPr lang="en-US" altLang="zh-TW" dirty="0" smtClean="0"/>
              <a:t>-4</a:t>
            </a:r>
            <a:endParaRPr lang="zh-TW" altLang="en-US" dirty="0"/>
          </a:p>
        </p:txBody>
      </p:sp>
      <p:sp>
        <p:nvSpPr>
          <p:cNvPr id="30" name="橢圓 29"/>
          <p:cNvSpPr/>
          <p:nvPr/>
        </p:nvSpPr>
        <p:spPr>
          <a:xfrm>
            <a:off x="3611503" y="5029548"/>
            <a:ext cx="173288" cy="182768"/>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橢圓 30"/>
          <p:cNvSpPr/>
          <p:nvPr/>
        </p:nvSpPr>
        <p:spPr>
          <a:xfrm>
            <a:off x="2974088" y="5285092"/>
            <a:ext cx="173288" cy="182768"/>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橢圓 31"/>
          <p:cNvSpPr/>
          <p:nvPr/>
        </p:nvSpPr>
        <p:spPr>
          <a:xfrm>
            <a:off x="5072682" y="4048746"/>
            <a:ext cx="173288" cy="182768"/>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橢圓 32"/>
          <p:cNvSpPr/>
          <p:nvPr/>
        </p:nvSpPr>
        <p:spPr>
          <a:xfrm>
            <a:off x="4775911" y="5354788"/>
            <a:ext cx="173288" cy="182768"/>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橢圓 33"/>
          <p:cNvSpPr/>
          <p:nvPr/>
        </p:nvSpPr>
        <p:spPr>
          <a:xfrm>
            <a:off x="7061041" y="4463599"/>
            <a:ext cx="173288" cy="182768"/>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p:cNvSpPr/>
          <p:nvPr/>
        </p:nvSpPr>
        <p:spPr>
          <a:xfrm>
            <a:off x="7118422" y="4172566"/>
            <a:ext cx="319318" cy="369332"/>
          </a:xfrm>
          <a:prstGeom prst="rect">
            <a:avLst/>
          </a:prstGeom>
        </p:spPr>
        <p:txBody>
          <a:bodyPr wrap="none">
            <a:spAutoFit/>
          </a:bodyPr>
          <a:lstStyle/>
          <a:p>
            <a:r>
              <a:rPr lang="en-US" altLang="zh-TW" dirty="0" smtClean="0"/>
              <a:t>x</a:t>
            </a:r>
            <a:r>
              <a:rPr lang="en-US" altLang="zh-TW" baseline="-25000" dirty="0" smtClean="0"/>
              <a:t>i</a:t>
            </a:r>
            <a:endParaRPr lang="zh-TW" altLang="en-US" baseline="-25000" dirty="0"/>
          </a:p>
        </p:txBody>
      </p:sp>
      <p:sp>
        <p:nvSpPr>
          <p:cNvPr id="36" name="矩形 35"/>
          <p:cNvSpPr/>
          <p:nvPr/>
        </p:nvSpPr>
        <p:spPr>
          <a:xfrm>
            <a:off x="5346633" y="3873915"/>
            <a:ext cx="362600" cy="369332"/>
          </a:xfrm>
          <a:prstGeom prst="rect">
            <a:avLst/>
          </a:prstGeom>
        </p:spPr>
        <p:txBody>
          <a:bodyPr wrap="none">
            <a:spAutoFit/>
          </a:bodyPr>
          <a:lstStyle/>
          <a:p>
            <a:r>
              <a:rPr lang="en-US" altLang="zh-TW" dirty="0" smtClean="0"/>
              <a:t>x</a:t>
            </a:r>
            <a:r>
              <a:rPr lang="en-US" altLang="zh-TW" baseline="-25000" dirty="0"/>
              <a:t>1</a:t>
            </a:r>
            <a:endParaRPr lang="zh-TW" altLang="en-US" baseline="-25000" dirty="0"/>
          </a:p>
        </p:txBody>
      </p:sp>
      <p:sp>
        <p:nvSpPr>
          <p:cNvPr id="37" name="矩形 36"/>
          <p:cNvSpPr/>
          <p:nvPr/>
        </p:nvSpPr>
        <p:spPr>
          <a:xfrm>
            <a:off x="4887542" y="5029548"/>
            <a:ext cx="362600" cy="369332"/>
          </a:xfrm>
          <a:prstGeom prst="rect">
            <a:avLst/>
          </a:prstGeom>
        </p:spPr>
        <p:txBody>
          <a:bodyPr wrap="none">
            <a:spAutoFit/>
          </a:bodyPr>
          <a:lstStyle/>
          <a:p>
            <a:r>
              <a:rPr lang="en-US" altLang="zh-TW" dirty="0" smtClean="0"/>
              <a:t>x</a:t>
            </a:r>
            <a:r>
              <a:rPr lang="en-US" altLang="zh-TW" baseline="-25000" dirty="0" smtClean="0"/>
              <a:t>3</a:t>
            </a:r>
            <a:endParaRPr lang="zh-TW" altLang="en-US" baseline="-25000" dirty="0"/>
          </a:p>
        </p:txBody>
      </p:sp>
      <p:sp>
        <p:nvSpPr>
          <p:cNvPr id="38" name="矩形 37"/>
          <p:cNvSpPr/>
          <p:nvPr/>
        </p:nvSpPr>
        <p:spPr>
          <a:xfrm>
            <a:off x="2754101" y="4985456"/>
            <a:ext cx="362600" cy="369332"/>
          </a:xfrm>
          <a:prstGeom prst="rect">
            <a:avLst/>
          </a:prstGeom>
        </p:spPr>
        <p:txBody>
          <a:bodyPr wrap="none">
            <a:spAutoFit/>
          </a:bodyPr>
          <a:lstStyle/>
          <a:p>
            <a:r>
              <a:rPr lang="en-US" altLang="zh-TW" dirty="0" smtClean="0"/>
              <a:t>x</a:t>
            </a:r>
            <a:r>
              <a:rPr lang="en-US" altLang="zh-TW" baseline="-25000" dirty="0" smtClean="0"/>
              <a:t>4</a:t>
            </a:r>
            <a:endParaRPr lang="zh-TW" altLang="en-US" baseline="-25000" dirty="0"/>
          </a:p>
        </p:txBody>
      </p:sp>
      <p:sp>
        <p:nvSpPr>
          <p:cNvPr id="39" name="矩形 38"/>
          <p:cNvSpPr/>
          <p:nvPr/>
        </p:nvSpPr>
        <p:spPr>
          <a:xfrm>
            <a:off x="3590982" y="4667999"/>
            <a:ext cx="362600" cy="369332"/>
          </a:xfrm>
          <a:prstGeom prst="rect">
            <a:avLst/>
          </a:prstGeom>
        </p:spPr>
        <p:txBody>
          <a:bodyPr wrap="none">
            <a:spAutoFit/>
          </a:bodyPr>
          <a:lstStyle/>
          <a:p>
            <a:r>
              <a:rPr lang="en-US" altLang="zh-TW" dirty="0" smtClean="0"/>
              <a:t>x</a:t>
            </a:r>
            <a:r>
              <a:rPr lang="en-US" altLang="zh-TW" baseline="-25000" dirty="0" smtClean="0"/>
              <a:t>2</a:t>
            </a:r>
            <a:endParaRPr lang="zh-TW" altLang="en-US" baseline="-25000" dirty="0"/>
          </a:p>
        </p:txBody>
      </p:sp>
      <p:sp>
        <p:nvSpPr>
          <p:cNvPr id="40" name="矩形 39"/>
          <p:cNvSpPr/>
          <p:nvPr/>
        </p:nvSpPr>
        <p:spPr>
          <a:xfrm>
            <a:off x="550775" y="3384106"/>
            <a:ext cx="1489510" cy="369332"/>
          </a:xfrm>
          <a:prstGeom prst="rect">
            <a:avLst/>
          </a:prstGeom>
        </p:spPr>
        <p:txBody>
          <a:bodyPr wrap="none">
            <a:spAutoFit/>
          </a:bodyPr>
          <a:lstStyle/>
          <a:p>
            <a:r>
              <a:rPr lang="en-US" altLang="zh-TW" dirty="0" smtClean="0"/>
              <a:t>R(k)=-2-(-4)=2</a:t>
            </a:r>
            <a:endParaRPr lang="zh-TW" altLang="en-US" dirty="0"/>
          </a:p>
        </p:txBody>
      </p:sp>
      <p:sp>
        <p:nvSpPr>
          <p:cNvPr id="41" name="弧形 40"/>
          <p:cNvSpPr/>
          <p:nvPr/>
        </p:nvSpPr>
        <p:spPr>
          <a:xfrm rot="6739315">
            <a:off x="5148422" y="3691915"/>
            <a:ext cx="886975" cy="707355"/>
          </a:xfrm>
          <a:prstGeom prst="arc">
            <a:avLst>
              <a:gd name="adj1" fmla="val 3406103"/>
              <a:gd name="adj2" fmla="val 10418622"/>
            </a:avLst>
          </a:prstGeom>
          <a:no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42" name="矩形 41"/>
          <p:cNvSpPr/>
          <p:nvPr/>
        </p:nvSpPr>
        <p:spPr>
          <a:xfrm>
            <a:off x="4961069" y="3488476"/>
            <a:ext cx="372218" cy="369332"/>
          </a:xfrm>
          <a:prstGeom prst="rect">
            <a:avLst/>
          </a:prstGeom>
        </p:spPr>
        <p:txBody>
          <a:bodyPr wrap="none">
            <a:spAutoFit/>
          </a:bodyPr>
          <a:lstStyle/>
          <a:p>
            <a:r>
              <a:rPr lang="en-US" altLang="zh-TW" dirty="0" smtClean="0">
                <a:solidFill>
                  <a:srgbClr val="C00000"/>
                </a:solidFill>
              </a:rPr>
              <a:t>-2</a:t>
            </a:r>
            <a:endParaRPr lang="zh-TW" altLang="en-US" dirty="0">
              <a:solidFill>
                <a:srgbClr val="C00000"/>
              </a:solidFill>
            </a:endParaRPr>
          </a:p>
        </p:txBody>
      </p:sp>
      <p:sp>
        <p:nvSpPr>
          <p:cNvPr id="43" name="弧形 42"/>
          <p:cNvSpPr/>
          <p:nvPr/>
        </p:nvSpPr>
        <p:spPr>
          <a:xfrm rot="17772375" flipH="1">
            <a:off x="4412179" y="4267232"/>
            <a:ext cx="1958941" cy="645891"/>
          </a:xfrm>
          <a:prstGeom prst="arc">
            <a:avLst>
              <a:gd name="adj1" fmla="val 21492707"/>
              <a:gd name="adj2" fmla="val 10997796"/>
            </a:avLst>
          </a:prstGeom>
          <a:no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45" name="矩形 44"/>
          <p:cNvSpPr/>
          <p:nvPr/>
        </p:nvSpPr>
        <p:spPr>
          <a:xfrm>
            <a:off x="5546230" y="4649287"/>
            <a:ext cx="372218" cy="369332"/>
          </a:xfrm>
          <a:prstGeom prst="rect">
            <a:avLst/>
          </a:prstGeom>
        </p:spPr>
        <p:txBody>
          <a:bodyPr wrap="none">
            <a:spAutoFit/>
          </a:bodyPr>
          <a:lstStyle/>
          <a:p>
            <a:r>
              <a:rPr lang="en-US" altLang="zh-TW" dirty="0" smtClean="0">
                <a:solidFill>
                  <a:srgbClr val="C00000"/>
                </a:solidFill>
              </a:rPr>
              <a:t>-5</a:t>
            </a:r>
            <a:endParaRPr lang="zh-TW" altLang="en-US" dirty="0">
              <a:solidFill>
                <a:srgbClr val="C00000"/>
              </a:solidFill>
            </a:endParaRPr>
          </a:p>
        </p:txBody>
      </p:sp>
      <p:sp>
        <p:nvSpPr>
          <p:cNvPr id="46" name="弧形 45"/>
          <p:cNvSpPr/>
          <p:nvPr/>
        </p:nvSpPr>
        <p:spPr>
          <a:xfrm rot="11596355">
            <a:off x="2723403" y="4641202"/>
            <a:ext cx="990236" cy="672131"/>
          </a:xfrm>
          <a:prstGeom prst="arc">
            <a:avLst>
              <a:gd name="adj1" fmla="val 1469587"/>
              <a:gd name="adj2" fmla="val 10418622"/>
            </a:avLst>
          </a:prstGeom>
          <a:no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47" name="矩形 46"/>
          <p:cNvSpPr/>
          <p:nvPr/>
        </p:nvSpPr>
        <p:spPr>
          <a:xfrm>
            <a:off x="3099190" y="4294847"/>
            <a:ext cx="372218" cy="369332"/>
          </a:xfrm>
          <a:prstGeom prst="rect">
            <a:avLst/>
          </a:prstGeom>
        </p:spPr>
        <p:txBody>
          <a:bodyPr wrap="none">
            <a:spAutoFit/>
          </a:bodyPr>
          <a:lstStyle/>
          <a:p>
            <a:r>
              <a:rPr lang="en-US" altLang="zh-TW" dirty="0" smtClean="0">
                <a:solidFill>
                  <a:srgbClr val="C00000"/>
                </a:solidFill>
              </a:rPr>
              <a:t>-3</a:t>
            </a:r>
            <a:endParaRPr lang="zh-TW" altLang="en-US" dirty="0">
              <a:solidFill>
                <a:srgbClr val="C00000"/>
              </a:solidFill>
            </a:endParaRPr>
          </a:p>
        </p:txBody>
      </p:sp>
      <p:sp>
        <p:nvSpPr>
          <p:cNvPr id="48" name="弧形 47"/>
          <p:cNvSpPr/>
          <p:nvPr/>
        </p:nvSpPr>
        <p:spPr>
          <a:xfrm rot="2981141">
            <a:off x="2607415" y="4781398"/>
            <a:ext cx="653010" cy="570841"/>
          </a:xfrm>
          <a:prstGeom prst="arc">
            <a:avLst>
              <a:gd name="adj1" fmla="val 1469587"/>
              <a:gd name="adj2" fmla="val 10418622"/>
            </a:avLst>
          </a:prstGeom>
          <a:noFill/>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49" name="矩形 48"/>
          <p:cNvSpPr/>
          <p:nvPr/>
        </p:nvSpPr>
        <p:spPr>
          <a:xfrm>
            <a:off x="2420097" y="5089616"/>
            <a:ext cx="372218" cy="369332"/>
          </a:xfrm>
          <a:prstGeom prst="rect">
            <a:avLst/>
          </a:prstGeom>
        </p:spPr>
        <p:txBody>
          <a:bodyPr wrap="none">
            <a:spAutoFit/>
          </a:bodyPr>
          <a:lstStyle/>
          <a:p>
            <a:r>
              <a:rPr lang="en-US" altLang="zh-TW" dirty="0" smtClean="0">
                <a:solidFill>
                  <a:srgbClr val="C00000"/>
                </a:solidFill>
              </a:rPr>
              <a:t>-2</a:t>
            </a:r>
            <a:endParaRPr lang="zh-TW" altLang="en-US" dirty="0">
              <a:solidFill>
                <a:srgbClr val="C00000"/>
              </a:solidFill>
            </a:endParaRPr>
          </a:p>
        </p:txBody>
      </p:sp>
      <p:sp>
        <p:nvSpPr>
          <p:cNvPr id="50" name="矩形 49"/>
          <p:cNvSpPr/>
          <p:nvPr/>
        </p:nvSpPr>
        <p:spPr>
          <a:xfrm>
            <a:off x="542354" y="3695328"/>
            <a:ext cx="1689886" cy="369332"/>
          </a:xfrm>
          <a:prstGeom prst="rect">
            <a:avLst/>
          </a:prstGeom>
        </p:spPr>
        <p:txBody>
          <a:bodyPr wrap="none">
            <a:spAutoFit/>
          </a:bodyPr>
          <a:lstStyle/>
          <a:p>
            <a:r>
              <a:rPr lang="en-US" altLang="zh-TW" dirty="0"/>
              <a:t>r</a:t>
            </a:r>
            <a:r>
              <a:rPr lang="en-US" altLang="zh-TW" dirty="0" smtClean="0"/>
              <a:t>(1,k)=-4-(-2)=-2</a:t>
            </a:r>
            <a:endParaRPr lang="zh-TW" altLang="en-US" dirty="0"/>
          </a:p>
        </p:txBody>
      </p:sp>
      <p:sp>
        <p:nvSpPr>
          <p:cNvPr id="51" name="矩形 50"/>
          <p:cNvSpPr/>
          <p:nvPr/>
        </p:nvSpPr>
        <p:spPr>
          <a:xfrm>
            <a:off x="542354" y="4054618"/>
            <a:ext cx="1778051" cy="369332"/>
          </a:xfrm>
          <a:prstGeom prst="rect">
            <a:avLst/>
          </a:prstGeom>
        </p:spPr>
        <p:txBody>
          <a:bodyPr wrap="none">
            <a:spAutoFit/>
          </a:bodyPr>
          <a:lstStyle/>
          <a:p>
            <a:r>
              <a:rPr lang="en-US" altLang="zh-TW" dirty="0" smtClean="0">
                <a:solidFill>
                  <a:srgbClr val="C00000"/>
                </a:solidFill>
              </a:rPr>
              <a:t>r(2,k)=-2-(-</a:t>
            </a:r>
            <a:r>
              <a:rPr lang="en-US" altLang="zh-TW" dirty="0">
                <a:solidFill>
                  <a:srgbClr val="C00000"/>
                </a:solidFill>
              </a:rPr>
              <a:t>4</a:t>
            </a:r>
            <a:r>
              <a:rPr lang="en-US" altLang="zh-TW" dirty="0" smtClean="0">
                <a:solidFill>
                  <a:srgbClr val="C00000"/>
                </a:solidFill>
              </a:rPr>
              <a:t>)=2   </a:t>
            </a:r>
            <a:endParaRPr lang="zh-TW" altLang="en-US" dirty="0">
              <a:solidFill>
                <a:srgbClr val="C00000"/>
              </a:solidFill>
            </a:endParaRPr>
          </a:p>
        </p:txBody>
      </p:sp>
      <p:sp>
        <p:nvSpPr>
          <p:cNvPr id="52" name="矩形 51"/>
          <p:cNvSpPr/>
          <p:nvPr/>
        </p:nvSpPr>
        <p:spPr>
          <a:xfrm>
            <a:off x="545965" y="4351841"/>
            <a:ext cx="1619354" cy="369332"/>
          </a:xfrm>
          <a:prstGeom prst="rect">
            <a:avLst/>
          </a:prstGeom>
        </p:spPr>
        <p:txBody>
          <a:bodyPr wrap="none">
            <a:spAutoFit/>
          </a:bodyPr>
          <a:lstStyle/>
          <a:p>
            <a:r>
              <a:rPr lang="en-US" altLang="zh-TW" dirty="0" smtClean="0">
                <a:solidFill>
                  <a:srgbClr val="C00000"/>
                </a:solidFill>
              </a:rPr>
              <a:t>r(3,k)=-2-(-</a:t>
            </a:r>
            <a:r>
              <a:rPr lang="en-US" altLang="zh-TW" dirty="0">
                <a:solidFill>
                  <a:srgbClr val="C00000"/>
                </a:solidFill>
              </a:rPr>
              <a:t>5</a:t>
            </a:r>
            <a:r>
              <a:rPr lang="en-US" altLang="zh-TW" dirty="0" smtClean="0">
                <a:solidFill>
                  <a:srgbClr val="C00000"/>
                </a:solidFill>
              </a:rPr>
              <a:t>)=3</a:t>
            </a:r>
            <a:endParaRPr lang="zh-TW" altLang="en-US" dirty="0">
              <a:solidFill>
                <a:srgbClr val="C00000"/>
              </a:solidFill>
            </a:endParaRPr>
          </a:p>
        </p:txBody>
      </p:sp>
      <p:sp>
        <p:nvSpPr>
          <p:cNvPr id="53" name="矩形 52"/>
          <p:cNvSpPr/>
          <p:nvPr/>
        </p:nvSpPr>
        <p:spPr>
          <a:xfrm>
            <a:off x="540190" y="4693786"/>
            <a:ext cx="1689886" cy="369332"/>
          </a:xfrm>
          <a:prstGeom prst="rect">
            <a:avLst/>
          </a:prstGeom>
        </p:spPr>
        <p:txBody>
          <a:bodyPr wrap="none">
            <a:spAutoFit/>
          </a:bodyPr>
          <a:lstStyle/>
          <a:p>
            <a:r>
              <a:rPr lang="en-US" altLang="zh-TW" dirty="0" smtClean="0"/>
              <a:t>r(4,k)=-5-(-2)=-3</a:t>
            </a:r>
            <a:endParaRPr lang="zh-TW" altLang="en-US" dirty="0"/>
          </a:p>
        </p:txBody>
      </p:sp>
      <p:sp>
        <p:nvSpPr>
          <p:cNvPr id="54" name="矩形 53"/>
          <p:cNvSpPr/>
          <p:nvPr/>
        </p:nvSpPr>
        <p:spPr>
          <a:xfrm>
            <a:off x="469309" y="5751810"/>
            <a:ext cx="3382480" cy="461665"/>
          </a:xfrm>
          <a:prstGeom prst="rect">
            <a:avLst/>
          </a:prstGeom>
        </p:spPr>
        <p:txBody>
          <a:bodyPr wrap="square">
            <a:spAutoFit/>
          </a:bodyPr>
          <a:lstStyle/>
          <a:p>
            <a:r>
              <a:rPr lang="en-US" altLang="zh-TW" sz="2400" dirty="0" smtClean="0"/>
              <a:t>a(</a:t>
            </a:r>
            <a:r>
              <a:rPr lang="en-US" altLang="zh-TW" sz="2400" dirty="0" err="1" smtClean="0"/>
              <a:t>i,k</a:t>
            </a:r>
            <a:r>
              <a:rPr lang="en-US" altLang="zh-TW" sz="2400" dirty="0" smtClean="0"/>
              <a:t>)=min{0,2+2+3} = 0</a:t>
            </a:r>
            <a:endParaRPr lang="zh-TW" altLang="en-US" sz="2400" dirty="0"/>
          </a:p>
        </p:txBody>
      </p:sp>
    </p:spTree>
    <p:extLst>
      <p:ext uri="{BB962C8B-B14F-4D97-AF65-F5344CB8AC3E}">
        <p14:creationId xmlns:p14="http://schemas.microsoft.com/office/powerpoint/2010/main" val="4579272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Fitness evaluation</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de-DE" altLang="zh-TW" dirty="0" smtClean="0"/>
                  <a:t>S(i,j)=</a:t>
                </a:r>
                <a:r>
                  <a:rPr lang="en-US" altLang="zh-TW" dirty="0"/>
                  <a:t> r(</a:t>
                </a:r>
                <a:r>
                  <a:rPr lang="en-US" altLang="zh-TW" dirty="0" err="1"/>
                  <a:t>i,k</a:t>
                </a:r>
                <a:r>
                  <a:rPr lang="en-US" altLang="zh-TW" dirty="0"/>
                  <a:t>)+ a(</a:t>
                </a:r>
                <a:r>
                  <a:rPr lang="en-US" altLang="zh-TW" dirty="0" err="1"/>
                  <a:t>i,k</a:t>
                </a:r>
                <a:r>
                  <a:rPr lang="en-US" altLang="zh-TW" dirty="0"/>
                  <a:t>)  j=1,2,3,…,</a:t>
                </a:r>
                <a:r>
                  <a:rPr lang="en-US" altLang="zh-TW" dirty="0" smtClean="0"/>
                  <a:t>k</a:t>
                </a:r>
              </a:p>
              <a:p>
                <a:r>
                  <a:rPr lang="en-US" altLang="zh-TW" b="0" dirty="0" smtClean="0"/>
                  <a:t>Chromosome:</a:t>
                </a: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𝑉</m:t>
                      </m:r>
                      <m:r>
                        <a:rPr lang="en-US" altLang="zh-TW" b="0" i="1" smtClean="0">
                          <a:latin typeface="Cambria Math" panose="02040503050406030204" pitchFamily="18" charset="0"/>
                        </a:rPr>
                        <m:t>=[</m:t>
                      </m:r>
                      <m:sSub>
                        <m:sSubPr>
                          <m:ctrlPr>
                            <a:rPr lang="en-US" altLang="zh-TW" b="0" i="1" smtClean="0">
                              <a:latin typeface="Cambria Math"/>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11</m:t>
                          </m:r>
                        </m:sub>
                      </m:sSub>
                      <m:r>
                        <a:rPr lang="en-US" altLang="zh-TW" b="0" i="1" smtClean="0">
                          <a:latin typeface="Cambria Math" panose="02040503050406030204" pitchFamily="18" charset="0"/>
                        </a:rPr>
                        <m:t>,</m:t>
                      </m:r>
                      <m:sSub>
                        <m:sSubPr>
                          <m:ctrlPr>
                            <a:rPr lang="en-US" altLang="zh-TW" i="1">
                              <a:latin typeface="Cambria Math"/>
                            </a:rPr>
                          </m:ctrlPr>
                        </m:sSubPr>
                        <m:e>
                          <m:r>
                            <a:rPr lang="en-US" altLang="zh-TW" i="1">
                              <a:latin typeface="Cambria Math" panose="02040503050406030204" pitchFamily="18" charset="0"/>
                            </a:rPr>
                            <m:t>𝑣</m:t>
                          </m:r>
                        </m:e>
                        <m:sub>
                          <m:r>
                            <a:rPr lang="en-US" altLang="zh-TW" i="1">
                              <a:latin typeface="Cambria Math" panose="02040503050406030204" pitchFamily="18" charset="0"/>
                            </a:rPr>
                            <m:t>1</m:t>
                          </m:r>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i="1">
                              <a:latin typeface="Cambria Math"/>
                            </a:rPr>
                          </m:ctrlPr>
                        </m:sSubPr>
                        <m:e>
                          <m:r>
                            <a:rPr lang="en-US" altLang="zh-TW" i="1">
                              <a:latin typeface="Cambria Math" panose="02040503050406030204" pitchFamily="18" charset="0"/>
                            </a:rPr>
                            <m:t>𝑣</m:t>
                          </m:r>
                        </m:e>
                        <m:sub>
                          <m:r>
                            <a:rPr lang="en-US" altLang="zh-TW" i="1">
                              <a:latin typeface="Cambria Math" panose="02040503050406030204" pitchFamily="18" charset="0"/>
                            </a:rPr>
                            <m:t>1</m:t>
                          </m:r>
                          <m:r>
                            <a:rPr lang="en-US" altLang="zh-TW" b="0" i="1" smtClean="0">
                              <a:latin typeface="Cambria Math" panose="02040503050406030204" pitchFamily="18" charset="0"/>
                            </a:rPr>
                            <m:t>𝑛</m:t>
                          </m:r>
                        </m:sub>
                      </m:sSub>
                      <m:r>
                        <a:rPr lang="en-US" altLang="zh-TW" b="0" i="1" smtClean="0">
                          <a:latin typeface="Cambria Math" panose="02040503050406030204" pitchFamily="18" charset="0"/>
                        </a:rPr>
                        <m:t>,</m:t>
                      </m:r>
                      <m:sSub>
                        <m:sSubPr>
                          <m:ctrlPr>
                            <a:rPr lang="en-US" altLang="zh-TW" i="1">
                              <a:latin typeface="Cambria Math"/>
                            </a:rPr>
                          </m:ctrlPr>
                        </m:sSubPr>
                        <m:e>
                          <m:r>
                            <a:rPr lang="en-US" altLang="zh-TW" i="1">
                              <a:latin typeface="Cambria Math" panose="02040503050406030204" pitchFamily="18" charset="0"/>
                            </a:rPr>
                            <m:t>𝑣</m:t>
                          </m:r>
                        </m:e>
                        <m:sub>
                          <m:r>
                            <a:rPr lang="en-US" altLang="zh-TW" b="0" i="1" smtClean="0">
                              <a:latin typeface="Cambria Math" panose="02040503050406030204" pitchFamily="18" charset="0"/>
                            </a:rPr>
                            <m:t>2</m:t>
                          </m:r>
                          <m:r>
                            <a:rPr lang="en-US" altLang="zh-TW" i="1">
                              <a:latin typeface="Cambria Math" panose="02040503050406030204" pitchFamily="18" charset="0"/>
                            </a:rPr>
                            <m:t>1</m:t>
                          </m:r>
                          <m:r>
                            <a:rPr lang="en-US" altLang="zh-TW" b="0" i="1" smtClean="0">
                              <a:latin typeface="Cambria Math" panose="02040503050406030204" pitchFamily="18" charset="0"/>
                            </a:rPr>
                            <m:t>,…,</m:t>
                          </m:r>
                        </m:sub>
                      </m:sSub>
                      <m:sSub>
                        <m:sSubPr>
                          <m:ctrlPr>
                            <a:rPr lang="en-US" altLang="zh-TW" i="1">
                              <a:latin typeface="Cambria Math"/>
                            </a:rPr>
                          </m:ctrlPr>
                        </m:sSubPr>
                        <m:e>
                          <m:r>
                            <a:rPr lang="en-US" altLang="zh-TW" i="1">
                              <a:latin typeface="Cambria Math" panose="02040503050406030204" pitchFamily="18" charset="0"/>
                            </a:rPr>
                            <m:t>𝑣</m:t>
                          </m:r>
                        </m:e>
                        <m:sub>
                          <m:r>
                            <a:rPr lang="en-US" altLang="zh-TW" b="0" i="1" smtClean="0">
                              <a:latin typeface="Cambria Math" panose="02040503050406030204" pitchFamily="18" charset="0"/>
                            </a:rPr>
                            <m:t>2</m:t>
                          </m:r>
                          <m:r>
                            <a:rPr lang="en-US" altLang="zh-TW" b="0" i="1" smtClean="0">
                              <a:latin typeface="Cambria Math" panose="02040503050406030204" pitchFamily="18" charset="0"/>
                            </a:rPr>
                            <m:t>𝑛</m:t>
                          </m:r>
                        </m:sub>
                      </m:sSub>
                      <m:r>
                        <a:rPr lang="en-US" altLang="zh-TW" b="0" i="1" smtClean="0">
                          <a:latin typeface="Cambria Math" panose="02040503050406030204" pitchFamily="18" charset="0"/>
                        </a:rPr>
                        <m:t>,…</m:t>
                      </m:r>
                      <m:sSub>
                        <m:sSubPr>
                          <m:ctrlPr>
                            <a:rPr lang="en-US" altLang="zh-TW" i="1">
                              <a:latin typeface="Cambria Math"/>
                            </a:rPr>
                          </m:ctrlPr>
                        </m:sSubPr>
                        <m:e>
                          <m:r>
                            <a:rPr lang="en-US" altLang="zh-TW" i="1">
                              <a:latin typeface="Cambria Math" panose="02040503050406030204" pitchFamily="18" charset="0"/>
                            </a:rPr>
                            <m:t>𝑣</m:t>
                          </m:r>
                        </m:e>
                        <m:sub>
                          <m:r>
                            <a:rPr lang="en-US" altLang="zh-TW" b="0" i="1" smtClean="0">
                              <a:latin typeface="Cambria Math" panose="02040503050406030204" pitchFamily="18" charset="0"/>
                            </a:rPr>
                            <m:t>𝑘𝑛</m:t>
                          </m:r>
                        </m:sub>
                      </m:sSub>
                      <m:r>
                        <a:rPr lang="en-US" altLang="zh-TW" b="0" i="1" smtClean="0">
                          <a:latin typeface="Cambria Math" panose="02040503050406030204" pitchFamily="18" charset="0"/>
                        </a:rPr>
                        <m:t>]</m:t>
                      </m:r>
                    </m:oMath>
                  </m:oMathPara>
                </a14:m>
                <a:endParaRPr lang="en-US" altLang="zh-TW" dirty="0" smtClean="0"/>
              </a:p>
              <a:p>
                <a:pPr marL="0" indent="0">
                  <a:buNone/>
                </a:pPr>
                <a:endParaRPr lang="en-US" altLang="zh-TW" dirty="0" smtClean="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704" t="-1752"/>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73DA0BB7-265A-403C-9275-D587AB510EDC}" type="slidenum">
              <a:rPr lang="zh-TW" altLang="en-US" smtClean="0"/>
              <a:t>7</a:t>
            </a:fld>
            <a:endParaRPr lang="zh-TW" altLang="en-US"/>
          </a:p>
        </p:txBody>
      </p:sp>
    </p:spTree>
    <p:extLst>
      <p:ext uri="{BB962C8B-B14F-4D97-AF65-F5344CB8AC3E}">
        <p14:creationId xmlns:p14="http://schemas.microsoft.com/office/powerpoint/2010/main" val="14632119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Fitness evaluation</a:t>
            </a:r>
            <a:endParaRPr lang="zh-TW" altLang="en-US" dirty="0"/>
          </a:p>
        </p:txBody>
      </p:sp>
      <p:sp>
        <p:nvSpPr>
          <p:cNvPr id="3" name="內容版面配置區 2"/>
          <p:cNvSpPr>
            <a:spLocks noGrp="1"/>
          </p:cNvSpPr>
          <p:nvPr>
            <p:ph idx="1"/>
          </p:nvPr>
        </p:nvSpPr>
        <p:spPr/>
        <p:txBody>
          <a:bodyPr>
            <a:normAutofit/>
          </a:bodyPr>
          <a:lstStyle/>
          <a:p>
            <a:r>
              <a:rPr lang="en-US" altLang="zh-TW" sz="2000" dirty="0"/>
              <a:t>(1) A measure of the cohesiveness of clusters, favoring dense clusters</a:t>
            </a:r>
            <a:r>
              <a:rPr lang="en-US" altLang="zh-TW" sz="2000" dirty="0" smtClean="0"/>
              <a:t>.</a:t>
            </a:r>
          </a:p>
          <a:p>
            <a:endParaRPr lang="en-US" altLang="zh-TW" sz="2000" dirty="0"/>
          </a:p>
          <a:p>
            <a:endParaRPr lang="en-US" altLang="zh-TW" sz="2000" dirty="0" smtClean="0"/>
          </a:p>
          <a:p>
            <a:endParaRPr lang="en-US" altLang="zh-TW" sz="2000" dirty="0"/>
          </a:p>
          <a:p>
            <a:r>
              <a:rPr lang="en-US" altLang="zh-TW" sz="2000" dirty="0"/>
              <a:t>(2) A measure of the distance between clusters and the global center, which favors well-separated clusters.</a:t>
            </a:r>
          </a:p>
          <a:p>
            <a:endParaRPr lang="en-US" altLang="zh-TW" sz="2000" dirty="0" smtClean="0"/>
          </a:p>
          <a:p>
            <a:endParaRPr lang="en-US" altLang="zh-TW" sz="2000" dirty="0" smtClean="0"/>
          </a:p>
          <a:p>
            <a:endParaRPr lang="en-US" altLang="zh-TW" sz="2000" dirty="0"/>
          </a:p>
          <a:p>
            <a:r>
              <a:rPr lang="en-US" altLang="zh-TW" sz="2000" dirty="0" smtClean="0"/>
              <a:t>(3)</a:t>
            </a:r>
            <a:r>
              <a:rPr lang="en-US" altLang="zh-TW" sz="2000" dirty="0"/>
              <a:t> A measure of the ‘‘implicit’’ of the number of clusters, </a:t>
            </a:r>
            <a:r>
              <a:rPr lang="en-US" altLang="zh-TW" sz="2000" dirty="0" smtClean="0"/>
              <a:t>which favors </a:t>
            </a:r>
            <a:r>
              <a:rPr lang="en-US" altLang="zh-TW" sz="2000" dirty="0"/>
              <a:t>candidate solutions with a smaller number of clusters.</a:t>
            </a:r>
            <a:endParaRPr lang="zh-TW" altLang="en-US" sz="2000"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8</a:t>
            </a:fld>
            <a:endParaRPr lang="zh-TW" altLang="en-US"/>
          </a:p>
        </p:txBody>
      </p:sp>
      <p:sp>
        <p:nvSpPr>
          <p:cNvPr id="5" name="橢圓 4"/>
          <p:cNvSpPr/>
          <p:nvPr/>
        </p:nvSpPr>
        <p:spPr>
          <a:xfrm>
            <a:off x="3433651" y="2060848"/>
            <a:ext cx="914400"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橢圓 5"/>
          <p:cNvSpPr/>
          <p:nvPr/>
        </p:nvSpPr>
        <p:spPr>
          <a:xfrm>
            <a:off x="3563888" y="2518048"/>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橢圓 6"/>
          <p:cNvSpPr/>
          <p:nvPr/>
        </p:nvSpPr>
        <p:spPr>
          <a:xfrm>
            <a:off x="3746835" y="2155540"/>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橢圓 7"/>
          <p:cNvSpPr/>
          <p:nvPr/>
        </p:nvSpPr>
        <p:spPr>
          <a:xfrm>
            <a:off x="3793107" y="2467882"/>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橢圓 8"/>
          <p:cNvSpPr/>
          <p:nvPr/>
        </p:nvSpPr>
        <p:spPr>
          <a:xfrm>
            <a:off x="3968545" y="2312722"/>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橢圓 9"/>
          <p:cNvSpPr/>
          <p:nvPr/>
        </p:nvSpPr>
        <p:spPr>
          <a:xfrm>
            <a:off x="3767372" y="2721565"/>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橢圓 10"/>
          <p:cNvSpPr/>
          <p:nvPr/>
        </p:nvSpPr>
        <p:spPr>
          <a:xfrm>
            <a:off x="4086826" y="2530693"/>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2519251" y="3789040"/>
            <a:ext cx="914400"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p:cNvSpPr/>
          <p:nvPr/>
        </p:nvSpPr>
        <p:spPr>
          <a:xfrm>
            <a:off x="2649488" y="4246240"/>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2832435" y="3883732"/>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橢圓 14"/>
          <p:cNvSpPr/>
          <p:nvPr/>
        </p:nvSpPr>
        <p:spPr>
          <a:xfrm>
            <a:off x="2878707" y="4196074"/>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p:nvSpPr>
        <p:spPr>
          <a:xfrm>
            <a:off x="3054145" y="4040914"/>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p:cNvSpPr/>
          <p:nvPr/>
        </p:nvSpPr>
        <p:spPr>
          <a:xfrm>
            <a:off x="2852972" y="4449757"/>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橢圓 17"/>
          <p:cNvSpPr/>
          <p:nvPr/>
        </p:nvSpPr>
        <p:spPr>
          <a:xfrm>
            <a:off x="3172426" y="4258885"/>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橢圓 18"/>
          <p:cNvSpPr/>
          <p:nvPr/>
        </p:nvSpPr>
        <p:spPr>
          <a:xfrm>
            <a:off x="4348051" y="3738874"/>
            <a:ext cx="914400" cy="914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橢圓 19"/>
          <p:cNvSpPr/>
          <p:nvPr/>
        </p:nvSpPr>
        <p:spPr>
          <a:xfrm>
            <a:off x="4478288" y="4196074"/>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橢圓 20"/>
          <p:cNvSpPr/>
          <p:nvPr/>
        </p:nvSpPr>
        <p:spPr>
          <a:xfrm>
            <a:off x="4661235" y="3833566"/>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橢圓 21"/>
          <p:cNvSpPr/>
          <p:nvPr/>
        </p:nvSpPr>
        <p:spPr>
          <a:xfrm>
            <a:off x="4707507" y="4145908"/>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4882945" y="3990748"/>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橢圓 23"/>
          <p:cNvSpPr/>
          <p:nvPr/>
        </p:nvSpPr>
        <p:spPr>
          <a:xfrm>
            <a:off x="4681772" y="4399591"/>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p:cNvSpPr/>
          <p:nvPr/>
        </p:nvSpPr>
        <p:spPr>
          <a:xfrm>
            <a:off x="5001226" y="4208719"/>
            <a:ext cx="144016" cy="1908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7" name="直線接點 26"/>
          <p:cNvCxnSpPr>
            <a:stCxn id="12" idx="6"/>
            <a:endCxn id="19" idx="2"/>
          </p:cNvCxnSpPr>
          <p:nvPr/>
        </p:nvCxnSpPr>
        <p:spPr>
          <a:xfrm flipV="1">
            <a:off x="3433651" y="4196074"/>
            <a:ext cx="914400" cy="5016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47914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Fitness evaluation</a:t>
            </a:r>
            <a:endParaRPr lang="zh-TW" altLang="en-US" dirty="0"/>
          </a:p>
        </p:txBody>
      </p:sp>
      <p:pic>
        <p:nvPicPr>
          <p:cNvPr id="5" name="內容版面配置區 4"/>
          <p:cNvPicPr>
            <a:picLocks noGrp="1" noChangeAspect="1"/>
          </p:cNvPicPr>
          <p:nvPr>
            <p:ph idx="1"/>
          </p:nvPr>
        </p:nvPicPr>
        <p:blipFill>
          <a:blip r:embed="rId2"/>
          <a:stretch>
            <a:fillRect/>
          </a:stretch>
        </p:blipFill>
        <p:spPr>
          <a:xfrm>
            <a:off x="611560" y="1556792"/>
            <a:ext cx="3319226" cy="576064"/>
          </a:xfrm>
          <a:prstGeom prst="rect">
            <a:avLst/>
          </a:prstGeom>
        </p:spPr>
      </p:pic>
      <p:sp>
        <p:nvSpPr>
          <p:cNvPr id="4" name="投影片編號版面配置區 3"/>
          <p:cNvSpPr>
            <a:spLocks noGrp="1"/>
          </p:cNvSpPr>
          <p:nvPr>
            <p:ph type="sldNum" sz="quarter" idx="12"/>
          </p:nvPr>
        </p:nvSpPr>
        <p:spPr/>
        <p:txBody>
          <a:bodyPr/>
          <a:lstStyle/>
          <a:p>
            <a:fld id="{73DA0BB7-265A-403C-9275-D587AB510EDC}" type="slidenum">
              <a:rPr lang="zh-TW" altLang="en-US" smtClean="0"/>
              <a:t>9</a:t>
            </a:fld>
            <a:endParaRPr lang="zh-TW" altLang="en-US"/>
          </a:p>
        </p:txBody>
      </p:sp>
      <p:pic>
        <p:nvPicPr>
          <p:cNvPr id="6" name="圖片 5"/>
          <p:cNvPicPr>
            <a:picLocks noChangeAspect="1"/>
          </p:cNvPicPr>
          <p:nvPr/>
        </p:nvPicPr>
        <p:blipFill>
          <a:blip r:embed="rId3"/>
          <a:stretch>
            <a:fillRect/>
          </a:stretch>
        </p:blipFill>
        <p:spPr>
          <a:xfrm>
            <a:off x="521428" y="2272010"/>
            <a:ext cx="4212690" cy="842538"/>
          </a:xfrm>
          <a:prstGeom prst="rect">
            <a:avLst/>
          </a:prstGeom>
        </p:spPr>
      </p:pic>
      <p:sp>
        <p:nvSpPr>
          <p:cNvPr id="7" name="矩形 6"/>
          <p:cNvSpPr/>
          <p:nvPr/>
        </p:nvSpPr>
        <p:spPr>
          <a:xfrm>
            <a:off x="4745550" y="2343157"/>
            <a:ext cx="3024336" cy="461665"/>
          </a:xfrm>
          <a:prstGeom prst="rect">
            <a:avLst/>
          </a:prstGeom>
        </p:spPr>
        <p:txBody>
          <a:bodyPr wrap="square">
            <a:spAutoFit/>
          </a:bodyPr>
          <a:lstStyle/>
          <a:p>
            <a:r>
              <a:rPr lang="en-US" altLang="zh-TW" sz="2400" dirty="0" err="1" smtClean="0">
                <a:latin typeface="+mj-ea"/>
                <a:ea typeface="+mj-ea"/>
              </a:rPr>
              <a:t>u</a:t>
            </a:r>
            <a:r>
              <a:rPr lang="en-US" altLang="zh-TW" sz="2400" baseline="-25000" dirty="0" err="1" smtClean="0">
                <a:latin typeface="+mj-ea"/>
                <a:ea typeface="+mj-ea"/>
              </a:rPr>
              <a:t>i</a:t>
            </a:r>
            <a:r>
              <a:rPr lang="en-US" altLang="zh-TW" sz="2400" dirty="0" smtClean="0">
                <a:latin typeface="+mj-ea"/>
                <a:ea typeface="+mj-ea"/>
              </a:rPr>
              <a:t> is  the center of </a:t>
            </a:r>
            <a:r>
              <a:rPr lang="en-US" altLang="zh-TW" sz="2400" dirty="0" err="1">
                <a:latin typeface="+mj-ea"/>
                <a:ea typeface="+mj-ea"/>
              </a:rPr>
              <a:t>Ci</a:t>
            </a:r>
            <a:endParaRPr lang="zh-TW" altLang="en-US" sz="2400" dirty="0">
              <a:latin typeface="+mj-ea"/>
              <a:ea typeface="+mj-ea"/>
            </a:endParaRPr>
          </a:p>
        </p:txBody>
      </p:sp>
      <p:pic>
        <p:nvPicPr>
          <p:cNvPr id="8" name="圖片 7"/>
          <p:cNvPicPr>
            <a:picLocks noChangeAspect="1"/>
          </p:cNvPicPr>
          <p:nvPr/>
        </p:nvPicPr>
        <p:blipFill>
          <a:blip r:embed="rId4"/>
          <a:stretch>
            <a:fillRect/>
          </a:stretch>
        </p:blipFill>
        <p:spPr>
          <a:xfrm>
            <a:off x="545008" y="3231247"/>
            <a:ext cx="4111148" cy="958946"/>
          </a:xfrm>
          <a:prstGeom prst="rect">
            <a:avLst/>
          </a:prstGeom>
        </p:spPr>
      </p:pic>
      <p:pic>
        <p:nvPicPr>
          <p:cNvPr id="9" name="圖片 8"/>
          <p:cNvPicPr>
            <a:picLocks noChangeAspect="1"/>
          </p:cNvPicPr>
          <p:nvPr/>
        </p:nvPicPr>
        <p:blipFill>
          <a:blip r:embed="rId5"/>
          <a:stretch>
            <a:fillRect/>
          </a:stretch>
        </p:blipFill>
        <p:spPr>
          <a:xfrm>
            <a:off x="521428" y="4243032"/>
            <a:ext cx="3168300" cy="871010"/>
          </a:xfrm>
          <a:prstGeom prst="rect">
            <a:avLst/>
          </a:prstGeom>
        </p:spPr>
      </p:pic>
      <p:pic>
        <p:nvPicPr>
          <p:cNvPr id="10" name="圖片 9"/>
          <p:cNvPicPr>
            <a:picLocks noChangeAspect="1"/>
          </p:cNvPicPr>
          <p:nvPr/>
        </p:nvPicPr>
        <p:blipFill>
          <a:blip r:embed="rId6"/>
          <a:stretch>
            <a:fillRect/>
          </a:stretch>
        </p:blipFill>
        <p:spPr>
          <a:xfrm>
            <a:off x="541185" y="5114042"/>
            <a:ext cx="2749842" cy="983035"/>
          </a:xfrm>
          <a:prstGeom prst="rect">
            <a:avLst/>
          </a:prstGeom>
        </p:spPr>
      </p:pic>
    </p:spTree>
    <p:extLst>
      <p:ext uri="{BB962C8B-B14F-4D97-AF65-F5344CB8AC3E}">
        <p14:creationId xmlns:p14="http://schemas.microsoft.com/office/powerpoint/2010/main" val="35466283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Evolutionary operators</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smtClean="0"/>
              <a:t>1.Crossover</a:t>
            </a:r>
          </a:p>
          <a:p>
            <a:r>
              <a:rPr lang="en-US" altLang="zh-TW" dirty="0" smtClean="0"/>
              <a:t>2.Mutation</a:t>
            </a:r>
          </a:p>
          <a:p>
            <a:pPr marL="0" indent="0">
              <a:buNone/>
            </a:pPr>
            <a:r>
              <a:rPr lang="zh-TW" altLang="en-US" dirty="0" smtClean="0"/>
              <a:t>        </a:t>
            </a:r>
            <a:r>
              <a:rPr lang="en-US" altLang="zh-TW" dirty="0" smtClean="0"/>
              <a:t>(1)perturb mutation</a:t>
            </a:r>
          </a:p>
          <a:p>
            <a:pPr marL="0" indent="0">
              <a:buNone/>
            </a:pPr>
            <a:r>
              <a:rPr lang="en-US" altLang="zh-TW" dirty="0" smtClean="0"/>
              <a:t>        (2)insert mutation</a:t>
            </a:r>
          </a:p>
          <a:p>
            <a:pPr marL="0" indent="0">
              <a:buNone/>
            </a:pPr>
            <a:r>
              <a:rPr lang="en-US" altLang="zh-TW" dirty="0"/>
              <a:t> </a:t>
            </a:r>
            <a:r>
              <a:rPr lang="en-US" altLang="zh-TW" dirty="0" smtClean="0"/>
              <a:t>       (3)delete mutation</a:t>
            </a:r>
          </a:p>
          <a:p>
            <a:pPr marL="0" indent="0">
              <a:buNone/>
            </a:pPr>
            <a:r>
              <a:rPr lang="en-US" altLang="zh-TW" dirty="0"/>
              <a:t> </a:t>
            </a:r>
            <a:r>
              <a:rPr lang="en-US" altLang="zh-TW" dirty="0" smtClean="0"/>
              <a:t>       (4)merge mutation</a:t>
            </a:r>
          </a:p>
          <a:p>
            <a:pPr marL="0" indent="0">
              <a:buNone/>
            </a:pPr>
            <a:r>
              <a:rPr lang="en-US" altLang="zh-TW" dirty="0"/>
              <a:t> </a:t>
            </a:r>
            <a:r>
              <a:rPr lang="en-US" altLang="zh-TW" dirty="0" smtClean="0"/>
              <a:t>       (5)split mutation</a:t>
            </a:r>
          </a:p>
          <a:p>
            <a:pPr marL="0" indent="0">
              <a:buNone/>
            </a:pPr>
            <a:r>
              <a:rPr lang="en-US" altLang="zh-TW" dirty="0"/>
              <a:t> </a:t>
            </a:r>
            <a:r>
              <a:rPr lang="en-US" altLang="zh-TW" dirty="0" smtClean="0"/>
              <a:t>       (6)move mutation</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10</a:t>
            </a:fld>
            <a:endParaRPr lang="zh-TW" altLang="en-US"/>
          </a:p>
        </p:txBody>
      </p:sp>
      <p:sp>
        <p:nvSpPr>
          <p:cNvPr id="5" name="矩形 4"/>
          <p:cNvSpPr/>
          <p:nvPr/>
        </p:nvSpPr>
        <p:spPr>
          <a:xfrm>
            <a:off x="2987824" y="1772815"/>
            <a:ext cx="2376264" cy="2018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p:nvSpPr>
        <p:spPr>
          <a:xfrm>
            <a:off x="5364088" y="1774209"/>
            <a:ext cx="1923816" cy="204715"/>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2987824" y="2204863"/>
            <a:ext cx="2376264" cy="2018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5364088" y="2206257"/>
            <a:ext cx="1923816" cy="20046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6466830" y="2211917"/>
            <a:ext cx="824968" cy="1948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p:cNvSpPr/>
          <p:nvPr/>
        </p:nvSpPr>
        <p:spPr>
          <a:xfrm>
            <a:off x="4409852" y="2209111"/>
            <a:ext cx="950342" cy="197613"/>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p:cNvSpPr/>
          <p:nvPr/>
        </p:nvSpPr>
        <p:spPr>
          <a:xfrm>
            <a:off x="4409852" y="1681534"/>
            <a:ext cx="950342" cy="4320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橢圓 13"/>
          <p:cNvSpPr/>
          <p:nvPr/>
        </p:nvSpPr>
        <p:spPr>
          <a:xfrm>
            <a:off x="6337562" y="1644971"/>
            <a:ext cx="950342" cy="4320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1151221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Experiments results</a:t>
            </a:r>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11</a:t>
            </a:fld>
            <a:endParaRPr lang="zh-TW" altLang="en-US"/>
          </a:p>
        </p:txBody>
      </p:sp>
      <p:pic>
        <p:nvPicPr>
          <p:cNvPr id="5" name="圖片 4"/>
          <p:cNvPicPr>
            <a:picLocks noChangeAspect="1"/>
          </p:cNvPicPr>
          <p:nvPr/>
        </p:nvPicPr>
        <p:blipFill>
          <a:blip r:embed="rId2"/>
          <a:stretch>
            <a:fillRect/>
          </a:stretch>
        </p:blipFill>
        <p:spPr>
          <a:xfrm>
            <a:off x="462398" y="1600200"/>
            <a:ext cx="8224402" cy="4574029"/>
          </a:xfrm>
          <a:prstGeom prst="rect">
            <a:avLst/>
          </a:prstGeom>
        </p:spPr>
      </p:pic>
    </p:spTree>
    <p:extLst>
      <p:ext uri="{BB962C8B-B14F-4D97-AF65-F5344CB8AC3E}">
        <p14:creationId xmlns:p14="http://schemas.microsoft.com/office/powerpoint/2010/main" val="5817935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Experiments results</a:t>
            </a:r>
            <a:endParaRPr lang="zh-TW" altLang="en-US"/>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12</a:t>
            </a:fld>
            <a:endParaRPr lang="zh-TW" altLang="en-US"/>
          </a:p>
        </p:txBody>
      </p:sp>
      <p:pic>
        <p:nvPicPr>
          <p:cNvPr id="5" name="圖片 4"/>
          <p:cNvPicPr>
            <a:picLocks noChangeAspect="1"/>
          </p:cNvPicPr>
          <p:nvPr/>
        </p:nvPicPr>
        <p:blipFill>
          <a:blip r:embed="rId2"/>
          <a:stretch>
            <a:fillRect/>
          </a:stretch>
        </p:blipFill>
        <p:spPr>
          <a:xfrm>
            <a:off x="457200" y="1483437"/>
            <a:ext cx="8226754" cy="4642725"/>
          </a:xfrm>
          <a:prstGeom prst="rect">
            <a:avLst/>
          </a:prstGeom>
        </p:spPr>
      </p:pic>
    </p:spTree>
    <p:extLst>
      <p:ext uri="{BB962C8B-B14F-4D97-AF65-F5344CB8AC3E}">
        <p14:creationId xmlns:p14="http://schemas.microsoft.com/office/powerpoint/2010/main" val="29606737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Experiments results</a:t>
            </a:r>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13</a:t>
            </a:fld>
            <a:endParaRPr lang="zh-TW" altLang="en-US"/>
          </a:p>
        </p:txBody>
      </p:sp>
      <p:pic>
        <p:nvPicPr>
          <p:cNvPr id="5" name="圖片 4"/>
          <p:cNvPicPr>
            <a:picLocks noChangeAspect="1"/>
          </p:cNvPicPr>
          <p:nvPr/>
        </p:nvPicPr>
        <p:blipFill>
          <a:blip r:embed="rId2"/>
          <a:stretch>
            <a:fillRect/>
          </a:stretch>
        </p:blipFill>
        <p:spPr>
          <a:xfrm>
            <a:off x="-1548680" y="1128966"/>
            <a:ext cx="11665296" cy="5227384"/>
          </a:xfrm>
          <a:prstGeom prst="rect">
            <a:avLst/>
          </a:prstGeom>
        </p:spPr>
      </p:pic>
    </p:spTree>
    <p:extLst>
      <p:ext uri="{BB962C8B-B14F-4D97-AF65-F5344CB8AC3E}">
        <p14:creationId xmlns:p14="http://schemas.microsoft.com/office/powerpoint/2010/main" val="24631852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Experiments results</a:t>
            </a:r>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14</a:t>
            </a:fld>
            <a:endParaRPr lang="zh-TW" altLang="en-US"/>
          </a:p>
        </p:txBody>
      </p:sp>
      <p:pic>
        <p:nvPicPr>
          <p:cNvPr id="5" name="圖片 4"/>
          <p:cNvPicPr>
            <a:picLocks noChangeAspect="1"/>
          </p:cNvPicPr>
          <p:nvPr/>
        </p:nvPicPr>
        <p:blipFill>
          <a:blip r:embed="rId2"/>
          <a:stretch>
            <a:fillRect/>
          </a:stretch>
        </p:blipFill>
        <p:spPr>
          <a:xfrm>
            <a:off x="-1548680" y="1340768"/>
            <a:ext cx="12097344" cy="4824536"/>
          </a:xfrm>
          <a:prstGeom prst="rect">
            <a:avLst/>
          </a:prstGeom>
        </p:spPr>
      </p:pic>
    </p:spTree>
    <p:extLst>
      <p:ext uri="{BB962C8B-B14F-4D97-AF65-F5344CB8AC3E}">
        <p14:creationId xmlns:p14="http://schemas.microsoft.com/office/powerpoint/2010/main" val="8772585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Experiments results</a:t>
            </a:r>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15</a:t>
            </a:fld>
            <a:endParaRPr lang="zh-TW" altLang="en-US"/>
          </a:p>
        </p:txBody>
      </p:sp>
      <p:pic>
        <p:nvPicPr>
          <p:cNvPr id="5" name="圖片 4"/>
          <p:cNvPicPr>
            <a:picLocks noChangeAspect="1"/>
          </p:cNvPicPr>
          <p:nvPr/>
        </p:nvPicPr>
        <p:blipFill>
          <a:blip r:embed="rId2"/>
          <a:stretch>
            <a:fillRect/>
          </a:stretch>
        </p:blipFill>
        <p:spPr>
          <a:xfrm>
            <a:off x="-1620688" y="1196752"/>
            <a:ext cx="12385376" cy="4929411"/>
          </a:xfrm>
          <a:prstGeom prst="rect">
            <a:avLst/>
          </a:prstGeom>
        </p:spPr>
      </p:pic>
    </p:spTree>
    <p:extLst>
      <p:ext uri="{BB962C8B-B14F-4D97-AF65-F5344CB8AC3E}">
        <p14:creationId xmlns:p14="http://schemas.microsoft.com/office/powerpoint/2010/main" val="25791306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16</a:t>
            </a:fld>
            <a:endParaRPr lang="zh-TW" altLang="en-US"/>
          </a:p>
        </p:txBody>
      </p:sp>
      <p:pic>
        <p:nvPicPr>
          <p:cNvPr id="5" name="圖片 4"/>
          <p:cNvPicPr>
            <a:picLocks noChangeAspect="1"/>
          </p:cNvPicPr>
          <p:nvPr/>
        </p:nvPicPr>
        <p:blipFill>
          <a:blip r:embed="rId2"/>
          <a:stretch>
            <a:fillRect/>
          </a:stretch>
        </p:blipFill>
        <p:spPr>
          <a:xfrm>
            <a:off x="421848" y="167077"/>
            <a:ext cx="8229599" cy="3445683"/>
          </a:xfrm>
          <a:prstGeom prst="rect">
            <a:avLst/>
          </a:prstGeom>
        </p:spPr>
      </p:pic>
      <p:pic>
        <p:nvPicPr>
          <p:cNvPr id="6" name="圖片 5"/>
          <p:cNvPicPr>
            <a:picLocks noChangeAspect="1"/>
          </p:cNvPicPr>
          <p:nvPr/>
        </p:nvPicPr>
        <p:blipFill>
          <a:blip r:embed="rId3"/>
          <a:stretch>
            <a:fillRect/>
          </a:stretch>
        </p:blipFill>
        <p:spPr>
          <a:xfrm>
            <a:off x="457200" y="3445475"/>
            <a:ext cx="8194247" cy="2910875"/>
          </a:xfrm>
          <a:prstGeom prst="rect">
            <a:avLst/>
          </a:prstGeom>
        </p:spPr>
      </p:pic>
    </p:spTree>
    <p:extLst>
      <p:ext uri="{BB962C8B-B14F-4D97-AF65-F5344CB8AC3E}">
        <p14:creationId xmlns:p14="http://schemas.microsoft.com/office/powerpoint/2010/main" val="182915064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568575"/>
            <a:ext cx="7772400" cy="1470025"/>
          </a:xfrm>
        </p:spPr>
        <p:txBody>
          <a:bodyPr/>
          <a:lstStyle/>
          <a:p>
            <a:r>
              <a:rPr lang="en-US" dirty="0" smtClean="0"/>
              <a:t>Thank You!</a:t>
            </a:r>
            <a:endParaRPr lang="en-US" dirty="0"/>
          </a:p>
        </p:txBody>
      </p:sp>
      <p:sp>
        <p:nvSpPr>
          <p:cNvPr id="4" name="Slide Number Placeholder 3"/>
          <p:cNvSpPr>
            <a:spLocks noGrp="1"/>
          </p:cNvSpPr>
          <p:nvPr>
            <p:ph type="sldNum" sz="quarter" idx="12"/>
          </p:nvPr>
        </p:nvSpPr>
        <p:spPr/>
        <p:txBody>
          <a:bodyPr/>
          <a:lstStyle/>
          <a:p>
            <a:fld id="{A036DC8D-9A1F-4CC6-BEE1-B9238DE6B38E}" type="slidenum">
              <a:rPr lang="en-US" smtClean="0"/>
              <a:pPr/>
              <a:t>17</a:t>
            </a:fld>
            <a:endParaRPr lang="en-US"/>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833637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1180</TotalTime>
  <Words>537</Words>
  <Application>Microsoft Office PowerPoint</Application>
  <PresentationFormat>如螢幕大小 (4:3)</PresentationFormat>
  <Paragraphs>100</Paragraphs>
  <Slides>17</Slides>
  <Notes>0</Notes>
  <HiddenSlides>0</HiddenSlides>
  <MMClips>0</MMClips>
  <ScaleCrop>false</ScaleCrop>
  <HeadingPairs>
    <vt:vector size="4" baseType="variant">
      <vt:variant>
        <vt:lpstr>佈景主題</vt:lpstr>
      </vt:variant>
      <vt:variant>
        <vt:i4>1</vt:i4>
      </vt:variant>
      <vt:variant>
        <vt:lpstr>投影片標題</vt:lpstr>
      </vt:variant>
      <vt:variant>
        <vt:i4>17</vt:i4>
      </vt:variant>
    </vt:vector>
  </HeadingPairs>
  <TitlesOfParts>
    <vt:vector size="18" baseType="lpstr">
      <vt:lpstr>Office 佈景主題</vt:lpstr>
      <vt:lpstr>A genetic clustering algorithm using a message-based similarity measure</vt:lpstr>
      <vt:lpstr>Abstract</vt:lpstr>
      <vt:lpstr>Abstract</vt:lpstr>
      <vt:lpstr>Message-based similarity</vt:lpstr>
      <vt:lpstr>Message-based similarity</vt:lpstr>
      <vt:lpstr>Message-based similarity</vt:lpstr>
      <vt:lpstr>Fitness evaluation</vt:lpstr>
      <vt:lpstr>Fitness evaluation</vt:lpstr>
      <vt:lpstr>Fitness evaluation</vt:lpstr>
      <vt:lpstr>Evolutionary operators</vt:lpstr>
      <vt:lpstr>Experiments results</vt:lpstr>
      <vt:lpstr>Experiments results</vt:lpstr>
      <vt:lpstr>Experiments results</vt:lpstr>
      <vt:lpstr>Experiments results</vt:lpstr>
      <vt:lpstr>Experiments results</vt:lpstr>
      <vt:lpstr>PowerPoint 簡報</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Complexity of Multiway Cuts</dc:title>
  <dc:creator>sjiujj</dc:creator>
  <cp:lastModifiedBy>shiujj</cp:lastModifiedBy>
  <cp:revision>106</cp:revision>
  <dcterms:created xsi:type="dcterms:W3CDTF">2013-02-19T02:19:26Z</dcterms:created>
  <dcterms:modified xsi:type="dcterms:W3CDTF">2013-08-06T08:37:06Z</dcterms:modified>
</cp:coreProperties>
</file>