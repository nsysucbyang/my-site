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70" r:id="rId6"/>
    <p:sldId id="267" r:id="rId7"/>
    <p:sldId id="261" r:id="rId8"/>
    <p:sldId id="262" r:id="rId9"/>
    <p:sldId id="264" r:id="rId10"/>
    <p:sldId id="265" r:id="rId11"/>
    <p:sldId id="268" r:id="rId12"/>
    <p:sldId id="269" r:id="rId1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674"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24232931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14030061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1945623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3469000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211543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15637548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1836911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4173359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1394178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117461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EF1EB5DE-6A7B-421C-9C52-29BE2DE0EE30}" type="datetimeFigureOut">
              <a:rPr lang="zh-TW" altLang="en-US" smtClean="0"/>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1497673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1EB5DE-6A7B-421C-9C52-29BE2DE0EE30}" type="datetimeFigureOut">
              <a:rPr lang="zh-TW" altLang="en-US" smtClean="0"/>
              <a:t>2013/8/6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416250-F5D3-4C58-A9CD-2B3C08292A28}" type="slidenum">
              <a:rPr lang="zh-TW" altLang="en-US" smtClean="0"/>
              <a:t>‹#›</a:t>
            </a:fld>
            <a:endParaRPr lang="zh-TW" altLang="en-US"/>
          </a:p>
        </p:txBody>
      </p:sp>
    </p:spTree>
    <p:extLst>
      <p:ext uri="{BB962C8B-B14F-4D97-AF65-F5344CB8AC3E}">
        <p14:creationId xmlns:p14="http://schemas.microsoft.com/office/powerpoint/2010/main" val="5531098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fontScale="90000"/>
          </a:bodyPr>
          <a:lstStyle/>
          <a:p>
            <a:r>
              <a:rPr lang="en-US" altLang="zh-TW" dirty="0" smtClean="0"/>
              <a:t>Evolving Robust GP Solutions for Hedge Fund Stock Selection in Emerging Markets</a:t>
            </a:r>
            <a:endParaRPr lang="zh-TW" altLang="en-US" dirty="0"/>
          </a:p>
        </p:txBody>
      </p:sp>
      <p:sp>
        <p:nvSpPr>
          <p:cNvPr id="3" name="副標題 2"/>
          <p:cNvSpPr>
            <a:spLocks noGrp="1"/>
          </p:cNvSpPr>
          <p:nvPr>
            <p:ph type="subTitle" idx="1"/>
          </p:nvPr>
        </p:nvSpPr>
        <p:spPr/>
        <p:txBody>
          <a:bodyPr/>
          <a:lstStyle/>
          <a:p>
            <a:r>
              <a:rPr lang="en-US" altLang="zh-TW" dirty="0" smtClean="0"/>
              <a:t>Wei Yan, Christopher D. Clack</a:t>
            </a:r>
            <a:br>
              <a:rPr lang="en-US" altLang="zh-TW" dirty="0" smtClean="0"/>
            </a:br>
            <a:r>
              <a:rPr lang="en-US" altLang="zh-TW" dirty="0" smtClean="0"/>
              <a:t>Soft Computing, 2011</a:t>
            </a:r>
            <a:endParaRPr lang="zh-TW" altLang="en-US" dirty="0"/>
          </a:p>
        </p:txBody>
      </p:sp>
      <p:sp>
        <p:nvSpPr>
          <p:cNvPr id="4" name="文字方塊 3"/>
          <p:cNvSpPr txBox="1"/>
          <p:nvPr/>
        </p:nvSpPr>
        <p:spPr>
          <a:xfrm>
            <a:off x="5796136" y="5412397"/>
            <a:ext cx="3024336" cy="646331"/>
          </a:xfrm>
          <a:prstGeom prst="rect">
            <a:avLst/>
          </a:prstGeom>
          <a:noFill/>
        </p:spPr>
        <p:txBody>
          <a:bodyPr wrap="square" rtlCol="0">
            <a:spAutoFit/>
          </a:bodyPr>
          <a:lstStyle/>
          <a:p>
            <a:r>
              <a:rPr lang="en-US" altLang="zh-TW" dirty="0" smtClean="0"/>
              <a:t>Presenter: Cheng-Han Lee</a:t>
            </a:r>
          </a:p>
          <a:p>
            <a:r>
              <a:rPr lang="en-US" altLang="zh-TW" dirty="0" smtClean="0"/>
              <a:t>Date:2013/8/6</a:t>
            </a:r>
            <a:endParaRPr lang="zh-TW" altLang="en-US" dirty="0"/>
          </a:p>
        </p:txBody>
      </p:sp>
    </p:spTree>
    <p:extLst>
      <p:ext uri="{BB962C8B-B14F-4D97-AF65-F5344CB8AC3E}">
        <p14:creationId xmlns:p14="http://schemas.microsoft.com/office/powerpoint/2010/main" val="1502775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a:bodyPr>
          <a:lstStyle/>
          <a:p>
            <a:pPr marL="0" indent="0">
              <a:buNone/>
            </a:pPr>
            <a:r>
              <a:rPr lang="en-US" altLang="zh-TW" sz="2400" dirty="0" smtClean="0"/>
              <a:t>Stock selection for hedge fund portfolios is a challenging problem for Genetic Programming (GP) because the markets (the environment in which the GP solution must survive) are dynamic, unpredictable and unforgiving. How can GP be improved so that solutions are produced that are robust to non-trivial changes in the environment? We explore an approach that uses subsets of extreme environments during training.</a:t>
            </a:r>
            <a:endParaRPr lang="zh-TW" altLang="en-US" sz="2400" dirty="0"/>
          </a:p>
        </p:txBody>
      </p:sp>
    </p:spTree>
    <p:extLst>
      <p:ext uri="{BB962C8B-B14F-4D97-AF65-F5344CB8AC3E}">
        <p14:creationId xmlns:p14="http://schemas.microsoft.com/office/powerpoint/2010/main" val="615181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Algorithm</a:t>
            </a:r>
            <a:endParaRPr lang="zh-TW" altLang="en-US" dirty="0"/>
          </a:p>
        </p:txBody>
      </p:sp>
      <p:sp>
        <p:nvSpPr>
          <p:cNvPr id="3" name="內容版面配置區 2"/>
          <p:cNvSpPr>
            <a:spLocks noGrp="1"/>
          </p:cNvSpPr>
          <p:nvPr>
            <p:ph idx="1"/>
          </p:nvPr>
        </p:nvSpPr>
        <p:spPr/>
        <p:txBody>
          <a:bodyPr/>
          <a:lstStyle/>
          <a:p>
            <a:r>
              <a:rPr lang="en-US" altLang="zh-TW" dirty="0" smtClean="0"/>
              <a:t>S = {s</a:t>
            </a:r>
            <a:r>
              <a:rPr lang="en-US" altLang="zh-TW" baseline="-25000" dirty="0" smtClean="0"/>
              <a:t>1</a:t>
            </a:r>
            <a:r>
              <a:rPr lang="en-US" altLang="zh-TW" dirty="0" smtClean="0"/>
              <a:t> . . . , </a:t>
            </a:r>
            <a:r>
              <a:rPr lang="en-US" altLang="zh-TW" dirty="0" err="1" smtClean="0"/>
              <a:t>s</a:t>
            </a:r>
            <a:r>
              <a:rPr lang="en-US" altLang="zh-TW" baseline="-25000" dirty="0" err="1" smtClean="0"/>
              <a:t>n</a:t>
            </a:r>
            <a:r>
              <a:rPr lang="en-US" altLang="zh-TW" dirty="0" smtClean="0"/>
              <a:t>} (</a:t>
            </a:r>
            <a:r>
              <a:rPr lang="en-US" altLang="zh-TW" dirty="0" smtClean="0"/>
              <a:t>scenarios)</a:t>
            </a:r>
            <a:endParaRPr lang="en-US" altLang="zh-TW" dirty="0" smtClean="0"/>
          </a:p>
          <a:p>
            <a:r>
              <a:rPr lang="en-US" altLang="zh-TW" dirty="0" smtClean="0"/>
              <a:t>V = A separate out-of-sample validation vector.</a:t>
            </a:r>
          </a:p>
          <a:p>
            <a:r>
              <a:rPr lang="en-US" altLang="zh-TW" dirty="0" smtClean="0"/>
              <a:t>Three methods:</a:t>
            </a:r>
          </a:p>
          <a:p>
            <a:pPr lvl="1"/>
            <a:r>
              <a:rPr lang="en-US" altLang="zh-TW" dirty="0" smtClean="0"/>
              <a:t>Standard GP</a:t>
            </a:r>
          </a:p>
          <a:p>
            <a:pPr lvl="1"/>
            <a:r>
              <a:rPr lang="en-US" altLang="zh-TW" dirty="0" smtClean="0"/>
              <a:t>Multiple-scenario Evaluation in the Last Generation (MELG)</a:t>
            </a:r>
          </a:p>
          <a:p>
            <a:pPr lvl="1"/>
            <a:r>
              <a:rPr lang="en-US" altLang="zh-TW" dirty="0" smtClean="0"/>
              <a:t>Multiple-scenario Evolution (MEVO)</a:t>
            </a:r>
            <a:endParaRPr lang="zh-TW" altLang="en-US" dirty="0"/>
          </a:p>
        </p:txBody>
      </p:sp>
    </p:spTree>
    <p:extLst>
      <p:ext uri="{BB962C8B-B14F-4D97-AF65-F5344CB8AC3E}">
        <p14:creationId xmlns:p14="http://schemas.microsoft.com/office/powerpoint/2010/main" val="1276809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Volatility-Adjusted Fitness</a:t>
            </a:r>
            <a:endParaRPr lang="zh-TW" altLang="en-US" dirty="0"/>
          </a:p>
        </p:txBody>
      </p:sp>
      <p:sp>
        <p:nvSpPr>
          <p:cNvPr id="3" name="內容版面配置區 2"/>
          <p:cNvSpPr>
            <a:spLocks noGrp="1"/>
          </p:cNvSpPr>
          <p:nvPr>
            <p:ph idx="1"/>
          </p:nvPr>
        </p:nvSpPr>
        <p:spPr/>
        <p:txBody>
          <a:bodyPr>
            <a:normAutofit/>
          </a:bodyPr>
          <a:lstStyle/>
          <a:p>
            <a:endParaRPr lang="en-US" altLang="zh-TW" dirty="0" smtClean="0"/>
          </a:p>
          <a:p>
            <a:endParaRPr lang="en-US" altLang="zh-TW" dirty="0"/>
          </a:p>
          <a:p>
            <a:endParaRPr lang="en-US" altLang="zh-TW" dirty="0" smtClean="0"/>
          </a:p>
          <a:p>
            <a:r>
              <a:rPr lang="en-US" altLang="zh-TW" sz="2400" dirty="0" smtClean="0"/>
              <a:t>M </a:t>
            </a:r>
            <a:r>
              <a:rPr lang="en-US" altLang="zh-TW" sz="2400" dirty="0" smtClean="0"/>
              <a:t>= {m</a:t>
            </a:r>
            <a:r>
              <a:rPr lang="en-US" altLang="zh-TW" sz="2400" baseline="-25000" dirty="0" smtClean="0"/>
              <a:t>1</a:t>
            </a:r>
            <a:r>
              <a:rPr lang="en-US" altLang="zh-TW" sz="2400" dirty="0" smtClean="0"/>
              <a:t> . . . </a:t>
            </a:r>
            <a:r>
              <a:rPr lang="en-US" altLang="zh-TW" sz="2400" dirty="0" err="1" smtClean="0"/>
              <a:t>m</a:t>
            </a:r>
            <a:r>
              <a:rPr lang="en-US" altLang="zh-TW" sz="2400" baseline="-25000" dirty="0" err="1" smtClean="0"/>
              <a:t>p</a:t>
            </a:r>
            <a:r>
              <a:rPr lang="en-US" altLang="zh-TW" sz="2400" dirty="0" smtClean="0"/>
              <a:t>} is a subset of S that is used for fitness evaluation.</a:t>
            </a:r>
          </a:p>
          <a:p>
            <a:r>
              <a:rPr lang="en-US" altLang="zh-TW" sz="2400" dirty="0" err="1" smtClean="0"/>
              <a:t>F</a:t>
            </a:r>
            <a:r>
              <a:rPr lang="en-US" altLang="zh-TW" sz="1800" dirty="0" err="1" smtClean="0"/>
              <a:t>I</a:t>
            </a:r>
            <a:r>
              <a:rPr lang="en-US" altLang="zh-TW" sz="2400" baseline="-25000" dirty="0" err="1" smtClean="0"/>
              <a:t>i</a:t>
            </a:r>
            <a:r>
              <a:rPr lang="en-US" altLang="zh-TW" sz="2400" dirty="0" smtClean="0"/>
              <a:t> is the "fitness vector" of I</a:t>
            </a:r>
            <a:r>
              <a:rPr lang="en-US" altLang="zh-TW" sz="2400" baseline="-25000" dirty="0" smtClean="0"/>
              <a:t>i</a:t>
            </a:r>
            <a:r>
              <a:rPr lang="en-US" altLang="zh-TW" sz="2400" dirty="0" smtClean="0"/>
              <a:t> when evaluated on a subset of </a:t>
            </a:r>
            <a:r>
              <a:rPr lang="en-US" altLang="zh-TW" sz="2400" dirty="0" smtClean="0"/>
              <a:t>scenarios</a:t>
            </a:r>
          </a:p>
          <a:p>
            <a:r>
              <a:rPr lang="en-US" altLang="zh-TW" sz="2400" dirty="0"/>
              <a:t>The fitness f for an individual is the Sharpe ratio</a:t>
            </a:r>
            <a:endParaRPr lang="zh-TW" altLang="en-US" sz="24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8745" y="1268761"/>
            <a:ext cx="3321659" cy="12039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8745" y="2466688"/>
            <a:ext cx="1872208" cy="8254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7366" y="5301208"/>
            <a:ext cx="3744416" cy="9272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02450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Hedge Fund Simulation</a:t>
            </a:r>
            <a:endParaRPr lang="zh-TW" altLang="en-US" dirty="0"/>
          </a:p>
        </p:txBody>
      </p:sp>
      <p:sp>
        <p:nvSpPr>
          <p:cNvPr id="3" name="內容版面配置區 2"/>
          <p:cNvSpPr>
            <a:spLocks noGrp="1"/>
          </p:cNvSpPr>
          <p:nvPr>
            <p:ph idx="1"/>
          </p:nvPr>
        </p:nvSpPr>
        <p:spPr/>
        <p:txBody>
          <a:bodyPr/>
          <a:lstStyle/>
          <a:p>
            <a:r>
              <a:rPr lang="en-US" altLang="zh-TW" dirty="0"/>
              <a:t>33 Malaysian </a:t>
            </a:r>
            <a:r>
              <a:rPr lang="en-US" altLang="zh-TW" dirty="0" smtClean="0"/>
              <a:t>stocks</a:t>
            </a:r>
          </a:p>
          <a:p>
            <a:r>
              <a:rPr lang="en-US" altLang="zh-TW" dirty="0"/>
              <a:t>P</a:t>
            </a:r>
            <a:r>
              <a:rPr lang="en-US" altLang="zh-TW" dirty="0" smtClean="0"/>
              <a:t>redict </a:t>
            </a:r>
            <a:r>
              <a:rPr lang="en-US" altLang="zh-TW" dirty="0"/>
              <a:t>the return expectation for each stock over a 4-week forward horizon.</a:t>
            </a:r>
          </a:p>
          <a:p>
            <a:r>
              <a:rPr lang="en-US" altLang="zh-TW" dirty="0" smtClean="0"/>
              <a:t>At all times, 24 stocks are maintained in the portfolio.</a:t>
            </a:r>
          </a:p>
          <a:p>
            <a:r>
              <a:rPr lang="en-US" altLang="zh-TW" dirty="0" smtClean="0"/>
              <a:t>Each </a:t>
            </a:r>
            <a:r>
              <a:rPr lang="en-US" altLang="zh-TW" dirty="0"/>
              <a:t>stock is given equal weight in the portfolio.</a:t>
            </a:r>
            <a:endParaRPr lang="zh-TW" altLang="en-US" dirty="0"/>
          </a:p>
        </p:txBody>
      </p:sp>
    </p:spTree>
    <p:extLst>
      <p:ext uri="{BB962C8B-B14F-4D97-AF65-F5344CB8AC3E}">
        <p14:creationId xmlns:p14="http://schemas.microsoft.com/office/powerpoint/2010/main" val="15416779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672" y="188640"/>
            <a:ext cx="5700291" cy="64511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46692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Experiment</a:t>
            </a:r>
            <a:endParaRPr lang="zh-TW" altLang="en-US" dirty="0"/>
          </a:p>
        </p:txBody>
      </p:sp>
      <p:sp>
        <p:nvSpPr>
          <p:cNvPr id="3" name="內容版面配置區 2"/>
          <p:cNvSpPr>
            <a:spLocks noGrp="1"/>
          </p:cNvSpPr>
          <p:nvPr>
            <p:ph idx="1"/>
          </p:nvPr>
        </p:nvSpPr>
        <p:spPr/>
        <p:txBody>
          <a:bodyPr>
            <a:normAutofit/>
          </a:bodyPr>
          <a:lstStyle/>
          <a:p>
            <a:r>
              <a:rPr lang="en-US" altLang="zh-TW" dirty="0" smtClean="0"/>
              <a:t>Three </a:t>
            </a:r>
            <a:r>
              <a:rPr lang="en-US" altLang="zh-TW" dirty="0" smtClean="0"/>
              <a:t>scenarios:</a:t>
            </a:r>
          </a:p>
          <a:p>
            <a:pPr lvl="1"/>
            <a:r>
              <a:rPr lang="en-US" altLang="zh-TW" dirty="0" smtClean="0"/>
              <a:t>1. Bull market: 31/05/2003 to 31/12/2004 (19 months)</a:t>
            </a:r>
          </a:p>
          <a:p>
            <a:pPr lvl="1"/>
            <a:r>
              <a:rPr lang="en-US" altLang="zh-TW" dirty="0" smtClean="0"/>
              <a:t>2. Bear market: 31/01/2000 to 31/05/2001 (16 months)</a:t>
            </a:r>
          </a:p>
          <a:p>
            <a:pPr lvl="1"/>
            <a:r>
              <a:rPr lang="en-US" altLang="zh-TW" dirty="0" smtClean="0"/>
              <a:t>3. Volatile market: 31/01/1999 to 31/03/2000 (14 months</a:t>
            </a:r>
            <a:r>
              <a:rPr lang="en-US" altLang="zh-TW" dirty="0" smtClean="0"/>
              <a:t>)</a:t>
            </a:r>
          </a:p>
          <a:p>
            <a:r>
              <a:rPr lang="en-US" altLang="zh-TW" dirty="0"/>
              <a:t>Out-of-Sample Validation</a:t>
            </a:r>
          </a:p>
          <a:p>
            <a:pPr lvl="1"/>
            <a:r>
              <a:rPr lang="en-US" altLang="zh-TW" dirty="0"/>
              <a:t>31st July 1997 to 31st December 1998.</a:t>
            </a:r>
            <a:endParaRPr lang="zh-TW" altLang="en-US" dirty="0"/>
          </a:p>
          <a:p>
            <a:endParaRPr lang="zh-TW" altLang="en-US" dirty="0"/>
          </a:p>
        </p:txBody>
      </p:sp>
    </p:spTree>
    <p:extLst>
      <p:ext uri="{BB962C8B-B14F-4D97-AF65-F5344CB8AC3E}">
        <p14:creationId xmlns:p14="http://schemas.microsoft.com/office/powerpoint/2010/main" val="25085925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3" y="404664"/>
            <a:ext cx="8773691" cy="60334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87446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96752"/>
            <a:ext cx="7162800" cy="4886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7428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1196752"/>
            <a:ext cx="7181850" cy="4848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79208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1340768"/>
            <a:ext cx="7048500" cy="487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7291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67544" y="2708920"/>
            <a:ext cx="8229600" cy="1143000"/>
          </a:xfrm>
        </p:spPr>
        <p:txBody>
          <a:bodyPr>
            <a:normAutofit/>
          </a:bodyPr>
          <a:lstStyle/>
          <a:p>
            <a:r>
              <a:rPr lang="en-US" altLang="zh-TW" dirty="0" smtClean="0"/>
              <a:t>THE END</a:t>
            </a:r>
            <a:endParaRPr lang="zh-TW" altLang="en-US" dirty="0"/>
          </a:p>
        </p:txBody>
      </p:sp>
    </p:spTree>
    <p:extLst>
      <p:ext uri="{BB962C8B-B14F-4D97-AF65-F5344CB8AC3E}">
        <p14:creationId xmlns:p14="http://schemas.microsoft.com/office/powerpoint/2010/main" val="41315437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TotalTime>
  <Words>278</Words>
  <Application>Microsoft Office PowerPoint</Application>
  <PresentationFormat>如螢幕大小 (4:3)</PresentationFormat>
  <Paragraphs>33</Paragraphs>
  <Slides>12</Slides>
  <Notes>0</Notes>
  <HiddenSlides>0</HiddenSlides>
  <MMClips>0</MMClips>
  <ScaleCrop>false</ScaleCrop>
  <HeadingPairs>
    <vt:vector size="4" baseType="variant">
      <vt:variant>
        <vt:lpstr>佈景主題</vt:lpstr>
      </vt:variant>
      <vt:variant>
        <vt:i4>1</vt:i4>
      </vt:variant>
      <vt:variant>
        <vt:lpstr>投影片標題</vt:lpstr>
      </vt:variant>
      <vt:variant>
        <vt:i4>12</vt:i4>
      </vt:variant>
    </vt:vector>
  </HeadingPairs>
  <TitlesOfParts>
    <vt:vector size="13" baseType="lpstr">
      <vt:lpstr>Office 佈景主題</vt:lpstr>
      <vt:lpstr>Evolving Robust GP Solutions for Hedge Fund Stock Selection in Emerging Markets</vt:lpstr>
      <vt:lpstr>Abstract</vt:lpstr>
      <vt:lpstr>Algorithm</vt:lpstr>
      <vt:lpstr>Volatility-Adjusted Fitness</vt:lpstr>
      <vt:lpstr>Hedge Fund Simulation</vt:lpstr>
      <vt:lpstr>PowerPoint 簡報</vt:lpstr>
      <vt:lpstr>Experiment</vt:lpstr>
      <vt:lpstr>PowerPoint 簡報</vt:lpstr>
      <vt:lpstr>PowerPoint 簡報</vt:lpstr>
      <vt:lpstr>PowerPoint 簡報</vt:lpstr>
      <vt:lpstr>PowerPoint 簡報</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Evolving Robust GP Solutions for Hedge Fund Stock Selection in Emerging Markets</dc:title>
  <dc:creator>LCH</dc:creator>
  <cp:lastModifiedBy>LCH</cp:lastModifiedBy>
  <cp:revision>17</cp:revision>
  <dcterms:created xsi:type="dcterms:W3CDTF">2013-08-06T08:14:53Z</dcterms:created>
  <dcterms:modified xsi:type="dcterms:W3CDTF">2013-08-06T10:36:31Z</dcterms:modified>
</cp:coreProperties>
</file>