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6" r:id="rId20"/>
    <p:sldId id="277" r:id="rId21"/>
    <p:sldId id="275" r:id="rId22"/>
    <p:sldId id="278" r:id="rId23"/>
    <p:sldId id="279" r:id="rId24"/>
    <p:sldId id="280" r:id="rId25"/>
    <p:sldId id="281" r:id="rId26"/>
    <p:sldId id="282" r:id="rId27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5E5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中等深淺樣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中等深淺樣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中等深淺樣式 3 - 輔色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20" y="-15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2CCAE0-0C81-4B78-82D1-11BE0D61DB07}" type="datetime1">
              <a:rPr lang="zh-TW" altLang="en-US" smtClean="0"/>
              <a:t>2013/2/25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A19FDD-675A-4A39-B0F1-906E5BA6EFB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259195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1736F9-A0BE-4D52-9097-BF965413D210}" type="datetime1">
              <a:rPr lang="zh-TW" altLang="en-US" smtClean="0"/>
              <a:t>2013/2/25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6B2AB0-7B78-40EC-A30E-F42C75B51A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638486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B2AB0-7B78-40EC-A30E-F42C75B51AAE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01884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dirty="0" smtClean="0"/>
              <a:t>按一下以編輯母片副標題樣式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AEB65-1833-43F1-BD28-90CA58C223F1}" type="datetime1">
              <a:rPr lang="zh-TW" altLang="en-US" smtClean="0"/>
              <a:t>2013/2/25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95561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26542-6EFB-4063-A5B0-41FD0D95C3CD}" type="datetime1">
              <a:rPr lang="zh-TW" altLang="en-US" smtClean="0"/>
              <a:t>2013/2/25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67983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74AF9-5678-44F8-A5F3-25F4EE962BEB}" type="datetime1">
              <a:rPr lang="zh-TW" altLang="en-US" smtClean="0"/>
              <a:t>2013/2/25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6975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ABEE-C7E4-40C4-92CB-86E1D58CE5C6}" type="datetime1">
              <a:rPr lang="zh-TW" altLang="en-US" smtClean="0"/>
              <a:t>2013/2/25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7698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AA883-52C2-486B-8EA1-085A9CDA4FB8}" type="datetime1">
              <a:rPr lang="zh-TW" altLang="en-US" smtClean="0"/>
              <a:t>2013/2/25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935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D4510-C05F-405E-BF57-EDA10426F4FA}" type="datetime1">
              <a:rPr lang="zh-TW" altLang="en-US" smtClean="0"/>
              <a:t>2013/2/25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0487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B8CA7-07F3-4DAF-849D-048C755ED96A}" type="datetime1">
              <a:rPr lang="zh-TW" altLang="en-US" smtClean="0"/>
              <a:t>2013/2/25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4537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BBA66-D99D-4975-B43D-26D9BBCD9CA3}" type="datetime1">
              <a:rPr lang="zh-TW" altLang="en-US" smtClean="0"/>
              <a:t>2013/2/25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9862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2A5DC-8ED7-4BFB-AF27-C684B4AEE8F0}" type="datetime1">
              <a:rPr lang="zh-TW" altLang="en-US" smtClean="0"/>
              <a:t>2013/2/25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3204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8128C-3907-40E0-8A52-3CB0064A414F}" type="datetime1">
              <a:rPr lang="zh-TW" altLang="en-US" smtClean="0"/>
              <a:t>2013/2/25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0901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2582-DD10-43EA-B141-5A8AB99B0301}" type="datetime1">
              <a:rPr lang="zh-TW" altLang="en-US" smtClean="0"/>
              <a:t>2013/2/25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5656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5E5B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A7C3D2-FFA1-4493-B768-C3A89A67BE4C}" type="datetime1">
              <a:rPr lang="zh-TW" altLang="en-US" smtClean="0"/>
              <a:t>2013/2/25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fld id="{24D10255-A13B-40DE-A818-E35E0185DB7F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06844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>
            <a:spLocks noGrp="1"/>
          </p:cNvSpPr>
          <p:nvPr>
            <p:ph type="ctrTitle"/>
          </p:nvPr>
        </p:nvSpPr>
        <p:spPr>
          <a:xfrm>
            <a:off x="685800" y="518815"/>
            <a:ext cx="7772400" cy="1470025"/>
          </a:xfrm>
        </p:spPr>
        <p:txBody>
          <a:bodyPr>
            <a:noAutofit/>
          </a:bodyPr>
          <a:lstStyle/>
          <a:p>
            <a:r>
              <a:rPr lang="en-US" altLang="zh-TW" sz="4000" b="1" dirty="0"/>
              <a:t>A Fast Multiple Longest Common </a:t>
            </a:r>
            <a:r>
              <a:rPr lang="en-US" altLang="zh-TW" sz="4000" b="1" dirty="0" smtClean="0"/>
              <a:t>Subsequence (MLCS</a:t>
            </a:r>
            <a:r>
              <a:rPr lang="en-US" altLang="zh-TW" sz="4000" b="1" dirty="0"/>
              <a:t>) Algorithm</a:t>
            </a:r>
            <a:endParaRPr lang="zh-TW" altLang="en-US" sz="4000" dirty="0"/>
          </a:p>
        </p:txBody>
      </p:sp>
      <p:sp>
        <p:nvSpPr>
          <p:cNvPr id="5" name="副標題 3"/>
          <p:cNvSpPr>
            <a:spLocks noGrp="1"/>
          </p:cNvSpPr>
          <p:nvPr>
            <p:ph type="subTitle" idx="1"/>
          </p:nvPr>
        </p:nvSpPr>
        <p:spPr>
          <a:xfrm>
            <a:off x="1411560" y="2394847"/>
            <a:ext cx="6400800" cy="3554433"/>
          </a:xfrm>
        </p:spPr>
        <p:txBody>
          <a:bodyPr>
            <a:normAutofit/>
          </a:bodyPr>
          <a:lstStyle/>
          <a:p>
            <a:r>
              <a:rPr lang="en-US" altLang="zh-TW" sz="2800" dirty="0" err="1"/>
              <a:t>Qingguo</a:t>
            </a:r>
            <a:r>
              <a:rPr lang="en-US" altLang="zh-TW" sz="2800" dirty="0"/>
              <a:t> Wang, Dmitry </a:t>
            </a:r>
            <a:r>
              <a:rPr lang="en-US" altLang="zh-TW" sz="2800" dirty="0" err="1"/>
              <a:t>Korkin</a:t>
            </a:r>
            <a:r>
              <a:rPr lang="en-US" altLang="zh-TW" sz="2800" dirty="0"/>
              <a:t>, and Yi </a:t>
            </a:r>
            <a:r>
              <a:rPr lang="en-US" altLang="zh-TW" sz="2800" dirty="0" smtClean="0"/>
              <a:t>Shang</a:t>
            </a:r>
          </a:p>
          <a:p>
            <a:r>
              <a:rPr lang="en-US" altLang="zh-TW" sz="2800" dirty="0"/>
              <a:t>IEEE Transactions on Knowledge and Data </a:t>
            </a:r>
            <a:r>
              <a:rPr lang="en-US" altLang="zh-TW" sz="2800" dirty="0" smtClean="0"/>
              <a:t>Engineering, Vol. </a:t>
            </a:r>
            <a:r>
              <a:rPr lang="en-US" altLang="zh-TW" sz="2800" dirty="0"/>
              <a:t>23, </a:t>
            </a:r>
            <a:r>
              <a:rPr lang="en-US" altLang="zh-TW" sz="2800" dirty="0" smtClean="0"/>
              <a:t>No. </a:t>
            </a:r>
            <a:r>
              <a:rPr lang="en-US" altLang="zh-TW" sz="2800" dirty="0"/>
              <a:t>3, </a:t>
            </a:r>
            <a:r>
              <a:rPr lang="en-US" altLang="zh-TW" sz="2800" dirty="0" smtClean="0"/>
              <a:t>March </a:t>
            </a:r>
            <a:r>
              <a:rPr lang="en-US" altLang="zh-TW" sz="2800" dirty="0"/>
              <a:t>2011</a:t>
            </a:r>
            <a:endParaRPr lang="en-US" altLang="zh-TW" sz="2800" dirty="0" smtClean="0"/>
          </a:p>
        </p:txBody>
      </p:sp>
      <p:sp>
        <p:nvSpPr>
          <p:cNvPr id="8" name="副標題 3"/>
          <p:cNvSpPr txBox="1">
            <a:spLocks/>
          </p:cNvSpPr>
          <p:nvPr/>
        </p:nvSpPr>
        <p:spPr>
          <a:xfrm>
            <a:off x="323528" y="5425298"/>
            <a:ext cx="6400800" cy="12440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TW" sz="2800" dirty="0" smtClean="0">
                <a:solidFill>
                  <a:schemeClr val="tx1"/>
                </a:solidFill>
              </a:rPr>
              <a:t>Presenter: </a:t>
            </a:r>
            <a:r>
              <a:rPr lang="en-US" altLang="zh-TW" sz="2800" dirty="0" err="1" smtClean="0">
                <a:solidFill>
                  <a:schemeClr val="tx1"/>
                </a:solidFill>
              </a:rPr>
              <a:t>Che-Jui</a:t>
            </a:r>
            <a:r>
              <a:rPr lang="en-US" altLang="zh-TW" sz="2800" dirty="0" smtClean="0">
                <a:solidFill>
                  <a:schemeClr val="tx1"/>
                </a:solidFill>
              </a:rPr>
              <a:t> Hsu(</a:t>
            </a:r>
            <a:r>
              <a:rPr lang="zh-TW" altLang="en-US" sz="2800" dirty="0" smtClean="0">
                <a:solidFill>
                  <a:schemeClr val="tx1"/>
                </a:solidFill>
              </a:rPr>
              <a:t>許哲睿</a:t>
            </a:r>
            <a:r>
              <a:rPr lang="en-US" altLang="zh-TW" sz="2800" dirty="0" smtClean="0">
                <a:solidFill>
                  <a:schemeClr val="tx1"/>
                </a:solidFill>
              </a:rPr>
              <a:t>)</a:t>
            </a:r>
          </a:p>
          <a:p>
            <a:pPr algn="l"/>
            <a:r>
              <a:rPr lang="en-US" altLang="zh-TW" sz="2800" dirty="0" smtClean="0">
                <a:solidFill>
                  <a:schemeClr val="tx1"/>
                </a:solidFill>
              </a:rPr>
              <a:t>Date: </a:t>
            </a:r>
            <a:fld id="{3DC95CE2-72FD-4627-B4FE-7CBC89963158}" type="datetime1">
              <a:rPr lang="zh-TW" altLang="en-US" sz="2800" smtClean="0">
                <a:solidFill>
                  <a:schemeClr val="tx1"/>
                </a:solidFill>
              </a:rPr>
              <a:t>2013/2/25</a:t>
            </a:fld>
            <a:endParaRPr lang="en-US" altLang="zh-TW" sz="2800" dirty="0" smtClean="0">
              <a:solidFill>
                <a:schemeClr val="tx1"/>
              </a:solidFill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22841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Abstract</a:t>
            </a:r>
            <a:r>
              <a:rPr lang="zh-TW" altLang="en-US" b="1" dirty="0" smtClean="0"/>
              <a:t> </a:t>
            </a:r>
            <a:r>
              <a:rPr lang="en-US" altLang="zh-TW" b="1" dirty="0" smtClean="0"/>
              <a:t>(1/2)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457200" algn="just">
              <a:buNone/>
            </a:pPr>
            <a:r>
              <a:rPr lang="en-US" altLang="zh-TW" sz="2400" dirty="0"/>
              <a:t>Finding the longest common subsequence (LCS) of multiple strings is an NP-hard problem, with many applications in </a:t>
            </a:r>
            <a:r>
              <a:rPr lang="en-US" altLang="zh-TW" sz="2400" dirty="0" smtClean="0"/>
              <a:t>the areas </a:t>
            </a:r>
            <a:r>
              <a:rPr lang="en-US" altLang="zh-TW" sz="2400" dirty="0"/>
              <a:t>of bioinformatics and computational genomics. Although significant efforts have been made to address the problem and </a:t>
            </a:r>
            <a:r>
              <a:rPr lang="en-US" altLang="zh-TW" sz="2400" dirty="0" smtClean="0"/>
              <a:t>its special </a:t>
            </a:r>
            <a:r>
              <a:rPr lang="en-US" altLang="zh-TW" sz="2400" dirty="0"/>
              <a:t>cases, the increasing complexity and size of biological data require more efficient methods applicable to an arbitrary number </a:t>
            </a:r>
            <a:r>
              <a:rPr lang="en-US" altLang="zh-TW" sz="2400" dirty="0" smtClean="0"/>
              <a:t>of strings</a:t>
            </a:r>
            <a:r>
              <a:rPr lang="en-US" altLang="zh-TW" sz="2400" dirty="0"/>
              <a:t>. In this paper, we present a new algorithm for the general case of multiple LCS (or MLCS) problem, i.e., finding an LCS of </a:t>
            </a:r>
            <a:r>
              <a:rPr lang="en-US" altLang="zh-TW" sz="2400" dirty="0" smtClean="0"/>
              <a:t>any number </a:t>
            </a:r>
            <a:r>
              <a:rPr lang="en-US" altLang="zh-TW" sz="2400" dirty="0"/>
              <a:t>of strings, and its parallel realization. The algorithm is based on the dominant point approach and employs a fast divide-and-conquer technique to compute the dominant points. </a:t>
            </a:r>
            <a:endParaRPr lang="zh-TW" altLang="en-US" sz="24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675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Abstract</a:t>
            </a:r>
            <a:r>
              <a:rPr lang="zh-TW" altLang="en-US" b="1" dirty="0" smtClean="0"/>
              <a:t> </a:t>
            </a:r>
            <a:r>
              <a:rPr lang="en-US" altLang="zh-TW" b="1" dirty="0" smtClean="0"/>
              <a:t>(2/2)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457200" algn="just">
              <a:buNone/>
            </a:pPr>
            <a:r>
              <a:rPr lang="en-US" altLang="zh-TW" sz="2400" dirty="0" smtClean="0"/>
              <a:t>When </a:t>
            </a:r>
            <a:r>
              <a:rPr lang="en-US" altLang="zh-TW" sz="2400" dirty="0"/>
              <a:t>applied to a case of three strings, our algorithm demonstrates the same performance as the fastest existing MLCS algorithm designed for that specific case. </a:t>
            </a:r>
            <a:r>
              <a:rPr lang="en-US" altLang="zh-TW" sz="2400" dirty="0" smtClean="0"/>
              <a:t>When </a:t>
            </a:r>
            <a:r>
              <a:rPr lang="en-US" altLang="zh-TW" sz="2400" dirty="0"/>
              <a:t>applied to more than three strings, our algorithm is significantly faster than the best existing sequential methods, reaching up to 2-3 orders of magnitude faster speed on large-size problems. Finally, we present an efficient parallel implementation of the algorithm. Evaluating the parallel algorithm on a benchmark set of both random and biological sequences reveals a near-linear speedup with respect to the sequential algorithm</a:t>
            </a:r>
            <a:r>
              <a:rPr lang="en-US" altLang="zh-TW" sz="2400" dirty="0" smtClean="0"/>
              <a:t>.</a:t>
            </a:r>
            <a:endParaRPr lang="zh-TW" altLang="en-US" sz="24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10170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Dynamic </a:t>
            </a:r>
            <a:r>
              <a:rPr lang="en-US" altLang="zh-TW" b="1" dirty="0" smtClean="0"/>
              <a:t>Programming</a:t>
            </a:r>
            <a:endParaRPr lang="zh-TW" altLang="en-US" b="1" dirty="0"/>
          </a:p>
        </p:txBody>
      </p:sp>
      <p:graphicFrame>
        <p:nvGraphicFramePr>
          <p:cNvPr id="5" name="內容版面配置區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8771778"/>
              </p:ext>
            </p:extLst>
          </p:nvPr>
        </p:nvGraphicFramePr>
        <p:xfrm>
          <a:off x="791872" y="1484784"/>
          <a:ext cx="7596550" cy="3708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4350"/>
                <a:gridCol w="584350"/>
                <a:gridCol w="584350"/>
                <a:gridCol w="584350"/>
                <a:gridCol w="584350"/>
                <a:gridCol w="584350"/>
                <a:gridCol w="584350"/>
                <a:gridCol w="584350"/>
                <a:gridCol w="584350"/>
                <a:gridCol w="584350"/>
                <a:gridCol w="584350"/>
                <a:gridCol w="584350"/>
                <a:gridCol w="584350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3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5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6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7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8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9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B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B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B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B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B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B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B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B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B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B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R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T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T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T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T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T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T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T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T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T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R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R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lnT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lnT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lnT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lnT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lnT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lnT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lnT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R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lnR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>
                    <a:lnT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>
                    <a:lnT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>
                    <a:lnT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>
                    <a:lnT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>
                    <a:lnT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R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lnL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lnB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lnR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>
                    <a:lnL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>
                    <a:lnR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lnT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lnT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lnT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R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lnL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>
                    <a:lnT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>
                    <a:lnR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lnL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zh-TW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anchor="ctr">
                    <a:lnT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anchor="ctr">
                    <a:lnT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R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lnL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>
                    <a:lnL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>
                    <a:lnB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>
                    <a:lnR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lnR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anchor="ctr">
                    <a:lnL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anchor="ctr">
                    <a:lnR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zh-TW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R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lnL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>
                    <a:lnL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lnT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lnR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anchor="ctr">
                    <a:lnL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zh-TW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4</a:t>
            </a:fld>
            <a:endParaRPr lang="zh-TW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08" t="58230" r="50026" b="30518"/>
          <a:stretch/>
        </p:blipFill>
        <p:spPr bwMode="auto">
          <a:xfrm>
            <a:off x="1221163" y="5373216"/>
            <a:ext cx="6807221" cy="1114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81788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Dominant </a:t>
            </a:r>
            <a:r>
              <a:rPr lang="en-US" altLang="zh-TW" b="1" dirty="0" smtClean="0"/>
              <a:t>Point (1/2)</a:t>
            </a:r>
            <a:endParaRPr lang="zh-TW" altLang="en-US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781128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80000"/>
                  </a:lnSpc>
                  <a:buNone/>
                </a:pPr>
                <a:r>
                  <a:rPr lang="en-US" altLang="zh-TW" sz="2200" b="1" dirty="0" smtClean="0"/>
                  <a:t>Definition 4. </a:t>
                </a:r>
                <a:r>
                  <a:rPr lang="en-US" altLang="zh-TW" sz="2200" dirty="0"/>
                  <a:t>A point </a:t>
                </a:r>
                <a14:m>
                  <m:oMath xmlns:m="http://schemas.openxmlformats.org/officeDocument/2006/math">
                    <m:r>
                      <a:rPr lang="en-US" altLang="zh-TW" sz="2200" b="0" i="1" smtClean="0">
                        <a:latin typeface="Cambria Math"/>
                      </a:rPr>
                      <m:t>𝑝</m:t>
                    </m:r>
                    <m:r>
                      <a:rPr lang="en-US" altLang="zh-TW" sz="2200" b="0" i="1" smtClean="0"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200" b="0" i="1" smtClean="0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200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sz="2200" b="0" i="1" smtClean="0">
                                <a:latin typeface="Cambria Math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TW" sz="2200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sz="2200" b="0" i="1" smtClean="0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22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sz="2200" i="1">
                                <a:latin typeface="Cambria Math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TW" sz="2200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sz="2200" b="0" i="1" smtClean="0">
                            <a:latin typeface="Cambria Math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TW" sz="22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sz="2200" i="1">
                                <a:latin typeface="Cambria Math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TW" sz="2200" b="0" i="1" smtClean="0">
                                <a:latin typeface="Cambria Math"/>
                              </a:rPr>
                              <m:t>𝑑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TW" sz="2200" dirty="0" smtClean="0"/>
                  <a:t> </a:t>
                </a:r>
                <a:r>
                  <a:rPr lang="en-US" altLang="zh-TW" sz="2200" dirty="0"/>
                  <a:t>dominates </a:t>
                </a:r>
                <a:r>
                  <a:rPr lang="en-US" altLang="zh-TW" sz="2200" dirty="0" smtClean="0"/>
                  <a:t>another point </a:t>
                </a:r>
                <a14:m>
                  <m:oMath xmlns:m="http://schemas.openxmlformats.org/officeDocument/2006/math">
                    <m:r>
                      <a:rPr lang="en-US" altLang="zh-TW" sz="2200" b="0" i="1" smtClean="0">
                        <a:latin typeface="Cambria Math"/>
                      </a:rPr>
                      <m:t>𝑞</m:t>
                    </m:r>
                    <m:r>
                      <a:rPr lang="en-US" altLang="zh-TW" sz="2200" i="1"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200" i="1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2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sz="2200" b="0" i="1" smtClean="0">
                                <a:latin typeface="Cambria Math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2200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sz="2200" i="1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22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sz="2200" b="0" i="1" smtClean="0">
                                <a:latin typeface="Cambria Math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2200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sz="2200" i="1">
                            <a:latin typeface="Cambria Math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TW" sz="22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sz="2200" b="0" i="1" smtClean="0">
                                <a:latin typeface="Cambria Math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2200" b="0" i="1" smtClean="0">
                                <a:latin typeface="Cambria Math"/>
                              </a:rPr>
                              <m:t>𝑑</m:t>
                            </m:r>
                          </m:sub>
                        </m:sSub>
                      </m:e>
                    </m:d>
                    <m:r>
                      <a:rPr lang="en-US" altLang="zh-TW" sz="2200" i="1">
                        <a:latin typeface="Cambria Math"/>
                      </a:rPr>
                      <m:t> </m:t>
                    </m:r>
                  </m:oMath>
                </a14:m>
                <a:r>
                  <a:rPr lang="en-US" altLang="zh-TW" sz="2200" dirty="0" smtClean="0"/>
                  <a:t>,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2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200" b="0" i="1" smtClean="0">
                            <a:latin typeface="Cambria Math"/>
                          </a:rPr>
                          <m:t>𝑝</m:t>
                        </m:r>
                      </m:e>
                      <m:sub>
                        <m:r>
                          <a:rPr lang="en-US" altLang="zh-TW" sz="2200" b="0" i="1" smtClean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altLang="zh-TW" sz="2200" i="1" smtClean="0">
                        <a:latin typeface="Cambria Math"/>
                        <a:ea typeface="Cambria Math"/>
                      </a:rPr>
                      <m:t>≤</m:t>
                    </m:r>
                    <m:sSub>
                      <m:sSubPr>
                        <m:ctrlPr>
                          <a:rPr lang="en-US" altLang="zh-TW" sz="2200" i="1" smtClean="0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TW" sz="2200" b="0" i="1" smtClean="0">
                            <a:latin typeface="Cambria Math"/>
                            <a:ea typeface="Cambria Math"/>
                          </a:rPr>
                          <m:t>𝑞</m:t>
                        </m:r>
                      </m:e>
                      <m:sub>
                        <m:r>
                          <a:rPr lang="en-US" altLang="zh-TW" sz="2200" b="0" i="1" smtClean="0">
                            <a:latin typeface="Cambria Math"/>
                            <a:ea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sz="2200" dirty="0" smtClean="0"/>
                  <a:t>, </a:t>
                </a:r>
                <a:r>
                  <a:rPr lang="en-US" altLang="zh-TW" sz="2200" dirty="0"/>
                  <a:t>for </a:t>
                </a:r>
                <a:r>
                  <a:rPr lang="en-US" altLang="zh-TW" sz="2200" dirty="0" smtClean="0"/>
                  <a:t>all </a:t>
                </a:r>
                <a14:m>
                  <m:oMath xmlns:m="http://schemas.openxmlformats.org/officeDocument/2006/math">
                    <m:r>
                      <a:rPr lang="en-US" altLang="zh-TW" sz="2200" b="0" i="1" smtClean="0">
                        <a:latin typeface="Cambria Math"/>
                      </a:rPr>
                      <m:t>𝑖</m:t>
                    </m:r>
                    <m:r>
                      <a:rPr lang="en-US" altLang="zh-TW" sz="2200" b="0" i="1" smtClean="0">
                        <a:latin typeface="Cambria Math"/>
                      </a:rPr>
                      <m:t>=1, 2, …, </m:t>
                    </m:r>
                    <m:r>
                      <a:rPr lang="en-US" altLang="zh-TW" sz="2200" b="0" i="1" smtClean="0">
                        <a:latin typeface="Cambria Math"/>
                      </a:rPr>
                      <m:t>𝑑</m:t>
                    </m:r>
                  </m:oMath>
                </a14:m>
                <a:r>
                  <a:rPr lang="en-US" altLang="zh-TW" sz="2200" dirty="0" smtClean="0"/>
                  <a:t>. </a:t>
                </a:r>
                <a:r>
                  <a:rPr lang="en-US" altLang="zh-TW" sz="2200" dirty="0"/>
                  <a:t>If </a:t>
                </a:r>
                <a14:m>
                  <m:oMath xmlns:m="http://schemas.openxmlformats.org/officeDocument/2006/math">
                    <m:r>
                      <a:rPr lang="en-US" altLang="zh-TW" sz="2200" i="1" dirty="0" smtClean="0">
                        <a:latin typeface="Cambria Math"/>
                      </a:rPr>
                      <m:t>𝑝</m:t>
                    </m:r>
                    <m:r>
                      <a:rPr lang="en-US" altLang="zh-TW" sz="2200" b="0" i="0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altLang="zh-TW" sz="2200" dirty="0"/>
                  <a:t>dominates </a:t>
                </a:r>
                <a14:m>
                  <m:oMath xmlns:m="http://schemas.openxmlformats.org/officeDocument/2006/math">
                    <m:r>
                      <a:rPr lang="en-US" altLang="zh-TW" sz="2200" i="1" dirty="0" smtClean="0">
                        <a:latin typeface="Cambria Math"/>
                      </a:rPr>
                      <m:t>𝑞</m:t>
                    </m:r>
                  </m:oMath>
                </a14:m>
                <a:r>
                  <a:rPr lang="en-US" altLang="zh-TW" sz="2200" dirty="0"/>
                  <a:t>, we denote this relation as </a:t>
                </a:r>
                <a14:m>
                  <m:oMath xmlns:m="http://schemas.openxmlformats.org/officeDocument/2006/math">
                    <m:r>
                      <a:rPr lang="en-US" altLang="zh-TW" sz="2200" i="1" dirty="0" smtClean="0">
                        <a:latin typeface="Cambria Math"/>
                      </a:rPr>
                      <m:t>𝑝</m:t>
                    </m:r>
                    <m:r>
                      <a:rPr lang="en-US" altLang="zh-TW" sz="2200" i="1" dirty="0" smtClean="0">
                        <a:latin typeface="Cambria Math"/>
                        <a:ea typeface="Cambria Math"/>
                      </a:rPr>
                      <m:t>≤</m:t>
                    </m:r>
                    <m:r>
                      <a:rPr lang="en-US" altLang="zh-TW" sz="2200" i="1" dirty="0" smtClean="0">
                        <a:latin typeface="Cambria Math"/>
                      </a:rPr>
                      <m:t>𝑞</m:t>
                    </m:r>
                  </m:oMath>
                </a14:m>
                <a:r>
                  <a:rPr lang="en-US" altLang="zh-TW" sz="2200" dirty="0"/>
                  <a:t>.</a:t>
                </a:r>
              </a:p>
              <a:p>
                <a:pPr marL="0" indent="0">
                  <a:lnSpc>
                    <a:spcPct val="80000"/>
                  </a:lnSpc>
                  <a:buNone/>
                </a:pPr>
                <a:r>
                  <a:rPr lang="en-US" altLang="zh-TW" sz="2200" dirty="0"/>
                  <a:t>Similarly, a point </a:t>
                </a:r>
                <a14:m>
                  <m:oMath xmlns:m="http://schemas.openxmlformats.org/officeDocument/2006/math">
                    <m:r>
                      <a:rPr lang="en-US" altLang="zh-TW" sz="2200" i="1">
                        <a:latin typeface="Cambria Math"/>
                      </a:rPr>
                      <m:t>𝑝</m:t>
                    </m:r>
                    <m:r>
                      <a:rPr lang="en-US" altLang="zh-TW" sz="2200" i="1"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200" i="1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2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sz="2200" i="1">
                                <a:latin typeface="Cambria Math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TW" sz="2200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sz="2200" i="1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22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sz="2200" i="1">
                                <a:latin typeface="Cambria Math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TW" sz="2200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sz="2200" i="1">
                            <a:latin typeface="Cambria Math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TW" sz="22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sz="2200" i="1">
                                <a:latin typeface="Cambria Math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TW" sz="2200" i="1">
                                <a:latin typeface="Cambria Math"/>
                              </a:rPr>
                              <m:t>𝑑</m:t>
                            </m:r>
                          </m:sub>
                        </m:sSub>
                      </m:e>
                    </m:d>
                    <m:r>
                      <a:rPr lang="en-US" altLang="zh-TW" sz="2200" i="1">
                        <a:latin typeface="Cambria Math"/>
                      </a:rPr>
                      <m:t> </m:t>
                    </m:r>
                  </m:oMath>
                </a14:m>
                <a:r>
                  <a:rPr lang="en-US" altLang="zh-TW" sz="2200" dirty="0" smtClean="0"/>
                  <a:t> strongly dominates another point </a:t>
                </a:r>
                <a14:m>
                  <m:oMath xmlns:m="http://schemas.openxmlformats.org/officeDocument/2006/math">
                    <m:r>
                      <a:rPr lang="en-US" altLang="zh-TW" sz="2200" i="1">
                        <a:latin typeface="Cambria Math"/>
                      </a:rPr>
                      <m:t>𝑞</m:t>
                    </m:r>
                    <m:r>
                      <a:rPr lang="en-US" altLang="zh-TW" sz="2200" i="1"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200" i="1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2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sz="2200" i="1">
                                <a:latin typeface="Cambria Math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2200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sz="2200" i="1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22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sz="2200" i="1">
                                <a:latin typeface="Cambria Math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2200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sz="2200" i="1">
                            <a:latin typeface="Cambria Math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TW" sz="22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sz="2200" i="1">
                                <a:latin typeface="Cambria Math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2200" i="1">
                                <a:latin typeface="Cambria Math"/>
                              </a:rPr>
                              <m:t>𝑑</m:t>
                            </m:r>
                          </m:sub>
                        </m:sSub>
                      </m:e>
                    </m:d>
                    <m:r>
                      <a:rPr lang="en-US" altLang="zh-TW" sz="2200" i="1">
                        <a:latin typeface="Cambria Math"/>
                      </a:rPr>
                      <m:t> </m:t>
                    </m:r>
                  </m:oMath>
                </a14:m>
                <a:r>
                  <a:rPr lang="en-US" altLang="zh-TW" sz="2200" dirty="0" smtClean="0"/>
                  <a:t>, </a:t>
                </a:r>
                <a:r>
                  <a:rPr lang="en-US" altLang="zh-TW" sz="22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2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200" i="1">
                            <a:latin typeface="Cambria Math"/>
                          </a:rPr>
                          <m:t>𝑝</m:t>
                        </m:r>
                      </m:e>
                      <m:sub>
                        <m:r>
                          <a:rPr lang="en-US" altLang="zh-TW" sz="2200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altLang="zh-TW" sz="2200" i="1" smtClean="0">
                        <a:latin typeface="Cambria Math"/>
                        <a:ea typeface="Cambria Math"/>
                      </a:rPr>
                      <m:t>&lt;</m:t>
                    </m:r>
                    <m:sSub>
                      <m:sSubPr>
                        <m:ctrlPr>
                          <a:rPr lang="en-US" altLang="zh-TW" sz="2200" i="1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TW" sz="2200" i="1">
                            <a:latin typeface="Cambria Math"/>
                            <a:ea typeface="Cambria Math"/>
                          </a:rPr>
                          <m:t>𝑞</m:t>
                        </m:r>
                      </m:e>
                      <m:sub>
                        <m:r>
                          <a:rPr lang="en-US" altLang="zh-TW" sz="2200" i="1">
                            <a:latin typeface="Cambria Math"/>
                            <a:ea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sz="2200" dirty="0"/>
                  <a:t>, for </a:t>
                </a:r>
                <a:r>
                  <a:rPr lang="en-US" altLang="zh-TW" sz="2200" dirty="0" smtClean="0"/>
                  <a:t>all </a:t>
                </a:r>
                <a14:m>
                  <m:oMath xmlns:m="http://schemas.openxmlformats.org/officeDocument/2006/math">
                    <m:r>
                      <a:rPr lang="en-US" altLang="zh-TW" sz="2200" i="1">
                        <a:latin typeface="Cambria Math"/>
                      </a:rPr>
                      <m:t>𝑖</m:t>
                    </m:r>
                    <m:r>
                      <a:rPr lang="en-US" altLang="zh-TW" sz="2200" i="1">
                        <a:latin typeface="Cambria Math"/>
                      </a:rPr>
                      <m:t>=1, 2, …, </m:t>
                    </m:r>
                    <m:r>
                      <a:rPr lang="en-US" altLang="zh-TW" sz="2200" i="1">
                        <a:latin typeface="Cambria Math"/>
                      </a:rPr>
                      <m:t>𝑑</m:t>
                    </m:r>
                  </m:oMath>
                </a14:m>
                <a:r>
                  <a:rPr lang="en-US" altLang="zh-TW" sz="2200" dirty="0"/>
                  <a:t>. We denote this relation as </a:t>
                </a:r>
                <a14:m>
                  <m:oMath xmlns:m="http://schemas.openxmlformats.org/officeDocument/2006/math">
                    <m:r>
                      <a:rPr lang="en-US" altLang="zh-TW" sz="2200" i="1" dirty="0">
                        <a:latin typeface="Cambria Math"/>
                      </a:rPr>
                      <m:t>𝑝</m:t>
                    </m:r>
                    <m:r>
                      <a:rPr lang="en-US" altLang="zh-TW" sz="2200" i="1" dirty="0" smtClean="0">
                        <a:latin typeface="Cambria Math"/>
                        <a:ea typeface="Cambria Math"/>
                      </a:rPr>
                      <m:t>&lt;</m:t>
                    </m:r>
                    <m:r>
                      <a:rPr lang="en-US" altLang="zh-TW" sz="2200" i="1" dirty="0">
                        <a:latin typeface="Cambria Math"/>
                      </a:rPr>
                      <m:t>𝑞</m:t>
                    </m:r>
                  </m:oMath>
                </a14:m>
                <a:r>
                  <a:rPr lang="en-US" altLang="zh-TW" sz="2200" dirty="0" smtClean="0"/>
                  <a:t>.</a:t>
                </a:r>
              </a:p>
              <a:p>
                <a:pPr marL="0" indent="0">
                  <a:lnSpc>
                    <a:spcPct val="80000"/>
                  </a:lnSpc>
                  <a:buNone/>
                </a:pPr>
                <a:r>
                  <a:rPr lang="en-US" altLang="zh-TW" sz="2200" dirty="0" smtClean="0"/>
                  <a:t>Ex: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sz="220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sz="2200" b="0" i="1" smtClean="0">
                            <a:latin typeface="Cambria Math"/>
                          </a:rPr>
                          <m:t>1,1</m:t>
                        </m:r>
                      </m:e>
                    </m:d>
                  </m:oMath>
                </a14:m>
                <a:r>
                  <a:rPr lang="en-US" altLang="zh-TW" sz="2200" dirty="0" smtClean="0"/>
                  <a:t> dominate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sz="22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sz="2200" b="0" i="1" smtClean="0">
                            <a:latin typeface="Cambria Math"/>
                          </a:rPr>
                          <m:t>2,2</m:t>
                        </m:r>
                      </m:e>
                    </m:d>
                  </m:oMath>
                </a14:m>
                <a:r>
                  <a:rPr lang="en-US" altLang="zh-TW" sz="2200" dirty="0" smtClean="0"/>
                  <a:t>.</a:t>
                </a:r>
              </a:p>
              <a:p>
                <a:pPr marL="0" indent="0">
                  <a:lnSpc>
                    <a:spcPct val="80000"/>
                  </a:lnSpc>
                  <a:buNone/>
                </a:pPr>
                <a:endParaRPr lang="en-US" altLang="zh-TW" sz="2200" dirty="0"/>
              </a:p>
              <a:p>
                <a:pPr marL="0" indent="0">
                  <a:lnSpc>
                    <a:spcPct val="80000"/>
                  </a:lnSpc>
                  <a:buNone/>
                </a:pPr>
                <a:r>
                  <a:rPr lang="en-US" altLang="zh-TW" sz="2200" b="1" dirty="0"/>
                  <a:t>Definition 5. </a:t>
                </a:r>
                <a:r>
                  <a:rPr lang="en-US" altLang="zh-TW" sz="2200" dirty="0"/>
                  <a:t>A match </a:t>
                </a:r>
                <a14:m>
                  <m:oMath xmlns:m="http://schemas.openxmlformats.org/officeDocument/2006/math">
                    <m:r>
                      <a:rPr lang="en-US" altLang="zh-TW" sz="2200" i="1" dirty="0" smtClean="0">
                        <a:latin typeface="Cambria Math"/>
                      </a:rPr>
                      <m:t>𝑝</m:t>
                    </m:r>
                  </m:oMath>
                </a14:m>
                <a:r>
                  <a:rPr lang="en-US" altLang="zh-TW" sz="2200" dirty="0"/>
                  <a:t> is called a </a:t>
                </a:r>
                <a14:m>
                  <m:oMath xmlns:m="http://schemas.openxmlformats.org/officeDocument/2006/math">
                    <m:r>
                      <a:rPr lang="en-US" altLang="zh-TW" sz="2200" i="1" dirty="0" smtClean="0">
                        <a:latin typeface="Cambria Math"/>
                      </a:rPr>
                      <m:t>𝑘</m:t>
                    </m:r>
                  </m:oMath>
                </a14:m>
                <a:r>
                  <a:rPr lang="en-US" altLang="zh-TW" sz="2200" dirty="0"/>
                  <a:t>-dominant point, or </a:t>
                </a:r>
                <a:r>
                  <a:rPr lang="en-US" altLang="zh-TW" sz="2200" dirty="0" smtClean="0"/>
                  <a:t>simply </a:t>
                </a:r>
                <a14:m>
                  <m:oMath xmlns:m="http://schemas.openxmlformats.org/officeDocument/2006/math">
                    <m:r>
                      <a:rPr lang="en-US" altLang="zh-TW" sz="2200" i="1" dirty="0" smtClean="0">
                        <a:latin typeface="Cambria Math"/>
                      </a:rPr>
                      <m:t>𝑘</m:t>
                    </m:r>
                  </m:oMath>
                </a14:m>
                <a:r>
                  <a:rPr lang="en-US" altLang="zh-TW" sz="2200" dirty="0" smtClean="0"/>
                  <a:t>-dominant</a:t>
                </a:r>
                <a:r>
                  <a:rPr lang="en-US" altLang="zh-TW" sz="2200" dirty="0"/>
                  <a:t>, or dominant at level </a:t>
                </a:r>
                <a14:m>
                  <m:oMath xmlns:m="http://schemas.openxmlformats.org/officeDocument/2006/math">
                    <m:r>
                      <a:rPr lang="en-US" altLang="zh-TW" sz="2200" i="1" dirty="0" smtClean="0">
                        <a:latin typeface="Cambria Math"/>
                      </a:rPr>
                      <m:t>𝑘</m:t>
                    </m:r>
                  </m:oMath>
                </a14:m>
                <a:r>
                  <a:rPr lang="en-US" altLang="zh-TW" sz="2200" dirty="0"/>
                  <a:t>, if</a:t>
                </a:r>
              </a:p>
              <a:p>
                <a:pPr marL="0" indent="0">
                  <a:lnSpc>
                    <a:spcPct val="80000"/>
                  </a:lnSpc>
                  <a:buNone/>
                </a:pPr>
                <a:r>
                  <a:rPr lang="en-US" altLang="zh-TW" sz="2200" dirty="0"/>
                  <a:t>1</a:t>
                </a:r>
                <a:r>
                  <a:rPr lang="en-US" altLang="zh-TW" sz="2200" dirty="0" smtClean="0"/>
                  <a:t>. </a:t>
                </a:r>
                <a14:m>
                  <m:oMath xmlns:m="http://schemas.openxmlformats.org/officeDocument/2006/math">
                    <m:r>
                      <a:rPr lang="en-US" altLang="zh-TW" sz="2200" b="0" i="1" smtClean="0">
                        <a:latin typeface="Cambria Math"/>
                      </a:rPr>
                      <m:t>𝐿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2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sz="2200" b="0" i="1" smtClean="0">
                            <a:latin typeface="Cambria Math"/>
                          </a:rPr>
                          <m:t>𝑝</m:t>
                        </m:r>
                      </m:e>
                    </m:d>
                    <m:r>
                      <a:rPr lang="en-US" altLang="zh-TW" sz="2200" b="0" i="1" smtClean="0">
                        <a:latin typeface="Cambria Math"/>
                      </a:rPr>
                      <m:t>=</m:t>
                    </m:r>
                    <m:r>
                      <a:rPr lang="en-US" altLang="zh-TW" sz="2200" b="0" i="1" smtClean="0">
                        <a:latin typeface="Cambria Math"/>
                      </a:rPr>
                      <m:t>𝑘</m:t>
                    </m:r>
                  </m:oMath>
                </a14:m>
                <a:r>
                  <a:rPr lang="en-US" altLang="zh-TW" sz="2200" dirty="0" smtClean="0"/>
                  <a:t>;</a:t>
                </a:r>
                <a:endParaRPr lang="en-US" altLang="zh-TW" sz="2200" dirty="0"/>
              </a:p>
              <a:p>
                <a:pPr marL="0" indent="0">
                  <a:lnSpc>
                    <a:spcPct val="80000"/>
                  </a:lnSpc>
                  <a:buNone/>
                </a:pPr>
                <a:r>
                  <a:rPr lang="en-US" altLang="zh-TW" sz="2200" dirty="0"/>
                  <a:t>2. there is no other </a:t>
                </a:r>
                <a:r>
                  <a:rPr lang="en-US" altLang="zh-TW" sz="2200" dirty="0" smtClean="0"/>
                  <a:t>match </a:t>
                </a:r>
                <a14:m>
                  <m:oMath xmlns:m="http://schemas.openxmlformats.org/officeDocument/2006/math">
                    <m:r>
                      <a:rPr lang="en-US" altLang="zh-TW" sz="2200" i="1" dirty="0" smtClean="0">
                        <a:latin typeface="Cambria Math"/>
                      </a:rPr>
                      <m:t>𝑞</m:t>
                    </m:r>
                  </m:oMath>
                </a14:m>
                <a:r>
                  <a:rPr lang="en-US" altLang="zh-TW" sz="2200" dirty="0" smtClean="0"/>
                  <a:t>; </a:t>
                </a:r>
                <a14:m>
                  <m:oMath xmlns:m="http://schemas.openxmlformats.org/officeDocument/2006/math">
                    <m:r>
                      <a:rPr lang="en-US" altLang="zh-TW" sz="2200" b="0" i="1" smtClean="0">
                        <a:latin typeface="Cambria Math"/>
                      </a:rPr>
                      <m:t>𝑞</m:t>
                    </m:r>
                    <m:r>
                      <a:rPr lang="en-US" altLang="zh-TW" sz="2200" b="0" i="1" smtClean="0">
                        <a:latin typeface="Cambria Math"/>
                        <a:ea typeface="Cambria Math"/>
                      </a:rPr>
                      <m:t>≠</m:t>
                    </m:r>
                    <m:r>
                      <a:rPr lang="en-US" altLang="zh-TW" sz="2200" b="0" i="1" smtClean="0">
                        <a:latin typeface="Cambria Math"/>
                        <a:ea typeface="Cambria Math"/>
                      </a:rPr>
                      <m:t>𝑝</m:t>
                    </m:r>
                  </m:oMath>
                </a14:m>
                <a:r>
                  <a:rPr lang="en-US" altLang="zh-TW" sz="2200" dirty="0" smtClean="0"/>
                  <a:t>, </a:t>
                </a:r>
                <a:r>
                  <a:rPr lang="en-US" altLang="zh-TW" sz="2200" dirty="0"/>
                  <a:t>satisfying 1 </a:t>
                </a:r>
                <a:r>
                  <a:rPr lang="en-US" altLang="zh-TW" sz="2200" dirty="0" smtClean="0"/>
                  <a:t>dominates </a:t>
                </a:r>
                <a14:m>
                  <m:oMath xmlns:m="http://schemas.openxmlformats.org/officeDocument/2006/math">
                    <m:r>
                      <a:rPr lang="en-US" altLang="zh-TW" sz="2200" i="1" dirty="0" smtClean="0">
                        <a:latin typeface="Cambria Math"/>
                      </a:rPr>
                      <m:t>𝑝</m:t>
                    </m:r>
                  </m:oMath>
                </a14:m>
                <a:r>
                  <a:rPr lang="en-US" altLang="zh-TW" sz="2200" dirty="0" smtClean="0"/>
                  <a:t> (</a:t>
                </a:r>
                <a14:m>
                  <m:oMath xmlns:m="http://schemas.openxmlformats.org/officeDocument/2006/math">
                    <m:r>
                      <a:rPr lang="en-US" altLang="zh-TW" sz="2200" b="0" i="1" dirty="0" smtClean="0">
                        <a:latin typeface="Cambria Math"/>
                        <a:ea typeface="Cambria Math"/>
                      </a:rPr>
                      <m:t>𝑞</m:t>
                    </m:r>
                    <m:r>
                      <a:rPr lang="en-US" altLang="zh-TW" sz="2200" i="1" dirty="0">
                        <a:latin typeface="Cambria Math"/>
                        <a:ea typeface="Cambria Math"/>
                      </a:rPr>
                      <m:t>≤</m:t>
                    </m:r>
                    <m:r>
                      <a:rPr lang="en-US" altLang="zh-TW" sz="2200" b="0" i="1" dirty="0" smtClean="0">
                        <a:latin typeface="Cambria Math"/>
                        <a:ea typeface="Cambria Math"/>
                      </a:rPr>
                      <m:t>𝑝</m:t>
                    </m:r>
                  </m:oMath>
                </a14:m>
                <a:r>
                  <a:rPr lang="en-US" altLang="zh-TW" sz="2200" dirty="0" smtClean="0"/>
                  <a:t>).</a:t>
                </a:r>
                <a:endParaRPr lang="en-US" altLang="zh-TW" sz="2200" dirty="0"/>
              </a:p>
              <a:p>
                <a:pPr marL="0" indent="0">
                  <a:lnSpc>
                    <a:spcPct val="80000"/>
                  </a:lnSpc>
                  <a:buNone/>
                </a:pPr>
                <a:r>
                  <a:rPr lang="en-US" altLang="zh-TW" sz="2200" dirty="0"/>
                  <a:t>The set of all </a:t>
                </a:r>
                <a14:m>
                  <m:oMath xmlns:m="http://schemas.openxmlformats.org/officeDocument/2006/math">
                    <m:r>
                      <a:rPr lang="en-US" altLang="zh-TW" sz="2200" i="1" dirty="0" smtClean="0">
                        <a:latin typeface="Cambria Math"/>
                      </a:rPr>
                      <m:t>𝑘</m:t>
                    </m:r>
                  </m:oMath>
                </a14:m>
                <a:r>
                  <a:rPr lang="en-US" altLang="zh-TW" sz="2200" dirty="0"/>
                  <a:t>-dominants is denoted </a:t>
                </a:r>
                <a:r>
                  <a:rPr lang="en-US" altLang="zh-TW" sz="2200" dirty="0" smtClean="0"/>
                  <a:t>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20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TW" sz="2200" b="0" i="1" smtClean="0">
                            <a:latin typeface="Cambria Math"/>
                          </a:rPr>
                          <m:t>𝐷</m:t>
                        </m:r>
                      </m:e>
                      <m:sup>
                        <m:r>
                          <a:rPr lang="en-US" altLang="zh-TW" sz="2200" b="0" i="1" smtClean="0">
                            <a:latin typeface="Cambria Math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altLang="zh-TW" sz="2200" dirty="0" smtClean="0"/>
                  <a:t>. </a:t>
                </a:r>
                <a:r>
                  <a:rPr lang="en-US" altLang="zh-TW" sz="2200" dirty="0"/>
                  <a:t>The set of </a:t>
                </a:r>
                <a:r>
                  <a:rPr lang="en-US" altLang="zh-TW" sz="2200" dirty="0" smtClean="0"/>
                  <a:t>all dominant </a:t>
                </a:r>
                <a:r>
                  <a:rPr lang="en-US" altLang="zh-TW" sz="2200" dirty="0"/>
                  <a:t>points (that is, </a:t>
                </a:r>
                <a14:m>
                  <m:oMath xmlns:m="http://schemas.openxmlformats.org/officeDocument/2006/math">
                    <m:r>
                      <a:rPr lang="en-US" altLang="zh-TW" sz="2200" i="1" dirty="0" smtClean="0">
                        <a:latin typeface="Cambria Math"/>
                      </a:rPr>
                      <m:t>𝑘</m:t>
                    </m:r>
                  </m:oMath>
                </a14:m>
                <a:r>
                  <a:rPr lang="en-US" altLang="zh-TW" sz="2200" dirty="0"/>
                  <a:t>-dominants for all </a:t>
                </a:r>
                <a14:m>
                  <m:oMath xmlns:m="http://schemas.openxmlformats.org/officeDocument/2006/math">
                    <m:r>
                      <a:rPr lang="en-US" altLang="zh-TW" sz="2200" i="1" dirty="0" smtClean="0">
                        <a:latin typeface="Cambria Math"/>
                      </a:rPr>
                      <m:t>𝑘</m:t>
                    </m:r>
                  </m:oMath>
                </a14:m>
                <a:r>
                  <a:rPr lang="en-US" altLang="zh-TW" sz="2200" dirty="0"/>
                  <a:t>) is denoted </a:t>
                </a:r>
                <a:r>
                  <a:rPr lang="en-US" altLang="zh-TW" sz="2200" dirty="0" smtClean="0"/>
                  <a:t>as </a:t>
                </a:r>
                <a14:m>
                  <m:oMath xmlns:m="http://schemas.openxmlformats.org/officeDocument/2006/math">
                    <m:r>
                      <a:rPr lang="en-US" altLang="zh-TW" sz="2200" i="1" dirty="0" smtClean="0">
                        <a:latin typeface="Cambria Math"/>
                      </a:rPr>
                      <m:t>𝐷</m:t>
                    </m:r>
                  </m:oMath>
                </a14:m>
                <a:r>
                  <a:rPr lang="en-US" altLang="zh-TW" sz="2200" dirty="0" smtClean="0"/>
                  <a:t>.</a:t>
                </a:r>
              </a:p>
              <a:p>
                <a:pPr marL="0" indent="0">
                  <a:lnSpc>
                    <a:spcPct val="80000"/>
                  </a:lnSpc>
                  <a:buNone/>
                </a:pPr>
                <a:r>
                  <a:rPr lang="en-US" altLang="zh-TW" sz="2200" dirty="0" smtClean="0"/>
                  <a:t>Ex: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sz="22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sz="2200" b="0" i="1" smtClean="0">
                            <a:latin typeface="Cambria Math"/>
                          </a:rPr>
                          <m:t>1</m:t>
                        </m:r>
                        <m:r>
                          <a:rPr lang="en-US" altLang="zh-TW" sz="2200" i="1">
                            <a:latin typeface="Cambria Math"/>
                          </a:rPr>
                          <m:t>,</m:t>
                        </m:r>
                        <m:r>
                          <a:rPr lang="en-US" altLang="zh-TW" sz="2200" b="0" i="1" smtClean="0">
                            <a:latin typeface="Cambria Math"/>
                          </a:rPr>
                          <m:t>1</m:t>
                        </m:r>
                      </m:e>
                    </m:d>
                  </m:oMath>
                </a14:m>
                <a:r>
                  <a:rPr lang="en-US" altLang="zh-TW" sz="2200" dirty="0" smtClean="0"/>
                  <a:t> is 1-dominant point,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sz="22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sz="2200" i="1">
                            <a:latin typeface="Cambria Math"/>
                          </a:rPr>
                          <m:t>2,</m:t>
                        </m:r>
                        <m:r>
                          <a:rPr lang="en-US" altLang="zh-TW" sz="2200" b="0" i="1" smtClean="0">
                            <a:latin typeface="Cambria Math"/>
                          </a:rPr>
                          <m:t>3</m:t>
                        </m:r>
                      </m:e>
                    </m:d>
                  </m:oMath>
                </a14:m>
                <a:r>
                  <a:rPr lang="en-US" altLang="zh-TW" sz="2200" dirty="0" smtClean="0"/>
                  <a:t> and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sz="22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sz="2200" b="0" i="1" smtClean="0">
                            <a:latin typeface="Cambria Math"/>
                          </a:rPr>
                          <m:t>3</m:t>
                        </m:r>
                        <m:r>
                          <a:rPr lang="en-US" altLang="zh-TW" sz="2200" i="1">
                            <a:latin typeface="Cambria Math"/>
                          </a:rPr>
                          <m:t>,2</m:t>
                        </m:r>
                      </m:e>
                    </m:d>
                  </m:oMath>
                </a14:m>
                <a:r>
                  <a:rPr lang="en-US" altLang="zh-TW" sz="2200" dirty="0" smtClean="0"/>
                  <a:t> are 2-dominant points.</a:t>
                </a: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781128"/>
              </a:xfrm>
              <a:blipFill rotWithShape="1">
                <a:blip r:embed="rId2"/>
                <a:stretch>
                  <a:fillRect l="-889" t="-2041" r="-88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81847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Dominant Point </a:t>
            </a:r>
            <a:r>
              <a:rPr lang="en-US" altLang="zh-TW" b="1" dirty="0" smtClean="0"/>
              <a:t>(2/2</a:t>
            </a:r>
            <a:r>
              <a:rPr lang="en-US" altLang="zh-TW" b="1" dirty="0"/>
              <a:t>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6</a:t>
            </a:fld>
            <a:endParaRPr lang="zh-TW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66" t="29154" r="50026" b="14458"/>
          <a:stretch/>
        </p:blipFill>
        <p:spPr bwMode="auto">
          <a:xfrm>
            <a:off x="1403232" y="1412776"/>
            <a:ext cx="6337120" cy="5027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46286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Quick-DP (1/4)</a:t>
            </a:r>
            <a:endParaRPr lang="zh-TW" altLang="en-US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637112"/>
              </a:xfrm>
            </p:spPr>
            <p:txBody>
              <a:bodyPr>
                <a:noAutofit/>
              </a:bodyPr>
              <a:lstStyle/>
              <a:p>
                <a:pPr marL="0" indent="0" eaLnBrk="0">
                  <a:buNone/>
                </a:pPr>
                <a:r>
                  <a:rPr lang="en-US" altLang="zh-TW" sz="2400" b="1" dirty="0" smtClean="0"/>
                  <a:t>Definition 6. </a:t>
                </a:r>
                <a:r>
                  <a:rPr lang="en-US" altLang="zh-TW" sz="2400" dirty="0"/>
                  <a:t>A match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/>
                      </a:rPr>
                      <m:t>𝑝</m:t>
                    </m:r>
                  </m:oMath>
                </a14:m>
                <a:r>
                  <a:rPr lang="en-US" altLang="zh-TW" sz="2400" dirty="0"/>
                  <a:t> is called an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/>
                      </a:rPr>
                      <m:t>𝑠</m:t>
                    </m:r>
                  </m:oMath>
                </a14:m>
                <a:r>
                  <a:rPr lang="en-US" altLang="zh-TW" sz="2400" dirty="0"/>
                  <a:t>-parent (a parent </a:t>
                </a:r>
                <a:r>
                  <a:rPr lang="en-US" altLang="zh-TW" sz="2400" dirty="0" smtClean="0"/>
                  <a:t>with respect </a:t>
                </a:r>
                <a:r>
                  <a:rPr lang="en-US" altLang="zh-TW" sz="2400" dirty="0"/>
                  <a:t>to the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/>
                      </a:rPr>
                      <m:t>𝑠</m:t>
                    </m:r>
                  </m:oMath>
                </a14:m>
                <a:r>
                  <a:rPr lang="en-US" altLang="zh-TW" sz="2400" dirty="0"/>
                  <a:t> </a:t>
                </a:r>
                <a:r>
                  <a:rPr lang="en-US" altLang="zh-TW" sz="2400" dirty="0" smtClean="0"/>
                  <a:t>symbol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/>
                      </a:rPr>
                      <m:t>𝑠</m:t>
                    </m:r>
                    <m:r>
                      <a:rPr lang="en-US" altLang="zh-TW" sz="24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m:rPr>
                        <m:sty m:val="p"/>
                      </m:rPr>
                      <a:rPr lang="el-GR" altLang="zh-TW" sz="2400" b="0" i="1" smtClean="0">
                        <a:latin typeface="Cambria Math"/>
                        <a:ea typeface="Cambria Math"/>
                      </a:rPr>
                      <m:t>Σ</m:t>
                    </m:r>
                  </m:oMath>
                </a14:m>
                <a:r>
                  <a:rPr lang="en-US" altLang="zh-TW" sz="2400" dirty="0" smtClean="0"/>
                  <a:t>) </a:t>
                </a:r>
                <a:r>
                  <a:rPr lang="en-US" altLang="zh-TW" sz="2400" dirty="0"/>
                  <a:t>of a point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/>
                      </a:rPr>
                      <m:t>𝑞</m:t>
                    </m:r>
                  </m:oMath>
                </a14:m>
                <a:r>
                  <a:rPr lang="en-US" altLang="zh-TW" sz="2400" dirty="0"/>
                  <a:t>, if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/>
                      </a:rPr>
                      <m:t>𝑞</m:t>
                    </m:r>
                    <m:r>
                      <a:rPr lang="en-US" altLang="zh-TW" sz="2400" i="1" dirty="0" smtClean="0">
                        <a:latin typeface="Cambria Math"/>
                        <a:ea typeface="Cambria Math"/>
                      </a:rPr>
                      <m:t>&lt;</m:t>
                    </m:r>
                    <m:r>
                      <a:rPr lang="en-US" altLang="zh-TW" sz="2400" i="1" dirty="0" smtClean="0">
                        <a:latin typeface="Cambria Math"/>
                      </a:rPr>
                      <m:t>𝑝</m:t>
                    </m:r>
                    <m:r>
                      <a:rPr lang="en-US" altLang="zh-TW" sz="2400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altLang="zh-TW" sz="2400" dirty="0"/>
                  <a:t>and there </a:t>
                </a:r>
                <a:r>
                  <a:rPr lang="en-US" altLang="zh-TW" sz="2400" dirty="0" smtClean="0"/>
                  <a:t>is no </a:t>
                </a:r>
                <a:r>
                  <a:rPr lang="en-US" altLang="zh-TW" sz="2400" dirty="0"/>
                  <a:t>other match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/>
                      </a:rPr>
                      <m:t>𝑟</m:t>
                    </m:r>
                  </m:oMath>
                </a14:m>
                <a:r>
                  <a:rPr lang="en-US" altLang="zh-TW" sz="2400" dirty="0"/>
                  <a:t> of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/>
                      </a:rPr>
                      <m:t>𝑠</m:t>
                    </m:r>
                  </m:oMath>
                </a14:m>
                <a:r>
                  <a:rPr lang="en-US" altLang="zh-TW" sz="2400" dirty="0"/>
                  <a:t> such that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/>
                      </a:rPr>
                      <m:t>𝑞</m:t>
                    </m:r>
                    <m:r>
                      <a:rPr lang="en-US" altLang="zh-TW" sz="2400" i="1" dirty="0" smtClean="0">
                        <a:latin typeface="Cambria Math"/>
                        <a:ea typeface="Cambria Math"/>
                      </a:rPr>
                      <m:t>&lt;</m:t>
                    </m:r>
                    <m:r>
                      <a:rPr lang="en-US" altLang="zh-TW" sz="2400" i="1" dirty="0" smtClean="0">
                        <a:latin typeface="Cambria Math"/>
                      </a:rPr>
                      <m:t>𝑟</m:t>
                    </m:r>
                    <m:r>
                      <a:rPr lang="en-US" altLang="zh-TW" sz="2400" i="1" dirty="0" smtClean="0">
                        <a:latin typeface="Cambria Math"/>
                        <a:ea typeface="Cambria Math"/>
                      </a:rPr>
                      <m:t>&lt;</m:t>
                    </m:r>
                    <m:r>
                      <a:rPr lang="en-US" altLang="zh-TW" sz="2400" i="1" dirty="0" smtClean="0">
                        <a:latin typeface="Cambria Math"/>
                      </a:rPr>
                      <m:t>𝑝</m:t>
                    </m:r>
                  </m:oMath>
                </a14:m>
                <a:r>
                  <a:rPr lang="en-US" altLang="zh-TW" sz="2400" dirty="0"/>
                  <a:t>. We denote </a:t>
                </a:r>
                <a:r>
                  <a:rPr lang="en-US" altLang="zh-TW" sz="2400" dirty="0" smtClean="0"/>
                  <a:t>the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/>
                      </a:rPr>
                      <m:t>𝑠</m:t>
                    </m:r>
                  </m:oMath>
                </a14:m>
                <a:r>
                  <a:rPr lang="en-US" altLang="zh-TW" sz="2400" dirty="0" smtClean="0"/>
                  <a:t>-parent </a:t>
                </a:r>
                <a:r>
                  <a:rPr lang="en-US" altLang="zh-TW" sz="2400" dirty="0"/>
                  <a:t>of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/>
                      </a:rPr>
                      <m:t>𝑞</m:t>
                    </m:r>
                  </m:oMath>
                </a14:m>
                <a:r>
                  <a:rPr lang="en-US" altLang="zh-TW" sz="2400" dirty="0"/>
                  <a:t> as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/>
                      </a:rPr>
                      <m:t>𝑞</m:t>
                    </m:r>
                    <m:d>
                      <m:dPr>
                        <m:ctrlPr>
                          <a:rPr lang="en-US" altLang="zh-TW" sz="2400" i="1" dirty="0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sz="2400" b="0" i="1" dirty="0" smtClean="0">
                            <a:latin typeface="Cambria Math"/>
                          </a:rPr>
                          <m:t>𝑠</m:t>
                        </m:r>
                      </m:e>
                    </m:d>
                  </m:oMath>
                </a14:m>
                <a:r>
                  <a:rPr lang="en-US" altLang="zh-TW" sz="2400" dirty="0"/>
                  <a:t>. The set of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/>
                      </a:rPr>
                      <m:t>𝑠</m:t>
                    </m:r>
                  </m:oMath>
                </a14:m>
                <a:r>
                  <a:rPr lang="en-US" altLang="zh-TW" sz="2400" dirty="0"/>
                  <a:t>-parent for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/>
                      </a:rPr>
                      <m:t>𝑞</m:t>
                    </m:r>
                  </m:oMath>
                </a14:m>
                <a:r>
                  <a:rPr lang="en-US" altLang="zh-TW" sz="2400" dirty="0"/>
                  <a:t> is denoted </a:t>
                </a:r>
                <a:r>
                  <a:rPr lang="en-US" altLang="zh-TW" sz="2400" dirty="0" smtClean="0"/>
                  <a:t>as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/>
                      </a:rPr>
                      <m:t>𝑃𝑎𝑟</m:t>
                    </m:r>
                    <m:d>
                      <m:dPr>
                        <m:ctrlPr>
                          <a:rPr lang="en-US" altLang="zh-TW" sz="2400" i="1" dirty="0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sz="2400" b="0" i="1" dirty="0" smtClean="0">
                            <a:latin typeface="Cambria Math"/>
                          </a:rPr>
                          <m:t>𝑞</m:t>
                        </m:r>
                        <m:r>
                          <a:rPr lang="en-US" altLang="zh-TW" sz="2400" b="0" i="1" dirty="0" smtClean="0">
                            <a:latin typeface="Cambria Math"/>
                          </a:rPr>
                          <m:t>, </m:t>
                        </m:r>
                        <m:r>
                          <a:rPr lang="en-US" altLang="zh-TW" sz="2400" b="0" i="1" dirty="0" smtClean="0">
                            <a:latin typeface="Cambria Math"/>
                          </a:rPr>
                          <m:t>𝑠</m:t>
                        </m:r>
                      </m:e>
                    </m:d>
                  </m:oMath>
                </a14:m>
                <a:r>
                  <a:rPr lang="en-US" altLang="zh-TW" sz="2400" dirty="0"/>
                  <a:t>, i.e., </a:t>
                </a:r>
                <a14:m>
                  <m:oMath xmlns:m="http://schemas.openxmlformats.org/officeDocument/2006/math">
                    <m:r>
                      <a:rPr lang="en-US" altLang="zh-TW" sz="2400" i="1" dirty="0">
                        <a:latin typeface="Cambria Math"/>
                      </a:rPr>
                      <m:t>𝑃𝑎𝑟</m:t>
                    </m:r>
                    <m:d>
                      <m:dPr>
                        <m:ctrlPr>
                          <a:rPr lang="en-US" altLang="zh-TW" sz="2400" i="1" dirty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sz="2400" i="1" dirty="0">
                            <a:latin typeface="Cambria Math"/>
                          </a:rPr>
                          <m:t>𝑞</m:t>
                        </m:r>
                        <m:r>
                          <a:rPr lang="en-US" altLang="zh-TW" sz="2400" i="1" dirty="0">
                            <a:latin typeface="Cambria Math"/>
                          </a:rPr>
                          <m:t>, </m:t>
                        </m:r>
                        <m:r>
                          <a:rPr lang="en-US" altLang="zh-TW" sz="2400" i="1" dirty="0">
                            <a:latin typeface="Cambria Math"/>
                          </a:rPr>
                          <m:t>𝑠</m:t>
                        </m:r>
                      </m:e>
                    </m:d>
                    <m:r>
                      <a:rPr lang="en-US" altLang="zh-TW" sz="2400" b="0" i="1" dirty="0" smtClean="0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TW" sz="2400" b="0" i="1" dirty="0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sz="2400" i="1" dirty="0">
                            <a:latin typeface="Cambria Math"/>
                          </a:rPr>
                          <m:t>𝑞</m:t>
                        </m:r>
                        <m:d>
                          <m:dPr>
                            <m:ctrlPr>
                              <a:rPr lang="en-US" altLang="zh-TW" sz="2400" i="1" dirty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altLang="zh-TW" sz="2400" i="1" dirty="0">
                                <a:latin typeface="Cambria Math"/>
                              </a:rPr>
                              <m:t>𝑠</m:t>
                            </m:r>
                          </m:e>
                        </m:d>
                      </m:e>
                    </m:d>
                  </m:oMath>
                </a14:m>
                <a:r>
                  <a:rPr lang="en-US" altLang="zh-TW" sz="2400" dirty="0"/>
                  <a:t>. The set of all </a:t>
                </a:r>
                <a:r>
                  <a:rPr lang="en-US" altLang="zh-TW" sz="2400" i="1" dirty="0"/>
                  <a:t>s</a:t>
                </a:r>
                <a:r>
                  <a:rPr lang="en-US" altLang="zh-TW" sz="2400" dirty="0"/>
                  <a:t>-parents </a:t>
                </a:r>
                <a:r>
                  <a:rPr lang="en-US" altLang="zh-TW" sz="2400" dirty="0" smtClean="0"/>
                  <a:t>for a </a:t>
                </a:r>
                <a:r>
                  <a:rPr lang="en-US" altLang="zh-TW" sz="2400" dirty="0"/>
                  <a:t>set of points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/>
                      </a:rPr>
                      <m:t>𝐴</m:t>
                    </m:r>
                  </m:oMath>
                </a14:m>
                <a:r>
                  <a:rPr lang="en-US" altLang="zh-TW" sz="2400" dirty="0"/>
                  <a:t> is denoted as </a:t>
                </a:r>
                <a14:m>
                  <m:oMath xmlns:m="http://schemas.openxmlformats.org/officeDocument/2006/math">
                    <m:r>
                      <a:rPr lang="en-US" altLang="zh-TW" sz="2400" i="1" dirty="0">
                        <a:latin typeface="Cambria Math"/>
                      </a:rPr>
                      <m:t>𝑃𝑎𝑟</m:t>
                    </m:r>
                    <m:d>
                      <m:dPr>
                        <m:ctrlPr>
                          <a:rPr lang="en-US" altLang="zh-TW" sz="2400" i="1" dirty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sz="2400" b="0" i="1" dirty="0" smtClean="0">
                            <a:latin typeface="Cambria Math"/>
                          </a:rPr>
                          <m:t>𝐴</m:t>
                        </m:r>
                        <m:r>
                          <a:rPr lang="en-US" altLang="zh-TW" sz="2400" i="1" dirty="0">
                            <a:latin typeface="Cambria Math"/>
                          </a:rPr>
                          <m:t>, </m:t>
                        </m:r>
                        <m:r>
                          <a:rPr lang="en-US" altLang="zh-TW" sz="2400" i="1" dirty="0">
                            <a:latin typeface="Cambria Math"/>
                          </a:rPr>
                          <m:t>𝑠</m:t>
                        </m:r>
                      </m:e>
                    </m:d>
                  </m:oMath>
                </a14:m>
                <a:r>
                  <a:rPr lang="en-US" altLang="zh-TW" sz="2400" dirty="0"/>
                  <a:t>. The set of </a:t>
                </a:r>
                <a:r>
                  <a:rPr lang="en-US" altLang="zh-TW" sz="2400" dirty="0" smtClean="0"/>
                  <a:t>all parents, </a:t>
                </a:r>
                <a14:m>
                  <m:oMath xmlns:m="http://schemas.openxmlformats.org/officeDocument/2006/math">
                    <m:nary>
                      <m:naryPr>
                        <m:chr m:val="⋃"/>
                        <m:limLoc m:val="subSup"/>
                        <m:supHide m:val="on"/>
                        <m:ctrlPr>
                          <a:rPr lang="en-US" altLang="zh-TW" sz="2400" i="1" dirty="0" smtClean="0"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altLang="zh-TW" sz="2400" b="0" i="1" dirty="0" smtClean="0">
                            <a:latin typeface="Cambria Math"/>
                          </a:rPr>
                          <m:t>𝑠</m:t>
                        </m:r>
                        <m:r>
                          <a:rPr lang="en-US" altLang="zh-TW" sz="2400" b="0" i="1" dirty="0" smtClean="0">
                            <a:latin typeface="Cambria Math"/>
                            <a:ea typeface="Cambria Math"/>
                          </a:rPr>
                          <m:t>∈</m:t>
                        </m:r>
                        <m:r>
                          <m:rPr>
                            <m:sty m:val="p"/>
                          </m:rPr>
                          <a:rPr lang="el-GR" altLang="zh-TW" sz="2400" i="1">
                            <a:latin typeface="Cambria Math"/>
                            <a:ea typeface="Cambria Math"/>
                          </a:rPr>
                          <m:t>Σ</m:t>
                        </m:r>
                      </m:sub>
                      <m:sup/>
                      <m:e>
                        <m:r>
                          <a:rPr lang="en-US" altLang="zh-TW" sz="2400" i="1" dirty="0">
                            <a:latin typeface="Cambria Math"/>
                          </a:rPr>
                          <m:t>𝑃𝑎𝑟</m:t>
                        </m:r>
                        <m:d>
                          <m:dPr>
                            <m:ctrlPr>
                              <a:rPr lang="en-US" altLang="zh-TW" sz="2400" i="1" dirty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altLang="zh-TW" sz="2400" b="0" i="1" dirty="0" smtClean="0">
                                <a:latin typeface="Cambria Math"/>
                              </a:rPr>
                              <m:t>𝐴</m:t>
                            </m:r>
                            <m:r>
                              <a:rPr lang="en-US" altLang="zh-TW" sz="2400" i="1" dirty="0">
                                <a:latin typeface="Cambria Math"/>
                              </a:rPr>
                              <m:t>, </m:t>
                            </m:r>
                            <m:r>
                              <a:rPr lang="en-US" altLang="zh-TW" sz="2400" i="1" dirty="0">
                                <a:latin typeface="Cambria Math"/>
                              </a:rPr>
                              <m:t>𝑠</m:t>
                            </m:r>
                          </m:e>
                        </m:d>
                      </m:e>
                    </m:nary>
                  </m:oMath>
                </a14:m>
                <a:r>
                  <a:rPr lang="en-US" altLang="zh-TW" sz="2400" dirty="0" smtClean="0"/>
                  <a:t>, </a:t>
                </a:r>
                <a:r>
                  <a:rPr lang="en-US" altLang="zh-TW" sz="2400" dirty="0"/>
                  <a:t>for A is denoted as </a:t>
                </a:r>
                <a14:m>
                  <m:oMath xmlns:m="http://schemas.openxmlformats.org/officeDocument/2006/math">
                    <m:r>
                      <a:rPr lang="en-US" altLang="zh-TW" sz="2400" i="1" dirty="0">
                        <a:latin typeface="Cambria Math"/>
                      </a:rPr>
                      <m:t>𝑃𝑎𝑟</m:t>
                    </m:r>
                    <m:d>
                      <m:dPr>
                        <m:ctrlPr>
                          <a:rPr lang="en-US" altLang="zh-TW" sz="2400" i="1" dirty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sz="2400" i="1" dirty="0">
                            <a:latin typeface="Cambria Math"/>
                          </a:rPr>
                          <m:t>𝐴</m:t>
                        </m:r>
                        <m:r>
                          <a:rPr lang="en-US" altLang="zh-TW" sz="2400" i="1" dirty="0">
                            <a:latin typeface="Cambria Math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l-GR" altLang="zh-TW" sz="2400" i="1">
                            <a:latin typeface="Cambria Math"/>
                            <a:ea typeface="Cambria Math"/>
                          </a:rPr>
                          <m:t>Σ</m:t>
                        </m:r>
                      </m:e>
                    </m:d>
                  </m:oMath>
                </a14:m>
                <a:r>
                  <a:rPr lang="en-US" altLang="zh-TW" sz="2400" dirty="0"/>
                  <a:t>.</a:t>
                </a:r>
                <a:endParaRPr lang="en-US" altLang="zh-TW" sz="2400" dirty="0" smtClean="0"/>
              </a:p>
              <a:p>
                <a:pPr marL="0" indent="0" eaLnBrk="0">
                  <a:buNone/>
                </a:pPr>
                <a:endParaRPr lang="en-US" altLang="zh-TW" sz="2400" dirty="0"/>
              </a:p>
              <a:p>
                <a:pPr marL="0" indent="0" eaLnBrk="0">
                  <a:buNone/>
                </a:pPr>
                <a:r>
                  <a:rPr lang="en-US" altLang="zh-TW" sz="2400" b="1" dirty="0"/>
                  <a:t>Definition 7. </a:t>
                </a:r>
                <a:r>
                  <a:rPr lang="en-US" altLang="zh-TW" sz="2400" dirty="0"/>
                  <a:t>A point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/>
                      </a:rPr>
                      <m:t>𝑝</m:t>
                    </m:r>
                  </m:oMath>
                </a14:m>
                <a:r>
                  <a:rPr lang="en-US" altLang="zh-TW" sz="2400" dirty="0"/>
                  <a:t> in a set of points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/>
                      </a:rPr>
                      <m:t>𝐴</m:t>
                    </m:r>
                  </m:oMath>
                </a14:m>
                <a:r>
                  <a:rPr lang="en-US" altLang="zh-TW" sz="2400" dirty="0"/>
                  <a:t> is called a </a:t>
                </a:r>
                <a:r>
                  <a:rPr lang="en-US" altLang="zh-TW" sz="2400" dirty="0" smtClean="0"/>
                  <a:t>minimal element </a:t>
                </a:r>
                <a:r>
                  <a:rPr lang="en-US" altLang="zh-TW" sz="2400" dirty="0"/>
                  <a:t>of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/>
                      </a:rPr>
                      <m:t>𝐴</m:t>
                    </m:r>
                  </m:oMath>
                </a14:m>
                <a:r>
                  <a:rPr lang="en-US" altLang="zh-TW" sz="2400" dirty="0"/>
                  <a:t>, if for all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/>
                      </a:rPr>
                      <m:t>𝑞</m:t>
                    </m:r>
                    <m:r>
                      <a:rPr lang="en-US" altLang="zh-TW" sz="2400" i="1" dirty="0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altLang="zh-TW" sz="2400" b="0" i="1" dirty="0" smtClean="0">
                        <a:latin typeface="Cambria Math"/>
                        <a:ea typeface="Cambria Math"/>
                      </a:rPr>
                      <m:t>𝐴</m:t>
                    </m:r>
                    <m:r>
                      <a:rPr lang="en-US" altLang="zh-TW" sz="2400" b="0" i="1" dirty="0" smtClean="0">
                        <a:latin typeface="Cambria Math"/>
                        <a:ea typeface="Cambria Math"/>
                      </a:rPr>
                      <m:t>−</m:t>
                    </m:r>
                    <m:d>
                      <m:dPr>
                        <m:begChr m:val="{"/>
                        <m:endChr m:val="}"/>
                        <m:ctrlPr>
                          <a:rPr lang="en-US" altLang="zh-TW" sz="2400" b="0" i="1" dirty="0" smtClean="0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a:rPr lang="en-US" altLang="zh-TW" sz="2400" b="0" i="1" dirty="0" smtClean="0">
                            <a:latin typeface="Cambria Math"/>
                            <a:ea typeface="Cambria Math"/>
                          </a:rPr>
                          <m:t>𝑝</m:t>
                        </m:r>
                      </m:e>
                    </m:d>
                  </m:oMath>
                </a14:m>
                <a:r>
                  <a:rPr lang="en-US" altLang="zh-TW" sz="2400" dirty="0"/>
                  <a:t> :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/>
                      </a:rPr>
                      <m:t>𝑞</m:t>
                    </m:r>
                    <m:r>
                      <a:rPr lang="en-US" altLang="zh-TW" sz="2400" i="1" dirty="0" smtClean="0">
                        <a:latin typeface="Cambria Math"/>
                        <a:ea typeface="Cambria Math"/>
                      </a:rPr>
                      <m:t>≰</m:t>
                    </m:r>
                    <m:r>
                      <a:rPr lang="en-US" altLang="zh-TW" sz="2400" i="1" dirty="0" smtClean="0">
                        <a:latin typeface="Cambria Math"/>
                      </a:rPr>
                      <m:t>𝑝</m:t>
                    </m:r>
                  </m:oMath>
                </a14:m>
                <a:r>
                  <a:rPr lang="en-US" altLang="zh-TW" sz="2400" dirty="0"/>
                  <a:t>. If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TW" sz="2400" i="1" dirty="0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sz="2400" b="0" i="1" dirty="0" smtClean="0">
                            <a:latin typeface="Cambria Math"/>
                          </a:rPr>
                          <m:t>𝐴</m:t>
                        </m:r>
                      </m:e>
                    </m:d>
                    <m:r>
                      <a:rPr lang="en-US" altLang="zh-TW" sz="2400" b="0" i="1" dirty="0" smtClean="0">
                        <a:latin typeface="Cambria Math"/>
                      </a:rPr>
                      <m:t>=</m:t>
                    </m:r>
                    <m:r>
                      <a:rPr lang="en-US" altLang="zh-TW" sz="2400" i="1" dirty="0">
                        <a:latin typeface="Cambria Math"/>
                      </a:rPr>
                      <m:t>1</m:t>
                    </m:r>
                  </m:oMath>
                </a14:m>
                <a:r>
                  <a:rPr lang="en-US" altLang="zh-TW" sz="2400" dirty="0"/>
                  <a:t>, then </a:t>
                </a:r>
                <a:r>
                  <a:rPr lang="en-US" altLang="zh-TW" sz="2400" dirty="0" smtClean="0"/>
                  <a:t>its single </a:t>
                </a:r>
                <a:r>
                  <a:rPr lang="en-US" altLang="zh-TW" sz="2400" dirty="0"/>
                  <a:t>element is defined to be a minimal element of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/>
                      </a:rPr>
                      <m:t>𝐴</m:t>
                    </m:r>
                  </m:oMath>
                </a14:m>
                <a:r>
                  <a:rPr lang="en-US" altLang="zh-TW" sz="2400" dirty="0"/>
                  <a:t>. The </a:t>
                </a:r>
                <a:r>
                  <a:rPr lang="en-US" altLang="zh-TW" sz="2400" dirty="0" smtClean="0"/>
                  <a:t>set of </a:t>
                </a:r>
                <a:r>
                  <a:rPr lang="en-US" altLang="zh-TW" sz="2400" dirty="0"/>
                  <a:t>minimal elements is called the minima of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/>
                      </a:rPr>
                      <m:t>𝐴</m:t>
                    </m:r>
                  </m:oMath>
                </a14:m>
                <a:r>
                  <a:rPr lang="en-US" altLang="zh-TW" sz="2400" dirty="0" smtClean="0"/>
                  <a:t>.</a:t>
                </a:r>
                <a:endParaRPr lang="zh-TW" altLang="en-US" sz="2400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637112"/>
              </a:xfrm>
              <a:blipFill rotWithShape="1">
                <a:blip r:embed="rId2"/>
                <a:stretch>
                  <a:fillRect l="-4370" t="-1053" b="-27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2336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Quick-DP </a:t>
            </a:r>
            <a:r>
              <a:rPr lang="en-US" altLang="zh-TW" b="1" dirty="0" smtClean="0"/>
              <a:t>(2/4)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80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TW" sz="2800" b="0" i="1" smtClean="0">
                            <a:latin typeface="Cambria Math"/>
                          </a:rPr>
                          <m:t>𝐷</m:t>
                        </m:r>
                      </m:e>
                      <m:sup>
                        <m:d>
                          <m:dPr>
                            <m:ctrlPr>
                              <a:rPr lang="en-US" altLang="zh-TW" sz="2800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altLang="zh-TW" sz="2800" b="0" i="1" smtClean="0">
                                <a:latin typeface="Cambria Math"/>
                              </a:rPr>
                              <m:t>𝑘</m:t>
                            </m:r>
                            <m:r>
                              <a:rPr lang="en-US" altLang="zh-TW" sz="2800" b="0" i="1" smtClean="0">
                                <a:latin typeface="Cambria Math"/>
                              </a:rPr>
                              <m:t>+1</m:t>
                            </m:r>
                          </m:e>
                        </m:d>
                      </m:sup>
                    </m:sSup>
                    <m:r>
                      <a:rPr lang="en-US" altLang="zh-TW" sz="2800" b="0" i="1" smtClean="0">
                        <a:latin typeface="Cambria Math"/>
                      </a:rPr>
                      <m:t>=</m:t>
                    </m:r>
                    <m:r>
                      <a:rPr lang="en-US" altLang="zh-TW" sz="2800" b="0" i="1" smtClean="0">
                        <a:latin typeface="Cambria Math"/>
                      </a:rPr>
                      <m:t>𝑀𝑖𝑛𝑖𝑚𝑎</m:t>
                    </m:r>
                    <m:d>
                      <m:dPr>
                        <m:ctrlPr>
                          <a:rPr lang="en-US" altLang="zh-TW" sz="28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sz="2800" i="1" dirty="0">
                            <a:latin typeface="Cambria Math"/>
                          </a:rPr>
                          <m:t>𝑃𝑎𝑟</m:t>
                        </m:r>
                        <m:d>
                          <m:dPr>
                            <m:ctrlPr>
                              <a:rPr lang="en-US" altLang="zh-TW" sz="2800" i="1" dirty="0">
                                <a:latin typeface="Cambria Math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TW" sz="2800" i="1" dirty="0" smtClean="0">
                                    <a:latin typeface="Cambria Math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2800" b="0" i="1" dirty="0" smtClean="0">
                                    <a:latin typeface="Cambria Math"/>
                                  </a:rPr>
                                  <m:t>𝐷</m:t>
                                </m:r>
                              </m:e>
                              <m:sup>
                                <m:r>
                                  <a:rPr lang="en-US" altLang="zh-TW" sz="2800" b="0" i="1" dirty="0" smtClean="0">
                                    <a:latin typeface="Cambria Math"/>
                                  </a:rPr>
                                  <m:t>𝑘</m:t>
                                </m:r>
                              </m:sup>
                            </m:sSup>
                            <m:r>
                              <a:rPr lang="en-US" altLang="zh-TW" sz="2800" i="1" dirty="0">
                                <a:latin typeface="Cambria Math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l-GR" altLang="zh-TW" sz="2800" i="1">
                                <a:latin typeface="Cambria Math"/>
                                <a:ea typeface="Cambria Math"/>
                              </a:rPr>
                              <m:t>Σ</m:t>
                            </m:r>
                          </m:e>
                        </m:d>
                      </m:e>
                    </m:d>
                  </m:oMath>
                </a14:m>
                <a:r>
                  <a:rPr lang="en-US" altLang="zh-TW" sz="2800" dirty="0" smtClean="0"/>
                  <a:t>, </a:t>
                </a:r>
                <a14:m>
                  <m:oMath xmlns:m="http://schemas.openxmlformats.org/officeDocument/2006/math">
                    <m:r>
                      <a:rPr lang="en-US" altLang="zh-TW" sz="2800" b="0" i="1" dirty="0" smtClean="0">
                        <a:latin typeface="Cambria Math"/>
                      </a:rPr>
                      <m:t>0</m:t>
                    </m:r>
                    <m:r>
                      <a:rPr lang="en-US" altLang="zh-TW" sz="2800" b="0" i="1" dirty="0" smtClean="0">
                        <a:latin typeface="Cambria Math"/>
                        <a:ea typeface="Cambria Math"/>
                      </a:rPr>
                      <m:t>≤</m:t>
                    </m:r>
                    <m:r>
                      <a:rPr lang="en-US" altLang="zh-TW" sz="2800" b="0" i="1" dirty="0" smtClean="0">
                        <a:latin typeface="Cambria Math"/>
                        <a:ea typeface="Cambria Math"/>
                      </a:rPr>
                      <m:t>𝑘</m:t>
                    </m:r>
                    <m:r>
                      <a:rPr lang="en-US" altLang="zh-TW" sz="2800" b="0" i="1" dirty="0" smtClean="0">
                        <a:latin typeface="Cambria Math"/>
                        <a:ea typeface="Cambria Math"/>
                      </a:rPr>
                      <m:t>≤</m:t>
                    </m:r>
                    <m:d>
                      <m:dPr>
                        <m:begChr m:val="|"/>
                        <m:endChr m:val="|"/>
                        <m:ctrlPr>
                          <a:rPr lang="en-US" altLang="zh-TW" sz="2800" b="0" i="1" dirty="0" smtClean="0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a:rPr lang="en-US" altLang="zh-TW" sz="2800" b="0" i="1" dirty="0" smtClean="0">
                            <a:latin typeface="Cambria Math"/>
                            <a:ea typeface="Cambria Math"/>
                          </a:rPr>
                          <m:t>𝑀𝐿𝐶𝑆</m:t>
                        </m:r>
                      </m:e>
                    </m:d>
                    <m:r>
                      <a:rPr lang="en-US" altLang="zh-TW" sz="2800" b="0" i="1" dirty="0" smtClean="0">
                        <a:latin typeface="Cambria Math"/>
                        <a:ea typeface="Cambria Math"/>
                      </a:rPr>
                      <m:t>−1</m:t>
                    </m:r>
                  </m:oMath>
                </a14:m>
                <a:endParaRPr lang="en-US" altLang="zh-TW" sz="2800" dirty="0" smtClean="0"/>
              </a:p>
              <a:p>
                <a14:m>
                  <m:oMath xmlns:m="http://schemas.openxmlformats.org/officeDocument/2006/math">
                    <m:r>
                      <a:rPr lang="en-US" altLang="zh-TW" sz="2800" b="0" i="1" smtClean="0">
                        <a:latin typeface="Cambria Math"/>
                      </a:rPr>
                      <m:t>𝑀𝑖𝑛𝑖𝑚𝑎</m:t>
                    </m:r>
                    <m:r>
                      <a:rPr lang="en-US" altLang="zh-TW" sz="2800" b="0" i="1" smtClean="0">
                        <a:latin typeface="Cambria Math"/>
                      </a:rPr>
                      <m:t>()</m:t>
                    </m:r>
                  </m:oMath>
                </a14:m>
                <a:r>
                  <a:rPr lang="zh-TW" altLang="en-US" sz="2800" dirty="0" smtClean="0"/>
                  <a:t> </a:t>
                </a:r>
                <a:r>
                  <a:rPr lang="en-US" altLang="zh-TW" sz="2800" dirty="0"/>
                  <a:t>is an algorithm that returns the </a:t>
                </a:r>
                <a:r>
                  <a:rPr lang="en-US" altLang="zh-TW" sz="2800" dirty="0" smtClean="0"/>
                  <a:t>minima of a </a:t>
                </a:r>
                <a:r>
                  <a:rPr lang="en-US" altLang="zh-TW" sz="2800" dirty="0"/>
                  <a:t>set of points</a:t>
                </a:r>
                <a:r>
                  <a:rPr lang="en-US" altLang="zh-TW" sz="2800" dirty="0" smtClean="0"/>
                  <a:t>.</a:t>
                </a:r>
              </a:p>
              <a:p>
                <a:endParaRPr lang="en-US" altLang="zh-TW" sz="2800" dirty="0"/>
              </a:p>
              <a:p>
                <a14:m>
                  <m:oMath xmlns:m="http://schemas.openxmlformats.org/officeDocument/2006/math">
                    <m:r>
                      <a:rPr lang="en-US" altLang="zh-TW" sz="2800" i="1">
                        <a:latin typeface="Cambria Math"/>
                      </a:rPr>
                      <m:t>𝑀𝑖𝑛𝑖𝑚𝑎</m:t>
                    </m:r>
                    <m:d>
                      <m:dPr>
                        <m:ctrlPr>
                          <a:rPr lang="en-US" altLang="zh-TW" sz="28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sz="2800" i="1" dirty="0">
                            <a:latin typeface="Cambria Math"/>
                          </a:rPr>
                          <m:t>𝑃𝑎𝑟</m:t>
                        </m:r>
                        <m:d>
                          <m:dPr>
                            <m:ctrlPr>
                              <a:rPr lang="en-US" altLang="zh-TW" sz="2800" i="1" dirty="0">
                                <a:latin typeface="Cambria Math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TW" sz="2800" i="1" dirty="0">
                                    <a:latin typeface="Cambria Math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2800" i="1" dirty="0">
                                    <a:latin typeface="Cambria Math"/>
                                  </a:rPr>
                                  <m:t>𝐷</m:t>
                                </m:r>
                              </m:e>
                              <m:sup>
                                <m:r>
                                  <a:rPr lang="en-US" altLang="zh-TW" sz="2800" i="1" dirty="0">
                                    <a:latin typeface="Cambria Math"/>
                                  </a:rPr>
                                  <m:t>𝑘</m:t>
                                </m:r>
                              </m:sup>
                            </m:sSup>
                            <m:r>
                              <a:rPr lang="en-US" altLang="zh-TW" sz="2800" i="1" dirty="0">
                                <a:latin typeface="Cambria Math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l-GR" altLang="zh-TW" sz="2800" i="1">
                                <a:latin typeface="Cambria Math"/>
                                <a:ea typeface="Cambria Math"/>
                              </a:rPr>
                              <m:t>Σ</m:t>
                            </m:r>
                          </m:e>
                        </m:d>
                      </m:e>
                    </m:d>
                    <m:r>
                      <a:rPr lang="en-US" altLang="zh-TW" sz="2800" b="0" i="1" smtClean="0">
                        <a:latin typeface="Cambria Math"/>
                        <a:ea typeface="Cambria Math"/>
                      </a:rPr>
                      <m:t>=</m:t>
                    </m:r>
                    <m:nary>
                      <m:naryPr>
                        <m:chr m:val="⋃"/>
                        <m:limLoc m:val="subSup"/>
                        <m:supHide m:val="on"/>
                        <m:ctrlPr>
                          <a:rPr lang="en-US" altLang="zh-TW" sz="2800" b="0" i="1" smtClean="0">
                            <a:latin typeface="Cambria Math"/>
                            <a:ea typeface="Cambria Math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altLang="zh-TW" sz="2800" b="0" i="1" smtClean="0">
                            <a:latin typeface="Cambria Math"/>
                            <a:ea typeface="Cambria Math"/>
                          </a:rPr>
                          <m:t>𝑠</m:t>
                        </m:r>
                        <m:r>
                          <a:rPr lang="en-US" altLang="zh-TW" sz="2800" b="0" i="1" smtClean="0">
                            <a:latin typeface="Cambria Math"/>
                            <a:ea typeface="Cambria Math"/>
                          </a:rPr>
                          <m:t>∈</m:t>
                        </m:r>
                        <m:r>
                          <m:rPr>
                            <m:sty m:val="p"/>
                          </m:rPr>
                          <a:rPr lang="el-GR" altLang="zh-TW" sz="2800" b="0" i="1" smtClean="0">
                            <a:latin typeface="Cambria Math"/>
                            <a:ea typeface="Cambria Math"/>
                          </a:rPr>
                          <m:t>Σ</m:t>
                        </m:r>
                      </m:sub>
                      <m:sup/>
                      <m:e>
                        <m:r>
                          <a:rPr lang="en-US" altLang="zh-TW" sz="2800" b="0" i="1" smtClean="0">
                            <a:latin typeface="Cambria Math"/>
                            <a:ea typeface="Cambria Math"/>
                          </a:rPr>
                          <m:t>𝑀𝑖𝑛𝑖𝑚𝑎</m:t>
                        </m:r>
                        <m:d>
                          <m:dPr>
                            <m:ctrlPr>
                              <a:rPr lang="en-US" altLang="zh-TW" sz="2800" b="0" i="1" smtClean="0">
                                <a:latin typeface="Cambria Math"/>
                                <a:ea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2800" b="0" i="1" smtClean="0">
                                    <a:latin typeface="Cambria Math"/>
                                    <a:ea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800" b="0" i="1" smtClean="0">
                                    <a:latin typeface="Cambria Math"/>
                                    <a:ea typeface="Cambria Math"/>
                                  </a:rPr>
                                  <m:t>𝑃𝑎𝑟</m:t>
                                </m:r>
                              </m:e>
                              <m:sub>
                                <m:r>
                                  <a:rPr lang="en-US" altLang="zh-TW" sz="2800" b="0" i="1" smtClean="0">
                                    <a:latin typeface="Cambria Math"/>
                                    <a:ea typeface="Cambria Math"/>
                                  </a:rPr>
                                  <m:t>𝑠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lang="en-US" altLang="zh-TW" sz="2800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800" b="0" i="1" smtClean="0">
                            <a:latin typeface="Cambria Math"/>
                          </a:rPr>
                          <m:t>𝑃𝑎𝑟</m:t>
                        </m:r>
                      </m:e>
                      <m:sub>
                        <m:r>
                          <a:rPr lang="en-US" altLang="zh-TW" sz="2800" b="0" i="1" smtClean="0">
                            <a:latin typeface="Cambria Math"/>
                          </a:rPr>
                          <m:t>𝑠</m:t>
                        </m:r>
                      </m:sub>
                    </m:sSub>
                    <m:r>
                      <a:rPr lang="en-US" altLang="zh-TW" sz="2800" b="0" i="1" smtClean="0">
                        <a:latin typeface="Cambria Math"/>
                      </a:rPr>
                      <m:t>={</m:t>
                    </m:r>
                    <m:r>
                      <a:rPr lang="en-US" altLang="zh-TW" sz="2800" b="0" i="1" smtClean="0">
                        <a:latin typeface="Cambria Math"/>
                      </a:rPr>
                      <m:t>𝑞</m:t>
                    </m:r>
                    <m:r>
                      <a:rPr lang="en-US" altLang="zh-TW" sz="2800" b="0" i="1" smtClean="0">
                        <a:latin typeface="Cambria Math"/>
                      </a:rPr>
                      <m:t>(</m:t>
                    </m:r>
                    <m:r>
                      <a:rPr lang="en-US" altLang="zh-TW" sz="2800" b="0" i="1" smtClean="0">
                        <a:latin typeface="Cambria Math"/>
                      </a:rPr>
                      <m:t>𝑠</m:t>
                    </m:r>
                    <m:r>
                      <a:rPr lang="en-US" altLang="zh-TW" sz="2800" b="0" i="1" smtClean="0">
                        <a:latin typeface="Cambria Math"/>
                      </a:rPr>
                      <m:t>)│</m:t>
                    </m:r>
                    <m:r>
                      <a:rPr lang="en-US" altLang="zh-TW" sz="2800" i="1">
                        <a:latin typeface="Cambria Math"/>
                      </a:rPr>
                      <m:t>𝑞</m:t>
                    </m:r>
                    <m:d>
                      <m:dPr>
                        <m:ctrlPr>
                          <a:rPr lang="en-US" altLang="zh-TW" sz="28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sz="2800" i="1">
                            <a:latin typeface="Cambria Math"/>
                          </a:rPr>
                          <m:t>𝑠</m:t>
                        </m:r>
                      </m:e>
                    </m:d>
                    <m:r>
                      <a:rPr lang="en-US" altLang="zh-TW" sz="2800" i="1">
                        <a:latin typeface="Cambria Math"/>
                        <a:ea typeface="Cambria Math"/>
                      </a:rPr>
                      <m:t>∈</m:t>
                    </m:r>
                    <m:r>
                      <m:rPr>
                        <m:brk m:alnAt="9"/>
                      </m:rPr>
                      <a:rPr lang="en-US" altLang="zh-TW" sz="2800" b="0" i="1" smtClean="0">
                        <a:latin typeface="Cambria Math"/>
                        <a:ea typeface="Cambria Math"/>
                      </a:rPr>
                      <m:t>𝑀</m:t>
                    </m:r>
                    <m:r>
                      <a:rPr lang="en-US" altLang="zh-TW" sz="2800" b="0" i="1" smtClean="0">
                        <a:latin typeface="Cambria Math"/>
                        <a:ea typeface="Cambria Math"/>
                      </a:rPr>
                      <m:t>𝑖𝑛𝑖𝑚𝑎</m:t>
                    </m:r>
                    <m:d>
                      <m:dPr>
                        <m:ctrlPr>
                          <a:rPr lang="en-US" altLang="zh-TW" sz="2800" b="0" i="1" smtClean="0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a:rPr lang="en-US" altLang="zh-TW" sz="2800" b="0" i="1" smtClean="0">
                            <a:latin typeface="Cambria Math"/>
                            <a:ea typeface="Cambria Math"/>
                          </a:rPr>
                          <m:t>𝑃𝑎𝑟</m:t>
                        </m:r>
                        <m:d>
                          <m:dPr>
                            <m:ctrlPr>
                              <a:rPr lang="en-US" altLang="zh-TW" sz="2800" b="0" i="1" smtClean="0">
                                <a:latin typeface="Cambria Math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en-US" altLang="zh-TW" sz="2800" b="0" i="1" smtClean="0">
                                <a:latin typeface="Cambria Math"/>
                                <a:ea typeface="Cambria Math"/>
                              </a:rPr>
                              <m:t>𝑞</m:t>
                            </m:r>
                            <m:r>
                              <a:rPr lang="en-US" altLang="zh-TW" sz="2800" b="0" i="1" smtClean="0">
                                <a:latin typeface="Cambria Math"/>
                                <a:ea typeface="Cambria Math"/>
                              </a:rPr>
                              <m:t>, </m:t>
                            </m:r>
                            <m:r>
                              <m:rPr>
                                <m:sty m:val="p"/>
                              </m:rPr>
                              <a:rPr lang="el-GR" altLang="zh-TW" sz="2800" b="0" i="1" smtClean="0">
                                <a:latin typeface="Cambria Math"/>
                                <a:ea typeface="Cambria Math"/>
                              </a:rPr>
                              <m:t>Σ</m:t>
                            </m:r>
                          </m:e>
                        </m:d>
                      </m:e>
                    </m:d>
                    <m:r>
                      <a:rPr lang="en-US" altLang="zh-TW" sz="2800" b="0" i="1" smtClean="0">
                        <a:latin typeface="Cambria Math"/>
                        <a:ea typeface="Cambria Math"/>
                      </a:rPr>
                      <m:t>, </m:t>
                    </m:r>
                    <m:r>
                      <m:rPr>
                        <m:brk m:alnAt="9"/>
                      </m:rPr>
                      <a:rPr lang="en-US" altLang="zh-TW" sz="2800" b="0" i="1" smtClean="0">
                        <a:latin typeface="Cambria Math"/>
                        <a:ea typeface="Cambria Math"/>
                      </a:rPr>
                      <m:t>𝑞</m:t>
                    </m:r>
                    <m:r>
                      <a:rPr lang="en-US" altLang="zh-TW" sz="2800" i="1">
                        <a:latin typeface="Cambria Math"/>
                        <a:ea typeface="Cambria Math"/>
                      </a:rPr>
                      <m:t>∈</m:t>
                    </m:r>
                    <m:sSup>
                      <m:sSupPr>
                        <m:ctrlPr>
                          <a:rPr lang="en-US" altLang="zh-TW" sz="2800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US" altLang="zh-TW" sz="2800" b="0" i="1" smtClean="0">
                            <a:latin typeface="Cambria Math"/>
                            <a:ea typeface="Cambria Math"/>
                          </a:rPr>
                          <m:t>𝐷</m:t>
                        </m:r>
                      </m:e>
                      <m:sup>
                        <m:r>
                          <a:rPr lang="en-US" altLang="zh-TW" sz="2800" b="0" i="1" smtClean="0">
                            <a:latin typeface="Cambria Math"/>
                            <a:ea typeface="Cambria Math"/>
                          </a:rPr>
                          <m:t>𝑘</m:t>
                        </m:r>
                      </m:sup>
                    </m:sSup>
                    <m:r>
                      <a:rPr lang="en-US" altLang="zh-TW" sz="2800" b="0" i="1" smtClean="0">
                        <a:latin typeface="Cambria Math"/>
                        <a:ea typeface="Cambria Math"/>
                      </a:rPr>
                      <m:t> }</m:t>
                    </m:r>
                    <m:r>
                      <a:rPr lang="en-US" altLang="zh-TW" sz="2800" b="0" i="1" smtClean="0">
                        <a:latin typeface="Cambria Math"/>
                      </a:rPr>
                      <m:t>, </m:t>
                    </m:r>
                    <m:r>
                      <a:rPr lang="en-US" altLang="zh-TW" sz="2800" b="0" i="1" smtClean="0">
                        <a:latin typeface="Cambria Math"/>
                      </a:rPr>
                      <m:t>𝑠</m:t>
                    </m:r>
                    <m:r>
                      <a:rPr lang="en-US" altLang="zh-TW" sz="28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m:rPr>
                        <m:sty m:val="p"/>
                      </m:rPr>
                      <a:rPr lang="el-GR" altLang="zh-TW" sz="2800" i="1">
                        <a:latin typeface="Cambria Math"/>
                        <a:ea typeface="Cambria Math"/>
                      </a:rPr>
                      <m:t>Σ</m:t>
                    </m:r>
                  </m:oMath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r="-2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39072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Quick-DP </a:t>
            </a:r>
            <a:r>
              <a:rPr lang="en-US" altLang="zh-TW" b="1" dirty="0" smtClean="0"/>
              <a:t>(3/4)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9</a:t>
            </a:fld>
            <a:endParaRPr lang="zh-TW" altLang="en-US"/>
          </a:p>
        </p:txBody>
      </p:sp>
      <p:grpSp>
        <p:nvGrpSpPr>
          <p:cNvPr id="7" name="群組 6"/>
          <p:cNvGrpSpPr/>
          <p:nvPr/>
        </p:nvGrpSpPr>
        <p:grpSpPr>
          <a:xfrm>
            <a:off x="1691680" y="1402438"/>
            <a:ext cx="6082076" cy="5194914"/>
            <a:chOff x="1691680" y="1402438"/>
            <a:chExt cx="6082076" cy="5194914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26" t="27130" r="51613" b="14601"/>
            <a:stretch/>
          </p:blipFill>
          <p:spPr bwMode="auto">
            <a:xfrm>
              <a:off x="1691680" y="1402438"/>
              <a:ext cx="6082076" cy="51949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矩形 5"/>
            <p:cNvSpPr/>
            <p:nvPr/>
          </p:nvSpPr>
          <p:spPr>
            <a:xfrm>
              <a:off x="2843808" y="2996952"/>
              <a:ext cx="4608512" cy="79208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934045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 Quick-DP (4/4)</a:t>
            </a:r>
            <a:endParaRPr lang="zh-TW" altLang="en-US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997152"/>
              </a:xfrm>
            </p:spPr>
            <p:txBody>
              <a:bodyPr>
                <a:noAutofit/>
              </a:bodyPr>
              <a:lstStyle/>
              <a:p>
                <a:r>
                  <a:rPr lang="en-US" altLang="zh-TW" sz="2800" dirty="0" smtClean="0"/>
                  <a:t>Preprocessing step: </a:t>
                </a:r>
                <a14:m>
                  <m:oMath xmlns:m="http://schemas.openxmlformats.org/officeDocument/2006/math">
                    <m:r>
                      <a:rPr lang="en-US" altLang="zh-TW" sz="2800" b="1" i="0" smtClean="0">
                        <a:latin typeface="Cambria Math"/>
                      </a:rPr>
                      <m:t>𝐓</m:t>
                    </m:r>
                    <m:r>
                      <a:rPr lang="en-US" altLang="zh-TW" sz="2800" b="0" i="1" smtClean="0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TW" sz="28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sz="2800" b="0" i="1" smtClean="0">
                            <a:latin typeface="Cambria Math"/>
                          </a:rPr>
                          <m:t>𝑇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sz="2800" b="0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altLang="zh-TW" sz="2800" b="0" i="1" smtClean="0">
                                <a:latin typeface="Cambria Math"/>
                              </a:rPr>
                              <m:t>𝑠</m:t>
                            </m:r>
                            <m:r>
                              <a:rPr lang="en-US" altLang="zh-TW" sz="2800" b="0" i="1" smtClean="0">
                                <a:latin typeface="Cambria Math"/>
                              </a:rPr>
                              <m:t>, </m:t>
                            </m:r>
                            <m:r>
                              <a:rPr lang="en-US" altLang="zh-TW" sz="2800" b="0" i="1" smtClean="0">
                                <a:latin typeface="Cambria Math"/>
                              </a:rPr>
                              <m:t>𝑗</m:t>
                            </m:r>
                            <m:r>
                              <a:rPr lang="en-US" altLang="zh-TW" sz="2800" b="0" i="1" smtClean="0">
                                <a:latin typeface="Cambria Math"/>
                              </a:rPr>
                              <m:t>, </m:t>
                            </m:r>
                            <m:r>
                              <a:rPr lang="en-US" altLang="zh-TW" sz="2800" b="0" i="1" smtClean="0">
                                <a:latin typeface="Cambria Math"/>
                              </a:rPr>
                              <m:t>𝑖</m:t>
                            </m:r>
                          </m:e>
                        </m:d>
                      </m:e>
                    </m:d>
                    <m:r>
                      <a:rPr lang="en-US" altLang="zh-TW" sz="2800" b="0" i="1" smtClean="0">
                        <a:latin typeface="Cambria Math"/>
                      </a:rPr>
                      <m:t>, </m:t>
                    </m:r>
                    <m:r>
                      <a:rPr lang="en-US" altLang="zh-TW" sz="2800" b="0" i="1" smtClean="0">
                        <a:latin typeface="Cambria Math"/>
                      </a:rPr>
                      <m:t>𝑠</m:t>
                    </m:r>
                    <m:r>
                      <a:rPr lang="en-US" altLang="zh-TW" sz="28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m:rPr>
                        <m:sty m:val="p"/>
                      </m:rPr>
                      <a:rPr lang="el-GR" altLang="zh-TW" sz="2800" i="1">
                        <a:latin typeface="Cambria Math"/>
                        <a:ea typeface="Cambria Math"/>
                      </a:rPr>
                      <m:t>Σ</m:t>
                    </m:r>
                    <m:r>
                      <a:rPr lang="en-US" altLang="zh-TW" sz="2800" b="0" i="1" smtClean="0">
                        <a:latin typeface="Cambria Math"/>
                        <a:ea typeface="Cambria Math"/>
                      </a:rPr>
                      <m:t>, 0≤</m:t>
                    </m:r>
                    <m:r>
                      <a:rPr lang="en-US" altLang="zh-TW" sz="2800" b="0" i="1" smtClean="0">
                        <a:latin typeface="Cambria Math"/>
                        <a:ea typeface="Cambria Math"/>
                      </a:rPr>
                      <m:t>𝑗</m:t>
                    </m:r>
                    <m:r>
                      <a:rPr lang="en-US" altLang="zh-TW" sz="2800" b="0" i="1" smtClean="0">
                        <a:latin typeface="Cambria Math"/>
                        <a:ea typeface="Cambria Math"/>
                      </a:rPr>
                      <m:t>≤</m:t>
                    </m:r>
                    <m:func>
                      <m:funcPr>
                        <m:ctrlPr>
                          <a:rPr lang="en-US" altLang="zh-TW" sz="2800" b="0" i="1" smtClean="0">
                            <a:latin typeface="Cambria Math"/>
                            <a:ea typeface="Cambria Math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TW" sz="2800" b="0" i="1" smtClean="0">
                                <a:latin typeface="Cambria Math"/>
                                <a:ea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TW" sz="2800" b="0" i="0" smtClean="0">
                                <a:latin typeface="Cambria Math"/>
                                <a:ea typeface="Cambria Math"/>
                              </a:rPr>
                              <m:t>max</m:t>
                            </m:r>
                          </m:e>
                          <m:lim>
                            <m:r>
                              <a:rPr lang="en-US" altLang="zh-TW" sz="2800" b="0" i="1" smtClean="0">
                                <a:latin typeface="Cambria Math"/>
                                <a:ea typeface="Cambria Math"/>
                              </a:rPr>
                              <m:t>1≤</m:t>
                            </m:r>
                            <m:r>
                              <a:rPr lang="en-US" altLang="zh-TW" sz="2800" b="0" i="1" smtClean="0">
                                <a:latin typeface="Cambria Math"/>
                                <a:ea typeface="Cambria Math"/>
                              </a:rPr>
                              <m:t>𝑘</m:t>
                            </m:r>
                            <m:r>
                              <a:rPr lang="en-US" altLang="zh-TW" sz="2800" b="0" i="1" smtClean="0">
                                <a:latin typeface="Cambria Math"/>
                                <a:ea typeface="Cambria Math"/>
                              </a:rPr>
                              <m:t>≤</m:t>
                            </m:r>
                            <m:r>
                              <a:rPr lang="en-US" altLang="zh-TW" sz="2800" b="0" i="1" smtClean="0">
                                <a:latin typeface="Cambria Math"/>
                                <a:ea typeface="Cambria Math"/>
                              </a:rPr>
                              <m:t>𝑑</m:t>
                            </m:r>
                          </m:lim>
                        </m:limLow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zh-TW" sz="2800" b="0" i="1" smtClean="0">
                                <a:latin typeface="Cambria Math"/>
                                <a:ea typeface="Cambria Math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2800" b="0" i="1" smtClean="0">
                                    <a:latin typeface="Cambria Math"/>
                                    <a:ea typeface="Cambria Math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sz="2800" b="0" i="1" smtClean="0">
                                        <a:latin typeface="Cambria Math"/>
                                        <a:ea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i="1" smtClean="0">
                                        <a:latin typeface="Cambria Math"/>
                                        <a:ea typeface="Cambria Math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sz="2800" b="0" i="1" smtClean="0">
                                        <a:latin typeface="Cambria Math"/>
                                        <a:ea typeface="Cambria Math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</m:func>
                    <m:r>
                      <a:rPr lang="en-US" altLang="zh-TW" sz="2800" b="0" i="1" smtClean="0">
                        <a:latin typeface="Cambria Math"/>
                        <a:ea typeface="Cambria Math"/>
                      </a:rPr>
                      <m:t>, 1≤</m:t>
                    </m:r>
                    <m:r>
                      <a:rPr lang="en-US" altLang="zh-TW" sz="2800" b="0" i="1" smtClean="0">
                        <a:latin typeface="Cambria Math"/>
                        <a:ea typeface="Cambria Math"/>
                      </a:rPr>
                      <m:t>𝑖</m:t>
                    </m:r>
                    <m:r>
                      <a:rPr lang="en-US" altLang="zh-TW" sz="2800" b="0" i="1" smtClean="0">
                        <a:latin typeface="Cambria Math"/>
                        <a:ea typeface="Cambria Math"/>
                      </a:rPr>
                      <m:t>≤</m:t>
                    </m:r>
                    <m:r>
                      <a:rPr lang="en-US" altLang="zh-TW" sz="2800" b="0" i="1" smtClean="0">
                        <a:latin typeface="Cambria Math"/>
                        <a:ea typeface="Cambria Math"/>
                      </a:rPr>
                      <m:t>𝑑</m:t>
                    </m:r>
                  </m:oMath>
                </a14:m>
                <a:endParaRPr lang="en-US" altLang="zh-TW" sz="2800" dirty="0" smtClean="0"/>
              </a:p>
              <a:p>
                <a14:m>
                  <m:oMath xmlns:m="http://schemas.openxmlformats.org/officeDocument/2006/math">
                    <m:r>
                      <a:rPr lang="en-US" altLang="zh-TW" sz="2800" i="1">
                        <a:latin typeface="Cambria Math"/>
                      </a:rPr>
                      <m:t>𝑇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8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sz="2800" i="1">
                            <a:latin typeface="Cambria Math"/>
                          </a:rPr>
                          <m:t>𝑠</m:t>
                        </m:r>
                        <m:r>
                          <a:rPr lang="en-US" altLang="zh-TW" sz="2800" i="1">
                            <a:latin typeface="Cambria Math"/>
                          </a:rPr>
                          <m:t>, </m:t>
                        </m:r>
                        <m:r>
                          <a:rPr lang="en-US" altLang="zh-TW" sz="2800" i="1">
                            <a:latin typeface="Cambria Math"/>
                          </a:rPr>
                          <m:t>𝑗</m:t>
                        </m:r>
                        <m:r>
                          <a:rPr lang="en-US" altLang="zh-TW" sz="2800" i="1">
                            <a:latin typeface="Cambria Math"/>
                          </a:rPr>
                          <m:t>, </m:t>
                        </m:r>
                        <m:r>
                          <a:rPr lang="en-US" altLang="zh-TW" sz="2800" i="1">
                            <a:latin typeface="Cambria Math"/>
                          </a:rPr>
                          <m:t>𝑖</m:t>
                        </m:r>
                      </m:e>
                    </m:d>
                    <m:r>
                      <a:rPr lang="en-US" altLang="zh-TW" sz="2800" b="0" i="1" smtClean="0">
                        <a:latin typeface="Cambria Math"/>
                      </a:rPr>
                      <m:t>=</m:t>
                    </m:r>
                  </m:oMath>
                </a14:m>
                <a:r>
                  <a:rPr lang="zh-TW" altLang="en-US" sz="2800" dirty="0" smtClean="0"/>
                  <a:t> </a:t>
                </a:r>
                <a:r>
                  <a:rPr lang="en-US" altLang="zh-TW" sz="2800" dirty="0"/>
                  <a:t>the position of the first </a:t>
                </a:r>
                <a:r>
                  <a:rPr lang="en-US" altLang="zh-TW" sz="2800" dirty="0" smtClean="0"/>
                  <a:t>occurrence of </a:t>
                </a:r>
                <a:r>
                  <a:rPr lang="en-US" altLang="zh-TW" sz="2800" dirty="0"/>
                  <a:t>character </a:t>
                </a:r>
                <a14:m>
                  <m:oMath xmlns:m="http://schemas.openxmlformats.org/officeDocument/2006/math">
                    <m:r>
                      <a:rPr lang="en-US" altLang="zh-TW" sz="2800" i="1" dirty="0" smtClean="0">
                        <a:latin typeface="Cambria Math"/>
                      </a:rPr>
                      <m:t>𝑠</m:t>
                    </m:r>
                  </m:oMath>
                </a14:m>
                <a:r>
                  <a:rPr lang="en-US" altLang="zh-TW" sz="2800" dirty="0"/>
                  <a:t> in the </a:t>
                </a:r>
                <a14:m>
                  <m:oMath xmlns:m="http://schemas.openxmlformats.org/officeDocument/2006/math">
                    <m:r>
                      <a:rPr lang="en-US" altLang="zh-TW" sz="2800" i="1" dirty="0" smtClean="0">
                        <a:latin typeface="Cambria Math"/>
                      </a:rPr>
                      <m:t>𝑖</m:t>
                    </m:r>
                  </m:oMath>
                </a14:m>
                <a:r>
                  <a:rPr lang="en-US" altLang="zh-TW" sz="2800" dirty="0"/>
                  <a:t>th sequence, starting from the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280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sz="2800" b="0" i="1" smtClean="0">
                            <a:latin typeface="Cambria Math"/>
                          </a:rPr>
                          <m:t>𝑗</m:t>
                        </m:r>
                        <m:r>
                          <a:rPr lang="en-US" altLang="zh-TW" sz="2800" b="0" i="1" smtClean="0">
                            <a:latin typeface="Cambria Math"/>
                          </a:rPr>
                          <m:t>+1</m:t>
                        </m:r>
                      </m:e>
                    </m:d>
                  </m:oMath>
                </a14:m>
                <a:r>
                  <a:rPr lang="en-US" altLang="zh-TW" sz="2800" dirty="0" smtClean="0"/>
                  <a:t>st position </a:t>
                </a:r>
                <a:r>
                  <a:rPr lang="en-US" altLang="zh-TW" sz="2800" dirty="0"/>
                  <a:t>in that </a:t>
                </a:r>
                <a:r>
                  <a:rPr lang="en-US" altLang="zh-TW" sz="2800" dirty="0" smtClean="0"/>
                  <a:t>sequence.</a:t>
                </a:r>
              </a:p>
              <a:p>
                <a14:m>
                  <m:oMath xmlns:m="http://schemas.openxmlformats.org/officeDocument/2006/math">
                    <m:r>
                      <a:rPr lang="en-US" altLang="zh-TW" sz="2800" i="1" smtClean="0">
                        <a:latin typeface="Cambria Math"/>
                      </a:rPr>
                      <m:t>𝑇</m:t>
                    </m:r>
                    <m:r>
                      <a:rPr lang="en-US" altLang="zh-TW" sz="2800" i="1">
                        <a:latin typeface="Cambria Math"/>
                      </a:rPr>
                      <m:t>[</m:t>
                    </m:r>
                    <m:r>
                      <a:rPr lang="en-US" altLang="zh-TW" sz="2800" i="1">
                        <a:latin typeface="Cambria Math"/>
                      </a:rPr>
                      <m:t>𝑠</m:t>
                    </m:r>
                    <m:r>
                      <a:rPr lang="en-US" altLang="zh-TW" sz="2800" i="1">
                        <a:latin typeface="Cambria Math"/>
                      </a:rPr>
                      <m:t>, </m:t>
                    </m:r>
                    <m:r>
                      <a:rPr lang="en-US" altLang="zh-TW" sz="2800" i="1">
                        <a:latin typeface="Cambria Math"/>
                      </a:rPr>
                      <m:t>𝑗</m:t>
                    </m:r>
                    <m:r>
                      <a:rPr lang="en-US" altLang="zh-TW" sz="2800" i="1">
                        <a:latin typeface="Cambria Math"/>
                      </a:rPr>
                      <m:t>, </m:t>
                    </m:r>
                    <m:r>
                      <a:rPr lang="en-US" altLang="zh-TW" sz="2800" i="1">
                        <a:latin typeface="Cambria Math"/>
                      </a:rPr>
                      <m:t>𝑖</m:t>
                    </m:r>
                    <m:r>
                      <a:rPr lang="en-US" altLang="zh-TW" sz="2800" i="1">
                        <a:latin typeface="Cambria Math"/>
                      </a:rPr>
                      <m:t>]=1+</m:t>
                    </m:r>
                    <m:func>
                      <m:funcPr>
                        <m:ctrlPr>
                          <a:rPr lang="en-US" altLang="zh-TW" sz="2800" b="0" i="1" smtClean="0">
                            <a:latin typeface="Cambria Math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TW" sz="2800" b="0" i="1" smtClean="0">
                                <a:latin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TW" sz="2800" b="0" i="0" smtClean="0">
                                <a:latin typeface="Cambria Math"/>
                              </a:rPr>
                              <m:t>max</m:t>
                            </m:r>
                          </m:e>
                          <m:lim>
                            <m:r>
                              <a:rPr lang="en-US" altLang="zh-TW" sz="2800" i="1">
                                <a:latin typeface="Cambria Math"/>
                                <a:ea typeface="Cambria Math"/>
                              </a:rPr>
                              <m:t>1≤</m:t>
                            </m:r>
                            <m:r>
                              <a:rPr lang="en-US" altLang="zh-TW" sz="2800" i="1">
                                <a:latin typeface="Cambria Math"/>
                                <a:ea typeface="Cambria Math"/>
                              </a:rPr>
                              <m:t>𝑘</m:t>
                            </m:r>
                            <m:r>
                              <a:rPr lang="en-US" altLang="zh-TW" sz="2800" i="1">
                                <a:latin typeface="Cambria Math"/>
                                <a:ea typeface="Cambria Math"/>
                              </a:rPr>
                              <m:t>≤</m:t>
                            </m:r>
                            <m:r>
                              <a:rPr lang="en-US" altLang="zh-TW" sz="2800" i="1">
                                <a:latin typeface="Cambria Math"/>
                                <a:ea typeface="Cambria Math"/>
                              </a:rPr>
                              <m:t>𝑑</m:t>
                            </m:r>
                          </m:lim>
                        </m:limLow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zh-TW" sz="2800" b="0" i="1" smtClean="0">
                                <a:latin typeface="Cambria Math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2800" b="0" i="1" smtClean="0">
                                    <a:latin typeface="Cambria Math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sz="2800" b="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i="1" smtClean="0">
                                        <a:latin typeface="Cambria Math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sz="2800" b="0" i="1" smtClean="0">
                                        <a:latin typeface="Cambria Math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</m:func>
                  </m:oMath>
                </a14:m>
                <a:r>
                  <a:rPr lang="en-US" altLang="zh-TW" sz="2800" dirty="0" smtClean="0"/>
                  <a:t> , </a:t>
                </a:r>
                <a:r>
                  <a:rPr lang="en-US" altLang="zh-TW" sz="2800" dirty="0"/>
                  <a:t>if </a:t>
                </a:r>
                <a14:m>
                  <m:oMath xmlns:m="http://schemas.openxmlformats.org/officeDocument/2006/math">
                    <m:r>
                      <a:rPr lang="en-US" altLang="zh-TW" sz="2800" i="1" dirty="0" smtClean="0">
                        <a:latin typeface="Cambria Math"/>
                      </a:rPr>
                      <m:t>𝑠</m:t>
                    </m:r>
                  </m:oMath>
                </a14:m>
                <a:r>
                  <a:rPr lang="en-US" altLang="zh-TW" sz="2800" dirty="0"/>
                  <a:t> does not occur any more </a:t>
                </a:r>
                <a:r>
                  <a:rPr lang="en-US" altLang="zh-TW" sz="2800" dirty="0" smtClean="0"/>
                  <a:t>in the </a:t>
                </a:r>
                <a14:m>
                  <m:oMath xmlns:m="http://schemas.openxmlformats.org/officeDocument/2006/math">
                    <m:r>
                      <a:rPr lang="en-US" altLang="zh-TW" sz="2800" i="1" dirty="0" smtClean="0">
                        <a:latin typeface="Cambria Math"/>
                      </a:rPr>
                      <m:t>𝑖</m:t>
                    </m:r>
                  </m:oMath>
                </a14:m>
                <a:r>
                  <a:rPr lang="en-US" altLang="zh-TW" sz="2800" dirty="0" err="1"/>
                  <a:t>th</a:t>
                </a:r>
                <a:r>
                  <a:rPr lang="en-US" altLang="zh-TW" sz="2800" dirty="0"/>
                  <a:t> </a:t>
                </a:r>
                <a:r>
                  <a:rPr lang="en-US" altLang="zh-TW" sz="2800" dirty="0" smtClean="0"/>
                  <a:t>sequence.</a:t>
                </a:r>
              </a:p>
              <a:p>
                <a:r>
                  <a:rPr lang="en-US" altLang="zh-TW" sz="2800" dirty="0"/>
                  <a:t>With the matrix </a:t>
                </a:r>
                <a14:m>
                  <m:oMath xmlns:m="http://schemas.openxmlformats.org/officeDocument/2006/math">
                    <m:r>
                      <a:rPr lang="en-US" altLang="zh-TW" sz="2800" b="1">
                        <a:latin typeface="Cambria Math"/>
                      </a:rPr>
                      <m:t>𝐓</m:t>
                    </m:r>
                  </m:oMath>
                </a14:m>
                <a:r>
                  <a:rPr lang="en-US" altLang="zh-TW" sz="2800" dirty="0"/>
                  <a:t>, the </a:t>
                </a:r>
                <a14:m>
                  <m:oMath xmlns:m="http://schemas.openxmlformats.org/officeDocument/2006/math">
                    <m:r>
                      <a:rPr lang="en-US" altLang="zh-TW" sz="2800" i="1" dirty="0" smtClean="0">
                        <a:latin typeface="Cambria Math"/>
                      </a:rPr>
                      <m:t>𝑠</m:t>
                    </m:r>
                  </m:oMath>
                </a14:m>
                <a:r>
                  <a:rPr lang="en-US" altLang="zh-TW" sz="2800" dirty="0"/>
                  <a:t>-</a:t>
                </a:r>
                <a:r>
                  <a:rPr lang="en-US" altLang="zh-TW" sz="2800" dirty="0" smtClean="0"/>
                  <a:t>parent </a:t>
                </a:r>
                <a14:m>
                  <m:oMath xmlns:m="http://schemas.openxmlformats.org/officeDocument/2006/math">
                    <m:r>
                      <a:rPr lang="en-US" altLang="zh-TW" sz="2800" i="1" dirty="0" smtClean="0">
                        <a:latin typeface="Cambria Math"/>
                      </a:rPr>
                      <m:t>𝑝</m:t>
                    </m:r>
                  </m:oMath>
                </a14:m>
                <a:r>
                  <a:rPr lang="en-US" altLang="zh-TW" sz="2800" dirty="0" smtClean="0"/>
                  <a:t> </a:t>
                </a:r>
                <a:r>
                  <a:rPr lang="en-US" altLang="zh-TW" sz="2800" dirty="0"/>
                  <a:t>of a point </a:t>
                </a:r>
                <a14:m>
                  <m:oMath xmlns:m="http://schemas.openxmlformats.org/officeDocument/2006/math">
                    <m:r>
                      <a:rPr lang="en-US" altLang="zh-TW" sz="2800" i="1" dirty="0" smtClean="0">
                        <a:latin typeface="Cambria Math"/>
                      </a:rPr>
                      <m:t>𝑞</m:t>
                    </m:r>
                  </m:oMath>
                </a14:m>
                <a:r>
                  <a:rPr lang="en-US" altLang="zh-TW" sz="2800" dirty="0" smtClean="0"/>
                  <a:t> can </a:t>
                </a:r>
                <a:r>
                  <a:rPr lang="en-US" altLang="zh-TW" sz="2800" dirty="0"/>
                  <a:t>be </a:t>
                </a:r>
                <a:r>
                  <a:rPr lang="en-US" altLang="zh-TW" sz="2800" dirty="0" smtClean="0"/>
                  <a:t>calculated in </a:t>
                </a:r>
                <a14:m>
                  <m:oMath xmlns:m="http://schemas.openxmlformats.org/officeDocument/2006/math">
                    <m:r>
                      <a:rPr lang="en-US" altLang="zh-TW" sz="2800" b="0" i="1" smtClean="0">
                        <a:latin typeface="Cambria Math"/>
                      </a:rPr>
                      <m:t>𝑂</m:t>
                    </m:r>
                    <m:d>
                      <m:dPr>
                        <m:ctrlPr>
                          <a:rPr lang="en-US" altLang="zh-TW" sz="28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sz="2800" b="0" i="1" smtClean="0">
                            <a:latin typeface="Cambria Math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altLang="zh-TW" sz="2800" dirty="0" smtClean="0"/>
                  <a:t> time</a:t>
                </a:r>
                <a:r>
                  <a:rPr lang="en-US" altLang="zh-TW" sz="2800" dirty="0"/>
                  <a:t>, using the </a:t>
                </a:r>
                <a:r>
                  <a:rPr lang="en-US" altLang="zh-TW" sz="2800" dirty="0" smtClean="0"/>
                  <a:t>formula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800" b="0" i="1" smtClean="0">
                            <a:latin typeface="Cambria Math"/>
                          </a:rPr>
                          <m:t>𝑝</m:t>
                        </m:r>
                      </m:e>
                      <m:sub>
                        <m:r>
                          <a:rPr lang="en-US" altLang="zh-TW" sz="2800" b="0" i="1" smtClean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altLang="zh-TW" sz="2800" b="0" i="1" smtClean="0">
                        <a:latin typeface="Cambria Math"/>
                      </a:rPr>
                      <m:t>=</m:t>
                    </m:r>
                    <m:r>
                      <a:rPr lang="en-US" altLang="zh-TW" sz="2800" b="0" i="1" smtClean="0">
                        <a:latin typeface="Cambria Math"/>
                      </a:rPr>
                      <m:t>𝑇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8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sz="2800" b="0" i="1" smtClean="0">
                            <a:latin typeface="Cambria Math"/>
                          </a:rPr>
                          <m:t>𝑠</m:t>
                        </m:r>
                        <m:r>
                          <a:rPr lang="en-US" altLang="zh-TW" sz="2800" b="0" i="1" smtClean="0">
                            <a:latin typeface="Cambria Math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TW" sz="2800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sz="2800" b="0" i="1" smtClean="0">
                                <a:latin typeface="Cambria Math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2800" b="0" i="1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TW" sz="2800" b="0" i="1" smtClean="0">
                            <a:latin typeface="Cambria Math"/>
                          </a:rPr>
                          <m:t>, </m:t>
                        </m:r>
                        <m:r>
                          <a:rPr lang="en-US" altLang="zh-TW" sz="2800" b="0" i="1" smtClean="0">
                            <a:latin typeface="Cambria Math"/>
                          </a:rPr>
                          <m:t>𝑖</m:t>
                        </m:r>
                      </m:e>
                    </m:d>
                  </m:oMath>
                </a14:m>
                <a:endParaRPr lang="zh-TW" altLang="en-US" sz="2800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997152"/>
              </a:xfrm>
              <a:blipFill rotWithShape="1">
                <a:blip r:embed="rId2"/>
                <a:stretch>
                  <a:fillRect l="-1259" t="-1099" r="-140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7825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Complexity</a:t>
            </a:r>
            <a:endParaRPr lang="zh-TW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en-US" altLang="zh-TW" dirty="0" smtClean="0"/>
                  <a:t>Time complexity: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altLang="zh-TW" i="1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𝑠𝑒𝑞</m:t>
                        </m:r>
                      </m:sub>
                    </m:sSub>
                    <m:r>
                      <a:rPr lang="en-US" altLang="zh-TW" i="1">
                        <a:latin typeface="Cambria Math"/>
                      </a:rPr>
                      <m:t>=</m:t>
                    </m:r>
                  </m:oMath>
                </a14:m>
                <a:r>
                  <a:rPr lang="en-US" altLang="zh-TW" b="0" i="0" dirty="0" smtClean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solidFill>
                          <a:srgbClr val="FF0000"/>
                        </a:solidFill>
                        <a:latin typeface="Cambria Math"/>
                      </a:rPr>
                      <m:t>𝑂</m:t>
                    </m:r>
                    <m:d>
                      <m:dPr>
                        <m:ctrlP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𝑛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zh-TW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l-GR" altLang="zh-TW" i="1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</a:rPr>
                              <m:t>Σ</m:t>
                            </m:r>
                          </m:e>
                        </m:d>
                        <m:r>
                          <a:rPr lang="en-US" altLang="zh-TW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𝑑</m:t>
                        </m:r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zh-TW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</a:rPr>
                              <m:t>𝐷</m:t>
                            </m:r>
                          </m:e>
                        </m:d>
                        <m:d>
                          <m:dPr>
                            <m:begChr m:val="|"/>
                            <m:endChr m:val="|"/>
                            <m:ctrlPr>
                              <a:rPr lang="en-US" altLang="zh-TW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l-GR" altLang="zh-TW" i="1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</a:rPr>
                              <m:t>Σ</m:t>
                            </m:r>
                          </m:e>
                        </m:d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𝑑</m:t>
                        </m:r>
                        <m:d>
                          <m:dPr>
                            <m:ctrlPr>
                              <a:rPr lang="en-US" altLang="zh-TW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TW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log</m:t>
                                </m:r>
                              </m:e>
                              <m:sup>
                                <m:r>
                                  <a:rPr lang="en-US" altLang="zh-TW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𝑑</m:t>
                                </m:r>
                                <m:r>
                                  <a:rPr lang="en-US" altLang="zh-TW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−2</m:t>
                                </m:r>
                              </m:sup>
                            </m:sSup>
                            <m:r>
                              <a:rPr lang="en-US" altLang="zh-TW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𝑛</m:t>
                            </m:r>
                            <m:r>
                              <a:rPr lang="en-US" altLang="zh-TW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TW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log</m:t>
                                </m:r>
                              </m:e>
                              <m:sup>
                                <m:r>
                                  <a:rPr lang="en-US" altLang="zh-TW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𝑑</m:t>
                                </m:r>
                                <m:r>
                                  <a:rPr lang="en-US" altLang="zh-TW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−2</m:t>
                                </m:r>
                              </m:sup>
                            </m:sSup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l-GR" altLang="zh-TW" i="1">
                                    <a:solidFill>
                                      <a:srgbClr val="FF0000"/>
                                    </a:solidFill>
                                    <a:latin typeface="Cambria Math"/>
                                    <a:ea typeface="Cambria Math"/>
                                  </a:rPr>
                                  <m:t>Σ</m:t>
                                </m:r>
                              </m:e>
                            </m:d>
                          </m:e>
                        </m:d>
                      </m:e>
                    </m:d>
                  </m:oMath>
                </a14:m>
                <a:endParaRPr lang="en-US" altLang="zh-TW" b="1" i="0" dirty="0" smtClean="0">
                  <a:latin typeface="Cambria Math"/>
                </a:endParaRPr>
              </a:p>
              <a:p>
                <a:pPr lvl="1">
                  <a:lnSpc>
                    <a:spcPct val="110000"/>
                  </a:lnSpc>
                </a:pPr>
                <a14:m>
                  <m:oMath xmlns:m="http://schemas.openxmlformats.org/officeDocument/2006/math">
                    <m:r>
                      <a:rPr lang="en-US" altLang="zh-TW" b="1" i="0" smtClean="0">
                        <a:latin typeface="Cambria Math"/>
                      </a:rPr>
                      <m:t>𝐓</m:t>
                    </m:r>
                  </m:oMath>
                </a14:m>
                <a:r>
                  <a:rPr lang="en-US" altLang="zh-TW" dirty="0" smtClean="0"/>
                  <a:t>: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/>
                      </a:rPr>
                      <m:t>𝑂</m:t>
                    </m:r>
                    <m:d>
                      <m:dPr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/>
                          </a:rPr>
                          <m:t>𝑛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zh-TW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l-GR" altLang="zh-TW" i="1">
                                <a:latin typeface="Cambria Math"/>
                                <a:ea typeface="Cambria Math"/>
                              </a:rPr>
                              <m:t>Σ</m:t>
                            </m:r>
                          </m:e>
                        </m:d>
                        <m:r>
                          <a:rPr lang="en-US" altLang="zh-TW" i="1">
                            <a:latin typeface="Cambria Math"/>
                          </a:rPr>
                          <m:t>𝑑</m:t>
                        </m:r>
                      </m:e>
                    </m:d>
                  </m:oMath>
                </a14:m>
                <a:endParaRPr lang="en-US" altLang="zh-TW" dirty="0" smtClean="0"/>
              </a:p>
              <a:p>
                <a:pPr lvl="1">
                  <a:lnSpc>
                    <a:spcPct val="110000"/>
                  </a:lnSpc>
                </a:pPr>
                <a14:m>
                  <m:oMath xmlns:m="http://schemas.openxmlformats.org/officeDocument/2006/math">
                    <m:r>
                      <m:rPr>
                        <m:brk m:alnAt="9"/>
                      </m:rPr>
                      <a:rPr lang="en-US" altLang="zh-TW" i="1">
                        <a:latin typeface="Cambria Math"/>
                        <a:ea typeface="Cambria Math"/>
                      </a:rPr>
                      <m:t>𝑀</m:t>
                    </m:r>
                    <m:r>
                      <a:rPr lang="en-US" altLang="zh-TW" i="1">
                        <a:latin typeface="Cambria Math"/>
                        <a:ea typeface="Cambria Math"/>
                      </a:rPr>
                      <m:t>𝑖𝑛𝑖𝑚𝑎</m:t>
                    </m:r>
                    <m:d>
                      <m:dPr>
                        <m:ctrlPr>
                          <a:rPr lang="en-US" altLang="zh-TW" i="1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/>
                            <a:ea typeface="Cambria Math"/>
                          </a:rPr>
                          <m:t>𝑃𝑎𝑟</m:t>
                        </m:r>
                        <m:d>
                          <m:dPr>
                            <m:ctrlPr>
                              <a:rPr lang="en-US" altLang="zh-TW" i="1">
                                <a:latin typeface="Cambria Math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latin typeface="Cambria Math"/>
                                <a:ea typeface="Cambria Math"/>
                              </a:rPr>
                              <m:t>𝑞</m:t>
                            </m:r>
                            <m:r>
                              <a:rPr lang="en-US" altLang="zh-TW" i="1">
                                <a:latin typeface="Cambria Math"/>
                                <a:ea typeface="Cambria Math"/>
                              </a:rPr>
                              <m:t>, </m:t>
                            </m:r>
                            <m:r>
                              <m:rPr>
                                <m:sty m:val="p"/>
                              </m:rPr>
                              <a:rPr lang="el-GR" altLang="zh-TW" i="1">
                                <a:latin typeface="Cambria Math"/>
                                <a:ea typeface="Cambria Math"/>
                              </a:rPr>
                              <m:t>Σ</m:t>
                            </m:r>
                          </m:e>
                        </m:d>
                      </m:e>
                    </m:d>
                  </m:oMath>
                </a14:m>
                <a:r>
                  <a:rPr lang="en-US" altLang="zh-TW" dirty="0" smtClean="0"/>
                  <a:t>: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/>
                      </a:rPr>
                      <m:t>𝑂</m:t>
                    </m:r>
                    <m:d>
                      <m:dPr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TW" b="0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l-GR" altLang="zh-TW" i="1">
                                <a:latin typeface="Cambria Math"/>
                                <a:ea typeface="Cambria Math"/>
                              </a:rPr>
                              <m:t>Σ</m:t>
                            </m:r>
                          </m:e>
                        </m:d>
                        <m:r>
                          <a:rPr lang="en-US" altLang="zh-TW" b="0" i="1" smtClean="0">
                            <a:latin typeface="Cambria Math"/>
                          </a:rPr>
                          <m:t>𝑑</m:t>
                        </m:r>
                        <m:sSup>
                          <m:sSupPr>
                            <m:ctrlPr>
                              <a:rPr lang="en-US" altLang="zh-TW" b="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TW" b="0" i="0" smtClean="0">
                                <a:latin typeface="Cambria Math"/>
                              </a:rPr>
                              <m:t>log</m:t>
                            </m:r>
                          </m:e>
                          <m:sup>
                            <m:r>
                              <a:rPr lang="en-US" altLang="zh-TW" b="0" i="1" smtClean="0">
                                <a:latin typeface="Cambria Math"/>
                              </a:rPr>
                              <m:t>𝑑</m:t>
                            </m:r>
                            <m:r>
                              <a:rPr lang="en-US" altLang="zh-TW" b="0" i="1" smtClean="0">
                                <a:latin typeface="Cambria Math"/>
                              </a:rPr>
                              <m:t>−2</m:t>
                            </m:r>
                          </m:sup>
                        </m:sSup>
                        <m:d>
                          <m:dPr>
                            <m:begChr m:val="|"/>
                            <m:endChr m:val="|"/>
                            <m:ctrlPr>
                              <a:rPr lang="en-US" altLang="zh-TW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l-GR" altLang="zh-TW" i="1">
                                <a:latin typeface="Cambria Math"/>
                                <a:ea typeface="Cambria Math"/>
                              </a:rPr>
                              <m:t>Σ</m:t>
                            </m:r>
                          </m:e>
                        </m:d>
                      </m:e>
                    </m:d>
                  </m:oMath>
                </a14:m>
                <a:endParaRPr lang="en-US" altLang="zh-TW" dirty="0" smtClean="0"/>
              </a:p>
              <a:p>
                <a:pPr lvl="1">
                  <a:lnSpc>
                    <a:spcPct val="110000"/>
                  </a:lnSpc>
                </a:pPr>
                <a14:m>
                  <m:oMath xmlns:m="http://schemas.openxmlformats.org/officeDocument/2006/math">
                    <m:r>
                      <a:rPr lang="en-US" altLang="zh-TW" i="1">
                        <a:latin typeface="Cambria Math"/>
                        <a:ea typeface="Cambria Math"/>
                      </a:rPr>
                      <m:t>𝑀𝑖𝑛𝑖𝑚𝑎</m:t>
                    </m:r>
                    <m:d>
                      <m:dPr>
                        <m:ctrlPr>
                          <a:rPr lang="en-US" altLang="zh-TW" i="1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/>
                                <a:ea typeface="Cambria Math"/>
                              </a:rPr>
                              <m:t>𝑃𝑎𝑟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/>
                                <a:ea typeface="Cambria Math"/>
                              </a:rPr>
                              <m:t>𝑠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TW" dirty="0" smtClean="0"/>
                  <a:t>: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/>
                      </a:rPr>
                      <m:t>𝑂</m:t>
                    </m:r>
                    <m:d>
                      <m:dPr>
                        <m:ctrlPr>
                          <a:rPr lang="en-US" altLang="zh-TW" i="1">
                            <a:latin typeface="Cambria Math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TW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altLang="zh-TW" b="0" i="1" smtClean="0">
                                <a:latin typeface="Cambria Math"/>
                                <a:ea typeface="Cambria Math"/>
                              </a:rPr>
                              <m:t>𝐷</m:t>
                            </m:r>
                          </m:e>
                        </m:d>
                        <m:r>
                          <a:rPr lang="en-US" altLang="zh-TW" i="1">
                            <a:latin typeface="Cambria Math"/>
                          </a:rPr>
                          <m:t>𝑑</m:t>
                        </m:r>
                        <m:sSup>
                          <m:sSupPr>
                            <m:ctrlPr>
                              <a:rPr lang="en-US" altLang="zh-TW" i="1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TW" i="0">
                                <a:latin typeface="Cambria Math"/>
                              </a:rPr>
                              <m:t>log</m:t>
                            </m:r>
                          </m:e>
                          <m:sup>
                            <m:r>
                              <a:rPr lang="en-US" altLang="zh-TW" i="1">
                                <a:latin typeface="Cambria Math"/>
                              </a:rPr>
                              <m:t>𝑑</m:t>
                            </m:r>
                            <m:r>
                              <a:rPr lang="en-US" altLang="zh-TW" i="1">
                                <a:latin typeface="Cambria Math"/>
                              </a:rPr>
                              <m:t>−2</m:t>
                            </m:r>
                          </m:sup>
                        </m:sSup>
                        <m:r>
                          <a:rPr lang="en-US" altLang="zh-TW" b="0" i="1" smtClean="0">
                            <a:latin typeface="Cambria Math"/>
                          </a:rPr>
                          <m:t>𝑛</m:t>
                        </m:r>
                      </m:e>
                    </m:d>
                  </m:oMath>
                </a14:m>
                <a:endParaRPr lang="en-US" altLang="zh-TW" dirty="0" smtClean="0"/>
              </a:p>
              <a:p>
                <a:pPr>
                  <a:lnSpc>
                    <a:spcPct val="110000"/>
                  </a:lnSpc>
                </a:pPr>
                <a:r>
                  <a:rPr lang="en-US" altLang="zh-TW" dirty="0" smtClean="0"/>
                  <a:t>Space complexity: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solidFill>
                          <a:srgbClr val="FF0000"/>
                        </a:solidFill>
                        <a:latin typeface="Cambria Math"/>
                      </a:rPr>
                      <m:t>𝑂</m:t>
                    </m:r>
                    <m:d>
                      <m:dPr>
                        <m:ctrlP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TW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altLang="zh-TW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𝐷</m:t>
                            </m:r>
                          </m:e>
                        </m:d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𝑑</m:t>
                        </m:r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+</m:t>
                        </m:r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𝑛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zh-TW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l-GR" altLang="zh-TW" i="1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</a:rPr>
                              <m:t>Σ</m:t>
                            </m:r>
                          </m:e>
                        </m:d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𝑑</m:t>
                        </m:r>
                      </m:e>
                    </m:d>
                  </m:oMath>
                </a14:m>
                <a:endParaRPr lang="en-US" altLang="zh-TW" dirty="0" smtClean="0"/>
              </a:p>
              <a:p>
                <a:pPr>
                  <a:lnSpc>
                    <a:spcPct val="110000"/>
                  </a:lnSpc>
                </a:pPr>
                <a:endParaRPr lang="en-US" altLang="zh-TW" i="1" dirty="0" smtClean="0">
                  <a:latin typeface="Cambria Math"/>
                </a:endParaRPr>
              </a:p>
              <a:p>
                <a:pPr>
                  <a:lnSpc>
                    <a:spcPct val="110000"/>
                  </a:lnSpc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TW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𝐷</m:t>
                        </m:r>
                      </m:e>
                    </m:d>
                    <m:r>
                      <a:rPr lang="en-US" altLang="zh-TW" b="0" i="1" smtClean="0">
                        <a:latin typeface="Cambria Math"/>
                      </a:rPr>
                      <m:t>=</m:t>
                    </m:r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the </a:t>
                </a:r>
                <a:r>
                  <a:rPr lang="en-US" altLang="zh-TW" dirty="0"/>
                  <a:t>size of dominant point set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/>
                      </a:rPr>
                      <m:t>𝐷</m:t>
                    </m:r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481" t="-1078" b="-336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179781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Quick-DPPAR (1/2)</a:t>
            </a:r>
            <a:endParaRPr lang="zh-TW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altLang="zh-TW" dirty="0" smtClean="0"/>
                  <a:t>Given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latin typeface="Cambria Math"/>
                          </a:rPr>
                          <m:t>𝑁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/>
                          </a:rPr>
                          <m:t>𝑝</m:t>
                        </m:r>
                      </m:sub>
                    </m:sSub>
                    <m:r>
                      <a:rPr lang="en-US" altLang="zh-TW" b="0" i="1" dirty="0" smtClean="0">
                        <a:latin typeface="Cambria Math"/>
                      </a:rPr>
                      <m:t>+</m:t>
                    </m:r>
                    <m:r>
                      <a:rPr lang="en-US" altLang="zh-TW" i="1" dirty="0">
                        <a:latin typeface="Cambria Math"/>
                      </a:rPr>
                      <m:t>1 </m:t>
                    </m:r>
                  </m:oMath>
                </a14:m>
                <a:r>
                  <a:rPr lang="en-US" altLang="zh-TW" dirty="0"/>
                  <a:t>processors, the parallel algorithm uses </a:t>
                </a:r>
                <a:r>
                  <a:rPr lang="en-US" altLang="zh-TW" dirty="0" smtClean="0"/>
                  <a:t>one as </a:t>
                </a:r>
                <a:r>
                  <a:rPr lang="en-US" altLang="zh-TW" dirty="0"/>
                  <a:t>the master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 dirty="0">
                            <a:latin typeface="Cambria Math"/>
                          </a:rPr>
                          <m:t>𝑁</m:t>
                        </m:r>
                      </m:e>
                      <m:sub>
                        <m:r>
                          <a:rPr lang="en-US" altLang="zh-TW" i="1" dirty="0">
                            <a:latin typeface="Cambria Math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altLang="zh-TW" dirty="0"/>
                  <a:t> as slaves and performs the </a:t>
                </a:r>
                <a:r>
                  <a:rPr lang="en-US" altLang="zh-TW" dirty="0" smtClean="0"/>
                  <a:t>following seven </a:t>
                </a:r>
                <a:r>
                  <a:rPr lang="en-US" altLang="zh-TW" dirty="0"/>
                  <a:t>steps</a:t>
                </a:r>
                <a:r>
                  <a:rPr lang="en-US" altLang="zh-TW" dirty="0" smtClean="0"/>
                  <a:t>:</a:t>
                </a:r>
              </a:p>
              <a:p>
                <a:pPr marL="514350" indent="-514350">
                  <a:lnSpc>
                    <a:spcPct val="110000"/>
                  </a:lnSpc>
                  <a:buFont typeface="+mj-lt"/>
                  <a:buAutoNum type="arabicPeriod"/>
                </a:pPr>
                <a:r>
                  <a:rPr lang="en-US" altLang="zh-TW" dirty="0"/>
                  <a:t>The master processor computes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dirty="0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TW" b="0" i="1" dirty="0" smtClean="0">
                            <a:latin typeface="Cambria Math"/>
                          </a:rPr>
                          <m:t>𝐷</m:t>
                        </m:r>
                      </m:e>
                      <m:sup>
                        <m:r>
                          <a:rPr lang="en-US" altLang="zh-TW" b="0" i="1" dirty="0" smtClean="0">
                            <a:latin typeface="Cambria Math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US" altLang="zh-TW" dirty="0" smtClean="0"/>
                  <a:t>.</a:t>
                </a:r>
              </a:p>
              <a:p>
                <a:pPr marL="514350" indent="-514350">
                  <a:lnSpc>
                    <a:spcPct val="110000"/>
                  </a:lnSpc>
                  <a:buFont typeface="+mj-lt"/>
                  <a:buAutoNum type="arabicPeriod"/>
                </a:pPr>
                <a:r>
                  <a:rPr lang="en-US" altLang="zh-TW" dirty="0"/>
                  <a:t>Every time the master processor computes a new </a:t>
                </a:r>
                <a:r>
                  <a:rPr lang="en-US" altLang="zh-TW" dirty="0" smtClean="0"/>
                  <a:t>set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dirty="0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TW" i="1" dirty="0">
                            <a:latin typeface="Cambria Math"/>
                          </a:rPr>
                          <m:t>𝐷</m:t>
                        </m:r>
                      </m:e>
                      <m:sup>
                        <m:r>
                          <a:rPr lang="en-US" altLang="zh-TW" b="0" i="1" dirty="0" smtClean="0">
                            <a:latin typeface="Cambria Math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altLang="zh-TW" dirty="0" smtClean="0"/>
                  <a:t> </a:t>
                </a:r>
                <a:r>
                  <a:rPr lang="en-US" altLang="zh-TW" dirty="0"/>
                  <a:t>of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/>
                      </a:rPr>
                      <m:t>𝑘</m:t>
                    </m:r>
                  </m:oMath>
                </a14:m>
                <a:r>
                  <a:rPr lang="en-US" altLang="zh-TW" dirty="0"/>
                  <a:t>-dominants </a:t>
                </a:r>
                <a:r>
                  <a:rPr lang="en-US" altLang="zh-TW" dirty="0" smtClean="0"/>
                  <a:t>(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/>
                      </a:rPr>
                      <m:t>𝑘</m:t>
                    </m:r>
                    <m:r>
                      <a:rPr lang="en-US" altLang="zh-TW" b="0" i="1" smtClean="0">
                        <a:latin typeface="Cambria Math"/>
                      </a:rPr>
                      <m:t>=1, 2, 3, …</m:t>
                    </m:r>
                  </m:oMath>
                </a14:m>
                <a:r>
                  <a:rPr lang="en-US" altLang="zh-TW" dirty="0" smtClean="0"/>
                  <a:t>), </a:t>
                </a:r>
                <a:r>
                  <a:rPr lang="en-US" altLang="zh-TW" dirty="0"/>
                  <a:t>it </a:t>
                </a:r>
                <a:r>
                  <a:rPr lang="en-US" altLang="zh-TW" dirty="0" smtClean="0"/>
                  <a:t>distributes them </a:t>
                </a:r>
                <a:r>
                  <a:rPr lang="en-US" altLang="zh-TW" dirty="0"/>
                  <a:t>evenly among all slave processors</a:t>
                </a:r>
                <a:r>
                  <a:rPr lang="en-US" altLang="zh-TW" dirty="0" smtClean="0"/>
                  <a:t>.</a:t>
                </a:r>
              </a:p>
              <a:p>
                <a:pPr marL="514350" indent="-514350">
                  <a:lnSpc>
                    <a:spcPct val="110000"/>
                  </a:lnSpc>
                  <a:buFont typeface="+mj-lt"/>
                  <a:buAutoNum type="arabicPeriod"/>
                </a:pPr>
                <a:r>
                  <a:rPr lang="en-US" altLang="zh-TW" dirty="0"/>
                  <a:t>Each slave computes the set of parents and </a:t>
                </a:r>
                <a:r>
                  <a:rPr lang="en-US" altLang="zh-TW" dirty="0" smtClean="0"/>
                  <a:t>the corresponding </a:t>
                </a:r>
                <a:r>
                  <a:rPr lang="en-US" altLang="zh-TW" dirty="0"/>
                  <a:t>minima of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/>
                      </a:rPr>
                      <m:t>𝑘</m:t>
                    </m:r>
                  </m:oMath>
                </a14:m>
                <a:r>
                  <a:rPr lang="en-US" altLang="zh-TW" dirty="0"/>
                  <a:t>-dominants that it has, and then, sends the result back to the </a:t>
                </a:r>
                <a:r>
                  <a:rPr lang="en-US" altLang="zh-TW" dirty="0" smtClean="0"/>
                  <a:t>master processor</a:t>
                </a:r>
                <a:r>
                  <a:rPr lang="en-US" altLang="zh-TW" dirty="0"/>
                  <a:t>.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407" t="-1078" r="-2074" b="-336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379914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Quick-DPPAR </a:t>
            </a:r>
            <a:r>
              <a:rPr lang="en-US" altLang="zh-TW" b="1" dirty="0" smtClean="0"/>
              <a:t>(2/2)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781128"/>
              </a:xfrm>
            </p:spPr>
            <p:txBody>
              <a:bodyPr>
                <a:noAutofit/>
              </a:bodyPr>
              <a:lstStyle/>
              <a:p>
                <a:pPr marL="514350" indent="-514350">
                  <a:buFont typeface="+mj-lt"/>
                  <a:buAutoNum type="arabicPeriod" startAt="4"/>
                </a:pPr>
                <a:r>
                  <a:rPr lang="en-US" altLang="zh-TW" sz="2700" dirty="0" smtClean="0"/>
                  <a:t>The master processor collects each s-parent 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700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700" b="0" i="1" dirty="0" smtClean="0">
                            <a:latin typeface="Cambria Math"/>
                          </a:rPr>
                          <m:t>𝑃𝑎𝑟</m:t>
                        </m:r>
                      </m:e>
                      <m:sub>
                        <m:r>
                          <a:rPr lang="en-US" altLang="zh-TW" sz="2700" b="0" i="1" dirty="0" smtClean="0">
                            <a:latin typeface="Cambria Math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altLang="zh-TW" sz="2700" dirty="0"/>
                  <a:t>,</a:t>
                </a:r>
                <a:r>
                  <a:rPr lang="en-US" altLang="zh-TW" sz="2700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TW" sz="2700" b="0" i="1" dirty="0" smtClean="0">
                        <a:latin typeface="Cambria Math"/>
                      </a:rPr>
                      <m:t>𝑠</m:t>
                    </m:r>
                    <m:r>
                      <a:rPr lang="en-US" altLang="zh-TW" sz="2700" b="0" i="1" dirty="0" smtClean="0">
                        <a:latin typeface="Cambria Math"/>
                        <a:ea typeface="Cambria Math"/>
                      </a:rPr>
                      <m:t>∈</m:t>
                    </m:r>
                    <m:r>
                      <m:rPr>
                        <m:sty m:val="p"/>
                      </m:rPr>
                      <a:rPr lang="el-GR" altLang="zh-TW" sz="2700" b="0" i="1" dirty="0" smtClean="0">
                        <a:latin typeface="Cambria Math"/>
                        <a:ea typeface="Cambria Math"/>
                      </a:rPr>
                      <m:t>Σ</m:t>
                    </m:r>
                  </m:oMath>
                </a14:m>
                <a:r>
                  <a:rPr lang="en-US" altLang="zh-TW" sz="2700" dirty="0" smtClean="0"/>
                  <a:t>, </a:t>
                </a:r>
                <a:r>
                  <a:rPr lang="en-US" altLang="zh-TW" sz="2700" dirty="0"/>
                  <a:t>as the union of the parents from </a:t>
                </a:r>
                <a:r>
                  <a:rPr lang="en-US" altLang="zh-TW" sz="2700" dirty="0" smtClean="0"/>
                  <a:t>slave processors </a:t>
                </a:r>
                <a:r>
                  <a:rPr lang="en-US" altLang="zh-TW" sz="2700" dirty="0"/>
                  <a:t>and distributes the resulting </a:t>
                </a:r>
                <a14:m>
                  <m:oMath xmlns:m="http://schemas.openxmlformats.org/officeDocument/2006/math">
                    <m:r>
                      <a:rPr lang="en-US" altLang="zh-TW" sz="2700" i="1" dirty="0" smtClean="0">
                        <a:latin typeface="Cambria Math"/>
                      </a:rPr>
                      <m:t>𝑠</m:t>
                    </m:r>
                  </m:oMath>
                </a14:m>
                <a:r>
                  <a:rPr lang="en-US" altLang="zh-TW" sz="2700" dirty="0"/>
                  <a:t>-parent </a:t>
                </a:r>
                <a:r>
                  <a:rPr lang="en-US" altLang="zh-TW" sz="2700" dirty="0" smtClean="0"/>
                  <a:t>set among </a:t>
                </a:r>
                <a:r>
                  <a:rPr lang="en-US" altLang="zh-TW" sz="2700" dirty="0"/>
                  <a:t>slaves</a:t>
                </a:r>
                <a:r>
                  <a:rPr lang="en-US" altLang="zh-TW" sz="2700" dirty="0" smtClean="0"/>
                  <a:t>.</a:t>
                </a:r>
              </a:p>
              <a:p>
                <a:pPr marL="514350" indent="-514350">
                  <a:buFont typeface="+mj-lt"/>
                  <a:buAutoNum type="arabicPeriod" startAt="4"/>
                </a:pPr>
                <a:r>
                  <a:rPr lang="en-US" altLang="zh-TW" sz="2700" dirty="0"/>
                  <a:t>Each slave processor </a:t>
                </a:r>
                <a14:m>
                  <m:oMath xmlns:m="http://schemas.openxmlformats.org/officeDocument/2006/math">
                    <m:r>
                      <a:rPr lang="en-US" altLang="zh-TW" sz="2700" i="1" dirty="0" smtClean="0">
                        <a:latin typeface="Cambria Math"/>
                      </a:rPr>
                      <m:t>𝑖</m:t>
                    </m:r>
                  </m:oMath>
                </a14:m>
                <a:r>
                  <a:rPr lang="en-US" altLang="zh-TW" sz="2700" dirty="0"/>
                  <a:t> is assigned to find </a:t>
                </a:r>
                <a:r>
                  <a:rPr lang="en-US" altLang="zh-TW" sz="2700" dirty="0" smtClean="0"/>
                  <a:t>the minimal </a:t>
                </a:r>
                <a:r>
                  <a:rPr lang="en-US" altLang="zh-TW" sz="2700" dirty="0"/>
                  <a:t>elements only of one </a:t>
                </a:r>
                <a14:m>
                  <m:oMath xmlns:m="http://schemas.openxmlformats.org/officeDocument/2006/math">
                    <m:r>
                      <a:rPr lang="en-US" altLang="zh-TW" sz="2700" i="1" dirty="0" smtClean="0">
                        <a:latin typeface="Cambria Math"/>
                      </a:rPr>
                      <m:t>𝑠</m:t>
                    </m:r>
                  </m:oMath>
                </a14:m>
                <a:r>
                  <a:rPr lang="en-US" altLang="zh-TW" sz="2700" dirty="0"/>
                  <a:t>-parent 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7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700" i="1" dirty="0">
                            <a:latin typeface="Cambria Math"/>
                          </a:rPr>
                          <m:t>𝑃𝑎𝑟</m:t>
                        </m:r>
                      </m:e>
                      <m:sub>
                        <m:r>
                          <a:rPr lang="en-US" altLang="zh-TW" sz="2700" i="1" dirty="0">
                            <a:latin typeface="Cambria Math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altLang="zh-TW" sz="2700" dirty="0"/>
                  <a:t>.</a:t>
                </a:r>
                <a:endParaRPr lang="en-US" altLang="zh-TW" sz="2700" dirty="0" smtClean="0"/>
              </a:p>
              <a:p>
                <a:pPr marL="514350" indent="-514350">
                  <a:buFont typeface="+mj-lt"/>
                  <a:buAutoNum type="arabicPeriod" startAt="4"/>
                </a:pPr>
                <a:r>
                  <a:rPr lang="en-US" altLang="zh-TW" sz="2700" dirty="0"/>
                  <a:t>Each slave processor </a:t>
                </a:r>
                <a14:m>
                  <m:oMath xmlns:m="http://schemas.openxmlformats.org/officeDocument/2006/math">
                    <m:r>
                      <a:rPr lang="en-US" altLang="zh-TW" sz="2700" i="1" dirty="0" smtClean="0">
                        <a:latin typeface="Cambria Math"/>
                      </a:rPr>
                      <m:t>𝑖</m:t>
                    </m:r>
                  </m:oMath>
                </a14:m>
                <a:r>
                  <a:rPr lang="en-US" altLang="zh-TW" sz="2700" dirty="0"/>
                  <a:t> computes the set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700" b="0" i="1" smtClean="0">
                            <a:latin typeface="Cambria Math"/>
                          </a:rPr>
                        </m:ctrlPr>
                      </m:sSubSupPr>
                      <m:e>
                        <m:r>
                          <a:rPr lang="en-US" altLang="zh-TW" sz="2700" b="0" i="1" smtClean="0">
                            <a:latin typeface="Cambria Math"/>
                          </a:rPr>
                          <m:t>𝐷</m:t>
                        </m:r>
                      </m:e>
                      <m:sub>
                        <m:r>
                          <a:rPr lang="en-US" altLang="zh-TW" sz="2700" b="0" i="1" smtClean="0">
                            <a:latin typeface="Cambria Math"/>
                          </a:rPr>
                          <m:t>𝑖</m:t>
                        </m:r>
                      </m:sub>
                      <m:sup>
                        <m:r>
                          <a:rPr lang="en-US" altLang="zh-TW" sz="2700" b="0" i="1" smtClean="0">
                            <a:latin typeface="Cambria Math"/>
                          </a:rPr>
                          <m:t>𝑘</m:t>
                        </m:r>
                        <m:r>
                          <a:rPr lang="en-US" altLang="zh-TW" sz="2700" b="0" i="1" smtClean="0">
                            <a:latin typeface="Cambria Math"/>
                          </a:rPr>
                          <m:t>+1</m:t>
                        </m:r>
                      </m:sup>
                    </m:sSubSup>
                  </m:oMath>
                </a14:m>
                <a:r>
                  <a:rPr lang="en-US" altLang="zh-TW" sz="2700" dirty="0" smtClean="0"/>
                  <a:t> of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270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sz="2700" b="0" i="1" smtClean="0">
                            <a:latin typeface="Cambria Math"/>
                          </a:rPr>
                          <m:t>𝑘</m:t>
                        </m:r>
                        <m:r>
                          <a:rPr lang="en-US" altLang="zh-TW" sz="2700" b="0" i="1" smtClean="0">
                            <a:latin typeface="Cambria Math"/>
                          </a:rPr>
                          <m:t>+1</m:t>
                        </m:r>
                      </m:e>
                    </m:d>
                  </m:oMath>
                </a14:m>
                <a:r>
                  <a:rPr lang="en-US" altLang="zh-TW" sz="2700" dirty="0" smtClean="0"/>
                  <a:t>-</a:t>
                </a:r>
                <a:r>
                  <a:rPr lang="en-US" altLang="zh-TW" sz="2700" dirty="0"/>
                  <a:t>dominants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7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700" i="1" dirty="0">
                            <a:latin typeface="Cambria Math"/>
                          </a:rPr>
                          <m:t>𝑃𝑎𝑟</m:t>
                        </m:r>
                      </m:e>
                      <m:sub>
                        <m:r>
                          <a:rPr lang="en-US" altLang="zh-TW" sz="2700" i="1" dirty="0">
                            <a:latin typeface="Cambria Math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altLang="zh-TW" sz="2700" dirty="0"/>
                  <a:t> and sends it to the master</a:t>
                </a:r>
                <a:r>
                  <a:rPr lang="en-US" altLang="zh-TW" sz="2700" dirty="0" smtClean="0"/>
                  <a:t>.</a:t>
                </a:r>
              </a:p>
              <a:p>
                <a:pPr marL="514350" indent="-514350">
                  <a:buFont typeface="+mj-lt"/>
                  <a:buAutoNum type="arabicPeriod" startAt="4"/>
                </a:pPr>
                <a:r>
                  <a:rPr lang="en-US" altLang="zh-TW" sz="2700" dirty="0"/>
                  <a:t>The master processor </a:t>
                </a:r>
                <a:r>
                  <a:rPr lang="en-US" altLang="zh-TW" sz="2700" dirty="0" smtClean="0"/>
                  <a:t>computes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700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TW" sz="2700" b="0" i="1" smtClean="0">
                            <a:latin typeface="Cambria Math"/>
                          </a:rPr>
                          <m:t>𝐷</m:t>
                        </m:r>
                      </m:e>
                      <m:sup>
                        <m:r>
                          <a:rPr lang="en-US" altLang="zh-TW" sz="2700" b="0" i="1" smtClean="0">
                            <a:latin typeface="Cambria Math"/>
                          </a:rPr>
                          <m:t>𝑘</m:t>
                        </m:r>
                        <m:r>
                          <a:rPr lang="en-US" altLang="zh-TW" sz="2700" b="0" i="1" smtClean="0">
                            <a:latin typeface="Cambria Math"/>
                          </a:rPr>
                          <m:t>+1</m:t>
                        </m:r>
                      </m:sup>
                    </m:sSup>
                    <m:r>
                      <a:rPr lang="en-US" altLang="zh-TW" sz="2700" b="0" i="1" smtClean="0">
                        <a:latin typeface="Cambria Math"/>
                      </a:rPr>
                      <m:t>=</m:t>
                    </m:r>
                    <m:sSubSup>
                      <m:sSubSupPr>
                        <m:ctrlPr>
                          <a:rPr lang="en-US" altLang="zh-TW" sz="2700" i="1">
                            <a:latin typeface="Cambria Math"/>
                          </a:rPr>
                        </m:ctrlPr>
                      </m:sSubSupPr>
                      <m:e>
                        <m:r>
                          <a:rPr lang="en-US" altLang="zh-TW" sz="2700" i="1">
                            <a:latin typeface="Cambria Math"/>
                          </a:rPr>
                          <m:t>𝐷</m:t>
                        </m:r>
                      </m:e>
                      <m:sub>
                        <m:r>
                          <a:rPr lang="en-US" altLang="zh-TW" sz="2700" b="0" i="1" smtClean="0">
                            <a:latin typeface="Cambria Math"/>
                          </a:rPr>
                          <m:t>1</m:t>
                        </m:r>
                      </m:sub>
                      <m:sup>
                        <m:r>
                          <a:rPr lang="en-US" altLang="zh-TW" sz="2700" i="1">
                            <a:latin typeface="Cambria Math"/>
                          </a:rPr>
                          <m:t>𝑘</m:t>
                        </m:r>
                        <m:r>
                          <a:rPr lang="en-US" altLang="zh-TW" sz="2700" i="1">
                            <a:latin typeface="Cambria Math"/>
                          </a:rPr>
                          <m:t>+1</m:t>
                        </m:r>
                      </m:sup>
                    </m:sSubSup>
                    <m:r>
                      <a:rPr lang="en-US" altLang="zh-TW" sz="2700" i="1" smtClean="0">
                        <a:latin typeface="Cambria Math"/>
                        <a:ea typeface="Cambria Math"/>
                      </a:rPr>
                      <m:t>∪</m:t>
                    </m:r>
                    <m:sSubSup>
                      <m:sSubSupPr>
                        <m:ctrlPr>
                          <a:rPr lang="en-US" altLang="zh-TW" sz="2700" i="1">
                            <a:latin typeface="Cambria Math"/>
                          </a:rPr>
                        </m:ctrlPr>
                      </m:sSubSupPr>
                      <m:e>
                        <m:r>
                          <a:rPr lang="en-US" altLang="zh-TW" sz="2700" i="1">
                            <a:latin typeface="Cambria Math"/>
                          </a:rPr>
                          <m:t>𝐷</m:t>
                        </m:r>
                      </m:e>
                      <m:sub>
                        <m:r>
                          <a:rPr lang="en-US" altLang="zh-TW" sz="2700" b="0" i="1" smtClean="0">
                            <a:latin typeface="Cambria Math"/>
                          </a:rPr>
                          <m:t>2</m:t>
                        </m:r>
                      </m:sub>
                      <m:sup>
                        <m:r>
                          <a:rPr lang="en-US" altLang="zh-TW" sz="2700" i="1">
                            <a:latin typeface="Cambria Math"/>
                          </a:rPr>
                          <m:t>𝑘</m:t>
                        </m:r>
                        <m:r>
                          <a:rPr lang="en-US" altLang="zh-TW" sz="2700" i="1">
                            <a:latin typeface="Cambria Math"/>
                          </a:rPr>
                          <m:t>+1</m:t>
                        </m:r>
                      </m:sup>
                    </m:sSubSup>
                    <m:r>
                      <a:rPr lang="en-US" altLang="zh-TW" sz="2700" i="1" smtClean="0">
                        <a:latin typeface="Cambria Math"/>
                        <a:ea typeface="Cambria Math"/>
                      </a:rPr>
                      <m:t>∪</m:t>
                    </m:r>
                    <m:r>
                      <a:rPr lang="en-US" altLang="zh-TW" sz="2700" b="0" i="1" smtClean="0">
                        <a:latin typeface="Cambria Math"/>
                        <a:ea typeface="Cambria Math"/>
                      </a:rPr>
                      <m:t>…∪</m:t>
                    </m:r>
                    <m:sSubSup>
                      <m:sSubSupPr>
                        <m:ctrlPr>
                          <a:rPr lang="en-US" altLang="zh-TW" sz="2700" i="1">
                            <a:latin typeface="Cambria Math"/>
                          </a:rPr>
                        </m:ctrlPr>
                      </m:sSubSupPr>
                      <m:e>
                        <m:r>
                          <a:rPr lang="en-US" altLang="zh-TW" sz="2700" i="1">
                            <a:latin typeface="Cambria Math"/>
                          </a:rPr>
                          <m:t>𝐷</m:t>
                        </m:r>
                      </m:e>
                      <m:sub>
                        <m:sSub>
                          <m:sSubPr>
                            <m:ctrlPr>
                              <a:rPr lang="en-US" altLang="zh-TW" sz="270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sz="2700" b="0" i="1" smtClean="0">
                                <a:latin typeface="Cambria Math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zh-TW" sz="2700" b="0" i="1" smtClean="0">
                                <a:latin typeface="Cambria Math"/>
                              </a:rPr>
                              <m:t>𝑝</m:t>
                            </m:r>
                          </m:sub>
                        </m:sSub>
                      </m:sub>
                      <m:sup>
                        <m:r>
                          <a:rPr lang="en-US" altLang="zh-TW" sz="2700" i="1">
                            <a:latin typeface="Cambria Math"/>
                          </a:rPr>
                          <m:t>𝑘</m:t>
                        </m:r>
                        <m:r>
                          <a:rPr lang="en-US" altLang="zh-TW" sz="2700" i="1">
                            <a:latin typeface="Cambria Math"/>
                          </a:rPr>
                          <m:t>+1</m:t>
                        </m:r>
                      </m:sup>
                    </m:sSubSup>
                  </m:oMath>
                </a14:m>
                <a:r>
                  <a:rPr lang="zh-TW" altLang="en-US" sz="2700" dirty="0" smtClean="0"/>
                  <a:t> </a:t>
                </a:r>
                <a:r>
                  <a:rPr lang="en-US" altLang="zh-TW" sz="2700" dirty="0"/>
                  <a:t>and goes to step 2.</a:t>
                </a:r>
                <a:endParaRPr lang="zh-TW" altLang="en-US" sz="2700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781128"/>
              </a:xfrm>
              <a:blipFill rotWithShape="1">
                <a:blip r:embed="rId2"/>
                <a:stretch>
                  <a:fillRect l="-1407" t="-1276" r="-118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943949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Complexity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TW" b="1" dirty="0" smtClean="0"/>
                  <a:t>Corollary 1. </a:t>
                </a:r>
                <a:r>
                  <a:rPr lang="en-US" altLang="zh-TW" dirty="0" smtClean="0"/>
                  <a:t>If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US" altLang="zh-TW" dirty="0"/>
                  <a:t> is great enough, the running time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altLang="zh-TW" i="1" smtClean="0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altLang="zh-TW" b="0" i="1" smtClean="0">
                                <a:latin typeface="Cambria Math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𝑃𝑎𝑟</m:t>
                        </m:r>
                      </m:sub>
                    </m:sSub>
                  </m:oMath>
                </a14:m>
                <a:r>
                  <a:rPr lang="en-US" altLang="zh-TW" dirty="0" smtClean="0"/>
                  <a:t> of the parallel </a:t>
                </a:r>
                <a:r>
                  <a:rPr lang="en-US" altLang="zh-TW" dirty="0"/>
                  <a:t>algorithm </a:t>
                </a:r>
                <a:r>
                  <a:rPr lang="en-US" altLang="zh-TW" dirty="0" smtClean="0"/>
                  <a:t>is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altLang="zh-TW" i="1" smtClean="0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altLang="zh-TW" b="0" i="1" smtClean="0">
                                  <a:latin typeface="Cambria Math"/>
                                </a:rPr>
                                <m:t>𝑇</m:t>
                              </m:r>
                            </m:e>
                          </m:acc>
                        </m:e>
                        <m:sub>
                          <m:r>
                            <a:rPr lang="en-US" altLang="zh-TW" b="0" i="1" smtClean="0">
                              <a:latin typeface="Cambria Math"/>
                            </a:rPr>
                            <m:t>𝑃𝑎𝑟</m:t>
                          </m:r>
                        </m:sub>
                      </m:sSub>
                      <m:r>
                        <a:rPr lang="en-US" altLang="zh-TW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TW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/>
                                </a:rPr>
                                <m:t>𝑝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US" altLang="zh-TW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/>
                            </a:rPr>
                            <m:t>1+</m:t>
                          </m:r>
                          <m:r>
                            <a:rPr lang="zh-TW" altLang="en-US" b="0" i="1" smtClean="0">
                              <a:latin typeface="Cambria Math"/>
                            </a:rPr>
                            <m:t>𝛼</m:t>
                          </m:r>
                          <m:d>
                            <m:dPr>
                              <m:ctrlPr>
                                <a:rPr lang="en-US" altLang="zh-TW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altLang="zh-TW" b="0" i="1" smtClean="0">
                                  <a:latin typeface="Cambria Math"/>
                                </a:rPr>
                                <m:t>𝑛</m:t>
                              </m:r>
                            </m:e>
                          </m:d>
                        </m:e>
                      </m:d>
                      <m:sSub>
                        <m:sSubPr>
                          <m:ctrlPr>
                            <a:rPr lang="en-US" altLang="zh-TW" b="0" i="1" smtClean="0">
                              <a:latin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altLang="zh-TW" b="0" i="1" smtClean="0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altLang="zh-TW" b="0" i="1" smtClean="0">
                                  <a:latin typeface="Cambria Math"/>
                                </a:rPr>
                                <m:t>𝑇</m:t>
                              </m:r>
                            </m:e>
                          </m:acc>
                        </m:e>
                        <m:sub>
                          <m:r>
                            <a:rPr lang="en-US" altLang="zh-TW" b="0" i="1" smtClean="0">
                              <a:latin typeface="Cambria Math"/>
                            </a:rPr>
                            <m:t>𝑠𝑒𝑞</m:t>
                          </m:r>
                        </m:sub>
                      </m:sSub>
                      <m:r>
                        <m:rPr>
                          <m:nor/>
                        </m:rPr>
                        <a:rPr lang="en-US" altLang="zh-TW" b="0" i="0" smtClean="0">
                          <a:latin typeface="Cambria Math"/>
                        </a:rPr>
                        <m:t>, </m:t>
                      </m:r>
                      <m:r>
                        <m:rPr>
                          <m:nor/>
                        </m:rPr>
                        <a:rPr lang="en-US" altLang="zh-TW" b="0" i="0" smtClean="0">
                          <a:latin typeface="Cambria Math"/>
                        </a:rPr>
                        <m:t>where</m:t>
                      </m:r>
                      <m:func>
                        <m:funcPr>
                          <m:ctrlPr>
                            <a:rPr lang="en-US" altLang="zh-TW" i="1" smtClean="0">
                              <a:latin typeface="Cambria Math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i="1" smtClean="0">
                                  <a:latin typeface="Cambria Math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 i="0" smtClean="0">
                                  <a:latin typeface="Cambria Math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zh-TW" b="0" i="1" smtClean="0"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US" altLang="zh-TW" b="0" i="1" smtClean="0">
                                  <a:latin typeface="Cambria Math"/>
                                  <a:ea typeface="Cambria Math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r>
                            <a:rPr lang="zh-TW" altLang="en-US" i="1" smtClean="0">
                              <a:latin typeface="Cambria Math"/>
                            </a:rPr>
                            <m:t>𝛼</m:t>
                          </m:r>
                          <m:d>
                            <m:dPr>
                              <m:ctrlPr>
                                <a:rPr lang="en-US" altLang="zh-TW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altLang="zh-TW" b="0" i="1" smtClean="0">
                                  <a:latin typeface="Cambria Math"/>
                                </a:rPr>
                                <m:t>𝑛</m:t>
                              </m:r>
                            </m:e>
                          </m:d>
                          <m:r>
                            <a:rPr lang="en-US" altLang="zh-TW" b="0" i="1" smtClean="0">
                              <a:latin typeface="Cambria Math"/>
                            </a:rPr>
                            <m:t>=0</m:t>
                          </m:r>
                        </m:e>
                      </m:func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852" t="-161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692998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0" t="3232" r="2912" b="4281"/>
          <a:stretch/>
        </p:blipFill>
        <p:spPr bwMode="auto">
          <a:xfrm>
            <a:off x="1065077" y="1640979"/>
            <a:ext cx="7179331" cy="48843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 smtClean="0"/>
              <a:t>Experimental Results of Quick-DP (1/6)</a:t>
            </a:r>
            <a:endParaRPr lang="zh-TW" altLang="en-US" b="1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18796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/>
              <a:t>Experimental Results of Quick-DP </a:t>
            </a:r>
            <a:r>
              <a:rPr lang="en-US" altLang="zh-TW" b="1" dirty="0" smtClean="0"/>
              <a:t>(2/6)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16</a:t>
            </a:fld>
            <a:endParaRPr lang="zh-TW" altLang="en-US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7" t="2122" b="1"/>
          <a:stretch/>
        </p:blipFill>
        <p:spPr bwMode="auto">
          <a:xfrm>
            <a:off x="1031742" y="1457924"/>
            <a:ext cx="7212666" cy="5211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86175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/>
              <a:t>Experimental Results of Quick-DP </a:t>
            </a:r>
            <a:r>
              <a:rPr lang="en-US" altLang="zh-TW" b="1" dirty="0" smtClean="0"/>
              <a:t>(3/6)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17</a:t>
            </a:fld>
            <a:endParaRPr lang="zh-TW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771134"/>
            <a:ext cx="6804184" cy="45381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33396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/>
              <a:t>Experimental Results of Quick-DP </a:t>
            </a:r>
            <a:r>
              <a:rPr lang="en-US" altLang="zh-TW" b="1" dirty="0" smtClean="0"/>
              <a:t>(4/6)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18</a:t>
            </a:fld>
            <a:endParaRPr lang="zh-TW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7" t="-1617" r="684" b="4033"/>
          <a:stretch/>
        </p:blipFill>
        <p:spPr bwMode="auto">
          <a:xfrm>
            <a:off x="35496" y="1916832"/>
            <a:ext cx="9035120" cy="3796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77187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/>
              <a:t>Experimental Results of Quick-DP </a:t>
            </a:r>
            <a:r>
              <a:rPr lang="en-US" altLang="zh-TW" b="1" dirty="0" smtClean="0"/>
              <a:t>(5/6)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19</a:t>
            </a:fld>
            <a:endParaRPr lang="zh-TW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4" t="2667"/>
          <a:stretch/>
        </p:blipFill>
        <p:spPr bwMode="auto">
          <a:xfrm>
            <a:off x="1619672" y="1625490"/>
            <a:ext cx="5988343" cy="50438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00781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/>
              <a:t>Experimental Results of Quick-DP </a:t>
            </a:r>
            <a:r>
              <a:rPr lang="en-US" altLang="zh-TW" b="1" dirty="0" smtClean="0"/>
              <a:t>(6/6)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20</a:t>
            </a:fld>
            <a:endParaRPr lang="zh-TW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" t="4060"/>
          <a:stretch/>
        </p:blipFill>
        <p:spPr bwMode="auto">
          <a:xfrm>
            <a:off x="107504" y="2132856"/>
            <a:ext cx="8930106" cy="34611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09487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/>
              <a:t>Experimental Results of </a:t>
            </a:r>
            <a:r>
              <a:rPr lang="en-US" altLang="zh-TW" b="1" dirty="0" smtClean="0"/>
              <a:t>Quick-DPPAR (1/6)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21</a:t>
            </a:fld>
            <a:endParaRPr lang="zh-TW" alt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336" y="1567388"/>
            <a:ext cx="7498080" cy="51739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01756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/>
              <a:t>Experimental Results of </a:t>
            </a:r>
            <a:r>
              <a:rPr lang="en-US" altLang="zh-TW" b="1" dirty="0" smtClean="0"/>
              <a:t>Quick-DPPAR (2/6)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22</a:t>
            </a:fld>
            <a:endParaRPr lang="zh-TW" alt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3" t="2206" r="2141" b="1361"/>
          <a:stretch/>
        </p:blipFill>
        <p:spPr bwMode="auto">
          <a:xfrm>
            <a:off x="221149" y="2141004"/>
            <a:ext cx="8671331" cy="35202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30495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/>
              <a:t>Experimental Results of </a:t>
            </a:r>
            <a:r>
              <a:rPr lang="en-US" altLang="zh-TW" b="1" dirty="0" smtClean="0"/>
              <a:t>Quick-DPPAR (3/6)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23</a:t>
            </a:fld>
            <a:endParaRPr lang="zh-TW" alt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83" b="2139"/>
          <a:stretch/>
        </p:blipFill>
        <p:spPr bwMode="auto">
          <a:xfrm>
            <a:off x="1045876" y="1556792"/>
            <a:ext cx="7198532" cy="50651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55247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/>
              <a:t>Experimental Results of </a:t>
            </a:r>
            <a:r>
              <a:rPr lang="en-US" altLang="zh-TW" b="1" dirty="0" smtClean="0"/>
              <a:t>Quick-DPPAR (4/6)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24</a:t>
            </a:fld>
            <a:endParaRPr lang="zh-TW" alt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124" y="1700808"/>
            <a:ext cx="7163276" cy="47920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90023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/>
              <a:t>Experimental Results of </a:t>
            </a:r>
            <a:r>
              <a:rPr lang="en-US" altLang="zh-TW" b="1" dirty="0" smtClean="0"/>
              <a:t>Quick-DPPAR (5/6)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25</a:t>
            </a:fld>
            <a:endParaRPr lang="zh-TW" alt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484784"/>
            <a:ext cx="7169468" cy="53120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24016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19"/>
          <a:stretch/>
        </p:blipFill>
        <p:spPr bwMode="auto">
          <a:xfrm>
            <a:off x="179512" y="1698456"/>
            <a:ext cx="8793033" cy="4754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/>
              <a:t>Experimental Results of </a:t>
            </a:r>
            <a:r>
              <a:rPr lang="en-US" altLang="zh-TW" b="1" dirty="0" smtClean="0"/>
              <a:t>Quick-DPPAR (6/6)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1400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C7EDCC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C7EDCC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C7EDCC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1044</TotalTime>
  <Words>1699</Words>
  <Application>Microsoft Office PowerPoint</Application>
  <PresentationFormat>如螢幕大小 (4:3)</PresentationFormat>
  <Paragraphs>219</Paragraphs>
  <Slides>26</Slides>
  <Notes>1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26</vt:i4>
      </vt:variant>
    </vt:vector>
  </HeadingPairs>
  <TitlesOfParts>
    <vt:vector size="27" baseType="lpstr">
      <vt:lpstr>Office 佈景主題</vt:lpstr>
      <vt:lpstr>A Fast Multiple Longest Common Subsequence (MLCS) Algorithm</vt:lpstr>
      <vt:lpstr>Abstract (1/2)</vt:lpstr>
      <vt:lpstr>Abstract (2/2)</vt:lpstr>
      <vt:lpstr>Dynamic Programming</vt:lpstr>
      <vt:lpstr>Dominant Point (1/2)</vt:lpstr>
      <vt:lpstr>Dominant Point (2/2)</vt:lpstr>
      <vt:lpstr>Quick-DP (1/4)</vt:lpstr>
      <vt:lpstr>Quick-DP (2/4)</vt:lpstr>
      <vt:lpstr>Quick-DP (3/4)</vt:lpstr>
      <vt:lpstr> Quick-DP (4/4)</vt:lpstr>
      <vt:lpstr>Complexity</vt:lpstr>
      <vt:lpstr>Quick-DPPAR (1/2)</vt:lpstr>
      <vt:lpstr>Quick-DPPAR (2/2)</vt:lpstr>
      <vt:lpstr>Complexity</vt:lpstr>
      <vt:lpstr>Experimental Results of Quick-DP (1/6)</vt:lpstr>
      <vt:lpstr>Experimental Results of Quick-DP (2/6)</vt:lpstr>
      <vt:lpstr>Experimental Results of Quick-DP (3/6)</vt:lpstr>
      <vt:lpstr>Experimental Results of Quick-DP (4/6)</vt:lpstr>
      <vt:lpstr>Experimental Results of Quick-DP (5/6)</vt:lpstr>
      <vt:lpstr>Experimental Results of Quick-DP (6/6)</vt:lpstr>
      <vt:lpstr>Experimental Results of Quick-DPPAR (1/6)</vt:lpstr>
      <vt:lpstr>Experimental Results of Quick-DPPAR (2/6)</vt:lpstr>
      <vt:lpstr>Experimental Results of Quick-DPPAR (3/6)</vt:lpstr>
      <vt:lpstr>Experimental Results of Quick-DPPAR (4/6)</vt:lpstr>
      <vt:lpstr>Experimental Results of Quick-DPPAR (5/6)</vt:lpstr>
      <vt:lpstr>Experimental Results of Quick-DPPAR (6/6)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on Longest Common Subsequence Fast Algorithm</dc:title>
  <dc:creator>Ray</dc:creator>
  <cp:lastModifiedBy>Ray</cp:lastModifiedBy>
  <cp:revision>362</cp:revision>
  <dcterms:created xsi:type="dcterms:W3CDTF">2012-09-09T09:37:21Z</dcterms:created>
  <dcterms:modified xsi:type="dcterms:W3CDTF">2013-02-25T10:26:10Z</dcterms:modified>
</cp:coreProperties>
</file>