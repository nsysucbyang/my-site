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72" r:id="rId7"/>
    <p:sldId id="262" r:id="rId8"/>
    <p:sldId id="263" r:id="rId9"/>
    <p:sldId id="259" r:id="rId10"/>
    <p:sldId id="270" r:id="rId11"/>
    <p:sldId id="268" r:id="rId12"/>
    <p:sldId id="269" r:id="rId13"/>
    <p:sldId id="264" r:id="rId14"/>
    <p:sldId id="265" r:id="rId15"/>
    <p:sldId id="266" r:id="rId16"/>
    <p:sldId id="267" r:id="rId17"/>
    <p:sldId id="27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12F8-4948-4523-949D-6D70199DC384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BD3C5-9003-4B2E-97DA-CDDDF7895D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A new grouping genetic algorithm for clustering problems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3429000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fontAlgn="base"/>
            <a:r>
              <a:rPr lang="en-US" altLang="zh-TW" dirty="0" smtClean="0">
                <a:solidFill>
                  <a:schemeClr val="tx1"/>
                </a:solidFill>
              </a:rPr>
              <a:t>L.E. </a:t>
            </a:r>
            <a:r>
              <a:rPr lang="en-US" altLang="zh-TW" dirty="0" err="1" smtClean="0">
                <a:solidFill>
                  <a:schemeClr val="tx1"/>
                </a:solidFill>
              </a:rPr>
              <a:t>Agustı´n</a:t>
            </a:r>
            <a:r>
              <a:rPr lang="en-US" altLang="zh-TW" dirty="0" smtClean="0">
                <a:solidFill>
                  <a:schemeClr val="tx1"/>
                </a:solidFill>
              </a:rPr>
              <a:t>-Blas, S. </a:t>
            </a:r>
            <a:r>
              <a:rPr lang="en-US" altLang="zh-TW" dirty="0" err="1" smtClean="0">
                <a:solidFill>
                  <a:schemeClr val="tx1"/>
                </a:solidFill>
              </a:rPr>
              <a:t>Salcedo-Sanz</a:t>
            </a:r>
            <a:r>
              <a:rPr lang="en-US" altLang="zh-TW" baseline="30000" dirty="0" smtClean="0">
                <a:solidFill>
                  <a:schemeClr val="tx1"/>
                </a:solidFill>
              </a:rPr>
              <a:t>, </a:t>
            </a:r>
            <a:r>
              <a:rPr lang="en-US" altLang="zh-TW" dirty="0" smtClean="0">
                <a:solidFill>
                  <a:schemeClr val="tx1"/>
                </a:solidFill>
              </a:rPr>
              <a:t>, S. </a:t>
            </a:r>
            <a:r>
              <a:rPr lang="en-US" altLang="zh-TW" dirty="0" err="1" smtClean="0">
                <a:solidFill>
                  <a:schemeClr val="tx1"/>
                </a:solidFill>
              </a:rPr>
              <a:t>Jiménez-Fernández</a:t>
            </a:r>
            <a:r>
              <a:rPr lang="en-US" altLang="zh-TW" dirty="0" smtClean="0">
                <a:solidFill>
                  <a:schemeClr val="tx1"/>
                </a:solidFill>
              </a:rPr>
              <a:t>, </a:t>
            </a:r>
          </a:p>
          <a:p>
            <a:pPr fontAlgn="base"/>
            <a:r>
              <a:rPr lang="en-US" altLang="zh-TW" dirty="0" smtClean="0">
                <a:solidFill>
                  <a:schemeClr val="tx1"/>
                </a:solidFill>
              </a:rPr>
              <a:t>L. </a:t>
            </a:r>
            <a:r>
              <a:rPr lang="en-US" altLang="zh-TW" dirty="0" err="1" smtClean="0">
                <a:solidFill>
                  <a:schemeClr val="tx1"/>
                </a:solidFill>
              </a:rPr>
              <a:t>Carro-Calvo</a:t>
            </a:r>
            <a:r>
              <a:rPr lang="en-US" altLang="zh-TW" dirty="0" smtClean="0">
                <a:solidFill>
                  <a:schemeClr val="tx1"/>
                </a:solidFill>
              </a:rPr>
              <a:t>, J. Del </a:t>
            </a:r>
            <a:r>
              <a:rPr lang="en-US" altLang="zh-TW" dirty="0" err="1" smtClean="0">
                <a:solidFill>
                  <a:schemeClr val="tx1"/>
                </a:solidFill>
              </a:rPr>
              <a:t>Ser,J.A</a:t>
            </a:r>
            <a:r>
              <a:rPr lang="en-US" altLang="zh-TW" dirty="0" smtClean="0">
                <a:solidFill>
                  <a:schemeClr val="tx1"/>
                </a:solidFill>
              </a:rPr>
              <a:t>. </a:t>
            </a:r>
            <a:r>
              <a:rPr lang="en-US" altLang="zh-TW" dirty="0" err="1" smtClean="0">
                <a:solidFill>
                  <a:schemeClr val="tx1"/>
                </a:solidFill>
              </a:rPr>
              <a:t>Portilla-Figueras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fontAlgn="base"/>
            <a:r>
              <a:rPr lang="en-US" altLang="zh-TW" baseline="30000" dirty="0" smtClean="0">
                <a:solidFill>
                  <a:schemeClr val="tx1"/>
                </a:solidFill>
              </a:rPr>
              <a:t> </a:t>
            </a:r>
          </a:p>
          <a:p>
            <a:pPr fontAlgn="base"/>
            <a:endParaRPr lang="en-US" altLang="zh-TW" dirty="0" smtClean="0">
              <a:solidFill>
                <a:schemeClr val="tx1"/>
              </a:solidFill>
            </a:endParaRPr>
          </a:p>
          <a:p>
            <a:pPr fontAlgn="base"/>
            <a:r>
              <a:rPr lang="en-US" altLang="zh-TW" sz="2000" dirty="0" smtClean="0">
                <a:solidFill>
                  <a:schemeClr val="tx1"/>
                </a:solidFill>
              </a:rPr>
              <a:t>Department of Signal Theory and Communications, Universidad de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Alcalá</a:t>
            </a:r>
            <a:r>
              <a:rPr lang="en-US" altLang="zh-TW" sz="2000" dirty="0" smtClean="0">
                <a:solidFill>
                  <a:schemeClr val="tx1"/>
                </a:solidFill>
              </a:rPr>
              <a:t>, Madrid, Spain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fontAlgn="base"/>
            <a:r>
              <a:rPr lang="en-US" altLang="zh-TW" dirty="0" smtClean="0">
                <a:solidFill>
                  <a:schemeClr val="tx1"/>
                </a:solidFill>
              </a:rPr>
              <a:t>Expert Systems with Applications 39 (2012) 9695–9703</a:t>
            </a:r>
          </a:p>
          <a:p>
            <a:endParaRPr lang="zh-TW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292725" y="5805264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TW" dirty="0">
                <a:latin typeface="Times New Roman" pitchFamily="18" charset="0"/>
              </a:rPr>
              <a:t>Presenter: </a:t>
            </a:r>
            <a:r>
              <a:rPr lang="zh-TW" altLang="en-US" dirty="0">
                <a:latin typeface="Times New Roman" pitchFamily="18" charset="0"/>
              </a:rPr>
              <a:t>方鈞毅</a:t>
            </a:r>
            <a:endParaRPr kumimoji="0" lang="en-US" altLang="zh-TW" dirty="0">
              <a:latin typeface="Times New Roman" pitchFamily="18" charset="0"/>
            </a:endParaRPr>
          </a:p>
          <a:p>
            <a:r>
              <a:rPr kumimoji="0" lang="en-US" altLang="zh-TW" dirty="0">
                <a:latin typeface="Times New Roman" pitchFamily="18" charset="0"/>
              </a:rPr>
              <a:t>Date: </a:t>
            </a:r>
            <a:r>
              <a:rPr lang="en-US" altLang="zh-TW" dirty="0" smtClean="0">
                <a:latin typeface="Times New Roman" pitchFamily="18" charset="0"/>
              </a:rPr>
              <a:t>F</a:t>
            </a:r>
            <a:r>
              <a:rPr kumimoji="0" lang="en-US" altLang="zh-TW" dirty="0" smtClean="0">
                <a:latin typeface="Times New Roman" pitchFamily="18" charset="0"/>
              </a:rPr>
              <a:t>eb. 25, 2013</a:t>
            </a:r>
            <a:endParaRPr kumimoji="0"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</a:t>
            </a:r>
            <a:r>
              <a:rPr lang="en-US" altLang="zh-TW" b="1" dirty="0" smtClean="0"/>
              <a:t>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In this paper we present a novel grouping genetic algorithm for clustering problems. Though there have been different approaches that have analyzed the performance of several genetic and evolutionary algorithms in clustering, the grouping-based approach has not been, to our knowledge, tested in this problem yet. </a:t>
            </a:r>
          </a:p>
          <a:p>
            <a:r>
              <a:rPr lang="en-US" altLang="zh-TW" dirty="0" smtClean="0"/>
              <a:t>In this paper we fully describe the grouping genetic algorithm for clustering, starting with the proposed encoding, different </a:t>
            </a:r>
            <a:r>
              <a:rPr lang="en-US" altLang="zh-TW" dirty="0" err="1" smtClean="0"/>
              <a:t>modiﬁcations</a:t>
            </a:r>
            <a:r>
              <a:rPr lang="en-US" altLang="zh-TW" dirty="0" smtClean="0"/>
              <a:t> of crossover and mutation operators, and also the description of a local search and an island model included in the algorithm, to improve the algorithm’s performance in the problem. 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</a:t>
            </a:r>
            <a:r>
              <a:rPr lang="en-US" altLang="zh-TW" b="1" dirty="0" smtClean="0"/>
              <a:t>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68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We test the proposed grouping genetic algorithm in several experiments in synthetic and real data from public repositories, and compare its results with that of classical clustering approaches, such as K-means and DBSCAN algorithms, obtaining excellent results that </a:t>
            </a:r>
            <a:r>
              <a:rPr lang="en-US" altLang="zh-TW" dirty="0" err="1" smtClean="0"/>
              <a:t>conﬁrm</a:t>
            </a:r>
            <a:r>
              <a:rPr lang="en-US" altLang="zh-TW" dirty="0" smtClean="0"/>
              <a:t> the goodness of the proposed grouping-based methodology.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基因</a:t>
            </a:r>
            <a:r>
              <a:rPr lang="zh-TW" altLang="en-US" dirty="0" smtClean="0"/>
              <a:t>演算法流程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746486" y="1630305"/>
            <a:ext cx="2520280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開始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6486" y="2780928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亂數產生第</a:t>
            </a:r>
            <a:r>
              <a:rPr lang="en-US" altLang="zh-TW" dirty="0" smtClean="0"/>
              <a:t>0</a:t>
            </a:r>
            <a:r>
              <a:rPr lang="zh-TW" altLang="en-US" dirty="0" smtClean="0"/>
              <a:t>代群體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6486" y="3717032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評估個體的適應值</a:t>
            </a:r>
          </a:p>
        </p:txBody>
      </p:sp>
      <p:sp>
        <p:nvSpPr>
          <p:cNvPr id="8" name="流程圖: 決策 7"/>
          <p:cNvSpPr/>
          <p:nvPr/>
        </p:nvSpPr>
        <p:spPr>
          <a:xfrm>
            <a:off x="766268" y="4653136"/>
            <a:ext cx="2520280" cy="57606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終止條件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734205" y="5517232"/>
            <a:ext cx="2520280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結束</a:t>
            </a:r>
          </a:p>
        </p:txBody>
      </p:sp>
      <p:cxnSp>
        <p:nvCxnSpPr>
          <p:cNvPr id="12" name="直線單箭頭接點 11"/>
          <p:cNvCxnSpPr>
            <a:endCxn id="5" idx="0"/>
          </p:cNvCxnSpPr>
          <p:nvPr/>
        </p:nvCxnSpPr>
        <p:spPr>
          <a:xfrm flipH="1">
            <a:off x="2006626" y="2422393"/>
            <a:ext cx="19782" cy="3585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7" idx="0"/>
          </p:cNvCxnSpPr>
          <p:nvPr/>
        </p:nvCxnSpPr>
        <p:spPr>
          <a:xfrm>
            <a:off x="1994345" y="3429000"/>
            <a:ext cx="12281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015539" y="4365104"/>
            <a:ext cx="12281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2010376" y="5229200"/>
            <a:ext cx="12281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635896" y="3717032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產生第</a:t>
            </a:r>
            <a:r>
              <a:rPr lang="en-US" altLang="zh-TW" dirty="0"/>
              <a:t>k</a:t>
            </a:r>
            <a:r>
              <a:rPr lang="zh-TW" altLang="en-US" dirty="0"/>
              <a:t>代的群體</a:t>
            </a:r>
          </a:p>
        </p:txBody>
      </p:sp>
      <p:sp>
        <p:nvSpPr>
          <p:cNvPr id="18" name="矩形 17"/>
          <p:cNvSpPr/>
          <p:nvPr/>
        </p:nvSpPr>
        <p:spPr>
          <a:xfrm>
            <a:off x="6372200" y="3717032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突變</a:t>
            </a:r>
            <a:r>
              <a:rPr lang="zh-TW" altLang="en-US" dirty="0" smtClean="0"/>
              <a:t>機制</a:t>
            </a:r>
            <a:r>
              <a:rPr lang="zh-TW" altLang="en-US" dirty="0"/>
              <a:t>根據</a:t>
            </a:r>
            <a:r>
              <a:rPr lang="zh-TW" altLang="en-US" dirty="0" smtClean="0"/>
              <a:t>機率</a:t>
            </a:r>
            <a:r>
              <a:rPr lang="en-US" altLang="zh-TW" dirty="0" err="1" smtClean="0"/>
              <a:t>r</a:t>
            </a:r>
            <a:r>
              <a:rPr lang="en-US" altLang="zh-TW" sz="1400" dirty="0" err="1" smtClean="0"/>
              <a:t>m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635896" y="4617132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挑選機制</a:t>
            </a:r>
          </a:p>
        </p:txBody>
      </p:sp>
      <p:sp>
        <p:nvSpPr>
          <p:cNvPr id="20" name="矩形 19"/>
          <p:cNvSpPr/>
          <p:nvPr/>
        </p:nvSpPr>
        <p:spPr>
          <a:xfrm>
            <a:off x="6381198" y="4617132"/>
            <a:ext cx="252028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交配機制根據</a:t>
            </a:r>
            <a:r>
              <a:rPr lang="zh-TW" altLang="en-US" dirty="0" smtClean="0"/>
              <a:t>機率</a:t>
            </a:r>
            <a:r>
              <a:rPr lang="en-US" altLang="zh-TW" dirty="0" err="1" smtClean="0"/>
              <a:t>r</a:t>
            </a:r>
            <a:r>
              <a:rPr lang="en-US" altLang="zh-TW" sz="1600" dirty="0" err="1"/>
              <a:t>c</a:t>
            </a:r>
            <a:endParaRPr lang="zh-TW" altLang="en-US" dirty="0"/>
          </a:p>
        </p:txBody>
      </p:sp>
      <p:cxnSp>
        <p:nvCxnSpPr>
          <p:cNvPr id="22" name="直線單箭頭接點 21"/>
          <p:cNvCxnSpPr>
            <a:stCxn id="17" idx="1"/>
          </p:cNvCxnSpPr>
          <p:nvPr/>
        </p:nvCxnSpPr>
        <p:spPr>
          <a:xfrm flipH="1">
            <a:off x="3286548" y="4041068"/>
            <a:ext cx="3493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6156176" y="404106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0" idx="0"/>
          </p:cNvCxnSpPr>
          <p:nvPr/>
        </p:nvCxnSpPr>
        <p:spPr>
          <a:xfrm flipV="1">
            <a:off x="7641338" y="4365104"/>
            <a:ext cx="0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9" idx="3"/>
            <a:endCxn id="20" idx="1"/>
          </p:cNvCxnSpPr>
          <p:nvPr/>
        </p:nvCxnSpPr>
        <p:spPr>
          <a:xfrm>
            <a:off x="6156176" y="4941168"/>
            <a:ext cx="2250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8" idx="3"/>
          </p:cNvCxnSpPr>
          <p:nvPr/>
        </p:nvCxnSpPr>
        <p:spPr>
          <a:xfrm>
            <a:off x="3286548" y="4941168"/>
            <a:ext cx="3493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174231" y="4617132"/>
            <a:ext cx="461665" cy="2880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dirty="0" smtClean="0"/>
              <a:t>否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499403" y="5229200"/>
            <a:ext cx="461665" cy="2880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dirty="0" smtClean="0"/>
              <a:t>是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6562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Clustering </a:t>
            </a:r>
            <a:r>
              <a:rPr lang="en-US" altLang="zh-TW" dirty="0" smtClean="0"/>
              <a:t>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Davis–</a:t>
            </a:r>
            <a:r>
              <a:rPr lang="en-US" altLang="zh-TW" dirty="0" err="1"/>
              <a:t>Bouldin</a:t>
            </a:r>
            <a:r>
              <a:rPr lang="en-US" altLang="zh-TW" dirty="0"/>
              <a:t> Index (DB</a:t>
            </a:r>
            <a:r>
              <a:rPr lang="en-US" altLang="zh-TW" dirty="0" smtClean="0"/>
              <a:t>):</a:t>
            </a:r>
            <a:r>
              <a:rPr lang="en-US" altLang="zh-TW" dirty="0"/>
              <a:t>minimize the intra-cluster </a:t>
            </a:r>
            <a:r>
              <a:rPr lang="en-US" altLang="zh-TW" dirty="0" smtClean="0"/>
              <a:t>distances, and </a:t>
            </a:r>
            <a:r>
              <a:rPr lang="en-US" altLang="zh-TW" dirty="0"/>
              <a:t>at the same time, maximize the distances </a:t>
            </a:r>
            <a:r>
              <a:rPr lang="en-US" altLang="zh-TW" dirty="0" smtClean="0"/>
              <a:t>among the </a:t>
            </a:r>
            <a:r>
              <a:rPr lang="en-US" altLang="zh-TW" dirty="0"/>
              <a:t>different clusters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sz="2400" dirty="0"/>
              <a:t>small values of the DB index </a:t>
            </a:r>
            <a:r>
              <a:rPr lang="en-US" altLang="zh-TW" sz="2400" dirty="0" smtClean="0"/>
              <a:t>correspond to </a:t>
            </a:r>
            <a:r>
              <a:rPr lang="en-US" altLang="zh-TW" sz="2400" dirty="0"/>
              <a:t>compact and well separated clusters</a:t>
            </a:r>
            <a:endParaRPr lang="en-US" altLang="zh-TW" sz="2400" dirty="0" smtClean="0"/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17032"/>
            <a:ext cx="61912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92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Rand index (R):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84984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Silhouette coefficient(S</a:t>
            </a:r>
            <a:r>
              <a:rPr lang="en-US" altLang="zh-TW" dirty="0" smtClean="0"/>
              <a:t>): where </a:t>
            </a:r>
            <a:r>
              <a:rPr lang="en-US" altLang="zh-TW" dirty="0"/>
              <a:t>TP and FP are the number of correct and incorrect </a:t>
            </a:r>
            <a:r>
              <a:rPr lang="en-US" altLang="zh-TW" dirty="0" smtClean="0"/>
              <a:t>assignments, respectively</a:t>
            </a:r>
            <a:r>
              <a:rPr lang="en-US" altLang="zh-TW" dirty="0"/>
              <a:t>, when the decision consists of assigning </a:t>
            </a:r>
            <a:r>
              <a:rPr lang="en-US" altLang="zh-TW" dirty="0" smtClean="0"/>
              <a:t>two elements </a:t>
            </a:r>
            <a:r>
              <a:rPr lang="en-US" altLang="zh-TW" dirty="0"/>
              <a:t>to the same cluster, and TN and FN are the number of </a:t>
            </a:r>
            <a:r>
              <a:rPr lang="en-US" altLang="zh-TW" dirty="0" smtClean="0"/>
              <a:t>correct and </a:t>
            </a:r>
            <a:r>
              <a:rPr lang="en-US" altLang="zh-TW" dirty="0"/>
              <a:t>incorrect assignments, respectively, when the </a:t>
            </a:r>
            <a:r>
              <a:rPr lang="en-US" altLang="zh-TW" dirty="0" smtClean="0"/>
              <a:t>decision consists </a:t>
            </a:r>
            <a:r>
              <a:rPr lang="en-US" altLang="zh-TW" dirty="0"/>
              <a:t>of assigning two elements to different clusters. Note </a:t>
            </a:r>
            <a:r>
              <a:rPr lang="en-US" altLang="zh-TW" dirty="0" smtClean="0"/>
              <a:t>that R </a:t>
            </a:r>
            <a:r>
              <a:rPr lang="en-US" altLang="zh-TW" dirty="0"/>
              <a:t>is in the interval [0, 1], and values of R closer to 1 indicate a </a:t>
            </a:r>
            <a:r>
              <a:rPr lang="en-US" altLang="zh-TW" dirty="0" smtClean="0"/>
              <a:t>better quality </a:t>
            </a:r>
            <a:r>
              <a:rPr lang="en-US" altLang="zh-TW" dirty="0"/>
              <a:t>of the solution tested.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54033"/>
            <a:ext cx="3162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21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ncoding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把每個個體分成兩個部分，即</a:t>
            </a:r>
            <a:r>
              <a:rPr lang="en-US" altLang="zh-TW" dirty="0" smtClean="0"/>
              <a:t>element section </a:t>
            </a:r>
            <a:r>
              <a:rPr lang="zh-TW" altLang="en-US" dirty="0" smtClean="0"/>
              <a:t>和 </a:t>
            </a:r>
            <a:r>
              <a:rPr lang="en-US" altLang="zh-TW" dirty="0" smtClean="0"/>
              <a:t>group section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356992"/>
            <a:ext cx="7557178" cy="150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340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挑選機制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b="1" dirty="0" smtClean="0"/>
              <a:t>Rank-based wheel selection mechanism</a:t>
            </a:r>
          </a:p>
          <a:p>
            <a:r>
              <a:rPr lang="en-US" altLang="zh-TW" dirty="0" smtClean="0"/>
              <a:t>the individuals are </a:t>
            </a:r>
            <a:r>
              <a:rPr lang="en-US" altLang="zh-TW" dirty="0"/>
              <a:t>sorted in a list based on their </a:t>
            </a:r>
            <a:r>
              <a:rPr lang="en-US" altLang="zh-TW" dirty="0" smtClean="0"/>
              <a:t>quality, the </a:t>
            </a:r>
            <a:r>
              <a:rPr lang="en-US" altLang="zh-TW" dirty="0"/>
              <a:t>position </a:t>
            </a:r>
            <a:r>
              <a:rPr lang="en-US" altLang="zh-TW" dirty="0" smtClean="0"/>
              <a:t>of it </a:t>
            </a:r>
            <a:r>
              <a:rPr lang="en-US" altLang="zh-TW" dirty="0"/>
              <a:t>in the list is called rank of the </a:t>
            </a:r>
            <a:r>
              <a:rPr lang="en-US" altLang="zh-TW" dirty="0" smtClean="0"/>
              <a:t>individual</a:t>
            </a:r>
          </a:p>
          <a:p>
            <a:r>
              <a:rPr lang="en-US" altLang="zh-TW" dirty="0" smtClean="0"/>
              <a:t>A fitness function is defined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lvl="1"/>
            <a:r>
              <a:rPr lang="en-US" altLang="zh-TW" dirty="0" smtClean="0"/>
              <a:t>Example(</a:t>
            </a:r>
            <a:r>
              <a:rPr lang="zh-TW" altLang="en-US" dirty="0" smtClean="0"/>
              <a:t>具五個個體</a:t>
            </a:r>
            <a:r>
              <a:rPr lang="en-US" altLang="zh-TW" dirty="0" smtClean="0"/>
              <a:t>)</a:t>
            </a:r>
            <a:r>
              <a:rPr lang="zh-TW" altLang="en-US" dirty="0" smtClean="0"/>
              <a:t>則</a:t>
            </a:r>
            <a:r>
              <a:rPr lang="en-US" altLang="zh-TW" dirty="0" smtClean="0"/>
              <a:t>R1 = 5, R2=4,….R5=1</a:t>
            </a:r>
          </a:p>
          <a:p>
            <a:pPr marL="457200" lvl="1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</a:t>
            </a:r>
            <a:r>
              <a:rPr lang="zh-TW" altLang="en-US" dirty="0" smtClean="0"/>
              <a:t>帶入上式可得</a:t>
            </a:r>
            <a:r>
              <a:rPr lang="en-US" altLang="zh-TW" dirty="0" smtClean="0"/>
              <a:t>{0.33,0.26,0.2,0.13,0.06}</a:t>
            </a:r>
          </a:p>
          <a:p>
            <a:pPr marL="457200" lvl="1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</a:t>
            </a:r>
            <a:r>
              <a:rPr lang="zh-TW" altLang="en-US" dirty="0" smtClean="0"/>
              <a:t>則其</a:t>
            </a:r>
            <a:r>
              <a:rPr lang="en-US" altLang="zh-TW" dirty="0" smtClean="0"/>
              <a:t>roulette wheel </a:t>
            </a:r>
            <a:r>
              <a:rPr lang="zh-TW" altLang="en-US" dirty="0" smtClean="0"/>
              <a:t>為</a:t>
            </a:r>
            <a:endParaRPr lang="en-US" altLang="zh-TW" dirty="0" smtClean="0"/>
          </a:p>
          <a:p>
            <a:r>
              <a:rPr lang="en-US" altLang="zh-TW" dirty="0"/>
              <a:t>{</a:t>
            </a:r>
            <a:r>
              <a:rPr lang="en-US" altLang="zh-TW" dirty="0" smtClean="0"/>
              <a:t>0-0.33, 0.34-0.6, 0.61-0.8, 0.81-0.93, 0.94-1</a:t>
            </a:r>
            <a:r>
              <a:rPr lang="en-US" altLang="zh-TW" dirty="0"/>
              <a:t>}.</a:t>
            </a:r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779" y="2917930"/>
            <a:ext cx="2088233" cy="107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4416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Crossover Operator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472" y="1628800"/>
            <a:ext cx="5667486" cy="429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rossover </a:t>
            </a:r>
            <a:r>
              <a:rPr lang="en-US" altLang="zh-TW" dirty="0"/>
              <a:t>P</a:t>
            </a:r>
            <a:r>
              <a:rPr lang="en-US" altLang="zh-TW" dirty="0" smtClean="0"/>
              <a:t>robability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The probability of crossover must be high in the </a:t>
            </a:r>
            <a:r>
              <a:rPr lang="en-US" altLang="zh-TW" dirty="0" smtClean="0"/>
              <a:t>first stages </a:t>
            </a:r>
            <a:r>
              <a:rPr lang="en-US" altLang="zh-TW" dirty="0"/>
              <a:t>of the algorithm, and moderate in the last ones in order </a:t>
            </a:r>
            <a:r>
              <a:rPr lang="en-US" altLang="zh-TW" dirty="0" smtClean="0"/>
              <a:t>to properly explore </a:t>
            </a:r>
            <a:r>
              <a:rPr lang="en-US" altLang="zh-TW" dirty="0"/>
              <a:t>the search space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in a given generation j,</a:t>
            </a:r>
          </a:p>
          <a:p>
            <a:r>
              <a:rPr lang="en-US" altLang="zh-TW" dirty="0"/>
              <a:t>TG stands for the total number of generations of the </a:t>
            </a:r>
            <a:r>
              <a:rPr lang="en-US" altLang="zh-TW" dirty="0" smtClean="0"/>
              <a:t>algorithm</a:t>
            </a:r>
            <a:endParaRPr lang="en-US" altLang="zh-TW" dirty="0"/>
          </a:p>
          <a:p>
            <a:r>
              <a:rPr lang="en-US" altLang="zh-TW" dirty="0" err="1"/>
              <a:t>Pci</a:t>
            </a:r>
            <a:r>
              <a:rPr lang="en-US" altLang="zh-TW" dirty="0"/>
              <a:t> and </a:t>
            </a:r>
            <a:r>
              <a:rPr lang="en-US" altLang="zh-TW" dirty="0" err="1"/>
              <a:t>Pcf</a:t>
            </a:r>
            <a:r>
              <a:rPr lang="en-US" altLang="zh-TW" dirty="0"/>
              <a:t> are the initial and final values of probability</a:t>
            </a:r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780928"/>
            <a:ext cx="5569284" cy="136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36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Mutation </a:t>
            </a:r>
            <a:r>
              <a:rPr lang="en-US" altLang="zh-TW" dirty="0" smtClean="0"/>
              <a:t>Operator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Mutation by cluster </a:t>
            </a:r>
            <a:r>
              <a:rPr lang="en-US" altLang="zh-TW" b="1" dirty="0" smtClean="0"/>
              <a:t>splitting: </a:t>
            </a:r>
            <a:r>
              <a:rPr lang="en-US" altLang="zh-TW" dirty="0" smtClean="0"/>
              <a:t>it </a:t>
            </a:r>
            <a:r>
              <a:rPr lang="en-US" altLang="zh-TW" dirty="0"/>
              <a:t>consists of splitting a </a:t>
            </a:r>
            <a:r>
              <a:rPr lang="en-US" altLang="zh-TW" dirty="0" smtClean="0"/>
              <a:t>selected cluster </a:t>
            </a:r>
            <a:r>
              <a:rPr lang="en-US" altLang="zh-TW" dirty="0"/>
              <a:t>into two different ones</a:t>
            </a:r>
            <a:r>
              <a:rPr lang="en-US" altLang="zh-TW" dirty="0" smtClean="0"/>
              <a:t>.</a:t>
            </a:r>
            <a:r>
              <a:rPr lang="en-US" altLang="zh-TW" dirty="0"/>
              <a:t> one of the new generated clusters will keep </a:t>
            </a:r>
            <a:r>
              <a:rPr lang="en-US" altLang="zh-TW" dirty="0" smtClean="0"/>
              <a:t>its label </a:t>
            </a:r>
            <a:r>
              <a:rPr lang="en-US" altLang="zh-TW" dirty="0"/>
              <a:t>in the group section of the individual, whereas the </a:t>
            </a:r>
            <a:r>
              <a:rPr lang="en-US" altLang="zh-TW" dirty="0" smtClean="0"/>
              <a:t>other will </a:t>
            </a:r>
            <a:r>
              <a:rPr lang="en-US" altLang="zh-TW" dirty="0"/>
              <a:t>be assigned a new label (k + 1).</a:t>
            </a:r>
            <a:endParaRPr lang="en-US" altLang="zh-TW" dirty="0" smtClean="0"/>
          </a:p>
          <a:p>
            <a:endParaRPr lang="en-US" altLang="zh-TW" dirty="0" smtClean="0"/>
          </a:p>
          <a:p>
            <a:pPr marL="457200" lvl="1" indent="0">
              <a:buNone/>
            </a:pPr>
            <a:r>
              <a:rPr lang="pl-PL" altLang="zh-TW" dirty="0" smtClean="0"/>
              <a:t>2 </a:t>
            </a:r>
            <a:r>
              <a:rPr lang="pl-PL" altLang="zh-TW" dirty="0"/>
              <a:t>2 1 3 3 4 4 5 2 1 4 2 5 1 4 </a:t>
            </a:r>
            <a:r>
              <a:rPr lang="en-US" altLang="zh-TW" dirty="0" smtClean="0"/>
              <a:t>|</a:t>
            </a:r>
            <a:r>
              <a:rPr lang="pl-PL" altLang="zh-TW" dirty="0" smtClean="0"/>
              <a:t>1 </a:t>
            </a:r>
            <a:r>
              <a:rPr lang="pl-PL" altLang="zh-TW" dirty="0"/>
              <a:t>2 3 4 </a:t>
            </a:r>
            <a:r>
              <a:rPr lang="pl-PL" altLang="zh-TW" dirty="0" smtClean="0"/>
              <a:t>5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405929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Mutation Operator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Mutation by clusters </a:t>
            </a:r>
            <a:r>
              <a:rPr lang="en-US" altLang="zh-TW" b="1" dirty="0" smtClean="0"/>
              <a:t>merging: </a:t>
            </a:r>
            <a:r>
              <a:rPr lang="en-US" altLang="zh-TW" dirty="0" smtClean="0"/>
              <a:t>it </a:t>
            </a:r>
            <a:r>
              <a:rPr lang="en-US" altLang="zh-TW" dirty="0"/>
              <a:t>consists of merging two </a:t>
            </a:r>
            <a:r>
              <a:rPr lang="en-US" altLang="zh-TW" dirty="0" smtClean="0"/>
              <a:t>existing clusters</a:t>
            </a:r>
            <a:r>
              <a:rPr lang="en-US" altLang="zh-TW" dirty="0"/>
              <a:t>, randomly selected, into just one.</a:t>
            </a:r>
            <a:endParaRPr lang="en-US" altLang="zh-TW" b="1" dirty="0"/>
          </a:p>
          <a:p>
            <a:pPr marL="457200" lvl="1" indent="0">
              <a:buNone/>
            </a:pPr>
            <a:r>
              <a:rPr lang="pl-PL" altLang="zh-TW" dirty="0"/>
              <a:t>2 2 1 3 3 2 2 1 2 1 2 2 1 1 2 </a:t>
            </a:r>
            <a:r>
              <a:rPr lang="en-US" altLang="zh-TW" dirty="0"/>
              <a:t>|</a:t>
            </a:r>
            <a:r>
              <a:rPr lang="pl-PL" altLang="zh-TW" dirty="0"/>
              <a:t> 1 2 </a:t>
            </a:r>
            <a:r>
              <a:rPr lang="pl-PL" altLang="zh-TW" dirty="0" smtClean="0"/>
              <a:t>3</a:t>
            </a: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7373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</a:t>
            </a:r>
            <a:r>
              <a:rPr lang="en-US" altLang="zh-TW" dirty="0" smtClean="0"/>
              <a:t>robability </a:t>
            </a:r>
            <a:r>
              <a:rPr lang="en-US" altLang="zh-TW" dirty="0"/>
              <a:t>of </a:t>
            </a:r>
            <a:r>
              <a:rPr lang="en-US" altLang="zh-TW" dirty="0" smtClean="0"/>
              <a:t>Mutation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probability of mutation is </a:t>
            </a:r>
            <a:r>
              <a:rPr lang="en-US" altLang="zh-TW" dirty="0" smtClean="0"/>
              <a:t>smaller in </a:t>
            </a:r>
            <a:r>
              <a:rPr lang="en-US" altLang="zh-TW" dirty="0"/>
              <a:t>the first generations of the algorithm and larger in the last </a:t>
            </a:r>
            <a:r>
              <a:rPr lang="en-US" altLang="zh-TW" dirty="0" smtClean="0"/>
              <a:t>ones, in </a:t>
            </a:r>
            <a:r>
              <a:rPr lang="en-US" altLang="zh-TW" dirty="0"/>
              <a:t>order to have more opportunities to scape from local </a:t>
            </a:r>
            <a:r>
              <a:rPr lang="en-US" altLang="zh-TW" dirty="0" smtClean="0"/>
              <a:t>minimums in </a:t>
            </a:r>
            <a:r>
              <a:rPr lang="en-US" altLang="zh-TW" dirty="0"/>
              <a:t>the last stages of the </a:t>
            </a:r>
            <a:r>
              <a:rPr lang="en-US" altLang="zh-TW" dirty="0" smtClean="0"/>
              <a:t>evolution</a:t>
            </a:r>
          </a:p>
          <a:p>
            <a:endParaRPr lang="en-US" altLang="zh-TW" dirty="0"/>
          </a:p>
          <a:p>
            <a:r>
              <a:rPr lang="en-US" altLang="zh-TW" dirty="0" smtClean="0"/>
              <a:t> </a:t>
            </a:r>
          </a:p>
          <a:p>
            <a:endParaRPr lang="en-US" altLang="zh-TW" dirty="0" smtClean="0"/>
          </a:p>
          <a:p>
            <a:r>
              <a:rPr lang="en-US" altLang="zh-TW" dirty="0"/>
              <a:t>TG </a:t>
            </a:r>
            <a:r>
              <a:rPr lang="en-US" altLang="zh-TW" dirty="0" smtClean="0"/>
              <a:t>- the </a:t>
            </a:r>
            <a:r>
              <a:rPr lang="en-US" altLang="zh-TW" dirty="0"/>
              <a:t>total number of generations </a:t>
            </a:r>
            <a:endParaRPr lang="en-US" altLang="zh-TW" dirty="0" smtClean="0"/>
          </a:p>
          <a:p>
            <a:r>
              <a:rPr lang="en-US" altLang="zh-TW" dirty="0" err="1" smtClean="0"/>
              <a:t>Pmf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err="1"/>
              <a:t>Pmi</a:t>
            </a:r>
            <a:r>
              <a:rPr lang="en-US" altLang="zh-TW" dirty="0"/>
              <a:t> are the final and initial values </a:t>
            </a:r>
            <a:r>
              <a:rPr lang="en-US" altLang="zh-TW" dirty="0" smtClean="0"/>
              <a:t>of probability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56992"/>
            <a:ext cx="4605933" cy="101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713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and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166" y="3356993"/>
            <a:ext cx="3407668" cy="332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393330"/>
            <a:ext cx="7372350" cy="196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9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24" y="304627"/>
            <a:ext cx="739140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1960811"/>
            <a:ext cx="4929361" cy="459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590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0648"/>
            <a:ext cx="7353300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25" y="2148668"/>
            <a:ext cx="4900786" cy="4621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590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224088"/>
            <a:ext cx="74104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489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678</Words>
  <Application>Microsoft Office PowerPoint</Application>
  <PresentationFormat>如螢幕大小 (4:3)</PresentationFormat>
  <Paragraphs>71</Paragraphs>
  <Slides>17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Office 佈景主題</vt:lpstr>
      <vt:lpstr>A new grouping genetic algorithm for clustering problems</vt:lpstr>
      <vt:lpstr>Abstract</vt:lpstr>
      <vt:lpstr>Abstract</vt:lpstr>
      <vt:lpstr>基因演算法流程</vt:lpstr>
      <vt:lpstr>Clustering Evaluation</vt:lpstr>
      <vt:lpstr>Rand index (R):</vt:lpstr>
      <vt:lpstr>Encoding</vt:lpstr>
      <vt:lpstr>挑選機制</vt:lpstr>
      <vt:lpstr>Crossover Operator</vt:lpstr>
      <vt:lpstr>Crossover Probability</vt:lpstr>
      <vt:lpstr>Mutation Operator</vt:lpstr>
      <vt:lpstr>Mutation Operator</vt:lpstr>
      <vt:lpstr>Probability of Mutation</vt:lpstr>
      <vt:lpstr>Experiments and results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grouping genetic algorithm for clustering problems</dc:title>
  <dc:creator>Transcend</dc:creator>
  <cp:lastModifiedBy>fjy</cp:lastModifiedBy>
  <cp:revision>17</cp:revision>
  <dcterms:created xsi:type="dcterms:W3CDTF">2013-02-25T04:11:30Z</dcterms:created>
  <dcterms:modified xsi:type="dcterms:W3CDTF">2013-02-25T11:27:48Z</dcterms:modified>
</cp:coreProperties>
</file>