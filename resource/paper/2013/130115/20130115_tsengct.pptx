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s/slide56.xml" ContentType="application/vnd.openxmlformats-officedocument.presentationml.slide+xml"/>
  <Override PartName="/ppt/slides/slide5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slides/slide5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62"/>
  </p:notesMasterIdLst>
  <p:sldIdLst>
    <p:sldId id="256" r:id="rId2"/>
    <p:sldId id="257" r:id="rId3"/>
    <p:sldId id="261" r:id="rId4"/>
    <p:sldId id="258" r:id="rId5"/>
    <p:sldId id="260" r:id="rId6"/>
    <p:sldId id="279" r:id="rId7"/>
    <p:sldId id="259" r:id="rId8"/>
    <p:sldId id="311" r:id="rId9"/>
    <p:sldId id="312" r:id="rId10"/>
    <p:sldId id="262" r:id="rId11"/>
    <p:sldId id="263" r:id="rId12"/>
    <p:sldId id="265" r:id="rId13"/>
    <p:sldId id="264" r:id="rId14"/>
    <p:sldId id="273" r:id="rId15"/>
    <p:sldId id="267" r:id="rId16"/>
    <p:sldId id="266" r:id="rId17"/>
    <p:sldId id="280" r:id="rId18"/>
    <p:sldId id="274" r:id="rId19"/>
    <p:sldId id="275" r:id="rId20"/>
    <p:sldId id="276" r:id="rId21"/>
    <p:sldId id="277" r:id="rId22"/>
    <p:sldId id="278" r:id="rId23"/>
    <p:sldId id="281" r:id="rId24"/>
    <p:sldId id="283" r:id="rId25"/>
    <p:sldId id="287" r:id="rId26"/>
    <p:sldId id="282" r:id="rId27"/>
    <p:sldId id="284" r:id="rId28"/>
    <p:sldId id="285" r:id="rId29"/>
    <p:sldId id="313" r:id="rId30"/>
    <p:sldId id="286" r:id="rId31"/>
    <p:sldId id="288" r:id="rId32"/>
    <p:sldId id="289" r:id="rId33"/>
    <p:sldId id="290" r:id="rId34"/>
    <p:sldId id="291" r:id="rId35"/>
    <p:sldId id="314" r:id="rId36"/>
    <p:sldId id="315" r:id="rId37"/>
    <p:sldId id="294" r:id="rId38"/>
    <p:sldId id="295" r:id="rId39"/>
    <p:sldId id="293" r:id="rId40"/>
    <p:sldId id="296" r:id="rId41"/>
    <p:sldId id="298" r:id="rId42"/>
    <p:sldId id="297" r:id="rId43"/>
    <p:sldId id="299" r:id="rId44"/>
    <p:sldId id="300" r:id="rId45"/>
    <p:sldId id="301" r:id="rId46"/>
    <p:sldId id="302" r:id="rId47"/>
    <p:sldId id="316" r:id="rId48"/>
    <p:sldId id="318" r:id="rId49"/>
    <p:sldId id="319" r:id="rId50"/>
    <p:sldId id="320" r:id="rId51"/>
    <p:sldId id="321" r:id="rId52"/>
    <p:sldId id="317" r:id="rId53"/>
    <p:sldId id="306" r:id="rId54"/>
    <p:sldId id="307" r:id="rId55"/>
    <p:sldId id="308" r:id="rId56"/>
    <p:sldId id="309" r:id="rId57"/>
    <p:sldId id="303" r:id="rId58"/>
    <p:sldId id="304" r:id="rId59"/>
    <p:sldId id="310" r:id="rId60"/>
    <p:sldId id="305" r:id="rId61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57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BC62FD-0B71-4776-99ED-E80D91820966}" type="datetimeFigureOut">
              <a:rPr lang="zh-TW" altLang="en-US" smtClean="0"/>
              <a:pPr/>
              <a:t>2013/1/15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FEF220-9A19-4D51-BE95-2D7F8FC541C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5245265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直角三角形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標題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17" name="副標題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zh-TW" altLang="en-US" smtClean="0"/>
              <a:t>按一下以編輯母片副標題樣式</a:t>
            </a:r>
            <a:endParaRPr kumimoji="0" lang="en-US"/>
          </a:p>
        </p:txBody>
      </p:sp>
      <p:grpSp>
        <p:nvGrpSpPr>
          <p:cNvPr id="2" name="群組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手繪多邊形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手繪多邊形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手繪多邊形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直線接點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日期版面配置區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4D14AD80-7490-4BEF-8508-E97EF7C1F6D0}" type="datetime1">
              <a:rPr lang="zh-TW" altLang="en-US" smtClean="0"/>
              <a:pPr/>
              <a:t>2013/1/15</a:t>
            </a:fld>
            <a:endParaRPr lang="zh-TW" altLang="en-US"/>
          </a:p>
        </p:txBody>
      </p:sp>
      <p:sp>
        <p:nvSpPr>
          <p:cNvPr id="19" name="頁尾版面配置區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zh-TW" altLang="en-US"/>
          </a:p>
        </p:txBody>
      </p:sp>
      <p:sp>
        <p:nvSpPr>
          <p:cNvPr id="27" name="投影片編號版面配置區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C7FDAB7D-3A76-4E22-A0DF-E53F781656F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0BAB0F5-D1BB-43CA-B44E-13068396054E}" type="datetime1">
              <a:rPr lang="zh-TW" altLang="en-US" smtClean="0"/>
              <a:pPr/>
              <a:t>2013/1/15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7FDAB7D-3A76-4E22-A0DF-E53F781656F0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7" name="標題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effectLst/>
              </a:defRPr>
            </a:lvl1pPr>
            <a:extLst/>
          </a:lstStyle>
          <a:p>
            <a:r>
              <a:rPr kumimoji="0" lang="zh-TW" altLang="en-US" dirty="0" smtClean="0"/>
              <a:t>按一下以編輯母片標題樣式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5891779-068A-4555-AECE-06E3F1CC2BF4}" type="datetime1">
              <a:rPr lang="zh-TW" altLang="en-US" smtClean="0"/>
              <a:pPr/>
              <a:t>2013/1/15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7FDAB7D-3A76-4E22-A0DF-E53F781656F0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7" name="＞形箭號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＞形箭號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20882EE-B41F-4F21-ABB2-8164230AE07D}" type="datetime1">
              <a:rPr lang="zh-TW" altLang="en-US" smtClean="0"/>
              <a:pPr/>
              <a:t>2013/1/15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7FDAB7D-3A76-4E22-A0DF-E53F781656F0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標題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對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9D3AB1C-B63F-4FD3-B681-50B977D9B8E5}" type="datetime1">
              <a:rPr lang="zh-TW" altLang="en-US" smtClean="0"/>
              <a:pPr/>
              <a:t>2013/1/15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7FDAB7D-3A76-4E22-A0DF-E53F781656F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589B7DE-C91B-4942-BB10-F2F369D0785E}" type="datetime1">
              <a:rPr lang="zh-TW" altLang="en-US" smtClean="0"/>
              <a:pPr/>
              <a:t>2013/1/15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7FDAB7D-3A76-4E22-A0DF-E53F781656F0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6" name="標題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9BF66A7-645E-43EA-B79E-9EEB5FD48871}" type="datetime1">
              <a:rPr lang="zh-TW" altLang="en-US" smtClean="0"/>
              <a:pPr/>
              <a:t>2013/1/15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7FDAB7D-3A76-4E22-A0DF-E53F781656F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DE80EDDD-1DCA-4FFC-83C8-45F199E3BDF4}" type="datetime1">
              <a:rPr lang="zh-TW" altLang="en-US" smtClean="0"/>
              <a:pPr/>
              <a:t>2013/1/15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7FDAB7D-3A76-4E22-A0DF-E53F781656F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zh-TW" altLang="en-US" smtClean="0"/>
              <a:t>按一下圖示以新增圖片</a:t>
            </a:r>
            <a:endParaRPr kumimoji="0" lang="en-US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D17427F3-85D6-4E23-8F12-99181DE4F912}" type="datetime1">
              <a:rPr lang="zh-TW" altLang="en-US" smtClean="0"/>
              <a:pPr/>
              <a:t>2013/1/15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C7FDAB7D-3A76-4E22-A0DF-E53F781656F0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8" name="手繪多邊形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手繪多邊形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直角三角形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直線接點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＞形箭號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＞形箭號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6284B41-A96F-4887-B9FD-C59208892C1B}" type="datetime1">
              <a:rPr lang="zh-TW" altLang="en-US" smtClean="0"/>
              <a:pPr/>
              <a:t>2013/1/15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7FDAB7D-3A76-4E22-A0DF-E53F781656F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1EE437D-76CE-4889-B85B-D6F0607F7DFD}" type="datetime1">
              <a:rPr lang="zh-TW" altLang="en-US" smtClean="0"/>
              <a:pPr/>
              <a:t>2013/1/15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7FDAB7D-3A76-4E22-A0DF-E53F781656F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手繪多邊形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手繪多邊形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直角三角形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直線接點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標題版面配置區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0" name="文字版面配置區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  <a:p>
            <a:pPr lvl="1" eaLnBrk="1" latinLnBrk="0" hangingPunct="1"/>
            <a:r>
              <a:rPr kumimoji="0" lang="zh-TW" altLang="en-US" smtClean="0"/>
              <a:t>第二層</a:t>
            </a:r>
          </a:p>
          <a:p>
            <a:pPr lvl="2" eaLnBrk="1" latinLnBrk="0" hangingPunct="1"/>
            <a:r>
              <a:rPr kumimoji="0" lang="zh-TW" altLang="en-US" smtClean="0"/>
              <a:t>第三層</a:t>
            </a:r>
          </a:p>
          <a:p>
            <a:pPr lvl="3" eaLnBrk="1" latinLnBrk="0" hangingPunct="1"/>
            <a:r>
              <a:rPr kumimoji="0" lang="zh-TW" altLang="en-US" smtClean="0"/>
              <a:t>第四層</a:t>
            </a:r>
          </a:p>
          <a:p>
            <a:pPr lvl="4" eaLnBrk="1" latinLnBrk="0" hangingPunct="1"/>
            <a:r>
              <a:rPr kumimoji="0" lang="zh-TW" altLang="en-US" smtClean="0"/>
              <a:t>第五層</a:t>
            </a:r>
            <a:endParaRPr kumimoji="0" lang="en-US"/>
          </a:p>
        </p:txBody>
      </p:sp>
      <p:sp>
        <p:nvSpPr>
          <p:cNvPr id="10" name="日期版面配置區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59C6F7B2-AA74-46F1-AC76-112567C31BAC}" type="datetime1">
              <a:rPr lang="zh-TW" altLang="en-US" smtClean="0"/>
              <a:pPr/>
              <a:t>2013/1/15</a:t>
            </a:fld>
            <a:endParaRPr lang="zh-TW" altLang="en-US"/>
          </a:p>
        </p:txBody>
      </p:sp>
      <p:sp>
        <p:nvSpPr>
          <p:cNvPr id="22" name="頁尾版面配置區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zh-TW" altLang="en-US"/>
          </a:p>
        </p:txBody>
      </p:sp>
      <p:sp>
        <p:nvSpPr>
          <p:cNvPr id="18" name="投影片編號版面配置區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C7FDAB7D-3A76-4E22-A0DF-E53F781656F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://algo2.iti.kit.edu/2109.php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>
                <a:effectLst/>
              </a:rPr>
              <a:t>Dynamic Ordered Sets with Exponential Search </a:t>
            </a:r>
            <a:r>
              <a:rPr lang="en-US" altLang="zh-TW" dirty="0" smtClean="0">
                <a:effectLst/>
              </a:rPr>
              <a:t>Trees</a:t>
            </a:r>
            <a:endParaRPr lang="zh-TW" altLang="en-US" dirty="0">
              <a:effectLst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altLang="zh-TW" dirty="0" smtClean="0"/>
              <a:t>Arne </a:t>
            </a:r>
            <a:r>
              <a:rPr lang="en-US" altLang="zh-TW" dirty="0" err="1" smtClean="0"/>
              <a:t>Andersson</a:t>
            </a:r>
            <a:r>
              <a:rPr lang="en-US" altLang="zh-TW" dirty="0"/>
              <a:t> </a:t>
            </a:r>
            <a:r>
              <a:rPr lang="en-US" altLang="zh-TW" dirty="0" smtClean="0"/>
              <a:t>and </a:t>
            </a:r>
            <a:r>
              <a:rPr lang="en-US" altLang="zh-TW" dirty="0" err="1"/>
              <a:t>Mikkel</a:t>
            </a:r>
            <a:r>
              <a:rPr lang="en-US" altLang="zh-TW" dirty="0"/>
              <a:t> </a:t>
            </a:r>
            <a:r>
              <a:rPr lang="en-US" altLang="zh-TW" dirty="0" err="1" smtClean="0"/>
              <a:t>Thorup</a:t>
            </a:r>
            <a:endParaRPr lang="en-US" altLang="zh-TW" dirty="0" smtClean="0"/>
          </a:p>
          <a:p>
            <a:r>
              <a:rPr lang="en-US" altLang="zh-TW" dirty="0"/>
              <a:t>Journal of the </a:t>
            </a:r>
            <a:r>
              <a:rPr lang="en-US" altLang="zh-TW" dirty="0" smtClean="0"/>
              <a:t>ACM, Vol. 54,  No. 3, A</a:t>
            </a:r>
            <a:r>
              <a:rPr lang="en-US" altLang="zh-TW" dirty="0" smtClean="0">
                <a:effectLst/>
              </a:rPr>
              <a:t>rticle 13, </a:t>
            </a:r>
            <a:r>
              <a:rPr lang="en-US" altLang="zh-TW" dirty="0" smtClean="0"/>
              <a:t>2007 </a:t>
            </a:r>
          </a:p>
          <a:p>
            <a:r>
              <a:rPr lang="en-US" altLang="zh-TW" dirty="0" smtClean="0"/>
              <a:t>Presenter: </a:t>
            </a:r>
            <a:r>
              <a:rPr lang="en-US" altLang="zh-TW" dirty="0" err="1" smtClean="0"/>
              <a:t>Chiou</a:t>
            </a:r>
            <a:r>
              <a:rPr lang="en-US" altLang="zh-TW" dirty="0" smtClean="0"/>
              <a:t>-Ting Tseng</a:t>
            </a:r>
          </a:p>
          <a:p>
            <a:r>
              <a:rPr lang="en-US" altLang="zh-TW" dirty="0" smtClean="0"/>
              <a:t>Date: Jan. 15, 2013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77292090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en-US" altLang="zh-TW" dirty="0" smtClean="0"/>
                  <a:t>We introduce 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exponential search trees </a:t>
                </a:r>
                <a:r>
                  <a:rPr lang="en-US" altLang="zh-TW" dirty="0" smtClean="0"/>
                  <a:t>as a novel technique for converting static polynomial </a:t>
                </a:r>
                <a:r>
                  <a:rPr lang="en-US" altLang="zh-TW" dirty="0"/>
                  <a:t>space search structures for ordered sets into fully-dynamic 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linear 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space </a:t>
                </a:r>
                <a:r>
                  <a:rPr lang="en-US" altLang="zh-TW" dirty="0" smtClean="0"/>
                  <a:t>data structures. </a:t>
                </a:r>
              </a:p>
              <a:p>
                <a:r>
                  <a:rPr lang="en-US" altLang="zh-TW" dirty="0" smtClean="0"/>
                  <a:t>This </a:t>
                </a:r>
                <a:r>
                  <a:rPr lang="en-US" altLang="zh-TW" dirty="0"/>
                  <a:t>leads to an </a:t>
                </a:r>
                <a:r>
                  <a:rPr lang="en-US" altLang="zh-TW" i="1" dirty="0">
                    <a:solidFill>
                      <a:srgbClr val="FF0000"/>
                    </a:solidFill>
                  </a:rPr>
                  <a:t>optimal 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bound </a:t>
                </a:r>
                <a:r>
                  <a:rPr lang="en-US" altLang="zh-TW" dirty="0"/>
                  <a:t>of </a:t>
                </a:r>
                <a:r>
                  <a:rPr lang="en-US" altLang="zh-TW" i="1" dirty="0" smtClean="0"/>
                  <a:t>O</a:t>
                </a:r>
                <a:r>
                  <a:rPr lang="en-US" altLang="zh-TW" dirty="0" smtClean="0"/>
                  <a:t>(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TW" i="1" smtClean="0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m:rPr>
                            <m:nor/>
                          </m:rPr>
                          <a:rPr lang="en-US" altLang="zh-TW" b="0" i="0" smtClean="0">
                            <a:latin typeface="Cambria Math"/>
                          </a:rPr>
                          <m:t>log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 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𝑛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/</m:t>
                        </m:r>
                        <m:r>
                          <m:rPr>
                            <m:nor/>
                          </m:rPr>
                          <a:rPr lang="en-US" altLang="zh-TW" b="0" i="0" smtClean="0">
                            <a:latin typeface="Cambria Math"/>
                          </a:rPr>
                          <m:t>log</m:t>
                        </m:r>
                        <m:r>
                          <m:rPr>
                            <m:nor/>
                          </m:rPr>
                          <a:rPr lang="en-US" altLang="zh-TW" b="0" i="0" smtClean="0">
                            <a:latin typeface="Cambria Math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b="0" i="0" smtClean="0">
                            <a:latin typeface="Cambria Math"/>
                          </a:rPr>
                          <m:t>log</m:t>
                        </m:r>
                        <m:r>
                          <m:rPr>
                            <m:nor/>
                          </m:rPr>
                          <a:rPr lang="en-US" altLang="zh-TW" b="0" i="0" smtClean="0">
                            <a:latin typeface="Cambria Math"/>
                          </a:rPr>
                          <m:t> 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𝑛</m:t>
                        </m:r>
                      </m:e>
                    </m:rad>
                  </m:oMath>
                </a14:m>
                <a:r>
                  <a:rPr lang="en-US" altLang="zh-TW" dirty="0" smtClean="0"/>
                  <a:t>) </a:t>
                </a:r>
                <a:r>
                  <a:rPr lang="en-US" altLang="zh-TW" dirty="0"/>
                  <a:t>for searching and </a:t>
                </a:r>
                <a:r>
                  <a:rPr lang="en-US" altLang="zh-TW" dirty="0" smtClean="0"/>
                  <a:t>updating a </a:t>
                </a:r>
                <a:r>
                  <a:rPr lang="en-US" altLang="zh-TW" dirty="0"/>
                  <a:t>dynamic set </a:t>
                </a:r>
                <a:r>
                  <a:rPr lang="en-US" altLang="zh-TW" i="1" dirty="0"/>
                  <a:t>X </a:t>
                </a:r>
                <a:r>
                  <a:rPr lang="en-US" altLang="zh-TW" dirty="0"/>
                  <a:t>of </a:t>
                </a:r>
                <a:r>
                  <a:rPr lang="en-US" altLang="zh-TW" i="1" dirty="0"/>
                  <a:t>n </a:t>
                </a:r>
                <a:r>
                  <a:rPr lang="en-US" altLang="zh-TW" dirty="0"/>
                  <a:t>integer keys in linear space. Searching </a:t>
                </a:r>
                <a:r>
                  <a:rPr lang="en-US" altLang="zh-TW" i="1" dirty="0"/>
                  <a:t>X </a:t>
                </a:r>
                <a:r>
                  <a:rPr lang="en-US" altLang="zh-TW" dirty="0"/>
                  <a:t>for an integer </a:t>
                </a:r>
                <a:r>
                  <a:rPr lang="en-US" altLang="zh-TW" i="1" dirty="0"/>
                  <a:t>y </a:t>
                </a:r>
                <a:r>
                  <a:rPr lang="en-US" altLang="zh-TW" dirty="0" smtClean="0"/>
                  <a:t>means finding </a:t>
                </a:r>
                <a:r>
                  <a:rPr lang="en-US" altLang="zh-TW" dirty="0"/>
                  <a:t>the maximum key in </a:t>
                </a:r>
                <a:r>
                  <a:rPr lang="en-US" altLang="zh-TW" i="1" dirty="0"/>
                  <a:t>X </a:t>
                </a:r>
                <a:r>
                  <a:rPr lang="en-US" altLang="zh-TW" dirty="0"/>
                  <a:t>which is smaller than or equal to </a:t>
                </a:r>
                <a:r>
                  <a:rPr lang="en-US" altLang="zh-TW" i="1" dirty="0"/>
                  <a:t>y</a:t>
                </a:r>
                <a:r>
                  <a:rPr lang="en-US" altLang="zh-TW" dirty="0"/>
                  <a:t>. This problem </a:t>
                </a:r>
                <a:r>
                  <a:rPr lang="en-US" altLang="zh-TW" dirty="0" smtClean="0"/>
                  <a:t>is equivalent </a:t>
                </a:r>
                <a:r>
                  <a:rPr lang="en-US" altLang="zh-TW" dirty="0"/>
                  <a:t>to the standard text book problem of maintaining an ordered </a:t>
                </a:r>
                <a:r>
                  <a:rPr lang="en-US" altLang="zh-TW" dirty="0" smtClean="0"/>
                  <a:t>set. </a:t>
                </a:r>
              </a:p>
              <a:p>
                <a:r>
                  <a:rPr lang="en-US" altLang="zh-TW" dirty="0" smtClean="0"/>
                  <a:t>The </a:t>
                </a:r>
                <a:r>
                  <a:rPr lang="en-US" altLang="zh-TW" dirty="0"/>
                  <a:t>best previous deterministic linear space bound was </a:t>
                </a:r>
                <a:r>
                  <a:rPr lang="en-US" altLang="zh-TW" i="1" dirty="0"/>
                  <a:t>O</a:t>
                </a:r>
                <a:r>
                  <a:rPr lang="en-US" altLang="zh-TW" dirty="0"/>
                  <a:t>(log </a:t>
                </a:r>
                <a:r>
                  <a:rPr lang="en-US" altLang="zh-TW" i="1" dirty="0"/>
                  <a:t>n/ </a:t>
                </a:r>
                <a:r>
                  <a:rPr lang="en-US" altLang="zh-TW" dirty="0"/>
                  <a:t>log </a:t>
                </a:r>
                <a:r>
                  <a:rPr lang="en-US" altLang="zh-TW" dirty="0" err="1"/>
                  <a:t>log</a:t>
                </a:r>
                <a:r>
                  <a:rPr lang="en-US" altLang="zh-TW" dirty="0"/>
                  <a:t/>
                </a:r>
                <a:r>
                  <a:rPr lang="en-US" altLang="zh-TW" i="1" dirty="0"/>
                  <a:t>n</a:t>
                </a:r>
                <a:r>
                  <a:rPr lang="en-US" altLang="zh-TW" dirty="0"/>
                  <a:t>) due </a:t>
                </a:r>
                <a:r>
                  <a:rPr lang="en-US" altLang="zh-TW" dirty="0" smtClean="0"/>
                  <a:t>to </a:t>
                </a:r>
                <a:r>
                  <a:rPr lang="en-US" altLang="zh-TW" dirty="0" err="1" smtClean="0"/>
                  <a:t>Fredman</a:t>
                </a:r>
                <a:r>
                  <a:rPr lang="en-US" altLang="zh-TW" dirty="0" smtClean="0"/>
                  <a:t/>
                </a:r>
                <a:r>
                  <a:rPr lang="en-US" altLang="zh-TW" dirty="0"/>
                  <a:t>and Willard from STOC 1990. No better deterministic search bound </a:t>
                </a:r>
                <a:r>
                  <a:rPr lang="en-US" altLang="zh-TW" dirty="0" smtClean="0"/>
                  <a:t>was known </a:t>
                </a:r>
                <a:r>
                  <a:rPr lang="en-US" altLang="zh-TW" dirty="0"/>
                  <a:t>using polynomial space</a:t>
                </a:r>
                <a:r>
                  <a:rPr lang="en-US" altLang="zh-TW" dirty="0" smtClean="0"/>
                  <a:t>.</a:t>
                </a:r>
                <a:endParaRPr lang="en-US" altLang="zh-TW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2291" r="-593" b="-188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effectLst/>
              </a:rPr>
              <a:t>Abstract</a:t>
            </a:r>
            <a:endParaRPr lang="zh-TW" altLang="en-US" dirty="0">
              <a:effectLst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447689610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xmlns="" Requires="a14">
          <p:sp>
            <p:nvSpPr>
              <p:cNvPr id="2" name="內容版面配置區 1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/>
                  <a:t>We also get the following worst-case linear space trade-offs between the number </a:t>
                </a:r>
                <a:r>
                  <a:rPr lang="en-US" altLang="zh-TW" i="1" dirty="0"/>
                  <a:t>n</a:t>
                </a:r>
                <a:r>
                  <a:rPr lang="en-US" altLang="zh-TW" dirty="0"/>
                  <a:t>, the word length </a:t>
                </a:r>
                <a:r>
                  <a:rPr lang="en-US" altLang="zh-TW" i="1" dirty="0"/>
                  <a:t>W</a:t>
                </a:r>
                <a:r>
                  <a:rPr lang="en-US" altLang="zh-TW" dirty="0"/>
                  <a:t>, and the maximal key </a:t>
                </a:r>
                <a:r>
                  <a:rPr lang="en-US" altLang="zh-TW" i="1" dirty="0"/>
                  <a:t>U </a:t>
                </a:r>
                <a:r>
                  <a:rPr lang="en-US" altLang="zh-TW" dirty="0"/>
                  <a:t>&lt;</a:t>
                </a:r>
                <a:r>
                  <a:rPr lang="en-US" altLang="zh-TW" i="1" dirty="0"/>
                  <a:t/>
                </a:r>
                <a:r>
                  <a:rPr lang="en-US" altLang="zh-TW" dirty="0"/>
                  <a:t>2</a:t>
                </a:r>
                <a:r>
                  <a:rPr lang="en-US" altLang="zh-TW" i="1" baseline="30000" dirty="0"/>
                  <a:t>W</a:t>
                </a:r>
                <a:r>
                  <a:rPr lang="en-US" altLang="zh-TW" dirty="0"/>
                  <a:t>: </a:t>
                </a:r>
                <a:r>
                  <a:rPr lang="en-US" altLang="zh-TW" i="1" dirty="0"/>
                  <a:t>O</a:t>
                </a:r>
                <a:r>
                  <a:rPr lang="en-US" altLang="zh-TW" dirty="0"/>
                  <a:t>(min{log </a:t>
                </a:r>
                <a:r>
                  <a:rPr lang="en-US" altLang="zh-TW" dirty="0" err="1"/>
                  <a:t>log</a:t>
                </a:r>
                <a:r>
                  <a:rPr lang="en-US" altLang="zh-TW" dirty="0"/>
                  <a:t/>
                </a:r>
                <a:r>
                  <a:rPr lang="en-US" altLang="zh-TW" i="1" dirty="0"/>
                  <a:t>n </a:t>
                </a:r>
                <a:r>
                  <a:rPr lang="en-US" altLang="zh-TW" dirty="0"/>
                  <a:t>+ log </a:t>
                </a:r>
                <a:r>
                  <a:rPr lang="en-US" altLang="zh-TW" i="1" dirty="0"/>
                  <a:t>n/ </a:t>
                </a:r>
                <a:r>
                  <a:rPr lang="en-US" altLang="zh-TW" dirty="0" err="1"/>
                  <a:t>log</a:t>
                </a:r>
                <a:r>
                  <a:rPr lang="en-US" altLang="zh-TW" i="1" dirty="0" err="1"/>
                  <a:t>W</a:t>
                </a:r>
                <a:r>
                  <a:rPr lang="en-US" altLang="zh-TW" i="1" dirty="0"/>
                  <a:t>, </a:t>
                </a:r>
                <a:r>
                  <a:rPr lang="en-US" altLang="zh-TW" dirty="0"/>
                  <a:t>log </a:t>
                </a:r>
                <a:r>
                  <a:rPr lang="en-US" altLang="zh-TW" dirty="0" err="1"/>
                  <a:t>log</a:t>
                </a:r>
                <a:r>
                  <a:rPr lang="en-US" altLang="zh-TW" dirty="0"/>
                  <a:t/>
                </a:r>
                <a:r>
                  <a:rPr lang="en-US" altLang="zh-TW" i="1" dirty="0"/>
                  <a:t>n ·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i="1" smtClean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altLang="zh-TW" dirty="0"/>
                          <m:t>log</m:t>
                        </m:r>
                        <m:r>
                          <m:rPr>
                            <m:nor/>
                          </m:rPr>
                          <a:rPr lang="en-US" altLang="zh-TW" dirty="0"/>
                          <m:t> </m:t>
                        </m:r>
                        <m:r>
                          <m:rPr>
                            <m:nor/>
                          </m:rPr>
                          <a:rPr lang="en-US" altLang="zh-TW" dirty="0"/>
                          <m:t>log</m:t>
                        </m:r>
                        <m:r>
                          <m:rPr>
                            <m:nor/>
                          </m:rPr>
                          <a:rPr lang="en-US" altLang="zh-TW" dirty="0"/>
                          <m:t> </m:t>
                        </m:r>
                        <m:r>
                          <m:rPr>
                            <m:nor/>
                          </m:rPr>
                          <a:rPr lang="en-US" altLang="zh-TW" i="1" dirty="0"/>
                          <m:t>U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altLang="zh-TW" dirty="0"/>
                          <m:t>log</m:t>
                        </m:r>
                        <m:r>
                          <m:rPr>
                            <m:nor/>
                          </m:rPr>
                          <a:rPr lang="en-US" altLang="zh-TW" dirty="0"/>
                          <m:t> </m:t>
                        </m:r>
                        <m:r>
                          <m:rPr>
                            <m:nor/>
                          </m:rPr>
                          <a:rPr lang="en-US" altLang="zh-TW" dirty="0"/>
                          <m:t>log</m:t>
                        </m:r>
                        <m:r>
                          <m:rPr>
                            <m:nor/>
                          </m:rPr>
                          <a:rPr lang="en-US" altLang="zh-TW" dirty="0"/>
                          <m:t> </m:t>
                        </m:r>
                        <m:r>
                          <m:rPr>
                            <m:nor/>
                          </m:rPr>
                          <a:rPr lang="en-US" altLang="zh-TW" dirty="0"/>
                          <m:t>log</m:t>
                        </m:r>
                        <m:r>
                          <m:rPr>
                            <m:nor/>
                          </m:rPr>
                          <a:rPr lang="en-US" altLang="zh-TW" dirty="0"/>
                          <m:t> </m:t>
                        </m:r>
                        <m:r>
                          <m:rPr>
                            <m:nor/>
                          </m:rPr>
                          <a:rPr lang="en-US" altLang="zh-TW" i="1" dirty="0"/>
                          <m:t>U</m:t>
                        </m:r>
                      </m:den>
                    </m:f>
                  </m:oMath>
                </a14:m>
                <a:r>
                  <a:rPr lang="en-US" altLang="zh-TW" dirty="0"/>
                  <a:t>}). These trade-offs are, however, not likely to be optimal.</a:t>
                </a:r>
              </a:p>
              <a:p>
                <a:r>
                  <a:rPr lang="en-US" altLang="zh-TW" dirty="0"/>
                  <a:t>Our results are generalized to finger searching and string searching, providing optimal results for both in terms of </a:t>
                </a:r>
                <a:r>
                  <a:rPr lang="en-US" altLang="zh-TW" i="1" dirty="0"/>
                  <a:t>n</a:t>
                </a:r>
                <a:r>
                  <a:rPr lang="en-US" altLang="zh-TW" dirty="0"/>
                  <a:t>.</a:t>
                </a:r>
                <a:endParaRPr lang="zh-TW" altLang="en-US" dirty="0"/>
              </a:p>
              <a:p>
                <a:endParaRPr lang="zh-TW" altLang="en-US" dirty="0"/>
              </a:p>
            </p:txBody>
          </p:sp>
        </mc:Choice>
        <mc:Fallback>
          <p:sp>
            <p:nvSpPr>
              <p:cNvPr id="2" name="內容版面配置區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1213" r="-407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Abstract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13389282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b="1" dirty="0" smtClean="0"/>
              <a:t> </a:t>
            </a:r>
            <a:r>
              <a:rPr lang="en-US" altLang="zh-TW" dirty="0" smtClean="0">
                <a:hlinkClick r:id="rId2"/>
              </a:rPr>
              <a:t>http://algo2.iti.kit.edu/2109.php</a:t>
            </a:r>
            <a:endParaRPr lang="en-US" altLang="zh-TW" dirty="0" smtClean="0"/>
          </a:p>
          <a:p>
            <a:r>
              <a:rPr lang="en-US" altLang="zh-TW" dirty="0" smtClean="0"/>
              <a:t>space efficient hash tables</a:t>
            </a:r>
          </a:p>
          <a:p>
            <a:r>
              <a:rPr lang="en-US" altLang="zh-TW" dirty="0" smtClean="0"/>
              <a:t>order maintenance problem</a:t>
            </a:r>
          </a:p>
          <a:p>
            <a:r>
              <a:rPr lang="en-US" altLang="zh-TW" dirty="0" smtClean="0"/>
              <a:t>skip lists</a:t>
            </a:r>
          </a:p>
          <a:p>
            <a:r>
              <a:rPr lang="en-US" altLang="zh-TW" dirty="0" smtClean="0">
                <a:solidFill>
                  <a:srgbClr val="FF0000"/>
                </a:solidFill>
              </a:rPr>
              <a:t>exponential search trees</a:t>
            </a:r>
          </a:p>
          <a:p>
            <a:r>
              <a:rPr lang="en-US" altLang="zh-TW" dirty="0" smtClean="0">
                <a:solidFill>
                  <a:srgbClr val="FF0000"/>
                </a:solidFill>
              </a:rPr>
              <a:t>orthogonal 2d range searching</a:t>
            </a:r>
          </a:p>
          <a:p>
            <a:r>
              <a:rPr lang="en-US" altLang="zh-TW" dirty="0" smtClean="0"/>
              <a:t>range successor queries</a:t>
            </a:r>
          </a:p>
          <a:p>
            <a:r>
              <a:rPr lang="en-US" altLang="zh-TW" dirty="0" smtClean="0"/>
              <a:t>range median queries</a:t>
            </a:r>
          </a:p>
          <a:p>
            <a:r>
              <a:rPr lang="en-US" altLang="zh-TW" dirty="0" smtClean="0"/>
              <a:t>range mode queries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b="1" dirty="0" smtClean="0"/>
              <a:t>1st Symposium on Breakthroughs in Advanced Data Structures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pPr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292598501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 smtClean="0"/>
              <a:t>space efficient construction of </a:t>
            </a:r>
            <a:r>
              <a:rPr lang="en-US" altLang="zh-TW" dirty="0" smtClean="0">
                <a:solidFill>
                  <a:srgbClr val="FF0000"/>
                </a:solidFill>
              </a:rPr>
              <a:t>compressed suffix arrays</a:t>
            </a:r>
          </a:p>
          <a:p>
            <a:r>
              <a:rPr lang="en-US" altLang="zh-TW" dirty="0" smtClean="0"/>
              <a:t>dynamic succinct trees</a:t>
            </a:r>
          </a:p>
          <a:p>
            <a:r>
              <a:rPr lang="en-US" altLang="zh-TW" dirty="0"/>
              <a:t>practical solutions for </a:t>
            </a:r>
            <a:r>
              <a:rPr lang="en-US" altLang="zh-TW" dirty="0" smtClean="0"/>
              <a:t>rank/select</a:t>
            </a:r>
          </a:p>
          <a:p>
            <a:r>
              <a:rPr lang="en-US" altLang="zh-TW" dirty="0" smtClean="0"/>
              <a:t>alphabet partitioning for rank/select</a:t>
            </a:r>
          </a:p>
          <a:p>
            <a:r>
              <a:rPr lang="en-US" altLang="zh-TW" dirty="0">
                <a:solidFill>
                  <a:srgbClr val="FF0000"/>
                </a:solidFill>
              </a:rPr>
              <a:t>persistent data </a:t>
            </a:r>
            <a:r>
              <a:rPr lang="en-US" altLang="zh-TW" dirty="0" smtClean="0">
                <a:solidFill>
                  <a:srgbClr val="FF0000"/>
                </a:solidFill>
              </a:rPr>
              <a:t>structures</a:t>
            </a:r>
          </a:p>
          <a:p>
            <a:r>
              <a:rPr lang="en-US" altLang="zh-TW" dirty="0"/>
              <a:t>dynamic graphs (dynamic connectivity</a:t>
            </a:r>
            <a:r>
              <a:rPr lang="en-US" altLang="zh-TW" dirty="0" smtClean="0"/>
              <a:t>)</a:t>
            </a:r>
          </a:p>
          <a:p>
            <a:r>
              <a:rPr lang="en-US" altLang="zh-TW" dirty="0"/>
              <a:t>link-cut </a:t>
            </a:r>
            <a:r>
              <a:rPr lang="en-US" altLang="zh-TW" dirty="0" smtClean="0"/>
              <a:t>trees</a:t>
            </a:r>
          </a:p>
          <a:p>
            <a:r>
              <a:rPr lang="en-US" altLang="zh-TW" dirty="0" smtClean="0">
                <a:solidFill>
                  <a:srgbClr val="FF0000"/>
                </a:solidFill>
              </a:rPr>
              <a:t>lowest common ancestors </a:t>
            </a:r>
            <a:r>
              <a:rPr lang="en-US" altLang="zh-TW" dirty="0" smtClean="0"/>
              <a:t>in directed acyclic graphs (DAGs)</a:t>
            </a:r>
            <a:endParaRPr lang="zh-TW" altLang="en-US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pPr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196456762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Introduction</a:t>
            </a:r>
          </a:p>
          <a:p>
            <a:r>
              <a:rPr lang="en-US" altLang="zh-TW" dirty="0"/>
              <a:t>Amortized </a:t>
            </a:r>
            <a:r>
              <a:rPr lang="en-US" altLang="zh-TW" dirty="0" smtClean="0"/>
              <a:t>exponential search tree</a:t>
            </a:r>
            <a:endParaRPr lang="en-US" altLang="zh-TW" dirty="0"/>
          </a:p>
          <a:p>
            <a:r>
              <a:rPr lang="en-US" altLang="zh-TW" dirty="0" smtClean="0"/>
              <a:t>Worst case efficient </a:t>
            </a:r>
            <a:r>
              <a:rPr lang="en-US" altLang="zh-TW" dirty="0"/>
              <a:t>exponential search tree </a:t>
            </a:r>
            <a:endParaRPr lang="en-US" altLang="zh-TW" dirty="0" smtClean="0"/>
          </a:p>
          <a:p>
            <a:r>
              <a:rPr lang="en-US" altLang="zh-TW" dirty="0"/>
              <a:t>Static search structures</a:t>
            </a:r>
            <a:endParaRPr lang="en-US" altLang="zh-TW" dirty="0">
              <a:solidFill>
                <a:srgbClr val="FF0000"/>
              </a:solidFill>
            </a:endParaRPr>
          </a:p>
          <a:p>
            <a:r>
              <a:rPr lang="en-US" altLang="zh-TW" dirty="0" smtClean="0"/>
              <a:t>Finger Search</a:t>
            </a:r>
          </a:p>
          <a:p>
            <a:r>
              <a:rPr lang="en-US" altLang="zh-TW" dirty="0" smtClean="0"/>
              <a:t>String Search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Outline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pPr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978363714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altLang="zh-TW" sz="2000" dirty="0">
                <a:solidFill>
                  <a:srgbClr val="FF0000"/>
                </a:solidFill>
              </a:rPr>
              <a:t>Insert</a:t>
            </a:r>
            <a:r>
              <a:rPr lang="en-US" altLang="zh-TW" sz="2000" dirty="0"/>
              <a:t> (</a:t>
            </a:r>
            <a:r>
              <a:rPr lang="en-US" altLang="zh-TW" sz="2000" i="1" dirty="0"/>
              <a:t>X, x</a:t>
            </a:r>
            <a:r>
              <a:rPr lang="en-US" altLang="zh-TW" sz="2000" dirty="0"/>
              <a:t>) Add </a:t>
            </a:r>
            <a:r>
              <a:rPr lang="en-US" altLang="zh-TW" sz="2000" i="1" dirty="0"/>
              <a:t>x </a:t>
            </a:r>
            <a:r>
              <a:rPr lang="en-US" altLang="zh-TW" sz="2000" dirty="0"/>
              <a:t>to </a:t>
            </a:r>
            <a:r>
              <a:rPr lang="en-US" altLang="zh-TW" sz="2000" i="1" dirty="0"/>
              <a:t>X </a:t>
            </a:r>
            <a:r>
              <a:rPr lang="en-US" altLang="zh-TW" sz="2000" dirty="0"/>
              <a:t>where </a:t>
            </a:r>
            <a:r>
              <a:rPr lang="en-US" altLang="zh-TW" sz="2000" i="1" dirty="0"/>
              <a:t>x </a:t>
            </a:r>
            <a:r>
              <a:rPr lang="en-US" altLang="zh-TW" sz="2000" dirty="0"/>
              <a:t>is a pointer to a key.</a:t>
            </a:r>
          </a:p>
          <a:p>
            <a:r>
              <a:rPr lang="en-US" altLang="zh-TW" sz="2000" dirty="0">
                <a:solidFill>
                  <a:srgbClr val="FF0000"/>
                </a:solidFill>
              </a:rPr>
              <a:t>Delete</a:t>
            </a:r>
            <a:r>
              <a:rPr lang="en-US" altLang="zh-TW" sz="2000" dirty="0"/>
              <a:t> (</a:t>
            </a:r>
            <a:r>
              <a:rPr lang="en-US" altLang="zh-TW" sz="2000" i="1" dirty="0"/>
              <a:t>X, x</a:t>
            </a:r>
            <a:r>
              <a:rPr lang="en-US" altLang="zh-TW" sz="2000" dirty="0"/>
              <a:t>) Remove </a:t>
            </a:r>
            <a:r>
              <a:rPr lang="en-US" altLang="zh-TW" sz="2000" i="1" dirty="0"/>
              <a:t>x </a:t>
            </a:r>
            <a:r>
              <a:rPr lang="en-US" altLang="zh-TW" sz="2000" dirty="0"/>
              <a:t>from </a:t>
            </a:r>
            <a:r>
              <a:rPr lang="en-US" altLang="zh-TW" sz="2000" i="1" dirty="0"/>
              <a:t>X</a:t>
            </a:r>
            <a:r>
              <a:rPr lang="en-US" altLang="zh-TW" sz="2000" dirty="0"/>
              <a:t>, here </a:t>
            </a:r>
            <a:r>
              <a:rPr lang="en-US" altLang="zh-TW" sz="2000" i="1" dirty="0"/>
              <a:t>x </a:t>
            </a:r>
            <a:r>
              <a:rPr lang="en-US" altLang="zh-TW" sz="2000" dirty="0"/>
              <a:t>is a pointer to a key in </a:t>
            </a:r>
            <a:r>
              <a:rPr lang="en-US" altLang="zh-TW" sz="2000" i="1" dirty="0"/>
              <a:t>X</a:t>
            </a:r>
            <a:r>
              <a:rPr lang="en-US" altLang="zh-TW" sz="2000" dirty="0"/>
              <a:t>.</a:t>
            </a:r>
          </a:p>
          <a:p>
            <a:r>
              <a:rPr lang="en-US" altLang="zh-TW" sz="2000" dirty="0" smtClean="0">
                <a:solidFill>
                  <a:srgbClr val="FF0000"/>
                </a:solidFill>
              </a:rPr>
              <a:t>Lookup</a:t>
            </a:r>
            <a:r>
              <a:rPr lang="en-US" altLang="zh-TW" sz="2000" dirty="0" smtClean="0"/>
              <a:t>(</a:t>
            </a:r>
            <a:r>
              <a:rPr lang="en-US" altLang="zh-TW" sz="2000" i="1" dirty="0" smtClean="0"/>
              <a:t>X</a:t>
            </a:r>
            <a:r>
              <a:rPr lang="en-US" altLang="zh-TW" sz="2000" i="1" dirty="0"/>
              <a:t>, y</a:t>
            </a:r>
            <a:r>
              <a:rPr lang="en-US" altLang="zh-TW" sz="2000" dirty="0"/>
              <a:t>) Returns a pointer to a key in </a:t>
            </a:r>
            <a:r>
              <a:rPr lang="en-US" altLang="zh-TW" sz="2000" i="1" dirty="0"/>
              <a:t>X </a:t>
            </a:r>
            <a:r>
              <a:rPr lang="en-US" altLang="zh-TW" sz="2000" dirty="0"/>
              <a:t>with the same value as </a:t>
            </a:r>
            <a:r>
              <a:rPr lang="en-US" altLang="zh-TW" sz="2000" i="1" dirty="0"/>
              <a:t>y</a:t>
            </a:r>
            <a:r>
              <a:rPr lang="en-US" altLang="zh-TW" sz="2000" dirty="0"/>
              <a:t>, or return a </a:t>
            </a:r>
            <a:r>
              <a:rPr lang="en-US" altLang="zh-TW" sz="2000" dirty="0" smtClean="0"/>
              <a:t>null pointer </a:t>
            </a:r>
            <a:r>
              <a:rPr lang="en-US" altLang="zh-TW" sz="2000" dirty="0"/>
              <a:t>if there is no such key in </a:t>
            </a:r>
            <a:r>
              <a:rPr lang="en-US" altLang="zh-TW" sz="2000" i="1" dirty="0"/>
              <a:t>X</a:t>
            </a:r>
            <a:r>
              <a:rPr lang="en-US" altLang="zh-TW" sz="2000" dirty="0" smtClean="0"/>
              <a:t>.</a:t>
            </a:r>
          </a:p>
          <a:p>
            <a:r>
              <a:rPr lang="en-US" altLang="zh-TW" sz="2000" dirty="0" smtClean="0">
                <a:solidFill>
                  <a:srgbClr val="FF0000"/>
                </a:solidFill>
              </a:rPr>
              <a:t>Search</a:t>
            </a:r>
            <a:r>
              <a:rPr lang="en-US" altLang="zh-TW" sz="2000" dirty="0" smtClean="0"/>
              <a:t> </a:t>
            </a:r>
            <a:r>
              <a:rPr lang="en-US" altLang="zh-TW" sz="2000" dirty="0"/>
              <a:t>(</a:t>
            </a:r>
            <a:r>
              <a:rPr lang="en-US" altLang="zh-TW" sz="2000" i="1" dirty="0"/>
              <a:t>X, y</a:t>
            </a:r>
            <a:r>
              <a:rPr lang="en-US" altLang="zh-TW" sz="2000" dirty="0"/>
              <a:t>) Returns a pointer to the largest key in </a:t>
            </a:r>
            <a:r>
              <a:rPr lang="en-US" altLang="zh-TW" sz="2000" i="1" dirty="0"/>
              <a:t>X </a:t>
            </a:r>
            <a:r>
              <a:rPr lang="en-US" altLang="zh-TW" sz="2000" dirty="0"/>
              <a:t>which is smaller than or equal </a:t>
            </a:r>
            <a:r>
              <a:rPr lang="en-US" altLang="zh-TW" sz="2000" dirty="0" smtClean="0"/>
              <a:t>to </a:t>
            </a:r>
            <a:r>
              <a:rPr lang="en-US" altLang="zh-TW" sz="2000" i="1" dirty="0" smtClean="0"/>
              <a:t>y</a:t>
            </a:r>
            <a:r>
              <a:rPr lang="en-US" altLang="zh-TW" sz="2000" dirty="0"/>
              <a:t>, or null if </a:t>
            </a:r>
            <a:r>
              <a:rPr lang="en-US" altLang="zh-TW" sz="2000" i="1" dirty="0"/>
              <a:t>y </a:t>
            </a:r>
            <a:r>
              <a:rPr lang="en-US" altLang="zh-TW" sz="2000" dirty="0"/>
              <a:t>is smaller than any key in </a:t>
            </a:r>
            <a:r>
              <a:rPr lang="en-US" altLang="zh-TW" sz="2000" i="1" dirty="0"/>
              <a:t>X</a:t>
            </a:r>
            <a:r>
              <a:rPr lang="en-US" altLang="zh-TW" sz="2000" dirty="0"/>
              <a:t>.</a:t>
            </a:r>
          </a:p>
          <a:p>
            <a:r>
              <a:rPr lang="en-US" altLang="zh-TW" sz="2000" dirty="0">
                <a:solidFill>
                  <a:srgbClr val="FF0000"/>
                </a:solidFill>
              </a:rPr>
              <a:t>Predecessor/Successor</a:t>
            </a:r>
            <a:r>
              <a:rPr lang="en-US" altLang="zh-TW" sz="2000" dirty="0"/>
              <a:t> (</a:t>
            </a:r>
            <a:r>
              <a:rPr lang="en-US" altLang="zh-TW" sz="2000" i="1" dirty="0"/>
              <a:t>X, x</a:t>
            </a:r>
            <a:r>
              <a:rPr lang="en-US" altLang="zh-TW" sz="2000" dirty="0"/>
              <a:t>) Given that </a:t>
            </a:r>
            <a:r>
              <a:rPr lang="en-US" altLang="zh-TW" sz="2000" i="1" dirty="0"/>
              <a:t>x </a:t>
            </a:r>
            <a:r>
              <a:rPr lang="en-US" altLang="zh-TW" sz="2000" dirty="0"/>
              <a:t>points at a key in </a:t>
            </a:r>
            <a:r>
              <a:rPr lang="en-US" altLang="zh-TW" sz="2000" i="1" dirty="0"/>
              <a:t>X</a:t>
            </a:r>
            <a:r>
              <a:rPr lang="en-US" altLang="zh-TW" sz="2000" dirty="0"/>
              <a:t>, return a pointer to </a:t>
            </a:r>
            <a:r>
              <a:rPr lang="en-US" altLang="zh-TW" sz="2000" dirty="0" smtClean="0"/>
              <a:t>the next </a:t>
            </a:r>
            <a:r>
              <a:rPr lang="en-US" altLang="zh-TW" sz="2000" dirty="0"/>
              <a:t>smaller/larger key in </a:t>
            </a:r>
            <a:r>
              <a:rPr lang="en-US" altLang="zh-TW" sz="2000" i="1" dirty="0"/>
              <a:t>X </a:t>
            </a:r>
            <a:r>
              <a:rPr lang="en-US" altLang="zh-TW" sz="2000" dirty="0"/>
              <a:t>(or a null pointer if no such key exists).</a:t>
            </a:r>
          </a:p>
          <a:p>
            <a:r>
              <a:rPr lang="en-US" altLang="zh-TW" sz="2000" dirty="0">
                <a:solidFill>
                  <a:srgbClr val="FF0000"/>
                </a:solidFill>
              </a:rPr>
              <a:t>Minimum/Maximum</a:t>
            </a:r>
            <a:r>
              <a:rPr lang="en-US" altLang="zh-TW" sz="2000" dirty="0"/>
              <a:t> (</a:t>
            </a:r>
            <a:r>
              <a:rPr lang="en-US" altLang="zh-TW" sz="2000" i="1" dirty="0"/>
              <a:t>X</a:t>
            </a:r>
            <a:r>
              <a:rPr lang="en-US" altLang="zh-TW" sz="2000" dirty="0"/>
              <a:t>) Return a pointer to the smallest/largest key in </a:t>
            </a:r>
            <a:r>
              <a:rPr lang="en-US" altLang="zh-TW" sz="2000" i="1" dirty="0"/>
              <a:t>X </a:t>
            </a:r>
            <a:r>
              <a:rPr lang="en-US" altLang="zh-TW" sz="2000" dirty="0"/>
              <a:t>(or a </a:t>
            </a:r>
            <a:r>
              <a:rPr lang="en-US" altLang="zh-TW" sz="2000" dirty="0" smtClean="0"/>
              <a:t>null pointer </a:t>
            </a:r>
            <a:r>
              <a:rPr lang="en-US" altLang="zh-TW" sz="2000" dirty="0"/>
              <a:t>if </a:t>
            </a:r>
            <a:r>
              <a:rPr lang="en-US" altLang="zh-TW" sz="2000" i="1" dirty="0"/>
              <a:t>X </a:t>
            </a:r>
            <a:r>
              <a:rPr lang="en-US" altLang="zh-TW" sz="2000" dirty="0"/>
              <a:t>is empty</a:t>
            </a:r>
            <a:r>
              <a:rPr lang="en-US" altLang="zh-TW" sz="2000" dirty="0" smtClean="0"/>
              <a:t>).</a:t>
            </a:r>
          </a:p>
          <a:p>
            <a:r>
              <a:rPr lang="en-US" altLang="zh-TW" sz="2000" dirty="0"/>
              <a:t>For keys that can </a:t>
            </a:r>
            <a:r>
              <a:rPr lang="en-US" altLang="zh-TW" sz="2000" dirty="0">
                <a:solidFill>
                  <a:srgbClr val="FF0000"/>
                </a:solidFill>
              </a:rPr>
              <a:t>only be accessed via comparisons</a:t>
            </a:r>
            <a:r>
              <a:rPr lang="en-US" altLang="zh-TW" sz="2000" dirty="0"/>
              <a:t>, all of the above operations can </a:t>
            </a:r>
            <a:r>
              <a:rPr lang="en-US" altLang="zh-TW" sz="2000" dirty="0" smtClean="0"/>
              <a:t>be supported </a:t>
            </a:r>
            <a:r>
              <a:rPr lang="en-US" altLang="zh-TW" sz="2000" dirty="0"/>
              <a:t>in </a:t>
            </a:r>
            <a:r>
              <a:rPr lang="en-US" altLang="zh-TW" sz="2000" i="1" dirty="0">
                <a:solidFill>
                  <a:srgbClr val="FF0000"/>
                </a:solidFill>
              </a:rPr>
              <a:t>O</a:t>
            </a:r>
            <a:r>
              <a:rPr lang="en-US" altLang="zh-TW" sz="2000" dirty="0">
                <a:solidFill>
                  <a:srgbClr val="FF0000"/>
                </a:solidFill>
              </a:rPr>
              <a:t>(log </a:t>
            </a:r>
            <a:r>
              <a:rPr lang="en-US" altLang="zh-TW" sz="2000" i="1" dirty="0">
                <a:solidFill>
                  <a:srgbClr val="FF0000"/>
                </a:solidFill>
              </a:rPr>
              <a:t>n</a:t>
            </a:r>
            <a:r>
              <a:rPr lang="en-US" altLang="zh-TW" sz="2000" dirty="0">
                <a:solidFill>
                  <a:srgbClr val="FF0000"/>
                </a:solidFill>
              </a:rPr>
              <a:t>) </a:t>
            </a:r>
            <a:r>
              <a:rPr lang="en-US" altLang="zh-TW" sz="2000" dirty="0" smtClean="0">
                <a:solidFill>
                  <a:srgbClr val="FF0000"/>
                </a:solidFill>
              </a:rPr>
              <a:t>time, </a:t>
            </a:r>
            <a:r>
              <a:rPr lang="en-US" altLang="zh-TW" sz="2000" dirty="0">
                <a:solidFill>
                  <a:srgbClr val="FF0000"/>
                </a:solidFill>
              </a:rPr>
              <a:t>which is best possible</a:t>
            </a:r>
            <a:r>
              <a:rPr lang="en-US" altLang="zh-TW" sz="2000" dirty="0"/>
              <a:t>.</a:t>
            </a:r>
            <a:endParaRPr lang="zh-TW" altLang="en-US" sz="2000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Basic Operations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pPr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241693974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By </a:t>
            </a:r>
            <a:r>
              <a:rPr lang="en-US" altLang="zh-TW" i="1" dirty="0"/>
              <a:t>finger search </a:t>
            </a:r>
            <a:r>
              <a:rPr lang="en-US" altLang="zh-TW" dirty="0"/>
              <a:t>we mean that we can have a “finger” pointing at a stored key </a:t>
            </a:r>
            <a:r>
              <a:rPr lang="en-US" altLang="zh-TW" i="1" dirty="0"/>
              <a:t>x </a:t>
            </a:r>
            <a:r>
              <a:rPr lang="en-US" altLang="zh-TW" dirty="0" smtClean="0"/>
              <a:t>when searching </a:t>
            </a:r>
            <a:r>
              <a:rPr lang="en-US" altLang="zh-TW" dirty="0"/>
              <a:t>for a key </a:t>
            </a:r>
            <a:r>
              <a:rPr lang="en-US" altLang="zh-TW" i="1" dirty="0"/>
              <a:t>y</a:t>
            </a:r>
            <a:r>
              <a:rPr lang="en-US" altLang="zh-TW" dirty="0"/>
              <a:t>. </a:t>
            </a:r>
            <a:endParaRPr lang="en-US" altLang="zh-TW" dirty="0" smtClean="0"/>
          </a:p>
          <a:p>
            <a:r>
              <a:rPr lang="en-US" altLang="zh-TW" dirty="0" smtClean="0"/>
              <a:t>Here </a:t>
            </a:r>
            <a:r>
              <a:rPr lang="en-US" altLang="zh-TW" dirty="0"/>
              <a:t>a finger is just a reference returned to the user when </a:t>
            </a:r>
            <a:r>
              <a:rPr lang="en-US" altLang="zh-TW" i="1" dirty="0"/>
              <a:t>x </a:t>
            </a:r>
            <a:r>
              <a:rPr lang="en-US" altLang="zh-TW" dirty="0"/>
              <a:t>is </a:t>
            </a:r>
            <a:r>
              <a:rPr lang="en-US" altLang="zh-TW" dirty="0" smtClean="0"/>
              <a:t>inserted or </a:t>
            </a:r>
            <a:r>
              <a:rPr lang="en-US" altLang="zh-TW" dirty="0"/>
              <a:t>searched for. </a:t>
            </a:r>
            <a:endParaRPr lang="en-US" altLang="zh-TW" dirty="0" smtClean="0"/>
          </a:p>
          <a:p>
            <a:r>
              <a:rPr lang="en-US" altLang="zh-TW" dirty="0" smtClean="0"/>
              <a:t>The </a:t>
            </a:r>
            <a:r>
              <a:rPr lang="en-US" altLang="zh-TW" dirty="0"/>
              <a:t>goal is to do better if the number </a:t>
            </a:r>
            <a:r>
              <a:rPr lang="en-US" altLang="zh-TW" i="1" dirty="0"/>
              <a:t>q </a:t>
            </a:r>
            <a:r>
              <a:rPr lang="en-US" altLang="zh-TW" dirty="0"/>
              <a:t>of stored keys between </a:t>
            </a:r>
            <a:r>
              <a:rPr lang="en-US" altLang="zh-TW" i="1" dirty="0"/>
              <a:t>x </a:t>
            </a:r>
            <a:r>
              <a:rPr lang="en-US" altLang="zh-TW" dirty="0"/>
              <a:t>and </a:t>
            </a:r>
            <a:r>
              <a:rPr lang="en-US" altLang="zh-TW" i="1" dirty="0"/>
              <a:t>y </a:t>
            </a:r>
            <a:r>
              <a:rPr lang="en-US" altLang="zh-TW" dirty="0" smtClean="0"/>
              <a:t>is small</a:t>
            </a:r>
            <a:r>
              <a:rPr lang="en-US" altLang="zh-TW" dirty="0"/>
              <a:t>.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Finger Search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pPr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969165855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xmlns="" Requires="a14">
          <p:sp>
            <p:nvSpPr>
              <p:cNvPr id="2" name="內容版面配置區 1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altLang="zh-TW" dirty="0" smtClean="0"/>
                  <a:t>For a finger insertion, we are given a finger to the key after which </a:t>
                </a:r>
                <a:r>
                  <a:rPr lang="en-US" altLang="zh-TW" dirty="0"/>
                  <a:t>the new key is to be inserted</a:t>
                </a:r>
                <a:r>
                  <a:rPr lang="en-US" altLang="zh-TW" dirty="0" smtClean="0"/>
                  <a:t>.</a:t>
                </a:r>
              </a:p>
              <a:p>
                <a:r>
                  <a:rPr lang="en-US" altLang="zh-TW" dirty="0"/>
                  <a:t>The finger delete is </a:t>
                </a:r>
                <a:r>
                  <a:rPr lang="en-US" altLang="zh-TW" dirty="0" smtClean="0"/>
                  <a:t>just a </a:t>
                </a:r>
                <a:r>
                  <a:rPr lang="en-US" altLang="zh-TW" dirty="0"/>
                  <a:t>regular delete as defined above, i.e. we are given a pointer to the key to be deleted</a:t>
                </a:r>
                <a:r>
                  <a:rPr lang="en-US" altLang="zh-TW" dirty="0" smtClean="0"/>
                  <a:t>.</a:t>
                </a:r>
              </a:p>
              <a:p>
                <a:r>
                  <a:rPr lang="en-US" altLang="zh-TW" dirty="0"/>
                  <a:t>In the comparison-based model of computation Dietz and Raman </a:t>
                </a:r>
                <a:r>
                  <a:rPr lang="en-US" altLang="zh-TW" dirty="0" smtClean="0"/>
                  <a:t>have provided optimal </a:t>
                </a:r>
                <a:r>
                  <a:rPr lang="en-US" altLang="zh-TW" dirty="0"/>
                  <a:t>bounds, supporting finger searches in </a:t>
                </a:r>
                <a:r>
                  <a:rPr lang="en-US" altLang="zh-TW" i="1" dirty="0"/>
                  <a:t>O</a:t>
                </a:r>
                <a:r>
                  <a:rPr lang="en-US" altLang="zh-TW" dirty="0"/>
                  <a:t>(log </a:t>
                </a:r>
                <a:r>
                  <a:rPr lang="en-US" altLang="zh-TW" i="1" dirty="0"/>
                  <a:t>q</a:t>
                </a:r>
                <a:r>
                  <a:rPr lang="en-US" altLang="zh-TW" dirty="0"/>
                  <a:t>) time while supporting finger </a:t>
                </a:r>
                <a:r>
                  <a:rPr lang="en-US" altLang="zh-TW" dirty="0" smtClean="0"/>
                  <a:t>updates in </a:t>
                </a:r>
                <a:r>
                  <a:rPr lang="en-US" altLang="zh-TW" dirty="0"/>
                  <a:t>constant time</a:t>
                </a:r>
                <a:r>
                  <a:rPr lang="en-US" altLang="zh-TW" dirty="0" smtClean="0"/>
                  <a:t>.</a:t>
                </a:r>
              </a:p>
              <a:p>
                <a:r>
                  <a:rPr lang="en-US" altLang="zh-TW" dirty="0"/>
                  <a:t>In this paper we present optimal bounds on the RAM; namely </a:t>
                </a:r>
                <a:r>
                  <a:rPr lang="en-US" altLang="zh-TW" i="1" dirty="0" smtClean="0">
                    <a:solidFill>
                      <a:schemeClr val="tx1"/>
                    </a:solidFill>
                  </a:rPr>
                  <a:t>O</a:t>
                </a:r>
                <a:r>
                  <a:rPr lang="en-US" altLang="zh-TW" dirty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TW" i="1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m:rPr>
                            <m:nor/>
                          </m:rPr>
                          <a:rPr lang="en-US" altLang="zh-TW">
                            <a:solidFill>
                              <a:schemeClr val="tx1"/>
                            </a:solidFill>
                            <a:latin typeface="Cambria Math"/>
                          </a:rPr>
                          <m:t>log</m:t>
                        </m:r>
                        <m:r>
                          <a:rPr lang="en-US" altLang="zh-TW">
                            <a:solidFill>
                              <a:schemeClr val="tx1"/>
                            </a:solidFill>
                            <a:latin typeface="Cambria Math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TW" b="0" i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q</m:t>
                        </m:r>
                        <m:r>
                          <a:rPr lang="en-US" altLang="zh-TW">
                            <a:solidFill>
                              <a:schemeClr val="tx1"/>
                            </a:solidFill>
                            <a:latin typeface="Cambria Math"/>
                          </a:rPr>
                          <m:t>/</m:t>
                        </m:r>
                        <m:r>
                          <m:rPr>
                            <m:nor/>
                          </m:rPr>
                          <a:rPr lang="en-US" altLang="zh-TW">
                            <a:solidFill>
                              <a:schemeClr val="tx1"/>
                            </a:solidFill>
                            <a:latin typeface="Cambria Math"/>
                          </a:rPr>
                          <m:t>log</m:t>
                        </m:r>
                        <m:r>
                          <m:rPr>
                            <m:nor/>
                          </m:rPr>
                          <a:rPr lang="en-US" altLang="zh-TW">
                            <a:solidFill>
                              <a:schemeClr val="tx1"/>
                            </a:solidFill>
                            <a:latin typeface="Cambria Math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>
                            <a:solidFill>
                              <a:schemeClr val="tx1"/>
                            </a:solidFill>
                            <a:latin typeface="Cambria Math"/>
                          </a:rPr>
                          <m:t>log</m:t>
                        </m:r>
                        <m:r>
                          <m:rPr>
                            <m:nor/>
                          </m:rPr>
                          <a:rPr lang="en-US" altLang="zh-TW" b="0" i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TW" b="0" i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q</m:t>
                        </m:r>
                      </m:e>
                    </m:rad>
                  </m:oMath>
                </a14:m>
                <a:r>
                  <a:rPr lang="pt-BR" altLang="zh-TW" dirty="0">
                    <a:solidFill>
                      <a:schemeClr val="tx1"/>
                    </a:solidFill>
                  </a:rPr>
                  <a:t>) </a:t>
                </a:r>
                <a:r>
                  <a:rPr lang="en-US" altLang="zh-TW" dirty="0" smtClean="0"/>
                  <a:t>for finger </a:t>
                </a:r>
                <a:r>
                  <a:rPr lang="en-US" altLang="zh-TW" dirty="0"/>
                  <a:t>search with constant time finger updates.</a:t>
                </a:r>
                <a:endParaRPr lang="zh-TW" altLang="en-US" dirty="0"/>
              </a:p>
            </p:txBody>
          </p:sp>
        </mc:Choice>
        <mc:Fallback>
          <p:sp>
            <p:nvSpPr>
              <p:cNvPr id="2" name="內容版面配置區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1617" r="-2222" b="-14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Finger Update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pPr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512777155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xmlns="" Requires="a14">
          <p:sp>
            <p:nvSpPr>
              <p:cNvPr id="2" name="內容版面配置區 1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altLang="zh-TW" dirty="0"/>
                  <a:t>Beame </a:t>
                </a:r>
                <a:r>
                  <a:rPr lang="en-US" altLang="zh-TW" dirty="0"/>
                  <a:t>and </a:t>
                </a:r>
                <a:r>
                  <a:rPr lang="en-US" altLang="zh-TW" dirty="0" err="1"/>
                  <a:t>Fich</a:t>
                </a:r>
                <a:r>
                  <a:rPr lang="en-US" altLang="zh-TW" dirty="0"/>
                  <a:t/>
                </a:r>
                <a:r>
                  <a:rPr lang="en-US" altLang="zh-TW" dirty="0"/>
                  <a:t>shows that even if </a:t>
                </a:r>
                <a:r>
                  <a:rPr lang="en-US" altLang="zh-TW" dirty="0"/>
                  <a:t>we just </a:t>
                </a:r>
                <a:r>
                  <a:rPr lang="en-US" altLang="zh-TW" dirty="0"/>
                  <a:t>want to support 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insert and predecessor </a:t>
                </a:r>
                <a:r>
                  <a:rPr lang="en-US" altLang="zh-TW" dirty="0"/>
                  <a:t>operations in polynomial space, one of these </a:t>
                </a:r>
                <a:r>
                  <a:rPr lang="en-US" altLang="zh-TW" dirty="0"/>
                  <a:t>two operations </a:t>
                </a:r>
                <a:r>
                  <a:rPr lang="en-US" altLang="zh-TW" dirty="0"/>
                  <a:t>have a worst-case bound of </a:t>
                </a:r>
                <a:r>
                  <a:rPr lang="en-US" altLang="zh-TW" i="1" dirty="0"/>
                  <a:t>O</a:t>
                </a:r>
                <a:r>
                  <a:rPr lang="en-US" altLang="zh-TW" dirty="0"/>
                  <a:t>(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TW" i="1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m:rPr>
                            <m:nor/>
                          </m:rPr>
                          <a:rPr lang="en-US" altLang="zh-TW">
                            <a:latin typeface="Cambria Math"/>
                          </a:rPr>
                          <m:t>log</m:t>
                        </m:r>
                        <m:r>
                          <a:rPr lang="en-US" altLang="zh-TW">
                            <a:latin typeface="Cambria Math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TW">
                            <a:latin typeface="Cambria Math"/>
                          </a:rPr>
                          <m:t>n</m:t>
                        </m:r>
                        <m:r>
                          <a:rPr lang="en-US" altLang="zh-TW">
                            <a:latin typeface="Cambria Math"/>
                          </a:rPr>
                          <m:t>/</m:t>
                        </m:r>
                        <m:r>
                          <m:rPr>
                            <m:nor/>
                          </m:rPr>
                          <a:rPr lang="en-US" altLang="zh-TW">
                            <a:latin typeface="Cambria Math"/>
                          </a:rPr>
                          <m:t>log</m:t>
                        </m:r>
                        <m:r>
                          <m:rPr>
                            <m:nor/>
                          </m:rPr>
                          <a:rPr lang="en-US" altLang="zh-TW">
                            <a:latin typeface="Cambria Math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>
                            <a:latin typeface="Cambria Math"/>
                          </a:rPr>
                          <m:t>log</m:t>
                        </m:r>
                        <m:r>
                          <m:rPr>
                            <m:nor/>
                          </m:rPr>
                          <a:rPr lang="en-US" altLang="zh-TW">
                            <a:latin typeface="Cambria Math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TW">
                            <a:latin typeface="Cambria Math"/>
                          </a:rPr>
                          <m:t>n</m:t>
                        </m:r>
                      </m:e>
                    </m:rad>
                  </m:oMath>
                </a14:m>
                <a:r>
                  <a:rPr lang="pt-BR" altLang="zh-TW" dirty="0" smtClean="0"/>
                  <a:t>).</a:t>
                </a:r>
                <a:endParaRPr lang="en-US" altLang="zh-TW" dirty="0" smtClean="0"/>
              </a:p>
              <a:p>
                <a:r>
                  <a:rPr lang="en-US" altLang="zh-TW" dirty="0" smtClean="0"/>
                  <a:t>Our </a:t>
                </a:r>
                <a:r>
                  <a:rPr lang="en-US" altLang="zh-TW" dirty="0" smtClean="0"/>
                  <a:t>main result is that we can support 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all the above operations in </a:t>
                </a:r>
                <a:r>
                  <a:rPr lang="en-US" altLang="zh-TW" i="1" dirty="0" smtClean="0">
                    <a:solidFill>
                      <a:srgbClr val="FF0000"/>
                    </a:solidFill>
                  </a:rPr>
                  <a:t>O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(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TW" i="1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m:rPr>
                            <m:nor/>
                          </m:rPr>
                          <a:rPr lang="en-US" altLang="zh-TW">
                            <a:solidFill>
                              <a:srgbClr val="FF0000"/>
                            </a:solidFill>
                            <a:latin typeface="Cambria Math"/>
                          </a:rPr>
                          <m:t>log</m:t>
                        </m:r>
                        <m:r>
                          <a:rPr lang="en-US" altLang="zh-TW" b="0" i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TW" i="0">
                            <a:solidFill>
                              <a:srgbClr val="FF0000"/>
                            </a:solidFill>
                            <a:latin typeface="Cambria Math"/>
                          </a:rPr>
                          <m:t>n</m:t>
                        </m:r>
                        <m:r>
                          <a:rPr lang="en-US" altLang="zh-TW" i="0">
                            <a:solidFill>
                              <a:srgbClr val="FF0000"/>
                            </a:solidFill>
                            <a:latin typeface="Cambria Math"/>
                          </a:rPr>
                          <m:t>/</m:t>
                        </m:r>
                        <m:r>
                          <m:rPr>
                            <m:nor/>
                          </m:rPr>
                          <a:rPr lang="en-US" altLang="zh-TW">
                            <a:solidFill>
                              <a:srgbClr val="FF0000"/>
                            </a:solidFill>
                            <a:latin typeface="Cambria Math"/>
                          </a:rPr>
                          <m:t>log</m:t>
                        </m:r>
                        <m:r>
                          <m:rPr>
                            <m:nor/>
                          </m:rPr>
                          <a:rPr lang="en-US" altLang="zh-TW" b="0" i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>
                            <a:solidFill>
                              <a:srgbClr val="FF0000"/>
                            </a:solidFill>
                            <a:latin typeface="Cambria Math"/>
                          </a:rPr>
                          <m:t>log</m:t>
                        </m:r>
                        <m:r>
                          <m:rPr>
                            <m:sty m:val="p"/>
                          </m:rPr>
                          <a:rPr lang="en-US" altLang="zh-TW" i="0">
                            <a:solidFill>
                              <a:srgbClr val="FF0000"/>
                            </a:solidFill>
                            <a:latin typeface="Cambria Math"/>
                          </a:rPr>
                          <m:t>n</m:t>
                        </m:r>
                      </m:e>
                    </m:rad>
                  </m:oMath>
                </a14:m>
                <a:r>
                  <a:rPr lang="pt-BR" altLang="zh-TW" dirty="0" smtClean="0">
                    <a:solidFill>
                      <a:srgbClr val="FF0000"/>
                    </a:solidFill>
                  </a:rPr>
                  <a:t>) 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worst-case 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time</a:t>
                </a:r>
                <a:r>
                  <a:rPr lang="en-US" altLang="zh-TW" dirty="0"/>
                  <a:t>, and this common bound is best possible</a:t>
                </a:r>
                <a:r>
                  <a:rPr lang="en-US" altLang="zh-TW" dirty="0" smtClean="0"/>
                  <a:t>.</a:t>
                </a:r>
              </a:p>
              <a:p>
                <a:r>
                  <a:rPr lang="en-US" altLang="zh-TW" dirty="0" smtClean="0"/>
                  <a:t>Indeed</a:t>
                </a:r>
                <a:r>
                  <a:rPr lang="en-US" altLang="zh-TW" dirty="0"/>
                  <a:t>, we will support 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min, max, predecessor, successor, and delete </a:t>
                </a:r>
                <a:r>
                  <a:rPr lang="en-US" altLang="zh-TW" dirty="0" smtClean="0"/>
                  <a:t>operations in 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constant time</a:t>
                </a:r>
                <a:r>
                  <a:rPr lang="en-US" altLang="zh-TW" dirty="0"/>
                  <a:t>, and only do 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insert and search </a:t>
                </a:r>
                <a:r>
                  <a:rPr lang="en-US" altLang="zh-TW" dirty="0"/>
                  <a:t>in </a:t>
                </a:r>
                <a:r>
                  <a:rPr lang="el-GR" altLang="zh-TW" i="1" dirty="0" smtClean="0">
                    <a:solidFill>
                      <a:srgbClr val="FF0000"/>
                    </a:solidFill>
                  </a:rPr>
                  <a:t>Θ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(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TW" i="1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m:rPr>
                            <m:nor/>
                          </m:rPr>
                          <a:rPr lang="en-US" altLang="zh-TW">
                            <a:solidFill>
                              <a:srgbClr val="FF0000"/>
                            </a:solidFill>
                            <a:latin typeface="Cambria Math"/>
                          </a:rPr>
                          <m:t>log</m:t>
                        </m:r>
                        <m:r>
                          <a:rPr lang="en-US" altLang="zh-TW">
                            <a:solidFill>
                              <a:srgbClr val="FF0000"/>
                            </a:solidFill>
                            <a:latin typeface="Cambria Math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TW">
                            <a:solidFill>
                              <a:srgbClr val="FF0000"/>
                            </a:solidFill>
                            <a:latin typeface="Cambria Math"/>
                          </a:rPr>
                          <m:t>n</m:t>
                        </m:r>
                        <m:r>
                          <a:rPr lang="en-US" altLang="zh-TW">
                            <a:solidFill>
                              <a:srgbClr val="FF0000"/>
                            </a:solidFill>
                            <a:latin typeface="Cambria Math"/>
                          </a:rPr>
                          <m:t>/</m:t>
                        </m:r>
                        <m:r>
                          <m:rPr>
                            <m:nor/>
                          </m:rPr>
                          <a:rPr lang="en-US" altLang="zh-TW">
                            <a:solidFill>
                              <a:srgbClr val="FF0000"/>
                            </a:solidFill>
                            <a:latin typeface="Cambria Math"/>
                          </a:rPr>
                          <m:t>log</m:t>
                        </m:r>
                        <m:r>
                          <m:rPr>
                            <m:nor/>
                          </m:rPr>
                          <a:rPr lang="en-US" altLang="zh-TW">
                            <a:solidFill>
                              <a:srgbClr val="FF0000"/>
                            </a:solidFill>
                            <a:latin typeface="Cambria Math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>
                            <a:solidFill>
                              <a:srgbClr val="FF0000"/>
                            </a:solidFill>
                            <a:latin typeface="Cambria Math"/>
                          </a:rPr>
                          <m:t>log</m:t>
                        </m:r>
                        <m:r>
                          <m:rPr>
                            <m:nor/>
                          </m:rPr>
                          <a:rPr lang="en-US" altLang="zh-TW">
                            <a:solidFill>
                              <a:srgbClr val="FF0000"/>
                            </a:solidFill>
                            <a:latin typeface="Cambria Math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TW">
                            <a:solidFill>
                              <a:srgbClr val="FF0000"/>
                            </a:solidFill>
                            <a:latin typeface="Cambria Math"/>
                          </a:rPr>
                          <m:t>n</m:t>
                        </m:r>
                      </m:e>
                    </m:rad>
                  </m:oMath>
                </a14:m>
                <a:r>
                  <a:rPr lang="pt-BR" altLang="zh-TW" dirty="0" smtClean="0">
                    <a:solidFill>
                      <a:srgbClr val="FF0000"/>
                    </a:solidFill>
                  </a:rPr>
                  <a:t>) time</a:t>
                </a:r>
                <a:r>
                  <a:rPr lang="pt-BR" altLang="zh-TW" dirty="0"/>
                  <a:t>.</a:t>
                </a:r>
                <a:endParaRPr lang="zh-TW" altLang="en-US" dirty="0"/>
              </a:p>
            </p:txBody>
          </p:sp>
        </mc:Choice>
        <mc:Fallback>
          <p:sp>
            <p:nvSpPr>
              <p:cNvPr id="2" name="內容版面配置區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1617" r="-370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Optimality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pPr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42629556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xmlns="" Requires="a14">
          <p:sp>
            <p:nvSpPr>
              <p:cNvPr id="2" name="內容版面配置區 1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 smtClean="0"/>
                  <a:t>An exponential search tree on </a:t>
                </a:r>
                <a:r>
                  <a:rPr lang="en-US" altLang="zh-TW" i="1" dirty="0" smtClean="0"/>
                  <a:t>n</a:t>
                </a:r>
                <a:r>
                  <a:rPr lang="en-US" altLang="zh-TW" dirty="0" smtClean="0"/>
                  <a:t> keys is a search tree data </a:t>
                </a:r>
                <a:r>
                  <a:rPr lang="en-US" altLang="zh-TW" dirty="0"/>
                  <a:t>structure where the 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root has </a:t>
                </a:r>
                <a:r>
                  <a:rPr lang="el-GR" altLang="zh-TW" i="1" dirty="0">
                    <a:solidFill>
                      <a:srgbClr val="FF0000"/>
                    </a:solidFill>
                  </a:rPr>
                  <a:t>Θ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zh-TW" b="0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𝑛</m:t>
                        </m:r>
                      </m:e>
                      <m:sup>
                        <m:f>
                          <m:fPr>
                            <m:ctrlPr>
                              <a:rPr lang="en-US" altLang="zh-TW" i="1" dirty="0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n-US" altLang="zh-TW" b="0" i="1" dirty="0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TW" b="0" i="1" dirty="0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𝑐</m:t>
                            </m:r>
                          </m:den>
                        </m:f>
                      </m:sup>
                    </m:sSup>
                  </m:oMath>
                </a14:m>
                <a:r>
                  <a:rPr lang="en-US" altLang="zh-TW" dirty="0" smtClean="0">
                    <a:solidFill>
                      <a:srgbClr val="FF0000"/>
                    </a:solidFill>
                  </a:rPr>
                  <a:t>) 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children</a:t>
                </a:r>
                <a:r>
                  <a:rPr lang="en-US" altLang="zh-TW" dirty="0"/>
                  <a:t>, for a constant </a:t>
                </a:r>
                <a:r>
                  <a:rPr lang="en-US" altLang="zh-TW" i="1" dirty="0"/>
                  <a:t>c</a:t>
                </a:r>
                <a:r>
                  <a:rPr lang="en-US" altLang="zh-TW" dirty="0"/>
                  <a:t>&gt; 1, and each child </a:t>
                </a:r>
                <a:r>
                  <a:rPr lang="en-US" altLang="zh-TW" dirty="0" err="1" smtClean="0"/>
                  <a:t>subtree</a:t>
                </a:r>
                <a:r>
                  <a:rPr lang="en-US" altLang="zh-TW" dirty="0" smtClean="0"/>
                  <a:t> is </a:t>
                </a:r>
                <a:r>
                  <a:rPr lang="en-US" altLang="zh-TW" dirty="0"/>
                  <a:t>an exponential search tree on </a:t>
                </a:r>
                <a:r>
                  <a:rPr lang="el-GR" altLang="zh-TW" i="1" dirty="0" smtClean="0">
                    <a:solidFill>
                      <a:srgbClr val="FF0000"/>
                    </a:solidFill>
                  </a:rPr>
                  <a:t>Θ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zh-TW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US" altLang="zh-TW" b="0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1−</m:t>
                        </m:r>
                        <m:f>
                          <m:fPr>
                            <m:ctrlP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𝑐</m:t>
                            </m:r>
                          </m:den>
                        </m:f>
                      </m:sup>
                    </m:sSup>
                  </m:oMath>
                </a14:m>
                <a:r>
                  <a:rPr lang="en-US" altLang="zh-TW" dirty="0" smtClean="0">
                    <a:solidFill>
                      <a:srgbClr val="FF0000"/>
                    </a:solidFill>
                  </a:rPr>
                  <a:t>) 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keys</a:t>
                </a:r>
                <a:r>
                  <a:rPr lang="en-US" altLang="zh-TW" dirty="0"/>
                  <a:t>.</a:t>
                </a:r>
                <a:endParaRPr lang="zh-TW" altLang="en-US" dirty="0"/>
              </a:p>
            </p:txBody>
          </p:sp>
        </mc:Choice>
        <mc:Fallback>
          <p:sp>
            <p:nvSpPr>
              <p:cNvPr id="2" name="內容版面配置區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1213" r="-170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Exponential Search Tree</a:t>
            </a:r>
            <a:endParaRPr lang="zh-TW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99592" y="3991688"/>
            <a:ext cx="8136859" cy="2866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pPr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349683402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The actual data is stored at the leaves. </a:t>
            </a:r>
            <a:endParaRPr lang="en-US" altLang="zh-TW" dirty="0" smtClean="0"/>
          </a:p>
          <a:p>
            <a:r>
              <a:rPr lang="en-US" altLang="zh-TW" dirty="0" smtClean="0"/>
              <a:t>Internal nodes </a:t>
            </a:r>
            <a:r>
              <a:rPr lang="en-US" altLang="zh-TW" dirty="0"/>
              <a:t>store </a:t>
            </a:r>
            <a:r>
              <a:rPr lang="en-US" altLang="zh-TW" dirty="0" smtClean="0">
                <a:solidFill>
                  <a:srgbClr val="FF0000"/>
                </a:solidFill>
              </a:rPr>
              <a:t>splitters</a:t>
            </a:r>
            <a:r>
              <a:rPr lang="en-US" altLang="zh-TW" dirty="0" smtClean="0"/>
              <a:t> </a:t>
            </a:r>
            <a:r>
              <a:rPr lang="en-US" altLang="zh-TW" dirty="0"/>
              <a:t>for each child that is less than or equal to all nodes in the child </a:t>
            </a:r>
            <a:r>
              <a:rPr lang="en-US" altLang="zh-TW" dirty="0" err="1"/>
              <a:t>subtree</a:t>
            </a:r>
            <a:r>
              <a:rPr lang="en-US" altLang="zh-TW" dirty="0"/>
              <a:t>, and greater </a:t>
            </a:r>
            <a:r>
              <a:rPr lang="en-US" altLang="zh-TW" dirty="0" smtClean="0"/>
              <a:t>than all </a:t>
            </a:r>
            <a:r>
              <a:rPr lang="en-US" altLang="zh-TW" dirty="0"/>
              <a:t>nodes in its left sibling </a:t>
            </a:r>
            <a:r>
              <a:rPr lang="en-US" altLang="zh-TW" dirty="0" err="1"/>
              <a:t>subtree</a:t>
            </a:r>
            <a:r>
              <a:rPr lang="en-US" altLang="zh-TW" dirty="0"/>
              <a:t>. </a:t>
            </a:r>
            <a:endParaRPr lang="en-US" altLang="zh-TW" dirty="0" smtClean="0"/>
          </a:p>
          <a:p>
            <a:r>
              <a:rPr lang="en-US" altLang="zh-TW" dirty="0"/>
              <a:t>We require that the splitter of </a:t>
            </a:r>
            <a:r>
              <a:rPr lang="en-US" altLang="zh-TW" dirty="0" smtClean="0"/>
              <a:t>an internal </a:t>
            </a:r>
            <a:r>
              <a:rPr lang="en-US" altLang="zh-TW" dirty="0"/>
              <a:t>node equals the splitter of its leftmost child.</a:t>
            </a:r>
            <a:endParaRPr lang="en-US" altLang="zh-TW" dirty="0" smtClean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Exponential Search Tree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pPr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130909685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i="1" dirty="0" smtClean="0"/>
              <a:t>k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,</a:t>
            </a:r>
            <a:r>
              <a:rPr lang="en-US" altLang="zh-TW" i="1" dirty="0"/>
              <a:t> </a:t>
            </a:r>
            <a:r>
              <a:rPr lang="en-US" altLang="zh-TW" i="1" dirty="0" smtClean="0"/>
              <a:t>k</a:t>
            </a:r>
            <a:r>
              <a:rPr lang="en-US" altLang="zh-TW" baseline="-25000" dirty="0"/>
              <a:t>2</a:t>
            </a:r>
            <a:r>
              <a:rPr lang="en-US" altLang="zh-TW" baseline="-25000" dirty="0" smtClean="0"/>
              <a:t>, …, </a:t>
            </a:r>
            <a:r>
              <a:rPr lang="en-US" altLang="zh-TW" i="1" dirty="0" smtClean="0"/>
              <a:t>k</a:t>
            </a:r>
            <a:r>
              <a:rPr lang="en-US" altLang="zh-TW" baseline="-25000" dirty="0" smtClean="0"/>
              <a:t>16</a:t>
            </a:r>
            <a:r>
              <a:rPr lang="zh-TW" altLang="en-US" dirty="0" smtClean="0"/>
              <a:t>，</a:t>
            </a:r>
            <a:r>
              <a:rPr lang="en-US" altLang="zh-TW" dirty="0" smtClean="0"/>
              <a:t>from small to large</a:t>
            </a:r>
            <a:r>
              <a:rPr lang="zh-TW" altLang="en-US" dirty="0" smtClean="0"/>
              <a:t>，</a:t>
            </a:r>
            <a:r>
              <a:rPr lang="en-US" altLang="zh-TW" dirty="0" smtClean="0"/>
              <a:t>c=2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Example</a:t>
            </a:r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2555776" y="2308230"/>
            <a:ext cx="349041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i="1" dirty="0" smtClean="0"/>
              <a:t>k</a:t>
            </a:r>
            <a:r>
              <a:rPr lang="en-US" altLang="zh-TW" baseline="-25000" dirty="0" smtClean="0"/>
              <a:t>1, </a:t>
            </a:r>
            <a:r>
              <a:rPr lang="en-US" altLang="zh-TW" i="1" dirty="0" smtClean="0"/>
              <a:t>k</a:t>
            </a:r>
            <a:r>
              <a:rPr lang="en-US" altLang="zh-TW" baseline="-25000" dirty="0" smtClean="0"/>
              <a:t>5, </a:t>
            </a:r>
            <a:r>
              <a:rPr lang="en-US" altLang="zh-TW" i="1" dirty="0" smtClean="0"/>
              <a:t>k</a:t>
            </a:r>
            <a:r>
              <a:rPr lang="en-US" altLang="zh-TW" baseline="-25000" dirty="0" smtClean="0"/>
              <a:t>9,</a:t>
            </a:r>
            <a:r>
              <a:rPr lang="en-US" altLang="zh-TW" dirty="0" smtClean="0"/>
              <a:t> </a:t>
            </a:r>
            <a:r>
              <a:rPr lang="en-US" altLang="zh-TW" i="1" dirty="0" smtClean="0"/>
              <a:t>k</a:t>
            </a:r>
            <a:r>
              <a:rPr lang="en-US" altLang="zh-TW" baseline="-25000" dirty="0" smtClean="0"/>
              <a:t>13</a:t>
            </a:r>
            <a:endParaRPr lang="zh-TW" altLang="en-US" dirty="0"/>
          </a:p>
        </p:txBody>
      </p:sp>
      <p:sp>
        <p:nvSpPr>
          <p:cNvPr id="6" name="文字方塊 5"/>
          <p:cNvSpPr txBox="1"/>
          <p:nvPr/>
        </p:nvSpPr>
        <p:spPr>
          <a:xfrm>
            <a:off x="755576" y="3209390"/>
            <a:ext cx="144016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i="1" dirty="0" smtClean="0"/>
              <a:t>k</a:t>
            </a:r>
            <a:r>
              <a:rPr lang="en-US" altLang="zh-TW" baseline="-25000" dirty="0" smtClean="0"/>
              <a:t>1, </a:t>
            </a:r>
            <a:r>
              <a:rPr lang="en-US" altLang="zh-TW" i="1" dirty="0" smtClean="0"/>
              <a:t>k</a:t>
            </a:r>
            <a:r>
              <a:rPr lang="en-US" altLang="zh-TW" baseline="-25000" dirty="0" smtClean="0"/>
              <a:t>3</a:t>
            </a:r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2556560" y="3209390"/>
            <a:ext cx="144016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i="1" dirty="0" smtClean="0"/>
              <a:t>k</a:t>
            </a:r>
            <a:r>
              <a:rPr lang="en-US" altLang="zh-TW" baseline="-25000" dirty="0"/>
              <a:t>5</a:t>
            </a:r>
            <a:r>
              <a:rPr lang="en-US" altLang="zh-TW" baseline="-25000" dirty="0" smtClean="0"/>
              <a:t>, </a:t>
            </a:r>
            <a:r>
              <a:rPr lang="en-US" altLang="zh-TW" i="1" dirty="0" smtClean="0"/>
              <a:t>k</a:t>
            </a:r>
            <a:r>
              <a:rPr lang="en-US" altLang="zh-TW" baseline="-25000" dirty="0"/>
              <a:t>7</a:t>
            </a:r>
            <a:endParaRPr lang="zh-TW" altLang="en-US" dirty="0"/>
          </a:p>
        </p:txBody>
      </p:sp>
      <p:sp>
        <p:nvSpPr>
          <p:cNvPr id="8" name="文字方塊 7"/>
          <p:cNvSpPr txBox="1"/>
          <p:nvPr/>
        </p:nvSpPr>
        <p:spPr>
          <a:xfrm>
            <a:off x="4617576" y="3209390"/>
            <a:ext cx="144016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i="1" dirty="0" smtClean="0"/>
              <a:t>k</a:t>
            </a:r>
            <a:r>
              <a:rPr lang="en-US" altLang="zh-TW" baseline="-25000" dirty="0"/>
              <a:t>9</a:t>
            </a:r>
            <a:r>
              <a:rPr lang="en-US" altLang="zh-TW" baseline="-25000" dirty="0" smtClean="0"/>
              <a:t>, </a:t>
            </a:r>
            <a:r>
              <a:rPr lang="en-US" altLang="zh-TW" i="1" dirty="0" smtClean="0"/>
              <a:t>k</a:t>
            </a:r>
            <a:r>
              <a:rPr lang="en-US" altLang="zh-TW" baseline="-25000" dirty="0" smtClean="0"/>
              <a:t>11</a:t>
            </a:r>
            <a:endParaRPr lang="zh-TW" altLang="en-US" dirty="0"/>
          </a:p>
        </p:txBody>
      </p:sp>
      <p:sp>
        <p:nvSpPr>
          <p:cNvPr id="9" name="文字方塊 8"/>
          <p:cNvSpPr txBox="1"/>
          <p:nvPr/>
        </p:nvSpPr>
        <p:spPr>
          <a:xfrm>
            <a:off x="6606400" y="3209390"/>
            <a:ext cx="144016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i="1" dirty="0" smtClean="0"/>
              <a:t>k</a:t>
            </a:r>
            <a:r>
              <a:rPr lang="en-US" altLang="zh-TW" baseline="-25000" dirty="0" smtClean="0"/>
              <a:t>13, </a:t>
            </a:r>
            <a:r>
              <a:rPr lang="en-US" altLang="zh-TW" i="1" dirty="0" smtClean="0"/>
              <a:t>k</a:t>
            </a:r>
            <a:r>
              <a:rPr lang="en-US" altLang="zh-TW" baseline="-25000" dirty="0" smtClean="0"/>
              <a:t>15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35496" y="4090144"/>
            <a:ext cx="45474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i="1" dirty="0" smtClean="0"/>
              <a:t>k</a:t>
            </a:r>
            <a:r>
              <a:rPr lang="en-US" altLang="zh-TW" baseline="-25000" dirty="0" smtClean="0"/>
              <a:t>1</a:t>
            </a:r>
            <a:endParaRPr lang="zh-TW" altLang="en-US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539552" y="4090144"/>
            <a:ext cx="45474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i="1" dirty="0" smtClean="0"/>
              <a:t>k</a:t>
            </a:r>
            <a:r>
              <a:rPr lang="en-US" altLang="zh-TW" baseline="-25000" dirty="0" smtClean="0"/>
              <a:t>2</a:t>
            </a:r>
            <a:endParaRPr lang="zh-TW" altLang="en-US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1115616" y="4090144"/>
            <a:ext cx="45474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i="1" dirty="0" smtClean="0"/>
              <a:t>k</a:t>
            </a:r>
            <a:r>
              <a:rPr lang="en-US" altLang="zh-TW" baseline="-25000" dirty="0" smtClean="0"/>
              <a:t>3</a:t>
            </a:r>
            <a:endParaRPr lang="zh-TW" altLang="en-US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1691680" y="4090144"/>
            <a:ext cx="45474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i="1" dirty="0" smtClean="0"/>
              <a:t>k</a:t>
            </a:r>
            <a:r>
              <a:rPr lang="en-US" altLang="zh-TW" baseline="-25000" dirty="0" smtClean="0"/>
              <a:t>4</a:t>
            </a:r>
            <a:endParaRPr lang="zh-TW" altLang="en-US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2195736" y="4097754"/>
            <a:ext cx="45474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i="1" dirty="0" smtClean="0"/>
              <a:t>k</a:t>
            </a:r>
            <a:r>
              <a:rPr lang="en-US" altLang="zh-TW" baseline="-25000" dirty="0" smtClean="0"/>
              <a:t>5</a:t>
            </a:r>
            <a:endParaRPr lang="zh-TW" altLang="en-US" dirty="0"/>
          </a:p>
        </p:txBody>
      </p:sp>
      <p:sp>
        <p:nvSpPr>
          <p:cNvPr id="15" name="文字方塊 14"/>
          <p:cNvSpPr txBox="1"/>
          <p:nvPr/>
        </p:nvSpPr>
        <p:spPr>
          <a:xfrm>
            <a:off x="2771800" y="4097754"/>
            <a:ext cx="45474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i="1" dirty="0" smtClean="0"/>
              <a:t>k</a:t>
            </a:r>
            <a:r>
              <a:rPr lang="en-US" altLang="zh-TW" baseline="-25000" dirty="0" smtClean="0"/>
              <a:t>6</a:t>
            </a:r>
            <a:endParaRPr lang="zh-TW" altLang="en-US" dirty="0"/>
          </a:p>
        </p:txBody>
      </p:sp>
      <p:sp>
        <p:nvSpPr>
          <p:cNvPr id="16" name="文字方塊 15"/>
          <p:cNvSpPr txBox="1"/>
          <p:nvPr/>
        </p:nvSpPr>
        <p:spPr>
          <a:xfrm>
            <a:off x="3275856" y="4097754"/>
            <a:ext cx="45474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i="1" dirty="0" smtClean="0"/>
              <a:t>k</a:t>
            </a:r>
            <a:r>
              <a:rPr lang="en-US" altLang="zh-TW" baseline="-25000" dirty="0" smtClean="0"/>
              <a:t>7</a:t>
            </a:r>
            <a:endParaRPr lang="zh-TW" altLang="en-US" dirty="0"/>
          </a:p>
        </p:txBody>
      </p:sp>
      <p:sp>
        <p:nvSpPr>
          <p:cNvPr id="17" name="文字方塊 16"/>
          <p:cNvSpPr txBox="1"/>
          <p:nvPr/>
        </p:nvSpPr>
        <p:spPr>
          <a:xfrm>
            <a:off x="3779912" y="4097754"/>
            <a:ext cx="45474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i="1" dirty="0" smtClean="0"/>
              <a:t>k</a:t>
            </a:r>
            <a:r>
              <a:rPr lang="en-US" altLang="zh-TW" baseline="-25000" dirty="0" smtClean="0"/>
              <a:t>8</a:t>
            </a:r>
            <a:endParaRPr lang="zh-TW" altLang="en-US" dirty="0"/>
          </a:p>
        </p:txBody>
      </p:sp>
      <p:sp>
        <p:nvSpPr>
          <p:cNvPr id="18" name="文字方塊 17"/>
          <p:cNvSpPr txBox="1"/>
          <p:nvPr/>
        </p:nvSpPr>
        <p:spPr>
          <a:xfrm>
            <a:off x="4283968" y="4090868"/>
            <a:ext cx="45474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i="1" dirty="0" smtClean="0"/>
              <a:t>k</a:t>
            </a:r>
            <a:r>
              <a:rPr lang="en-US" altLang="zh-TW" baseline="-25000" dirty="0" smtClean="0"/>
              <a:t>9</a:t>
            </a:r>
            <a:endParaRPr lang="zh-TW" altLang="en-US" dirty="0"/>
          </a:p>
        </p:txBody>
      </p:sp>
      <p:sp>
        <p:nvSpPr>
          <p:cNvPr id="19" name="文字方塊 18"/>
          <p:cNvSpPr txBox="1"/>
          <p:nvPr/>
        </p:nvSpPr>
        <p:spPr>
          <a:xfrm>
            <a:off x="4788024" y="4090868"/>
            <a:ext cx="56008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i="1" dirty="0" smtClean="0"/>
              <a:t>k</a:t>
            </a:r>
            <a:r>
              <a:rPr lang="en-US" altLang="zh-TW" baseline="-25000" dirty="0" smtClean="0"/>
              <a:t>10</a:t>
            </a:r>
            <a:endParaRPr lang="zh-TW" altLang="en-US" dirty="0"/>
          </a:p>
        </p:txBody>
      </p:sp>
      <p:sp>
        <p:nvSpPr>
          <p:cNvPr id="20" name="文字方塊 19"/>
          <p:cNvSpPr txBox="1"/>
          <p:nvPr/>
        </p:nvSpPr>
        <p:spPr>
          <a:xfrm>
            <a:off x="5436096" y="4090868"/>
            <a:ext cx="58928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i="1" dirty="0" smtClean="0"/>
              <a:t>k</a:t>
            </a:r>
            <a:r>
              <a:rPr lang="en-US" altLang="zh-TW" baseline="-25000" dirty="0" smtClean="0"/>
              <a:t>11</a:t>
            </a:r>
            <a:endParaRPr lang="zh-TW" altLang="en-US" dirty="0"/>
          </a:p>
        </p:txBody>
      </p:sp>
      <p:sp>
        <p:nvSpPr>
          <p:cNvPr id="21" name="文字方塊 20"/>
          <p:cNvSpPr txBox="1"/>
          <p:nvPr/>
        </p:nvSpPr>
        <p:spPr>
          <a:xfrm>
            <a:off x="6084168" y="4090868"/>
            <a:ext cx="51817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i="1" dirty="0" smtClean="0"/>
              <a:t>k</a:t>
            </a:r>
            <a:r>
              <a:rPr lang="en-US" altLang="zh-TW" baseline="-25000" dirty="0" smtClean="0"/>
              <a:t>12</a:t>
            </a:r>
            <a:endParaRPr lang="zh-TW" altLang="en-US" dirty="0"/>
          </a:p>
        </p:txBody>
      </p:sp>
      <p:sp>
        <p:nvSpPr>
          <p:cNvPr id="22" name="文字方塊 21"/>
          <p:cNvSpPr txBox="1"/>
          <p:nvPr/>
        </p:nvSpPr>
        <p:spPr>
          <a:xfrm>
            <a:off x="6660232" y="4098478"/>
            <a:ext cx="56768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i="1" dirty="0" smtClean="0"/>
              <a:t>k</a:t>
            </a:r>
            <a:r>
              <a:rPr lang="en-US" altLang="zh-TW" baseline="-25000" dirty="0" smtClean="0"/>
              <a:t>13</a:t>
            </a:r>
            <a:endParaRPr lang="zh-TW" altLang="en-US" dirty="0"/>
          </a:p>
        </p:txBody>
      </p:sp>
      <p:sp>
        <p:nvSpPr>
          <p:cNvPr id="23" name="文字方塊 22"/>
          <p:cNvSpPr txBox="1"/>
          <p:nvPr/>
        </p:nvSpPr>
        <p:spPr>
          <a:xfrm>
            <a:off x="7308304" y="4098478"/>
            <a:ext cx="56008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i="1" dirty="0" smtClean="0"/>
              <a:t>k</a:t>
            </a:r>
            <a:r>
              <a:rPr lang="en-US" altLang="zh-TW" baseline="-25000" dirty="0" smtClean="0"/>
              <a:t>14</a:t>
            </a:r>
            <a:endParaRPr lang="zh-TW" altLang="en-US" dirty="0"/>
          </a:p>
        </p:txBody>
      </p:sp>
      <p:sp>
        <p:nvSpPr>
          <p:cNvPr id="24" name="文字方塊 23"/>
          <p:cNvSpPr txBox="1"/>
          <p:nvPr/>
        </p:nvSpPr>
        <p:spPr>
          <a:xfrm>
            <a:off x="7943160" y="4098478"/>
            <a:ext cx="58928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i="1" dirty="0" smtClean="0"/>
              <a:t>k</a:t>
            </a:r>
            <a:r>
              <a:rPr lang="en-US" altLang="zh-TW" baseline="-25000" dirty="0" smtClean="0"/>
              <a:t>15</a:t>
            </a:r>
            <a:endParaRPr lang="zh-TW" altLang="en-US" dirty="0"/>
          </a:p>
        </p:txBody>
      </p:sp>
      <p:sp>
        <p:nvSpPr>
          <p:cNvPr id="25" name="文字方塊 24"/>
          <p:cNvSpPr txBox="1"/>
          <p:nvPr/>
        </p:nvSpPr>
        <p:spPr>
          <a:xfrm>
            <a:off x="8577992" y="4098478"/>
            <a:ext cx="56600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i="1" dirty="0" smtClean="0"/>
              <a:t>k</a:t>
            </a:r>
            <a:r>
              <a:rPr lang="en-US" altLang="zh-TW" baseline="-25000" dirty="0" smtClean="0"/>
              <a:t>16</a:t>
            </a:r>
            <a:endParaRPr lang="zh-TW" altLang="en-US" dirty="0"/>
          </a:p>
        </p:txBody>
      </p:sp>
      <p:cxnSp>
        <p:nvCxnSpPr>
          <p:cNvPr id="27" name="直線單箭頭接點 26"/>
          <p:cNvCxnSpPr>
            <a:endCxn id="6" idx="0"/>
          </p:cNvCxnSpPr>
          <p:nvPr/>
        </p:nvCxnSpPr>
        <p:spPr>
          <a:xfrm flipH="1">
            <a:off x="1475656" y="2677562"/>
            <a:ext cx="1174824" cy="53182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28"/>
          <p:cNvCxnSpPr>
            <a:endCxn id="7" idx="0"/>
          </p:cNvCxnSpPr>
          <p:nvPr/>
        </p:nvCxnSpPr>
        <p:spPr>
          <a:xfrm>
            <a:off x="3276640" y="2677562"/>
            <a:ext cx="0" cy="53182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單箭頭接點 30"/>
          <p:cNvCxnSpPr>
            <a:endCxn id="8" idx="0"/>
          </p:cNvCxnSpPr>
          <p:nvPr/>
        </p:nvCxnSpPr>
        <p:spPr>
          <a:xfrm>
            <a:off x="5148064" y="2677562"/>
            <a:ext cx="189592" cy="53182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單箭頭接點 32"/>
          <p:cNvCxnSpPr/>
          <p:nvPr/>
        </p:nvCxnSpPr>
        <p:spPr>
          <a:xfrm>
            <a:off x="5940152" y="2677562"/>
            <a:ext cx="1287760" cy="53182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單箭頭接點 34"/>
          <p:cNvCxnSpPr>
            <a:endCxn id="10" idx="0"/>
          </p:cNvCxnSpPr>
          <p:nvPr/>
        </p:nvCxnSpPr>
        <p:spPr>
          <a:xfrm flipH="1">
            <a:off x="262868" y="3578722"/>
            <a:ext cx="636724" cy="51142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單箭頭接點 36"/>
          <p:cNvCxnSpPr>
            <a:endCxn id="11" idx="0"/>
          </p:cNvCxnSpPr>
          <p:nvPr/>
        </p:nvCxnSpPr>
        <p:spPr>
          <a:xfrm flipH="1">
            <a:off x="766924" y="3578722"/>
            <a:ext cx="576064" cy="51142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接點 38"/>
          <p:cNvCxnSpPr>
            <a:endCxn id="12" idx="0"/>
          </p:cNvCxnSpPr>
          <p:nvPr/>
        </p:nvCxnSpPr>
        <p:spPr>
          <a:xfrm flipH="1">
            <a:off x="1342988" y="3578722"/>
            <a:ext cx="348692" cy="5114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單箭頭接點 40"/>
          <p:cNvCxnSpPr>
            <a:endCxn id="13" idx="0"/>
          </p:cNvCxnSpPr>
          <p:nvPr/>
        </p:nvCxnSpPr>
        <p:spPr>
          <a:xfrm flipH="1">
            <a:off x="1919052" y="3578722"/>
            <a:ext cx="60660" cy="51142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單箭頭接點 42"/>
          <p:cNvCxnSpPr>
            <a:endCxn id="14" idx="0"/>
          </p:cNvCxnSpPr>
          <p:nvPr/>
        </p:nvCxnSpPr>
        <p:spPr>
          <a:xfrm flipH="1">
            <a:off x="2423108" y="3578722"/>
            <a:ext cx="227372" cy="5190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單箭頭接點 44"/>
          <p:cNvCxnSpPr>
            <a:endCxn id="15" idx="0"/>
          </p:cNvCxnSpPr>
          <p:nvPr/>
        </p:nvCxnSpPr>
        <p:spPr>
          <a:xfrm>
            <a:off x="2999172" y="3578722"/>
            <a:ext cx="0" cy="5190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單箭頭接點 46"/>
          <p:cNvCxnSpPr>
            <a:endCxn id="16" idx="0"/>
          </p:cNvCxnSpPr>
          <p:nvPr/>
        </p:nvCxnSpPr>
        <p:spPr>
          <a:xfrm>
            <a:off x="3503228" y="3578722"/>
            <a:ext cx="0" cy="5190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單箭頭接點 48"/>
          <p:cNvCxnSpPr>
            <a:endCxn id="17" idx="0"/>
          </p:cNvCxnSpPr>
          <p:nvPr/>
        </p:nvCxnSpPr>
        <p:spPr>
          <a:xfrm>
            <a:off x="3779912" y="3578722"/>
            <a:ext cx="227372" cy="5190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單箭頭接點 50"/>
          <p:cNvCxnSpPr>
            <a:endCxn id="18" idx="0"/>
          </p:cNvCxnSpPr>
          <p:nvPr/>
        </p:nvCxnSpPr>
        <p:spPr>
          <a:xfrm flipH="1">
            <a:off x="4511340" y="3578722"/>
            <a:ext cx="276684" cy="51214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單箭頭接點 52"/>
          <p:cNvCxnSpPr>
            <a:endCxn id="19" idx="0"/>
          </p:cNvCxnSpPr>
          <p:nvPr/>
        </p:nvCxnSpPr>
        <p:spPr>
          <a:xfrm flipH="1">
            <a:off x="5068064" y="3578722"/>
            <a:ext cx="80000" cy="51214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單箭頭接點 54"/>
          <p:cNvCxnSpPr/>
          <p:nvPr/>
        </p:nvCxnSpPr>
        <p:spPr>
          <a:xfrm>
            <a:off x="5652120" y="3578722"/>
            <a:ext cx="0" cy="51142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單箭頭接點 56"/>
          <p:cNvCxnSpPr>
            <a:endCxn id="21" idx="0"/>
          </p:cNvCxnSpPr>
          <p:nvPr/>
        </p:nvCxnSpPr>
        <p:spPr>
          <a:xfrm>
            <a:off x="6025376" y="3578722"/>
            <a:ext cx="317878" cy="51214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單箭頭接點 58"/>
          <p:cNvCxnSpPr/>
          <p:nvPr/>
        </p:nvCxnSpPr>
        <p:spPr>
          <a:xfrm>
            <a:off x="6804248" y="3578722"/>
            <a:ext cx="0" cy="5190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單箭頭接點 60"/>
          <p:cNvCxnSpPr>
            <a:stCxn id="9" idx="2"/>
            <a:endCxn id="23" idx="0"/>
          </p:cNvCxnSpPr>
          <p:nvPr/>
        </p:nvCxnSpPr>
        <p:spPr>
          <a:xfrm>
            <a:off x="7326480" y="3578722"/>
            <a:ext cx="261864" cy="51975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單箭頭接點 62"/>
          <p:cNvCxnSpPr>
            <a:endCxn id="24" idx="0"/>
          </p:cNvCxnSpPr>
          <p:nvPr/>
        </p:nvCxnSpPr>
        <p:spPr>
          <a:xfrm>
            <a:off x="7668344" y="3578722"/>
            <a:ext cx="569456" cy="51975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單箭頭接點 64"/>
          <p:cNvCxnSpPr>
            <a:endCxn id="25" idx="0"/>
          </p:cNvCxnSpPr>
          <p:nvPr/>
        </p:nvCxnSpPr>
        <p:spPr>
          <a:xfrm>
            <a:off x="7943160" y="3578722"/>
            <a:ext cx="917836" cy="51975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pPr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474433216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i="1" dirty="0"/>
              <a:t>k</a:t>
            </a:r>
            <a:r>
              <a:rPr lang="en-US" altLang="zh-TW" baseline="-25000" dirty="0"/>
              <a:t>1</a:t>
            </a:r>
            <a:r>
              <a:rPr lang="en-US" altLang="zh-TW" dirty="0"/>
              <a:t>,</a:t>
            </a:r>
            <a:r>
              <a:rPr lang="en-US" altLang="zh-TW" i="1" dirty="0"/>
              <a:t> k</a:t>
            </a:r>
            <a:r>
              <a:rPr lang="en-US" altLang="zh-TW" baseline="-25000" dirty="0"/>
              <a:t>2, …, </a:t>
            </a:r>
            <a:r>
              <a:rPr lang="en-US" altLang="zh-TW" i="1" dirty="0" smtClean="0"/>
              <a:t>k</a:t>
            </a:r>
            <a:r>
              <a:rPr lang="en-US" altLang="zh-TW" baseline="-25000" dirty="0" smtClean="0"/>
              <a:t>512</a:t>
            </a:r>
            <a:r>
              <a:rPr lang="zh-TW" altLang="en-US" dirty="0" smtClean="0"/>
              <a:t>，</a:t>
            </a:r>
            <a:r>
              <a:rPr lang="en-US" altLang="zh-TW" dirty="0" smtClean="0"/>
              <a:t>c=3</a:t>
            </a:r>
            <a:r>
              <a:rPr lang="zh-TW" altLang="en-US" dirty="0" smtClean="0"/>
              <a:t>，</a:t>
            </a:r>
            <a:r>
              <a:rPr lang="en-US" altLang="zh-TW" dirty="0"/>
              <a:t> </a:t>
            </a:r>
            <a:r>
              <a:rPr lang="en-US" altLang="zh-TW" dirty="0" smtClean="0"/>
              <a:t>512=2</a:t>
            </a:r>
            <a:r>
              <a:rPr lang="en-US" altLang="zh-TW" baseline="30000" dirty="0" smtClean="0"/>
              <a:t>9</a:t>
            </a:r>
            <a:r>
              <a:rPr lang="zh-TW" altLang="en-US" dirty="0"/>
              <a:t> </a:t>
            </a:r>
            <a:r>
              <a:rPr lang="en-US" altLang="zh-TW" dirty="0" smtClean="0"/>
              <a:t>so root</a:t>
            </a:r>
            <a:r>
              <a:rPr lang="zh-TW" altLang="en-US" dirty="0" smtClean="0"/>
              <a:t> </a:t>
            </a:r>
            <a:r>
              <a:rPr lang="en-US" altLang="zh-TW" dirty="0" smtClean="0"/>
              <a:t>has 2</a:t>
            </a:r>
            <a:r>
              <a:rPr lang="en-US" altLang="zh-TW" baseline="30000" dirty="0" smtClean="0"/>
              <a:t>3</a:t>
            </a:r>
            <a:r>
              <a:rPr lang="en-US" altLang="zh-TW" dirty="0" smtClean="0"/>
              <a:t>=8</a:t>
            </a:r>
            <a:r>
              <a:rPr lang="en-US" altLang="zh-TW" baseline="30000" dirty="0" smtClean="0"/>
              <a:t> </a:t>
            </a:r>
            <a:r>
              <a:rPr lang="en-US" altLang="zh-TW" dirty="0" smtClean="0"/>
              <a:t>childes each for 2</a:t>
            </a:r>
            <a:r>
              <a:rPr lang="en-US" altLang="zh-TW" baseline="30000" dirty="0" smtClean="0"/>
              <a:t>6</a:t>
            </a:r>
            <a:r>
              <a:rPr lang="en-US" altLang="zh-TW" dirty="0" smtClean="0"/>
              <a:t>=64 data</a:t>
            </a:r>
            <a:endParaRPr lang="zh-TW" altLang="en-US" dirty="0"/>
          </a:p>
          <a:p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Example2</a:t>
            </a:r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2057400" y="2953710"/>
            <a:ext cx="435451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i="1" dirty="0" smtClean="0"/>
              <a:t>k</a:t>
            </a:r>
            <a:r>
              <a:rPr lang="en-US" altLang="zh-TW" baseline="-25000" dirty="0" smtClean="0"/>
              <a:t>1, </a:t>
            </a:r>
            <a:r>
              <a:rPr lang="en-US" altLang="zh-TW" i="1" dirty="0" smtClean="0"/>
              <a:t>k</a:t>
            </a:r>
            <a:r>
              <a:rPr lang="en-US" altLang="zh-TW" baseline="-25000" dirty="0" smtClean="0"/>
              <a:t>65, </a:t>
            </a:r>
            <a:r>
              <a:rPr lang="en-US" altLang="zh-TW" i="1" dirty="0" smtClean="0"/>
              <a:t>k</a:t>
            </a:r>
            <a:r>
              <a:rPr lang="en-US" altLang="zh-TW" baseline="-25000" dirty="0" smtClean="0"/>
              <a:t>129,</a:t>
            </a:r>
            <a:r>
              <a:rPr lang="en-US" altLang="zh-TW" dirty="0" smtClean="0"/>
              <a:t> </a:t>
            </a:r>
            <a:r>
              <a:rPr lang="en-US" altLang="zh-TW" i="1" dirty="0" smtClean="0"/>
              <a:t>k</a:t>
            </a:r>
            <a:r>
              <a:rPr lang="en-US" altLang="zh-TW" baseline="-25000" dirty="0" smtClean="0"/>
              <a:t>193, </a:t>
            </a:r>
            <a:r>
              <a:rPr lang="en-US" altLang="zh-TW" i="1" dirty="0"/>
              <a:t>k</a:t>
            </a:r>
            <a:r>
              <a:rPr lang="en-US" altLang="zh-TW" baseline="-25000" dirty="0"/>
              <a:t>193</a:t>
            </a:r>
            <a:r>
              <a:rPr lang="en-US" altLang="zh-TW" baseline="-25000" dirty="0" smtClean="0"/>
              <a:t>,</a:t>
            </a:r>
            <a:r>
              <a:rPr lang="en-US" altLang="zh-TW" i="1" dirty="0"/>
              <a:t> </a:t>
            </a:r>
            <a:r>
              <a:rPr lang="en-US" altLang="zh-TW" i="1" dirty="0" smtClean="0"/>
              <a:t>k</a:t>
            </a:r>
            <a:r>
              <a:rPr lang="en-US" altLang="zh-TW" baseline="-25000" dirty="0" smtClean="0"/>
              <a:t>257,</a:t>
            </a:r>
            <a:r>
              <a:rPr lang="en-US" altLang="zh-TW" i="1" dirty="0" smtClean="0"/>
              <a:t> k</a:t>
            </a:r>
            <a:r>
              <a:rPr lang="en-US" altLang="zh-TW" baseline="-25000" dirty="0" smtClean="0"/>
              <a:t>321,</a:t>
            </a:r>
            <a:r>
              <a:rPr lang="en-US" altLang="zh-TW" i="1" dirty="0" smtClean="0"/>
              <a:t> k</a:t>
            </a:r>
            <a:r>
              <a:rPr lang="en-US" altLang="zh-TW" baseline="-25000" dirty="0" smtClean="0"/>
              <a:t>385,</a:t>
            </a:r>
            <a:endParaRPr lang="zh-TW" altLang="en-US" dirty="0"/>
          </a:p>
        </p:txBody>
      </p:sp>
      <p:sp>
        <p:nvSpPr>
          <p:cNvPr id="5" name="文字方塊 4"/>
          <p:cNvSpPr txBox="1"/>
          <p:nvPr/>
        </p:nvSpPr>
        <p:spPr>
          <a:xfrm>
            <a:off x="347640" y="3854870"/>
            <a:ext cx="170549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i="1" dirty="0" smtClean="0"/>
              <a:t>k</a:t>
            </a:r>
            <a:r>
              <a:rPr lang="en-US" altLang="zh-TW" baseline="-25000" dirty="0" smtClean="0"/>
              <a:t>1, </a:t>
            </a:r>
            <a:r>
              <a:rPr lang="en-US" altLang="zh-TW" i="1" dirty="0" smtClean="0"/>
              <a:t>k</a:t>
            </a:r>
            <a:r>
              <a:rPr lang="en-US" altLang="zh-TW" baseline="-25000" dirty="0" smtClean="0"/>
              <a:t>17, </a:t>
            </a:r>
            <a:r>
              <a:rPr lang="en-US" altLang="zh-TW" i="1" dirty="0" smtClean="0"/>
              <a:t>k</a:t>
            </a:r>
            <a:r>
              <a:rPr lang="en-US" altLang="zh-TW" baseline="-25000" dirty="0" smtClean="0"/>
              <a:t>33, </a:t>
            </a:r>
            <a:r>
              <a:rPr lang="en-US" altLang="zh-TW" i="1" dirty="0" smtClean="0"/>
              <a:t>k</a:t>
            </a:r>
            <a:r>
              <a:rPr lang="en-US" altLang="zh-TW" baseline="-25000" dirty="0" smtClean="0"/>
              <a:t>49</a:t>
            </a:r>
            <a:endParaRPr lang="zh-TW" altLang="en-US" dirty="0"/>
          </a:p>
        </p:txBody>
      </p:sp>
      <p:sp>
        <p:nvSpPr>
          <p:cNvPr id="6" name="文字方塊 5"/>
          <p:cNvSpPr txBox="1"/>
          <p:nvPr/>
        </p:nvSpPr>
        <p:spPr>
          <a:xfrm>
            <a:off x="2195736" y="3865104"/>
            <a:ext cx="193658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i="1" dirty="0" smtClean="0"/>
              <a:t>k</a:t>
            </a:r>
            <a:r>
              <a:rPr lang="en-US" altLang="zh-TW" baseline="-25000" dirty="0" smtClean="0"/>
              <a:t>65, </a:t>
            </a:r>
            <a:r>
              <a:rPr lang="en-US" altLang="zh-TW" i="1" dirty="0" smtClean="0"/>
              <a:t>k</a:t>
            </a:r>
            <a:r>
              <a:rPr lang="en-US" altLang="zh-TW" baseline="-25000" dirty="0" smtClean="0"/>
              <a:t>81,</a:t>
            </a:r>
            <a:r>
              <a:rPr lang="en-US" altLang="zh-TW" i="1" dirty="0" smtClean="0"/>
              <a:t> k</a:t>
            </a:r>
            <a:r>
              <a:rPr lang="en-US" altLang="zh-TW" baseline="-25000" dirty="0" smtClean="0"/>
              <a:t>97, </a:t>
            </a:r>
            <a:r>
              <a:rPr lang="en-US" altLang="zh-TW" i="1" dirty="0" smtClean="0"/>
              <a:t>k</a:t>
            </a:r>
            <a:r>
              <a:rPr lang="en-US" altLang="zh-TW" baseline="-25000" dirty="0" smtClean="0"/>
              <a:t>113</a:t>
            </a:r>
            <a:endParaRPr lang="zh-TW" altLang="en-US" dirty="0"/>
          </a:p>
        </p:txBody>
      </p:sp>
      <p:cxnSp>
        <p:nvCxnSpPr>
          <p:cNvPr id="25" name="直線單箭頭接點 24"/>
          <p:cNvCxnSpPr>
            <a:endCxn id="5" idx="0"/>
          </p:cNvCxnSpPr>
          <p:nvPr/>
        </p:nvCxnSpPr>
        <p:spPr>
          <a:xfrm flipH="1">
            <a:off x="1200388" y="3323042"/>
            <a:ext cx="1211372" cy="53182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單箭頭接點 25"/>
          <p:cNvCxnSpPr>
            <a:endCxn id="6" idx="0"/>
          </p:cNvCxnSpPr>
          <p:nvPr/>
        </p:nvCxnSpPr>
        <p:spPr>
          <a:xfrm>
            <a:off x="2783840" y="3291840"/>
            <a:ext cx="380187" cy="57326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27"/>
          <p:cNvCxnSpPr>
            <a:endCxn id="61" idx="0"/>
          </p:cNvCxnSpPr>
          <p:nvPr/>
        </p:nvCxnSpPr>
        <p:spPr>
          <a:xfrm>
            <a:off x="5814184" y="3322798"/>
            <a:ext cx="1122248" cy="54807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文字方塊 60"/>
          <p:cNvSpPr txBox="1"/>
          <p:nvPr/>
        </p:nvSpPr>
        <p:spPr>
          <a:xfrm>
            <a:off x="5784304" y="3870876"/>
            <a:ext cx="230425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i="1" dirty="0" smtClean="0"/>
              <a:t>k</a:t>
            </a:r>
            <a:r>
              <a:rPr lang="en-US" altLang="zh-TW" baseline="-25000" dirty="0" smtClean="0"/>
              <a:t>385, </a:t>
            </a:r>
            <a:r>
              <a:rPr lang="en-US" altLang="zh-TW" i="1" dirty="0" smtClean="0"/>
              <a:t>k</a:t>
            </a:r>
            <a:r>
              <a:rPr lang="en-US" altLang="zh-TW" baseline="-25000" dirty="0" smtClean="0"/>
              <a:t>401, </a:t>
            </a:r>
            <a:r>
              <a:rPr lang="en-US" altLang="zh-TW" i="1" dirty="0" smtClean="0"/>
              <a:t>k</a:t>
            </a:r>
            <a:r>
              <a:rPr lang="en-US" altLang="zh-TW" baseline="-25000" dirty="0" smtClean="0"/>
              <a:t>417, </a:t>
            </a:r>
            <a:r>
              <a:rPr lang="en-US" altLang="zh-TW" i="1" dirty="0" smtClean="0"/>
              <a:t>k</a:t>
            </a:r>
            <a:r>
              <a:rPr lang="en-US" altLang="zh-TW" baseline="-25000" dirty="0" smtClean="0"/>
              <a:t>433</a:t>
            </a:r>
            <a:endParaRPr lang="zh-TW" altLang="en-US" dirty="0"/>
          </a:p>
        </p:txBody>
      </p:sp>
      <p:sp>
        <p:nvSpPr>
          <p:cNvPr id="63" name="文字方塊 62"/>
          <p:cNvSpPr txBox="1"/>
          <p:nvPr/>
        </p:nvSpPr>
        <p:spPr>
          <a:xfrm>
            <a:off x="4427984" y="3540315"/>
            <a:ext cx="11521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/>
              <a:t>5</a:t>
            </a:r>
            <a:r>
              <a:rPr lang="en-US" altLang="zh-TW" sz="1600" b="1" dirty="0" smtClean="0"/>
              <a:t> more</a:t>
            </a:r>
          </a:p>
          <a:p>
            <a:r>
              <a:rPr lang="en-US" altLang="zh-TW" sz="2400" b="1" dirty="0" smtClean="0"/>
              <a:t>……</a:t>
            </a:r>
            <a:endParaRPr lang="zh-TW" altLang="en-US" sz="2400" b="1" dirty="0"/>
          </a:p>
        </p:txBody>
      </p:sp>
      <p:cxnSp>
        <p:nvCxnSpPr>
          <p:cNvPr id="65" name="直線單箭頭接點 64"/>
          <p:cNvCxnSpPr>
            <a:endCxn id="67" idx="0"/>
          </p:cNvCxnSpPr>
          <p:nvPr/>
        </p:nvCxnSpPr>
        <p:spPr>
          <a:xfrm flipH="1">
            <a:off x="535392" y="4224202"/>
            <a:ext cx="4197" cy="59597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等腰三角形 66"/>
          <p:cNvSpPr/>
          <p:nvPr/>
        </p:nvSpPr>
        <p:spPr>
          <a:xfrm>
            <a:off x="28496" y="4820181"/>
            <a:ext cx="1013792" cy="1008112"/>
          </a:xfrm>
          <a:prstGeom prst="triangl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64" name="文字方塊 63"/>
          <p:cNvSpPr txBox="1"/>
          <p:nvPr/>
        </p:nvSpPr>
        <p:spPr>
          <a:xfrm>
            <a:off x="77919" y="5458961"/>
            <a:ext cx="923340" cy="33855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i="1" dirty="0" smtClean="0"/>
              <a:t>k</a:t>
            </a:r>
            <a:r>
              <a:rPr lang="en-US" altLang="zh-TW" sz="1600" baseline="-25000" dirty="0" smtClean="0"/>
              <a:t>1</a:t>
            </a:r>
            <a:r>
              <a:rPr lang="en-US" altLang="zh-TW" sz="1600" dirty="0" smtClean="0"/>
              <a:t>-</a:t>
            </a:r>
            <a:r>
              <a:rPr lang="en-US" altLang="zh-TW" sz="1600" i="1" dirty="0" smtClean="0"/>
              <a:t>k</a:t>
            </a:r>
            <a:r>
              <a:rPr lang="en-US" altLang="zh-TW" sz="1600" baseline="-25000" dirty="0" smtClean="0"/>
              <a:t>16</a:t>
            </a:r>
            <a:endParaRPr lang="zh-TW" altLang="en-US" sz="1600" dirty="0"/>
          </a:p>
        </p:txBody>
      </p:sp>
      <p:cxnSp>
        <p:nvCxnSpPr>
          <p:cNvPr id="72" name="直線單箭頭接點 71"/>
          <p:cNvCxnSpPr>
            <a:endCxn id="73" idx="0"/>
          </p:cNvCxnSpPr>
          <p:nvPr/>
        </p:nvCxnSpPr>
        <p:spPr>
          <a:xfrm>
            <a:off x="1001259" y="4218457"/>
            <a:ext cx="706025" cy="6017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等腰三角形 72"/>
          <p:cNvSpPr/>
          <p:nvPr/>
        </p:nvSpPr>
        <p:spPr>
          <a:xfrm>
            <a:off x="1200388" y="4820181"/>
            <a:ext cx="1013792" cy="1008112"/>
          </a:xfrm>
          <a:prstGeom prst="triangl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4" name="文字方塊 73"/>
          <p:cNvSpPr txBox="1"/>
          <p:nvPr/>
        </p:nvSpPr>
        <p:spPr>
          <a:xfrm>
            <a:off x="1249811" y="5458961"/>
            <a:ext cx="923340" cy="33855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i="1" dirty="0" smtClean="0"/>
              <a:t>k</a:t>
            </a:r>
            <a:r>
              <a:rPr lang="en-US" altLang="zh-TW" sz="1600" baseline="-25000" dirty="0" smtClean="0"/>
              <a:t>17</a:t>
            </a:r>
            <a:r>
              <a:rPr lang="en-US" altLang="zh-TW" sz="1600" dirty="0" smtClean="0"/>
              <a:t>-</a:t>
            </a:r>
            <a:r>
              <a:rPr lang="en-US" altLang="zh-TW" sz="1600" i="1" dirty="0" smtClean="0"/>
              <a:t>k</a:t>
            </a:r>
            <a:r>
              <a:rPr lang="en-US" altLang="zh-TW" sz="1600" baseline="-25000" dirty="0" smtClean="0"/>
              <a:t>32</a:t>
            </a:r>
            <a:endParaRPr lang="zh-TW" altLang="en-US" sz="1600" dirty="0"/>
          </a:p>
        </p:txBody>
      </p:sp>
      <p:cxnSp>
        <p:nvCxnSpPr>
          <p:cNvPr id="75" name="直線單箭頭接點 74"/>
          <p:cNvCxnSpPr>
            <a:endCxn id="76" idx="0"/>
          </p:cNvCxnSpPr>
          <p:nvPr/>
        </p:nvCxnSpPr>
        <p:spPr>
          <a:xfrm>
            <a:off x="1354271" y="4224202"/>
            <a:ext cx="1549577" cy="59023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等腰三角形 75"/>
          <p:cNvSpPr/>
          <p:nvPr/>
        </p:nvSpPr>
        <p:spPr>
          <a:xfrm>
            <a:off x="2396952" y="4814436"/>
            <a:ext cx="1013792" cy="1008112"/>
          </a:xfrm>
          <a:prstGeom prst="triangl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7" name="文字方塊 76"/>
          <p:cNvSpPr txBox="1"/>
          <p:nvPr/>
        </p:nvSpPr>
        <p:spPr>
          <a:xfrm>
            <a:off x="2446375" y="5453216"/>
            <a:ext cx="923340" cy="33855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i="1" dirty="0" smtClean="0"/>
              <a:t>k</a:t>
            </a:r>
            <a:r>
              <a:rPr lang="en-US" altLang="zh-TW" sz="1600" baseline="-25000" dirty="0" smtClean="0"/>
              <a:t>33</a:t>
            </a:r>
            <a:r>
              <a:rPr lang="en-US" altLang="zh-TW" sz="1600" dirty="0" smtClean="0"/>
              <a:t>-</a:t>
            </a:r>
            <a:r>
              <a:rPr lang="en-US" altLang="zh-TW" sz="1600" i="1" dirty="0" smtClean="0"/>
              <a:t>k</a:t>
            </a:r>
            <a:r>
              <a:rPr lang="en-US" altLang="zh-TW" sz="1600" baseline="-25000" dirty="0" smtClean="0"/>
              <a:t>48</a:t>
            </a:r>
            <a:endParaRPr lang="zh-TW" altLang="en-US" sz="1600" dirty="0"/>
          </a:p>
        </p:txBody>
      </p:sp>
      <p:cxnSp>
        <p:nvCxnSpPr>
          <p:cNvPr id="78" name="直線單箭頭接點 77"/>
          <p:cNvCxnSpPr>
            <a:endCxn id="79" idx="0"/>
          </p:cNvCxnSpPr>
          <p:nvPr/>
        </p:nvCxnSpPr>
        <p:spPr>
          <a:xfrm>
            <a:off x="1806074" y="4234436"/>
            <a:ext cx="2326244" cy="58574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等腰三角形 78"/>
          <p:cNvSpPr/>
          <p:nvPr/>
        </p:nvSpPr>
        <p:spPr>
          <a:xfrm>
            <a:off x="3625422" y="4820181"/>
            <a:ext cx="1013792" cy="1008112"/>
          </a:xfrm>
          <a:prstGeom prst="triangl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0" name="文字方塊 79"/>
          <p:cNvSpPr txBox="1"/>
          <p:nvPr/>
        </p:nvSpPr>
        <p:spPr>
          <a:xfrm>
            <a:off x="3674845" y="5458961"/>
            <a:ext cx="923340" cy="33855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i="1" dirty="0" smtClean="0"/>
              <a:t>k</a:t>
            </a:r>
            <a:r>
              <a:rPr lang="en-US" altLang="zh-TW" sz="1600" baseline="-25000" dirty="0" smtClean="0"/>
              <a:t>49</a:t>
            </a:r>
            <a:r>
              <a:rPr lang="en-US" altLang="zh-TW" sz="1600" dirty="0" smtClean="0"/>
              <a:t>-</a:t>
            </a:r>
            <a:r>
              <a:rPr lang="en-US" altLang="zh-TW" sz="1600" i="1" dirty="0" smtClean="0"/>
              <a:t>k</a:t>
            </a:r>
            <a:r>
              <a:rPr lang="en-US" altLang="zh-TW" sz="1600" baseline="-25000" dirty="0" smtClean="0"/>
              <a:t>64</a:t>
            </a:r>
            <a:endParaRPr lang="zh-TW" altLang="en-US" sz="1600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pPr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308758296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xmlns="" Requires="a14">
          <p:sp>
            <p:nvSpPr>
              <p:cNvPr id="2" name="內容版面配置區 1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 smtClean="0"/>
                  <a:t>For </a:t>
                </a:r>
                <a:r>
                  <a:rPr lang="en-US" altLang="zh-TW" i="1" dirty="0" smtClean="0"/>
                  <a:t>n</a:t>
                </a:r>
                <a:r>
                  <a:rPr lang="en-US" altLang="zh-TW" dirty="0" smtClean="0"/>
                  <a:t> elements with value [1..U].</a:t>
                </a:r>
              </a:p>
              <a:p>
                <a:r>
                  <a:rPr lang="en-US" altLang="zh-TW" dirty="0" smtClean="0"/>
                  <a:t>The tree with m leaves contains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TW" i="1" smtClean="0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𝑚</m:t>
                        </m:r>
                      </m:e>
                    </m:rad>
                    <m:r>
                      <a:rPr lang="en-US" altLang="zh-TW" b="0" i="1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altLang="zh-TW" dirty="0" err="1" smtClean="0"/>
                  <a:t>subtrees</a:t>
                </a:r>
                <a:r>
                  <a:rPr lang="en-US" altLang="zh-TW" dirty="0" smtClean="0"/>
                  <a:t> each have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TW" i="1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US" altLang="zh-TW" i="1">
                            <a:latin typeface="Cambria Math"/>
                          </a:rPr>
                          <m:t>𝑚</m:t>
                        </m:r>
                      </m:e>
                    </m:rad>
                    <m:r>
                      <a:rPr lang="en-US" altLang="zh-TW" b="0" i="1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altLang="zh-TW" dirty="0" smtClean="0"/>
                  <a:t>leafs.</a:t>
                </a:r>
              </a:p>
              <a:p>
                <a:r>
                  <a:rPr lang="en-US" altLang="zh-TW" dirty="0" smtClean="0"/>
                  <a:t>The leafs are mapping to [1..</a:t>
                </a:r>
                <a:r>
                  <a:rPr lang="en-US" altLang="zh-TW" i="1" dirty="0" smtClean="0"/>
                  <a:t>U</a:t>
                </a:r>
                <a:r>
                  <a:rPr lang="en-US" altLang="zh-TW" dirty="0" smtClean="0"/>
                  <a:t>], recording each value present or not present.</a:t>
                </a:r>
              </a:p>
              <a:p>
                <a:r>
                  <a:rPr lang="en-US" altLang="zh-TW" dirty="0" smtClean="0"/>
                  <a:t>Supports </a:t>
                </a:r>
                <a:r>
                  <a:rPr lang="en-US" altLang="zh-TW" dirty="0" smtClean="0">
                    <a:solidFill>
                      <a:schemeClr val="tx1"/>
                    </a:solidFill>
                  </a:rPr>
                  <a:t>all operations </a:t>
                </a:r>
                <a:r>
                  <a:rPr lang="en-US" altLang="zh-TW" dirty="0">
                    <a:solidFill>
                      <a:schemeClr val="tx1"/>
                    </a:solidFill>
                  </a:rPr>
                  <a:t>in </a:t>
                </a:r>
                <a:r>
                  <a:rPr lang="en-US" altLang="zh-TW" i="1" dirty="0" smtClean="0">
                    <a:solidFill>
                      <a:schemeClr val="tx1"/>
                    </a:solidFill>
                  </a:rPr>
                  <a:t>O</a:t>
                </a:r>
                <a:r>
                  <a:rPr lang="en-US" altLang="zh-TW" dirty="0" smtClean="0">
                    <a:solidFill>
                      <a:schemeClr val="tx1"/>
                    </a:solidFill>
                  </a:rPr>
                  <a:t>(log </a:t>
                </a:r>
                <a:r>
                  <a:rPr lang="en-US" altLang="zh-TW" dirty="0" err="1" smtClean="0">
                    <a:solidFill>
                      <a:schemeClr val="tx1"/>
                    </a:solidFill>
                  </a:rPr>
                  <a:t>log</a:t>
                </a:r>
                <a:r>
                  <a:rPr lang="en-US" altLang="zh-TW" dirty="0" smtClean="0">
                    <a:solidFill>
                      <a:schemeClr val="tx1"/>
                    </a:solidFill>
                  </a:rPr>
                  <a:t/>
                </a:r>
                <a:r>
                  <a:rPr lang="en-US" altLang="zh-TW" i="1" dirty="0" smtClean="0">
                    <a:solidFill>
                      <a:schemeClr val="tx1"/>
                    </a:solidFill>
                  </a:rPr>
                  <a:t>U</a:t>
                </a:r>
                <a:r>
                  <a:rPr lang="en-US" altLang="zh-TW" dirty="0" smtClean="0">
                    <a:solidFill>
                      <a:schemeClr val="tx1"/>
                    </a:solidFill>
                  </a:rPr>
                  <a:t>) </a:t>
                </a:r>
                <a:r>
                  <a:rPr lang="pt-BR" altLang="zh-TW" dirty="0" smtClean="0">
                    <a:solidFill>
                      <a:schemeClr val="tx1"/>
                    </a:solidFill>
                  </a:rPr>
                  <a:t>time.</a:t>
                </a:r>
              </a:p>
              <a:p>
                <a:r>
                  <a:rPr lang="en-US" altLang="zh-TW" dirty="0"/>
                  <a:t>R</a:t>
                </a:r>
                <a:r>
                  <a:rPr lang="en-US" altLang="zh-TW" dirty="0" smtClean="0"/>
                  <a:t>equires </a:t>
                </a:r>
                <a:r>
                  <a:rPr lang="en-US" altLang="zh-TW" dirty="0"/>
                  <a:t>randomization (</a:t>
                </a:r>
                <a:r>
                  <a:rPr lang="en-US" altLang="zh-TW" dirty="0" smtClean="0"/>
                  <a:t>hashing) in </a:t>
                </a:r>
                <a:r>
                  <a:rPr lang="en-US" altLang="zh-TW" dirty="0"/>
                  <a:t>order to achieve linear </a:t>
                </a:r>
                <a:r>
                  <a:rPr lang="en-US" altLang="zh-TW" dirty="0" smtClean="0"/>
                  <a:t>space.</a:t>
                </a:r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" name="內容版面配置區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1213" r="-37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v</a:t>
            </a:r>
            <a:r>
              <a:rPr lang="en-US" altLang="zh-TW" dirty="0" smtClean="0"/>
              <a:t>an </a:t>
            </a:r>
            <a:r>
              <a:rPr lang="en-US" altLang="zh-TW" dirty="0" err="1" smtClean="0"/>
              <a:t>Emde</a:t>
            </a:r>
            <a:r>
              <a:rPr lang="en-US" altLang="zh-TW" dirty="0" smtClean="0"/>
              <a:t> Boas Priority Queue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pPr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629149869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altLang="zh-TW" dirty="0"/>
              <a:t>We will always maintain a </a:t>
            </a:r>
            <a:r>
              <a:rPr lang="en-US" altLang="zh-TW" dirty="0">
                <a:solidFill>
                  <a:srgbClr val="FF0000"/>
                </a:solidFill>
              </a:rPr>
              <a:t>sorted doubly-linked list</a:t>
            </a:r>
            <a:r>
              <a:rPr lang="en-US" altLang="zh-TW" dirty="0"/>
              <a:t> with the stored keys and a </a:t>
            </a:r>
            <a:r>
              <a:rPr lang="en-US" altLang="zh-TW" dirty="0" smtClean="0"/>
              <a:t>distinguished head </a:t>
            </a:r>
            <a:r>
              <a:rPr lang="en-US" altLang="zh-TW" dirty="0"/>
              <a:t>and tail. </a:t>
            </a:r>
            <a:endParaRPr lang="en-US" altLang="zh-TW" dirty="0" smtClean="0"/>
          </a:p>
          <a:p>
            <a:r>
              <a:rPr lang="en-US" altLang="zh-TW" dirty="0" smtClean="0"/>
              <a:t>With </a:t>
            </a:r>
            <a:r>
              <a:rPr lang="en-US" altLang="zh-TW" dirty="0"/>
              <a:t>this list we support </a:t>
            </a:r>
            <a:r>
              <a:rPr lang="en-US" altLang="zh-TW" dirty="0">
                <a:solidFill>
                  <a:srgbClr val="FF0000"/>
                </a:solidFill>
              </a:rPr>
              <a:t>successor, predecessor, min, and </a:t>
            </a:r>
            <a:r>
              <a:rPr lang="en-US" altLang="zh-TW" dirty="0" smtClean="0">
                <a:solidFill>
                  <a:srgbClr val="FF0000"/>
                </a:solidFill>
              </a:rPr>
              <a:t>max operations </a:t>
            </a:r>
            <a:r>
              <a:rPr lang="en-US" altLang="zh-TW" dirty="0">
                <a:solidFill>
                  <a:srgbClr val="FF0000"/>
                </a:solidFill>
              </a:rPr>
              <a:t>in constant time</a:t>
            </a:r>
            <a:r>
              <a:rPr lang="en-US" altLang="zh-TW" dirty="0"/>
              <a:t>. </a:t>
            </a:r>
            <a:endParaRPr lang="en-US" altLang="zh-TW" dirty="0" smtClean="0"/>
          </a:p>
          <a:p>
            <a:r>
              <a:rPr lang="en-US" altLang="zh-TW" dirty="0" smtClean="0"/>
              <a:t>Then </a:t>
            </a:r>
            <a:r>
              <a:rPr lang="en-US" altLang="zh-TW" dirty="0">
                <a:solidFill>
                  <a:srgbClr val="FF0000"/>
                </a:solidFill>
              </a:rPr>
              <a:t>insertion</a:t>
            </a:r>
            <a:r>
              <a:rPr lang="en-US" altLang="zh-TW" dirty="0"/>
              <a:t> subsumes a </a:t>
            </a:r>
            <a:r>
              <a:rPr lang="en-US" altLang="zh-TW" dirty="0">
                <a:solidFill>
                  <a:srgbClr val="FF0000"/>
                </a:solidFill>
              </a:rPr>
              <a:t>search</a:t>
            </a:r>
            <a:r>
              <a:rPr lang="en-US" altLang="zh-TW" dirty="0"/>
              <a:t> identifying the key </a:t>
            </a:r>
            <a:r>
              <a:rPr lang="en-US" altLang="zh-TW" dirty="0" smtClean="0"/>
              <a:t>after which </a:t>
            </a:r>
            <a:r>
              <a:rPr lang="en-US" altLang="zh-TW" dirty="0"/>
              <a:t>the new key is to be inserted. </a:t>
            </a:r>
            <a:endParaRPr lang="en-US" altLang="zh-TW" dirty="0" smtClean="0"/>
          </a:p>
          <a:p>
            <a:r>
              <a:rPr lang="en-US" altLang="zh-TW" dirty="0" smtClean="0"/>
              <a:t>Similarly</a:t>
            </a:r>
            <a:r>
              <a:rPr lang="en-US" altLang="zh-TW" dirty="0"/>
              <a:t>, if we want to </a:t>
            </a:r>
            <a:r>
              <a:rPr lang="en-US" altLang="zh-TW" dirty="0">
                <a:solidFill>
                  <a:srgbClr val="FF0000"/>
                </a:solidFill>
              </a:rPr>
              <a:t>delete a key by value</a:t>
            </a:r>
            <a:r>
              <a:rPr lang="en-US" altLang="zh-TW" dirty="0"/>
              <a:t>, </a:t>
            </a:r>
            <a:r>
              <a:rPr lang="en-US" altLang="zh-TW" dirty="0" smtClean="0"/>
              <a:t>rather than </a:t>
            </a:r>
            <a:r>
              <a:rPr lang="en-US" altLang="zh-TW" dirty="0"/>
              <a:t>by a pointer to a key, a search, or </a:t>
            </a:r>
            <a:r>
              <a:rPr lang="en-US" altLang="zh-TW" dirty="0">
                <a:solidFill>
                  <a:srgbClr val="FF0000"/>
                </a:solidFill>
              </a:rPr>
              <a:t>look-up</a:t>
            </a:r>
            <a:r>
              <a:rPr lang="en-US" altLang="zh-TW" dirty="0"/>
              <a:t>, identifies the key to be deleted, if any.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Implementation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pPr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164634859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Introduction</a:t>
            </a:r>
          </a:p>
          <a:p>
            <a:r>
              <a:rPr lang="en-US" altLang="zh-TW" dirty="0">
                <a:solidFill>
                  <a:srgbClr val="FF0000"/>
                </a:solidFill>
              </a:rPr>
              <a:t>Amortized </a:t>
            </a:r>
            <a:r>
              <a:rPr lang="en-US" altLang="zh-TW" dirty="0" smtClean="0">
                <a:solidFill>
                  <a:srgbClr val="FF0000"/>
                </a:solidFill>
              </a:rPr>
              <a:t>exponential </a:t>
            </a:r>
            <a:r>
              <a:rPr lang="en-US" altLang="zh-TW" dirty="0">
                <a:solidFill>
                  <a:srgbClr val="FF0000"/>
                </a:solidFill>
              </a:rPr>
              <a:t>search tree</a:t>
            </a:r>
          </a:p>
          <a:p>
            <a:r>
              <a:rPr lang="en-US" altLang="zh-TW" dirty="0" smtClean="0"/>
              <a:t>Worst case </a:t>
            </a:r>
            <a:r>
              <a:rPr lang="en-US" altLang="zh-TW" dirty="0"/>
              <a:t>efficient </a:t>
            </a:r>
            <a:r>
              <a:rPr lang="en-US" altLang="zh-TW" dirty="0" smtClean="0"/>
              <a:t>exponential </a:t>
            </a:r>
            <a:r>
              <a:rPr lang="en-US" altLang="zh-TW" dirty="0"/>
              <a:t>search tree</a:t>
            </a:r>
          </a:p>
          <a:p>
            <a:r>
              <a:rPr lang="en-US" altLang="zh-TW" dirty="0"/>
              <a:t>Static search structures</a:t>
            </a:r>
            <a:endParaRPr lang="en-US" altLang="zh-TW" dirty="0">
              <a:solidFill>
                <a:srgbClr val="FF0000"/>
              </a:solidFill>
            </a:endParaRPr>
          </a:p>
          <a:p>
            <a:r>
              <a:rPr lang="en-US" altLang="zh-TW" dirty="0" smtClean="0"/>
              <a:t>Finger Search</a:t>
            </a:r>
          </a:p>
          <a:p>
            <a:r>
              <a:rPr lang="en-US" altLang="zh-TW" dirty="0" smtClean="0"/>
              <a:t>String Search</a:t>
            </a:r>
          </a:p>
          <a:p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Outline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pPr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933775629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In our exponential search trees, the local search at each internal node is performed </a:t>
            </a:r>
            <a:r>
              <a:rPr lang="en-US" altLang="zh-TW" dirty="0" smtClean="0"/>
              <a:t>using a </a:t>
            </a:r>
            <a:r>
              <a:rPr lang="en-US" altLang="zh-TW" dirty="0">
                <a:solidFill>
                  <a:srgbClr val="FF0000"/>
                </a:solidFill>
              </a:rPr>
              <a:t>static local search structure</a:t>
            </a:r>
            <a:r>
              <a:rPr lang="en-US" altLang="zh-TW" dirty="0"/>
              <a:t>, called an </a:t>
            </a:r>
            <a:r>
              <a:rPr lang="en-US" altLang="zh-TW" i="1" dirty="0">
                <a:solidFill>
                  <a:srgbClr val="FF0000"/>
                </a:solidFill>
              </a:rPr>
              <a:t>S-structure</a:t>
            </a:r>
            <a:r>
              <a:rPr lang="en-US" altLang="zh-TW" dirty="0"/>
              <a:t>. </a:t>
            </a:r>
            <a:endParaRPr lang="en-US" altLang="zh-TW" dirty="0" smtClean="0"/>
          </a:p>
          <a:p>
            <a:r>
              <a:rPr lang="en-US" altLang="zh-TW" dirty="0" smtClean="0"/>
              <a:t>We </a:t>
            </a:r>
            <a:r>
              <a:rPr lang="en-US" altLang="zh-TW" dirty="0"/>
              <a:t>assume that an </a:t>
            </a:r>
            <a:r>
              <a:rPr lang="en-US" altLang="zh-TW" i="1" dirty="0"/>
              <a:t>S</a:t>
            </a:r>
            <a:r>
              <a:rPr lang="en-US" altLang="zh-TW" dirty="0"/>
              <a:t>-structure over </a:t>
            </a:r>
            <a:r>
              <a:rPr lang="en-US" altLang="zh-TW" i="1" dirty="0" smtClean="0"/>
              <a:t>d </a:t>
            </a:r>
            <a:r>
              <a:rPr lang="en-US" altLang="zh-TW" dirty="0" smtClean="0"/>
              <a:t>keys </a:t>
            </a:r>
            <a:r>
              <a:rPr lang="en-US" altLang="zh-TW" dirty="0"/>
              <a:t>can be built in </a:t>
            </a:r>
            <a:r>
              <a:rPr lang="en-US" altLang="zh-TW" i="1" dirty="0">
                <a:solidFill>
                  <a:srgbClr val="FF0000"/>
                </a:solidFill>
              </a:rPr>
              <a:t>O</a:t>
            </a:r>
            <a:r>
              <a:rPr lang="en-US" altLang="zh-TW" dirty="0">
                <a:solidFill>
                  <a:srgbClr val="FF0000"/>
                </a:solidFill>
              </a:rPr>
              <a:t>(</a:t>
            </a:r>
            <a:r>
              <a:rPr lang="en-US" altLang="zh-TW" i="1" dirty="0">
                <a:solidFill>
                  <a:srgbClr val="FF0000"/>
                </a:solidFill>
              </a:rPr>
              <a:t>d</a:t>
            </a:r>
            <a:r>
              <a:rPr lang="en-US" altLang="zh-TW" i="1" baseline="30000" dirty="0">
                <a:solidFill>
                  <a:srgbClr val="FF0000"/>
                </a:solidFill>
              </a:rPr>
              <a:t>k−</a:t>
            </a:r>
            <a:r>
              <a:rPr lang="en-US" altLang="zh-TW" baseline="30000" dirty="0">
                <a:solidFill>
                  <a:srgbClr val="FF0000"/>
                </a:solidFill>
              </a:rPr>
              <a:t>1</a:t>
            </a:r>
            <a:r>
              <a:rPr lang="en-US" altLang="zh-TW" dirty="0">
                <a:solidFill>
                  <a:srgbClr val="FF0000"/>
                </a:solidFill>
              </a:rPr>
              <a:t>) time and space </a:t>
            </a:r>
            <a:r>
              <a:rPr lang="en-US" altLang="zh-TW" dirty="0"/>
              <a:t>and that it supports searches in </a:t>
            </a:r>
            <a:r>
              <a:rPr lang="en-US" altLang="zh-TW" i="1" dirty="0"/>
              <a:t>S</a:t>
            </a:r>
            <a:r>
              <a:rPr lang="en-US" altLang="zh-TW" dirty="0"/>
              <a:t>(</a:t>
            </a:r>
            <a:r>
              <a:rPr lang="en-US" altLang="zh-TW" i="1" dirty="0"/>
              <a:t>d</a:t>
            </a:r>
            <a:r>
              <a:rPr lang="en-US" altLang="zh-TW" dirty="0"/>
              <a:t>) time</a:t>
            </a:r>
            <a:r>
              <a:rPr lang="en-US" altLang="zh-TW" dirty="0" smtClean="0"/>
              <a:t>. The total search time T(n) is 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Implementation</a:t>
            </a:r>
            <a:endParaRPr lang="zh-TW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99591" y="5004176"/>
            <a:ext cx="7776865" cy="14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矩形 3"/>
          <p:cNvSpPr/>
          <p:nvPr/>
        </p:nvSpPr>
        <p:spPr>
          <a:xfrm>
            <a:off x="1547664" y="5954960"/>
            <a:ext cx="432048" cy="432048"/>
          </a:xfrm>
          <a:prstGeom prst="rect">
            <a:avLst/>
          </a:prstGeom>
          <a:noFill/>
          <a:ln w="12700" cmpd="sng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pPr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873342570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xmlns="" Requires="a14">
          <p:sp>
            <p:nvSpPr>
              <p:cNvPr id="2" name="內容版面配置區 1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TW" dirty="0" smtClean="0"/>
                  <a:t>Next we argue that the 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space</a:t>
                </a:r>
                <a:r>
                  <a:rPr lang="en-US" altLang="zh-TW" dirty="0" smtClean="0"/>
                  <a:t> of an exponential search tree 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is linear</a:t>
                </a:r>
                <a:r>
                  <a:rPr lang="en-US" altLang="zh-TW" dirty="0" smtClean="0"/>
                  <a:t>. Let </a:t>
                </a:r>
                <a:r>
                  <a:rPr lang="en-US" altLang="zh-TW" i="1" dirty="0"/>
                  <a:t>n </a:t>
                </a:r>
                <a:r>
                  <a:rPr lang="en-US" altLang="zh-TW" dirty="0"/>
                  <a:t>be </a:t>
                </a:r>
                <a:r>
                  <a:rPr lang="en-US" altLang="zh-TW" dirty="0" smtClean="0"/>
                  <a:t>the total </a:t>
                </a:r>
                <a:r>
                  <a:rPr lang="en-US" altLang="zh-TW" dirty="0"/>
                  <a:t>number of keys, and let </a:t>
                </a:r>
                <a:r>
                  <a:rPr lang="en-US" altLang="zh-TW" i="1" dirty="0" err="1"/>
                  <a:t>n</a:t>
                </a:r>
                <a:r>
                  <a:rPr lang="en-US" altLang="zh-TW" i="1" baseline="-25000" dirty="0" err="1"/>
                  <a:t>i</a:t>
                </a:r>
                <a:r>
                  <a:rPr lang="en-US" altLang="zh-TW" i="1" dirty="0"/>
                  <a:t/>
                </a:r>
                <a:r>
                  <a:rPr lang="en-US" altLang="zh-TW" dirty="0"/>
                  <a:t>be the number of keys in the </a:t>
                </a:r>
                <a:r>
                  <a:rPr lang="en-US" altLang="zh-TW" i="1" dirty="0" err="1"/>
                  <a:t>i</a:t>
                </a:r>
                <a:r>
                  <a:rPr lang="en-US" altLang="zh-TW" dirty="0" err="1"/>
                  <a:t>th</a:t>
                </a:r>
                <a:r>
                  <a:rPr lang="en-US" altLang="zh-TW" dirty="0"/>
                  <a:t/>
                </a:r>
                <a:r>
                  <a:rPr lang="en-US" altLang="zh-TW" dirty="0" err="1"/>
                  <a:t>subtree</a:t>
                </a:r>
                <a:r>
                  <a:rPr lang="en-US" altLang="zh-TW" dirty="0"/>
                  <a:t> of the </a:t>
                </a:r>
                <a:r>
                  <a:rPr lang="en-US" altLang="zh-TW" dirty="0" smtClean="0"/>
                  <a:t>root. Then </a:t>
                </a:r>
                <a:r>
                  <a:rPr lang="en-US" altLang="zh-TW" i="1" dirty="0" err="1"/>
                  <a:t>n</a:t>
                </a:r>
                <a:r>
                  <a:rPr lang="en-US" altLang="zh-TW" i="1" baseline="-25000" dirty="0" err="1"/>
                  <a:t>i</a:t>
                </a:r>
                <a:r>
                  <a:rPr lang="en-US" altLang="zh-TW" i="1" dirty="0"/>
                  <a:t/>
                </a:r>
                <a:r>
                  <a:rPr lang="en-US" altLang="zh-TW" dirty="0"/>
                  <a:t>= </a:t>
                </a:r>
                <a:r>
                  <a:rPr lang="el-GR" altLang="zh-TW" i="1" dirty="0"/>
                  <a:t>Θ</a:t>
                </a:r>
                <a:r>
                  <a:rPr lang="en-US" altLang="zh-TW" dirty="0" smtClean="0"/>
                  <a:t>(</a:t>
                </a:r>
                <a:r>
                  <a:rPr lang="en-US" altLang="zh-TW" i="1" dirty="0" smtClean="0"/>
                  <a:t>n</a:t>
                </a:r>
                <a:r>
                  <a:rPr lang="en-US" altLang="zh-TW" baseline="30000" dirty="0" smtClean="0"/>
                  <a:t>1</a:t>
                </a:r>
                <a:r>
                  <a:rPr lang="en-US" altLang="zh-TW" i="1" baseline="30000" dirty="0"/>
                  <a:t>−</a:t>
                </a:r>
                <a:r>
                  <a:rPr lang="en-US" altLang="zh-TW" baseline="30000" dirty="0"/>
                  <a:t>1</a:t>
                </a:r>
                <a:r>
                  <a:rPr lang="en-US" altLang="zh-TW" i="1" baseline="30000" dirty="0"/>
                  <a:t>/k</a:t>
                </a:r>
                <a:r>
                  <a:rPr lang="en-US" altLang="zh-TW" dirty="0"/>
                  <a:t>) </a:t>
                </a:r>
                <a:r>
                  <a:rPr lang="en-US" altLang="zh-TW" dirty="0" smtClean="0"/>
                  <a:t>and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altLang="zh-TW" i="1" smtClean="0">
                            <a:latin typeface="Cambria Math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altLang="zh-TW" b="0" i="1" smtClean="0">
                            <a:latin typeface="Cambria Math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zh-TW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altLang="zh-TW" b="0" i="1" smtClean="0">
                        <a:latin typeface="Cambria Math"/>
                      </a:rPr>
                      <m:t>=</m:t>
                    </m:r>
                    <m:r>
                      <a:rPr lang="en-US" altLang="zh-TW" b="0" i="1" smtClean="0">
                        <a:latin typeface="Cambria Math"/>
                      </a:rPr>
                      <m:t>𝑛</m:t>
                    </m:r>
                    <m:r>
                      <a:rPr lang="en-US" altLang="zh-TW" b="0" i="1" smtClean="0">
                        <a:latin typeface="Cambria Math"/>
                      </a:rPr>
                      <m:t>.</m:t>
                    </m:r>
                  </m:oMath>
                </a14:m>
                <a:r>
                  <a:rPr lang="en-US" altLang="zh-TW" dirty="0" smtClean="0"/>
                  <a:t/>
                </a:r>
                <a:r>
                  <a:rPr lang="en-US" altLang="zh-TW" dirty="0"/>
                  <a:t>The root has degree </a:t>
                </a:r>
                <a:r>
                  <a:rPr lang="en-US" altLang="zh-TW" i="1" dirty="0"/>
                  <a:t>d </a:t>
                </a:r>
                <a:r>
                  <a:rPr lang="en-US" altLang="zh-TW" dirty="0"/>
                  <a:t>= </a:t>
                </a:r>
                <a:r>
                  <a:rPr lang="el-GR" altLang="zh-TW" i="1" dirty="0"/>
                  <a:t>Θ</a:t>
                </a:r>
                <a:r>
                  <a:rPr lang="en-US" altLang="zh-TW" dirty="0" smtClean="0"/>
                  <a:t>(</a:t>
                </a:r>
                <a:r>
                  <a:rPr lang="en-US" altLang="zh-TW" i="1" dirty="0" smtClean="0"/>
                  <a:t>n</a:t>
                </a:r>
                <a:r>
                  <a:rPr lang="en-US" altLang="zh-TW" baseline="30000" dirty="0" smtClean="0"/>
                  <a:t>1</a:t>
                </a:r>
                <a:r>
                  <a:rPr lang="en-US" altLang="zh-TW" i="1" baseline="30000" dirty="0" smtClean="0"/>
                  <a:t>/k</a:t>
                </a:r>
                <a:r>
                  <a:rPr lang="en-US" altLang="zh-TW" dirty="0"/>
                  <a:t>) and it uses </a:t>
                </a:r>
                <a:r>
                  <a:rPr lang="en-US" altLang="zh-TW" dirty="0" smtClean="0"/>
                  <a:t>space </a:t>
                </a:r>
                <a:r>
                  <a:rPr lang="en-US" altLang="zh-TW" i="1" dirty="0" smtClean="0"/>
                  <a:t>O</a:t>
                </a:r>
                <a:r>
                  <a:rPr lang="en-US" altLang="zh-TW" dirty="0" smtClean="0"/>
                  <a:t>(</a:t>
                </a:r>
                <a:r>
                  <a:rPr lang="en-US" altLang="zh-TW" i="1" dirty="0" smtClean="0"/>
                  <a:t>d</a:t>
                </a:r>
                <a:r>
                  <a:rPr lang="en-US" altLang="zh-TW" i="1" baseline="30000" dirty="0" smtClean="0"/>
                  <a:t>k</a:t>
                </a:r>
                <a:r>
                  <a:rPr lang="en-US" altLang="zh-TW" i="1" baseline="30000" dirty="0"/>
                  <a:t>−</a:t>
                </a:r>
                <a:r>
                  <a:rPr lang="en-US" altLang="zh-TW" baseline="30000" dirty="0" smtClean="0"/>
                  <a:t>1</a:t>
                </a:r>
                <a:r>
                  <a:rPr lang="en-US" altLang="zh-TW" dirty="0" smtClean="0"/>
                  <a:t>)= </a:t>
                </a:r>
                <a:r>
                  <a:rPr lang="en-US" altLang="zh-TW" i="1" dirty="0" smtClean="0"/>
                  <a:t>O</a:t>
                </a:r>
                <a:r>
                  <a:rPr lang="en-US" altLang="zh-TW" dirty="0" smtClean="0"/>
                  <a:t>(</a:t>
                </a:r>
                <a:r>
                  <a:rPr lang="en-US" altLang="zh-TW" i="1" dirty="0" smtClean="0"/>
                  <a:t>n</a:t>
                </a:r>
                <a:r>
                  <a:rPr lang="en-US" altLang="zh-TW" baseline="30000" dirty="0" smtClean="0"/>
                  <a:t>1</a:t>
                </a:r>
                <a:r>
                  <a:rPr lang="en-US" altLang="zh-TW" i="1" baseline="30000" dirty="0"/>
                  <a:t>−</a:t>
                </a:r>
                <a:r>
                  <a:rPr lang="en-US" altLang="zh-TW" baseline="30000" dirty="0"/>
                  <a:t>1</a:t>
                </a:r>
                <a:r>
                  <a:rPr lang="en-US" altLang="zh-TW" i="1" baseline="30000" dirty="0"/>
                  <a:t>/k</a:t>
                </a:r>
                <a:r>
                  <a:rPr lang="en-US" altLang="zh-TW" dirty="0" smtClean="0"/>
                  <a:t>). </a:t>
                </a:r>
                <a:r>
                  <a:rPr lang="en-US" altLang="zh-TW" dirty="0"/>
                  <a:t>Hence the total space </a:t>
                </a:r>
                <a:r>
                  <a:rPr lang="en-US" altLang="zh-TW" i="1" dirty="0"/>
                  <a:t>C</a:t>
                </a:r>
                <a:r>
                  <a:rPr lang="en-US" altLang="zh-TW" dirty="0"/>
                  <a:t>(</a:t>
                </a:r>
                <a:r>
                  <a:rPr lang="en-US" altLang="zh-TW" i="1" dirty="0"/>
                  <a:t>n</a:t>
                </a:r>
                <a:r>
                  <a:rPr lang="en-US" altLang="zh-TW" dirty="0"/>
                  <a:t>) satisfies the recurrence:</a:t>
                </a:r>
                <a:endParaRPr lang="zh-TW" altLang="en-US" dirty="0"/>
              </a:p>
            </p:txBody>
          </p:sp>
        </mc:Choice>
        <mc:Fallback>
          <p:sp>
            <p:nvSpPr>
              <p:cNvPr id="2" name="內容版面配置區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1213" r="-177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i="1" dirty="0"/>
              <a:t>S</a:t>
            </a:r>
            <a:r>
              <a:rPr lang="en-US" altLang="zh-TW" dirty="0"/>
              <a:t>-structure</a:t>
            </a:r>
            <a:endParaRPr lang="zh-TW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979712" y="4869160"/>
            <a:ext cx="4981575" cy="904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985432" y="5661248"/>
            <a:ext cx="3705225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pPr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671949716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A finger delete essentially just removes a leaf. </a:t>
            </a:r>
            <a:endParaRPr lang="en-US" altLang="zh-TW" dirty="0" smtClean="0"/>
          </a:p>
          <a:p>
            <a:r>
              <a:rPr lang="en-US" altLang="zh-TW" dirty="0" smtClean="0"/>
              <a:t>However</a:t>
            </a:r>
            <a:r>
              <a:rPr lang="en-US" altLang="zh-TW" dirty="0"/>
              <a:t>, if the leaf was the first </a:t>
            </a:r>
            <a:r>
              <a:rPr lang="en-US" altLang="zh-TW" dirty="0" smtClean="0"/>
              <a:t>child of </a:t>
            </a:r>
            <a:r>
              <a:rPr lang="en-US" altLang="zh-TW" dirty="0"/>
              <a:t>its parent, its splitter has to be transferred to the new first child.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Finger Delete</a:t>
            </a:r>
            <a:endParaRPr lang="zh-TW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79512" y="3356992"/>
            <a:ext cx="4533900" cy="2114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004048" y="3356992"/>
            <a:ext cx="3609975" cy="200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pPr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106184863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400" dirty="0"/>
              <a:t>For a finger insert of </a:t>
            </a:r>
            <a:r>
              <a:rPr lang="en-US" altLang="zh-TW" sz="2400" dirty="0" smtClean="0"/>
              <a:t>a key </a:t>
            </a:r>
            <a:r>
              <a:rPr lang="en-US" altLang="zh-TW" sz="2400" i="1" dirty="0"/>
              <a:t>y</a:t>
            </a:r>
            <a:r>
              <a:rPr lang="en-US" altLang="zh-TW" sz="2400" dirty="0"/>
              <a:t>, we get a reference (finger) to the key </a:t>
            </a:r>
            <a:r>
              <a:rPr lang="en-US" altLang="zh-TW" sz="2400" i="1" dirty="0"/>
              <a:t>x </a:t>
            </a:r>
            <a:r>
              <a:rPr lang="en-US" altLang="zh-TW" sz="2400" dirty="0"/>
              <a:t>after which </a:t>
            </a:r>
            <a:r>
              <a:rPr lang="en-US" altLang="zh-TW" sz="2400" i="1" dirty="0"/>
              <a:t>y </a:t>
            </a:r>
            <a:r>
              <a:rPr lang="en-US" altLang="zh-TW" sz="2400" dirty="0"/>
              <a:t>is to be inserted. </a:t>
            </a:r>
            <a:endParaRPr lang="en-US" altLang="zh-TW" sz="2400" dirty="0" smtClean="0"/>
          </a:p>
          <a:p>
            <a:r>
              <a:rPr lang="en-US" altLang="zh-TW" sz="2400" dirty="0" smtClean="0"/>
              <a:t>We </a:t>
            </a:r>
            <a:r>
              <a:rPr lang="en-US" altLang="zh-TW" sz="2400" dirty="0"/>
              <a:t>then </a:t>
            </a:r>
            <a:r>
              <a:rPr lang="en-US" altLang="zh-TW" sz="2400" dirty="0" smtClean="0"/>
              <a:t>also have </a:t>
            </a:r>
            <a:r>
              <a:rPr lang="en-US" altLang="zh-TW" sz="2400" dirty="0"/>
              <a:t>to consider the successor </a:t>
            </a:r>
            <a:r>
              <a:rPr lang="en-US" altLang="zh-TW" sz="2400" i="1" dirty="0"/>
              <a:t>z </a:t>
            </a:r>
            <a:r>
              <a:rPr lang="en-US" altLang="zh-TW" sz="2400" dirty="0"/>
              <a:t>of </a:t>
            </a:r>
            <a:r>
              <a:rPr lang="en-US" altLang="zh-TW" sz="2400" i="1" dirty="0"/>
              <a:t>x</a:t>
            </a:r>
            <a:r>
              <a:rPr lang="en-US" altLang="zh-TW" sz="2400" dirty="0"/>
              <a:t>. Let </a:t>
            </a:r>
            <a:r>
              <a:rPr lang="en-US" altLang="zh-TW" sz="2400" i="1" dirty="0"/>
              <a:t>s </a:t>
            </a:r>
            <a:r>
              <a:rPr lang="en-US" altLang="zh-TW" sz="2400" dirty="0"/>
              <a:t>be the splitter of </a:t>
            </a:r>
            <a:r>
              <a:rPr lang="en-US" altLang="zh-TW" sz="2400" i="1" dirty="0"/>
              <a:t>z</a:t>
            </a:r>
            <a:r>
              <a:rPr lang="en-US" altLang="zh-TW" sz="2400" dirty="0"/>
              <a:t>. If </a:t>
            </a:r>
            <a:r>
              <a:rPr lang="en-US" altLang="zh-TW" sz="2400" i="1" dirty="0"/>
              <a:t>y &lt; s</a:t>
            </a:r>
            <a:r>
              <a:rPr lang="en-US" altLang="zh-TW" sz="2400" dirty="0"/>
              <a:t>, we place </a:t>
            </a:r>
            <a:r>
              <a:rPr lang="en-US" altLang="zh-TW" sz="2400" i="1" dirty="0"/>
              <a:t>y </a:t>
            </a:r>
            <a:r>
              <a:rPr lang="en-US" altLang="zh-TW" sz="2400" dirty="0"/>
              <a:t>after </a:t>
            </a:r>
            <a:r>
              <a:rPr lang="en-US" altLang="zh-TW" sz="2400" i="1" dirty="0" smtClean="0"/>
              <a:t>x </a:t>
            </a:r>
            <a:r>
              <a:rPr lang="en-US" altLang="zh-TW" sz="2400" dirty="0" smtClean="0"/>
              <a:t>under </a:t>
            </a:r>
            <a:r>
              <a:rPr lang="en-US" altLang="zh-TW" sz="2400" dirty="0"/>
              <a:t>the parent of </a:t>
            </a:r>
            <a:r>
              <a:rPr lang="en-US" altLang="zh-TW" sz="2400" i="1" dirty="0"/>
              <a:t>x</a:t>
            </a:r>
            <a:r>
              <a:rPr lang="en-US" altLang="zh-TW" sz="2400" dirty="0"/>
              <a:t>, and let </a:t>
            </a:r>
            <a:r>
              <a:rPr lang="en-US" altLang="zh-TW" sz="2400" i="1" dirty="0"/>
              <a:t>y </a:t>
            </a:r>
            <a:r>
              <a:rPr lang="en-US" altLang="zh-TW" sz="2400" dirty="0"/>
              <a:t>be its own splitter. If </a:t>
            </a:r>
            <a:r>
              <a:rPr lang="en-US" altLang="zh-TW" sz="2400" i="1" dirty="0"/>
              <a:t>y </a:t>
            </a:r>
            <a:r>
              <a:rPr lang="en-US" altLang="zh-TW" sz="2400" i="1" dirty="0" smtClean="0"/>
              <a:t>≥ s</a:t>
            </a:r>
            <a:r>
              <a:rPr lang="en-US" altLang="zh-TW" sz="2400" dirty="0"/>
              <a:t>, we place </a:t>
            </a:r>
            <a:r>
              <a:rPr lang="en-US" altLang="zh-TW" sz="2400" i="1" dirty="0"/>
              <a:t>y </a:t>
            </a:r>
            <a:r>
              <a:rPr lang="en-US" altLang="zh-TW" sz="2400" dirty="0"/>
              <a:t>before </a:t>
            </a:r>
            <a:r>
              <a:rPr lang="en-US" altLang="zh-TW" sz="2400" i="1" dirty="0"/>
              <a:t>z </a:t>
            </a:r>
            <a:r>
              <a:rPr lang="en-US" altLang="zh-TW" sz="2400" dirty="0"/>
              <a:t>under </a:t>
            </a:r>
            <a:r>
              <a:rPr lang="en-US" altLang="zh-TW" sz="2400" dirty="0" smtClean="0"/>
              <a:t>the parent </a:t>
            </a:r>
            <a:r>
              <a:rPr lang="en-US" altLang="zh-TW" sz="2400" dirty="0"/>
              <a:t>of </a:t>
            </a:r>
            <a:r>
              <a:rPr lang="en-US" altLang="zh-TW" sz="2400" i="1" dirty="0"/>
              <a:t>z</a:t>
            </a:r>
            <a:r>
              <a:rPr lang="en-US" altLang="zh-TW" sz="2400" dirty="0"/>
              <a:t>, and give </a:t>
            </a:r>
            <a:r>
              <a:rPr lang="en-US" altLang="zh-TW" sz="2400" i="1" dirty="0"/>
              <a:t>y </a:t>
            </a:r>
            <a:r>
              <a:rPr lang="en-US" altLang="zh-TW" sz="2400" dirty="0"/>
              <a:t>splitter </a:t>
            </a:r>
            <a:r>
              <a:rPr lang="en-US" altLang="zh-TW" sz="2400" i="1" dirty="0"/>
              <a:t>s </a:t>
            </a:r>
            <a:r>
              <a:rPr lang="en-US" altLang="zh-TW" sz="2400" dirty="0"/>
              <a:t>and make </a:t>
            </a:r>
            <a:r>
              <a:rPr lang="en-US" altLang="zh-TW" sz="2400" i="1" dirty="0"/>
              <a:t>z </a:t>
            </a:r>
            <a:r>
              <a:rPr lang="en-US" altLang="zh-TW" sz="2400" dirty="0"/>
              <a:t>its own splitter.</a:t>
            </a:r>
            <a:endParaRPr lang="zh-TW" altLang="en-US" sz="2400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Finger Insert</a:t>
            </a:r>
            <a:endParaRPr lang="zh-TW" altLang="en-US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07504" y="4149080"/>
            <a:ext cx="3898719" cy="2160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139952" y="4149080"/>
            <a:ext cx="4421432" cy="20162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文字方塊 5"/>
          <p:cNvSpPr txBox="1"/>
          <p:nvPr/>
        </p:nvSpPr>
        <p:spPr>
          <a:xfrm>
            <a:off x="2000446" y="6140856"/>
            <a:ext cx="2952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 smtClean="0">
                <a:solidFill>
                  <a:srgbClr val="FF0000"/>
                </a:solidFill>
              </a:rPr>
              <a:t>x</a:t>
            </a:r>
            <a:endParaRPr lang="zh-TW" altLang="en-US" sz="1400" dirty="0">
              <a:solidFill>
                <a:srgbClr val="FF0000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2552155" y="6165304"/>
            <a:ext cx="2952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 smtClean="0">
                <a:solidFill>
                  <a:srgbClr val="FF0000"/>
                </a:solidFill>
              </a:rPr>
              <a:t>z</a:t>
            </a:r>
            <a:endParaRPr lang="zh-TW" altLang="en-US" sz="1400" dirty="0">
              <a:solidFill>
                <a:srgbClr val="FF0000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2295720" y="515719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 smtClean="0">
                <a:solidFill>
                  <a:srgbClr val="FF0000"/>
                </a:solidFill>
              </a:rPr>
              <a:t>s</a:t>
            </a:r>
            <a:endParaRPr lang="zh-TW" altLang="en-US" sz="1400" dirty="0">
              <a:solidFill>
                <a:srgbClr val="FF0000"/>
              </a:solidFill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6350668" y="6054870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 smtClean="0">
                <a:solidFill>
                  <a:srgbClr val="FF0000"/>
                </a:solidFill>
              </a:rPr>
              <a:t>y</a:t>
            </a:r>
            <a:endParaRPr lang="zh-TW" altLang="en-US" sz="1400" dirty="0">
              <a:solidFill>
                <a:srgbClr val="FF0000"/>
              </a:solidFill>
            </a:endParaRPr>
          </a:p>
        </p:txBody>
      </p:sp>
      <p:cxnSp>
        <p:nvCxnSpPr>
          <p:cNvPr id="12" name="直線接點 11"/>
          <p:cNvCxnSpPr>
            <a:endCxn id="10" idx="0"/>
          </p:cNvCxnSpPr>
          <p:nvPr/>
        </p:nvCxnSpPr>
        <p:spPr>
          <a:xfrm>
            <a:off x="2056863" y="5661248"/>
            <a:ext cx="401398" cy="82059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2142216" y="6481840"/>
            <a:ext cx="632090" cy="29273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>
                <a:solidFill>
                  <a:schemeClr val="tx1"/>
                </a:solidFill>
              </a:rPr>
              <a:t>25</a:t>
            </a:r>
            <a:endParaRPr lang="zh-TW" altLang="en-US" sz="1600" dirty="0">
              <a:solidFill>
                <a:schemeClr val="tx1"/>
              </a:solidFill>
            </a:endParaRPr>
          </a:p>
        </p:txBody>
      </p:sp>
      <p:cxnSp>
        <p:nvCxnSpPr>
          <p:cNvPr id="14" name="直線接點 13"/>
          <p:cNvCxnSpPr>
            <a:endCxn id="10" idx="1"/>
          </p:cNvCxnSpPr>
          <p:nvPr/>
        </p:nvCxnSpPr>
        <p:spPr>
          <a:xfrm>
            <a:off x="1763688" y="6174063"/>
            <a:ext cx="378528" cy="45414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線接點 18"/>
          <p:cNvCxnSpPr>
            <a:stCxn id="10" idx="3"/>
          </p:cNvCxnSpPr>
          <p:nvPr/>
        </p:nvCxnSpPr>
        <p:spPr>
          <a:xfrm flipV="1">
            <a:off x="2774306" y="6208758"/>
            <a:ext cx="141510" cy="4194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投影片編號版面配置區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pPr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039117924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dirty="0"/>
              <a:t>When a </a:t>
            </a:r>
            <a:r>
              <a:rPr lang="en-US" altLang="zh-TW" dirty="0" err="1"/>
              <a:t>subtree</a:t>
            </a:r>
            <a:r>
              <a:rPr lang="en-US" altLang="zh-TW" dirty="0"/>
              <a:t> gets too heavy, by a factor </a:t>
            </a:r>
            <a:r>
              <a:rPr lang="en-US" altLang="zh-TW" dirty="0" smtClean="0"/>
              <a:t>of 2</a:t>
            </a:r>
            <a:r>
              <a:rPr lang="en-US" altLang="zh-TW" dirty="0"/>
              <a:t>, we split it in two, and if it gets too light, by a factor of 2, we join it with its neighbor</a:t>
            </a:r>
            <a:r>
              <a:rPr lang="en-US" altLang="zh-TW" dirty="0" smtClean="0"/>
              <a:t>.</a:t>
            </a:r>
          </a:p>
          <a:p>
            <a:r>
              <a:rPr lang="en-US" altLang="zh-TW" dirty="0"/>
              <a:t>W</a:t>
            </a:r>
            <a:r>
              <a:rPr lang="en-US" altLang="zh-TW" dirty="0" smtClean="0"/>
              <a:t>e </a:t>
            </a:r>
            <a:r>
              <a:rPr lang="en-US" altLang="zh-TW" dirty="0"/>
              <a:t>can </a:t>
            </a:r>
            <a:r>
              <a:rPr lang="en-US" altLang="zh-TW" dirty="0">
                <a:solidFill>
                  <a:srgbClr val="FF0000"/>
                </a:solidFill>
              </a:rPr>
              <a:t>reconstruct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FF0000"/>
                </a:solidFill>
              </a:rPr>
              <a:t>the </a:t>
            </a:r>
            <a:r>
              <a:rPr lang="en-US" altLang="zh-TW" dirty="0" err="1">
                <a:solidFill>
                  <a:srgbClr val="FF0000"/>
                </a:solidFill>
              </a:rPr>
              <a:t>subtrees</a:t>
            </a:r>
            <a:r>
              <a:rPr lang="en-US" altLang="zh-TW" dirty="0">
                <a:solidFill>
                  <a:srgbClr val="FF0000"/>
                </a:solidFill>
              </a:rPr>
              <a:t> </a:t>
            </a:r>
            <a:r>
              <a:rPr lang="en-US" altLang="zh-TW" dirty="0"/>
              <a:t>and update the parent’s </a:t>
            </a:r>
            <a:r>
              <a:rPr lang="en-US" altLang="zh-TW" i="1" dirty="0"/>
              <a:t>S</a:t>
            </a:r>
            <a:r>
              <a:rPr lang="en-US" altLang="zh-TW" dirty="0"/>
              <a:t>-structure </a:t>
            </a:r>
            <a:r>
              <a:rPr lang="en-US" altLang="zh-TW" dirty="0" smtClean="0">
                <a:solidFill>
                  <a:srgbClr val="FF0000"/>
                </a:solidFill>
              </a:rPr>
              <a:t>in time </a:t>
            </a:r>
            <a:r>
              <a:rPr lang="en-US" altLang="zh-TW" dirty="0">
                <a:solidFill>
                  <a:srgbClr val="FF0000"/>
                </a:solidFill>
              </a:rPr>
              <a:t>linear in the weight of the </a:t>
            </a:r>
            <a:r>
              <a:rPr lang="en-US" altLang="zh-TW" dirty="0" err="1">
                <a:solidFill>
                  <a:srgbClr val="FF0000"/>
                </a:solidFill>
              </a:rPr>
              <a:t>subtrees</a:t>
            </a:r>
            <a:r>
              <a:rPr lang="en-US" altLang="zh-TW" dirty="0"/>
              <a:t>.</a:t>
            </a:r>
            <a:endParaRPr lang="en-US" altLang="zh-TW" dirty="0" smtClean="0"/>
          </a:p>
          <a:p>
            <a:r>
              <a:rPr lang="en-US" altLang="zh-TW" dirty="0"/>
              <a:t>Exceeding the weight constraints requires that a constant fraction of the keys in a </a:t>
            </a:r>
            <a:r>
              <a:rPr lang="en-US" altLang="zh-TW" dirty="0" err="1" smtClean="0"/>
              <a:t>subtree</a:t>
            </a:r>
            <a:r>
              <a:rPr lang="en-US" altLang="zh-TW" dirty="0" smtClean="0"/>
              <a:t> have </a:t>
            </a:r>
            <a:r>
              <a:rPr lang="en-US" altLang="zh-TW" dirty="0"/>
              <a:t>been inserted and deleted since the </a:t>
            </a:r>
            <a:r>
              <a:rPr lang="en-US" altLang="zh-TW" dirty="0" err="1"/>
              <a:t>subtree</a:t>
            </a:r>
            <a:r>
              <a:rPr lang="en-US" altLang="zh-TW" dirty="0"/>
              <a:t> was constructed with proper weight. </a:t>
            </a:r>
            <a:r>
              <a:rPr lang="en-US" altLang="zh-TW" dirty="0" smtClean="0"/>
              <a:t>Thus, the </a:t>
            </a:r>
            <a:r>
              <a:rPr lang="en-US" altLang="zh-TW" dirty="0">
                <a:solidFill>
                  <a:srgbClr val="FF0000"/>
                </a:solidFill>
              </a:rPr>
              <a:t>reconstruction cost</a:t>
            </a:r>
            <a:r>
              <a:rPr lang="en-US" altLang="zh-TW" dirty="0"/>
              <a:t> is an </a:t>
            </a:r>
            <a:r>
              <a:rPr lang="en-US" altLang="zh-TW" dirty="0">
                <a:solidFill>
                  <a:srgbClr val="FF0000"/>
                </a:solidFill>
              </a:rPr>
              <a:t>amortized constant per key inserted or deleted</a:t>
            </a:r>
            <a:r>
              <a:rPr lang="en-US" altLang="zh-TW" dirty="0"/>
              <a:t> from a tree.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Balance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pPr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101539332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Since the depth of an exponential search tree is </a:t>
            </a:r>
            <a:r>
              <a:rPr lang="en-US" altLang="zh-TW" i="1" dirty="0"/>
              <a:t>O</a:t>
            </a:r>
            <a:r>
              <a:rPr lang="en-US" altLang="zh-TW" dirty="0"/>
              <a:t>(log </a:t>
            </a:r>
            <a:r>
              <a:rPr lang="en-US" altLang="zh-TW" dirty="0" err="1"/>
              <a:t>log</a:t>
            </a:r>
            <a:r>
              <a:rPr lang="en-US" altLang="zh-TW" dirty="0"/>
              <a:t> </a:t>
            </a:r>
            <a:r>
              <a:rPr lang="en-US" altLang="zh-TW" i="1" dirty="0"/>
              <a:t>n</a:t>
            </a:r>
            <a:r>
              <a:rPr lang="en-US" altLang="zh-TW" dirty="0"/>
              <a:t>), the </a:t>
            </a:r>
            <a:r>
              <a:rPr lang="en-US" altLang="zh-TW" dirty="0">
                <a:solidFill>
                  <a:srgbClr val="FF0000"/>
                </a:solidFill>
              </a:rPr>
              <a:t>update cost</a:t>
            </a:r>
            <a:r>
              <a:rPr lang="en-US" altLang="zh-TW" dirty="0"/>
              <a:t>, </a:t>
            </a:r>
            <a:r>
              <a:rPr lang="en-US" altLang="zh-TW" dirty="0">
                <a:solidFill>
                  <a:srgbClr val="FF0000"/>
                </a:solidFill>
              </a:rPr>
              <a:t>excluding </a:t>
            </a:r>
            <a:r>
              <a:rPr lang="en-US" altLang="zh-TW" dirty="0" smtClean="0">
                <a:solidFill>
                  <a:srgbClr val="FF0000"/>
                </a:solidFill>
              </a:rPr>
              <a:t>the search </a:t>
            </a:r>
            <a:r>
              <a:rPr lang="en-US" altLang="zh-TW" dirty="0">
                <a:solidFill>
                  <a:srgbClr val="FF0000"/>
                </a:solidFill>
              </a:rPr>
              <a:t>cost</a:t>
            </a:r>
            <a:r>
              <a:rPr lang="en-US" altLang="zh-TW" dirty="0"/>
              <a:t> for finding out were to update, </a:t>
            </a:r>
            <a:r>
              <a:rPr lang="en-US" altLang="zh-TW" dirty="0">
                <a:solidFill>
                  <a:srgbClr val="FF0000"/>
                </a:solidFill>
              </a:rPr>
              <a:t>is</a:t>
            </a:r>
            <a:r>
              <a:rPr lang="en-US" altLang="zh-TW" dirty="0"/>
              <a:t> </a:t>
            </a:r>
            <a:r>
              <a:rPr lang="en-US" altLang="zh-TW" i="1" dirty="0">
                <a:solidFill>
                  <a:srgbClr val="FF0000"/>
                </a:solidFill>
              </a:rPr>
              <a:t>O</a:t>
            </a:r>
            <a:r>
              <a:rPr lang="en-US" altLang="zh-TW" dirty="0">
                <a:solidFill>
                  <a:srgbClr val="FF0000"/>
                </a:solidFill>
              </a:rPr>
              <a:t>(log </a:t>
            </a:r>
            <a:r>
              <a:rPr lang="en-US" altLang="zh-TW" dirty="0" err="1">
                <a:solidFill>
                  <a:srgbClr val="FF0000"/>
                </a:solidFill>
              </a:rPr>
              <a:t>log</a:t>
            </a:r>
            <a:r>
              <a:rPr lang="en-US" altLang="zh-TW" dirty="0">
                <a:solidFill>
                  <a:srgbClr val="FF0000"/>
                </a:solidFill>
              </a:rPr>
              <a:t> </a:t>
            </a:r>
            <a:r>
              <a:rPr lang="en-US" altLang="zh-TW" i="1" dirty="0">
                <a:solidFill>
                  <a:srgbClr val="FF0000"/>
                </a:solidFill>
              </a:rPr>
              <a:t>n</a:t>
            </a:r>
            <a:r>
              <a:rPr lang="en-US" altLang="zh-TW" dirty="0">
                <a:solidFill>
                  <a:srgbClr val="FF0000"/>
                </a:solidFill>
              </a:rPr>
              <a:t>) amortized</a:t>
            </a:r>
            <a:r>
              <a:rPr lang="en-US" altLang="zh-TW" dirty="0"/>
              <a:t>.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pPr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625212316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Introduction</a:t>
            </a:r>
          </a:p>
          <a:p>
            <a:r>
              <a:rPr lang="en-US" altLang="zh-TW" dirty="0" smtClean="0"/>
              <a:t>Amortized exponential </a:t>
            </a:r>
            <a:r>
              <a:rPr lang="en-US" altLang="zh-TW" dirty="0"/>
              <a:t>s</a:t>
            </a:r>
            <a:r>
              <a:rPr lang="en-US" altLang="zh-TW" dirty="0" smtClean="0"/>
              <a:t>earch </a:t>
            </a:r>
            <a:r>
              <a:rPr lang="en-US" altLang="zh-TW" dirty="0"/>
              <a:t>t</a:t>
            </a:r>
            <a:r>
              <a:rPr lang="en-US" altLang="zh-TW" dirty="0" smtClean="0"/>
              <a:t>ree</a:t>
            </a:r>
          </a:p>
          <a:p>
            <a:r>
              <a:rPr lang="en-US" altLang="zh-TW" dirty="0" smtClean="0">
                <a:solidFill>
                  <a:srgbClr val="FF0000"/>
                </a:solidFill>
              </a:rPr>
              <a:t>Worst case </a:t>
            </a:r>
            <a:r>
              <a:rPr lang="en-US" altLang="zh-TW" dirty="0">
                <a:solidFill>
                  <a:srgbClr val="FF0000"/>
                </a:solidFill>
              </a:rPr>
              <a:t>efficient</a:t>
            </a:r>
            <a:r>
              <a:rPr lang="en-US" altLang="zh-TW" dirty="0" smtClean="0">
                <a:solidFill>
                  <a:srgbClr val="FF0000"/>
                </a:solidFill>
              </a:rPr>
              <a:t> </a:t>
            </a:r>
            <a:r>
              <a:rPr lang="en-US" altLang="zh-TW" dirty="0">
                <a:solidFill>
                  <a:srgbClr val="FF0000"/>
                </a:solidFill>
              </a:rPr>
              <a:t>e</a:t>
            </a:r>
            <a:r>
              <a:rPr lang="en-US" altLang="zh-TW" dirty="0" smtClean="0">
                <a:solidFill>
                  <a:srgbClr val="FF0000"/>
                </a:solidFill>
              </a:rPr>
              <a:t>xponential search tree</a:t>
            </a:r>
            <a:endParaRPr lang="en-US" altLang="zh-TW" dirty="0">
              <a:solidFill>
                <a:srgbClr val="FF0000"/>
              </a:solidFill>
            </a:endParaRPr>
          </a:p>
          <a:p>
            <a:r>
              <a:rPr lang="en-US" altLang="zh-TW" dirty="0"/>
              <a:t>Static search structures</a:t>
            </a:r>
            <a:endParaRPr lang="en-US" altLang="zh-TW" dirty="0">
              <a:solidFill>
                <a:srgbClr val="FF0000"/>
              </a:solidFill>
            </a:endParaRPr>
          </a:p>
          <a:p>
            <a:r>
              <a:rPr lang="en-US" altLang="zh-TW" dirty="0" smtClean="0"/>
              <a:t>Finger </a:t>
            </a:r>
            <a:r>
              <a:rPr lang="en-US" altLang="zh-TW" dirty="0"/>
              <a:t>Search</a:t>
            </a:r>
          </a:p>
          <a:p>
            <a:r>
              <a:rPr lang="en-US" altLang="zh-TW" dirty="0"/>
              <a:t>String </a:t>
            </a:r>
            <a:r>
              <a:rPr lang="en-US" altLang="zh-TW" dirty="0" smtClean="0"/>
              <a:t>Search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Outline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pPr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893698892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altLang="zh-TW" dirty="0"/>
              <a:t>In order to </a:t>
            </a:r>
            <a:r>
              <a:rPr lang="en-US" altLang="zh-TW" dirty="0">
                <a:solidFill>
                  <a:srgbClr val="FF0000"/>
                </a:solidFill>
              </a:rPr>
              <a:t>get from the amortized bounds above to worst-case bounds</a:t>
            </a:r>
            <a:r>
              <a:rPr lang="en-US" altLang="zh-TW" dirty="0"/>
              <a:t>, we need a new </a:t>
            </a:r>
            <a:r>
              <a:rPr lang="en-US" altLang="zh-TW" dirty="0" smtClean="0"/>
              <a:t>type of </a:t>
            </a:r>
            <a:r>
              <a:rPr lang="en-US" altLang="zh-TW" dirty="0"/>
              <a:t>data structure. </a:t>
            </a:r>
            <a:endParaRPr lang="en-US" altLang="zh-TW" dirty="0" smtClean="0"/>
          </a:p>
          <a:p>
            <a:r>
              <a:rPr lang="en-US" altLang="zh-TW" dirty="0" smtClean="0"/>
              <a:t>Instead </a:t>
            </a:r>
            <a:r>
              <a:rPr lang="en-US" altLang="zh-TW" dirty="0"/>
              <a:t>of a data structure where we </a:t>
            </a:r>
            <a:r>
              <a:rPr lang="en-US" altLang="zh-TW" dirty="0">
                <a:solidFill>
                  <a:srgbClr val="FF0000"/>
                </a:solidFill>
              </a:rPr>
              <a:t>occasionally rebuild entire </a:t>
            </a:r>
            <a:r>
              <a:rPr lang="en-US" altLang="zh-TW" dirty="0" err="1" smtClean="0">
                <a:solidFill>
                  <a:srgbClr val="FF0000"/>
                </a:solidFill>
              </a:rPr>
              <a:t>subtrees</a:t>
            </a:r>
            <a:r>
              <a:rPr lang="en-US" altLang="zh-TW" dirty="0" smtClean="0"/>
              <a:t>, we </a:t>
            </a:r>
            <a:r>
              <a:rPr lang="en-US" altLang="zh-TW" dirty="0"/>
              <a:t>need a </a:t>
            </a:r>
            <a:r>
              <a:rPr lang="en-US" altLang="zh-TW" dirty="0" err="1"/>
              <a:t>multiway</a:t>
            </a:r>
            <a:r>
              <a:rPr lang="en-US" altLang="zh-TW" dirty="0"/>
              <a:t> tree which is something more in the style of a standard B-tree, </a:t>
            </a:r>
            <a:r>
              <a:rPr lang="en-US" altLang="zh-TW" dirty="0" smtClean="0"/>
              <a:t>where </a:t>
            </a:r>
            <a:r>
              <a:rPr lang="en-US" altLang="zh-TW" dirty="0" smtClean="0">
                <a:solidFill>
                  <a:srgbClr val="FF0000"/>
                </a:solidFill>
              </a:rPr>
              <a:t>balance </a:t>
            </a:r>
            <a:r>
              <a:rPr lang="en-US" altLang="zh-TW" dirty="0">
                <a:solidFill>
                  <a:srgbClr val="FF0000"/>
                </a:solidFill>
              </a:rPr>
              <a:t>is maintained by locally joining and splitting nodes</a:t>
            </a:r>
            <a:r>
              <a:rPr lang="en-US" altLang="zh-TW" dirty="0"/>
              <a:t>. </a:t>
            </a:r>
            <a:endParaRPr lang="en-US" altLang="zh-TW" dirty="0" smtClean="0"/>
          </a:p>
          <a:p>
            <a:r>
              <a:rPr lang="en-US" altLang="zh-TW" dirty="0" smtClean="0"/>
              <a:t>By </a:t>
            </a:r>
            <a:r>
              <a:rPr lang="en-US" altLang="zh-TW" dirty="0"/>
              <a:t>locally we mean that </a:t>
            </a:r>
            <a:r>
              <a:rPr lang="en-US" altLang="zh-TW" dirty="0" smtClean="0"/>
              <a:t>the joining </a:t>
            </a:r>
            <a:r>
              <a:rPr lang="en-US" altLang="zh-TW" dirty="0"/>
              <a:t>and splitting is done just by joining and splitting the children sequences. </a:t>
            </a:r>
            <a:endParaRPr lang="en-US" altLang="zh-TW" dirty="0" smtClean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Main Change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pPr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704513393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Suppose a </a:t>
            </a:r>
            <a:r>
              <a:rPr lang="en-US" altLang="zh-TW" dirty="0">
                <a:solidFill>
                  <a:srgbClr val="FF0000"/>
                </a:solidFill>
              </a:rPr>
              <a:t>static</a:t>
            </a:r>
            <a:r>
              <a:rPr lang="en-US" altLang="zh-TW" dirty="0"/>
              <a:t> search structure on </a:t>
            </a:r>
            <a:r>
              <a:rPr lang="en-US" altLang="zh-TW" i="1" dirty="0">
                <a:solidFill>
                  <a:srgbClr val="FF0000"/>
                </a:solidFill>
              </a:rPr>
              <a:t>d</a:t>
            </a:r>
            <a:r>
              <a:rPr lang="en-US" altLang="zh-TW" dirty="0"/>
              <a:t> integer keys can be </a:t>
            </a:r>
            <a:r>
              <a:rPr lang="en-US" altLang="zh-TW" dirty="0">
                <a:solidFill>
                  <a:srgbClr val="FF0000"/>
                </a:solidFill>
              </a:rPr>
              <a:t>constructed</a:t>
            </a:r>
            <a:r>
              <a:rPr lang="en-US" altLang="zh-TW" dirty="0"/>
              <a:t> in </a:t>
            </a:r>
            <a:r>
              <a:rPr lang="en-US" altLang="zh-TW" i="1" dirty="0">
                <a:solidFill>
                  <a:srgbClr val="FF0000"/>
                </a:solidFill>
              </a:rPr>
              <a:t>O</a:t>
            </a:r>
            <a:r>
              <a:rPr lang="en-US" altLang="zh-TW" dirty="0">
                <a:solidFill>
                  <a:srgbClr val="FF0000"/>
                </a:solidFill>
              </a:rPr>
              <a:t>(</a:t>
            </a:r>
            <a:r>
              <a:rPr lang="en-US" altLang="zh-TW" i="1" dirty="0">
                <a:solidFill>
                  <a:srgbClr val="FF0000"/>
                </a:solidFill>
              </a:rPr>
              <a:t>d</a:t>
            </a:r>
            <a:r>
              <a:rPr lang="en-US" altLang="zh-TW" i="1" baseline="30000" dirty="0">
                <a:solidFill>
                  <a:srgbClr val="FF0000"/>
                </a:solidFill>
              </a:rPr>
              <a:t>k</a:t>
            </a:r>
            <a:r>
              <a:rPr lang="en-US" altLang="zh-TW" baseline="30000" dirty="0">
                <a:solidFill>
                  <a:srgbClr val="FF0000"/>
                </a:solidFill>
              </a:rPr>
              <a:t>−1</a:t>
            </a:r>
            <a:r>
              <a:rPr lang="en-US" altLang="zh-TW" dirty="0" smtClean="0">
                <a:solidFill>
                  <a:srgbClr val="FF0000"/>
                </a:solidFill>
              </a:rPr>
              <a:t>)</a:t>
            </a:r>
            <a:r>
              <a:rPr lang="en-US" altLang="zh-TW" dirty="0" smtClean="0"/>
              <a:t>, </a:t>
            </a:r>
            <a:r>
              <a:rPr lang="en-US" altLang="zh-TW" i="1" dirty="0" smtClean="0"/>
              <a:t>k</a:t>
            </a:r>
            <a:r>
              <a:rPr lang="en-US" altLang="zh-TW" dirty="0" smtClean="0"/>
              <a:t> ≥ </a:t>
            </a:r>
            <a:r>
              <a:rPr lang="en-US" altLang="zh-TW" dirty="0"/>
              <a:t>2, </a:t>
            </a:r>
            <a:r>
              <a:rPr lang="en-US" altLang="zh-TW" dirty="0">
                <a:solidFill>
                  <a:srgbClr val="FF0000"/>
                </a:solidFill>
              </a:rPr>
              <a:t>time and space </a:t>
            </a:r>
            <a:r>
              <a:rPr lang="en-US" altLang="zh-TW" dirty="0"/>
              <a:t>so that it supports </a:t>
            </a:r>
            <a:r>
              <a:rPr lang="en-US" altLang="zh-TW" dirty="0">
                <a:solidFill>
                  <a:srgbClr val="FF0000"/>
                </a:solidFill>
              </a:rPr>
              <a:t>searches</a:t>
            </a:r>
            <a:r>
              <a:rPr lang="en-US" altLang="zh-TW" dirty="0"/>
              <a:t> in </a:t>
            </a:r>
            <a:r>
              <a:rPr lang="en-US" altLang="zh-TW" i="1" dirty="0">
                <a:solidFill>
                  <a:srgbClr val="FF0000"/>
                </a:solidFill>
              </a:rPr>
              <a:t>S</a:t>
            </a:r>
            <a:r>
              <a:rPr lang="en-US" altLang="zh-TW" dirty="0">
                <a:solidFill>
                  <a:srgbClr val="FF0000"/>
                </a:solidFill>
              </a:rPr>
              <a:t>(</a:t>
            </a:r>
            <a:r>
              <a:rPr lang="en-US" altLang="zh-TW" i="1" dirty="0">
                <a:solidFill>
                  <a:srgbClr val="FF0000"/>
                </a:solidFill>
              </a:rPr>
              <a:t>d</a:t>
            </a:r>
            <a:r>
              <a:rPr lang="en-US" altLang="zh-TW" dirty="0">
                <a:solidFill>
                  <a:srgbClr val="FF0000"/>
                </a:solidFill>
              </a:rPr>
              <a:t>)</a:t>
            </a:r>
            <a:r>
              <a:rPr lang="en-US" altLang="zh-TW" dirty="0"/>
              <a:t> time. We can </a:t>
            </a:r>
            <a:r>
              <a:rPr lang="en-US" altLang="zh-TW" dirty="0" smtClean="0"/>
              <a:t>then construct </a:t>
            </a:r>
            <a:r>
              <a:rPr lang="en-US" altLang="zh-TW" dirty="0"/>
              <a:t>a </a:t>
            </a:r>
            <a:r>
              <a:rPr lang="en-US" altLang="zh-TW" dirty="0">
                <a:solidFill>
                  <a:srgbClr val="FF0000"/>
                </a:solidFill>
              </a:rPr>
              <a:t>dynamic linear space search structure </a:t>
            </a:r>
            <a:r>
              <a:rPr lang="en-US" altLang="zh-TW" dirty="0"/>
              <a:t>that with </a:t>
            </a:r>
            <a:r>
              <a:rPr lang="en-US" altLang="zh-TW" i="1" dirty="0">
                <a:solidFill>
                  <a:srgbClr val="FF0000"/>
                </a:solidFill>
              </a:rPr>
              <a:t>n</a:t>
            </a:r>
            <a:r>
              <a:rPr lang="en-US" altLang="zh-TW" dirty="0"/>
              <a:t> integer keys </a:t>
            </a:r>
            <a:r>
              <a:rPr lang="en-US" altLang="zh-TW" dirty="0" smtClean="0"/>
              <a:t>supports </a:t>
            </a:r>
            <a:r>
              <a:rPr lang="en-US" altLang="zh-TW" dirty="0" smtClean="0">
                <a:solidFill>
                  <a:srgbClr val="FF0000"/>
                </a:solidFill>
              </a:rPr>
              <a:t>insert</a:t>
            </a:r>
            <a:r>
              <a:rPr lang="en-US" altLang="zh-TW" dirty="0">
                <a:solidFill>
                  <a:srgbClr val="FF0000"/>
                </a:solidFill>
              </a:rPr>
              <a:t>, delete, and searches in time </a:t>
            </a:r>
            <a:r>
              <a:rPr lang="en-US" altLang="zh-TW" i="1" dirty="0">
                <a:solidFill>
                  <a:srgbClr val="FF0000"/>
                </a:solidFill>
              </a:rPr>
              <a:t>T</a:t>
            </a:r>
            <a:r>
              <a:rPr lang="en-US" altLang="zh-TW" dirty="0">
                <a:solidFill>
                  <a:srgbClr val="FF0000"/>
                </a:solidFill>
              </a:rPr>
              <a:t>(</a:t>
            </a:r>
            <a:r>
              <a:rPr lang="en-US" altLang="zh-TW" i="1" dirty="0">
                <a:solidFill>
                  <a:srgbClr val="FF0000"/>
                </a:solidFill>
              </a:rPr>
              <a:t>n</a:t>
            </a:r>
            <a:r>
              <a:rPr lang="en-US" altLang="zh-TW" dirty="0">
                <a:solidFill>
                  <a:srgbClr val="FF0000"/>
                </a:solidFill>
              </a:rPr>
              <a:t>) </a:t>
            </a:r>
            <a:r>
              <a:rPr lang="en-US" altLang="zh-TW" dirty="0"/>
              <a:t>where </a:t>
            </a:r>
            <a:r>
              <a:rPr lang="en-US" altLang="zh-TW" i="1" dirty="0">
                <a:solidFill>
                  <a:srgbClr val="FF0000"/>
                </a:solidFill>
              </a:rPr>
              <a:t>T</a:t>
            </a:r>
            <a:r>
              <a:rPr lang="en-US" altLang="zh-TW" dirty="0">
                <a:solidFill>
                  <a:srgbClr val="FF0000"/>
                </a:solidFill>
              </a:rPr>
              <a:t>(</a:t>
            </a:r>
            <a:r>
              <a:rPr lang="en-US" altLang="zh-TW" i="1" dirty="0">
                <a:solidFill>
                  <a:srgbClr val="FF0000"/>
                </a:solidFill>
              </a:rPr>
              <a:t>n</a:t>
            </a:r>
            <a:r>
              <a:rPr lang="en-US" altLang="zh-TW" dirty="0">
                <a:solidFill>
                  <a:srgbClr val="FF0000"/>
                </a:solidFill>
              </a:rPr>
              <a:t>) </a:t>
            </a:r>
            <a:r>
              <a:rPr lang="en-US" altLang="zh-TW" dirty="0" smtClean="0">
                <a:solidFill>
                  <a:srgbClr val="FF0000"/>
                </a:solidFill>
              </a:rPr>
              <a:t>≤ </a:t>
            </a:r>
            <a:r>
              <a:rPr lang="en-US" altLang="zh-TW" i="1" dirty="0">
                <a:solidFill>
                  <a:srgbClr val="FF0000"/>
                </a:solidFill>
              </a:rPr>
              <a:t>T</a:t>
            </a:r>
            <a:r>
              <a:rPr lang="en-US" altLang="zh-TW" dirty="0">
                <a:solidFill>
                  <a:srgbClr val="FF0000"/>
                </a:solidFill>
              </a:rPr>
              <a:t>(</a:t>
            </a:r>
            <a:r>
              <a:rPr lang="en-US" altLang="zh-TW" i="1" dirty="0">
                <a:solidFill>
                  <a:srgbClr val="FF0000"/>
                </a:solidFill>
              </a:rPr>
              <a:t>n</a:t>
            </a:r>
            <a:r>
              <a:rPr lang="en-US" altLang="zh-TW" baseline="30000" dirty="0">
                <a:solidFill>
                  <a:srgbClr val="FF0000"/>
                </a:solidFill>
              </a:rPr>
              <a:t>1−1/</a:t>
            </a:r>
            <a:r>
              <a:rPr lang="en-US" altLang="zh-TW" i="1" baseline="30000" dirty="0">
                <a:solidFill>
                  <a:srgbClr val="FF0000"/>
                </a:solidFill>
              </a:rPr>
              <a:t>k</a:t>
            </a:r>
            <a:r>
              <a:rPr lang="en-US" altLang="zh-TW" dirty="0">
                <a:solidFill>
                  <a:srgbClr val="FF0000"/>
                </a:solidFill>
              </a:rPr>
              <a:t>)+</a:t>
            </a:r>
            <a:r>
              <a:rPr lang="en-US" altLang="zh-TW" i="1" dirty="0">
                <a:solidFill>
                  <a:srgbClr val="FF0000"/>
                </a:solidFill>
              </a:rPr>
              <a:t>O</a:t>
            </a:r>
            <a:r>
              <a:rPr lang="en-US" altLang="zh-TW" dirty="0">
                <a:solidFill>
                  <a:srgbClr val="FF0000"/>
                </a:solidFill>
              </a:rPr>
              <a:t>(</a:t>
            </a:r>
            <a:r>
              <a:rPr lang="en-US" altLang="zh-TW" i="1" dirty="0">
                <a:solidFill>
                  <a:srgbClr val="FF0000"/>
                </a:solidFill>
              </a:rPr>
              <a:t>S</a:t>
            </a:r>
            <a:r>
              <a:rPr lang="en-US" altLang="zh-TW" dirty="0">
                <a:solidFill>
                  <a:srgbClr val="FF0000"/>
                </a:solidFill>
              </a:rPr>
              <a:t>(</a:t>
            </a:r>
            <a:r>
              <a:rPr lang="en-US" altLang="zh-TW" i="1" dirty="0">
                <a:solidFill>
                  <a:srgbClr val="FF0000"/>
                </a:solidFill>
              </a:rPr>
              <a:t>n</a:t>
            </a:r>
            <a:r>
              <a:rPr lang="en-US" altLang="zh-TW" dirty="0">
                <a:solidFill>
                  <a:srgbClr val="FF0000"/>
                </a:solidFill>
              </a:rPr>
              <a:t>))</a:t>
            </a:r>
            <a:r>
              <a:rPr lang="en-US" altLang="zh-TW" dirty="0"/>
              <a:t>. </a:t>
            </a:r>
            <a:r>
              <a:rPr lang="en-US" altLang="zh-TW" dirty="0" smtClean="0"/>
              <a:t>The reduction </a:t>
            </a:r>
            <a:r>
              <a:rPr lang="en-US" altLang="zh-TW" dirty="0"/>
              <a:t>itself uses only standard AC</a:t>
            </a:r>
            <a:r>
              <a:rPr lang="en-US" altLang="zh-TW" baseline="30000" dirty="0"/>
              <a:t>0</a:t>
            </a:r>
            <a:r>
              <a:rPr lang="en-US" altLang="zh-TW" dirty="0"/>
              <a:t> operations.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0" dirty="0"/>
              <a:t>Theorem </a:t>
            </a:r>
            <a:r>
              <a:rPr lang="en-US" altLang="zh-TW" b="0" dirty="0" smtClean="0"/>
              <a:t>1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pPr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909986190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The criteria when </a:t>
            </a:r>
            <a:r>
              <a:rPr lang="en-US" altLang="zh-TW" dirty="0" err="1"/>
              <a:t>subtrees</a:t>
            </a:r>
            <a:r>
              <a:rPr lang="en-US" altLang="zh-TW" dirty="0"/>
              <a:t> are too large or too small depend on their parents. </a:t>
            </a:r>
            <a:endParaRPr lang="en-US" altLang="zh-TW" dirty="0" smtClean="0"/>
          </a:p>
          <a:p>
            <a:r>
              <a:rPr lang="en-US" altLang="zh-TW" dirty="0" smtClean="0"/>
              <a:t>If </a:t>
            </a:r>
            <a:r>
              <a:rPr lang="en-US" altLang="zh-TW" dirty="0"/>
              <a:t>two </a:t>
            </a:r>
            <a:r>
              <a:rPr lang="en-US" altLang="zh-TW" dirty="0" err="1"/>
              <a:t>subtrees</a:t>
            </a:r>
            <a:r>
              <a:rPr lang="en-US" altLang="zh-TW" dirty="0"/>
              <a:t> </a:t>
            </a:r>
            <a:r>
              <a:rPr lang="en-US" altLang="zh-TW" dirty="0" smtClean="0"/>
              <a:t>are joined</a:t>
            </a:r>
            <a:r>
              <a:rPr lang="en-US" altLang="zh-TW" dirty="0"/>
              <a:t>, the resulting </a:t>
            </a:r>
            <a:r>
              <a:rPr lang="en-US" altLang="zh-TW" dirty="0" err="1"/>
              <a:t>subtree</a:t>
            </a:r>
            <a:r>
              <a:rPr lang="en-US" altLang="zh-TW" dirty="0"/>
              <a:t> is larger, and according to our recursive definition, this </a:t>
            </a:r>
            <a:r>
              <a:rPr lang="en-US" altLang="zh-TW" dirty="0" smtClean="0"/>
              <a:t>may imply </a:t>
            </a:r>
            <a:r>
              <a:rPr lang="en-US" altLang="zh-TW" dirty="0"/>
              <a:t>that all of the children simultaneously become too small, so they have to be </a:t>
            </a:r>
            <a:r>
              <a:rPr lang="en-US" altLang="zh-TW" dirty="0" smtClean="0"/>
              <a:t>joined, etc</a:t>
            </a:r>
            <a:r>
              <a:rPr lang="en-US" altLang="zh-TW" dirty="0"/>
              <a:t>.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/>
              <a:t>Problem with the Previous Definition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pPr/>
              <a:t>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4153561493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xmlns="" Requires="a14">
          <p:sp>
            <p:nvSpPr>
              <p:cNvPr id="2" name="內容版面配置區 1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TW" dirty="0" smtClean="0"/>
                  <a:t>In an exponential search tree all leaves are on the same depth, and we </a:t>
                </a:r>
                <a:r>
                  <a:rPr lang="en-US" altLang="zh-TW" dirty="0" smtClean="0"/>
                  <a:t>define the 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height or level of a node </a:t>
                </a:r>
                <a:r>
                  <a:rPr lang="en-US" altLang="zh-TW" dirty="0"/>
                  <a:t>to be the unique distance from the node to the leaves </a:t>
                </a:r>
                <a:r>
                  <a:rPr lang="en-US" altLang="zh-TW" dirty="0" smtClean="0"/>
                  <a:t>descending from </a:t>
                </a:r>
                <a:r>
                  <a:rPr lang="en-US" altLang="zh-TW" dirty="0"/>
                  <a:t>it. For a non-root node </a:t>
                </a:r>
                <a:r>
                  <a:rPr lang="en-US" altLang="zh-TW" i="1" dirty="0">
                    <a:solidFill>
                      <a:srgbClr val="FF0000"/>
                    </a:solidFill>
                  </a:rPr>
                  <a:t>v</a:t>
                </a:r>
                <a:r>
                  <a:rPr lang="en-US" altLang="zh-TW" dirty="0"/>
                  <a:t> at height </a:t>
                </a:r>
                <a:r>
                  <a:rPr lang="en-US" altLang="zh-TW" i="1" dirty="0" err="1"/>
                  <a:t>i</a:t>
                </a:r>
                <a:r>
                  <a:rPr lang="en-US" altLang="zh-TW" dirty="0"/>
                  <a:t>&gt; 0, the 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weight</a:t>
                </a:r>
                <a:r>
                  <a:rPr lang="en-US" altLang="zh-TW" dirty="0"/>
                  <a:t> (number of descending leaves) </a:t>
                </a:r>
                <a:r>
                  <a:rPr lang="en-US" altLang="zh-TW" dirty="0" smtClean="0"/>
                  <a:t>is |v</a:t>
                </a:r>
                <a:r>
                  <a:rPr lang="en-US" altLang="zh-TW" dirty="0"/>
                  <a:t>| = </a:t>
                </a:r>
                <a:r>
                  <a:rPr lang="el-GR" altLang="zh-TW" i="1" dirty="0" smtClean="0"/>
                  <a:t>Θ</a:t>
                </a:r>
                <a:r>
                  <a:rPr lang="en-US" altLang="zh-TW" dirty="0" smtClean="0"/>
                  <a:t>(</a:t>
                </a:r>
                <a:r>
                  <a:rPr lang="en-US" altLang="zh-TW" i="1" dirty="0" err="1" smtClean="0"/>
                  <a:t>n</a:t>
                </a:r>
                <a:r>
                  <a:rPr lang="en-US" altLang="zh-TW" i="1" baseline="-25000" dirty="0" err="1" smtClean="0"/>
                  <a:t>i</a:t>
                </a:r>
                <a:r>
                  <a:rPr lang="en-US" altLang="zh-TW" dirty="0"/>
                  <a:t>) where </a:t>
                </a:r>
                <a:r>
                  <a:rPr lang="en-US" altLang="zh-TW" i="1" dirty="0" err="1"/>
                  <a:t>n</a:t>
                </a:r>
                <a:r>
                  <a:rPr lang="en-US" altLang="zh-TW" i="1" baseline="-25000" dirty="0" err="1"/>
                  <a:t>i</a:t>
                </a:r>
                <a:r>
                  <a:rPr lang="en-US" altLang="zh-TW" dirty="0"/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altLang="zh-TW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altLang="zh-TW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α</m:t>
                        </m:r>
                      </m:e>
                      <m:sup>
                        <m:sSup>
                          <m:sSupPr>
                            <m:ctrlPr>
                              <a:rPr lang="el-GR" altLang="zh-TW" i="1" dirty="0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altLang="zh-TW" b="0" i="1" dirty="0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(</m:t>
                            </m:r>
                            <m:f>
                              <m:fPr>
                                <m:ctrlPr>
                                  <a:rPr lang="en-US" altLang="zh-TW" b="0" i="1" dirty="0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</m:ctrlPr>
                              </m:fPr>
                              <m:num>
                                <m:r>
                                  <a:rPr lang="en-US" altLang="zh-TW" b="0" i="1" dirty="0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𝑘</m:t>
                                </m:r>
                              </m:num>
                              <m:den>
                                <m:r>
                                  <a:rPr lang="en-US" altLang="zh-TW" b="0" i="1" dirty="0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𝑘</m:t>
                                </m:r>
                                <m:r>
                                  <a:rPr lang="en-US" altLang="zh-TW" b="0" i="1" dirty="0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−1</m:t>
                                </m:r>
                              </m:den>
                            </m:f>
                            <m:r>
                              <a:rPr lang="en-US" altLang="zh-TW" b="0" i="1" dirty="0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TW" b="0" i="1" dirty="0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𝑖</m:t>
                            </m:r>
                          </m:sup>
                        </m:sSup>
                      </m:sup>
                    </m:sSup>
                    <m:r>
                      <a:rPr lang="en-US" altLang="zh-TW" i="1" dirty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altLang="zh-TW" dirty="0"/>
                  <a:t>and </a:t>
                </a:r>
                <a:r>
                  <a:rPr lang="el-GR" altLang="zh-TW" dirty="0"/>
                  <a:t>α</a:t>
                </a:r>
                <a:r>
                  <a:rPr lang="en-US" altLang="zh-TW" dirty="0" smtClean="0"/>
                  <a:t/>
                </a:r>
                <a:r>
                  <a:rPr lang="en-US" altLang="zh-TW" dirty="0"/>
                  <a:t>= </a:t>
                </a:r>
                <a:r>
                  <a:rPr lang="el-GR" altLang="zh-TW" i="1" dirty="0"/>
                  <a:t>Θ</a:t>
                </a:r>
                <a:r>
                  <a:rPr lang="en-US" altLang="zh-TW" dirty="0" smtClean="0"/>
                  <a:t>(1</a:t>
                </a:r>
                <a:r>
                  <a:rPr lang="en-US" altLang="zh-TW" dirty="0"/>
                  <a:t>). If the root has height </a:t>
                </a:r>
                <a:r>
                  <a:rPr lang="en-US" altLang="zh-TW" i="1" dirty="0"/>
                  <a:t>h</a:t>
                </a:r>
                <a:r>
                  <a:rPr lang="en-US" altLang="zh-TW" dirty="0"/>
                  <a:t>, its weight </a:t>
                </a:r>
                <a:r>
                  <a:rPr lang="en-US" altLang="zh-TW" dirty="0" smtClean="0"/>
                  <a:t>is </a:t>
                </a:r>
                <a:r>
                  <a:rPr lang="en-US" altLang="zh-TW" i="1" dirty="0" smtClean="0"/>
                  <a:t>O</a:t>
                </a:r>
                <a:r>
                  <a:rPr lang="en-US" altLang="zh-TW" dirty="0" smtClean="0"/>
                  <a:t>(</a:t>
                </a:r>
                <a:r>
                  <a:rPr lang="en-US" altLang="zh-TW" i="1" dirty="0" err="1" smtClean="0"/>
                  <a:t>n</a:t>
                </a:r>
                <a:r>
                  <a:rPr lang="en-US" altLang="zh-TW" i="1" baseline="-25000" dirty="0" err="1" smtClean="0"/>
                  <a:t>h</a:t>
                </a:r>
                <a:r>
                  <a:rPr lang="en-US" altLang="zh-TW" dirty="0" smtClean="0"/>
                  <a:t>).</a:t>
                </a:r>
              </a:p>
              <a:p>
                <a:r>
                  <a:rPr lang="en-US" altLang="zh-TW" dirty="0" smtClean="0"/>
                  <a:t>If </a:t>
                </a:r>
                <a:r>
                  <a:rPr lang="en-US" altLang="zh-TW" i="1" dirty="0"/>
                  <a:t>v </a:t>
                </a:r>
                <a:r>
                  <a:rPr lang="en-US" altLang="zh-TW" dirty="0"/>
                  <a:t>is a non-root node, it has </a:t>
                </a:r>
                <a:r>
                  <a:rPr lang="el-GR" altLang="zh-TW" i="1" dirty="0"/>
                  <a:t>Θ</a:t>
                </a:r>
                <a:r>
                  <a:rPr lang="en-US" altLang="zh-TW" dirty="0" smtClean="0"/>
                  <a:t>(|</a:t>
                </a:r>
                <a:r>
                  <a:rPr lang="en-US" altLang="zh-TW" i="1" dirty="0"/>
                  <a:t>v</a:t>
                </a:r>
                <a:r>
                  <a:rPr lang="en-US" altLang="zh-TW" dirty="0"/>
                  <a:t>|</a:t>
                </a:r>
                <a:r>
                  <a:rPr lang="en-US" altLang="zh-TW" baseline="30000" dirty="0"/>
                  <a:t>1</a:t>
                </a:r>
                <a:r>
                  <a:rPr lang="en-US" altLang="zh-TW" i="1" baseline="30000" dirty="0"/>
                  <a:t>/k</a:t>
                </a:r>
                <a:r>
                  <a:rPr lang="en-US" altLang="zh-TW" dirty="0"/>
                  <a:t>) children, each of </a:t>
                </a:r>
                <a:r>
                  <a:rPr lang="en-US" altLang="zh-TW" dirty="0" smtClean="0"/>
                  <a:t>weight </a:t>
                </a:r>
                <a:r>
                  <a:rPr lang="el-GR" altLang="zh-TW" i="1" dirty="0"/>
                  <a:t>Θ</a:t>
                </a:r>
                <a:r>
                  <a:rPr lang="en-US" altLang="zh-TW" dirty="0" smtClean="0"/>
                  <a:t>(|</a:t>
                </a:r>
                <a:r>
                  <a:rPr lang="en-US" altLang="zh-TW" i="1" dirty="0"/>
                  <a:t>v</a:t>
                </a:r>
                <a:r>
                  <a:rPr lang="en-US" altLang="zh-TW" dirty="0"/>
                  <a:t>|</a:t>
                </a:r>
                <a:r>
                  <a:rPr lang="en-US" altLang="zh-TW" baseline="30000" dirty="0"/>
                  <a:t>1</a:t>
                </a:r>
                <a:r>
                  <a:rPr lang="en-US" altLang="zh-TW" i="1" baseline="30000" dirty="0"/>
                  <a:t>−</a:t>
                </a:r>
                <a:r>
                  <a:rPr lang="en-US" altLang="zh-TW" baseline="30000" dirty="0"/>
                  <a:t>1</a:t>
                </a:r>
                <a:r>
                  <a:rPr lang="en-US" altLang="zh-TW" i="1" baseline="30000" dirty="0"/>
                  <a:t>/k</a:t>
                </a:r>
                <a:r>
                  <a:rPr lang="en-US" altLang="zh-TW" dirty="0"/>
                  <a:t>).</a:t>
                </a:r>
                <a:endParaRPr lang="zh-TW" altLang="en-US" dirty="0"/>
              </a:p>
            </p:txBody>
          </p:sp>
        </mc:Choice>
        <mc:Fallback>
          <p:sp>
            <p:nvSpPr>
              <p:cNvPr id="2" name="內容版面配置區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1213" r="-1926" b="-14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New Definition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pPr/>
              <a:t>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513611961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xmlns="" Requires="a14">
          <p:sp>
            <p:nvSpPr>
              <p:cNvPr id="2" name="內容版面配置區 1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i="1" dirty="0"/>
                  <a:t>n</a:t>
                </a:r>
                <a:r>
                  <a:rPr lang="en-US" altLang="zh-TW" i="1" baseline="-25000" dirty="0" err="1"/>
                  <a:t>i</a:t>
                </a:r>
                <a:r>
                  <a:rPr lang="en-US" altLang="zh-TW" dirty="0"/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altLang="zh-TW" i="1" dirty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altLang="zh-TW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α</m:t>
                        </m:r>
                      </m:e>
                      <m:sup>
                        <m:sSup>
                          <m:sSupPr>
                            <m:ctrlPr>
                              <a:rPr lang="el-GR" altLang="zh-TW" i="1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altLang="zh-TW" i="1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(</m:t>
                            </m:r>
                            <m:f>
                              <m:fPr>
                                <m:ctrlPr>
                                  <a:rPr lang="en-US" altLang="zh-TW" i="1" dirty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</m:ctrlPr>
                              </m:fPr>
                              <m:num>
                                <m:r>
                                  <a:rPr lang="en-US" altLang="zh-TW" i="1" dirty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𝑘</m:t>
                                </m:r>
                              </m:num>
                              <m:den>
                                <m:r>
                                  <a:rPr lang="en-US" altLang="zh-TW" i="1" dirty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𝑘</m:t>
                                </m:r>
                                <m:r>
                                  <a:rPr lang="en-US" altLang="zh-TW" i="1" dirty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−1</m:t>
                                </m:r>
                              </m:den>
                            </m:f>
                            <m:r>
                              <a:rPr lang="en-US" altLang="zh-TW" i="1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TW" i="1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𝑖</m:t>
                            </m:r>
                          </m:sup>
                        </m:sSup>
                      </m:sup>
                    </m:sSup>
                  </m:oMath>
                </a14:m>
                <a:endParaRPr lang="en-US" altLang="zh-TW" dirty="0" smtClean="0"/>
              </a:p>
              <a:p>
                <a:r>
                  <a:rPr lang="el-GR" altLang="zh-TW" dirty="0" smtClean="0"/>
                  <a:t>α</a:t>
                </a:r>
                <a:r>
                  <a:rPr lang="en-US" altLang="zh-TW" dirty="0" smtClean="0"/>
                  <a:t>=10, </a:t>
                </a:r>
                <a:r>
                  <a:rPr lang="en-US" altLang="zh-TW" i="1" dirty="0" smtClean="0"/>
                  <a:t>k</a:t>
                </a:r>
                <a:r>
                  <a:rPr lang="en-US" altLang="zh-TW" dirty="0" smtClean="0"/>
                  <a:t>=2, </a:t>
                </a:r>
                <a:r>
                  <a:rPr lang="en-US" altLang="zh-TW" i="1" dirty="0" smtClean="0"/>
                  <a:t>n</a:t>
                </a:r>
                <a:r>
                  <a:rPr lang="en-US" altLang="zh-TW" baseline="-25000" dirty="0" smtClean="0"/>
                  <a:t>1</a:t>
                </a:r>
                <a:r>
                  <a:rPr lang="en-US" altLang="zh-TW" dirty="0" smtClean="0"/>
                  <a:t>=10</a:t>
                </a:r>
                <a:r>
                  <a:rPr lang="en-US" altLang="zh-TW" baseline="30000" dirty="0" smtClean="0"/>
                  <a:t>2</a:t>
                </a:r>
                <a:r>
                  <a:rPr lang="en-US" altLang="zh-TW" dirty="0" smtClean="0"/>
                  <a:t>, </a:t>
                </a:r>
                <a:r>
                  <a:rPr lang="en-US" altLang="zh-TW" i="1" dirty="0" smtClean="0"/>
                  <a:t>n</a:t>
                </a:r>
                <a:r>
                  <a:rPr lang="en-US" altLang="zh-TW" baseline="-25000" dirty="0" smtClean="0"/>
                  <a:t>2</a:t>
                </a:r>
                <a:r>
                  <a:rPr lang="en-US" altLang="zh-TW" dirty="0" smtClean="0"/>
                  <a:t>=10</a:t>
                </a:r>
                <a:r>
                  <a:rPr lang="en-US" altLang="zh-TW" baseline="30000" dirty="0" smtClean="0"/>
                  <a:t>4</a:t>
                </a:r>
                <a:r>
                  <a:rPr lang="en-US" altLang="zh-TW" dirty="0" smtClean="0"/>
                  <a:t>, </a:t>
                </a:r>
                <a:r>
                  <a:rPr lang="en-US" altLang="zh-TW" i="1" dirty="0" smtClean="0"/>
                  <a:t>n</a:t>
                </a:r>
                <a:r>
                  <a:rPr lang="en-US" altLang="zh-TW" baseline="-25000" dirty="0" smtClean="0"/>
                  <a:t>3</a:t>
                </a:r>
                <a:r>
                  <a:rPr lang="en-US" altLang="zh-TW" dirty="0" smtClean="0"/>
                  <a:t>=10</a:t>
                </a:r>
                <a:r>
                  <a:rPr lang="en-US" altLang="zh-TW" baseline="30000" dirty="0" smtClean="0"/>
                  <a:t>8</a:t>
                </a:r>
                <a:r>
                  <a:rPr lang="en-US" altLang="zh-TW" dirty="0" smtClean="0"/>
                  <a:t>, so </a:t>
                </a:r>
                <a:r>
                  <a:rPr lang="en-US" altLang="zh-TW" i="1" dirty="0" smtClean="0"/>
                  <a:t>n</a:t>
                </a:r>
                <a:r>
                  <a:rPr lang="en-US" altLang="zh-TW" baseline="-25000" dirty="0" smtClean="0"/>
                  <a:t>3</a:t>
                </a:r>
                <a:r>
                  <a:rPr lang="en-US" altLang="zh-TW" dirty="0" smtClean="0"/>
                  <a:t> has 10</a:t>
                </a:r>
                <a:r>
                  <a:rPr lang="en-US" altLang="zh-TW" baseline="30000" dirty="0" smtClean="0"/>
                  <a:t>8</a:t>
                </a:r>
                <a:r>
                  <a:rPr lang="en-US" altLang="zh-TW" dirty="0" smtClean="0"/>
                  <a:t>/10</a:t>
                </a:r>
                <a:r>
                  <a:rPr lang="en-US" altLang="zh-TW" baseline="30000" dirty="0" smtClean="0"/>
                  <a:t>4</a:t>
                </a:r>
                <a:r>
                  <a:rPr lang="en-US" altLang="zh-TW" dirty="0" smtClean="0"/>
                  <a:t>=10</a:t>
                </a:r>
                <a:r>
                  <a:rPr lang="en-US" altLang="zh-TW" baseline="30000" dirty="0" smtClean="0"/>
                  <a:t>4</a:t>
                </a:r>
                <a:r>
                  <a:rPr lang="en-US" altLang="zh-TW" dirty="0" smtClean="0"/>
                  <a:t>=(10</a:t>
                </a:r>
                <a:r>
                  <a:rPr lang="en-US" altLang="zh-TW" baseline="30000" dirty="0" smtClean="0"/>
                  <a:t>8</a:t>
                </a:r>
                <a:r>
                  <a:rPr lang="en-US" altLang="zh-TW" dirty="0" smtClean="0"/>
                  <a:t>)</a:t>
                </a:r>
                <a:r>
                  <a:rPr lang="en-US" altLang="zh-TW" baseline="30000" dirty="0" smtClean="0"/>
                  <a:t>1/2</a:t>
                </a:r>
                <a:r>
                  <a:rPr lang="en-US" altLang="zh-TW" dirty="0" smtClean="0"/>
                  <a:t> children, each with weight </a:t>
                </a:r>
                <a:r>
                  <a:rPr lang="en-US" altLang="zh-TW" dirty="0"/>
                  <a:t>(</a:t>
                </a:r>
                <a:r>
                  <a:rPr lang="en-US" altLang="zh-TW" dirty="0" smtClean="0"/>
                  <a:t>10</a:t>
                </a:r>
                <a:r>
                  <a:rPr lang="en-US" altLang="zh-TW" baseline="30000" dirty="0" smtClean="0"/>
                  <a:t>8</a:t>
                </a:r>
                <a:r>
                  <a:rPr lang="en-US" altLang="zh-TW" dirty="0" smtClean="0"/>
                  <a:t>)</a:t>
                </a:r>
                <a:r>
                  <a:rPr lang="en-US" altLang="zh-TW" baseline="30000" dirty="0" smtClean="0"/>
                  <a:t>1-1/2</a:t>
                </a:r>
                <a:r>
                  <a:rPr lang="en-US" altLang="zh-TW" dirty="0" smtClean="0"/>
                  <a:t>=10</a:t>
                </a:r>
                <a:r>
                  <a:rPr lang="en-US" altLang="zh-TW" baseline="30000" dirty="0" smtClean="0"/>
                  <a:t>4</a:t>
                </a:r>
              </a:p>
              <a:p>
                <a:r>
                  <a:rPr lang="el-GR" altLang="zh-TW" dirty="0"/>
                  <a:t>α</a:t>
                </a:r>
                <a:r>
                  <a:rPr lang="en-US" altLang="zh-TW" dirty="0" smtClean="0"/>
                  <a:t>=60, </a:t>
                </a:r>
                <a:r>
                  <a:rPr lang="en-US" altLang="zh-TW" i="1" dirty="0" smtClean="0"/>
                  <a:t>k</a:t>
                </a:r>
                <a:r>
                  <a:rPr lang="en-US" altLang="zh-TW" dirty="0" smtClean="0"/>
                  <a:t>=3, </a:t>
                </a:r>
                <a:r>
                  <a:rPr lang="en-US" altLang="zh-TW" i="1" dirty="0" smtClean="0"/>
                  <a:t>n</a:t>
                </a:r>
                <a:r>
                  <a:rPr lang="en-US" altLang="zh-TW" baseline="-25000" dirty="0" smtClean="0"/>
                  <a:t>1</a:t>
                </a:r>
                <a:r>
                  <a:rPr lang="en-US" altLang="zh-TW" dirty="0" smtClean="0"/>
                  <a:t>=60</a:t>
                </a:r>
                <a:r>
                  <a:rPr lang="en-US" altLang="zh-TW" baseline="30000" dirty="0" smtClean="0"/>
                  <a:t>1.5</a:t>
                </a:r>
                <a:r>
                  <a:rPr lang="en-US" altLang="zh-TW" dirty="0" smtClean="0"/>
                  <a:t>, </a:t>
                </a:r>
                <a:r>
                  <a:rPr lang="en-US" altLang="zh-TW" i="1" dirty="0" smtClean="0"/>
                  <a:t>n</a:t>
                </a:r>
                <a:r>
                  <a:rPr lang="en-US" altLang="zh-TW" baseline="-25000" dirty="0" smtClean="0"/>
                  <a:t>2</a:t>
                </a:r>
                <a:r>
                  <a:rPr lang="en-US" altLang="zh-TW" dirty="0" smtClean="0"/>
                  <a:t>=60</a:t>
                </a:r>
                <a:r>
                  <a:rPr lang="en-US" altLang="zh-TW" baseline="30000" dirty="0" smtClean="0"/>
                  <a:t>2.25</a:t>
                </a:r>
                <a:r>
                  <a:rPr lang="en-US" altLang="zh-TW" dirty="0" smtClean="0"/>
                  <a:t>, </a:t>
                </a:r>
                <a:r>
                  <a:rPr lang="en-US" altLang="zh-TW" i="1" dirty="0" smtClean="0"/>
                  <a:t>n</a:t>
                </a:r>
                <a:r>
                  <a:rPr lang="en-US" altLang="zh-TW" baseline="-25000" dirty="0" smtClean="0"/>
                  <a:t>3</a:t>
                </a:r>
                <a:r>
                  <a:rPr lang="en-US" altLang="zh-TW" dirty="0" smtClean="0"/>
                  <a:t>=60</a:t>
                </a:r>
                <a:r>
                  <a:rPr lang="en-US" altLang="zh-TW" baseline="30000" dirty="0" smtClean="0"/>
                  <a:t>3.375</a:t>
                </a:r>
                <a:r>
                  <a:rPr lang="en-US" altLang="zh-TW" dirty="0" smtClean="0"/>
                  <a:t>, </a:t>
                </a:r>
                <a:r>
                  <a:rPr lang="en-US" altLang="zh-TW" dirty="0"/>
                  <a:t>so </a:t>
                </a:r>
                <a:r>
                  <a:rPr lang="en-US" altLang="zh-TW" i="1" dirty="0"/>
                  <a:t>n</a:t>
                </a:r>
                <a:r>
                  <a:rPr lang="en-US" altLang="zh-TW" baseline="-25000" dirty="0"/>
                  <a:t>3</a:t>
                </a:r>
                <a:r>
                  <a:rPr lang="en-US" altLang="zh-TW" dirty="0"/>
                  <a:t> has </a:t>
                </a:r>
                <a:r>
                  <a:rPr lang="en-US" altLang="zh-TW" dirty="0" smtClean="0"/>
                  <a:t>60</a:t>
                </a:r>
                <a:r>
                  <a:rPr lang="en-US" altLang="zh-TW" baseline="30000" dirty="0" smtClean="0"/>
                  <a:t>3.375</a:t>
                </a:r>
                <a:r>
                  <a:rPr lang="en-US" altLang="zh-TW" dirty="0" smtClean="0"/>
                  <a:t>/60</a:t>
                </a:r>
                <a:r>
                  <a:rPr lang="en-US" altLang="zh-TW" baseline="30000" dirty="0" smtClean="0"/>
                  <a:t>2.25</a:t>
                </a:r>
                <a:r>
                  <a:rPr lang="en-US" altLang="zh-TW" dirty="0" smtClean="0"/>
                  <a:t>=60</a:t>
                </a:r>
                <a:r>
                  <a:rPr lang="en-US" altLang="zh-TW" baseline="30000" dirty="0" smtClean="0"/>
                  <a:t>1.125</a:t>
                </a:r>
                <a:r>
                  <a:rPr lang="en-US" altLang="zh-TW" dirty="0" smtClean="0"/>
                  <a:t>=(60</a:t>
                </a:r>
                <a:r>
                  <a:rPr lang="en-US" altLang="zh-TW" baseline="30000" dirty="0" smtClean="0"/>
                  <a:t>3.375</a:t>
                </a:r>
                <a:r>
                  <a:rPr lang="en-US" altLang="zh-TW" dirty="0" smtClean="0"/>
                  <a:t>)</a:t>
                </a:r>
                <a:r>
                  <a:rPr lang="en-US" altLang="zh-TW" baseline="30000" dirty="0" smtClean="0"/>
                  <a:t>1/3</a:t>
                </a:r>
                <a:r>
                  <a:rPr lang="en-US" altLang="zh-TW" dirty="0" smtClean="0"/>
                  <a:t/>
                </a:r>
                <a:r>
                  <a:rPr lang="en-US" altLang="zh-TW" dirty="0"/>
                  <a:t>children, each with weight </a:t>
                </a:r>
                <a:r>
                  <a:rPr lang="en-US" altLang="zh-TW" dirty="0" smtClean="0"/>
                  <a:t>(60</a:t>
                </a:r>
                <a:r>
                  <a:rPr lang="en-US" altLang="zh-TW" baseline="30000" dirty="0" smtClean="0"/>
                  <a:t>3.375</a:t>
                </a:r>
                <a:r>
                  <a:rPr lang="en-US" altLang="zh-TW" dirty="0" smtClean="0"/>
                  <a:t>)</a:t>
                </a:r>
                <a:r>
                  <a:rPr lang="en-US" altLang="zh-TW" baseline="30000" dirty="0" smtClean="0"/>
                  <a:t>1-1/3</a:t>
                </a:r>
                <a:r>
                  <a:rPr lang="en-US" altLang="zh-TW" dirty="0" smtClean="0"/>
                  <a:t>=</a:t>
                </a:r>
                <a:r>
                  <a:rPr lang="en-US" altLang="zh-TW" dirty="0"/>
                  <a:t>60</a:t>
                </a:r>
                <a:r>
                  <a:rPr lang="en-US" altLang="zh-TW" baseline="30000" dirty="0"/>
                  <a:t>2.25</a:t>
                </a:r>
                <a:endParaRPr lang="zh-TW" altLang="en-US" dirty="0"/>
              </a:p>
            </p:txBody>
          </p:sp>
        </mc:Choice>
        <mc:Fallback>
          <p:sp>
            <p:nvSpPr>
              <p:cNvPr id="2" name="內容版面配置區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r="-185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pPr/>
              <a:t>29</a:t>
            </a:fld>
            <a:endParaRPr lang="zh-TW" altLang="en-US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Example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1399526046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Consider a process </a:t>
            </a:r>
            <a:r>
              <a:rPr lang="en-US" altLang="zh-TW" i="1" dirty="0"/>
              <a:t>A </a:t>
            </a:r>
            <a:r>
              <a:rPr lang="en-US" altLang="zh-TW" dirty="0"/>
              <a:t>that traverses a list. When </a:t>
            </a:r>
            <a:r>
              <a:rPr lang="en-US" altLang="zh-TW" i="1" dirty="0"/>
              <a:t>A </a:t>
            </a:r>
            <a:r>
              <a:rPr lang="en-US" altLang="zh-TW" dirty="0"/>
              <a:t>begins, the length of the list is </a:t>
            </a:r>
            <a:r>
              <a:rPr lang="en-US" altLang="zh-TW" i="1" dirty="0"/>
              <a:t>m </a:t>
            </a:r>
            <a:r>
              <a:rPr lang="en-US" altLang="zh-TW" dirty="0"/>
              <a:t>and </a:t>
            </a:r>
            <a:r>
              <a:rPr lang="en-US" altLang="zh-TW" i="1" dirty="0" smtClean="0"/>
              <a:t>A </a:t>
            </a:r>
            <a:r>
              <a:rPr lang="en-US" altLang="zh-TW" dirty="0" smtClean="0"/>
              <a:t>is </a:t>
            </a:r>
            <a:r>
              <a:rPr lang="en-US" altLang="zh-TW" dirty="0"/>
              <a:t>given </a:t>
            </a:r>
            <a:r>
              <a:rPr lang="en-US" altLang="zh-TW" i="1" dirty="0"/>
              <a:t>m </a:t>
            </a:r>
            <a:r>
              <a:rPr lang="en-US" altLang="zh-TW" dirty="0"/>
              <a:t>steps to traverse the list, one element per step</a:t>
            </a:r>
            <a:r>
              <a:rPr lang="en-US" altLang="zh-TW" dirty="0" smtClean="0"/>
              <a:t>.</a:t>
            </a:r>
          </a:p>
          <a:p>
            <a:r>
              <a:rPr lang="en-US" altLang="zh-TW" dirty="0"/>
              <a:t>Now, assume that between </a:t>
            </a:r>
            <a:r>
              <a:rPr lang="en-US" altLang="zh-TW" dirty="0" smtClean="0"/>
              <a:t>two </a:t>
            </a:r>
            <a:r>
              <a:rPr lang="en-US" altLang="zh-TW" dirty="0"/>
              <a:t>steps of </a:t>
            </a:r>
            <a:r>
              <a:rPr lang="en-US" altLang="zh-TW" i="1" dirty="0"/>
              <a:t>A</a:t>
            </a:r>
            <a:r>
              <a:rPr lang="en-US" altLang="zh-TW" dirty="0"/>
              <a:t>, another process </a:t>
            </a:r>
            <a:r>
              <a:rPr lang="en-US" altLang="zh-TW" i="1" dirty="0"/>
              <a:t>B </a:t>
            </a:r>
            <a:r>
              <a:rPr lang="en-US" altLang="zh-TW" dirty="0"/>
              <a:t>adds a new element to the list. Then, in order to ensure </a:t>
            </a:r>
            <a:r>
              <a:rPr lang="en-US" altLang="zh-TW" dirty="0" smtClean="0"/>
              <a:t>that </a:t>
            </a:r>
            <a:r>
              <a:rPr lang="en-US" altLang="zh-TW" i="1" dirty="0" smtClean="0"/>
              <a:t>A </a:t>
            </a:r>
            <a:r>
              <a:rPr lang="en-US" altLang="zh-TW" dirty="0"/>
              <a:t>will not need any extra step, we let </a:t>
            </a:r>
            <a:r>
              <a:rPr lang="en-US" altLang="zh-TW" i="1" dirty="0"/>
              <a:t>B compensate A </a:t>
            </a:r>
            <a:r>
              <a:rPr lang="en-US" altLang="zh-TW" dirty="0"/>
              <a:t>by progressing </a:t>
            </a:r>
            <a:r>
              <a:rPr lang="en-US" altLang="zh-TW" i="1" dirty="0"/>
              <a:t>A </a:t>
            </a:r>
            <a:r>
              <a:rPr lang="en-US" altLang="zh-TW" dirty="0"/>
              <a:t>by one step</a:t>
            </a:r>
            <a:r>
              <a:rPr lang="en-US" altLang="zh-TW" dirty="0" smtClean="0"/>
              <a:t>.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Compensation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pPr/>
              <a:t>30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241640741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Example</a:t>
            </a:r>
            <a:endParaRPr lang="zh-TW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771800" y="0"/>
            <a:ext cx="5562600" cy="405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35068"/>
          <a:stretch/>
        </p:blipFill>
        <p:spPr bwMode="auto">
          <a:xfrm>
            <a:off x="2771800" y="4149080"/>
            <a:ext cx="6267450" cy="26037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pPr/>
              <a:t>31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932463916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altLang="zh-TW" dirty="0"/>
              <a:t>A</a:t>
            </a:r>
            <a:r>
              <a:rPr lang="en-US" altLang="zh-TW" dirty="0" smtClean="0"/>
              <a:t>fter </a:t>
            </a:r>
            <a:r>
              <a:rPr lang="en-US" altLang="zh-TW" dirty="0"/>
              <a:t>each join or split, we want to allow for some unspecified </a:t>
            </a:r>
            <a:r>
              <a:rPr lang="en-US" altLang="zh-TW" i="1" dirty="0" err="1" smtClean="0"/>
              <a:t>postprocessing</a:t>
            </a:r>
            <a:r>
              <a:rPr lang="en-US" altLang="zh-TW" i="1" dirty="0" smtClean="0"/>
              <a:t> </a:t>
            </a:r>
            <a:r>
              <a:rPr lang="en-US" altLang="zh-TW" dirty="0" smtClean="0"/>
              <a:t>before </a:t>
            </a:r>
            <a:r>
              <a:rPr lang="en-US" altLang="zh-TW" dirty="0"/>
              <a:t>the involved nodes can participate in new joins and splits. </a:t>
            </a:r>
            <a:endParaRPr lang="en-US" altLang="zh-TW" dirty="0" smtClean="0"/>
          </a:p>
          <a:p>
            <a:r>
              <a:rPr lang="en-US" altLang="zh-TW" dirty="0" smtClean="0"/>
              <a:t>This </a:t>
            </a:r>
            <a:r>
              <a:rPr lang="en-US" altLang="zh-TW" dirty="0" err="1">
                <a:solidFill>
                  <a:srgbClr val="FF0000"/>
                </a:solidFill>
              </a:rPr>
              <a:t>postprocessing</a:t>
            </a:r>
            <a:r>
              <a:rPr lang="en-US" altLang="zh-TW" dirty="0">
                <a:solidFill>
                  <a:srgbClr val="FF0000"/>
                </a:solidFill>
              </a:rPr>
              <a:t> </a:t>
            </a:r>
            <a:r>
              <a:rPr lang="en-US" altLang="zh-TW" dirty="0" smtClean="0"/>
              <a:t>time will</a:t>
            </a:r>
            <a:r>
              <a:rPr lang="en-US" altLang="zh-TW" dirty="0"/>
              <a:t>, for example, be used to </a:t>
            </a:r>
            <a:r>
              <a:rPr lang="en-US" altLang="zh-TW" dirty="0">
                <a:solidFill>
                  <a:srgbClr val="FF0000"/>
                </a:solidFill>
              </a:rPr>
              <a:t>update parent pointers and </a:t>
            </a:r>
            <a:r>
              <a:rPr lang="en-US" altLang="zh-TW" i="1" dirty="0">
                <a:solidFill>
                  <a:srgbClr val="FF0000"/>
                </a:solidFill>
              </a:rPr>
              <a:t>S</a:t>
            </a:r>
            <a:r>
              <a:rPr lang="en-US" altLang="zh-TW" dirty="0">
                <a:solidFill>
                  <a:srgbClr val="FF0000"/>
                </a:solidFill>
              </a:rPr>
              <a:t>-structures</a:t>
            </a:r>
            <a:r>
              <a:rPr lang="en-US" altLang="zh-TW" dirty="0" smtClean="0"/>
              <a:t>.</a:t>
            </a:r>
          </a:p>
          <a:p>
            <a:r>
              <a:rPr lang="en-US" altLang="zh-TW" dirty="0"/>
              <a:t>If </a:t>
            </a:r>
            <a:r>
              <a:rPr lang="en-US" altLang="zh-TW" dirty="0" smtClean="0"/>
              <a:t>a data </a:t>
            </a:r>
            <a:r>
              <a:rPr lang="en-US" altLang="zh-TW" dirty="0"/>
              <a:t>structure is changed by some other operation before the </a:t>
            </a:r>
            <a:r>
              <a:rPr lang="en-US" altLang="zh-TW" dirty="0" err="1"/>
              <a:t>postprocessing</a:t>
            </a:r>
            <a:r>
              <a:rPr lang="en-US" altLang="zh-TW" dirty="0"/>
              <a:t> is finished, </a:t>
            </a:r>
            <a:r>
              <a:rPr lang="en-US" altLang="zh-TW" dirty="0" smtClean="0">
                <a:solidFill>
                  <a:srgbClr val="FF0000"/>
                </a:solidFill>
              </a:rPr>
              <a:t>the </a:t>
            </a:r>
            <a:r>
              <a:rPr lang="en-US" altLang="zh-TW" dirty="0" err="1" smtClean="0">
                <a:solidFill>
                  <a:srgbClr val="FF0000"/>
                </a:solidFill>
              </a:rPr>
              <a:t>postprocessing</a:t>
            </a:r>
            <a:r>
              <a:rPr lang="en-US" altLang="zh-TW" dirty="0" smtClean="0">
                <a:solidFill>
                  <a:srgbClr val="FF0000"/>
                </a:solidFill>
              </a:rPr>
              <a:t> </a:t>
            </a:r>
            <a:r>
              <a:rPr lang="en-US" altLang="zh-TW" dirty="0">
                <a:solidFill>
                  <a:srgbClr val="FF0000"/>
                </a:solidFill>
              </a:rPr>
              <a:t>will be compensated</a:t>
            </a:r>
            <a:r>
              <a:rPr lang="en-US" altLang="zh-TW" dirty="0"/>
              <a:t>, and therefore </a:t>
            </a:r>
            <a:r>
              <a:rPr lang="en-US" altLang="zh-TW" dirty="0">
                <a:solidFill>
                  <a:srgbClr val="FF0000"/>
                </a:solidFill>
              </a:rPr>
              <a:t>it will always finish within the number </a:t>
            </a:r>
            <a:r>
              <a:rPr lang="en-US" altLang="zh-TW" dirty="0" smtClean="0">
                <a:solidFill>
                  <a:srgbClr val="FF0000"/>
                </a:solidFill>
              </a:rPr>
              <a:t>of steps </a:t>
            </a:r>
            <a:r>
              <a:rPr lang="en-US" altLang="zh-TW" dirty="0">
                <a:solidFill>
                  <a:srgbClr val="FF0000"/>
                </a:solidFill>
              </a:rPr>
              <a:t>allocated</a:t>
            </a:r>
            <a:r>
              <a:rPr lang="en-US" altLang="zh-TW" dirty="0"/>
              <a:t>.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0" dirty="0" err="1"/>
              <a:t>P</a:t>
            </a:r>
            <a:r>
              <a:rPr lang="en-US" altLang="zh-TW" b="0" dirty="0" err="1" smtClean="0"/>
              <a:t>ostprocessing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pPr/>
              <a:t>32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523192800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L</a:t>
            </a:r>
            <a:r>
              <a:rPr lang="en-US" altLang="zh-TW" dirty="0" smtClean="0"/>
              <a:t>et </a:t>
            </a:r>
            <a:r>
              <a:rPr lang="en-US" altLang="zh-TW" i="1" dirty="0"/>
              <a:t>u </a:t>
            </a:r>
            <a:r>
              <a:rPr lang="en-US" altLang="zh-TW" dirty="0"/>
              <a:t>be the predecessor of </a:t>
            </a:r>
            <a:r>
              <a:rPr lang="en-US" altLang="zh-TW" i="1" dirty="0"/>
              <a:t>v </a:t>
            </a:r>
            <a:r>
              <a:rPr lang="en-US" altLang="zh-TW" dirty="0" smtClean="0"/>
              <a:t>in their </a:t>
            </a:r>
            <a:r>
              <a:rPr lang="en-US" altLang="zh-TW" dirty="0"/>
              <a:t>parent’s children list </a:t>
            </a:r>
            <a:r>
              <a:rPr lang="en-US" altLang="zh-TW" i="1" dirty="0"/>
              <a:t>C</a:t>
            </a:r>
            <a:r>
              <a:rPr lang="en-US" altLang="zh-TW" dirty="0" smtClean="0"/>
              <a:t>.</a:t>
            </a:r>
          </a:p>
          <a:p>
            <a:r>
              <a:rPr lang="en-US" altLang="zh-TW" dirty="0"/>
              <a:t>A </a:t>
            </a:r>
            <a:r>
              <a:rPr lang="en-US" altLang="zh-TW" i="1" dirty="0"/>
              <a:t>join </a:t>
            </a:r>
            <a:r>
              <a:rPr lang="en-US" altLang="zh-TW" dirty="0"/>
              <a:t>of </a:t>
            </a:r>
            <a:r>
              <a:rPr lang="en-US" altLang="zh-TW" i="1" dirty="0"/>
              <a:t>u </a:t>
            </a:r>
            <a:r>
              <a:rPr lang="en-US" altLang="zh-TW" dirty="0"/>
              <a:t>and </a:t>
            </a:r>
            <a:r>
              <a:rPr lang="en-US" altLang="zh-TW" i="1" dirty="0"/>
              <a:t>v 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append </a:t>
            </a:r>
            <a:r>
              <a:rPr lang="en-US" altLang="zh-TW" dirty="0"/>
              <a:t>the children list of </a:t>
            </a:r>
            <a:r>
              <a:rPr lang="en-US" altLang="zh-TW" i="1" dirty="0" smtClean="0"/>
              <a:t>v </a:t>
            </a:r>
            <a:r>
              <a:rPr lang="en-US" altLang="zh-TW" dirty="0" smtClean="0"/>
              <a:t>to </a:t>
            </a:r>
            <a:r>
              <a:rPr lang="en-US" altLang="zh-TW" dirty="0"/>
              <a:t>that of </a:t>
            </a:r>
            <a:r>
              <a:rPr lang="en-US" altLang="zh-TW" i="1" dirty="0"/>
              <a:t>u </a:t>
            </a:r>
            <a:r>
              <a:rPr lang="en-US" altLang="zh-TW" dirty="0"/>
              <a:t>so that </a:t>
            </a:r>
            <a:r>
              <a:rPr lang="en-US" altLang="zh-TW" i="1" dirty="0"/>
              <a:t>u </a:t>
            </a:r>
            <a:r>
              <a:rPr lang="en-US" altLang="zh-TW" dirty="0"/>
              <a:t>adopts all these children from </a:t>
            </a:r>
            <a:r>
              <a:rPr lang="en-US" altLang="zh-TW" i="1" dirty="0"/>
              <a:t>v</a:t>
            </a:r>
            <a:r>
              <a:rPr lang="en-US" altLang="zh-TW" dirty="0"/>
              <a:t>. 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delete </a:t>
            </a:r>
            <a:r>
              <a:rPr lang="en-US" altLang="zh-TW" i="1" dirty="0"/>
              <a:t>v </a:t>
            </a:r>
            <a:r>
              <a:rPr lang="en-US" altLang="zh-TW" dirty="0"/>
              <a:t>from </a:t>
            </a:r>
            <a:r>
              <a:rPr lang="en-US" altLang="zh-TW" i="1" dirty="0"/>
              <a:t>C</a:t>
            </a:r>
            <a:r>
              <a:rPr lang="en-US" altLang="zh-TW" dirty="0" smtClean="0"/>
              <a:t>.</a:t>
            </a:r>
          </a:p>
          <a:p>
            <a:r>
              <a:rPr lang="en-US" altLang="zh-TW" dirty="0"/>
              <a:t>A</a:t>
            </a:r>
            <a:r>
              <a:rPr lang="en-US" altLang="zh-TW" dirty="0" smtClean="0"/>
              <a:t> </a:t>
            </a:r>
            <a:r>
              <a:rPr lang="en-US" altLang="zh-TW" i="1" dirty="0"/>
              <a:t>split </a:t>
            </a:r>
            <a:r>
              <a:rPr lang="en-US" altLang="zh-TW" dirty="0"/>
              <a:t>of a node </a:t>
            </a:r>
            <a:r>
              <a:rPr lang="en-US" altLang="zh-TW" i="1" dirty="0"/>
              <a:t>u </a:t>
            </a:r>
            <a:r>
              <a:rPr lang="en-US" altLang="zh-TW" dirty="0"/>
              <a:t>at its child </a:t>
            </a:r>
            <a:r>
              <a:rPr lang="en-US" altLang="zh-TW" i="1" dirty="0"/>
              <a:t>w 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add </a:t>
            </a:r>
            <a:r>
              <a:rPr lang="en-US" altLang="zh-TW" dirty="0"/>
              <a:t>a new node </a:t>
            </a:r>
            <a:r>
              <a:rPr lang="en-US" altLang="zh-TW" i="1" dirty="0"/>
              <a:t>v </a:t>
            </a:r>
            <a:r>
              <a:rPr lang="en-US" altLang="zh-TW" dirty="0"/>
              <a:t>after </a:t>
            </a:r>
            <a:r>
              <a:rPr lang="en-US" altLang="zh-TW" i="1" dirty="0"/>
              <a:t>u </a:t>
            </a:r>
            <a:r>
              <a:rPr lang="en-US" altLang="zh-TW" dirty="0"/>
              <a:t>in the </a:t>
            </a:r>
            <a:r>
              <a:rPr lang="en-US" altLang="zh-TW" dirty="0" smtClean="0"/>
              <a:t>children list </a:t>
            </a:r>
            <a:r>
              <a:rPr lang="en-US" altLang="zh-TW" i="1" dirty="0"/>
              <a:t>C </a:t>
            </a:r>
            <a:r>
              <a:rPr lang="en-US" altLang="zh-TW" dirty="0"/>
              <a:t>of </a:t>
            </a:r>
            <a:r>
              <a:rPr lang="en-US" altLang="zh-TW" i="1" dirty="0"/>
              <a:t>u</a:t>
            </a:r>
            <a:r>
              <a:rPr lang="en-US" altLang="zh-TW" dirty="0"/>
              <a:t>’s </a:t>
            </a:r>
            <a:r>
              <a:rPr lang="en-US" altLang="zh-TW" dirty="0" smtClean="0"/>
              <a:t>parent</a:t>
            </a:r>
          </a:p>
          <a:p>
            <a:pPr lvl="1"/>
            <a:r>
              <a:rPr lang="en-US" altLang="zh-TW" dirty="0" smtClean="0"/>
              <a:t>cut </a:t>
            </a:r>
            <a:r>
              <a:rPr lang="en-US" altLang="zh-TW" dirty="0"/>
              <a:t>the children list of </a:t>
            </a:r>
            <a:r>
              <a:rPr lang="en-US" altLang="zh-TW" i="1" dirty="0"/>
              <a:t>u </a:t>
            </a:r>
            <a:r>
              <a:rPr lang="en-US" altLang="zh-TW" dirty="0"/>
              <a:t>just before </a:t>
            </a:r>
            <a:r>
              <a:rPr lang="en-US" altLang="zh-TW" i="1" dirty="0" smtClean="0"/>
              <a:t>w</a:t>
            </a:r>
          </a:p>
          <a:p>
            <a:pPr lvl="1"/>
            <a:r>
              <a:rPr lang="en-US" altLang="zh-TW" dirty="0" smtClean="0"/>
              <a:t>make </a:t>
            </a:r>
            <a:r>
              <a:rPr lang="en-US" altLang="zh-TW" dirty="0"/>
              <a:t>the last </a:t>
            </a:r>
            <a:r>
              <a:rPr lang="en-US" altLang="zh-TW" dirty="0" smtClean="0"/>
              <a:t>part the </a:t>
            </a:r>
            <a:r>
              <a:rPr lang="en-US" altLang="zh-TW" dirty="0"/>
              <a:t>children list of </a:t>
            </a:r>
            <a:r>
              <a:rPr lang="en-US" altLang="zh-TW" i="1" dirty="0"/>
              <a:t>v</a:t>
            </a:r>
            <a:r>
              <a:rPr lang="en-US" altLang="zh-TW" dirty="0"/>
              <a:t>.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Join &amp; Split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pPr/>
              <a:t>33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478790875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In the </a:t>
            </a:r>
            <a:r>
              <a:rPr lang="en-US" altLang="zh-TW" dirty="0" err="1"/>
              <a:t>postprocessing</a:t>
            </a:r>
            <a:r>
              <a:rPr lang="en-US" altLang="zh-TW" dirty="0"/>
              <a:t> of a </a:t>
            </a:r>
            <a:r>
              <a:rPr lang="en-US" altLang="zh-TW" dirty="0">
                <a:solidFill>
                  <a:srgbClr val="FF0000"/>
                </a:solidFill>
              </a:rPr>
              <a:t>join</a:t>
            </a:r>
            <a:r>
              <a:rPr lang="en-US" altLang="zh-TW" dirty="0"/>
              <a:t>, the resulting node is not allowed </a:t>
            </a:r>
            <a:r>
              <a:rPr lang="en-US" altLang="zh-TW" dirty="0" smtClean="0"/>
              <a:t>to participate </a:t>
            </a:r>
            <a:r>
              <a:rPr lang="en-US" altLang="zh-TW" dirty="0"/>
              <a:t>in any </a:t>
            </a:r>
            <a:r>
              <a:rPr lang="en-US" altLang="zh-TW" dirty="0">
                <a:solidFill>
                  <a:srgbClr val="FF0000"/>
                </a:solidFill>
              </a:rPr>
              <a:t>joins or splits</a:t>
            </a:r>
            <a:r>
              <a:rPr lang="en-US" altLang="zh-TW" dirty="0"/>
              <a:t>. </a:t>
            </a:r>
            <a:endParaRPr lang="en-US" altLang="zh-TW" dirty="0" smtClean="0"/>
          </a:p>
          <a:p>
            <a:r>
              <a:rPr lang="en-US" altLang="zh-TW" dirty="0" smtClean="0"/>
              <a:t>In </a:t>
            </a:r>
            <a:r>
              <a:rPr lang="en-US" altLang="zh-TW" dirty="0"/>
              <a:t>the </a:t>
            </a:r>
            <a:r>
              <a:rPr lang="en-US" altLang="zh-TW" dirty="0" err="1"/>
              <a:t>postprocessing</a:t>
            </a:r>
            <a:r>
              <a:rPr lang="en-US" altLang="zh-TW" dirty="0"/>
              <a:t> of a </a:t>
            </a:r>
            <a:r>
              <a:rPr lang="en-US" altLang="zh-TW" dirty="0">
                <a:solidFill>
                  <a:srgbClr val="FF0000"/>
                </a:solidFill>
              </a:rPr>
              <a:t>split</a:t>
            </a:r>
            <a:r>
              <a:rPr lang="en-US" altLang="zh-TW" dirty="0"/>
              <a:t>, the resulting nodes </a:t>
            </a:r>
            <a:r>
              <a:rPr lang="en-US" altLang="zh-TW" dirty="0" smtClean="0"/>
              <a:t>are neither </a:t>
            </a:r>
            <a:r>
              <a:rPr lang="en-US" altLang="zh-TW" dirty="0"/>
              <a:t>allowed to participate directly in a </a:t>
            </a:r>
            <a:r>
              <a:rPr lang="en-US" altLang="zh-TW" dirty="0">
                <a:solidFill>
                  <a:srgbClr val="FF0000"/>
                </a:solidFill>
              </a:rPr>
              <a:t>join or split</a:t>
            </a:r>
            <a:r>
              <a:rPr lang="en-US" altLang="zh-TW" dirty="0"/>
              <a:t>, nor is the </a:t>
            </a:r>
            <a:r>
              <a:rPr lang="en-US" altLang="zh-TW" dirty="0">
                <a:solidFill>
                  <a:srgbClr val="FF0000"/>
                </a:solidFill>
              </a:rPr>
              <a:t>parent</a:t>
            </a:r>
            <a:r>
              <a:rPr lang="en-US" altLang="zh-TW" dirty="0"/>
              <a:t> allowed to </a:t>
            </a:r>
            <a:r>
              <a:rPr lang="en-US" altLang="zh-TW" dirty="0" smtClean="0">
                <a:solidFill>
                  <a:srgbClr val="FF0000"/>
                </a:solidFill>
              </a:rPr>
              <a:t>split between </a:t>
            </a:r>
            <a:r>
              <a:rPr lang="en-US" altLang="zh-TW" dirty="0">
                <a:solidFill>
                  <a:srgbClr val="FF0000"/>
                </a:solidFill>
              </a:rPr>
              <a:t>them</a:t>
            </a:r>
            <a:r>
              <a:rPr lang="en-US" altLang="zh-TW" dirty="0" smtClean="0"/>
              <a:t>.</a:t>
            </a:r>
          </a:p>
          <a:p>
            <a:r>
              <a:rPr lang="en-US" altLang="zh-TW" dirty="0" smtClean="0"/>
              <a:t>Each round of </a:t>
            </a:r>
            <a:r>
              <a:rPr lang="en-US" altLang="zh-TW" dirty="0" err="1" smtClean="0"/>
              <a:t>postprocessing</a:t>
            </a:r>
            <a:r>
              <a:rPr lang="en-US" altLang="zh-TW" dirty="0" smtClean="0"/>
              <a:t> change 84 pointers.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Join &amp; Split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pPr/>
              <a:t>34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4143577193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zh-TW" dirty="0"/>
              <a:t>Given a number series </a:t>
            </a:r>
            <a:r>
              <a:rPr lang="en-US" altLang="zh-TW" i="1" dirty="0"/>
              <a:t>n</a:t>
            </a:r>
            <a:r>
              <a:rPr lang="en-US" altLang="zh-TW" baseline="-25000" dirty="0"/>
              <a:t>1</a:t>
            </a:r>
            <a:r>
              <a:rPr lang="en-US" altLang="zh-TW" dirty="0"/>
              <a:t>, </a:t>
            </a:r>
            <a:r>
              <a:rPr lang="en-US" altLang="zh-TW" i="1" dirty="0"/>
              <a:t>n</a:t>
            </a:r>
            <a:r>
              <a:rPr lang="en-US" altLang="zh-TW" baseline="-25000" dirty="0"/>
              <a:t>2</a:t>
            </a:r>
            <a:r>
              <a:rPr lang="en-US" altLang="zh-TW" dirty="0"/>
              <a:t>, . . ., with </a:t>
            </a:r>
            <a:r>
              <a:rPr lang="en-US" altLang="zh-TW" i="1" dirty="0">
                <a:solidFill>
                  <a:srgbClr val="FF0000"/>
                </a:solidFill>
              </a:rPr>
              <a:t>n</a:t>
            </a:r>
            <a:r>
              <a:rPr lang="en-US" altLang="zh-TW" baseline="-25000" dirty="0">
                <a:solidFill>
                  <a:srgbClr val="FF0000"/>
                </a:solidFill>
              </a:rPr>
              <a:t>1</a:t>
            </a:r>
            <a:r>
              <a:rPr lang="en-US" altLang="zh-TW" dirty="0">
                <a:solidFill>
                  <a:srgbClr val="FF0000"/>
                </a:solidFill>
              </a:rPr>
              <a:t> </a:t>
            </a:r>
            <a:r>
              <a:rPr lang="en-US" altLang="zh-TW" dirty="0" smtClean="0">
                <a:solidFill>
                  <a:srgbClr val="FF0000"/>
                </a:solidFill>
              </a:rPr>
              <a:t>≥ </a:t>
            </a:r>
            <a:r>
              <a:rPr lang="en-US" altLang="zh-TW" dirty="0">
                <a:solidFill>
                  <a:srgbClr val="FF0000"/>
                </a:solidFill>
              </a:rPr>
              <a:t>84, </a:t>
            </a:r>
            <a:r>
              <a:rPr lang="en-US" altLang="zh-TW" i="1" dirty="0">
                <a:solidFill>
                  <a:srgbClr val="FF0000"/>
                </a:solidFill>
              </a:rPr>
              <a:t>n</a:t>
            </a:r>
            <a:r>
              <a:rPr lang="en-US" altLang="zh-TW" i="1" baseline="-25000" dirty="0">
                <a:solidFill>
                  <a:srgbClr val="FF0000"/>
                </a:solidFill>
              </a:rPr>
              <a:t>i</a:t>
            </a:r>
            <a:r>
              <a:rPr lang="en-US" altLang="zh-TW" baseline="-25000" dirty="0">
                <a:solidFill>
                  <a:srgbClr val="FF0000"/>
                </a:solidFill>
              </a:rPr>
              <a:t>+1</a:t>
            </a:r>
            <a:r>
              <a:rPr lang="en-US" altLang="zh-TW" dirty="0">
                <a:solidFill>
                  <a:srgbClr val="FF0000"/>
                </a:solidFill>
              </a:rPr>
              <a:t> &gt; 19</a:t>
            </a:r>
            <a:r>
              <a:rPr lang="en-US" altLang="zh-TW" i="1" dirty="0">
                <a:solidFill>
                  <a:srgbClr val="FF0000"/>
                </a:solidFill>
              </a:rPr>
              <a:t>n</a:t>
            </a:r>
            <a:r>
              <a:rPr lang="en-US" altLang="zh-TW" i="1" baseline="-25000" dirty="0">
                <a:solidFill>
                  <a:srgbClr val="FF0000"/>
                </a:solidFill>
              </a:rPr>
              <a:t>i</a:t>
            </a:r>
            <a:r>
              <a:rPr lang="en-US" altLang="zh-TW" dirty="0"/>
              <a:t>, we can </a:t>
            </a:r>
            <a:r>
              <a:rPr lang="en-US" altLang="zh-TW" dirty="0" smtClean="0"/>
              <a:t>schedule split </a:t>
            </a:r>
            <a:r>
              <a:rPr lang="en-US" altLang="zh-TW" dirty="0"/>
              <a:t>and joins to maintain a </a:t>
            </a:r>
            <a:r>
              <a:rPr lang="en-US" altLang="zh-TW" dirty="0" err="1"/>
              <a:t>multiway</a:t>
            </a:r>
            <a:r>
              <a:rPr lang="en-US" altLang="zh-TW" dirty="0"/>
              <a:t> tree where each non-root node </a:t>
            </a:r>
            <a:r>
              <a:rPr lang="en-US" altLang="zh-TW" i="1" dirty="0"/>
              <a:t>v</a:t>
            </a:r>
            <a:r>
              <a:rPr lang="en-US" altLang="zh-TW" dirty="0"/>
              <a:t> on height </a:t>
            </a:r>
            <a:r>
              <a:rPr lang="en-US" altLang="zh-TW" i="1" dirty="0" err="1"/>
              <a:t>i</a:t>
            </a:r>
            <a:r>
              <a:rPr lang="en-US" altLang="zh-TW" dirty="0"/>
              <a:t> &gt; 0 </a:t>
            </a:r>
            <a:r>
              <a:rPr lang="en-US" altLang="zh-TW" dirty="0" smtClean="0"/>
              <a:t>has weight </a:t>
            </a:r>
            <a:r>
              <a:rPr lang="en-US" altLang="zh-TW" dirty="0"/>
              <a:t>between </a:t>
            </a:r>
            <a:r>
              <a:rPr lang="en-US" altLang="zh-TW" i="1" dirty="0" err="1"/>
              <a:t>n</a:t>
            </a:r>
            <a:r>
              <a:rPr lang="en-US" altLang="zh-TW" i="1" baseline="-25000" dirty="0" err="1"/>
              <a:t>i</a:t>
            </a:r>
            <a:r>
              <a:rPr lang="en-US" altLang="zh-TW" dirty="0"/>
              <a:t>/4 and </a:t>
            </a:r>
            <a:r>
              <a:rPr lang="en-US" altLang="zh-TW" i="1" dirty="0" err="1"/>
              <a:t>n</a:t>
            </a:r>
            <a:r>
              <a:rPr lang="en-US" altLang="zh-TW" i="1" baseline="-25000" dirty="0" err="1"/>
              <a:t>i</a:t>
            </a:r>
            <a:r>
              <a:rPr lang="en-US" altLang="zh-TW" dirty="0"/>
              <a:t>. A root node on height </a:t>
            </a:r>
            <a:r>
              <a:rPr lang="en-US" altLang="zh-TW" i="1" dirty="0"/>
              <a:t>h</a:t>
            </a:r>
            <a:r>
              <a:rPr lang="en-US" altLang="zh-TW" dirty="0"/>
              <a:t> &gt; 0 has weight at most </a:t>
            </a:r>
            <a:r>
              <a:rPr lang="en-US" altLang="zh-TW" i="1" dirty="0" err="1"/>
              <a:t>n</a:t>
            </a:r>
            <a:r>
              <a:rPr lang="en-US" altLang="zh-TW" i="1" baseline="-25000" dirty="0" err="1"/>
              <a:t>h</a:t>
            </a:r>
            <a:r>
              <a:rPr lang="en-US" altLang="zh-TW" dirty="0"/>
              <a:t> and at least </a:t>
            </a:r>
            <a:r>
              <a:rPr lang="en-US" altLang="zh-TW" dirty="0" smtClean="0"/>
              <a:t>2 children</a:t>
            </a:r>
            <a:r>
              <a:rPr lang="en-US" altLang="zh-TW" dirty="0"/>
              <a:t>, so the root has weight at least </a:t>
            </a:r>
            <a:r>
              <a:rPr lang="en-US" altLang="zh-TW" i="1" dirty="0"/>
              <a:t>n</a:t>
            </a:r>
            <a:r>
              <a:rPr lang="en-US" altLang="zh-TW" i="1" baseline="-25000" dirty="0"/>
              <a:t>h</a:t>
            </a:r>
            <a:r>
              <a:rPr lang="en-US" altLang="zh-TW" baseline="-25000" dirty="0"/>
              <a:t>−1</a:t>
            </a:r>
            <a:r>
              <a:rPr lang="en-US" altLang="zh-TW" dirty="0"/>
              <a:t>/2. The schedule gives the following properties:</a:t>
            </a:r>
          </a:p>
          <a:p>
            <a:pPr lvl="1"/>
            <a:r>
              <a:rPr lang="en-US" altLang="zh-TW" dirty="0" smtClean="0"/>
              <a:t>When </a:t>
            </a:r>
            <a:r>
              <a:rPr lang="en-US" altLang="zh-TW" dirty="0"/>
              <a:t>a leaf </a:t>
            </a:r>
            <a:r>
              <a:rPr lang="en-US" altLang="zh-TW" i="1" dirty="0"/>
              <a:t>v</a:t>
            </a:r>
            <a:r>
              <a:rPr lang="en-US" altLang="zh-TW" dirty="0"/>
              <a:t> is inserted or deleted, for each node </a:t>
            </a:r>
            <a:r>
              <a:rPr lang="en-US" altLang="zh-TW" i="1" dirty="0"/>
              <a:t>u</a:t>
            </a:r>
            <a:r>
              <a:rPr lang="en-US" altLang="zh-TW" dirty="0"/>
              <a:t> on the path from </a:t>
            </a:r>
            <a:r>
              <a:rPr lang="en-US" altLang="zh-TW" i="1" dirty="0"/>
              <a:t>v</a:t>
            </a:r>
            <a:r>
              <a:rPr lang="en-US" altLang="zh-TW" dirty="0"/>
              <a:t> to the </a:t>
            </a:r>
            <a:r>
              <a:rPr lang="en-US" altLang="zh-TW" dirty="0" smtClean="0"/>
              <a:t>root the </a:t>
            </a:r>
            <a:r>
              <a:rPr lang="en-US" altLang="zh-TW" dirty="0"/>
              <a:t>schedule uses one local update step contributing to the </a:t>
            </a:r>
            <a:r>
              <a:rPr lang="en-US" altLang="zh-TW" dirty="0" err="1"/>
              <a:t>postprocessing</a:t>
            </a:r>
            <a:r>
              <a:rPr lang="en-US" altLang="zh-TW" dirty="0"/>
              <a:t> of at most one </a:t>
            </a:r>
            <a:r>
              <a:rPr lang="en-US" altLang="zh-TW" dirty="0" smtClean="0"/>
              <a:t>join or </a:t>
            </a:r>
            <a:r>
              <a:rPr lang="en-US" altLang="zh-TW" dirty="0"/>
              <a:t>split involving either </a:t>
            </a:r>
            <a:r>
              <a:rPr lang="en-US" altLang="zh-TW" i="1" dirty="0"/>
              <a:t>u</a:t>
            </a:r>
            <a:r>
              <a:rPr lang="en-US" altLang="zh-TW" dirty="0"/>
              <a:t> or a neighbor of </a:t>
            </a:r>
            <a:r>
              <a:rPr lang="en-US" altLang="zh-TW" i="1" dirty="0"/>
              <a:t>u</a:t>
            </a:r>
            <a:r>
              <a:rPr lang="en-US" altLang="zh-TW" dirty="0"/>
              <a:t>. In addition to the local updates, the </a:t>
            </a:r>
            <a:r>
              <a:rPr lang="en-US" altLang="zh-TW" dirty="0" smtClean="0"/>
              <a:t>schedule spends </a:t>
            </a:r>
            <a:r>
              <a:rPr lang="en-US" altLang="zh-TW" dirty="0"/>
              <a:t>constant time on each level</a:t>
            </a:r>
            <a:r>
              <a:rPr lang="en-US" altLang="zh-TW" dirty="0" smtClean="0"/>
              <a:t>.</a:t>
            </a:r>
          </a:p>
          <a:p>
            <a:pPr lvl="1"/>
            <a:r>
              <a:rPr lang="en-US" altLang="zh-TW" dirty="0" smtClean="0"/>
              <a:t>For </a:t>
            </a:r>
            <a:r>
              <a:rPr lang="en-US" altLang="zh-TW" dirty="0"/>
              <a:t>each split or join at level </a:t>
            </a:r>
            <a:r>
              <a:rPr lang="en-US" altLang="zh-TW" i="1" dirty="0" err="1"/>
              <a:t>i</a:t>
            </a:r>
            <a:r>
              <a:rPr lang="en-US" altLang="zh-TW" dirty="0"/>
              <a:t> the schedule ensures that we have </a:t>
            </a:r>
            <a:r>
              <a:rPr lang="en-US" altLang="zh-TW" i="1" dirty="0" err="1"/>
              <a:t>n</a:t>
            </a:r>
            <a:r>
              <a:rPr lang="en-US" altLang="zh-TW" i="1" baseline="-25000" dirty="0" err="1"/>
              <a:t>i</a:t>
            </a:r>
            <a:r>
              <a:rPr lang="en-US" altLang="zh-TW" dirty="0"/>
              <a:t>/84 local </a:t>
            </a:r>
            <a:r>
              <a:rPr lang="en-US" altLang="zh-TW" dirty="0" smtClean="0"/>
              <a:t>update steps </a:t>
            </a:r>
            <a:r>
              <a:rPr lang="en-US" altLang="zh-TW" dirty="0"/>
              <a:t>available for </a:t>
            </a:r>
            <a:r>
              <a:rPr lang="en-US" altLang="zh-TW" dirty="0" err="1"/>
              <a:t>postprocessing</a:t>
            </a:r>
            <a:r>
              <a:rPr lang="en-US" altLang="zh-TW" dirty="0"/>
              <a:t>, including one at the time of the split or join.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pPr/>
              <a:t>35</a:t>
            </a:fld>
            <a:endParaRPr lang="zh-TW" altLang="en-US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0" dirty="0"/>
              <a:t>Theorem 8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1605147224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xmlns="" Requires="a14">
          <p:sp>
            <p:nvSpPr>
              <p:cNvPr id="2" name="內容版面配置區 1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 smtClean="0"/>
                  <a:t>With </a:t>
                </a:r>
                <a:r>
                  <a:rPr lang="el-GR" altLang="zh-TW" dirty="0"/>
                  <a:t>α</a:t>
                </a:r>
                <a:r>
                  <a:rPr lang="en-US" altLang="zh-TW" dirty="0" smtClean="0"/>
                  <a:t/>
                </a:r>
                <a:r>
                  <a:rPr lang="en-US" altLang="zh-TW" dirty="0"/>
                  <a:t>= max{84</a:t>
                </a:r>
                <a:r>
                  <a:rPr lang="en-US" altLang="zh-TW" baseline="30000" dirty="0"/>
                  <a:t>(</a:t>
                </a:r>
                <a:r>
                  <a:rPr lang="en-US" altLang="zh-TW" i="1" baseline="30000" dirty="0"/>
                  <a:t>k</a:t>
                </a:r>
                <a:r>
                  <a:rPr lang="en-US" altLang="zh-TW" baseline="30000" dirty="0"/>
                  <a:t>−1)/</a:t>
                </a:r>
                <a:r>
                  <a:rPr lang="en-US" altLang="zh-TW" i="1" baseline="30000" dirty="0"/>
                  <a:t>k</a:t>
                </a:r>
                <a:r>
                  <a:rPr lang="en-US" altLang="zh-TW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zh-TW" b="0" i="0" smtClean="0">
                            <a:latin typeface="Cambria Math"/>
                          </a:rPr>
                          <m:t>19</m:t>
                        </m:r>
                      </m:e>
                      <m:sup>
                        <m:sSup>
                          <m:sSupPr>
                            <m:ctrlPr>
                              <a:rPr lang="en-US" altLang="zh-TW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altLang="zh-TW" b="0" i="0" smtClean="0">
                                <a:latin typeface="Cambria Math"/>
                              </a:rPr>
                              <m:t>(</m:t>
                            </m:r>
                            <m:r>
                              <a:rPr lang="en-US" altLang="zh-TW" b="0" i="1" smtClean="0">
                                <a:latin typeface="Cambria Math"/>
                              </a:rPr>
                              <m:t>𝑘</m:t>
                            </m:r>
                            <m:r>
                              <a:rPr lang="en-US" altLang="zh-TW" b="0" i="0" smtClean="0">
                                <a:latin typeface="Cambria Math"/>
                              </a:rPr>
                              <m:t>−1)</m:t>
                            </m:r>
                          </m:e>
                          <m:sup>
                            <m:r>
                              <a:rPr lang="en-US" altLang="zh-TW" b="0" i="0" smtClean="0">
                                <a:latin typeface="Cambria Math"/>
                              </a:rPr>
                              <m:t>2</m:t>
                            </m:r>
                          </m:sup>
                        </m:sSup>
                        <m:r>
                          <a:rPr lang="en-US" altLang="zh-TW" b="0" i="0" smtClean="0">
                            <a:latin typeface="Cambria Math"/>
                          </a:rPr>
                          <m:t>/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altLang="zh-TW" dirty="0"/>
                  <a:t>} and </a:t>
                </a:r>
                <a:r>
                  <a:rPr lang="en-US" altLang="zh-TW" i="1" dirty="0" err="1"/>
                  <a:t>n</a:t>
                </a:r>
                <a:r>
                  <a:rPr lang="en-US" altLang="zh-TW" i="1" baseline="-25000" dirty="0" err="1"/>
                  <a:t>i</a:t>
                </a:r>
                <a:r>
                  <a:rPr lang="en-US" altLang="zh-TW" dirty="0"/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altLang="zh-TW" i="1" dirty="0">
                            <a:latin typeface="Cambria Math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altLang="zh-TW" i="1" dirty="0">
                            <a:latin typeface="Cambria Math"/>
                          </a:rPr>
                          <m:t>α</m:t>
                        </m:r>
                      </m:e>
                      <m:sup>
                        <m:sSup>
                          <m:sSupPr>
                            <m:ctrlPr>
                              <a:rPr lang="el-GR" altLang="zh-TW" i="1" dirty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altLang="zh-TW" i="1" dirty="0">
                                <a:latin typeface="Cambria Math"/>
                              </a:rPr>
                              <m:t>(</m:t>
                            </m:r>
                            <m:f>
                              <m:fPr>
                                <m:ctrlPr>
                                  <a:rPr lang="en-US" altLang="zh-TW" i="1" dirty="0">
                                    <a:latin typeface="Cambria Math"/>
                                  </a:rPr>
                                </m:ctrlPr>
                              </m:fPr>
                              <m:num>
                                <m:r>
                                  <a:rPr lang="en-US" altLang="zh-TW" i="1" dirty="0">
                                    <a:latin typeface="Cambria Math"/>
                                  </a:rPr>
                                  <m:t>𝑘</m:t>
                                </m:r>
                              </m:num>
                              <m:den>
                                <m:r>
                                  <a:rPr lang="en-US" altLang="zh-TW" i="1" dirty="0">
                                    <a:latin typeface="Cambria Math"/>
                                  </a:rPr>
                                  <m:t>𝑘</m:t>
                                </m:r>
                                <m:r>
                                  <a:rPr lang="en-US" altLang="zh-TW" i="1" dirty="0">
                                    <a:latin typeface="Cambria Math"/>
                                  </a:rPr>
                                  <m:t>−1</m:t>
                                </m:r>
                              </m:den>
                            </m:f>
                            <m:r>
                              <a:rPr lang="en-US" altLang="zh-TW" i="1" dirty="0">
                                <a:latin typeface="Cambria Math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TW" i="1" dirty="0">
                                <a:latin typeface="Cambria Math"/>
                              </a:rPr>
                              <m:t>𝑖</m:t>
                            </m:r>
                          </m:sup>
                        </m:sSup>
                      </m:sup>
                    </m:sSup>
                    <m:r>
                      <a:rPr lang="en-US" altLang="zh-TW" i="1" dirty="0">
                        <a:latin typeface="Cambria Math"/>
                      </a:rPr>
                      <m:t> </m:t>
                    </m:r>
                  </m:oMath>
                </a14:m>
                <a:r>
                  <a:rPr lang="en-US" altLang="zh-TW" dirty="0"/>
                  <a:t>as in Definition </a:t>
                </a:r>
                <a:r>
                  <a:rPr lang="en-US" altLang="zh-TW" dirty="0" smtClean="0"/>
                  <a:t>7, then </a:t>
                </a:r>
                <a:r>
                  <a:rPr lang="en-US" altLang="zh-TW" i="1" dirty="0"/>
                  <a:t>n</a:t>
                </a:r>
                <a:r>
                  <a:rPr lang="en-US" altLang="zh-TW" baseline="-25000" dirty="0"/>
                  <a:t>1</a:t>
                </a:r>
                <a:r>
                  <a:rPr lang="en-US" altLang="zh-TW" dirty="0"/>
                  <a:t/>
                </a:r>
                <a:r>
                  <a:rPr lang="en-US" altLang="zh-TW" dirty="0" smtClean="0"/>
                  <a:t>≥ </a:t>
                </a:r>
                <a:r>
                  <a:rPr lang="en-US" altLang="zh-TW" dirty="0"/>
                  <a:t>84 and </a:t>
                </a:r>
                <a:r>
                  <a:rPr lang="en-US" altLang="zh-TW" i="1" dirty="0"/>
                  <a:t>n</a:t>
                </a:r>
                <a:r>
                  <a:rPr lang="en-US" altLang="zh-TW" i="1" baseline="-25000" dirty="0"/>
                  <a:t>i</a:t>
                </a:r>
                <a:r>
                  <a:rPr lang="en-US" altLang="zh-TW" baseline="-25000" dirty="0"/>
                  <a:t>+1</a:t>
                </a:r>
                <a:r>
                  <a:rPr lang="en-US" altLang="zh-TW" dirty="0"/>
                  <a:t>/</a:t>
                </a:r>
                <a:r>
                  <a:rPr lang="en-US" altLang="zh-TW" i="1" dirty="0" err="1"/>
                  <a:t>n</a:t>
                </a:r>
                <a:r>
                  <a:rPr lang="en-US" altLang="zh-TW" i="1" baseline="-25000" dirty="0" err="1"/>
                  <a:t>i</a:t>
                </a:r>
                <a:r>
                  <a:rPr lang="en-US" altLang="zh-TW" dirty="0"/>
                  <a:t/>
                </a:r>
                <a:r>
                  <a:rPr lang="en-US" altLang="zh-TW" dirty="0" smtClean="0"/>
                  <a:t>≥ </a:t>
                </a:r>
                <a:r>
                  <a:rPr lang="en-US" altLang="zh-TW" dirty="0"/>
                  <a:t>19 for </a:t>
                </a:r>
                <a:r>
                  <a:rPr lang="en-US" altLang="zh-TW" i="1" dirty="0" err="1"/>
                  <a:t>i</a:t>
                </a:r>
                <a:r>
                  <a:rPr lang="en-US" altLang="zh-TW" dirty="0"/>
                  <a:t/>
                </a:r>
                <a:r>
                  <a:rPr lang="en-US" altLang="zh-TW" dirty="0" smtClean="0"/>
                  <a:t>≥ </a:t>
                </a:r>
                <a:r>
                  <a:rPr lang="en-US" altLang="zh-TW" dirty="0"/>
                  <a:t>1.</a:t>
                </a:r>
                <a:endParaRPr lang="zh-TW" altLang="en-US" dirty="0"/>
              </a:p>
            </p:txBody>
          </p:sp>
        </mc:Choice>
        <mc:Fallback>
          <p:sp>
            <p:nvSpPr>
              <p:cNvPr id="2" name="內容版面配置區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pPr/>
              <a:t>36</a:t>
            </a:fld>
            <a:endParaRPr lang="zh-TW" altLang="en-US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Lemma 11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738246401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Initial: Given a constant </a:t>
            </a:r>
            <a:r>
              <a:rPr lang="en-US" altLang="zh-TW" i="1" dirty="0" smtClean="0"/>
              <a:t>b</a:t>
            </a:r>
            <a:r>
              <a:rPr lang="en-US" altLang="zh-TW" dirty="0" smtClean="0"/>
              <a:t> and a list of weight between 24</a:t>
            </a:r>
            <a:r>
              <a:rPr lang="en-US" altLang="zh-TW" i="1" dirty="0" smtClean="0"/>
              <a:t>b</a:t>
            </a:r>
            <a:r>
              <a:rPr lang="en-US" altLang="zh-TW" dirty="0" smtClean="0"/>
              <a:t> and 58</a:t>
            </a:r>
            <a:r>
              <a:rPr lang="en-US" altLang="zh-TW" i="1" dirty="0" smtClean="0"/>
              <a:t>b</a:t>
            </a:r>
          </a:p>
          <a:p>
            <a:r>
              <a:rPr lang="en-US" altLang="zh-TW" dirty="0" smtClean="0"/>
              <a:t>Balance: All weights are between 21</a:t>
            </a:r>
            <a:r>
              <a:rPr lang="en-US" altLang="zh-TW" i="1" dirty="0" smtClean="0"/>
              <a:t>b</a:t>
            </a:r>
            <a:r>
              <a:rPr lang="en-US" altLang="zh-TW" dirty="0" smtClean="0"/>
              <a:t> and 84</a:t>
            </a:r>
            <a:r>
              <a:rPr lang="en-US" altLang="zh-TW" i="1" dirty="0" smtClean="0"/>
              <a:t>b</a:t>
            </a:r>
            <a:r>
              <a:rPr lang="en-US" altLang="zh-TW" dirty="0" smtClean="0"/>
              <a:t>.</a:t>
            </a:r>
          </a:p>
          <a:p>
            <a:r>
              <a:rPr lang="en-US" altLang="zh-TW" dirty="0" smtClean="0"/>
              <a:t>Destroyer</a:t>
            </a:r>
          </a:p>
          <a:p>
            <a:pPr lvl="1"/>
            <a:r>
              <a:rPr lang="en-US" altLang="zh-TW" dirty="0" smtClean="0"/>
              <a:t>In each round, increase or decrease one of the weights by 1.</a:t>
            </a:r>
          </a:p>
          <a:p>
            <a:pPr lvl="1"/>
            <a:r>
              <a:rPr lang="en-US" altLang="zh-TW" dirty="0" smtClean="0"/>
              <a:t>Cannot decrease the sum of all weights down below 24</a:t>
            </a:r>
            <a:r>
              <a:rPr lang="en-US" altLang="zh-TW" i="1" dirty="0" smtClean="0"/>
              <a:t>b</a:t>
            </a:r>
            <a:r>
              <a:rPr lang="en-US" altLang="zh-TW" dirty="0" smtClean="0"/>
              <a:t>.</a:t>
            </a:r>
          </a:p>
          <a:p>
            <a:pPr lvl="1"/>
            <a:r>
              <a:rPr lang="en-US" altLang="zh-TW" dirty="0" smtClean="0"/>
              <a:t>Decide the two weights when splitting with the constraint that the difference is at </a:t>
            </a:r>
            <a:r>
              <a:rPr lang="en-US" altLang="zh-TW" dirty="0"/>
              <a:t>most </a:t>
            </a:r>
            <a:r>
              <a:rPr lang="en-US" altLang="zh-TW" dirty="0" smtClean="0"/>
              <a:t>7b</a:t>
            </a:r>
            <a:endParaRPr lang="en-US" altLang="zh-TW" dirty="0"/>
          </a:p>
          <a:p>
            <a:pPr lvl="1"/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Balance Game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pPr/>
              <a:t>37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965221123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Keeper: </a:t>
            </a:r>
          </a:p>
          <a:p>
            <a:pPr lvl="1"/>
            <a:r>
              <a:rPr lang="en-US" altLang="zh-TW" dirty="0" smtClean="0"/>
              <a:t>Join two </a:t>
            </a:r>
            <a:r>
              <a:rPr lang="en-US" altLang="zh-TW" dirty="0"/>
              <a:t>neighboring </a:t>
            </a:r>
            <a:r>
              <a:rPr lang="en-US" altLang="zh-TW" dirty="0" smtClean="0"/>
              <a:t>weights or </a:t>
            </a:r>
            <a:r>
              <a:rPr lang="en-US" altLang="zh-TW" dirty="0"/>
              <a:t>split one </a:t>
            </a:r>
            <a:r>
              <a:rPr lang="en-US" altLang="zh-TW" dirty="0" smtClean="0"/>
              <a:t>weights into </a:t>
            </a:r>
            <a:r>
              <a:rPr lang="en-US" altLang="zh-TW" dirty="0"/>
              <a:t>two</a:t>
            </a:r>
            <a:r>
              <a:rPr lang="en-US" altLang="zh-TW" dirty="0" smtClean="0"/>
              <a:t>.</a:t>
            </a:r>
          </a:p>
          <a:p>
            <a:pPr lvl="1"/>
            <a:r>
              <a:rPr lang="en-US" altLang="zh-TW" dirty="0"/>
              <a:t>Each split or </a:t>
            </a:r>
            <a:r>
              <a:rPr lang="en-US" altLang="zh-TW" dirty="0" smtClean="0"/>
              <a:t>join is </a:t>
            </a:r>
            <a:r>
              <a:rPr lang="en-US" altLang="zh-TW" dirty="0"/>
              <a:t>followed by a </a:t>
            </a:r>
            <a:r>
              <a:rPr lang="en-US" altLang="zh-TW" dirty="0" err="1"/>
              <a:t>postprocessing</a:t>
            </a:r>
            <a:r>
              <a:rPr lang="en-US" altLang="zh-TW" dirty="0"/>
              <a:t> requiring </a:t>
            </a:r>
            <a:r>
              <a:rPr lang="en-US" altLang="zh-TW" i="1" dirty="0"/>
              <a:t>b</a:t>
            </a:r>
            <a:r>
              <a:rPr lang="en-US" altLang="zh-TW" dirty="0"/>
              <a:t> steps during which </a:t>
            </a:r>
            <a:r>
              <a:rPr lang="en-US" altLang="zh-TW" dirty="0" smtClean="0"/>
              <a:t>the involved </a:t>
            </a:r>
            <a:r>
              <a:rPr lang="en-US" altLang="zh-TW" dirty="0"/>
              <a:t>weights may not participate in any other split or join. 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When </a:t>
            </a:r>
            <a:r>
              <a:rPr lang="en-US" altLang="zh-TW" dirty="0"/>
              <a:t>it is our turn, </a:t>
            </a:r>
            <a:r>
              <a:rPr lang="en-US" altLang="zh-TW" dirty="0" smtClean="0"/>
              <a:t>we get </a:t>
            </a:r>
            <a:r>
              <a:rPr lang="en-US" altLang="zh-TW" dirty="0"/>
              <a:t>to perform one such step. 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Moreover</a:t>
            </a:r>
            <a:r>
              <a:rPr lang="en-US" altLang="zh-TW" dirty="0"/>
              <a:t>, the step may only be performed locally in </a:t>
            </a:r>
            <a:r>
              <a:rPr lang="en-US" altLang="zh-TW" dirty="0" smtClean="0"/>
              <a:t>the sense </a:t>
            </a:r>
            <a:r>
              <a:rPr lang="en-US" altLang="zh-TW" dirty="0"/>
              <a:t>of being on a </a:t>
            </a:r>
            <a:r>
              <a:rPr lang="en-US" altLang="zh-TW" dirty="0" err="1"/>
              <a:t>postprocessing</a:t>
            </a:r>
            <a:r>
              <a:rPr lang="en-US" altLang="zh-TW" dirty="0"/>
              <a:t> involving the weight last changed by the adversary, or </a:t>
            </a:r>
            <a:r>
              <a:rPr lang="en-US" altLang="zh-TW" dirty="0" smtClean="0"/>
              <a:t>a neighboring </a:t>
            </a:r>
            <a:r>
              <a:rPr lang="en-US" altLang="zh-TW" dirty="0"/>
              <a:t>weight</a:t>
            </a:r>
            <a:r>
              <a:rPr lang="en-US" altLang="zh-TW" dirty="0" smtClean="0"/>
              <a:t>.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Balance Game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pPr/>
              <a:t>38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52196250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24078" indent="-514350">
              <a:buFont typeface="+mj-lt"/>
              <a:buAutoNum type="arabicPeriod"/>
            </a:pPr>
            <a:r>
              <a:rPr lang="en-US" altLang="zh-TW" dirty="0"/>
              <a:t>We say a weight is </a:t>
            </a:r>
            <a:r>
              <a:rPr lang="en-US" altLang="zh-TW" i="1" dirty="0"/>
              <a:t>involved </a:t>
            </a:r>
            <a:r>
              <a:rPr lang="en-US" altLang="zh-TW" dirty="0"/>
              <a:t>if it is involved in a split or </a:t>
            </a:r>
            <a:r>
              <a:rPr lang="en-US" altLang="zh-TW" dirty="0" smtClean="0"/>
              <a:t>sum </a:t>
            </a:r>
            <a:r>
              <a:rPr lang="en-US" altLang="zh-TW" dirty="0" err="1"/>
              <a:t>postprocessing</a:t>
            </a:r>
            <a:r>
              <a:rPr lang="en-US" altLang="zh-TW" dirty="0"/>
              <a:t>; </a:t>
            </a:r>
            <a:r>
              <a:rPr lang="en-US" altLang="zh-TW" dirty="0" smtClean="0"/>
              <a:t>otherwise it </a:t>
            </a:r>
            <a:r>
              <a:rPr lang="en-US" altLang="zh-TW" dirty="0"/>
              <a:t>is </a:t>
            </a:r>
            <a:r>
              <a:rPr lang="en-US" altLang="zh-TW" i="1" dirty="0"/>
              <a:t>free</a:t>
            </a:r>
            <a:r>
              <a:rPr lang="en-US" altLang="zh-TW" dirty="0"/>
              <a:t>.</a:t>
            </a:r>
            <a:endParaRPr lang="en-US" altLang="zh-TW" dirty="0" smtClean="0"/>
          </a:p>
          <a:p>
            <a:pPr marL="624078" indent="-514350">
              <a:buFont typeface="+mj-lt"/>
              <a:buAutoNum type="arabicPeriod"/>
            </a:pPr>
            <a:r>
              <a:rPr lang="en-US" altLang="zh-TW" dirty="0" smtClean="0"/>
              <a:t>If </a:t>
            </a:r>
            <a:r>
              <a:rPr lang="en-US" altLang="zh-TW" dirty="0"/>
              <a:t>a </a:t>
            </a:r>
            <a:r>
              <a:rPr lang="en-US" altLang="zh-TW" dirty="0" smtClean="0"/>
              <a:t>weight gets </a:t>
            </a:r>
            <a:r>
              <a:rPr lang="en-US" altLang="zh-TW" dirty="0"/>
              <a:t>up to </a:t>
            </a:r>
            <a:r>
              <a:rPr lang="en-US" altLang="zh-TW" dirty="0" smtClean="0"/>
              <a:t>58</a:t>
            </a:r>
            <a:r>
              <a:rPr lang="en-US" altLang="zh-TW" i="1" dirty="0" smtClean="0"/>
              <a:t>b</a:t>
            </a:r>
            <a:r>
              <a:rPr lang="en-US" altLang="zh-TW" dirty="0" smtClean="0"/>
              <a:t>, </a:t>
            </a:r>
            <a:r>
              <a:rPr lang="en-US" altLang="zh-TW" dirty="0"/>
              <a:t>we start splitting it</a:t>
            </a:r>
            <a:r>
              <a:rPr lang="en-US" altLang="zh-TW" dirty="0" smtClean="0"/>
              <a:t>.</a:t>
            </a:r>
          </a:p>
          <a:p>
            <a:pPr marL="624078" indent="-514350">
              <a:buFont typeface="+mj-lt"/>
              <a:buAutoNum type="arabicPeriod"/>
            </a:pPr>
            <a:r>
              <a:rPr lang="en-US" altLang="zh-TW" dirty="0"/>
              <a:t>If a </a:t>
            </a:r>
            <a:r>
              <a:rPr lang="en-US" altLang="zh-TW" dirty="0" smtClean="0"/>
              <a:t>weight </a:t>
            </a:r>
            <a:r>
              <a:rPr lang="en-US" altLang="zh-TW" i="1" dirty="0" smtClean="0"/>
              <a:t>v </a:t>
            </a:r>
            <a:r>
              <a:rPr lang="en-US" altLang="zh-TW" dirty="0"/>
              <a:t>gets down to </a:t>
            </a:r>
            <a:r>
              <a:rPr lang="en-US" altLang="zh-TW" dirty="0" smtClean="0"/>
              <a:t>24</a:t>
            </a:r>
            <a:r>
              <a:rPr lang="en-US" altLang="zh-TW" i="1" dirty="0" smtClean="0"/>
              <a:t>b </a:t>
            </a:r>
            <a:r>
              <a:rPr lang="en-US" altLang="zh-TW" dirty="0"/>
              <a:t>and has a free neighbor </a:t>
            </a:r>
            <a:r>
              <a:rPr lang="en-US" altLang="zh-TW" i="1" dirty="0"/>
              <a:t>w</a:t>
            </a:r>
            <a:r>
              <a:rPr lang="en-US" altLang="zh-TW" dirty="0"/>
              <a:t>, we join </a:t>
            </a:r>
            <a:r>
              <a:rPr lang="en-US" altLang="zh-TW" i="1" dirty="0"/>
              <a:t>v </a:t>
            </a:r>
            <a:r>
              <a:rPr lang="en-US" altLang="zh-TW" dirty="0"/>
              <a:t>and </a:t>
            </a:r>
            <a:r>
              <a:rPr lang="en-US" altLang="zh-TW" i="1" dirty="0"/>
              <a:t>w</a:t>
            </a:r>
            <a:r>
              <a:rPr lang="en-US" altLang="zh-TW" dirty="0"/>
              <a:t>, </a:t>
            </a:r>
            <a:r>
              <a:rPr lang="en-US" altLang="zh-TW" dirty="0" smtClean="0"/>
              <a:t>untying </a:t>
            </a:r>
            <a:r>
              <a:rPr lang="en-US" altLang="zh-TW" i="1" dirty="0" smtClean="0"/>
              <a:t>w </a:t>
            </a:r>
            <a:r>
              <a:rPr lang="en-US" altLang="zh-TW" dirty="0"/>
              <a:t>from any other neighbor.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Let the Magic Start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pPr/>
              <a:t>39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502558282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624078" indent="-514350">
              <a:buFont typeface="+mj-lt"/>
              <a:buAutoNum type="arabicPeriod" startAt="5"/>
            </a:pPr>
            <a:r>
              <a:rPr lang="en-US" altLang="zh-TW" dirty="0"/>
              <a:t>If a free weight </a:t>
            </a:r>
            <a:r>
              <a:rPr lang="en-US" altLang="zh-TW" i="1" dirty="0"/>
              <a:t>v </a:t>
            </a:r>
            <a:r>
              <a:rPr lang="en-US" altLang="zh-TW" dirty="0"/>
              <a:t>gets down to </a:t>
            </a:r>
            <a:r>
              <a:rPr lang="en-US" altLang="zh-TW" dirty="0" smtClean="0"/>
              <a:t>24</a:t>
            </a:r>
            <a:r>
              <a:rPr lang="en-US" altLang="zh-TW" i="1" dirty="0" smtClean="0"/>
              <a:t>b </a:t>
            </a:r>
            <a:r>
              <a:rPr lang="en-US" altLang="zh-TW" dirty="0"/>
              <a:t>and has no free neighbors, we tie it to any one </a:t>
            </a:r>
            <a:r>
              <a:rPr lang="en-US" altLang="zh-TW" dirty="0" smtClean="0"/>
              <a:t>of its </a:t>
            </a:r>
            <a:r>
              <a:rPr lang="en-US" altLang="zh-TW" dirty="0"/>
              <a:t>neighbors. If </a:t>
            </a:r>
            <a:r>
              <a:rPr lang="en-US" altLang="zh-TW" i="1" dirty="0"/>
              <a:t>v </a:t>
            </a:r>
            <a:r>
              <a:rPr lang="en-US" altLang="zh-TW" dirty="0"/>
              <a:t>later gets back up above </a:t>
            </a:r>
            <a:r>
              <a:rPr lang="en-US" altLang="zh-TW" dirty="0" smtClean="0"/>
              <a:t>24</a:t>
            </a:r>
            <a:r>
              <a:rPr lang="en-US" altLang="zh-TW" i="1" dirty="0" smtClean="0"/>
              <a:t>b</a:t>
            </a:r>
            <a:r>
              <a:rPr lang="en-US" altLang="zh-TW" dirty="0"/>
              <a:t>, it is untied again</a:t>
            </a:r>
            <a:r>
              <a:rPr lang="en-US" altLang="zh-TW" dirty="0" smtClean="0"/>
              <a:t>.</a:t>
            </a:r>
          </a:p>
          <a:p>
            <a:pPr marL="624078" indent="-514350">
              <a:buFont typeface="+mj-lt"/>
              <a:buAutoNum type="arabicPeriod" startAt="5"/>
            </a:pPr>
            <a:r>
              <a:rPr lang="en-US" altLang="zh-TW" dirty="0"/>
              <a:t>When we finish a join </a:t>
            </a:r>
            <a:r>
              <a:rPr lang="en-US" altLang="zh-TW" dirty="0" err="1" smtClean="0"/>
              <a:t>postprocessing</a:t>
            </a:r>
            <a:endParaRPr lang="en-US" altLang="zh-TW" dirty="0" smtClean="0"/>
          </a:p>
          <a:p>
            <a:pPr marL="880110" lvl="1" indent="-514350"/>
            <a:r>
              <a:rPr lang="en-US" altLang="zh-TW" dirty="0" smtClean="0"/>
              <a:t>if </a:t>
            </a:r>
            <a:r>
              <a:rPr lang="en-US" altLang="zh-TW" dirty="0"/>
              <a:t>the resulting weight is ≥</a:t>
            </a:r>
            <a:r>
              <a:rPr lang="en-US" altLang="zh-TW" i="1" dirty="0"/>
              <a:t> </a:t>
            </a:r>
            <a:r>
              <a:rPr lang="en-US" altLang="zh-TW" dirty="0"/>
              <a:t>58</a:t>
            </a:r>
            <a:r>
              <a:rPr lang="en-US" altLang="zh-TW" i="1" dirty="0" smtClean="0"/>
              <a:t>b</a:t>
            </a:r>
            <a:r>
              <a:rPr lang="en-US" altLang="zh-TW" dirty="0"/>
              <a:t>, we </a:t>
            </a:r>
            <a:r>
              <a:rPr lang="en-US" altLang="zh-TW" dirty="0" smtClean="0"/>
              <a:t>immediately start </a:t>
            </a:r>
            <a:r>
              <a:rPr lang="en-US" altLang="zh-TW" dirty="0"/>
              <a:t>splitting it. </a:t>
            </a:r>
            <a:r>
              <a:rPr lang="en-US" altLang="zh-TW" dirty="0" smtClean="0"/>
              <a:t>If </a:t>
            </a:r>
            <a:r>
              <a:rPr lang="en-US" altLang="zh-TW" dirty="0"/>
              <a:t>a neighbor was tied to the joined weight, the tie is transferred </a:t>
            </a:r>
            <a:r>
              <a:rPr lang="en-US" altLang="zh-TW" dirty="0" smtClean="0"/>
              <a:t>to the </a:t>
            </a:r>
            <a:r>
              <a:rPr lang="en-US" altLang="zh-TW" dirty="0"/>
              <a:t>nearest weight resulting from the </a:t>
            </a:r>
            <a:r>
              <a:rPr lang="en-US" altLang="zh-TW" dirty="0" smtClean="0"/>
              <a:t>split.</a:t>
            </a:r>
          </a:p>
          <a:p>
            <a:pPr marL="880110" lvl="1" indent="-514350"/>
            <a:r>
              <a:rPr lang="en-US" altLang="zh-TW" dirty="0" smtClean="0"/>
              <a:t>If </a:t>
            </a:r>
            <a:r>
              <a:rPr lang="en-US" altLang="zh-TW" dirty="0"/>
              <a:t>the weight v resulting from the join is </a:t>
            </a:r>
            <a:r>
              <a:rPr lang="en-US" altLang="zh-TW" i="1" dirty="0"/>
              <a:t>&lt; </a:t>
            </a:r>
            <a:r>
              <a:rPr lang="en-US" altLang="zh-TW" dirty="0"/>
              <a:t>58</a:t>
            </a:r>
            <a:r>
              <a:rPr lang="en-US" altLang="zh-TW" i="1" dirty="0"/>
              <a:t>b</a:t>
            </a:r>
            <a:r>
              <a:rPr lang="en-US" altLang="zh-TW" dirty="0" smtClean="0"/>
              <a:t> </a:t>
            </a:r>
            <a:r>
              <a:rPr lang="en-US" altLang="zh-TW" dirty="0"/>
              <a:t>and </a:t>
            </a:r>
            <a:r>
              <a:rPr lang="en-US" altLang="zh-TW" i="1" dirty="0"/>
              <a:t>v</a:t>
            </a:r>
            <a:r>
              <a:rPr lang="en-US" altLang="zh-TW" dirty="0"/>
              <a:t> is tied by a neighbor, we join </a:t>
            </a:r>
            <a:r>
              <a:rPr lang="en-US" altLang="zh-TW" dirty="0" smtClean="0"/>
              <a:t>with the </a:t>
            </a:r>
            <a:r>
              <a:rPr lang="en-US" altLang="zh-TW" dirty="0"/>
              <a:t>neighbor that tied </a:t>
            </a:r>
            <a:r>
              <a:rPr lang="en-US" altLang="zh-TW" i="1" dirty="0"/>
              <a:t>v</a:t>
            </a:r>
            <a:r>
              <a:rPr lang="en-US" altLang="zh-TW" dirty="0"/>
              <a:t> first</a:t>
            </a:r>
            <a:r>
              <a:rPr lang="en-US" altLang="zh-TW" dirty="0" smtClean="0"/>
              <a:t>.</a:t>
            </a:r>
            <a:endParaRPr lang="en-US" altLang="zh-TW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pPr/>
              <a:t>40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9964937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24078" indent="-514350">
              <a:buFont typeface="+mj-lt"/>
              <a:buAutoNum type="arabicPeriod" startAt="8"/>
            </a:pPr>
            <a:r>
              <a:rPr lang="en-US" altLang="zh-TW" dirty="0"/>
              <a:t>At the end of a split </a:t>
            </a:r>
            <a:r>
              <a:rPr lang="en-US" altLang="zh-TW" dirty="0" err="1"/>
              <a:t>postprocessing</a:t>
            </a:r>
            <a:r>
              <a:rPr lang="en-US" altLang="zh-TW" dirty="0"/>
              <a:t>, if any of the resulting weights are tied by </a:t>
            </a:r>
            <a:r>
              <a:rPr lang="en-US" altLang="zh-TW" dirty="0" smtClean="0"/>
              <a:t>a neighbor</a:t>
            </a:r>
            <a:r>
              <a:rPr lang="en-US" altLang="zh-TW" dirty="0"/>
              <a:t>, it joins with that neighbor. Note here that since resulting weights are </a:t>
            </a:r>
            <a:r>
              <a:rPr lang="en-US" altLang="zh-TW" dirty="0" smtClean="0"/>
              <a:t>not tied </a:t>
            </a:r>
            <a:r>
              <a:rPr lang="en-US" altLang="zh-TW" dirty="0"/>
              <a:t>to each other, there cannot be a conflict.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pPr/>
              <a:t>41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360894824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dirty="0"/>
              <a:t>Each free weight is between 21</a:t>
            </a:r>
            <a:r>
              <a:rPr lang="en-US" altLang="zh-TW" i="1" dirty="0"/>
              <a:t>b</a:t>
            </a:r>
            <a:r>
              <a:rPr lang="en-US" altLang="zh-TW" dirty="0"/>
              <a:t> and 58</a:t>
            </a:r>
            <a:r>
              <a:rPr lang="en-US" altLang="zh-TW" i="1" dirty="0"/>
              <a:t>b</a:t>
            </a:r>
            <a:r>
              <a:rPr lang="en-US" altLang="zh-TW" dirty="0"/>
              <a:t>.</a:t>
            </a:r>
            <a:endParaRPr lang="zh-TW" altLang="zh-TW" dirty="0"/>
          </a:p>
          <a:p>
            <a:pPr lvl="0"/>
            <a:r>
              <a:rPr lang="en-US" altLang="zh-TW" dirty="0"/>
              <a:t>The weight in a join </a:t>
            </a:r>
            <a:r>
              <a:rPr lang="en-US" altLang="zh-TW" dirty="0" err="1"/>
              <a:t>postprocessing</a:t>
            </a:r>
            <a:r>
              <a:rPr lang="en-US" altLang="zh-TW" dirty="0"/>
              <a:t> is between </a:t>
            </a:r>
            <a:r>
              <a:rPr lang="en-US" altLang="zh-TW" dirty="0" smtClean="0"/>
              <a:t>44</a:t>
            </a:r>
            <a:r>
              <a:rPr lang="en-US" altLang="zh-TW" i="1" dirty="0" smtClean="0"/>
              <a:t>b</a:t>
            </a:r>
            <a:r>
              <a:rPr lang="en-US" altLang="zh-TW" dirty="0" smtClean="0"/>
              <a:t> </a:t>
            </a:r>
            <a:r>
              <a:rPr lang="en-US" altLang="zh-TW" dirty="0"/>
              <a:t>and 83</a:t>
            </a:r>
            <a:r>
              <a:rPr lang="en-US" altLang="zh-TW" i="1" dirty="0"/>
              <a:t>b</a:t>
            </a:r>
            <a:endParaRPr lang="zh-TW" altLang="zh-TW" i="1" dirty="0"/>
          </a:p>
          <a:p>
            <a:pPr lvl="0"/>
            <a:r>
              <a:rPr lang="en-US" altLang="zh-TW" dirty="0"/>
              <a:t>In a split </a:t>
            </a:r>
            <a:r>
              <a:rPr lang="en-US" altLang="zh-TW" dirty="0" err="1"/>
              <a:t>postprocessing</a:t>
            </a:r>
            <a:r>
              <a:rPr lang="en-US" altLang="zh-TW" dirty="0"/>
              <a:t>, the total weight is at most 84</a:t>
            </a:r>
            <a:r>
              <a:rPr lang="en-US" altLang="zh-TW" i="1" dirty="0"/>
              <a:t>b</a:t>
            </a:r>
            <a:r>
              <a:rPr lang="en-US" altLang="zh-TW" dirty="0"/>
              <a:t> and the split weights are between 24.5</a:t>
            </a:r>
            <a:r>
              <a:rPr lang="en-US" altLang="zh-TW" i="1" dirty="0"/>
              <a:t>b</a:t>
            </a:r>
            <a:r>
              <a:rPr lang="en-US" altLang="zh-TW" dirty="0"/>
              <a:t> &gt; 24</a:t>
            </a:r>
            <a:r>
              <a:rPr lang="en-US" altLang="zh-TW" i="1" dirty="0"/>
              <a:t>b</a:t>
            </a:r>
            <a:r>
              <a:rPr lang="en-US" altLang="zh-TW" dirty="0"/>
              <a:t> and 46b &lt; 58</a:t>
            </a:r>
            <a:r>
              <a:rPr lang="en-US" altLang="zh-TW" i="1" dirty="0"/>
              <a:t>b</a:t>
            </a:r>
            <a:r>
              <a:rPr lang="en-US" altLang="zh-TW" dirty="0"/>
              <a:t>.</a:t>
            </a:r>
            <a:endParaRPr lang="zh-TW" altLang="zh-TW" dirty="0"/>
          </a:p>
          <a:p>
            <a:pPr lvl="0"/>
            <a:r>
              <a:rPr lang="en-US" altLang="zh-TW" dirty="0"/>
              <a:t>maximum </a:t>
            </a:r>
            <a:r>
              <a:rPr lang="en-US" altLang="zh-TW" dirty="0" err="1"/>
              <a:t>uncuttable</a:t>
            </a:r>
            <a:r>
              <a:rPr lang="en-US" altLang="zh-TW" dirty="0"/>
              <a:t> segment is of size at most 132</a:t>
            </a:r>
            <a:r>
              <a:rPr lang="en-US" altLang="zh-TW" i="1" dirty="0"/>
              <a:t>b</a:t>
            </a:r>
            <a:r>
              <a:rPr lang="en-US" altLang="zh-TW" dirty="0" smtClean="0"/>
              <a:t>.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0" dirty="0"/>
              <a:t>Lemma 16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pPr/>
              <a:t>42</a:t>
            </a:fld>
            <a:endParaRPr lang="zh-TW" altLang="en-US"/>
          </a:p>
        </p:txBody>
      </p:sp>
      <p:sp>
        <p:nvSpPr>
          <p:cNvPr id="5" name="文字方塊 4"/>
          <p:cNvSpPr txBox="1"/>
          <p:nvPr/>
        </p:nvSpPr>
        <p:spPr>
          <a:xfrm>
            <a:off x="5076056" y="5949280"/>
            <a:ext cx="20874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21, 24, 58, 84, 7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3500932800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/>
              <a:t>For each level </a:t>
            </a:r>
            <a:r>
              <a:rPr lang="en-US" altLang="zh-TW" i="1" dirty="0" err="1"/>
              <a:t>i</a:t>
            </a:r>
            <a:r>
              <a:rPr lang="en-US" altLang="zh-TW" i="1" dirty="0"/>
              <a:t> &lt; h</a:t>
            </a:r>
            <a:r>
              <a:rPr lang="en-US" altLang="zh-TW" dirty="0" smtClean="0"/>
              <a:t>, </a:t>
            </a:r>
            <a:r>
              <a:rPr lang="en-US" altLang="zh-TW" i="1" dirty="0"/>
              <a:t>b</a:t>
            </a:r>
            <a:r>
              <a:rPr lang="en-US" altLang="zh-TW" i="1" baseline="-25000" dirty="0"/>
              <a:t>i</a:t>
            </a:r>
            <a:r>
              <a:rPr lang="en-US" altLang="zh-TW" i="1" dirty="0"/>
              <a:t> </a:t>
            </a:r>
            <a:r>
              <a:rPr lang="en-US" altLang="zh-TW" dirty="0"/>
              <a:t>= </a:t>
            </a:r>
            <a:r>
              <a:rPr lang="en-US" altLang="zh-TW" i="1" dirty="0" err="1" smtClean="0"/>
              <a:t>n</a:t>
            </a:r>
            <a:r>
              <a:rPr lang="en-US" altLang="zh-TW" i="1" baseline="-25000" dirty="0" err="1" smtClean="0"/>
              <a:t>i</a:t>
            </a:r>
            <a:r>
              <a:rPr lang="en-US" altLang="zh-TW" i="1" dirty="0" smtClean="0"/>
              <a:t>/</a:t>
            </a:r>
            <a:r>
              <a:rPr lang="en-US" altLang="zh-TW" dirty="0" smtClean="0"/>
              <a:t>84 so </a:t>
            </a:r>
            <a:r>
              <a:rPr lang="en-US" altLang="zh-TW" dirty="0"/>
              <a:t>21</a:t>
            </a:r>
            <a:r>
              <a:rPr lang="en-US" altLang="zh-TW" i="1" dirty="0"/>
              <a:t>b</a:t>
            </a:r>
            <a:r>
              <a:rPr lang="en-US" altLang="zh-TW" i="1" baseline="-25000" dirty="0"/>
              <a:t>i</a:t>
            </a:r>
            <a:r>
              <a:rPr lang="en-US" altLang="zh-TW" i="1" dirty="0"/>
              <a:t> </a:t>
            </a:r>
            <a:r>
              <a:rPr lang="en-US" altLang="zh-TW" dirty="0"/>
              <a:t>= </a:t>
            </a:r>
            <a:r>
              <a:rPr lang="en-US" altLang="zh-TW" i="1" dirty="0" err="1"/>
              <a:t>n</a:t>
            </a:r>
            <a:r>
              <a:rPr lang="en-US" altLang="zh-TW" i="1" baseline="-25000" dirty="0" err="1"/>
              <a:t>i</a:t>
            </a:r>
            <a:r>
              <a:rPr lang="en-US" altLang="zh-TW" i="1" dirty="0"/>
              <a:t>/</a:t>
            </a:r>
            <a:r>
              <a:rPr lang="en-US" altLang="zh-TW" dirty="0"/>
              <a:t>4 and 84</a:t>
            </a:r>
            <a:r>
              <a:rPr lang="en-US" altLang="zh-TW" i="1" dirty="0"/>
              <a:t>b</a:t>
            </a:r>
            <a:r>
              <a:rPr lang="en-US" altLang="zh-TW" i="1" baseline="-25000" dirty="0"/>
              <a:t>i</a:t>
            </a:r>
            <a:r>
              <a:rPr lang="en-US" altLang="zh-TW" i="1" dirty="0"/>
              <a:t> </a:t>
            </a:r>
            <a:r>
              <a:rPr lang="en-US" altLang="zh-TW" dirty="0"/>
              <a:t>= </a:t>
            </a:r>
            <a:r>
              <a:rPr lang="en-US" altLang="zh-TW" i="1" dirty="0" err="1" smtClean="0"/>
              <a:t>n</a:t>
            </a:r>
            <a:r>
              <a:rPr lang="en-US" altLang="zh-TW" i="1" baseline="-25000" dirty="0" err="1" smtClean="0"/>
              <a:t>i</a:t>
            </a:r>
            <a:endParaRPr lang="en-US" altLang="zh-TW" i="1" baseline="-25000" dirty="0" smtClean="0"/>
          </a:p>
          <a:p>
            <a:r>
              <a:rPr lang="en-US" altLang="zh-TW" dirty="0"/>
              <a:t>W</a:t>
            </a:r>
            <a:r>
              <a:rPr lang="en-US" altLang="zh-TW" dirty="0" smtClean="0"/>
              <a:t>e </a:t>
            </a:r>
            <a:r>
              <a:rPr lang="en-US" altLang="zh-TW" dirty="0"/>
              <a:t>can cut the list on level </a:t>
            </a:r>
            <a:r>
              <a:rPr lang="en-US" altLang="zh-TW" i="1" dirty="0" err="1"/>
              <a:t>i</a:t>
            </a:r>
            <a:r>
              <a:rPr lang="en-US" altLang="zh-TW" i="1" dirty="0"/>
              <a:t> </a:t>
            </a:r>
            <a:r>
              <a:rPr lang="en-US" altLang="zh-TW" dirty="0"/>
              <a:t>with a difference of 132</a:t>
            </a:r>
            <a:r>
              <a:rPr lang="en-US" altLang="zh-TW" i="1" dirty="0"/>
              <a:t>b</a:t>
            </a:r>
            <a:r>
              <a:rPr lang="en-US" altLang="zh-TW" i="1" baseline="-25000" dirty="0"/>
              <a:t>i−</a:t>
            </a:r>
            <a:r>
              <a:rPr lang="en-US" altLang="zh-TW" baseline="-25000" dirty="0"/>
              <a:t>1</a:t>
            </a:r>
            <a:r>
              <a:rPr lang="en-US" altLang="zh-TW" dirty="0"/>
              <a:t>. </a:t>
            </a:r>
            <a:r>
              <a:rPr lang="en-US" altLang="zh-TW" dirty="0" smtClean="0"/>
              <a:t>However, </a:t>
            </a:r>
            <a:r>
              <a:rPr lang="it-IT" altLang="zh-TW" i="1" dirty="0" smtClean="0"/>
              <a:t>b</a:t>
            </a:r>
            <a:r>
              <a:rPr lang="it-IT" altLang="zh-TW" i="1" baseline="-25000" dirty="0" smtClean="0"/>
              <a:t>i</a:t>
            </a:r>
            <a:r>
              <a:rPr lang="it-IT" altLang="zh-TW" i="1" dirty="0" smtClean="0"/>
              <a:t> </a:t>
            </a:r>
            <a:r>
              <a:rPr lang="en-US" altLang="zh-TW" dirty="0"/>
              <a:t>≥</a:t>
            </a:r>
            <a:r>
              <a:rPr lang="it-IT" altLang="zh-TW" i="1" dirty="0" smtClean="0"/>
              <a:t> </a:t>
            </a:r>
            <a:r>
              <a:rPr lang="it-IT" altLang="zh-TW" dirty="0"/>
              <a:t>19</a:t>
            </a:r>
            <a:r>
              <a:rPr lang="it-IT" altLang="zh-TW" i="1" dirty="0"/>
              <a:t>b</a:t>
            </a:r>
            <a:r>
              <a:rPr lang="it-IT" altLang="zh-TW" i="1" baseline="-25000" dirty="0"/>
              <a:t>i−</a:t>
            </a:r>
            <a:r>
              <a:rPr lang="it-IT" altLang="zh-TW" baseline="-25000" dirty="0"/>
              <a:t>1</a:t>
            </a:r>
            <a:r>
              <a:rPr lang="it-IT" altLang="zh-TW" dirty="0"/>
              <a:t>, so 132</a:t>
            </a:r>
            <a:r>
              <a:rPr lang="it-IT" altLang="zh-TW" i="1" dirty="0"/>
              <a:t>b</a:t>
            </a:r>
            <a:r>
              <a:rPr lang="it-IT" altLang="zh-TW" i="1" baseline="-25000" dirty="0"/>
              <a:t>i−</a:t>
            </a:r>
            <a:r>
              <a:rPr lang="it-IT" altLang="zh-TW" baseline="-25000" dirty="0"/>
              <a:t>1</a:t>
            </a:r>
            <a:r>
              <a:rPr lang="it-IT" altLang="zh-TW" dirty="0"/>
              <a:t> </a:t>
            </a:r>
            <a:r>
              <a:rPr lang="en-US" altLang="zh-TW" dirty="0"/>
              <a:t>&lt; </a:t>
            </a:r>
            <a:r>
              <a:rPr lang="it-IT" altLang="zh-TW" dirty="0" smtClean="0"/>
              <a:t>7</a:t>
            </a:r>
            <a:r>
              <a:rPr lang="it-IT" altLang="zh-TW" i="1" dirty="0" smtClean="0"/>
              <a:t>b</a:t>
            </a:r>
            <a:r>
              <a:rPr lang="it-IT" altLang="zh-TW" i="1" baseline="-25000" dirty="0" smtClean="0"/>
              <a:t>i</a:t>
            </a:r>
            <a:endParaRPr lang="en-US" altLang="zh-TW" baseline="-25000" dirty="0" smtClean="0"/>
          </a:p>
          <a:p>
            <a:r>
              <a:rPr lang="en-US" altLang="zh-TW" dirty="0"/>
              <a:t>T</a:t>
            </a:r>
            <a:r>
              <a:rPr lang="en-US" altLang="zh-TW" dirty="0" smtClean="0"/>
              <a:t>hree </a:t>
            </a:r>
            <a:r>
              <a:rPr lang="en-US" altLang="zh-TW" dirty="0"/>
              <a:t>unresolved problems remain:</a:t>
            </a:r>
          </a:p>
          <a:p>
            <a:pPr lvl="1"/>
            <a:r>
              <a:rPr lang="en-US" altLang="zh-TW" dirty="0" smtClean="0"/>
              <a:t>To </a:t>
            </a:r>
            <a:r>
              <a:rPr lang="en-US" altLang="zh-TW" dirty="0"/>
              <a:t>implement splits in constant time, how do we find a good place to cut the </a:t>
            </a:r>
            <a:r>
              <a:rPr lang="en-US" altLang="zh-TW" dirty="0" smtClean="0"/>
              <a:t>children list</a:t>
            </a:r>
            <a:r>
              <a:rPr lang="en-US" altLang="zh-TW" dirty="0"/>
              <a:t>?</a:t>
            </a:r>
          </a:p>
          <a:p>
            <a:pPr lvl="1"/>
            <a:r>
              <a:rPr lang="en-US" altLang="zh-TW" dirty="0" smtClean="0"/>
              <a:t>How </a:t>
            </a:r>
            <a:r>
              <a:rPr lang="en-US" altLang="zh-TW" dirty="0"/>
              <a:t>does the protocol apply as the height of the tree changes?</a:t>
            </a:r>
          </a:p>
          <a:p>
            <a:pPr lvl="1"/>
            <a:r>
              <a:rPr lang="en-US" altLang="zh-TW" dirty="0" smtClean="0"/>
              <a:t>How </a:t>
            </a:r>
            <a:r>
              <a:rPr lang="en-US" altLang="zh-TW" dirty="0"/>
              <a:t>do we actually find the nodes on the path from the leaf </a:t>
            </a:r>
            <a:r>
              <a:rPr lang="en-US" altLang="zh-TW" i="1" dirty="0"/>
              <a:t>v </a:t>
            </a:r>
            <a:r>
              <a:rPr lang="en-US" altLang="zh-TW" dirty="0"/>
              <a:t>to the root?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0" dirty="0"/>
              <a:t>Applying the </a:t>
            </a:r>
            <a:r>
              <a:rPr lang="en-US" altLang="zh-TW" b="0" dirty="0" smtClean="0"/>
              <a:t>Protocol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pPr/>
              <a:t>43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675506394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dirty="0"/>
              <a:t>For each node </a:t>
            </a:r>
            <a:r>
              <a:rPr lang="en-US" altLang="zh-TW" i="1" dirty="0"/>
              <a:t>v </a:t>
            </a:r>
            <a:r>
              <a:rPr lang="en-US" altLang="zh-TW" dirty="0"/>
              <a:t>on level </a:t>
            </a:r>
            <a:r>
              <a:rPr lang="en-US" altLang="zh-TW" i="1" dirty="0" err="1"/>
              <a:t>i</a:t>
            </a:r>
            <a:r>
              <a:rPr lang="en-US" altLang="zh-TW" dirty="0"/>
              <a:t>, our goal is to maintain a </a:t>
            </a:r>
            <a:r>
              <a:rPr lang="en-US" altLang="zh-TW" dirty="0" smtClean="0"/>
              <a:t>good cut </a:t>
            </a:r>
            <a:r>
              <a:rPr lang="en-US" altLang="zh-TW" dirty="0"/>
              <a:t>child in the sense that </a:t>
            </a:r>
            <a:r>
              <a:rPr lang="en-US" altLang="zh-TW" dirty="0">
                <a:solidFill>
                  <a:srgbClr val="FF0000"/>
                </a:solidFill>
              </a:rPr>
              <a:t>when cutting at that child, the lists will not differ by more </a:t>
            </a:r>
            <a:r>
              <a:rPr lang="en-US" altLang="zh-TW" dirty="0" smtClean="0">
                <a:solidFill>
                  <a:srgbClr val="FF0000"/>
                </a:solidFill>
              </a:rPr>
              <a:t>than </a:t>
            </a:r>
            <a:r>
              <a:rPr lang="en-US" altLang="zh-TW" dirty="0" smtClean="0">
                <a:solidFill>
                  <a:srgbClr val="FF0000"/>
                </a:solidFill>
                <a:latin typeface="Times New Roman"/>
                <a:cs typeface="Times New Roman"/>
              </a:rPr>
              <a:t>7</a:t>
            </a:r>
            <a:r>
              <a:rPr lang="en-US" altLang="zh-TW" i="1" dirty="0" smtClean="0">
                <a:solidFill>
                  <a:srgbClr val="FF0000"/>
                </a:solidFill>
              </a:rPr>
              <a:t>b</a:t>
            </a:r>
            <a:r>
              <a:rPr lang="en-US" altLang="zh-TW" i="1" baseline="-25000" dirty="0" smtClean="0">
                <a:solidFill>
                  <a:srgbClr val="FF0000"/>
                </a:solidFill>
              </a:rPr>
              <a:t>i</a:t>
            </a:r>
            <a:r>
              <a:rPr lang="en-US" altLang="zh-TW" dirty="0"/>
              <a:t>.</a:t>
            </a:r>
            <a:endParaRPr lang="en-US" altLang="zh-TW" dirty="0" smtClean="0"/>
          </a:p>
          <a:p>
            <a:r>
              <a:rPr lang="en-US" altLang="zh-TW" dirty="0" smtClean="0"/>
              <a:t>We </a:t>
            </a:r>
            <a:r>
              <a:rPr lang="en-US" altLang="zh-TW" dirty="0"/>
              <a:t>will always maintain the </a:t>
            </a:r>
            <a:r>
              <a:rPr lang="en-US" altLang="zh-TW" dirty="0">
                <a:solidFill>
                  <a:srgbClr val="FF0000"/>
                </a:solidFill>
              </a:rPr>
              <a:t>sum of the weights of the children preceding the cut </a:t>
            </a:r>
            <a:r>
              <a:rPr lang="en-US" altLang="zh-TW" dirty="0" smtClean="0">
                <a:solidFill>
                  <a:srgbClr val="FF0000"/>
                </a:solidFill>
              </a:rPr>
              <a:t>child</a:t>
            </a:r>
            <a:r>
              <a:rPr lang="en-US" altLang="zh-TW" dirty="0" smtClean="0"/>
              <a:t>, and </a:t>
            </a:r>
            <a:r>
              <a:rPr lang="en-US" altLang="zh-TW" dirty="0">
                <a:solidFill>
                  <a:srgbClr val="FF0000"/>
                </a:solidFill>
              </a:rPr>
              <a:t>comparing</a:t>
            </a:r>
            <a:r>
              <a:rPr lang="en-US" altLang="zh-TW" dirty="0"/>
              <a:t> that </a:t>
            </a:r>
            <a:r>
              <a:rPr lang="en-US" altLang="zh-TW" dirty="0">
                <a:solidFill>
                  <a:srgbClr val="FF0000"/>
                </a:solidFill>
              </a:rPr>
              <a:t>with the weight of </a:t>
            </a:r>
            <a:r>
              <a:rPr lang="en-US" altLang="zh-TW" i="1" dirty="0">
                <a:solidFill>
                  <a:srgbClr val="FF0000"/>
                </a:solidFill>
              </a:rPr>
              <a:t>v</a:t>
            </a:r>
            <a:r>
              <a:rPr lang="en-US" altLang="zh-TW" i="1" dirty="0"/>
              <a:t> </a:t>
            </a:r>
            <a:r>
              <a:rPr lang="en-US" altLang="zh-TW" dirty="0"/>
              <a:t>tells us if it is at good balance</a:t>
            </a:r>
            <a:r>
              <a:rPr lang="en-US" altLang="zh-TW" dirty="0" smtClean="0"/>
              <a:t>.</a:t>
            </a:r>
          </a:p>
          <a:p>
            <a:r>
              <a:rPr lang="en-US" altLang="zh-TW" dirty="0" smtClean="0"/>
              <a:t>Move accordingly, a </a:t>
            </a:r>
            <a:r>
              <a:rPr lang="en-US" altLang="zh-TW" dirty="0"/>
              <a:t>possible cut is always </a:t>
            </a:r>
            <a:r>
              <a:rPr lang="en-US" altLang="zh-TW" dirty="0" smtClean="0"/>
              <a:t>at most </a:t>
            </a:r>
            <a:r>
              <a:rPr lang="en-US" altLang="zh-TW" dirty="0"/>
              <a:t>4 children </a:t>
            </a:r>
            <a:r>
              <a:rPr lang="en-US" altLang="zh-TW" dirty="0" smtClean="0"/>
              <a:t>away.</a:t>
            </a:r>
          </a:p>
          <a:p>
            <a:r>
              <a:rPr lang="en-US" altLang="zh-TW" dirty="0"/>
              <a:t>I</a:t>
            </a:r>
            <a:r>
              <a:rPr lang="en-US" altLang="zh-TW" dirty="0" smtClean="0"/>
              <a:t>f </a:t>
            </a:r>
            <a:r>
              <a:rPr lang="en-US" altLang="zh-TW" dirty="0"/>
              <a:t>the cut </a:t>
            </a:r>
            <a:r>
              <a:rPr lang="en-US" altLang="zh-TW" dirty="0" smtClean="0"/>
              <a:t>child stops </a:t>
            </a:r>
            <a:r>
              <a:rPr lang="en-US" altLang="zh-TW" dirty="0"/>
              <a:t>being </a:t>
            </a:r>
            <a:r>
              <a:rPr lang="en-US" altLang="zh-TW" dirty="0" err="1"/>
              <a:t>cutable</a:t>
            </a:r>
            <a:r>
              <a:rPr lang="en-US" altLang="zh-TW" dirty="0"/>
              <a:t>, we move in the direction that gives us the best balance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Cut Child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pPr/>
              <a:t>44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153223152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TW" dirty="0"/>
              <a:t>When a new list is created by a join or a split, we need to find a new good cut </a:t>
            </a:r>
            <a:r>
              <a:rPr lang="en-US" altLang="zh-TW" dirty="0" smtClean="0"/>
              <a:t>child.</a:t>
            </a:r>
          </a:p>
          <a:p>
            <a:r>
              <a:rPr lang="en-US" altLang="zh-TW" dirty="0"/>
              <a:t>W</a:t>
            </a:r>
            <a:r>
              <a:rPr lang="en-US" altLang="zh-TW" dirty="0" smtClean="0"/>
              <a:t>e </a:t>
            </a:r>
            <a:r>
              <a:rPr lang="en-US" altLang="zh-TW" dirty="0"/>
              <a:t>have at least </a:t>
            </a:r>
            <a:r>
              <a:rPr lang="en-US" altLang="zh-TW" i="1" dirty="0" smtClean="0"/>
              <a:t>b</a:t>
            </a:r>
            <a:r>
              <a:rPr lang="en-US" altLang="zh-TW" i="1" baseline="-25000" dirty="0" smtClean="0"/>
              <a:t>i</a:t>
            </a:r>
            <a:r>
              <a:rPr lang="en-US" altLang="zh-TW" i="1" dirty="0"/>
              <a:t> </a:t>
            </a:r>
            <a:r>
              <a:rPr lang="en-US" altLang="zh-TW" dirty="0" smtClean="0"/>
              <a:t>=</a:t>
            </a:r>
            <a:r>
              <a:rPr lang="en-US" altLang="zh-TW" i="1" dirty="0" err="1" smtClean="0">
                <a:solidFill>
                  <a:srgbClr val="FF0000"/>
                </a:solidFill>
              </a:rPr>
              <a:t>n</a:t>
            </a:r>
            <a:r>
              <a:rPr lang="en-US" altLang="zh-TW" i="1" baseline="-25000" dirty="0" err="1" smtClean="0">
                <a:solidFill>
                  <a:srgbClr val="FF0000"/>
                </a:solidFill>
              </a:rPr>
              <a:t>i</a:t>
            </a:r>
            <a:r>
              <a:rPr lang="en-US" altLang="zh-TW" i="1" dirty="0" smtClean="0">
                <a:solidFill>
                  <a:srgbClr val="FF0000"/>
                </a:solidFill>
              </a:rPr>
              <a:t>/</a:t>
            </a:r>
            <a:r>
              <a:rPr lang="en-US" altLang="zh-TW" dirty="0" smtClean="0">
                <a:solidFill>
                  <a:srgbClr val="FF0000"/>
                </a:solidFill>
              </a:rPr>
              <a:t>84</a:t>
            </a:r>
            <a:r>
              <a:rPr lang="en-US" altLang="zh-TW" i="1" dirty="0" smtClean="0"/>
              <a:t> </a:t>
            </a:r>
            <a:r>
              <a:rPr lang="en-US" altLang="zh-TW" dirty="0"/>
              <a:t>update steps before the cut child is needed</a:t>
            </a:r>
            <a:r>
              <a:rPr lang="en-US" altLang="zh-TW" dirty="0" smtClean="0"/>
              <a:t>.</a:t>
            </a:r>
          </a:p>
          <a:p>
            <a:r>
              <a:rPr lang="en-US" altLang="zh-TW" dirty="0"/>
              <a:t>We can therefore start by making the cut child the </a:t>
            </a:r>
            <a:r>
              <a:rPr lang="en-US" altLang="zh-TW" dirty="0" smtClean="0">
                <a:solidFill>
                  <a:srgbClr val="0070C0"/>
                </a:solidFill>
              </a:rPr>
              <a:t>leftmost</a:t>
            </a:r>
            <a:r>
              <a:rPr lang="en-US" altLang="zh-TW" dirty="0" smtClean="0"/>
              <a:t> </a:t>
            </a:r>
            <a:r>
              <a:rPr lang="en-US" altLang="zh-TW" dirty="0"/>
              <a:t>child, and every time we </a:t>
            </a:r>
            <a:r>
              <a:rPr lang="en-US" altLang="zh-TW" dirty="0" smtClean="0"/>
              <a:t>receive an </a:t>
            </a:r>
            <a:r>
              <a:rPr lang="en-US" altLang="zh-TW" dirty="0"/>
              <a:t>update step for the join, we move to the right, stopping when we are in balance. </a:t>
            </a:r>
            <a:endParaRPr lang="en-US" altLang="zh-TW" dirty="0" smtClean="0"/>
          </a:p>
          <a:p>
            <a:r>
              <a:rPr lang="en-US" altLang="zh-TW" dirty="0" smtClean="0"/>
              <a:t>Since the children </a:t>
            </a:r>
            <a:r>
              <a:rPr lang="en-US" altLang="zh-TW" dirty="0"/>
              <a:t>list is of length </a:t>
            </a:r>
            <a:r>
              <a:rPr lang="en-US" altLang="zh-TW" i="1" dirty="0">
                <a:solidFill>
                  <a:srgbClr val="FF0000"/>
                </a:solidFill>
              </a:rPr>
              <a:t>O</a:t>
            </a:r>
            <a:r>
              <a:rPr lang="en-US" altLang="zh-TW" dirty="0">
                <a:solidFill>
                  <a:srgbClr val="FF0000"/>
                </a:solidFill>
              </a:rPr>
              <a:t>(</a:t>
            </a:r>
            <a:r>
              <a:rPr lang="en-US" altLang="zh-TW" i="1" dirty="0" err="1">
                <a:solidFill>
                  <a:srgbClr val="FF0000"/>
                </a:solidFill>
              </a:rPr>
              <a:t>n</a:t>
            </a:r>
            <a:r>
              <a:rPr lang="en-US" altLang="zh-TW" i="1" baseline="-25000" dirty="0" err="1">
                <a:solidFill>
                  <a:srgbClr val="FF0000"/>
                </a:solidFill>
              </a:rPr>
              <a:t>i</a:t>
            </a:r>
            <a:r>
              <a:rPr lang="en-US" altLang="zh-TW" i="1" dirty="0">
                <a:solidFill>
                  <a:srgbClr val="FF0000"/>
                </a:solidFill>
              </a:rPr>
              <a:t>/n</a:t>
            </a:r>
            <a:r>
              <a:rPr lang="en-US" altLang="zh-TW" i="1" baseline="-25000" dirty="0">
                <a:solidFill>
                  <a:srgbClr val="FF0000"/>
                </a:solidFill>
              </a:rPr>
              <a:t>i−</a:t>
            </a:r>
            <a:r>
              <a:rPr lang="en-US" altLang="zh-TW" baseline="-25000" dirty="0">
                <a:solidFill>
                  <a:srgbClr val="FF0000"/>
                </a:solidFill>
              </a:rPr>
              <a:t>1</a:t>
            </a:r>
            <a:r>
              <a:rPr lang="en-US" altLang="zh-TW" dirty="0">
                <a:solidFill>
                  <a:srgbClr val="FF0000"/>
                </a:solidFill>
              </a:rPr>
              <a:t>)</a:t>
            </a:r>
            <a:r>
              <a:rPr lang="en-US" altLang="zh-TW" dirty="0"/>
              <a:t>, we only need to move a </a:t>
            </a:r>
            <a:r>
              <a:rPr lang="en-US" altLang="zh-TW" dirty="0">
                <a:solidFill>
                  <a:srgbClr val="FF0000"/>
                </a:solidFill>
              </a:rPr>
              <a:t>constant number </a:t>
            </a:r>
            <a:r>
              <a:rPr lang="en-US" altLang="zh-TW" dirty="0"/>
              <a:t>of children </a:t>
            </a:r>
            <a:r>
              <a:rPr lang="en-US" altLang="zh-TW" dirty="0" smtClean="0"/>
              <a:t>to the </a:t>
            </a:r>
            <a:r>
              <a:rPr lang="en-US" altLang="zh-TW" dirty="0"/>
              <a:t>right in each update step in order to ensure balance before the </a:t>
            </a:r>
            <a:r>
              <a:rPr lang="en-US" altLang="zh-TW" dirty="0" err="1"/>
              <a:t>postprocessing</a:t>
            </a:r>
            <a:r>
              <a:rPr lang="en-US" altLang="zh-TW" dirty="0"/>
              <a:t> is ended.</a:t>
            </a:r>
            <a:endParaRPr lang="en-US" altLang="zh-TW" dirty="0" smtClean="0"/>
          </a:p>
          <a:p>
            <a:endParaRPr lang="en-US" altLang="zh-TW" dirty="0" smtClean="0"/>
          </a:p>
          <a:p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Cut Child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pPr/>
              <a:t>45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345635201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/>
              <a:t>If the root is on height </a:t>
            </a:r>
            <a:r>
              <a:rPr lang="en-US" altLang="zh-TW" i="1" dirty="0"/>
              <a:t>h</a:t>
            </a:r>
            <a:r>
              <a:rPr lang="en-US" altLang="zh-TW" dirty="0"/>
              <a:t>, we only apply the protocol when it has weight at least </a:t>
            </a:r>
            <a:r>
              <a:rPr lang="en-US" altLang="zh-TW" dirty="0" smtClean="0"/>
              <a:t>21</a:t>
            </a:r>
            <a:r>
              <a:rPr lang="en-US" altLang="zh-TW" i="1" dirty="0" smtClean="0"/>
              <a:t>b</a:t>
            </a:r>
            <a:r>
              <a:rPr lang="en-US" altLang="zh-TW" i="1" baseline="-25000" dirty="0" smtClean="0"/>
              <a:t>h</a:t>
            </a:r>
            <a:r>
              <a:rPr lang="en-US" altLang="zh-TW" i="1" dirty="0" smtClean="0"/>
              <a:t>.</a:t>
            </a:r>
          </a:p>
          <a:p>
            <a:r>
              <a:rPr lang="en-US" altLang="zh-TW" dirty="0"/>
              <a:t>B</a:t>
            </a:r>
            <a:r>
              <a:rPr lang="en-US" altLang="zh-TW" dirty="0" smtClean="0"/>
              <a:t>efore </a:t>
            </a:r>
            <a:r>
              <a:rPr lang="en-US" altLang="zh-TW" dirty="0"/>
              <a:t>the </a:t>
            </a:r>
            <a:r>
              <a:rPr lang="en-US" altLang="zh-TW" dirty="0">
                <a:solidFill>
                  <a:srgbClr val="FF0000"/>
                </a:solidFill>
              </a:rPr>
              <a:t>split</a:t>
            </a:r>
            <a:r>
              <a:rPr lang="en-US" altLang="zh-TW" dirty="0"/>
              <a:t>, the root has weight at most 84</a:t>
            </a:r>
            <a:r>
              <a:rPr lang="en-US" altLang="zh-TW" i="1" dirty="0"/>
              <a:t>b</a:t>
            </a:r>
            <a:r>
              <a:rPr lang="en-US" altLang="zh-TW" i="1" baseline="-25000" dirty="0"/>
              <a:t>h</a:t>
            </a:r>
            <a:r>
              <a:rPr lang="en-US" altLang="zh-TW" dirty="0"/>
              <a:t>, and this is the weight of the new </a:t>
            </a:r>
            <a:r>
              <a:rPr lang="en-US" altLang="zh-TW" dirty="0" smtClean="0"/>
              <a:t>root at </a:t>
            </a:r>
            <a:r>
              <a:rPr lang="en-US" altLang="zh-TW" dirty="0"/>
              <a:t>height </a:t>
            </a:r>
            <a:r>
              <a:rPr lang="en-US" altLang="zh-TW" i="1" dirty="0"/>
              <a:t>h </a:t>
            </a:r>
            <a:r>
              <a:rPr lang="en-US" altLang="zh-TW" dirty="0"/>
              <a:t>+ 1. However </a:t>
            </a:r>
            <a:r>
              <a:rPr lang="en-US" altLang="zh-TW" i="1" dirty="0" err="1"/>
              <a:t>b</a:t>
            </a:r>
            <a:r>
              <a:rPr lang="en-US" altLang="zh-TW" i="1" baseline="-25000" dirty="0" err="1"/>
              <a:t>h</a:t>
            </a:r>
            <a:r>
              <a:rPr lang="en-US" altLang="zh-TW" i="1" dirty="0"/>
              <a:t> </a:t>
            </a:r>
            <a:r>
              <a:rPr lang="en-US" altLang="zh-TW" dirty="0" smtClean="0"/>
              <a:t>≤</a:t>
            </a:r>
            <a:r>
              <a:rPr lang="en-US" altLang="zh-TW" i="1" dirty="0" smtClean="0"/>
              <a:t> </a:t>
            </a:r>
            <a:r>
              <a:rPr lang="en-US" altLang="zh-TW" i="1" dirty="0"/>
              <a:t>b</a:t>
            </a:r>
            <a:r>
              <a:rPr lang="en-US" altLang="zh-TW" i="1" baseline="-25000" dirty="0"/>
              <a:t>h</a:t>
            </a:r>
            <a:r>
              <a:rPr lang="en-US" altLang="zh-TW" baseline="-25000" dirty="0"/>
              <a:t>+1</a:t>
            </a:r>
            <a:r>
              <a:rPr lang="en-US" altLang="zh-TW" i="1" dirty="0"/>
              <a:t>/</a:t>
            </a:r>
            <a:r>
              <a:rPr lang="en-US" altLang="zh-TW" dirty="0"/>
              <a:t>19, so it will take </a:t>
            </a:r>
            <a:r>
              <a:rPr lang="en-US" altLang="zh-TW" dirty="0">
                <a:solidFill>
                  <a:srgbClr val="0070C0"/>
                </a:solidFill>
              </a:rPr>
              <a:t>many updates </a:t>
            </a:r>
            <a:r>
              <a:rPr lang="en-US" altLang="zh-TW" dirty="0"/>
              <a:t>before the new </a:t>
            </a:r>
            <a:r>
              <a:rPr lang="en-US" altLang="zh-TW" dirty="0" smtClean="0"/>
              <a:t>root reaches </a:t>
            </a:r>
            <a:r>
              <a:rPr lang="en-US" altLang="zh-TW" dirty="0"/>
              <a:t>the weight </a:t>
            </a:r>
            <a:r>
              <a:rPr lang="en-US" altLang="zh-TW" dirty="0" smtClean="0"/>
              <a:t>21</a:t>
            </a:r>
            <a:r>
              <a:rPr lang="en-US" altLang="zh-TW" i="1" dirty="0" smtClean="0"/>
              <a:t>b</a:t>
            </a:r>
            <a:r>
              <a:rPr lang="en-US" altLang="zh-TW" i="1" baseline="-25000" dirty="0" smtClean="0"/>
              <a:t>h</a:t>
            </a:r>
            <a:r>
              <a:rPr lang="en-US" altLang="zh-TW" baseline="-25000" dirty="0" smtClean="0"/>
              <a:t>+1</a:t>
            </a:r>
            <a:r>
              <a:rPr lang="en-US" altLang="zh-TW" dirty="0" smtClean="0"/>
              <a:t>.</a:t>
            </a:r>
          </a:p>
          <a:p>
            <a:r>
              <a:rPr lang="en-US" altLang="zh-TW" dirty="0" smtClean="0"/>
              <a:t>At the </a:t>
            </a:r>
            <a:r>
              <a:rPr lang="en-US" altLang="zh-TW" dirty="0" smtClean="0">
                <a:solidFill>
                  <a:srgbClr val="FF0000"/>
                </a:solidFill>
              </a:rPr>
              <a:t>join</a:t>
            </a:r>
            <a:r>
              <a:rPr lang="en-US" altLang="zh-TW" dirty="0" smtClean="0"/>
              <a:t>, the </a:t>
            </a:r>
            <a:r>
              <a:rPr lang="en-US" altLang="zh-TW" dirty="0"/>
              <a:t>new root starts with weight at least 21</a:t>
            </a:r>
            <a:r>
              <a:rPr lang="en-US" altLang="zh-TW" i="1" dirty="0"/>
              <a:t>b</a:t>
            </a:r>
            <a:r>
              <a:rPr lang="en-US" altLang="zh-TW" i="1" baseline="-25000" dirty="0"/>
              <a:t>h</a:t>
            </a:r>
            <a:r>
              <a:rPr lang="en-US" altLang="zh-TW" dirty="0"/>
              <a:t>, </a:t>
            </a:r>
            <a:r>
              <a:rPr lang="en-US" altLang="zh-TW" dirty="0" smtClean="0"/>
              <a:t>so it </a:t>
            </a:r>
            <a:r>
              <a:rPr lang="en-US" altLang="zh-TW" dirty="0"/>
              <a:t>has at least 21</a:t>
            </a:r>
            <a:r>
              <a:rPr lang="en-US" altLang="zh-TW" i="1" dirty="0"/>
              <a:t>b</a:t>
            </a:r>
            <a:r>
              <a:rPr lang="en-US" altLang="zh-TW" i="1" baseline="-25000" dirty="0"/>
              <a:t>h</a:t>
            </a:r>
            <a:r>
              <a:rPr lang="en-US" altLang="zh-TW" i="1" dirty="0"/>
              <a:t>/</a:t>
            </a:r>
            <a:r>
              <a:rPr lang="en-US" altLang="zh-TW" dirty="0"/>
              <a:t>84</a:t>
            </a:r>
            <a:r>
              <a:rPr lang="en-US" altLang="zh-TW" i="1" dirty="0"/>
              <a:t>b</a:t>
            </a:r>
            <a:r>
              <a:rPr lang="en-US" altLang="zh-TW" i="1" baseline="-25000" dirty="0"/>
              <a:t>h−</a:t>
            </a:r>
            <a:r>
              <a:rPr lang="en-US" altLang="zh-TW" baseline="-25000" dirty="0" smtClean="0"/>
              <a:t>1</a:t>
            </a:r>
            <a:r>
              <a:rPr lang="en-US" altLang="zh-TW" i="1" dirty="0" smtClean="0"/>
              <a:t>≥ </a:t>
            </a:r>
            <a:r>
              <a:rPr lang="en-US" altLang="zh-TW" dirty="0"/>
              <a:t>19</a:t>
            </a:r>
            <a:r>
              <a:rPr lang="en-US" altLang="zh-TW" i="1" dirty="0"/>
              <a:t>/</a:t>
            </a:r>
            <a:r>
              <a:rPr lang="en-US" altLang="zh-TW" dirty="0"/>
              <a:t>4 </a:t>
            </a:r>
            <a:r>
              <a:rPr lang="en-US" altLang="zh-TW" i="1" dirty="0"/>
              <a:t>&gt; </a:t>
            </a:r>
            <a:r>
              <a:rPr lang="en-US" altLang="zh-TW" dirty="0"/>
              <a:t>4 children. Hence it will survive long enough to </a:t>
            </a:r>
            <a:r>
              <a:rPr lang="en-US" altLang="zh-TW" dirty="0" smtClean="0"/>
              <a:t>pay for </a:t>
            </a:r>
            <a:r>
              <a:rPr lang="en-US" altLang="zh-TW" dirty="0"/>
              <a:t>its construction.</a:t>
            </a:r>
            <a:endParaRPr lang="en-US" altLang="zh-TW" dirty="0" smtClean="0"/>
          </a:p>
          <a:p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0" dirty="0"/>
              <a:t>Changing the </a:t>
            </a:r>
            <a:r>
              <a:rPr lang="en-US" altLang="zh-TW" b="0" dirty="0" smtClean="0"/>
              <a:t>Height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pPr/>
              <a:t>46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616063375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xmlns="" Requires="a14">
          <p:sp>
            <p:nvSpPr>
              <p:cNvPr id="2" name="內容版面配置區 1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TW" dirty="0" smtClean="0"/>
                  <a:t>Suppose </a:t>
                </a:r>
                <a:r>
                  <a:rPr lang="en-US" altLang="zh-TW" dirty="0"/>
                  <a:t>an </a:t>
                </a:r>
                <a:r>
                  <a:rPr lang="en-US" altLang="zh-TW" i="1" dirty="0"/>
                  <a:t>S</a:t>
                </a:r>
                <a:r>
                  <a:rPr lang="en-US" altLang="zh-TW" dirty="0"/>
                  <a:t>-structure for </a:t>
                </a:r>
                <a:r>
                  <a:rPr lang="en-US" altLang="zh-TW" dirty="0" smtClean="0"/>
                  <a:t>a node </a:t>
                </a:r>
                <a:r>
                  <a:rPr lang="en-US" altLang="zh-TW" dirty="0"/>
                  <a:t>on height </a:t>
                </a:r>
                <a:r>
                  <a:rPr lang="en-US" altLang="zh-TW" i="1" dirty="0" err="1"/>
                  <a:t>i</a:t>
                </a:r>
                <a:r>
                  <a:rPr lang="en-US" altLang="zh-TW" dirty="0"/>
                  <a:t> can be built in </a:t>
                </a:r>
                <a:r>
                  <a:rPr lang="en-US" altLang="zh-TW" i="1" dirty="0"/>
                  <a:t>O</a:t>
                </a:r>
                <a:r>
                  <a:rPr lang="en-US" altLang="zh-TW" dirty="0"/>
                  <a:t>(</a:t>
                </a:r>
                <a:r>
                  <a:rPr lang="en-US" altLang="zh-TW" i="1" dirty="0"/>
                  <a:t>n</a:t>
                </a:r>
                <a:r>
                  <a:rPr lang="en-US" altLang="zh-TW" i="1" baseline="-25000" dirty="0"/>
                  <a:t>i</a:t>
                </a:r>
                <a:r>
                  <a:rPr lang="en-US" altLang="zh-TW" baseline="-25000" dirty="0"/>
                  <a:t>−1</a:t>
                </a:r>
                <a:r>
                  <a:rPr lang="en-US" altLang="zh-TW" i="1" dirty="0"/>
                  <a:t>t</a:t>
                </a:r>
                <a:r>
                  <a:rPr lang="en-US" altLang="zh-TW" i="1" baseline="-25000" dirty="0"/>
                  <a:t>i</a:t>
                </a:r>
                <a:r>
                  <a:rPr lang="en-US" altLang="zh-TW" dirty="0"/>
                  <a:t>) time. We can then maintain S-structures for </a:t>
                </a:r>
                <a:r>
                  <a:rPr lang="en-US" altLang="zh-TW" dirty="0" smtClean="0"/>
                  <a:t>the whole </a:t>
                </a:r>
                <a:r>
                  <a:rPr lang="en-US" altLang="zh-TW" dirty="0"/>
                  <a:t>tree supporting a finger update in </a:t>
                </a:r>
                <a:r>
                  <a:rPr lang="en-US" altLang="zh-TW" dirty="0" smtClean="0"/>
                  <a:t>O(</a:t>
                </a:r>
                <a:r>
                  <a:rPr lang="en-US" altLang="zh-TW" i="1" dirty="0" smtClean="0"/>
                  <a:t>h</a:t>
                </a:r>
                <a:r>
                  <a:rPr lang="en-US" altLang="zh-TW" dirty="0" smtClean="0"/>
                  <a:t>+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n-US" altLang="zh-TW" i="1" dirty="0" smtClean="0">
                            <a:latin typeface="Cambria Math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zh-TW" b="0" i="1" dirty="0" smtClean="0">
                            <a:latin typeface="Cambria Math"/>
                          </a:rPr>
                          <m:t>𝑖</m:t>
                        </m:r>
                        <m:r>
                          <a:rPr lang="en-US" altLang="zh-TW" b="0" i="1" dirty="0" smtClean="0"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en-US" altLang="zh-TW" b="0" i="1" dirty="0" smtClean="0">
                            <a:latin typeface="Cambria Math"/>
                          </a:rPr>
                          <m:t>h</m:t>
                        </m:r>
                      </m:sup>
                      <m:e>
                        <m:sSub>
                          <m:sSubPr>
                            <m:ctrlPr>
                              <a:rPr lang="en-US" altLang="zh-TW" i="1" dirty="0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b="0" i="1" dirty="0" smtClean="0"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TW" b="0" i="1" dirty="0" smtClean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altLang="zh-TW" dirty="0"/>
                  <a:t>) time where </a:t>
                </a:r>
                <a:r>
                  <a:rPr lang="en-US" altLang="zh-TW" i="1" dirty="0"/>
                  <a:t>h</a:t>
                </a:r>
                <a:r>
                  <a:rPr lang="en-US" altLang="zh-TW" dirty="0"/>
                  <a:t> is the current height </a:t>
                </a:r>
                <a:r>
                  <a:rPr lang="en-US" altLang="zh-TW" dirty="0" smtClean="0"/>
                  <a:t>of the </a:t>
                </a:r>
                <a:r>
                  <a:rPr lang="en-US" altLang="zh-TW" dirty="0"/>
                  <a:t>tree.</a:t>
                </a:r>
                <a:endParaRPr lang="zh-TW" altLang="en-US" dirty="0"/>
              </a:p>
            </p:txBody>
          </p:sp>
        </mc:Choice>
        <mc:Fallback>
          <p:sp>
            <p:nvSpPr>
              <p:cNvPr id="2" name="內容版面配置區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1213" r="-8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pPr/>
              <a:t>47</a:t>
            </a:fld>
            <a:endParaRPr lang="zh-TW" altLang="en-US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0" dirty="0"/>
              <a:t>Corollary 10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4284779752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24078" indent="-514350">
              <a:buFont typeface="+mj-lt"/>
              <a:buAutoNum type="arabicPeriod"/>
            </a:pPr>
            <a:r>
              <a:rPr lang="en-US" altLang="zh-TW" dirty="0" smtClean="0"/>
              <a:t>An </a:t>
            </a:r>
            <a:r>
              <a:rPr lang="en-US" altLang="zh-TW" dirty="0" smtClean="0">
                <a:solidFill>
                  <a:srgbClr val="0070C0"/>
                </a:solidFill>
              </a:rPr>
              <a:t>periodic</a:t>
            </a:r>
            <a:r>
              <a:rPr lang="en-US" altLang="zh-TW" dirty="0" smtClean="0"/>
              <a:t> </a:t>
            </a:r>
            <a:r>
              <a:rPr lang="en-US" altLang="zh-TW" dirty="0"/>
              <a:t>rebuilding of the </a:t>
            </a:r>
            <a:r>
              <a:rPr lang="en-US" altLang="zh-TW" i="1" dirty="0"/>
              <a:t>S</a:t>
            </a:r>
            <a:r>
              <a:rPr lang="en-US" altLang="zh-TW" dirty="0"/>
              <a:t>-structure at </a:t>
            </a:r>
            <a:r>
              <a:rPr lang="en-US" altLang="zh-TW" dirty="0" smtClean="0"/>
              <a:t>each node </a:t>
            </a:r>
            <a:r>
              <a:rPr lang="en-US" altLang="zh-TW" i="1" dirty="0" smtClean="0"/>
              <a:t>v</a:t>
            </a:r>
            <a:r>
              <a:rPr lang="en-US" altLang="zh-TW" dirty="0" smtClean="0"/>
              <a:t>. </a:t>
            </a:r>
          </a:p>
          <a:p>
            <a:pPr marL="880110" lvl="1" indent="-514350">
              <a:buFont typeface="+mj-lt"/>
              <a:buAutoNum type="arabicParenR"/>
            </a:pPr>
            <a:r>
              <a:rPr lang="en-US" altLang="zh-TW" dirty="0" smtClean="0"/>
              <a:t>Starts </a:t>
            </a:r>
            <a:r>
              <a:rPr lang="en-US" altLang="zh-TW" dirty="0"/>
              <a:t>by scanning the splitter list of the children of </a:t>
            </a:r>
            <a:r>
              <a:rPr lang="en-US" altLang="zh-TW" i="1" dirty="0"/>
              <a:t>v </a:t>
            </a:r>
            <a:r>
              <a:rPr lang="en-US" altLang="zh-TW" dirty="0"/>
              <a:t>in </a:t>
            </a:r>
            <a:r>
              <a:rPr lang="en-US" altLang="zh-TW" i="1" dirty="0"/>
              <a:t>O</a:t>
            </a:r>
            <a:r>
              <a:rPr lang="en-US" altLang="zh-TW" dirty="0"/>
              <a:t>(</a:t>
            </a:r>
            <a:r>
              <a:rPr lang="en-US" altLang="zh-TW" i="1" dirty="0" err="1"/>
              <a:t>n</a:t>
            </a:r>
            <a:r>
              <a:rPr lang="en-US" altLang="zh-TW" i="1" baseline="-25000" dirty="0" err="1"/>
              <a:t>i</a:t>
            </a:r>
            <a:r>
              <a:rPr lang="en-US" altLang="zh-TW" i="1" dirty="0"/>
              <a:t>/n</a:t>
            </a:r>
            <a:r>
              <a:rPr lang="en-US" altLang="zh-TW" i="1" baseline="-25000" dirty="0"/>
              <a:t>i−</a:t>
            </a:r>
            <a:r>
              <a:rPr lang="en-US" altLang="zh-TW" baseline="-25000" dirty="0"/>
              <a:t>1</a:t>
            </a:r>
            <a:r>
              <a:rPr lang="en-US" altLang="zh-TW" dirty="0"/>
              <a:t>) time</a:t>
            </a:r>
            <a:r>
              <a:rPr lang="en-US" altLang="zh-TW" dirty="0" smtClean="0"/>
              <a:t>.</a:t>
            </a:r>
          </a:p>
          <a:p>
            <a:pPr marL="880110" lvl="1" indent="-514350">
              <a:buFont typeface="+mj-lt"/>
              <a:buAutoNum type="arabicParenR"/>
            </a:pPr>
            <a:r>
              <a:rPr lang="en-US" altLang="zh-TW" dirty="0" smtClean="0"/>
              <a:t>Create </a:t>
            </a:r>
            <a:r>
              <a:rPr lang="en-US" altLang="zh-TW" dirty="0"/>
              <a:t>a new S-structure in O(</a:t>
            </a:r>
            <a:r>
              <a:rPr lang="en-US" altLang="zh-TW" i="1" dirty="0"/>
              <a:t>n</a:t>
            </a:r>
            <a:r>
              <a:rPr lang="en-US" altLang="zh-TW" i="1" baseline="-25000" dirty="0"/>
              <a:t>i</a:t>
            </a:r>
            <a:r>
              <a:rPr lang="en-US" altLang="zh-TW" baseline="-25000" dirty="0"/>
              <a:t>−1</a:t>
            </a:r>
            <a:r>
              <a:rPr lang="en-US" altLang="zh-TW" i="1" dirty="0"/>
              <a:t>t</a:t>
            </a:r>
            <a:r>
              <a:rPr lang="en-US" altLang="zh-TW" i="1" baseline="-25000" dirty="0"/>
              <a:t>i</a:t>
            </a:r>
            <a:r>
              <a:rPr lang="en-US" altLang="zh-TW" dirty="0"/>
              <a:t>) </a:t>
            </a:r>
            <a:r>
              <a:rPr lang="en-US" altLang="zh-TW" dirty="0" smtClean="0"/>
              <a:t>time</a:t>
            </a:r>
          </a:p>
          <a:p>
            <a:pPr marL="880110" lvl="1" indent="-514350">
              <a:buFont typeface="+mj-lt"/>
              <a:buAutoNum type="arabicParenR"/>
            </a:pPr>
            <a:r>
              <a:rPr lang="en-US" altLang="zh-TW" dirty="0"/>
              <a:t>I</a:t>
            </a:r>
            <a:r>
              <a:rPr lang="en-US" altLang="zh-TW" dirty="0" smtClean="0"/>
              <a:t>n </a:t>
            </a:r>
            <a:r>
              <a:rPr lang="en-US" altLang="zh-TW" dirty="0"/>
              <a:t>constant time, it </a:t>
            </a:r>
            <a:r>
              <a:rPr lang="en-US" altLang="zh-TW" dirty="0" smtClean="0"/>
              <a:t>replaces the </a:t>
            </a:r>
            <a:r>
              <a:rPr lang="en-US" altLang="zh-TW" dirty="0"/>
              <a:t>old S-structure with the new S-structure. </a:t>
            </a:r>
            <a:endParaRPr lang="en-US" altLang="zh-TW" dirty="0" smtClean="0"/>
          </a:p>
          <a:p>
            <a:pPr marL="880110" lvl="1" indent="-514350">
              <a:buFont typeface="+mj-lt"/>
              <a:buAutoNum type="arabicParenR"/>
            </a:pPr>
            <a:r>
              <a:rPr lang="en-US" altLang="zh-TW" dirty="0" smtClean="0"/>
              <a:t>The </a:t>
            </a:r>
            <a:r>
              <a:rPr lang="en-US" altLang="zh-TW" dirty="0"/>
              <a:t>whole rebuilding is divided into n</a:t>
            </a:r>
            <a:r>
              <a:rPr lang="en-US" altLang="zh-TW" baseline="-25000" dirty="0"/>
              <a:t>i−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/160 steps</a:t>
            </a:r>
            <a:r>
              <a:rPr lang="en-US" altLang="zh-TW" dirty="0"/>
              <a:t>, each taking O(</a:t>
            </a:r>
            <a:r>
              <a:rPr lang="en-US" altLang="zh-TW" i="1" dirty="0" err="1"/>
              <a:t>t</a:t>
            </a:r>
            <a:r>
              <a:rPr lang="en-US" altLang="zh-TW" i="1" baseline="-25000" dirty="0" err="1"/>
              <a:t>i</a:t>
            </a:r>
            <a:r>
              <a:rPr lang="en-US" altLang="zh-TW" dirty="0"/>
              <a:t>) time.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pPr/>
              <a:t>48</a:t>
            </a:fld>
            <a:endParaRPr lang="zh-TW" altLang="en-US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3772027848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624078" indent="-514350">
              <a:buFont typeface="+mj-lt"/>
              <a:buAutoNum type="arabicPeriod" startAt="2"/>
            </a:pPr>
            <a:r>
              <a:rPr lang="en-US" altLang="zh-TW" dirty="0"/>
              <a:t>E</a:t>
            </a:r>
            <a:r>
              <a:rPr lang="en-US" altLang="zh-TW" dirty="0" smtClean="0"/>
              <a:t>very </a:t>
            </a:r>
            <a:r>
              <a:rPr lang="en-US" altLang="zh-TW" dirty="0"/>
              <a:t>time an update contributes to a join or split </a:t>
            </a:r>
            <a:r>
              <a:rPr lang="en-US" altLang="zh-TW" dirty="0" err="1"/>
              <a:t>postprocessing</a:t>
            </a:r>
            <a:r>
              <a:rPr lang="en-US" altLang="zh-TW" dirty="0"/>
              <a:t> on level </a:t>
            </a:r>
            <a:r>
              <a:rPr lang="en-US" altLang="zh-TW" i="1" dirty="0" err="1"/>
              <a:t>i</a:t>
            </a:r>
            <a:r>
              <a:rPr lang="en-US" altLang="zh-TW" i="1" dirty="0"/>
              <a:t> − </a:t>
            </a:r>
            <a:r>
              <a:rPr lang="en-US" altLang="zh-TW" dirty="0" smtClean="0"/>
              <a:t>1, we </a:t>
            </a:r>
            <a:r>
              <a:rPr lang="en-US" altLang="zh-TW" dirty="0"/>
              <a:t>perform one step in the rebuilding of the </a:t>
            </a:r>
            <a:r>
              <a:rPr lang="en-US" altLang="zh-TW" i="1" dirty="0"/>
              <a:t>S</a:t>
            </a:r>
            <a:r>
              <a:rPr lang="en-US" altLang="zh-TW" dirty="0"/>
              <a:t>-structure of the parent </a:t>
            </a:r>
            <a:r>
              <a:rPr lang="en-US" altLang="zh-TW" i="1" dirty="0"/>
              <a:t>p</a:t>
            </a:r>
            <a:r>
              <a:rPr lang="en-US" altLang="zh-TW" dirty="0"/>
              <a:t>, which is on level </a:t>
            </a:r>
            <a:r>
              <a:rPr lang="en-US" altLang="zh-TW" i="1" dirty="0" err="1"/>
              <a:t>i</a:t>
            </a:r>
            <a:r>
              <a:rPr lang="en-US" altLang="zh-TW" dirty="0" smtClean="0"/>
              <a:t>.</a:t>
            </a:r>
          </a:p>
          <a:p>
            <a:pPr marL="624078" indent="-514350">
              <a:buFont typeface="+mj-lt"/>
              <a:buAutoNum type="arabicPeriod" startAt="2"/>
            </a:pPr>
            <a:r>
              <a:rPr lang="en-US" altLang="zh-TW" dirty="0" smtClean="0"/>
              <a:t>When two neighboring nodes </a:t>
            </a:r>
            <a:r>
              <a:rPr lang="en-US" altLang="zh-TW" i="1" dirty="0" smtClean="0"/>
              <a:t>u</a:t>
            </a:r>
            <a:r>
              <a:rPr lang="en-US" altLang="zh-TW" dirty="0" smtClean="0"/>
              <a:t> and </a:t>
            </a:r>
            <a:r>
              <a:rPr lang="en-US" altLang="zh-TW" i="1" dirty="0" smtClean="0"/>
              <a:t>v</a:t>
            </a:r>
            <a:r>
              <a:rPr lang="en-US" altLang="zh-TW" dirty="0" smtClean="0"/>
              <a:t> on level </a:t>
            </a:r>
            <a:r>
              <a:rPr lang="en-US" altLang="zh-TW" i="1" dirty="0" smtClean="0"/>
              <a:t>i</a:t>
            </a:r>
            <a:r>
              <a:rPr lang="en-US" altLang="zh-TW" dirty="0" smtClean="0"/>
              <a:t>−1 join to </a:t>
            </a:r>
            <a:r>
              <a:rPr lang="en-US" altLang="zh-TW" i="1" dirty="0" smtClean="0"/>
              <a:t>u</a:t>
            </a:r>
            <a:endParaRPr lang="en-US" altLang="zh-TW" dirty="0"/>
          </a:p>
          <a:p>
            <a:pPr marL="880110" lvl="1" indent="-514350">
              <a:buFont typeface="+mj-lt"/>
              <a:buAutoNum type="arabicParenR"/>
            </a:pPr>
            <a:r>
              <a:rPr lang="en-US" altLang="zh-TW" dirty="0" smtClean="0"/>
              <a:t>the next rebuilding of </a:t>
            </a:r>
            <a:r>
              <a:rPr lang="en-US" altLang="zh-TW" i="1" dirty="0" smtClean="0"/>
              <a:t>S</a:t>
            </a:r>
            <a:r>
              <a:rPr lang="en-US" altLang="zh-TW" dirty="0" smtClean="0"/>
              <a:t>(</a:t>
            </a:r>
            <a:r>
              <a:rPr lang="en-US" altLang="zh-TW" i="1" dirty="0" smtClean="0"/>
              <a:t>u</a:t>
            </a:r>
            <a:r>
              <a:rPr lang="en-US" altLang="zh-TW" dirty="0" smtClean="0"/>
              <a:t>) will automatically include the old children of </a:t>
            </a:r>
            <a:r>
              <a:rPr lang="en-US" altLang="zh-TW" i="1" dirty="0" smtClean="0"/>
              <a:t>v</a:t>
            </a:r>
            <a:r>
              <a:rPr lang="en-US" altLang="zh-TW" dirty="0" smtClean="0"/>
              <a:t>. </a:t>
            </a:r>
          </a:p>
          <a:p>
            <a:pPr marL="880110" lvl="1" indent="-514350">
              <a:buFont typeface="+mj-lt"/>
              <a:buAutoNum type="arabicParenR"/>
            </a:pPr>
            <a:r>
              <a:rPr lang="en-US" altLang="zh-TW" dirty="0" smtClean="0"/>
              <a:t>The maintenance of the disappearing node </a:t>
            </a:r>
            <a:r>
              <a:rPr lang="en-US" altLang="zh-TW" i="1" dirty="0" smtClean="0"/>
              <a:t>v</a:t>
            </a:r>
            <a:r>
              <a:rPr lang="en-US" altLang="zh-TW" dirty="0" smtClean="0"/>
              <a:t>, including rebuilding of </a:t>
            </a:r>
            <a:r>
              <a:rPr lang="en-US" altLang="zh-TW" i="1" dirty="0" smtClean="0"/>
              <a:t>S</a:t>
            </a:r>
            <a:r>
              <a:rPr lang="en-US" altLang="zh-TW" dirty="0" smtClean="0"/>
              <a:t>(</a:t>
            </a:r>
            <a:r>
              <a:rPr lang="en-US" altLang="zh-TW" i="1" dirty="0" smtClean="0"/>
              <a:t>v</a:t>
            </a:r>
            <a:r>
              <a:rPr lang="en-US" altLang="zh-TW" dirty="0" smtClean="0"/>
              <a:t>) when needed, is continued for all updates belonging under the old </a:t>
            </a:r>
            <a:r>
              <a:rPr lang="en-US" altLang="zh-TW" i="1" dirty="0" smtClean="0"/>
              <a:t>v</a:t>
            </a:r>
            <a:r>
              <a:rPr lang="en-US" altLang="zh-TW" dirty="0"/>
              <a:t>; this maintenance is ended when the creation of </a:t>
            </a:r>
            <a:r>
              <a:rPr lang="en-US" altLang="zh-TW" i="1" dirty="0"/>
              <a:t>S</a:t>
            </a:r>
            <a:r>
              <a:rPr lang="en-US" altLang="zh-TW" dirty="0"/>
              <a:t>(</a:t>
            </a:r>
            <a:r>
              <a:rPr lang="en-US" altLang="zh-TW" i="1" dirty="0"/>
              <a:t>u</a:t>
            </a:r>
            <a:r>
              <a:rPr lang="en-US" altLang="zh-TW" dirty="0"/>
              <a:t>) for the joined node </a:t>
            </a:r>
            <a:r>
              <a:rPr lang="en-US" altLang="zh-TW" i="1" dirty="0"/>
              <a:t>u</a:t>
            </a:r>
            <a:r>
              <a:rPr lang="en-US" altLang="zh-TW" dirty="0"/>
              <a:t> </a:t>
            </a:r>
            <a:r>
              <a:rPr lang="en-US" altLang="zh-TW" dirty="0" smtClean="0"/>
              <a:t>is completed</a:t>
            </a:r>
            <a:r>
              <a:rPr lang="en-US" altLang="zh-TW" dirty="0"/>
              <a:t>.</a:t>
            </a:r>
          </a:p>
          <a:p>
            <a:pPr marL="880110" lvl="1" indent="-514350">
              <a:buFont typeface="+mj-lt"/>
              <a:buAutoNum type="arabicParenR"/>
            </a:pPr>
            <a:r>
              <a:rPr lang="en-US" altLang="zh-TW" dirty="0" smtClean="0"/>
              <a:t>Furthermore</a:t>
            </a:r>
            <a:r>
              <a:rPr lang="en-US" altLang="zh-TW" dirty="0"/>
              <a:t>, each step of rebuilding </a:t>
            </a:r>
            <a:r>
              <a:rPr lang="en-US" altLang="zh-TW" i="1" dirty="0"/>
              <a:t>S</a:t>
            </a:r>
            <a:r>
              <a:rPr lang="en-US" altLang="zh-TW" dirty="0"/>
              <a:t>(</a:t>
            </a:r>
            <a:r>
              <a:rPr lang="en-US" altLang="zh-TW" i="1" dirty="0"/>
              <a:t>v</a:t>
            </a:r>
            <a:r>
              <a:rPr lang="en-US" altLang="zh-TW" dirty="0"/>
              <a:t>) for the old </a:t>
            </a:r>
            <a:r>
              <a:rPr lang="en-US" altLang="zh-TW" i="1" dirty="0"/>
              <a:t>v</a:t>
            </a:r>
            <a:r>
              <a:rPr lang="en-US" altLang="zh-TW" dirty="0"/>
              <a:t> will also compensate </a:t>
            </a:r>
            <a:r>
              <a:rPr lang="en-US" altLang="zh-TW" dirty="0" smtClean="0"/>
              <a:t>the rebuilding </a:t>
            </a:r>
            <a:r>
              <a:rPr lang="en-US" altLang="zh-TW" dirty="0"/>
              <a:t>of </a:t>
            </a:r>
            <a:r>
              <a:rPr lang="en-US" altLang="zh-TW" i="1" dirty="0"/>
              <a:t>S</a:t>
            </a:r>
            <a:r>
              <a:rPr lang="en-US" altLang="zh-TW" dirty="0"/>
              <a:t>(</a:t>
            </a:r>
            <a:r>
              <a:rPr lang="en-US" altLang="zh-TW" i="1" dirty="0"/>
              <a:t>u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pPr/>
              <a:t>49</a:t>
            </a:fld>
            <a:endParaRPr lang="zh-TW" altLang="en-US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49660561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v join to u</a:t>
            </a:r>
          </a:p>
          <a:p>
            <a:r>
              <a:rPr lang="en-US" altLang="zh-TW" dirty="0" smtClean="0"/>
              <a:t>rebuild take time </a:t>
            </a:r>
            <a:r>
              <a:rPr lang="en-US" altLang="zh-TW" dirty="0"/>
              <a:t>p=16, </a:t>
            </a:r>
            <a:r>
              <a:rPr lang="en-US" altLang="zh-TW" dirty="0" smtClean="0"/>
              <a:t>u=8, v=8, w=4, x=4</a:t>
            </a:r>
          </a:p>
          <a:p>
            <a:r>
              <a:rPr lang="en-US" altLang="zh-TW" dirty="0"/>
              <a:t>R</a:t>
            </a:r>
            <a:r>
              <a:rPr lang="en-US" altLang="zh-TW" dirty="0" smtClean="0"/>
              <a:t>ebuild start time p=1, u=5, v=3, w=8, x=11</a:t>
            </a:r>
          </a:p>
          <a:p>
            <a:r>
              <a:rPr lang="zh-TW" altLang="en-US" dirty="0" smtClean="0">
                <a:solidFill>
                  <a:srgbClr val="FF0000"/>
                </a:solidFill>
              </a:rPr>
              <a:t>多</a:t>
            </a:r>
            <a:r>
              <a:rPr lang="en-US" altLang="zh-TW" dirty="0" smtClean="0">
                <a:solidFill>
                  <a:srgbClr val="FF0000"/>
                </a:solidFill>
              </a:rPr>
              <a:t>(</a:t>
            </a:r>
            <a:r>
              <a:rPr lang="zh-TW" altLang="en-US" dirty="0" smtClean="0">
                <a:solidFill>
                  <a:srgbClr val="FF0000"/>
                </a:solidFill>
              </a:rPr>
              <a:t>幾</a:t>
            </a:r>
            <a:r>
              <a:rPr lang="en-US" altLang="zh-TW" dirty="0" smtClean="0">
                <a:solidFill>
                  <a:srgbClr val="FF0000"/>
                </a:solidFill>
              </a:rPr>
              <a:t>?)</a:t>
            </a:r>
            <a:r>
              <a:rPr lang="zh-TW" altLang="en-US" dirty="0" smtClean="0">
                <a:solidFill>
                  <a:srgbClr val="FF0000"/>
                </a:solidFill>
              </a:rPr>
              <a:t>個工作同時執行的時間計算</a:t>
            </a:r>
            <a:r>
              <a:rPr lang="en-US" altLang="zh-TW" dirty="0" smtClean="0">
                <a:solidFill>
                  <a:srgbClr val="FF0000"/>
                </a:solidFill>
              </a:rPr>
              <a:t>?</a:t>
            </a:r>
          </a:p>
          <a:p>
            <a:pPr marL="109728" indent="0">
              <a:buNone/>
            </a:pPr>
            <a:endParaRPr lang="en-US" altLang="zh-TW" dirty="0">
              <a:solidFill>
                <a:srgbClr val="FF0000"/>
              </a:solidFill>
            </a:endParaRPr>
          </a:p>
          <a:p>
            <a:pPr marL="109728" indent="0">
              <a:buNone/>
            </a:pP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pPr/>
              <a:t>50</a:t>
            </a:fld>
            <a:endParaRPr lang="zh-TW" altLang="en-US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Example</a:t>
            </a:r>
            <a:endParaRPr lang="zh-TW" altLang="en-US" dirty="0"/>
          </a:p>
        </p:txBody>
      </p:sp>
      <p:sp>
        <p:nvSpPr>
          <p:cNvPr id="5" name="橢圓 4"/>
          <p:cNvSpPr/>
          <p:nvPr/>
        </p:nvSpPr>
        <p:spPr>
          <a:xfrm>
            <a:off x="7844661" y="116632"/>
            <a:ext cx="504056" cy="3600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</a:t>
            </a:r>
            <a:endParaRPr lang="zh-TW" altLang="en-US" dirty="0"/>
          </a:p>
        </p:txBody>
      </p:sp>
      <p:sp>
        <p:nvSpPr>
          <p:cNvPr id="6" name="橢圓 5"/>
          <p:cNvSpPr/>
          <p:nvPr/>
        </p:nvSpPr>
        <p:spPr>
          <a:xfrm>
            <a:off x="6733024" y="605148"/>
            <a:ext cx="504056" cy="3600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u</a:t>
            </a:r>
            <a:endParaRPr lang="zh-TW" altLang="en-US" dirty="0"/>
          </a:p>
        </p:txBody>
      </p:sp>
      <p:sp>
        <p:nvSpPr>
          <p:cNvPr id="7" name="橢圓 6"/>
          <p:cNvSpPr/>
          <p:nvPr/>
        </p:nvSpPr>
        <p:spPr>
          <a:xfrm>
            <a:off x="8235193" y="605148"/>
            <a:ext cx="504056" cy="3600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v</a:t>
            </a:r>
            <a:endParaRPr lang="zh-TW" altLang="en-US" dirty="0"/>
          </a:p>
        </p:txBody>
      </p:sp>
      <p:sp>
        <p:nvSpPr>
          <p:cNvPr id="8" name="橢圓 7"/>
          <p:cNvSpPr/>
          <p:nvPr/>
        </p:nvSpPr>
        <p:spPr>
          <a:xfrm>
            <a:off x="7761617" y="1196752"/>
            <a:ext cx="504056" cy="3600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w</a:t>
            </a:r>
            <a:endParaRPr lang="zh-TW" altLang="en-US" dirty="0"/>
          </a:p>
        </p:txBody>
      </p:sp>
      <p:sp>
        <p:nvSpPr>
          <p:cNvPr id="9" name="橢圓 8"/>
          <p:cNvSpPr/>
          <p:nvPr/>
        </p:nvSpPr>
        <p:spPr>
          <a:xfrm>
            <a:off x="8487221" y="1196752"/>
            <a:ext cx="504056" cy="3600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x</a:t>
            </a:r>
            <a:endParaRPr lang="zh-TW" altLang="en-US" dirty="0"/>
          </a:p>
        </p:txBody>
      </p:sp>
      <p:cxnSp>
        <p:nvCxnSpPr>
          <p:cNvPr id="11" name="直線接點 10"/>
          <p:cNvCxnSpPr>
            <a:stCxn id="5" idx="3"/>
            <a:endCxn id="6" idx="0"/>
          </p:cNvCxnSpPr>
          <p:nvPr/>
        </p:nvCxnSpPr>
        <p:spPr>
          <a:xfrm flipH="1">
            <a:off x="6985052" y="423945"/>
            <a:ext cx="933426" cy="1812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>
            <a:stCxn id="5" idx="5"/>
            <a:endCxn id="7" idx="0"/>
          </p:cNvCxnSpPr>
          <p:nvPr/>
        </p:nvCxnSpPr>
        <p:spPr>
          <a:xfrm>
            <a:off x="8274900" y="423945"/>
            <a:ext cx="212321" cy="1812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>
            <a:stCxn id="7" idx="3"/>
            <a:endCxn id="8" idx="0"/>
          </p:cNvCxnSpPr>
          <p:nvPr/>
        </p:nvCxnSpPr>
        <p:spPr>
          <a:xfrm flipH="1">
            <a:off x="8013645" y="912461"/>
            <a:ext cx="295365" cy="2842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>
            <a:stCxn id="7" idx="5"/>
            <a:endCxn id="9" idx="0"/>
          </p:cNvCxnSpPr>
          <p:nvPr/>
        </p:nvCxnSpPr>
        <p:spPr>
          <a:xfrm>
            <a:off x="8665432" y="912461"/>
            <a:ext cx="73817" cy="2842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961690207"/>
              </p:ext>
            </p:extLst>
          </p:nvPr>
        </p:nvGraphicFramePr>
        <p:xfrm>
          <a:off x="210896" y="4293096"/>
          <a:ext cx="8152688" cy="131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4668"/>
                <a:gridCol w="462280"/>
                <a:gridCol w="462280"/>
                <a:gridCol w="462280"/>
                <a:gridCol w="462280"/>
                <a:gridCol w="462280"/>
                <a:gridCol w="462280"/>
                <a:gridCol w="462280"/>
                <a:gridCol w="487680"/>
                <a:gridCol w="462280"/>
                <a:gridCol w="574993"/>
                <a:gridCol w="574993"/>
                <a:gridCol w="576064"/>
                <a:gridCol w="574993"/>
                <a:gridCol w="574993"/>
                <a:gridCol w="576064"/>
              </a:tblGrid>
              <a:tr h="354792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15</a:t>
                      </a:r>
                      <a:endParaRPr lang="zh-TW" altLang="en-US" dirty="0"/>
                    </a:p>
                  </a:txBody>
                  <a:tcPr/>
                </a:tc>
              </a:tr>
              <a:tr h="916547"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Job</a:t>
                      </a:r>
                    </a:p>
                    <a:p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p1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p2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p3</a:t>
                      </a:r>
                    </a:p>
                    <a:p>
                      <a:r>
                        <a:rPr lang="en-US" altLang="zh-TW" sz="1400" dirty="0" smtClean="0"/>
                        <a:t>v1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p4</a:t>
                      </a:r>
                    </a:p>
                    <a:p>
                      <a:r>
                        <a:rPr lang="en-US" altLang="zh-TW" sz="1400" dirty="0" smtClean="0"/>
                        <a:t>v2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p5</a:t>
                      </a:r>
                    </a:p>
                    <a:p>
                      <a:r>
                        <a:rPr lang="en-US" altLang="zh-TW" sz="1400" dirty="0" smtClean="0"/>
                        <a:t>u1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p6</a:t>
                      </a:r>
                    </a:p>
                    <a:p>
                      <a:r>
                        <a:rPr lang="en-US" altLang="zh-TW" sz="1400" dirty="0" smtClean="0"/>
                        <a:t>u2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p7</a:t>
                      </a:r>
                    </a:p>
                    <a:p>
                      <a:r>
                        <a:rPr lang="en-US" altLang="zh-TW" sz="1400" dirty="0" smtClean="0"/>
                        <a:t>u3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p8</a:t>
                      </a:r>
                    </a:p>
                    <a:p>
                      <a:r>
                        <a:rPr lang="en-US" altLang="zh-TW" sz="1400" dirty="0" smtClean="0"/>
                        <a:t>u4</a:t>
                      </a:r>
                    </a:p>
                    <a:p>
                      <a:r>
                        <a:rPr lang="en-US" altLang="zh-TW" sz="1400" dirty="0" smtClean="0"/>
                        <a:t>w1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p9</a:t>
                      </a:r>
                    </a:p>
                    <a:p>
                      <a:r>
                        <a:rPr lang="en-US" altLang="zh-TW" sz="1400" dirty="0" smtClean="0"/>
                        <a:t>u5</a:t>
                      </a:r>
                    </a:p>
                    <a:p>
                      <a:r>
                        <a:rPr lang="en-US" altLang="zh-TW" sz="1400" dirty="0" smtClean="0"/>
                        <a:t>w2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p10</a:t>
                      </a:r>
                    </a:p>
                    <a:p>
                      <a:r>
                        <a:rPr lang="en-US" altLang="zh-TW" sz="1400" dirty="0" smtClean="0"/>
                        <a:t>u6</a:t>
                      </a:r>
                    </a:p>
                    <a:p>
                      <a:r>
                        <a:rPr lang="en-US" altLang="zh-TW" sz="1400" dirty="0" smtClean="0"/>
                        <a:t>w3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p11</a:t>
                      </a:r>
                    </a:p>
                    <a:p>
                      <a:r>
                        <a:rPr lang="en-US" altLang="zh-TW" sz="1400" dirty="0" smtClean="0"/>
                        <a:t>u7</a:t>
                      </a:r>
                    </a:p>
                    <a:p>
                      <a:r>
                        <a:rPr lang="en-US" altLang="zh-TW" sz="1400" dirty="0" smtClean="0"/>
                        <a:t>w4</a:t>
                      </a:r>
                    </a:p>
                    <a:p>
                      <a:r>
                        <a:rPr lang="en-US" altLang="zh-TW" sz="1400" dirty="0" smtClean="0"/>
                        <a:t>x1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p12</a:t>
                      </a:r>
                    </a:p>
                    <a:p>
                      <a:r>
                        <a:rPr lang="en-US" altLang="zh-TW" sz="1400" dirty="0" smtClean="0"/>
                        <a:t>u8</a:t>
                      </a:r>
                    </a:p>
                    <a:p>
                      <a:r>
                        <a:rPr lang="en-US" altLang="zh-TW" sz="1400" dirty="0" smtClean="0"/>
                        <a:t>x2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p13</a:t>
                      </a:r>
                    </a:p>
                    <a:p>
                      <a:r>
                        <a:rPr lang="en-US" altLang="zh-TW" sz="1400" dirty="0" smtClean="0"/>
                        <a:t>x3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p14</a:t>
                      </a:r>
                    </a:p>
                    <a:p>
                      <a:r>
                        <a:rPr lang="en-US" altLang="zh-TW" sz="1400" dirty="0" smtClean="0"/>
                        <a:t>x4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p15</a:t>
                      </a:r>
                      <a:endParaRPr lang="zh-TW" altLang="en-US" sz="1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9" name="文字方塊 18"/>
          <p:cNvSpPr txBox="1"/>
          <p:nvPr/>
        </p:nvSpPr>
        <p:spPr>
          <a:xfrm>
            <a:off x="6228184" y="5949280"/>
            <a:ext cx="1513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v removed</a:t>
            </a:r>
            <a:endParaRPr lang="zh-TW" altLang="en-US" dirty="0"/>
          </a:p>
        </p:txBody>
      </p:sp>
      <p:cxnSp>
        <p:nvCxnSpPr>
          <p:cNvPr id="21" name="直線單箭頭接點 20"/>
          <p:cNvCxnSpPr/>
          <p:nvPr/>
        </p:nvCxnSpPr>
        <p:spPr>
          <a:xfrm flipH="1" flipV="1">
            <a:off x="6372200" y="5085184"/>
            <a:ext cx="144016" cy="86409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字方塊 22"/>
          <p:cNvSpPr txBox="1"/>
          <p:nvPr/>
        </p:nvSpPr>
        <p:spPr>
          <a:xfrm>
            <a:off x="4499992" y="5755654"/>
            <a:ext cx="1645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w</a:t>
            </a:r>
            <a:r>
              <a:rPr lang="en-US" altLang="zh-TW" dirty="0" smtClean="0"/>
              <a:t> point to u</a:t>
            </a:r>
            <a:endParaRPr lang="zh-TW" altLang="en-US" dirty="0"/>
          </a:p>
        </p:txBody>
      </p:sp>
      <p:cxnSp>
        <p:nvCxnSpPr>
          <p:cNvPr id="24" name="直線單箭頭接點 23"/>
          <p:cNvCxnSpPr/>
          <p:nvPr/>
        </p:nvCxnSpPr>
        <p:spPr>
          <a:xfrm flipH="1" flipV="1">
            <a:off x="4631680" y="5085184"/>
            <a:ext cx="288032" cy="67047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字方塊 25"/>
          <p:cNvSpPr txBox="1"/>
          <p:nvPr/>
        </p:nvSpPr>
        <p:spPr>
          <a:xfrm>
            <a:off x="5076304" y="6381328"/>
            <a:ext cx="1645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x point to u</a:t>
            </a:r>
            <a:endParaRPr lang="zh-TW" altLang="en-US" dirty="0"/>
          </a:p>
        </p:txBody>
      </p:sp>
      <p:cxnSp>
        <p:nvCxnSpPr>
          <p:cNvPr id="27" name="直線單箭頭接點 26"/>
          <p:cNvCxnSpPr>
            <a:stCxn id="26" idx="0"/>
          </p:cNvCxnSpPr>
          <p:nvPr/>
        </p:nvCxnSpPr>
        <p:spPr>
          <a:xfrm flipH="1" flipV="1">
            <a:off x="5724128" y="5085184"/>
            <a:ext cx="174888" cy="129614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字方塊 31"/>
          <p:cNvSpPr txBox="1"/>
          <p:nvPr/>
        </p:nvSpPr>
        <p:spPr>
          <a:xfrm>
            <a:off x="2123728" y="5579948"/>
            <a:ext cx="1944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v compensate</a:t>
            </a:r>
            <a:endParaRPr lang="zh-TW" altLang="en-US" dirty="0"/>
          </a:p>
        </p:txBody>
      </p:sp>
      <p:cxnSp>
        <p:nvCxnSpPr>
          <p:cNvPr id="33" name="直線單箭頭接點 32"/>
          <p:cNvCxnSpPr>
            <a:stCxn id="32" idx="0"/>
          </p:cNvCxnSpPr>
          <p:nvPr/>
        </p:nvCxnSpPr>
        <p:spPr>
          <a:xfrm flipH="1" flipV="1">
            <a:off x="2802424" y="5062786"/>
            <a:ext cx="293412" cy="51716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929848529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624078" indent="-514350">
              <a:buFont typeface="+mj-lt"/>
              <a:buAutoNum type="arabicPeriod" startAt="4"/>
            </a:pPr>
            <a:r>
              <a:rPr lang="en-US" altLang="zh-TW" dirty="0"/>
              <a:t>During the </a:t>
            </a:r>
            <a:r>
              <a:rPr lang="en-US" altLang="zh-TW" dirty="0" err="1"/>
              <a:t>postprocessing</a:t>
            </a:r>
            <a:r>
              <a:rPr lang="en-US" altLang="zh-TW" dirty="0"/>
              <a:t> of the join, we may, internally, have to forward keys </a:t>
            </a:r>
            <a:r>
              <a:rPr lang="en-US" altLang="zh-TW" dirty="0" smtClean="0"/>
              <a:t>between </a:t>
            </a:r>
            <a:r>
              <a:rPr lang="en-US" altLang="zh-TW" i="1" dirty="0" smtClean="0"/>
              <a:t>u </a:t>
            </a:r>
            <a:r>
              <a:rPr lang="en-US" altLang="zh-TW" dirty="0"/>
              <a:t>and </a:t>
            </a:r>
            <a:r>
              <a:rPr lang="en-US" altLang="zh-TW" i="1" dirty="0"/>
              <a:t>v</a:t>
            </a:r>
            <a:r>
              <a:rPr lang="en-US" altLang="zh-TW" dirty="0"/>
              <a:t>. </a:t>
            </a:r>
            <a:endParaRPr lang="en-US" altLang="zh-TW" dirty="0" smtClean="0"/>
          </a:p>
          <a:p>
            <a:pPr lvl="1"/>
            <a:r>
              <a:rPr lang="en-US" altLang="zh-TW" dirty="0"/>
              <a:t>I</a:t>
            </a:r>
            <a:r>
              <a:rPr lang="en-US" altLang="zh-TW" dirty="0" smtClean="0"/>
              <a:t>f </a:t>
            </a:r>
            <a:r>
              <a:rPr lang="en-US" altLang="zh-TW" dirty="0"/>
              <a:t>a key arrives at </a:t>
            </a:r>
            <a:r>
              <a:rPr lang="en-US" altLang="zh-TW" i="1" dirty="0"/>
              <a:t>v </a:t>
            </a:r>
            <a:r>
              <a:rPr lang="en-US" altLang="zh-TW" dirty="0"/>
              <a:t>from the </a:t>
            </a:r>
            <a:r>
              <a:rPr lang="en-US" altLang="zh-TW" i="1" dirty="0"/>
              <a:t>S</a:t>
            </a:r>
            <a:r>
              <a:rPr lang="en-US" altLang="zh-TW" dirty="0"/>
              <a:t>-structure of the parent and </a:t>
            </a:r>
            <a:r>
              <a:rPr lang="en-US" altLang="zh-TW" i="1" dirty="0" smtClean="0"/>
              <a:t>S</a:t>
            </a:r>
            <a:r>
              <a:rPr lang="en-US" altLang="zh-TW" dirty="0" smtClean="0"/>
              <a:t>(</a:t>
            </a:r>
            <a:r>
              <a:rPr lang="en-US" altLang="zh-TW" i="1" dirty="0" smtClean="0"/>
              <a:t>u</a:t>
            </a:r>
            <a:r>
              <a:rPr lang="en-US" altLang="zh-TW" dirty="0" smtClean="0"/>
              <a:t>) has </a:t>
            </a:r>
            <a:r>
              <a:rPr lang="en-US" altLang="zh-TW" dirty="0"/>
              <a:t>been updated to take over </a:t>
            </a:r>
            <a:r>
              <a:rPr lang="en-US" altLang="zh-TW" i="1" dirty="0"/>
              <a:t>S</a:t>
            </a:r>
            <a:r>
              <a:rPr lang="en-US" altLang="zh-TW" dirty="0"/>
              <a:t>(</a:t>
            </a:r>
            <a:r>
              <a:rPr lang="en-US" altLang="zh-TW" i="1" dirty="0"/>
              <a:t>v</a:t>
            </a:r>
            <a:r>
              <a:rPr lang="en-US" altLang="zh-TW" dirty="0"/>
              <a:t>), the key is </a:t>
            </a:r>
            <a:r>
              <a:rPr lang="en-US" altLang="zh-TW" dirty="0" smtClean="0"/>
              <a:t>transferred </a:t>
            </a:r>
            <a:r>
              <a:rPr lang="en-US" altLang="zh-TW" dirty="0"/>
              <a:t>to </a:t>
            </a:r>
            <a:r>
              <a:rPr lang="en-US" altLang="zh-TW" i="1" dirty="0"/>
              <a:t>S</a:t>
            </a:r>
            <a:r>
              <a:rPr lang="en-US" altLang="zh-TW" dirty="0"/>
              <a:t>(</a:t>
            </a:r>
            <a:r>
              <a:rPr lang="en-US" altLang="zh-TW" i="1" dirty="0"/>
              <a:t>u</a:t>
            </a:r>
            <a:r>
              <a:rPr lang="en-US" altLang="zh-TW" dirty="0"/>
              <a:t>). 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Conversely</a:t>
            </a:r>
            <a:r>
              <a:rPr lang="en-US" altLang="zh-TW" dirty="0"/>
              <a:t>, </a:t>
            </a:r>
            <a:r>
              <a:rPr lang="en-US" altLang="zh-TW" i="1" dirty="0"/>
              <a:t>S</a:t>
            </a:r>
            <a:r>
              <a:rPr lang="en-US" altLang="zh-TW" dirty="0"/>
              <a:t>(</a:t>
            </a:r>
            <a:r>
              <a:rPr lang="en-US" altLang="zh-TW" i="1" dirty="0"/>
              <a:t>v</a:t>
            </a:r>
            <a:r>
              <a:rPr lang="en-US" altLang="zh-TW" dirty="0"/>
              <a:t>) is </a:t>
            </a:r>
            <a:r>
              <a:rPr lang="en-US" altLang="zh-TW" dirty="0" smtClean="0"/>
              <a:t>still in </a:t>
            </a:r>
            <a:r>
              <a:rPr lang="en-US" altLang="zh-TW" dirty="0"/>
              <a:t>use; if a key arriving at </a:t>
            </a:r>
            <a:r>
              <a:rPr lang="en-US" altLang="zh-TW" i="1" dirty="0"/>
              <a:t>u </a:t>
            </a:r>
            <a:r>
              <a:rPr lang="en-US" altLang="zh-TW" dirty="0"/>
              <a:t>is larger than or equal to the splitter of </a:t>
            </a:r>
            <a:r>
              <a:rPr lang="en-US" altLang="zh-TW" i="1" dirty="0"/>
              <a:t>v </a:t>
            </a:r>
            <a:r>
              <a:rPr lang="en-US" altLang="zh-TW" dirty="0"/>
              <a:t>it is transferred </a:t>
            </a:r>
            <a:r>
              <a:rPr lang="en-US" altLang="zh-TW" dirty="0" smtClean="0"/>
              <a:t>to </a:t>
            </a:r>
            <a:r>
              <a:rPr lang="en-US" altLang="zh-TW" i="1" dirty="0" smtClean="0"/>
              <a:t>S</a:t>
            </a:r>
            <a:r>
              <a:rPr lang="en-US" altLang="zh-TW" dirty="0" smtClean="0"/>
              <a:t>(</a:t>
            </a:r>
            <a:r>
              <a:rPr lang="en-US" altLang="zh-TW" i="1" dirty="0" smtClean="0"/>
              <a:t>v</a:t>
            </a:r>
            <a:r>
              <a:rPr lang="en-US" altLang="zh-TW" dirty="0" smtClean="0"/>
              <a:t>).</a:t>
            </a:r>
          </a:p>
          <a:p>
            <a:pPr marL="624078" indent="-514350">
              <a:buFont typeface="+mj-lt"/>
              <a:buAutoNum type="arabicPeriod" startAt="5"/>
            </a:pPr>
            <a:r>
              <a:rPr lang="en-US" altLang="zh-TW" dirty="0"/>
              <a:t>The split is implemented using the same </a:t>
            </a:r>
            <a:r>
              <a:rPr lang="en-US" altLang="zh-TW" dirty="0" smtClean="0"/>
              <a:t>ideas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pPr/>
              <a:t>51</a:t>
            </a:fld>
            <a:endParaRPr lang="zh-TW" altLang="en-US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449973014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xmlns="" Requires="a14">
          <p:sp>
            <p:nvSpPr>
              <p:cNvPr id="2" name="內容版面配置區 1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TW" dirty="0" smtClean="0"/>
                  <a:t>With Definition 7, creating an </a:t>
                </a:r>
                <a:r>
                  <a:rPr lang="en-US" altLang="zh-TW" i="1" dirty="0"/>
                  <a:t>S</a:t>
                </a:r>
                <a:r>
                  <a:rPr lang="en-US" altLang="zh-TW" dirty="0"/>
                  <a:t>-structure for a node </a:t>
                </a:r>
                <a:r>
                  <a:rPr lang="en-US" altLang="zh-TW" i="1" dirty="0"/>
                  <a:t>u</a:t>
                </a:r>
                <a:r>
                  <a:rPr lang="en-US" altLang="zh-TW" dirty="0"/>
                  <a:t> on level </a:t>
                </a:r>
                <a:r>
                  <a:rPr lang="en-US" altLang="zh-TW" i="1" dirty="0" err="1"/>
                  <a:t>i</a:t>
                </a:r>
                <a:r>
                  <a:rPr lang="en-US" altLang="zh-TW" dirty="0"/>
                  <a:t> takes </a:t>
                </a:r>
                <a:r>
                  <a:rPr lang="en-US" altLang="zh-TW" i="1" dirty="0"/>
                  <a:t>O</a:t>
                </a:r>
                <a:r>
                  <a:rPr lang="en-US" altLang="zh-TW" dirty="0"/>
                  <a:t>(</a:t>
                </a:r>
                <a:r>
                  <a:rPr lang="en-US" altLang="zh-TW" i="1" dirty="0"/>
                  <a:t>n</a:t>
                </a:r>
                <a:r>
                  <a:rPr lang="en-US" altLang="zh-TW" i="1" baseline="-25000" dirty="0"/>
                  <a:t>i</a:t>
                </a:r>
                <a:r>
                  <a:rPr lang="en-US" altLang="zh-TW" baseline="-25000" dirty="0"/>
                  <a:t>−</a:t>
                </a:r>
                <a:r>
                  <a:rPr lang="en-US" altLang="zh-TW" baseline="-25000" dirty="0" smtClean="0"/>
                  <a:t>1</a:t>
                </a:r>
                <a:r>
                  <a:rPr lang="en-US" altLang="zh-TW" dirty="0" smtClean="0"/>
                  <a:t>) time</a:t>
                </a:r>
                <a:r>
                  <a:rPr lang="en-US" altLang="zh-TW" dirty="0"/>
                  <a:t>, and the total cost of a finger update is </a:t>
                </a:r>
                <a:r>
                  <a:rPr lang="en-US" altLang="zh-TW" i="1" dirty="0"/>
                  <a:t>O</a:t>
                </a:r>
                <a:r>
                  <a:rPr lang="en-US" altLang="zh-TW" dirty="0"/>
                  <a:t>(log </a:t>
                </a:r>
                <a:r>
                  <a:rPr lang="en-US" altLang="zh-TW" dirty="0" err="1"/>
                  <a:t>log</a:t>
                </a:r>
                <a:r>
                  <a:rPr lang="en-US" altLang="zh-TW" dirty="0"/>
                  <a:t/>
                </a:r>
                <a:r>
                  <a:rPr lang="en-US" altLang="zh-TW" i="1" dirty="0"/>
                  <a:t>n</a:t>
                </a:r>
                <a:r>
                  <a:rPr lang="en-US" altLang="zh-TW" dirty="0" smtClean="0"/>
                  <a:t>).</a:t>
                </a:r>
              </a:p>
              <a:p>
                <a:r>
                  <a:rPr lang="en-US" altLang="zh-TW" dirty="0" smtClean="0"/>
                  <a:t>Proof: </a:t>
                </a:r>
                <a:r>
                  <a:rPr lang="en-US" altLang="zh-TW" dirty="0"/>
                  <a:t>Since </a:t>
                </a:r>
                <a:r>
                  <a:rPr lang="en-US" altLang="zh-TW" i="1" dirty="0"/>
                  <a:t>u </a:t>
                </a:r>
                <a:r>
                  <a:rPr lang="en-US" altLang="zh-TW" dirty="0"/>
                  <a:t>has degree at most </a:t>
                </a:r>
                <a:r>
                  <a:rPr lang="el-GR" altLang="zh-TW" dirty="0" smtClean="0"/>
                  <a:t>Θ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 dirty="0" smtClean="0">
                            <a:latin typeface="Cambria Math"/>
                          </a:rPr>
                        </m:ctrlPr>
                      </m:sSubSupPr>
                      <m:e>
                        <m:r>
                          <a:rPr lang="en-US" altLang="zh-TW" b="0" i="1" dirty="0" smtClean="0">
                            <a:latin typeface="Cambria Math"/>
                          </a:rPr>
                          <m:t>(</m:t>
                        </m:r>
                        <m:r>
                          <a:rPr lang="en-US" altLang="zh-TW" b="0" i="1" dirty="0" smtClean="0">
                            <a:latin typeface="Cambria Math"/>
                          </a:rPr>
                          <m:t>𝑛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/>
                          </a:rPr>
                          <m:t>𝑖</m:t>
                        </m:r>
                      </m:sub>
                      <m:sup>
                        <m:r>
                          <a:rPr lang="en-US" altLang="zh-TW" b="0" i="1" dirty="0" smtClean="0">
                            <a:latin typeface="Cambria Math"/>
                          </a:rPr>
                          <m:t>1/</m:t>
                        </m:r>
                        <m:r>
                          <a:rPr lang="en-US" altLang="zh-TW" b="0" i="1" dirty="0" smtClean="0">
                            <a:latin typeface="Cambria Math"/>
                          </a:rPr>
                          <m:t>𝑘</m:t>
                        </m:r>
                      </m:sup>
                    </m:sSubSup>
                    <m:r>
                      <a:rPr lang="en-US" altLang="zh-TW" b="0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altLang="zh-TW" dirty="0"/>
                  <a:t>, the creation takes </a:t>
                </a:r>
                <a:r>
                  <a:rPr lang="el-GR" altLang="zh-TW" dirty="0"/>
                  <a:t>Θ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b="0" i="1" dirty="0" smtClean="0">
                            <a:latin typeface="Cambria Math"/>
                          </a:rPr>
                        </m:ctrlPr>
                      </m:sSupPr>
                      <m:e>
                        <m:sSubSup>
                          <m:sSubSupPr>
                            <m:ctrlPr>
                              <a:rPr lang="en-US" altLang="zh-TW" i="1" dirty="0">
                                <a:latin typeface="Cambria Math"/>
                              </a:rPr>
                            </m:ctrlPr>
                          </m:sSubSupPr>
                          <m:e>
                            <m:r>
                              <a:rPr lang="en-US" altLang="zh-TW" i="1" dirty="0">
                                <a:latin typeface="Cambria Math"/>
                              </a:rPr>
                              <m:t>(</m:t>
                            </m:r>
                            <m:r>
                              <a:rPr lang="en-US" altLang="zh-TW" i="1" dirty="0">
                                <a:latin typeface="Cambria Math"/>
                              </a:rPr>
                              <m:t>(</m:t>
                            </m:r>
                            <m:r>
                              <a:rPr lang="en-US" altLang="zh-TW" i="1" dirty="0">
                                <a:latin typeface="Cambria Math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TW" i="1" dirty="0">
                                <a:latin typeface="Cambria Math"/>
                              </a:rPr>
                              <m:t>𝑖</m:t>
                            </m:r>
                          </m:sub>
                          <m:sup>
                            <m:r>
                              <a:rPr lang="en-US" altLang="zh-TW" i="1" dirty="0">
                                <a:latin typeface="Cambria Math"/>
                              </a:rPr>
                              <m:t>1/</m:t>
                            </m:r>
                            <m:r>
                              <a:rPr lang="en-US" altLang="zh-TW" i="1" dirty="0">
                                <a:latin typeface="Cambria Math"/>
                              </a:rPr>
                              <m:t>𝑘</m:t>
                            </m:r>
                          </m:sup>
                        </m:sSubSup>
                        <m:r>
                          <a:rPr lang="en-US" altLang="zh-TW" i="1" dirty="0">
                            <a:latin typeface="Cambria Math"/>
                          </a:rPr>
                          <m:t>)</m:t>
                        </m:r>
                      </m:e>
                      <m:sup>
                        <m:r>
                          <a:rPr lang="en-US" altLang="zh-TW" b="0" i="1" dirty="0" smtClean="0">
                            <a:latin typeface="Cambria Math"/>
                          </a:rPr>
                          <m:t>𝑘</m:t>
                        </m:r>
                        <m:r>
                          <a:rPr lang="en-US" altLang="zh-TW" b="0" i="1" dirty="0" smtClean="0">
                            <a:latin typeface="Cambria Math"/>
                          </a:rPr>
                          <m:t>−1</m:t>
                        </m:r>
                      </m:sup>
                    </m:sSup>
                    <m:r>
                      <a:rPr lang="en-US" altLang="zh-TW" i="1" dirty="0">
                        <a:latin typeface="Cambria Math"/>
                      </a:rPr>
                      <m:t>)</m:t>
                    </m:r>
                  </m:oMath>
                </a14:m>
                <a:r>
                  <a:rPr lang="pt-BR" altLang="zh-TW" dirty="0"/>
                  <a:t>= </a:t>
                </a:r>
                <a:r>
                  <a:rPr lang="pt-BR" altLang="zh-TW" i="1" dirty="0"/>
                  <a:t>O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 dirty="0">
                            <a:latin typeface="Cambria Math"/>
                          </a:rPr>
                        </m:ctrlPr>
                      </m:sSubSupPr>
                      <m:e>
                        <m:r>
                          <a:rPr lang="en-US" altLang="zh-TW" i="1" dirty="0">
                            <a:latin typeface="Cambria Math"/>
                          </a:rPr>
                          <m:t>(</m:t>
                        </m:r>
                        <m:r>
                          <a:rPr lang="en-US" altLang="zh-TW" i="1" dirty="0">
                            <a:latin typeface="Cambria Math"/>
                          </a:rPr>
                          <m:t>𝑛</m:t>
                        </m:r>
                      </m:e>
                      <m:sub>
                        <m:r>
                          <a:rPr lang="en-US" altLang="zh-TW" i="1" dirty="0">
                            <a:latin typeface="Cambria Math"/>
                          </a:rPr>
                          <m:t>𝑖</m:t>
                        </m:r>
                      </m:sub>
                      <m:sup>
                        <m:r>
                          <a:rPr lang="en-US" altLang="zh-TW" b="0" i="1" dirty="0" smtClean="0">
                            <a:latin typeface="Cambria Math"/>
                          </a:rPr>
                          <m:t>1−</m:t>
                        </m:r>
                        <m:r>
                          <a:rPr lang="en-US" altLang="zh-TW" i="1" dirty="0">
                            <a:latin typeface="Cambria Math"/>
                          </a:rPr>
                          <m:t>1/</m:t>
                        </m:r>
                        <m:r>
                          <a:rPr lang="en-US" altLang="zh-TW" i="1" dirty="0">
                            <a:latin typeface="Cambria Math"/>
                          </a:rPr>
                          <m:t>𝑘</m:t>
                        </m:r>
                      </m:sup>
                    </m:sSubSup>
                  </m:oMath>
                </a14:m>
                <a:r>
                  <a:rPr lang="en-US" altLang="zh-TW" dirty="0"/>
                  <a:t>) </a:t>
                </a:r>
                <a:r>
                  <a:rPr lang="en-US" altLang="zh-TW" dirty="0" smtClean="0"/>
                  <a:t>= </a:t>
                </a:r>
                <a:r>
                  <a:rPr lang="en-US" altLang="zh-TW" i="1" dirty="0" smtClean="0"/>
                  <a:t>O</a:t>
                </a:r>
                <a:r>
                  <a:rPr lang="en-US" altLang="zh-TW" dirty="0" smtClean="0"/>
                  <a:t>(</a:t>
                </a:r>
                <a:r>
                  <a:rPr lang="en-US" altLang="zh-TW" i="1" dirty="0" smtClean="0"/>
                  <a:t>n</a:t>
                </a:r>
                <a:r>
                  <a:rPr lang="en-US" altLang="zh-TW" i="1" baseline="-25000" dirty="0" smtClean="0"/>
                  <a:t>i</a:t>
                </a:r>
                <a:r>
                  <a:rPr lang="en-US" altLang="zh-TW" i="1" baseline="-25000" dirty="0"/>
                  <a:t>−</a:t>
                </a:r>
                <a:r>
                  <a:rPr lang="en-US" altLang="zh-TW" baseline="-25000" dirty="0"/>
                  <a:t>1</a:t>
                </a:r>
                <a:r>
                  <a:rPr lang="en-US" altLang="zh-TW" dirty="0"/>
                  <a:t>) time. Thus, we get </a:t>
                </a:r>
                <a:r>
                  <a:rPr lang="en-US" altLang="zh-TW" i="1" dirty="0" err="1"/>
                  <a:t>t</a:t>
                </a:r>
                <a:r>
                  <a:rPr lang="en-US" altLang="zh-TW" i="1" baseline="-25000" dirty="0" err="1"/>
                  <a:t>i</a:t>
                </a:r>
                <a:r>
                  <a:rPr lang="en-US" altLang="zh-TW" i="1" dirty="0"/>
                  <a:t/>
                </a:r>
                <a:r>
                  <a:rPr lang="en-US" altLang="zh-TW" dirty="0"/>
                  <a:t>= </a:t>
                </a:r>
                <a:r>
                  <a:rPr lang="en-US" altLang="zh-TW" i="1" dirty="0"/>
                  <a:t>O</a:t>
                </a:r>
                <a:r>
                  <a:rPr lang="en-US" altLang="zh-TW" dirty="0"/>
                  <a:t>(1) in Corollary 10, corresponding to a finger update </a:t>
                </a:r>
                <a:r>
                  <a:rPr lang="en-US" altLang="zh-TW" dirty="0" smtClean="0"/>
                  <a:t>time of </a:t>
                </a:r>
                <a:r>
                  <a:rPr lang="en-US" altLang="zh-TW" i="1" dirty="0"/>
                  <a:t>O</a:t>
                </a:r>
                <a:r>
                  <a:rPr lang="en-US" altLang="zh-TW" dirty="0"/>
                  <a:t>(log </a:t>
                </a:r>
                <a:r>
                  <a:rPr lang="en-US" altLang="zh-TW" dirty="0" err="1"/>
                  <a:t>log</a:t>
                </a:r>
                <a:r>
                  <a:rPr lang="en-US" altLang="zh-TW" dirty="0"/>
                  <a:t/>
                </a:r>
                <a:r>
                  <a:rPr lang="en-US" altLang="zh-TW" i="1" dirty="0"/>
                  <a:t>n</a:t>
                </a:r>
                <a:r>
                  <a:rPr lang="en-US" altLang="zh-TW" dirty="0"/>
                  <a:t>).</a:t>
                </a:r>
                <a:endParaRPr lang="zh-TW" altLang="en-US" dirty="0"/>
              </a:p>
            </p:txBody>
          </p:sp>
        </mc:Choice>
        <mc:Fallback>
          <p:sp>
            <p:nvSpPr>
              <p:cNvPr id="2" name="內容版面配置區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1213" r="-2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pPr/>
              <a:t>52</a:t>
            </a:fld>
            <a:endParaRPr lang="zh-TW" altLang="en-US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0" dirty="0"/>
              <a:t>Lemma 12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862756930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Introduction</a:t>
            </a:r>
          </a:p>
          <a:p>
            <a:r>
              <a:rPr lang="en-US" altLang="zh-TW" dirty="0" smtClean="0"/>
              <a:t>Amortized exponential </a:t>
            </a:r>
            <a:r>
              <a:rPr lang="en-US" altLang="zh-TW" dirty="0"/>
              <a:t>s</a:t>
            </a:r>
            <a:r>
              <a:rPr lang="en-US" altLang="zh-TW" dirty="0" smtClean="0"/>
              <a:t>earch </a:t>
            </a:r>
            <a:r>
              <a:rPr lang="en-US" altLang="zh-TW" dirty="0"/>
              <a:t>t</a:t>
            </a:r>
            <a:r>
              <a:rPr lang="en-US" altLang="zh-TW" dirty="0" smtClean="0"/>
              <a:t>ree</a:t>
            </a:r>
          </a:p>
          <a:p>
            <a:r>
              <a:rPr lang="en-US" altLang="zh-TW" dirty="0" smtClean="0"/>
              <a:t>Worst case </a:t>
            </a:r>
            <a:r>
              <a:rPr lang="en-US" altLang="zh-TW" dirty="0"/>
              <a:t>efficient e</a:t>
            </a:r>
            <a:r>
              <a:rPr lang="en-US" altLang="zh-TW" dirty="0" smtClean="0"/>
              <a:t>xponential search tree</a:t>
            </a:r>
          </a:p>
          <a:p>
            <a:r>
              <a:rPr lang="en-US" altLang="zh-TW" dirty="0">
                <a:solidFill>
                  <a:srgbClr val="FF0000"/>
                </a:solidFill>
              </a:rPr>
              <a:t>Static search structures</a:t>
            </a:r>
          </a:p>
          <a:p>
            <a:r>
              <a:rPr lang="en-US" altLang="zh-TW" dirty="0" smtClean="0"/>
              <a:t>Finger </a:t>
            </a:r>
            <a:r>
              <a:rPr lang="en-US" altLang="zh-TW" dirty="0"/>
              <a:t>Search</a:t>
            </a:r>
          </a:p>
          <a:p>
            <a:r>
              <a:rPr lang="en-US" altLang="zh-TW" dirty="0"/>
              <a:t>String </a:t>
            </a:r>
            <a:r>
              <a:rPr lang="en-US" altLang="zh-TW" dirty="0" smtClean="0"/>
              <a:t>Search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Outline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pPr/>
              <a:t>53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262545486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The memory is divided into addressable words </a:t>
            </a:r>
            <a:r>
              <a:rPr lang="en-US" altLang="zh-TW" dirty="0" smtClean="0"/>
              <a:t>of length </a:t>
            </a:r>
            <a:r>
              <a:rPr lang="en-US" altLang="zh-TW" i="1" dirty="0"/>
              <a:t>W</a:t>
            </a:r>
            <a:r>
              <a:rPr lang="en-US" altLang="zh-TW" dirty="0"/>
              <a:t>. </a:t>
            </a:r>
            <a:endParaRPr lang="en-US" altLang="zh-TW" dirty="0" smtClean="0"/>
          </a:p>
          <a:p>
            <a:r>
              <a:rPr lang="en-US" altLang="zh-TW" dirty="0" smtClean="0"/>
              <a:t>Addresses </a:t>
            </a:r>
            <a:r>
              <a:rPr lang="en-US" altLang="zh-TW" dirty="0"/>
              <a:t>are themselves contained in words, so </a:t>
            </a:r>
            <a:r>
              <a:rPr lang="en-US" altLang="zh-TW" i="1" dirty="0"/>
              <a:t>W </a:t>
            </a:r>
            <a:r>
              <a:rPr lang="en-US" altLang="zh-TW" i="1" dirty="0" smtClean="0"/>
              <a:t>≥ </a:t>
            </a:r>
            <a:r>
              <a:rPr lang="en-US" altLang="zh-TW" dirty="0"/>
              <a:t>log </a:t>
            </a:r>
            <a:r>
              <a:rPr lang="en-US" altLang="zh-TW" i="1" dirty="0"/>
              <a:t>n</a:t>
            </a:r>
            <a:r>
              <a:rPr lang="en-US" altLang="zh-TW" dirty="0"/>
              <a:t>. </a:t>
            </a:r>
            <a:endParaRPr lang="en-US" altLang="zh-TW" dirty="0" smtClean="0"/>
          </a:p>
          <a:p>
            <a:r>
              <a:rPr lang="en-US" altLang="zh-TW" dirty="0" smtClean="0"/>
              <a:t>Moreover</a:t>
            </a:r>
            <a:r>
              <a:rPr lang="en-US" altLang="zh-TW" dirty="0"/>
              <a:t>, we </a:t>
            </a:r>
            <a:r>
              <a:rPr lang="en-US" altLang="zh-TW" dirty="0" smtClean="0"/>
              <a:t>have a </a:t>
            </a:r>
            <a:r>
              <a:rPr lang="en-US" altLang="zh-TW" dirty="0"/>
              <a:t>constant number of registers, each with capacity for one word. </a:t>
            </a:r>
            <a:endParaRPr lang="en-US" altLang="zh-TW" dirty="0" smtClean="0"/>
          </a:p>
          <a:p>
            <a:r>
              <a:rPr lang="en-US" altLang="zh-TW" dirty="0" smtClean="0"/>
              <a:t>The </a:t>
            </a:r>
            <a:r>
              <a:rPr lang="en-US" altLang="zh-TW" dirty="0"/>
              <a:t>basic instructions are</a:t>
            </a:r>
            <a:r>
              <a:rPr lang="en-US" altLang="zh-TW" dirty="0" smtClean="0"/>
              <a:t>:</a:t>
            </a:r>
            <a:r>
              <a:rPr lang="en-US" altLang="zh-TW" dirty="0"/>
              <a:t> conditional jumps, direct and indirect addressing for loading and storing words in </a:t>
            </a:r>
            <a:r>
              <a:rPr lang="en-US" altLang="zh-TW" dirty="0" smtClean="0"/>
              <a:t>registers, comparisons</a:t>
            </a:r>
            <a:r>
              <a:rPr lang="en-US" altLang="zh-TW" dirty="0"/>
              <a:t>, addition, </a:t>
            </a:r>
            <a:r>
              <a:rPr lang="en-US" altLang="zh-TW" dirty="0" smtClean="0"/>
              <a:t>and multiplication.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RAM model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pPr/>
              <a:t>54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69157563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altLang="zh-TW" dirty="0"/>
              <a:t>A computational </a:t>
            </a:r>
            <a:r>
              <a:rPr lang="en-US" altLang="zh-TW" dirty="0" smtClean="0"/>
              <a:t>instruction is </a:t>
            </a:r>
            <a:r>
              <a:rPr lang="en-US" altLang="zh-TW" dirty="0"/>
              <a:t>an AC</a:t>
            </a:r>
            <a:r>
              <a:rPr lang="en-US" altLang="zh-TW" baseline="30000" dirty="0"/>
              <a:t>0</a:t>
            </a:r>
            <a:r>
              <a:rPr lang="en-US" altLang="zh-TW" dirty="0"/>
              <a:t> operation if it is </a:t>
            </a:r>
            <a:r>
              <a:rPr lang="en-US" altLang="zh-TW" dirty="0">
                <a:solidFill>
                  <a:srgbClr val="FF0000"/>
                </a:solidFill>
              </a:rPr>
              <a:t>computable by an </a:t>
            </a:r>
            <a:r>
              <a:rPr lang="en-US" altLang="zh-TW" i="1" dirty="0">
                <a:solidFill>
                  <a:srgbClr val="FF0000"/>
                </a:solidFill>
              </a:rPr>
              <a:t>W</a:t>
            </a:r>
            <a:r>
              <a:rPr lang="en-US" altLang="zh-TW" i="1" baseline="30000" dirty="0">
                <a:solidFill>
                  <a:srgbClr val="FF0000"/>
                </a:solidFill>
              </a:rPr>
              <a:t>O</a:t>
            </a:r>
            <a:r>
              <a:rPr lang="en-US" altLang="zh-TW" baseline="30000" dirty="0">
                <a:solidFill>
                  <a:srgbClr val="FF0000"/>
                </a:solidFill>
              </a:rPr>
              <a:t>(1)</a:t>
            </a:r>
            <a:r>
              <a:rPr lang="en-US" altLang="zh-TW" dirty="0">
                <a:solidFill>
                  <a:srgbClr val="FF0000"/>
                </a:solidFill>
              </a:rPr>
              <a:t>-sized constant depth circuit with </a:t>
            </a:r>
            <a:r>
              <a:rPr lang="en-US" altLang="zh-TW" i="1" dirty="0" smtClean="0">
                <a:solidFill>
                  <a:srgbClr val="FF0000"/>
                </a:solidFill>
              </a:rPr>
              <a:t>O</a:t>
            </a:r>
            <a:r>
              <a:rPr lang="en-US" altLang="zh-TW" dirty="0" smtClean="0">
                <a:solidFill>
                  <a:srgbClr val="FF0000"/>
                </a:solidFill>
              </a:rPr>
              <a:t>(</a:t>
            </a:r>
            <a:r>
              <a:rPr lang="en-US" altLang="zh-TW" i="1" dirty="0" smtClean="0">
                <a:solidFill>
                  <a:srgbClr val="FF0000"/>
                </a:solidFill>
              </a:rPr>
              <a:t>W</a:t>
            </a:r>
            <a:r>
              <a:rPr lang="en-US" altLang="zh-TW" dirty="0" smtClean="0">
                <a:solidFill>
                  <a:srgbClr val="FF0000"/>
                </a:solidFill>
              </a:rPr>
              <a:t>) input </a:t>
            </a:r>
            <a:r>
              <a:rPr lang="en-US" altLang="zh-TW" dirty="0">
                <a:solidFill>
                  <a:srgbClr val="FF0000"/>
                </a:solidFill>
              </a:rPr>
              <a:t>and output bits</a:t>
            </a:r>
            <a:r>
              <a:rPr lang="en-US" altLang="zh-TW" dirty="0"/>
              <a:t>. </a:t>
            </a:r>
            <a:endParaRPr lang="en-US" altLang="zh-TW" dirty="0" smtClean="0"/>
          </a:p>
          <a:p>
            <a:r>
              <a:rPr lang="en-US" altLang="zh-TW" dirty="0" smtClean="0"/>
              <a:t>In </a:t>
            </a:r>
            <a:r>
              <a:rPr lang="en-US" altLang="zh-TW" dirty="0"/>
              <a:t>the circuit we may have negation, and-gates, and or-gates </a:t>
            </a:r>
            <a:r>
              <a:rPr lang="en-US" altLang="zh-TW" dirty="0" smtClean="0"/>
              <a:t>with unbounded </a:t>
            </a:r>
            <a:r>
              <a:rPr lang="en-US" altLang="zh-TW" dirty="0"/>
              <a:t>fan-in. </a:t>
            </a:r>
            <a:endParaRPr lang="en-US" altLang="zh-TW" dirty="0" smtClean="0"/>
          </a:p>
          <a:p>
            <a:r>
              <a:rPr lang="en-US" altLang="zh-TW" dirty="0" smtClean="0"/>
              <a:t>Addition</a:t>
            </a:r>
            <a:r>
              <a:rPr lang="en-US" altLang="zh-TW" dirty="0"/>
              <a:t>, shift, and bit-wise Boolean operations are all AC</a:t>
            </a:r>
            <a:r>
              <a:rPr lang="en-US" altLang="zh-TW" baseline="30000" dirty="0"/>
              <a:t>0</a:t>
            </a:r>
            <a:r>
              <a:rPr lang="en-US" altLang="zh-TW" dirty="0"/>
              <a:t> </a:t>
            </a:r>
            <a:r>
              <a:rPr lang="en-US" altLang="zh-TW" dirty="0" smtClean="0"/>
              <a:t>operations. On </a:t>
            </a:r>
            <a:r>
              <a:rPr lang="en-US" altLang="zh-TW" dirty="0"/>
              <a:t>the other hand, multiplication is not</a:t>
            </a:r>
            <a:r>
              <a:rPr lang="en-US" altLang="zh-TW" dirty="0" smtClean="0"/>
              <a:t>.</a:t>
            </a:r>
          </a:p>
          <a:p>
            <a:r>
              <a:rPr lang="en-US" altLang="zh-TW" dirty="0"/>
              <a:t>In this paper, we will present a linear </a:t>
            </a:r>
            <a:r>
              <a:rPr lang="en-US" altLang="zh-TW" dirty="0" smtClean="0"/>
              <a:t>space worst-case </a:t>
            </a:r>
            <a:r>
              <a:rPr lang="en-US" altLang="zh-TW" dirty="0"/>
              <a:t>time bound of </a:t>
            </a:r>
            <a:r>
              <a:rPr lang="en-US" altLang="zh-TW" i="1" dirty="0"/>
              <a:t>O</a:t>
            </a:r>
            <a:r>
              <a:rPr lang="en-US" altLang="zh-TW" dirty="0"/>
              <a:t>((log </a:t>
            </a:r>
            <a:r>
              <a:rPr lang="en-US" altLang="zh-TW" i="1" dirty="0"/>
              <a:t>n</a:t>
            </a:r>
            <a:r>
              <a:rPr lang="en-US" altLang="zh-TW" dirty="0"/>
              <a:t>)</a:t>
            </a:r>
            <a:r>
              <a:rPr lang="en-US" altLang="zh-TW" baseline="30000" dirty="0"/>
              <a:t>3</a:t>
            </a:r>
            <a:r>
              <a:rPr lang="en-US" altLang="zh-TW" i="1" baseline="30000" dirty="0"/>
              <a:t>/</a:t>
            </a:r>
            <a:r>
              <a:rPr lang="en-US" altLang="zh-TW" baseline="30000" dirty="0"/>
              <a:t>4+</a:t>
            </a:r>
            <a:r>
              <a:rPr lang="en-US" altLang="zh-TW" i="1" baseline="30000" dirty="0"/>
              <a:t>o</a:t>
            </a:r>
            <a:r>
              <a:rPr lang="en-US" altLang="zh-TW" baseline="30000" dirty="0"/>
              <a:t>(1)</a:t>
            </a:r>
            <a:r>
              <a:rPr lang="en-US" altLang="zh-TW" dirty="0"/>
              <a:t>) using only standard AC</a:t>
            </a:r>
            <a:r>
              <a:rPr lang="en-US" altLang="zh-TW" baseline="30000" dirty="0"/>
              <a:t>0</a:t>
            </a:r>
            <a:r>
              <a:rPr lang="en-US" altLang="zh-TW" dirty="0"/>
              <a:t> </a:t>
            </a:r>
            <a:r>
              <a:rPr lang="en-US" altLang="zh-TW" dirty="0" smtClean="0"/>
              <a:t>operations.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AC</a:t>
            </a:r>
            <a:r>
              <a:rPr lang="en-US" altLang="zh-TW" baseline="30000" dirty="0" smtClean="0"/>
              <a:t>0</a:t>
            </a:r>
            <a:r>
              <a:rPr lang="en-US" altLang="zh-TW" dirty="0" smtClean="0"/>
              <a:t> Operation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pPr/>
              <a:t>55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738752552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Introduction</a:t>
            </a:r>
          </a:p>
          <a:p>
            <a:r>
              <a:rPr lang="en-US" altLang="zh-TW" dirty="0" smtClean="0"/>
              <a:t>Amortized optimal exponential </a:t>
            </a:r>
            <a:r>
              <a:rPr lang="en-US" altLang="zh-TW" dirty="0"/>
              <a:t>s</a:t>
            </a:r>
            <a:r>
              <a:rPr lang="en-US" altLang="zh-TW" dirty="0" smtClean="0"/>
              <a:t>earch </a:t>
            </a:r>
            <a:r>
              <a:rPr lang="en-US" altLang="zh-TW" dirty="0"/>
              <a:t>t</a:t>
            </a:r>
            <a:r>
              <a:rPr lang="en-US" altLang="zh-TW" dirty="0" smtClean="0"/>
              <a:t>ree</a:t>
            </a:r>
          </a:p>
          <a:p>
            <a:r>
              <a:rPr lang="en-US" altLang="zh-TW" dirty="0" smtClean="0"/>
              <a:t>Worst case optimal </a:t>
            </a:r>
            <a:r>
              <a:rPr lang="en-US" altLang="zh-TW" dirty="0"/>
              <a:t>e</a:t>
            </a:r>
            <a:r>
              <a:rPr lang="en-US" altLang="zh-TW" dirty="0" smtClean="0"/>
              <a:t>xponential search tree</a:t>
            </a:r>
          </a:p>
          <a:p>
            <a:r>
              <a:rPr lang="en-US" altLang="zh-TW" dirty="0"/>
              <a:t>Static search structures</a:t>
            </a:r>
          </a:p>
          <a:p>
            <a:r>
              <a:rPr lang="en-US" altLang="zh-TW" dirty="0" smtClean="0">
                <a:solidFill>
                  <a:srgbClr val="FF0000"/>
                </a:solidFill>
              </a:rPr>
              <a:t>Finger </a:t>
            </a:r>
            <a:r>
              <a:rPr lang="en-US" altLang="zh-TW" dirty="0">
                <a:solidFill>
                  <a:srgbClr val="FF0000"/>
                </a:solidFill>
              </a:rPr>
              <a:t>Search</a:t>
            </a:r>
          </a:p>
          <a:p>
            <a:r>
              <a:rPr lang="en-US" altLang="zh-TW" dirty="0"/>
              <a:t>String </a:t>
            </a:r>
            <a:r>
              <a:rPr lang="en-US" altLang="zh-TW" dirty="0" smtClean="0"/>
              <a:t>Search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Outline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pPr/>
              <a:t>56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547213040"/>
      </p:ext>
    </p:extLst>
  </p:cSld>
  <p:clrMapOvr>
    <a:masterClrMapping/>
  </p:clrMapOvr>
  <p:transition>
    <p:cut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By </a:t>
            </a:r>
            <a:r>
              <a:rPr lang="en-US" altLang="zh-TW" i="1" dirty="0"/>
              <a:t>finger search </a:t>
            </a:r>
            <a:r>
              <a:rPr lang="en-US" altLang="zh-TW" dirty="0"/>
              <a:t>we mean that we can have a “finger” pointing at a stored key </a:t>
            </a:r>
            <a:r>
              <a:rPr lang="en-US" altLang="zh-TW" i="1" dirty="0"/>
              <a:t>x </a:t>
            </a:r>
            <a:r>
              <a:rPr lang="en-US" altLang="zh-TW" dirty="0" smtClean="0"/>
              <a:t>when searching </a:t>
            </a:r>
            <a:r>
              <a:rPr lang="en-US" altLang="zh-TW" dirty="0"/>
              <a:t>for a key </a:t>
            </a:r>
            <a:r>
              <a:rPr lang="en-US" altLang="zh-TW" i="1" dirty="0"/>
              <a:t>y</a:t>
            </a:r>
            <a:r>
              <a:rPr lang="en-US" altLang="zh-TW" dirty="0"/>
              <a:t>. </a:t>
            </a:r>
            <a:endParaRPr lang="en-US" altLang="zh-TW" dirty="0" smtClean="0"/>
          </a:p>
          <a:p>
            <a:r>
              <a:rPr lang="en-US" altLang="zh-TW" dirty="0" smtClean="0"/>
              <a:t>Here </a:t>
            </a:r>
            <a:r>
              <a:rPr lang="en-US" altLang="zh-TW" dirty="0"/>
              <a:t>a finger is just a reference returned to the user when </a:t>
            </a:r>
            <a:r>
              <a:rPr lang="en-US" altLang="zh-TW" i="1" dirty="0"/>
              <a:t>x </a:t>
            </a:r>
            <a:r>
              <a:rPr lang="en-US" altLang="zh-TW" dirty="0"/>
              <a:t>is </a:t>
            </a:r>
            <a:r>
              <a:rPr lang="en-US" altLang="zh-TW" dirty="0" smtClean="0"/>
              <a:t>inserted or </a:t>
            </a:r>
            <a:r>
              <a:rPr lang="en-US" altLang="zh-TW" dirty="0"/>
              <a:t>searched for. </a:t>
            </a:r>
            <a:endParaRPr lang="en-US" altLang="zh-TW" dirty="0" smtClean="0"/>
          </a:p>
          <a:p>
            <a:r>
              <a:rPr lang="en-US" altLang="zh-TW" dirty="0" smtClean="0"/>
              <a:t>The </a:t>
            </a:r>
            <a:r>
              <a:rPr lang="en-US" altLang="zh-TW" dirty="0"/>
              <a:t>goal is to do better if the number </a:t>
            </a:r>
            <a:r>
              <a:rPr lang="en-US" altLang="zh-TW" i="1" dirty="0"/>
              <a:t>q </a:t>
            </a:r>
            <a:r>
              <a:rPr lang="en-US" altLang="zh-TW" dirty="0"/>
              <a:t>of stored keys between </a:t>
            </a:r>
            <a:r>
              <a:rPr lang="en-US" altLang="zh-TW" i="1" dirty="0"/>
              <a:t>x </a:t>
            </a:r>
            <a:r>
              <a:rPr lang="en-US" altLang="zh-TW" dirty="0"/>
              <a:t>and </a:t>
            </a:r>
            <a:r>
              <a:rPr lang="en-US" altLang="zh-TW" i="1" dirty="0"/>
              <a:t>y </a:t>
            </a:r>
            <a:r>
              <a:rPr lang="en-US" altLang="zh-TW" dirty="0" smtClean="0"/>
              <a:t>is small</a:t>
            </a:r>
            <a:r>
              <a:rPr lang="en-US" altLang="zh-TW" dirty="0"/>
              <a:t>.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Finger Search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pPr/>
              <a:t>57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440694961"/>
      </p:ext>
    </p:extLst>
  </p:cSld>
  <p:clrMapOvr>
    <a:masterClrMapping/>
  </p:clrMapOvr>
  <p:transition>
    <p:cut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xmlns="" Requires="a14">
          <p:sp>
            <p:nvSpPr>
              <p:cNvPr id="2" name="內容版面配置區 1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altLang="zh-TW" dirty="0" smtClean="0"/>
                  <a:t>For a finger insertion, we are given a finger to the key after which </a:t>
                </a:r>
                <a:r>
                  <a:rPr lang="en-US" altLang="zh-TW" dirty="0"/>
                  <a:t>the new key is to be inserted</a:t>
                </a:r>
                <a:r>
                  <a:rPr lang="en-US" altLang="zh-TW" dirty="0" smtClean="0"/>
                  <a:t>.</a:t>
                </a:r>
              </a:p>
              <a:p>
                <a:r>
                  <a:rPr lang="en-US" altLang="zh-TW" dirty="0"/>
                  <a:t>The finger delete is </a:t>
                </a:r>
                <a:r>
                  <a:rPr lang="en-US" altLang="zh-TW" dirty="0" smtClean="0"/>
                  <a:t>just a </a:t>
                </a:r>
                <a:r>
                  <a:rPr lang="en-US" altLang="zh-TW" dirty="0"/>
                  <a:t>regular delete as defined above, i.e. we are given a pointer to the key to be deleted</a:t>
                </a:r>
                <a:r>
                  <a:rPr lang="en-US" altLang="zh-TW" dirty="0" smtClean="0"/>
                  <a:t>.</a:t>
                </a:r>
              </a:p>
              <a:p>
                <a:r>
                  <a:rPr lang="en-US" altLang="zh-TW" dirty="0"/>
                  <a:t>In the comparison-based model of computation Dietz and Raman </a:t>
                </a:r>
                <a:r>
                  <a:rPr lang="en-US" altLang="zh-TW" dirty="0" smtClean="0"/>
                  <a:t>have provided optimal </a:t>
                </a:r>
                <a:r>
                  <a:rPr lang="en-US" altLang="zh-TW" dirty="0"/>
                  <a:t>bounds, supporting finger searches in </a:t>
                </a:r>
                <a:r>
                  <a:rPr lang="en-US" altLang="zh-TW" i="1" dirty="0"/>
                  <a:t>O</a:t>
                </a:r>
                <a:r>
                  <a:rPr lang="en-US" altLang="zh-TW" dirty="0"/>
                  <a:t>(log </a:t>
                </a:r>
                <a:r>
                  <a:rPr lang="en-US" altLang="zh-TW" i="1" dirty="0"/>
                  <a:t>q</a:t>
                </a:r>
                <a:r>
                  <a:rPr lang="en-US" altLang="zh-TW" dirty="0"/>
                  <a:t>) time while supporting finger </a:t>
                </a:r>
                <a:r>
                  <a:rPr lang="en-US" altLang="zh-TW" dirty="0" smtClean="0"/>
                  <a:t>updates in </a:t>
                </a:r>
                <a:r>
                  <a:rPr lang="en-US" altLang="zh-TW" dirty="0"/>
                  <a:t>constant time</a:t>
                </a:r>
                <a:r>
                  <a:rPr lang="en-US" altLang="zh-TW" dirty="0" smtClean="0"/>
                  <a:t>.</a:t>
                </a:r>
              </a:p>
              <a:p>
                <a:r>
                  <a:rPr lang="en-US" altLang="zh-TW" dirty="0"/>
                  <a:t>In this paper we present optimal bounds on the RAM; namely </a:t>
                </a:r>
                <a:r>
                  <a:rPr lang="en-US" altLang="zh-TW" i="1" dirty="0" smtClean="0">
                    <a:solidFill>
                      <a:schemeClr val="tx1"/>
                    </a:solidFill>
                  </a:rPr>
                  <a:t>O</a:t>
                </a:r>
                <a:r>
                  <a:rPr lang="en-US" altLang="zh-TW" dirty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TW" i="1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m:rPr>
                            <m:nor/>
                          </m:rPr>
                          <a:rPr lang="en-US" altLang="zh-TW">
                            <a:solidFill>
                              <a:schemeClr val="tx1"/>
                            </a:solidFill>
                            <a:latin typeface="Cambria Math"/>
                          </a:rPr>
                          <m:t>log</m:t>
                        </m:r>
                        <m:r>
                          <a:rPr lang="en-US" altLang="zh-TW">
                            <a:solidFill>
                              <a:schemeClr val="tx1"/>
                            </a:solidFill>
                            <a:latin typeface="Cambria Math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TW" b="0" i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q</m:t>
                        </m:r>
                        <m:r>
                          <a:rPr lang="en-US" altLang="zh-TW">
                            <a:solidFill>
                              <a:schemeClr val="tx1"/>
                            </a:solidFill>
                            <a:latin typeface="Cambria Math"/>
                          </a:rPr>
                          <m:t>/</m:t>
                        </m:r>
                        <m:r>
                          <m:rPr>
                            <m:nor/>
                          </m:rPr>
                          <a:rPr lang="en-US" altLang="zh-TW">
                            <a:solidFill>
                              <a:schemeClr val="tx1"/>
                            </a:solidFill>
                            <a:latin typeface="Cambria Math"/>
                          </a:rPr>
                          <m:t>log</m:t>
                        </m:r>
                        <m:r>
                          <m:rPr>
                            <m:nor/>
                          </m:rPr>
                          <a:rPr lang="en-US" altLang="zh-TW">
                            <a:solidFill>
                              <a:schemeClr val="tx1"/>
                            </a:solidFill>
                            <a:latin typeface="Cambria Math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>
                            <a:solidFill>
                              <a:schemeClr val="tx1"/>
                            </a:solidFill>
                            <a:latin typeface="Cambria Math"/>
                          </a:rPr>
                          <m:t>log</m:t>
                        </m:r>
                        <m:r>
                          <m:rPr>
                            <m:nor/>
                          </m:rPr>
                          <a:rPr lang="en-US" altLang="zh-TW" b="0" i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TW" b="0" i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q</m:t>
                        </m:r>
                      </m:e>
                    </m:rad>
                  </m:oMath>
                </a14:m>
                <a:r>
                  <a:rPr lang="pt-BR" altLang="zh-TW" dirty="0">
                    <a:solidFill>
                      <a:schemeClr val="tx1"/>
                    </a:solidFill>
                  </a:rPr>
                  <a:t>) </a:t>
                </a:r>
                <a:r>
                  <a:rPr lang="en-US" altLang="zh-TW" dirty="0" smtClean="0"/>
                  <a:t>for finger </a:t>
                </a:r>
                <a:r>
                  <a:rPr lang="en-US" altLang="zh-TW" dirty="0"/>
                  <a:t>search with constant time finger updates.</a:t>
                </a:r>
                <a:endParaRPr lang="zh-TW" altLang="en-US" dirty="0"/>
              </a:p>
            </p:txBody>
          </p:sp>
        </mc:Choice>
        <mc:Fallback>
          <p:sp>
            <p:nvSpPr>
              <p:cNvPr id="2" name="內容版面配置區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1617" r="-2222" b="-14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Finger Update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pPr/>
              <a:t>58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87421674"/>
      </p:ext>
    </p:extLst>
  </p:cSld>
  <p:clrMapOvr>
    <a:masterClrMapping/>
  </p:clrMapOvr>
  <p:transition>
    <p:cut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Introduction</a:t>
            </a:r>
          </a:p>
          <a:p>
            <a:r>
              <a:rPr lang="en-US" altLang="zh-TW" dirty="0" smtClean="0"/>
              <a:t>Amortized optimal exponential </a:t>
            </a:r>
            <a:r>
              <a:rPr lang="en-US" altLang="zh-TW" dirty="0"/>
              <a:t>s</a:t>
            </a:r>
            <a:r>
              <a:rPr lang="en-US" altLang="zh-TW" dirty="0" smtClean="0"/>
              <a:t>earch </a:t>
            </a:r>
            <a:r>
              <a:rPr lang="en-US" altLang="zh-TW" dirty="0"/>
              <a:t>t</a:t>
            </a:r>
            <a:r>
              <a:rPr lang="en-US" altLang="zh-TW" dirty="0" smtClean="0"/>
              <a:t>ree</a:t>
            </a:r>
          </a:p>
          <a:p>
            <a:r>
              <a:rPr lang="en-US" altLang="zh-TW" dirty="0" smtClean="0"/>
              <a:t>Worst case optimal </a:t>
            </a:r>
            <a:r>
              <a:rPr lang="en-US" altLang="zh-TW" dirty="0"/>
              <a:t>e</a:t>
            </a:r>
            <a:r>
              <a:rPr lang="en-US" altLang="zh-TW" dirty="0" smtClean="0"/>
              <a:t>xponential search tree</a:t>
            </a:r>
          </a:p>
          <a:p>
            <a:r>
              <a:rPr lang="en-US" altLang="zh-TW" dirty="0"/>
              <a:t>Static search structures</a:t>
            </a:r>
          </a:p>
          <a:p>
            <a:r>
              <a:rPr lang="en-US" altLang="zh-TW" dirty="0" smtClean="0"/>
              <a:t>Finger </a:t>
            </a:r>
            <a:r>
              <a:rPr lang="en-US" altLang="zh-TW" dirty="0"/>
              <a:t>Search</a:t>
            </a:r>
          </a:p>
          <a:p>
            <a:r>
              <a:rPr lang="en-US" altLang="zh-TW" dirty="0">
                <a:solidFill>
                  <a:srgbClr val="FF0000"/>
                </a:solidFill>
              </a:rPr>
              <a:t>String </a:t>
            </a:r>
            <a:r>
              <a:rPr lang="en-US" altLang="zh-TW" dirty="0" smtClean="0">
                <a:solidFill>
                  <a:srgbClr val="FF0000"/>
                </a:solidFill>
              </a:rPr>
              <a:t>Search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Outline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pPr/>
              <a:t>59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547213040"/>
      </p:ext>
    </p:extLst>
  </p:cSld>
  <p:clrMapOvr>
    <a:masterClrMapping/>
  </p:clrMapOvr>
  <p:transition>
    <p:cut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xmlns="" Requires="a14">
          <p:sp>
            <p:nvSpPr>
              <p:cNvPr id="2" name="內容版面配置區 1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 smtClean="0"/>
                  <a:t>Each </a:t>
                </a:r>
                <a:r>
                  <a:rPr lang="en-US" altLang="zh-TW" dirty="0"/>
                  <a:t>key may be distributed </a:t>
                </a:r>
                <a:r>
                  <a:rPr lang="en-US" altLang="zh-TW" dirty="0" smtClean="0"/>
                  <a:t>over multiple </a:t>
                </a:r>
                <a:r>
                  <a:rPr lang="en-US" altLang="zh-TW" dirty="0"/>
                  <a:t>words. Strings are then ordered lexicographically</a:t>
                </a:r>
                <a:r>
                  <a:rPr lang="en-US" altLang="zh-TW" dirty="0" smtClean="0"/>
                  <a:t>.</a:t>
                </a:r>
              </a:p>
              <a:p>
                <a:r>
                  <a:rPr lang="en-US" altLang="zh-TW" dirty="0"/>
                  <a:t>I</a:t>
                </a:r>
                <a:r>
                  <a:rPr lang="en-US" altLang="zh-TW" dirty="0" smtClean="0"/>
                  <a:t>f </a:t>
                </a:r>
                <a:r>
                  <a:rPr lang="en-US" altLang="zh-TW" dirty="0"/>
                  <a:t>the longest common prefix between a key </a:t>
                </a:r>
                <a:r>
                  <a:rPr lang="en-US" altLang="zh-TW" i="1" dirty="0"/>
                  <a:t>y </a:t>
                </a:r>
                <a:r>
                  <a:rPr lang="en-US" altLang="zh-TW" dirty="0"/>
                  <a:t>and the stored keys has </a:t>
                </a:r>
                <a:r>
                  <a:rPr lang="en-US" altLang="zh-TW" i="1" dirty="0" smtClean="0"/>
                  <a:t>l </a:t>
                </a:r>
                <a:r>
                  <a:rPr lang="en-US" altLang="zh-TW" dirty="0" smtClean="0"/>
                  <a:t>words, we </a:t>
                </a:r>
                <a:r>
                  <a:rPr lang="en-US" altLang="zh-TW" dirty="0"/>
                  <a:t>can search </a:t>
                </a:r>
                <a:r>
                  <a:rPr lang="en-US" altLang="zh-TW" i="1" dirty="0"/>
                  <a:t>y </a:t>
                </a:r>
                <a:r>
                  <a:rPr lang="en-US" altLang="zh-TW" dirty="0"/>
                  <a:t>in </a:t>
                </a:r>
                <a:r>
                  <a:rPr lang="en-US" altLang="zh-TW" i="1" dirty="0" smtClean="0"/>
                  <a:t>O</a:t>
                </a:r>
                <a:r>
                  <a:rPr lang="en-US" altLang="zh-TW" dirty="0" smtClean="0"/>
                  <a:t>(</a:t>
                </a:r>
                <a:r>
                  <a:rPr lang="en-US" altLang="zh-TW" i="1" dirty="0" smtClean="0"/>
                  <a:t>l </a:t>
                </a:r>
                <a:r>
                  <a:rPr lang="en-US" altLang="zh-TW" dirty="0" smtClean="0"/>
                  <a:t>+</a:t>
                </a:r>
                <a:r>
                  <a:rPr lang="en-US" altLang="zh-TW" dirty="0"/>
                  <a:t> (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TW" i="1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m:rPr>
                            <m:nor/>
                          </m:rPr>
                          <a:rPr lang="en-US" altLang="zh-TW">
                            <a:latin typeface="Cambria Math"/>
                          </a:rPr>
                          <m:t>log</m:t>
                        </m:r>
                        <m:r>
                          <a:rPr lang="en-US" altLang="zh-TW">
                            <a:latin typeface="Cambria Math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TW" b="0" i="0" smtClean="0">
                            <a:latin typeface="Cambria Math"/>
                          </a:rPr>
                          <m:t>n</m:t>
                        </m:r>
                        <m:r>
                          <a:rPr lang="en-US" altLang="zh-TW">
                            <a:latin typeface="Cambria Math"/>
                          </a:rPr>
                          <m:t>/</m:t>
                        </m:r>
                        <m:r>
                          <m:rPr>
                            <m:nor/>
                          </m:rPr>
                          <a:rPr lang="en-US" altLang="zh-TW">
                            <a:latin typeface="Cambria Math"/>
                          </a:rPr>
                          <m:t>log</m:t>
                        </m:r>
                        <m:r>
                          <m:rPr>
                            <m:nor/>
                          </m:rPr>
                          <a:rPr lang="en-US" altLang="zh-TW">
                            <a:latin typeface="Cambria Math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>
                            <a:latin typeface="Cambria Math"/>
                          </a:rPr>
                          <m:t>log</m:t>
                        </m:r>
                        <m:r>
                          <m:rPr>
                            <m:nor/>
                          </m:rPr>
                          <a:rPr lang="en-US" altLang="zh-TW">
                            <a:latin typeface="Cambria Math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TW" b="0" i="0" smtClean="0">
                            <a:latin typeface="Cambria Math"/>
                          </a:rPr>
                          <m:t>n</m:t>
                        </m:r>
                      </m:e>
                    </m:rad>
                  </m:oMath>
                </a14:m>
                <a:r>
                  <a:rPr lang="en-US" altLang="zh-TW" dirty="0"/>
                  <a:t>) time, where </a:t>
                </a:r>
                <a:r>
                  <a:rPr lang="en-US" altLang="zh-TW" i="1" dirty="0"/>
                  <a:t>n </a:t>
                </a:r>
                <a:r>
                  <a:rPr lang="en-US" altLang="zh-TW" dirty="0"/>
                  <a:t>is the current number of keys</a:t>
                </a:r>
                <a:r>
                  <a:rPr lang="en-US" altLang="zh-TW" dirty="0" smtClean="0"/>
                  <a:t>.</a:t>
                </a:r>
              </a:p>
              <a:p>
                <a:r>
                  <a:rPr lang="en-US" altLang="zh-TW"/>
                  <a:t>Updates can be done within the same time bound.</a:t>
                </a:r>
                <a:endParaRPr lang="zh-TW" altLang="en-US" dirty="0"/>
              </a:p>
            </p:txBody>
          </p:sp>
        </mc:Choice>
        <mc:Fallback>
          <p:sp>
            <p:nvSpPr>
              <p:cNvPr id="2" name="內容版面配置區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1213" r="-185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String Searching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pPr/>
              <a:t>60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5246266"/>
      </p:ext>
    </p:extLst>
  </p:cSld>
  <p:clrMapOvr>
    <a:masterClrMapping/>
  </p:clrMapOvr>
  <p:transition>
    <p:cut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匯合">
  <a:themeElements>
    <a:clrScheme name="匯合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匯合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匯合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1694</TotalTime>
  <Words>3453</Words>
  <Application>Microsoft Office PowerPoint</Application>
  <PresentationFormat>如螢幕大小 (4:3)</PresentationFormat>
  <Paragraphs>405</Paragraphs>
  <Slides>60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60</vt:i4>
      </vt:variant>
    </vt:vector>
  </HeadingPairs>
  <TitlesOfParts>
    <vt:vector size="61" baseType="lpstr">
      <vt:lpstr>匯合</vt:lpstr>
      <vt:lpstr>Dynamic Ordered Sets with Exponential Search Trees</vt:lpstr>
      <vt:lpstr>Abstract</vt:lpstr>
      <vt:lpstr>Abstract</vt:lpstr>
      <vt:lpstr>1st Symposium on Breakthroughs in Advanced Data Structures</vt:lpstr>
      <vt:lpstr>投影片 5</vt:lpstr>
      <vt:lpstr>Outline</vt:lpstr>
      <vt:lpstr>Basic Operations</vt:lpstr>
      <vt:lpstr>Finger Search</vt:lpstr>
      <vt:lpstr>Finger Update</vt:lpstr>
      <vt:lpstr>Optimality</vt:lpstr>
      <vt:lpstr>Exponential Search Tree</vt:lpstr>
      <vt:lpstr>Exponential Search Tree</vt:lpstr>
      <vt:lpstr>Example</vt:lpstr>
      <vt:lpstr>Example2</vt:lpstr>
      <vt:lpstr>van Emde Boas Priority Queue</vt:lpstr>
      <vt:lpstr>Implementation</vt:lpstr>
      <vt:lpstr>Outline</vt:lpstr>
      <vt:lpstr>Implementation</vt:lpstr>
      <vt:lpstr>S-structure</vt:lpstr>
      <vt:lpstr>Finger Delete</vt:lpstr>
      <vt:lpstr>Finger Insert</vt:lpstr>
      <vt:lpstr>Balance</vt:lpstr>
      <vt:lpstr>投影片 23</vt:lpstr>
      <vt:lpstr>Outline</vt:lpstr>
      <vt:lpstr>Main Change</vt:lpstr>
      <vt:lpstr>Theorem 1</vt:lpstr>
      <vt:lpstr>Problem with the Previous Definition</vt:lpstr>
      <vt:lpstr>New Definition</vt:lpstr>
      <vt:lpstr>Example</vt:lpstr>
      <vt:lpstr>Compensation</vt:lpstr>
      <vt:lpstr>Example</vt:lpstr>
      <vt:lpstr>Postprocessing</vt:lpstr>
      <vt:lpstr>Join &amp; Split</vt:lpstr>
      <vt:lpstr>Join &amp; Split</vt:lpstr>
      <vt:lpstr>Theorem 8</vt:lpstr>
      <vt:lpstr>Lemma 11</vt:lpstr>
      <vt:lpstr>Balance Game</vt:lpstr>
      <vt:lpstr>Balance Game</vt:lpstr>
      <vt:lpstr>Let the Magic Start</vt:lpstr>
      <vt:lpstr>投影片 40</vt:lpstr>
      <vt:lpstr>投影片 41</vt:lpstr>
      <vt:lpstr>Lemma 16</vt:lpstr>
      <vt:lpstr>Applying the Protocol</vt:lpstr>
      <vt:lpstr>Cut Child</vt:lpstr>
      <vt:lpstr>Cut Child</vt:lpstr>
      <vt:lpstr>Changing the Height</vt:lpstr>
      <vt:lpstr>Corollary 10</vt:lpstr>
      <vt:lpstr>Algorithm</vt:lpstr>
      <vt:lpstr>Algorithm</vt:lpstr>
      <vt:lpstr>Example</vt:lpstr>
      <vt:lpstr>投影片 51</vt:lpstr>
      <vt:lpstr>Lemma 12</vt:lpstr>
      <vt:lpstr>Outline</vt:lpstr>
      <vt:lpstr>RAM model</vt:lpstr>
      <vt:lpstr>AC0 Operation</vt:lpstr>
      <vt:lpstr>Outline</vt:lpstr>
      <vt:lpstr>Finger Search</vt:lpstr>
      <vt:lpstr>Finger Update</vt:lpstr>
      <vt:lpstr>Outline</vt:lpstr>
      <vt:lpstr>String Searching</vt:lpstr>
    </vt:vector>
  </TitlesOfParts>
  <Company>Net School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Dynamic Ordered Sets with Exponential Search Trees</dc:title>
  <dc:creator>NS</dc:creator>
  <cp:lastModifiedBy>admin</cp:lastModifiedBy>
  <cp:revision>81</cp:revision>
  <dcterms:created xsi:type="dcterms:W3CDTF">2013-01-12T04:14:19Z</dcterms:created>
  <dcterms:modified xsi:type="dcterms:W3CDTF">2013-01-15T13:37:41Z</dcterms:modified>
</cp:coreProperties>
</file>