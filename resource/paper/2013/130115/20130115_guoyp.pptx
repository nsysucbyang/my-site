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2" r:id="rId4"/>
    <p:sldId id="258" r:id="rId5"/>
    <p:sldId id="264" r:id="rId6"/>
    <p:sldId id="261" r:id="rId7"/>
    <p:sldId id="262" r:id="rId8"/>
    <p:sldId id="263" r:id="rId9"/>
    <p:sldId id="259" r:id="rId10"/>
    <p:sldId id="271" r:id="rId11"/>
    <p:sldId id="265" r:id="rId12"/>
    <p:sldId id="266" r:id="rId13"/>
    <p:sldId id="269" r:id="rId14"/>
    <p:sldId id="268" r:id="rId15"/>
    <p:sldId id="270"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F2EF63-3F9F-41ED-B1B8-DE13B079B610}" type="datetimeFigureOut">
              <a:rPr lang="zh-TW" altLang="en-US" smtClean="0"/>
              <a:t>2013/1/15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08FBC-A40A-4512-8C95-AD5796DEFC33}" type="slidenum">
              <a:rPr lang="zh-TW" altLang="en-US" smtClean="0"/>
              <a:t>‹#›</a:t>
            </a:fld>
            <a:endParaRPr lang="zh-TW" altLang="en-US"/>
          </a:p>
        </p:txBody>
      </p:sp>
    </p:spTree>
    <p:extLst>
      <p:ext uri="{BB962C8B-B14F-4D97-AF65-F5344CB8AC3E}">
        <p14:creationId xmlns:p14="http://schemas.microsoft.com/office/powerpoint/2010/main" val="194899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文章抄襲、文章分類的方法之一。</a:t>
            </a:r>
            <a:endParaRPr lang="zh-TW" altLang="en-US" dirty="0"/>
          </a:p>
        </p:txBody>
      </p:sp>
      <p:sp>
        <p:nvSpPr>
          <p:cNvPr id="4" name="投影片編號版面配置區 3"/>
          <p:cNvSpPr>
            <a:spLocks noGrp="1"/>
          </p:cNvSpPr>
          <p:nvPr>
            <p:ph type="sldNum" sz="quarter" idx="10"/>
          </p:nvPr>
        </p:nvSpPr>
        <p:spPr/>
        <p:txBody>
          <a:bodyPr/>
          <a:lstStyle/>
          <a:p>
            <a:fld id="{C8B08FBC-A40A-4512-8C95-AD5796DEFC33}" type="slidenum">
              <a:rPr lang="zh-TW" altLang="en-US" smtClean="0"/>
              <a:t>1</a:t>
            </a:fld>
            <a:endParaRPr lang="zh-TW" altLang="en-US"/>
          </a:p>
        </p:txBody>
      </p:sp>
    </p:spTree>
    <p:extLst>
      <p:ext uri="{BB962C8B-B14F-4D97-AF65-F5344CB8AC3E}">
        <p14:creationId xmlns:p14="http://schemas.microsoft.com/office/powerpoint/2010/main" val="3935996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D </a:t>
            </a:r>
            <a:r>
              <a:rPr lang="zh-TW" altLang="en-US" dirty="0" smtClean="0"/>
              <a:t>與 </a:t>
            </a:r>
            <a:r>
              <a:rPr lang="en-US" altLang="zh-TW" dirty="0" smtClean="0"/>
              <a:t>Q </a:t>
            </a:r>
            <a:r>
              <a:rPr lang="zh-TW" altLang="en-US" dirty="0" smtClean="0"/>
              <a:t>中的每個元素 </a:t>
            </a:r>
            <a:r>
              <a:rPr lang="en-US" altLang="zh-TW" dirty="0" err="1" smtClean="0"/>
              <a:t>d</a:t>
            </a:r>
            <a:r>
              <a:rPr lang="en-US" altLang="zh-TW" baseline="-25000" dirty="0" err="1" smtClean="0"/>
              <a:t>j</a:t>
            </a:r>
            <a:r>
              <a:rPr lang="en-US" altLang="zh-TW" baseline="-25000" dirty="0" smtClean="0"/>
              <a:t> </a:t>
            </a:r>
            <a:r>
              <a:rPr lang="zh-TW" altLang="en-US" baseline="0" dirty="0" smtClean="0"/>
              <a:t>與 </a:t>
            </a:r>
            <a:r>
              <a:rPr lang="en-US" altLang="zh-TW" baseline="0" dirty="0" err="1" smtClean="0"/>
              <a:t>Q</a:t>
            </a:r>
            <a:r>
              <a:rPr lang="en-US" altLang="zh-TW" baseline="-25000" dirty="0" err="1" smtClean="0"/>
              <a:t>k</a:t>
            </a:r>
            <a:r>
              <a:rPr lang="en-US" altLang="zh-TW" baseline="0" dirty="0" smtClean="0"/>
              <a:t> </a:t>
            </a:r>
            <a:r>
              <a:rPr lang="zh-TW" altLang="en-US" baseline="0" dirty="0" smtClean="0"/>
              <a:t>皆仍為集合。</a:t>
            </a:r>
            <a:r>
              <a:rPr lang="en-US" altLang="zh-TW" baseline="0" dirty="0" smtClean="0"/>
              <a:t>Target</a:t>
            </a:r>
            <a:r>
              <a:rPr lang="zh-TW" altLang="en-US" baseline="0" dirty="0" smtClean="0"/>
              <a:t>：</a:t>
            </a:r>
            <a:r>
              <a:rPr lang="zh-TW" altLang="en-US" dirty="0" smtClean="0"/>
              <a:t>對於每筆查詢，依相關性產生文件的清單。</a:t>
            </a:r>
            <a:endParaRPr lang="zh-TW" altLang="en-US" dirty="0"/>
          </a:p>
        </p:txBody>
      </p:sp>
      <p:sp>
        <p:nvSpPr>
          <p:cNvPr id="4" name="投影片編號版面配置區 3"/>
          <p:cNvSpPr>
            <a:spLocks noGrp="1"/>
          </p:cNvSpPr>
          <p:nvPr>
            <p:ph type="sldNum" sz="quarter" idx="10"/>
          </p:nvPr>
        </p:nvSpPr>
        <p:spPr/>
        <p:txBody>
          <a:bodyPr/>
          <a:lstStyle/>
          <a:p>
            <a:fld id="{C8B08FBC-A40A-4512-8C95-AD5796DEFC33}" type="slidenum">
              <a:rPr lang="zh-TW" altLang="en-US" smtClean="0"/>
              <a:t>4</a:t>
            </a:fld>
            <a:endParaRPr lang="zh-TW" altLang="en-US"/>
          </a:p>
        </p:txBody>
      </p:sp>
    </p:spTree>
    <p:extLst>
      <p:ext uri="{BB962C8B-B14F-4D97-AF65-F5344CB8AC3E}">
        <p14:creationId xmlns:p14="http://schemas.microsoft.com/office/powerpoint/2010/main" val="315809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Information gain </a:t>
            </a:r>
            <a:r>
              <a:rPr lang="zh-TW" altLang="en-US" dirty="0" smtClean="0"/>
              <a:t>不太像是 </a:t>
            </a:r>
            <a:r>
              <a:rPr lang="en-US" altLang="zh-TW" dirty="0" smtClean="0"/>
              <a:t>gain</a:t>
            </a:r>
            <a:r>
              <a:rPr lang="zh-TW" altLang="en-US" dirty="0" smtClean="0"/>
              <a:t>？</a:t>
            </a:r>
            <a:endParaRPr lang="zh-TW" altLang="en-US" dirty="0"/>
          </a:p>
        </p:txBody>
      </p:sp>
      <p:sp>
        <p:nvSpPr>
          <p:cNvPr id="4" name="投影片編號版面配置區 3"/>
          <p:cNvSpPr>
            <a:spLocks noGrp="1"/>
          </p:cNvSpPr>
          <p:nvPr>
            <p:ph type="sldNum" sz="quarter" idx="10"/>
          </p:nvPr>
        </p:nvSpPr>
        <p:spPr/>
        <p:txBody>
          <a:bodyPr/>
          <a:lstStyle/>
          <a:p>
            <a:fld id="{C8B08FBC-A40A-4512-8C95-AD5796DEFC33}" type="slidenum">
              <a:rPr lang="zh-TW" altLang="en-US" smtClean="0"/>
              <a:t>5</a:t>
            </a:fld>
            <a:endParaRPr lang="zh-TW" altLang="en-US"/>
          </a:p>
        </p:txBody>
      </p:sp>
    </p:spTree>
    <p:extLst>
      <p:ext uri="{BB962C8B-B14F-4D97-AF65-F5344CB8AC3E}">
        <p14:creationId xmlns:p14="http://schemas.microsoft.com/office/powerpoint/2010/main" val="2639222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很多時候查詢時的用詞與文章中的用詞不見得相同。</a:t>
            </a:r>
            <a:r>
              <a:rPr lang="en-US" altLang="zh-TW" dirty="0" smtClean="0"/>
              <a:t>Ex</a:t>
            </a:r>
            <a:r>
              <a:rPr lang="zh-TW" altLang="en-US" dirty="0" smtClean="0"/>
              <a:t>：法律用詞</a:t>
            </a:r>
            <a:endParaRPr lang="zh-TW" altLang="en-US" dirty="0"/>
          </a:p>
        </p:txBody>
      </p:sp>
      <p:sp>
        <p:nvSpPr>
          <p:cNvPr id="4" name="投影片編號版面配置區 3"/>
          <p:cNvSpPr>
            <a:spLocks noGrp="1"/>
          </p:cNvSpPr>
          <p:nvPr>
            <p:ph type="sldNum" sz="quarter" idx="10"/>
          </p:nvPr>
        </p:nvSpPr>
        <p:spPr/>
        <p:txBody>
          <a:bodyPr/>
          <a:lstStyle/>
          <a:p>
            <a:fld id="{C8B08FBC-A40A-4512-8C95-AD5796DEFC33}" type="slidenum">
              <a:rPr lang="zh-TW" altLang="en-US" smtClean="0"/>
              <a:t>7</a:t>
            </a:fld>
            <a:endParaRPr lang="zh-TW" altLang="en-US"/>
          </a:p>
        </p:txBody>
      </p:sp>
    </p:spTree>
    <p:extLst>
      <p:ext uri="{BB962C8B-B14F-4D97-AF65-F5344CB8AC3E}">
        <p14:creationId xmlns:p14="http://schemas.microsoft.com/office/powerpoint/2010/main" val="928953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3220835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60155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291433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2962466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806748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3048781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848767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99400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931940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10383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4001349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5A68A3-DB49-4F67-993D-F5057F126A57}" type="datetimeFigureOut">
              <a:rPr lang="zh-TW" altLang="en-US" smtClean="0"/>
              <a:t>2013/1/15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5CED6C-CE41-4BB2-BA77-BB9F838013E1}" type="slidenum">
              <a:rPr lang="zh-TW" altLang="en-US" smtClean="0"/>
              <a:t>‹#›</a:t>
            </a:fld>
            <a:endParaRPr lang="zh-TW" altLang="en-US"/>
          </a:p>
        </p:txBody>
      </p:sp>
    </p:spTree>
    <p:extLst>
      <p:ext uri="{BB962C8B-B14F-4D97-AF65-F5344CB8AC3E}">
        <p14:creationId xmlns:p14="http://schemas.microsoft.com/office/powerpoint/2010/main" val="1950293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ppvs.org/" TargetMode="Externa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daviddlewis.com/resources/testcollections/" TargetMode="External"/><Relationship Id="rId2" Type="http://schemas.openxmlformats.org/officeDocument/2006/relationships/hyperlink" Target="http://www.360doc.com/content/07/0331/22/23378_423965.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kevingo75.blogspot.tw/2008/11/precision-and-recall-information.html" TargetMode="External"/><Relationship Id="rId5" Type="http://schemas.openxmlformats.org/officeDocument/2006/relationships/image" Target="../media/image6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628801"/>
            <a:ext cx="7772400" cy="1971650"/>
          </a:xfrm>
        </p:spPr>
        <p:txBody>
          <a:bodyPr>
            <a:noAutofit/>
          </a:bodyPr>
          <a:lstStyle/>
          <a:p>
            <a:r>
              <a:rPr lang="en-US" altLang="zh-TW" sz="4000" dirty="0" smtClean="0"/>
              <a:t>A comparative study of</a:t>
            </a:r>
            <a:br>
              <a:rPr lang="en-US" altLang="zh-TW" sz="4000" dirty="0" smtClean="0"/>
            </a:br>
            <a:r>
              <a:rPr lang="en-US" altLang="zh-TW" sz="4000" dirty="0" smtClean="0"/>
              <a:t>TF*IDF, LSI and multi-words</a:t>
            </a:r>
            <a:br>
              <a:rPr lang="en-US" altLang="zh-TW" sz="4000" dirty="0" smtClean="0"/>
            </a:br>
            <a:r>
              <a:rPr lang="en-US" altLang="zh-TW" sz="4000" dirty="0" smtClean="0"/>
              <a:t>for text classification</a:t>
            </a:r>
            <a:endParaRPr lang="zh-TW" altLang="en-US" sz="4000" dirty="0"/>
          </a:p>
        </p:txBody>
      </p:sp>
      <p:sp>
        <p:nvSpPr>
          <p:cNvPr id="7" name="副標題 6"/>
          <p:cNvSpPr>
            <a:spLocks noGrp="1"/>
          </p:cNvSpPr>
          <p:nvPr>
            <p:ph type="subTitle" idx="1"/>
          </p:nvPr>
        </p:nvSpPr>
        <p:spPr/>
        <p:txBody>
          <a:bodyPr>
            <a:normAutofit/>
          </a:bodyPr>
          <a:lstStyle/>
          <a:p>
            <a:r>
              <a:rPr lang="en-US" altLang="zh-TW" sz="2000" dirty="0" smtClean="0">
                <a:solidFill>
                  <a:schemeClr val="tx1"/>
                </a:solidFill>
              </a:rPr>
              <a:t>Wen Zhang, Taketoshi Yoshida, </a:t>
            </a:r>
            <a:r>
              <a:rPr lang="en-US" altLang="zh-TW" sz="2000" dirty="0" err="1" smtClean="0">
                <a:solidFill>
                  <a:schemeClr val="tx1"/>
                </a:solidFill>
              </a:rPr>
              <a:t>Xijin</a:t>
            </a:r>
            <a:r>
              <a:rPr lang="en-US" altLang="zh-TW" sz="2000" dirty="0" smtClean="0">
                <a:solidFill>
                  <a:schemeClr val="tx1"/>
                </a:solidFill>
              </a:rPr>
              <a:t> Tang</a:t>
            </a:r>
            <a:br>
              <a:rPr lang="en-US" altLang="zh-TW" sz="2000" dirty="0" smtClean="0">
                <a:solidFill>
                  <a:schemeClr val="tx1"/>
                </a:solidFill>
              </a:rPr>
            </a:br>
            <a:r>
              <a:rPr lang="en-US" altLang="zh-TW" sz="2000" dirty="0" smtClean="0">
                <a:solidFill>
                  <a:schemeClr val="tx1"/>
                </a:solidFill>
              </a:rPr>
              <a:t>Expert Systems with Applications Volume 38, Issue 3,</a:t>
            </a:r>
            <a:br>
              <a:rPr lang="en-US" altLang="zh-TW" sz="2000" dirty="0" smtClean="0">
                <a:solidFill>
                  <a:schemeClr val="tx1"/>
                </a:solidFill>
              </a:rPr>
            </a:br>
            <a:r>
              <a:rPr lang="en-US" altLang="zh-TW" sz="2000" dirty="0" smtClean="0">
                <a:solidFill>
                  <a:schemeClr val="tx1"/>
                </a:solidFill>
              </a:rPr>
              <a:t>March 2011, Pages 2758–2765</a:t>
            </a:r>
          </a:p>
          <a:p>
            <a:r>
              <a:rPr lang="en-US" altLang="zh-TW" sz="2000" dirty="0" smtClean="0">
                <a:solidFill>
                  <a:schemeClr val="tx1"/>
                </a:solidFill>
              </a:rPr>
              <a:t>Presenter: </a:t>
            </a:r>
            <a:r>
              <a:rPr lang="en-US" altLang="zh-TW" sz="2000" dirty="0" err="1" smtClean="0">
                <a:solidFill>
                  <a:schemeClr val="tx1"/>
                </a:solidFill>
              </a:rPr>
              <a:t>Guo</a:t>
            </a:r>
            <a:r>
              <a:rPr lang="en-US" altLang="zh-TW" sz="2000" dirty="0" smtClean="0">
                <a:solidFill>
                  <a:schemeClr val="tx1"/>
                </a:solidFill>
              </a:rPr>
              <a:t> Yi-</a:t>
            </a:r>
            <a:r>
              <a:rPr lang="en-US" altLang="zh-TW" sz="2000" dirty="0" err="1" smtClean="0">
                <a:solidFill>
                  <a:schemeClr val="tx1"/>
                </a:solidFill>
              </a:rPr>
              <a:t>Pu</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2013-01-</a:t>
            </a:r>
            <a:r>
              <a:rPr lang="en-US" altLang="zh-TW" sz="2000" strike="sngStrike" dirty="0" smtClean="0">
                <a:solidFill>
                  <a:schemeClr val="tx1"/>
                </a:solidFill>
              </a:rPr>
              <a:t>08</a:t>
            </a:r>
            <a:r>
              <a:rPr lang="en-US" altLang="zh-TW" sz="2000" dirty="0" smtClean="0">
                <a:solidFill>
                  <a:schemeClr val="tx1"/>
                </a:solidFill>
              </a:rPr>
              <a:t>15</a:t>
            </a:r>
            <a:endParaRPr lang="zh-TW" altLang="en-US" sz="2000" dirty="0">
              <a:solidFill>
                <a:schemeClr val="tx1"/>
              </a:solidFill>
            </a:endParaRPr>
          </a:p>
        </p:txBody>
      </p:sp>
    </p:spTree>
    <p:extLst>
      <p:ext uri="{BB962C8B-B14F-4D97-AF65-F5344CB8AC3E}">
        <p14:creationId xmlns:p14="http://schemas.microsoft.com/office/powerpoint/2010/main" val="676136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5" name="內容版面配置區 4"/>
          <p:cNvSpPr>
            <a:spLocks noGrp="1"/>
          </p:cNvSpPr>
          <p:nvPr>
            <p:ph idx="1"/>
          </p:nvPr>
        </p:nvSpPr>
        <p:spPr/>
        <p:txBody>
          <a:bodyPr>
            <a:noAutofit/>
          </a:bodyPr>
          <a:lstStyle/>
          <a:p>
            <a:pPr marL="0" indent="457200" algn="just">
              <a:lnSpc>
                <a:spcPct val="150000"/>
              </a:lnSpc>
              <a:buNone/>
            </a:pPr>
            <a:r>
              <a:rPr lang="en-US" altLang="zh-TW" sz="1800" dirty="0" smtClean="0"/>
              <a:t>One of the main themes in text mining is text representation, which is fundamental and indispensable for text-based intelligent information processing. Generally, text representation includes two tasks: indexing and weighting. This paper has comparatively studied TF*IDF, LSI and multi-word for text representation. We used a Chinese and an English document collection to respectively evaluate the three methods in information retrieval and text categorization. Experimental results have demonstrated that in text categorization, LSI has better performance than other methods in both document collections. Also, LSI has produced the best performance in retrieving English documents. This outcome has shown that LSI has both favorable semantic and statistical quality and is different with the claim that LSI can not produce discriminative power for indexing.</a:t>
            </a:r>
            <a:endParaRPr lang="zh-TW" altLang="en-US" sz="1800" dirty="0"/>
          </a:p>
        </p:txBody>
      </p:sp>
    </p:spTree>
    <p:extLst>
      <p:ext uri="{BB962C8B-B14F-4D97-AF65-F5344CB8AC3E}">
        <p14:creationId xmlns:p14="http://schemas.microsoft.com/office/powerpoint/2010/main" val="28530558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hlinkClick r:id="rId2"/>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591" y="346953"/>
            <a:ext cx="4877481" cy="3658111"/>
          </a:xfrm>
          <a:prstGeom prst="rect">
            <a:avLst/>
          </a:prstGeom>
        </p:spPr>
      </p:pic>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2521" y="1916832"/>
            <a:ext cx="6858958" cy="4572638"/>
          </a:xfrm>
          <a:prstGeom prst="rect">
            <a:avLst/>
          </a:prstGeom>
        </p:spPr>
      </p:pic>
      <p:pic>
        <p:nvPicPr>
          <p:cNvPr id="5" name="圖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6016" y="916567"/>
            <a:ext cx="4172533" cy="2000529"/>
          </a:xfrm>
          <a:prstGeom prst="rect">
            <a:avLst/>
          </a:prstGeom>
          <a:ln w="12700">
            <a:solidFill>
              <a:schemeClr val="tx1">
                <a:lumMod val="50000"/>
                <a:lumOff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56097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Information retrieval (IR) system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14:m>
                  <m:oMath xmlns:m="http://schemas.openxmlformats.org/officeDocument/2006/math">
                    <m:r>
                      <a:rPr lang="zh-TW" altLang="en-US" sz="2000" smtClean="0">
                        <a:latin typeface="Cambria Math"/>
                      </a:rPr>
                      <m:t>𝛿</m:t>
                    </m:r>
                    <m:r>
                      <a:rPr lang="en-US" altLang="zh-TW" sz="2000" smtClean="0">
                        <a:latin typeface="Cambria Math"/>
                      </a:rPr>
                      <m:t>=</m:t>
                    </m:r>
                    <m:d>
                      <m:dPr>
                        <m:begChr m:val="{"/>
                        <m:endChr m:val="}"/>
                        <m:ctrlPr>
                          <a:rPr lang="en-US" altLang="zh-TW" sz="2000" i="1" smtClean="0">
                            <a:latin typeface="Cambria Math"/>
                          </a:rPr>
                        </m:ctrlPr>
                      </m:dPr>
                      <m:e>
                        <m:r>
                          <a:rPr lang="en-US" altLang="zh-TW" sz="2000" smtClean="0">
                            <a:latin typeface="Cambria Math"/>
                          </a:rPr>
                          <m:t>𝐽</m:t>
                        </m:r>
                        <m:r>
                          <a:rPr lang="en-US" altLang="zh-TW" sz="2000" smtClean="0">
                            <a:latin typeface="Cambria Math"/>
                          </a:rPr>
                          <m:t>,</m:t>
                        </m:r>
                        <m:r>
                          <a:rPr lang="en-US" altLang="zh-TW" sz="2000" smtClean="0">
                            <a:latin typeface="Cambria Math"/>
                          </a:rPr>
                          <m:t>𝐷</m:t>
                        </m:r>
                        <m:r>
                          <a:rPr lang="en-US" altLang="zh-TW" sz="2000" smtClean="0">
                            <a:latin typeface="Cambria Math"/>
                          </a:rPr>
                          <m:t>,</m:t>
                        </m:r>
                        <m:r>
                          <a:rPr lang="en-US" altLang="zh-TW" sz="2000" smtClean="0">
                            <a:latin typeface="Cambria Math"/>
                          </a:rPr>
                          <m:t>𝑄</m:t>
                        </m:r>
                        <m:r>
                          <a:rPr lang="en-US" altLang="zh-TW" sz="2000" smtClean="0">
                            <a:latin typeface="Cambria Math"/>
                          </a:rPr>
                          <m:t>,</m:t>
                        </m:r>
                        <m:r>
                          <a:rPr lang="en-US" altLang="zh-TW" sz="2000" smtClean="0">
                            <a:latin typeface="Cambria Math"/>
                          </a:rPr>
                          <m:t>𝛼</m:t>
                        </m:r>
                      </m:e>
                    </m:d>
                  </m:oMath>
                </a14:m>
                <a:endParaRPr lang="en-US" altLang="zh-TW" sz="2000" dirty="0" smtClean="0"/>
              </a:p>
              <a:p>
                <a:pPr lvl="1">
                  <a:lnSpc>
                    <a:spcPct val="150000"/>
                  </a:lnSpc>
                </a:pPr>
                <a14:m>
                  <m:oMath xmlns:m="http://schemas.openxmlformats.org/officeDocument/2006/math">
                    <m:r>
                      <a:rPr lang="en-US" altLang="zh-TW" sz="2000" smtClean="0">
                        <a:latin typeface="Cambria Math"/>
                      </a:rPr>
                      <m:t>𝐽</m:t>
                    </m:r>
                    <m:r>
                      <a:rPr lang="en-US" altLang="zh-TW" sz="2000" smtClean="0">
                        <a:latin typeface="Cambria Math"/>
                      </a:rPr>
                      <m:t>=</m:t>
                    </m:r>
                    <m:d>
                      <m:dPr>
                        <m:begChr m:val="{"/>
                        <m:endChr m:val="}"/>
                        <m:ctrlPr>
                          <a:rPr lang="en-US" altLang="zh-TW" sz="2000" i="1" smtClean="0">
                            <a:latin typeface="Cambria Math"/>
                          </a:rPr>
                        </m:ctrlPr>
                      </m:dPr>
                      <m:e>
                        <m:sSub>
                          <m:sSubPr>
                            <m:ctrlPr>
                              <a:rPr lang="en-US" altLang="zh-TW" sz="2000" i="1" smtClean="0">
                                <a:latin typeface="Cambria Math"/>
                              </a:rPr>
                            </m:ctrlPr>
                          </m:sSubPr>
                          <m:e>
                            <m:r>
                              <a:rPr lang="en-US" altLang="zh-TW" sz="2000" smtClean="0">
                                <a:latin typeface="Cambria Math"/>
                              </a:rPr>
                              <m:t>𝑡</m:t>
                            </m:r>
                          </m:e>
                          <m:sub>
                            <m:r>
                              <a:rPr lang="en-US" altLang="zh-TW" sz="2000" smtClean="0">
                                <a:latin typeface="Cambria Math"/>
                              </a:rPr>
                              <m:t>1</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𝑡</m:t>
                            </m:r>
                          </m:e>
                          <m:sub>
                            <m:r>
                              <a:rPr lang="en-US" altLang="zh-TW" sz="2000" smtClean="0">
                                <a:latin typeface="Cambria Math"/>
                              </a:rPr>
                              <m:t>2</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𝑡</m:t>
                            </m:r>
                          </m:e>
                          <m:sub>
                            <m:r>
                              <a:rPr lang="en-US" altLang="zh-TW" sz="2000" smtClean="0">
                                <a:latin typeface="Cambria Math"/>
                              </a:rPr>
                              <m:t>𝑀</m:t>
                            </m:r>
                          </m:sub>
                        </m:sSub>
                      </m:e>
                    </m:d>
                  </m:oMath>
                </a14:m>
                <a:r>
                  <a:rPr lang="zh-TW" altLang="en-US" sz="2000" dirty="0" smtClean="0"/>
                  <a:t> </a:t>
                </a:r>
                <a:r>
                  <a:rPr lang="en-US" altLang="zh-TW" sz="2000" dirty="0" smtClean="0"/>
                  <a:t>is a set of index </a:t>
                </a:r>
                <a:r>
                  <a:rPr lang="en-US" altLang="zh-TW" sz="2000" dirty="0"/>
                  <a:t>terms; (M: dimension)</a:t>
                </a:r>
                <a:endParaRPr lang="en-US" altLang="zh-TW" sz="2000" dirty="0" smtClean="0"/>
              </a:p>
              <a:p>
                <a:pPr lvl="1">
                  <a:lnSpc>
                    <a:spcPct val="150000"/>
                  </a:lnSpc>
                </a:pPr>
                <a14:m>
                  <m:oMath xmlns:m="http://schemas.openxmlformats.org/officeDocument/2006/math">
                    <m:r>
                      <a:rPr lang="en-US" altLang="zh-TW" sz="2000" smtClean="0">
                        <a:latin typeface="Cambria Math"/>
                      </a:rPr>
                      <m:t>𝐷</m:t>
                    </m:r>
                    <m:r>
                      <a:rPr lang="en-US" altLang="zh-TW" sz="2000" smtClean="0">
                        <a:latin typeface="Cambria Math"/>
                      </a:rPr>
                      <m:t>=</m:t>
                    </m:r>
                    <m:d>
                      <m:dPr>
                        <m:begChr m:val="{"/>
                        <m:endChr m:val="}"/>
                        <m:ctrlPr>
                          <a:rPr lang="en-US" altLang="zh-TW" sz="2000" i="1" smtClean="0">
                            <a:latin typeface="Cambria Math"/>
                          </a:rPr>
                        </m:ctrlPr>
                      </m:dPr>
                      <m:e>
                        <m:sSub>
                          <m:sSubPr>
                            <m:ctrlPr>
                              <a:rPr lang="en-US" altLang="zh-TW" sz="2000" i="1" smtClean="0">
                                <a:latin typeface="Cambria Math"/>
                              </a:rPr>
                            </m:ctrlPr>
                          </m:sSubPr>
                          <m:e>
                            <m:r>
                              <a:rPr lang="en-US" altLang="zh-TW" sz="2000" smtClean="0">
                                <a:latin typeface="Cambria Math"/>
                              </a:rPr>
                              <m:t>𝑑</m:t>
                            </m:r>
                          </m:e>
                          <m:sub>
                            <m:r>
                              <a:rPr lang="en-US" altLang="zh-TW" sz="2000" smtClean="0">
                                <a:latin typeface="Cambria Math"/>
                              </a:rPr>
                              <m:t>1</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𝑑</m:t>
                            </m:r>
                          </m:e>
                          <m:sub>
                            <m:r>
                              <a:rPr lang="en-US" altLang="zh-TW" sz="2000" smtClean="0">
                                <a:latin typeface="Cambria Math"/>
                              </a:rPr>
                              <m:t>2</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𝑑</m:t>
                            </m:r>
                          </m:e>
                          <m:sub>
                            <m:r>
                              <a:rPr lang="en-US" altLang="zh-TW" sz="2000" smtClean="0">
                                <a:latin typeface="Cambria Math"/>
                              </a:rPr>
                              <m:t>𝑁</m:t>
                            </m:r>
                          </m:sub>
                        </m:sSub>
                      </m:e>
                    </m:d>
                  </m:oMath>
                </a14:m>
                <a:r>
                  <a:rPr lang="zh-TW" altLang="en-US" sz="2000" dirty="0" smtClean="0"/>
                  <a:t> </a:t>
                </a:r>
                <a:r>
                  <a:rPr lang="en-US" altLang="zh-TW" sz="2000" dirty="0" smtClean="0"/>
                  <a:t>is a set of documents for each </a:t>
                </a:r>
                <a14:m>
                  <m:oMath xmlns:m="http://schemas.openxmlformats.org/officeDocument/2006/math">
                    <m:sSub>
                      <m:sSubPr>
                        <m:ctrlPr>
                          <a:rPr lang="en-US" altLang="zh-TW" sz="2000" i="1" smtClean="0">
                            <a:latin typeface="Cambria Math"/>
                          </a:rPr>
                        </m:ctrlPr>
                      </m:sSubPr>
                      <m:e>
                        <m:r>
                          <a:rPr lang="en-US" altLang="zh-TW" sz="2000" b="0" i="1" smtClean="0">
                            <a:latin typeface="Cambria Math"/>
                          </a:rPr>
                          <m:t>𝑑</m:t>
                        </m:r>
                      </m:e>
                      <m:sub>
                        <m:r>
                          <a:rPr lang="en-US" altLang="zh-TW" sz="2000" b="0" i="1" smtClean="0">
                            <a:latin typeface="Cambria Math"/>
                          </a:rPr>
                          <m:t>𝑗</m:t>
                        </m:r>
                      </m:sub>
                    </m:sSub>
                    <m:r>
                      <a:rPr lang="en-US" altLang="zh-TW" sz="2000" i="1" smtClean="0">
                        <a:latin typeface="Cambria Math"/>
                        <a:ea typeface="Cambria Math"/>
                      </a:rPr>
                      <m:t>⊆</m:t>
                    </m:r>
                    <m:r>
                      <a:rPr lang="en-US" altLang="zh-TW" sz="2000" b="0" i="1" smtClean="0">
                        <a:latin typeface="Cambria Math"/>
                        <a:ea typeface="Cambria Math"/>
                      </a:rPr>
                      <m:t>𝐽</m:t>
                    </m:r>
                  </m:oMath>
                </a14:m>
                <a:r>
                  <a:rPr lang="en-US" altLang="zh-TW" sz="2000" dirty="0" smtClean="0"/>
                  <a:t>;</a:t>
                </a:r>
              </a:p>
              <a:p>
                <a:pPr lvl="1">
                  <a:lnSpc>
                    <a:spcPct val="150000"/>
                  </a:lnSpc>
                </a:pPr>
                <a14:m>
                  <m:oMath xmlns:m="http://schemas.openxmlformats.org/officeDocument/2006/math">
                    <m:r>
                      <m:rPr>
                        <m:sty m:val="p"/>
                      </m:rPr>
                      <a:rPr lang="en-US" altLang="zh-TW" sz="2000" smtClean="0">
                        <a:latin typeface="Cambria Math"/>
                      </a:rPr>
                      <m:t>Q</m:t>
                    </m:r>
                    <m:r>
                      <a:rPr lang="en-US" altLang="zh-TW" sz="2000">
                        <a:latin typeface="Cambria Math"/>
                      </a:rPr>
                      <m:t>=</m:t>
                    </m:r>
                    <m:d>
                      <m:dPr>
                        <m:begChr m:val="{"/>
                        <m:endChr m:val="}"/>
                        <m:ctrlPr>
                          <a:rPr lang="en-US" altLang="zh-TW" sz="2000" i="1">
                            <a:latin typeface="Cambria Math"/>
                          </a:rPr>
                        </m:ctrlPr>
                      </m:dPr>
                      <m:e>
                        <m:sSub>
                          <m:sSubPr>
                            <m:ctrlPr>
                              <a:rPr lang="en-US" altLang="zh-TW" sz="2000" i="1">
                                <a:latin typeface="Cambria Math"/>
                              </a:rPr>
                            </m:ctrlPr>
                          </m:sSubPr>
                          <m:e>
                            <m:r>
                              <a:rPr lang="en-US" altLang="zh-TW" sz="2000">
                                <a:latin typeface="Cambria Math"/>
                              </a:rPr>
                              <m:t>𝑄</m:t>
                            </m:r>
                          </m:e>
                          <m:sub>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a:latin typeface="Cambria Math"/>
                              </a:rPr>
                              <m:t>𝑄</m:t>
                            </m:r>
                          </m:e>
                          <m:sub>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a:latin typeface="Cambria Math"/>
                              </a:rPr>
                              <m:t>𝑄</m:t>
                            </m:r>
                          </m:e>
                          <m:sub>
                            <m:r>
                              <m:rPr>
                                <m:sty m:val="p"/>
                              </m:rPr>
                              <a:rPr lang="en-US" altLang="zh-TW" sz="2000" b="0" i="0" smtClean="0">
                                <a:latin typeface="Cambria Math"/>
                              </a:rPr>
                              <m:t>P</m:t>
                            </m:r>
                          </m:sub>
                        </m:sSub>
                      </m:e>
                    </m:d>
                  </m:oMath>
                </a14:m>
                <a:r>
                  <a:rPr lang="zh-TW" altLang="en-US" sz="2000" dirty="0" smtClean="0"/>
                  <a:t> </a:t>
                </a:r>
                <a:r>
                  <a:rPr lang="en-US" altLang="zh-TW" sz="2000" dirty="0" smtClean="0"/>
                  <a:t>is a set of queries for each </a:t>
                </a:r>
                <a14:m>
                  <m:oMath xmlns:m="http://schemas.openxmlformats.org/officeDocument/2006/math">
                    <m:sSub>
                      <m:sSubPr>
                        <m:ctrlPr>
                          <a:rPr lang="en-US" altLang="zh-TW" sz="2000" i="1">
                            <a:latin typeface="Cambria Math"/>
                          </a:rPr>
                        </m:ctrlPr>
                      </m:sSubPr>
                      <m:e>
                        <m:r>
                          <a:rPr lang="en-US" altLang="zh-TW" sz="2000" b="0" i="1" smtClean="0">
                            <a:latin typeface="Cambria Math"/>
                          </a:rPr>
                          <m:t>𝑄</m:t>
                        </m:r>
                      </m:e>
                      <m:sub>
                        <m:r>
                          <a:rPr lang="en-US" altLang="zh-TW" sz="2000" b="0" i="1" smtClean="0">
                            <a:latin typeface="Cambria Math"/>
                          </a:rPr>
                          <m:t>𝑘</m:t>
                        </m:r>
                      </m:sub>
                    </m:sSub>
                    <m:r>
                      <a:rPr lang="en-US" altLang="zh-TW" sz="2000" i="1">
                        <a:latin typeface="Cambria Math"/>
                        <a:ea typeface="Cambria Math"/>
                      </a:rPr>
                      <m:t>⊆</m:t>
                    </m:r>
                    <m:r>
                      <a:rPr lang="en-US" altLang="zh-TW" sz="2000" i="1">
                        <a:latin typeface="Cambria Math"/>
                        <a:ea typeface="Cambria Math"/>
                      </a:rPr>
                      <m:t>𝐽</m:t>
                    </m:r>
                  </m:oMath>
                </a14:m>
                <a:r>
                  <a:rPr lang="en-US" altLang="zh-TW" sz="2000" dirty="0" smtClean="0"/>
                  <a:t>;</a:t>
                </a:r>
              </a:p>
              <a:p>
                <a:pPr lvl="1">
                  <a:lnSpc>
                    <a:spcPct val="150000"/>
                  </a:lnSpc>
                </a:pPr>
                <a14:m>
                  <m:oMath xmlns:m="http://schemas.openxmlformats.org/officeDocument/2006/math">
                    <m:r>
                      <a:rPr lang="en-US" altLang="zh-TW" sz="2000" b="0" i="1" smtClean="0">
                        <a:latin typeface="Cambria Math"/>
                      </a:rPr>
                      <m:t>𝛼</m:t>
                    </m:r>
                    <m:r>
                      <a:rPr lang="en-US" altLang="zh-TW" sz="2000" b="0" i="1" smtClean="0">
                        <a:latin typeface="Cambria Math"/>
                      </a:rPr>
                      <m:t>:</m:t>
                    </m:r>
                    <m:r>
                      <a:rPr lang="en-US" altLang="zh-TW" sz="2000" b="0" i="1" smtClean="0">
                        <a:latin typeface="Cambria Math"/>
                      </a:rPr>
                      <m:t>𝑄</m:t>
                    </m:r>
                    <m:r>
                      <a:rPr lang="en-US" altLang="zh-TW" sz="2000" b="0" i="1" smtClean="0">
                        <a:latin typeface="Cambria Math"/>
                        <a:ea typeface="Cambria Math"/>
                      </a:rPr>
                      <m:t>×</m:t>
                    </m:r>
                    <m:r>
                      <a:rPr lang="en-US" altLang="zh-TW" sz="2000" b="0" i="1" smtClean="0">
                        <a:latin typeface="Cambria Math"/>
                        <a:ea typeface="Cambria Math"/>
                      </a:rPr>
                      <m:t>𝐷</m:t>
                    </m:r>
                    <m:r>
                      <a:rPr lang="en-US" altLang="zh-TW" sz="2000" b="0" i="1" smtClean="0">
                        <a:latin typeface="Cambria Math"/>
                        <a:ea typeface="Cambria Math"/>
                      </a:rPr>
                      <m:t>⟶</m:t>
                    </m:r>
                    <m:sSup>
                      <m:sSupPr>
                        <m:ctrlPr>
                          <a:rPr lang="en-US" altLang="zh-TW" sz="2000" b="0" i="1" smtClean="0">
                            <a:latin typeface="Cambria Math"/>
                            <a:ea typeface="Cambria Math"/>
                          </a:rPr>
                        </m:ctrlPr>
                      </m:sSupPr>
                      <m:e>
                        <m:r>
                          <a:rPr lang="en-US" altLang="zh-TW" sz="2000" b="0" i="1" smtClean="0">
                            <a:latin typeface="Cambria Math"/>
                            <a:ea typeface="Cambria Math"/>
                          </a:rPr>
                          <m:t>𝑅</m:t>
                        </m:r>
                      </m:e>
                      <m:sup>
                        <m:r>
                          <a:rPr lang="en-US" altLang="zh-TW" sz="2000" b="0" i="1" smtClean="0">
                            <a:latin typeface="Cambria Math"/>
                            <a:ea typeface="Cambria Math"/>
                          </a:rPr>
                          <m:t>+</m:t>
                        </m:r>
                      </m:sup>
                    </m:sSup>
                  </m:oMath>
                </a14:m>
                <a:r>
                  <a:rPr lang="en-US" altLang="zh-TW" sz="2000" dirty="0" smtClean="0"/>
                  <a:t> is a ranking function.</a:t>
                </a:r>
              </a:p>
              <a:p>
                <a:pPr lvl="1">
                  <a:lnSpc>
                    <a:spcPct val="150000"/>
                  </a:lnSpc>
                </a:pPr>
                <a:r>
                  <a:rPr lang="en-US" altLang="zh-TW" sz="2000" dirty="0" smtClean="0"/>
                  <a:t>Both documents and queries can be weighted for importance.</a:t>
                </a:r>
              </a:p>
              <a:p>
                <a:pPr>
                  <a:lnSpc>
                    <a:spcPct val="150000"/>
                  </a:lnSpc>
                </a:pPr>
                <a:r>
                  <a:rPr lang="en-US" altLang="zh-TW" sz="2000" dirty="0" smtClean="0"/>
                  <a:t>Target:</a:t>
                </a:r>
              </a:p>
              <a:p>
                <a:pPr marL="457200" lvl="1" indent="0">
                  <a:lnSpc>
                    <a:spcPct val="150000"/>
                  </a:lnSpc>
                  <a:buNone/>
                </a:pPr>
                <a14:m>
                  <m:oMath xmlns:m="http://schemas.openxmlformats.org/officeDocument/2006/math">
                    <m:r>
                      <a:rPr lang="en-US" altLang="zh-TW" sz="2000" b="0" i="1" smtClean="0">
                        <a:latin typeface="Cambria Math"/>
                      </a:rPr>
                      <m:t>𝐴</m:t>
                    </m:r>
                    <m:r>
                      <a:rPr lang="en-US" altLang="zh-TW" sz="2000" b="0" i="1" smtClean="0">
                        <a:latin typeface="Cambria Math"/>
                      </a:rPr>
                      <m:t>=</m:t>
                    </m:r>
                    <m:d>
                      <m:dPr>
                        <m:begChr m:val="{"/>
                        <m:endChr m:val="}"/>
                        <m:ctrlPr>
                          <a:rPr lang="en-US" altLang="zh-TW" sz="2000" b="0" i="1" smtClean="0">
                            <a:latin typeface="Cambria Math"/>
                          </a:rPr>
                        </m:ctrlPr>
                      </m:dPr>
                      <m:e>
                        <m:sSub>
                          <m:sSubPr>
                            <m:ctrlPr>
                              <a:rPr lang="en-US" altLang="zh-TW" sz="2000" b="0" i="1" smtClean="0">
                                <a:latin typeface="Cambria Math"/>
                              </a:rPr>
                            </m:ctrlPr>
                          </m:sSubPr>
                          <m:e>
                            <m:r>
                              <a:rPr lang="en-US" altLang="zh-TW" sz="2000" b="0" i="1" smtClean="0">
                                <a:latin typeface="Cambria Math"/>
                              </a:rPr>
                              <m:t>𝑑</m:t>
                            </m:r>
                          </m:e>
                          <m:sub>
                            <m:r>
                              <a:rPr lang="en-US" altLang="zh-TW" sz="2000" b="0" i="1" smtClean="0">
                                <a:latin typeface="Cambria Math"/>
                              </a:rPr>
                              <m:t>𝑗</m:t>
                            </m:r>
                            <m:r>
                              <a:rPr lang="en-US" altLang="zh-TW" sz="2000" b="0" i="1" smtClean="0">
                                <a:latin typeface="Cambria Math"/>
                              </a:rPr>
                              <m:t>1</m:t>
                            </m:r>
                          </m:sub>
                        </m:sSub>
                        <m:r>
                          <a:rPr lang="en-US" altLang="zh-TW" sz="2000" b="0" i="1" smtClean="0">
                            <a:latin typeface="Cambria Math"/>
                          </a:rPr>
                          <m:t>,</m:t>
                        </m:r>
                        <m:sSub>
                          <m:sSubPr>
                            <m:ctrlPr>
                              <a:rPr lang="en-US" altLang="zh-TW" sz="2000" b="0" i="1" smtClean="0">
                                <a:latin typeface="Cambria Math"/>
                              </a:rPr>
                            </m:ctrlPr>
                          </m:sSubPr>
                          <m:e>
                            <m:r>
                              <a:rPr lang="en-US" altLang="zh-TW" sz="2000" b="0" i="1" smtClean="0">
                                <a:latin typeface="Cambria Math"/>
                              </a:rPr>
                              <m:t>𝑑</m:t>
                            </m:r>
                          </m:e>
                          <m:sub>
                            <m:r>
                              <a:rPr lang="en-US" altLang="zh-TW" sz="2000" b="0" i="1" smtClean="0">
                                <a:latin typeface="Cambria Math"/>
                              </a:rPr>
                              <m:t>𝑗</m:t>
                            </m:r>
                            <m:r>
                              <a:rPr lang="en-US" altLang="zh-TW" sz="2000" b="0" i="1" smtClean="0">
                                <a:latin typeface="Cambria Math"/>
                              </a:rPr>
                              <m:t>2</m:t>
                            </m:r>
                          </m:sub>
                        </m:sSub>
                        <m:r>
                          <a:rPr lang="en-US" altLang="zh-TW" sz="2000" b="0" i="1" smtClean="0">
                            <a:latin typeface="Cambria Math"/>
                          </a:rPr>
                          <m:t>,…,</m:t>
                        </m:r>
                        <m:sSub>
                          <m:sSubPr>
                            <m:ctrlPr>
                              <a:rPr lang="en-US" altLang="zh-TW" sz="2000" b="0" i="1" smtClean="0">
                                <a:latin typeface="Cambria Math"/>
                              </a:rPr>
                            </m:ctrlPr>
                          </m:sSubPr>
                          <m:e>
                            <m:r>
                              <a:rPr lang="en-US" altLang="zh-TW" sz="2000" b="0" i="1" smtClean="0">
                                <a:latin typeface="Cambria Math"/>
                              </a:rPr>
                              <m:t>𝑑</m:t>
                            </m:r>
                          </m:e>
                          <m:sub>
                            <m:r>
                              <a:rPr lang="en-US" altLang="zh-TW" sz="2000" b="0" i="1" smtClean="0">
                                <a:latin typeface="Cambria Math"/>
                              </a:rPr>
                              <m:t>𝑗𝑚</m:t>
                            </m:r>
                          </m:sub>
                        </m:sSub>
                      </m:e>
                    </m:d>
                    <m:r>
                      <a:rPr lang="en-US" altLang="zh-TW" sz="2000" i="1">
                        <a:latin typeface="Cambria Math"/>
                        <a:ea typeface="Cambria Math"/>
                      </a:rPr>
                      <m:t>⊆</m:t>
                    </m:r>
                    <m:r>
                      <a:rPr lang="en-US" altLang="zh-TW" sz="2000" b="0" i="1" smtClean="0">
                        <a:latin typeface="Cambria Math"/>
                        <a:ea typeface="Cambria Math"/>
                      </a:rPr>
                      <m:t>𝐷</m:t>
                    </m:r>
                  </m:oMath>
                </a14:m>
                <a:r>
                  <a:rPr lang="zh-TW" altLang="en-US" sz="2000" dirty="0" smtClean="0"/>
                  <a:t> </a:t>
                </a:r>
                <a:r>
                  <a:rPr lang="en-US" altLang="zh-TW" sz="2000" dirty="0" smtClean="0"/>
                  <a:t>to the query q with ranking order of </a:t>
                </a:r>
                <a14:m>
                  <m:oMath xmlns:m="http://schemas.openxmlformats.org/officeDocument/2006/math">
                    <m:r>
                      <a:rPr lang="en-US" altLang="zh-TW" sz="2000" b="0" i="1" smtClean="0">
                        <a:latin typeface="Cambria Math"/>
                      </a:rPr>
                      <m:t>𝛼</m:t>
                    </m:r>
                    <m:r>
                      <a:rPr lang="en-US" altLang="zh-TW" sz="2000" b="0" i="1" smtClean="0">
                        <a:latin typeface="Cambria Math"/>
                      </a:rPr>
                      <m:t>(</m:t>
                    </m:r>
                    <m:r>
                      <a:rPr lang="en-US" altLang="zh-TW" sz="2000" b="0" i="1" smtClean="0">
                        <a:latin typeface="Cambria Math"/>
                      </a:rPr>
                      <m:t>𝑞</m:t>
                    </m:r>
                    <m:r>
                      <a:rPr lang="en-US" altLang="zh-TW" sz="2000" b="0" i="1" smtClean="0">
                        <a:latin typeface="Cambria Math"/>
                      </a:rPr>
                      <m:t>,</m:t>
                    </m:r>
                    <m:sSub>
                      <m:sSubPr>
                        <m:ctrlPr>
                          <a:rPr lang="en-US" altLang="zh-TW" sz="2000" b="0" i="1" smtClean="0">
                            <a:latin typeface="Cambria Math"/>
                          </a:rPr>
                        </m:ctrlPr>
                      </m:sSubPr>
                      <m:e>
                        <m:r>
                          <a:rPr lang="en-US" altLang="zh-TW" sz="2000" b="0" i="1" smtClean="0">
                            <a:latin typeface="Cambria Math"/>
                          </a:rPr>
                          <m:t>𝑑</m:t>
                        </m:r>
                      </m:e>
                      <m:sub>
                        <m:r>
                          <a:rPr lang="en-US" altLang="zh-TW" sz="2000" b="0" i="1" smtClean="0">
                            <a:latin typeface="Cambria Math"/>
                          </a:rPr>
                          <m:t>𝑗𝑘</m:t>
                        </m:r>
                      </m:sub>
                    </m:sSub>
                    <m:r>
                      <a:rPr lang="en-US" altLang="zh-TW" sz="2000" b="0" i="1" smtClean="0">
                        <a:latin typeface="Cambria Math"/>
                      </a:rPr>
                      <m:t>)</m:t>
                    </m:r>
                  </m:oMath>
                </a14:m>
                <a:r>
                  <a:rPr lang="en-US" altLang="zh-TW" sz="2000" dirty="0" smtClean="0"/>
                  <a:t>.</a:t>
                </a:r>
                <a:endParaRPr lang="zh-TW" altLang="en-US" sz="2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593" r="-14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268211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Preliminaries</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Text categorization</a:t>
            </a:r>
          </a:p>
          <a:p>
            <a:pPr lvl="1">
              <a:lnSpc>
                <a:spcPct val="150000"/>
              </a:lnSpc>
            </a:pPr>
            <a:r>
              <a:rPr lang="en-US" altLang="zh-TW" sz="2000" dirty="0" smtClean="0"/>
              <a:t>L: news, reports, web pages, etc.</a:t>
            </a:r>
          </a:p>
          <a:p>
            <a:pPr lvl="1">
              <a:lnSpc>
                <a:spcPct val="150000"/>
              </a:lnSpc>
            </a:pPr>
            <a:r>
              <a:rPr lang="en-US" altLang="zh-TW" sz="2000" dirty="0" smtClean="0"/>
              <a:t>Classify the document in test set with trained model using training set.</a:t>
            </a:r>
          </a:p>
          <a:p>
            <a:pPr>
              <a:lnSpc>
                <a:spcPct val="150000"/>
              </a:lnSpc>
            </a:pPr>
            <a:r>
              <a:rPr lang="en-US" altLang="zh-TW" sz="2000" dirty="0" smtClean="0"/>
              <a:t>Text representation</a:t>
            </a:r>
          </a:p>
          <a:p>
            <a:pPr lvl="1">
              <a:lnSpc>
                <a:spcPct val="150000"/>
              </a:lnSpc>
            </a:pPr>
            <a:r>
              <a:rPr lang="en-US" altLang="zh-TW" sz="2000" dirty="0" smtClean="0"/>
              <a:t>TF*IDF, LSI, Multi-word</a:t>
            </a:r>
          </a:p>
          <a:p>
            <a:pPr>
              <a:lnSpc>
                <a:spcPct val="150000"/>
              </a:lnSpc>
            </a:pPr>
            <a:r>
              <a:rPr lang="en-US" altLang="zh-TW" sz="2000" dirty="0" smtClean="0"/>
              <a:t>Information gain (IG)</a:t>
            </a:r>
          </a:p>
          <a:p>
            <a:pPr lvl="1">
              <a:lnSpc>
                <a:spcPct val="150000"/>
              </a:lnSpc>
            </a:pPr>
            <a:r>
              <a:rPr lang="en-US" altLang="zh-TW" sz="2000" dirty="0" smtClean="0"/>
              <a:t>Reduce dimensions of the feature space.</a:t>
            </a:r>
          </a:p>
          <a:p>
            <a:pPr>
              <a:lnSpc>
                <a:spcPct val="150000"/>
              </a:lnSpc>
            </a:pPr>
            <a:r>
              <a:rPr lang="en-US" altLang="zh-TW" sz="2000" dirty="0" smtClean="0"/>
              <a:t>SVM</a:t>
            </a:r>
            <a:endParaRPr lang="zh-TW" altLang="en-US" sz="2000" dirty="0"/>
          </a:p>
        </p:txBody>
      </p:sp>
    </p:spTree>
    <p:extLst>
      <p:ext uri="{BB962C8B-B14F-4D97-AF65-F5344CB8AC3E}">
        <p14:creationId xmlns:p14="http://schemas.microsoft.com/office/powerpoint/2010/main" val="42277772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TF*IDF (TF-IDF)</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400" dirty="0" smtClean="0"/>
                  <a:t>Inverse document frequency (IDF)</a:t>
                </a:r>
              </a:p>
              <a:p>
                <a:pPr lvl="1">
                  <a:lnSpc>
                    <a:spcPct val="150000"/>
                  </a:lnSpc>
                </a:pPr>
                <a:r>
                  <a:rPr lang="zh-TW" altLang="en-US" sz="2000" dirty="0" smtClean="0"/>
                  <a:t>字詞於所有文件中出現的頻率，倒數取 </a:t>
                </a:r>
                <a:r>
                  <a:rPr lang="en-US" altLang="zh-TW" sz="2000" dirty="0" smtClean="0"/>
                  <a:t>log</a:t>
                </a:r>
                <a:r>
                  <a:rPr lang="zh-TW" altLang="en-US" sz="2000" dirty="0"/>
                  <a:t>。</a:t>
                </a:r>
                <a:endParaRPr lang="en-US" altLang="zh-TW" sz="2000" dirty="0" smtClean="0"/>
              </a:p>
              <a:p>
                <a:pPr lvl="1">
                  <a:lnSpc>
                    <a:spcPct val="150000"/>
                  </a:lnSpc>
                </a:pPr>
                <a14:m>
                  <m:oMath xmlns:m="http://schemas.openxmlformats.org/officeDocument/2006/math">
                    <m:sSub>
                      <m:sSubPr>
                        <m:ctrlPr>
                          <a:rPr lang="en-US" altLang="zh-TW" sz="2000" i="1" smtClean="0">
                            <a:latin typeface="Cambria Math"/>
                          </a:rPr>
                        </m:ctrlPr>
                      </m:sSubPr>
                      <m:e>
                        <m:r>
                          <a:rPr lang="en-US" altLang="zh-TW" sz="2000" smtClean="0">
                            <a:latin typeface="Cambria Math"/>
                          </a:rPr>
                          <m:t>𝑖𝑑𝑓</m:t>
                        </m:r>
                      </m:e>
                      <m:sub>
                        <m:r>
                          <a:rPr lang="en-US" altLang="zh-TW" sz="2000" smtClean="0">
                            <a:latin typeface="Cambria Math"/>
                          </a:rPr>
                          <m:t>𝑖</m:t>
                        </m:r>
                      </m:sub>
                    </m:sSub>
                    <m:r>
                      <a:rPr lang="en-US" altLang="zh-TW" sz="2000" smtClean="0">
                        <a:latin typeface="Cambria Math"/>
                      </a:rPr>
                      <m:t>=</m:t>
                    </m:r>
                    <m:func>
                      <m:funcPr>
                        <m:ctrlPr>
                          <a:rPr lang="en-US" altLang="zh-TW" sz="2000" i="1" smtClean="0">
                            <a:latin typeface="Cambria Math"/>
                          </a:rPr>
                        </m:ctrlPr>
                      </m:funcPr>
                      <m:fName>
                        <m:r>
                          <m:rPr>
                            <m:sty m:val="p"/>
                          </m:rPr>
                          <a:rPr lang="en-US" altLang="zh-TW" sz="2000" smtClean="0">
                            <a:latin typeface="Cambria Math"/>
                          </a:rPr>
                          <m:t>log</m:t>
                        </m:r>
                      </m:fName>
                      <m:e>
                        <m:d>
                          <m:dPr>
                            <m:ctrlPr>
                              <a:rPr lang="en-US" altLang="zh-TW" sz="2000" i="1" smtClean="0">
                                <a:latin typeface="Cambria Math"/>
                              </a:rPr>
                            </m:ctrlPr>
                          </m:dPr>
                          <m:e>
                            <m:f>
                              <m:fPr>
                                <m:ctrlPr>
                                  <a:rPr lang="en-US" altLang="zh-TW" sz="2000" i="1">
                                    <a:latin typeface="Cambria Math"/>
                                  </a:rPr>
                                </m:ctrlPr>
                              </m:fPr>
                              <m:num>
                                <m:r>
                                  <a:rPr lang="en-US" altLang="zh-TW" sz="2000">
                                    <a:latin typeface="Cambria Math"/>
                                  </a:rPr>
                                  <m:t>𝑁</m:t>
                                </m:r>
                              </m:num>
                              <m:den>
                                <m:sSub>
                                  <m:sSubPr>
                                    <m:ctrlPr>
                                      <a:rPr lang="en-US" altLang="zh-TW" sz="2000" i="1">
                                        <a:latin typeface="Cambria Math"/>
                                      </a:rPr>
                                    </m:ctrlPr>
                                  </m:sSubPr>
                                  <m:e>
                                    <m:r>
                                      <a:rPr lang="en-US" altLang="zh-TW" sz="2000">
                                        <a:latin typeface="Cambria Math"/>
                                      </a:rPr>
                                      <m:t>𝑑𝑓</m:t>
                                    </m:r>
                                  </m:e>
                                  <m:sub>
                                    <m:r>
                                      <a:rPr lang="en-US" altLang="zh-TW" sz="2000">
                                        <a:latin typeface="Cambria Math"/>
                                      </a:rPr>
                                      <m:t>𝑖</m:t>
                                    </m:r>
                                  </m:sub>
                                </m:sSub>
                              </m:den>
                            </m:f>
                          </m:e>
                        </m:d>
                      </m:e>
                    </m:func>
                  </m:oMath>
                </a14:m>
                <a:r>
                  <a:rPr lang="en-US" altLang="zh-TW" sz="2000" dirty="0" smtClean="0"/>
                  <a:t>,</a:t>
                </a:r>
                <a:r>
                  <a:rPr lang="en-US" altLang="zh-TW" sz="2000" dirty="0"/>
                  <a:t> (</a:t>
                </a:r>
                <a14:m>
                  <m:oMath xmlns:m="http://schemas.openxmlformats.org/officeDocument/2006/math">
                    <m:sSub>
                      <m:sSubPr>
                        <m:ctrlPr>
                          <a:rPr lang="en-US" altLang="zh-TW" sz="2000" i="1">
                            <a:latin typeface="Cambria Math"/>
                          </a:rPr>
                        </m:ctrlPr>
                      </m:sSubPr>
                      <m:e>
                        <m:r>
                          <a:rPr lang="en-US" altLang="zh-TW" sz="2000">
                            <a:latin typeface="Cambria Math"/>
                          </a:rPr>
                          <m:t>𝑑𝑓</m:t>
                        </m:r>
                      </m:e>
                      <m:sub>
                        <m:r>
                          <a:rPr lang="en-US" altLang="zh-TW" sz="2000">
                            <a:latin typeface="Cambria Math"/>
                          </a:rPr>
                          <m:t>𝑖</m:t>
                        </m:r>
                      </m:sub>
                    </m:sSub>
                  </m:oMath>
                </a14:m>
                <a:r>
                  <a:rPr lang="zh-TW" altLang="en-US" sz="2000" dirty="0" smtClean="0"/>
                  <a:t>：</a:t>
                </a:r>
                <a:r>
                  <a:rPr lang="zh-TW" altLang="en-US" sz="2000" dirty="0"/>
                  <a:t>含此字詞的文章</a:t>
                </a:r>
                <a:r>
                  <a:rPr lang="zh-TW" altLang="en-US" sz="2000" dirty="0" smtClean="0"/>
                  <a:t>數；</a:t>
                </a:r>
                <a:r>
                  <a:rPr lang="en-US" altLang="zh-TW" sz="2000" dirty="0"/>
                  <a:t> </a:t>
                </a:r>
                <a14:m>
                  <m:oMath xmlns:m="http://schemas.openxmlformats.org/officeDocument/2006/math">
                    <m:r>
                      <a:rPr lang="en-US" altLang="zh-TW" sz="2000">
                        <a:latin typeface="Cambria Math"/>
                      </a:rPr>
                      <m:t>𝑁</m:t>
                    </m:r>
                  </m:oMath>
                </a14:m>
                <a:r>
                  <a:rPr lang="zh-TW" altLang="en-US" sz="2000" dirty="0" smtClean="0"/>
                  <a:t>：所有文章數</a:t>
                </a:r>
                <a:r>
                  <a:rPr lang="en-US" altLang="zh-TW" sz="2000" dirty="0" smtClean="0"/>
                  <a:t>)</a:t>
                </a:r>
              </a:p>
              <a:p>
                <a:pPr>
                  <a:lnSpc>
                    <a:spcPct val="150000"/>
                  </a:lnSpc>
                </a:pPr>
                <a:r>
                  <a:rPr lang="en-US" altLang="zh-TW" sz="2400" dirty="0"/>
                  <a:t>Term </a:t>
                </a:r>
                <a:r>
                  <a:rPr lang="en-US" altLang="zh-TW" sz="2400" dirty="0" smtClean="0"/>
                  <a:t>frequency (TF)</a:t>
                </a:r>
              </a:p>
              <a:p>
                <a:pPr lvl="1">
                  <a:lnSpc>
                    <a:spcPct val="150000"/>
                  </a:lnSpc>
                </a:pPr>
                <a:r>
                  <a:rPr lang="zh-TW" altLang="en-US" sz="2000" dirty="0" smtClean="0"/>
                  <a:t>字詞在這篇文章</a:t>
                </a:r>
                <a:r>
                  <a:rPr lang="zh-TW" altLang="en-US" sz="2000" dirty="0"/>
                  <a:t>中</a:t>
                </a:r>
                <a:r>
                  <a:rPr lang="zh-TW" altLang="en-US" sz="2000" dirty="0" smtClean="0"/>
                  <a:t>出現的頻率。</a:t>
                </a:r>
                <a:endParaRPr lang="en-US" altLang="zh-TW" sz="2000" dirty="0"/>
              </a:p>
              <a:p>
                <a:pPr>
                  <a:lnSpc>
                    <a:spcPct val="150000"/>
                  </a:lnSpc>
                </a:pPr>
                <a:r>
                  <a:rPr lang="en-US" altLang="zh-TW" sz="2400" dirty="0" smtClean="0"/>
                  <a:t>TF*IDF</a:t>
                </a:r>
              </a:p>
              <a:p>
                <a:pPr lvl="1">
                  <a:lnSpc>
                    <a:spcPct val="150000"/>
                  </a:lnSpc>
                </a:pPr>
                <a14:m>
                  <m:oMath xmlns:m="http://schemas.openxmlformats.org/officeDocument/2006/math">
                    <m:sSub>
                      <m:sSubPr>
                        <m:ctrlPr>
                          <a:rPr lang="en-US" altLang="zh-TW" sz="2000" i="1" smtClean="0">
                            <a:latin typeface="Cambria Math"/>
                          </a:rPr>
                        </m:ctrlPr>
                      </m:sSubPr>
                      <m:e>
                        <m:r>
                          <a:rPr lang="en-US" altLang="zh-TW" sz="2000" smtClean="0">
                            <a:latin typeface="Cambria Math"/>
                          </a:rPr>
                          <m:t>𝑤</m:t>
                        </m:r>
                      </m:e>
                      <m:sub>
                        <m:r>
                          <a:rPr lang="en-US" altLang="zh-TW" sz="2000" smtClean="0">
                            <a:latin typeface="Cambria Math"/>
                          </a:rPr>
                          <m:t>𝑖</m:t>
                        </m:r>
                        <m:r>
                          <a:rPr lang="en-US" altLang="zh-TW" sz="2000" smtClean="0">
                            <a:latin typeface="Cambria Math"/>
                          </a:rPr>
                          <m:t>,</m:t>
                        </m:r>
                        <m:r>
                          <a:rPr lang="en-US" altLang="zh-TW" sz="2000" smtClean="0">
                            <a:latin typeface="Cambria Math"/>
                          </a:rPr>
                          <m:t>𝑗</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𝑡𝑓</m:t>
                        </m:r>
                      </m:e>
                      <m:sub>
                        <m:r>
                          <a:rPr lang="en-US" altLang="zh-TW" sz="2000" smtClean="0">
                            <a:latin typeface="Cambria Math"/>
                          </a:rPr>
                          <m:t>𝑖</m:t>
                        </m:r>
                        <m:r>
                          <a:rPr lang="en-US" altLang="zh-TW" sz="2000" smtClean="0">
                            <a:latin typeface="Cambria Math"/>
                          </a:rPr>
                          <m:t>,</m:t>
                        </m:r>
                        <m:r>
                          <a:rPr lang="en-US" altLang="zh-TW" sz="2000" smtClean="0">
                            <a:latin typeface="Cambria Math"/>
                          </a:rPr>
                          <m:t>𝑗</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𝑖𝑑𝑓</m:t>
                        </m:r>
                      </m:e>
                      <m:sub>
                        <m:r>
                          <a:rPr lang="en-US" altLang="zh-TW" sz="2000" smtClean="0">
                            <a:latin typeface="Cambria Math"/>
                          </a:rPr>
                          <m:t>𝑖</m:t>
                        </m:r>
                      </m:sub>
                    </m:sSub>
                  </m:oMath>
                </a14:m>
                <a:r>
                  <a:rPr lang="en-US" altLang="zh-TW" sz="2000" dirty="0" smtClean="0"/>
                  <a:t>, (</a:t>
                </a:r>
                <a14:m>
                  <m:oMath xmlns:m="http://schemas.openxmlformats.org/officeDocument/2006/math">
                    <m:sSub>
                      <m:sSubPr>
                        <m:ctrlPr>
                          <a:rPr lang="en-US" altLang="zh-TW" sz="2000" i="1">
                            <a:latin typeface="Cambria Math"/>
                          </a:rPr>
                        </m:ctrlPr>
                      </m:sSubPr>
                      <m:e>
                        <m:r>
                          <a:rPr lang="en-US" altLang="zh-TW" sz="2000">
                            <a:latin typeface="Cambria Math"/>
                          </a:rPr>
                          <m:t>𝑤</m:t>
                        </m:r>
                      </m:e>
                      <m:sub>
                        <m:r>
                          <a:rPr lang="en-US" altLang="zh-TW" sz="2000">
                            <a:latin typeface="Cambria Math"/>
                          </a:rPr>
                          <m:t>𝑖</m:t>
                        </m:r>
                        <m:r>
                          <a:rPr lang="en-US" altLang="zh-TW" sz="2000">
                            <a:latin typeface="Cambria Math"/>
                          </a:rPr>
                          <m:t>,</m:t>
                        </m:r>
                        <m:r>
                          <a:rPr lang="en-US" altLang="zh-TW" sz="2000">
                            <a:latin typeface="Cambria Math"/>
                          </a:rPr>
                          <m:t>𝑗</m:t>
                        </m:r>
                      </m:sub>
                    </m:sSub>
                  </m:oMath>
                </a14:m>
                <a:r>
                  <a:rPr lang="zh-TW" altLang="en-US" sz="2000" dirty="0" smtClean="0"/>
                  <a:t>：字詞 </a:t>
                </a:r>
                <a:r>
                  <a:rPr lang="en-US" altLang="zh-TW" sz="2000" dirty="0" err="1" smtClean="0"/>
                  <a:t>i</a:t>
                </a:r>
                <a:r>
                  <a:rPr lang="en-US" altLang="zh-TW" sz="2000" dirty="0" smtClean="0"/>
                  <a:t> </a:t>
                </a:r>
                <a:r>
                  <a:rPr lang="zh-TW" altLang="en-US" sz="2000" dirty="0" smtClean="0"/>
                  <a:t>在文件 </a:t>
                </a:r>
                <a:r>
                  <a:rPr lang="en-US" altLang="zh-TW" sz="2000" dirty="0" smtClean="0"/>
                  <a:t>j </a:t>
                </a:r>
                <a:r>
                  <a:rPr lang="zh-TW" altLang="en-US" sz="2000" dirty="0" smtClean="0"/>
                  <a:t>中的 </a:t>
                </a:r>
                <a:r>
                  <a:rPr lang="en-US" altLang="zh-TW" sz="2000" dirty="0" smtClean="0"/>
                  <a:t>weight)</a:t>
                </a:r>
                <a:endParaRPr lang="zh-TW" altLang="en-US" sz="2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956631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Latent Semantic Indexing (LSI)</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400" dirty="0" smtClean="0">
                    <a:sym typeface="Wingdings" pitchFamily="2" charset="2"/>
                  </a:rPr>
                  <a:t> </a:t>
                </a:r>
                <a:r>
                  <a:rPr lang="zh-TW" altLang="en-US" sz="2400" dirty="0" smtClean="0">
                    <a:sym typeface="Wingdings" pitchFamily="2" charset="2"/>
                  </a:rPr>
                  <a:t>查詢用詞不見得與文章用詞相同：</a:t>
                </a:r>
                <a:r>
                  <a:rPr lang="zh-TW" altLang="en-US" sz="2400" dirty="0" smtClean="0"/>
                  <a:t>一字多義、同義多字。</a:t>
                </a:r>
                <a:endParaRPr lang="en-US" altLang="zh-TW" sz="2400" dirty="0" smtClean="0"/>
              </a:p>
              <a:p>
                <a:pPr>
                  <a:lnSpc>
                    <a:spcPct val="150000"/>
                  </a:lnSpc>
                </a:pPr>
                <a:r>
                  <a:rPr lang="en-US" altLang="zh-TW" sz="2400" dirty="0"/>
                  <a:t>Based on Singular Value Decomposition (SVD</a:t>
                </a:r>
                <a:r>
                  <a:rPr lang="en-US" altLang="zh-TW" sz="2400" dirty="0" smtClean="0"/>
                  <a:t>)</a:t>
                </a:r>
              </a:p>
              <a:p>
                <a:pPr lvl="1">
                  <a:lnSpc>
                    <a:spcPct val="150000"/>
                  </a:lnSpc>
                </a:pPr>
                <a:r>
                  <a:rPr lang="en-US" altLang="zh-TW" sz="2000" dirty="0" smtClean="0"/>
                  <a:t>X: term-document matrix</a:t>
                </a:r>
                <a:br>
                  <a:rPr lang="en-US" altLang="zh-TW" sz="2000" dirty="0" smtClean="0"/>
                </a:br>
                <a:r>
                  <a:rPr lang="en-US" altLang="zh-TW" sz="2000" dirty="0" smtClean="0"/>
                  <a:t>(terms appear in the document more than twice)</a:t>
                </a:r>
              </a:p>
              <a:p>
                <a:pPr lvl="1">
                  <a:lnSpc>
                    <a:spcPct val="150000"/>
                  </a:lnSpc>
                </a:pPr>
                <a14:m>
                  <m:oMath xmlns:m="http://schemas.openxmlformats.org/officeDocument/2006/math">
                    <m:r>
                      <a:rPr lang="en-US" altLang="zh-TW" sz="2400" smtClean="0">
                        <a:latin typeface="Cambria Math"/>
                      </a:rPr>
                      <m:t>𝑋</m:t>
                    </m:r>
                    <m:r>
                      <a:rPr lang="en-US" altLang="zh-TW" sz="2400" smtClean="0">
                        <a:latin typeface="Cambria Math"/>
                      </a:rPr>
                      <m:t>=</m:t>
                    </m:r>
                    <m:r>
                      <a:rPr lang="en-US" altLang="zh-TW" sz="2400" smtClean="0">
                        <a:latin typeface="Cambria Math"/>
                      </a:rPr>
                      <m:t>𝑈</m:t>
                    </m:r>
                    <m:r>
                      <m:rPr>
                        <m:sty m:val="p"/>
                      </m:rPr>
                      <a:rPr lang="en-US" altLang="zh-TW" sz="2400" smtClean="0">
                        <a:latin typeface="Cambria Math"/>
                      </a:rPr>
                      <m:t>Σ</m:t>
                    </m:r>
                    <m:sSup>
                      <m:sSupPr>
                        <m:ctrlPr>
                          <a:rPr lang="en-US" altLang="zh-TW" sz="2400" i="1" smtClean="0">
                            <a:latin typeface="Cambria Math"/>
                          </a:rPr>
                        </m:ctrlPr>
                      </m:sSupPr>
                      <m:e>
                        <m:r>
                          <a:rPr lang="en-US" altLang="zh-TW" sz="2400" smtClean="0">
                            <a:latin typeface="Cambria Math"/>
                          </a:rPr>
                          <m:t>𝑉</m:t>
                        </m:r>
                      </m:e>
                      <m:sup>
                        <m:r>
                          <a:rPr lang="en-US" altLang="zh-TW" sz="2400" smtClean="0">
                            <a:latin typeface="Cambria Math"/>
                          </a:rPr>
                          <m:t>𝑇</m:t>
                        </m:r>
                      </m:sup>
                    </m:sSup>
                  </m:oMath>
                </a14:m>
                <a:endParaRPr lang="en-US" altLang="zh-TW" sz="2400" dirty="0" smtClean="0"/>
              </a:p>
              <a:p>
                <a:pPr>
                  <a:lnSpc>
                    <a:spcPct val="150000"/>
                  </a:lnSpc>
                </a:pPr>
                <a:r>
                  <a:rPr lang="en-US" altLang="zh-TW" sz="2400" dirty="0" smtClean="0"/>
                  <a:t>original matrix </a:t>
                </a:r>
                <a:r>
                  <a:rPr lang="en-US" altLang="zh-TW" sz="2400" dirty="0" smtClean="0">
                    <a:sym typeface="Wingdings" pitchFamily="2" charset="2"/>
                  </a:rPr>
                  <a:t> approximation matrix</a:t>
                </a:r>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963" r="-4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7622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Multi-word</a:t>
            </a:r>
            <a:endParaRPr lang="zh-TW" altLang="en-US" dirty="0"/>
          </a:p>
        </p:txBody>
      </p:sp>
      <mc:AlternateContent xmlns:mc="http://schemas.openxmlformats.org/markup-compatibility/2006" xmlns:a14="http://schemas.microsoft.com/office/drawing/2010/main">
        <mc:Choice Requires="a14">
          <p:sp>
            <p:nvSpPr>
              <p:cNvPr id="11" name="內容版面配置區 10"/>
              <p:cNvSpPr>
                <a:spLocks noGrp="1"/>
              </p:cNvSpPr>
              <p:nvPr>
                <p:ph idx="1"/>
              </p:nvPr>
            </p:nvSpPr>
            <p:spPr/>
            <p:txBody>
              <a:bodyPr>
                <a:normAutofit/>
              </a:bodyPr>
              <a:lstStyle/>
              <a:p>
                <a:pPr marL="0" indent="0">
                  <a:lnSpc>
                    <a:spcPct val="150000"/>
                  </a:lnSpc>
                  <a:buNone/>
                </a:pPr>
                <a:r>
                  <a:rPr lang="en-US" altLang="zh-TW" sz="2400" dirty="0" smtClean="0">
                    <a:sym typeface="Wingdings" pitchFamily="2" charset="2"/>
                  </a:rPr>
                  <a:t> </a:t>
                </a:r>
                <a:r>
                  <a:rPr lang="zh-TW" altLang="en-US" sz="2400" dirty="0" smtClean="0"/>
                  <a:t>字詞的意思與上下文有關。</a:t>
                </a:r>
                <a:endParaRPr lang="en-US" altLang="zh-TW" sz="2400" dirty="0" smtClean="0"/>
              </a:p>
              <a:p>
                <a:pPr>
                  <a:lnSpc>
                    <a:spcPct val="150000"/>
                  </a:lnSpc>
                </a:pPr>
                <a:r>
                  <a:rPr lang="zh-TW" altLang="en-US" sz="2400" dirty="0" smtClean="0"/>
                  <a:t>長度限制 </a:t>
                </a:r>
                <a:r>
                  <a:rPr lang="en-US" altLang="zh-TW" sz="2400" dirty="0" smtClean="0"/>
                  <a:t>2~6 </a:t>
                </a:r>
                <a:r>
                  <a:rPr lang="zh-TW" altLang="en-US" sz="2400" dirty="0" smtClean="0"/>
                  <a:t>字。</a:t>
                </a:r>
                <a:endParaRPr lang="en-US" altLang="zh-TW" sz="2400" dirty="0" smtClean="0"/>
              </a:p>
              <a:p>
                <a:pPr>
                  <a:lnSpc>
                    <a:spcPct val="150000"/>
                  </a:lnSpc>
                </a:pPr>
                <a:r>
                  <a:rPr lang="zh-TW" altLang="en-US" sz="2400" dirty="0" smtClean="0"/>
                  <a:t>句子兩兩相比較，找出重複出現的 </a:t>
                </a:r>
                <a:r>
                  <a:rPr lang="en-US" altLang="zh-TW" sz="2400" dirty="0" smtClean="0"/>
                  <a:t>multi-word</a:t>
                </a:r>
                <a:r>
                  <a:rPr lang="zh-TW" altLang="en-US" sz="2400" dirty="0" smtClean="0"/>
                  <a:t>。</a:t>
                </a:r>
                <a:endParaRPr lang="en-US" altLang="zh-TW" sz="2400" dirty="0" smtClean="0"/>
              </a:p>
              <a:p>
                <a:pPr>
                  <a:lnSpc>
                    <a:spcPct val="150000"/>
                  </a:lnSpc>
                </a:pPr>
                <a:r>
                  <a:rPr lang="zh-TW" altLang="en-US" sz="2400" dirty="0" smtClean="0"/>
                  <a:t>且必需符合表達式：</a:t>
                </a:r>
                <a:endParaRPr lang="en-US" altLang="zh-TW" sz="2400" dirty="0" smtClean="0"/>
              </a:p>
              <a:p>
                <a:pPr lvl="1">
                  <a:lnSpc>
                    <a:spcPct val="150000"/>
                  </a:lnSpc>
                </a:pPr>
                <a:r>
                  <a:rPr lang="zh-TW" altLang="en-US" sz="2400" dirty="0" smtClean="0"/>
                  <a:t>中文：</a:t>
                </a:r>
                <a14:m>
                  <m:oMath xmlns:m="http://schemas.openxmlformats.org/officeDocument/2006/math">
                    <m:d>
                      <m:dPr>
                        <m:ctrlPr>
                          <a:rPr lang="en-US" altLang="zh-TW" sz="2400" b="0" i="1" smtClean="0">
                            <a:latin typeface="Cambria Math"/>
                          </a:rPr>
                        </m:ctrlPr>
                      </m:dPr>
                      <m:e>
                        <m:d>
                          <m:dPr>
                            <m:ctrlPr>
                              <a:rPr lang="en-US" altLang="zh-TW" sz="2400" b="0" i="1" smtClean="0">
                                <a:latin typeface="Cambria Math"/>
                              </a:rPr>
                            </m:ctrlPr>
                          </m:dPr>
                          <m:e>
                            <m:r>
                              <a:rPr lang="en-US" altLang="zh-TW" sz="2400" b="0" i="1" smtClean="0">
                                <a:latin typeface="Cambria Math"/>
                              </a:rPr>
                              <m:t>𝐴</m:t>
                            </m:r>
                            <m:r>
                              <a:rPr lang="en-US" altLang="zh-TW" sz="2400" b="0" i="1" smtClean="0">
                                <a:latin typeface="Cambria Math"/>
                              </a:rPr>
                              <m:t>|</m:t>
                            </m:r>
                            <m:r>
                              <a:rPr lang="en-US" altLang="zh-TW" sz="2400" b="0" i="1" smtClean="0">
                                <a:latin typeface="Cambria Math"/>
                              </a:rPr>
                              <m:t>𝑁</m:t>
                            </m:r>
                          </m:e>
                        </m:d>
                        <m:r>
                          <a:rPr lang="en-US" altLang="zh-TW" sz="2400" b="0" i="1" smtClean="0">
                            <a:latin typeface="Cambria Math"/>
                          </a:rPr>
                          <m:t>∗</m:t>
                        </m:r>
                      </m:e>
                    </m:d>
                    <m:r>
                      <a:rPr lang="en-US" altLang="zh-TW" sz="2400" b="0" i="1" smtClean="0">
                        <a:latin typeface="Cambria Math"/>
                      </a:rPr>
                      <m:t>𝑁</m:t>
                    </m:r>
                  </m:oMath>
                </a14:m>
                <a:endParaRPr lang="en-US" altLang="zh-TW" sz="2400" dirty="0" smtClean="0"/>
              </a:p>
              <a:p>
                <a:pPr lvl="1">
                  <a:lnSpc>
                    <a:spcPct val="150000"/>
                  </a:lnSpc>
                </a:pPr>
                <a:r>
                  <a:rPr lang="zh-TW" altLang="en-US" sz="2400" dirty="0" smtClean="0"/>
                  <a:t>英文：</a:t>
                </a:r>
                <a14:m>
                  <m:oMath xmlns:m="http://schemas.openxmlformats.org/officeDocument/2006/math">
                    <m:d>
                      <m:dPr>
                        <m:ctrlPr>
                          <a:rPr lang="en-US" altLang="zh-TW" sz="2400" b="0" i="1" smtClean="0">
                            <a:latin typeface="Cambria Math"/>
                          </a:rPr>
                        </m:ctrlPr>
                      </m:dPr>
                      <m:e>
                        <m:d>
                          <m:dPr>
                            <m:ctrlPr>
                              <a:rPr lang="en-US" altLang="zh-TW" sz="2400" b="0" i="1" smtClean="0">
                                <a:latin typeface="Cambria Math"/>
                              </a:rPr>
                            </m:ctrlPr>
                          </m:dPr>
                          <m:e>
                            <m:r>
                              <a:rPr lang="en-US" altLang="zh-TW" sz="2400" b="0" i="1" smtClean="0">
                                <a:latin typeface="Cambria Math"/>
                              </a:rPr>
                              <m:t>𝐴</m:t>
                            </m:r>
                            <m:r>
                              <a:rPr lang="en-US" altLang="zh-TW" sz="2400" b="0" i="1" smtClean="0">
                                <a:latin typeface="Cambria Math"/>
                              </a:rPr>
                              <m:t>|</m:t>
                            </m:r>
                            <m:r>
                              <a:rPr lang="en-US" altLang="zh-TW" sz="2400" b="0" i="1" smtClean="0">
                                <a:latin typeface="Cambria Math"/>
                              </a:rPr>
                              <m:t>𝑁</m:t>
                            </m:r>
                          </m:e>
                        </m:d>
                        <m:r>
                          <a:rPr lang="en-US" altLang="zh-TW" sz="2400" b="0" i="1" smtClean="0">
                            <a:latin typeface="Cambria Math"/>
                          </a:rPr>
                          <m:t>+|</m:t>
                        </m:r>
                        <m:d>
                          <m:dPr>
                            <m:ctrlPr>
                              <a:rPr lang="en-US" altLang="zh-TW" sz="2400" b="0" i="1" smtClean="0">
                                <a:latin typeface="Cambria Math"/>
                              </a:rPr>
                            </m:ctrlPr>
                          </m:dPr>
                          <m:e>
                            <m:r>
                              <a:rPr lang="en-US" altLang="zh-TW" sz="2400" b="0" i="1" smtClean="0">
                                <a:latin typeface="Cambria Math"/>
                              </a:rPr>
                              <m:t>𝐴</m:t>
                            </m:r>
                            <m:r>
                              <a:rPr lang="en-US" altLang="zh-TW" sz="2400" b="0" i="1" smtClean="0">
                                <a:latin typeface="Cambria Math"/>
                              </a:rPr>
                              <m:t>|</m:t>
                            </m:r>
                            <m:r>
                              <a:rPr lang="en-US" altLang="zh-TW" sz="2400" b="0" i="1" smtClean="0">
                                <a:latin typeface="Cambria Math"/>
                              </a:rPr>
                              <m:t>𝑁</m:t>
                            </m:r>
                          </m:e>
                        </m:d>
                        <m:r>
                          <a:rPr lang="en-US" altLang="zh-TW" sz="2400" b="0" i="1" smtClean="0">
                            <a:latin typeface="Cambria Math"/>
                          </a:rPr>
                          <m:t>∗</m:t>
                        </m:r>
                        <m:d>
                          <m:dPr>
                            <m:ctrlPr>
                              <a:rPr lang="en-US" altLang="zh-TW" sz="2400" b="0" i="1" smtClean="0">
                                <a:latin typeface="Cambria Math"/>
                              </a:rPr>
                            </m:ctrlPr>
                          </m:dPr>
                          <m:e>
                            <m:r>
                              <a:rPr lang="en-US" altLang="zh-TW" sz="2400" b="0" i="1" smtClean="0">
                                <a:latin typeface="Cambria Math"/>
                              </a:rPr>
                              <m:t>𝑁</m:t>
                            </m:r>
                          </m:e>
                          <m:e>
                            <m:r>
                              <a:rPr lang="en-US" altLang="zh-TW" sz="2400" b="0" i="1" smtClean="0">
                                <a:latin typeface="Cambria Math"/>
                              </a:rPr>
                              <m:t>𝑃</m:t>
                            </m:r>
                          </m:e>
                        </m:d>
                        <m:r>
                          <a:rPr lang="en-US" altLang="zh-TW" sz="2400" b="0" i="1" smtClean="0">
                            <a:latin typeface="Cambria Math"/>
                          </a:rPr>
                          <m:t>?</m:t>
                        </m:r>
                        <m:d>
                          <m:dPr>
                            <m:ctrlPr>
                              <a:rPr lang="en-US" altLang="zh-TW" sz="2400" b="0" i="1" smtClean="0">
                                <a:latin typeface="Cambria Math"/>
                              </a:rPr>
                            </m:ctrlPr>
                          </m:dPr>
                          <m:e>
                            <m:r>
                              <a:rPr lang="en-US" altLang="zh-TW" sz="2400" b="0" i="1" smtClean="0">
                                <a:latin typeface="Cambria Math"/>
                              </a:rPr>
                              <m:t>𝐴</m:t>
                            </m:r>
                            <m:r>
                              <a:rPr lang="en-US" altLang="zh-TW" sz="2400" b="0" i="1" smtClean="0">
                                <a:latin typeface="Cambria Math"/>
                              </a:rPr>
                              <m:t>|</m:t>
                            </m:r>
                            <m:r>
                              <a:rPr lang="en-US" altLang="zh-TW" sz="2400" b="0" i="1" smtClean="0">
                                <a:latin typeface="Cambria Math"/>
                              </a:rPr>
                              <m:t>𝑁</m:t>
                            </m:r>
                          </m:e>
                        </m:d>
                        <m:r>
                          <a:rPr lang="en-US" altLang="zh-TW" sz="2400" b="0" i="1" smtClean="0">
                            <a:latin typeface="Cambria Math"/>
                          </a:rPr>
                          <m:t>∗</m:t>
                        </m:r>
                      </m:e>
                    </m:d>
                    <m:r>
                      <a:rPr lang="en-US" altLang="zh-TW" sz="2400" b="0" i="1" smtClean="0">
                        <a:latin typeface="Cambria Math"/>
                      </a:rPr>
                      <m:t>𝑁</m:t>
                    </m:r>
                  </m:oMath>
                </a14:m>
                <a:endParaRPr lang="zh-TW" altLang="en-US" sz="2400" dirty="0"/>
              </a:p>
            </p:txBody>
          </p:sp>
        </mc:Choice>
        <mc:Fallback xmlns="">
          <p:sp>
            <p:nvSpPr>
              <p:cNvPr id="11" name="內容版面配置區 10"/>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zh-TW" altLang="en-US">
                    <a:noFill/>
                  </a:rPr>
                  <a:t> </a:t>
                </a:r>
              </a:p>
            </p:txBody>
          </p:sp>
        </mc:Fallback>
      </mc:AlternateContent>
      <p:sp>
        <p:nvSpPr>
          <p:cNvPr id="156" name="文字方塊 155"/>
          <p:cNvSpPr txBox="1"/>
          <p:nvPr/>
        </p:nvSpPr>
        <p:spPr>
          <a:xfrm>
            <a:off x="6907515" y="3473713"/>
            <a:ext cx="2056973" cy="1323439"/>
          </a:xfrm>
          <a:prstGeom prst="rect">
            <a:avLst/>
          </a:prstGeom>
          <a:noFill/>
          <a:ln w="12700">
            <a:solidFill>
              <a:schemeClr val="tx1">
                <a:lumMod val="50000"/>
                <a:lumOff val="50000"/>
              </a:schemeClr>
            </a:solidFill>
          </a:ln>
        </p:spPr>
        <p:txBody>
          <a:bodyPr wrap="none" rtlCol="0">
            <a:spAutoFit/>
          </a:bodyPr>
          <a:lstStyle/>
          <a:p>
            <a:pPr defTabSz="432000"/>
            <a:r>
              <a:rPr lang="en-US" altLang="zh-TW" sz="1600" dirty="0" smtClean="0"/>
              <a:t>Regular expression:</a:t>
            </a:r>
          </a:p>
          <a:p>
            <a:pPr defTabSz="432000"/>
            <a:r>
              <a:rPr lang="en-US" altLang="zh-TW" sz="1600" dirty="0" smtClean="0"/>
              <a:t>|	</a:t>
            </a:r>
            <a:r>
              <a:rPr lang="zh-TW" altLang="en-US" sz="1600" dirty="0" smtClean="0"/>
              <a:t>或</a:t>
            </a:r>
            <a:endParaRPr lang="en-US" altLang="zh-TW" sz="1600" dirty="0" smtClean="0"/>
          </a:p>
          <a:p>
            <a:pPr defTabSz="432000"/>
            <a:r>
              <a:rPr lang="en-US" altLang="zh-TW" sz="1600" dirty="0" smtClean="0"/>
              <a:t>*	</a:t>
            </a:r>
            <a:r>
              <a:rPr lang="zh-TW" altLang="en-US" sz="1600" dirty="0" smtClean="0"/>
              <a:t>出現多次或沒有</a:t>
            </a:r>
            <a:endParaRPr lang="en-US" altLang="zh-TW" sz="1600" dirty="0" smtClean="0"/>
          </a:p>
          <a:p>
            <a:pPr defTabSz="432000"/>
            <a:r>
              <a:rPr lang="en-US" altLang="zh-TW" sz="1600" dirty="0" smtClean="0"/>
              <a:t>?	</a:t>
            </a:r>
            <a:r>
              <a:rPr lang="zh-TW" altLang="en-US" sz="1600" dirty="0" smtClean="0"/>
              <a:t>出現一次或沒有</a:t>
            </a:r>
            <a:endParaRPr lang="en-US" altLang="zh-TW" sz="1600" dirty="0" smtClean="0"/>
          </a:p>
          <a:p>
            <a:pPr defTabSz="432000"/>
            <a:r>
              <a:rPr lang="en-US" altLang="zh-TW" sz="1600" dirty="0" smtClean="0"/>
              <a:t>+	</a:t>
            </a:r>
            <a:r>
              <a:rPr lang="zh-TW" altLang="en-US" sz="1600" dirty="0" smtClean="0"/>
              <a:t>出現一次或多次</a:t>
            </a:r>
            <a:endParaRPr lang="zh-TW" altLang="en-US" sz="1600" dirty="0"/>
          </a:p>
        </p:txBody>
      </p:sp>
    </p:spTree>
    <p:extLst>
      <p:ext uri="{BB962C8B-B14F-4D97-AF65-F5344CB8AC3E}">
        <p14:creationId xmlns:p14="http://schemas.microsoft.com/office/powerpoint/2010/main" val="7071219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Datasets</a:t>
            </a:r>
            <a:endParaRPr lang="zh-TW" altLang="en-US" dirty="0"/>
          </a:p>
        </p:txBody>
      </p:sp>
      <p:sp>
        <p:nvSpPr>
          <p:cNvPr id="5" name="內容版面配置區 4"/>
          <p:cNvSpPr>
            <a:spLocks noGrp="1"/>
          </p:cNvSpPr>
          <p:nvPr>
            <p:ph idx="1"/>
          </p:nvPr>
        </p:nvSpPr>
        <p:spPr/>
        <p:txBody>
          <a:bodyPr>
            <a:normAutofit/>
          </a:bodyPr>
          <a:lstStyle/>
          <a:p>
            <a:pPr>
              <a:lnSpc>
                <a:spcPct val="150000"/>
              </a:lnSpc>
            </a:pPr>
            <a:r>
              <a:rPr lang="zh-TW" altLang="en-US" sz="2400" dirty="0" smtClean="0"/>
              <a:t>中文：</a:t>
            </a:r>
            <a:r>
              <a:rPr lang="en-US" altLang="zh-TW" sz="2400" dirty="0" smtClean="0">
                <a:hlinkClick r:id="rId2"/>
              </a:rPr>
              <a:t>TanCorpV1.0</a:t>
            </a:r>
            <a:r>
              <a:rPr lang="en-US" altLang="zh-TW" sz="2400" dirty="0" smtClean="0"/>
              <a:t> (</a:t>
            </a:r>
            <a:r>
              <a:rPr lang="zh-TW" altLang="en-US" sz="2000" dirty="0" smtClean="0"/>
              <a:t>谭松波</a:t>
            </a:r>
            <a:r>
              <a:rPr lang="en-US" altLang="zh-TW" sz="2400" dirty="0" smtClean="0"/>
              <a:t>)</a:t>
            </a:r>
          </a:p>
          <a:p>
            <a:pPr lvl="1">
              <a:lnSpc>
                <a:spcPct val="150000"/>
              </a:lnSpc>
            </a:pPr>
            <a:r>
              <a:rPr lang="en-US" altLang="zh-TW" sz="2000" dirty="0" smtClean="0"/>
              <a:t>14150 </a:t>
            </a:r>
            <a:r>
              <a:rPr lang="zh-TW" altLang="en-US" sz="2000" dirty="0" smtClean="0"/>
              <a:t>篇 </a:t>
            </a:r>
            <a:r>
              <a:rPr lang="en-US" altLang="zh-TW" sz="2000" dirty="0" smtClean="0"/>
              <a:t>/ 20 </a:t>
            </a:r>
            <a:r>
              <a:rPr lang="zh-TW" altLang="en-US" sz="2000" dirty="0" smtClean="0"/>
              <a:t>類，論文 </a:t>
            </a:r>
            <a:r>
              <a:rPr lang="en-US" altLang="zh-TW" sz="2000" dirty="0" smtClean="0"/>
              <a:t>from Chinese academic journals</a:t>
            </a:r>
            <a:r>
              <a:rPr lang="zh-TW" altLang="en-US" sz="2000" dirty="0" smtClean="0"/>
              <a:t>。</a:t>
            </a:r>
            <a:endParaRPr lang="en-US" altLang="zh-TW" sz="2000" dirty="0" smtClean="0"/>
          </a:p>
          <a:p>
            <a:pPr lvl="1">
              <a:lnSpc>
                <a:spcPct val="150000"/>
              </a:lnSpc>
            </a:pPr>
            <a:r>
              <a:rPr lang="en-US" altLang="zh-TW" sz="2000" dirty="0" smtClean="0"/>
              <a:t>Choose 4 </a:t>
            </a:r>
            <a:r>
              <a:rPr lang="en-US" altLang="zh-TW" sz="2000" dirty="0"/>
              <a:t>categories: agriculture, history, politics, </a:t>
            </a:r>
            <a:r>
              <a:rPr lang="en-US" altLang="zh-TW" sz="2000" dirty="0" smtClean="0"/>
              <a:t>economy;</a:t>
            </a:r>
            <a:br>
              <a:rPr lang="en-US" altLang="zh-TW" sz="2000" dirty="0" smtClean="0"/>
            </a:br>
            <a:r>
              <a:rPr lang="en-US" altLang="zh-TW" sz="2000" dirty="0" smtClean="0"/>
              <a:t>randomly select </a:t>
            </a:r>
            <a:r>
              <a:rPr lang="en-US" altLang="zh-TW" sz="2000" dirty="0"/>
              <a:t>300 </a:t>
            </a:r>
            <a:r>
              <a:rPr lang="en-US" altLang="zh-TW" sz="2000" dirty="0" smtClean="0"/>
              <a:t>documents </a:t>
            </a:r>
            <a:r>
              <a:rPr lang="en-US" altLang="zh-TW" sz="2000" dirty="0"/>
              <a:t>for each category</a:t>
            </a:r>
            <a:r>
              <a:rPr lang="en-US" altLang="zh-TW" sz="2000" dirty="0" smtClean="0"/>
              <a:t>.</a:t>
            </a:r>
          </a:p>
          <a:p>
            <a:pPr>
              <a:lnSpc>
                <a:spcPct val="150000"/>
              </a:lnSpc>
            </a:pPr>
            <a:r>
              <a:rPr lang="zh-TW" altLang="en-US" sz="2400" dirty="0" smtClean="0"/>
              <a:t>英文：</a:t>
            </a:r>
            <a:r>
              <a:rPr lang="en-US" altLang="zh-TW" sz="2400" dirty="0" smtClean="0">
                <a:hlinkClick r:id="rId3"/>
              </a:rPr>
              <a:t>Reuters-21578</a:t>
            </a:r>
            <a:r>
              <a:rPr lang="en-US" altLang="zh-TW" sz="2400" dirty="0" smtClean="0"/>
              <a:t> distribution 1.0</a:t>
            </a:r>
          </a:p>
          <a:p>
            <a:pPr lvl="1">
              <a:lnSpc>
                <a:spcPct val="150000"/>
              </a:lnSpc>
            </a:pPr>
            <a:r>
              <a:rPr lang="en-US" altLang="zh-TW" sz="2000" dirty="0" smtClean="0"/>
              <a:t>21578 </a:t>
            </a:r>
            <a:r>
              <a:rPr lang="zh-TW" altLang="en-US" sz="2000" dirty="0" smtClean="0"/>
              <a:t>篇 </a:t>
            </a:r>
            <a:r>
              <a:rPr lang="en-US" altLang="zh-TW" sz="2000" dirty="0" smtClean="0"/>
              <a:t>/ 135 </a:t>
            </a:r>
            <a:r>
              <a:rPr lang="zh-TW" altLang="en-US" sz="2000" dirty="0" smtClean="0"/>
              <a:t>類，新聞 </a:t>
            </a:r>
            <a:r>
              <a:rPr lang="en-US" altLang="zh-TW" sz="2000" dirty="0" smtClean="0"/>
              <a:t>from Reuters newswire in 1987</a:t>
            </a:r>
            <a:r>
              <a:rPr lang="zh-TW" altLang="en-US" sz="2000" dirty="0" smtClean="0"/>
              <a:t>。</a:t>
            </a:r>
            <a:endParaRPr lang="en-US" altLang="zh-TW" sz="2000" dirty="0" smtClean="0"/>
          </a:p>
          <a:p>
            <a:pPr lvl="1">
              <a:lnSpc>
                <a:spcPct val="150000"/>
              </a:lnSpc>
            </a:pPr>
            <a:r>
              <a:rPr lang="fr-FR" altLang="zh-TW" sz="2000" dirty="0"/>
              <a:t>4 categories: crude (</a:t>
            </a:r>
            <a:r>
              <a:rPr lang="fr-FR" altLang="zh-TW" sz="2000" dirty="0" smtClean="0"/>
              <a:t>520), </a:t>
            </a:r>
            <a:r>
              <a:rPr lang="fr-FR" altLang="zh-TW" sz="2000" dirty="0"/>
              <a:t>agriculture (</a:t>
            </a:r>
            <a:r>
              <a:rPr lang="fr-FR" altLang="zh-TW" sz="2000" dirty="0" smtClean="0"/>
              <a:t>574), trade </a:t>
            </a:r>
            <a:r>
              <a:rPr lang="fr-FR" altLang="zh-TW" sz="2000" dirty="0"/>
              <a:t>(</a:t>
            </a:r>
            <a:r>
              <a:rPr lang="fr-FR" altLang="zh-TW" sz="2000" dirty="0" smtClean="0"/>
              <a:t>514), interest </a:t>
            </a:r>
            <a:r>
              <a:rPr lang="fr-FR" altLang="zh-TW" sz="2000" dirty="0"/>
              <a:t>(</a:t>
            </a:r>
            <a:r>
              <a:rPr lang="fr-FR" altLang="zh-TW" sz="2000" dirty="0" smtClean="0"/>
              <a:t>424)</a:t>
            </a:r>
            <a:endParaRPr lang="zh-TW" altLang="en-US" sz="2000" dirty="0"/>
          </a:p>
        </p:txBody>
      </p:sp>
    </p:spTree>
    <p:extLst>
      <p:ext uri="{BB962C8B-B14F-4D97-AF65-F5344CB8AC3E}">
        <p14:creationId xmlns:p14="http://schemas.microsoft.com/office/powerpoint/2010/main" val="77809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p:txBody>
          <a:bodyPr/>
          <a:lstStyle/>
          <a:p>
            <a:r>
              <a:rPr lang="en-US" altLang="zh-TW" smtClean="0"/>
              <a:t>Information gain</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Term percentage: [0,1] with increment 0.1.</a:t>
            </a:r>
          </a:p>
          <a:p>
            <a:pPr>
              <a:lnSpc>
                <a:spcPct val="150000"/>
              </a:lnSpc>
            </a:pPr>
            <a:r>
              <a:rPr lang="en-US" altLang="zh-TW" sz="2400" dirty="0" smtClean="0"/>
              <a:t>TF*IDF</a:t>
            </a:r>
          </a:p>
          <a:p>
            <a:pPr lvl="1">
              <a:lnSpc>
                <a:spcPct val="150000"/>
              </a:lnSpc>
            </a:pPr>
            <a:r>
              <a:rPr lang="en-US" altLang="zh-TW" sz="2400" dirty="0" smtClean="0"/>
              <a:t>TF*IDF score </a:t>
            </a:r>
            <a:r>
              <a:rPr lang="zh-TW" altLang="en-US" sz="2400" dirty="0" smtClean="0"/>
              <a:t>較高分者，按比例取出。</a:t>
            </a:r>
            <a:endParaRPr lang="en-US" altLang="zh-TW" sz="2400" dirty="0" smtClean="0"/>
          </a:p>
          <a:p>
            <a:pPr>
              <a:lnSpc>
                <a:spcPct val="150000"/>
              </a:lnSpc>
            </a:pPr>
            <a:r>
              <a:rPr lang="en-US" altLang="zh-TW" sz="2400" dirty="0" smtClean="0"/>
              <a:t>LSI</a:t>
            </a:r>
          </a:p>
          <a:p>
            <a:pPr lvl="1">
              <a:lnSpc>
                <a:spcPct val="150000"/>
              </a:lnSpc>
            </a:pPr>
            <a:r>
              <a:rPr lang="en-US" altLang="zh-TW" sz="2400" dirty="0" smtClean="0"/>
              <a:t>Retain a certain percentage of singular values in Σ.</a:t>
            </a:r>
          </a:p>
          <a:p>
            <a:pPr>
              <a:lnSpc>
                <a:spcPct val="150000"/>
              </a:lnSpc>
            </a:pPr>
            <a:r>
              <a:rPr lang="en-US" altLang="zh-TW" sz="2400" dirty="0" smtClean="0"/>
              <a:t>Multi-word</a:t>
            </a:r>
          </a:p>
          <a:p>
            <a:pPr lvl="1">
              <a:lnSpc>
                <a:spcPct val="150000"/>
              </a:lnSpc>
            </a:pPr>
            <a:r>
              <a:rPr lang="zh-TW" altLang="en-US" sz="2400" dirty="0" smtClean="0"/>
              <a:t>出現次數較高者，按比例取出。</a:t>
            </a:r>
            <a:endParaRPr lang="zh-TW" altLang="en-US" sz="2400" dirty="0"/>
          </a:p>
        </p:txBody>
      </p:sp>
    </p:spTree>
    <p:extLst>
      <p:ext uri="{BB962C8B-B14F-4D97-AF65-F5344CB8AC3E}">
        <p14:creationId xmlns:p14="http://schemas.microsoft.com/office/powerpoint/2010/main" val="34204577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59" y="166792"/>
            <a:ext cx="5334745" cy="3334216"/>
          </a:xfrm>
          <a:prstGeom prst="rect">
            <a:avLst/>
          </a:prstGeom>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359" y="3356992"/>
            <a:ext cx="5334745" cy="3334216"/>
          </a:xfrm>
          <a:prstGeom prst="rect">
            <a:avLst/>
          </a:prstGeom>
        </p:spPr>
      </p:pic>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6136" y="1904787"/>
            <a:ext cx="3048426" cy="3048426"/>
          </a:xfrm>
          <a:prstGeom prst="rect">
            <a:avLst/>
          </a:prstGeom>
        </p:spPr>
      </p:pic>
      <mc:AlternateContent xmlns:mc="http://schemas.openxmlformats.org/markup-compatibility/2006" xmlns:a14="http://schemas.microsoft.com/office/drawing/2010/main">
        <mc:Choice Requires="a14">
          <p:sp>
            <p:nvSpPr>
              <p:cNvPr id="5" name="文字方塊 4"/>
              <p:cNvSpPr txBox="1"/>
              <p:nvPr/>
            </p:nvSpPr>
            <p:spPr>
              <a:xfrm>
                <a:off x="5868144" y="677393"/>
                <a:ext cx="2644442" cy="1455463"/>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d>
                        <m:dPr>
                          <m:begChr m:val="{"/>
                          <m:endChr m:val=""/>
                          <m:ctrlPr>
                            <a:rPr lang="en-US" altLang="zh-TW" i="1" smtClean="0">
                              <a:latin typeface="Cambria Math"/>
                            </a:rPr>
                          </m:ctrlPr>
                        </m:dPr>
                        <m:e>
                          <m:eqArr>
                            <m:eqArrPr>
                              <m:ctrlPr>
                                <a:rPr lang="en-US" altLang="zh-TW" i="1" smtClean="0">
                                  <a:latin typeface="Cambria Math"/>
                                </a:rPr>
                              </m:ctrlPr>
                            </m:eqArrPr>
                            <m:e>
                              <m:r>
                                <a:rPr lang="en-US" altLang="zh-TW" b="0" i="1" smtClean="0">
                                  <a:latin typeface="Cambria Math"/>
                                </a:rPr>
                                <m:t>&amp;</m:t>
                              </m:r>
                              <m:r>
                                <a:rPr lang="en-US" altLang="zh-TW" i="1">
                                  <a:latin typeface="Cambria Math"/>
                                </a:rPr>
                                <m:t>𝑃𝑟𝑒𝑐𝑖𝑠𝑖𝑜𝑛</m:t>
                              </m:r>
                              <m:r>
                                <a:rPr lang="en-US" altLang="zh-TW" b="0" i="1" smtClean="0">
                                  <a:latin typeface="Cambria Math"/>
                                </a:rPr>
                                <m:t>&amp;</m:t>
                              </m:r>
                              <m:r>
                                <a:rPr lang="en-US" altLang="zh-TW" i="1">
                                  <a:latin typeface="Cambria Math"/>
                                </a:rPr>
                                <m:t>=</m:t>
                              </m:r>
                              <m:f>
                                <m:fPr>
                                  <m:ctrlPr>
                                    <a:rPr lang="en-US" altLang="zh-TW" i="1">
                                      <a:latin typeface="Cambria Math"/>
                                    </a:rPr>
                                  </m:ctrlPr>
                                </m:fPr>
                                <m:num>
                                  <m:r>
                                    <a:rPr lang="en-US" altLang="zh-TW" b="0" i="1" smtClean="0">
                                      <a:latin typeface="Cambria Math"/>
                                    </a:rPr>
                                    <m:t>𝑇𝑃</m:t>
                                  </m:r>
                                </m:num>
                                <m:den>
                                  <m:r>
                                    <a:rPr lang="en-US" altLang="zh-TW" b="0" i="1" smtClean="0">
                                      <a:latin typeface="Cambria Math"/>
                                    </a:rPr>
                                    <m:t>𝑇𝑃</m:t>
                                  </m:r>
                                  <m:r>
                                    <a:rPr lang="en-US" altLang="zh-TW" b="0" i="1" smtClean="0">
                                      <a:latin typeface="Cambria Math"/>
                                    </a:rPr>
                                    <m:t>+</m:t>
                                  </m:r>
                                  <m:r>
                                    <a:rPr lang="en-US" altLang="zh-TW" b="0" i="1" smtClean="0">
                                      <a:latin typeface="Cambria Math"/>
                                    </a:rPr>
                                    <m:t>𝐹𝑃</m:t>
                                  </m:r>
                                </m:den>
                              </m:f>
                              <m:r>
                                <m:rPr>
                                  <m:nor/>
                                </m:rPr>
                                <a:rPr lang="en-US" altLang="zh-TW" dirty="0"/>
                                <m:t> </m:t>
                              </m:r>
                            </m:e>
                            <m:e>
                              <m:r>
                                <a:rPr lang="en-US" altLang="zh-TW" b="0" i="1" smtClean="0">
                                  <a:latin typeface="Cambria Math"/>
                                </a:rPr>
                                <m:t>&amp;</m:t>
                              </m:r>
                              <m:r>
                                <a:rPr lang="en-US" altLang="zh-TW" i="1">
                                  <a:latin typeface="Cambria Math"/>
                                </a:rPr>
                                <m:t>𝑅𝑒𝑐𝑎𝑙𝑙</m:t>
                              </m:r>
                              <m:r>
                                <a:rPr lang="en-US" altLang="zh-TW" b="0" i="1" smtClean="0">
                                  <a:latin typeface="Cambria Math"/>
                                </a:rPr>
                                <m:t>&amp;</m:t>
                              </m:r>
                              <m:r>
                                <a:rPr lang="en-US" altLang="zh-TW" i="1">
                                  <a:latin typeface="Cambria Math"/>
                                </a:rPr>
                                <m:t>=</m:t>
                              </m:r>
                              <m:f>
                                <m:fPr>
                                  <m:ctrlPr>
                                    <a:rPr lang="en-US" altLang="zh-TW" i="1">
                                      <a:latin typeface="Cambria Math"/>
                                    </a:rPr>
                                  </m:ctrlPr>
                                </m:fPr>
                                <m:num>
                                  <m:r>
                                    <a:rPr lang="en-US" altLang="zh-TW" b="0" i="1" smtClean="0">
                                      <a:latin typeface="Cambria Math"/>
                                    </a:rPr>
                                    <m:t>𝑇𝑃</m:t>
                                  </m:r>
                                </m:num>
                                <m:den>
                                  <m:r>
                                    <a:rPr lang="en-US" altLang="zh-TW" b="0" i="1" smtClean="0">
                                      <a:latin typeface="Cambria Math"/>
                                    </a:rPr>
                                    <m:t>𝑇𝑃</m:t>
                                  </m:r>
                                  <m:r>
                                    <a:rPr lang="en-US" altLang="zh-TW" b="0" i="1" smtClean="0">
                                      <a:latin typeface="Cambria Math"/>
                                    </a:rPr>
                                    <m:t>+</m:t>
                                  </m:r>
                                  <m:r>
                                    <a:rPr lang="en-US" altLang="zh-TW" b="0" i="1" smtClean="0">
                                      <a:latin typeface="Cambria Math"/>
                                    </a:rPr>
                                    <m:t>𝐹𝑁</m:t>
                                  </m:r>
                                </m:den>
                              </m:f>
                              <m:r>
                                <m:rPr>
                                  <m:nor/>
                                </m:rPr>
                                <a:rPr lang="en-US" altLang="zh-TW" dirty="0"/>
                                <m:t> </m:t>
                              </m:r>
                            </m:e>
                          </m:eqArr>
                        </m:e>
                      </m:d>
                    </m:oMath>
                  </m:oMathPara>
                </a14:m>
                <a:endParaRPr lang="en-US" altLang="zh-TW" dirty="0" smtClean="0"/>
              </a:p>
              <a:p>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5868144" y="677393"/>
                <a:ext cx="2644442" cy="1455463"/>
              </a:xfrm>
              <a:prstGeom prst="rect">
                <a:avLst/>
              </a:prstGeom>
              <a:blipFill rotWithShape="1">
                <a:blip r:embed="rId5"/>
                <a:stretch>
                  <a:fillRect/>
                </a:stretch>
              </a:blipFill>
            </p:spPr>
            <p:txBody>
              <a:bodyPr/>
              <a:lstStyle/>
              <a:p>
                <a:r>
                  <a:rPr lang="zh-TW" altLang="en-US">
                    <a:noFill/>
                  </a:rPr>
                  <a:t> </a:t>
                </a:r>
              </a:p>
            </p:txBody>
          </p:sp>
        </mc:Fallback>
      </mc:AlternateContent>
      <p:sp>
        <p:nvSpPr>
          <p:cNvPr id="6" name="文字方塊 5"/>
          <p:cNvSpPr txBox="1"/>
          <p:nvPr/>
        </p:nvSpPr>
        <p:spPr>
          <a:xfrm>
            <a:off x="5940152" y="5114508"/>
            <a:ext cx="1922514" cy="1338828"/>
          </a:xfrm>
          <a:prstGeom prst="rect">
            <a:avLst/>
          </a:prstGeom>
          <a:noFill/>
        </p:spPr>
        <p:txBody>
          <a:bodyPr wrap="none" rtlCol="0">
            <a:spAutoFit/>
          </a:bodyPr>
          <a:lstStyle/>
          <a:p>
            <a:pPr>
              <a:lnSpc>
                <a:spcPct val="150000"/>
              </a:lnSpc>
            </a:pPr>
            <a:r>
              <a:rPr lang="zh-TW" altLang="en-US" dirty="0" smtClean="0"/>
              <a:t>查準率 </a:t>
            </a:r>
            <a:r>
              <a:rPr lang="en-US" altLang="zh-TW" dirty="0" smtClean="0"/>
              <a:t>(precision)</a:t>
            </a:r>
          </a:p>
          <a:p>
            <a:pPr>
              <a:lnSpc>
                <a:spcPct val="150000"/>
              </a:lnSpc>
            </a:pPr>
            <a:r>
              <a:rPr lang="zh-TW" altLang="en-US" dirty="0" smtClean="0"/>
              <a:t>查全率 </a:t>
            </a:r>
            <a:r>
              <a:rPr lang="en-US" altLang="zh-TW" dirty="0" smtClean="0"/>
              <a:t>(recall)</a:t>
            </a:r>
          </a:p>
          <a:p>
            <a:pPr>
              <a:lnSpc>
                <a:spcPct val="150000"/>
              </a:lnSpc>
            </a:pPr>
            <a:r>
              <a:rPr lang="en-US" altLang="zh-TW" dirty="0" smtClean="0"/>
              <a:t>- </a:t>
            </a:r>
            <a:r>
              <a:rPr lang="en-US" altLang="zh-TW" dirty="0" smtClean="0">
                <a:hlinkClick r:id="rId6"/>
              </a:rPr>
              <a:t>via</a:t>
            </a:r>
            <a:endParaRPr lang="zh-TW" altLang="en-US" dirty="0"/>
          </a:p>
        </p:txBody>
      </p:sp>
    </p:spTree>
    <p:extLst>
      <p:ext uri="{BB962C8B-B14F-4D97-AF65-F5344CB8AC3E}">
        <p14:creationId xmlns:p14="http://schemas.microsoft.com/office/powerpoint/2010/main" val="13178696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標題 24"/>
          <p:cNvSpPr>
            <a:spLocks noGrp="1"/>
          </p:cNvSpPr>
          <p:nvPr>
            <p:ph type="title"/>
          </p:nvPr>
        </p:nvSpPr>
        <p:spPr/>
        <p:txBody>
          <a:bodyPr/>
          <a:lstStyle/>
          <a:p>
            <a:r>
              <a:rPr lang="en-US" altLang="zh-TW" dirty="0" smtClean="0"/>
              <a:t>Experiment</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Information retrieval</a:t>
            </a:r>
          </a:p>
          <a:p>
            <a:pPr lvl="1">
              <a:lnSpc>
                <a:spcPct val="150000"/>
              </a:lnSpc>
            </a:pPr>
            <a:r>
              <a:rPr lang="zh-TW" altLang="en-US" sz="2000" dirty="0" smtClean="0"/>
              <a:t>中文：</a:t>
            </a:r>
            <a:r>
              <a:rPr lang="en-US" altLang="zh-TW" sz="2000" dirty="0" smtClean="0"/>
              <a:t>50 </a:t>
            </a:r>
            <a:r>
              <a:rPr lang="zh-TW" altLang="en-US" sz="2000" dirty="0" smtClean="0"/>
              <a:t>筆查詢，均勻分散於 </a:t>
            </a:r>
            <a:r>
              <a:rPr lang="en-US" altLang="zh-TW" sz="2000" dirty="0" smtClean="0"/>
              <a:t>4 </a:t>
            </a:r>
            <a:r>
              <a:rPr lang="zh-TW" altLang="en-US" sz="2000" dirty="0" smtClean="0"/>
              <a:t>類。</a:t>
            </a:r>
            <a:endParaRPr lang="en-US" altLang="zh-TW" sz="2000" dirty="0" smtClean="0"/>
          </a:p>
          <a:p>
            <a:pPr lvl="1">
              <a:lnSpc>
                <a:spcPct val="150000"/>
              </a:lnSpc>
            </a:pPr>
            <a:r>
              <a:rPr lang="zh-TW" altLang="en-US" sz="2000" dirty="0" smtClean="0"/>
              <a:t>英文：</a:t>
            </a:r>
            <a:r>
              <a:rPr lang="en-US" altLang="zh-TW" sz="2000" dirty="0" smtClean="0"/>
              <a:t>25 </a:t>
            </a:r>
            <a:r>
              <a:rPr lang="zh-TW" altLang="en-US" sz="2000" dirty="0" smtClean="0"/>
              <a:t>筆查詢，均勻分散於 </a:t>
            </a:r>
            <a:r>
              <a:rPr lang="en-US" altLang="zh-TW" sz="2000" dirty="0" smtClean="0"/>
              <a:t>4 </a:t>
            </a:r>
            <a:r>
              <a:rPr lang="zh-TW" altLang="en-US" sz="2000" dirty="0" smtClean="0"/>
              <a:t>類。</a:t>
            </a:r>
            <a:endParaRPr lang="en-US" altLang="zh-TW" sz="2000" dirty="0" smtClean="0"/>
          </a:p>
          <a:p>
            <a:pPr>
              <a:lnSpc>
                <a:spcPct val="150000"/>
              </a:lnSpc>
            </a:pPr>
            <a:r>
              <a:rPr lang="en-US" altLang="zh-TW" sz="2400" dirty="0" smtClean="0"/>
              <a:t>Text categorization</a:t>
            </a:r>
          </a:p>
          <a:p>
            <a:pPr lvl="1">
              <a:lnSpc>
                <a:spcPct val="150000"/>
              </a:lnSpc>
            </a:pPr>
            <a:r>
              <a:rPr lang="en-US" altLang="zh-TW" sz="2000" dirty="0" smtClean="0"/>
              <a:t>SVM: linear kernel (</a:t>
            </a:r>
            <a:r>
              <a:rPr lang="zh-TW" altLang="en-US" sz="1800" dirty="0" smtClean="0"/>
              <a:t>經證明較好</a:t>
            </a:r>
            <a:r>
              <a:rPr lang="en-US" altLang="zh-TW" sz="2000" dirty="0" smtClean="0"/>
              <a:t>) + one-against-the-rest (for multi-class)</a:t>
            </a:r>
          </a:p>
          <a:p>
            <a:pPr lvl="1">
              <a:lnSpc>
                <a:spcPct val="150000"/>
              </a:lnSpc>
            </a:pPr>
            <a:r>
              <a:rPr lang="en-US" altLang="zh-TW" sz="2000" dirty="0" smtClean="0"/>
              <a:t>3-fold</a:t>
            </a:r>
          </a:p>
          <a:p>
            <a:pPr lvl="2">
              <a:lnSpc>
                <a:spcPct val="110000"/>
              </a:lnSpc>
              <a:tabLst>
                <a:tab pos="2232000" algn="l"/>
              </a:tabLst>
            </a:pPr>
            <a:r>
              <a:rPr lang="en-US" altLang="zh-TW" sz="2000" dirty="0" smtClean="0"/>
              <a:t>training:	one category randomly 1/3 positive;</a:t>
            </a:r>
            <a:br>
              <a:rPr lang="en-US" altLang="zh-TW" sz="2000" dirty="0" smtClean="0"/>
            </a:br>
            <a:r>
              <a:rPr lang="en-US" altLang="zh-TW" sz="2000" dirty="0" smtClean="0"/>
              <a:t>	other categories randomly 1/3 negative;</a:t>
            </a:r>
          </a:p>
          <a:p>
            <a:pPr lvl="2">
              <a:lnSpc>
                <a:spcPct val="110000"/>
              </a:lnSpc>
            </a:pPr>
            <a:r>
              <a:rPr lang="en-US" altLang="zh-TW" sz="2000" dirty="0" smtClean="0"/>
              <a:t>testing: the rest</a:t>
            </a:r>
            <a:endParaRPr lang="zh-TW" altLang="en-US" sz="2000" dirty="0"/>
          </a:p>
        </p:txBody>
      </p:sp>
    </p:spTree>
    <p:extLst>
      <p:ext uri="{BB962C8B-B14F-4D97-AF65-F5344CB8AC3E}">
        <p14:creationId xmlns:p14="http://schemas.microsoft.com/office/powerpoint/2010/main" val="7885276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Information </a:t>
            </a:r>
            <a:r>
              <a:rPr lang="en-US" altLang="zh-TW" dirty="0" smtClean="0"/>
              <a:t>retrieval</a:t>
            </a:r>
            <a:endParaRPr lang="zh-TW" altLang="en-US" dirty="0"/>
          </a:p>
        </p:txBody>
      </p:sp>
      <p:sp>
        <p:nvSpPr>
          <p:cNvPr id="3" name="文字版面配置區 2"/>
          <p:cNvSpPr>
            <a:spLocks noGrp="1"/>
          </p:cNvSpPr>
          <p:nvPr>
            <p:ph type="body" idx="1"/>
          </p:nvPr>
        </p:nvSpPr>
        <p:spPr>
          <a:xfrm>
            <a:off x="457200" y="5445224"/>
            <a:ext cx="4040188" cy="639762"/>
          </a:xfrm>
        </p:spPr>
        <p:txBody>
          <a:bodyPr>
            <a:normAutofit/>
          </a:bodyPr>
          <a:lstStyle/>
          <a:p>
            <a:pPr algn="ctr"/>
            <a:r>
              <a:rPr lang="en-US" altLang="zh-TW" b="0" dirty="0" smtClean="0"/>
              <a:t>Chinese information </a:t>
            </a:r>
            <a:r>
              <a:rPr lang="en-US" altLang="zh-TW" b="0" dirty="0"/>
              <a:t>retrieval</a:t>
            </a:r>
            <a:endParaRPr lang="zh-TW" altLang="en-US" b="0" dirty="0"/>
          </a:p>
        </p:txBody>
      </p:sp>
      <p:pic>
        <p:nvPicPr>
          <p:cNvPr id="7" name="內容版面配置區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57200" y="1845440"/>
            <a:ext cx="4040188" cy="3135668"/>
          </a:xfrm>
        </p:spPr>
      </p:pic>
      <p:sp>
        <p:nvSpPr>
          <p:cNvPr id="5" name="文字版面配置區 4"/>
          <p:cNvSpPr>
            <a:spLocks noGrp="1"/>
          </p:cNvSpPr>
          <p:nvPr>
            <p:ph type="body" sz="quarter" idx="3"/>
          </p:nvPr>
        </p:nvSpPr>
        <p:spPr>
          <a:xfrm>
            <a:off x="4645025" y="5445224"/>
            <a:ext cx="4041775" cy="639762"/>
          </a:xfrm>
        </p:spPr>
        <p:txBody>
          <a:bodyPr>
            <a:normAutofit/>
          </a:bodyPr>
          <a:lstStyle/>
          <a:p>
            <a:pPr algn="ctr"/>
            <a:r>
              <a:rPr lang="en-US" altLang="zh-TW" b="0" dirty="0" smtClean="0"/>
              <a:t>English information </a:t>
            </a:r>
            <a:r>
              <a:rPr lang="en-US" altLang="zh-TW" b="0" dirty="0"/>
              <a:t>retrieval</a:t>
            </a:r>
            <a:endParaRPr lang="zh-TW" altLang="en-US" b="0" dirty="0"/>
          </a:p>
        </p:txBody>
      </p:sp>
      <p:pic>
        <p:nvPicPr>
          <p:cNvPr id="8" name="內容版面配置區 7"/>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645025" y="1844824"/>
            <a:ext cx="4041775" cy="3136900"/>
          </a:xfrm>
        </p:spPr>
      </p:pic>
    </p:spTree>
    <p:extLst>
      <p:ext uri="{BB962C8B-B14F-4D97-AF65-F5344CB8AC3E}">
        <p14:creationId xmlns:p14="http://schemas.microsoft.com/office/powerpoint/2010/main" val="8581026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標題 12"/>
          <p:cNvSpPr>
            <a:spLocks noGrp="1"/>
          </p:cNvSpPr>
          <p:nvPr>
            <p:ph type="title"/>
          </p:nvPr>
        </p:nvSpPr>
        <p:spPr/>
        <p:txBody>
          <a:bodyPr>
            <a:normAutofit/>
          </a:bodyPr>
          <a:lstStyle/>
          <a:p>
            <a:r>
              <a:rPr lang="en-US" altLang="zh-TW" dirty="0"/>
              <a:t>Text </a:t>
            </a:r>
            <a:r>
              <a:rPr lang="en-US" altLang="zh-TW" dirty="0" smtClean="0"/>
              <a:t>categorization</a:t>
            </a:r>
            <a:endParaRPr lang="zh-TW" altLang="en-US" dirty="0"/>
          </a:p>
        </p:txBody>
      </p:sp>
      <p:sp>
        <p:nvSpPr>
          <p:cNvPr id="3" name="文字版面配置區 2"/>
          <p:cNvSpPr>
            <a:spLocks noGrp="1"/>
          </p:cNvSpPr>
          <p:nvPr>
            <p:ph type="body" idx="1"/>
          </p:nvPr>
        </p:nvSpPr>
        <p:spPr>
          <a:xfrm>
            <a:off x="457200" y="5445224"/>
            <a:ext cx="4040188" cy="639762"/>
          </a:xfrm>
        </p:spPr>
        <p:txBody>
          <a:bodyPr/>
          <a:lstStyle/>
          <a:p>
            <a:pPr algn="ctr"/>
            <a:r>
              <a:rPr lang="en-US" altLang="zh-TW" b="0" dirty="0" smtClean="0"/>
              <a:t>Chinese text categorization</a:t>
            </a:r>
            <a:endParaRPr lang="en-US" altLang="zh-TW" b="0" dirty="0"/>
          </a:p>
        </p:txBody>
      </p:sp>
      <p:pic>
        <p:nvPicPr>
          <p:cNvPr id="7" name="內容版面配置區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57200" y="1845440"/>
            <a:ext cx="4040188" cy="3135668"/>
          </a:xfrm>
        </p:spPr>
      </p:pic>
      <p:sp>
        <p:nvSpPr>
          <p:cNvPr id="5" name="文字版面配置區 4"/>
          <p:cNvSpPr>
            <a:spLocks noGrp="1"/>
          </p:cNvSpPr>
          <p:nvPr>
            <p:ph type="body" sz="quarter" idx="3"/>
          </p:nvPr>
        </p:nvSpPr>
        <p:spPr>
          <a:xfrm>
            <a:off x="4645025" y="5445224"/>
            <a:ext cx="4041775" cy="639762"/>
          </a:xfrm>
        </p:spPr>
        <p:txBody>
          <a:bodyPr/>
          <a:lstStyle/>
          <a:p>
            <a:pPr algn="ctr"/>
            <a:r>
              <a:rPr lang="en-US" altLang="zh-TW" b="0" dirty="0" smtClean="0"/>
              <a:t>English text categorization</a:t>
            </a:r>
            <a:endParaRPr lang="en-US" altLang="zh-TW" b="0" dirty="0"/>
          </a:p>
        </p:txBody>
      </p:sp>
      <p:pic>
        <p:nvPicPr>
          <p:cNvPr id="8" name="內容版面配置區 7"/>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645025" y="1844824"/>
            <a:ext cx="4041775" cy="3136900"/>
          </a:xfrm>
        </p:spPr>
      </p:pic>
    </p:spTree>
    <p:extLst>
      <p:ext uri="{BB962C8B-B14F-4D97-AF65-F5344CB8AC3E}">
        <p14:creationId xmlns:p14="http://schemas.microsoft.com/office/powerpoint/2010/main" val="30951658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標題 16"/>
          <p:cNvSpPr>
            <a:spLocks noGrp="1"/>
          </p:cNvSpPr>
          <p:nvPr>
            <p:ph type="title"/>
          </p:nvPr>
        </p:nvSpPr>
        <p:spPr/>
        <p:txBody>
          <a:bodyPr/>
          <a:lstStyle/>
          <a:p>
            <a:r>
              <a:rPr lang="en-US" altLang="zh-TW" i="1" dirty="0" smtClean="0"/>
              <a:t>t</a:t>
            </a:r>
            <a:r>
              <a:rPr lang="en-US" altLang="zh-TW" dirty="0" smtClean="0"/>
              <a:t>-test</a:t>
            </a:r>
            <a:endParaRPr lang="zh-TW" altLang="en-US" dirty="0"/>
          </a:p>
        </p:txBody>
      </p:sp>
      <mc:AlternateContent xmlns:mc="http://schemas.openxmlformats.org/markup-compatibility/2006" xmlns:a14="http://schemas.microsoft.com/office/drawing/2010/main">
        <mc:Choice Requires="a14">
          <p:sp>
            <p:nvSpPr>
              <p:cNvPr id="13" name="內容版面配置區 12"/>
              <p:cNvSpPr>
                <a:spLocks noGrp="1"/>
              </p:cNvSpPr>
              <p:nvPr>
                <p:ph idx="1"/>
              </p:nvPr>
            </p:nvSpPr>
            <p:spPr/>
            <p:txBody>
              <a:bodyPr>
                <a:normAutofit/>
              </a:bodyPr>
              <a:lstStyle/>
              <a:p>
                <a:pPr>
                  <a:lnSpc>
                    <a:spcPct val="150000"/>
                  </a:lnSpc>
                </a:pPr>
                <a:r>
                  <a:rPr lang="en-US" altLang="zh-TW" sz="2000" dirty="0" smtClean="0"/>
                  <a:t>Chinese information retrieval</a:t>
                </a:r>
              </a:p>
              <a:p>
                <a:pPr lvl="1">
                  <a:lnSpc>
                    <a:spcPct val="150000"/>
                  </a:lnSpc>
                </a:pPr>
                <a14:m>
                  <m:oMath xmlns:m="http://schemas.openxmlformats.org/officeDocument/2006/math">
                    <m:r>
                      <a:rPr lang="en-US" altLang="zh-TW" sz="2000" smtClean="0">
                        <a:latin typeface="Cambria Math"/>
                      </a:rPr>
                      <m:t>𝑇𝐹𝐼𝐷𝐹</m:t>
                    </m:r>
                    <m:r>
                      <a:rPr lang="en-US" altLang="zh-TW" sz="2000" smtClean="0">
                        <a:latin typeface="Cambria Math"/>
                      </a:rPr>
                      <m:t>≫</m:t>
                    </m:r>
                    <m:r>
                      <a:rPr lang="en-US" altLang="zh-TW" sz="2000" smtClean="0">
                        <a:latin typeface="Cambria Math"/>
                      </a:rPr>
                      <m:t>𝐿𝑆𝐼</m:t>
                    </m:r>
                    <m:r>
                      <a:rPr lang="en-US" altLang="zh-TW" sz="2000" smtClean="0">
                        <a:latin typeface="Cambria Math"/>
                      </a:rPr>
                      <m:t>≫</m:t>
                    </m:r>
                  </m:oMath>
                </a14:m>
                <a:r>
                  <a:rPr lang="en-US" altLang="zh-TW" sz="2000" dirty="0" smtClean="0"/>
                  <a:t> </a:t>
                </a:r>
                <a:r>
                  <a:rPr lang="en-US" altLang="zh-TW" sz="2000" i="1" dirty="0" smtClean="0"/>
                  <a:t>multi-word</a:t>
                </a:r>
              </a:p>
              <a:p>
                <a:pPr>
                  <a:lnSpc>
                    <a:spcPct val="150000"/>
                  </a:lnSpc>
                </a:pPr>
                <a:r>
                  <a:rPr lang="en-US" altLang="zh-TW" sz="2000" dirty="0" smtClean="0"/>
                  <a:t>English information retrieval</a:t>
                </a:r>
              </a:p>
              <a:p>
                <a:pPr lvl="1">
                  <a:lnSpc>
                    <a:spcPct val="150000"/>
                  </a:lnSpc>
                </a:pPr>
                <a14:m>
                  <m:oMath xmlns:m="http://schemas.openxmlformats.org/officeDocument/2006/math">
                    <m:r>
                      <a:rPr lang="en-US" altLang="zh-TW" sz="2000" smtClean="0">
                        <a:latin typeface="Cambria Math"/>
                      </a:rPr>
                      <m:t>𝐿𝑆𝐼</m:t>
                    </m:r>
                    <m:r>
                      <a:rPr lang="en-US" altLang="zh-TW" sz="2000" smtClean="0">
                        <a:latin typeface="Cambria Math"/>
                      </a:rPr>
                      <m:t>≫</m:t>
                    </m:r>
                    <m:r>
                      <a:rPr lang="en-US" altLang="zh-TW" sz="2000" smtClean="0">
                        <a:latin typeface="Cambria Math"/>
                      </a:rPr>
                      <m:t>𝑇𝐹𝐼𝐷𝐹</m:t>
                    </m:r>
                    <m:r>
                      <a:rPr lang="en-US" altLang="zh-TW" sz="2000" smtClean="0">
                        <a:latin typeface="Cambria Math"/>
                      </a:rPr>
                      <m:t> ~</m:t>
                    </m:r>
                  </m:oMath>
                </a14:m>
                <a:r>
                  <a:rPr lang="en-US" altLang="zh-TW" sz="2000" dirty="0"/>
                  <a:t> </a:t>
                </a:r>
                <a:r>
                  <a:rPr lang="en-US" altLang="zh-TW" sz="2000" i="1" dirty="0" smtClean="0"/>
                  <a:t>multi-word</a:t>
                </a:r>
              </a:p>
              <a:p>
                <a:pPr>
                  <a:lnSpc>
                    <a:spcPct val="150000"/>
                  </a:lnSpc>
                </a:pPr>
                <a:r>
                  <a:rPr lang="en-US" altLang="zh-TW" sz="2000" dirty="0" smtClean="0"/>
                  <a:t>Chinese text categorization</a:t>
                </a:r>
              </a:p>
              <a:p>
                <a:pPr lvl="1">
                  <a:lnSpc>
                    <a:spcPct val="150000"/>
                  </a:lnSpc>
                </a:pPr>
                <a14:m>
                  <m:oMath xmlns:m="http://schemas.openxmlformats.org/officeDocument/2006/math">
                    <m:r>
                      <a:rPr lang="en-US" altLang="zh-TW" sz="2000" smtClean="0">
                        <a:latin typeface="Cambria Math"/>
                      </a:rPr>
                      <m:t>𝐿𝑆𝐼</m:t>
                    </m:r>
                    <m:r>
                      <a:rPr lang="en-US" altLang="zh-TW" sz="2000" smtClean="0">
                        <a:latin typeface="Cambria Math"/>
                      </a:rPr>
                      <m:t>≫</m:t>
                    </m:r>
                    <m:r>
                      <a:rPr lang="en-US" altLang="zh-TW" sz="2000" smtClean="0">
                        <a:latin typeface="Cambria Math"/>
                      </a:rPr>
                      <m:t>𝑇𝐹𝐼𝐷𝐹</m:t>
                    </m:r>
                    <m:r>
                      <a:rPr lang="en-US" altLang="zh-TW" sz="2000" b="0" i="0" smtClean="0">
                        <a:latin typeface="Cambria Math"/>
                      </a:rPr>
                      <m:t> ~ </m:t>
                    </m:r>
                  </m:oMath>
                </a14:m>
                <a:r>
                  <a:rPr lang="en-US" altLang="zh-TW" sz="2000" i="1" dirty="0" smtClean="0"/>
                  <a:t> multi-word</a:t>
                </a:r>
              </a:p>
              <a:p>
                <a:pPr>
                  <a:lnSpc>
                    <a:spcPct val="150000"/>
                  </a:lnSpc>
                </a:pPr>
                <a:r>
                  <a:rPr lang="en-US" altLang="zh-TW" sz="2000" dirty="0" smtClean="0"/>
                  <a:t>English text categorization</a:t>
                </a:r>
              </a:p>
              <a:p>
                <a:pPr lvl="1">
                  <a:lnSpc>
                    <a:spcPct val="150000"/>
                  </a:lnSpc>
                </a:pPr>
                <a14:m>
                  <m:oMath xmlns:m="http://schemas.openxmlformats.org/officeDocument/2006/math">
                    <m:r>
                      <a:rPr lang="en-US" altLang="zh-TW" sz="2000" smtClean="0">
                        <a:latin typeface="Cambria Math"/>
                      </a:rPr>
                      <m:t>𝐿𝑆𝐼</m:t>
                    </m:r>
                    <m:r>
                      <a:rPr lang="en-US" altLang="zh-TW" sz="2000" smtClean="0">
                        <a:latin typeface="Cambria Math"/>
                      </a:rPr>
                      <m:t>≫</m:t>
                    </m:r>
                    <m:r>
                      <a:rPr lang="en-US" altLang="zh-TW" sz="2000" smtClean="0">
                        <a:latin typeface="Cambria Math"/>
                      </a:rPr>
                      <m:t>𝑇𝐹𝐼𝐷𝐹</m:t>
                    </m:r>
                    <m:r>
                      <a:rPr lang="en-US" altLang="zh-TW" sz="2000" smtClean="0">
                        <a:latin typeface="Cambria Math"/>
                      </a:rPr>
                      <m:t>≫</m:t>
                    </m:r>
                  </m:oMath>
                </a14:m>
                <a:r>
                  <a:rPr lang="en-US" altLang="zh-TW" sz="2000" dirty="0"/>
                  <a:t> </a:t>
                </a:r>
                <a:r>
                  <a:rPr lang="en-US" altLang="zh-TW" sz="2000" i="1" dirty="0" smtClean="0"/>
                  <a:t>multi-word</a:t>
                </a:r>
                <a:endParaRPr lang="en-US" altLang="zh-TW" sz="2000" i="1" dirty="0"/>
              </a:p>
            </p:txBody>
          </p:sp>
        </mc:Choice>
        <mc:Fallback xmlns="">
          <p:sp>
            <p:nvSpPr>
              <p:cNvPr id="13" name="內容版面配置區 12"/>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134306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826</TotalTime>
  <Words>845</Words>
  <Application>Microsoft Office PowerPoint</Application>
  <PresentationFormat>如螢幕大小 (4:3)</PresentationFormat>
  <Paragraphs>100</Paragraphs>
  <Slides>15</Slides>
  <Notes>4</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A comparative study of TF*IDF, LSI and multi-words for text classification</vt:lpstr>
      <vt:lpstr>Abstract</vt:lpstr>
      <vt:lpstr>PowerPoint 簡報</vt:lpstr>
      <vt:lpstr>Information retrieval (IR) system</vt:lpstr>
      <vt:lpstr>Preliminaries</vt:lpstr>
      <vt:lpstr>TF*IDF (TF-IDF)</vt:lpstr>
      <vt:lpstr>Latent Semantic Indexing (LSI)</vt:lpstr>
      <vt:lpstr>Multi-word</vt:lpstr>
      <vt:lpstr>Datasets</vt:lpstr>
      <vt:lpstr>Information gain</vt:lpstr>
      <vt:lpstr>PowerPoint 簡報</vt:lpstr>
      <vt:lpstr>Experiment</vt:lpstr>
      <vt:lpstr>Information retrieval</vt:lpstr>
      <vt:lpstr>Text categorization</vt:lpstr>
      <vt:lpstr>t-test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YiPo</dc:creator>
  <cp:lastModifiedBy>YiPo</cp:lastModifiedBy>
  <cp:revision>48</cp:revision>
  <dcterms:created xsi:type="dcterms:W3CDTF">2013-01-07T19:22:33Z</dcterms:created>
  <dcterms:modified xsi:type="dcterms:W3CDTF">2013-01-15T10:10:23Z</dcterms:modified>
</cp:coreProperties>
</file>