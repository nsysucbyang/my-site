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33"/>
  </p:notesMasterIdLst>
  <p:sldIdLst>
    <p:sldId id="256" r:id="rId2"/>
    <p:sldId id="257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95" r:id="rId11"/>
    <p:sldId id="288" r:id="rId12"/>
    <p:sldId id="289" r:id="rId13"/>
    <p:sldId id="290" r:id="rId14"/>
    <p:sldId id="296" r:id="rId15"/>
    <p:sldId id="291" r:id="rId16"/>
    <p:sldId id="292" r:id="rId17"/>
    <p:sldId id="293" r:id="rId18"/>
    <p:sldId id="294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-109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A627D-FD6D-409E-92B2-1D2741324DDB}" type="datetimeFigureOut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9826A-95F4-4A3A-88D5-80EF2217D7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89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89826A-95F4-4A3A-88D5-80EF2217D77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301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1D4C7-756F-49CC-8DEB-6CAFF3E39F4A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6036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37C8A-0497-40FC-A748-DAA5422C7753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36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617ED604-AEAB-4698-B4C9-223EE1CF6C41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64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2786-F3DD-429C-8BEE-20EB415AD9C3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CC44-E35C-4CAD-9F87-0E6C1164A4BF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554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281B-490A-4B81-8118-39A584D06326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77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31A40-2FF7-44A5-BFB5-00E8471F324E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98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8D59D-2F1D-4EED-A6D9-1B535358D0E8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11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A05CEF41-F935-4B64-8BEB-3BB21FD58D2A}" type="datetime1">
              <a:rPr lang="zh-TW" altLang="en-US" smtClean="0"/>
              <a:t>2013/6/18</a:t>
            </a:fld>
            <a:endParaRPr lang="zh-TW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42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85E0-FC32-49A4-910D-2DF673D96415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13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BF47-1B69-4336-9490-90B5E4585700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30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F72E3320-BD18-434B-A2C8-4E9D22D757F3}" type="datetime1">
              <a:rPr lang="zh-TW" altLang="en-US" smtClean="0"/>
              <a:t>2013/6/18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DBC11D7-B428-46C8-AE33-EA48ADD530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784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ypy.org/" TargetMode="External"/><Relationship Id="rId3" Type="http://schemas.openxmlformats.org/officeDocument/2006/relationships/hyperlink" Target="https://pypi.python.org/pypi" TargetMode="External"/><Relationship Id="rId7" Type="http://schemas.openxmlformats.org/officeDocument/2006/relationships/hyperlink" Target="http://ironpython.codeplex.com/" TargetMode="Externa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jython.org/" TargetMode="External"/><Relationship Id="rId5" Type="http://schemas.openxmlformats.org/officeDocument/2006/relationships/hyperlink" Target="http://www.python.org/" TargetMode="External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peed.pypy.org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scipy.org/doc/scipy/reference/" TargetMode="External"/><Relationship Id="rId2" Type="http://schemas.openxmlformats.org/officeDocument/2006/relationships/hyperlink" Target="http://docs.scipy.org/doc/nump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LAPACK" TargetMode="External"/><Relationship Id="rId4" Type="http://schemas.openxmlformats.org/officeDocument/2006/relationships/hyperlink" Target="http://en.wikipedia.org/wiki/Basic_Linear_Algebra_Subprogram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software.intel.com/en-us/intel-mk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oftware.intel.com/en-us/non-commercial-software-developmen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pandas.pydata.org/pandas-docs/stabl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matplotlib.org/examples/api/watermark_image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://matplotlib.org/examples/pylab_examples/finance_work2.html" TargetMode="Externa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finance.yahoo.com/" TargetMode="External"/><Relationship Id="rId7" Type="http://schemas.openxmlformats.org/officeDocument/2006/relationships/hyperlink" Target="http://ezproxy.lis.nsysu.edu.tw:8080/login?url=http://net.aremos.org.tw/" TargetMode="External"/><Relationship Id="rId2" Type="http://schemas.openxmlformats.org/officeDocument/2006/relationships/hyperlink" Target="http://www.tej.com.tw/twsit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zproxy.lis.nsysu.edu.tw:8080/login?url=https://www.globalfinancialdata.com/platform/" TargetMode="External"/><Relationship Id="rId5" Type="http://schemas.openxmlformats.org/officeDocument/2006/relationships/hyperlink" Target="http://mops.twse.com.tw/index.htm" TargetMode="External"/><Relationship Id="rId4" Type="http://schemas.openxmlformats.org/officeDocument/2006/relationships/hyperlink" Target="https://www.google.com/finance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scrapy.org/do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orange.biolab.si/" TargetMode="External"/><Relationship Id="rId3" Type="http://schemas.openxmlformats.org/officeDocument/2006/relationships/hyperlink" Target="http://statsmodels.sourceforge.net/" TargetMode="External"/><Relationship Id="rId7" Type="http://schemas.openxmlformats.org/officeDocument/2006/relationships/hyperlink" Target="https://code.google.com/p/neurolab/" TargetMode="External"/><Relationship Id="rId12" Type="http://schemas.openxmlformats.org/officeDocument/2006/relationships/hyperlink" Target="http://cran.csie.ntu.edu.tw/web/packages/available_packages_by_name.html" TargetMode="External"/><Relationship Id="rId2" Type="http://schemas.openxmlformats.org/officeDocument/2006/relationships/hyperlink" Target="http://scikit-learn.org/stabl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lpy.sourceforge.net/" TargetMode="External"/><Relationship Id="rId11" Type="http://schemas.openxmlformats.org/officeDocument/2006/relationships/hyperlink" Target="http://www.r-project.org/" TargetMode="External"/><Relationship Id="rId5" Type="http://schemas.openxmlformats.org/officeDocument/2006/relationships/hyperlink" Target="http://mdp-toolkit.sourceforge.net/" TargetMode="External"/><Relationship Id="rId10" Type="http://schemas.openxmlformats.org/officeDocument/2006/relationships/hyperlink" Target="http://rpy.sourceforge.net/rpy2.html" TargetMode="External"/><Relationship Id="rId4" Type="http://schemas.openxmlformats.org/officeDocument/2006/relationships/hyperlink" Target="http://scikits.appspot.com/scikits" TargetMode="External"/><Relationship Id="rId9" Type="http://schemas.openxmlformats.org/officeDocument/2006/relationships/hyperlink" Target="http://deeplearning.net/software/theano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ta-lib.org/" TargetMode="External"/><Relationship Id="rId2" Type="http://schemas.openxmlformats.org/officeDocument/2006/relationships/hyperlink" Target="http://brk.twse.com.tw:8000/isin/C_public.jsp?strMode=2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GIF"/><Relationship Id="rId5" Type="http://schemas.openxmlformats.org/officeDocument/2006/relationships/image" Target="../media/image20.png"/><Relationship Id="rId4" Type="http://schemas.openxmlformats.org/officeDocument/2006/relationships/hyperlink" Target="https://github.com/mrjbq7/ta-lib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cvxopt.org/userguide/coneprog.html#quadratic-programming" TargetMode="External"/><Relationship Id="rId2" Type="http://schemas.openxmlformats.org/officeDocument/2006/relationships/hyperlink" Target="http://cvxopt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google.com/p/pygep/" TargetMode="External"/><Relationship Id="rId2" Type="http://schemas.openxmlformats.org/officeDocument/2006/relationships/hyperlink" Target="http://pyevolve.sourceforge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quantopian/zipline" TargetMode="External"/><Relationship Id="rId4" Type="http://schemas.openxmlformats.org/officeDocument/2006/relationships/hyperlink" Target="https://code.google.com/p/deap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Stock selection, prediction and asset allocation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3200" dirty="0" smtClean="0"/>
              <a:t>June 18, 2013</a:t>
            </a:r>
          </a:p>
          <a:p>
            <a:r>
              <a:rPr lang="en-US" altLang="zh-TW" sz="3200" dirty="0" smtClean="0"/>
              <a:t>Hung-</a:t>
            </a:r>
            <a:r>
              <a:rPr lang="en-US" altLang="zh-TW" sz="3200" dirty="0" err="1" smtClean="0"/>
              <a:t>Hsin</a:t>
            </a:r>
            <a:r>
              <a:rPr lang="en-US" altLang="zh-TW" sz="3200" dirty="0" smtClean="0"/>
              <a:t> Chen (</a:t>
            </a:r>
            <a:r>
              <a:rPr lang="zh-TW" altLang="en-US" sz="3200" dirty="0" smtClean="0"/>
              <a:t>陳紘昕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8861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74" y="129120"/>
            <a:ext cx="10364451" cy="1596177"/>
          </a:xfrm>
        </p:spPr>
        <p:txBody>
          <a:bodyPr/>
          <a:lstStyle/>
          <a:p>
            <a:r>
              <a:rPr lang="en-US" altLang="zh-TW" dirty="0" smtClean="0"/>
              <a:t>Related topics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5528" y="1452909"/>
            <a:ext cx="6506793" cy="5184999"/>
          </a:xfrm>
        </p:spPr>
        <p:txBody>
          <a:bodyPr>
            <a:no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Calibri" panose="020F0502020204030204" pitchFamily="34" charset="0"/>
              </a:rPr>
              <a:t>Programming language:</a:t>
            </a:r>
            <a:r>
              <a:rPr lang="en-US" altLang="zh-TW" dirty="0" smtClean="0">
                <a:latin typeface="Calibri" panose="020F0502020204030204" pitchFamily="34" charset="0"/>
              </a:rPr>
              <a:t> python</a:t>
            </a:r>
            <a:endParaRPr lang="en-US" altLang="zh-TW" dirty="0" smtClean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Calibri" panose="020F0502020204030204" pitchFamily="34" charset="0"/>
              </a:rPr>
              <a:t>Stock selection</a:t>
            </a:r>
            <a:r>
              <a:rPr lang="en-US" altLang="zh-TW" dirty="0" smtClean="0">
                <a:latin typeface="Calibri" panose="020F0502020204030204" pitchFamily="34" charset="0"/>
              </a:rPr>
              <a:t> (stock ranking)</a:t>
            </a:r>
          </a:p>
          <a:p>
            <a:r>
              <a:rPr lang="en-US" altLang="zh-TW" dirty="0" smtClean="0">
                <a:solidFill>
                  <a:srgbClr val="FF0000"/>
                </a:solidFill>
                <a:latin typeface="Calibri" panose="020F0502020204030204" pitchFamily="34" charset="0"/>
              </a:rPr>
              <a:t>Asset allocation</a:t>
            </a:r>
            <a:r>
              <a:rPr lang="en-US" altLang="zh-TW" dirty="0" smtClean="0">
                <a:latin typeface="Calibri" panose="020F0502020204030204" pitchFamily="34" charset="0"/>
              </a:rPr>
              <a:t> (portfolio problem)</a:t>
            </a:r>
          </a:p>
          <a:p>
            <a:pPr lvl="1"/>
            <a:r>
              <a:rPr lang="en-US" altLang="zh-TW" sz="2000" dirty="0" smtClean="0">
                <a:latin typeface="Calibri" panose="020F0502020204030204" pitchFamily="34" charset="0"/>
              </a:rPr>
              <a:t>Portfolio rebalancing (multi-period optimization)</a:t>
            </a:r>
          </a:p>
          <a:p>
            <a:r>
              <a:rPr lang="en-US" altLang="zh-TW" dirty="0" smtClean="0">
                <a:solidFill>
                  <a:srgbClr val="FF0000"/>
                </a:solidFill>
                <a:latin typeface="Calibri" panose="020F0502020204030204" pitchFamily="34" charset="0"/>
              </a:rPr>
              <a:t>Trading rule</a:t>
            </a:r>
          </a:p>
          <a:p>
            <a:pPr lvl="1"/>
            <a:r>
              <a:rPr lang="en-US" altLang="zh-TW" sz="2000" dirty="0" smtClean="0">
                <a:solidFill>
                  <a:srgbClr val="0070C0"/>
                </a:solidFill>
                <a:latin typeface="Calibri" panose="020F0502020204030204" pitchFamily="34" charset="0"/>
              </a:rPr>
              <a:t>Statistics (time series)</a:t>
            </a:r>
          </a:p>
          <a:p>
            <a:pPr lvl="2"/>
            <a:r>
              <a:rPr lang="en-US" altLang="zh-TW" sz="2000" dirty="0" smtClean="0">
                <a:latin typeface="Calibri" panose="020F0502020204030204" pitchFamily="34" charset="0"/>
              </a:rPr>
              <a:t>ARMA, ARIMA, GARCH,….</a:t>
            </a:r>
          </a:p>
          <a:p>
            <a:pPr lvl="1"/>
            <a:r>
              <a:rPr lang="en-US" altLang="zh-TW" sz="2000" dirty="0" smtClean="0">
                <a:solidFill>
                  <a:srgbClr val="0070C0"/>
                </a:solidFill>
                <a:latin typeface="Calibri" panose="020F0502020204030204" pitchFamily="34" charset="0"/>
              </a:rPr>
              <a:t>Technical analysis</a:t>
            </a:r>
          </a:p>
          <a:p>
            <a:pPr lvl="2"/>
            <a:r>
              <a:rPr lang="en-US" altLang="zh-TW" sz="2000" dirty="0" smtClean="0">
                <a:latin typeface="Calibri" panose="020F0502020204030204" pitchFamily="34" charset="0"/>
              </a:rPr>
              <a:t>Technical indicator (MA, MACD, RSI,…)</a:t>
            </a:r>
          </a:p>
          <a:p>
            <a:pPr lvl="1"/>
            <a:r>
              <a:rPr lang="en-US" altLang="zh-TW" sz="2000" dirty="0" smtClean="0">
                <a:solidFill>
                  <a:srgbClr val="0070C0"/>
                </a:solidFill>
                <a:latin typeface="Calibri" panose="020F0502020204030204" pitchFamily="34" charset="0"/>
              </a:rPr>
              <a:t>Machine learning</a:t>
            </a:r>
          </a:p>
          <a:p>
            <a:pPr lvl="2"/>
            <a:r>
              <a:rPr lang="en-US" altLang="zh-TW" sz="2000" dirty="0" smtClean="0">
                <a:latin typeface="Calibri" panose="020F0502020204030204" pitchFamily="34" charset="0"/>
              </a:rPr>
              <a:t>Evolutionary method (GA, GP, PSO,…)</a:t>
            </a:r>
          </a:p>
          <a:p>
            <a:pPr lvl="2"/>
            <a:r>
              <a:rPr lang="en-US" altLang="zh-TW" sz="2000" dirty="0" smtClean="0">
                <a:latin typeface="Calibri" panose="020F0502020204030204" pitchFamily="34" charset="0"/>
              </a:rPr>
              <a:t>Discriminating model (SVM, SVR, Neural network,…)</a:t>
            </a:r>
          </a:p>
          <a:p>
            <a:pPr lvl="2"/>
            <a:r>
              <a:rPr lang="en-US" altLang="zh-TW" sz="2000" dirty="0" smtClean="0">
                <a:latin typeface="Calibri" panose="020F0502020204030204" pitchFamily="34" charset="0"/>
              </a:rPr>
              <a:t>Generative model (HMM, deep learning,…)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027572" y="1452909"/>
            <a:ext cx="492363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Calibri" panose="020F0502020204030204" pitchFamily="34" charset="0"/>
              </a:rPr>
              <a:t>Performance measure</a:t>
            </a:r>
          </a:p>
          <a:p>
            <a:pPr lvl="1"/>
            <a:r>
              <a:rPr lang="en-US" altLang="zh-TW" sz="2000" dirty="0">
                <a:latin typeface="Calibri" panose="020F0502020204030204" pitchFamily="34" charset="0"/>
              </a:rPr>
              <a:t>Return, risk, Sharpe ratio, Sortino ratio,…</a:t>
            </a:r>
            <a:endParaRPr lang="zh-TW" altLang="en-US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68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Python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320" y="693440"/>
            <a:ext cx="2666199" cy="897157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80451" y="1791667"/>
            <a:ext cx="41847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0" i="0" u="none" strike="noStrike" dirty="0" err="1" smtClean="0">
                <a:solidFill>
                  <a:srgbClr val="234764"/>
                </a:solidFill>
                <a:effectLst/>
                <a:latin typeface="Georgia" panose="02040502050405020303" pitchFamily="18" charset="0"/>
                <a:hlinkClick r:id="rId3"/>
              </a:rPr>
              <a:t>PyPI</a:t>
            </a:r>
            <a:r>
              <a:rPr lang="en-US" altLang="zh-TW" b="0" i="0" u="none" strike="noStrike" dirty="0" smtClean="0">
                <a:solidFill>
                  <a:srgbClr val="234764"/>
                </a:solidFill>
                <a:effectLst/>
                <a:latin typeface="Georgia" panose="02040502050405020303" pitchFamily="18" charset="0"/>
                <a:hlinkClick r:id="rId3"/>
              </a:rPr>
              <a:t> - the Python Package Index</a:t>
            </a:r>
            <a:endParaRPr lang="en-US" altLang="zh-TW" b="0" i="0" u="none" strike="noStrike" dirty="0">
              <a:solidFill>
                <a:srgbClr val="234764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817" y="2470009"/>
            <a:ext cx="6490414" cy="1862004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580451" y="4713668"/>
            <a:ext cx="9465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PVM: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>
                <a:hlinkClick r:id="rId5"/>
              </a:rPr>
              <a:t>Python</a:t>
            </a:r>
            <a:r>
              <a:rPr lang="en-US" altLang="zh-TW" dirty="0" smtClean="0"/>
              <a:t> or </a:t>
            </a:r>
            <a:r>
              <a:rPr lang="en-US" altLang="zh-TW" dirty="0" err="1" smtClean="0"/>
              <a:t>CPython</a:t>
            </a:r>
            <a:endParaRPr lang="en-US" altLang="zh-TW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 smtClean="0">
                <a:hlinkClick r:id="rId6"/>
              </a:rPr>
              <a:t>JPython</a:t>
            </a:r>
            <a:r>
              <a:rPr lang="en-US" altLang="zh-TW" dirty="0" smtClean="0"/>
              <a:t> (for 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>
                <a:hlinkClick r:id="rId7"/>
              </a:rPr>
              <a:t>Iron Python</a:t>
            </a:r>
            <a:r>
              <a:rPr lang="en-US" altLang="zh-TW" dirty="0" smtClean="0"/>
              <a:t> (for </a:t>
            </a:r>
            <a:r>
              <a:rPr lang="en-US" altLang="zh-TW" dirty="0" err="1" smtClean="0"/>
              <a:t>.Net</a:t>
            </a:r>
            <a:r>
              <a:rPr lang="en-US" altLang="zh-TW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 smtClean="0">
                <a:hlinkClick r:id="rId8"/>
              </a:rPr>
              <a:t>PyPy</a:t>
            </a:r>
            <a:r>
              <a:rPr lang="en-US" altLang="zh-TW" dirty="0" smtClean="0"/>
              <a:t> (</a:t>
            </a:r>
            <a:r>
              <a:rPr lang="en-US" altLang="zh-TW" dirty="0"/>
              <a:t>PVM </a:t>
            </a:r>
            <a:r>
              <a:rPr lang="en-US" altLang="zh-TW" dirty="0" smtClean="0"/>
              <a:t> implemented by python, high performance)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329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2" y="239934"/>
            <a:ext cx="4259134" cy="1473285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4906851" y="572178"/>
            <a:ext cx="4842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High performance !!</a:t>
            </a:r>
          </a:p>
          <a:p>
            <a:r>
              <a:rPr lang="en-US" altLang="zh-TW" dirty="0">
                <a:hlinkClick r:id="rId3"/>
              </a:rPr>
              <a:t>http://speed.pypy.org/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4"/>
          <a:srcRect l="17500" t="19146" r="19348" b="11312"/>
          <a:stretch/>
        </p:blipFill>
        <p:spPr>
          <a:xfrm>
            <a:off x="1648496" y="1661703"/>
            <a:ext cx="8246064" cy="510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7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Numpy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Scipy</a:t>
            </a:r>
            <a:r>
              <a:rPr lang="en-US" altLang="zh-TW" dirty="0" smtClean="0"/>
              <a:t> (with Intel MKL)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7729" y="1841679"/>
            <a:ext cx="11487955" cy="4796230"/>
          </a:xfrm>
        </p:spPr>
        <p:txBody>
          <a:bodyPr>
            <a:noAutofit/>
          </a:bodyPr>
          <a:lstStyle/>
          <a:p>
            <a:r>
              <a:rPr lang="en-US" altLang="zh-TW" sz="2400" dirty="0" err="1" smtClean="0">
                <a:hlinkClick r:id="rId2"/>
              </a:rPr>
              <a:t>Numpy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is an extension to the Python programming language, adding support for large, multi-dimensional arrays and </a:t>
            </a:r>
            <a:r>
              <a:rPr lang="en-US" altLang="zh-TW" sz="2400" dirty="0" smtClean="0"/>
              <a:t>matrices.</a:t>
            </a:r>
          </a:p>
          <a:p>
            <a:r>
              <a:rPr lang="en-US" altLang="zh-TW" sz="2400" dirty="0" err="1" smtClean="0">
                <a:hlinkClick r:id="rId3"/>
              </a:rPr>
              <a:t>Scipy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contains modules for optimization, linear algebra, integration, interpolation, special functions, FFT, signal and image processing, ODE solvers and other tasks common in </a:t>
            </a:r>
            <a:r>
              <a:rPr lang="en-US" altLang="zh-TW" sz="2400" dirty="0" smtClean="0"/>
              <a:t>science </a:t>
            </a:r>
            <a:r>
              <a:rPr lang="en-US" altLang="zh-TW" sz="2400" dirty="0"/>
              <a:t>and engineering. </a:t>
            </a:r>
            <a:endParaRPr lang="en-US" altLang="zh-TW" sz="2400" dirty="0" smtClean="0"/>
          </a:p>
          <a:p>
            <a:endParaRPr lang="en-US" altLang="zh-TW" sz="2400" dirty="0"/>
          </a:p>
          <a:p>
            <a:r>
              <a:rPr lang="en-US" altLang="zh-TW" sz="2400" dirty="0" smtClean="0">
                <a:hlinkClick r:id="rId4"/>
              </a:rPr>
              <a:t>BLAS</a:t>
            </a:r>
            <a:r>
              <a:rPr lang="en-US" altLang="zh-TW" sz="2400" dirty="0" smtClean="0"/>
              <a:t>: </a:t>
            </a:r>
            <a:r>
              <a:rPr lang="en-US" altLang="zh-TW" sz="2400" dirty="0"/>
              <a:t>a de facto application programming interface standard for publishing libraries to perform basic linear algebra operations such as vector and matrix multiplication</a:t>
            </a:r>
            <a:r>
              <a:rPr lang="en-US" altLang="zh-TW" sz="2400" dirty="0" smtClean="0"/>
              <a:t>.</a:t>
            </a:r>
          </a:p>
          <a:p>
            <a:r>
              <a:rPr lang="en-US" altLang="zh-TW" sz="2400" dirty="0">
                <a:hlinkClick r:id="rId5"/>
              </a:rPr>
              <a:t>LAPACK</a:t>
            </a:r>
            <a:r>
              <a:rPr lang="en-US" altLang="zh-TW" sz="2400" dirty="0"/>
              <a:t>:  </a:t>
            </a:r>
            <a:r>
              <a:rPr lang="en-US" altLang="zh-TW" sz="2400" dirty="0" smtClean="0"/>
              <a:t>provides </a:t>
            </a:r>
            <a:r>
              <a:rPr lang="en-US" altLang="zh-TW" sz="2400" dirty="0"/>
              <a:t>routines for solving systems of linear equations and linear least squares, eigenvalue problems, and singular value decomposition. </a:t>
            </a:r>
            <a:endParaRPr lang="en-US" altLang="zh-TW" sz="2400" dirty="0" smtClean="0"/>
          </a:p>
          <a:p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294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Intel</a:t>
            </a:r>
            <a:r>
              <a:rPr lang="en-US" altLang="zh-TW" dirty="0">
                <a:hlinkClick r:id="rId2"/>
              </a:rPr>
              <a:t>® Math Kernel </a:t>
            </a:r>
            <a:r>
              <a:rPr lang="en-US" altLang="zh-TW" dirty="0" smtClean="0">
                <a:hlinkClick r:id="rId2"/>
              </a:rPr>
              <a:t>Library (MKL)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Provide BLAS, LAPACK and </a:t>
            </a:r>
            <a:r>
              <a:rPr lang="en-US" altLang="zh-TW" dirty="0"/>
              <a:t>a wealth of routines to accelerate application performance and reduce development time. 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197" y="3757735"/>
            <a:ext cx="6750408" cy="288017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669702" y="4258635"/>
            <a:ext cx="240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LU decomposition: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665927" y="3051522"/>
            <a:ext cx="7417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hlinkClick r:id="rId4"/>
              </a:rPr>
              <a:t>Free for Non-Commercial </a:t>
            </a:r>
            <a:r>
              <a:rPr lang="en-US" altLang="zh-TW" sz="2400" dirty="0">
                <a:hlinkClick r:id="rId4"/>
              </a:rPr>
              <a:t>Software </a:t>
            </a:r>
            <a:r>
              <a:rPr lang="en-US" altLang="zh-TW" sz="2400" dirty="0" smtClean="0">
                <a:hlinkClick r:id="rId4"/>
              </a:rPr>
              <a:t>Development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043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hlinkClick r:id="rId2"/>
              </a:rPr>
              <a:t>Official site</a:t>
            </a:r>
            <a:endParaRPr lang="en-US" altLang="zh-TW" sz="2400" dirty="0" smtClean="0"/>
          </a:p>
          <a:p>
            <a:r>
              <a:rPr lang="en-US" altLang="zh-TW" sz="2400" dirty="0" smtClean="0"/>
              <a:t>Time series data structure based on </a:t>
            </a:r>
            <a:r>
              <a:rPr lang="en-US" altLang="zh-TW" sz="2400" dirty="0" err="1" smtClean="0"/>
              <a:t>numpy</a:t>
            </a:r>
            <a:endParaRPr lang="en-US" altLang="zh-TW" sz="2400" dirty="0" smtClean="0"/>
          </a:p>
          <a:p>
            <a:pPr lvl="1"/>
            <a:r>
              <a:rPr lang="en-US" altLang="zh-TW" sz="2400" dirty="0" smtClean="0"/>
              <a:t>Three main data structure</a:t>
            </a:r>
          </a:p>
          <a:p>
            <a:pPr lvl="2"/>
            <a:r>
              <a:rPr lang="en-US" altLang="zh-TW" sz="2400" dirty="0" smtClean="0"/>
              <a:t>Series</a:t>
            </a:r>
          </a:p>
          <a:p>
            <a:pPr lvl="2"/>
            <a:r>
              <a:rPr lang="en-US" altLang="zh-TW" sz="2400" dirty="0" err="1" smtClean="0"/>
              <a:t>DataFrame</a:t>
            </a:r>
            <a:endParaRPr lang="en-US" altLang="zh-TW" sz="2400" dirty="0" smtClean="0"/>
          </a:p>
          <a:p>
            <a:pPr lvl="2"/>
            <a:r>
              <a:rPr lang="en-US" altLang="zh-TW" sz="2400" dirty="0" smtClean="0"/>
              <a:t>Panel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77" y="627650"/>
            <a:ext cx="5623571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4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Python plotting library</a:t>
            </a:r>
          </a:p>
          <a:p>
            <a:r>
              <a:rPr lang="en-US" altLang="zh-TW" dirty="0" smtClean="0"/>
              <a:t>Similar to </a:t>
            </a:r>
            <a:r>
              <a:rPr lang="en-US" altLang="zh-TW" dirty="0" err="1" smtClean="0"/>
              <a:t>matlab</a:t>
            </a:r>
            <a:r>
              <a:rPr lang="en-US" altLang="zh-TW" dirty="0" smtClean="0"/>
              <a:t> API interface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41" y="805444"/>
            <a:ext cx="5487457" cy="1006034"/>
          </a:xfrm>
          <a:prstGeom prst="rect">
            <a:avLst/>
          </a:prstGeom>
        </p:spPr>
      </p:pic>
      <p:pic>
        <p:nvPicPr>
          <p:cNvPr id="6" name="圖片 5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41" y="3144272"/>
            <a:ext cx="4270002" cy="3493637"/>
          </a:xfrm>
          <a:prstGeom prst="rect">
            <a:avLst/>
          </a:prstGeom>
        </p:spPr>
      </p:pic>
      <p:pic>
        <p:nvPicPr>
          <p:cNvPr id="7" name="圖片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504" y="2366538"/>
            <a:ext cx="5030169" cy="411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4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6359" y="306742"/>
            <a:ext cx="3746851" cy="1609344"/>
          </a:xfrm>
        </p:spPr>
        <p:txBody>
          <a:bodyPr/>
          <a:lstStyle/>
          <a:p>
            <a:r>
              <a:rPr lang="en-US" altLang="zh-TW" dirty="0" err="1" smtClean="0"/>
              <a:t>Django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68427" y="1916086"/>
            <a:ext cx="46827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0" i="0" dirty="0" err="1" smtClean="0">
                <a:solidFill>
                  <a:srgbClr val="487858"/>
                </a:solidFill>
                <a:effectLst/>
                <a:latin typeface="Trebuchet MS" panose="020B0603020202020204" pitchFamily="34" charset="0"/>
              </a:rPr>
              <a:t>Django</a:t>
            </a:r>
            <a:r>
              <a:rPr lang="en-US" altLang="zh-TW" b="0" i="0" dirty="0" smtClean="0">
                <a:solidFill>
                  <a:srgbClr val="487858"/>
                </a:solidFill>
                <a:effectLst/>
                <a:latin typeface="Trebuchet MS" panose="020B0603020202020204" pitchFamily="34" charset="0"/>
              </a:rPr>
              <a:t> is a high-level Python Web framework that encourages rapid development and clean, pragmatic design</a:t>
            </a:r>
            <a:endParaRPr lang="en-US" altLang="zh-TW" b="0" i="0" dirty="0">
              <a:solidFill>
                <a:srgbClr val="487858"/>
              </a:solidFill>
              <a:effectLst/>
              <a:latin typeface="Trebuchet MS" panose="020B0603020202020204" pitchFamily="34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44" y="3000777"/>
            <a:ext cx="3704483" cy="374806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564" y="200857"/>
            <a:ext cx="5057143" cy="6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8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37122" y="67751"/>
            <a:ext cx="10535820" cy="1609344"/>
          </a:xfrm>
        </p:spPr>
        <p:txBody>
          <a:bodyPr>
            <a:normAutofit/>
          </a:bodyPr>
          <a:lstStyle/>
          <a:p>
            <a:r>
              <a:rPr lang="en-US" altLang="zh-TW" sz="4000" dirty="0" err="1" smtClean="0"/>
              <a:t>Django</a:t>
            </a:r>
            <a:r>
              <a:rPr lang="en-US" altLang="zh-TW" sz="4000" dirty="0" smtClean="0"/>
              <a:t> Object-relational mapping (ORM)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861" t="18794" r="32513" b="56610"/>
          <a:stretch/>
        </p:blipFill>
        <p:spPr>
          <a:xfrm>
            <a:off x="244700" y="1368003"/>
            <a:ext cx="8538692" cy="179926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l="2752" t="42606" r="33800" b="36818"/>
          <a:stretch/>
        </p:blipFill>
        <p:spPr>
          <a:xfrm>
            <a:off x="1664852" y="5338291"/>
            <a:ext cx="8255357" cy="144243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1861" t="59853" r="32513" b="15886"/>
          <a:stretch/>
        </p:blipFill>
        <p:spPr>
          <a:xfrm>
            <a:off x="244700" y="3306414"/>
            <a:ext cx="8538692" cy="1774697"/>
          </a:xfrm>
          <a:prstGeom prst="rect">
            <a:avLst/>
          </a:prstGeom>
        </p:spPr>
      </p:pic>
      <p:sp>
        <p:nvSpPr>
          <p:cNvPr id="8" name="上-下雙向箭號 7"/>
          <p:cNvSpPr/>
          <p:nvPr/>
        </p:nvSpPr>
        <p:spPr>
          <a:xfrm>
            <a:off x="3876541" y="2977347"/>
            <a:ext cx="296214" cy="42267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838682" y="1775851"/>
            <a:ext cx="2382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>
                <a:solidFill>
                  <a:srgbClr val="FF0000"/>
                </a:solidFill>
              </a:rPr>
              <a:t>object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246254" y="3821192"/>
            <a:ext cx="2382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>
                <a:solidFill>
                  <a:srgbClr val="FF0000"/>
                </a:solidFill>
              </a:rPr>
              <a:t>relational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39521" y="5321442"/>
            <a:ext cx="2382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>
                <a:solidFill>
                  <a:srgbClr val="FF0000"/>
                </a:solidFill>
              </a:rPr>
              <a:t>query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32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My program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1635617" y="2016703"/>
            <a:ext cx="3567448" cy="6310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Django</a:t>
            </a:r>
            <a:r>
              <a:rPr lang="en-US" altLang="zh-TW" dirty="0" smtClean="0"/>
              <a:t> (view)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7431109" y="3222036"/>
            <a:ext cx="3297893" cy="63106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</a:t>
            </a:r>
            <a:r>
              <a:rPr lang="en-US" altLang="zh-TW" dirty="0" smtClean="0"/>
              <a:t>atabase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1635617" y="2647768"/>
            <a:ext cx="3567448" cy="6181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Django</a:t>
            </a:r>
            <a:r>
              <a:rPr lang="en-US" altLang="zh-TW" dirty="0" smtClean="0"/>
              <a:t> (template)</a:t>
            </a:r>
            <a:endParaRPr lang="zh-TW" altLang="en-US" dirty="0"/>
          </a:p>
        </p:txBody>
      </p:sp>
      <p:sp>
        <p:nvSpPr>
          <p:cNvPr id="14" name="圓角矩形 13"/>
          <p:cNvSpPr/>
          <p:nvPr/>
        </p:nvSpPr>
        <p:spPr>
          <a:xfrm>
            <a:off x="1635617" y="3234915"/>
            <a:ext cx="3567448" cy="6181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Django</a:t>
            </a:r>
            <a:r>
              <a:rPr lang="en-US" altLang="zh-TW" dirty="0" smtClean="0"/>
              <a:t> ORM (model)</a:t>
            </a:r>
            <a:endParaRPr lang="zh-TW" altLang="en-US" dirty="0"/>
          </a:p>
        </p:txBody>
      </p:sp>
      <p:cxnSp>
        <p:nvCxnSpPr>
          <p:cNvPr id="21" name="直線單箭頭接點 20"/>
          <p:cNvCxnSpPr>
            <a:stCxn id="14" idx="3"/>
            <a:endCxn id="9" idx="1"/>
          </p:cNvCxnSpPr>
          <p:nvPr/>
        </p:nvCxnSpPr>
        <p:spPr>
          <a:xfrm flipV="1">
            <a:off x="5203065" y="3537569"/>
            <a:ext cx="2228044" cy="64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5383369" y="3201560"/>
            <a:ext cx="204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Query, write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446985" y="4765179"/>
            <a:ext cx="1841679" cy="7469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Fetching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4672883" y="4765178"/>
            <a:ext cx="1841679" cy="7469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Preprocessing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6929733" y="4765177"/>
            <a:ext cx="1841679" cy="7469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Stock selection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2446984" y="5818923"/>
            <a:ext cx="1841679" cy="7469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Asset allocation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4688358" y="5818923"/>
            <a:ext cx="1841679" cy="7469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Trading rule</a:t>
            </a:r>
            <a:endParaRPr lang="zh-TW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929733" y="5818923"/>
            <a:ext cx="1841679" cy="74697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Performance measure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347730" y="4168633"/>
            <a:ext cx="9234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All steps are connected with the database by </a:t>
            </a:r>
            <a:r>
              <a:rPr lang="en-US" altLang="zh-TW" dirty="0" err="1" smtClean="0"/>
              <a:t>Django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450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Fetching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6062" y="1725769"/>
            <a:ext cx="11500834" cy="4446431"/>
          </a:xfrm>
        </p:spPr>
        <p:txBody>
          <a:bodyPr>
            <a:noAutofit/>
          </a:bodyPr>
          <a:lstStyle/>
          <a:p>
            <a:r>
              <a:rPr lang="en-US" altLang="zh-TW" sz="2400" dirty="0" smtClean="0"/>
              <a:t>Stock price (daily)</a:t>
            </a:r>
          </a:p>
          <a:p>
            <a:pPr lvl="1"/>
            <a:r>
              <a:rPr lang="en-US" altLang="zh-TW" sz="2400" dirty="0" smtClean="0">
                <a:hlinkClick r:id="rId2"/>
              </a:rPr>
              <a:t>TEJ</a:t>
            </a:r>
            <a:r>
              <a:rPr lang="en-US" altLang="zh-TW" sz="2400" dirty="0" smtClean="0"/>
              <a:t> (</a:t>
            </a:r>
            <a:r>
              <a:rPr lang="zh-TW" altLang="en-US" sz="2400" dirty="0" smtClean="0"/>
              <a:t>台灣經濟新報，學校只有買台灣股市的資料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400" dirty="0" smtClean="0">
                <a:hlinkClick r:id="rId3"/>
              </a:rPr>
              <a:t>Yahoo U.S.-&gt;Finance</a:t>
            </a:r>
            <a:r>
              <a:rPr lang="en-US" altLang="zh-TW" sz="2400" dirty="0" smtClean="0"/>
              <a:t> (free, </a:t>
            </a:r>
            <a:r>
              <a:rPr lang="zh-TW" altLang="en-US" sz="2400" dirty="0" smtClean="0"/>
              <a:t>不保証資料正確性</a:t>
            </a:r>
            <a:r>
              <a:rPr lang="en-US" altLang="zh-TW" sz="2400" dirty="0" smtClean="0"/>
              <a:t>, </a:t>
            </a:r>
            <a:r>
              <a:rPr lang="zh-TW" altLang="en-US" sz="2400" dirty="0" smtClean="0"/>
              <a:t>美國股市資料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400" dirty="0" smtClean="0">
                <a:hlinkClick r:id="rId4"/>
              </a:rPr>
              <a:t>Google finance</a:t>
            </a:r>
            <a:r>
              <a:rPr lang="en-US" altLang="zh-TW" sz="2400" dirty="0" smtClean="0"/>
              <a:t> (free, </a:t>
            </a:r>
            <a:r>
              <a:rPr lang="zh-TW" altLang="en-US" sz="2400" dirty="0" smtClean="0"/>
              <a:t>不</a:t>
            </a:r>
            <a:r>
              <a:rPr lang="zh-TW" altLang="en-US" sz="2400" dirty="0"/>
              <a:t>保証資料</a:t>
            </a:r>
            <a:r>
              <a:rPr lang="zh-TW" altLang="en-US" sz="2400" dirty="0" smtClean="0"/>
              <a:t>正確性，各國股市資料</a:t>
            </a:r>
            <a:r>
              <a:rPr lang="en-US" altLang="zh-TW" sz="2400" dirty="0" smtClean="0"/>
              <a:t>)</a:t>
            </a:r>
          </a:p>
          <a:p>
            <a:pPr lvl="1"/>
            <a:endParaRPr lang="en-US" altLang="zh-TW" sz="2400" dirty="0"/>
          </a:p>
          <a:p>
            <a:r>
              <a:rPr lang="zh-TW" altLang="en-US" sz="2400" dirty="0" smtClean="0"/>
              <a:t>基本資料 </a:t>
            </a:r>
            <a:r>
              <a:rPr lang="en-US" altLang="zh-TW" sz="2400" dirty="0" smtClean="0"/>
              <a:t>(free)</a:t>
            </a:r>
          </a:p>
          <a:p>
            <a:pPr lvl="1"/>
            <a:r>
              <a:rPr lang="zh-TW" altLang="en-US" sz="2400" dirty="0" smtClean="0">
                <a:hlinkClick r:id="rId5"/>
              </a:rPr>
              <a:t>公開資訊觀測站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(free, </a:t>
            </a:r>
            <a:r>
              <a:rPr lang="zh-TW" altLang="en-US" sz="2400" dirty="0" smtClean="0"/>
              <a:t>台灣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400" u="sng" dirty="0">
                <a:hlinkClick r:id="rId6"/>
              </a:rPr>
              <a:t>The Global Financial Database </a:t>
            </a:r>
            <a:r>
              <a:rPr lang="zh-TW" altLang="en-US" sz="2400" u="sng" dirty="0">
                <a:hlinkClick r:id="rId6"/>
              </a:rPr>
              <a:t>全球金融資料庫 </a:t>
            </a:r>
            <a:r>
              <a:rPr lang="en-US" altLang="zh-TW" sz="2400" u="sng" dirty="0">
                <a:hlinkClick r:id="rId6"/>
              </a:rPr>
              <a:t>(GFD)</a:t>
            </a:r>
            <a:r>
              <a:rPr lang="en-US" altLang="zh-TW" sz="2400" u="sng" dirty="0"/>
              <a:t> (</a:t>
            </a:r>
            <a:r>
              <a:rPr lang="zh-TW" altLang="en-US" sz="2400" u="sng" dirty="0"/>
              <a:t>學校只有買部份資料</a:t>
            </a:r>
            <a:r>
              <a:rPr lang="en-US" altLang="zh-TW" sz="2400" u="sng" dirty="0"/>
              <a:t>)</a:t>
            </a:r>
          </a:p>
          <a:p>
            <a:pPr lvl="1"/>
            <a:r>
              <a:rPr lang="zh-TW" altLang="en-US" sz="2400" dirty="0">
                <a:hlinkClick r:id="rId7"/>
              </a:rPr>
              <a:t>台灣經濟統計資料庫網路版</a:t>
            </a:r>
            <a:r>
              <a:rPr lang="en-US" altLang="zh-TW" sz="2400" dirty="0">
                <a:hlinkClick r:id="rId7"/>
              </a:rPr>
              <a:t>(</a:t>
            </a:r>
            <a:r>
              <a:rPr lang="en-US" altLang="zh-TW" sz="2400" dirty="0" err="1">
                <a:hlinkClick r:id="rId7"/>
              </a:rPr>
              <a:t>Aremos</a:t>
            </a:r>
            <a:r>
              <a:rPr lang="zh-TW" altLang="en-US" sz="2400" dirty="0">
                <a:hlinkClick r:id="rId7"/>
              </a:rPr>
              <a:t>精華版</a:t>
            </a:r>
            <a:r>
              <a:rPr lang="en-US" altLang="zh-TW" sz="2400" dirty="0">
                <a:hlinkClick r:id="rId7"/>
              </a:rPr>
              <a:t>)</a:t>
            </a:r>
            <a:r>
              <a:rPr lang="en-US" altLang="zh-TW" sz="2400" dirty="0"/>
              <a:t> (</a:t>
            </a:r>
            <a:r>
              <a:rPr lang="zh-TW" altLang="en-US" sz="2400" dirty="0"/>
              <a:t>總體經濟資料</a:t>
            </a:r>
            <a:r>
              <a:rPr lang="en-US" altLang="zh-TW" sz="2400" dirty="0"/>
              <a:t>)</a:t>
            </a:r>
          </a:p>
          <a:p>
            <a:pPr lvl="1"/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125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2720" y="2108339"/>
            <a:ext cx="5936260" cy="4050792"/>
          </a:xfrm>
        </p:spPr>
        <p:txBody>
          <a:bodyPr>
            <a:normAutofit/>
          </a:bodyPr>
          <a:lstStyle/>
          <a:p>
            <a:r>
              <a:rPr lang="en-US" altLang="zh-TW" sz="2400" b="1" dirty="0" err="1" smtClean="0">
                <a:solidFill>
                  <a:srgbClr val="FF0000"/>
                </a:solidFill>
              </a:rPr>
              <a:t>Scrapy</a:t>
            </a:r>
            <a:r>
              <a:rPr lang="en-US" altLang="zh-TW" sz="2400" dirty="0"/>
              <a:t>: An open source web scraping framework for </a:t>
            </a:r>
            <a:r>
              <a:rPr lang="en-US" altLang="zh-TW" sz="2400" dirty="0" smtClean="0"/>
              <a:t>Python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pPr lvl="1"/>
            <a:r>
              <a:rPr lang="en-US" altLang="zh-TW" sz="2400" dirty="0" err="1">
                <a:hlinkClick r:id="rId2"/>
              </a:rPr>
              <a:t>Scrapy</a:t>
            </a:r>
            <a:r>
              <a:rPr lang="en-US" altLang="zh-TW" sz="2400" dirty="0"/>
              <a:t> is a fast high-level screen scraping and web crawling framework, used to crawl websites and extract structured data from their pages. It can be used for a wide range of purposes, from data mining to monitoring and automated testing.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11" y="820385"/>
            <a:ext cx="3447018" cy="91826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493" y="1451450"/>
            <a:ext cx="5904715" cy="416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Machine learning tools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9848" y="1764406"/>
            <a:ext cx="10058400" cy="4407794"/>
          </a:xfrm>
        </p:spPr>
        <p:txBody>
          <a:bodyPr/>
          <a:lstStyle/>
          <a:p>
            <a:r>
              <a:rPr lang="en-US" altLang="zh-TW" dirty="0" err="1" smtClean="0"/>
              <a:t>Scikits</a:t>
            </a:r>
            <a:r>
              <a:rPr lang="en-US" altLang="zh-TW" dirty="0" smtClean="0"/>
              <a:t>: based on </a:t>
            </a:r>
            <a:r>
              <a:rPr lang="en-US" altLang="zh-TW" dirty="0" err="1" smtClean="0"/>
              <a:t>numpy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scipy</a:t>
            </a:r>
            <a:endParaRPr lang="en-US" altLang="zh-TW" dirty="0"/>
          </a:p>
          <a:p>
            <a:pPr lvl="1"/>
            <a:r>
              <a:rPr lang="en-US" altLang="zh-TW" dirty="0" err="1" smtClean="0">
                <a:hlinkClick r:id="rId2"/>
              </a:rPr>
              <a:t>Scikit</a:t>
            </a:r>
            <a:r>
              <a:rPr lang="en-US" altLang="zh-TW" dirty="0" smtClean="0">
                <a:hlinkClick r:id="rId2"/>
              </a:rPr>
              <a:t>-learn</a:t>
            </a:r>
            <a:r>
              <a:rPr lang="en-US" altLang="zh-TW" dirty="0" smtClean="0"/>
              <a:t> (</a:t>
            </a:r>
            <a:r>
              <a:rPr lang="zh-TW" altLang="en-US" dirty="0" smtClean="0"/>
              <a:t>提供了大部份所需要機器學習資料處理函數、分類器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err="1" smtClean="0">
                <a:hlinkClick r:id="rId3"/>
              </a:rPr>
              <a:t>Scikit.statsmodels</a:t>
            </a:r>
            <a:r>
              <a:rPr lang="en-US" altLang="zh-TW" dirty="0" smtClean="0"/>
              <a:t> (</a:t>
            </a:r>
            <a:r>
              <a:rPr lang="zh-TW" altLang="en-US" dirty="0" smtClean="0"/>
              <a:t>基礎統計模型，以及時間序列統計模型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>
                <a:hlinkClick r:id="rId4"/>
              </a:rPr>
              <a:t>Other </a:t>
            </a:r>
            <a:r>
              <a:rPr lang="en-US" altLang="zh-TW" dirty="0" err="1" smtClean="0">
                <a:hlinkClick r:id="rId4"/>
              </a:rPr>
              <a:t>scikits</a:t>
            </a:r>
            <a:endParaRPr lang="en-US" altLang="zh-TW" dirty="0" smtClean="0"/>
          </a:p>
          <a:p>
            <a:r>
              <a:rPr lang="en-US" altLang="zh-TW" dirty="0" smtClean="0">
                <a:hlinkClick r:id="rId5"/>
              </a:rPr>
              <a:t>MDP (modular toolkit for data processing)</a:t>
            </a:r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提供許多機器學習分類器</a:t>
            </a:r>
            <a:r>
              <a:rPr lang="en-US" altLang="zh-TW" dirty="0" smtClean="0"/>
              <a:t>)</a:t>
            </a:r>
          </a:p>
          <a:p>
            <a:r>
              <a:rPr lang="en-US" altLang="zh-TW" dirty="0" err="1" smtClean="0">
                <a:hlinkClick r:id="rId6"/>
              </a:rPr>
              <a:t>mlpy</a:t>
            </a:r>
            <a:r>
              <a:rPr lang="en-US" altLang="zh-TW" dirty="0" smtClean="0">
                <a:hlinkClick r:id="rId6"/>
              </a:rPr>
              <a:t> (machine learning python)</a:t>
            </a:r>
            <a:endParaRPr lang="en-US" altLang="zh-TW" dirty="0" smtClean="0"/>
          </a:p>
          <a:p>
            <a:r>
              <a:rPr lang="en-US" altLang="zh-TW" dirty="0" err="1" smtClean="0">
                <a:hlinkClick r:id="rId7"/>
              </a:rPr>
              <a:t>Neurolab</a:t>
            </a:r>
            <a:r>
              <a:rPr lang="en-US" altLang="zh-TW" dirty="0" smtClean="0">
                <a:hlinkClick r:id="rId7"/>
              </a:rPr>
              <a:t> </a:t>
            </a:r>
            <a:r>
              <a:rPr lang="en-US" altLang="zh-TW" dirty="0" smtClean="0"/>
              <a:t>(neural network library)</a:t>
            </a:r>
          </a:p>
          <a:p>
            <a:r>
              <a:rPr lang="en-US" altLang="zh-TW" dirty="0" smtClean="0">
                <a:hlinkClick r:id="rId8"/>
              </a:rPr>
              <a:t>Orange</a:t>
            </a:r>
            <a:endParaRPr lang="en-US" altLang="zh-TW" dirty="0" smtClean="0"/>
          </a:p>
          <a:p>
            <a:r>
              <a:rPr lang="en-US" altLang="zh-TW" dirty="0" err="1" smtClean="0">
                <a:hlinkClick r:id="rId9"/>
              </a:rPr>
              <a:t>Theano</a:t>
            </a:r>
            <a:r>
              <a:rPr lang="en-US" altLang="zh-TW" dirty="0" smtClean="0"/>
              <a:t> (for deep learning, support GPU)</a:t>
            </a:r>
          </a:p>
          <a:p>
            <a:r>
              <a:rPr lang="en-US" altLang="zh-TW" dirty="0" smtClean="0">
                <a:hlinkClick r:id="rId10"/>
              </a:rPr>
              <a:t>Rpy2</a:t>
            </a:r>
            <a:r>
              <a:rPr lang="en-US" altLang="zh-TW" dirty="0" smtClean="0"/>
              <a:t> (interface for </a:t>
            </a:r>
            <a:r>
              <a:rPr lang="en-US" altLang="zh-TW" dirty="0" smtClean="0">
                <a:hlinkClick r:id="rId11"/>
              </a:rPr>
              <a:t>R</a:t>
            </a:r>
            <a:r>
              <a:rPr lang="en-US" altLang="zh-TW" dirty="0" smtClean="0"/>
              <a:t>, </a:t>
            </a:r>
            <a:r>
              <a:rPr lang="en-US" altLang="zh-TW" dirty="0" smtClean="0">
                <a:hlinkClick r:id="rId12"/>
              </a:rPr>
              <a:t>CRAN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72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9092" y="88781"/>
            <a:ext cx="10058400" cy="1609344"/>
          </a:xfrm>
        </p:spPr>
        <p:txBody>
          <a:bodyPr/>
          <a:lstStyle/>
          <a:p>
            <a:r>
              <a:rPr lang="en-US" altLang="zh-TW" dirty="0" smtClean="0"/>
              <a:t>preprocessing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42569" y="1696405"/>
            <a:ext cx="11551447" cy="4941504"/>
          </a:xfrm>
        </p:spPr>
        <p:txBody>
          <a:bodyPr/>
          <a:lstStyle/>
          <a:p>
            <a:r>
              <a:rPr lang="zh-TW" altLang="en-US" dirty="0" smtClean="0">
                <a:hlinkClick r:id="rId2"/>
              </a:rPr>
              <a:t>確認本日可用之股票代號</a:t>
            </a:r>
            <a:r>
              <a:rPr lang="en-US" altLang="zh-TW" dirty="0" smtClean="0"/>
              <a:t>(TWSE-&gt;</a:t>
            </a:r>
            <a:r>
              <a:rPr lang="zh-TW" altLang="en-US" dirty="0" smtClean="0"/>
              <a:t>產品與服務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證券編碼公告</a:t>
            </a:r>
            <a:r>
              <a:rPr lang="en-US" altLang="zh-TW" dirty="0" smtClean="0"/>
              <a:t>-&gt;</a:t>
            </a:r>
            <a:r>
              <a:rPr lang="zh-TW" altLang="en-US" dirty="0"/>
              <a:t>上市公司證券編碼</a:t>
            </a:r>
            <a:r>
              <a:rPr lang="en-US" altLang="zh-TW" dirty="0" smtClean="0"/>
              <a:t>)</a:t>
            </a:r>
          </a:p>
          <a:p>
            <a:r>
              <a:rPr lang="zh-TW" altLang="en-US" dirty="0" smtClean="0"/>
              <a:t>抓取本日交易資料</a:t>
            </a:r>
            <a:r>
              <a:rPr lang="en-US" altLang="zh-TW" dirty="0" smtClean="0"/>
              <a:t>(yahoo, google, TEJ, ….)</a:t>
            </a:r>
          </a:p>
          <a:p>
            <a:r>
              <a:rPr lang="zh-TW" altLang="en-US" dirty="0" smtClean="0"/>
              <a:t>確認資料可靠性</a:t>
            </a:r>
            <a:endParaRPr lang="en-US" altLang="zh-TW" dirty="0" smtClean="0"/>
          </a:p>
          <a:p>
            <a:r>
              <a:rPr lang="zh-TW" altLang="en-US" dirty="0" smtClean="0"/>
              <a:t>計算技術指標</a:t>
            </a:r>
            <a:r>
              <a:rPr lang="en-US" altLang="zh-TW" dirty="0" smtClean="0"/>
              <a:t>(</a:t>
            </a:r>
            <a:r>
              <a:rPr lang="en-US" altLang="zh-TW" dirty="0" smtClean="0">
                <a:hlinkClick r:id="rId3"/>
              </a:rPr>
              <a:t>TA-Lib</a:t>
            </a:r>
            <a:r>
              <a:rPr lang="en-US" altLang="zh-TW" dirty="0" smtClean="0"/>
              <a:t>, </a:t>
            </a:r>
            <a:r>
              <a:rPr lang="en-US" altLang="zh-TW" dirty="0" smtClean="0">
                <a:hlinkClick r:id="rId4"/>
              </a:rPr>
              <a:t>python-wrapper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r>
              <a:rPr lang="en-US" altLang="zh-TW" dirty="0" smtClean="0"/>
              <a:t>Normalization: (norm of each data = 1)</a:t>
            </a:r>
            <a:endParaRPr lang="en-US" altLang="zh-TW" dirty="0"/>
          </a:p>
          <a:p>
            <a:r>
              <a:rPr lang="en-US" altLang="zh-TW" dirty="0" err="1" smtClean="0"/>
              <a:t>MinMax</a:t>
            </a:r>
            <a:r>
              <a:rPr lang="en-US" altLang="zh-TW" dirty="0"/>
              <a:t> </a:t>
            </a:r>
            <a:r>
              <a:rPr lang="en-US" altLang="zh-TW" dirty="0" smtClean="0"/>
              <a:t>scale: (0&lt;=feature[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]&lt;=1)</a:t>
            </a:r>
          </a:p>
          <a:p>
            <a:r>
              <a:rPr lang="en-US" altLang="zh-TW" dirty="0" smtClean="0"/>
              <a:t>PCA (</a:t>
            </a:r>
            <a:r>
              <a:rPr lang="zh-TW" altLang="en-US" dirty="0" smtClean="0"/>
              <a:t>找出資料變異數最大的線性組合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Manifold (</a:t>
            </a:r>
            <a:r>
              <a:rPr lang="zh-TW" altLang="en-US" dirty="0" smtClean="0"/>
              <a:t>非線性投影</a:t>
            </a:r>
            <a:r>
              <a:rPr lang="en-US" altLang="zh-TW" dirty="0" smtClean="0"/>
              <a:t>, LLE, </a:t>
            </a:r>
            <a:r>
              <a:rPr lang="en-US" altLang="zh-TW" dirty="0" err="1" smtClean="0"/>
              <a:t>eigen</a:t>
            </a:r>
            <a:r>
              <a:rPr lang="en-US" altLang="zh-TW" dirty="0" smtClean="0"/>
              <a:t>-face)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311" y="2859938"/>
            <a:ext cx="3058339" cy="297501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529" y="2499356"/>
            <a:ext cx="3642558" cy="33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9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Asset allocation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6968" y="1735042"/>
            <a:ext cx="10058400" cy="4050792"/>
          </a:xfrm>
        </p:spPr>
        <p:txBody>
          <a:bodyPr/>
          <a:lstStyle/>
          <a:p>
            <a:r>
              <a:rPr lang="en-US" altLang="zh-TW" dirty="0" smtClean="0"/>
              <a:t>Linear optimization, robust optimization….</a:t>
            </a:r>
          </a:p>
          <a:p>
            <a:r>
              <a:rPr lang="en-US" altLang="zh-TW" dirty="0" smtClean="0">
                <a:hlinkClick r:id="rId2"/>
              </a:rPr>
              <a:t>CVXOPT:</a:t>
            </a:r>
            <a:r>
              <a:rPr lang="en-US" altLang="zh-TW" dirty="0" smtClean="0"/>
              <a:t> python software for convex optimization</a:t>
            </a:r>
          </a:p>
          <a:p>
            <a:endParaRPr lang="en-US" altLang="zh-TW" dirty="0"/>
          </a:p>
          <a:p>
            <a:r>
              <a:rPr lang="en-US" altLang="zh-TW" dirty="0" smtClean="0">
                <a:hlinkClick r:id="rId3"/>
              </a:rPr>
              <a:t>Mean-variance model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71" y="3566338"/>
            <a:ext cx="4075353" cy="307157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3463127"/>
            <a:ext cx="4212293" cy="317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Trading rule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hlinkClick r:id="rId2"/>
              </a:rPr>
              <a:t>Scikit</a:t>
            </a:r>
            <a:r>
              <a:rPr lang="en-US" altLang="zh-TW" dirty="0" smtClean="0">
                <a:hlinkClick r:id="rId2"/>
              </a:rPr>
              <a:t>-learn, </a:t>
            </a:r>
            <a:r>
              <a:rPr lang="en-US" altLang="zh-TW" dirty="0" err="1" smtClean="0">
                <a:hlinkClick r:id="rId2"/>
              </a:rPr>
              <a:t>mdp</a:t>
            </a:r>
            <a:r>
              <a:rPr lang="en-US" altLang="zh-TW" dirty="0" smtClean="0">
                <a:hlinkClick r:id="rId2"/>
              </a:rPr>
              <a:t>, </a:t>
            </a:r>
            <a:r>
              <a:rPr lang="en-US" altLang="zh-TW" dirty="0" err="1" smtClean="0">
                <a:hlinkClick r:id="rId2"/>
              </a:rPr>
              <a:t>Neurolab</a:t>
            </a:r>
            <a:r>
              <a:rPr lang="en-US" altLang="zh-TW" dirty="0" smtClean="0">
                <a:hlinkClick r:id="rId2"/>
              </a:rPr>
              <a:t>…</a:t>
            </a:r>
          </a:p>
          <a:p>
            <a:r>
              <a:rPr lang="en-US" altLang="zh-TW" dirty="0" err="1" smtClean="0">
                <a:hlinkClick r:id="rId2"/>
              </a:rPr>
              <a:t>Pyevolve</a:t>
            </a:r>
            <a:r>
              <a:rPr lang="en-US" altLang="zh-TW" dirty="0" smtClean="0"/>
              <a:t> (GA and GP, stop development)</a:t>
            </a:r>
          </a:p>
          <a:p>
            <a:r>
              <a:rPr lang="en-US" altLang="zh-TW" dirty="0" err="1" smtClean="0">
                <a:hlinkClick r:id="rId3"/>
              </a:rPr>
              <a:t>Pygep</a:t>
            </a:r>
            <a:r>
              <a:rPr lang="en-US" altLang="zh-TW" dirty="0" smtClean="0"/>
              <a:t> (GEP, stop development)-&gt;</a:t>
            </a:r>
            <a:r>
              <a:rPr lang="en-US" altLang="zh-TW" dirty="0" err="1" smtClean="0"/>
              <a:t>PyMOGEP</a:t>
            </a:r>
            <a:r>
              <a:rPr lang="en-US" altLang="zh-TW" dirty="0" smtClean="0"/>
              <a:t> (</a:t>
            </a:r>
            <a:r>
              <a:rPr lang="zh-TW" altLang="en-US" dirty="0" smtClean="0"/>
              <a:t>自行改寫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>
                <a:hlinkClick r:id="rId4"/>
              </a:rPr>
              <a:t>DEAP</a:t>
            </a:r>
            <a:r>
              <a:rPr lang="en-US" altLang="zh-TW" dirty="0" smtClean="0"/>
              <a:t> (distributed GA, MOEA, PSO)</a:t>
            </a:r>
          </a:p>
          <a:p>
            <a:r>
              <a:rPr lang="en-US" altLang="zh-TW" dirty="0" err="1" smtClean="0">
                <a:hlinkClick r:id="rId5"/>
              </a:rPr>
              <a:t>Zipline</a:t>
            </a:r>
            <a:r>
              <a:rPr lang="en-US" altLang="zh-TW" dirty="0" smtClean="0"/>
              <a:t> (</a:t>
            </a:r>
            <a:r>
              <a:rPr lang="en-US" altLang="zh-TW" dirty="0" err="1"/>
              <a:t>Pythonic</a:t>
            </a:r>
            <a:r>
              <a:rPr lang="en-US" altLang="zh-TW" dirty="0"/>
              <a:t> Algorithmic Trading </a:t>
            </a:r>
            <a:r>
              <a:rPr lang="en-US" altLang="zh-TW" dirty="0" smtClean="0"/>
              <a:t>Library)</a:t>
            </a:r>
          </a:p>
          <a:p>
            <a:endParaRPr lang="en-US" altLang="zh-TW" dirty="0"/>
          </a:p>
          <a:p>
            <a:r>
              <a:rPr lang="en-US" altLang="zh-TW" dirty="0" smtClean="0"/>
              <a:t>R:</a:t>
            </a:r>
          </a:p>
          <a:p>
            <a:pPr lvl="1"/>
            <a:r>
              <a:rPr lang="en-US" altLang="zh-TW" dirty="0" err="1" smtClean="0"/>
              <a:t>PerformanceAnalytics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TTR, </a:t>
            </a:r>
            <a:r>
              <a:rPr lang="en-US" altLang="zh-TW" dirty="0" err="1" smtClean="0"/>
              <a:t>ttrTests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pairTrading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27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 measure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Basic statistics (mean, </a:t>
            </a:r>
            <a:r>
              <a:rPr lang="en-US" altLang="zh-TW" dirty="0" err="1" smtClean="0"/>
              <a:t>stdev</a:t>
            </a:r>
            <a:r>
              <a:rPr lang="en-US" altLang="zh-TW" dirty="0" smtClean="0"/>
              <a:t>., </a:t>
            </a:r>
            <a:r>
              <a:rPr lang="en-US" altLang="zh-TW" dirty="0" err="1" smtClean="0"/>
              <a:t>skewness</a:t>
            </a:r>
            <a:r>
              <a:rPr lang="en-US" altLang="zh-TW" dirty="0" smtClean="0"/>
              <a:t>, kurtosis): </a:t>
            </a:r>
            <a:r>
              <a:rPr lang="en-US" altLang="zh-TW" dirty="0" err="1" smtClean="0"/>
              <a:t>numpy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scipy</a:t>
            </a:r>
            <a:endParaRPr lang="en-US" altLang="zh-TW" dirty="0" smtClean="0"/>
          </a:p>
          <a:p>
            <a:r>
              <a:rPr lang="en-US" altLang="zh-TW" dirty="0" err="1" smtClean="0"/>
              <a:t>VaR</a:t>
            </a:r>
            <a:r>
              <a:rPr lang="en-US" altLang="zh-TW" dirty="0" smtClean="0"/>
              <a:t> (value at risk), ES or </a:t>
            </a:r>
            <a:r>
              <a:rPr lang="en-US" altLang="zh-TW" dirty="0" err="1" smtClean="0"/>
              <a:t>CVaR</a:t>
            </a:r>
            <a:r>
              <a:rPr lang="en-US" altLang="zh-TW" dirty="0" smtClean="0"/>
              <a:t> (expected shortfall or condition value at risk): R-</a:t>
            </a:r>
            <a:r>
              <a:rPr lang="en-US" altLang="zh-TW" dirty="0" err="1" smtClean="0"/>
              <a:t>performanceanalysis</a:t>
            </a:r>
            <a:endParaRPr lang="en-US" altLang="zh-TW" dirty="0" smtClean="0"/>
          </a:p>
          <a:p>
            <a:r>
              <a:rPr lang="en-US" altLang="zh-TW" dirty="0" smtClean="0"/>
              <a:t>Confusion matrix, AUC, ROC: </a:t>
            </a:r>
            <a:r>
              <a:rPr lang="en-US" altLang="zh-TW" dirty="0" err="1" smtClean="0"/>
              <a:t>scikit</a:t>
            </a:r>
            <a:r>
              <a:rPr lang="en-US" altLang="zh-TW" dirty="0" smtClean="0"/>
              <a:t>-learn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2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Feature sets: {</a:t>
            </a:r>
            <a:r>
              <a:rPr lang="en-US" altLang="zh-TW" dirty="0" err="1"/>
              <a:t>adjROI</a:t>
            </a:r>
            <a:r>
              <a:rPr lang="en-US" altLang="zh-TW" dirty="0"/>
              <a:t>, </a:t>
            </a:r>
            <a:r>
              <a:rPr lang="en-US" altLang="zh-TW" dirty="0" err="1"/>
              <a:t>closePrice</a:t>
            </a:r>
            <a:r>
              <a:rPr lang="en-US" altLang="zh-TW" dirty="0"/>
              <a:t>, </a:t>
            </a:r>
            <a:r>
              <a:rPr lang="en-US" altLang="zh-TW" dirty="0" err="1"/>
              <a:t>highPrice</a:t>
            </a:r>
            <a:r>
              <a:rPr lang="en-US" altLang="zh-TW" dirty="0"/>
              <a:t>, </a:t>
            </a:r>
            <a:r>
              <a:rPr lang="en-US" altLang="zh-TW" dirty="0" err="1"/>
              <a:t>lowPrice</a:t>
            </a:r>
            <a:r>
              <a:rPr lang="en-US" altLang="zh-TW" dirty="0"/>
              <a:t>, </a:t>
            </a:r>
            <a:r>
              <a:rPr lang="en-US" altLang="zh-TW" dirty="0" err="1"/>
              <a:t>openPrice</a:t>
            </a:r>
            <a:r>
              <a:rPr lang="en-US" altLang="zh-TW" dirty="0"/>
              <a:t>, </a:t>
            </a:r>
            <a:r>
              <a:rPr lang="en-US" altLang="zh-TW" dirty="0" err="1"/>
              <a:t>tradeValue</a:t>
            </a:r>
            <a:r>
              <a:rPr lang="en-US" altLang="zh-TW" dirty="0"/>
              <a:t>, </a:t>
            </a:r>
            <a:r>
              <a:rPr lang="en-US" altLang="zh-TW" dirty="0" err="1"/>
              <a:t>tradeVolume</a:t>
            </a:r>
            <a:r>
              <a:rPr lang="en-US" altLang="zh-TW" dirty="0"/>
              <a:t>, AD, ADOSC, </a:t>
            </a:r>
            <a:r>
              <a:rPr lang="en-US" altLang="zh-TW" dirty="0" smtClean="0"/>
              <a:t>ADX</a:t>
            </a:r>
            <a:r>
              <a:rPr lang="en-US" altLang="zh-TW" dirty="0"/>
              <a:t>, ADXR, APO, ATR, </a:t>
            </a:r>
            <a:r>
              <a:rPr lang="en-US" altLang="zh-TW" dirty="0" err="1"/>
              <a:t>AroonDown</a:t>
            </a:r>
            <a:r>
              <a:rPr lang="en-US" altLang="zh-TW" dirty="0"/>
              <a:t>, </a:t>
            </a:r>
            <a:r>
              <a:rPr lang="en-US" altLang="zh-TW" dirty="0" err="1"/>
              <a:t>AroonOSC</a:t>
            </a:r>
            <a:r>
              <a:rPr lang="en-US" altLang="zh-TW" dirty="0"/>
              <a:t>, </a:t>
            </a:r>
            <a:r>
              <a:rPr lang="en-US" altLang="zh-TW" dirty="0" err="1"/>
              <a:t>AroonUp</a:t>
            </a:r>
            <a:r>
              <a:rPr lang="en-US" altLang="zh-TW" dirty="0"/>
              <a:t>, BOP, CCI, CMO, DEMA10, DEMA120, DEMA20, </a:t>
            </a:r>
            <a:r>
              <a:rPr lang="en-US" altLang="zh-TW" dirty="0" smtClean="0"/>
              <a:t>DEMA240</a:t>
            </a:r>
            <a:r>
              <a:rPr lang="en-US" altLang="zh-TW" dirty="0"/>
              <a:t>, DEMA30, DEMA40, DEMA5, DEMA60, DX, EMA10, EMA120, EMA20, EMA240, EMA30, EMA40, EMA5, </a:t>
            </a:r>
            <a:r>
              <a:rPr lang="en-US" altLang="zh-TW" dirty="0" smtClean="0"/>
              <a:t>EMA60</a:t>
            </a:r>
            <a:r>
              <a:rPr lang="en-US" altLang="zh-TW" dirty="0"/>
              <a:t>, FAMA, </a:t>
            </a:r>
            <a:r>
              <a:rPr lang="en-US" altLang="zh-TW" dirty="0" err="1"/>
              <a:t>FastD</a:t>
            </a:r>
            <a:r>
              <a:rPr lang="en-US" altLang="zh-TW" dirty="0"/>
              <a:t>, </a:t>
            </a:r>
            <a:r>
              <a:rPr lang="en-US" altLang="zh-TW" dirty="0" err="1"/>
              <a:t>FastK</a:t>
            </a:r>
            <a:r>
              <a:rPr lang="en-US" altLang="zh-TW" dirty="0"/>
              <a:t>, KAMA10, KAMA120, KAMA20, KAMA240, KAMA30, KAMA40, KAMA5, KAMA60, MACD, </a:t>
            </a:r>
            <a:r>
              <a:rPr lang="en-US" altLang="zh-TW" dirty="0" err="1" smtClean="0"/>
              <a:t>MACDSignal</a:t>
            </a:r>
            <a:r>
              <a:rPr lang="en-US" altLang="zh-TW" dirty="0"/>
              <a:t>, MAMA, MFI, MINUSDI, MINUSDM, MOM, NATR, OBV, PLUSDI, PLUSDM, PPO, ROC, RSI, </a:t>
            </a:r>
            <a:r>
              <a:rPr lang="en-US" altLang="zh-TW" dirty="0" err="1"/>
              <a:t>RSIFastD</a:t>
            </a:r>
            <a:r>
              <a:rPr lang="en-US" altLang="zh-TW" dirty="0"/>
              <a:t>, </a:t>
            </a:r>
            <a:r>
              <a:rPr lang="en-US" altLang="zh-TW" dirty="0" err="1" smtClean="0"/>
              <a:t>RSIFastK</a:t>
            </a:r>
            <a:r>
              <a:rPr lang="en-US" altLang="zh-TW" dirty="0"/>
              <a:t>, SAR, SAREXT, SMA10, SMA120, SMA20, SMA240, SMA30, SMA40, SMA5, SMA60, </a:t>
            </a:r>
            <a:r>
              <a:rPr lang="en-US" altLang="zh-TW" dirty="0" err="1"/>
              <a:t>SlowD</a:t>
            </a:r>
            <a:r>
              <a:rPr lang="en-US" altLang="zh-TW" dirty="0"/>
              <a:t>, </a:t>
            </a:r>
            <a:r>
              <a:rPr lang="en-US" altLang="zh-TW" dirty="0" err="1"/>
              <a:t>SlowK</a:t>
            </a:r>
            <a:r>
              <a:rPr lang="en-US" altLang="zh-TW" dirty="0"/>
              <a:t>, ULTOSC, </a:t>
            </a:r>
            <a:r>
              <a:rPr lang="en-US" altLang="zh-TW" dirty="0" smtClean="0"/>
              <a:t>Williams} 77</a:t>
            </a:r>
            <a:r>
              <a:rPr lang="zh-TW" altLang="en-US" dirty="0"/>
              <a:t>個</a:t>
            </a:r>
            <a:r>
              <a:rPr lang="zh-TW" altLang="en-US" dirty="0" smtClean="0"/>
              <a:t>特徵</a:t>
            </a:r>
            <a:endParaRPr lang="en-US" altLang="zh-TW" dirty="0"/>
          </a:p>
          <a:p>
            <a:r>
              <a:rPr lang="en-US" altLang="zh-TW" dirty="0" smtClean="0"/>
              <a:t>Weekly sliding window</a:t>
            </a:r>
          </a:p>
          <a:p>
            <a:r>
              <a:rPr lang="en-US" altLang="zh-TW" dirty="0" smtClean="0"/>
              <a:t>100</a:t>
            </a:r>
            <a:r>
              <a:rPr lang="zh-TW" altLang="en-US" dirty="0" smtClean="0"/>
              <a:t>隻股票</a:t>
            </a:r>
            <a:r>
              <a:rPr lang="en-US" altLang="zh-TW" dirty="0" smtClean="0"/>
              <a:t>, from 2000/1/1~2012/12/31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362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1813" y="0"/>
            <a:ext cx="10058400" cy="1609344"/>
          </a:xfrm>
        </p:spPr>
        <p:txBody>
          <a:bodyPr/>
          <a:lstStyle/>
          <a:p>
            <a:r>
              <a:rPr lang="zh-TW" altLang="en-US" dirty="0" smtClean="0"/>
              <a:t>預測明日漲跌</a:t>
            </a:r>
            <a:r>
              <a:rPr lang="en-US" altLang="zh-TW" dirty="0" smtClean="0"/>
              <a:t>(1)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697992"/>
              </p:ext>
            </p:extLst>
          </p:nvPr>
        </p:nvGraphicFramePr>
        <p:xfrm>
          <a:off x="167424" y="1434743"/>
          <a:ext cx="11783784" cy="518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964"/>
                <a:gridCol w="1963964"/>
                <a:gridCol w="1963964"/>
                <a:gridCol w="1963964"/>
                <a:gridCol w="1963964"/>
                <a:gridCol w="196396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Method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err="1" smtClean="0"/>
                        <a:t>trainSet</a:t>
                      </a:r>
                      <a:r>
                        <a:rPr lang="en-US" altLang="zh-TW" sz="1800" dirty="0" smtClean="0"/>
                        <a:t>: 20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 40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60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120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240</a:t>
                      </a:r>
                      <a:endParaRPr lang="zh-TW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Decision tree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57.49%/0.88%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56.19%/0.89%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55.61%/0.95%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54.59%/1.16%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54.10%/0.87%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Extended tree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62.02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%/0.94%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61.92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%/0.89%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61.52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%/0.91%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61.13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%/0.97%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60.51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%/1.13%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Random forest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61.64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%/0.87%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61.31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%/1.04%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60.75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%/0.88%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60.00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%/1.06%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59.06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%/1.09%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LDA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58.50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/0.93%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54.57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/0.99%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51.30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/0.87%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51.14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/1.02%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50.99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%/1.06%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err="1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zRidge</a:t>
                      </a: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reg.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64.43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%/0.85%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63.82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%/0.89%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63.30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%/0.91%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61.99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%/1.10%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60.25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%/1.42%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Logistic reg.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62.62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%/0.89%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62.92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%/0.91%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62.80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%/1.07%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61.88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%/0.96%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60.78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%/1.46%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SGD</a:t>
                      </a:r>
                      <a:endParaRPr lang="zh-TW" altLang="en-US" sz="1600" b="1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62.63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%/1.02%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63.92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%/0.87%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64.22%/0.76%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64.17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%/0.91%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63.90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%/1.03%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Grad. Boost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57.91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%/0.89%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59.59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%/0.94%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60.88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%/1.09%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60.88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%/1.26%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61.23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%/1.47%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Gauss</a:t>
                      </a:r>
                      <a:r>
                        <a:rPr lang="en-US" altLang="zh-TW" sz="1600" baseline="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Naïve Bayes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59.48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%/0.93%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60.84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%/1.17%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60.52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%/1.45%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59.30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%/2.04%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57.96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%/2.64%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Passive-aggressive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63.92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%//0.88%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64.46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%/0.78%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64.04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%/0.78%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63.00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%/0.94%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61.79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%/1.19%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SVM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53.57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/0.95%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53.93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/0.93%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54.45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/0.96%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54.64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/1.02%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54.49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/1.36%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 err="1" smtClean="0">
                          <a:solidFill>
                            <a:srgbClr val="FF0000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Percetron</a:t>
                      </a:r>
                      <a:endParaRPr lang="zh-TW" altLang="en-US" sz="1600" b="1" dirty="0">
                        <a:solidFill>
                          <a:srgbClr val="FF0000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62.59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%/0.96%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63.77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%/0.89%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64.13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%/0.78%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64.06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%/0.90%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63.86</a:t>
                      </a:r>
                      <a:r>
                        <a:rPr lang="en-US" altLang="zh-TW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%/1.01%</a:t>
                      </a:r>
                      <a:endParaRPr lang="en-US" altLang="zh-TW" sz="16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RBM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49.27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/0.69%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48.70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/0.88%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48.97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/0.74%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49.17</a:t>
                      </a: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/0.82%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035253" y="518546"/>
            <a:ext cx="6748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使用</a:t>
            </a:r>
            <a:r>
              <a:rPr lang="en-US" altLang="zh-TW" dirty="0" err="1" smtClean="0"/>
              <a:t>scikit</a:t>
            </a:r>
            <a:r>
              <a:rPr lang="en-US" altLang="zh-TW" dirty="0" smtClean="0"/>
              <a:t>-learn classifier</a:t>
            </a:r>
            <a:r>
              <a:rPr lang="zh-TW" altLang="en-US" dirty="0" smtClean="0"/>
              <a:t>的預設參數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所有特徵正規化為</a:t>
            </a:r>
            <a:r>
              <a:rPr lang="en-US" altLang="zh-TW" dirty="0" smtClean="0"/>
              <a:t>0~1, </a:t>
            </a:r>
            <a:r>
              <a:rPr lang="zh-TW" altLang="en-US" dirty="0" smtClean="0"/>
              <a:t>且在實驗中均不更換參數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085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96360" y="252673"/>
            <a:ext cx="10058400" cy="1609344"/>
          </a:xfrm>
        </p:spPr>
        <p:txBody>
          <a:bodyPr/>
          <a:lstStyle/>
          <a:p>
            <a:r>
              <a:rPr lang="zh-TW" altLang="en-US" dirty="0"/>
              <a:t>預測明日漲跌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5202678" y="679295"/>
            <a:ext cx="6748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使用</a:t>
            </a:r>
            <a:r>
              <a:rPr lang="en-US" altLang="zh-TW" dirty="0" err="1" smtClean="0"/>
              <a:t>scikit</a:t>
            </a:r>
            <a:r>
              <a:rPr lang="en-US" altLang="zh-TW" dirty="0" smtClean="0"/>
              <a:t>-learn classifier</a:t>
            </a:r>
            <a:r>
              <a:rPr lang="zh-TW" altLang="en-US" dirty="0" smtClean="0"/>
              <a:t>的預設參數</a:t>
            </a:r>
            <a:r>
              <a:rPr lang="en-US" altLang="zh-TW" dirty="0" smtClean="0"/>
              <a:t>, </a:t>
            </a:r>
            <a:r>
              <a:rPr lang="zh-TW" altLang="en-US" dirty="0" smtClean="0"/>
              <a:t>所有特徵正規化為</a:t>
            </a:r>
            <a:r>
              <a:rPr lang="en-US" altLang="zh-TW" dirty="0" smtClean="0"/>
              <a:t>0~1, </a:t>
            </a:r>
            <a:r>
              <a:rPr lang="zh-TW" altLang="en-US" dirty="0" smtClean="0"/>
              <a:t>在實驗中每期使用</a:t>
            </a:r>
            <a:r>
              <a:rPr lang="en-US" altLang="zh-TW" dirty="0" smtClean="0"/>
              <a:t>grid search</a:t>
            </a:r>
            <a:r>
              <a:rPr lang="zh-TW" altLang="en-US" dirty="0" smtClean="0"/>
              <a:t>找</a:t>
            </a:r>
            <a:r>
              <a:rPr lang="en-US" altLang="zh-TW" dirty="0" smtClean="0"/>
              <a:t>acc.</a:t>
            </a:r>
            <a:r>
              <a:rPr lang="zh-TW" altLang="en-US" dirty="0" smtClean="0"/>
              <a:t>最高的參數</a:t>
            </a:r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6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0230533"/>
              </p:ext>
            </p:extLst>
          </p:nvPr>
        </p:nvGraphicFramePr>
        <p:xfrm>
          <a:off x="928182" y="1451229"/>
          <a:ext cx="9819820" cy="518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964"/>
                <a:gridCol w="1963964"/>
                <a:gridCol w="1963964"/>
                <a:gridCol w="1963964"/>
                <a:gridCol w="196396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Method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err="1" smtClean="0"/>
                        <a:t>trainSet</a:t>
                      </a:r>
                      <a:r>
                        <a:rPr lang="en-US" altLang="zh-TW" sz="1800" dirty="0" smtClean="0"/>
                        <a:t>: 20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 40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60</a:t>
                      </a:r>
                      <a:endParaRPr lang="zh-TW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dirty="0" smtClean="0"/>
                        <a:t>120</a:t>
                      </a:r>
                      <a:endParaRPr lang="zh-TW" altLang="en-US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Decision tree</a:t>
                      </a:r>
                      <a:endParaRPr lang="zh-TW" altLang="en-US" sz="1600" dirty="0"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57.58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%/0.90%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56.89%/0.94%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56.54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%/0.99%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55.79</a:t>
                      </a:r>
                      <a:r>
                        <a:rPr lang="en-US" altLang="zh-TW" sz="1600" b="0" i="0" u="none" strike="noStrike" dirty="0" smtClean="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%/1.15%</a:t>
                      </a:r>
                      <a:endParaRPr lang="en-US" altLang="zh-TW" sz="1600" b="0" i="0" u="none" strike="noStrike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Extended tree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Random forest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62.56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%/0.87%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62.40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%/0.89%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62.40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%/0.92%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61.99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%/0.93%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LDA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Ridge reg.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63.11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%/0.90%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62.99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%/0.83%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62.25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%/0.95%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60.53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%/1.04%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Logistic reg.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60.60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%/0.90%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61.54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%/0.91%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61.57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%/0.99%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60.82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%/1.04%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SGD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Grad. Boost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Gauss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 Naïve Bayes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Passive-aggressive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63.83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%/0.81%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64.44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%/0.82%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64.38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%/0.90%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64.17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%/0.98%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SVM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62.11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%/0.95%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62.46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%/0.93%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61.93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%/0.96%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59.98</a:t>
                      </a:r>
                      <a:r>
                        <a:rPr lang="en-US" altLang="zh-TW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%/1.02%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err="1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Percetron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1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RBM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untest</a:t>
                      </a:r>
                      <a:endParaRPr lang="en-US" altLang="zh-TW" sz="1600" b="0" i="0" u="none" strike="noStrike" dirty="0">
                        <a:solidFill>
                          <a:schemeClr val="tx1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08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502276" y="1991460"/>
            <a:ext cx="10651730" cy="1609344"/>
          </a:xfrm>
        </p:spPr>
        <p:txBody>
          <a:bodyPr/>
          <a:lstStyle/>
          <a:p>
            <a:r>
              <a:rPr lang="en-US" altLang="zh-TW" dirty="0" err="1" smtClean="0"/>
              <a:t>Kalman</a:t>
            </a:r>
            <a:r>
              <a:rPr lang="en-US" altLang="zh-TW" dirty="0" smtClean="0"/>
              <a:t> filter for real-time tracking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353961" y="3716594"/>
            <a:ext cx="1043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KF</a:t>
            </a:r>
            <a:r>
              <a:rPr lang="zh-TW" altLang="en-US" sz="2400" dirty="0" smtClean="0"/>
              <a:t>能夠</a:t>
            </a:r>
            <a:r>
              <a:rPr lang="zh-TW" altLang="en-US" sz="2400" dirty="0"/>
              <a:t>從一系列的不完全及包含雜訊的測量中，估計動態系統</a:t>
            </a:r>
            <a:r>
              <a:rPr lang="zh-TW" altLang="en-US" sz="2400"/>
              <a:t>的</a:t>
            </a:r>
            <a:r>
              <a:rPr lang="zh-TW" altLang="en-US" sz="2400" smtClean="0"/>
              <a:t>狀態</a:t>
            </a:r>
            <a:endParaRPr lang="en-US" altLang="zh-TW" sz="2400" dirty="0" smtClean="0"/>
          </a:p>
          <a:p>
            <a:r>
              <a:rPr lang="en-US" altLang="zh-TW" sz="2400" dirty="0" smtClean="0"/>
              <a:t>KF</a:t>
            </a:r>
            <a:r>
              <a:rPr lang="zh-TW" altLang="en-US" sz="2400" dirty="0" smtClean="0"/>
              <a:t>是</a:t>
            </a:r>
            <a:r>
              <a:rPr lang="zh-TW" altLang="en-US" sz="2400" dirty="0"/>
              <a:t>限制</a:t>
            </a:r>
            <a:r>
              <a:rPr lang="zh-TW" altLang="en-US" sz="2400" dirty="0" smtClean="0"/>
              <a:t>在狀態變化為線性，且系統與量測誤差均為高斯白噪音的假設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5809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8" r="6781"/>
          <a:stretch/>
        </p:blipFill>
        <p:spPr>
          <a:xfrm>
            <a:off x="218808" y="128789"/>
            <a:ext cx="11732400" cy="6637909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362980"/>
              </p:ext>
            </p:extLst>
          </p:nvPr>
        </p:nvGraphicFramePr>
        <p:xfrm>
          <a:off x="1022556" y="1075150"/>
          <a:ext cx="41862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354"/>
                <a:gridCol w="133484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Kalman</a:t>
                      </a:r>
                      <a:r>
                        <a:rPr lang="en-US" altLang="zh-TW" dirty="0" smtClean="0"/>
                        <a:t> (static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err="1" smtClean="0"/>
                        <a:t>param</a:t>
                      </a:r>
                      <a:r>
                        <a:rPr lang="en-US" altLang="zh-TW" baseline="0" dirty="0" smtClean="0"/>
                        <a:t>.)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Naïve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0.34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226709" y="831104"/>
                <a:ext cx="525042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~</m:t>
                    </m:r>
                    <m:r>
                      <a:rPr lang="en-US" altLang="zh-TW" sz="2200" b="1" i="1" smtClean="0">
                        <a:latin typeface="Cambria Math"/>
                      </a:rPr>
                      <m:t>𝑵</m:t>
                    </m:r>
                    <m:r>
                      <a:rPr lang="en-US" altLang="zh-TW" sz="2200" b="1" i="1" smtClean="0">
                        <a:latin typeface="Cambria Math"/>
                      </a:rPr>
                      <m:t>(</m:t>
                    </m:r>
                    <m:r>
                      <a:rPr lang="en-US" altLang="zh-TW" sz="2200" b="1" i="1" smtClean="0">
                        <a:latin typeface="Cambria Math"/>
                      </a:rPr>
                      <m:t>𝟎</m:t>
                    </m:r>
                    <m:r>
                      <a:rPr lang="en-US" altLang="zh-TW" sz="2200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𝑸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200" b="1" dirty="0" smtClean="0"/>
                  <a:t>  </a:t>
                </a:r>
                <a:endParaRPr lang="en-US" altLang="zh-TW" sz="2200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~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𝑵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(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09" y="831104"/>
                <a:ext cx="5250426" cy="769441"/>
              </a:xfrm>
              <a:prstGeom prst="rect">
                <a:avLst/>
              </a:prstGeom>
              <a:blipFill rotWithShape="1">
                <a:blip r:embed="rId3"/>
                <a:stretch>
                  <a:fillRect l="-116" b="-86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8131277" y="1600545"/>
                <a:ext cx="39034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0" dirty="0" smtClean="0"/>
                  <a:t>Static </a:t>
                </a:r>
                <a:r>
                  <a:rPr lang="en-US" altLang="zh-TW" b="0" dirty="0" err="1" smtClean="0"/>
                  <a:t>parm</a:t>
                </a:r>
                <a:r>
                  <a:rPr lang="en-US" altLang="zh-TW" b="0" dirty="0" smtClean="0"/>
                  <a:t>.: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=1 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=0,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=1,</m:t>
                      </m:r>
                    </m:oMath>
                  </m:oMathPara>
                </a14:m>
                <a:endParaRPr lang="en-US" altLang="zh-TW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=1,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US" altLang="zh-TW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∀</m:t>
                      </m:r>
                      <m:r>
                        <a:rPr lang="en-US" altLang="zh-TW" b="0" i="1" smtClean="0"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277" y="1600545"/>
                <a:ext cx="3903408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406" t="-20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35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5" t="6771" r="7555" b="4244"/>
          <a:stretch/>
        </p:blipFill>
        <p:spPr>
          <a:xfrm>
            <a:off x="174239" y="531065"/>
            <a:ext cx="11776969" cy="5924281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482841"/>
              </p:ext>
            </p:extLst>
          </p:nvPr>
        </p:nvGraphicFramePr>
        <p:xfrm>
          <a:off x="7197213" y="996077"/>
          <a:ext cx="398997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14"/>
                <a:gridCol w="10599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Kalman</a:t>
                      </a:r>
                      <a:r>
                        <a:rPr lang="en-US" altLang="zh-TW" dirty="0" smtClean="0"/>
                        <a:t> (static </a:t>
                      </a:r>
                      <a:r>
                        <a:rPr lang="en-US" altLang="zh-TW" dirty="0" err="1" smtClean="0"/>
                        <a:t>param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1.38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Naïve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1.27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59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6" t="4620" r="6786" b="3975"/>
          <a:stretch/>
        </p:blipFill>
        <p:spPr>
          <a:xfrm>
            <a:off x="200259" y="506792"/>
            <a:ext cx="11991741" cy="6131117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204314"/>
              </p:ext>
            </p:extLst>
          </p:nvPr>
        </p:nvGraphicFramePr>
        <p:xfrm>
          <a:off x="7718323" y="853024"/>
          <a:ext cx="412942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714"/>
                <a:gridCol w="13687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MAE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Kalman</a:t>
                      </a:r>
                      <a:r>
                        <a:rPr lang="en-US" altLang="zh-TW" dirty="0" smtClean="0"/>
                        <a:t> (static </a:t>
                      </a:r>
                      <a:r>
                        <a:rPr lang="en-US" altLang="zh-TW" dirty="0" err="1" smtClean="0"/>
                        <a:t>param</a:t>
                      </a:r>
                      <a:r>
                        <a:rPr lang="en-US" altLang="zh-TW" dirty="0" smtClean="0"/>
                        <a:t>.)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81.96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Naive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72.40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914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0450" y="111145"/>
            <a:ext cx="10058400" cy="1609344"/>
          </a:xfrm>
        </p:spPr>
        <p:txBody>
          <a:bodyPr/>
          <a:lstStyle/>
          <a:p>
            <a:r>
              <a:rPr lang="en-US" altLang="zh-TW" dirty="0" err="1" smtClean="0"/>
              <a:t>Kalman</a:t>
            </a:r>
            <a:r>
              <a:rPr lang="en-US" altLang="zh-TW" dirty="0" smtClean="0"/>
              <a:t> filter flow chart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50" y="2140231"/>
            <a:ext cx="9525000" cy="4819650"/>
          </a:xfrm>
          <a:prstGeom prst="rect">
            <a:avLst/>
          </a:prstGeom>
        </p:spPr>
      </p:pic>
      <p:sp>
        <p:nvSpPr>
          <p:cNvPr id="5" name="圓角矩形圖說文字 4"/>
          <p:cNvSpPr/>
          <p:nvPr/>
        </p:nvSpPr>
        <p:spPr>
          <a:xfrm>
            <a:off x="8311720" y="1332063"/>
            <a:ext cx="2086377" cy="965915"/>
          </a:xfrm>
          <a:prstGeom prst="wedgeRoundRectCallout">
            <a:avLst>
              <a:gd name="adj1" fmla="val -61833"/>
              <a:gd name="adj2" fmla="val 6657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</a:t>
            </a:r>
            <a:r>
              <a:rPr lang="zh-TW" altLang="en-US" dirty="0" smtClean="0"/>
              <a:t>時刻得到訊號</a:t>
            </a:r>
            <a:r>
              <a:rPr lang="en-US" altLang="zh-TW" dirty="0" smtClean="0"/>
              <a:t>y</a:t>
            </a:r>
            <a:r>
              <a:rPr lang="zh-TW" altLang="en-US" dirty="0" smtClean="0"/>
              <a:t>前對</a:t>
            </a:r>
            <a:r>
              <a:rPr lang="en-US" altLang="zh-TW" dirty="0" smtClean="0"/>
              <a:t>y</a:t>
            </a:r>
            <a:r>
              <a:rPr lang="zh-TW" altLang="en-US" dirty="0" smtClean="0"/>
              <a:t>做預測</a:t>
            </a:r>
            <a:endParaRPr lang="zh-TW" altLang="en-US" dirty="0"/>
          </a:p>
        </p:txBody>
      </p:sp>
      <p:sp>
        <p:nvSpPr>
          <p:cNvPr id="6" name="圓角矩形圖說文字 5"/>
          <p:cNvSpPr/>
          <p:nvPr/>
        </p:nvSpPr>
        <p:spPr>
          <a:xfrm>
            <a:off x="321972" y="4376671"/>
            <a:ext cx="2344855" cy="965915"/>
          </a:xfrm>
          <a:prstGeom prst="wedgeRoundRectCallout">
            <a:avLst>
              <a:gd name="adj1" fmla="val 90895"/>
              <a:gd name="adj2" fmla="val 3983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</a:t>
            </a:r>
            <a:r>
              <a:rPr lang="zh-TW" altLang="en-US" dirty="0" smtClean="0"/>
              <a:t>時刻得到訊號</a:t>
            </a:r>
            <a:r>
              <a:rPr lang="en-US" altLang="zh-TW" dirty="0" smtClean="0"/>
              <a:t>y</a:t>
            </a:r>
            <a:r>
              <a:rPr lang="zh-TW" altLang="en-US" dirty="0" smtClean="0"/>
              <a:t>後對</a:t>
            </a:r>
            <a:r>
              <a:rPr lang="en-US" altLang="zh-TW" dirty="0" smtClean="0"/>
              <a:t>y</a:t>
            </a:r>
            <a:r>
              <a:rPr lang="zh-TW" altLang="en-US" dirty="0" smtClean="0"/>
              <a:t>的狀態做修正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578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7303" y="219161"/>
            <a:ext cx="10058400" cy="1609344"/>
          </a:xfrm>
        </p:spPr>
        <p:txBody>
          <a:bodyPr/>
          <a:lstStyle/>
          <a:p>
            <a:r>
              <a:rPr lang="en-US" altLang="zh-TW" dirty="0" smtClean="0"/>
              <a:t>State-space model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481753" y="1519878"/>
                <a:ext cx="793550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8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TW" sz="2800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TW" sz="28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TW" sz="2800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800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TW" sz="2800" b="1" dirty="0" smtClean="0"/>
                  <a:t> </a:t>
                </a:r>
                <a:r>
                  <a:rPr lang="en-US" altLang="zh-TW" sz="2800" dirty="0" smtClean="0"/>
                  <a:t>(processing model)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altLang="zh-TW" sz="28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8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TW" sz="28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TW" altLang="en-US" sz="2800" b="1" dirty="0" smtClean="0"/>
                  <a:t> </a:t>
                </a:r>
                <a:r>
                  <a:rPr lang="en-US" altLang="zh-TW" sz="2800" dirty="0" smtClean="0"/>
                  <a:t>(measurement model)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753" y="1519878"/>
                <a:ext cx="7935506" cy="954107"/>
              </a:xfrm>
              <a:prstGeom prst="rect">
                <a:avLst/>
              </a:prstGeom>
              <a:blipFill rotWithShape="1">
                <a:blip r:embed="rId2"/>
                <a:stretch>
                  <a:fillRect t="-6369" b="-16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34298" y="2890794"/>
                <a:ext cx="4689986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b="1" dirty="0" smtClean="0"/>
                  <a:t>x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</a:t>
                </a:r>
                <a:r>
                  <a:rPr lang="zh-TW" altLang="en-US" sz="2200" dirty="0" smtClean="0"/>
                  <a:t>系統在時間</a:t>
                </a:r>
                <a:r>
                  <a:rPr lang="en-US" altLang="zh-TW" sz="2200" dirty="0" smtClean="0"/>
                  <a:t>k</a:t>
                </a:r>
                <a:r>
                  <a:rPr lang="zh-TW" altLang="en-US" sz="2200" dirty="0" smtClean="0"/>
                  <a:t>時的</a:t>
                </a:r>
                <a:r>
                  <a:rPr lang="zh-TW" altLang="en-US" sz="2200" dirty="0" smtClean="0">
                    <a:solidFill>
                      <a:srgbClr val="FF0000"/>
                    </a:solidFill>
                  </a:rPr>
                  <a:t>真正</a:t>
                </a:r>
                <a:r>
                  <a:rPr lang="zh-TW" altLang="en-US" sz="2200" dirty="0" smtClean="0"/>
                  <a:t>狀態</a:t>
                </a:r>
                <a:endParaRPr lang="en-US" altLang="zh-TW" sz="2200" dirty="0" smtClean="0"/>
              </a:p>
              <a:p>
                <a:r>
                  <a:rPr lang="en-US" altLang="zh-TW" sz="2200" b="1" dirty="0" err="1" smtClean="0"/>
                  <a:t>A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</a:t>
                </a:r>
                <a:r>
                  <a:rPr lang="zh-TW" altLang="en-US" sz="2200" dirty="0" smtClean="0"/>
                  <a:t>系統在時間</a:t>
                </a:r>
                <a:r>
                  <a:rPr lang="en-US" altLang="zh-TW" sz="2200" dirty="0" smtClean="0"/>
                  <a:t>k</a:t>
                </a:r>
                <a:r>
                  <a:rPr lang="zh-TW" altLang="en-US" sz="2200" dirty="0" smtClean="0"/>
                  <a:t>時的狀態轉移矩陣</a:t>
                </a:r>
                <a:endParaRPr lang="en-US" altLang="zh-TW" sz="2200" dirty="0" smtClean="0"/>
              </a:p>
              <a:p>
                <a:r>
                  <a:rPr lang="en-US" altLang="zh-TW" sz="2200" b="1" dirty="0" err="1" smtClean="0"/>
                  <a:t>B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</a:t>
                </a:r>
                <a:r>
                  <a:rPr lang="zh-TW" altLang="en-US" sz="2200" dirty="0" smtClean="0"/>
                  <a:t>外部輸入矩陣</a:t>
                </a:r>
                <a:endParaRPr lang="en-US" altLang="zh-TW" sz="2200" dirty="0" smtClean="0"/>
              </a:p>
              <a:p>
                <a14:m>
                  <m:oMath xmlns:m="http://schemas.openxmlformats.org/officeDocument/2006/math">
                    <m:r>
                      <a:rPr lang="en-US" altLang="zh-TW" sz="2200" b="1" i="1" smtClean="0">
                        <a:latin typeface="Cambria Math"/>
                      </a:rPr>
                      <m:t>𝒖</m:t>
                    </m:r>
                    <m:r>
                      <a:rPr lang="en-US" altLang="zh-TW" sz="2200" b="1" i="1" baseline="-25000" smtClean="0">
                        <a:latin typeface="Cambria Math"/>
                      </a:rPr>
                      <m:t>𝒌</m:t>
                    </m:r>
                  </m:oMath>
                </a14:m>
                <a:r>
                  <a:rPr lang="en-US" altLang="zh-TW" sz="2200" dirty="0" smtClean="0"/>
                  <a:t>:</a:t>
                </a:r>
                <a:r>
                  <a:rPr lang="zh-TW" altLang="en-US" sz="2200" dirty="0" smtClean="0"/>
                  <a:t>外部輸入向量</a:t>
                </a:r>
                <a:endParaRPr lang="en-US" altLang="zh-TW" sz="2200" dirty="0" smtClean="0"/>
              </a:p>
              <a:p>
                <a:r>
                  <a:rPr lang="en-US" altLang="zh-TW" sz="2200" b="1" dirty="0" err="1" smtClean="0"/>
                  <a:t>w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process noise~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𝑁</m:t>
                    </m:r>
                    <m:r>
                      <a:rPr lang="en-US" altLang="zh-TW" sz="2200" b="0" i="1" smtClean="0">
                        <a:latin typeface="Cambria Math"/>
                      </a:rPr>
                      <m:t>(0, 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𝑸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200" dirty="0" smtClean="0"/>
                  <a:t> </a:t>
                </a:r>
                <a:r>
                  <a:rPr lang="en-US" altLang="zh-TW" sz="2200" dirty="0" smtClean="0"/>
                  <a:t>(white noise)</a:t>
                </a:r>
                <a:endParaRPr lang="zh-TW" altLang="en-US" sz="22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98" y="2890794"/>
                <a:ext cx="4689986" cy="2123658"/>
              </a:xfrm>
              <a:prstGeom prst="rect">
                <a:avLst/>
              </a:prstGeom>
              <a:blipFill rotWithShape="1">
                <a:blip r:embed="rId3"/>
                <a:stretch>
                  <a:fillRect l="-1691" t="-1719" r="-3251" b="-48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707625" y="2915374"/>
                <a:ext cx="6022257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b="1" dirty="0" smtClean="0"/>
                  <a:t>y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</a:t>
                </a:r>
                <a:r>
                  <a:rPr lang="zh-TW" altLang="en-US" sz="2200" dirty="0" smtClean="0"/>
                  <a:t>在時間</a:t>
                </a:r>
                <a:r>
                  <a:rPr lang="en-US" altLang="zh-TW" sz="2200" dirty="0" smtClean="0"/>
                  <a:t>k</a:t>
                </a:r>
                <a:r>
                  <a:rPr lang="zh-TW" altLang="en-US" sz="2200" dirty="0" smtClean="0"/>
                  <a:t>時的</a:t>
                </a:r>
                <a:r>
                  <a:rPr lang="zh-TW" altLang="en-US" sz="2200" dirty="0" smtClean="0">
                    <a:solidFill>
                      <a:srgbClr val="FF0000"/>
                    </a:solidFill>
                  </a:rPr>
                  <a:t>量測值</a:t>
                </a:r>
                <a:r>
                  <a:rPr lang="en-US" altLang="zh-TW" sz="2200" dirty="0" smtClean="0">
                    <a:solidFill>
                      <a:srgbClr val="FF0000"/>
                    </a:solidFill>
                  </a:rPr>
                  <a:t>(</a:t>
                </a:r>
                <a:r>
                  <a:rPr lang="zh-TW" altLang="en-US" sz="2200" dirty="0" smtClean="0">
                    <a:solidFill>
                      <a:srgbClr val="FF0000"/>
                    </a:solidFill>
                  </a:rPr>
                  <a:t>觀測值</a:t>
                </a:r>
                <a:r>
                  <a:rPr lang="en-US" altLang="zh-TW" sz="2200" dirty="0" smtClean="0">
                    <a:solidFill>
                      <a:srgbClr val="FF0000"/>
                    </a:solidFill>
                  </a:rPr>
                  <a:t>)</a:t>
                </a:r>
                <a:endParaRPr lang="en-US" altLang="zh-TW" sz="2200" dirty="0" smtClean="0"/>
              </a:p>
              <a:p>
                <a:r>
                  <a:rPr lang="en-US" altLang="zh-TW" sz="2200" b="1" dirty="0" err="1" smtClean="0"/>
                  <a:t>H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</a:t>
                </a:r>
                <a:r>
                  <a:rPr lang="zh-TW" altLang="en-US" sz="2200" dirty="0" smtClean="0"/>
                  <a:t>時間</a:t>
                </a:r>
                <a:r>
                  <a:rPr lang="en-US" altLang="zh-TW" sz="2200" dirty="0" smtClean="0"/>
                  <a:t>k</a:t>
                </a:r>
                <a:r>
                  <a:rPr lang="zh-TW" altLang="en-US" sz="2200" dirty="0" smtClean="0"/>
                  <a:t>時的狀態</a:t>
                </a:r>
                <a:r>
                  <a:rPr lang="en-US" altLang="zh-TW" sz="2200" dirty="0" smtClean="0"/>
                  <a:t>-</a:t>
                </a:r>
                <a:r>
                  <a:rPr lang="zh-TW" altLang="en-US" sz="2200" dirty="0" smtClean="0"/>
                  <a:t>量測值轉移矩陣</a:t>
                </a:r>
                <a:endParaRPr lang="en-US" altLang="zh-TW" sz="2200" dirty="0" smtClean="0"/>
              </a:p>
              <a:p>
                <a:r>
                  <a:rPr lang="en-US" altLang="zh-TW" sz="2200" b="1" dirty="0" err="1" smtClean="0"/>
                  <a:t>v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: measurement noise~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/>
                      </a:rPr>
                      <m:t>𝑁</m:t>
                    </m:r>
                    <m:r>
                      <a:rPr lang="en-US" altLang="zh-TW" sz="2200" b="0" i="1" smtClean="0">
                        <a:latin typeface="Cambria Math"/>
                      </a:rPr>
                      <m:t>(0, 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𝑹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sz="2200" dirty="0" smtClean="0"/>
                  <a:t> </a:t>
                </a:r>
                <a:r>
                  <a:rPr lang="en-US" altLang="zh-TW" sz="2200" dirty="0" smtClean="0"/>
                  <a:t>(white noise)</a:t>
                </a:r>
                <a:endParaRPr lang="zh-TW" altLang="en-US" sz="22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625" y="2915374"/>
                <a:ext cx="6022257" cy="1446550"/>
              </a:xfrm>
              <a:prstGeom prst="rect">
                <a:avLst/>
              </a:prstGeom>
              <a:blipFill rotWithShape="1">
                <a:blip r:embed="rId4"/>
                <a:stretch>
                  <a:fillRect l="-1215" t="-2521" b="-75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1789471" y="5014452"/>
            <a:ext cx="8554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/>
              <a:t>系統在狀態轉移時會受到系統雜訊</a:t>
            </a:r>
            <a:r>
              <a:rPr lang="en-US" altLang="zh-TW" sz="2400" dirty="0" smtClean="0"/>
              <a:t>(</a:t>
            </a:r>
            <a:r>
              <a:rPr lang="en-US" altLang="zh-TW" sz="2400" b="1" dirty="0" err="1" smtClean="0"/>
              <a:t>w</a:t>
            </a:r>
            <a:r>
              <a:rPr lang="en-US" altLang="zh-TW" sz="2400" b="1" baseline="-25000" dirty="0" err="1" smtClean="0"/>
              <a:t>k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的影響。</a:t>
            </a:r>
            <a:endParaRPr lang="en-US" altLang="zh-TW" sz="2400" dirty="0" smtClean="0"/>
          </a:p>
          <a:p>
            <a:r>
              <a:rPr lang="zh-TW" altLang="en-US" sz="2400" dirty="0" smtClean="0"/>
              <a:t>量測資料時，也會受到量測誤差</a:t>
            </a:r>
            <a:r>
              <a:rPr lang="en-US" altLang="zh-TW" sz="2400" dirty="0" smtClean="0"/>
              <a:t>(</a:t>
            </a:r>
            <a:r>
              <a:rPr lang="en-US" altLang="zh-TW" sz="2400" b="1" dirty="0" err="1" smtClean="0"/>
              <a:t>v</a:t>
            </a:r>
            <a:r>
              <a:rPr lang="en-US" altLang="zh-TW" sz="2400" b="1" baseline="-25000" dirty="0" err="1" smtClean="0"/>
              <a:t>k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的影響。</a:t>
            </a:r>
            <a:endParaRPr lang="en-US" altLang="zh-TW" sz="2400" dirty="0" smtClean="0"/>
          </a:p>
          <a:p>
            <a:r>
              <a:rPr lang="en-US" altLang="zh-TW" sz="2400" dirty="0" smtClean="0">
                <a:solidFill>
                  <a:srgbClr val="FF0000"/>
                </a:solidFill>
              </a:rPr>
              <a:t>Goal: </a:t>
            </a:r>
            <a:r>
              <a:rPr lang="zh-TW" altLang="en-US" sz="2400" dirty="0" smtClean="0">
                <a:solidFill>
                  <a:srgbClr val="FF0000"/>
                </a:solidFill>
              </a:rPr>
              <a:t>如何估計出系統真正的狀態</a:t>
            </a:r>
            <a:r>
              <a:rPr lang="en-US" altLang="zh-TW" sz="2400" b="1" dirty="0" err="1" smtClean="0">
                <a:solidFill>
                  <a:srgbClr val="FF0000"/>
                </a:solidFill>
              </a:rPr>
              <a:t>x</a:t>
            </a:r>
            <a:r>
              <a:rPr lang="en-US" altLang="zh-TW" sz="2400" b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TW" sz="2400" dirty="0" smtClean="0">
                <a:solidFill>
                  <a:srgbClr val="FF0000"/>
                </a:solidFill>
              </a:rPr>
              <a:t>, k=12,…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87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Kalman</a:t>
            </a:r>
            <a:r>
              <a:rPr lang="en-US" altLang="zh-TW" dirty="0" smtClean="0"/>
              <a:t> filter (1)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28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03122" y="1897626"/>
                <a:ext cx="4670323" cy="4143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dirty="0" smtClean="0"/>
                  <a:t>假設</a:t>
                </a:r>
                <a:r>
                  <a:rPr lang="en-US" altLang="zh-TW" sz="2400" dirty="0" smtClean="0"/>
                  <a:t>system noise, measurement noise</a:t>
                </a:r>
                <a:r>
                  <a:rPr lang="zh-TW" altLang="en-US" sz="2400" dirty="0" smtClean="0"/>
                  <a:t>為</a:t>
                </a:r>
                <a:r>
                  <a:rPr lang="en-US" altLang="zh-TW" sz="2400" dirty="0" smtClean="0"/>
                  <a:t>white noise</a:t>
                </a:r>
                <a:r>
                  <a:rPr lang="zh-TW" altLang="en-US" sz="2400" dirty="0" smtClean="0"/>
                  <a:t>，且互相獨立</a:t>
                </a:r>
                <a:r>
                  <a:rPr lang="en-US" altLang="zh-TW" sz="2400" dirty="0" smtClean="0"/>
                  <a:t>, i.e.</a:t>
                </a:r>
              </a:p>
              <a:p>
                <a:endParaRPr lang="en-US" altLang="zh-TW" sz="2400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𝑻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>
                                        <a:latin typeface="Cambria Math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1" i="1" smtClean="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𝑖𝑓𝑖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≠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en-US" altLang="zh-TW" sz="2400" b="0" i="1" dirty="0" smtClean="0">
                  <a:latin typeface="Cambria Math"/>
                </a:endParaRPr>
              </a:p>
              <a:p>
                <a:pPr algn="ctr"/>
                <a:endParaRPr lang="en-US" altLang="zh-TW" sz="2400" b="0" i="1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400" b="1" i="1"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TW" sz="2400" b="1" i="1">
                                  <a:latin typeface="Cambria Math"/>
                                </a:rPr>
                                <m:t>𝑻</m:t>
                              </m:r>
                            </m:sup>
                          </m:sSubSup>
                        </m:e>
                      </m:d>
                      <m:r>
                        <a:rPr lang="en-US" altLang="zh-TW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40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sz="2400" b="1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altLang="zh-TW" sz="2400" b="1" i="1">
                                        <a:latin typeface="Cambria Math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1" i="1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𝑖𝑓𝑖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≠</m:t>
                                </m:r>
                                <m:r>
                                  <a:rPr lang="en-US" altLang="zh-TW" sz="2400" i="1"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en-US" altLang="zh-TW" sz="2400" b="0" i="1" dirty="0" smtClean="0">
                  <a:latin typeface="Cambria Math"/>
                </a:endParaRPr>
              </a:p>
              <a:p>
                <a:pPr algn="ctr"/>
                <a:endParaRPr lang="en-US" altLang="zh-TW" sz="2400" b="0" i="1" dirty="0" smtClean="0"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sz="2400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altLang="zh-TW" sz="2400" b="1" i="1" smtClean="0">
                                  <a:latin typeface="Cambria Math"/>
                                </a:rPr>
                                <m:t>𝑻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4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 ∀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𝑘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, 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altLang="zh-TW" sz="2400" dirty="0" smtClean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2" y="1897626"/>
                <a:ext cx="4670323" cy="4143378"/>
              </a:xfrm>
              <a:prstGeom prst="rect">
                <a:avLst/>
              </a:prstGeom>
              <a:blipFill rotWithShape="1">
                <a:blip r:embed="rId2"/>
                <a:stretch>
                  <a:fillRect l="-1958" t="-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279922" y="2005781"/>
                <a:ext cx="6371303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200" dirty="0" smtClean="0"/>
                  <a:t>如果在時間</a:t>
                </a:r>
                <a:r>
                  <a:rPr lang="en-US" altLang="zh-TW" sz="2200" dirty="0" smtClean="0"/>
                  <a:t>k</a:t>
                </a:r>
                <a:r>
                  <a:rPr lang="zh-TW" altLang="en-US" sz="2200" dirty="0" smtClean="0"/>
                  <a:t>之間</a:t>
                </a:r>
                <a:r>
                  <a:rPr lang="en-US" altLang="zh-TW" sz="2200" dirty="0" smtClean="0"/>
                  <a:t>(</a:t>
                </a:r>
                <a:r>
                  <a:rPr lang="zh-TW" altLang="en-US" sz="2200" dirty="0" smtClean="0"/>
                  <a:t>尚未得到時間</a:t>
                </a:r>
                <a:r>
                  <a:rPr lang="en-US" altLang="zh-TW" sz="2200" dirty="0" smtClean="0"/>
                  <a:t>k</a:t>
                </a:r>
                <a:r>
                  <a:rPr lang="zh-TW" altLang="en-US" sz="2200" dirty="0" smtClean="0"/>
                  <a:t>之量測值</a:t>
                </a:r>
                <a:r>
                  <a:rPr lang="en-US" altLang="zh-TW" sz="2200" b="1" dirty="0" err="1" smtClean="0"/>
                  <a:t>y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en-US" altLang="zh-TW" sz="2200" dirty="0" smtClean="0"/>
                  <a:t>)</a:t>
                </a:r>
                <a:r>
                  <a:rPr lang="zh-TW" altLang="en-US" sz="2200" dirty="0" smtClean="0"/>
                  <a:t>，此時所估計</a:t>
                </a:r>
                <a:r>
                  <a:rPr lang="en-US" altLang="zh-TW" sz="2200" dirty="0" smtClean="0"/>
                  <a:t>(</a:t>
                </a:r>
                <a:r>
                  <a:rPr lang="zh-TW" altLang="en-US" sz="2200" dirty="0" smtClean="0"/>
                  <a:t>預測</a:t>
                </a:r>
                <a:r>
                  <a:rPr lang="en-US" altLang="zh-TW" sz="2200" dirty="0" smtClean="0"/>
                  <a:t>)</a:t>
                </a:r>
                <a:r>
                  <a:rPr lang="zh-TW" altLang="en-US" sz="2200" dirty="0" smtClean="0"/>
                  <a:t>的狀態，稱為</a:t>
                </a:r>
                <a:r>
                  <a:rPr lang="en-US" altLang="zh-TW" sz="2200" dirty="0" smtClean="0"/>
                  <a:t>priori state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b="1" i="1" dirty="0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TW" sz="2200" b="1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200" b="1" i="1"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TW" sz="2200" b="1" i="1" dirty="0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sz="2200" b="1" i="1" dirty="0"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altLang="zh-TW" sz="2200" b="0" i="1" dirty="0" smtClean="0">
                          <a:latin typeface="Cambria Math"/>
                        </a:rPr>
                        <m:t>=</m:t>
                      </m:r>
                      <m:r>
                        <a:rPr lang="en-US" altLang="zh-TW" sz="2200" b="0" i="1" dirty="0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200" b="0" i="1" dirty="0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200" b="1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TW" sz="2200" b="0" i="1" dirty="0" smtClean="0"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200" b="1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200" b="1" i="1" dirty="0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1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200" b="1" i="1" dirty="0" smtClean="0">
                              <a:latin typeface="Cambria Math"/>
                            </a:rPr>
                            <m:t>,….</m:t>
                          </m:r>
                          <m:sSub>
                            <m:sSubPr>
                              <m:ctrlPr>
                                <a:rPr lang="en-US" altLang="zh-TW" sz="2200" b="1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200" b="1" i="1" dirty="0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200" dirty="0"/>
              </a:p>
              <a:p>
                <a:endParaRPr lang="en-US" altLang="zh-TW" sz="2200" dirty="0" smtClean="0"/>
              </a:p>
              <a:p>
                <a:endParaRPr lang="en-US" altLang="zh-TW" sz="2200" dirty="0"/>
              </a:p>
              <a:p>
                <a:r>
                  <a:rPr lang="zh-TW" altLang="en-US" sz="2200" dirty="0" smtClean="0"/>
                  <a:t>如果已知時間</a:t>
                </a:r>
                <a:r>
                  <a:rPr lang="en-US" altLang="zh-TW" sz="2200" dirty="0"/>
                  <a:t>k</a:t>
                </a:r>
                <a:r>
                  <a:rPr lang="zh-TW" altLang="en-US" sz="2200" dirty="0"/>
                  <a:t>之量測值</a:t>
                </a:r>
                <a:r>
                  <a:rPr lang="en-US" altLang="zh-TW" sz="2200" b="1" dirty="0" err="1" smtClean="0"/>
                  <a:t>y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zh-TW" altLang="en-US" sz="2200" dirty="0" smtClean="0"/>
                  <a:t>，</a:t>
                </a:r>
                <a:r>
                  <a:rPr lang="zh-TW" altLang="en-US" sz="2200" dirty="0"/>
                  <a:t>此時所</a:t>
                </a:r>
                <a:r>
                  <a:rPr lang="zh-TW" altLang="en-US" sz="2200" dirty="0" smtClean="0"/>
                  <a:t>估計的</a:t>
                </a:r>
                <a:r>
                  <a:rPr lang="zh-TW" altLang="en-US" sz="2200" dirty="0"/>
                  <a:t>狀態，稱為</a:t>
                </a:r>
                <a:r>
                  <a:rPr lang="en-US" altLang="zh-TW" sz="2200" dirty="0" err="1" smtClean="0"/>
                  <a:t>posterori</a:t>
                </a:r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state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i="1" dirty="0"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TW" sz="22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sz="2200" i="1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sz="2200" i="1" dirty="0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altLang="zh-TW" sz="2200" b="0" i="1" dirty="0" smtClean="0"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a:rPr lang="en-US" altLang="zh-TW" sz="2200" i="1" dirty="0">
                          <a:latin typeface="Cambria Math"/>
                        </a:rPr>
                        <m:t>=</m:t>
                      </m:r>
                      <m:r>
                        <a:rPr lang="en-US" altLang="zh-TW" sz="2200" i="1" dirty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2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200" b="1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TW" sz="2200" i="1" dirty="0">
                              <a:latin typeface="Cambria Math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200" b="1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200" b="1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1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200" b="1" i="1" dirty="0">
                              <a:latin typeface="Cambria Math"/>
                            </a:rPr>
                            <m:t>,….</m:t>
                          </m:r>
                          <m:sSub>
                            <m:sSubPr>
                              <m:ctrlPr>
                                <a:rPr lang="en-US" altLang="zh-TW" sz="2200" b="1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sz="2200" b="1" i="1" dirty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200" b="1" i="1" dirty="0" smtClean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200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200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TW" sz="2200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200" dirty="0"/>
              </a:p>
              <a:p>
                <a:endParaRPr lang="zh-TW" altLang="en-US" sz="2200" dirty="0"/>
              </a:p>
              <a:p>
                <a:endParaRPr lang="zh-TW" altLang="en-US" sz="22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922" y="2005781"/>
                <a:ext cx="6371303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1148" t="-1051" r="-5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400799" y="722950"/>
                <a:ext cx="525042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~</m:t>
                    </m:r>
                    <m:r>
                      <a:rPr lang="en-US" altLang="zh-TW" sz="2200" b="1" i="1" smtClean="0">
                        <a:latin typeface="Cambria Math"/>
                      </a:rPr>
                      <m:t>𝑵</m:t>
                    </m:r>
                    <m:r>
                      <a:rPr lang="en-US" altLang="zh-TW" sz="2200" b="1" i="1" smtClean="0">
                        <a:latin typeface="Cambria Math"/>
                      </a:rPr>
                      <m:t>(</m:t>
                    </m:r>
                    <m:r>
                      <a:rPr lang="en-US" altLang="zh-TW" sz="2200" b="1" i="1" smtClean="0">
                        <a:latin typeface="Cambria Math"/>
                      </a:rPr>
                      <m:t>𝟎</m:t>
                    </m:r>
                    <m:r>
                      <a:rPr lang="en-US" altLang="zh-TW" sz="2200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𝑸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200" b="1" dirty="0" smtClean="0"/>
                  <a:t>  </a:t>
                </a:r>
                <a:endParaRPr lang="en-US" altLang="zh-TW" sz="2200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~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𝑵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(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9" y="722950"/>
                <a:ext cx="5250426" cy="769441"/>
              </a:xfrm>
              <a:prstGeom prst="rect">
                <a:avLst/>
              </a:prstGeom>
              <a:blipFill rotWithShape="1">
                <a:blip r:embed="rId4"/>
                <a:stretch>
                  <a:fillRect l="-11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59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Kalman</a:t>
            </a:r>
            <a:r>
              <a:rPr lang="en-US" altLang="zh-TW" dirty="0"/>
              <a:t> </a:t>
            </a:r>
            <a:r>
              <a:rPr lang="en-US" altLang="zh-TW" dirty="0" smtClean="0"/>
              <a:t>filter (2) 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29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469627" y="695772"/>
                <a:ext cx="525042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~</m:t>
                    </m:r>
                    <m:r>
                      <a:rPr lang="en-US" altLang="zh-TW" sz="2200" b="1" i="1" smtClean="0">
                        <a:latin typeface="Cambria Math"/>
                      </a:rPr>
                      <m:t>𝑵</m:t>
                    </m:r>
                    <m:r>
                      <a:rPr lang="en-US" altLang="zh-TW" sz="2200" b="1" i="1" smtClean="0">
                        <a:latin typeface="Cambria Math"/>
                      </a:rPr>
                      <m:t>(</m:t>
                    </m:r>
                    <m:r>
                      <a:rPr lang="en-US" altLang="zh-TW" sz="2200" b="1" i="1" smtClean="0">
                        <a:latin typeface="Cambria Math"/>
                      </a:rPr>
                      <m:t>𝟎</m:t>
                    </m:r>
                    <m:r>
                      <a:rPr lang="en-US" altLang="zh-TW" sz="2200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𝑸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200" b="1" dirty="0" smtClean="0"/>
                  <a:t>  </a:t>
                </a:r>
                <a:endParaRPr lang="en-US" altLang="zh-TW" sz="2200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~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𝑵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(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627" y="695772"/>
                <a:ext cx="5250426" cy="769441"/>
              </a:xfrm>
              <a:prstGeom prst="rect">
                <a:avLst/>
              </a:prstGeom>
              <a:blipFill rotWithShape="1">
                <a:blip r:embed="rId2"/>
                <a:stretch>
                  <a:fillRect l="-11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373627" y="1936955"/>
                <a:ext cx="6096000" cy="4727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200" dirty="0" smtClean="0"/>
                  <a:t>priori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 dirty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dirty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dirty="0">
                            <a:latin typeface="Cambria Math"/>
                          </a:rPr>
                          <m:t>−</m:t>
                        </m:r>
                      </m:sup>
                    </m:sSubSup>
                    <m:r>
                      <a:rPr lang="en-US" altLang="zh-TW" sz="2200" b="0" i="1" dirty="0" smtClean="0">
                        <a:latin typeface="Cambria Math"/>
                      </a:rPr>
                      <m:t>=</m:t>
                    </m:r>
                    <m:r>
                      <a:rPr lang="en-US" altLang="zh-TW" sz="2200" b="0" i="1" dirty="0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200" b="0" i="1" dirty="0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1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TW" sz="2200" b="0" i="1" dirty="0" smtClean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sz="2200" b="1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TW" sz="2200" b="1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b="1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TW" sz="2200" b="1" i="1" dirty="0" smtClean="0">
                            <a:latin typeface="Cambria Math"/>
                          </a:rPr>
                          <m:t>,….</m:t>
                        </m:r>
                        <m:sSub>
                          <m:sSubPr>
                            <m:ctrlPr>
                              <a:rPr lang="en-US" altLang="zh-TW" sz="2200" b="1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sz="2200" b="1" i="1" dirty="0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200" dirty="0"/>
              </a:p>
              <a:p>
                <a:r>
                  <a:rPr lang="en-US" altLang="zh-TW" sz="2200" dirty="0" err="1" smtClean="0"/>
                  <a:t>posterori</a:t>
                </a:r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state</a:t>
                </a:r>
                <a14:m>
                  <m:oMath xmlns:m="http://schemas.openxmlformats.org/officeDocument/2006/math">
                    <m:r>
                      <a:rPr lang="en-US" altLang="zh-TW" sz="2200" b="0" i="0" dirty="0" smtClean="0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altLang="zh-TW" sz="2200" i="1" dirty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i="1"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200" i="1" dirty="0">
                            <a:latin typeface="Cambria Math"/>
                          </a:rPr>
                          <m:t>𝑘</m:t>
                        </m:r>
                      </m:sub>
                      <m:sup>
                        <m:r>
                          <a:rPr lang="en-US" altLang="zh-TW" sz="2200" b="0" i="1" dirty="0" smtClean="0"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en-US" altLang="zh-TW" sz="2200" i="1" dirty="0">
                        <a:latin typeface="Cambria Math"/>
                      </a:rPr>
                      <m:t>=</m:t>
                    </m:r>
                    <m:r>
                      <a:rPr lang="en-US" altLang="zh-TW" sz="2200" i="1" dirty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altLang="zh-TW" sz="22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1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>
                                <a:latin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TW" sz="2200" b="1" i="1" dirty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TW" sz="2200" i="1" dirty="0">
                            <a:latin typeface="Cambria Math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sz="2200" b="1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TW" sz="2200" b="1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b="1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TW" sz="2200" b="1" i="1" dirty="0">
                            <a:latin typeface="Cambria Math"/>
                          </a:rPr>
                          <m:t>,….</m:t>
                        </m:r>
                        <m:sSub>
                          <m:sSubPr>
                            <m:ctrlPr>
                              <a:rPr lang="en-US" altLang="zh-TW" sz="2200" b="1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TW" sz="2200" b="1" i="1" dirty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sz="2200" b="1" i="1" dirty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TW" sz="2200" b="1" i="1" dirty="0" smtClean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sz="22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TW" sz="22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200" dirty="0" smtClean="0"/>
              </a:p>
              <a:p>
                <a:endParaRPr lang="en-US" altLang="zh-TW" sz="2200" dirty="0"/>
              </a:p>
              <a:p>
                <a:r>
                  <a:rPr lang="zh-TW" altLang="en-US" sz="2200" dirty="0" smtClean="0"/>
                  <a:t>定義</a:t>
                </a:r>
                <a:endParaRPr lang="en-US" altLang="zh-TW" sz="2200" dirty="0" smtClean="0"/>
              </a:p>
              <a:p>
                <a:r>
                  <a:rPr lang="en-US" altLang="zh-TW" sz="2200" dirty="0" smtClean="0"/>
                  <a:t>priori estimate error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−</m:t>
                        </m:r>
                      </m:sup>
                    </m:sSubSup>
                    <m:r>
                      <a:rPr lang="en-US" altLang="zh-TW" sz="2200" b="0" i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0" smtClean="0">
                            <a:latin typeface="Cambria Math"/>
                          </a:rPr>
                          <m:t>𝐱</m:t>
                        </m:r>
                      </m:e>
                      <m:sub>
                        <m:r>
                          <a:rPr lang="en-US" altLang="zh-TW" sz="2200" b="1" i="0" smtClean="0">
                            <a:latin typeface="Cambria Math"/>
                          </a:rPr>
                          <m:t>𝐤</m:t>
                        </m:r>
                      </m:sub>
                    </m:sSub>
                    <m:r>
                      <a:rPr lang="en-US" altLang="zh-TW" sz="2200" b="0" i="0" smtClean="0">
                        <a:latin typeface="Cambria Math"/>
                      </a:rPr>
                      <m:t>−</m:t>
                    </m:r>
                    <m:sSubSup>
                      <m:sSubSup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 smtClean="0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endParaRPr lang="en-US" altLang="zh-TW" sz="2200" b="1" dirty="0" smtClean="0"/>
              </a:p>
              <a:p>
                <a:r>
                  <a:rPr lang="en-US" altLang="zh-TW" sz="2200" dirty="0" err="1" smtClean="0"/>
                  <a:t>Posterori</a:t>
                </a:r>
                <a:r>
                  <a:rPr lang="en-US" altLang="zh-TW" sz="2200" dirty="0" smtClean="0"/>
                  <a:t> estimate error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>
                            <a:latin typeface="Cambria Math"/>
                          </a:rPr>
                          <m:t>𝒆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en-US" altLang="zh-TW" sz="22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>
                        <a:latin typeface="Cambria Math"/>
                      </a:rPr>
                      <m:t>−</m:t>
                    </m:r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+</m:t>
                        </m:r>
                      </m:sup>
                    </m:sSubSup>
                  </m:oMath>
                </a14:m>
                <a:endParaRPr lang="en-US" altLang="zh-TW" sz="2200" b="1" dirty="0" smtClean="0"/>
              </a:p>
              <a:p>
                <a:endParaRPr lang="en-US" altLang="zh-TW" sz="2200" dirty="0" smtClean="0"/>
              </a:p>
              <a:p>
                <a:r>
                  <a:rPr lang="en-US" altLang="zh-TW" sz="2200" dirty="0" err="1" smtClean="0">
                    <a:solidFill>
                      <a:srgbClr val="FF0000"/>
                    </a:solidFill>
                  </a:rPr>
                  <a:t>Convariance</a:t>
                </a:r>
                <a:r>
                  <a:rPr lang="en-US" altLang="zh-TW" sz="2200" dirty="0" smtClean="0">
                    <a:solidFill>
                      <a:srgbClr val="FF0000"/>
                    </a:solidFill>
                  </a:rPr>
                  <a:t>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sz="2200" b="1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altLang="zh-TW" sz="2200" b="0" i="1" smtClean="0">
                          <a:latin typeface="Cambria Math"/>
                        </a:rPr>
                        <m:t>=</m:t>
                      </m:r>
                      <m:r>
                        <a:rPr lang="en-US" altLang="zh-TW" sz="22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200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200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200" b="1" i="1" smtClean="0">
                                  <a:latin typeface="Cambria Math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TW" sz="22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TW" sz="2200" b="1" i="1" smtClean="0"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TW" sz="2200" b="1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zh-TW" sz="2200" b="1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200" b="1" i="1" smtClean="0">
                                      <a:latin typeface="Cambria Math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altLang="zh-TW" sz="2200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sz="2200" b="1" i="1" smtClean="0">
                                      <a:latin typeface="Cambria Math"/>
                                    </a:rPr>
                                    <m:t>−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zh-TW" sz="2200" b="1" i="1" smtClean="0">
                                  <a:latin typeface="Cambria Math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sz="2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sz="2200" b="1" i="1" smtClean="0"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r>
                        <a:rPr lang="en-US" altLang="zh-TW" sz="2200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sz="2200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2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sz="2200" b="1" i="1">
                                  <a:latin typeface="Cambria Math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TW" sz="2200" b="1" i="1">
                                  <a:latin typeface="Cambria Math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TW" sz="2200" b="1" i="1" smtClean="0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TW" sz="2200" b="1" i="1">
                                  <a:latin typeface="Cambria Math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zh-TW" sz="2200" b="1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200" b="1" i="1">
                                      <a:latin typeface="Cambria Math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altLang="zh-TW" sz="2200" b="1" i="1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sz="2200" b="1" i="1" smtClean="0">
                                      <a:latin typeface="Cambria Math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zh-TW" sz="2200" b="1" i="1">
                                  <a:latin typeface="Cambria Math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sz="2200" dirty="0"/>
              </a:p>
              <a:p>
                <a:endParaRPr lang="en-US" altLang="zh-TW" sz="2200" dirty="0"/>
              </a:p>
              <a:p>
                <a:endParaRPr lang="zh-TW" altLang="en-US" sz="2200" dirty="0"/>
              </a:p>
              <a:p>
                <a:endParaRPr lang="zh-TW" altLang="en-US" sz="22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7" y="1936955"/>
                <a:ext cx="6096000" cy="4727513"/>
              </a:xfrm>
              <a:prstGeom prst="rect">
                <a:avLst/>
              </a:prstGeom>
              <a:blipFill rotWithShape="1">
                <a:blip r:embed="rId3"/>
                <a:stretch>
                  <a:fillRect l="-1200" t="-6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469626" y="1936955"/>
                <a:ext cx="5466735" cy="4146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Kalman filter</a:t>
                </a:r>
                <a:r>
                  <a:rPr lang="zh-TW" altLang="en-US" dirty="0" smtClean="0"/>
                  <a:t>使用</a:t>
                </a:r>
                <a:r>
                  <a:rPr lang="en-US" altLang="zh-TW" dirty="0" smtClean="0"/>
                  <a:t>measurement</a:t>
                </a:r>
                <a:r>
                  <a:rPr lang="zh-TW" altLang="en-US" dirty="0" smtClean="0"/>
                  <a:t>修正</a:t>
                </a:r>
                <a:r>
                  <a:rPr lang="en-US" altLang="zh-TW" dirty="0" smtClean="0"/>
                  <a:t>priori state: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TW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TW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zh-TW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TW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e>
                          </m:acc>
                        </m:e>
                        <m:sub>
                          <m:r>
                            <a:rPr lang="en-US" altLang="zh-TW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altLang="zh-TW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TW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TW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TW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TW" b="1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TW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e>
                      </m:d>
                      <m:r>
                        <a:rPr lang="en-US" altLang="zh-TW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,  </m:t>
                      </m:r>
                      <m:sSub>
                        <m:sSubPr>
                          <m:ctrlPr>
                            <a:rPr lang="en-US" altLang="zh-TW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zh-TW" altLang="en-US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為未知的參數</m:t>
                      </m:r>
                    </m:oMath>
                  </m:oMathPara>
                </a14:m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∵</m:t>
                      </m:r>
                      <m:sSubSup>
                        <m:sSubSupPr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r>
                        <a:rPr lang="en-US" altLang="zh-TW" i="1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>
                                  <a:latin typeface="Cambria Math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TW" b="1" i="1">
                                  <a:latin typeface="Cambria Math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1" i="1">
                                      <a:latin typeface="Cambria Math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b="1" i="1">
                                      <a:latin typeface="Cambria Math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en-US" altLang="zh-TW" b="1" i="1">
                                  <a:latin typeface="Cambria Math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altLang="zh-TW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E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zh-TW" b="1" i="1" smtClean="0"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</m:d>
                          <m:d>
                            <m:dPr>
                              <m:ctrlPr>
                                <a:rPr lang="en-US" altLang="zh-TW" b="1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TW" b="1" i="1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zh-TW" b="1" i="1">
                                  <a:latin typeface="Cambria Math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TW" b="1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b="1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1" i="1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b="1" i="1" smtClean="0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1" i="1" smtClean="0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  <m:sup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𝑯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1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𝑯</m:t>
                                      </m:r>
                                    </m:e>
                                    <m:sub>
                                      <m:r>
                                        <a:rPr lang="en-US" altLang="zh-TW" b="1" i="1" smtClean="0">
                                          <a:latin typeface="Cambria Math"/>
                                        </a:rPr>
                                        <m:t>𝑲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altLang="zh-TW" b="1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  <m:sup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−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b="1" i="1">
                                                  <a:latin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b="1" i="1">
                                                  <a:latin typeface="Cambria Math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1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𝑲</m:t>
                                      </m:r>
                                    </m:e>
                                    <m:sub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𝑯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r>
                                        <a:rPr lang="en-US" altLang="zh-TW" b="1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𝑯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𝑲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altLang="zh-TW" b="1" i="1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altLang="zh-TW" b="1" i="1">
                                                  <a:latin typeface="Cambria Math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b="1" i="1">
                                                  <a:latin typeface="Cambria Math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𝒌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b="1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∵</m:t>
                      </m:r>
                      <m:r>
                        <a:rPr lang="en-US" altLang="zh-TW" b="0" i="1" smtClean="0">
                          <a:latin typeface="Cambria Math"/>
                        </a:rPr>
                        <m:t>𝑝𝑟𝑖𝑜𝑟𝑖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𝑒𝑠𝑡𝑖𝑚𝑎𝑡𝑒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𝑒𝑟𝑟𝑜𝑟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𝒆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zh-TW" altLang="en-US" b="0" i="1" smtClean="0">
                          <a:latin typeface="Cambria Math"/>
                        </a:rPr>
                        <m:t>與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zh-TW" altLang="en-US" b="0" i="1" smtClean="0">
                          <a:latin typeface="Cambria Math"/>
                        </a:rPr>
                        <m:t>不相關</m:t>
                      </m:r>
                    </m:oMath>
                  </m:oMathPara>
                </a14:m>
                <a:endParaRPr lang="en-US" altLang="zh-TW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∴</m:t>
                      </m:r>
                      <m:sSubSup>
                        <m:sSubSupPr>
                          <m:ctrlPr>
                            <a:rPr lang="en-US" altLang="zh-TW" b="1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a:rPr lang="en-US" altLang="zh-TW" b="1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</a:rPr>
                        <m:t>𝑷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</m:sup>
                      </m:sSup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bSup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bSup>
                      <m:r>
                        <a:rPr lang="en-US" altLang="zh-TW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sub>
                      </m:sSub>
                      <m:d>
                        <m:d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𝑲</m:t>
                              </m:r>
                            </m:sub>
                            <m:sup>
                              <m:r>
                                <a:rPr lang="en-US" altLang="zh-TW" b="1" i="1" smtClean="0"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𝑲</m:t>
                              </m:r>
                            </m:sub>
                            <m:sup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𝑻</m:t>
                              </m:r>
                            </m:sup>
                          </m:sSubSup>
                          <m:r>
                            <a:rPr lang="en-US" altLang="zh-TW" b="1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  <a:endParaRPr lang="en-US" altLang="zh-TW" dirty="0" smtClean="0"/>
              </a:p>
              <a:p>
                <a:r>
                  <a:rPr lang="en-US" altLang="zh-TW" dirty="0" smtClean="0"/>
                  <a:t>By linear algebra: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𝑎𝑟𝑔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i="0" smtClean="0">
                                  <a:latin typeface="Cambria Math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𝑲</m:t>
                              </m:r>
                            </m:sub>
                            <m:sup>
                              <m:r>
                                <a:rPr lang="en-US" altLang="zh-TW" b="1" i="1" smtClean="0">
                                  <a:latin typeface="Cambria Math"/>
                                </a:rPr>
                                <m:t>+</m:t>
                              </m:r>
                            </m:sup>
                          </m:sSubSup>
                        </m:e>
                      </m:fun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𝑲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</m:sup>
                      </m:sSubSup>
                      <m:sSubSup>
                        <m:sSub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</m:sub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𝑻</m:t>
                          </m:r>
                        </m:sup>
                      </m:sSubSup>
                      <m:sSup>
                        <m:sSupPr>
                          <m:ctrlPr>
                            <a:rPr lang="en-US" altLang="zh-TW" b="1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1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−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  <m:sup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𝑻</m:t>
                                  </m:r>
                                </m:sup>
                              </m:sSubSup>
                              <m:r>
                                <a:rPr lang="en-US" altLang="zh-TW" b="1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b="1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altLang="zh-TW" b="1" dirty="0" smtClean="0"/>
              </a:p>
              <a:p>
                <a:r>
                  <a:rPr lang="zh-TW" altLang="en-US" dirty="0" smtClean="0"/>
                  <a:t>代回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b="1" i="1" smtClean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b="1" i="1" smtClean="0"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zh-TW" altLang="en-US" b="0" i="1" smtClean="0">
                        <a:latin typeface="Cambria Math"/>
                      </a:rPr>
                      <m:t>可得</m:t>
                    </m:r>
                    <m:sSubSup>
                      <m:sSubSupPr>
                        <m:ctrlPr>
                          <a:rPr lang="en-US" altLang="zh-TW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b="1" i="1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b="1" i="1"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en-US" altLang="zh-TW" b="1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1" i="1" smtClean="0">
                            <a:latin typeface="Cambria Math"/>
                          </a:rPr>
                          <m:t>𝑰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𝑲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1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TW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zh-TW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b="1" i="1" smtClean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b="1" i="1" smtClean="0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626" y="1936955"/>
                <a:ext cx="5466735" cy="4146071"/>
              </a:xfrm>
              <a:prstGeom prst="rect">
                <a:avLst/>
              </a:prstGeom>
              <a:blipFill rotWithShape="1">
                <a:blip r:embed="rId4"/>
                <a:stretch>
                  <a:fillRect l="-892" t="-588" b="-1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98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Kalman</a:t>
            </a:r>
            <a:r>
              <a:rPr lang="en-US" altLang="zh-TW" dirty="0" smtClean="0"/>
              <a:t> filter </a:t>
            </a:r>
            <a:r>
              <a:rPr lang="zh-TW" altLang="en-US" dirty="0" smtClean="0"/>
              <a:t>整理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30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35742" y="1907458"/>
                <a:ext cx="10363200" cy="2644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200" dirty="0" smtClean="0"/>
                  <a:t>輸入</a:t>
                </a:r>
                <a:r>
                  <a:rPr lang="en-US" altLang="zh-TW" sz="2200" dirty="0" smtClean="0"/>
                  <a:t>priori state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 dirty="0" smtClean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 smtClean="0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dirty="0" smtClean="0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 dirty="0" smtClean="0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 dirty="0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2200" b="1" i="1" dirty="0" smtClean="0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zh-TW" altLang="en-US" sz="2200" dirty="0" smtClean="0"/>
                  <a:t>及</a:t>
                </a:r>
                <a:r>
                  <a:rPr lang="en-US" altLang="zh-TW" sz="2200" dirty="0" smtClean="0"/>
                  <a:t>priori estimate error covariance matrix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endParaRPr lang="en-US" altLang="zh-TW" sz="2200" b="1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200" dirty="0" smtClean="0"/>
                  <a:t>計算</a:t>
                </a:r>
                <a:r>
                  <a:rPr lang="en-US" altLang="zh-TW" sz="2200" dirty="0" err="1" smtClean="0"/>
                  <a:t>Kalman</a:t>
                </a:r>
                <a:r>
                  <a:rPr lang="en-US" altLang="zh-TW" sz="2200" dirty="0" smtClean="0"/>
                  <a:t>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𝑲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𝑲</m:t>
                        </m:r>
                      </m:sub>
                      <m:sup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</m:sup>
                    </m:sSubSup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>
                            <a:latin typeface="Cambria Math"/>
                          </a:rPr>
                          <m:t>𝑯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>
                            <a:latin typeface="Cambria Math"/>
                          </a:rPr>
                          <m:t>𝑻</m:t>
                        </m:r>
                      </m:sup>
                    </m:sSubSup>
                    <m:sSup>
                      <m:s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200" b="1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𝒌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TW" sz="2200" b="1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𝒌</m:t>
                                </m:r>
                              </m:sub>
                              <m:sup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−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TW" sz="2200" b="1" i="1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𝒌</m:t>
                                </m:r>
                              </m:sub>
                              <m:sup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𝑻</m:t>
                                </m:r>
                              </m:sup>
                            </m:sSubSup>
                            <m:r>
                              <a:rPr lang="en-US" altLang="zh-TW" sz="2200" b="1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200" b="1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TW" sz="2200" b="1" i="1">
                                    <a:latin typeface="Cambria Math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𝟏</m:t>
                        </m:r>
                      </m:sup>
                    </m:sSup>
                  </m:oMath>
                </a14:m>
                <a:endParaRPr lang="en-US" altLang="zh-TW" sz="2200" b="1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200" dirty="0" smtClean="0"/>
                  <a:t>得到量測值</a:t>
                </a:r>
                <a:r>
                  <a:rPr lang="en-US" altLang="zh-TW" sz="2200" b="1" dirty="0" err="1" smtClean="0"/>
                  <a:t>Z</a:t>
                </a:r>
                <a:r>
                  <a:rPr lang="en-US" altLang="zh-TW" sz="2200" b="1" baseline="-25000" dirty="0" err="1" smtClean="0"/>
                  <a:t>k</a:t>
                </a:r>
                <a:r>
                  <a:rPr lang="zh-TW" altLang="en-US" sz="2200" dirty="0" smtClean="0"/>
                  <a:t>後，更新</a:t>
                </a:r>
                <a:r>
                  <a:rPr lang="en-US" altLang="zh-TW" sz="2200" dirty="0" err="1" smtClean="0"/>
                  <a:t>posterori</a:t>
                </a:r>
                <a:r>
                  <a:rPr lang="en-US" altLang="zh-TW" sz="2200" dirty="0" smtClean="0"/>
                  <a:t> state: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en-US" altLang="zh-TW" sz="2200" i="1" dirty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</m:sup>
                    </m:sSubSup>
                    <m:r>
                      <a:rPr lang="en-US" altLang="zh-TW" sz="2200" i="1" dirty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𝑲</m:t>
                        </m:r>
                      </m:e>
                      <m:sub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altLang="zh-TW" sz="22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TW" sz="22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2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  <m:sup>
                            <m:r>
                              <a:rPr lang="en-US" altLang="zh-TW" sz="2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endParaRPr lang="en-US" altLang="zh-TW" sz="2200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200" dirty="0" smtClean="0"/>
                  <a:t>更新</a:t>
                </a:r>
                <a:r>
                  <a:rPr lang="en-US" altLang="zh-TW" sz="2200" dirty="0" err="1" smtClean="0"/>
                  <a:t>posterori</a:t>
                </a:r>
                <a:r>
                  <a:rPr lang="en-US" altLang="zh-TW" sz="2200" dirty="0" smtClean="0"/>
                  <a:t> estimate error covariance matrix: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en-US" altLang="zh-TW" sz="2200" b="1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200" b="1" i="1">
                            <a:latin typeface="Cambria Math"/>
                          </a:rPr>
                          <m:t>𝑰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>
                                <a:latin typeface="Cambria Math"/>
                              </a:rPr>
                              <m:t>𝑲</m:t>
                            </m:r>
                          </m:e>
                          <m:sub>
                            <m:r>
                              <a:rPr lang="en-US" altLang="zh-TW" sz="2200" b="1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sz="2200" b="1" i="1">
                                <a:latin typeface="Cambria Math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TW" sz="2200" b="1" i="1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</m:sup>
                    </m:sSubSup>
                  </m:oMath>
                </a14:m>
                <a:endParaRPr lang="en-US" altLang="zh-TW" sz="2200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TW" altLang="en-US" sz="2200" dirty="0" smtClean="0"/>
                  <a:t>計算</a:t>
                </a:r>
                <a:r>
                  <a:rPr lang="en-US" altLang="zh-TW" sz="2200" dirty="0" smtClean="0"/>
                  <a:t>k+1</a:t>
                </a:r>
                <a:r>
                  <a:rPr lang="zh-TW" altLang="en-US" sz="2200" dirty="0" smtClean="0"/>
                  <a:t>步的</a:t>
                </a:r>
                <a:r>
                  <a:rPr lang="en-US" altLang="zh-TW" sz="2200" dirty="0" smtClean="0"/>
                  <a:t/>
                </a:r>
                <a:br>
                  <a:rPr lang="en-US" altLang="zh-TW" sz="2200" dirty="0" smtClean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 dirty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dirty="0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 dirty="0" smtClean="0">
                            <a:latin typeface="Cambria Math"/>
                          </a:rPr>
                          <m:t>+</m:t>
                        </m:r>
                        <m:r>
                          <a:rPr lang="en-US" altLang="zh-TW" sz="2200" b="1" i="1" dirty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2200" b="1" i="1" dirty="0">
                            <a:latin typeface="Cambria Math"/>
                          </a:rPr>
                          <m:t>−</m:t>
                        </m:r>
                      </m:sup>
                    </m:sSubSup>
                    <m:r>
                      <a:rPr lang="en-US" altLang="zh-TW" sz="2200" b="1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dirty="0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 dirty="0" smtClean="0">
                            <a:latin typeface="Cambria Math"/>
                          </a:rPr>
                          <m:t>𝒌</m:t>
                        </m:r>
                      </m:sub>
                    </m:sSub>
                    <m:sSubSup>
                      <m:sSubSupPr>
                        <m:ctrlPr>
                          <a:rPr lang="en-US" altLang="zh-TW" sz="2200" b="1" i="1" dirty="0">
                            <a:latin typeface="Cambria Math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TW" sz="2200" b="1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200" b="1" i="1">
                                <a:latin typeface="Cambria Math"/>
                              </a:rPr>
                              <m:t>𝒙</m:t>
                            </m:r>
                          </m:e>
                        </m:acc>
                      </m:e>
                      <m:sub>
                        <m:r>
                          <a:rPr lang="en-US" altLang="zh-TW" sz="2200" b="1" i="1" dirty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dirty="0"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a:rPr lang="en-US" altLang="zh-TW" sz="2200" b="0" i="0" dirty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/>
                </a:r>
                <a:br>
                  <a:rPr lang="en-US" altLang="zh-TW" sz="2200" dirty="0" smtClean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</m:sup>
                    </m:sSubSup>
                    <m:r>
                      <a:rPr lang="en-US" altLang="zh-TW" sz="2200" b="1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sSubSup>
                      <m:sSubSup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𝑲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+</m:t>
                        </m:r>
                      </m:sup>
                    </m:sSubSup>
                    <m:sSubSup>
                      <m:sSubSup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  <m:sup>
                        <m:r>
                          <a:rPr lang="en-US" altLang="zh-TW" sz="2200" b="1" i="1" smtClean="0">
                            <a:latin typeface="Cambria Math"/>
                          </a:rPr>
                          <m:t>𝑻</m:t>
                        </m:r>
                      </m:sup>
                    </m:sSubSup>
                    <m:r>
                      <a:rPr lang="en-US" altLang="zh-TW" sz="2200" b="0" i="0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0" smtClean="0">
                            <a:latin typeface="Cambria Math"/>
                          </a:rPr>
                          <m:t>𝐐</m:t>
                        </m:r>
                      </m:e>
                      <m:sub>
                        <m:r>
                          <a:rPr lang="en-US" altLang="zh-TW" sz="2200" b="1" i="0" smtClean="0">
                            <a:latin typeface="Cambria Math"/>
                          </a:rPr>
                          <m:t>𝐤</m:t>
                        </m:r>
                      </m:sub>
                    </m:sSub>
                  </m:oMath>
                </a14:m>
                <a:endParaRPr lang="zh-TW" altLang="en-US" sz="2200" b="1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42" y="1907458"/>
                <a:ext cx="10363200" cy="2644185"/>
              </a:xfrm>
              <a:prstGeom prst="rect">
                <a:avLst/>
              </a:prstGeom>
              <a:blipFill rotWithShape="1">
                <a:blip r:embed="rId2"/>
                <a:stretch>
                  <a:fillRect l="-647" t="-1382" b="-13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646607" y="882585"/>
                <a:ext cx="5250426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−</m:t>
                        </m:r>
                        <m:r>
                          <a:rPr lang="en-US" altLang="zh-TW" sz="22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𝑩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𝒖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TW" sz="2200" b="1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~</m:t>
                    </m:r>
                    <m:r>
                      <a:rPr lang="en-US" altLang="zh-TW" sz="2200" b="1" i="1" smtClean="0">
                        <a:latin typeface="Cambria Math"/>
                      </a:rPr>
                      <m:t>𝑵</m:t>
                    </m:r>
                    <m:r>
                      <a:rPr lang="en-US" altLang="zh-TW" sz="2200" b="1" i="1" smtClean="0">
                        <a:latin typeface="Cambria Math"/>
                      </a:rPr>
                      <m:t>(</m:t>
                    </m:r>
                    <m:r>
                      <a:rPr lang="en-US" altLang="zh-TW" sz="2200" b="1" i="1" smtClean="0">
                        <a:latin typeface="Cambria Math"/>
                      </a:rPr>
                      <m:t>𝟎</m:t>
                    </m:r>
                    <m:r>
                      <a:rPr lang="en-US" altLang="zh-TW" sz="2200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2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200" b="1" i="1" smtClean="0">
                            <a:latin typeface="Cambria Math"/>
                          </a:rPr>
                          <m:t>𝑸</m:t>
                        </m:r>
                      </m:e>
                      <m:sub>
                        <m:r>
                          <a:rPr lang="en-US" altLang="zh-TW" sz="22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TW" sz="2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200" b="1" dirty="0" smtClean="0"/>
                  <a:t>  </a:t>
                </a:r>
                <a:endParaRPr lang="en-US" altLang="zh-TW" sz="2200" b="1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𝑯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𝒙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TW" sz="22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~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𝑵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(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𝟎</m:t>
                      </m:r>
                      <m:r>
                        <a:rPr lang="en-US" altLang="zh-TW" sz="2200" b="1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zh-TW" sz="22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200" b="1" i="1" smtClean="0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altLang="zh-TW" sz="22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TW" sz="22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607" y="882585"/>
                <a:ext cx="5250426" cy="769441"/>
              </a:xfrm>
              <a:prstGeom prst="rect">
                <a:avLst/>
              </a:prstGeom>
              <a:blipFill rotWithShape="1">
                <a:blip r:embed="rId3"/>
                <a:stretch>
                  <a:fillRect l="-11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61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Thanks for your listening!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11D7-B428-46C8-AE33-EA48ADD530EC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5" name="圖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161" y="1963993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5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木刻字型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木刻字型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刻字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8E89CD47-BF55-4DDE-B823-2283AA7E769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TC103090434[[fn=木頭類型]]</Template>
  <TotalTime>523</TotalTime>
  <Words>3007</Words>
  <Application>Microsoft Office PowerPoint</Application>
  <PresentationFormat>自訂</PresentationFormat>
  <Paragraphs>404</Paragraphs>
  <Slides>31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2" baseType="lpstr">
      <vt:lpstr>木刻字型</vt:lpstr>
      <vt:lpstr>Stock selection, prediction and asset allocation</vt:lpstr>
      <vt:lpstr>Related topics</vt:lpstr>
      <vt:lpstr>Python</vt:lpstr>
      <vt:lpstr>PowerPoint 簡報</vt:lpstr>
      <vt:lpstr>Numpy, Scipy (with Intel MKL)</vt:lpstr>
      <vt:lpstr>Intel® Math Kernel Library (MKL)</vt:lpstr>
      <vt:lpstr>PowerPoint 簡報</vt:lpstr>
      <vt:lpstr>PowerPoint 簡報</vt:lpstr>
      <vt:lpstr>Django</vt:lpstr>
      <vt:lpstr>Django Object-relational mapping (ORM)</vt:lpstr>
      <vt:lpstr>My program</vt:lpstr>
      <vt:lpstr>Fetching</vt:lpstr>
      <vt:lpstr>PowerPoint 簡報</vt:lpstr>
      <vt:lpstr>Machine learning tools</vt:lpstr>
      <vt:lpstr>preprocessing</vt:lpstr>
      <vt:lpstr>Asset allocation</vt:lpstr>
      <vt:lpstr>Trading rule</vt:lpstr>
      <vt:lpstr>Performance measure</vt:lpstr>
      <vt:lpstr>Experiment</vt:lpstr>
      <vt:lpstr>預測明日漲跌(1) </vt:lpstr>
      <vt:lpstr>預測明日漲跌(2)</vt:lpstr>
      <vt:lpstr>Kalman filter for real-time tracking</vt:lpstr>
      <vt:lpstr>PowerPoint 簡報</vt:lpstr>
      <vt:lpstr>PowerPoint 簡報</vt:lpstr>
      <vt:lpstr>PowerPoint 簡報</vt:lpstr>
      <vt:lpstr>Kalman filter flow chart </vt:lpstr>
      <vt:lpstr>State-space model</vt:lpstr>
      <vt:lpstr>Kalman filter (1) </vt:lpstr>
      <vt:lpstr>Kalman filter (2) </vt:lpstr>
      <vt:lpstr>Kalman filter 整理</vt:lpstr>
      <vt:lpstr>Thanks for your listening!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selection, prediction and asset allocation</dc:title>
  <dc:creator>陳紘昕</dc:creator>
  <cp:lastModifiedBy>chenhh</cp:lastModifiedBy>
  <cp:revision>257</cp:revision>
  <dcterms:created xsi:type="dcterms:W3CDTF">2013-06-02T12:01:11Z</dcterms:created>
  <dcterms:modified xsi:type="dcterms:W3CDTF">2013-06-18T08:44:35Z</dcterms:modified>
</cp:coreProperties>
</file>