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14" r:id="rId3"/>
    <p:sldId id="315" r:id="rId4"/>
    <p:sldId id="311" r:id="rId5"/>
    <p:sldId id="305" r:id="rId6"/>
    <p:sldId id="312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282" r:id="rId16"/>
    <p:sldId id="304" r:id="rId17"/>
    <p:sldId id="306" r:id="rId18"/>
    <p:sldId id="313" r:id="rId19"/>
    <p:sldId id="316" r:id="rId20"/>
    <p:sldId id="309" r:id="rId21"/>
    <p:sldId id="307" r:id="rId22"/>
    <p:sldId id="308" r:id="rId23"/>
    <p:sldId id="310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3DF"/>
    <a:srgbClr val="6F84EB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9666" autoAdjust="0"/>
    <p:restoredTop sz="96825" autoAdjust="0"/>
  </p:normalViewPr>
  <p:slideViewPr>
    <p:cSldViewPr>
      <p:cViewPr varScale="1">
        <p:scale>
          <a:sx n="113" d="100"/>
          <a:sy n="113" d="100"/>
        </p:scale>
        <p:origin x="-158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178699-CB3E-48F2-8A63-18524F7C050B}" type="doc">
      <dgm:prSet loTypeId="urn:microsoft.com/office/officeart/2005/8/layout/hierarchy1" loCatId="hierarchy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zh-TW" altLang="en-US"/>
        </a:p>
      </dgm:t>
    </dgm:pt>
    <dgm:pt modelId="{4BF546D4-4491-4F81-B1BF-5AC42F1B3E57}">
      <dgm:prSet phldrT="[文字]"/>
      <dgm:spPr/>
      <dgm:t>
        <a:bodyPr/>
        <a:lstStyle/>
        <a:p>
          <a:r>
            <a:rPr lang="en-US" altLang="zh-TW" dirty="0" smtClean="0"/>
            <a:t>R*-tree</a:t>
          </a:r>
          <a:endParaRPr lang="zh-TW" altLang="en-US" dirty="0"/>
        </a:p>
      </dgm:t>
    </dgm:pt>
    <dgm:pt modelId="{C9DC6E73-B628-4128-A99C-88B408BAB772}" type="parTrans" cxnId="{B6870261-DE49-4734-9B7D-F541423E9894}">
      <dgm:prSet/>
      <dgm:spPr/>
      <dgm:t>
        <a:bodyPr/>
        <a:lstStyle/>
        <a:p>
          <a:endParaRPr lang="zh-TW" altLang="en-US"/>
        </a:p>
      </dgm:t>
    </dgm:pt>
    <dgm:pt modelId="{0AEA53CB-A2C0-4F50-960A-1070D3ABE2CD}" type="sibTrans" cxnId="{B6870261-DE49-4734-9B7D-F541423E9894}">
      <dgm:prSet/>
      <dgm:spPr/>
      <dgm:t>
        <a:bodyPr/>
        <a:lstStyle/>
        <a:p>
          <a:endParaRPr lang="zh-TW" altLang="en-US"/>
        </a:p>
      </dgm:t>
    </dgm:pt>
    <dgm:pt modelId="{44BD5937-F0CE-4088-8CAA-23A5EFDAE868}">
      <dgm:prSet phldrT="[文字]" phldr="1"/>
      <dgm:spPr/>
      <dgm:t>
        <a:bodyPr/>
        <a:lstStyle/>
        <a:p>
          <a:endParaRPr lang="zh-TW" altLang="en-US" dirty="0"/>
        </a:p>
      </dgm:t>
    </dgm:pt>
    <dgm:pt modelId="{18B5BF3C-7EF6-4110-8C33-B217F65BA0A0}" type="parTrans" cxnId="{46EF59B3-335F-466D-BFEB-D82E31C0CDE6}">
      <dgm:prSet/>
      <dgm:spPr/>
      <dgm:t>
        <a:bodyPr/>
        <a:lstStyle/>
        <a:p>
          <a:endParaRPr lang="zh-TW" altLang="en-US"/>
        </a:p>
      </dgm:t>
    </dgm:pt>
    <dgm:pt modelId="{AC916A30-E143-4150-814E-7EAA2370C185}" type="sibTrans" cxnId="{46EF59B3-335F-466D-BFEB-D82E31C0CDE6}">
      <dgm:prSet/>
      <dgm:spPr/>
      <dgm:t>
        <a:bodyPr/>
        <a:lstStyle/>
        <a:p>
          <a:endParaRPr lang="zh-TW" altLang="en-US"/>
        </a:p>
      </dgm:t>
    </dgm:pt>
    <dgm:pt modelId="{F503A27F-DE6B-431D-BBDD-DCC9BC466233}">
      <dgm:prSet phldrT="[文字]" phldr="1"/>
      <dgm:spPr/>
      <dgm:t>
        <a:bodyPr/>
        <a:lstStyle/>
        <a:p>
          <a:endParaRPr lang="zh-TW" altLang="en-US"/>
        </a:p>
      </dgm:t>
    </dgm:pt>
    <dgm:pt modelId="{A6C0F521-4A09-4D7F-A51E-A174351781BC}" type="parTrans" cxnId="{B45D50A4-7E37-485F-90EC-1F238F5AE6D6}">
      <dgm:prSet/>
      <dgm:spPr/>
      <dgm:t>
        <a:bodyPr/>
        <a:lstStyle/>
        <a:p>
          <a:endParaRPr lang="zh-TW" altLang="en-US"/>
        </a:p>
      </dgm:t>
    </dgm:pt>
    <dgm:pt modelId="{16559F3A-2DCA-4AE1-9C80-4E90A8B84674}" type="sibTrans" cxnId="{B45D50A4-7E37-485F-90EC-1F238F5AE6D6}">
      <dgm:prSet/>
      <dgm:spPr/>
      <dgm:t>
        <a:bodyPr/>
        <a:lstStyle/>
        <a:p>
          <a:endParaRPr lang="zh-TW" altLang="en-US"/>
        </a:p>
      </dgm:t>
    </dgm:pt>
    <dgm:pt modelId="{7DB43AA0-D898-4012-AF23-66DA2D8AD1EA}">
      <dgm:prSet phldrT="[文字]" phldr="1"/>
      <dgm:spPr/>
      <dgm:t>
        <a:bodyPr/>
        <a:lstStyle/>
        <a:p>
          <a:endParaRPr lang="zh-TW" altLang="en-US"/>
        </a:p>
      </dgm:t>
    </dgm:pt>
    <dgm:pt modelId="{A9BDB74D-0C63-4185-99D7-3755BFA442B8}" type="parTrans" cxnId="{13EFF845-663F-475A-9420-4534E6308BF4}">
      <dgm:prSet/>
      <dgm:spPr/>
      <dgm:t>
        <a:bodyPr/>
        <a:lstStyle/>
        <a:p>
          <a:endParaRPr lang="zh-TW" altLang="en-US"/>
        </a:p>
      </dgm:t>
    </dgm:pt>
    <dgm:pt modelId="{3E596B74-D9A0-42C2-A789-BD6DD42E1DA3}" type="sibTrans" cxnId="{13EFF845-663F-475A-9420-4534E6308BF4}">
      <dgm:prSet/>
      <dgm:spPr/>
      <dgm:t>
        <a:bodyPr/>
        <a:lstStyle/>
        <a:p>
          <a:endParaRPr lang="zh-TW" altLang="en-US"/>
        </a:p>
      </dgm:t>
    </dgm:pt>
    <dgm:pt modelId="{B3DB7BFA-DBFB-4803-B42E-978335297027}">
      <dgm:prSet phldrT="[文字]" phldr="1"/>
      <dgm:spPr/>
      <dgm:t>
        <a:bodyPr/>
        <a:lstStyle/>
        <a:p>
          <a:endParaRPr lang="zh-TW" altLang="en-US"/>
        </a:p>
      </dgm:t>
    </dgm:pt>
    <dgm:pt modelId="{8BF22121-61AE-443B-8B89-C7F63DA9ED43}" type="parTrans" cxnId="{C82C1529-BD92-403F-8849-8515BD27E9C9}">
      <dgm:prSet/>
      <dgm:spPr/>
      <dgm:t>
        <a:bodyPr/>
        <a:lstStyle/>
        <a:p>
          <a:endParaRPr lang="zh-TW" altLang="en-US"/>
        </a:p>
      </dgm:t>
    </dgm:pt>
    <dgm:pt modelId="{D0FE1911-4E32-483A-B7B5-32D50D4E495A}" type="sibTrans" cxnId="{C82C1529-BD92-403F-8849-8515BD27E9C9}">
      <dgm:prSet/>
      <dgm:spPr/>
      <dgm:t>
        <a:bodyPr/>
        <a:lstStyle/>
        <a:p>
          <a:endParaRPr lang="zh-TW" altLang="en-US"/>
        </a:p>
      </dgm:t>
    </dgm:pt>
    <dgm:pt modelId="{D1832EB0-936F-408B-89C9-FD5820BA11E0}">
      <dgm:prSet phldrT="[文字]" phldr="1"/>
      <dgm:spPr/>
      <dgm:t>
        <a:bodyPr/>
        <a:lstStyle/>
        <a:p>
          <a:endParaRPr lang="zh-TW" altLang="en-US"/>
        </a:p>
      </dgm:t>
    </dgm:pt>
    <dgm:pt modelId="{14A2DF5E-6C1E-4B98-9859-1EE91A688B5B}" type="parTrans" cxnId="{60C6D1A7-19B7-46C0-9A40-40714DF8EADC}">
      <dgm:prSet/>
      <dgm:spPr/>
      <dgm:t>
        <a:bodyPr/>
        <a:lstStyle/>
        <a:p>
          <a:endParaRPr lang="zh-TW" altLang="en-US"/>
        </a:p>
      </dgm:t>
    </dgm:pt>
    <dgm:pt modelId="{8AA09D46-3B11-4706-ADBF-96A3AD9ADD1A}" type="sibTrans" cxnId="{60C6D1A7-19B7-46C0-9A40-40714DF8EADC}">
      <dgm:prSet/>
      <dgm:spPr/>
      <dgm:t>
        <a:bodyPr/>
        <a:lstStyle/>
        <a:p>
          <a:endParaRPr lang="zh-TW" altLang="en-US"/>
        </a:p>
      </dgm:t>
    </dgm:pt>
    <dgm:pt modelId="{EB4239C7-DA24-483C-B844-0276EB26CE2E}" type="pres">
      <dgm:prSet presAssocID="{EC178699-CB3E-48F2-8A63-18524F7C050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11EEEF70-9B69-4073-81C0-016657AC8579}" type="pres">
      <dgm:prSet presAssocID="{4BF546D4-4491-4F81-B1BF-5AC42F1B3E57}" presName="hierRoot1" presStyleCnt="0"/>
      <dgm:spPr/>
    </dgm:pt>
    <dgm:pt modelId="{013CC5A9-2846-45F5-8817-030030F53223}" type="pres">
      <dgm:prSet presAssocID="{4BF546D4-4491-4F81-B1BF-5AC42F1B3E57}" presName="composite" presStyleCnt="0"/>
      <dgm:spPr/>
    </dgm:pt>
    <dgm:pt modelId="{8BA5CD78-6E71-46A3-8379-B7583BD97475}" type="pres">
      <dgm:prSet presAssocID="{4BF546D4-4491-4F81-B1BF-5AC42F1B3E57}" presName="background" presStyleLbl="node0" presStyleIdx="0" presStyleCnt="1"/>
      <dgm:spPr/>
    </dgm:pt>
    <dgm:pt modelId="{98F40366-3706-4545-A19B-A910C0F732E1}" type="pres">
      <dgm:prSet presAssocID="{4BF546D4-4491-4F81-B1BF-5AC42F1B3E57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B374546-C262-448A-B6A4-0A225B48FD7A}" type="pres">
      <dgm:prSet presAssocID="{4BF546D4-4491-4F81-B1BF-5AC42F1B3E57}" presName="hierChild2" presStyleCnt="0"/>
      <dgm:spPr/>
    </dgm:pt>
    <dgm:pt modelId="{AEF8E6FB-EA17-4E27-B8B2-A22F3E023740}" type="pres">
      <dgm:prSet presAssocID="{18B5BF3C-7EF6-4110-8C33-B217F65BA0A0}" presName="Name10" presStyleLbl="parChTrans1D2" presStyleIdx="0" presStyleCnt="2"/>
      <dgm:spPr/>
      <dgm:t>
        <a:bodyPr/>
        <a:lstStyle/>
        <a:p>
          <a:endParaRPr lang="zh-TW" altLang="en-US"/>
        </a:p>
      </dgm:t>
    </dgm:pt>
    <dgm:pt modelId="{D9B77E11-18CE-44E0-896A-E1D172114642}" type="pres">
      <dgm:prSet presAssocID="{44BD5937-F0CE-4088-8CAA-23A5EFDAE868}" presName="hierRoot2" presStyleCnt="0"/>
      <dgm:spPr/>
    </dgm:pt>
    <dgm:pt modelId="{691D8313-1A2F-425F-A2F0-091367FAEFFF}" type="pres">
      <dgm:prSet presAssocID="{44BD5937-F0CE-4088-8CAA-23A5EFDAE868}" presName="composite2" presStyleCnt="0"/>
      <dgm:spPr/>
    </dgm:pt>
    <dgm:pt modelId="{63B87F18-3B57-4F3C-BD9E-74125AE08A6D}" type="pres">
      <dgm:prSet presAssocID="{44BD5937-F0CE-4088-8CAA-23A5EFDAE868}" presName="background2" presStyleLbl="node2" presStyleIdx="0" presStyleCnt="2"/>
      <dgm:spPr/>
    </dgm:pt>
    <dgm:pt modelId="{E9EF6225-9655-47F8-9FB2-169EDD1B1D3C}" type="pres">
      <dgm:prSet presAssocID="{44BD5937-F0CE-4088-8CAA-23A5EFDAE868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0DDDB05-D891-4C6F-A44B-AA2FC5C73C6C}" type="pres">
      <dgm:prSet presAssocID="{44BD5937-F0CE-4088-8CAA-23A5EFDAE868}" presName="hierChild3" presStyleCnt="0"/>
      <dgm:spPr/>
    </dgm:pt>
    <dgm:pt modelId="{947512FA-7F9E-49B7-9A5F-533935B8E3AC}" type="pres">
      <dgm:prSet presAssocID="{A6C0F521-4A09-4D7F-A51E-A174351781BC}" presName="Name17" presStyleLbl="parChTrans1D3" presStyleIdx="0" presStyleCnt="3"/>
      <dgm:spPr/>
      <dgm:t>
        <a:bodyPr/>
        <a:lstStyle/>
        <a:p>
          <a:endParaRPr lang="zh-TW" altLang="en-US"/>
        </a:p>
      </dgm:t>
    </dgm:pt>
    <dgm:pt modelId="{EDAB42E4-83A0-4B75-84D8-3A981B31F2F2}" type="pres">
      <dgm:prSet presAssocID="{F503A27F-DE6B-431D-BBDD-DCC9BC466233}" presName="hierRoot3" presStyleCnt="0"/>
      <dgm:spPr/>
    </dgm:pt>
    <dgm:pt modelId="{70DD4702-34D9-46AC-83F7-2003899EA0E8}" type="pres">
      <dgm:prSet presAssocID="{F503A27F-DE6B-431D-BBDD-DCC9BC466233}" presName="composite3" presStyleCnt="0"/>
      <dgm:spPr/>
    </dgm:pt>
    <dgm:pt modelId="{8F9EC945-84AF-488B-AA68-9D7C668D4D57}" type="pres">
      <dgm:prSet presAssocID="{F503A27F-DE6B-431D-BBDD-DCC9BC466233}" presName="background3" presStyleLbl="node3" presStyleIdx="0" presStyleCnt="3"/>
      <dgm:spPr/>
    </dgm:pt>
    <dgm:pt modelId="{E9FAEA66-6385-424B-BBE0-AB8EC583F32A}" type="pres">
      <dgm:prSet presAssocID="{F503A27F-DE6B-431D-BBDD-DCC9BC466233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9C4FB9A-BA51-4553-9B5B-32D8B006BC29}" type="pres">
      <dgm:prSet presAssocID="{F503A27F-DE6B-431D-BBDD-DCC9BC466233}" presName="hierChild4" presStyleCnt="0"/>
      <dgm:spPr/>
    </dgm:pt>
    <dgm:pt modelId="{250FA7F1-F326-453E-A2F4-BF11795310B6}" type="pres">
      <dgm:prSet presAssocID="{A9BDB74D-0C63-4185-99D7-3755BFA442B8}" presName="Name17" presStyleLbl="parChTrans1D3" presStyleIdx="1" presStyleCnt="3"/>
      <dgm:spPr/>
      <dgm:t>
        <a:bodyPr/>
        <a:lstStyle/>
        <a:p>
          <a:endParaRPr lang="zh-TW" altLang="en-US"/>
        </a:p>
      </dgm:t>
    </dgm:pt>
    <dgm:pt modelId="{223B766C-A174-4212-A0F7-A052C144ED3C}" type="pres">
      <dgm:prSet presAssocID="{7DB43AA0-D898-4012-AF23-66DA2D8AD1EA}" presName="hierRoot3" presStyleCnt="0"/>
      <dgm:spPr/>
    </dgm:pt>
    <dgm:pt modelId="{31DCF208-ABC3-4282-9BB8-40DE19E97286}" type="pres">
      <dgm:prSet presAssocID="{7DB43AA0-D898-4012-AF23-66DA2D8AD1EA}" presName="composite3" presStyleCnt="0"/>
      <dgm:spPr/>
    </dgm:pt>
    <dgm:pt modelId="{3093DA70-2448-487C-BF5C-15276E406D09}" type="pres">
      <dgm:prSet presAssocID="{7DB43AA0-D898-4012-AF23-66DA2D8AD1EA}" presName="background3" presStyleLbl="node3" presStyleIdx="1" presStyleCnt="3"/>
      <dgm:spPr/>
    </dgm:pt>
    <dgm:pt modelId="{1A8C977D-E674-45C3-BB56-5E7E425DC1C0}" type="pres">
      <dgm:prSet presAssocID="{7DB43AA0-D898-4012-AF23-66DA2D8AD1EA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456E32D-74D4-45A1-8AFC-357DEB7B6C21}" type="pres">
      <dgm:prSet presAssocID="{7DB43AA0-D898-4012-AF23-66DA2D8AD1EA}" presName="hierChild4" presStyleCnt="0"/>
      <dgm:spPr/>
    </dgm:pt>
    <dgm:pt modelId="{CECC9EAC-67CE-460B-BCB7-DF59BC45ED10}" type="pres">
      <dgm:prSet presAssocID="{8BF22121-61AE-443B-8B89-C7F63DA9ED43}" presName="Name10" presStyleLbl="parChTrans1D2" presStyleIdx="1" presStyleCnt="2"/>
      <dgm:spPr/>
      <dgm:t>
        <a:bodyPr/>
        <a:lstStyle/>
        <a:p>
          <a:endParaRPr lang="zh-TW" altLang="en-US"/>
        </a:p>
      </dgm:t>
    </dgm:pt>
    <dgm:pt modelId="{594D47F9-8607-43C5-933D-B4F9B14FB0B4}" type="pres">
      <dgm:prSet presAssocID="{B3DB7BFA-DBFB-4803-B42E-978335297027}" presName="hierRoot2" presStyleCnt="0"/>
      <dgm:spPr/>
    </dgm:pt>
    <dgm:pt modelId="{C19B99C5-733B-4F01-BB5C-20C11F68FD9E}" type="pres">
      <dgm:prSet presAssocID="{B3DB7BFA-DBFB-4803-B42E-978335297027}" presName="composite2" presStyleCnt="0"/>
      <dgm:spPr/>
    </dgm:pt>
    <dgm:pt modelId="{71C668E7-6C6F-411F-B2A2-679F93804CAF}" type="pres">
      <dgm:prSet presAssocID="{B3DB7BFA-DBFB-4803-B42E-978335297027}" presName="background2" presStyleLbl="node2" presStyleIdx="1" presStyleCnt="2"/>
      <dgm:spPr/>
    </dgm:pt>
    <dgm:pt modelId="{2F81E734-5306-48F5-B491-C693F00EEA55}" type="pres">
      <dgm:prSet presAssocID="{B3DB7BFA-DBFB-4803-B42E-978335297027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A11F03E-3070-45A6-8095-9115C726182F}" type="pres">
      <dgm:prSet presAssocID="{B3DB7BFA-DBFB-4803-B42E-978335297027}" presName="hierChild3" presStyleCnt="0"/>
      <dgm:spPr/>
    </dgm:pt>
    <dgm:pt modelId="{E03A0BAF-D0C5-4E7D-A243-9FD25690F7D9}" type="pres">
      <dgm:prSet presAssocID="{14A2DF5E-6C1E-4B98-9859-1EE91A688B5B}" presName="Name17" presStyleLbl="parChTrans1D3" presStyleIdx="2" presStyleCnt="3"/>
      <dgm:spPr/>
      <dgm:t>
        <a:bodyPr/>
        <a:lstStyle/>
        <a:p>
          <a:endParaRPr lang="zh-TW" altLang="en-US"/>
        </a:p>
      </dgm:t>
    </dgm:pt>
    <dgm:pt modelId="{A2BCEA5C-CB49-4BF8-9DBF-B13469E615BE}" type="pres">
      <dgm:prSet presAssocID="{D1832EB0-936F-408B-89C9-FD5820BA11E0}" presName="hierRoot3" presStyleCnt="0"/>
      <dgm:spPr/>
    </dgm:pt>
    <dgm:pt modelId="{875BC7BC-AFA3-4492-A84F-FB7C5D352B92}" type="pres">
      <dgm:prSet presAssocID="{D1832EB0-936F-408B-89C9-FD5820BA11E0}" presName="composite3" presStyleCnt="0"/>
      <dgm:spPr/>
    </dgm:pt>
    <dgm:pt modelId="{98291F1A-5C2C-40DB-8A48-0E3278225A52}" type="pres">
      <dgm:prSet presAssocID="{D1832EB0-936F-408B-89C9-FD5820BA11E0}" presName="background3" presStyleLbl="node3" presStyleIdx="2" presStyleCnt="3"/>
      <dgm:spPr/>
    </dgm:pt>
    <dgm:pt modelId="{8434DAD7-E37A-4462-AC2E-022FAFA203CA}" type="pres">
      <dgm:prSet presAssocID="{D1832EB0-936F-408B-89C9-FD5820BA11E0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74F4C40-04A9-4525-9289-C3FA9201AC7F}" type="pres">
      <dgm:prSet presAssocID="{D1832EB0-936F-408B-89C9-FD5820BA11E0}" presName="hierChild4" presStyleCnt="0"/>
      <dgm:spPr/>
    </dgm:pt>
  </dgm:ptLst>
  <dgm:cxnLst>
    <dgm:cxn modelId="{31DBFFF1-FF7B-4556-8480-FCA2417D8DCF}" type="presOf" srcId="{A9BDB74D-0C63-4185-99D7-3755BFA442B8}" destId="{250FA7F1-F326-453E-A2F4-BF11795310B6}" srcOrd="0" destOrd="0" presId="urn:microsoft.com/office/officeart/2005/8/layout/hierarchy1"/>
    <dgm:cxn modelId="{33C17C0F-6821-4A64-BC9A-9FA03199B850}" type="presOf" srcId="{4BF546D4-4491-4F81-B1BF-5AC42F1B3E57}" destId="{98F40366-3706-4545-A19B-A910C0F732E1}" srcOrd="0" destOrd="0" presId="urn:microsoft.com/office/officeart/2005/8/layout/hierarchy1"/>
    <dgm:cxn modelId="{4294B067-9694-486B-9BF2-1BA104F8D68F}" type="presOf" srcId="{EC178699-CB3E-48F2-8A63-18524F7C050B}" destId="{EB4239C7-DA24-483C-B844-0276EB26CE2E}" srcOrd="0" destOrd="0" presId="urn:microsoft.com/office/officeart/2005/8/layout/hierarchy1"/>
    <dgm:cxn modelId="{E7EDC1BB-6947-41F6-BE1D-3F2083BEF2B5}" type="presOf" srcId="{18B5BF3C-7EF6-4110-8C33-B217F65BA0A0}" destId="{AEF8E6FB-EA17-4E27-B8B2-A22F3E023740}" srcOrd="0" destOrd="0" presId="urn:microsoft.com/office/officeart/2005/8/layout/hierarchy1"/>
    <dgm:cxn modelId="{05C85205-FC15-483D-8D04-E328F8B46565}" type="presOf" srcId="{F503A27F-DE6B-431D-BBDD-DCC9BC466233}" destId="{E9FAEA66-6385-424B-BBE0-AB8EC583F32A}" srcOrd="0" destOrd="0" presId="urn:microsoft.com/office/officeart/2005/8/layout/hierarchy1"/>
    <dgm:cxn modelId="{C2E4093D-C9FC-451A-A207-F93D4A951C56}" type="presOf" srcId="{7DB43AA0-D898-4012-AF23-66DA2D8AD1EA}" destId="{1A8C977D-E674-45C3-BB56-5E7E425DC1C0}" srcOrd="0" destOrd="0" presId="urn:microsoft.com/office/officeart/2005/8/layout/hierarchy1"/>
    <dgm:cxn modelId="{3C029F95-772F-44A8-94CC-7171478D01C1}" type="presOf" srcId="{14A2DF5E-6C1E-4B98-9859-1EE91A688B5B}" destId="{E03A0BAF-D0C5-4E7D-A243-9FD25690F7D9}" srcOrd="0" destOrd="0" presId="urn:microsoft.com/office/officeart/2005/8/layout/hierarchy1"/>
    <dgm:cxn modelId="{C82C1529-BD92-403F-8849-8515BD27E9C9}" srcId="{4BF546D4-4491-4F81-B1BF-5AC42F1B3E57}" destId="{B3DB7BFA-DBFB-4803-B42E-978335297027}" srcOrd="1" destOrd="0" parTransId="{8BF22121-61AE-443B-8B89-C7F63DA9ED43}" sibTransId="{D0FE1911-4E32-483A-B7B5-32D50D4E495A}"/>
    <dgm:cxn modelId="{B5763602-5FC1-4342-BC8E-BDD5377C1EEC}" type="presOf" srcId="{8BF22121-61AE-443B-8B89-C7F63DA9ED43}" destId="{CECC9EAC-67CE-460B-BCB7-DF59BC45ED10}" srcOrd="0" destOrd="0" presId="urn:microsoft.com/office/officeart/2005/8/layout/hierarchy1"/>
    <dgm:cxn modelId="{1D8984E1-5168-407B-9C0E-301BC0F4AC8B}" type="presOf" srcId="{D1832EB0-936F-408B-89C9-FD5820BA11E0}" destId="{8434DAD7-E37A-4462-AC2E-022FAFA203CA}" srcOrd="0" destOrd="0" presId="urn:microsoft.com/office/officeart/2005/8/layout/hierarchy1"/>
    <dgm:cxn modelId="{D76B0024-F2C0-4D59-95B1-91DFA09C0431}" type="presOf" srcId="{A6C0F521-4A09-4D7F-A51E-A174351781BC}" destId="{947512FA-7F9E-49B7-9A5F-533935B8E3AC}" srcOrd="0" destOrd="0" presId="urn:microsoft.com/office/officeart/2005/8/layout/hierarchy1"/>
    <dgm:cxn modelId="{46EF59B3-335F-466D-BFEB-D82E31C0CDE6}" srcId="{4BF546D4-4491-4F81-B1BF-5AC42F1B3E57}" destId="{44BD5937-F0CE-4088-8CAA-23A5EFDAE868}" srcOrd="0" destOrd="0" parTransId="{18B5BF3C-7EF6-4110-8C33-B217F65BA0A0}" sibTransId="{AC916A30-E143-4150-814E-7EAA2370C185}"/>
    <dgm:cxn modelId="{60C6D1A7-19B7-46C0-9A40-40714DF8EADC}" srcId="{B3DB7BFA-DBFB-4803-B42E-978335297027}" destId="{D1832EB0-936F-408B-89C9-FD5820BA11E0}" srcOrd="0" destOrd="0" parTransId="{14A2DF5E-6C1E-4B98-9859-1EE91A688B5B}" sibTransId="{8AA09D46-3B11-4706-ADBF-96A3AD9ADD1A}"/>
    <dgm:cxn modelId="{B45D50A4-7E37-485F-90EC-1F238F5AE6D6}" srcId="{44BD5937-F0CE-4088-8CAA-23A5EFDAE868}" destId="{F503A27F-DE6B-431D-BBDD-DCC9BC466233}" srcOrd="0" destOrd="0" parTransId="{A6C0F521-4A09-4D7F-A51E-A174351781BC}" sibTransId="{16559F3A-2DCA-4AE1-9C80-4E90A8B84674}"/>
    <dgm:cxn modelId="{13EFF845-663F-475A-9420-4534E6308BF4}" srcId="{44BD5937-F0CE-4088-8CAA-23A5EFDAE868}" destId="{7DB43AA0-D898-4012-AF23-66DA2D8AD1EA}" srcOrd="1" destOrd="0" parTransId="{A9BDB74D-0C63-4185-99D7-3755BFA442B8}" sibTransId="{3E596B74-D9A0-42C2-A789-BD6DD42E1DA3}"/>
    <dgm:cxn modelId="{162F16BA-B45B-4597-8F31-961BBC23F84B}" type="presOf" srcId="{44BD5937-F0CE-4088-8CAA-23A5EFDAE868}" destId="{E9EF6225-9655-47F8-9FB2-169EDD1B1D3C}" srcOrd="0" destOrd="0" presId="urn:microsoft.com/office/officeart/2005/8/layout/hierarchy1"/>
    <dgm:cxn modelId="{B6870261-DE49-4734-9B7D-F541423E9894}" srcId="{EC178699-CB3E-48F2-8A63-18524F7C050B}" destId="{4BF546D4-4491-4F81-B1BF-5AC42F1B3E57}" srcOrd="0" destOrd="0" parTransId="{C9DC6E73-B628-4128-A99C-88B408BAB772}" sibTransId="{0AEA53CB-A2C0-4F50-960A-1070D3ABE2CD}"/>
    <dgm:cxn modelId="{9330AE23-5EDD-40AD-B111-91302100B424}" type="presOf" srcId="{B3DB7BFA-DBFB-4803-B42E-978335297027}" destId="{2F81E734-5306-48F5-B491-C693F00EEA55}" srcOrd="0" destOrd="0" presId="urn:microsoft.com/office/officeart/2005/8/layout/hierarchy1"/>
    <dgm:cxn modelId="{16F728DF-2B86-4A9A-B357-20685C95645D}" type="presParOf" srcId="{EB4239C7-DA24-483C-B844-0276EB26CE2E}" destId="{11EEEF70-9B69-4073-81C0-016657AC8579}" srcOrd="0" destOrd="0" presId="urn:microsoft.com/office/officeart/2005/8/layout/hierarchy1"/>
    <dgm:cxn modelId="{E9ABB484-40ED-4643-938A-1C594418FF54}" type="presParOf" srcId="{11EEEF70-9B69-4073-81C0-016657AC8579}" destId="{013CC5A9-2846-45F5-8817-030030F53223}" srcOrd="0" destOrd="0" presId="urn:microsoft.com/office/officeart/2005/8/layout/hierarchy1"/>
    <dgm:cxn modelId="{492650F5-068E-4405-BA3A-2957E1FEABC8}" type="presParOf" srcId="{013CC5A9-2846-45F5-8817-030030F53223}" destId="{8BA5CD78-6E71-46A3-8379-B7583BD97475}" srcOrd="0" destOrd="0" presId="urn:microsoft.com/office/officeart/2005/8/layout/hierarchy1"/>
    <dgm:cxn modelId="{E0F532A7-CA8B-458B-9AAB-D29DE0E1D269}" type="presParOf" srcId="{013CC5A9-2846-45F5-8817-030030F53223}" destId="{98F40366-3706-4545-A19B-A910C0F732E1}" srcOrd="1" destOrd="0" presId="urn:microsoft.com/office/officeart/2005/8/layout/hierarchy1"/>
    <dgm:cxn modelId="{FC408C85-6AFF-49DE-BBA2-4F390991D7CD}" type="presParOf" srcId="{11EEEF70-9B69-4073-81C0-016657AC8579}" destId="{3B374546-C262-448A-B6A4-0A225B48FD7A}" srcOrd="1" destOrd="0" presId="urn:microsoft.com/office/officeart/2005/8/layout/hierarchy1"/>
    <dgm:cxn modelId="{9F7BCFAA-76E3-4644-81C9-C420E82097B8}" type="presParOf" srcId="{3B374546-C262-448A-B6A4-0A225B48FD7A}" destId="{AEF8E6FB-EA17-4E27-B8B2-A22F3E023740}" srcOrd="0" destOrd="0" presId="urn:microsoft.com/office/officeart/2005/8/layout/hierarchy1"/>
    <dgm:cxn modelId="{B54D5198-F554-4554-A795-6076E13A5DA5}" type="presParOf" srcId="{3B374546-C262-448A-B6A4-0A225B48FD7A}" destId="{D9B77E11-18CE-44E0-896A-E1D172114642}" srcOrd="1" destOrd="0" presId="urn:microsoft.com/office/officeart/2005/8/layout/hierarchy1"/>
    <dgm:cxn modelId="{D7B0FCB0-EBAE-46B5-9BFC-99E75535C4B8}" type="presParOf" srcId="{D9B77E11-18CE-44E0-896A-E1D172114642}" destId="{691D8313-1A2F-425F-A2F0-091367FAEFFF}" srcOrd="0" destOrd="0" presId="urn:microsoft.com/office/officeart/2005/8/layout/hierarchy1"/>
    <dgm:cxn modelId="{CB724611-3BA0-4132-996D-E5A6E5F910B5}" type="presParOf" srcId="{691D8313-1A2F-425F-A2F0-091367FAEFFF}" destId="{63B87F18-3B57-4F3C-BD9E-74125AE08A6D}" srcOrd="0" destOrd="0" presId="urn:microsoft.com/office/officeart/2005/8/layout/hierarchy1"/>
    <dgm:cxn modelId="{375C7E76-5345-4653-B5DA-12F5F1278ED7}" type="presParOf" srcId="{691D8313-1A2F-425F-A2F0-091367FAEFFF}" destId="{E9EF6225-9655-47F8-9FB2-169EDD1B1D3C}" srcOrd="1" destOrd="0" presId="urn:microsoft.com/office/officeart/2005/8/layout/hierarchy1"/>
    <dgm:cxn modelId="{F9CE97F3-EB60-4E49-8870-2A9A372C1EAE}" type="presParOf" srcId="{D9B77E11-18CE-44E0-896A-E1D172114642}" destId="{A0DDDB05-D891-4C6F-A44B-AA2FC5C73C6C}" srcOrd="1" destOrd="0" presId="urn:microsoft.com/office/officeart/2005/8/layout/hierarchy1"/>
    <dgm:cxn modelId="{FBC097A3-4751-4601-9A2A-F10F451B1CEE}" type="presParOf" srcId="{A0DDDB05-D891-4C6F-A44B-AA2FC5C73C6C}" destId="{947512FA-7F9E-49B7-9A5F-533935B8E3AC}" srcOrd="0" destOrd="0" presId="urn:microsoft.com/office/officeart/2005/8/layout/hierarchy1"/>
    <dgm:cxn modelId="{66B27A3D-F331-49A5-BF41-E35992F6C583}" type="presParOf" srcId="{A0DDDB05-D891-4C6F-A44B-AA2FC5C73C6C}" destId="{EDAB42E4-83A0-4B75-84D8-3A981B31F2F2}" srcOrd="1" destOrd="0" presId="urn:microsoft.com/office/officeart/2005/8/layout/hierarchy1"/>
    <dgm:cxn modelId="{6FA6D303-D5E1-455C-9A64-EAE652A860E0}" type="presParOf" srcId="{EDAB42E4-83A0-4B75-84D8-3A981B31F2F2}" destId="{70DD4702-34D9-46AC-83F7-2003899EA0E8}" srcOrd="0" destOrd="0" presId="urn:microsoft.com/office/officeart/2005/8/layout/hierarchy1"/>
    <dgm:cxn modelId="{02B2E461-290A-4A5F-9B8E-D932F1276548}" type="presParOf" srcId="{70DD4702-34D9-46AC-83F7-2003899EA0E8}" destId="{8F9EC945-84AF-488B-AA68-9D7C668D4D57}" srcOrd="0" destOrd="0" presId="urn:microsoft.com/office/officeart/2005/8/layout/hierarchy1"/>
    <dgm:cxn modelId="{8F6789DD-227B-41D2-AF6C-768496C6563B}" type="presParOf" srcId="{70DD4702-34D9-46AC-83F7-2003899EA0E8}" destId="{E9FAEA66-6385-424B-BBE0-AB8EC583F32A}" srcOrd="1" destOrd="0" presId="urn:microsoft.com/office/officeart/2005/8/layout/hierarchy1"/>
    <dgm:cxn modelId="{8A3F13A5-9C86-4C7E-B1B3-8B39231002A6}" type="presParOf" srcId="{EDAB42E4-83A0-4B75-84D8-3A981B31F2F2}" destId="{49C4FB9A-BA51-4553-9B5B-32D8B006BC29}" srcOrd="1" destOrd="0" presId="urn:microsoft.com/office/officeart/2005/8/layout/hierarchy1"/>
    <dgm:cxn modelId="{E0E55AD5-7AAB-4756-BEAB-54F0F86E07AA}" type="presParOf" srcId="{A0DDDB05-D891-4C6F-A44B-AA2FC5C73C6C}" destId="{250FA7F1-F326-453E-A2F4-BF11795310B6}" srcOrd="2" destOrd="0" presId="urn:microsoft.com/office/officeart/2005/8/layout/hierarchy1"/>
    <dgm:cxn modelId="{70DACC0D-51A3-43CC-BACA-FAAC895DEE23}" type="presParOf" srcId="{A0DDDB05-D891-4C6F-A44B-AA2FC5C73C6C}" destId="{223B766C-A174-4212-A0F7-A052C144ED3C}" srcOrd="3" destOrd="0" presId="urn:microsoft.com/office/officeart/2005/8/layout/hierarchy1"/>
    <dgm:cxn modelId="{E43393DD-4876-4036-9ED2-4AFB6D3F5A60}" type="presParOf" srcId="{223B766C-A174-4212-A0F7-A052C144ED3C}" destId="{31DCF208-ABC3-4282-9BB8-40DE19E97286}" srcOrd="0" destOrd="0" presId="urn:microsoft.com/office/officeart/2005/8/layout/hierarchy1"/>
    <dgm:cxn modelId="{871A46AA-56B0-4F68-9781-0AE48BB99F1E}" type="presParOf" srcId="{31DCF208-ABC3-4282-9BB8-40DE19E97286}" destId="{3093DA70-2448-487C-BF5C-15276E406D09}" srcOrd="0" destOrd="0" presId="urn:microsoft.com/office/officeart/2005/8/layout/hierarchy1"/>
    <dgm:cxn modelId="{454C094E-C786-46B4-ADB3-8D275757AC64}" type="presParOf" srcId="{31DCF208-ABC3-4282-9BB8-40DE19E97286}" destId="{1A8C977D-E674-45C3-BB56-5E7E425DC1C0}" srcOrd="1" destOrd="0" presId="urn:microsoft.com/office/officeart/2005/8/layout/hierarchy1"/>
    <dgm:cxn modelId="{CBACDCB4-9310-49E3-BC77-157B85FF6AD3}" type="presParOf" srcId="{223B766C-A174-4212-A0F7-A052C144ED3C}" destId="{C456E32D-74D4-45A1-8AFC-357DEB7B6C21}" srcOrd="1" destOrd="0" presId="urn:microsoft.com/office/officeart/2005/8/layout/hierarchy1"/>
    <dgm:cxn modelId="{9799F29A-DCD8-4888-B540-B9B93DF214D6}" type="presParOf" srcId="{3B374546-C262-448A-B6A4-0A225B48FD7A}" destId="{CECC9EAC-67CE-460B-BCB7-DF59BC45ED10}" srcOrd="2" destOrd="0" presId="urn:microsoft.com/office/officeart/2005/8/layout/hierarchy1"/>
    <dgm:cxn modelId="{18E2A669-2A73-4D29-9042-0C3E5055AB6F}" type="presParOf" srcId="{3B374546-C262-448A-B6A4-0A225B48FD7A}" destId="{594D47F9-8607-43C5-933D-B4F9B14FB0B4}" srcOrd="3" destOrd="0" presId="urn:microsoft.com/office/officeart/2005/8/layout/hierarchy1"/>
    <dgm:cxn modelId="{B6089B6B-CBD8-435F-90EC-45399AE954FB}" type="presParOf" srcId="{594D47F9-8607-43C5-933D-B4F9B14FB0B4}" destId="{C19B99C5-733B-4F01-BB5C-20C11F68FD9E}" srcOrd="0" destOrd="0" presId="urn:microsoft.com/office/officeart/2005/8/layout/hierarchy1"/>
    <dgm:cxn modelId="{405FD763-F0E8-4060-B4D9-49FA0754AC46}" type="presParOf" srcId="{C19B99C5-733B-4F01-BB5C-20C11F68FD9E}" destId="{71C668E7-6C6F-411F-B2A2-679F93804CAF}" srcOrd="0" destOrd="0" presId="urn:microsoft.com/office/officeart/2005/8/layout/hierarchy1"/>
    <dgm:cxn modelId="{D19575B2-326C-4F06-B711-7E11F3080BA6}" type="presParOf" srcId="{C19B99C5-733B-4F01-BB5C-20C11F68FD9E}" destId="{2F81E734-5306-48F5-B491-C693F00EEA55}" srcOrd="1" destOrd="0" presId="urn:microsoft.com/office/officeart/2005/8/layout/hierarchy1"/>
    <dgm:cxn modelId="{41D3DFEB-5EAD-43AC-B0A9-9964BCEF611B}" type="presParOf" srcId="{594D47F9-8607-43C5-933D-B4F9B14FB0B4}" destId="{2A11F03E-3070-45A6-8095-9115C726182F}" srcOrd="1" destOrd="0" presId="urn:microsoft.com/office/officeart/2005/8/layout/hierarchy1"/>
    <dgm:cxn modelId="{C44A10D3-3CA4-4677-94FB-157D71879B1C}" type="presParOf" srcId="{2A11F03E-3070-45A6-8095-9115C726182F}" destId="{E03A0BAF-D0C5-4E7D-A243-9FD25690F7D9}" srcOrd="0" destOrd="0" presId="urn:microsoft.com/office/officeart/2005/8/layout/hierarchy1"/>
    <dgm:cxn modelId="{0C690308-61DA-4F65-9FED-AC62E44B076F}" type="presParOf" srcId="{2A11F03E-3070-45A6-8095-9115C726182F}" destId="{A2BCEA5C-CB49-4BF8-9DBF-B13469E615BE}" srcOrd="1" destOrd="0" presId="urn:microsoft.com/office/officeart/2005/8/layout/hierarchy1"/>
    <dgm:cxn modelId="{2DD17952-A20C-478A-90A0-47697A1342FF}" type="presParOf" srcId="{A2BCEA5C-CB49-4BF8-9DBF-B13469E615BE}" destId="{875BC7BC-AFA3-4492-A84F-FB7C5D352B92}" srcOrd="0" destOrd="0" presId="urn:microsoft.com/office/officeart/2005/8/layout/hierarchy1"/>
    <dgm:cxn modelId="{08BDF793-2B22-4416-A2DE-4D408724983C}" type="presParOf" srcId="{875BC7BC-AFA3-4492-A84F-FB7C5D352B92}" destId="{98291F1A-5C2C-40DB-8A48-0E3278225A52}" srcOrd="0" destOrd="0" presId="urn:microsoft.com/office/officeart/2005/8/layout/hierarchy1"/>
    <dgm:cxn modelId="{B91A8AA1-38D9-41EE-855F-072F009A8C3D}" type="presParOf" srcId="{875BC7BC-AFA3-4492-A84F-FB7C5D352B92}" destId="{8434DAD7-E37A-4462-AC2E-022FAFA203CA}" srcOrd="1" destOrd="0" presId="urn:microsoft.com/office/officeart/2005/8/layout/hierarchy1"/>
    <dgm:cxn modelId="{38C22CB9-D71F-404F-8CE5-F859A0EA9F45}" type="presParOf" srcId="{A2BCEA5C-CB49-4BF8-9DBF-B13469E615BE}" destId="{874F4C40-04A9-4525-9289-C3FA9201AC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A0BAF-D0C5-4E7D-A243-9FD25690F7D9}">
      <dsp:nvSpPr>
        <dsp:cNvPr id="0" name=""/>
        <dsp:cNvSpPr/>
      </dsp:nvSpPr>
      <dsp:spPr>
        <a:xfrm>
          <a:off x="2520661" y="1121803"/>
          <a:ext cx="91440" cy="2089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948"/>
              </a:lnTo>
            </a:path>
          </a:pathLst>
        </a:custGeom>
        <a:noFill/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CC9EAC-67CE-460B-BCB7-DF59BC45ED10}">
      <dsp:nvSpPr>
        <dsp:cNvPr id="0" name=""/>
        <dsp:cNvSpPr/>
      </dsp:nvSpPr>
      <dsp:spPr>
        <a:xfrm>
          <a:off x="1907804" y="456640"/>
          <a:ext cx="658577" cy="208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392"/>
              </a:lnTo>
              <a:lnTo>
                <a:pt x="658577" y="142392"/>
              </a:lnTo>
              <a:lnTo>
                <a:pt x="658577" y="208948"/>
              </a:lnTo>
            </a:path>
          </a:pathLst>
        </a:cu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FA7F1-F326-453E-A2F4-BF11795310B6}">
      <dsp:nvSpPr>
        <dsp:cNvPr id="0" name=""/>
        <dsp:cNvSpPr/>
      </dsp:nvSpPr>
      <dsp:spPr>
        <a:xfrm>
          <a:off x="1249226" y="1121803"/>
          <a:ext cx="439051" cy="208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392"/>
              </a:lnTo>
              <a:lnTo>
                <a:pt x="439051" y="142392"/>
              </a:lnTo>
              <a:lnTo>
                <a:pt x="439051" y="208948"/>
              </a:lnTo>
            </a:path>
          </a:pathLst>
        </a:custGeom>
        <a:noFill/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512FA-7F9E-49B7-9A5F-533935B8E3AC}">
      <dsp:nvSpPr>
        <dsp:cNvPr id="0" name=""/>
        <dsp:cNvSpPr/>
      </dsp:nvSpPr>
      <dsp:spPr>
        <a:xfrm>
          <a:off x="810174" y="1121803"/>
          <a:ext cx="439051" cy="208948"/>
        </a:xfrm>
        <a:custGeom>
          <a:avLst/>
          <a:gdLst/>
          <a:ahLst/>
          <a:cxnLst/>
          <a:rect l="0" t="0" r="0" b="0"/>
          <a:pathLst>
            <a:path>
              <a:moveTo>
                <a:pt x="439051" y="0"/>
              </a:moveTo>
              <a:lnTo>
                <a:pt x="439051" y="142392"/>
              </a:lnTo>
              <a:lnTo>
                <a:pt x="0" y="142392"/>
              </a:lnTo>
              <a:lnTo>
                <a:pt x="0" y="208948"/>
              </a:lnTo>
            </a:path>
          </a:pathLst>
        </a:custGeom>
        <a:noFill/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8E6FB-EA17-4E27-B8B2-A22F3E023740}">
      <dsp:nvSpPr>
        <dsp:cNvPr id="0" name=""/>
        <dsp:cNvSpPr/>
      </dsp:nvSpPr>
      <dsp:spPr>
        <a:xfrm>
          <a:off x="1249226" y="456640"/>
          <a:ext cx="658577" cy="208948"/>
        </a:xfrm>
        <a:custGeom>
          <a:avLst/>
          <a:gdLst/>
          <a:ahLst/>
          <a:cxnLst/>
          <a:rect l="0" t="0" r="0" b="0"/>
          <a:pathLst>
            <a:path>
              <a:moveTo>
                <a:pt x="658577" y="0"/>
              </a:moveTo>
              <a:lnTo>
                <a:pt x="658577" y="142392"/>
              </a:lnTo>
              <a:lnTo>
                <a:pt x="0" y="142392"/>
              </a:lnTo>
              <a:lnTo>
                <a:pt x="0" y="208948"/>
              </a:lnTo>
            </a:path>
          </a:pathLst>
        </a:cu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A5CD78-6E71-46A3-8379-B7583BD97475}">
      <dsp:nvSpPr>
        <dsp:cNvPr id="0" name=""/>
        <dsp:cNvSpPr/>
      </dsp:nvSpPr>
      <dsp:spPr>
        <a:xfrm>
          <a:off x="1548579" y="425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F40366-3706-4545-A19B-A910C0F732E1}">
      <dsp:nvSpPr>
        <dsp:cNvPr id="0" name=""/>
        <dsp:cNvSpPr/>
      </dsp:nvSpPr>
      <dsp:spPr>
        <a:xfrm>
          <a:off x="1628407" y="76261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500" kern="1200" dirty="0" smtClean="0"/>
            <a:t>R*-tree</a:t>
          </a:r>
          <a:endParaRPr lang="zh-TW" altLang="en-US" sz="1500" kern="1200" dirty="0"/>
        </a:p>
      </dsp:txBody>
      <dsp:txXfrm>
        <a:off x="1641769" y="89623"/>
        <a:ext cx="691724" cy="429490"/>
      </dsp:txXfrm>
    </dsp:sp>
    <dsp:sp modelId="{63B87F18-3B57-4F3C-BD9E-74125AE08A6D}">
      <dsp:nvSpPr>
        <dsp:cNvPr id="0" name=""/>
        <dsp:cNvSpPr/>
      </dsp:nvSpPr>
      <dsp:spPr>
        <a:xfrm>
          <a:off x="890002" y="665588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EF6225-9655-47F8-9FB2-169EDD1B1D3C}">
      <dsp:nvSpPr>
        <dsp:cNvPr id="0" name=""/>
        <dsp:cNvSpPr/>
      </dsp:nvSpPr>
      <dsp:spPr>
        <a:xfrm>
          <a:off x="969829" y="741425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500" kern="1200" dirty="0"/>
        </a:p>
      </dsp:txBody>
      <dsp:txXfrm>
        <a:off x="983191" y="754787"/>
        <a:ext cx="691724" cy="429490"/>
      </dsp:txXfrm>
    </dsp:sp>
    <dsp:sp modelId="{8F9EC945-84AF-488B-AA68-9D7C668D4D57}">
      <dsp:nvSpPr>
        <dsp:cNvPr id="0" name=""/>
        <dsp:cNvSpPr/>
      </dsp:nvSpPr>
      <dsp:spPr>
        <a:xfrm>
          <a:off x="450950" y="1330752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FAEA66-6385-424B-BBE0-AB8EC583F32A}">
      <dsp:nvSpPr>
        <dsp:cNvPr id="0" name=""/>
        <dsp:cNvSpPr/>
      </dsp:nvSpPr>
      <dsp:spPr>
        <a:xfrm>
          <a:off x="530777" y="1406588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500" kern="1200"/>
        </a:p>
      </dsp:txBody>
      <dsp:txXfrm>
        <a:off x="544139" y="1419950"/>
        <a:ext cx="691724" cy="429490"/>
      </dsp:txXfrm>
    </dsp:sp>
    <dsp:sp modelId="{3093DA70-2448-487C-BF5C-15276E406D09}">
      <dsp:nvSpPr>
        <dsp:cNvPr id="0" name=""/>
        <dsp:cNvSpPr/>
      </dsp:nvSpPr>
      <dsp:spPr>
        <a:xfrm>
          <a:off x="1329053" y="1330752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8C977D-E674-45C3-BB56-5E7E425DC1C0}">
      <dsp:nvSpPr>
        <dsp:cNvPr id="0" name=""/>
        <dsp:cNvSpPr/>
      </dsp:nvSpPr>
      <dsp:spPr>
        <a:xfrm>
          <a:off x="1408881" y="1406588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500" kern="1200"/>
        </a:p>
      </dsp:txBody>
      <dsp:txXfrm>
        <a:off x="1422243" y="1419950"/>
        <a:ext cx="691724" cy="429490"/>
      </dsp:txXfrm>
    </dsp:sp>
    <dsp:sp modelId="{71C668E7-6C6F-411F-B2A2-679F93804CAF}">
      <dsp:nvSpPr>
        <dsp:cNvPr id="0" name=""/>
        <dsp:cNvSpPr/>
      </dsp:nvSpPr>
      <dsp:spPr>
        <a:xfrm>
          <a:off x="2207157" y="665588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F81E734-5306-48F5-B491-C693F00EEA55}">
      <dsp:nvSpPr>
        <dsp:cNvPr id="0" name=""/>
        <dsp:cNvSpPr/>
      </dsp:nvSpPr>
      <dsp:spPr>
        <a:xfrm>
          <a:off x="2286985" y="741425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500" kern="1200"/>
        </a:p>
      </dsp:txBody>
      <dsp:txXfrm>
        <a:off x="2300347" y="754787"/>
        <a:ext cx="691724" cy="429490"/>
      </dsp:txXfrm>
    </dsp:sp>
    <dsp:sp modelId="{98291F1A-5C2C-40DB-8A48-0E3278225A52}">
      <dsp:nvSpPr>
        <dsp:cNvPr id="0" name=""/>
        <dsp:cNvSpPr/>
      </dsp:nvSpPr>
      <dsp:spPr>
        <a:xfrm>
          <a:off x="2207157" y="1330752"/>
          <a:ext cx="718448" cy="456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tint val="66000"/>
                <a:satMod val="200000"/>
              </a:schemeClr>
            </a:gs>
            <a:gs pos="73000">
              <a:schemeClr val="accent3">
                <a:hueOff val="0"/>
                <a:satOff val="0"/>
                <a:lumOff val="0"/>
                <a:alphaOff val="0"/>
                <a:tint val="61000"/>
                <a:satMod val="2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45000"/>
                <a:satMod val="200000"/>
              </a:schemeClr>
            </a:gs>
          </a:gsLst>
          <a:lin ang="950000" scaled="1"/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434DAD7-E37A-4462-AC2E-022FAFA203CA}">
      <dsp:nvSpPr>
        <dsp:cNvPr id="0" name=""/>
        <dsp:cNvSpPr/>
      </dsp:nvSpPr>
      <dsp:spPr>
        <a:xfrm>
          <a:off x="2286985" y="1406588"/>
          <a:ext cx="718448" cy="4562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500" kern="1200"/>
        </a:p>
      </dsp:txBody>
      <dsp:txXfrm>
        <a:off x="2300347" y="1419950"/>
        <a:ext cx="691724" cy="429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1E9FC-490C-4865-A082-2CA8BB7D5A91}" type="datetimeFigureOut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1C7-1ECC-4CF7-ABF1-426C76202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58AF-C11A-4B8D-B5DF-F124E30CB17B}" type="datetimeFigureOut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9042-3193-49F2-8086-409E581C9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63C37-D8EC-4143-9D1F-10BF7A89B70D}" type="slidenum">
              <a:rPr lang="ar-SA"/>
              <a:pPr/>
              <a:t>7</a:t>
            </a:fld>
            <a:endParaRPr lang="en-US" altLang="zh-TW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7FC26-F16E-4198-9FBD-4224B9C7122A}" type="slidenum">
              <a:rPr lang="ar-SA"/>
              <a:pPr/>
              <a:t>8</a:t>
            </a:fld>
            <a:endParaRPr lang="en-US" altLang="zh-TW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B3D76B-8794-4C82-9E4C-C1A0A56D8E71}" type="slidenum">
              <a:rPr lang="ar-SA"/>
              <a:pPr/>
              <a:t>9</a:t>
            </a:fld>
            <a:endParaRPr lang="en-US" altLang="zh-TW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AA805F-E1D5-41F1-93C5-D0CABC1B6B18}" type="slidenum">
              <a:rPr lang="ar-SA"/>
              <a:pPr/>
              <a:t>10</a:t>
            </a:fld>
            <a:endParaRPr lang="en-US" altLang="zh-TW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48D5A7-C77F-451E-A9C7-0829380391DC}" type="slidenum">
              <a:rPr lang="ar-SA"/>
              <a:pPr/>
              <a:t>11</a:t>
            </a:fld>
            <a:endParaRPr lang="en-US" altLang="zh-TW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D8A91-395C-4A95-A02D-A90FD7E07B4C}" type="slidenum">
              <a:rPr lang="ar-SA"/>
              <a:pPr/>
              <a:t>12</a:t>
            </a:fld>
            <a:endParaRPr lang="en-US" altLang="zh-TW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DD0A8-764C-4348-9BC5-01772BA131D2}" type="slidenum">
              <a:rPr lang="ar-SA"/>
              <a:pPr/>
              <a:t>13</a:t>
            </a:fld>
            <a:endParaRPr lang="en-US" altLang="zh-TW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11A44A-AE4C-4122-9349-D0934C4775F2}" type="slidenum">
              <a:rPr lang="ar-SA"/>
              <a:pPr/>
              <a:t>14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656184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429001"/>
            <a:ext cx="6858000" cy="1512167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304256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356992"/>
            <a:ext cx="7305675" cy="165618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30425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356992"/>
            <a:ext cx="238125" cy="165618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39416" y="1052736"/>
            <a:ext cx="6858000" cy="2160240"/>
          </a:xfrm>
        </p:spPr>
        <p:txBody>
          <a:bodyPr>
            <a:noAutofit/>
          </a:bodyPr>
          <a:lstStyle/>
          <a:p>
            <a:pPr algn="l"/>
            <a:r>
              <a:rPr lang="en-US" altLang="zh-TW" dirty="0"/>
              <a:t>Image Retrieval from Databases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an </a:t>
            </a:r>
            <a:r>
              <a:rPr lang="en-US" altLang="zh-TW" dirty="0"/>
              <a:t>Approach using Region</a:t>
            </a:r>
            <a:br>
              <a:rPr lang="en-US" altLang="zh-TW" dirty="0"/>
            </a:br>
            <a:r>
              <a:rPr lang="en-US" altLang="zh-TW" dirty="0"/>
              <a:t>Color and Indexing Technique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1800" b="0" dirty="0"/>
              <a:t>IJCSNS International Journal of Computer Science and Network </a:t>
            </a:r>
            <a:r>
              <a:rPr lang="en-US" altLang="zh-TW" sz="1800" b="0" dirty="0" smtClean="0"/>
              <a:t>Security</a:t>
            </a:r>
            <a:br>
              <a:rPr lang="en-US" altLang="zh-TW" sz="1800" b="0" dirty="0" smtClean="0"/>
            </a:br>
            <a:r>
              <a:rPr lang="en-US" altLang="zh-TW" sz="1800" b="0" dirty="0" smtClean="0"/>
              <a:t>Vol.8, </a:t>
            </a:r>
            <a:r>
              <a:rPr lang="en-US" altLang="zh-TW" sz="1800" b="0" dirty="0"/>
              <a:t>No.1, </a:t>
            </a:r>
            <a:r>
              <a:rPr lang="en-US" altLang="zh-TW" sz="1800" b="0" dirty="0" smtClean="0"/>
              <a:t>2008</a:t>
            </a:r>
            <a:endParaRPr lang="zh-TW" altLang="en-US" sz="1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85208" y="3501008"/>
            <a:ext cx="6817568" cy="1414812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b="1" dirty="0" smtClean="0"/>
              <a:t>M. V. </a:t>
            </a:r>
            <a:r>
              <a:rPr lang="en-US" altLang="zh-TW" sz="2400" b="1" dirty="0" err="1"/>
              <a:t>Sudhamani</a:t>
            </a:r>
            <a:r>
              <a:rPr lang="en-US" altLang="zh-TW" sz="2400" dirty="0" smtClean="0"/>
              <a:t>,</a:t>
            </a:r>
            <a:r>
              <a:rPr lang="en-US" altLang="zh-TW" sz="2400" b="1" dirty="0" smtClean="0"/>
              <a:t> C. R. </a:t>
            </a:r>
            <a:r>
              <a:rPr lang="en-US" altLang="zh-TW" sz="2400" b="1" dirty="0" err="1"/>
              <a:t>Venugopal</a:t>
            </a: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err="1"/>
              <a:t>Visvesvaraya</a:t>
            </a:r>
            <a:r>
              <a:rPr lang="en-US" altLang="zh-TW" dirty="0"/>
              <a:t> Technological </a:t>
            </a:r>
            <a:r>
              <a:rPr lang="en-US" altLang="zh-TW" dirty="0" smtClean="0"/>
              <a:t>University</a:t>
            </a:r>
          </a:p>
          <a:p>
            <a:pPr algn="l"/>
            <a:r>
              <a:rPr lang="en-US" altLang="zh-TW" dirty="0" smtClean="0"/>
              <a:t>Karnataka</a:t>
            </a:r>
            <a:r>
              <a:rPr lang="en-US" altLang="zh-TW" dirty="0"/>
              <a:t>, India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257008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400" dirty="0" err="1" smtClean="0">
                <a:solidFill>
                  <a:schemeClr val="tx1"/>
                </a:solidFill>
              </a:rPr>
              <a:t>Presentor</a:t>
            </a:r>
            <a:r>
              <a:rPr lang="zh-TW" altLang="en-US" sz="2400" dirty="0" smtClean="0">
                <a:solidFill>
                  <a:schemeClr val="tx1"/>
                </a:solidFill>
              </a:rPr>
              <a:t>：</a:t>
            </a:r>
            <a:r>
              <a:rPr lang="en-US" altLang="zh-TW" sz="2400" dirty="0" err="1" smtClean="0">
                <a:solidFill>
                  <a:schemeClr val="tx1"/>
                </a:solidFill>
              </a:rPr>
              <a:t>Hsin-Chuan</a:t>
            </a:r>
            <a:r>
              <a:rPr lang="en-US" altLang="zh-TW" sz="2400" dirty="0" smtClean="0">
                <a:solidFill>
                  <a:schemeClr val="tx1"/>
                </a:solidFill>
              </a:rPr>
              <a:t> Yuan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paper focuses on a low-dimensional color-based </a:t>
            </a:r>
            <a:r>
              <a:rPr lang="en-US" altLang="zh-TW" dirty="0" smtClean="0"/>
              <a:t>indexing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technique </a:t>
            </a:r>
            <a:r>
              <a:rPr lang="en-US" altLang="zh-TW" dirty="0"/>
              <a:t>for achieving efficient and effective </a:t>
            </a:r>
            <a:r>
              <a:rPr lang="en-US" altLang="zh-TW" dirty="0" smtClean="0"/>
              <a:t>retrieval</a:t>
            </a:r>
            <a:r>
              <a:rPr lang="zh-TW" altLang="en-US" dirty="0" smtClean="0"/>
              <a:t> </a:t>
            </a:r>
            <a:r>
              <a:rPr lang="en-US" altLang="zh-TW" dirty="0" smtClean="0"/>
              <a:t>performance</a:t>
            </a:r>
            <a:r>
              <a:rPr lang="en-US" altLang="zh-TW" dirty="0"/>
              <a:t>. We have implemented the technique of retrieval </a:t>
            </a:r>
            <a:r>
              <a:rPr lang="en-US" altLang="zh-TW" dirty="0" smtClean="0"/>
              <a:t>of</a:t>
            </a:r>
            <a:r>
              <a:rPr lang="zh-TW" altLang="en-US" dirty="0" smtClean="0"/>
              <a:t> </a:t>
            </a:r>
            <a:r>
              <a:rPr lang="en-US" altLang="zh-TW" dirty="0" smtClean="0"/>
              <a:t>images </a:t>
            </a:r>
            <a:r>
              <a:rPr lang="en-US" altLang="zh-TW" dirty="0"/>
              <a:t>from databases based on color feature </a:t>
            </a:r>
            <a:r>
              <a:rPr lang="en-US" altLang="zh-TW" dirty="0" smtClean="0"/>
              <a:t>extracted from</a:t>
            </a:r>
            <a:r>
              <a:rPr lang="zh-TW" altLang="en-US" dirty="0" smtClean="0"/>
              <a:t> </a:t>
            </a:r>
            <a:r>
              <a:rPr lang="en-US" altLang="zh-TW" dirty="0" smtClean="0"/>
              <a:t>each </a:t>
            </a:r>
            <a:r>
              <a:rPr lang="en-US" altLang="zh-TW" dirty="0"/>
              <a:t>region/regions of an image represented by dominant </a:t>
            </a:r>
            <a:r>
              <a:rPr lang="en-US" altLang="zh-TW" dirty="0" smtClean="0"/>
              <a:t>or</a:t>
            </a:r>
            <a:r>
              <a:rPr lang="zh-TW" altLang="en-US" dirty="0" smtClean="0"/>
              <a:t> </a:t>
            </a:r>
            <a:r>
              <a:rPr lang="en-US" altLang="zh-TW" dirty="0" smtClean="0"/>
              <a:t>representative </a:t>
            </a:r>
            <a:r>
              <a:rPr lang="en-US" altLang="zh-TW" dirty="0"/>
              <a:t>color descriptor. Each image is segmented </a:t>
            </a:r>
            <a:r>
              <a:rPr lang="en-US" altLang="zh-TW" dirty="0" smtClean="0"/>
              <a:t>using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Mean Shift </a:t>
            </a:r>
            <a:r>
              <a:rPr lang="en-US" altLang="zh-TW" dirty="0"/>
              <a:t>algorithm, a robust clustering technique to </a:t>
            </a:r>
            <a:r>
              <a:rPr lang="en-US" altLang="zh-TW" dirty="0" smtClean="0"/>
              <a:t>extract</a:t>
            </a:r>
            <a:r>
              <a:rPr lang="zh-TW" altLang="en-US" dirty="0" smtClean="0"/>
              <a:t> </a:t>
            </a:r>
            <a:r>
              <a:rPr lang="en-US" altLang="zh-TW" dirty="0" smtClean="0"/>
              <a:t>color </a:t>
            </a:r>
            <a:r>
              <a:rPr lang="en-US" altLang="zh-TW" dirty="0"/>
              <a:t>feature of a region of interest. Image databases have </a:t>
            </a:r>
            <a:r>
              <a:rPr lang="en-US" altLang="zh-TW" dirty="0" smtClean="0"/>
              <a:t>been</a:t>
            </a:r>
            <a:r>
              <a:rPr lang="zh-TW" altLang="en-US" dirty="0" smtClean="0"/>
              <a:t> </a:t>
            </a:r>
            <a:r>
              <a:rPr lang="en-US" altLang="zh-TW" dirty="0" smtClean="0"/>
              <a:t>designed </a:t>
            </a:r>
            <a:r>
              <a:rPr lang="en-US" altLang="zh-TW" dirty="0"/>
              <a:t>and the image region features are ingested into </a:t>
            </a:r>
            <a:r>
              <a:rPr lang="en-US" altLang="zh-TW" dirty="0" smtClean="0"/>
              <a:t>them.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160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Indexing data structures are designed to support basic operations</a:t>
            </a:r>
            <a:r>
              <a:rPr lang="zh-TW" altLang="en-US" dirty="0"/>
              <a:t> </a:t>
            </a:r>
            <a:r>
              <a:rPr lang="en-US" altLang="zh-TW" dirty="0"/>
              <a:t>on image databases such as search, insertion, and deletion.</a:t>
            </a:r>
            <a:r>
              <a:rPr lang="zh-TW" altLang="en-US" dirty="0"/>
              <a:t> </a:t>
            </a:r>
            <a:r>
              <a:rPr lang="en-US" altLang="zh-TW" dirty="0"/>
              <a:t>Search efficiency is considered as the most important aspect</a:t>
            </a:r>
            <a:r>
              <a:rPr lang="zh-TW" altLang="en-US" dirty="0"/>
              <a:t> </a:t>
            </a:r>
            <a:r>
              <a:rPr lang="en-US" altLang="zh-TW" dirty="0"/>
              <a:t>because search is normally carried out on-line. The new</a:t>
            </a:r>
            <a:r>
              <a:rPr lang="zh-TW" altLang="en-US" dirty="0"/>
              <a:t> </a:t>
            </a:r>
            <a:r>
              <a:rPr lang="en-US" altLang="zh-TW" dirty="0"/>
              <a:t>algorithm cluster-based R*-tree indexing is proposed and</a:t>
            </a:r>
            <a:r>
              <a:rPr lang="zh-TW" altLang="en-US" dirty="0"/>
              <a:t> </a:t>
            </a:r>
            <a:r>
              <a:rPr lang="en-US" altLang="zh-TW" dirty="0"/>
              <a:t>compared the efficiency with R* -tree and sequential search. The</a:t>
            </a:r>
            <a:r>
              <a:rPr lang="zh-TW" altLang="en-US" dirty="0"/>
              <a:t> </a:t>
            </a:r>
            <a:r>
              <a:rPr lang="en-US" altLang="zh-TW" dirty="0"/>
              <a:t>accuracy of the retrieval system is measured and compared the</a:t>
            </a:r>
            <a:r>
              <a:rPr lang="zh-TW" altLang="en-US" dirty="0"/>
              <a:t> </a:t>
            </a:r>
            <a:r>
              <a:rPr lang="en-US" altLang="zh-TW" dirty="0"/>
              <a:t>results. Experimental results show the high performance of the</a:t>
            </a:r>
            <a:r>
              <a:rPr lang="zh-TW" altLang="en-US" dirty="0"/>
              <a:t> </a:t>
            </a:r>
            <a:r>
              <a:rPr lang="en-US" altLang="zh-TW" dirty="0"/>
              <a:t>proposed method. The toolbox is developed in JAVA to</a:t>
            </a:r>
            <a:r>
              <a:rPr lang="zh-TW" altLang="en-US" dirty="0"/>
              <a:t> </a:t>
            </a:r>
            <a:r>
              <a:rPr lang="en-US" altLang="zh-TW" dirty="0"/>
              <a:t>incorporate all these modules and retrieve images based on</a:t>
            </a:r>
            <a:r>
              <a:rPr lang="zh-TW" altLang="en-US" dirty="0"/>
              <a:t> </a:t>
            </a:r>
            <a:r>
              <a:rPr lang="en-US" altLang="zh-TW" dirty="0"/>
              <a:t>query-by-example.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717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Construct an </a:t>
            </a:r>
            <a:r>
              <a:rPr lang="en-US" altLang="zh-TW" dirty="0" smtClean="0">
                <a:solidFill>
                  <a:srgbClr val="FF0000"/>
                </a:solidFill>
              </a:rPr>
              <a:t>image database </a:t>
            </a:r>
            <a:r>
              <a:rPr lang="en-US" altLang="zh-TW" dirty="0" smtClean="0"/>
              <a:t>which support </a:t>
            </a:r>
            <a:r>
              <a:rPr lang="en-US" altLang="zh-TW" dirty="0"/>
              <a:t>basic operations</a:t>
            </a:r>
            <a:r>
              <a:rPr lang="en-US" altLang="zh-TW" dirty="0" smtClean="0"/>
              <a:t> </a:t>
            </a:r>
            <a:r>
              <a:rPr lang="en-US" altLang="zh-TW" dirty="0"/>
              <a:t>such as </a:t>
            </a:r>
            <a:r>
              <a:rPr lang="en-US" altLang="zh-TW" dirty="0">
                <a:solidFill>
                  <a:srgbClr val="FF0000"/>
                </a:solidFill>
              </a:rPr>
              <a:t>search, insertion, and deletion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Architecture</a:t>
            </a:r>
          </a:p>
          <a:p>
            <a:pPr lvl="1"/>
            <a:r>
              <a:rPr lang="en-US" altLang="zh-TW" dirty="0"/>
              <a:t>Feature Extraction</a:t>
            </a:r>
            <a:endParaRPr lang="en-US" altLang="zh-TW" dirty="0" smtClean="0"/>
          </a:p>
          <a:p>
            <a:pPr lvl="2"/>
            <a:r>
              <a:rPr lang="en-US" altLang="zh-TW" dirty="0"/>
              <a:t>Mean Shift </a:t>
            </a:r>
            <a:r>
              <a:rPr lang="en-US" altLang="zh-TW" dirty="0" smtClean="0"/>
              <a:t>Segmentation</a:t>
            </a:r>
          </a:p>
          <a:p>
            <a:pPr lvl="1"/>
            <a:r>
              <a:rPr lang="en-US" altLang="zh-TW" dirty="0"/>
              <a:t>Database Design and </a:t>
            </a:r>
            <a:r>
              <a:rPr lang="en-US" altLang="zh-TW" dirty="0" smtClean="0"/>
              <a:t>Indexing</a:t>
            </a:r>
          </a:p>
          <a:p>
            <a:pPr lvl="1"/>
            <a:r>
              <a:rPr lang="en-US" altLang="zh-TW" dirty="0" smtClean="0"/>
              <a:t>R-tree</a:t>
            </a:r>
            <a:endParaRPr lang="en-US" altLang="zh-TW" dirty="0" smtClean="0"/>
          </a:p>
          <a:p>
            <a:pPr lvl="1"/>
            <a:r>
              <a:rPr lang="en-US" altLang="zh-TW" dirty="0"/>
              <a:t>Experimental Results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75856"/>
            <a:ext cx="5106144" cy="3829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b="1" dirty="0"/>
              <a:t>Data </a:t>
            </a:r>
            <a:r>
              <a:rPr lang="en-US" altLang="zh-TW" b="1" dirty="0" smtClean="0"/>
              <a:t>insertion</a:t>
            </a:r>
            <a:r>
              <a:rPr lang="zh-TW" altLang="en-US" dirty="0" smtClean="0"/>
              <a:t>：</a:t>
            </a:r>
            <a:r>
              <a:rPr lang="en-US" altLang="zh-TW" sz="2400" dirty="0" smtClean="0"/>
              <a:t>extracting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appropriate </a:t>
            </a:r>
            <a:r>
              <a:rPr lang="en-US" altLang="zh-TW" sz="2400" dirty="0"/>
              <a:t>features from images and </a:t>
            </a:r>
            <a:r>
              <a:rPr lang="en-US" altLang="zh-TW" sz="2400" dirty="0" smtClean="0"/>
              <a:t>storing </a:t>
            </a:r>
            <a:r>
              <a:rPr lang="en-US" altLang="zh-TW" sz="2400" dirty="0"/>
              <a:t>them into </a:t>
            </a:r>
            <a:r>
              <a:rPr lang="en-US" altLang="zh-TW" sz="2400" dirty="0" smtClean="0"/>
              <a:t>the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image </a:t>
            </a:r>
            <a:r>
              <a:rPr lang="en-US" altLang="zh-TW" sz="2400" dirty="0"/>
              <a:t>database</a:t>
            </a:r>
            <a:r>
              <a:rPr lang="en-US" altLang="zh-TW" sz="2400" dirty="0" smtClean="0"/>
              <a:t>.</a:t>
            </a:r>
          </a:p>
          <a:p>
            <a:r>
              <a:rPr lang="en-US" altLang="zh-TW" b="1" dirty="0" smtClean="0"/>
              <a:t>Query processing</a:t>
            </a:r>
            <a:r>
              <a:rPr lang="zh-TW" altLang="en-US" dirty="0" smtClean="0"/>
              <a:t>：</a:t>
            </a:r>
            <a:r>
              <a:rPr lang="en-US" altLang="zh-TW" sz="2400" dirty="0" smtClean="0"/>
              <a:t>extracts </a:t>
            </a:r>
            <a:r>
              <a:rPr lang="en-US" altLang="zh-TW" sz="2400" dirty="0"/>
              <a:t>a feature </a:t>
            </a:r>
            <a:r>
              <a:rPr lang="en-US" altLang="zh-TW" sz="2400" dirty="0" smtClean="0"/>
              <a:t>vector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from </a:t>
            </a:r>
            <a:r>
              <a:rPr lang="en-US" altLang="zh-TW" sz="2400" dirty="0"/>
              <a:t>a query </a:t>
            </a:r>
            <a:r>
              <a:rPr lang="en-US" altLang="zh-TW" sz="2400" dirty="0" smtClean="0"/>
              <a:t>pattern,</a:t>
            </a:r>
            <a:r>
              <a:rPr lang="en-US" altLang="zh-TW" sz="2400" dirty="0"/>
              <a:t> evaluate the similarity between the </a:t>
            </a:r>
            <a:r>
              <a:rPr lang="en-US" altLang="zh-TW" sz="2400" dirty="0" smtClean="0"/>
              <a:t>query image </a:t>
            </a:r>
            <a:r>
              <a:rPr lang="en-US" altLang="zh-TW" sz="2400" dirty="0"/>
              <a:t>and the database images.</a:t>
            </a:r>
            <a:endParaRPr lang="zh-TW" alt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839" y="3284984"/>
            <a:ext cx="5437169" cy="363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52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Extraction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Mean Shift Segmentation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68" y="2924944"/>
            <a:ext cx="2502024" cy="3336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927" y="2923964"/>
            <a:ext cx="2497884" cy="333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向右箭號 5"/>
          <p:cNvSpPr/>
          <p:nvPr/>
        </p:nvSpPr>
        <p:spPr>
          <a:xfrm>
            <a:off x="5436096" y="4412940"/>
            <a:ext cx="576064" cy="36004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47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</a:t>
            </a:r>
            <a:r>
              <a:rPr lang="en-US" altLang="zh-TW" dirty="0" smtClean="0"/>
              <a:t>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293" name="Oval 101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4" name="Oval 102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5" name="Oval 103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6" name="Oval 104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7" name="Oval 105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8" name="Oval 106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299" name="Oval 107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0" name="Oval 108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1" name="Oval 109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2" name="Oval 110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3" name="Oval 111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4" name="Oval 112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5" name="Oval 113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6" name="Oval 114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7" name="Oval 115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8" name="Oval 116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09" name="Oval 117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0" name="Oval 118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1" name="Oval 119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2" name="Oval 120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3" name="Oval 121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4" name="Oval 122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5" name="Oval 123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6" name="Oval 124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7" name="Oval 125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8" name="Oval 126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19" name="Oval 127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0" name="Oval 128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1" name="Oval 129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2" name="Oval 130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3" name="Oval 131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4" name="Oval 132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5" name="Oval 133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6" name="Oval 134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7" name="Oval 135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8" name="Oval 136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29" name="Oval 137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0" name="Oval 138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1" name="Oval 139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2" name="Oval 140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3" name="Oval 141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4" name="Oval 142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5" name="Oval 143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6" name="Oval 144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7" name="Oval 145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8" name="Oval 146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39" name="Oval 147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0" name="Oval 148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1" name="Oval 149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2" name="Oval 150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3" name="Oval 151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4" name="Oval 152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5" name="Oval 153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6" name="Oval 154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7" name="Oval 155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8" name="Oval 156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49" name="Oval 157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0" name="Oval 158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1" name="Oval 159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2" name="Oval 160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3" name="Oval 161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4" name="Oval 162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5" name="Oval 163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6" name="Oval 164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7" name="Oval 165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8" name="Oval 166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59" name="Oval 167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0" name="Oval 168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1" name="Oval 169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2" name="Oval 170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3" name="Oval 171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4" name="Oval 172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5" name="Oval 173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6" name="Oval 174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7" name="Oval 175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8" name="Oval 176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69" name="Oval 177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0" name="Oval 178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1" name="Oval 179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2" name="Oval 180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3" name="Oval 181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4" name="Oval 182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5" name="Oval 183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6" name="Oval 184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7" name="Oval 185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8" name="Oval 186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79" name="Oval 187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80" name="Oval 188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81" name="Oval 189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82" name="Oval 190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83" name="Oval 191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384" name="Oval 192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8398" name="Group 206"/>
          <p:cNvGrpSpPr>
            <a:grpSpLocks/>
          </p:cNvGrpSpPr>
          <p:nvPr/>
        </p:nvGrpSpPr>
        <p:grpSpPr bwMode="auto">
          <a:xfrm>
            <a:off x="2590800" y="1524000"/>
            <a:ext cx="2819400" cy="2895600"/>
            <a:chOff x="3744" y="4464"/>
            <a:chExt cx="1776" cy="1824"/>
          </a:xfrm>
        </p:grpSpPr>
        <p:sp>
          <p:nvSpPr>
            <p:cNvPr id="8385" name="Oval 193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8393" name="Group 201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8387" name="Oval 195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8388" name="Line 196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392" name="Line 200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8401" name="Group 209"/>
          <p:cNvGrpSpPr>
            <a:grpSpLocks/>
          </p:cNvGrpSpPr>
          <p:nvPr/>
        </p:nvGrpSpPr>
        <p:grpSpPr bwMode="auto">
          <a:xfrm>
            <a:off x="4343400" y="2895600"/>
            <a:ext cx="457200" cy="457200"/>
            <a:chOff x="4486" y="3484"/>
            <a:chExt cx="288" cy="288"/>
          </a:xfrm>
        </p:grpSpPr>
        <p:sp>
          <p:nvSpPr>
            <p:cNvPr id="8402" name="Oval 210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8403" name="Line 211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404" name="Line 212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405" name="AutoShape 213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8407" name="Freeform 215"/>
          <p:cNvSpPr>
            <a:spLocks/>
          </p:cNvSpPr>
          <p:nvPr/>
        </p:nvSpPr>
        <p:spPr bwMode="auto">
          <a:xfrm>
            <a:off x="5310188" y="1443038"/>
            <a:ext cx="2170112" cy="1014412"/>
          </a:xfrm>
          <a:custGeom>
            <a:avLst/>
            <a:gdLst>
              <a:gd name="T0" fmla="*/ 1367 w 1367"/>
              <a:gd name="T1" fmla="*/ 21 h 639"/>
              <a:gd name="T2" fmla="*/ 1263 w 1367"/>
              <a:gd name="T3" fmla="*/ 14 h 639"/>
              <a:gd name="T4" fmla="*/ 1201 w 1367"/>
              <a:gd name="T5" fmla="*/ 42 h 639"/>
              <a:gd name="T6" fmla="*/ 874 w 1367"/>
              <a:gd name="T7" fmla="*/ 139 h 639"/>
              <a:gd name="T8" fmla="*/ 798 w 1367"/>
              <a:gd name="T9" fmla="*/ 160 h 639"/>
              <a:gd name="T10" fmla="*/ 756 w 1367"/>
              <a:gd name="T11" fmla="*/ 174 h 639"/>
              <a:gd name="T12" fmla="*/ 743 w 1367"/>
              <a:gd name="T13" fmla="*/ 194 h 639"/>
              <a:gd name="T14" fmla="*/ 722 w 1367"/>
              <a:gd name="T15" fmla="*/ 201 h 639"/>
              <a:gd name="T16" fmla="*/ 715 w 1367"/>
              <a:gd name="T17" fmla="*/ 222 h 639"/>
              <a:gd name="T18" fmla="*/ 687 w 1367"/>
              <a:gd name="T19" fmla="*/ 264 h 639"/>
              <a:gd name="T20" fmla="*/ 631 w 1367"/>
              <a:gd name="T21" fmla="*/ 333 h 639"/>
              <a:gd name="T22" fmla="*/ 437 w 1367"/>
              <a:gd name="T23" fmla="*/ 375 h 639"/>
              <a:gd name="T24" fmla="*/ 402 w 1367"/>
              <a:gd name="T25" fmla="*/ 382 h 639"/>
              <a:gd name="T26" fmla="*/ 361 w 1367"/>
              <a:gd name="T27" fmla="*/ 396 h 639"/>
              <a:gd name="T28" fmla="*/ 347 w 1367"/>
              <a:gd name="T29" fmla="*/ 416 h 639"/>
              <a:gd name="T30" fmla="*/ 326 w 1367"/>
              <a:gd name="T31" fmla="*/ 430 h 639"/>
              <a:gd name="T32" fmla="*/ 250 w 1367"/>
              <a:gd name="T33" fmla="*/ 528 h 639"/>
              <a:gd name="T34" fmla="*/ 180 w 1367"/>
              <a:gd name="T35" fmla="*/ 597 h 639"/>
              <a:gd name="T36" fmla="*/ 139 w 1367"/>
              <a:gd name="T37" fmla="*/ 625 h 639"/>
              <a:gd name="T38" fmla="*/ 118 w 1367"/>
              <a:gd name="T39" fmla="*/ 639 h 639"/>
              <a:gd name="T40" fmla="*/ 0 w 1367"/>
              <a:gd name="T41" fmla="*/ 625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67" h="639">
                <a:moveTo>
                  <a:pt x="1367" y="21"/>
                </a:moveTo>
                <a:cubicBezTo>
                  <a:pt x="1305" y="0"/>
                  <a:pt x="1340" y="5"/>
                  <a:pt x="1263" y="14"/>
                </a:cubicBezTo>
                <a:cubicBezTo>
                  <a:pt x="1213" y="31"/>
                  <a:pt x="1233" y="20"/>
                  <a:pt x="1201" y="42"/>
                </a:cubicBezTo>
                <a:cubicBezTo>
                  <a:pt x="1119" y="162"/>
                  <a:pt x="1014" y="134"/>
                  <a:pt x="874" y="139"/>
                </a:cubicBezTo>
                <a:cubicBezTo>
                  <a:pt x="826" y="149"/>
                  <a:pt x="851" y="142"/>
                  <a:pt x="798" y="160"/>
                </a:cubicBezTo>
                <a:cubicBezTo>
                  <a:pt x="784" y="165"/>
                  <a:pt x="756" y="174"/>
                  <a:pt x="756" y="174"/>
                </a:cubicBezTo>
                <a:cubicBezTo>
                  <a:pt x="752" y="181"/>
                  <a:pt x="749" y="189"/>
                  <a:pt x="743" y="194"/>
                </a:cubicBezTo>
                <a:cubicBezTo>
                  <a:pt x="737" y="199"/>
                  <a:pt x="727" y="196"/>
                  <a:pt x="722" y="201"/>
                </a:cubicBezTo>
                <a:cubicBezTo>
                  <a:pt x="717" y="206"/>
                  <a:pt x="719" y="216"/>
                  <a:pt x="715" y="222"/>
                </a:cubicBezTo>
                <a:cubicBezTo>
                  <a:pt x="707" y="237"/>
                  <a:pt x="696" y="250"/>
                  <a:pt x="687" y="264"/>
                </a:cubicBezTo>
                <a:cubicBezTo>
                  <a:pt x="667" y="293"/>
                  <a:pt x="667" y="321"/>
                  <a:pt x="631" y="333"/>
                </a:cubicBezTo>
                <a:cubicBezTo>
                  <a:pt x="570" y="375"/>
                  <a:pt x="510" y="370"/>
                  <a:pt x="437" y="375"/>
                </a:cubicBezTo>
                <a:cubicBezTo>
                  <a:pt x="425" y="377"/>
                  <a:pt x="413" y="379"/>
                  <a:pt x="402" y="382"/>
                </a:cubicBezTo>
                <a:cubicBezTo>
                  <a:pt x="388" y="386"/>
                  <a:pt x="361" y="396"/>
                  <a:pt x="361" y="396"/>
                </a:cubicBezTo>
                <a:cubicBezTo>
                  <a:pt x="356" y="403"/>
                  <a:pt x="353" y="410"/>
                  <a:pt x="347" y="416"/>
                </a:cubicBezTo>
                <a:cubicBezTo>
                  <a:pt x="341" y="422"/>
                  <a:pt x="332" y="424"/>
                  <a:pt x="326" y="430"/>
                </a:cubicBezTo>
                <a:cubicBezTo>
                  <a:pt x="297" y="464"/>
                  <a:pt x="287" y="503"/>
                  <a:pt x="250" y="528"/>
                </a:cubicBezTo>
                <a:cubicBezTo>
                  <a:pt x="231" y="555"/>
                  <a:pt x="210" y="587"/>
                  <a:pt x="180" y="597"/>
                </a:cubicBezTo>
                <a:cubicBezTo>
                  <a:pt x="166" y="606"/>
                  <a:pt x="153" y="616"/>
                  <a:pt x="139" y="625"/>
                </a:cubicBezTo>
                <a:cubicBezTo>
                  <a:pt x="132" y="630"/>
                  <a:pt x="118" y="639"/>
                  <a:pt x="118" y="639"/>
                </a:cubicBezTo>
                <a:cubicBezTo>
                  <a:pt x="106" y="638"/>
                  <a:pt x="30" y="625"/>
                  <a:pt x="0" y="625"/>
                </a:cubicBezTo>
              </a:path>
            </a:pathLst>
          </a:custGeom>
          <a:noFill/>
          <a:ln w="9525" cap="flat">
            <a:solidFill>
              <a:srgbClr val="00CCFF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408" name="AutoShape 216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8409" name="Freeform 217"/>
          <p:cNvSpPr>
            <a:spLocks/>
          </p:cNvSpPr>
          <p:nvPr/>
        </p:nvSpPr>
        <p:spPr bwMode="auto">
          <a:xfrm>
            <a:off x="4645025" y="2103438"/>
            <a:ext cx="2824163" cy="930275"/>
          </a:xfrm>
          <a:custGeom>
            <a:avLst/>
            <a:gdLst>
              <a:gd name="T0" fmla="*/ 1779 w 1779"/>
              <a:gd name="T1" fmla="*/ 42 h 586"/>
              <a:gd name="T2" fmla="*/ 1717 w 1779"/>
              <a:gd name="T3" fmla="*/ 7 h 586"/>
              <a:gd name="T4" fmla="*/ 1696 w 1779"/>
              <a:gd name="T5" fmla="*/ 0 h 586"/>
              <a:gd name="T6" fmla="*/ 1418 w 1779"/>
              <a:gd name="T7" fmla="*/ 42 h 586"/>
              <a:gd name="T8" fmla="*/ 1335 w 1779"/>
              <a:gd name="T9" fmla="*/ 98 h 586"/>
              <a:gd name="T10" fmla="*/ 1286 w 1779"/>
              <a:gd name="T11" fmla="*/ 132 h 586"/>
              <a:gd name="T12" fmla="*/ 1002 w 1779"/>
              <a:gd name="T13" fmla="*/ 250 h 586"/>
              <a:gd name="T14" fmla="*/ 801 w 1779"/>
              <a:gd name="T15" fmla="*/ 313 h 586"/>
              <a:gd name="T16" fmla="*/ 738 w 1779"/>
              <a:gd name="T17" fmla="*/ 361 h 586"/>
              <a:gd name="T18" fmla="*/ 648 w 1779"/>
              <a:gd name="T19" fmla="*/ 417 h 586"/>
              <a:gd name="T20" fmla="*/ 586 w 1779"/>
              <a:gd name="T21" fmla="*/ 472 h 586"/>
              <a:gd name="T22" fmla="*/ 558 w 1779"/>
              <a:gd name="T23" fmla="*/ 514 h 586"/>
              <a:gd name="T24" fmla="*/ 551 w 1779"/>
              <a:gd name="T25" fmla="*/ 535 h 586"/>
              <a:gd name="T26" fmla="*/ 509 w 1779"/>
              <a:gd name="T27" fmla="*/ 563 h 586"/>
              <a:gd name="T28" fmla="*/ 488 w 1779"/>
              <a:gd name="T29" fmla="*/ 576 h 586"/>
              <a:gd name="T30" fmla="*/ 176 w 1779"/>
              <a:gd name="T31" fmla="*/ 549 h 586"/>
              <a:gd name="T32" fmla="*/ 3 w 1779"/>
              <a:gd name="T33" fmla="*/ 583 h 586"/>
              <a:gd name="T34" fmla="*/ 16 w 1779"/>
              <a:gd name="T35" fmla="*/ 58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779" h="586">
                <a:moveTo>
                  <a:pt x="1779" y="42"/>
                </a:moveTo>
                <a:cubicBezTo>
                  <a:pt x="1748" y="11"/>
                  <a:pt x="1767" y="24"/>
                  <a:pt x="1717" y="7"/>
                </a:cubicBezTo>
                <a:cubicBezTo>
                  <a:pt x="1710" y="5"/>
                  <a:pt x="1696" y="0"/>
                  <a:pt x="1696" y="0"/>
                </a:cubicBezTo>
                <a:cubicBezTo>
                  <a:pt x="1633" y="3"/>
                  <a:pt x="1487" y="3"/>
                  <a:pt x="1418" y="42"/>
                </a:cubicBezTo>
                <a:cubicBezTo>
                  <a:pt x="1390" y="58"/>
                  <a:pt x="1362" y="80"/>
                  <a:pt x="1335" y="98"/>
                </a:cubicBezTo>
                <a:cubicBezTo>
                  <a:pt x="1318" y="109"/>
                  <a:pt x="1286" y="132"/>
                  <a:pt x="1286" y="132"/>
                </a:cubicBezTo>
                <a:cubicBezTo>
                  <a:pt x="1222" y="235"/>
                  <a:pt x="1110" y="243"/>
                  <a:pt x="1002" y="250"/>
                </a:cubicBezTo>
                <a:cubicBezTo>
                  <a:pt x="931" y="260"/>
                  <a:pt x="864" y="281"/>
                  <a:pt x="801" y="313"/>
                </a:cubicBezTo>
                <a:cubicBezTo>
                  <a:pt x="777" y="325"/>
                  <a:pt x="762" y="348"/>
                  <a:pt x="738" y="361"/>
                </a:cubicBezTo>
                <a:cubicBezTo>
                  <a:pt x="708" y="378"/>
                  <a:pt x="672" y="393"/>
                  <a:pt x="648" y="417"/>
                </a:cubicBezTo>
                <a:cubicBezTo>
                  <a:pt x="600" y="465"/>
                  <a:pt x="623" y="448"/>
                  <a:pt x="586" y="472"/>
                </a:cubicBezTo>
                <a:cubicBezTo>
                  <a:pt x="569" y="522"/>
                  <a:pt x="593" y="462"/>
                  <a:pt x="558" y="514"/>
                </a:cubicBezTo>
                <a:cubicBezTo>
                  <a:pt x="554" y="520"/>
                  <a:pt x="556" y="530"/>
                  <a:pt x="551" y="535"/>
                </a:cubicBezTo>
                <a:cubicBezTo>
                  <a:pt x="539" y="547"/>
                  <a:pt x="523" y="554"/>
                  <a:pt x="509" y="563"/>
                </a:cubicBezTo>
                <a:cubicBezTo>
                  <a:pt x="502" y="567"/>
                  <a:pt x="488" y="576"/>
                  <a:pt x="488" y="576"/>
                </a:cubicBezTo>
                <a:cubicBezTo>
                  <a:pt x="379" y="572"/>
                  <a:pt x="283" y="560"/>
                  <a:pt x="176" y="549"/>
                </a:cubicBezTo>
                <a:cubicBezTo>
                  <a:pt x="168" y="550"/>
                  <a:pt x="26" y="560"/>
                  <a:pt x="3" y="583"/>
                </a:cubicBezTo>
                <a:cubicBezTo>
                  <a:pt x="0" y="586"/>
                  <a:pt x="12" y="583"/>
                  <a:pt x="16" y="583"/>
                </a:cubicBezTo>
              </a:path>
            </a:pathLst>
          </a:custGeom>
          <a:noFill/>
          <a:ln w="9525" cap="flat">
            <a:solidFill>
              <a:srgbClr val="FF9900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410" name="AutoShape 218"/>
          <p:cNvSpPr>
            <a:spLocks noChangeArrowheads="1"/>
          </p:cNvSpPr>
          <p:nvPr/>
        </p:nvSpPr>
        <p:spPr bwMode="auto">
          <a:xfrm rot="880212">
            <a:off x="3997325" y="2968625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411" name="AutoShape 219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sp>
        <p:nvSpPr>
          <p:cNvPr id="8412" name="Freeform 220"/>
          <p:cNvSpPr>
            <a:spLocks/>
          </p:cNvSpPr>
          <p:nvPr/>
        </p:nvSpPr>
        <p:spPr bwMode="auto">
          <a:xfrm>
            <a:off x="4043363" y="3140075"/>
            <a:ext cx="3403600" cy="2632075"/>
          </a:xfrm>
          <a:custGeom>
            <a:avLst/>
            <a:gdLst>
              <a:gd name="T0" fmla="*/ 2144 w 2144"/>
              <a:gd name="T1" fmla="*/ 1658 h 1658"/>
              <a:gd name="T2" fmla="*/ 2033 w 2144"/>
              <a:gd name="T3" fmla="*/ 1610 h 1658"/>
              <a:gd name="T4" fmla="*/ 1978 w 2144"/>
              <a:gd name="T5" fmla="*/ 1582 h 1658"/>
              <a:gd name="T6" fmla="*/ 1915 w 2144"/>
              <a:gd name="T7" fmla="*/ 1534 h 1658"/>
              <a:gd name="T8" fmla="*/ 1881 w 2144"/>
              <a:gd name="T9" fmla="*/ 1492 h 1658"/>
              <a:gd name="T10" fmla="*/ 1853 w 2144"/>
              <a:gd name="T11" fmla="*/ 1450 h 1658"/>
              <a:gd name="T12" fmla="*/ 1811 w 2144"/>
              <a:gd name="T13" fmla="*/ 1395 h 1658"/>
              <a:gd name="T14" fmla="*/ 1485 w 2144"/>
              <a:gd name="T15" fmla="*/ 1291 h 1658"/>
              <a:gd name="T16" fmla="*/ 1402 w 2144"/>
              <a:gd name="T17" fmla="*/ 1256 h 1658"/>
              <a:gd name="T18" fmla="*/ 1381 w 2144"/>
              <a:gd name="T19" fmla="*/ 1249 h 1658"/>
              <a:gd name="T20" fmla="*/ 1318 w 2144"/>
              <a:gd name="T21" fmla="*/ 1193 h 1658"/>
              <a:gd name="T22" fmla="*/ 1284 w 2144"/>
              <a:gd name="T23" fmla="*/ 1159 h 1658"/>
              <a:gd name="T24" fmla="*/ 1249 w 2144"/>
              <a:gd name="T25" fmla="*/ 1096 h 1658"/>
              <a:gd name="T26" fmla="*/ 1166 w 2144"/>
              <a:gd name="T27" fmla="*/ 1034 h 1658"/>
              <a:gd name="T28" fmla="*/ 1131 w 2144"/>
              <a:gd name="T29" fmla="*/ 1027 h 1658"/>
              <a:gd name="T30" fmla="*/ 978 w 2144"/>
              <a:gd name="T31" fmla="*/ 1020 h 1658"/>
              <a:gd name="T32" fmla="*/ 749 w 2144"/>
              <a:gd name="T33" fmla="*/ 874 h 1658"/>
              <a:gd name="T34" fmla="*/ 701 w 2144"/>
              <a:gd name="T35" fmla="*/ 812 h 1658"/>
              <a:gd name="T36" fmla="*/ 666 w 2144"/>
              <a:gd name="T37" fmla="*/ 722 h 1658"/>
              <a:gd name="T38" fmla="*/ 624 w 2144"/>
              <a:gd name="T39" fmla="*/ 617 h 1658"/>
              <a:gd name="T40" fmla="*/ 562 w 2144"/>
              <a:gd name="T41" fmla="*/ 548 h 1658"/>
              <a:gd name="T42" fmla="*/ 541 w 2144"/>
              <a:gd name="T43" fmla="*/ 527 h 1658"/>
              <a:gd name="T44" fmla="*/ 312 w 2144"/>
              <a:gd name="T45" fmla="*/ 472 h 1658"/>
              <a:gd name="T46" fmla="*/ 48 w 2144"/>
              <a:gd name="T47" fmla="*/ 382 h 1658"/>
              <a:gd name="T48" fmla="*/ 0 w 2144"/>
              <a:gd name="T49" fmla="*/ 298 h 1658"/>
              <a:gd name="T50" fmla="*/ 69 w 2144"/>
              <a:gd name="T51" fmla="*/ 125 h 1658"/>
              <a:gd name="T52" fmla="*/ 146 w 2144"/>
              <a:gd name="T53" fmla="*/ 69 h 1658"/>
              <a:gd name="T54" fmla="*/ 187 w 2144"/>
              <a:gd name="T55" fmla="*/ 0 h 1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44" h="1658">
                <a:moveTo>
                  <a:pt x="2144" y="1658"/>
                </a:moveTo>
                <a:cubicBezTo>
                  <a:pt x="2101" y="1644"/>
                  <a:pt x="2079" y="1621"/>
                  <a:pt x="2033" y="1610"/>
                </a:cubicBezTo>
                <a:cubicBezTo>
                  <a:pt x="1970" y="1563"/>
                  <a:pt x="2038" y="1608"/>
                  <a:pt x="1978" y="1582"/>
                </a:cubicBezTo>
                <a:cubicBezTo>
                  <a:pt x="1954" y="1571"/>
                  <a:pt x="1937" y="1548"/>
                  <a:pt x="1915" y="1534"/>
                </a:cubicBezTo>
                <a:cubicBezTo>
                  <a:pt x="1905" y="1519"/>
                  <a:pt x="1891" y="1507"/>
                  <a:pt x="1881" y="1492"/>
                </a:cubicBezTo>
                <a:cubicBezTo>
                  <a:pt x="1845" y="1435"/>
                  <a:pt x="1915" y="1512"/>
                  <a:pt x="1853" y="1450"/>
                </a:cubicBezTo>
                <a:cubicBezTo>
                  <a:pt x="1844" y="1422"/>
                  <a:pt x="1835" y="1411"/>
                  <a:pt x="1811" y="1395"/>
                </a:cubicBezTo>
                <a:cubicBezTo>
                  <a:pt x="1769" y="1269"/>
                  <a:pt x="1577" y="1294"/>
                  <a:pt x="1485" y="1291"/>
                </a:cubicBezTo>
                <a:cubicBezTo>
                  <a:pt x="1455" y="1281"/>
                  <a:pt x="1432" y="1266"/>
                  <a:pt x="1402" y="1256"/>
                </a:cubicBezTo>
                <a:cubicBezTo>
                  <a:pt x="1395" y="1254"/>
                  <a:pt x="1381" y="1249"/>
                  <a:pt x="1381" y="1249"/>
                </a:cubicBezTo>
                <a:cubicBezTo>
                  <a:pt x="1333" y="1201"/>
                  <a:pt x="1355" y="1218"/>
                  <a:pt x="1318" y="1193"/>
                </a:cubicBezTo>
                <a:cubicBezTo>
                  <a:pt x="1284" y="1141"/>
                  <a:pt x="1329" y="1204"/>
                  <a:pt x="1284" y="1159"/>
                </a:cubicBezTo>
                <a:cubicBezTo>
                  <a:pt x="1266" y="1141"/>
                  <a:pt x="1265" y="1116"/>
                  <a:pt x="1249" y="1096"/>
                </a:cubicBezTo>
                <a:cubicBezTo>
                  <a:pt x="1227" y="1070"/>
                  <a:pt x="1193" y="1053"/>
                  <a:pt x="1166" y="1034"/>
                </a:cubicBezTo>
                <a:cubicBezTo>
                  <a:pt x="1156" y="1027"/>
                  <a:pt x="1143" y="1028"/>
                  <a:pt x="1131" y="1027"/>
                </a:cubicBezTo>
                <a:cubicBezTo>
                  <a:pt x="1080" y="1023"/>
                  <a:pt x="1029" y="1022"/>
                  <a:pt x="978" y="1020"/>
                </a:cubicBezTo>
                <a:cubicBezTo>
                  <a:pt x="881" y="1003"/>
                  <a:pt x="810" y="950"/>
                  <a:pt x="749" y="874"/>
                </a:cubicBezTo>
                <a:cubicBezTo>
                  <a:pt x="731" y="852"/>
                  <a:pt x="711" y="842"/>
                  <a:pt x="701" y="812"/>
                </a:cubicBezTo>
                <a:cubicBezTo>
                  <a:pt x="690" y="779"/>
                  <a:pt x="679" y="753"/>
                  <a:pt x="666" y="722"/>
                </a:cubicBezTo>
                <a:cubicBezTo>
                  <a:pt x="651" y="685"/>
                  <a:pt x="646" y="650"/>
                  <a:pt x="624" y="617"/>
                </a:cubicBezTo>
                <a:cubicBezTo>
                  <a:pt x="612" y="578"/>
                  <a:pt x="598" y="572"/>
                  <a:pt x="562" y="548"/>
                </a:cubicBezTo>
                <a:cubicBezTo>
                  <a:pt x="554" y="543"/>
                  <a:pt x="550" y="532"/>
                  <a:pt x="541" y="527"/>
                </a:cubicBezTo>
                <a:cubicBezTo>
                  <a:pt x="478" y="491"/>
                  <a:pt x="381" y="480"/>
                  <a:pt x="312" y="472"/>
                </a:cubicBezTo>
                <a:cubicBezTo>
                  <a:pt x="227" y="444"/>
                  <a:pt x="125" y="430"/>
                  <a:pt x="48" y="382"/>
                </a:cubicBezTo>
                <a:cubicBezTo>
                  <a:pt x="30" y="353"/>
                  <a:pt x="18" y="325"/>
                  <a:pt x="0" y="298"/>
                </a:cubicBezTo>
                <a:cubicBezTo>
                  <a:pt x="7" y="224"/>
                  <a:pt x="6" y="167"/>
                  <a:pt x="69" y="125"/>
                </a:cubicBezTo>
                <a:cubicBezTo>
                  <a:pt x="83" y="103"/>
                  <a:pt x="121" y="77"/>
                  <a:pt x="146" y="69"/>
                </a:cubicBezTo>
                <a:cubicBezTo>
                  <a:pt x="164" y="42"/>
                  <a:pt x="187" y="36"/>
                  <a:pt x="187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413" name="Text Box 221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78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xit" presetSubtype="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3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5" grpId="0" animBg="1"/>
      <p:bldP spid="8407" grpId="0" animBg="1"/>
      <p:bldP spid="8407" grpId="1" animBg="1"/>
      <p:bldP spid="8408" grpId="0" animBg="1"/>
      <p:bldP spid="8409" grpId="0" animBg="1"/>
      <p:bldP spid="8409" grpId="1" animBg="1"/>
      <p:bldP spid="8410" grpId="0" animBg="1"/>
      <p:bldP spid="8411" grpId="0" animBg="1"/>
      <p:bldP spid="8411" grpId="1" animBg="1"/>
      <p:bldP spid="8412" grpId="0" animBg="1"/>
      <p:bldP spid="8412" grpId="1" animBg="1"/>
      <p:bldP spid="84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299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0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1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2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3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4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5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6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7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8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09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0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1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2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3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4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5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6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7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8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19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0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1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2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3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4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5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6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7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8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29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0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1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2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3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4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5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6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7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8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39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0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1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2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3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4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5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6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7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8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49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0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1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2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3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4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5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6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7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8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59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0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1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2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3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4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5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6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7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8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69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0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1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2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3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4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5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6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7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8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79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80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81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382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2384" name="Group 96"/>
          <p:cNvGrpSpPr>
            <a:grpSpLocks/>
          </p:cNvGrpSpPr>
          <p:nvPr/>
        </p:nvGrpSpPr>
        <p:grpSpPr bwMode="auto">
          <a:xfrm>
            <a:off x="2590800" y="1524000"/>
            <a:ext cx="2819400" cy="2895600"/>
            <a:chOff x="3744" y="4464"/>
            <a:chExt cx="1776" cy="1824"/>
          </a:xfrm>
        </p:grpSpPr>
        <p:sp>
          <p:nvSpPr>
            <p:cNvPr id="12385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2386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12387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388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389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12390" name="Group 102"/>
          <p:cNvGrpSpPr>
            <a:grpSpLocks/>
          </p:cNvGrpSpPr>
          <p:nvPr/>
        </p:nvGrpSpPr>
        <p:grpSpPr bwMode="auto">
          <a:xfrm>
            <a:off x="4343400" y="2895600"/>
            <a:ext cx="457200" cy="457200"/>
            <a:chOff x="4486" y="3484"/>
            <a:chExt cx="288" cy="288"/>
          </a:xfrm>
        </p:grpSpPr>
        <p:sp>
          <p:nvSpPr>
            <p:cNvPr id="12391" name="Oval 103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392" name="Line 104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393" name="Line 105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394" name="AutoShape 106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12396" name="AutoShape 108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12399" name="AutoShape 111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sp>
        <p:nvSpPr>
          <p:cNvPr id="12406" name="Text Box 118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596069"/>
      </p:ext>
    </p:ext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2.61624E-6 L 0.0625 0.0222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23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1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8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49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0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1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2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4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5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6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7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8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9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0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1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2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3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4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5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6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7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8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9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0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1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2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3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4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5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6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7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8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3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4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5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6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7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8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0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2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3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4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5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6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7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8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99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0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1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2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3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4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5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6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7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8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09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0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1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2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3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4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5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6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7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8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19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0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1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2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3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4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5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6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7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8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29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430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4432" name="Group 96"/>
          <p:cNvGrpSpPr>
            <a:grpSpLocks/>
          </p:cNvGrpSpPr>
          <p:nvPr/>
        </p:nvGrpSpPr>
        <p:grpSpPr bwMode="auto">
          <a:xfrm>
            <a:off x="3167063" y="1676400"/>
            <a:ext cx="2819400" cy="2895600"/>
            <a:chOff x="3744" y="4464"/>
            <a:chExt cx="1776" cy="1824"/>
          </a:xfrm>
        </p:grpSpPr>
        <p:sp>
          <p:nvSpPr>
            <p:cNvPr id="14433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4434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14435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436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437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14442" name="AutoShape 106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14443" name="AutoShape 107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14444" name="AutoShape 108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grpSp>
        <p:nvGrpSpPr>
          <p:cNvPr id="14446" name="Group 110"/>
          <p:cNvGrpSpPr>
            <a:grpSpLocks/>
          </p:cNvGrpSpPr>
          <p:nvPr/>
        </p:nvGrpSpPr>
        <p:grpSpPr bwMode="auto">
          <a:xfrm>
            <a:off x="5029200" y="3200400"/>
            <a:ext cx="457200" cy="457200"/>
            <a:chOff x="4486" y="3484"/>
            <a:chExt cx="288" cy="288"/>
          </a:xfrm>
        </p:grpSpPr>
        <p:sp>
          <p:nvSpPr>
            <p:cNvPr id="14447" name="Oval 111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448" name="Line 112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49" name="Line 113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450" name="AutoShape 114"/>
          <p:cNvSpPr>
            <a:spLocks noChangeArrowheads="1"/>
          </p:cNvSpPr>
          <p:nvPr/>
        </p:nvSpPr>
        <p:spPr bwMode="auto">
          <a:xfrm rot="1324470">
            <a:off x="4565650" y="32004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/>
          <a:lstStyle/>
          <a:p>
            <a:pPr algn="ctr"/>
            <a:endParaRPr lang="zh-TW" altLang="zh-TW"/>
          </a:p>
        </p:txBody>
      </p:sp>
      <p:sp>
        <p:nvSpPr>
          <p:cNvPr id="14451" name="Text Box 115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389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7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9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0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1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2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3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4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5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7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8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0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1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2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3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4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5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6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7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8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19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0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1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2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3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4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5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6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7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8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29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0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1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2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3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4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5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6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7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8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39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0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1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2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3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4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5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6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7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8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49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0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1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2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3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4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5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6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7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8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59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0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1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2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3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4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5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6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7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8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69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0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1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2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3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4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5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6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7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478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6480" name="Group 96"/>
          <p:cNvGrpSpPr>
            <a:grpSpLocks/>
          </p:cNvGrpSpPr>
          <p:nvPr/>
        </p:nvGrpSpPr>
        <p:grpSpPr bwMode="auto">
          <a:xfrm>
            <a:off x="3167063" y="1676400"/>
            <a:ext cx="2819400" cy="2895600"/>
            <a:chOff x="3744" y="4464"/>
            <a:chExt cx="1776" cy="1824"/>
          </a:xfrm>
        </p:grpSpPr>
        <p:sp>
          <p:nvSpPr>
            <p:cNvPr id="16481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6482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16483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6484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485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16486" name="AutoShape 102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16487" name="AutoShape 103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16488" name="AutoShape 104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grpSp>
        <p:nvGrpSpPr>
          <p:cNvPr id="16490" name="Group 106"/>
          <p:cNvGrpSpPr>
            <a:grpSpLocks/>
          </p:cNvGrpSpPr>
          <p:nvPr/>
        </p:nvGrpSpPr>
        <p:grpSpPr bwMode="auto">
          <a:xfrm>
            <a:off x="5029200" y="3200400"/>
            <a:ext cx="457200" cy="457200"/>
            <a:chOff x="4486" y="3484"/>
            <a:chExt cx="288" cy="288"/>
          </a:xfrm>
        </p:grpSpPr>
        <p:sp>
          <p:nvSpPr>
            <p:cNvPr id="16491" name="Oval 107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492" name="Line 108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493" name="Line 109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6495" name="Text Box 111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81505"/>
      </p:ext>
    </p:ext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5.82929E-7 L 0.075 0.0444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6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22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7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8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49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1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2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3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4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5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6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7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8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9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0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1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2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3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4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5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6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7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8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9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0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1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2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3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4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5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6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7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8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9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0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1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2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3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4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5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6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7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8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89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0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1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2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3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4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5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6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7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8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99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0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1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2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3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4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5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6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7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8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09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0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1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2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3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4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5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6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7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8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19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0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1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2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3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4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5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26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8528" name="Group 96"/>
          <p:cNvGrpSpPr>
            <a:grpSpLocks/>
          </p:cNvGrpSpPr>
          <p:nvPr/>
        </p:nvGrpSpPr>
        <p:grpSpPr bwMode="auto">
          <a:xfrm>
            <a:off x="3841750" y="1981200"/>
            <a:ext cx="2819400" cy="2895600"/>
            <a:chOff x="3744" y="4464"/>
            <a:chExt cx="1776" cy="1824"/>
          </a:xfrm>
        </p:grpSpPr>
        <p:sp>
          <p:nvSpPr>
            <p:cNvPr id="18529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8530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18531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8532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533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18534" name="AutoShape 102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18535" name="AutoShape 103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18536" name="AutoShape 104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grpSp>
        <p:nvGrpSpPr>
          <p:cNvPr id="18542" name="Group 110"/>
          <p:cNvGrpSpPr>
            <a:grpSpLocks/>
          </p:cNvGrpSpPr>
          <p:nvPr/>
        </p:nvGrpSpPr>
        <p:grpSpPr bwMode="auto">
          <a:xfrm>
            <a:off x="5389563" y="3265488"/>
            <a:ext cx="457200" cy="457200"/>
            <a:chOff x="4486" y="3484"/>
            <a:chExt cx="288" cy="288"/>
          </a:xfrm>
        </p:grpSpPr>
        <p:sp>
          <p:nvSpPr>
            <p:cNvPr id="18543" name="Oval 111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544" name="Line 112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545" name="Line 113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546" name="AutoShape 114"/>
          <p:cNvSpPr>
            <a:spLocks noChangeArrowheads="1"/>
          </p:cNvSpPr>
          <p:nvPr/>
        </p:nvSpPr>
        <p:spPr bwMode="auto">
          <a:xfrm rot="618372">
            <a:off x="5280025" y="3375025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547" name="Text Box 115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 smtClean="0"/>
              <a:t>2012/12/12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996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3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4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5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6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7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8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99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0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1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2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3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4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7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8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9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0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1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2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3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4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6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7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8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19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0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1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2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3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4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5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6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7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8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29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0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1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2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3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4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5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6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7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8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39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0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1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2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3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4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5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6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7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8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49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0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1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2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3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4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5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6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7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8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59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0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1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2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3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4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5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6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7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8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69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70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71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72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73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74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0576" name="Group 96"/>
          <p:cNvGrpSpPr>
            <a:grpSpLocks/>
          </p:cNvGrpSpPr>
          <p:nvPr/>
        </p:nvGrpSpPr>
        <p:grpSpPr bwMode="auto">
          <a:xfrm>
            <a:off x="3841750" y="1981200"/>
            <a:ext cx="2819400" cy="2895600"/>
            <a:chOff x="3744" y="4464"/>
            <a:chExt cx="1776" cy="1824"/>
          </a:xfrm>
        </p:grpSpPr>
        <p:sp>
          <p:nvSpPr>
            <p:cNvPr id="20577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20578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20579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0580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581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0582" name="AutoShape 102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20583" name="AutoShape 103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sp>
        <p:nvSpPr>
          <p:cNvPr id="20584" name="AutoShape 104"/>
          <p:cNvSpPr>
            <a:spLocks noChangeArrowheads="1"/>
          </p:cNvSpPr>
          <p:nvPr/>
        </p:nvSpPr>
        <p:spPr bwMode="auto">
          <a:xfrm>
            <a:off x="7467600" y="5410200"/>
            <a:ext cx="1447800" cy="6096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Mean Shift</a:t>
            </a:r>
          </a:p>
          <a:p>
            <a:pPr algn="ctr"/>
            <a:r>
              <a:rPr lang="en-US" altLang="zh-TW" sz="1600">
                <a:ea typeface="新細明體" charset="-120"/>
              </a:rPr>
              <a:t>vector</a:t>
            </a:r>
          </a:p>
        </p:txBody>
      </p:sp>
      <p:grpSp>
        <p:nvGrpSpPr>
          <p:cNvPr id="20586" name="Group 106"/>
          <p:cNvGrpSpPr>
            <a:grpSpLocks/>
          </p:cNvGrpSpPr>
          <p:nvPr/>
        </p:nvGrpSpPr>
        <p:grpSpPr bwMode="auto">
          <a:xfrm>
            <a:off x="5389563" y="3265488"/>
            <a:ext cx="457200" cy="457200"/>
            <a:chOff x="4486" y="3484"/>
            <a:chExt cx="288" cy="288"/>
          </a:xfrm>
        </p:grpSpPr>
        <p:sp>
          <p:nvSpPr>
            <p:cNvPr id="20587" name="Oval 107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588" name="Line 108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89" name="Line 109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0591" name="Text Box 111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421729"/>
      </p:ext>
    </p:ext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01874E-6 L 0.03993 0.0111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0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" y="5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55626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5768975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5692775" y="3276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5440363" y="3221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5681663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5454650" y="359251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5932488" y="36147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5322888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9" name="Oval 11"/>
          <p:cNvSpPr>
            <a:spLocks noChangeArrowheads="1"/>
          </p:cNvSpPr>
          <p:nvPr/>
        </p:nvSpPr>
        <p:spPr bwMode="auto">
          <a:xfrm>
            <a:off x="6062663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0" name="Oval 12"/>
          <p:cNvSpPr>
            <a:spLocks noChangeArrowheads="1"/>
          </p:cNvSpPr>
          <p:nvPr/>
        </p:nvSpPr>
        <p:spPr bwMode="auto">
          <a:xfrm>
            <a:off x="5921375" y="314325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1" name="Oval 13"/>
          <p:cNvSpPr>
            <a:spLocks noChangeArrowheads="1"/>
          </p:cNvSpPr>
          <p:nvPr/>
        </p:nvSpPr>
        <p:spPr bwMode="auto">
          <a:xfrm>
            <a:off x="563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2" name="Oval 14"/>
          <p:cNvSpPr>
            <a:spLocks noChangeArrowheads="1"/>
          </p:cNvSpPr>
          <p:nvPr/>
        </p:nvSpPr>
        <p:spPr bwMode="auto">
          <a:xfrm>
            <a:off x="5791200" y="3810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3" name="Oval 15"/>
          <p:cNvSpPr>
            <a:spLocks noChangeArrowheads="1"/>
          </p:cNvSpPr>
          <p:nvPr/>
        </p:nvSpPr>
        <p:spPr bwMode="auto">
          <a:xfrm>
            <a:off x="5486400" y="383063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4" name="Oval 16"/>
          <p:cNvSpPr>
            <a:spLocks noChangeArrowheads="1"/>
          </p:cNvSpPr>
          <p:nvPr/>
        </p:nvSpPr>
        <p:spPr bwMode="auto">
          <a:xfrm>
            <a:off x="5181600" y="36798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5" name="Oval 17"/>
          <p:cNvSpPr>
            <a:spLocks noChangeArrowheads="1"/>
          </p:cNvSpPr>
          <p:nvPr/>
        </p:nvSpPr>
        <p:spPr bwMode="auto">
          <a:xfrm>
            <a:off x="49530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6" name="Oval 18"/>
          <p:cNvSpPr>
            <a:spLocks noChangeArrowheads="1"/>
          </p:cNvSpPr>
          <p:nvPr/>
        </p:nvSpPr>
        <p:spPr bwMode="auto">
          <a:xfrm>
            <a:off x="5181600" y="3200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7" name="Oval 19"/>
          <p:cNvSpPr>
            <a:spLocks noChangeArrowheads="1"/>
          </p:cNvSpPr>
          <p:nvPr/>
        </p:nvSpPr>
        <p:spPr bwMode="auto">
          <a:xfrm>
            <a:off x="62484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8" name="Oval 20"/>
          <p:cNvSpPr>
            <a:spLocks noChangeArrowheads="1"/>
          </p:cNvSpPr>
          <p:nvPr/>
        </p:nvSpPr>
        <p:spPr bwMode="auto">
          <a:xfrm>
            <a:off x="6172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9" name="Oval 21"/>
          <p:cNvSpPr>
            <a:spLocks noChangeArrowheads="1"/>
          </p:cNvSpPr>
          <p:nvPr/>
        </p:nvSpPr>
        <p:spPr bwMode="auto">
          <a:xfrm>
            <a:off x="5888038" y="4094163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0" name="Oval 22"/>
          <p:cNvSpPr>
            <a:spLocks noChangeArrowheads="1"/>
          </p:cNvSpPr>
          <p:nvPr/>
        </p:nvSpPr>
        <p:spPr bwMode="auto">
          <a:xfrm>
            <a:off x="5486400" y="4114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1" name="Oval 23"/>
          <p:cNvSpPr>
            <a:spLocks noChangeArrowheads="1"/>
          </p:cNvSpPr>
          <p:nvPr/>
        </p:nvSpPr>
        <p:spPr bwMode="auto">
          <a:xfrm>
            <a:off x="50292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2" name="Oval 24"/>
          <p:cNvSpPr>
            <a:spLocks noChangeArrowheads="1"/>
          </p:cNvSpPr>
          <p:nvPr/>
        </p:nvSpPr>
        <p:spPr bwMode="auto">
          <a:xfrm>
            <a:off x="4648200" y="3657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3" name="Oval 25"/>
          <p:cNvSpPr>
            <a:spLocks noChangeArrowheads="1"/>
          </p:cNvSpPr>
          <p:nvPr/>
        </p:nvSpPr>
        <p:spPr bwMode="auto">
          <a:xfrm>
            <a:off x="45720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4" name="Oval 26"/>
          <p:cNvSpPr>
            <a:spLocks noChangeArrowheads="1"/>
          </p:cNvSpPr>
          <p:nvPr/>
        </p:nvSpPr>
        <p:spPr bwMode="auto">
          <a:xfrm>
            <a:off x="49530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5" name="Oval 27"/>
          <p:cNvSpPr>
            <a:spLocks noChangeArrowheads="1"/>
          </p:cNvSpPr>
          <p:nvPr/>
        </p:nvSpPr>
        <p:spPr bwMode="auto">
          <a:xfrm>
            <a:off x="53340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6" name="Oval 28"/>
          <p:cNvSpPr>
            <a:spLocks noChangeArrowheads="1"/>
          </p:cNvSpPr>
          <p:nvPr/>
        </p:nvSpPr>
        <p:spPr bwMode="auto">
          <a:xfrm>
            <a:off x="5921375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56388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8" name="Oval 30"/>
          <p:cNvSpPr>
            <a:spLocks noChangeArrowheads="1"/>
          </p:cNvSpPr>
          <p:nvPr/>
        </p:nvSpPr>
        <p:spPr bwMode="auto">
          <a:xfrm>
            <a:off x="4724400" y="2819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9" name="Oval 31"/>
          <p:cNvSpPr>
            <a:spLocks noChangeArrowheads="1"/>
          </p:cNvSpPr>
          <p:nvPr/>
        </p:nvSpPr>
        <p:spPr bwMode="auto">
          <a:xfrm>
            <a:off x="51054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0" name="Oval 32"/>
          <p:cNvSpPr>
            <a:spLocks noChangeArrowheads="1"/>
          </p:cNvSpPr>
          <p:nvPr/>
        </p:nvSpPr>
        <p:spPr bwMode="auto">
          <a:xfrm>
            <a:off x="5638800" y="198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1" name="Oval 33"/>
          <p:cNvSpPr>
            <a:spLocks noChangeArrowheads="1"/>
          </p:cNvSpPr>
          <p:nvPr/>
        </p:nvSpPr>
        <p:spPr bwMode="auto">
          <a:xfrm>
            <a:off x="5181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2" name="Oval 34"/>
          <p:cNvSpPr>
            <a:spLocks noChangeArrowheads="1"/>
          </p:cNvSpPr>
          <p:nvPr/>
        </p:nvSpPr>
        <p:spPr bwMode="auto">
          <a:xfrm>
            <a:off x="5921375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3" name="Oval 35"/>
          <p:cNvSpPr>
            <a:spLocks noChangeArrowheads="1"/>
          </p:cNvSpPr>
          <p:nvPr/>
        </p:nvSpPr>
        <p:spPr bwMode="auto">
          <a:xfrm>
            <a:off x="5921375" y="1371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4" name="Oval 36"/>
          <p:cNvSpPr>
            <a:spLocks noChangeArrowheads="1"/>
          </p:cNvSpPr>
          <p:nvPr/>
        </p:nvSpPr>
        <p:spPr bwMode="auto">
          <a:xfrm>
            <a:off x="6172200" y="2133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5" name="Oval 37"/>
          <p:cNvSpPr>
            <a:spLocks noChangeArrowheads="1"/>
          </p:cNvSpPr>
          <p:nvPr/>
        </p:nvSpPr>
        <p:spPr bwMode="auto">
          <a:xfrm>
            <a:off x="6259513" y="2676525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6" name="Oval 38"/>
          <p:cNvSpPr>
            <a:spLocks noChangeArrowheads="1"/>
          </p:cNvSpPr>
          <p:nvPr/>
        </p:nvSpPr>
        <p:spPr bwMode="auto">
          <a:xfrm>
            <a:off x="6248400" y="3124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7" name="Oval 39"/>
          <p:cNvSpPr>
            <a:spLocks noChangeArrowheads="1"/>
          </p:cNvSpPr>
          <p:nvPr/>
        </p:nvSpPr>
        <p:spPr bwMode="auto">
          <a:xfrm>
            <a:off x="66294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8" name="Oval 40"/>
          <p:cNvSpPr>
            <a:spLocks noChangeArrowheads="1"/>
          </p:cNvSpPr>
          <p:nvPr/>
        </p:nvSpPr>
        <p:spPr bwMode="auto">
          <a:xfrm>
            <a:off x="6629400" y="2514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9" name="Oval 41"/>
          <p:cNvSpPr>
            <a:spLocks noChangeArrowheads="1"/>
          </p:cNvSpPr>
          <p:nvPr/>
        </p:nvSpPr>
        <p:spPr bwMode="auto">
          <a:xfrm>
            <a:off x="6553200" y="2057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0" name="Oval 42"/>
          <p:cNvSpPr>
            <a:spLocks noChangeArrowheads="1"/>
          </p:cNvSpPr>
          <p:nvPr/>
        </p:nvSpPr>
        <p:spPr bwMode="auto">
          <a:xfrm>
            <a:off x="63246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1" name="Oval 43"/>
          <p:cNvSpPr>
            <a:spLocks noChangeArrowheads="1"/>
          </p:cNvSpPr>
          <p:nvPr/>
        </p:nvSpPr>
        <p:spPr bwMode="auto">
          <a:xfrm>
            <a:off x="6934200" y="1295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2" name="Oval 44"/>
          <p:cNvSpPr>
            <a:spLocks noChangeArrowheads="1"/>
          </p:cNvSpPr>
          <p:nvPr/>
        </p:nvSpPr>
        <p:spPr bwMode="auto">
          <a:xfrm>
            <a:off x="7010400" y="1752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3" name="Oval 45"/>
          <p:cNvSpPr>
            <a:spLocks noChangeArrowheads="1"/>
          </p:cNvSpPr>
          <p:nvPr/>
        </p:nvSpPr>
        <p:spPr bwMode="auto">
          <a:xfrm>
            <a:off x="7315200" y="2362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4" name="Oval 46"/>
          <p:cNvSpPr>
            <a:spLocks noChangeArrowheads="1"/>
          </p:cNvSpPr>
          <p:nvPr/>
        </p:nvSpPr>
        <p:spPr bwMode="auto">
          <a:xfrm>
            <a:off x="6705600" y="3352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5" name="Oval 47"/>
          <p:cNvSpPr>
            <a:spLocks noChangeArrowheads="1"/>
          </p:cNvSpPr>
          <p:nvPr/>
        </p:nvSpPr>
        <p:spPr bwMode="auto">
          <a:xfrm>
            <a:off x="7162800" y="2895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6" name="Oval 48"/>
          <p:cNvSpPr>
            <a:spLocks noChangeArrowheads="1"/>
          </p:cNvSpPr>
          <p:nvPr/>
        </p:nvSpPr>
        <p:spPr bwMode="auto">
          <a:xfrm>
            <a:off x="7924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7" name="Oval 49"/>
          <p:cNvSpPr>
            <a:spLocks noChangeArrowheads="1"/>
          </p:cNvSpPr>
          <p:nvPr/>
        </p:nvSpPr>
        <p:spPr bwMode="auto">
          <a:xfrm>
            <a:off x="6934200" y="3886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8" name="Oval 50"/>
          <p:cNvSpPr>
            <a:spLocks noChangeArrowheads="1"/>
          </p:cNvSpPr>
          <p:nvPr/>
        </p:nvSpPr>
        <p:spPr bwMode="auto">
          <a:xfrm>
            <a:off x="7478713" y="3430588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9" name="Oval 51"/>
          <p:cNvSpPr>
            <a:spLocks noChangeArrowheads="1"/>
          </p:cNvSpPr>
          <p:nvPr/>
        </p:nvSpPr>
        <p:spPr bwMode="auto">
          <a:xfrm>
            <a:off x="64770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0" name="Oval 52"/>
          <p:cNvSpPr>
            <a:spLocks noChangeArrowheads="1"/>
          </p:cNvSpPr>
          <p:nvPr/>
        </p:nvSpPr>
        <p:spPr bwMode="auto">
          <a:xfrm>
            <a:off x="7543800" y="4343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1" name="Oval 53"/>
          <p:cNvSpPr>
            <a:spLocks noChangeArrowheads="1"/>
          </p:cNvSpPr>
          <p:nvPr/>
        </p:nvSpPr>
        <p:spPr bwMode="auto">
          <a:xfrm>
            <a:off x="69342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2" name="Oval 54"/>
          <p:cNvSpPr>
            <a:spLocks noChangeArrowheads="1"/>
          </p:cNvSpPr>
          <p:nvPr/>
        </p:nvSpPr>
        <p:spPr bwMode="auto">
          <a:xfrm>
            <a:off x="60960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3" name="Oval 55"/>
          <p:cNvSpPr>
            <a:spLocks noChangeArrowheads="1"/>
          </p:cNvSpPr>
          <p:nvPr/>
        </p:nvSpPr>
        <p:spPr bwMode="auto">
          <a:xfrm>
            <a:off x="5638800" y="4495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4" name="Oval 56"/>
          <p:cNvSpPr>
            <a:spLocks noChangeArrowheads="1"/>
          </p:cNvSpPr>
          <p:nvPr/>
        </p:nvSpPr>
        <p:spPr bwMode="auto">
          <a:xfrm>
            <a:off x="60198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5" name="Oval 57"/>
          <p:cNvSpPr>
            <a:spLocks noChangeArrowheads="1"/>
          </p:cNvSpPr>
          <p:nvPr/>
        </p:nvSpPr>
        <p:spPr bwMode="auto">
          <a:xfrm>
            <a:off x="6477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6" name="Oval 58"/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7" name="Oval 59"/>
          <p:cNvSpPr>
            <a:spLocks noChangeArrowheads="1"/>
          </p:cNvSpPr>
          <p:nvPr/>
        </p:nvSpPr>
        <p:spPr bwMode="auto">
          <a:xfrm>
            <a:off x="54102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8" name="Oval 60"/>
          <p:cNvSpPr>
            <a:spLocks noChangeArrowheads="1"/>
          </p:cNvSpPr>
          <p:nvPr/>
        </p:nvSpPr>
        <p:spPr bwMode="auto">
          <a:xfrm>
            <a:off x="5105400" y="4572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9" name="Oval 61"/>
          <p:cNvSpPr>
            <a:spLocks noChangeArrowheads="1"/>
          </p:cNvSpPr>
          <p:nvPr/>
        </p:nvSpPr>
        <p:spPr bwMode="auto">
          <a:xfrm>
            <a:off x="44958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0" name="Oval 62"/>
          <p:cNvSpPr>
            <a:spLocks noChangeArrowheads="1"/>
          </p:cNvSpPr>
          <p:nvPr/>
        </p:nvSpPr>
        <p:spPr bwMode="auto">
          <a:xfrm>
            <a:off x="4724400" y="4953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1" name="Oval 63"/>
          <p:cNvSpPr>
            <a:spLocks noChangeArrowheads="1"/>
          </p:cNvSpPr>
          <p:nvPr/>
        </p:nvSpPr>
        <p:spPr bwMode="auto">
          <a:xfrm>
            <a:off x="4953000" y="5486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2" name="Oval 64"/>
          <p:cNvSpPr>
            <a:spLocks noChangeArrowheads="1"/>
          </p:cNvSpPr>
          <p:nvPr/>
        </p:nvSpPr>
        <p:spPr bwMode="auto">
          <a:xfrm>
            <a:off x="41148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3" name="Oval 65"/>
          <p:cNvSpPr>
            <a:spLocks noChangeArrowheads="1"/>
          </p:cNvSpPr>
          <p:nvPr/>
        </p:nvSpPr>
        <p:spPr bwMode="auto">
          <a:xfrm>
            <a:off x="4038600" y="502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4" name="Oval 66"/>
          <p:cNvSpPr>
            <a:spLocks noChangeArrowheads="1"/>
          </p:cNvSpPr>
          <p:nvPr/>
        </p:nvSpPr>
        <p:spPr bwMode="auto">
          <a:xfrm>
            <a:off x="3505200" y="4267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5" name="Oval 67"/>
          <p:cNvSpPr>
            <a:spLocks noChangeArrowheads="1"/>
          </p:cNvSpPr>
          <p:nvPr/>
        </p:nvSpPr>
        <p:spPr bwMode="auto">
          <a:xfrm>
            <a:off x="40386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6" name="Oval 68"/>
          <p:cNvSpPr>
            <a:spLocks noChangeArrowheads="1"/>
          </p:cNvSpPr>
          <p:nvPr/>
        </p:nvSpPr>
        <p:spPr bwMode="auto">
          <a:xfrm>
            <a:off x="4267200" y="3429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7" name="Oval 69"/>
          <p:cNvSpPr>
            <a:spLocks noChangeArrowheads="1"/>
          </p:cNvSpPr>
          <p:nvPr/>
        </p:nvSpPr>
        <p:spPr bwMode="auto">
          <a:xfrm>
            <a:off x="3733800" y="2971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8" name="Oval 70"/>
          <p:cNvSpPr>
            <a:spLocks noChangeArrowheads="1"/>
          </p:cNvSpPr>
          <p:nvPr/>
        </p:nvSpPr>
        <p:spPr bwMode="auto">
          <a:xfrm>
            <a:off x="4267200" y="2590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99" name="Oval 71"/>
          <p:cNvSpPr>
            <a:spLocks noChangeArrowheads="1"/>
          </p:cNvSpPr>
          <p:nvPr/>
        </p:nvSpPr>
        <p:spPr bwMode="auto">
          <a:xfrm>
            <a:off x="4724400" y="2438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0" name="Oval 72"/>
          <p:cNvSpPr>
            <a:spLocks noChangeArrowheads="1"/>
          </p:cNvSpPr>
          <p:nvPr/>
        </p:nvSpPr>
        <p:spPr bwMode="auto">
          <a:xfrm>
            <a:off x="4343400" y="182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1" name="Oval 73"/>
          <p:cNvSpPr>
            <a:spLocks noChangeArrowheads="1"/>
          </p:cNvSpPr>
          <p:nvPr/>
        </p:nvSpPr>
        <p:spPr bwMode="auto">
          <a:xfrm>
            <a:off x="50292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2" name="Oval 74"/>
          <p:cNvSpPr>
            <a:spLocks noChangeArrowheads="1"/>
          </p:cNvSpPr>
          <p:nvPr/>
        </p:nvSpPr>
        <p:spPr bwMode="auto">
          <a:xfrm>
            <a:off x="4191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3" name="Oval 75"/>
          <p:cNvSpPr>
            <a:spLocks noChangeArrowheads="1"/>
          </p:cNvSpPr>
          <p:nvPr/>
        </p:nvSpPr>
        <p:spPr bwMode="auto">
          <a:xfrm>
            <a:off x="3733800" y="1600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4" name="Oval 76"/>
          <p:cNvSpPr>
            <a:spLocks noChangeArrowheads="1"/>
          </p:cNvSpPr>
          <p:nvPr/>
        </p:nvSpPr>
        <p:spPr bwMode="auto">
          <a:xfrm>
            <a:off x="3657600" y="2209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5" name="Oval 77"/>
          <p:cNvSpPr>
            <a:spLocks noChangeArrowheads="1"/>
          </p:cNvSpPr>
          <p:nvPr/>
        </p:nvSpPr>
        <p:spPr bwMode="auto">
          <a:xfrm>
            <a:off x="3276600" y="2667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6" name="Oval 78"/>
          <p:cNvSpPr>
            <a:spLocks noChangeArrowheads="1"/>
          </p:cNvSpPr>
          <p:nvPr/>
        </p:nvSpPr>
        <p:spPr bwMode="auto">
          <a:xfrm>
            <a:off x="36576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7" name="Oval 79"/>
          <p:cNvSpPr>
            <a:spLocks noChangeArrowheads="1"/>
          </p:cNvSpPr>
          <p:nvPr/>
        </p:nvSpPr>
        <p:spPr bwMode="auto">
          <a:xfrm>
            <a:off x="2895600" y="3581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8" name="Oval 80"/>
          <p:cNvSpPr>
            <a:spLocks noChangeArrowheads="1"/>
          </p:cNvSpPr>
          <p:nvPr/>
        </p:nvSpPr>
        <p:spPr bwMode="auto">
          <a:xfrm>
            <a:off x="2819400" y="44196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09" name="Oval 81"/>
          <p:cNvSpPr>
            <a:spLocks noChangeArrowheads="1"/>
          </p:cNvSpPr>
          <p:nvPr/>
        </p:nvSpPr>
        <p:spPr bwMode="auto">
          <a:xfrm>
            <a:off x="3048000" y="5257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0" name="Oval 82"/>
          <p:cNvSpPr>
            <a:spLocks noChangeArrowheads="1"/>
          </p:cNvSpPr>
          <p:nvPr/>
        </p:nvSpPr>
        <p:spPr bwMode="auto">
          <a:xfrm>
            <a:off x="2362200" y="5638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1" name="Oval 83"/>
          <p:cNvSpPr>
            <a:spLocks noChangeArrowheads="1"/>
          </p:cNvSpPr>
          <p:nvPr/>
        </p:nvSpPr>
        <p:spPr bwMode="auto">
          <a:xfrm>
            <a:off x="1905000" y="487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2" name="Oval 84"/>
          <p:cNvSpPr>
            <a:spLocks noChangeArrowheads="1"/>
          </p:cNvSpPr>
          <p:nvPr/>
        </p:nvSpPr>
        <p:spPr bwMode="auto">
          <a:xfrm>
            <a:off x="1905000" y="3962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3" name="Oval 85"/>
          <p:cNvSpPr>
            <a:spLocks noChangeArrowheads="1"/>
          </p:cNvSpPr>
          <p:nvPr/>
        </p:nvSpPr>
        <p:spPr bwMode="auto">
          <a:xfrm>
            <a:off x="2514600" y="2743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4" name="Oval 86"/>
          <p:cNvSpPr>
            <a:spLocks noChangeArrowheads="1"/>
          </p:cNvSpPr>
          <p:nvPr/>
        </p:nvSpPr>
        <p:spPr bwMode="auto">
          <a:xfrm>
            <a:off x="28956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5" name="Oval 87"/>
          <p:cNvSpPr>
            <a:spLocks noChangeArrowheads="1"/>
          </p:cNvSpPr>
          <p:nvPr/>
        </p:nvSpPr>
        <p:spPr bwMode="auto">
          <a:xfrm>
            <a:off x="1981200" y="1905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6" name="Oval 88"/>
          <p:cNvSpPr>
            <a:spLocks noChangeArrowheads="1"/>
          </p:cNvSpPr>
          <p:nvPr/>
        </p:nvSpPr>
        <p:spPr bwMode="auto">
          <a:xfrm>
            <a:off x="1828800" y="3048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7" name="Oval 89"/>
          <p:cNvSpPr>
            <a:spLocks noChangeArrowheads="1"/>
          </p:cNvSpPr>
          <p:nvPr/>
        </p:nvSpPr>
        <p:spPr bwMode="auto">
          <a:xfrm>
            <a:off x="762000" y="47244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8" name="Oval 90"/>
          <p:cNvSpPr>
            <a:spLocks noChangeArrowheads="1"/>
          </p:cNvSpPr>
          <p:nvPr/>
        </p:nvSpPr>
        <p:spPr bwMode="auto">
          <a:xfrm>
            <a:off x="838200" y="5791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19" name="Oval 91"/>
          <p:cNvSpPr>
            <a:spLocks noChangeArrowheads="1"/>
          </p:cNvSpPr>
          <p:nvPr/>
        </p:nvSpPr>
        <p:spPr bwMode="auto">
          <a:xfrm>
            <a:off x="838200" y="3505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20" name="Oval 92"/>
          <p:cNvSpPr>
            <a:spLocks noChangeArrowheads="1"/>
          </p:cNvSpPr>
          <p:nvPr/>
        </p:nvSpPr>
        <p:spPr bwMode="auto">
          <a:xfrm>
            <a:off x="990600" y="22860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21" name="Oval 93"/>
          <p:cNvSpPr>
            <a:spLocks noChangeArrowheads="1"/>
          </p:cNvSpPr>
          <p:nvPr/>
        </p:nvSpPr>
        <p:spPr bwMode="auto">
          <a:xfrm>
            <a:off x="1143000" y="121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622" name="Oval 94"/>
          <p:cNvSpPr>
            <a:spLocks noChangeArrowheads="1"/>
          </p:cNvSpPr>
          <p:nvPr/>
        </p:nvSpPr>
        <p:spPr bwMode="auto">
          <a:xfrm>
            <a:off x="2590800" y="106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100000">
                <a:srgbClr val="CC33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2624" name="Group 96"/>
          <p:cNvGrpSpPr>
            <a:grpSpLocks/>
          </p:cNvGrpSpPr>
          <p:nvPr/>
        </p:nvGrpSpPr>
        <p:grpSpPr bwMode="auto">
          <a:xfrm>
            <a:off x="4211638" y="2047875"/>
            <a:ext cx="2819400" cy="2895600"/>
            <a:chOff x="3744" y="4464"/>
            <a:chExt cx="1776" cy="1824"/>
          </a:xfrm>
        </p:grpSpPr>
        <p:sp>
          <p:nvSpPr>
            <p:cNvPr id="22625" name="Oval 97"/>
            <p:cNvSpPr>
              <a:spLocks noChangeArrowheads="1"/>
            </p:cNvSpPr>
            <p:nvPr/>
          </p:nvSpPr>
          <p:spPr bwMode="auto">
            <a:xfrm>
              <a:off x="3744" y="4464"/>
              <a:ext cx="1776" cy="1824"/>
            </a:xfrm>
            <a:prstGeom prst="ellips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22626" name="Group 98"/>
            <p:cNvGrpSpPr>
              <a:grpSpLocks/>
            </p:cNvGrpSpPr>
            <p:nvPr/>
          </p:nvGrpSpPr>
          <p:grpSpPr bwMode="auto">
            <a:xfrm>
              <a:off x="4491" y="5231"/>
              <a:ext cx="288" cy="288"/>
              <a:chOff x="4486" y="3484"/>
              <a:chExt cx="288" cy="288"/>
            </a:xfrm>
          </p:grpSpPr>
          <p:sp>
            <p:nvSpPr>
              <p:cNvPr id="22627" name="Oval 99"/>
              <p:cNvSpPr>
                <a:spLocks noChangeArrowheads="1"/>
              </p:cNvSpPr>
              <p:nvPr/>
            </p:nvSpPr>
            <p:spPr bwMode="auto">
              <a:xfrm>
                <a:off x="4560" y="3552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2628" name="Line 100"/>
              <p:cNvSpPr>
                <a:spLocks noChangeShapeType="1"/>
              </p:cNvSpPr>
              <p:nvPr/>
            </p:nvSpPr>
            <p:spPr bwMode="auto">
              <a:xfrm>
                <a:off x="4632" y="34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629" name="Line 101"/>
              <p:cNvSpPr>
                <a:spLocks noChangeShapeType="1"/>
              </p:cNvSpPr>
              <p:nvPr/>
            </p:nvSpPr>
            <p:spPr bwMode="auto">
              <a:xfrm rot="-5400000">
                <a:off x="4630" y="348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2630" name="AutoShape 102"/>
          <p:cNvSpPr>
            <a:spLocks noChangeArrowheads="1"/>
          </p:cNvSpPr>
          <p:nvPr/>
        </p:nvSpPr>
        <p:spPr bwMode="auto">
          <a:xfrm>
            <a:off x="7467600" y="9144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Region of</a:t>
            </a:r>
          </a:p>
          <a:p>
            <a:pPr algn="ctr"/>
            <a:r>
              <a:rPr lang="en-US" altLang="zh-TW" sz="1600">
                <a:ea typeface="新細明體" charset="-120"/>
              </a:rPr>
              <a:t>interest</a:t>
            </a:r>
          </a:p>
        </p:txBody>
      </p:sp>
      <p:sp>
        <p:nvSpPr>
          <p:cNvPr id="22631" name="AutoShape 103"/>
          <p:cNvSpPr>
            <a:spLocks noChangeArrowheads="1"/>
          </p:cNvSpPr>
          <p:nvPr/>
        </p:nvSpPr>
        <p:spPr bwMode="auto">
          <a:xfrm>
            <a:off x="7467600" y="1600200"/>
            <a:ext cx="14478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00">
                <a:ea typeface="新細明體" charset="-120"/>
              </a:rPr>
              <a:t>Center of</a:t>
            </a:r>
          </a:p>
          <a:p>
            <a:pPr algn="ctr"/>
            <a:r>
              <a:rPr lang="en-US" altLang="zh-TW" sz="1600">
                <a:ea typeface="新細明體" charset="-120"/>
              </a:rPr>
              <a:t>mass</a:t>
            </a:r>
          </a:p>
        </p:txBody>
      </p:sp>
      <p:grpSp>
        <p:nvGrpSpPr>
          <p:cNvPr id="22650" name="Group 122"/>
          <p:cNvGrpSpPr>
            <a:grpSpLocks/>
          </p:cNvGrpSpPr>
          <p:nvPr/>
        </p:nvGrpSpPr>
        <p:grpSpPr bwMode="auto">
          <a:xfrm>
            <a:off x="5389563" y="3265488"/>
            <a:ext cx="457200" cy="457200"/>
            <a:chOff x="4486" y="3484"/>
            <a:chExt cx="288" cy="288"/>
          </a:xfrm>
        </p:grpSpPr>
        <p:sp>
          <p:nvSpPr>
            <p:cNvPr id="22651" name="Oval 123"/>
            <p:cNvSpPr>
              <a:spLocks noChangeArrowheads="1"/>
            </p:cNvSpPr>
            <p:nvPr/>
          </p:nvSpPr>
          <p:spPr bwMode="auto">
            <a:xfrm>
              <a:off x="4560" y="3552"/>
              <a:ext cx="144" cy="144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2652" name="Line 124"/>
            <p:cNvSpPr>
              <a:spLocks noChangeShapeType="1"/>
            </p:cNvSpPr>
            <p:nvPr/>
          </p:nvSpPr>
          <p:spPr bwMode="auto">
            <a:xfrm>
              <a:off x="4632" y="3484"/>
              <a:ext cx="0" cy="2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653" name="Line 125"/>
            <p:cNvSpPr>
              <a:spLocks noChangeShapeType="1"/>
            </p:cNvSpPr>
            <p:nvPr/>
          </p:nvSpPr>
          <p:spPr bwMode="auto">
            <a:xfrm rot="-5400000">
              <a:off x="4630" y="3482"/>
              <a:ext cx="0" cy="2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654" name="Text Box 126"/>
          <p:cNvSpPr txBox="1">
            <a:spLocks noChangeArrowheads="1"/>
          </p:cNvSpPr>
          <p:nvPr/>
        </p:nvSpPr>
        <p:spPr bwMode="auto">
          <a:xfrm>
            <a:off x="2368550" y="5949950"/>
            <a:ext cx="441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1" u="sng">
                <a:solidFill>
                  <a:srgbClr val="FF9900"/>
                </a:solidFill>
                <a:ea typeface="新細明體" charset="-120"/>
              </a:rPr>
              <a:t>Objective </a:t>
            </a:r>
            <a:r>
              <a:rPr lang="en-US" altLang="zh-TW" sz="2000" b="1">
                <a:solidFill>
                  <a:srgbClr val="FF9900"/>
                </a:solidFill>
                <a:ea typeface="新細明體" charset="-120"/>
              </a:rPr>
              <a:t>: Find the densest region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468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26726"/>
            <a:ext cx="4896544" cy="4313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zh-TW" dirty="0"/>
              <a:t>Mean Shift Clustering</a:t>
            </a:r>
            <a:endParaRPr lang="en-US" altLang="he-IL" b="1" dirty="0">
              <a:solidFill>
                <a:srgbClr val="0066FF"/>
              </a:solidFill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u="sng" dirty="0">
                <a:ea typeface="新細明體" charset="-120"/>
              </a:rPr>
              <a:t>Cluster</a:t>
            </a:r>
            <a:r>
              <a:rPr lang="en-US" altLang="zh-TW" dirty="0">
                <a:ea typeface="新細明體" charset="-120"/>
              </a:rPr>
              <a:t> : All data points in the </a:t>
            </a:r>
            <a:r>
              <a:rPr lang="en-US" altLang="zh-TW" b="1" i="1" dirty="0">
                <a:ea typeface="新細明體" charset="-120"/>
              </a:rPr>
              <a:t>attraction basin</a:t>
            </a:r>
            <a:r>
              <a:rPr lang="en-US" altLang="zh-TW" dirty="0">
                <a:ea typeface="新細明體" charset="-120"/>
              </a:rPr>
              <a:t> of a </a:t>
            </a:r>
            <a:r>
              <a:rPr lang="en-US" altLang="zh-TW" dirty="0" smtClean="0">
                <a:ea typeface="新細明體" charset="-120"/>
              </a:rPr>
              <a:t>mode</a:t>
            </a:r>
          </a:p>
          <a:p>
            <a:r>
              <a:rPr lang="en-US" altLang="zh-TW" u="sng" dirty="0">
                <a:ea typeface="新細明體" charset="-120"/>
              </a:rPr>
              <a:t>Attraction basin</a:t>
            </a:r>
            <a:r>
              <a:rPr lang="en-US" altLang="zh-TW" dirty="0">
                <a:ea typeface="新細明體" charset="-120"/>
              </a:rPr>
              <a:t> : the region for which all trajectories lead to the same mode </a:t>
            </a:r>
          </a:p>
          <a:p>
            <a:endParaRPr lang="en-US" altLang="zh-TW" dirty="0">
              <a:ea typeface="新細明體" charset="-120"/>
            </a:endParaRPr>
          </a:p>
          <a:p>
            <a:endParaRPr lang="zh-TW" altLang="en-US" dirty="0"/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5542880" y="3059708"/>
            <a:ext cx="1828800" cy="1905000"/>
            <a:chOff x="432" y="2256"/>
            <a:chExt cx="672" cy="672"/>
          </a:xfrm>
        </p:grpSpPr>
        <p:sp>
          <p:nvSpPr>
            <p:cNvPr id="71685" name="Rectangle 5"/>
            <p:cNvSpPr>
              <a:spLocks noChangeArrowheads="1"/>
            </p:cNvSpPr>
            <p:nvPr/>
          </p:nvSpPr>
          <p:spPr bwMode="auto">
            <a:xfrm>
              <a:off x="432" y="2256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pic>
          <p:nvPicPr>
            <p:cNvPr id="71686" name="Picture 6" descr="Random Distributi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2312"/>
              <a:ext cx="576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1687" name="Group 7"/>
          <p:cNvGrpSpPr>
            <a:grpSpLocks/>
          </p:cNvGrpSpPr>
          <p:nvPr/>
        </p:nvGrpSpPr>
        <p:grpSpPr bwMode="auto">
          <a:xfrm>
            <a:off x="6990680" y="3059708"/>
            <a:ext cx="1828800" cy="1905000"/>
            <a:chOff x="432" y="2256"/>
            <a:chExt cx="672" cy="672"/>
          </a:xfrm>
        </p:grpSpPr>
        <p:sp>
          <p:nvSpPr>
            <p:cNvPr id="71688" name="Rectangle 8"/>
            <p:cNvSpPr>
              <a:spLocks noChangeArrowheads="1"/>
            </p:cNvSpPr>
            <p:nvPr/>
          </p:nvSpPr>
          <p:spPr bwMode="auto">
            <a:xfrm>
              <a:off x="432" y="2256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pic>
          <p:nvPicPr>
            <p:cNvPr id="71689" name="Picture 9" descr="Random Distributi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2312"/>
              <a:ext cx="576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690" name="Freeform 10"/>
          <p:cNvSpPr>
            <a:spLocks/>
          </p:cNvSpPr>
          <p:nvPr/>
        </p:nvSpPr>
        <p:spPr bwMode="auto">
          <a:xfrm>
            <a:off x="5574630" y="3183533"/>
            <a:ext cx="1644650" cy="1731962"/>
          </a:xfrm>
          <a:custGeom>
            <a:avLst/>
            <a:gdLst>
              <a:gd name="T0" fmla="*/ 564 w 1036"/>
              <a:gd name="T1" fmla="*/ 66 h 1091"/>
              <a:gd name="T2" fmla="*/ 220 w 1036"/>
              <a:gd name="T3" fmla="*/ 2 h 1091"/>
              <a:gd name="T4" fmla="*/ 60 w 1036"/>
              <a:gd name="T5" fmla="*/ 34 h 1091"/>
              <a:gd name="T6" fmla="*/ 60 w 1036"/>
              <a:gd name="T7" fmla="*/ 354 h 1091"/>
              <a:gd name="T8" fmla="*/ 36 w 1036"/>
              <a:gd name="T9" fmla="*/ 626 h 1091"/>
              <a:gd name="T10" fmla="*/ 52 w 1036"/>
              <a:gd name="T11" fmla="*/ 858 h 1091"/>
              <a:gd name="T12" fmla="*/ 76 w 1036"/>
              <a:gd name="T13" fmla="*/ 970 h 1091"/>
              <a:gd name="T14" fmla="*/ 140 w 1036"/>
              <a:gd name="T15" fmla="*/ 1042 h 1091"/>
              <a:gd name="T16" fmla="*/ 228 w 1036"/>
              <a:gd name="T17" fmla="*/ 1082 h 1091"/>
              <a:gd name="T18" fmla="*/ 348 w 1036"/>
              <a:gd name="T19" fmla="*/ 1074 h 1091"/>
              <a:gd name="T20" fmla="*/ 396 w 1036"/>
              <a:gd name="T21" fmla="*/ 1058 h 1091"/>
              <a:gd name="T22" fmla="*/ 420 w 1036"/>
              <a:gd name="T23" fmla="*/ 1050 h 1091"/>
              <a:gd name="T24" fmla="*/ 516 w 1036"/>
              <a:gd name="T25" fmla="*/ 994 h 1091"/>
              <a:gd name="T26" fmla="*/ 692 w 1036"/>
              <a:gd name="T27" fmla="*/ 1034 h 1091"/>
              <a:gd name="T28" fmla="*/ 860 w 1036"/>
              <a:gd name="T29" fmla="*/ 1090 h 1091"/>
              <a:gd name="T30" fmla="*/ 972 w 1036"/>
              <a:gd name="T31" fmla="*/ 1082 h 1091"/>
              <a:gd name="T32" fmla="*/ 1036 w 1036"/>
              <a:gd name="T33" fmla="*/ 954 h 1091"/>
              <a:gd name="T34" fmla="*/ 1028 w 1036"/>
              <a:gd name="T35" fmla="*/ 858 h 1091"/>
              <a:gd name="T36" fmla="*/ 1012 w 1036"/>
              <a:gd name="T37" fmla="*/ 714 h 1091"/>
              <a:gd name="T38" fmla="*/ 884 w 1036"/>
              <a:gd name="T39" fmla="*/ 114 h 1091"/>
              <a:gd name="T40" fmla="*/ 700 w 1036"/>
              <a:gd name="T41" fmla="*/ 42 h 1091"/>
              <a:gd name="T42" fmla="*/ 564 w 1036"/>
              <a:gd name="T43" fmla="*/ 66 h 1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36" h="1091">
                <a:moveTo>
                  <a:pt x="564" y="66"/>
                </a:moveTo>
                <a:cubicBezTo>
                  <a:pt x="470" y="4"/>
                  <a:pt x="330" y="18"/>
                  <a:pt x="220" y="2"/>
                </a:cubicBezTo>
                <a:cubicBezTo>
                  <a:pt x="155" y="7"/>
                  <a:pt x="111" y="0"/>
                  <a:pt x="60" y="34"/>
                </a:cubicBezTo>
                <a:cubicBezTo>
                  <a:pt x="0" y="124"/>
                  <a:pt x="40" y="253"/>
                  <a:pt x="60" y="354"/>
                </a:cubicBezTo>
                <a:cubicBezTo>
                  <a:pt x="55" y="446"/>
                  <a:pt x="47" y="535"/>
                  <a:pt x="36" y="626"/>
                </a:cubicBezTo>
                <a:cubicBezTo>
                  <a:pt x="44" y="783"/>
                  <a:pt x="39" y="745"/>
                  <a:pt x="52" y="858"/>
                </a:cubicBezTo>
                <a:cubicBezTo>
                  <a:pt x="55" y="885"/>
                  <a:pt x="59" y="944"/>
                  <a:pt x="76" y="970"/>
                </a:cubicBezTo>
                <a:cubicBezTo>
                  <a:pt x="105" y="1013"/>
                  <a:pt x="85" y="987"/>
                  <a:pt x="140" y="1042"/>
                </a:cubicBezTo>
                <a:cubicBezTo>
                  <a:pt x="157" y="1059"/>
                  <a:pt x="206" y="1071"/>
                  <a:pt x="228" y="1082"/>
                </a:cubicBezTo>
                <a:cubicBezTo>
                  <a:pt x="268" y="1079"/>
                  <a:pt x="308" y="1080"/>
                  <a:pt x="348" y="1074"/>
                </a:cubicBezTo>
                <a:cubicBezTo>
                  <a:pt x="365" y="1072"/>
                  <a:pt x="380" y="1063"/>
                  <a:pt x="396" y="1058"/>
                </a:cubicBezTo>
                <a:cubicBezTo>
                  <a:pt x="404" y="1055"/>
                  <a:pt x="420" y="1050"/>
                  <a:pt x="420" y="1050"/>
                </a:cubicBezTo>
                <a:cubicBezTo>
                  <a:pt x="446" y="1024"/>
                  <a:pt x="480" y="1006"/>
                  <a:pt x="516" y="994"/>
                </a:cubicBezTo>
                <a:cubicBezTo>
                  <a:pt x="575" y="1001"/>
                  <a:pt x="638" y="1007"/>
                  <a:pt x="692" y="1034"/>
                </a:cubicBezTo>
                <a:cubicBezTo>
                  <a:pt x="751" y="1063"/>
                  <a:pt x="795" y="1079"/>
                  <a:pt x="860" y="1090"/>
                </a:cubicBezTo>
                <a:cubicBezTo>
                  <a:pt x="897" y="1087"/>
                  <a:pt x="936" y="1091"/>
                  <a:pt x="972" y="1082"/>
                </a:cubicBezTo>
                <a:cubicBezTo>
                  <a:pt x="1008" y="1074"/>
                  <a:pt x="1028" y="986"/>
                  <a:pt x="1036" y="954"/>
                </a:cubicBezTo>
                <a:cubicBezTo>
                  <a:pt x="1033" y="922"/>
                  <a:pt x="1031" y="890"/>
                  <a:pt x="1028" y="858"/>
                </a:cubicBezTo>
                <a:cubicBezTo>
                  <a:pt x="1023" y="810"/>
                  <a:pt x="1012" y="714"/>
                  <a:pt x="1012" y="714"/>
                </a:cubicBezTo>
                <a:cubicBezTo>
                  <a:pt x="1003" y="515"/>
                  <a:pt x="999" y="286"/>
                  <a:pt x="884" y="114"/>
                </a:cubicBezTo>
                <a:cubicBezTo>
                  <a:pt x="851" y="65"/>
                  <a:pt x="750" y="49"/>
                  <a:pt x="700" y="42"/>
                </a:cubicBezTo>
                <a:cubicBezTo>
                  <a:pt x="640" y="47"/>
                  <a:pt x="611" y="43"/>
                  <a:pt x="564" y="66"/>
                </a:cubicBezTo>
                <a:close/>
              </a:path>
            </a:pathLst>
          </a:custGeom>
          <a:noFill/>
          <a:ln w="28575" cmpd="sng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1" name="Freeform 11"/>
          <p:cNvSpPr>
            <a:spLocks/>
          </p:cNvSpPr>
          <p:nvPr/>
        </p:nvSpPr>
        <p:spPr bwMode="auto">
          <a:xfrm>
            <a:off x="7092280" y="3210520"/>
            <a:ext cx="1651000" cy="1690688"/>
          </a:xfrm>
          <a:custGeom>
            <a:avLst/>
            <a:gdLst>
              <a:gd name="T0" fmla="*/ 80 w 1040"/>
              <a:gd name="T1" fmla="*/ 33 h 1065"/>
              <a:gd name="T2" fmla="*/ 56 w 1040"/>
              <a:gd name="T3" fmla="*/ 41 h 1065"/>
              <a:gd name="T4" fmla="*/ 40 w 1040"/>
              <a:gd name="T5" fmla="*/ 89 h 1065"/>
              <a:gd name="T6" fmla="*/ 24 w 1040"/>
              <a:gd name="T7" fmla="*/ 113 h 1065"/>
              <a:gd name="T8" fmla="*/ 0 w 1040"/>
              <a:gd name="T9" fmla="*/ 201 h 1065"/>
              <a:gd name="T10" fmla="*/ 32 w 1040"/>
              <a:gd name="T11" fmla="*/ 305 h 1065"/>
              <a:gd name="T12" fmla="*/ 64 w 1040"/>
              <a:gd name="T13" fmla="*/ 617 h 1065"/>
              <a:gd name="T14" fmla="*/ 64 w 1040"/>
              <a:gd name="T15" fmla="*/ 865 h 1065"/>
              <a:gd name="T16" fmla="*/ 80 w 1040"/>
              <a:gd name="T17" fmla="*/ 913 h 1065"/>
              <a:gd name="T18" fmla="*/ 88 w 1040"/>
              <a:gd name="T19" fmla="*/ 937 h 1065"/>
              <a:gd name="T20" fmla="*/ 88 w 1040"/>
              <a:gd name="T21" fmla="*/ 1049 h 1065"/>
              <a:gd name="T22" fmla="*/ 136 w 1040"/>
              <a:gd name="T23" fmla="*/ 1065 h 1065"/>
              <a:gd name="T24" fmla="*/ 216 w 1040"/>
              <a:gd name="T25" fmla="*/ 1041 h 1065"/>
              <a:gd name="T26" fmla="*/ 240 w 1040"/>
              <a:gd name="T27" fmla="*/ 1033 h 1065"/>
              <a:gd name="T28" fmla="*/ 448 w 1040"/>
              <a:gd name="T29" fmla="*/ 1033 h 1065"/>
              <a:gd name="T30" fmla="*/ 512 w 1040"/>
              <a:gd name="T31" fmla="*/ 977 h 1065"/>
              <a:gd name="T32" fmla="*/ 608 w 1040"/>
              <a:gd name="T33" fmla="*/ 985 h 1065"/>
              <a:gd name="T34" fmla="*/ 784 w 1040"/>
              <a:gd name="T35" fmla="*/ 1033 h 1065"/>
              <a:gd name="T36" fmla="*/ 904 w 1040"/>
              <a:gd name="T37" fmla="*/ 1025 h 1065"/>
              <a:gd name="T38" fmla="*/ 944 w 1040"/>
              <a:gd name="T39" fmla="*/ 985 h 1065"/>
              <a:gd name="T40" fmla="*/ 1008 w 1040"/>
              <a:gd name="T41" fmla="*/ 833 h 1065"/>
              <a:gd name="T42" fmla="*/ 1040 w 1040"/>
              <a:gd name="T43" fmla="*/ 585 h 1065"/>
              <a:gd name="T44" fmla="*/ 1024 w 1040"/>
              <a:gd name="T45" fmla="*/ 473 h 1065"/>
              <a:gd name="T46" fmla="*/ 1008 w 1040"/>
              <a:gd name="T47" fmla="*/ 441 h 1065"/>
              <a:gd name="T48" fmla="*/ 992 w 1040"/>
              <a:gd name="T49" fmla="*/ 393 h 1065"/>
              <a:gd name="T50" fmla="*/ 904 w 1040"/>
              <a:gd name="T51" fmla="*/ 161 h 1065"/>
              <a:gd name="T52" fmla="*/ 880 w 1040"/>
              <a:gd name="T53" fmla="*/ 137 h 1065"/>
              <a:gd name="T54" fmla="*/ 832 w 1040"/>
              <a:gd name="T55" fmla="*/ 105 h 1065"/>
              <a:gd name="T56" fmla="*/ 736 w 1040"/>
              <a:gd name="T57" fmla="*/ 57 h 1065"/>
              <a:gd name="T58" fmla="*/ 488 w 1040"/>
              <a:gd name="T59" fmla="*/ 65 h 1065"/>
              <a:gd name="T60" fmla="*/ 328 w 1040"/>
              <a:gd name="T61" fmla="*/ 25 h 1065"/>
              <a:gd name="T62" fmla="*/ 160 w 1040"/>
              <a:gd name="T63" fmla="*/ 1 h 1065"/>
              <a:gd name="T64" fmla="*/ 72 w 1040"/>
              <a:gd name="T65" fmla="*/ 9 h 1065"/>
              <a:gd name="T66" fmla="*/ 64 w 1040"/>
              <a:gd name="T67" fmla="*/ 33 h 1065"/>
              <a:gd name="T68" fmla="*/ 80 w 1040"/>
              <a:gd name="T69" fmla="*/ 33 h 1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40" h="1065">
                <a:moveTo>
                  <a:pt x="80" y="33"/>
                </a:moveTo>
                <a:cubicBezTo>
                  <a:pt x="72" y="36"/>
                  <a:pt x="61" y="34"/>
                  <a:pt x="56" y="41"/>
                </a:cubicBezTo>
                <a:cubicBezTo>
                  <a:pt x="46" y="55"/>
                  <a:pt x="45" y="73"/>
                  <a:pt x="40" y="89"/>
                </a:cubicBezTo>
                <a:cubicBezTo>
                  <a:pt x="37" y="98"/>
                  <a:pt x="28" y="104"/>
                  <a:pt x="24" y="113"/>
                </a:cubicBezTo>
                <a:cubicBezTo>
                  <a:pt x="9" y="146"/>
                  <a:pt x="7" y="167"/>
                  <a:pt x="0" y="201"/>
                </a:cubicBezTo>
                <a:cubicBezTo>
                  <a:pt x="7" y="247"/>
                  <a:pt x="7" y="268"/>
                  <a:pt x="32" y="305"/>
                </a:cubicBezTo>
                <a:cubicBezTo>
                  <a:pt x="56" y="402"/>
                  <a:pt x="54" y="516"/>
                  <a:pt x="64" y="617"/>
                </a:cubicBezTo>
                <a:cubicBezTo>
                  <a:pt x="59" y="713"/>
                  <a:pt x="49" y="774"/>
                  <a:pt x="64" y="865"/>
                </a:cubicBezTo>
                <a:cubicBezTo>
                  <a:pt x="67" y="882"/>
                  <a:pt x="75" y="897"/>
                  <a:pt x="80" y="913"/>
                </a:cubicBezTo>
                <a:cubicBezTo>
                  <a:pt x="83" y="921"/>
                  <a:pt x="88" y="937"/>
                  <a:pt x="88" y="937"/>
                </a:cubicBezTo>
                <a:cubicBezTo>
                  <a:pt x="86" y="952"/>
                  <a:pt x="70" y="1029"/>
                  <a:pt x="88" y="1049"/>
                </a:cubicBezTo>
                <a:cubicBezTo>
                  <a:pt x="99" y="1062"/>
                  <a:pt x="136" y="1065"/>
                  <a:pt x="136" y="1065"/>
                </a:cubicBezTo>
                <a:cubicBezTo>
                  <a:pt x="184" y="1053"/>
                  <a:pt x="158" y="1060"/>
                  <a:pt x="216" y="1041"/>
                </a:cubicBezTo>
                <a:cubicBezTo>
                  <a:pt x="224" y="1038"/>
                  <a:pt x="240" y="1033"/>
                  <a:pt x="240" y="1033"/>
                </a:cubicBezTo>
                <a:cubicBezTo>
                  <a:pt x="313" y="1040"/>
                  <a:pt x="373" y="1050"/>
                  <a:pt x="448" y="1033"/>
                </a:cubicBezTo>
                <a:cubicBezTo>
                  <a:pt x="471" y="1028"/>
                  <a:pt x="478" y="988"/>
                  <a:pt x="512" y="977"/>
                </a:cubicBezTo>
                <a:cubicBezTo>
                  <a:pt x="544" y="980"/>
                  <a:pt x="576" y="980"/>
                  <a:pt x="608" y="985"/>
                </a:cubicBezTo>
                <a:cubicBezTo>
                  <a:pt x="668" y="994"/>
                  <a:pt x="724" y="1021"/>
                  <a:pt x="784" y="1033"/>
                </a:cubicBezTo>
                <a:cubicBezTo>
                  <a:pt x="824" y="1030"/>
                  <a:pt x="864" y="1032"/>
                  <a:pt x="904" y="1025"/>
                </a:cubicBezTo>
                <a:cubicBezTo>
                  <a:pt x="921" y="1022"/>
                  <a:pt x="938" y="998"/>
                  <a:pt x="944" y="985"/>
                </a:cubicBezTo>
                <a:cubicBezTo>
                  <a:pt x="966" y="934"/>
                  <a:pt x="983" y="883"/>
                  <a:pt x="1008" y="833"/>
                </a:cubicBezTo>
                <a:cubicBezTo>
                  <a:pt x="1022" y="750"/>
                  <a:pt x="1032" y="669"/>
                  <a:pt x="1040" y="585"/>
                </a:cubicBezTo>
                <a:cubicBezTo>
                  <a:pt x="1036" y="540"/>
                  <a:pt x="1040" y="510"/>
                  <a:pt x="1024" y="473"/>
                </a:cubicBezTo>
                <a:cubicBezTo>
                  <a:pt x="1019" y="462"/>
                  <a:pt x="1012" y="452"/>
                  <a:pt x="1008" y="441"/>
                </a:cubicBezTo>
                <a:cubicBezTo>
                  <a:pt x="1002" y="425"/>
                  <a:pt x="992" y="393"/>
                  <a:pt x="992" y="393"/>
                </a:cubicBezTo>
                <a:cubicBezTo>
                  <a:pt x="1001" y="296"/>
                  <a:pt x="1012" y="197"/>
                  <a:pt x="904" y="161"/>
                </a:cubicBezTo>
                <a:cubicBezTo>
                  <a:pt x="896" y="153"/>
                  <a:pt x="889" y="144"/>
                  <a:pt x="880" y="137"/>
                </a:cubicBezTo>
                <a:cubicBezTo>
                  <a:pt x="865" y="125"/>
                  <a:pt x="832" y="105"/>
                  <a:pt x="832" y="105"/>
                </a:cubicBezTo>
                <a:cubicBezTo>
                  <a:pt x="806" y="66"/>
                  <a:pt x="778" y="71"/>
                  <a:pt x="736" y="57"/>
                </a:cubicBezTo>
                <a:cubicBezTo>
                  <a:pt x="630" y="78"/>
                  <a:pt x="654" y="72"/>
                  <a:pt x="488" y="65"/>
                </a:cubicBezTo>
                <a:cubicBezTo>
                  <a:pt x="412" y="57"/>
                  <a:pt x="391" y="46"/>
                  <a:pt x="328" y="25"/>
                </a:cubicBezTo>
                <a:cubicBezTo>
                  <a:pt x="277" y="8"/>
                  <a:pt x="213" y="6"/>
                  <a:pt x="160" y="1"/>
                </a:cubicBezTo>
                <a:cubicBezTo>
                  <a:pt x="131" y="4"/>
                  <a:pt x="100" y="0"/>
                  <a:pt x="72" y="9"/>
                </a:cubicBezTo>
                <a:cubicBezTo>
                  <a:pt x="64" y="12"/>
                  <a:pt x="61" y="25"/>
                  <a:pt x="64" y="33"/>
                </a:cubicBezTo>
                <a:cubicBezTo>
                  <a:pt x="66" y="38"/>
                  <a:pt x="75" y="33"/>
                  <a:pt x="80" y="33"/>
                </a:cubicBezTo>
                <a:close/>
              </a:path>
            </a:pathLst>
          </a:custGeom>
          <a:noFill/>
          <a:ln w="28575" cmpd="sng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2" name="Freeform 12"/>
          <p:cNvSpPr>
            <a:spLocks/>
          </p:cNvSpPr>
          <p:nvPr/>
        </p:nvSpPr>
        <p:spPr bwMode="auto">
          <a:xfrm>
            <a:off x="5898480" y="4075708"/>
            <a:ext cx="419100" cy="660400"/>
          </a:xfrm>
          <a:custGeom>
            <a:avLst/>
            <a:gdLst>
              <a:gd name="T0" fmla="*/ 0 w 264"/>
              <a:gd name="T1" fmla="*/ 416 h 416"/>
              <a:gd name="T2" fmla="*/ 120 w 264"/>
              <a:gd name="T3" fmla="*/ 336 h 416"/>
              <a:gd name="T4" fmla="*/ 152 w 264"/>
              <a:gd name="T5" fmla="*/ 232 h 416"/>
              <a:gd name="T6" fmla="*/ 232 w 264"/>
              <a:gd name="T7" fmla="*/ 40 h 416"/>
              <a:gd name="T8" fmla="*/ 264 w 264"/>
              <a:gd name="T9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4" h="416">
                <a:moveTo>
                  <a:pt x="0" y="416"/>
                </a:moveTo>
                <a:cubicBezTo>
                  <a:pt x="46" y="401"/>
                  <a:pt x="86" y="370"/>
                  <a:pt x="120" y="336"/>
                </a:cubicBezTo>
                <a:cubicBezTo>
                  <a:pt x="134" y="294"/>
                  <a:pt x="147" y="282"/>
                  <a:pt x="152" y="232"/>
                </a:cubicBezTo>
                <a:cubicBezTo>
                  <a:pt x="159" y="157"/>
                  <a:pt x="146" y="69"/>
                  <a:pt x="232" y="40"/>
                </a:cubicBezTo>
                <a:cubicBezTo>
                  <a:pt x="260" y="12"/>
                  <a:pt x="251" y="26"/>
                  <a:pt x="264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3" name="Freeform 13"/>
          <p:cNvSpPr>
            <a:spLocks/>
          </p:cNvSpPr>
          <p:nvPr/>
        </p:nvSpPr>
        <p:spPr bwMode="auto">
          <a:xfrm>
            <a:off x="5771480" y="4037608"/>
            <a:ext cx="533400" cy="152400"/>
          </a:xfrm>
          <a:custGeom>
            <a:avLst/>
            <a:gdLst>
              <a:gd name="T0" fmla="*/ 0 w 336"/>
              <a:gd name="T1" fmla="*/ 96 h 96"/>
              <a:gd name="T2" fmla="*/ 144 w 336"/>
              <a:gd name="T3" fmla="*/ 72 h 96"/>
              <a:gd name="T4" fmla="*/ 312 w 336"/>
              <a:gd name="T5" fmla="*/ 24 h 96"/>
              <a:gd name="T6" fmla="*/ 336 w 336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" h="96">
                <a:moveTo>
                  <a:pt x="0" y="96"/>
                </a:moveTo>
                <a:cubicBezTo>
                  <a:pt x="48" y="84"/>
                  <a:pt x="97" y="85"/>
                  <a:pt x="144" y="72"/>
                </a:cubicBezTo>
                <a:cubicBezTo>
                  <a:pt x="201" y="56"/>
                  <a:pt x="253" y="36"/>
                  <a:pt x="312" y="24"/>
                </a:cubicBezTo>
                <a:cubicBezTo>
                  <a:pt x="320" y="16"/>
                  <a:pt x="336" y="0"/>
                  <a:pt x="336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4" name="Freeform 14"/>
          <p:cNvSpPr>
            <a:spLocks/>
          </p:cNvSpPr>
          <p:nvPr/>
        </p:nvSpPr>
        <p:spPr bwMode="auto">
          <a:xfrm>
            <a:off x="5758780" y="3396258"/>
            <a:ext cx="546100" cy="615950"/>
          </a:xfrm>
          <a:custGeom>
            <a:avLst/>
            <a:gdLst>
              <a:gd name="T0" fmla="*/ 32 w 344"/>
              <a:gd name="T1" fmla="*/ 44 h 388"/>
              <a:gd name="T2" fmla="*/ 16 w 344"/>
              <a:gd name="T3" fmla="*/ 100 h 388"/>
              <a:gd name="T4" fmla="*/ 0 w 344"/>
              <a:gd name="T5" fmla="*/ 148 h 388"/>
              <a:gd name="T6" fmla="*/ 8 w 344"/>
              <a:gd name="T7" fmla="*/ 244 h 388"/>
              <a:gd name="T8" fmla="*/ 232 w 344"/>
              <a:gd name="T9" fmla="*/ 308 h 388"/>
              <a:gd name="T10" fmla="*/ 344 w 344"/>
              <a:gd name="T11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4" h="388">
                <a:moveTo>
                  <a:pt x="32" y="44"/>
                </a:moveTo>
                <a:cubicBezTo>
                  <a:pt x="5" y="125"/>
                  <a:pt x="46" y="0"/>
                  <a:pt x="16" y="100"/>
                </a:cubicBezTo>
                <a:cubicBezTo>
                  <a:pt x="11" y="116"/>
                  <a:pt x="0" y="148"/>
                  <a:pt x="0" y="148"/>
                </a:cubicBezTo>
                <a:cubicBezTo>
                  <a:pt x="3" y="180"/>
                  <a:pt x="2" y="213"/>
                  <a:pt x="8" y="244"/>
                </a:cubicBezTo>
                <a:cubicBezTo>
                  <a:pt x="25" y="331"/>
                  <a:pt x="203" y="307"/>
                  <a:pt x="232" y="308"/>
                </a:cubicBezTo>
                <a:cubicBezTo>
                  <a:pt x="280" y="324"/>
                  <a:pt x="310" y="354"/>
                  <a:pt x="344" y="388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5" name="Freeform 15"/>
          <p:cNvSpPr>
            <a:spLocks/>
          </p:cNvSpPr>
          <p:nvPr/>
        </p:nvSpPr>
        <p:spPr bwMode="auto">
          <a:xfrm>
            <a:off x="6130255" y="3402608"/>
            <a:ext cx="250825" cy="596900"/>
          </a:xfrm>
          <a:custGeom>
            <a:avLst/>
            <a:gdLst>
              <a:gd name="T0" fmla="*/ 22 w 158"/>
              <a:gd name="T1" fmla="*/ 0 h 376"/>
              <a:gd name="T2" fmla="*/ 30 w 158"/>
              <a:gd name="T3" fmla="*/ 168 h 376"/>
              <a:gd name="T4" fmla="*/ 102 w 158"/>
              <a:gd name="T5" fmla="*/ 224 h 376"/>
              <a:gd name="T6" fmla="*/ 126 w 158"/>
              <a:gd name="T7" fmla="*/ 240 h 376"/>
              <a:gd name="T8" fmla="*/ 142 w 158"/>
              <a:gd name="T9" fmla="*/ 264 h 376"/>
              <a:gd name="T10" fmla="*/ 158 w 158"/>
              <a:gd name="T11" fmla="*/ 312 h 376"/>
              <a:gd name="T12" fmla="*/ 150 w 158"/>
              <a:gd name="T13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8" h="376">
                <a:moveTo>
                  <a:pt x="22" y="0"/>
                </a:moveTo>
                <a:cubicBezTo>
                  <a:pt x="16" y="49"/>
                  <a:pt x="0" y="123"/>
                  <a:pt x="30" y="168"/>
                </a:cubicBezTo>
                <a:cubicBezTo>
                  <a:pt x="45" y="191"/>
                  <a:pt x="83" y="211"/>
                  <a:pt x="102" y="224"/>
                </a:cubicBezTo>
                <a:cubicBezTo>
                  <a:pt x="110" y="229"/>
                  <a:pt x="126" y="240"/>
                  <a:pt x="126" y="240"/>
                </a:cubicBezTo>
                <a:cubicBezTo>
                  <a:pt x="131" y="248"/>
                  <a:pt x="138" y="255"/>
                  <a:pt x="142" y="264"/>
                </a:cubicBezTo>
                <a:cubicBezTo>
                  <a:pt x="149" y="279"/>
                  <a:pt x="158" y="312"/>
                  <a:pt x="158" y="312"/>
                </a:cubicBezTo>
                <a:cubicBezTo>
                  <a:pt x="155" y="333"/>
                  <a:pt x="150" y="376"/>
                  <a:pt x="150" y="37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6" name="Freeform 16"/>
          <p:cNvSpPr>
            <a:spLocks/>
          </p:cNvSpPr>
          <p:nvPr/>
        </p:nvSpPr>
        <p:spPr bwMode="auto">
          <a:xfrm>
            <a:off x="6431880" y="3428008"/>
            <a:ext cx="469900" cy="558800"/>
          </a:xfrm>
          <a:custGeom>
            <a:avLst/>
            <a:gdLst>
              <a:gd name="T0" fmla="*/ 296 w 296"/>
              <a:gd name="T1" fmla="*/ 0 h 352"/>
              <a:gd name="T2" fmla="*/ 200 w 296"/>
              <a:gd name="T3" fmla="*/ 56 h 352"/>
              <a:gd name="T4" fmla="*/ 8 w 296"/>
              <a:gd name="T5" fmla="*/ 104 h 352"/>
              <a:gd name="T6" fmla="*/ 32 w 296"/>
              <a:gd name="T7" fmla="*/ 200 h 352"/>
              <a:gd name="T8" fmla="*/ 40 w 296"/>
              <a:gd name="T9" fmla="*/ 224 h 352"/>
              <a:gd name="T10" fmla="*/ 0 w 296"/>
              <a:gd name="T11" fmla="*/ 352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6" h="352">
                <a:moveTo>
                  <a:pt x="296" y="0"/>
                </a:moveTo>
                <a:cubicBezTo>
                  <a:pt x="237" y="59"/>
                  <a:pt x="270" y="44"/>
                  <a:pt x="200" y="56"/>
                </a:cubicBezTo>
                <a:cubicBezTo>
                  <a:pt x="121" y="50"/>
                  <a:pt x="38" y="15"/>
                  <a:pt x="8" y="104"/>
                </a:cubicBezTo>
                <a:cubicBezTo>
                  <a:pt x="19" y="169"/>
                  <a:pt x="11" y="137"/>
                  <a:pt x="32" y="200"/>
                </a:cubicBezTo>
                <a:cubicBezTo>
                  <a:pt x="35" y="208"/>
                  <a:pt x="40" y="224"/>
                  <a:pt x="40" y="224"/>
                </a:cubicBezTo>
                <a:cubicBezTo>
                  <a:pt x="32" y="323"/>
                  <a:pt x="49" y="303"/>
                  <a:pt x="0" y="35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7" name="Freeform 17"/>
          <p:cNvSpPr>
            <a:spLocks/>
          </p:cNvSpPr>
          <p:nvPr/>
        </p:nvSpPr>
        <p:spPr bwMode="auto">
          <a:xfrm>
            <a:off x="6419180" y="3669308"/>
            <a:ext cx="622300" cy="384175"/>
          </a:xfrm>
          <a:custGeom>
            <a:avLst/>
            <a:gdLst>
              <a:gd name="T0" fmla="*/ 392 w 392"/>
              <a:gd name="T1" fmla="*/ 0 h 242"/>
              <a:gd name="T2" fmla="*/ 272 w 392"/>
              <a:gd name="T3" fmla="*/ 24 h 242"/>
              <a:gd name="T4" fmla="*/ 208 w 392"/>
              <a:gd name="T5" fmla="*/ 88 h 242"/>
              <a:gd name="T6" fmla="*/ 104 w 392"/>
              <a:gd name="T7" fmla="*/ 240 h 242"/>
              <a:gd name="T8" fmla="*/ 0 w 392"/>
              <a:gd name="T9" fmla="*/ 240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2" h="242">
                <a:moveTo>
                  <a:pt x="392" y="0"/>
                </a:moveTo>
                <a:cubicBezTo>
                  <a:pt x="353" y="13"/>
                  <a:pt x="313" y="18"/>
                  <a:pt x="272" y="24"/>
                </a:cubicBezTo>
                <a:cubicBezTo>
                  <a:pt x="247" y="41"/>
                  <a:pt x="221" y="59"/>
                  <a:pt x="208" y="88"/>
                </a:cubicBezTo>
                <a:cubicBezTo>
                  <a:pt x="188" y="134"/>
                  <a:pt x="171" y="236"/>
                  <a:pt x="104" y="240"/>
                </a:cubicBezTo>
                <a:cubicBezTo>
                  <a:pt x="69" y="242"/>
                  <a:pt x="35" y="240"/>
                  <a:pt x="0" y="24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8" name="Freeform 18"/>
          <p:cNvSpPr>
            <a:spLocks/>
          </p:cNvSpPr>
          <p:nvPr/>
        </p:nvSpPr>
        <p:spPr bwMode="auto">
          <a:xfrm>
            <a:off x="6419180" y="4113808"/>
            <a:ext cx="660400" cy="393700"/>
          </a:xfrm>
          <a:custGeom>
            <a:avLst/>
            <a:gdLst>
              <a:gd name="T0" fmla="*/ 416 w 416"/>
              <a:gd name="T1" fmla="*/ 248 h 248"/>
              <a:gd name="T2" fmla="*/ 376 w 416"/>
              <a:gd name="T3" fmla="*/ 136 h 248"/>
              <a:gd name="T4" fmla="*/ 336 w 416"/>
              <a:gd name="T5" fmla="*/ 40 h 248"/>
              <a:gd name="T6" fmla="*/ 312 w 416"/>
              <a:gd name="T7" fmla="*/ 16 h 248"/>
              <a:gd name="T8" fmla="*/ 264 w 416"/>
              <a:gd name="T9" fmla="*/ 0 h 248"/>
              <a:gd name="T10" fmla="*/ 184 w 416"/>
              <a:gd name="T11" fmla="*/ 16 h 248"/>
              <a:gd name="T12" fmla="*/ 136 w 416"/>
              <a:gd name="T13" fmla="*/ 32 h 248"/>
              <a:gd name="T14" fmla="*/ 112 w 416"/>
              <a:gd name="T15" fmla="*/ 40 h 248"/>
              <a:gd name="T16" fmla="*/ 0 w 416"/>
              <a:gd name="T1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6" h="248">
                <a:moveTo>
                  <a:pt x="416" y="248"/>
                </a:moveTo>
                <a:cubicBezTo>
                  <a:pt x="407" y="205"/>
                  <a:pt x="393" y="174"/>
                  <a:pt x="376" y="136"/>
                </a:cubicBezTo>
                <a:cubicBezTo>
                  <a:pt x="361" y="102"/>
                  <a:pt x="360" y="69"/>
                  <a:pt x="336" y="40"/>
                </a:cubicBezTo>
                <a:cubicBezTo>
                  <a:pt x="329" y="31"/>
                  <a:pt x="322" y="21"/>
                  <a:pt x="312" y="16"/>
                </a:cubicBezTo>
                <a:cubicBezTo>
                  <a:pt x="297" y="8"/>
                  <a:pt x="264" y="0"/>
                  <a:pt x="264" y="0"/>
                </a:cubicBezTo>
                <a:cubicBezTo>
                  <a:pt x="232" y="5"/>
                  <a:pt x="214" y="7"/>
                  <a:pt x="184" y="16"/>
                </a:cubicBezTo>
                <a:cubicBezTo>
                  <a:pt x="168" y="21"/>
                  <a:pt x="152" y="27"/>
                  <a:pt x="136" y="32"/>
                </a:cubicBezTo>
                <a:cubicBezTo>
                  <a:pt x="128" y="35"/>
                  <a:pt x="112" y="40"/>
                  <a:pt x="112" y="40"/>
                </a:cubicBezTo>
                <a:cubicBezTo>
                  <a:pt x="96" y="39"/>
                  <a:pt x="0" y="50"/>
                  <a:pt x="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99" name="Freeform 19"/>
          <p:cNvSpPr>
            <a:spLocks/>
          </p:cNvSpPr>
          <p:nvPr/>
        </p:nvSpPr>
        <p:spPr bwMode="auto">
          <a:xfrm>
            <a:off x="6368380" y="4126508"/>
            <a:ext cx="584200" cy="520700"/>
          </a:xfrm>
          <a:custGeom>
            <a:avLst/>
            <a:gdLst>
              <a:gd name="T0" fmla="*/ 368 w 368"/>
              <a:gd name="T1" fmla="*/ 328 h 328"/>
              <a:gd name="T2" fmla="*/ 0 w 368"/>
              <a:gd name="T3" fmla="*/ 0 h 3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68" h="328">
                <a:moveTo>
                  <a:pt x="368" y="328"/>
                </a:moveTo>
                <a:cubicBezTo>
                  <a:pt x="198" y="300"/>
                  <a:pt x="0" y="194"/>
                  <a:pt x="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0" name="Freeform 20"/>
          <p:cNvSpPr>
            <a:spLocks/>
          </p:cNvSpPr>
          <p:nvPr/>
        </p:nvSpPr>
        <p:spPr bwMode="auto">
          <a:xfrm>
            <a:off x="7295480" y="3458170"/>
            <a:ext cx="546100" cy="528638"/>
          </a:xfrm>
          <a:custGeom>
            <a:avLst/>
            <a:gdLst>
              <a:gd name="T0" fmla="*/ 0 w 344"/>
              <a:gd name="T1" fmla="*/ 13 h 333"/>
              <a:gd name="T2" fmla="*/ 104 w 344"/>
              <a:gd name="T3" fmla="*/ 29 h 333"/>
              <a:gd name="T4" fmla="*/ 296 w 344"/>
              <a:gd name="T5" fmla="*/ 189 h 333"/>
              <a:gd name="T6" fmla="*/ 336 w 344"/>
              <a:gd name="T7" fmla="*/ 285 h 333"/>
              <a:gd name="T8" fmla="*/ 344 w 344"/>
              <a:gd name="T9" fmla="*/ 333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" h="333">
                <a:moveTo>
                  <a:pt x="0" y="13"/>
                </a:moveTo>
                <a:cubicBezTo>
                  <a:pt x="39" y="0"/>
                  <a:pt x="65" y="16"/>
                  <a:pt x="104" y="29"/>
                </a:cubicBezTo>
                <a:cubicBezTo>
                  <a:pt x="184" y="56"/>
                  <a:pt x="238" y="131"/>
                  <a:pt x="296" y="189"/>
                </a:cubicBezTo>
                <a:cubicBezTo>
                  <a:pt x="321" y="214"/>
                  <a:pt x="325" y="253"/>
                  <a:pt x="336" y="285"/>
                </a:cubicBezTo>
                <a:cubicBezTo>
                  <a:pt x="341" y="300"/>
                  <a:pt x="344" y="333"/>
                  <a:pt x="344" y="333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1" name="Freeform 21"/>
          <p:cNvSpPr>
            <a:spLocks/>
          </p:cNvSpPr>
          <p:nvPr/>
        </p:nvSpPr>
        <p:spPr bwMode="auto">
          <a:xfrm>
            <a:off x="7473280" y="3364508"/>
            <a:ext cx="568325" cy="635000"/>
          </a:xfrm>
          <a:custGeom>
            <a:avLst/>
            <a:gdLst>
              <a:gd name="T0" fmla="*/ 0 w 358"/>
              <a:gd name="T1" fmla="*/ 0 h 400"/>
              <a:gd name="T2" fmla="*/ 168 w 358"/>
              <a:gd name="T3" fmla="*/ 88 h 400"/>
              <a:gd name="T4" fmla="*/ 216 w 358"/>
              <a:gd name="T5" fmla="*/ 112 h 400"/>
              <a:gd name="T6" fmla="*/ 264 w 358"/>
              <a:gd name="T7" fmla="*/ 152 h 400"/>
              <a:gd name="T8" fmla="*/ 336 w 358"/>
              <a:gd name="T9" fmla="*/ 272 h 400"/>
              <a:gd name="T10" fmla="*/ 272 w 358"/>
              <a:gd name="T11" fmla="*/ 400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8" h="400">
                <a:moveTo>
                  <a:pt x="0" y="0"/>
                </a:moveTo>
                <a:cubicBezTo>
                  <a:pt x="54" y="40"/>
                  <a:pt x="109" y="58"/>
                  <a:pt x="168" y="88"/>
                </a:cubicBezTo>
                <a:cubicBezTo>
                  <a:pt x="230" y="119"/>
                  <a:pt x="156" y="92"/>
                  <a:pt x="216" y="112"/>
                </a:cubicBezTo>
                <a:cubicBezTo>
                  <a:pt x="231" y="127"/>
                  <a:pt x="250" y="136"/>
                  <a:pt x="264" y="152"/>
                </a:cubicBezTo>
                <a:cubicBezTo>
                  <a:pt x="297" y="190"/>
                  <a:pt x="309" y="232"/>
                  <a:pt x="336" y="272"/>
                </a:cubicBezTo>
                <a:cubicBezTo>
                  <a:pt x="358" y="358"/>
                  <a:pt x="337" y="367"/>
                  <a:pt x="272" y="40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2" name="Freeform 22"/>
          <p:cNvSpPr>
            <a:spLocks/>
          </p:cNvSpPr>
          <p:nvPr/>
        </p:nvSpPr>
        <p:spPr bwMode="auto">
          <a:xfrm>
            <a:off x="7854280" y="3440708"/>
            <a:ext cx="495300" cy="584200"/>
          </a:xfrm>
          <a:custGeom>
            <a:avLst/>
            <a:gdLst>
              <a:gd name="T0" fmla="*/ 312 w 312"/>
              <a:gd name="T1" fmla="*/ 0 h 368"/>
              <a:gd name="T2" fmla="*/ 216 w 312"/>
              <a:gd name="T3" fmla="*/ 208 h 368"/>
              <a:gd name="T4" fmla="*/ 168 w 312"/>
              <a:gd name="T5" fmla="*/ 304 h 368"/>
              <a:gd name="T6" fmla="*/ 0 w 312"/>
              <a:gd name="T7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2" h="368">
                <a:moveTo>
                  <a:pt x="312" y="0"/>
                </a:moveTo>
                <a:cubicBezTo>
                  <a:pt x="298" y="82"/>
                  <a:pt x="269" y="145"/>
                  <a:pt x="216" y="208"/>
                </a:cubicBezTo>
                <a:cubicBezTo>
                  <a:pt x="192" y="236"/>
                  <a:pt x="196" y="279"/>
                  <a:pt x="168" y="304"/>
                </a:cubicBezTo>
                <a:cubicBezTo>
                  <a:pt x="130" y="337"/>
                  <a:pt x="49" y="368"/>
                  <a:pt x="0" y="368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3" name="Freeform 23"/>
          <p:cNvSpPr>
            <a:spLocks/>
          </p:cNvSpPr>
          <p:nvPr/>
        </p:nvSpPr>
        <p:spPr bwMode="auto">
          <a:xfrm>
            <a:off x="7841580" y="4055070"/>
            <a:ext cx="812800" cy="287338"/>
          </a:xfrm>
          <a:custGeom>
            <a:avLst/>
            <a:gdLst>
              <a:gd name="T0" fmla="*/ 512 w 512"/>
              <a:gd name="T1" fmla="*/ 181 h 181"/>
              <a:gd name="T2" fmla="*/ 408 w 512"/>
              <a:gd name="T3" fmla="*/ 69 h 181"/>
              <a:gd name="T4" fmla="*/ 312 w 512"/>
              <a:gd name="T5" fmla="*/ 29 h 181"/>
              <a:gd name="T6" fmla="*/ 0 w 512"/>
              <a:gd name="T7" fmla="*/ 5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12" h="181">
                <a:moveTo>
                  <a:pt x="512" y="181"/>
                </a:moveTo>
                <a:cubicBezTo>
                  <a:pt x="475" y="156"/>
                  <a:pt x="452" y="84"/>
                  <a:pt x="408" y="69"/>
                </a:cubicBezTo>
                <a:cubicBezTo>
                  <a:pt x="374" y="58"/>
                  <a:pt x="347" y="41"/>
                  <a:pt x="312" y="29"/>
                </a:cubicBezTo>
                <a:cubicBezTo>
                  <a:pt x="224" y="0"/>
                  <a:pt x="92" y="5"/>
                  <a:pt x="0" y="5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4" name="Freeform 24"/>
          <p:cNvSpPr>
            <a:spLocks/>
          </p:cNvSpPr>
          <p:nvPr/>
        </p:nvSpPr>
        <p:spPr bwMode="auto">
          <a:xfrm>
            <a:off x="7778080" y="4086820"/>
            <a:ext cx="762000" cy="712788"/>
          </a:xfrm>
          <a:custGeom>
            <a:avLst/>
            <a:gdLst>
              <a:gd name="T0" fmla="*/ 464 w 480"/>
              <a:gd name="T1" fmla="*/ 449 h 449"/>
              <a:gd name="T2" fmla="*/ 400 w 480"/>
              <a:gd name="T3" fmla="*/ 353 h 449"/>
              <a:gd name="T4" fmla="*/ 160 w 480"/>
              <a:gd name="T5" fmla="*/ 169 h 449"/>
              <a:gd name="T6" fmla="*/ 144 w 480"/>
              <a:gd name="T7" fmla="*/ 105 h 449"/>
              <a:gd name="T8" fmla="*/ 0 w 480"/>
              <a:gd name="T9" fmla="*/ 17 h 449"/>
              <a:gd name="T10" fmla="*/ 32 w 480"/>
              <a:gd name="T11" fmla="*/ 1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0" h="449">
                <a:moveTo>
                  <a:pt x="464" y="449"/>
                </a:moveTo>
                <a:cubicBezTo>
                  <a:pt x="480" y="402"/>
                  <a:pt x="436" y="378"/>
                  <a:pt x="400" y="353"/>
                </a:cubicBezTo>
                <a:cubicBezTo>
                  <a:pt x="316" y="294"/>
                  <a:pt x="220" y="259"/>
                  <a:pt x="160" y="169"/>
                </a:cubicBezTo>
                <a:cubicBezTo>
                  <a:pt x="159" y="163"/>
                  <a:pt x="151" y="116"/>
                  <a:pt x="144" y="105"/>
                </a:cubicBezTo>
                <a:cubicBezTo>
                  <a:pt x="113" y="58"/>
                  <a:pt x="44" y="47"/>
                  <a:pt x="0" y="17"/>
                </a:cubicBezTo>
                <a:cubicBezTo>
                  <a:pt x="26" y="0"/>
                  <a:pt x="14" y="1"/>
                  <a:pt x="32" y="1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5" name="Freeform 25"/>
          <p:cNvSpPr>
            <a:spLocks/>
          </p:cNvSpPr>
          <p:nvPr/>
        </p:nvSpPr>
        <p:spPr bwMode="auto">
          <a:xfrm>
            <a:off x="7320880" y="4063008"/>
            <a:ext cx="444500" cy="774700"/>
          </a:xfrm>
          <a:custGeom>
            <a:avLst/>
            <a:gdLst>
              <a:gd name="T0" fmla="*/ 0 w 280"/>
              <a:gd name="T1" fmla="*/ 488 h 488"/>
              <a:gd name="T2" fmla="*/ 112 w 280"/>
              <a:gd name="T3" fmla="*/ 256 h 488"/>
              <a:gd name="T4" fmla="*/ 112 w 280"/>
              <a:gd name="T5" fmla="*/ 168 h 488"/>
              <a:gd name="T6" fmla="*/ 256 w 280"/>
              <a:gd name="T7" fmla="*/ 40 h 488"/>
              <a:gd name="T8" fmla="*/ 280 w 280"/>
              <a:gd name="T9" fmla="*/ 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0" h="488">
                <a:moveTo>
                  <a:pt x="0" y="488"/>
                </a:moveTo>
                <a:cubicBezTo>
                  <a:pt x="74" y="414"/>
                  <a:pt x="99" y="362"/>
                  <a:pt x="112" y="256"/>
                </a:cubicBezTo>
                <a:cubicBezTo>
                  <a:pt x="105" y="216"/>
                  <a:pt x="98" y="206"/>
                  <a:pt x="112" y="168"/>
                </a:cubicBezTo>
                <a:cubicBezTo>
                  <a:pt x="127" y="127"/>
                  <a:pt x="219" y="65"/>
                  <a:pt x="256" y="40"/>
                </a:cubicBezTo>
                <a:cubicBezTo>
                  <a:pt x="275" y="11"/>
                  <a:pt x="268" y="25"/>
                  <a:pt x="28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706" name="Freeform 26"/>
          <p:cNvSpPr>
            <a:spLocks/>
          </p:cNvSpPr>
          <p:nvPr/>
        </p:nvSpPr>
        <p:spPr bwMode="auto">
          <a:xfrm>
            <a:off x="7224043" y="4037608"/>
            <a:ext cx="541337" cy="30162"/>
          </a:xfrm>
          <a:custGeom>
            <a:avLst/>
            <a:gdLst>
              <a:gd name="T0" fmla="*/ 37 w 341"/>
              <a:gd name="T1" fmla="*/ 0 h 19"/>
              <a:gd name="T2" fmla="*/ 189 w 341"/>
              <a:gd name="T3" fmla="*/ 0 h 19"/>
              <a:gd name="T4" fmla="*/ 341 w 341"/>
              <a:gd name="T5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1" h="19">
                <a:moveTo>
                  <a:pt x="37" y="0"/>
                </a:moveTo>
                <a:cubicBezTo>
                  <a:pt x="188" y="19"/>
                  <a:pt x="0" y="0"/>
                  <a:pt x="189" y="0"/>
                </a:cubicBezTo>
                <a:cubicBezTo>
                  <a:pt x="240" y="0"/>
                  <a:pt x="290" y="8"/>
                  <a:pt x="341" y="8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88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10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10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0" grpId="0" animBg="1"/>
      <p:bldP spid="71691" grpId="0" animBg="1"/>
      <p:bldP spid="71692" grpId="0" animBg="1"/>
      <p:bldP spid="71693" grpId="0" animBg="1"/>
      <p:bldP spid="71694" grpId="0" animBg="1"/>
      <p:bldP spid="71695" grpId="0" animBg="1"/>
      <p:bldP spid="71696" grpId="0" animBg="1"/>
      <p:bldP spid="71697" grpId="0" animBg="1"/>
      <p:bldP spid="71698" grpId="0" animBg="1"/>
      <p:bldP spid="71699" grpId="0" animBg="1"/>
      <p:bldP spid="71700" grpId="0" animBg="1"/>
      <p:bldP spid="71701" grpId="0" animBg="1"/>
      <p:bldP spid="71702" grpId="0" animBg="1"/>
      <p:bldP spid="71703" grpId="0" animBg="1"/>
      <p:bldP spid="71704" grpId="0" animBg="1"/>
      <p:bldP spid="71705" grpId="0" animBg="1"/>
      <p:bldP spid="717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Mean Shift Segmentation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196752"/>
            <a:ext cx="7956376" cy="4937760"/>
          </a:xfrm>
        </p:spPr>
        <p:txBody>
          <a:bodyPr>
            <a:normAutofit/>
          </a:bodyPr>
          <a:lstStyle/>
          <a:p>
            <a:r>
              <a:rPr lang="en-US" altLang="zh-TW" dirty="0"/>
              <a:t>Clustering </a:t>
            </a:r>
            <a:r>
              <a:rPr lang="en-US" altLang="zh-TW" dirty="0" smtClean="0"/>
              <a:t>Algorithm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 smtClean="0">
                <a:solidFill>
                  <a:schemeClr val="tx1"/>
                </a:solidFill>
              </a:rPr>
              <a:t>Define sample set of points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/>
              <a:t>Apply the mean shift </a:t>
            </a:r>
            <a:r>
              <a:rPr lang="en-US" altLang="zh-TW" sz="2400" dirty="0" smtClean="0"/>
              <a:t>procedure</a:t>
            </a:r>
          </a:p>
          <a:p>
            <a:pPr lvl="2"/>
            <a:r>
              <a:rPr lang="en-US" altLang="zh-TW" sz="2400" dirty="0"/>
              <a:t>O(k </a:t>
            </a:r>
            <a:r>
              <a:rPr lang="en-US" altLang="zh-TW" sz="2400" dirty="0" smtClean="0"/>
              <a:t>x n)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/>
              <a:t>Reapply </a:t>
            </a:r>
            <a:r>
              <a:rPr lang="en-US" altLang="zh-TW" sz="2400" dirty="0" smtClean="0"/>
              <a:t>on </a:t>
            </a:r>
            <a:r>
              <a:rPr lang="en-US" altLang="zh-TW" sz="2400" dirty="0"/>
              <a:t>perturbed </a:t>
            </a:r>
            <a:r>
              <a:rPr lang="en-US" altLang="zh-TW" sz="2400" dirty="0" smtClean="0"/>
              <a:t>cluster center candidates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/>
              <a:t>Derive the cluster centers y1......y p from the </a:t>
            </a:r>
            <a:r>
              <a:rPr lang="en-US" altLang="zh-TW" sz="2400" dirty="0" smtClean="0"/>
              <a:t>cluster center candidates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/>
              <a:t>Validate the cluster </a:t>
            </a:r>
            <a:r>
              <a:rPr lang="en-US" altLang="zh-TW" sz="2400" dirty="0" smtClean="0"/>
              <a:t>centers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zh-TW" sz="2400" dirty="0"/>
              <a:t>Clusters </a:t>
            </a:r>
            <a:r>
              <a:rPr lang="en-US" altLang="zh-TW" sz="2400" dirty="0" smtClean="0"/>
              <a:t>delineation</a:t>
            </a:r>
          </a:p>
          <a:p>
            <a:pPr lvl="2"/>
            <a:r>
              <a:rPr lang="en-US" altLang="zh-TW" sz="2400" dirty="0" smtClean="0"/>
              <a:t>k</a:t>
            </a:r>
            <a:r>
              <a:rPr lang="en-US" altLang="zh-TW" sz="2400" i="1" dirty="0" smtClean="0"/>
              <a:t>- </a:t>
            </a:r>
            <a:r>
              <a:rPr lang="en-US" altLang="zh-TW" sz="2400" dirty="0"/>
              <a:t>nearest </a:t>
            </a:r>
            <a:r>
              <a:rPr lang="en-US" altLang="zh-TW" sz="2400" dirty="0" smtClean="0"/>
              <a:t>neighbor technique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845" y="404664"/>
            <a:ext cx="3492438" cy="232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845" y="4005064"/>
            <a:ext cx="3492438" cy="232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73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Database Design and Indexing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15941" y="1215018"/>
            <a:ext cx="6851104" cy="4937760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sz="2000" dirty="0" smtClean="0"/>
              <a:t>Each </a:t>
            </a:r>
            <a:r>
              <a:rPr lang="en-US" altLang="zh-TW" sz="2000" dirty="0"/>
              <a:t>representative color descriptor F is defined to be </a:t>
            </a:r>
            <a:br>
              <a:rPr lang="en-US" altLang="zh-TW" sz="2000" dirty="0"/>
            </a:br>
            <a:r>
              <a:rPr lang="en-US" altLang="zh-TW" sz="2000" dirty="0" smtClean="0"/>
              <a:t>F={</a:t>
            </a:r>
            <a:r>
              <a:rPr lang="en-US" altLang="zh-TW" sz="2000" dirty="0"/>
              <a:t>ci}, </a:t>
            </a:r>
            <a:r>
              <a:rPr lang="en-US" altLang="zh-TW" sz="2000" dirty="0" err="1"/>
              <a:t>i</a:t>
            </a:r>
            <a:r>
              <a:rPr lang="en-US" altLang="zh-TW" sz="2000" dirty="0"/>
              <a:t>=1,., 3, where ci is 3-D color vector of a region</a:t>
            </a:r>
            <a:r>
              <a:rPr lang="en-US" altLang="zh-TW" sz="2000" dirty="0" smtClean="0"/>
              <a:t>.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The </a:t>
            </a:r>
            <a:r>
              <a:rPr lang="en-US" altLang="zh-TW" sz="2000" dirty="0"/>
              <a:t>proposed indexing scheme allows </a:t>
            </a:r>
            <a:r>
              <a:rPr lang="en-US" altLang="zh-TW" sz="2000" dirty="0" smtClean="0"/>
              <a:t>the database </a:t>
            </a:r>
            <a:r>
              <a:rPr lang="en-US" altLang="zh-TW" sz="2000" dirty="0"/>
              <a:t>to be dynamic, allowing straightforward </a:t>
            </a:r>
            <a:r>
              <a:rPr lang="en-US" altLang="zh-TW" sz="2000" dirty="0" smtClean="0"/>
              <a:t>insertion and deletions.</a:t>
            </a:r>
            <a:endParaRPr lang="zh-TW" alt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36634"/>
            <a:ext cx="5469628" cy="1364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20"/>
          <a:stretch/>
        </p:blipFill>
        <p:spPr bwMode="auto">
          <a:xfrm>
            <a:off x="6948264" y="2780928"/>
            <a:ext cx="2195736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30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Database Design and Indexing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7815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1. Given n the number of query regions, for each </a:t>
            </a:r>
            <a:r>
              <a:rPr lang="en-US" altLang="zh-TW" dirty="0" smtClean="0"/>
              <a:t>query region </a:t>
            </a:r>
            <a:r>
              <a:rPr lang="en-US" altLang="zh-TW" dirty="0" err="1" smtClean="0"/>
              <a:t>q</a:t>
            </a:r>
            <a:r>
              <a:rPr lang="en-US" altLang="zh-TW" baseline="-25000" dirty="0" err="1" smtClean="0"/>
              <a:t>j</a:t>
            </a:r>
            <a:r>
              <a:rPr lang="en-US" altLang="zh-TW" dirty="0"/>
              <a:t>, find the regions belonging to cluster </a:t>
            </a:r>
            <a:r>
              <a:rPr lang="en-US" altLang="zh-TW" dirty="0" err="1" smtClean="0"/>
              <a:t>c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, where </a:t>
            </a:r>
            <a:r>
              <a:rPr lang="en-US" altLang="zh-TW" dirty="0"/>
              <a:t>j = 1,.., n .</a:t>
            </a:r>
          </a:p>
          <a:p>
            <a:r>
              <a:rPr lang="en-US" altLang="zh-TW" dirty="0"/>
              <a:t>2. For each region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i</a:t>
            </a:r>
            <a:r>
              <a:rPr lang="en-US" altLang="zh-TW" dirty="0"/>
              <a:t> in the image </a:t>
            </a:r>
            <a:r>
              <a:rPr lang="en-US" altLang="zh-TW" dirty="0" smtClean="0"/>
              <a:t>database </a:t>
            </a:r>
            <a:endParaRPr lang="en-US" altLang="zh-TW" dirty="0"/>
          </a:p>
          <a:p>
            <a:pPr lvl="1"/>
            <a:r>
              <a:rPr lang="en-US" altLang="zh-TW" sz="2600" dirty="0" smtClean="0"/>
              <a:t>a</a:t>
            </a:r>
            <a:r>
              <a:rPr lang="en-US" altLang="zh-TW" sz="2600" dirty="0"/>
              <a:t>. Find the feature vector f</a:t>
            </a:r>
            <a:r>
              <a:rPr lang="en-US" altLang="zh-TW" sz="2600" baseline="-25000" dirty="0"/>
              <a:t>i</a:t>
            </a:r>
            <a:r>
              <a:rPr lang="en-US" altLang="zh-TW" sz="2600" dirty="0"/>
              <a:t>, for region </a:t>
            </a:r>
            <a:r>
              <a:rPr lang="en-US" altLang="zh-TW" sz="2600" dirty="0" err="1"/>
              <a:t>r</a:t>
            </a:r>
            <a:r>
              <a:rPr lang="en-US" altLang="zh-TW" sz="2600" baseline="-25000" dirty="0" err="1"/>
              <a:t>i</a:t>
            </a:r>
            <a:r>
              <a:rPr lang="en-US" altLang="zh-TW" sz="2600" dirty="0"/>
              <a:t> .</a:t>
            </a:r>
          </a:p>
          <a:p>
            <a:pPr lvl="1"/>
            <a:r>
              <a:rPr lang="en-US" altLang="zh-TW" sz="2600" dirty="0"/>
              <a:t>b. For each query region </a:t>
            </a:r>
            <a:r>
              <a:rPr lang="en-US" altLang="zh-TW" sz="2600" dirty="0" err="1" smtClean="0"/>
              <a:t>q</a:t>
            </a:r>
            <a:r>
              <a:rPr lang="en-US" altLang="zh-TW" sz="2600" baseline="-25000" dirty="0" err="1" smtClean="0"/>
              <a:t>j</a:t>
            </a:r>
            <a:r>
              <a:rPr lang="en-US" altLang="zh-TW" sz="2600" dirty="0"/>
              <a:t>, in the query set</a:t>
            </a:r>
          </a:p>
          <a:p>
            <a:pPr lvl="2"/>
            <a:r>
              <a:rPr lang="en-US" altLang="zh-TW" sz="2800" dirty="0" err="1"/>
              <a:t>i</a:t>
            </a:r>
            <a:r>
              <a:rPr lang="en-US" altLang="zh-TW" sz="2800" dirty="0"/>
              <a:t>. Find query feature vector </a:t>
            </a:r>
            <a:r>
              <a:rPr lang="en-US" altLang="zh-TW" sz="2800" dirty="0" err="1" smtClean="0"/>
              <a:t>f</a:t>
            </a:r>
            <a:r>
              <a:rPr lang="en-US" altLang="zh-TW" sz="2800" baseline="-25000" dirty="0" err="1" smtClean="0"/>
              <a:t>j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, for </a:t>
            </a:r>
            <a:r>
              <a:rPr lang="en-US" altLang="zh-TW" sz="2800" dirty="0" err="1" smtClean="0"/>
              <a:t>q</a:t>
            </a:r>
            <a:r>
              <a:rPr lang="en-US" altLang="zh-TW" sz="2800" baseline="-25000" dirty="0" err="1" smtClean="0"/>
              <a:t>j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.</a:t>
            </a:r>
          </a:p>
          <a:p>
            <a:pPr lvl="2"/>
            <a:r>
              <a:rPr lang="en-US" altLang="zh-TW" sz="2800" dirty="0"/>
              <a:t>ii. Find the Euclidean distance between fi </a:t>
            </a:r>
            <a:r>
              <a:rPr lang="en-US" altLang="zh-TW" sz="2800" dirty="0" smtClean="0"/>
              <a:t>and</a:t>
            </a:r>
          </a:p>
          <a:p>
            <a:pPr lvl="2"/>
            <a:endParaRPr lang="en-US" altLang="zh-TW" sz="2800" dirty="0"/>
          </a:p>
          <a:p>
            <a:pPr lvl="2"/>
            <a:endParaRPr lang="en-US" altLang="zh-TW" sz="2800" dirty="0" smtClean="0"/>
          </a:p>
          <a:p>
            <a:pPr lvl="2"/>
            <a:r>
              <a:rPr lang="en-US" altLang="zh-TW" sz="2800" dirty="0" smtClean="0"/>
              <a:t>iii</a:t>
            </a:r>
            <a:r>
              <a:rPr lang="en-US" altLang="zh-TW" sz="2800" dirty="0"/>
              <a:t>. Measure the similarity between fi </a:t>
            </a:r>
            <a:r>
              <a:rPr lang="en-US" altLang="zh-TW" sz="2800" dirty="0" smtClean="0"/>
              <a:t>and f </a:t>
            </a:r>
            <a:r>
              <a:rPr lang="en-US" altLang="zh-TW" sz="2800" dirty="0"/>
              <a:t>j using </a:t>
            </a:r>
            <a:r>
              <a:rPr lang="en-US" altLang="zh-TW" sz="2800" dirty="0" err="1"/>
              <a:t>m</a:t>
            </a:r>
            <a:r>
              <a:rPr lang="en-US" altLang="zh-TW" sz="2800" baseline="-25000" dirty="0" err="1"/>
              <a:t>ij</a:t>
            </a:r>
            <a:r>
              <a:rPr lang="en-US" altLang="zh-TW" sz="2800" dirty="0"/>
              <a:t> = </a:t>
            </a:r>
            <a:r>
              <a:rPr lang="en-US" altLang="zh-TW" sz="2800" dirty="0" err="1"/>
              <a:t>d</a:t>
            </a:r>
            <a:r>
              <a:rPr lang="en-US" altLang="zh-TW" sz="2800" baseline="-25000" dirty="0" err="1"/>
              <a:t>ij</a:t>
            </a:r>
            <a:r>
              <a:rPr lang="en-US" altLang="zh-TW" sz="2800" dirty="0"/>
              <a:t> -t , where t is </a:t>
            </a:r>
            <a:r>
              <a:rPr lang="en-US" altLang="zh-TW" sz="2800" dirty="0" smtClean="0"/>
              <a:t>the search </a:t>
            </a:r>
            <a:r>
              <a:rPr lang="en-US" altLang="zh-TW" sz="2800" dirty="0"/>
              <a:t>range limit set by user.</a:t>
            </a:r>
          </a:p>
          <a:p>
            <a:pPr lvl="2"/>
            <a:r>
              <a:rPr lang="en-US" altLang="zh-TW" sz="2800" dirty="0"/>
              <a:t>iv. If </a:t>
            </a:r>
            <a:r>
              <a:rPr lang="en-US" altLang="zh-TW" sz="2800" dirty="0" err="1"/>
              <a:t>m</a:t>
            </a:r>
            <a:r>
              <a:rPr lang="en-US" altLang="zh-TW" sz="2800" baseline="-25000" dirty="0" err="1"/>
              <a:t>ij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!= </a:t>
            </a:r>
            <a:r>
              <a:rPr lang="en-US" altLang="zh-TW" sz="2800" dirty="0"/>
              <a:t>0 , then f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 belongs to cluster </a:t>
            </a:r>
            <a:r>
              <a:rPr lang="en-US" altLang="zh-TW" sz="2800" dirty="0" err="1" smtClean="0"/>
              <a:t>c</a:t>
            </a:r>
            <a:r>
              <a:rPr lang="en-US" altLang="zh-TW" sz="2800" baseline="-25000" dirty="0" err="1" smtClean="0"/>
              <a:t>j</a:t>
            </a:r>
            <a:r>
              <a:rPr lang="en-US" altLang="zh-TW" sz="2800" dirty="0" smtClean="0"/>
              <a:t> and go </a:t>
            </a:r>
            <a:r>
              <a:rPr lang="en-US" altLang="zh-TW" sz="2800" dirty="0"/>
              <a:t>to step 2</a:t>
            </a:r>
            <a:r>
              <a:rPr lang="en-US" altLang="zh-TW" sz="2800" dirty="0" smtClean="0"/>
              <a:t>.</a:t>
            </a:r>
          </a:p>
          <a:p>
            <a:r>
              <a:rPr lang="en-US" altLang="zh-TW" sz="2800" dirty="0"/>
              <a:t>Index only representatives of </a:t>
            </a:r>
            <a:r>
              <a:rPr lang="en-US" altLang="zh-TW" sz="2800" dirty="0" err="1"/>
              <a:t>c</a:t>
            </a:r>
            <a:r>
              <a:rPr lang="en-US" altLang="zh-TW" sz="2800" baseline="-25000" dirty="0" err="1"/>
              <a:t>j</a:t>
            </a:r>
            <a:r>
              <a:rPr lang="en-US" altLang="zh-TW" sz="2800" dirty="0"/>
              <a:t>, using R-tree</a:t>
            </a:r>
            <a:r>
              <a:rPr lang="en-US" altLang="zh-TW" sz="2800" dirty="0" smtClean="0"/>
              <a:t>.</a:t>
            </a:r>
            <a:endParaRPr lang="zh-TW" alt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8"/>
          <a:stretch/>
        </p:blipFill>
        <p:spPr bwMode="auto">
          <a:xfrm>
            <a:off x="2489200" y="3717032"/>
            <a:ext cx="2083222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7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Database Design and Indexing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15" name="內容版面配置區 1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10187647"/>
              </p:ext>
            </p:extLst>
          </p:nvPr>
        </p:nvGraphicFramePr>
        <p:xfrm>
          <a:off x="2572710" y="4149080"/>
          <a:ext cx="3456384" cy="1863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流程圖: 磁碟 6"/>
          <p:cNvSpPr/>
          <p:nvPr/>
        </p:nvSpPr>
        <p:spPr>
          <a:xfrm>
            <a:off x="6484170" y="1803985"/>
            <a:ext cx="2187936" cy="1944216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剪去對角線角落矩形 13"/>
          <p:cNvSpPr/>
          <p:nvPr/>
        </p:nvSpPr>
        <p:spPr>
          <a:xfrm>
            <a:off x="1115616" y="1772816"/>
            <a:ext cx="1080120" cy="1440160"/>
          </a:xfrm>
          <a:prstGeom prst="snip2DiagRect">
            <a:avLst>
              <a:gd name="adj1" fmla="val 0"/>
              <a:gd name="adj2" fmla="val 1314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Query image</a:t>
            </a:r>
          </a:p>
          <a:p>
            <a:pPr algn="ctr"/>
            <a:endParaRPr lang="en-US" altLang="zh-TW" dirty="0"/>
          </a:p>
          <a:p>
            <a:pPr algn="ctr"/>
            <a:endParaRPr lang="en-US" altLang="zh-TW" dirty="0" smtClean="0"/>
          </a:p>
          <a:p>
            <a:pPr algn="ctr"/>
            <a:endParaRPr lang="zh-TW" altLang="en-US" dirty="0"/>
          </a:p>
        </p:txBody>
      </p:sp>
      <p:sp>
        <p:nvSpPr>
          <p:cNvPr id="16" name="向下箭號圖說文字 15"/>
          <p:cNvSpPr/>
          <p:nvPr/>
        </p:nvSpPr>
        <p:spPr>
          <a:xfrm>
            <a:off x="3563888" y="2132856"/>
            <a:ext cx="1512168" cy="1944216"/>
          </a:xfrm>
          <a:prstGeom prst="downArrowCallout">
            <a:avLst>
              <a:gd name="adj1" fmla="val 12682"/>
              <a:gd name="adj2" fmla="val 12682"/>
              <a:gd name="adj3" fmla="val 12122"/>
              <a:gd name="adj4" fmla="val 7499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磁碟 17"/>
          <p:cNvSpPr/>
          <p:nvPr/>
        </p:nvSpPr>
        <p:spPr>
          <a:xfrm>
            <a:off x="6667396" y="3100129"/>
            <a:ext cx="1821482" cy="576064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Images</a:t>
            </a:r>
            <a:endParaRPr lang="zh-TW" altLang="en-US" dirty="0"/>
          </a:p>
        </p:txBody>
      </p:sp>
      <p:sp>
        <p:nvSpPr>
          <p:cNvPr id="19" name="流程圖: 磁碟 18"/>
          <p:cNvSpPr/>
          <p:nvPr/>
        </p:nvSpPr>
        <p:spPr>
          <a:xfrm>
            <a:off x="6667396" y="2348880"/>
            <a:ext cx="1821482" cy="562076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Feature Vectors</a:t>
            </a:r>
            <a:endParaRPr lang="zh-TW" altLang="en-US" dirty="0"/>
          </a:p>
        </p:txBody>
      </p:sp>
      <p:sp>
        <p:nvSpPr>
          <p:cNvPr id="20" name="上-下雙向箭號 19"/>
          <p:cNvSpPr/>
          <p:nvPr/>
        </p:nvSpPr>
        <p:spPr>
          <a:xfrm>
            <a:off x="7434121" y="2852936"/>
            <a:ext cx="288032" cy="360040"/>
          </a:xfrm>
          <a:prstGeom prst="upDownArrow">
            <a:avLst>
              <a:gd name="adj1" fmla="val 38242"/>
              <a:gd name="adj2" fmla="val 3236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547664" y="2456892"/>
            <a:ext cx="648072" cy="4970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q</a:t>
            </a:r>
            <a:r>
              <a:rPr lang="en-US" altLang="zh-TW" baseline="-25000" dirty="0" err="1"/>
              <a:t>j</a:t>
            </a:r>
            <a:endParaRPr lang="zh-TW" altLang="en-US" dirty="0"/>
          </a:p>
        </p:txBody>
      </p:sp>
      <p:sp>
        <p:nvSpPr>
          <p:cNvPr id="30" name="向左箭號 29"/>
          <p:cNvSpPr/>
          <p:nvPr/>
        </p:nvSpPr>
        <p:spPr>
          <a:xfrm>
            <a:off x="5076056" y="2516566"/>
            <a:ext cx="1591340" cy="226704"/>
          </a:xfrm>
          <a:prstGeom prst="leftArrow">
            <a:avLst>
              <a:gd name="adj1" fmla="val 43131"/>
              <a:gd name="adj2" fmla="val 5244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3703795" y="2221705"/>
            <a:ext cx="1224136" cy="247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r</a:t>
            </a:r>
            <a:r>
              <a:rPr lang="en-US" altLang="zh-TW" baseline="-25000" dirty="0" err="1"/>
              <a:t>i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703795" y="2581746"/>
            <a:ext cx="1224136" cy="247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7"/>
          <a:stretch/>
        </p:blipFill>
        <p:spPr bwMode="auto">
          <a:xfrm>
            <a:off x="3083544" y="1173606"/>
            <a:ext cx="1920504" cy="81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向左箭號 35"/>
          <p:cNvSpPr/>
          <p:nvPr/>
        </p:nvSpPr>
        <p:spPr>
          <a:xfrm>
            <a:off x="2461565" y="5096362"/>
            <a:ext cx="375951" cy="226704"/>
          </a:xfrm>
          <a:prstGeom prst="leftArrow">
            <a:avLst>
              <a:gd name="adj1" fmla="val 43131"/>
              <a:gd name="adj2" fmla="val 5244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剪去對角線角落矩形 36"/>
          <p:cNvSpPr/>
          <p:nvPr/>
        </p:nvSpPr>
        <p:spPr>
          <a:xfrm>
            <a:off x="1115616" y="4489634"/>
            <a:ext cx="1094822" cy="1440160"/>
          </a:xfrm>
          <a:prstGeom prst="snip2DiagRect">
            <a:avLst>
              <a:gd name="adj1" fmla="val 0"/>
              <a:gd name="adj2" fmla="val 1314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Similar</a:t>
            </a:r>
          </a:p>
          <a:p>
            <a:pPr algn="ctr"/>
            <a:r>
              <a:rPr lang="en-US" altLang="zh-TW" dirty="0" smtClean="0"/>
              <a:t>Images</a:t>
            </a:r>
            <a:endParaRPr lang="en-US" altLang="zh-TW" dirty="0"/>
          </a:p>
          <a:p>
            <a:pPr algn="ctr"/>
            <a:endParaRPr lang="en-US" altLang="zh-TW" dirty="0" smtClean="0"/>
          </a:p>
          <a:p>
            <a:pPr algn="ctr"/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707904" y="2924944"/>
            <a:ext cx="1224136" cy="247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左-右雙向箭號 38"/>
          <p:cNvSpPr/>
          <p:nvPr/>
        </p:nvSpPr>
        <p:spPr>
          <a:xfrm>
            <a:off x="2195736" y="1916833"/>
            <a:ext cx="4471660" cy="288031"/>
          </a:xfrm>
          <a:prstGeom prst="leftRightArrow">
            <a:avLst>
              <a:gd name="adj1" fmla="val 32363"/>
              <a:gd name="adj2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剪去對角線角落矩形 39"/>
          <p:cNvSpPr/>
          <p:nvPr/>
        </p:nvSpPr>
        <p:spPr>
          <a:xfrm>
            <a:off x="1056916" y="4376282"/>
            <a:ext cx="1094822" cy="1440160"/>
          </a:xfrm>
          <a:prstGeom prst="snip2DiagRect">
            <a:avLst>
              <a:gd name="adj1" fmla="val 0"/>
              <a:gd name="adj2" fmla="val 1314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Similar</a:t>
            </a:r>
          </a:p>
          <a:p>
            <a:pPr algn="ctr"/>
            <a:r>
              <a:rPr lang="en-US" altLang="zh-TW" dirty="0" smtClean="0"/>
              <a:t>Images</a:t>
            </a:r>
            <a:endParaRPr lang="en-US" altLang="zh-TW" dirty="0"/>
          </a:p>
          <a:p>
            <a:pPr algn="ctr"/>
            <a:endParaRPr lang="en-US" altLang="zh-TW" dirty="0" smtClean="0"/>
          </a:p>
          <a:p>
            <a:pPr algn="ctr"/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2326374" y="47447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Rank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638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R-Tree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R-tree </a:t>
            </a:r>
            <a:r>
              <a:rPr lang="en-US" altLang="zh-TW" sz="2800" dirty="0"/>
              <a:t>is a depth-balanced tree</a:t>
            </a:r>
          </a:p>
          <a:p>
            <a:r>
              <a:rPr lang="en-US" altLang="zh-TW" sz="2800" dirty="0" smtClean="0">
                <a:sym typeface="Wingdings" pitchFamily="2" charset="2"/>
              </a:rPr>
              <a:t>Rectangular </a:t>
            </a:r>
            <a:r>
              <a:rPr lang="en-US" altLang="zh-TW" sz="2800" dirty="0">
                <a:sym typeface="Wingdings" pitchFamily="2" charset="2"/>
              </a:rPr>
              <a:t>region is information</a:t>
            </a:r>
          </a:p>
          <a:p>
            <a:r>
              <a:rPr lang="en-US" altLang="zh-TW" sz="2800" dirty="0" smtClean="0"/>
              <a:t>Given </a:t>
            </a:r>
            <a:r>
              <a:rPr lang="en-US" altLang="zh-TW" sz="2800" dirty="0"/>
              <a:t>a fixed </a:t>
            </a:r>
            <a:r>
              <a:rPr lang="en-US" altLang="zh-TW" sz="2800" dirty="0" smtClean="0"/>
              <a:t>k</a:t>
            </a:r>
            <a:endParaRPr lang="en-US" altLang="zh-TW" sz="2800" dirty="0"/>
          </a:p>
          <a:p>
            <a:pPr lvl="1"/>
            <a:r>
              <a:rPr lang="en-US" altLang="zh-TW" sz="2800" dirty="0" smtClean="0"/>
              <a:t>Branch</a:t>
            </a:r>
            <a:r>
              <a:rPr lang="en-US" altLang="zh-TW" sz="2800" dirty="0"/>
              <a:t>:</a:t>
            </a:r>
          </a:p>
          <a:p>
            <a:pPr lvl="1"/>
            <a:r>
              <a:rPr lang="en-US" altLang="zh-TW" sz="2800" dirty="0" smtClean="0">
                <a:sym typeface="Wingdings" pitchFamily="2" charset="2"/>
              </a:rPr>
              <a:t>Half </a:t>
            </a:r>
            <a:r>
              <a:rPr lang="en-US" altLang="zh-TW" sz="2800" dirty="0">
                <a:sym typeface="Wingdings" pitchFamily="2" charset="2"/>
              </a:rPr>
              <a:t>full</a:t>
            </a:r>
          </a:p>
          <a:p>
            <a:pPr lvl="1"/>
            <a:r>
              <a:rPr lang="en-US" altLang="zh-TW" sz="2100" dirty="0"/>
              <a:t>e.g. k = 5 </a:t>
            </a:r>
          </a:p>
          <a:p>
            <a:pPr lvl="2"/>
            <a:r>
              <a:rPr lang="en-US" altLang="zh-TW" sz="2100" dirty="0">
                <a:sym typeface="Wingdings" pitchFamily="2" charset="2"/>
              </a:rPr>
              <a:t>3 ~ 5</a:t>
            </a:r>
          </a:p>
          <a:p>
            <a:pPr lvl="1"/>
            <a:r>
              <a:rPr lang="en-US" altLang="zh-TW" sz="2100" dirty="0">
                <a:sym typeface="Wingdings" pitchFamily="2" charset="2"/>
              </a:rPr>
              <a:t>e.g. k = 4</a:t>
            </a:r>
          </a:p>
          <a:p>
            <a:pPr lvl="2"/>
            <a:r>
              <a:rPr lang="en-US" altLang="zh-TW" sz="2100" dirty="0">
                <a:sym typeface="Wingdings" pitchFamily="2" charset="2"/>
              </a:rPr>
              <a:t>2 ~ 4</a:t>
            </a:r>
          </a:p>
          <a:p>
            <a:endParaRPr lang="zh-TW" altLang="en-US" dirty="0"/>
          </a:p>
        </p:txBody>
      </p:sp>
      <p:pic>
        <p:nvPicPr>
          <p:cNvPr id="2050" name="Picture 2" descr="R-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192419"/>
            <a:ext cx="5263315" cy="314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637907"/>
              </p:ext>
            </p:extLst>
          </p:nvPr>
        </p:nvGraphicFramePr>
        <p:xfrm>
          <a:off x="2843808" y="2636912"/>
          <a:ext cx="869658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方程式" r:id="rId4" imgW="504878" imgH="419040" progId="Equation.3">
                  <p:embed/>
                </p:oleObj>
              </mc:Choice>
              <mc:Fallback>
                <p:oleObj name="方程式" r:id="rId4" imgW="504878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636912"/>
                        <a:ext cx="869658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092280" y="537321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groups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8028383" y="5965167"/>
            <a:ext cx="1086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</a:t>
            </a:r>
            <a:r>
              <a:rPr lang="zh-TW" altLang="en-US" dirty="0" smtClean="0"/>
              <a:t> </a:t>
            </a:r>
            <a:r>
              <a:rPr lang="en-US" altLang="zh-TW" dirty="0" smtClean="0"/>
              <a:t>regions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442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4139952" cy="3104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512" y="1052736"/>
            <a:ext cx="4140968" cy="310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036" y="3753035"/>
            <a:ext cx="4139953" cy="310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807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440" y="1052736"/>
            <a:ext cx="5022605" cy="190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093" y="2924944"/>
            <a:ext cx="5022602" cy="2004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61" y="4869160"/>
            <a:ext cx="5022605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273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:Precision-rec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996952"/>
            <a:ext cx="6521946" cy="334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57200" y="3573016"/>
            <a:ext cx="8229600" cy="2583944"/>
          </a:xfrm>
        </p:spPr>
        <p:txBody>
          <a:bodyPr/>
          <a:lstStyle/>
          <a:p>
            <a:pPr lvl="1"/>
            <a:r>
              <a:rPr lang="en-US" altLang="zh-TW" dirty="0"/>
              <a:t>Precision = R / N</a:t>
            </a:r>
            <a:endParaRPr lang="zh-TW" altLang="en-US" dirty="0"/>
          </a:p>
          <a:p>
            <a:pPr lvl="1"/>
            <a:r>
              <a:rPr lang="en-US" altLang="zh-TW" dirty="0" smtClean="0"/>
              <a:t>Recall</a:t>
            </a:r>
            <a:r>
              <a:rPr lang="en-US" altLang="zh-TW" dirty="0"/>
              <a:t> = R / </a:t>
            </a:r>
            <a:r>
              <a:rPr lang="en-US" altLang="zh-TW" dirty="0" smtClean="0"/>
              <a:t>M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3" y="1196752"/>
            <a:ext cx="9028056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390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Conclusions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2012/12/12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 </a:t>
            </a:r>
            <a:r>
              <a:rPr lang="en-US" altLang="zh-TW" dirty="0"/>
              <a:t>The mean </a:t>
            </a:r>
            <a:r>
              <a:rPr lang="en-US" altLang="zh-TW" dirty="0" smtClean="0"/>
              <a:t>shift algorithm </a:t>
            </a:r>
            <a:r>
              <a:rPr lang="en-US" altLang="zh-TW" dirty="0"/>
              <a:t>is used for segmentation to obtain regions </a:t>
            </a:r>
            <a:r>
              <a:rPr lang="en-US" altLang="zh-TW" dirty="0" smtClean="0"/>
              <a:t>of interest </a:t>
            </a:r>
            <a:r>
              <a:rPr lang="en-US" altLang="zh-TW" dirty="0"/>
              <a:t>to improve the effectiveness of the retrieval system.</a:t>
            </a:r>
            <a:endParaRPr lang="en-US" altLang="zh-TW" dirty="0" smtClean="0"/>
          </a:p>
          <a:p>
            <a:r>
              <a:rPr lang="en-US" altLang="zh-TW" dirty="0" smtClean="0"/>
              <a:t>Experimental </a:t>
            </a:r>
            <a:r>
              <a:rPr lang="en-US" altLang="zh-TW" dirty="0"/>
              <a:t>results depict </a:t>
            </a:r>
            <a:r>
              <a:rPr lang="en-US" altLang="zh-TW" dirty="0" smtClean="0"/>
              <a:t>the proposed </a:t>
            </a:r>
            <a:r>
              <a:rPr lang="en-US" altLang="zh-TW" dirty="0"/>
              <a:t>method gives better performance over the R</a:t>
            </a:r>
            <a:r>
              <a:rPr lang="en-US" altLang="zh-TW" dirty="0" smtClean="0"/>
              <a:t>*-</a:t>
            </a:r>
            <a:r>
              <a:rPr lang="en-US" altLang="zh-TW" dirty="0" smtClean="0"/>
              <a:t>Tree.</a:t>
            </a:r>
          </a:p>
          <a:p>
            <a:r>
              <a:rPr lang="en-US" altLang="zh-TW" dirty="0" smtClean="0"/>
              <a:t>Accuracy </a:t>
            </a:r>
            <a:r>
              <a:rPr lang="en-US" altLang="zh-TW" dirty="0"/>
              <a:t>of retrieval is </a:t>
            </a:r>
            <a:r>
              <a:rPr lang="en-US" altLang="zh-TW" dirty="0" smtClean="0"/>
              <a:t>shown </a:t>
            </a:r>
            <a:r>
              <a:rPr lang="en-US" altLang="zh-TW" dirty="0"/>
              <a:t>to be high.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952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3050</TotalTime>
  <Words>809</Words>
  <Application>Microsoft Office PowerPoint</Application>
  <PresentationFormat>如螢幕大小 (4:3)</PresentationFormat>
  <Paragraphs>194</Paragraphs>
  <Slides>23</Slides>
  <Notes>8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5" baseType="lpstr">
      <vt:lpstr>原創</vt:lpstr>
      <vt:lpstr>Microsoft 方程式編輯器 3.0</vt:lpstr>
      <vt:lpstr>Image Retrieval from Databases: an Approach using Region Color and Indexing Technique IJCSNS International Journal of Computer Science and Network Security Vol.8, No.1, 2008</vt:lpstr>
      <vt:lpstr>PowerPoint 簡報</vt:lpstr>
      <vt:lpstr>PowerPoint 簡報</vt:lpstr>
      <vt:lpstr>Introduction</vt:lpstr>
      <vt:lpstr>Architecture</vt:lpstr>
      <vt:lpstr>Feature Extraction</vt:lpstr>
      <vt:lpstr>Mean Shift Clustering</vt:lpstr>
      <vt:lpstr>Mean Shift Clustering</vt:lpstr>
      <vt:lpstr>Mean Shift Clustering</vt:lpstr>
      <vt:lpstr>Mean Shift Clustering</vt:lpstr>
      <vt:lpstr>Mean Shift Clustering</vt:lpstr>
      <vt:lpstr>Mean Shift Clustering</vt:lpstr>
      <vt:lpstr>Mean Shift Clustering</vt:lpstr>
      <vt:lpstr>Mean Shift Clustering</vt:lpstr>
      <vt:lpstr>Mean Shift Segmentation</vt:lpstr>
      <vt:lpstr>Database Design and Indexing</vt:lpstr>
      <vt:lpstr>Database Design and Indexing</vt:lpstr>
      <vt:lpstr>Database Design and Indexing</vt:lpstr>
      <vt:lpstr>R-Tree</vt:lpstr>
      <vt:lpstr>Experimental Results</vt:lpstr>
      <vt:lpstr>Experimental Results</vt:lpstr>
      <vt:lpstr>Experimental Results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Chuan</cp:lastModifiedBy>
  <cp:revision>163</cp:revision>
  <cp:lastPrinted>2012-09-10T21:31:19Z</cp:lastPrinted>
  <dcterms:created xsi:type="dcterms:W3CDTF">2012-09-10T08:29:10Z</dcterms:created>
  <dcterms:modified xsi:type="dcterms:W3CDTF">2013-01-08T10:24:34Z</dcterms:modified>
</cp:coreProperties>
</file>