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6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39B500-2FB0-4B3F-AB3A-8DA7C634A8CE}" type="datetimeFigureOut">
              <a:rPr lang="zh-TW" altLang="en-US" smtClean="0"/>
              <a:t>2013/1/8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D0A53C-F6D6-4851-8930-52D666E70B3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741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F1FE7-8869-4202-8001-DAD1E6C7D64F}" type="datetime1">
              <a:rPr lang="zh-TW" altLang="en-US" smtClean="0"/>
              <a:t>2013/1/8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529E4-C229-4A9D-8C24-577AA8B6C753}" type="datetime1">
              <a:rPr lang="zh-TW" altLang="en-US" smtClean="0"/>
              <a:t>2013/1/8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8CB89-B2F7-44B6-B362-672F7D4FA91A}" type="datetime1">
              <a:rPr lang="zh-TW" altLang="en-US" smtClean="0"/>
              <a:t>2013/1/8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9663C-4F3D-449F-8F36-AA620109DFD1}" type="datetime1">
              <a:rPr lang="zh-TW" altLang="en-US" smtClean="0"/>
              <a:t>2013/1/8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CA8CC-8C21-49B1-A6EC-919930D69209}" type="datetime1">
              <a:rPr lang="zh-TW" altLang="en-US" smtClean="0"/>
              <a:t>2013/1/8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E752F-A383-460F-ABEA-B4E96011BC42}" type="datetime1">
              <a:rPr lang="zh-TW" altLang="en-US" smtClean="0"/>
              <a:t>2013/1/8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7306B-B8E5-4A7D-8A5D-E20D759A4F7D}" type="datetime1">
              <a:rPr lang="zh-TW" altLang="en-US" smtClean="0"/>
              <a:t>2013/1/8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2011B-E023-49FA-BD8B-3E2985757D9A}" type="datetime1">
              <a:rPr lang="zh-TW" altLang="en-US" smtClean="0"/>
              <a:t>2013/1/8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9FCEC-9613-4314-B962-BC887CA47E17}" type="datetime1">
              <a:rPr lang="zh-TW" altLang="en-US" smtClean="0"/>
              <a:t>2013/1/8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0F68E-8985-47FA-AA36-E28784FF6442}" type="datetime1">
              <a:rPr lang="zh-TW" altLang="en-US" smtClean="0"/>
              <a:t>2013/1/8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0B5F9-26FD-4CD0-ABA8-D5481FA2C9EA}" type="datetime1">
              <a:rPr lang="zh-TW" altLang="en-US" smtClean="0"/>
              <a:t>2013/1/8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2A429-FA00-4680-B5EB-E4DABC12AD0D}" type="datetime1">
              <a:rPr lang="zh-TW" altLang="en-US" smtClean="0"/>
              <a:t>2013/1/8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3568" y="1700808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The Floyd-</a:t>
            </a:r>
            <a:r>
              <a:rPr lang="en-US" altLang="zh-TW" dirty="0" err="1" smtClean="0"/>
              <a:t>Warshall</a:t>
            </a:r>
            <a:r>
              <a:rPr lang="en-US" altLang="zh-TW" dirty="0" smtClean="0"/>
              <a:t> Algorithm on Graphs with Negative Cycles 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403648" y="3501008"/>
            <a:ext cx="6400800" cy="1752600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sz="1800" dirty="0"/>
              <a:t>Information Processing Letters 110 (2010) </a:t>
            </a:r>
            <a:r>
              <a:rPr lang="en-US" altLang="zh-TW" sz="1800" dirty="0" smtClean="0"/>
              <a:t>279–281</a:t>
            </a:r>
          </a:p>
          <a:p>
            <a:r>
              <a:rPr lang="en-US" altLang="zh-TW" sz="1800" dirty="0"/>
              <a:t>Stefan </a:t>
            </a:r>
            <a:r>
              <a:rPr lang="en-US" altLang="zh-TW" sz="1800" dirty="0" err="1"/>
              <a:t>Hougardy</a:t>
            </a:r>
            <a:endParaRPr lang="en-US" altLang="zh-TW" sz="1800" dirty="0" smtClean="0"/>
          </a:p>
          <a:p>
            <a:r>
              <a:rPr lang="en-US" altLang="zh-TW" sz="1800" i="1" dirty="0"/>
              <a:t>Research Institute for Discrete Mathematics, University of Bonn, </a:t>
            </a:r>
            <a:r>
              <a:rPr lang="en-US" altLang="zh-TW" sz="1800" i="1" dirty="0" err="1"/>
              <a:t>Lennestr</a:t>
            </a:r>
            <a:r>
              <a:rPr lang="en-US" altLang="zh-TW" sz="1800" i="1" dirty="0"/>
              <a:t>. 2, 53113 Bonn, Germany</a:t>
            </a:r>
            <a:endParaRPr lang="fr-FR" altLang="zh-TW" sz="1800" dirty="0" smtClean="0">
              <a:solidFill>
                <a:schemeClr val="tx1"/>
              </a:solidFill>
            </a:endParaRPr>
          </a:p>
          <a:p>
            <a:r>
              <a:rPr lang="fr-FR" altLang="zh-TW" sz="1800" dirty="0" smtClean="0">
                <a:solidFill>
                  <a:schemeClr val="tx1"/>
                </a:solidFill>
              </a:rPr>
              <a:t>Presenter</a:t>
            </a:r>
            <a:r>
              <a:rPr lang="fr-FR" altLang="zh-TW" sz="1800" dirty="0">
                <a:solidFill>
                  <a:schemeClr val="tx1"/>
                </a:solidFill>
              </a:rPr>
              <a:t>: </a:t>
            </a:r>
            <a:r>
              <a:rPr lang="zh-TW" altLang="en-US" sz="1800" dirty="0">
                <a:solidFill>
                  <a:schemeClr val="tx1"/>
                </a:solidFill>
              </a:rPr>
              <a:t>許竣傑</a:t>
            </a:r>
            <a:endParaRPr lang="en-US" altLang="zh-TW" sz="1800" dirty="0">
              <a:solidFill>
                <a:schemeClr val="tx1"/>
              </a:solidFill>
            </a:endParaRPr>
          </a:p>
          <a:p>
            <a:r>
              <a:rPr lang="fr-FR" altLang="zh-TW" sz="1800" dirty="0" smtClean="0">
                <a:solidFill>
                  <a:schemeClr val="tx1"/>
                </a:solidFill>
              </a:rPr>
              <a:t>2013/1/8</a:t>
            </a:r>
            <a:endParaRPr lang="zh-TW" altLang="en-US" sz="1800" dirty="0">
              <a:solidFill>
                <a:schemeClr val="tx1"/>
              </a:solidFill>
            </a:endParaRPr>
          </a:p>
          <a:p>
            <a:endParaRPr lang="it-IT" altLang="zh-TW" sz="1800" dirty="0" smtClean="0"/>
          </a:p>
          <a:p>
            <a:endParaRPr lang="it-IT" altLang="zh-TW" sz="1800" dirty="0"/>
          </a:p>
          <a:p>
            <a:endParaRPr lang="zh-TW" altLang="en-US" sz="18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5261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TW" dirty="0" smtClean="0"/>
              <a:t>   The </a:t>
            </a:r>
            <a:r>
              <a:rPr lang="en-US" altLang="zh-TW" dirty="0"/>
              <a:t>Floyd–</a:t>
            </a:r>
            <a:r>
              <a:rPr lang="en-US" altLang="zh-TW" dirty="0" err="1"/>
              <a:t>Warshall</a:t>
            </a:r>
            <a:r>
              <a:rPr lang="en-US" altLang="zh-TW" dirty="0"/>
              <a:t> algorithm is a simple </a:t>
            </a:r>
            <a:r>
              <a:rPr lang="en-US" altLang="zh-TW" dirty="0" smtClean="0"/>
              <a:t>and widely </a:t>
            </a:r>
            <a:r>
              <a:rPr lang="en-US" altLang="zh-TW" dirty="0"/>
              <a:t>used algorithm to compute </a:t>
            </a:r>
            <a:r>
              <a:rPr lang="en-US" altLang="zh-TW" dirty="0" smtClean="0"/>
              <a:t>shortest paths </a:t>
            </a:r>
            <a:r>
              <a:rPr lang="en-US" altLang="zh-TW" dirty="0"/>
              <a:t>between all pairs of vertices in an edge weighted directed graph. It can also </a:t>
            </a:r>
            <a:r>
              <a:rPr lang="en-US" altLang="zh-TW" dirty="0" smtClean="0"/>
              <a:t>be used </a:t>
            </a:r>
            <a:r>
              <a:rPr lang="en-US" altLang="zh-TW" dirty="0"/>
              <a:t>to detect the presence of negative cycles. 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   We </a:t>
            </a:r>
            <a:r>
              <a:rPr lang="en-US" altLang="zh-TW" dirty="0"/>
              <a:t>will show that for this task </a:t>
            </a:r>
            <a:r>
              <a:rPr lang="en-US" altLang="zh-TW" dirty="0" smtClean="0"/>
              <a:t>many existing implementations </a:t>
            </a:r>
            <a:r>
              <a:rPr lang="en-US" altLang="zh-TW" dirty="0"/>
              <a:t>of the </a:t>
            </a:r>
            <a:r>
              <a:rPr lang="en-US" altLang="zh-TW" dirty="0" smtClean="0"/>
              <a:t>Floyd–</a:t>
            </a:r>
            <a:r>
              <a:rPr lang="en-US" altLang="zh-TW" dirty="0" err="1" smtClean="0"/>
              <a:t>Warshall</a:t>
            </a:r>
            <a:r>
              <a:rPr lang="en-US" altLang="zh-TW" dirty="0"/>
              <a:t> </a:t>
            </a:r>
            <a:r>
              <a:rPr lang="en-US" altLang="zh-TW" dirty="0" smtClean="0"/>
              <a:t>algorithm </a:t>
            </a:r>
            <a:r>
              <a:rPr lang="en-US" altLang="zh-TW" dirty="0"/>
              <a:t>will fail because </a:t>
            </a:r>
            <a:r>
              <a:rPr lang="en-US" altLang="zh-TW" dirty="0" smtClean="0"/>
              <a:t>exponentially large </a:t>
            </a:r>
            <a:r>
              <a:rPr lang="en-US" altLang="zh-TW" dirty="0"/>
              <a:t>numbers can appear during its execution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4365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Floyd–</a:t>
            </a:r>
            <a:r>
              <a:rPr lang="en-US" altLang="zh-TW" dirty="0" err="1"/>
              <a:t>Warshall</a:t>
            </a:r>
            <a:r>
              <a:rPr lang="en-US" altLang="zh-TW" dirty="0"/>
              <a:t> </a:t>
            </a:r>
            <a:r>
              <a:rPr lang="en-US" altLang="zh-TW" dirty="0" smtClean="0"/>
              <a:t>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988840"/>
            <a:ext cx="7888687" cy="3456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0663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Floyd–</a:t>
            </a:r>
            <a:r>
              <a:rPr lang="en-US" altLang="zh-TW" dirty="0" err="1"/>
              <a:t>Warshall</a:t>
            </a:r>
            <a:r>
              <a:rPr lang="en-US" altLang="zh-TW" dirty="0"/>
              <a:t> </a:t>
            </a:r>
            <a:r>
              <a:rPr lang="en-US" altLang="zh-TW" dirty="0" smtClean="0"/>
              <a:t>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Negative cycle: </a:t>
            </a:r>
          </a:p>
          <a:p>
            <a:pPr marL="0" indent="0">
              <a:buNone/>
            </a:pPr>
            <a:r>
              <a:rPr lang="en-US" altLang="zh-TW" dirty="0"/>
              <a:t> </a:t>
            </a:r>
            <a:r>
              <a:rPr lang="en-US" altLang="zh-TW" dirty="0" smtClean="0"/>
              <a:t>     </a:t>
            </a:r>
            <a:r>
              <a:rPr lang="en-US" altLang="zh-TW" sz="2400" dirty="0" smtClean="0"/>
              <a:t>In </a:t>
            </a:r>
            <a:r>
              <a:rPr lang="en-US" altLang="zh-TW" sz="2400" dirty="0"/>
              <a:t>a weighed graph, a negative cycle is a </a:t>
            </a:r>
            <a:r>
              <a:rPr lang="en-US" altLang="zh-TW" sz="2400" dirty="0" smtClean="0"/>
              <a:t>cycle whose </a:t>
            </a:r>
            <a:r>
              <a:rPr lang="en-US" altLang="zh-TW" sz="2400" dirty="0"/>
              <a:t>sum </a:t>
            </a:r>
            <a:r>
              <a:rPr lang="en-US" altLang="zh-TW" sz="2400" dirty="0" smtClean="0"/>
              <a:t>of</a:t>
            </a:r>
          </a:p>
          <a:p>
            <a:pPr marL="0" indent="0">
              <a:buNone/>
            </a:pPr>
            <a:r>
              <a:rPr lang="en-US" altLang="zh-TW" sz="2400" dirty="0"/>
              <a:t> </a:t>
            </a:r>
            <a:r>
              <a:rPr lang="en-US" altLang="zh-TW" sz="2400" dirty="0" smtClean="0"/>
              <a:t>       edge </a:t>
            </a:r>
            <a:r>
              <a:rPr lang="en-US" altLang="zh-TW" sz="2400" dirty="0"/>
              <a:t>weights is negative</a:t>
            </a:r>
            <a:endParaRPr lang="zh-TW" altLang="en-US" sz="2400" dirty="0"/>
          </a:p>
        </p:txBody>
      </p:sp>
      <p:sp>
        <p:nvSpPr>
          <p:cNvPr id="4" name="橢圓 3"/>
          <p:cNvSpPr/>
          <p:nvPr/>
        </p:nvSpPr>
        <p:spPr>
          <a:xfrm>
            <a:off x="2555776" y="3742184"/>
            <a:ext cx="914400" cy="9144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/>
          <p:cNvSpPr/>
          <p:nvPr/>
        </p:nvSpPr>
        <p:spPr>
          <a:xfrm>
            <a:off x="3635896" y="4956990"/>
            <a:ext cx="914400" cy="9144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>
            <a:off x="1475656" y="4983115"/>
            <a:ext cx="914400" cy="9144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2810036" y="4014718"/>
            <a:ext cx="4058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v1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680828" y="5229524"/>
            <a:ext cx="442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v2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3890156" y="5255649"/>
            <a:ext cx="4058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v3</a:t>
            </a:r>
            <a:endParaRPr lang="zh-TW" altLang="en-US" dirty="0"/>
          </a:p>
        </p:txBody>
      </p:sp>
      <p:sp>
        <p:nvSpPr>
          <p:cNvPr id="11" name="弧形箭號 (下彎) 10"/>
          <p:cNvSpPr/>
          <p:nvPr/>
        </p:nvSpPr>
        <p:spPr>
          <a:xfrm>
            <a:off x="2686611" y="3501008"/>
            <a:ext cx="652730" cy="330762"/>
          </a:xfrm>
          <a:prstGeom prst="curvedDown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cxnSp>
        <p:nvCxnSpPr>
          <p:cNvPr id="17" name="直線單箭頭接點 16"/>
          <p:cNvCxnSpPr>
            <a:stCxn id="4" idx="3"/>
            <a:endCxn id="6" idx="7"/>
          </p:cNvCxnSpPr>
          <p:nvPr/>
        </p:nvCxnSpPr>
        <p:spPr>
          <a:xfrm flipH="1">
            <a:off x="2256145" y="4522673"/>
            <a:ext cx="433542" cy="5943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V="1">
            <a:off x="2390056" y="5598856"/>
            <a:ext cx="1245840" cy="261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endCxn id="5" idx="1"/>
          </p:cNvCxnSpPr>
          <p:nvPr/>
        </p:nvCxnSpPr>
        <p:spPr>
          <a:xfrm>
            <a:off x="3285859" y="4540817"/>
            <a:ext cx="483948" cy="5500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3155615" y="3244334"/>
            <a:ext cx="3722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-1</a:t>
            </a:r>
            <a:endParaRPr lang="zh-TW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2100698" y="4471918"/>
            <a:ext cx="3722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-1</a:t>
            </a:r>
            <a:endParaRPr lang="zh-TW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3517938" y="4446527"/>
            <a:ext cx="3722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-1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2783397" y="5624982"/>
            <a:ext cx="3722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-1</a:t>
            </a:r>
            <a:endParaRPr lang="zh-TW" altLang="en-US" dirty="0"/>
          </a:p>
        </p:txBody>
      </p:sp>
      <p:sp>
        <p:nvSpPr>
          <p:cNvPr id="33" name="投影片編號版面配置區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187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Floyd–</a:t>
            </a:r>
            <a:r>
              <a:rPr lang="en-US" altLang="zh-TW" dirty="0" err="1"/>
              <a:t>Warshall</a:t>
            </a:r>
            <a:r>
              <a:rPr lang="en-US" altLang="zh-TW" dirty="0"/>
              <a:t> Algorithm</a:t>
            </a:r>
            <a:endParaRPr lang="zh-TW" altLang="en-US" dirty="0"/>
          </a:p>
        </p:txBody>
      </p:sp>
      <p:graphicFrame>
        <p:nvGraphicFramePr>
          <p:cNvPr id="33" name="內容版面配置區 3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1251807"/>
              </p:ext>
            </p:extLst>
          </p:nvPr>
        </p:nvGraphicFramePr>
        <p:xfrm>
          <a:off x="2555776" y="2197257"/>
          <a:ext cx="2448272" cy="180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68"/>
                <a:gridCol w="612068"/>
                <a:gridCol w="612068"/>
                <a:gridCol w="612068"/>
              </a:tblGrid>
              <a:tr h="452120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S0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v1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v2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v3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TW" altLang="en-US" b="0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v3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橢圓 3"/>
          <p:cNvSpPr/>
          <p:nvPr/>
        </p:nvSpPr>
        <p:spPr>
          <a:xfrm>
            <a:off x="1575522" y="2501089"/>
            <a:ext cx="432048" cy="435492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橢圓 4"/>
          <p:cNvSpPr/>
          <p:nvPr/>
        </p:nvSpPr>
        <p:spPr>
          <a:xfrm>
            <a:off x="467545" y="2563637"/>
            <a:ext cx="454968" cy="433315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>
            <a:off x="1043608" y="1698183"/>
            <a:ext cx="432048" cy="363123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1056692" y="1691974"/>
            <a:ext cx="4058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v1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516633" y="2603347"/>
            <a:ext cx="4058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v2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1577598" y="2492896"/>
            <a:ext cx="4058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v3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680814" y="1983855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1</a:t>
            </a:r>
            <a:endParaRPr lang="zh-TW" altLang="en-US" dirty="0"/>
          </a:p>
        </p:txBody>
      </p:sp>
      <p:cxnSp>
        <p:nvCxnSpPr>
          <p:cNvPr id="22" name="直線單箭頭接點 21"/>
          <p:cNvCxnSpPr>
            <a:stCxn id="6" idx="3"/>
            <a:endCxn id="5" idx="7"/>
          </p:cNvCxnSpPr>
          <p:nvPr/>
        </p:nvCxnSpPr>
        <p:spPr>
          <a:xfrm flipH="1">
            <a:off x="855884" y="2008128"/>
            <a:ext cx="250996" cy="61896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單箭頭接點 24"/>
          <p:cNvCxnSpPr>
            <a:stCxn id="6" idx="5"/>
            <a:endCxn id="10" idx="0"/>
          </p:cNvCxnSpPr>
          <p:nvPr/>
        </p:nvCxnSpPr>
        <p:spPr>
          <a:xfrm>
            <a:off x="1412384" y="2008128"/>
            <a:ext cx="368154" cy="48476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>
            <a:stCxn id="4" idx="2"/>
            <a:endCxn id="8" idx="3"/>
          </p:cNvCxnSpPr>
          <p:nvPr/>
        </p:nvCxnSpPr>
        <p:spPr>
          <a:xfrm flipH="1">
            <a:off x="922513" y="2718835"/>
            <a:ext cx="653009" cy="6917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629710" y="206130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5</a:t>
            </a:r>
            <a:endParaRPr lang="zh-TW" altLang="en-US" dirty="0"/>
          </a:p>
        </p:txBody>
      </p:sp>
      <p:sp>
        <p:nvSpPr>
          <p:cNvPr id="32" name="矩形 31"/>
          <p:cNvSpPr/>
          <p:nvPr/>
        </p:nvSpPr>
        <p:spPr>
          <a:xfrm>
            <a:off x="1199579" y="2812286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34" name="向右箭號 33"/>
          <p:cNvSpPr/>
          <p:nvPr/>
        </p:nvSpPr>
        <p:spPr>
          <a:xfrm>
            <a:off x="5085053" y="2839358"/>
            <a:ext cx="697953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35" name="內容版面配置區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4996972"/>
              </p:ext>
            </p:extLst>
          </p:nvPr>
        </p:nvGraphicFramePr>
        <p:xfrm>
          <a:off x="5868144" y="2168608"/>
          <a:ext cx="2448272" cy="180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68"/>
                <a:gridCol w="612068"/>
                <a:gridCol w="612068"/>
                <a:gridCol w="612068"/>
              </a:tblGrid>
              <a:tr h="452120">
                <a:tc>
                  <a:txBody>
                    <a:bodyPr/>
                    <a:lstStyle/>
                    <a:p>
                      <a:r>
                        <a:rPr lang="en-US" altLang="zh-TW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=v1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v1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v2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v3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TW" altLang="en-US" b="0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v3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6" name="矩形 35"/>
          <p:cNvSpPr/>
          <p:nvPr/>
        </p:nvSpPr>
        <p:spPr>
          <a:xfrm>
            <a:off x="2555776" y="1614523"/>
            <a:ext cx="53848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If M[j, k] &gt; M[j, 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]+M[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, k]    then </a:t>
            </a:r>
            <a:r>
              <a:rPr lang="en-US" altLang="zh-TW" dirty="0"/>
              <a:t>M[j</a:t>
            </a:r>
            <a:r>
              <a:rPr lang="en-US" altLang="zh-TW" dirty="0" smtClean="0"/>
              <a:t>, k</a:t>
            </a:r>
            <a:r>
              <a:rPr lang="en-US" altLang="zh-TW" dirty="0"/>
              <a:t>] </a:t>
            </a:r>
            <a:r>
              <a:rPr lang="en-US" altLang="zh-TW" dirty="0" smtClean="0"/>
              <a:t>= </a:t>
            </a:r>
            <a:r>
              <a:rPr lang="en-US" altLang="zh-TW" dirty="0"/>
              <a:t>M[j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i</a:t>
            </a:r>
            <a:r>
              <a:rPr lang="en-US" altLang="zh-TW" dirty="0"/>
              <a:t>]+</a:t>
            </a:r>
            <a:r>
              <a:rPr lang="en-US" altLang="zh-TW" dirty="0" smtClean="0"/>
              <a:t>M[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, k</a:t>
            </a:r>
            <a:r>
              <a:rPr lang="en-US" altLang="zh-TW" dirty="0"/>
              <a:t>]</a:t>
            </a:r>
            <a:r>
              <a:rPr lang="en-US" altLang="zh-TW" dirty="0" smtClean="0"/>
              <a:t>  </a:t>
            </a:r>
            <a:endParaRPr lang="zh-TW" altLang="en-US" dirty="0"/>
          </a:p>
        </p:txBody>
      </p:sp>
      <p:graphicFrame>
        <p:nvGraphicFramePr>
          <p:cNvPr id="37" name="內容版面配置區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8098861"/>
              </p:ext>
            </p:extLst>
          </p:nvPr>
        </p:nvGraphicFramePr>
        <p:xfrm>
          <a:off x="2555776" y="4293096"/>
          <a:ext cx="2448272" cy="180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68"/>
                <a:gridCol w="612068"/>
                <a:gridCol w="612068"/>
                <a:gridCol w="612068"/>
              </a:tblGrid>
              <a:tr h="452120">
                <a:tc>
                  <a:txBody>
                    <a:bodyPr/>
                    <a:lstStyle/>
                    <a:p>
                      <a:r>
                        <a:rPr lang="en-US" altLang="zh-TW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=v2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v1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v2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v3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TW" altLang="en-US" b="0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v3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8" name="向右箭號 37"/>
          <p:cNvSpPr/>
          <p:nvPr/>
        </p:nvSpPr>
        <p:spPr>
          <a:xfrm>
            <a:off x="1772087" y="4941168"/>
            <a:ext cx="697953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39" name="內容版面配置區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6679499"/>
              </p:ext>
            </p:extLst>
          </p:nvPr>
        </p:nvGraphicFramePr>
        <p:xfrm>
          <a:off x="5868144" y="4279244"/>
          <a:ext cx="2448272" cy="180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68"/>
                <a:gridCol w="612068"/>
                <a:gridCol w="612068"/>
                <a:gridCol w="612068"/>
              </a:tblGrid>
              <a:tr h="452120">
                <a:tc>
                  <a:txBody>
                    <a:bodyPr/>
                    <a:lstStyle/>
                    <a:p>
                      <a:r>
                        <a:rPr lang="en-US" altLang="zh-TW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=v3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v1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v2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v3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TW" altLang="en-US" b="0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v3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0" name="向右箭號 39"/>
          <p:cNvSpPr/>
          <p:nvPr/>
        </p:nvSpPr>
        <p:spPr>
          <a:xfrm>
            <a:off x="5059184" y="4935449"/>
            <a:ext cx="697953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投影片編號版面配置區 4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6857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Exponentially </a:t>
            </a:r>
            <a:r>
              <a:rPr lang="en-US" altLang="zh-TW" dirty="0" smtClean="0"/>
              <a:t>Large Numbers </a:t>
            </a:r>
            <a:r>
              <a:rPr lang="en-US" altLang="zh-TW" dirty="0"/>
              <a:t>in the </a:t>
            </a:r>
            <a:r>
              <a:rPr lang="en-US" altLang="zh-TW" dirty="0" smtClean="0"/>
              <a:t>Floyd–</a:t>
            </a:r>
            <a:r>
              <a:rPr lang="en-US" altLang="zh-TW" dirty="0" err="1" smtClean="0"/>
              <a:t>Warshall</a:t>
            </a:r>
            <a:r>
              <a:rPr lang="en-US" altLang="zh-TW" dirty="0" smtClean="0"/>
              <a:t>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899592" y="1700808"/>
            <a:ext cx="73448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b="1" dirty="0"/>
              <a:t>Proposition 1</a:t>
            </a:r>
            <a:r>
              <a:rPr lang="en-US" altLang="zh-TW" dirty="0"/>
              <a:t>. If the input graph of the Floyd–</a:t>
            </a:r>
            <a:r>
              <a:rPr lang="en-US" altLang="zh-TW" dirty="0" err="1"/>
              <a:t>Warshall</a:t>
            </a:r>
            <a:r>
              <a:rPr lang="en-US" altLang="zh-TW" dirty="0"/>
              <a:t> algorithm does not contain a negative cycle then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1187624" y="2352438"/>
            <a:ext cx="24482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||</a:t>
            </a:r>
            <a:r>
              <a:rPr lang="en-US" altLang="zh-TW" dirty="0" err="1" smtClean="0"/>
              <a:t>M</a:t>
            </a:r>
            <a:r>
              <a:rPr lang="en-US" altLang="zh-TW" baseline="-25000" dirty="0" err="1" smtClean="0"/>
              <a:t>max</a:t>
            </a:r>
            <a:r>
              <a:rPr lang="en-US" altLang="zh-TW" dirty="0" smtClean="0"/>
              <a:t>|| &lt;= n*</a:t>
            </a:r>
            <a:r>
              <a:rPr lang="en-US" altLang="zh-TW" dirty="0" err="1" smtClean="0"/>
              <a:t>c</a:t>
            </a:r>
            <a:r>
              <a:rPr lang="en-US" altLang="zh-TW" baseline="-25000" dirty="0" err="1" smtClean="0"/>
              <a:t>max</a:t>
            </a:r>
            <a:endParaRPr lang="zh-TW" altLang="en-US" baseline="-25000" dirty="0"/>
          </a:p>
        </p:txBody>
      </p:sp>
      <p:sp>
        <p:nvSpPr>
          <p:cNvPr id="8" name="矩形 7"/>
          <p:cNvSpPr/>
          <p:nvPr/>
        </p:nvSpPr>
        <p:spPr>
          <a:xfrm>
            <a:off x="1187623" y="2852936"/>
            <a:ext cx="54823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 err="1" smtClean="0"/>
              <a:t>C</a:t>
            </a:r>
            <a:r>
              <a:rPr lang="en-US" altLang="zh-TW" b="1" baseline="-25000" dirty="0" err="1" smtClean="0"/>
              <a:t>max</a:t>
            </a:r>
            <a:r>
              <a:rPr lang="en-US" altLang="zh-TW" baseline="-25000" dirty="0" smtClean="0"/>
              <a:t> </a:t>
            </a:r>
            <a:r>
              <a:rPr lang="en-US" altLang="zh-TW" dirty="0"/>
              <a:t>: the </a:t>
            </a:r>
            <a:r>
              <a:rPr lang="en-US" altLang="zh-TW" dirty="0" smtClean="0"/>
              <a:t>largest absolute </a:t>
            </a:r>
            <a:r>
              <a:rPr lang="en-US" altLang="zh-TW" dirty="0"/>
              <a:t>value that an edge weight in G</a:t>
            </a:r>
            <a:endParaRPr lang="zh-TW" altLang="en-US" baseline="-25000" dirty="0"/>
          </a:p>
        </p:txBody>
      </p:sp>
      <p:sp>
        <p:nvSpPr>
          <p:cNvPr id="9" name="矩形 8"/>
          <p:cNvSpPr/>
          <p:nvPr/>
        </p:nvSpPr>
        <p:spPr>
          <a:xfrm>
            <a:off x="1043608" y="3429000"/>
            <a:ext cx="74168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b="1" dirty="0"/>
              <a:t>Proof</a:t>
            </a:r>
            <a:r>
              <a:rPr lang="en-US" altLang="zh-TW" dirty="0"/>
              <a:t>. As such a path can </a:t>
            </a:r>
            <a:r>
              <a:rPr lang="en-US" altLang="zh-TW" dirty="0" smtClean="0"/>
              <a:t>consist of </a:t>
            </a:r>
            <a:r>
              <a:rPr lang="en-US" altLang="zh-TW" dirty="0"/>
              <a:t>at most n -</a:t>
            </a:r>
            <a:r>
              <a:rPr lang="en-US" altLang="zh-TW" dirty="0" smtClean="0"/>
              <a:t>1 </a:t>
            </a:r>
            <a:r>
              <a:rPr lang="en-US" altLang="zh-TW" dirty="0"/>
              <a:t>edges the result follows.</a:t>
            </a:r>
            <a:endParaRPr lang="zh-TW" altLang="en-US" dirty="0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8355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Exponentially Large Numbers in the Floyd–</a:t>
            </a:r>
            <a:r>
              <a:rPr lang="en-US" altLang="zh-TW" dirty="0" err="1"/>
              <a:t>Warshall</a:t>
            </a:r>
            <a:r>
              <a:rPr lang="en-US" altLang="zh-TW" dirty="0"/>
              <a:t>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1115616" y="1908355"/>
            <a:ext cx="633670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b="1" dirty="0"/>
              <a:t>Theorem 2. </a:t>
            </a:r>
            <a:r>
              <a:rPr lang="en-US" altLang="zh-TW" dirty="0"/>
              <a:t>There exist graphs such that</a:t>
            </a:r>
          </a:p>
          <a:p>
            <a:r>
              <a:rPr lang="en-US" altLang="zh-TW" dirty="0" smtClean="0"/>
              <a:t>||</a:t>
            </a:r>
            <a:r>
              <a:rPr lang="en-US" altLang="zh-TW" dirty="0" err="1" smtClean="0"/>
              <a:t>M</a:t>
            </a:r>
            <a:r>
              <a:rPr lang="en-US" altLang="zh-TW" baseline="-25000" dirty="0" err="1" smtClean="0"/>
              <a:t>max</a:t>
            </a:r>
            <a:r>
              <a:rPr lang="en-US" altLang="zh-TW" dirty="0" smtClean="0"/>
              <a:t>|| </a:t>
            </a:r>
            <a:r>
              <a:rPr lang="en-US" altLang="zh-TW" dirty="0"/>
              <a:t>= 2 · </a:t>
            </a:r>
            <a:r>
              <a:rPr lang="en-US" altLang="zh-TW" dirty="0" smtClean="0"/>
              <a:t>6</a:t>
            </a:r>
            <a:r>
              <a:rPr lang="en-US" altLang="zh-TW" baseline="30000" dirty="0" smtClean="0"/>
              <a:t>n-1 </a:t>
            </a:r>
            <a:r>
              <a:rPr lang="en-US" altLang="zh-TW" dirty="0" smtClean="0"/>
              <a:t>· </a:t>
            </a:r>
            <a:r>
              <a:rPr lang="en-US" altLang="zh-TW" dirty="0" err="1" smtClean="0"/>
              <a:t>c</a:t>
            </a:r>
            <a:r>
              <a:rPr lang="en-US" altLang="zh-TW" baseline="-25000" dirty="0" err="1" smtClean="0"/>
              <a:t>max</a:t>
            </a:r>
            <a:endParaRPr lang="en-US" altLang="zh-TW" baseline="-25000" dirty="0" smtClean="0"/>
          </a:p>
          <a:p>
            <a:r>
              <a:rPr lang="en-US" altLang="zh-TW" dirty="0" smtClean="0"/>
              <a:t>during </a:t>
            </a:r>
            <a:r>
              <a:rPr lang="en-US" altLang="zh-TW" dirty="0"/>
              <a:t>the execution of the Floyd–</a:t>
            </a:r>
            <a:r>
              <a:rPr lang="en-US" altLang="zh-TW" dirty="0" err="1"/>
              <a:t>Warshall</a:t>
            </a:r>
            <a:r>
              <a:rPr lang="en-US" altLang="zh-TW" dirty="0"/>
              <a:t> 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187623" y="3244334"/>
                <a:ext cx="4419800" cy="4848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dirty="0" smtClean="0"/>
                  <a:t>M[</a:t>
                </a:r>
                <a:r>
                  <a:rPr lang="en-US" altLang="zh-TW" dirty="0" err="1" smtClean="0"/>
                  <a:t>i</a:t>
                </a:r>
                <a:r>
                  <a:rPr lang="en-US" altLang="zh-TW" dirty="0" smtClean="0"/>
                  <a:t>, </a:t>
                </a:r>
                <a:r>
                  <a:rPr lang="en-US" altLang="zh-TW" dirty="0" err="1" smtClean="0"/>
                  <a:t>i</a:t>
                </a:r>
                <a:r>
                  <a:rPr lang="en-US" altLang="zh-TW" dirty="0" smtClean="0"/>
                  <a:t>] =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TW" b="0" i="1" smtClean="0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TW" dirty="0" smtClean="0"/>
                  <a:t> ·6</a:t>
                </a:r>
                <a:r>
                  <a:rPr lang="en-US" altLang="zh-TW" baseline="30000" dirty="0" smtClean="0"/>
                  <a:t>i</a:t>
                </a:r>
                <a:r>
                  <a:rPr lang="zh-TW" altLang="en-US" dirty="0" smtClean="0"/>
                  <a:t>，                                             </a:t>
                </a:r>
                <a:r>
                  <a:rPr lang="en-US" altLang="zh-TW" dirty="0" smtClean="0"/>
                  <a:t>(1)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3" y="3244334"/>
                <a:ext cx="4419800" cy="484876"/>
              </a:xfrm>
              <a:prstGeom prst="rect">
                <a:avLst/>
              </a:prstGeom>
              <a:blipFill rotWithShape="1">
                <a:blip r:embed="rId2"/>
                <a:stretch>
                  <a:fillRect l="-1241" b="-7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/>
          <p:cNvSpPr/>
          <p:nvPr/>
        </p:nvSpPr>
        <p:spPr>
          <a:xfrm>
            <a:off x="1187623" y="2875002"/>
            <a:ext cx="7561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/>
              <a:t>Proof.</a:t>
            </a:r>
            <a:endParaRPr lang="zh-TW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1179639" y="3861048"/>
                <a:ext cx="4329968" cy="4834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dirty="0" smtClean="0"/>
                  <a:t>M[</a:t>
                </a:r>
                <a:r>
                  <a:rPr lang="en-US" altLang="zh-TW" dirty="0" err="1" smtClean="0"/>
                  <a:t>i</a:t>
                </a:r>
                <a:r>
                  <a:rPr lang="en-US" altLang="zh-TW" dirty="0" smtClean="0"/>
                  <a:t>, j] =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TW" i="1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TW" dirty="0" smtClean="0"/>
                  <a:t> ·6</a:t>
                </a:r>
                <a:r>
                  <a:rPr lang="en-US" altLang="zh-TW" baseline="30000" dirty="0" smtClean="0"/>
                  <a:t>i</a:t>
                </a:r>
                <a:r>
                  <a:rPr lang="zh-TW" altLang="en-US" dirty="0" smtClean="0"/>
                  <a:t>，</a:t>
                </a:r>
                <a:r>
                  <a:rPr lang="en-US" altLang="zh-TW" dirty="0" smtClean="0"/>
                  <a:t>for j&gt;</a:t>
                </a:r>
                <a:r>
                  <a:rPr lang="en-US" altLang="zh-TW" dirty="0" err="1" smtClean="0"/>
                  <a:t>i</a:t>
                </a:r>
                <a:r>
                  <a:rPr lang="zh-TW" altLang="en-US" dirty="0" smtClean="0"/>
                  <a:t>                                   </a:t>
                </a:r>
                <a:r>
                  <a:rPr lang="en-US" altLang="zh-TW" dirty="0" smtClean="0"/>
                  <a:t>(2)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639" y="3861048"/>
                <a:ext cx="4329968" cy="483466"/>
              </a:xfrm>
              <a:prstGeom prst="rect">
                <a:avLst/>
              </a:prstGeom>
              <a:blipFill rotWithShape="1">
                <a:blip r:embed="rId3"/>
                <a:stretch>
                  <a:fillRect l="-1268" r="-423" b="-7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1207820" y="4398742"/>
                <a:ext cx="4329968" cy="4834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dirty="0" smtClean="0"/>
                  <a:t>M[j, </a:t>
                </a:r>
                <a:r>
                  <a:rPr lang="en-US" altLang="zh-TW" dirty="0" err="1" smtClean="0"/>
                  <a:t>i</a:t>
                </a:r>
                <a:r>
                  <a:rPr lang="en-US" altLang="zh-TW" dirty="0" smtClean="0"/>
                  <a:t>] =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TW" i="1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TW" dirty="0" smtClean="0"/>
                  <a:t> ·6</a:t>
                </a:r>
                <a:r>
                  <a:rPr lang="en-US" altLang="zh-TW" baseline="30000" dirty="0" smtClean="0"/>
                  <a:t>i</a:t>
                </a:r>
                <a:r>
                  <a:rPr lang="zh-TW" altLang="en-US" dirty="0" smtClean="0"/>
                  <a:t>，</a:t>
                </a:r>
                <a:r>
                  <a:rPr lang="en-US" altLang="zh-TW" dirty="0" smtClean="0"/>
                  <a:t>for j&gt;</a:t>
                </a:r>
                <a:r>
                  <a:rPr lang="en-US" altLang="zh-TW" dirty="0" err="1" smtClean="0"/>
                  <a:t>i</a:t>
                </a:r>
                <a:r>
                  <a:rPr lang="zh-TW" altLang="en-US" dirty="0" smtClean="0"/>
                  <a:t>                                   </a:t>
                </a:r>
                <a:r>
                  <a:rPr lang="en-US" altLang="zh-TW" dirty="0" smtClean="0"/>
                  <a:t>(3)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820" y="4398742"/>
                <a:ext cx="4329968" cy="483466"/>
              </a:xfrm>
              <a:prstGeom prst="rect">
                <a:avLst/>
              </a:prstGeom>
              <a:blipFill rotWithShape="1">
                <a:blip r:embed="rId4"/>
                <a:stretch>
                  <a:fillRect l="-1127" r="-563" b="-88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/>
          <p:cNvSpPr/>
          <p:nvPr/>
        </p:nvSpPr>
        <p:spPr>
          <a:xfrm>
            <a:off x="1208297" y="4925646"/>
            <a:ext cx="43059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M[i+1, j] = -6</a:t>
            </a:r>
            <a:r>
              <a:rPr lang="en-US" altLang="zh-TW" baseline="30000" dirty="0" smtClean="0"/>
              <a:t>i</a:t>
            </a:r>
            <a:r>
              <a:rPr lang="zh-TW" altLang="en-US" dirty="0" smtClean="0"/>
              <a:t>，</a:t>
            </a:r>
            <a:r>
              <a:rPr lang="en-US" altLang="zh-TW" dirty="0" smtClean="0"/>
              <a:t>for j&gt;</a:t>
            </a:r>
            <a:r>
              <a:rPr lang="en-US" altLang="zh-TW" dirty="0" err="1" smtClean="0"/>
              <a:t>i</a:t>
            </a:r>
            <a:r>
              <a:rPr lang="zh-TW" altLang="en-US" dirty="0" smtClean="0"/>
              <a:t>                                  </a:t>
            </a:r>
            <a:r>
              <a:rPr lang="en-US" altLang="zh-TW" dirty="0" smtClean="0"/>
              <a:t>(4)</a:t>
            </a:r>
            <a:endParaRPr lang="zh-TW" altLang="en-US" dirty="0"/>
          </a:p>
        </p:txBody>
      </p:sp>
      <p:sp>
        <p:nvSpPr>
          <p:cNvPr id="11" name="投影片編號版面配置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7</a:t>
            </a:fld>
            <a:endParaRPr lang="zh-TW" altLang="en-US"/>
          </a:p>
        </p:txBody>
      </p:sp>
      <p:graphicFrame>
        <p:nvGraphicFramePr>
          <p:cNvPr id="12" name="內容版面配置區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2983940"/>
              </p:ext>
            </p:extLst>
          </p:nvPr>
        </p:nvGraphicFramePr>
        <p:xfrm>
          <a:off x="6228184" y="1713546"/>
          <a:ext cx="2448272" cy="180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68"/>
                <a:gridCol w="612068"/>
                <a:gridCol w="612068"/>
                <a:gridCol w="612068"/>
              </a:tblGrid>
              <a:tr h="452120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I = 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V1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v2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v3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(1)</a:t>
                      </a:r>
                      <a:endParaRPr lang="zh-TW" altLang="en-US" b="0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V3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內容版面配置區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7235370"/>
              </p:ext>
            </p:extLst>
          </p:nvPr>
        </p:nvGraphicFramePr>
        <p:xfrm>
          <a:off x="6228184" y="3870176"/>
          <a:ext cx="2448272" cy="180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68"/>
                <a:gridCol w="612068"/>
                <a:gridCol w="612068"/>
                <a:gridCol w="612068"/>
              </a:tblGrid>
              <a:tr h="452120">
                <a:tc>
                  <a:txBody>
                    <a:bodyPr/>
                    <a:lstStyle/>
                    <a:p>
                      <a:r>
                        <a:rPr lang="en-US" altLang="zh-TW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</a:rPr>
                        <a:t> = 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V1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V2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V3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 -</a:t>
                      </a:r>
                      <a:endParaRPr lang="zh-TW" altLang="en-US" b="0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  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   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  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(1)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(2)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V3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aseline="0" dirty="0" smtClean="0">
                          <a:solidFill>
                            <a:schemeClr val="tx1"/>
                          </a:solidFill>
                        </a:rPr>
                        <a:t>  -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(3)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(4)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0539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Exponentially Large Numbers in the Floyd–</a:t>
            </a:r>
            <a:r>
              <a:rPr lang="en-US" altLang="zh-TW" dirty="0" err="1"/>
              <a:t>Warshall</a:t>
            </a:r>
            <a:r>
              <a:rPr lang="en-US" altLang="zh-TW" dirty="0"/>
              <a:t>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8</a:t>
            </a:fld>
            <a:endParaRPr lang="zh-TW" altLang="en-US" dirty="0"/>
          </a:p>
        </p:txBody>
      </p:sp>
      <p:sp>
        <p:nvSpPr>
          <p:cNvPr id="5" name="橢圓 4"/>
          <p:cNvSpPr/>
          <p:nvPr/>
        </p:nvSpPr>
        <p:spPr>
          <a:xfrm>
            <a:off x="1223628" y="2060848"/>
            <a:ext cx="360040" cy="3600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橢圓 6"/>
          <p:cNvSpPr/>
          <p:nvPr/>
        </p:nvSpPr>
        <p:spPr>
          <a:xfrm>
            <a:off x="1871700" y="2996952"/>
            <a:ext cx="360040" cy="3600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456766" y="2996952"/>
            <a:ext cx="360040" cy="3600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圓形箭號 8"/>
          <p:cNvSpPr/>
          <p:nvPr/>
        </p:nvSpPr>
        <p:spPr>
          <a:xfrm>
            <a:off x="1277634" y="1886901"/>
            <a:ext cx="252028" cy="347894"/>
          </a:xfrm>
          <a:prstGeom prst="circular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cxnSp>
        <p:nvCxnSpPr>
          <p:cNvPr id="11" name="直線單箭頭接點 10"/>
          <p:cNvCxnSpPr>
            <a:stCxn id="5" idx="3"/>
            <a:endCxn id="8" idx="7"/>
          </p:cNvCxnSpPr>
          <p:nvPr/>
        </p:nvCxnSpPr>
        <p:spPr>
          <a:xfrm flipH="1">
            <a:off x="764079" y="2368161"/>
            <a:ext cx="512276" cy="68151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>
            <a:stCxn id="7" idx="2"/>
            <a:endCxn id="8" idx="6"/>
          </p:cNvCxnSpPr>
          <p:nvPr/>
        </p:nvCxnSpPr>
        <p:spPr>
          <a:xfrm flipH="1">
            <a:off x="816806" y="3176972"/>
            <a:ext cx="1054894" cy="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>
            <a:stCxn id="5" idx="5"/>
            <a:endCxn id="7" idx="1"/>
          </p:cNvCxnSpPr>
          <p:nvPr/>
        </p:nvCxnSpPr>
        <p:spPr>
          <a:xfrm>
            <a:off x="1530941" y="2368161"/>
            <a:ext cx="393486" cy="68151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1272843" y="1517569"/>
            <a:ext cx="3722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-1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797461" y="2368161"/>
            <a:ext cx="3722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-1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630697" y="2409320"/>
            <a:ext cx="3722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-1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157444" y="3176972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2</a:t>
            </a:r>
            <a:endParaRPr lang="zh-TW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1206237" y="2060848"/>
            <a:ext cx="4058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v1</a:t>
            </a:r>
            <a:endParaRPr lang="zh-TW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450677" y="2974890"/>
            <a:ext cx="4058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v2</a:t>
            </a:r>
            <a:endParaRPr lang="zh-TW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1859522" y="2992306"/>
            <a:ext cx="4058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v3</a:t>
            </a:r>
            <a:endParaRPr lang="zh-TW" altLang="en-US" dirty="0"/>
          </a:p>
        </p:txBody>
      </p:sp>
      <p:graphicFrame>
        <p:nvGraphicFramePr>
          <p:cNvPr id="25" name="內容版面配置區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1128157"/>
              </p:ext>
            </p:extLst>
          </p:nvPr>
        </p:nvGraphicFramePr>
        <p:xfrm>
          <a:off x="2699792" y="1935845"/>
          <a:ext cx="2448272" cy="180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68"/>
                <a:gridCol w="612068"/>
                <a:gridCol w="612068"/>
                <a:gridCol w="612068"/>
              </a:tblGrid>
              <a:tr h="452120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S0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v1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v2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v3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-1</a:t>
                      </a:r>
                      <a:endParaRPr lang="zh-TW" altLang="en-US" b="0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v3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內容版面配置區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8979890"/>
              </p:ext>
            </p:extLst>
          </p:nvPr>
        </p:nvGraphicFramePr>
        <p:xfrm>
          <a:off x="6156176" y="1988840"/>
          <a:ext cx="2448272" cy="180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68"/>
                <a:gridCol w="612068"/>
                <a:gridCol w="612068"/>
                <a:gridCol w="612068"/>
              </a:tblGrid>
              <a:tr h="452120">
                <a:tc>
                  <a:txBody>
                    <a:bodyPr/>
                    <a:lstStyle/>
                    <a:p>
                      <a:r>
                        <a:rPr lang="en-US" altLang="zh-TW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=v1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v1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v2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v3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strike="noStrike" dirty="0" smtClean="0">
                          <a:solidFill>
                            <a:srgbClr val="C00000"/>
                          </a:solidFill>
                          <a:effectLst/>
                          <a:latin typeface="+mn-ea"/>
                          <a:ea typeface="+mn-ea"/>
                        </a:rPr>
                        <a:t>-2</a:t>
                      </a:r>
                      <a:endParaRPr lang="zh-TW" altLang="en-US" b="0" strike="noStrike" dirty="0">
                        <a:solidFill>
                          <a:srgbClr val="C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-3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-3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-3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-6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-6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v3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-3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-6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-6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7" name="向右箭號 26"/>
          <p:cNvSpPr/>
          <p:nvPr/>
        </p:nvSpPr>
        <p:spPr>
          <a:xfrm>
            <a:off x="5278950" y="2607962"/>
            <a:ext cx="72008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/>
              <p:cNvSpPr/>
              <p:nvPr/>
            </p:nvSpPr>
            <p:spPr>
              <a:xfrm>
                <a:off x="1088052" y="3957838"/>
                <a:ext cx="7191392" cy="4848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dirty="0" smtClean="0">
                    <a:latin typeface="+mn-ea"/>
                  </a:rPr>
                  <a:t>M[1, 1] = M[1, 1] + M[1, 1] = -1 + (-1) = -2 = </a:t>
                </a:r>
                <a:r>
                  <a:rPr lang="en-US" altLang="zh-TW" dirty="0"/>
                  <a:t>-</a:t>
                </a: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TW" i="1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TW" dirty="0"/>
                  <a:t> ·</a:t>
                </a:r>
                <a:r>
                  <a:rPr lang="en-US" altLang="zh-TW" dirty="0" smtClean="0"/>
                  <a:t>6</a:t>
                </a:r>
                <a:r>
                  <a:rPr lang="en-US" altLang="zh-TW" baseline="30000" dirty="0"/>
                  <a:t>1</a:t>
                </a:r>
                <a:r>
                  <a:rPr lang="en-US" altLang="zh-TW" baseline="30000" dirty="0" smtClean="0"/>
                  <a:t> </a:t>
                </a:r>
                <a:r>
                  <a:rPr lang="en-US" altLang="zh-TW" dirty="0" smtClean="0"/>
                  <a:t>                             </a:t>
                </a:r>
                <a:r>
                  <a:rPr lang="en-US" altLang="zh-TW" dirty="0" smtClean="0">
                    <a:latin typeface="+mn-ea"/>
                  </a:rPr>
                  <a:t>(1) </a:t>
                </a:r>
                <a:r>
                  <a:rPr lang="zh-TW" altLang="en-US" dirty="0" smtClean="0">
                    <a:latin typeface="+mn-ea"/>
                  </a:rPr>
                  <a:t>成立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28" name="矩形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052" y="3957838"/>
                <a:ext cx="7191392" cy="484876"/>
              </a:xfrm>
              <a:prstGeom prst="rect">
                <a:avLst/>
              </a:prstGeom>
              <a:blipFill rotWithShape="1">
                <a:blip r:embed="rId2"/>
                <a:stretch>
                  <a:fillRect l="-678" b="-7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矩形 29"/>
          <p:cNvSpPr/>
          <p:nvPr/>
        </p:nvSpPr>
        <p:spPr>
          <a:xfrm>
            <a:off x="764079" y="3635732"/>
            <a:ext cx="606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 smtClean="0">
                <a:latin typeface="+mn-ea"/>
              </a:rPr>
              <a:t>i</a:t>
            </a:r>
            <a:r>
              <a:rPr lang="en-US" altLang="zh-TW" dirty="0" smtClean="0">
                <a:latin typeface="+mn-ea"/>
              </a:rPr>
              <a:t> = 1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/>
              <p:cNvSpPr/>
              <p:nvPr/>
            </p:nvSpPr>
            <p:spPr>
              <a:xfrm>
                <a:off x="1075120" y="4425716"/>
                <a:ext cx="7266669" cy="7604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dirty="0" smtClean="0">
                    <a:latin typeface="+mn-ea"/>
                  </a:rPr>
                  <a:t>M[1, k] = M[1, 1] + M[1, k] = -2 + (-1) = -3 = </a:t>
                </a:r>
                <a:r>
                  <a:rPr lang="en-US" altLang="zh-TW" dirty="0"/>
                  <a:t>-</a:t>
                </a: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TW" dirty="0"/>
                  <a:t> ·</a:t>
                </a:r>
                <a:r>
                  <a:rPr lang="en-US" altLang="zh-TW" dirty="0" smtClean="0"/>
                  <a:t>6</a:t>
                </a:r>
                <a:r>
                  <a:rPr lang="en-US" altLang="zh-TW" baseline="30000" dirty="0"/>
                  <a:t>1</a:t>
                </a:r>
                <a:r>
                  <a:rPr lang="en-US" altLang="zh-TW" baseline="30000" dirty="0" smtClean="0"/>
                  <a:t> </a:t>
                </a:r>
                <a:r>
                  <a:rPr lang="en-US" altLang="zh-TW" dirty="0" smtClean="0"/>
                  <a:t>   for k &gt; 1            </a:t>
                </a:r>
                <a:r>
                  <a:rPr lang="en-US" altLang="zh-TW" dirty="0" smtClean="0">
                    <a:latin typeface="+mn-ea"/>
                  </a:rPr>
                  <a:t>(2) </a:t>
                </a:r>
                <a:r>
                  <a:rPr lang="zh-TW" altLang="en-US" dirty="0" smtClean="0">
                    <a:latin typeface="+mn-ea"/>
                  </a:rPr>
                  <a:t>成立</a:t>
                </a:r>
                <a:endParaRPr lang="zh-TW" altLang="en-US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1" name="矩形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120" y="4425716"/>
                <a:ext cx="7266669" cy="760465"/>
              </a:xfrm>
              <a:prstGeom prst="rect">
                <a:avLst/>
              </a:prstGeom>
              <a:blipFill rotWithShape="1">
                <a:blip r:embed="rId3"/>
                <a:stretch>
                  <a:fillRect l="-6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/>
              <p:cNvSpPr/>
              <p:nvPr/>
            </p:nvSpPr>
            <p:spPr>
              <a:xfrm>
                <a:off x="1085940" y="4869160"/>
                <a:ext cx="7165680" cy="7604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dirty="0" smtClean="0">
                    <a:latin typeface="+mn-ea"/>
                  </a:rPr>
                  <a:t>M[j, 1] = M[j, 1] + M[1, 1] = -1 + (-2) = -3 = </a:t>
                </a:r>
                <a:r>
                  <a:rPr lang="en-US" altLang="zh-TW" dirty="0"/>
                  <a:t>-</a:t>
                </a: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TW" dirty="0"/>
                  <a:t> ·</a:t>
                </a:r>
                <a:r>
                  <a:rPr lang="en-US" altLang="zh-TW" dirty="0" smtClean="0"/>
                  <a:t>6</a:t>
                </a:r>
                <a:r>
                  <a:rPr lang="en-US" altLang="zh-TW" baseline="30000" dirty="0"/>
                  <a:t>1</a:t>
                </a:r>
                <a:r>
                  <a:rPr lang="en-US" altLang="zh-TW" baseline="30000" dirty="0" smtClean="0"/>
                  <a:t> </a:t>
                </a:r>
                <a:r>
                  <a:rPr lang="en-US" altLang="zh-TW" dirty="0" smtClean="0"/>
                  <a:t>   for j &lt;=2&lt;=n      </a:t>
                </a:r>
                <a:r>
                  <a:rPr lang="en-US" altLang="zh-TW" dirty="0" smtClean="0">
                    <a:latin typeface="+mn-ea"/>
                  </a:rPr>
                  <a:t>(3) </a:t>
                </a:r>
                <a:r>
                  <a:rPr lang="zh-TW" altLang="en-US" dirty="0" smtClean="0">
                    <a:latin typeface="+mn-ea"/>
                  </a:rPr>
                  <a:t>成立</a:t>
                </a:r>
                <a:endParaRPr lang="zh-TW" altLang="en-US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2" name="矩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940" y="4869160"/>
                <a:ext cx="7165680" cy="760465"/>
              </a:xfrm>
              <a:prstGeom prst="rect">
                <a:avLst/>
              </a:prstGeom>
              <a:blipFill rotWithShape="1">
                <a:blip r:embed="rId4"/>
                <a:stretch>
                  <a:fillRect l="-68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矩形 32"/>
          <p:cNvSpPr/>
          <p:nvPr/>
        </p:nvSpPr>
        <p:spPr>
          <a:xfrm>
            <a:off x="1075120" y="5373216"/>
            <a:ext cx="71769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latin typeface="+mn-ea"/>
              </a:rPr>
              <a:t>M[2, j] = M[2, 1] + M[1, j] = -3 + (-3) = -6 = </a:t>
            </a:r>
            <a:r>
              <a:rPr lang="en-US" altLang="zh-TW" dirty="0"/>
              <a:t>-</a:t>
            </a:r>
            <a:r>
              <a:rPr lang="en-US" altLang="zh-TW" dirty="0" smtClean="0"/>
              <a:t>6</a:t>
            </a:r>
            <a:r>
              <a:rPr lang="en-US" altLang="zh-TW" baseline="30000" dirty="0" smtClean="0"/>
              <a:t>1 </a:t>
            </a:r>
            <a:r>
              <a:rPr lang="en-US" altLang="zh-TW" dirty="0" smtClean="0"/>
              <a:t>       for j &gt; 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               </a:t>
            </a:r>
            <a:r>
              <a:rPr lang="en-US" altLang="zh-TW" dirty="0" smtClean="0">
                <a:latin typeface="+mn-ea"/>
              </a:rPr>
              <a:t>(4) </a:t>
            </a:r>
            <a:r>
              <a:rPr lang="zh-TW" altLang="en-US" dirty="0" smtClean="0">
                <a:latin typeface="+mn-ea"/>
              </a:rPr>
              <a:t>成立</a:t>
            </a:r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64873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Exponentially Large Numbers in the Floyd–</a:t>
            </a:r>
            <a:r>
              <a:rPr lang="en-US" altLang="zh-TW" dirty="0" err="1"/>
              <a:t>Warshall</a:t>
            </a:r>
            <a:r>
              <a:rPr lang="en-US" altLang="zh-TW" dirty="0"/>
              <a:t>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9</a:t>
            </a:fld>
            <a:endParaRPr lang="zh-TW" altLang="en-US"/>
          </a:p>
        </p:txBody>
      </p:sp>
      <p:graphicFrame>
        <p:nvGraphicFramePr>
          <p:cNvPr id="5" name="內容版面配置區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7566039"/>
              </p:ext>
            </p:extLst>
          </p:nvPr>
        </p:nvGraphicFramePr>
        <p:xfrm>
          <a:off x="1499749" y="1844824"/>
          <a:ext cx="2448272" cy="180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68"/>
                <a:gridCol w="612068"/>
                <a:gridCol w="612068"/>
                <a:gridCol w="612068"/>
              </a:tblGrid>
              <a:tr h="452120">
                <a:tc>
                  <a:txBody>
                    <a:bodyPr/>
                    <a:lstStyle/>
                    <a:p>
                      <a:r>
                        <a:rPr lang="en-US" altLang="zh-TW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=v1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v1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v2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v3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-2</a:t>
                      </a:r>
                      <a:endParaRPr lang="zh-TW" altLang="en-US" b="0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v3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755576" y="3825401"/>
            <a:ext cx="606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 smtClean="0">
                <a:latin typeface="+mn-ea"/>
              </a:rPr>
              <a:t>i</a:t>
            </a:r>
            <a:r>
              <a:rPr lang="en-US" altLang="zh-TW" dirty="0" smtClean="0">
                <a:latin typeface="+mn-ea"/>
              </a:rPr>
              <a:t> &gt; 1</a:t>
            </a:r>
            <a:endParaRPr lang="zh-TW" altLang="en-US" dirty="0"/>
          </a:p>
        </p:txBody>
      </p:sp>
      <p:sp>
        <p:nvSpPr>
          <p:cNvPr id="7" name="向右箭號 6"/>
          <p:cNvSpPr/>
          <p:nvPr/>
        </p:nvSpPr>
        <p:spPr>
          <a:xfrm>
            <a:off x="4152690" y="2492896"/>
            <a:ext cx="720080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aphicFrame>
        <p:nvGraphicFramePr>
          <p:cNvPr id="8" name="內容版面配置區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7007255"/>
              </p:ext>
            </p:extLst>
          </p:nvPr>
        </p:nvGraphicFramePr>
        <p:xfrm>
          <a:off x="5004048" y="1844824"/>
          <a:ext cx="2448272" cy="180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68"/>
                <a:gridCol w="612068"/>
                <a:gridCol w="612068"/>
                <a:gridCol w="612068"/>
              </a:tblGrid>
              <a:tr h="452120">
                <a:tc>
                  <a:txBody>
                    <a:bodyPr/>
                    <a:lstStyle/>
                    <a:p>
                      <a:r>
                        <a:rPr lang="en-US" altLang="zh-TW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=v2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v1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v2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v3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-2</a:t>
                      </a:r>
                      <a:endParaRPr lang="zh-TW" altLang="en-US" b="0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-12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-18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v3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-18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-36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1066893" y="4118679"/>
                <a:ext cx="7731027" cy="4848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dirty="0" smtClean="0">
                    <a:latin typeface="+mn-ea"/>
                  </a:rPr>
                  <a:t>M[</a:t>
                </a:r>
                <a:r>
                  <a:rPr lang="en-US" altLang="zh-TW" dirty="0" err="1" smtClean="0">
                    <a:latin typeface="+mn-ea"/>
                  </a:rPr>
                  <a:t>i</a:t>
                </a:r>
                <a:r>
                  <a:rPr lang="en-US" altLang="zh-TW" dirty="0" smtClean="0">
                    <a:latin typeface="+mn-ea"/>
                  </a:rPr>
                  <a:t>, </a:t>
                </a:r>
                <a:r>
                  <a:rPr lang="en-US" altLang="zh-TW" dirty="0" err="1" smtClean="0">
                    <a:latin typeface="+mn-ea"/>
                  </a:rPr>
                  <a:t>i</a:t>
                </a:r>
                <a:r>
                  <a:rPr lang="en-US" altLang="zh-TW" dirty="0" smtClean="0">
                    <a:latin typeface="+mn-ea"/>
                  </a:rPr>
                  <a:t>] = M[</a:t>
                </a:r>
                <a:r>
                  <a:rPr lang="en-US" altLang="zh-TW" dirty="0" err="1" smtClean="0">
                    <a:latin typeface="+mn-ea"/>
                  </a:rPr>
                  <a:t>i</a:t>
                </a:r>
                <a:r>
                  <a:rPr lang="en-US" altLang="zh-TW" dirty="0" smtClean="0">
                    <a:latin typeface="+mn-ea"/>
                  </a:rPr>
                  <a:t>, </a:t>
                </a:r>
                <a:r>
                  <a:rPr lang="en-US" altLang="zh-TW" dirty="0" err="1" smtClean="0">
                    <a:latin typeface="+mn-ea"/>
                  </a:rPr>
                  <a:t>i</a:t>
                </a:r>
                <a:r>
                  <a:rPr lang="en-US" altLang="zh-TW" dirty="0" smtClean="0">
                    <a:latin typeface="+mn-ea"/>
                  </a:rPr>
                  <a:t>] + M[</a:t>
                </a:r>
                <a:r>
                  <a:rPr lang="en-US" altLang="zh-TW" dirty="0" err="1" smtClean="0">
                    <a:latin typeface="+mn-ea"/>
                  </a:rPr>
                  <a:t>i</a:t>
                </a:r>
                <a:r>
                  <a:rPr lang="en-US" altLang="zh-TW" dirty="0" smtClean="0">
                    <a:latin typeface="+mn-ea"/>
                  </a:rPr>
                  <a:t>, </a:t>
                </a:r>
                <a:r>
                  <a:rPr lang="en-US" altLang="zh-TW" dirty="0" err="1" smtClean="0">
                    <a:latin typeface="+mn-ea"/>
                  </a:rPr>
                  <a:t>i</a:t>
                </a:r>
                <a:r>
                  <a:rPr lang="en-US" altLang="zh-TW" dirty="0" smtClean="0">
                    <a:latin typeface="+mn-ea"/>
                  </a:rPr>
                  <a:t>] = -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6</a:t>
                </a:r>
                <a:r>
                  <a:rPr lang="en-US" altLang="zh-TW" baseline="30000" dirty="0" smtClean="0"/>
                  <a:t>i-1</a:t>
                </a:r>
                <a:r>
                  <a:rPr lang="en-US" altLang="zh-TW" dirty="0" smtClean="0">
                    <a:latin typeface="+mn-ea"/>
                  </a:rPr>
                  <a:t> + (-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6</a:t>
                </a:r>
                <a:r>
                  <a:rPr lang="en-US" altLang="zh-TW" baseline="30000" dirty="0" smtClean="0"/>
                  <a:t>i-1</a:t>
                </a:r>
                <a:r>
                  <a:rPr lang="en-US" altLang="zh-TW" dirty="0" smtClean="0">
                    <a:latin typeface="+mn-ea"/>
                  </a:rPr>
                  <a:t>) = -12 = </a:t>
                </a:r>
                <a:r>
                  <a:rPr lang="en-US" altLang="zh-TW" dirty="0"/>
                  <a:t>-</a:t>
                </a: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TW" i="1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TW" dirty="0"/>
                  <a:t> ·</a:t>
                </a:r>
                <a:r>
                  <a:rPr lang="en-US" altLang="zh-TW" dirty="0" smtClean="0"/>
                  <a:t>6</a:t>
                </a:r>
                <a:r>
                  <a:rPr lang="en-US" altLang="zh-TW" baseline="30000" dirty="0" smtClean="0"/>
                  <a:t>i </a:t>
                </a:r>
                <a:r>
                  <a:rPr lang="en-US" altLang="zh-TW" dirty="0" smtClean="0"/>
                  <a:t>  use(4)                    proves</a:t>
                </a:r>
                <a:r>
                  <a:rPr lang="en-US" altLang="zh-TW" dirty="0" smtClean="0">
                    <a:latin typeface="+mn-ea"/>
                  </a:rPr>
                  <a:t>(1)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93" y="4118679"/>
                <a:ext cx="7731027" cy="484876"/>
              </a:xfrm>
              <a:prstGeom prst="rect">
                <a:avLst/>
              </a:prstGeom>
              <a:blipFill rotWithShape="1">
                <a:blip r:embed="rId2"/>
                <a:stretch>
                  <a:fillRect l="-631" b="-88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1058704" y="4545280"/>
            <a:ext cx="9669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latin typeface="+mn-ea"/>
              </a:rPr>
              <a:t>From (4)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1054962" y="4859976"/>
                <a:ext cx="7782259" cy="7618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dirty="0" smtClean="0">
                    <a:latin typeface="+mn-ea"/>
                  </a:rPr>
                  <a:t>M[</a:t>
                </a:r>
                <a:r>
                  <a:rPr lang="en-US" altLang="zh-TW" dirty="0" err="1" smtClean="0">
                    <a:latin typeface="+mn-ea"/>
                  </a:rPr>
                  <a:t>i</a:t>
                </a:r>
                <a:r>
                  <a:rPr lang="en-US" altLang="zh-TW" dirty="0" smtClean="0">
                    <a:latin typeface="+mn-ea"/>
                  </a:rPr>
                  <a:t>, j] = M[</a:t>
                </a:r>
                <a:r>
                  <a:rPr lang="en-US" altLang="zh-TW" dirty="0" err="1" smtClean="0">
                    <a:latin typeface="+mn-ea"/>
                  </a:rPr>
                  <a:t>i</a:t>
                </a:r>
                <a:r>
                  <a:rPr lang="en-US" altLang="zh-TW" dirty="0" smtClean="0">
                    <a:latin typeface="+mn-ea"/>
                  </a:rPr>
                  <a:t>, </a:t>
                </a:r>
                <a:r>
                  <a:rPr lang="en-US" altLang="zh-TW" dirty="0" err="1" smtClean="0">
                    <a:latin typeface="+mn-ea"/>
                  </a:rPr>
                  <a:t>i</a:t>
                </a:r>
                <a:r>
                  <a:rPr lang="en-US" altLang="zh-TW" dirty="0" smtClean="0">
                    <a:latin typeface="+mn-ea"/>
                  </a:rPr>
                  <a:t>] + M[</a:t>
                </a:r>
                <a:r>
                  <a:rPr lang="en-US" altLang="zh-TW" dirty="0" err="1" smtClean="0">
                    <a:latin typeface="+mn-ea"/>
                  </a:rPr>
                  <a:t>i</a:t>
                </a:r>
                <a:r>
                  <a:rPr lang="en-US" altLang="zh-TW" dirty="0" smtClean="0">
                    <a:latin typeface="+mn-ea"/>
                  </a:rPr>
                  <a:t>, j] = </a:t>
                </a:r>
                <a:r>
                  <a:rPr lang="en-US" altLang="zh-TW" dirty="0"/>
                  <a:t>-</a:t>
                </a: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TW" i="1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TW" dirty="0"/>
                  <a:t> ·</a:t>
                </a:r>
                <a:r>
                  <a:rPr lang="en-US" altLang="zh-TW" dirty="0" smtClean="0"/>
                  <a:t>6</a:t>
                </a:r>
                <a:r>
                  <a:rPr lang="en-US" altLang="zh-TW" baseline="30000" dirty="0"/>
                  <a:t>i</a:t>
                </a:r>
                <a:r>
                  <a:rPr lang="en-US" altLang="zh-TW" baseline="30000" dirty="0" smtClean="0"/>
                  <a:t> </a:t>
                </a:r>
                <a:r>
                  <a:rPr lang="en-US" altLang="zh-TW" dirty="0" smtClean="0">
                    <a:latin typeface="+mn-ea"/>
                  </a:rPr>
                  <a:t>+ (</a:t>
                </a:r>
                <a:r>
                  <a:rPr lang="en-US" altLang="zh-TW" dirty="0"/>
                  <a:t>-</a:t>
                </a:r>
                <a:r>
                  <a:rPr lang="en-US" altLang="zh-TW" dirty="0" smtClean="0"/>
                  <a:t>6</a:t>
                </a:r>
                <a:r>
                  <a:rPr lang="en-US" altLang="zh-TW" baseline="30000" dirty="0" smtClean="0"/>
                  <a:t>i-1</a:t>
                </a:r>
                <a:r>
                  <a:rPr lang="en-US" altLang="zh-TW" dirty="0" smtClean="0">
                    <a:latin typeface="+mn-ea"/>
                  </a:rPr>
                  <a:t>) = -12 + (-6) = </a:t>
                </a:r>
                <a:r>
                  <a:rPr lang="en-US" altLang="zh-TW" dirty="0"/>
                  <a:t>-</a:t>
                </a: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TW" dirty="0"/>
                  <a:t> ·</a:t>
                </a:r>
                <a:r>
                  <a:rPr lang="en-US" altLang="zh-TW" dirty="0" smtClean="0"/>
                  <a:t>6</a:t>
                </a:r>
                <a:r>
                  <a:rPr lang="en-US" altLang="zh-TW" baseline="30000" dirty="0" smtClean="0"/>
                  <a:t>i </a:t>
                </a:r>
                <a:r>
                  <a:rPr lang="en-US" altLang="zh-TW" dirty="0" smtClean="0"/>
                  <a:t>       for j&gt;</a:t>
                </a:r>
                <a:r>
                  <a:rPr lang="en-US" altLang="zh-TW" dirty="0" err="1" smtClean="0"/>
                  <a:t>i</a:t>
                </a:r>
                <a:r>
                  <a:rPr lang="en-US" altLang="zh-TW" dirty="0" smtClean="0"/>
                  <a:t>     proves</a:t>
                </a:r>
                <a:r>
                  <a:rPr lang="en-US" altLang="zh-TW" dirty="0" smtClean="0">
                    <a:latin typeface="+mn-ea"/>
                  </a:rPr>
                  <a:t>(2)</a:t>
                </a:r>
                <a:endParaRPr lang="zh-TW" altLang="en-US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962" y="4859976"/>
                <a:ext cx="7782259" cy="761875"/>
              </a:xfrm>
              <a:prstGeom prst="rect">
                <a:avLst/>
              </a:prstGeom>
              <a:blipFill rotWithShape="1">
                <a:blip r:embed="rId3"/>
                <a:stretch>
                  <a:fillRect l="-6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1072695" y="5260697"/>
                <a:ext cx="7897675" cy="7618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dirty="0" smtClean="0">
                    <a:latin typeface="+mn-ea"/>
                  </a:rPr>
                  <a:t>M[j, </a:t>
                </a:r>
                <a:r>
                  <a:rPr lang="en-US" altLang="zh-TW" dirty="0" err="1" smtClean="0">
                    <a:latin typeface="+mn-ea"/>
                  </a:rPr>
                  <a:t>i</a:t>
                </a:r>
                <a:r>
                  <a:rPr lang="en-US" altLang="zh-TW" dirty="0" smtClean="0">
                    <a:latin typeface="+mn-ea"/>
                  </a:rPr>
                  <a:t>] = M[j, </a:t>
                </a:r>
                <a:r>
                  <a:rPr lang="en-US" altLang="zh-TW" dirty="0" err="1" smtClean="0">
                    <a:latin typeface="+mn-ea"/>
                  </a:rPr>
                  <a:t>i</a:t>
                </a:r>
                <a:r>
                  <a:rPr lang="en-US" altLang="zh-TW" dirty="0" smtClean="0">
                    <a:latin typeface="+mn-ea"/>
                  </a:rPr>
                  <a:t>] + M[</a:t>
                </a:r>
                <a:r>
                  <a:rPr lang="en-US" altLang="zh-TW" dirty="0" err="1" smtClean="0">
                    <a:latin typeface="+mn-ea"/>
                  </a:rPr>
                  <a:t>i</a:t>
                </a:r>
                <a:r>
                  <a:rPr lang="en-US" altLang="zh-TW" dirty="0" smtClean="0">
                    <a:latin typeface="+mn-ea"/>
                  </a:rPr>
                  <a:t>, </a:t>
                </a:r>
                <a:r>
                  <a:rPr lang="en-US" altLang="zh-TW" dirty="0" err="1" smtClean="0">
                    <a:latin typeface="+mn-ea"/>
                  </a:rPr>
                  <a:t>i</a:t>
                </a:r>
                <a:r>
                  <a:rPr lang="en-US" altLang="zh-TW" dirty="0" smtClean="0">
                    <a:latin typeface="+mn-ea"/>
                  </a:rPr>
                  <a:t>] = </a:t>
                </a:r>
                <a:r>
                  <a:rPr lang="en-US" altLang="zh-TW" dirty="0" smtClean="0"/>
                  <a:t>-6</a:t>
                </a:r>
                <a:r>
                  <a:rPr lang="en-US" altLang="zh-TW" baseline="30000" dirty="0" smtClean="0"/>
                  <a:t>i-1</a:t>
                </a:r>
                <a:r>
                  <a:rPr lang="en-US" altLang="zh-TW" dirty="0" smtClean="0">
                    <a:latin typeface="+mn-ea"/>
                  </a:rPr>
                  <a:t> +(</a:t>
                </a:r>
                <a:r>
                  <a:rPr lang="en-US" altLang="zh-TW" dirty="0"/>
                  <a:t>-</a:t>
                </a: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TW" i="1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TW" dirty="0"/>
                  <a:t> ·</a:t>
                </a:r>
                <a:r>
                  <a:rPr lang="en-US" altLang="zh-TW" dirty="0" smtClean="0"/>
                  <a:t>6</a:t>
                </a:r>
                <a:r>
                  <a:rPr lang="en-US" altLang="zh-TW" baseline="30000" dirty="0"/>
                  <a:t>i</a:t>
                </a:r>
                <a:r>
                  <a:rPr lang="en-US" altLang="zh-TW" baseline="30000" dirty="0" smtClean="0"/>
                  <a:t>  </a:t>
                </a:r>
                <a:r>
                  <a:rPr lang="en-US" altLang="zh-TW" dirty="0" smtClean="0"/>
                  <a:t>)</a:t>
                </a:r>
                <a:r>
                  <a:rPr lang="en-US" altLang="zh-TW" dirty="0" smtClean="0">
                    <a:latin typeface="+mn-ea"/>
                  </a:rPr>
                  <a:t>= -12 + (-6) = </a:t>
                </a:r>
                <a:r>
                  <a:rPr lang="en-US" altLang="zh-TW" dirty="0"/>
                  <a:t>-</a:t>
                </a: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TW" dirty="0"/>
                  <a:t> ·</a:t>
                </a:r>
                <a:r>
                  <a:rPr lang="en-US" altLang="zh-TW" dirty="0" smtClean="0"/>
                  <a:t>6</a:t>
                </a:r>
                <a:r>
                  <a:rPr lang="en-US" altLang="zh-TW" baseline="30000" dirty="0" smtClean="0"/>
                  <a:t>i            </a:t>
                </a:r>
                <a:r>
                  <a:rPr lang="en-US" altLang="zh-TW" dirty="0" smtClean="0"/>
                  <a:t>for </a:t>
                </a:r>
                <a:r>
                  <a:rPr lang="en-US" altLang="zh-TW" dirty="0"/>
                  <a:t>j&gt;</a:t>
                </a:r>
                <a:r>
                  <a:rPr lang="en-US" altLang="zh-TW" dirty="0" err="1"/>
                  <a:t>i</a:t>
                </a:r>
                <a:r>
                  <a:rPr lang="en-US" altLang="zh-TW" dirty="0" smtClean="0"/>
                  <a:t>     proves</a:t>
                </a:r>
                <a:r>
                  <a:rPr lang="en-US" altLang="zh-TW" dirty="0" smtClean="0">
                    <a:latin typeface="+mn-ea"/>
                  </a:rPr>
                  <a:t>(3)</a:t>
                </a:r>
                <a:endParaRPr lang="zh-TW" altLang="en-US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695" y="5260697"/>
                <a:ext cx="7897675" cy="761875"/>
              </a:xfrm>
              <a:prstGeom prst="rect">
                <a:avLst/>
              </a:prstGeom>
              <a:blipFill rotWithShape="1">
                <a:blip r:embed="rId4"/>
                <a:stretch>
                  <a:fillRect l="-6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/>
              <p:cNvSpPr/>
              <p:nvPr/>
            </p:nvSpPr>
            <p:spPr>
              <a:xfrm>
                <a:off x="1075604" y="5684076"/>
                <a:ext cx="8320931" cy="7604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dirty="0" smtClean="0">
                    <a:latin typeface="+mn-ea"/>
                  </a:rPr>
                  <a:t>M[i+1, </a:t>
                </a:r>
                <a:r>
                  <a:rPr lang="en-US" altLang="zh-TW" dirty="0">
                    <a:latin typeface="+mn-ea"/>
                  </a:rPr>
                  <a:t>j</a:t>
                </a:r>
                <a:r>
                  <a:rPr lang="en-US" altLang="zh-TW" dirty="0" smtClean="0">
                    <a:latin typeface="+mn-ea"/>
                  </a:rPr>
                  <a:t>] = M[i+1, </a:t>
                </a:r>
                <a:r>
                  <a:rPr lang="en-US" altLang="zh-TW" dirty="0" err="1" smtClean="0">
                    <a:latin typeface="+mn-ea"/>
                  </a:rPr>
                  <a:t>i</a:t>
                </a:r>
                <a:r>
                  <a:rPr lang="en-US" altLang="zh-TW" dirty="0" smtClean="0">
                    <a:latin typeface="+mn-ea"/>
                  </a:rPr>
                  <a:t>] + M[</a:t>
                </a:r>
                <a:r>
                  <a:rPr lang="en-US" altLang="zh-TW" dirty="0" err="1" smtClean="0">
                    <a:latin typeface="+mn-ea"/>
                  </a:rPr>
                  <a:t>i</a:t>
                </a:r>
                <a:r>
                  <a:rPr lang="en-US" altLang="zh-TW" dirty="0" smtClean="0">
                    <a:latin typeface="+mn-ea"/>
                  </a:rPr>
                  <a:t>, </a:t>
                </a:r>
                <a:r>
                  <a:rPr lang="en-US" altLang="zh-TW" dirty="0">
                    <a:latin typeface="+mn-ea"/>
                  </a:rPr>
                  <a:t>j</a:t>
                </a:r>
                <a:r>
                  <a:rPr lang="en-US" altLang="zh-TW" dirty="0" smtClean="0">
                    <a:latin typeface="+mn-ea"/>
                  </a:rPr>
                  <a:t>] = </a:t>
                </a:r>
                <a:r>
                  <a:rPr lang="en-US" altLang="zh-TW" dirty="0"/>
                  <a:t>-</a:t>
                </a: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TW" i="1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TW" dirty="0"/>
                  <a:t> ·6</a:t>
                </a:r>
                <a:r>
                  <a:rPr lang="en-US" altLang="zh-TW" baseline="30000" dirty="0"/>
                  <a:t>i </a:t>
                </a:r>
                <a:r>
                  <a:rPr lang="en-US" altLang="zh-TW" dirty="0" smtClean="0">
                    <a:latin typeface="+mn-ea"/>
                  </a:rPr>
                  <a:t>+(</a:t>
                </a:r>
                <a:r>
                  <a:rPr lang="en-US" altLang="zh-TW" dirty="0"/>
                  <a:t>-</a:t>
                </a: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TW" dirty="0"/>
                  <a:t> ·</a:t>
                </a:r>
                <a:r>
                  <a:rPr lang="en-US" altLang="zh-TW" dirty="0" smtClean="0"/>
                  <a:t>6</a:t>
                </a:r>
                <a:r>
                  <a:rPr lang="en-US" altLang="zh-TW" baseline="30000" dirty="0"/>
                  <a:t>i</a:t>
                </a:r>
                <a:r>
                  <a:rPr lang="en-US" altLang="zh-TW" baseline="30000" dirty="0" smtClean="0"/>
                  <a:t>  </a:t>
                </a:r>
                <a:r>
                  <a:rPr lang="en-US" altLang="zh-TW" dirty="0" smtClean="0"/>
                  <a:t>)</a:t>
                </a:r>
                <a:r>
                  <a:rPr lang="en-US" altLang="zh-TW" dirty="0" smtClean="0">
                    <a:latin typeface="+mn-ea"/>
                  </a:rPr>
                  <a:t>= -18 + (-18) = </a:t>
                </a:r>
                <a:r>
                  <a:rPr lang="en-US" altLang="zh-TW" dirty="0" smtClean="0"/>
                  <a:t>-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altLang="zh-TW" dirty="0" smtClean="0"/>
                  <a:t>6</a:t>
                </a:r>
                <a:r>
                  <a:rPr lang="en-US" altLang="zh-TW" baseline="30000" dirty="0" smtClean="0"/>
                  <a:t>i     </a:t>
                </a:r>
                <a:r>
                  <a:rPr lang="en-US" altLang="zh-TW" dirty="0" smtClean="0"/>
                  <a:t>for </a:t>
                </a:r>
                <a:r>
                  <a:rPr lang="en-US" altLang="zh-TW" dirty="0" smtClean="0"/>
                  <a:t>j&gt;</a:t>
                </a:r>
                <a:r>
                  <a:rPr lang="en-US" altLang="zh-TW" dirty="0" err="1" smtClean="0"/>
                  <a:t>i</a:t>
                </a:r>
                <a:r>
                  <a:rPr lang="en-US" altLang="zh-TW" dirty="0" smtClean="0"/>
                  <a:t>  </a:t>
                </a:r>
                <a:r>
                  <a:rPr lang="en-US" altLang="zh-TW" dirty="0" smtClean="0"/>
                  <a:t>prove (4)</a:t>
                </a:r>
                <a:endParaRPr lang="zh-TW" altLang="en-US" dirty="0"/>
              </a:p>
              <a:p>
                <a:endParaRPr lang="zh-TW" altLang="en-US" dirty="0"/>
              </a:p>
            </p:txBody>
          </p:sp>
        </mc:Choice>
        <mc:Fallback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604" y="5684076"/>
                <a:ext cx="8320931" cy="760465"/>
              </a:xfrm>
              <a:prstGeom prst="rect">
                <a:avLst/>
              </a:prstGeom>
              <a:blipFill rotWithShape="1">
                <a:blip r:embed="rId5"/>
                <a:stretch>
                  <a:fillRect l="-5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8151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Exponentially Large Numbers in the Floyd–</a:t>
            </a:r>
            <a:r>
              <a:rPr lang="en-US" altLang="zh-TW" dirty="0" err="1"/>
              <a:t>Warshall</a:t>
            </a:r>
            <a:r>
              <a:rPr lang="en-US" altLang="zh-TW" dirty="0"/>
              <a:t> Algorithm</a:t>
            </a:r>
            <a:endParaRPr lang="zh-TW" altLang="en-US" dirty="0"/>
          </a:p>
        </p:txBody>
      </p:sp>
      <p:graphicFrame>
        <p:nvGraphicFramePr>
          <p:cNvPr id="12" name="內容版面配置區 1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0445215"/>
              </p:ext>
            </p:extLst>
          </p:nvPr>
        </p:nvGraphicFramePr>
        <p:xfrm>
          <a:off x="6084168" y="3901698"/>
          <a:ext cx="2952324" cy="2366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054"/>
                <a:gridCol w="492054"/>
                <a:gridCol w="492054"/>
                <a:gridCol w="492054"/>
                <a:gridCol w="492054"/>
                <a:gridCol w="492054"/>
              </a:tblGrid>
              <a:tr h="39449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vv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9449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  ...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9449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9449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v3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9449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 vert="eaVert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 vert="eaVert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94495"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vn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10</a:t>
            </a:fld>
            <a:endParaRPr lang="zh-TW" altLang="en-US"/>
          </a:p>
        </p:txBody>
      </p:sp>
      <p:graphicFrame>
        <p:nvGraphicFramePr>
          <p:cNvPr id="5" name="內容版面配置區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7759609"/>
              </p:ext>
            </p:extLst>
          </p:nvPr>
        </p:nvGraphicFramePr>
        <p:xfrm>
          <a:off x="1547664" y="1772816"/>
          <a:ext cx="2448272" cy="180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68"/>
                <a:gridCol w="612068"/>
                <a:gridCol w="612068"/>
                <a:gridCol w="612068"/>
              </a:tblGrid>
              <a:tr h="452120">
                <a:tc>
                  <a:txBody>
                    <a:bodyPr/>
                    <a:lstStyle/>
                    <a:p>
                      <a:r>
                        <a:rPr lang="en-US" altLang="zh-TW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=v2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v1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v2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v3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-2</a:t>
                      </a:r>
                      <a:endParaRPr lang="zh-TW" altLang="en-US" b="0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-12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-18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v3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-18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-36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內容版面配置區 3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6690252"/>
              </p:ext>
            </p:extLst>
          </p:nvPr>
        </p:nvGraphicFramePr>
        <p:xfrm>
          <a:off x="5004048" y="1772816"/>
          <a:ext cx="2448272" cy="180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68"/>
                <a:gridCol w="612068"/>
                <a:gridCol w="612068"/>
                <a:gridCol w="612068"/>
              </a:tblGrid>
              <a:tr h="452120">
                <a:tc>
                  <a:txBody>
                    <a:bodyPr/>
                    <a:lstStyle/>
                    <a:p>
                      <a:r>
                        <a:rPr lang="en-US" altLang="zh-TW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=v3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v1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v2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dirty="0" smtClean="0">
                          <a:solidFill>
                            <a:schemeClr val="tx1"/>
                          </a:solidFill>
                        </a:rPr>
                        <a:t>v3</a:t>
                      </a:r>
                      <a:endParaRPr lang="zh-TW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v1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0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-2</a:t>
                      </a:r>
                      <a:endParaRPr lang="zh-TW" altLang="en-US" b="0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v2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-12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-18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45212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v3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-18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rgbClr val="C00000"/>
                          </a:solidFill>
                        </a:rPr>
                        <a:t>-72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向右箭號 6"/>
          <p:cNvSpPr/>
          <p:nvPr/>
        </p:nvSpPr>
        <p:spPr>
          <a:xfrm>
            <a:off x="4139952" y="2445274"/>
            <a:ext cx="76238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539552" y="3717032"/>
            <a:ext cx="5950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 smtClean="0">
                <a:latin typeface="+mn-ea"/>
              </a:rPr>
              <a:t>i</a:t>
            </a:r>
            <a:r>
              <a:rPr lang="en-US" altLang="zh-TW" dirty="0" smtClean="0">
                <a:latin typeface="+mn-ea"/>
              </a:rPr>
              <a:t> = 3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791580" y="4086364"/>
                <a:ext cx="6696744" cy="7618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dirty="0" smtClean="0">
                    <a:latin typeface="+mn-ea"/>
                  </a:rPr>
                  <a:t>M[3, </a:t>
                </a:r>
                <a:r>
                  <a:rPr lang="en-US" altLang="zh-TW" dirty="0">
                    <a:latin typeface="+mn-ea"/>
                  </a:rPr>
                  <a:t>3</a:t>
                </a:r>
                <a:r>
                  <a:rPr lang="en-US" altLang="zh-TW" dirty="0" smtClean="0">
                    <a:latin typeface="+mn-ea"/>
                  </a:rPr>
                  <a:t>] = M[3, 3] + M[3, 3] = </a:t>
                </a:r>
                <a:r>
                  <a:rPr lang="en-US" altLang="zh-TW" dirty="0" smtClean="0"/>
                  <a:t>-6</a:t>
                </a:r>
                <a:r>
                  <a:rPr lang="en-US" altLang="zh-TW" baseline="30000" dirty="0" smtClean="0"/>
                  <a:t>2</a:t>
                </a:r>
                <a:r>
                  <a:rPr lang="en-US" altLang="zh-TW" dirty="0" smtClean="0">
                    <a:latin typeface="+mn-ea"/>
                  </a:rPr>
                  <a:t> +</a:t>
                </a:r>
                <a:r>
                  <a:rPr lang="en-US" altLang="zh-TW" dirty="0" smtClean="0"/>
                  <a:t> (-6</a:t>
                </a:r>
                <a:r>
                  <a:rPr lang="en-US" altLang="zh-TW" baseline="30000" dirty="0" smtClean="0"/>
                  <a:t>2</a:t>
                </a:r>
                <a:r>
                  <a:rPr lang="en-US" altLang="zh-TW" dirty="0" smtClean="0">
                    <a:latin typeface="+mn-ea"/>
                  </a:rPr>
                  <a:t> ) = </a:t>
                </a:r>
                <a:r>
                  <a:rPr lang="en-US" altLang="zh-TW" dirty="0">
                    <a:latin typeface="+mn-ea"/>
                  </a:rPr>
                  <a:t>-72 </a:t>
                </a:r>
                <a:r>
                  <a:rPr lang="en-US" altLang="zh-TW" dirty="0" smtClean="0">
                    <a:latin typeface="+mn-ea"/>
                  </a:rPr>
                  <a:t> = </a:t>
                </a:r>
                <a:r>
                  <a:rPr lang="en-US" altLang="zh-TW" dirty="0" smtClean="0"/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TW" i="1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TW" dirty="0"/>
                  <a:t> ·</a:t>
                </a:r>
                <a:r>
                  <a:rPr lang="en-US" altLang="zh-TW" dirty="0" smtClean="0"/>
                  <a:t>6</a:t>
                </a:r>
                <a:r>
                  <a:rPr lang="en-US" altLang="zh-TW" baseline="30000" dirty="0" smtClean="0"/>
                  <a:t>3</a:t>
                </a:r>
                <a:r>
                  <a:rPr lang="en-US" altLang="zh-TW" dirty="0" smtClean="0">
                    <a:latin typeface="+mn-ea"/>
                  </a:rPr>
                  <a:t> </a:t>
                </a:r>
                <a:endParaRPr lang="zh-TW" altLang="en-US" dirty="0"/>
              </a:p>
              <a:p>
                <a:r>
                  <a:rPr lang="en-US" altLang="zh-TW" dirty="0" smtClean="0"/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580" y="4086364"/>
                <a:ext cx="6696744" cy="761875"/>
              </a:xfrm>
              <a:prstGeom prst="rect">
                <a:avLst/>
              </a:prstGeom>
              <a:blipFill rotWithShape="1">
                <a:blip r:embed="rId2"/>
                <a:stretch>
                  <a:fillRect l="-8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564778" y="5373216"/>
                <a:ext cx="5663406" cy="7618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dirty="0" smtClean="0">
                    <a:latin typeface="+mn-ea"/>
                  </a:rPr>
                  <a:t>M[n, n] = M[n, n] + M[n, n] = </a:t>
                </a:r>
                <a:r>
                  <a:rPr lang="en-US" altLang="zh-TW" dirty="0"/>
                  <a:t>-</a:t>
                </a: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altLang="zh-TW" b="0" i="1" smtClean="0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TW" dirty="0"/>
                  <a:t> ·</a:t>
                </a:r>
                <a:r>
                  <a:rPr lang="en-US" altLang="zh-TW" smtClean="0"/>
                  <a:t>6</a:t>
                </a:r>
                <a:r>
                  <a:rPr lang="en-US" altLang="zh-TW" baseline="30000" smtClean="0"/>
                  <a:t>n  </a:t>
                </a:r>
                <a:r>
                  <a:rPr lang="en-US" altLang="zh-TW" smtClean="0">
                    <a:latin typeface="+mn-ea"/>
                  </a:rPr>
                  <a:t>= </a:t>
                </a:r>
                <a:r>
                  <a:rPr lang="en-US" altLang="zh-TW" dirty="0"/>
                  <a:t>-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/>
                      </a:rPr>
                      <m:t> </m:t>
                    </m:r>
                    <m:r>
                      <a:rPr lang="en-US" altLang="zh-TW" i="1" smtClean="0">
                        <a:latin typeface="Cambria Math"/>
                      </a:rPr>
                      <m:t>2</m:t>
                    </m:r>
                  </m:oMath>
                </a14:m>
                <a:r>
                  <a:rPr lang="en-US" altLang="zh-TW" dirty="0"/>
                  <a:t> ·</a:t>
                </a:r>
                <a:r>
                  <a:rPr lang="en-US" altLang="zh-TW" dirty="0" smtClean="0"/>
                  <a:t>6</a:t>
                </a:r>
                <a:r>
                  <a:rPr lang="en-US" altLang="zh-TW" baseline="30000" dirty="0" smtClean="0"/>
                  <a:t>n-1    </a:t>
                </a:r>
                <a:endParaRPr lang="zh-TW" altLang="en-US" dirty="0"/>
              </a:p>
              <a:p>
                <a:r>
                  <a:rPr lang="en-US" altLang="zh-TW" dirty="0" smtClean="0"/>
                  <a:t>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778" y="5373216"/>
                <a:ext cx="5663406" cy="761875"/>
              </a:xfrm>
              <a:prstGeom prst="rect">
                <a:avLst/>
              </a:prstGeom>
              <a:blipFill rotWithShape="1">
                <a:blip r:embed="rId3"/>
                <a:stretch>
                  <a:fillRect l="-9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/>
          <p:cNvSpPr/>
          <p:nvPr/>
        </p:nvSpPr>
        <p:spPr>
          <a:xfrm>
            <a:off x="6588224" y="3901698"/>
            <a:ext cx="4058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v1</a:t>
            </a:r>
            <a:endParaRPr lang="zh-TW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7082444" y="3901698"/>
            <a:ext cx="4058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v2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7596336" y="3901698"/>
            <a:ext cx="4058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v3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8604448" y="3901698"/>
            <a:ext cx="410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 smtClean="0"/>
              <a:t>vn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8172400" y="3901698"/>
            <a:ext cx="3433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…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532433" y="5003884"/>
            <a:ext cx="11576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when 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 = 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31515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1105</Words>
  <Application>Microsoft Office PowerPoint</Application>
  <PresentationFormat>如螢幕大小 (4:3)</PresentationFormat>
  <Paragraphs>295</Paragraphs>
  <Slides>10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1" baseType="lpstr">
      <vt:lpstr>Office 佈景主題</vt:lpstr>
      <vt:lpstr>The Floyd-Warshall Algorithm on Graphs with Negative Cycles </vt:lpstr>
      <vt:lpstr>Abstract</vt:lpstr>
      <vt:lpstr>Floyd–Warshall Algorithm</vt:lpstr>
      <vt:lpstr>Floyd–Warshall Algorithm</vt:lpstr>
      <vt:lpstr>Floyd–Warshall Algorithm</vt:lpstr>
      <vt:lpstr>Exponentially Large Numbers in the Floyd–Warshall Algorithm</vt:lpstr>
      <vt:lpstr>Exponentially Large Numbers in the Floyd–Warshall Algorithm</vt:lpstr>
      <vt:lpstr>Exponentially Large Numbers in the Floyd–Warshall Algorithm</vt:lpstr>
      <vt:lpstr>Exponentially Large Numbers in the Floyd–Warshall Algorithm</vt:lpstr>
      <vt:lpstr>Exponentially Large Numbers in the Floyd–Warshall Algorithm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Floyd-Warshall algorithm on graphs with negative cycles </dc:title>
  <dc:creator>sjiujj</dc:creator>
  <cp:lastModifiedBy>shiujj</cp:lastModifiedBy>
  <cp:revision>30</cp:revision>
  <dcterms:created xsi:type="dcterms:W3CDTF">2013-01-07T14:25:08Z</dcterms:created>
  <dcterms:modified xsi:type="dcterms:W3CDTF">2013-01-08T09:49:46Z</dcterms:modified>
</cp:coreProperties>
</file>