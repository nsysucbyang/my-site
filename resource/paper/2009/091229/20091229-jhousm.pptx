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  <p:sldId id="264" r:id="rId4"/>
    <p:sldId id="258" r:id="rId5"/>
    <p:sldId id="259" r:id="rId6"/>
    <p:sldId id="260" r:id="rId7"/>
    <p:sldId id="261" r:id="rId8"/>
    <p:sldId id="262" r:id="rId9"/>
    <p:sldId id="265" r:id="rId10"/>
    <p:sldId id="266" r:id="rId11"/>
    <p:sldId id="267" r:id="rId12"/>
    <p:sldId id="268" r:id="rId13"/>
    <p:sldId id="269" r:id="rId14"/>
    <p:sldId id="270" r:id="rId15"/>
  </p:sldIdLst>
  <p:sldSz cx="9144000" cy="6858000" type="screen4x3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charset="-120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9" d="100"/>
          <a:sy n="89" d="100"/>
        </p:scale>
        <p:origin x="-102" y="-54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F38E888-1DCA-4533-AA6D-ABC44D1F2C8A}" type="datetimeFigureOut">
              <a:rPr lang="zh-TW" altLang="en-US"/>
              <a:pPr>
                <a:defRPr/>
              </a:pPr>
              <a:t>2009/12/29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D100104-7905-49EE-81F6-F005D98828B7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58CAC7-98A7-49F8-A4A8-6F14D1155E12}" type="datetimeFigureOut">
              <a:rPr lang="zh-TW" altLang="en-US"/>
              <a:pPr>
                <a:defRPr/>
              </a:pPr>
              <a:t>2009/12/29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DFE581-998C-49D9-9222-ADE798D0C52F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56139E-8529-4F19-AA50-719E4D624FEB}" type="datetimeFigureOut">
              <a:rPr lang="zh-TW" altLang="en-US"/>
              <a:pPr>
                <a:defRPr/>
              </a:pPr>
              <a:t>2009/12/29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AB0DFB-A58E-4E2D-91A1-3BC3CA50E76E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411324-0F8B-427B-8885-6F81C3534E0F}" type="datetimeFigureOut">
              <a:rPr lang="zh-TW" altLang="en-US"/>
              <a:pPr>
                <a:defRPr/>
              </a:pPr>
              <a:t>2009/12/29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5EDA6D-5940-4FDC-860A-6B133445CED5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D1CD51-D1EB-4691-A050-F83478EEF964}" type="datetimeFigureOut">
              <a:rPr lang="zh-TW" altLang="en-US"/>
              <a:pPr>
                <a:defRPr/>
              </a:pPr>
              <a:t>2009/12/29</a:t>
            </a:fld>
            <a:endParaRPr lang="zh-TW" altLang="en-US"/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38FDBD-56F2-44F3-AA2F-0D10D6A925B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F0C574-7F8A-40A9-9A9F-3A9AFF9DDB35}" type="datetimeFigureOut">
              <a:rPr lang="zh-TW" altLang="en-US"/>
              <a:pPr>
                <a:defRPr/>
              </a:pPr>
              <a:t>2009/12/29</a:t>
            </a:fld>
            <a:endParaRPr lang="zh-TW" altLang="en-US"/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BBEF98-50C1-4A4C-B233-DBDC0F8B3292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DBDCEB-AF42-4DEF-B828-4DE6DEBFAD86}" type="datetimeFigureOut">
              <a:rPr lang="zh-TW" altLang="en-US"/>
              <a:pPr>
                <a:defRPr/>
              </a:pPr>
              <a:t>2009/12/29</a:t>
            </a:fld>
            <a:endParaRPr lang="zh-TW" altLang="en-US"/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582182-CA6F-45B1-B887-38B0AB11854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02CCF9-510B-4CEC-AACE-6B3514B44CFF}" type="datetimeFigureOut">
              <a:rPr lang="zh-TW" altLang="en-US"/>
              <a:pPr>
                <a:defRPr/>
              </a:pPr>
              <a:t>2009/12/29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41A26C-B481-4740-AAA2-1F2309D064D2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549474-C0AF-435C-8C4E-89861B3DF158}" type="datetimeFigureOut">
              <a:rPr lang="zh-TW" altLang="en-US"/>
              <a:pPr>
                <a:defRPr/>
              </a:pPr>
              <a:t>2009/12/29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14F16EC-1FBD-4892-9E4F-F63E635008D9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B9C9D6-2689-44BB-8950-471669833F01}" type="datetimeFigureOut">
              <a:rPr lang="zh-TW" altLang="en-US"/>
              <a:pPr>
                <a:defRPr/>
              </a:pPr>
              <a:t>2009/12/29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A7EB542-F815-4DC0-B01E-CB424A7016C3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4C6D3F-B1B3-432A-B0C2-74C7F1CEB4BE}" type="datetimeFigureOut">
              <a:rPr lang="zh-TW" altLang="en-US"/>
              <a:pPr>
                <a:defRPr/>
              </a:pPr>
              <a:t>2009/12/29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71DCFE-B6B7-44C7-9827-B06D83C923B9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2F76A1BC-A3CA-42A3-A992-5F69FE2689C6}" type="datetimeFigureOut">
              <a:rPr lang="zh-TW" altLang="en-US"/>
              <a:pPr>
                <a:defRPr/>
              </a:pPr>
              <a:t>2009/12/29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B4336AB1-ED90-4C9B-B250-1B68C54EF8E2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4" r:id="rId2"/>
    <p:sldLayoutId id="2147483693" r:id="rId3"/>
    <p:sldLayoutId id="2147483692" r:id="rId4"/>
    <p:sldLayoutId id="2147483691" r:id="rId5"/>
    <p:sldLayoutId id="2147483690" r:id="rId6"/>
    <p:sldLayoutId id="2147483689" r:id="rId7"/>
    <p:sldLayoutId id="2147483688" r:id="rId8"/>
    <p:sldLayoutId id="2147483687" r:id="rId9"/>
    <p:sldLayoutId id="2147483686" r:id="rId10"/>
    <p:sldLayoutId id="2147483685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 New Roman" pitchFamily="18" charset="0"/>
          <a:ea typeface="新細明體" charset="-12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 New Roman" pitchFamily="18" charset="0"/>
          <a:ea typeface="新細明體" charset="-12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 New Roman" pitchFamily="18" charset="0"/>
          <a:ea typeface="新細明體" charset="-12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 New Roman" pitchFamily="18" charset="0"/>
          <a:ea typeface="新細明體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 New Roman" pitchFamily="18" charset="0"/>
          <a:ea typeface="新細明體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 New Roman" pitchFamily="18" charset="0"/>
          <a:ea typeface="新細明體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 New Roman" pitchFamily="18" charset="0"/>
          <a:ea typeface="新細明體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 New Roman" pitchFamily="18" charset="0"/>
          <a:ea typeface="新細明體" charset="-12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標題 1"/>
          <p:cNvSpPr>
            <a:spLocks noGrp="1"/>
          </p:cNvSpPr>
          <p:nvPr>
            <p:ph type="ctrTitle"/>
          </p:nvPr>
        </p:nvSpPr>
        <p:spPr>
          <a:xfrm>
            <a:off x="250825" y="1700213"/>
            <a:ext cx="8496300" cy="1470025"/>
          </a:xfrm>
        </p:spPr>
        <p:txBody>
          <a:bodyPr/>
          <a:lstStyle/>
          <a:p>
            <a:r>
              <a:rPr lang="en-US" altLang="zh-TW" sz="3200" smtClean="0"/>
              <a:t>Disjoint pattern matching and implication in string</a:t>
            </a:r>
            <a:endParaRPr lang="zh-TW" altLang="en-US" sz="3200" smtClean="0"/>
          </a:p>
        </p:txBody>
      </p:sp>
      <p:sp>
        <p:nvSpPr>
          <p:cNvPr id="13314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TW" sz="1800" smtClean="0">
                <a:solidFill>
                  <a:schemeClr val="tx1"/>
                </a:solidFill>
              </a:rPr>
              <a:t>Leonid Libkin, Cristina Sirangelo,</a:t>
            </a:r>
          </a:p>
          <a:p>
            <a:endParaRPr lang="en-US" altLang="zh-TW" sz="1800" smtClean="0">
              <a:solidFill>
                <a:schemeClr val="tx1"/>
              </a:solidFill>
            </a:endParaRPr>
          </a:p>
          <a:p>
            <a:r>
              <a:rPr lang="en-US" altLang="zh-TW" sz="1800" smtClean="0">
                <a:solidFill>
                  <a:schemeClr val="tx1"/>
                </a:solidFill>
              </a:rPr>
              <a:t>Information Processong Letters 110 (2010) 142 - 147</a:t>
            </a:r>
            <a:endParaRPr lang="zh-TW" altLang="en-US" sz="1800" smtClean="0">
              <a:solidFill>
                <a:schemeClr val="tx1"/>
              </a:solidFill>
            </a:endParaRPr>
          </a:p>
        </p:txBody>
      </p:sp>
      <p:sp>
        <p:nvSpPr>
          <p:cNvPr id="13315" name="Text Box 6"/>
          <p:cNvSpPr txBox="1">
            <a:spLocks noChangeArrowheads="1"/>
          </p:cNvSpPr>
          <p:nvPr/>
        </p:nvSpPr>
        <p:spPr bwMode="auto">
          <a:xfrm>
            <a:off x="6156325" y="5345113"/>
            <a:ext cx="2055813" cy="560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</a:pPr>
            <a:r>
              <a:rPr kumimoji="0" lang="en-US" altLang="zh-TW" sz="1400">
                <a:latin typeface="Times New Roman" pitchFamily="18" charset="0"/>
              </a:rPr>
              <a:t>Presenter : siao-ming jhou</a:t>
            </a:r>
          </a:p>
          <a:p>
            <a:pPr>
              <a:spcBef>
                <a:spcPct val="20000"/>
              </a:spcBef>
            </a:pPr>
            <a:r>
              <a:rPr kumimoji="0" lang="en-US" altLang="zh-TW" sz="1400">
                <a:latin typeface="Times New Roman" pitchFamily="18" charset="0"/>
              </a:rPr>
              <a:t>Date : Dec. 29, 2009</a:t>
            </a:r>
            <a:endParaRPr kumimoji="0" lang="en-US" altLang="zh-TW">
              <a:latin typeface="Tahoma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mtClean="0"/>
              <a:t>ABSTRACT</a:t>
            </a:r>
            <a:endParaRPr lang="zh-TW" altLang="en-US" smtClean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charset="0"/>
              <a:buNone/>
            </a:pPr>
            <a:r>
              <a:rPr lang="en-US" altLang="zh-TW" sz="2400" smtClean="0"/>
              <a:t>	We deal with the problem of deciding whether a given set of string patterns implies the presence of a fixed pattern. While checking whether a set of patterns occurs in a string is solvable in polynomial time, this implication problem is well known to be intractable. Here we consider a version of the problem when patterns in the set are required to be disjoint. We show that for such a version of the problem the situation is reversed: checking whether a set of patterns occurs in a string is NP-complete, but the implication problem is solvable in polynomial time.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符號介紹</a:t>
            </a:r>
          </a:p>
        </p:txBody>
      </p:sp>
      <p:sp>
        <p:nvSpPr>
          <p:cNvPr id="15365" name="Rectangle 5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zh-TW" i="1" smtClean="0"/>
              <a:t>L</a:t>
            </a:r>
            <a:r>
              <a:rPr lang="zh-TW" altLang="en-US" smtClean="0"/>
              <a:t>：</a:t>
            </a:r>
            <a:r>
              <a:rPr lang="en-US" altLang="zh-TW" smtClean="0"/>
              <a:t>a set of letters ex:{ a , c , d , f , g,…..}</a:t>
            </a:r>
          </a:p>
          <a:p>
            <a:pPr>
              <a:lnSpc>
                <a:spcPct val="90000"/>
              </a:lnSpc>
            </a:pPr>
            <a:r>
              <a:rPr lang="en-US" altLang="zh-TW" smtClean="0"/>
              <a:t>_ </a:t>
            </a:r>
            <a:r>
              <a:rPr lang="zh-TW" altLang="en-US" smtClean="0"/>
              <a:t>：</a:t>
            </a:r>
            <a:r>
              <a:rPr lang="en-US" altLang="zh-TW" smtClean="0"/>
              <a:t>is a special symbol (wildcard) not in </a:t>
            </a:r>
            <a:r>
              <a:rPr lang="en-US" altLang="zh-TW" i="1" smtClean="0"/>
              <a:t>L</a:t>
            </a:r>
          </a:p>
          <a:p>
            <a:pPr>
              <a:lnSpc>
                <a:spcPct val="90000"/>
              </a:lnSpc>
            </a:pPr>
            <a:r>
              <a:rPr lang="en-US" altLang="zh-TW" i="1" smtClean="0"/>
              <a:t>s </a:t>
            </a:r>
            <a:r>
              <a:rPr lang="en-US" altLang="zh-TW" smtClean="0">
                <a:cs typeface="Times New Roman" pitchFamily="18" charset="0"/>
              </a:rPr>
              <a:t>╞</a:t>
            </a:r>
            <a:r>
              <a:rPr lang="en-US" altLang="zh-TW" i="1" smtClean="0"/>
              <a:t>π</a:t>
            </a:r>
            <a:r>
              <a:rPr lang="zh-TW" altLang="en-US" smtClean="0"/>
              <a:t>：</a:t>
            </a:r>
            <a:r>
              <a:rPr lang="en-US" altLang="zh-TW" i="1" smtClean="0"/>
              <a:t>s </a:t>
            </a:r>
            <a:r>
              <a:rPr lang="en-US" altLang="zh-TW" smtClean="0"/>
              <a:t>= </a:t>
            </a:r>
            <a:r>
              <a:rPr lang="en-US" altLang="zh-TW" i="1" smtClean="0"/>
              <a:t>a</a:t>
            </a:r>
            <a:r>
              <a:rPr lang="en-US" altLang="zh-TW" baseline="-25000" smtClean="0"/>
              <a:t>0</a:t>
            </a:r>
            <a:r>
              <a:rPr lang="en-US" altLang="zh-TW" smtClean="0"/>
              <a:t> </a:t>
            </a:r>
            <a:r>
              <a:rPr lang="en-US" altLang="zh-TW" i="1" smtClean="0"/>
              <a:t>. . .a</a:t>
            </a:r>
            <a:r>
              <a:rPr lang="en-US" altLang="zh-TW" i="1" baseline="-25000" smtClean="0"/>
              <a:t>n</a:t>
            </a:r>
            <a:r>
              <a:rPr lang="en-US" altLang="zh-TW" baseline="-25000" smtClean="0"/>
              <a:t>−1</a:t>
            </a:r>
            <a:r>
              <a:rPr lang="en-US" altLang="zh-TW" smtClean="0"/>
              <a:t> and </a:t>
            </a:r>
            <a:r>
              <a:rPr lang="en-US" altLang="zh-TW" i="1" smtClean="0"/>
              <a:t>π </a:t>
            </a:r>
            <a:r>
              <a:rPr lang="en-US" altLang="zh-TW" smtClean="0"/>
              <a:t>=</a:t>
            </a:r>
            <a:r>
              <a:rPr lang="en-US" altLang="zh-TW" i="1" smtClean="0"/>
              <a:t>b</a:t>
            </a:r>
            <a:r>
              <a:rPr lang="en-US" altLang="zh-TW" baseline="-25000" smtClean="0"/>
              <a:t>0</a:t>
            </a:r>
            <a:r>
              <a:rPr lang="en-US" altLang="zh-TW" smtClean="0"/>
              <a:t> </a:t>
            </a:r>
            <a:r>
              <a:rPr lang="en-US" altLang="zh-TW" i="1" smtClean="0"/>
              <a:t>. . . b</a:t>
            </a:r>
            <a:r>
              <a:rPr lang="en-US" altLang="zh-TW" baseline="-25000" smtClean="0"/>
              <a:t>m−1</a:t>
            </a:r>
            <a:r>
              <a:rPr lang="en-US" altLang="zh-TW" smtClean="0"/>
              <a:t>, then </a:t>
            </a:r>
            <a:r>
              <a:rPr lang="en-US" altLang="zh-TW" i="1" smtClean="0"/>
              <a:t>s </a:t>
            </a:r>
            <a:r>
              <a:rPr lang="en-US" altLang="zh-TW" smtClean="0">
                <a:cs typeface="Times New Roman" pitchFamily="18" charset="0"/>
              </a:rPr>
              <a:t>╞</a:t>
            </a:r>
            <a:r>
              <a:rPr lang="en-US" altLang="zh-TW" i="1" smtClean="0"/>
              <a:t> π </a:t>
            </a:r>
            <a:r>
              <a:rPr lang="en-US" altLang="zh-TW" smtClean="0"/>
              <a:t>if there is a number </a:t>
            </a:r>
            <a:r>
              <a:rPr lang="en-US" altLang="zh-TW" i="1" smtClean="0"/>
              <a:t>j</a:t>
            </a:r>
            <a:r>
              <a:rPr lang="en-US" altLang="zh-TW" i="1" smtClean="0">
                <a:cs typeface="Times New Roman" pitchFamily="18" charset="0"/>
              </a:rPr>
              <a:t>≤ </a:t>
            </a:r>
            <a:r>
              <a:rPr lang="en-US" altLang="zh-TW" i="1" smtClean="0"/>
              <a:t>n </a:t>
            </a:r>
            <a:r>
              <a:rPr lang="en-US" altLang="zh-TW" smtClean="0"/>
              <a:t>−</a:t>
            </a:r>
            <a:r>
              <a:rPr lang="en-US" altLang="zh-TW" i="1" smtClean="0"/>
              <a:t>m </a:t>
            </a:r>
            <a:r>
              <a:rPr lang="en-US" altLang="zh-TW" smtClean="0"/>
              <a:t>so that for each </a:t>
            </a:r>
            <a:r>
              <a:rPr lang="en-US" altLang="zh-TW" i="1" smtClean="0"/>
              <a:t>b</a:t>
            </a:r>
            <a:r>
              <a:rPr lang="en-US" altLang="zh-TW" i="1" baseline="-25000" smtClean="0"/>
              <a:t>i</a:t>
            </a:r>
            <a:r>
              <a:rPr lang="en-US" altLang="zh-TW" i="1" smtClean="0"/>
              <a:t> </a:t>
            </a:r>
            <a:r>
              <a:rPr lang="en-US" altLang="zh-TW" smtClean="0"/>
              <a:t>that is not a wildcard, we have </a:t>
            </a:r>
            <a:r>
              <a:rPr lang="en-US" altLang="zh-TW" i="1" smtClean="0"/>
              <a:t>b</a:t>
            </a:r>
            <a:r>
              <a:rPr lang="en-US" altLang="zh-TW" i="1" baseline="-25000" smtClean="0"/>
              <a:t>i</a:t>
            </a:r>
            <a:r>
              <a:rPr lang="en-US" altLang="zh-TW" i="1" smtClean="0"/>
              <a:t> </a:t>
            </a:r>
            <a:r>
              <a:rPr lang="en-US" altLang="zh-TW" smtClean="0"/>
              <a:t>=</a:t>
            </a:r>
            <a:r>
              <a:rPr lang="en-US" altLang="zh-TW" i="1" smtClean="0"/>
              <a:t>a</a:t>
            </a:r>
            <a:r>
              <a:rPr lang="en-US" altLang="zh-TW" i="1" baseline="-25000" smtClean="0"/>
              <a:t>i</a:t>
            </a:r>
            <a:r>
              <a:rPr lang="en-US" altLang="zh-TW" baseline="-25000" smtClean="0"/>
              <a:t>+</a:t>
            </a:r>
            <a:r>
              <a:rPr lang="en-US" altLang="zh-TW" i="1" baseline="-25000" smtClean="0"/>
              <a:t>j</a:t>
            </a:r>
            <a:r>
              <a:rPr lang="zh-TW" altLang="en-US" i="1" baseline="-25000" smtClean="0"/>
              <a:t>。</a:t>
            </a:r>
          </a:p>
          <a:p>
            <a:pPr>
              <a:lnSpc>
                <a:spcPct val="90000"/>
              </a:lnSpc>
            </a:pPr>
            <a:r>
              <a:rPr lang="en-US" altLang="zh-TW" i="1" smtClean="0"/>
              <a:t>ex:s=cdaafgcgad   </a:t>
            </a:r>
          </a:p>
          <a:p>
            <a:pPr>
              <a:lnSpc>
                <a:spcPct val="90000"/>
              </a:lnSpc>
              <a:buFont typeface="Arial" charset="0"/>
              <a:buNone/>
            </a:pPr>
            <a:r>
              <a:rPr lang="zh-TW" altLang="en-US" i="1" smtClean="0"/>
              <a:t>	</a:t>
            </a:r>
            <a:r>
              <a:rPr lang="en-US" altLang="zh-TW" i="1" smtClean="0"/>
              <a:t>π</a:t>
            </a:r>
            <a:r>
              <a:rPr lang="en-US" altLang="zh-TW" smtClean="0"/>
              <a:t>={daaf}</a:t>
            </a:r>
          </a:p>
          <a:p>
            <a:pPr>
              <a:lnSpc>
                <a:spcPct val="90000"/>
              </a:lnSpc>
              <a:buFont typeface="Arial" charset="0"/>
              <a:buNone/>
            </a:pPr>
            <a:r>
              <a:rPr lang="en-US" altLang="zh-TW" i="1" smtClean="0"/>
              <a:t>  Π</a:t>
            </a:r>
            <a:r>
              <a:rPr lang="zh-TW" altLang="en-US" smtClean="0"/>
              <a:t>：</a:t>
            </a:r>
            <a:r>
              <a:rPr lang="en-US" altLang="zh-TW" smtClean="0"/>
              <a:t>{daaf,fgc,gad}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標題 1"/>
          <p:cNvSpPr>
            <a:spLocks noGrp="1"/>
          </p:cNvSpPr>
          <p:nvPr>
            <p:ph type="title"/>
          </p:nvPr>
        </p:nvSpPr>
        <p:spPr>
          <a:xfrm>
            <a:off x="395288" y="260350"/>
            <a:ext cx="8229600" cy="1143000"/>
          </a:xfrm>
        </p:spPr>
        <p:txBody>
          <a:bodyPr/>
          <a:lstStyle/>
          <a:p>
            <a:endParaRPr lang="zh-TW" altLang="en-US" smtClean="0"/>
          </a:p>
        </p:txBody>
      </p:sp>
      <p:sp>
        <p:nvSpPr>
          <p:cNvPr id="16386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mtClean="0"/>
              <a:t>If  s </a:t>
            </a:r>
            <a:r>
              <a:rPr lang="en-US" altLang="zh-TW" smtClean="0">
                <a:cs typeface="Times New Roman" pitchFamily="18" charset="0"/>
              </a:rPr>
              <a:t>╞ </a:t>
            </a:r>
            <a:r>
              <a:rPr lang="en-US" altLang="zh-TW" i="1" smtClean="0"/>
              <a:t>π whenever s </a:t>
            </a:r>
            <a:r>
              <a:rPr lang="en-US" altLang="zh-TW" smtClean="0">
                <a:cs typeface="Times New Roman" pitchFamily="18" charset="0"/>
              </a:rPr>
              <a:t>╞ </a:t>
            </a:r>
            <a:r>
              <a:rPr lang="en-US" altLang="zh-TW" i="1" smtClean="0"/>
              <a:t>Π,</a:t>
            </a:r>
          </a:p>
          <a:p>
            <a:pPr>
              <a:buFont typeface="Arial" charset="0"/>
              <a:buNone/>
            </a:pPr>
            <a:r>
              <a:rPr lang="en-US" altLang="zh-TW" i="1" smtClean="0"/>
              <a:t>  		then we can say Π </a:t>
            </a:r>
            <a:r>
              <a:rPr lang="en-US" altLang="zh-TW" smtClean="0">
                <a:cs typeface="Times New Roman" pitchFamily="18" charset="0"/>
              </a:rPr>
              <a:t>╞ </a:t>
            </a:r>
            <a:r>
              <a:rPr lang="en-US" altLang="zh-TW" i="1" smtClean="0"/>
              <a:t>π.</a:t>
            </a:r>
          </a:p>
          <a:p>
            <a:r>
              <a:rPr lang="en-US" altLang="zh-TW" i="1" smtClean="0"/>
              <a:t>IMPL(π) </a:t>
            </a:r>
            <a:r>
              <a:rPr lang="en-US" altLang="zh-TW" smtClean="0"/>
              <a:t>:its input is a set </a:t>
            </a:r>
            <a:r>
              <a:rPr lang="en-US" altLang="zh-TW" i="1" smtClean="0"/>
              <a:t>Π </a:t>
            </a:r>
            <a:r>
              <a:rPr lang="en-US" altLang="zh-TW" smtClean="0"/>
              <a:t>of patterns,</a:t>
            </a:r>
          </a:p>
          <a:p>
            <a:pPr>
              <a:buFont typeface="Arial" charset="0"/>
              <a:buNone/>
            </a:pPr>
            <a:r>
              <a:rPr lang="en-US" altLang="zh-TW" smtClean="0"/>
              <a:t>	and the question is whether </a:t>
            </a:r>
            <a:r>
              <a:rPr lang="en-US" altLang="zh-TW" i="1" smtClean="0"/>
              <a:t>Π </a:t>
            </a:r>
            <a:r>
              <a:rPr lang="en-US" altLang="zh-TW" smtClean="0">
                <a:cs typeface="Times New Roman" pitchFamily="18" charset="0"/>
              </a:rPr>
              <a:t>╞</a:t>
            </a:r>
            <a:r>
              <a:rPr lang="en-US" altLang="zh-TW" smtClean="0"/>
              <a:t> </a:t>
            </a:r>
            <a:r>
              <a:rPr lang="en-US" altLang="zh-TW" i="1" smtClean="0"/>
              <a:t>π</a:t>
            </a:r>
            <a:r>
              <a:rPr lang="en-US" altLang="zh-TW" smtClean="0"/>
              <a:t>.</a:t>
            </a:r>
          </a:p>
          <a:p>
            <a:pPr>
              <a:buFont typeface="Arial" charset="0"/>
              <a:buNone/>
            </a:pPr>
            <a:r>
              <a:rPr lang="en-US" altLang="zh-TW" i="1" smtClean="0"/>
              <a:t>IMPL(π) is a co-NP-complete problem.</a:t>
            </a:r>
          </a:p>
          <a:p>
            <a:pPr>
              <a:buFont typeface="Arial" charset="0"/>
              <a:buNone/>
            </a:pPr>
            <a:endParaRPr lang="en-US" altLang="zh-TW" i="1" smtClean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 smtClean="0"/>
          </a:p>
        </p:txBody>
      </p:sp>
      <p:sp>
        <p:nvSpPr>
          <p:cNvPr id="17410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charset="0"/>
              <a:buNone/>
            </a:pPr>
            <a:r>
              <a:rPr lang="en-US" altLang="zh-TW" smtClean="0"/>
              <a:t>	For the usual matching notion, checking whether </a:t>
            </a:r>
            <a:r>
              <a:rPr lang="en-US" altLang="zh-TW" i="1" smtClean="0"/>
              <a:t>s </a:t>
            </a:r>
            <a:r>
              <a:rPr lang="en-US" altLang="zh-TW" smtClean="0">
                <a:cs typeface="Times New Roman" pitchFamily="18" charset="0"/>
              </a:rPr>
              <a:t>╞</a:t>
            </a:r>
            <a:r>
              <a:rPr lang="en-US" altLang="zh-TW" smtClean="0"/>
              <a:t> </a:t>
            </a:r>
            <a:r>
              <a:rPr lang="en-US" altLang="zh-TW" i="1" smtClean="0"/>
              <a:t>Π </a:t>
            </a:r>
            <a:r>
              <a:rPr lang="en-US" altLang="zh-TW" smtClean="0"/>
              <a:t>is polynomial, but Impl</a:t>
            </a:r>
            <a:r>
              <a:rPr lang="en-US" altLang="zh-TW" i="1" smtClean="0"/>
              <a:t>(π) </a:t>
            </a:r>
            <a:r>
              <a:rPr lang="en-US" altLang="zh-TW" smtClean="0"/>
              <a:t>could be coNP-hard, as we have just seen. For the disjoint versions of these problems, the situation is exactly the opposite: checking whether </a:t>
            </a:r>
            <a:r>
              <a:rPr lang="en-US" altLang="zh-TW" i="1" smtClean="0"/>
              <a:t>s </a:t>
            </a:r>
            <a:r>
              <a:rPr lang="en-US" altLang="zh-TW" smtClean="0">
                <a:cs typeface="Times New Roman" pitchFamily="18" charset="0"/>
              </a:rPr>
              <a:t>╞</a:t>
            </a:r>
            <a:r>
              <a:rPr lang="en-US" altLang="zh-TW" baseline="-25000" smtClean="0"/>
              <a:t> d</a:t>
            </a:r>
            <a:r>
              <a:rPr lang="en-US" altLang="zh-TW" smtClean="0"/>
              <a:t> </a:t>
            </a:r>
            <a:r>
              <a:rPr lang="en-US" altLang="zh-TW" i="1" smtClean="0"/>
              <a:t>Π </a:t>
            </a:r>
            <a:r>
              <a:rPr lang="en-US" altLang="zh-TW" smtClean="0"/>
              <a:t>is intractable, while Impl</a:t>
            </a:r>
            <a:r>
              <a:rPr lang="en-US" altLang="zh-TW" baseline="-25000" smtClean="0"/>
              <a:t>d</a:t>
            </a:r>
            <a:r>
              <a:rPr lang="en-US" altLang="zh-TW" i="1" smtClean="0"/>
              <a:t>(π) </a:t>
            </a:r>
            <a:r>
              <a:rPr lang="en-US" altLang="zh-TW" smtClean="0"/>
              <a:t>is solvable in polynomial time for every </a:t>
            </a:r>
            <a:r>
              <a:rPr lang="en-US" altLang="zh-TW" i="1" smtClean="0"/>
              <a:t>π</a:t>
            </a:r>
            <a:r>
              <a:rPr lang="en-US" altLang="zh-TW" smtClean="0"/>
              <a:t>.</a:t>
            </a:r>
            <a:endParaRPr lang="zh-TW" altLang="en-US" smtClean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smtClean="0"/>
              <a:t>Theorem 1</a:t>
            </a:r>
            <a:endParaRPr lang="zh-TW" altLang="en-US" b="1" smtClean="0"/>
          </a:p>
        </p:txBody>
      </p:sp>
      <p:sp>
        <p:nvSpPr>
          <p:cNvPr id="18434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i="1" smtClean="0"/>
              <a:t>The problem of checking, for a string s and a set of patterns	Π, whether s </a:t>
            </a:r>
            <a:r>
              <a:rPr lang="en-US" altLang="zh-TW" smtClean="0">
                <a:cs typeface="Times New Roman" pitchFamily="18" charset="0"/>
              </a:rPr>
              <a:t>╞</a:t>
            </a:r>
            <a:r>
              <a:rPr lang="en-US" altLang="zh-TW" smtClean="0"/>
              <a:t> </a:t>
            </a:r>
            <a:r>
              <a:rPr lang="en-US" altLang="zh-TW" baseline="-25000" smtClean="0"/>
              <a:t>d</a:t>
            </a:r>
            <a:r>
              <a:rPr lang="en-US" altLang="zh-TW" smtClean="0"/>
              <a:t> </a:t>
            </a:r>
            <a:r>
              <a:rPr lang="en-US" altLang="zh-TW" i="1" smtClean="0"/>
              <a:t>Π is </a:t>
            </a:r>
            <a:r>
              <a:rPr lang="en-US" altLang="zh-TW" smtClean="0"/>
              <a:t>NP</a:t>
            </a:r>
            <a:r>
              <a:rPr lang="en-US" altLang="zh-TW" i="1" smtClean="0"/>
              <a:t>-complete. It remains </a:t>
            </a:r>
            <a:r>
              <a:rPr lang="en-US" altLang="zh-TW" smtClean="0"/>
              <a:t>NP</a:t>
            </a:r>
            <a:r>
              <a:rPr lang="en-US" altLang="zh-TW" i="1" smtClean="0"/>
              <a:t>complete even if the patterns do not use the wildcard.</a:t>
            </a:r>
          </a:p>
          <a:p>
            <a:r>
              <a:rPr lang="en-US" altLang="zh-TW" i="1" smtClean="0"/>
              <a:t>For each pattern π, the problem </a:t>
            </a:r>
            <a:r>
              <a:rPr lang="en-US" altLang="zh-TW" smtClean="0"/>
              <a:t>Impl</a:t>
            </a:r>
            <a:r>
              <a:rPr lang="en-US" altLang="zh-TW" baseline="-25000" smtClean="0"/>
              <a:t>d</a:t>
            </a:r>
            <a:r>
              <a:rPr lang="en-US" altLang="zh-TW" i="1" smtClean="0"/>
              <a:t>(π) is solvable in polynomial time.</a:t>
            </a:r>
            <a:endParaRPr lang="zh-TW" altLang="en-US" i="1" smtClean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1" name="Rectangle 5"/>
          <p:cNvSpPr>
            <a:spLocks noGrp="1"/>
          </p:cNvSpPr>
          <p:nvPr>
            <p:ph idx="4294967295"/>
          </p:nvPr>
        </p:nvSpPr>
        <p:spPr>
          <a:xfrm>
            <a:off x="468313" y="260350"/>
            <a:ext cx="8229600" cy="4525963"/>
          </a:xfrm>
        </p:spPr>
        <p:txBody>
          <a:bodyPr/>
          <a:lstStyle/>
          <a:p>
            <a:pPr>
              <a:buFont typeface="Arial" charset="0"/>
              <a:buNone/>
            </a:pPr>
            <a:r>
              <a:rPr lang="en-US" altLang="zh-TW" smtClean="0"/>
              <a:t>Proof:</a:t>
            </a:r>
          </a:p>
          <a:p>
            <a:r>
              <a:rPr lang="zh-TW" altLang="en-US" smtClean="0"/>
              <a:t>令</a:t>
            </a:r>
            <a:r>
              <a:rPr lang="en-US" altLang="zh-TW" smtClean="0"/>
              <a:t>N={u</a:t>
            </a:r>
            <a:r>
              <a:rPr lang="en-US" altLang="zh-TW" baseline="-25000" smtClean="0"/>
              <a:t>o</a:t>
            </a:r>
            <a:r>
              <a:rPr lang="en-US" altLang="zh-TW" smtClean="0"/>
              <a:t>,u</a:t>
            </a:r>
            <a:r>
              <a:rPr lang="en-US" altLang="zh-TW" baseline="-25000" smtClean="0"/>
              <a:t>1</a:t>
            </a:r>
            <a:r>
              <a:rPr lang="en-US" altLang="zh-TW" smtClean="0"/>
              <a:t>,…,u</a:t>
            </a:r>
            <a:r>
              <a:rPr lang="en-US" altLang="zh-TW" baseline="-25000" smtClean="0"/>
              <a:t>n-1</a:t>
            </a:r>
            <a:r>
              <a:rPr lang="en-US" altLang="zh-TW" smtClean="0"/>
              <a:t>}= </a:t>
            </a:r>
            <a:r>
              <a:rPr lang="en-US" altLang="zh-TW" i="1" smtClean="0"/>
              <a:t>Π</a:t>
            </a:r>
          </a:p>
          <a:p>
            <a:r>
              <a:rPr lang="en-US" altLang="zh-TW" i="1" smtClean="0"/>
              <a:t>L</a:t>
            </a:r>
            <a:r>
              <a:rPr lang="en-US" altLang="zh-TW" smtClean="0"/>
              <a:t>={0,1}</a:t>
            </a:r>
          </a:p>
          <a:p>
            <a:r>
              <a:rPr lang="en-US" altLang="zh-TW" i="1" smtClean="0"/>
              <a:t>π </a:t>
            </a:r>
            <a:r>
              <a:rPr lang="en-US" altLang="zh-TW" i="1" baseline="-25000" smtClean="0"/>
              <a:t>i=</a:t>
            </a:r>
            <a:r>
              <a:rPr lang="en-US" altLang="zh-TW" i="1" smtClean="0"/>
              <a:t>0</a:t>
            </a:r>
            <a:r>
              <a:rPr lang="en-US" altLang="zh-TW" i="1" baseline="30000" smtClean="0"/>
              <a:t>ui</a:t>
            </a:r>
            <a:r>
              <a:rPr lang="en-US" altLang="zh-TW" i="1" smtClean="0"/>
              <a:t> , s=(0</a:t>
            </a:r>
            <a:r>
              <a:rPr lang="en-US" altLang="zh-TW" i="1" baseline="30000" smtClean="0"/>
              <a:t>m</a:t>
            </a:r>
            <a:r>
              <a:rPr lang="en-US" altLang="zh-TW" i="1" smtClean="0"/>
              <a:t>1)</a:t>
            </a:r>
            <a:r>
              <a:rPr lang="en-US" altLang="zh-TW" i="1" baseline="30000" smtClean="0"/>
              <a:t>l</a:t>
            </a:r>
          </a:p>
          <a:p>
            <a:endParaRPr lang="en-US" altLang="zh-TW" smtClean="0"/>
          </a:p>
        </p:txBody>
      </p:sp>
      <p:pic>
        <p:nvPicPr>
          <p:cNvPr id="19462" name="Picture 6" descr="20091229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27088" y="2060575"/>
            <a:ext cx="5473700" cy="4246563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5" name="Rectangle 5"/>
          <p:cNvSpPr>
            <a:spLocks noGrp="1"/>
          </p:cNvSpPr>
          <p:nvPr>
            <p:ph idx="4294967295"/>
          </p:nvPr>
        </p:nvSpPr>
        <p:spPr>
          <a:xfrm>
            <a:off x="457200" y="260350"/>
            <a:ext cx="8229600" cy="5865813"/>
          </a:xfrm>
        </p:spPr>
        <p:txBody>
          <a:bodyPr/>
          <a:lstStyle/>
          <a:p>
            <a:pPr>
              <a:buFont typeface="Arial" charset="0"/>
              <a:buNone/>
            </a:pPr>
            <a:r>
              <a:rPr lang="en-US" altLang="zh-TW" smtClean="0"/>
              <a:t>Proof 2:</a:t>
            </a:r>
          </a:p>
          <a:p>
            <a:pPr>
              <a:buFont typeface="Arial" charset="0"/>
              <a:buNone/>
            </a:pPr>
            <a:r>
              <a:rPr lang="en-US" altLang="zh-TW" smtClean="0"/>
              <a:t>	Without loss of generality, let </a:t>
            </a:r>
          </a:p>
          <a:p>
            <a:pPr>
              <a:buFont typeface="Arial" charset="0"/>
              <a:buNone/>
            </a:pPr>
            <a:r>
              <a:rPr lang="en-US" altLang="zh-TW" smtClean="0"/>
              <a:t>    </a:t>
            </a:r>
            <a:r>
              <a:rPr lang="en-US" altLang="zh-TW" i="1" smtClean="0"/>
              <a:t>π </a:t>
            </a:r>
            <a:r>
              <a:rPr lang="en-US" altLang="zh-TW" smtClean="0"/>
              <a:t>= </a:t>
            </a:r>
            <a:r>
              <a:rPr lang="en-US" altLang="zh-TW" i="1" smtClean="0"/>
              <a:t>(</a:t>
            </a:r>
            <a:r>
              <a:rPr lang="en-US" altLang="zh-TW" smtClean="0"/>
              <a:t>_</a:t>
            </a:r>
            <a:r>
              <a:rPr lang="en-US" altLang="zh-TW" i="1" smtClean="0"/>
              <a:t>)</a:t>
            </a:r>
            <a:r>
              <a:rPr lang="en-US" altLang="zh-TW" i="1" baseline="30000" smtClean="0"/>
              <a:t>kpre</a:t>
            </a:r>
            <a:r>
              <a:rPr lang="en-US" altLang="zh-TW" i="1" smtClean="0"/>
              <a:t>π</a:t>
            </a:r>
            <a:r>
              <a:rPr lang="en-US" altLang="zh-TW" i="1" baseline="-25000" smtClean="0"/>
              <a:t>c</a:t>
            </a:r>
            <a:r>
              <a:rPr lang="en-US" altLang="zh-TW" i="1" smtClean="0"/>
              <a:t>(</a:t>
            </a:r>
            <a:r>
              <a:rPr lang="en-US" altLang="zh-TW" smtClean="0"/>
              <a:t>_</a:t>
            </a:r>
            <a:r>
              <a:rPr lang="en-US" altLang="zh-TW" i="1" smtClean="0"/>
              <a:t>)</a:t>
            </a:r>
            <a:r>
              <a:rPr lang="en-US" altLang="zh-TW" i="1" baseline="30000" smtClean="0"/>
              <a:t>ksuf</a:t>
            </a:r>
          </a:p>
          <a:p>
            <a:pPr>
              <a:buFont typeface="Arial" charset="0"/>
              <a:buNone/>
            </a:pPr>
            <a:r>
              <a:rPr lang="en-US" altLang="zh-TW" smtClean="0"/>
              <a:t>   where </a:t>
            </a:r>
            <a:r>
              <a:rPr lang="en-US" altLang="zh-TW" i="1" smtClean="0"/>
              <a:t>k</a:t>
            </a:r>
            <a:r>
              <a:rPr lang="en-US" altLang="zh-TW" i="1" baseline="-25000" smtClean="0"/>
              <a:t>pre</a:t>
            </a:r>
            <a:r>
              <a:rPr lang="en-US" altLang="zh-TW" i="1" smtClean="0"/>
              <a:t>,k</a:t>
            </a:r>
            <a:r>
              <a:rPr lang="en-US" altLang="zh-TW" i="1" baseline="-25000" smtClean="0"/>
              <a:t>suf</a:t>
            </a:r>
            <a:r>
              <a:rPr lang="en-US" altLang="zh-TW" i="1" smtClean="0"/>
              <a:t> ≧</a:t>
            </a:r>
            <a:r>
              <a:rPr lang="en-US" altLang="zh-TW" smtClean="0"/>
              <a:t>0 and </a:t>
            </a:r>
            <a:r>
              <a:rPr lang="en-US" altLang="zh-TW" i="1" smtClean="0"/>
              <a:t>π</a:t>
            </a:r>
            <a:r>
              <a:rPr lang="en-US" altLang="zh-TW" i="1" baseline="-25000" smtClean="0"/>
              <a:t>c</a:t>
            </a:r>
            <a:r>
              <a:rPr lang="en-US" altLang="zh-TW" i="1" smtClean="0"/>
              <a:t> </a:t>
            </a:r>
            <a:r>
              <a:rPr lang="en-US" altLang="zh-TW" smtClean="0"/>
              <a:t>is either the empty string or</a:t>
            </a:r>
          </a:p>
        </p:txBody>
      </p:sp>
      <p:pic>
        <p:nvPicPr>
          <p:cNvPr id="20486" name="Picture 6" descr="20091229-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68538" y="3141663"/>
            <a:ext cx="4752975" cy="134302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 smtClean="0"/>
          </a:p>
        </p:txBody>
      </p:sp>
      <p:sp>
        <p:nvSpPr>
          <p:cNvPr id="27651" name="Rectangle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sz="2800" b="1" smtClean="0"/>
              <a:t>Claim 1. </a:t>
            </a:r>
            <a:r>
              <a:rPr lang="en-US" altLang="zh-TW" sz="2800" i="1" smtClean="0"/>
              <a:t>If O </a:t>
            </a:r>
            <a:r>
              <a:rPr lang="en-US" altLang="zh-TW" sz="2800" smtClean="0"/>
              <a:t>= {</a:t>
            </a:r>
            <a:r>
              <a:rPr lang="en-US" altLang="zh-TW" sz="2800" i="1" smtClean="0"/>
              <a:t>ρ</a:t>
            </a:r>
            <a:r>
              <a:rPr lang="en-US" altLang="zh-TW" sz="2800" baseline="-25000" smtClean="0"/>
              <a:t>0</a:t>
            </a:r>
            <a:r>
              <a:rPr lang="en-US" altLang="zh-TW" sz="2800" i="1" smtClean="0"/>
              <a:t>, . . . ,ρ</a:t>
            </a:r>
            <a:r>
              <a:rPr lang="en-US" altLang="zh-TW" sz="2800" baseline="-25000" smtClean="0"/>
              <a:t>m−1</a:t>
            </a:r>
            <a:r>
              <a:rPr lang="en-US" altLang="zh-TW" sz="2800" smtClean="0"/>
              <a:t>} </a:t>
            </a:r>
            <a:r>
              <a:rPr lang="en-US" altLang="zh-TW" sz="2800" i="1" smtClean="0"/>
              <a:t>is an ordered set of patterns </a:t>
            </a:r>
            <a:r>
              <a:rPr lang="en-US" altLang="zh-TW" sz="2800" smtClean="0"/>
              <a:t>(</a:t>
            </a:r>
            <a:r>
              <a:rPr lang="en-US" altLang="zh-TW" sz="2800" i="1" smtClean="0"/>
              <a:t>with ordering &lt;</a:t>
            </a:r>
            <a:r>
              <a:rPr lang="en-US" altLang="zh-TW" sz="2800" baseline="-25000" smtClean="0"/>
              <a:t>O</a:t>
            </a:r>
            <a:r>
              <a:rPr lang="en-US" altLang="zh-TW" sz="2800" i="1" smtClean="0"/>
              <a:t> </a:t>
            </a:r>
            <a:r>
              <a:rPr lang="en-US" altLang="zh-TW" sz="2800" smtClean="0"/>
              <a:t>)</a:t>
            </a:r>
            <a:r>
              <a:rPr lang="en-US" altLang="zh-TW" sz="2800" i="1" smtClean="0"/>
              <a:t>, then there exists a string s over L such that s </a:t>
            </a:r>
            <a:r>
              <a:rPr lang="en-US" altLang="zh-TW" sz="2800" smtClean="0"/>
              <a:t>|d </a:t>
            </a:r>
            <a:r>
              <a:rPr lang="en-US" altLang="zh-TW" sz="2800" i="1" smtClean="0"/>
              <a:t>(O,&lt;</a:t>
            </a:r>
            <a:r>
              <a:rPr lang="en-US" altLang="zh-TW" sz="2800" baseline="-25000" smtClean="0"/>
              <a:t>O</a:t>
            </a:r>
            <a:r>
              <a:rPr lang="en-US" altLang="zh-TW" sz="2800" i="1" smtClean="0"/>
              <a:t> ) and, if s </a:t>
            </a:r>
            <a:r>
              <a:rPr lang="en-US" altLang="zh-TW" sz="2800" smtClean="0">
                <a:cs typeface="Times New Roman" pitchFamily="18" charset="0"/>
              </a:rPr>
              <a:t>╞</a:t>
            </a:r>
            <a:r>
              <a:rPr lang="en-US" altLang="zh-TW" sz="2800" smtClean="0"/>
              <a:t> </a:t>
            </a:r>
            <a:r>
              <a:rPr lang="en-US" altLang="zh-TW" sz="2800" i="1" smtClean="0"/>
              <a:t>π, there exists an index i </a:t>
            </a:r>
            <a:r>
              <a:rPr lang="en-US" altLang="zh-TW" sz="2800" smtClean="0"/>
              <a:t>∈ [0</a:t>
            </a:r>
            <a:r>
              <a:rPr lang="en-US" altLang="zh-TW" sz="2800" i="1" smtClean="0"/>
              <a:t>, . . . ,m </a:t>
            </a:r>
            <a:r>
              <a:rPr lang="en-US" altLang="zh-TW" sz="2800" smtClean="0"/>
              <a:t>−1] </a:t>
            </a:r>
            <a:r>
              <a:rPr lang="en-US" altLang="zh-TW" sz="2800" i="1" smtClean="0"/>
              <a:t>so that the following hold</a:t>
            </a:r>
            <a:r>
              <a:rPr lang="en-US" altLang="zh-TW" sz="2800" smtClean="0"/>
              <a:t>:</a:t>
            </a:r>
          </a:p>
          <a:p>
            <a:pPr>
              <a:buFont typeface="Arial" charset="0"/>
              <a:buNone/>
            </a:pPr>
            <a:r>
              <a:rPr lang="en-US" altLang="zh-TW" sz="2800" smtClean="0"/>
              <a:t>	• </a:t>
            </a:r>
            <a:r>
              <a:rPr lang="en-US" altLang="zh-TW" sz="2800" i="1" smtClean="0"/>
              <a:t>ρ</a:t>
            </a:r>
            <a:r>
              <a:rPr lang="en-US" altLang="zh-TW" sz="2800" baseline="-25000" smtClean="0"/>
              <a:t>i </a:t>
            </a:r>
            <a:r>
              <a:rPr lang="en-US" altLang="zh-TW" sz="2800" smtClean="0">
                <a:cs typeface="Times New Roman" pitchFamily="18" charset="0"/>
              </a:rPr>
              <a:t>╞</a:t>
            </a:r>
            <a:r>
              <a:rPr lang="en-US" altLang="zh-TW" sz="2800" smtClean="0"/>
              <a:t> </a:t>
            </a:r>
            <a:r>
              <a:rPr lang="en-US" altLang="zh-TW" sz="2800" i="1" smtClean="0"/>
              <a:t>π</a:t>
            </a:r>
            <a:r>
              <a:rPr lang="en-US" altLang="zh-TW" sz="2800" baseline="-25000" smtClean="0"/>
              <a:t>c</a:t>
            </a:r>
            <a:r>
              <a:rPr lang="en-US" altLang="zh-TW" sz="2800" i="1" smtClean="0"/>
              <a:t> </a:t>
            </a:r>
            <a:r>
              <a:rPr lang="en-US" altLang="zh-TW" sz="2800" smtClean="0"/>
              <a:t>;</a:t>
            </a:r>
          </a:p>
          <a:p>
            <a:pPr>
              <a:buFont typeface="Arial" charset="0"/>
              <a:buNone/>
            </a:pPr>
            <a:r>
              <a:rPr lang="en-US" altLang="zh-TW" sz="2800" smtClean="0"/>
              <a:t>	• </a:t>
            </a:r>
            <a:r>
              <a:rPr lang="en-US" altLang="zh-TW" sz="2800" i="1" smtClean="0"/>
              <a:t>if i </a:t>
            </a:r>
            <a:r>
              <a:rPr lang="en-US" altLang="zh-TW" sz="2800" smtClean="0"/>
              <a:t>= 0 </a:t>
            </a:r>
            <a:r>
              <a:rPr lang="en-US" altLang="zh-TW" sz="2800" i="1" smtClean="0"/>
              <a:t>then ρ</a:t>
            </a:r>
            <a:r>
              <a:rPr lang="en-US" altLang="zh-TW" sz="2800" baseline="-25000" smtClean="0"/>
              <a:t>i</a:t>
            </a:r>
            <a:r>
              <a:rPr lang="en-US" altLang="zh-TW" sz="2800" i="1" smtClean="0"/>
              <a:t> </a:t>
            </a:r>
            <a:r>
              <a:rPr lang="en-US" altLang="zh-TW" sz="2800" smtClean="0">
                <a:cs typeface="Times New Roman" pitchFamily="18" charset="0"/>
              </a:rPr>
              <a:t>╞</a:t>
            </a:r>
            <a:r>
              <a:rPr lang="en-US" altLang="zh-TW" sz="2800" smtClean="0"/>
              <a:t> </a:t>
            </a:r>
            <a:r>
              <a:rPr lang="en-US" altLang="zh-TW" sz="2800" i="1" smtClean="0"/>
              <a:t>π</a:t>
            </a:r>
            <a:r>
              <a:rPr lang="en-US" altLang="zh-TW" sz="2800" baseline="-25000" smtClean="0"/>
              <a:t>c</a:t>
            </a:r>
            <a:r>
              <a:rPr lang="en-US" altLang="zh-TW" sz="2800" i="1" smtClean="0"/>
              <a:t> with prefix at least kpre</a:t>
            </a:r>
            <a:r>
              <a:rPr lang="en-US" altLang="zh-TW" sz="2800" smtClean="0"/>
              <a:t>;</a:t>
            </a:r>
          </a:p>
          <a:p>
            <a:pPr>
              <a:buFont typeface="Arial" charset="0"/>
              <a:buNone/>
            </a:pPr>
            <a:r>
              <a:rPr lang="en-US" altLang="zh-TW" sz="2800" smtClean="0"/>
              <a:t>	• </a:t>
            </a:r>
            <a:r>
              <a:rPr lang="en-US" altLang="zh-TW" sz="2800" i="1" smtClean="0"/>
              <a:t>if i </a:t>
            </a:r>
            <a:r>
              <a:rPr lang="en-US" altLang="zh-TW" sz="2800" smtClean="0"/>
              <a:t>=</a:t>
            </a:r>
            <a:r>
              <a:rPr lang="en-US" altLang="zh-TW" sz="2800" i="1" smtClean="0"/>
              <a:t>m </a:t>
            </a:r>
            <a:r>
              <a:rPr lang="en-US" altLang="zh-TW" sz="2800" smtClean="0"/>
              <a:t>−1 </a:t>
            </a:r>
            <a:r>
              <a:rPr lang="en-US" altLang="zh-TW" sz="2800" i="1" smtClean="0"/>
              <a:t>then ρ</a:t>
            </a:r>
            <a:r>
              <a:rPr lang="en-US" altLang="zh-TW" sz="2800" baseline="-25000" smtClean="0"/>
              <a:t>i</a:t>
            </a:r>
            <a:r>
              <a:rPr lang="en-US" altLang="zh-TW" sz="2800" i="1" smtClean="0"/>
              <a:t> </a:t>
            </a:r>
            <a:r>
              <a:rPr lang="en-US" altLang="zh-TW" sz="2800" smtClean="0">
                <a:cs typeface="Times New Roman" pitchFamily="18" charset="0"/>
              </a:rPr>
              <a:t>╞</a:t>
            </a:r>
            <a:r>
              <a:rPr lang="en-US" altLang="zh-TW" sz="2800" smtClean="0"/>
              <a:t> </a:t>
            </a:r>
            <a:r>
              <a:rPr lang="en-US" altLang="zh-TW" sz="2800" i="1" smtClean="0"/>
              <a:t>π</a:t>
            </a:r>
            <a:r>
              <a:rPr lang="en-US" altLang="zh-TW" sz="2800" baseline="-25000" smtClean="0"/>
              <a:t>c</a:t>
            </a:r>
            <a:r>
              <a:rPr lang="en-US" altLang="zh-TW" sz="2800" i="1" smtClean="0"/>
              <a:t> with suffix at least ksuf .</a:t>
            </a:r>
            <a:endParaRPr lang="zh-TW" altLang="en-US" sz="2800" i="1" smtClean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7" name="Rectangle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charset="0"/>
              <a:buNone/>
            </a:pPr>
            <a:r>
              <a:rPr lang="en-US" altLang="zh-TW" smtClean="0"/>
              <a:t>   Let </a:t>
            </a:r>
            <a:r>
              <a:rPr lang="en-US" altLang="zh-TW" i="1" smtClean="0"/>
              <a:t>B </a:t>
            </a:r>
            <a:r>
              <a:rPr lang="en-US" altLang="zh-TW" smtClean="0"/>
              <a:t>be the set of all patterns </a:t>
            </a:r>
            <a:r>
              <a:rPr lang="en-US" altLang="zh-TW" i="1" smtClean="0"/>
              <a:t>π</a:t>
            </a:r>
            <a:r>
              <a:rPr lang="en-US" altLang="zh-TW" i="1" baseline="-25000" smtClean="0"/>
              <a:t>k</a:t>
            </a:r>
            <a:r>
              <a:rPr lang="en-US" altLang="zh-TW" i="1" smtClean="0"/>
              <a:t> </a:t>
            </a:r>
            <a:r>
              <a:rPr lang="en-US" altLang="zh-TW" smtClean="0"/>
              <a:t>∈ </a:t>
            </a:r>
            <a:r>
              <a:rPr lang="en-US" altLang="zh-TW" i="1" smtClean="0"/>
              <a:t>Π </a:t>
            </a:r>
            <a:r>
              <a:rPr lang="en-US" altLang="zh-TW" smtClean="0"/>
              <a:t>such that </a:t>
            </a:r>
            <a:r>
              <a:rPr lang="en-US" altLang="zh-TW" i="1" smtClean="0"/>
              <a:t>π</a:t>
            </a:r>
            <a:r>
              <a:rPr lang="en-US" altLang="zh-TW" i="1" baseline="-25000" smtClean="0"/>
              <a:t>k </a:t>
            </a:r>
            <a:r>
              <a:rPr lang="en-US" altLang="zh-TW" smtClean="0">
                <a:cs typeface="Times New Roman" pitchFamily="18" charset="0"/>
              </a:rPr>
              <a:t>╞</a:t>
            </a:r>
            <a:r>
              <a:rPr lang="en-US" altLang="zh-TW" smtClean="0"/>
              <a:t> </a:t>
            </a:r>
            <a:r>
              <a:rPr lang="en-US" altLang="zh-TW" i="1" smtClean="0"/>
              <a:t>π</a:t>
            </a:r>
            <a:r>
              <a:rPr lang="en-US" altLang="zh-TW" i="1" baseline="-25000" smtClean="0"/>
              <a:t>c</a:t>
            </a:r>
            <a:r>
              <a:rPr lang="en-US" altLang="zh-TW" i="1" smtClean="0"/>
              <a:t> </a:t>
            </a:r>
            <a:r>
              <a:rPr lang="en-US" altLang="zh-TW" smtClean="0"/>
              <a:t>(and |</a:t>
            </a:r>
            <a:r>
              <a:rPr lang="en-US" altLang="zh-TW" i="1" smtClean="0"/>
              <a:t>B</a:t>
            </a:r>
            <a:r>
              <a:rPr lang="en-US" altLang="zh-TW" smtClean="0"/>
              <a:t>| its cardinality). Let </a:t>
            </a:r>
            <a:r>
              <a:rPr lang="en-US" altLang="zh-TW" i="1" smtClean="0"/>
              <a:t>HB </a:t>
            </a:r>
            <a:r>
              <a:rPr lang="en-US" altLang="zh-TW" smtClean="0"/>
              <a:t>be the set of all possible matchings of </a:t>
            </a:r>
            <a:r>
              <a:rPr lang="en-US" altLang="zh-TW" i="1" smtClean="0"/>
              <a:t>π</a:t>
            </a:r>
            <a:r>
              <a:rPr lang="en-US" altLang="zh-TW" i="1" baseline="-25000" smtClean="0"/>
              <a:t>c</a:t>
            </a:r>
            <a:r>
              <a:rPr lang="en-US" altLang="zh-TW" i="1" smtClean="0"/>
              <a:t> </a:t>
            </a:r>
            <a:r>
              <a:rPr lang="en-US" altLang="zh-TW" smtClean="0"/>
              <a:t>in patterns of </a:t>
            </a:r>
            <a:r>
              <a:rPr lang="en-US" altLang="zh-TW" i="1" smtClean="0"/>
              <a:t>B</a:t>
            </a:r>
            <a:r>
              <a:rPr lang="en-US" altLang="zh-TW" smtClean="0"/>
              <a:t>, i.e., </a:t>
            </a:r>
            <a:r>
              <a:rPr lang="en-US" altLang="zh-TW" i="1" smtClean="0"/>
              <a:t>HB </a:t>
            </a:r>
            <a:r>
              <a:rPr lang="en-US" altLang="zh-TW" smtClean="0"/>
              <a:t>is the set of all          pairs </a:t>
            </a:r>
            <a:r>
              <a:rPr lang="en-US" altLang="zh-TW" i="1" smtClean="0"/>
              <a:t>(π</a:t>
            </a:r>
            <a:r>
              <a:rPr lang="en-US" altLang="zh-TW" i="1" baseline="-25000" smtClean="0"/>
              <a:t>k</a:t>
            </a:r>
            <a:r>
              <a:rPr lang="en-US" altLang="zh-TW" i="1" smtClean="0"/>
              <a:t>, </a:t>
            </a:r>
            <a:r>
              <a:rPr lang="en-US" altLang="zh-TW" smtClean="0"/>
              <a:t>[</a:t>
            </a:r>
            <a:r>
              <a:rPr lang="en-US" altLang="zh-TW" i="1" smtClean="0"/>
              <a:t>i, j</a:t>
            </a:r>
            <a:r>
              <a:rPr lang="en-US" altLang="zh-TW" smtClean="0"/>
              <a:t>]</a:t>
            </a:r>
            <a:r>
              <a:rPr lang="en-US" altLang="zh-TW" i="1" smtClean="0"/>
              <a:t>) </a:t>
            </a:r>
            <a:r>
              <a:rPr lang="en-US" altLang="zh-TW" smtClean="0"/>
              <a:t>such that </a:t>
            </a:r>
            <a:r>
              <a:rPr lang="en-US" altLang="zh-TW" i="1" smtClean="0"/>
              <a:t>π</a:t>
            </a:r>
            <a:r>
              <a:rPr lang="en-US" altLang="zh-TW" i="1" baseline="-25000" smtClean="0"/>
              <a:t>k</a:t>
            </a:r>
            <a:r>
              <a:rPr lang="en-US" altLang="zh-TW" i="1" smtClean="0"/>
              <a:t> </a:t>
            </a:r>
            <a:r>
              <a:rPr lang="en-US" altLang="zh-TW" smtClean="0"/>
              <a:t>∈ </a:t>
            </a:r>
            <a:r>
              <a:rPr lang="en-US" altLang="zh-TW" i="1" smtClean="0"/>
              <a:t>B </a:t>
            </a:r>
            <a:r>
              <a:rPr lang="en-US" altLang="zh-TW" smtClean="0"/>
              <a:t>and </a:t>
            </a:r>
            <a:r>
              <a:rPr lang="en-US" altLang="zh-TW" i="1" smtClean="0"/>
              <a:t>π</a:t>
            </a:r>
            <a:r>
              <a:rPr lang="en-US" altLang="zh-TW" i="1" baseline="-25000" smtClean="0"/>
              <a:t>k</a:t>
            </a:r>
            <a:r>
              <a:rPr lang="en-US" altLang="zh-TW" i="1" smtClean="0"/>
              <a:t> </a:t>
            </a:r>
            <a:r>
              <a:rPr lang="en-US" altLang="zh-TW" smtClean="0">
                <a:cs typeface="Times New Roman" pitchFamily="18" charset="0"/>
              </a:rPr>
              <a:t>╞</a:t>
            </a:r>
            <a:r>
              <a:rPr lang="en-US" altLang="zh-TW" smtClean="0"/>
              <a:t> </a:t>
            </a:r>
            <a:r>
              <a:rPr lang="en-US" altLang="zh-TW" i="1" smtClean="0"/>
              <a:t>π</a:t>
            </a:r>
            <a:r>
              <a:rPr lang="en-US" altLang="zh-TW" i="1" baseline="-25000" smtClean="0"/>
              <a:t>c</a:t>
            </a:r>
            <a:r>
              <a:rPr lang="en-US" altLang="zh-TW" i="1" smtClean="0"/>
              <a:t> </a:t>
            </a:r>
            <a:r>
              <a:rPr lang="en-US" altLang="zh-TW" smtClean="0"/>
              <a:t>from </a:t>
            </a:r>
            <a:r>
              <a:rPr lang="en-US" altLang="zh-TW" i="1" smtClean="0"/>
              <a:t>i </a:t>
            </a:r>
            <a:r>
              <a:rPr lang="en-US" altLang="zh-TW" smtClean="0"/>
              <a:t>to </a:t>
            </a:r>
            <a:r>
              <a:rPr lang="en-US" altLang="zh-TW" i="1" smtClean="0"/>
              <a:t>j</a:t>
            </a:r>
            <a:r>
              <a:rPr lang="en-US" altLang="zh-TW" smtClean="0"/>
              <a:t>.</a:t>
            </a:r>
            <a:endParaRPr lang="zh-TW" altLang="en-US" smtClean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 smtClean="0"/>
          </a:p>
        </p:txBody>
      </p:sp>
      <p:sp>
        <p:nvSpPr>
          <p:cNvPr id="30723" name="Rectangle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b="1" smtClean="0"/>
              <a:t>Claim 2. </a:t>
            </a:r>
            <a:r>
              <a:rPr lang="en-US" altLang="zh-TW" i="1" smtClean="0"/>
              <a:t>For each string s such that s </a:t>
            </a:r>
            <a:r>
              <a:rPr lang="en-US" altLang="zh-TW" smtClean="0"/>
              <a:t>|d </a:t>
            </a:r>
            <a:r>
              <a:rPr lang="en-US" altLang="zh-TW" i="1" smtClean="0"/>
              <a:t>(Π,&lt;</a:t>
            </a:r>
            <a:r>
              <a:rPr lang="en-US" altLang="zh-TW" i="1" baseline="-25000" smtClean="0"/>
              <a:t>B</a:t>
            </a:r>
            <a:r>
              <a:rPr lang="en-US" altLang="zh-TW" i="1" smtClean="0"/>
              <a:t> ) and pattern π</a:t>
            </a:r>
            <a:r>
              <a:rPr lang="en-US" altLang="zh-TW" i="1" baseline="-25000" smtClean="0"/>
              <a:t>k</a:t>
            </a:r>
            <a:r>
              <a:rPr lang="en-US" altLang="zh-TW" i="1" smtClean="0"/>
              <a:t> </a:t>
            </a:r>
            <a:r>
              <a:rPr lang="en-US" altLang="zh-TW" smtClean="0"/>
              <a:t>∈ </a:t>
            </a:r>
            <a:r>
              <a:rPr lang="en-US" altLang="zh-TW" i="1" smtClean="0"/>
              <a:t>B, there exists a partition (S, S’) of Π </a:t>
            </a:r>
            <a:r>
              <a:rPr lang="en-US" altLang="zh-TW" smtClean="0"/>
              <a:t>\ </a:t>
            </a:r>
            <a:r>
              <a:rPr lang="en-US" altLang="zh-TW" i="1" smtClean="0"/>
              <a:t>B and integers  P≧ </a:t>
            </a:r>
            <a:r>
              <a:rPr lang="en-US" altLang="zh-TW" smtClean="0"/>
              <a:t> </a:t>
            </a:r>
            <a:r>
              <a:rPr lang="en-US" altLang="zh-TW" smtClean="0">
                <a:cs typeface="Times New Roman" pitchFamily="18" charset="0"/>
              </a:rPr>
              <a:t>∑</a:t>
            </a:r>
            <a:r>
              <a:rPr lang="en-US" altLang="zh-TW" i="1" baseline="-25000" smtClean="0"/>
              <a:t>πi</a:t>
            </a:r>
            <a:r>
              <a:rPr lang="en-US" altLang="zh-TW" baseline="-25000" smtClean="0"/>
              <a:t>∈</a:t>
            </a:r>
            <a:r>
              <a:rPr lang="en-US" altLang="zh-TW" i="1" baseline="-25000" smtClean="0"/>
              <a:t>S</a:t>
            </a:r>
            <a:r>
              <a:rPr lang="en-US" altLang="zh-TW" i="1" smtClean="0"/>
              <a:t> </a:t>
            </a:r>
            <a:r>
              <a:rPr lang="en-US" altLang="zh-TW" smtClean="0"/>
              <a:t>|</a:t>
            </a:r>
            <a:r>
              <a:rPr lang="en-US" altLang="zh-TW" i="1" smtClean="0"/>
              <a:t>π</a:t>
            </a:r>
            <a:r>
              <a:rPr lang="en-US" altLang="zh-TW" i="1" baseline="-25000" smtClean="0"/>
              <a:t>i</a:t>
            </a:r>
            <a:r>
              <a:rPr lang="en-US" altLang="zh-TW" i="1" smtClean="0"/>
              <a:t> </a:t>
            </a:r>
            <a:r>
              <a:rPr lang="en-US" altLang="zh-TW" smtClean="0"/>
              <a:t>| </a:t>
            </a:r>
            <a:r>
              <a:rPr lang="en-US" altLang="zh-TW" i="1" smtClean="0"/>
              <a:t>and X </a:t>
            </a:r>
            <a:r>
              <a:rPr lang="en-US" altLang="zh-TW" smtClean="0"/>
              <a:t>≧ </a:t>
            </a:r>
            <a:r>
              <a:rPr lang="en-US" altLang="zh-TW" smtClean="0">
                <a:cs typeface="Times New Roman" pitchFamily="18" charset="0"/>
              </a:rPr>
              <a:t>∑</a:t>
            </a:r>
            <a:r>
              <a:rPr lang="en-US" altLang="zh-TW" smtClean="0"/>
              <a:t> </a:t>
            </a:r>
            <a:r>
              <a:rPr lang="en-US" altLang="zh-TW" i="1" baseline="-25000" smtClean="0"/>
              <a:t>πi</a:t>
            </a:r>
            <a:r>
              <a:rPr lang="en-US" altLang="zh-TW" baseline="-25000" smtClean="0"/>
              <a:t>∈</a:t>
            </a:r>
            <a:r>
              <a:rPr lang="en-US" altLang="zh-TW" i="1" baseline="-25000" smtClean="0"/>
              <a:t>S’</a:t>
            </a:r>
            <a:r>
              <a:rPr lang="en-US" altLang="zh-TW" smtClean="0"/>
              <a:t> |</a:t>
            </a:r>
            <a:r>
              <a:rPr lang="en-US" altLang="zh-TW" i="1" smtClean="0"/>
              <a:t>π</a:t>
            </a:r>
            <a:r>
              <a:rPr lang="en-US" altLang="zh-TW" i="1" baseline="-25000" smtClean="0"/>
              <a:t>i</a:t>
            </a:r>
            <a:r>
              <a:rPr lang="en-US" altLang="zh-TW" i="1" smtClean="0"/>
              <a:t> </a:t>
            </a:r>
            <a:r>
              <a:rPr lang="en-US" altLang="zh-TW" smtClean="0"/>
              <a:t>| </a:t>
            </a:r>
            <a:r>
              <a:rPr lang="en-US" altLang="zh-TW" i="1" smtClean="0"/>
              <a:t>such that the following  holds</a:t>
            </a:r>
            <a:r>
              <a:rPr lang="en-US" altLang="zh-TW" smtClean="0"/>
              <a:t>:</a:t>
            </a:r>
          </a:p>
          <a:p>
            <a:pPr>
              <a:buFont typeface="Arial" charset="0"/>
              <a:buNone/>
            </a:pPr>
            <a:r>
              <a:rPr lang="en-US" altLang="zh-TW" i="1" smtClean="0"/>
              <a:t>	if μ </a:t>
            </a:r>
            <a:r>
              <a:rPr lang="en-US" altLang="zh-TW" smtClean="0"/>
              <a:t>∈ </a:t>
            </a:r>
            <a:r>
              <a:rPr lang="en-US" altLang="zh-TW" i="1" smtClean="0"/>
              <a:t>H</a:t>
            </a:r>
            <a:r>
              <a:rPr lang="en-US" altLang="zh-TW" i="1" baseline="-25000" smtClean="0"/>
              <a:t>B</a:t>
            </a:r>
            <a:r>
              <a:rPr lang="en-US" altLang="zh-TW" i="1" smtClean="0"/>
              <a:t> is a matching in π</a:t>
            </a:r>
            <a:r>
              <a:rPr lang="en-US" altLang="zh-TW" i="1" baseline="-25000" smtClean="0"/>
              <a:t>k</a:t>
            </a:r>
            <a:r>
              <a:rPr lang="en-US" altLang="zh-TW" i="1" smtClean="0"/>
              <a:t>, then s </a:t>
            </a:r>
            <a:r>
              <a:rPr lang="en-US" altLang="zh-TW" smtClean="0"/>
              <a:t>| </a:t>
            </a:r>
            <a:r>
              <a:rPr lang="en-US" altLang="zh-TW" i="1" smtClean="0"/>
              <a:t>π</a:t>
            </a:r>
            <a:r>
              <a:rPr lang="en-US" altLang="zh-TW" i="1" baseline="-25000" smtClean="0"/>
              <a:t>c</a:t>
            </a:r>
            <a:r>
              <a:rPr lang="en-US" altLang="zh-TW" i="1" smtClean="0"/>
              <a:t> with prefix  pre&lt;</a:t>
            </a:r>
            <a:r>
              <a:rPr lang="en-US" altLang="zh-TW" i="1" baseline="-25000" smtClean="0"/>
              <a:t>B</a:t>
            </a:r>
            <a:r>
              <a:rPr lang="en-US" altLang="zh-TW" i="1" smtClean="0"/>
              <a:t> (μ)</a:t>
            </a:r>
            <a:r>
              <a:rPr lang="en-US" altLang="zh-TW" smtClean="0"/>
              <a:t>+ </a:t>
            </a:r>
            <a:r>
              <a:rPr lang="en-US" altLang="zh-TW" i="1" smtClean="0"/>
              <a:t>P and suffix suf&lt;</a:t>
            </a:r>
            <a:r>
              <a:rPr lang="en-US" altLang="zh-TW" i="1" baseline="-25000" smtClean="0"/>
              <a:t>B</a:t>
            </a:r>
            <a:r>
              <a:rPr lang="en-US" altLang="zh-TW" i="1" smtClean="0"/>
              <a:t> (μ)</a:t>
            </a:r>
            <a:r>
              <a:rPr lang="en-US" altLang="zh-TW" smtClean="0"/>
              <a:t>+ </a:t>
            </a:r>
            <a:r>
              <a:rPr lang="en-US" altLang="zh-TW" i="1" smtClean="0"/>
              <a:t>X</a:t>
            </a:r>
            <a:r>
              <a:rPr lang="en-US" altLang="zh-TW" smtClean="0"/>
              <a:t>;</a:t>
            </a:r>
            <a:endParaRPr lang="zh-TW" altLang="en-US" smtClean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 smtClean="0"/>
          </a:p>
        </p:txBody>
      </p:sp>
      <p:sp>
        <p:nvSpPr>
          <p:cNvPr id="31747" name="Rectangle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zh-TW" b="1" smtClean="0"/>
              <a:t>Claim 3. </a:t>
            </a:r>
            <a:r>
              <a:rPr lang="en-US" altLang="zh-TW" i="1" smtClean="0"/>
              <a:t>If </a:t>
            </a:r>
            <a:r>
              <a:rPr lang="en-US" altLang="zh-TW" smtClean="0"/>
              <a:t>|</a:t>
            </a:r>
            <a:r>
              <a:rPr lang="en-US" altLang="zh-TW" i="1" smtClean="0"/>
              <a:t>B</a:t>
            </a:r>
            <a:r>
              <a:rPr lang="en-US" altLang="zh-TW" smtClean="0"/>
              <a:t>|</a:t>
            </a:r>
            <a:r>
              <a:rPr lang="en-US" altLang="en-US" smtClean="0"/>
              <a:t>≧</a:t>
            </a:r>
            <a:r>
              <a:rPr lang="en-US" altLang="zh-TW" smtClean="0"/>
              <a:t> </a:t>
            </a:r>
            <a:r>
              <a:rPr lang="en-US" altLang="zh-TW" i="1" smtClean="0"/>
              <a:t>kpre </a:t>
            </a:r>
            <a:r>
              <a:rPr lang="en-US" altLang="zh-TW" smtClean="0"/>
              <a:t>+</a:t>
            </a:r>
            <a:r>
              <a:rPr lang="en-US" altLang="zh-TW" i="1" smtClean="0"/>
              <a:t>ksuf </a:t>
            </a:r>
            <a:r>
              <a:rPr lang="en-US" altLang="zh-TW" smtClean="0"/>
              <a:t>+1</a:t>
            </a:r>
            <a:r>
              <a:rPr lang="en-US" altLang="zh-TW" i="1" smtClean="0"/>
              <a:t>, then Π </a:t>
            </a:r>
            <a:r>
              <a:rPr lang="en-US" altLang="zh-TW" smtClean="0">
                <a:cs typeface="Times New Roman" pitchFamily="18" charset="0"/>
              </a:rPr>
              <a:t>╞</a:t>
            </a:r>
            <a:r>
              <a:rPr lang="en-US" altLang="zh-TW" i="1" baseline="-25000" smtClean="0"/>
              <a:t> </a:t>
            </a:r>
            <a:r>
              <a:rPr lang="en-US" altLang="zh-TW" baseline="-25000" smtClean="0"/>
              <a:t>d</a:t>
            </a:r>
            <a:r>
              <a:rPr lang="en-US" altLang="zh-TW" smtClean="0"/>
              <a:t> </a:t>
            </a:r>
            <a:r>
              <a:rPr lang="en-US" altLang="zh-TW" i="1" smtClean="0"/>
              <a:t>π.</a:t>
            </a:r>
          </a:p>
          <a:p>
            <a:pPr>
              <a:lnSpc>
                <a:spcPct val="90000"/>
              </a:lnSpc>
            </a:pPr>
            <a:r>
              <a:rPr lang="en-US" altLang="zh-TW" b="1" smtClean="0"/>
              <a:t>Claim 4. </a:t>
            </a:r>
            <a:r>
              <a:rPr lang="en-US" altLang="zh-TW" i="1" smtClean="0"/>
              <a:t>If there exists a matching μ </a:t>
            </a:r>
            <a:r>
              <a:rPr lang="en-US" altLang="zh-TW" smtClean="0"/>
              <a:t>∈ </a:t>
            </a:r>
            <a:r>
              <a:rPr lang="en-US" altLang="zh-TW" i="1" smtClean="0"/>
              <a:t>H</a:t>
            </a:r>
            <a:r>
              <a:rPr lang="en-US" altLang="zh-TW" i="1" baseline="-25000" smtClean="0"/>
              <a:t>B</a:t>
            </a:r>
            <a:r>
              <a:rPr lang="en-US" altLang="zh-TW" i="1" smtClean="0"/>
              <a:t> such that pre&lt;</a:t>
            </a:r>
            <a:r>
              <a:rPr lang="en-US" altLang="zh-TW" i="1" baseline="-25000" smtClean="0"/>
              <a:t>B</a:t>
            </a:r>
            <a:r>
              <a:rPr lang="en-US" altLang="zh-TW" i="1" smtClean="0"/>
              <a:t> (μ) </a:t>
            </a:r>
            <a:r>
              <a:rPr lang="en-US" altLang="en-US" i="1" smtClean="0"/>
              <a:t>≧</a:t>
            </a:r>
            <a:r>
              <a:rPr lang="en-US" altLang="zh-TW" i="1" smtClean="0"/>
              <a:t>kpre and suf&lt;</a:t>
            </a:r>
            <a:r>
              <a:rPr lang="en-US" altLang="zh-TW" i="1" baseline="-25000" smtClean="0"/>
              <a:t>B</a:t>
            </a:r>
            <a:r>
              <a:rPr lang="en-US" altLang="zh-TW" i="1" smtClean="0"/>
              <a:t> (μ) </a:t>
            </a:r>
            <a:r>
              <a:rPr lang="en-US" altLang="en-US" i="1" smtClean="0"/>
              <a:t>≧</a:t>
            </a:r>
            <a:r>
              <a:rPr lang="en-US" altLang="zh-TW" i="1" smtClean="0"/>
              <a:t>ksuf , then (Π,&lt;B ) </a:t>
            </a:r>
            <a:r>
              <a:rPr lang="en-US" altLang="zh-TW" smtClean="0">
                <a:cs typeface="Times New Roman" pitchFamily="18" charset="0"/>
              </a:rPr>
              <a:t>╞</a:t>
            </a:r>
            <a:r>
              <a:rPr lang="en-US" altLang="zh-TW" i="1" smtClean="0"/>
              <a:t> </a:t>
            </a:r>
            <a:r>
              <a:rPr lang="en-US" altLang="zh-TW" baseline="-25000" smtClean="0"/>
              <a:t>d</a:t>
            </a:r>
            <a:r>
              <a:rPr lang="en-US" altLang="zh-TW" smtClean="0"/>
              <a:t> </a:t>
            </a:r>
            <a:r>
              <a:rPr lang="en-US" altLang="zh-TW" i="1" smtClean="0"/>
              <a:t>π.</a:t>
            </a:r>
          </a:p>
          <a:p>
            <a:pPr>
              <a:lnSpc>
                <a:spcPct val="90000"/>
              </a:lnSpc>
            </a:pPr>
            <a:r>
              <a:rPr lang="en-US" altLang="zh-TW" b="1" smtClean="0"/>
              <a:t>Claim 5. </a:t>
            </a:r>
            <a:r>
              <a:rPr lang="en-US" altLang="zh-TW" i="1" smtClean="0"/>
              <a:t>If for all π</a:t>
            </a:r>
            <a:r>
              <a:rPr lang="en-US" altLang="zh-TW" i="1" baseline="-25000" smtClean="0"/>
              <a:t>i</a:t>
            </a:r>
            <a:r>
              <a:rPr lang="en-US" altLang="zh-TW" i="1" smtClean="0"/>
              <a:t> </a:t>
            </a:r>
            <a:r>
              <a:rPr lang="en-US" altLang="zh-TW" smtClean="0"/>
              <a:t>∈ </a:t>
            </a:r>
            <a:r>
              <a:rPr lang="en-US" altLang="zh-TW" i="1" smtClean="0"/>
              <a:t>B, either all matchings μ </a:t>
            </a:r>
            <a:r>
              <a:rPr lang="en-US" altLang="zh-TW" smtClean="0"/>
              <a:t>∈ </a:t>
            </a:r>
            <a:r>
              <a:rPr lang="en-US" altLang="zh-TW" i="1" smtClean="0"/>
              <a:t>H</a:t>
            </a:r>
            <a:r>
              <a:rPr lang="en-US" altLang="zh-TW" i="1" baseline="-25000" smtClean="0"/>
              <a:t>B</a:t>
            </a:r>
            <a:r>
              <a:rPr lang="en-US" altLang="zh-TW" i="1" smtClean="0"/>
              <a:t> into π</a:t>
            </a:r>
            <a:r>
              <a:rPr lang="en-US" altLang="zh-TW" i="1" baseline="-25000" smtClean="0"/>
              <a:t>i</a:t>
            </a:r>
            <a:r>
              <a:rPr lang="en-US" altLang="zh-TW" i="1" smtClean="0"/>
              <a:t>  have pre&lt;</a:t>
            </a:r>
            <a:r>
              <a:rPr lang="en-US" altLang="zh-TW" i="1" baseline="-25000" smtClean="0"/>
              <a:t>B</a:t>
            </a:r>
            <a:r>
              <a:rPr lang="en-US" altLang="zh-TW" i="1" smtClean="0"/>
              <a:t> (μ) &lt; kpre or all matchings μ </a:t>
            </a:r>
            <a:r>
              <a:rPr lang="en-US" altLang="zh-TW" smtClean="0"/>
              <a:t>∈ </a:t>
            </a:r>
            <a:r>
              <a:rPr lang="en-US" altLang="zh-TW" i="1" smtClean="0"/>
              <a:t>H</a:t>
            </a:r>
            <a:r>
              <a:rPr lang="en-US" altLang="zh-TW" i="1" baseline="-25000" smtClean="0"/>
              <a:t>B</a:t>
            </a:r>
            <a:r>
              <a:rPr lang="en-US" altLang="zh-TW" i="1" smtClean="0"/>
              <a:t> into π</a:t>
            </a:r>
            <a:r>
              <a:rPr lang="en-US" altLang="zh-TW" i="1" baseline="-25000" smtClean="0"/>
              <a:t>i</a:t>
            </a:r>
            <a:r>
              <a:rPr lang="en-US" altLang="zh-TW" i="1" smtClean="0"/>
              <a:t> have  suf&lt;</a:t>
            </a:r>
            <a:r>
              <a:rPr lang="en-US" altLang="zh-TW" i="1" baseline="-25000" smtClean="0"/>
              <a:t>B</a:t>
            </a:r>
            <a:r>
              <a:rPr lang="en-US" altLang="zh-TW" i="1" smtClean="0"/>
              <a:t> (μ) &lt;ksuf , then (Π,&lt;B ) </a:t>
            </a:r>
            <a:r>
              <a:rPr lang="en-US" altLang="zh-TW" smtClean="0">
                <a:cs typeface="Times New Roman" pitchFamily="18" charset="0"/>
              </a:rPr>
              <a:t>╞</a:t>
            </a:r>
            <a:r>
              <a:rPr lang="en-US" altLang="zh-TW" i="1" smtClean="0"/>
              <a:t> </a:t>
            </a:r>
            <a:r>
              <a:rPr lang="en-US" altLang="zh-TW" baseline="-25000" smtClean="0"/>
              <a:t>d</a:t>
            </a:r>
            <a:r>
              <a:rPr lang="en-US" altLang="zh-TW" smtClean="0"/>
              <a:t> </a:t>
            </a:r>
            <a:r>
              <a:rPr lang="en-US" altLang="zh-TW" i="1" smtClean="0"/>
              <a:t>π.</a:t>
            </a:r>
            <a:endParaRPr lang="zh-TW" altLang="en-US" i="1" smtClean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 smtClean="0"/>
          </a:p>
        </p:txBody>
      </p:sp>
      <p:sp>
        <p:nvSpPr>
          <p:cNvPr id="32771" name="Rectangle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b="1" smtClean="0"/>
              <a:t>Claim 6. </a:t>
            </a:r>
            <a:r>
              <a:rPr lang="en-US" altLang="zh-TW" i="1" smtClean="0"/>
              <a:t>If </a:t>
            </a:r>
            <a:r>
              <a:rPr lang="en-US" altLang="zh-TW" i="1" smtClean="0">
                <a:cs typeface="Times New Roman" pitchFamily="18" charset="0"/>
              </a:rPr>
              <a:t>∑</a:t>
            </a:r>
            <a:r>
              <a:rPr lang="en-US" altLang="zh-TW" i="1" baseline="-25000" smtClean="0"/>
              <a:t>π</a:t>
            </a:r>
            <a:r>
              <a:rPr lang="en-US" altLang="zh-TW" baseline="-25000" smtClean="0"/>
              <a:t>∈</a:t>
            </a:r>
            <a:r>
              <a:rPr lang="en-US" altLang="zh-TW" i="1" baseline="-25000" smtClean="0"/>
              <a:t>Π</a:t>
            </a:r>
            <a:r>
              <a:rPr lang="en-US" altLang="zh-TW" baseline="-25000" smtClean="0"/>
              <a:t>\</a:t>
            </a:r>
            <a:r>
              <a:rPr lang="en-US" altLang="zh-TW" i="1" baseline="-25000" smtClean="0"/>
              <a:t>B</a:t>
            </a:r>
            <a:r>
              <a:rPr lang="en-US" altLang="zh-TW" i="1" smtClean="0"/>
              <a:t> </a:t>
            </a:r>
            <a:r>
              <a:rPr lang="en-US" altLang="zh-TW" smtClean="0">
                <a:cs typeface="Times New Roman" pitchFamily="18" charset="0"/>
              </a:rPr>
              <a:t>|</a:t>
            </a:r>
            <a:r>
              <a:rPr lang="en-US" altLang="zh-TW" i="1" smtClean="0"/>
              <a:t>πi </a:t>
            </a:r>
            <a:r>
              <a:rPr lang="en-US" altLang="zh-TW" smtClean="0"/>
              <a:t>| </a:t>
            </a:r>
            <a:r>
              <a:rPr lang="en-US" altLang="en-US" smtClean="0"/>
              <a:t>≧</a:t>
            </a:r>
            <a:r>
              <a:rPr lang="en-US" altLang="zh-TW" i="1" smtClean="0"/>
              <a:t>kpre </a:t>
            </a:r>
            <a:r>
              <a:rPr lang="en-US" altLang="zh-TW" smtClean="0"/>
              <a:t>+</a:t>
            </a:r>
            <a:r>
              <a:rPr lang="en-US" altLang="zh-TW" i="1" smtClean="0"/>
              <a:t>ksuf , then (Π,&lt;B ) </a:t>
            </a:r>
            <a:r>
              <a:rPr lang="en-US" altLang="zh-TW" smtClean="0">
                <a:cs typeface="Times New Roman" pitchFamily="18" charset="0"/>
              </a:rPr>
              <a:t>╞</a:t>
            </a:r>
            <a:r>
              <a:rPr lang="en-US" altLang="zh-TW" i="1" smtClean="0"/>
              <a:t> </a:t>
            </a:r>
            <a:r>
              <a:rPr lang="en-US" altLang="zh-TW" baseline="-25000" smtClean="0"/>
              <a:t>d</a:t>
            </a:r>
            <a:r>
              <a:rPr lang="en-US" altLang="zh-TW" smtClean="0"/>
              <a:t> </a:t>
            </a:r>
            <a:r>
              <a:rPr lang="en-US" altLang="zh-TW" i="1" smtClean="0"/>
              <a:t>π.</a:t>
            </a:r>
          </a:p>
          <a:p>
            <a:r>
              <a:rPr lang="en-US" altLang="zh-TW" b="1" smtClean="0"/>
              <a:t>Claim 7. </a:t>
            </a:r>
            <a:r>
              <a:rPr lang="en-US" altLang="zh-TW" i="1" smtClean="0"/>
              <a:t>If for each partition (S, S’) of Π </a:t>
            </a:r>
            <a:r>
              <a:rPr lang="en-US" altLang="zh-TW" smtClean="0"/>
              <a:t>\ </a:t>
            </a:r>
            <a:r>
              <a:rPr lang="en-US" altLang="zh-TW" i="1" smtClean="0"/>
              <a:t>B there exists a matching μ </a:t>
            </a:r>
            <a:r>
              <a:rPr lang="en-US" altLang="zh-TW" smtClean="0"/>
              <a:t>∈ </a:t>
            </a:r>
            <a:r>
              <a:rPr lang="en-US" altLang="zh-TW" i="1" smtClean="0"/>
              <a:t>H</a:t>
            </a:r>
            <a:r>
              <a:rPr lang="en-US" altLang="zh-TW" i="1" baseline="-25000" smtClean="0"/>
              <a:t>B</a:t>
            </a:r>
            <a:r>
              <a:rPr lang="en-US" altLang="zh-TW" i="1" smtClean="0"/>
              <a:t> into π</a:t>
            </a:r>
            <a:r>
              <a:rPr lang="en-US" altLang="zh-TW" i="1" baseline="-25000" smtClean="0"/>
              <a:t>r</a:t>
            </a:r>
            <a:r>
              <a:rPr lang="en-US" altLang="zh-TW" i="1" smtClean="0"/>
              <a:t> such that pre&lt;</a:t>
            </a:r>
            <a:r>
              <a:rPr lang="en-US" altLang="zh-TW" i="1" baseline="-25000" smtClean="0"/>
              <a:t>B</a:t>
            </a:r>
            <a:r>
              <a:rPr lang="en-US" altLang="zh-TW" i="1" smtClean="0"/>
              <a:t> (μ) </a:t>
            </a:r>
            <a:r>
              <a:rPr lang="en-US" altLang="zh-TW" smtClean="0"/>
              <a:t>+</a:t>
            </a:r>
            <a:r>
              <a:rPr lang="en-US" altLang="zh-TW" smtClean="0">
                <a:cs typeface="Times New Roman" pitchFamily="18" charset="0"/>
              </a:rPr>
              <a:t>∑</a:t>
            </a:r>
            <a:r>
              <a:rPr lang="en-US" altLang="zh-TW" i="1" baseline="-25000" smtClean="0"/>
              <a:t>πi</a:t>
            </a:r>
            <a:r>
              <a:rPr lang="en-US" altLang="zh-TW" baseline="-25000" smtClean="0"/>
              <a:t>∈</a:t>
            </a:r>
            <a:r>
              <a:rPr lang="en-US" altLang="zh-TW" i="1" baseline="-25000" smtClean="0"/>
              <a:t>S</a:t>
            </a:r>
            <a:r>
              <a:rPr lang="en-US" altLang="zh-TW" smtClean="0"/>
              <a:t>|</a:t>
            </a:r>
            <a:r>
              <a:rPr lang="en-US" altLang="zh-TW" i="1" smtClean="0"/>
              <a:t>πi </a:t>
            </a:r>
            <a:r>
              <a:rPr lang="en-US" altLang="zh-TW" smtClean="0"/>
              <a:t>| ≧</a:t>
            </a:r>
            <a:r>
              <a:rPr lang="en-US" altLang="zh-TW" i="1" smtClean="0"/>
              <a:t>kpre and suf&lt;</a:t>
            </a:r>
            <a:r>
              <a:rPr lang="en-US" altLang="zh-TW" i="1" baseline="-25000" smtClean="0"/>
              <a:t>B</a:t>
            </a:r>
            <a:r>
              <a:rPr lang="en-US" altLang="zh-TW" i="1" smtClean="0"/>
              <a:t> (μ) </a:t>
            </a:r>
            <a:r>
              <a:rPr lang="en-US" altLang="zh-TW" smtClean="0"/>
              <a:t>+</a:t>
            </a:r>
            <a:r>
              <a:rPr lang="en-US" altLang="zh-TW" smtClean="0">
                <a:cs typeface="Times New Roman" pitchFamily="18" charset="0"/>
              </a:rPr>
              <a:t>∑</a:t>
            </a:r>
            <a:r>
              <a:rPr lang="en-US" altLang="zh-TW" i="1" baseline="-25000" smtClean="0"/>
              <a:t>πi</a:t>
            </a:r>
            <a:r>
              <a:rPr lang="en-US" altLang="zh-TW" baseline="-25000" smtClean="0"/>
              <a:t>∈</a:t>
            </a:r>
            <a:r>
              <a:rPr lang="en-US" altLang="zh-TW" i="1" baseline="-25000" smtClean="0"/>
              <a:t>S</a:t>
            </a:r>
            <a:r>
              <a:rPr lang="en-US" altLang="zh-TW" smtClean="0"/>
              <a:t> |</a:t>
            </a:r>
            <a:r>
              <a:rPr lang="en-US" altLang="zh-TW" i="1" smtClean="0"/>
              <a:t>πi </a:t>
            </a:r>
            <a:r>
              <a:rPr lang="en-US" altLang="zh-TW" smtClean="0"/>
              <a:t>|≧</a:t>
            </a:r>
            <a:r>
              <a:rPr lang="en-US" altLang="zh-TW" i="1" smtClean="0"/>
              <a:t>ksuf , then (Π,&lt;B ) </a:t>
            </a:r>
            <a:r>
              <a:rPr lang="en-US" altLang="zh-TW" smtClean="0">
                <a:cs typeface="Times New Roman" pitchFamily="18" charset="0"/>
              </a:rPr>
              <a:t>╞</a:t>
            </a:r>
            <a:r>
              <a:rPr lang="en-US" altLang="zh-TW" i="1" smtClean="0"/>
              <a:t> </a:t>
            </a:r>
            <a:r>
              <a:rPr lang="en-US" altLang="zh-TW" baseline="-25000" smtClean="0"/>
              <a:t>d</a:t>
            </a:r>
            <a:r>
              <a:rPr lang="en-US" altLang="zh-TW" smtClean="0"/>
              <a:t> </a:t>
            </a:r>
            <a:r>
              <a:rPr lang="en-US" altLang="zh-TW" i="1" smtClean="0"/>
              <a:t>π.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 smtClean="0"/>
          </a:p>
        </p:txBody>
      </p:sp>
      <p:sp>
        <p:nvSpPr>
          <p:cNvPr id="33795" name="Rectangle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sz="2800" smtClean="0"/>
              <a:t>The cost of this procedure is dominated by the cost of</a:t>
            </a:r>
          </a:p>
          <a:p>
            <a:pPr>
              <a:buFont typeface="Arial" charset="0"/>
              <a:buNone/>
            </a:pPr>
            <a:r>
              <a:rPr lang="en-US" altLang="zh-TW" sz="2800" smtClean="0"/>
              <a:t>	the following computation:</a:t>
            </a:r>
          </a:p>
          <a:p>
            <a:pPr>
              <a:buFont typeface="Arial" charset="0"/>
              <a:buNone/>
            </a:pPr>
            <a:r>
              <a:rPr lang="en-US" altLang="zh-TW" sz="2800" smtClean="0"/>
              <a:t>• compute sets </a:t>
            </a:r>
            <a:r>
              <a:rPr lang="en-US" altLang="zh-TW" sz="2800" i="1" smtClean="0"/>
              <a:t>B </a:t>
            </a:r>
            <a:r>
              <a:rPr lang="en-US" altLang="zh-TW" sz="2800" smtClean="0"/>
              <a:t>and </a:t>
            </a:r>
            <a:r>
              <a:rPr lang="en-US" altLang="zh-TW" sz="2800" i="1" smtClean="0"/>
              <a:t>H</a:t>
            </a:r>
            <a:r>
              <a:rPr lang="en-US" altLang="zh-TW" sz="2800" i="1" baseline="-25000" smtClean="0"/>
              <a:t>B</a:t>
            </a:r>
            <a:r>
              <a:rPr lang="en-US" altLang="zh-TW" sz="2800" i="1" smtClean="0"/>
              <a:t> </a:t>
            </a:r>
            <a:r>
              <a:rPr lang="en-US" altLang="zh-TW" sz="2800" smtClean="0"/>
              <a:t>;</a:t>
            </a:r>
          </a:p>
          <a:p>
            <a:pPr>
              <a:buFont typeface="Arial" charset="0"/>
              <a:buNone/>
            </a:pPr>
            <a:r>
              <a:rPr lang="en-US" altLang="zh-TW" sz="2800" smtClean="0"/>
              <a:t>• check |</a:t>
            </a:r>
            <a:r>
              <a:rPr lang="en-US" altLang="zh-TW" sz="2800" i="1" smtClean="0"/>
              <a:t>B</a:t>
            </a:r>
            <a:r>
              <a:rPr lang="en-US" altLang="zh-TW" sz="2800" smtClean="0"/>
              <a:t>| </a:t>
            </a:r>
            <a:r>
              <a:rPr lang="en-US" altLang="zh-TW" sz="2800" i="1" smtClean="0"/>
              <a:t>kpre </a:t>
            </a:r>
            <a:r>
              <a:rPr lang="en-US" altLang="zh-TW" sz="2800" smtClean="0"/>
              <a:t>+</a:t>
            </a:r>
            <a:r>
              <a:rPr lang="en-US" altLang="zh-TW" sz="2800" i="1" smtClean="0"/>
              <a:t>ksuf </a:t>
            </a:r>
            <a:r>
              <a:rPr lang="en-US" altLang="zh-TW" sz="2800" smtClean="0"/>
              <a:t>+1;</a:t>
            </a:r>
          </a:p>
          <a:p>
            <a:pPr>
              <a:buFont typeface="Arial" charset="0"/>
              <a:buNone/>
            </a:pPr>
            <a:r>
              <a:rPr lang="en-US" altLang="zh-TW" sz="2800" smtClean="0"/>
              <a:t>• in the case |</a:t>
            </a:r>
            <a:r>
              <a:rPr lang="en-US" altLang="zh-TW" sz="2800" i="1" smtClean="0"/>
              <a:t>B</a:t>
            </a:r>
            <a:r>
              <a:rPr lang="en-US" altLang="zh-TW" sz="2800" smtClean="0"/>
              <a:t>| </a:t>
            </a:r>
            <a:r>
              <a:rPr lang="en-US" altLang="zh-TW" sz="2800" i="1" smtClean="0"/>
              <a:t>&lt;kpre</a:t>
            </a:r>
            <a:r>
              <a:rPr lang="en-US" altLang="zh-TW" sz="2800" smtClean="0"/>
              <a:t>+</a:t>
            </a:r>
            <a:r>
              <a:rPr lang="en-US" altLang="zh-TW" sz="2800" i="1" smtClean="0"/>
              <a:t>ksuf </a:t>
            </a:r>
            <a:r>
              <a:rPr lang="en-US" altLang="zh-TW" sz="2800" smtClean="0"/>
              <a:t>+1, for each total order </a:t>
            </a:r>
            <a:r>
              <a:rPr lang="en-US" altLang="zh-TW" sz="2800" i="1" smtClean="0"/>
              <a:t>&lt;</a:t>
            </a:r>
            <a:r>
              <a:rPr lang="en-US" altLang="zh-TW" sz="2800" i="1" baseline="-25000" smtClean="0"/>
              <a:t>B</a:t>
            </a:r>
            <a:r>
              <a:rPr lang="en-US" altLang="zh-TW" sz="2800" smtClean="0"/>
              <a:t>on </a:t>
            </a:r>
            <a:r>
              <a:rPr lang="en-US" altLang="zh-TW" sz="2800" i="1" smtClean="0"/>
              <a:t>B</a:t>
            </a:r>
          </a:p>
          <a:p>
            <a:pPr>
              <a:buFont typeface="Arial" charset="0"/>
              <a:buNone/>
            </a:pPr>
            <a:r>
              <a:rPr lang="en-US" altLang="zh-TW" sz="2800" smtClean="0"/>
              <a:t>	– compute </a:t>
            </a:r>
            <a:r>
              <a:rPr lang="en-US" altLang="zh-TW" sz="2800" i="1" smtClean="0"/>
              <a:t>pre&lt;</a:t>
            </a:r>
            <a:r>
              <a:rPr lang="en-US" altLang="zh-TW" sz="2800" i="1" baseline="-25000" smtClean="0"/>
              <a:t>B</a:t>
            </a:r>
            <a:r>
              <a:rPr lang="en-US" altLang="zh-TW" sz="2800" i="1" smtClean="0"/>
              <a:t> (μ) </a:t>
            </a:r>
            <a:r>
              <a:rPr lang="en-US" altLang="zh-TW" sz="2800" smtClean="0"/>
              <a:t>and </a:t>
            </a:r>
            <a:r>
              <a:rPr lang="en-US" altLang="zh-TW" sz="2800" i="1" smtClean="0"/>
              <a:t>suf&lt;</a:t>
            </a:r>
            <a:r>
              <a:rPr lang="en-US" altLang="zh-TW" sz="2800" i="1" baseline="-25000" smtClean="0"/>
              <a:t>B</a:t>
            </a:r>
            <a:r>
              <a:rPr lang="en-US" altLang="zh-TW" sz="2800" i="1" smtClean="0"/>
              <a:t> (μ) </a:t>
            </a:r>
            <a:r>
              <a:rPr lang="en-US" altLang="zh-TW" sz="2800" smtClean="0"/>
              <a:t>for all </a:t>
            </a:r>
            <a:r>
              <a:rPr lang="en-US" altLang="zh-TW" sz="2800" i="1" smtClean="0"/>
              <a:t>μ </a:t>
            </a:r>
            <a:r>
              <a:rPr lang="en-US" altLang="zh-TW" sz="2800" smtClean="0"/>
              <a:t>∈ </a:t>
            </a:r>
            <a:r>
              <a:rPr lang="en-US" altLang="zh-TW" sz="2800" i="1" smtClean="0"/>
              <a:t>H</a:t>
            </a:r>
            <a:r>
              <a:rPr lang="en-US" altLang="zh-TW" sz="2800" i="1" baseline="-25000" smtClean="0"/>
              <a:t>B</a:t>
            </a:r>
            <a:r>
              <a:rPr lang="en-US" altLang="zh-TW" sz="2800" i="1" smtClean="0"/>
              <a:t> </a:t>
            </a:r>
            <a:r>
              <a:rPr lang="en-US" altLang="zh-TW" sz="2800" smtClean="0"/>
              <a:t>;</a:t>
            </a:r>
          </a:p>
          <a:p>
            <a:pPr>
              <a:buFont typeface="Arial" charset="0"/>
              <a:buNone/>
            </a:pPr>
            <a:r>
              <a:rPr lang="en-US" altLang="zh-TW" sz="2800" smtClean="0"/>
              <a:t>	– check conditions of Claims 4, 5, 6 and 7.</a:t>
            </a:r>
            <a:endParaRPr lang="zh-TW" altLang="en-US" sz="2800" smtClean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訂 1">
      <a:majorFont>
        <a:latin typeface="Times New Roman"/>
        <a:ea typeface="新細明體"/>
        <a:cs typeface=""/>
      </a:majorFont>
      <a:minorFont>
        <a:latin typeface="Times New Roman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696</TotalTime>
  <Words>717</Words>
  <PresentationFormat>On-screen Show (4:3)</PresentationFormat>
  <Paragraphs>51</Paragraphs>
  <Slides>14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簡報設計範本</vt:lpstr>
      </vt:variant>
      <vt:variant>
        <vt:i4>1</vt:i4>
      </vt:variant>
      <vt:variant>
        <vt:lpstr>投影片標題</vt:lpstr>
      </vt:variant>
      <vt:variant>
        <vt:i4>14</vt:i4>
      </vt:variant>
    </vt:vector>
  </HeadingPairs>
  <TitlesOfParts>
    <vt:vector size="20" baseType="lpstr">
      <vt:lpstr>Times New Roman</vt:lpstr>
      <vt:lpstr>新細明體</vt:lpstr>
      <vt:lpstr>Arial</vt:lpstr>
      <vt:lpstr>Calibri</vt:lpstr>
      <vt:lpstr>Tahoma</vt:lpstr>
      <vt:lpstr>Office 佈景主題</vt:lpstr>
      <vt:lpstr>Disjoint pattern matching and implication in string</vt:lpstr>
      <vt:lpstr>ABSTRACT</vt:lpstr>
      <vt:lpstr>符號介紹</vt:lpstr>
      <vt:lpstr>投影片 4</vt:lpstr>
      <vt:lpstr>投影片 5</vt:lpstr>
      <vt:lpstr>Theorem 1</vt:lpstr>
      <vt:lpstr>投影片 7</vt:lpstr>
      <vt:lpstr>投影片 8</vt:lpstr>
      <vt:lpstr>投影片 9</vt:lpstr>
      <vt:lpstr>投影片 10</vt:lpstr>
      <vt:lpstr>投影片 11</vt:lpstr>
      <vt:lpstr>投影片 12</vt:lpstr>
      <vt:lpstr>投影片 13</vt:lpstr>
      <vt:lpstr>投影片 14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Predicting the Disulfide Bonding State of Cysteines Using Protein Descriptors</dc:title>
  <cp:lastModifiedBy>siao-ming jhou</cp:lastModifiedBy>
  <cp:revision>61</cp:revision>
  <dcterms:modified xsi:type="dcterms:W3CDTF">2009-12-29T10:35:52Z</dcterms:modified>
</cp:coreProperties>
</file>