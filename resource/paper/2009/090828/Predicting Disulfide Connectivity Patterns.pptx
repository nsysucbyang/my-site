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2" r:id="rId5"/>
    <p:sldId id="261" r:id="rId6"/>
    <p:sldId id="264" r:id="rId7"/>
    <p:sldId id="259" r:id="rId8"/>
    <p:sldId id="263" r:id="rId9"/>
    <p:sldId id="260" r:id="rId10"/>
    <p:sldId id="265" r:id="rId11"/>
    <p:sldId id="266" r:id="rId12"/>
    <p:sldId id="267" r:id="rId13"/>
    <p:sldId id="268" r:id="rId14"/>
    <p:sldId id="269"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3621" autoAdjust="0"/>
  </p:normalViewPr>
  <p:slideViewPr>
    <p:cSldViewPr>
      <p:cViewPr varScale="1">
        <p:scale>
          <a:sx n="90" d="100"/>
          <a:sy n="90" d="100"/>
        </p:scale>
        <p:origin x="-59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2C8DE1-A4DD-4448-8536-A94255B12A89}" type="datetimeFigureOut">
              <a:rPr lang="zh-TW" altLang="en-US" smtClean="0"/>
              <a:pPr/>
              <a:t>2009/8/28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8EAEB5-1702-4AE3-9085-1485EF132A39}"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fontScale="92500" lnSpcReduction="10000"/>
          </a:bodyPr>
          <a:lstStyle/>
          <a:p>
            <a:r>
              <a:rPr lang="it-IT" altLang="zh-TW" sz="2400" b="0" kern="1200" baseline="0" dirty="0" smtClean="0">
                <a:solidFill>
                  <a:schemeClr val="tx1"/>
                </a:solidFill>
                <a:latin typeface="Times New Roman" pitchFamily="18" charset="0"/>
                <a:ea typeface="+mn-ea"/>
                <a:cs typeface="Times New Roman" pitchFamily="18" charset="0"/>
              </a:rPr>
              <a:t>Let w</a:t>
            </a:r>
            <a:r>
              <a:rPr lang="it-IT" altLang="zh-TW" sz="2400" b="0" i="1" kern="1200" baseline="-25000" dirty="0" smtClean="0">
                <a:solidFill>
                  <a:schemeClr val="tx1"/>
                </a:solidFill>
                <a:latin typeface="Times New Roman" pitchFamily="18" charset="0"/>
                <a:ea typeface="+mn-ea"/>
                <a:cs typeface="Times New Roman" pitchFamily="18" charset="0"/>
              </a:rPr>
              <a:t>i</a:t>
            </a:r>
            <a:r>
              <a:rPr lang="it-IT" altLang="zh-TW" sz="2400" b="0" i="1" kern="1200" baseline="0" dirty="0" smtClean="0">
                <a:solidFill>
                  <a:schemeClr val="tx1"/>
                </a:solidFill>
                <a:latin typeface="Times New Roman" pitchFamily="18" charset="0"/>
                <a:ea typeface="+mn-ea"/>
                <a:cs typeface="Times New Roman" pitchFamily="18" charset="0"/>
              </a:rPr>
              <a:t>=(a</a:t>
            </a:r>
            <a:r>
              <a:rPr lang="it-IT" altLang="zh-TW" sz="2400" b="0" i="1" kern="1200" baseline="-25000" dirty="0" smtClean="0">
                <a:solidFill>
                  <a:schemeClr val="tx1"/>
                </a:solidFill>
                <a:latin typeface="Times New Roman" pitchFamily="18" charset="0"/>
                <a:ea typeface="+mn-ea"/>
                <a:cs typeface="Times New Roman" pitchFamily="18" charset="0"/>
              </a:rPr>
              <a:t>l-l,</a:t>
            </a:r>
            <a:r>
              <a:rPr lang="it-IT" altLang="zh-TW" sz="2400" b="0" i="1" kern="1200" baseline="0" dirty="0" smtClean="0">
                <a:solidFill>
                  <a:schemeClr val="tx1"/>
                </a:solidFill>
                <a:latin typeface="Times New Roman" pitchFamily="18" charset="0"/>
                <a:ea typeface="+mn-ea"/>
                <a:cs typeface="Times New Roman" pitchFamily="18" charset="0"/>
              </a:rPr>
              <a:t>…,a</a:t>
            </a:r>
            <a:r>
              <a:rPr lang="it-IT" altLang="zh-TW" sz="2400" b="0" i="1" kern="1200" baseline="-25000" dirty="0" smtClean="0">
                <a:solidFill>
                  <a:schemeClr val="tx1"/>
                </a:solidFill>
                <a:latin typeface="Times New Roman" pitchFamily="18" charset="0"/>
                <a:ea typeface="+mn-ea"/>
                <a:cs typeface="Times New Roman" pitchFamily="18" charset="0"/>
              </a:rPr>
              <a:t>i-1,</a:t>
            </a:r>
            <a:r>
              <a:rPr lang="it-IT" altLang="zh-TW" sz="2400" b="0" i="1" kern="1200" baseline="0" dirty="0" smtClean="0">
                <a:solidFill>
                  <a:schemeClr val="tx1"/>
                </a:solidFill>
                <a:latin typeface="Times New Roman" pitchFamily="18" charset="0"/>
                <a:ea typeface="+mn-ea"/>
                <a:cs typeface="Times New Roman" pitchFamily="18" charset="0"/>
              </a:rPr>
              <a:t>a</a:t>
            </a:r>
            <a:r>
              <a:rPr lang="it-IT" altLang="zh-TW" sz="2400" b="0" i="1" kern="1200" baseline="-25000" dirty="0" smtClean="0">
                <a:solidFill>
                  <a:schemeClr val="tx1"/>
                </a:solidFill>
                <a:latin typeface="Times New Roman" pitchFamily="18" charset="0"/>
                <a:ea typeface="+mn-ea"/>
                <a:cs typeface="Times New Roman" pitchFamily="18" charset="0"/>
              </a:rPr>
              <a:t>i</a:t>
            </a:r>
            <a:r>
              <a:rPr lang="it-IT" altLang="zh-TW" sz="2400" b="0" i="1" kern="1200" baseline="0" dirty="0" smtClean="0">
                <a:solidFill>
                  <a:schemeClr val="tx1"/>
                </a:solidFill>
                <a:latin typeface="Times New Roman" pitchFamily="18" charset="0"/>
                <a:ea typeface="+mn-ea"/>
                <a:cs typeface="Times New Roman" pitchFamily="18" charset="0"/>
              </a:rPr>
              <a:t>,a</a:t>
            </a:r>
            <a:r>
              <a:rPr lang="it-IT" altLang="zh-TW" sz="2400" b="0" i="1" kern="1200" baseline="-25000" dirty="0" smtClean="0">
                <a:solidFill>
                  <a:schemeClr val="tx1"/>
                </a:solidFill>
                <a:latin typeface="Times New Roman" pitchFamily="18" charset="0"/>
                <a:ea typeface="+mn-ea"/>
                <a:cs typeface="Times New Roman" pitchFamily="18" charset="0"/>
              </a:rPr>
              <a:t>i+1</a:t>
            </a:r>
            <a:r>
              <a:rPr lang="it-IT" altLang="zh-TW" sz="2400" b="0" i="1" kern="1200" baseline="0" dirty="0" smtClean="0">
                <a:solidFill>
                  <a:schemeClr val="tx1"/>
                </a:solidFill>
                <a:latin typeface="Times New Roman" pitchFamily="18" charset="0"/>
                <a:ea typeface="+mn-ea"/>
                <a:cs typeface="Times New Roman" pitchFamily="18" charset="0"/>
              </a:rPr>
              <a:t>,…a</a:t>
            </a:r>
            <a:r>
              <a:rPr lang="it-IT" altLang="zh-TW" sz="2400" b="0" i="1" kern="1200" baseline="-25000" dirty="0" smtClean="0">
                <a:solidFill>
                  <a:schemeClr val="tx1"/>
                </a:solidFill>
                <a:latin typeface="Times New Roman" pitchFamily="18" charset="0"/>
                <a:ea typeface="+mn-ea"/>
                <a:cs typeface="Times New Roman" pitchFamily="18" charset="0"/>
              </a:rPr>
              <a:t>i+l</a:t>
            </a:r>
            <a:r>
              <a:rPr lang="it-IT" altLang="zh-TW" sz="2400" b="0" i="1" kern="1200" baseline="0" dirty="0" smtClean="0">
                <a:solidFill>
                  <a:schemeClr val="tx1"/>
                </a:solidFill>
                <a:latin typeface="Times New Roman" pitchFamily="18" charset="0"/>
                <a:ea typeface="+mn-ea"/>
                <a:cs typeface="Times New Roman" pitchFamily="18" charset="0"/>
              </a:rPr>
              <a:t>) </a:t>
            </a:r>
            <a:r>
              <a:rPr lang="it-IT" altLang="zh-TW" sz="2400" b="0" i="0" kern="1200" baseline="0" dirty="0" smtClean="0">
                <a:solidFill>
                  <a:schemeClr val="tx1"/>
                </a:solidFill>
                <a:latin typeface="Times New Roman" pitchFamily="18" charset="0"/>
                <a:ea typeface="+mn-ea"/>
                <a:cs typeface="Times New Roman" pitchFamily="18" charset="0"/>
              </a:rPr>
              <a:t>denote the sequence </a:t>
            </a:r>
            <a:r>
              <a:rPr lang="en-US" altLang="zh-TW" sz="2400" b="0" kern="1200" baseline="0" dirty="0" smtClean="0">
                <a:solidFill>
                  <a:schemeClr val="tx1"/>
                </a:solidFill>
                <a:latin typeface="Times New Roman" pitchFamily="18" charset="0"/>
                <a:ea typeface="+mn-ea"/>
                <a:cs typeface="Times New Roman" pitchFamily="18" charset="0"/>
              </a:rPr>
              <a:t>window of size 2</a:t>
            </a:r>
            <a:r>
              <a:rPr lang="en-US" altLang="zh-TW" sz="2400" b="0" i="1" kern="1200" baseline="0" dirty="0" smtClean="0">
                <a:solidFill>
                  <a:schemeClr val="tx1"/>
                </a:solidFill>
                <a:latin typeface="Times New Roman" pitchFamily="18" charset="0"/>
                <a:ea typeface="+mn-ea"/>
                <a:cs typeface="Times New Roman" pitchFamily="18" charset="0"/>
              </a:rPr>
              <a:t>l +1 centered around the bonded </a:t>
            </a:r>
            <a:r>
              <a:rPr lang="en-US" altLang="zh-TW" sz="2400" b="0" i="1" kern="1200" baseline="0" dirty="0" err="1" smtClean="0">
                <a:solidFill>
                  <a:schemeClr val="tx1"/>
                </a:solidFill>
                <a:latin typeface="Times New Roman" pitchFamily="18" charset="0"/>
                <a:ea typeface="+mn-ea"/>
                <a:cs typeface="Times New Roman" pitchFamily="18" charset="0"/>
              </a:rPr>
              <a:t>cysteine</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kern="1200" baseline="0" dirty="0" smtClean="0">
                <a:solidFill>
                  <a:schemeClr val="tx1"/>
                </a:solidFill>
                <a:latin typeface="Times New Roman" pitchFamily="18" charset="0"/>
                <a:ea typeface="+mn-ea"/>
                <a:cs typeface="Times New Roman" pitchFamily="18" charset="0"/>
              </a:rPr>
              <a:t>at the </a:t>
            </a:r>
            <a:r>
              <a:rPr lang="en-US" altLang="zh-TW" sz="2400" b="0" i="1" kern="1200" baseline="0" dirty="0" err="1" smtClean="0">
                <a:solidFill>
                  <a:schemeClr val="tx1"/>
                </a:solidFill>
                <a:latin typeface="Times New Roman" pitchFamily="18" charset="0"/>
                <a:ea typeface="+mn-ea"/>
                <a:cs typeface="Times New Roman" pitchFamily="18" charset="0"/>
              </a:rPr>
              <a:t>ith</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position</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where</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1" kern="1200" baseline="0" dirty="0" err="1" smtClean="0">
                <a:solidFill>
                  <a:schemeClr val="tx1"/>
                </a:solidFill>
                <a:latin typeface="Times New Roman" pitchFamily="18" charset="0"/>
                <a:ea typeface="+mn-ea"/>
                <a:cs typeface="Times New Roman" pitchFamily="18" charset="0"/>
              </a:rPr>
              <a:t>a</a:t>
            </a:r>
            <a:r>
              <a:rPr lang="en-US" altLang="zh-TW" sz="2400" b="0" i="1" kern="1200" baseline="-25000" dirty="0" err="1" smtClean="0">
                <a:solidFill>
                  <a:schemeClr val="tx1"/>
                </a:solidFill>
                <a:latin typeface="Times New Roman" pitchFamily="18" charset="0"/>
                <a:ea typeface="+mn-ea"/>
                <a:cs typeface="Times New Roman" pitchFamily="18" charset="0"/>
              </a:rPr>
              <a:t>k</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is the </a:t>
            </a:r>
            <a:r>
              <a:rPr lang="en-US" altLang="zh-TW" sz="2400" b="0" i="1" kern="1200" baseline="0" dirty="0" err="1" smtClean="0">
                <a:solidFill>
                  <a:schemeClr val="tx1"/>
                </a:solidFill>
                <a:latin typeface="Times New Roman" pitchFamily="18" charset="0"/>
                <a:ea typeface="+mn-ea"/>
                <a:cs typeface="Times New Roman" pitchFamily="18" charset="0"/>
              </a:rPr>
              <a:t>kth</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amino acid. We</a:t>
            </a:r>
          </a:p>
          <a:p>
            <a:r>
              <a:rPr lang="en-US" altLang="zh-TW" sz="2400" b="0" kern="1200" baseline="0" dirty="0" smtClean="0">
                <a:solidFill>
                  <a:schemeClr val="tx1"/>
                </a:solidFill>
                <a:latin typeface="Times New Roman" pitchFamily="18" charset="0"/>
                <a:ea typeface="+mn-ea"/>
                <a:cs typeface="Times New Roman" pitchFamily="18" charset="0"/>
              </a:rPr>
              <a:t>define a 20-element vector </a:t>
            </a:r>
            <a:r>
              <a:rPr lang="en-US" altLang="zh-TW" sz="2400" b="0" kern="1200" baseline="0" dirty="0" err="1" smtClean="0">
                <a:solidFill>
                  <a:schemeClr val="tx1"/>
                </a:solidFill>
                <a:latin typeface="Times New Roman" pitchFamily="18" charset="0"/>
                <a:ea typeface="+mn-ea"/>
                <a:cs typeface="Times New Roman" pitchFamily="18" charset="0"/>
              </a:rPr>
              <a:t>v</a:t>
            </a:r>
            <a:r>
              <a:rPr lang="en-US" altLang="zh-TW" sz="2400" b="0" i="1" kern="1200" baseline="-25000" dirty="0" err="1" smtClean="0">
                <a:solidFill>
                  <a:schemeClr val="tx1"/>
                </a:solidFill>
                <a:latin typeface="Times New Roman" pitchFamily="18" charset="0"/>
                <a:ea typeface="+mn-ea"/>
                <a:cs typeface="Times New Roman" pitchFamily="18" charset="0"/>
              </a:rPr>
              <a:t>w</a:t>
            </a:r>
            <a:r>
              <a:rPr lang="en-US" altLang="zh-TW" sz="2400" b="0" i="1" kern="1200" baseline="-25000" dirty="0" smtClean="0">
                <a:solidFill>
                  <a:schemeClr val="tx1"/>
                </a:solidFill>
                <a:latin typeface="Times New Roman" pitchFamily="18" charset="0"/>
                <a:ea typeface="+mn-ea"/>
                <a:cs typeface="Times New Roman" pitchFamily="18" charset="0"/>
              </a:rPr>
              <a:t> </a:t>
            </a:r>
            <a:r>
              <a:rPr lang="en-US" altLang="zh-TW" sz="2400" b="0" i="1" kern="1200" baseline="0" dirty="0" smtClean="0">
                <a:solidFill>
                  <a:schemeClr val="tx1"/>
                </a:solidFill>
                <a:latin typeface="Times New Roman" pitchFamily="18" charset="0"/>
                <a:ea typeface="+mn-ea"/>
                <a:cs typeface="Times New Roman" pitchFamily="18" charset="0"/>
              </a:rPr>
              <a:t>= (v</a:t>
            </a:r>
            <a:r>
              <a:rPr lang="en-US" altLang="zh-TW" sz="2400" b="0" i="1" kern="1200" baseline="-25000" dirty="0" smtClean="0">
                <a:solidFill>
                  <a:schemeClr val="tx1"/>
                </a:solidFill>
                <a:latin typeface="Times New Roman" pitchFamily="18" charset="0"/>
                <a:ea typeface="+mn-ea"/>
                <a:cs typeface="Times New Roman" pitchFamily="18" charset="0"/>
              </a:rPr>
              <a:t>1</a:t>
            </a:r>
            <a:r>
              <a:rPr lang="en-US" altLang="zh-TW" sz="2400" b="0" i="1" kern="1200" baseline="30000" dirty="0" smtClean="0">
                <a:solidFill>
                  <a:schemeClr val="tx1"/>
                </a:solidFill>
                <a:latin typeface="Times New Roman" pitchFamily="18" charset="0"/>
                <a:ea typeface="+mn-ea"/>
                <a:cs typeface="Times New Roman" pitchFamily="18" charset="0"/>
              </a:rPr>
              <a:t>wi,</a:t>
            </a:r>
            <a:r>
              <a:rPr lang="en-US" altLang="zh-TW" sz="2400" b="0" i="1" kern="1200" baseline="0" dirty="0" smtClean="0">
                <a:solidFill>
                  <a:schemeClr val="tx1"/>
                </a:solidFill>
                <a:latin typeface="Times New Roman" pitchFamily="18" charset="0"/>
                <a:ea typeface="+mn-ea"/>
                <a:cs typeface="Times New Roman" pitchFamily="18" charset="0"/>
              </a:rPr>
              <a:t>v</a:t>
            </a:r>
            <a:r>
              <a:rPr lang="en-US" altLang="zh-TW" sz="2400" b="0" i="1" kern="1200" baseline="-25000" dirty="0" smtClean="0">
                <a:solidFill>
                  <a:schemeClr val="tx1"/>
                </a:solidFill>
                <a:latin typeface="Times New Roman" pitchFamily="18" charset="0"/>
                <a:ea typeface="+mn-ea"/>
                <a:cs typeface="Times New Roman" pitchFamily="18" charset="0"/>
              </a:rPr>
              <a:t>2</a:t>
            </a:r>
            <a:r>
              <a:rPr lang="en-US" altLang="zh-TW" sz="2400" b="0" i="1" kern="1200" baseline="30000" dirty="0" smtClean="0">
                <a:solidFill>
                  <a:schemeClr val="tx1"/>
                </a:solidFill>
                <a:latin typeface="Times New Roman" pitchFamily="18" charset="0"/>
                <a:ea typeface="+mn-ea"/>
                <a:cs typeface="Times New Roman" pitchFamily="18" charset="0"/>
              </a:rPr>
              <a:t>wi</a:t>
            </a:r>
            <a:r>
              <a:rPr lang="en-US" altLang="zh-TW" sz="2400" b="0" i="1" kern="1200" baseline="0" dirty="0" smtClean="0">
                <a:solidFill>
                  <a:schemeClr val="tx1"/>
                </a:solidFill>
                <a:latin typeface="Times New Roman" pitchFamily="18" charset="0"/>
                <a:ea typeface="+mn-ea"/>
                <a:cs typeface="Times New Roman" pitchFamily="18" charset="0"/>
              </a:rPr>
              <a:t>. . .v</a:t>
            </a:r>
            <a:r>
              <a:rPr lang="en-US" altLang="zh-TW" sz="2400" b="0" i="1" kern="1200" baseline="-25000" dirty="0" smtClean="0">
                <a:solidFill>
                  <a:schemeClr val="tx1"/>
                </a:solidFill>
                <a:latin typeface="Times New Roman" pitchFamily="18" charset="0"/>
                <a:ea typeface="+mn-ea"/>
                <a:cs typeface="Times New Roman" pitchFamily="18" charset="0"/>
              </a:rPr>
              <a:t>20</a:t>
            </a:r>
            <a:r>
              <a:rPr lang="en-US" altLang="zh-TW" sz="2400" b="0" i="1" kern="1200" baseline="30000" dirty="0" smtClean="0">
                <a:solidFill>
                  <a:schemeClr val="tx1"/>
                </a:solidFill>
                <a:latin typeface="Times New Roman" pitchFamily="18" charset="0"/>
                <a:ea typeface="+mn-ea"/>
                <a:cs typeface="Times New Roman" pitchFamily="18" charset="0"/>
              </a:rPr>
              <a:t>wi</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associated </a:t>
            </a:r>
            <a:r>
              <a:rPr lang="en-US" altLang="zh-TW" sz="2400" b="0" kern="1200" baseline="0" dirty="0" smtClean="0">
                <a:solidFill>
                  <a:schemeClr val="tx1"/>
                </a:solidFill>
                <a:latin typeface="Times New Roman" pitchFamily="18" charset="0"/>
                <a:ea typeface="+mn-ea"/>
                <a:cs typeface="Times New Roman" pitchFamily="18" charset="0"/>
              </a:rPr>
              <a:t>with the sequence window </a:t>
            </a:r>
            <a:r>
              <a:rPr lang="en-US" altLang="zh-TW" sz="2400" b="0" kern="1200" baseline="0" dirty="0" err="1" smtClean="0">
                <a:solidFill>
                  <a:schemeClr val="tx1"/>
                </a:solidFill>
                <a:latin typeface="Times New Roman" pitchFamily="18" charset="0"/>
                <a:ea typeface="+mn-ea"/>
                <a:cs typeface="Times New Roman" pitchFamily="18" charset="0"/>
              </a:rPr>
              <a:t>w</a:t>
            </a:r>
            <a:r>
              <a:rPr lang="en-US" altLang="zh-TW" sz="2400" b="0" i="1" kern="1200" baseline="-25000" dirty="0" err="1" smtClean="0">
                <a:solidFill>
                  <a:schemeClr val="tx1"/>
                </a:solidFill>
                <a:latin typeface="Times New Roman" pitchFamily="18" charset="0"/>
                <a:ea typeface="+mn-ea"/>
                <a:cs typeface="Times New Roman" pitchFamily="18" charset="0"/>
              </a:rPr>
              <a:t>i</a:t>
            </a:r>
            <a:r>
              <a:rPr lang="en-US" altLang="zh-TW" sz="2400" b="0" i="1" kern="1200" baseline="0" dirty="0" smtClean="0">
                <a:solidFill>
                  <a:schemeClr val="tx1"/>
                </a:solidFill>
                <a:latin typeface="Times New Roman" pitchFamily="18" charset="0"/>
                <a:ea typeface="+mn-ea"/>
                <a:cs typeface="Times New Roman" pitchFamily="18" charset="0"/>
              </a:rPr>
              <a:t>, where </a:t>
            </a:r>
            <a:r>
              <a:rPr lang="en-US" altLang="zh-TW" sz="2400" b="0" i="1" kern="1200" baseline="0" dirty="0" err="1" smtClean="0">
                <a:solidFill>
                  <a:schemeClr val="tx1"/>
                </a:solidFill>
                <a:latin typeface="Times New Roman" pitchFamily="18" charset="0"/>
                <a:ea typeface="+mn-ea"/>
                <a:cs typeface="Times New Roman" pitchFamily="18" charset="0"/>
              </a:rPr>
              <a:t>v</a:t>
            </a:r>
            <a:r>
              <a:rPr lang="en-US" altLang="zh-TW" sz="2400" b="0" i="1" kern="1200" baseline="-25000" dirty="0" err="1" smtClean="0">
                <a:solidFill>
                  <a:schemeClr val="tx1"/>
                </a:solidFill>
                <a:latin typeface="Times New Roman" pitchFamily="18" charset="0"/>
                <a:ea typeface="+mn-ea"/>
                <a:cs typeface="Times New Roman" pitchFamily="18" charset="0"/>
              </a:rPr>
              <a:t>k</a:t>
            </a:r>
            <a:r>
              <a:rPr lang="en-US" altLang="zh-TW" sz="2400" b="0" i="1" kern="1200" baseline="30000" dirty="0" err="1" smtClean="0">
                <a:solidFill>
                  <a:schemeClr val="tx1"/>
                </a:solidFill>
                <a:latin typeface="Times New Roman" pitchFamily="18" charset="0"/>
                <a:ea typeface="+mn-ea"/>
                <a:cs typeface="Times New Roman" pitchFamily="18" charset="0"/>
              </a:rPr>
              <a:t>wi</a:t>
            </a:r>
            <a:r>
              <a:rPr lang="en-US" altLang="zh-TW" sz="2400" b="0" i="1" kern="1200" baseline="3000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is the PSSM </a:t>
            </a:r>
            <a:r>
              <a:rPr lang="en-US" altLang="zh-TW" sz="2400" b="0" kern="1200" baseline="0" dirty="0" smtClean="0">
                <a:solidFill>
                  <a:schemeClr val="tx1"/>
                </a:solidFill>
                <a:latin typeface="Times New Roman" pitchFamily="18" charset="0"/>
                <a:ea typeface="+mn-ea"/>
                <a:cs typeface="Times New Roman" pitchFamily="18" charset="0"/>
              </a:rPr>
              <a:t>element of the amino acid type </a:t>
            </a:r>
            <a:r>
              <a:rPr lang="en-US" altLang="zh-TW" sz="2400" b="0" i="1" kern="1200" baseline="0" dirty="0" smtClean="0">
                <a:solidFill>
                  <a:schemeClr val="tx1"/>
                </a:solidFill>
                <a:latin typeface="Times New Roman" pitchFamily="18" charset="0"/>
                <a:ea typeface="+mn-ea"/>
                <a:cs typeface="Times New Roman" pitchFamily="18" charset="0"/>
              </a:rPr>
              <a:t>k. </a:t>
            </a:r>
            <a:r>
              <a:rPr lang="en-US" altLang="zh-TW" sz="2400" b="0" i="0" kern="1200" baseline="0" dirty="0" smtClean="0">
                <a:solidFill>
                  <a:schemeClr val="tx1"/>
                </a:solidFill>
                <a:latin typeface="Times New Roman" pitchFamily="18" charset="0"/>
                <a:ea typeface="+mn-ea"/>
                <a:cs typeface="Times New Roman" pitchFamily="18" charset="0"/>
              </a:rPr>
              <a:t>If the amino acid of a </a:t>
            </a:r>
            <a:r>
              <a:rPr lang="en-US" altLang="zh-TW" sz="2400" b="0" kern="1200" baseline="0" dirty="0" smtClean="0">
                <a:solidFill>
                  <a:schemeClr val="tx1"/>
                </a:solidFill>
                <a:latin typeface="Times New Roman" pitchFamily="18" charset="0"/>
                <a:ea typeface="+mn-ea"/>
                <a:cs typeface="Times New Roman" pitchFamily="18" charset="0"/>
              </a:rPr>
              <a:t>given type occurs more than once within the window, </a:t>
            </a:r>
            <a:r>
              <a:rPr lang="en-US" altLang="zh-TW" sz="2400" b="0" i="1" kern="1200" baseline="0" dirty="0" err="1" smtClean="0">
                <a:solidFill>
                  <a:schemeClr val="tx1"/>
                </a:solidFill>
                <a:latin typeface="Times New Roman" pitchFamily="18" charset="0"/>
                <a:ea typeface="+mn-ea"/>
                <a:cs typeface="Times New Roman" pitchFamily="18" charset="0"/>
              </a:rPr>
              <a:t>v</a:t>
            </a:r>
            <a:r>
              <a:rPr lang="en-US" altLang="zh-TW" sz="2400" b="0" i="1" kern="1200" baseline="-25000" dirty="0" err="1" smtClean="0">
                <a:solidFill>
                  <a:schemeClr val="tx1"/>
                </a:solidFill>
                <a:latin typeface="Times New Roman" pitchFamily="18" charset="0"/>
                <a:ea typeface="+mn-ea"/>
                <a:cs typeface="Times New Roman" pitchFamily="18" charset="0"/>
              </a:rPr>
              <a:t>k</a:t>
            </a:r>
            <a:r>
              <a:rPr lang="en-US" altLang="zh-TW" sz="2400" b="0" i="1" kern="1200" baseline="30000" dirty="0" err="1" smtClean="0">
                <a:solidFill>
                  <a:schemeClr val="tx1"/>
                </a:solidFill>
                <a:latin typeface="Times New Roman" pitchFamily="18" charset="0"/>
                <a:ea typeface="+mn-ea"/>
                <a:cs typeface="Times New Roman" pitchFamily="18" charset="0"/>
              </a:rPr>
              <a:t>wi</a:t>
            </a:r>
            <a:r>
              <a:rPr lang="en-US" altLang="zh-TW" sz="2400" b="0" i="1" kern="1200" baseline="30000" dirty="0" smtClean="0">
                <a:solidFill>
                  <a:schemeClr val="tx1"/>
                </a:solidFill>
                <a:latin typeface="Times New Roman" pitchFamily="18" charset="0"/>
                <a:ea typeface="+mn-ea"/>
                <a:cs typeface="Times New Roman" pitchFamily="18" charset="0"/>
              </a:rPr>
              <a:t> </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is </a:t>
            </a:r>
            <a:r>
              <a:rPr lang="en-US" altLang="zh-TW" sz="2400" b="0" kern="1200" baseline="0" dirty="0" smtClean="0">
                <a:solidFill>
                  <a:schemeClr val="tx1"/>
                </a:solidFill>
                <a:latin typeface="Times New Roman" pitchFamily="18" charset="0"/>
                <a:ea typeface="+mn-ea"/>
                <a:cs typeface="Times New Roman" pitchFamily="18" charset="0"/>
              </a:rPr>
              <a:t>the sum of the associated PSSM elements. The coupling between the </a:t>
            </a:r>
            <a:r>
              <a:rPr lang="en-US" altLang="zh-TW" sz="2400" b="0" i="1" kern="1200" baseline="0" dirty="0" err="1" smtClean="0">
                <a:solidFill>
                  <a:schemeClr val="tx1"/>
                </a:solidFill>
                <a:latin typeface="Times New Roman" pitchFamily="18" charset="0"/>
                <a:ea typeface="+mn-ea"/>
                <a:cs typeface="Times New Roman" pitchFamily="18" charset="0"/>
              </a:rPr>
              <a:t>ith</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and</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1" kern="1200" baseline="0" dirty="0" err="1" smtClean="0">
                <a:solidFill>
                  <a:schemeClr val="tx1"/>
                </a:solidFill>
                <a:latin typeface="Times New Roman" pitchFamily="18" charset="0"/>
                <a:ea typeface="+mn-ea"/>
                <a:cs typeface="Times New Roman" pitchFamily="18" charset="0"/>
              </a:rPr>
              <a:t>jth</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i="0" kern="1200" baseline="0" dirty="0" err="1" smtClean="0">
                <a:solidFill>
                  <a:schemeClr val="tx1"/>
                </a:solidFill>
                <a:latin typeface="Times New Roman" pitchFamily="18" charset="0"/>
                <a:ea typeface="+mn-ea"/>
                <a:cs typeface="Times New Roman" pitchFamily="18" charset="0"/>
              </a:rPr>
              <a:t>cysteines</a:t>
            </a:r>
            <a:r>
              <a:rPr lang="en-US" altLang="zh-TW" sz="2400" b="0" i="0" kern="1200" baseline="0" dirty="0" smtClean="0">
                <a:solidFill>
                  <a:schemeClr val="tx1"/>
                </a:solidFill>
                <a:latin typeface="Times New Roman" pitchFamily="18" charset="0"/>
                <a:ea typeface="+mn-ea"/>
                <a:cs typeface="Times New Roman" pitchFamily="18" charset="0"/>
              </a:rPr>
              <a:t> is computed by </a:t>
            </a:r>
            <a:r>
              <a:rPr lang="en-US" altLang="zh-TW" sz="2400" b="0" i="0" kern="1200" baseline="0" dirty="0" err="1" smtClean="0">
                <a:solidFill>
                  <a:schemeClr val="tx1"/>
                </a:solidFill>
                <a:latin typeface="Times New Roman" pitchFamily="18" charset="0"/>
                <a:ea typeface="+mn-ea"/>
                <a:cs typeface="Times New Roman" pitchFamily="18" charset="0"/>
              </a:rPr>
              <a:t>s</a:t>
            </a:r>
            <a:r>
              <a:rPr lang="en-US" altLang="zh-TW" sz="2400" b="0" i="0" kern="1200" baseline="-25000" dirty="0" err="1" smtClean="0">
                <a:solidFill>
                  <a:schemeClr val="tx1"/>
                </a:solidFill>
                <a:latin typeface="Times New Roman" pitchFamily="18" charset="0"/>
                <a:ea typeface="+mn-ea"/>
                <a:cs typeface="Times New Roman" pitchFamily="18" charset="0"/>
              </a:rPr>
              <a:t>ij</a:t>
            </a:r>
            <a:endParaRPr lang="en-US" altLang="zh-TW" sz="2400" b="0" i="0" kern="1200" baseline="-25000" dirty="0" smtClean="0">
              <a:solidFill>
                <a:schemeClr val="tx1"/>
              </a:solidFill>
              <a:latin typeface="Times New Roman" pitchFamily="18" charset="0"/>
              <a:ea typeface="+mn-ea"/>
              <a:cs typeface="Times New Roman" pitchFamily="18" charset="0"/>
            </a:endParaRPr>
          </a:p>
          <a:p>
            <a:r>
              <a:rPr lang="en-US" altLang="zh-TW" sz="2400" b="0" kern="1200" baseline="0" dirty="0" smtClean="0">
                <a:solidFill>
                  <a:schemeClr val="tx1"/>
                </a:solidFill>
                <a:latin typeface="Times New Roman" pitchFamily="18" charset="0"/>
                <a:ea typeface="+mn-ea"/>
                <a:cs typeface="Times New Roman" pitchFamily="18" charset="0"/>
              </a:rPr>
              <a:t> = </a:t>
            </a:r>
            <a:r>
              <a:rPr lang="en-US" altLang="zh-TW" sz="2400" b="0" i="0" kern="1200" baseline="0" dirty="0" err="1" smtClean="0">
                <a:solidFill>
                  <a:schemeClr val="tx1"/>
                </a:solidFill>
                <a:latin typeface="Times New Roman" pitchFamily="18" charset="0"/>
                <a:ea typeface="+mn-ea"/>
                <a:cs typeface="Times New Roman" pitchFamily="18" charset="0"/>
              </a:rPr>
              <a:t>c</a:t>
            </a:r>
            <a:r>
              <a:rPr lang="en-US" altLang="zh-TW" sz="2400" b="0" i="0" kern="1200" baseline="-25000" dirty="0" err="1" smtClean="0">
                <a:solidFill>
                  <a:schemeClr val="tx1"/>
                </a:solidFill>
                <a:latin typeface="Times New Roman" pitchFamily="18" charset="0"/>
                <a:ea typeface="+mn-ea"/>
                <a:cs typeface="Times New Roman" pitchFamily="18" charset="0"/>
              </a:rPr>
              <a:t>i</a:t>
            </a:r>
            <a:r>
              <a:rPr lang="en-US" altLang="zh-TW" sz="2400" b="0" i="0" kern="1200" baseline="0" dirty="0" err="1" smtClean="0">
                <a:solidFill>
                  <a:schemeClr val="tx1"/>
                </a:solidFill>
                <a:latin typeface="Times New Roman" pitchFamily="18" charset="0"/>
                <a:ea typeface="+mn-ea"/>
                <a:cs typeface="Times New Roman" pitchFamily="18" charset="0"/>
              </a:rPr>
              <a:t>v</a:t>
            </a:r>
            <a:r>
              <a:rPr lang="en-US" altLang="zh-TW" sz="2400" b="0" i="0" kern="1200" baseline="-25000" dirty="0" err="1" smtClean="0">
                <a:solidFill>
                  <a:schemeClr val="tx1"/>
                </a:solidFill>
                <a:latin typeface="Times New Roman" pitchFamily="18" charset="0"/>
                <a:ea typeface="+mn-ea"/>
                <a:cs typeface="Times New Roman" pitchFamily="18" charset="0"/>
              </a:rPr>
              <a:t>wj</a:t>
            </a:r>
            <a:r>
              <a:rPr lang="en-US" altLang="zh-TW" sz="2400" b="0" i="0" kern="1200" baseline="-25000" dirty="0" smtClean="0">
                <a:solidFill>
                  <a:schemeClr val="tx1"/>
                </a:solidFill>
                <a:latin typeface="Times New Roman" pitchFamily="18" charset="0"/>
                <a:ea typeface="+mn-ea"/>
                <a:cs typeface="Times New Roman" pitchFamily="18" charset="0"/>
              </a:rPr>
              <a:t> + </a:t>
            </a:r>
            <a:r>
              <a:rPr lang="en-US" altLang="zh-TW" sz="2400" b="0" i="0" kern="1200" baseline="0" dirty="0" err="1" smtClean="0">
                <a:solidFill>
                  <a:schemeClr val="tx1"/>
                </a:solidFill>
                <a:latin typeface="Times New Roman" pitchFamily="18" charset="0"/>
                <a:ea typeface="+mn-ea"/>
                <a:cs typeface="Times New Roman" pitchFamily="18" charset="0"/>
              </a:rPr>
              <a:t>c</a:t>
            </a:r>
            <a:r>
              <a:rPr lang="en-US" altLang="zh-TW" sz="2400" b="0" i="0" kern="1200" baseline="-25000" dirty="0" err="1" smtClean="0">
                <a:solidFill>
                  <a:schemeClr val="tx1"/>
                </a:solidFill>
                <a:latin typeface="Times New Roman" pitchFamily="18" charset="0"/>
                <a:ea typeface="+mn-ea"/>
                <a:cs typeface="Times New Roman" pitchFamily="18" charset="0"/>
              </a:rPr>
              <a:t>j</a:t>
            </a:r>
            <a:r>
              <a:rPr lang="en-US" altLang="zh-TW" sz="2400" b="0" i="0" kern="1200" baseline="0" dirty="0" err="1" smtClean="0">
                <a:solidFill>
                  <a:schemeClr val="tx1"/>
                </a:solidFill>
                <a:latin typeface="Times New Roman" pitchFamily="18" charset="0"/>
                <a:ea typeface="+mn-ea"/>
                <a:cs typeface="Times New Roman" pitchFamily="18" charset="0"/>
              </a:rPr>
              <a:t>v</a:t>
            </a:r>
            <a:r>
              <a:rPr lang="en-US" altLang="zh-TW" sz="2400" b="0" i="0" kern="1200" baseline="-25000" dirty="0" err="1" smtClean="0">
                <a:solidFill>
                  <a:schemeClr val="tx1"/>
                </a:solidFill>
                <a:latin typeface="Times New Roman" pitchFamily="18" charset="0"/>
                <a:ea typeface="+mn-ea"/>
                <a:cs typeface="Times New Roman" pitchFamily="18" charset="0"/>
              </a:rPr>
              <a:t>wj</a:t>
            </a:r>
            <a:r>
              <a:rPr lang="en-US" altLang="zh-TW" sz="2400" b="0" i="0" kern="1200" baseline="-25000" dirty="0" smtClean="0">
                <a:solidFill>
                  <a:schemeClr val="tx1"/>
                </a:solidFill>
                <a:latin typeface="Times New Roman" pitchFamily="18" charset="0"/>
                <a:ea typeface="+mn-ea"/>
                <a:cs typeface="Times New Roman" pitchFamily="18" charset="0"/>
              </a:rPr>
              <a:t> </a:t>
            </a:r>
            <a:r>
              <a:rPr lang="en-US" altLang="zh-TW" sz="2400" b="0" i="0" kern="1200" baseline="0" dirty="0" smtClean="0">
                <a:solidFill>
                  <a:schemeClr val="tx1"/>
                </a:solidFill>
                <a:latin typeface="Times New Roman" pitchFamily="18" charset="0"/>
                <a:ea typeface="+mn-ea"/>
                <a:cs typeface="Times New Roman" pitchFamily="18" charset="0"/>
              </a:rPr>
              <a:t>, where c</a:t>
            </a:r>
            <a:r>
              <a:rPr lang="en-US" altLang="zh-TW" sz="2400" b="0" i="0" kern="1200" baseline="-25000" dirty="0" smtClean="0">
                <a:solidFill>
                  <a:schemeClr val="tx1"/>
                </a:solidFill>
                <a:latin typeface="Times New Roman" pitchFamily="18" charset="0"/>
                <a:ea typeface="+mn-ea"/>
                <a:cs typeface="Times New Roman" pitchFamily="18" charset="0"/>
              </a:rPr>
              <a:t>k</a:t>
            </a:r>
            <a:r>
              <a:rPr lang="en-US" altLang="zh-TW" sz="2400" b="0" i="0" kern="1200" baseline="0" dirty="0" smtClean="0">
                <a:solidFill>
                  <a:schemeClr val="tx1"/>
                </a:solidFill>
                <a:latin typeface="Times New Roman" pitchFamily="18" charset="0"/>
                <a:ea typeface="+mn-ea"/>
                <a:cs typeface="Times New Roman" pitchFamily="18" charset="0"/>
              </a:rPr>
              <a:t> is the PSSM element of </a:t>
            </a:r>
            <a:r>
              <a:rPr lang="en-US" altLang="zh-TW" sz="2400" b="0" i="0" kern="1200" baseline="0" dirty="0" err="1" smtClean="0">
                <a:solidFill>
                  <a:schemeClr val="tx1"/>
                </a:solidFill>
                <a:latin typeface="Times New Roman" pitchFamily="18" charset="0"/>
                <a:ea typeface="+mn-ea"/>
                <a:cs typeface="Times New Roman" pitchFamily="18" charset="0"/>
              </a:rPr>
              <a:t>cysteine</a:t>
            </a:r>
            <a:r>
              <a:rPr lang="en-US" altLang="zh-TW" sz="2400" b="0" i="0" kern="1200" baseline="0" dirty="0" smtClean="0">
                <a:solidFill>
                  <a:schemeClr val="tx1"/>
                </a:solidFill>
                <a:latin typeface="Times New Roman" pitchFamily="18" charset="0"/>
                <a:ea typeface="+mn-ea"/>
                <a:cs typeface="Times New Roman" pitchFamily="18" charset="0"/>
              </a:rPr>
              <a:t> </a:t>
            </a:r>
            <a:r>
              <a:rPr lang="en-US" altLang="zh-TW" sz="2400" b="0" kern="1200" baseline="0" dirty="0" smtClean="0">
                <a:solidFill>
                  <a:schemeClr val="tx1"/>
                </a:solidFill>
                <a:latin typeface="Times New Roman" pitchFamily="18" charset="0"/>
                <a:ea typeface="+mn-ea"/>
                <a:cs typeface="Times New Roman" pitchFamily="18" charset="0"/>
              </a:rPr>
              <a:t>type at the </a:t>
            </a:r>
            <a:r>
              <a:rPr lang="en-US" altLang="zh-TW" sz="2400" b="0" i="0" kern="1200" baseline="0" dirty="0" err="1" smtClean="0">
                <a:solidFill>
                  <a:schemeClr val="tx1"/>
                </a:solidFill>
                <a:latin typeface="Times New Roman" pitchFamily="18" charset="0"/>
                <a:ea typeface="+mn-ea"/>
                <a:cs typeface="Times New Roman" pitchFamily="18" charset="0"/>
              </a:rPr>
              <a:t>kth</a:t>
            </a:r>
            <a:r>
              <a:rPr lang="en-US" altLang="zh-TW" sz="2400" b="0" i="0" kern="1200" baseline="0" dirty="0" smtClean="0">
                <a:solidFill>
                  <a:schemeClr val="tx1"/>
                </a:solidFill>
                <a:latin typeface="Times New Roman" pitchFamily="18" charset="0"/>
                <a:ea typeface="+mn-ea"/>
                <a:cs typeface="Times New Roman" pitchFamily="18" charset="0"/>
              </a:rPr>
              <a:t> row. For a given disulfide pattern, we sum</a:t>
            </a:r>
            <a:r>
              <a:rPr lang="en-US" altLang="zh-TW" sz="2400" b="0" i="1" kern="1200" baseline="0" dirty="0" smtClean="0">
                <a:solidFill>
                  <a:schemeClr val="tx1"/>
                </a:solidFill>
                <a:latin typeface="Times New Roman" pitchFamily="18" charset="0"/>
                <a:ea typeface="+mn-ea"/>
                <a:cs typeface="Times New Roman" pitchFamily="18" charset="0"/>
              </a:rPr>
              <a:t> </a:t>
            </a:r>
            <a:r>
              <a:rPr lang="en-US" altLang="zh-TW" sz="2400" b="0" kern="1200" baseline="0" dirty="0" smtClean="0">
                <a:solidFill>
                  <a:schemeClr val="tx1"/>
                </a:solidFill>
                <a:latin typeface="Times New Roman" pitchFamily="18" charset="0"/>
                <a:ea typeface="+mn-ea"/>
                <a:cs typeface="Times New Roman" pitchFamily="18" charset="0"/>
              </a:rPr>
              <a:t>up all the possible </a:t>
            </a:r>
            <a:r>
              <a:rPr lang="en-US" altLang="zh-TW" sz="2400" b="0" kern="1200" baseline="0" dirty="0" err="1" smtClean="0">
                <a:solidFill>
                  <a:schemeClr val="tx1"/>
                </a:solidFill>
                <a:latin typeface="Times New Roman" pitchFamily="18" charset="0"/>
                <a:ea typeface="+mn-ea"/>
                <a:cs typeface="Times New Roman" pitchFamily="18" charset="0"/>
              </a:rPr>
              <a:t>cysteine</a:t>
            </a:r>
            <a:r>
              <a:rPr lang="en-US" altLang="zh-TW" sz="2400" b="0" kern="1200" baseline="0" dirty="0" smtClean="0">
                <a:solidFill>
                  <a:schemeClr val="tx1"/>
                </a:solidFill>
                <a:latin typeface="Times New Roman" pitchFamily="18" charset="0"/>
                <a:ea typeface="+mn-ea"/>
                <a:cs typeface="Times New Roman" pitchFamily="18" charset="0"/>
              </a:rPr>
              <a:t> pairs to get s=∑</a:t>
            </a:r>
            <a:r>
              <a:rPr lang="en-US" altLang="zh-TW" sz="2400" b="0" i="1" kern="1200" baseline="-25000" dirty="0" err="1" smtClean="0">
                <a:solidFill>
                  <a:schemeClr val="tx1"/>
                </a:solidFill>
                <a:latin typeface="Times New Roman" pitchFamily="18" charset="0"/>
                <a:ea typeface="+mn-ea"/>
                <a:cs typeface="Times New Roman" pitchFamily="18" charset="0"/>
              </a:rPr>
              <a:t>ij</a:t>
            </a:r>
            <a:r>
              <a:rPr lang="en-US" altLang="zh-TW" sz="2400" b="0" i="1" kern="1200" baseline="0" dirty="0" err="1" smtClean="0">
                <a:solidFill>
                  <a:schemeClr val="tx1"/>
                </a:solidFill>
                <a:latin typeface="Times New Roman" pitchFamily="18" charset="0"/>
                <a:ea typeface="+mn-ea"/>
                <a:cs typeface="Times New Roman" pitchFamily="18" charset="0"/>
              </a:rPr>
              <a:t>s</a:t>
            </a:r>
            <a:r>
              <a:rPr lang="en-US" altLang="zh-TW" sz="2400" b="0" i="1" kern="1200" baseline="-25000" dirty="0" err="1" smtClean="0">
                <a:solidFill>
                  <a:schemeClr val="tx1"/>
                </a:solidFill>
                <a:latin typeface="Times New Roman" pitchFamily="18" charset="0"/>
                <a:ea typeface="+mn-ea"/>
                <a:cs typeface="Times New Roman" pitchFamily="18" charset="0"/>
              </a:rPr>
              <a:t>ij</a:t>
            </a:r>
            <a:endParaRPr lang="zh-TW" altLang="en-US" sz="2400" b="0" dirty="0">
              <a:latin typeface="Times New Roman" pitchFamily="18" charset="0"/>
              <a:cs typeface="Times New Roman" pitchFamily="18" charset="0"/>
            </a:endParaRPr>
          </a:p>
        </p:txBody>
      </p:sp>
      <p:sp>
        <p:nvSpPr>
          <p:cNvPr id="4" name="投影片編號版面配置區 3"/>
          <p:cNvSpPr>
            <a:spLocks noGrp="1"/>
          </p:cNvSpPr>
          <p:nvPr>
            <p:ph type="sldNum" sz="quarter" idx="10"/>
          </p:nvPr>
        </p:nvSpPr>
        <p:spPr/>
        <p:txBody>
          <a:bodyPr/>
          <a:lstStyle/>
          <a:p>
            <a:fld id="{718EAEB5-1702-4AE3-9085-1485EF132A39}" type="slidenum">
              <a:rPr lang="zh-TW" altLang="en-US" smtClean="0"/>
              <a:pPr/>
              <a:t>8</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2009/8/28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Predicting Disulfide Connectivity Patterns</a:t>
            </a:r>
            <a:endParaRPr lang="zh-TW" altLang="en-US" dirty="0"/>
          </a:p>
        </p:txBody>
      </p:sp>
      <p:sp>
        <p:nvSpPr>
          <p:cNvPr id="3" name="副標題 2"/>
          <p:cNvSpPr>
            <a:spLocks noGrp="1"/>
          </p:cNvSpPr>
          <p:nvPr>
            <p:ph type="subTitle" idx="1"/>
          </p:nvPr>
        </p:nvSpPr>
        <p:spPr/>
        <p:txBody>
          <a:bodyPr>
            <a:normAutofit/>
          </a:bodyPr>
          <a:lstStyle/>
          <a:p>
            <a:r>
              <a:rPr lang="en-US" altLang="zh-TW" sz="2000" dirty="0" err="1" smtClean="0">
                <a:solidFill>
                  <a:schemeClr val="tx1"/>
                </a:solidFill>
                <a:latin typeface="Times New Roman" pitchFamily="18" charset="0"/>
                <a:cs typeface="Times New Roman" pitchFamily="18" charset="0"/>
              </a:rPr>
              <a:t>Chih-Hao</a:t>
            </a:r>
            <a:r>
              <a:rPr lang="en-US" altLang="zh-TW" sz="2000" dirty="0" smtClean="0">
                <a:solidFill>
                  <a:schemeClr val="tx1"/>
                </a:solidFill>
                <a:latin typeface="Times New Roman" pitchFamily="18" charset="0"/>
                <a:cs typeface="Times New Roman" pitchFamily="18" charset="0"/>
              </a:rPr>
              <a:t> Lu(</a:t>
            </a:r>
            <a:r>
              <a:rPr lang="zh-TW" altLang="en-US" sz="2000" dirty="0" smtClean="0">
                <a:solidFill>
                  <a:schemeClr val="tx1"/>
                </a:solidFill>
                <a:latin typeface="Times New Roman" pitchFamily="18" charset="0"/>
                <a:cs typeface="Times New Roman" pitchFamily="18" charset="0"/>
              </a:rPr>
              <a:t>陸志豪</a:t>
            </a:r>
            <a:r>
              <a:rPr lang="en-US" altLang="zh-TW" sz="2000" dirty="0" smtClean="0">
                <a:solidFill>
                  <a:schemeClr val="tx1"/>
                </a:solidFill>
                <a:latin typeface="Times New Roman" pitchFamily="18" charset="0"/>
                <a:cs typeface="Times New Roman" pitchFamily="18" charset="0"/>
              </a:rPr>
              <a:t>),Yu-</a:t>
            </a:r>
            <a:r>
              <a:rPr lang="en-US" altLang="zh-TW" sz="2000" dirty="0" err="1" smtClean="0">
                <a:solidFill>
                  <a:schemeClr val="tx1"/>
                </a:solidFill>
                <a:latin typeface="Times New Roman" pitchFamily="18" charset="0"/>
                <a:cs typeface="Times New Roman" pitchFamily="18" charset="0"/>
              </a:rPr>
              <a:t>Ching</a:t>
            </a:r>
            <a:r>
              <a:rPr lang="en-US" altLang="zh-TW" sz="2000" dirty="0" smtClean="0">
                <a:solidFill>
                  <a:schemeClr val="tx1"/>
                </a:solidFill>
                <a:latin typeface="Times New Roman" pitchFamily="18" charset="0"/>
                <a:cs typeface="Times New Roman" pitchFamily="18" charset="0"/>
              </a:rPr>
              <a:t> Chen(</a:t>
            </a:r>
            <a:r>
              <a:rPr lang="zh-TW" altLang="en-US" sz="2000" dirty="0" smtClean="0">
                <a:solidFill>
                  <a:schemeClr val="tx1"/>
                </a:solidFill>
                <a:latin typeface="Times New Roman" pitchFamily="18" charset="0"/>
                <a:cs typeface="Times New Roman" pitchFamily="18" charset="0"/>
              </a:rPr>
              <a:t>陳玉菁</a:t>
            </a:r>
            <a:r>
              <a:rPr lang="en-US" altLang="zh-TW" sz="2000" dirty="0" smtClean="0">
                <a:solidFill>
                  <a:schemeClr val="tx1"/>
                </a:solidFill>
                <a:latin typeface="Times New Roman" pitchFamily="18" charset="0"/>
                <a:cs typeface="Times New Roman" pitchFamily="18" charset="0"/>
              </a:rPr>
              <a:t>),Chin-</a:t>
            </a:r>
            <a:r>
              <a:rPr lang="en-US" altLang="zh-TW" sz="2000" dirty="0" err="1" smtClean="0">
                <a:solidFill>
                  <a:schemeClr val="tx1"/>
                </a:solidFill>
                <a:latin typeface="Times New Roman" pitchFamily="18" charset="0"/>
                <a:cs typeface="Times New Roman" pitchFamily="18" charset="0"/>
              </a:rPr>
              <a:t>Sheng</a:t>
            </a:r>
            <a:r>
              <a:rPr lang="en-US" altLang="zh-TW" sz="2000" dirty="0" smtClean="0">
                <a:solidFill>
                  <a:schemeClr val="tx1"/>
                </a:solidFill>
                <a:latin typeface="Times New Roman" pitchFamily="18" charset="0"/>
                <a:cs typeface="Times New Roman" pitchFamily="18" charset="0"/>
              </a:rPr>
              <a:t> Yu(</a:t>
            </a:r>
            <a:r>
              <a:rPr lang="zh-TW" altLang="en-US" sz="2000" dirty="0" smtClean="0">
                <a:solidFill>
                  <a:schemeClr val="tx1"/>
                </a:solidFill>
                <a:latin typeface="Times New Roman" pitchFamily="18" charset="0"/>
                <a:cs typeface="Times New Roman" pitchFamily="18" charset="0"/>
              </a:rPr>
              <a:t>游景盛</a:t>
            </a:r>
            <a:r>
              <a:rPr lang="en-US" altLang="zh-TW" sz="2000" dirty="0" smtClean="0">
                <a:solidFill>
                  <a:schemeClr val="tx1"/>
                </a:solidFill>
                <a:latin typeface="Times New Roman" pitchFamily="18" charset="0"/>
                <a:cs typeface="Times New Roman" pitchFamily="18" charset="0"/>
              </a:rPr>
              <a:t>),and </a:t>
            </a:r>
            <a:r>
              <a:rPr lang="en-US" altLang="zh-TW" sz="2000" dirty="0" err="1" smtClean="0">
                <a:solidFill>
                  <a:schemeClr val="tx1"/>
                </a:solidFill>
                <a:latin typeface="Times New Roman" pitchFamily="18" charset="0"/>
                <a:cs typeface="Times New Roman" pitchFamily="18" charset="0"/>
              </a:rPr>
              <a:t>Jenn</a:t>
            </a:r>
            <a:r>
              <a:rPr lang="en-US" altLang="zh-TW" sz="2000" dirty="0" smtClean="0">
                <a:solidFill>
                  <a:schemeClr val="tx1"/>
                </a:solidFill>
                <a:latin typeface="Times New Roman" pitchFamily="18" charset="0"/>
                <a:cs typeface="Times New Roman" pitchFamily="18" charset="0"/>
              </a:rPr>
              <a:t>-Kang Hwang(</a:t>
            </a:r>
            <a:r>
              <a:rPr lang="zh-TW" altLang="en-US" sz="2000" dirty="0" smtClean="0">
                <a:solidFill>
                  <a:schemeClr val="tx1"/>
                </a:solidFill>
                <a:latin typeface="Times New Roman" pitchFamily="18" charset="0"/>
                <a:cs typeface="Times New Roman" pitchFamily="18" charset="0"/>
              </a:rPr>
              <a:t>黃鎮剛</a:t>
            </a:r>
            <a:r>
              <a:rPr lang="en-US" altLang="zh-TW" sz="2000" dirty="0" smtClean="0">
                <a:solidFill>
                  <a:schemeClr val="tx1"/>
                </a:solidFill>
                <a:latin typeface="Times New Roman" pitchFamily="18" charset="0"/>
                <a:cs typeface="Times New Roman" pitchFamily="18" charset="0"/>
              </a:rPr>
              <a:t>)</a:t>
            </a:r>
          </a:p>
          <a:p>
            <a:endParaRPr lang="en-US" altLang="zh-TW" sz="1800" dirty="0" smtClean="0">
              <a:solidFill>
                <a:schemeClr val="tx1"/>
              </a:solidFill>
            </a:endParaRPr>
          </a:p>
          <a:p>
            <a:r>
              <a:rPr lang="en-US" altLang="zh-TW" sz="1800" dirty="0" smtClean="0">
                <a:solidFill>
                  <a:schemeClr val="tx1"/>
                </a:solidFill>
              </a:rPr>
              <a:t>Structure, Function, and Bioinformatics 67:262–270 (2007)</a:t>
            </a:r>
            <a:endParaRPr lang="zh-TW" altLang="en-US" sz="1800" dirty="0">
              <a:solidFill>
                <a:schemeClr val="tx1"/>
              </a:solidFill>
            </a:endParaRPr>
          </a:p>
        </p:txBody>
      </p:sp>
      <p:sp>
        <p:nvSpPr>
          <p:cNvPr id="4" name="Text Box 6"/>
          <p:cNvSpPr txBox="1">
            <a:spLocks noChangeArrowheads="1"/>
          </p:cNvSpPr>
          <p:nvPr/>
        </p:nvSpPr>
        <p:spPr bwMode="auto">
          <a:xfrm>
            <a:off x="6156325" y="5345113"/>
            <a:ext cx="1960024" cy="566309"/>
          </a:xfrm>
          <a:prstGeom prst="rect">
            <a:avLst/>
          </a:prstGeom>
          <a:noFill/>
          <a:ln w="9525">
            <a:noFill/>
            <a:miter lim="800000"/>
            <a:headEnd/>
            <a:tailEnd/>
          </a:ln>
        </p:spPr>
        <p:txBody>
          <a:bodyPr wrap="none">
            <a:spAutoFit/>
          </a:bodyPr>
          <a:lstStyle/>
          <a:p>
            <a:pPr>
              <a:spcBef>
                <a:spcPct val="20000"/>
              </a:spcBef>
            </a:pPr>
            <a:r>
              <a:rPr lang="en-US" altLang="zh-TW" sz="1400" dirty="0"/>
              <a:t>Presenter : </a:t>
            </a:r>
            <a:r>
              <a:rPr lang="en-US" altLang="zh-TW" sz="1400" dirty="0" err="1"/>
              <a:t>Chih</a:t>
            </a:r>
            <a:r>
              <a:rPr lang="en-US" altLang="zh-TW" sz="1400" dirty="0"/>
              <a:t>-Ying Lin</a:t>
            </a:r>
          </a:p>
          <a:p>
            <a:pPr>
              <a:spcBef>
                <a:spcPct val="20000"/>
              </a:spcBef>
            </a:pPr>
            <a:r>
              <a:rPr lang="en-US" altLang="zh-TW" sz="1400" dirty="0"/>
              <a:t>Date : </a:t>
            </a:r>
            <a:r>
              <a:rPr lang="en-US" sz="1400" dirty="0" smtClean="0"/>
              <a:t>Aug.</a:t>
            </a:r>
            <a:r>
              <a:rPr lang="en-US" altLang="zh-TW" sz="1400" dirty="0" smtClean="0"/>
              <a:t> 04, </a:t>
            </a:r>
            <a:r>
              <a:rPr lang="en-US" altLang="zh-TW" sz="1400" dirty="0"/>
              <a:t>2009</a:t>
            </a:r>
            <a:endParaRPr lang="en-US" altLang="zh-TW" dirty="0">
              <a:latin typeface="Tahom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p:txBody>
          <a:bodyPr>
            <a:normAutofit fontScale="70000" lnSpcReduction="20000"/>
          </a:bodyPr>
          <a:lstStyle/>
          <a:p>
            <a:pPr>
              <a:buNone/>
            </a:pPr>
            <a:r>
              <a:rPr lang="en-US" altLang="zh-TW" dirty="0" smtClean="0"/>
              <a:t>     Disulfide bonds play an important role in stabilizing protein structure and regulating protein function. Therefore, the ability to infer disulfide connectivity from protein sequences will be valuable in structural modeling and functional analysis. However, to predict disulfide connectivity directly from sequences presents a challenge to computational biologists due to the nonlocal nature of disulfide bonds, i.e., the close spatial proximity of the </a:t>
            </a:r>
            <a:r>
              <a:rPr lang="en-US" altLang="zh-TW" dirty="0" err="1" smtClean="0"/>
              <a:t>cysteine</a:t>
            </a:r>
            <a:r>
              <a:rPr lang="en-US" altLang="zh-TW" dirty="0" smtClean="0"/>
              <a:t> pair that forms the disulfide bond does not necessarily imply the short sequence separation of the </a:t>
            </a:r>
            <a:r>
              <a:rPr lang="en-US" altLang="zh-TW" dirty="0" err="1" smtClean="0"/>
              <a:t>cysteine</a:t>
            </a:r>
            <a:r>
              <a:rPr lang="en-US" altLang="zh-TW" dirty="0" smtClean="0"/>
              <a:t> residues. Recently, Chen and Hwang(Proteins 2005;61:507–512) treated this problem as a multiple class classification by defining each distinct disulfide pattern as a class. They used multiple support vector machines based on a variety of sequence features to predict the disulfide patterns</a:t>
            </a:r>
            <a:r>
              <a:rPr lang="en-US" altLang="zh-TW" dirty="0" smtClean="0"/>
              <a:t>. Their </a:t>
            </a:r>
            <a:r>
              <a:rPr lang="en-US" altLang="zh-TW" dirty="0" smtClean="0"/>
              <a:t>results compare favorably with those in the literature for a benchmark dataset sharing less than 30% sequence identity. </a:t>
            </a:r>
            <a:endParaRPr lang="zh-TW"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p:txBody>
          <a:bodyPr>
            <a:normAutofit fontScale="70000" lnSpcReduction="20000"/>
          </a:bodyPr>
          <a:lstStyle/>
          <a:p>
            <a:pPr>
              <a:buNone/>
            </a:pPr>
            <a:r>
              <a:rPr lang="en-US" altLang="zh-TW" dirty="0" smtClean="0"/>
              <a:t>     However, since the number of disulfide patterns grows rapidly when the number of disulfide bonds increases, their method performs unsatisfactorily for the cases of large number of disulfide bonds. In this work, we propose a novel method to represent disulfide connectivity in terms of </a:t>
            </a:r>
            <a:r>
              <a:rPr lang="en-US" altLang="zh-TW" dirty="0" err="1" smtClean="0"/>
              <a:t>cysteine</a:t>
            </a:r>
            <a:r>
              <a:rPr lang="en-US" altLang="zh-TW" dirty="0" smtClean="0"/>
              <a:t> pairs, instead of disulfide patterns. Since the number of bonding states of the </a:t>
            </a:r>
            <a:r>
              <a:rPr lang="en-US" altLang="zh-TW" dirty="0" err="1" smtClean="0"/>
              <a:t>cysteine</a:t>
            </a:r>
            <a:r>
              <a:rPr lang="en-US" altLang="zh-TW" dirty="0" smtClean="0"/>
              <a:t> pairs is independent of that of disulfide bonds, the problem of class explosion is </a:t>
            </a:r>
            <a:r>
              <a:rPr lang="en-US" altLang="zh-TW" dirty="0" err="1" smtClean="0"/>
              <a:t>avoided.The</a:t>
            </a:r>
            <a:r>
              <a:rPr lang="en-US" altLang="zh-TW" dirty="0" smtClean="0"/>
              <a:t> bonding states of the </a:t>
            </a:r>
            <a:r>
              <a:rPr lang="en-US" altLang="zh-TW" dirty="0" err="1" smtClean="0"/>
              <a:t>cysteine</a:t>
            </a:r>
            <a:r>
              <a:rPr lang="en-US" altLang="zh-TW" dirty="0" smtClean="0"/>
              <a:t> pairs are predicted using the support vector machines together with the genetic algorithm optimization for feature selection. The complete disulfide patterns are then determined from the connectivity matrices that are constructed from the predicted bonding states of the </a:t>
            </a:r>
            <a:r>
              <a:rPr lang="en-US" altLang="zh-TW" dirty="0" err="1" smtClean="0"/>
              <a:t>cysteine</a:t>
            </a:r>
            <a:r>
              <a:rPr lang="en-US" altLang="zh-TW" dirty="0" smtClean="0"/>
              <a:t> pairs. Our approach outperforms the current approaches in the literature.</a:t>
            </a:r>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CP</a:t>
            </a:r>
            <a:r>
              <a:rPr lang="en-US" altLang="zh-TW" baseline="-25000" dirty="0" smtClean="0"/>
              <a:t>2</a:t>
            </a:r>
            <a:r>
              <a:rPr lang="en-US" altLang="zh-TW" dirty="0" smtClean="0"/>
              <a:t> representation</a:t>
            </a:r>
            <a:endParaRPr lang="zh-TW" alt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523091" y="1600200"/>
            <a:ext cx="6097818" cy="4525963"/>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CP</a:t>
            </a:r>
            <a:r>
              <a:rPr lang="en-US" altLang="zh-TW" baseline="-25000" dirty="0" smtClean="0"/>
              <a:t>2</a:t>
            </a:r>
            <a:r>
              <a:rPr lang="en-US" altLang="zh-TW" dirty="0" smtClean="0"/>
              <a:t> representation</a:t>
            </a:r>
            <a:endParaRPr lang="zh-TW" alt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333651" y="1600200"/>
            <a:ext cx="6476698" cy="4525963"/>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Flowchart</a:t>
            </a:r>
            <a:endParaRPr lang="zh-TW" alt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500166" y="1600200"/>
            <a:ext cx="6333184" cy="4934949"/>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Feature Vectors</a:t>
            </a:r>
            <a:endParaRPr lang="zh-TW" altLang="en-US" dirty="0"/>
          </a:p>
        </p:txBody>
      </p:sp>
      <p:sp>
        <p:nvSpPr>
          <p:cNvPr id="3" name="內容版面配置區 2"/>
          <p:cNvSpPr>
            <a:spLocks noGrp="1"/>
          </p:cNvSpPr>
          <p:nvPr>
            <p:ph idx="1"/>
          </p:nvPr>
        </p:nvSpPr>
        <p:spPr/>
        <p:txBody>
          <a:bodyPr/>
          <a:lstStyle/>
          <a:p>
            <a:r>
              <a:rPr lang="en-US" altLang="zh-TW" dirty="0" err="1" smtClean="0"/>
              <a:t>Cysteine</a:t>
            </a:r>
            <a:r>
              <a:rPr lang="en-US" altLang="zh-TW" dirty="0" smtClean="0"/>
              <a:t> separation</a:t>
            </a:r>
          </a:p>
          <a:p>
            <a:r>
              <a:rPr lang="en-US" altLang="zh-TW" dirty="0" smtClean="0"/>
              <a:t>Amino acid composition</a:t>
            </a:r>
          </a:p>
          <a:p>
            <a:r>
              <a:rPr lang="en-US" altLang="zh-TW" dirty="0" err="1" smtClean="0"/>
              <a:t>Cysteine–cysteine</a:t>
            </a:r>
            <a:r>
              <a:rPr lang="en-US" altLang="zh-TW" dirty="0" smtClean="0"/>
              <a:t> coupling</a:t>
            </a:r>
            <a:endParaRPr lang="zh-TW"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Cysteine–cysteine</a:t>
            </a:r>
            <a:r>
              <a:rPr lang="en-US" altLang="zh-TW" dirty="0" smtClean="0"/>
              <a:t> coupling</a:t>
            </a:r>
            <a:endParaRPr lang="zh-TW" altLang="en-US" dirty="0"/>
          </a:p>
        </p:txBody>
      </p:sp>
      <p:pic>
        <p:nvPicPr>
          <p:cNvPr id="3074" name="Picture 2"/>
          <p:cNvPicPr>
            <a:picLocks noGrp="1" noChangeAspect="1" noChangeArrowheads="1"/>
          </p:cNvPicPr>
          <p:nvPr>
            <p:ph idx="1"/>
          </p:nvPr>
        </p:nvPicPr>
        <p:blipFill>
          <a:blip r:embed="rId3"/>
          <a:srcRect/>
          <a:stretch>
            <a:fillRect/>
          </a:stretch>
        </p:blipFill>
        <p:spPr bwMode="auto">
          <a:xfrm>
            <a:off x="642910" y="1428736"/>
            <a:ext cx="7858180" cy="4905018"/>
          </a:xfrm>
          <a:prstGeom prst="rect">
            <a:avLst/>
          </a:prstGeom>
          <a:noFill/>
          <a:ln w="9525">
            <a:noFill/>
            <a:miter lim="800000"/>
            <a:headEnd/>
            <a:tailEnd/>
          </a:ln>
          <a:effectLst/>
        </p:spPr>
      </p:pic>
      <p:sp>
        <p:nvSpPr>
          <p:cNvPr id="4" name="矩形 3"/>
          <p:cNvSpPr/>
          <p:nvPr/>
        </p:nvSpPr>
        <p:spPr>
          <a:xfrm>
            <a:off x="500034" y="2571744"/>
            <a:ext cx="7500990" cy="1428760"/>
          </a:xfrm>
          <a:prstGeom prst="rect">
            <a:avLst/>
          </a:prstGeom>
          <a:noFill/>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aphicFrame>
        <p:nvGraphicFramePr>
          <p:cNvPr id="12" name="表格 11"/>
          <p:cNvGraphicFramePr>
            <a:graphicFrameLocks noGrp="1"/>
          </p:cNvGraphicFramePr>
          <p:nvPr/>
        </p:nvGraphicFramePr>
        <p:xfrm>
          <a:off x="1000104" y="6357958"/>
          <a:ext cx="6858040" cy="285752"/>
        </p:xfrm>
        <a:graphic>
          <a:graphicData uri="http://schemas.openxmlformats.org/drawingml/2006/table">
            <a:tbl>
              <a:tblPr firstRow="1" bandRow="1">
                <a:tableStyleId>{5C22544A-7EE6-4342-B048-85BDC9FD1C3A}</a:tableStyleId>
              </a:tblPr>
              <a:tblGrid>
                <a:gridCol w="342902"/>
                <a:gridCol w="342902"/>
                <a:gridCol w="342902"/>
                <a:gridCol w="342902"/>
                <a:gridCol w="342902"/>
                <a:gridCol w="342902"/>
                <a:gridCol w="342902"/>
                <a:gridCol w="342902"/>
                <a:gridCol w="342902"/>
                <a:gridCol w="342902"/>
                <a:gridCol w="342902"/>
                <a:gridCol w="342902"/>
                <a:gridCol w="342902"/>
                <a:gridCol w="342902"/>
                <a:gridCol w="342902"/>
                <a:gridCol w="342902"/>
                <a:gridCol w="342902"/>
                <a:gridCol w="342902"/>
                <a:gridCol w="342902"/>
                <a:gridCol w="342902"/>
              </a:tblGrid>
              <a:tr h="285752">
                <a:tc>
                  <a:txBody>
                    <a:bodyPr/>
                    <a:lstStyle/>
                    <a:p>
                      <a:r>
                        <a:rPr lang="en-US" altLang="zh-TW" sz="800" dirty="0" smtClean="0"/>
                        <a:t>10</a:t>
                      </a:r>
                      <a:endParaRPr lang="zh-TW" altLang="en-US" sz="800" dirty="0"/>
                    </a:p>
                  </a:txBody>
                  <a:tcPr/>
                </a:tc>
                <a:tc>
                  <a:txBody>
                    <a:bodyPr/>
                    <a:lstStyle/>
                    <a:p>
                      <a:r>
                        <a:rPr lang="en-US" altLang="zh-TW" sz="800" dirty="0" smtClean="0"/>
                        <a:t>15</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9</a:t>
                      </a:r>
                      <a:endParaRPr lang="zh-TW" altLang="en-US" sz="800" dirty="0"/>
                    </a:p>
                  </a:txBody>
                  <a:tcPr/>
                </a:tc>
                <a:tc>
                  <a:txBody>
                    <a:bodyPr/>
                    <a:lstStyle/>
                    <a:p>
                      <a:r>
                        <a:rPr lang="en-US" altLang="zh-TW" sz="800" dirty="0" smtClean="0"/>
                        <a:t>9</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11</a:t>
                      </a:r>
                      <a:endParaRPr lang="zh-TW" altLang="en-US" sz="800" dirty="0"/>
                    </a:p>
                  </a:txBody>
                  <a:tcPr/>
                </a:tc>
                <a:tc>
                  <a:txBody>
                    <a:bodyPr/>
                    <a:lstStyle/>
                    <a:p>
                      <a:r>
                        <a:rPr lang="en-US" altLang="zh-TW" sz="800" dirty="0" smtClean="0"/>
                        <a:t>7</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10</a:t>
                      </a:r>
                      <a:endParaRPr lang="zh-TW" altLang="en-US" sz="800" dirty="0"/>
                    </a:p>
                  </a:txBody>
                  <a:tcPr/>
                </a:tc>
                <a:tc>
                  <a:txBody>
                    <a:bodyPr/>
                    <a:lstStyle/>
                    <a:p>
                      <a:r>
                        <a:rPr lang="en-US" altLang="zh-TW" sz="800" dirty="0" smtClean="0"/>
                        <a:t>31</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10</a:t>
                      </a:r>
                      <a:endParaRPr lang="zh-TW" altLang="en-US" sz="800" dirty="0"/>
                    </a:p>
                  </a:txBody>
                  <a:tcPr/>
                </a:tc>
                <a:tc>
                  <a:txBody>
                    <a:bodyPr/>
                    <a:lstStyle/>
                    <a:p>
                      <a:r>
                        <a:rPr lang="en-US" altLang="zh-TW" sz="800" dirty="0" smtClean="0"/>
                        <a:t>0</a:t>
                      </a:r>
                      <a:endParaRPr lang="zh-TW" altLang="en-US" sz="800" dirty="0"/>
                    </a:p>
                  </a:txBody>
                  <a:tcPr/>
                </a:tc>
                <a:tc>
                  <a:txBody>
                    <a:bodyPr/>
                    <a:lstStyle/>
                    <a:p>
                      <a:r>
                        <a:rPr lang="en-US" altLang="zh-TW" sz="800" dirty="0" smtClean="0"/>
                        <a:t>0</a:t>
                      </a:r>
                      <a:endParaRPr lang="zh-TW" altLang="en-US" sz="800" dirty="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Feature Selection</a:t>
            </a:r>
            <a:endParaRPr lang="zh-TW" altLang="en-US" dirty="0"/>
          </a:p>
        </p:txBody>
      </p:sp>
      <p:sp>
        <p:nvSpPr>
          <p:cNvPr id="3" name="內容版面配置區 2"/>
          <p:cNvSpPr>
            <a:spLocks noGrp="1"/>
          </p:cNvSpPr>
          <p:nvPr>
            <p:ph idx="1"/>
          </p:nvPr>
        </p:nvSpPr>
        <p:spPr/>
        <p:txBody>
          <a:bodyPr>
            <a:normAutofit/>
          </a:bodyPr>
          <a:lstStyle/>
          <a:p>
            <a:r>
              <a:rPr lang="en-US" altLang="zh-TW" dirty="0" smtClean="0"/>
              <a:t>Si = (</a:t>
            </a:r>
            <a:r>
              <a:rPr lang="en-US" altLang="zh-TW" dirty="0" err="1" smtClean="0"/>
              <a:t>Fi,Xi,Gi</a:t>
            </a:r>
            <a:r>
              <a:rPr lang="en-US" altLang="zh-TW" dirty="0" smtClean="0"/>
              <a:t>)</a:t>
            </a:r>
          </a:p>
          <a:p>
            <a:endParaRPr lang="en-US" altLang="zh-TW" dirty="0" smtClean="0"/>
          </a:p>
          <a:p>
            <a:r>
              <a:rPr lang="en-US" altLang="zh-TW" dirty="0" smtClean="0"/>
              <a:t>Selection operator</a:t>
            </a:r>
          </a:p>
          <a:p>
            <a:r>
              <a:rPr lang="en-US" altLang="zh-TW" dirty="0" smtClean="0"/>
              <a:t>Mutation operator</a:t>
            </a:r>
          </a:p>
          <a:p>
            <a:pPr lvl="1"/>
            <a:r>
              <a:rPr lang="en-US" altLang="zh-TW" dirty="0" smtClean="0"/>
              <a:t>α :  </a:t>
            </a:r>
            <a:r>
              <a:rPr lang="en-US" altLang="zh-TW" dirty="0" err="1" smtClean="0"/>
              <a:t>Fi</a:t>
            </a:r>
            <a:r>
              <a:rPr lang="en-US" altLang="zh-TW" dirty="0" smtClean="0"/>
              <a:t> =&gt; ¬</a:t>
            </a:r>
            <a:r>
              <a:rPr lang="en-US" altLang="zh-TW" dirty="0" err="1" smtClean="0"/>
              <a:t>Fi</a:t>
            </a:r>
            <a:r>
              <a:rPr lang="en-US" altLang="zh-TW" dirty="0" smtClean="0"/>
              <a:t>     threshold = 0.1</a:t>
            </a:r>
          </a:p>
          <a:p>
            <a:pPr lvl="1"/>
            <a:r>
              <a:rPr lang="en-US" altLang="zh-TW" dirty="0" smtClean="0"/>
              <a:t>β : random one bit mutation </a:t>
            </a:r>
          </a:p>
          <a:p>
            <a:r>
              <a:rPr lang="en-US" altLang="zh-TW" dirty="0" smtClean="0"/>
              <a:t>Crossover operators</a:t>
            </a:r>
          </a:p>
          <a:p>
            <a:pPr lvl="1"/>
            <a:r>
              <a:rPr lang="en-US" altLang="zh-TW" dirty="0" smtClean="0"/>
              <a:t>One bit crossover   threshold</a:t>
            </a:r>
            <a:r>
              <a:rPr lang="zh-TW" altLang="en-US" dirty="0" smtClean="0"/>
              <a:t> </a:t>
            </a:r>
            <a:r>
              <a:rPr lang="en-US" altLang="zh-TW" dirty="0" smtClean="0"/>
              <a:t>= 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connectivity matrix</a:t>
            </a:r>
            <a:endParaRPr lang="zh-TW" altLang="en-US" dirty="0"/>
          </a:p>
        </p:txBody>
      </p:sp>
      <p:pic>
        <p:nvPicPr>
          <p:cNvPr id="2051" name="Picture 3"/>
          <p:cNvPicPr>
            <a:picLocks noGrp="1" noChangeAspect="1" noChangeArrowheads="1"/>
          </p:cNvPicPr>
          <p:nvPr>
            <p:ph idx="1"/>
          </p:nvPr>
        </p:nvPicPr>
        <p:blipFill>
          <a:blip r:embed="rId2"/>
          <a:srcRect/>
          <a:stretch>
            <a:fillRect/>
          </a:stretch>
        </p:blipFill>
        <p:spPr bwMode="auto">
          <a:xfrm>
            <a:off x="2214546" y="1428736"/>
            <a:ext cx="4929222" cy="5320539"/>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connectivity matrix</a:t>
            </a:r>
            <a:endParaRPr lang="zh-TW" altLang="en-US" dirty="0"/>
          </a:p>
        </p:txBody>
      </p:sp>
      <p:pic>
        <p:nvPicPr>
          <p:cNvPr id="3074" name="Picture 2"/>
          <p:cNvPicPr>
            <a:picLocks noGrp="1" noChangeAspect="1" noChangeArrowheads="1"/>
          </p:cNvPicPr>
          <p:nvPr>
            <p:ph idx="1"/>
          </p:nvPr>
        </p:nvPicPr>
        <p:blipFill>
          <a:blip r:embed="rId2"/>
          <a:srcRect/>
          <a:stretch>
            <a:fillRect/>
          </a:stretch>
        </p:blipFill>
        <p:spPr bwMode="auto">
          <a:xfrm>
            <a:off x="2229204" y="1600200"/>
            <a:ext cx="5128878" cy="4954148"/>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Results</a:t>
            </a:r>
            <a:endParaRPr lang="zh-TW" altLang="en-US" dirty="0"/>
          </a:p>
        </p:txBody>
      </p:sp>
      <p:pic>
        <p:nvPicPr>
          <p:cNvPr id="4098" name="Picture 2"/>
          <p:cNvPicPr>
            <a:picLocks noGrp="1" noChangeAspect="1" noChangeArrowheads="1"/>
          </p:cNvPicPr>
          <p:nvPr>
            <p:ph idx="1"/>
          </p:nvPr>
        </p:nvPicPr>
        <p:blipFill>
          <a:blip r:embed="rId2"/>
          <a:srcRect/>
          <a:stretch>
            <a:fillRect/>
          </a:stretch>
        </p:blipFill>
        <p:spPr bwMode="auto">
          <a:xfrm>
            <a:off x="428596" y="1714488"/>
            <a:ext cx="8229600" cy="1951684"/>
          </a:xfrm>
          <a:prstGeom prst="rect">
            <a:avLst/>
          </a:prstGeom>
          <a:noFill/>
          <a:ln w="9525">
            <a:noFill/>
            <a:miter lim="800000"/>
            <a:headEnd/>
            <a:tailEnd/>
          </a:ln>
          <a:effectLst/>
        </p:spPr>
      </p:pic>
      <p:graphicFrame>
        <p:nvGraphicFramePr>
          <p:cNvPr id="5" name="表格 4"/>
          <p:cNvGraphicFramePr>
            <a:graphicFrameLocks noGrp="1"/>
          </p:cNvGraphicFramePr>
          <p:nvPr/>
        </p:nvGraphicFramePr>
        <p:xfrm>
          <a:off x="1928794" y="5929330"/>
          <a:ext cx="6929490" cy="428628"/>
        </p:xfrm>
        <a:graphic>
          <a:graphicData uri="http://schemas.openxmlformats.org/drawingml/2006/table">
            <a:tbl>
              <a:tblPr firstRow="1" bandRow="1">
                <a:tableStyleId>{5C22544A-7EE6-4342-B048-85BDC9FD1C3A}</a:tableStyleId>
              </a:tblPr>
              <a:tblGrid>
                <a:gridCol w="692949"/>
                <a:gridCol w="692949"/>
                <a:gridCol w="692949"/>
                <a:gridCol w="692949"/>
                <a:gridCol w="692949"/>
                <a:gridCol w="692949"/>
                <a:gridCol w="692949"/>
                <a:gridCol w="692949"/>
                <a:gridCol w="692949"/>
                <a:gridCol w="692949"/>
              </a:tblGrid>
              <a:tr h="428628">
                <a:tc>
                  <a:txBody>
                    <a:bodyPr/>
                    <a:lstStyle/>
                    <a:p>
                      <a:pPr algn="ctr"/>
                      <a:r>
                        <a:rPr lang="en-US" altLang="zh-TW" dirty="0" smtClean="0"/>
                        <a:t>80.8</a:t>
                      </a:r>
                      <a:endParaRPr lang="zh-TW" altLang="en-US" dirty="0"/>
                    </a:p>
                  </a:txBody>
                  <a:tcPr/>
                </a:tc>
                <a:tc>
                  <a:txBody>
                    <a:bodyPr/>
                    <a:lstStyle/>
                    <a:p>
                      <a:pPr algn="ctr"/>
                      <a:r>
                        <a:rPr lang="en-US" altLang="zh-TW" dirty="0" smtClean="0"/>
                        <a:t>80.8</a:t>
                      </a:r>
                      <a:endParaRPr lang="zh-TW" altLang="en-US" dirty="0"/>
                    </a:p>
                  </a:txBody>
                  <a:tcPr/>
                </a:tc>
                <a:tc>
                  <a:txBody>
                    <a:bodyPr/>
                    <a:lstStyle/>
                    <a:p>
                      <a:pPr algn="ctr"/>
                      <a:r>
                        <a:rPr lang="en-US" altLang="zh-TW" dirty="0" smtClean="0"/>
                        <a:t>57.5</a:t>
                      </a:r>
                      <a:endParaRPr lang="zh-TW" altLang="en-US" dirty="0"/>
                    </a:p>
                  </a:txBody>
                  <a:tcPr/>
                </a:tc>
                <a:tc>
                  <a:txBody>
                    <a:bodyPr/>
                    <a:lstStyle/>
                    <a:p>
                      <a:pPr algn="ctr"/>
                      <a:r>
                        <a:rPr lang="en-US" altLang="zh-TW" dirty="0" smtClean="0"/>
                        <a:t>66.2</a:t>
                      </a:r>
                      <a:endParaRPr lang="zh-TW" altLang="en-US" dirty="0"/>
                    </a:p>
                  </a:txBody>
                  <a:tcPr/>
                </a:tc>
                <a:tc>
                  <a:txBody>
                    <a:bodyPr/>
                    <a:lstStyle/>
                    <a:p>
                      <a:pPr algn="ctr"/>
                      <a:r>
                        <a:rPr lang="en-US" altLang="zh-TW" dirty="0" smtClean="0"/>
                        <a:t>54.5</a:t>
                      </a:r>
                      <a:endParaRPr lang="zh-TW" altLang="en-US" dirty="0"/>
                    </a:p>
                  </a:txBody>
                  <a:tcPr/>
                </a:tc>
                <a:tc>
                  <a:txBody>
                    <a:bodyPr/>
                    <a:lstStyle/>
                    <a:p>
                      <a:pPr algn="ctr"/>
                      <a:r>
                        <a:rPr lang="en-US" altLang="zh-TW" dirty="0" smtClean="0"/>
                        <a:t>70.7</a:t>
                      </a:r>
                      <a:endParaRPr lang="zh-TW" altLang="en-US" dirty="0"/>
                    </a:p>
                  </a:txBody>
                  <a:tcPr/>
                </a:tc>
                <a:tc>
                  <a:txBody>
                    <a:bodyPr/>
                    <a:lstStyle/>
                    <a:p>
                      <a:pPr algn="ctr"/>
                      <a:r>
                        <a:rPr lang="en-US" altLang="zh-TW" dirty="0" smtClean="0"/>
                        <a:t>42.2</a:t>
                      </a:r>
                      <a:endParaRPr lang="zh-TW" altLang="en-US" dirty="0"/>
                    </a:p>
                  </a:txBody>
                  <a:tcPr/>
                </a:tc>
                <a:tc>
                  <a:txBody>
                    <a:bodyPr/>
                    <a:lstStyle/>
                    <a:p>
                      <a:pPr algn="ctr"/>
                      <a:r>
                        <a:rPr lang="en-US" altLang="zh-TW" dirty="0" smtClean="0"/>
                        <a:t>61.8</a:t>
                      </a:r>
                      <a:endParaRPr lang="zh-TW" altLang="en-US" dirty="0"/>
                    </a:p>
                  </a:txBody>
                  <a:tcPr/>
                </a:tc>
                <a:tc>
                  <a:txBody>
                    <a:bodyPr/>
                    <a:lstStyle/>
                    <a:p>
                      <a:pPr algn="ctr"/>
                      <a:r>
                        <a:rPr lang="en-US" altLang="zh-TW" dirty="0" smtClean="0"/>
                        <a:t>63.5</a:t>
                      </a:r>
                      <a:endParaRPr lang="zh-TW" altLang="en-US" dirty="0"/>
                    </a:p>
                  </a:txBody>
                  <a:tcPr/>
                </a:tc>
                <a:tc>
                  <a:txBody>
                    <a:bodyPr/>
                    <a:lstStyle/>
                    <a:p>
                      <a:pPr algn="ctr"/>
                      <a:r>
                        <a:rPr lang="en-US" altLang="zh-TW" dirty="0" smtClean="0"/>
                        <a:t>70.1</a:t>
                      </a:r>
                      <a:endParaRPr lang="zh-TW" altLang="en-US" dirty="0"/>
                    </a:p>
                  </a:txBody>
                  <a:tcPr/>
                </a:tc>
              </a:tr>
            </a:tbl>
          </a:graphicData>
        </a:graphic>
      </p:graphicFrame>
      <p:pic>
        <p:nvPicPr>
          <p:cNvPr id="4099" name="Picture 3"/>
          <p:cNvPicPr>
            <a:picLocks noChangeAspect="1" noChangeArrowheads="1"/>
          </p:cNvPicPr>
          <p:nvPr/>
        </p:nvPicPr>
        <p:blipFill>
          <a:blip r:embed="rId3"/>
          <a:srcRect/>
          <a:stretch>
            <a:fillRect/>
          </a:stretch>
        </p:blipFill>
        <p:spPr bwMode="auto">
          <a:xfrm>
            <a:off x="357158" y="3643314"/>
            <a:ext cx="8429684" cy="218578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selection percentages of amino acid types by GA</a:t>
            </a:r>
            <a:endParaRPr lang="zh-TW" altLang="en-US" dirty="0"/>
          </a:p>
        </p:txBody>
      </p:sp>
      <p:pic>
        <p:nvPicPr>
          <p:cNvPr id="5122" name="Picture 2"/>
          <p:cNvPicPr>
            <a:picLocks noGrp="1" noChangeAspect="1" noChangeArrowheads="1"/>
          </p:cNvPicPr>
          <p:nvPr>
            <p:ph idx="1"/>
          </p:nvPr>
        </p:nvPicPr>
        <p:blipFill>
          <a:blip r:embed="rId2"/>
          <a:srcRect/>
          <a:stretch>
            <a:fillRect/>
          </a:stretch>
        </p:blipFill>
        <p:spPr bwMode="auto">
          <a:xfrm>
            <a:off x="2492353" y="1572255"/>
            <a:ext cx="4437101" cy="5000017"/>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Distribution of </a:t>
            </a:r>
            <a:r>
              <a:rPr lang="en-US" altLang="zh-TW" dirty="0" err="1" smtClean="0"/>
              <a:t>Cysteine</a:t>
            </a:r>
            <a:r>
              <a:rPr lang="en-US" altLang="zh-TW" dirty="0" smtClean="0"/>
              <a:t> Pairs Forming</a:t>
            </a:r>
            <a:br>
              <a:rPr lang="en-US" altLang="zh-TW" dirty="0" smtClean="0"/>
            </a:br>
            <a:r>
              <a:rPr lang="en-US" altLang="zh-TW" dirty="0" smtClean="0"/>
              <a:t>Disulfide Bridges</a:t>
            </a:r>
            <a:endParaRPr lang="zh-TW" alt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643042" y="1428736"/>
            <a:ext cx="5572164" cy="5324222"/>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1">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TotalTime>
  <Words>592</Words>
  <PresentationFormat>如螢幕大小 (4:3)</PresentationFormat>
  <Paragraphs>66</Paragraphs>
  <Slides>14</Slides>
  <Notes>1</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Predicting Disulfide Connectivity Patterns</vt:lpstr>
      <vt:lpstr>Abstract(1/2)</vt:lpstr>
      <vt:lpstr>Abstract(2/2)</vt:lpstr>
      <vt:lpstr>CP2 representation</vt:lpstr>
      <vt:lpstr>CP2 representation</vt:lpstr>
      <vt:lpstr>Flowchart</vt:lpstr>
      <vt:lpstr>The Feature Vectors</vt:lpstr>
      <vt:lpstr>Cysteine–cysteine coupling</vt:lpstr>
      <vt:lpstr>Feature Selection</vt:lpstr>
      <vt:lpstr>connectivity matrix</vt:lpstr>
      <vt:lpstr>connectivity matrix</vt:lpstr>
      <vt:lpstr>Results</vt:lpstr>
      <vt:lpstr>The selection percentages of amino acid types by GA</vt:lpstr>
      <vt:lpstr>Distribution of Cysteine Pairs Forming Disulfide Bridges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cp:lastModifiedBy>Sephiroth</cp:lastModifiedBy>
  <cp:revision>44</cp:revision>
  <dcterms:modified xsi:type="dcterms:W3CDTF">2009-08-28T12:01:56Z</dcterms:modified>
</cp:coreProperties>
</file>