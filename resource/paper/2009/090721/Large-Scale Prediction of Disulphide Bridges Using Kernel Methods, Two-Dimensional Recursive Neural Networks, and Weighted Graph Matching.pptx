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0" r:id="rId5"/>
    <p:sldId id="261" r:id="rId6"/>
    <p:sldId id="264" r:id="rId7"/>
    <p:sldId id="265" r:id="rId8"/>
    <p:sldId id="262" r:id="rId9"/>
    <p:sldId id="263" r:id="rId10"/>
    <p:sldId id="266" r:id="rId11"/>
    <p:sldId id="267" r:id="rId12"/>
    <p:sldId id="268" r:id="rId13"/>
    <p:sldId id="269" r:id="rId14"/>
    <p:sldId id="270" r:id="rId15"/>
  </p:sldIdLst>
  <p:sldSz cx="9144000" cy="6858000" type="screen4x3"/>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varScale="1">
        <p:scale>
          <a:sx n="102" d="100"/>
          <a:sy n="102" d="100"/>
        </p:scale>
        <p:origin x="-234" y="-102"/>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標題 1"/>
          <p:cNvSpPr>
            <a:spLocks noGrp="1"/>
          </p:cNvSpPr>
          <p:nvPr>
            <p:ph type="ctrTitle"/>
          </p:nvPr>
        </p:nvSpPr>
        <p:spPr>
          <a:xfrm>
            <a:off x="685800" y="2130425"/>
            <a:ext cx="7772400" cy="1470025"/>
          </a:xfrm>
        </p:spPr>
        <p:txBody>
          <a:bodyPr/>
          <a:lstStyle/>
          <a:p>
            <a:r>
              <a:rPr lang="zh-TW" altLang="en-US" smtClean="0"/>
              <a:t>按一下以編輯母片標題樣式</a:t>
            </a:r>
            <a:endParaRPr lang="zh-TW" altLang="en-US"/>
          </a:p>
        </p:txBody>
      </p:sp>
      <p:sp>
        <p:nvSpPr>
          <p:cNvPr id="3" name="副標題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TW" altLang="en-US" smtClean="0"/>
              <a:t>按一下以編輯母片副標題樣式</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2009/7/28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idx="1"/>
          </p:nvPr>
        </p:nvSpPr>
        <p:spPr/>
        <p:txBody>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2009/7/28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區段標題">
    <p:spTree>
      <p:nvGrpSpPr>
        <p:cNvPr id="1" name=""/>
        <p:cNvGrpSpPr/>
        <p:nvPr/>
      </p:nvGrpSpPr>
      <p:grpSpPr>
        <a:xfrm>
          <a:off x="0" y="0"/>
          <a:ext cx="0" cy="0"/>
          <a:chOff x="0" y="0"/>
          <a:chExt cx="0" cy="0"/>
        </a:xfrm>
      </p:grpSpPr>
      <p:sp>
        <p:nvSpPr>
          <p:cNvPr id="2" name="標題 1"/>
          <p:cNvSpPr>
            <a:spLocks noGrp="1"/>
          </p:cNvSpPr>
          <p:nvPr>
            <p:ph type="title"/>
          </p:nvPr>
        </p:nvSpPr>
        <p:spPr>
          <a:xfrm>
            <a:off x="722313" y="4406900"/>
            <a:ext cx="7772400" cy="1362075"/>
          </a:xfrm>
        </p:spPr>
        <p:txBody>
          <a:bodyPr anchor="t"/>
          <a:lstStyle>
            <a:lvl1pPr algn="l">
              <a:defRPr sz="4000" b="1" cap="all"/>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TW" altLang="en-US" smtClean="0"/>
              <a:t>按一下以編輯母片文字樣式</a:t>
            </a:r>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2009/7/28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內容版面配置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內容版面配置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2009/7/28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lvl1pPr>
              <a:defRPr/>
            </a:lvl1p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4" name="內容版面配置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5" name="文字版面配置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smtClean="0"/>
              <a:t>按一下以編輯母片文字樣式</a:t>
            </a:r>
          </a:p>
        </p:txBody>
      </p:sp>
      <p:sp>
        <p:nvSpPr>
          <p:cNvPr id="6" name="內容版面配置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7" name="日期版面配置區 6"/>
          <p:cNvSpPr>
            <a:spLocks noGrp="1"/>
          </p:cNvSpPr>
          <p:nvPr>
            <p:ph type="dt" sz="half" idx="10"/>
          </p:nvPr>
        </p:nvSpPr>
        <p:spPr/>
        <p:txBody>
          <a:bodyPr/>
          <a:lstStyle/>
          <a:p>
            <a:fld id="{5BBEAD13-0566-4C6C-97E7-55F17F24B09F}" type="datetimeFigureOut">
              <a:rPr lang="zh-TW" altLang="en-US" smtClean="0"/>
              <a:pPr/>
              <a:t>2009/7/28</a:t>
            </a:fld>
            <a:endParaRPr lang="zh-TW" altLang="en-US"/>
          </a:p>
        </p:txBody>
      </p:sp>
      <p:sp>
        <p:nvSpPr>
          <p:cNvPr id="8" name="頁尾版面配置區 7"/>
          <p:cNvSpPr>
            <a:spLocks noGrp="1"/>
          </p:cNvSpPr>
          <p:nvPr>
            <p:ph type="ftr" sz="quarter" idx="11"/>
          </p:nvPr>
        </p:nvSpPr>
        <p:spPr/>
        <p:txBody>
          <a:bodyPr/>
          <a:lstStyle/>
          <a:p>
            <a:endParaRPr lang="zh-TW" altLang="en-US"/>
          </a:p>
        </p:txBody>
      </p:sp>
      <p:sp>
        <p:nvSpPr>
          <p:cNvPr id="9" name="投影片編號版面配置區 8"/>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日期版面配置區 2"/>
          <p:cNvSpPr>
            <a:spLocks noGrp="1"/>
          </p:cNvSpPr>
          <p:nvPr>
            <p:ph type="dt" sz="half" idx="10"/>
          </p:nvPr>
        </p:nvSpPr>
        <p:spPr/>
        <p:txBody>
          <a:bodyPr/>
          <a:lstStyle/>
          <a:p>
            <a:fld id="{5BBEAD13-0566-4C6C-97E7-55F17F24B09F}" type="datetimeFigureOut">
              <a:rPr lang="zh-TW" altLang="en-US" smtClean="0"/>
              <a:pPr/>
              <a:t>2009/7/28</a:t>
            </a:fld>
            <a:endParaRPr lang="zh-TW" altLang="en-US"/>
          </a:p>
        </p:txBody>
      </p:sp>
      <p:sp>
        <p:nvSpPr>
          <p:cNvPr id="4" name="頁尾版面配置區 3"/>
          <p:cNvSpPr>
            <a:spLocks noGrp="1"/>
          </p:cNvSpPr>
          <p:nvPr>
            <p:ph type="ftr" sz="quarter" idx="11"/>
          </p:nvPr>
        </p:nvSpPr>
        <p:spPr/>
        <p:txBody>
          <a:bodyPr/>
          <a:lstStyle/>
          <a:p>
            <a:endParaRPr lang="zh-TW" altLang="en-US"/>
          </a:p>
        </p:txBody>
      </p:sp>
      <p:sp>
        <p:nvSpPr>
          <p:cNvPr id="5" name="投影片編號版面配置區 4"/>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版面配置區 1"/>
          <p:cNvSpPr>
            <a:spLocks noGrp="1"/>
          </p:cNvSpPr>
          <p:nvPr>
            <p:ph type="dt" sz="half" idx="10"/>
          </p:nvPr>
        </p:nvSpPr>
        <p:spPr/>
        <p:txBody>
          <a:bodyPr/>
          <a:lstStyle/>
          <a:p>
            <a:fld id="{5BBEAD13-0566-4C6C-97E7-55F17F24B09F}" type="datetimeFigureOut">
              <a:rPr lang="zh-TW" altLang="en-US" smtClean="0"/>
              <a:pPr/>
              <a:t>2009/7/28</a:t>
            </a:fld>
            <a:endParaRPr lang="zh-TW" altLang="en-US"/>
          </a:p>
        </p:txBody>
      </p:sp>
      <p:sp>
        <p:nvSpPr>
          <p:cNvPr id="3" name="頁尾版面配置區 2"/>
          <p:cNvSpPr>
            <a:spLocks noGrp="1"/>
          </p:cNvSpPr>
          <p:nvPr>
            <p:ph type="ftr" sz="quarter" idx="1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標題 1"/>
          <p:cNvSpPr>
            <a:spLocks noGrp="1"/>
          </p:cNvSpPr>
          <p:nvPr>
            <p:ph type="title"/>
          </p:nvPr>
        </p:nvSpPr>
        <p:spPr>
          <a:xfrm>
            <a:off x="457200" y="273050"/>
            <a:ext cx="3008313" cy="1162050"/>
          </a:xfrm>
        </p:spPr>
        <p:txBody>
          <a:bodyPr anchor="b"/>
          <a:lstStyle>
            <a:lvl1pPr algn="l">
              <a:defRPr sz="2000" b="1"/>
            </a:lvl1pPr>
          </a:lstStyle>
          <a:p>
            <a:r>
              <a:rPr lang="zh-TW" altLang="en-US" smtClean="0"/>
              <a:t>按一下以編輯母片標題樣式</a:t>
            </a:r>
            <a:endParaRPr lang="zh-TW" altLang="en-US"/>
          </a:p>
        </p:txBody>
      </p:sp>
      <p:sp>
        <p:nvSpPr>
          <p:cNvPr id="3" name="內容版面配置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文字版面配置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2009/7/28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標題 1"/>
          <p:cNvSpPr>
            <a:spLocks noGrp="1"/>
          </p:cNvSpPr>
          <p:nvPr>
            <p:ph type="title"/>
          </p:nvPr>
        </p:nvSpPr>
        <p:spPr>
          <a:xfrm>
            <a:off x="1792288" y="4800600"/>
            <a:ext cx="5486400" cy="566738"/>
          </a:xfrm>
        </p:spPr>
        <p:txBody>
          <a:bodyPr anchor="b"/>
          <a:lstStyle>
            <a:lvl1pPr algn="l">
              <a:defRPr sz="2000" b="1"/>
            </a:lvl1pPr>
          </a:lstStyle>
          <a:p>
            <a:r>
              <a:rPr lang="zh-TW" altLang="en-US" smtClean="0"/>
              <a:t>按一下以編輯母片標題樣式</a:t>
            </a:r>
            <a:endParaRPr lang="zh-TW" altLang="en-US"/>
          </a:p>
        </p:txBody>
      </p:sp>
      <p:sp>
        <p:nvSpPr>
          <p:cNvPr id="3" name="圖片版面配置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TW" altLang="en-US"/>
          </a:p>
        </p:txBody>
      </p:sp>
      <p:sp>
        <p:nvSpPr>
          <p:cNvPr id="4" name="文字版面配置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smtClean="0"/>
              <a:t>按一下以編輯母片文字樣式</a:t>
            </a:r>
          </a:p>
        </p:txBody>
      </p:sp>
      <p:sp>
        <p:nvSpPr>
          <p:cNvPr id="5" name="日期版面配置區 4"/>
          <p:cNvSpPr>
            <a:spLocks noGrp="1"/>
          </p:cNvSpPr>
          <p:nvPr>
            <p:ph type="dt" sz="half" idx="10"/>
          </p:nvPr>
        </p:nvSpPr>
        <p:spPr/>
        <p:txBody>
          <a:bodyPr/>
          <a:lstStyle/>
          <a:p>
            <a:fld id="{5BBEAD13-0566-4C6C-97E7-55F17F24B09F}" type="datetimeFigureOut">
              <a:rPr lang="zh-TW" altLang="en-US" smtClean="0"/>
              <a:pPr/>
              <a:t>2009/7/28</a:t>
            </a:fld>
            <a:endParaRPr lang="zh-TW" altLang="en-US"/>
          </a:p>
        </p:txBody>
      </p:sp>
      <p:sp>
        <p:nvSpPr>
          <p:cNvPr id="6" name="頁尾版面配置區 5"/>
          <p:cNvSpPr>
            <a:spLocks noGrp="1"/>
          </p:cNvSpPr>
          <p:nvPr>
            <p:ph type="ftr" sz="quarter" idx="11"/>
          </p:nvPr>
        </p:nvSpPr>
        <p:spPr/>
        <p:txBody>
          <a:bodyPr/>
          <a:lstStyle/>
          <a:p>
            <a:endParaRPr lang="zh-TW" altLang="en-US"/>
          </a:p>
        </p:txBody>
      </p:sp>
      <p:sp>
        <p:nvSpPr>
          <p:cNvPr id="7" name="投影片編號版面配置區 6"/>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2009/7/28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直排標題 1"/>
          <p:cNvSpPr>
            <a:spLocks noGrp="1"/>
          </p:cNvSpPr>
          <p:nvPr>
            <p:ph type="title" orient="vert"/>
          </p:nvPr>
        </p:nvSpPr>
        <p:spPr>
          <a:xfrm>
            <a:off x="6629400" y="274638"/>
            <a:ext cx="2057400" cy="5851525"/>
          </a:xfrm>
        </p:spPr>
        <p:txBody>
          <a:bodyPr vert="eaVert"/>
          <a:lstStyle/>
          <a:p>
            <a:r>
              <a:rPr lang="zh-TW" altLang="en-US" smtClean="0"/>
              <a:t>按一下以編輯母片標題樣式</a:t>
            </a:r>
            <a:endParaRPr lang="zh-TW" altLang="en-US"/>
          </a:p>
        </p:txBody>
      </p:sp>
      <p:sp>
        <p:nvSpPr>
          <p:cNvPr id="3" name="直排文字版面配置區 2"/>
          <p:cNvSpPr>
            <a:spLocks noGrp="1"/>
          </p:cNvSpPr>
          <p:nvPr>
            <p:ph type="body" orient="vert" idx="1"/>
          </p:nvPr>
        </p:nvSpPr>
        <p:spPr>
          <a:xfrm>
            <a:off x="457200" y="274638"/>
            <a:ext cx="6019800" cy="5851525"/>
          </a:xfrm>
        </p:spPr>
        <p:txBody>
          <a:bodyPr vert="eaVert"/>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10"/>
          </p:nvPr>
        </p:nvSpPr>
        <p:spPr/>
        <p:txBody>
          <a:bodyPr/>
          <a:lstStyle/>
          <a:p>
            <a:fld id="{5BBEAD13-0566-4C6C-97E7-55F17F24B09F}" type="datetimeFigureOut">
              <a:rPr lang="zh-TW" altLang="en-US" smtClean="0"/>
              <a:pPr/>
              <a:t>2009/7/28</a:t>
            </a:fld>
            <a:endParaRPr lang="zh-TW" altLang="en-US"/>
          </a:p>
        </p:txBody>
      </p:sp>
      <p:sp>
        <p:nvSpPr>
          <p:cNvPr id="5" name="頁尾版面配置區 4"/>
          <p:cNvSpPr>
            <a:spLocks noGrp="1"/>
          </p:cNvSpPr>
          <p:nvPr>
            <p:ph type="ftr" sz="quarter" idx="11"/>
          </p:nvPr>
        </p:nvSpPr>
        <p:spPr/>
        <p:txBody>
          <a:bodyPr/>
          <a:lstStyle/>
          <a:p>
            <a:endParaRPr lang="zh-TW" altLang="en-US"/>
          </a:p>
        </p:txBody>
      </p:sp>
      <p:sp>
        <p:nvSpPr>
          <p:cNvPr id="6" name="投影片編號版面配置區 5"/>
          <p:cNvSpPr>
            <a:spLocks noGrp="1"/>
          </p:cNvSpPr>
          <p:nvPr>
            <p:ph type="sldNum" sz="quarter" idx="12"/>
          </p:nvPr>
        </p:nvSpPr>
        <p:spPr/>
        <p:txBody>
          <a:bodyPr/>
          <a:lstStyle/>
          <a:p>
            <a:fld id="{73DA0BB7-265A-403C-9275-D587AB510EDC}" type="slidenum">
              <a:rPr lang="zh-TW" altLang="en-US" smtClean="0"/>
              <a:pPr/>
              <a:t>‹#›</a:t>
            </a:fld>
            <a:endParaRPr lang="zh-TW"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標題版面配置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TW" altLang="en-US" smtClean="0"/>
              <a:t>按一下以編輯母片標題樣式</a:t>
            </a:r>
            <a:endParaRPr lang="zh-TW" altLang="en-US"/>
          </a:p>
        </p:txBody>
      </p:sp>
      <p:sp>
        <p:nvSpPr>
          <p:cNvPr id="3" name="文字版面配置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TW" altLang="en-US" smtClean="0"/>
              <a:t>按一下以編輯母片文字樣式</a:t>
            </a:r>
          </a:p>
          <a:p>
            <a:pPr lvl="1"/>
            <a:r>
              <a:rPr lang="zh-TW" altLang="en-US" smtClean="0"/>
              <a:t>第二層</a:t>
            </a:r>
          </a:p>
          <a:p>
            <a:pPr lvl="2"/>
            <a:r>
              <a:rPr lang="zh-TW" altLang="en-US" smtClean="0"/>
              <a:t>第三層</a:t>
            </a:r>
          </a:p>
          <a:p>
            <a:pPr lvl="3"/>
            <a:r>
              <a:rPr lang="zh-TW" altLang="en-US" smtClean="0"/>
              <a:t>第四層</a:t>
            </a:r>
          </a:p>
          <a:p>
            <a:pPr lvl="4"/>
            <a:r>
              <a:rPr lang="zh-TW" altLang="en-US" smtClean="0"/>
              <a:t>第五層</a:t>
            </a:r>
            <a:endParaRPr lang="zh-TW" altLang="en-US"/>
          </a:p>
        </p:txBody>
      </p:sp>
      <p:sp>
        <p:nvSpPr>
          <p:cNvPr id="4" name="日期版面配置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BEAD13-0566-4C6C-97E7-55F17F24B09F}" type="datetimeFigureOut">
              <a:rPr lang="zh-TW" altLang="en-US" smtClean="0"/>
              <a:pPr/>
              <a:t>2009/7/28</a:t>
            </a:fld>
            <a:endParaRPr lang="zh-TW" altLang="en-US"/>
          </a:p>
        </p:txBody>
      </p:sp>
      <p:sp>
        <p:nvSpPr>
          <p:cNvPr id="5" name="頁尾版面配置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投影片編號版面配置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3DA0BB7-265A-403C-9275-D587AB510EDC}" type="slidenum">
              <a:rPr lang="zh-TW" altLang="en-US" smtClean="0"/>
              <a:pPr/>
              <a:t>‹#›</a:t>
            </a:fld>
            <a:endParaRPr lang="zh-TW"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normAutofit/>
          </a:bodyPr>
          <a:lstStyle/>
          <a:p>
            <a:r>
              <a:rPr lang="en-US" altLang="zh-TW" sz="2700" b="1" dirty="0" smtClean="0">
                <a:latin typeface="Times New Roman" pitchFamily="18" charset="0"/>
                <a:cs typeface="Times New Roman" pitchFamily="18" charset="0"/>
              </a:rPr>
              <a:t>Large-Scale Prediction of Disulphide Bridges Using Kernel Methods, Two-Dimensional Recursive Neural Networks, and Weighted Graph Matching</a:t>
            </a:r>
            <a:endParaRPr lang="zh-TW" altLang="en-US" dirty="0">
              <a:latin typeface="Times New Roman" pitchFamily="18" charset="0"/>
              <a:cs typeface="Times New Roman" pitchFamily="18" charset="0"/>
            </a:endParaRPr>
          </a:p>
        </p:txBody>
      </p:sp>
      <p:sp>
        <p:nvSpPr>
          <p:cNvPr id="3" name="副標題 2"/>
          <p:cNvSpPr>
            <a:spLocks noGrp="1"/>
          </p:cNvSpPr>
          <p:nvPr>
            <p:ph type="subTitle" idx="1"/>
          </p:nvPr>
        </p:nvSpPr>
        <p:spPr/>
        <p:txBody>
          <a:bodyPr>
            <a:normAutofit/>
          </a:bodyPr>
          <a:lstStyle/>
          <a:p>
            <a:r>
              <a:rPr lang="en-US" altLang="zh-TW" sz="2000" b="1" dirty="0" err="1" smtClean="0">
                <a:solidFill>
                  <a:schemeClr val="tx1"/>
                </a:solidFill>
                <a:latin typeface="Times New Roman" pitchFamily="18" charset="0"/>
                <a:cs typeface="Times New Roman" pitchFamily="18" charset="0"/>
              </a:rPr>
              <a:t>Jianlin</a:t>
            </a:r>
            <a:r>
              <a:rPr lang="en-US" altLang="zh-TW" sz="2000" b="1" dirty="0" smtClean="0">
                <a:solidFill>
                  <a:schemeClr val="tx1"/>
                </a:solidFill>
                <a:latin typeface="Times New Roman" pitchFamily="18" charset="0"/>
                <a:cs typeface="Times New Roman" pitchFamily="18" charset="0"/>
              </a:rPr>
              <a:t> Cheng, </a:t>
            </a:r>
            <a:r>
              <a:rPr lang="en-US" altLang="zh-TW" sz="2000" b="1" dirty="0" err="1" smtClean="0">
                <a:solidFill>
                  <a:schemeClr val="tx1"/>
                </a:solidFill>
                <a:latin typeface="Times New Roman" pitchFamily="18" charset="0"/>
                <a:cs typeface="Times New Roman" pitchFamily="18" charset="0"/>
              </a:rPr>
              <a:t>Hiroto</a:t>
            </a:r>
            <a:r>
              <a:rPr lang="en-US" altLang="zh-TW" sz="2000" b="1" dirty="0" smtClean="0">
                <a:solidFill>
                  <a:schemeClr val="tx1"/>
                </a:solidFill>
                <a:latin typeface="Times New Roman" pitchFamily="18" charset="0"/>
                <a:cs typeface="Times New Roman" pitchFamily="18" charset="0"/>
              </a:rPr>
              <a:t> </a:t>
            </a:r>
            <a:r>
              <a:rPr lang="en-US" altLang="zh-TW" sz="2000" b="1" dirty="0" err="1" smtClean="0">
                <a:solidFill>
                  <a:schemeClr val="tx1"/>
                </a:solidFill>
                <a:latin typeface="Times New Roman" pitchFamily="18" charset="0"/>
                <a:cs typeface="Times New Roman" pitchFamily="18" charset="0"/>
              </a:rPr>
              <a:t>Saigo</a:t>
            </a:r>
            <a:r>
              <a:rPr lang="en-US" altLang="zh-TW" sz="2000" b="1" dirty="0" smtClean="0">
                <a:solidFill>
                  <a:schemeClr val="tx1"/>
                </a:solidFill>
                <a:latin typeface="Times New Roman" pitchFamily="18" charset="0"/>
                <a:cs typeface="Times New Roman" pitchFamily="18" charset="0"/>
              </a:rPr>
              <a:t>, and Pierre </a:t>
            </a:r>
            <a:r>
              <a:rPr lang="en-US" altLang="zh-TW" sz="2000" b="1" dirty="0" err="1" smtClean="0">
                <a:solidFill>
                  <a:schemeClr val="tx1"/>
                </a:solidFill>
                <a:latin typeface="Times New Roman" pitchFamily="18" charset="0"/>
                <a:cs typeface="Times New Roman" pitchFamily="18" charset="0"/>
              </a:rPr>
              <a:t>Baldi</a:t>
            </a:r>
            <a:endParaRPr lang="en-US" altLang="zh-TW" sz="2000" b="1" dirty="0" smtClean="0">
              <a:solidFill>
                <a:schemeClr val="tx1"/>
              </a:solidFill>
              <a:latin typeface="Times New Roman" pitchFamily="18" charset="0"/>
              <a:cs typeface="Times New Roman" pitchFamily="18" charset="0"/>
            </a:endParaRPr>
          </a:p>
          <a:p>
            <a:endParaRPr lang="en-US" altLang="zh-TW" sz="2000" b="1" dirty="0" smtClean="0">
              <a:solidFill>
                <a:schemeClr val="tx1"/>
              </a:solidFill>
              <a:latin typeface="Times New Roman" pitchFamily="18" charset="0"/>
              <a:cs typeface="Times New Roman" pitchFamily="18" charset="0"/>
            </a:endParaRPr>
          </a:p>
          <a:p>
            <a:r>
              <a:rPr lang="en-US" altLang="zh-TW" sz="2000" dirty="0" smtClean="0">
                <a:solidFill>
                  <a:schemeClr val="tx1"/>
                </a:solidFill>
                <a:latin typeface="Times New Roman" pitchFamily="18" charset="0"/>
                <a:cs typeface="Times New Roman" pitchFamily="18" charset="0"/>
              </a:rPr>
              <a:t>Structure, Function, and Bioinformatics 62:617–629 (2006)</a:t>
            </a:r>
          </a:p>
        </p:txBody>
      </p:sp>
      <p:sp>
        <p:nvSpPr>
          <p:cNvPr id="4" name="Text Box 6"/>
          <p:cNvSpPr txBox="1">
            <a:spLocks noChangeArrowheads="1"/>
          </p:cNvSpPr>
          <p:nvPr/>
        </p:nvSpPr>
        <p:spPr bwMode="auto">
          <a:xfrm>
            <a:off x="6156325" y="5345113"/>
            <a:ext cx="1960024" cy="566309"/>
          </a:xfrm>
          <a:prstGeom prst="rect">
            <a:avLst/>
          </a:prstGeom>
          <a:noFill/>
          <a:ln w="9525">
            <a:noFill/>
            <a:miter lim="800000"/>
            <a:headEnd/>
            <a:tailEnd/>
          </a:ln>
        </p:spPr>
        <p:txBody>
          <a:bodyPr wrap="none">
            <a:spAutoFit/>
          </a:bodyPr>
          <a:lstStyle/>
          <a:p>
            <a:pPr>
              <a:spcBef>
                <a:spcPct val="20000"/>
              </a:spcBef>
            </a:pPr>
            <a:r>
              <a:rPr lang="en-US" altLang="zh-TW" sz="1400" dirty="0"/>
              <a:t>Presenter : </a:t>
            </a:r>
            <a:r>
              <a:rPr lang="en-US" altLang="zh-TW" sz="1400" dirty="0" err="1"/>
              <a:t>Chih</a:t>
            </a:r>
            <a:r>
              <a:rPr lang="en-US" altLang="zh-TW" sz="1400" dirty="0"/>
              <a:t>-Ying Lin</a:t>
            </a:r>
          </a:p>
          <a:p>
            <a:pPr>
              <a:spcBef>
                <a:spcPct val="20000"/>
              </a:spcBef>
            </a:pPr>
            <a:r>
              <a:rPr lang="en-US" altLang="zh-TW" sz="1400" dirty="0"/>
              <a:t>Date : </a:t>
            </a:r>
            <a:r>
              <a:rPr lang="en-US" sz="1400" smtClean="0"/>
              <a:t>Jun</a:t>
            </a:r>
            <a:r>
              <a:rPr lang="en-US" altLang="zh-TW" sz="1400" smtClean="0"/>
              <a:t>e </a:t>
            </a:r>
            <a:r>
              <a:rPr lang="en-US" altLang="zh-TW" sz="1400" smtClean="0"/>
              <a:t>21, </a:t>
            </a:r>
            <a:r>
              <a:rPr lang="en-US" altLang="zh-TW" sz="1400" dirty="0"/>
              <a:t>2009</a:t>
            </a:r>
            <a:endParaRPr lang="en-US" altLang="zh-TW" dirty="0">
              <a:latin typeface="Tahoma"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smtClean="0">
                <a:latin typeface="Times New Roman" pitchFamily="18" charset="0"/>
                <a:cs typeface="Times New Roman" pitchFamily="18" charset="0"/>
              </a:rPr>
              <a:t>ABSTRACT</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normAutofit fontScale="62500" lnSpcReduction="20000"/>
          </a:bodyPr>
          <a:lstStyle/>
          <a:p>
            <a:pPr>
              <a:buNone/>
            </a:pPr>
            <a:r>
              <a:rPr lang="en-US" altLang="zh-TW" b="1" dirty="0" smtClean="0"/>
              <a:t>      </a:t>
            </a:r>
            <a:r>
              <a:rPr lang="en-US" altLang="zh-TW" b="1" dirty="0" smtClean="0">
                <a:latin typeface="Times New Roman" pitchFamily="18" charset="0"/>
                <a:cs typeface="Times New Roman" pitchFamily="18" charset="0"/>
              </a:rPr>
              <a:t>The formation of disulphide bridges between </a:t>
            </a:r>
            <a:r>
              <a:rPr lang="en-US" altLang="zh-TW" b="1" dirty="0" err="1" smtClean="0">
                <a:latin typeface="Times New Roman" pitchFamily="18" charset="0"/>
                <a:cs typeface="Times New Roman" pitchFamily="18" charset="0"/>
              </a:rPr>
              <a:t>cysteines</a:t>
            </a:r>
            <a:r>
              <a:rPr lang="en-US" altLang="zh-TW" b="1" dirty="0" smtClean="0">
                <a:latin typeface="Times New Roman" pitchFamily="18" charset="0"/>
                <a:cs typeface="Times New Roman" pitchFamily="18" charset="0"/>
              </a:rPr>
              <a:t> plays an important role in protein folding, structure, function, and evolution. Here, we develop new methods for predicting disulphide bridges in proteins. We first build a large </a:t>
            </a:r>
            <a:r>
              <a:rPr lang="en-US" altLang="zh-TW" b="1" dirty="0" err="1" smtClean="0">
                <a:latin typeface="Times New Roman" pitchFamily="18" charset="0"/>
                <a:cs typeface="Times New Roman" pitchFamily="18" charset="0"/>
              </a:rPr>
              <a:t>curated</a:t>
            </a:r>
            <a:r>
              <a:rPr lang="en-US" altLang="zh-TW" b="1" dirty="0" smtClean="0">
                <a:latin typeface="Times New Roman" pitchFamily="18" charset="0"/>
                <a:cs typeface="Times New Roman" pitchFamily="18" charset="0"/>
              </a:rPr>
              <a:t> data set of proteins containing disulphide bridges to extract relevant statistics. We then use kernel methods to predict whether a given protein chain contains </a:t>
            </a:r>
            <a:r>
              <a:rPr lang="en-US" altLang="zh-TW" b="1" dirty="0" err="1" smtClean="0">
                <a:latin typeface="Times New Roman" pitchFamily="18" charset="0"/>
                <a:cs typeface="Times New Roman" pitchFamily="18" charset="0"/>
              </a:rPr>
              <a:t>intrachain</a:t>
            </a:r>
            <a:r>
              <a:rPr lang="en-US" altLang="zh-TW" b="1" dirty="0" smtClean="0">
                <a:latin typeface="Times New Roman" pitchFamily="18" charset="0"/>
                <a:cs typeface="Times New Roman" pitchFamily="18" charset="0"/>
              </a:rPr>
              <a:t> disulphide bridges or not, and recursive neural networks to predict the bonding probabilities of each pair of </a:t>
            </a:r>
            <a:r>
              <a:rPr lang="en-US" altLang="zh-TW" b="1" dirty="0" err="1" smtClean="0">
                <a:latin typeface="Times New Roman" pitchFamily="18" charset="0"/>
                <a:cs typeface="Times New Roman" pitchFamily="18" charset="0"/>
              </a:rPr>
              <a:t>cysteines</a:t>
            </a:r>
            <a:r>
              <a:rPr lang="en-US" altLang="zh-TW" b="1" dirty="0" smtClean="0">
                <a:latin typeface="Times New Roman" pitchFamily="18" charset="0"/>
                <a:cs typeface="Times New Roman" pitchFamily="18" charset="0"/>
              </a:rPr>
              <a:t> in the chain. These probabilities in turn lead to an accurate estimation of the total number of disulphide bridges and to a weighted graph matching problem that can be addressed efficiently to infer the global disulphide bridge connectivity pattern. This approach can be applied both in situations where the bonded state of each </a:t>
            </a:r>
            <a:r>
              <a:rPr lang="en-US" altLang="zh-TW" b="1" dirty="0" err="1" smtClean="0">
                <a:latin typeface="Times New Roman" pitchFamily="18" charset="0"/>
                <a:cs typeface="Times New Roman" pitchFamily="18" charset="0"/>
              </a:rPr>
              <a:t>cysteine</a:t>
            </a:r>
            <a:r>
              <a:rPr lang="en-US" altLang="zh-TW" b="1" dirty="0" smtClean="0">
                <a:latin typeface="Times New Roman" pitchFamily="18" charset="0"/>
                <a:cs typeface="Times New Roman" pitchFamily="18" charset="0"/>
              </a:rPr>
              <a:t> is known, or in </a:t>
            </a:r>
            <a:r>
              <a:rPr lang="en-US" altLang="zh-TW" b="1" dirty="0" err="1" smtClean="0">
                <a:latin typeface="Times New Roman" pitchFamily="18" charset="0"/>
                <a:cs typeface="Times New Roman" pitchFamily="18" charset="0"/>
              </a:rPr>
              <a:t>ab</a:t>
            </a:r>
            <a:r>
              <a:rPr lang="en-US" altLang="zh-TW" b="1" dirty="0" smtClean="0">
                <a:latin typeface="Times New Roman" pitchFamily="18" charset="0"/>
                <a:cs typeface="Times New Roman" pitchFamily="18" charset="0"/>
              </a:rPr>
              <a:t> initio mode where the state is unknown. Furthermore, it can easily cope with chains containing an arbitrary number of disulphide bridges, overcoming one of the major limitations of previous approaches. It can classify individual </a:t>
            </a:r>
            <a:r>
              <a:rPr lang="en-US" altLang="zh-TW" b="1" dirty="0" err="1" smtClean="0">
                <a:latin typeface="Times New Roman" pitchFamily="18" charset="0"/>
                <a:cs typeface="Times New Roman" pitchFamily="18" charset="0"/>
              </a:rPr>
              <a:t>cysteine</a:t>
            </a:r>
            <a:r>
              <a:rPr lang="en-US" altLang="zh-TW" b="1" dirty="0" smtClean="0">
                <a:latin typeface="Times New Roman" pitchFamily="18" charset="0"/>
                <a:cs typeface="Times New Roman" pitchFamily="18" charset="0"/>
              </a:rPr>
              <a:t> residues as bonded or </a:t>
            </a:r>
            <a:r>
              <a:rPr lang="en-US" altLang="zh-TW" b="1" dirty="0" err="1" smtClean="0">
                <a:latin typeface="Times New Roman" pitchFamily="18" charset="0"/>
                <a:cs typeface="Times New Roman" pitchFamily="18" charset="0"/>
              </a:rPr>
              <a:t>nonbonded</a:t>
            </a:r>
            <a:r>
              <a:rPr lang="en-US" altLang="zh-TW" b="1" dirty="0" smtClean="0">
                <a:latin typeface="Times New Roman" pitchFamily="18" charset="0"/>
                <a:cs typeface="Times New Roman" pitchFamily="18" charset="0"/>
              </a:rPr>
              <a:t> with 87% specificity and 89% sensitivity.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latin typeface="Times New Roman" pitchFamily="18" charset="0"/>
                <a:cs typeface="Times New Roman" pitchFamily="18" charset="0"/>
              </a:rPr>
              <a:t>ABSTRACT</a:t>
            </a:r>
            <a:endParaRPr lang="zh-TW" altLang="en-US" dirty="0"/>
          </a:p>
        </p:txBody>
      </p:sp>
      <p:sp>
        <p:nvSpPr>
          <p:cNvPr id="3" name="內容版面配置區 2"/>
          <p:cNvSpPr>
            <a:spLocks noGrp="1"/>
          </p:cNvSpPr>
          <p:nvPr>
            <p:ph idx="1"/>
          </p:nvPr>
        </p:nvSpPr>
        <p:spPr/>
        <p:txBody>
          <a:bodyPr>
            <a:normAutofit/>
          </a:bodyPr>
          <a:lstStyle/>
          <a:p>
            <a:pPr>
              <a:buNone/>
            </a:pPr>
            <a:r>
              <a:rPr lang="en-US" altLang="zh-TW" sz="2000" b="1" dirty="0" smtClean="0"/>
              <a:t>     </a:t>
            </a:r>
            <a:r>
              <a:rPr lang="en-US" altLang="zh-TW" sz="2000" b="1" dirty="0" smtClean="0">
                <a:latin typeface="Times New Roman" pitchFamily="18" charset="0"/>
                <a:cs typeface="Times New Roman" pitchFamily="18" charset="0"/>
              </a:rPr>
              <a:t>The estimate for the total number of bridges in each chain is correct 71% of the times, and within one from the true value over 94% of the times. The prediction of the overall disulphide connectivity pattern is exact in about 51% of the chains. In addition to using profiles in the input to leverage evolutionary information, including true (but not predicted) secondary structure and solvent accessibility (</a:t>
            </a:r>
            <a:r>
              <a:rPr lang="zh-TW" altLang="en-US" sz="2000" dirty="0" smtClean="0">
                <a:latin typeface="Times New Roman" pitchFamily="18" charset="0"/>
                <a:cs typeface="Times New Roman" pitchFamily="18" charset="0"/>
              </a:rPr>
              <a:t>溶劑可接觸性</a:t>
            </a:r>
            <a:r>
              <a:rPr lang="en-US" altLang="zh-TW" sz="2000" b="1" dirty="0" smtClean="0">
                <a:latin typeface="Times New Roman" pitchFamily="18" charset="0"/>
                <a:cs typeface="Times New Roman" pitchFamily="18" charset="0"/>
              </a:rPr>
              <a:t>) information yields small but noticeable improvements. Finally, once the system is trained, predictions can be computed rapidly on a proteomic or protein-engineering scale. The disulphide bridge prediction server (</a:t>
            </a:r>
            <a:r>
              <a:rPr lang="en-US" altLang="zh-TW" sz="2000" b="1" dirty="0" err="1" smtClean="0">
                <a:latin typeface="Times New Roman" pitchFamily="18" charset="0"/>
                <a:cs typeface="Times New Roman" pitchFamily="18" charset="0"/>
              </a:rPr>
              <a:t>DIpro</a:t>
            </a:r>
            <a:r>
              <a:rPr lang="en-US" altLang="zh-TW" sz="2000" b="1" dirty="0" smtClean="0">
                <a:latin typeface="Times New Roman" pitchFamily="18" charset="0"/>
                <a:cs typeface="Times New Roman" pitchFamily="18" charset="0"/>
              </a:rPr>
              <a:t>), software, and datasets are available through www.igb.uci.edu/servers/pass.html. Proteins 2006;62:617–629.</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sz="3200" b="1" dirty="0" smtClean="0">
                <a:latin typeface="Times New Roman" pitchFamily="18" charset="0"/>
                <a:cs typeface="Times New Roman" pitchFamily="18" charset="0"/>
              </a:rPr>
              <a:t>Kernel Methods for Chain Classification</a:t>
            </a:r>
            <a:endParaRPr lang="zh-TW" altLang="en-US" sz="3200" dirty="0">
              <a:latin typeface="Times New Roman" pitchFamily="18" charset="0"/>
              <a:cs typeface="Times New Roman" pitchFamily="18" charset="0"/>
            </a:endParaRPr>
          </a:p>
        </p:txBody>
      </p:sp>
      <p:pic>
        <p:nvPicPr>
          <p:cNvPr id="2050" name="Picture 2"/>
          <p:cNvPicPr>
            <a:picLocks noGrp="1" noChangeAspect="1" noChangeArrowheads="1"/>
          </p:cNvPicPr>
          <p:nvPr>
            <p:ph idx="1"/>
          </p:nvPr>
        </p:nvPicPr>
        <p:blipFill>
          <a:blip r:embed="rId2"/>
          <a:srcRect/>
          <a:stretch>
            <a:fillRect/>
          </a:stretch>
        </p:blipFill>
        <p:spPr bwMode="auto">
          <a:xfrm>
            <a:off x="914400" y="2543969"/>
            <a:ext cx="7315200" cy="2638425"/>
          </a:xfrm>
          <a:prstGeom prst="rect">
            <a:avLst/>
          </a:prstGeom>
          <a:noFill/>
          <a:ln w="9525">
            <a:noFill/>
            <a:miter lim="800000"/>
            <a:headEnd/>
            <a:tailEnd/>
          </a:ln>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altLang="zh-TW" b="1" dirty="0" smtClean="0">
                <a:latin typeface="Times New Roman" pitchFamily="18" charset="0"/>
                <a:cs typeface="Times New Roman" pitchFamily="18" charset="0"/>
              </a:rPr>
              <a:t>Kernel Methods</a:t>
            </a:r>
            <a:endParaRPr lang="zh-TW" altLang="en-US" dirty="0"/>
          </a:p>
        </p:txBody>
      </p:sp>
      <p:sp>
        <p:nvSpPr>
          <p:cNvPr id="3" name="內容版面配置區 2"/>
          <p:cNvSpPr>
            <a:spLocks noGrp="1"/>
          </p:cNvSpPr>
          <p:nvPr>
            <p:ph idx="1"/>
          </p:nvPr>
        </p:nvSpPr>
        <p:spPr/>
        <p:txBody>
          <a:bodyPr/>
          <a:lstStyle/>
          <a:p>
            <a:r>
              <a:rPr lang="en-US" altLang="zh-TW" b="1" i="1" dirty="0" smtClean="0">
                <a:latin typeface="Times New Roman" pitchFamily="18" charset="0"/>
                <a:cs typeface="Times New Roman" pitchFamily="18" charset="0"/>
              </a:rPr>
              <a:t>Spectrum kernel</a:t>
            </a:r>
          </a:p>
          <a:p>
            <a:r>
              <a:rPr lang="en-US" altLang="zh-TW" b="1" i="1" dirty="0" smtClean="0">
                <a:latin typeface="Times New Roman" pitchFamily="18" charset="0"/>
                <a:cs typeface="Times New Roman" pitchFamily="18" charset="0"/>
              </a:rPr>
              <a:t>Mismatch kernel</a:t>
            </a:r>
          </a:p>
          <a:p>
            <a:r>
              <a:rPr lang="en-US" altLang="zh-TW" b="1" i="1" dirty="0" smtClean="0">
                <a:latin typeface="Times New Roman" pitchFamily="18" charset="0"/>
                <a:cs typeface="Times New Roman" pitchFamily="18" charset="0"/>
              </a:rPr>
              <a:t>Profile kernel</a:t>
            </a:r>
          </a:p>
          <a:p>
            <a:r>
              <a:rPr lang="en-US" altLang="zh-TW" b="1" i="1" dirty="0" smtClean="0">
                <a:latin typeface="Times New Roman" pitchFamily="18" charset="0"/>
                <a:cs typeface="Times New Roman" pitchFamily="18" charset="0"/>
              </a:rPr>
              <a:t>Smith–Waterman kernel</a:t>
            </a:r>
          </a:p>
          <a:p>
            <a:r>
              <a:rPr lang="en-US" altLang="zh-TW" b="1" i="1" dirty="0" smtClean="0">
                <a:latin typeface="Times New Roman" pitchFamily="18" charset="0"/>
                <a:cs typeface="Times New Roman" pitchFamily="18" charset="0"/>
              </a:rPr>
              <a:t>Local alignment kernel</a:t>
            </a:r>
          </a:p>
          <a:p>
            <a:r>
              <a:rPr lang="en-US" altLang="zh-TW" b="1" i="1" dirty="0" smtClean="0">
                <a:latin typeface="Times New Roman" pitchFamily="18" charset="0"/>
                <a:cs typeface="Times New Roman" pitchFamily="18" charset="0"/>
              </a:rPr>
              <a:t>Fisher kernel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smtClean="0"/>
              <a:t>Protein Chain Classification</a:t>
            </a:r>
            <a:endParaRPr lang="zh-TW" altLang="en-US" dirty="0"/>
          </a:p>
        </p:txBody>
      </p:sp>
      <p:pic>
        <p:nvPicPr>
          <p:cNvPr id="4098" name="Picture 2"/>
          <p:cNvPicPr>
            <a:picLocks noGrp="1" noChangeAspect="1" noChangeArrowheads="1"/>
          </p:cNvPicPr>
          <p:nvPr>
            <p:ph idx="1"/>
          </p:nvPr>
        </p:nvPicPr>
        <p:blipFill>
          <a:blip r:embed="rId2"/>
          <a:srcRect/>
          <a:stretch>
            <a:fillRect/>
          </a:stretch>
        </p:blipFill>
        <p:spPr bwMode="auto">
          <a:xfrm>
            <a:off x="938212" y="1605756"/>
            <a:ext cx="7267575" cy="4514850"/>
          </a:xfrm>
          <a:prstGeom prst="rect">
            <a:avLst/>
          </a:prstGeom>
          <a:noFill/>
          <a:ln w="9525">
            <a:noFill/>
            <a:miter lim="800000"/>
            <a:headEnd/>
            <a:tailEnd/>
          </a:ln>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smtClean="0"/>
              <a:t>Protein Chain Classification</a:t>
            </a:r>
            <a:endParaRPr lang="zh-TW" altLang="en-US" dirty="0"/>
          </a:p>
        </p:txBody>
      </p:sp>
      <p:pic>
        <p:nvPicPr>
          <p:cNvPr id="5122" name="Picture 2"/>
          <p:cNvPicPr>
            <a:picLocks noGrp="1" noChangeAspect="1" noChangeArrowheads="1"/>
          </p:cNvPicPr>
          <p:nvPr>
            <p:ph idx="1"/>
          </p:nvPr>
        </p:nvPicPr>
        <p:blipFill>
          <a:blip r:embed="rId2"/>
          <a:srcRect/>
          <a:stretch>
            <a:fillRect/>
          </a:stretch>
        </p:blipFill>
        <p:spPr bwMode="auto">
          <a:xfrm>
            <a:off x="928687" y="1639094"/>
            <a:ext cx="7286625" cy="4448175"/>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b="1" dirty="0" smtClean="0">
                <a:latin typeface="Times New Roman" pitchFamily="18" charset="0"/>
                <a:cs typeface="Times New Roman" pitchFamily="18" charset="0"/>
              </a:rPr>
              <a:t>2D DAG-RNN (Directed Acyclic Graph-Recursive Neural Network)</a:t>
            </a:r>
            <a:endParaRPr lang="zh-TW" altLang="en-US" b="1" dirty="0">
              <a:latin typeface="Times New Roman" pitchFamily="18" charset="0"/>
              <a:cs typeface="Times New Roman" pitchFamily="18" charset="0"/>
            </a:endParaRPr>
          </a:p>
        </p:txBody>
      </p:sp>
      <p:pic>
        <p:nvPicPr>
          <p:cNvPr id="3074" name="Picture 2"/>
          <p:cNvPicPr>
            <a:picLocks noGrp="1" noChangeAspect="1" noChangeArrowheads="1"/>
          </p:cNvPicPr>
          <p:nvPr>
            <p:ph idx="1"/>
          </p:nvPr>
        </p:nvPicPr>
        <p:blipFill>
          <a:blip r:embed="rId2"/>
          <a:srcRect/>
          <a:stretch>
            <a:fillRect/>
          </a:stretch>
        </p:blipFill>
        <p:spPr bwMode="auto">
          <a:xfrm>
            <a:off x="500034" y="1643050"/>
            <a:ext cx="6084273" cy="4686320"/>
          </a:xfrm>
          <a:prstGeom prst="rect">
            <a:avLst/>
          </a:prstGeom>
          <a:noFill/>
          <a:ln w="9525">
            <a:noFill/>
            <a:miter lim="800000"/>
            <a:headEnd/>
            <a:tailEnd/>
          </a:ln>
          <a:effectLst/>
        </p:spPr>
      </p:pic>
      <p:pic>
        <p:nvPicPr>
          <p:cNvPr id="3075" name="Picture 3"/>
          <p:cNvPicPr>
            <a:picLocks noChangeAspect="1" noChangeArrowheads="1"/>
          </p:cNvPicPr>
          <p:nvPr/>
        </p:nvPicPr>
        <p:blipFill>
          <a:blip r:embed="rId3"/>
          <a:srcRect/>
          <a:stretch>
            <a:fillRect/>
          </a:stretch>
        </p:blipFill>
        <p:spPr bwMode="auto">
          <a:xfrm>
            <a:off x="6357950" y="3143248"/>
            <a:ext cx="2590270" cy="1143008"/>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b="1" dirty="0" smtClean="0">
                <a:latin typeface="Times New Roman" pitchFamily="18" charset="0"/>
                <a:cs typeface="Times New Roman" pitchFamily="18" charset="0"/>
              </a:rPr>
              <a:t>Disulphide Connectivity Prediction</a:t>
            </a:r>
            <a:endParaRPr lang="zh-TW" altLang="en-US" dirty="0">
              <a:latin typeface="Times New Roman" pitchFamily="18" charset="0"/>
              <a:cs typeface="Times New Roman" pitchFamily="18" charset="0"/>
            </a:endParaRPr>
          </a:p>
        </p:txBody>
      </p:sp>
      <p:pic>
        <p:nvPicPr>
          <p:cNvPr id="6146" name="Picture 2"/>
          <p:cNvPicPr>
            <a:picLocks noGrp="1" noChangeAspect="1" noChangeArrowheads="1"/>
          </p:cNvPicPr>
          <p:nvPr>
            <p:ph idx="1"/>
          </p:nvPr>
        </p:nvPicPr>
        <p:blipFill>
          <a:blip r:embed="rId2"/>
          <a:srcRect/>
          <a:stretch>
            <a:fillRect/>
          </a:stretch>
        </p:blipFill>
        <p:spPr bwMode="auto">
          <a:xfrm>
            <a:off x="2128837" y="2272506"/>
            <a:ext cx="4886325" cy="3181350"/>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b="1" dirty="0" smtClean="0">
                <a:latin typeface="Times New Roman" pitchFamily="18" charset="0"/>
                <a:cs typeface="Times New Roman" pitchFamily="18" charset="0"/>
              </a:rPr>
              <a:t>Prediction of </a:t>
            </a:r>
            <a:r>
              <a:rPr lang="en-US" altLang="zh-TW" b="1" dirty="0" err="1" smtClean="0">
                <a:latin typeface="Times New Roman" pitchFamily="18" charset="0"/>
                <a:cs typeface="Times New Roman" pitchFamily="18" charset="0"/>
              </a:rPr>
              <a:t>cysteine</a:t>
            </a:r>
            <a:r>
              <a:rPr lang="en-US" altLang="zh-TW" b="1" dirty="0" smtClean="0">
                <a:latin typeface="Times New Roman" pitchFamily="18" charset="0"/>
                <a:cs typeface="Times New Roman" pitchFamily="18" charset="0"/>
              </a:rPr>
              <a:t> bonding states</a:t>
            </a:r>
            <a:endParaRPr lang="zh-TW" altLang="en-US" b="1" dirty="0">
              <a:latin typeface="Times New Roman" pitchFamily="18" charset="0"/>
              <a:cs typeface="Times New Roman" pitchFamily="18" charset="0"/>
            </a:endParaRPr>
          </a:p>
        </p:txBody>
      </p:sp>
      <p:pic>
        <p:nvPicPr>
          <p:cNvPr id="7170" name="Picture 2"/>
          <p:cNvPicPr>
            <a:picLocks noGrp="1" noChangeAspect="1" noChangeArrowheads="1"/>
          </p:cNvPicPr>
          <p:nvPr>
            <p:ph idx="1"/>
          </p:nvPr>
        </p:nvPicPr>
        <p:blipFill>
          <a:blip r:embed="rId2"/>
          <a:srcRect/>
          <a:stretch>
            <a:fillRect/>
          </a:stretch>
        </p:blipFill>
        <p:spPr bwMode="auto">
          <a:xfrm>
            <a:off x="881062" y="2848769"/>
            <a:ext cx="7381875" cy="2028825"/>
          </a:xfrm>
          <a:prstGeom prst="rect">
            <a:avLst/>
          </a:prstGeom>
          <a:noFill/>
          <a:ln w="9525">
            <a:noFill/>
            <a:miter lim="800000"/>
            <a:headEnd/>
            <a:tailEnd/>
          </a:ln>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b="1" dirty="0" smtClean="0">
                <a:latin typeface="Times New Roman" pitchFamily="18" charset="0"/>
                <a:cs typeface="Times New Roman" pitchFamily="18" charset="0"/>
              </a:rPr>
              <a:t>Prediction of the number of disulphide bridges</a:t>
            </a:r>
            <a:endParaRPr lang="zh-TW" altLang="en-US" dirty="0">
              <a:latin typeface="Times New Roman" pitchFamily="18" charset="0"/>
              <a:cs typeface="Times New Roman" pitchFamily="18" charset="0"/>
            </a:endParaRPr>
          </a:p>
        </p:txBody>
      </p:sp>
      <p:pic>
        <p:nvPicPr>
          <p:cNvPr id="8194" name="Picture 2"/>
          <p:cNvPicPr>
            <a:picLocks noGrp="1" noChangeAspect="1" noChangeArrowheads="1"/>
          </p:cNvPicPr>
          <p:nvPr>
            <p:ph idx="1"/>
          </p:nvPr>
        </p:nvPicPr>
        <p:blipFill>
          <a:blip r:embed="rId2"/>
          <a:srcRect/>
          <a:stretch>
            <a:fillRect/>
          </a:stretch>
        </p:blipFill>
        <p:spPr bwMode="auto">
          <a:xfrm>
            <a:off x="1071538" y="1500174"/>
            <a:ext cx="4643470" cy="3910291"/>
          </a:xfrm>
          <a:prstGeom prst="rect">
            <a:avLst/>
          </a:prstGeom>
          <a:noFill/>
          <a:ln w="9525">
            <a:noFill/>
            <a:miter lim="800000"/>
            <a:headEnd/>
            <a:tailEnd/>
          </a:ln>
          <a:effectLst/>
        </p:spPr>
      </p:pic>
      <p:sp>
        <p:nvSpPr>
          <p:cNvPr id="5" name="文字方塊 4"/>
          <p:cNvSpPr txBox="1"/>
          <p:nvPr/>
        </p:nvSpPr>
        <p:spPr>
          <a:xfrm>
            <a:off x="6000760" y="2500306"/>
            <a:ext cx="2440092" cy="1200329"/>
          </a:xfrm>
          <a:prstGeom prst="rect">
            <a:avLst/>
          </a:prstGeom>
          <a:noFill/>
        </p:spPr>
        <p:txBody>
          <a:bodyPr wrap="none" rtlCol="0">
            <a:spAutoFit/>
          </a:bodyPr>
          <a:lstStyle/>
          <a:p>
            <a:r>
              <a:rPr lang="en-US" altLang="zh-TW" dirty="0" smtClean="0"/>
              <a:t>2</a:t>
            </a:r>
            <a:r>
              <a:rPr lang="en-US" altLang="zh-TW" i="1" dirty="0" smtClean="0"/>
              <a:t>K and S(p)	</a:t>
            </a:r>
            <a:r>
              <a:rPr lang="en-US" altLang="zh-TW" dirty="0" smtClean="0"/>
              <a:t>0.89</a:t>
            </a:r>
          </a:p>
          <a:p>
            <a:r>
              <a:rPr lang="en-US" altLang="zh-TW" i="1" dirty="0" smtClean="0"/>
              <a:t>2K and M		</a:t>
            </a:r>
            <a:r>
              <a:rPr lang="en-US" altLang="zh-TW" dirty="0" smtClean="0"/>
              <a:t>0.87</a:t>
            </a:r>
          </a:p>
          <a:p>
            <a:r>
              <a:rPr lang="en-US" altLang="zh-TW" dirty="0" smtClean="0"/>
              <a:t>2</a:t>
            </a:r>
            <a:r>
              <a:rPr lang="en-US" altLang="zh-TW" i="1" dirty="0" smtClean="0"/>
              <a:t>K and S(p)</a:t>
            </a:r>
            <a:r>
              <a:rPr lang="en-US" altLang="zh-TW" dirty="0" err="1" smtClean="0"/>
              <a:t>log</a:t>
            </a:r>
            <a:r>
              <a:rPr lang="en-US" altLang="zh-TW" i="1" dirty="0" err="1" smtClean="0"/>
              <a:t>M</a:t>
            </a:r>
            <a:r>
              <a:rPr lang="en-US" altLang="zh-TW" i="1" dirty="0" smtClean="0"/>
              <a:t>   	</a:t>
            </a:r>
            <a:r>
              <a:rPr lang="en-US" altLang="zh-TW" dirty="0" smtClean="0"/>
              <a:t>0.94</a:t>
            </a:r>
          </a:p>
          <a:p>
            <a:endParaRPr lang="zh-TW" altLang="en-US" dirty="0"/>
          </a:p>
        </p:txBody>
      </p:sp>
      <p:pic>
        <p:nvPicPr>
          <p:cNvPr id="8195" name="Picture 3"/>
          <p:cNvPicPr>
            <a:picLocks noChangeAspect="1" noChangeArrowheads="1"/>
          </p:cNvPicPr>
          <p:nvPr/>
        </p:nvPicPr>
        <p:blipFill>
          <a:blip r:embed="rId3"/>
          <a:srcRect/>
          <a:stretch>
            <a:fillRect/>
          </a:stretch>
        </p:blipFill>
        <p:spPr bwMode="auto">
          <a:xfrm>
            <a:off x="1285852" y="5357826"/>
            <a:ext cx="6715172" cy="1296664"/>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a:bodyPr>
          <a:lstStyle/>
          <a:p>
            <a:r>
              <a:rPr lang="en-US" altLang="zh-TW" b="1" dirty="0" smtClean="0">
                <a:latin typeface="Times New Roman" pitchFamily="18" charset="0"/>
                <a:cs typeface="Times New Roman" pitchFamily="18" charset="0"/>
              </a:rPr>
              <a:t>Disulphide Bridge Classification</a:t>
            </a:r>
            <a:endParaRPr lang="zh-TW" altLang="en-US" dirty="0">
              <a:latin typeface="Times New Roman" pitchFamily="18" charset="0"/>
              <a:cs typeface="Times New Roman" pitchFamily="18" charset="0"/>
            </a:endParaRPr>
          </a:p>
        </p:txBody>
      </p:sp>
      <p:pic>
        <p:nvPicPr>
          <p:cNvPr id="9218" name="Picture 2"/>
          <p:cNvPicPr>
            <a:picLocks noGrp="1" noChangeAspect="1" noChangeArrowheads="1"/>
          </p:cNvPicPr>
          <p:nvPr>
            <p:ph idx="1"/>
          </p:nvPr>
        </p:nvPicPr>
        <p:blipFill>
          <a:blip r:embed="rId2"/>
          <a:srcRect/>
          <a:stretch>
            <a:fillRect/>
          </a:stretch>
        </p:blipFill>
        <p:spPr bwMode="auto">
          <a:xfrm>
            <a:off x="928662" y="1571612"/>
            <a:ext cx="7373237" cy="4686320"/>
          </a:xfrm>
          <a:prstGeom prst="rect">
            <a:avLst/>
          </a:prstGeom>
          <a:noFill/>
          <a:ln w="9525">
            <a:noFill/>
            <a:miter lim="800000"/>
            <a:headEnd/>
            <a:tailEnd/>
          </a:ln>
          <a:effec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normAutofit fontScale="90000"/>
          </a:bodyPr>
          <a:lstStyle/>
          <a:p>
            <a:r>
              <a:rPr lang="en-US" altLang="zh-TW" b="1" dirty="0" smtClean="0">
                <a:latin typeface="Times New Roman" pitchFamily="18" charset="0"/>
                <a:cs typeface="Times New Roman" pitchFamily="18" charset="0"/>
              </a:rPr>
              <a:t>Disulphide Connectivity Prediction</a:t>
            </a:r>
            <a:endParaRPr lang="zh-TW" altLang="en-US" dirty="0"/>
          </a:p>
        </p:txBody>
      </p:sp>
      <p:pic>
        <p:nvPicPr>
          <p:cNvPr id="10242" name="Picture 2"/>
          <p:cNvPicPr>
            <a:picLocks noGrp="1" noChangeAspect="1" noChangeArrowheads="1"/>
          </p:cNvPicPr>
          <p:nvPr>
            <p:ph idx="1"/>
          </p:nvPr>
        </p:nvPicPr>
        <p:blipFill>
          <a:blip r:embed="rId2"/>
          <a:srcRect/>
          <a:stretch>
            <a:fillRect/>
          </a:stretch>
        </p:blipFill>
        <p:spPr bwMode="auto">
          <a:xfrm>
            <a:off x="457200" y="1847392"/>
            <a:ext cx="8229600" cy="4031579"/>
          </a:xfrm>
          <a:prstGeom prst="rect">
            <a:avLst/>
          </a:prstGeom>
          <a:noFill/>
          <a:ln w="9525">
            <a:noFill/>
            <a:miter lim="800000"/>
            <a:headEnd/>
            <a:tailEnd/>
          </a:ln>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en-US" b="1" dirty="0" smtClean="0">
                <a:latin typeface="Times New Roman" pitchFamily="18" charset="0"/>
                <a:cs typeface="Times New Roman" pitchFamily="18" charset="0"/>
              </a:rPr>
              <a:t>Sensitivity and specificity</a:t>
            </a:r>
            <a:endParaRPr lang="zh-TW" altLang="en-US" dirty="0">
              <a:latin typeface="Times New Roman" pitchFamily="18" charset="0"/>
              <a:cs typeface="Times New Roman" pitchFamily="18" charset="0"/>
            </a:endParaRPr>
          </a:p>
        </p:txBody>
      </p:sp>
      <p:sp>
        <p:nvSpPr>
          <p:cNvPr id="3" name="內容版面配置區 2"/>
          <p:cNvSpPr>
            <a:spLocks noGrp="1"/>
          </p:cNvSpPr>
          <p:nvPr>
            <p:ph idx="1"/>
          </p:nvPr>
        </p:nvSpPr>
        <p:spPr/>
        <p:txBody>
          <a:bodyPr/>
          <a:lstStyle/>
          <a:p>
            <a:r>
              <a:rPr lang="en-US" sz="1600" dirty="0" smtClean="0">
                <a:latin typeface="Times New Roman" pitchFamily="18" charset="0"/>
                <a:cs typeface="Times New Roman" pitchFamily="18" charset="0"/>
              </a:rPr>
              <a:t>True positive: Sick people correctly diagnosed as sick </a:t>
            </a:r>
          </a:p>
          <a:p>
            <a:r>
              <a:rPr lang="en-US" sz="1600" dirty="0" smtClean="0">
                <a:latin typeface="Times New Roman" pitchFamily="18" charset="0"/>
                <a:cs typeface="Times New Roman" pitchFamily="18" charset="0"/>
              </a:rPr>
              <a:t>False positive: Healthy people wrongly identified as sick </a:t>
            </a:r>
          </a:p>
          <a:p>
            <a:r>
              <a:rPr lang="en-US" sz="1600" dirty="0" smtClean="0">
                <a:latin typeface="Times New Roman" pitchFamily="18" charset="0"/>
                <a:cs typeface="Times New Roman" pitchFamily="18" charset="0"/>
              </a:rPr>
              <a:t>True negative: Healthy people correctly identified as healthy </a:t>
            </a:r>
          </a:p>
          <a:p>
            <a:r>
              <a:rPr lang="en-US" sz="1600" dirty="0" smtClean="0">
                <a:latin typeface="Times New Roman" pitchFamily="18" charset="0"/>
                <a:cs typeface="Times New Roman" pitchFamily="18" charset="0"/>
              </a:rPr>
              <a:t>False negative: Sick people wrongly identified as healthy </a:t>
            </a:r>
          </a:p>
          <a:p>
            <a:endParaRPr lang="zh-TW" altLang="en-US" dirty="0"/>
          </a:p>
        </p:txBody>
      </p:sp>
      <p:pic>
        <p:nvPicPr>
          <p:cNvPr id="1027" name="Picture 3"/>
          <p:cNvPicPr>
            <a:picLocks noChangeAspect="1" noChangeArrowheads="1"/>
          </p:cNvPicPr>
          <p:nvPr/>
        </p:nvPicPr>
        <p:blipFill>
          <a:blip r:embed="rId2"/>
          <a:srcRect/>
          <a:stretch>
            <a:fillRect/>
          </a:stretch>
        </p:blipFill>
        <p:spPr bwMode="auto">
          <a:xfrm>
            <a:off x="928662" y="3500438"/>
            <a:ext cx="5648325" cy="552450"/>
          </a:xfrm>
          <a:prstGeom prst="rect">
            <a:avLst/>
          </a:prstGeom>
          <a:noFill/>
          <a:ln w="9525">
            <a:noFill/>
            <a:miter lim="800000"/>
            <a:headEnd/>
            <a:tailEnd/>
          </a:ln>
          <a:effectLst/>
        </p:spPr>
      </p:pic>
      <p:pic>
        <p:nvPicPr>
          <p:cNvPr id="1029" name="Picture 5"/>
          <p:cNvPicPr>
            <a:picLocks noChangeAspect="1" noChangeArrowheads="1"/>
          </p:cNvPicPr>
          <p:nvPr/>
        </p:nvPicPr>
        <p:blipFill>
          <a:blip r:embed="rId3"/>
          <a:srcRect/>
          <a:stretch>
            <a:fillRect/>
          </a:stretch>
        </p:blipFill>
        <p:spPr bwMode="auto">
          <a:xfrm>
            <a:off x="1000100" y="4572008"/>
            <a:ext cx="5648325" cy="514350"/>
          </a:xfrm>
          <a:prstGeom prst="rect">
            <a:avLst/>
          </a:prstGeom>
          <a:noFill/>
          <a:ln w="9525">
            <a:noFill/>
            <a:miter lim="800000"/>
            <a:headEnd/>
            <a:tailEnd/>
          </a:ln>
          <a:effectLst/>
        </p:spPr>
      </p:pic>
      <p:pic>
        <p:nvPicPr>
          <p:cNvPr id="1030" name="Picture 6"/>
          <p:cNvPicPr>
            <a:picLocks noChangeAspect="1" noChangeArrowheads="1"/>
          </p:cNvPicPr>
          <p:nvPr/>
        </p:nvPicPr>
        <p:blipFill>
          <a:blip r:embed="rId4"/>
          <a:srcRect/>
          <a:stretch>
            <a:fillRect/>
          </a:stretch>
        </p:blipFill>
        <p:spPr bwMode="auto">
          <a:xfrm>
            <a:off x="1000100" y="5500702"/>
            <a:ext cx="7258050" cy="457200"/>
          </a:xfrm>
          <a:prstGeom prst="rect">
            <a:avLst/>
          </a:prstGeom>
          <a:noFill/>
          <a:ln w="9525">
            <a:noFill/>
            <a:miter lim="800000"/>
            <a:headEnd/>
            <a:tailEnd/>
          </a:ln>
          <a:effectLst/>
        </p:spPr>
      </p:pic>
    </p:spTree>
  </p:cSld>
  <p:clrMapOvr>
    <a:masterClrMapping/>
  </p:clrMapOvr>
</p:sld>
</file>

<file path=ppt/theme/theme1.xml><?xml version="1.0" encoding="utf-8"?>
<a:theme xmlns:a="http://schemas.openxmlformats.org/drawingml/2006/main" name="Office 佈景主題">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438</TotalTime>
  <Words>480</Words>
  <PresentationFormat>如螢幕大小 (4:3)</PresentationFormat>
  <Paragraphs>34</Paragraphs>
  <Slides>14</Slides>
  <Notes>0</Notes>
  <HiddenSlides>0</HiddenSlides>
  <MMClips>0</MMClips>
  <ScaleCrop>false</ScaleCrop>
  <HeadingPairs>
    <vt:vector size="4" baseType="variant">
      <vt:variant>
        <vt:lpstr>佈景主題</vt:lpstr>
      </vt:variant>
      <vt:variant>
        <vt:i4>1</vt:i4>
      </vt:variant>
      <vt:variant>
        <vt:lpstr>投影片標題</vt:lpstr>
      </vt:variant>
      <vt:variant>
        <vt:i4>14</vt:i4>
      </vt:variant>
    </vt:vector>
  </HeadingPairs>
  <TitlesOfParts>
    <vt:vector size="15" baseType="lpstr">
      <vt:lpstr>Office 佈景主題</vt:lpstr>
      <vt:lpstr>Large-Scale Prediction of Disulphide Bridges Using Kernel Methods, Two-Dimensional Recursive Neural Networks, and Weighted Graph Matching</vt:lpstr>
      <vt:lpstr>ABSTRACT</vt:lpstr>
      <vt:lpstr>ABSTRACT</vt:lpstr>
      <vt:lpstr>Kernel Methods for Chain Classification</vt:lpstr>
      <vt:lpstr>Kernel Methods</vt:lpstr>
      <vt:lpstr>Protein Chain Classification</vt:lpstr>
      <vt:lpstr>Protein Chain Classification</vt:lpstr>
      <vt:lpstr>2D DAG-RNN (Directed Acyclic Graph-Recursive Neural Network)</vt:lpstr>
      <vt:lpstr>Disulphide Connectivity Prediction</vt:lpstr>
      <vt:lpstr>Prediction of cysteine bonding states</vt:lpstr>
      <vt:lpstr>Prediction of the number of disulphide bridges</vt:lpstr>
      <vt:lpstr>Disulphide Bridge Classification</vt:lpstr>
      <vt:lpstr>Disulphide Connectivity Prediction</vt:lpstr>
      <vt:lpstr>Sensitivity and specificity</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投影片 1</dc:title>
  <cp:lastModifiedBy>Sephiroth</cp:lastModifiedBy>
  <cp:revision>39</cp:revision>
  <dcterms:modified xsi:type="dcterms:W3CDTF">2009-07-28T05:49:13Z</dcterms:modified>
</cp:coreProperties>
</file>