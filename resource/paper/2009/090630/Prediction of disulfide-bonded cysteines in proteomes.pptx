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5" r:id="rId7"/>
    <p:sldId id="263" r:id="rId8"/>
    <p:sldId id="264" r:id="rId9"/>
    <p:sldId id="262" r:id="rId10"/>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2" d="100"/>
          <a:sy n="102" d="100"/>
        </p:scale>
        <p:origin x="-234"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2009/6/30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2009/6/30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2009/6/30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2009/6/30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5BBEAD13-0566-4C6C-97E7-55F17F24B09F}" type="datetimeFigureOut">
              <a:rPr lang="zh-TW" altLang="en-US" smtClean="0"/>
              <a:pPr/>
              <a:t>2009/6/30</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5BBEAD13-0566-4C6C-97E7-55F17F24B09F}" type="datetimeFigureOut">
              <a:rPr lang="zh-TW" altLang="en-US" smtClean="0"/>
              <a:pPr/>
              <a:t>2009/6/30</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BBEAD13-0566-4C6C-97E7-55F17F24B09F}" type="datetimeFigureOut">
              <a:rPr lang="zh-TW" altLang="en-US" smtClean="0"/>
              <a:pPr/>
              <a:t>2009/6/30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2009/6/30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2009/6/30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2009/6/30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2009/6/30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EAD13-0566-4C6C-97E7-55F17F24B09F}" type="datetimeFigureOut">
              <a:rPr lang="zh-TW" altLang="en-US" smtClean="0"/>
              <a:pPr/>
              <a:t>2009/6/30</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sz="3600" b="1" dirty="0" smtClean="0">
                <a:latin typeface="Times New Roman" pitchFamily="18" charset="0"/>
                <a:cs typeface="Times New Roman" pitchFamily="18" charset="0"/>
              </a:rPr>
              <a:t>Prediction of disulfide-bonded </a:t>
            </a:r>
            <a:r>
              <a:rPr lang="en-US" altLang="zh-TW" sz="3600" b="1" dirty="0" err="1" smtClean="0">
                <a:latin typeface="Times New Roman" pitchFamily="18" charset="0"/>
                <a:cs typeface="Times New Roman" pitchFamily="18" charset="0"/>
              </a:rPr>
              <a:t>cysteines</a:t>
            </a:r>
            <a:r>
              <a:rPr lang="en-US" altLang="zh-TW" sz="3600" b="1" dirty="0" smtClean="0">
                <a:latin typeface="Times New Roman" pitchFamily="18" charset="0"/>
                <a:cs typeface="Times New Roman" pitchFamily="18" charset="0"/>
              </a:rPr>
              <a:t> in proteomes with a hidden neural network</a:t>
            </a:r>
            <a:endParaRPr lang="zh-TW" altLang="en-US" sz="3600" dirty="0">
              <a:latin typeface="Times New Roman" pitchFamily="18" charset="0"/>
              <a:cs typeface="Times New Roman" pitchFamily="18" charset="0"/>
            </a:endParaRPr>
          </a:p>
        </p:txBody>
      </p:sp>
      <p:sp>
        <p:nvSpPr>
          <p:cNvPr id="3" name="副標題 2"/>
          <p:cNvSpPr>
            <a:spLocks noGrp="1"/>
          </p:cNvSpPr>
          <p:nvPr>
            <p:ph type="subTitle" idx="1"/>
          </p:nvPr>
        </p:nvSpPr>
        <p:spPr/>
        <p:txBody>
          <a:bodyPr>
            <a:normAutofit/>
          </a:bodyPr>
          <a:lstStyle/>
          <a:p>
            <a:r>
              <a:rPr lang="it-IT" altLang="zh-TW" sz="1400" dirty="0" smtClean="0">
                <a:solidFill>
                  <a:schemeClr val="tx1"/>
                </a:solidFill>
                <a:latin typeface="Times New Roman" pitchFamily="18" charset="0"/>
                <a:cs typeface="Times New Roman" pitchFamily="18" charset="0"/>
              </a:rPr>
              <a:t>Pier Luigi Martelli, Piero Fariselli and Rita Casadio</a:t>
            </a:r>
          </a:p>
          <a:p>
            <a:endParaRPr lang="en-US" altLang="zh-TW" sz="1400" dirty="0" smtClean="0">
              <a:solidFill>
                <a:schemeClr val="tx1"/>
              </a:solidFill>
              <a:latin typeface="Times New Roman" pitchFamily="18" charset="0"/>
              <a:cs typeface="Times New Roman" pitchFamily="18" charset="0"/>
            </a:endParaRPr>
          </a:p>
          <a:p>
            <a:r>
              <a:rPr lang="en-US" altLang="zh-TW" sz="1400" dirty="0" smtClean="0">
                <a:solidFill>
                  <a:schemeClr val="tx1"/>
                </a:solidFill>
                <a:latin typeface="Times New Roman" pitchFamily="18" charset="0"/>
                <a:cs typeface="Times New Roman" pitchFamily="18" charset="0"/>
              </a:rPr>
              <a:t>Proteomics 2004, 4, 1665–1671  DOI 10.1002/pmic.200300745</a:t>
            </a:r>
            <a:endParaRPr lang="en-US" altLang="zh-TW" sz="1400" dirty="0" smtClean="0"/>
          </a:p>
        </p:txBody>
      </p:sp>
      <p:sp>
        <p:nvSpPr>
          <p:cNvPr id="4" name="Text Box 6"/>
          <p:cNvSpPr txBox="1">
            <a:spLocks noChangeArrowheads="1"/>
          </p:cNvSpPr>
          <p:nvPr/>
        </p:nvSpPr>
        <p:spPr bwMode="auto">
          <a:xfrm>
            <a:off x="6156325" y="5345113"/>
            <a:ext cx="1960024" cy="566309"/>
          </a:xfrm>
          <a:prstGeom prst="rect">
            <a:avLst/>
          </a:prstGeom>
          <a:noFill/>
          <a:ln w="9525">
            <a:noFill/>
            <a:miter lim="800000"/>
            <a:headEnd/>
            <a:tailEnd/>
          </a:ln>
        </p:spPr>
        <p:txBody>
          <a:bodyPr wrap="none">
            <a:spAutoFit/>
          </a:bodyPr>
          <a:lstStyle/>
          <a:p>
            <a:pPr>
              <a:spcBef>
                <a:spcPct val="20000"/>
              </a:spcBef>
            </a:pPr>
            <a:r>
              <a:rPr lang="en-US" altLang="zh-TW" sz="1400" dirty="0"/>
              <a:t>Presenter : </a:t>
            </a:r>
            <a:r>
              <a:rPr lang="en-US" altLang="zh-TW" sz="1400" dirty="0" err="1"/>
              <a:t>Chih</a:t>
            </a:r>
            <a:r>
              <a:rPr lang="en-US" altLang="zh-TW" sz="1400" dirty="0"/>
              <a:t>-Ying Lin</a:t>
            </a:r>
          </a:p>
          <a:p>
            <a:pPr>
              <a:spcBef>
                <a:spcPct val="20000"/>
              </a:spcBef>
            </a:pPr>
            <a:r>
              <a:rPr lang="en-US" altLang="zh-TW" sz="1400" dirty="0"/>
              <a:t>Date : </a:t>
            </a:r>
            <a:r>
              <a:rPr lang="en-US" sz="1400" dirty="0" smtClean="0"/>
              <a:t>Jun</a:t>
            </a:r>
            <a:r>
              <a:rPr lang="en-US" altLang="zh-TW" sz="1400" dirty="0" smtClean="0"/>
              <a:t>e 30, </a:t>
            </a:r>
            <a:r>
              <a:rPr lang="en-US" altLang="zh-TW" sz="1400" dirty="0"/>
              <a:t>2009</a:t>
            </a:r>
            <a:endParaRPr lang="en-US" altLang="zh-TW" dirty="0">
              <a:latin typeface="Tahoma"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fontScale="77500" lnSpcReduction="20000"/>
          </a:bodyPr>
          <a:lstStyle/>
          <a:p>
            <a:r>
              <a:rPr lang="en-US" altLang="zh-TW" dirty="0" smtClean="0">
                <a:latin typeface="Times New Roman" pitchFamily="18" charset="0"/>
                <a:cs typeface="Times New Roman" pitchFamily="18" charset="0"/>
              </a:rPr>
              <a:t>A hidden neural </a:t>
            </a:r>
            <a:r>
              <a:rPr lang="en-US" altLang="zh-TW" dirty="0" smtClean="0">
                <a:latin typeface="Times New Roman" pitchFamily="18" charset="0"/>
                <a:cs typeface="Times New Roman" pitchFamily="18" charset="0"/>
              </a:rPr>
              <a:t>network-based method </a:t>
            </a:r>
            <a:r>
              <a:rPr lang="en-US" altLang="zh-TW" dirty="0" smtClean="0">
                <a:latin typeface="Times New Roman" pitchFamily="18" charset="0"/>
                <a:cs typeface="Times New Roman" pitchFamily="18" charset="0"/>
              </a:rPr>
              <a:t>is used to predict the bonding state of </a:t>
            </a:r>
            <a:r>
              <a:rPr lang="en-US" altLang="zh-TW" dirty="0" err="1" smtClean="0">
                <a:latin typeface="Times New Roman" pitchFamily="18" charset="0"/>
                <a:cs typeface="Times New Roman" pitchFamily="18" charset="0"/>
              </a:rPr>
              <a:t>cysteines</a:t>
            </a:r>
            <a:r>
              <a:rPr lang="en-US" altLang="zh-TW" dirty="0" smtClean="0">
                <a:latin typeface="Times New Roman" pitchFamily="18" charset="0"/>
                <a:cs typeface="Times New Roman" pitchFamily="18" charset="0"/>
              </a:rPr>
              <a:t> starting from the residue sequence of the protein chain. The method scores as high as 89% and 86</a:t>
            </a:r>
            <a:r>
              <a:rPr lang="en-US" altLang="zh-TW" dirty="0" smtClean="0">
                <a:latin typeface="Times New Roman" pitchFamily="18" charset="0"/>
                <a:cs typeface="Times New Roman" pitchFamily="18" charset="0"/>
              </a:rPr>
              <a:t>% per </a:t>
            </a:r>
            <a:r>
              <a:rPr lang="en-US" altLang="zh-TW" dirty="0" err="1" smtClean="0">
                <a:latin typeface="Times New Roman" pitchFamily="18" charset="0"/>
                <a:cs typeface="Times New Roman" pitchFamily="18" charset="0"/>
              </a:rPr>
              <a:t>cysteine</a:t>
            </a:r>
            <a:r>
              <a:rPr lang="en-US" altLang="zh-TW" dirty="0" smtClean="0">
                <a:latin typeface="Times New Roman" pitchFamily="18" charset="0"/>
                <a:cs typeface="Times New Roman" pitchFamily="18" charset="0"/>
              </a:rPr>
              <a:t> residue and per protein, respectively, and in this overcomes other predictors of the same category. We then explore the efficacy of our predictor in computing the disulfide content of the whole proteome of Escherichia coli (K12 and O157), </a:t>
            </a:r>
            <a:r>
              <a:rPr lang="en-US" altLang="zh-TW" dirty="0" err="1" smtClean="0">
                <a:latin typeface="Times New Roman" pitchFamily="18" charset="0"/>
                <a:cs typeface="Times New Roman" pitchFamily="18" charset="0"/>
              </a:rPr>
              <a:t>Aeropirum</a:t>
            </a:r>
            <a:r>
              <a:rPr lang="en-US" altLang="zh-TW" dirty="0" smtClean="0">
                <a:latin typeface="Times New Roman" pitchFamily="18" charset="0"/>
                <a:cs typeface="Times New Roman" pitchFamily="18" charset="0"/>
              </a:rPr>
              <a:t> </a:t>
            </a:r>
            <a:r>
              <a:rPr lang="en-US" altLang="zh-TW" dirty="0" err="1" smtClean="0">
                <a:latin typeface="Times New Roman" pitchFamily="18" charset="0"/>
                <a:cs typeface="Times New Roman" pitchFamily="18" charset="0"/>
              </a:rPr>
              <a:t>pernix</a:t>
            </a:r>
            <a:r>
              <a:rPr lang="en-US" altLang="zh-TW" dirty="0" smtClean="0">
                <a:latin typeface="Times New Roman" pitchFamily="18" charset="0"/>
                <a:cs typeface="Times New Roman" pitchFamily="18" charset="0"/>
              </a:rPr>
              <a:t>, </a:t>
            </a:r>
            <a:r>
              <a:rPr lang="en-US" altLang="zh-TW" dirty="0" err="1" smtClean="0">
                <a:latin typeface="Times New Roman" pitchFamily="18" charset="0"/>
                <a:cs typeface="Times New Roman" pitchFamily="18" charset="0"/>
              </a:rPr>
              <a:t>Thermotoga</a:t>
            </a:r>
            <a:r>
              <a:rPr lang="en-US" altLang="zh-TW" dirty="0" smtClean="0">
                <a:latin typeface="Times New Roman" pitchFamily="18" charset="0"/>
                <a:cs typeface="Times New Roman" pitchFamily="18" charset="0"/>
              </a:rPr>
              <a:t> </a:t>
            </a:r>
            <a:r>
              <a:rPr lang="en-US" altLang="zh-TW" dirty="0" err="1" smtClean="0">
                <a:latin typeface="Times New Roman" pitchFamily="18" charset="0"/>
                <a:cs typeface="Times New Roman" pitchFamily="18" charset="0"/>
              </a:rPr>
              <a:t>maritima</a:t>
            </a:r>
            <a:r>
              <a:rPr lang="en-US" altLang="zh-TW" dirty="0" smtClean="0">
                <a:latin typeface="Times New Roman" pitchFamily="18" charset="0"/>
                <a:cs typeface="Times New Roman" pitchFamily="18" charset="0"/>
              </a:rPr>
              <a:t>, and Homo sapiens. We find that the percentage of extracellular disulfide containing proteins is higher than that of intracellular one, and that the human proteome is by far the one with the highest content of sulfur-sulfur linkages in proteins.</a:t>
            </a:r>
            <a:endParaRPr lang="zh-TW" altLang="en-US"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Database</a:t>
            </a:r>
            <a:endParaRPr lang="zh-TW" altLang="en-US" dirty="0"/>
          </a:p>
        </p:txBody>
      </p:sp>
      <p:sp>
        <p:nvSpPr>
          <p:cNvPr id="3" name="內容版面配置區 2"/>
          <p:cNvSpPr>
            <a:spLocks noGrp="1"/>
          </p:cNvSpPr>
          <p:nvPr>
            <p:ph idx="1"/>
          </p:nvPr>
        </p:nvSpPr>
        <p:spPr/>
        <p:txBody>
          <a:bodyPr>
            <a:normAutofit fontScale="92500" lnSpcReduction="20000"/>
          </a:bodyPr>
          <a:lstStyle/>
          <a:p>
            <a:r>
              <a:rPr lang="en-US" altLang="zh-TW" dirty="0" smtClean="0"/>
              <a:t>PDB database July 2003 release(sequence identity &lt; 25%)</a:t>
            </a:r>
          </a:p>
          <a:p>
            <a:r>
              <a:rPr lang="en-US" altLang="zh-TW" dirty="0" smtClean="0"/>
              <a:t>1631 chains of known structure for a total sum of 412049 residues</a:t>
            </a:r>
          </a:p>
          <a:p>
            <a:r>
              <a:rPr lang="en-US" altLang="zh-TW" dirty="0" smtClean="0"/>
              <a:t>436 proteins contain disulfide bonds, and 280 chains are endowed with more than one disulfide bond per chain.</a:t>
            </a:r>
          </a:p>
          <a:p>
            <a:r>
              <a:rPr lang="en-US" altLang="zh-TW" dirty="0" smtClean="0"/>
              <a:t>6961 </a:t>
            </a:r>
            <a:r>
              <a:rPr lang="en-US" altLang="zh-TW" dirty="0" err="1" smtClean="0"/>
              <a:t>cysteine</a:t>
            </a:r>
            <a:r>
              <a:rPr lang="en-US" altLang="zh-TW" dirty="0" smtClean="0"/>
              <a:t> </a:t>
            </a:r>
            <a:r>
              <a:rPr lang="en-US" altLang="zh-TW" smtClean="0"/>
              <a:t>residues are present </a:t>
            </a:r>
            <a:r>
              <a:rPr lang="en-US" altLang="zh-TW" dirty="0" smtClean="0"/>
              <a:t>in the set. The total number of disulfide-bonded </a:t>
            </a:r>
            <a:r>
              <a:rPr lang="en-US" altLang="zh-TW" dirty="0" err="1" smtClean="0"/>
              <a:t>cysteines</a:t>
            </a:r>
            <a:r>
              <a:rPr lang="en-US" altLang="zh-TW" dirty="0" smtClean="0"/>
              <a:t> is 2308 (33%), and the number of free </a:t>
            </a:r>
            <a:r>
              <a:rPr lang="en-US" altLang="zh-TW" dirty="0" err="1" smtClean="0"/>
              <a:t>cysteines</a:t>
            </a:r>
            <a:r>
              <a:rPr lang="en-US" altLang="zh-TW" dirty="0" smtClean="0"/>
              <a:t> is 4653 (67%).</a:t>
            </a:r>
            <a:endParaRPr lang="zh-TW"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500298" y="-1"/>
            <a:ext cx="4135222" cy="6858001"/>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1142976" y="0"/>
            <a:ext cx="7160559" cy="685800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Hidden Markov Models</a:t>
            </a:r>
            <a:endParaRPr lang="zh-TW" altLang="en-US" dirty="0"/>
          </a:p>
        </p:txBody>
      </p:sp>
      <p:sp>
        <p:nvSpPr>
          <p:cNvPr id="3" name="內容版面配置區 2"/>
          <p:cNvSpPr>
            <a:spLocks noGrp="1"/>
          </p:cNvSpPr>
          <p:nvPr>
            <p:ph idx="1"/>
          </p:nvPr>
        </p:nvSpPr>
        <p:spPr/>
        <p:txBody>
          <a:bodyPr>
            <a:normAutofit/>
          </a:bodyPr>
          <a:lstStyle/>
          <a:p>
            <a:r>
              <a:rPr lang="en-US" sz="1600" dirty="0" smtClean="0"/>
              <a:t>states = ('Rainy', 'Sunny') </a:t>
            </a:r>
            <a:endParaRPr lang="en-US" sz="1600" dirty="0" smtClean="0"/>
          </a:p>
          <a:p>
            <a:r>
              <a:rPr lang="en-US" sz="1600" dirty="0" smtClean="0"/>
              <a:t>observations </a:t>
            </a:r>
            <a:r>
              <a:rPr lang="en-US" sz="1600" dirty="0" smtClean="0"/>
              <a:t>= ('walk', 'shop', 'clean') </a:t>
            </a:r>
            <a:endParaRPr lang="en-US" sz="1600" dirty="0" smtClean="0"/>
          </a:p>
          <a:p>
            <a:r>
              <a:rPr lang="en-US" sz="1600" dirty="0" err="1" smtClean="0"/>
              <a:t>start_probability</a:t>
            </a:r>
            <a:r>
              <a:rPr lang="en-US" sz="1600" dirty="0" smtClean="0"/>
              <a:t> </a:t>
            </a:r>
            <a:r>
              <a:rPr lang="en-US" sz="1600" dirty="0" smtClean="0"/>
              <a:t>= {'Rainy': 0.6, 'Sunny': 0.4} </a:t>
            </a:r>
            <a:endParaRPr lang="en-US" sz="1600" dirty="0" smtClean="0"/>
          </a:p>
          <a:p>
            <a:r>
              <a:rPr lang="en-US" sz="1600" dirty="0" err="1" smtClean="0"/>
              <a:t>transition_probability</a:t>
            </a:r>
            <a:r>
              <a:rPr lang="en-US" sz="1600" dirty="0" smtClean="0"/>
              <a:t> </a:t>
            </a:r>
            <a:r>
              <a:rPr lang="en-US" sz="1600" dirty="0" smtClean="0"/>
              <a:t>= { 'Rainy' : {'Rainy': 0.7, 'Sunny': 0.3}, 'Sunny' : {'Rainy': 0.4, 'Sunny': 0.6}, } </a:t>
            </a:r>
            <a:endParaRPr lang="en-US" sz="1600" dirty="0" smtClean="0"/>
          </a:p>
          <a:p>
            <a:r>
              <a:rPr lang="en-US" sz="1600" dirty="0" err="1" smtClean="0"/>
              <a:t>emission_probability</a:t>
            </a:r>
            <a:r>
              <a:rPr lang="en-US" sz="1600" dirty="0" smtClean="0"/>
              <a:t> </a:t>
            </a:r>
            <a:r>
              <a:rPr lang="en-US" sz="1600" dirty="0" smtClean="0"/>
              <a:t>= { 'Rainy' : {'walk': 0.1, 'shop': 0.4, 'clean': 0.5}, 'Sunny' : {'walk': 0.6, 'shop': 0.3, 'clean': 0.1}, } </a:t>
            </a:r>
            <a:endParaRPr lang="zh-TW" altLang="en-US" sz="1600" dirty="0"/>
          </a:p>
        </p:txBody>
      </p:sp>
      <p:pic>
        <p:nvPicPr>
          <p:cNvPr id="1026" name="Picture 2" descr="http://upload.wikimedia.org/wikipedia/commons/d/db/HMMGraph.png"/>
          <p:cNvPicPr>
            <a:picLocks noChangeAspect="1" noChangeArrowheads="1"/>
          </p:cNvPicPr>
          <p:nvPr/>
        </p:nvPicPr>
        <p:blipFill>
          <a:blip r:embed="rId2"/>
          <a:srcRect/>
          <a:stretch>
            <a:fillRect/>
          </a:stretch>
        </p:blipFill>
        <p:spPr bwMode="auto">
          <a:xfrm>
            <a:off x="2547362" y="3643314"/>
            <a:ext cx="3893206" cy="2902762"/>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Hidden Markov Models</a:t>
            </a:r>
            <a:endParaRPr lang="zh-TW" altLang="en-US" dirty="0"/>
          </a:p>
        </p:txBody>
      </p:sp>
      <p:sp>
        <p:nvSpPr>
          <p:cNvPr id="3" name="內容版面配置區 2"/>
          <p:cNvSpPr>
            <a:spLocks noGrp="1"/>
          </p:cNvSpPr>
          <p:nvPr>
            <p:ph idx="1"/>
          </p:nvPr>
        </p:nvSpPr>
        <p:spPr/>
        <p:txBody>
          <a:bodyPr>
            <a:normAutofit/>
          </a:bodyPr>
          <a:lstStyle/>
          <a:p>
            <a:r>
              <a:rPr lang="en-US" altLang="zh-TW" sz="2800" dirty="0" smtClean="0"/>
              <a:t>s = s</a:t>
            </a:r>
            <a:r>
              <a:rPr lang="en-US" altLang="zh-TW" sz="2800" baseline="30000" dirty="0" smtClean="0"/>
              <a:t>1</a:t>
            </a:r>
            <a:r>
              <a:rPr lang="en-US" altLang="zh-TW" sz="2800" dirty="0" smtClean="0"/>
              <a:t>s</a:t>
            </a:r>
            <a:r>
              <a:rPr lang="en-US" altLang="zh-TW" sz="2800" baseline="30000" dirty="0" smtClean="0"/>
              <a:t>2</a:t>
            </a:r>
            <a:r>
              <a:rPr lang="en-US" altLang="zh-TW" sz="2800" dirty="0" smtClean="0"/>
              <a:t>...</a:t>
            </a:r>
            <a:r>
              <a:rPr lang="en-US" altLang="zh-TW" sz="2800" dirty="0" err="1" smtClean="0"/>
              <a:t>s</a:t>
            </a:r>
            <a:r>
              <a:rPr lang="en-US" altLang="zh-TW" sz="2800" baseline="30000" dirty="0" err="1" smtClean="0"/>
              <a:t>L</a:t>
            </a:r>
            <a:r>
              <a:rPr lang="en-US" altLang="zh-TW" sz="2800" dirty="0" smtClean="0"/>
              <a:t>=[s</a:t>
            </a:r>
            <a:r>
              <a:rPr lang="en-US" altLang="zh-TW" sz="2800" baseline="30000" dirty="0" smtClean="0"/>
              <a:t>1</a:t>
            </a:r>
            <a:r>
              <a:rPr lang="en-US" altLang="zh-TW" sz="2800" dirty="0" smtClean="0"/>
              <a:t>(1), s</a:t>
            </a:r>
            <a:r>
              <a:rPr lang="en-US" altLang="zh-TW" sz="2800" baseline="30000" dirty="0" smtClean="0"/>
              <a:t>1</a:t>
            </a:r>
            <a:r>
              <a:rPr lang="en-US" altLang="zh-TW" sz="2800" dirty="0" smtClean="0"/>
              <a:t>(2)] [s</a:t>
            </a:r>
            <a:r>
              <a:rPr lang="en-US" altLang="zh-TW" sz="2800" baseline="30000" dirty="0" smtClean="0"/>
              <a:t>2</a:t>
            </a:r>
            <a:r>
              <a:rPr lang="en-US" altLang="zh-TW" sz="2800" dirty="0" smtClean="0"/>
              <a:t>(1), s</a:t>
            </a:r>
            <a:r>
              <a:rPr lang="en-US" altLang="zh-TW" sz="2800" baseline="30000" dirty="0" smtClean="0"/>
              <a:t>2</a:t>
            </a:r>
            <a:r>
              <a:rPr lang="en-US" altLang="zh-TW" sz="2800" dirty="0" smtClean="0"/>
              <a:t>(2)]...[</a:t>
            </a:r>
            <a:r>
              <a:rPr lang="en-US" altLang="zh-TW" sz="2800" dirty="0" err="1" smtClean="0"/>
              <a:t>s</a:t>
            </a:r>
            <a:r>
              <a:rPr lang="en-US" altLang="zh-TW" sz="2800" baseline="30000" dirty="0" err="1" smtClean="0"/>
              <a:t>L</a:t>
            </a:r>
            <a:r>
              <a:rPr lang="en-US" altLang="zh-TW" sz="2800" dirty="0" smtClean="0"/>
              <a:t>(1), </a:t>
            </a:r>
            <a:r>
              <a:rPr lang="en-US" altLang="zh-TW" sz="2800" dirty="0" err="1" smtClean="0"/>
              <a:t>s</a:t>
            </a:r>
            <a:r>
              <a:rPr lang="en-US" altLang="zh-TW" sz="2800" baseline="30000" dirty="0" err="1" smtClean="0"/>
              <a:t>L</a:t>
            </a:r>
            <a:r>
              <a:rPr lang="en-US" altLang="zh-TW" sz="2800" dirty="0" smtClean="0"/>
              <a:t>(2)] </a:t>
            </a:r>
          </a:p>
          <a:p>
            <a:r>
              <a:rPr lang="en-US" altLang="zh-TW" sz="2800" dirty="0" err="1" smtClean="0"/>
              <a:t>s</a:t>
            </a:r>
            <a:r>
              <a:rPr lang="en-US" altLang="zh-TW" sz="2800" baseline="30000" dirty="0" err="1" smtClean="0"/>
              <a:t>t</a:t>
            </a:r>
            <a:r>
              <a:rPr lang="en-US" altLang="zh-TW" sz="2800" dirty="0" smtClean="0"/>
              <a:t>=[NN(B,W), NN(F,W)]</a:t>
            </a:r>
          </a:p>
        </p:txBody>
      </p:sp>
      <p:pic>
        <p:nvPicPr>
          <p:cNvPr id="4098" name="Picture 2"/>
          <p:cNvPicPr>
            <a:picLocks noChangeAspect="1" noChangeArrowheads="1"/>
          </p:cNvPicPr>
          <p:nvPr/>
        </p:nvPicPr>
        <p:blipFill>
          <a:blip r:embed="rId2"/>
          <a:srcRect/>
          <a:stretch>
            <a:fillRect/>
          </a:stretch>
        </p:blipFill>
        <p:spPr bwMode="auto">
          <a:xfrm>
            <a:off x="785786" y="3000372"/>
            <a:ext cx="4819650" cy="30480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Expectation-maximization algorithm for sequence-profile-based HMM</a:t>
            </a:r>
            <a:endParaRPr lang="zh-TW" altLang="en-US" dirty="0"/>
          </a:p>
        </p:txBody>
      </p:sp>
      <p:pic>
        <p:nvPicPr>
          <p:cNvPr id="5122" name="Picture 2"/>
          <p:cNvPicPr>
            <a:picLocks noGrp="1" noChangeAspect="1" noChangeArrowheads="1"/>
          </p:cNvPicPr>
          <p:nvPr>
            <p:ph idx="1"/>
          </p:nvPr>
        </p:nvPicPr>
        <p:blipFill>
          <a:blip r:embed="rId2"/>
          <a:srcRect/>
          <a:stretch>
            <a:fillRect/>
          </a:stretch>
        </p:blipFill>
        <p:spPr bwMode="auto">
          <a:xfrm>
            <a:off x="142844" y="1428736"/>
            <a:ext cx="4867275" cy="4114800"/>
          </a:xfrm>
          <a:prstGeom prst="rect">
            <a:avLst/>
          </a:prstGeom>
          <a:noFill/>
          <a:ln w="9525">
            <a:noFill/>
            <a:miter lim="800000"/>
            <a:headEnd/>
            <a:tailEnd/>
          </a:ln>
          <a:effectLst/>
        </p:spPr>
      </p:pic>
      <p:sp>
        <p:nvSpPr>
          <p:cNvPr id="5" name="文字方塊 4"/>
          <p:cNvSpPr txBox="1"/>
          <p:nvPr/>
        </p:nvSpPr>
        <p:spPr>
          <a:xfrm>
            <a:off x="4739653" y="1857364"/>
            <a:ext cx="4404347" cy="3139321"/>
          </a:xfrm>
          <a:prstGeom prst="rect">
            <a:avLst/>
          </a:prstGeom>
          <a:noFill/>
        </p:spPr>
        <p:txBody>
          <a:bodyPr wrap="none" rtlCol="0">
            <a:spAutoFit/>
          </a:bodyPr>
          <a:lstStyle/>
          <a:p>
            <a:r>
              <a:rPr lang="en-US" altLang="zh-TW" dirty="0" smtClean="0"/>
              <a:t>d are the sequences of the training set D</a:t>
            </a:r>
          </a:p>
          <a:p>
            <a:endParaRPr lang="en-US" altLang="zh-TW" dirty="0" smtClean="0"/>
          </a:p>
          <a:p>
            <a:r>
              <a:rPr lang="en-US" altLang="zh-TW" dirty="0" smtClean="0"/>
              <a:t>M is the model</a:t>
            </a:r>
          </a:p>
          <a:p>
            <a:endParaRPr lang="en-US" altLang="zh-TW" dirty="0" smtClean="0"/>
          </a:p>
          <a:p>
            <a:r>
              <a:rPr lang="en-US" altLang="zh-TW" i="1" dirty="0" err="1" smtClean="0"/>
              <a:t>fi</a:t>
            </a:r>
            <a:r>
              <a:rPr lang="en-US" altLang="zh-TW" dirty="0" smtClean="0"/>
              <a:t>(t) is the probability of emitting the first t</a:t>
            </a:r>
          </a:p>
          <a:p>
            <a:r>
              <a:rPr lang="en-US" altLang="zh-TW" dirty="0" smtClean="0"/>
              <a:t>vectors of the sequence requiring that the</a:t>
            </a:r>
          </a:p>
          <a:p>
            <a:r>
              <a:rPr lang="en-US" altLang="zh-TW" dirty="0" smtClean="0"/>
              <a:t>state at the iteration t is k</a:t>
            </a:r>
          </a:p>
          <a:p>
            <a:endParaRPr lang="en-US" altLang="zh-TW" dirty="0" smtClean="0"/>
          </a:p>
          <a:p>
            <a:r>
              <a:rPr lang="en-US" altLang="zh-TW" i="1" dirty="0" err="1" smtClean="0"/>
              <a:t>b</a:t>
            </a:r>
            <a:r>
              <a:rPr lang="en-US" altLang="zh-TW" i="1" baseline="-25000" dirty="0" err="1" smtClean="0"/>
              <a:t>k</a:t>
            </a:r>
            <a:r>
              <a:rPr lang="en-US" altLang="zh-TW" dirty="0" smtClean="0"/>
              <a:t>(t) is the probability of emitting the vectors</a:t>
            </a:r>
          </a:p>
          <a:p>
            <a:r>
              <a:rPr lang="en-US" altLang="zh-TW" dirty="0" smtClean="0"/>
              <a:t>From the position t+1 to the end of the </a:t>
            </a:r>
          </a:p>
          <a:p>
            <a:r>
              <a:rPr lang="en-US" altLang="zh-TW" dirty="0" smtClean="0"/>
              <a:t>sequence</a:t>
            </a:r>
            <a:endParaRPr lang="zh-TW"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Results</a:t>
            </a:r>
            <a:endParaRPr lang="zh-TW" altLang="en-US" dirty="0"/>
          </a:p>
        </p:txBody>
      </p:sp>
      <p:pic>
        <p:nvPicPr>
          <p:cNvPr id="3074" name="Picture 2"/>
          <p:cNvPicPr>
            <a:picLocks noGrp="1" noChangeAspect="1" noChangeArrowheads="1"/>
          </p:cNvPicPr>
          <p:nvPr>
            <p:ph idx="1"/>
          </p:nvPr>
        </p:nvPicPr>
        <p:blipFill>
          <a:blip r:embed="rId2"/>
          <a:srcRect/>
          <a:stretch>
            <a:fillRect/>
          </a:stretch>
        </p:blipFill>
        <p:spPr bwMode="auto">
          <a:xfrm>
            <a:off x="2143108" y="1857364"/>
            <a:ext cx="4581525" cy="1409700"/>
          </a:xfrm>
          <a:prstGeom prst="rect">
            <a:avLst/>
          </a:prstGeom>
          <a:noFill/>
          <a:ln w="9525">
            <a:noFill/>
            <a:miter lim="800000"/>
            <a:headEnd/>
            <a:tailEnd/>
          </a:ln>
          <a:effectLst/>
        </p:spPr>
      </p:pic>
      <p:sp>
        <p:nvSpPr>
          <p:cNvPr id="5" name="文字方塊 4"/>
          <p:cNvSpPr txBox="1"/>
          <p:nvPr/>
        </p:nvSpPr>
        <p:spPr>
          <a:xfrm>
            <a:off x="142844" y="3500438"/>
            <a:ext cx="9001156" cy="2308324"/>
          </a:xfrm>
          <a:prstGeom prst="rect">
            <a:avLst/>
          </a:prstGeom>
          <a:noFill/>
        </p:spPr>
        <p:txBody>
          <a:bodyPr wrap="square" rtlCol="0">
            <a:spAutoFit/>
          </a:bodyPr>
          <a:lstStyle/>
          <a:p>
            <a:r>
              <a:rPr lang="en-US" altLang="zh-TW" dirty="0" smtClean="0"/>
              <a:t>B, </a:t>
            </a:r>
            <a:r>
              <a:rPr lang="en-US" altLang="zh-TW" dirty="0" err="1" smtClean="0"/>
              <a:t>cysteine</a:t>
            </a:r>
            <a:r>
              <a:rPr lang="en-US" altLang="zh-TW" dirty="0" smtClean="0"/>
              <a:t> bonding state; </a:t>
            </a:r>
          </a:p>
          <a:p>
            <a:r>
              <a:rPr lang="en-US" altLang="zh-TW" dirty="0" smtClean="0"/>
              <a:t>F, </a:t>
            </a:r>
            <a:r>
              <a:rPr lang="en-US" altLang="zh-TW" dirty="0" err="1" smtClean="0"/>
              <a:t>cysteine</a:t>
            </a:r>
            <a:r>
              <a:rPr lang="en-US" altLang="zh-TW" dirty="0" smtClean="0"/>
              <a:t> free state; </a:t>
            </a:r>
          </a:p>
          <a:p>
            <a:r>
              <a:rPr lang="en-US" altLang="zh-TW" dirty="0" smtClean="0"/>
              <a:t>Q2,number of correctly predicted </a:t>
            </a:r>
            <a:r>
              <a:rPr lang="en-US" altLang="zh-TW" dirty="0" err="1" smtClean="0"/>
              <a:t>cysteines</a:t>
            </a:r>
            <a:r>
              <a:rPr lang="en-US" altLang="zh-TW" dirty="0" smtClean="0"/>
              <a:t>/total number of </a:t>
            </a:r>
            <a:r>
              <a:rPr lang="en-US" altLang="zh-TW" dirty="0" err="1" smtClean="0"/>
              <a:t>cysteines</a:t>
            </a:r>
            <a:r>
              <a:rPr lang="en-US" altLang="zh-TW" dirty="0" smtClean="0"/>
              <a:t>; </a:t>
            </a:r>
          </a:p>
          <a:p>
            <a:r>
              <a:rPr lang="en-US" altLang="zh-TW" dirty="0" smtClean="0"/>
              <a:t>C, correlation index; </a:t>
            </a:r>
          </a:p>
          <a:p>
            <a:r>
              <a:rPr lang="en-US" altLang="zh-TW" dirty="0" smtClean="0"/>
              <a:t>Q(class), number of </a:t>
            </a:r>
            <a:r>
              <a:rPr lang="en-US" altLang="zh-TW" dirty="0" err="1" smtClean="0"/>
              <a:t>cysteines</a:t>
            </a:r>
            <a:r>
              <a:rPr lang="en-US" altLang="zh-TW" dirty="0" smtClean="0"/>
              <a:t> correctly predicted in class/number of </a:t>
            </a:r>
            <a:r>
              <a:rPr lang="en-US" altLang="zh-TW" dirty="0" err="1" smtClean="0"/>
              <a:t>cysteines</a:t>
            </a:r>
            <a:r>
              <a:rPr lang="en-US" altLang="zh-TW" dirty="0" smtClean="0"/>
              <a:t> in class;</a:t>
            </a:r>
          </a:p>
          <a:p>
            <a:r>
              <a:rPr lang="en-US" altLang="zh-TW" dirty="0" smtClean="0"/>
              <a:t>P(class), number of </a:t>
            </a:r>
            <a:r>
              <a:rPr lang="en-US" altLang="zh-TW" dirty="0" err="1" smtClean="0"/>
              <a:t>cysteines</a:t>
            </a:r>
            <a:r>
              <a:rPr lang="en-US" altLang="zh-TW" dirty="0" smtClean="0"/>
              <a:t> correctly predicted in class/number of </a:t>
            </a:r>
            <a:r>
              <a:rPr lang="en-US" altLang="zh-TW" dirty="0" err="1" smtClean="0"/>
              <a:t>cysteines</a:t>
            </a:r>
            <a:r>
              <a:rPr lang="en-US" altLang="zh-TW" dirty="0" smtClean="0"/>
              <a:t> predicted in class;</a:t>
            </a:r>
          </a:p>
          <a:p>
            <a:r>
              <a:rPr lang="en-US" altLang="zh-TW" dirty="0" smtClean="0"/>
              <a:t>Q2prot, number of proteins correctly predicted/ total number of proteins.</a:t>
            </a:r>
            <a:endParaRPr lang="zh-TW" altLang="en-US" dirty="0"/>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364</TotalTime>
  <Words>492</Words>
  <PresentationFormat>如螢幕大小 (4:3)</PresentationFormat>
  <Paragraphs>42</Paragraphs>
  <Slides>9</Slides>
  <Notes>0</Notes>
  <HiddenSlides>0</HiddenSlides>
  <MMClips>0</MMClips>
  <ScaleCrop>false</ScaleCrop>
  <HeadingPairs>
    <vt:vector size="4" baseType="variant">
      <vt:variant>
        <vt:lpstr>佈景主題</vt:lpstr>
      </vt:variant>
      <vt:variant>
        <vt:i4>1</vt:i4>
      </vt:variant>
      <vt:variant>
        <vt:lpstr>投影片標題</vt:lpstr>
      </vt:variant>
      <vt:variant>
        <vt:i4>9</vt:i4>
      </vt:variant>
    </vt:vector>
  </HeadingPairs>
  <TitlesOfParts>
    <vt:vector size="10" baseType="lpstr">
      <vt:lpstr>Office 佈景主題</vt:lpstr>
      <vt:lpstr>Prediction of disulfide-bonded cysteines in proteomes with a hidden neural network</vt:lpstr>
      <vt:lpstr>Abstract</vt:lpstr>
      <vt:lpstr>Database</vt:lpstr>
      <vt:lpstr>投影片 4</vt:lpstr>
      <vt:lpstr>投影片 5</vt:lpstr>
      <vt:lpstr>Hidden Markov Models</vt:lpstr>
      <vt:lpstr>Hidden Markov Models</vt:lpstr>
      <vt:lpstr>Expectation-maximization algorithm for sequence-profile-based HMM</vt:lpstr>
      <vt:lpstr>Results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Prediction of disulfide-bonded cysteines in proteomes with a hidden neural network</dc:title>
  <cp:lastModifiedBy>Sephiroth</cp:lastModifiedBy>
  <cp:revision>41</cp:revision>
  <dcterms:modified xsi:type="dcterms:W3CDTF">2009-06-30T12:02:18Z</dcterms:modified>
</cp:coreProperties>
</file>