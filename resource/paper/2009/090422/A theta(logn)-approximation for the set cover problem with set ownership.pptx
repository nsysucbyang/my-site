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 autoAdjust="0"/>
    <p:restoredTop sz="94704" autoAdjust="0"/>
  </p:normalViewPr>
  <p:slideViewPr>
    <p:cSldViewPr>
      <p:cViewPr varScale="1">
        <p:scale>
          <a:sx n="102" d="100"/>
          <a:sy n="102" d="100"/>
        </p:scale>
        <p:origin x="-234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9D3910-A4D9-49C4-917F-EB145E600CB0}" type="datetimeFigureOut">
              <a:rPr lang="zh-TW" altLang="en-US" smtClean="0"/>
              <a:pPr/>
              <a:t>2009/4/29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D5526F-D29C-4E88-AA2F-C3FA303B8E8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2009/4/29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2009/4/29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2009/4/29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2009/4/29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2009/4/29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2009/4/29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2009/4/29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2009/4/29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2009/4/29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2009/4/29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2009/4/29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2009/4/29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A </a:t>
            </a:r>
            <a:r>
              <a:rPr lang="en-US" altLang="zh-TW" dirty="0" smtClean="0"/>
              <a:t>theta</a:t>
            </a:r>
            <a:r>
              <a:rPr lang="en-US" altLang="zh-TW" i="1" dirty="0" smtClean="0"/>
              <a:t>(</a:t>
            </a:r>
            <a:r>
              <a:rPr lang="en-US" altLang="zh-TW" i="1" dirty="0" err="1" smtClean="0"/>
              <a:t>logn</a:t>
            </a:r>
            <a:r>
              <a:rPr lang="en-US" altLang="zh-TW" i="1" dirty="0" smtClean="0"/>
              <a:t>)-approximation for the set cover problem with set ownership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sz="2000" dirty="0" smtClean="0">
                <a:solidFill>
                  <a:schemeClr val="tx1"/>
                </a:solidFill>
              </a:rPr>
              <a:t>Mira </a:t>
            </a:r>
            <a:r>
              <a:rPr lang="en-US" altLang="zh-TW" sz="2000" dirty="0" err="1" smtClean="0">
                <a:solidFill>
                  <a:schemeClr val="tx1"/>
                </a:solidFill>
              </a:rPr>
              <a:t>Gonen</a:t>
            </a:r>
            <a:r>
              <a:rPr lang="en-US" altLang="zh-TW" sz="2000" dirty="0" smtClean="0">
                <a:solidFill>
                  <a:schemeClr val="tx1"/>
                </a:solidFill>
              </a:rPr>
              <a:t> , Yuval </a:t>
            </a:r>
            <a:r>
              <a:rPr lang="en-US" altLang="zh-TW" sz="2000" dirty="0" err="1" smtClean="0">
                <a:solidFill>
                  <a:schemeClr val="tx1"/>
                </a:solidFill>
              </a:rPr>
              <a:t>Shavitt</a:t>
            </a:r>
            <a:endParaRPr lang="en-US" altLang="zh-TW" sz="2000" dirty="0" smtClean="0">
              <a:solidFill>
                <a:schemeClr val="tx1"/>
              </a:solidFill>
            </a:endParaRPr>
          </a:p>
          <a:p>
            <a:r>
              <a:rPr lang="en-US" altLang="zh-TW" sz="2000" dirty="0" smtClean="0">
                <a:solidFill>
                  <a:schemeClr val="tx1"/>
                </a:solidFill>
              </a:rPr>
              <a:t>Information Processing Letters 109 (2009) 183–186</a:t>
            </a:r>
          </a:p>
          <a:p>
            <a:endParaRPr lang="zh-TW" altLang="en-US" dirty="0"/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6156325" y="5345113"/>
            <a:ext cx="1960024" cy="566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TW" sz="1400" dirty="0"/>
              <a:t>Presenter : </a:t>
            </a:r>
            <a:r>
              <a:rPr lang="en-US" altLang="zh-TW" sz="1400" dirty="0" err="1"/>
              <a:t>Chih</a:t>
            </a:r>
            <a:r>
              <a:rPr lang="en-US" altLang="zh-TW" sz="1400" dirty="0"/>
              <a:t>-Ying Lin</a:t>
            </a:r>
          </a:p>
          <a:p>
            <a:pPr>
              <a:spcBef>
                <a:spcPct val="20000"/>
              </a:spcBef>
            </a:pPr>
            <a:r>
              <a:rPr lang="en-US" altLang="zh-TW" sz="1400" dirty="0"/>
              <a:t>Date : </a:t>
            </a:r>
            <a:r>
              <a:rPr lang="en-US" altLang="zh-TW" sz="1400" dirty="0" smtClean="0"/>
              <a:t>Apr</a:t>
            </a:r>
            <a:r>
              <a:rPr lang="en-US" altLang="zh-TW" sz="1400" dirty="0"/>
              <a:t>. </a:t>
            </a:r>
            <a:r>
              <a:rPr lang="en-US" altLang="zh-TW" sz="1400" dirty="0" smtClean="0"/>
              <a:t>22, </a:t>
            </a:r>
            <a:r>
              <a:rPr lang="en-US" altLang="zh-TW" sz="1400" dirty="0"/>
              <a:t>2009</a:t>
            </a:r>
            <a:endParaRPr lang="en-US" altLang="zh-TW" dirty="0">
              <a:latin typeface="Tahoma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 altLang="zh-TW" dirty="0" smtClean="0">
                <a:latin typeface="Times New Roman" pitchFamily="18" charset="0"/>
                <a:cs typeface="Times New Roman" pitchFamily="18" charset="0"/>
              </a:rPr>
              <a:t>A b s t r a c t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In highly distributed Internet measurement systems distributed agents periodically measure the Internet using a tool called 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traceroute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, which discovers a path in the network graph. Each agent performs many 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traceroute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measurements to a set of destinations in the network, and thus reveals a portion of the Internet graph as it is seen from the agent locations. In every period we need to check whether previously discovered edges still exist in this period, a process termed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validation.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To this end we maintain a database of all the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different measurements performed by each agent. Our aim is to be able to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validate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existence of all previously discovered edges in the minimum possible time. In this work we formulate the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validation problem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as a generalization of the well know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set cover problem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. We reduce the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set cover problem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to the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validation problem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, thus proving that the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validation problem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is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NP-hard. We present a O(</a:t>
            </a:r>
            <a:r>
              <a:rPr lang="en-US" altLang="zh-TW" i="1" dirty="0" err="1" smtClean="0">
                <a:latin typeface="Times New Roman" pitchFamily="18" charset="0"/>
                <a:cs typeface="Times New Roman" pitchFamily="18" charset="0"/>
              </a:rPr>
              <a:t>logn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)-approximation algorithm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to the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validation problem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, where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in the number of edges that need to be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validated.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We also show that unless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P = NP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approximation ratio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of the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validation problem is </a:t>
            </a:r>
            <a:r>
              <a:rPr lang="el-GR" altLang="zh-TW" i="1" dirty="0" smtClean="0">
                <a:latin typeface="Times New Roman" pitchFamily="18" charset="0"/>
                <a:cs typeface="Times New Roman" pitchFamily="18" charset="0"/>
              </a:rPr>
              <a:t>Ω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TW" i="1" dirty="0" err="1" smtClean="0">
                <a:latin typeface="Times New Roman" pitchFamily="18" charset="0"/>
                <a:cs typeface="Times New Roman" pitchFamily="18" charset="0"/>
              </a:rPr>
              <a:t>logn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 smtClean="0">
                <a:latin typeface="Times New Roman" pitchFamily="18" charset="0"/>
                <a:cs typeface="Times New Roman" pitchFamily="18" charset="0"/>
              </a:rPr>
              <a:t>Problem </a:t>
            </a:r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Validation Set Cover (VSC). 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Given a universe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U of n elements, a collection of subsets of U, S = {S</a:t>
            </a:r>
            <a:r>
              <a:rPr lang="en-US" altLang="zh-TW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, . . . , </a:t>
            </a:r>
            <a:r>
              <a:rPr lang="en-US" altLang="zh-TW" i="1" dirty="0" err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TW" i="1" baseline="-25000" dirty="0" err="1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}, a partition of S π = {A</a:t>
            </a:r>
            <a:r>
              <a:rPr lang="en-US" altLang="zh-TW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, . . . , A</a:t>
            </a:r>
            <a:r>
              <a:rPr lang="en-US" altLang="zh-TW" i="1" baseline="-25000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} where A</a:t>
            </a:r>
            <a:r>
              <a:rPr lang="en-US" altLang="zh-TW" i="1" baseline="-25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⊆ S, and a weight function ω:π →N, find a </a:t>
            </a:r>
            <a:r>
              <a:rPr lang="en-US" altLang="zh-TW" i="1" dirty="0" err="1" smtClean="0">
                <a:latin typeface="Times New Roman" pitchFamily="18" charset="0"/>
                <a:cs typeface="Times New Roman" pitchFamily="18" charset="0"/>
              </a:rPr>
              <a:t>subcollection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S’ of S that covers all elements of U such that </a:t>
            </a:r>
            <a:r>
              <a:rPr lang="nl-NL" altLang="zh-TW" dirty="0" smtClean="0">
                <a:latin typeface="Times New Roman" pitchFamily="18" charset="0"/>
                <a:cs typeface="Times New Roman" pitchFamily="18" charset="0"/>
              </a:rPr>
              <a:t>max</a:t>
            </a:r>
            <a:r>
              <a:rPr lang="nl-NL" altLang="zh-TW" baseline="-25000" dirty="0" smtClean="0">
                <a:latin typeface="Times New Roman" pitchFamily="18" charset="0"/>
                <a:cs typeface="Times New Roman" pitchFamily="18" charset="0"/>
              </a:rPr>
              <a:t>1≤</a:t>
            </a:r>
            <a:r>
              <a:rPr lang="nl-NL" altLang="zh-TW" i="1" baseline="-25000" dirty="0" smtClean="0">
                <a:latin typeface="Times New Roman" pitchFamily="18" charset="0"/>
                <a:cs typeface="Times New Roman" pitchFamily="18" charset="0"/>
              </a:rPr>
              <a:t>i≤m </a:t>
            </a:r>
            <a:r>
              <a:rPr lang="nl-NL" altLang="zh-TW" i="1" dirty="0" smtClean="0">
                <a:latin typeface="Times New Roman" pitchFamily="18" charset="0"/>
                <a:cs typeface="Times New Roman" pitchFamily="18" charset="0"/>
              </a:rPr>
              <a:t> |Ai ∩ S’|/ω(A</a:t>
            </a:r>
            <a:r>
              <a:rPr lang="nl-NL" altLang="zh-TW" i="1" baseline="-25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nl-NL" altLang="zh-TW" i="1" dirty="0" smtClean="0">
                <a:latin typeface="Times New Roman" pitchFamily="18" charset="0"/>
                <a:cs typeface="Times New Roman" pitchFamily="18" charset="0"/>
              </a:rPr>
              <a:t>)  is minimum.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b="1" dirty="0" smtClean="0"/>
              <a:t>Example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sz="2800" dirty="0" smtClean="0"/>
              <a:t>U = {</a:t>
            </a:r>
            <a:r>
              <a:rPr lang="en-US" altLang="zh-TW" sz="2800" i="1" dirty="0" smtClean="0"/>
              <a:t>n</a:t>
            </a:r>
            <a:r>
              <a:rPr lang="en-US" altLang="zh-TW" sz="2800" i="1" baseline="-25000" dirty="0" smtClean="0"/>
              <a:t>1</a:t>
            </a:r>
            <a:r>
              <a:rPr lang="en-US" altLang="zh-TW" sz="2800" i="1" dirty="0" smtClean="0"/>
              <a:t>,n</a:t>
            </a:r>
            <a:r>
              <a:rPr lang="en-US" altLang="zh-TW" sz="2800" i="1" baseline="-25000" dirty="0" smtClean="0"/>
              <a:t>2</a:t>
            </a:r>
            <a:r>
              <a:rPr lang="en-US" altLang="zh-TW" sz="2800" i="1" dirty="0" smtClean="0"/>
              <a:t>,…,n</a:t>
            </a:r>
            <a:r>
              <a:rPr lang="en-US" altLang="zh-TW" sz="2800" i="1" baseline="-25000" dirty="0" smtClean="0"/>
              <a:t>9</a:t>
            </a:r>
            <a:r>
              <a:rPr lang="en-US" altLang="zh-TW" sz="2800" dirty="0" smtClean="0"/>
              <a:t>}</a:t>
            </a:r>
          </a:p>
          <a:p>
            <a:endParaRPr lang="en-US" altLang="zh-TW" sz="2800" dirty="0" smtClean="0"/>
          </a:p>
          <a:p>
            <a:r>
              <a:rPr lang="en-US" altLang="zh-TW" sz="2800" dirty="0" smtClean="0"/>
              <a:t>S = {</a:t>
            </a:r>
            <a:r>
              <a:rPr lang="en-US" altLang="zh-TW" sz="2800" i="1" dirty="0" smtClean="0"/>
              <a:t>s</a:t>
            </a:r>
            <a:r>
              <a:rPr lang="en-US" altLang="zh-TW" sz="2800" i="1" baseline="-25000" dirty="0" smtClean="0"/>
              <a:t>1</a:t>
            </a:r>
            <a:r>
              <a:rPr lang="en-US" altLang="zh-TW" sz="2800" i="1" dirty="0" smtClean="0"/>
              <a:t>,s</a:t>
            </a:r>
            <a:r>
              <a:rPr lang="en-US" altLang="zh-TW" sz="2800" i="1" baseline="-25000" dirty="0" smtClean="0"/>
              <a:t>2</a:t>
            </a:r>
            <a:r>
              <a:rPr lang="en-US" altLang="zh-TW" sz="2800" i="1" dirty="0" smtClean="0"/>
              <a:t>,…,s</a:t>
            </a:r>
            <a:r>
              <a:rPr lang="en-US" altLang="zh-TW" sz="2800" i="1" baseline="-25000" dirty="0" smtClean="0"/>
              <a:t>6</a:t>
            </a:r>
            <a:r>
              <a:rPr lang="en-US" altLang="zh-TW" sz="2800" dirty="0" smtClean="0"/>
              <a:t>}</a:t>
            </a:r>
          </a:p>
          <a:p>
            <a:r>
              <a:rPr lang="en-US" altLang="zh-TW" sz="2800" dirty="0" smtClean="0"/>
              <a:t>s</a:t>
            </a:r>
            <a:r>
              <a:rPr lang="en-US" altLang="zh-TW" sz="2800" baseline="-25000" dirty="0" smtClean="0"/>
              <a:t>1 </a:t>
            </a:r>
            <a:r>
              <a:rPr lang="en-US" altLang="zh-TW" sz="2800" dirty="0" smtClean="0"/>
              <a:t>= {</a:t>
            </a:r>
            <a:r>
              <a:rPr lang="en-US" altLang="zh-TW" sz="2800" i="1" dirty="0" smtClean="0"/>
              <a:t>n</a:t>
            </a:r>
            <a:r>
              <a:rPr lang="en-US" altLang="zh-TW" sz="2800" i="1" baseline="-25000" dirty="0" smtClean="0"/>
              <a:t>2</a:t>
            </a:r>
            <a:r>
              <a:rPr lang="en-US" altLang="zh-TW" sz="2800" i="1" dirty="0" smtClean="0"/>
              <a:t>,n</a:t>
            </a:r>
            <a:r>
              <a:rPr lang="en-US" altLang="zh-TW" sz="2800" i="1" baseline="-25000" dirty="0" smtClean="0"/>
              <a:t>3</a:t>
            </a:r>
            <a:r>
              <a:rPr lang="en-US" altLang="zh-TW" sz="2800" i="1" dirty="0" smtClean="0"/>
              <a:t>,n</a:t>
            </a:r>
            <a:r>
              <a:rPr lang="en-US" altLang="zh-TW" sz="2800" i="1" baseline="-25000" dirty="0" smtClean="0"/>
              <a:t>6</a:t>
            </a:r>
            <a:r>
              <a:rPr lang="en-US" altLang="zh-TW" sz="2800" dirty="0" smtClean="0"/>
              <a:t>}		s</a:t>
            </a:r>
            <a:r>
              <a:rPr lang="en-US" altLang="zh-TW" sz="2800" baseline="-25000" dirty="0" smtClean="0"/>
              <a:t>2 </a:t>
            </a:r>
            <a:r>
              <a:rPr lang="en-US" altLang="zh-TW" sz="2800" dirty="0" smtClean="0"/>
              <a:t>= {</a:t>
            </a:r>
            <a:r>
              <a:rPr lang="en-US" altLang="zh-TW" sz="2800" i="1" dirty="0" smtClean="0"/>
              <a:t>n</a:t>
            </a:r>
            <a:r>
              <a:rPr lang="en-US" altLang="zh-TW" sz="2800" i="1" baseline="-25000" dirty="0" smtClean="0"/>
              <a:t>2</a:t>
            </a:r>
            <a:r>
              <a:rPr lang="en-US" altLang="zh-TW" sz="2800" i="1" dirty="0" smtClean="0"/>
              <a:t>,n</a:t>
            </a:r>
            <a:r>
              <a:rPr lang="en-US" altLang="zh-TW" sz="2800" i="1" baseline="-25000" dirty="0" smtClean="0"/>
              <a:t>3</a:t>
            </a:r>
            <a:r>
              <a:rPr lang="en-US" altLang="zh-TW" sz="2800" i="1" dirty="0" smtClean="0"/>
              <a:t>,n</a:t>
            </a:r>
            <a:r>
              <a:rPr lang="en-US" altLang="zh-TW" sz="2800" i="1" baseline="-25000" dirty="0" smtClean="0"/>
              <a:t>4,</a:t>
            </a:r>
            <a:r>
              <a:rPr lang="en-US" altLang="zh-TW" sz="2800" i="1" dirty="0" smtClean="0"/>
              <a:t>n</a:t>
            </a:r>
            <a:r>
              <a:rPr lang="en-US" altLang="zh-TW" sz="2800" i="1" baseline="-25000" dirty="0" smtClean="0"/>
              <a:t>7</a:t>
            </a:r>
            <a:r>
              <a:rPr lang="en-US" altLang="zh-TW" sz="2800" dirty="0" smtClean="0"/>
              <a:t>}</a:t>
            </a:r>
          </a:p>
          <a:p>
            <a:r>
              <a:rPr lang="en-US" altLang="zh-TW" sz="2800" dirty="0" smtClean="0"/>
              <a:t>s</a:t>
            </a:r>
            <a:r>
              <a:rPr lang="en-US" altLang="zh-TW" sz="2800" baseline="-25000" dirty="0" smtClean="0"/>
              <a:t>3 </a:t>
            </a:r>
            <a:r>
              <a:rPr lang="en-US" altLang="zh-TW" sz="2800" dirty="0" smtClean="0"/>
              <a:t>= {</a:t>
            </a:r>
            <a:r>
              <a:rPr lang="en-US" altLang="zh-TW" sz="2800" i="1" dirty="0" smtClean="0"/>
              <a:t>n</a:t>
            </a:r>
            <a:r>
              <a:rPr lang="en-US" altLang="zh-TW" sz="2800" i="1" baseline="-25000" dirty="0" smtClean="0"/>
              <a:t>1</a:t>
            </a:r>
            <a:r>
              <a:rPr lang="en-US" altLang="zh-TW" sz="2800" i="1" dirty="0" smtClean="0"/>
              <a:t>,n</a:t>
            </a:r>
            <a:r>
              <a:rPr lang="en-US" altLang="zh-TW" sz="2800" i="1" baseline="-25000" dirty="0" smtClean="0"/>
              <a:t>4</a:t>
            </a:r>
            <a:r>
              <a:rPr lang="en-US" altLang="zh-TW" sz="2800" i="1" dirty="0" smtClean="0"/>
              <a:t>,n</a:t>
            </a:r>
            <a:r>
              <a:rPr lang="en-US" altLang="zh-TW" sz="2800" i="1" baseline="-25000" dirty="0" smtClean="0"/>
              <a:t>7</a:t>
            </a:r>
            <a:r>
              <a:rPr lang="en-US" altLang="zh-TW" sz="2800" dirty="0" smtClean="0"/>
              <a:t>}		s</a:t>
            </a:r>
            <a:r>
              <a:rPr lang="en-US" altLang="zh-TW" sz="2800" baseline="-25000" dirty="0" smtClean="0"/>
              <a:t>4 </a:t>
            </a:r>
            <a:r>
              <a:rPr lang="en-US" altLang="zh-TW" sz="2800" dirty="0" smtClean="0"/>
              <a:t>= {</a:t>
            </a:r>
            <a:r>
              <a:rPr lang="en-US" altLang="zh-TW" sz="2800" i="1" dirty="0" smtClean="0"/>
              <a:t>n</a:t>
            </a:r>
            <a:r>
              <a:rPr lang="en-US" altLang="zh-TW" sz="2800" i="1" baseline="-25000" dirty="0" smtClean="0"/>
              <a:t>1</a:t>
            </a:r>
            <a:r>
              <a:rPr lang="en-US" altLang="zh-TW" sz="2800" i="1" dirty="0" smtClean="0"/>
              <a:t>,n</a:t>
            </a:r>
            <a:r>
              <a:rPr lang="en-US" altLang="zh-TW" sz="2800" i="1" baseline="-25000" dirty="0" smtClean="0"/>
              <a:t>3</a:t>
            </a:r>
            <a:r>
              <a:rPr lang="en-US" altLang="zh-TW" sz="2800" i="1" dirty="0" smtClean="0"/>
              <a:t>,n</a:t>
            </a:r>
            <a:r>
              <a:rPr lang="en-US" altLang="zh-TW" sz="2800" i="1" baseline="-25000" dirty="0" smtClean="0"/>
              <a:t>4</a:t>
            </a:r>
            <a:r>
              <a:rPr lang="en-US" altLang="zh-TW" sz="2800" i="1" dirty="0" smtClean="0"/>
              <a:t>,n</a:t>
            </a:r>
            <a:r>
              <a:rPr lang="en-US" altLang="zh-TW" sz="2800" i="1" baseline="-25000" dirty="0" smtClean="0"/>
              <a:t>6</a:t>
            </a:r>
            <a:r>
              <a:rPr lang="en-US" altLang="zh-TW" sz="2800" i="1" dirty="0" smtClean="0"/>
              <a:t>,n</a:t>
            </a:r>
            <a:r>
              <a:rPr lang="en-US" altLang="zh-TW" sz="2800" i="1" baseline="-25000" dirty="0" smtClean="0"/>
              <a:t>8</a:t>
            </a:r>
            <a:r>
              <a:rPr lang="en-US" altLang="zh-TW" sz="2800" dirty="0" smtClean="0"/>
              <a:t>}</a:t>
            </a:r>
          </a:p>
          <a:p>
            <a:r>
              <a:rPr lang="en-US" altLang="zh-TW" sz="2800" dirty="0" smtClean="0"/>
              <a:t>s</a:t>
            </a:r>
            <a:r>
              <a:rPr lang="en-US" altLang="zh-TW" sz="2800" baseline="-25000" dirty="0" smtClean="0"/>
              <a:t>5 </a:t>
            </a:r>
            <a:r>
              <a:rPr lang="en-US" altLang="zh-TW" sz="2800" dirty="0" smtClean="0"/>
              <a:t>= {</a:t>
            </a:r>
            <a:r>
              <a:rPr lang="en-US" altLang="zh-TW" sz="2800" i="1" dirty="0" smtClean="0"/>
              <a:t>n</a:t>
            </a:r>
            <a:r>
              <a:rPr lang="en-US" altLang="zh-TW" sz="2800" i="1" baseline="-25000" dirty="0" smtClean="0"/>
              <a:t>3</a:t>
            </a:r>
            <a:r>
              <a:rPr lang="en-US" altLang="zh-TW" sz="2800" i="1" dirty="0" smtClean="0"/>
              <a:t>,n</a:t>
            </a:r>
            <a:r>
              <a:rPr lang="en-US" altLang="zh-TW" sz="2800" i="1" baseline="-25000" dirty="0" smtClean="0"/>
              <a:t>5</a:t>
            </a:r>
            <a:r>
              <a:rPr lang="en-US" altLang="zh-TW" sz="2800" i="1" dirty="0" smtClean="0"/>
              <a:t>,n</a:t>
            </a:r>
            <a:r>
              <a:rPr lang="en-US" altLang="zh-TW" sz="2800" i="1" baseline="-25000" dirty="0" smtClean="0"/>
              <a:t>8</a:t>
            </a:r>
            <a:r>
              <a:rPr lang="en-US" altLang="zh-TW" sz="2800" dirty="0" smtClean="0"/>
              <a:t>}		s</a:t>
            </a:r>
            <a:r>
              <a:rPr lang="en-US" altLang="zh-TW" sz="2800" baseline="-25000" dirty="0" smtClean="0"/>
              <a:t>6 </a:t>
            </a:r>
            <a:r>
              <a:rPr lang="en-US" altLang="zh-TW" sz="2800" dirty="0" smtClean="0"/>
              <a:t>= {</a:t>
            </a:r>
            <a:r>
              <a:rPr lang="en-US" altLang="zh-TW" sz="2800" i="1" dirty="0" smtClean="0"/>
              <a:t>n</a:t>
            </a:r>
            <a:r>
              <a:rPr lang="en-US" altLang="zh-TW" sz="2800" i="1" baseline="-25000" dirty="0" smtClean="0"/>
              <a:t>4</a:t>
            </a:r>
            <a:r>
              <a:rPr lang="en-US" altLang="zh-TW" sz="2800" i="1" dirty="0" smtClean="0"/>
              <a:t>,n</a:t>
            </a:r>
            <a:r>
              <a:rPr lang="en-US" altLang="zh-TW" sz="2800" i="1" baseline="-25000" dirty="0" smtClean="0"/>
              <a:t>6</a:t>
            </a:r>
            <a:r>
              <a:rPr lang="en-US" altLang="zh-TW" sz="2800" i="1" dirty="0" smtClean="0"/>
              <a:t>,n</a:t>
            </a:r>
            <a:r>
              <a:rPr lang="en-US" altLang="zh-TW" sz="2800" i="1" baseline="-25000" dirty="0" smtClean="0"/>
              <a:t>9</a:t>
            </a:r>
            <a:r>
              <a:rPr lang="en-US" altLang="zh-TW" sz="2800" dirty="0" smtClean="0"/>
              <a:t>}</a:t>
            </a:r>
          </a:p>
          <a:p>
            <a:endParaRPr lang="en-US" altLang="zh-TW" sz="2800" dirty="0" smtClean="0"/>
          </a:p>
          <a:p>
            <a:r>
              <a:rPr lang="en-US" altLang="zh-TW" sz="2800" dirty="0" smtClean="0"/>
              <a:t>A = {</a:t>
            </a:r>
            <a:r>
              <a:rPr lang="en-US" altLang="zh-TW" sz="2800" i="1" dirty="0" smtClean="0"/>
              <a:t>a</a:t>
            </a:r>
            <a:r>
              <a:rPr lang="en-US" altLang="zh-TW" sz="2800" i="1" baseline="-25000" dirty="0" smtClean="0"/>
              <a:t>1</a:t>
            </a:r>
            <a:r>
              <a:rPr lang="en-US" altLang="zh-TW" sz="2800" i="1" dirty="0" smtClean="0"/>
              <a:t>,a</a:t>
            </a:r>
            <a:r>
              <a:rPr lang="en-US" altLang="zh-TW" sz="2800" i="1" baseline="-25000" dirty="0" smtClean="0"/>
              <a:t>2</a:t>
            </a:r>
            <a:r>
              <a:rPr lang="en-US" altLang="zh-TW" sz="2800" i="1" dirty="0" smtClean="0"/>
              <a:t>,a</a:t>
            </a:r>
            <a:r>
              <a:rPr lang="en-US" altLang="zh-TW" sz="2800" i="1" baseline="-25000" dirty="0" smtClean="0"/>
              <a:t>3</a:t>
            </a:r>
            <a:r>
              <a:rPr lang="en-US" altLang="zh-TW" sz="2800" dirty="0" smtClean="0"/>
              <a:t>}</a:t>
            </a:r>
          </a:p>
          <a:p>
            <a:r>
              <a:rPr lang="en-US" altLang="zh-TW" sz="2800" i="1" dirty="0" smtClean="0"/>
              <a:t>a</a:t>
            </a:r>
            <a:r>
              <a:rPr lang="en-US" altLang="zh-TW" sz="2800" baseline="-25000" dirty="0" smtClean="0"/>
              <a:t>1</a:t>
            </a:r>
            <a:r>
              <a:rPr lang="en-US" altLang="zh-TW" sz="2800" dirty="0" smtClean="0"/>
              <a:t> = {</a:t>
            </a:r>
            <a:r>
              <a:rPr lang="en-US" altLang="zh-TW" sz="2800" i="1" dirty="0" smtClean="0"/>
              <a:t>s</a:t>
            </a:r>
            <a:r>
              <a:rPr lang="en-US" altLang="zh-TW" sz="2800" i="1" baseline="-25000" dirty="0" smtClean="0"/>
              <a:t>1</a:t>
            </a:r>
            <a:r>
              <a:rPr lang="en-US" altLang="zh-TW" sz="2800" dirty="0" smtClean="0"/>
              <a:t>}		 </a:t>
            </a:r>
            <a:r>
              <a:rPr lang="en-US" altLang="zh-TW" sz="2800" i="1" dirty="0" smtClean="0"/>
              <a:t>a</a:t>
            </a:r>
            <a:r>
              <a:rPr lang="en-US" altLang="zh-TW" sz="2800" baseline="-25000" dirty="0" smtClean="0"/>
              <a:t>2</a:t>
            </a:r>
            <a:r>
              <a:rPr lang="en-US" altLang="zh-TW" sz="2800" dirty="0" smtClean="0"/>
              <a:t> = {</a:t>
            </a:r>
            <a:r>
              <a:rPr lang="en-US" altLang="zh-TW" sz="2800" i="1" dirty="0" smtClean="0"/>
              <a:t>s</a:t>
            </a:r>
            <a:r>
              <a:rPr lang="en-US" altLang="zh-TW" sz="2800" i="1" baseline="-25000" dirty="0" smtClean="0"/>
              <a:t>2</a:t>
            </a:r>
            <a:r>
              <a:rPr lang="en-US" altLang="zh-TW" sz="2800" i="1" dirty="0" smtClean="0"/>
              <a:t>,s</a:t>
            </a:r>
            <a:r>
              <a:rPr lang="en-US" altLang="zh-TW" sz="2800" i="1" baseline="-25000" dirty="0" smtClean="0"/>
              <a:t>3</a:t>
            </a:r>
            <a:r>
              <a:rPr lang="en-US" altLang="zh-TW" sz="2800" i="1" dirty="0" smtClean="0"/>
              <a:t>,s</a:t>
            </a:r>
            <a:r>
              <a:rPr lang="en-US" altLang="zh-TW" sz="2800" i="1" baseline="-25000" dirty="0" smtClean="0"/>
              <a:t>4</a:t>
            </a:r>
            <a:r>
              <a:rPr lang="en-US" altLang="zh-TW" sz="2800" dirty="0" smtClean="0"/>
              <a:t>}	</a:t>
            </a:r>
            <a:r>
              <a:rPr lang="en-US" altLang="zh-TW" sz="2800" i="1" dirty="0" smtClean="0"/>
              <a:t>a</a:t>
            </a:r>
            <a:r>
              <a:rPr lang="en-US" altLang="zh-TW" sz="2800" baseline="-25000" dirty="0" smtClean="0"/>
              <a:t>3</a:t>
            </a:r>
            <a:r>
              <a:rPr lang="en-US" altLang="zh-TW" sz="2800" dirty="0" smtClean="0"/>
              <a:t> = {</a:t>
            </a:r>
            <a:r>
              <a:rPr lang="en-US" altLang="zh-TW" sz="2800" i="1" dirty="0" smtClean="0"/>
              <a:t>s</a:t>
            </a:r>
            <a:r>
              <a:rPr lang="en-US" altLang="zh-TW" sz="2800" i="1" baseline="-25000" dirty="0" smtClean="0"/>
              <a:t>5</a:t>
            </a:r>
            <a:r>
              <a:rPr lang="en-US" altLang="zh-TW" sz="2800" i="1" dirty="0" smtClean="0"/>
              <a:t>,s</a:t>
            </a:r>
            <a:r>
              <a:rPr lang="en-US" altLang="zh-TW" sz="2800" i="1" baseline="-25000" dirty="0" smtClean="0"/>
              <a:t>6</a:t>
            </a:r>
            <a:r>
              <a:rPr lang="en-US" altLang="zh-TW" sz="2800" dirty="0" smtClean="0"/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b="1" dirty="0" smtClean="0"/>
              <a:t>Algorithm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000" dirty="0" smtClean="0"/>
              <a:t>s</a:t>
            </a:r>
            <a:r>
              <a:rPr lang="en-US" altLang="zh-TW" sz="2000" baseline="-25000" dirty="0" smtClean="0"/>
              <a:t>1 </a:t>
            </a:r>
            <a:r>
              <a:rPr lang="en-US" altLang="zh-TW" sz="2000" dirty="0" smtClean="0"/>
              <a:t>= {</a:t>
            </a:r>
            <a:r>
              <a:rPr lang="en-US" altLang="zh-TW" sz="2000" i="1" dirty="0" smtClean="0"/>
              <a:t>n</a:t>
            </a:r>
            <a:r>
              <a:rPr lang="en-US" altLang="zh-TW" sz="2000" i="1" baseline="-25000" dirty="0" smtClean="0"/>
              <a:t>2</a:t>
            </a:r>
            <a:r>
              <a:rPr lang="en-US" altLang="zh-TW" sz="2000" i="1" dirty="0" smtClean="0"/>
              <a:t>,n</a:t>
            </a:r>
            <a:r>
              <a:rPr lang="en-US" altLang="zh-TW" sz="2000" i="1" baseline="-25000" dirty="0" smtClean="0"/>
              <a:t>3</a:t>
            </a:r>
            <a:r>
              <a:rPr lang="en-US" altLang="zh-TW" sz="2000" i="1" dirty="0" smtClean="0"/>
              <a:t>,n</a:t>
            </a:r>
            <a:r>
              <a:rPr lang="en-US" altLang="zh-TW" sz="2000" i="1" baseline="-25000" dirty="0" smtClean="0"/>
              <a:t>6</a:t>
            </a:r>
            <a:r>
              <a:rPr lang="en-US" altLang="zh-TW" sz="2000" dirty="0" smtClean="0"/>
              <a:t>}		s</a:t>
            </a:r>
            <a:r>
              <a:rPr lang="en-US" altLang="zh-TW" sz="2000" baseline="-25000" dirty="0" smtClean="0"/>
              <a:t>2 </a:t>
            </a:r>
            <a:r>
              <a:rPr lang="en-US" altLang="zh-TW" sz="2000" dirty="0" smtClean="0"/>
              <a:t>= {</a:t>
            </a:r>
            <a:r>
              <a:rPr lang="en-US" altLang="zh-TW" sz="2000" i="1" dirty="0" smtClean="0"/>
              <a:t>n</a:t>
            </a:r>
            <a:r>
              <a:rPr lang="en-US" altLang="zh-TW" sz="2000" i="1" baseline="-25000" dirty="0" smtClean="0"/>
              <a:t>2</a:t>
            </a:r>
            <a:r>
              <a:rPr lang="en-US" altLang="zh-TW" sz="2000" i="1" dirty="0" smtClean="0"/>
              <a:t>,n</a:t>
            </a:r>
            <a:r>
              <a:rPr lang="en-US" altLang="zh-TW" sz="2000" i="1" baseline="-25000" dirty="0" smtClean="0"/>
              <a:t>3</a:t>
            </a:r>
            <a:r>
              <a:rPr lang="en-US" altLang="zh-TW" sz="2000" i="1" dirty="0" smtClean="0"/>
              <a:t>,n</a:t>
            </a:r>
            <a:r>
              <a:rPr lang="en-US" altLang="zh-TW" sz="2000" i="1" baseline="-25000" dirty="0" smtClean="0"/>
              <a:t>4</a:t>
            </a:r>
            <a:r>
              <a:rPr lang="en-US" altLang="zh-TW" sz="2000" i="1" dirty="0" smtClean="0"/>
              <a:t>,n</a:t>
            </a:r>
            <a:r>
              <a:rPr lang="en-US" altLang="zh-TW" sz="2000" i="1" baseline="-25000" dirty="0" smtClean="0"/>
              <a:t>7</a:t>
            </a:r>
            <a:r>
              <a:rPr lang="en-US" altLang="zh-TW" sz="2000" dirty="0" smtClean="0"/>
              <a:t>}</a:t>
            </a:r>
          </a:p>
          <a:p>
            <a:r>
              <a:rPr lang="en-US" altLang="zh-TW" sz="2000" dirty="0" smtClean="0"/>
              <a:t>s</a:t>
            </a:r>
            <a:r>
              <a:rPr lang="en-US" altLang="zh-TW" sz="2000" baseline="-25000" dirty="0" smtClean="0"/>
              <a:t>3 </a:t>
            </a:r>
            <a:r>
              <a:rPr lang="en-US" altLang="zh-TW" sz="2000" dirty="0" smtClean="0"/>
              <a:t>= {</a:t>
            </a:r>
            <a:r>
              <a:rPr lang="en-US" altLang="zh-TW" sz="2000" i="1" dirty="0" smtClean="0"/>
              <a:t>n</a:t>
            </a:r>
            <a:r>
              <a:rPr lang="en-US" altLang="zh-TW" sz="2000" i="1" baseline="-25000" dirty="0" smtClean="0"/>
              <a:t>1</a:t>
            </a:r>
            <a:r>
              <a:rPr lang="en-US" altLang="zh-TW" sz="2000" i="1" dirty="0" smtClean="0"/>
              <a:t>,n</a:t>
            </a:r>
            <a:r>
              <a:rPr lang="en-US" altLang="zh-TW" sz="2000" i="1" baseline="-25000" dirty="0" smtClean="0"/>
              <a:t>4</a:t>
            </a:r>
            <a:r>
              <a:rPr lang="en-US" altLang="zh-TW" sz="2000" i="1" dirty="0" smtClean="0"/>
              <a:t>,n</a:t>
            </a:r>
            <a:r>
              <a:rPr lang="en-US" altLang="zh-TW" sz="2000" i="1" baseline="-25000" dirty="0" smtClean="0"/>
              <a:t>7</a:t>
            </a:r>
            <a:r>
              <a:rPr lang="en-US" altLang="zh-TW" sz="2000" dirty="0" smtClean="0"/>
              <a:t>}		s</a:t>
            </a:r>
            <a:r>
              <a:rPr lang="en-US" altLang="zh-TW" sz="2000" baseline="-25000" dirty="0" smtClean="0"/>
              <a:t>4 </a:t>
            </a:r>
            <a:r>
              <a:rPr lang="en-US" altLang="zh-TW" sz="2000" dirty="0" smtClean="0"/>
              <a:t>= {</a:t>
            </a:r>
            <a:r>
              <a:rPr lang="en-US" altLang="zh-TW" sz="2000" i="1" dirty="0" smtClean="0"/>
              <a:t>n</a:t>
            </a:r>
            <a:r>
              <a:rPr lang="en-US" altLang="zh-TW" sz="2000" i="1" baseline="-25000" dirty="0" smtClean="0"/>
              <a:t>1</a:t>
            </a:r>
            <a:r>
              <a:rPr lang="en-US" altLang="zh-TW" sz="2000" i="1" dirty="0" smtClean="0"/>
              <a:t>,n</a:t>
            </a:r>
            <a:r>
              <a:rPr lang="en-US" altLang="zh-TW" sz="2000" i="1" baseline="-25000" dirty="0" smtClean="0"/>
              <a:t>3</a:t>
            </a:r>
            <a:r>
              <a:rPr lang="en-US" altLang="zh-TW" sz="2000" i="1" dirty="0" smtClean="0"/>
              <a:t>,n</a:t>
            </a:r>
            <a:r>
              <a:rPr lang="en-US" altLang="zh-TW" sz="2000" i="1" baseline="-25000" dirty="0" smtClean="0"/>
              <a:t>4</a:t>
            </a:r>
            <a:r>
              <a:rPr lang="en-US" altLang="zh-TW" sz="2000" i="1" dirty="0" smtClean="0"/>
              <a:t>,n</a:t>
            </a:r>
            <a:r>
              <a:rPr lang="en-US" altLang="zh-TW" sz="2000" i="1" baseline="-25000" dirty="0" smtClean="0"/>
              <a:t>6</a:t>
            </a:r>
            <a:r>
              <a:rPr lang="en-US" altLang="zh-TW" sz="2000" i="1" dirty="0" smtClean="0"/>
              <a:t>,n</a:t>
            </a:r>
            <a:r>
              <a:rPr lang="en-US" altLang="zh-TW" sz="2000" i="1" baseline="-25000" dirty="0" smtClean="0"/>
              <a:t>8</a:t>
            </a:r>
            <a:r>
              <a:rPr lang="en-US" altLang="zh-TW" sz="2000" dirty="0" smtClean="0"/>
              <a:t>}</a:t>
            </a:r>
          </a:p>
          <a:p>
            <a:r>
              <a:rPr lang="en-US" altLang="zh-TW" sz="2000" dirty="0" smtClean="0"/>
              <a:t>s</a:t>
            </a:r>
            <a:r>
              <a:rPr lang="en-US" altLang="zh-TW" sz="2000" baseline="-25000" dirty="0" smtClean="0"/>
              <a:t>5 </a:t>
            </a:r>
            <a:r>
              <a:rPr lang="en-US" altLang="zh-TW" sz="2000" dirty="0" smtClean="0"/>
              <a:t>= {</a:t>
            </a:r>
            <a:r>
              <a:rPr lang="en-US" altLang="zh-TW" sz="2000" i="1" dirty="0" smtClean="0"/>
              <a:t>n</a:t>
            </a:r>
            <a:r>
              <a:rPr lang="en-US" altLang="zh-TW" sz="2000" i="1" baseline="-25000" dirty="0" smtClean="0"/>
              <a:t>3</a:t>
            </a:r>
            <a:r>
              <a:rPr lang="en-US" altLang="zh-TW" sz="2000" i="1" dirty="0" smtClean="0"/>
              <a:t>,n</a:t>
            </a:r>
            <a:r>
              <a:rPr lang="en-US" altLang="zh-TW" sz="2000" i="1" baseline="-25000" dirty="0" smtClean="0"/>
              <a:t>5</a:t>
            </a:r>
            <a:r>
              <a:rPr lang="en-US" altLang="zh-TW" sz="2000" i="1" dirty="0" smtClean="0"/>
              <a:t>,n</a:t>
            </a:r>
            <a:r>
              <a:rPr lang="en-US" altLang="zh-TW" sz="2000" i="1" baseline="-25000" dirty="0" smtClean="0"/>
              <a:t>8</a:t>
            </a:r>
            <a:r>
              <a:rPr lang="en-US" altLang="zh-TW" sz="2000" dirty="0" smtClean="0"/>
              <a:t>}		s</a:t>
            </a:r>
            <a:r>
              <a:rPr lang="en-US" altLang="zh-TW" sz="2000" baseline="-25000" dirty="0" smtClean="0"/>
              <a:t>6 </a:t>
            </a:r>
            <a:r>
              <a:rPr lang="en-US" altLang="zh-TW" sz="2000" dirty="0" smtClean="0"/>
              <a:t>= {</a:t>
            </a:r>
            <a:r>
              <a:rPr lang="en-US" altLang="zh-TW" sz="2000" i="1" dirty="0" smtClean="0"/>
              <a:t>n</a:t>
            </a:r>
            <a:r>
              <a:rPr lang="en-US" altLang="zh-TW" sz="2000" i="1" baseline="-25000" dirty="0" smtClean="0"/>
              <a:t>4</a:t>
            </a:r>
            <a:r>
              <a:rPr lang="en-US" altLang="zh-TW" sz="2000" i="1" dirty="0" smtClean="0"/>
              <a:t>,n</a:t>
            </a:r>
            <a:r>
              <a:rPr lang="en-US" altLang="zh-TW" sz="2000" i="1" baseline="-25000" dirty="0" smtClean="0"/>
              <a:t>6</a:t>
            </a:r>
            <a:r>
              <a:rPr lang="en-US" altLang="zh-TW" sz="2000" i="1" dirty="0" smtClean="0"/>
              <a:t>,n</a:t>
            </a:r>
            <a:r>
              <a:rPr lang="en-US" altLang="zh-TW" sz="2000" i="1" baseline="-25000" dirty="0" smtClean="0"/>
              <a:t>9</a:t>
            </a:r>
            <a:r>
              <a:rPr lang="en-US" altLang="zh-TW" sz="2000" dirty="0" smtClean="0"/>
              <a:t>}</a:t>
            </a:r>
          </a:p>
          <a:p>
            <a:endParaRPr lang="en-US" altLang="zh-TW" sz="2000" i="1" dirty="0" smtClean="0"/>
          </a:p>
          <a:p>
            <a:r>
              <a:rPr lang="en-US" altLang="zh-TW" sz="2000" i="1" dirty="0" smtClean="0"/>
              <a:t>Stage 1</a:t>
            </a:r>
          </a:p>
          <a:p>
            <a:r>
              <a:rPr lang="en-US" altLang="zh-TW" sz="2000" i="1" dirty="0" smtClean="0"/>
              <a:t>a</a:t>
            </a:r>
            <a:r>
              <a:rPr lang="en-US" altLang="zh-TW" sz="2000" baseline="-25000" dirty="0" smtClean="0"/>
              <a:t>1</a:t>
            </a:r>
            <a:r>
              <a:rPr lang="en-US" altLang="zh-TW" sz="2000" dirty="0" smtClean="0"/>
              <a:t> = {</a:t>
            </a:r>
            <a:r>
              <a:rPr lang="en-US" altLang="zh-TW" sz="2000" i="1" dirty="0" smtClean="0">
                <a:solidFill>
                  <a:srgbClr val="FF0000"/>
                </a:solidFill>
              </a:rPr>
              <a:t>s</a:t>
            </a:r>
            <a:r>
              <a:rPr lang="en-US" altLang="zh-TW" sz="2000" i="1" baseline="-25000" dirty="0" smtClean="0">
                <a:solidFill>
                  <a:srgbClr val="FF0000"/>
                </a:solidFill>
              </a:rPr>
              <a:t>1</a:t>
            </a:r>
            <a:r>
              <a:rPr lang="en-US" altLang="zh-TW" sz="2000" dirty="0" smtClean="0"/>
              <a:t>}		 c = {</a:t>
            </a:r>
            <a:r>
              <a:rPr lang="en-US" altLang="zh-TW" sz="2000" i="1" dirty="0" smtClean="0"/>
              <a:t>n</a:t>
            </a:r>
            <a:r>
              <a:rPr lang="en-US" altLang="zh-TW" sz="2000" i="1" baseline="-25000" dirty="0" smtClean="0"/>
              <a:t>2</a:t>
            </a:r>
            <a:r>
              <a:rPr lang="en-US" altLang="zh-TW" sz="2000" i="1" dirty="0" smtClean="0"/>
              <a:t>,n</a:t>
            </a:r>
            <a:r>
              <a:rPr lang="en-US" altLang="zh-TW" sz="2000" i="1" baseline="-25000" dirty="0" smtClean="0"/>
              <a:t>3</a:t>
            </a:r>
            <a:r>
              <a:rPr lang="en-US" altLang="zh-TW" sz="2000" i="1" dirty="0" smtClean="0"/>
              <a:t>,n</a:t>
            </a:r>
            <a:r>
              <a:rPr lang="en-US" altLang="zh-TW" sz="2000" i="1" baseline="-25000" dirty="0" smtClean="0"/>
              <a:t>6</a:t>
            </a:r>
            <a:r>
              <a:rPr lang="en-US" altLang="zh-TW" sz="2000" dirty="0" smtClean="0"/>
              <a:t>}</a:t>
            </a:r>
          </a:p>
          <a:p>
            <a:r>
              <a:rPr lang="en-US" altLang="zh-TW" sz="2000" i="1" dirty="0" smtClean="0"/>
              <a:t>a</a:t>
            </a:r>
            <a:r>
              <a:rPr lang="en-US" altLang="zh-TW" sz="2000" baseline="-25000" dirty="0" smtClean="0"/>
              <a:t>2</a:t>
            </a:r>
            <a:r>
              <a:rPr lang="en-US" altLang="zh-TW" sz="2000" dirty="0" smtClean="0"/>
              <a:t> = {</a:t>
            </a:r>
            <a:r>
              <a:rPr lang="en-US" altLang="zh-TW" sz="2000" i="1" dirty="0" smtClean="0"/>
              <a:t>s</a:t>
            </a:r>
            <a:r>
              <a:rPr lang="en-US" altLang="zh-TW" sz="2000" i="1" baseline="-25000" dirty="0" smtClean="0"/>
              <a:t>2</a:t>
            </a:r>
            <a:r>
              <a:rPr lang="en-US" altLang="zh-TW" sz="2000" i="1" dirty="0" smtClean="0"/>
              <a:t>,</a:t>
            </a:r>
            <a:r>
              <a:rPr lang="en-US" altLang="zh-TW" sz="2000" i="1" dirty="0" smtClean="0">
                <a:solidFill>
                  <a:srgbClr val="FF0000"/>
                </a:solidFill>
              </a:rPr>
              <a:t>s</a:t>
            </a:r>
            <a:r>
              <a:rPr lang="en-US" altLang="zh-TW" sz="2000" i="1" baseline="-25000" dirty="0" smtClean="0">
                <a:solidFill>
                  <a:srgbClr val="FF0000"/>
                </a:solidFill>
              </a:rPr>
              <a:t>3</a:t>
            </a:r>
            <a:r>
              <a:rPr lang="en-US" altLang="zh-TW" sz="2000" i="1" dirty="0" smtClean="0"/>
              <a:t>,</a:t>
            </a:r>
            <a:r>
              <a:rPr lang="en-US" altLang="zh-TW" sz="2000" i="1" dirty="0" smtClean="0">
                <a:solidFill>
                  <a:srgbClr val="FF0000"/>
                </a:solidFill>
              </a:rPr>
              <a:t>s</a:t>
            </a:r>
            <a:r>
              <a:rPr lang="en-US" altLang="zh-TW" sz="2000" i="1" baseline="-25000" dirty="0" smtClean="0">
                <a:solidFill>
                  <a:srgbClr val="FF0000"/>
                </a:solidFill>
              </a:rPr>
              <a:t>4</a:t>
            </a:r>
            <a:r>
              <a:rPr lang="en-US" altLang="zh-TW" sz="2000" dirty="0" smtClean="0"/>
              <a:t>}		c = {</a:t>
            </a:r>
            <a:r>
              <a:rPr lang="en-US" altLang="zh-TW" sz="2000" i="1" dirty="0" smtClean="0"/>
              <a:t>n</a:t>
            </a:r>
            <a:r>
              <a:rPr lang="en-US" altLang="zh-TW" sz="2000" i="1" baseline="-25000" dirty="0" smtClean="0"/>
              <a:t>1</a:t>
            </a:r>
            <a:r>
              <a:rPr lang="en-US" altLang="zh-TW" sz="2000" i="1" dirty="0" smtClean="0"/>
              <a:t>,n</a:t>
            </a:r>
            <a:r>
              <a:rPr lang="en-US" altLang="zh-TW" sz="2000" i="1" baseline="-25000" dirty="0" smtClean="0"/>
              <a:t>2</a:t>
            </a:r>
            <a:r>
              <a:rPr lang="en-US" altLang="zh-TW" sz="2000" i="1" dirty="0" smtClean="0"/>
              <a:t>,n</a:t>
            </a:r>
            <a:r>
              <a:rPr lang="en-US" altLang="zh-TW" sz="2000" i="1" baseline="-25000" dirty="0" smtClean="0"/>
              <a:t>3</a:t>
            </a:r>
            <a:r>
              <a:rPr lang="en-US" altLang="zh-TW" sz="2000" i="1" dirty="0" smtClean="0"/>
              <a:t>,n</a:t>
            </a:r>
            <a:r>
              <a:rPr lang="en-US" altLang="zh-TW" sz="2000" i="1" baseline="-25000" dirty="0" smtClean="0"/>
              <a:t>4</a:t>
            </a:r>
            <a:r>
              <a:rPr lang="en-US" altLang="zh-TW" sz="2000" i="1" dirty="0" smtClean="0"/>
              <a:t>,n</a:t>
            </a:r>
            <a:r>
              <a:rPr lang="en-US" altLang="zh-TW" sz="2000" i="1" baseline="-25000" dirty="0" smtClean="0"/>
              <a:t>6</a:t>
            </a:r>
            <a:r>
              <a:rPr lang="en-US" altLang="zh-TW" sz="2000" i="1" dirty="0" smtClean="0"/>
              <a:t>, n</a:t>
            </a:r>
            <a:r>
              <a:rPr lang="en-US" altLang="zh-TW" sz="2000" i="1" baseline="-25000" dirty="0" smtClean="0"/>
              <a:t>7</a:t>
            </a:r>
            <a:r>
              <a:rPr lang="en-US" altLang="zh-TW" sz="2000" i="1" dirty="0" smtClean="0"/>
              <a:t>,n</a:t>
            </a:r>
            <a:r>
              <a:rPr lang="en-US" altLang="zh-TW" sz="2000" i="1" baseline="-25000" dirty="0" smtClean="0"/>
              <a:t>8</a:t>
            </a:r>
            <a:r>
              <a:rPr lang="en-US" altLang="zh-TW" sz="2000" dirty="0" smtClean="0"/>
              <a:t>}</a:t>
            </a:r>
          </a:p>
          <a:p>
            <a:r>
              <a:rPr lang="en-US" altLang="zh-TW" sz="2000" i="1" dirty="0" smtClean="0"/>
              <a:t>a</a:t>
            </a:r>
            <a:r>
              <a:rPr lang="en-US" altLang="zh-TW" sz="2000" baseline="-25000" dirty="0" smtClean="0"/>
              <a:t>3</a:t>
            </a:r>
            <a:r>
              <a:rPr lang="en-US" altLang="zh-TW" sz="2000" dirty="0" smtClean="0"/>
              <a:t> = {</a:t>
            </a:r>
            <a:r>
              <a:rPr lang="en-US" altLang="zh-TW" sz="2000" i="1" dirty="0" smtClean="0">
                <a:solidFill>
                  <a:srgbClr val="FF0000"/>
                </a:solidFill>
              </a:rPr>
              <a:t>s</a:t>
            </a:r>
            <a:r>
              <a:rPr lang="en-US" altLang="zh-TW" sz="2000" i="1" baseline="-25000" dirty="0" smtClean="0">
                <a:solidFill>
                  <a:srgbClr val="FF0000"/>
                </a:solidFill>
              </a:rPr>
              <a:t>5</a:t>
            </a:r>
            <a:r>
              <a:rPr lang="en-US" altLang="zh-TW" sz="2000" i="1" dirty="0" smtClean="0"/>
              <a:t>,s</a:t>
            </a:r>
            <a:r>
              <a:rPr lang="en-US" altLang="zh-TW" sz="2000" i="1" baseline="-25000" dirty="0" smtClean="0"/>
              <a:t>6</a:t>
            </a:r>
            <a:r>
              <a:rPr lang="en-US" altLang="zh-TW" sz="2000" dirty="0" smtClean="0"/>
              <a:t>}		c = {</a:t>
            </a:r>
            <a:r>
              <a:rPr lang="en-US" altLang="zh-TW" sz="2000" i="1" dirty="0" smtClean="0"/>
              <a:t>n</a:t>
            </a:r>
            <a:r>
              <a:rPr lang="en-US" altLang="zh-TW" sz="2000" i="1" baseline="-25000" dirty="0" smtClean="0"/>
              <a:t>1</a:t>
            </a:r>
            <a:r>
              <a:rPr lang="en-US" altLang="zh-TW" sz="2000" i="1" dirty="0" smtClean="0"/>
              <a:t>,n</a:t>
            </a:r>
            <a:r>
              <a:rPr lang="en-US" altLang="zh-TW" sz="2000" i="1" baseline="-25000" dirty="0" smtClean="0"/>
              <a:t>2</a:t>
            </a:r>
            <a:r>
              <a:rPr lang="en-US" altLang="zh-TW" sz="2000" i="1" dirty="0" smtClean="0"/>
              <a:t>,n</a:t>
            </a:r>
            <a:r>
              <a:rPr lang="en-US" altLang="zh-TW" sz="2000" i="1" baseline="-25000" dirty="0" smtClean="0"/>
              <a:t>3</a:t>
            </a:r>
            <a:r>
              <a:rPr lang="en-US" altLang="zh-TW" sz="2000" i="1" dirty="0" smtClean="0"/>
              <a:t>,n</a:t>
            </a:r>
            <a:r>
              <a:rPr lang="en-US" altLang="zh-TW" sz="2000" i="1" baseline="-25000" dirty="0" smtClean="0"/>
              <a:t>4</a:t>
            </a:r>
            <a:r>
              <a:rPr lang="en-US" altLang="zh-TW" sz="2000" i="1" dirty="0" smtClean="0"/>
              <a:t>,n</a:t>
            </a:r>
            <a:r>
              <a:rPr lang="en-US" altLang="zh-TW" sz="2000" i="1" baseline="-25000" dirty="0" smtClean="0"/>
              <a:t>5</a:t>
            </a:r>
            <a:r>
              <a:rPr lang="en-US" altLang="zh-TW" sz="2000" i="1" dirty="0" smtClean="0"/>
              <a:t>,n</a:t>
            </a:r>
            <a:r>
              <a:rPr lang="en-US" altLang="zh-TW" sz="2000" i="1" baseline="-25000" dirty="0" smtClean="0"/>
              <a:t>6</a:t>
            </a:r>
            <a:r>
              <a:rPr lang="en-US" altLang="zh-TW" sz="2000" i="1" dirty="0" smtClean="0"/>
              <a:t>,n</a:t>
            </a:r>
            <a:r>
              <a:rPr lang="en-US" altLang="zh-TW" sz="2000" i="1" baseline="-25000" dirty="0" smtClean="0"/>
              <a:t>7</a:t>
            </a:r>
            <a:r>
              <a:rPr lang="en-US" altLang="zh-TW" sz="2000" i="1" dirty="0" smtClean="0"/>
              <a:t>,n</a:t>
            </a:r>
            <a:r>
              <a:rPr lang="en-US" altLang="zh-TW" sz="2000" i="1" baseline="-25000" dirty="0" smtClean="0"/>
              <a:t>8</a:t>
            </a:r>
            <a:r>
              <a:rPr lang="en-US" altLang="zh-TW" sz="2000" dirty="0" smtClean="0"/>
              <a:t>}</a:t>
            </a:r>
          </a:p>
          <a:p>
            <a:endParaRPr lang="en-US" altLang="zh-TW" sz="2000" dirty="0" smtClean="0"/>
          </a:p>
          <a:p>
            <a:r>
              <a:rPr lang="en-US" altLang="zh-TW" sz="2000" i="1" dirty="0" smtClean="0"/>
              <a:t>Stage 2</a:t>
            </a:r>
            <a:endParaRPr lang="en-US" altLang="zh-TW" sz="2000" dirty="0" smtClean="0"/>
          </a:p>
          <a:p>
            <a:r>
              <a:rPr lang="en-US" altLang="zh-TW" sz="2000" i="1" dirty="0" smtClean="0"/>
              <a:t>a</a:t>
            </a:r>
            <a:r>
              <a:rPr lang="en-US" altLang="zh-TW" sz="2000" baseline="-25000" dirty="0" smtClean="0"/>
              <a:t>3</a:t>
            </a:r>
            <a:r>
              <a:rPr lang="en-US" altLang="zh-TW" sz="2000" dirty="0" smtClean="0"/>
              <a:t> = {</a:t>
            </a:r>
            <a:r>
              <a:rPr lang="en-US" altLang="zh-TW" sz="2000" i="1" dirty="0" smtClean="0">
                <a:solidFill>
                  <a:schemeClr val="bg1">
                    <a:lumMod val="50000"/>
                  </a:schemeClr>
                </a:solidFill>
              </a:rPr>
              <a:t>s</a:t>
            </a:r>
            <a:r>
              <a:rPr lang="en-US" altLang="zh-TW" sz="2000" i="1" baseline="-25000" dirty="0" smtClean="0">
                <a:solidFill>
                  <a:schemeClr val="bg1">
                    <a:lumMod val="50000"/>
                  </a:schemeClr>
                </a:solidFill>
              </a:rPr>
              <a:t>5</a:t>
            </a:r>
            <a:r>
              <a:rPr lang="en-US" altLang="zh-TW" sz="2000" i="1" dirty="0" smtClean="0"/>
              <a:t>,</a:t>
            </a:r>
            <a:r>
              <a:rPr lang="en-US" altLang="zh-TW" sz="2000" i="1" dirty="0" smtClean="0">
                <a:solidFill>
                  <a:srgbClr val="FF0000"/>
                </a:solidFill>
              </a:rPr>
              <a:t>s</a:t>
            </a:r>
            <a:r>
              <a:rPr lang="en-US" altLang="zh-TW" sz="2000" i="1" baseline="-25000" dirty="0" smtClean="0">
                <a:solidFill>
                  <a:srgbClr val="FF0000"/>
                </a:solidFill>
              </a:rPr>
              <a:t>6</a:t>
            </a:r>
            <a:r>
              <a:rPr lang="en-US" altLang="zh-TW" sz="2000" dirty="0" smtClean="0"/>
              <a:t>}		c = {</a:t>
            </a:r>
            <a:r>
              <a:rPr lang="en-US" altLang="zh-TW" sz="2000" i="1" dirty="0" smtClean="0"/>
              <a:t>n</a:t>
            </a:r>
            <a:r>
              <a:rPr lang="en-US" altLang="zh-TW" sz="2000" i="1" baseline="-25000" dirty="0" smtClean="0"/>
              <a:t>1</a:t>
            </a:r>
            <a:r>
              <a:rPr lang="en-US" altLang="zh-TW" sz="2000" i="1" dirty="0" smtClean="0"/>
              <a:t>,n</a:t>
            </a:r>
            <a:r>
              <a:rPr lang="en-US" altLang="zh-TW" sz="2000" i="1" baseline="-25000" dirty="0" smtClean="0"/>
              <a:t>2</a:t>
            </a:r>
            <a:r>
              <a:rPr lang="en-US" altLang="zh-TW" sz="2000" i="1" dirty="0" smtClean="0"/>
              <a:t>,n</a:t>
            </a:r>
            <a:r>
              <a:rPr lang="en-US" altLang="zh-TW" sz="2000" i="1" baseline="-25000" dirty="0" smtClean="0"/>
              <a:t>3</a:t>
            </a:r>
            <a:r>
              <a:rPr lang="en-US" altLang="zh-TW" sz="2000" i="1" dirty="0" smtClean="0"/>
              <a:t>,n</a:t>
            </a:r>
            <a:r>
              <a:rPr lang="en-US" altLang="zh-TW" sz="2000" i="1" baseline="-25000" dirty="0" smtClean="0"/>
              <a:t>4</a:t>
            </a:r>
            <a:r>
              <a:rPr lang="en-US" altLang="zh-TW" sz="2000" i="1" dirty="0" smtClean="0"/>
              <a:t>,n</a:t>
            </a:r>
            <a:r>
              <a:rPr lang="en-US" altLang="zh-TW" sz="2000" i="1" baseline="-25000" dirty="0" smtClean="0"/>
              <a:t>5</a:t>
            </a:r>
            <a:r>
              <a:rPr lang="en-US" altLang="zh-TW" sz="2000" i="1" dirty="0" smtClean="0"/>
              <a:t>,n</a:t>
            </a:r>
            <a:r>
              <a:rPr lang="en-US" altLang="zh-TW" sz="2000" i="1" baseline="-25000" dirty="0" smtClean="0"/>
              <a:t>6</a:t>
            </a:r>
            <a:r>
              <a:rPr lang="en-US" altLang="zh-TW" sz="2000" i="1" dirty="0" smtClean="0"/>
              <a:t>,n</a:t>
            </a:r>
            <a:r>
              <a:rPr lang="en-US" altLang="zh-TW" sz="2000" i="1" baseline="-25000" dirty="0" smtClean="0"/>
              <a:t>7</a:t>
            </a:r>
            <a:r>
              <a:rPr lang="en-US" altLang="zh-TW" sz="2000" i="1" dirty="0" smtClean="0"/>
              <a:t>,n</a:t>
            </a:r>
            <a:r>
              <a:rPr lang="en-US" altLang="zh-TW" sz="2000" i="1" baseline="-25000" dirty="0" smtClean="0"/>
              <a:t>8</a:t>
            </a:r>
            <a:r>
              <a:rPr lang="en-US" altLang="zh-TW" sz="2000" i="1" dirty="0" smtClean="0"/>
              <a:t>,n</a:t>
            </a:r>
            <a:r>
              <a:rPr lang="en-US" altLang="zh-TW" sz="2000" i="1" baseline="-25000" dirty="0" smtClean="0"/>
              <a:t>9</a:t>
            </a:r>
            <a:r>
              <a:rPr lang="en-US" altLang="zh-TW" sz="2000" dirty="0" smtClean="0"/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b="1" dirty="0" smtClean="0"/>
              <a:t>Claim 3.1. </a:t>
            </a:r>
            <a:r>
              <a:rPr lang="en-US" altLang="zh-TW" sz="3200" b="1" i="1" dirty="0" smtClean="0"/>
              <a:t>At step k≥1 of Algorithm at least n</a:t>
            </a:r>
            <a:r>
              <a:rPr lang="en-US" altLang="zh-TW" sz="3200" b="1" i="1" baseline="-25000" dirty="0" smtClean="0"/>
              <a:t>k−1</a:t>
            </a:r>
            <a:r>
              <a:rPr lang="en-US" altLang="zh-TW" sz="3200" b="1" i="1" dirty="0" smtClean="0"/>
              <a:t>/opt</a:t>
            </a:r>
            <a:r>
              <a:rPr lang="en-US" altLang="zh-TW" sz="3200" b="1" i="1" baseline="-25000" dirty="0" smtClean="0"/>
              <a:t>k−1</a:t>
            </a:r>
            <a:r>
              <a:rPr lang="en-US" altLang="zh-TW" sz="3200" b="1" i="1" dirty="0" smtClean="0"/>
              <a:t> elements in U are covered.</a:t>
            </a:r>
            <a:endParaRPr lang="zh-TW" altLang="en-US" sz="3200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zh-TW" b="1" dirty="0" smtClean="0">
                <a:latin typeface="Times New Roman" pitchFamily="18" charset="0"/>
                <a:cs typeface="Times New Roman" pitchFamily="18" charset="0"/>
              </a:rPr>
              <a:t>Proof.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main observation is that any optimal algorithm covers all the elements in opt stages. Obviously, there exists a stage in which at least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n/OPT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elements are covered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Since the order of the stages does not change opt, </a:t>
            </a:r>
            <a:r>
              <a:rPr lang="en-US" altLang="zh-TW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assume without loss of generality that at stage 1 any optimal algorithm covers at least </a:t>
            </a:r>
            <a:r>
              <a:rPr lang="en-US" altLang="zh-TW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n/OPT </a:t>
            </a:r>
            <a:r>
              <a:rPr lang="en-US" altLang="zh-TW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elements</a:t>
            </a:r>
            <a:r>
              <a:rPr lang="en-US" altLang="zh-TW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Thus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, if  k =1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then, since Algorithm picks a set that covers the maximum number of elements, </a:t>
            </a:r>
            <a:r>
              <a:rPr lang="en-US" altLang="zh-TW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it holds that at least </a:t>
            </a:r>
            <a:r>
              <a:rPr lang="en-US" altLang="zh-TW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n/OPT = n</a:t>
            </a:r>
            <a:r>
              <a:rPr lang="en-US" altLang="zh-TW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k−1</a:t>
            </a:r>
            <a:r>
              <a:rPr lang="en-US" altLang="zh-TW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/opt</a:t>
            </a:r>
            <a:r>
              <a:rPr lang="en-US" altLang="zh-TW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k−1</a:t>
            </a:r>
            <a:r>
              <a:rPr lang="en-US" altLang="zh-TW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elements are covered at</a:t>
            </a:r>
            <a:r>
              <a:rPr lang="en-US" altLang="zh-TW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step</a:t>
            </a:r>
            <a:r>
              <a:rPr lang="en-US" altLang="zh-TW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k. </a:t>
            </a:r>
          </a:p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If  k &gt; 1 then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an optimal algorithm covers all the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n−1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remaining elements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U \ C</a:t>
            </a:r>
            <a:r>
              <a:rPr lang="en-US" altLang="zh-TW" i="1" baseline="-25000" dirty="0" smtClean="0">
                <a:latin typeface="Times New Roman" pitchFamily="18" charset="0"/>
                <a:cs typeface="Times New Roman" pitchFamily="18" charset="0"/>
              </a:rPr>
              <a:t>k−1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opt </a:t>
            </a:r>
            <a:r>
              <a:rPr lang="en-US" altLang="zh-TW" i="1" baseline="-25000" dirty="0" smtClean="0">
                <a:latin typeface="Times New Roman" pitchFamily="18" charset="0"/>
                <a:cs typeface="Times New Roman" pitchFamily="18" charset="0"/>
              </a:rPr>
              <a:t>k−1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steps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Since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Algorithm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picks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 set that covers the maximum number of remaining elements, </a:t>
            </a:r>
            <a:r>
              <a:rPr lang="en-US" altLang="zh-TW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it holds that at least </a:t>
            </a:r>
            <a:r>
              <a:rPr lang="en-US" altLang="zh-TW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k−1</a:t>
            </a:r>
            <a:r>
              <a:rPr lang="en-US" altLang="zh-TW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/opt</a:t>
            </a:r>
            <a:r>
              <a:rPr lang="en-US" altLang="zh-TW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k−1</a:t>
            </a:r>
            <a:r>
              <a:rPr lang="en-US" altLang="zh-TW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elements are</a:t>
            </a:r>
            <a:r>
              <a:rPr lang="en-US" altLang="zh-TW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covered at step 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 smtClean="0"/>
              <a:t>Lemma </a:t>
            </a:r>
            <a:r>
              <a:rPr lang="en-US" altLang="zh-TW" i="1" dirty="0" err="1" smtClean="0"/>
              <a:t>n</a:t>
            </a:r>
            <a:r>
              <a:rPr lang="en-US" altLang="zh-TW" i="1" baseline="-25000" dirty="0" err="1" smtClean="0"/>
              <a:t>k</a:t>
            </a:r>
            <a:r>
              <a:rPr lang="en-US" altLang="zh-TW" i="1" dirty="0" smtClean="0"/>
              <a:t> ≤ n(1 −1/OPT)</a:t>
            </a:r>
            <a:r>
              <a:rPr lang="en-US" altLang="zh-TW" i="1" baseline="30000" dirty="0" smtClean="0"/>
              <a:t>k</a:t>
            </a:r>
            <a:endParaRPr lang="zh-TW" altLang="en-US" baseline="30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Using the above claim and the observation that for all </a:t>
            </a:r>
            <a:r>
              <a:rPr lang="en-US" altLang="zh-TW" i="1" dirty="0" err="1" smtClean="0"/>
              <a:t>opt</a:t>
            </a:r>
            <a:r>
              <a:rPr lang="en-US" altLang="zh-TW" i="1" baseline="-25000" dirty="0" err="1" smtClean="0"/>
              <a:t>k</a:t>
            </a:r>
            <a:r>
              <a:rPr lang="en-US" altLang="zh-TW" i="1" dirty="0" smtClean="0"/>
              <a:t> ≤ </a:t>
            </a:r>
            <a:r>
              <a:rPr lang="en-US" altLang="zh-TW" dirty="0" smtClean="0"/>
              <a:t>OPT</a:t>
            </a:r>
          </a:p>
          <a:p>
            <a:endParaRPr lang="en-US" altLang="zh-TW" i="1" dirty="0" smtClean="0"/>
          </a:p>
          <a:p>
            <a:endParaRPr lang="zh-TW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2643182"/>
            <a:ext cx="5359682" cy="3143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Lemma </a:t>
            </a:r>
            <a:r>
              <a:rPr lang="en-US" altLang="zh-TW" i="1" dirty="0" err="1" smtClean="0"/>
              <a:t>n</a:t>
            </a:r>
            <a:r>
              <a:rPr lang="en-US" altLang="zh-TW" i="1" baseline="-25000" dirty="0" err="1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zh-TW" i="1" dirty="0" smtClean="0"/>
              <a:t> ≤ n(1 −1/opt)</a:t>
            </a:r>
            <a:r>
              <a:rPr lang="en-US" altLang="zh-TW" i="1" baseline="30000" dirty="0" smtClean="0">
                <a:latin typeface="Times New Roman" pitchFamily="18" charset="0"/>
                <a:cs typeface="Times New Roman" pitchFamily="18" charset="0"/>
              </a:rPr>
              <a:t>l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355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14414" y="1428736"/>
            <a:ext cx="6926395" cy="4786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2400" b="1" dirty="0" smtClean="0"/>
              <a:t>Theorem  </a:t>
            </a:r>
            <a:r>
              <a:rPr lang="en-US" altLang="zh-TW" sz="2400" b="1" i="1" dirty="0" smtClean="0"/>
              <a:t>Algorithm gives an approximation ratio of </a:t>
            </a:r>
            <a:r>
              <a:rPr lang="en-US" altLang="zh-TW" sz="2400" i="1" dirty="0" smtClean="0"/>
              <a:t>O(</a:t>
            </a:r>
            <a:r>
              <a:rPr lang="en-US" altLang="zh-TW" sz="2400" i="1" dirty="0" err="1" smtClean="0"/>
              <a:t>logn</a:t>
            </a:r>
            <a:r>
              <a:rPr lang="en-US" altLang="zh-TW" sz="2400" i="1" dirty="0" smtClean="0"/>
              <a:t>).</a:t>
            </a:r>
            <a:endParaRPr lang="zh-TW" altLang="en-US" sz="24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TW" i="1" dirty="0" smtClean="0"/>
              <a:t>	</a:t>
            </a:r>
            <a:r>
              <a:rPr lang="en-US" altLang="zh-TW" i="1" dirty="0" err="1" smtClean="0"/>
              <a:t>n</a:t>
            </a:r>
            <a:r>
              <a:rPr lang="en-US" altLang="zh-TW" i="1" baseline="-25000" dirty="0" err="1" smtClean="0"/>
              <a:t>k</a:t>
            </a:r>
            <a:r>
              <a:rPr lang="en-US" altLang="zh-TW" i="1" dirty="0" smtClean="0"/>
              <a:t> ≤ 1</a:t>
            </a:r>
          </a:p>
          <a:p>
            <a:endParaRPr lang="en-US" altLang="zh-TW" i="1" dirty="0" smtClean="0"/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055" name="Rectangle 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57224" y="2285992"/>
            <a:ext cx="2000264" cy="793493"/>
          </a:xfrm>
          <a:prstGeom prst="rect">
            <a:avLst/>
          </a:prstGeom>
          <a:noFill/>
        </p:spPr>
      </p:pic>
      <p:graphicFrame>
        <p:nvGraphicFramePr>
          <p:cNvPr id="10" name="物件 9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p:oleObj spid="_x0000_s2056" name="方程式" r:id="rId4" imgW="114120" imgH="215640" progId="Equation.3">
              <p:embed/>
            </p:oleObj>
          </a:graphicData>
        </a:graphic>
      </p:graphicFrame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059" name="Picture 11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57224" y="3286124"/>
            <a:ext cx="3143272" cy="1005847"/>
          </a:xfrm>
          <a:prstGeom prst="rect">
            <a:avLst/>
          </a:prstGeom>
          <a:noFill/>
        </p:spPr>
      </p:pic>
      <p:pic>
        <p:nvPicPr>
          <p:cNvPr id="2061" name="Picture 1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85786" y="4500570"/>
            <a:ext cx="3143272" cy="1504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2400" b="1" dirty="0" smtClean="0"/>
              <a:t>Theorem  </a:t>
            </a:r>
            <a:r>
              <a:rPr lang="en-US" altLang="zh-TW" sz="2400" b="1" i="1" dirty="0" smtClean="0"/>
              <a:t>Algorithm gives an approximation ratio of </a:t>
            </a:r>
            <a:r>
              <a:rPr lang="en-US" altLang="zh-TW" sz="2400" i="1" dirty="0" smtClean="0"/>
              <a:t>O(</a:t>
            </a:r>
            <a:r>
              <a:rPr lang="en-US" altLang="zh-TW" sz="2400" i="1" dirty="0" err="1" smtClean="0"/>
              <a:t>logn</a:t>
            </a:r>
            <a:r>
              <a:rPr lang="en-US" altLang="zh-TW" sz="2400" i="1" dirty="0" smtClean="0"/>
              <a:t>).</a:t>
            </a:r>
            <a:endParaRPr lang="zh-TW" altLang="en-US" sz="24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TW" dirty="0" smtClean="0"/>
              <a:t>According to the Taylor series we have that</a:t>
            </a:r>
          </a:p>
          <a:p>
            <a:pPr>
              <a:buNone/>
            </a:pPr>
            <a:r>
              <a:rPr lang="en-US" altLang="zh-TW" dirty="0" smtClean="0"/>
              <a:t>					for 0 ≤ </a:t>
            </a:r>
            <a:r>
              <a:rPr lang="en-US" altLang="zh-TW" i="1" dirty="0" smtClean="0"/>
              <a:t>c ≤ 1/OPT</a:t>
            </a:r>
          </a:p>
          <a:p>
            <a:pPr>
              <a:buNone/>
            </a:pPr>
            <a:endParaRPr lang="en-US" altLang="zh-TW" dirty="0" smtClean="0"/>
          </a:p>
          <a:p>
            <a:pPr>
              <a:buNone/>
            </a:pPr>
            <a:endParaRPr lang="zh-TW" altLang="en-US" dirty="0"/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2143116"/>
            <a:ext cx="3195227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472" y="2857496"/>
            <a:ext cx="3929090" cy="28139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599</Words>
  <PresentationFormat>如螢幕大小 (4:3)</PresentationFormat>
  <Paragraphs>44</Paragraphs>
  <Slides>10</Slides>
  <Notes>0</Notes>
  <HiddenSlides>0</HiddenSlides>
  <MMClips>0</MMClips>
  <ScaleCrop>false</ScaleCrop>
  <HeadingPairs>
    <vt:vector size="6" baseType="variant"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2" baseType="lpstr">
      <vt:lpstr>Office 佈景主題</vt:lpstr>
      <vt:lpstr>方程式</vt:lpstr>
      <vt:lpstr>A theta(logn)-approximation for the set cover problem with set ownership</vt:lpstr>
      <vt:lpstr>A b s t r a c t</vt:lpstr>
      <vt:lpstr>Problem Validation Set Cover (VSC). </vt:lpstr>
      <vt:lpstr>Example</vt:lpstr>
      <vt:lpstr>Algorithm</vt:lpstr>
      <vt:lpstr>Claim 3.1. At step k≥1 of Algorithm at least nk−1/optk−1 elements in U are covered.</vt:lpstr>
      <vt:lpstr>Lemma nk ≤ n(1 −1/OPT)k</vt:lpstr>
      <vt:lpstr>Lemma nl ≤ n(1 −1/opt)l</vt:lpstr>
      <vt:lpstr>Theorem  Algorithm gives an approximation ratio of O(logn).</vt:lpstr>
      <vt:lpstr>Theorem  Algorithm gives an approximation ratio of O(logn).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(logn)-approximation for the set cover problem with set ownership</dc:title>
  <cp:lastModifiedBy>Sephiroth</cp:lastModifiedBy>
  <cp:revision>36</cp:revision>
  <dcterms:modified xsi:type="dcterms:W3CDTF">2009-04-29T08:01:40Z</dcterms:modified>
</cp:coreProperties>
</file>