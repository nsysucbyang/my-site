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2009/9/29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Prediction of the disulfide-bonding state of </a:t>
            </a:r>
            <a:r>
              <a:rPr lang="en-US" altLang="zh-TW" sz="2800" dirty="0" err="1" smtClean="0"/>
              <a:t>cysteines</a:t>
            </a:r>
            <a:r>
              <a:rPr lang="en-US" altLang="zh-TW" sz="2800" dirty="0" smtClean="0"/>
              <a:t> in </a:t>
            </a:r>
            <a:r>
              <a:rPr lang="en-US" altLang="zh-TW" sz="2800" dirty="0" smtClean="0"/>
              <a:t>proteins based </a:t>
            </a:r>
            <a:r>
              <a:rPr lang="en-US" altLang="zh-TW" sz="2800" dirty="0" smtClean="0"/>
              <a:t>on </a:t>
            </a:r>
            <a:r>
              <a:rPr lang="en-US" altLang="zh-TW" sz="2800" dirty="0" err="1" smtClean="0"/>
              <a:t>dipeptide</a:t>
            </a:r>
            <a:r>
              <a:rPr lang="en-US" altLang="zh-TW" sz="2800" dirty="0" smtClean="0"/>
              <a:t> </a:t>
            </a:r>
            <a:r>
              <a:rPr lang="en-US" altLang="zh-TW" sz="2800" dirty="0" smtClean="0"/>
              <a:t>composition</a:t>
            </a:r>
            <a:endParaRPr lang="zh-TW" altLang="en-US" sz="2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 smtClean="0">
                <a:solidFill>
                  <a:schemeClr val="tx1"/>
                </a:solidFill>
              </a:rPr>
              <a:t>Jiang-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Ning</a:t>
            </a:r>
            <a:r>
              <a:rPr lang="en-US" altLang="zh-TW" sz="1800" dirty="0" smtClean="0">
                <a:solidFill>
                  <a:schemeClr val="tx1"/>
                </a:solidFill>
              </a:rPr>
              <a:t> </a:t>
            </a:r>
            <a:r>
              <a:rPr lang="en-US" altLang="zh-TW" sz="1800" dirty="0" smtClean="0">
                <a:solidFill>
                  <a:schemeClr val="tx1"/>
                </a:solidFill>
              </a:rPr>
              <a:t>Song, </a:t>
            </a:r>
            <a:r>
              <a:rPr lang="en-US" altLang="zh-TW" sz="1800" dirty="0" smtClean="0">
                <a:solidFill>
                  <a:schemeClr val="tx1"/>
                </a:solidFill>
              </a:rPr>
              <a:t>Ming-Lei </a:t>
            </a:r>
            <a:r>
              <a:rPr lang="en-US" altLang="zh-TW" sz="1800" dirty="0" smtClean="0">
                <a:solidFill>
                  <a:schemeClr val="tx1"/>
                </a:solidFill>
              </a:rPr>
              <a:t>Wang, </a:t>
            </a:r>
            <a:r>
              <a:rPr lang="en-US" altLang="zh-TW" sz="1800" dirty="0" smtClean="0">
                <a:solidFill>
                  <a:schemeClr val="tx1"/>
                </a:solidFill>
              </a:rPr>
              <a:t>Wei-Jiang </a:t>
            </a:r>
            <a:r>
              <a:rPr lang="en-US" altLang="zh-TW" sz="1800" dirty="0" smtClean="0">
                <a:solidFill>
                  <a:schemeClr val="tx1"/>
                </a:solidFill>
              </a:rPr>
              <a:t>Li </a:t>
            </a:r>
            <a:r>
              <a:rPr lang="en-US" altLang="zh-TW" sz="1800" dirty="0" smtClean="0">
                <a:solidFill>
                  <a:schemeClr val="tx1"/>
                </a:solidFill>
              </a:rPr>
              <a:t>and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Wen</a:t>
            </a:r>
            <a:r>
              <a:rPr lang="en-US" altLang="zh-TW" sz="1800" dirty="0" smtClean="0">
                <a:solidFill>
                  <a:schemeClr val="tx1"/>
                </a:solidFill>
              </a:rPr>
              <a:t>-Bo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Xu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endParaRPr lang="en-US" altLang="zh-TW" sz="1800" dirty="0" smtClean="0">
              <a:solidFill>
                <a:schemeClr val="tx1"/>
              </a:solidFill>
            </a:endParaRPr>
          </a:p>
          <a:p>
            <a:r>
              <a:rPr lang="en-US" altLang="zh-TW" sz="2000" dirty="0">
                <a:solidFill>
                  <a:schemeClr val="tx1"/>
                </a:solidFill>
              </a:rPr>
              <a:t>Biochemical and Biophysical Research Communications 318 (2004) 142–147</a:t>
            </a:r>
          </a:p>
          <a:p>
            <a:endParaRPr lang="zh-TW" altLang="en-US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56325" y="5345113"/>
            <a:ext cx="1960024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400" dirty="0"/>
              <a:t>Presenter : </a:t>
            </a:r>
            <a:r>
              <a:rPr lang="en-US" altLang="zh-TW" sz="1400" dirty="0" err="1"/>
              <a:t>Chih</a:t>
            </a:r>
            <a:r>
              <a:rPr lang="en-US" altLang="zh-TW" sz="1400" dirty="0"/>
              <a:t>-Ying Lin</a:t>
            </a:r>
          </a:p>
          <a:p>
            <a:pPr>
              <a:spcBef>
                <a:spcPct val="20000"/>
              </a:spcBef>
            </a:pPr>
            <a:r>
              <a:rPr lang="en-US" altLang="zh-TW" sz="1400" dirty="0"/>
              <a:t>Date : </a:t>
            </a:r>
            <a:r>
              <a:rPr lang="en-US" sz="1400" dirty="0" smtClean="0"/>
              <a:t>Sept.</a:t>
            </a:r>
            <a:r>
              <a:rPr lang="en-US" altLang="zh-TW" sz="1400" dirty="0" smtClean="0"/>
              <a:t> 04, </a:t>
            </a:r>
            <a:r>
              <a:rPr lang="en-US" altLang="zh-TW" sz="1400" dirty="0"/>
              <a:t>2009</a:t>
            </a:r>
            <a:endParaRPr lang="en-US" altLang="zh-TW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TW" dirty="0" smtClean="0"/>
              <a:t>     In </a:t>
            </a:r>
            <a:r>
              <a:rPr lang="en-US" altLang="zh-TW" dirty="0"/>
              <a:t>this paper, a novel approach has been introduced to predict the disulfide-bonding state of </a:t>
            </a:r>
            <a:r>
              <a:rPr lang="en-US" altLang="zh-TW" dirty="0" err="1"/>
              <a:t>cysteines</a:t>
            </a:r>
            <a:r>
              <a:rPr lang="en-US" altLang="zh-TW" dirty="0"/>
              <a:t> in proteins by means of </a:t>
            </a:r>
            <a:r>
              <a:rPr lang="en-US" altLang="zh-TW" dirty="0" smtClean="0"/>
              <a:t>a linear </a:t>
            </a:r>
            <a:r>
              <a:rPr lang="en-US" altLang="zh-TW" dirty="0"/>
              <a:t>discriminator based on their </a:t>
            </a:r>
            <a:r>
              <a:rPr lang="en-US" altLang="zh-TW" dirty="0" err="1"/>
              <a:t>dipeptide</a:t>
            </a:r>
            <a:r>
              <a:rPr lang="en-US" altLang="zh-TW" dirty="0"/>
              <a:t> composition. The prediction is performed with a newly enlarged dataset with </a:t>
            </a:r>
            <a:r>
              <a:rPr lang="en-US" altLang="zh-TW" dirty="0" smtClean="0"/>
              <a:t>8114 </a:t>
            </a:r>
            <a:r>
              <a:rPr lang="en-US" altLang="zh-TW" dirty="0" err="1" smtClean="0"/>
              <a:t>cysteine</a:t>
            </a:r>
            <a:r>
              <a:rPr lang="en-US" altLang="zh-TW" dirty="0" smtClean="0"/>
              <a:t>-containing </a:t>
            </a:r>
            <a:r>
              <a:rPr lang="en-US" altLang="zh-TW" dirty="0"/>
              <a:t>segments extracted from 1856 non-homologous proteins of well-resolved three-dimensional structures. </a:t>
            </a:r>
            <a:r>
              <a:rPr lang="en-US" altLang="zh-TW" dirty="0" smtClean="0"/>
              <a:t>The oxidation </a:t>
            </a:r>
            <a:r>
              <a:rPr lang="en-US" altLang="zh-TW" dirty="0"/>
              <a:t>of </a:t>
            </a:r>
            <a:r>
              <a:rPr lang="en-US" altLang="zh-TW" dirty="0" err="1"/>
              <a:t>cysteines</a:t>
            </a:r>
            <a:r>
              <a:rPr lang="en-US" altLang="zh-TW" dirty="0"/>
              <a:t> exhibits obvious </a:t>
            </a:r>
            <a:r>
              <a:rPr lang="en-US" altLang="zh-TW" dirty="0" err="1"/>
              <a:t>cooperativity</a:t>
            </a:r>
            <a:r>
              <a:rPr lang="en-US" altLang="zh-TW" dirty="0"/>
              <a:t>: almost all </a:t>
            </a:r>
            <a:r>
              <a:rPr lang="en-US" altLang="zh-TW" dirty="0" err="1"/>
              <a:t>cysteines</a:t>
            </a:r>
            <a:r>
              <a:rPr lang="en-US" altLang="zh-TW" dirty="0"/>
              <a:t> in disulfide-bond-containing proteins are in the </a:t>
            </a:r>
            <a:r>
              <a:rPr lang="en-US" altLang="zh-TW" dirty="0" smtClean="0"/>
              <a:t>oxidized form</a:t>
            </a:r>
            <a:r>
              <a:rPr lang="en-US" altLang="zh-TW" dirty="0"/>
              <a:t>. This </a:t>
            </a:r>
            <a:r>
              <a:rPr lang="en-US" altLang="zh-TW" dirty="0" err="1"/>
              <a:t>cooperativity</a:t>
            </a:r>
            <a:r>
              <a:rPr lang="en-US" altLang="zh-TW" dirty="0"/>
              <a:t> can be well described by protein’s </a:t>
            </a:r>
            <a:r>
              <a:rPr lang="en-US" altLang="zh-TW" dirty="0" err="1"/>
              <a:t>dipeptide</a:t>
            </a:r>
            <a:r>
              <a:rPr lang="en-US" altLang="zh-TW" dirty="0"/>
              <a:t> composition, based on which the prediction accuracy of </a:t>
            </a:r>
            <a:r>
              <a:rPr lang="en-US" altLang="zh-TW" dirty="0" smtClean="0"/>
              <a:t>the oxidation </a:t>
            </a:r>
            <a:r>
              <a:rPr lang="en-US" altLang="zh-TW" dirty="0"/>
              <a:t>form of </a:t>
            </a:r>
            <a:r>
              <a:rPr lang="en-US" altLang="zh-TW" dirty="0" err="1"/>
              <a:t>cysteines</a:t>
            </a:r>
            <a:r>
              <a:rPr lang="en-US" altLang="zh-TW" dirty="0"/>
              <a:t> scores as high as 89.1% and 85.2%, when measured on </a:t>
            </a:r>
            <a:r>
              <a:rPr lang="en-US" altLang="zh-TW" dirty="0" err="1"/>
              <a:t>cysteine</a:t>
            </a:r>
            <a:r>
              <a:rPr lang="en-US" altLang="zh-TW" dirty="0"/>
              <a:t> and protein basis using the rigorous </a:t>
            </a:r>
            <a:r>
              <a:rPr lang="en-US" altLang="zh-TW" dirty="0" smtClean="0"/>
              <a:t>jackknife procedure</a:t>
            </a:r>
            <a:r>
              <a:rPr lang="en-US" altLang="zh-TW" dirty="0"/>
              <a:t>, respectively. The result demonstrates the applicability of this new relatively simple method and provides </a:t>
            </a:r>
            <a:r>
              <a:rPr lang="en-US" altLang="zh-TW" dirty="0" smtClean="0"/>
              <a:t>superior prediction </a:t>
            </a:r>
            <a:r>
              <a:rPr lang="en-US" altLang="zh-TW" dirty="0"/>
              <a:t>performance compared with existing methods for the prediction of the oxidation states of </a:t>
            </a:r>
            <a:r>
              <a:rPr lang="en-US" altLang="zh-TW" dirty="0" err="1"/>
              <a:t>cysteines</a:t>
            </a:r>
            <a:r>
              <a:rPr lang="en-US" altLang="zh-TW" dirty="0"/>
              <a:t> in proteins.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Dipeptide</a:t>
            </a:r>
            <a:endParaRPr lang="zh-TW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571612"/>
            <a:ext cx="3527314" cy="356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1357290" y="5286388"/>
            <a:ext cx="67463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Four hundred </a:t>
            </a:r>
            <a:r>
              <a:rPr lang="en-US" altLang="zh-TW" dirty="0" err="1" smtClean="0"/>
              <a:t>dipeptide</a:t>
            </a:r>
            <a:r>
              <a:rPr lang="en-US" altLang="zh-TW" dirty="0" smtClean="0"/>
              <a:t> contribution weights to disulfide bond</a:t>
            </a:r>
          </a:p>
          <a:p>
            <a:r>
              <a:rPr lang="en-US" altLang="zh-TW" dirty="0" smtClean="0"/>
              <a:t>formation. Bar’s dark shades indicate high propensity to form disulfide</a:t>
            </a:r>
          </a:p>
          <a:p>
            <a:r>
              <a:rPr lang="en-US" altLang="zh-TW" dirty="0" smtClean="0"/>
              <a:t>bonds of the corresponding </a:t>
            </a:r>
            <a:r>
              <a:rPr lang="en-US" altLang="zh-TW" dirty="0" err="1" smtClean="0"/>
              <a:t>dipeptide</a:t>
            </a:r>
            <a:r>
              <a:rPr lang="en-US" altLang="zh-TW" dirty="0" smtClean="0"/>
              <a:t> while light shades indicate low</a:t>
            </a:r>
          </a:p>
          <a:p>
            <a:r>
              <a:rPr lang="en-US" altLang="zh-TW" dirty="0" smtClean="0"/>
              <a:t>propensity for disulfide bond formation.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1643050"/>
            <a:ext cx="485775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2571744"/>
            <a:ext cx="13716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文字方塊 13"/>
          <p:cNvSpPr txBox="1"/>
          <p:nvPr/>
        </p:nvSpPr>
        <p:spPr>
          <a:xfrm>
            <a:off x="2857488" y="3571876"/>
            <a:ext cx="29225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Ex:  ADADAEP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AD:2	</a:t>
            </a:r>
            <a:r>
              <a:rPr lang="en-US" altLang="zh-TW" i="1" dirty="0" err="1" smtClean="0"/>
              <a:t>v</a:t>
            </a:r>
            <a:r>
              <a:rPr lang="en-US" altLang="zh-TW" i="1" baseline="-25000" dirty="0" err="1" smtClean="0"/>
              <a:t>ad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= 1</a:t>
            </a:r>
          </a:p>
          <a:p>
            <a:r>
              <a:rPr lang="en-US" altLang="zh-TW" dirty="0" smtClean="0"/>
              <a:t>DA:2	</a:t>
            </a:r>
            <a:r>
              <a:rPr lang="en-US" altLang="zh-TW" i="1" dirty="0" err="1" smtClean="0"/>
              <a:t>v</a:t>
            </a:r>
            <a:r>
              <a:rPr lang="en-US" altLang="zh-TW" i="1" baseline="-25000" dirty="0" err="1" smtClean="0"/>
              <a:t>da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= </a:t>
            </a:r>
            <a:r>
              <a:rPr lang="en-US" altLang="zh-TW" dirty="0" smtClean="0"/>
              <a:t>2</a:t>
            </a:r>
          </a:p>
          <a:p>
            <a:r>
              <a:rPr lang="en-US" altLang="zh-TW" dirty="0" smtClean="0"/>
              <a:t>AE:1	</a:t>
            </a:r>
            <a:r>
              <a:rPr lang="en-US" altLang="zh-TW" i="1" dirty="0" err="1" smtClean="0"/>
              <a:t>v</a:t>
            </a:r>
            <a:r>
              <a:rPr lang="en-US" altLang="zh-TW" i="1" baseline="-25000" dirty="0" err="1" smtClean="0"/>
              <a:t>ae</a:t>
            </a:r>
            <a:r>
              <a:rPr lang="en-US" altLang="zh-TW" i="1" baseline="-25000" dirty="0" smtClean="0"/>
              <a:t> </a:t>
            </a:r>
            <a:r>
              <a:rPr lang="en-US" altLang="zh-TW" dirty="0" smtClean="0"/>
              <a:t>= </a:t>
            </a:r>
            <a:r>
              <a:rPr lang="en-US" altLang="zh-TW" dirty="0" smtClean="0"/>
              <a:t>3</a:t>
            </a:r>
          </a:p>
          <a:p>
            <a:r>
              <a:rPr lang="en-US" altLang="zh-TW" dirty="0" smtClean="0"/>
              <a:t>EP:1	</a:t>
            </a:r>
            <a:r>
              <a:rPr lang="en-US" altLang="zh-TW" i="1" dirty="0" err="1" smtClean="0"/>
              <a:t>v</a:t>
            </a:r>
            <a:r>
              <a:rPr lang="en-US" altLang="zh-TW" i="1" baseline="-25000" dirty="0" err="1" smtClean="0"/>
              <a:t>ep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= </a:t>
            </a:r>
            <a:r>
              <a:rPr lang="en-US" altLang="zh-TW" dirty="0" smtClean="0"/>
              <a:t>4</a:t>
            </a:r>
          </a:p>
          <a:p>
            <a:endParaRPr lang="en-US" altLang="zh-TW" dirty="0" smtClean="0"/>
          </a:p>
          <a:p>
            <a:r>
              <a:rPr lang="en-US" altLang="zh-TW" i="1" dirty="0" err="1" smtClean="0"/>
              <a:t>Q</a:t>
            </a:r>
            <a:r>
              <a:rPr lang="en-US" altLang="zh-TW" i="1" baseline="-25000" dirty="0" err="1" smtClean="0"/>
              <a:t>k</a:t>
            </a:r>
            <a:r>
              <a:rPr lang="en-US" altLang="zh-TW" i="1" baseline="-25000" dirty="0" smtClean="0"/>
              <a:t> </a:t>
            </a:r>
            <a:r>
              <a:rPr lang="en-US" altLang="zh-TW" i="1" dirty="0" smtClean="0"/>
              <a:t>= </a:t>
            </a:r>
            <a:r>
              <a:rPr lang="en-US" altLang="zh-TW" dirty="0" smtClean="0"/>
              <a:t>2*1+2*2+1*3+1*4 = 13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pic>
        <p:nvPicPr>
          <p:cNvPr id="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3143248"/>
            <a:ext cx="531495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928662" y="4429132"/>
            <a:ext cx="6885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where the summations on k run over all protein sequences in the dataset.</a:t>
            </a:r>
          </a:p>
          <a:p>
            <a:r>
              <a:rPr lang="en-US" altLang="zh-TW" dirty="0" smtClean="0"/>
              <a:t>By solving </a:t>
            </a:r>
            <a:r>
              <a:rPr lang="en-US" altLang="zh-TW" dirty="0" smtClean="0"/>
              <a:t>the </a:t>
            </a:r>
            <a:r>
              <a:rPr lang="en-US" dirty="0" err="1" smtClean="0"/>
              <a:t>equation</a:t>
            </a:r>
            <a:r>
              <a:rPr lang="en-US" altLang="zh-TW" dirty="0" err="1" smtClean="0"/>
              <a:t>,the</a:t>
            </a:r>
            <a:r>
              <a:rPr lang="en-US" altLang="zh-TW" dirty="0" smtClean="0"/>
              <a:t> </a:t>
            </a:r>
            <a:r>
              <a:rPr lang="en-US" altLang="zh-TW" dirty="0" smtClean="0"/>
              <a:t>fitted parameters </a:t>
            </a:r>
            <a:r>
              <a:rPr lang="en-US" altLang="zh-TW" dirty="0" err="1" smtClean="0"/>
              <a:t>vab</a:t>
            </a:r>
            <a:r>
              <a:rPr lang="en-US" altLang="zh-TW" dirty="0" smtClean="0"/>
              <a:t> can be obtained</a:t>
            </a:r>
            <a:r>
              <a:rPr lang="en-US" altLang="zh-TW" dirty="0" smtClean="0"/>
              <a:t>.</a:t>
            </a:r>
            <a:endParaRPr lang="en-US" altLang="zh-TW" dirty="0" smtClean="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071678"/>
            <a:ext cx="24669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Cumulative distributions of the Q values for OXICYS </a:t>
            </a:r>
            <a:r>
              <a:rPr lang="en-US" altLang="zh-TW" sz="3600" dirty="0" smtClean="0"/>
              <a:t>and REDCYS </a:t>
            </a:r>
            <a:r>
              <a:rPr lang="en-US" altLang="zh-TW" sz="3600" dirty="0"/>
              <a:t>proteins</a:t>
            </a:r>
            <a:r>
              <a:rPr lang="en-US" altLang="zh-TW" sz="3600" dirty="0" smtClean="0"/>
              <a:t>.</a:t>
            </a:r>
            <a:endParaRPr lang="zh-TW" altLang="en-US" sz="36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00232" y="1643050"/>
            <a:ext cx="5049901" cy="4757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2428868"/>
            <a:ext cx="8599017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428596" y="4429132"/>
            <a:ext cx="71715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The 459 OXICYS proteins have 2719 </a:t>
            </a:r>
            <a:r>
              <a:rPr lang="en-US" altLang="zh-TW" dirty="0" err="1" smtClean="0"/>
              <a:t>cysteines</a:t>
            </a:r>
            <a:r>
              <a:rPr lang="en-US" altLang="zh-TW" dirty="0" smtClean="0"/>
              <a:t>,</a:t>
            </a:r>
          </a:p>
          <a:p>
            <a:r>
              <a:rPr lang="en-US" altLang="zh-TW" dirty="0" smtClean="0"/>
              <a:t>of </a:t>
            </a:r>
            <a:r>
              <a:rPr lang="en-US" altLang="zh-TW" dirty="0" smtClean="0"/>
              <a:t>which 2354 take part in intra-chain disulfide bonds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That </a:t>
            </a:r>
            <a:r>
              <a:rPr lang="en-US" altLang="zh-TW" dirty="0" smtClean="0"/>
              <a:t>is </a:t>
            </a:r>
            <a:r>
              <a:rPr lang="en-US" altLang="zh-TW" dirty="0" smtClean="0"/>
              <a:t>to say</a:t>
            </a:r>
            <a:r>
              <a:rPr lang="en-US" altLang="zh-TW" dirty="0" smtClean="0"/>
              <a:t>, almost all (87%) </a:t>
            </a:r>
            <a:r>
              <a:rPr lang="en-US" altLang="zh-TW" dirty="0" err="1" smtClean="0"/>
              <a:t>cysteines</a:t>
            </a:r>
            <a:r>
              <a:rPr lang="en-US" altLang="zh-TW" dirty="0" smtClean="0"/>
              <a:t> in OXICYS proteins are oxidized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While 5395 </a:t>
            </a:r>
            <a:r>
              <a:rPr lang="en-US" altLang="zh-TW" dirty="0" err="1" smtClean="0"/>
              <a:t>cysteines</a:t>
            </a:r>
            <a:r>
              <a:rPr lang="en-US" altLang="zh-TW" dirty="0" smtClean="0"/>
              <a:t> in 1397 REDCYS proteins are all in free form</a:t>
            </a:r>
            <a:r>
              <a:rPr lang="en-US" altLang="zh-TW" dirty="0" smtClean="0"/>
              <a:t>.</a:t>
            </a:r>
            <a:endParaRPr lang="en-US" altLang="zh-TW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328</Words>
  <PresentationFormat>如螢幕大小 (4:3)</PresentationFormat>
  <Paragraphs>32</Paragraphs>
  <Slides>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Prediction of the disulfide-bonding state of cysteines in proteins based on dipeptide composition</vt:lpstr>
      <vt:lpstr>Abstract</vt:lpstr>
      <vt:lpstr>Dipeptide</vt:lpstr>
      <vt:lpstr>Method</vt:lpstr>
      <vt:lpstr>Method</vt:lpstr>
      <vt:lpstr>Cumulative distributions of the Q values for OXICYS and REDCYS proteins.</vt:lpstr>
      <vt:lpstr>Results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the disulfide-bonding state of cysteines in proteins based on dipeptide composition</dc:title>
  <cp:lastModifiedBy>Sephiroth</cp:lastModifiedBy>
  <cp:revision>21</cp:revision>
  <dcterms:modified xsi:type="dcterms:W3CDTF">2009-09-29T06:35:04Z</dcterms:modified>
</cp:coreProperties>
</file>