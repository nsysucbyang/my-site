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64" r:id="rId5"/>
    <p:sldId id="260" r:id="rId6"/>
    <p:sldId id="261" r:id="rId7"/>
    <p:sldId id="258" r:id="rId8"/>
    <p:sldId id="263" r:id="rId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23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2009/9/8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2009/9/8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2009/9/8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2009/9/8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2009/9/8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2009/9/8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2009/9/8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 smtClean="0"/>
              <a:t>Predicting the Disulfide Bonding State of </a:t>
            </a:r>
            <a:r>
              <a:rPr lang="en-US" altLang="zh-TW" sz="2800" b="1" dirty="0" err="1" smtClean="0"/>
              <a:t>Cysteines</a:t>
            </a:r>
            <a:r>
              <a:rPr lang="en-US" altLang="zh-TW" sz="2800" b="1" dirty="0" smtClean="0"/>
              <a:t> with Combinations of Kernel Machines</a:t>
            </a:r>
            <a:endParaRPr lang="zh-TW" altLang="en-US" sz="28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altLang="zh-TW" sz="1800" dirty="0">
                <a:solidFill>
                  <a:schemeClr val="tx1"/>
                </a:solidFill>
              </a:rPr>
              <a:t>ALESSIO CERONI, PAOLO </a:t>
            </a:r>
            <a:r>
              <a:rPr lang="it-IT" altLang="zh-TW" sz="1800" dirty="0" smtClean="0">
                <a:solidFill>
                  <a:schemeClr val="tx1"/>
                </a:solidFill>
              </a:rPr>
              <a:t>FRASCONI</a:t>
            </a:r>
            <a:r>
              <a:rPr lang="it-IT" altLang="zh-TW" sz="1800" i="1" dirty="0" smtClean="0">
                <a:solidFill>
                  <a:schemeClr val="tx1"/>
                </a:solidFill>
              </a:rPr>
              <a:t> </a:t>
            </a:r>
            <a:r>
              <a:rPr lang="it-IT" altLang="zh-TW" sz="1800" i="1" dirty="0">
                <a:solidFill>
                  <a:schemeClr val="tx1"/>
                </a:solidFill>
              </a:rPr>
              <a:t>, ANDREA PASSERINI AND ALESSANDRO </a:t>
            </a:r>
            <a:r>
              <a:rPr lang="it-IT" altLang="zh-TW" sz="1800" i="1" dirty="0" smtClean="0">
                <a:solidFill>
                  <a:schemeClr val="tx1"/>
                </a:solidFill>
              </a:rPr>
              <a:t>VULLO</a:t>
            </a:r>
            <a:endParaRPr lang="en-US" altLang="zh-TW" sz="1800" i="1" dirty="0" smtClean="0">
              <a:solidFill>
                <a:schemeClr val="tx1"/>
              </a:solidFill>
            </a:endParaRPr>
          </a:p>
          <a:p>
            <a:endParaRPr lang="en-US" altLang="zh-TW" sz="1800" i="1" dirty="0">
              <a:solidFill>
                <a:schemeClr val="tx1"/>
              </a:solidFill>
            </a:endParaRPr>
          </a:p>
          <a:p>
            <a:r>
              <a:rPr lang="en-US" altLang="zh-TW" sz="1800" dirty="0">
                <a:solidFill>
                  <a:schemeClr val="tx1"/>
                </a:solidFill>
              </a:rPr>
              <a:t>Journal of VLSI Signal Processing 35, 287–295, 2003</a:t>
            </a:r>
          </a:p>
          <a:p>
            <a:endParaRPr lang="it-IT" altLang="zh-TW" sz="1800" i="1" dirty="0">
              <a:solidFill>
                <a:schemeClr val="tx1"/>
              </a:solidFill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6156325" y="5345113"/>
            <a:ext cx="1960024" cy="56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TW" sz="1400" dirty="0"/>
              <a:t>Presenter : </a:t>
            </a:r>
            <a:r>
              <a:rPr lang="en-US" altLang="zh-TW" sz="1400" dirty="0" err="1"/>
              <a:t>Chih</a:t>
            </a:r>
            <a:r>
              <a:rPr lang="en-US" altLang="zh-TW" sz="1400" dirty="0"/>
              <a:t>-Ying Lin</a:t>
            </a:r>
          </a:p>
          <a:p>
            <a:pPr>
              <a:spcBef>
                <a:spcPct val="20000"/>
              </a:spcBef>
            </a:pPr>
            <a:r>
              <a:rPr lang="en-US" altLang="zh-TW" sz="1400" dirty="0"/>
              <a:t>Date : </a:t>
            </a:r>
            <a:r>
              <a:rPr lang="en-US" sz="1400" dirty="0" smtClean="0"/>
              <a:t>Sept.</a:t>
            </a:r>
            <a:r>
              <a:rPr lang="en-US" altLang="zh-TW" sz="1400" dirty="0" smtClean="0"/>
              <a:t> 04, </a:t>
            </a:r>
            <a:r>
              <a:rPr lang="en-US" altLang="zh-TW" sz="1400" dirty="0"/>
              <a:t>2009</a:t>
            </a:r>
            <a:endParaRPr lang="en-US" altLang="zh-TW" dirty="0"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altLang="zh-TW" dirty="0" smtClean="0"/>
              <a:t>	</a:t>
            </a:r>
            <a:r>
              <a:rPr lang="en-US" altLang="zh-TW" dirty="0" err="1" smtClean="0"/>
              <a:t>Cysteines</a:t>
            </a:r>
            <a:r>
              <a:rPr lang="en-US" altLang="zh-TW" dirty="0" smtClean="0"/>
              <a:t> </a:t>
            </a:r>
            <a:r>
              <a:rPr lang="en-US" altLang="zh-TW" dirty="0"/>
              <a:t>may form covalent bonds, </a:t>
            </a:r>
            <a:r>
              <a:rPr lang="en-US" altLang="zh-TW" dirty="0" smtClean="0"/>
              <a:t>known as </a:t>
            </a:r>
            <a:r>
              <a:rPr lang="en-US" altLang="zh-TW" dirty="0"/>
              <a:t>disulfide bridges, that have an important role in </a:t>
            </a:r>
            <a:r>
              <a:rPr lang="en-US" altLang="zh-TW" dirty="0" smtClean="0"/>
              <a:t>stabilizing the </a:t>
            </a:r>
            <a:r>
              <a:rPr lang="en-US" altLang="zh-TW" dirty="0"/>
              <a:t>native conformation of proteins. Several methods have been proposed for predicting the bonding state of </a:t>
            </a:r>
            <a:r>
              <a:rPr lang="en-US" altLang="zh-TW" dirty="0" err="1" smtClean="0"/>
              <a:t>cysteines</a:t>
            </a:r>
            <a:r>
              <a:rPr lang="en-US" altLang="zh-TW" dirty="0" smtClean="0"/>
              <a:t>, either </a:t>
            </a:r>
            <a:r>
              <a:rPr lang="en-US" altLang="zh-TW" dirty="0"/>
              <a:t>using local context or using global protein descriptors. In this paper we introduce an SVM based </a:t>
            </a:r>
            <a:r>
              <a:rPr lang="en-US" altLang="zh-TW" dirty="0" smtClean="0"/>
              <a:t>predictor that </a:t>
            </a:r>
            <a:r>
              <a:rPr lang="en-US" altLang="zh-TW" dirty="0"/>
              <a:t>operates in two stages. The first stage is a multi-class classifier that operates at the protein level, using </a:t>
            </a:r>
            <a:r>
              <a:rPr lang="en-US" altLang="zh-TW" dirty="0" smtClean="0"/>
              <a:t>either standard </a:t>
            </a:r>
            <a:r>
              <a:rPr lang="en-US" altLang="zh-TW" dirty="0"/>
              <a:t>Gaussian or spectrum kernels. The second stage is a binary classifier that refines the prediction by </a:t>
            </a:r>
            <a:r>
              <a:rPr lang="en-US" altLang="zh-TW" dirty="0" smtClean="0"/>
              <a:t>exploiting local </a:t>
            </a:r>
            <a:r>
              <a:rPr lang="en-US" altLang="zh-TW" dirty="0"/>
              <a:t>context enriched with evolutionary information in the form of multiple alignment profiles. At both stages, </a:t>
            </a:r>
            <a:r>
              <a:rPr lang="en-US" altLang="zh-TW" dirty="0" smtClean="0"/>
              <a:t>we enriched </a:t>
            </a:r>
            <a:r>
              <a:rPr lang="en-US" altLang="zh-TW" dirty="0"/>
              <a:t>profile encoding with information about </a:t>
            </a:r>
            <a:r>
              <a:rPr lang="en-US" altLang="zh-TW" dirty="0" err="1"/>
              <a:t>cysteine</a:t>
            </a:r>
            <a:r>
              <a:rPr lang="en-US" altLang="zh-TW" dirty="0"/>
              <a:t> conservation. The prediction accuracy of the system </a:t>
            </a:r>
            <a:r>
              <a:rPr lang="en-US" altLang="zh-TW" dirty="0" smtClean="0"/>
              <a:t>is 85</a:t>
            </a:r>
            <a:r>
              <a:rPr lang="en-US" altLang="zh-TW" dirty="0"/>
              <a:t>% measured by 5-fold cross validation, on a set of 716 proteins from the September 2001 PDB Select dataset.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Input </a:t>
            </a:r>
            <a:r>
              <a:rPr lang="en-US" altLang="zh-TW" dirty="0" smtClean="0"/>
              <a:t>encoding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smtClean="0"/>
              <a:t>D</a:t>
            </a:r>
            <a:r>
              <a:rPr lang="en-US" altLang="zh-TW" i="1" baseline="-25000" dirty="0" smtClean="0"/>
              <a:t>i</a:t>
            </a:r>
          </a:p>
          <a:p>
            <a:pPr lvl="1"/>
            <a:r>
              <a:rPr lang="en-US" altLang="zh-TW" dirty="0" smtClean="0"/>
              <a:t>log(</a:t>
            </a:r>
            <a:r>
              <a:rPr lang="en-US" altLang="zh-TW" i="1" dirty="0" smtClean="0"/>
              <a:t>N</a:t>
            </a:r>
            <a:r>
              <a:rPr lang="en-US" altLang="zh-TW" i="1" baseline="-25000" dirty="0" smtClean="0"/>
              <a:t>i</a:t>
            </a:r>
            <a:r>
              <a:rPr lang="en-US" altLang="zh-TW" i="1" dirty="0" smtClean="0"/>
              <a:t> </a:t>
            </a:r>
            <a:r>
              <a:rPr lang="en-US" altLang="zh-TW" i="1" baseline="30000" dirty="0" smtClean="0"/>
              <a:t>j</a:t>
            </a:r>
            <a:r>
              <a:rPr lang="en-US" altLang="zh-TW" i="1" dirty="0" smtClean="0"/>
              <a:t>/N </a:t>
            </a:r>
            <a:r>
              <a:rPr lang="en-US" altLang="zh-TW" i="1" baseline="30000" dirty="0"/>
              <a:t>j</a:t>
            </a:r>
            <a:r>
              <a:rPr lang="en-US" altLang="zh-TW" i="1" dirty="0"/>
              <a:t> </a:t>
            </a:r>
            <a:r>
              <a:rPr lang="en-US" altLang="zh-TW" i="1" dirty="0" smtClean="0"/>
              <a:t>)</a:t>
            </a:r>
          </a:p>
          <a:p>
            <a:pPr lvl="1"/>
            <a:r>
              <a:rPr lang="en-US" altLang="zh-TW" dirty="0"/>
              <a:t>log(</a:t>
            </a:r>
            <a:r>
              <a:rPr lang="en-US" altLang="zh-TW" i="1" dirty="0"/>
              <a:t>N</a:t>
            </a:r>
            <a:r>
              <a:rPr lang="en-US" altLang="zh-TW" i="1" baseline="-25000" dirty="0"/>
              <a:t>i</a:t>
            </a:r>
            <a:r>
              <a:rPr lang="en-US" altLang="zh-TW" i="1" dirty="0"/>
              <a:t> /</a:t>
            </a:r>
            <a:r>
              <a:rPr lang="en-US" altLang="zh-TW" i="1" dirty="0" err="1"/>
              <a:t>N</a:t>
            </a:r>
            <a:r>
              <a:rPr lang="en-US" altLang="zh-TW" i="1" baseline="-25000" dirty="0" err="1"/>
              <a:t>avg</a:t>
            </a:r>
            <a:r>
              <a:rPr lang="en-US" altLang="zh-TW" i="1" dirty="0"/>
              <a:t>)</a:t>
            </a:r>
          </a:p>
          <a:p>
            <a:pPr lvl="1"/>
            <a:r>
              <a:rPr lang="en-US" altLang="zh-TW" i="1" dirty="0"/>
              <a:t> </a:t>
            </a:r>
            <a:endParaRPr lang="en-US" altLang="zh-TW" i="1" dirty="0" smtClean="0"/>
          </a:p>
          <a:p>
            <a:pPr lvl="1"/>
            <a:r>
              <a:rPr lang="en-US" altLang="zh-TW" i="1" dirty="0" smtClean="0"/>
              <a:t> </a:t>
            </a:r>
          </a:p>
          <a:p>
            <a:pPr lvl="1"/>
            <a:r>
              <a:rPr lang="en-US" altLang="zh-TW" dirty="0" smtClean="0"/>
              <a:t>flag </a:t>
            </a:r>
            <a:r>
              <a:rPr lang="en-US" altLang="zh-TW" dirty="0"/>
              <a:t>indicating whether </a:t>
            </a:r>
            <a:r>
              <a:rPr lang="en-US" altLang="zh-TW" dirty="0" smtClean="0"/>
              <a:t>the </a:t>
            </a:r>
            <a:r>
              <a:rPr lang="en-US" altLang="zh-TW" dirty="0" err="1" smtClean="0"/>
              <a:t>cysteine</a:t>
            </a:r>
            <a:r>
              <a:rPr lang="en-US" altLang="zh-TW" dirty="0" smtClean="0"/>
              <a:t> </a:t>
            </a:r>
            <a:r>
              <a:rPr lang="en-US" altLang="zh-TW" dirty="0"/>
              <a:t>count is odd.</a:t>
            </a:r>
          </a:p>
          <a:p>
            <a:pPr lvl="1"/>
            <a:endParaRPr lang="en-US" altLang="zh-TW" i="1" dirty="0"/>
          </a:p>
          <a:p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3786190"/>
            <a:ext cx="168592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3214686"/>
            <a:ext cx="1362075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Cysteines</a:t>
            </a:r>
            <a:r>
              <a:rPr lang="en-US" altLang="zh-TW" dirty="0" smtClean="0"/>
              <a:t> conservation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/>
              <a:t>extended alphabet having 19+ </a:t>
            </a:r>
            <a:r>
              <a:rPr lang="en-US" altLang="zh-TW" sz="2000" i="1" dirty="0"/>
              <a:t>Z </a:t>
            </a:r>
            <a:r>
              <a:rPr lang="en-US" altLang="zh-TW" sz="2000" i="1" dirty="0" smtClean="0"/>
              <a:t>symbols, </a:t>
            </a:r>
            <a:r>
              <a:rPr lang="en-US" altLang="zh-TW" sz="2000" dirty="0" smtClean="0"/>
              <a:t>where </a:t>
            </a:r>
            <a:r>
              <a:rPr lang="en-US" altLang="zh-TW" sz="2000" dirty="0"/>
              <a:t>occurrences of C (</a:t>
            </a:r>
            <a:r>
              <a:rPr lang="en-US" altLang="zh-TW" sz="2000" dirty="0" err="1"/>
              <a:t>cysteine</a:t>
            </a:r>
            <a:r>
              <a:rPr lang="en-US" altLang="zh-TW" sz="2000" dirty="0"/>
              <a:t>) are replaced by </a:t>
            </a:r>
            <a:r>
              <a:rPr lang="en-US" altLang="zh-TW" sz="2000" dirty="0" smtClean="0"/>
              <a:t>a special </a:t>
            </a:r>
            <a:r>
              <a:rPr lang="en-US" altLang="zh-TW" sz="2000" dirty="0"/>
              <a:t>symbol that indicates the degree of </a:t>
            </a:r>
            <a:r>
              <a:rPr lang="en-US" altLang="zh-TW" sz="2000" dirty="0" smtClean="0"/>
              <a:t>conservation of </a:t>
            </a:r>
            <a:r>
              <a:rPr lang="en-US" altLang="zh-TW" sz="2000" dirty="0"/>
              <a:t>the </a:t>
            </a:r>
            <a:r>
              <a:rPr lang="en-US" altLang="zh-TW" sz="2000" dirty="0" err="1"/>
              <a:t>cysteines</a:t>
            </a:r>
            <a:r>
              <a:rPr lang="en-US" altLang="zh-TW" sz="2000" dirty="0"/>
              <a:t> in the </a:t>
            </a:r>
            <a:r>
              <a:rPr lang="en-US" altLang="zh-TW" sz="2000" dirty="0" smtClean="0"/>
              <a:t>correspondent </a:t>
            </a:r>
            <a:r>
              <a:rPr lang="en-US" altLang="zh-TW" sz="2000" dirty="0"/>
              <a:t>positions </a:t>
            </a:r>
            <a:r>
              <a:rPr lang="en-US" altLang="zh-TW" sz="2000" dirty="0" smtClean="0"/>
              <a:t>of multiple </a:t>
            </a:r>
            <a:r>
              <a:rPr lang="en-US" altLang="zh-TW" sz="2000" dirty="0"/>
              <a:t>alignments</a:t>
            </a:r>
            <a:r>
              <a:rPr lang="en-US" altLang="zh-TW" sz="2000" dirty="0" smtClean="0"/>
              <a:t>.</a:t>
            </a:r>
          </a:p>
          <a:p>
            <a:endParaRPr lang="en-US" altLang="zh-TW" sz="2000" dirty="0"/>
          </a:p>
          <a:p>
            <a:r>
              <a:rPr lang="en-US" altLang="zh-TW" sz="2000" dirty="0" err="1" smtClean="0"/>
              <a:t>Ex:Z</a:t>
            </a:r>
            <a:r>
              <a:rPr lang="en-US" altLang="zh-TW" sz="2000" dirty="0" smtClean="0"/>
              <a:t>=5</a:t>
            </a:r>
          </a:p>
          <a:p>
            <a:r>
              <a:rPr lang="en-US" altLang="zh-TW" sz="2000" dirty="0" smtClean="0"/>
              <a:t>Use c</a:t>
            </a:r>
            <a:r>
              <a:rPr lang="en-US" altLang="zh-TW" sz="2000" baseline="-25000" dirty="0" smtClean="0"/>
              <a:t>1</a:t>
            </a:r>
            <a:r>
              <a:rPr lang="en-US" altLang="zh-TW" sz="2000" dirty="0" smtClean="0"/>
              <a:t>,c</a:t>
            </a:r>
            <a:r>
              <a:rPr lang="en-US" altLang="zh-TW" sz="2000" baseline="-25000" dirty="0" smtClean="0"/>
              <a:t>2</a:t>
            </a:r>
            <a:r>
              <a:rPr lang="en-US" altLang="zh-TW" sz="2000" dirty="0" smtClean="0"/>
              <a:t>,c</a:t>
            </a:r>
            <a:r>
              <a:rPr lang="en-US" altLang="zh-TW" sz="2000" baseline="-25000" dirty="0" smtClean="0"/>
              <a:t>3</a:t>
            </a:r>
            <a:r>
              <a:rPr lang="en-US" altLang="zh-TW" sz="2000" dirty="0" smtClean="0"/>
              <a:t>,c</a:t>
            </a:r>
            <a:r>
              <a:rPr lang="en-US" altLang="zh-TW" sz="2000" baseline="-25000" dirty="0" smtClean="0"/>
              <a:t>4</a:t>
            </a:r>
            <a:r>
              <a:rPr lang="en-US" altLang="zh-TW" sz="2000" dirty="0" smtClean="0"/>
              <a:t>,c</a:t>
            </a:r>
            <a:r>
              <a:rPr lang="en-US" altLang="zh-TW" sz="2000" baseline="-25000" dirty="0" smtClean="0"/>
              <a:t>5</a:t>
            </a:r>
          </a:p>
          <a:p>
            <a:endParaRPr lang="en-US" altLang="zh-TW" sz="2000" dirty="0"/>
          </a:p>
          <a:p>
            <a:pPr>
              <a:buNone/>
            </a:pPr>
            <a:r>
              <a:rPr lang="en-US" altLang="zh-TW" sz="2000" dirty="0"/>
              <a:t>	</a:t>
            </a:r>
            <a:r>
              <a:rPr lang="en-US" altLang="zh-TW" sz="2000" dirty="0" err="1" smtClean="0"/>
              <a:t>kkrlq</a:t>
            </a:r>
            <a:r>
              <a:rPr lang="en-US" altLang="zh-TW" sz="2000" dirty="0" smtClean="0"/>
              <a:t>	</a:t>
            </a:r>
            <a:r>
              <a:rPr lang="en-US" altLang="zh-TW" sz="2000" dirty="0" smtClean="0"/>
              <a:t>c</a:t>
            </a:r>
            <a:r>
              <a:rPr lang="en-US" altLang="zh-TW" sz="2000" baseline="-25000" dirty="0" smtClean="0"/>
              <a:t>1</a:t>
            </a:r>
            <a:r>
              <a:rPr lang="en-US" altLang="zh-TW" sz="2000" dirty="0" smtClean="0"/>
              <a:t>atltqtd</a:t>
            </a:r>
            <a:r>
              <a:rPr lang="en-US" altLang="zh-TW" sz="2000" dirty="0" smtClean="0"/>
              <a:t>	</a:t>
            </a:r>
            <a:r>
              <a:rPr lang="en-US" altLang="zh-TW" sz="2000" dirty="0" smtClean="0"/>
              <a:t>c</a:t>
            </a:r>
            <a:r>
              <a:rPr lang="en-US" altLang="zh-TW" sz="2000" baseline="-25000" dirty="0" smtClean="0"/>
              <a:t>3</a:t>
            </a:r>
            <a:r>
              <a:rPr lang="en-US" altLang="zh-TW" sz="2000" dirty="0" smtClean="0"/>
              <a:t>nedwa</a:t>
            </a:r>
            <a:r>
              <a:rPr lang="en-US" altLang="zh-TW" sz="2000" dirty="0" smtClean="0"/>
              <a:t>	</a:t>
            </a:r>
            <a:r>
              <a:rPr lang="en-US" altLang="zh-TW" sz="2000" dirty="0" smtClean="0"/>
              <a:t>c</a:t>
            </a:r>
            <a:r>
              <a:rPr lang="en-US" altLang="zh-TW" sz="2000" baseline="-25000" dirty="0" smtClean="0"/>
              <a:t>2</a:t>
            </a:r>
            <a:r>
              <a:rPr lang="en-US" altLang="zh-TW" sz="2000" dirty="0" smtClean="0"/>
              <a:t>qgrke</a:t>
            </a:r>
            <a:endParaRPr lang="en-US" altLang="zh-TW" sz="2000" dirty="0" smtClean="0"/>
          </a:p>
          <a:p>
            <a:pPr>
              <a:buNone/>
            </a:pPr>
            <a:r>
              <a:rPr lang="en-US" altLang="zh-TW" sz="2000" dirty="0" smtClean="0"/>
              <a:t>		c	</a:t>
            </a:r>
            <a:r>
              <a:rPr lang="en-US" altLang="zh-TW" sz="2000" dirty="0" err="1" smtClean="0"/>
              <a:t>c</a:t>
            </a:r>
            <a:r>
              <a:rPr lang="en-US" altLang="zh-TW" sz="2000" dirty="0" smtClean="0"/>
              <a:t>	_</a:t>
            </a:r>
          </a:p>
          <a:p>
            <a:pPr>
              <a:buNone/>
            </a:pPr>
            <a:r>
              <a:rPr lang="en-US" altLang="zh-TW" sz="2000" dirty="0"/>
              <a:t>	</a:t>
            </a:r>
            <a:r>
              <a:rPr lang="en-US" altLang="zh-TW" sz="2000" dirty="0" smtClean="0"/>
              <a:t>	c	</a:t>
            </a:r>
            <a:r>
              <a:rPr lang="en-US" altLang="zh-TW" sz="2000" dirty="0"/>
              <a:t>_</a:t>
            </a:r>
            <a:r>
              <a:rPr lang="en-US" altLang="zh-TW" sz="2000" dirty="0" smtClean="0"/>
              <a:t>	c</a:t>
            </a:r>
          </a:p>
          <a:p>
            <a:pPr>
              <a:buNone/>
            </a:pPr>
            <a:r>
              <a:rPr lang="en-US" altLang="zh-TW" sz="2000" dirty="0"/>
              <a:t>	</a:t>
            </a:r>
            <a:r>
              <a:rPr lang="en-US" altLang="zh-TW" sz="2000" dirty="0" smtClean="0"/>
              <a:t>	c	</a:t>
            </a:r>
            <a:r>
              <a:rPr lang="en-US" altLang="zh-TW" sz="2000" dirty="0"/>
              <a:t>_</a:t>
            </a:r>
            <a:r>
              <a:rPr lang="en-US" altLang="zh-TW" sz="2000" dirty="0" smtClean="0"/>
              <a:t>	c</a:t>
            </a:r>
          </a:p>
          <a:p>
            <a:pPr>
              <a:buNone/>
            </a:pPr>
            <a:r>
              <a:rPr lang="en-US" altLang="zh-TW" sz="2000" dirty="0"/>
              <a:t>	</a:t>
            </a:r>
            <a:r>
              <a:rPr lang="en-US" altLang="zh-TW" sz="2000" dirty="0" smtClean="0"/>
              <a:t>	c	</a:t>
            </a:r>
            <a:r>
              <a:rPr lang="en-US" altLang="zh-TW" sz="2000" dirty="0" err="1" smtClean="0"/>
              <a:t>c</a:t>
            </a:r>
            <a:r>
              <a:rPr lang="en-US" altLang="zh-TW" sz="2000" dirty="0" smtClean="0"/>
              <a:t>	</a:t>
            </a:r>
            <a:r>
              <a:rPr lang="en-US" altLang="zh-TW" sz="2000" dirty="0" err="1" smtClean="0"/>
              <a:t>c</a:t>
            </a:r>
            <a:endParaRPr lang="en-US" altLang="zh-TW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Input encoding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err="1" smtClean="0"/>
              <a:t>W</a:t>
            </a:r>
            <a:r>
              <a:rPr lang="en-US" altLang="zh-TW" i="1" baseline="-25000" dirty="0" err="1" smtClean="0"/>
              <a:t>t</a:t>
            </a:r>
            <a:r>
              <a:rPr lang="en-US" altLang="zh-TW" i="1" baseline="30000" dirty="0" err="1" smtClean="0"/>
              <a:t>k</a:t>
            </a:r>
            <a:r>
              <a:rPr lang="en-US" altLang="zh-TW" i="1" baseline="30000" dirty="0" smtClean="0"/>
              <a:t> </a:t>
            </a:r>
          </a:p>
          <a:p>
            <a:pPr lvl="1"/>
            <a:r>
              <a:rPr lang="en-US" altLang="zh-TW" dirty="0" smtClean="0"/>
              <a:t>log(</a:t>
            </a:r>
            <a:r>
              <a:rPr lang="en-US" altLang="zh-TW" i="1" dirty="0" smtClean="0"/>
              <a:t>N</a:t>
            </a:r>
            <a:r>
              <a:rPr lang="en-US" altLang="zh-TW" i="1" baseline="-25000" dirty="0" smtClean="0"/>
              <a:t>i</a:t>
            </a:r>
            <a:r>
              <a:rPr lang="en-US" altLang="zh-TW" i="1" dirty="0" smtClean="0"/>
              <a:t> </a:t>
            </a:r>
            <a:r>
              <a:rPr lang="en-US" altLang="zh-TW" i="1" baseline="30000" dirty="0" smtClean="0"/>
              <a:t>j</a:t>
            </a:r>
            <a:r>
              <a:rPr lang="en-US" altLang="zh-TW" i="1" dirty="0" smtClean="0"/>
              <a:t>/N </a:t>
            </a:r>
            <a:r>
              <a:rPr lang="en-US" altLang="zh-TW" i="1" baseline="30000" dirty="0" smtClean="0"/>
              <a:t>j</a:t>
            </a:r>
            <a:r>
              <a:rPr lang="en-US" altLang="zh-TW" i="1" dirty="0" smtClean="0"/>
              <a:t> )</a:t>
            </a:r>
          </a:p>
          <a:p>
            <a:pPr lvl="1"/>
            <a:r>
              <a:rPr lang="en-US" altLang="zh-TW" dirty="0"/>
              <a:t>relative </a:t>
            </a:r>
            <a:r>
              <a:rPr lang="en-US" altLang="zh-TW" dirty="0" smtClean="0"/>
              <a:t>entropy</a:t>
            </a:r>
          </a:p>
          <a:p>
            <a:pPr lvl="1"/>
            <a:r>
              <a:rPr lang="en-US" altLang="zh-TW" dirty="0" smtClean="0"/>
              <a:t>conservation weight</a:t>
            </a:r>
            <a:endParaRPr lang="en-US" altLang="zh-TW" dirty="0"/>
          </a:p>
          <a:p>
            <a:pPr lvl="1"/>
            <a:endParaRPr lang="zh-TW" altLang="en-US" i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altLang="zh-TW" sz="4400" dirty="0">
                <a:latin typeface="+mj-lt"/>
              </a:rPr>
              <a:t>R</a:t>
            </a:r>
            <a:r>
              <a:rPr lang="en-US" altLang="zh-TW" sz="4400" dirty="0" smtClean="0">
                <a:latin typeface="+mj-lt"/>
              </a:rPr>
              <a:t>elative entropy</a:t>
            </a:r>
            <a:endParaRPr lang="zh-TW" altLang="en-US" sz="4400" dirty="0">
              <a:latin typeface="+mj-lt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/>
              <a:t>c</a:t>
            </a:r>
            <a:r>
              <a:rPr lang="en-US" altLang="zh-TW" dirty="0" err="1" smtClean="0"/>
              <a:t>cc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c_c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cah</a:t>
            </a:r>
            <a:r>
              <a:rPr lang="en-US" altLang="zh-TW" dirty="0" smtClean="0"/>
              <a:t> __c cc_ </a:t>
            </a:r>
          </a:p>
          <a:p>
            <a:r>
              <a:rPr lang="en-US" altLang="zh-TW" sz="2400" dirty="0" smtClean="0"/>
              <a:t>-(3/9)log(3/9) - (2/9)log(2/9) - (1/9)log(1/9) - (2/9)log(2/9) </a:t>
            </a:r>
          </a:p>
          <a:p>
            <a:r>
              <a:rPr lang="en-US" altLang="zh-TW" sz="2400" dirty="0" smtClean="0"/>
              <a:t>= 0.159+0.145+0.106+0.145</a:t>
            </a:r>
          </a:p>
          <a:p>
            <a:r>
              <a:rPr lang="en-US" altLang="zh-TW" sz="2400" dirty="0" smtClean="0"/>
              <a:t>=0.555</a:t>
            </a:r>
            <a:endParaRPr lang="zh-TW" altLang="en-US" sz="2400" dirty="0" smtClean="0"/>
          </a:p>
          <a:p>
            <a:endParaRPr lang="zh-TW" altLang="en-US" dirty="0"/>
          </a:p>
        </p:txBody>
      </p:sp>
      <p:pic>
        <p:nvPicPr>
          <p:cNvPr id="5122" name="Picture 2" descr="H_s = \sum_{i=1}^n p_i I_e = -\sum_{i=1}^n p_i \log_2 p_i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1714488"/>
            <a:ext cx="2428875" cy="476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two-stage system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081365" y="1600200"/>
            <a:ext cx="4981269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Results</a:t>
            </a:r>
            <a:endParaRPr lang="zh-TW" alt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4282" y="1928802"/>
            <a:ext cx="8738820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文字方塊 3"/>
          <p:cNvSpPr txBox="1"/>
          <p:nvPr/>
        </p:nvSpPr>
        <p:spPr>
          <a:xfrm>
            <a:off x="357158" y="4857760"/>
            <a:ext cx="2980303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716 proteins dataset</a:t>
            </a:r>
          </a:p>
          <a:p>
            <a:r>
              <a:rPr lang="en-US" altLang="zh-TW" dirty="0" smtClean="0"/>
              <a:t>187 of  type all, </a:t>
            </a:r>
          </a:p>
          <a:p>
            <a:r>
              <a:rPr lang="en-US" altLang="zh-TW" dirty="0" smtClean="0"/>
              <a:t>478 of  type none, </a:t>
            </a:r>
          </a:p>
          <a:p>
            <a:r>
              <a:rPr lang="en-US" altLang="zh-TW" dirty="0" smtClean="0"/>
              <a:t>51 of type  mix (i.e. only 7%) 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3714308" y="4572008"/>
            <a:ext cx="542969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Precision (or sensitivity) is the fraction of </a:t>
            </a:r>
            <a:r>
              <a:rPr lang="en-US" altLang="zh-TW" dirty="0" err="1" smtClean="0"/>
              <a:t>cysteines</a:t>
            </a:r>
            <a:endParaRPr lang="en-US" altLang="zh-TW" dirty="0" smtClean="0"/>
          </a:p>
          <a:p>
            <a:r>
              <a:rPr lang="en-US" altLang="zh-TW" dirty="0" smtClean="0"/>
              <a:t>predicted in the </a:t>
            </a:r>
            <a:r>
              <a:rPr lang="en-US" altLang="zh-TW" dirty="0" err="1" smtClean="0"/>
              <a:t>disulﬁde</a:t>
            </a:r>
            <a:r>
              <a:rPr lang="en-US" altLang="zh-TW" dirty="0" smtClean="0"/>
              <a:t>-bonded state that are actually</a:t>
            </a:r>
          </a:p>
          <a:p>
            <a:r>
              <a:rPr lang="en-US" altLang="zh-TW" dirty="0" smtClean="0"/>
              <a:t>bonded.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Recall (or </a:t>
            </a:r>
            <a:r>
              <a:rPr lang="en-US" altLang="zh-TW" dirty="0" err="1" smtClean="0"/>
              <a:t>speciﬁcity</a:t>
            </a:r>
            <a:r>
              <a:rPr lang="en-US" altLang="zh-TW" dirty="0" smtClean="0"/>
              <a:t>) is the fraction of </a:t>
            </a:r>
            <a:r>
              <a:rPr lang="en-US" altLang="zh-TW" dirty="0" err="1" smtClean="0"/>
              <a:t>disulﬁde</a:t>
            </a:r>
            <a:r>
              <a:rPr lang="en-US" altLang="zh-TW" dirty="0" smtClean="0"/>
              <a:t>-bonded </a:t>
            </a:r>
          </a:p>
          <a:p>
            <a:r>
              <a:rPr lang="en-US" altLang="zh-TW" dirty="0" err="1" smtClean="0"/>
              <a:t>cysteines</a:t>
            </a:r>
            <a:r>
              <a:rPr lang="en-US" altLang="zh-TW" dirty="0" smtClean="0"/>
              <a:t> that are correctly assigned to their state by </a:t>
            </a:r>
          </a:p>
          <a:p>
            <a:r>
              <a:rPr lang="en-US" altLang="zh-TW" dirty="0" smtClean="0"/>
              <a:t>the predictor.</a:t>
            </a:r>
            <a:endParaRPr lang="zh-TW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</TotalTime>
  <Words>219</Words>
  <PresentationFormat>如螢幕大小 (4:3)</PresentationFormat>
  <Paragraphs>50</Paragraphs>
  <Slides>8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9" baseType="lpstr">
      <vt:lpstr>Office 佈景主題</vt:lpstr>
      <vt:lpstr>Predicting the Disulfide Bonding State of Cysteines with Combinations of Kernel Machines</vt:lpstr>
      <vt:lpstr>Abstract</vt:lpstr>
      <vt:lpstr>Input encoding</vt:lpstr>
      <vt:lpstr>Cysteines conservation</vt:lpstr>
      <vt:lpstr>Input encoding</vt:lpstr>
      <vt:lpstr>Relative entropy</vt:lpstr>
      <vt:lpstr>The two-stage system.</vt:lpstr>
      <vt:lpstr>Results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the Disulfide Bonding State of Cysteines with Combinations of Kernel Machines</dc:title>
  <cp:lastModifiedBy>Sephiroth</cp:lastModifiedBy>
  <cp:revision>25</cp:revision>
  <dcterms:modified xsi:type="dcterms:W3CDTF">2009-09-08T12:00:13Z</dcterms:modified>
</cp:coreProperties>
</file>