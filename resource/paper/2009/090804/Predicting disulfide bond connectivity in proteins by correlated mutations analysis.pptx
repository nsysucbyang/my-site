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9" r:id="rId4"/>
    <p:sldId id="260" r:id="rId5"/>
    <p:sldId id="258" r:id="rId6"/>
    <p:sldId id="261" r:id="rId7"/>
    <p:sldId id="262" r:id="rId8"/>
    <p:sldId id="263" r:id="rId9"/>
    <p:sldId id="264" r:id="rId1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2" d="100"/>
          <a:sy n="102" d="100"/>
        </p:scale>
        <p:origin x="-23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107CEE5-3ABD-426D-ABEB-47D64C32A4D9}" type="datetimeFigureOut">
              <a:rPr lang="zh-TW" altLang="en-US" smtClean="0"/>
              <a:pPr/>
              <a:t>2009/8/10</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9F3A9C-C500-4C64-AEE0-45B7D58350D1}"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2009/8/10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2009/8/10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2009/8/10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2009/8/10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2009/8/10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2009/8/10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2009/8/10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2009/8/10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2009/8/10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2009/8/10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2009/8/10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2009/8/10</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sz="3200" dirty="0" smtClean="0">
                <a:latin typeface="Times New Roman" pitchFamily="18" charset="0"/>
                <a:cs typeface="Times New Roman" pitchFamily="18" charset="0"/>
              </a:rPr>
              <a:t>Predicting disulfide bond connectivity in proteins by correlated mutations analysis</a:t>
            </a:r>
            <a:endParaRPr lang="zh-TW" altLang="en-US" sz="3200" dirty="0">
              <a:latin typeface="Times New Roman" pitchFamily="18" charset="0"/>
              <a:cs typeface="Times New Roman" pitchFamily="18" charset="0"/>
            </a:endParaRPr>
          </a:p>
        </p:txBody>
      </p:sp>
      <p:sp>
        <p:nvSpPr>
          <p:cNvPr id="3" name="副標題 2"/>
          <p:cNvSpPr>
            <a:spLocks noGrp="1"/>
          </p:cNvSpPr>
          <p:nvPr>
            <p:ph type="subTitle" idx="1"/>
          </p:nvPr>
        </p:nvSpPr>
        <p:spPr/>
        <p:txBody>
          <a:bodyPr/>
          <a:lstStyle/>
          <a:p>
            <a:r>
              <a:rPr lang="sv-SE" altLang="zh-TW" sz="1600" dirty="0" smtClean="0">
                <a:solidFill>
                  <a:schemeClr val="tx1"/>
                </a:solidFill>
                <a:latin typeface="Times New Roman" pitchFamily="18" charset="0"/>
                <a:cs typeface="Times New Roman" pitchFamily="18" charset="0"/>
              </a:rPr>
              <a:t>Rotem Rubinstein and Andras Fiser</a:t>
            </a:r>
          </a:p>
          <a:p>
            <a:endParaRPr lang="sv-SE" altLang="zh-TW" sz="1600" dirty="0" smtClean="0">
              <a:solidFill>
                <a:schemeClr val="tx1"/>
              </a:solidFill>
              <a:latin typeface="Times New Roman" pitchFamily="18" charset="0"/>
              <a:cs typeface="Times New Roman" pitchFamily="18" charset="0"/>
            </a:endParaRPr>
          </a:p>
          <a:p>
            <a:r>
              <a:rPr lang="en-US" altLang="zh-TW" sz="1600" dirty="0" smtClean="0">
                <a:solidFill>
                  <a:schemeClr val="tx1"/>
                </a:solidFill>
                <a:latin typeface="Times New Roman" pitchFamily="18" charset="0"/>
                <a:cs typeface="Times New Roman" pitchFamily="18" charset="0"/>
              </a:rPr>
              <a:t>10.1093/bioinformatics/btm637   </a:t>
            </a:r>
            <a:r>
              <a:rPr lang="pt-BR" altLang="zh-TW" sz="1600" dirty="0" smtClean="0">
                <a:solidFill>
                  <a:schemeClr val="tx1"/>
                </a:solidFill>
                <a:latin typeface="Times New Roman" pitchFamily="18" charset="0"/>
                <a:cs typeface="Times New Roman" pitchFamily="18" charset="0"/>
              </a:rPr>
              <a:t>Vol. 24 </a:t>
            </a:r>
            <a:r>
              <a:rPr lang="pt-BR" altLang="zh-TW" sz="1600" dirty="0" smtClean="0">
                <a:solidFill>
                  <a:schemeClr val="tx1"/>
                </a:solidFill>
                <a:latin typeface="Times New Roman" pitchFamily="18" charset="0"/>
                <a:cs typeface="Times New Roman" pitchFamily="18" charset="0"/>
              </a:rPr>
              <a:t>No</a:t>
            </a:r>
            <a:r>
              <a:rPr lang="pt-BR" altLang="zh-TW" sz="1600" dirty="0" smtClean="0">
                <a:solidFill>
                  <a:schemeClr val="tx1"/>
                </a:solidFill>
                <a:latin typeface="Times New Roman" pitchFamily="18" charset="0"/>
                <a:cs typeface="Times New Roman" pitchFamily="18" charset="0"/>
              </a:rPr>
              <a:t>. </a:t>
            </a:r>
            <a:r>
              <a:rPr lang="pt-BR" altLang="zh-TW" sz="1600" smtClean="0">
                <a:solidFill>
                  <a:schemeClr val="tx1"/>
                </a:solidFill>
                <a:latin typeface="Times New Roman" pitchFamily="18" charset="0"/>
                <a:cs typeface="Times New Roman" pitchFamily="18" charset="0"/>
              </a:rPr>
              <a:t>4. </a:t>
            </a:r>
            <a:r>
              <a:rPr lang="pt-BR" altLang="zh-TW" sz="1600" dirty="0" smtClean="0">
                <a:solidFill>
                  <a:schemeClr val="tx1"/>
                </a:solidFill>
                <a:latin typeface="Times New Roman" pitchFamily="18" charset="0"/>
                <a:cs typeface="Times New Roman" pitchFamily="18" charset="0"/>
              </a:rPr>
              <a:t>2008, pages 498–504</a:t>
            </a:r>
            <a:endParaRPr lang="zh-TW" altLang="en-US" sz="1600" dirty="0">
              <a:solidFill>
                <a:schemeClr val="tx1"/>
              </a:solidFill>
              <a:latin typeface="Times New Roman" pitchFamily="18" charset="0"/>
              <a:cs typeface="Times New Roman" pitchFamily="18" charset="0"/>
            </a:endParaRPr>
          </a:p>
        </p:txBody>
      </p:sp>
      <p:sp>
        <p:nvSpPr>
          <p:cNvPr id="4" name="Text Box 6"/>
          <p:cNvSpPr txBox="1">
            <a:spLocks noChangeArrowheads="1"/>
          </p:cNvSpPr>
          <p:nvPr/>
        </p:nvSpPr>
        <p:spPr bwMode="auto">
          <a:xfrm>
            <a:off x="6156325" y="5345113"/>
            <a:ext cx="1960024" cy="566309"/>
          </a:xfrm>
          <a:prstGeom prst="rect">
            <a:avLst/>
          </a:prstGeom>
          <a:noFill/>
          <a:ln w="9525">
            <a:noFill/>
            <a:miter lim="800000"/>
            <a:headEnd/>
            <a:tailEnd/>
          </a:ln>
        </p:spPr>
        <p:txBody>
          <a:bodyPr wrap="none">
            <a:spAutoFit/>
          </a:bodyPr>
          <a:lstStyle/>
          <a:p>
            <a:pPr>
              <a:spcBef>
                <a:spcPct val="20000"/>
              </a:spcBef>
            </a:pPr>
            <a:r>
              <a:rPr lang="en-US" altLang="zh-TW" sz="1400" dirty="0"/>
              <a:t>Presenter : </a:t>
            </a:r>
            <a:r>
              <a:rPr lang="en-US" altLang="zh-TW" sz="1400" dirty="0" err="1"/>
              <a:t>Chih</a:t>
            </a:r>
            <a:r>
              <a:rPr lang="en-US" altLang="zh-TW" sz="1400" dirty="0"/>
              <a:t>-Ying Lin</a:t>
            </a:r>
          </a:p>
          <a:p>
            <a:pPr>
              <a:spcBef>
                <a:spcPct val="20000"/>
              </a:spcBef>
            </a:pPr>
            <a:r>
              <a:rPr lang="en-US" altLang="zh-TW" sz="1400" dirty="0"/>
              <a:t>Date : </a:t>
            </a:r>
            <a:r>
              <a:rPr lang="en-US" sz="1400" dirty="0" smtClean="0"/>
              <a:t>Aug.</a:t>
            </a:r>
            <a:r>
              <a:rPr lang="en-US" altLang="zh-TW" sz="1400" dirty="0" smtClean="0"/>
              <a:t> 04, </a:t>
            </a:r>
            <a:r>
              <a:rPr lang="en-US" altLang="zh-TW" sz="1400" dirty="0"/>
              <a:t>2009</a:t>
            </a:r>
            <a:endParaRPr lang="en-US" altLang="zh-TW" dirty="0">
              <a:latin typeface="Tahoma"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62500" lnSpcReduction="20000"/>
          </a:bodyPr>
          <a:lstStyle/>
          <a:p>
            <a:pPr>
              <a:buNone/>
            </a:pPr>
            <a:r>
              <a:rPr lang="en-US" altLang="zh-TW" dirty="0" smtClean="0"/>
              <a:t>	</a:t>
            </a:r>
            <a:r>
              <a:rPr lang="en-US" altLang="zh-TW" b="1" dirty="0" smtClean="0">
                <a:latin typeface="Times New Roman" pitchFamily="18" charset="0"/>
                <a:cs typeface="Times New Roman" pitchFamily="18" charset="0"/>
              </a:rPr>
              <a:t>Motivation:</a:t>
            </a:r>
            <a:r>
              <a:rPr lang="en-US" altLang="zh-TW" dirty="0" smtClean="0">
                <a:latin typeface="Times New Roman" pitchFamily="18" charset="0"/>
                <a:cs typeface="Times New Roman" pitchFamily="18" charset="0"/>
              </a:rPr>
              <a:t> Prediction of disulfide bond connectivity facilitates structural and functional annotation of proteins. Previous studies suggest that </a:t>
            </a:r>
            <a:r>
              <a:rPr lang="en-US" altLang="zh-TW" dirty="0" err="1" smtClean="0">
                <a:latin typeface="Times New Roman" pitchFamily="18" charset="0"/>
                <a:cs typeface="Times New Roman" pitchFamily="18" charset="0"/>
              </a:rPr>
              <a:t>cysteines</a:t>
            </a:r>
            <a:r>
              <a:rPr lang="en-US" altLang="zh-TW" dirty="0" smtClean="0">
                <a:latin typeface="Times New Roman" pitchFamily="18" charset="0"/>
                <a:cs typeface="Times New Roman" pitchFamily="18" charset="0"/>
              </a:rPr>
              <a:t> of a disulfide bond mutate in a correlated manner.</a:t>
            </a:r>
          </a:p>
          <a:p>
            <a:pPr>
              <a:buNone/>
            </a:pPr>
            <a:r>
              <a:rPr lang="en-US" altLang="zh-TW" dirty="0" smtClean="0">
                <a:latin typeface="Times New Roman" pitchFamily="18" charset="0"/>
                <a:cs typeface="Times New Roman" pitchFamily="18" charset="0"/>
              </a:rPr>
              <a:t>	</a:t>
            </a:r>
            <a:r>
              <a:rPr lang="en-US" altLang="zh-TW" b="1" dirty="0" smtClean="0">
                <a:latin typeface="Times New Roman" pitchFamily="18" charset="0"/>
                <a:cs typeface="Times New Roman" pitchFamily="18" charset="0"/>
              </a:rPr>
              <a:t>Results:</a:t>
            </a:r>
            <a:r>
              <a:rPr lang="en-US" altLang="zh-TW" dirty="0" smtClean="0">
                <a:latin typeface="Times New Roman" pitchFamily="18" charset="0"/>
                <a:cs typeface="Times New Roman" pitchFamily="18" charset="0"/>
              </a:rPr>
              <a:t> We developed a method that analyzes correlated mutation patterns in multiple sequence alignments in order to predict disulfide bond connectivity. Proteins with known experimental structures and varying numbers of disulfide bonds, and that spanned various evolutionary distances, were aligned. We observed frequent variation of disulfide bond connectivity within members of the same protein families, and it was also observed that in 99% of the cases,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pairs forming non-conserved disulfide bonds mutated in concert. Our data support the notion that substitution of a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in a disulfide bond prompts the substitution of its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partner and that oxidized </a:t>
            </a:r>
            <a:r>
              <a:rPr lang="en-US" altLang="zh-TW" dirty="0" err="1" smtClean="0">
                <a:latin typeface="Times New Roman" pitchFamily="18" charset="0"/>
                <a:cs typeface="Times New Roman" pitchFamily="18" charset="0"/>
              </a:rPr>
              <a:t>cysteines</a:t>
            </a:r>
            <a:r>
              <a:rPr lang="en-US" altLang="zh-TW" dirty="0" smtClean="0">
                <a:latin typeface="Times New Roman" pitchFamily="18" charset="0"/>
                <a:cs typeface="Times New Roman" pitchFamily="18" charset="0"/>
              </a:rPr>
              <a:t> appear in pairs. The method we developed predicts disulfide bond connectivity patterns with accuracies of 73, 69 and 61% for proteins with two, three and four disulfide bonds,</a:t>
            </a:r>
          </a:p>
          <a:p>
            <a:pPr>
              <a:buNone/>
            </a:pPr>
            <a:r>
              <a:rPr lang="en-US" altLang="zh-TW" dirty="0" smtClean="0">
                <a:latin typeface="Times New Roman" pitchFamily="18" charset="0"/>
                <a:cs typeface="Times New Roman" pitchFamily="18" charset="0"/>
              </a:rPr>
              <a:t>	respectively.</a:t>
            </a:r>
            <a:endParaRPr lang="zh-TW" alt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Prediction method</a:t>
            </a:r>
            <a:endParaRPr lang="zh-TW" altLang="en-US" dirty="0"/>
          </a:p>
        </p:txBody>
      </p:sp>
      <p:sp>
        <p:nvSpPr>
          <p:cNvPr id="3" name="內容版面配置區 2"/>
          <p:cNvSpPr>
            <a:spLocks noGrp="1"/>
          </p:cNvSpPr>
          <p:nvPr>
            <p:ph idx="1"/>
          </p:nvPr>
        </p:nvSpPr>
        <p:spPr/>
        <p:txBody>
          <a:bodyPr>
            <a:normAutofit/>
          </a:bodyPr>
          <a:lstStyle/>
          <a:p>
            <a:r>
              <a:rPr lang="en-US" altLang="zh-TW" sz="2000" dirty="0" smtClean="0">
                <a:latin typeface="Times New Roman" pitchFamily="18" charset="0"/>
                <a:cs typeface="Times New Roman" pitchFamily="18" charset="0"/>
              </a:rPr>
              <a:t>A={Alignment positions (columns) corresponding to the query bound </a:t>
            </a:r>
            <a:r>
              <a:rPr lang="en-US" altLang="zh-TW" sz="2000" dirty="0" err="1" smtClean="0">
                <a:latin typeface="Times New Roman" pitchFamily="18" charset="0"/>
                <a:cs typeface="Times New Roman" pitchFamily="18" charset="0"/>
              </a:rPr>
              <a:t>cysteines</a:t>
            </a:r>
            <a:r>
              <a:rPr lang="en-US" altLang="zh-TW" sz="2000" dirty="0" smtClean="0">
                <a:latin typeface="Times New Roman" pitchFamily="18" charset="0"/>
                <a:cs typeface="Times New Roman" pitchFamily="18" charset="0"/>
              </a:rPr>
              <a:t>}</a:t>
            </a:r>
          </a:p>
          <a:p>
            <a:r>
              <a:rPr lang="en-US" altLang="zh-TW" sz="2000" i="1" dirty="0" err="1" smtClean="0">
                <a:latin typeface="Times New Roman" pitchFamily="18" charset="0"/>
                <a:cs typeface="Times New Roman" pitchFamily="18" charset="0"/>
              </a:rPr>
              <a:t>I</a:t>
            </a:r>
            <a:r>
              <a:rPr lang="en-US" altLang="zh-TW" sz="2000" i="1" baseline="30000" dirty="0" err="1" smtClean="0">
                <a:latin typeface="Times New Roman" pitchFamily="18" charset="0"/>
                <a:cs typeface="Times New Roman" pitchFamily="18" charset="0"/>
              </a:rPr>
              <a:t>j</a:t>
            </a:r>
            <a:r>
              <a:rPr lang="en-US" altLang="zh-TW" sz="2000" dirty="0" smtClean="0">
                <a:latin typeface="Times New Roman" pitchFamily="18" charset="0"/>
                <a:cs typeface="Times New Roman" pitchFamily="18" charset="0"/>
              </a:rPr>
              <a:t>={</a:t>
            </a:r>
            <a:r>
              <a:rPr lang="en-US" altLang="zh-TW" sz="2000" i="1" dirty="0" err="1" smtClean="0">
                <a:latin typeface="Times New Roman" pitchFamily="18" charset="0"/>
                <a:cs typeface="Times New Roman" pitchFamily="18" charset="0"/>
              </a:rPr>
              <a:t>i</a:t>
            </a:r>
            <a:r>
              <a:rPr lang="en-US" altLang="zh-TW" sz="2000" dirty="0" smtClean="0">
                <a:latin typeface="Times New Roman" pitchFamily="18" charset="0"/>
                <a:cs typeface="Times New Roman" pitchFamily="18" charset="0"/>
              </a:rPr>
              <a:t> | </a:t>
            </a:r>
            <a:r>
              <a:rPr lang="en-US" altLang="zh-TW" sz="2000" i="1" dirty="0" err="1" smtClean="0">
                <a:latin typeface="Times New Roman" pitchFamily="18" charset="0"/>
                <a:cs typeface="Times New Roman" pitchFamily="18" charset="0"/>
              </a:rPr>
              <a:t>i</a:t>
            </a:r>
            <a:r>
              <a:rPr lang="en-US" altLang="zh-TW" sz="2000" dirty="0" smtClean="0">
                <a:latin typeface="Times New Roman" pitchFamily="18" charset="0"/>
                <a:cs typeface="Times New Roman" pitchFamily="18" charset="0"/>
              </a:rPr>
              <a:t> </a:t>
            </a:r>
            <a:r>
              <a:rPr lang="az-Cyrl-AZ" altLang="zh-TW" sz="2000" dirty="0" smtClean="0">
                <a:latin typeface="Times New Roman" pitchFamily="18" charset="0"/>
                <a:cs typeface="Times New Roman" pitchFamily="18" charset="0"/>
              </a:rPr>
              <a:t>є</a:t>
            </a:r>
            <a:r>
              <a:rPr lang="en-US" altLang="zh-TW" sz="2000" dirty="0" smtClean="0">
                <a:latin typeface="Times New Roman" pitchFamily="18" charset="0"/>
                <a:cs typeface="Times New Roman" pitchFamily="18" charset="0"/>
              </a:rPr>
              <a:t> A &amp; Position </a:t>
            </a:r>
            <a:r>
              <a:rPr lang="en-US" altLang="zh-TW" sz="2000" i="1" dirty="0" err="1" smtClean="0">
                <a:latin typeface="Times New Roman" pitchFamily="18" charset="0"/>
                <a:cs typeface="Times New Roman" pitchFamily="18" charset="0"/>
              </a:rPr>
              <a:t>i</a:t>
            </a:r>
            <a:r>
              <a:rPr lang="en-US" altLang="zh-TW" sz="2000" dirty="0" smtClean="0">
                <a:latin typeface="Times New Roman" pitchFamily="18" charset="0"/>
                <a:cs typeface="Times New Roman" pitchFamily="18" charset="0"/>
              </a:rPr>
              <a:t> in sequence </a:t>
            </a:r>
            <a:r>
              <a:rPr lang="en-US" altLang="zh-TW" sz="2000" i="1" dirty="0" smtClean="0">
                <a:latin typeface="Times New Roman" pitchFamily="18" charset="0"/>
                <a:cs typeface="Times New Roman" pitchFamily="18" charset="0"/>
              </a:rPr>
              <a:t>j</a:t>
            </a:r>
            <a:r>
              <a:rPr lang="en-US" altLang="zh-TW" sz="2000" dirty="0" smtClean="0">
                <a:latin typeface="Times New Roman" pitchFamily="18" charset="0"/>
                <a:cs typeface="Times New Roman" pitchFamily="18" charset="0"/>
              </a:rPr>
              <a:t> is a </a:t>
            </a:r>
            <a:r>
              <a:rPr lang="en-US" altLang="zh-TW" sz="2000" dirty="0" err="1" smtClean="0">
                <a:latin typeface="Times New Roman" pitchFamily="18" charset="0"/>
                <a:cs typeface="Times New Roman" pitchFamily="18" charset="0"/>
              </a:rPr>
              <a:t>cysteine</a:t>
            </a:r>
            <a:r>
              <a:rPr lang="en-US" altLang="zh-TW" sz="2000" dirty="0" smtClean="0">
                <a:latin typeface="Times New Roman" pitchFamily="18" charset="0"/>
                <a:cs typeface="Times New Roman" pitchFamily="18" charset="0"/>
              </a:rPr>
              <a:t>}</a:t>
            </a:r>
          </a:p>
          <a:p>
            <a:r>
              <a:rPr lang="en-US" altLang="zh-TW" sz="2000" i="1" dirty="0" err="1" smtClean="0">
                <a:latin typeface="Times New Roman" pitchFamily="18" charset="0"/>
                <a:cs typeface="Times New Roman" pitchFamily="18" charset="0"/>
              </a:rPr>
              <a:t>II</a:t>
            </a:r>
            <a:r>
              <a:rPr lang="en-US" altLang="zh-TW" sz="2000" i="1" baseline="30000" dirty="0" err="1" smtClean="0">
                <a:latin typeface="Times New Roman" pitchFamily="18" charset="0"/>
                <a:cs typeface="Times New Roman" pitchFamily="18" charset="0"/>
              </a:rPr>
              <a:t>j</a:t>
            </a:r>
            <a:r>
              <a:rPr lang="en-US" altLang="zh-TW" sz="2000" dirty="0" smtClean="0">
                <a:latin typeface="Times New Roman" pitchFamily="18" charset="0"/>
                <a:cs typeface="Times New Roman" pitchFamily="18" charset="0"/>
              </a:rPr>
              <a:t>={</a:t>
            </a:r>
            <a:r>
              <a:rPr lang="en-US" altLang="zh-TW" sz="2000" i="1" dirty="0" err="1" smtClean="0">
                <a:latin typeface="Times New Roman" pitchFamily="18" charset="0"/>
                <a:cs typeface="Times New Roman" pitchFamily="18" charset="0"/>
              </a:rPr>
              <a:t>i</a:t>
            </a:r>
            <a:r>
              <a:rPr lang="en-US" altLang="zh-TW" sz="2000" dirty="0" smtClean="0">
                <a:latin typeface="Times New Roman" pitchFamily="18" charset="0"/>
                <a:cs typeface="Times New Roman" pitchFamily="18" charset="0"/>
              </a:rPr>
              <a:t> | </a:t>
            </a:r>
            <a:r>
              <a:rPr lang="en-US" altLang="zh-TW" sz="2000" i="1" dirty="0" err="1" smtClean="0">
                <a:latin typeface="Times New Roman" pitchFamily="18" charset="0"/>
                <a:cs typeface="Times New Roman" pitchFamily="18" charset="0"/>
              </a:rPr>
              <a:t>i</a:t>
            </a:r>
            <a:r>
              <a:rPr lang="en-US" altLang="zh-TW" sz="2000" dirty="0" smtClean="0">
                <a:latin typeface="Times New Roman" pitchFamily="18" charset="0"/>
                <a:cs typeface="Times New Roman" pitchFamily="18" charset="0"/>
              </a:rPr>
              <a:t> </a:t>
            </a:r>
            <a:r>
              <a:rPr lang="az-Cyrl-AZ" altLang="zh-TW" sz="2000" dirty="0" smtClean="0">
                <a:latin typeface="Times New Roman" pitchFamily="18" charset="0"/>
                <a:cs typeface="Times New Roman" pitchFamily="18" charset="0"/>
              </a:rPr>
              <a:t>є</a:t>
            </a:r>
            <a:r>
              <a:rPr lang="en-US" altLang="zh-TW" sz="2000" dirty="0" smtClean="0">
                <a:latin typeface="Times New Roman" pitchFamily="18" charset="0"/>
                <a:cs typeface="Times New Roman" pitchFamily="18" charset="0"/>
              </a:rPr>
              <a:t> A &amp; Position </a:t>
            </a:r>
            <a:r>
              <a:rPr lang="en-US" altLang="zh-TW" sz="2000" i="1" dirty="0" err="1" smtClean="0">
                <a:latin typeface="Times New Roman" pitchFamily="18" charset="0"/>
                <a:cs typeface="Times New Roman" pitchFamily="18" charset="0"/>
              </a:rPr>
              <a:t>i</a:t>
            </a:r>
            <a:r>
              <a:rPr lang="en-US" altLang="zh-TW" sz="2000" dirty="0" smtClean="0">
                <a:latin typeface="Times New Roman" pitchFamily="18" charset="0"/>
                <a:cs typeface="Times New Roman" pitchFamily="18" charset="0"/>
              </a:rPr>
              <a:t> in sequence </a:t>
            </a:r>
            <a:r>
              <a:rPr lang="en-US" altLang="zh-TW" sz="2000" i="1" dirty="0" smtClean="0">
                <a:latin typeface="Times New Roman" pitchFamily="18" charset="0"/>
                <a:cs typeface="Times New Roman" pitchFamily="18" charset="0"/>
              </a:rPr>
              <a:t>j</a:t>
            </a:r>
            <a:r>
              <a:rPr lang="en-US" altLang="zh-TW" sz="2000" dirty="0" smtClean="0">
                <a:latin typeface="Times New Roman" pitchFamily="18" charset="0"/>
                <a:cs typeface="Times New Roman" pitchFamily="18" charset="0"/>
              </a:rPr>
              <a:t> is not a </a:t>
            </a:r>
            <a:r>
              <a:rPr lang="en-US" altLang="zh-TW" sz="2000" dirty="0" err="1" smtClean="0">
                <a:latin typeface="Times New Roman" pitchFamily="18" charset="0"/>
                <a:cs typeface="Times New Roman" pitchFamily="18" charset="0"/>
              </a:rPr>
              <a:t>cysteine</a:t>
            </a:r>
            <a:r>
              <a:rPr lang="en-US" altLang="zh-TW" sz="2000" dirty="0" smtClean="0">
                <a:latin typeface="Times New Roman" pitchFamily="18" charset="0"/>
                <a:cs typeface="Times New Roman" pitchFamily="18" charset="0"/>
              </a:rPr>
              <a:t>}</a:t>
            </a:r>
          </a:p>
        </p:txBody>
      </p:sp>
      <p:pic>
        <p:nvPicPr>
          <p:cNvPr id="2051" name="Picture 3"/>
          <p:cNvPicPr>
            <a:picLocks noChangeAspect="1" noChangeArrowheads="1"/>
          </p:cNvPicPr>
          <p:nvPr/>
        </p:nvPicPr>
        <p:blipFill>
          <a:blip r:embed="rId2"/>
          <a:srcRect/>
          <a:stretch>
            <a:fillRect/>
          </a:stretch>
        </p:blipFill>
        <p:spPr bwMode="auto">
          <a:xfrm>
            <a:off x="2357422" y="3143248"/>
            <a:ext cx="3929090" cy="30391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p:sp>
        <p:nvSpPr>
          <p:cNvPr id="3" name="內容版面配置區 2"/>
          <p:cNvSpPr>
            <a:spLocks noGrp="1"/>
          </p:cNvSpPr>
          <p:nvPr>
            <p:ph idx="1"/>
          </p:nvPr>
        </p:nvSpPr>
        <p:spPr/>
        <p:txBody>
          <a:bodyPr/>
          <a:lstStyle/>
          <a:p>
            <a:r>
              <a:rPr lang="en-US" altLang="zh-TW" dirty="0" err="1" smtClean="0">
                <a:latin typeface="Times New Roman" pitchFamily="18" charset="0"/>
                <a:cs typeface="Times New Roman" pitchFamily="18" charset="0"/>
              </a:rPr>
              <a:t>pepa_human</a:t>
            </a:r>
            <a:r>
              <a:rPr lang="en-US" altLang="zh-TW" dirty="0" smtClean="0">
                <a:latin typeface="Times New Roman" pitchFamily="18" charset="0"/>
                <a:cs typeface="Times New Roman" pitchFamily="18" charset="0"/>
              </a:rPr>
              <a:t> 107–112, 268–272, 311–344</a:t>
            </a:r>
          </a:p>
          <a:p>
            <a:endParaRPr lang="zh-TW" altLang="en-US" dirty="0"/>
          </a:p>
        </p:txBody>
      </p:sp>
      <p:graphicFrame>
        <p:nvGraphicFramePr>
          <p:cNvPr id="4" name="表格 3"/>
          <p:cNvGraphicFramePr>
            <a:graphicFrameLocks noGrp="1"/>
          </p:cNvGraphicFramePr>
          <p:nvPr/>
        </p:nvGraphicFramePr>
        <p:xfrm>
          <a:off x="928661" y="2428868"/>
          <a:ext cx="7000924" cy="1651000"/>
        </p:xfrm>
        <a:graphic>
          <a:graphicData uri="http://schemas.openxmlformats.org/drawingml/2006/table">
            <a:tbl>
              <a:tblPr firstRow="1">
                <a:tableStyleId>{5C22544A-7EE6-4342-B048-85BDC9FD1C3A}</a:tableStyleId>
              </a:tblPr>
              <a:tblGrid>
                <a:gridCol w="1000132"/>
                <a:gridCol w="1000132"/>
                <a:gridCol w="1000132"/>
                <a:gridCol w="1000132"/>
                <a:gridCol w="1000132"/>
                <a:gridCol w="1000132"/>
                <a:gridCol w="1000132"/>
              </a:tblGrid>
              <a:tr h="370840">
                <a:tc>
                  <a:txBody>
                    <a:bodyPr/>
                    <a:lstStyle/>
                    <a:p>
                      <a:pPr algn="ctr"/>
                      <a:endParaRPr lang="zh-TW" altLang="en-US" dirty="0"/>
                    </a:p>
                  </a:txBody>
                  <a:tcPr/>
                </a:tc>
                <a:tc>
                  <a:txBody>
                    <a:bodyPr/>
                    <a:lstStyle/>
                    <a:p>
                      <a:pPr algn="ctr"/>
                      <a:r>
                        <a:rPr lang="en-US" altLang="zh-TW" dirty="0" smtClean="0">
                          <a:latin typeface="Times New Roman" pitchFamily="18" charset="0"/>
                          <a:cs typeface="Times New Roman" pitchFamily="18" charset="0"/>
                        </a:rPr>
                        <a:t>107</a:t>
                      </a:r>
                      <a:endParaRPr lang="zh-TW" altLang="en-US" dirty="0"/>
                    </a:p>
                  </a:txBody>
                  <a:tcPr/>
                </a:tc>
                <a:tc>
                  <a:txBody>
                    <a:bodyPr/>
                    <a:lstStyle/>
                    <a:p>
                      <a:pPr algn="ctr"/>
                      <a:r>
                        <a:rPr lang="en-US" altLang="zh-TW" dirty="0" smtClean="0">
                          <a:latin typeface="Times New Roman" pitchFamily="18" charset="0"/>
                          <a:cs typeface="Times New Roman" pitchFamily="18" charset="0"/>
                        </a:rPr>
                        <a:t>112</a:t>
                      </a:r>
                      <a:endParaRPr lang="zh-TW" altLang="en-US" dirty="0"/>
                    </a:p>
                  </a:txBody>
                  <a:tcPr/>
                </a:tc>
                <a:tc>
                  <a:txBody>
                    <a:bodyPr/>
                    <a:lstStyle/>
                    <a:p>
                      <a:pPr algn="ctr"/>
                      <a:r>
                        <a:rPr lang="en-US" altLang="zh-TW" dirty="0" smtClean="0"/>
                        <a:t>268</a:t>
                      </a:r>
                      <a:endParaRPr lang="zh-TW" altLang="en-US" dirty="0"/>
                    </a:p>
                  </a:txBody>
                  <a:tcPr/>
                </a:tc>
                <a:tc>
                  <a:txBody>
                    <a:bodyPr/>
                    <a:lstStyle/>
                    <a:p>
                      <a:pPr algn="ctr"/>
                      <a:r>
                        <a:rPr lang="en-US" altLang="zh-TW" dirty="0" smtClean="0"/>
                        <a:t>272</a:t>
                      </a:r>
                      <a:endParaRPr lang="zh-TW" altLang="en-US" dirty="0"/>
                    </a:p>
                  </a:txBody>
                  <a:tcPr/>
                </a:tc>
                <a:tc>
                  <a:txBody>
                    <a:bodyPr/>
                    <a:lstStyle/>
                    <a:p>
                      <a:pPr algn="ctr"/>
                      <a:r>
                        <a:rPr lang="en-US" altLang="zh-TW" dirty="0" smtClean="0"/>
                        <a:t>311</a:t>
                      </a:r>
                      <a:endParaRPr lang="zh-TW" altLang="en-US" dirty="0"/>
                    </a:p>
                  </a:txBody>
                  <a:tcPr/>
                </a:tc>
                <a:tc>
                  <a:txBody>
                    <a:bodyPr/>
                    <a:lstStyle/>
                    <a:p>
                      <a:pPr algn="ctr"/>
                      <a:r>
                        <a:rPr lang="en-US" altLang="zh-TW" dirty="0" smtClean="0"/>
                        <a:t>344</a:t>
                      </a:r>
                      <a:endParaRPr lang="zh-TW" altLang="en-US" dirty="0"/>
                    </a:p>
                  </a:txBody>
                  <a:tcPr/>
                </a:tc>
              </a:tr>
              <a:tr h="370840">
                <a:tc>
                  <a:txBody>
                    <a:bodyPr/>
                    <a:lstStyle/>
                    <a:p>
                      <a:pPr algn="ctr"/>
                      <a:r>
                        <a:rPr lang="en-US" altLang="zh-TW" dirty="0" smtClean="0"/>
                        <a:t>AAA23476</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C</a:t>
                      </a:r>
                      <a:endParaRPr lang="zh-TW" altLang="en-US" dirty="0"/>
                    </a:p>
                  </a:txBody>
                  <a:tcPr/>
                </a:tc>
              </a:tr>
              <a:tr h="370840">
                <a:tc>
                  <a:txBody>
                    <a:bodyPr/>
                    <a:lstStyle/>
                    <a:p>
                      <a:pPr algn="ctr"/>
                      <a:r>
                        <a:rPr lang="en-US" altLang="zh-TW" dirty="0" smtClean="0"/>
                        <a:t>XP_61523</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L</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C</a:t>
                      </a:r>
                      <a:endParaRPr lang="zh-TW" altLang="en-US" dirty="0"/>
                    </a:p>
                  </a:txBody>
                  <a:tcPr/>
                </a:tc>
              </a:tr>
            </a:tbl>
          </a:graphicData>
        </a:graphic>
      </p:graphicFrame>
      <p:graphicFrame>
        <p:nvGraphicFramePr>
          <p:cNvPr id="5" name="表格 4"/>
          <p:cNvGraphicFramePr>
            <a:graphicFrameLocks noGrp="1"/>
          </p:cNvGraphicFramePr>
          <p:nvPr/>
        </p:nvGraphicFramePr>
        <p:xfrm>
          <a:off x="1643042" y="4214818"/>
          <a:ext cx="5786478" cy="1857363"/>
        </p:xfrm>
        <a:graphic>
          <a:graphicData uri="http://schemas.openxmlformats.org/drawingml/2006/table">
            <a:tbl>
              <a:tblPr firstRow="1" firstCol="1">
                <a:tableStyleId>{5C22544A-7EE6-4342-B048-85BDC9FD1C3A}</a:tableStyleId>
              </a:tblPr>
              <a:tblGrid>
                <a:gridCol w="1928826"/>
                <a:gridCol w="1928826"/>
                <a:gridCol w="1928826"/>
              </a:tblGrid>
              <a:tr h="619121">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I</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II</a:t>
                      </a:r>
                      <a:endParaRPr lang="zh-TW" altLang="en-US" dirty="0">
                        <a:latin typeface="Times New Roman" pitchFamily="18" charset="0"/>
                        <a:cs typeface="Times New Roman" pitchFamily="18" charset="0"/>
                      </a:endParaRPr>
                    </a:p>
                  </a:txBody>
                  <a:tcPr/>
                </a:tc>
              </a:tr>
              <a:tr h="61912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AAA23476</a:t>
                      </a:r>
                      <a:endParaRPr lang="zh-TW" altLang="en-US" dirty="0" smtClean="0"/>
                    </a:p>
                  </a:txBody>
                  <a:tcPr/>
                </a:tc>
                <a:tc>
                  <a:txBody>
                    <a:bodyPr/>
                    <a:lstStyle/>
                    <a:p>
                      <a:pPr algn="ctr"/>
                      <a:r>
                        <a:rPr lang="en-US" altLang="zh-TW" dirty="0" smtClean="0">
                          <a:latin typeface="Times New Roman" pitchFamily="18" charset="0"/>
                          <a:cs typeface="Times New Roman" pitchFamily="18" charset="0"/>
                        </a:rPr>
                        <a:t>268, 272, 311, 344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107, 112</a:t>
                      </a:r>
                      <a:endParaRPr lang="zh-TW" altLang="en-US" dirty="0">
                        <a:latin typeface="Times New Roman" pitchFamily="18" charset="0"/>
                        <a:cs typeface="Times New Roman" pitchFamily="18" charset="0"/>
                      </a:endParaRPr>
                    </a:p>
                  </a:txBody>
                  <a:tcPr/>
                </a:tc>
              </a:tr>
              <a:tr h="61912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XP_61523</a:t>
                      </a:r>
                      <a:endParaRPr lang="zh-TW" altLang="en-US" dirty="0" smtClean="0"/>
                    </a:p>
                  </a:txBody>
                  <a:tcPr/>
                </a:tc>
                <a:tc>
                  <a:txBody>
                    <a:bodyPr/>
                    <a:lstStyle/>
                    <a:p>
                      <a:pPr algn="ctr"/>
                      <a:r>
                        <a:rPr lang="en-US" altLang="zh-TW" dirty="0" smtClean="0">
                          <a:latin typeface="Times New Roman" pitchFamily="18" charset="0"/>
                          <a:cs typeface="Times New Roman" pitchFamily="18" charset="0"/>
                        </a:rPr>
                        <a:t>107, 112, 311, 344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268, 272</a:t>
                      </a:r>
                      <a:endParaRPr lang="zh-TW" altLang="en-US" dirty="0">
                        <a:latin typeface="Times New Roman" pitchFamily="18" charset="0"/>
                        <a:cs typeface="Times New Roman" pitchFamily="18" charset="0"/>
                      </a:endParaRPr>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p:pic>
        <p:nvPicPr>
          <p:cNvPr id="1026" name="Picture 2"/>
          <p:cNvPicPr>
            <a:picLocks noGrp="1" noChangeAspect="1" noChangeArrowheads="1"/>
          </p:cNvPicPr>
          <p:nvPr>
            <p:ph idx="1"/>
          </p:nvPr>
        </p:nvPicPr>
        <p:blipFill>
          <a:blip r:embed="rId2"/>
          <a:srcRect/>
          <a:stretch>
            <a:fillRect/>
          </a:stretch>
        </p:blipFill>
        <p:spPr bwMode="auto">
          <a:xfrm>
            <a:off x="642910" y="2428868"/>
            <a:ext cx="8191558" cy="3071834"/>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857356" y="1428736"/>
            <a:ext cx="5286412" cy="5157789"/>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p:pic>
        <p:nvPicPr>
          <p:cNvPr id="4098" name="Picture 2"/>
          <p:cNvPicPr>
            <a:picLocks noGrp="1" noChangeAspect="1" noChangeArrowheads="1"/>
          </p:cNvPicPr>
          <p:nvPr>
            <p:ph idx="1"/>
          </p:nvPr>
        </p:nvPicPr>
        <p:blipFill>
          <a:blip r:embed="rId2"/>
          <a:srcRect/>
          <a:stretch>
            <a:fillRect/>
          </a:stretch>
        </p:blipFill>
        <p:spPr bwMode="auto">
          <a:xfrm>
            <a:off x="2143108" y="1928802"/>
            <a:ext cx="4643470" cy="4154055"/>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a:t>
            </a:r>
            <a:endParaRPr lang="zh-TW" altLang="en-US" dirty="0"/>
          </a:p>
        </p:txBody>
      </p:sp>
      <p:pic>
        <p:nvPicPr>
          <p:cNvPr id="5122" name="Picture 2"/>
          <p:cNvPicPr>
            <a:picLocks noGrp="1" noChangeAspect="1" noChangeArrowheads="1"/>
          </p:cNvPicPr>
          <p:nvPr>
            <p:ph idx="1"/>
          </p:nvPr>
        </p:nvPicPr>
        <p:blipFill>
          <a:blip r:embed="rId2"/>
          <a:srcRect/>
          <a:stretch>
            <a:fillRect/>
          </a:stretch>
        </p:blipFill>
        <p:spPr bwMode="auto">
          <a:xfrm>
            <a:off x="285720" y="1714488"/>
            <a:ext cx="4265238" cy="2786082"/>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4572000" y="1571612"/>
            <a:ext cx="4157295" cy="428628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a:t>
            </a:r>
            <a:endParaRPr lang="zh-TW" altLang="en-US" dirty="0"/>
          </a:p>
        </p:txBody>
      </p:sp>
      <p:pic>
        <p:nvPicPr>
          <p:cNvPr id="6146" name="Picture 2"/>
          <p:cNvPicPr>
            <a:picLocks noGrp="1" noChangeAspect="1" noChangeArrowheads="1"/>
          </p:cNvPicPr>
          <p:nvPr>
            <p:ph idx="1"/>
          </p:nvPr>
        </p:nvPicPr>
        <p:blipFill>
          <a:blip r:embed="rId2"/>
          <a:srcRect/>
          <a:stretch>
            <a:fillRect/>
          </a:stretch>
        </p:blipFill>
        <p:spPr bwMode="auto">
          <a:xfrm>
            <a:off x="357158" y="1785926"/>
            <a:ext cx="4151092" cy="2214578"/>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4572000" y="1643050"/>
            <a:ext cx="4330122" cy="3341272"/>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TotalTime>
  <Words>146</Words>
  <PresentationFormat>如螢幕大小 (4:3)</PresentationFormat>
  <Paragraphs>49</Paragraphs>
  <Slides>9</Slides>
  <Notes>0</Notes>
  <HiddenSlides>0</HiddenSlides>
  <MMClips>0</MMClips>
  <ScaleCrop>false</ScaleCrop>
  <HeadingPairs>
    <vt:vector size="4" baseType="variant">
      <vt:variant>
        <vt:lpstr>佈景主題</vt:lpstr>
      </vt:variant>
      <vt:variant>
        <vt:i4>1</vt:i4>
      </vt:variant>
      <vt:variant>
        <vt:lpstr>投影片標題</vt:lpstr>
      </vt:variant>
      <vt:variant>
        <vt:i4>9</vt:i4>
      </vt:variant>
    </vt:vector>
  </HeadingPairs>
  <TitlesOfParts>
    <vt:vector size="10" baseType="lpstr">
      <vt:lpstr>Office 佈景主題</vt:lpstr>
      <vt:lpstr>Predicting disulfide bond connectivity in proteins by correlated mutations analysis</vt:lpstr>
      <vt:lpstr>Abstract</vt:lpstr>
      <vt:lpstr>Prediction method</vt:lpstr>
      <vt:lpstr>Example</vt:lpstr>
      <vt:lpstr>Example</vt:lpstr>
      <vt:lpstr>Example</vt:lpstr>
      <vt:lpstr>Example</vt:lpstr>
      <vt:lpstr>Result</vt:lpstr>
      <vt:lpstr>Result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disulfide bond connectivity in proteins by correlated mutations analysis</dc:title>
  <cp:lastModifiedBy>Sephiroth</cp:lastModifiedBy>
  <cp:revision>26</cp:revision>
  <dcterms:modified xsi:type="dcterms:W3CDTF">2009-08-10T08:53:58Z</dcterms:modified>
</cp:coreProperties>
</file>