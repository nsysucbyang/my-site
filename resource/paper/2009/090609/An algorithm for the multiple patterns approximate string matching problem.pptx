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2009/6/9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2009/6/9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2009/6/9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2009/6/9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2009/6/9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2009/6/9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2009/6/9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2009/6/9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2009/6/9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2009/6/9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2009/6/9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2009/6/9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 dirty="0" smtClean="0">
                <a:latin typeface="Times New Roman" pitchFamily="18" charset="0"/>
                <a:cs typeface="Times New Roman" pitchFamily="18" charset="0"/>
              </a:rPr>
              <a:t>An algorithm for the multiple patterns approximate string matching problem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1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Chia</a:t>
            </a:r>
            <a:r>
              <a:rPr lang="en-US" altLang="zh-TW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-Wei Lu, Chun-Yuan Lin, Chuan-Yi Tang, Wing-Kai Hon</a:t>
            </a:r>
          </a:p>
          <a:p>
            <a:endParaRPr lang="en-US" altLang="zh-TW" sz="1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1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26th Workshop on Combinatorial Mathematics and Computation Theory</a:t>
            </a:r>
          </a:p>
          <a:p>
            <a:endParaRPr lang="en-US" altLang="zh-TW" sz="1400" dirty="0" smtClean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156325" y="5345113"/>
            <a:ext cx="1960024" cy="56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TW" sz="1400" dirty="0"/>
              <a:t>Presenter : </a:t>
            </a:r>
            <a:r>
              <a:rPr lang="en-US" altLang="zh-TW" sz="1400" dirty="0" err="1"/>
              <a:t>Chih</a:t>
            </a:r>
            <a:r>
              <a:rPr lang="en-US" altLang="zh-TW" sz="1400" dirty="0"/>
              <a:t>-Ying Lin</a:t>
            </a:r>
          </a:p>
          <a:p>
            <a:pPr>
              <a:spcBef>
                <a:spcPct val="20000"/>
              </a:spcBef>
            </a:pPr>
            <a:r>
              <a:rPr lang="en-US" altLang="zh-TW" sz="1400" dirty="0"/>
              <a:t>Date </a:t>
            </a:r>
            <a:r>
              <a:rPr lang="en-US" altLang="zh-TW" sz="1400"/>
              <a:t>: </a:t>
            </a:r>
            <a:r>
              <a:rPr lang="en-US" sz="1400" smtClean="0"/>
              <a:t>Jun</a:t>
            </a:r>
            <a:r>
              <a:rPr lang="en-US" altLang="zh-TW" sz="1400" smtClean="0"/>
              <a:t>e 09, </a:t>
            </a:r>
            <a:r>
              <a:rPr lang="en-US" altLang="zh-TW" sz="1400" dirty="0"/>
              <a:t>2009</a:t>
            </a:r>
            <a:endParaRPr lang="en-US" altLang="zh-TW" dirty="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We propose an algorithm to solve the multiple patterns approximate string matching problem. Our algorithm uses a hashing table to quickly find all possible positions. Our algorithm is very efficient for multiple patterns with different lengths. We also implemented our algorithm to solve the short </a:t>
            </a:r>
            <a:r>
              <a:rPr lang="en-US" altLang="zh-TW" dirty="0" err="1" smtClean="0">
                <a:latin typeface="Times New Roman" pitchFamily="18" charset="0"/>
                <a:cs typeface="Times New Roman" pitchFamily="18" charset="0"/>
              </a:rPr>
              <a:t>oligonucleotide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zh-TW" altLang="en-US" sz="2200" dirty="0" smtClean="0"/>
              <a:t>寡核酸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alignment on a long reference DNA sequence problem. The experimental results show that our algorithm is faster than one of the fastest algorithm available now, SOAP.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Lemma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Let P =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….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i="1" baseline="-25000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TW" i="1" baseline="-25000" dirty="0" err="1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for any j ≥ 1, where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are substrings of </a:t>
            </a:r>
            <a:r>
              <a:rPr lang="nn-NO" altLang="zh-TW" i="1" dirty="0" smtClean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Suppose there is a substring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S of T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whose edit distance from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is smaller than or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equal to k. Then at least one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appears in with at most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⎣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k/j</a:t>
            </a:r>
            <a:r>
              <a:rPr lang="en-US" altLang="zh-TW" baseline="-25000" dirty="0" smtClean="0">
                <a:latin typeface="Times New Roman" pitchFamily="18" charset="0"/>
                <a:cs typeface="Times New Roman" pitchFamily="18" charset="0"/>
              </a:rPr>
              <a:t>⎦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errors.</a:t>
            </a:r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Preprocessing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K = 2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 = a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c g a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g a g t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a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 = a c a g t c</a:t>
            </a:r>
          </a:p>
          <a:p>
            <a:r>
              <a:rPr lang="en-US" altLang="zh-TW" dirty="0" smtClean="0"/>
              <a:t>Σ = {</a:t>
            </a:r>
            <a:r>
              <a:rPr lang="en-US" altLang="zh-TW" i="1" dirty="0" smtClean="0"/>
              <a:t>a, c, g, t</a:t>
            </a:r>
            <a:r>
              <a:rPr lang="en-US" altLang="zh-TW" dirty="0" smtClean="0"/>
              <a:t>}</a:t>
            </a:r>
            <a:r>
              <a:rPr lang="en-US" altLang="zh-TW" i="1" dirty="0" smtClean="0"/>
              <a:t> , we use 00, 01, 10 ,</a:t>
            </a:r>
            <a:r>
              <a:rPr lang="en-US" altLang="zh-TW" dirty="0" smtClean="0"/>
              <a:t>11 to substitute </a:t>
            </a:r>
            <a:r>
              <a:rPr lang="en-US" altLang="zh-TW" i="1" dirty="0" smtClean="0"/>
              <a:t>a , c , g , t</a:t>
            </a:r>
          </a:p>
          <a:p>
            <a:endParaRPr lang="en-US" altLang="zh-TW" i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438" y="4143380"/>
            <a:ext cx="3429000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Searching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T = a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c g a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g a g t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a</a:t>
            </a:r>
          </a:p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P = a c a g t c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29256" y="1643050"/>
            <a:ext cx="3429000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1142976" y="3214686"/>
            <a:ext cx="2089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c g a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g a g t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a</a:t>
            </a:r>
          </a:p>
          <a:p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643042" y="4714884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 c a g t c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142976" y="5357826"/>
            <a:ext cx="2089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c g a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g a g t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a</a:t>
            </a:r>
          </a:p>
          <a:p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142976" y="4286256"/>
            <a:ext cx="20890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c g a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g a g t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 a</a:t>
            </a:r>
          </a:p>
          <a:p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2000232" y="5786454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 c a g t c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285852" y="3571876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a c a g t c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214414" y="3286124"/>
            <a:ext cx="1500198" cy="6429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1357290" y="4357694"/>
            <a:ext cx="1643074" cy="7143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1714480" y="5429264"/>
            <a:ext cx="1428760" cy="7143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More than one pattern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T = a </a:t>
            </a:r>
            <a:r>
              <a:rPr lang="en-US" altLang="zh-TW" i="1" dirty="0" err="1" smtClean="0"/>
              <a:t>a</a:t>
            </a:r>
            <a:r>
              <a:rPr lang="en-US" altLang="zh-TW" i="1" dirty="0" smtClean="0"/>
              <a:t> c g a </a:t>
            </a:r>
            <a:r>
              <a:rPr lang="en-US" altLang="zh-TW" i="1" dirty="0" err="1" smtClean="0"/>
              <a:t>a</a:t>
            </a:r>
            <a:r>
              <a:rPr lang="en-US" altLang="zh-TW" i="1" dirty="0" smtClean="0"/>
              <a:t> g a g t </a:t>
            </a:r>
            <a:r>
              <a:rPr lang="en-US" altLang="zh-TW" i="1" dirty="0" err="1" smtClean="0"/>
              <a:t>t</a:t>
            </a:r>
            <a:r>
              <a:rPr lang="en-US" altLang="zh-TW" i="1" dirty="0" smtClean="0"/>
              <a:t> a</a:t>
            </a:r>
          </a:p>
          <a:p>
            <a:r>
              <a:rPr lang="fr-FR" altLang="zh-TW" i="1" dirty="0" smtClean="0"/>
              <a:t>P = a a g g t c c t t</a:t>
            </a:r>
          </a:p>
          <a:p>
            <a:endParaRPr lang="en-US" altLang="zh-TW" i="1" dirty="0" smtClean="0"/>
          </a:p>
          <a:p>
            <a:r>
              <a:rPr lang="en-US" altLang="zh-TW" i="1" dirty="0" smtClean="0"/>
              <a:t>P</a:t>
            </a:r>
            <a:r>
              <a:rPr lang="en-US" altLang="zh-TW" i="1" baseline="-25000" dirty="0" smtClean="0"/>
              <a:t>1</a:t>
            </a:r>
            <a:r>
              <a:rPr lang="en-US" altLang="zh-TW" i="1" dirty="0" smtClean="0"/>
              <a:t> = </a:t>
            </a:r>
            <a:r>
              <a:rPr lang="en-US" altLang="zh-TW" i="1" dirty="0" err="1" smtClean="0"/>
              <a:t>aag</a:t>
            </a:r>
            <a:r>
              <a:rPr lang="en-US" altLang="zh-TW" i="1" dirty="0" smtClean="0"/>
              <a:t> ,P</a:t>
            </a:r>
            <a:r>
              <a:rPr lang="en-US" altLang="zh-TW" i="1" baseline="-25000" dirty="0" smtClean="0"/>
              <a:t>2</a:t>
            </a:r>
            <a:r>
              <a:rPr lang="en-US" altLang="zh-TW" i="1" dirty="0" smtClean="0"/>
              <a:t> = </a:t>
            </a:r>
            <a:r>
              <a:rPr lang="en-US" altLang="zh-TW" i="1" dirty="0" err="1" smtClean="0"/>
              <a:t>gtc</a:t>
            </a:r>
            <a:r>
              <a:rPr lang="en-US" altLang="zh-TW" i="1" dirty="0" smtClean="0"/>
              <a:t> ,P</a:t>
            </a:r>
            <a:r>
              <a:rPr lang="en-US" altLang="zh-TW" i="1" baseline="-25000" dirty="0" smtClean="0"/>
              <a:t>3</a:t>
            </a:r>
            <a:r>
              <a:rPr lang="en-US" altLang="zh-TW" i="1" dirty="0" smtClean="0"/>
              <a:t> = </a:t>
            </a:r>
            <a:r>
              <a:rPr lang="en-US" altLang="zh-TW" i="1" dirty="0" err="1" smtClean="0"/>
              <a:t>ctt</a:t>
            </a:r>
            <a:endParaRPr lang="en-US" altLang="zh-TW" i="1" dirty="0" smtClean="0"/>
          </a:p>
          <a:p>
            <a:r>
              <a:rPr lang="en-US" altLang="zh-TW" i="1" dirty="0" err="1" smtClean="0"/>
              <a:t>aa</a:t>
            </a:r>
            <a:r>
              <a:rPr lang="en-US" altLang="zh-TW" i="1" dirty="0" smtClean="0"/>
              <a:t> = </a:t>
            </a:r>
            <a:r>
              <a:rPr lang="en-US" altLang="zh-TW" dirty="0" smtClean="0"/>
              <a:t>{1, 5}   </a:t>
            </a:r>
            <a:r>
              <a:rPr lang="en-US" altLang="zh-TW" i="1" dirty="0" err="1" smtClean="0"/>
              <a:t>ag</a:t>
            </a:r>
            <a:r>
              <a:rPr lang="en-US" altLang="zh-TW" i="1" dirty="0" smtClean="0"/>
              <a:t> = </a:t>
            </a:r>
            <a:r>
              <a:rPr lang="en-US" altLang="zh-TW" dirty="0" smtClean="0"/>
              <a:t>{6, 8}</a:t>
            </a:r>
          </a:p>
          <a:p>
            <a:r>
              <a:rPr lang="en-US" altLang="zh-TW" dirty="0" smtClean="0"/>
              <a:t>{1, 5} ∩{(6 + 2 </a:t>
            </a:r>
            <a:r>
              <a:rPr lang="zh-TW" altLang="en-US" dirty="0" smtClean="0"/>
              <a:t>− </a:t>
            </a:r>
            <a:r>
              <a:rPr lang="en-US" altLang="zh-TW" dirty="0" smtClean="0"/>
              <a:t>3), (8 + 2 </a:t>
            </a:r>
            <a:r>
              <a:rPr lang="zh-TW" altLang="en-US" dirty="0" smtClean="0"/>
              <a:t>− </a:t>
            </a:r>
            <a:r>
              <a:rPr lang="en-US" altLang="zh-TW" dirty="0" smtClean="0"/>
              <a:t>3)}={5}</a:t>
            </a:r>
          </a:p>
          <a:p>
            <a:pPr>
              <a:buNone/>
            </a:pPr>
            <a:endParaRPr lang="en-US" altLang="zh-TW" dirty="0" smtClean="0"/>
          </a:p>
          <a:p>
            <a:endParaRPr lang="en-US" altLang="zh-TW" i="1" dirty="0" smtClean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29256" y="1643050"/>
            <a:ext cx="3429000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More than one pattern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i="1" dirty="0" smtClean="0"/>
              <a:t>T = a </a:t>
            </a:r>
            <a:r>
              <a:rPr lang="en-US" altLang="zh-TW" i="1" dirty="0" err="1" smtClean="0"/>
              <a:t>a</a:t>
            </a:r>
            <a:r>
              <a:rPr lang="en-US" altLang="zh-TW" i="1" dirty="0" smtClean="0"/>
              <a:t> c g a </a:t>
            </a:r>
            <a:r>
              <a:rPr lang="en-US" altLang="zh-TW" i="1" dirty="0" err="1" smtClean="0"/>
              <a:t>a</a:t>
            </a:r>
            <a:r>
              <a:rPr lang="en-US" altLang="zh-TW" i="1" dirty="0" smtClean="0"/>
              <a:t> g a g t </a:t>
            </a:r>
            <a:r>
              <a:rPr lang="en-US" altLang="zh-TW" i="1" dirty="0" err="1" smtClean="0"/>
              <a:t>t</a:t>
            </a:r>
            <a:r>
              <a:rPr lang="en-US" altLang="zh-TW" i="1" dirty="0" smtClean="0"/>
              <a:t> a</a:t>
            </a:r>
          </a:p>
          <a:p>
            <a:r>
              <a:rPr lang="fr-FR" altLang="zh-TW" i="1" dirty="0" smtClean="0"/>
              <a:t>P = a g a a t a c g a a a g g t c</a:t>
            </a:r>
          </a:p>
          <a:p>
            <a:endParaRPr lang="en-US" altLang="zh-TW" i="1" dirty="0" smtClean="0"/>
          </a:p>
          <a:p>
            <a:r>
              <a:rPr lang="en-US" altLang="zh-TW" i="1" dirty="0" smtClean="0"/>
              <a:t>P</a:t>
            </a:r>
            <a:r>
              <a:rPr lang="en-US" altLang="zh-TW" i="1" baseline="-25000" dirty="0" smtClean="0"/>
              <a:t>1</a:t>
            </a:r>
            <a:r>
              <a:rPr lang="en-US" altLang="zh-TW" i="1" dirty="0" smtClean="0"/>
              <a:t> = </a:t>
            </a:r>
            <a:r>
              <a:rPr lang="fr-FR" altLang="zh-TW" i="1" dirty="0" smtClean="0"/>
              <a:t>a g a a t </a:t>
            </a:r>
            <a:r>
              <a:rPr lang="en-US" altLang="zh-TW" i="1" dirty="0" smtClean="0"/>
              <a:t>,P</a:t>
            </a:r>
            <a:r>
              <a:rPr lang="en-US" altLang="zh-TW" i="1" baseline="-25000" dirty="0" smtClean="0"/>
              <a:t>2</a:t>
            </a:r>
            <a:r>
              <a:rPr lang="en-US" altLang="zh-TW" i="1" dirty="0" smtClean="0"/>
              <a:t> = </a:t>
            </a:r>
            <a:r>
              <a:rPr lang="fr-FR" altLang="zh-TW" i="1" dirty="0" smtClean="0"/>
              <a:t>a c g a a</a:t>
            </a:r>
            <a:r>
              <a:rPr lang="en-US" altLang="zh-TW" i="1" dirty="0" smtClean="0"/>
              <a:t> ,</a:t>
            </a:r>
          </a:p>
          <a:p>
            <a:r>
              <a:rPr lang="en-US" altLang="zh-TW" i="1" dirty="0" smtClean="0"/>
              <a:t>P</a:t>
            </a:r>
            <a:r>
              <a:rPr lang="en-US" altLang="zh-TW" i="1" baseline="-25000" dirty="0" smtClean="0"/>
              <a:t>3</a:t>
            </a:r>
            <a:r>
              <a:rPr lang="en-US" altLang="zh-TW" i="1" dirty="0" smtClean="0"/>
              <a:t> = </a:t>
            </a:r>
            <a:r>
              <a:rPr lang="fr-FR" altLang="zh-TW" i="1" dirty="0" smtClean="0"/>
              <a:t>a g g t c</a:t>
            </a:r>
            <a:endParaRPr lang="en-US" altLang="zh-TW" i="1" dirty="0" smtClean="0"/>
          </a:p>
          <a:p>
            <a:r>
              <a:rPr lang="en-US" altLang="zh-TW" i="1" dirty="0" smtClean="0"/>
              <a:t>ac = </a:t>
            </a:r>
            <a:r>
              <a:rPr lang="en-US" altLang="zh-TW" dirty="0" smtClean="0"/>
              <a:t>{2}   </a:t>
            </a:r>
            <a:r>
              <a:rPr lang="en-US" altLang="zh-TW" i="1" dirty="0" err="1" smtClean="0"/>
              <a:t>aa</a:t>
            </a:r>
            <a:r>
              <a:rPr lang="en-US" altLang="zh-TW" i="1" dirty="0" smtClean="0"/>
              <a:t> = </a:t>
            </a:r>
            <a:r>
              <a:rPr lang="en-US" altLang="zh-TW" dirty="0" smtClean="0"/>
              <a:t>{1, 5}</a:t>
            </a:r>
          </a:p>
          <a:p>
            <a:r>
              <a:rPr lang="en-US" altLang="zh-TW" dirty="0" smtClean="0"/>
              <a:t>{2} ∩{(1 + 2 </a:t>
            </a:r>
            <a:r>
              <a:rPr lang="zh-TW" altLang="en-US" dirty="0" smtClean="0"/>
              <a:t>− </a:t>
            </a:r>
            <a:r>
              <a:rPr lang="en-US" altLang="zh-TW" dirty="0" smtClean="0"/>
              <a:t>5), (5 + 2 </a:t>
            </a:r>
            <a:r>
              <a:rPr lang="zh-TW" altLang="en-US" dirty="0" smtClean="0"/>
              <a:t>− </a:t>
            </a:r>
            <a:r>
              <a:rPr lang="en-US" altLang="zh-TW" smtClean="0"/>
              <a:t>5)}={2}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0" y="1500174"/>
            <a:ext cx="3429000" cy="232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Experiments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43025" y="2696369"/>
            <a:ext cx="645795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latin typeface="Times New Roman" pitchFamily="18" charset="0"/>
                <a:cs typeface="Times New Roman" pitchFamily="18" charset="0"/>
              </a:rPr>
              <a:t>Experiments</a:t>
            </a:r>
            <a:endParaRPr lang="zh-TW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76437" y="2377281"/>
            <a:ext cx="519112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482</Words>
  <PresentationFormat>如螢幕大小 (4:3)</PresentationFormat>
  <Paragraphs>41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An algorithm for the multiple patterns approximate string matching problem</vt:lpstr>
      <vt:lpstr>Abstract</vt:lpstr>
      <vt:lpstr>Lemma</vt:lpstr>
      <vt:lpstr>Preprocessing</vt:lpstr>
      <vt:lpstr>Searching</vt:lpstr>
      <vt:lpstr>More than one pattern</vt:lpstr>
      <vt:lpstr>More than one pattern</vt:lpstr>
      <vt:lpstr>Experiments</vt:lpstr>
      <vt:lpstr>Experiments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algorithm for the multiple patterns approximate string matching problem</dc:title>
  <cp:lastModifiedBy>Sephiroth</cp:lastModifiedBy>
  <cp:revision>19</cp:revision>
  <dcterms:modified xsi:type="dcterms:W3CDTF">2009-06-09T10:34:17Z</dcterms:modified>
</cp:coreProperties>
</file>