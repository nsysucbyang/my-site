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7" r:id="rId5"/>
    <p:sldId id="259" r:id="rId6"/>
    <p:sldId id="262" r:id="rId7"/>
    <p:sldId id="260" r:id="rId8"/>
    <p:sldId id="264" r:id="rId9"/>
    <p:sldId id="265" r:id="rId10"/>
    <p:sldId id="266" r:id="rId11"/>
    <p:sldId id="268" r:id="rId12"/>
    <p:sldId id="267" r:id="rId1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3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2009/5/19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Geometric stable roommates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Esther M. 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Arkin</a:t>
            </a: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Sang Won 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Baeb</a:t>
            </a: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Alon</a:t>
            </a: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Efratc</a:t>
            </a: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Kazuya 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Okamotod</a:t>
            </a: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Joseph S.B. Mitchell ,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Valentin</a:t>
            </a:r>
            <a:r>
              <a:rPr lang="en-US" altLang="zh-TW" sz="1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9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Polishchuk</a:t>
            </a:r>
            <a:endParaRPr lang="en-US" altLang="zh-TW" sz="19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altLang="zh-TW" sz="19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Information Processing </a:t>
            </a:r>
            <a:r>
              <a:rPr lang="en-US" altLang="zh-TW" sz="18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Leters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109 (2009) 219–224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6156325" y="5345113"/>
            <a:ext cx="1960024" cy="566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400" dirty="0"/>
              <a:t>Presenter : </a:t>
            </a:r>
            <a:r>
              <a:rPr lang="en-US" altLang="zh-TW" sz="1400" dirty="0" err="1"/>
              <a:t>Chih</a:t>
            </a:r>
            <a:r>
              <a:rPr lang="en-US" altLang="zh-TW" sz="1400" dirty="0"/>
              <a:t>-Ying Lin</a:t>
            </a:r>
          </a:p>
          <a:p>
            <a:pPr>
              <a:spcBef>
                <a:spcPct val="20000"/>
              </a:spcBef>
            </a:pPr>
            <a:r>
              <a:rPr lang="en-US" altLang="zh-TW" sz="1400" dirty="0"/>
              <a:t>Date : </a:t>
            </a:r>
            <a:r>
              <a:rPr lang="en-US" altLang="zh-TW" sz="1400" dirty="0" smtClean="0"/>
              <a:t>Apr</a:t>
            </a:r>
            <a:r>
              <a:rPr lang="en-US" altLang="zh-TW" sz="1400" dirty="0"/>
              <a:t>. </a:t>
            </a:r>
            <a:r>
              <a:rPr lang="en-US" altLang="zh-TW" sz="1400" dirty="0" smtClean="0"/>
              <a:t>22, </a:t>
            </a:r>
            <a:r>
              <a:rPr lang="en-US" altLang="zh-TW" sz="1400" dirty="0"/>
              <a:t>2009</a:t>
            </a:r>
            <a:endParaRPr lang="en-US" altLang="zh-TW" dirty="0"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altLang="zh-TW" dirty="0" smtClean="0">
                <a:latin typeface="Times New Roman" pitchFamily="18" charset="0"/>
                <a:cs typeface="Times New Roman" pitchFamily="18" charset="0"/>
              </a:rPr>
              <a:t>  Abstract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  <a:t> 	We consider instances of the Stable Roommates problem that arise from geometric representation of participants’ preferences: a participant is a point in a metric space, and his preference list is given by the sorted list of distances to the other participants. We show that contrary to the general case, the problem admits a polynomial-time solution even in the case when ties are present in the preference lists.</a:t>
            </a:r>
            <a:b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  <a:t>We define the notion of an α-stable matching: the participants are willing to switch</a:t>
            </a:r>
            <a:r>
              <a:rPr lang="en-US" altLang="zh-TW" sz="3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  <a:t>partners only for a (multiplicative) improvement of at least α. We prove that, in general, finding α-stable </a:t>
            </a:r>
            <a:r>
              <a:rPr lang="en-US" altLang="zh-TW" sz="3400" dirty="0" err="1" smtClean="0">
                <a:latin typeface="Times New Roman" pitchFamily="18" charset="0"/>
                <a:cs typeface="Times New Roman" pitchFamily="18" charset="0"/>
              </a:rPr>
              <a:t>matchings</a:t>
            </a:r>
            <a: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  <a:t> is not easier than finding </a:t>
            </a:r>
            <a:r>
              <a:rPr lang="en-US" altLang="zh-TW" sz="3400" dirty="0" err="1" smtClean="0">
                <a:latin typeface="Times New Roman" pitchFamily="18" charset="0"/>
                <a:cs typeface="Times New Roman" pitchFamily="18" charset="0"/>
              </a:rPr>
              <a:t>matchings</a:t>
            </a:r>
            <a: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  <a:t> that are stable in the usual</a:t>
            </a:r>
            <a:r>
              <a:rPr lang="en-US" altLang="zh-TW" sz="3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3400" dirty="0" smtClean="0">
                <a:latin typeface="Times New Roman" pitchFamily="18" charset="0"/>
                <a:cs typeface="Times New Roman" pitchFamily="18" charset="0"/>
              </a:rPr>
              <a:t>sense. We show that, unlike in the general case, in a three-dimensional geometric stable roommates problem, a 2-stable matching can be found in polynomial time.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37" name="Line 33"/>
          <p:cNvSpPr>
            <a:spLocks noChangeShapeType="1"/>
          </p:cNvSpPr>
          <p:nvPr/>
        </p:nvSpPr>
        <p:spPr bwMode="auto">
          <a:xfrm flipV="1">
            <a:off x="6892925" y="2854325"/>
            <a:ext cx="889000" cy="219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2731" name="Oval 27"/>
          <p:cNvSpPr>
            <a:spLocks noChangeArrowheads="1"/>
          </p:cNvSpPr>
          <p:nvPr/>
        </p:nvSpPr>
        <p:spPr bwMode="auto">
          <a:xfrm>
            <a:off x="5665788" y="24765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2" name="Oval 28"/>
          <p:cNvSpPr>
            <a:spLocks noChangeArrowheads="1"/>
          </p:cNvSpPr>
          <p:nvPr/>
        </p:nvSpPr>
        <p:spPr bwMode="auto">
          <a:xfrm>
            <a:off x="6837363" y="302577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3" name="Oval 29"/>
          <p:cNvSpPr>
            <a:spLocks noChangeArrowheads="1"/>
          </p:cNvSpPr>
          <p:nvPr/>
        </p:nvSpPr>
        <p:spPr bwMode="auto">
          <a:xfrm>
            <a:off x="7275513" y="12382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4" name="Oval 30"/>
          <p:cNvSpPr>
            <a:spLocks noChangeArrowheads="1"/>
          </p:cNvSpPr>
          <p:nvPr/>
        </p:nvSpPr>
        <p:spPr bwMode="auto">
          <a:xfrm>
            <a:off x="7742238" y="28257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5" name="Oval 31"/>
          <p:cNvSpPr>
            <a:spLocks noChangeArrowheads="1"/>
          </p:cNvSpPr>
          <p:nvPr/>
        </p:nvSpPr>
        <p:spPr bwMode="auto">
          <a:xfrm>
            <a:off x="8193088" y="169703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36" name="Oval 32"/>
          <p:cNvSpPr>
            <a:spLocks noChangeArrowheads="1"/>
          </p:cNvSpPr>
          <p:nvPr/>
        </p:nvSpPr>
        <p:spPr bwMode="auto">
          <a:xfrm>
            <a:off x="6634163" y="152558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726" name="Freeform 22"/>
          <p:cNvSpPr>
            <a:spLocks/>
          </p:cNvSpPr>
          <p:nvPr/>
        </p:nvSpPr>
        <p:spPr bwMode="auto">
          <a:xfrm>
            <a:off x="6892925" y="2854325"/>
            <a:ext cx="889000" cy="219075"/>
          </a:xfrm>
          <a:custGeom>
            <a:avLst/>
            <a:gdLst/>
            <a:ahLst/>
            <a:cxnLst>
              <a:cxn ang="0">
                <a:pos x="0" y="138"/>
              </a:cxn>
              <a:cxn ang="0">
                <a:pos x="560" y="0"/>
              </a:cxn>
            </a:cxnLst>
            <a:rect l="0" t="0" r="r" b="b"/>
            <a:pathLst>
              <a:path w="560" h="138">
                <a:moveTo>
                  <a:pt x="0" y="138"/>
                </a:moveTo>
                <a:lnTo>
                  <a:pt x="560" y="0"/>
                </a:lnTo>
              </a:path>
            </a:pathLst>
          </a:custGeom>
          <a:ln>
            <a:headEnd type="oval" w="med" len="med"/>
            <a:tailEnd type="oval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72721" name="Line 17"/>
          <p:cNvSpPr>
            <a:spLocks noChangeShapeType="1"/>
          </p:cNvSpPr>
          <p:nvPr/>
        </p:nvSpPr>
        <p:spPr bwMode="auto">
          <a:xfrm rot="1502715" flipV="1">
            <a:off x="7240588" y="1517650"/>
            <a:ext cx="652462" cy="17700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2719" name="Line 15"/>
          <p:cNvSpPr>
            <a:spLocks noChangeShapeType="1"/>
          </p:cNvSpPr>
          <p:nvPr/>
        </p:nvSpPr>
        <p:spPr bwMode="auto">
          <a:xfrm rot="1502715" flipH="1" flipV="1">
            <a:off x="7002463" y="1455738"/>
            <a:ext cx="1101725" cy="12430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2720" name="Line 16"/>
          <p:cNvSpPr>
            <a:spLocks noChangeShapeType="1"/>
          </p:cNvSpPr>
          <p:nvPr/>
        </p:nvSpPr>
        <p:spPr bwMode="auto">
          <a:xfrm rot="1502715" flipV="1">
            <a:off x="5956300" y="1412875"/>
            <a:ext cx="474663" cy="12731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ea typeface="新細明體" charset="-120"/>
                <a:cs typeface="Times New Roman" pitchFamily="18" charset="0"/>
              </a:rPr>
              <a:t>Geometric Stable Roommates</a:t>
            </a:r>
            <a:endParaRPr lang="en-US" altLang="zh-TW" dirty="0">
              <a:ea typeface="新細明體" charset="-12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04507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sz="2800" dirty="0">
                <a:ea typeface="新細明體" charset="-120"/>
              </a:rPr>
              <a:t>V – people, |V| = n </a:t>
            </a:r>
            <a:r>
              <a:rPr lang="en-US" altLang="zh-TW" sz="2400" dirty="0">
                <a:ea typeface="新細明體" charset="-120"/>
              </a:rPr>
              <a:t>(even)</a:t>
            </a:r>
          </a:p>
          <a:p>
            <a:pPr>
              <a:lnSpc>
                <a:spcPct val="80000"/>
              </a:lnSpc>
            </a:pPr>
            <a:r>
              <a:rPr lang="en-US" altLang="zh-TW" sz="2800" dirty="0">
                <a:ea typeface="新細明體" charset="-120"/>
              </a:rPr>
              <a:t>Pair up to be roommates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TW" sz="2400" dirty="0">
                <a:ea typeface="新細明體" charset="-120"/>
              </a:rPr>
              <a:t>2 people to a room</a:t>
            </a:r>
          </a:p>
          <a:p>
            <a:pPr>
              <a:lnSpc>
                <a:spcPct val="80000"/>
              </a:lnSpc>
            </a:pPr>
            <a:r>
              <a:rPr lang="en-US" altLang="zh-TW" sz="2800" dirty="0" err="1">
                <a:ea typeface="新細明體" charset="-120"/>
              </a:rPr>
              <a:t>u,v</a:t>
            </a:r>
            <a:r>
              <a:rPr lang="en-US" altLang="zh-TW" sz="2800" dirty="0">
                <a:ea typeface="新細明體" charset="-120"/>
              </a:rPr>
              <a:t> in V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TW" sz="2400" dirty="0">
                <a:ea typeface="新細明體" charset="-120"/>
              </a:rPr>
              <a:t>incur cost w(</a:t>
            </a:r>
            <a:r>
              <a:rPr lang="en-US" altLang="zh-TW" sz="2400" dirty="0" err="1">
                <a:ea typeface="新細明體" charset="-120"/>
              </a:rPr>
              <a:t>u,v</a:t>
            </a:r>
            <a:r>
              <a:rPr lang="en-US" altLang="zh-TW" sz="2400" dirty="0">
                <a:ea typeface="新細明體" charset="-120"/>
              </a:rPr>
              <a:t>) if roommates</a:t>
            </a:r>
          </a:p>
          <a:p>
            <a:pPr>
              <a:lnSpc>
                <a:spcPct val="80000"/>
              </a:lnSpc>
            </a:pPr>
            <a:r>
              <a:rPr lang="en-US" altLang="zh-TW" sz="2800" dirty="0">
                <a:ea typeface="新細明體" charset="-120"/>
              </a:rPr>
              <a:t>blocking pair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TW" sz="2400" dirty="0" err="1">
                <a:ea typeface="新細明體" charset="-120"/>
              </a:rPr>
              <a:t>x,y</a:t>
            </a:r>
            <a:r>
              <a:rPr lang="en-US" altLang="zh-TW" sz="2400" dirty="0">
                <a:ea typeface="新細明體" charset="-120"/>
              </a:rPr>
              <a:t> in V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TW" sz="2400" dirty="0" err="1">
                <a:ea typeface="新細明體" charset="-120"/>
              </a:rPr>
              <a:t>x,y</a:t>
            </a:r>
            <a:r>
              <a:rPr lang="en-US" altLang="zh-TW" sz="2400" dirty="0">
                <a:ea typeface="新細明體" charset="-120"/>
              </a:rPr>
              <a:t> not roommates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TW" sz="2400" dirty="0">
                <a:ea typeface="新細明體" charset="-120"/>
              </a:rPr>
              <a:t>w(</a:t>
            </a:r>
            <a:r>
              <a:rPr lang="en-US" altLang="zh-TW" sz="2400" dirty="0" err="1">
                <a:ea typeface="新細明體" charset="-120"/>
              </a:rPr>
              <a:t>x,y</a:t>
            </a:r>
            <a:r>
              <a:rPr lang="en-US" altLang="zh-TW" sz="2400" dirty="0">
                <a:ea typeface="新細明體" charset="-120"/>
              </a:rPr>
              <a:t>) &lt; w(</a:t>
            </a:r>
            <a:r>
              <a:rPr lang="en-US" altLang="zh-TW" sz="2400" dirty="0" err="1">
                <a:ea typeface="新細明體" charset="-120"/>
              </a:rPr>
              <a:t>x,x</a:t>
            </a:r>
            <a:r>
              <a:rPr lang="en-US" altLang="zh-TW" sz="2400" dirty="0">
                <a:ea typeface="新細明體" charset="-120"/>
              </a:rPr>
              <a:t>’)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altLang="zh-TW" sz="2400" dirty="0">
                <a:ea typeface="新細明體" charset="-120"/>
              </a:rPr>
              <a:t>w(</a:t>
            </a:r>
            <a:r>
              <a:rPr lang="en-US" altLang="zh-TW" sz="2400" dirty="0" err="1">
                <a:ea typeface="新細明體" charset="-120"/>
              </a:rPr>
              <a:t>x,y</a:t>
            </a:r>
            <a:r>
              <a:rPr lang="en-US" altLang="zh-TW" sz="2400" dirty="0">
                <a:ea typeface="新細明體" charset="-120"/>
              </a:rPr>
              <a:t>) &lt; w(</a:t>
            </a:r>
            <a:r>
              <a:rPr lang="en-US" altLang="zh-TW" sz="2400" dirty="0" err="1">
                <a:ea typeface="新細明體" charset="-120"/>
              </a:rPr>
              <a:t>y,y</a:t>
            </a:r>
            <a:r>
              <a:rPr lang="en-US" altLang="zh-TW" sz="2400" dirty="0">
                <a:ea typeface="新細明體" charset="-120"/>
              </a:rPr>
              <a:t>’)</a:t>
            </a:r>
          </a:p>
          <a:p>
            <a:pPr lvl="1">
              <a:lnSpc>
                <a:spcPct val="80000"/>
              </a:lnSpc>
            </a:pPr>
            <a:r>
              <a:rPr lang="en-US" altLang="zh-TW" sz="2400" dirty="0">
                <a:ea typeface="新細明體" charset="-120"/>
              </a:rPr>
              <a:t>will switch to become roommates</a:t>
            </a:r>
          </a:p>
          <a:p>
            <a:pPr>
              <a:lnSpc>
                <a:spcPct val="80000"/>
              </a:lnSpc>
            </a:pPr>
            <a:r>
              <a:rPr lang="en-US" altLang="zh-TW" sz="2800" dirty="0">
                <a:ea typeface="新細明體" charset="-120"/>
              </a:rPr>
              <a:t>Assign so that no blocking pair</a:t>
            </a:r>
          </a:p>
        </p:txBody>
      </p:sp>
      <p:sp>
        <p:nvSpPr>
          <p:cNvPr id="72722" name="Text Box 18"/>
          <p:cNvSpPr txBox="1">
            <a:spLocks noChangeArrowheads="1"/>
          </p:cNvSpPr>
          <p:nvPr/>
        </p:nvSpPr>
        <p:spPr bwMode="auto">
          <a:xfrm>
            <a:off x="6873875" y="302577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ea typeface="新細明體" charset="-120"/>
              </a:rPr>
              <a:t>x</a:t>
            </a:r>
          </a:p>
        </p:txBody>
      </p:sp>
      <p:sp>
        <p:nvSpPr>
          <p:cNvPr id="72723" name="Text Box 19"/>
          <p:cNvSpPr txBox="1">
            <a:spLocks noChangeArrowheads="1"/>
          </p:cNvSpPr>
          <p:nvPr/>
        </p:nvSpPr>
        <p:spPr bwMode="auto">
          <a:xfrm>
            <a:off x="8281988" y="1455738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ea typeface="新細明體" charset="-120"/>
              </a:rPr>
              <a:t>x’</a:t>
            </a:r>
          </a:p>
        </p:txBody>
      </p:sp>
      <p:sp>
        <p:nvSpPr>
          <p:cNvPr id="72724" name="Text Box 20"/>
          <p:cNvSpPr txBox="1">
            <a:spLocks noChangeArrowheads="1"/>
          </p:cNvSpPr>
          <p:nvPr/>
        </p:nvSpPr>
        <p:spPr bwMode="auto">
          <a:xfrm>
            <a:off x="7707313" y="28956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ea typeface="新細明體" charset="-120"/>
              </a:rPr>
              <a:t>y</a:t>
            </a:r>
          </a:p>
        </p:txBody>
      </p:sp>
      <p:sp>
        <p:nvSpPr>
          <p:cNvPr id="72725" name="Text Box 21"/>
          <p:cNvSpPr txBox="1">
            <a:spLocks noChangeArrowheads="1"/>
          </p:cNvSpPr>
          <p:nvPr/>
        </p:nvSpPr>
        <p:spPr bwMode="auto">
          <a:xfrm>
            <a:off x="7340600" y="955675"/>
            <a:ext cx="8048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>
                <a:ea typeface="新細明體" charset="-120"/>
              </a:rPr>
              <a:t>y’</a:t>
            </a:r>
          </a:p>
        </p:txBody>
      </p:sp>
      <p:sp>
        <p:nvSpPr>
          <p:cNvPr id="72727" name="Text Box 23"/>
          <p:cNvSpPr txBox="1">
            <a:spLocks noChangeArrowheads="1"/>
          </p:cNvSpPr>
          <p:nvPr/>
        </p:nvSpPr>
        <p:spPr bwMode="auto">
          <a:xfrm>
            <a:off x="5345113" y="24098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u</a:t>
            </a:r>
          </a:p>
        </p:txBody>
      </p:sp>
      <p:sp>
        <p:nvSpPr>
          <p:cNvPr id="72729" name="Text Box 25"/>
          <p:cNvSpPr txBox="1">
            <a:spLocks noChangeArrowheads="1"/>
          </p:cNvSpPr>
          <p:nvPr/>
        </p:nvSpPr>
        <p:spPr bwMode="auto">
          <a:xfrm>
            <a:off x="6375400" y="12382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v</a:t>
            </a:r>
          </a:p>
        </p:txBody>
      </p:sp>
      <p:sp>
        <p:nvSpPr>
          <p:cNvPr id="72730" name="Text Box 26"/>
          <p:cNvSpPr txBox="1">
            <a:spLocks noChangeArrowheads="1"/>
          </p:cNvSpPr>
          <p:nvPr/>
        </p:nvSpPr>
        <p:spPr bwMode="auto">
          <a:xfrm rot="-67499648">
            <a:off x="5578475" y="1697038"/>
            <a:ext cx="806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w(u,v)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 rot="16200000" flipH="1">
            <a:off x="7306112" y="1644133"/>
            <a:ext cx="342171" cy="20845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6" idx="0"/>
            <a:endCxn id="11" idx="0"/>
          </p:cNvCxnSpPr>
          <p:nvPr/>
        </p:nvCxnSpPr>
        <p:spPr>
          <a:xfrm rot="5400000" flipH="1" flipV="1">
            <a:off x="6627583" y="1096325"/>
            <a:ext cx="1228956" cy="16180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Line 22"/>
          <p:cNvSpPr>
            <a:spLocks noChangeShapeType="1"/>
          </p:cNvSpPr>
          <p:nvPr/>
        </p:nvSpPr>
        <p:spPr bwMode="auto">
          <a:xfrm rot="1502715" flipV="1">
            <a:off x="7975600" y="1524464"/>
            <a:ext cx="652463" cy="1770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 rot="1502715" flipH="1" flipV="1">
            <a:off x="7734300" y="1460621"/>
            <a:ext cx="1101725" cy="1243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cxnSp>
        <p:nvCxnSpPr>
          <p:cNvPr id="25" name="直線接點 24"/>
          <p:cNvCxnSpPr>
            <a:stCxn id="6" idx="1"/>
          </p:cNvCxnSpPr>
          <p:nvPr/>
        </p:nvCxnSpPr>
        <p:spPr>
          <a:xfrm rot="16200000" flipH="1">
            <a:off x="7309045" y="1660307"/>
            <a:ext cx="1305072" cy="1119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ea typeface="新細明體" charset="-120"/>
                <a:cs typeface="Times New Roman" pitchFamily="18" charset="0"/>
              </a:rPr>
              <a:t>Geometric Stable Roommates With No Ties</a:t>
            </a:r>
            <a:endParaRPr lang="zh-TW" alt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ea typeface="新細明體" charset="-120"/>
              </a:rPr>
              <a:t>Participants = points in R</a:t>
            </a:r>
            <a:r>
              <a:rPr lang="en-US" altLang="zh-TW" baseline="30000" dirty="0" smtClean="0">
                <a:ea typeface="新細明體" charset="-120"/>
              </a:rPr>
              <a:t>d</a:t>
            </a:r>
          </a:p>
          <a:p>
            <a:r>
              <a:rPr lang="en-US" altLang="zh-TW" dirty="0" smtClean="0">
                <a:ea typeface="新細明體" charset="-120"/>
              </a:rPr>
              <a:t>w(</a:t>
            </a:r>
            <a:r>
              <a:rPr lang="en-US" altLang="zh-TW" dirty="0" err="1" smtClean="0">
                <a:ea typeface="新細明體" charset="-120"/>
              </a:rPr>
              <a:t>u,v</a:t>
            </a:r>
            <a:r>
              <a:rPr lang="en-US" altLang="zh-TW" dirty="0" smtClean="0">
                <a:ea typeface="新細明體" charset="-120"/>
              </a:rPr>
              <a:t>) = |</a:t>
            </a:r>
            <a:r>
              <a:rPr lang="en-US" altLang="zh-TW" dirty="0" err="1" smtClean="0">
                <a:ea typeface="新細明體" charset="-120"/>
              </a:rPr>
              <a:t>uv</a:t>
            </a:r>
            <a:r>
              <a:rPr lang="en-US" altLang="zh-TW" dirty="0" smtClean="0">
                <a:ea typeface="新細明體" charset="-120"/>
              </a:rPr>
              <a:t>|</a:t>
            </a:r>
          </a:p>
          <a:p>
            <a:r>
              <a:rPr lang="en-US" altLang="zh-TW" dirty="0" smtClean="0"/>
              <a:t>Algorithm</a:t>
            </a:r>
          </a:p>
          <a:p>
            <a:pPr lvl="1">
              <a:buNone/>
            </a:pPr>
            <a:r>
              <a:rPr lang="en-US" altLang="zh-TW" dirty="0" smtClean="0"/>
              <a:t>Find the </a:t>
            </a:r>
            <a:r>
              <a:rPr lang="en-US" altLang="zh-TW" dirty="0" smtClean="0">
                <a:ea typeface="新細明體" charset="-120"/>
              </a:rPr>
              <a:t>closest pair (</a:t>
            </a:r>
            <a:r>
              <a:rPr lang="en-US" altLang="zh-TW" dirty="0" err="1" smtClean="0">
                <a:ea typeface="新細明體" charset="-120"/>
              </a:rPr>
              <a:t>a,b</a:t>
            </a:r>
            <a:r>
              <a:rPr lang="en-US" altLang="zh-TW" dirty="0" smtClean="0">
                <a:ea typeface="新細明體" charset="-120"/>
              </a:rPr>
              <a:t>) in V</a:t>
            </a:r>
          </a:p>
          <a:p>
            <a:pPr lvl="1">
              <a:buNone/>
            </a:pPr>
            <a:r>
              <a:rPr lang="en-US" altLang="zh-TW" dirty="0" smtClean="0"/>
              <a:t>Remove (</a:t>
            </a:r>
            <a:r>
              <a:rPr lang="en-US" altLang="zh-TW" dirty="0" err="1" smtClean="0"/>
              <a:t>a,b</a:t>
            </a:r>
            <a:r>
              <a:rPr lang="en-US" altLang="zh-TW" dirty="0" smtClean="0"/>
              <a:t>) and recursive</a:t>
            </a:r>
            <a:endParaRPr lang="zh-TW" altLang="en-US" dirty="0"/>
          </a:p>
        </p:txBody>
      </p:sp>
      <p:sp>
        <p:nvSpPr>
          <p:cNvPr id="4" name="Line 14"/>
          <p:cNvSpPr>
            <a:spLocks noChangeShapeType="1"/>
          </p:cNvSpPr>
          <p:nvPr/>
        </p:nvSpPr>
        <p:spPr bwMode="auto">
          <a:xfrm rot="1502715">
            <a:off x="7092950" y="1686389"/>
            <a:ext cx="844550" cy="127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" name="Line 15"/>
          <p:cNvSpPr>
            <a:spLocks noChangeShapeType="1"/>
          </p:cNvSpPr>
          <p:nvPr/>
        </p:nvSpPr>
        <p:spPr bwMode="auto">
          <a:xfrm rot="1502715" flipH="1">
            <a:off x="7437438" y="1416514"/>
            <a:ext cx="1468437" cy="485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6" name="Line 16"/>
          <p:cNvSpPr>
            <a:spLocks noChangeShapeType="1"/>
          </p:cNvSpPr>
          <p:nvPr/>
        </p:nvSpPr>
        <p:spPr bwMode="auto">
          <a:xfrm rot="1502715" flipV="1">
            <a:off x="6680200" y="1406989"/>
            <a:ext cx="474663" cy="127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" name="Line 18"/>
          <p:cNvSpPr>
            <a:spLocks noChangeShapeType="1"/>
          </p:cNvSpPr>
          <p:nvPr/>
        </p:nvSpPr>
        <p:spPr bwMode="auto">
          <a:xfrm rot="1502715">
            <a:off x="6370638" y="2800814"/>
            <a:ext cx="13192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" name="Line 19"/>
          <p:cNvSpPr>
            <a:spLocks noChangeShapeType="1"/>
          </p:cNvSpPr>
          <p:nvPr/>
        </p:nvSpPr>
        <p:spPr bwMode="auto">
          <a:xfrm rot="1502715">
            <a:off x="7991475" y="1492714"/>
            <a:ext cx="1014413" cy="5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9" name="Line 20"/>
          <p:cNvSpPr>
            <a:spLocks noChangeShapeType="1"/>
          </p:cNvSpPr>
          <p:nvPr/>
        </p:nvSpPr>
        <p:spPr bwMode="auto">
          <a:xfrm rot="1502715">
            <a:off x="8693150" y="1718147"/>
            <a:ext cx="79375" cy="117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0" name="Freeform 24"/>
          <p:cNvSpPr>
            <a:spLocks/>
          </p:cNvSpPr>
          <p:nvPr/>
        </p:nvSpPr>
        <p:spPr bwMode="auto">
          <a:xfrm>
            <a:off x="7616825" y="2854789"/>
            <a:ext cx="889000" cy="219075"/>
          </a:xfrm>
          <a:custGeom>
            <a:avLst/>
            <a:gdLst/>
            <a:ahLst/>
            <a:cxnLst>
              <a:cxn ang="0">
                <a:pos x="0" y="138"/>
              </a:cxn>
              <a:cxn ang="0">
                <a:pos x="560" y="0"/>
              </a:cxn>
            </a:cxnLst>
            <a:rect l="0" t="0" r="r" b="b"/>
            <a:pathLst>
              <a:path w="560" h="138">
                <a:moveTo>
                  <a:pt x="0" y="138"/>
                </a:moveTo>
                <a:lnTo>
                  <a:pt x="560" y="0"/>
                </a:lnTo>
              </a:path>
            </a:pathLst>
          </a:custGeom>
          <a:noFill/>
          <a:ln w="38100" cmpd="sng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1" name="Line 25"/>
          <p:cNvSpPr>
            <a:spLocks noChangeShapeType="1"/>
          </p:cNvSpPr>
          <p:nvPr/>
        </p:nvSpPr>
        <p:spPr bwMode="auto">
          <a:xfrm rot="1502715" flipH="1">
            <a:off x="7494588" y="1167276"/>
            <a:ext cx="465137" cy="5349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1" name="Line 23"/>
          <p:cNvSpPr>
            <a:spLocks noChangeShapeType="1"/>
          </p:cNvSpPr>
          <p:nvPr/>
        </p:nvSpPr>
        <p:spPr bwMode="auto">
          <a:xfrm rot="1502715" flipV="1">
            <a:off x="6713538" y="1274556"/>
            <a:ext cx="1957387" cy="17510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 smtClean="0">
                <a:latin typeface="Times New Roman" pitchFamily="18" charset="0"/>
                <a:ea typeface="新細明體" charset="-120"/>
                <a:cs typeface="Times New Roman" pitchFamily="18" charset="0"/>
              </a:rPr>
              <a:t>Geometric Stable Roommates With Ties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altLang="zh-TW" sz="16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zh-TW" sz="16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1600" i="1" dirty="0" smtClean="0"/>
              <a:t>super-stable matching</a:t>
            </a:r>
            <a:endParaRPr lang="en-US" altLang="zh-TW" sz="16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	Super-blocking: {x, y} is a super-blocking pair if x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prefers 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y to M(x), or considers them to be tied, and y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prefers 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x to M(y), or considers them to be tied.</a:t>
            </a:r>
          </a:p>
          <a:p>
            <a:pPr lvl="1">
              <a:buNone/>
            </a:pPr>
            <a:r>
              <a:rPr lang="en-US" altLang="zh-TW" sz="12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|≤|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xM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(x)| &amp; 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|≤|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yM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(y)| </a:t>
            </a:r>
          </a:p>
          <a:p>
            <a:pPr lvl="1"/>
            <a:endParaRPr lang="en-US" altLang="zh-TW" sz="12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TW" sz="1200" i="1" dirty="0" smtClean="0"/>
              <a:t>	</a:t>
            </a:r>
            <a:r>
              <a:rPr lang="en-US" altLang="zh-TW" sz="1600" i="1" dirty="0" smtClean="0"/>
              <a:t>Strongly-stable matching</a:t>
            </a:r>
            <a:endParaRPr lang="en-US" altLang="zh-TW" sz="16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TW" sz="1200" i="1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Strongly-blocking: {x, y} is a strongly-blocking pair if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x, y} is a super-blocking pair and, additionally, either x strictly prefers y to M(x) or y strictly prefers x to M(y).</a:t>
            </a:r>
          </a:p>
          <a:p>
            <a:pPr lvl="1">
              <a:buNone/>
            </a:pP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	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|≤|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xM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(x)| &amp; 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|&lt;|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yM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(y)| </a:t>
            </a:r>
          </a:p>
          <a:p>
            <a:pPr lvl="1">
              <a:buNone/>
            </a:pPr>
            <a:endParaRPr lang="en-US" altLang="zh-TW" sz="1600" i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r>
              <a:rPr lang="en-US" altLang="zh-TW" sz="1600" i="1" dirty="0" smtClean="0"/>
              <a:t>	Weakly-stable matching</a:t>
            </a:r>
          </a:p>
          <a:p>
            <a:pPr lvl="1">
              <a:buNone/>
            </a:pPr>
            <a:r>
              <a:rPr lang="en-US" altLang="zh-TW" sz="1600" i="1" dirty="0" smtClean="0"/>
              <a:t>	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Weakly-blocking: {x, y} is a weakly-blocking pair if x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strictly prefers 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y to M(x) and y strictly prefers x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M(y).</a:t>
            </a:r>
          </a:p>
          <a:p>
            <a:pPr lvl="1">
              <a:buNone/>
            </a:pP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	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|&lt;|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xM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(x)| &amp; 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|&lt;|</a:t>
            </a:r>
            <a:r>
              <a:rPr lang="en-US" altLang="zh-TW" sz="1600" i="1" dirty="0" err="1" smtClean="0">
                <a:latin typeface="Times New Roman" pitchFamily="18" charset="0"/>
                <a:cs typeface="Times New Roman" pitchFamily="18" charset="0"/>
              </a:rPr>
              <a:t>yM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(y)|</a:t>
            </a:r>
            <a:endParaRPr lang="zh-TW" altLang="en-US" sz="1600" dirty="0"/>
          </a:p>
        </p:txBody>
      </p:sp>
      <p:sp>
        <p:nvSpPr>
          <p:cNvPr id="4" name="Line 10"/>
          <p:cNvSpPr>
            <a:spLocks noChangeShapeType="1"/>
          </p:cNvSpPr>
          <p:nvPr/>
        </p:nvSpPr>
        <p:spPr bwMode="auto">
          <a:xfrm>
            <a:off x="457200" y="2513011"/>
            <a:ext cx="0" cy="6302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" name="Line 11"/>
          <p:cNvSpPr>
            <a:spLocks noChangeShapeType="1"/>
          </p:cNvSpPr>
          <p:nvPr/>
        </p:nvSpPr>
        <p:spPr bwMode="auto">
          <a:xfrm>
            <a:off x="1087438" y="2513011"/>
            <a:ext cx="0" cy="6302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6" name="Line 13"/>
          <p:cNvSpPr>
            <a:spLocks noChangeShapeType="1"/>
          </p:cNvSpPr>
          <p:nvPr/>
        </p:nvSpPr>
        <p:spPr bwMode="auto">
          <a:xfrm>
            <a:off x="457200" y="3143248"/>
            <a:ext cx="6302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" name="Line 14"/>
          <p:cNvSpPr>
            <a:spLocks noChangeShapeType="1"/>
          </p:cNvSpPr>
          <p:nvPr/>
        </p:nvSpPr>
        <p:spPr bwMode="auto">
          <a:xfrm>
            <a:off x="457200" y="4013209"/>
            <a:ext cx="0" cy="6302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" name="Line 15"/>
          <p:cNvSpPr>
            <a:spLocks noChangeShapeType="1"/>
          </p:cNvSpPr>
          <p:nvPr/>
        </p:nvSpPr>
        <p:spPr bwMode="auto">
          <a:xfrm>
            <a:off x="1087438" y="3656021"/>
            <a:ext cx="0" cy="9874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9" name="Line 16"/>
          <p:cNvSpPr>
            <a:spLocks noChangeShapeType="1"/>
          </p:cNvSpPr>
          <p:nvPr/>
        </p:nvSpPr>
        <p:spPr bwMode="auto">
          <a:xfrm>
            <a:off x="457200" y="4643446"/>
            <a:ext cx="6302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0" name="Line 17"/>
          <p:cNvSpPr>
            <a:spLocks noChangeShapeType="1"/>
          </p:cNvSpPr>
          <p:nvPr/>
        </p:nvSpPr>
        <p:spPr bwMode="auto">
          <a:xfrm>
            <a:off x="457200" y="5083194"/>
            <a:ext cx="0" cy="9890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1" name="Line 18"/>
          <p:cNvSpPr>
            <a:spLocks noChangeShapeType="1"/>
          </p:cNvSpPr>
          <p:nvPr/>
        </p:nvSpPr>
        <p:spPr bwMode="auto">
          <a:xfrm>
            <a:off x="1087438" y="5083194"/>
            <a:ext cx="0" cy="98901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2" name="Line 19"/>
          <p:cNvSpPr>
            <a:spLocks noChangeShapeType="1"/>
          </p:cNvSpPr>
          <p:nvPr/>
        </p:nvSpPr>
        <p:spPr bwMode="auto">
          <a:xfrm>
            <a:off x="457200" y="6072206"/>
            <a:ext cx="630238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Closest-Pair (CP) Graph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a,b</a:t>
            </a:r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 – closest pairs in V</a:t>
            </a:r>
          </a:p>
          <a:p>
            <a:pPr lvl="1">
              <a:buFontTx/>
              <a:buNone/>
            </a:pPr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|</a:t>
            </a:r>
            <a:r>
              <a:rPr lang="en-US" altLang="zh-TW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ab</a:t>
            </a:r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| = </a:t>
            </a:r>
            <a:r>
              <a:rPr lang="en-US" altLang="zh-TW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min</a:t>
            </a:r>
            <a:r>
              <a:rPr lang="en-US" altLang="zh-TW" baseline="-25000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x,y</a:t>
            </a:r>
            <a:r>
              <a:rPr lang="en-US" altLang="zh-TW" baseline="-25000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 in </a:t>
            </a:r>
            <a:r>
              <a:rPr lang="en-US" altLang="zh-TW" baseline="-25000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V</a:t>
            </a:r>
            <a:r>
              <a:rPr lang="en-US" altLang="zh-TW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d</a:t>
            </a:r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(</a:t>
            </a:r>
            <a:r>
              <a:rPr lang="en-US" altLang="zh-TW" dirty="0" err="1">
                <a:latin typeface="Times New Roman" pitchFamily="18" charset="0"/>
                <a:ea typeface="新細明體" charset="-120"/>
                <a:cs typeface="Times New Roman" pitchFamily="18" charset="0"/>
              </a:rPr>
              <a:t>x,y</a:t>
            </a:r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)</a:t>
            </a:r>
          </a:p>
          <a:p>
            <a:pPr lvl="1"/>
            <a:endParaRPr lang="en-US" altLang="zh-TW" dirty="0">
              <a:latin typeface="Times New Roman" pitchFamily="18" charset="0"/>
              <a:ea typeface="新細明體" charset="-120"/>
              <a:cs typeface="Times New Roman" pitchFamily="18" charset="0"/>
            </a:endParaRPr>
          </a:p>
          <a:p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no ties: one edge</a:t>
            </a:r>
          </a:p>
          <a:p>
            <a:r>
              <a:rPr lang="en-US" altLang="zh-TW" dirty="0">
                <a:latin typeface="Times New Roman" pitchFamily="18" charset="0"/>
                <a:ea typeface="新細明體" charset="-120"/>
                <a:cs typeface="Times New Roman" pitchFamily="18" charset="0"/>
              </a:rPr>
              <a:t>with ties: arbitrary graph</a:t>
            </a:r>
          </a:p>
          <a:p>
            <a:endParaRPr lang="en-US" altLang="zh-TW" dirty="0">
              <a:ea typeface="新細明體" charset="-120"/>
            </a:endParaRPr>
          </a:p>
        </p:txBody>
      </p:sp>
      <p:sp>
        <p:nvSpPr>
          <p:cNvPr id="81924" name="Line 4"/>
          <p:cNvSpPr>
            <a:spLocks noChangeShapeType="1"/>
          </p:cNvSpPr>
          <p:nvPr/>
        </p:nvSpPr>
        <p:spPr bwMode="auto">
          <a:xfrm rot="18383386">
            <a:off x="6110288" y="2427288"/>
            <a:ext cx="528637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25" name="Line 5"/>
          <p:cNvSpPr>
            <a:spLocks noChangeShapeType="1"/>
          </p:cNvSpPr>
          <p:nvPr/>
        </p:nvSpPr>
        <p:spPr bwMode="auto">
          <a:xfrm>
            <a:off x="6235700" y="2654300"/>
            <a:ext cx="528638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26" name="Line 6"/>
          <p:cNvSpPr>
            <a:spLocks noChangeShapeType="1"/>
          </p:cNvSpPr>
          <p:nvPr/>
        </p:nvSpPr>
        <p:spPr bwMode="auto">
          <a:xfrm>
            <a:off x="6530975" y="2230438"/>
            <a:ext cx="528638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27" name="Freeform 7"/>
          <p:cNvSpPr>
            <a:spLocks/>
          </p:cNvSpPr>
          <p:nvPr/>
        </p:nvSpPr>
        <p:spPr bwMode="auto">
          <a:xfrm>
            <a:off x="5992813" y="2206625"/>
            <a:ext cx="246062" cy="4048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28" name="Line 8"/>
          <p:cNvSpPr>
            <a:spLocks noChangeShapeType="1"/>
          </p:cNvSpPr>
          <p:nvPr/>
        </p:nvSpPr>
        <p:spPr bwMode="auto">
          <a:xfrm rot="18383386">
            <a:off x="6656388" y="2493963"/>
            <a:ext cx="528637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29" name="Line 9"/>
          <p:cNvSpPr>
            <a:spLocks noChangeShapeType="1"/>
          </p:cNvSpPr>
          <p:nvPr/>
        </p:nvSpPr>
        <p:spPr bwMode="auto">
          <a:xfrm>
            <a:off x="6002338" y="2211388"/>
            <a:ext cx="52863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30" name="Line 10"/>
          <p:cNvSpPr>
            <a:spLocks noChangeShapeType="1"/>
          </p:cNvSpPr>
          <p:nvPr/>
        </p:nvSpPr>
        <p:spPr bwMode="auto">
          <a:xfrm>
            <a:off x="5830888" y="3022600"/>
            <a:ext cx="528637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31" name="Line 11"/>
          <p:cNvSpPr>
            <a:spLocks noChangeShapeType="1"/>
          </p:cNvSpPr>
          <p:nvPr/>
        </p:nvSpPr>
        <p:spPr bwMode="auto">
          <a:xfrm rot="18966797">
            <a:off x="5757863" y="2824163"/>
            <a:ext cx="52863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34" name="Oval 14"/>
          <p:cNvSpPr>
            <a:spLocks noChangeArrowheads="1"/>
          </p:cNvSpPr>
          <p:nvPr/>
        </p:nvSpPr>
        <p:spPr bwMode="auto">
          <a:xfrm>
            <a:off x="6330950" y="30226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35" name="Oval 15"/>
          <p:cNvSpPr>
            <a:spLocks noChangeArrowheads="1"/>
          </p:cNvSpPr>
          <p:nvPr/>
        </p:nvSpPr>
        <p:spPr bwMode="auto">
          <a:xfrm>
            <a:off x="5786438" y="29781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36" name="Oval 16"/>
          <p:cNvSpPr>
            <a:spLocks noChangeArrowheads="1"/>
          </p:cNvSpPr>
          <p:nvPr/>
        </p:nvSpPr>
        <p:spPr bwMode="auto">
          <a:xfrm>
            <a:off x="6194425" y="260350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37" name="Oval 17"/>
          <p:cNvSpPr>
            <a:spLocks noChangeArrowheads="1"/>
          </p:cNvSpPr>
          <p:nvPr/>
        </p:nvSpPr>
        <p:spPr bwMode="auto">
          <a:xfrm>
            <a:off x="5957888" y="217963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38" name="Oval 18"/>
          <p:cNvSpPr>
            <a:spLocks noChangeArrowheads="1"/>
          </p:cNvSpPr>
          <p:nvPr/>
        </p:nvSpPr>
        <p:spPr bwMode="auto">
          <a:xfrm>
            <a:off x="6486525" y="216217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39" name="Oval 19"/>
          <p:cNvSpPr>
            <a:spLocks noChangeArrowheads="1"/>
          </p:cNvSpPr>
          <p:nvPr/>
        </p:nvSpPr>
        <p:spPr bwMode="auto">
          <a:xfrm>
            <a:off x="7015163" y="220662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40" name="Oval 20"/>
          <p:cNvSpPr>
            <a:spLocks noChangeArrowheads="1"/>
          </p:cNvSpPr>
          <p:nvPr/>
        </p:nvSpPr>
        <p:spPr bwMode="auto">
          <a:xfrm>
            <a:off x="6719888" y="267017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41" name="Freeform 21"/>
          <p:cNvSpPr>
            <a:spLocks/>
          </p:cNvSpPr>
          <p:nvPr/>
        </p:nvSpPr>
        <p:spPr bwMode="auto">
          <a:xfrm>
            <a:off x="6530975" y="2211388"/>
            <a:ext cx="246063" cy="4810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42" name="Freeform 22"/>
          <p:cNvSpPr>
            <a:spLocks/>
          </p:cNvSpPr>
          <p:nvPr/>
        </p:nvSpPr>
        <p:spPr bwMode="auto">
          <a:xfrm>
            <a:off x="6207125" y="2654300"/>
            <a:ext cx="168275" cy="412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43" name="Freeform 23"/>
          <p:cNvSpPr>
            <a:spLocks/>
          </p:cNvSpPr>
          <p:nvPr/>
        </p:nvSpPr>
        <p:spPr bwMode="auto">
          <a:xfrm>
            <a:off x="6397625" y="2689225"/>
            <a:ext cx="361950" cy="3683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228" y="0"/>
              </a:cxn>
            </a:cxnLst>
            <a:rect l="0" t="0" r="r" b="b"/>
            <a:pathLst>
              <a:path w="228" h="232">
                <a:moveTo>
                  <a:pt x="0" y="232"/>
                </a:moveTo>
                <a:lnTo>
                  <a:pt x="228" y="0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47" name="Freeform 27"/>
          <p:cNvSpPr>
            <a:spLocks/>
          </p:cNvSpPr>
          <p:nvPr/>
        </p:nvSpPr>
        <p:spPr bwMode="auto">
          <a:xfrm>
            <a:off x="6375400" y="3067050"/>
            <a:ext cx="344488" cy="2857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48" name="Oval 28"/>
          <p:cNvSpPr>
            <a:spLocks noChangeArrowheads="1"/>
          </p:cNvSpPr>
          <p:nvPr/>
        </p:nvSpPr>
        <p:spPr bwMode="auto">
          <a:xfrm>
            <a:off x="6670675" y="330835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49" name="Freeform 29"/>
          <p:cNvSpPr>
            <a:spLocks/>
          </p:cNvSpPr>
          <p:nvPr/>
        </p:nvSpPr>
        <p:spPr bwMode="auto">
          <a:xfrm>
            <a:off x="6715125" y="3352800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52" name="Oval 32"/>
          <p:cNvSpPr>
            <a:spLocks noChangeArrowheads="1"/>
          </p:cNvSpPr>
          <p:nvPr/>
        </p:nvSpPr>
        <p:spPr bwMode="auto">
          <a:xfrm>
            <a:off x="7059613" y="345281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53" name="Line 33"/>
          <p:cNvSpPr>
            <a:spLocks noChangeShapeType="1"/>
          </p:cNvSpPr>
          <p:nvPr/>
        </p:nvSpPr>
        <p:spPr bwMode="auto">
          <a:xfrm>
            <a:off x="7658100" y="2493963"/>
            <a:ext cx="528638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54" name="Line 34"/>
          <p:cNvSpPr>
            <a:spLocks noChangeShapeType="1"/>
          </p:cNvSpPr>
          <p:nvPr/>
        </p:nvSpPr>
        <p:spPr bwMode="auto">
          <a:xfrm rot="18383386">
            <a:off x="7783513" y="2757488"/>
            <a:ext cx="528637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55" name="Freeform 35"/>
          <p:cNvSpPr>
            <a:spLocks/>
          </p:cNvSpPr>
          <p:nvPr/>
        </p:nvSpPr>
        <p:spPr bwMode="auto">
          <a:xfrm>
            <a:off x="7658100" y="2474913"/>
            <a:ext cx="246063" cy="4810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56" name="Oval 36"/>
          <p:cNvSpPr>
            <a:spLocks noChangeArrowheads="1"/>
          </p:cNvSpPr>
          <p:nvPr/>
        </p:nvSpPr>
        <p:spPr bwMode="auto">
          <a:xfrm>
            <a:off x="7613650" y="244951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57" name="Oval 37"/>
          <p:cNvSpPr>
            <a:spLocks noChangeArrowheads="1"/>
          </p:cNvSpPr>
          <p:nvPr/>
        </p:nvSpPr>
        <p:spPr bwMode="auto">
          <a:xfrm>
            <a:off x="8142288" y="247491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1958" name="Oval 38"/>
          <p:cNvSpPr>
            <a:spLocks noChangeArrowheads="1"/>
          </p:cNvSpPr>
          <p:nvPr/>
        </p:nvSpPr>
        <p:spPr bwMode="auto">
          <a:xfrm>
            <a:off x="7859713" y="291147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1800" b="1" dirty="0" smtClean="0">
                <a:latin typeface="Times New Roman" pitchFamily="18" charset="0"/>
                <a:cs typeface="Times New Roman" pitchFamily="18" charset="0"/>
              </a:rPr>
              <a:t>Theorem  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A super-stable matching in geometric SR can be tested for existence in O(n </a:t>
            </a:r>
            <a:r>
              <a:rPr lang="en-US" altLang="zh-TW" sz="1800" i="1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) time, and can be found (if it exists) in the same time bound.</a:t>
            </a:r>
            <a:endParaRPr lang="zh-TW" alt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After 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O(|</a:t>
            </a:r>
            <a:r>
              <a:rPr lang="en-US" altLang="zh-TW" sz="1800" i="1" dirty="0" err="1" smtClean="0">
                <a:latin typeface="Times New Roman" pitchFamily="18" charset="0"/>
                <a:cs typeface="Times New Roman" pitchFamily="18" charset="0"/>
              </a:rPr>
              <a:t>n|log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 |n|) preprocessing time, the 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structure can report 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all closest pairs in time O(log 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 |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CP(P)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check whether there is a vertex of degree greater than one in 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CP(P). If any, 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we report that there is no super-stable matching. Otherwise We delete the points involved in 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CP(P) 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and repeat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altLang="zh-TW" sz="1800" dirty="0" smtClean="0"/>
          </a:p>
          <a:p>
            <a:endParaRPr lang="zh-TW" altLang="en-US" dirty="0"/>
          </a:p>
        </p:txBody>
      </p:sp>
      <p:sp>
        <p:nvSpPr>
          <p:cNvPr id="35" name="Freeform 7"/>
          <p:cNvSpPr>
            <a:spLocks/>
          </p:cNvSpPr>
          <p:nvPr/>
        </p:nvSpPr>
        <p:spPr bwMode="auto">
          <a:xfrm>
            <a:off x="976303" y="3094044"/>
            <a:ext cx="246062" cy="4048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1314440" y="391001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769928" y="386556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" name="Oval 16"/>
          <p:cNvSpPr>
            <a:spLocks noChangeArrowheads="1"/>
          </p:cNvSpPr>
          <p:nvPr/>
        </p:nvSpPr>
        <p:spPr bwMode="auto">
          <a:xfrm>
            <a:off x="1177915" y="349091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" name="Oval 17"/>
          <p:cNvSpPr>
            <a:spLocks noChangeArrowheads="1"/>
          </p:cNvSpPr>
          <p:nvPr/>
        </p:nvSpPr>
        <p:spPr bwMode="auto">
          <a:xfrm>
            <a:off x="941378" y="30670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4" name="Oval 18"/>
          <p:cNvSpPr>
            <a:spLocks noChangeArrowheads="1"/>
          </p:cNvSpPr>
          <p:nvPr/>
        </p:nvSpPr>
        <p:spPr bwMode="auto">
          <a:xfrm>
            <a:off x="1470015" y="30495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5" name="Oval 19"/>
          <p:cNvSpPr>
            <a:spLocks noChangeArrowheads="1"/>
          </p:cNvSpPr>
          <p:nvPr/>
        </p:nvSpPr>
        <p:spPr bwMode="auto">
          <a:xfrm>
            <a:off x="1998653" y="309404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6" name="Oval 20"/>
          <p:cNvSpPr>
            <a:spLocks noChangeArrowheads="1"/>
          </p:cNvSpPr>
          <p:nvPr/>
        </p:nvSpPr>
        <p:spPr bwMode="auto">
          <a:xfrm>
            <a:off x="1703378" y="35575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1" name="Oval 28"/>
          <p:cNvSpPr>
            <a:spLocks noChangeArrowheads="1"/>
          </p:cNvSpPr>
          <p:nvPr/>
        </p:nvSpPr>
        <p:spPr bwMode="auto">
          <a:xfrm>
            <a:off x="1654165" y="419576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3" name="Oval 32"/>
          <p:cNvSpPr>
            <a:spLocks noChangeArrowheads="1"/>
          </p:cNvSpPr>
          <p:nvPr/>
        </p:nvSpPr>
        <p:spPr bwMode="auto">
          <a:xfrm>
            <a:off x="2043103" y="43402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5" name="Line 34"/>
          <p:cNvSpPr>
            <a:spLocks noChangeShapeType="1"/>
          </p:cNvSpPr>
          <p:nvPr/>
        </p:nvSpPr>
        <p:spPr bwMode="auto">
          <a:xfrm rot="18383386">
            <a:off x="2767003" y="3644907"/>
            <a:ext cx="528637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7" name="Oval 36"/>
          <p:cNvSpPr>
            <a:spLocks noChangeArrowheads="1"/>
          </p:cNvSpPr>
          <p:nvPr/>
        </p:nvSpPr>
        <p:spPr bwMode="auto">
          <a:xfrm>
            <a:off x="2597140" y="33369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8" name="Oval 37"/>
          <p:cNvSpPr>
            <a:spLocks noChangeArrowheads="1"/>
          </p:cNvSpPr>
          <p:nvPr/>
        </p:nvSpPr>
        <p:spPr bwMode="auto">
          <a:xfrm>
            <a:off x="3125778" y="33623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59" name="Oval 38"/>
          <p:cNvSpPr>
            <a:spLocks noChangeArrowheads="1"/>
          </p:cNvSpPr>
          <p:nvPr/>
        </p:nvSpPr>
        <p:spPr bwMode="auto">
          <a:xfrm>
            <a:off x="2843203" y="37988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2" name="Line 6"/>
          <p:cNvSpPr>
            <a:spLocks noChangeShapeType="1"/>
          </p:cNvSpPr>
          <p:nvPr/>
        </p:nvSpPr>
        <p:spPr bwMode="auto">
          <a:xfrm flipV="1">
            <a:off x="5429255" y="3227394"/>
            <a:ext cx="285757" cy="41591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66" name="Line 10"/>
          <p:cNvSpPr>
            <a:spLocks noChangeShapeType="1"/>
          </p:cNvSpPr>
          <p:nvPr/>
        </p:nvSpPr>
        <p:spPr bwMode="auto">
          <a:xfrm>
            <a:off x="4486288" y="3981457"/>
            <a:ext cx="528637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68" name="Oval 14"/>
          <p:cNvSpPr>
            <a:spLocks noChangeArrowheads="1"/>
          </p:cNvSpPr>
          <p:nvPr/>
        </p:nvSpPr>
        <p:spPr bwMode="auto">
          <a:xfrm>
            <a:off x="4986350" y="39814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" name="Oval 15"/>
          <p:cNvSpPr>
            <a:spLocks noChangeArrowheads="1"/>
          </p:cNvSpPr>
          <p:nvPr/>
        </p:nvSpPr>
        <p:spPr bwMode="auto">
          <a:xfrm>
            <a:off x="4441838" y="39370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" name="Oval 18"/>
          <p:cNvSpPr>
            <a:spLocks noChangeArrowheads="1"/>
          </p:cNvSpPr>
          <p:nvPr/>
        </p:nvSpPr>
        <p:spPr bwMode="auto">
          <a:xfrm>
            <a:off x="5141925" y="31210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3" name="Oval 19"/>
          <p:cNvSpPr>
            <a:spLocks noChangeArrowheads="1"/>
          </p:cNvSpPr>
          <p:nvPr/>
        </p:nvSpPr>
        <p:spPr bwMode="auto">
          <a:xfrm>
            <a:off x="5670563" y="316548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7" name="Freeform 23"/>
          <p:cNvSpPr>
            <a:spLocks/>
          </p:cNvSpPr>
          <p:nvPr/>
        </p:nvSpPr>
        <p:spPr bwMode="auto">
          <a:xfrm>
            <a:off x="5053025" y="3648082"/>
            <a:ext cx="361950" cy="3683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228" y="0"/>
              </a:cxn>
            </a:cxnLst>
            <a:rect l="0" t="0" r="r" b="b"/>
            <a:pathLst>
              <a:path w="228" h="232">
                <a:moveTo>
                  <a:pt x="0" y="232"/>
                </a:moveTo>
                <a:lnTo>
                  <a:pt x="228" y="0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9" name="Oval 28"/>
          <p:cNvSpPr>
            <a:spLocks noChangeArrowheads="1"/>
          </p:cNvSpPr>
          <p:nvPr/>
        </p:nvSpPr>
        <p:spPr bwMode="auto">
          <a:xfrm>
            <a:off x="5326075" y="42672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0" name="Freeform 29"/>
          <p:cNvSpPr>
            <a:spLocks/>
          </p:cNvSpPr>
          <p:nvPr/>
        </p:nvSpPr>
        <p:spPr bwMode="auto">
          <a:xfrm>
            <a:off x="5370525" y="4311657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" name="Oval 32"/>
          <p:cNvSpPr>
            <a:spLocks noChangeArrowheads="1"/>
          </p:cNvSpPr>
          <p:nvPr/>
        </p:nvSpPr>
        <p:spPr bwMode="auto">
          <a:xfrm>
            <a:off x="5715013" y="44116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" name="Oval 36"/>
          <p:cNvSpPr>
            <a:spLocks noChangeArrowheads="1"/>
          </p:cNvSpPr>
          <p:nvPr/>
        </p:nvSpPr>
        <p:spPr bwMode="auto">
          <a:xfrm>
            <a:off x="6269050" y="34083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6" name="Freeform 7"/>
          <p:cNvSpPr>
            <a:spLocks/>
          </p:cNvSpPr>
          <p:nvPr/>
        </p:nvSpPr>
        <p:spPr bwMode="auto">
          <a:xfrm>
            <a:off x="5000628" y="4000505"/>
            <a:ext cx="357190" cy="28575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1600" b="1" dirty="0" smtClean="0">
                <a:latin typeface="Times New Roman" pitchFamily="18" charset="0"/>
                <a:cs typeface="Times New Roman" pitchFamily="18" charset="0"/>
              </a:rPr>
              <a:t>Theorem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A strongly-stable matching in geometric SR can 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be tested for existence in O(n</a:t>
            </a:r>
            <a:r>
              <a:rPr lang="en-US" altLang="zh-TW" sz="1600" i="1" baseline="30000" dirty="0" smtClean="0">
                <a:latin typeface="Times New Roman" pitchFamily="18" charset="0"/>
                <a:cs typeface="Times New Roman" pitchFamily="18" charset="0"/>
              </a:rPr>
              <a:t>1.5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) time, and can be found (if it exists) in the same time bound. If d = 2, the time bound is O(n</a:t>
            </a:r>
            <a:r>
              <a:rPr lang="en-US" altLang="zh-TW" sz="1600" i="1" baseline="30000" dirty="0" smtClean="0">
                <a:latin typeface="Times New Roman" pitchFamily="18" charset="0"/>
                <a:cs typeface="Times New Roman" pitchFamily="18" charset="0"/>
              </a:rPr>
              <a:t>1.19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zh-TW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We recursively compute a maximum matching in 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CP(P),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and, if the matching is perfect, remove the matched pairs. (If there is no perfect matching, we report that no stable matching exists.)</a:t>
            </a:r>
            <a:r>
              <a:rPr lang="en-US" altLang="zh-TW" sz="1600" dirty="0" smtClean="0"/>
              <a:t> </a:t>
            </a:r>
            <a:r>
              <a:rPr lang="en-US" altLang="zh-TW" sz="1600" dirty="0" smtClean="0">
                <a:latin typeface="Times New Roman" pitchFamily="18" charset="0"/>
                <a:cs typeface="Times New Roman" pitchFamily="18" charset="0"/>
              </a:rPr>
              <a:t>and repeat</a:t>
            </a:r>
            <a:r>
              <a:rPr lang="en-US" altLang="zh-TW" sz="16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TW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zh-TW" sz="1400" dirty="0" smtClean="0"/>
              <a:t>For </a:t>
            </a:r>
            <a:r>
              <a:rPr lang="en-US" altLang="zh-TW" sz="1400" i="1" dirty="0" smtClean="0"/>
              <a:t>d = 2, it is easy to see, using the triangle </a:t>
            </a:r>
            <a:r>
              <a:rPr lang="en-US" altLang="zh-TW" sz="1400" i="1" dirty="0" err="1" smtClean="0"/>
              <a:t>inequality,</a:t>
            </a:r>
            <a:r>
              <a:rPr lang="en-US" altLang="zh-TW" sz="1400" dirty="0" err="1" smtClean="0"/>
              <a:t>that</a:t>
            </a:r>
            <a:r>
              <a:rPr lang="en-US" altLang="zh-TW" sz="1400" dirty="0" smtClean="0"/>
              <a:t> </a:t>
            </a:r>
            <a:r>
              <a:rPr lang="en-US" altLang="zh-TW" sz="1400" i="1" dirty="0" smtClean="0"/>
              <a:t>CP(P) is planar.</a:t>
            </a:r>
          </a:p>
          <a:p>
            <a:pPr lvl="1"/>
            <a:endParaRPr lang="en-US" altLang="zh-TW" sz="12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4" name="Freeform 7"/>
          <p:cNvSpPr>
            <a:spLocks/>
          </p:cNvSpPr>
          <p:nvPr/>
        </p:nvSpPr>
        <p:spPr bwMode="auto">
          <a:xfrm>
            <a:off x="976303" y="3094044"/>
            <a:ext cx="246062" cy="4048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" name="Oval 14"/>
          <p:cNvSpPr>
            <a:spLocks noChangeArrowheads="1"/>
          </p:cNvSpPr>
          <p:nvPr/>
        </p:nvSpPr>
        <p:spPr bwMode="auto">
          <a:xfrm>
            <a:off x="1314440" y="391001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Oval 15"/>
          <p:cNvSpPr>
            <a:spLocks noChangeArrowheads="1"/>
          </p:cNvSpPr>
          <p:nvPr/>
        </p:nvSpPr>
        <p:spPr bwMode="auto">
          <a:xfrm>
            <a:off x="769928" y="386556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1177915" y="349091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" name="Oval 17"/>
          <p:cNvSpPr>
            <a:spLocks noChangeArrowheads="1"/>
          </p:cNvSpPr>
          <p:nvPr/>
        </p:nvSpPr>
        <p:spPr bwMode="auto">
          <a:xfrm>
            <a:off x="941378" y="30670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Oval 18"/>
          <p:cNvSpPr>
            <a:spLocks noChangeArrowheads="1"/>
          </p:cNvSpPr>
          <p:nvPr/>
        </p:nvSpPr>
        <p:spPr bwMode="auto">
          <a:xfrm>
            <a:off x="1470015" y="30495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1998653" y="309404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1703378" y="35575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" name="Oval 28"/>
          <p:cNvSpPr>
            <a:spLocks noChangeArrowheads="1"/>
          </p:cNvSpPr>
          <p:nvPr/>
        </p:nvSpPr>
        <p:spPr bwMode="auto">
          <a:xfrm>
            <a:off x="1654165" y="419576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Oval 32"/>
          <p:cNvSpPr>
            <a:spLocks noChangeArrowheads="1"/>
          </p:cNvSpPr>
          <p:nvPr/>
        </p:nvSpPr>
        <p:spPr bwMode="auto">
          <a:xfrm>
            <a:off x="2043103" y="43402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" name="Line 34"/>
          <p:cNvSpPr>
            <a:spLocks noChangeShapeType="1"/>
          </p:cNvSpPr>
          <p:nvPr/>
        </p:nvSpPr>
        <p:spPr bwMode="auto">
          <a:xfrm rot="18383386">
            <a:off x="2767003" y="3644907"/>
            <a:ext cx="528637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5" name="Oval 36"/>
          <p:cNvSpPr>
            <a:spLocks noChangeArrowheads="1"/>
          </p:cNvSpPr>
          <p:nvPr/>
        </p:nvSpPr>
        <p:spPr bwMode="auto">
          <a:xfrm>
            <a:off x="2597140" y="33369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Oval 37"/>
          <p:cNvSpPr>
            <a:spLocks noChangeArrowheads="1"/>
          </p:cNvSpPr>
          <p:nvPr/>
        </p:nvSpPr>
        <p:spPr bwMode="auto">
          <a:xfrm>
            <a:off x="3125778" y="33623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Oval 38"/>
          <p:cNvSpPr>
            <a:spLocks noChangeArrowheads="1"/>
          </p:cNvSpPr>
          <p:nvPr/>
        </p:nvSpPr>
        <p:spPr bwMode="auto">
          <a:xfrm>
            <a:off x="2843203" y="37988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 flipV="1">
            <a:off x="5429255" y="3227394"/>
            <a:ext cx="285757" cy="41591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>
            <a:off x="4486288" y="3981457"/>
            <a:ext cx="528637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4986350" y="39814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4441838" y="39370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141925" y="31210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" name="Oval 19"/>
          <p:cNvSpPr>
            <a:spLocks noChangeArrowheads="1"/>
          </p:cNvSpPr>
          <p:nvPr/>
        </p:nvSpPr>
        <p:spPr bwMode="auto">
          <a:xfrm>
            <a:off x="5670563" y="316548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053025" y="3648082"/>
            <a:ext cx="361950" cy="3683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228" y="0"/>
              </a:cxn>
            </a:cxnLst>
            <a:rect l="0" t="0" r="r" b="b"/>
            <a:pathLst>
              <a:path w="228" h="232">
                <a:moveTo>
                  <a:pt x="0" y="232"/>
                </a:moveTo>
                <a:lnTo>
                  <a:pt x="228" y="0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5326075" y="42672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" name="Freeform 29"/>
          <p:cNvSpPr>
            <a:spLocks/>
          </p:cNvSpPr>
          <p:nvPr/>
        </p:nvSpPr>
        <p:spPr bwMode="auto">
          <a:xfrm>
            <a:off x="5370525" y="4311657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7" name="Oval 32"/>
          <p:cNvSpPr>
            <a:spLocks noChangeArrowheads="1"/>
          </p:cNvSpPr>
          <p:nvPr/>
        </p:nvSpPr>
        <p:spPr bwMode="auto">
          <a:xfrm>
            <a:off x="5715013" y="44116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8" name="Oval 36"/>
          <p:cNvSpPr>
            <a:spLocks noChangeArrowheads="1"/>
          </p:cNvSpPr>
          <p:nvPr/>
        </p:nvSpPr>
        <p:spPr bwMode="auto">
          <a:xfrm>
            <a:off x="6269050" y="34083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" name="Freeform 7"/>
          <p:cNvSpPr>
            <a:spLocks/>
          </p:cNvSpPr>
          <p:nvPr/>
        </p:nvSpPr>
        <p:spPr bwMode="auto">
          <a:xfrm>
            <a:off x="5000628" y="4000505"/>
            <a:ext cx="357190" cy="28575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0" name="Line 6"/>
          <p:cNvSpPr>
            <a:spLocks noChangeShapeType="1"/>
          </p:cNvSpPr>
          <p:nvPr/>
        </p:nvSpPr>
        <p:spPr bwMode="auto">
          <a:xfrm flipV="1">
            <a:off x="5416541" y="5084782"/>
            <a:ext cx="285757" cy="41591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1" name="Line 10"/>
          <p:cNvSpPr>
            <a:spLocks noChangeShapeType="1"/>
          </p:cNvSpPr>
          <p:nvPr/>
        </p:nvSpPr>
        <p:spPr bwMode="auto">
          <a:xfrm>
            <a:off x="4473574" y="5838845"/>
            <a:ext cx="528637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2" name="Oval 14"/>
          <p:cNvSpPr>
            <a:spLocks noChangeArrowheads="1"/>
          </p:cNvSpPr>
          <p:nvPr/>
        </p:nvSpPr>
        <p:spPr bwMode="auto">
          <a:xfrm>
            <a:off x="4973636" y="583884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" name="Oval 15"/>
          <p:cNvSpPr>
            <a:spLocks noChangeArrowheads="1"/>
          </p:cNvSpPr>
          <p:nvPr/>
        </p:nvSpPr>
        <p:spPr bwMode="auto">
          <a:xfrm>
            <a:off x="4429124" y="579439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" name="Oval 18"/>
          <p:cNvSpPr>
            <a:spLocks noChangeArrowheads="1"/>
          </p:cNvSpPr>
          <p:nvPr/>
        </p:nvSpPr>
        <p:spPr bwMode="auto">
          <a:xfrm>
            <a:off x="5129211" y="497842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" name="Oval 19"/>
          <p:cNvSpPr>
            <a:spLocks noChangeArrowheads="1"/>
          </p:cNvSpPr>
          <p:nvPr/>
        </p:nvSpPr>
        <p:spPr bwMode="auto">
          <a:xfrm>
            <a:off x="5657849" y="50228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" name="Oval 28"/>
          <p:cNvSpPr>
            <a:spLocks noChangeArrowheads="1"/>
          </p:cNvSpPr>
          <p:nvPr/>
        </p:nvSpPr>
        <p:spPr bwMode="auto">
          <a:xfrm>
            <a:off x="5313361" y="612459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8" name="Freeform 29"/>
          <p:cNvSpPr>
            <a:spLocks/>
          </p:cNvSpPr>
          <p:nvPr/>
        </p:nvSpPr>
        <p:spPr bwMode="auto">
          <a:xfrm>
            <a:off x="5357811" y="6169045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9" name="Oval 32"/>
          <p:cNvSpPr>
            <a:spLocks noChangeArrowheads="1"/>
          </p:cNvSpPr>
          <p:nvPr/>
        </p:nvSpPr>
        <p:spPr bwMode="auto">
          <a:xfrm>
            <a:off x="5702299" y="626905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" name="Oval 36"/>
          <p:cNvSpPr>
            <a:spLocks noChangeArrowheads="1"/>
          </p:cNvSpPr>
          <p:nvPr/>
        </p:nvSpPr>
        <p:spPr bwMode="auto">
          <a:xfrm>
            <a:off x="6256336" y="526575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2285984" y="5500702"/>
            <a:ext cx="204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maximum matching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1800" b="1" dirty="0" smtClean="0">
                <a:latin typeface="Times New Roman" pitchFamily="18" charset="0"/>
                <a:cs typeface="Times New Roman" pitchFamily="18" charset="0"/>
              </a:rPr>
              <a:t>Theorem 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A weakly-stable matching in geometric SR in R</a:t>
            </a:r>
            <a:r>
              <a:rPr lang="en-US" altLang="zh-TW" sz="1800" baseline="30000" dirty="0" smtClean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always exists and can be found in O(n </a:t>
            </a:r>
            <a:r>
              <a:rPr lang="en-US" altLang="zh-TW" sz="1800" i="1" dirty="0" err="1" smtClean="0">
                <a:latin typeface="Times New Roman" pitchFamily="18" charset="0"/>
                <a:cs typeface="Times New Roman" pitchFamily="18" charset="0"/>
              </a:rPr>
              <a:t>logn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) time.</a:t>
            </a:r>
            <a:endParaRPr lang="zh-TW" alt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A maximal matching can be obtained in a greedy way in linear time.</a:t>
            </a:r>
            <a:b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1800" dirty="0" smtClean="0">
                <a:latin typeface="Times New Roman" pitchFamily="18" charset="0"/>
                <a:cs typeface="Times New Roman" pitchFamily="18" charset="0"/>
              </a:rPr>
              <a:t> remove the matched pairs and repeat</a:t>
            </a:r>
            <a:r>
              <a:rPr lang="en-US" altLang="zh-TW" sz="1800" i="1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TW" sz="18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4" name="Freeform 7"/>
          <p:cNvSpPr>
            <a:spLocks/>
          </p:cNvSpPr>
          <p:nvPr/>
        </p:nvSpPr>
        <p:spPr bwMode="auto">
          <a:xfrm>
            <a:off x="976303" y="3094044"/>
            <a:ext cx="246062" cy="40481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" name="Oval 14"/>
          <p:cNvSpPr>
            <a:spLocks noChangeArrowheads="1"/>
          </p:cNvSpPr>
          <p:nvPr/>
        </p:nvSpPr>
        <p:spPr bwMode="auto">
          <a:xfrm>
            <a:off x="1314440" y="391001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" name="Oval 15"/>
          <p:cNvSpPr>
            <a:spLocks noChangeArrowheads="1"/>
          </p:cNvSpPr>
          <p:nvPr/>
        </p:nvSpPr>
        <p:spPr bwMode="auto">
          <a:xfrm>
            <a:off x="769928" y="386556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1177915" y="349091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" name="Oval 17"/>
          <p:cNvSpPr>
            <a:spLocks noChangeArrowheads="1"/>
          </p:cNvSpPr>
          <p:nvPr/>
        </p:nvSpPr>
        <p:spPr bwMode="auto">
          <a:xfrm>
            <a:off x="941378" y="30670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Oval 18"/>
          <p:cNvSpPr>
            <a:spLocks noChangeArrowheads="1"/>
          </p:cNvSpPr>
          <p:nvPr/>
        </p:nvSpPr>
        <p:spPr bwMode="auto">
          <a:xfrm>
            <a:off x="1470015" y="30495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Oval 19"/>
          <p:cNvSpPr>
            <a:spLocks noChangeArrowheads="1"/>
          </p:cNvSpPr>
          <p:nvPr/>
        </p:nvSpPr>
        <p:spPr bwMode="auto">
          <a:xfrm>
            <a:off x="1998653" y="309404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Oval 20"/>
          <p:cNvSpPr>
            <a:spLocks noChangeArrowheads="1"/>
          </p:cNvSpPr>
          <p:nvPr/>
        </p:nvSpPr>
        <p:spPr bwMode="auto">
          <a:xfrm>
            <a:off x="1703378" y="35575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2" name="Oval 28"/>
          <p:cNvSpPr>
            <a:spLocks noChangeArrowheads="1"/>
          </p:cNvSpPr>
          <p:nvPr/>
        </p:nvSpPr>
        <p:spPr bwMode="auto">
          <a:xfrm>
            <a:off x="1654165" y="4195769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Oval 32"/>
          <p:cNvSpPr>
            <a:spLocks noChangeArrowheads="1"/>
          </p:cNvSpPr>
          <p:nvPr/>
        </p:nvSpPr>
        <p:spPr bwMode="auto">
          <a:xfrm>
            <a:off x="2043103" y="43402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" name="Line 34"/>
          <p:cNvSpPr>
            <a:spLocks noChangeShapeType="1"/>
          </p:cNvSpPr>
          <p:nvPr/>
        </p:nvSpPr>
        <p:spPr bwMode="auto">
          <a:xfrm rot="18383386">
            <a:off x="2767003" y="3644907"/>
            <a:ext cx="528637" cy="15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5" name="Oval 36"/>
          <p:cNvSpPr>
            <a:spLocks noChangeArrowheads="1"/>
          </p:cNvSpPr>
          <p:nvPr/>
        </p:nvSpPr>
        <p:spPr bwMode="auto">
          <a:xfrm>
            <a:off x="2597140" y="33369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Oval 37"/>
          <p:cNvSpPr>
            <a:spLocks noChangeArrowheads="1"/>
          </p:cNvSpPr>
          <p:nvPr/>
        </p:nvSpPr>
        <p:spPr bwMode="auto">
          <a:xfrm>
            <a:off x="3125778" y="33623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Oval 38"/>
          <p:cNvSpPr>
            <a:spLocks noChangeArrowheads="1"/>
          </p:cNvSpPr>
          <p:nvPr/>
        </p:nvSpPr>
        <p:spPr bwMode="auto">
          <a:xfrm>
            <a:off x="2843203" y="379889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Line 6"/>
          <p:cNvSpPr>
            <a:spLocks noChangeShapeType="1"/>
          </p:cNvSpPr>
          <p:nvPr/>
        </p:nvSpPr>
        <p:spPr bwMode="auto">
          <a:xfrm flipV="1">
            <a:off x="5429255" y="3227394"/>
            <a:ext cx="285757" cy="41591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>
            <a:off x="4486288" y="3981457"/>
            <a:ext cx="528637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0" name="Oval 14"/>
          <p:cNvSpPr>
            <a:spLocks noChangeArrowheads="1"/>
          </p:cNvSpPr>
          <p:nvPr/>
        </p:nvSpPr>
        <p:spPr bwMode="auto">
          <a:xfrm>
            <a:off x="4986350" y="39814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1" name="Oval 15"/>
          <p:cNvSpPr>
            <a:spLocks noChangeArrowheads="1"/>
          </p:cNvSpPr>
          <p:nvPr/>
        </p:nvSpPr>
        <p:spPr bwMode="auto">
          <a:xfrm>
            <a:off x="4441838" y="39370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" name="Oval 18"/>
          <p:cNvSpPr>
            <a:spLocks noChangeArrowheads="1"/>
          </p:cNvSpPr>
          <p:nvPr/>
        </p:nvSpPr>
        <p:spPr bwMode="auto">
          <a:xfrm>
            <a:off x="5141925" y="312103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" name="Oval 19"/>
          <p:cNvSpPr>
            <a:spLocks noChangeArrowheads="1"/>
          </p:cNvSpPr>
          <p:nvPr/>
        </p:nvSpPr>
        <p:spPr bwMode="auto">
          <a:xfrm>
            <a:off x="5670563" y="316548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>
            <a:off x="5053025" y="3648082"/>
            <a:ext cx="361950" cy="3683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228" y="0"/>
              </a:cxn>
            </a:cxnLst>
            <a:rect l="0" t="0" r="r" b="b"/>
            <a:pathLst>
              <a:path w="228" h="232">
                <a:moveTo>
                  <a:pt x="0" y="232"/>
                </a:moveTo>
                <a:lnTo>
                  <a:pt x="228" y="0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5" name="Oval 28"/>
          <p:cNvSpPr>
            <a:spLocks noChangeArrowheads="1"/>
          </p:cNvSpPr>
          <p:nvPr/>
        </p:nvSpPr>
        <p:spPr bwMode="auto">
          <a:xfrm>
            <a:off x="5326075" y="42672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6" name="Freeform 29"/>
          <p:cNvSpPr>
            <a:spLocks/>
          </p:cNvSpPr>
          <p:nvPr/>
        </p:nvSpPr>
        <p:spPr bwMode="auto">
          <a:xfrm>
            <a:off x="5370525" y="4311657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7" name="Oval 32"/>
          <p:cNvSpPr>
            <a:spLocks noChangeArrowheads="1"/>
          </p:cNvSpPr>
          <p:nvPr/>
        </p:nvSpPr>
        <p:spPr bwMode="auto">
          <a:xfrm>
            <a:off x="5715013" y="44116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8" name="Oval 36"/>
          <p:cNvSpPr>
            <a:spLocks noChangeArrowheads="1"/>
          </p:cNvSpPr>
          <p:nvPr/>
        </p:nvSpPr>
        <p:spPr bwMode="auto">
          <a:xfrm>
            <a:off x="6269050" y="34083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9" name="Freeform 7"/>
          <p:cNvSpPr>
            <a:spLocks/>
          </p:cNvSpPr>
          <p:nvPr/>
        </p:nvSpPr>
        <p:spPr bwMode="auto">
          <a:xfrm>
            <a:off x="5000628" y="4000505"/>
            <a:ext cx="357190" cy="28575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2" name="Oval 14"/>
          <p:cNvSpPr>
            <a:spLocks noChangeArrowheads="1"/>
          </p:cNvSpPr>
          <p:nvPr/>
        </p:nvSpPr>
        <p:spPr bwMode="auto">
          <a:xfrm>
            <a:off x="4973636" y="583884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" name="Oval 15"/>
          <p:cNvSpPr>
            <a:spLocks noChangeArrowheads="1"/>
          </p:cNvSpPr>
          <p:nvPr/>
        </p:nvSpPr>
        <p:spPr bwMode="auto">
          <a:xfrm>
            <a:off x="4429124" y="579439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4" name="Oval 18"/>
          <p:cNvSpPr>
            <a:spLocks noChangeArrowheads="1"/>
          </p:cNvSpPr>
          <p:nvPr/>
        </p:nvSpPr>
        <p:spPr bwMode="auto">
          <a:xfrm>
            <a:off x="5129211" y="497842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5" name="Oval 19"/>
          <p:cNvSpPr>
            <a:spLocks noChangeArrowheads="1"/>
          </p:cNvSpPr>
          <p:nvPr/>
        </p:nvSpPr>
        <p:spPr bwMode="auto">
          <a:xfrm>
            <a:off x="5657849" y="502287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6" name="Oval 28"/>
          <p:cNvSpPr>
            <a:spLocks noChangeArrowheads="1"/>
          </p:cNvSpPr>
          <p:nvPr/>
        </p:nvSpPr>
        <p:spPr bwMode="auto">
          <a:xfrm>
            <a:off x="5313361" y="612459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7" name="Freeform 29"/>
          <p:cNvSpPr>
            <a:spLocks/>
          </p:cNvSpPr>
          <p:nvPr/>
        </p:nvSpPr>
        <p:spPr bwMode="auto">
          <a:xfrm>
            <a:off x="5357811" y="6169045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8" name="Oval 32"/>
          <p:cNvSpPr>
            <a:spLocks noChangeArrowheads="1"/>
          </p:cNvSpPr>
          <p:nvPr/>
        </p:nvSpPr>
        <p:spPr bwMode="auto">
          <a:xfrm>
            <a:off x="5702299" y="626905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9" name="Oval 36"/>
          <p:cNvSpPr>
            <a:spLocks noChangeArrowheads="1"/>
          </p:cNvSpPr>
          <p:nvPr/>
        </p:nvSpPr>
        <p:spPr bwMode="auto">
          <a:xfrm>
            <a:off x="6256336" y="526575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2285984" y="5500702"/>
            <a:ext cx="1900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maximal matching</a:t>
            </a:r>
          </a:p>
        </p:txBody>
      </p:sp>
      <p:sp>
        <p:nvSpPr>
          <p:cNvPr id="41" name="Oval 19"/>
          <p:cNvSpPr>
            <a:spLocks noChangeArrowheads="1"/>
          </p:cNvSpPr>
          <p:nvPr/>
        </p:nvSpPr>
        <p:spPr bwMode="auto">
          <a:xfrm>
            <a:off x="5357818" y="5429264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" name="Freeform 23"/>
          <p:cNvSpPr>
            <a:spLocks/>
          </p:cNvSpPr>
          <p:nvPr/>
        </p:nvSpPr>
        <p:spPr bwMode="auto">
          <a:xfrm>
            <a:off x="5000628" y="5500702"/>
            <a:ext cx="361950" cy="3683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228" y="0"/>
              </a:cxn>
            </a:cxnLst>
            <a:rect l="0" t="0" r="r" b="b"/>
            <a:pathLst>
              <a:path w="228" h="232">
                <a:moveTo>
                  <a:pt x="0" y="232"/>
                </a:moveTo>
                <a:lnTo>
                  <a:pt x="228" y="0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線接點 50"/>
          <p:cNvCxnSpPr/>
          <p:nvPr/>
        </p:nvCxnSpPr>
        <p:spPr>
          <a:xfrm rot="5400000">
            <a:off x="4894106" y="5444454"/>
            <a:ext cx="396000" cy="36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/>
          <p:cNvCxnSpPr/>
          <p:nvPr/>
        </p:nvCxnSpPr>
        <p:spPr>
          <a:xfrm>
            <a:off x="5572132" y="4995882"/>
            <a:ext cx="585468" cy="25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itchFamily="18" charset="0"/>
                <a:cs typeface="Times New Roman" pitchFamily="18" charset="0"/>
              </a:rPr>
              <a:t>strongly-stable matching</a:t>
            </a:r>
            <a:endParaRPr lang="zh-TW" altLang="en-US" dirty="0"/>
          </a:p>
        </p:txBody>
      </p:sp>
      <p:sp>
        <p:nvSpPr>
          <p:cNvPr id="4" name="Line 6"/>
          <p:cNvSpPr>
            <a:spLocks noChangeShapeType="1"/>
          </p:cNvSpPr>
          <p:nvPr/>
        </p:nvSpPr>
        <p:spPr bwMode="auto">
          <a:xfrm flipV="1">
            <a:off x="5130789" y="3178172"/>
            <a:ext cx="285757" cy="415919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5" name="Line 10"/>
          <p:cNvSpPr>
            <a:spLocks noChangeShapeType="1"/>
          </p:cNvSpPr>
          <p:nvPr/>
        </p:nvSpPr>
        <p:spPr bwMode="auto">
          <a:xfrm>
            <a:off x="4187822" y="3932235"/>
            <a:ext cx="528637" cy="38100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6" name="Oval 14"/>
          <p:cNvSpPr>
            <a:spLocks noChangeArrowheads="1"/>
          </p:cNvSpPr>
          <p:nvPr/>
        </p:nvSpPr>
        <p:spPr bwMode="auto">
          <a:xfrm>
            <a:off x="4687884" y="393223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" name="Oval 15"/>
          <p:cNvSpPr>
            <a:spLocks noChangeArrowheads="1"/>
          </p:cNvSpPr>
          <p:nvPr/>
        </p:nvSpPr>
        <p:spPr bwMode="auto">
          <a:xfrm>
            <a:off x="4143372" y="388778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" name="Oval 18"/>
          <p:cNvSpPr>
            <a:spLocks noChangeArrowheads="1"/>
          </p:cNvSpPr>
          <p:nvPr/>
        </p:nvSpPr>
        <p:spPr bwMode="auto">
          <a:xfrm>
            <a:off x="4843459" y="307181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9" name="Oval 19"/>
          <p:cNvSpPr>
            <a:spLocks noChangeArrowheads="1"/>
          </p:cNvSpPr>
          <p:nvPr/>
        </p:nvSpPr>
        <p:spPr bwMode="auto">
          <a:xfrm>
            <a:off x="5372097" y="311626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" name="Oval 28"/>
          <p:cNvSpPr>
            <a:spLocks noChangeArrowheads="1"/>
          </p:cNvSpPr>
          <p:nvPr/>
        </p:nvSpPr>
        <p:spPr bwMode="auto">
          <a:xfrm>
            <a:off x="5027609" y="4217985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" name="Freeform 29"/>
          <p:cNvSpPr>
            <a:spLocks/>
          </p:cNvSpPr>
          <p:nvPr/>
        </p:nvSpPr>
        <p:spPr bwMode="auto">
          <a:xfrm>
            <a:off x="5072059" y="4262435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ln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2" name="Oval 32"/>
          <p:cNvSpPr>
            <a:spLocks noChangeArrowheads="1"/>
          </p:cNvSpPr>
          <p:nvPr/>
        </p:nvSpPr>
        <p:spPr bwMode="auto">
          <a:xfrm>
            <a:off x="5416547" y="436244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3" name="Oval 36"/>
          <p:cNvSpPr>
            <a:spLocks noChangeArrowheads="1"/>
          </p:cNvSpPr>
          <p:nvPr/>
        </p:nvSpPr>
        <p:spPr bwMode="auto">
          <a:xfrm>
            <a:off x="5970584" y="335914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2000232" y="3429000"/>
            <a:ext cx="204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maximum matching</a:t>
            </a:r>
          </a:p>
        </p:txBody>
      </p:sp>
      <p:sp>
        <p:nvSpPr>
          <p:cNvPr id="15" name="Oval 14"/>
          <p:cNvSpPr>
            <a:spLocks noChangeArrowheads="1"/>
          </p:cNvSpPr>
          <p:nvPr/>
        </p:nvSpPr>
        <p:spPr bwMode="auto">
          <a:xfrm>
            <a:off x="4843474" y="576740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" name="Oval 15"/>
          <p:cNvSpPr>
            <a:spLocks noChangeArrowheads="1"/>
          </p:cNvSpPr>
          <p:nvPr/>
        </p:nvSpPr>
        <p:spPr bwMode="auto">
          <a:xfrm>
            <a:off x="4298962" y="57229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" name="Oval 18"/>
          <p:cNvSpPr>
            <a:spLocks noChangeArrowheads="1"/>
          </p:cNvSpPr>
          <p:nvPr/>
        </p:nvSpPr>
        <p:spPr bwMode="auto">
          <a:xfrm>
            <a:off x="4999049" y="4906982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5527687" y="4951432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9" name="Oval 28"/>
          <p:cNvSpPr>
            <a:spLocks noChangeArrowheads="1"/>
          </p:cNvSpPr>
          <p:nvPr/>
        </p:nvSpPr>
        <p:spPr bwMode="auto">
          <a:xfrm>
            <a:off x="5183199" y="6053157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0" name="Freeform 29"/>
          <p:cNvSpPr>
            <a:spLocks/>
          </p:cNvSpPr>
          <p:nvPr/>
        </p:nvSpPr>
        <p:spPr bwMode="auto">
          <a:xfrm>
            <a:off x="5227649" y="6097607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ln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1" name="Oval 32"/>
          <p:cNvSpPr>
            <a:spLocks noChangeArrowheads="1"/>
          </p:cNvSpPr>
          <p:nvPr/>
        </p:nvSpPr>
        <p:spPr bwMode="auto">
          <a:xfrm>
            <a:off x="5572137" y="619762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2" name="Oval 36"/>
          <p:cNvSpPr>
            <a:spLocks noChangeArrowheads="1"/>
          </p:cNvSpPr>
          <p:nvPr/>
        </p:nvSpPr>
        <p:spPr bwMode="auto">
          <a:xfrm>
            <a:off x="6126174" y="5194320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2155822" y="5429264"/>
            <a:ext cx="1900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maximal matching</a:t>
            </a:r>
          </a:p>
        </p:txBody>
      </p:sp>
      <p:sp>
        <p:nvSpPr>
          <p:cNvPr id="24" name="Oval 19"/>
          <p:cNvSpPr>
            <a:spLocks noChangeArrowheads="1"/>
          </p:cNvSpPr>
          <p:nvPr/>
        </p:nvSpPr>
        <p:spPr bwMode="auto">
          <a:xfrm>
            <a:off x="5227656" y="5357826"/>
            <a:ext cx="88900" cy="889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cxnSp>
        <p:nvCxnSpPr>
          <p:cNvPr id="29" name="直線接點 28"/>
          <p:cNvCxnSpPr>
            <a:stCxn id="17" idx="3"/>
            <a:endCxn id="16" idx="4"/>
          </p:cNvCxnSpPr>
          <p:nvPr/>
        </p:nvCxnSpPr>
        <p:spPr>
          <a:xfrm rot="5400000">
            <a:off x="4263243" y="5063032"/>
            <a:ext cx="828994" cy="6686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/>
          <p:cNvCxnSpPr/>
          <p:nvPr/>
        </p:nvCxnSpPr>
        <p:spPr>
          <a:xfrm>
            <a:off x="4898248" y="3114000"/>
            <a:ext cx="1134000" cy="28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Line 6"/>
          <p:cNvSpPr>
            <a:spLocks noChangeShapeType="1"/>
          </p:cNvSpPr>
          <p:nvPr/>
        </p:nvSpPr>
        <p:spPr bwMode="auto">
          <a:xfrm flipV="1">
            <a:off x="5130789" y="1463660"/>
            <a:ext cx="285757" cy="41591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>
            <a:off x="4187822" y="2217723"/>
            <a:ext cx="528637" cy="38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0" name="Oval 14"/>
          <p:cNvSpPr>
            <a:spLocks noChangeArrowheads="1"/>
          </p:cNvSpPr>
          <p:nvPr/>
        </p:nvSpPr>
        <p:spPr bwMode="auto">
          <a:xfrm>
            <a:off x="4687884" y="221772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1" name="Oval 15"/>
          <p:cNvSpPr>
            <a:spLocks noChangeArrowheads="1"/>
          </p:cNvSpPr>
          <p:nvPr/>
        </p:nvSpPr>
        <p:spPr bwMode="auto">
          <a:xfrm>
            <a:off x="4143372" y="217327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2" name="Oval 18"/>
          <p:cNvSpPr>
            <a:spLocks noChangeArrowheads="1"/>
          </p:cNvSpPr>
          <p:nvPr/>
        </p:nvSpPr>
        <p:spPr bwMode="auto">
          <a:xfrm>
            <a:off x="4843459" y="135729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" name="Oval 19"/>
          <p:cNvSpPr>
            <a:spLocks noChangeArrowheads="1"/>
          </p:cNvSpPr>
          <p:nvPr/>
        </p:nvSpPr>
        <p:spPr bwMode="auto">
          <a:xfrm>
            <a:off x="5372097" y="1401748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4" name="Freeform 23"/>
          <p:cNvSpPr>
            <a:spLocks/>
          </p:cNvSpPr>
          <p:nvPr/>
        </p:nvSpPr>
        <p:spPr bwMode="auto">
          <a:xfrm>
            <a:off x="4754559" y="1884348"/>
            <a:ext cx="361950" cy="368300"/>
          </a:xfrm>
          <a:custGeom>
            <a:avLst/>
            <a:gdLst/>
            <a:ahLst/>
            <a:cxnLst>
              <a:cxn ang="0">
                <a:pos x="0" y="232"/>
              </a:cxn>
              <a:cxn ang="0">
                <a:pos x="228" y="0"/>
              </a:cxn>
            </a:cxnLst>
            <a:rect l="0" t="0" r="r" b="b"/>
            <a:pathLst>
              <a:path w="228" h="232">
                <a:moveTo>
                  <a:pt x="0" y="232"/>
                </a:moveTo>
                <a:lnTo>
                  <a:pt x="228" y="0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5" name="Oval 28"/>
          <p:cNvSpPr>
            <a:spLocks noChangeArrowheads="1"/>
          </p:cNvSpPr>
          <p:nvPr/>
        </p:nvSpPr>
        <p:spPr bwMode="auto">
          <a:xfrm>
            <a:off x="5027609" y="2503473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6" name="Freeform 29"/>
          <p:cNvSpPr>
            <a:spLocks/>
          </p:cNvSpPr>
          <p:nvPr/>
        </p:nvSpPr>
        <p:spPr bwMode="auto">
          <a:xfrm>
            <a:off x="5072059" y="2547923"/>
            <a:ext cx="388938" cy="1444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47" name="Oval 32"/>
          <p:cNvSpPr>
            <a:spLocks noChangeArrowheads="1"/>
          </p:cNvSpPr>
          <p:nvPr/>
        </p:nvSpPr>
        <p:spPr bwMode="auto">
          <a:xfrm>
            <a:off x="5416547" y="2647936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8" name="Oval 36"/>
          <p:cNvSpPr>
            <a:spLocks noChangeArrowheads="1"/>
          </p:cNvSpPr>
          <p:nvPr/>
        </p:nvSpPr>
        <p:spPr bwMode="auto">
          <a:xfrm>
            <a:off x="5970584" y="1644636"/>
            <a:ext cx="88900" cy="889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9" name="Freeform 7"/>
          <p:cNvSpPr>
            <a:spLocks/>
          </p:cNvSpPr>
          <p:nvPr/>
        </p:nvSpPr>
        <p:spPr bwMode="auto">
          <a:xfrm>
            <a:off x="4702162" y="2236771"/>
            <a:ext cx="357190" cy="28575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55" y="255"/>
              </a:cxn>
            </a:cxnLst>
            <a:rect l="0" t="0" r="r" b="b"/>
            <a:pathLst>
              <a:path w="155" h="255">
                <a:moveTo>
                  <a:pt x="0" y="0"/>
                </a:moveTo>
                <a:lnTo>
                  <a:pt x="155" y="255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altLang="zh-TW" i="1" dirty="0" smtClean="0">
                <a:latin typeface="Times New Roman" pitchFamily="18" charset="0"/>
                <a:cs typeface="Times New Roman" pitchFamily="18" charset="0"/>
              </a:rPr>
              <a:t>α-</a:t>
            </a:r>
            <a:r>
              <a:rPr lang="en-US" altLang="zh-TW" i="1" dirty="0" smtClean="0">
                <a:latin typeface="Times New Roman" pitchFamily="18" charset="0"/>
                <a:cs typeface="Times New Roman" pitchFamily="18" charset="0"/>
              </a:rPr>
              <a:t>Stable </a:t>
            </a:r>
            <a:r>
              <a:rPr lang="en-US" altLang="zh-TW" i="1" dirty="0" err="1" smtClean="0">
                <a:latin typeface="Times New Roman" pitchFamily="18" charset="0"/>
                <a:cs typeface="Times New Roman" pitchFamily="18" charset="0"/>
              </a:rPr>
              <a:t>matchings</a:t>
            </a:r>
            <a:endParaRPr lang="zh-TW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TW" sz="4000" dirty="0" smtClean="0">
                <a:ea typeface="新細明體" charset="-120"/>
              </a:rPr>
              <a:t>	</a:t>
            </a:r>
            <a:r>
              <a:rPr lang="en-US" altLang="zh-TW" sz="4000" dirty="0" smtClean="0">
                <a:latin typeface="Times New Roman" pitchFamily="18" charset="0"/>
                <a:ea typeface="新細明體" charset="-120"/>
                <a:cs typeface="Times New Roman" pitchFamily="18" charset="0"/>
              </a:rPr>
              <a:t>After switching </a:t>
            </a:r>
            <a:r>
              <a:rPr lang="en-US" altLang="zh-TW" sz="3600" dirty="0" smtClean="0">
                <a:latin typeface="Times New Roman" pitchFamily="18" charset="0"/>
                <a:ea typeface="新細明體" charset="-120"/>
                <a:cs typeface="Times New Roman" pitchFamily="18" charset="0"/>
              </a:rPr>
              <a:t>each improves by at least factor of </a:t>
            </a:r>
            <a:r>
              <a:rPr lang="el-GR" sz="3600" dirty="0" smtClean="0">
                <a:latin typeface="Times New Roman" pitchFamily="18" charset="0"/>
                <a:cs typeface="Times New Roman" pitchFamily="18" charset="0"/>
              </a:rPr>
              <a:t>α</a:t>
            </a:r>
            <a:endParaRPr lang="en-US" altLang="zh-TW" sz="3600" dirty="0" smtClean="0">
              <a:latin typeface="Times New Roman" pitchFamily="18" charset="0"/>
              <a:ea typeface="新細明體" charset="-120"/>
              <a:cs typeface="Times New Roman" pitchFamily="18" charset="0"/>
            </a:endParaRPr>
          </a:p>
          <a:p>
            <a:endParaRPr lang="zh-TW" altLang="en-US" dirty="0"/>
          </a:p>
        </p:txBody>
      </p:sp>
      <p:sp>
        <p:nvSpPr>
          <p:cNvPr id="4" name="Line 10"/>
          <p:cNvSpPr>
            <a:spLocks noChangeShapeType="1"/>
          </p:cNvSpPr>
          <p:nvPr/>
        </p:nvSpPr>
        <p:spPr bwMode="auto">
          <a:xfrm>
            <a:off x="4097332" y="3429000"/>
            <a:ext cx="0" cy="14906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" name="Line 11"/>
          <p:cNvSpPr>
            <a:spLocks noChangeShapeType="1"/>
          </p:cNvSpPr>
          <p:nvPr/>
        </p:nvSpPr>
        <p:spPr bwMode="auto">
          <a:xfrm>
            <a:off x="4727569" y="3429000"/>
            <a:ext cx="0" cy="14906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6" name="Line 12"/>
          <p:cNvSpPr>
            <a:spLocks noChangeShapeType="1"/>
          </p:cNvSpPr>
          <p:nvPr/>
        </p:nvSpPr>
        <p:spPr bwMode="auto">
          <a:xfrm>
            <a:off x="4097332" y="4919663"/>
            <a:ext cx="630237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005257" y="48831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ea typeface="新細明體" charset="-120"/>
              </a:rPr>
              <a:t>x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4578344" y="48831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ea typeface="新細明體" charset="-120"/>
              </a:rPr>
              <a:t>y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3786182" y="3938588"/>
            <a:ext cx="3159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l-GR"/>
              <a:t>α</a:t>
            </a:r>
            <a:endParaRPr lang="en-US" altLang="zh-TW">
              <a:ea typeface="新細明體" charset="-120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4727569" y="3938588"/>
            <a:ext cx="3159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l-GR"/>
              <a:t>α</a:t>
            </a:r>
            <a:endParaRPr lang="en-US" altLang="zh-TW">
              <a:ea typeface="新細明體" charset="-120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4211632" y="461486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TW" altLang="zh-TW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4240207" y="4568825"/>
            <a:ext cx="311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1</a:t>
            </a:r>
          </a:p>
        </p:txBody>
      </p:sp>
      <p:sp>
        <p:nvSpPr>
          <p:cNvPr id="13" name="Line 22"/>
          <p:cNvSpPr>
            <a:spLocks noChangeShapeType="1"/>
          </p:cNvSpPr>
          <p:nvPr/>
        </p:nvSpPr>
        <p:spPr bwMode="auto">
          <a:xfrm>
            <a:off x="4090982" y="3438525"/>
            <a:ext cx="0" cy="14906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4" name="Line 23"/>
          <p:cNvSpPr>
            <a:spLocks noChangeShapeType="1"/>
          </p:cNvSpPr>
          <p:nvPr/>
        </p:nvSpPr>
        <p:spPr bwMode="auto">
          <a:xfrm>
            <a:off x="4721219" y="3438525"/>
            <a:ext cx="0" cy="14906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8147050" y="4271963"/>
            <a:ext cx="539750" cy="898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7248525" y="4271963"/>
            <a:ext cx="898525" cy="69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000" b="1" dirty="0" smtClean="0">
                <a:latin typeface="Times New Roman" pitchFamily="18" charset="0"/>
                <a:cs typeface="Times New Roman" pitchFamily="18" charset="0"/>
              </a:rPr>
              <a:t>Theorem </a:t>
            </a:r>
            <a:r>
              <a:rPr lang="en-US" altLang="zh-TW" sz="2000" dirty="0" smtClean="0">
                <a:latin typeface="Times New Roman" pitchFamily="18" charset="0"/>
                <a:cs typeface="Times New Roman" pitchFamily="18" charset="0"/>
              </a:rPr>
              <a:t>In a geometric instance of 3D-SR there always </a:t>
            </a:r>
            <a:r>
              <a:rPr lang="en-US" altLang="zh-TW" sz="2000" i="1" dirty="0" smtClean="0">
                <a:latin typeface="Times New Roman" pitchFamily="18" charset="0"/>
                <a:cs typeface="Times New Roman" pitchFamily="18" charset="0"/>
              </a:rPr>
              <a:t>exists a 2- stable matching, and it can be found in polynomial time.</a:t>
            </a:r>
            <a:endParaRPr lang="zh-TW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Tx/>
              <a:buNone/>
            </a:pPr>
            <a:r>
              <a:rPr lang="en-US" altLang="zh-TW" dirty="0" smtClean="0">
                <a:ea typeface="新細明體" charset="-120"/>
              </a:rPr>
              <a:t>|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smtClean="0">
                <a:ea typeface="新細明體" charset="-120"/>
              </a:rPr>
              <a:t>x|+|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smtClean="0">
                <a:ea typeface="新細明體" charset="-120"/>
              </a:rPr>
              <a:t>y| &lt; ½ (|</a:t>
            </a:r>
            <a:r>
              <a:rPr lang="en-US" altLang="zh-TW" dirty="0" err="1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err="1" smtClean="0">
                <a:ea typeface="新細明體" charset="-120"/>
              </a:rPr>
              <a:t>b</a:t>
            </a:r>
            <a:r>
              <a:rPr lang="en-US" altLang="zh-TW" dirty="0" smtClean="0">
                <a:ea typeface="新細明體" charset="-120"/>
              </a:rPr>
              <a:t>|+|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smtClean="0">
                <a:ea typeface="新細明體" charset="-120"/>
              </a:rPr>
              <a:t>c|)</a:t>
            </a:r>
          </a:p>
          <a:p>
            <a:pPr lvl="1">
              <a:buFontTx/>
              <a:buNone/>
            </a:pPr>
            <a:r>
              <a:rPr lang="en-US" altLang="zh-TW" dirty="0" smtClean="0">
                <a:ea typeface="新細明體" charset="-120"/>
              </a:rPr>
              <a:t>perimeter(</a:t>
            </a:r>
            <a:r>
              <a:rPr lang="en-US" altLang="zh-TW" dirty="0" err="1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err="1" smtClean="0">
                <a:ea typeface="新細明體" charset="-120"/>
              </a:rPr>
              <a:t>xy</a:t>
            </a:r>
            <a:r>
              <a:rPr lang="en-US" altLang="zh-TW" dirty="0" smtClean="0">
                <a:ea typeface="新細明體" charset="-120"/>
              </a:rPr>
              <a:t>) </a:t>
            </a:r>
          </a:p>
          <a:p>
            <a:pPr lvl="1">
              <a:buFontTx/>
              <a:buNone/>
            </a:pPr>
            <a:r>
              <a:rPr lang="en-US" altLang="zh-TW" dirty="0" smtClean="0">
                <a:ea typeface="新細明體" charset="-120"/>
              </a:rPr>
              <a:t>= |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smtClean="0">
                <a:ea typeface="新細明體" charset="-120"/>
              </a:rPr>
              <a:t>x|+|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a</a:t>
            </a:r>
            <a:r>
              <a:rPr lang="en-US" altLang="zh-TW" dirty="0" smtClean="0">
                <a:ea typeface="新細明體" charset="-120"/>
              </a:rPr>
              <a:t>y|+|</a:t>
            </a:r>
            <a:r>
              <a:rPr lang="en-US" altLang="zh-TW" dirty="0" err="1" smtClean="0">
                <a:ea typeface="新細明體" charset="-120"/>
              </a:rPr>
              <a:t>xy</a:t>
            </a:r>
            <a:r>
              <a:rPr lang="en-US" altLang="zh-TW" dirty="0" smtClean="0">
                <a:ea typeface="新細明體" charset="-120"/>
              </a:rPr>
              <a:t>| </a:t>
            </a:r>
          </a:p>
          <a:p>
            <a:pPr lvl="1">
              <a:buFontTx/>
              <a:buNone/>
            </a:pPr>
            <a:r>
              <a:rPr lang="en-US" altLang="zh-TW" dirty="0" smtClean="0">
                <a:ea typeface="新細明體" charset="-120"/>
              </a:rPr>
              <a:t>&lt; 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|</a:t>
            </a:r>
            <a:r>
              <a:rPr lang="en-US" altLang="zh-TW" dirty="0" err="1" smtClean="0">
                <a:solidFill>
                  <a:schemeClr val="accent2"/>
                </a:solidFill>
                <a:ea typeface="新細明體" charset="-120"/>
              </a:rPr>
              <a:t>ab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|+|ac| </a:t>
            </a:r>
          </a:p>
          <a:p>
            <a:pPr lvl="1">
              <a:buFontTx/>
              <a:buNone/>
            </a:pP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&lt; perimeter(</a:t>
            </a:r>
            <a:r>
              <a:rPr lang="en-US" altLang="zh-TW" dirty="0" err="1" smtClean="0">
                <a:solidFill>
                  <a:schemeClr val="accent2"/>
                </a:solidFill>
                <a:ea typeface="新細明體" charset="-120"/>
              </a:rPr>
              <a:t>abc</a:t>
            </a:r>
            <a:r>
              <a:rPr lang="en-US" altLang="zh-TW" dirty="0" smtClean="0">
                <a:solidFill>
                  <a:schemeClr val="accent2"/>
                </a:solidFill>
                <a:ea typeface="新細明體" charset="-120"/>
              </a:rPr>
              <a:t>)</a:t>
            </a:r>
          </a:p>
        </p:txBody>
      </p:sp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6765925" y="3557588"/>
            <a:ext cx="1920875" cy="17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765925" y="3557588"/>
            <a:ext cx="1381125" cy="7143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 flipV="1">
            <a:off x="8147050" y="3557588"/>
            <a:ext cx="539750" cy="71437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oval" w="med" len="med"/>
            <a:tailEnd type="oval" w="med" len="med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6950075" y="49863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ea typeface="新細明體" charset="-120"/>
              </a:rPr>
              <a:t>x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8353425" y="4991114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dirty="0">
                <a:ea typeface="新細明體" charset="-120"/>
              </a:rPr>
              <a:t>y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7940675" y="4271963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a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6638925" y="3557588"/>
            <a:ext cx="311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b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8531225" y="35750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>
                <a:solidFill>
                  <a:schemeClr val="accent2"/>
                </a:solidFill>
                <a:ea typeface="新細明體" charset="-120"/>
              </a:rPr>
              <a:t>c</a:t>
            </a:r>
          </a:p>
        </p:txBody>
      </p:sp>
      <p:cxnSp>
        <p:nvCxnSpPr>
          <p:cNvPr id="15" name="直線接點 14"/>
          <p:cNvCxnSpPr>
            <a:endCxn id="10" idx="3"/>
          </p:cNvCxnSpPr>
          <p:nvPr/>
        </p:nvCxnSpPr>
        <p:spPr>
          <a:xfrm>
            <a:off x="7286644" y="5005412"/>
            <a:ext cx="1365231" cy="169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4" grpId="0" animBg="1"/>
      <p:bldP spid="5" grpId="0" animBg="1"/>
      <p:bldP spid="6" grpId="0" animBg="1"/>
      <p:bldP spid="9" grpId="0"/>
      <p:bldP spid="10" grpId="0"/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501</Words>
  <PresentationFormat>如螢幕大小 (4:3)</PresentationFormat>
  <Paragraphs>84</Paragraphs>
  <Slides>12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3" baseType="lpstr">
      <vt:lpstr>Office 佈景主題</vt:lpstr>
      <vt:lpstr>Geometric stable roommates</vt:lpstr>
      <vt:lpstr>  Abstract</vt:lpstr>
      <vt:lpstr>Geometric Stable Roommates</vt:lpstr>
      <vt:lpstr>Geometric Stable Roommates With No Ties</vt:lpstr>
      <vt:lpstr>Geometric Stable Roommates With Ties</vt:lpstr>
      <vt:lpstr>Closest-Pair (CP) Graph</vt:lpstr>
      <vt:lpstr>Theorem  A super-stable matching in geometric SR can be tested for existence in O(n logn) time, and can be found (if it exists) in the same time bound.</vt:lpstr>
      <vt:lpstr>Theorem A strongly-stable matching in geometric SR can be tested for existence in O(n1.5) time, and can be found (if it exists) in the same time bound. If d = 2, the time bound is O(n1.19).</vt:lpstr>
      <vt:lpstr>Theorem A weakly-stable matching in geometric SR in Rd always exists and can be found in O(n logn) time.</vt:lpstr>
      <vt:lpstr>strongly-stable matching</vt:lpstr>
      <vt:lpstr>α-Stable matchings</vt:lpstr>
      <vt:lpstr>Theorem In a geometric instance of 3D-SR there always exists a 2- stable matching, and it can be found in polynomial time.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stable roommates</dc:title>
  <cp:lastModifiedBy>Sephiroth</cp:lastModifiedBy>
  <cp:revision>43</cp:revision>
  <dcterms:modified xsi:type="dcterms:W3CDTF">2009-05-19T06:04:17Z</dcterms:modified>
</cp:coreProperties>
</file>