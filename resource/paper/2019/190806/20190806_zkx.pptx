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7" r:id="rId2"/>
    <p:sldId id="258" r:id="rId3"/>
    <p:sldId id="313" r:id="rId4"/>
    <p:sldId id="320" r:id="rId5"/>
    <p:sldId id="321" r:id="rId6"/>
    <p:sldId id="322" r:id="rId7"/>
    <p:sldId id="315" r:id="rId8"/>
    <p:sldId id="323" r:id="rId9"/>
    <p:sldId id="324" r:id="rId10"/>
    <p:sldId id="335" r:id="rId11"/>
    <p:sldId id="326" r:id="rId12"/>
    <p:sldId id="336" r:id="rId13"/>
    <p:sldId id="328" r:id="rId14"/>
    <p:sldId id="338" r:id="rId15"/>
    <p:sldId id="339" r:id="rId16"/>
    <p:sldId id="329" r:id="rId17"/>
    <p:sldId id="340" r:id="rId18"/>
    <p:sldId id="341" r:id="rId19"/>
    <p:sldId id="342" r:id="rId20"/>
    <p:sldId id="343" r:id="rId21"/>
    <p:sldId id="346" r:id="rId22"/>
    <p:sldId id="344" r:id="rId23"/>
    <p:sldId id="345" r:id="rId24"/>
    <p:sldId id="330" r:id="rId25"/>
    <p:sldId id="347" r:id="rId26"/>
    <p:sldId id="348" r:id="rId27"/>
    <p:sldId id="349" r:id="rId28"/>
    <p:sldId id="350" r:id="rId29"/>
    <p:sldId id="351"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94660"/>
  </p:normalViewPr>
  <p:slideViewPr>
    <p:cSldViewPr snapToGrid="0">
      <p:cViewPr varScale="1">
        <p:scale>
          <a:sx n="60" d="100"/>
          <a:sy n="60" d="100"/>
        </p:scale>
        <p:origin x="8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1CC90-5860-4773-94E4-A7C5C8AC2E96}" type="datetimeFigureOut">
              <a:rPr lang="zh-CN" altLang="en-US" smtClean="0"/>
              <a:t>2019/8/6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B0889F-DB18-4D0A-BA0B-9C49CA35EF45}" type="slidenum">
              <a:rPr lang="zh-CN" altLang="en-US" smtClean="0"/>
              <a:t>‹#›</a:t>
            </a:fld>
            <a:endParaRPr lang="zh-CN" altLang="en-US"/>
          </a:p>
        </p:txBody>
      </p:sp>
    </p:spTree>
    <p:extLst>
      <p:ext uri="{BB962C8B-B14F-4D97-AF65-F5344CB8AC3E}">
        <p14:creationId xmlns:p14="http://schemas.microsoft.com/office/powerpoint/2010/main" val="34366118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en-US" dirty="0"/>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lang="en-US"/>
          </a:p>
        </p:txBody>
      </p:sp>
    </p:spTree>
    <p:extLst>
      <p:ext uri="{BB962C8B-B14F-4D97-AF65-F5344CB8AC3E}">
        <p14:creationId xmlns:p14="http://schemas.microsoft.com/office/powerpoint/2010/main" val="3954006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4486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139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543808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4796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Tang, C. Y., et al. (2003). "Constrained multiple sequence alignment tool development and its application to RNase family alignment." </a:t>
            </a:r>
            <a:r>
              <a:rPr lang="en-US" b="0" i="0" u="sng" baseline="0" dirty="0"/>
              <a:t>Journal of Bioinformatics and Computational Biology</a:t>
            </a:r>
            <a:r>
              <a:rPr lang="en-US" b="0" i="0" u="none" baseline="0" dirty="0"/>
              <a:t> </a:t>
            </a:r>
            <a:r>
              <a:rPr lang="en-US" b="1" i="0" u="none" baseline="0" dirty="0"/>
              <a:t>1</a:t>
            </a:r>
            <a:r>
              <a:rPr lang="en-US" b="0" i="0" u="none" baseline="0" dirty="0"/>
              <a:t>(02): 267-287.</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31648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97265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Tsai, Y.-T. (2003). "The constrained longest common subsequence problem." </a:t>
            </a:r>
            <a:r>
              <a:rPr lang="en-US" b="0" i="0" u="sng" baseline="0" dirty="0"/>
              <a:t>Information Processing Letters</a:t>
            </a:r>
            <a:r>
              <a:rPr lang="en-US" b="0" i="0" u="none" baseline="0" dirty="0"/>
              <a:t> </a:t>
            </a:r>
            <a:r>
              <a:rPr lang="en-US" b="1" i="0" u="none" baseline="0" dirty="0"/>
              <a:t>88</a:t>
            </a:r>
            <a:r>
              <a:rPr lang="en-US" b="0" i="0" u="none" baseline="0" dirty="0"/>
              <a:t>(4): 173-176.</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730088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Chin, F. Y., et al. (2004). "A simple algorithm for the constrained sequence problems." </a:t>
            </a:r>
            <a:r>
              <a:rPr lang="en-US" b="0" i="0" u="sng" baseline="0" dirty="0"/>
              <a:t>Information Processing Letters</a:t>
            </a:r>
            <a:r>
              <a:rPr lang="en-US" b="0" i="0" u="none" baseline="0" dirty="0"/>
              <a:t> </a:t>
            </a:r>
            <a:r>
              <a:rPr lang="en-US" b="1" i="0" u="none" baseline="0" dirty="0"/>
              <a:t>90</a:t>
            </a:r>
            <a:r>
              <a:rPr lang="en-US" b="0" i="0" u="none" baseline="0" dirty="0"/>
              <a:t>(4): 175-179.</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70675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53947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Peng, C.-L. (2003). An approach for solving the constrained longest common subsequence problem, Master Thesis, Department of Computer Science and Engineering, National Sun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474407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Peng, C.-L. (2003). An approach for solving the constrained longest common subsequence problem, Master Thesis, Department of Computer Science and Engineering, National Sun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none" baseline="0" dirty="0"/>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2360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Arslan, A. N. and Ö. </a:t>
            </a:r>
            <a:r>
              <a:rPr lang="en-US" b="0" i="0" u="none" baseline="0" dirty="0" err="1"/>
              <a:t>Eğecioğlu</a:t>
            </a:r>
            <a:r>
              <a:rPr lang="en-US" b="0" i="0" u="none" baseline="0" dirty="0"/>
              <a:t> (2005). "Algorithms for the constrained longest common subsequence problems." </a:t>
            </a:r>
            <a:r>
              <a:rPr lang="en-US" b="0" i="0" u="sng" baseline="0" dirty="0"/>
              <a:t>International Journal of Foundations of Computer Science</a:t>
            </a:r>
            <a:r>
              <a:rPr lang="en-US" b="0" i="0" u="none" baseline="0" dirty="0"/>
              <a:t> </a:t>
            </a:r>
            <a:r>
              <a:rPr lang="en-US" b="1" i="0" u="none" baseline="0" dirty="0"/>
              <a:t>16</a:t>
            </a:r>
            <a:r>
              <a:rPr lang="en-US" b="0" i="0" u="none" baseline="0" dirty="0"/>
              <a:t>(06): 1099-1109.</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91292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Peng, Z. and H.-F. Ting (2004). </a:t>
            </a:r>
            <a:r>
              <a:rPr lang="en-US" b="0" i="0" u="sng" baseline="0" dirty="0"/>
              <a:t>Time and space efficient algorithms for constrained sequence alignment</a:t>
            </a:r>
            <a:r>
              <a:rPr lang="en-US" b="0" i="0" u="none" baseline="0" dirty="0"/>
              <a:t>. International Conference on Implementation and Application of Automata, Springer.</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86341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1" i="0" u="none"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57062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Deorowicz, S. (2007). "Fast algorithm for constrained longest common subsequence problem." </a:t>
            </a:r>
            <a:r>
              <a:rPr lang="en-US" b="0" i="0" u="sng" baseline="0" dirty="0"/>
              <a:t>Theoretical and Applied Informatics</a:t>
            </a:r>
            <a:r>
              <a:rPr lang="en-US" b="0" i="0" u="none" baseline="0" dirty="0"/>
              <a:t> </a:t>
            </a:r>
            <a:r>
              <a:rPr lang="en-US" b="1" i="0" u="none" baseline="0" dirty="0"/>
              <a:t>19</a:t>
            </a:r>
            <a:r>
              <a:rPr lang="en-US" b="0" i="0" u="none" baseline="0" dirty="0"/>
              <a:t>(2): 91-102.</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27091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altLang="zh-CN" b="0" i="0" u="none" baseline="0" dirty="0"/>
              <a:t>	Deorowicz, S. (2007). "Fast algorithm for constrained longest common subsequence problem." </a:t>
            </a:r>
            <a:r>
              <a:rPr lang="en-US" altLang="zh-CN" b="0" i="0" u="sng" baseline="0" dirty="0"/>
              <a:t>Theoretical and Applied Informatics</a:t>
            </a:r>
            <a:r>
              <a:rPr lang="en-US" altLang="zh-CN" b="0" i="0" u="none" baseline="0" dirty="0"/>
              <a:t> </a:t>
            </a:r>
            <a:r>
              <a:rPr lang="en-US" altLang="zh-CN" b="1" i="0" u="none" baseline="0" dirty="0"/>
              <a:t>19</a:t>
            </a:r>
            <a:r>
              <a:rPr lang="en-US" altLang="zh-CN" b="0" i="0" u="none" baseline="0" dirty="0"/>
              <a:t>(2): 91-102.</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84947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Wang, W.-L. (2006). "Longest Common Subsequence with Constraints."</a:t>
            </a: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36379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Wang, W.-L. (2006). "Longest Common Subsequence with Constraints."</a:t>
            </a: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96585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Iliopoulos, C. S. and M. S. Rahman (2008). "New efficient algorithms for the LCS and constrained LCS problems." </a:t>
            </a:r>
            <a:r>
              <a:rPr lang="en-US" b="0" i="0" u="sng" baseline="0" dirty="0"/>
              <a:t>Information Processing Letters</a:t>
            </a:r>
            <a:r>
              <a:rPr lang="en-US" b="0" i="0" u="none" baseline="0" dirty="0"/>
              <a:t> </a:t>
            </a:r>
            <a:r>
              <a:rPr lang="en-US" b="1" i="0" u="none" baseline="0" dirty="0"/>
              <a:t>106</a:t>
            </a:r>
            <a:r>
              <a:rPr lang="en-US" b="0" i="0" u="none" baseline="0" dirty="0"/>
              <a:t>(1): 13-18.</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68015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Iliopoulos, C. S. and M. S. Rahman (2008). "New efficient algorithms for the LCS and constrained LCS problems." </a:t>
            </a:r>
            <a:r>
              <a:rPr lang="en-US" b="0" i="0" u="sng" baseline="0" dirty="0"/>
              <a:t>Information Processing Letters</a:t>
            </a:r>
            <a:r>
              <a:rPr lang="en-US" b="0" i="0" u="none" baseline="0" dirty="0"/>
              <a:t> </a:t>
            </a:r>
            <a:r>
              <a:rPr lang="en-US" b="1" i="0" u="none" baseline="0" dirty="0"/>
              <a:t>106</a:t>
            </a:r>
            <a:r>
              <a:rPr lang="en-US" b="0" i="0" u="none" baseline="0" dirty="0"/>
              <a:t>(1): 13-18.</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94358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Iliopoulos, C. S. and M. S. Rahman (2008). "New efficient algorithms for the LCS and constrained LCS problems." </a:t>
            </a:r>
            <a:r>
              <a:rPr lang="en-US" b="0" i="0" u="sng" baseline="0" dirty="0"/>
              <a:t>Information Processing Letters</a:t>
            </a:r>
            <a:r>
              <a:rPr lang="en-US" b="0" i="0" u="none" baseline="0" dirty="0"/>
              <a:t> </a:t>
            </a:r>
            <a:r>
              <a:rPr lang="en-US" b="1" i="0" u="none" baseline="0" dirty="0"/>
              <a:t>106</a:t>
            </a:r>
            <a:r>
              <a:rPr lang="en-US" b="0" i="0" u="none" baseline="0" dirty="0"/>
              <a:t>(1): 13-18.</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6767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Iliopoulos, C. S. and M. S. Rahman (2008). "New efficient algorithms for the LCS and constrained LCS problems." </a:t>
            </a:r>
            <a:r>
              <a:rPr lang="en-US" b="0" i="0" u="sng" baseline="0" dirty="0"/>
              <a:t>Information Processing Letters</a:t>
            </a:r>
            <a:r>
              <a:rPr lang="en-US" b="0" i="0" u="none" baseline="0" dirty="0"/>
              <a:t> </a:t>
            </a:r>
            <a:r>
              <a:rPr lang="en-US" b="1" i="0" u="none" baseline="0" dirty="0"/>
              <a:t>106</a:t>
            </a:r>
            <a:r>
              <a:rPr lang="en-US" b="0" i="0" u="none" baseline="0" dirty="0"/>
              <a:t>(1): 13-18.</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130033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15280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0500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943529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27470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2323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lang="en-US" b="0" i="0" u="sng" baseline="0" dirty="0"/>
          </a:p>
          <a:p>
            <a:pPr marL="0" lvl="0" indent="0" algn="l" rtl="0">
              <a:spcBef>
                <a:spcPts val="0"/>
              </a:spcBef>
              <a:spcAft>
                <a:spcPts val="0"/>
              </a:spcAft>
              <a:buNone/>
            </a:pPr>
            <a:r>
              <a:rPr lang="en-US" b="0" i="0" u="none" baseline="0" dirty="0"/>
              <a:t>	</a:t>
            </a:r>
          </a:p>
          <a:p>
            <a:pPr marL="0" lvl="0" indent="0" algn="l" rtl="0">
              <a:spcBef>
                <a:spcPts val="0"/>
              </a:spcBef>
              <a:spcAft>
                <a:spcPts val="0"/>
              </a:spcAft>
              <a:buNone/>
            </a:pPr>
            <a:endParaRPr b="0" i="0" u="sng" baseline="0" dirty="0"/>
          </a:p>
        </p:txBody>
      </p:sp>
      <p:sp>
        <p:nvSpPr>
          <p:cNvPr id="110" name="Google Shape;11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9102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2019/8/6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2019/8/6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856855" y="471398"/>
            <a:ext cx="10477020" cy="1356957"/>
          </a:xfrm>
          <a:prstGeom prst="rect">
            <a:avLst/>
          </a:prstGeom>
          <a:noFill/>
          <a:ln>
            <a:noFill/>
          </a:ln>
        </p:spPr>
        <p:txBody>
          <a:bodyPr spcFirstLastPara="1" wrap="square" lIns="91425" tIns="45700" rIns="91425" bIns="45700" anchor="b" anchorCtr="0">
            <a:noAutofit/>
          </a:bodyPr>
          <a:lstStyle/>
          <a:p>
            <a:pPr lvl="0">
              <a:buSzPts val="3600"/>
            </a:pPr>
            <a:r>
              <a:rPr lang="en-US" sz="3600" dirty="0">
                <a:latin typeface="Calibri" panose="020F0502020204030204" charset="0"/>
                <a:cs typeface="Calibri" panose="020F0502020204030204" charset="0"/>
              </a:rPr>
              <a:t>Constrained longest common subsequence computing algorithms in practice</a:t>
            </a:r>
          </a:p>
        </p:txBody>
      </p:sp>
      <p:sp>
        <p:nvSpPr>
          <p:cNvPr id="90" name="Google Shape;90;p13"/>
          <p:cNvSpPr txBox="1">
            <a:spLocks noGrp="1"/>
          </p:cNvSpPr>
          <p:nvPr>
            <p:ph type="subTitle" idx="1"/>
          </p:nvPr>
        </p:nvSpPr>
        <p:spPr>
          <a:xfrm>
            <a:off x="1145540" y="2693239"/>
            <a:ext cx="9899650" cy="1039495"/>
          </a:xfrm>
          <a:prstGeom prst="rect">
            <a:avLst/>
          </a:prstGeom>
          <a:noFill/>
          <a:ln>
            <a:noFill/>
          </a:ln>
        </p:spPr>
        <p:txBody>
          <a:bodyPr spcFirstLastPara="1" wrap="square" lIns="91425" tIns="45700" rIns="91425" bIns="45700" anchor="t" anchorCtr="0">
            <a:noAutofit/>
          </a:bodyPr>
          <a:lstStyle/>
          <a:p>
            <a:pPr lvl="0">
              <a:spcBef>
                <a:spcPts val="0"/>
              </a:spcBef>
              <a:buSzPts val="2800"/>
            </a:pPr>
            <a:r>
              <a:rPr lang="es-ES" altLang="zh-CN" dirty="0"/>
              <a:t>Deorowicz, S. and J. Obstój</a:t>
            </a:r>
            <a:endParaRPr sz="2600" dirty="0"/>
          </a:p>
        </p:txBody>
      </p:sp>
      <p:sp>
        <p:nvSpPr>
          <p:cNvPr id="91" name="Google Shape;91;p13"/>
          <p:cNvSpPr txBox="1">
            <a:spLocks noGrp="1"/>
          </p:cNvSpPr>
          <p:nvPr>
            <p:ph type="sldNum" idx="12"/>
          </p:nvPr>
        </p:nvSpPr>
        <p:spPr>
          <a:xfrm>
            <a:off x="8354568" y="6485003"/>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lang="en-US"/>
          </a:p>
        </p:txBody>
      </p:sp>
      <p:sp>
        <p:nvSpPr>
          <p:cNvPr id="92" name="Google Shape;92;p13"/>
          <p:cNvSpPr txBox="1"/>
          <p:nvPr/>
        </p:nvSpPr>
        <p:spPr>
          <a:xfrm>
            <a:off x="1048428" y="3891090"/>
            <a:ext cx="10095142" cy="902739"/>
          </a:xfrm>
          <a:prstGeom prst="rect">
            <a:avLst/>
          </a:prstGeom>
          <a:noFill/>
          <a:ln>
            <a:noFill/>
          </a:ln>
        </p:spPr>
        <p:txBody>
          <a:bodyPr spcFirstLastPara="1" wrap="square" lIns="91425" tIns="45700" rIns="91425" bIns="45700" anchor="t" anchorCtr="0">
            <a:noAutofit/>
          </a:bodyPr>
          <a:lstStyle/>
          <a:p>
            <a:pPr lvl="0" algn="ctr">
              <a:lnSpc>
                <a:spcPct val="90000"/>
              </a:lnSpc>
              <a:buClr>
                <a:schemeClr val="dk1"/>
              </a:buClr>
              <a:buSzPts val="2800"/>
            </a:pPr>
            <a:r>
              <a:rPr lang="en-US" sz="2800" dirty="0">
                <a:solidFill>
                  <a:schemeClr val="dk1"/>
                </a:solidFill>
                <a:latin typeface="Calibri" panose="020F0502020204030204" charset="0"/>
                <a:ea typeface="Questrial" panose="02000000000000000000"/>
                <a:cs typeface="Calibri" panose="020F0502020204030204" charset="0"/>
                <a:sym typeface="Questrial" panose="02000000000000000000"/>
              </a:rPr>
              <a:t>Computing and Informatics, Vol. 29, 2010, 427–445.</a:t>
            </a:r>
            <a:endParaRPr lang="en-US" sz="2800" b="1"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
        <p:nvSpPr>
          <p:cNvPr id="93" name="Google Shape;93;p13"/>
          <p:cNvSpPr txBox="1"/>
          <p:nvPr/>
        </p:nvSpPr>
        <p:spPr>
          <a:xfrm>
            <a:off x="1192187" y="5188046"/>
            <a:ext cx="9806355" cy="902739"/>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Presenter: </a:t>
            </a:r>
            <a:r>
              <a:rPr lang="en-US" sz="2800" b="0" i="0" u="none" strike="noStrike" cap="none" dirty="0" err="1">
                <a:solidFill>
                  <a:schemeClr val="dk1"/>
                </a:solidFill>
                <a:latin typeface="Calibri" panose="020F0502020204030204" charset="0"/>
                <a:ea typeface="Questrial" panose="02000000000000000000"/>
                <a:cs typeface="Calibri" panose="020F0502020204030204" charset="0"/>
                <a:sym typeface="Questrial" panose="02000000000000000000"/>
              </a:rPr>
              <a:t>KeXin</a:t>
            </a: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 Zhu</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a:p>
            <a:pPr marL="0" marR="0" lvl="0" indent="0" algn="ctr" rtl="0">
              <a:lnSpc>
                <a:spcPct val="90000"/>
              </a:lnSpc>
              <a:spcBef>
                <a:spcPts val="1000"/>
              </a:spcBef>
              <a:spcAft>
                <a:spcPts val="0"/>
              </a:spcAft>
              <a:buClr>
                <a:schemeClr val="dk1"/>
              </a:buClr>
              <a:buSzPts val="2800"/>
              <a:buFont typeface="Arial" panose="020B0604020202020204"/>
              <a:buNone/>
            </a:pPr>
            <a:r>
              <a:rPr lang="en-US"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rPr>
              <a:t>Date: 2019/08/06</a:t>
            </a:r>
            <a:endParaRPr sz="2800" b="0" i="0" u="none" strike="noStrike" cap="none" dirty="0">
              <a:solidFill>
                <a:schemeClr val="dk1"/>
              </a:solidFill>
              <a:latin typeface="Calibri" panose="020F0502020204030204" charset="0"/>
              <a:ea typeface="Questrial" panose="02000000000000000000"/>
              <a:cs typeface="Calibri" panose="020F0502020204030204" charset="0"/>
              <a:sym typeface="Questrial" panose="0200000000000000000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Questrial" panose="02000000000000000000"/>
              <a:buNone/>
            </a:pPr>
            <a:r>
              <a:rPr lang="en-US" dirty="0"/>
              <a:t>Abstract</a:t>
            </a:r>
          </a:p>
        </p:txBody>
      </p:sp>
      <p:sp>
        <p:nvSpPr>
          <p:cNvPr id="99" name="Google Shape;99;p14"/>
          <p:cNvSpPr txBox="1">
            <a:spLocks noGrp="1"/>
          </p:cNvSpPr>
          <p:nvPr>
            <p:ph type="body" idx="1"/>
          </p:nvPr>
        </p:nvSpPr>
        <p:spPr>
          <a:xfrm>
            <a:off x="838200" y="1568950"/>
            <a:ext cx="10109886" cy="4446839"/>
          </a:xfrm>
          <a:prstGeom prst="rect">
            <a:avLst/>
          </a:prstGeom>
          <a:noFill/>
          <a:ln>
            <a:noFill/>
          </a:ln>
        </p:spPr>
        <p:txBody>
          <a:bodyPr spcFirstLastPara="1" wrap="square" lIns="91425" tIns="45700" rIns="91425" bIns="45700" anchor="t" anchorCtr="0">
            <a:noAutofit/>
          </a:bodyPr>
          <a:lstStyle/>
          <a:p>
            <a:pPr marL="0" lvl="0" indent="0">
              <a:spcBef>
                <a:spcPts val="0"/>
              </a:spcBef>
              <a:buSzPts val="2800"/>
              <a:buNone/>
            </a:pPr>
            <a:r>
              <a:rPr lang="en-US" dirty="0"/>
              <a:t>The problem of finding a constrained longest common subsequence</a:t>
            </a:r>
          </a:p>
          <a:p>
            <a:pPr marL="0" lvl="0" indent="0">
              <a:spcBef>
                <a:spcPts val="0"/>
              </a:spcBef>
              <a:buSzPts val="2800"/>
              <a:buNone/>
            </a:pPr>
            <a:r>
              <a:rPr lang="en-US" dirty="0"/>
              <a:t>(CLCS) for the sequences A and B with respect to sequence P was introduced recently. Its goal is to find a longest subsequence C of A and B such that P is a subsequence of C. There are several algorithms solving the CLCS problem, but there is no real experimental comparison of them. The paper has two aims. Firstly, we propose an improvement to the algorithms by Chin et al. and Deorowicz based on an entry-exit points technique by He and Arslan. Secondly, we compare experimentally the existing algorithms for solving the CLCS problem.</a:t>
            </a:r>
          </a:p>
        </p:txBody>
      </p:sp>
      <p:sp>
        <p:nvSpPr>
          <p:cNvPr id="100" name="Google Shape;100;p14"/>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Common subsequence</a:t>
            </a:r>
            <a:r>
              <a:rPr lang="zh-CN" altLang="en-US" dirty="0"/>
              <a:t>：</a:t>
            </a:r>
            <a:endParaRPr lang="en-US" altLang="zh-CN" dirty="0"/>
          </a:p>
          <a:p>
            <a:pPr>
              <a:spcBef>
                <a:spcPts val="0"/>
              </a:spcBef>
              <a:buSzPts val="2800"/>
            </a:pPr>
            <a:endParaRPr lang="en-US" altLang="zh-TW" dirty="0"/>
          </a:p>
          <a:p>
            <a:pPr algn="ctr">
              <a:spcBef>
                <a:spcPts val="0"/>
              </a:spcBef>
              <a:buSzPts val="2800"/>
            </a:pPr>
            <a:r>
              <a:rPr lang="en-US" altLang="zh-TW" dirty="0"/>
              <a:t>X = “</a:t>
            </a:r>
            <a:r>
              <a:rPr lang="en-US" altLang="zh-TW" dirty="0" err="1"/>
              <a:t>abcac</a:t>
            </a:r>
            <a:r>
              <a:rPr lang="en-US" altLang="zh-TW" dirty="0"/>
              <a:t>”,</a:t>
            </a:r>
          </a:p>
          <a:p>
            <a:pPr algn="ctr">
              <a:spcBef>
                <a:spcPts val="0"/>
              </a:spcBef>
              <a:buSzPts val="2800"/>
            </a:pPr>
            <a:r>
              <a:rPr lang="en-US" altLang="zh-TW" dirty="0"/>
              <a:t>Y = “</a:t>
            </a:r>
            <a:r>
              <a:rPr lang="en-US" altLang="zh-TW" dirty="0" err="1"/>
              <a:t>cacab</a:t>
            </a:r>
            <a:r>
              <a:rPr lang="en-US" altLang="zh-TW" dirty="0"/>
              <a:t>”.</a:t>
            </a:r>
          </a:p>
          <a:p>
            <a:pPr>
              <a:spcBef>
                <a:spcPts val="0"/>
              </a:spcBef>
              <a:buSzPts val="2800"/>
            </a:pPr>
            <a:endParaRPr lang="en-US" altLang="zh-TW" dirty="0"/>
          </a:p>
          <a:p>
            <a:pPr>
              <a:spcBef>
                <a:spcPts val="0"/>
              </a:spcBef>
              <a:buSzPts val="2800"/>
            </a:pPr>
            <a:r>
              <a:rPr lang="en-US" altLang="zh-TW" dirty="0"/>
              <a:t>Common subsequence of X and Y:</a:t>
            </a:r>
          </a:p>
          <a:p>
            <a:pPr>
              <a:spcBef>
                <a:spcPts val="0"/>
              </a:spcBef>
              <a:buSzPts val="2800"/>
            </a:pPr>
            <a:endParaRPr lang="en-US" altLang="zh-TW" dirty="0"/>
          </a:p>
          <a:p>
            <a:pPr algn="ctr">
              <a:spcBef>
                <a:spcPts val="0"/>
              </a:spcBef>
              <a:buSzPts val="2800"/>
            </a:pPr>
            <a:r>
              <a:rPr lang="en-US" altLang="zh-TW" dirty="0"/>
              <a:t>CS = “ab”, “aa”, “aca”, “</a:t>
            </a:r>
            <a:r>
              <a:rPr lang="en-US" altLang="zh-TW" dirty="0" err="1"/>
              <a:t>cac</a:t>
            </a:r>
            <a:r>
              <a:rPr lang="en-US" altLang="zh-TW" dirty="0"/>
              <a:t>”.</a:t>
            </a:r>
          </a:p>
          <a:p>
            <a:pPr marL="0" indent="0">
              <a:spcBef>
                <a:spcPts val="0"/>
              </a:spcBef>
              <a:buSzPts val="2800"/>
              <a:buNone/>
            </a:pPr>
            <a:endParaRPr lang="zh-TW" altLang="en-US" dirty="0"/>
          </a:p>
        </p:txBody>
      </p:sp>
    </p:spTree>
    <p:extLst>
      <p:ext uri="{BB962C8B-B14F-4D97-AF65-F5344CB8AC3E}">
        <p14:creationId xmlns:p14="http://schemas.microsoft.com/office/powerpoint/2010/main" val="202499325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Longest Common subsequence</a:t>
            </a:r>
            <a:r>
              <a:rPr lang="zh-CN" altLang="en-US" dirty="0"/>
              <a:t>：</a:t>
            </a:r>
            <a:endParaRPr lang="en-US" altLang="zh-CN" dirty="0"/>
          </a:p>
          <a:p>
            <a:pPr>
              <a:spcBef>
                <a:spcPts val="0"/>
              </a:spcBef>
              <a:buSzPts val="2800"/>
            </a:pPr>
            <a:endParaRPr lang="en-US" altLang="zh-TW" dirty="0"/>
          </a:p>
          <a:p>
            <a:pPr algn="ctr">
              <a:spcBef>
                <a:spcPts val="0"/>
              </a:spcBef>
              <a:buSzPts val="2800"/>
            </a:pPr>
            <a:r>
              <a:rPr lang="en-US" altLang="zh-TW" dirty="0"/>
              <a:t>X = “</a:t>
            </a:r>
            <a:r>
              <a:rPr lang="en-US" altLang="zh-TW" dirty="0" err="1"/>
              <a:t>abcac</a:t>
            </a:r>
            <a:r>
              <a:rPr lang="en-US" altLang="zh-TW" dirty="0"/>
              <a:t>”,</a:t>
            </a:r>
          </a:p>
          <a:p>
            <a:pPr algn="ctr">
              <a:spcBef>
                <a:spcPts val="0"/>
              </a:spcBef>
              <a:buSzPts val="2800"/>
            </a:pPr>
            <a:r>
              <a:rPr lang="en-US" altLang="zh-TW" dirty="0"/>
              <a:t>Y = “</a:t>
            </a:r>
            <a:r>
              <a:rPr lang="en-US" altLang="zh-TW" dirty="0" err="1"/>
              <a:t>cacab</a:t>
            </a:r>
            <a:r>
              <a:rPr lang="en-US" altLang="zh-TW" dirty="0"/>
              <a:t>”.</a:t>
            </a:r>
          </a:p>
          <a:p>
            <a:pPr>
              <a:spcBef>
                <a:spcPts val="0"/>
              </a:spcBef>
              <a:buSzPts val="2800"/>
            </a:pPr>
            <a:endParaRPr lang="en-US" altLang="zh-TW" dirty="0"/>
          </a:p>
          <a:p>
            <a:pPr>
              <a:spcBef>
                <a:spcPts val="0"/>
              </a:spcBef>
              <a:buSzPts val="2800"/>
            </a:pPr>
            <a:r>
              <a:rPr lang="en-US" altLang="zh-CN" dirty="0"/>
              <a:t>Longest </a:t>
            </a:r>
            <a:r>
              <a:rPr lang="en-US" altLang="zh-TW" dirty="0"/>
              <a:t>Common subsequence of X and Y:</a:t>
            </a:r>
          </a:p>
          <a:p>
            <a:pPr>
              <a:spcBef>
                <a:spcPts val="0"/>
              </a:spcBef>
              <a:buSzPts val="2800"/>
            </a:pPr>
            <a:endParaRPr lang="en-US" altLang="zh-TW" dirty="0"/>
          </a:p>
          <a:p>
            <a:pPr algn="ctr">
              <a:spcBef>
                <a:spcPts val="0"/>
              </a:spcBef>
              <a:buSzPts val="2800"/>
            </a:pPr>
            <a:r>
              <a:rPr lang="en-US" altLang="zh-TW" dirty="0"/>
              <a:t>LCS = “aca”, “</a:t>
            </a:r>
            <a:r>
              <a:rPr lang="en-US" altLang="zh-TW" dirty="0" err="1"/>
              <a:t>cac</a:t>
            </a:r>
            <a:r>
              <a:rPr lang="en-US" altLang="zh-TW" dirty="0"/>
              <a:t>”.</a:t>
            </a:r>
          </a:p>
          <a:p>
            <a:pPr marL="0" indent="0">
              <a:spcBef>
                <a:spcPts val="0"/>
              </a:spcBef>
              <a:buSzPts val="2800"/>
              <a:buNone/>
            </a:pPr>
            <a:endParaRPr lang="zh-TW" altLang="en-US" dirty="0"/>
          </a:p>
        </p:txBody>
      </p:sp>
    </p:spTree>
    <p:extLst>
      <p:ext uri="{BB962C8B-B14F-4D97-AF65-F5344CB8AC3E}">
        <p14:creationId xmlns:p14="http://schemas.microsoft.com/office/powerpoint/2010/main" val="25018313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Constrained Longest Common subsequence</a:t>
            </a:r>
            <a:r>
              <a:rPr lang="zh-CN" altLang="en-US" dirty="0"/>
              <a:t>：</a:t>
            </a:r>
            <a:endParaRPr lang="en-US" altLang="zh-CN" dirty="0"/>
          </a:p>
          <a:p>
            <a:pPr>
              <a:spcBef>
                <a:spcPts val="0"/>
              </a:spcBef>
              <a:buSzPts val="2800"/>
            </a:pPr>
            <a:endParaRPr lang="en-US" altLang="zh-TW" dirty="0"/>
          </a:p>
          <a:p>
            <a:pPr algn="ctr">
              <a:spcBef>
                <a:spcPts val="0"/>
              </a:spcBef>
              <a:buSzPts val="2800"/>
            </a:pPr>
            <a:r>
              <a:rPr lang="en-US" altLang="zh-TW" dirty="0"/>
              <a:t>X = “</a:t>
            </a:r>
            <a:r>
              <a:rPr lang="en-US" altLang="zh-TW" dirty="0" err="1"/>
              <a:t>abcac</a:t>
            </a:r>
            <a:r>
              <a:rPr lang="en-US" altLang="zh-TW" dirty="0"/>
              <a:t>”,</a:t>
            </a:r>
          </a:p>
          <a:p>
            <a:pPr algn="ctr">
              <a:spcBef>
                <a:spcPts val="0"/>
              </a:spcBef>
              <a:buSzPts val="2800"/>
            </a:pPr>
            <a:r>
              <a:rPr lang="en-US" altLang="zh-TW" dirty="0"/>
              <a:t>Y = “</a:t>
            </a:r>
            <a:r>
              <a:rPr lang="en-US" altLang="zh-TW" dirty="0" err="1"/>
              <a:t>cacab</a:t>
            </a:r>
            <a:r>
              <a:rPr lang="en-US" altLang="zh-TW" dirty="0"/>
              <a:t>”,</a:t>
            </a:r>
          </a:p>
          <a:p>
            <a:pPr algn="ctr">
              <a:spcBef>
                <a:spcPts val="0"/>
              </a:spcBef>
              <a:buSzPts val="2800"/>
            </a:pPr>
            <a:r>
              <a:rPr lang="en-US" altLang="zh-TW"/>
              <a:t>Z</a:t>
            </a:r>
            <a:r>
              <a:rPr lang="en-US" altLang="zh-TW" smtClean="0"/>
              <a:t>=“b</a:t>
            </a:r>
            <a:r>
              <a:rPr lang="en-US" altLang="zh-TW" dirty="0"/>
              <a:t>”.</a:t>
            </a:r>
          </a:p>
          <a:p>
            <a:pPr>
              <a:spcBef>
                <a:spcPts val="0"/>
              </a:spcBef>
              <a:buSzPts val="2800"/>
            </a:pPr>
            <a:endParaRPr lang="en-US" altLang="zh-TW" dirty="0"/>
          </a:p>
          <a:p>
            <a:pPr>
              <a:spcBef>
                <a:spcPts val="0"/>
              </a:spcBef>
              <a:buSzPts val="2800"/>
            </a:pPr>
            <a:r>
              <a:rPr lang="en-US" altLang="zh-CN" dirty="0"/>
              <a:t>Longest </a:t>
            </a:r>
            <a:r>
              <a:rPr lang="en-US" altLang="zh-TW" dirty="0"/>
              <a:t>Common subsequence of X and Y:</a:t>
            </a:r>
          </a:p>
          <a:p>
            <a:pPr>
              <a:spcBef>
                <a:spcPts val="0"/>
              </a:spcBef>
              <a:buSzPts val="2800"/>
            </a:pPr>
            <a:endParaRPr lang="en-US" altLang="zh-TW" dirty="0"/>
          </a:p>
          <a:p>
            <a:pPr algn="ctr">
              <a:spcBef>
                <a:spcPts val="0"/>
              </a:spcBef>
              <a:buSzPts val="2800"/>
            </a:pPr>
            <a:r>
              <a:rPr lang="en-US" altLang="zh-TW" dirty="0"/>
              <a:t>CLCS = “ab”.</a:t>
            </a:r>
          </a:p>
          <a:p>
            <a:pPr marL="0" indent="0">
              <a:spcBef>
                <a:spcPts val="0"/>
              </a:spcBef>
              <a:buSzPts val="2800"/>
              <a:buNone/>
            </a:pPr>
            <a:endParaRPr lang="zh-TW" altLang="en-US" dirty="0"/>
          </a:p>
        </p:txBody>
      </p:sp>
    </p:spTree>
    <p:extLst>
      <p:ext uri="{BB962C8B-B14F-4D97-AF65-F5344CB8AC3E}">
        <p14:creationId xmlns:p14="http://schemas.microsoft.com/office/powerpoint/2010/main" val="32908262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173091"/>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1 </a:t>
            </a:r>
            <a:r>
              <a:rPr lang="en-US" altLang="zh-CN" dirty="0"/>
              <a:t>Introduction</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325565"/>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Application of CLCS</a:t>
            </a:r>
            <a:r>
              <a:rPr lang="zh-CN" altLang="en-US" dirty="0"/>
              <a:t>：</a:t>
            </a:r>
            <a:r>
              <a:rPr lang="en-US" altLang="zh-CN" dirty="0"/>
              <a:t>HKH of RNase sequences</a:t>
            </a:r>
          </a:p>
          <a:p>
            <a:pPr>
              <a:spcBef>
                <a:spcPts val="0"/>
              </a:spcBef>
              <a:buSzPts val="2800"/>
            </a:pPr>
            <a:endParaRPr lang="en-US" altLang="zh-TW" dirty="0"/>
          </a:p>
          <a:p>
            <a:pPr marL="0" indent="0">
              <a:spcBef>
                <a:spcPts val="0"/>
              </a:spcBef>
              <a:buSzPts val="2800"/>
              <a:buNone/>
            </a:pPr>
            <a:endParaRPr lang="zh-TW" altLang="en-US" dirty="0"/>
          </a:p>
        </p:txBody>
      </p:sp>
      <p:pic>
        <p:nvPicPr>
          <p:cNvPr id="3" name="图片 2">
            <a:extLst>
              <a:ext uri="{FF2B5EF4-FFF2-40B4-BE49-F238E27FC236}">
                <a16:creationId xmlns:a16="http://schemas.microsoft.com/office/drawing/2014/main" xmlns="" id="{6F284409-5561-4DE7-8DCC-4E65FD5672D1}"/>
              </a:ext>
            </a:extLst>
          </p:cNvPr>
          <p:cNvPicPr>
            <a:picLocks noChangeAspect="1"/>
          </p:cNvPicPr>
          <p:nvPr/>
        </p:nvPicPr>
        <p:blipFill>
          <a:blip r:embed="rId3"/>
          <a:stretch>
            <a:fillRect/>
          </a:stretch>
        </p:blipFill>
        <p:spPr>
          <a:xfrm>
            <a:off x="2973094" y="2082602"/>
            <a:ext cx="6810098" cy="4376428"/>
          </a:xfrm>
          <a:prstGeom prst="rect">
            <a:avLst/>
          </a:prstGeom>
        </p:spPr>
      </p:pic>
    </p:spTree>
    <p:extLst>
      <p:ext uri="{BB962C8B-B14F-4D97-AF65-F5344CB8AC3E}">
        <p14:creationId xmlns:p14="http://schemas.microsoft.com/office/powerpoint/2010/main" val="31382793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 </a:t>
            </a:r>
            <a:r>
              <a:rPr lang="en-US" altLang="zh-CN" dirty="0"/>
              <a:t>Algorithm for the CLCS problem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39424C6A-4A72-496D-B211-0F3D64BA14F2}"/>
              </a:ext>
            </a:extLst>
          </p:cNvPr>
          <p:cNvPicPr>
            <a:picLocks noChangeAspect="1"/>
          </p:cNvPicPr>
          <p:nvPr/>
        </p:nvPicPr>
        <p:blipFill>
          <a:blip r:embed="rId3"/>
          <a:stretch>
            <a:fillRect/>
          </a:stretch>
        </p:blipFill>
        <p:spPr>
          <a:xfrm>
            <a:off x="1422842" y="1909513"/>
            <a:ext cx="8841748" cy="3358164"/>
          </a:xfrm>
          <a:prstGeom prst="rect">
            <a:avLst/>
          </a:prstGeom>
        </p:spPr>
      </p:pic>
    </p:spTree>
    <p:extLst>
      <p:ext uri="{BB962C8B-B14F-4D97-AF65-F5344CB8AC3E}">
        <p14:creationId xmlns:p14="http://schemas.microsoft.com/office/powerpoint/2010/main" val="4540264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2.1 </a:t>
            </a:r>
            <a:r>
              <a:rPr lang="en-US" altLang="zh-CN" dirty="0"/>
              <a:t>Tsai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Algorithm:</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Time complexity</a:t>
            </a:r>
            <a:r>
              <a:rPr lang="zh-CN" altLang="en-US" dirty="0"/>
              <a:t>：</a:t>
            </a:r>
            <a:endParaRPr lang="en-US" altLang="zh-CN" dirty="0"/>
          </a:p>
          <a:p>
            <a:pPr algn="ctr">
              <a:spcBef>
                <a:spcPts val="0"/>
              </a:spcBef>
              <a:buSzPts val="2800"/>
            </a:pPr>
            <a:r>
              <a:rPr lang="pt-BR" altLang="zh-CN" dirty="0"/>
              <a:t>O(n</a:t>
            </a:r>
            <a:r>
              <a:rPr lang="pt-BR" altLang="zh-CN" baseline="30000" dirty="0"/>
              <a:t>2</a:t>
            </a:r>
            <a:r>
              <a:rPr lang="pt-BR" altLang="zh-CN" dirty="0"/>
              <a:t>m</a:t>
            </a:r>
            <a:r>
              <a:rPr lang="pt-BR" altLang="zh-CN" baseline="30000" dirty="0"/>
              <a:t>2</a:t>
            </a:r>
            <a:r>
              <a:rPr lang="pt-BR" altLang="zh-CN" dirty="0"/>
              <a:t> + rn</a:t>
            </a:r>
            <a:r>
              <a:rPr lang="pt-BR" altLang="zh-CN" baseline="30000" dirty="0"/>
              <a:t>2</a:t>
            </a:r>
            <a:r>
              <a:rPr lang="pt-BR" altLang="zh-CN" dirty="0"/>
              <a:t>m</a:t>
            </a:r>
            <a:r>
              <a:rPr lang="pt-BR" altLang="zh-CN" baseline="30000" dirty="0"/>
              <a:t>2 </a:t>
            </a:r>
            <a:r>
              <a:rPr lang="pt-BR" altLang="zh-CN" dirty="0"/>
              <a:t>+ nm) = O(rn</a:t>
            </a:r>
            <a:r>
              <a:rPr lang="pt-BR" altLang="zh-CN" baseline="30000" dirty="0"/>
              <a:t>2</a:t>
            </a:r>
            <a:r>
              <a:rPr lang="pt-BR" altLang="zh-CN" dirty="0"/>
              <a:t>m</a:t>
            </a:r>
            <a:r>
              <a:rPr lang="pt-BR" altLang="zh-CN" baseline="30000" dirty="0"/>
              <a:t>2</a:t>
            </a:r>
            <a:r>
              <a:rPr lang="pt-BR" altLang="zh-CN" dirty="0"/>
              <a:t>)</a:t>
            </a:r>
          </a:p>
          <a:p>
            <a:pPr algn="ctr">
              <a:spcBef>
                <a:spcPts val="0"/>
              </a:spcBef>
              <a:buSzPts val="2800"/>
            </a:pPr>
            <a:endParaRPr lang="pt-BR" altLang="zh-CN" dirty="0"/>
          </a:p>
          <a:p>
            <a:pPr algn="ctr">
              <a:spcBef>
                <a:spcPts val="0"/>
              </a:spcBef>
              <a:buSzPts val="2800"/>
            </a:pPr>
            <a:r>
              <a:rPr lang="pt-BR" altLang="zh-CN" sz="2400" dirty="0"/>
              <a:t>( LCS(x, y, x’, y’)-Lookup table + Lemma1</a:t>
            </a:r>
            <a:r>
              <a:rPr lang="en-US" altLang="zh-CN" sz="2400" dirty="0"/>
              <a:t> + Lemma2 )</a:t>
            </a:r>
          </a:p>
          <a:p>
            <a:pPr>
              <a:spcBef>
                <a:spcPts val="0"/>
              </a:spcBef>
              <a:buSzPts val="2800"/>
            </a:pPr>
            <a:endParaRPr lang="en-US" altLang="zh-TW" dirty="0"/>
          </a:p>
        </p:txBody>
      </p:sp>
      <p:pic>
        <p:nvPicPr>
          <p:cNvPr id="2" name="图片 1">
            <a:extLst>
              <a:ext uri="{FF2B5EF4-FFF2-40B4-BE49-F238E27FC236}">
                <a16:creationId xmlns:a16="http://schemas.microsoft.com/office/drawing/2014/main" xmlns="" id="{7D3313AE-FE07-48A8-BBD2-FEBAD37EBC6A}"/>
              </a:ext>
            </a:extLst>
          </p:cNvPr>
          <p:cNvPicPr>
            <a:picLocks noChangeAspect="1"/>
          </p:cNvPicPr>
          <p:nvPr/>
        </p:nvPicPr>
        <p:blipFill>
          <a:blip r:embed="rId3"/>
          <a:stretch>
            <a:fillRect/>
          </a:stretch>
        </p:blipFill>
        <p:spPr>
          <a:xfrm>
            <a:off x="1495551" y="2380710"/>
            <a:ext cx="8696325" cy="1104900"/>
          </a:xfrm>
          <a:prstGeom prst="rect">
            <a:avLst/>
          </a:prstGeom>
        </p:spPr>
      </p:pic>
      <p:pic>
        <p:nvPicPr>
          <p:cNvPr id="3" name="图片 2">
            <a:extLst>
              <a:ext uri="{FF2B5EF4-FFF2-40B4-BE49-F238E27FC236}">
                <a16:creationId xmlns:a16="http://schemas.microsoft.com/office/drawing/2014/main" xmlns="" id="{A7587903-65B3-4FE8-9127-FB3B652389D9}"/>
              </a:ext>
            </a:extLst>
          </p:cNvPr>
          <p:cNvPicPr>
            <a:picLocks noChangeAspect="1"/>
          </p:cNvPicPr>
          <p:nvPr/>
        </p:nvPicPr>
        <p:blipFill>
          <a:blip r:embed="rId4"/>
          <a:stretch>
            <a:fillRect/>
          </a:stretch>
        </p:blipFill>
        <p:spPr>
          <a:xfrm>
            <a:off x="1476500" y="3537455"/>
            <a:ext cx="8734425" cy="638175"/>
          </a:xfrm>
          <a:prstGeom prst="rect">
            <a:avLst/>
          </a:prstGeom>
        </p:spPr>
      </p:pic>
    </p:spTree>
    <p:extLst>
      <p:ext uri="{BB962C8B-B14F-4D97-AF65-F5344CB8AC3E}">
        <p14:creationId xmlns:p14="http://schemas.microsoft.com/office/powerpoint/2010/main" val="249898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2.2 </a:t>
            </a:r>
            <a:r>
              <a:rPr lang="en-US" altLang="zh-CN" dirty="0"/>
              <a:t>Chin et al.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Algorithm:</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Boundary conditions:</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Complexity</a:t>
            </a:r>
            <a:r>
              <a:rPr lang="zh-CN" altLang="en-US" dirty="0"/>
              <a:t>：</a:t>
            </a:r>
            <a:r>
              <a:rPr lang="pt-BR" altLang="zh-CN" dirty="0"/>
              <a:t>O(rnm) time and space.</a:t>
            </a:r>
          </a:p>
          <a:p>
            <a:pPr>
              <a:spcBef>
                <a:spcPts val="0"/>
              </a:spcBef>
              <a:buSzPts val="2800"/>
            </a:pPr>
            <a:endParaRPr lang="en-US" altLang="zh-CN" dirty="0"/>
          </a:p>
        </p:txBody>
      </p:sp>
      <p:pic>
        <p:nvPicPr>
          <p:cNvPr id="3" name="图片 2">
            <a:extLst>
              <a:ext uri="{FF2B5EF4-FFF2-40B4-BE49-F238E27FC236}">
                <a16:creationId xmlns:a16="http://schemas.microsoft.com/office/drawing/2014/main" xmlns="" id="{0ED1EF4A-159A-4EB0-98F4-723C3C852FA6}"/>
              </a:ext>
            </a:extLst>
          </p:cNvPr>
          <p:cNvPicPr>
            <a:picLocks noChangeAspect="1"/>
          </p:cNvPicPr>
          <p:nvPr/>
        </p:nvPicPr>
        <p:blipFill>
          <a:blip r:embed="rId3"/>
          <a:stretch>
            <a:fillRect/>
          </a:stretch>
        </p:blipFill>
        <p:spPr>
          <a:xfrm>
            <a:off x="1919380" y="2135634"/>
            <a:ext cx="7305675" cy="1485900"/>
          </a:xfrm>
          <a:prstGeom prst="rect">
            <a:avLst/>
          </a:prstGeom>
        </p:spPr>
      </p:pic>
      <p:pic>
        <p:nvPicPr>
          <p:cNvPr id="4" name="图片 3">
            <a:extLst>
              <a:ext uri="{FF2B5EF4-FFF2-40B4-BE49-F238E27FC236}">
                <a16:creationId xmlns:a16="http://schemas.microsoft.com/office/drawing/2014/main" xmlns="" id="{1312D6FF-6EC2-4015-AF20-56708568A97B}"/>
              </a:ext>
            </a:extLst>
          </p:cNvPr>
          <p:cNvPicPr>
            <a:picLocks noChangeAspect="1"/>
          </p:cNvPicPr>
          <p:nvPr/>
        </p:nvPicPr>
        <p:blipFill>
          <a:blip r:embed="rId4"/>
          <a:stretch>
            <a:fillRect/>
          </a:stretch>
        </p:blipFill>
        <p:spPr>
          <a:xfrm>
            <a:off x="3781425" y="4260406"/>
            <a:ext cx="4629150" cy="1238250"/>
          </a:xfrm>
          <a:prstGeom prst="rect">
            <a:avLst/>
          </a:prstGeom>
        </p:spPr>
      </p:pic>
    </p:spTree>
    <p:extLst>
      <p:ext uri="{BB962C8B-B14F-4D97-AF65-F5344CB8AC3E}">
        <p14:creationId xmlns:p14="http://schemas.microsoft.com/office/powerpoint/2010/main" val="24745753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2.2 </a:t>
            </a:r>
            <a:r>
              <a:rPr lang="en-US" altLang="zh-CN" dirty="0"/>
              <a:t>Chin et al.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Example:</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p:txBody>
      </p:sp>
      <p:pic>
        <p:nvPicPr>
          <p:cNvPr id="2" name="图片 1">
            <a:extLst>
              <a:ext uri="{FF2B5EF4-FFF2-40B4-BE49-F238E27FC236}">
                <a16:creationId xmlns:a16="http://schemas.microsoft.com/office/drawing/2014/main" xmlns="" id="{DB9CEB85-B39D-4619-BF7A-2AD530DA13BF}"/>
              </a:ext>
            </a:extLst>
          </p:cNvPr>
          <p:cNvPicPr>
            <a:picLocks noChangeAspect="1"/>
          </p:cNvPicPr>
          <p:nvPr/>
        </p:nvPicPr>
        <p:blipFill>
          <a:blip r:embed="rId3"/>
          <a:stretch>
            <a:fillRect/>
          </a:stretch>
        </p:blipFill>
        <p:spPr>
          <a:xfrm>
            <a:off x="2047875" y="2279652"/>
            <a:ext cx="8096250" cy="4076700"/>
          </a:xfrm>
          <a:prstGeom prst="rect">
            <a:avLst/>
          </a:prstGeom>
        </p:spPr>
      </p:pic>
    </p:spTree>
    <p:extLst>
      <p:ext uri="{BB962C8B-B14F-4D97-AF65-F5344CB8AC3E}">
        <p14:creationId xmlns:p14="http://schemas.microsoft.com/office/powerpoint/2010/main" val="3002510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2.3 </a:t>
            </a:r>
            <a:r>
              <a:rPr lang="en-US" altLang="zh-CN" dirty="0"/>
              <a:t>Peng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sp>
        <p:nvSpPr>
          <p:cNvPr id="5" name="Google Shape;106;p15">
            <a:extLst>
              <a:ext uri="{FF2B5EF4-FFF2-40B4-BE49-F238E27FC236}">
                <a16:creationId xmlns:a16="http://schemas.microsoft.com/office/drawing/2014/main" xmlns="" id="{81C31F0C-2B39-4434-933B-2673DA6690E8}"/>
              </a:ext>
            </a:extLst>
          </p:cNvPr>
          <p:cNvSpPr txBox="1">
            <a:spLocks/>
          </p:cNvSpPr>
          <p:nvPr/>
        </p:nvSpPr>
        <p:spPr>
          <a:xfrm>
            <a:off x="990600" y="1690690"/>
            <a:ext cx="10011032" cy="45992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Algorithm:</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marL="0" indent="0">
              <a:spcBef>
                <a:spcPts val="0"/>
              </a:spcBef>
              <a:buSzPts val="2800"/>
              <a:buNone/>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p:txBody>
      </p:sp>
      <p:pic>
        <p:nvPicPr>
          <p:cNvPr id="2" name="图片 1">
            <a:extLst>
              <a:ext uri="{FF2B5EF4-FFF2-40B4-BE49-F238E27FC236}">
                <a16:creationId xmlns:a16="http://schemas.microsoft.com/office/drawing/2014/main" xmlns="" id="{E23DBC97-375C-476A-A5FC-B96446A65B64}"/>
              </a:ext>
            </a:extLst>
          </p:cNvPr>
          <p:cNvPicPr>
            <a:picLocks noChangeAspect="1"/>
          </p:cNvPicPr>
          <p:nvPr/>
        </p:nvPicPr>
        <p:blipFill>
          <a:blip r:embed="rId3"/>
          <a:stretch>
            <a:fillRect/>
          </a:stretch>
        </p:blipFill>
        <p:spPr>
          <a:xfrm>
            <a:off x="3352800" y="1635128"/>
            <a:ext cx="5486400" cy="1381125"/>
          </a:xfrm>
          <a:prstGeom prst="rect">
            <a:avLst/>
          </a:prstGeom>
        </p:spPr>
      </p:pic>
      <p:pic>
        <p:nvPicPr>
          <p:cNvPr id="3" name="图片 2">
            <a:extLst>
              <a:ext uri="{FF2B5EF4-FFF2-40B4-BE49-F238E27FC236}">
                <a16:creationId xmlns:a16="http://schemas.microsoft.com/office/drawing/2014/main" xmlns="" id="{EC4E9AB9-48B0-455D-A1A0-4DD43A7954E5}"/>
              </a:ext>
            </a:extLst>
          </p:cNvPr>
          <p:cNvPicPr>
            <a:picLocks noChangeAspect="1"/>
          </p:cNvPicPr>
          <p:nvPr/>
        </p:nvPicPr>
        <p:blipFill>
          <a:blip r:embed="rId4"/>
          <a:stretch>
            <a:fillRect/>
          </a:stretch>
        </p:blipFill>
        <p:spPr>
          <a:xfrm>
            <a:off x="2847975" y="2984754"/>
            <a:ext cx="7134225" cy="3305175"/>
          </a:xfrm>
          <a:prstGeom prst="rect">
            <a:avLst/>
          </a:prstGeom>
        </p:spPr>
      </p:pic>
    </p:spTree>
    <p:extLst>
      <p:ext uri="{BB962C8B-B14F-4D97-AF65-F5344CB8AC3E}">
        <p14:creationId xmlns:p14="http://schemas.microsoft.com/office/powerpoint/2010/main" val="1874545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2.3 </a:t>
            </a:r>
            <a:r>
              <a:rPr lang="en-US" altLang="zh-CN" dirty="0"/>
              <a:t>Peng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sp>
        <p:nvSpPr>
          <p:cNvPr id="5" name="Google Shape;106;p15">
            <a:extLst>
              <a:ext uri="{FF2B5EF4-FFF2-40B4-BE49-F238E27FC236}">
                <a16:creationId xmlns:a16="http://schemas.microsoft.com/office/drawing/2014/main" xmlns="" id="{81C31F0C-2B39-4434-933B-2673DA6690E8}"/>
              </a:ext>
            </a:extLst>
          </p:cNvPr>
          <p:cNvSpPr txBox="1">
            <a:spLocks/>
          </p:cNvSpPr>
          <p:nvPr/>
        </p:nvSpPr>
        <p:spPr>
          <a:xfrm>
            <a:off x="990600" y="1690690"/>
            <a:ext cx="10011032" cy="45992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Structure of matrices:</a:t>
            </a:r>
          </a:p>
          <a:p>
            <a:pPr>
              <a:spcBef>
                <a:spcPts val="0"/>
              </a:spcBef>
              <a:buSzPts val="2800"/>
            </a:pPr>
            <a:endParaRPr lang="en-US" altLang="zh-CN" dirty="0"/>
          </a:p>
          <a:p>
            <a:pPr>
              <a:spcBef>
                <a:spcPts val="0"/>
              </a:spcBef>
              <a:buSzPts val="2800"/>
            </a:pPr>
            <a:r>
              <a:rPr lang="en-US" altLang="zh-CN" dirty="0"/>
              <a:t>X = “CATTAGC”,</a:t>
            </a:r>
          </a:p>
          <a:p>
            <a:pPr>
              <a:spcBef>
                <a:spcPts val="0"/>
              </a:spcBef>
              <a:buSzPts val="2800"/>
            </a:pPr>
            <a:r>
              <a:rPr lang="en-US" altLang="zh-CN" dirty="0"/>
              <a:t>Y = “TCAGGATCA”,</a:t>
            </a:r>
          </a:p>
          <a:p>
            <a:pPr>
              <a:spcBef>
                <a:spcPts val="0"/>
              </a:spcBef>
              <a:buSzPts val="2800"/>
            </a:pPr>
            <a:r>
              <a:rPr lang="en-US" altLang="zh-CN" dirty="0"/>
              <a:t>Z = “CAT”.</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marL="0" indent="0">
              <a:spcBef>
                <a:spcPts val="0"/>
              </a:spcBef>
              <a:buSzPts val="2800"/>
              <a:buNone/>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p:txBody>
      </p:sp>
      <p:pic>
        <p:nvPicPr>
          <p:cNvPr id="4" name="图片 3">
            <a:extLst>
              <a:ext uri="{FF2B5EF4-FFF2-40B4-BE49-F238E27FC236}">
                <a16:creationId xmlns:a16="http://schemas.microsoft.com/office/drawing/2014/main" xmlns="" id="{731C1467-35E4-416D-8167-29D254B1CE90}"/>
              </a:ext>
            </a:extLst>
          </p:cNvPr>
          <p:cNvPicPr>
            <a:picLocks noChangeAspect="1"/>
          </p:cNvPicPr>
          <p:nvPr/>
        </p:nvPicPr>
        <p:blipFill>
          <a:blip r:embed="rId3"/>
          <a:stretch>
            <a:fillRect/>
          </a:stretch>
        </p:blipFill>
        <p:spPr>
          <a:xfrm>
            <a:off x="5538916" y="568071"/>
            <a:ext cx="5486400" cy="6000750"/>
          </a:xfrm>
          <a:prstGeom prst="rect">
            <a:avLst/>
          </a:prstGeom>
        </p:spPr>
      </p:pic>
    </p:spTree>
    <p:extLst>
      <p:ext uri="{BB962C8B-B14F-4D97-AF65-F5344CB8AC3E}">
        <p14:creationId xmlns:p14="http://schemas.microsoft.com/office/powerpoint/2010/main" val="1054802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27803"/>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2.4 </a:t>
            </a:r>
            <a:r>
              <a:rPr lang="en-US" altLang="zh-CN" dirty="0"/>
              <a:t>Arslan–Egecioglu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520576"/>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Algorithm:</a:t>
            </a:r>
          </a:p>
          <a:p>
            <a:pPr>
              <a:spcBef>
                <a:spcPts val="0"/>
              </a:spcBef>
              <a:buSzPts val="2800"/>
            </a:pPr>
            <a:endParaRPr lang="en-US" altLang="zh-CN" dirty="0"/>
          </a:p>
          <a:p>
            <a:pPr>
              <a:spcBef>
                <a:spcPts val="0"/>
              </a:spcBef>
              <a:buSzPts val="2800"/>
            </a:pPr>
            <a:r>
              <a:rPr lang="en-US" altLang="zh-CN" sz="2400" dirty="0"/>
              <a:t>Boundary:</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marL="0" indent="0">
              <a:spcBef>
                <a:spcPts val="0"/>
              </a:spcBef>
              <a:buSzPts val="2800"/>
              <a:buNone/>
            </a:pPr>
            <a:endParaRPr lang="en-US" altLang="zh-CN" dirty="0"/>
          </a:p>
          <a:p>
            <a:pPr marL="0" indent="0">
              <a:spcBef>
                <a:spcPts val="0"/>
              </a:spcBef>
              <a:buSzPts val="2800"/>
              <a:buNone/>
            </a:pPr>
            <a:endParaRPr lang="en-US" altLang="zh-CN" dirty="0"/>
          </a:p>
          <a:p>
            <a:pPr>
              <a:spcBef>
                <a:spcPts val="0"/>
              </a:spcBef>
              <a:buSzPts val="2800"/>
            </a:pPr>
            <a:r>
              <a:rPr lang="en-US" altLang="zh-CN" sz="2400" dirty="0"/>
              <a:t>Strong match:</a:t>
            </a:r>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sz="2400" dirty="0"/>
              <a:t>Match:</a:t>
            </a:r>
          </a:p>
        </p:txBody>
      </p:sp>
      <p:pic>
        <p:nvPicPr>
          <p:cNvPr id="2" name="图片 1">
            <a:extLst>
              <a:ext uri="{FF2B5EF4-FFF2-40B4-BE49-F238E27FC236}">
                <a16:creationId xmlns:a16="http://schemas.microsoft.com/office/drawing/2014/main" xmlns="" id="{3B828184-CCD2-45DA-9E5F-AE7729F29516}"/>
              </a:ext>
            </a:extLst>
          </p:cNvPr>
          <p:cNvPicPr>
            <a:picLocks noChangeAspect="1"/>
          </p:cNvPicPr>
          <p:nvPr/>
        </p:nvPicPr>
        <p:blipFill>
          <a:blip r:embed="rId3"/>
          <a:stretch>
            <a:fillRect/>
          </a:stretch>
        </p:blipFill>
        <p:spPr>
          <a:xfrm>
            <a:off x="3004489" y="2262189"/>
            <a:ext cx="8029575" cy="4276725"/>
          </a:xfrm>
          <a:prstGeom prst="rect">
            <a:avLst/>
          </a:prstGeom>
        </p:spPr>
      </p:pic>
    </p:spTree>
    <p:extLst>
      <p:ext uri="{BB962C8B-B14F-4D97-AF65-F5344CB8AC3E}">
        <p14:creationId xmlns:p14="http://schemas.microsoft.com/office/powerpoint/2010/main" val="941152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2.5 </a:t>
            </a:r>
            <a:r>
              <a:rPr lang="en-US" altLang="zh-CN" dirty="0"/>
              <a:t>Peng-Ting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Divide-and-conquer scheme:</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Key point – Find(j, k):</a:t>
            </a:r>
          </a:p>
          <a:p>
            <a:pPr>
              <a:spcBef>
                <a:spcPts val="0"/>
              </a:spcBef>
              <a:buSzPts val="2800"/>
            </a:pPr>
            <a:endParaRPr lang="en-US" altLang="zh-CN" dirty="0"/>
          </a:p>
          <a:p>
            <a:pPr>
              <a:spcBef>
                <a:spcPts val="0"/>
              </a:spcBef>
              <a:buSzPts val="2800"/>
            </a:pPr>
            <a:endParaRPr lang="en-US" altLang="zh-CN" dirty="0"/>
          </a:p>
        </p:txBody>
      </p:sp>
      <p:pic>
        <p:nvPicPr>
          <p:cNvPr id="2" name="图片 1">
            <a:extLst>
              <a:ext uri="{FF2B5EF4-FFF2-40B4-BE49-F238E27FC236}">
                <a16:creationId xmlns:a16="http://schemas.microsoft.com/office/drawing/2014/main" xmlns="" id="{BCB0F433-E269-4E30-AE5D-0BC6533BEB88}"/>
              </a:ext>
            </a:extLst>
          </p:cNvPr>
          <p:cNvPicPr>
            <a:picLocks noChangeAspect="1"/>
          </p:cNvPicPr>
          <p:nvPr/>
        </p:nvPicPr>
        <p:blipFill>
          <a:blip r:embed="rId3"/>
          <a:stretch>
            <a:fillRect/>
          </a:stretch>
        </p:blipFill>
        <p:spPr>
          <a:xfrm>
            <a:off x="2371853" y="2316165"/>
            <a:ext cx="6943725" cy="1400175"/>
          </a:xfrm>
          <a:prstGeom prst="rect">
            <a:avLst/>
          </a:prstGeom>
        </p:spPr>
      </p:pic>
      <p:pic>
        <p:nvPicPr>
          <p:cNvPr id="3" name="图片 2">
            <a:extLst>
              <a:ext uri="{FF2B5EF4-FFF2-40B4-BE49-F238E27FC236}">
                <a16:creationId xmlns:a16="http://schemas.microsoft.com/office/drawing/2014/main" xmlns="" id="{879A803B-D701-4CE9-B14B-0CECA5A131EF}"/>
              </a:ext>
            </a:extLst>
          </p:cNvPr>
          <p:cNvPicPr>
            <a:picLocks noChangeAspect="1"/>
          </p:cNvPicPr>
          <p:nvPr/>
        </p:nvPicPr>
        <p:blipFill>
          <a:blip r:embed="rId4"/>
          <a:stretch>
            <a:fillRect/>
          </a:stretch>
        </p:blipFill>
        <p:spPr>
          <a:xfrm>
            <a:off x="2590927" y="4684715"/>
            <a:ext cx="6505575" cy="714375"/>
          </a:xfrm>
          <a:prstGeom prst="rect">
            <a:avLst/>
          </a:prstGeom>
        </p:spPr>
      </p:pic>
    </p:spTree>
    <p:extLst>
      <p:ext uri="{BB962C8B-B14F-4D97-AF65-F5344CB8AC3E}">
        <p14:creationId xmlns:p14="http://schemas.microsoft.com/office/powerpoint/2010/main" val="3718898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2.5 </a:t>
            </a:r>
            <a:r>
              <a:rPr lang="en-US" altLang="zh-CN" dirty="0"/>
              <a:t>Peng-Ting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Recurrence for calculation of M:</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marL="0" indent="0">
              <a:spcBef>
                <a:spcPts val="0"/>
              </a:spcBef>
              <a:buSzPts val="2800"/>
              <a:buNone/>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p:txBody>
      </p:sp>
      <p:pic>
        <p:nvPicPr>
          <p:cNvPr id="4" name="图片 3">
            <a:extLst>
              <a:ext uri="{FF2B5EF4-FFF2-40B4-BE49-F238E27FC236}">
                <a16:creationId xmlns:a16="http://schemas.microsoft.com/office/drawing/2014/main" xmlns="" id="{A0DF615D-5E39-4C7C-B5E8-D5C756B0BF67}"/>
              </a:ext>
            </a:extLst>
          </p:cNvPr>
          <p:cNvPicPr>
            <a:picLocks noChangeAspect="1"/>
          </p:cNvPicPr>
          <p:nvPr/>
        </p:nvPicPr>
        <p:blipFill>
          <a:blip r:embed="rId3"/>
          <a:stretch>
            <a:fillRect/>
          </a:stretch>
        </p:blipFill>
        <p:spPr>
          <a:xfrm>
            <a:off x="2233741" y="2286123"/>
            <a:ext cx="7219950" cy="1323975"/>
          </a:xfrm>
          <a:prstGeom prst="rect">
            <a:avLst/>
          </a:prstGeom>
        </p:spPr>
      </p:pic>
      <p:pic>
        <p:nvPicPr>
          <p:cNvPr id="5" name="图片 4">
            <a:extLst>
              <a:ext uri="{FF2B5EF4-FFF2-40B4-BE49-F238E27FC236}">
                <a16:creationId xmlns:a16="http://schemas.microsoft.com/office/drawing/2014/main" xmlns="" id="{67CB33AC-02FB-4439-BE48-4576B0E3996F}"/>
              </a:ext>
            </a:extLst>
          </p:cNvPr>
          <p:cNvPicPr>
            <a:picLocks noChangeAspect="1"/>
          </p:cNvPicPr>
          <p:nvPr/>
        </p:nvPicPr>
        <p:blipFill>
          <a:blip r:embed="rId4"/>
          <a:stretch>
            <a:fillRect/>
          </a:stretch>
        </p:blipFill>
        <p:spPr>
          <a:xfrm>
            <a:off x="2538412" y="3719510"/>
            <a:ext cx="7115175" cy="1447800"/>
          </a:xfrm>
          <a:prstGeom prst="rect">
            <a:avLst/>
          </a:prstGeom>
        </p:spPr>
      </p:pic>
    </p:spTree>
    <p:extLst>
      <p:ext uri="{BB962C8B-B14F-4D97-AF65-F5344CB8AC3E}">
        <p14:creationId xmlns:p14="http://schemas.microsoft.com/office/powerpoint/2010/main" val="1488042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2.6 </a:t>
            </a:r>
            <a:r>
              <a:rPr lang="en-US" altLang="zh-CN" dirty="0"/>
              <a:t>Deorowicz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Algorithm:</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Example of only length:</a:t>
            </a:r>
          </a:p>
        </p:txBody>
      </p:sp>
      <p:pic>
        <p:nvPicPr>
          <p:cNvPr id="2" name="图片 1">
            <a:extLst>
              <a:ext uri="{FF2B5EF4-FFF2-40B4-BE49-F238E27FC236}">
                <a16:creationId xmlns:a16="http://schemas.microsoft.com/office/drawing/2014/main" xmlns="" id="{72270B74-1BB9-4024-B404-353B070DEF20}"/>
              </a:ext>
            </a:extLst>
          </p:cNvPr>
          <p:cNvPicPr>
            <a:picLocks noChangeAspect="1"/>
          </p:cNvPicPr>
          <p:nvPr/>
        </p:nvPicPr>
        <p:blipFill>
          <a:blip r:embed="rId3"/>
          <a:stretch>
            <a:fillRect/>
          </a:stretch>
        </p:blipFill>
        <p:spPr>
          <a:xfrm>
            <a:off x="2328862" y="2188531"/>
            <a:ext cx="7534275" cy="2019300"/>
          </a:xfrm>
          <a:prstGeom prst="rect">
            <a:avLst/>
          </a:prstGeom>
        </p:spPr>
      </p:pic>
      <p:pic>
        <p:nvPicPr>
          <p:cNvPr id="3" name="图片 2">
            <a:extLst>
              <a:ext uri="{FF2B5EF4-FFF2-40B4-BE49-F238E27FC236}">
                <a16:creationId xmlns:a16="http://schemas.microsoft.com/office/drawing/2014/main" xmlns="" id="{3A2A7C61-2413-4C36-850A-04A382AD0A73}"/>
              </a:ext>
            </a:extLst>
          </p:cNvPr>
          <p:cNvPicPr>
            <a:picLocks noChangeAspect="1"/>
          </p:cNvPicPr>
          <p:nvPr/>
        </p:nvPicPr>
        <p:blipFill>
          <a:blip r:embed="rId4"/>
          <a:stretch>
            <a:fillRect/>
          </a:stretch>
        </p:blipFill>
        <p:spPr>
          <a:xfrm>
            <a:off x="5109006" y="4225923"/>
            <a:ext cx="5019675" cy="2266950"/>
          </a:xfrm>
          <a:prstGeom prst="rect">
            <a:avLst/>
          </a:prstGeom>
        </p:spPr>
      </p:pic>
    </p:spTree>
    <p:extLst>
      <p:ext uri="{BB962C8B-B14F-4D97-AF65-F5344CB8AC3E}">
        <p14:creationId xmlns:p14="http://schemas.microsoft.com/office/powerpoint/2010/main" val="7022304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2.6 </a:t>
            </a:r>
            <a:r>
              <a:rPr lang="en-US" altLang="zh-CN" dirty="0"/>
              <a:t>Deorowicz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Example of Traceback:</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Complexity</a:t>
            </a:r>
            <a:r>
              <a:rPr lang="zh-CN" altLang="en-US" dirty="0"/>
              <a:t>：</a:t>
            </a:r>
            <a:r>
              <a:rPr lang="pt-BR" altLang="zh-CN" i="1" dirty="0"/>
              <a:t> O</a:t>
            </a:r>
            <a:r>
              <a:rPr lang="pt-BR" altLang="zh-CN" dirty="0"/>
              <a:t>(</a:t>
            </a:r>
            <a:r>
              <a:rPr lang="pt-BR" altLang="zh-CN" i="1" dirty="0"/>
              <a:t>r</a:t>
            </a:r>
            <a:r>
              <a:rPr lang="pt-BR" altLang="zh-CN" dirty="0"/>
              <a:t>(</a:t>
            </a:r>
            <a:r>
              <a:rPr lang="pt-BR" altLang="zh-CN" i="1" dirty="0"/>
              <a:t>ml </a:t>
            </a:r>
            <a:r>
              <a:rPr lang="pt-BR" altLang="zh-CN" dirty="0"/>
              <a:t>+ </a:t>
            </a:r>
            <a:r>
              <a:rPr lang="pt-BR" altLang="zh-CN" i="1" dirty="0"/>
              <a:t>d</a:t>
            </a:r>
            <a:r>
              <a:rPr lang="pt-BR" altLang="zh-CN" dirty="0"/>
              <a:t>) + </a:t>
            </a:r>
            <a:r>
              <a:rPr lang="pt-BR" altLang="zh-CN" i="1" dirty="0"/>
              <a:t>n</a:t>
            </a:r>
            <a:r>
              <a:rPr lang="pt-BR" altLang="zh-CN" dirty="0"/>
              <a:t>) time, </a:t>
            </a:r>
            <a:r>
              <a:rPr lang="en-US" altLang="zh-CN" dirty="0"/>
              <a:t>O(dr) space.</a:t>
            </a:r>
          </a:p>
        </p:txBody>
      </p:sp>
      <p:pic>
        <p:nvPicPr>
          <p:cNvPr id="2" name="图片 1">
            <a:extLst>
              <a:ext uri="{FF2B5EF4-FFF2-40B4-BE49-F238E27FC236}">
                <a16:creationId xmlns:a16="http://schemas.microsoft.com/office/drawing/2014/main" xmlns="" id="{17F730C3-3D6A-4B9F-899A-51FB6CEC36C8}"/>
              </a:ext>
            </a:extLst>
          </p:cNvPr>
          <p:cNvPicPr>
            <a:picLocks noChangeAspect="1"/>
          </p:cNvPicPr>
          <p:nvPr/>
        </p:nvPicPr>
        <p:blipFill>
          <a:blip r:embed="rId3"/>
          <a:stretch>
            <a:fillRect/>
          </a:stretch>
        </p:blipFill>
        <p:spPr>
          <a:xfrm>
            <a:off x="2395537" y="2264527"/>
            <a:ext cx="7400925" cy="3086100"/>
          </a:xfrm>
          <a:prstGeom prst="rect">
            <a:avLst/>
          </a:prstGeom>
        </p:spPr>
      </p:pic>
    </p:spTree>
    <p:extLst>
      <p:ext uri="{BB962C8B-B14F-4D97-AF65-F5344CB8AC3E}">
        <p14:creationId xmlns:p14="http://schemas.microsoft.com/office/powerpoint/2010/main" val="3462174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2.7 </a:t>
            </a:r>
            <a:r>
              <a:rPr lang="en-US" altLang="zh-CN" dirty="0"/>
              <a:t>Wang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sp>
        <p:nvSpPr>
          <p:cNvPr id="5" name="Google Shape;106;p15">
            <a:extLst>
              <a:ext uri="{FF2B5EF4-FFF2-40B4-BE49-F238E27FC236}">
                <a16:creationId xmlns:a16="http://schemas.microsoft.com/office/drawing/2014/main" xmlns="" id="{0FD29515-6620-4D0D-A62D-6AE6E87F2683}"/>
              </a:ext>
            </a:extLst>
          </p:cNvPr>
          <p:cNvSpPr txBox="1">
            <a:spLocks/>
          </p:cNvSpPr>
          <p:nvPr/>
        </p:nvSpPr>
        <p:spPr>
          <a:xfrm>
            <a:off x="990600" y="18430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Reduce properties:</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r>
              <a:rPr lang="en-US" altLang="zh-CN" dirty="0"/>
              <a:t>Formula:</a:t>
            </a:r>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a:spcBef>
                <a:spcPts val="0"/>
              </a:spcBef>
              <a:buSzPts val="2800"/>
            </a:pPr>
            <a:endParaRPr lang="en-US" altLang="zh-CN" dirty="0"/>
          </a:p>
          <a:p>
            <a:pPr marL="0" indent="0">
              <a:spcBef>
                <a:spcPts val="0"/>
              </a:spcBef>
              <a:buSzPts val="2800"/>
              <a:buNone/>
            </a:pPr>
            <a:endParaRPr lang="en-US" altLang="zh-CN" dirty="0"/>
          </a:p>
        </p:txBody>
      </p:sp>
      <p:pic>
        <p:nvPicPr>
          <p:cNvPr id="2" name="图片 1">
            <a:extLst>
              <a:ext uri="{FF2B5EF4-FFF2-40B4-BE49-F238E27FC236}">
                <a16:creationId xmlns:a16="http://schemas.microsoft.com/office/drawing/2014/main" xmlns="" id="{D3EF4F65-4A68-4A49-993B-4FA2A7849420}"/>
              </a:ext>
            </a:extLst>
          </p:cNvPr>
          <p:cNvPicPr>
            <a:picLocks noChangeAspect="1"/>
          </p:cNvPicPr>
          <p:nvPr/>
        </p:nvPicPr>
        <p:blipFill>
          <a:blip r:embed="rId3"/>
          <a:stretch>
            <a:fillRect/>
          </a:stretch>
        </p:blipFill>
        <p:spPr>
          <a:xfrm>
            <a:off x="2109787" y="2318545"/>
            <a:ext cx="7972425" cy="1704975"/>
          </a:xfrm>
          <a:prstGeom prst="rect">
            <a:avLst/>
          </a:prstGeom>
        </p:spPr>
      </p:pic>
      <p:pic>
        <p:nvPicPr>
          <p:cNvPr id="3" name="图片 2">
            <a:extLst>
              <a:ext uri="{FF2B5EF4-FFF2-40B4-BE49-F238E27FC236}">
                <a16:creationId xmlns:a16="http://schemas.microsoft.com/office/drawing/2014/main" xmlns="" id="{53C11D04-D48F-40DD-A79E-FFFF03CCE97F}"/>
              </a:ext>
            </a:extLst>
          </p:cNvPr>
          <p:cNvPicPr>
            <a:picLocks noChangeAspect="1"/>
          </p:cNvPicPr>
          <p:nvPr/>
        </p:nvPicPr>
        <p:blipFill>
          <a:blip r:embed="rId4"/>
          <a:stretch>
            <a:fillRect/>
          </a:stretch>
        </p:blipFill>
        <p:spPr>
          <a:xfrm>
            <a:off x="3267814" y="3911598"/>
            <a:ext cx="6419850" cy="2581275"/>
          </a:xfrm>
          <a:prstGeom prst="rect">
            <a:avLst/>
          </a:prstGeom>
        </p:spPr>
      </p:pic>
    </p:spTree>
    <p:extLst>
      <p:ext uri="{BB962C8B-B14F-4D97-AF65-F5344CB8AC3E}">
        <p14:creationId xmlns:p14="http://schemas.microsoft.com/office/powerpoint/2010/main" val="2720815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2.7 </a:t>
            </a:r>
            <a:r>
              <a:rPr lang="en-US" altLang="zh-CN" dirty="0"/>
              <a:t>Wang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sp>
        <p:nvSpPr>
          <p:cNvPr id="5" name="Google Shape;106;p15">
            <a:extLst>
              <a:ext uri="{FF2B5EF4-FFF2-40B4-BE49-F238E27FC236}">
                <a16:creationId xmlns:a16="http://schemas.microsoft.com/office/drawing/2014/main" xmlns="" id="{C403A865-28C8-4FEF-BC1C-7063C7DD2EAF}"/>
              </a:ext>
            </a:extLst>
          </p:cNvPr>
          <p:cNvSpPr txBox="1">
            <a:spLocks/>
          </p:cNvSpPr>
          <p:nvPr/>
        </p:nvSpPr>
        <p:spPr>
          <a:xfrm>
            <a:off x="990600" y="18430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Example:</a:t>
            </a:r>
          </a:p>
          <a:p>
            <a:pPr marL="0" indent="0">
              <a:spcBef>
                <a:spcPts val="0"/>
              </a:spcBef>
              <a:buSzPts val="2800"/>
              <a:buNone/>
            </a:pPr>
            <a:endParaRPr lang="en-US" altLang="zh-CN" dirty="0"/>
          </a:p>
          <a:p>
            <a:pPr>
              <a:spcBef>
                <a:spcPts val="0"/>
              </a:spcBef>
              <a:buSzPts val="2800"/>
            </a:pPr>
            <a:r>
              <a:rPr lang="en-US" altLang="zh-CN" dirty="0"/>
              <a:t>Complexity</a:t>
            </a:r>
            <a:r>
              <a:rPr lang="zh-CN" altLang="en-US" dirty="0"/>
              <a:t>：</a:t>
            </a:r>
            <a:endParaRPr lang="en-US" altLang="zh-CN" dirty="0"/>
          </a:p>
          <a:p>
            <a:pPr>
              <a:spcBef>
                <a:spcPts val="0"/>
              </a:spcBef>
              <a:buSzPts val="2800"/>
            </a:pPr>
            <a:endParaRPr lang="pt-BR" altLang="zh-CN" i="1" dirty="0"/>
          </a:p>
          <a:p>
            <a:pPr>
              <a:spcBef>
                <a:spcPts val="0"/>
              </a:spcBef>
              <a:buSzPts val="2800"/>
            </a:pPr>
            <a:r>
              <a:rPr lang="pt-BR" altLang="zh-CN" dirty="0"/>
              <a:t>O(rnm) time, </a:t>
            </a:r>
          </a:p>
          <a:p>
            <a:pPr>
              <a:spcBef>
                <a:spcPts val="0"/>
              </a:spcBef>
              <a:buSzPts val="2800"/>
            </a:pPr>
            <a:r>
              <a:rPr lang="en-US" altLang="zh-CN" dirty="0"/>
              <a:t>O(rnm) space.</a:t>
            </a:r>
          </a:p>
        </p:txBody>
      </p:sp>
      <p:pic>
        <p:nvPicPr>
          <p:cNvPr id="2" name="图片 1">
            <a:extLst>
              <a:ext uri="{FF2B5EF4-FFF2-40B4-BE49-F238E27FC236}">
                <a16:creationId xmlns:a16="http://schemas.microsoft.com/office/drawing/2014/main" xmlns="" id="{7A858129-EA56-4C4F-85A6-7D30371BF5CD}"/>
              </a:ext>
            </a:extLst>
          </p:cNvPr>
          <p:cNvPicPr>
            <a:picLocks noChangeAspect="1"/>
          </p:cNvPicPr>
          <p:nvPr/>
        </p:nvPicPr>
        <p:blipFill>
          <a:blip r:embed="rId3"/>
          <a:stretch>
            <a:fillRect/>
          </a:stretch>
        </p:blipFill>
        <p:spPr>
          <a:xfrm>
            <a:off x="6096000" y="365127"/>
            <a:ext cx="4467225" cy="6391275"/>
          </a:xfrm>
          <a:prstGeom prst="rect">
            <a:avLst/>
          </a:prstGeom>
        </p:spPr>
      </p:pic>
    </p:spTree>
    <p:extLst>
      <p:ext uri="{BB962C8B-B14F-4D97-AF65-F5344CB8AC3E}">
        <p14:creationId xmlns:p14="http://schemas.microsoft.com/office/powerpoint/2010/main" val="8471612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2.8 </a:t>
            </a:r>
            <a:r>
              <a:rPr lang="en-US" altLang="zh-CN" dirty="0"/>
              <a:t>liopoulos-Rahman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sp>
        <p:nvSpPr>
          <p:cNvPr id="6" name="Google Shape;106;p15">
            <a:extLst>
              <a:ext uri="{FF2B5EF4-FFF2-40B4-BE49-F238E27FC236}">
                <a16:creationId xmlns:a16="http://schemas.microsoft.com/office/drawing/2014/main" xmlns="" id="{20F78E2A-5858-4134-9A0D-9DEC0C8B1FDF}"/>
              </a:ext>
            </a:extLst>
          </p:cNvPr>
          <p:cNvSpPr txBox="1">
            <a:spLocks/>
          </p:cNvSpPr>
          <p:nvPr/>
        </p:nvSpPr>
        <p:spPr>
          <a:xfrm>
            <a:off x="990600" y="18430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Formula:</a:t>
            </a:r>
          </a:p>
          <a:p>
            <a:pPr>
              <a:spcBef>
                <a:spcPts val="0"/>
              </a:spcBef>
              <a:buSzPts val="2800"/>
            </a:pPr>
            <a:endParaRPr lang="en-US" altLang="zh-CN" dirty="0"/>
          </a:p>
          <a:p>
            <a:pPr marL="0" indent="0">
              <a:spcBef>
                <a:spcPts val="0"/>
              </a:spcBef>
              <a:buSzPts val="2800"/>
              <a:buNone/>
            </a:pPr>
            <a:endParaRPr lang="en-US" altLang="zh-CN" dirty="0"/>
          </a:p>
          <a:p>
            <a:pPr>
              <a:spcBef>
                <a:spcPts val="0"/>
              </a:spcBef>
              <a:buSzPts val="2800"/>
            </a:pPr>
            <a:endParaRPr lang="en-US" altLang="zh-CN" dirty="0"/>
          </a:p>
        </p:txBody>
      </p:sp>
      <p:pic>
        <p:nvPicPr>
          <p:cNvPr id="2" name="图片 1">
            <a:extLst>
              <a:ext uri="{FF2B5EF4-FFF2-40B4-BE49-F238E27FC236}">
                <a16:creationId xmlns:a16="http://schemas.microsoft.com/office/drawing/2014/main" xmlns="" id="{0234CB01-622D-4680-BB94-EE572C36F119}"/>
              </a:ext>
            </a:extLst>
          </p:cNvPr>
          <p:cNvPicPr>
            <a:picLocks noChangeAspect="1"/>
          </p:cNvPicPr>
          <p:nvPr/>
        </p:nvPicPr>
        <p:blipFill>
          <a:blip r:embed="rId3"/>
          <a:stretch>
            <a:fillRect/>
          </a:stretch>
        </p:blipFill>
        <p:spPr>
          <a:xfrm>
            <a:off x="2400531" y="2628234"/>
            <a:ext cx="7515225" cy="2876550"/>
          </a:xfrm>
          <a:prstGeom prst="rect">
            <a:avLst/>
          </a:prstGeom>
        </p:spPr>
      </p:pic>
    </p:spTree>
    <p:extLst>
      <p:ext uri="{BB962C8B-B14F-4D97-AF65-F5344CB8AC3E}">
        <p14:creationId xmlns:p14="http://schemas.microsoft.com/office/powerpoint/2010/main" val="37579156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2127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2.8 </a:t>
            </a:r>
            <a:r>
              <a:rPr lang="en-US" altLang="zh-CN" dirty="0"/>
              <a:t>liopoulos-Rahman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sp>
        <p:nvSpPr>
          <p:cNvPr id="6" name="Google Shape;106;p15">
            <a:extLst>
              <a:ext uri="{FF2B5EF4-FFF2-40B4-BE49-F238E27FC236}">
                <a16:creationId xmlns:a16="http://schemas.microsoft.com/office/drawing/2014/main" xmlns="" id="{20F78E2A-5858-4134-9A0D-9DEC0C8B1FDF}"/>
              </a:ext>
            </a:extLst>
          </p:cNvPr>
          <p:cNvSpPr txBox="1">
            <a:spLocks/>
          </p:cNvSpPr>
          <p:nvPr/>
        </p:nvSpPr>
        <p:spPr>
          <a:xfrm>
            <a:off x="1090484" y="15382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Bounded Heap data structure operations:</a:t>
            </a:r>
          </a:p>
          <a:p>
            <a:pPr lvl="1"/>
            <a:r>
              <a:rPr lang="en-US" altLang="zh-CN" dirty="0"/>
              <a:t>Insert(</a:t>
            </a:r>
            <a:r>
              <a:rPr lang="en-US" altLang="zh-CN" i="1" dirty="0"/>
              <a:t>H, </a:t>
            </a:r>
            <a:r>
              <a:rPr lang="en-US" altLang="zh-CN" dirty="0"/>
              <a:t>Pos</a:t>
            </a:r>
            <a:r>
              <a:rPr lang="en-US" altLang="zh-CN" i="1" dirty="0"/>
              <a:t>, </a:t>
            </a:r>
            <a:r>
              <a:rPr lang="en-US" altLang="zh-CN" dirty="0"/>
              <a:t>Value</a:t>
            </a:r>
            <a:r>
              <a:rPr lang="en-US" altLang="zh-CN" i="1" dirty="0"/>
              <a:t>, </a:t>
            </a:r>
            <a:r>
              <a:rPr lang="en-US" altLang="zh-CN" dirty="0"/>
              <a:t>Data): </a:t>
            </a:r>
          </a:p>
          <a:p>
            <a:pPr lvl="1"/>
            <a:r>
              <a:rPr lang="en-US" altLang="zh-CN" sz="2000" dirty="0"/>
              <a:t>Insert into the Bounded Heap </a:t>
            </a:r>
            <a:r>
              <a:rPr lang="en-US" altLang="zh-CN" sz="2000" i="1" dirty="0"/>
              <a:t>H </a:t>
            </a:r>
            <a:r>
              <a:rPr lang="en-US" altLang="zh-CN" sz="2000" dirty="0"/>
              <a:t>the position Pos with value </a:t>
            </a:r>
            <a:r>
              <a:rPr lang="en-US" altLang="zh-CN" sz="2000" dirty="0" err="1"/>
              <a:t>Value</a:t>
            </a:r>
            <a:r>
              <a:rPr lang="en-US" altLang="zh-CN" sz="2000" dirty="0"/>
              <a:t> and associated information Data.</a:t>
            </a:r>
          </a:p>
          <a:p>
            <a:pPr lvl="1"/>
            <a:endParaRPr lang="en-US" altLang="zh-CN" dirty="0"/>
          </a:p>
          <a:p>
            <a:pPr lvl="1"/>
            <a:r>
              <a:rPr lang="en-US" altLang="zh-CN" dirty="0"/>
              <a:t>IncreaseValue(</a:t>
            </a:r>
            <a:r>
              <a:rPr lang="en-US" altLang="zh-CN" i="1" dirty="0"/>
              <a:t>H, </a:t>
            </a:r>
            <a:r>
              <a:rPr lang="en-US" altLang="zh-CN" dirty="0"/>
              <a:t>Pos</a:t>
            </a:r>
            <a:r>
              <a:rPr lang="en-US" altLang="zh-CN" i="1" dirty="0"/>
              <a:t>, </a:t>
            </a:r>
            <a:r>
              <a:rPr lang="en-US" altLang="zh-CN" dirty="0"/>
              <a:t>Value</a:t>
            </a:r>
            <a:r>
              <a:rPr lang="en-US" altLang="zh-CN" i="1" dirty="0"/>
              <a:t>, </a:t>
            </a:r>
            <a:r>
              <a:rPr lang="en-US" altLang="zh-CN" dirty="0"/>
              <a:t>Data): </a:t>
            </a:r>
          </a:p>
          <a:p>
            <a:pPr lvl="1"/>
            <a:r>
              <a:rPr lang="en-US" altLang="zh-CN" sz="2000" dirty="0"/>
              <a:t>If </a:t>
            </a:r>
            <a:r>
              <a:rPr lang="en-US" altLang="zh-CN" sz="2000" i="1" dirty="0"/>
              <a:t>H </a:t>
            </a:r>
            <a:r>
              <a:rPr lang="en-US" altLang="zh-CN" sz="2000" dirty="0"/>
              <a:t>does not already contain the position Pos, perform Insert(</a:t>
            </a:r>
            <a:r>
              <a:rPr lang="en-US" altLang="zh-CN" sz="2000" i="1" dirty="0"/>
              <a:t>H, </a:t>
            </a:r>
            <a:r>
              <a:rPr lang="en-US" altLang="zh-CN" sz="2000" dirty="0"/>
              <a:t>Pos</a:t>
            </a:r>
            <a:r>
              <a:rPr lang="en-US" altLang="zh-CN" sz="2000" i="1" dirty="0"/>
              <a:t>, </a:t>
            </a:r>
            <a:r>
              <a:rPr lang="en-US" altLang="zh-CN" sz="2000" dirty="0"/>
              <a:t>Value</a:t>
            </a:r>
            <a:r>
              <a:rPr lang="en-US" altLang="zh-CN" sz="2000" i="1" dirty="0"/>
              <a:t>, </a:t>
            </a:r>
            <a:r>
              <a:rPr lang="en-US" altLang="zh-CN" sz="2000" dirty="0"/>
              <a:t>Data). Otherwise, set this position’s value to max</a:t>
            </a:r>
            <a:r>
              <a:rPr lang="en-US" altLang="zh-CN" sz="2000" i="1" dirty="0"/>
              <a:t>{</a:t>
            </a:r>
            <a:r>
              <a:rPr lang="en-US" altLang="zh-CN" sz="2000" dirty="0"/>
              <a:t>Value</a:t>
            </a:r>
            <a:r>
              <a:rPr lang="en-US" altLang="zh-CN" sz="2000" i="1" dirty="0"/>
              <a:t>, </a:t>
            </a:r>
            <a:r>
              <a:rPr lang="en-US" altLang="zh-CN" sz="2000" dirty="0"/>
              <a:t>Value</a:t>
            </a:r>
            <a:r>
              <a:rPr lang="en-US" altLang="zh-CN" sz="2000" i="1" dirty="0"/>
              <a:t>}</a:t>
            </a:r>
            <a:r>
              <a:rPr lang="en-US" altLang="zh-CN" sz="2000" dirty="0"/>
              <a:t>, where Value is its previous value. Also, update Data accordingly. </a:t>
            </a:r>
          </a:p>
          <a:p>
            <a:pPr lvl="1"/>
            <a:endParaRPr lang="en-US" altLang="zh-CN" dirty="0"/>
          </a:p>
          <a:p>
            <a:pPr lvl="1"/>
            <a:r>
              <a:rPr lang="en-US" altLang="zh-CN" dirty="0"/>
              <a:t>BoundedMax(</a:t>
            </a:r>
            <a:r>
              <a:rPr lang="en-US" altLang="zh-CN" i="1" dirty="0"/>
              <a:t>H, </a:t>
            </a:r>
            <a:r>
              <a:rPr lang="en-US" altLang="zh-CN" dirty="0"/>
              <a:t>Pos): </a:t>
            </a:r>
          </a:p>
          <a:p>
            <a:pPr lvl="1"/>
            <a:r>
              <a:rPr lang="en-US" altLang="zh-CN" sz="2000" dirty="0"/>
              <a:t>Return the item (with additional </a:t>
            </a:r>
            <a:r>
              <a:rPr lang="en-US" altLang="zh-CN" sz="2000" i="1" dirty="0"/>
              <a:t>data</a:t>
            </a:r>
            <a:r>
              <a:rPr lang="en-US" altLang="zh-CN" sz="2000" dirty="0"/>
              <a:t>) that has maximum value among all items in </a:t>
            </a:r>
            <a:r>
              <a:rPr lang="en-US" altLang="zh-CN" sz="2000" i="1" dirty="0"/>
              <a:t>H </a:t>
            </a:r>
            <a:r>
              <a:rPr lang="en-US" altLang="zh-CN" sz="2000" dirty="0"/>
              <a:t>with position smaller than Pos. If </a:t>
            </a:r>
            <a:r>
              <a:rPr lang="en-US" altLang="zh-CN" sz="2000" i="1" dirty="0"/>
              <a:t>H </a:t>
            </a:r>
            <a:r>
              <a:rPr lang="en-US" altLang="zh-CN" sz="2000" dirty="0"/>
              <a:t>does not contain any items with position smaller than Pos, return 0. </a:t>
            </a:r>
          </a:p>
          <a:p>
            <a:pPr>
              <a:spcBef>
                <a:spcPts val="0"/>
              </a:spcBef>
              <a:buSzPts val="2800"/>
            </a:pPr>
            <a:endParaRPr lang="en-US" altLang="zh-CN" dirty="0"/>
          </a:p>
          <a:p>
            <a:pPr marL="0" indent="0">
              <a:spcBef>
                <a:spcPts val="0"/>
              </a:spcBef>
              <a:buSzPts val="2800"/>
              <a:buNone/>
            </a:pPr>
            <a:endParaRPr lang="en-US" altLang="zh-CN" dirty="0"/>
          </a:p>
          <a:p>
            <a:pPr>
              <a:spcBef>
                <a:spcPts val="0"/>
              </a:spcBef>
              <a:buSzPts val="2800"/>
            </a:pPr>
            <a:endParaRPr lang="en-US" altLang="zh-CN" dirty="0"/>
          </a:p>
        </p:txBody>
      </p:sp>
    </p:spTree>
    <p:extLst>
      <p:ext uri="{BB962C8B-B14F-4D97-AF65-F5344CB8AC3E}">
        <p14:creationId xmlns:p14="http://schemas.microsoft.com/office/powerpoint/2010/main" val="2280184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2.8 </a:t>
            </a:r>
            <a:r>
              <a:rPr lang="en-US" altLang="zh-CN" dirty="0"/>
              <a:t>liopoulos-Rahman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Modified LCS:</a:t>
            </a:r>
          </a:p>
          <a:p>
            <a:pPr>
              <a:spcBef>
                <a:spcPts val="0"/>
              </a:spcBef>
              <a:buSzPts val="2800"/>
            </a:pPr>
            <a:endParaRPr lang="en-US" altLang="zh-CN" dirty="0"/>
          </a:p>
          <a:p>
            <a:pPr>
              <a:spcBef>
                <a:spcPts val="0"/>
              </a:spcBef>
              <a:buSzPts val="2800"/>
            </a:pPr>
            <a:r>
              <a:rPr lang="en-US" altLang="zh-CN" dirty="0"/>
              <a:t>Complexity</a:t>
            </a:r>
            <a:r>
              <a:rPr lang="zh-CN" altLang="en-US" dirty="0"/>
              <a:t>：</a:t>
            </a:r>
            <a:endParaRPr lang="en-US" altLang="zh-CN" dirty="0"/>
          </a:p>
          <a:p>
            <a:pPr>
              <a:spcBef>
                <a:spcPts val="0"/>
              </a:spcBef>
              <a:buSzPts val="2800"/>
            </a:pPr>
            <a:endParaRPr lang="pt-BR" altLang="zh-CN" i="1" dirty="0"/>
          </a:p>
          <a:p>
            <a:pPr>
              <a:spcBef>
                <a:spcPts val="0"/>
              </a:spcBef>
              <a:buSzPts val="2800"/>
            </a:pPr>
            <a:r>
              <a:rPr lang="pt-BR" altLang="zh-CN" dirty="0"/>
              <a:t>Time: </a:t>
            </a:r>
          </a:p>
          <a:p>
            <a:pPr>
              <a:spcBef>
                <a:spcPts val="0"/>
              </a:spcBef>
              <a:buSzPts val="2800"/>
            </a:pPr>
            <a:r>
              <a:rPr lang="pt-BR" altLang="zh-CN" dirty="0"/>
              <a:t>O(R log log n + n).</a:t>
            </a:r>
          </a:p>
          <a:p>
            <a:pPr>
              <a:spcBef>
                <a:spcPts val="0"/>
              </a:spcBef>
              <a:buSzPts val="2800"/>
            </a:pPr>
            <a:endParaRPr lang="pt-BR" altLang="zh-CN" dirty="0"/>
          </a:p>
          <a:p>
            <a:pPr>
              <a:spcBef>
                <a:spcPts val="0"/>
              </a:spcBef>
              <a:buSzPts val="2800"/>
            </a:pPr>
            <a:r>
              <a:rPr lang="en-US" altLang="zh-CN" dirty="0"/>
              <a:t>Space:</a:t>
            </a:r>
            <a:endParaRPr lang="pt-BR" altLang="zh-CN" dirty="0"/>
          </a:p>
          <a:p>
            <a:pPr>
              <a:spcBef>
                <a:spcPts val="0"/>
              </a:spcBef>
              <a:buSzPts val="2800"/>
            </a:pPr>
            <a:r>
              <a:rPr lang="el-GR" altLang="zh-CN" i="1" dirty="0"/>
              <a:t>θ</a:t>
            </a:r>
            <a:r>
              <a:rPr lang="el-GR" altLang="zh-CN" dirty="0"/>
              <a:t>(</a:t>
            </a:r>
            <a:r>
              <a:rPr lang="en-US" altLang="zh-CN" dirty="0"/>
              <a:t>max</a:t>
            </a:r>
            <a:r>
              <a:rPr lang="en-US" altLang="zh-CN" i="1" dirty="0"/>
              <a:t>{R, n}</a:t>
            </a:r>
            <a:r>
              <a:rPr lang="en-US" altLang="zh-CN" dirty="0"/>
              <a:t>) </a:t>
            </a:r>
            <a:r>
              <a:rPr lang="en-US" altLang="zh-CN" i="1" dirty="0"/>
              <a:t>.</a:t>
            </a:r>
            <a:endParaRPr lang="en-US" altLang="zh-CN" dirty="0"/>
          </a:p>
        </p:txBody>
      </p:sp>
      <p:pic>
        <p:nvPicPr>
          <p:cNvPr id="2" name="图片 1">
            <a:extLst>
              <a:ext uri="{FF2B5EF4-FFF2-40B4-BE49-F238E27FC236}">
                <a16:creationId xmlns:a16="http://schemas.microsoft.com/office/drawing/2014/main" xmlns="" id="{555A1B23-4F42-4905-B048-2032E435C7BF}"/>
              </a:ext>
            </a:extLst>
          </p:cNvPr>
          <p:cNvPicPr>
            <a:picLocks noChangeAspect="1"/>
          </p:cNvPicPr>
          <p:nvPr/>
        </p:nvPicPr>
        <p:blipFill>
          <a:blip r:embed="rId3"/>
          <a:stretch>
            <a:fillRect/>
          </a:stretch>
        </p:blipFill>
        <p:spPr>
          <a:xfrm>
            <a:off x="4034163" y="2060577"/>
            <a:ext cx="7162800" cy="4295775"/>
          </a:xfrm>
          <a:prstGeom prst="rect">
            <a:avLst/>
          </a:prstGeom>
        </p:spPr>
      </p:pic>
    </p:spTree>
    <p:extLst>
      <p:ext uri="{BB962C8B-B14F-4D97-AF65-F5344CB8AC3E}">
        <p14:creationId xmlns:p14="http://schemas.microsoft.com/office/powerpoint/2010/main" val="13537980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2.8 </a:t>
            </a:r>
            <a:r>
              <a:rPr lang="en-US" altLang="zh-CN" dirty="0"/>
              <a:t>liopoulos-Rahman Algorithm</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Modified CLCS :</a:t>
            </a:r>
          </a:p>
          <a:p>
            <a:pPr>
              <a:spcBef>
                <a:spcPts val="0"/>
              </a:spcBef>
              <a:buSzPts val="2800"/>
            </a:pPr>
            <a:endParaRPr lang="en-US" altLang="zh-CN" dirty="0"/>
          </a:p>
          <a:p>
            <a:pPr>
              <a:spcBef>
                <a:spcPts val="0"/>
              </a:spcBef>
              <a:buSzPts val="2800"/>
            </a:pPr>
            <a:r>
              <a:rPr lang="en-US" altLang="zh-CN" dirty="0"/>
              <a:t>Complexity</a:t>
            </a:r>
            <a:r>
              <a:rPr lang="zh-CN" altLang="en-US" dirty="0"/>
              <a:t>：</a:t>
            </a:r>
            <a:endParaRPr lang="en-US" altLang="zh-CN" dirty="0"/>
          </a:p>
          <a:p>
            <a:pPr>
              <a:spcBef>
                <a:spcPts val="0"/>
              </a:spcBef>
              <a:buSzPts val="2800"/>
            </a:pPr>
            <a:endParaRPr lang="pt-BR" altLang="zh-CN" i="1" dirty="0"/>
          </a:p>
          <a:p>
            <a:pPr>
              <a:spcBef>
                <a:spcPts val="0"/>
              </a:spcBef>
              <a:buSzPts val="2800"/>
            </a:pPr>
            <a:r>
              <a:rPr lang="pt-BR" altLang="zh-CN" dirty="0"/>
              <a:t>Time: </a:t>
            </a:r>
          </a:p>
          <a:p>
            <a:pPr>
              <a:spcBef>
                <a:spcPts val="0"/>
              </a:spcBef>
              <a:buSzPts val="2800"/>
            </a:pPr>
            <a:r>
              <a:rPr lang="pt-BR" altLang="zh-CN" dirty="0"/>
              <a:t>O(pR log log n+n)</a:t>
            </a:r>
            <a:r>
              <a:rPr lang="en-US" altLang="zh-CN" dirty="0"/>
              <a:t>.</a:t>
            </a:r>
          </a:p>
          <a:p>
            <a:pPr>
              <a:spcBef>
                <a:spcPts val="0"/>
              </a:spcBef>
              <a:buSzPts val="2800"/>
            </a:pPr>
            <a:endParaRPr lang="pt-BR" altLang="zh-CN" dirty="0"/>
          </a:p>
          <a:p>
            <a:pPr>
              <a:spcBef>
                <a:spcPts val="0"/>
              </a:spcBef>
              <a:buSzPts val="2800"/>
            </a:pPr>
            <a:r>
              <a:rPr lang="en-US" altLang="zh-CN" dirty="0"/>
              <a:t>Space:</a:t>
            </a:r>
            <a:endParaRPr lang="pt-BR" altLang="zh-CN" dirty="0"/>
          </a:p>
          <a:p>
            <a:pPr>
              <a:spcBef>
                <a:spcPts val="0"/>
              </a:spcBef>
              <a:buSzPts val="2800"/>
            </a:pPr>
            <a:r>
              <a:rPr lang="el-GR" altLang="zh-CN" i="1" dirty="0"/>
              <a:t>θ</a:t>
            </a:r>
            <a:r>
              <a:rPr lang="el-GR" altLang="zh-CN" dirty="0"/>
              <a:t>(</a:t>
            </a:r>
            <a:r>
              <a:rPr lang="en-US" altLang="zh-CN" dirty="0"/>
              <a:t>max</a:t>
            </a:r>
            <a:r>
              <a:rPr lang="en-US" altLang="zh-CN" i="1" dirty="0"/>
              <a:t>{R, n}</a:t>
            </a:r>
            <a:r>
              <a:rPr lang="en-US" altLang="zh-CN" dirty="0"/>
              <a:t>) </a:t>
            </a:r>
            <a:r>
              <a:rPr lang="en-US" altLang="zh-CN" i="1" dirty="0"/>
              <a:t>.</a:t>
            </a:r>
            <a:endParaRPr lang="en-US" altLang="zh-CN" dirty="0"/>
          </a:p>
        </p:txBody>
      </p:sp>
      <p:pic>
        <p:nvPicPr>
          <p:cNvPr id="2" name="图片 1">
            <a:extLst>
              <a:ext uri="{FF2B5EF4-FFF2-40B4-BE49-F238E27FC236}">
                <a16:creationId xmlns:a16="http://schemas.microsoft.com/office/drawing/2014/main" xmlns="" id="{D23DFEDA-B9B8-428A-A9C3-8FD30A008C60}"/>
              </a:ext>
            </a:extLst>
          </p:cNvPr>
          <p:cNvPicPr>
            <a:picLocks noChangeAspect="1"/>
          </p:cNvPicPr>
          <p:nvPr/>
        </p:nvPicPr>
        <p:blipFill>
          <a:blip r:embed="rId3"/>
          <a:stretch>
            <a:fillRect/>
          </a:stretch>
        </p:blipFill>
        <p:spPr>
          <a:xfrm>
            <a:off x="4303983" y="1473378"/>
            <a:ext cx="4727732" cy="5248099"/>
          </a:xfrm>
          <a:prstGeom prst="rect">
            <a:avLst/>
          </a:prstGeom>
        </p:spPr>
      </p:pic>
    </p:spTree>
    <p:extLst>
      <p:ext uri="{BB962C8B-B14F-4D97-AF65-F5344CB8AC3E}">
        <p14:creationId xmlns:p14="http://schemas.microsoft.com/office/powerpoint/2010/main" val="3973052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Improvements</a:t>
            </a:r>
            <a:r>
              <a:rPr lang="en-US" altLang="zh-CN" dirty="0"/>
              <a:t> of the algorithms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Unnecessary parts in matrices:</a:t>
            </a:r>
          </a:p>
          <a:p>
            <a:pPr>
              <a:spcBef>
                <a:spcPts val="0"/>
              </a:spcBef>
              <a:buSzPts val="2800"/>
            </a:pPr>
            <a:endParaRPr lang="en-US" altLang="zh-CN" dirty="0"/>
          </a:p>
          <a:p>
            <a:pPr lvl="1"/>
            <a:r>
              <a:rPr lang="en-US" altLang="zh-CN" sz="2800" dirty="0"/>
              <a:t>If the LCS(A</a:t>
            </a:r>
            <a:r>
              <a:rPr lang="en-US" altLang="zh-CN" sz="2800" baseline="-25000" dirty="0"/>
              <a:t>i , </a:t>
            </a:r>
            <a:r>
              <a:rPr lang="en-US" altLang="zh-CN" sz="2800" dirty="0"/>
              <a:t>P</a:t>
            </a:r>
            <a:r>
              <a:rPr lang="en-US" altLang="zh-CN" sz="2800" baseline="-25000" dirty="0"/>
              <a:t>k</a:t>
            </a:r>
            <a:r>
              <a:rPr lang="en-US" altLang="zh-CN" sz="2800" dirty="0"/>
              <a:t>) &lt; k , k &gt; 0, then all the cells M(k, i, j) for any j store −</a:t>
            </a:r>
            <a:r>
              <a:rPr lang="zh-CN" altLang="en-US" sz="2800" dirty="0"/>
              <a:t>∞</a:t>
            </a:r>
            <a:r>
              <a:rPr lang="en-US" altLang="zh-CN" sz="2800" dirty="0"/>
              <a:t>.</a:t>
            </a:r>
          </a:p>
          <a:p>
            <a:pPr lvl="1"/>
            <a:endParaRPr lang="en-US" altLang="zh-CN" sz="2800" dirty="0"/>
          </a:p>
          <a:p>
            <a:pPr lvl="1"/>
            <a:r>
              <a:rPr lang="en-US" altLang="zh-CN" sz="2800" dirty="0"/>
              <a:t>If the LCS(Ai...n, Pk...r) &lt; r − k + 1 , for 0 &lt; k &lt;= r, then all cells M(k−1, i−1, j) for any j have no way to impact on M(r, n, m).</a:t>
            </a:r>
          </a:p>
          <a:p>
            <a:pPr lvl="1"/>
            <a:endParaRPr lang="en-US" altLang="zh-CN" sz="2800" dirty="0"/>
          </a:p>
          <a:p>
            <a:pPr lvl="1"/>
            <a:r>
              <a:rPr lang="en-US" altLang="zh-CN" sz="2800" dirty="0"/>
              <a:t>A similar observation can be made for sequence B.</a:t>
            </a:r>
          </a:p>
        </p:txBody>
      </p:sp>
    </p:spTree>
    <p:extLst>
      <p:ext uri="{BB962C8B-B14F-4D97-AF65-F5344CB8AC3E}">
        <p14:creationId xmlns:p14="http://schemas.microsoft.com/office/powerpoint/2010/main" val="367259570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3 Improvements</a:t>
            </a:r>
            <a:r>
              <a:rPr lang="en-US" altLang="zh-CN" dirty="0"/>
              <a:t> of the algorithms</a:t>
            </a:r>
            <a:endParaRPr lang="en-US" dirty="0"/>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buSzPts val="2800"/>
            </a:pPr>
            <a:r>
              <a:rPr lang="en-US" altLang="zh-CN" dirty="0"/>
              <a:t>Trimmed parts in matrices - EEP:</a:t>
            </a:r>
          </a:p>
        </p:txBody>
      </p:sp>
      <p:pic>
        <p:nvPicPr>
          <p:cNvPr id="2" name="图片 1">
            <a:extLst>
              <a:ext uri="{FF2B5EF4-FFF2-40B4-BE49-F238E27FC236}">
                <a16:creationId xmlns:a16="http://schemas.microsoft.com/office/drawing/2014/main" xmlns="" id="{FD67E2C6-A3E6-4DB0-AE0B-C1150CB01CCA}"/>
              </a:ext>
            </a:extLst>
          </p:cNvPr>
          <p:cNvPicPr>
            <a:picLocks noChangeAspect="1"/>
          </p:cNvPicPr>
          <p:nvPr/>
        </p:nvPicPr>
        <p:blipFill>
          <a:blip r:embed="rId3"/>
          <a:stretch>
            <a:fillRect/>
          </a:stretch>
        </p:blipFill>
        <p:spPr>
          <a:xfrm>
            <a:off x="2005012" y="2127252"/>
            <a:ext cx="8181975" cy="4229100"/>
          </a:xfrm>
          <a:prstGeom prst="rect">
            <a:avLst/>
          </a:prstGeom>
        </p:spPr>
      </p:pic>
    </p:spTree>
    <p:extLst>
      <p:ext uri="{BB962C8B-B14F-4D97-AF65-F5344CB8AC3E}">
        <p14:creationId xmlns:p14="http://schemas.microsoft.com/office/powerpoint/2010/main" val="4196243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Experimental results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6BF8DD5D-1EE8-458C-844C-F562BF5A7088}"/>
              </a:ext>
            </a:extLst>
          </p:cNvPr>
          <p:cNvPicPr>
            <a:picLocks noChangeAspect="1"/>
          </p:cNvPicPr>
          <p:nvPr/>
        </p:nvPicPr>
        <p:blipFill>
          <a:blip r:embed="rId3"/>
          <a:stretch>
            <a:fillRect/>
          </a:stretch>
        </p:blipFill>
        <p:spPr>
          <a:xfrm>
            <a:off x="2959746" y="1309315"/>
            <a:ext cx="6272508" cy="5428412"/>
          </a:xfrm>
          <a:prstGeom prst="rect">
            <a:avLst/>
          </a:prstGeom>
        </p:spPr>
      </p:pic>
    </p:spTree>
    <p:extLst>
      <p:ext uri="{BB962C8B-B14F-4D97-AF65-F5344CB8AC3E}">
        <p14:creationId xmlns:p14="http://schemas.microsoft.com/office/powerpoint/2010/main" val="1570159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Experimental results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21A2BEC3-DEEB-4E7D-8A5E-4555DEF18924}"/>
              </a:ext>
            </a:extLst>
          </p:cNvPr>
          <p:cNvPicPr>
            <a:picLocks noChangeAspect="1"/>
          </p:cNvPicPr>
          <p:nvPr/>
        </p:nvPicPr>
        <p:blipFill>
          <a:blip r:embed="rId3"/>
          <a:stretch>
            <a:fillRect/>
          </a:stretch>
        </p:blipFill>
        <p:spPr>
          <a:xfrm>
            <a:off x="2019300" y="1690690"/>
            <a:ext cx="8153400" cy="4124325"/>
          </a:xfrm>
          <a:prstGeom prst="rect">
            <a:avLst/>
          </a:prstGeom>
        </p:spPr>
      </p:pic>
    </p:spTree>
    <p:extLst>
      <p:ext uri="{BB962C8B-B14F-4D97-AF65-F5344CB8AC3E}">
        <p14:creationId xmlns:p14="http://schemas.microsoft.com/office/powerpoint/2010/main" val="37670752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Experimental results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ABAE519C-F001-4BB0-82B1-64CF4E25EEDC}"/>
              </a:ext>
            </a:extLst>
          </p:cNvPr>
          <p:cNvPicPr>
            <a:picLocks noChangeAspect="1"/>
          </p:cNvPicPr>
          <p:nvPr/>
        </p:nvPicPr>
        <p:blipFill>
          <a:blip r:embed="rId3"/>
          <a:stretch>
            <a:fillRect/>
          </a:stretch>
        </p:blipFill>
        <p:spPr>
          <a:xfrm>
            <a:off x="2024062" y="1909513"/>
            <a:ext cx="8143875" cy="3962400"/>
          </a:xfrm>
          <a:prstGeom prst="rect">
            <a:avLst/>
          </a:prstGeom>
        </p:spPr>
      </p:pic>
    </p:spTree>
    <p:extLst>
      <p:ext uri="{BB962C8B-B14F-4D97-AF65-F5344CB8AC3E}">
        <p14:creationId xmlns:p14="http://schemas.microsoft.com/office/powerpoint/2010/main" val="1162868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6"/>
          <p:cNvSpPr txBox="1">
            <a:spLocks noGrp="1"/>
          </p:cNvSpPr>
          <p:nvPr>
            <p:ph type="title"/>
          </p:nvPr>
        </p:nvSpPr>
        <p:spPr>
          <a:xfrm>
            <a:off x="838200" y="365127"/>
            <a:ext cx="10515600" cy="1325563"/>
          </a:xfrm>
          <a:prstGeom prst="rect">
            <a:avLst/>
          </a:prstGeom>
          <a:noFill/>
          <a:ln>
            <a:noFill/>
          </a:ln>
        </p:spPr>
        <p:txBody>
          <a:bodyPr spcFirstLastPara="1" wrap="square" lIns="91425" tIns="45700" rIns="91425" bIns="45700" anchor="ctr" anchorCtr="0">
            <a:noAutofit/>
          </a:bodyPr>
          <a:lstStyle/>
          <a:p>
            <a:pPr lvl="0">
              <a:spcBef>
                <a:spcPts val="0"/>
              </a:spcBef>
              <a:buClr>
                <a:schemeClr val="dk1"/>
              </a:buClr>
              <a:buSzPts val="4400"/>
            </a:pPr>
            <a:r>
              <a:rPr lang="en-US" dirty="0"/>
              <a:t>4 Experimental results</a:t>
            </a:r>
          </a:p>
        </p:txBody>
      </p:sp>
      <p:sp>
        <p:nvSpPr>
          <p:cNvPr id="113" name="Google Shape;113;p16"/>
          <p:cNvSpPr txBox="1">
            <a:spLocks noGrp="1"/>
          </p:cNvSpPr>
          <p:nvPr>
            <p:ph type="sldNum" idx="12"/>
          </p:nvPr>
        </p:nvSpPr>
        <p:spPr>
          <a:xfrm>
            <a:off x="8610600" y="6356352"/>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lang="en-US"/>
          </a:p>
        </p:txBody>
      </p:sp>
      <p:sp>
        <p:nvSpPr>
          <p:cNvPr id="7" name="Google Shape;106;p15">
            <a:extLst>
              <a:ext uri="{FF2B5EF4-FFF2-40B4-BE49-F238E27FC236}">
                <a16:creationId xmlns:a16="http://schemas.microsoft.com/office/drawing/2014/main" xmlns="" id="{EDC2ACD4-6DFC-438B-92DF-4BA017F62857}"/>
              </a:ext>
            </a:extLst>
          </p:cNvPr>
          <p:cNvSpPr txBox="1">
            <a:spLocks/>
          </p:cNvSpPr>
          <p:nvPr/>
        </p:nvSpPr>
        <p:spPr>
          <a:xfrm>
            <a:off x="838200" y="1690690"/>
            <a:ext cx="10011032" cy="4446839"/>
          </a:xfrm>
          <a:prstGeom prst="rect">
            <a:avLst/>
          </a:prstGeom>
          <a:noFill/>
          <a:ln>
            <a:noFill/>
          </a:ln>
        </p:spPr>
        <p:txBody>
          <a:bodyPr spcFirstLastPara="1" vert="horz" wrap="square" lIns="91425" tIns="45700" rIns="91425" bIns="4570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SzPts val="2800"/>
              <a:buNone/>
            </a:pPr>
            <a:endParaRPr lang="zh-TW" altLang="en-US" dirty="0"/>
          </a:p>
        </p:txBody>
      </p:sp>
      <p:pic>
        <p:nvPicPr>
          <p:cNvPr id="2" name="图片 1">
            <a:extLst>
              <a:ext uri="{FF2B5EF4-FFF2-40B4-BE49-F238E27FC236}">
                <a16:creationId xmlns:a16="http://schemas.microsoft.com/office/drawing/2014/main" xmlns="" id="{CF918636-88D8-4296-AB27-BDDE8BB58E30}"/>
              </a:ext>
            </a:extLst>
          </p:cNvPr>
          <p:cNvPicPr>
            <a:picLocks noChangeAspect="1"/>
          </p:cNvPicPr>
          <p:nvPr/>
        </p:nvPicPr>
        <p:blipFill>
          <a:blip r:embed="rId3"/>
          <a:stretch>
            <a:fillRect/>
          </a:stretch>
        </p:blipFill>
        <p:spPr>
          <a:xfrm>
            <a:off x="2848115" y="1513737"/>
            <a:ext cx="6495769" cy="5025177"/>
          </a:xfrm>
          <a:prstGeom prst="rect">
            <a:avLst/>
          </a:prstGeom>
        </p:spPr>
      </p:pic>
    </p:spTree>
    <p:extLst>
      <p:ext uri="{BB962C8B-B14F-4D97-AF65-F5344CB8AC3E}">
        <p14:creationId xmlns:p14="http://schemas.microsoft.com/office/powerpoint/2010/main" val="168502279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4899</TotalTime>
  <Words>934</Words>
  <Application>Microsoft Office PowerPoint</Application>
  <PresentationFormat>寬螢幕</PresentationFormat>
  <Paragraphs>348</Paragraphs>
  <Slides>29</Slides>
  <Notes>29</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29</vt:i4>
      </vt:variant>
    </vt:vector>
  </HeadingPairs>
  <TitlesOfParts>
    <vt:vector size="36" baseType="lpstr">
      <vt:lpstr>等线</vt:lpstr>
      <vt:lpstr>微软雅黑</vt:lpstr>
      <vt:lpstr>Questrial</vt:lpstr>
      <vt:lpstr>新細明體</vt:lpstr>
      <vt:lpstr>Arial</vt:lpstr>
      <vt:lpstr>Calibri</vt:lpstr>
      <vt:lpstr>Office 主题</vt:lpstr>
      <vt:lpstr>Constrained longest common subsequence computing algorithms in practice</vt:lpstr>
      <vt:lpstr>Abstract</vt:lpstr>
      <vt:lpstr>1 Introduction</vt:lpstr>
      <vt:lpstr>1 Introduction</vt:lpstr>
      <vt:lpstr>1 Introduction</vt:lpstr>
      <vt:lpstr>1 Introduction</vt:lpstr>
      <vt:lpstr>2 Algorithm for the CLCS problem</vt:lpstr>
      <vt:lpstr>2.1 Tsai Algorithm</vt:lpstr>
      <vt:lpstr>2.2 Chin et al. Algorithm</vt:lpstr>
      <vt:lpstr>2.2 Chin et al. Algorithm</vt:lpstr>
      <vt:lpstr>2.3 Peng Algorithm</vt:lpstr>
      <vt:lpstr>2.3 Peng Algorithm</vt:lpstr>
      <vt:lpstr>2.4 Arslan–Egecioglu Algorithm</vt:lpstr>
      <vt:lpstr>2.5 Peng-Ting Algorithm</vt:lpstr>
      <vt:lpstr>2.5 Peng-Ting Algorithm</vt:lpstr>
      <vt:lpstr>2.6 Deorowicz Algorithm</vt:lpstr>
      <vt:lpstr>2.6 Deorowicz Algorithm</vt:lpstr>
      <vt:lpstr>2.7 Wang Algorithm</vt:lpstr>
      <vt:lpstr>2.7 Wang Algorithm</vt:lpstr>
      <vt:lpstr>2.8 liopoulos-Rahman Algorithm</vt:lpstr>
      <vt:lpstr>2.8 liopoulos-Rahman Algorithm</vt:lpstr>
      <vt:lpstr>2.8 liopoulos-Rahman Algorithm</vt:lpstr>
      <vt:lpstr>2.8 liopoulos-Rahman Algorithm</vt:lpstr>
      <vt:lpstr>3 Improvements of the algorithms</vt:lpstr>
      <vt:lpstr>3 Improvements of the algorithms</vt:lpstr>
      <vt:lpstr>4 Experimental results</vt:lpstr>
      <vt:lpstr>4 Experimental results</vt:lpstr>
      <vt:lpstr>4 Experimental results</vt:lpstr>
      <vt:lpstr>4 Experimental results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BAYESIAN  DEEP  CONVOLUTIONAL  NETWORKS   WITH MANY  CHANNELS  ARE  GAUSSIAN PROCESSES</dc:title>
  <dc:creator>zkx</dc:creator>
  <cp:lastModifiedBy>pplab-class</cp:lastModifiedBy>
  <cp:revision>362</cp:revision>
  <dcterms:created xsi:type="dcterms:W3CDTF">2019-04-02T05:36:00Z</dcterms:created>
  <dcterms:modified xsi:type="dcterms:W3CDTF">2019-08-06T10:43:37Z</dcterms:modified>
</cp:coreProperties>
</file>