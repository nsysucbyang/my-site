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handoutMasterIdLst>
    <p:handoutMasterId r:id="rId27"/>
  </p:handoutMasterIdLst>
  <p:sldIdLst>
    <p:sldId id="256" r:id="rId2"/>
    <p:sldId id="257" r:id="rId3"/>
    <p:sldId id="258" r:id="rId4"/>
    <p:sldId id="288" r:id="rId5"/>
    <p:sldId id="330" r:id="rId6"/>
    <p:sldId id="299" r:id="rId7"/>
    <p:sldId id="311" r:id="rId8"/>
    <p:sldId id="307" r:id="rId9"/>
    <p:sldId id="329" r:id="rId10"/>
    <p:sldId id="316" r:id="rId11"/>
    <p:sldId id="317" r:id="rId12"/>
    <p:sldId id="320" r:id="rId13"/>
    <p:sldId id="318" r:id="rId14"/>
    <p:sldId id="319" r:id="rId15"/>
    <p:sldId id="321" r:id="rId16"/>
    <p:sldId id="322" r:id="rId17"/>
    <p:sldId id="323" r:id="rId18"/>
    <p:sldId id="325" r:id="rId19"/>
    <p:sldId id="326" r:id="rId20"/>
    <p:sldId id="328" r:id="rId21"/>
    <p:sldId id="308" r:id="rId22"/>
    <p:sldId id="309" r:id="rId23"/>
    <p:sldId id="310" r:id="rId24"/>
    <p:sldId id="285" r:id="rId2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850" autoAdjust="0"/>
    <p:restoredTop sz="85714" autoAdjust="0"/>
  </p:normalViewPr>
  <p:slideViewPr>
    <p:cSldViewPr snapToGrid="0">
      <p:cViewPr varScale="1">
        <p:scale>
          <a:sx n="98" d="100"/>
          <a:sy n="98" d="100"/>
        </p:scale>
        <p:origin x="102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154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DE3D63E-ED49-4D7E-8867-5402EFEDA3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E957D7-6998-44F0-8EFD-129034B48C2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44450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FEA978-E737-40E5-8864-39E2E87DFE56}" type="datetimeFigureOut">
              <a:rPr lang="zh-TW" altLang="en-US" smtClean="0"/>
              <a:t>2019/8/6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7F998F-39E5-4E28-B0C3-37396970755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017030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7F998F-39E5-4E28-B0C3-37396970755F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101380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7F998F-39E5-4E28-B0C3-37396970755F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164678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7F998F-39E5-4E28-B0C3-37396970755F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49897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7F998F-39E5-4E28-B0C3-37396970755F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009999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A26C46-D0C2-4B38-8A04-667613125F6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algn="ctr"/>
            <a:r>
              <a:rPr lang="en-US" altLang="zh-TW" sz="6000" dirty="0"/>
              <a:t>Inception-v4,</a:t>
            </a:r>
            <a:r>
              <a:rPr lang="zh-TW" altLang="en-US" sz="6000" dirty="0"/>
              <a:t> </a:t>
            </a:r>
            <a:r>
              <a:rPr lang="en-US" altLang="zh-TW" sz="6000" dirty="0"/>
              <a:t>Inception-</a:t>
            </a:r>
            <a:r>
              <a:rPr lang="en-US" altLang="zh-TW" sz="6000" dirty="0" err="1"/>
              <a:t>ResNet</a:t>
            </a:r>
            <a:r>
              <a:rPr lang="zh-TW" altLang="en-US" sz="6000" dirty="0"/>
              <a:t> </a:t>
            </a:r>
            <a:r>
              <a:rPr lang="en-US" altLang="zh-TW" sz="6000" dirty="0"/>
              <a:t>and the</a:t>
            </a:r>
            <a:r>
              <a:rPr lang="zh-TW" altLang="en-US" sz="6000" dirty="0"/>
              <a:t> </a:t>
            </a:r>
            <a:r>
              <a:rPr lang="en-US" altLang="zh-TW" sz="6000" dirty="0"/>
              <a:t>Impact</a:t>
            </a:r>
            <a:r>
              <a:rPr lang="zh-TW" altLang="en-US" sz="6000" dirty="0"/>
              <a:t> </a:t>
            </a:r>
            <a:r>
              <a:rPr lang="en-US" altLang="zh-TW" sz="6000" dirty="0"/>
              <a:t>of</a:t>
            </a:r>
            <a:r>
              <a:rPr lang="zh-TW" altLang="en-US" sz="6000" dirty="0"/>
              <a:t> </a:t>
            </a:r>
            <a:r>
              <a:rPr lang="en-US" altLang="zh-TW" sz="6000" dirty="0"/>
              <a:t>Residual</a:t>
            </a:r>
            <a:r>
              <a:rPr lang="zh-TW" altLang="en-US" sz="6000" dirty="0"/>
              <a:t> </a:t>
            </a:r>
            <a:r>
              <a:rPr lang="en-US" altLang="zh-TW" sz="6000" dirty="0"/>
              <a:t>Connections on</a:t>
            </a:r>
            <a:r>
              <a:rPr lang="zh-TW" altLang="en-US" sz="6000" dirty="0"/>
              <a:t> </a:t>
            </a:r>
            <a:r>
              <a:rPr lang="en-US" altLang="zh-TW" sz="6000" dirty="0"/>
              <a:t>Learning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696A7FC-CF28-4579-BC74-610A32CF58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2C6E288-DD27-4113-B6F7-DD4F3944F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6F5E9-A161-4F7E-8227-15CB11B54BE5}" type="datetimeFigureOut">
              <a:rPr lang="zh-TW" altLang="en-US" smtClean="0"/>
              <a:t>2019/8/6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FB0A3A0-D31F-474E-9349-609AC7276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23F3CDA-AD1A-40A6-9C8D-642369690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C637B-58DD-46A8-AF7F-A0A444BD02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027674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9EBDB89-794A-4CE8-AB36-695FA6BD6D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algn="ctr"/>
            <a:r>
              <a:rPr lang="en-US" altLang="zh-TW" sz="4400" dirty="0"/>
              <a:t>Inception-v4,</a:t>
            </a:r>
            <a:r>
              <a:rPr lang="zh-TW" altLang="en-US" sz="4400" dirty="0"/>
              <a:t> </a:t>
            </a:r>
            <a:r>
              <a:rPr lang="en-US" altLang="zh-TW" sz="4400" dirty="0"/>
              <a:t>Inception-</a:t>
            </a:r>
            <a:r>
              <a:rPr lang="en-US" altLang="zh-TW" sz="4400" dirty="0" err="1"/>
              <a:t>ResNet</a:t>
            </a:r>
            <a:r>
              <a:rPr lang="zh-TW" altLang="en-US" sz="4400" dirty="0"/>
              <a:t> </a:t>
            </a:r>
            <a:r>
              <a:rPr lang="en-US" altLang="zh-TW" sz="4400" dirty="0"/>
              <a:t>and the</a:t>
            </a:r>
            <a:r>
              <a:rPr lang="zh-TW" altLang="en-US" sz="4400" dirty="0"/>
              <a:t> </a:t>
            </a:r>
            <a:r>
              <a:rPr lang="en-US" altLang="zh-TW" sz="4400" dirty="0"/>
              <a:t>Impact</a:t>
            </a:r>
            <a:r>
              <a:rPr lang="zh-TW" altLang="en-US" sz="4400" dirty="0"/>
              <a:t> </a:t>
            </a:r>
            <a:r>
              <a:rPr lang="en-US" altLang="zh-TW" sz="4400" dirty="0"/>
              <a:t>of</a:t>
            </a:r>
            <a:r>
              <a:rPr lang="zh-TW" altLang="en-US" sz="4400" dirty="0"/>
              <a:t> </a:t>
            </a:r>
            <a:r>
              <a:rPr lang="en-US" altLang="zh-TW" sz="4400" dirty="0"/>
              <a:t>Residual</a:t>
            </a:r>
            <a:r>
              <a:rPr lang="zh-TW" altLang="en-US" sz="4400" dirty="0"/>
              <a:t> </a:t>
            </a:r>
            <a:r>
              <a:rPr lang="en-US" altLang="zh-TW" sz="4400" dirty="0"/>
              <a:t>Connections on</a:t>
            </a:r>
            <a:r>
              <a:rPr lang="zh-TW" altLang="en-US" sz="4400" dirty="0"/>
              <a:t> </a:t>
            </a:r>
            <a:r>
              <a:rPr lang="en-US" altLang="zh-TW" sz="4400" dirty="0"/>
              <a:t>Learning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B355D9C-ACD8-4D02-92FE-DE58E61C017B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algn="ctr"/>
            <a:r>
              <a:rPr lang="en-US" altLang="zh-TW" sz="2800" dirty="0"/>
              <a:t>Inception-v4,</a:t>
            </a:r>
            <a:r>
              <a:rPr lang="zh-TW" altLang="en-US" sz="2800" dirty="0"/>
              <a:t> </a:t>
            </a:r>
            <a:r>
              <a:rPr lang="en-US" altLang="zh-TW" sz="2800" dirty="0"/>
              <a:t>Inception-</a:t>
            </a:r>
            <a:r>
              <a:rPr lang="en-US" altLang="zh-TW" sz="2800" dirty="0" err="1"/>
              <a:t>ResNet</a:t>
            </a:r>
            <a:r>
              <a:rPr lang="zh-TW" altLang="en-US" sz="2800" dirty="0"/>
              <a:t> </a:t>
            </a:r>
            <a:r>
              <a:rPr lang="en-US" altLang="zh-TW" sz="2800" dirty="0"/>
              <a:t>and the</a:t>
            </a:r>
            <a:r>
              <a:rPr lang="zh-TW" altLang="en-US" sz="2800" dirty="0"/>
              <a:t> </a:t>
            </a:r>
            <a:r>
              <a:rPr lang="en-US" altLang="zh-TW" sz="2800" dirty="0"/>
              <a:t>Impact</a:t>
            </a:r>
            <a:r>
              <a:rPr lang="zh-TW" altLang="en-US" sz="2800" dirty="0"/>
              <a:t> </a:t>
            </a:r>
            <a:r>
              <a:rPr lang="en-US" altLang="zh-TW" sz="2800" dirty="0"/>
              <a:t>of</a:t>
            </a:r>
            <a:r>
              <a:rPr lang="zh-TW" altLang="en-US" sz="2800" dirty="0"/>
              <a:t> </a:t>
            </a:r>
            <a:r>
              <a:rPr lang="en-US" altLang="zh-TW" sz="2800" dirty="0"/>
              <a:t>Residual</a:t>
            </a:r>
            <a:r>
              <a:rPr lang="zh-TW" altLang="en-US" sz="2800" dirty="0"/>
              <a:t> </a:t>
            </a:r>
            <a:r>
              <a:rPr lang="en-US" altLang="zh-TW" sz="2800" dirty="0"/>
              <a:t>Connections on</a:t>
            </a:r>
            <a:r>
              <a:rPr lang="zh-TW" altLang="en-US" sz="2800" dirty="0"/>
              <a:t> </a:t>
            </a:r>
            <a:r>
              <a:rPr lang="en-US" altLang="zh-TW" sz="2800" dirty="0"/>
              <a:t>Learning</a:t>
            </a:r>
          </a:p>
          <a:p>
            <a:pPr lvl="4"/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14533FF-8DFC-4215-8621-E079E0E0C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6F5E9-A161-4F7E-8227-15CB11B54BE5}" type="datetimeFigureOut">
              <a:rPr lang="zh-TW" altLang="en-US" smtClean="0"/>
              <a:t>2019/8/6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F5AF5C5-4D3D-4B57-8AD6-10D2C77E8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9515229-E48F-43C7-83FD-26EC70D3A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C637B-58DD-46A8-AF7F-A0A444BD02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90211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B1B7635-2C67-4B5F-B633-DE0A6674A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74DF3E2-EB35-4698-9CCF-D80288D1DA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34EB538-7C2A-4CAB-82F5-CA3240F4E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6F5E9-A161-4F7E-8227-15CB11B54BE5}" type="datetimeFigureOut">
              <a:rPr lang="zh-TW" altLang="en-US" smtClean="0"/>
              <a:t>2019/8/6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4C302FB-35CA-41FD-A10F-FC0DD69C3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7CEC10E-9E91-4967-8F39-826CDE439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C637B-58DD-46A8-AF7F-A0A444BD02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6531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52A850-6DCA-42A6-ACB7-A13657B8A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3BAFDB8-FB0E-4F58-958B-1D9824F647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8EDCE71-D1BF-471D-9DFE-8FCDC7D672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9EBE791-BD89-45CD-9728-D389BB316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6F5E9-A161-4F7E-8227-15CB11B54BE5}" type="datetimeFigureOut">
              <a:rPr lang="zh-TW" altLang="en-US" smtClean="0"/>
              <a:t>2019/8/6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F1989AF-5EE3-4C62-AFC1-48071A504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23AD171-B164-46A3-ACE4-5A4588DE4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C637B-58DD-46A8-AF7F-A0A444BD02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8275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56E3CD-9E81-449C-964D-C3AE690F6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33DB46E-F8D2-4AD5-8C6D-174A15CCF6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C900BFE-FCA7-45BF-A6E3-3849877BAC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EFAA5323-9AAC-44CC-9039-6D896FDA9F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F3E0D19-8D65-429B-867C-99B0C7A2A5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3E7D6A61-05EC-4F52-B753-19D1ED295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6F5E9-A161-4F7E-8227-15CB11B54BE5}" type="datetimeFigureOut">
              <a:rPr lang="zh-TW" altLang="en-US" smtClean="0"/>
              <a:t>2019/8/6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E9F13DBC-FB1E-496C-A620-D2BC47148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FD43FB8-3CB1-40E5-9850-0A010B5BE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C637B-58DD-46A8-AF7F-A0A444BD02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7142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F5786E-467E-4BB0-B2DA-E5FB8EEEA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574C4EA2-83A3-43CE-A98A-0CCBACA8F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6F5E9-A161-4F7E-8227-15CB11B54BE5}" type="datetimeFigureOut">
              <a:rPr lang="zh-TW" altLang="en-US" smtClean="0"/>
              <a:t>2019/8/6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F8901214-6687-4452-BC6E-31C56AC80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8D80292-6BB7-4ADF-9ECD-60E137EBF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C637B-58DD-46A8-AF7F-A0A444BD02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1560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7443BF5F-86C6-434F-B7E0-6808B578A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6F5E9-A161-4F7E-8227-15CB11B54BE5}" type="datetimeFigureOut">
              <a:rPr lang="zh-TW" altLang="en-US" smtClean="0"/>
              <a:t>2019/8/6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B3B3AD15-105B-4FC3-AC21-9641BDAC5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7818F38-1B71-447F-9564-B81F209BA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C637B-58DD-46A8-AF7F-A0A444BD02EC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5" name="標題 4">
            <a:extLst>
              <a:ext uri="{FF2B5EF4-FFF2-40B4-BE49-F238E27FC236}">
                <a16:creationId xmlns:a16="http://schemas.microsoft.com/office/drawing/2014/main" id="{BEE2DA72-19CB-4313-BF78-8672CB13F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700504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047244B-BFDF-4F36-BBD0-22A3D39FD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6F5E9-A161-4F7E-8227-15CB11B54BE5}" type="datetimeFigureOut">
              <a:rPr lang="zh-TW" altLang="en-US" smtClean="0"/>
              <a:t>2019/8/6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AF92A0C-D083-4C91-9540-F32B21ACE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3783A3B-3529-409C-A336-4F875A77C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zh-TW" altLang="en-US"/>
              <a:t>題目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40817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9E71BDE-3C86-4D85-A91A-0C327B7E2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57129F5-F019-4EBB-A25D-BEB2D17ABF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796812B-AE4D-44A9-BF5B-FFE96F39E4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F166050-82C5-4644-9E42-83C5662F5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6F5E9-A161-4F7E-8227-15CB11B54BE5}" type="datetimeFigureOut">
              <a:rPr lang="zh-TW" altLang="en-US" smtClean="0"/>
              <a:t>2019/8/6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BEB40FC-9F77-4C91-B89E-EAC4E9541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7FB4B68-3BDB-43EA-9E04-D8EAD722D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C637B-58DD-46A8-AF7F-A0A444BD02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94935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11580DA-6254-468B-9CFE-B25750B25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F957F645-620B-4A08-BA0C-2941F4D860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5F39D3C-E300-49A2-976B-E6CD983C7F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5388065-1E1B-41E6-9E04-08417E9CA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6F5E9-A161-4F7E-8227-15CB11B54BE5}" type="datetimeFigureOut">
              <a:rPr lang="zh-TW" altLang="en-US" smtClean="0"/>
              <a:t>2019/8/6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2B2ADC8-34C8-40FF-8AE6-3F1CC0C99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9EA9464-CACA-4A71-86D7-9E2C9D08C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C637B-58DD-46A8-AF7F-A0A444BD02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686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FFF4E2B-6B0C-4896-BC2F-11BE3B908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501112A-1FBE-4682-B37E-A328CB3A77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137BC29-3592-4F0B-A50C-9655C9B6A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6F5E9-A161-4F7E-8227-15CB11B54BE5}" type="datetimeFigureOut">
              <a:rPr lang="zh-TW" altLang="en-US" smtClean="0"/>
              <a:t>2019/8/6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B9A55B6-82BB-4FB0-A273-AD7C1DC78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32C7894-3FCD-414D-9BB4-7847CA2FA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C637B-58DD-46A8-AF7F-A0A444BD02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25023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2E544434-5D2F-4B0D-9ED1-56B4D4FE9B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DCC4A77-67E4-42D7-930B-28BC9A0B9E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E0AC741-A57F-4A06-BBBA-E77084029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6F5E9-A161-4F7E-8227-15CB11B54BE5}" type="datetimeFigureOut">
              <a:rPr lang="zh-TW" altLang="en-US" smtClean="0"/>
              <a:t>2019/8/6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CB7C003-D59F-45CF-A10A-EBBFB156E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251B9BD-6658-4E84-971B-BFC05738D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CC637B-58DD-46A8-AF7F-A0A444BD02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303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CD5D394F-0282-4C9F-8398-410567349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altLang="zh-TW" sz="4400" dirty="0"/>
              <a:t>Inception-v4,</a:t>
            </a:r>
            <a:r>
              <a:rPr lang="zh-TW" altLang="en-US" sz="4400" dirty="0"/>
              <a:t> </a:t>
            </a:r>
            <a:r>
              <a:rPr lang="en-US" altLang="zh-TW" sz="4400" dirty="0"/>
              <a:t>Inception-</a:t>
            </a:r>
            <a:r>
              <a:rPr lang="en-US" altLang="zh-TW" sz="4400" dirty="0" err="1"/>
              <a:t>ResNet</a:t>
            </a:r>
            <a:r>
              <a:rPr lang="zh-TW" altLang="en-US" sz="4400" dirty="0"/>
              <a:t> </a:t>
            </a:r>
            <a:r>
              <a:rPr lang="en-US" altLang="zh-TW" sz="4400" dirty="0"/>
              <a:t>and the</a:t>
            </a:r>
            <a:r>
              <a:rPr lang="zh-TW" altLang="en-US" sz="4400" dirty="0"/>
              <a:t> </a:t>
            </a:r>
            <a:r>
              <a:rPr lang="en-US" altLang="zh-TW" sz="4400" dirty="0"/>
              <a:t>Impact</a:t>
            </a:r>
            <a:r>
              <a:rPr lang="zh-TW" altLang="en-US" sz="4400" dirty="0"/>
              <a:t> </a:t>
            </a:r>
            <a:r>
              <a:rPr lang="en-US" altLang="zh-TW" sz="4400" dirty="0"/>
              <a:t>of</a:t>
            </a:r>
            <a:r>
              <a:rPr lang="zh-TW" altLang="en-US" sz="4400" dirty="0"/>
              <a:t> </a:t>
            </a:r>
            <a:r>
              <a:rPr lang="en-US" altLang="zh-TW" sz="4400" dirty="0"/>
              <a:t>Residual</a:t>
            </a:r>
            <a:r>
              <a:rPr lang="zh-TW" altLang="en-US" sz="4400" dirty="0"/>
              <a:t> </a:t>
            </a:r>
            <a:r>
              <a:rPr lang="en-US" altLang="zh-TW" sz="4400" dirty="0"/>
              <a:t>Connections on</a:t>
            </a:r>
            <a:r>
              <a:rPr lang="zh-TW" altLang="en-US" sz="4400" dirty="0"/>
              <a:t> </a:t>
            </a:r>
            <a:r>
              <a:rPr lang="en-US" altLang="zh-TW" sz="4400" dirty="0"/>
              <a:t>Learning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82102D4-0F3D-47CB-AA62-F36DB98E4B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6871246-AE1D-4613-995F-569583A45E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16F5E9-A161-4F7E-8227-15CB11B54BE5}" type="datetimeFigureOut">
              <a:rPr lang="zh-TW" altLang="en-US" smtClean="0"/>
              <a:t>2019/8/6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3A19071-CFE5-4F2F-9F76-8900809E78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4224D7B-415F-4E25-A807-CEE7D9CD27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TW" altLang="en-US" dirty="0"/>
              <a:t>題目</a:t>
            </a:r>
          </a:p>
        </p:txBody>
      </p:sp>
    </p:spTree>
    <p:extLst>
      <p:ext uri="{BB962C8B-B14F-4D97-AF65-F5344CB8AC3E}">
        <p14:creationId xmlns:p14="http://schemas.microsoft.com/office/powerpoint/2010/main" val="3618432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://geekalabama.com/2015/08/14/why-sesame-street-going-to-hbo-is-a-very-big-deal-for-pbs-and-public-broadcasting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ayrah.com/category/tags/sesame-street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15000"/>
            <a:lum/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rcRect/>
          <a:stretch>
            <a:fillRect t="-16000" b="-1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75B0156-9AD4-4A08-8BF7-F7E716BC2005}"/>
              </a:ext>
            </a:extLst>
          </p:cNvPr>
          <p:cNvSpPr/>
          <p:nvPr/>
        </p:nvSpPr>
        <p:spPr>
          <a:xfrm>
            <a:off x="0" y="327817"/>
            <a:ext cx="11854447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TW" sz="5400" dirty="0">
                <a:latin typeface="NimbusRomNo9L-Medi"/>
              </a:rPr>
              <a:t>BERT: Pre-training of Deep Bidirectional Transformers for</a:t>
            </a:r>
          </a:p>
          <a:p>
            <a:pPr algn="ctr"/>
            <a:r>
              <a:rPr lang="en-US" altLang="zh-TW" sz="5400" dirty="0">
                <a:latin typeface="NimbusRomNo9L-Medi"/>
              </a:rPr>
              <a:t>Language Understanding</a:t>
            </a:r>
            <a:endParaRPr lang="zh-TW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F253964-4333-4642-9684-0AEB002C9A3E}"/>
              </a:ext>
            </a:extLst>
          </p:cNvPr>
          <p:cNvSpPr/>
          <p:nvPr/>
        </p:nvSpPr>
        <p:spPr>
          <a:xfrm>
            <a:off x="3311459" y="3212566"/>
            <a:ext cx="572743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200" dirty="0">
                <a:latin typeface="NimbusRomNo9L-Medi"/>
              </a:rPr>
              <a:t>Jacob Devlin, Ming-Wei Chang, Kenton Lee, Kristina Toutanova</a:t>
            </a:r>
            <a:endParaRPr lang="en-US" altLang="zh-TW" sz="32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6AD574A-1A01-44E2-AA65-BEB4B4206B23}"/>
              </a:ext>
            </a:extLst>
          </p:cNvPr>
          <p:cNvSpPr/>
          <p:nvPr/>
        </p:nvSpPr>
        <p:spPr>
          <a:xfrm>
            <a:off x="2437981" y="4947996"/>
            <a:ext cx="697848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dirty="0"/>
              <a:t>NCCAL 2019, conference in June 3</a:t>
            </a:r>
            <a:r>
              <a:rPr lang="en-US" altLang="zh-TW" sz="2800" baseline="30000" dirty="0"/>
              <a:t>rd</a:t>
            </a:r>
            <a:r>
              <a:rPr lang="en-US" altLang="zh-TW" sz="2800" dirty="0"/>
              <a:t> -June 6</a:t>
            </a:r>
            <a:r>
              <a:rPr lang="en-US" altLang="zh-TW" sz="2800" baseline="30000" dirty="0"/>
              <a:t>th</a:t>
            </a:r>
            <a:r>
              <a:rPr lang="en-US" altLang="zh-TW" sz="2800" dirty="0"/>
              <a:t> 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8029974-43D5-45D0-B929-5463BA243FDA}"/>
              </a:ext>
            </a:extLst>
          </p:cNvPr>
          <p:cNvSpPr/>
          <p:nvPr/>
        </p:nvSpPr>
        <p:spPr>
          <a:xfrm>
            <a:off x="9582311" y="6062528"/>
            <a:ext cx="271479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 : Chia-Lin Chen</a:t>
            </a:r>
          </a:p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August 6, 2019</a:t>
            </a:r>
          </a:p>
        </p:txBody>
      </p:sp>
    </p:spTree>
    <p:extLst>
      <p:ext uri="{BB962C8B-B14F-4D97-AF65-F5344CB8AC3E}">
        <p14:creationId xmlns:p14="http://schemas.microsoft.com/office/powerpoint/2010/main" val="26017680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C741B37-929F-4A16-98E0-CF0057ADE5BD}"/>
              </a:ext>
            </a:extLst>
          </p:cNvPr>
          <p:cNvSpPr/>
          <p:nvPr/>
        </p:nvSpPr>
        <p:spPr>
          <a:xfrm>
            <a:off x="491153" y="482195"/>
            <a:ext cx="11585618" cy="52014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4400" dirty="0"/>
              <a:t>Abstract</a:t>
            </a:r>
            <a:r>
              <a:rPr lang="en-US" altLang="zh-TW" sz="4400" dirty="0"/>
              <a:t>(1/3) </a:t>
            </a:r>
          </a:p>
          <a:p>
            <a:r>
              <a:rPr lang="en-US" altLang="zh-TW" sz="3200" dirty="0"/>
              <a:t>We introduce a new language representation</a:t>
            </a:r>
          </a:p>
          <a:p>
            <a:r>
              <a:rPr lang="en-US" altLang="zh-TW" sz="3200" dirty="0"/>
              <a:t>model called BERT, which stands for</a:t>
            </a:r>
          </a:p>
          <a:p>
            <a:r>
              <a:rPr lang="en-US" altLang="zh-TW" sz="3200" dirty="0"/>
              <a:t>Bidirectional Encoder Representations from</a:t>
            </a:r>
          </a:p>
          <a:p>
            <a:r>
              <a:rPr lang="en-US" altLang="zh-TW" sz="3200" dirty="0"/>
              <a:t>Transformers. Unlike recent language representation</a:t>
            </a:r>
          </a:p>
          <a:p>
            <a:r>
              <a:rPr lang="en-US" altLang="zh-TW" sz="3200" dirty="0"/>
              <a:t>models (Peters et al., 2018a; Radford</a:t>
            </a:r>
          </a:p>
          <a:p>
            <a:r>
              <a:rPr lang="en-US" altLang="zh-TW" sz="3200" dirty="0"/>
              <a:t>et al., 2018), BERT is designed to pretrain</a:t>
            </a:r>
          </a:p>
          <a:p>
            <a:r>
              <a:rPr lang="en-US" altLang="zh-TW" sz="3200" dirty="0"/>
              <a:t>deep bidirectional representations from</a:t>
            </a:r>
          </a:p>
          <a:p>
            <a:r>
              <a:rPr lang="en-US" altLang="zh-TW" sz="3200" dirty="0"/>
              <a:t>unlabeled text by jointly conditioning on both</a:t>
            </a:r>
          </a:p>
          <a:p>
            <a:r>
              <a:rPr lang="en-US" altLang="zh-TW" sz="3200" dirty="0"/>
              <a:t>left and right context in all layers.</a:t>
            </a:r>
            <a:endParaRPr lang="en-US" altLang="zh-TW" sz="28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42A4D60-9DCC-4859-97B7-7DA53BD90476}"/>
              </a:ext>
            </a:extLst>
          </p:cNvPr>
          <p:cNvSpPr/>
          <p:nvPr/>
        </p:nvSpPr>
        <p:spPr>
          <a:xfrm>
            <a:off x="7535917" y="5934670"/>
            <a:ext cx="4540854" cy="9233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TW" dirty="0">
                <a:latin typeface="NimbusRomNo9L-Medi"/>
              </a:rPr>
              <a:t>BERT: Pre-training of Deep Bidirectional Transformers for</a:t>
            </a:r>
          </a:p>
          <a:p>
            <a:pPr algn="ctr"/>
            <a:r>
              <a:rPr lang="en-US" altLang="zh-TW" dirty="0">
                <a:latin typeface="NimbusRomNo9L-Medi"/>
              </a:rPr>
              <a:t>Language Understanding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8128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D921DB7-10DD-4E80-A357-35944853BC31}"/>
              </a:ext>
            </a:extLst>
          </p:cNvPr>
          <p:cNvSpPr/>
          <p:nvPr/>
        </p:nvSpPr>
        <p:spPr>
          <a:xfrm>
            <a:off x="368384" y="335845"/>
            <a:ext cx="11455231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4400" dirty="0"/>
              <a:t>Abstract</a:t>
            </a:r>
            <a:r>
              <a:rPr lang="en-US" altLang="zh-TW" sz="4400" dirty="0"/>
              <a:t>(2/3)</a:t>
            </a:r>
          </a:p>
          <a:p>
            <a:r>
              <a:rPr lang="en-US" altLang="zh-TW" sz="3200" dirty="0"/>
              <a:t>As a result, the pre-trained BERT model can be fine tuned</a:t>
            </a:r>
          </a:p>
          <a:p>
            <a:r>
              <a:rPr lang="en-US" altLang="zh-TW" sz="3200" dirty="0"/>
              <a:t>with just one additional output layer to create state-of-the-art models for a wide range of tasks, such as question answering and language inference, without substantial task specific architecture modifications. BERT is conceptually simple and empirically powerful. 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009973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D921DB7-10DD-4E80-A357-35944853BC31}"/>
              </a:ext>
            </a:extLst>
          </p:cNvPr>
          <p:cNvSpPr/>
          <p:nvPr/>
        </p:nvSpPr>
        <p:spPr>
          <a:xfrm>
            <a:off x="489009" y="408462"/>
            <a:ext cx="9792416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4400" dirty="0"/>
              <a:t>Abstract</a:t>
            </a:r>
            <a:r>
              <a:rPr lang="en-US" altLang="zh-TW" sz="4400" dirty="0"/>
              <a:t>(3/3)</a:t>
            </a:r>
          </a:p>
          <a:p>
            <a:r>
              <a:rPr lang="en-US" altLang="zh-TW" sz="3200" dirty="0"/>
              <a:t>It obtains new state-of-the-art results on eleven natural language processing tasks, including pushing the GLUE score to </a:t>
            </a:r>
            <a:r>
              <a:rPr lang="fr-FR" altLang="zh-TW" sz="3200" dirty="0"/>
              <a:t>80.5% (7.7% point absolute improvement), </a:t>
            </a:r>
            <a:r>
              <a:rPr lang="en-US" altLang="zh-TW" sz="3200" dirty="0" err="1"/>
              <a:t>MultiNLI</a:t>
            </a:r>
            <a:r>
              <a:rPr lang="en-US" altLang="zh-TW" sz="3200" dirty="0"/>
              <a:t> accuracy to 86.7% (4.6% absolute improvement), </a:t>
            </a:r>
            <a:r>
              <a:rPr lang="en-US" altLang="zh-TW" sz="3200" dirty="0" err="1"/>
              <a:t>SQuAD</a:t>
            </a:r>
            <a:r>
              <a:rPr lang="en-US" altLang="zh-TW" sz="3200" dirty="0"/>
              <a:t> v1.1 question answering</a:t>
            </a:r>
          </a:p>
          <a:p>
            <a:r>
              <a:rPr lang="en-US" altLang="zh-TW" sz="3200" dirty="0"/>
              <a:t>Test F1 to 93.2 (1.5 point absolute improvement)</a:t>
            </a:r>
          </a:p>
          <a:p>
            <a:r>
              <a:rPr lang="en-US" altLang="zh-TW" sz="3200" dirty="0"/>
              <a:t>and </a:t>
            </a:r>
            <a:r>
              <a:rPr lang="en-US" altLang="zh-TW" sz="3200" dirty="0" err="1"/>
              <a:t>SQuAD</a:t>
            </a:r>
            <a:r>
              <a:rPr lang="en-US" altLang="zh-TW" sz="3200" dirty="0"/>
              <a:t> v2.0 Test F1 to 83.1.(5.1 point absolute improvement).</a:t>
            </a:r>
            <a:endParaRPr lang="zh-TW" altLang="en-US" sz="3200" dirty="0"/>
          </a:p>
          <a:p>
            <a:endParaRPr lang="en-US" altLang="zh-TW" sz="40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68B0859-24E2-4E27-BE64-3B1F6DA2F382}"/>
              </a:ext>
            </a:extLst>
          </p:cNvPr>
          <p:cNvSpPr/>
          <p:nvPr/>
        </p:nvSpPr>
        <p:spPr>
          <a:xfrm>
            <a:off x="7535917" y="5934670"/>
            <a:ext cx="4540854" cy="9233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TW" dirty="0">
                <a:latin typeface="NimbusRomNo9L-Medi"/>
              </a:rPr>
              <a:t>BERT: Pre-training of Deep Bidirectional Transformers for</a:t>
            </a:r>
          </a:p>
          <a:p>
            <a:pPr algn="ctr"/>
            <a:r>
              <a:rPr lang="en-US" altLang="zh-TW" dirty="0">
                <a:latin typeface="NimbusRomNo9L-Medi"/>
              </a:rPr>
              <a:t>Language Understanding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444016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5000"/>
            <a:lum/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/>
          <a:stretch>
            <a:fillRect t="-82000" b="-8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1F13A7D-B7AF-484A-BF4A-F1D955A35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800" dirty="0"/>
              <a:t>Context</a:t>
            </a:r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1591D06-714C-40B2-AD6A-D91A2C51ED43}"/>
              </a:ext>
            </a:extLst>
          </p:cNvPr>
          <p:cNvSpPr txBox="1"/>
          <p:nvPr/>
        </p:nvSpPr>
        <p:spPr>
          <a:xfrm>
            <a:off x="680937" y="1945532"/>
            <a:ext cx="1171210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3200" dirty="0"/>
              <a:t>1.Word Embedding</a:t>
            </a:r>
          </a:p>
          <a:p>
            <a:r>
              <a:rPr lang="en-US" altLang="zh-TW" sz="3200" dirty="0"/>
              <a:t>2.ELMO(</a:t>
            </a:r>
            <a:r>
              <a:rPr lang="en-US" altLang="zh-TW" sz="3200" b="1" dirty="0">
                <a:solidFill>
                  <a:srgbClr val="444444"/>
                </a:solidFill>
              </a:rPr>
              <a:t>Embeddings from Language Models)</a:t>
            </a:r>
            <a:endParaRPr lang="en-US" altLang="zh-TW" sz="3200" dirty="0"/>
          </a:p>
          <a:p>
            <a:r>
              <a:rPr lang="en-US" altLang="zh-TW" sz="3200" dirty="0"/>
              <a:t>3.BERT(Bidirectional Encoder Representations from Transformers)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1903425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397387BA-D89A-4170-BB55-EEDB60418E59}"/>
              </a:ext>
            </a:extLst>
          </p:cNvPr>
          <p:cNvSpPr/>
          <p:nvPr/>
        </p:nvSpPr>
        <p:spPr>
          <a:xfrm>
            <a:off x="7535917" y="5934670"/>
            <a:ext cx="4540854" cy="9233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TW" dirty="0">
                <a:latin typeface="NimbusRomNo9L-Medi"/>
              </a:rPr>
              <a:t>BERT: Pre-training of Deep Bidirectional Transformers for</a:t>
            </a:r>
          </a:p>
          <a:p>
            <a:pPr algn="ctr"/>
            <a:r>
              <a:rPr lang="en-US" altLang="zh-TW" dirty="0">
                <a:latin typeface="NimbusRomNo9L-Medi"/>
              </a:rPr>
              <a:t>Language Understanding</a:t>
            </a:r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0DCC2BCB-C0EE-47F1-8ADB-DC8F6B7AED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3496"/>
            <a:ext cx="8054501" cy="5766647"/>
          </a:xfrm>
          <a:prstGeom prst="rect">
            <a:avLst/>
          </a:prstGeom>
        </p:spPr>
      </p:pic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BF18303F-67FC-4264-A442-58250F739C31}"/>
              </a:ext>
            </a:extLst>
          </p:cNvPr>
          <p:cNvCxnSpPr/>
          <p:nvPr/>
        </p:nvCxnSpPr>
        <p:spPr>
          <a:xfrm flipV="1">
            <a:off x="3589290" y="805363"/>
            <a:ext cx="4620639" cy="23395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098B9054-7C66-46F6-876F-1D2FAB01DE31}"/>
              </a:ext>
            </a:extLst>
          </p:cNvPr>
          <p:cNvCxnSpPr/>
          <p:nvPr/>
        </p:nvCxnSpPr>
        <p:spPr>
          <a:xfrm flipV="1">
            <a:off x="6446420" y="1225685"/>
            <a:ext cx="2950500" cy="14883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9594CF8B-EC0E-4737-95E9-283A7B76A6ED}"/>
              </a:ext>
            </a:extLst>
          </p:cNvPr>
          <p:cNvSpPr txBox="1"/>
          <p:nvPr/>
        </p:nvSpPr>
        <p:spPr>
          <a:xfrm>
            <a:off x="8142159" y="493678"/>
            <a:ext cx="10116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ELMO</a:t>
            </a:r>
            <a:endParaRPr lang="zh-TW" altLang="en-US" sz="2400" dirty="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FB9F8200-45B7-4EE2-A6AD-8860BF01C3D3}"/>
              </a:ext>
            </a:extLst>
          </p:cNvPr>
          <p:cNvSpPr txBox="1"/>
          <p:nvPr/>
        </p:nvSpPr>
        <p:spPr>
          <a:xfrm>
            <a:off x="9300505" y="890897"/>
            <a:ext cx="10116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/>
              <a:t>BERT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2147285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397387BA-D89A-4170-BB55-EEDB60418E59}"/>
              </a:ext>
            </a:extLst>
          </p:cNvPr>
          <p:cNvSpPr/>
          <p:nvPr/>
        </p:nvSpPr>
        <p:spPr>
          <a:xfrm>
            <a:off x="7993117" y="5934670"/>
            <a:ext cx="4072446" cy="9233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TW" dirty="0">
                <a:latin typeface="NimbusRomNo9L-Medi"/>
              </a:rPr>
              <a:t>BERT: Pre-training of Deep Bidirectional Transformers for</a:t>
            </a:r>
          </a:p>
          <a:p>
            <a:pPr algn="ctr"/>
            <a:r>
              <a:rPr lang="en-US" altLang="zh-TW" dirty="0">
                <a:latin typeface="NimbusRomNo9L-Medi"/>
              </a:rPr>
              <a:t>Language Understanding</a:t>
            </a:r>
            <a:endParaRPr lang="zh-TW" altLang="en-US" dirty="0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59137F04-F3AC-4A3B-8A4F-3D4500CEAB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37" y="340469"/>
            <a:ext cx="7777480" cy="5662704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0488083E-1184-4C83-B0A7-6D5CD4896B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3483" y="890320"/>
            <a:ext cx="3564804" cy="3900451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9C4FF606-E6A5-43CF-BA95-269C620C3992}"/>
              </a:ext>
            </a:extLst>
          </p:cNvPr>
          <p:cNvSpPr txBox="1"/>
          <p:nvPr/>
        </p:nvSpPr>
        <p:spPr>
          <a:xfrm>
            <a:off x="797668" y="140414"/>
            <a:ext cx="22215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/>
              <a:t>(One Hot Encoding)</a:t>
            </a:r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80188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397387BA-D89A-4170-BB55-EEDB60418E59}"/>
              </a:ext>
            </a:extLst>
          </p:cNvPr>
          <p:cNvSpPr/>
          <p:nvPr/>
        </p:nvSpPr>
        <p:spPr>
          <a:xfrm>
            <a:off x="7535917" y="5934670"/>
            <a:ext cx="4540854" cy="9233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TW" dirty="0">
                <a:latin typeface="NimbusRomNo9L-Medi"/>
              </a:rPr>
              <a:t>BERT: Pre-training of Deep Bidirectional Transformers for</a:t>
            </a:r>
          </a:p>
          <a:p>
            <a:pPr algn="ctr"/>
            <a:r>
              <a:rPr lang="en-US" altLang="zh-TW" dirty="0">
                <a:latin typeface="NimbusRomNo9L-Medi"/>
              </a:rPr>
              <a:t>Language Understanding</a:t>
            </a:r>
            <a:endParaRPr lang="zh-TW" altLang="en-US" dirty="0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5AB3FC23-4473-431D-872A-B48DB7E36C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781" y="5582245"/>
            <a:ext cx="4133850" cy="704850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B37654D9-2496-4FF3-92D2-2CCC1FCEA5CC}"/>
              </a:ext>
            </a:extLst>
          </p:cNvPr>
          <p:cNvSpPr txBox="1"/>
          <p:nvPr/>
        </p:nvSpPr>
        <p:spPr>
          <a:xfrm>
            <a:off x="418289" y="680937"/>
            <a:ext cx="11773711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altLang="zh-TW" sz="4000" dirty="0"/>
              <a:t>ELMO(</a:t>
            </a:r>
            <a:r>
              <a:rPr lang="en-US" altLang="zh-TW" sz="4000" b="1" dirty="0">
                <a:solidFill>
                  <a:srgbClr val="444444"/>
                </a:solidFill>
                <a:latin typeface="Source Sans Pro" panose="020B0503030403020204" pitchFamily="34" charset="0"/>
              </a:rPr>
              <a:t>Embeddings from Language Models</a:t>
            </a:r>
            <a:r>
              <a:rPr lang="en-US" altLang="zh-TW" sz="4000" dirty="0"/>
              <a:t>)(1/3)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400" b="1" dirty="0"/>
              <a:t>Special</a:t>
            </a:r>
            <a:r>
              <a:rPr lang="en-US" altLang="zh-TW" sz="2400" dirty="0"/>
              <a:t>: </a:t>
            </a:r>
            <a:r>
              <a:rPr lang="en-US" altLang="zh-TW" sz="2400" i="1" dirty="0"/>
              <a:t>linearly combine word vectors in different layers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400" b="1" dirty="0"/>
              <a:t>Input</a:t>
            </a:r>
            <a:r>
              <a:rPr lang="en-US" altLang="zh-TW" sz="2400" dirty="0"/>
              <a:t>: </a:t>
            </a:r>
            <a:r>
              <a:rPr lang="en-US" altLang="zh-TW" sz="2400" i="1" dirty="0"/>
              <a:t>sentence</a:t>
            </a:r>
            <a:r>
              <a:rPr lang="en-US" altLang="zh-TW" sz="2400" dirty="0"/>
              <a:t>, but with unlimited word vectors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400" b="1" dirty="0"/>
              <a:t>Output</a:t>
            </a:r>
            <a:r>
              <a:rPr lang="en-US" altLang="zh-TW" sz="2400" dirty="0"/>
              <a:t>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400" b="1" dirty="0"/>
              <a:t>Model</a:t>
            </a:r>
            <a:r>
              <a:rPr lang="en-US" altLang="zh-TW" sz="2400" dirty="0"/>
              <a:t>:</a:t>
            </a:r>
          </a:p>
          <a:p>
            <a:r>
              <a:rPr lang="en-US" altLang="zh-TW" sz="2400" dirty="0"/>
              <a:t>	1.</a:t>
            </a:r>
            <a:r>
              <a:rPr lang="en-US" altLang="zh-TW" sz="2400" b="1" dirty="0"/>
              <a:t>first layer</a:t>
            </a:r>
            <a:r>
              <a:rPr lang="en-US" altLang="zh-TW" sz="2400" dirty="0"/>
              <a:t>: can use </a:t>
            </a:r>
            <a:r>
              <a:rPr lang="en-US" altLang="zh-TW" sz="2400" b="1" i="1" dirty="0"/>
              <a:t>word2vec</a:t>
            </a:r>
            <a:r>
              <a:rPr lang="en-US" altLang="zh-TW" sz="2400" dirty="0"/>
              <a:t> or </a:t>
            </a:r>
            <a:r>
              <a:rPr lang="en-US" altLang="zh-TW" sz="2400" b="1" i="1" dirty="0"/>
              <a:t>glove</a:t>
            </a:r>
            <a:r>
              <a:rPr lang="en-US" altLang="zh-TW" sz="2400" dirty="0"/>
              <a:t> or </a:t>
            </a:r>
            <a:r>
              <a:rPr lang="en-US" altLang="zh-TW" sz="2400" b="1" i="1" dirty="0"/>
              <a:t>token embedding</a:t>
            </a:r>
            <a:r>
              <a:rPr lang="en-US" altLang="zh-TW" sz="2400" dirty="0"/>
              <a:t>(general embedding)</a:t>
            </a:r>
          </a:p>
          <a:p>
            <a:r>
              <a:rPr lang="en-US" altLang="zh-TW" sz="2400" dirty="0"/>
              <a:t>	2.</a:t>
            </a:r>
            <a:r>
              <a:rPr lang="en-US" altLang="zh-TW" sz="2400" b="1" dirty="0"/>
              <a:t>two </a:t>
            </a:r>
            <a:r>
              <a:rPr lang="en-US" altLang="zh-TW" sz="2400" b="1" dirty="0" err="1"/>
              <a:t>biLSTM</a:t>
            </a:r>
            <a:r>
              <a:rPr lang="en-US" altLang="zh-TW" sz="2400" b="1" dirty="0"/>
              <a:t> layers</a:t>
            </a:r>
          </a:p>
          <a:p>
            <a:r>
              <a:rPr lang="en-US" altLang="zh-TW" sz="2400" dirty="0"/>
              <a:t>	3</a:t>
            </a:r>
            <a:r>
              <a:rPr lang="en-US" altLang="zh-TW" sz="2400" b="1" dirty="0"/>
              <a:t>.</a:t>
            </a:r>
            <a:r>
              <a:rPr lang="en-US" altLang="zh-TW" sz="2400" b="1" i="1" dirty="0"/>
              <a:t>(l+1) </a:t>
            </a:r>
            <a:r>
              <a:rPr lang="en-US" altLang="zh-TW" sz="2400" b="1" dirty="0"/>
              <a:t>word vectors:</a:t>
            </a:r>
            <a:r>
              <a:rPr lang="en-US" altLang="zh-TW" sz="2400" dirty="0"/>
              <a:t> l is number of </a:t>
            </a:r>
            <a:r>
              <a:rPr lang="en-US" altLang="zh-TW" sz="2400" dirty="0" err="1"/>
              <a:t>biLSTM</a:t>
            </a:r>
            <a:r>
              <a:rPr lang="en-US" altLang="zh-TW" sz="2400" dirty="0"/>
              <a:t> layers.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400" b="1" dirty="0"/>
              <a:t>Solve</a:t>
            </a:r>
            <a:r>
              <a:rPr lang="en-US" altLang="zh-TW" sz="2400" dirty="0"/>
              <a:t>: different meaning in one word problem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2400" b="1" dirty="0"/>
              <a:t>Common</a:t>
            </a:r>
            <a:r>
              <a:rPr lang="zh-TW" altLang="en-US" sz="2400" b="1" dirty="0"/>
              <a:t> </a:t>
            </a:r>
            <a:r>
              <a:rPr lang="en-US" altLang="zh-TW" sz="2400" b="1" dirty="0"/>
              <a:t>word</a:t>
            </a:r>
            <a:r>
              <a:rPr lang="zh-TW" altLang="en-US" sz="2400" b="1" dirty="0"/>
              <a:t> </a:t>
            </a:r>
            <a:r>
              <a:rPr lang="en-US" altLang="zh-TW" sz="2400" b="1" dirty="0"/>
              <a:t>embedding</a:t>
            </a:r>
            <a:r>
              <a:rPr lang="zh-TW" altLang="en-US" sz="2400" b="1" dirty="0"/>
              <a:t> </a:t>
            </a:r>
            <a:r>
              <a:rPr lang="en-US" altLang="zh-TW" sz="2400" b="1" dirty="0"/>
              <a:t>model</a:t>
            </a:r>
            <a:r>
              <a:rPr lang="en-US" altLang="zh-TW" sz="2400" dirty="0"/>
              <a:t>:</a:t>
            </a:r>
            <a:r>
              <a:rPr lang="zh-TW" altLang="en-US" sz="2400" dirty="0"/>
              <a:t> </a:t>
            </a:r>
            <a:r>
              <a:rPr lang="en-US" altLang="zh-TW" sz="2400" i="1" dirty="0"/>
              <a:t>word2vec</a:t>
            </a:r>
            <a:r>
              <a:rPr lang="en-US" altLang="zh-TW" sz="2400" dirty="0"/>
              <a:t>,</a:t>
            </a:r>
            <a:r>
              <a:rPr lang="zh-TW" altLang="en-US" sz="2400" dirty="0"/>
              <a:t> </a:t>
            </a:r>
            <a:r>
              <a:rPr lang="en-US" altLang="zh-TW" sz="2400" i="1" dirty="0"/>
              <a:t>CBOW</a:t>
            </a:r>
            <a:r>
              <a:rPr lang="en-US" altLang="zh-TW" sz="2400" dirty="0"/>
              <a:t>,</a:t>
            </a:r>
            <a:r>
              <a:rPr lang="zh-TW" altLang="en-US" sz="2400" dirty="0"/>
              <a:t> </a:t>
            </a:r>
            <a:r>
              <a:rPr lang="en-US" altLang="zh-TW" sz="2400" i="1" dirty="0"/>
              <a:t>skip</a:t>
            </a:r>
            <a:r>
              <a:rPr lang="zh-TW" altLang="en-US" sz="2400" i="1" dirty="0"/>
              <a:t> </a:t>
            </a:r>
            <a:r>
              <a:rPr lang="en-US" altLang="zh-TW" sz="2400" i="1" dirty="0"/>
              <a:t>grams</a:t>
            </a:r>
            <a:endParaRPr lang="zh-TW" altLang="en-US" sz="2400" i="1" dirty="0"/>
          </a:p>
        </p:txBody>
      </p:sp>
    </p:spTree>
    <p:extLst>
      <p:ext uri="{BB962C8B-B14F-4D97-AF65-F5344CB8AC3E}">
        <p14:creationId xmlns:p14="http://schemas.microsoft.com/office/powerpoint/2010/main" val="19770954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>
            <a:extLst>
              <a:ext uri="{FF2B5EF4-FFF2-40B4-BE49-F238E27FC236}">
                <a16:creationId xmlns:a16="http://schemas.microsoft.com/office/drawing/2014/main" id="{67B3D629-0300-4455-A502-284580C44C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112" y="947737"/>
            <a:ext cx="11153775" cy="4962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9067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397387BA-D89A-4170-BB55-EEDB60418E59}"/>
              </a:ext>
            </a:extLst>
          </p:cNvPr>
          <p:cNvSpPr/>
          <p:nvPr/>
        </p:nvSpPr>
        <p:spPr>
          <a:xfrm>
            <a:off x="7535917" y="5934670"/>
            <a:ext cx="4540854" cy="9233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TW" dirty="0">
                <a:latin typeface="NimbusRomNo9L-Medi"/>
              </a:rPr>
              <a:t>BERT: Pre-training of Deep Bidirectional Transformers for</a:t>
            </a:r>
          </a:p>
          <a:p>
            <a:pPr algn="ctr"/>
            <a:r>
              <a:rPr lang="en-US" altLang="zh-TW" dirty="0">
                <a:latin typeface="NimbusRomNo9L-Medi"/>
              </a:rPr>
              <a:t>Language Understanding</a:t>
            </a:r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B37654D9-2496-4FF3-92D2-2CCC1FCEA5CC}"/>
              </a:ext>
            </a:extLst>
          </p:cNvPr>
          <p:cNvSpPr txBox="1"/>
          <p:nvPr/>
        </p:nvSpPr>
        <p:spPr>
          <a:xfrm>
            <a:off x="103760" y="68094"/>
            <a:ext cx="111479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dirty="0"/>
              <a:t>ELMO(2/3)</a:t>
            </a:r>
            <a:endParaRPr lang="zh-TW" altLang="en-US" sz="2400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D898EF4C-0AC1-4DA0-947A-B06A53E312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598" y="680935"/>
            <a:ext cx="11616869" cy="5209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097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B37654D9-2496-4FF3-92D2-2CCC1FCEA5CC}"/>
              </a:ext>
            </a:extLst>
          </p:cNvPr>
          <p:cNvSpPr txBox="1"/>
          <p:nvPr/>
        </p:nvSpPr>
        <p:spPr>
          <a:xfrm>
            <a:off x="132944" y="0"/>
            <a:ext cx="111479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dirty="0"/>
              <a:t>ELMO(3/3)</a:t>
            </a:r>
            <a:endParaRPr lang="zh-TW" altLang="en-US" sz="2400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DDAFD86-61C6-4E00-BA31-7DFDA93274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212" y="614660"/>
            <a:ext cx="11077575" cy="5781675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397387BA-D89A-4170-BB55-EEDB60418E59}"/>
              </a:ext>
            </a:extLst>
          </p:cNvPr>
          <p:cNvSpPr/>
          <p:nvPr/>
        </p:nvSpPr>
        <p:spPr>
          <a:xfrm>
            <a:off x="7905568" y="6031148"/>
            <a:ext cx="4153487" cy="9233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TW" dirty="0">
                <a:latin typeface="NimbusRomNo9L-Medi"/>
              </a:rPr>
              <a:t>BERT: Pre-training of Deep Bidirectional Transformers for</a:t>
            </a:r>
          </a:p>
          <a:p>
            <a:pPr algn="ctr"/>
            <a:r>
              <a:rPr lang="en-US" altLang="zh-TW" dirty="0">
                <a:latin typeface="NimbusRomNo9L-Medi"/>
              </a:rPr>
              <a:t>Language Understanding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965789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397387BA-D89A-4170-BB55-EEDB60418E59}"/>
              </a:ext>
            </a:extLst>
          </p:cNvPr>
          <p:cNvSpPr/>
          <p:nvPr/>
        </p:nvSpPr>
        <p:spPr>
          <a:xfrm>
            <a:off x="7905568" y="6031148"/>
            <a:ext cx="4153487" cy="9233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TW" dirty="0">
                <a:latin typeface="NimbusRomNo9L-Medi"/>
              </a:rPr>
              <a:t>BERT: Pre-training of Deep Bidirectional Transformers for</a:t>
            </a:r>
          </a:p>
          <a:p>
            <a:pPr algn="ctr"/>
            <a:r>
              <a:rPr lang="en-US" altLang="zh-TW" dirty="0">
                <a:latin typeface="NimbusRomNo9L-Medi"/>
              </a:rPr>
              <a:t>Language Understanding</a:t>
            </a:r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69EA3F3-53E8-469A-AA23-0C2E50A08F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3587" y="757237"/>
            <a:ext cx="8124825" cy="5343525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B37654D9-2496-4FF3-92D2-2CCC1FCEA5CC}"/>
              </a:ext>
            </a:extLst>
          </p:cNvPr>
          <p:cNvSpPr txBox="1"/>
          <p:nvPr/>
        </p:nvSpPr>
        <p:spPr>
          <a:xfrm>
            <a:off x="132943" y="0"/>
            <a:ext cx="1245464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dirty="0"/>
              <a:t>BERT(</a:t>
            </a:r>
            <a:r>
              <a:rPr lang="en-US" altLang="zh-TW" sz="4000" dirty="0">
                <a:latin typeface="NimbusRomNo9L-Medi"/>
              </a:rPr>
              <a:t>B</a:t>
            </a:r>
            <a:r>
              <a:rPr lang="en-US" altLang="zh-TW" sz="4000" dirty="0">
                <a:latin typeface="NimbusRomNo9L-Regu"/>
              </a:rPr>
              <a:t>idirectional </a:t>
            </a:r>
            <a:r>
              <a:rPr lang="en-US" altLang="zh-TW" sz="4000" dirty="0">
                <a:latin typeface="NimbusRomNo9L-Medi"/>
              </a:rPr>
              <a:t>E</a:t>
            </a:r>
            <a:r>
              <a:rPr lang="en-US" altLang="zh-TW" sz="4000" dirty="0">
                <a:latin typeface="NimbusRomNo9L-Regu"/>
              </a:rPr>
              <a:t>ncoder </a:t>
            </a:r>
            <a:r>
              <a:rPr lang="en-US" altLang="zh-TW" sz="4000" dirty="0">
                <a:latin typeface="NimbusRomNo9L-Medi"/>
              </a:rPr>
              <a:t>R</a:t>
            </a:r>
            <a:r>
              <a:rPr lang="en-US" altLang="zh-TW" sz="4000" dirty="0">
                <a:latin typeface="NimbusRomNo9L-Regu"/>
              </a:rPr>
              <a:t>epresentations from</a:t>
            </a:r>
          </a:p>
          <a:p>
            <a:r>
              <a:rPr lang="en-US" altLang="zh-TW" sz="4000" dirty="0">
                <a:latin typeface="NimbusRomNo9L-Medi"/>
              </a:rPr>
              <a:t>T</a:t>
            </a:r>
            <a:r>
              <a:rPr lang="en-US" altLang="zh-TW" sz="4000" dirty="0">
                <a:latin typeface="NimbusRomNo9L-Regu"/>
              </a:rPr>
              <a:t>ransformers</a:t>
            </a:r>
            <a:r>
              <a:rPr lang="en-US" altLang="zh-TW" sz="4000" dirty="0"/>
              <a:t>)(1/6)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9700271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B37654D9-2496-4FF3-92D2-2CCC1FCEA5CC}"/>
              </a:ext>
            </a:extLst>
          </p:cNvPr>
          <p:cNvSpPr txBox="1"/>
          <p:nvPr/>
        </p:nvSpPr>
        <p:spPr>
          <a:xfrm>
            <a:off x="132944" y="0"/>
            <a:ext cx="111479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dirty="0"/>
              <a:t>BERT(2/6)</a:t>
            </a:r>
            <a:endParaRPr lang="zh-TW" altLang="en-US" sz="24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97387BA-D89A-4170-BB55-EEDB60418E59}"/>
              </a:ext>
            </a:extLst>
          </p:cNvPr>
          <p:cNvSpPr/>
          <p:nvPr/>
        </p:nvSpPr>
        <p:spPr>
          <a:xfrm>
            <a:off x="7905568" y="6031148"/>
            <a:ext cx="4153487" cy="9233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TW" dirty="0">
                <a:latin typeface="NimbusRomNo9L-Medi"/>
              </a:rPr>
              <a:t>BERT: Pre-training of Deep Bidirectional Transformers for</a:t>
            </a:r>
          </a:p>
          <a:p>
            <a:pPr algn="ctr"/>
            <a:r>
              <a:rPr lang="en-US" altLang="zh-TW" dirty="0">
                <a:latin typeface="NimbusRomNo9L-Medi"/>
              </a:rPr>
              <a:t>Language Understanding</a:t>
            </a:r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DDAD3FF8-A229-488B-82D0-7A596B211D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262" y="652462"/>
            <a:ext cx="8753475" cy="555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545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B37654D9-2496-4FF3-92D2-2CCC1FCEA5CC}"/>
              </a:ext>
            </a:extLst>
          </p:cNvPr>
          <p:cNvSpPr txBox="1"/>
          <p:nvPr/>
        </p:nvSpPr>
        <p:spPr>
          <a:xfrm>
            <a:off x="132944" y="0"/>
            <a:ext cx="111479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dirty="0"/>
              <a:t>BERT(3/6)</a:t>
            </a:r>
            <a:endParaRPr lang="zh-TW" altLang="en-US" sz="24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97387BA-D89A-4170-BB55-EEDB60418E59}"/>
              </a:ext>
            </a:extLst>
          </p:cNvPr>
          <p:cNvSpPr/>
          <p:nvPr/>
        </p:nvSpPr>
        <p:spPr>
          <a:xfrm>
            <a:off x="7905568" y="6031148"/>
            <a:ext cx="4153487" cy="9233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TW" dirty="0">
                <a:latin typeface="NimbusRomNo9L-Medi"/>
              </a:rPr>
              <a:t>BERT: Pre-training of Deep Bidirectional Transformers for</a:t>
            </a:r>
          </a:p>
          <a:p>
            <a:pPr algn="ctr"/>
            <a:r>
              <a:rPr lang="en-US" altLang="zh-TW" dirty="0">
                <a:latin typeface="NimbusRomNo9L-Medi"/>
              </a:rPr>
              <a:t>Language Understanding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416F222-25F9-432B-9748-522F537DC5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509587"/>
            <a:ext cx="8839200" cy="583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1189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B37654D9-2496-4FF3-92D2-2CCC1FCEA5CC}"/>
              </a:ext>
            </a:extLst>
          </p:cNvPr>
          <p:cNvSpPr txBox="1"/>
          <p:nvPr/>
        </p:nvSpPr>
        <p:spPr>
          <a:xfrm>
            <a:off x="132944" y="0"/>
            <a:ext cx="111479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dirty="0"/>
              <a:t>BERT(4/6)</a:t>
            </a:r>
            <a:endParaRPr lang="zh-TW" altLang="en-US" sz="24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97387BA-D89A-4170-BB55-EEDB60418E59}"/>
              </a:ext>
            </a:extLst>
          </p:cNvPr>
          <p:cNvSpPr/>
          <p:nvPr/>
        </p:nvSpPr>
        <p:spPr>
          <a:xfrm>
            <a:off x="7905568" y="6031148"/>
            <a:ext cx="4153487" cy="9233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TW" dirty="0">
                <a:latin typeface="NimbusRomNo9L-Medi"/>
              </a:rPr>
              <a:t>BERT: Pre-training of Deep Bidirectional Transformers for</a:t>
            </a:r>
          </a:p>
          <a:p>
            <a:pPr algn="ctr"/>
            <a:r>
              <a:rPr lang="en-US" altLang="zh-TW" dirty="0">
                <a:latin typeface="NimbusRomNo9L-Medi"/>
              </a:rPr>
              <a:t>Language Understanding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757F092-91AD-4D2F-9CBB-2C2D4A9F1D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075" y="519112"/>
            <a:ext cx="8705850" cy="5819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3104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B37654D9-2496-4FF3-92D2-2CCC1FCEA5CC}"/>
              </a:ext>
            </a:extLst>
          </p:cNvPr>
          <p:cNvSpPr txBox="1"/>
          <p:nvPr/>
        </p:nvSpPr>
        <p:spPr>
          <a:xfrm>
            <a:off x="132944" y="0"/>
            <a:ext cx="111479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dirty="0"/>
              <a:t>BERT(5/6)</a:t>
            </a:r>
            <a:endParaRPr lang="zh-TW" altLang="en-US" sz="24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97387BA-D89A-4170-BB55-EEDB60418E59}"/>
              </a:ext>
            </a:extLst>
          </p:cNvPr>
          <p:cNvSpPr/>
          <p:nvPr/>
        </p:nvSpPr>
        <p:spPr>
          <a:xfrm>
            <a:off x="7905568" y="6031148"/>
            <a:ext cx="4153487" cy="9233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TW" dirty="0">
                <a:latin typeface="NimbusRomNo9L-Medi"/>
              </a:rPr>
              <a:t>BERT: Pre-training of Deep Bidirectional Transformers for</a:t>
            </a:r>
          </a:p>
          <a:p>
            <a:pPr algn="ctr"/>
            <a:r>
              <a:rPr lang="en-US" altLang="zh-TW" dirty="0">
                <a:latin typeface="NimbusRomNo9L-Medi"/>
              </a:rPr>
              <a:t>Language Understanding</a:t>
            </a:r>
            <a:endParaRPr lang="zh-TW" altLang="en-US" dirty="0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D1F9913F-154E-4AC8-BC88-6029FEF7AB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462" y="485775"/>
            <a:ext cx="8601075" cy="588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7145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B37654D9-2496-4FF3-92D2-2CCC1FCEA5CC}"/>
              </a:ext>
            </a:extLst>
          </p:cNvPr>
          <p:cNvSpPr txBox="1"/>
          <p:nvPr/>
        </p:nvSpPr>
        <p:spPr>
          <a:xfrm>
            <a:off x="132944" y="0"/>
            <a:ext cx="111479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dirty="0"/>
              <a:t>BERT(6/6)</a:t>
            </a:r>
            <a:endParaRPr lang="zh-TW" altLang="en-US" sz="24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97387BA-D89A-4170-BB55-EEDB60418E59}"/>
              </a:ext>
            </a:extLst>
          </p:cNvPr>
          <p:cNvSpPr/>
          <p:nvPr/>
        </p:nvSpPr>
        <p:spPr>
          <a:xfrm>
            <a:off x="7905568" y="6031148"/>
            <a:ext cx="4153487" cy="9233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TW" dirty="0">
                <a:latin typeface="NimbusRomNo9L-Medi"/>
              </a:rPr>
              <a:t>BERT: Pre-training of Deep Bidirectional Transformers for</a:t>
            </a:r>
          </a:p>
          <a:p>
            <a:pPr algn="ctr"/>
            <a:r>
              <a:rPr lang="en-US" altLang="zh-TW" dirty="0">
                <a:latin typeface="NimbusRomNo9L-Medi"/>
              </a:rPr>
              <a:t>Language Understanding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EDD9634-AA94-4326-985A-219A4ECE82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4987" y="542925"/>
            <a:ext cx="8582025" cy="577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5164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B37654D9-2496-4FF3-92D2-2CCC1FCEA5CC}"/>
              </a:ext>
            </a:extLst>
          </p:cNvPr>
          <p:cNvSpPr txBox="1"/>
          <p:nvPr/>
        </p:nvSpPr>
        <p:spPr>
          <a:xfrm>
            <a:off x="132944" y="0"/>
            <a:ext cx="111479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dirty="0"/>
              <a:t>BERT(6/6)</a:t>
            </a:r>
            <a:endParaRPr lang="zh-TW" altLang="en-US" sz="24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97387BA-D89A-4170-BB55-EEDB60418E59}"/>
              </a:ext>
            </a:extLst>
          </p:cNvPr>
          <p:cNvSpPr/>
          <p:nvPr/>
        </p:nvSpPr>
        <p:spPr>
          <a:xfrm>
            <a:off x="7905568" y="6031148"/>
            <a:ext cx="4153487" cy="9233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TW" dirty="0">
                <a:latin typeface="NimbusRomNo9L-Medi"/>
              </a:rPr>
              <a:t>BERT: Pre-training of Deep Bidirectional Transformers for</a:t>
            </a:r>
          </a:p>
          <a:p>
            <a:pPr algn="ctr"/>
            <a:r>
              <a:rPr lang="en-US" altLang="zh-TW" dirty="0">
                <a:latin typeface="NimbusRomNo9L-Medi"/>
              </a:rPr>
              <a:t>Language Understanding</a:t>
            </a:r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855486B-C9D9-4CA2-8788-1F609EDC61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9669" y="577788"/>
            <a:ext cx="8934450" cy="591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0432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B37654D9-2496-4FF3-92D2-2CCC1FCEA5CC}"/>
              </a:ext>
            </a:extLst>
          </p:cNvPr>
          <p:cNvSpPr txBox="1"/>
          <p:nvPr/>
        </p:nvSpPr>
        <p:spPr>
          <a:xfrm>
            <a:off x="132944" y="0"/>
            <a:ext cx="111479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dirty="0"/>
              <a:t>BERT(1/2)</a:t>
            </a:r>
            <a:endParaRPr lang="zh-TW" altLang="en-US" sz="24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97387BA-D89A-4170-BB55-EEDB60418E59}"/>
              </a:ext>
            </a:extLst>
          </p:cNvPr>
          <p:cNvSpPr/>
          <p:nvPr/>
        </p:nvSpPr>
        <p:spPr>
          <a:xfrm>
            <a:off x="7905568" y="6031148"/>
            <a:ext cx="4153487" cy="9233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TW" dirty="0">
                <a:latin typeface="NimbusRomNo9L-Medi"/>
              </a:rPr>
              <a:t>BERT: Pre-training of Deep Bidirectional Transformers for</a:t>
            </a:r>
          </a:p>
          <a:p>
            <a:pPr algn="ctr"/>
            <a:r>
              <a:rPr lang="en-US" altLang="zh-TW" dirty="0">
                <a:latin typeface="NimbusRomNo9L-Medi"/>
              </a:rPr>
              <a:t>Language Understanding</a:t>
            </a:r>
            <a:endParaRPr lang="zh-TW" altLang="en-US" dirty="0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FD4D03FA-DE53-495F-9642-0EE456C9B1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632" y="1077180"/>
            <a:ext cx="11223011" cy="4808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0939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B37654D9-2496-4FF3-92D2-2CCC1FCEA5CC}"/>
              </a:ext>
            </a:extLst>
          </p:cNvPr>
          <p:cNvSpPr txBox="1"/>
          <p:nvPr/>
        </p:nvSpPr>
        <p:spPr>
          <a:xfrm>
            <a:off x="132944" y="0"/>
            <a:ext cx="111479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dirty="0"/>
              <a:t>BERT(2/2)</a:t>
            </a:r>
            <a:endParaRPr lang="zh-TW" altLang="en-US" sz="24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97387BA-D89A-4170-BB55-EEDB60418E59}"/>
              </a:ext>
            </a:extLst>
          </p:cNvPr>
          <p:cNvSpPr/>
          <p:nvPr/>
        </p:nvSpPr>
        <p:spPr>
          <a:xfrm>
            <a:off x="7905568" y="6031148"/>
            <a:ext cx="4153487" cy="9233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TW" dirty="0">
                <a:latin typeface="NimbusRomNo9L-Medi"/>
              </a:rPr>
              <a:t>BERT: Pre-training of Deep Bidirectional Transformers for</a:t>
            </a:r>
          </a:p>
          <a:p>
            <a:pPr algn="ctr"/>
            <a:r>
              <a:rPr lang="en-US" altLang="zh-TW" dirty="0">
                <a:latin typeface="NimbusRomNo9L-Medi"/>
              </a:rPr>
              <a:t>Language Understanding</a:t>
            </a:r>
            <a:endParaRPr lang="zh-TW" altLang="en-US" dirty="0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19D985D9-7195-4592-812C-694E49CC6A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681" y="1727345"/>
            <a:ext cx="11565974" cy="3817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2191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397387BA-D89A-4170-BB55-EEDB60418E59}"/>
              </a:ext>
            </a:extLst>
          </p:cNvPr>
          <p:cNvSpPr/>
          <p:nvPr/>
        </p:nvSpPr>
        <p:spPr>
          <a:xfrm>
            <a:off x="7535917" y="5934670"/>
            <a:ext cx="4540854" cy="9233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TW" dirty="0">
                <a:latin typeface="NimbusRomNo9L-Medi"/>
              </a:rPr>
              <a:t>BERT: Pre-training of Deep Bidirectional Transformers for</a:t>
            </a:r>
          </a:p>
          <a:p>
            <a:pPr algn="ctr"/>
            <a:r>
              <a:rPr lang="en-US" altLang="zh-TW" dirty="0">
                <a:latin typeface="NimbusRomNo9L-Medi"/>
              </a:rPr>
              <a:t>Language Understanding</a:t>
            </a:r>
            <a:endParaRPr lang="zh-TW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42FD3D6-450C-44D2-A4D5-B0D702F840D8}"/>
              </a:ext>
            </a:extLst>
          </p:cNvPr>
          <p:cNvSpPr/>
          <p:nvPr/>
        </p:nvSpPr>
        <p:spPr>
          <a:xfrm>
            <a:off x="483442" y="304091"/>
            <a:ext cx="502368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3600" dirty="0"/>
              <a:t>Experimental Results</a:t>
            </a:r>
            <a:r>
              <a:rPr lang="en-US" altLang="zh-TW" sz="3600" dirty="0"/>
              <a:t>(1/3)</a:t>
            </a:r>
            <a:endParaRPr lang="zh-TW" altLang="en-US" sz="3600" dirty="0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DD1DBF84-BF2D-4A02-9730-3A53741C5C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94" y="1264596"/>
            <a:ext cx="11826869" cy="4387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5610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397387BA-D89A-4170-BB55-EEDB60418E59}"/>
              </a:ext>
            </a:extLst>
          </p:cNvPr>
          <p:cNvSpPr/>
          <p:nvPr/>
        </p:nvSpPr>
        <p:spPr>
          <a:xfrm>
            <a:off x="7535917" y="5934670"/>
            <a:ext cx="4540854" cy="9233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TW" dirty="0">
                <a:latin typeface="NimbusRomNo9L-Medi"/>
              </a:rPr>
              <a:t>BERT: Pre-training of Deep Bidirectional Transformers for</a:t>
            </a:r>
          </a:p>
          <a:p>
            <a:pPr algn="ctr"/>
            <a:r>
              <a:rPr lang="en-US" altLang="zh-TW" dirty="0">
                <a:latin typeface="NimbusRomNo9L-Medi"/>
              </a:rPr>
              <a:t>Language Understanding</a:t>
            </a:r>
            <a:endParaRPr lang="zh-TW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42FD3D6-450C-44D2-A4D5-B0D702F840D8}"/>
              </a:ext>
            </a:extLst>
          </p:cNvPr>
          <p:cNvSpPr/>
          <p:nvPr/>
        </p:nvSpPr>
        <p:spPr>
          <a:xfrm>
            <a:off x="483442" y="304091"/>
            <a:ext cx="502368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3600" dirty="0"/>
              <a:t>Experimental Results</a:t>
            </a:r>
            <a:r>
              <a:rPr lang="en-US" altLang="zh-TW" sz="3600" dirty="0"/>
              <a:t>(2/3)</a:t>
            </a:r>
            <a:endParaRPr lang="zh-TW" altLang="en-US" sz="3600" dirty="0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4EBF0756-DAAD-4F33-813C-4F4DC50231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311" y="871132"/>
            <a:ext cx="5624816" cy="577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8480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397387BA-D89A-4170-BB55-EEDB60418E59}"/>
              </a:ext>
            </a:extLst>
          </p:cNvPr>
          <p:cNvSpPr/>
          <p:nvPr/>
        </p:nvSpPr>
        <p:spPr>
          <a:xfrm>
            <a:off x="7535917" y="5934670"/>
            <a:ext cx="4540854" cy="9233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TW" dirty="0">
                <a:latin typeface="NimbusRomNo9L-Medi"/>
              </a:rPr>
              <a:t>BERT: Pre-training of Deep Bidirectional Transformers for</a:t>
            </a:r>
          </a:p>
          <a:p>
            <a:pPr algn="ctr"/>
            <a:r>
              <a:rPr lang="en-US" altLang="zh-TW" dirty="0">
                <a:latin typeface="NimbusRomNo9L-Medi"/>
              </a:rPr>
              <a:t>Language Understanding</a:t>
            </a:r>
            <a:endParaRPr lang="zh-TW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42FD3D6-450C-44D2-A4D5-B0D702F840D8}"/>
              </a:ext>
            </a:extLst>
          </p:cNvPr>
          <p:cNvSpPr/>
          <p:nvPr/>
        </p:nvSpPr>
        <p:spPr>
          <a:xfrm>
            <a:off x="483442" y="304091"/>
            <a:ext cx="502368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3600" dirty="0"/>
              <a:t>Experimental Results</a:t>
            </a:r>
            <a:r>
              <a:rPr lang="en-US" altLang="zh-TW" sz="3600" dirty="0"/>
              <a:t>(3/3)</a:t>
            </a:r>
            <a:endParaRPr lang="zh-TW" altLang="en-US" sz="3600" dirty="0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76F72667-8B60-4F4F-87FA-82A50BE277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753" y="907274"/>
            <a:ext cx="10703668" cy="5489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2484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76B49376-83BE-4341-9D7B-B9F4A523581A}"/>
              </a:ext>
            </a:extLst>
          </p:cNvPr>
          <p:cNvSpPr txBox="1"/>
          <p:nvPr/>
        </p:nvSpPr>
        <p:spPr>
          <a:xfrm>
            <a:off x="3520967" y="2828835"/>
            <a:ext cx="435927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7200" dirty="0"/>
              <a:t>Thank you!</a:t>
            </a:r>
            <a:endParaRPr lang="zh-TW" altLang="en-US" sz="7200" dirty="0"/>
          </a:p>
        </p:txBody>
      </p:sp>
    </p:spTree>
    <p:extLst>
      <p:ext uri="{BB962C8B-B14F-4D97-AF65-F5344CB8AC3E}">
        <p14:creationId xmlns:p14="http://schemas.microsoft.com/office/powerpoint/2010/main" val="30888235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4592</TotalTime>
  <Words>553</Words>
  <Application>Microsoft Office PowerPoint</Application>
  <PresentationFormat>寬螢幕</PresentationFormat>
  <Paragraphs>98</Paragraphs>
  <Slides>24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24</vt:i4>
      </vt:variant>
    </vt:vector>
  </HeadingPairs>
  <TitlesOfParts>
    <vt:vector size="32" baseType="lpstr">
      <vt:lpstr>NimbusRomNo9L-Medi</vt:lpstr>
      <vt:lpstr>NimbusRomNo9L-Regu</vt:lpstr>
      <vt:lpstr>Arial</vt:lpstr>
      <vt:lpstr>Calibri</vt:lpstr>
      <vt:lpstr>Calibri Light</vt:lpstr>
      <vt:lpstr>Source Sans Pro</vt:lpstr>
      <vt:lpstr>Times New Roman</vt:lpstr>
      <vt:lpstr>Office 佈景主題</vt:lpstr>
      <vt:lpstr>PowerPoint 簡報</vt:lpstr>
      <vt:lpstr>PowerPoint 簡報</vt:lpstr>
      <vt:lpstr>PowerPoint 簡報</vt:lpstr>
      <vt:lpstr>PowerPoint 簡報</vt:lpstr>
      <vt:lpstr>Context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佳琳 陳</dc:creator>
  <cp:lastModifiedBy>YanLee</cp:lastModifiedBy>
  <cp:revision>322</cp:revision>
  <dcterms:created xsi:type="dcterms:W3CDTF">2019-02-09T07:24:26Z</dcterms:created>
  <dcterms:modified xsi:type="dcterms:W3CDTF">2019-08-06T06:21:04Z</dcterms:modified>
</cp:coreProperties>
</file>