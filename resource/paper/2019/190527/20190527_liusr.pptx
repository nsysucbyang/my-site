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
  </p:notesMasterIdLst>
  <p:sldIdLst>
    <p:sldId id="256" r:id="rId2"/>
    <p:sldId id="276" r:id="rId3"/>
    <p:sldId id="277" r:id="rId4"/>
    <p:sldId id="278" r:id="rId5"/>
    <p:sldId id="279" r:id="rId6"/>
    <p:sldId id="280" r:id="rId7"/>
    <p:sldId id="281" r:id="rId8"/>
    <p:sldId id="285" r:id="rId9"/>
    <p:sldId id="282" r:id="rId10"/>
    <p:sldId id="283" r:id="rId11"/>
    <p:sldId id="284" r:id="rId12"/>
    <p:sldId id="286"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9933FF"/>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淺色樣式 3 - 輔色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中等深淺樣式 1 - 輔色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4B1156A-380E-4F78-BDF5-A606A8083BF9}" styleName="中等深淺樣式 4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D083AE6-46FA-4A59-8FB0-9F97EB10719F}" styleName="淺色樣式 3 - 輔色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75DCB02-9BB8-47FD-8907-85C794F793BA}" styleName="佈景主題樣式 1 - 輔色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佈景主題樣式 2 - 輔色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中等深淺樣式 1 - 輔色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69C7853C-536D-4A76-A0AE-DD22124D55A5}" styleName="佈景主題樣式 1 - 輔色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DA37D80-6434-44D0-A028-1B22A696006F}" styleName="淺色樣式 3 - 輔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616DA210-FB5B-4158-B5E0-FEB733F419BA}" styleName="淺色樣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334" autoAdjust="0"/>
    <p:restoredTop sz="78307" autoAdjust="0"/>
  </p:normalViewPr>
  <p:slideViewPr>
    <p:cSldViewPr snapToGrid="0">
      <p:cViewPr varScale="1">
        <p:scale>
          <a:sx n="115" d="100"/>
          <a:sy n="115" d="100"/>
        </p:scale>
        <p:origin x="870"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1CE27-751F-48D9-A3E6-37B85B410D4A}" type="datetimeFigureOut">
              <a:rPr lang="zh-TW" altLang="en-US" smtClean="0"/>
              <a:t>2019/5/22</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22EB79-9C15-4368-B725-BB8D0D1C7B15}" type="slidenum">
              <a:rPr lang="zh-TW" altLang="en-US" smtClean="0"/>
              <a:t>‹#›</a:t>
            </a:fld>
            <a:endParaRPr lang="zh-TW" altLang="en-US"/>
          </a:p>
        </p:txBody>
      </p:sp>
    </p:spTree>
    <p:extLst>
      <p:ext uri="{BB962C8B-B14F-4D97-AF65-F5344CB8AC3E}">
        <p14:creationId xmlns:p14="http://schemas.microsoft.com/office/powerpoint/2010/main" val="3552302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4C22EB79-9C15-4368-B725-BB8D0D1C7B15}" type="slidenum">
              <a:rPr lang="zh-TW" altLang="en-US" smtClean="0"/>
              <a:t>1</a:t>
            </a:fld>
            <a:endParaRPr lang="zh-TW" altLang="en-US"/>
          </a:p>
        </p:txBody>
      </p:sp>
    </p:spTree>
    <p:extLst>
      <p:ext uri="{BB962C8B-B14F-4D97-AF65-F5344CB8AC3E}">
        <p14:creationId xmlns:p14="http://schemas.microsoft.com/office/powerpoint/2010/main" val="14984780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FA826C-B827-48E7-923C-08C27A6D0205}"/>
              </a:ext>
            </a:extLst>
          </p:cNvPr>
          <p:cNvSpPr>
            <a:spLocks noGrp="1"/>
          </p:cNvSpPr>
          <p:nvPr>
            <p:ph type="ctrTitle"/>
          </p:nvPr>
        </p:nvSpPr>
        <p:spPr>
          <a:xfrm>
            <a:off x="1524000" y="1122363"/>
            <a:ext cx="9144000" cy="2387600"/>
          </a:xfrm>
        </p:spPr>
        <p:txBody>
          <a:bodyPr anchor="b"/>
          <a:lstStyle>
            <a:lvl1pPr algn="ctr">
              <a:defRPr sz="6000" b="1"/>
            </a:lvl1pPr>
          </a:lstStyle>
          <a:p>
            <a:r>
              <a:rPr lang="zh-TW" altLang="en-US" dirty="0"/>
              <a:t>按一下以編輯母片標題樣式</a:t>
            </a:r>
          </a:p>
        </p:txBody>
      </p:sp>
      <p:sp>
        <p:nvSpPr>
          <p:cNvPr id="3" name="副標題 2">
            <a:extLst>
              <a:ext uri="{FF2B5EF4-FFF2-40B4-BE49-F238E27FC236}">
                <a16:creationId xmlns:a16="http://schemas.microsoft.com/office/drawing/2014/main" id="{5EF732A0-EAAC-46F4-A2BD-7894166D673F}"/>
              </a:ext>
            </a:extLst>
          </p:cNvPr>
          <p:cNvSpPr>
            <a:spLocks noGrp="1"/>
          </p:cNvSpPr>
          <p:nvPr>
            <p:ph type="subTitle" idx="1"/>
          </p:nvPr>
        </p:nvSpPr>
        <p:spPr>
          <a:xfrm>
            <a:off x="1524000" y="3602038"/>
            <a:ext cx="9144000" cy="1655762"/>
          </a:xfrm>
        </p:spPr>
        <p:txBody>
          <a:bodyPr/>
          <a:lstStyle>
            <a:lvl1pPr marL="0" indent="0" algn="ctr">
              <a:buNone/>
              <a:defRPr sz="2400">
                <a:solidFill>
                  <a:schemeClr val="bg1">
                    <a:lumMod val="65000"/>
                  </a:schemeClr>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zh-TW" altLang="en-US" dirty="0"/>
              <a:t>按一下以編輯母片子標題樣式</a:t>
            </a:r>
          </a:p>
        </p:txBody>
      </p:sp>
      <p:sp>
        <p:nvSpPr>
          <p:cNvPr id="4" name="日期版面配置區 3">
            <a:extLst>
              <a:ext uri="{FF2B5EF4-FFF2-40B4-BE49-F238E27FC236}">
                <a16:creationId xmlns:a16="http://schemas.microsoft.com/office/drawing/2014/main" id="{50E00B3F-FCF3-43A8-BA3C-83E3D27FDB5E}"/>
              </a:ext>
            </a:extLst>
          </p:cNvPr>
          <p:cNvSpPr>
            <a:spLocks noGrp="1"/>
          </p:cNvSpPr>
          <p:nvPr>
            <p:ph type="dt" sz="half" idx="10"/>
          </p:nvPr>
        </p:nvSpPr>
        <p:spPr/>
        <p:txBody>
          <a:bodyPr/>
          <a:lstStyle/>
          <a:p>
            <a:fld id="{731E7FB2-4BFD-48B2-82F4-5E8310C2078C}" type="datetime1">
              <a:rPr lang="zh-TW" altLang="en-US" smtClean="0"/>
              <a:t>2019/5/22</a:t>
            </a:fld>
            <a:endParaRPr lang="zh-TW" altLang="en-US"/>
          </a:p>
        </p:txBody>
      </p:sp>
      <p:sp>
        <p:nvSpPr>
          <p:cNvPr id="5" name="頁尾版面配置區 4">
            <a:extLst>
              <a:ext uri="{FF2B5EF4-FFF2-40B4-BE49-F238E27FC236}">
                <a16:creationId xmlns:a16="http://schemas.microsoft.com/office/drawing/2014/main" id="{B7DEB773-BC7F-471F-AAA2-C6E648DF122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B0BCD83-5310-40C3-8583-4562F7663092}"/>
              </a:ext>
            </a:extLst>
          </p:cNvPr>
          <p:cNvSpPr>
            <a:spLocks noGrp="1"/>
          </p:cNvSpPr>
          <p:nvPr>
            <p:ph type="sldNum" sz="quarter" idx="12"/>
          </p:nvPr>
        </p:nvSpPr>
        <p:spPr/>
        <p:txBody>
          <a:bodyPr/>
          <a:lstStyle>
            <a:lvl1pPr>
              <a:defRPr sz="1600"/>
            </a:lvl1pPr>
          </a:lstStyle>
          <a:p>
            <a:fld id="{8DCCD063-7F18-423D-A692-CC9D343FD360}" type="slidenum">
              <a:rPr lang="zh-TW" altLang="en-US" smtClean="0"/>
              <a:pPr/>
              <a:t>‹#›</a:t>
            </a:fld>
            <a:endParaRPr lang="zh-TW" altLang="en-US" dirty="0"/>
          </a:p>
        </p:txBody>
      </p:sp>
    </p:spTree>
    <p:extLst>
      <p:ext uri="{BB962C8B-B14F-4D97-AF65-F5344CB8AC3E}">
        <p14:creationId xmlns:p14="http://schemas.microsoft.com/office/powerpoint/2010/main" val="2545978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8FC2AA-8240-4810-8FED-A3DD62B5345C}"/>
              </a:ext>
            </a:extLst>
          </p:cNvPr>
          <p:cNvSpPr>
            <a:spLocks noGrp="1"/>
          </p:cNvSpPr>
          <p:nvPr>
            <p:ph type="title"/>
          </p:nvPr>
        </p:nvSpPr>
        <p:spPr/>
        <p:txBody>
          <a:bodyPr/>
          <a:lstStyle>
            <a:lvl1pPr>
              <a:defRPr b="1"/>
            </a:lvl1pPr>
          </a:lstStyle>
          <a:p>
            <a:r>
              <a:rPr lang="zh-TW" altLang="en-US" dirty="0"/>
              <a:t>按一下以編輯母片標題樣式</a:t>
            </a:r>
          </a:p>
        </p:txBody>
      </p:sp>
      <p:sp>
        <p:nvSpPr>
          <p:cNvPr id="3" name="內容版面配置區 2">
            <a:extLst>
              <a:ext uri="{FF2B5EF4-FFF2-40B4-BE49-F238E27FC236}">
                <a16:creationId xmlns:a16="http://schemas.microsoft.com/office/drawing/2014/main" id="{654AF7A4-3700-4BCA-8788-5F4FBE9852E0}"/>
              </a:ext>
            </a:extLst>
          </p:cNvPr>
          <p:cNvSpPr>
            <a:spLocks noGrp="1"/>
          </p:cNvSpPr>
          <p:nvPr>
            <p:ph idx="1"/>
          </p:nvPr>
        </p:nvSpPr>
        <p:spPr/>
        <p:txBody>
          <a:bodyPr/>
          <a:lstStyle/>
          <a:p>
            <a:pPr lvl="0"/>
            <a:r>
              <a:rPr lang="zh-TW" altLang="en-US" dirty="0"/>
              <a:t>編輯母片文字樣式</a:t>
            </a:r>
          </a:p>
          <a:p>
            <a:pPr lvl="1"/>
            <a:r>
              <a:rPr lang="zh-TW" altLang="en-US" dirty="0"/>
              <a:t>第二層</a:t>
            </a:r>
          </a:p>
          <a:p>
            <a:pPr lvl="2"/>
            <a:r>
              <a:rPr lang="zh-TW" altLang="en-US" dirty="0"/>
              <a:t>第三層</a:t>
            </a:r>
          </a:p>
          <a:p>
            <a:pPr lvl="3"/>
            <a:r>
              <a:rPr lang="zh-TW" altLang="en-US" dirty="0"/>
              <a:t>第四層</a:t>
            </a:r>
          </a:p>
          <a:p>
            <a:pPr lvl="4"/>
            <a:r>
              <a:rPr lang="zh-TW" altLang="en-US" dirty="0"/>
              <a:t>第五層</a:t>
            </a:r>
          </a:p>
        </p:txBody>
      </p:sp>
      <p:sp>
        <p:nvSpPr>
          <p:cNvPr id="4" name="日期版面配置區 3">
            <a:extLst>
              <a:ext uri="{FF2B5EF4-FFF2-40B4-BE49-F238E27FC236}">
                <a16:creationId xmlns:a16="http://schemas.microsoft.com/office/drawing/2014/main" id="{84D63DA6-083D-4C87-B46F-4639F5BADD1D}"/>
              </a:ext>
            </a:extLst>
          </p:cNvPr>
          <p:cNvSpPr>
            <a:spLocks noGrp="1"/>
          </p:cNvSpPr>
          <p:nvPr>
            <p:ph type="dt" sz="half" idx="10"/>
          </p:nvPr>
        </p:nvSpPr>
        <p:spPr/>
        <p:txBody>
          <a:bodyPr/>
          <a:lstStyle/>
          <a:p>
            <a:fld id="{E30B4FF9-D8EE-4A80-9711-66C0457E61BA}" type="datetime1">
              <a:rPr lang="zh-TW" altLang="en-US" smtClean="0"/>
              <a:t>2019/5/22</a:t>
            </a:fld>
            <a:endParaRPr lang="zh-TW" altLang="en-US" dirty="0"/>
          </a:p>
        </p:txBody>
      </p:sp>
      <p:sp>
        <p:nvSpPr>
          <p:cNvPr id="5" name="頁尾版面配置區 4">
            <a:extLst>
              <a:ext uri="{FF2B5EF4-FFF2-40B4-BE49-F238E27FC236}">
                <a16:creationId xmlns:a16="http://schemas.microsoft.com/office/drawing/2014/main" id="{3FA96B28-A6B2-4CCD-A0A0-0FC8A9F244A0}"/>
              </a:ext>
            </a:extLst>
          </p:cNvPr>
          <p:cNvSpPr>
            <a:spLocks noGrp="1"/>
          </p:cNvSpPr>
          <p:nvPr>
            <p:ph type="ftr" sz="quarter" idx="11"/>
          </p:nvPr>
        </p:nvSpPr>
        <p:spPr/>
        <p:txBody>
          <a:bodyPr/>
          <a:lstStyle/>
          <a:p>
            <a:endParaRPr lang="zh-TW" altLang="en-US" dirty="0"/>
          </a:p>
        </p:txBody>
      </p:sp>
      <p:sp>
        <p:nvSpPr>
          <p:cNvPr id="6" name="投影片編號版面配置區 5">
            <a:extLst>
              <a:ext uri="{FF2B5EF4-FFF2-40B4-BE49-F238E27FC236}">
                <a16:creationId xmlns:a16="http://schemas.microsoft.com/office/drawing/2014/main" id="{52F41030-E2A0-4DD7-A077-C86BB9D1F485}"/>
              </a:ext>
            </a:extLst>
          </p:cNvPr>
          <p:cNvSpPr>
            <a:spLocks noGrp="1"/>
          </p:cNvSpPr>
          <p:nvPr>
            <p:ph type="sldNum" sz="quarter" idx="12"/>
          </p:nvPr>
        </p:nvSpPr>
        <p:spPr/>
        <p:txBody>
          <a:bodyPr/>
          <a:lstStyle/>
          <a:p>
            <a:fld id="{8DCCD063-7F18-423D-A692-CC9D343FD360}" type="slidenum">
              <a:rPr lang="zh-TW" altLang="en-US" smtClean="0"/>
              <a:t>‹#›</a:t>
            </a:fld>
            <a:endParaRPr lang="zh-TW" altLang="en-US" dirty="0"/>
          </a:p>
        </p:txBody>
      </p:sp>
    </p:spTree>
    <p:extLst>
      <p:ext uri="{BB962C8B-B14F-4D97-AF65-F5344CB8AC3E}">
        <p14:creationId xmlns:p14="http://schemas.microsoft.com/office/powerpoint/2010/main" val="1929509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59C8D0-3EEB-43FA-AB9E-D0910F9C8F7C}"/>
              </a:ext>
            </a:extLst>
          </p:cNvPr>
          <p:cNvSpPr>
            <a:spLocks noGrp="1"/>
          </p:cNvSpPr>
          <p:nvPr>
            <p:ph type="title"/>
          </p:nvPr>
        </p:nvSpPr>
        <p:spPr>
          <a:xfrm>
            <a:off x="831851" y="1709740"/>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6C8DA04-C654-4A32-81E1-D1990594B0BF}"/>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F67C9000-9E5A-4894-8CE5-D814ED1F8837}"/>
              </a:ext>
            </a:extLst>
          </p:cNvPr>
          <p:cNvSpPr>
            <a:spLocks noGrp="1"/>
          </p:cNvSpPr>
          <p:nvPr>
            <p:ph type="dt" sz="half" idx="10"/>
          </p:nvPr>
        </p:nvSpPr>
        <p:spPr/>
        <p:txBody>
          <a:bodyPr/>
          <a:lstStyle/>
          <a:p>
            <a:fld id="{D4E44564-BCD8-4C82-9E0F-3F86A9586B90}" type="datetime1">
              <a:rPr lang="zh-TW" altLang="en-US" smtClean="0"/>
              <a:t>2019/5/22</a:t>
            </a:fld>
            <a:endParaRPr lang="zh-TW" altLang="en-US"/>
          </a:p>
        </p:txBody>
      </p:sp>
      <p:sp>
        <p:nvSpPr>
          <p:cNvPr id="5" name="頁尾版面配置區 4">
            <a:extLst>
              <a:ext uri="{FF2B5EF4-FFF2-40B4-BE49-F238E27FC236}">
                <a16:creationId xmlns:a16="http://schemas.microsoft.com/office/drawing/2014/main" id="{BB87D9EE-8E3C-41CA-841E-E125FA8770C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B02431B-5153-4936-B0EE-CABE36F7C2C4}"/>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158174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3A66F51-D3F0-406D-AAC3-01300BB0D946}"/>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1FBDAEA-0EC9-4BFC-B4DC-9A02E134EEF0}"/>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30943015-4729-44AB-B601-E3BFA2BA7599}"/>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19E55BE4-DE58-4CB4-A138-82C7FA95E005}"/>
              </a:ext>
            </a:extLst>
          </p:cNvPr>
          <p:cNvSpPr>
            <a:spLocks noGrp="1"/>
          </p:cNvSpPr>
          <p:nvPr>
            <p:ph type="dt" sz="half" idx="10"/>
          </p:nvPr>
        </p:nvSpPr>
        <p:spPr/>
        <p:txBody>
          <a:bodyPr/>
          <a:lstStyle/>
          <a:p>
            <a:fld id="{067FE28B-F7E6-4E2F-B0AD-1F10919B55E9}" type="datetime1">
              <a:rPr lang="zh-TW" altLang="en-US" smtClean="0"/>
              <a:t>2019/5/22</a:t>
            </a:fld>
            <a:endParaRPr lang="zh-TW" altLang="en-US"/>
          </a:p>
        </p:txBody>
      </p:sp>
      <p:sp>
        <p:nvSpPr>
          <p:cNvPr id="6" name="頁尾版面配置區 5">
            <a:extLst>
              <a:ext uri="{FF2B5EF4-FFF2-40B4-BE49-F238E27FC236}">
                <a16:creationId xmlns:a16="http://schemas.microsoft.com/office/drawing/2014/main" id="{2E94F790-01BB-4A74-B31E-9E0181378F8E}"/>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11A38C2-FB38-4EF1-BEE9-C6127183E77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1098856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FB86871-0575-4B21-9333-0B96E286CBA3}"/>
              </a:ext>
            </a:extLst>
          </p:cNvPr>
          <p:cNvSpPr>
            <a:spLocks noGrp="1"/>
          </p:cNvSpPr>
          <p:nvPr>
            <p:ph type="title"/>
          </p:nvPr>
        </p:nvSpPr>
        <p:spPr>
          <a:xfrm>
            <a:off x="839788" y="365127"/>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5CE8BC1-3B30-4676-AAB2-794442C2DB64}"/>
              </a:ext>
            </a:extLst>
          </p:cNvPr>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DED19164-1E96-40EE-9246-AA1E6599974F}"/>
              </a:ext>
            </a:extLst>
          </p:cNvPr>
          <p:cNvSpPr>
            <a:spLocks noGrp="1"/>
          </p:cNvSpPr>
          <p:nvPr>
            <p:ph sz="half" idx="2"/>
          </p:nvPr>
        </p:nvSpPr>
        <p:spPr>
          <a:xfrm>
            <a:off x="839789"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DA06F7C1-0AF6-46DF-8CF5-44E8DBBE2DD5}"/>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9F3B69BF-E2A2-49C3-B1F9-786966B06347}"/>
              </a:ext>
            </a:extLst>
          </p:cNvPr>
          <p:cNvSpPr>
            <a:spLocks noGrp="1"/>
          </p:cNvSpPr>
          <p:nvPr>
            <p:ph sz="quarter" idx="4"/>
          </p:nvPr>
        </p:nvSpPr>
        <p:spPr>
          <a:xfrm>
            <a:off x="6172201"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81164490-F37E-4BF2-B792-E41261B07B22}"/>
              </a:ext>
            </a:extLst>
          </p:cNvPr>
          <p:cNvSpPr>
            <a:spLocks noGrp="1"/>
          </p:cNvSpPr>
          <p:nvPr>
            <p:ph type="dt" sz="half" idx="10"/>
          </p:nvPr>
        </p:nvSpPr>
        <p:spPr/>
        <p:txBody>
          <a:bodyPr/>
          <a:lstStyle/>
          <a:p>
            <a:fld id="{A073434E-7B7B-44D1-A8FD-7992C90E73ED}" type="datetime1">
              <a:rPr lang="zh-TW" altLang="en-US" smtClean="0"/>
              <a:t>2019/5/22</a:t>
            </a:fld>
            <a:endParaRPr lang="zh-TW" altLang="en-US"/>
          </a:p>
        </p:txBody>
      </p:sp>
      <p:sp>
        <p:nvSpPr>
          <p:cNvPr id="8" name="頁尾版面配置區 7">
            <a:extLst>
              <a:ext uri="{FF2B5EF4-FFF2-40B4-BE49-F238E27FC236}">
                <a16:creationId xmlns:a16="http://schemas.microsoft.com/office/drawing/2014/main" id="{2AD5587A-E829-42C8-831F-99414F4962BA}"/>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29B54927-CA1D-4379-9562-EFDFDA5D89FA}"/>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229502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39C19A-DE44-4713-BF93-3D9F1FCBE759}"/>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A067B964-A9EE-448C-A903-DF032F75B54E}"/>
              </a:ext>
            </a:extLst>
          </p:cNvPr>
          <p:cNvSpPr>
            <a:spLocks noGrp="1"/>
          </p:cNvSpPr>
          <p:nvPr>
            <p:ph type="dt" sz="half" idx="10"/>
          </p:nvPr>
        </p:nvSpPr>
        <p:spPr/>
        <p:txBody>
          <a:bodyPr/>
          <a:lstStyle/>
          <a:p>
            <a:fld id="{CD3BA11D-CB1E-4A22-BE16-36A65EF34BCE}" type="datetime1">
              <a:rPr lang="zh-TW" altLang="en-US" smtClean="0"/>
              <a:t>2019/5/22</a:t>
            </a:fld>
            <a:endParaRPr lang="zh-TW" altLang="en-US"/>
          </a:p>
        </p:txBody>
      </p:sp>
      <p:sp>
        <p:nvSpPr>
          <p:cNvPr id="4" name="頁尾版面配置區 3">
            <a:extLst>
              <a:ext uri="{FF2B5EF4-FFF2-40B4-BE49-F238E27FC236}">
                <a16:creationId xmlns:a16="http://schemas.microsoft.com/office/drawing/2014/main" id="{89FBDCDA-948D-4D74-A9CB-BF0FDF2891D3}"/>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6BF2C7E3-47A7-4611-B686-B56505F1B32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9560724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5DC494-3175-4D2C-8019-6DC804B304DE}"/>
              </a:ext>
            </a:extLst>
          </p:cNvPr>
          <p:cNvSpPr>
            <a:spLocks noGrp="1"/>
          </p:cNvSpPr>
          <p:nvPr>
            <p:ph type="dt" sz="half" idx="10"/>
          </p:nvPr>
        </p:nvSpPr>
        <p:spPr/>
        <p:txBody>
          <a:bodyPr/>
          <a:lstStyle/>
          <a:p>
            <a:fld id="{B6D639A7-AC33-425C-8B82-D215780447DE}" type="datetime1">
              <a:rPr lang="zh-TW" altLang="en-US" smtClean="0"/>
              <a:t>2019/5/22</a:t>
            </a:fld>
            <a:endParaRPr lang="zh-TW" altLang="en-US"/>
          </a:p>
        </p:txBody>
      </p:sp>
      <p:sp>
        <p:nvSpPr>
          <p:cNvPr id="3" name="頁尾版面配置區 2">
            <a:extLst>
              <a:ext uri="{FF2B5EF4-FFF2-40B4-BE49-F238E27FC236}">
                <a16:creationId xmlns:a16="http://schemas.microsoft.com/office/drawing/2014/main" id="{A61414F2-4AAB-4D3D-9B55-6D611E2C51B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D327B6FE-1D54-44CF-9B02-7D4B222A733F}"/>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301405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A1337AC-5890-4658-9633-0789FDA9573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6E22CC54-BC45-47EE-96B0-B43A1D1BC316}"/>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5C769566-CB0F-43CF-9358-EBC2CC4FB396}"/>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E19407D-C528-4858-9191-402D0B2E4E7A}"/>
              </a:ext>
            </a:extLst>
          </p:cNvPr>
          <p:cNvSpPr>
            <a:spLocks noGrp="1"/>
          </p:cNvSpPr>
          <p:nvPr>
            <p:ph type="dt" sz="half" idx="10"/>
          </p:nvPr>
        </p:nvSpPr>
        <p:spPr/>
        <p:txBody>
          <a:bodyPr/>
          <a:lstStyle/>
          <a:p>
            <a:fld id="{780A6C9D-DD6E-4A29-89EC-9C28B6AD9694}" type="datetime1">
              <a:rPr lang="zh-TW" altLang="en-US" smtClean="0"/>
              <a:t>2019/5/22</a:t>
            </a:fld>
            <a:endParaRPr lang="zh-TW" altLang="en-US"/>
          </a:p>
        </p:txBody>
      </p:sp>
      <p:sp>
        <p:nvSpPr>
          <p:cNvPr id="6" name="頁尾版面配置區 5">
            <a:extLst>
              <a:ext uri="{FF2B5EF4-FFF2-40B4-BE49-F238E27FC236}">
                <a16:creationId xmlns:a16="http://schemas.microsoft.com/office/drawing/2014/main" id="{876CEE8D-E284-4A31-91E6-DED43608B81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E8B0B4B-C516-4AA2-BB4B-78EB6C78AB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330831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41F1C9-4A33-41F9-9A6C-C2CA32C4241A}"/>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DE938834-CF9D-43C8-A12C-17090FA2F8B1}"/>
              </a:ext>
            </a:extLst>
          </p:cNvPr>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zh-TW" altLang="en-US"/>
          </a:p>
        </p:txBody>
      </p:sp>
      <p:sp>
        <p:nvSpPr>
          <p:cNvPr id="4" name="文字版面配置區 3">
            <a:extLst>
              <a:ext uri="{FF2B5EF4-FFF2-40B4-BE49-F238E27FC236}">
                <a16:creationId xmlns:a16="http://schemas.microsoft.com/office/drawing/2014/main" id="{5533F49C-9EA4-4A17-8CB9-8793107C0947}"/>
              </a:ext>
            </a:extLst>
          </p:cNvPr>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93917929-FFD5-45C6-AB7C-0A03F71D13FE}"/>
              </a:ext>
            </a:extLst>
          </p:cNvPr>
          <p:cNvSpPr>
            <a:spLocks noGrp="1"/>
          </p:cNvSpPr>
          <p:nvPr>
            <p:ph type="dt" sz="half" idx="10"/>
          </p:nvPr>
        </p:nvSpPr>
        <p:spPr/>
        <p:txBody>
          <a:bodyPr/>
          <a:lstStyle/>
          <a:p>
            <a:fld id="{695B5D07-C613-4015-B3C8-87531E159177}" type="datetime1">
              <a:rPr lang="zh-TW" altLang="en-US" smtClean="0"/>
              <a:t>2019/5/22</a:t>
            </a:fld>
            <a:endParaRPr lang="zh-TW" altLang="en-US"/>
          </a:p>
        </p:txBody>
      </p:sp>
      <p:sp>
        <p:nvSpPr>
          <p:cNvPr id="6" name="頁尾版面配置區 5">
            <a:extLst>
              <a:ext uri="{FF2B5EF4-FFF2-40B4-BE49-F238E27FC236}">
                <a16:creationId xmlns:a16="http://schemas.microsoft.com/office/drawing/2014/main" id="{7957C9B4-23F7-4ED4-B3ED-8BA7DAFFBCC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C8198A6-61AE-471E-87FA-7AAA5711C591}"/>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3080696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70126FA-CD86-4406-B2A6-385B5925E9BA}"/>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1266ECCF-61AA-4623-A519-B8C19CE7C88A}"/>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EF64FCF-DA26-41B4-8919-89C752F28E4F}"/>
              </a:ext>
            </a:extLst>
          </p:cNvPr>
          <p:cNvSpPr>
            <a:spLocks noGrp="1"/>
          </p:cNvSpPr>
          <p:nvPr>
            <p:ph type="dt" sz="half" idx="10"/>
          </p:nvPr>
        </p:nvSpPr>
        <p:spPr/>
        <p:txBody>
          <a:bodyPr/>
          <a:lstStyle/>
          <a:p>
            <a:fld id="{3F9A7E6C-C1F8-4DE3-A988-0E749D3405FB}" type="datetime1">
              <a:rPr lang="zh-TW" altLang="en-US" smtClean="0"/>
              <a:t>2019/5/22</a:t>
            </a:fld>
            <a:endParaRPr lang="zh-TW" altLang="en-US"/>
          </a:p>
        </p:txBody>
      </p:sp>
      <p:sp>
        <p:nvSpPr>
          <p:cNvPr id="5" name="頁尾版面配置區 4">
            <a:extLst>
              <a:ext uri="{FF2B5EF4-FFF2-40B4-BE49-F238E27FC236}">
                <a16:creationId xmlns:a16="http://schemas.microsoft.com/office/drawing/2014/main" id="{0DB90C5E-07BB-4BDE-A6DE-837D4B32EE0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3E20F850-672A-48DC-883D-883166667216}"/>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1867062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F3BBB3C-AD7C-461A-B4F6-E1D3B7F36C83}"/>
              </a:ext>
            </a:extLst>
          </p:cNvPr>
          <p:cNvSpPr>
            <a:spLocks noGrp="1"/>
          </p:cNvSpPr>
          <p:nvPr>
            <p:ph type="title" orient="vert"/>
          </p:nvPr>
        </p:nvSpPr>
        <p:spPr>
          <a:xfrm>
            <a:off x="8724901"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9B38A6C4-FFF1-480E-A653-69B9EA56ABA4}"/>
              </a:ext>
            </a:extLst>
          </p:cNvPr>
          <p:cNvSpPr>
            <a:spLocks noGrp="1"/>
          </p:cNvSpPr>
          <p:nvPr>
            <p:ph type="body" orient="vert" idx="1"/>
          </p:nvPr>
        </p:nvSpPr>
        <p:spPr>
          <a:xfrm>
            <a:off x="838201"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7253E183-339D-4996-9336-DF360AFA83CE}"/>
              </a:ext>
            </a:extLst>
          </p:cNvPr>
          <p:cNvSpPr>
            <a:spLocks noGrp="1"/>
          </p:cNvSpPr>
          <p:nvPr>
            <p:ph type="dt" sz="half" idx="10"/>
          </p:nvPr>
        </p:nvSpPr>
        <p:spPr/>
        <p:txBody>
          <a:bodyPr/>
          <a:lstStyle/>
          <a:p>
            <a:fld id="{DE9EE12D-5A95-443B-B16F-05DB4F609116}" type="datetime1">
              <a:rPr lang="zh-TW" altLang="en-US" smtClean="0"/>
              <a:t>2019/5/22</a:t>
            </a:fld>
            <a:endParaRPr lang="zh-TW" altLang="en-US"/>
          </a:p>
        </p:txBody>
      </p:sp>
      <p:sp>
        <p:nvSpPr>
          <p:cNvPr id="5" name="頁尾版面配置區 4">
            <a:extLst>
              <a:ext uri="{FF2B5EF4-FFF2-40B4-BE49-F238E27FC236}">
                <a16:creationId xmlns:a16="http://schemas.microsoft.com/office/drawing/2014/main" id="{BF8900FD-C0EE-4957-AD7C-2F848F09144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AF7F8627-2565-4288-8ACC-D27B03944509}"/>
              </a:ext>
            </a:extLst>
          </p:cNvPr>
          <p:cNvSpPr>
            <a:spLocks noGrp="1"/>
          </p:cNvSpPr>
          <p:nvPr>
            <p:ph type="sldNum" sz="quarter" idx="12"/>
          </p:nvPr>
        </p:nvSpPr>
        <p:spPr/>
        <p:txBody>
          <a:bodyPr/>
          <a:lstStyle/>
          <a:p>
            <a:fld id="{8DCCD063-7F18-423D-A692-CC9D343FD360}" type="slidenum">
              <a:rPr lang="zh-TW" altLang="en-US" smtClean="0"/>
              <a:t>‹#›</a:t>
            </a:fld>
            <a:endParaRPr lang="zh-TW" altLang="en-US"/>
          </a:p>
        </p:txBody>
      </p:sp>
    </p:spTree>
    <p:extLst>
      <p:ext uri="{BB962C8B-B14F-4D97-AF65-F5344CB8AC3E}">
        <p14:creationId xmlns:p14="http://schemas.microsoft.com/office/powerpoint/2010/main" val="2619511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278959-5364-4351-AC95-0854CBC4DE11}"/>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B7FD0B26-27BA-4591-876F-81883746EFB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2AEA749-A752-40EF-9A2F-1D5D321BDD00}"/>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557DA0-21FD-4BCA-AFF2-1042D237E32F}" type="datetime1">
              <a:rPr lang="zh-TW" altLang="en-US" smtClean="0"/>
              <a:t>2019/5/22</a:t>
            </a:fld>
            <a:endParaRPr lang="zh-TW" altLang="en-US"/>
          </a:p>
        </p:txBody>
      </p:sp>
      <p:sp>
        <p:nvSpPr>
          <p:cNvPr id="5" name="頁尾版面配置區 4">
            <a:extLst>
              <a:ext uri="{FF2B5EF4-FFF2-40B4-BE49-F238E27FC236}">
                <a16:creationId xmlns:a16="http://schemas.microsoft.com/office/drawing/2014/main" id="{D0EBD8A3-AFAC-4E16-BF90-054E8ED749DC}"/>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9B23ABFF-0703-422A-93E4-68B89B878C29}"/>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8DCCD063-7F18-423D-A692-CC9D343FD360}" type="slidenum">
              <a:rPr lang="zh-TW" altLang="en-US" smtClean="0"/>
              <a:pPr/>
              <a:t>‹#›</a:t>
            </a:fld>
            <a:endParaRPr lang="zh-TW" altLang="en-US" dirty="0"/>
          </a:p>
        </p:txBody>
      </p:sp>
    </p:spTree>
    <p:extLst>
      <p:ext uri="{BB962C8B-B14F-4D97-AF65-F5344CB8AC3E}">
        <p14:creationId xmlns:p14="http://schemas.microsoft.com/office/powerpoint/2010/main" val="1246122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eeexplore.ieee.org/author/37085402898"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ieeexplore.ieee.org/author/37086587457"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600E22-8B2D-44A2-B529-2D5C521DF6EC}"/>
              </a:ext>
            </a:extLst>
          </p:cNvPr>
          <p:cNvSpPr>
            <a:spLocks noGrp="1"/>
          </p:cNvSpPr>
          <p:nvPr>
            <p:ph type="ctrTitle"/>
          </p:nvPr>
        </p:nvSpPr>
        <p:spPr>
          <a:xfrm>
            <a:off x="763381" y="601094"/>
            <a:ext cx="10665229" cy="1356957"/>
          </a:xfrm>
        </p:spPr>
        <p:txBody>
          <a:bodyPr>
            <a:noAutofit/>
          </a:bodyPr>
          <a:lstStyle/>
          <a:p>
            <a:r>
              <a:rPr lang="en-US" altLang="zh-TW" sz="4000" dirty="0"/>
              <a:t>Similarity Measure Based on Incremental Warping Window for Time Series Data Mining</a:t>
            </a:r>
            <a:endParaRPr lang="zh-TW" altLang="en-US" sz="4000" dirty="0">
              <a:latin typeface="Tw Cen MT" panose="020B0602020104020603" pitchFamily="34" charset="0"/>
              <a:cs typeface="Times New Roman" panose="02020603050405020304" pitchFamily="18" charset="0"/>
            </a:endParaRPr>
          </a:p>
        </p:txBody>
      </p:sp>
      <p:sp>
        <p:nvSpPr>
          <p:cNvPr id="3" name="副標題 2">
            <a:extLst>
              <a:ext uri="{FF2B5EF4-FFF2-40B4-BE49-F238E27FC236}">
                <a16:creationId xmlns:a16="http://schemas.microsoft.com/office/drawing/2014/main" id="{E1F7DB53-5192-4070-9ADE-B5C85E35C2CC}"/>
              </a:ext>
            </a:extLst>
          </p:cNvPr>
          <p:cNvSpPr>
            <a:spLocks noGrp="1"/>
          </p:cNvSpPr>
          <p:nvPr>
            <p:ph type="subTitle" idx="1"/>
          </p:nvPr>
        </p:nvSpPr>
        <p:spPr>
          <a:xfrm>
            <a:off x="383332" y="2810596"/>
            <a:ext cx="11425330" cy="489557"/>
          </a:xfrm>
        </p:spPr>
        <p:txBody>
          <a:bodyPr>
            <a:noAutofit/>
          </a:bodyPr>
          <a:lstStyle/>
          <a:p>
            <a:r>
              <a:rPr lang="en-US" altLang="zh-TW" dirty="0"/>
              <a:t> Hailin Li and Cheng Wang</a:t>
            </a:r>
            <a:br>
              <a:rPr lang="en-US" altLang="zh-TW" dirty="0"/>
            </a:br>
            <a:endParaRPr lang="zh-TW" altLang="en-US" sz="2600" dirty="0"/>
          </a:p>
        </p:txBody>
      </p:sp>
      <p:sp>
        <p:nvSpPr>
          <p:cNvPr id="5" name="副標題 2">
            <a:extLst>
              <a:ext uri="{FF2B5EF4-FFF2-40B4-BE49-F238E27FC236}">
                <a16:creationId xmlns:a16="http://schemas.microsoft.com/office/drawing/2014/main" id="{CC60B4B8-BDE3-427A-B56B-7314F1C4CCA4}"/>
              </a:ext>
            </a:extLst>
          </p:cNvPr>
          <p:cNvSpPr txBox="1">
            <a:spLocks/>
          </p:cNvSpPr>
          <p:nvPr/>
        </p:nvSpPr>
        <p:spPr>
          <a:xfrm>
            <a:off x="526942" y="3584718"/>
            <a:ext cx="11138108" cy="100390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IEEE</a:t>
            </a:r>
            <a:r>
              <a:rPr lang="zh-TW" altLang="en-US" sz="2800" dirty="0">
                <a:solidFill>
                  <a:schemeClr val="tx1"/>
                </a:solidFill>
              </a:rPr>
              <a:t> </a:t>
            </a:r>
            <a:r>
              <a:rPr lang="en-US" altLang="zh-TW" sz="2800" dirty="0">
                <a:solidFill>
                  <a:schemeClr val="tx1"/>
                </a:solidFill>
              </a:rPr>
              <a:t>Access</a:t>
            </a:r>
          </a:p>
          <a:p>
            <a:r>
              <a:rPr lang="en-US" altLang="zh-TW" sz="2800" dirty="0">
                <a:solidFill>
                  <a:schemeClr val="tx1"/>
                </a:solidFill>
              </a:rPr>
              <a:t>Vol. 7, pp. 3909-3917, 2019</a:t>
            </a:r>
          </a:p>
        </p:txBody>
      </p:sp>
      <p:sp>
        <p:nvSpPr>
          <p:cNvPr id="6" name="副標題 2">
            <a:extLst>
              <a:ext uri="{FF2B5EF4-FFF2-40B4-BE49-F238E27FC236}">
                <a16:creationId xmlns:a16="http://schemas.microsoft.com/office/drawing/2014/main" id="{F161951C-063C-40D4-A802-0FD8D23F3044}"/>
              </a:ext>
            </a:extLst>
          </p:cNvPr>
          <p:cNvSpPr txBox="1">
            <a:spLocks/>
          </p:cNvSpPr>
          <p:nvPr/>
        </p:nvSpPr>
        <p:spPr>
          <a:xfrm>
            <a:off x="1192823" y="5265553"/>
            <a:ext cx="9806355" cy="90273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1">
                    <a:lumMod val="6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z="2800" dirty="0">
                <a:solidFill>
                  <a:schemeClr val="tx1"/>
                </a:solidFill>
              </a:rPr>
              <a:t>Presenter: Shan-Ru Liu</a:t>
            </a:r>
          </a:p>
          <a:p>
            <a:r>
              <a:rPr lang="en-US" altLang="zh-TW" sz="2800" dirty="0">
                <a:solidFill>
                  <a:schemeClr val="tx1"/>
                </a:solidFill>
              </a:rPr>
              <a:t>Date: March 27, 2019</a:t>
            </a:r>
            <a:endParaRPr lang="zh-TW" altLang="en-US" sz="2800" dirty="0">
              <a:solidFill>
                <a:schemeClr val="tx1"/>
              </a:solidFill>
            </a:endParaRPr>
          </a:p>
        </p:txBody>
      </p:sp>
      <p:sp>
        <p:nvSpPr>
          <p:cNvPr id="7" name="橢圓 6">
            <a:hlinkClick r:id="rId3"/>
            <a:extLst>
              <a:ext uri="{FF2B5EF4-FFF2-40B4-BE49-F238E27FC236}">
                <a16:creationId xmlns:a16="http://schemas.microsoft.com/office/drawing/2014/main" id="{AC147395-8B57-408A-9B44-A382D44BC532}"/>
              </a:ext>
            </a:extLst>
          </p:cNvPr>
          <p:cNvSpPr/>
          <p:nvPr/>
        </p:nvSpPr>
        <p:spPr>
          <a:xfrm>
            <a:off x="336917" y="6168292"/>
            <a:ext cx="380049" cy="380049"/>
          </a:xfrm>
          <a:prstGeom prst="ellipse">
            <a:avLst/>
          </a:prstGeom>
          <a:ln>
            <a:solidFill>
              <a:schemeClr val="bg1">
                <a:lumMod val="7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dirty="0">
                <a:solidFill>
                  <a:schemeClr val="bg1">
                    <a:lumMod val="65000"/>
                  </a:schemeClr>
                </a:solidFill>
              </a:rPr>
              <a:t>H</a:t>
            </a:r>
            <a:endParaRPr lang="zh-TW" altLang="en-US" dirty="0">
              <a:solidFill>
                <a:schemeClr val="bg1">
                  <a:lumMod val="65000"/>
                </a:schemeClr>
              </a:solidFill>
            </a:endParaRPr>
          </a:p>
        </p:txBody>
      </p:sp>
      <p:sp>
        <p:nvSpPr>
          <p:cNvPr id="8" name="橢圓 7">
            <a:hlinkClick r:id="rId4"/>
            <a:extLst>
              <a:ext uri="{FF2B5EF4-FFF2-40B4-BE49-F238E27FC236}">
                <a16:creationId xmlns:a16="http://schemas.microsoft.com/office/drawing/2014/main" id="{FAFD4FBE-EF8F-4BFC-BDEA-E94BAFFBA8F5}"/>
              </a:ext>
            </a:extLst>
          </p:cNvPr>
          <p:cNvSpPr/>
          <p:nvPr/>
        </p:nvSpPr>
        <p:spPr>
          <a:xfrm>
            <a:off x="812773" y="6168292"/>
            <a:ext cx="380049" cy="380049"/>
          </a:xfrm>
          <a:prstGeom prst="ellipse">
            <a:avLst/>
          </a:prstGeom>
          <a:ln>
            <a:solidFill>
              <a:schemeClr val="bg1">
                <a:lumMod val="75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ltLang="zh-TW" dirty="0">
                <a:solidFill>
                  <a:schemeClr val="bg1">
                    <a:lumMod val="65000"/>
                  </a:schemeClr>
                </a:solidFill>
              </a:rPr>
              <a:t>C</a:t>
            </a:r>
            <a:endParaRPr lang="zh-TW" altLang="en-US" dirty="0">
              <a:solidFill>
                <a:schemeClr val="bg1">
                  <a:lumMod val="65000"/>
                </a:schemeClr>
              </a:solidFill>
            </a:endParaRPr>
          </a:p>
        </p:txBody>
      </p:sp>
    </p:spTree>
    <p:extLst>
      <p:ext uri="{BB962C8B-B14F-4D97-AF65-F5344CB8AC3E}">
        <p14:creationId xmlns:p14="http://schemas.microsoft.com/office/powerpoint/2010/main" val="1428191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 (1/2)</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9993284" cy="4787402"/>
          </a:xfrm>
        </p:spPr>
        <p:txBody>
          <a:bodyPr>
            <a:noAutofit/>
          </a:bodyPr>
          <a:lstStyle/>
          <a:p>
            <a:pPr marL="0" indent="0" algn="just">
              <a:lnSpc>
                <a:spcPct val="100000"/>
              </a:lnSpc>
              <a:buNone/>
            </a:pPr>
            <a:r>
              <a:rPr lang="en-US" altLang="zh-TW" dirty="0"/>
              <a:t>A similarity measure is one of the most important tasks in the fields of time series data mining. Its quality often affects the efficiency and effectiveness of the related algorithms that need to measure the similarity between two time series in advance. Dynamic time warping is one of the most robust methods to compare one time series with another based on warping alignments. In this paper, the design of an incremental warping window is used to improve the performance of dynamic time warping. </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2</a:t>
            </a:fld>
            <a:endParaRPr lang="zh-TW" altLang="en-US"/>
          </a:p>
        </p:txBody>
      </p:sp>
    </p:spTree>
    <p:extLst>
      <p:ext uri="{BB962C8B-B14F-4D97-AF65-F5344CB8AC3E}">
        <p14:creationId xmlns:p14="http://schemas.microsoft.com/office/powerpoint/2010/main" val="1679220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51E4FEA-D504-4984-8169-77A8B62C8DAA}"/>
              </a:ext>
            </a:extLst>
          </p:cNvPr>
          <p:cNvSpPr>
            <a:spLocks noGrp="1"/>
          </p:cNvSpPr>
          <p:nvPr>
            <p:ph type="title"/>
          </p:nvPr>
        </p:nvSpPr>
        <p:spPr/>
        <p:txBody>
          <a:bodyPr/>
          <a:lstStyle/>
          <a:p>
            <a:r>
              <a:rPr lang="en-US" altLang="zh-TW" dirty="0"/>
              <a:t>Abstract (2/2)</a:t>
            </a:r>
            <a:endParaRPr lang="zh-TW" altLang="en-US" dirty="0"/>
          </a:p>
        </p:txBody>
      </p:sp>
      <p:sp>
        <p:nvSpPr>
          <p:cNvPr id="3" name="內容版面配置區 2">
            <a:extLst>
              <a:ext uri="{FF2B5EF4-FFF2-40B4-BE49-F238E27FC236}">
                <a16:creationId xmlns:a16="http://schemas.microsoft.com/office/drawing/2014/main" id="{48A7BC5F-5DB6-4B6E-A263-D2C31A7AB884}"/>
              </a:ext>
            </a:extLst>
          </p:cNvPr>
          <p:cNvSpPr>
            <a:spLocks noGrp="1"/>
          </p:cNvSpPr>
          <p:nvPr>
            <p:ph idx="1"/>
          </p:nvPr>
        </p:nvSpPr>
        <p:spPr>
          <a:xfrm>
            <a:off x="838200" y="1568950"/>
            <a:ext cx="9993284" cy="4787402"/>
          </a:xfrm>
        </p:spPr>
        <p:txBody>
          <a:bodyPr>
            <a:noAutofit/>
          </a:bodyPr>
          <a:lstStyle/>
          <a:p>
            <a:pPr marL="0" indent="0" algn="just">
              <a:lnSpc>
                <a:spcPct val="100000"/>
              </a:lnSpc>
              <a:buNone/>
            </a:pPr>
            <a:r>
              <a:rPr lang="en-US" altLang="zh-TW" dirty="0"/>
              <a:t>The incremental warping window is changeable for various time series with different lengths. Moreover, the improved dynamic time warping based on the novel window considers the recent alignments as much as possible, which indicates that the proposed method concentrates on more information of the recent data points than that of the previous data points. In addition, it is suitable for online similarity measure between data stream. The experimental evaluation shows that the proposed method is effective and efficient for time series mining.</a:t>
            </a:r>
            <a:endParaRPr lang="zh-TW" altLang="en-US" dirty="0"/>
          </a:p>
        </p:txBody>
      </p:sp>
      <p:sp>
        <p:nvSpPr>
          <p:cNvPr id="4" name="投影片編號版面配置區 3">
            <a:extLst>
              <a:ext uri="{FF2B5EF4-FFF2-40B4-BE49-F238E27FC236}">
                <a16:creationId xmlns:a16="http://schemas.microsoft.com/office/drawing/2014/main" id="{8A8B9C12-508D-4AC0-A402-645B6EC72699}"/>
              </a:ext>
            </a:extLst>
          </p:cNvPr>
          <p:cNvSpPr>
            <a:spLocks noGrp="1"/>
          </p:cNvSpPr>
          <p:nvPr>
            <p:ph type="sldNum" sz="quarter" idx="12"/>
          </p:nvPr>
        </p:nvSpPr>
        <p:spPr/>
        <p:txBody>
          <a:bodyPr/>
          <a:lstStyle/>
          <a:p>
            <a:fld id="{8DCCD063-7F18-423D-A692-CC9D343FD360}" type="slidenum">
              <a:rPr lang="zh-TW" altLang="en-US" smtClean="0"/>
              <a:t>3</a:t>
            </a:fld>
            <a:endParaRPr lang="zh-TW" altLang="en-US"/>
          </a:p>
        </p:txBody>
      </p:sp>
    </p:spTree>
    <p:extLst>
      <p:ext uri="{BB962C8B-B14F-4D97-AF65-F5344CB8AC3E}">
        <p14:creationId xmlns:p14="http://schemas.microsoft.com/office/powerpoint/2010/main" val="3211968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54AC922-2271-4D49-AA73-7EBCD896ADC4}"/>
              </a:ext>
            </a:extLst>
          </p:cNvPr>
          <p:cNvSpPr>
            <a:spLocks noGrp="1"/>
          </p:cNvSpPr>
          <p:nvPr>
            <p:ph type="title"/>
          </p:nvPr>
        </p:nvSpPr>
        <p:spPr/>
        <p:txBody>
          <a:bodyPr/>
          <a:lstStyle/>
          <a:p>
            <a:r>
              <a:rPr lang="en-US" altLang="zh-TW" dirty="0"/>
              <a:t>Dynamic Time Warping</a:t>
            </a:r>
            <a:r>
              <a:rPr lang="zh-TW" altLang="en-US" dirty="0"/>
              <a:t> </a:t>
            </a:r>
            <a:r>
              <a:rPr lang="en-US" altLang="zh-TW" dirty="0"/>
              <a:t>(DTW)</a:t>
            </a:r>
            <a:endParaRPr lang="zh-TW" altLang="en-US" dirty="0"/>
          </a:p>
        </p:txBody>
      </p:sp>
      <p:pic>
        <p:nvPicPr>
          <p:cNvPr id="5" name="內容版面配置區 4">
            <a:extLst>
              <a:ext uri="{FF2B5EF4-FFF2-40B4-BE49-F238E27FC236}">
                <a16:creationId xmlns:a16="http://schemas.microsoft.com/office/drawing/2014/main" id="{81A37A44-4BA1-48AA-B4FB-E0BD4572876F}"/>
              </a:ext>
            </a:extLst>
          </p:cNvPr>
          <p:cNvPicPr>
            <a:picLocks noGrp="1" noChangeAspect="1"/>
          </p:cNvPicPr>
          <p:nvPr>
            <p:ph idx="1"/>
          </p:nvPr>
        </p:nvPicPr>
        <p:blipFill rotWithShape="1">
          <a:blip r:embed="rId2"/>
          <a:srcRect l="5701"/>
          <a:stretch/>
        </p:blipFill>
        <p:spPr>
          <a:xfrm>
            <a:off x="927908" y="1676121"/>
            <a:ext cx="4778433" cy="1447800"/>
          </a:xfrm>
          <a:prstGeom prst="rect">
            <a:avLst/>
          </a:prstGeom>
        </p:spPr>
      </p:pic>
      <p:sp>
        <p:nvSpPr>
          <p:cNvPr id="4" name="投影片編號版面配置區 3">
            <a:extLst>
              <a:ext uri="{FF2B5EF4-FFF2-40B4-BE49-F238E27FC236}">
                <a16:creationId xmlns:a16="http://schemas.microsoft.com/office/drawing/2014/main" id="{F5793629-EBB9-4A2C-B78D-04CDE6A1EF80}"/>
              </a:ext>
            </a:extLst>
          </p:cNvPr>
          <p:cNvSpPr>
            <a:spLocks noGrp="1"/>
          </p:cNvSpPr>
          <p:nvPr>
            <p:ph type="sldNum" sz="quarter" idx="12"/>
          </p:nvPr>
        </p:nvSpPr>
        <p:spPr/>
        <p:txBody>
          <a:bodyPr/>
          <a:lstStyle/>
          <a:p>
            <a:fld id="{8DCCD063-7F18-423D-A692-CC9D343FD360}" type="slidenum">
              <a:rPr lang="zh-TW" altLang="en-US" smtClean="0"/>
              <a:t>4</a:t>
            </a:fld>
            <a:endParaRPr lang="zh-TW" altLang="en-US" dirty="0"/>
          </a:p>
        </p:txBody>
      </p:sp>
      <p:pic>
        <p:nvPicPr>
          <p:cNvPr id="6" name="圖片 5">
            <a:extLst>
              <a:ext uri="{FF2B5EF4-FFF2-40B4-BE49-F238E27FC236}">
                <a16:creationId xmlns:a16="http://schemas.microsoft.com/office/drawing/2014/main" id="{40506DCB-2E41-47BB-B443-E6A4C58C5167}"/>
              </a:ext>
            </a:extLst>
          </p:cNvPr>
          <p:cNvPicPr>
            <a:picLocks noChangeAspect="1"/>
          </p:cNvPicPr>
          <p:nvPr/>
        </p:nvPicPr>
        <p:blipFill>
          <a:blip r:embed="rId3"/>
          <a:stretch>
            <a:fillRect/>
          </a:stretch>
        </p:blipFill>
        <p:spPr>
          <a:xfrm>
            <a:off x="838200" y="3352008"/>
            <a:ext cx="2314575" cy="447675"/>
          </a:xfrm>
          <a:prstGeom prst="rect">
            <a:avLst/>
          </a:prstGeom>
        </p:spPr>
      </p:pic>
      <p:pic>
        <p:nvPicPr>
          <p:cNvPr id="7" name="圖片 6">
            <a:extLst>
              <a:ext uri="{FF2B5EF4-FFF2-40B4-BE49-F238E27FC236}">
                <a16:creationId xmlns:a16="http://schemas.microsoft.com/office/drawing/2014/main" id="{4336A09E-8333-460D-866B-85BBF77B128A}"/>
              </a:ext>
            </a:extLst>
          </p:cNvPr>
          <p:cNvPicPr>
            <a:picLocks noChangeAspect="1"/>
          </p:cNvPicPr>
          <p:nvPr/>
        </p:nvPicPr>
        <p:blipFill>
          <a:blip r:embed="rId4"/>
          <a:stretch>
            <a:fillRect/>
          </a:stretch>
        </p:blipFill>
        <p:spPr>
          <a:xfrm>
            <a:off x="838200" y="4247544"/>
            <a:ext cx="3762375" cy="1571625"/>
          </a:xfrm>
          <a:prstGeom prst="rect">
            <a:avLst/>
          </a:prstGeom>
        </p:spPr>
      </p:pic>
      <p:pic>
        <p:nvPicPr>
          <p:cNvPr id="8" name="圖片 7">
            <a:extLst>
              <a:ext uri="{FF2B5EF4-FFF2-40B4-BE49-F238E27FC236}">
                <a16:creationId xmlns:a16="http://schemas.microsoft.com/office/drawing/2014/main" id="{4D5B4BC0-C708-4A9C-8402-96F95A55BCBC}"/>
              </a:ext>
            </a:extLst>
          </p:cNvPr>
          <p:cNvPicPr>
            <a:picLocks noChangeAspect="1"/>
          </p:cNvPicPr>
          <p:nvPr/>
        </p:nvPicPr>
        <p:blipFill>
          <a:blip r:embed="rId5"/>
          <a:stretch>
            <a:fillRect/>
          </a:stretch>
        </p:blipFill>
        <p:spPr>
          <a:xfrm>
            <a:off x="6038893" y="2413093"/>
            <a:ext cx="4982354" cy="3257438"/>
          </a:xfrm>
          <a:prstGeom prst="rect">
            <a:avLst/>
          </a:prstGeom>
        </p:spPr>
      </p:pic>
    </p:spTree>
    <p:extLst>
      <p:ext uri="{BB962C8B-B14F-4D97-AF65-F5344CB8AC3E}">
        <p14:creationId xmlns:p14="http://schemas.microsoft.com/office/powerpoint/2010/main" val="3013432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1A1CDF-DC2E-4D7D-AEA2-B685256DCC20}"/>
              </a:ext>
            </a:extLst>
          </p:cNvPr>
          <p:cNvSpPr>
            <a:spLocks noGrp="1"/>
          </p:cNvSpPr>
          <p:nvPr>
            <p:ph type="title"/>
          </p:nvPr>
        </p:nvSpPr>
        <p:spPr>
          <a:xfrm>
            <a:off x="750223" y="320673"/>
            <a:ext cx="10691553" cy="1325563"/>
          </a:xfrm>
        </p:spPr>
        <p:txBody>
          <a:bodyPr/>
          <a:lstStyle/>
          <a:p>
            <a:r>
              <a:rPr lang="en-US" altLang="zh-TW" dirty="0"/>
              <a:t>DTW</a:t>
            </a:r>
            <a:r>
              <a:rPr lang="zh-TW" altLang="en-US" dirty="0"/>
              <a:t> </a:t>
            </a:r>
            <a:r>
              <a:rPr lang="en-US" altLang="zh-TW" dirty="0"/>
              <a:t>based on Incremental Warping Window </a:t>
            </a:r>
            <a:endParaRPr lang="zh-TW" altLang="en-US" dirty="0"/>
          </a:p>
        </p:txBody>
      </p:sp>
      <p:sp>
        <p:nvSpPr>
          <p:cNvPr id="3" name="內容版面配置區 2">
            <a:extLst>
              <a:ext uri="{FF2B5EF4-FFF2-40B4-BE49-F238E27FC236}">
                <a16:creationId xmlns:a16="http://schemas.microsoft.com/office/drawing/2014/main" id="{7760C212-263F-45AD-81B1-AAF91BBC1AB7}"/>
              </a:ext>
            </a:extLst>
          </p:cNvPr>
          <p:cNvSpPr>
            <a:spLocks noGrp="1"/>
          </p:cNvSpPr>
          <p:nvPr>
            <p:ph idx="1"/>
          </p:nvPr>
        </p:nvSpPr>
        <p:spPr/>
        <p:txBody>
          <a:bodyPr/>
          <a:lstStyle/>
          <a:p>
            <a:r>
              <a:rPr lang="en-US" altLang="zh-TW" dirty="0"/>
              <a:t>Work Motivation</a:t>
            </a:r>
          </a:p>
          <a:p>
            <a:endParaRPr lang="en-US" altLang="zh-TW" dirty="0"/>
          </a:p>
          <a:p>
            <a:r>
              <a:rPr lang="en-US" altLang="zh-TW" dirty="0"/>
              <a:t>Incremental Warping Window (IWW)</a:t>
            </a:r>
          </a:p>
          <a:p>
            <a:endParaRPr lang="en-US" altLang="zh-TW" dirty="0"/>
          </a:p>
          <a:p>
            <a:r>
              <a:rPr lang="en-US" altLang="zh-TW" dirty="0"/>
              <a:t>Algorithm of DTW based on Incremental Warping Window (IWW)</a:t>
            </a:r>
            <a:endParaRPr lang="zh-TW" altLang="en-US" dirty="0"/>
          </a:p>
        </p:txBody>
      </p:sp>
      <p:sp>
        <p:nvSpPr>
          <p:cNvPr id="4" name="投影片編號版面配置區 3">
            <a:extLst>
              <a:ext uri="{FF2B5EF4-FFF2-40B4-BE49-F238E27FC236}">
                <a16:creationId xmlns:a16="http://schemas.microsoft.com/office/drawing/2014/main" id="{511D838A-8DEC-478B-808D-29BB36DB5804}"/>
              </a:ext>
            </a:extLst>
          </p:cNvPr>
          <p:cNvSpPr>
            <a:spLocks noGrp="1"/>
          </p:cNvSpPr>
          <p:nvPr>
            <p:ph type="sldNum" sz="quarter" idx="12"/>
          </p:nvPr>
        </p:nvSpPr>
        <p:spPr/>
        <p:txBody>
          <a:bodyPr/>
          <a:lstStyle/>
          <a:p>
            <a:fld id="{8DCCD063-7F18-423D-A692-CC9D343FD360}" type="slidenum">
              <a:rPr lang="zh-TW" altLang="en-US" smtClean="0"/>
              <a:t>5</a:t>
            </a:fld>
            <a:endParaRPr lang="zh-TW" altLang="en-US" dirty="0"/>
          </a:p>
        </p:txBody>
      </p:sp>
    </p:spTree>
    <p:extLst>
      <p:ext uri="{BB962C8B-B14F-4D97-AF65-F5344CB8AC3E}">
        <p14:creationId xmlns:p14="http://schemas.microsoft.com/office/powerpoint/2010/main" val="18010100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圖片 5">
            <a:extLst>
              <a:ext uri="{FF2B5EF4-FFF2-40B4-BE49-F238E27FC236}">
                <a16:creationId xmlns:a16="http://schemas.microsoft.com/office/drawing/2014/main" id="{A013EA53-46BB-4EA8-AAD6-E317D7F0A8C1}"/>
              </a:ext>
            </a:extLst>
          </p:cNvPr>
          <p:cNvPicPr>
            <a:picLocks noChangeAspect="1"/>
          </p:cNvPicPr>
          <p:nvPr/>
        </p:nvPicPr>
        <p:blipFill>
          <a:blip r:embed="rId2"/>
          <a:stretch>
            <a:fillRect/>
          </a:stretch>
        </p:blipFill>
        <p:spPr>
          <a:xfrm>
            <a:off x="7124700" y="30959"/>
            <a:ext cx="4229100" cy="3476625"/>
          </a:xfrm>
          <a:prstGeom prst="rect">
            <a:avLst/>
          </a:prstGeom>
        </p:spPr>
      </p:pic>
      <p:sp>
        <p:nvSpPr>
          <p:cNvPr id="2" name="標題 1">
            <a:extLst>
              <a:ext uri="{FF2B5EF4-FFF2-40B4-BE49-F238E27FC236}">
                <a16:creationId xmlns:a16="http://schemas.microsoft.com/office/drawing/2014/main" id="{EDA9F512-792D-4B4D-B6C3-37B2BDD71669}"/>
              </a:ext>
            </a:extLst>
          </p:cNvPr>
          <p:cNvSpPr>
            <a:spLocks noGrp="1"/>
          </p:cNvSpPr>
          <p:nvPr>
            <p:ph type="title"/>
          </p:nvPr>
        </p:nvSpPr>
        <p:spPr/>
        <p:txBody>
          <a:bodyPr/>
          <a:lstStyle/>
          <a:p>
            <a:r>
              <a:rPr lang="en-US" altLang="zh-TW" dirty="0"/>
              <a:t>Work Motivation</a:t>
            </a:r>
            <a:endParaRPr lang="zh-TW" altLang="en-US" dirty="0"/>
          </a:p>
        </p:txBody>
      </p:sp>
      <p:sp>
        <p:nvSpPr>
          <p:cNvPr id="3" name="內容版面配置區 2">
            <a:extLst>
              <a:ext uri="{FF2B5EF4-FFF2-40B4-BE49-F238E27FC236}">
                <a16:creationId xmlns:a16="http://schemas.microsoft.com/office/drawing/2014/main" id="{1E8C3C53-7B93-4091-9F53-BDF52B755021}"/>
              </a:ext>
            </a:extLst>
          </p:cNvPr>
          <p:cNvSpPr>
            <a:spLocks noGrp="1"/>
          </p:cNvSpPr>
          <p:nvPr>
            <p:ph idx="1"/>
          </p:nvPr>
        </p:nvSpPr>
        <p:spPr>
          <a:xfrm>
            <a:off x="838200" y="1847852"/>
            <a:ext cx="10515600" cy="4351338"/>
          </a:xfrm>
        </p:spPr>
        <p:txBody>
          <a:bodyPr/>
          <a:lstStyle/>
          <a:p>
            <a:r>
              <a:rPr lang="en-US" altLang="zh-TW" dirty="0"/>
              <a:t>DTW based on </a:t>
            </a:r>
            <a:r>
              <a:rPr lang="en-US" altLang="zh-TW" dirty="0" err="1"/>
              <a:t>Sakoe</a:t>
            </a:r>
            <a:r>
              <a:rPr lang="en-US" altLang="zh-TW" dirty="0"/>
              <a:t>-Chiba Band (SDTW)</a:t>
            </a:r>
          </a:p>
          <a:p>
            <a:r>
              <a:rPr lang="en-US" altLang="zh-TW" dirty="0"/>
              <a:t>Warping window :</a:t>
            </a:r>
            <a:r>
              <a:rPr lang="zh-TW" altLang="en-US" dirty="0"/>
              <a:t> </a:t>
            </a:r>
            <a:endParaRPr lang="en-US" altLang="zh-TW" dirty="0"/>
          </a:p>
          <a:p>
            <a:r>
              <a:rPr lang="en-US" altLang="zh-TW" dirty="0"/>
              <a:t>Disadvantages</a:t>
            </a:r>
          </a:p>
          <a:p>
            <a:pPr marL="514350" indent="-514350">
              <a:buFont typeface="+mj-lt"/>
              <a:buAutoNum type="arabicPeriod"/>
            </a:pPr>
            <a:r>
              <a:rPr lang="en-US" altLang="zh-TW" dirty="0"/>
              <a:t>r is often set to be 0.1, the long compared time series makes the warping window is large.</a:t>
            </a:r>
          </a:p>
          <a:p>
            <a:pPr marL="514350" indent="-514350">
              <a:buFont typeface="+mj-lt"/>
              <a:buAutoNum type="arabicPeriod"/>
            </a:pPr>
            <a:r>
              <a:rPr lang="en-US" altLang="zh-TW" dirty="0"/>
              <a:t>Warping window is a const value, different time points have the same size of the matching area.</a:t>
            </a:r>
          </a:p>
          <a:p>
            <a:pPr marL="514350" indent="-514350">
              <a:buFont typeface="+mj-lt"/>
              <a:buAutoNum type="arabicPeriod"/>
            </a:pPr>
            <a:r>
              <a:rPr lang="en-US" altLang="zh-TW" dirty="0"/>
              <a:t>SDTW is not robust for the stream time series with the changeable lengths. </a:t>
            </a:r>
            <a:endParaRPr lang="zh-TW" altLang="en-US" dirty="0"/>
          </a:p>
        </p:txBody>
      </p:sp>
      <p:sp>
        <p:nvSpPr>
          <p:cNvPr id="4" name="投影片編號版面配置區 3">
            <a:extLst>
              <a:ext uri="{FF2B5EF4-FFF2-40B4-BE49-F238E27FC236}">
                <a16:creationId xmlns:a16="http://schemas.microsoft.com/office/drawing/2014/main" id="{29F66926-C0C7-4FC6-9CCA-DEEE9A058084}"/>
              </a:ext>
            </a:extLst>
          </p:cNvPr>
          <p:cNvSpPr>
            <a:spLocks noGrp="1"/>
          </p:cNvSpPr>
          <p:nvPr>
            <p:ph type="sldNum" sz="quarter" idx="12"/>
          </p:nvPr>
        </p:nvSpPr>
        <p:spPr/>
        <p:txBody>
          <a:bodyPr/>
          <a:lstStyle/>
          <a:p>
            <a:fld id="{8DCCD063-7F18-423D-A692-CC9D343FD360}" type="slidenum">
              <a:rPr lang="zh-TW" altLang="en-US" smtClean="0"/>
              <a:t>6</a:t>
            </a:fld>
            <a:endParaRPr lang="zh-TW" altLang="en-US" dirty="0"/>
          </a:p>
        </p:txBody>
      </p:sp>
      <p:pic>
        <p:nvPicPr>
          <p:cNvPr id="5" name="圖片 4">
            <a:extLst>
              <a:ext uri="{FF2B5EF4-FFF2-40B4-BE49-F238E27FC236}">
                <a16:creationId xmlns:a16="http://schemas.microsoft.com/office/drawing/2014/main" id="{8ECF50F7-718A-4F19-8059-94010B15D122}"/>
              </a:ext>
            </a:extLst>
          </p:cNvPr>
          <p:cNvPicPr>
            <a:picLocks noChangeAspect="1"/>
          </p:cNvPicPr>
          <p:nvPr/>
        </p:nvPicPr>
        <p:blipFill>
          <a:blip r:embed="rId3"/>
          <a:stretch>
            <a:fillRect/>
          </a:stretch>
        </p:blipFill>
        <p:spPr>
          <a:xfrm>
            <a:off x="3916766" y="2325313"/>
            <a:ext cx="2474225" cy="467764"/>
          </a:xfrm>
          <a:prstGeom prst="rect">
            <a:avLst/>
          </a:prstGeom>
        </p:spPr>
      </p:pic>
    </p:spTree>
    <p:extLst>
      <p:ext uri="{BB962C8B-B14F-4D97-AF65-F5344CB8AC3E}">
        <p14:creationId xmlns:p14="http://schemas.microsoft.com/office/powerpoint/2010/main" val="3819460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圖片 18">
            <a:extLst>
              <a:ext uri="{FF2B5EF4-FFF2-40B4-BE49-F238E27FC236}">
                <a16:creationId xmlns:a16="http://schemas.microsoft.com/office/drawing/2014/main" id="{90D905C0-A050-411C-A934-12B7ACA52180}"/>
              </a:ext>
            </a:extLst>
          </p:cNvPr>
          <p:cNvPicPr>
            <a:picLocks noChangeAspect="1"/>
          </p:cNvPicPr>
          <p:nvPr/>
        </p:nvPicPr>
        <p:blipFill>
          <a:blip r:embed="rId2"/>
          <a:stretch>
            <a:fillRect/>
          </a:stretch>
        </p:blipFill>
        <p:spPr>
          <a:xfrm>
            <a:off x="6886634" y="1313166"/>
            <a:ext cx="4165396" cy="3382806"/>
          </a:xfrm>
          <a:prstGeom prst="rect">
            <a:avLst/>
          </a:prstGeom>
        </p:spPr>
      </p:pic>
      <p:sp>
        <p:nvSpPr>
          <p:cNvPr id="2" name="標題 1">
            <a:extLst>
              <a:ext uri="{FF2B5EF4-FFF2-40B4-BE49-F238E27FC236}">
                <a16:creationId xmlns:a16="http://schemas.microsoft.com/office/drawing/2014/main" id="{851E5FA1-1D9D-4262-9809-DFB450A67B67}"/>
              </a:ext>
            </a:extLst>
          </p:cNvPr>
          <p:cNvSpPr>
            <a:spLocks noGrp="1"/>
          </p:cNvSpPr>
          <p:nvPr>
            <p:ph type="title"/>
          </p:nvPr>
        </p:nvSpPr>
        <p:spPr/>
        <p:txBody>
          <a:bodyPr/>
          <a:lstStyle/>
          <a:p>
            <a:r>
              <a:rPr lang="en-US" altLang="zh-TW" dirty="0"/>
              <a:t>Incremental Warping Window (IWW) (1/2)</a:t>
            </a:r>
            <a:endParaRPr lang="zh-TW" altLang="en-US" dirty="0"/>
          </a:p>
        </p:txBody>
      </p:sp>
      <p:pic>
        <p:nvPicPr>
          <p:cNvPr id="5" name="內容版面配置區 4">
            <a:extLst>
              <a:ext uri="{FF2B5EF4-FFF2-40B4-BE49-F238E27FC236}">
                <a16:creationId xmlns:a16="http://schemas.microsoft.com/office/drawing/2014/main" id="{DC00AA6A-8040-4721-9AA6-E36ABFBD0BC5}"/>
              </a:ext>
            </a:extLst>
          </p:cNvPr>
          <p:cNvPicPr>
            <a:picLocks noGrp="1" noChangeAspect="1"/>
          </p:cNvPicPr>
          <p:nvPr>
            <p:ph idx="1"/>
          </p:nvPr>
        </p:nvPicPr>
        <p:blipFill>
          <a:blip r:embed="rId3"/>
          <a:stretch>
            <a:fillRect/>
          </a:stretch>
        </p:blipFill>
        <p:spPr>
          <a:xfrm>
            <a:off x="705714" y="3619310"/>
            <a:ext cx="3308011" cy="565069"/>
          </a:xfrm>
          <a:prstGeom prst="rect">
            <a:avLst/>
          </a:prstGeom>
        </p:spPr>
      </p:pic>
      <p:sp>
        <p:nvSpPr>
          <p:cNvPr id="4" name="投影片編號版面配置區 3">
            <a:extLst>
              <a:ext uri="{FF2B5EF4-FFF2-40B4-BE49-F238E27FC236}">
                <a16:creationId xmlns:a16="http://schemas.microsoft.com/office/drawing/2014/main" id="{40EB6E7E-50F8-4CB4-8DB3-747391A0730C}"/>
              </a:ext>
            </a:extLst>
          </p:cNvPr>
          <p:cNvSpPr>
            <a:spLocks noGrp="1"/>
          </p:cNvSpPr>
          <p:nvPr>
            <p:ph type="sldNum" sz="quarter" idx="12"/>
          </p:nvPr>
        </p:nvSpPr>
        <p:spPr>
          <a:xfrm>
            <a:off x="8610600" y="5999404"/>
            <a:ext cx="2743200" cy="365125"/>
          </a:xfrm>
        </p:spPr>
        <p:txBody>
          <a:bodyPr/>
          <a:lstStyle/>
          <a:p>
            <a:fld id="{8DCCD063-7F18-423D-A692-CC9D343FD360}" type="slidenum">
              <a:rPr lang="zh-TW" altLang="en-US" smtClean="0"/>
              <a:t>7</a:t>
            </a:fld>
            <a:endParaRPr lang="zh-TW" altLang="en-US" dirty="0"/>
          </a:p>
        </p:txBody>
      </p:sp>
      <p:pic>
        <p:nvPicPr>
          <p:cNvPr id="6" name="圖片 5">
            <a:extLst>
              <a:ext uri="{FF2B5EF4-FFF2-40B4-BE49-F238E27FC236}">
                <a16:creationId xmlns:a16="http://schemas.microsoft.com/office/drawing/2014/main" id="{CC39D737-BFA8-46F6-8957-7624ABF3C094}"/>
              </a:ext>
            </a:extLst>
          </p:cNvPr>
          <p:cNvPicPr>
            <a:picLocks noChangeAspect="1"/>
          </p:cNvPicPr>
          <p:nvPr/>
        </p:nvPicPr>
        <p:blipFill>
          <a:blip r:embed="rId4"/>
          <a:stretch>
            <a:fillRect/>
          </a:stretch>
        </p:blipFill>
        <p:spPr>
          <a:xfrm>
            <a:off x="586806" y="4270885"/>
            <a:ext cx="2614093" cy="1156033"/>
          </a:xfrm>
          <a:prstGeom prst="rect">
            <a:avLst/>
          </a:prstGeom>
        </p:spPr>
      </p:pic>
      <p:pic>
        <p:nvPicPr>
          <p:cNvPr id="7" name="圖片 6">
            <a:extLst>
              <a:ext uri="{FF2B5EF4-FFF2-40B4-BE49-F238E27FC236}">
                <a16:creationId xmlns:a16="http://schemas.microsoft.com/office/drawing/2014/main" id="{2932D3E9-62E6-427E-9DBA-501619A878A2}"/>
              </a:ext>
            </a:extLst>
          </p:cNvPr>
          <p:cNvPicPr>
            <a:picLocks noChangeAspect="1"/>
          </p:cNvPicPr>
          <p:nvPr/>
        </p:nvPicPr>
        <p:blipFill>
          <a:blip r:embed="rId5"/>
          <a:stretch>
            <a:fillRect/>
          </a:stretch>
        </p:blipFill>
        <p:spPr>
          <a:xfrm>
            <a:off x="705714" y="5570857"/>
            <a:ext cx="4599654" cy="565068"/>
          </a:xfrm>
          <a:prstGeom prst="rect">
            <a:avLst/>
          </a:prstGeom>
        </p:spPr>
      </p:pic>
      <p:pic>
        <p:nvPicPr>
          <p:cNvPr id="8" name="圖片 7">
            <a:extLst>
              <a:ext uri="{FF2B5EF4-FFF2-40B4-BE49-F238E27FC236}">
                <a16:creationId xmlns:a16="http://schemas.microsoft.com/office/drawing/2014/main" id="{BCB9B8DD-3BA6-4179-88C0-C7BA20C1C025}"/>
              </a:ext>
            </a:extLst>
          </p:cNvPr>
          <p:cNvPicPr>
            <a:picLocks noChangeAspect="1"/>
          </p:cNvPicPr>
          <p:nvPr/>
        </p:nvPicPr>
        <p:blipFill>
          <a:blip r:embed="rId6"/>
          <a:stretch>
            <a:fillRect/>
          </a:stretch>
        </p:blipFill>
        <p:spPr>
          <a:xfrm>
            <a:off x="6886634" y="4912078"/>
            <a:ext cx="4381500" cy="1190625"/>
          </a:xfrm>
          <a:prstGeom prst="rect">
            <a:avLst/>
          </a:prstGeom>
        </p:spPr>
      </p:pic>
      <p:cxnSp>
        <p:nvCxnSpPr>
          <p:cNvPr id="10" name="直線接點 9">
            <a:extLst>
              <a:ext uri="{FF2B5EF4-FFF2-40B4-BE49-F238E27FC236}">
                <a16:creationId xmlns:a16="http://schemas.microsoft.com/office/drawing/2014/main" id="{87B29A6F-9F94-4222-AC31-7845BA848C1C}"/>
              </a:ext>
            </a:extLst>
          </p:cNvPr>
          <p:cNvCxnSpPr>
            <a:cxnSpLocks/>
          </p:cNvCxnSpPr>
          <p:nvPr/>
        </p:nvCxnSpPr>
        <p:spPr>
          <a:xfrm flipV="1">
            <a:off x="4013725" y="3887240"/>
            <a:ext cx="1906810" cy="14604"/>
          </a:xfrm>
          <a:prstGeom prst="line">
            <a:avLst/>
          </a:prstGeom>
        </p:spPr>
        <p:style>
          <a:lnRef idx="1">
            <a:schemeClr val="dk1"/>
          </a:lnRef>
          <a:fillRef idx="0">
            <a:schemeClr val="dk1"/>
          </a:fillRef>
          <a:effectRef idx="0">
            <a:schemeClr val="dk1"/>
          </a:effectRef>
          <a:fontRef idx="minor">
            <a:schemeClr val="tx1"/>
          </a:fontRef>
        </p:style>
      </p:cxnSp>
      <p:cxnSp>
        <p:nvCxnSpPr>
          <p:cNvPr id="11" name="直線接點 10">
            <a:extLst>
              <a:ext uri="{FF2B5EF4-FFF2-40B4-BE49-F238E27FC236}">
                <a16:creationId xmlns:a16="http://schemas.microsoft.com/office/drawing/2014/main" id="{1EEBAA76-0225-4AED-94CE-929447325A16}"/>
              </a:ext>
            </a:extLst>
          </p:cNvPr>
          <p:cNvCxnSpPr>
            <a:cxnSpLocks/>
          </p:cNvCxnSpPr>
          <p:nvPr/>
        </p:nvCxnSpPr>
        <p:spPr>
          <a:xfrm>
            <a:off x="5381595" y="5891117"/>
            <a:ext cx="538940" cy="0"/>
          </a:xfrm>
          <a:prstGeom prst="line">
            <a:avLst/>
          </a:prstGeom>
        </p:spPr>
        <p:style>
          <a:lnRef idx="1">
            <a:schemeClr val="dk1"/>
          </a:lnRef>
          <a:fillRef idx="0">
            <a:schemeClr val="dk1"/>
          </a:fillRef>
          <a:effectRef idx="0">
            <a:schemeClr val="dk1"/>
          </a:effectRef>
          <a:fontRef idx="minor">
            <a:schemeClr val="tx1"/>
          </a:fontRef>
        </p:style>
      </p:cxnSp>
      <p:cxnSp>
        <p:nvCxnSpPr>
          <p:cNvPr id="13" name="直線接點 12">
            <a:extLst>
              <a:ext uri="{FF2B5EF4-FFF2-40B4-BE49-F238E27FC236}">
                <a16:creationId xmlns:a16="http://schemas.microsoft.com/office/drawing/2014/main" id="{9F92EADA-6A75-4A77-BCD1-16C7B3CBA1DB}"/>
              </a:ext>
            </a:extLst>
          </p:cNvPr>
          <p:cNvCxnSpPr>
            <a:cxnSpLocks/>
          </p:cNvCxnSpPr>
          <p:nvPr/>
        </p:nvCxnSpPr>
        <p:spPr>
          <a:xfrm>
            <a:off x="5920535" y="3887240"/>
            <a:ext cx="0" cy="2001106"/>
          </a:xfrm>
          <a:prstGeom prst="line">
            <a:avLst/>
          </a:prstGeom>
        </p:spPr>
        <p:style>
          <a:lnRef idx="1">
            <a:schemeClr val="dk1"/>
          </a:lnRef>
          <a:fillRef idx="0">
            <a:schemeClr val="dk1"/>
          </a:fillRef>
          <a:effectRef idx="0">
            <a:schemeClr val="dk1"/>
          </a:effectRef>
          <a:fontRef idx="minor">
            <a:schemeClr val="tx1"/>
          </a:fontRef>
        </p:style>
      </p:cxnSp>
      <p:cxnSp>
        <p:nvCxnSpPr>
          <p:cNvPr id="18" name="直線單箭頭接點 17">
            <a:extLst>
              <a:ext uri="{FF2B5EF4-FFF2-40B4-BE49-F238E27FC236}">
                <a16:creationId xmlns:a16="http://schemas.microsoft.com/office/drawing/2014/main" id="{399180F0-26C0-4372-ACEC-EE9119003C4A}"/>
              </a:ext>
            </a:extLst>
          </p:cNvPr>
          <p:cNvCxnSpPr/>
          <p:nvPr/>
        </p:nvCxnSpPr>
        <p:spPr>
          <a:xfrm>
            <a:off x="5920535" y="5452119"/>
            <a:ext cx="74087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5" name="文字方塊 24">
            <a:extLst>
              <a:ext uri="{FF2B5EF4-FFF2-40B4-BE49-F238E27FC236}">
                <a16:creationId xmlns:a16="http://schemas.microsoft.com/office/drawing/2014/main" id="{ECFF0BF2-EB58-4528-AD10-D58B6753E256}"/>
              </a:ext>
            </a:extLst>
          </p:cNvPr>
          <p:cNvSpPr txBox="1"/>
          <p:nvPr/>
        </p:nvSpPr>
        <p:spPr>
          <a:xfrm>
            <a:off x="790699" y="1669031"/>
            <a:ext cx="5870710" cy="1569660"/>
          </a:xfrm>
          <a:prstGeom prst="rect">
            <a:avLst/>
          </a:prstGeom>
          <a:noFill/>
        </p:spPr>
        <p:txBody>
          <a:bodyPr wrap="none" rtlCol="0">
            <a:spAutoFit/>
          </a:bodyPr>
          <a:lstStyle/>
          <a:p>
            <a:r>
              <a:rPr lang="en-US" altLang="zh-TW" sz="2400" dirty="0"/>
              <a:t>Given two stream time series </a:t>
            </a:r>
          </a:p>
          <a:p>
            <a:r>
              <a:rPr lang="en-US" altLang="zh-TW" sz="2400" dirty="0" err="1"/>
              <a:t>X</a:t>
            </a:r>
            <a:r>
              <a:rPr lang="en-US" altLang="zh-TW" sz="2400" baseline="30000" dirty="0" err="1"/>
              <a:t>mi</a:t>
            </a:r>
            <a:r>
              <a:rPr lang="en-US" altLang="zh-TW" sz="2400" dirty="0"/>
              <a:t> = {x</a:t>
            </a:r>
            <a:r>
              <a:rPr lang="en-US" altLang="zh-TW" sz="2400" baseline="-25000" dirty="0"/>
              <a:t>1</a:t>
            </a:r>
            <a:r>
              <a:rPr lang="en-US" altLang="zh-TW" sz="2400" dirty="0"/>
              <a:t>, x</a:t>
            </a:r>
            <a:r>
              <a:rPr lang="en-US" altLang="zh-TW" sz="2400" baseline="-25000" dirty="0"/>
              <a:t>2</a:t>
            </a:r>
            <a:r>
              <a:rPr lang="en-US" altLang="zh-TW" sz="2400" dirty="0"/>
              <a:t>, ..., x</a:t>
            </a:r>
            <a:r>
              <a:rPr lang="en-US" altLang="zh-TW" sz="2400" baseline="-25000" dirty="0"/>
              <a:t>m0</a:t>
            </a:r>
            <a:r>
              <a:rPr lang="en-US" altLang="zh-TW" sz="2400" dirty="0"/>
              <a:t>} and </a:t>
            </a:r>
            <a:r>
              <a:rPr lang="en-US" altLang="zh-TW" sz="2400" dirty="0" err="1"/>
              <a:t>Y</a:t>
            </a:r>
            <a:r>
              <a:rPr lang="en-US" altLang="zh-TW" sz="2400" baseline="30000" dirty="0" err="1"/>
              <a:t>ni</a:t>
            </a:r>
            <a:r>
              <a:rPr lang="en-US" altLang="zh-TW" sz="2400" dirty="0"/>
              <a:t> = {y</a:t>
            </a:r>
            <a:r>
              <a:rPr lang="en-US" altLang="zh-TW" sz="2400" baseline="-25000" dirty="0"/>
              <a:t>1</a:t>
            </a:r>
            <a:r>
              <a:rPr lang="en-US" altLang="zh-TW" sz="2400" dirty="0"/>
              <a:t>, y</a:t>
            </a:r>
            <a:r>
              <a:rPr lang="en-US" altLang="zh-TW" sz="2400" baseline="-25000" dirty="0"/>
              <a:t>2</a:t>
            </a:r>
            <a:r>
              <a:rPr lang="en-US" altLang="zh-TW" sz="2400" dirty="0"/>
              <a:t>, …, y</a:t>
            </a:r>
            <a:r>
              <a:rPr lang="en-US" altLang="zh-TW" sz="2400" baseline="-25000" dirty="0"/>
              <a:t>n0</a:t>
            </a:r>
            <a:r>
              <a:rPr lang="en-US" altLang="zh-TW" sz="2400" dirty="0"/>
              <a:t>}</a:t>
            </a:r>
          </a:p>
          <a:p>
            <a:r>
              <a:rPr lang="en-US" altLang="zh-TW" sz="2400" dirty="0"/>
              <a:t>Two increased stream time series </a:t>
            </a:r>
            <a:r>
              <a:rPr lang="en-US" altLang="zh-TW" sz="2400" dirty="0" err="1"/>
              <a:t>X</a:t>
            </a:r>
            <a:r>
              <a:rPr lang="en-US" altLang="zh-TW" sz="2400" baseline="30000" dirty="0" err="1"/>
              <a:t>mi</a:t>
            </a:r>
            <a:r>
              <a:rPr lang="en-US" altLang="zh-TW" sz="2400" baseline="30000" dirty="0"/>
              <a:t> </a:t>
            </a:r>
            <a:r>
              <a:rPr lang="en-US" altLang="zh-TW" sz="2400" dirty="0"/>
              <a:t>and </a:t>
            </a:r>
            <a:r>
              <a:rPr lang="en-US" altLang="zh-TW" sz="2400" dirty="0" err="1"/>
              <a:t>Y</a:t>
            </a:r>
            <a:r>
              <a:rPr lang="en-US" altLang="zh-TW" sz="2400" baseline="30000" dirty="0" err="1"/>
              <a:t>ni</a:t>
            </a:r>
            <a:endParaRPr lang="en-US" altLang="zh-TW" sz="2400" baseline="30000" dirty="0"/>
          </a:p>
          <a:p>
            <a:r>
              <a:rPr lang="en-US" altLang="zh-TW" sz="2400" dirty="0"/>
              <a:t>where </a:t>
            </a:r>
            <a:r>
              <a:rPr lang="en-US" altLang="zh-TW" sz="2400" dirty="0" err="1"/>
              <a:t>i</a:t>
            </a:r>
            <a:r>
              <a:rPr lang="en-US" altLang="zh-TW" sz="2400" dirty="0"/>
              <a:t> = 2, 3, …, m</a:t>
            </a:r>
            <a:r>
              <a:rPr lang="en-US" altLang="zh-TW" sz="2400" baseline="-25000" dirty="0"/>
              <a:t>i</a:t>
            </a:r>
            <a:r>
              <a:rPr lang="en-US" altLang="zh-TW" sz="2400" dirty="0"/>
              <a:t> &gt; m</a:t>
            </a:r>
            <a:r>
              <a:rPr lang="en-US" altLang="zh-TW" sz="2400" baseline="-25000" dirty="0"/>
              <a:t>0 </a:t>
            </a:r>
            <a:r>
              <a:rPr lang="en-US" altLang="zh-TW" sz="2400" dirty="0"/>
              <a:t>and </a:t>
            </a:r>
            <a:r>
              <a:rPr lang="en-US" altLang="zh-TW" sz="2400" dirty="0" err="1"/>
              <a:t>n</a:t>
            </a:r>
            <a:r>
              <a:rPr lang="en-US" altLang="zh-TW" sz="2400" baseline="-25000" dirty="0" err="1"/>
              <a:t>i</a:t>
            </a:r>
            <a:r>
              <a:rPr lang="en-US" altLang="zh-TW" sz="2400" dirty="0"/>
              <a:t> &gt; n</a:t>
            </a:r>
            <a:r>
              <a:rPr lang="en-US" altLang="zh-TW" sz="2400" baseline="-25000" dirty="0"/>
              <a:t>0</a:t>
            </a:r>
          </a:p>
        </p:txBody>
      </p:sp>
    </p:spTree>
    <p:extLst>
      <p:ext uri="{BB962C8B-B14F-4D97-AF65-F5344CB8AC3E}">
        <p14:creationId xmlns:p14="http://schemas.microsoft.com/office/powerpoint/2010/main" val="165415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1E5FA1-1D9D-4262-9809-DFB450A67B67}"/>
              </a:ext>
            </a:extLst>
          </p:cNvPr>
          <p:cNvSpPr>
            <a:spLocks noGrp="1"/>
          </p:cNvSpPr>
          <p:nvPr>
            <p:ph type="title"/>
          </p:nvPr>
        </p:nvSpPr>
        <p:spPr/>
        <p:txBody>
          <a:bodyPr/>
          <a:lstStyle/>
          <a:p>
            <a:r>
              <a:rPr lang="en-US" altLang="zh-TW" dirty="0"/>
              <a:t>Incremental Warping Window (IWW) (2/2)</a:t>
            </a:r>
            <a:endParaRPr lang="zh-TW" altLang="en-US" dirty="0"/>
          </a:p>
        </p:txBody>
      </p:sp>
      <p:sp>
        <p:nvSpPr>
          <p:cNvPr id="4" name="投影片編號版面配置區 3">
            <a:extLst>
              <a:ext uri="{FF2B5EF4-FFF2-40B4-BE49-F238E27FC236}">
                <a16:creationId xmlns:a16="http://schemas.microsoft.com/office/drawing/2014/main" id="{40EB6E7E-50F8-4CB4-8DB3-747391A0730C}"/>
              </a:ext>
            </a:extLst>
          </p:cNvPr>
          <p:cNvSpPr>
            <a:spLocks noGrp="1"/>
          </p:cNvSpPr>
          <p:nvPr>
            <p:ph type="sldNum" sz="quarter" idx="12"/>
          </p:nvPr>
        </p:nvSpPr>
        <p:spPr>
          <a:xfrm>
            <a:off x="8610600" y="5999404"/>
            <a:ext cx="2743200" cy="365125"/>
          </a:xfrm>
        </p:spPr>
        <p:txBody>
          <a:bodyPr/>
          <a:lstStyle/>
          <a:p>
            <a:fld id="{8DCCD063-7F18-423D-A692-CC9D343FD360}" type="slidenum">
              <a:rPr lang="zh-TW" altLang="en-US" smtClean="0"/>
              <a:t>8</a:t>
            </a:fld>
            <a:endParaRPr lang="zh-TW" altLang="en-US" dirty="0"/>
          </a:p>
        </p:txBody>
      </p:sp>
      <p:pic>
        <p:nvPicPr>
          <p:cNvPr id="12" name="內容版面配置區 11">
            <a:extLst>
              <a:ext uri="{FF2B5EF4-FFF2-40B4-BE49-F238E27FC236}">
                <a16:creationId xmlns:a16="http://schemas.microsoft.com/office/drawing/2014/main" id="{42D6B688-1FFF-4E40-BB08-65983D12F6CA}"/>
              </a:ext>
            </a:extLst>
          </p:cNvPr>
          <p:cNvPicPr>
            <a:picLocks noGrp="1" noChangeAspect="1"/>
          </p:cNvPicPr>
          <p:nvPr>
            <p:ph idx="1"/>
          </p:nvPr>
        </p:nvPicPr>
        <p:blipFill>
          <a:blip r:embed="rId2"/>
          <a:stretch>
            <a:fillRect/>
          </a:stretch>
        </p:blipFill>
        <p:spPr>
          <a:xfrm>
            <a:off x="587556" y="1521143"/>
            <a:ext cx="5005670" cy="3607810"/>
          </a:xfrm>
          <a:prstGeom prst="rect">
            <a:avLst/>
          </a:prstGeom>
        </p:spPr>
      </p:pic>
      <p:pic>
        <p:nvPicPr>
          <p:cNvPr id="14" name="圖片 13">
            <a:extLst>
              <a:ext uri="{FF2B5EF4-FFF2-40B4-BE49-F238E27FC236}">
                <a16:creationId xmlns:a16="http://schemas.microsoft.com/office/drawing/2014/main" id="{C5F415F5-4561-47EF-8A5E-AE169356A03D}"/>
              </a:ext>
            </a:extLst>
          </p:cNvPr>
          <p:cNvPicPr>
            <a:picLocks noChangeAspect="1"/>
          </p:cNvPicPr>
          <p:nvPr/>
        </p:nvPicPr>
        <p:blipFill>
          <a:blip r:embed="rId3"/>
          <a:stretch>
            <a:fillRect/>
          </a:stretch>
        </p:blipFill>
        <p:spPr>
          <a:xfrm>
            <a:off x="5827985" y="1735703"/>
            <a:ext cx="5565229" cy="3386593"/>
          </a:xfrm>
          <a:prstGeom prst="rect">
            <a:avLst/>
          </a:prstGeom>
        </p:spPr>
      </p:pic>
      <p:sp>
        <p:nvSpPr>
          <p:cNvPr id="15" name="文字方塊 14">
            <a:extLst>
              <a:ext uri="{FF2B5EF4-FFF2-40B4-BE49-F238E27FC236}">
                <a16:creationId xmlns:a16="http://schemas.microsoft.com/office/drawing/2014/main" id="{FC67D31B-F866-4D6B-A479-CB6503A6A0BC}"/>
              </a:ext>
            </a:extLst>
          </p:cNvPr>
          <p:cNvSpPr txBox="1"/>
          <p:nvPr/>
        </p:nvSpPr>
        <p:spPr>
          <a:xfrm>
            <a:off x="2159924" y="5453972"/>
            <a:ext cx="8397042" cy="830997"/>
          </a:xfrm>
          <a:prstGeom prst="rect">
            <a:avLst/>
          </a:prstGeom>
          <a:noFill/>
        </p:spPr>
        <p:txBody>
          <a:bodyPr wrap="none" rtlCol="0">
            <a:spAutoFit/>
          </a:bodyPr>
          <a:lstStyle/>
          <a:p>
            <a:r>
              <a:rPr lang="en-US" altLang="zh-TW" sz="2400" dirty="0"/>
              <a:t>b is 0</a:t>
            </a:r>
          </a:p>
          <a:p>
            <a:r>
              <a:rPr lang="en-US" altLang="zh-TW" sz="2400" dirty="0"/>
              <a:t>w and h are set to 1 -&gt; The length of the coming subsequences is 1</a:t>
            </a:r>
            <a:endParaRPr lang="zh-TW" altLang="en-US" sz="2400" dirty="0"/>
          </a:p>
        </p:txBody>
      </p:sp>
    </p:spTree>
    <p:extLst>
      <p:ext uri="{BB962C8B-B14F-4D97-AF65-F5344CB8AC3E}">
        <p14:creationId xmlns:p14="http://schemas.microsoft.com/office/powerpoint/2010/main" val="839719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B37F48-DC2E-4BE4-9B38-CB8FBC66F73D}"/>
              </a:ext>
            </a:extLst>
          </p:cNvPr>
          <p:cNvSpPr>
            <a:spLocks noGrp="1"/>
          </p:cNvSpPr>
          <p:nvPr>
            <p:ph type="title"/>
          </p:nvPr>
        </p:nvSpPr>
        <p:spPr>
          <a:xfrm>
            <a:off x="537754" y="-92073"/>
            <a:ext cx="10515600" cy="1325563"/>
          </a:xfrm>
        </p:spPr>
        <p:txBody>
          <a:bodyPr>
            <a:normAutofit/>
          </a:bodyPr>
          <a:lstStyle/>
          <a:p>
            <a:r>
              <a:rPr lang="en-US" altLang="zh-TW" dirty="0"/>
              <a:t>Algorithm of DTW based on IWW</a:t>
            </a:r>
            <a:endParaRPr lang="zh-TW" altLang="en-US" dirty="0"/>
          </a:p>
        </p:txBody>
      </p:sp>
      <p:sp>
        <p:nvSpPr>
          <p:cNvPr id="4" name="投影片編號版面配置區 3">
            <a:extLst>
              <a:ext uri="{FF2B5EF4-FFF2-40B4-BE49-F238E27FC236}">
                <a16:creationId xmlns:a16="http://schemas.microsoft.com/office/drawing/2014/main" id="{C769DDC5-8B6D-46DD-8A79-76E3A008FE43}"/>
              </a:ext>
            </a:extLst>
          </p:cNvPr>
          <p:cNvSpPr>
            <a:spLocks noGrp="1"/>
          </p:cNvSpPr>
          <p:nvPr>
            <p:ph type="sldNum" sz="quarter" idx="12"/>
          </p:nvPr>
        </p:nvSpPr>
        <p:spPr/>
        <p:txBody>
          <a:bodyPr/>
          <a:lstStyle/>
          <a:p>
            <a:fld id="{8DCCD063-7F18-423D-A692-CC9D343FD360}" type="slidenum">
              <a:rPr lang="zh-TW" altLang="en-US" smtClean="0"/>
              <a:t>9</a:t>
            </a:fld>
            <a:endParaRPr lang="zh-TW" altLang="en-US" dirty="0"/>
          </a:p>
        </p:txBody>
      </p:sp>
      <p:pic>
        <p:nvPicPr>
          <p:cNvPr id="9" name="內容版面配置區 8">
            <a:extLst>
              <a:ext uri="{FF2B5EF4-FFF2-40B4-BE49-F238E27FC236}">
                <a16:creationId xmlns:a16="http://schemas.microsoft.com/office/drawing/2014/main" id="{C5DB21BF-03C2-481E-82B1-92CDB211639C}"/>
              </a:ext>
            </a:extLst>
          </p:cNvPr>
          <p:cNvPicPr>
            <a:picLocks noGrp="1" noChangeAspect="1"/>
          </p:cNvPicPr>
          <p:nvPr>
            <p:ph idx="1"/>
          </p:nvPr>
        </p:nvPicPr>
        <p:blipFill>
          <a:blip r:embed="rId2"/>
          <a:stretch>
            <a:fillRect/>
          </a:stretch>
        </p:blipFill>
        <p:spPr>
          <a:xfrm>
            <a:off x="759603" y="1010977"/>
            <a:ext cx="3928776" cy="5620332"/>
          </a:xfrm>
          <a:prstGeom prst="rect">
            <a:avLst/>
          </a:prstGeom>
        </p:spPr>
      </p:pic>
      <p:pic>
        <p:nvPicPr>
          <p:cNvPr id="10" name="圖片 9">
            <a:extLst>
              <a:ext uri="{FF2B5EF4-FFF2-40B4-BE49-F238E27FC236}">
                <a16:creationId xmlns:a16="http://schemas.microsoft.com/office/drawing/2014/main" id="{FA41C55D-2FEA-4F9B-B317-295BA48DF588}"/>
              </a:ext>
            </a:extLst>
          </p:cNvPr>
          <p:cNvPicPr>
            <a:picLocks noChangeAspect="1"/>
          </p:cNvPicPr>
          <p:nvPr/>
        </p:nvPicPr>
        <p:blipFill>
          <a:blip r:embed="rId3"/>
          <a:stretch>
            <a:fillRect/>
          </a:stretch>
        </p:blipFill>
        <p:spPr>
          <a:xfrm>
            <a:off x="5503545" y="2723358"/>
            <a:ext cx="5391150" cy="2143125"/>
          </a:xfrm>
          <a:prstGeom prst="rect">
            <a:avLst/>
          </a:prstGeom>
        </p:spPr>
      </p:pic>
    </p:spTree>
    <p:extLst>
      <p:ext uri="{BB962C8B-B14F-4D97-AF65-F5344CB8AC3E}">
        <p14:creationId xmlns:p14="http://schemas.microsoft.com/office/powerpoint/2010/main" val="20396423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41DCFB-1EF5-40C0-9603-A8C779638818}"/>
              </a:ext>
            </a:extLst>
          </p:cNvPr>
          <p:cNvSpPr>
            <a:spLocks noGrp="1"/>
          </p:cNvSpPr>
          <p:nvPr>
            <p:ph type="title"/>
          </p:nvPr>
        </p:nvSpPr>
        <p:spPr/>
        <p:txBody>
          <a:bodyPr/>
          <a:lstStyle/>
          <a:p>
            <a:r>
              <a:rPr lang="en-US" altLang="zh-TW" dirty="0"/>
              <a:t>Experimental Results (1/3)</a:t>
            </a:r>
            <a:endParaRPr lang="zh-TW" altLang="en-US" dirty="0"/>
          </a:p>
        </p:txBody>
      </p:sp>
      <p:pic>
        <p:nvPicPr>
          <p:cNvPr id="5" name="內容版面配置區 4">
            <a:extLst>
              <a:ext uri="{FF2B5EF4-FFF2-40B4-BE49-F238E27FC236}">
                <a16:creationId xmlns:a16="http://schemas.microsoft.com/office/drawing/2014/main" id="{ECC5A1BC-D6CE-4576-BA4A-888908AC2B63}"/>
              </a:ext>
            </a:extLst>
          </p:cNvPr>
          <p:cNvPicPr>
            <a:picLocks noGrp="1" noChangeAspect="1"/>
          </p:cNvPicPr>
          <p:nvPr>
            <p:ph idx="1"/>
          </p:nvPr>
        </p:nvPicPr>
        <p:blipFill>
          <a:blip r:embed="rId2"/>
          <a:stretch>
            <a:fillRect/>
          </a:stretch>
        </p:blipFill>
        <p:spPr>
          <a:xfrm>
            <a:off x="838200" y="2051052"/>
            <a:ext cx="8029575" cy="4305300"/>
          </a:xfrm>
          <a:prstGeom prst="rect">
            <a:avLst/>
          </a:prstGeom>
        </p:spPr>
      </p:pic>
      <p:sp>
        <p:nvSpPr>
          <p:cNvPr id="4" name="投影片編號版面配置區 3">
            <a:extLst>
              <a:ext uri="{FF2B5EF4-FFF2-40B4-BE49-F238E27FC236}">
                <a16:creationId xmlns:a16="http://schemas.microsoft.com/office/drawing/2014/main" id="{433819B4-477E-4A73-8599-5CC494C6562A}"/>
              </a:ext>
            </a:extLst>
          </p:cNvPr>
          <p:cNvSpPr>
            <a:spLocks noGrp="1"/>
          </p:cNvSpPr>
          <p:nvPr>
            <p:ph type="sldNum" sz="quarter" idx="12"/>
          </p:nvPr>
        </p:nvSpPr>
        <p:spPr/>
        <p:txBody>
          <a:bodyPr/>
          <a:lstStyle/>
          <a:p>
            <a:fld id="{8DCCD063-7F18-423D-A692-CC9D343FD360}" type="slidenum">
              <a:rPr lang="zh-TW" altLang="en-US" smtClean="0"/>
              <a:t>10</a:t>
            </a:fld>
            <a:endParaRPr lang="zh-TW" altLang="en-US" dirty="0"/>
          </a:p>
        </p:txBody>
      </p:sp>
      <p:sp>
        <p:nvSpPr>
          <p:cNvPr id="6" name="文字方塊 5">
            <a:extLst>
              <a:ext uri="{FF2B5EF4-FFF2-40B4-BE49-F238E27FC236}">
                <a16:creationId xmlns:a16="http://schemas.microsoft.com/office/drawing/2014/main" id="{D40289DA-7F97-47CC-95C5-21836B8DF751}"/>
              </a:ext>
            </a:extLst>
          </p:cNvPr>
          <p:cNvSpPr txBox="1"/>
          <p:nvPr/>
        </p:nvSpPr>
        <p:spPr>
          <a:xfrm>
            <a:off x="3918468" y="1393539"/>
            <a:ext cx="1869038" cy="584775"/>
          </a:xfrm>
          <a:prstGeom prst="rect">
            <a:avLst/>
          </a:prstGeom>
          <a:noFill/>
        </p:spPr>
        <p:txBody>
          <a:bodyPr wrap="none" rtlCol="0">
            <a:spAutoFit/>
          </a:bodyPr>
          <a:lstStyle/>
          <a:p>
            <a:r>
              <a:rPr lang="en-US" altLang="zh-TW" sz="3200" dirty="0">
                <a:solidFill>
                  <a:srgbClr val="FF0000"/>
                </a:solidFill>
              </a:rPr>
              <a:t>Error Rate</a:t>
            </a:r>
            <a:endParaRPr lang="zh-TW" altLang="en-US" sz="3200" dirty="0">
              <a:solidFill>
                <a:srgbClr val="FF0000"/>
              </a:solidFill>
            </a:endParaRPr>
          </a:p>
        </p:txBody>
      </p:sp>
    </p:spTree>
    <p:extLst>
      <p:ext uri="{BB962C8B-B14F-4D97-AF65-F5344CB8AC3E}">
        <p14:creationId xmlns:p14="http://schemas.microsoft.com/office/powerpoint/2010/main" val="34823873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41DCFB-1EF5-40C0-9603-A8C779638818}"/>
              </a:ext>
            </a:extLst>
          </p:cNvPr>
          <p:cNvSpPr>
            <a:spLocks noGrp="1"/>
          </p:cNvSpPr>
          <p:nvPr>
            <p:ph type="title"/>
          </p:nvPr>
        </p:nvSpPr>
        <p:spPr/>
        <p:txBody>
          <a:bodyPr/>
          <a:lstStyle/>
          <a:p>
            <a:r>
              <a:rPr lang="en-US" altLang="zh-TW" dirty="0"/>
              <a:t>Experimental Results (2/3)</a:t>
            </a:r>
            <a:endParaRPr lang="zh-TW" altLang="en-US" dirty="0"/>
          </a:p>
        </p:txBody>
      </p:sp>
      <p:sp>
        <p:nvSpPr>
          <p:cNvPr id="4" name="投影片編號版面配置區 3">
            <a:extLst>
              <a:ext uri="{FF2B5EF4-FFF2-40B4-BE49-F238E27FC236}">
                <a16:creationId xmlns:a16="http://schemas.microsoft.com/office/drawing/2014/main" id="{433819B4-477E-4A73-8599-5CC494C6562A}"/>
              </a:ext>
            </a:extLst>
          </p:cNvPr>
          <p:cNvSpPr>
            <a:spLocks noGrp="1"/>
          </p:cNvSpPr>
          <p:nvPr>
            <p:ph type="sldNum" sz="quarter" idx="12"/>
          </p:nvPr>
        </p:nvSpPr>
        <p:spPr/>
        <p:txBody>
          <a:bodyPr/>
          <a:lstStyle/>
          <a:p>
            <a:fld id="{8DCCD063-7F18-423D-A692-CC9D343FD360}" type="slidenum">
              <a:rPr lang="zh-TW" altLang="en-US" smtClean="0"/>
              <a:t>11</a:t>
            </a:fld>
            <a:endParaRPr lang="zh-TW" altLang="en-US" dirty="0"/>
          </a:p>
        </p:txBody>
      </p:sp>
      <p:pic>
        <p:nvPicPr>
          <p:cNvPr id="8" name="內容版面配置區 7">
            <a:extLst>
              <a:ext uri="{FF2B5EF4-FFF2-40B4-BE49-F238E27FC236}">
                <a16:creationId xmlns:a16="http://schemas.microsoft.com/office/drawing/2014/main" id="{E4C0CD1C-D12D-415C-A13A-1DDDA5C91766}"/>
              </a:ext>
            </a:extLst>
          </p:cNvPr>
          <p:cNvPicPr>
            <a:picLocks noGrp="1" noChangeAspect="1"/>
          </p:cNvPicPr>
          <p:nvPr>
            <p:ph idx="1"/>
          </p:nvPr>
        </p:nvPicPr>
        <p:blipFill>
          <a:blip r:embed="rId2"/>
          <a:stretch>
            <a:fillRect/>
          </a:stretch>
        </p:blipFill>
        <p:spPr>
          <a:xfrm>
            <a:off x="472914" y="1690690"/>
            <a:ext cx="5227755" cy="4351338"/>
          </a:xfrm>
          <a:prstGeom prst="rect">
            <a:avLst/>
          </a:prstGeom>
        </p:spPr>
      </p:pic>
      <p:pic>
        <p:nvPicPr>
          <p:cNvPr id="9" name="圖片 8">
            <a:extLst>
              <a:ext uri="{FF2B5EF4-FFF2-40B4-BE49-F238E27FC236}">
                <a16:creationId xmlns:a16="http://schemas.microsoft.com/office/drawing/2014/main" id="{EEC74494-823A-4A20-9BBE-25A88EEB9224}"/>
              </a:ext>
            </a:extLst>
          </p:cNvPr>
          <p:cNvPicPr>
            <a:picLocks noChangeAspect="1"/>
          </p:cNvPicPr>
          <p:nvPr/>
        </p:nvPicPr>
        <p:blipFill>
          <a:blip r:embed="rId3"/>
          <a:stretch>
            <a:fillRect/>
          </a:stretch>
        </p:blipFill>
        <p:spPr>
          <a:xfrm>
            <a:off x="6146569" y="1690690"/>
            <a:ext cx="4928062" cy="4213530"/>
          </a:xfrm>
          <a:prstGeom prst="rect">
            <a:avLst/>
          </a:prstGeom>
        </p:spPr>
      </p:pic>
      <p:sp>
        <p:nvSpPr>
          <p:cNvPr id="10" name="文字方塊 9">
            <a:extLst>
              <a:ext uri="{FF2B5EF4-FFF2-40B4-BE49-F238E27FC236}">
                <a16:creationId xmlns:a16="http://schemas.microsoft.com/office/drawing/2014/main" id="{B5249435-E977-47C0-8783-E5845082E2C2}"/>
              </a:ext>
            </a:extLst>
          </p:cNvPr>
          <p:cNvSpPr txBox="1"/>
          <p:nvPr/>
        </p:nvSpPr>
        <p:spPr>
          <a:xfrm>
            <a:off x="5306693" y="1331981"/>
            <a:ext cx="1869038" cy="584775"/>
          </a:xfrm>
          <a:prstGeom prst="rect">
            <a:avLst/>
          </a:prstGeom>
          <a:noFill/>
        </p:spPr>
        <p:txBody>
          <a:bodyPr wrap="none" rtlCol="0">
            <a:spAutoFit/>
          </a:bodyPr>
          <a:lstStyle/>
          <a:p>
            <a:r>
              <a:rPr lang="en-US" altLang="zh-TW" sz="3200" dirty="0">
                <a:solidFill>
                  <a:srgbClr val="FF0000"/>
                </a:solidFill>
              </a:rPr>
              <a:t>Error Rate</a:t>
            </a:r>
            <a:endParaRPr lang="zh-TW" altLang="en-US" sz="3200" dirty="0">
              <a:solidFill>
                <a:srgbClr val="FF0000"/>
              </a:solidFill>
            </a:endParaRPr>
          </a:p>
        </p:txBody>
      </p:sp>
    </p:spTree>
    <p:extLst>
      <p:ext uri="{BB962C8B-B14F-4D97-AF65-F5344CB8AC3E}">
        <p14:creationId xmlns:p14="http://schemas.microsoft.com/office/powerpoint/2010/main" val="17626487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D41DCFB-1EF5-40C0-9603-A8C779638818}"/>
              </a:ext>
            </a:extLst>
          </p:cNvPr>
          <p:cNvSpPr>
            <a:spLocks noGrp="1"/>
          </p:cNvSpPr>
          <p:nvPr>
            <p:ph type="title"/>
          </p:nvPr>
        </p:nvSpPr>
        <p:spPr/>
        <p:txBody>
          <a:bodyPr/>
          <a:lstStyle/>
          <a:p>
            <a:r>
              <a:rPr lang="en-US" altLang="zh-TW" dirty="0"/>
              <a:t>Experimental Results (3/3)</a:t>
            </a:r>
            <a:endParaRPr lang="zh-TW" altLang="en-US" dirty="0"/>
          </a:p>
        </p:txBody>
      </p:sp>
      <p:sp>
        <p:nvSpPr>
          <p:cNvPr id="4" name="投影片編號版面配置區 3">
            <a:extLst>
              <a:ext uri="{FF2B5EF4-FFF2-40B4-BE49-F238E27FC236}">
                <a16:creationId xmlns:a16="http://schemas.microsoft.com/office/drawing/2014/main" id="{433819B4-477E-4A73-8599-5CC494C6562A}"/>
              </a:ext>
            </a:extLst>
          </p:cNvPr>
          <p:cNvSpPr>
            <a:spLocks noGrp="1"/>
          </p:cNvSpPr>
          <p:nvPr>
            <p:ph type="sldNum" sz="quarter" idx="12"/>
          </p:nvPr>
        </p:nvSpPr>
        <p:spPr/>
        <p:txBody>
          <a:bodyPr/>
          <a:lstStyle/>
          <a:p>
            <a:fld id="{8DCCD063-7F18-423D-A692-CC9D343FD360}" type="slidenum">
              <a:rPr lang="zh-TW" altLang="en-US" smtClean="0"/>
              <a:t>12</a:t>
            </a:fld>
            <a:endParaRPr lang="zh-TW" altLang="en-US" dirty="0"/>
          </a:p>
        </p:txBody>
      </p:sp>
      <p:pic>
        <p:nvPicPr>
          <p:cNvPr id="6" name="內容版面配置區 5">
            <a:extLst>
              <a:ext uri="{FF2B5EF4-FFF2-40B4-BE49-F238E27FC236}">
                <a16:creationId xmlns:a16="http://schemas.microsoft.com/office/drawing/2014/main" id="{C0D083C0-4538-4FC0-991E-A2FA946D7FCC}"/>
              </a:ext>
            </a:extLst>
          </p:cNvPr>
          <p:cNvPicPr>
            <a:picLocks noGrp="1" noChangeAspect="1"/>
          </p:cNvPicPr>
          <p:nvPr>
            <p:ph idx="1"/>
          </p:nvPr>
        </p:nvPicPr>
        <p:blipFill>
          <a:blip r:embed="rId2"/>
          <a:stretch>
            <a:fillRect/>
          </a:stretch>
        </p:blipFill>
        <p:spPr>
          <a:xfrm>
            <a:off x="798292" y="2009944"/>
            <a:ext cx="5026723" cy="3746935"/>
          </a:xfrm>
          <a:prstGeom prst="rect">
            <a:avLst/>
          </a:prstGeom>
        </p:spPr>
      </p:pic>
      <p:pic>
        <p:nvPicPr>
          <p:cNvPr id="7" name="圖片 6">
            <a:extLst>
              <a:ext uri="{FF2B5EF4-FFF2-40B4-BE49-F238E27FC236}">
                <a16:creationId xmlns:a16="http://schemas.microsoft.com/office/drawing/2014/main" id="{D903ED21-2ACB-4B3C-9FF7-2A14E6B346BF}"/>
              </a:ext>
            </a:extLst>
          </p:cNvPr>
          <p:cNvPicPr>
            <a:picLocks noChangeAspect="1"/>
          </p:cNvPicPr>
          <p:nvPr/>
        </p:nvPicPr>
        <p:blipFill>
          <a:blip r:embed="rId3"/>
          <a:stretch>
            <a:fillRect/>
          </a:stretch>
        </p:blipFill>
        <p:spPr>
          <a:xfrm>
            <a:off x="5941111" y="1928552"/>
            <a:ext cx="5338978" cy="3698946"/>
          </a:xfrm>
          <a:prstGeom prst="rect">
            <a:avLst/>
          </a:prstGeom>
        </p:spPr>
      </p:pic>
    </p:spTree>
    <p:extLst>
      <p:ext uri="{BB962C8B-B14F-4D97-AF65-F5344CB8AC3E}">
        <p14:creationId xmlns:p14="http://schemas.microsoft.com/office/powerpoint/2010/main" val="4265186240"/>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Ru">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37272</TotalTime>
  <Words>447</Words>
  <Application>Microsoft Office PowerPoint</Application>
  <PresentationFormat>寬螢幕</PresentationFormat>
  <Paragraphs>52</Paragraphs>
  <Slides>12</Slides>
  <Notes>1</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12</vt:i4>
      </vt:variant>
    </vt:vector>
  </HeadingPairs>
  <TitlesOfParts>
    <vt:vector size="16" baseType="lpstr">
      <vt:lpstr>Arial</vt:lpstr>
      <vt:lpstr>Calibri</vt:lpstr>
      <vt:lpstr>Tw Cen MT</vt:lpstr>
      <vt:lpstr>Office 佈景主題</vt:lpstr>
      <vt:lpstr>Similarity Measure Based on Incremental Warping Window for Time Series Data Mining</vt:lpstr>
      <vt:lpstr>Abstract (1/2)</vt:lpstr>
      <vt:lpstr>Abstract (2/2)</vt:lpstr>
      <vt:lpstr>Dynamic Time Warping (DTW)</vt:lpstr>
      <vt:lpstr>DTW based on Incremental Warping Window </vt:lpstr>
      <vt:lpstr>Work Motivation</vt:lpstr>
      <vt:lpstr>Incremental Warping Window (IWW) (1/2)</vt:lpstr>
      <vt:lpstr>Incremental Warping Window (IWW) (2/2)</vt:lpstr>
      <vt:lpstr>Algorithm of DTW based on IWW</vt:lpstr>
      <vt:lpstr>Experimental Results (1/3)</vt:lpstr>
      <vt:lpstr>Experimental Results (2/3)</vt:lpstr>
      <vt:lpstr>Experimental Results (3/3)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series for blind biosignal classification model</dc:title>
  <dc:creator>喵owo</dc:creator>
  <cp:lastModifiedBy>M063040030</cp:lastModifiedBy>
  <cp:revision>614</cp:revision>
  <dcterms:created xsi:type="dcterms:W3CDTF">2017-10-09T09:38:00Z</dcterms:created>
  <dcterms:modified xsi:type="dcterms:W3CDTF">2019-05-27T06:26:49Z</dcterms:modified>
</cp:coreProperties>
</file>