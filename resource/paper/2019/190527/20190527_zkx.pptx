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7" r:id="rId2"/>
    <p:sldId id="258" r:id="rId3"/>
    <p:sldId id="259" r:id="rId4"/>
    <p:sldId id="313" r:id="rId5"/>
    <p:sldId id="314" r:id="rId6"/>
    <p:sldId id="260" r:id="rId7"/>
    <p:sldId id="261" r:id="rId8"/>
    <p:sldId id="264" r:id="rId9"/>
    <p:sldId id="265" r:id="rId10"/>
    <p:sldId id="262" r:id="rId11"/>
    <p:sldId id="285" r:id="rId12"/>
    <p:sldId id="286" r:id="rId13"/>
    <p:sldId id="266" r:id="rId14"/>
    <p:sldId id="284" r:id="rId15"/>
    <p:sldId id="279" r:id="rId16"/>
    <p:sldId id="276" r:id="rId17"/>
    <p:sldId id="267" r:id="rId18"/>
    <p:sldId id="281" r:id="rId19"/>
    <p:sldId id="277" r:id="rId20"/>
    <p:sldId id="268" r:id="rId21"/>
    <p:sldId id="283" r:id="rId22"/>
    <p:sldId id="287" r:id="rId23"/>
    <p:sldId id="294" r:id="rId24"/>
    <p:sldId id="295" r:id="rId25"/>
    <p:sldId id="296" r:id="rId26"/>
    <p:sldId id="304" r:id="rId27"/>
    <p:sldId id="288" r:id="rId28"/>
    <p:sldId id="297" r:id="rId29"/>
    <p:sldId id="303" r:id="rId30"/>
    <p:sldId id="309" r:id="rId31"/>
    <p:sldId id="310" r:id="rId32"/>
    <p:sldId id="311" r:id="rId33"/>
    <p:sldId id="312"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4660"/>
  </p:normalViewPr>
  <p:slideViewPr>
    <p:cSldViewPr snapToGrid="0">
      <p:cViewPr varScale="1">
        <p:scale>
          <a:sx n="61" d="100"/>
          <a:sy n="61" d="100"/>
        </p:scale>
        <p:origin x="81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E1CC90-5860-4773-94E4-A7C5C8AC2E96}" type="datetimeFigureOut">
              <a:rPr lang="zh-CN" altLang="en-US" smtClean="0"/>
              <a:t>2019/5/27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0889F-DB18-4D0A-BA0B-9C49CA35EF45}" type="slidenum">
              <a:rPr lang="zh-CN" altLang="en-US" smtClean="0"/>
              <a:t>‹#›</a:t>
            </a:fld>
            <a:endParaRPr lang="zh-CN" altLang="en-US"/>
          </a:p>
        </p:txBody>
      </p:sp>
    </p:spTree>
    <p:extLst>
      <p:ext uri="{BB962C8B-B14F-4D97-AF65-F5344CB8AC3E}">
        <p14:creationId xmlns:p14="http://schemas.microsoft.com/office/powerpoint/2010/main" val="3436611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microsoft.com/en-us/research/project/academic/articles/microsoft-academic-analytics/"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www.bing.com/academic/?mkt=zh-CN"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en.wikipedia.org/wiki/Lyapunov_stability"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en.wikipedia.org/wiki/Lyapunov_stability"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zh.wikipedia.org/zh-tw/%E9%B2%81%E6%A3%92%E6%8E%A7%E5%88%B6"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zh.wikipedia.org/zh-tw/%E7%BA%BF%E6%80%A7%E7%9F%A9%E9%98%B5%E4%B8%8D%E7%AD%89%E5%BC%8F"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hlinkClick r:id="rId3"/>
              </a:rPr>
              <a:t>https://www.microsoft.com/en-us/research/project/academic/articles/microsoft-academic-analytics/</a:t>
            </a:r>
            <a:endParaRPr lang="en-US" altLang="zh-CN" dirty="0"/>
          </a:p>
          <a:p>
            <a:pPr marL="0" lvl="0" indent="0" algn="l" rtl="0">
              <a:spcBef>
                <a:spcPts val="0"/>
              </a:spcBef>
              <a:spcAft>
                <a:spcPts val="0"/>
              </a:spcAft>
              <a:buNone/>
            </a:pPr>
            <a:r>
              <a:rPr lang="en-US" altLang="zh-CN">
                <a:hlinkClick r:id="rId4"/>
              </a:rPr>
              <a:t>https://www.bing.com/academic/?mkt=zh-CN</a:t>
            </a:r>
            <a:endParaRPr lang="en-US"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139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9579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.Mamdani, E. H. (1974). </a:t>
            </a:r>
            <a:r>
              <a:rPr lang="en-US" b="0" i="0" u="sng" baseline="0" dirty="0"/>
              <a:t>Application of fuzzy algorithms for control of simple dynamic plant</a:t>
            </a:r>
            <a:r>
              <a:rPr lang="en-US" b="0" i="0" u="none" baseline="0" dirty="0"/>
              <a:t>. Proceedings of the institution of electrical engineers, IET.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8834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.Mamdani, E. H. and S. </a:t>
            </a:r>
            <a:r>
              <a:rPr lang="en-US" b="0" i="0" u="none" baseline="0" dirty="0" err="1"/>
              <a:t>Assilian</a:t>
            </a:r>
            <a:r>
              <a:rPr lang="en-US" b="0" i="0" u="none" baseline="0" dirty="0"/>
              <a:t> (1975). "An experiment in linguistic synthesis with a fuzzy logic controller." </a:t>
            </a:r>
            <a:r>
              <a:rPr lang="en-US" b="0" i="0" u="sng" baseline="0" dirty="0"/>
              <a:t>International journal of man-machine studies</a:t>
            </a:r>
            <a:r>
              <a:rPr lang="en-US" b="0" i="0" u="none" baseline="0" dirty="0"/>
              <a:t> </a:t>
            </a:r>
            <a:r>
              <a:rPr lang="en-US" b="1" i="0" u="none" baseline="0" dirty="0"/>
              <a:t>7</a:t>
            </a:r>
            <a:r>
              <a:rPr lang="en-US" b="0" i="0" u="none" baseline="0" dirty="0"/>
              <a:t>(1): 1-13.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0366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Mendel, J. M. and R. B. John (2002). "Type-2 fuzzy sets made simple." </a:t>
            </a:r>
            <a:r>
              <a:rPr lang="en-US" b="0" i="0" u="sng" baseline="0" dirty="0"/>
              <a:t>IEEE Transactions on Fuzzy systems</a:t>
            </a:r>
            <a:r>
              <a:rPr lang="en-US" b="0" i="0" u="none" baseline="0" dirty="0"/>
              <a:t> </a:t>
            </a:r>
            <a:r>
              <a:rPr lang="en-US" b="1" i="0" u="none" baseline="0" dirty="0"/>
              <a:t>10</a:t>
            </a:r>
            <a:r>
              <a:rPr lang="en-US" b="0" i="0" u="none" baseline="0" dirty="0"/>
              <a:t>(2): 117-127.</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6659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4449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a:t>
            </a:r>
            <a:r>
              <a:rPr lang="en-US" b="0" i="0" u="none" baseline="0" dirty="0" err="1"/>
              <a:t>Sugeno</a:t>
            </a:r>
            <a:r>
              <a:rPr lang="en-US" b="0" i="0" u="none" baseline="0" dirty="0"/>
              <a:t>, M. (1999). "On stability of fuzzy systems expressed by fuzzy rules with singleton consequents." </a:t>
            </a:r>
            <a:r>
              <a:rPr lang="en-US" b="0" i="0" u="sng" baseline="0" dirty="0"/>
              <a:t>IEEE Transactions on Fuzzy systems</a:t>
            </a:r>
            <a:r>
              <a:rPr lang="en-US" b="0" i="0" u="none" baseline="0" dirty="0"/>
              <a:t> </a:t>
            </a:r>
            <a:r>
              <a:rPr lang="en-US" b="1" i="0" u="none" baseline="0" dirty="0"/>
              <a:t>7</a:t>
            </a:r>
            <a:r>
              <a:rPr lang="en-US" b="0" i="0" u="none" baseline="0" dirty="0"/>
              <a:t>(2): 201-224.</a:t>
            </a:r>
          </a:p>
          <a:p>
            <a:pPr marL="0" lvl="0" indent="0" algn="l" rtl="0">
              <a:spcBef>
                <a:spcPts val="0"/>
              </a:spcBef>
              <a:spcAft>
                <a:spcPts val="0"/>
              </a:spcAft>
              <a:buNone/>
            </a:pPr>
            <a:r>
              <a:rPr lang="en-US" b="0" i="0" u="none" baseline="0" dirty="0"/>
              <a:t>Nguyen, A.-T., et al. (2017). "LMI-based stability analysis for piecewise multi-affine systems." </a:t>
            </a:r>
            <a:r>
              <a:rPr lang="en-US" b="0" i="0" u="sng" baseline="0" dirty="0"/>
              <a:t>IEEE Transactions on Fuzzy systems</a:t>
            </a:r>
            <a:r>
              <a:rPr lang="en-US" b="0" i="0" u="none" baseline="0" dirty="0"/>
              <a:t> </a:t>
            </a:r>
            <a:r>
              <a:rPr lang="en-US" b="1" i="0" u="none" baseline="0" dirty="0"/>
              <a:t>25</a:t>
            </a:r>
            <a:r>
              <a:rPr lang="en-US" b="0" i="0" u="none" baseline="0" dirty="0"/>
              <a:t>(3): 707-714.</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1630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hlinkClick r:id="rId3"/>
              </a:rPr>
              <a:t>https://en.wikipedia.org/wiki/Lyapunov_stability</a:t>
            </a:r>
            <a:endParaRPr lang="en-US" altLang="zh-CN" dirty="0"/>
          </a:p>
          <a:p>
            <a:pPr marL="0" lvl="0" indent="0" algn="l" rtl="0">
              <a:spcBef>
                <a:spcPts val="0"/>
              </a:spcBef>
              <a:spcAft>
                <a:spcPts val="0"/>
              </a:spcAft>
              <a:buNone/>
            </a:pPr>
            <a:r>
              <a:rPr lang="en-US" b="0" i="0" u="none" baseline="0" dirty="0"/>
              <a:t>Tanaka, K. and M. </a:t>
            </a:r>
            <a:r>
              <a:rPr lang="en-US" b="0" i="0" u="none" baseline="0" dirty="0" err="1"/>
              <a:t>Sugeno</a:t>
            </a:r>
            <a:r>
              <a:rPr lang="en-US" b="0" i="0" u="none" baseline="0" dirty="0"/>
              <a:t> (1992). "Stability analysis and design of fuzzy control systems." </a:t>
            </a:r>
            <a:r>
              <a:rPr lang="en-US" b="0" i="0" u="sng" baseline="0" dirty="0"/>
              <a:t>Fuzzy sets and systems</a:t>
            </a:r>
            <a:r>
              <a:rPr lang="en-US" b="0" i="0" u="none" baseline="0" dirty="0"/>
              <a:t> </a:t>
            </a:r>
            <a:r>
              <a:rPr lang="en-US" b="1" i="0" u="none" baseline="0" dirty="0"/>
              <a:t>45</a:t>
            </a:r>
            <a:r>
              <a:rPr lang="en-US" b="0" i="0" u="none" baseline="0" dirty="0"/>
              <a:t>(2): 135-156.</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7704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hlinkClick r:id="rId3"/>
              </a:rPr>
              <a:t>https://en.wikipedia.org/wiki/Lyapunov_stability</a:t>
            </a:r>
            <a:endParaRPr lang="en-US" altLang="zh-CN" dirty="0"/>
          </a:p>
          <a:p>
            <a:pPr marL="0" lvl="0" indent="0" algn="l" rtl="0">
              <a:spcBef>
                <a:spcPts val="0"/>
              </a:spcBef>
              <a:spcAft>
                <a:spcPts val="0"/>
              </a:spcAft>
              <a:buNone/>
            </a:pPr>
            <a:r>
              <a:rPr lang="en-US" b="0" i="0" u="none" baseline="0" dirty="0"/>
              <a:t>Tanaka, K. and M. </a:t>
            </a:r>
            <a:r>
              <a:rPr lang="en-US" b="0" i="0" u="none" baseline="0" dirty="0" err="1"/>
              <a:t>Sugeno</a:t>
            </a:r>
            <a:r>
              <a:rPr lang="en-US" b="0" i="0" u="none" baseline="0" dirty="0"/>
              <a:t> (1992). "Stability analysis and design of fuzzy control systems." </a:t>
            </a:r>
            <a:r>
              <a:rPr lang="en-US" b="0" i="0" u="sng" baseline="0" dirty="0"/>
              <a:t>Fuzzy sets and systems</a:t>
            </a:r>
            <a:r>
              <a:rPr lang="en-US" b="0" i="0" u="none" baseline="0" dirty="0"/>
              <a:t> </a:t>
            </a:r>
            <a:r>
              <a:rPr lang="en-US" b="1" i="0" u="none" baseline="0" dirty="0"/>
              <a:t>45</a:t>
            </a:r>
            <a:r>
              <a:rPr lang="en-US" b="0" i="0" u="none" baseline="0" dirty="0"/>
              <a:t>(2): 135-156.</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4910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hlinkClick r:id="rId3"/>
              </a:rPr>
              <a:t>https://zh.wikipedia.org/zh-tw/%E9%B2%81%E6%A3%92%E6%8E%A7%E5%88%B6</a:t>
            </a:r>
            <a:r>
              <a:rPr lang="en-US" b="0" i="0" u="none" baseline="0" dirty="0"/>
              <a:t>	</a:t>
            </a:r>
          </a:p>
          <a:p>
            <a:pPr marL="0" lvl="0" indent="0" algn="l" rtl="0">
              <a:spcBef>
                <a:spcPts val="0"/>
              </a:spcBef>
              <a:spcAft>
                <a:spcPts val="0"/>
              </a:spcAft>
              <a:buNone/>
            </a:pPr>
            <a:r>
              <a:rPr lang="en-US" b="0" i="0" u="none" baseline="0" dirty="0" err="1"/>
              <a:t>Malinen</a:t>
            </a:r>
            <a:r>
              <a:rPr lang="en-US" b="0" i="0" u="none" baseline="0" dirty="0"/>
              <a:t>, J. and O. J. </a:t>
            </a:r>
            <a:r>
              <a:rPr lang="en-US" b="0" i="0" u="none" baseline="0" dirty="0" err="1"/>
              <a:t>Staffans</a:t>
            </a:r>
            <a:r>
              <a:rPr lang="en-US" b="0" i="0" u="none" baseline="0" dirty="0"/>
              <a:t> (2006). "Conservative boundary control systems." </a:t>
            </a:r>
            <a:r>
              <a:rPr lang="en-US" b="0" i="0" u="sng" baseline="0" dirty="0"/>
              <a:t>Journal of Differential Equations</a:t>
            </a:r>
            <a:r>
              <a:rPr lang="en-US" b="0" i="0" u="none" baseline="0" dirty="0"/>
              <a:t> </a:t>
            </a:r>
            <a:r>
              <a:rPr lang="en-US" b="1" i="0" u="none" baseline="0" dirty="0"/>
              <a:t>231</a:t>
            </a:r>
            <a:r>
              <a:rPr lang="en-US" b="0" i="0" u="none" baseline="0" dirty="0"/>
              <a:t>(1): 290-312.</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4613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hlinkClick r:id="rId3"/>
              </a:rPr>
              <a:t>https://zh.wikipedia.org/zh-tw/%E7%BA%BF%E6%80%A7%E7%9F%A9%E9%98%B5%E4%B8%8D%E7%AD%89%E5%BC%8F</a:t>
            </a: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4786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4730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62437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	</a:t>
            </a:r>
            <a:r>
              <a:rPr lang="en-US" altLang="zh-CN" b="0" i="0" u="none" baseline="0" dirty="0"/>
              <a:t>.Mamdani, E. H. and S. </a:t>
            </a:r>
            <a:r>
              <a:rPr lang="en-US" altLang="zh-CN" b="0" i="0" u="none" baseline="0" dirty="0" err="1"/>
              <a:t>Assilian</a:t>
            </a:r>
            <a:r>
              <a:rPr lang="en-US" altLang="zh-CN" b="0" i="0" u="none" baseline="0" dirty="0"/>
              <a:t> (1975). "An experiment in linguistic synthesis with a fuzzy logic controller." </a:t>
            </a:r>
            <a:r>
              <a:rPr lang="en-US" altLang="zh-CN" b="0" i="0" u="sng" baseline="0" dirty="0"/>
              <a:t>International journal of man-machine studies</a:t>
            </a:r>
            <a:r>
              <a:rPr lang="en-US" altLang="zh-CN" b="0" i="0" u="none" baseline="0" dirty="0"/>
              <a:t> </a:t>
            </a:r>
            <a:r>
              <a:rPr lang="en-US" altLang="zh-CN" b="1" i="0" u="none" baseline="0" dirty="0"/>
              <a:t>7</a:t>
            </a:r>
            <a:r>
              <a:rPr lang="en-US" altLang="zh-CN" b="0" i="0" u="none" baseline="0" dirty="0"/>
              <a:t>(1): 1-13.</a:t>
            </a:r>
          </a:p>
          <a:p>
            <a:pPr marL="0" lvl="0" indent="0" algn="l" rtl="0">
              <a:spcBef>
                <a:spcPts val="0"/>
              </a:spcBef>
              <a:spcAft>
                <a:spcPts val="0"/>
              </a:spcAft>
              <a:buNone/>
            </a:pPr>
            <a:endParaRPr lang="en-US" b="0" i="0" u="none" baseline="0" dirty="0"/>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4233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11660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8290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1095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3367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78029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67875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20097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34935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40911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22385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82837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02889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33119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32040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49543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.Takagi, T. and M. </a:t>
            </a:r>
            <a:r>
              <a:rPr lang="en-US" b="0" i="0" u="none" baseline="0" dirty="0" err="1"/>
              <a:t>Sugeno</a:t>
            </a:r>
            <a:r>
              <a:rPr lang="en-US" b="0" i="0" u="none" baseline="0" dirty="0"/>
              <a:t> (1993). Fuzzy identification of systems and its applications to modeling and control. </a:t>
            </a:r>
            <a:r>
              <a:rPr lang="en-US" b="0" i="0" u="sng" baseline="0" dirty="0"/>
              <a:t>Readings in Fuzzy Sets for Intelligent Systems</a:t>
            </a:r>
            <a:r>
              <a:rPr lang="en-US" b="0" i="0" u="none" baseline="0" dirty="0"/>
              <a:t>, Elsevier</a:t>
            </a:r>
            <a:r>
              <a:rPr lang="en-US" b="1" i="0" u="none" baseline="0" dirty="0"/>
              <a:t>: </a:t>
            </a:r>
            <a:r>
              <a:rPr lang="en-US" b="0" i="0" u="none" baseline="0" dirty="0"/>
              <a:t>387-403.</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3237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2019/5/27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2019/5/27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2019/5/27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2019/5/27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tmp"/></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0.tmp"/><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tmp"/></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4.png"/></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856855" y="471398"/>
            <a:ext cx="10477020" cy="1356957"/>
          </a:xfrm>
          <a:prstGeom prst="rect">
            <a:avLst/>
          </a:prstGeom>
          <a:noFill/>
          <a:ln>
            <a:noFill/>
          </a:ln>
        </p:spPr>
        <p:txBody>
          <a:bodyPr spcFirstLastPara="1" wrap="square" lIns="91425" tIns="45700" rIns="91425" bIns="45700" anchor="b" anchorCtr="0">
            <a:noAutofit/>
          </a:bodyPr>
          <a:lstStyle/>
          <a:p>
            <a:pPr lvl="0">
              <a:buSzPts val="3600"/>
            </a:pPr>
            <a:r>
              <a:rPr lang="en-US" sz="3600" dirty="0">
                <a:latin typeface="Calibri" panose="020F0502020204030204" charset="0"/>
                <a:cs typeface="Calibri" panose="020F0502020204030204" charset="0"/>
              </a:rPr>
              <a:t>Fuzzy Control Systems: Past, Present and Future</a:t>
            </a:r>
          </a:p>
        </p:txBody>
      </p:sp>
      <p:sp>
        <p:nvSpPr>
          <p:cNvPr id="90" name="Google Shape;90;p13"/>
          <p:cNvSpPr txBox="1">
            <a:spLocks noGrp="1"/>
          </p:cNvSpPr>
          <p:nvPr>
            <p:ph type="subTitle" idx="1"/>
          </p:nvPr>
        </p:nvSpPr>
        <p:spPr>
          <a:xfrm>
            <a:off x="1145540" y="2339975"/>
            <a:ext cx="9899650" cy="1039495"/>
          </a:xfrm>
          <a:prstGeom prst="rect">
            <a:avLst/>
          </a:prstGeom>
          <a:noFill/>
          <a:ln>
            <a:noFill/>
          </a:ln>
        </p:spPr>
        <p:txBody>
          <a:bodyPr spcFirstLastPara="1" wrap="square" lIns="91425" tIns="45700" rIns="91425" bIns="45700" anchor="t" anchorCtr="0">
            <a:noAutofit/>
          </a:bodyPr>
          <a:lstStyle/>
          <a:p>
            <a:pPr lvl="0">
              <a:spcBef>
                <a:spcPts val="0"/>
              </a:spcBef>
              <a:buSzPts val="2800"/>
            </a:pPr>
            <a:r>
              <a:rPr lang="es-ES" altLang="zh-CN" dirty="0"/>
              <a:t>Anh-Tu Nguyen</a:t>
            </a:r>
            <a:r>
              <a:rPr lang="en-US" altLang="zh-CN" dirty="0"/>
              <a:t>, </a:t>
            </a:r>
            <a:r>
              <a:rPr lang="en-US" altLang="zh-CN" dirty="0" err="1"/>
              <a:t>Tadanari</a:t>
            </a:r>
            <a:r>
              <a:rPr lang="en-US" altLang="zh-CN" dirty="0"/>
              <a:t> Taniguchi, Luka </a:t>
            </a:r>
            <a:r>
              <a:rPr lang="en-US" altLang="zh-CN" dirty="0" err="1"/>
              <a:t>Eciolaza</a:t>
            </a:r>
            <a:r>
              <a:rPr lang="en-US" altLang="zh-CN" dirty="0"/>
              <a:t>, </a:t>
            </a:r>
            <a:r>
              <a:rPr lang="pt-BR" altLang="zh-CN" dirty="0"/>
              <a:t>Víctor Campos and Reinaldo Palhares, Michio Sugeno</a:t>
            </a:r>
            <a:endParaRPr sz="2600" dirty="0"/>
          </a:p>
        </p:txBody>
      </p:sp>
      <p:sp>
        <p:nvSpPr>
          <p:cNvPr id="91" name="Google Shape;91;p13"/>
          <p:cNvSpPr txBox="1">
            <a:spLocks noGrp="1"/>
          </p:cNvSpPr>
          <p:nvPr>
            <p:ph type="sldNum" idx="12"/>
          </p:nvPr>
        </p:nvSpPr>
        <p:spPr>
          <a:xfrm>
            <a:off x="8354568" y="6485003"/>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lang="en-US"/>
          </a:p>
        </p:txBody>
      </p:sp>
      <p:sp>
        <p:nvSpPr>
          <p:cNvPr id="92" name="Google Shape;92;p13"/>
          <p:cNvSpPr txBox="1"/>
          <p:nvPr/>
        </p:nvSpPr>
        <p:spPr>
          <a:xfrm>
            <a:off x="1048428" y="3891090"/>
            <a:ext cx="10095142" cy="902739"/>
          </a:xfrm>
          <a:prstGeom prst="rect">
            <a:avLst/>
          </a:prstGeom>
          <a:noFill/>
          <a:ln>
            <a:noFill/>
          </a:ln>
        </p:spPr>
        <p:txBody>
          <a:bodyPr spcFirstLastPara="1" wrap="square" lIns="91425" tIns="45700" rIns="91425" bIns="45700" anchor="t" anchorCtr="0">
            <a:noAutofit/>
          </a:bodyPr>
          <a:lstStyle/>
          <a:p>
            <a:pPr lvl="0" algn="ctr">
              <a:lnSpc>
                <a:spcPct val="90000"/>
              </a:lnSpc>
              <a:buClr>
                <a:schemeClr val="dk1"/>
              </a:buClr>
              <a:buSzPts val="2800"/>
            </a:pPr>
            <a:r>
              <a:rPr lang="en-US" sz="2800" b="1" dirty="0">
                <a:solidFill>
                  <a:schemeClr val="dk1"/>
                </a:solidFill>
                <a:latin typeface="Calibri" panose="020F0502020204030204" charset="0"/>
                <a:ea typeface="Questrial" panose="02000000000000000000"/>
                <a:cs typeface="Calibri" panose="020F0502020204030204" charset="0"/>
                <a:sym typeface="Questrial" panose="02000000000000000000"/>
              </a:rPr>
              <a:t>IEEE Computational intelligence magazine | February 2019</a:t>
            </a:r>
            <a:endParaRPr lang="en-US" sz="2800" b="1"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
        <p:nvSpPr>
          <p:cNvPr id="93" name="Google Shape;93;p13"/>
          <p:cNvSpPr txBox="1"/>
          <p:nvPr/>
        </p:nvSpPr>
        <p:spPr>
          <a:xfrm>
            <a:off x="1192823" y="5265553"/>
            <a:ext cx="9806355" cy="9027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Presenter: </a:t>
            </a:r>
            <a:r>
              <a:rPr lang="en-US" sz="2800" b="0" i="0" u="none" strike="noStrike" cap="none" dirty="0" err="1">
                <a:solidFill>
                  <a:schemeClr val="dk1"/>
                </a:solidFill>
                <a:latin typeface="Calibri" panose="020F0502020204030204" charset="0"/>
                <a:ea typeface="Questrial" panose="02000000000000000000"/>
                <a:cs typeface="Calibri" panose="020F0502020204030204" charset="0"/>
                <a:sym typeface="Questrial" panose="02000000000000000000"/>
              </a:rPr>
              <a:t>KeXin</a:t>
            </a: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 Zhu</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a:p>
            <a:pPr marL="0" marR="0" lvl="0" indent="0" algn="ctr" rtl="0">
              <a:lnSpc>
                <a:spcPct val="90000"/>
              </a:lnSpc>
              <a:spcBef>
                <a:spcPts val="100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Date: 2019/05/27</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 (1/2)</a:t>
            </a:r>
          </a:p>
        </p:txBody>
      </p:sp>
      <p:sp>
        <p:nvSpPr>
          <p:cNvPr id="99" name="Google Shape;99;p14"/>
          <p:cNvSpPr txBox="1">
            <a:spLocks noGrp="1"/>
          </p:cNvSpPr>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dirty="0"/>
              <a:t>More than 40 years after fuzzy logic control appeared as an effective tool to deal with complex processes, the research on fuzzy control systems has constantly evolved. Mamdani fuzzy control was originally introduced as a model-free control approach based on expert’s experience and knowledge. Due to the lack of a systematic framework to study Mamdani fuzzy systems, we have witnessed growing interest in fuzzy model-based approaches with Takagi-</a:t>
            </a:r>
            <a:r>
              <a:rPr lang="en-US" dirty="0" err="1"/>
              <a:t>Sugeno</a:t>
            </a:r>
            <a:r>
              <a:rPr lang="en-US" dirty="0"/>
              <a:t> fuzzy systems and singleton-type fuzzy systems (also called piecewise multi-affine systems) over the past decades.</a:t>
            </a:r>
          </a:p>
        </p:txBody>
      </p:sp>
      <p:sp>
        <p:nvSpPr>
          <p:cNvPr id="100" name="Google Shape;100;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 (2/2)</a:t>
            </a:r>
          </a:p>
        </p:txBody>
      </p:sp>
      <p:sp>
        <p:nvSpPr>
          <p:cNvPr id="106" name="Google Shape;106;p15"/>
          <p:cNvSpPr txBox="1">
            <a:spLocks noGrp="1"/>
          </p:cNvSpPr>
          <p:nvPr>
            <p:ph type="body" idx="1"/>
          </p:nvPr>
        </p:nvSpPr>
        <p:spPr>
          <a:xfrm>
            <a:off x="838200" y="1690690"/>
            <a:ext cx="10011032"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altLang="zh-CN" dirty="0"/>
              <a:t>This paper reviews the key features of the three above types of fuzzy systems. Through these features, we point out the historical rationale for each type of fuzzy systems and its current research mainstreams. However, the focus is put on fuzzy model-based approaches developed via Lyapunov stability theorem and linear matrix inequality (LMI) formulations. Finally, our personal viewpoint on the perspectives and challenges of the future fuzzy control research is discussed.</a:t>
            </a:r>
          </a:p>
        </p:txBody>
      </p:sp>
      <p:sp>
        <p:nvSpPr>
          <p:cNvPr id="107" name="Google Shape;107;p1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 Why Fuzzy</a:t>
            </a:r>
            <a:r>
              <a:rPr lang="zh-CN" altLang="en-US" dirty="0"/>
              <a:t>？</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zh-TW" altLang="en-US" dirty="0"/>
              <a:t>傳統電腦決策</a:t>
            </a:r>
            <a:r>
              <a:rPr lang="zh-CN" altLang="en-US" dirty="0"/>
              <a:t>：</a:t>
            </a:r>
            <a:endParaRPr lang="en-US" altLang="zh-TW" dirty="0"/>
          </a:p>
          <a:p>
            <a:pPr lvl="1">
              <a:spcBef>
                <a:spcPts val="0"/>
              </a:spcBef>
              <a:buSzPts val="2800"/>
            </a:pPr>
            <a:r>
              <a:rPr lang="zh-TW" altLang="en-US" dirty="0"/>
              <a:t>不是對</a:t>
            </a:r>
            <a:r>
              <a:rPr lang="en-US" altLang="zh-TW" dirty="0"/>
              <a:t>(1)</a:t>
            </a:r>
            <a:r>
              <a:rPr lang="zh-TW" altLang="en-US" dirty="0"/>
              <a:t>就是錯</a:t>
            </a:r>
            <a:r>
              <a:rPr lang="en-US" altLang="zh-TW" dirty="0"/>
              <a:t>(0)</a:t>
            </a:r>
          </a:p>
          <a:p>
            <a:pPr lvl="1">
              <a:spcBef>
                <a:spcPts val="0"/>
              </a:spcBef>
              <a:buSzPts val="2800"/>
            </a:pPr>
            <a:r>
              <a:rPr lang="zh-TW" altLang="en-US" dirty="0"/>
              <a:t>例如：</a:t>
            </a:r>
            <a:r>
              <a:rPr lang="en-US" altLang="zh-TW" dirty="0"/>
              <a:t>180</a:t>
            </a:r>
            <a:r>
              <a:rPr lang="en-US" altLang="zh-CN" dirty="0"/>
              <a:t>cm</a:t>
            </a:r>
            <a:r>
              <a:rPr lang="zh-TW" altLang="en-US" dirty="0"/>
              <a:t>以上是</a:t>
            </a:r>
            <a:r>
              <a:rPr lang="zh-CN" altLang="en-US" dirty="0"/>
              <a:t>高</a:t>
            </a:r>
            <a:r>
              <a:rPr lang="zh-TW" altLang="en-US" dirty="0"/>
              <a:t>，那</a:t>
            </a:r>
            <a:r>
              <a:rPr lang="en-US" altLang="zh-TW" dirty="0"/>
              <a:t>179cm</a:t>
            </a:r>
            <a:r>
              <a:rPr lang="zh-TW" altLang="en-US" dirty="0"/>
              <a:t>就是</a:t>
            </a:r>
            <a:r>
              <a:rPr lang="zh-CN" altLang="en-US" dirty="0"/>
              <a:t>矮</a:t>
            </a:r>
            <a:r>
              <a:rPr lang="en-US" altLang="zh-TW" dirty="0"/>
              <a:t>?</a:t>
            </a:r>
          </a:p>
          <a:p>
            <a:pPr lvl="1">
              <a:spcBef>
                <a:spcPts val="0"/>
              </a:spcBef>
              <a:buSzPts val="2800"/>
            </a:pPr>
            <a:r>
              <a:rPr lang="en-US" altLang="zh-TW" dirty="0"/>
              <a:t>60</a:t>
            </a:r>
            <a:r>
              <a:rPr lang="zh-TW" altLang="en-US" dirty="0"/>
              <a:t>分以上是及格，那</a:t>
            </a:r>
            <a:r>
              <a:rPr lang="en-US" altLang="zh-TW" dirty="0"/>
              <a:t>60</a:t>
            </a:r>
            <a:r>
              <a:rPr lang="zh-TW" altLang="en-US" dirty="0"/>
              <a:t>分以下就是不及格</a:t>
            </a:r>
            <a:r>
              <a:rPr lang="zh-CN" altLang="en-US" dirty="0"/>
              <a:t>。</a:t>
            </a:r>
            <a:endParaRPr lang="en-US" altLang="zh-CN" dirty="0"/>
          </a:p>
          <a:p>
            <a:pPr lvl="1">
              <a:spcBef>
                <a:spcPts val="0"/>
              </a:spcBef>
              <a:buSzPts val="2800"/>
            </a:pPr>
            <a:endParaRPr lang="zh-TW" altLang="en-US" dirty="0"/>
          </a:p>
          <a:p>
            <a:pPr>
              <a:spcBef>
                <a:spcPts val="0"/>
              </a:spcBef>
              <a:buSzPts val="2800"/>
            </a:pPr>
            <a:r>
              <a:rPr lang="zh-TW" altLang="en-US" dirty="0"/>
              <a:t>模糊</a:t>
            </a:r>
            <a:r>
              <a:rPr lang="zh-CN" altLang="en-US" dirty="0"/>
              <a:t>：</a:t>
            </a:r>
            <a:endParaRPr lang="en-US" altLang="zh-CN" dirty="0"/>
          </a:p>
          <a:p>
            <a:pPr lvl="1">
              <a:spcBef>
                <a:spcPts val="0"/>
              </a:spcBef>
              <a:buSzPts val="2800"/>
            </a:pPr>
            <a:r>
              <a:rPr lang="zh-TW" altLang="en-US" dirty="0"/>
              <a:t>在對</a:t>
            </a:r>
            <a:r>
              <a:rPr lang="en-US" altLang="zh-TW" dirty="0"/>
              <a:t>(1)</a:t>
            </a:r>
            <a:r>
              <a:rPr lang="zh-TW" altLang="en-US" dirty="0"/>
              <a:t>與錯</a:t>
            </a:r>
            <a:r>
              <a:rPr lang="en-US" altLang="zh-TW" dirty="0"/>
              <a:t>(0)</a:t>
            </a:r>
            <a:r>
              <a:rPr lang="zh-TW" altLang="en-US" dirty="0"/>
              <a:t>之間，再多加幾個等級</a:t>
            </a:r>
            <a:endParaRPr lang="en-US" altLang="zh-TW" dirty="0"/>
          </a:p>
          <a:p>
            <a:pPr lvl="1">
              <a:spcBef>
                <a:spcPts val="0"/>
              </a:spcBef>
              <a:buSzPts val="2800"/>
            </a:pPr>
            <a:r>
              <a:rPr lang="zh-TW" altLang="en-US" dirty="0"/>
              <a:t>幾乎對</a:t>
            </a:r>
            <a:r>
              <a:rPr lang="en-US" altLang="zh-TW" dirty="0"/>
              <a:t>(0.8)</a:t>
            </a:r>
          </a:p>
          <a:p>
            <a:pPr lvl="1">
              <a:spcBef>
                <a:spcPts val="0"/>
              </a:spcBef>
              <a:buSzPts val="2800"/>
            </a:pPr>
            <a:r>
              <a:rPr lang="zh-TW" altLang="en-US" dirty="0"/>
              <a:t>可能對</a:t>
            </a:r>
            <a:r>
              <a:rPr lang="en-US" altLang="zh-TW" dirty="0"/>
              <a:t>(0.6)</a:t>
            </a:r>
          </a:p>
          <a:p>
            <a:pPr lvl="1">
              <a:spcBef>
                <a:spcPts val="0"/>
              </a:spcBef>
              <a:buSzPts val="2800"/>
            </a:pPr>
            <a:r>
              <a:rPr lang="zh-TW" altLang="en-US" dirty="0"/>
              <a:t>可能錯</a:t>
            </a:r>
            <a:r>
              <a:rPr lang="en-US" altLang="zh-TW" dirty="0"/>
              <a:t>(0.4)</a:t>
            </a:r>
          </a:p>
          <a:p>
            <a:pPr lvl="1">
              <a:spcBef>
                <a:spcPts val="0"/>
              </a:spcBef>
              <a:buSzPts val="2800"/>
            </a:pPr>
            <a:r>
              <a:rPr lang="zh-TW" altLang="en-US" dirty="0"/>
              <a:t>幾乎錯</a:t>
            </a:r>
            <a:r>
              <a:rPr lang="en-US" altLang="zh-TW" dirty="0"/>
              <a:t>(0.2)</a:t>
            </a:r>
            <a:endParaRPr lang="en-US" altLang="zh-CN" dirty="0"/>
          </a:p>
        </p:txBody>
      </p:sp>
    </p:spTree>
    <p:extLst>
      <p:ext uri="{BB962C8B-B14F-4D97-AF65-F5344CB8AC3E}">
        <p14:creationId xmlns:p14="http://schemas.microsoft.com/office/powerpoint/2010/main" val="2024993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 Why Fuzzy</a:t>
            </a:r>
            <a:r>
              <a:rPr lang="zh-CN" altLang="en-US" dirty="0"/>
              <a:t>？</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endParaRPr lang="en-US" altLang="zh-CN" dirty="0"/>
          </a:p>
        </p:txBody>
      </p:sp>
      <p:pic>
        <p:nvPicPr>
          <p:cNvPr id="2" name="图片 1">
            <a:extLst>
              <a:ext uri="{FF2B5EF4-FFF2-40B4-BE49-F238E27FC236}">
                <a16:creationId xmlns:a16="http://schemas.microsoft.com/office/drawing/2014/main" id="{8A5B5901-45FD-415E-B146-12D71C92746D}"/>
              </a:ext>
            </a:extLst>
          </p:cNvPr>
          <p:cNvPicPr>
            <a:picLocks noChangeAspect="1"/>
          </p:cNvPicPr>
          <p:nvPr/>
        </p:nvPicPr>
        <p:blipFill>
          <a:blip r:embed="rId3"/>
          <a:stretch>
            <a:fillRect/>
          </a:stretch>
        </p:blipFill>
        <p:spPr>
          <a:xfrm>
            <a:off x="1566991" y="1690690"/>
            <a:ext cx="8553450" cy="4619625"/>
          </a:xfrm>
          <a:prstGeom prst="rect">
            <a:avLst/>
          </a:prstGeom>
        </p:spPr>
      </p:pic>
    </p:spTree>
    <p:extLst>
      <p:ext uri="{BB962C8B-B14F-4D97-AF65-F5344CB8AC3E}">
        <p14:creationId xmlns:p14="http://schemas.microsoft.com/office/powerpoint/2010/main" val="1414898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 Fuzzy control system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lang="en-US"/>
          </a:p>
        </p:txBody>
      </p:sp>
      <p:pic>
        <p:nvPicPr>
          <p:cNvPr id="5" name="图片 4">
            <a:extLst>
              <a:ext uri="{FF2B5EF4-FFF2-40B4-BE49-F238E27FC236}">
                <a16:creationId xmlns:a16="http://schemas.microsoft.com/office/drawing/2014/main" id="{99469609-40F3-4C94-AD91-90523DECF7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7967" y="1650106"/>
            <a:ext cx="4596066" cy="4706246"/>
          </a:xfrm>
          <a:prstGeom prst="rect">
            <a:avLst/>
          </a:prstGeom>
        </p:spPr>
      </p:pic>
    </p:spTree>
    <p:extLst>
      <p:ext uri="{BB962C8B-B14F-4D97-AF65-F5344CB8AC3E}">
        <p14:creationId xmlns:p14="http://schemas.microsoft.com/office/powerpoint/2010/main" val="218260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1.1 Mamdani fuzzy systems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lang="en-US"/>
          </a:p>
        </p:txBody>
      </p:sp>
      <p:pic>
        <p:nvPicPr>
          <p:cNvPr id="3" name="图片 2">
            <a:extLst>
              <a:ext uri="{FF2B5EF4-FFF2-40B4-BE49-F238E27FC236}">
                <a16:creationId xmlns:a16="http://schemas.microsoft.com/office/drawing/2014/main" id="{90286204-89B8-460E-A71A-0448CA3178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2483" y="1690690"/>
            <a:ext cx="4727030" cy="881726"/>
          </a:xfrm>
          <a:prstGeom prst="rect">
            <a:avLst/>
          </a:prstGeom>
        </p:spPr>
      </p:pic>
      <p:pic>
        <p:nvPicPr>
          <p:cNvPr id="5" name="图片 4">
            <a:extLst>
              <a:ext uri="{FF2B5EF4-FFF2-40B4-BE49-F238E27FC236}">
                <a16:creationId xmlns:a16="http://schemas.microsoft.com/office/drawing/2014/main" id="{E169B9AA-3312-4983-977A-4B1DAA0BA0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5265" y="2555326"/>
            <a:ext cx="8321465" cy="3983588"/>
          </a:xfrm>
          <a:prstGeom prst="rect">
            <a:avLst/>
          </a:prstGeom>
        </p:spPr>
      </p:pic>
    </p:spTree>
    <p:extLst>
      <p:ext uri="{BB962C8B-B14F-4D97-AF65-F5344CB8AC3E}">
        <p14:creationId xmlns:p14="http://schemas.microsoft.com/office/powerpoint/2010/main" val="852295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1.2 Type 2 </a:t>
            </a:r>
            <a:r>
              <a:rPr lang="en-US" altLang="zh-CN" dirty="0"/>
              <a:t>fuzzy rules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lang="en-US"/>
          </a:p>
        </p:txBody>
      </p:sp>
      <p:pic>
        <p:nvPicPr>
          <p:cNvPr id="2" name="图片 1">
            <a:extLst>
              <a:ext uri="{FF2B5EF4-FFF2-40B4-BE49-F238E27FC236}">
                <a16:creationId xmlns:a16="http://schemas.microsoft.com/office/drawing/2014/main" id="{2ED061A5-0324-4F68-8085-B9DDB5F1B68A}"/>
              </a:ext>
            </a:extLst>
          </p:cNvPr>
          <p:cNvPicPr>
            <a:picLocks noChangeAspect="1"/>
          </p:cNvPicPr>
          <p:nvPr/>
        </p:nvPicPr>
        <p:blipFill rotWithShape="1">
          <a:blip r:embed="rId3"/>
          <a:srcRect t="47496"/>
          <a:stretch/>
        </p:blipFill>
        <p:spPr>
          <a:xfrm>
            <a:off x="228522" y="2070982"/>
            <a:ext cx="4906378" cy="609952"/>
          </a:xfrm>
          <a:prstGeom prst="rect">
            <a:avLst/>
          </a:prstGeom>
        </p:spPr>
      </p:pic>
      <p:pic>
        <p:nvPicPr>
          <p:cNvPr id="4" name="图片 3">
            <a:extLst>
              <a:ext uri="{FF2B5EF4-FFF2-40B4-BE49-F238E27FC236}">
                <a16:creationId xmlns:a16="http://schemas.microsoft.com/office/drawing/2014/main" id="{2CE5A0C0-11D5-4722-B3A8-B82C563866E3}"/>
              </a:ext>
            </a:extLst>
          </p:cNvPr>
          <p:cNvPicPr>
            <a:picLocks noChangeAspect="1"/>
          </p:cNvPicPr>
          <p:nvPr/>
        </p:nvPicPr>
        <p:blipFill rotWithShape="1">
          <a:blip r:embed="rId4"/>
          <a:srcRect t="26483" r="22906" b="32912"/>
          <a:stretch/>
        </p:blipFill>
        <p:spPr>
          <a:xfrm>
            <a:off x="981999" y="2869065"/>
            <a:ext cx="4706970" cy="529870"/>
          </a:xfrm>
          <a:prstGeom prst="rect">
            <a:avLst/>
          </a:prstGeom>
        </p:spPr>
      </p:pic>
      <p:pic>
        <p:nvPicPr>
          <p:cNvPr id="6" name="图片 5">
            <a:extLst>
              <a:ext uri="{FF2B5EF4-FFF2-40B4-BE49-F238E27FC236}">
                <a16:creationId xmlns:a16="http://schemas.microsoft.com/office/drawing/2014/main" id="{53002B29-22D9-4D8C-8B63-AF821BFB5144}"/>
              </a:ext>
            </a:extLst>
          </p:cNvPr>
          <p:cNvPicPr>
            <a:picLocks noChangeAspect="1"/>
          </p:cNvPicPr>
          <p:nvPr/>
        </p:nvPicPr>
        <p:blipFill>
          <a:blip r:embed="rId5"/>
          <a:stretch>
            <a:fillRect/>
          </a:stretch>
        </p:blipFill>
        <p:spPr>
          <a:xfrm>
            <a:off x="6503033" y="1438550"/>
            <a:ext cx="4152900" cy="3390900"/>
          </a:xfrm>
          <a:prstGeom prst="rect">
            <a:avLst/>
          </a:prstGeom>
        </p:spPr>
      </p:pic>
    </p:spTree>
    <p:extLst>
      <p:ext uri="{BB962C8B-B14F-4D97-AF65-F5344CB8AC3E}">
        <p14:creationId xmlns:p14="http://schemas.microsoft.com/office/powerpoint/2010/main" val="1732960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1.3 T-S fuzzy systems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lang="en-US"/>
          </a:p>
        </p:txBody>
      </p:sp>
      <p:pic>
        <p:nvPicPr>
          <p:cNvPr id="2" name="图片 1">
            <a:extLst>
              <a:ext uri="{FF2B5EF4-FFF2-40B4-BE49-F238E27FC236}">
                <a16:creationId xmlns:a16="http://schemas.microsoft.com/office/drawing/2014/main" id="{42261B75-AA9A-49F5-9D2D-6340A7BA959A}"/>
              </a:ext>
            </a:extLst>
          </p:cNvPr>
          <p:cNvPicPr>
            <a:picLocks noChangeAspect="1"/>
          </p:cNvPicPr>
          <p:nvPr/>
        </p:nvPicPr>
        <p:blipFill>
          <a:blip r:embed="rId3"/>
          <a:stretch>
            <a:fillRect/>
          </a:stretch>
        </p:blipFill>
        <p:spPr>
          <a:xfrm>
            <a:off x="3767137" y="1489871"/>
            <a:ext cx="4657725" cy="895350"/>
          </a:xfrm>
          <a:prstGeom prst="rect">
            <a:avLst/>
          </a:prstGeom>
        </p:spPr>
      </p:pic>
      <p:pic>
        <p:nvPicPr>
          <p:cNvPr id="4" name="图片 3">
            <a:extLst>
              <a:ext uri="{FF2B5EF4-FFF2-40B4-BE49-F238E27FC236}">
                <a16:creationId xmlns:a16="http://schemas.microsoft.com/office/drawing/2014/main" id="{6B14AE18-D62E-405F-B6A0-5663DAB932CC}"/>
              </a:ext>
            </a:extLst>
          </p:cNvPr>
          <p:cNvPicPr>
            <a:picLocks noChangeAspect="1"/>
          </p:cNvPicPr>
          <p:nvPr/>
        </p:nvPicPr>
        <p:blipFill rotWithShape="1">
          <a:blip r:embed="rId4"/>
          <a:srcRect t="31597"/>
          <a:stretch/>
        </p:blipFill>
        <p:spPr>
          <a:xfrm>
            <a:off x="651770" y="2929629"/>
            <a:ext cx="4781550" cy="1224893"/>
          </a:xfrm>
          <a:prstGeom prst="rect">
            <a:avLst/>
          </a:prstGeom>
        </p:spPr>
      </p:pic>
      <p:pic>
        <p:nvPicPr>
          <p:cNvPr id="6" name="图片 5">
            <a:extLst>
              <a:ext uri="{FF2B5EF4-FFF2-40B4-BE49-F238E27FC236}">
                <a16:creationId xmlns:a16="http://schemas.microsoft.com/office/drawing/2014/main" id="{64C9633C-B7BA-427C-A903-5F971B5EFD23}"/>
              </a:ext>
            </a:extLst>
          </p:cNvPr>
          <p:cNvPicPr>
            <a:picLocks noChangeAspect="1"/>
          </p:cNvPicPr>
          <p:nvPr/>
        </p:nvPicPr>
        <p:blipFill>
          <a:blip r:embed="rId5"/>
          <a:stretch>
            <a:fillRect/>
          </a:stretch>
        </p:blipFill>
        <p:spPr>
          <a:xfrm>
            <a:off x="5763550" y="2385221"/>
            <a:ext cx="4819650" cy="3009900"/>
          </a:xfrm>
          <a:prstGeom prst="rect">
            <a:avLst/>
          </a:prstGeom>
        </p:spPr>
      </p:pic>
      <p:pic>
        <p:nvPicPr>
          <p:cNvPr id="7" name="图片 6">
            <a:extLst>
              <a:ext uri="{FF2B5EF4-FFF2-40B4-BE49-F238E27FC236}">
                <a16:creationId xmlns:a16="http://schemas.microsoft.com/office/drawing/2014/main" id="{3F690124-3B95-4AC8-9B7F-94B29647EEBC}"/>
              </a:ext>
            </a:extLst>
          </p:cNvPr>
          <p:cNvPicPr>
            <a:picLocks noChangeAspect="1"/>
          </p:cNvPicPr>
          <p:nvPr/>
        </p:nvPicPr>
        <p:blipFill>
          <a:blip r:embed="rId6"/>
          <a:stretch>
            <a:fillRect/>
          </a:stretch>
        </p:blipFill>
        <p:spPr>
          <a:xfrm>
            <a:off x="3920463" y="5528471"/>
            <a:ext cx="3686175" cy="1028700"/>
          </a:xfrm>
          <a:prstGeom prst="rect">
            <a:avLst/>
          </a:prstGeom>
        </p:spPr>
      </p:pic>
      <p:sp>
        <p:nvSpPr>
          <p:cNvPr id="8" name="矩形 7">
            <a:extLst>
              <a:ext uri="{FF2B5EF4-FFF2-40B4-BE49-F238E27FC236}">
                <a16:creationId xmlns:a16="http://schemas.microsoft.com/office/drawing/2014/main" id="{929A3E59-DB41-46DC-AB1B-BF8E219D0554}"/>
              </a:ext>
            </a:extLst>
          </p:cNvPr>
          <p:cNvSpPr/>
          <p:nvPr/>
        </p:nvSpPr>
        <p:spPr>
          <a:xfrm>
            <a:off x="838199" y="2526289"/>
            <a:ext cx="2125325" cy="307777"/>
          </a:xfrm>
          <a:prstGeom prst="rect">
            <a:avLst/>
          </a:prstGeom>
        </p:spPr>
        <p:txBody>
          <a:bodyPr wrap="square">
            <a:spAutoFit/>
          </a:bodyPr>
          <a:lstStyle/>
          <a:p>
            <a:r>
              <a:rPr lang="en-US" altLang="zh-CN" sz="1400" dirty="0">
                <a:solidFill>
                  <a:srgbClr val="222222"/>
                </a:solidFill>
                <a:latin typeface="Arial" panose="020B0604020202020204" pitchFamily="34" charset="0"/>
              </a:rPr>
              <a:t>Sample</a:t>
            </a:r>
            <a:r>
              <a:rPr lang="zh-CN" altLang="en-US" sz="1400" dirty="0">
                <a:solidFill>
                  <a:srgbClr val="222222"/>
                </a:solidFill>
                <a:latin typeface="Arial" panose="020B0604020202020204" pitchFamily="34" charset="0"/>
              </a:rPr>
              <a:t>：</a:t>
            </a:r>
            <a:endParaRPr lang="zh-CN" altLang="en-US" sz="1400" dirty="0"/>
          </a:p>
        </p:txBody>
      </p:sp>
    </p:spTree>
    <p:extLst>
      <p:ext uri="{BB962C8B-B14F-4D97-AF65-F5344CB8AC3E}">
        <p14:creationId xmlns:p14="http://schemas.microsoft.com/office/powerpoint/2010/main" val="3141015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1.4 PMA fuzzy systems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lang="en-US"/>
          </a:p>
        </p:txBody>
      </p:sp>
      <p:pic>
        <p:nvPicPr>
          <p:cNvPr id="2" name="图片 1">
            <a:extLst>
              <a:ext uri="{FF2B5EF4-FFF2-40B4-BE49-F238E27FC236}">
                <a16:creationId xmlns:a16="http://schemas.microsoft.com/office/drawing/2014/main" id="{B0CFEC8F-8A73-40E7-B352-6460483760DF}"/>
              </a:ext>
            </a:extLst>
          </p:cNvPr>
          <p:cNvPicPr>
            <a:picLocks noChangeAspect="1"/>
          </p:cNvPicPr>
          <p:nvPr/>
        </p:nvPicPr>
        <p:blipFill rotWithShape="1">
          <a:blip r:embed="rId3"/>
          <a:srcRect t="42799"/>
          <a:stretch/>
        </p:blipFill>
        <p:spPr>
          <a:xfrm>
            <a:off x="3462337" y="1849796"/>
            <a:ext cx="5267325" cy="724636"/>
          </a:xfrm>
          <a:prstGeom prst="rect">
            <a:avLst/>
          </a:prstGeom>
        </p:spPr>
      </p:pic>
      <p:pic>
        <p:nvPicPr>
          <p:cNvPr id="3" name="图片 2">
            <a:extLst>
              <a:ext uri="{FF2B5EF4-FFF2-40B4-BE49-F238E27FC236}">
                <a16:creationId xmlns:a16="http://schemas.microsoft.com/office/drawing/2014/main" id="{D95123D9-255A-4A2E-9274-0F70A83061E0}"/>
              </a:ext>
            </a:extLst>
          </p:cNvPr>
          <p:cNvPicPr>
            <a:picLocks noChangeAspect="1"/>
          </p:cNvPicPr>
          <p:nvPr/>
        </p:nvPicPr>
        <p:blipFill>
          <a:blip r:embed="rId4"/>
          <a:stretch>
            <a:fillRect/>
          </a:stretch>
        </p:blipFill>
        <p:spPr>
          <a:xfrm>
            <a:off x="5648322" y="2727576"/>
            <a:ext cx="895350" cy="390525"/>
          </a:xfrm>
          <a:prstGeom prst="rect">
            <a:avLst/>
          </a:prstGeom>
        </p:spPr>
      </p:pic>
      <p:pic>
        <p:nvPicPr>
          <p:cNvPr id="4" name="图片 3">
            <a:extLst>
              <a:ext uri="{FF2B5EF4-FFF2-40B4-BE49-F238E27FC236}">
                <a16:creationId xmlns:a16="http://schemas.microsoft.com/office/drawing/2014/main" id="{46752DBE-AB9C-4770-BEEF-B657B157316F}"/>
              </a:ext>
            </a:extLst>
          </p:cNvPr>
          <p:cNvPicPr>
            <a:picLocks noChangeAspect="1"/>
          </p:cNvPicPr>
          <p:nvPr/>
        </p:nvPicPr>
        <p:blipFill>
          <a:blip r:embed="rId5"/>
          <a:stretch>
            <a:fillRect/>
          </a:stretch>
        </p:blipFill>
        <p:spPr>
          <a:xfrm>
            <a:off x="4271959" y="3426694"/>
            <a:ext cx="3648075" cy="342900"/>
          </a:xfrm>
          <a:prstGeom prst="rect">
            <a:avLst/>
          </a:prstGeom>
        </p:spPr>
      </p:pic>
      <p:pic>
        <p:nvPicPr>
          <p:cNvPr id="5" name="图片 4">
            <a:extLst>
              <a:ext uri="{FF2B5EF4-FFF2-40B4-BE49-F238E27FC236}">
                <a16:creationId xmlns:a16="http://schemas.microsoft.com/office/drawing/2014/main" id="{BF2766B9-D3BD-4764-93A2-1F1227142705}"/>
              </a:ext>
            </a:extLst>
          </p:cNvPr>
          <p:cNvPicPr>
            <a:picLocks noChangeAspect="1"/>
          </p:cNvPicPr>
          <p:nvPr/>
        </p:nvPicPr>
        <p:blipFill>
          <a:blip r:embed="rId6"/>
          <a:stretch>
            <a:fillRect/>
          </a:stretch>
        </p:blipFill>
        <p:spPr>
          <a:xfrm>
            <a:off x="5091108" y="4078187"/>
            <a:ext cx="2009775" cy="1428750"/>
          </a:xfrm>
          <a:prstGeom prst="rect">
            <a:avLst/>
          </a:prstGeom>
        </p:spPr>
      </p:pic>
    </p:spTree>
    <p:extLst>
      <p:ext uri="{BB962C8B-B14F-4D97-AF65-F5344CB8AC3E}">
        <p14:creationId xmlns:p14="http://schemas.microsoft.com/office/powerpoint/2010/main" val="76653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1.5 Lyapunov stability</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lang="en-US"/>
          </a:p>
        </p:txBody>
      </p:sp>
      <p:pic>
        <p:nvPicPr>
          <p:cNvPr id="2" name="图片 1">
            <a:extLst>
              <a:ext uri="{FF2B5EF4-FFF2-40B4-BE49-F238E27FC236}">
                <a16:creationId xmlns:a16="http://schemas.microsoft.com/office/drawing/2014/main" id="{E3AB97EF-C413-4081-B23A-C54393952E4B}"/>
              </a:ext>
            </a:extLst>
          </p:cNvPr>
          <p:cNvPicPr>
            <a:picLocks noChangeAspect="1"/>
          </p:cNvPicPr>
          <p:nvPr/>
        </p:nvPicPr>
        <p:blipFill rotWithShape="1">
          <a:blip r:embed="rId3"/>
          <a:srcRect t="37644" b="38200"/>
          <a:stretch/>
        </p:blipFill>
        <p:spPr>
          <a:xfrm>
            <a:off x="451665" y="1896955"/>
            <a:ext cx="10827746" cy="418333"/>
          </a:xfrm>
          <a:prstGeom prst="rect">
            <a:avLst/>
          </a:prstGeom>
        </p:spPr>
      </p:pic>
      <p:pic>
        <p:nvPicPr>
          <p:cNvPr id="4" name="图片 3">
            <a:extLst>
              <a:ext uri="{FF2B5EF4-FFF2-40B4-BE49-F238E27FC236}">
                <a16:creationId xmlns:a16="http://schemas.microsoft.com/office/drawing/2014/main" id="{F7A140D2-6968-4CA5-AB50-1C500CDCCD57}"/>
              </a:ext>
            </a:extLst>
          </p:cNvPr>
          <p:cNvPicPr>
            <a:picLocks noChangeAspect="1"/>
          </p:cNvPicPr>
          <p:nvPr/>
        </p:nvPicPr>
        <p:blipFill>
          <a:blip r:embed="rId4"/>
          <a:stretch>
            <a:fillRect/>
          </a:stretch>
        </p:blipFill>
        <p:spPr>
          <a:xfrm>
            <a:off x="407127" y="2787358"/>
            <a:ext cx="2095500" cy="2619375"/>
          </a:xfrm>
          <a:prstGeom prst="rect">
            <a:avLst/>
          </a:prstGeom>
        </p:spPr>
      </p:pic>
      <p:pic>
        <p:nvPicPr>
          <p:cNvPr id="29" name="图片 28">
            <a:extLst>
              <a:ext uri="{FF2B5EF4-FFF2-40B4-BE49-F238E27FC236}">
                <a16:creationId xmlns:a16="http://schemas.microsoft.com/office/drawing/2014/main" id="{3B02E0D1-8114-4CBD-84A9-D44A46B03EB5}"/>
              </a:ext>
            </a:extLst>
          </p:cNvPr>
          <p:cNvPicPr>
            <a:picLocks noChangeAspect="1"/>
          </p:cNvPicPr>
          <p:nvPr/>
        </p:nvPicPr>
        <p:blipFill>
          <a:blip r:embed="rId5"/>
          <a:stretch>
            <a:fillRect/>
          </a:stretch>
        </p:blipFill>
        <p:spPr>
          <a:xfrm>
            <a:off x="2595666" y="3026498"/>
            <a:ext cx="3609975" cy="561975"/>
          </a:xfrm>
          <a:prstGeom prst="rect">
            <a:avLst/>
          </a:prstGeom>
        </p:spPr>
      </p:pic>
      <p:pic>
        <p:nvPicPr>
          <p:cNvPr id="30" name="图片 29">
            <a:extLst>
              <a:ext uri="{FF2B5EF4-FFF2-40B4-BE49-F238E27FC236}">
                <a16:creationId xmlns:a16="http://schemas.microsoft.com/office/drawing/2014/main" id="{59B8B764-00F8-4AE5-B3F5-38537098D451}"/>
              </a:ext>
            </a:extLst>
          </p:cNvPr>
          <p:cNvPicPr>
            <a:picLocks noChangeAspect="1"/>
          </p:cNvPicPr>
          <p:nvPr/>
        </p:nvPicPr>
        <p:blipFill rotWithShape="1">
          <a:blip r:embed="rId6"/>
          <a:srcRect r="70390" b="18462"/>
          <a:stretch/>
        </p:blipFill>
        <p:spPr>
          <a:xfrm>
            <a:off x="2595667" y="3683192"/>
            <a:ext cx="3609975" cy="255298"/>
          </a:xfrm>
          <a:prstGeom prst="rect">
            <a:avLst/>
          </a:prstGeom>
        </p:spPr>
      </p:pic>
      <p:pic>
        <p:nvPicPr>
          <p:cNvPr id="31" name="图片 30">
            <a:extLst>
              <a:ext uri="{FF2B5EF4-FFF2-40B4-BE49-F238E27FC236}">
                <a16:creationId xmlns:a16="http://schemas.microsoft.com/office/drawing/2014/main" id="{194B248C-57BA-4B23-9A59-C6A04CD14513}"/>
              </a:ext>
            </a:extLst>
          </p:cNvPr>
          <p:cNvPicPr>
            <a:picLocks noChangeAspect="1"/>
          </p:cNvPicPr>
          <p:nvPr/>
        </p:nvPicPr>
        <p:blipFill rotWithShape="1">
          <a:blip r:embed="rId7"/>
          <a:srcRect l="2895" b="-3088"/>
          <a:stretch/>
        </p:blipFill>
        <p:spPr>
          <a:xfrm>
            <a:off x="6453292" y="3714665"/>
            <a:ext cx="2293820" cy="255298"/>
          </a:xfrm>
          <a:prstGeom prst="rect">
            <a:avLst/>
          </a:prstGeom>
        </p:spPr>
      </p:pic>
      <p:pic>
        <p:nvPicPr>
          <p:cNvPr id="96" name="图片 95">
            <a:extLst>
              <a:ext uri="{FF2B5EF4-FFF2-40B4-BE49-F238E27FC236}">
                <a16:creationId xmlns:a16="http://schemas.microsoft.com/office/drawing/2014/main" id="{25E2AA4B-4CAB-45F6-A49E-F55068541255}"/>
              </a:ext>
            </a:extLst>
          </p:cNvPr>
          <p:cNvPicPr>
            <a:picLocks noChangeAspect="1"/>
          </p:cNvPicPr>
          <p:nvPr/>
        </p:nvPicPr>
        <p:blipFill>
          <a:blip r:embed="rId8"/>
          <a:stretch>
            <a:fillRect/>
          </a:stretch>
        </p:blipFill>
        <p:spPr>
          <a:xfrm>
            <a:off x="2595667" y="4033209"/>
            <a:ext cx="3857625" cy="333375"/>
          </a:xfrm>
          <a:prstGeom prst="rect">
            <a:avLst/>
          </a:prstGeom>
        </p:spPr>
      </p:pic>
      <p:sp>
        <p:nvSpPr>
          <p:cNvPr id="97" name="矩形 96">
            <a:extLst>
              <a:ext uri="{FF2B5EF4-FFF2-40B4-BE49-F238E27FC236}">
                <a16:creationId xmlns:a16="http://schemas.microsoft.com/office/drawing/2014/main" id="{D0D389BE-D633-416E-AD87-AB0644863471}"/>
              </a:ext>
            </a:extLst>
          </p:cNvPr>
          <p:cNvSpPr/>
          <p:nvPr/>
        </p:nvSpPr>
        <p:spPr>
          <a:xfrm>
            <a:off x="2502627" y="4443437"/>
            <a:ext cx="2125325" cy="307777"/>
          </a:xfrm>
          <a:prstGeom prst="rect">
            <a:avLst/>
          </a:prstGeom>
        </p:spPr>
        <p:txBody>
          <a:bodyPr wrap="square">
            <a:spAutoFit/>
          </a:bodyPr>
          <a:lstStyle/>
          <a:p>
            <a:r>
              <a:rPr lang="en-US" altLang="zh-CN" sz="1400" dirty="0">
                <a:solidFill>
                  <a:srgbClr val="222222"/>
                </a:solidFill>
                <a:latin typeface="Arial" panose="020B0604020202020204" pitchFamily="34" charset="0"/>
              </a:rPr>
              <a:t> </a:t>
            </a:r>
            <a:r>
              <a:rPr lang="en-US" altLang="zh-CN" sz="1400" b="1" dirty="0">
                <a:solidFill>
                  <a:srgbClr val="222222"/>
                </a:solidFill>
                <a:latin typeface="Arial" panose="020B0604020202020204" pitchFamily="34" charset="0"/>
              </a:rPr>
              <a:t>Lyapunov stable</a:t>
            </a:r>
            <a:r>
              <a:rPr lang="zh-CN" altLang="en-US" sz="1400" dirty="0">
                <a:solidFill>
                  <a:srgbClr val="222222"/>
                </a:solidFill>
                <a:latin typeface="Arial" panose="020B0604020202020204" pitchFamily="34" charset="0"/>
              </a:rPr>
              <a:t>：</a:t>
            </a:r>
            <a:endParaRPr lang="zh-CN" altLang="en-US" sz="1400" dirty="0"/>
          </a:p>
        </p:txBody>
      </p:sp>
      <p:pic>
        <p:nvPicPr>
          <p:cNvPr id="98" name="图片 97">
            <a:extLst>
              <a:ext uri="{FF2B5EF4-FFF2-40B4-BE49-F238E27FC236}">
                <a16:creationId xmlns:a16="http://schemas.microsoft.com/office/drawing/2014/main" id="{AF6D4CDD-48EB-4714-9F10-DE27E879B710}"/>
              </a:ext>
            </a:extLst>
          </p:cNvPr>
          <p:cNvPicPr>
            <a:picLocks noChangeAspect="1"/>
          </p:cNvPicPr>
          <p:nvPr/>
        </p:nvPicPr>
        <p:blipFill>
          <a:blip r:embed="rId9"/>
          <a:stretch>
            <a:fillRect/>
          </a:stretch>
        </p:blipFill>
        <p:spPr>
          <a:xfrm>
            <a:off x="2595667" y="4961045"/>
            <a:ext cx="7458075" cy="190500"/>
          </a:xfrm>
          <a:prstGeom prst="rect">
            <a:avLst/>
          </a:prstGeom>
        </p:spPr>
      </p:pic>
    </p:spTree>
    <p:extLst>
      <p:ext uri="{BB962C8B-B14F-4D97-AF65-F5344CB8AC3E}">
        <p14:creationId xmlns:p14="http://schemas.microsoft.com/office/powerpoint/2010/main" val="566664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1.5 Lyapunov stability</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lang="en-US"/>
          </a:p>
        </p:txBody>
      </p:sp>
      <p:sp>
        <p:nvSpPr>
          <p:cNvPr id="99" name="矩形 98">
            <a:extLst>
              <a:ext uri="{FF2B5EF4-FFF2-40B4-BE49-F238E27FC236}">
                <a16:creationId xmlns:a16="http://schemas.microsoft.com/office/drawing/2014/main" id="{69D9BAED-2710-4575-AD8E-0A54608B5902}"/>
              </a:ext>
            </a:extLst>
          </p:cNvPr>
          <p:cNvSpPr/>
          <p:nvPr/>
        </p:nvSpPr>
        <p:spPr>
          <a:xfrm>
            <a:off x="1692683" y="2909128"/>
            <a:ext cx="2082621" cy="307777"/>
          </a:xfrm>
          <a:prstGeom prst="rect">
            <a:avLst/>
          </a:prstGeom>
        </p:spPr>
        <p:txBody>
          <a:bodyPr wrap="none">
            <a:spAutoFit/>
          </a:bodyPr>
          <a:lstStyle/>
          <a:p>
            <a:r>
              <a:rPr lang="en-US" altLang="zh-CN" sz="1400" b="1" dirty="0">
                <a:solidFill>
                  <a:srgbClr val="222222"/>
                </a:solidFill>
                <a:latin typeface="Arial" panose="020B0604020202020204" pitchFamily="34" charset="0"/>
              </a:rPr>
              <a:t>Asymptotically stable:</a:t>
            </a:r>
            <a:endParaRPr lang="zh-CN" altLang="en-US" sz="1400" dirty="0"/>
          </a:p>
        </p:txBody>
      </p:sp>
      <p:pic>
        <p:nvPicPr>
          <p:cNvPr id="100" name="图片 99">
            <a:extLst>
              <a:ext uri="{FF2B5EF4-FFF2-40B4-BE49-F238E27FC236}">
                <a16:creationId xmlns:a16="http://schemas.microsoft.com/office/drawing/2014/main" id="{A3BCB7E5-E518-4CAB-B3C9-25DB7AA30990}"/>
              </a:ext>
            </a:extLst>
          </p:cNvPr>
          <p:cNvPicPr>
            <a:picLocks noChangeAspect="1"/>
          </p:cNvPicPr>
          <p:nvPr/>
        </p:nvPicPr>
        <p:blipFill>
          <a:blip r:embed="rId3"/>
          <a:stretch>
            <a:fillRect/>
          </a:stretch>
        </p:blipFill>
        <p:spPr>
          <a:xfrm>
            <a:off x="1781175" y="3410590"/>
            <a:ext cx="6829425" cy="266700"/>
          </a:xfrm>
          <a:prstGeom prst="rect">
            <a:avLst/>
          </a:prstGeom>
        </p:spPr>
      </p:pic>
      <p:sp>
        <p:nvSpPr>
          <p:cNvPr id="101" name="矩形 100">
            <a:extLst>
              <a:ext uri="{FF2B5EF4-FFF2-40B4-BE49-F238E27FC236}">
                <a16:creationId xmlns:a16="http://schemas.microsoft.com/office/drawing/2014/main" id="{D294BFFC-9B61-4FF6-B101-138273AC96F9}"/>
              </a:ext>
            </a:extLst>
          </p:cNvPr>
          <p:cNvSpPr/>
          <p:nvPr/>
        </p:nvSpPr>
        <p:spPr>
          <a:xfrm>
            <a:off x="1649154" y="3728899"/>
            <a:ext cx="2036135" cy="369332"/>
          </a:xfrm>
          <a:prstGeom prst="rect">
            <a:avLst/>
          </a:prstGeom>
        </p:spPr>
        <p:txBody>
          <a:bodyPr wrap="none">
            <a:spAutoFit/>
          </a:bodyPr>
          <a:lstStyle/>
          <a:p>
            <a:r>
              <a:rPr lang="en-US" altLang="zh-CN" dirty="0">
                <a:solidFill>
                  <a:srgbClr val="222222"/>
                </a:solidFill>
                <a:latin typeface="Arial" panose="020B0604020202020204" pitchFamily="34" charset="0"/>
              </a:rPr>
              <a:t> </a:t>
            </a:r>
            <a:r>
              <a:rPr lang="en-US" altLang="zh-CN" sz="1400" b="1" dirty="0">
                <a:solidFill>
                  <a:srgbClr val="222222"/>
                </a:solidFill>
                <a:latin typeface="Arial" panose="020B0604020202020204" pitchFamily="34" charset="0"/>
              </a:rPr>
              <a:t>Exponentially stable:</a:t>
            </a:r>
            <a:endParaRPr lang="zh-CN" altLang="en-US" sz="1400" dirty="0"/>
          </a:p>
        </p:txBody>
      </p:sp>
      <p:pic>
        <p:nvPicPr>
          <p:cNvPr id="102" name="图片 101">
            <a:extLst>
              <a:ext uri="{FF2B5EF4-FFF2-40B4-BE49-F238E27FC236}">
                <a16:creationId xmlns:a16="http://schemas.microsoft.com/office/drawing/2014/main" id="{7E6C88D1-EEC8-4A4F-AE51-A071D5DE45E1}"/>
              </a:ext>
            </a:extLst>
          </p:cNvPr>
          <p:cNvPicPr>
            <a:picLocks noChangeAspect="1"/>
          </p:cNvPicPr>
          <p:nvPr/>
        </p:nvPicPr>
        <p:blipFill>
          <a:blip r:embed="rId4"/>
          <a:stretch>
            <a:fillRect/>
          </a:stretch>
        </p:blipFill>
        <p:spPr>
          <a:xfrm>
            <a:off x="1769910" y="4290618"/>
            <a:ext cx="9677400" cy="238125"/>
          </a:xfrm>
          <a:prstGeom prst="rect">
            <a:avLst/>
          </a:prstGeom>
        </p:spPr>
      </p:pic>
    </p:spTree>
    <p:extLst>
      <p:ext uri="{BB962C8B-B14F-4D97-AF65-F5344CB8AC3E}">
        <p14:creationId xmlns:p14="http://schemas.microsoft.com/office/powerpoint/2010/main" val="3568774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1.6 Conservative system</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lang="en-US"/>
          </a:p>
        </p:txBody>
      </p:sp>
      <p:pic>
        <p:nvPicPr>
          <p:cNvPr id="3" name="图片 2">
            <a:extLst>
              <a:ext uri="{FF2B5EF4-FFF2-40B4-BE49-F238E27FC236}">
                <a16:creationId xmlns:a16="http://schemas.microsoft.com/office/drawing/2014/main" id="{5CFF7537-C78A-4FA9-A473-7D5F30DDD622}"/>
              </a:ext>
            </a:extLst>
          </p:cNvPr>
          <p:cNvPicPr>
            <a:picLocks noChangeAspect="1"/>
          </p:cNvPicPr>
          <p:nvPr/>
        </p:nvPicPr>
        <p:blipFill>
          <a:blip r:embed="rId3"/>
          <a:stretch>
            <a:fillRect/>
          </a:stretch>
        </p:blipFill>
        <p:spPr>
          <a:xfrm>
            <a:off x="1848217" y="2420025"/>
            <a:ext cx="8495565" cy="2017949"/>
          </a:xfrm>
          <a:prstGeom prst="rect">
            <a:avLst/>
          </a:prstGeom>
        </p:spPr>
      </p:pic>
    </p:spTree>
    <p:extLst>
      <p:ext uri="{BB962C8B-B14F-4D97-AF65-F5344CB8AC3E}">
        <p14:creationId xmlns:p14="http://schemas.microsoft.com/office/powerpoint/2010/main" val="3096058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1.7 Linear matrix inequalities (LMIs)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lang="en-US"/>
          </a:p>
        </p:txBody>
      </p:sp>
      <p:pic>
        <p:nvPicPr>
          <p:cNvPr id="3" name="图片 2">
            <a:extLst>
              <a:ext uri="{FF2B5EF4-FFF2-40B4-BE49-F238E27FC236}">
                <a16:creationId xmlns:a16="http://schemas.microsoft.com/office/drawing/2014/main" id="{E570E283-E4A2-4844-B570-0CED411BBD66}"/>
              </a:ext>
            </a:extLst>
          </p:cNvPr>
          <p:cNvPicPr>
            <a:picLocks noChangeAspect="1"/>
          </p:cNvPicPr>
          <p:nvPr/>
        </p:nvPicPr>
        <p:blipFill>
          <a:blip r:embed="rId3"/>
          <a:stretch>
            <a:fillRect/>
          </a:stretch>
        </p:blipFill>
        <p:spPr>
          <a:xfrm>
            <a:off x="838200" y="1718084"/>
            <a:ext cx="5353050" cy="2000250"/>
          </a:xfrm>
          <a:prstGeom prst="rect">
            <a:avLst/>
          </a:prstGeom>
        </p:spPr>
      </p:pic>
      <p:pic>
        <p:nvPicPr>
          <p:cNvPr id="5" name="图片 4">
            <a:extLst>
              <a:ext uri="{FF2B5EF4-FFF2-40B4-BE49-F238E27FC236}">
                <a16:creationId xmlns:a16="http://schemas.microsoft.com/office/drawing/2014/main" id="{2844D2A9-735F-4E91-804F-B26F3AF3249B}"/>
              </a:ext>
            </a:extLst>
          </p:cNvPr>
          <p:cNvPicPr>
            <a:picLocks noChangeAspect="1"/>
          </p:cNvPicPr>
          <p:nvPr/>
        </p:nvPicPr>
        <p:blipFill rotWithShape="1">
          <a:blip r:embed="rId4"/>
          <a:srcRect r="1059" b="2466"/>
          <a:stretch/>
        </p:blipFill>
        <p:spPr>
          <a:xfrm>
            <a:off x="838201" y="4100050"/>
            <a:ext cx="6059750" cy="232253"/>
          </a:xfrm>
          <a:prstGeom prst="rect">
            <a:avLst/>
          </a:prstGeom>
        </p:spPr>
      </p:pic>
      <p:pic>
        <p:nvPicPr>
          <p:cNvPr id="7" name="图片 6">
            <a:extLst>
              <a:ext uri="{FF2B5EF4-FFF2-40B4-BE49-F238E27FC236}">
                <a16:creationId xmlns:a16="http://schemas.microsoft.com/office/drawing/2014/main" id="{0413F086-60DD-485D-A6F7-432C75B9BDEF}"/>
              </a:ext>
            </a:extLst>
          </p:cNvPr>
          <p:cNvPicPr>
            <a:picLocks noChangeAspect="1"/>
          </p:cNvPicPr>
          <p:nvPr/>
        </p:nvPicPr>
        <p:blipFill>
          <a:blip r:embed="rId5"/>
          <a:stretch>
            <a:fillRect/>
          </a:stretch>
        </p:blipFill>
        <p:spPr>
          <a:xfrm>
            <a:off x="6897951" y="4108210"/>
            <a:ext cx="2466975" cy="257175"/>
          </a:xfrm>
          <a:prstGeom prst="rect">
            <a:avLst/>
          </a:prstGeom>
        </p:spPr>
      </p:pic>
      <p:pic>
        <p:nvPicPr>
          <p:cNvPr id="8" name="图片 7">
            <a:extLst>
              <a:ext uri="{FF2B5EF4-FFF2-40B4-BE49-F238E27FC236}">
                <a16:creationId xmlns:a16="http://schemas.microsoft.com/office/drawing/2014/main" id="{892EC017-5BD2-43EB-9127-6410A3488FD1}"/>
              </a:ext>
            </a:extLst>
          </p:cNvPr>
          <p:cNvPicPr>
            <a:picLocks noChangeAspect="1"/>
          </p:cNvPicPr>
          <p:nvPr/>
        </p:nvPicPr>
        <p:blipFill>
          <a:blip r:embed="rId6"/>
          <a:stretch>
            <a:fillRect/>
          </a:stretch>
        </p:blipFill>
        <p:spPr>
          <a:xfrm>
            <a:off x="838200" y="4456844"/>
            <a:ext cx="5210175" cy="257175"/>
          </a:xfrm>
          <a:prstGeom prst="rect">
            <a:avLst/>
          </a:prstGeom>
        </p:spPr>
      </p:pic>
      <p:pic>
        <p:nvPicPr>
          <p:cNvPr id="9" name="图片 8">
            <a:extLst>
              <a:ext uri="{FF2B5EF4-FFF2-40B4-BE49-F238E27FC236}">
                <a16:creationId xmlns:a16="http://schemas.microsoft.com/office/drawing/2014/main" id="{325C396D-489E-4586-8744-B40213A3F482}"/>
              </a:ext>
            </a:extLst>
          </p:cNvPr>
          <p:cNvPicPr>
            <a:picLocks noChangeAspect="1"/>
          </p:cNvPicPr>
          <p:nvPr/>
        </p:nvPicPr>
        <p:blipFill>
          <a:blip r:embed="rId7"/>
          <a:stretch>
            <a:fillRect/>
          </a:stretch>
        </p:blipFill>
        <p:spPr>
          <a:xfrm>
            <a:off x="838200" y="4838560"/>
            <a:ext cx="10010775" cy="323850"/>
          </a:xfrm>
          <a:prstGeom prst="rect">
            <a:avLst/>
          </a:prstGeom>
        </p:spPr>
      </p:pic>
    </p:spTree>
    <p:extLst>
      <p:ext uri="{BB962C8B-B14F-4D97-AF65-F5344CB8AC3E}">
        <p14:creationId xmlns:p14="http://schemas.microsoft.com/office/powerpoint/2010/main" val="2520721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Mamdani Fuzzy Systems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lang="en-US"/>
          </a:p>
        </p:txBody>
      </p:sp>
      <p:pic>
        <p:nvPicPr>
          <p:cNvPr id="6" name="图片 5">
            <a:extLst>
              <a:ext uri="{FF2B5EF4-FFF2-40B4-BE49-F238E27FC236}">
                <a16:creationId xmlns:a16="http://schemas.microsoft.com/office/drawing/2014/main" id="{72C599FC-00AD-4116-9CDE-CC99C0727C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2944" y="1898584"/>
            <a:ext cx="3574092" cy="3659773"/>
          </a:xfrm>
          <a:prstGeom prst="rect">
            <a:avLst/>
          </a:prstGeom>
        </p:spPr>
      </p:pic>
      <p:pic>
        <p:nvPicPr>
          <p:cNvPr id="3" name="图片 2">
            <a:extLst>
              <a:ext uri="{FF2B5EF4-FFF2-40B4-BE49-F238E27FC236}">
                <a16:creationId xmlns:a16="http://schemas.microsoft.com/office/drawing/2014/main" id="{6B3F2691-AADF-4DBA-8856-B941206507DF}"/>
              </a:ext>
            </a:extLst>
          </p:cNvPr>
          <p:cNvPicPr>
            <a:picLocks noChangeAspect="1"/>
          </p:cNvPicPr>
          <p:nvPr/>
        </p:nvPicPr>
        <p:blipFill>
          <a:blip r:embed="rId4"/>
          <a:stretch>
            <a:fillRect/>
          </a:stretch>
        </p:blipFill>
        <p:spPr>
          <a:xfrm>
            <a:off x="838200" y="2775063"/>
            <a:ext cx="5624744" cy="1906817"/>
          </a:xfrm>
          <a:prstGeom prst="rect">
            <a:avLst/>
          </a:prstGeom>
        </p:spPr>
      </p:pic>
    </p:spTree>
    <p:extLst>
      <p:ext uri="{BB962C8B-B14F-4D97-AF65-F5344CB8AC3E}">
        <p14:creationId xmlns:p14="http://schemas.microsoft.com/office/powerpoint/2010/main" val="2670533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Mamdani Fuzzy Systems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lang="en-US"/>
          </a:p>
        </p:txBody>
      </p:sp>
      <p:pic>
        <p:nvPicPr>
          <p:cNvPr id="6" name="图片 5">
            <a:extLst>
              <a:ext uri="{FF2B5EF4-FFF2-40B4-BE49-F238E27FC236}">
                <a16:creationId xmlns:a16="http://schemas.microsoft.com/office/drawing/2014/main" id="{E7081935-21E6-4AED-8EF4-1237B231A902}"/>
              </a:ext>
            </a:extLst>
          </p:cNvPr>
          <p:cNvPicPr>
            <a:picLocks noChangeAspect="1"/>
          </p:cNvPicPr>
          <p:nvPr/>
        </p:nvPicPr>
        <p:blipFill>
          <a:blip r:embed="rId3"/>
          <a:stretch>
            <a:fillRect/>
          </a:stretch>
        </p:blipFill>
        <p:spPr>
          <a:xfrm>
            <a:off x="831306" y="2596048"/>
            <a:ext cx="2514454" cy="1665903"/>
          </a:xfrm>
          <a:prstGeom prst="rect">
            <a:avLst/>
          </a:prstGeom>
        </p:spPr>
      </p:pic>
      <p:pic>
        <p:nvPicPr>
          <p:cNvPr id="7" name="图片 6">
            <a:extLst>
              <a:ext uri="{FF2B5EF4-FFF2-40B4-BE49-F238E27FC236}">
                <a16:creationId xmlns:a16="http://schemas.microsoft.com/office/drawing/2014/main" id="{5E126CB0-9EAA-4182-A454-B472B82F29A2}"/>
              </a:ext>
            </a:extLst>
          </p:cNvPr>
          <p:cNvPicPr>
            <a:picLocks noChangeAspect="1"/>
          </p:cNvPicPr>
          <p:nvPr/>
        </p:nvPicPr>
        <p:blipFill>
          <a:blip r:embed="rId4"/>
          <a:stretch>
            <a:fillRect/>
          </a:stretch>
        </p:blipFill>
        <p:spPr>
          <a:xfrm>
            <a:off x="3345760" y="2053710"/>
            <a:ext cx="7128352" cy="2750577"/>
          </a:xfrm>
          <a:prstGeom prst="rect">
            <a:avLst/>
          </a:prstGeom>
        </p:spPr>
      </p:pic>
    </p:spTree>
    <p:extLst>
      <p:ext uri="{BB962C8B-B14F-4D97-AF65-F5344CB8AC3E}">
        <p14:creationId xmlns:p14="http://schemas.microsoft.com/office/powerpoint/2010/main" val="178103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Mamdani Fuzzy Systems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lang="en-US"/>
          </a:p>
        </p:txBody>
      </p:sp>
      <p:grpSp>
        <p:nvGrpSpPr>
          <p:cNvPr id="13" name="组合 12">
            <a:extLst>
              <a:ext uri="{FF2B5EF4-FFF2-40B4-BE49-F238E27FC236}">
                <a16:creationId xmlns:a16="http://schemas.microsoft.com/office/drawing/2014/main" id="{E2EFF311-E36A-4A93-AB5F-C2A2A0F75FA5}"/>
              </a:ext>
            </a:extLst>
          </p:cNvPr>
          <p:cNvGrpSpPr/>
          <p:nvPr/>
        </p:nvGrpSpPr>
        <p:grpSpPr>
          <a:xfrm>
            <a:off x="1900859" y="2941088"/>
            <a:ext cx="3158464" cy="666750"/>
            <a:chOff x="838197" y="2929637"/>
            <a:chExt cx="3158464" cy="666750"/>
          </a:xfrm>
        </p:grpSpPr>
        <p:pic>
          <p:nvPicPr>
            <p:cNvPr id="4" name="图片 3">
              <a:extLst>
                <a:ext uri="{FF2B5EF4-FFF2-40B4-BE49-F238E27FC236}">
                  <a16:creationId xmlns:a16="http://schemas.microsoft.com/office/drawing/2014/main" id="{688EB1BA-71C5-4FF7-83A3-DBA916ACC9D0}"/>
                </a:ext>
              </a:extLst>
            </p:cNvPr>
            <p:cNvPicPr>
              <a:picLocks noChangeAspect="1"/>
            </p:cNvPicPr>
            <p:nvPr/>
          </p:nvPicPr>
          <p:blipFill>
            <a:blip r:embed="rId3"/>
            <a:stretch>
              <a:fillRect/>
            </a:stretch>
          </p:blipFill>
          <p:spPr>
            <a:xfrm>
              <a:off x="1463011" y="2929637"/>
              <a:ext cx="2533650" cy="666750"/>
            </a:xfrm>
            <a:prstGeom prst="rect">
              <a:avLst/>
            </a:prstGeom>
          </p:spPr>
        </p:pic>
        <p:sp>
          <p:nvSpPr>
            <p:cNvPr id="8" name="矩形 7">
              <a:extLst>
                <a:ext uri="{FF2B5EF4-FFF2-40B4-BE49-F238E27FC236}">
                  <a16:creationId xmlns:a16="http://schemas.microsoft.com/office/drawing/2014/main" id="{CF2F8A58-EA6A-4523-8B75-B7CC34FF2357}"/>
                </a:ext>
              </a:extLst>
            </p:cNvPr>
            <p:cNvSpPr/>
            <p:nvPr/>
          </p:nvSpPr>
          <p:spPr>
            <a:xfrm>
              <a:off x="838197" y="3081922"/>
              <a:ext cx="2125325" cy="307777"/>
            </a:xfrm>
            <a:prstGeom prst="rect">
              <a:avLst/>
            </a:prstGeom>
          </p:spPr>
          <p:txBody>
            <a:bodyPr wrap="square">
              <a:spAutoFit/>
            </a:bodyPr>
            <a:lstStyle/>
            <a:p>
              <a:r>
                <a:rPr lang="en-US" altLang="zh-CN" sz="1400" b="1" dirty="0">
                  <a:solidFill>
                    <a:srgbClr val="222222"/>
                  </a:solidFill>
                  <a:latin typeface="Arial" panose="020B0604020202020204" pitchFamily="34" charset="0"/>
                </a:rPr>
                <a:t>AND</a:t>
              </a:r>
              <a:r>
                <a:rPr lang="zh-CN" altLang="en-US" sz="1400" dirty="0">
                  <a:solidFill>
                    <a:srgbClr val="222222"/>
                  </a:solidFill>
                  <a:latin typeface="Arial" panose="020B0604020202020204" pitchFamily="34" charset="0"/>
                </a:rPr>
                <a:t>：</a:t>
              </a:r>
              <a:endParaRPr lang="zh-CN" altLang="en-US" sz="1400" dirty="0"/>
            </a:p>
          </p:txBody>
        </p:sp>
      </p:grpSp>
      <p:grpSp>
        <p:nvGrpSpPr>
          <p:cNvPr id="12" name="组合 11">
            <a:extLst>
              <a:ext uri="{FF2B5EF4-FFF2-40B4-BE49-F238E27FC236}">
                <a16:creationId xmlns:a16="http://schemas.microsoft.com/office/drawing/2014/main" id="{A0C8330B-65B2-41B6-96CD-0C8478DFCF66}"/>
              </a:ext>
            </a:extLst>
          </p:cNvPr>
          <p:cNvGrpSpPr/>
          <p:nvPr/>
        </p:nvGrpSpPr>
        <p:grpSpPr>
          <a:xfrm>
            <a:off x="1900859" y="2182539"/>
            <a:ext cx="3072736" cy="600075"/>
            <a:chOff x="838200" y="2236942"/>
            <a:chExt cx="3072736" cy="600075"/>
          </a:xfrm>
        </p:grpSpPr>
        <p:pic>
          <p:nvPicPr>
            <p:cNvPr id="3" name="图片 2">
              <a:extLst>
                <a:ext uri="{FF2B5EF4-FFF2-40B4-BE49-F238E27FC236}">
                  <a16:creationId xmlns:a16="http://schemas.microsoft.com/office/drawing/2014/main" id="{A735A075-7C06-4C22-8220-349EFCED8818}"/>
                </a:ext>
              </a:extLst>
            </p:cNvPr>
            <p:cNvPicPr>
              <a:picLocks noChangeAspect="1"/>
            </p:cNvPicPr>
            <p:nvPr/>
          </p:nvPicPr>
          <p:blipFill>
            <a:blip r:embed="rId4"/>
            <a:stretch>
              <a:fillRect/>
            </a:stretch>
          </p:blipFill>
          <p:spPr>
            <a:xfrm>
              <a:off x="1463011" y="2236942"/>
              <a:ext cx="2447925" cy="600075"/>
            </a:xfrm>
            <a:prstGeom prst="rect">
              <a:avLst/>
            </a:prstGeom>
          </p:spPr>
        </p:pic>
        <p:sp>
          <p:nvSpPr>
            <p:cNvPr id="10" name="矩形 9">
              <a:extLst>
                <a:ext uri="{FF2B5EF4-FFF2-40B4-BE49-F238E27FC236}">
                  <a16:creationId xmlns:a16="http://schemas.microsoft.com/office/drawing/2014/main" id="{092EDCA8-F773-4D14-B7CE-B1948AD1BF45}"/>
                </a:ext>
              </a:extLst>
            </p:cNvPr>
            <p:cNvSpPr/>
            <p:nvPr/>
          </p:nvSpPr>
          <p:spPr>
            <a:xfrm>
              <a:off x="838200" y="2309362"/>
              <a:ext cx="2125325" cy="307777"/>
            </a:xfrm>
            <a:prstGeom prst="rect">
              <a:avLst/>
            </a:prstGeom>
          </p:spPr>
          <p:txBody>
            <a:bodyPr wrap="square">
              <a:spAutoFit/>
            </a:bodyPr>
            <a:lstStyle/>
            <a:p>
              <a:r>
                <a:rPr lang="en-US" altLang="zh-CN" sz="1400" b="1" dirty="0">
                  <a:solidFill>
                    <a:srgbClr val="222222"/>
                  </a:solidFill>
                  <a:latin typeface="Arial" panose="020B0604020202020204" pitchFamily="34" charset="0"/>
                </a:rPr>
                <a:t>OR</a:t>
              </a:r>
              <a:r>
                <a:rPr lang="zh-CN" altLang="en-US" sz="1400" dirty="0">
                  <a:solidFill>
                    <a:srgbClr val="222222"/>
                  </a:solidFill>
                  <a:latin typeface="Arial" panose="020B0604020202020204" pitchFamily="34" charset="0"/>
                </a:rPr>
                <a:t>：</a:t>
              </a:r>
              <a:endParaRPr lang="zh-CN" altLang="en-US" sz="1400" dirty="0"/>
            </a:p>
          </p:txBody>
        </p:sp>
      </p:grpSp>
      <p:grpSp>
        <p:nvGrpSpPr>
          <p:cNvPr id="14" name="组合 13">
            <a:extLst>
              <a:ext uri="{FF2B5EF4-FFF2-40B4-BE49-F238E27FC236}">
                <a16:creationId xmlns:a16="http://schemas.microsoft.com/office/drawing/2014/main" id="{826191EC-50F4-4076-AEF9-C3653BBCB308}"/>
              </a:ext>
            </a:extLst>
          </p:cNvPr>
          <p:cNvGrpSpPr/>
          <p:nvPr/>
        </p:nvGrpSpPr>
        <p:grpSpPr>
          <a:xfrm>
            <a:off x="1900859" y="3726050"/>
            <a:ext cx="2501238" cy="514350"/>
            <a:chOff x="838198" y="3689007"/>
            <a:chExt cx="2501238" cy="514350"/>
          </a:xfrm>
        </p:grpSpPr>
        <p:sp>
          <p:nvSpPr>
            <p:cNvPr id="9" name="矩形 8">
              <a:extLst>
                <a:ext uri="{FF2B5EF4-FFF2-40B4-BE49-F238E27FC236}">
                  <a16:creationId xmlns:a16="http://schemas.microsoft.com/office/drawing/2014/main" id="{273543CA-51A4-47E7-903D-CDD657C995F3}"/>
                </a:ext>
              </a:extLst>
            </p:cNvPr>
            <p:cNvSpPr/>
            <p:nvPr/>
          </p:nvSpPr>
          <p:spPr>
            <a:xfrm>
              <a:off x="838198" y="3748672"/>
              <a:ext cx="2125325" cy="307777"/>
            </a:xfrm>
            <a:prstGeom prst="rect">
              <a:avLst/>
            </a:prstGeom>
          </p:spPr>
          <p:txBody>
            <a:bodyPr wrap="square">
              <a:spAutoFit/>
            </a:bodyPr>
            <a:lstStyle/>
            <a:p>
              <a:r>
                <a:rPr lang="en-US" altLang="zh-CN" sz="1400" b="1" dirty="0">
                  <a:solidFill>
                    <a:srgbClr val="222222"/>
                  </a:solidFill>
                  <a:latin typeface="Arial" panose="020B0604020202020204" pitchFamily="34" charset="0"/>
                </a:rPr>
                <a:t>NOT</a:t>
              </a:r>
              <a:r>
                <a:rPr lang="zh-CN" altLang="en-US" sz="1400" dirty="0">
                  <a:solidFill>
                    <a:srgbClr val="222222"/>
                  </a:solidFill>
                  <a:latin typeface="Arial" panose="020B0604020202020204" pitchFamily="34" charset="0"/>
                </a:rPr>
                <a:t>：</a:t>
              </a:r>
              <a:endParaRPr lang="zh-CN" altLang="en-US" sz="1400" dirty="0"/>
            </a:p>
          </p:txBody>
        </p:sp>
        <p:pic>
          <p:nvPicPr>
            <p:cNvPr id="6" name="图片 5">
              <a:extLst>
                <a:ext uri="{FF2B5EF4-FFF2-40B4-BE49-F238E27FC236}">
                  <a16:creationId xmlns:a16="http://schemas.microsoft.com/office/drawing/2014/main" id="{4E6281D6-8E05-406A-912A-D2443909A1B2}"/>
                </a:ext>
              </a:extLst>
            </p:cNvPr>
            <p:cNvPicPr>
              <a:picLocks noChangeAspect="1"/>
            </p:cNvPicPr>
            <p:nvPr/>
          </p:nvPicPr>
          <p:blipFill>
            <a:blip r:embed="rId5"/>
            <a:stretch>
              <a:fillRect/>
            </a:stretch>
          </p:blipFill>
          <p:spPr>
            <a:xfrm>
              <a:off x="1463011" y="3689007"/>
              <a:ext cx="1876425" cy="514350"/>
            </a:xfrm>
            <a:prstGeom prst="rect">
              <a:avLst/>
            </a:prstGeom>
          </p:spPr>
        </p:pic>
      </p:grpSp>
      <p:pic>
        <p:nvPicPr>
          <p:cNvPr id="7" name="图片 6">
            <a:extLst>
              <a:ext uri="{FF2B5EF4-FFF2-40B4-BE49-F238E27FC236}">
                <a16:creationId xmlns:a16="http://schemas.microsoft.com/office/drawing/2014/main" id="{37D67E20-8A86-4835-9E9E-C785F79FC66B}"/>
              </a:ext>
            </a:extLst>
          </p:cNvPr>
          <p:cNvPicPr>
            <a:picLocks noChangeAspect="1"/>
          </p:cNvPicPr>
          <p:nvPr/>
        </p:nvPicPr>
        <p:blipFill>
          <a:blip r:embed="rId6"/>
          <a:stretch>
            <a:fillRect/>
          </a:stretch>
        </p:blipFill>
        <p:spPr>
          <a:xfrm>
            <a:off x="1900859" y="4478057"/>
            <a:ext cx="3419152" cy="1276210"/>
          </a:xfrm>
          <a:prstGeom prst="rect">
            <a:avLst/>
          </a:prstGeom>
        </p:spPr>
      </p:pic>
      <p:pic>
        <p:nvPicPr>
          <p:cNvPr id="2" name="图片 1">
            <a:extLst>
              <a:ext uri="{FF2B5EF4-FFF2-40B4-BE49-F238E27FC236}">
                <a16:creationId xmlns:a16="http://schemas.microsoft.com/office/drawing/2014/main" id="{0D3BA364-926E-4655-BA78-D24286071770}"/>
              </a:ext>
            </a:extLst>
          </p:cNvPr>
          <p:cNvPicPr>
            <a:picLocks noChangeAspect="1"/>
          </p:cNvPicPr>
          <p:nvPr/>
        </p:nvPicPr>
        <p:blipFill>
          <a:blip r:embed="rId7"/>
          <a:stretch>
            <a:fillRect/>
          </a:stretch>
        </p:blipFill>
        <p:spPr>
          <a:xfrm>
            <a:off x="6096000" y="1432410"/>
            <a:ext cx="3419892" cy="5322163"/>
          </a:xfrm>
          <a:prstGeom prst="rect">
            <a:avLst/>
          </a:prstGeom>
        </p:spPr>
      </p:pic>
    </p:spTree>
    <p:extLst>
      <p:ext uri="{BB962C8B-B14F-4D97-AF65-F5344CB8AC3E}">
        <p14:creationId xmlns:p14="http://schemas.microsoft.com/office/powerpoint/2010/main" val="3408496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Mamdani Fuzzy Systems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lang="en-US"/>
          </a:p>
        </p:txBody>
      </p:sp>
      <p:sp>
        <p:nvSpPr>
          <p:cNvPr id="6" name="Google Shape;106;p15">
            <a:extLst>
              <a:ext uri="{FF2B5EF4-FFF2-40B4-BE49-F238E27FC236}">
                <a16:creationId xmlns:a16="http://schemas.microsoft.com/office/drawing/2014/main" id="{A9F2282E-0731-428C-B852-87A33EA9ACC6}"/>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endParaRPr lang="en-US" altLang="zh-CN" dirty="0"/>
          </a:p>
          <a:p>
            <a:pPr>
              <a:spcBef>
                <a:spcPts val="0"/>
              </a:spcBef>
              <a:buSzPts val="2800"/>
            </a:pPr>
            <a:r>
              <a:rPr lang="en-US" altLang="zh-CN" dirty="0"/>
              <a:t>Effectiveness:</a:t>
            </a:r>
          </a:p>
          <a:p>
            <a:pPr lvl="1">
              <a:spcBef>
                <a:spcPts val="0"/>
              </a:spcBef>
              <a:buSzPts val="2800"/>
            </a:pPr>
            <a:r>
              <a:rPr lang="en-US" altLang="zh-CN" dirty="0"/>
              <a:t>No math-model</a:t>
            </a:r>
          </a:p>
          <a:p>
            <a:pPr lvl="1">
              <a:spcBef>
                <a:spcPts val="0"/>
              </a:spcBef>
              <a:buSzPts val="2800"/>
            </a:pPr>
            <a:r>
              <a:rPr lang="en-US" altLang="zh-CN" dirty="0"/>
              <a:t>Human operators </a:t>
            </a:r>
          </a:p>
          <a:p>
            <a:pPr lvl="1">
              <a:spcBef>
                <a:spcPts val="0"/>
              </a:spcBef>
              <a:buSzPts val="2800"/>
            </a:pPr>
            <a:r>
              <a:rPr lang="en-US" altLang="zh-CN" dirty="0"/>
              <a:t>Task-oriented control </a:t>
            </a:r>
          </a:p>
          <a:p>
            <a:pPr lvl="1">
              <a:spcBef>
                <a:spcPts val="0"/>
              </a:spcBef>
              <a:buSzPts val="2800"/>
            </a:pPr>
            <a:r>
              <a:rPr lang="en-US" altLang="zh-CN" dirty="0"/>
              <a:t>Multi-objective goals</a:t>
            </a:r>
          </a:p>
          <a:p>
            <a:pPr lvl="1">
              <a:spcBef>
                <a:spcPts val="0"/>
              </a:spcBef>
              <a:buSzPts val="2800"/>
            </a:pPr>
            <a:endParaRPr lang="en-US" altLang="zh-CN" dirty="0"/>
          </a:p>
        </p:txBody>
      </p:sp>
    </p:spTree>
    <p:extLst>
      <p:ext uri="{BB962C8B-B14F-4D97-AF65-F5344CB8AC3E}">
        <p14:creationId xmlns:p14="http://schemas.microsoft.com/office/powerpoint/2010/main" val="1326014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Mamdani Fuzzy Systems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lang="en-US"/>
          </a:p>
        </p:txBody>
      </p:sp>
      <p:sp>
        <p:nvSpPr>
          <p:cNvPr id="6" name="Google Shape;106;p15">
            <a:extLst>
              <a:ext uri="{FF2B5EF4-FFF2-40B4-BE49-F238E27FC236}">
                <a16:creationId xmlns:a16="http://schemas.microsoft.com/office/drawing/2014/main" id="{A9F2282E-0731-428C-B852-87A33EA9ACC6}"/>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endParaRPr lang="en-US" altLang="zh-CN" dirty="0"/>
          </a:p>
          <a:p>
            <a:pPr>
              <a:spcBef>
                <a:spcPts val="0"/>
              </a:spcBef>
              <a:buSzPts val="2800"/>
            </a:pPr>
            <a:r>
              <a:rPr lang="en-US" altLang="zh-CN" dirty="0"/>
              <a:t>Drawback : Model-free</a:t>
            </a:r>
          </a:p>
          <a:p>
            <a:pPr>
              <a:spcBef>
                <a:spcPts val="0"/>
              </a:spcBef>
              <a:buSzPts val="2800"/>
            </a:pPr>
            <a:endParaRPr lang="en-US" altLang="zh-CN" dirty="0"/>
          </a:p>
          <a:p>
            <a:pPr>
              <a:spcBef>
                <a:spcPts val="0"/>
              </a:spcBef>
              <a:buSzPts val="2800"/>
            </a:pPr>
            <a:r>
              <a:rPr lang="en-US" altLang="zh-CN" dirty="0"/>
              <a:t>Overcome: </a:t>
            </a:r>
          </a:p>
          <a:p>
            <a:pPr lvl="1">
              <a:spcBef>
                <a:spcPts val="0"/>
              </a:spcBef>
              <a:buSzPts val="2800"/>
            </a:pPr>
            <a:r>
              <a:rPr lang="en-US" altLang="zh-CN" dirty="0"/>
              <a:t>Fuzzy model-based control approaches:</a:t>
            </a:r>
          </a:p>
        </p:txBody>
      </p:sp>
      <p:pic>
        <p:nvPicPr>
          <p:cNvPr id="5" name="图片 4">
            <a:extLst>
              <a:ext uri="{FF2B5EF4-FFF2-40B4-BE49-F238E27FC236}">
                <a16:creationId xmlns:a16="http://schemas.microsoft.com/office/drawing/2014/main" id="{8216F3F6-C3B7-4895-A77F-CD7459DA2CD0}"/>
              </a:ext>
            </a:extLst>
          </p:cNvPr>
          <p:cNvPicPr>
            <a:picLocks noChangeAspect="1"/>
          </p:cNvPicPr>
          <p:nvPr/>
        </p:nvPicPr>
        <p:blipFill rotWithShape="1">
          <a:blip r:embed="rId3">
            <a:extLst>
              <a:ext uri="{28A0092B-C50C-407E-A947-70E740481C1C}">
                <a14:useLocalDpi xmlns:a14="http://schemas.microsoft.com/office/drawing/2010/main" val="0"/>
              </a:ext>
            </a:extLst>
          </a:blip>
          <a:srcRect l="25335" t="36025" r="28645" b="49802"/>
          <a:stretch/>
        </p:blipFill>
        <p:spPr>
          <a:xfrm>
            <a:off x="7101016" y="3093329"/>
            <a:ext cx="2743200" cy="715191"/>
          </a:xfrm>
          <a:prstGeom prst="rect">
            <a:avLst/>
          </a:prstGeom>
        </p:spPr>
      </p:pic>
    </p:spTree>
    <p:extLst>
      <p:ext uri="{BB962C8B-B14F-4D97-AF65-F5344CB8AC3E}">
        <p14:creationId xmlns:p14="http://schemas.microsoft.com/office/powerpoint/2010/main" val="1657535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3 Takagi-</a:t>
            </a:r>
            <a:r>
              <a:rPr lang="en-US" dirty="0" err="1"/>
              <a:t>Sugeno</a:t>
            </a:r>
            <a:r>
              <a:rPr lang="en-US" dirty="0"/>
              <a:t> Fuzzy Systems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lang="en-US"/>
          </a:p>
        </p:txBody>
      </p:sp>
      <p:pic>
        <p:nvPicPr>
          <p:cNvPr id="5" name="图片 4">
            <a:extLst>
              <a:ext uri="{FF2B5EF4-FFF2-40B4-BE49-F238E27FC236}">
                <a16:creationId xmlns:a16="http://schemas.microsoft.com/office/drawing/2014/main" id="{14069260-DB35-4B61-95A7-9383224C901A}"/>
              </a:ext>
            </a:extLst>
          </p:cNvPr>
          <p:cNvPicPr>
            <a:picLocks noChangeAspect="1"/>
          </p:cNvPicPr>
          <p:nvPr/>
        </p:nvPicPr>
        <p:blipFill rotWithShape="1">
          <a:blip r:embed="rId3">
            <a:extLst>
              <a:ext uri="{28A0092B-C50C-407E-A947-70E740481C1C}">
                <a14:useLocalDpi xmlns:a14="http://schemas.microsoft.com/office/drawing/2010/main" val="0"/>
              </a:ext>
            </a:extLst>
          </a:blip>
          <a:srcRect t="56168"/>
          <a:stretch/>
        </p:blipFill>
        <p:spPr>
          <a:xfrm>
            <a:off x="3352066" y="2212332"/>
            <a:ext cx="5258534" cy="856000"/>
          </a:xfrm>
          <a:prstGeom prst="rect">
            <a:avLst/>
          </a:prstGeom>
        </p:spPr>
      </p:pic>
      <p:pic>
        <p:nvPicPr>
          <p:cNvPr id="8" name="图片 7">
            <a:extLst>
              <a:ext uri="{FF2B5EF4-FFF2-40B4-BE49-F238E27FC236}">
                <a16:creationId xmlns:a16="http://schemas.microsoft.com/office/drawing/2014/main" id="{0556CE4C-C274-426E-B926-876F8DB87E0E}"/>
              </a:ext>
            </a:extLst>
          </p:cNvPr>
          <p:cNvPicPr>
            <a:picLocks noChangeAspect="1"/>
          </p:cNvPicPr>
          <p:nvPr/>
        </p:nvPicPr>
        <p:blipFill rotWithShape="1">
          <a:blip r:embed="rId4">
            <a:extLst>
              <a:ext uri="{28A0092B-C50C-407E-A947-70E740481C1C}">
                <a14:useLocalDpi xmlns:a14="http://schemas.microsoft.com/office/drawing/2010/main" val="0"/>
              </a:ext>
            </a:extLst>
          </a:blip>
          <a:srcRect b="45614"/>
          <a:stretch/>
        </p:blipFill>
        <p:spPr>
          <a:xfrm>
            <a:off x="3352066" y="3507640"/>
            <a:ext cx="5315692" cy="2155287"/>
          </a:xfrm>
          <a:prstGeom prst="rect">
            <a:avLst/>
          </a:prstGeom>
        </p:spPr>
      </p:pic>
      <p:sp>
        <p:nvSpPr>
          <p:cNvPr id="7" name="矩形 6">
            <a:extLst>
              <a:ext uri="{FF2B5EF4-FFF2-40B4-BE49-F238E27FC236}">
                <a16:creationId xmlns:a16="http://schemas.microsoft.com/office/drawing/2014/main" id="{843D7F61-1831-42EE-B1EF-0DBD13DFD609}"/>
              </a:ext>
            </a:extLst>
          </p:cNvPr>
          <p:cNvSpPr/>
          <p:nvPr/>
        </p:nvSpPr>
        <p:spPr>
          <a:xfrm>
            <a:off x="3241963" y="3042584"/>
            <a:ext cx="2125325" cy="307777"/>
          </a:xfrm>
          <a:prstGeom prst="rect">
            <a:avLst/>
          </a:prstGeom>
        </p:spPr>
        <p:txBody>
          <a:bodyPr wrap="square">
            <a:spAutoFit/>
          </a:bodyPr>
          <a:lstStyle/>
          <a:p>
            <a:r>
              <a:rPr lang="en-US" altLang="zh-CN" sz="1400" dirty="0">
                <a:solidFill>
                  <a:srgbClr val="222222"/>
                </a:solidFill>
                <a:latin typeface="Arial" panose="020B0604020202020204" pitchFamily="34" charset="0"/>
              </a:rPr>
              <a:t> </a:t>
            </a:r>
            <a:r>
              <a:rPr lang="en-US" altLang="zh-CN" sz="1400" b="1" dirty="0">
                <a:solidFill>
                  <a:srgbClr val="222222"/>
                </a:solidFill>
                <a:latin typeface="Arial" panose="020B0604020202020204" pitchFamily="34" charset="0"/>
              </a:rPr>
              <a:t>Defuzzification</a:t>
            </a:r>
            <a:r>
              <a:rPr lang="zh-CN" altLang="en-US" sz="1400" dirty="0">
                <a:solidFill>
                  <a:srgbClr val="222222"/>
                </a:solidFill>
                <a:latin typeface="Arial" panose="020B0604020202020204" pitchFamily="34" charset="0"/>
              </a:rPr>
              <a:t>：</a:t>
            </a:r>
            <a:endParaRPr lang="zh-CN" altLang="en-US" sz="1400" dirty="0"/>
          </a:p>
        </p:txBody>
      </p:sp>
      <p:sp>
        <p:nvSpPr>
          <p:cNvPr id="3" name="矩形 2">
            <a:extLst>
              <a:ext uri="{FF2B5EF4-FFF2-40B4-BE49-F238E27FC236}">
                <a16:creationId xmlns:a16="http://schemas.microsoft.com/office/drawing/2014/main" id="{8E8DAFD8-0B52-4AEF-BA73-77E894607848}"/>
              </a:ext>
            </a:extLst>
          </p:cNvPr>
          <p:cNvSpPr/>
          <p:nvPr/>
        </p:nvSpPr>
        <p:spPr>
          <a:xfrm>
            <a:off x="3317976" y="5766799"/>
            <a:ext cx="2084225" cy="307777"/>
          </a:xfrm>
          <a:prstGeom prst="rect">
            <a:avLst/>
          </a:prstGeom>
        </p:spPr>
        <p:txBody>
          <a:bodyPr wrap="none">
            <a:spAutoFit/>
          </a:bodyPr>
          <a:lstStyle/>
          <a:p>
            <a:r>
              <a:rPr lang="en-US" altLang="zh-CN" sz="1400" b="1" dirty="0">
                <a:solidFill>
                  <a:srgbClr val="222222"/>
                </a:solidFill>
                <a:latin typeface="Arial" panose="020B0604020202020204" pitchFamily="34" charset="0"/>
              </a:rPr>
              <a:t>Convex sum property:</a:t>
            </a:r>
            <a:endParaRPr lang="zh-CN" altLang="en-US" sz="1400" b="1" dirty="0">
              <a:solidFill>
                <a:srgbClr val="222222"/>
              </a:solidFill>
              <a:latin typeface="Arial" panose="020B0604020202020204" pitchFamily="34" charset="0"/>
            </a:endParaRPr>
          </a:p>
        </p:txBody>
      </p:sp>
      <p:pic>
        <p:nvPicPr>
          <p:cNvPr id="4" name="图片 3">
            <a:extLst>
              <a:ext uri="{FF2B5EF4-FFF2-40B4-BE49-F238E27FC236}">
                <a16:creationId xmlns:a16="http://schemas.microsoft.com/office/drawing/2014/main" id="{D78AB51F-EF6C-4AA4-9CFC-B2A19E45BBE9}"/>
              </a:ext>
            </a:extLst>
          </p:cNvPr>
          <p:cNvPicPr>
            <a:picLocks noChangeAspect="1"/>
          </p:cNvPicPr>
          <p:nvPr/>
        </p:nvPicPr>
        <p:blipFill>
          <a:blip r:embed="rId5"/>
          <a:stretch>
            <a:fillRect/>
          </a:stretch>
        </p:blipFill>
        <p:spPr>
          <a:xfrm>
            <a:off x="5402201" y="5662927"/>
            <a:ext cx="4657725" cy="628650"/>
          </a:xfrm>
          <a:prstGeom prst="rect">
            <a:avLst/>
          </a:prstGeom>
        </p:spPr>
      </p:pic>
      <p:sp>
        <p:nvSpPr>
          <p:cNvPr id="6" name="矩形 5">
            <a:extLst>
              <a:ext uri="{FF2B5EF4-FFF2-40B4-BE49-F238E27FC236}">
                <a16:creationId xmlns:a16="http://schemas.microsoft.com/office/drawing/2014/main" id="{C11D9E1E-B432-4F6F-9E4D-E9AAF920BD9E}"/>
              </a:ext>
            </a:extLst>
          </p:cNvPr>
          <p:cNvSpPr/>
          <p:nvPr/>
        </p:nvSpPr>
        <p:spPr>
          <a:xfrm>
            <a:off x="838200" y="1766845"/>
            <a:ext cx="2489336" cy="400110"/>
          </a:xfrm>
          <a:prstGeom prst="rect">
            <a:avLst/>
          </a:prstGeom>
        </p:spPr>
        <p:txBody>
          <a:bodyPr wrap="none">
            <a:spAutoFit/>
          </a:bodyPr>
          <a:lstStyle/>
          <a:p>
            <a:r>
              <a:rPr lang="en-US" altLang="zh-CN" sz="2000" i="1" dirty="0">
                <a:latin typeface="Formata-Italic"/>
              </a:rPr>
              <a:t>A. System Description:</a:t>
            </a:r>
            <a:endParaRPr lang="zh-CN" altLang="en-US" sz="2000" dirty="0"/>
          </a:p>
        </p:txBody>
      </p:sp>
    </p:spTree>
    <p:extLst>
      <p:ext uri="{BB962C8B-B14F-4D97-AF65-F5344CB8AC3E}">
        <p14:creationId xmlns:p14="http://schemas.microsoft.com/office/powerpoint/2010/main" val="1397250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Takagi-</a:t>
            </a:r>
            <a:r>
              <a:rPr lang="en-US" altLang="zh-CN" dirty="0" err="1"/>
              <a:t>Sugeno</a:t>
            </a:r>
            <a:r>
              <a:rPr lang="en-US" altLang="zh-CN" dirty="0"/>
              <a:t> Fuzzy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lang="en-US"/>
          </a:p>
        </p:txBody>
      </p:sp>
      <p:sp>
        <p:nvSpPr>
          <p:cNvPr id="2" name="矩形 1">
            <a:extLst>
              <a:ext uri="{FF2B5EF4-FFF2-40B4-BE49-F238E27FC236}">
                <a16:creationId xmlns:a16="http://schemas.microsoft.com/office/drawing/2014/main" id="{F77E9C77-5094-417D-AA90-73D015EA4C8E}"/>
              </a:ext>
            </a:extLst>
          </p:cNvPr>
          <p:cNvSpPr/>
          <p:nvPr/>
        </p:nvSpPr>
        <p:spPr>
          <a:xfrm>
            <a:off x="838200" y="1690690"/>
            <a:ext cx="4001160" cy="400110"/>
          </a:xfrm>
          <a:prstGeom prst="rect">
            <a:avLst/>
          </a:prstGeom>
        </p:spPr>
        <p:txBody>
          <a:bodyPr wrap="none">
            <a:spAutoFit/>
          </a:bodyPr>
          <a:lstStyle/>
          <a:p>
            <a:r>
              <a:rPr lang="en-US" altLang="zh-CN" sz="2000" i="1" dirty="0">
                <a:latin typeface="Formata-Italic"/>
              </a:rPr>
              <a:t>B. Lyapunov-Based Stability Analysis:</a:t>
            </a:r>
            <a:endParaRPr lang="zh-CN" altLang="en-US" sz="2000" i="1" dirty="0">
              <a:latin typeface="Formata-Italic"/>
            </a:endParaRPr>
          </a:p>
        </p:txBody>
      </p:sp>
      <p:pic>
        <p:nvPicPr>
          <p:cNvPr id="3" name="图片 2">
            <a:extLst>
              <a:ext uri="{FF2B5EF4-FFF2-40B4-BE49-F238E27FC236}">
                <a16:creationId xmlns:a16="http://schemas.microsoft.com/office/drawing/2014/main" id="{C5C969D6-2410-4887-ACEE-C0388F415B68}"/>
              </a:ext>
            </a:extLst>
          </p:cNvPr>
          <p:cNvPicPr>
            <a:picLocks noChangeAspect="1"/>
          </p:cNvPicPr>
          <p:nvPr/>
        </p:nvPicPr>
        <p:blipFill>
          <a:blip r:embed="rId3"/>
          <a:stretch>
            <a:fillRect/>
          </a:stretch>
        </p:blipFill>
        <p:spPr>
          <a:xfrm>
            <a:off x="4839360" y="2090800"/>
            <a:ext cx="2047875" cy="609600"/>
          </a:xfrm>
          <a:prstGeom prst="rect">
            <a:avLst/>
          </a:prstGeom>
        </p:spPr>
      </p:pic>
      <p:sp>
        <p:nvSpPr>
          <p:cNvPr id="5" name="矩形 4">
            <a:extLst>
              <a:ext uri="{FF2B5EF4-FFF2-40B4-BE49-F238E27FC236}">
                <a16:creationId xmlns:a16="http://schemas.microsoft.com/office/drawing/2014/main" id="{2E49003D-682E-40BA-9C5C-A9705C6232FF}"/>
              </a:ext>
            </a:extLst>
          </p:cNvPr>
          <p:cNvSpPr/>
          <p:nvPr/>
        </p:nvSpPr>
        <p:spPr>
          <a:xfrm>
            <a:off x="1432081" y="3016253"/>
            <a:ext cx="3503460" cy="369332"/>
          </a:xfrm>
          <a:prstGeom prst="rect">
            <a:avLst/>
          </a:prstGeom>
        </p:spPr>
        <p:txBody>
          <a:bodyPr wrap="none">
            <a:spAutoFit/>
          </a:bodyPr>
          <a:lstStyle/>
          <a:p>
            <a:r>
              <a:rPr lang="en-US" altLang="zh-CN" dirty="0">
                <a:latin typeface="BemboStd"/>
              </a:rPr>
              <a:t>Quadratic Lyapunov function (QLF):</a:t>
            </a:r>
            <a:endParaRPr lang="zh-CN" altLang="en-US" dirty="0"/>
          </a:p>
        </p:txBody>
      </p:sp>
      <p:pic>
        <p:nvPicPr>
          <p:cNvPr id="8" name="图片 7">
            <a:extLst>
              <a:ext uri="{FF2B5EF4-FFF2-40B4-BE49-F238E27FC236}">
                <a16:creationId xmlns:a16="http://schemas.microsoft.com/office/drawing/2014/main" id="{5459AEBA-CB86-4083-A14D-F0309F3FEB49}"/>
              </a:ext>
            </a:extLst>
          </p:cNvPr>
          <p:cNvPicPr>
            <a:picLocks noChangeAspect="1"/>
          </p:cNvPicPr>
          <p:nvPr/>
        </p:nvPicPr>
        <p:blipFill>
          <a:blip r:embed="rId4"/>
          <a:stretch>
            <a:fillRect/>
          </a:stretch>
        </p:blipFill>
        <p:spPr>
          <a:xfrm>
            <a:off x="4877459" y="3472838"/>
            <a:ext cx="1971675" cy="457200"/>
          </a:xfrm>
          <a:prstGeom prst="rect">
            <a:avLst/>
          </a:prstGeom>
        </p:spPr>
      </p:pic>
      <p:pic>
        <p:nvPicPr>
          <p:cNvPr id="9" name="图片 8">
            <a:extLst>
              <a:ext uri="{FF2B5EF4-FFF2-40B4-BE49-F238E27FC236}">
                <a16:creationId xmlns:a16="http://schemas.microsoft.com/office/drawing/2014/main" id="{7B3FF400-BF03-43E4-89D8-415BEE5498E0}"/>
              </a:ext>
            </a:extLst>
          </p:cNvPr>
          <p:cNvPicPr>
            <a:picLocks noChangeAspect="1"/>
          </p:cNvPicPr>
          <p:nvPr/>
        </p:nvPicPr>
        <p:blipFill rotWithShape="1">
          <a:blip r:embed="rId5"/>
          <a:srcRect t="69032"/>
          <a:stretch/>
        </p:blipFill>
        <p:spPr>
          <a:xfrm>
            <a:off x="3371850" y="4495662"/>
            <a:ext cx="5448300" cy="457200"/>
          </a:xfrm>
          <a:prstGeom prst="rect">
            <a:avLst/>
          </a:prstGeom>
        </p:spPr>
      </p:pic>
      <p:sp>
        <p:nvSpPr>
          <p:cNvPr id="10" name="矩形 9">
            <a:extLst>
              <a:ext uri="{FF2B5EF4-FFF2-40B4-BE49-F238E27FC236}">
                <a16:creationId xmlns:a16="http://schemas.microsoft.com/office/drawing/2014/main" id="{02CC833A-1C57-414E-B1FF-7AF6B017BE6A}"/>
              </a:ext>
            </a:extLst>
          </p:cNvPr>
          <p:cNvSpPr/>
          <p:nvPr/>
        </p:nvSpPr>
        <p:spPr>
          <a:xfrm>
            <a:off x="1432081" y="4028184"/>
            <a:ext cx="6096000" cy="369332"/>
          </a:xfrm>
          <a:prstGeom prst="rect">
            <a:avLst/>
          </a:prstGeom>
        </p:spPr>
        <p:txBody>
          <a:bodyPr>
            <a:spAutoFit/>
          </a:bodyPr>
          <a:lstStyle/>
          <a:p>
            <a:r>
              <a:rPr lang="en-US" altLang="zh-CN" dirty="0">
                <a:latin typeface="BemboStd"/>
              </a:rPr>
              <a:t>LMIs conditions:</a:t>
            </a:r>
            <a:endParaRPr lang="zh-CN" altLang="en-US" dirty="0"/>
          </a:p>
        </p:txBody>
      </p:sp>
    </p:spTree>
    <p:extLst>
      <p:ext uri="{BB962C8B-B14F-4D97-AF65-F5344CB8AC3E}">
        <p14:creationId xmlns:p14="http://schemas.microsoft.com/office/powerpoint/2010/main" val="1580221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Takagi-</a:t>
            </a:r>
            <a:r>
              <a:rPr lang="en-US" altLang="zh-CN" dirty="0" err="1"/>
              <a:t>Sugeno</a:t>
            </a:r>
            <a:r>
              <a:rPr lang="en-US" altLang="zh-CN" dirty="0"/>
              <a:t> Fuzzy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lang="en-US"/>
          </a:p>
        </p:txBody>
      </p:sp>
      <p:sp>
        <p:nvSpPr>
          <p:cNvPr id="2" name="矩形 1">
            <a:extLst>
              <a:ext uri="{FF2B5EF4-FFF2-40B4-BE49-F238E27FC236}">
                <a16:creationId xmlns:a16="http://schemas.microsoft.com/office/drawing/2014/main" id="{F77E9C77-5094-417D-AA90-73D015EA4C8E}"/>
              </a:ext>
            </a:extLst>
          </p:cNvPr>
          <p:cNvSpPr/>
          <p:nvPr/>
        </p:nvSpPr>
        <p:spPr>
          <a:xfrm>
            <a:off x="838200" y="1690690"/>
            <a:ext cx="4001160" cy="400110"/>
          </a:xfrm>
          <a:prstGeom prst="rect">
            <a:avLst/>
          </a:prstGeom>
        </p:spPr>
        <p:txBody>
          <a:bodyPr wrap="none">
            <a:spAutoFit/>
          </a:bodyPr>
          <a:lstStyle/>
          <a:p>
            <a:r>
              <a:rPr lang="en-US" altLang="zh-CN" sz="2000" i="1" dirty="0">
                <a:latin typeface="Formata-Italic"/>
              </a:rPr>
              <a:t>B. Lyapunov-Based Stability Analysis:</a:t>
            </a:r>
            <a:endParaRPr lang="zh-CN" altLang="en-US" sz="2000" i="1" dirty="0">
              <a:latin typeface="Formata-Italic"/>
            </a:endParaRPr>
          </a:p>
        </p:txBody>
      </p:sp>
      <p:pic>
        <p:nvPicPr>
          <p:cNvPr id="4" name="图片 3">
            <a:extLst>
              <a:ext uri="{FF2B5EF4-FFF2-40B4-BE49-F238E27FC236}">
                <a16:creationId xmlns:a16="http://schemas.microsoft.com/office/drawing/2014/main" id="{18C46368-B91D-4330-9BF6-1D1547C45058}"/>
              </a:ext>
            </a:extLst>
          </p:cNvPr>
          <p:cNvPicPr>
            <a:picLocks noChangeAspect="1"/>
          </p:cNvPicPr>
          <p:nvPr/>
        </p:nvPicPr>
        <p:blipFill>
          <a:blip r:embed="rId3"/>
          <a:stretch>
            <a:fillRect/>
          </a:stretch>
        </p:blipFill>
        <p:spPr>
          <a:xfrm>
            <a:off x="3505200" y="2330453"/>
            <a:ext cx="5181600" cy="1371600"/>
          </a:xfrm>
          <a:prstGeom prst="rect">
            <a:avLst/>
          </a:prstGeom>
        </p:spPr>
      </p:pic>
      <p:sp>
        <p:nvSpPr>
          <p:cNvPr id="6" name="矩形 5">
            <a:extLst>
              <a:ext uri="{FF2B5EF4-FFF2-40B4-BE49-F238E27FC236}">
                <a16:creationId xmlns:a16="http://schemas.microsoft.com/office/drawing/2014/main" id="{E886D7A1-3DC8-41D2-A31D-9E5D553B56E0}"/>
              </a:ext>
            </a:extLst>
          </p:cNvPr>
          <p:cNvSpPr/>
          <p:nvPr/>
        </p:nvSpPr>
        <p:spPr>
          <a:xfrm>
            <a:off x="3505200" y="4151647"/>
            <a:ext cx="5612167" cy="2031325"/>
          </a:xfrm>
          <a:prstGeom prst="rect">
            <a:avLst/>
          </a:prstGeom>
        </p:spPr>
        <p:txBody>
          <a:bodyPr wrap="square">
            <a:spAutoFit/>
          </a:bodyPr>
          <a:lstStyle/>
          <a:p>
            <a:pPr marL="285750" indent="-285750">
              <a:buFont typeface="Arial" panose="020B0604020202020204" pitchFamily="34" charset="0"/>
              <a:buChar char="•"/>
            </a:pPr>
            <a:r>
              <a:rPr lang="en-US" altLang="zh-CN" b="1" dirty="0">
                <a:latin typeface="BemboStd"/>
              </a:rPr>
              <a:t>LMIs</a:t>
            </a:r>
            <a:r>
              <a:rPr lang="en-US" altLang="zh-CN" dirty="0">
                <a:latin typeface="BemboStd"/>
              </a:rPr>
              <a:t> easily checked with numerical solvers.</a:t>
            </a:r>
          </a:p>
          <a:p>
            <a:pPr marL="285750" indent="-285750">
              <a:buFont typeface="Arial" panose="020B0604020202020204" pitchFamily="34" charset="0"/>
              <a:buChar char="•"/>
            </a:pPr>
            <a:endParaRPr lang="en-US" altLang="zh-CN" dirty="0">
              <a:latin typeface="BemboStd"/>
            </a:endParaRPr>
          </a:p>
          <a:p>
            <a:pPr marL="285750" indent="-285750">
              <a:buFont typeface="Arial" panose="020B0604020202020204" pitchFamily="34" charset="0"/>
              <a:buChar char="•"/>
            </a:pPr>
            <a:r>
              <a:rPr lang="en-US" altLang="zh-CN" b="1" i="1" dirty="0"/>
              <a:t>P</a:t>
            </a:r>
            <a:r>
              <a:rPr lang="en-US" altLang="zh-CN" i="1" dirty="0"/>
              <a:t> </a:t>
            </a:r>
            <a:r>
              <a:rPr lang="en-US" altLang="zh-CN" dirty="0"/>
              <a:t>has to exist for all local linear subsystems.</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b="1" dirty="0"/>
              <a:t>MFs</a:t>
            </a:r>
            <a:r>
              <a:rPr lang="en-US" altLang="zh-CN" dirty="0"/>
              <a:t> are considered as uncertainty. </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dirty="0"/>
              <a:t>Embedded in the conventional </a:t>
            </a:r>
            <a:r>
              <a:rPr lang="en-US" altLang="zh-CN" b="1" dirty="0"/>
              <a:t>robust control theory</a:t>
            </a:r>
            <a:r>
              <a:rPr lang="en-US" altLang="zh-CN" dirty="0"/>
              <a:t>.</a:t>
            </a:r>
            <a:endParaRPr lang="zh-CN" altLang="en-US" dirty="0"/>
          </a:p>
        </p:txBody>
      </p:sp>
    </p:spTree>
    <p:extLst>
      <p:ext uri="{BB962C8B-B14F-4D97-AF65-F5344CB8AC3E}">
        <p14:creationId xmlns:p14="http://schemas.microsoft.com/office/powerpoint/2010/main" val="2653081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Takagi-</a:t>
            </a:r>
            <a:r>
              <a:rPr lang="en-US" altLang="zh-CN" dirty="0" err="1"/>
              <a:t>Sugeno</a:t>
            </a:r>
            <a:r>
              <a:rPr lang="en-US" altLang="zh-CN" dirty="0"/>
              <a:t> Fuzzy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lang="en-US"/>
          </a:p>
        </p:txBody>
      </p:sp>
      <p:sp>
        <p:nvSpPr>
          <p:cNvPr id="8" name="矩形 7">
            <a:extLst>
              <a:ext uri="{FF2B5EF4-FFF2-40B4-BE49-F238E27FC236}">
                <a16:creationId xmlns:a16="http://schemas.microsoft.com/office/drawing/2014/main" id="{1DBFA44A-2E92-4203-945A-2A29BD509C4D}"/>
              </a:ext>
            </a:extLst>
          </p:cNvPr>
          <p:cNvSpPr/>
          <p:nvPr/>
        </p:nvSpPr>
        <p:spPr>
          <a:xfrm>
            <a:off x="838200" y="1690690"/>
            <a:ext cx="2867260" cy="400110"/>
          </a:xfrm>
          <a:prstGeom prst="rect">
            <a:avLst/>
          </a:prstGeom>
        </p:spPr>
        <p:txBody>
          <a:bodyPr wrap="none">
            <a:spAutoFit/>
          </a:bodyPr>
          <a:lstStyle/>
          <a:p>
            <a:r>
              <a:rPr lang="en-US" altLang="zh-CN" sz="2000" i="1" dirty="0">
                <a:latin typeface="Formata-Italic"/>
              </a:rPr>
              <a:t>C. Conservativeness issue:</a:t>
            </a:r>
            <a:endParaRPr lang="zh-CN" altLang="en-US" sz="2000" i="1" dirty="0">
              <a:latin typeface="Formata-Italic"/>
            </a:endParaRPr>
          </a:p>
        </p:txBody>
      </p:sp>
      <p:sp>
        <p:nvSpPr>
          <p:cNvPr id="5" name="矩形 4">
            <a:extLst>
              <a:ext uri="{FF2B5EF4-FFF2-40B4-BE49-F238E27FC236}">
                <a16:creationId xmlns:a16="http://schemas.microsoft.com/office/drawing/2014/main" id="{9589E06B-5B46-4971-B480-2CBF7A517B52}"/>
              </a:ext>
            </a:extLst>
          </p:cNvPr>
          <p:cNvSpPr/>
          <p:nvPr/>
        </p:nvSpPr>
        <p:spPr>
          <a:xfrm>
            <a:off x="1158345" y="2090800"/>
            <a:ext cx="5836341" cy="369332"/>
          </a:xfrm>
          <a:prstGeom prst="rect">
            <a:avLst/>
          </a:prstGeom>
        </p:spPr>
        <p:txBody>
          <a:bodyPr wrap="none">
            <a:spAutoFit/>
          </a:bodyPr>
          <a:lstStyle/>
          <a:p>
            <a:r>
              <a:rPr lang="en-US" altLang="zh-CN" dirty="0">
                <a:latin typeface="BemboStd-Semibold"/>
              </a:rPr>
              <a:t>1. Relaxations with Different Choices of Lyapunov Functions:</a:t>
            </a:r>
            <a:endParaRPr lang="zh-CN" altLang="en-US" dirty="0"/>
          </a:p>
        </p:txBody>
      </p:sp>
      <p:sp>
        <p:nvSpPr>
          <p:cNvPr id="2" name="矩形 1">
            <a:extLst>
              <a:ext uri="{FF2B5EF4-FFF2-40B4-BE49-F238E27FC236}">
                <a16:creationId xmlns:a16="http://schemas.microsoft.com/office/drawing/2014/main" id="{B4F4980E-88C2-476E-9002-66FBD422D611}"/>
              </a:ext>
            </a:extLst>
          </p:cNvPr>
          <p:cNvSpPr/>
          <p:nvPr/>
        </p:nvSpPr>
        <p:spPr>
          <a:xfrm>
            <a:off x="1708761" y="2460132"/>
            <a:ext cx="3513911" cy="369332"/>
          </a:xfrm>
          <a:prstGeom prst="rect">
            <a:avLst/>
          </a:prstGeom>
        </p:spPr>
        <p:txBody>
          <a:bodyPr wrap="none">
            <a:spAutoFit/>
          </a:bodyPr>
          <a:lstStyle/>
          <a:p>
            <a:r>
              <a:rPr lang="en-US" altLang="zh-CN" dirty="0">
                <a:latin typeface="BemboStd-Semibold"/>
              </a:rPr>
              <a:t>1)  </a:t>
            </a:r>
            <a:r>
              <a:rPr lang="en-US" altLang="zh-CN" dirty="0">
                <a:latin typeface="BemboStd"/>
              </a:rPr>
              <a:t>Fuzzy Lyapunov functions (FLFs):</a:t>
            </a:r>
            <a:endParaRPr lang="zh-CN" altLang="en-US" dirty="0"/>
          </a:p>
        </p:txBody>
      </p:sp>
      <p:pic>
        <p:nvPicPr>
          <p:cNvPr id="3" name="图片 2">
            <a:extLst>
              <a:ext uri="{FF2B5EF4-FFF2-40B4-BE49-F238E27FC236}">
                <a16:creationId xmlns:a16="http://schemas.microsoft.com/office/drawing/2014/main" id="{24338AA9-3E6D-4EB5-8165-146594122A3B}"/>
              </a:ext>
            </a:extLst>
          </p:cNvPr>
          <p:cNvPicPr>
            <a:picLocks noChangeAspect="1"/>
          </p:cNvPicPr>
          <p:nvPr/>
        </p:nvPicPr>
        <p:blipFill>
          <a:blip r:embed="rId3"/>
          <a:stretch>
            <a:fillRect/>
          </a:stretch>
        </p:blipFill>
        <p:spPr>
          <a:xfrm>
            <a:off x="3376612" y="2860242"/>
            <a:ext cx="5438775" cy="2438400"/>
          </a:xfrm>
          <a:prstGeom prst="rect">
            <a:avLst/>
          </a:prstGeom>
        </p:spPr>
      </p:pic>
    </p:spTree>
    <p:extLst>
      <p:ext uri="{BB962C8B-B14F-4D97-AF65-F5344CB8AC3E}">
        <p14:creationId xmlns:p14="http://schemas.microsoft.com/office/powerpoint/2010/main" val="2539187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Takagi-</a:t>
            </a:r>
            <a:r>
              <a:rPr lang="en-US" altLang="zh-CN" dirty="0" err="1"/>
              <a:t>Sugeno</a:t>
            </a:r>
            <a:r>
              <a:rPr lang="en-US" altLang="zh-CN" dirty="0"/>
              <a:t> Fuzzy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lang="en-US"/>
          </a:p>
        </p:txBody>
      </p:sp>
      <p:sp>
        <p:nvSpPr>
          <p:cNvPr id="8" name="矩形 7">
            <a:extLst>
              <a:ext uri="{FF2B5EF4-FFF2-40B4-BE49-F238E27FC236}">
                <a16:creationId xmlns:a16="http://schemas.microsoft.com/office/drawing/2014/main" id="{1DBFA44A-2E92-4203-945A-2A29BD509C4D}"/>
              </a:ext>
            </a:extLst>
          </p:cNvPr>
          <p:cNvSpPr/>
          <p:nvPr/>
        </p:nvSpPr>
        <p:spPr>
          <a:xfrm>
            <a:off x="838200" y="1690690"/>
            <a:ext cx="2867260" cy="400110"/>
          </a:xfrm>
          <a:prstGeom prst="rect">
            <a:avLst/>
          </a:prstGeom>
        </p:spPr>
        <p:txBody>
          <a:bodyPr wrap="none">
            <a:spAutoFit/>
          </a:bodyPr>
          <a:lstStyle/>
          <a:p>
            <a:r>
              <a:rPr lang="en-US" altLang="zh-CN" sz="2000" i="1" dirty="0">
                <a:latin typeface="Formata-Italic"/>
              </a:rPr>
              <a:t>C. Conservativeness issue:</a:t>
            </a:r>
            <a:endParaRPr lang="zh-CN" altLang="en-US" sz="2000" i="1" dirty="0">
              <a:latin typeface="Formata-Italic"/>
            </a:endParaRPr>
          </a:p>
        </p:txBody>
      </p:sp>
      <p:sp>
        <p:nvSpPr>
          <p:cNvPr id="5" name="矩形 4">
            <a:extLst>
              <a:ext uri="{FF2B5EF4-FFF2-40B4-BE49-F238E27FC236}">
                <a16:creationId xmlns:a16="http://schemas.microsoft.com/office/drawing/2014/main" id="{9589E06B-5B46-4971-B480-2CBF7A517B52}"/>
              </a:ext>
            </a:extLst>
          </p:cNvPr>
          <p:cNvSpPr/>
          <p:nvPr/>
        </p:nvSpPr>
        <p:spPr>
          <a:xfrm>
            <a:off x="1158345" y="2090800"/>
            <a:ext cx="5836341" cy="369332"/>
          </a:xfrm>
          <a:prstGeom prst="rect">
            <a:avLst/>
          </a:prstGeom>
        </p:spPr>
        <p:txBody>
          <a:bodyPr wrap="none">
            <a:spAutoFit/>
          </a:bodyPr>
          <a:lstStyle/>
          <a:p>
            <a:r>
              <a:rPr lang="en-US" altLang="zh-CN" dirty="0">
                <a:latin typeface="BemboStd-Semibold"/>
              </a:rPr>
              <a:t>1. Relaxations with Different Choices of Lyapunov Functions:</a:t>
            </a:r>
            <a:endParaRPr lang="zh-CN" altLang="en-US" dirty="0"/>
          </a:p>
        </p:txBody>
      </p:sp>
      <p:sp>
        <p:nvSpPr>
          <p:cNvPr id="2" name="矩形 1">
            <a:extLst>
              <a:ext uri="{FF2B5EF4-FFF2-40B4-BE49-F238E27FC236}">
                <a16:creationId xmlns:a16="http://schemas.microsoft.com/office/drawing/2014/main" id="{B4F4980E-88C2-476E-9002-66FBD422D611}"/>
              </a:ext>
            </a:extLst>
          </p:cNvPr>
          <p:cNvSpPr/>
          <p:nvPr/>
        </p:nvSpPr>
        <p:spPr>
          <a:xfrm>
            <a:off x="1708761" y="2460132"/>
            <a:ext cx="4175054" cy="369332"/>
          </a:xfrm>
          <a:prstGeom prst="rect">
            <a:avLst/>
          </a:prstGeom>
        </p:spPr>
        <p:txBody>
          <a:bodyPr wrap="none">
            <a:spAutoFit/>
          </a:bodyPr>
          <a:lstStyle/>
          <a:p>
            <a:r>
              <a:rPr lang="en-US" altLang="zh-CN" dirty="0">
                <a:latin typeface="BemboStd-Semibold"/>
              </a:rPr>
              <a:t>2) Line integral Lyapunov functions (LILFs)</a:t>
            </a:r>
            <a:r>
              <a:rPr lang="en-US" altLang="zh-CN" dirty="0">
                <a:latin typeface="BemboStd"/>
              </a:rPr>
              <a:t>:</a:t>
            </a:r>
            <a:endParaRPr lang="zh-CN" altLang="en-US" dirty="0"/>
          </a:p>
        </p:txBody>
      </p:sp>
      <p:pic>
        <p:nvPicPr>
          <p:cNvPr id="4" name="图片 3">
            <a:extLst>
              <a:ext uri="{FF2B5EF4-FFF2-40B4-BE49-F238E27FC236}">
                <a16:creationId xmlns:a16="http://schemas.microsoft.com/office/drawing/2014/main" id="{1B4A9B50-2830-4F11-856C-A31A271A2861}"/>
              </a:ext>
            </a:extLst>
          </p:cNvPr>
          <p:cNvPicPr>
            <a:picLocks noChangeAspect="1"/>
          </p:cNvPicPr>
          <p:nvPr/>
        </p:nvPicPr>
        <p:blipFill>
          <a:blip r:embed="rId3"/>
          <a:stretch>
            <a:fillRect/>
          </a:stretch>
        </p:blipFill>
        <p:spPr>
          <a:xfrm>
            <a:off x="4010025" y="2965966"/>
            <a:ext cx="4171950" cy="647700"/>
          </a:xfrm>
          <a:prstGeom prst="rect">
            <a:avLst/>
          </a:prstGeom>
        </p:spPr>
      </p:pic>
      <p:pic>
        <p:nvPicPr>
          <p:cNvPr id="6" name="图片 5">
            <a:extLst>
              <a:ext uri="{FF2B5EF4-FFF2-40B4-BE49-F238E27FC236}">
                <a16:creationId xmlns:a16="http://schemas.microsoft.com/office/drawing/2014/main" id="{49AC198C-EFD3-489B-8614-7B63605687B7}"/>
              </a:ext>
            </a:extLst>
          </p:cNvPr>
          <p:cNvPicPr>
            <a:picLocks noChangeAspect="1"/>
          </p:cNvPicPr>
          <p:nvPr/>
        </p:nvPicPr>
        <p:blipFill rotWithShape="1">
          <a:blip r:embed="rId4"/>
          <a:srcRect b="83962"/>
          <a:stretch/>
        </p:blipFill>
        <p:spPr>
          <a:xfrm>
            <a:off x="2148557" y="3681917"/>
            <a:ext cx="5448300" cy="647700"/>
          </a:xfrm>
          <a:prstGeom prst="rect">
            <a:avLst/>
          </a:prstGeom>
        </p:spPr>
      </p:pic>
      <p:pic>
        <p:nvPicPr>
          <p:cNvPr id="10" name="图片 9">
            <a:extLst>
              <a:ext uri="{FF2B5EF4-FFF2-40B4-BE49-F238E27FC236}">
                <a16:creationId xmlns:a16="http://schemas.microsoft.com/office/drawing/2014/main" id="{4315BCAE-8DC6-436B-9002-2A335B4F981C}"/>
              </a:ext>
            </a:extLst>
          </p:cNvPr>
          <p:cNvPicPr>
            <a:picLocks noChangeAspect="1"/>
          </p:cNvPicPr>
          <p:nvPr/>
        </p:nvPicPr>
        <p:blipFill rotWithShape="1">
          <a:blip r:embed="rId4"/>
          <a:srcRect t="19783" b="38971"/>
          <a:stretch/>
        </p:blipFill>
        <p:spPr>
          <a:xfrm>
            <a:off x="4010025" y="4397868"/>
            <a:ext cx="5448300" cy="1665732"/>
          </a:xfrm>
          <a:prstGeom prst="rect">
            <a:avLst/>
          </a:prstGeom>
        </p:spPr>
      </p:pic>
    </p:spTree>
    <p:extLst>
      <p:ext uri="{BB962C8B-B14F-4D97-AF65-F5344CB8AC3E}">
        <p14:creationId xmlns:p14="http://schemas.microsoft.com/office/powerpoint/2010/main" val="1038792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Takagi-</a:t>
            </a:r>
            <a:r>
              <a:rPr lang="en-US" altLang="zh-CN" dirty="0" err="1"/>
              <a:t>Sugeno</a:t>
            </a:r>
            <a:r>
              <a:rPr lang="en-US" altLang="zh-CN" dirty="0"/>
              <a:t> Fuzzy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lang="en-US"/>
          </a:p>
        </p:txBody>
      </p:sp>
      <p:sp>
        <p:nvSpPr>
          <p:cNvPr id="8" name="矩形 7">
            <a:extLst>
              <a:ext uri="{FF2B5EF4-FFF2-40B4-BE49-F238E27FC236}">
                <a16:creationId xmlns:a16="http://schemas.microsoft.com/office/drawing/2014/main" id="{1DBFA44A-2E92-4203-945A-2A29BD509C4D}"/>
              </a:ext>
            </a:extLst>
          </p:cNvPr>
          <p:cNvSpPr/>
          <p:nvPr/>
        </p:nvSpPr>
        <p:spPr>
          <a:xfrm>
            <a:off x="838200" y="1690690"/>
            <a:ext cx="2867260" cy="400110"/>
          </a:xfrm>
          <a:prstGeom prst="rect">
            <a:avLst/>
          </a:prstGeom>
        </p:spPr>
        <p:txBody>
          <a:bodyPr wrap="none">
            <a:spAutoFit/>
          </a:bodyPr>
          <a:lstStyle/>
          <a:p>
            <a:r>
              <a:rPr lang="en-US" altLang="zh-CN" sz="2000" i="1" dirty="0">
                <a:latin typeface="Formata-Italic"/>
              </a:rPr>
              <a:t>C. Conservativeness issue:</a:t>
            </a:r>
            <a:endParaRPr lang="zh-CN" altLang="en-US" sz="2000" i="1" dirty="0">
              <a:latin typeface="Formata-Italic"/>
            </a:endParaRPr>
          </a:p>
        </p:txBody>
      </p:sp>
      <p:sp>
        <p:nvSpPr>
          <p:cNvPr id="5" name="矩形 4">
            <a:extLst>
              <a:ext uri="{FF2B5EF4-FFF2-40B4-BE49-F238E27FC236}">
                <a16:creationId xmlns:a16="http://schemas.microsoft.com/office/drawing/2014/main" id="{9589E06B-5B46-4971-B480-2CBF7A517B52}"/>
              </a:ext>
            </a:extLst>
          </p:cNvPr>
          <p:cNvSpPr/>
          <p:nvPr/>
        </p:nvSpPr>
        <p:spPr>
          <a:xfrm>
            <a:off x="1158345" y="2090800"/>
            <a:ext cx="9180712" cy="369332"/>
          </a:xfrm>
          <a:prstGeom prst="rect">
            <a:avLst/>
          </a:prstGeom>
        </p:spPr>
        <p:txBody>
          <a:bodyPr wrap="square">
            <a:spAutoFit/>
          </a:bodyPr>
          <a:lstStyle/>
          <a:p>
            <a:r>
              <a:rPr lang="en-US" altLang="zh-CN" dirty="0">
                <a:latin typeface="BemboStd-Semibold"/>
              </a:rPr>
              <a:t>2. Exploiting the Knowledge of the Membership Functions for Stability Relaxations :</a:t>
            </a:r>
            <a:endParaRPr lang="zh-CN" altLang="en-US" dirty="0"/>
          </a:p>
        </p:txBody>
      </p:sp>
      <p:pic>
        <p:nvPicPr>
          <p:cNvPr id="3" name="图片 2">
            <a:extLst>
              <a:ext uri="{FF2B5EF4-FFF2-40B4-BE49-F238E27FC236}">
                <a16:creationId xmlns:a16="http://schemas.microsoft.com/office/drawing/2014/main" id="{A6014CE5-B033-45DF-80F5-285DF8B031D0}"/>
              </a:ext>
            </a:extLst>
          </p:cNvPr>
          <p:cNvPicPr>
            <a:picLocks noChangeAspect="1"/>
          </p:cNvPicPr>
          <p:nvPr/>
        </p:nvPicPr>
        <p:blipFill rotWithShape="1">
          <a:blip r:embed="rId3"/>
          <a:srcRect b="35123"/>
          <a:stretch/>
        </p:blipFill>
        <p:spPr>
          <a:xfrm>
            <a:off x="3243198" y="2860242"/>
            <a:ext cx="5011005" cy="908220"/>
          </a:xfrm>
          <a:prstGeom prst="rect">
            <a:avLst/>
          </a:prstGeom>
        </p:spPr>
      </p:pic>
      <p:pic>
        <p:nvPicPr>
          <p:cNvPr id="12" name="图片 11">
            <a:extLst>
              <a:ext uri="{FF2B5EF4-FFF2-40B4-BE49-F238E27FC236}">
                <a16:creationId xmlns:a16="http://schemas.microsoft.com/office/drawing/2014/main" id="{5D04C1F1-7D8C-4889-9A4B-A0FF370B2D74}"/>
              </a:ext>
            </a:extLst>
          </p:cNvPr>
          <p:cNvPicPr>
            <a:picLocks noChangeAspect="1"/>
          </p:cNvPicPr>
          <p:nvPr/>
        </p:nvPicPr>
        <p:blipFill rotWithShape="1">
          <a:blip r:embed="rId3"/>
          <a:srcRect t="73617" r="23374"/>
          <a:stretch/>
        </p:blipFill>
        <p:spPr>
          <a:xfrm>
            <a:off x="2427933" y="4168572"/>
            <a:ext cx="5191354" cy="499344"/>
          </a:xfrm>
          <a:prstGeom prst="rect">
            <a:avLst/>
          </a:prstGeom>
        </p:spPr>
      </p:pic>
    </p:spTree>
    <p:extLst>
      <p:ext uri="{BB962C8B-B14F-4D97-AF65-F5344CB8AC3E}">
        <p14:creationId xmlns:p14="http://schemas.microsoft.com/office/powerpoint/2010/main" val="2756922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Takagi-</a:t>
            </a:r>
            <a:r>
              <a:rPr lang="en-US" altLang="zh-CN" dirty="0" err="1"/>
              <a:t>Sugeno</a:t>
            </a:r>
            <a:r>
              <a:rPr lang="en-US" altLang="zh-CN" dirty="0"/>
              <a:t> Fuzzy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lang="en-US"/>
          </a:p>
        </p:txBody>
      </p:sp>
      <p:sp>
        <p:nvSpPr>
          <p:cNvPr id="8" name="矩形 7">
            <a:extLst>
              <a:ext uri="{FF2B5EF4-FFF2-40B4-BE49-F238E27FC236}">
                <a16:creationId xmlns:a16="http://schemas.microsoft.com/office/drawing/2014/main" id="{1DBFA44A-2E92-4203-945A-2A29BD509C4D}"/>
              </a:ext>
            </a:extLst>
          </p:cNvPr>
          <p:cNvSpPr/>
          <p:nvPr/>
        </p:nvSpPr>
        <p:spPr>
          <a:xfrm>
            <a:off x="838200" y="1690690"/>
            <a:ext cx="2867260" cy="400110"/>
          </a:xfrm>
          <a:prstGeom prst="rect">
            <a:avLst/>
          </a:prstGeom>
        </p:spPr>
        <p:txBody>
          <a:bodyPr wrap="none">
            <a:spAutoFit/>
          </a:bodyPr>
          <a:lstStyle/>
          <a:p>
            <a:r>
              <a:rPr lang="en-US" altLang="zh-CN" sz="2000" i="1" dirty="0">
                <a:latin typeface="Formata-Italic"/>
              </a:rPr>
              <a:t>C. Conservativeness issue:</a:t>
            </a:r>
            <a:endParaRPr lang="zh-CN" altLang="en-US" sz="2000" i="1" dirty="0">
              <a:latin typeface="Formata-Italic"/>
            </a:endParaRPr>
          </a:p>
        </p:txBody>
      </p:sp>
      <p:sp>
        <p:nvSpPr>
          <p:cNvPr id="5" name="矩形 4">
            <a:extLst>
              <a:ext uri="{FF2B5EF4-FFF2-40B4-BE49-F238E27FC236}">
                <a16:creationId xmlns:a16="http://schemas.microsoft.com/office/drawing/2014/main" id="{9589E06B-5B46-4971-B480-2CBF7A517B52}"/>
              </a:ext>
            </a:extLst>
          </p:cNvPr>
          <p:cNvSpPr/>
          <p:nvPr/>
        </p:nvSpPr>
        <p:spPr>
          <a:xfrm>
            <a:off x="1158345" y="2090800"/>
            <a:ext cx="9180712" cy="369332"/>
          </a:xfrm>
          <a:prstGeom prst="rect">
            <a:avLst/>
          </a:prstGeom>
        </p:spPr>
        <p:txBody>
          <a:bodyPr wrap="square">
            <a:spAutoFit/>
          </a:bodyPr>
          <a:lstStyle/>
          <a:p>
            <a:r>
              <a:rPr lang="en-US" altLang="zh-CN" dirty="0">
                <a:latin typeface="BemboStd-Semibold"/>
              </a:rPr>
              <a:t>2. Exploiting the Knowledge of the Membership Functions for Stability Relaxations :</a:t>
            </a:r>
            <a:endParaRPr lang="zh-CN" altLang="en-US" dirty="0"/>
          </a:p>
        </p:txBody>
      </p:sp>
      <p:grpSp>
        <p:nvGrpSpPr>
          <p:cNvPr id="11" name="组合 10">
            <a:extLst>
              <a:ext uri="{FF2B5EF4-FFF2-40B4-BE49-F238E27FC236}">
                <a16:creationId xmlns:a16="http://schemas.microsoft.com/office/drawing/2014/main" id="{484F7EEA-FA27-4BF7-AD30-E9880B52BAB2}"/>
              </a:ext>
            </a:extLst>
          </p:cNvPr>
          <p:cNvGrpSpPr/>
          <p:nvPr/>
        </p:nvGrpSpPr>
        <p:grpSpPr>
          <a:xfrm>
            <a:off x="3746416" y="2627190"/>
            <a:ext cx="4004569" cy="3729162"/>
            <a:chOff x="3429000" y="2490910"/>
            <a:chExt cx="5334001" cy="4667250"/>
          </a:xfrm>
        </p:grpSpPr>
        <p:pic>
          <p:nvPicPr>
            <p:cNvPr id="3" name="图片 2">
              <a:extLst>
                <a:ext uri="{FF2B5EF4-FFF2-40B4-BE49-F238E27FC236}">
                  <a16:creationId xmlns:a16="http://schemas.microsoft.com/office/drawing/2014/main" id="{A6014CE5-B033-45DF-80F5-285DF8B031D0}"/>
                </a:ext>
              </a:extLst>
            </p:cNvPr>
            <p:cNvPicPr>
              <a:picLocks noChangeAspect="1"/>
            </p:cNvPicPr>
            <p:nvPr/>
          </p:nvPicPr>
          <p:blipFill>
            <a:blip r:embed="rId3"/>
            <a:stretch>
              <a:fillRect/>
            </a:stretch>
          </p:blipFill>
          <p:spPr>
            <a:xfrm>
              <a:off x="3429000" y="2490910"/>
              <a:ext cx="5334001" cy="1400174"/>
            </a:xfrm>
            <a:prstGeom prst="rect">
              <a:avLst/>
            </a:prstGeom>
          </p:spPr>
        </p:pic>
        <p:pic>
          <p:nvPicPr>
            <p:cNvPr id="7" name="图片 6">
              <a:extLst>
                <a:ext uri="{FF2B5EF4-FFF2-40B4-BE49-F238E27FC236}">
                  <a16:creationId xmlns:a16="http://schemas.microsoft.com/office/drawing/2014/main" id="{CB01A3A2-C9A7-4962-A7BA-558E675203E4}"/>
                </a:ext>
              </a:extLst>
            </p:cNvPr>
            <p:cNvPicPr>
              <a:picLocks noChangeAspect="1"/>
            </p:cNvPicPr>
            <p:nvPr/>
          </p:nvPicPr>
          <p:blipFill>
            <a:blip r:embed="rId4"/>
            <a:stretch>
              <a:fillRect/>
            </a:stretch>
          </p:blipFill>
          <p:spPr>
            <a:xfrm>
              <a:off x="3476625" y="3891084"/>
              <a:ext cx="5238751" cy="2143124"/>
            </a:xfrm>
            <a:prstGeom prst="rect">
              <a:avLst/>
            </a:prstGeom>
          </p:spPr>
        </p:pic>
        <p:pic>
          <p:nvPicPr>
            <p:cNvPr id="9" name="图片 8">
              <a:extLst>
                <a:ext uri="{FF2B5EF4-FFF2-40B4-BE49-F238E27FC236}">
                  <a16:creationId xmlns:a16="http://schemas.microsoft.com/office/drawing/2014/main" id="{A5D98852-815C-49CB-91C4-6FD9F58F2875}"/>
                </a:ext>
              </a:extLst>
            </p:cNvPr>
            <p:cNvPicPr>
              <a:picLocks noChangeAspect="1"/>
            </p:cNvPicPr>
            <p:nvPr/>
          </p:nvPicPr>
          <p:blipFill>
            <a:blip r:embed="rId5"/>
            <a:stretch>
              <a:fillRect/>
            </a:stretch>
          </p:blipFill>
          <p:spPr>
            <a:xfrm>
              <a:off x="3581401" y="6034210"/>
              <a:ext cx="4933950" cy="1123950"/>
            </a:xfrm>
            <a:prstGeom prst="rect">
              <a:avLst/>
            </a:prstGeom>
          </p:spPr>
        </p:pic>
      </p:grpSp>
    </p:spTree>
    <p:extLst>
      <p:ext uri="{BB962C8B-B14F-4D97-AF65-F5344CB8AC3E}">
        <p14:creationId xmlns:p14="http://schemas.microsoft.com/office/powerpoint/2010/main" val="4081815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Takagi-</a:t>
            </a:r>
            <a:r>
              <a:rPr lang="en-US" altLang="zh-CN" dirty="0" err="1"/>
              <a:t>Sugeno</a:t>
            </a:r>
            <a:r>
              <a:rPr lang="en-US" altLang="zh-CN" dirty="0"/>
              <a:t> Fuzzy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lang="en-US"/>
          </a:p>
        </p:txBody>
      </p:sp>
      <p:sp>
        <p:nvSpPr>
          <p:cNvPr id="8" name="矩形 7">
            <a:extLst>
              <a:ext uri="{FF2B5EF4-FFF2-40B4-BE49-F238E27FC236}">
                <a16:creationId xmlns:a16="http://schemas.microsoft.com/office/drawing/2014/main" id="{1DBFA44A-2E92-4203-945A-2A29BD509C4D}"/>
              </a:ext>
            </a:extLst>
          </p:cNvPr>
          <p:cNvSpPr/>
          <p:nvPr/>
        </p:nvSpPr>
        <p:spPr>
          <a:xfrm>
            <a:off x="838200" y="1690690"/>
            <a:ext cx="4230966" cy="400110"/>
          </a:xfrm>
          <a:prstGeom prst="rect">
            <a:avLst/>
          </a:prstGeom>
        </p:spPr>
        <p:txBody>
          <a:bodyPr wrap="none">
            <a:spAutoFit/>
          </a:bodyPr>
          <a:lstStyle/>
          <a:p>
            <a:r>
              <a:rPr lang="en-US" altLang="zh-CN" sz="2000" i="1" dirty="0">
                <a:latin typeface="Formata-Italic"/>
              </a:rPr>
              <a:t>D. Takagi-</a:t>
            </a:r>
            <a:r>
              <a:rPr lang="en-US" altLang="zh-CN" sz="2000" i="1" dirty="0" err="1">
                <a:latin typeface="Formata-Italic"/>
              </a:rPr>
              <a:t>Sugeno</a:t>
            </a:r>
            <a:r>
              <a:rPr lang="en-US" altLang="zh-CN" sz="2000" i="1" dirty="0">
                <a:latin typeface="Formata-Italic"/>
              </a:rPr>
              <a:t> Fuzzy Control Design:</a:t>
            </a:r>
            <a:endParaRPr lang="zh-CN" altLang="en-US" sz="2000" i="1" dirty="0">
              <a:latin typeface="Formata-Italic"/>
            </a:endParaRPr>
          </a:p>
        </p:txBody>
      </p:sp>
      <p:sp>
        <p:nvSpPr>
          <p:cNvPr id="6" name="Google Shape;106;p15">
            <a:extLst>
              <a:ext uri="{FF2B5EF4-FFF2-40B4-BE49-F238E27FC236}">
                <a16:creationId xmlns:a16="http://schemas.microsoft.com/office/drawing/2014/main" id="{D38AFCA5-F3E2-4DF2-8704-54B3FBF6FB28}"/>
              </a:ext>
            </a:extLst>
          </p:cNvPr>
          <p:cNvSpPr txBox="1">
            <a:spLocks/>
          </p:cNvSpPr>
          <p:nvPr/>
        </p:nvSpPr>
        <p:spPr>
          <a:xfrm>
            <a:off x="838200" y="2225974"/>
            <a:ext cx="10011032" cy="4130378"/>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endParaRPr lang="en-US" altLang="zh-CN" dirty="0"/>
          </a:p>
          <a:p>
            <a:pPr>
              <a:spcBef>
                <a:spcPts val="0"/>
              </a:spcBef>
              <a:buSzPts val="2800"/>
            </a:pPr>
            <a:r>
              <a:rPr lang="en-US" altLang="zh-CN" sz="2400" dirty="0"/>
              <a:t>The control design of T-S fuzzy models are with the following steps:</a:t>
            </a:r>
          </a:p>
          <a:p>
            <a:pPr>
              <a:spcBef>
                <a:spcPts val="0"/>
              </a:spcBef>
              <a:buSzPts val="2800"/>
            </a:pPr>
            <a:endParaRPr lang="en-US" altLang="zh-CN" sz="2400" dirty="0"/>
          </a:p>
          <a:p>
            <a:pPr lvl="1">
              <a:spcBef>
                <a:spcPts val="0"/>
              </a:spcBef>
              <a:buSzPts val="2800"/>
            </a:pPr>
            <a:r>
              <a:rPr lang="en-US" altLang="zh-CN" sz="2000" dirty="0"/>
              <a:t>(1) Choose a specific form of the control law</a:t>
            </a:r>
          </a:p>
          <a:p>
            <a:pPr lvl="1">
              <a:spcBef>
                <a:spcPts val="0"/>
              </a:spcBef>
              <a:buSzPts val="2800"/>
            </a:pPr>
            <a:endParaRPr lang="en-US" altLang="zh-CN" sz="2000" dirty="0"/>
          </a:p>
          <a:p>
            <a:pPr lvl="1">
              <a:spcBef>
                <a:spcPts val="0"/>
              </a:spcBef>
              <a:buSzPts val="2800"/>
            </a:pPr>
            <a:r>
              <a:rPr lang="en-US" altLang="zh-CN" sz="2000" dirty="0"/>
              <a:t>(2) Find the respective closed-loop T-S fuzzy representation</a:t>
            </a:r>
          </a:p>
          <a:p>
            <a:pPr lvl="1">
              <a:spcBef>
                <a:spcPts val="0"/>
              </a:spcBef>
              <a:buSzPts val="2800"/>
            </a:pPr>
            <a:endParaRPr lang="en-US" altLang="zh-CN" sz="2000" dirty="0"/>
          </a:p>
          <a:p>
            <a:pPr lvl="1">
              <a:spcBef>
                <a:spcPts val="0"/>
              </a:spcBef>
              <a:buSzPts val="2800"/>
            </a:pPr>
            <a:r>
              <a:rPr lang="en-US" altLang="zh-CN" sz="2000" dirty="0"/>
              <a:t>(3) Apply a set of stability analysis conditions to the closed-loop representation</a:t>
            </a:r>
          </a:p>
          <a:p>
            <a:pPr lvl="1">
              <a:spcBef>
                <a:spcPts val="0"/>
              </a:spcBef>
              <a:buSzPts val="2800"/>
            </a:pPr>
            <a:endParaRPr lang="en-US" altLang="zh-CN" sz="2000" dirty="0"/>
          </a:p>
          <a:p>
            <a:pPr lvl="1">
              <a:spcBef>
                <a:spcPts val="0"/>
              </a:spcBef>
              <a:buSzPts val="2800"/>
            </a:pPr>
            <a:r>
              <a:rPr lang="en-US" altLang="zh-CN" sz="2000" dirty="0"/>
              <a:t>(4) Transform these conditions into LMI-based formulations.</a:t>
            </a:r>
          </a:p>
        </p:txBody>
      </p:sp>
    </p:spTree>
    <p:extLst>
      <p:ext uri="{BB962C8B-B14F-4D97-AF65-F5344CB8AC3E}">
        <p14:creationId xmlns:p14="http://schemas.microsoft.com/office/powerpoint/2010/main" val="1604988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Takagi-</a:t>
            </a:r>
            <a:r>
              <a:rPr lang="en-US" altLang="zh-CN" dirty="0" err="1"/>
              <a:t>Sugeno</a:t>
            </a:r>
            <a:r>
              <a:rPr lang="en-US" altLang="zh-CN" dirty="0"/>
              <a:t> Fuzzy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lang="en-US"/>
          </a:p>
        </p:txBody>
      </p:sp>
      <p:sp>
        <p:nvSpPr>
          <p:cNvPr id="8" name="矩形 7">
            <a:extLst>
              <a:ext uri="{FF2B5EF4-FFF2-40B4-BE49-F238E27FC236}">
                <a16:creationId xmlns:a16="http://schemas.microsoft.com/office/drawing/2014/main" id="{1DBFA44A-2E92-4203-945A-2A29BD509C4D}"/>
              </a:ext>
            </a:extLst>
          </p:cNvPr>
          <p:cNvSpPr/>
          <p:nvPr/>
        </p:nvSpPr>
        <p:spPr>
          <a:xfrm>
            <a:off x="838200" y="1690690"/>
            <a:ext cx="4230966" cy="400110"/>
          </a:xfrm>
          <a:prstGeom prst="rect">
            <a:avLst/>
          </a:prstGeom>
        </p:spPr>
        <p:txBody>
          <a:bodyPr wrap="none">
            <a:spAutoFit/>
          </a:bodyPr>
          <a:lstStyle/>
          <a:p>
            <a:r>
              <a:rPr lang="en-US" altLang="zh-CN" sz="2000" i="1" dirty="0">
                <a:latin typeface="Formata-Italic"/>
              </a:rPr>
              <a:t>D. Takagi-</a:t>
            </a:r>
            <a:r>
              <a:rPr lang="en-US" altLang="zh-CN" sz="2000" i="1" dirty="0" err="1">
                <a:latin typeface="Formata-Italic"/>
              </a:rPr>
              <a:t>Sugeno</a:t>
            </a:r>
            <a:r>
              <a:rPr lang="en-US" altLang="zh-CN" sz="2000" i="1" dirty="0">
                <a:latin typeface="Formata-Italic"/>
              </a:rPr>
              <a:t> Fuzzy Control Design:</a:t>
            </a:r>
            <a:endParaRPr lang="zh-CN" altLang="en-US" sz="2000" i="1" dirty="0">
              <a:latin typeface="Formata-Italic"/>
            </a:endParaRPr>
          </a:p>
        </p:txBody>
      </p:sp>
      <p:sp>
        <p:nvSpPr>
          <p:cNvPr id="2" name="矩形 1">
            <a:extLst>
              <a:ext uri="{FF2B5EF4-FFF2-40B4-BE49-F238E27FC236}">
                <a16:creationId xmlns:a16="http://schemas.microsoft.com/office/drawing/2014/main" id="{458F3E42-858A-47C9-917D-8F85F4CB9033}"/>
              </a:ext>
            </a:extLst>
          </p:cNvPr>
          <p:cNvSpPr/>
          <p:nvPr/>
        </p:nvSpPr>
        <p:spPr>
          <a:xfrm>
            <a:off x="838200" y="2090800"/>
            <a:ext cx="2041200" cy="369332"/>
          </a:xfrm>
          <a:prstGeom prst="rect">
            <a:avLst/>
          </a:prstGeom>
        </p:spPr>
        <p:txBody>
          <a:bodyPr wrap="none">
            <a:spAutoFit/>
          </a:bodyPr>
          <a:lstStyle/>
          <a:p>
            <a:r>
              <a:rPr lang="en-US" altLang="zh-CN" dirty="0">
                <a:latin typeface="BemboStd"/>
              </a:rPr>
              <a:t>(1)</a:t>
            </a:r>
            <a:r>
              <a:rPr lang="zh-CN" altLang="en-US" dirty="0">
                <a:latin typeface="BemboStd"/>
              </a:rPr>
              <a:t> </a:t>
            </a:r>
            <a:r>
              <a:rPr lang="en-US" altLang="zh-CN" dirty="0">
                <a:latin typeface="BemboStd"/>
              </a:rPr>
              <a:t>PDC control law:</a:t>
            </a:r>
            <a:endParaRPr lang="zh-CN" altLang="en-US" dirty="0"/>
          </a:p>
        </p:txBody>
      </p:sp>
      <p:pic>
        <p:nvPicPr>
          <p:cNvPr id="3" name="图片 2">
            <a:extLst>
              <a:ext uri="{FF2B5EF4-FFF2-40B4-BE49-F238E27FC236}">
                <a16:creationId xmlns:a16="http://schemas.microsoft.com/office/drawing/2014/main" id="{0F732160-60BB-48EC-9300-D6994F76B356}"/>
              </a:ext>
            </a:extLst>
          </p:cNvPr>
          <p:cNvPicPr>
            <a:picLocks noChangeAspect="1"/>
          </p:cNvPicPr>
          <p:nvPr/>
        </p:nvPicPr>
        <p:blipFill>
          <a:blip r:embed="rId3"/>
          <a:stretch>
            <a:fillRect/>
          </a:stretch>
        </p:blipFill>
        <p:spPr>
          <a:xfrm>
            <a:off x="4957762" y="2460132"/>
            <a:ext cx="2276475" cy="628650"/>
          </a:xfrm>
          <a:prstGeom prst="rect">
            <a:avLst/>
          </a:prstGeom>
        </p:spPr>
      </p:pic>
      <p:sp>
        <p:nvSpPr>
          <p:cNvPr id="4" name="矩形 3">
            <a:extLst>
              <a:ext uri="{FF2B5EF4-FFF2-40B4-BE49-F238E27FC236}">
                <a16:creationId xmlns:a16="http://schemas.microsoft.com/office/drawing/2014/main" id="{C15EE893-C46D-43AD-866B-B44F06455D64}"/>
              </a:ext>
            </a:extLst>
          </p:cNvPr>
          <p:cNvSpPr/>
          <p:nvPr/>
        </p:nvSpPr>
        <p:spPr>
          <a:xfrm>
            <a:off x="838200" y="3416363"/>
            <a:ext cx="3622530" cy="369332"/>
          </a:xfrm>
          <a:prstGeom prst="rect">
            <a:avLst/>
          </a:prstGeom>
        </p:spPr>
        <p:txBody>
          <a:bodyPr wrap="none">
            <a:spAutoFit/>
          </a:bodyPr>
          <a:lstStyle/>
          <a:p>
            <a:r>
              <a:rPr lang="en-US" altLang="zh-CN" dirty="0">
                <a:latin typeface="BemboStd"/>
              </a:rPr>
              <a:t>(2) The closed-loop T-S fuzzy system:</a:t>
            </a:r>
            <a:endParaRPr lang="zh-CN" altLang="en-US" dirty="0"/>
          </a:p>
        </p:txBody>
      </p:sp>
      <p:pic>
        <p:nvPicPr>
          <p:cNvPr id="5" name="图片 4">
            <a:extLst>
              <a:ext uri="{FF2B5EF4-FFF2-40B4-BE49-F238E27FC236}">
                <a16:creationId xmlns:a16="http://schemas.microsoft.com/office/drawing/2014/main" id="{C65AA5A9-4E6C-48AE-A79E-9345E9B1D42E}"/>
              </a:ext>
            </a:extLst>
          </p:cNvPr>
          <p:cNvPicPr>
            <a:picLocks noChangeAspect="1"/>
          </p:cNvPicPr>
          <p:nvPr/>
        </p:nvPicPr>
        <p:blipFill>
          <a:blip r:embed="rId4"/>
          <a:stretch>
            <a:fillRect/>
          </a:stretch>
        </p:blipFill>
        <p:spPr>
          <a:xfrm>
            <a:off x="4348161" y="3858224"/>
            <a:ext cx="3495675" cy="609600"/>
          </a:xfrm>
          <a:prstGeom prst="rect">
            <a:avLst/>
          </a:prstGeom>
        </p:spPr>
      </p:pic>
    </p:spTree>
    <p:extLst>
      <p:ext uri="{BB962C8B-B14F-4D97-AF65-F5344CB8AC3E}">
        <p14:creationId xmlns:p14="http://schemas.microsoft.com/office/powerpoint/2010/main" val="3958621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Takagi-</a:t>
            </a:r>
            <a:r>
              <a:rPr lang="en-US" altLang="zh-CN" dirty="0" err="1"/>
              <a:t>Sugeno</a:t>
            </a:r>
            <a:r>
              <a:rPr lang="en-US" altLang="zh-CN" dirty="0"/>
              <a:t> Fuzzy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lang="en-US"/>
          </a:p>
        </p:txBody>
      </p:sp>
      <p:sp>
        <p:nvSpPr>
          <p:cNvPr id="8" name="矩形 7">
            <a:extLst>
              <a:ext uri="{FF2B5EF4-FFF2-40B4-BE49-F238E27FC236}">
                <a16:creationId xmlns:a16="http://schemas.microsoft.com/office/drawing/2014/main" id="{1DBFA44A-2E92-4203-945A-2A29BD509C4D}"/>
              </a:ext>
            </a:extLst>
          </p:cNvPr>
          <p:cNvSpPr/>
          <p:nvPr/>
        </p:nvSpPr>
        <p:spPr>
          <a:xfrm>
            <a:off x="838200" y="1690690"/>
            <a:ext cx="4230966" cy="400110"/>
          </a:xfrm>
          <a:prstGeom prst="rect">
            <a:avLst/>
          </a:prstGeom>
        </p:spPr>
        <p:txBody>
          <a:bodyPr wrap="none">
            <a:spAutoFit/>
          </a:bodyPr>
          <a:lstStyle/>
          <a:p>
            <a:r>
              <a:rPr lang="en-US" altLang="zh-CN" sz="2000" i="1" dirty="0">
                <a:latin typeface="Formata-Italic"/>
              </a:rPr>
              <a:t>D. Takagi-</a:t>
            </a:r>
            <a:r>
              <a:rPr lang="en-US" altLang="zh-CN" sz="2000" i="1" dirty="0" err="1">
                <a:latin typeface="Formata-Italic"/>
              </a:rPr>
              <a:t>Sugeno</a:t>
            </a:r>
            <a:r>
              <a:rPr lang="en-US" altLang="zh-CN" sz="2000" i="1" dirty="0">
                <a:latin typeface="Formata-Italic"/>
              </a:rPr>
              <a:t> Fuzzy Control Design:</a:t>
            </a:r>
            <a:endParaRPr lang="zh-CN" altLang="en-US" sz="2000" i="1" dirty="0">
              <a:latin typeface="Formata-Italic"/>
            </a:endParaRPr>
          </a:p>
        </p:txBody>
      </p:sp>
      <p:sp>
        <p:nvSpPr>
          <p:cNvPr id="2" name="矩形 1">
            <a:extLst>
              <a:ext uri="{FF2B5EF4-FFF2-40B4-BE49-F238E27FC236}">
                <a16:creationId xmlns:a16="http://schemas.microsoft.com/office/drawing/2014/main" id="{458F3E42-858A-47C9-917D-8F85F4CB9033}"/>
              </a:ext>
            </a:extLst>
          </p:cNvPr>
          <p:cNvSpPr/>
          <p:nvPr/>
        </p:nvSpPr>
        <p:spPr>
          <a:xfrm>
            <a:off x="838200" y="2090800"/>
            <a:ext cx="3618811" cy="369332"/>
          </a:xfrm>
          <a:prstGeom prst="rect">
            <a:avLst/>
          </a:prstGeom>
        </p:spPr>
        <p:txBody>
          <a:bodyPr wrap="none">
            <a:spAutoFit/>
          </a:bodyPr>
          <a:lstStyle/>
          <a:p>
            <a:r>
              <a:rPr lang="en-US" altLang="zh-CN" dirty="0">
                <a:latin typeface="BemboStd"/>
              </a:rPr>
              <a:t>(3)</a:t>
            </a:r>
            <a:r>
              <a:rPr lang="zh-CN" altLang="en-US" dirty="0">
                <a:latin typeface="BemboStd"/>
              </a:rPr>
              <a:t> </a:t>
            </a:r>
            <a:r>
              <a:rPr lang="en-US" altLang="zh-CN" dirty="0">
                <a:latin typeface="BemboStd"/>
              </a:rPr>
              <a:t>The closed-loop stability analysis:</a:t>
            </a:r>
            <a:endParaRPr lang="zh-CN" altLang="en-US" dirty="0"/>
          </a:p>
        </p:txBody>
      </p:sp>
      <p:sp>
        <p:nvSpPr>
          <p:cNvPr id="4" name="矩形 3">
            <a:extLst>
              <a:ext uri="{FF2B5EF4-FFF2-40B4-BE49-F238E27FC236}">
                <a16:creationId xmlns:a16="http://schemas.microsoft.com/office/drawing/2014/main" id="{C15EE893-C46D-43AD-866B-B44F06455D64}"/>
              </a:ext>
            </a:extLst>
          </p:cNvPr>
          <p:cNvSpPr/>
          <p:nvPr/>
        </p:nvSpPr>
        <p:spPr>
          <a:xfrm>
            <a:off x="838200" y="3416363"/>
            <a:ext cx="1902957" cy="369332"/>
          </a:xfrm>
          <a:prstGeom prst="rect">
            <a:avLst/>
          </a:prstGeom>
        </p:spPr>
        <p:txBody>
          <a:bodyPr wrap="none">
            <a:spAutoFit/>
          </a:bodyPr>
          <a:lstStyle/>
          <a:p>
            <a:r>
              <a:rPr lang="en-US" altLang="zh-CN" dirty="0">
                <a:latin typeface="BemboStd"/>
              </a:rPr>
              <a:t>(4) LMI constraint:</a:t>
            </a:r>
            <a:endParaRPr lang="zh-CN" altLang="en-US" dirty="0"/>
          </a:p>
        </p:txBody>
      </p:sp>
      <p:pic>
        <p:nvPicPr>
          <p:cNvPr id="6" name="图片 5">
            <a:extLst>
              <a:ext uri="{FF2B5EF4-FFF2-40B4-BE49-F238E27FC236}">
                <a16:creationId xmlns:a16="http://schemas.microsoft.com/office/drawing/2014/main" id="{6FCDFD7E-B956-4D26-96D8-D002CC293762}"/>
              </a:ext>
            </a:extLst>
          </p:cNvPr>
          <p:cNvPicPr>
            <a:picLocks noChangeAspect="1"/>
          </p:cNvPicPr>
          <p:nvPr/>
        </p:nvPicPr>
        <p:blipFill>
          <a:blip r:embed="rId3"/>
          <a:stretch>
            <a:fillRect/>
          </a:stretch>
        </p:blipFill>
        <p:spPr>
          <a:xfrm>
            <a:off x="4286248" y="2623922"/>
            <a:ext cx="3619500" cy="628650"/>
          </a:xfrm>
          <a:prstGeom prst="rect">
            <a:avLst/>
          </a:prstGeom>
        </p:spPr>
      </p:pic>
      <p:pic>
        <p:nvPicPr>
          <p:cNvPr id="7" name="图片 6">
            <a:extLst>
              <a:ext uri="{FF2B5EF4-FFF2-40B4-BE49-F238E27FC236}">
                <a16:creationId xmlns:a16="http://schemas.microsoft.com/office/drawing/2014/main" id="{34CDD312-2E0E-426C-ACE5-FDC1A02EEF6F}"/>
              </a:ext>
            </a:extLst>
          </p:cNvPr>
          <p:cNvPicPr>
            <a:picLocks noChangeAspect="1"/>
          </p:cNvPicPr>
          <p:nvPr/>
        </p:nvPicPr>
        <p:blipFill>
          <a:blip r:embed="rId4"/>
          <a:stretch>
            <a:fillRect/>
          </a:stretch>
        </p:blipFill>
        <p:spPr>
          <a:xfrm>
            <a:off x="4286248" y="3784255"/>
            <a:ext cx="3524250" cy="752475"/>
          </a:xfrm>
          <a:prstGeom prst="rect">
            <a:avLst/>
          </a:prstGeom>
        </p:spPr>
      </p:pic>
    </p:spTree>
    <p:extLst>
      <p:ext uri="{BB962C8B-B14F-4D97-AF65-F5344CB8AC3E}">
        <p14:creationId xmlns:p14="http://schemas.microsoft.com/office/powerpoint/2010/main" val="357738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4 Piecewise </a:t>
            </a:r>
            <a:r>
              <a:rPr lang="en-US" altLang="zh-CN" dirty="0" err="1"/>
              <a:t>Multiaffine</a:t>
            </a:r>
            <a:r>
              <a:rPr lang="en-US" altLang="zh-CN" dirty="0"/>
              <a:t>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lang="en-US"/>
          </a:p>
        </p:txBody>
      </p:sp>
      <p:sp>
        <p:nvSpPr>
          <p:cNvPr id="8" name="矩形 7">
            <a:extLst>
              <a:ext uri="{FF2B5EF4-FFF2-40B4-BE49-F238E27FC236}">
                <a16:creationId xmlns:a16="http://schemas.microsoft.com/office/drawing/2014/main" id="{1DBFA44A-2E92-4203-945A-2A29BD509C4D}"/>
              </a:ext>
            </a:extLst>
          </p:cNvPr>
          <p:cNvSpPr/>
          <p:nvPr/>
        </p:nvSpPr>
        <p:spPr>
          <a:xfrm>
            <a:off x="838200" y="1690690"/>
            <a:ext cx="3417474" cy="400110"/>
          </a:xfrm>
          <a:prstGeom prst="rect">
            <a:avLst/>
          </a:prstGeom>
        </p:spPr>
        <p:txBody>
          <a:bodyPr wrap="none">
            <a:spAutoFit/>
          </a:bodyPr>
          <a:lstStyle/>
          <a:p>
            <a:r>
              <a:rPr lang="en-US" altLang="zh-CN" sz="2000" i="1" dirty="0">
                <a:solidFill>
                  <a:schemeClr val="dk1"/>
                </a:solidFill>
              </a:rPr>
              <a:t>A. Description of PMA Systems</a:t>
            </a:r>
            <a:r>
              <a:rPr lang="en-US" altLang="zh-CN" sz="2000" i="1" dirty="0">
                <a:solidFill>
                  <a:schemeClr val="dk1"/>
                </a:solidFill>
                <a:latin typeface="Arial"/>
                <a:ea typeface="Arial"/>
                <a:cs typeface="Arial"/>
                <a:sym typeface="Arial"/>
              </a:rPr>
              <a:t>:</a:t>
            </a:r>
          </a:p>
        </p:txBody>
      </p:sp>
      <p:sp>
        <p:nvSpPr>
          <p:cNvPr id="2" name="矩形 1">
            <a:extLst>
              <a:ext uri="{FF2B5EF4-FFF2-40B4-BE49-F238E27FC236}">
                <a16:creationId xmlns:a16="http://schemas.microsoft.com/office/drawing/2014/main" id="{458F3E42-858A-47C9-917D-8F85F4CB9033}"/>
              </a:ext>
            </a:extLst>
          </p:cNvPr>
          <p:cNvSpPr/>
          <p:nvPr/>
        </p:nvSpPr>
        <p:spPr>
          <a:xfrm>
            <a:off x="838200" y="2090800"/>
            <a:ext cx="2782813" cy="369332"/>
          </a:xfrm>
          <a:prstGeom prst="rect">
            <a:avLst/>
          </a:prstGeom>
        </p:spPr>
        <p:txBody>
          <a:bodyPr wrap="none">
            <a:spAutoFit/>
          </a:bodyPr>
          <a:lstStyle/>
          <a:p>
            <a:r>
              <a:rPr lang="en-US" altLang="zh-CN" dirty="0">
                <a:solidFill>
                  <a:schemeClr val="dk1"/>
                </a:solidFill>
                <a:latin typeface="Arial"/>
                <a:ea typeface="Arial"/>
                <a:cs typeface="Arial"/>
                <a:sym typeface="Arial"/>
              </a:rPr>
              <a:t>(</a:t>
            </a:r>
            <a:r>
              <a:rPr lang="en-US" altLang="zh-CN" dirty="0">
                <a:solidFill>
                  <a:schemeClr val="dk1"/>
                </a:solidFill>
              </a:rPr>
              <a:t>1</a:t>
            </a:r>
            <a:r>
              <a:rPr lang="en-US" altLang="zh-CN" dirty="0">
                <a:solidFill>
                  <a:schemeClr val="dk1"/>
                </a:solidFill>
                <a:latin typeface="Arial"/>
                <a:ea typeface="Arial"/>
                <a:cs typeface="Arial"/>
                <a:sym typeface="Arial"/>
              </a:rPr>
              <a:t>) </a:t>
            </a:r>
            <a:r>
              <a:rPr lang="en-US" altLang="zh-CN" dirty="0">
                <a:solidFill>
                  <a:schemeClr val="dk1"/>
                </a:solidFill>
              </a:rPr>
              <a:t>Extension of T-S system</a:t>
            </a:r>
            <a:r>
              <a:rPr lang="en-US" altLang="zh-CN" dirty="0">
                <a:solidFill>
                  <a:schemeClr val="dk1"/>
                </a:solidFill>
                <a:latin typeface="Arial"/>
                <a:ea typeface="Arial"/>
                <a:cs typeface="Arial"/>
                <a:sym typeface="Arial"/>
              </a:rPr>
              <a:t>:</a:t>
            </a:r>
            <a:endParaRPr lang="en-US" altLang="zh-CN" dirty="0">
              <a:solidFill>
                <a:schemeClr val="dk1"/>
              </a:solidFill>
              <a:ea typeface="Calibri"/>
              <a:cs typeface="Calibri"/>
              <a:sym typeface="Calibri"/>
            </a:endParaRPr>
          </a:p>
        </p:txBody>
      </p:sp>
      <p:sp>
        <p:nvSpPr>
          <p:cNvPr id="4" name="矩形 3">
            <a:extLst>
              <a:ext uri="{FF2B5EF4-FFF2-40B4-BE49-F238E27FC236}">
                <a16:creationId xmlns:a16="http://schemas.microsoft.com/office/drawing/2014/main" id="{C15EE893-C46D-43AD-866B-B44F06455D64}"/>
              </a:ext>
            </a:extLst>
          </p:cNvPr>
          <p:cNvSpPr/>
          <p:nvPr/>
        </p:nvSpPr>
        <p:spPr>
          <a:xfrm>
            <a:off x="838200" y="3416363"/>
            <a:ext cx="3122458" cy="369332"/>
          </a:xfrm>
          <a:prstGeom prst="rect">
            <a:avLst/>
          </a:prstGeom>
        </p:spPr>
        <p:txBody>
          <a:bodyPr wrap="none">
            <a:spAutoFit/>
          </a:bodyPr>
          <a:lstStyle/>
          <a:p>
            <a:r>
              <a:rPr lang="en-US" altLang="zh-CN" dirty="0">
                <a:solidFill>
                  <a:schemeClr val="dk1"/>
                </a:solidFill>
                <a:latin typeface="Arial"/>
                <a:ea typeface="Arial"/>
                <a:cs typeface="Arial"/>
                <a:sym typeface="Arial"/>
              </a:rPr>
              <a:t>(</a:t>
            </a:r>
            <a:r>
              <a:rPr lang="en-US" altLang="zh-CN" dirty="0">
                <a:solidFill>
                  <a:schemeClr val="dk1"/>
                </a:solidFill>
              </a:rPr>
              <a:t>2</a:t>
            </a:r>
            <a:r>
              <a:rPr lang="en-US" altLang="zh-CN" dirty="0">
                <a:solidFill>
                  <a:schemeClr val="dk1"/>
                </a:solidFill>
                <a:latin typeface="Arial"/>
                <a:ea typeface="Arial"/>
                <a:cs typeface="Arial"/>
                <a:sym typeface="Arial"/>
              </a:rPr>
              <a:t>) </a:t>
            </a:r>
            <a:r>
              <a:rPr lang="en-US" altLang="zh-CN" dirty="0">
                <a:solidFill>
                  <a:schemeClr val="dk1"/>
                </a:solidFill>
              </a:rPr>
              <a:t>Partition of the state-space</a:t>
            </a:r>
            <a:r>
              <a:rPr lang="en-US" altLang="zh-CN" dirty="0">
                <a:solidFill>
                  <a:schemeClr val="dk1"/>
                </a:solidFill>
                <a:latin typeface="Arial"/>
                <a:ea typeface="Arial"/>
                <a:cs typeface="Arial"/>
                <a:sym typeface="Arial"/>
              </a:rPr>
              <a:t>:</a:t>
            </a:r>
            <a:endParaRPr lang="en-US" altLang="zh-CN" dirty="0">
              <a:solidFill>
                <a:schemeClr val="dk1"/>
              </a:solidFill>
              <a:ea typeface="Calibri"/>
              <a:cs typeface="Calibri"/>
              <a:sym typeface="Calibri"/>
            </a:endParaRPr>
          </a:p>
        </p:txBody>
      </p:sp>
      <p:grpSp>
        <p:nvGrpSpPr>
          <p:cNvPr id="9" name="组合 8">
            <a:extLst>
              <a:ext uri="{FF2B5EF4-FFF2-40B4-BE49-F238E27FC236}">
                <a16:creationId xmlns:a16="http://schemas.microsoft.com/office/drawing/2014/main" id="{F12E5B0B-527C-4C56-83E4-ACDD30CE32A5}"/>
              </a:ext>
            </a:extLst>
          </p:cNvPr>
          <p:cNvGrpSpPr/>
          <p:nvPr/>
        </p:nvGrpSpPr>
        <p:grpSpPr>
          <a:xfrm>
            <a:off x="4757513" y="2460132"/>
            <a:ext cx="2581720" cy="622288"/>
            <a:chOff x="4275589" y="2658086"/>
            <a:chExt cx="2581720" cy="622288"/>
          </a:xfrm>
        </p:grpSpPr>
        <p:pic>
          <p:nvPicPr>
            <p:cNvPr id="10" name="Google Shape;417;g5a76921c2e_0_2">
              <a:extLst>
                <a:ext uri="{FF2B5EF4-FFF2-40B4-BE49-F238E27FC236}">
                  <a16:creationId xmlns:a16="http://schemas.microsoft.com/office/drawing/2014/main" id="{0172D843-3304-4096-84A6-03810C946A14}"/>
                </a:ext>
              </a:extLst>
            </p:cNvPr>
            <p:cNvPicPr preferRelativeResize="0"/>
            <p:nvPr/>
          </p:nvPicPr>
          <p:blipFill>
            <a:blip r:embed="rId3">
              <a:alphaModFix/>
            </a:blip>
            <a:stretch>
              <a:fillRect/>
            </a:stretch>
          </p:blipFill>
          <p:spPr>
            <a:xfrm>
              <a:off x="5583825" y="2658086"/>
              <a:ext cx="1273484" cy="622288"/>
            </a:xfrm>
            <a:prstGeom prst="rect">
              <a:avLst/>
            </a:prstGeom>
            <a:noFill/>
            <a:ln>
              <a:noFill/>
            </a:ln>
          </p:spPr>
        </p:pic>
        <p:pic>
          <p:nvPicPr>
            <p:cNvPr id="11" name="Google Shape;418;g5a76921c2e_0_2">
              <a:extLst>
                <a:ext uri="{FF2B5EF4-FFF2-40B4-BE49-F238E27FC236}">
                  <a16:creationId xmlns:a16="http://schemas.microsoft.com/office/drawing/2014/main" id="{45CF3037-1267-49F1-A72B-BAB335EC1362}"/>
                </a:ext>
              </a:extLst>
            </p:cNvPr>
            <p:cNvPicPr preferRelativeResize="0"/>
            <p:nvPr/>
          </p:nvPicPr>
          <p:blipFill>
            <a:blip r:embed="rId4">
              <a:alphaModFix/>
            </a:blip>
            <a:stretch>
              <a:fillRect/>
            </a:stretch>
          </p:blipFill>
          <p:spPr>
            <a:xfrm>
              <a:off x="4275589" y="2738126"/>
              <a:ext cx="1226419" cy="400200"/>
            </a:xfrm>
            <a:prstGeom prst="rect">
              <a:avLst/>
            </a:prstGeom>
            <a:noFill/>
            <a:ln>
              <a:noFill/>
            </a:ln>
          </p:spPr>
        </p:pic>
      </p:grpSp>
      <p:pic>
        <p:nvPicPr>
          <p:cNvPr id="12" name="Google Shape;419;g5a76921c2e_0_2">
            <a:extLst>
              <a:ext uri="{FF2B5EF4-FFF2-40B4-BE49-F238E27FC236}">
                <a16:creationId xmlns:a16="http://schemas.microsoft.com/office/drawing/2014/main" id="{A4DE10A6-AD97-49B3-827A-1136C25F045D}"/>
              </a:ext>
            </a:extLst>
          </p:cNvPr>
          <p:cNvPicPr preferRelativeResize="0"/>
          <p:nvPr/>
        </p:nvPicPr>
        <p:blipFill>
          <a:blip r:embed="rId5">
            <a:alphaModFix/>
          </a:blip>
          <a:stretch>
            <a:fillRect/>
          </a:stretch>
        </p:blipFill>
        <p:spPr>
          <a:xfrm>
            <a:off x="3525957" y="4141283"/>
            <a:ext cx="4915950" cy="533400"/>
          </a:xfrm>
          <a:prstGeom prst="rect">
            <a:avLst/>
          </a:prstGeom>
          <a:noFill/>
          <a:ln>
            <a:noFill/>
          </a:ln>
        </p:spPr>
      </p:pic>
    </p:spTree>
    <p:extLst>
      <p:ext uri="{BB962C8B-B14F-4D97-AF65-F5344CB8AC3E}">
        <p14:creationId xmlns:p14="http://schemas.microsoft.com/office/powerpoint/2010/main" val="16052556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4 Piecewise </a:t>
            </a:r>
            <a:r>
              <a:rPr lang="en-US" altLang="zh-CN" dirty="0" err="1"/>
              <a:t>Multiaffine</a:t>
            </a:r>
            <a:r>
              <a:rPr lang="en-US" altLang="zh-CN" dirty="0"/>
              <a:t>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lang="en-US"/>
          </a:p>
        </p:txBody>
      </p:sp>
      <p:sp>
        <p:nvSpPr>
          <p:cNvPr id="8" name="矩形 7">
            <a:extLst>
              <a:ext uri="{FF2B5EF4-FFF2-40B4-BE49-F238E27FC236}">
                <a16:creationId xmlns:a16="http://schemas.microsoft.com/office/drawing/2014/main" id="{1DBFA44A-2E92-4203-945A-2A29BD509C4D}"/>
              </a:ext>
            </a:extLst>
          </p:cNvPr>
          <p:cNvSpPr/>
          <p:nvPr/>
        </p:nvSpPr>
        <p:spPr>
          <a:xfrm>
            <a:off x="838200" y="1690690"/>
            <a:ext cx="3417474" cy="400110"/>
          </a:xfrm>
          <a:prstGeom prst="rect">
            <a:avLst/>
          </a:prstGeom>
        </p:spPr>
        <p:txBody>
          <a:bodyPr wrap="none">
            <a:spAutoFit/>
          </a:bodyPr>
          <a:lstStyle/>
          <a:p>
            <a:r>
              <a:rPr lang="en-US" altLang="zh-CN" sz="2000" i="1" dirty="0">
                <a:solidFill>
                  <a:schemeClr val="dk1"/>
                </a:solidFill>
              </a:rPr>
              <a:t>A. Description of PMA Systems</a:t>
            </a:r>
            <a:r>
              <a:rPr lang="en-US" altLang="zh-CN" sz="2000" i="1" dirty="0">
                <a:solidFill>
                  <a:schemeClr val="dk1"/>
                </a:solidFill>
                <a:latin typeface="Arial"/>
                <a:ea typeface="Arial"/>
                <a:cs typeface="Arial"/>
                <a:sym typeface="Arial"/>
              </a:rPr>
              <a:t>:</a:t>
            </a:r>
          </a:p>
        </p:txBody>
      </p:sp>
      <p:sp>
        <p:nvSpPr>
          <p:cNvPr id="2" name="矩形 1">
            <a:extLst>
              <a:ext uri="{FF2B5EF4-FFF2-40B4-BE49-F238E27FC236}">
                <a16:creationId xmlns:a16="http://schemas.microsoft.com/office/drawing/2014/main" id="{458F3E42-858A-47C9-917D-8F85F4CB9033}"/>
              </a:ext>
            </a:extLst>
          </p:cNvPr>
          <p:cNvSpPr/>
          <p:nvPr/>
        </p:nvSpPr>
        <p:spPr>
          <a:xfrm>
            <a:off x="838200" y="2090800"/>
            <a:ext cx="4125617" cy="369332"/>
          </a:xfrm>
          <a:prstGeom prst="rect">
            <a:avLst/>
          </a:prstGeom>
        </p:spPr>
        <p:txBody>
          <a:bodyPr wrap="none">
            <a:spAutoFit/>
          </a:bodyPr>
          <a:lstStyle/>
          <a:p>
            <a:r>
              <a:rPr lang="en-US" altLang="zh-CN" dirty="0">
                <a:solidFill>
                  <a:schemeClr val="dk1"/>
                </a:solidFill>
                <a:latin typeface="Arial"/>
                <a:ea typeface="Arial"/>
                <a:cs typeface="Arial"/>
                <a:sym typeface="Arial"/>
              </a:rPr>
              <a:t>(3) </a:t>
            </a:r>
            <a:r>
              <a:rPr lang="en-US" altLang="zh-CN" dirty="0">
                <a:solidFill>
                  <a:schemeClr val="dk1"/>
                </a:solidFill>
              </a:rPr>
              <a:t>Set of multi-indexes to all the vertices</a:t>
            </a:r>
            <a:r>
              <a:rPr lang="en-US" altLang="zh-CN" dirty="0">
                <a:solidFill>
                  <a:schemeClr val="dk1"/>
                </a:solidFill>
                <a:latin typeface="Arial"/>
                <a:ea typeface="Arial"/>
                <a:cs typeface="Arial"/>
                <a:sym typeface="Arial"/>
              </a:rPr>
              <a:t>:</a:t>
            </a:r>
            <a:endParaRPr lang="en-US" altLang="zh-CN" dirty="0">
              <a:solidFill>
                <a:schemeClr val="dk1"/>
              </a:solidFill>
              <a:ea typeface="Calibri"/>
              <a:cs typeface="Calibri"/>
              <a:sym typeface="Calibri"/>
            </a:endParaRPr>
          </a:p>
        </p:txBody>
      </p:sp>
      <p:sp>
        <p:nvSpPr>
          <p:cNvPr id="4" name="矩形 3">
            <a:extLst>
              <a:ext uri="{FF2B5EF4-FFF2-40B4-BE49-F238E27FC236}">
                <a16:creationId xmlns:a16="http://schemas.microsoft.com/office/drawing/2014/main" id="{C15EE893-C46D-43AD-866B-B44F06455D64}"/>
              </a:ext>
            </a:extLst>
          </p:cNvPr>
          <p:cNvSpPr/>
          <p:nvPr/>
        </p:nvSpPr>
        <p:spPr>
          <a:xfrm>
            <a:off x="838200" y="3416363"/>
            <a:ext cx="3813865" cy="369332"/>
          </a:xfrm>
          <a:prstGeom prst="rect">
            <a:avLst/>
          </a:prstGeom>
        </p:spPr>
        <p:txBody>
          <a:bodyPr wrap="none">
            <a:spAutoFit/>
          </a:bodyPr>
          <a:lstStyle/>
          <a:p>
            <a:r>
              <a:rPr lang="en-US" altLang="zh-CN" dirty="0">
                <a:solidFill>
                  <a:schemeClr val="dk1"/>
                </a:solidFill>
                <a:latin typeface="Arial"/>
                <a:ea typeface="Arial"/>
                <a:cs typeface="Arial"/>
                <a:sym typeface="Arial"/>
              </a:rPr>
              <a:t>(4) </a:t>
            </a:r>
            <a:r>
              <a:rPr lang="en-US" altLang="zh-CN" dirty="0">
                <a:solidFill>
                  <a:schemeClr val="dk1"/>
                </a:solidFill>
              </a:rPr>
              <a:t>Set of multi-indexes to the regions</a:t>
            </a:r>
            <a:r>
              <a:rPr lang="en-US" altLang="zh-CN" dirty="0">
                <a:solidFill>
                  <a:schemeClr val="dk1"/>
                </a:solidFill>
                <a:latin typeface="Arial"/>
                <a:ea typeface="Arial"/>
                <a:cs typeface="Arial"/>
                <a:sym typeface="Arial"/>
              </a:rPr>
              <a:t>:</a:t>
            </a:r>
            <a:endParaRPr lang="en-US" altLang="zh-CN" dirty="0">
              <a:solidFill>
                <a:schemeClr val="dk1"/>
              </a:solidFill>
              <a:ea typeface="Calibri"/>
              <a:cs typeface="Calibri"/>
              <a:sym typeface="Calibri"/>
            </a:endParaRPr>
          </a:p>
        </p:txBody>
      </p:sp>
      <p:pic>
        <p:nvPicPr>
          <p:cNvPr id="13" name="Google Shape;429;g5a76921c2e_0_32">
            <a:extLst>
              <a:ext uri="{FF2B5EF4-FFF2-40B4-BE49-F238E27FC236}">
                <a16:creationId xmlns:a16="http://schemas.microsoft.com/office/drawing/2014/main" id="{238573AB-8919-4C79-B1CE-2B198F730260}"/>
              </a:ext>
            </a:extLst>
          </p:cNvPr>
          <p:cNvPicPr preferRelativeResize="0"/>
          <p:nvPr/>
        </p:nvPicPr>
        <p:blipFill>
          <a:blip r:embed="rId3">
            <a:alphaModFix/>
          </a:blip>
          <a:stretch>
            <a:fillRect/>
          </a:stretch>
        </p:blipFill>
        <p:spPr>
          <a:xfrm>
            <a:off x="4768675" y="2660142"/>
            <a:ext cx="2654650" cy="400200"/>
          </a:xfrm>
          <a:prstGeom prst="rect">
            <a:avLst/>
          </a:prstGeom>
          <a:noFill/>
          <a:ln>
            <a:noFill/>
          </a:ln>
        </p:spPr>
      </p:pic>
      <p:pic>
        <p:nvPicPr>
          <p:cNvPr id="14" name="Google Shape;430;g5a76921c2e_0_32">
            <a:extLst>
              <a:ext uri="{FF2B5EF4-FFF2-40B4-BE49-F238E27FC236}">
                <a16:creationId xmlns:a16="http://schemas.microsoft.com/office/drawing/2014/main" id="{D03ADF29-0579-49EF-B56F-DFEEA3317327}"/>
              </a:ext>
            </a:extLst>
          </p:cNvPr>
          <p:cNvPicPr preferRelativeResize="0"/>
          <p:nvPr/>
        </p:nvPicPr>
        <p:blipFill>
          <a:blip r:embed="rId4">
            <a:alphaModFix/>
          </a:blip>
          <a:stretch>
            <a:fillRect/>
          </a:stretch>
        </p:blipFill>
        <p:spPr>
          <a:xfrm>
            <a:off x="4768675" y="4106455"/>
            <a:ext cx="2654650" cy="397403"/>
          </a:xfrm>
          <a:prstGeom prst="rect">
            <a:avLst/>
          </a:prstGeom>
          <a:noFill/>
          <a:ln>
            <a:noFill/>
          </a:ln>
        </p:spPr>
      </p:pic>
      <p:pic>
        <p:nvPicPr>
          <p:cNvPr id="15" name="Google Shape;462;g5a76921c2e_0_62">
            <a:extLst>
              <a:ext uri="{FF2B5EF4-FFF2-40B4-BE49-F238E27FC236}">
                <a16:creationId xmlns:a16="http://schemas.microsoft.com/office/drawing/2014/main" id="{28F7C2EA-5E57-466E-898F-AA38B6F1BEF1}"/>
              </a:ext>
            </a:extLst>
          </p:cNvPr>
          <p:cNvPicPr preferRelativeResize="0"/>
          <p:nvPr/>
        </p:nvPicPr>
        <p:blipFill>
          <a:blip r:embed="rId5">
            <a:alphaModFix/>
          </a:blip>
          <a:stretch>
            <a:fillRect/>
          </a:stretch>
        </p:blipFill>
        <p:spPr>
          <a:xfrm>
            <a:off x="7723943" y="1804495"/>
            <a:ext cx="4343400" cy="3962400"/>
          </a:xfrm>
          <a:prstGeom prst="rect">
            <a:avLst/>
          </a:prstGeom>
          <a:noFill/>
          <a:ln>
            <a:noFill/>
          </a:ln>
        </p:spPr>
      </p:pic>
    </p:spTree>
    <p:extLst>
      <p:ext uri="{BB962C8B-B14F-4D97-AF65-F5344CB8AC3E}">
        <p14:creationId xmlns:p14="http://schemas.microsoft.com/office/powerpoint/2010/main" val="22500554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4 Piecewise </a:t>
            </a:r>
            <a:r>
              <a:rPr lang="en-US" altLang="zh-CN" dirty="0" err="1"/>
              <a:t>Multiaffine</a:t>
            </a:r>
            <a:r>
              <a:rPr lang="en-US" altLang="zh-CN" dirty="0"/>
              <a:t>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lang="en-US"/>
          </a:p>
        </p:txBody>
      </p:sp>
      <p:sp>
        <p:nvSpPr>
          <p:cNvPr id="8" name="矩形 7">
            <a:extLst>
              <a:ext uri="{FF2B5EF4-FFF2-40B4-BE49-F238E27FC236}">
                <a16:creationId xmlns:a16="http://schemas.microsoft.com/office/drawing/2014/main" id="{1DBFA44A-2E92-4203-945A-2A29BD509C4D}"/>
              </a:ext>
            </a:extLst>
          </p:cNvPr>
          <p:cNvSpPr/>
          <p:nvPr/>
        </p:nvSpPr>
        <p:spPr>
          <a:xfrm>
            <a:off x="838200" y="1690690"/>
            <a:ext cx="3417474" cy="400110"/>
          </a:xfrm>
          <a:prstGeom prst="rect">
            <a:avLst/>
          </a:prstGeom>
        </p:spPr>
        <p:txBody>
          <a:bodyPr wrap="none">
            <a:spAutoFit/>
          </a:bodyPr>
          <a:lstStyle/>
          <a:p>
            <a:r>
              <a:rPr lang="en-US" altLang="zh-CN" sz="2000" i="1" dirty="0">
                <a:solidFill>
                  <a:schemeClr val="dk1"/>
                </a:solidFill>
              </a:rPr>
              <a:t>A. Description of PMA Systems</a:t>
            </a:r>
            <a:r>
              <a:rPr lang="en-US" altLang="zh-CN" sz="2000" i="1" dirty="0">
                <a:solidFill>
                  <a:schemeClr val="dk1"/>
                </a:solidFill>
                <a:latin typeface="Arial"/>
                <a:ea typeface="Arial"/>
                <a:cs typeface="Arial"/>
                <a:sym typeface="Arial"/>
              </a:rPr>
              <a:t>:</a:t>
            </a:r>
          </a:p>
        </p:txBody>
      </p:sp>
      <p:sp>
        <p:nvSpPr>
          <p:cNvPr id="2" name="矩形 1">
            <a:extLst>
              <a:ext uri="{FF2B5EF4-FFF2-40B4-BE49-F238E27FC236}">
                <a16:creationId xmlns:a16="http://schemas.microsoft.com/office/drawing/2014/main" id="{458F3E42-858A-47C9-917D-8F85F4CB9033}"/>
              </a:ext>
            </a:extLst>
          </p:cNvPr>
          <p:cNvSpPr/>
          <p:nvPr/>
        </p:nvSpPr>
        <p:spPr>
          <a:xfrm>
            <a:off x="838200" y="2090800"/>
            <a:ext cx="2037224" cy="369332"/>
          </a:xfrm>
          <a:prstGeom prst="rect">
            <a:avLst/>
          </a:prstGeom>
        </p:spPr>
        <p:txBody>
          <a:bodyPr wrap="none">
            <a:spAutoFit/>
          </a:bodyPr>
          <a:lstStyle/>
          <a:p>
            <a:r>
              <a:rPr lang="en-US" altLang="zh-CN" dirty="0">
                <a:solidFill>
                  <a:schemeClr val="dk1"/>
                </a:solidFill>
                <a:latin typeface="Arial"/>
                <a:ea typeface="Arial"/>
                <a:cs typeface="Arial"/>
                <a:sym typeface="Arial"/>
              </a:rPr>
              <a:t>(</a:t>
            </a:r>
            <a:r>
              <a:rPr lang="en-US" altLang="zh-CN" dirty="0">
                <a:solidFill>
                  <a:schemeClr val="dk1"/>
                </a:solidFill>
              </a:rPr>
              <a:t>5</a:t>
            </a:r>
            <a:r>
              <a:rPr lang="en-US" altLang="zh-CN" dirty="0">
                <a:solidFill>
                  <a:schemeClr val="dk1"/>
                </a:solidFill>
                <a:latin typeface="Arial"/>
                <a:ea typeface="Arial"/>
                <a:cs typeface="Arial"/>
                <a:sym typeface="Arial"/>
              </a:rPr>
              <a:t>)</a:t>
            </a:r>
            <a:r>
              <a:rPr lang="en-US" altLang="zh-CN" dirty="0">
                <a:solidFill>
                  <a:schemeClr val="dk1"/>
                </a:solidFill>
              </a:rPr>
              <a:t>Region vector Ri</a:t>
            </a:r>
            <a:r>
              <a:rPr lang="en-US" altLang="zh-CN" dirty="0">
                <a:solidFill>
                  <a:schemeClr val="dk1"/>
                </a:solidFill>
                <a:latin typeface="Arial"/>
                <a:ea typeface="Arial"/>
                <a:cs typeface="Arial"/>
                <a:sym typeface="Arial"/>
              </a:rPr>
              <a:t>:</a:t>
            </a:r>
            <a:endParaRPr lang="en-US" altLang="zh-CN" dirty="0">
              <a:solidFill>
                <a:schemeClr val="dk1"/>
              </a:solidFill>
              <a:ea typeface="Calibri"/>
              <a:cs typeface="Calibri"/>
              <a:sym typeface="Calibri"/>
            </a:endParaRPr>
          </a:p>
        </p:txBody>
      </p:sp>
      <p:sp>
        <p:nvSpPr>
          <p:cNvPr id="4" name="矩形 3">
            <a:extLst>
              <a:ext uri="{FF2B5EF4-FFF2-40B4-BE49-F238E27FC236}">
                <a16:creationId xmlns:a16="http://schemas.microsoft.com/office/drawing/2014/main" id="{C15EE893-C46D-43AD-866B-B44F06455D64}"/>
              </a:ext>
            </a:extLst>
          </p:cNvPr>
          <p:cNvSpPr/>
          <p:nvPr/>
        </p:nvSpPr>
        <p:spPr>
          <a:xfrm>
            <a:off x="838200" y="3416363"/>
            <a:ext cx="4223400" cy="369332"/>
          </a:xfrm>
          <a:prstGeom prst="rect">
            <a:avLst/>
          </a:prstGeom>
        </p:spPr>
        <p:txBody>
          <a:bodyPr wrap="none">
            <a:spAutoFit/>
          </a:bodyPr>
          <a:lstStyle/>
          <a:p>
            <a:r>
              <a:rPr lang="en-US" altLang="zh-CN" dirty="0">
                <a:solidFill>
                  <a:schemeClr val="dk1"/>
                </a:solidFill>
                <a:latin typeface="Arial"/>
                <a:ea typeface="Arial"/>
                <a:cs typeface="Arial"/>
                <a:sym typeface="Arial"/>
              </a:rPr>
              <a:t>(</a:t>
            </a:r>
            <a:r>
              <a:rPr lang="en-US" altLang="zh-CN" dirty="0">
                <a:solidFill>
                  <a:schemeClr val="dk1"/>
                </a:solidFill>
              </a:rPr>
              <a:t>6</a:t>
            </a:r>
            <a:r>
              <a:rPr lang="en-US" altLang="zh-CN" dirty="0">
                <a:solidFill>
                  <a:schemeClr val="dk1"/>
                </a:solidFill>
                <a:latin typeface="Arial"/>
                <a:ea typeface="Arial"/>
                <a:cs typeface="Arial"/>
                <a:sym typeface="Arial"/>
              </a:rPr>
              <a:t>) </a:t>
            </a:r>
            <a:r>
              <a:rPr lang="en-US" altLang="zh-CN" dirty="0">
                <a:solidFill>
                  <a:schemeClr val="dk1"/>
                </a:solidFill>
              </a:rPr>
              <a:t>Set of multi-indexes to all vertices of Ri</a:t>
            </a:r>
            <a:r>
              <a:rPr lang="en-US" altLang="zh-CN" dirty="0">
                <a:solidFill>
                  <a:schemeClr val="dk1"/>
                </a:solidFill>
                <a:latin typeface="Arial"/>
                <a:ea typeface="Arial"/>
                <a:cs typeface="Arial"/>
                <a:sym typeface="Arial"/>
              </a:rPr>
              <a:t>:</a:t>
            </a:r>
            <a:endParaRPr lang="en-US" altLang="zh-CN" dirty="0">
              <a:solidFill>
                <a:schemeClr val="dk1"/>
              </a:solidFill>
              <a:ea typeface="Calibri"/>
              <a:cs typeface="Calibri"/>
              <a:sym typeface="Calibri"/>
            </a:endParaRPr>
          </a:p>
        </p:txBody>
      </p:sp>
      <p:pic>
        <p:nvPicPr>
          <p:cNvPr id="9" name="Google Shape;440;g5a76921c2e_0_42">
            <a:extLst>
              <a:ext uri="{FF2B5EF4-FFF2-40B4-BE49-F238E27FC236}">
                <a16:creationId xmlns:a16="http://schemas.microsoft.com/office/drawing/2014/main" id="{E740E015-1CC9-4AFA-BED9-909C97620177}"/>
              </a:ext>
            </a:extLst>
          </p:cNvPr>
          <p:cNvPicPr preferRelativeResize="0"/>
          <p:nvPr/>
        </p:nvPicPr>
        <p:blipFill rotWithShape="1">
          <a:blip r:embed="rId3">
            <a:alphaModFix/>
          </a:blip>
          <a:srcRect b="11126"/>
          <a:stretch/>
        </p:blipFill>
        <p:spPr>
          <a:xfrm>
            <a:off x="3308324" y="2755698"/>
            <a:ext cx="3506550" cy="365100"/>
          </a:xfrm>
          <a:prstGeom prst="rect">
            <a:avLst/>
          </a:prstGeom>
          <a:noFill/>
          <a:ln>
            <a:noFill/>
          </a:ln>
        </p:spPr>
      </p:pic>
      <p:pic>
        <p:nvPicPr>
          <p:cNvPr id="10" name="Google Shape;441;g5a76921c2e_0_42">
            <a:extLst>
              <a:ext uri="{FF2B5EF4-FFF2-40B4-BE49-F238E27FC236}">
                <a16:creationId xmlns:a16="http://schemas.microsoft.com/office/drawing/2014/main" id="{3ED77B4B-2373-45FD-A0D8-AF4BDEC85697}"/>
              </a:ext>
            </a:extLst>
          </p:cNvPr>
          <p:cNvPicPr preferRelativeResize="0"/>
          <p:nvPr/>
        </p:nvPicPr>
        <p:blipFill rotWithShape="1">
          <a:blip r:embed="rId4">
            <a:alphaModFix/>
          </a:blip>
          <a:srcRect b="22311"/>
          <a:stretch/>
        </p:blipFill>
        <p:spPr>
          <a:xfrm>
            <a:off x="2787837" y="4077020"/>
            <a:ext cx="4547525" cy="400200"/>
          </a:xfrm>
          <a:prstGeom prst="rect">
            <a:avLst/>
          </a:prstGeom>
          <a:noFill/>
          <a:ln>
            <a:noFill/>
          </a:ln>
        </p:spPr>
      </p:pic>
      <p:pic>
        <p:nvPicPr>
          <p:cNvPr id="11" name="Google Shape;462;g5a76921c2e_0_62">
            <a:extLst>
              <a:ext uri="{FF2B5EF4-FFF2-40B4-BE49-F238E27FC236}">
                <a16:creationId xmlns:a16="http://schemas.microsoft.com/office/drawing/2014/main" id="{378A13B3-4162-471D-BA58-AA37B78EF14D}"/>
              </a:ext>
            </a:extLst>
          </p:cNvPr>
          <p:cNvPicPr preferRelativeResize="0"/>
          <p:nvPr/>
        </p:nvPicPr>
        <p:blipFill>
          <a:blip r:embed="rId5">
            <a:alphaModFix/>
          </a:blip>
          <a:stretch>
            <a:fillRect/>
          </a:stretch>
        </p:blipFill>
        <p:spPr>
          <a:xfrm>
            <a:off x="7810500" y="1890745"/>
            <a:ext cx="4343400" cy="3962400"/>
          </a:xfrm>
          <a:prstGeom prst="rect">
            <a:avLst/>
          </a:prstGeom>
          <a:noFill/>
          <a:ln>
            <a:noFill/>
          </a:ln>
        </p:spPr>
      </p:pic>
    </p:spTree>
    <p:extLst>
      <p:ext uri="{BB962C8B-B14F-4D97-AF65-F5344CB8AC3E}">
        <p14:creationId xmlns:p14="http://schemas.microsoft.com/office/powerpoint/2010/main" val="19286966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4 Piecewise </a:t>
            </a:r>
            <a:r>
              <a:rPr lang="en-US" altLang="zh-CN" dirty="0" err="1"/>
              <a:t>Multiaffine</a:t>
            </a:r>
            <a:r>
              <a:rPr lang="en-US" altLang="zh-CN" dirty="0"/>
              <a:t>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lang="en-US"/>
          </a:p>
        </p:txBody>
      </p:sp>
      <p:sp>
        <p:nvSpPr>
          <p:cNvPr id="8" name="矩形 7">
            <a:extLst>
              <a:ext uri="{FF2B5EF4-FFF2-40B4-BE49-F238E27FC236}">
                <a16:creationId xmlns:a16="http://schemas.microsoft.com/office/drawing/2014/main" id="{1DBFA44A-2E92-4203-945A-2A29BD509C4D}"/>
              </a:ext>
            </a:extLst>
          </p:cNvPr>
          <p:cNvSpPr/>
          <p:nvPr/>
        </p:nvSpPr>
        <p:spPr>
          <a:xfrm>
            <a:off x="838200" y="1690690"/>
            <a:ext cx="3417474" cy="400110"/>
          </a:xfrm>
          <a:prstGeom prst="rect">
            <a:avLst/>
          </a:prstGeom>
        </p:spPr>
        <p:txBody>
          <a:bodyPr wrap="none">
            <a:spAutoFit/>
          </a:bodyPr>
          <a:lstStyle/>
          <a:p>
            <a:r>
              <a:rPr lang="en-US" altLang="zh-CN" sz="2000" i="1" dirty="0">
                <a:solidFill>
                  <a:schemeClr val="dk1"/>
                </a:solidFill>
              </a:rPr>
              <a:t>A. Description of PMA Systems</a:t>
            </a:r>
            <a:r>
              <a:rPr lang="en-US" altLang="zh-CN" sz="2000" i="1" dirty="0">
                <a:solidFill>
                  <a:schemeClr val="dk1"/>
                </a:solidFill>
                <a:latin typeface="Arial"/>
                <a:ea typeface="Arial"/>
                <a:cs typeface="Arial"/>
                <a:sym typeface="Arial"/>
              </a:rPr>
              <a:t>:</a:t>
            </a:r>
          </a:p>
        </p:txBody>
      </p:sp>
      <p:sp>
        <p:nvSpPr>
          <p:cNvPr id="2" name="矩形 1">
            <a:extLst>
              <a:ext uri="{FF2B5EF4-FFF2-40B4-BE49-F238E27FC236}">
                <a16:creationId xmlns:a16="http://schemas.microsoft.com/office/drawing/2014/main" id="{458F3E42-858A-47C9-917D-8F85F4CB9033}"/>
              </a:ext>
            </a:extLst>
          </p:cNvPr>
          <p:cNvSpPr/>
          <p:nvPr/>
        </p:nvSpPr>
        <p:spPr>
          <a:xfrm>
            <a:off x="838200" y="2090800"/>
            <a:ext cx="1620508" cy="646331"/>
          </a:xfrm>
          <a:prstGeom prst="rect">
            <a:avLst/>
          </a:prstGeom>
        </p:spPr>
        <p:txBody>
          <a:bodyPr wrap="none">
            <a:spAutoFit/>
          </a:bodyPr>
          <a:lstStyle/>
          <a:p>
            <a:r>
              <a:rPr lang="en-US" altLang="zh-CN" dirty="0">
                <a:solidFill>
                  <a:schemeClr val="dk1"/>
                </a:solidFill>
                <a:latin typeface="Arial"/>
                <a:ea typeface="Arial"/>
                <a:cs typeface="Arial"/>
                <a:sym typeface="Arial"/>
              </a:rPr>
              <a:t>(7) </a:t>
            </a:r>
            <a:r>
              <a:rPr lang="en-US" altLang="zh-CN" dirty="0">
                <a:solidFill>
                  <a:schemeClr val="dk1"/>
                </a:solidFill>
              </a:rPr>
              <a:t>Fuzzy rules</a:t>
            </a:r>
            <a:r>
              <a:rPr lang="en-US" altLang="zh-CN" dirty="0">
                <a:solidFill>
                  <a:schemeClr val="dk1"/>
                </a:solidFill>
                <a:latin typeface="Arial"/>
                <a:ea typeface="Arial"/>
                <a:cs typeface="Arial"/>
                <a:sym typeface="Arial"/>
              </a:rPr>
              <a:t>:</a:t>
            </a:r>
            <a:endParaRPr lang="en-US" altLang="zh-CN" dirty="0">
              <a:solidFill>
                <a:schemeClr val="dk1"/>
              </a:solidFill>
              <a:ea typeface="Calibri"/>
              <a:cs typeface="Calibri"/>
              <a:sym typeface="Calibri"/>
            </a:endParaRPr>
          </a:p>
          <a:p>
            <a:endParaRPr lang="en-US" altLang="zh-CN" dirty="0">
              <a:solidFill>
                <a:schemeClr val="dk1"/>
              </a:solidFill>
              <a:ea typeface="Calibri"/>
              <a:cs typeface="Calibri"/>
              <a:sym typeface="Calibri"/>
            </a:endParaRPr>
          </a:p>
        </p:txBody>
      </p:sp>
      <p:sp>
        <p:nvSpPr>
          <p:cNvPr id="4" name="矩形 3">
            <a:extLst>
              <a:ext uri="{FF2B5EF4-FFF2-40B4-BE49-F238E27FC236}">
                <a16:creationId xmlns:a16="http://schemas.microsoft.com/office/drawing/2014/main" id="{C15EE893-C46D-43AD-866B-B44F06455D64}"/>
              </a:ext>
            </a:extLst>
          </p:cNvPr>
          <p:cNvSpPr/>
          <p:nvPr/>
        </p:nvSpPr>
        <p:spPr>
          <a:xfrm>
            <a:off x="838200" y="3416363"/>
            <a:ext cx="972574" cy="369332"/>
          </a:xfrm>
          <a:prstGeom prst="rect">
            <a:avLst/>
          </a:prstGeom>
        </p:spPr>
        <p:txBody>
          <a:bodyPr wrap="none">
            <a:spAutoFit/>
          </a:bodyPr>
          <a:lstStyle/>
          <a:p>
            <a:r>
              <a:rPr lang="en-US" altLang="zh-CN" dirty="0">
                <a:solidFill>
                  <a:schemeClr val="dk1"/>
                </a:solidFill>
                <a:latin typeface="Arial"/>
                <a:ea typeface="Arial"/>
                <a:cs typeface="Arial"/>
                <a:sym typeface="Arial"/>
              </a:rPr>
              <a:t>(</a:t>
            </a:r>
            <a:r>
              <a:rPr lang="en-US" altLang="zh-CN" dirty="0">
                <a:solidFill>
                  <a:schemeClr val="dk1"/>
                </a:solidFill>
              </a:rPr>
              <a:t>8</a:t>
            </a:r>
            <a:r>
              <a:rPr lang="en-US" altLang="zh-CN" dirty="0">
                <a:solidFill>
                  <a:schemeClr val="dk1"/>
                </a:solidFill>
                <a:latin typeface="Arial"/>
                <a:ea typeface="Arial"/>
                <a:cs typeface="Arial"/>
                <a:sym typeface="Arial"/>
              </a:rPr>
              <a:t>) </a:t>
            </a:r>
            <a:r>
              <a:rPr lang="en-US" altLang="zh-CN" dirty="0">
                <a:solidFill>
                  <a:schemeClr val="dk1"/>
                </a:solidFill>
              </a:rPr>
              <a:t>MFs</a:t>
            </a:r>
            <a:r>
              <a:rPr lang="en-US" altLang="zh-CN" dirty="0">
                <a:solidFill>
                  <a:schemeClr val="dk1"/>
                </a:solidFill>
                <a:latin typeface="Arial"/>
                <a:ea typeface="Arial"/>
                <a:cs typeface="Arial"/>
                <a:sym typeface="Arial"/>
              </a:rPr>
              <a:t>:</a:t>
            </a:r>
            <a:endParaRPr lang="en-US" altLang="zh-CN" dirty="0">
              <a:solidFill>
                <a:schemeClr val="dk1"/>
              </a:solidFill>
              <a:ea typeface="Calibri"/>
              <a:cs typeface="Calibri"/>
              <a:sym typeface="Calibri"/>
            </a:endParaRPr>
          </a:p>
        </p:txBody>
      </p:sp>
      <p:pic>
        <p:nvPicPr>
          <p:cNvPr id="11" name="Google Shape;451;g5a76921c2e_0_52">
            <a:extLst>
              <a:ext uri="{FF2B5EF4-FFF2-40B4-BE49-F238E27FC236}">
                <a16:creationId xmlns:a16="http://schemas.microsoft.com/office/drawing/2014/main" id="{FF424586-872D-430E-8334-A3ACA9831275}"/>
              </a:ext>
            </a:extLst>
          </p:cNvPr>
          <p:cNvPicPr preferRelativeResize="0"/>
          <p:nvPr/>
        </p:nvPicPr>
        <p:blipFill>
          <a:blip r:embed="rId3">
            <a:alphaModFix/>
          </a:blip>
          <a:stretch>
            <a:fillRect/>
          </a:stretch>
        </p:blipFill>
        <p:spPr>
          <a:xfrm>
            <a:off x="3984450" y="2532556"/>
            <a:ext cx="4223100" cy="873332"/>
          </a:xfrm>
          <a:prstGeom prst="rect">
            <a:avLst/>
          </a:prstGeom>
          <a:noFill/>
          <a:ln>
            <a:noFill/>
          </a:ln>
        </p:spPr>
      </p:pic>
      <p:pic>
        <p:nvPicPr>
          <p:cNvPr id="12" name="Google Shape;453;g5a76921c2e_0_52">
            <a:extLst>
              <a:ext uri="{FF2B5EF4-FFF2-40B4-BE49-F238E27FC236}">
                <a16:creationId xmlns:a16="http://schemas.microsoft.com/office/drawing/2014/main" id="{0A87C7A3-A145-4CC9-A24A-248B661FA43D}"/>
              </a:ext>
            </a:extLst>
          </p:cNvPr>
          <p:cNvPicPr preferRelativeResize="0"/>
          <p:nvPr/>
        </p:nvPicPr>
        <p:blipFill>
          <a:blip r:embed="rId4">
            <a:alphaModFix/>
          </a:blip>
          <a:stretch>
            <a:fillRect/>
          </a:stretch>
        </p:blipFill>
        <p:spPr>
          <a:xfrm>
            <a:off x="4091000" y="3297525"/>
            <a:ext cx="4009988" cy="262950"/>
          </a:xfrm>
          <a:prstGeom prst="rect">
            <a:avLst/>
          </a:prstGeom>
          <a:noFill/>
          <a:ln>
            <a:noFill/>
          </a:ln>
        </p:spPr>
      </p:pic>
      <p:pic>
        <p:nvPicPr>
          <p:cNvPr id="13" name="Google Shape;452;g5a76921c2e_0_52">
            <a:extLst>
              <a:ext uri="{FF2B5EF4-FFF2-40B4-BE49-F238E27FC236}">
                <a16:creationId xmlns:a16="http://schemas.microsoft.com/office/drawing/2014/main" id="{CBE49244-269F-452C-83F1-17C053A7E18B}"/>
              </a:ext>
            </a:extLst>
          </p:cNvPr>
          <p:cNvPicPr preferRelativeResize="0"/>
          <p:nvPr/>
        </p:nvPicPr>
        <p:blipFill>
          <a:blip r:embed="rId5">
            <a:alphaModFix/>
          </a:blip>
          <a:stretch>
            <a:fillRect/>
          </a:stretch>
        </p:blipFill>
        <p:spPr>
          <a:xfrm>
            <a:off x="3294464" y="3969615"/>
            <a:ext cx="5603075" cy="1823010"/>
          </a:xfrm>
          <a:prstGeom prst="rect">
            <a:avLst/>
          </a:prstGeom>
          <a:noFill/>
          <a:ln>
            <a:noFill/>
          </a:ln>
        </p:spPr>
      </p:pic>
    </p:spTree>
    <p:extLst>
      <p:ext uri="{BB962C8B-B14F-4D97-AF65-F5344CB8AC3E}">
        <p14:creationId xmlns:p14="http://schemas.microsoft.com/office/powerpoint/2010/main" val="77304579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4713</TotalTime>
  <Words>1697</Words>
  <Application>Microsoft Office PowerPoint</Application>
  <PresentationFormat>宽屏</PresentationFormat>
  <Paragraphs>262</Paragraphs>
  <Slides>33</Slides>
  <Notes>33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33</vt:i4>
      </vt:variant>
    </vt:vector>
  </HeadingPairs>
  <TitlesOfParts>
    <vt:vector size="41" baseType="lpstr">
      <vt:lpstr>BemboStd</vt:lpstr>
      <vt:lpstr>BemboStd-Semibold</vt:lpstr>
      <vt:lpstr>Formata-Italic</vt:lpstr>
      <vt:lpstr>Questrial</vt:lpstr>
      <vt:lpstr>等线</vt:lpstr>
      <vt:lpstr>Arial</vt:lpstr>
      <vt:lpstr>Calibri</vt:lpstr>
      <vt:lpstr>Office 主题</vt:lpstr>
      <vt:lpstr>Fuzzy Control Systems: Past, Present and Future</vt:lpstr>
      <vt:lpstr>Abstract (1/2)</vt:lpstr>
      <vt:lpstr>Abstract (2/2)</vt:lpstr>
      <vt:lpstr>1 Introduction: Why Fuzzy？</vt:lpstr>
      <vt:lpstr>1 Introduction: Why Fuzzy？</vt:lpstr>
      <vt:lpstr>1 Introduction: Fuzzy control system</vt:lpstr>
      <vt:lpstr>1.1 Mamdani fuzzy systems</vt:lpstr>
      <vt:lpstr>1.2 Type 2 fuzzy rules</vt:lpstr>
      <vt:lpstr>1.3 T-S fuzzy systems</vt:lpstr>
      <vt:lpstr>1.4 PMA fuzzy systems</vt:lpstr>
      <vt:lpstr>1.5 Lyapunov stability</vt:lpstr>
      <vt:lpstr>1.5 Lyapunov stability</vt:lpstr>
      <vt:lpstr>1.6 Conservative system</vt:lpstr>
      <vt:lpstr>1.7 Linear matrix inequalities (LMIs)</vt:lpstr>
      <vt:lpstr>2 Mamdani Fuzzy Systems</vt:lpstr>
      <vt:lpstr>2 Mamdani Fuzzy Systems</vt:lpstr>
      <vt:lpstr>2 Mamdani Fuzzy Systems</vt:lpstr>
      <vt:lpstr>2 Mamdani Fuzzy Systems</vt:lpstr>
      <vt:lpstr>2 Mamdani Fuzzy Systems</vt:lpstr>
      <vt:lpstr>3 Takagi-Sugeno Fuzzy Systems</vt:lpstr>
      <vt:lpstr>3 Takagi-Sugeno Fuzzy Systems</vt:lpstr>
      <vt:lpstr>3 Takagi-Sugeno Fuzzy Systems</vt:lpstr>
      <vt:lpstr>3 Takagi-Sugeno Fuzzy Systems</vt:lpstr>
      <vt:lpstr>3 Takagi-Sugeno Fuzzy Systems</vt:lpstr>
      <vt:lpstr>3 Takagi-Sugeno Fuzzy Systems</vt:lpstr>
      <vt:lpstr>3 Takagi-Sugeno Fuzzy Systems</vt:lpstr>
      <vt:lpstr>3 Takagi-Sugeno Fuzzy Systems</vt:lpstr>
      <vt:lpstr>3 Takagi-Sugeno Fuzzy Systems</vt:lpstr>
      <vt:lpstr>3 Takagi-Sugeno Fuzzy Systems</vt:lpstr>
      <vt:lpstr>4 Piecewise Multiaffine Systems</vt:lpstr>
      <vt:lpstr>4 Piecewise Multiaffine Systems</vt:lpstr>
      <vt:lpstr>4 Piecewise Multiaffine Systems</vt:lpstr>
      <vt:lpstr>4 Piecewise Multiaffine Systems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DEEP  CONVOLUTIONAL  NETWORKS   WITH MANY  CHANNELS  ARE  GAUSSIAN PROCESSES</dc:title>
  <dc:creator>zkx</dc:creator>
  <cp:lastModifiedBy>zkxshg@gmail.com</cp:lastModifiedBy>
  <cp:revision>310</cp:revision>
  <dcterms:created xsi:type="dcterms:W3CDTF">2019-04-02T05:36:00Z</dcterms:created>
  <dcterms:modified xsi:type="dcterms:W3CDTF">2019-05-27T06:22:48Z</dcterms:modified>
</cp:coreProperties>
</file>