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352" r:id="rId3"/>
    <p:sldId id="320" r:id="rId4"/>
    <p:sldId id="321" r:id="rId5"/>
    <p:sldId id="370" r:id="rId6"/>
    <p:sldId id="393" r:id="rId7"/>
    <p:sldId id="394" r:id="rId8"/>
    <p:sldId id="395" r:id="rId9"/>
    <p:sldId id="396" r:id="rId10"/>
    <p:sldId id="400" r:id="rId11"/>
    <p:sldId id="401" r:id="rId12"/>
    <p:sldId id="402" r:id="rId13"/>
    <p:sldId id="406" r:id="rId14"/>
    <p:sldId id="407" r:id="rId15"/>
    <p:sldId id="40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1CC90-5860-4773-94E4-A7C5C8AC2E96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889F-DB18-4D0A-BA0B-9C49CA35E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61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tpub.com.cn/index.php?journalid=3565&amp;page=journalapp&amp;view=detai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.wikipedia.org/zh-tw/%E5%A1%94%E5%A4%AB%E8%8C%A8%E5%A4%A7%E5%AD%B8" TargetMode="External"/><Relationship Id="rId5" Type="http://schemas.openxmlformats.org/officeDocument/2006/relationships/hyperlink" Target="https://www.google.com.tw/maps/place/%E7%BE%8E%E5%9C%8B%E9%BA%BB%E8%96%A9%E8%AB%B8%E5%A1%9E%E5%B7%9E/@42.0365786,-72.2439164,9z/data=!3m1!4b1!4m5!3m4!1s0x89e3656de973bffd:0x45c6d03655830d1c!8m2!3d42.4072107!4d-71.3824374?hl=zh-TW" TargetMode="External"/><Relationship Id="rId4" Type="http://schemas.openxmlformats.org/officeDocument/2006/relationships/hyperlink" Target="https://www.sciencedirect.com/journal/information-processing-letters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5%A5%A5%E5%8D%A1%E5%A7%86%E5%89%83%E5%88%80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findit.lib.nsysu.edu.tw:3210/nsysu/journalsearch?param_pattern_value=" TargetMode="External"/><Relationship Id="rId4" Type="http://schemas.openxmlformats.org/officeDocument/2006/relationships/hyperlink" Target="https://zh.wikipedia.org/zh-tw/%E7%BE%8E%E5%9B%BD%E7%A7%91%E5%AD%A6%E5%AE%B6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8%87%AA%E7%94%B1%E8%90%BD%E9%AB%94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7%A5%9D%E8%9E%8D%E6%98%9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ansci.asia/archives/135105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7%A5%9D%E8%9E%8D%E6%98%9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ansci.asia/archives/135105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7%A5%9D%E8%9E%8D%E6%98%9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ansci.asia/archives/135105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7%A5%9D%E8%9E%8D%E6%98%9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ansci.asia/archives/135105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7%A5%9D%E8%9E%8D%E6%98%9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ansci.asia/archives/135105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IPL: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https://www.letpub.com.cn/index.php?journalid=3565&amp;page=journalapp&amp;view=detail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https://www.sciencedirect.com/journal/information-processing-letters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Location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5"/>
              </a:rPr>
              <a:t>https://www.google.com.tw/maps/place/%E7%BE%8E%E5%9C%8B%E9%BA%BB%E8%96%A9%E8%AB%B8%E5%A1%9E%E5%B7%9E/@42.0365786,-72.2439164,9z/data=!3m1!4b1!4m5!3m4!1s0x89e3656de973bffd:0x45c6d03655830d1c!8m2!3d42.4072107!4d-71.3824374?hl=zh-TW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Tufts University</a:t>
            </a:r>
            <a:r>
              <a:rPr lang="zh-CN" altLang="en-US" sz="1200" dirty="0"/>
              <a:t>：</a:t>
            </a:r>
            <a:endParaRPr lang="en-US" altLang="zh-CN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6"/>
              </a:rPr>
              <a:t>https://zh.wikipedia.org/zh-tw/%E5%A1%94%E5%A4%AB%E8%8C%A8%E5%A4%A7%E5%AD%B8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62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奧卡姆剃刀：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https://zh.wikipedia.org/zh-tw/%E5%A5%A5%E5%8D%A1%E5%A7%86%E5%89%83%E5%88%80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Scientist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https://zh.wikipedia.org/zh-tw/%E7%BE%8E%E5%9B%BD%E7%A7%91%E5%AD%A6%E5%AE%B6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5"/>
              </a:rPr>
              <a:t>http://findit.lib.nsysu.edu.tw:3210/nsysu/journalsearch?param_pattern_value=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438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u="none" baseline="0" dirty="0"/>
              <a:t>自由落體：</a:t>
            </a:r>
            <a:endParaRPr lang="en-US" altLang="zh-CN" u="none" dirty="0">
              <a:hlinkClick r:id="rId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https://zh.wikipedia.org/zh-tw/%E8%87%AA%E7%94%B1%E8%90%BD%E9%AB%94</a:t>
            </a:r>
            <a:endParaRPr lang="en-US" b="0" i="0" u="none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79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71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8911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139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296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72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baseline="0" dirty="0"/>
              <a:t>	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259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baseline="0" dirty="0"/>
              <a:t>火神星：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https://zh.wikipedia.org/zh-tw/%E7%A5%9D%E8%9E%8D%E6%98%9F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sng" baseline="0" dirty="0"/>
              <a:t>廣義相對論：</a:t>
            </a:r>
            <a:endParaRPr lang="en-US" altLang="zh-CN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https://pansci.asia/archives/135105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7605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baseline="0" dirty="0"/>
              <a:t>火神星：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https://zh.wikipedia.org/zh-tw/%E7%A5%9D%E8%9E%8D%E6%98%9F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sng" baseline="0" dirty="0"/>
              <a:t>廣義相對論：</a:t>
            </a:r>
            <a:endParaRPr lang="en-US" altLang="zh-CN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https://pansci.asia/archives/135105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839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baseline="0" dirty="0"/>
              <a:t>火神星：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https://zh.wikipedia.org/zh-tw/%E7%A5%9D%E8%9E%8D%E6%98%9F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sng" baseline="0" dirty="0"/>
              <a:t>廣義相對論：</a:t>
            </a:r>
            <a:endParaRPr lang="en-US" altLang="zh-CN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https://pansci.asia/archives/135105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1719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baseline="0" dirty="0"/>
              <a:t>火神星：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https://zh.wikipedia.org/zh-tw/%E7%A5%9D%E8%9E%8D%E6%98%9F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sng" baseline="0" dirty="0"/>
              <a:t>廣義相對論：</a:t>
            </a:r>
            <a:endParaRPr lang="en-US" altLang="zh-CN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https://pansci.asia/archives/135105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772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baseline="0" dirty="0"/>
              <a:t>火神星：</a:t>
            </a:r>
            <a:endParaRPr lang="en-US" altLang="zh-CN" b="0" i="0" u="none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https://zh.wikipedia.org/zh-tw/%E7%A5%9D%E8%9E%8D%E6%98%9F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sng" baseline="0" dirty="0"/>
              <a:t>廣義相對論：</a:t>
            </a:r>
            <a:endParaRPr lang="en-US" altLang="zh-CN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4"/>
              </a:rPr>
              <a:t>https://pansci.asia/archives/135105</a:t>
            </a:r>
            <a:endParaRPr lang="en-US" b="0" i="0" u="sng" baseline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baseline="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sng" baseline="0"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27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2019/10/28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856855" y="471398"/>
            <a:ext cx="10477020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3600"/>
            </a:pPr>
            <a:r>
              <a:rPr lang="en-US" sz="3600" dirty="0">
                <a:latin typeface="Calibri" panose="020F0502020204030204" charset="0"/>
                <a:cs typeface="Calibri" panose="020F0502020204030204" charset="0"/>
              </a:rPr>
              <a:t>Occam's Razor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145540" y="2693239"/>
            <a:ext cx="9899650" cy="10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SzPts val="2800"/>
            </a:pPr>
            <a:r>
              <a:rPr lang="es-ES" altLang="zh-CN" dirty="0"/>
              <a:t>Anselm Blumer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s-ES" altLang="zh-CN" dirty="0"/>
              <a:t>Andrzej Ehrenfeucht, David Haussler, Manfred K.Warmuth</a:t>
            </a:r>
            <a:endParaRPr sz="2600"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354568" y="6485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1048428" y="3891090"/>
            <a:ext cx="10095142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altLang="zh-CN" sz="2800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I</a:t>
            </a:r>
            <a:r>
              <a:rPr lang="en-US" sz="2800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nformation Processing Letters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Volume 24, Issue 6, 6 April 1987, Pages 377-380</a:t>
            </a:r>
            <a:r>
              <a:rPr lang="en-US" sz="2800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	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endParaRPr lang="en-US" sz="2800" u="sng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92187" y="5188046"/>
            <a:ext cx="9806355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Presenter: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KeXin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 Zhu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Date: 2019/10/29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Abstract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1568950"/>
            <a:ext cx="10109886" cy="444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altLang="zh-CN" dirty="0"/>
              <a:t>We show that a polynomial learning algorithm, as defined by Valiant (1984), is obtained whenever there exists a polynomial-time method of producing, for any sequence of observations, a nearly minimum hypothesis that is consistent with these observations.</a:t>
            </a:r>
            <a:endParaRPr lang="en-US"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F335408-012F-490B-A505-4913504C0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747" y="3792369"/>
            <a:ext cx="2403339" cy="2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70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136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/>
              <a:t>1 </a:t>
            </a:r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 dirty="0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371094"/>
            <a:ext cx="10011032" cy="48021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sz="2400" dirty="0"/>
              <a:t>William of Ockham, the 14th-century English philosopher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>
              <a:spcBef>
                <a:spcPts val="0"/>
              </a:spcBef>
              <a:buSzPts val="2800"/>
            </a:pPr>
            <a:r>
              <a:rPr lang="it-IT" altLang="zh-CN" dirty="0">
                <a:latin typeface="Pristina" panose="03060402040406080204" pitchFamily="66" charset="0"/>
              </a:rPr>
              <a:t>Pluralitasnon est ponenda sine necessitate</a:t>
            </a:r>
            <a:r>
              <a:rPr lang="it-IT" altLang="zh-CN" dirty="0"/>
              <a:t>.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i="1" dirty="0"/>
              <a:t>Plurality must not be posited without necessity.</a:t>
            </a:r>
          </a:p>
          <a:p>
            <a:pPr lvl="1">
              <a:spcBef>
                <a:spcPts val="0"/>
              </a:spcBef>
              <a:buSzPts val="2800"/>
            </a:pPr>
            <a:r>
              <a:rPr lang="zh-CN" altLang="en-US" sz="2000" i="1" dirty="0">
                <a:latin typeface="楷体" panose="02010609060101010101" pitchFamily="49" charset="-122"/>
                <a:ea typeface="楷体" panose="02010609060101010101" pitchFamily="49" charset="-122"/>
              </a:rPr>
              <a:t>如非必要，不可假定多元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TW" i="1" dirty="0"/>
          </a:p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Modern Rendering</a:t>
            </a:r>
            <a:r>
              <a:rPr lang="en-US" altLang="zh-TW" dirty="0"/>
              <a:t>: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sz="2000" dirty="0"/>
              <a:t>Entities should not be multiplied without necessity.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sz="2000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sz="2000" dirty="0"/>
              <a:t>It is vain to do with more what can be done with less.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sz="2000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sz="2000" dirty="0"/>
              <a:t>An explanation of the facts should be no more complicated than necessary.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sz="2000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TW" sz="2000" dirty="0"/>
              <a:t>Among competing hypotheses, favor the simplest one.</a:t>
            </a:r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8B9A75F4-C931-41AA-8ACD-118684A8D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731" y="1988382"/>
            <a:ext cx="3763069" cy="144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83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2 Example-Galileo's Problem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Free fall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9CFB82-B462-4464-AB58-E93F02B2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350" y="1690690"/>
            <a:ext cx="5896731" cy="499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2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The Razor applied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Problem of learning: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Hypothesis class</a:t>
            </a:r>
            <a:r>
              <a:rPr lang="zh-CN" altLang="en-US" dirty="0"/>
              <a:t> </a:t>
            </a:r>
            <a:r>
              <a:rPr lang="en-US" altLang="zh-CN" dirty="0"/>
              <a:t>H: 	Map from input space X to output space Y.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Goal: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Function:	 	</a:t>
            </a:r>
            <a:r>
              <a:rPr lang="en-US" altLang="zh-CN" i="1" dirty="0"/>
              <a:t>f</a:t>
            </a:r>
            <a:r>
              <a:rPr lang="en-US" altLang="zh-CN" dirty="0"/>
              <a:t> in H;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Given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(1) Observation: 	Point </a:t>
            </a:r>
            <a:r>
              <a:rPr lang="en-US" altLang="zh-CN" i="1" dirty="0"/>
              <a:t>x</a:t>
            </a:r>
            <a:r>
              <a:rPr lang="en-US" altLang="zh-CN" dirty="0"/>
              <a:t> in X, with the value </a:t>
            </a:r>
            <a:r>
              <a:rPr lang="en-US" altLang="zh-CN" i="1" dirty="0"/>
              <a:t>f(x) </a:t>
            </a:r>
            <a:r>
              <a:rPr lang="en-US" altLang="zh-CN" dirty="0"/>
              <a:t>in Y.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(2) Sample: 		A sequence of </a:t>
            </a:r>
            <a:r>
              <a:rPr lang="en-US" altLang="zh-CN" i="1" dirty="0"/>
              <a:t>m</a:t>
            </a:r>
            <a:r>
              <a:rPr lang="en-US" altLang="zh-CN" dirty="0"/>
              <a:t> observations.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Learning algorithm: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 Recovering f, or at least approximates f, from a sample of f. </a:t>
            </a: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00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The Razor applied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Polynomial learnability 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Given </a:t>
            </a:r>
            <a:r>
              <a:rPr lang="en-US" altLang="zh-CN" i="1" dirty="0"/>
              <a:t>f</a:t>
            </a:r>
            <a:r>
              <a:rPr lang="en-US" altLang="zh-CN" dirty="0"/>
              <a:t> in </a:t>
            </a:r>
            <a:r>
              <a:rPr lang="en-US" altLang="zh-CN" i="1" dirty="0"/>
              <a:t>H</a:t>
            </a:r>
            <a:r>
              <a:rPr lang="en-US" altLang="zh-CN" dirty="0"/>
              <a:t> of </a:t>
            </a:r>
            <a:r>
              <a:rPr lang="en-US" altLang="zh-CN" i="1" dirty="0"/>
              <a:t>r</a:t>
            </a:r>
            <a:r>
              <a:rPr lang="en-US" altLang="zh-CN" dirty="0"/>
              <a:t> hypotheses, any </a:t>
            </a:r>
            <a:r>
              <a:rPr lang="en-US" altLang="zh-CN" i="1" dirty="0"/>
              <a:t>h</a:t>
            </a:r>
            <a:r>
              <a:rPr lang="en-US" altLang="zh-CN" dirty="0"/>
              <a:t> with </a:t>
            </a:r>
            <a:r>
              <a:rPr lang="en-US" altLang="zh-CN" dirty="0">
                <a:solidFill>
                  <a:srgbClr val="FF0000"/>
                </a:solidFill>
              </a:rPr>
              <a:t>error</a:t>
            </a:r>
            <a:r>
              <a:rPr lang="en-US" altLang="zh-CN" dirty="0"/>
              <a:t> larger than </a:t>
            </a:r>
            <a:r>
              <a:rPr lang="el-GR" altLang="zh-CN" i="1" dirty="0"/>
              <a:t>ε</a:t>
            </a:r>
            <a:r>
              <a:rPr lang="en-US" altLang="zh-CN" dirty="0"/>
              <a:t>, the </a:t>
            </a:r>
            <a:r>
              <a:rPr lang="en-US" altLang="zh-CN" dirty="0">
                <a:solidFill>
                  <a:srgbClr val="FF0000"/>
                </a:solidFill>
              </a:rPr>
              <a:t>probability</a:t>
            </a:r>
            <a:r>
              <a:rPr lang="en-US" altLang="zh-CN" dirty="0"/>
              <a:t> consistent with a </a:t>
            </a:r>
            <a:r>
              <a:rPr lang="en-US" altLang="zh-CN" i="1" dirty="0">
                <a:solidFill>
                  <a:srgbClr val="FF0000"/>
                </a:solidFill>
              </a:rPr>
              <a:t>m-</a:t>
            </a:r>
            <a:r>
              <a:rPr lang="en-US" altLang="zh-CN" dirty="0">
                <a:solidFill>
                  <a:srgbClr val="FF0000"/>
                </a:solidFill>
              </a:rPr>
              <a:t>sample</a:t>
            </a:r>
            <a:r>
              <a:rPr lang="en-US" altLang="zh-CN" dirty="0"/>
              <a:t> of </a:t>
            </a:r>
            <a:r>
              <a:rPr lang="en-US" altLang="zh-CN" i="1" dirty="0"/>
              <a:t>f</a:t>
            </a:r>
            <a:r>
              <a:rPr lang="en-US" altLang="zh-CN" dirty="0"/>
              <a:t> of size </a:t>
            </a:r>
            <a:r>
              <a:rPr lang="en-US" altLang="zh-CN" i="1" dirty="0"/>
              <a:t>m</a:t>
            </a:r>
            <a:r>
              <a:rPr lang="en-US" altLang="zh-CN" dirty="0"/>
              <a:t> is less than (1 – </a:t>
            </a:r>
            <a:r>
              <a:rPr lang="el-GR" altLang="zh-CN" i="1" dirty="0"/>
              <a:t>ε</a:t>
            </a:r>
            <a:r>
              <a:rPr lang="en-US" altLang="zh-CN" dirty="0"/>
              <a:t>)</a:t>
            </a:r>
            <a:r>
              <a:rPr lang="en-US" altLang="zh-CN" i="1" baseline="30000" dirty="0"/>
              <a:t>m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Lower Bound of </a:t>
            </a:r>
            <a:r>
              <a:rPr lang="en-US" altLang="zh-CN" i="1" dirty="0"/>
              <a:t>m</a:t>
            </a:r>
            <a:r>
              <a:rPr lang="en-US" altLang="zh-CN" dirty="0"/>
              <a:t>: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i="1" dirty="0"/>
              <a:t>H</a:t>
            </a:r>
            <a:r>
              <a:rPr lang="en-US" altLang="zh-CN" dirty="0"/>
              <a:t> is </a:t>
            </a:r>
            <a:r>
              <a:rPr lang="en-US" altLang="zh-CN" i="1" dirty="0">
                <a:solidFill>
                  <a:srgbClr val="FF0000"/>
                </a:solidFill>
              </a:rPr>
              <a:t>polynomial learnable </a:t>
            </a:r>
            <a:r>
              <a:rPr lang="en-US" altLang="zh-CN" dirty="0"/>
              <a:t>if there exists a learning algorithm for </a:t>
            </a:r>
            <a:r>
              <a:rPr lang="en-US" altLang="zh-CN" i="1" dirty="0"/>
              <a:t>H </a:t>
            </a:r>
            <a:r>
              <a:rPr lang="en-US" altLang="zh-CN" dirty="0"/>
              <a:t>and a minimal sample size </a:t>
            </a:r>
            <a:r>
              <a:rPr lang="en-US" altLang="zh-CN" i="1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l-GR" altLang="zh-CN" i="1" dirty="0">
                <a:solidFill>
                  <a:srgbClr val="FF0000"/>
                </a:solidFill>
              </a:rPr>
              <a:t>ε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l-GR" altLang="zh-CN" i="1" dirty="0">
                <a:solidFill>
                  <a:srgbClr val="FF0000"/>
                </a:solidFill>
              </a:rPr>
              <a:t>σ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.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D7731AB-E174-4061-B302-78287077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95" y="3425923"/>
            <a:ext cx="2499042" cy="5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0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The Razor applied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Occam-algorithm(polynomial learning algorithm) 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An Occam-algorithm for </a:t>
            </a:r>
            <a:r>
              <a:rPr lang="en-US" altLang="zh-CN" i="1" dirty="0"/>
              <a:t>H</a:t>
            </a:r>
            <a:r>
              <a:rPr lang="en-US" altLang="zh-CN" dirty="0"/>
              <a:t> with constant parameters </a:t>
            </a:r>
            <a:r>
              <a:rPr lang="en-US" altLang="zh-CN" i="1" dirty="0"/>
              <a:t>c</a:t>
            </a:r>
            <a:r>
              <a:rPr lang="en-US" altLang="zh-CN" dirty="0"/>
              <a:t> &gt;1 and 0 &lt; </a:t>
            </a:r>
            <a:r>
              <a:rPr lang="en-US" altLang="zh-CN" i="1" dirty="0"/>
              <a:t>a</a:t>
            </a:r>
            <a:r>
              <a:rPr lang="en-US" altLang="zh-CN" dirty="0"/>
              <a:t> &lt; 1 is a learning algorithm that: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(1) produces a hypothesis of complexity at most 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i="1" baseline="30000" dirty="0">
                <a:solidFill>
                  <a:srgbClr val="FF0000"/>
                </a:solidFill>
              </a:rPr>
              <a:t>c</a:t>
            </a:r>
            <a:r>
              <a:rPr lang="en-US" altLang="zh-CN" i="1" dirty="0">
                <a:solidFill>
                  <a:srgbClr val="FF0000"/>
                </a:solidFill>
              </a:rPr>
              <a:t>m</a:t>
            </a:r>
            <a:r>
              <a:rPr lang="en-US" altLang="zh-CN" i="1" baseline="30000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when given a sample of size </a:t>
            </a:r>
            <a:r>
              <a:rPr lang="en-US" altLang="zh-CN" i="1" dirty="0"/>
              <a:t>m</a:t>
            </a:r>
            <a:r>
              <a:rPr lang="en-US" altLang="zh-CN" dirty="0"/>
              <a:t> of any function in </a:t>
            </a:r>
            <a:r>
              <a:rPr lang="en-US" altLang="zh-CN" i="1" dirty="0"/>
              <a:t>H</a:t>
            </a:r>
            <a:r>
              <a:rPr lang="en-US" altLang="zh-CN" dirty="0"/>
              <a:t> of complexity at most </a:t>
            </a:r>
            <a:r>
              <a:rPr lang="en-US" altLang="zh-CN" i="1" dirty="0"/>
              <a:t>n</a:t>
            </a:r>
            <a:r>
              <a:rPr lang="en-US" altLang="zh-CN" dirty="0"/>
              <a:t>, and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(2) runs in time </a:t>
            </a:r>
            <a:r>
              <a:rPr lang="en-US" altLang="zh-CN" dirty="0">
                <a:solidFill>
                  <a:srgbClr val="FF0000"/>
                </a:solidFill>
              </a:rPr>
              <a:t>polynomial</a:t>
            </a:r>
            <a:r>
              <a:rPr lang="en-US" altLang="zh-CN" dirty="0"/>
              <a:t> in the length of the sample.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276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3 The Razor applied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Occam algorithm for polynomial learnability.: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Given observations of any function in </a:t>
            </a:r>
            <a:r>
              <a:rPr lang="en-US" altLang="zh-CN" i="1" dirty="0"/>
              <a:t>H</a:t>
            </a:r>
            <a:r>
              <a:rPr lang="en-US" altLang="zh-CN" dirty="0"/>
              <a:t> of complexity at most </a:t>
            </a:r>
            <a:r>
              <a:rPr lang="en-US" altLang="zh-CN" i="1" dirty="0"/>
              <a:t>n</a:t>
            </a:r>
            <a:r>
              <a:rPr lang="en-US" altLang="zh-CN" dirty="0"/>
              <a:t>, an </a:t>
            </a:r>
            <a:r>
              <a:rPr lang="en-US" altLang="zh-CN" dirty="0">
                <a:solidFill>
                  <a:srgbClr val="FF0000"/>
                </a:solidFill>
              </a:rPr>
              <a:t>Occam-algorithm</a:t>
            </a:r>
            <a:r>
              <a:rPr lang="en-US" altLang="zh-CN" dirty="0"/>
              <a:t> with parameters c &gt;1 and 0 &lt; a &lt; 1 produces a hypothesis of error at most </a:t>
            </a:r>
            <a:r>
              <a:rPr lang="el-GR" altLang="zh-CN" i="1" dirty="0"/>
              <a:t>ε</a:t>
            </a:r>
            <a:r>
              <a:rPr lang="en-US" altLang="zh-CN" dirty="0"/>
              <a:t> with probability at least 1-</a:t>
            </a:r>
            <a:r>
              <a:rPr lang="el-GR" altLang="zh-CN" i="1" dirty="0"/>
              <a:t> σ </a:t>
            </a:r>
            <a:r>
              <a:rPr lang="en-US" altLang="zh-CN" dirty="0"/>
              <a:t>using sample size polynomial in n, 1/</a:t>
            </a:r>
            <a:r>
              <a:rPr lang="el-GR" altLang="zh-CN" i="1" dirty="0"/>
              <a:t>ε</a:t>
            </a:r>
            <a:r>
              <a:rPr lang="en-US" altLang="zh-CN" dirty="0"/>
              <a:t>, and 1/</a:t>
            </a:r>
            <a:r>
              <a:rPr lang="el-GR" altLang="zh-CN" i="1" dirty="0"/>
              <a:t>σ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independent of the function and of the probability distribution</a:t>
            </a:r>
            <a:r>
              <a:rPr lang="en-US" altLang="zh-CN" dirty="0"/>
              <a:t>.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TW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sample size </a:t>
            </a:r>
            <a:r>
              <a:rPr lang="en-US" altLang="zh-CN" dirty="0"/>
              <a:t>required is: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TW" dirty="0"/>
          </a:p>
          <a:p>
            <a:pPr algn="ctr">
              <a:spcBef>
                <a:spcPts val="0"/>
              </a:spcBef>
              <a:buSzPts val="2800"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550624-810A-4CEB-99AB-85A3E2C4D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610" y="4909995"/>
            <a:ext cx="3484780" cy="51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9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4 Example-To Catch a Cheat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Two-headed coin: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B0A8D7F-CB87-45B9-B29E-A29BFFFE446F}"/>
              </a:ext>
            </a:extLst>
          </p:cNvPr>
          <p:cNvGrpSpPr/>
          <p:nvPr/>
        </p:nvGrpSpPr>
        <p:grpSpPr>
          <a:xfrm>
            <a:off x="1422138" y="2151984"/>
            <a:ext cx="8633606" cy="4252245"/>
            <a:chOff x="1422138" y="2151984"/>
            <a:chExt cx="8633606" cy="4252245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1CD1797D-2F15-4010-8787-AEB7893D2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2138" y="2151984"/>
              <a:ext cx="2867025" cy="1762125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BEB647E-8618-4389-93A7-10EA412F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166" y="2294859"/>
              <a:ext cx="2705100" cy="161925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8BA5258-E80D-43C0-A7B5-FC6D232A0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98269" y="2247234"/>
              <a:ext cx="2657475" cy="1666875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EE6AAE-14B1-4190-AD63-C010B7FB7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10041" y="4489704"/>
              <a:ext cx="2762250" cy="1647825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7573AE2-B7F9-478C-9118-71172944B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8996" y="4489704"/>
              <a:ext cx="2781300" cy="1914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6632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4 Example-To Catch a Cheat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Detecting plagiarism 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70AFEB-90A9-4583-AA9C-02764D1B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41" y="2168523"/>
            <a:ext cx="82105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60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5 Example-Planetary Puzzle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Anomaly in the orbit of Mercury  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Vulcan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Sun rings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Oblate sun</a:t>
            </a:r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Fudged Newtonian law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Einstein's general theory of relativity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CCA093-B279-46F8-80B3-1B8BF2BC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345" y="1828800"/>
            <a:ext cx="27241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4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5 Example-Planetary Puzzle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Theory of relativity VS. Fudged Newtonian: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1E5314-F00E-41A1-8564-F43389DB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025" y="2211557"/>
            <a:ext cx="56959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6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5 Example-Planetary Puzzle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Theory of relativity VS. Fudged Newtonian: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AFD989-205A-4044-B230-2C8942BE9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075" y="2161266"/>
            <a:ext cx="5783849" cy="40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16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5 Example-Planetary Puzzle 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Theory of relativity VS. Fudged Newtonian: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4CCA97-7183-41A0-B275-0F13116F2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249" y="2409879"/>
            <a:ext cx="6109501" cy="37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22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altLang="zh-CN" dirty="0"/>
              <a:t>6 Conclusion</a:t>
            </a:r>
            <a:endParaRPr lang="en-US"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512946" y="619057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EDC2ACD4-6DFC-438B-92DF-4BA017F62857}"/>
              </a:ext>
            </a:extLst>
          </p:cNvPr>
          <p:cNvSpPr txBox="1">
            <a:spLocks/>
          </p:cNvSpPr>
          <p:nvPr/>
        </p:nvSpPr>
        <p:spPr>
          <a:xfrm>
            <a:off x="838200" y="169069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800"/>
            </a:pPr>
            <a:r>
              <a:rPr lang="en-US" altLang="zh-CN" dirty="0"/>
              <a:t>Conclusion: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real value</a:t>
            </a:r>
            <a:r>
              <a:rPr lang="en-US" altLang="zh-CN" dirty="0"/>
              <a:t> of a scientific explanation lies not in its ability to </a:t>
            </a:r>
            <a:r>
              <a:rPr lang="en-US" altLang="zh-CN" dirty="0">
                <a:solidFill>
                  <a:srgbClr val="FF0000"/>
                </a:solidFill>
              </a:rPr>
              <a:t>explain</a:t>
            </a:r>
            <a:r>
              <a:rPr lang="en-US" altLang="zh-CN" dirty="0"/>
              <a:t> events </a:t>
            </a:r>
            <a:r>
              <a:rPr lang="en-US" altLang="zh-CN" dirty="0">
                <a:solidFill>
                  <a:srgbClr val="FF0000"/>
                </a:solidFill>
              </a:rPr>
              <a:t>past</a:t>
            </a:r>
            <a:r>
              <a:rPr lang="en-US" altLang="zh-CN" dirty="0"/>
              <a:t>, but in </a:t>
            </a:r>
            <a:r>
              <a:rPr lang="en-US" altLang="zh-CN" dirty="0">
                <a:solidFill>
                  <a:srgbClr val="FF0000"/>
                </a:solidFill>
              </a:rPr>
              <a:t>predicting events </a:t>
            </a:r>
            <a:r>
              <a:rPr lang="en-US" altLang="zh-CN" dirty="0"/>
              <a:t>that have yet to occur.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Choose hypothesis that are consistent with the sample and have </a:t>
            </a:r>
            <a:r>
              <a:rPr lang="en-US" altLang="zh-CN" dirty="0">
                <a:solidFill>
                  <a:srgbClr val="FF0000"/>
                </a:solidFill>
              </a:rPr>
              <a:t>minimum complexity</a:t>
            </a:r>
            <a:r>
              <a:rPr lang="en-US" altLang="zh-CN" dirty="0"/>
              <a:t>. </a:t>
            </a:r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r>
              <a:rPr lang="en-US" altLang="zh-CN" dirty="0"/>
              <a:t>Reducing polynomial learnability to the problem of finding Occam-algorithms.</a:t>
            </a:r>
          </a:p>
          <a:p>
            <a:pPr>
              <a:spcBef>
                <a:spcPts val="0"/>
              </a:spcBef>
              <a:buSzPts val="2800"/>
            </a:pPr>
            <a:endParaRPr lang="en-US" altLang="zh-CN" dirty="0"/>
          </a:p>
          <a:p>
            <a:pPr lvl="1">
              <a:spcBef>
                <a:spcPts val="0"/>
              </a:spcBef>
              <a:buSzPts val="2800"/>
            </a:pPr>
            <a:endParaRPr lang="en-US" altLang="zh-CN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en-US" altLang="zh-TW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02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1005</Words>
  <Application>Microsoft Office PowerPoint</Application>
  <PresentationFormat>宽屏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Questrial</vt:lpstr>
      <vt:lpstr>等线</vt:lpstr>
      <vt:lpstr>楷体</vt:lpstr>
      <vt:lpstr>Arial</vt:lpstr>
      <vt:lpstr>Calibri</vt:lpstr>
      <vt:lpstr>Pristina</vt:lpstr>
      <vt:lpstr>Office 主题</vt:lpstr>
      <vt:lpstr>Occam's Razor</vt:lpstr>
      <vt:lpstr>Abstract</vt:lpstr>
      <vt:lpstr>1 Introduction</vt:lpstr>
      <vt:lpstr>2 Example-Galileo's Problem </vt:lpstr>
      <vt:lpstr>3 The Razor applied </vt:lpstr>
      <vt:lpstr>3 The Razor applied </vt:lpstr>
      <vt:lpstr>3 The Razor applied </vt:lpstr>
      <vt:lpstr>3 The Razor applied </vt:lpstr>
      <vt:lpstr>4 Example-To Catch a Cheat </vt:lpstr>
      <vt:lpstr>4 Example-To Catch a Cheat </vt:lpstr>
      <vt:lpstr>5 Example-Planetary Puzzle </vt:lpstr>
      <vt:lpstr>5 Example-Planetary Puzzle </vt:lpstr>
      <vt:lpstr>5 Example-Planetary Puzzle </vt:lpstr>
      <vt:lpstr>5 Example-Planetary Puzzle </vt:lpstr>
      <vt:lpstr>6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 DEEP  CONVOLUTIONAL  NETWORKS   WITH MANY  CHANNELS  ARE  GAUSSIAN PROCESSES</dc:title>
  <dc:creator>zkx</dc:creator>
  <cp:lastModifiedBy>zkxshg@gmail.com</cp:lastModifiedBy>
  <cp:revision>583</cp:revision>
  <dcterms:created xsi:type="dcterms:W3CDTF">2019-04-02T05:36:00Z</dcterms:created>
  <dcterms:modified xsi:type="dcterms:W3CDTF">2019-10-28T10:00:42Z</dcterms:modified>
</cp:coreProperties>
</file>